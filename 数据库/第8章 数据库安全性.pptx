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6"/>
  </p:notesMasterIdLst>
  <p:handoutMasterIdLst>
    <p:handoutMasterId r:id="rId107"/>
  </p:handoutMasterIdLst>
  <p:sldIdLst>
    <p:sldId id="288" r:id="rId2"/>
    <p:sldId id="302" r:id="rId3"/>
    <p:sldId id="342" r:id="rId4"/>
    <p:sldId id="443" r:id="rId5"/>
    <p:sldId id="444" r:id="rId6"/>
    <p:sldId id="445" r:id="rId7"/>
    <p:sldId id="446" r:id="rId8"/>
    <p:sldId id="447" r:id="rId9"/>
    <p:sldId id="448" r:id="rId10"/>
    <p:sldId id="450" r:id="rId11"/>
    <p:sldId id="451" r:id="rId12"/>
    <p:sldId id="449" r:id="rId13"/>
    <p:sldId id="452" r:id="rId14"/>
    <p:sldId id="453" r:id="rId15"/>
    <p:sldId id="455" r:id="rId16"/>
    <p:sldId id="454" r:id="rId17"/>
    <p:sldId id="456" r:id="rId18"/>
    <p:sldId id="457" r:id="rId19"/>
    <p:sldId id="468" r:id="rId20"/>
    <p:sldId id="458" r:id="rId21"/>
    <p:sldId id="460" r:id="rId22"/>
    <p:sldId id="459" r:id="rId23"/>
    <p:sldId id="461" r:id="rId24"/>
    <p:sldId id="462" r:id="rId25"/>
    <p:sldId id="463" r:id="rId26"/>
    <p:sldId id="464" r:id="rId27"/>
    <p:sldId id="465" r:id="rId28"/>
    <p:sldId id="466" r:id="rId29"/>
    <p:sldId id="467" r:id="rId30"/>
    <p:sldId id="469" r:id="rId31"/>
    <p:sldId id="470" r:id="rId32"/>
    <p:sldId id="471" r:id="rId33"/>
    <p:sldId id="473" r:id="rId34"/>
    <p:sldId id="472" r:id="rId35"/>
    <p:sldId id="474" r:id="rId36"/>
    <p:sldId id="475" r:id="rId37"/>
    <p:sldId id="476" r:id="rId38"/>
    <p:sldId id="477" r:id="rId39"/>
    <p:sldId id="478" r:id="rId40"/>
    <p:sldId id="479" r:id="rId41"/>
    <p:sldId id="480" r:id="rId42"/>
    <p:sldId id="481" r:id="rId43"/>
    <p:sldId id="482" r:id="rId44"/>
    <p:sldId id="483" r:id="rId45"/>
    <p:sldId id="484" r:id="rId46"/>
    <p:sldId id="485" r:id="rId47"/>
    <p:sldId id="345" r:id="rId48"/>
    <p:sldId id="486" r:id="rId49"/>
    <p:sldId id="487" r:id="rId50"/>
    <p:sldId id="488" r:id="rId51"/>
    <p:sldId id="346" r:id="rId52"/>
    <p:sldId id="489" r:id="rId53"/>
    <p:sldId id="490" r:id="rId54"/>
    <p:sldId id="491" r:id="rId55"/>
    <p:sldId id="492" r:id="rId56"/>
    <p:sldId id="493" r:id="rId57"/>
    <p:sldId id="494" r:id="rId58"/>
    <p:sldId id="495" r:id="rId59"/>
    <p:sldId id="496" r:id="rId60"/>
    <p:sldId id="497" r:id="rId61"/>
    <p:sldId id="498" r:id="rId62"/>
    <p:sldId id="499" r:id="rId63"/>
    <p:sldId id="500" r:id="rId64"/>
    <p:sldId id="501" r:id="rId65"/>
    <p:sldId id="502" r:id="rId66"/>
    <p:sldId id="503" r:id="rId67"/>
    <p:sldId id="504" r:id="rId68"/>
    <p:sldId id="505" r:id="rId69"/>
    <p:sldId id="377" r:id="rId70"/>
    <p:sldId id="378" r:id="rId71"/>
    <p:sldId id="379" r:id="rId72"/>
    <p:sldId id="380" r:id="rId73"/>
    <p:sldId id="381" r:id="rId74"/>
    <p:sldId id="382" r:id="rId75"/>
    <p:sldId id="383" r:id="rId76"/>
    <p:sldId id="414" r:id="rId77"/>
    <p:sldId id="415" r:id="rId78"/>
    <p:sldId id="416" r:id="rId79"/>
    <p:sldId id="417" r:id="rId80"/>
    <p:sldId id="418" r:id="rId81"/>
    <p:sldId id="419" r:id="rId82"/>
    <p:sldId id="420" r:id="rId83"/>
    <p:sldId id="421" r:id="rId84"/>
    <p:sldId id="422" r:id="rId85"/>
    <p:sldId id="423" r:id="rId86"/>
    <p:sldId id="424" r:id="rId87"/>
    <p:sldId id="425" r:id="rId88"/>
    <p:sldId id="426" r:id="rId89"/>
    <p:sldId id="289" r:id="rId90"/>
    <p:sldId id="428" r:id="rId91"/>
    <p:sldId id="429" r:id="rId92"/>
    <p:sldId id="430" r:id="rId93"/>
    <p:sldId id="431" r:id="rId94"/>
    <p:sldId id="432" r:id="rId95"/>
    <p:sldId id="433" r:id="rId96"/>
    <p:sldId id="434" r:id="rId97"/>
    <p:sldId id="435" r:id="rId98"/>
    <p:sldId id="436" r:id="rId99"/>
    <p:sldId id="438" r:id="rId100"/>
    <p:sldId id="311" r:id="rId101"/>
    <p:sldId id="439" r:id="rId102"/>
    <p:sldId id="440" r:id="rId103"/>
    <p:sldId id="441" r:id="rId104"/>
    <p:sldId id="442" r:id="rId105"/>
  </p:sldIdLst>
  <p:sldSz cx="12198350" cy="6859588"/>
  <p:notesSz cx="6858000" cy="9144000"/>
  <p:defaultText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4">
          <p15:clr>
            <a:srgbClr val="A4A3A4"/>
          </p15:clr>
        </p15:guide>
        <p15:guide id="2" pos="2912">
          <p15:clr>
            <a:srgbClr val="A4A3A4"/>
          </p15:clr>
        </p15:guide>
        <p15:guide id="3" orient="horz" pos="2776">
          <p15:clr>
            <a:srgbClr val="A4A3A4"/>
          </p15:clr>
        </p15:guide>
        <p15:guide id="4" pos="395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BC32"/>
    <a:srgbClr val="13668B"/>
    <a:srgbClr val="3E4D90"/>
    <a:srgbClr val="4A5DAC"/>
    <a:srgbClr val="28A7E1"/>
    <a:srgbClr val="0094C8"/>
    <a:srgbClr val="92D050"/>
    <a:srgbClr val="374581"/>
    <a:srgbClr val="3F4E92"/>
    <a:srgbClr val="1A8A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2" autoAdjust="0"/>
    <p:restoredTop sz="99816" autoAdjust="0"/>
  </p:normalViewPr>
  <p:slideViewPr>
    <p:cSldViewPr>
      <p:cViewPr varScale="1">
        <p:scale>
          <a:sx n="60" d="100"/>
          <a:sy n="60" d="100"/>
        </p:scale>
        <p:origin x="57" y="207"/>
      </p:cViewPr>
      <p:guideLst>
        <p:guide orient="horz" pos="1964"/>
        <p:guide pos="2912"/>
        <p:guide orient="horz" pos="2776"/>
        <p:guide pos="3955"/>
      </p:guideLst>
    </p:cSldViewPr>
  </p:slideViewPr>
  <p:notesTextViewPr>
    <p:cViewPr>
      <p:scale>
        <a:sx n="100" d="100"/>
        <a:sy n="100" d="100"/>
      </p:scale>
      <p:origin x="0" y="0"/>
    </p:cViewPr>
  </p:notesTextViewPr>
  <p:notesViewPr>
    <p:cSldViewPr>
      <p:cViewPr varScale="1">
        <p:scale>
          <a:sx n="87" d="100"/>
          <a:sy n="87" d="100"/>
        </p:scale>
        <p:origin x="3840"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handoutMaster" Target="handoutMasters/handout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677325-BB32-4E03-ADDD-049E86DE972C}" type="datetimeFigureOut">
              <a:rPr lang="zh-CN" altLang="en-US" smtClean="0"/>
              <a:t>2024/11/19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720DD-8BEE-4F00-B620-6585463487CB}"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B2CA84-97B7-4DE0-A4BE-298A9A01B87C}" type="datetimeFigureOut">
              <a:rPr lang="zh-CN" altLang="en-US" smtClean="0"/>
              <a:t>2024/11/19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A6D530-88B3-468A-9042-0D43F32A3F0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200" indent="-457200">
              <a:lnSpc>
                <a:spcPct val="120000"/>
              </a:lnSpc>
              <a:buSzPct val="80000"/>
              <a:buFont typeface="Wingdings" panose="05000000000000000000"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200" indent="-457200">
              <a:lnSpc>
                <a:spcPct val="120000"/>
              </a:lnSpc>
              <a:buSzPct val="80000"/>
              <a:buFont typeface="Wingdings" panose="05000000000000000000"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7" name="Content Placeholder 2"/>
          <p:cNvSpPr>
            <a:spLocks noGrp="1"/>
          </p:cNvSpPr>
          <p:nvPr>
            <p:ph idx="13"/>
          </p:nvPr>
        </p:nvSpPr>
        <p:spPr>
          <a:xfrm>
            <a:off x="841375" y="984137"/>
            <a:ext cx="10747058" cy="464458"/>
          </a:xfrm>
          <a:prstGeom prst="rect">
            <a:avLst/>
          </a:prstGeom>
        </p:spPr>
        <p:txBody>
          <a:bodyPr/>
          <a:lstStyle>
            <a:lvl1pPr marL="0" indent="0">
              <a:lnSpc>
                <a:spcPct val="120000"/>
              </a:lnSpc>
              <a:buSzPct val="80000"/>
              <a:buFont typeface="Wingdings" panose="05000000000000000000" pitchFamily="2" charset="2"/>
              <a:buNone/>
              <a:defRPr b="0">
                <a:solidFill>
                  <a:schemeClr val="tx1">
                    <a:lumMod val="95000"/>
                    <a:lumOff val="5000"/>
                  </a:schemeClr>
                </a:solidFill>
              </a:defRPr>
            </a:lvl1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Freeform 3"/>
          <p:cNvSpPr/>
          <p:nvPr userDrawn="1"/>
        </p:nvSpPr>
        <p:spPr>
          <a:xfrm>
            <a:off x="-73026" y="0"/>
            <a:ext cx="12271375" cy="6859588"/>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rtlCol="0" anchor="ctr"/>
          <a:lstStyle/>
          <a:p>
            <a:pPr algn="ctr"/>
            <a:endParaRPr lang="zh-CN" altLang="en-US"/>
          </a:p>
        </p:txBody>
      </p:sp>
      <p:sp>
        <p:nvSpPr>
          <p:cNvPr id="4" name="Date Placeholder 3"/>
          <p:cNvSpPr>
            <a:spLocks noGrp="1"/>
          </p:cNvSpPr>
          <p:nvPr>
            <p:ph type="dt" sz="half" idx="10"/>
          </p:nvPr>
        </p:nvSpPr>
        <p:spPr/>
        <p:txBody>
          <a:bodyPr/>
          <a:lstStyle/>
          <a:p>
            <a:fld id="{1D8BD707-D9CF-40AE-B4C6-C98DA3205C09}"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917"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0828" y="2134095"/>
            <a:ext cx="5387605" cy="6036015"/>
          </a:xfrm>
          <a:prstGeom prst="rect">
            <a:avLst/>
          </a:prstGeo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918" y="2047291"/>
            <a:ext cx="5389723"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p>
        </p:txBody>
      </p:sp>
      <p:sp>
        <p:nvSpPr>
          <p:cNvPr id="4" name="Content Placeholder 3"/>
          <p:cNvSpPr>
            <a:spLocks noGrp="1"/>
          </p:cNvSpPr>
          <p:nvPr>
            <p:ph sz="half" idx="2"/>
          </p:nvPr>
        </p:nvSpPr>
        <p:spPr>
          <a:xfrm>
            <a:off x="609918" y="2900505"/>
            <a:ext cx="5389723"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6593" y="2047291"/>
            <a:ext cx="5391840" cy="853214"/>
          </a:xfrm>
          <a:prstGeom prst="rect">
            <a:avLst/>
          </a:prstGeom>
        </p:spPr>
        <p:txBody>
          <a:bodyPr anchor="b"/>
          <a:lstStyle>
            <a:lvl1pPr marL="0" indent="0">
              <a:buNone/>
              <a:defRPr sz="3200" b="1"/>
            </a:lvl1pPr>
            <a:lvl2pPr marL="609600" indent="0">
              <a:buNone/>
              <a:defRPr sz="2700" b="1"/>
            </a:lvl2pPr>
            <a:lvl3pPr marL="1219835" indent="0">
              <a:buNone/>
              <a:defRPr sz="2400" b="1"/>
            </a:lvl3pPr>
            <a:lvl4pPr marL="1829435" indent="0">
              <a:buNone/>
              <a:defRPr sz="2100" b="1"/>
            </a:lvl4pPr>
            <a:lvl5pPr marL="2439035" indent="0">
              <a:buNone/>
              <a:defRPr sz="2100" b="1"/>
            </a:lvl5pPr>
            <a:lvl6pPr marL="3049270" indent="0">
              <a:buNone/>
              <a:defRPr sz="2100" b="1"/>
            </a:lvl6pPr>
            <a:lvl7pPr marL="3658870" indent="0">
              <a:buNone/>
              <a:defRPr sz="2100" b="1"/>
            </a:lvl7pPr>
            <a:lvl8pPr marL="4268470" indent="0">
              <a:buNone/>
              <a:defRPr sz="2100" b="1"/>
            </a:lvl8pPr>
            <a:lvl9pPr marL="4878705"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6593" y="2900505"/>
            <a:ext cx="5391840" cy="5269604"/>
          </a:xfrm>
          <a:prstGeom prst="rect">
            <a:avLst/>
          </a:prstGeo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18" y="364151"/>
            <a:ext cx="4013173" cy="1549759"/>
          </a:xfrm>
          <a:prstGeom prst="rect">
            <a:avLst/>
          </a:prstGeo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9216" y="364152"/>
            <a:ext cx="6819216" cy="7805958"/>
          </a:xfrm>
          <a:prstGeom prst="rect">
            <a:avLst/>
          </a:prstGeo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918" y="1913910"/>
            <a:ext cx="4013173" cy="6256199"/>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962" y="6402282"/>
            <a:ext cx="7319010" cy="755826"/>
          </a:xfrm>
          <a:prstGeom prst="rect">
            <a:avLst/>
          </a:prstGeo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90962" y="817223"/>
            <a:ext cx="7319010" cy="5487670"/>
          </a:xfrm>
          <a:prstGeom prst="rect">
            <a:avLst/>
          </a:prstGeom>
        </p:spPr>
        <p:txBody>
          <a:bodyPr/>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en-US"/>
          </a:p>
        </p:txBody>
      </p:sp>
      <p:sp>
        <p:nvSpPr>
          <p:cNvPr id="4" name="Text Placeholder 3"/>
          <p:cNvSpPr>
            <a:spLocks noGrp="1"/>
          </p:cNvSpPr>
          <p:nvPr>
            <p:ph type="body" sz="half" idx="2"/>
          </p:nvPr>
        </p:nvSpPr>
        <p:spPr>
          <a:xfrm>
            <a:off x="2390962" y="7158108"/>
            <a:ext cx="7319010" cy="1073398"/>
          </a:xfrm>
          <a:prstGeom prst="rect">
            <a:avLst/>
          </a:prstGeom>
        </p:spPr>
        <p:txBody>
          <a:bodyPr/>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918" y="366269"/>
            <a:ext cx="10978515" cy="1524353"/>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a:xfrm>
            <a:off x="609918" y="2134095"/>
            <a:ext cx="10978515" cy="603601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3804" y="366269"/>
            <a:ext cx="2744629" cy="7803840"/>
          </a:xfrm>
          <a:prstGeom prst="rect">
            <a:avLst/>
          </a:prstGeo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09918" y="366269"/>
            <a:ext cx="8030580" cy="7803840"/>
          </a:xfrm>
          <a:prstGeom prst="rect">
            <a:avLst/>
          </a:prstGeo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876" y="2841225"/>
            <a:ext cx="10368598" cy="1960487"/>
          </a:xfrm>
          <a:prstGeom prst="rect">
            <a:avLst/>
          </a:prstGeom>
        </p:spPr>
        <p:txBody>
          <a:bodyPr/>
          <a:lstStyle/>
          <a:p>
            <a:r>
              <a:rPr lang="en-US" dirty="0"/>
              <a:t>Click to edit Master title style</a:t>
            </a:r>
          </a:p>
        </p:txBody>
      </p:sp>
      <p:sp>
        <p:nvSpPr>
          <p:cNvPr id="3" name="Subtitle 2"/>
          <p:cNvSpPr>
            <a:spLocks noGrp="1"/>
          </p:cNvSpPr>
          <p:nvPr>
            <p:ph type="subTitle" idx="1"/>
          </p:nvPr>
        </p:nvSpPr>
        <p:spPr>
          <a:xfrm>
            <a:off x="1829753" y="5182800"/>
            <a:ext cx="8538845" cy="2337341"/>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835"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9270" indent="0" algn="ctr">
              <a:buNone/>
              <a:defRPr>
                <a:solidFill>
                  <a:schemeClr val="tx1">
                    <a:tint val="75000"/>
                  </a:schemeClr>
                </a:solidFill>
              </a:defRPr>
            </a:lvl6pPr>
            <a:lvl7pPr marL="3658870" indent="0" algn="ctr">
              <a:buNone/>
              <a:defRPr>
                <a:solidFill>
                  <a:schemeClr val="tx1">
                    <a:tint val="75000"/>
                  </a:schemeClr>
                </a:solidFill>
              </a:defRPr>
            </a:lvl7pPr>
            <a:lvl8pPr marL="4268470" indent="0" algn="ctr">
              <a:buNone/>
              <a:defRPr>
                <a:solidFill>
                  <a:schemeClr val="tx1">
                    <a:tint val="75000"/>
                  </a:schemeClr>
                </a:solidFill>
              </a:defRPr>
            </a:lvl8pPr>
            <a:lvl9pPr marL="487870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09917" y="8477096"/>
            <a:ext cx="2846282" cy="486946"/>
          </a:xfrm>
          <a:prstGeom prst="rect">
            <a:avLst/>
          </a:prstGeom>
        </p:spPr>
        <p:txBody>
          <a:bodyPr vert="horz" lIns="121963" tIns="60981" rIns="121963" bIns="60981" rtlCol="0" anchor="ctr"/>
          <a:lstStyle>
            <a:lvl1pPr algn="l">
              <a:defRPr sz="1600">
                <a:solidFill>
                  <a:schemeClr val="tx1">
                    <a:tint val="75000"/>
                  </a:schemeClr>
                </a:solidFill>
              </a:defRPr>
            </a:lvl1pPr>
          </a:lstStyle>
          <a:p>
            <a:fld id="{1D8BD707-D9CF-40AE-B4C6-C98DA3205C09}" type="datetimeFigureOut">
              <a:rPr lang="en-US" smtClean="0"/>
              <a:t>11/19/2024</a:t>
            </a:fld>
            <a:endParaRPr lang="en-US"/>
          </a:p>
        </p:txBody>
      </p:sp>
      <p:sp>
        <p:nvSpPr>
          <p:cNvPr id="5" name="Footer Placeholder 4"/>
          <p:cNvSpPr>
            <a:spLocks noGrp="1"/>
          </p:cNvSpPr>
          <p:nvPr>
            <p:ph type="ftr" sz="quarter" idx="3"/>
          </p:nvPr>
        </p:nvSpPr>
        <p:spPr>
          <a:xfrm>
            <a:off x="4167770" y="8477096"/>
            <a:ext cx="3862811" cy="486946"/>
          </a:xfrm>
          <a:prstGeom prst="rect">
            <a:avLst/>
          </a:prstGeom>
        </p:spPr>
        <p:txBody>
          <a:bodyPr vert="horz" lIns="121963" tIns="60981" rIns="121963" bIns="60981"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42151" y="8477096"/>
            <a:ext cx="2846282" cy="486946"/>
          </a:xfrm>
          <a:prstGeom prst="rect">
            <a:avLst/>
          </a:prstGeom>
        </p:spPr>
        <p:txBody>
          <a:bodyPr vert="horz" lIns="121963" tIns="60981" rIns="121963" bIns="60981" rtlCol="0" anchor="ctr"/>
          <a:lstStyle>
            <a:lvl1pPr algn="r">
              <a:defRPr sz="1600">
                <a:solidFill>
                  <a:schemeClr val="tx1">
                    <a:tint val="75000"/>
                  </a:schemeClr>
                </a:solidFill>
              </a:defRPr>
            </a:lvl1pPr>
          </a:lstStyle>
          <a:p>
            <a:fld id="{B6F15528-21DE-4FAA-801E-634DDDAF4B2B}" type="slidenum">
              <a:rPr lang="en-US" smtClean="0"/>
              <a:t>‹#›</a:t>
            </a:fld>
            <a:endParaRPr lang="en-US"/>
          </a:p>
        </p:txBody>
      </p:sp>
      <p:sp>
        <p:nvSpPr>
          <p:cNvPr id="21" name="Text Placeholder 2"/>
          <p:cNvSpPr>
            <a:spLocks noGrp="1"/>
          </p:cNvSpPr>
          <p:nvPr>
            <p:ph type="body" idx="1"/>
          </p:nvPr>
        </p:nvSpPr>
        <p:spPr>
          <a:xfrm>
            <a:off x="609521" y="1143794"/>
            <a:ext cx="10971372" cy="5000369"/>
          </a:xfrm>
          <a:prstGeom prst="rect">
            <a:avLst/>
          </a:prstGeom>
        </p:spPr>
        <p:txBody>
          <a:bodyPr vert="horz" lIns="121917" tIns="60958" rIns="121917" bIns="6095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矩形 23"/>
          <p:cNvSpPr/>
          <p:nvPr userDrawn="1"/>
        </p:nvSpPr>
        <p:spPr>
          <a:xfrm>
            <a:off x="0" y="335415"/>
            <a:ext cx="12198350" cy="432048"/>
          </a:xfrm>
          <a:prstGeom prst="rect">
            <a:avLst/>
          </a:prstGeom>
          <a:solidFill>
            <a:srgbClr val="3A4187"/>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lvl="0" algn="ctr"/>
            <a:endParaRPr lang="zh-CN" altLang="en-US" dirty="0"/>
          </a:p>
        </p:txBody>
      </p:sp>
      <p:sp>
        <p:nvSpPr>
          <p:cNvPr id="25" name="矩形 24"/>
          <p:cNvSpPr/>
          <p:nvPr userDrawn="1"/>
        </p:nvSpPr>
        <p:spPr>
          <a:xfrm>
            <a:off x="0" y="764704"/>
            <a:ext cx="12198350" cy="720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11280775" y="330107"/>
            <a:ext cx="485233" cy="48523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dirty="0">
              <a:latin typeface="微软雅黑" panose="020B0503020204020204" pitchFamily="34" charset="-122"/>
              <a:ea typeface="微软雅黑" panose="020B0503020204020204" pitchFamily="34" charset="-122"/>
            </a:endParaRPr>
          </a:p>
        </p:txBody>
      </p:sp>
      <p:sp>
        <p:nvSpPr>
          <p:cNvPr id="27" name="TextBox 15"/>
          <p:cNvSpPr txBox="1"/>
          <p:nvPr userDrawn="1"/>
        </p:nvSpPr>
        <p:spPr>
          <a:xfrm>
            <a:off x="11283362" y="442092"/>
            <a:ext cx="483393" cy="246221"/>
          </a:xfrm>
          <a:prstGeom prst="rect">
            <a:avLst/>
          </a:prstGeom>
          <a:noFill/>
        </p:spPr>
        <p:txBody>
          <a:bodyPr wrap="square" lIns="0" tIns="0" rIns="0" bIns="0"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矩形 28"/>
          <p:cNvSpPr/>
          <p:nvPr userDrawn="1"/>
        </p:nvSpPr>
        <p:spPr>
          <a:xfrm>
            <a:off x="7470775" y="332656"/>
            <a:ext cx="3352800" cy="43204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bg1"/>
                </a:solidFill>
                <a:sym typeface="+mn-ea"/>
              </a:rPr>
              <a:t>第</a:t>
            </a:r>
            <a:r>
              <a:rPr lang="en-US" altLang="zh-CN" sz="1800" dirty="0">
                <a:solidFill>
                  <a:schemeClr val="bg1"/>
                </a:solidFill>
                <a:sym typeface="+mn-ea"/>
              </a:rPr>
              <a:t>8</a:t>
            </a:r>
            <a:r>
              <a:rPr lang="zh-CN" altLang="en-US" sz="1800" dirty="0">
                <a:solidFill>
                  <a:schemeClr val="bg1"/>
                </a:solidFill>
                <a:sym typeface="+mn-ea"/>
              </a:rPr>
              <a:t>章   数据库安全性</a:t>
            </a:r>
            <a:endParaRPr lang="zh-CN" altLang="en-US" sz="1800" b="0" dirty="0">
              <a:latin typeface="微软雅黑" panose="020B0503020204020204" pitchFamily="34" charset="-122"/>
              <a:ea typeface="微软雅黑" panose="020B0503020204020204" pitchFamily="34" charset="-122"/>
            </a:endParaRPr>
          </a:p>
        </p:txBody>
      </p:sp>
      <p:sp>
        <p:nvSpPr>
          <p:cNvPr id="20" name="Title Placeholder 1"/>
          <p:cNvSpPr>
            <a:spLocks noGrp="1"/>
          </p:cNvSpPr>
          <p:nvPr>
            <p:ph type="title"/>
          </p:nvPr>
        </p:nvSpPr>
        <p:spPr>
          <a:xfrm>
            <a:off x="772942" y="362834"/>
            <a:ext cx="5305686" cy="399960"/>
          </a:xfrm>
          <a:prstGeom prst="rect">
            <a:avLst/>
          </a:prstGeom>
        </p:spPr>
        <p:txBody>
          <a:bodyPr vert="horz" lIns="121917" tIns="60958" rIns="121917" bIns="60958" rtlCol="0" anchor="ctr">
            <a:noAutofit/>
          </a:bodyPr>
          <a:lstStyle/>
          <a:p>
            <a:r>
              <a:rPr lang="en-US" dirty="0"/>
              <a:t>Click to edit Master title style</a:t>
            </a:r>
          </a:p>
        </p:txBody>
      </p:sp>
      <p:sp>
        <p:nvSpPr>
          <p:cNvPr id="40" name="等腰三角形 39">
            <a:hlinkClick r:id="" action="ppaction://hlinkshowjump?jump=previousslide"/>
          </p:cNvPr>
          <p:cNvSpPr/>
          <p:nvPr userDrawn="1"/>
        </p:nvSpPr>
        <p:spPr>
          <a:xfrm rot="5400000" flipH="1">
            <a:off x="3854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1" name="等腰三角形 40">
            <a:hlinkClick r:id="" action="ppaction://hlinkshowjump?jump=previousslide"/>
          </p:cNvPr>
          <p:cNvSpPr/>
          <p:nvPr userDrawn="1"/>
        </p:nvSpPr>
        <p:spPr>
          <a:xfrm rot="5400000" flipH="1">
            <a:off x="52511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42" name="等腰三角形 41">
            <a:hlinkClick r:id="" action="ppaction://hlinkshowjump?jump=previousslide"/>
          </p:cNvPr>
          <p:cNvSpPr/>
          <p:nvPr userDrawn="1"/>
        </p:nvSpPr>
        <p:spPr>
          <a:xfrm rot="5400000" flipH="1">
            <a:off x="658467" y="517775"/>
            <a:ext cx="98663" cy="101148"/>
          </a:xfrm>
          <a:prstGeom prst="triangl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219835" rtl="0" eaLnBrk="1" latinLnBrk="0" hangingPunct="1">
        <a:spcBef>
          <a:spcPct val="0"/>
        </a:spcBef>
        <a:buNone/>
        <a:defRPr sz="2200" kern="1200">
          <a:solidFill>
            <a:schemeClr val="bg1"/>
          </a:solidFill>
          <a:latin typeface="+mj-lt"/>
          <a:ea typeface="+mj-ea"/>
          <a:cs typeface="+mj-cs"/>
        </a:defRPr>
      </a:lvl1pPr>
    </p:titleStyle>
    <p:bodyStyle>
      <a:lvl1pPr marL="457200" indent="-457200" algn="l" defTabSz="1219835" rtl="0" eaLnBrk="1" latinLnBrk="0" hangingPunct="1">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mooc2-ans.chaoxing.com/mooc2-ans/mycourse/teacherstudy?chapterId=805112627&amp;courseId=200303128&amp;clazzid=102573779"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1.emf"/><Relationship Id="rId4" Type="http://schemas.openxmlformats.org/officeDocument/2006/relationships/oleObject" Target="../embeddings/oleObject1.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3.png"/></Relationships>
</file>

<file path=ppt/slides/_rels/slide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rgbClr val="374581"/>
            </a:gs>
            <a:gs pos="50000">
              <a:srgbClr val="4A5DAC"/>
            </a:gs>
            <a:gs pos="100000">
              <a:srgbClr val="374581"/>
            </a:gs>
          </a:gsLst>
          <a:lin ang="0" scaled="1"/>
          <a:tileRect/>
        </a:gradFill>
        <a:effectLst/>
      </p:bgPr>
    </p:bg>
    <p:spTree>
      <p:nvGrpSpPr>
        <p:cNvPr id="1" name=""/>
        <p:cNvGrpSpPr/>
        <p:nvPr/>
      </p:nvGrpSpPr>
      <p:grpSpPr>
        <a:xfrm>
          <a:off x="0" y="0"/>
          <a:ext cx="0" cy="0"/>
          <a:chOff x="0" y="0"/>
          <a:chExt cx="0" cy="0"/>
        </a:xfrm>
      </p:grpSpPr>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50" cy="6859588"/>
          </a:xfrm>
          <a:prstGeom prst="rect">
            <a:avLst/>
          </a:prstGeom>
        </p:spPr>
      </p:pic>
      <p:sp>
        <p:nvSpPr>
          <p:cNvPr id="15" name="矩形 14"/>
          <p:cNvSpPr/>
          <p:nvPr/>
        </p:nvSpPr>
        <p:spPr>
          <a:xfrm flipV="1">
            <a:off x="1" y="1415937"/>
            <a:ext cx="12198349" cy="21045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3" name="矩形 12"/>
          <p:cNvSpPr/>
          <p:nvPr/>
        </p:nvSpPr>
        <p:spPr>
          <a:xfrm>
            <a:off x="3175" y="1753394"/>
            <a:ext cx="12198349" cy="1796144"/>
          </a:xfrm>
          <a:prstGeom prst="rect">
            <a:avLst/>
          </a:prstGeom>
          <a:solidFill>
            <a:schemeClr val="accent3">
              <a:lumMod val="40000"/>
              <a:lumOff val="60000"/>
            </a:schemeClr>
          </a:solidFill>
          <a:ln>
            <a:noFill/>
          </a:ln>
          <a:effectLst>
            <a:outerShdw blurRad="50800" dist="165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3" tIns="60981" rIns="121963" bIns="60981" spcCol="0" rtlCol="0" anchor="ctr"/>
          <a:lstStyle/>
          <a:p>
            <a:pPr algn="ctr"/>
            <a:endParaRPr lang="zh-CN" altLang="en-US"/>
          </a:p>
        </p:txBody>
      </p:sp>
      <p:sp>
        <p:nvSpPr>
          <p:cNvPr id="10" name="TextBox 9"/>
          <p:cNvSpPr txBox="1"/>
          <p:nvPr/>
        </p:nvSpPr>
        <p:spPr>
          <a:xfrm>
            <a:off x="1527175" y="2252051"/>
            <a:ext cx="7872730" cy="798830"/>
          </a:xfrm>
          <a:prstGeom prst="rect">
            <a:avLst/>
          </a:prstGeom>
          <a:noFill/>
        </p:spPr>
        <p:txBody>
          <a:bodyPr wrap="square" lIns="121963" tIns="60981" rIns="121963" bIns="60981" rtlCol="0">
            <a:spAutoFit/>
          </a:bodyPr>
          <a:lstStyle/>
          <a:p>
            <a:pPr algn="ctr"/>
            <a:r>
              <a:rPr lang="zh-CN" altLang="en-US" sz="4400" dirty="0"/>
              <a:t>第</a:t>
            </a:r>
            <a:r>
              <a:rPr lang="en-US" altLang="zh-CN" sz="4400" dirty="0"/>
              <a:t>8</a:t>
            </a:r>
            <a:r>
              <a:rPr lang="zh-CN" altLang="en-US" sz="4400" dirty="0"/>
              <a:t>章</a:t>
            </a:r>
            <a:r>
              <a:rPr lang="en-US" altLang="zh-CN" sz="4400" dirty="0"/>
              <a:t> </a:t>
            </a:r>
            <a:r>
              <a:rPr lang="zh-CN" altLang="en-US" sz="4400" dirty="0"/>
              <a:t>数据库安全性</a:t>
            </a:r>
          </a:p>
        </p:txBody>
      </p:sp>
      <p:sp>
        <p:nvSpPr>
          <p:cNvPr id="7" name="TextBox 6"/>
          <p:cNvSpPr txBox="1"/>
          <p:nvPr/>
        </p:nvSpPr>
        <p:spPr>
          <a:xfrm>
            <a:off x="307975" y="762635"/>
            <a:ext cx="7796530" cy="614045"/>
          </a:xfrm>
          <a:prstGeom prst="rect">
            <a:avLst/>
          </a:prstGeom>
          <a:noFill/>
        </p:spPr>
        <p:txBody>
          <a:bodyPr wrap="square" lIns="121963" tIns="60981" rIns="121963" bIns="60981" rtlCol="0">
            <a:spAutoFit/>
          </a:bodyPr>
          <a:lstStyle/>
          <a:p>
            <a:r>
              <a:rPr lang="zh-CN" altLang="en-US" sz="3200" dirty="0">
                <a:solidFill>
                  <a:schemeClr val="bg1"/>
                </a:solidFill>
              </a:rPr>
              <a:t>《数据库系统概论》</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dirty="0"/>
              <a:t>主要内容</a:t>
            </a:r>
          </a:p>
        </p:txBody>
      </p:sp>
      <p:grpSp>
        <p:nvGrpSpPr>
          <p:cNvPr id="64" name="组合 63"/>
          <p:cNvGrpSpPr/>
          <p:nvPr/>
        </p:nvGrpSpPr>
        <p:grpSpPr>
          <a:xfrm>
            <a:off x="602260" y="1804194"/>
            <a:ext cx="6030315" cy="632563"/>
            <a:chOff x="1288060" y="2515394"/>
            <a:chExt cx="6030315" cy="632563"/>
          </a:xfrm>
        </p:grpSpPr>
        <p:sp>
          <p:nvSpPr>
            <p:cNvPr id="41" name="矩形 40"/>
            <p:cNvSpPr/>
            <p:nvPr/>
          </p:nvSpPr>
          <p:spPr>
            <a:xfrm>
              <a:off x="2060575" y="2515394"/>
              <a:ext cx="2590800" cy="5334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151869" y="2515394"/>
              <a:ext cx="2347106" cy="491490"/>
            </a:xfrm>
            <a:prstGeom prst="rect">
              <a:avLst/>
            </a:prstGeom>
            <a:noFill/>
          </p:spPr>
          <p:txBody>
            <a:bodyPr wrap="square" rtlCol="0">
              <a:spAutoFit/>
            </a:bodyPr>
            <a:lstStyle/>
            <a:p>
              <a:pPr>
                <a:lnSpc>
                  <a:spcPct val="130000"/>
                </a:lnSpc>
              </a:pPr>
              <a:r>
                <a:rPr lang="zh-CN" altLang="en-US" sz="2000" dirty="0"/>
                <a:t>数据库安全性定义</a:t>
              </a:r>
              <a:endParaRPr lang="zh-CN" altLang="zh-CN" sz="2000" dirty="0"/>
            </a:p>
          </p:txBody>
        </p:sp>
        <p:cxnSp>
          <p:nvCxnSpPr>
            <p:cNvPr id="9" name="直接连接符 8"/>
            <p:cNvCxnSpPr/>
            <p:nvPr/>
          </p:nvCxnSpPr>
          <p:spPr bwMode="auto">
            <a:xfrm>
              <a:off x="1374775" y="3147957"/>
              <a:ext cx="5943600" cy="0"/>
            </a:xfrm>
            <a:prstGeom prst="line">
              <a:avLst/>
            </a:prstGeom>
            <a:solidFill>
              <a:schemeClr val="accent1"/>
            </a:solidFill>
            <a:ln w="28575" cap="flat" cmpd="sng" algn="ctr">
              <a:solidFill>
                <a:srgbClr val="FFC000"/>
              </a:solidFill>
              <a:prstDash val="solid"/>
              <a:round/>
              <a:headEnd type="none" w="med" len="med"/>
              <a:tailEnd type="none" w="med" len="med"/>
            </a:ln>
            <a:effectLst/>
          </p:spPr>
        </p:cxnSp>
        <p:grpSp>
          <p:nvGrpSpPr>
            <p:cNvPr id="11" name="组合 10"/>
            <p:cNvGrpSpPr/>
            <p:nvPr/>
          </p:nvGrpSpPr>
          <p:grpSpPr>
            <a:xfrm>
              <a:off x="1288060" y="2521302"/>
              <a:ext cx="579307" cy="626655"/>
              <a:chOff x="6242320" y="1105727"/>
              <a:chExt cx="579005" cy="626656"/>
            </a:xfrm>
          </p:grpSpPr>
          <p:sp>
            <p:nvSpPr>
              <p:cNvPr id="12" name="TextBox 6"/>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200" dirty="0">
                    <a:solidFill>
                      <a:srgbClr val="FF9900"/>
                    </a:solidFill>
                    <a:latin typeface="Impact" panose="020B0806030902050204" pitchFamily="34" charset="0"/>
                    <a:ea typeface="微软雅黑" panose="020B0503020204020204" pitchFamily="34" charset="-122"/>
                  </a:rPr>
                  <a:t>01</a:t>
                </a:r>
                <a:endParaRPr lang="zh-CN" altLang="en-US" sz="3200" dirty="0">
                  <a:solidFill>
                    <a:srgbClr val="FF9900"/>
                  </a:solidFill>
                  <a:latin typeface="微软雅黑" panose="020B0503020204020204" pitchFamily="34" charset="-122"/>
                  <a:ea typeface="微软雅黑" panose="020B0503020204020204" pitchFamily="34" charset="-122"/>
                </a:endParaRPr>
              </a:p>
            </p:txBody>
          </p:sp>
          <p:sp>
            <p:nvSpPr>
              <p:cNvPr id="13" name="文本框 22"/>
              <p:cNvSpPr txBox="1"/>
              <p:nvPr/>
            </p:nvSpPr>
            <p:spPr>
              <a:xfrm>
                <a:off x="6242320" y="1516939"/>
                <a:ext cx="579005" cy="215444"/>
              </a:xfrm>
              <a:prstGeom prst="rect">
                <a:avLst/>
              </a:prstGeom>
              <a:no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grpSp>
      <p:grpSp>
        <p:nvGrpSpPr>
          <p:cNvPr id="67" name="组合 66"/>
          <p:cNvGrpSpPr/>
          <p:nvPr/>
        </p:nvGrpSpPr>
        <p:grpSpPr>
          <a:xfrm>
            <a:off x="602260" y="3904457"/>
            <a:ext cx="6106515" cy="668031"/>
            <a:chOff x="1288060" y="4615657"/>
            <a:chExt cx="6106515" cy="668031"/>
          </a:xfrm>
        </p:grpSpPr>
        <p:grpSp>
          <p:nvGrpSpPr>
            <p:cNvPr id="66" name="组合 65"/>
            <p:cNvGrpSpPr/>
            <p:nvPr/>
          </p:nvGrpSpPr>
          <p:grpSpPr>
            <a:xfrm>
              <a:off x="1288060" y="4615657"/>
              <a:ext cx="6106515" cy="668031"/>
              <a:chOff x="1288060" y="4615657"/>
              <a:chExt cx="6106515" cy="668031"/>
            </a:xfrm>
          </p:grpSpPr>
          <p:sp>
            <p:nvSpPr>
              <p:cNvPr id="43" name="矩形 42"/>
              <p:cNvSpPr/>
              <p:nvPr/>
            </p:nvSpPr>
            <p:spPr>
              <a:xfrm>
                <a:off x="2060575" y="4615657"/>
                <a:ext cx="25908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1288060" y="4635789"/>
                <a:ext cx="579307" cy="620494"/>
                <a:chOff x="6242320" y="3640739"/>
                <a:chExt cx="579005" cy="620494"/>
              </a:xfrm>
            </p:grpSpPr>
            <p:sp>
              <p:nvSpPr>
                <p:cNvPr id="18" name="TextBox 6"/>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200" dirty="0">
                      <a:solidFill>
                        <a:srgbClr val="00B050"/>
                      </a:solidFill>
                      <a:latin typeface="Impact" panose="020B0806030902050204" pitchFamily="34" charset="0"/>
                      <a:ea typeface="微软雅黑" panose="020B0503020204020204" pitchFamily="34" charset="-122"/>
                    </a:rPr>
                    <a:t>03</a:t>
                  </a:r>
                  <a:endParaRPr lang="zh-CN" altLang="en-US" sz="3200" dirty="0">
                    <a:solidFill>
                      <a:srgbClr val="00B050"/>
                    </a:solidFill>
                    <a:latin typeface="微软雅黑" panose="020B0503020204020204" pitchFamily="34" charset="-122"/>
                    <a:ea typeface="微软雅黑" panose="020B0503020204020204" pitchFamily="34" charset="-122"/>
                  </a:endParaRPr>
                </a:p>
              </p:txBody>
            </p:sp>
            <p:sp>
              <p:nvSpPr>
                <p:cNvPr id="19" name="文本框 24"/>
                <p:cNvSpPr txBox="1"/>
                <p:nvPr/>
              </p:nvSpPr>
              <p:spPr>
                <a:xfrm>
                  <a:off x="6242320" y="4045789"/>
                  <a:ext cx="579005" cy="215444"/>
                </a:xfrm>
                <a:prstGeom prst="rect">
                  <a:avLst/>
                </a:prstGeom>
                <a:no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23" name="直接连接符 22"/>
              <p:cNvCxnSpPr/>
              <p:nvPr/>
            </p:nvCxnSpPr>
            <p:spPr bwMode="auto">
              <a:xfrm>
                <a:off x="1374775" y="5283688"/>
                <a:ext cx="6019800" cy="0"/>
              </a:xfrm>
              <a:prstGeom prst="line">
                <a:avLst/>
              </a:prstGeom>
              <a:solidFill>
                <a:schemeClr val="accent1"/>
              </a:solidFill>
              <a:ln w="28575" cap="flat" cmpd="sng" algn="ctr">
                <a:solidFill>
                  <a:srgbClr val="FF8181"/>
                </a:solidFill>
                <a:prstDash val="solid"/>
                <a:round/>
                <a:headEnd type="none" w="med" len="med"/>
                <a:tailEnd type="none" w="med" len="med"/>
              </a:ln>
              <a:effectLst/>
            </p:spPr>
          </p:cxnSp>
        </p:grpSp>
        <p:sp>
          <p:nvSpPr>
            <p:cNvPr id="21" name="TextBox 20"/>
            <p:cNvSpPr txBox="1"/>
            <p:nvPr/>
          </p:nvSpPr>
          <p:spPr>
            <a:xfrm>
              <a:off x="2151869" y="4696474"/>
              <a:ext cx="3566306" cy="491490"/>
            </a:xfrm>
            <a:prstGeom prst="rect">
              <a:avLst/>
            </a:prstGeom>
            <a:noFill/>
          </p:spPr>
          <p:txBody>
            <a:bodyPr wrap="square" rtlCol="0">
              <a:spAutoFit/>
            </a:bodyPr>
            <a:lstStyle/>
            <a:p>
              <a:pPr>
                <a:lnSpc>
                  <a:spcPct val="130000"/>
                </a:lnSpc>
              </a:pPr>
              <a:r>
                <a:rPr lang="en-US" altLang="zh-CN" sz="2000" dirty="0"/>
                <a:t>MySQL</a:t>
              </a:r>
              <a:r>
                <a:rPr lang="zh-CN" altLang="en-US" sz="2000" dirty="0"/>
                <a:t>用户管理</a:t>
              </a:r>
            </a:p>
          </p:txBody>
        </p:sp>
      </p:grpSp>
      <p:grpSp>
        <p:nvGrpSpPr>
          <p:cNvPr id="65" name="组合 64"/>
          <p:cNvGrpSpPr/>
          <p:nvPr/>
        </p:nvGrpSpPr>
        <p:grpSpPr>
          <a:xfrm>
            <a:off x="602260" y="2890044"/>
            <a:ext cx="6106515" cy="666750"/>
            <a:chOff x="1288060" y="3601244"/>
            <a:chExt cx="6106515" cy="666750"/>
          </a:xfrm>
        </p:grpSpPr>
        <p:sp>
          <p:nvSpPr>
            <p:cNvPr id="42" name="矩形 41"/>
            <p:cNvSpPr/>
            <p:nvPr/>
          </p:nvSpPr>
          <p:spPr>
            <a:xfrm>
              <a:off x="2060575" y="3601244"/>
              <a:ext cx="2590800" cy="533400"/>
            </a:xfrm>
            <a:prstGeom prst="rect">
              <a:avLst/>
            </a:prstGeom>
            <a:solidFill>
              <a:srgbClr val="28A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1288060" y="3623526"/>
              <a:ext cx="579307" cy="631762"/>
              <a:chOff x="6242320" y="2373233"/>
              <a:chExt cx="579005" cy="631762"/>
            </a:xfrm>
          </p:grpSpPr>
          <p:sp>
            <p:nvSpPr>
              <p:cNvPr id="15" name="TextBox 6"/>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200" dirty="0">
                    <a:solidFill>
                      <a:srgbClr val="01ACBE"/>
                    </a:solidFill>
                    <a:latin typeface="Impact" panose="020B0806030902050204" pitchFamily="34" charset="0"/>
                    <a:ea typeface="微软雅黑" panose="020B0503020204020204" pitchFamily="34" charset="-122"/>
                  </a:rPr>
                  <a:t>02</a:t>
                </a:r>
                <a:endParaRPr lang="zh-CN" altLang="en-US" sz="3200" dirty="0">
                  <a:solidFill>
                    <a:srgbClr val="01ACBE"/>
                  </a:solidFill>
                  <a:latin typeface="微软雅黑" panose="020B0503020204020204" pitchFamily="34" charset="-122"/>
                  <a:ea typeface="微软雅黑" panose="020B0503020204020204" pitchFamily="34" charset="-122"/>
                </a:endParaRPr>
              </a:p>
            </p:txBody>
          </p:sp>
          <p:sp>
            <p:nvSpPr>
              <p:cNvPr id="16" name="文本框 23"/>
              <p:cNvSpPr txBox="1"/>
              <p:nvPr/>
            </p:nvSpPr>
            <p:spPr>
              <a:xfrm>
                <a:off x="6242320" y="2789551"/>
                <a:ext cx="579005" cy="215444"/>
              </a:xfrm>
              <a:prstGeom prst="rect">
                <a:avLst/>
              </a:prstGeom>
              <a:no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20" name="TextBox 19"/>
            <p:cNvSpPr txBox="1"/>
            <p:nvPr/>
          </p:nvSpPr>
          <p:spPr>
            <a:xfrm>
              <a:off x="2151869" y="3623151"/>
              <a:ext cx="2499506" cy="491490"/>
            </a:xfrm>
            <a:prstGeom prst="rect">
              <a:avLst/>
            </a:prstGeom>
            <a:noFill/>
          </p:spPr>
          <p:txBody>
            <a:bodyPr wrap="square" rtlCol="0">
              <a:spAutoFit/>
            </a:bodyPr>
            <a:lstStyle/>
            <a:p>
              <a:pPr>
                <a:lnSpc>
                  <a:spcPct val="130000"/>
                </a:lnSpc>
              </a:pPr>
              <a:r>
                <a:rPr lang="en-US" altLang="zh-CN" sz="2000" dirty="0"/>
                <a:t>MySQL</a:t>
              </a:r>
              <a:r>
                <a:rPr lang="zh-CN" altLang="en-US" sz="2000" dirty="0"/>
                <a:t>权限系统</a:t>
              </a:r>
            </a:p>
          </p:txBody>
        </p:sp>
        <p:cxnSp>
          <p:nvCxnSpPr>
            <p:cNvPr id="22" name="直接连接符 21"/>
            <p:cNvCxnSpPr/>
            <p:nvPr/>
          </p:nvCxnSpPr>
          <p:spPr bwMode="auto">
            <a:xfrm>
              <a:off x="1374775" y="4267994"/>
              <a:ext cx="6019800" cy="0"/>
            </a:xfrm>
            <a:prstGeom prst="line">
              <a:avLst/>
            </a:prstGeom>
            <a:solidFill>
              <a:schemeClr val="accent1"/>
            </a:solidFill>
            <a:ln w="28575" cap="flat" cmpd="sng" algn="ctr">
              <a:solidFill>
                <a:srgbClr val="00DBD6"/>
              </a:solidFill>
              <a:prstDash val="solid"/>
              <a:round/>
              <a:headEnd type="none" w="med" len="med"/>
              <a:tailEnd type="none" w="med" len="med"/>
            </a:ln>
            <a:effectLst/>
          </p:spPr>
        </p:cxnSp>
      </p:grpSp>
      <p:sp>
        <p:nvSpPr>
          <p:cNvPr id="28" name="矩形 27"/>
          <p:cNvSpPr/>
          <p:nvPr/>
        </p:nvSpPr>
        <p:spPr>
          <a:xfrm>
            <a:off x="4041616" y="1832769"/>
            <a:ext cx="1029335" cy="491490"/>
          </a:xfrm>
          <a:prstGeom prst="rect">
            <a:avLst/>
          </a:prstGeom>
        </p:spPr>
        <p:txBody>
          <a:bodyPr wrap="none">
            <a:spAutoFit/>
          </a:bodyPr>
          <a:lstStyle/>
          <a:p>
            <a:pPr marL="0" lvl="1">
              <a:lnSpc>
                <a:spcPct val="130000"/>
              </a:lnSpc>
              <a:spcBef>
                <a:spcPct val="30000"/>
              </a:spcBef>
            </a:pPr>
            <a:r>
              <a:rPr lang="en-US" altLang="zh-CN" sz="2000" dirty="0">
                <a:latin typeface="Times New Roman" panose="02020603050405020304" pitchFamily="18" charset="0"/>
              </a:rPr>
              <a:t>Security</a:t>
            </a:r>
          </a:p>
        </p:txBody>
      </p:sp>
      <p:sp>
        <p:nvSpPr>
          <p:cNvPr id="30" name="矩形 29"/>
          <p:cNvSpPr/>
          <p:nvPr/>
        </p:nvSpPr>
        <p:spPr>
          <a:xfrm>
            <a:off x="4041775" y="2908821"/>
            <a:ext cx="2063750" cy="491490"/>
          </a:xfrm>
          <a:prstGeom prst="rect">
            <a:avLst/>
          </a:prstGeom>
        </p:spPr>
        <p:txBody>
          <a:bodyPr wrap="none">
            <a:spAutoFit/>
          </a:bodyPr>
          <a:lstStyle/>
          <a:p>
            <a:pPr marL="0" lvl="1" algn="l">
              <a:lnSpc>
                <a:spcPct val="130000"/>
              </a:lnSpc>
              <a:spcBef>
                <a:spcPct val="30000"/>
              </a:spcBef>
            </a:pPr>
            <a:r>
              <a:rPr lang="en-US" sz="2000">
                <a:sym typeface="+mn-ea"/>
              </a:rPr>
              <a:t>MySQL Privilege</a:t>
            </a:r>
            <a:endParaRPr lang="en-US" sz="2000" dirty="0">
              <a:latin typeface="Times New Roman" panose="02020603050405020304" pitchFamily="18" charset="0"/>
            </a:endParaRPr>
          </a:p>
        </p:txBody>
      </p:sp>
      <p:sp>
        <p:nvSpPr>
          <p:cNvPr id="31" name="矩形 30"/>
          <p:cNvSpPr/>
          <p:nvPr/>
        </p:nvSpPr>
        <p:spPr>
          <a:xfrm>
            <a:off x="4041775" y="3946684"/>
            <a:ext cx="2303780" cy="491490"/>
          </a:xfrm>
          <a:prstGeom prst="rect">
            <a:avLst/>
          </a:prstGeom>
        </p:spPr>
        <p:txBody>
          <a:bodyPr wrap="none">
            <a:spAutoFit/>
          </a:bodyPr>
          <a:lstStyle/>
          <a:p>
            <a:pPr marL="0" lvl="1">
              <a:lnSpc>
                <a:spcPct val="130000"/>
              </a:lnSpc>
              <a:spcBef>
                <a:spcPct val="30000"/>
              </a:spcBef>
            </a:pPr>
            <a:r>
              <a:rPr lang="en-US" altLang="zh-CN" sz="2000" dirty="0">
                <a:latin typeface="Times New Roman" panose="02020603050405020304" pitchFamily="18" charset="0"/>
              </a:rPr>
              <a:t>MySQL User Admin</a:t>
            </a:r>
          </a:p>
        </p:txBody>
      </p:sp>
      <p:grpSp>
        <p:nvGrpSpPr>
          <p:cNvPr id="2" name="组合 1"/>
          <p:cNvGrpSpPr/>
          <p:nvPr/>
        </p:nvGrpSpPr>
        <p:grpSpPr>
          <a:xfrm>
            <a:off x="602895" y="4744879"/>
            <a:ext cx="6106515" cy="666750"/>
            <a:chOff x="1288060" y="3601244"/>
            <a:chExt cx="6106515" cy="666750"/>
          </a:xfrm>
        </p:grpSpPr>
        <p:sp>
          <p:nvSpPr>
            <p:cNvPr id="5" name="矩形 4"/>
            <p:cNvSpPr/>
            <p:nvPr/>
          </p:nvSpPr>
          <p:spPr>
            <a:xfrm>
              <a:off x="2060575" y="3601244"/>
              <a:ext cx="2590800" cy="533400"/>
            </a:xfrm>
            <a:prstGeom prst="rect">
              <a:avLst/>
            </a:prstGeom>
            <a:solidFill>
              <a:srgbClr val="28A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288060" y="3623685"/>
              <a:ext cx="579307" cy="631603"/>
              <a:chOff x="6242320" y="2373392"/>
              <a:chExt cx="579005" cy="631603"/>
            </a:xfrm>
          </p:grpSpPr>
          <p:sp>
            <p:nvSpPr>
              <p:cNvPr id="10" name="TextBox 6"/>
              <p:cNvSpPr txBox="1"/>
              <p:nvPr/>
            </p:nvSpPr>
            <p:spPr>
              <a:xfrm>
                <a:off x="6327224" y="2373392"/>
                <a:ext cx="448425" cy="492125"/>
              </a:xfrm>
              <a:prstGeom prst="rect">
                <a:avLst/>
              </a:prstGeom>
              <a:noFill/>
            </p:spPr>
            <p:txBody>
              <a:bodyPr vert="horz" wrap="square" lIns="0" tIns="0" rIns="0" bIns="0" rtlCol="0" anchor="ctr">
                <a:spAutoFit/>
              </a:bodyPr>
              <a:lstStyle/>
              <a:p>
                <a:pPr algn="l"/>
                <a:r>
                  <a:rPr lang="en-US" altLang="zh-CN" sz="3200" dirty="0">
                    <a:solidFill>
                      <a:srgbClr val="01ACBE"/>
                    </a:solidFill>
                    <a:latin typeface="Impact" panose="020B0806030902050204" pitchFamily="34" charset="0"/>
                    <a:ea typeface="微软雅黑" panose="020B0503020204020204" pitchFamily="34" charset="-122"/>
                  </a:rPr>
                  <a:t>04</a:t>
                </a:r>
                <a:endParaRPr lang="zh-CN" altLang="en-US" sz="3200" dirty="0">
                  <a:solidFill>
                    <a:srgbClr val="01ACBE"/>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242320" y="2789551"/>
                <a:ext cx="579005" cy="215444"/>
              </a:xfrm>
              <a:prstGeom prst="rect">
                <a:avLst/>
              </a:prstGeom>
              <a:no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sp>
          <p:nvSpPr>
            <p:cNvPr id="25" name="TextBox 19"/>
            <p:cNvSpPr txBox="1"/>
            <p:nvPr/>
          </p:nvSpPr>
          <p:spPr>
            <a:xfrm>
              <a:off x="2151869" y="3623151"/>
              <a:ext cx="2499506" cy="491490"/>
            </a:xfrm>
            <a:prstGeom prst="rect">
              <a:avLst/>
            </a:prstGeom>
            <a:noFill/>
          </p:spPr>
          <p:txBody>
            <a:bodyPr wrap="square" rtlCol="0">
              <a:spAutoFit/>
            </a:bodyPr>
            <a:lstStyle/>
            <a:p>
              <a:pPr>
                <a:lnSpc>
                  <a:spcPct val="130000"/>
                </a:lnSpc>
              </a:pPr>
              <a:r>
                <a:rPr lang="en-US" altLang="zh-CN" sz="2000" dirty="0"/>
                <a:t>MySQL</a:t>
              </a:r>
              <a:r>
                <a:rPr lang="zh-CN" altLang="en-US" sz="2000" dirty="0"/>
                <a:t>权限管理</a:t>
              </a:r>
            </a:p>
          </p:txBody>
        </p:sp>
        <p:cxnSp>
          <p:nvCxnSpPr>
            <p:cNvPr id="26" name="直接连接符 25"/>
            <p:cNvCxnSpPr/>
            <p:nvPr/>
          </p:nvCxnSpPr>
          <p:spPr bwMode="auto">
            <a:xfrm>
              <a:off x="1374775" y="4267994"/>
              <a:ext cx="6019800" cy="0"/>
            </a:xfrm>
            <a:prstGeom prst="line">
              <a:avLst/>
            </a:prstGeom>
            <a:solidFill>
              <a:schemeClr val="accent1"/>
            </a:solidFill>
            <a:ln w="28575" cap="flat" cmpd="sng" algn="ctr">
              <a:solidFill>
                <a:srgbClr val="00DBD6"/>
              </a:solidFill>
              <a:prstDash val="solid"/>
              <a:round/>
              <a:headEnd type="none" w="med" len="med"/>
              <a:tailEnd type="none" w="med" len="med"/>
            </a:ln>
            <a:effectLst/>
          </p:spPr>
        </p:cxnSp>
      </p:grpSp>
      <p:sp>
        <p:nvSpPr>
          <p:cNvPr id="27" name="矩形 26"/>
          <p:cNvSpPr/>
          <p:nvPr/>
        </p:nvSpPr>
        <p:spPr>
          <a:xfrm>
            <a:off x="4042410" y="4763656"/>
            <a:ext cx="2839085" cy="491490"/>
          </a:xfrm>
          <a:prstGeom prst="rect">
            <a:avLst/>
          </a:prstGeom>
        </p:spPr>
        <p:txBody>
          <a:bodyPr wrap="none">
            <a:spAutoFit/>
          </a:bodyPr>
          <a:lstStyle/>
          <a:p>
            <a:pPr marL="0" lvl="1" algn="l">
              <a:lnSpc>
                <a:spcPct val="130000"/>
              </a:lnSpc>
              <a:spcBef>
                <a:spcPct val="30000"/>
              </a:spcBef>
            </a:pPr>
            <a:r>
              <a:rPr lang="en-US" sz="2000">
                <a:sym typeface="+mn-ea"/>
              </a:rPr>
              <a:t>MySQL Privilege Amdin</a:t>
            </a:r>
            <a:endParaRPr lang="en-US" sz="2000" dirty="0">
              <a:latin typeface="Times New Roman" panose="02020603050405020304" pitchFamily="18" charset="0"/>
            </a:endParaRPr>
          </a:p>
        </p:txBody>
      </p:sp>
      <p:grpSp>
        <p:nvGrpSpPr>
          <p:cNvPr id="3" name="组合 2"/>
          <p:cNvGrpSpPr/>
          <p:nvPr/>
        </p:nvGrpSpPr>
        <p:grpSpPr>
          <a:xfrm>
            <a:off x="603530" y="5558632"/>
            <a:ext cx="6106515" cy="668031"/>
            <a:chOff x="1288060" y="4615657"/>
            <a:chExt cx="6106515" cy="668031"/>
          </a:xfrm>
        </p:grpSpPr>
        <p:grpSp>
          <p:nvGrpSpPr>
            <p:cNvPr id="6" name="组合 5"/>
            <p:cNvGrpSpPr/>
            <p:nvPr/>
          </p:nvGrpSpPr>
          <p:grpSpPr>
            <a:xfrm>
              <a:off x="1288060" y="4615657"/>
              <a:ext cx="6106515" cy="668031"/>
              <a:chOff x="1288060" y="4615657"/>
              <a:chExt cx="6106515" cy="668031"/>
            </a:xfrm>
          </p:grpSpPr>
          <p:sp>
            <p:nvSpPr>
              <p:cNvPr id="29" name="矩形 28"/>
              <p:cNvSpPr/>
              <p:nvPr/>
            </p:nvSpPr>
            <p:spPr>
              <a:xfrm>
                <a:off x="2060575" y="4615657"/>
                <a:ext cx="25908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1288060" y="4635948"/>
                <a:ext cx="579307" cy="620335"/>
                <a:chOff x="6242320" y="3640898"/>
                <a:chExt cx="579005" cy="620335"/>
              </a:xfrm>
            </p:grpSpPr>
            <p:sp>
              <p:nvSpPr>
                <p:cNvPr id="34" name="TextBox 6"/>
                <p:cNvSpPr txBox="1"/>
                <p:nvPr/>
              </p:nvSpPr>
              <p:spPr>
                <a:xfrm>
                  <a:off x="6327224" y="3640898"/>
                  <a:ext cx="448425" cy="492125"/>
                </a:xfrm>
                <a:prstGeom prst="rect">
                  <a:avLst/>
                </a:prstGeom>
                <a:noFill/>
              </p:spPr>
              <p:txBody>
                <a:bodyPr vert="horz" wrap="square" lIns="0" tIns="0" rIns="0" bIns="0" rtlCol="0" anchor="ctr">
                  <a:spAutoFit/>
                </a:bodyPr>
                <a:lstStyle/>
                <a:p>
                  <a:pPr algn="l"/>
                  <a:r>
                    <a:rPr lang="en-US" altLang="zh-CN" sz="3200" dirty="0">
                      <a:solidFill>
                        <a:srgbClr val="00B050"/>
                      </a:solidFill>
                      <a:latin typeface="Impact" panose="020B0806030902050204" pitchFamily="34" charset="0"/>
                      <a:ea typeface="微软雅黑" panose="020B0503020204020204" pitchFamily="34" charset="-122"/>
                    </a:rPr>
                    <a:t>05</a:t>
                  </a:r>
                  <a:endParaRPr lang="zh-CN" altLang="en-US" sz="3200" dirty="0">
                    <a:solidFill>
                      <a:srgbClr val="00B050"/>
                    </a:solidFill>
                    <a:latin typeface="微软雅黑" panose="020B0503020204020204" pitchFamily="34" charset="-122"/>
                    <a:ea typeface="微软雅黑" panose="020B0503020204020204" pitchFamily="34" charset="-122"/>
                  </a:endParaRPr>
                </a:p>
              </p:txBody>
            </p:sp>
            <p:sp>
              <p:nvSpPr>
                <p:cNvPr id="35" name="文本框 24"/>
                <p:cNvSpPr txBox="1"/>
                <p:nvPr/>
              </p:nvSpPr>
              <p:spPr>
                <a:xfrm>
                  <a:off x="6242320" y="4045789"/>
                  <a:ext cx="579005" cy="215444"/>
                </a:xfrm>
                <a:prstGeom prst="rect">
                  <a:avLst/>
                </a:prstGeom>
                <a:noFill/>
              </p:spPr>
              <p:txBody>
                <a:bodyPr wrap="none" rtlCol="0">
                  <a:spAutoFit/>
                </a:bodyPr>
                <a:lstStyle/>
                <a:p>
                  <a:r>
                    <a:rPr lang="en-US" altLang="zh-CN" sz="800" b="1" dirty="0">
                      <a:solidFill>
                        <a:srgbClr val="818181"/>
                      </a:solidFill>
                      <a:latin typeface="Leelawadee" panose="020B0502040204020203" pitchFamily="34" charset="-34"/>
                      <a:cs typeface="Leelawadee" panose="020B0502040204020203" pitchFamily="34" charset="-34"/>
                    </a:rPr>
                    <a:t>OPTION</a:t>
                  </a:r>
                  <a:endParaRPr lang="zh-CN" altLang="en-US" sz="800" b="1" dirty="0">
                    <a:solidFill>
                      <a:srgbClr val="818181"/>
                    </a:solidFill>
                    <a:latin typeface="Leelawadee" panose="020B0502040204020203" pitchFamily="34" charset="-34"/>
                    <a:cs typeface="Leelawadee" panose="020B0502040204020203" pitchFamily="34" charset="-34"/>
                  </a:endParaRPr>
                </a:p>
              </p:txBody>
            </p:sp>
          </p:grpSp>
          <p:cxnSp>
            <p:nvCxnSpPr>
              <p:cNvPr id="36" name="直接连接符 35"/>
              <p:cNvCxnSpPr/>
              <p:nvPr/>
            </p:nvCxnSpPr>
            <p:spPr bwMode="auto">
              <a:xfrm>
                <a:off x="1374775" y="5283688"/>
                <a:ext cx="6019800" cy="0"/>
              </a:xfrm>
              <a:prstGeom prst="line">
                <a:avLst/>
              </a:prstGeom>
              <a:solidFill>
                <a:schemeClr val="accent1"/>
              </a:solidFill>
              <a:ln w="28575" cap="flat" cmpd="sng" algn="ctr">
                <a:solidFill>
                  <a:srgbClr val="FF8181"/>
                </a:solidFill>
                <a:prstDash val="solid"/>
                <a:round/>
                <a:headEnd type="none" w="med" len="med"/>
                <a:tailEnd type="none" w="med" len="med"/>
              </a:ln>
              <a:effectLst/>
            </p:spPr>
          </p:cxnSp>
        </p:grpSp>
        <p:sp>
          <p:nvSpPr>
            <p:cNvPr id="37" name="TextBox 20"/>
            <p:cNvSpPr txBox="1"/>
            <p:nvPr/>
          </p:nvSpPr>
          <p:spPr>
            <a:xfrm>
              <a:off x="2151869" y="4696474"/>
              <a:ext cx="3566306" cy="491490"/>
            </a:xfrm>
            <a:prstGeom prst="rect">
              <a:avLst/>
            </a:prstGeom>
            <a:noFill/>
          </p:spPr>
          <p:txBody>
            <a:bodyPr wrap="square" rtlCol="0">
              <a:spAutoFit/>
            </a:bodyPr>
            <a:lstStyle/>
            <a:p>
              <a:pPr>
                <a:lnSpc>
                  <a:spcPct val="130000"/>
                </a:lnSpc>
              </a:pPr>
              <a:r>
                <a:rPr lang="en-US" altLang="zh-CN" sz="2000" dirty="0"/>
                <a:t>MySQL</a:t>
              </a:r>
              <a:r>
                <a:rPr lang="zh-CN" altLang="en-US" sz="2000" dirty="0"/>
                <a:t>角色管理</a:t>
              </a:r>
            </a:p>
          </p:txBody>
        </p:sp>
      </p:grpSp>
      <p:sp>
        <p:nvSpPr>
          <p:cNvPr id="38" name="矩形 37"/>
          <p:cNvSpPr/>
          <p:nvPr/>
        </p:nvSpPr>
        <p:spPr>
          <a:xfrm>
            <a:off x="4043045" y="5600859"/>
            <a:ext cx="2303780" cy="491490"/>
          </a:xfrm>
          <a:prstGeom prst="rect">
            <a:avLst/>
          </a:prstGeom>
        </p:spPr>
        <p:txBody>
          <a:bodyPr wrap="none">
            <a:spAutoFit/>
          </a:bodyPr>
          <a:lstStyle/>
          <a:p>
            <a:pPr marL="0" lvl="1">
              <a:lnSpc>
                <a:spcPct val="130000"/>
              </a:lnSpc>
              <a:spcBef>
                <a:spcPct val="30000"/>
              </a:spcBef>
            </a:pPr>
            <a:r>
              <a:rPr lang="en-US" altLang="zh-CN" sz="2000" dirty="0">
                <a:latin typeface="Times New Roman" panose="02020603050405020304" pitchFamily="18" charset="0"/>
              </a:rPr>
              <a:t>MySQL Role Admin</a:t>
            </a:r>
          </a:p>
        </p:txBody>
      </p:sp>
      <p:pic>
        <p:nvPicPr>
          <p:cNvPr id="39" name="图片 38"/>
          <p:cNvPicPr>
            <a:picLocks noChangeAspect="1"/>
          </p:cNvPicPr>
          <p:nvPr/>
        </p:nvPicPr>
        <p:blipFill>
          <a:blip r:embed="rId2"/>
          <a:stretch>
            <a:fillRect/>
          </a:stretch>
        </p:blipFill>
        <p:spPr>
          <a:xfrm>
            <a:off x="7318375" y="2286635"/>
            <a:ext cx="4481830" cy="32524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8.1  </a:t>
            </a:r>
            <a:r>
              <a:rPr lang="zh-CN" altLang="en-US" dirty="0">
                <a:sym typeface="+mn-ea"/>
              </a:rPr>
              <a:t>数据库安全性定义</a:t>
            </a:r>
            <a:endParaRPr lang="zh-CN" altLang="en-US" dirty="0"/>
          </a:p>
        </p:txBody>
      </p:sp>
      <p:sp>
        <p:nvSpPr>
          <p:cNvPr id="5" name="内容占位符 4"/>
          <p:cNvSpPr>
            <a:spLocks noGrp="1"/>
          </p:cNvSpPr>
          <p:nvPr>
            <p:ph idx="1"/>
          </p:nvPr>
        </p:nvSpPr>
        <p:spPr>
          <a:xfrm>
            <a:off x="688975" y="3508375"/>
            <a:ext cx="2847340" cy="765175"/>
          </a:xfrm>
        </p:spPr>
        <p:txBody>
          <a:bodyPr>
            <a:noAutofit/>
          </a:bodyPr>
          <a:lstStyle/>
          <a:p>
            <a:pPr marL="0" indent="0" algn="ctr">
              <a:lnSpc>
                <a:spcPct val="150000"/>
              </a:lnSpc>
              <a:buNone/>
            </a:pPr>
            <a:r>
              <a:rPr lang="zh-CN" altLang="en-US" dirty="0"/>
              <a:t>安全性涉及多个方面</a:t>
            </a:r>
            <a:r>
              <a:rPr lang="en-US" altLang="zh-CN" dirty="0"/>
              <a:t> </a:t>
            </a:r>
            <a:endParaRPr lang="zh-CN" altLang="en-US" dirty="0"/>
          </a:p>
        </p:txBody>
      </p:sp>
      <p:sp>
        <p:nvSpPr>
          <p:cNvPr id="33" name="内容占位符 4"/>
          <p:cNvSpPr>
            <a:spLocks noGrp="1"/>
          </p:cNvSpPr>
          <p:nvPr/>
        </p:nvSpPr>
        <p:spPr>
          <a:xfrm>
            <a:off x="4270375" y="1448435"/>
            <a:ext cx="521462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法律、社会和伦理方面的问题</a:t>
            </a:r>
          </a:p>
        </p:txBody>
      </p:sp>
      <p:sp>
        <p:nvSpPr>
          <p:cNvPr id="2" name="内容占位符 4"/>
          <p:cNvSpPr>
            <a:spLocks noGrp="1"/>
          </p:cNvSpPr>
          <p:nvPr/>
        </p:nvSpPr>
        <p:spPr>
          <a:xfrm>
            <a:off x="4270375" y="2134235"/>
            <a:ext cx="521462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物理控制方面的问题</a:t>
            </a:r>
          </a:p>
        </p:txBody>
      </p:sp>
      <p:sp>
        <p:nvSpPr>
          <p:cNvPr id="3" name="内容占位符 4"/>
          <p:cNvSpPr>
            <a:spLocks noGrp="1"/>
          </p:cNvSpPr>
          <p:nvPr/>
        </p:nvSpPr>
        <p:spPr>
          <a:xfrm>
            <a:off x="4270375" y="2896235"/>
            <a:ext cx="521462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政策方面的问题</a:t>
            </a:r>
          </a:p>
        </p:txBody>
      </p:sp>
      <p:sp>
        <p:nvSpPr>
          <p:cNvPr id="6" name="内容占位符 4"/>
          <p:cNvSpPr>
            <a:spLocks noGrp="1"/>
          </p:cNvSpPr>
          <p:nvPr/>
        </p:nvSpPr>
        <p:spPr>
          <a:xfrm>
            <a:off x="4270375" y="3734435"/>
            <a:ext cx="521462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运行方面的问题</a:t>
            </a:r>
          </a:p>
        </p:txBody>
      </p:sp>
      <p:sp>
        <p:nvSpPr>
          <p:cNvPr id="7" name="内容占位符 4"/>
          <p:cNvSpPr>
            <a:spLocks noGrp="1"/>
          </p:cNvSpPr>
          <p:nvPr/>
        </p:nvSpPr>
        <p:spPr>
          <a:xfrm>
            <a:off x="4270375" y="4496435"/>
            <a:ext cx="521462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硬件控制方面的问题</a:t>
            </a:r>
          </a:p>
        </p:txBody>
      </p:sp>
      <p:sp>
        <p:nvSpPr>
          <p:cNvPr id="8" name="内容占位符 4"/>
          <p:cNvSpPr>
            <a:spLocks noGrp="1"/>
          </p:cNvSpPr>
          <p:nvPr/>
        </p:nvSpPr>
        <p:spPr>
          <a:xfrm>
            <a:off x="4270375" y="5258435"/>
            <a:ext cx="521462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操作系统安全性方面的问题</a:t>
            </a:r>
          </a:p>
        </p:txBody>
      </p:sp>
      <p:sp>
        <p:nvSpPr>
          <p:cNvPr id="12" name="内容占位符 4"/>
          <p:cNvSpPr>
            <a:spLocks noGrp="1"/>
          </p:cNvSpPr>
          <p:nvPr/>
        </p:nvSpPr>
        <p:spPr>
          <a:xfrm>
            <a:off x="4270375" y="5944235"/>
            <a:ext cx="521462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数据库系统本身的安全性方面的问题</a:t>
            </a:r>
          </a:p>
        </p:txBody>
      </p:sp>
      <p:sp>
        <p:nvSpPr>
          <p:cNvPr id="13" name="左大括号 12"/>
          <p:cNvSpPr/>
          <p:nvPr/>
        </p:nvSpPr>
        <p:spPr>
          <a:xfrm>
            <a:off x="3813175" y="1753235"/>
            <a:ext cx="336550" cy="4343400"/>
          </a:xfrm>
          <a:prstGeom prst="leftBrace">
            <a:avLst>
              <a:gd name="adj1" fmla="val 113207"/>
              <a:gd name="adj2" fmla="val 48187"/>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14" name="下箭头 13"/>
          <p:cNvSpPr/>
          <p:nvPr/>
        </p:nvSpPr>
        <p:spPr>
          <a:xfrm rot="5400000">
            <a:off x="10093960" y="5454015"/>
            <a:ext cx="583565" cy="141097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25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750"/>
                                        <p:tgtEl>
                                          <p:spTgt spid="33"/>
                                        </p:tgtEl>
                                      </p:cBhvr>
                                    </p:animEffect>
                                  </p:childTnLst>
                                </p:cTn>
                              </p:par>
                            </p:childTnLst>
                          </p:cTn>
                        </p:par>
                        <p:par>
                          <p:cTn id="12" fill="hold">
                            <p:stCondLst>
                              <p:cond delay="1500"/>
                            </p:stCondLst>
                            <p:childTnLst>
                              <p:par>
                                <p:cTn id="13" presetID="10" presetClass="entr" presetSubtype="0" fill="hold" grpId="0" nodeType="after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750"/>
                                        <p:tgtEl>
                                          <p:spTgt spid="2"/>
                                        </p:tgtEl>
                                      </p:cBhvr>
                                    </p:animEffect>
                                  </p:childTnLst>
                                </p:cTn>
                              </p:par>
                            </p:childTnLst>
                          </p:cTn>
                        </p:par>
                        <p:par>
                          <p:cTn id="16" fill="hold">
                            <p:stCondLst>
                              <p:cond delay="2500"/>
                            </p:stCondLst>
                            <p:childTnLst>
                              <p:par>
                                <p:cTn id="17" presetID="10" presetClass="entr" presetSubtype="0" fill="hold" grpId="0" nodeType="afterEffect">
                                  <p:stCondLst>
                                    <p:cond delay="2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750"/>
                                        <p:tgtEl>
                                          <p:spTgt spid="3"/>
                                        </p:tgtEl>
                                      </p:cBhvr>
                                    </p:animEffect>
                                  </p:childTnLst>
                                </p:cTn>
                              </p:par>
                            </p:childTnLst>
                          </p:cTn>
                        </p:par>
                        <p:par>
                          <p:cTn id="20" fill="hold">
                            <p:stCondLst>
                              <p:cond delay="3500"/>
                            </p:stCondLst>
                            <p:childTnLst>
                              <p:par>
                                <p:cTn id="21" presetID="10" presetClass="entr" presetSubtype="0" fill="hold" grpId="0" nodeType="afterEffect">
                                  <p:stCondLst>
                                    <p:cond delay="2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750"/>
                                        <p:tgtEl>
                                          <p:spTgt spid="6"/>
                                        </p:tgtEl>
                                      </p:cBhvr>
                                    </p:animEffect>
                                  </p:childTnLst>
                                </p:cTn>
                              </p:par>
                            </p:childTnLst>
                          </p:cTn>
                        </p:par>
                        <p:par>
                          <p:cTn id="24" fill="hold">
                            <p:stCondLst>
                              <p:cond delay="4500"/>
                            </p:stCondLst>
                            <p:childTnLst>
                              <p:par>
                                <p:cTn id="25" presetID="10" presetClass="entr" presetSubtype="0" fill="hold" grpId="0" nodeType="afterEffect">
                                  <p:stCondLst>
                                    <p:cond delay="2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750"/>
                                        <p:tgtEl>
                                          <p:spTgt spid="7"/>
                                        </p:tgtEl>
                                      </p:cBhvr>
                                    </p:animEffect>
                                  </p:childTnLst>
                                </p:cTn>
                              </p:par>
                            </p:childTnLst>
                          </p:cTn>
                        </p:par>
                        <p:par>
                          <p:cTn id="28" fill="hold">
                            <p:stCondLst>
                              <p:cond delay="5500"/>
                            </p:stCondLst>
                            <p:childTnLst>
                              <p:par>
                                <p:cTn id="29" presetID="10" presetClass="entr" presetSubtype="0" fill="hold" grpId="0" nodeType="afterEffect">
                                  <p:stCondLst>
                                    <p:cond delay="2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50"/>
                                        <p:tgtEl>
                                          <p:spTgt spid="8"/>
                                        </p:tgtEl>
                                      </p:cBhvr>
                                    </p:animEffect>
                                  </p:childTnLst>
                                </p:cTn>
                              </p:par>
                            </p:childTnLst>
                          </p:cTn>
                        </p:par>
                        <p:par>
                          <p:cTn id="32" fill="hold">
                            <p:stCondLst>
                              <p:cond delay="6500"/>
                            </p:stCondLst>
                            <p:childTnLst>
                              <p:par>
                                <p:cTn id="33" presetID="10" presetClass="entr" presetSubtype="0" fill="hold" grpId="0" nodeType="afterEffect">
                                  <p:stCondLst>
                                    <p:cond delay="25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 grpId="0" animBg="1"/>
      <p:bldP spid="3" grpId="0" animBg="1"/>
      <p:bldP spid="6" grpId="0" animBg="1"/>
      <p:bldP spid="7" grpId="0" animBg="1"/>
      <p:bldP spid="8"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1368F-EC1E-19DE-E6C4-A256E05F455F}"/>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184F46E-E835-60E7-8E7E-E0552102AB8E}"/>
              </a:ext>
            </a:extLst>
          </p:cNvPr>
          <p:cNvSpPr>
            <a:spLocks noGrp="1"/>
          </p:cNvSpPr>
          <p:nvPr>
            <p:ph type="title"/>
          </p:nvPr>
        </p:nvSpPr>
        <p:spPr/>
        <p:txBody>
          <a:bodyPr/>
          <a:lstStyle/>
          <a:p>
            <a:r>
              <a:rPr lang="en-US" altLang="zh-CN" dirty="0"/>
              <a:t>8.1  </a:t>
            </a:r>
            <a:r>
              <a:rPr lang="zh-CN" altLang="en-US" dirty="0">
                <a:sym typeface="+mn-ea"/>
              </a:rPr>
              <a:t>数据库安全性定义</a:t>
            </a:r>
            <a:endParaRPr lang="zh-CN" altLang="en-US" dirty="0"/>
          </a:p>
        </p:txBody>
      </p:sp>
      <p:sp>
        <p:nvSpPr>
          <p:cNvPr id="5" name="内容占位符 4">
            <a:extLst>
              <a:ext uri="{FF2B5EF4-FFF2-40B4-BE49-F238E27FC236}">
                <a16:creationId xmlns:a16="http://schemas.microsoft.com/office/drawing/2014/main" id="{8DF45AAD-5FC6-F3A8-AAC7-99C560FF4791}"/>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数据库的安全性事故频发：</a:t>
            </a:r>
            <a:endParaRPr lang="en-US" altLang="zh-CN" dirty="0"/>
          </a:p>
        </p:txBody>
      </p:sp>
      <p:sp>
        <p:nvSpPr>
          <p:cNvPr id="33" name="内容占位符 4">
            <a:extLst>
              <a:ext uri="{FF2B5EF4-FFF2-40B4-BE49-F238E27FC236}">
                <a16:creationId xmlns:a16="http://schemas.microsoft.com/office/drawing/2014/main" id="{E650B609-2332-3C66-3C8D-733ABEB7D6CC}"/>
              </a:ext>
            </a:extLst>
          </p:cNvPr>
          <p:cNvSpPr>
            <a:spLocks noGrp="1"/>
          </p:cNvSpPr>
          <p:nvPr/>
        </p:nvSpPr>
        <p:spPr>
          <a:xfrm>
            <a:off x="1081405" y="1753235"/>
            <a:ext cx="10317480" cy="1676559"/>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gn="just">
              <a:lnSpc>
                <a:spcPct val="150000"/>
              </a:lnSpc>
            </a:pPr>
            <a:r>
              <a:rPr lang="en-US" altLang="zh-CN" dirty="0"/>
              <a:t>2016</a:t>
            </a:r>
            <a:r>
              <a:rPr lang="zh-CN" altLang="en-US" dirty="0"/>
              <a:t>年初某国家一所医院的计算机系统遭到黑客入侵。黑客便将医院计算机系统中的数据进行加密，并向医院索要三百四十万美金来解锁这些数据信息。</a:t>
            </a:r>
          </a:p>
          <a:p>
            <a:pPr algn="just">
              <a:lnSpc>
                <a:spcPct val="150000"/>
              </a:lnSpc>
            </a:pPr>
            <a:r>
              <a:rPr lang="zh-CN" altLang="en-US" dirty="0"/>
              <a:t>截止到</a:t>
            </a:r>
            <a:r>
              <a:rPr lang="en-US" altLang="zh-CN" dirty="0"/>
              <a:t>2016</a:t>
            </a:r>
            <a:r>
              <a:rPr lang="zh-CN" altLang="en-US" dirty="0"/>
              <a:t>年</a:t>
            </a:r>
            <a:r>
              <a:rPr lang="en-US" altLang="zh-CN" dirty="0"/>
              <a:t>12</a:t>
            </a:r>
            <a:r>
              <a:rPr lang="zh-CN" altLang="en-US" dirty="0"/>
              <a:t>月，总共有数十家医院遭受过勒索软件的侵害</a:t>
            </a:r>
          </a:p>
        </p:txBody>
      </p:sp>
      <p:sp>
        <p:nvSpPr>
          <p:cNvPr id="7" name="内容占位符 4">
            <a:extLst>
              <a:ext uri="{FF2B5EF4-FFF2-40B4-BE49-F238E27FC236}">
                <a16:creationId xmlns:a16="http://schemas.microsoft.com/office/drawing/2014/main" id="{80CC974B-6621-A702-24B6-1238EC6C66BF}"/>
              </a:ext>
            </a:extLst>
          </p:cNvPr>
          <p:cNvSpPr>
            <a:spLocks noGrp="1"/>
          </p:cNvSpPr>
          <p:nvPr/>
        </p:nvSpPr>
        <p:spPr>
          <a:xfrm>
            <a:off x="1079279" y="3810795"/>
            <a:ext cx="10317480" cy="685799"/>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gn="just">
              <a:lnSpc>
                <a:spcPct val="150000"/>
              </a:lnSpc>
            </a:pPr>
            <a:r>
              <a:rPr lang="zh-CN" altLang="en-US" dirty="0">
                <a:hlinkClick r:id="rId2"/>
              </a:rPr>
              <a:t>学习通课程思政材料</a:t>
            </a:r>
            <a:endParaRPr lang="zh-CN" altLang="en-US" dirty="0"/>
          </a:p>
        </p:txBody>
      </p:sp>
    </p:spTree>
    <p:extLst>
      <p:ext uri="{BB962C8B-B14F-4D97-AF65-F5344CB8AC3E}">
        <p14:creationId xmlns:p14="http://schemas.microsoft.com/office/powerpoint/2010/main" val="591581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CB27-ED4D-933D-6D15-AEC46A6CE051}"/>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A188B8B0-F2CC-0AE3-2C14-CE592B247E39}"/>
              </a:ext>
            </a:extLst>
          </p:cNvPr>
          <p:cNvSpPr>
            <a:spLocks noGrp="1"/>
          </p:cNvSpPr>
          <p:nvPr>
            <p:ph type="title"/>
          </p:nvPr>
        </p:nvSpPr>
        <p:spPr/>
        <p:txBody>
          <a:bodyPr/>
          <a:lstStyle/>
          <a:p>
            <a:r>
              <a:rPr lang="en-US" altLang="zh-CN" dirty="0"/>
              <a:t>8.1  </a:t>
            </a:r>
            <a:r>
              <a:rPr lang="zh-CN" altLang="en-US" dirty="0">
                <a:sym typeface="+mn-ea"/>
              </a:rPr>
              <a:t>数据库安全性定义</a:t>
            </a:r>
            <a:endParaRPr lang="zh-CN" altLang="en-US" dirty="0"/>
          </a:p>
        </p:txBody>
      </p:sp>
      <p:sp>
        <p:nvSpPr>
          <p:cNvPr id="5" name="内容占位符 4">
            <a:extLst>
              <a:ext uri="{FF2B5EF4-FFF2-40B4-BE49-F238E27FC236}">
                <a16:creationId xmlns:a16="http://schemas.microsoft.com/office/drawing/2014/main" id="{9704D8D8-8079-6F56-C668-A14C783084C0}"/>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数据库的不安全因素：</a:t>
            </a:r>
          </a:p>
        </p:txBody>
      </p:sp>
      <p:sp>
        <p:nvSpPr>
          <p:cNvPr id="33" name="内容占位符 4">
            <a:extLst>
              <a:ext uri="{FF2B5EF4-FFF2-40B4-BE49-F238E27FC236}">
                <a16:creationId xmlns:a16="http://schemas.microsoft.com/office/drawing/2014/main" id="{9EFA20B3-6A98-B5B9-89ED-840580BA11B7}"/>
              </a:ext>
            </a:extLst>
          </p:cNvPr>
          <p:cNvSpPr>
            <a:spLocks noGrp="1"/>
          </p:cNvSpPr>
          <p:nvPr/>
        </p:nvSpPr>
        <p:spPr>
          <a:xfrm>
            <a:off x="1081405" y="1753235"/>
            <a:ext cx="10317480" cy="2819559"/>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50000"/>
              </a:lnSpc>
              <a:buNone/>
            </a:pPr>
            <a:r>
              <a:rPr lang="en-US" altLang="zh-CN" dirty="0"/>
              <a:t>1. </a:t>
            </a:r>
            <a:r>
              <a:rPr lang="zh-CN" altLang="en-US" dirty="0"/>
              <a:t>非授权用户对数据库的恶意存取和破坏</a:t>
            </a:r>
          </a:p>
          <a:p>
            <a:pPr marL="628650" indent="-358775">
              <a:lnSpc>
                <a:spcPct val="150000"/>
              </a:lnSpc>
            </a:pPr>
            <a:r>
              <a:rPr lang="zh-CN" altLang="en-US" dirty="0"/>
              <a:t>一些黑客（</a:t>
            </a:r>
            <a:r>
              <a:rPr lang="en-US" altLang="zh-CN" dirty="0"/>
              <a:t>hacker</a:t>
            </a:r>
            <a:r>
              <a:rPr lang="zh-CN" altLang="en-US" dirty="0"/>
              <a:t>）和犯罪分子在用户存取数据库时猎取用户名和用户口令，然后假冒合法用户偷取、修改甚至破坏用户数据。</a:t>
            </a:r>
          </a:p>
          <a:p>
            <a:pPr marL="628650" indent="-358775">
              <a:lnSpc>
                <a:spcPct val="150000"/>
              </a:lnSpc>
            </a:pPr>
            <a:r>
              <a:rPr lang="zh-CN" altLang="en-US" dirty="0"/>
              <a:t>有的黑客还故意锁定并修改数据，进行勒索和破坏等犯罪活动</a:t>
            </a:r>
          </a:p>
          <a:p>
            <a:pPr marL="628650" indent="-358775">
              <a:lnSpc>
                <a:spcPct val="150000"/>
              </a:lnSpc>
            </a:pPr>
            <a:r>
              <a:rPr lang="zh-CN" altLang="en-US" dirty="0">
                <a:solidFill>
                  <a:srgbClr val="FF0000"/>
                </a:solidFill>
              </a:rPr>
              <a:t>必须阻止有损数据库安全的非法操作</a:t>
            </a:r>
          </a:p>
        </p:txBody>
      </p:sp>
    </p:spTree>
    <p:extLst>
      <p:ext uri="{BB962C8B-B14F-4D97-AF65-F5344CB8AC3E}">
        <p14:creationId xmlns:p14="http://schemas.microsoft.com/office/powerpoint/2010/main" val="238329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75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xEl>
                                              <p:pRg st="1" end="1"/>
                                            </p:txEl>
                                          </p:spTgt>
                                        </p:tgtEl>
                                        <p:attrNameLst>
                                          <p:attrName>style.visibility</p:attrName>
                                        </p:attrNameLst>
                                      </p:cBhvr>
                                      <p:to>
                                        <p:strVal val="visible"/>
                                      </p:to>
                                    </p:set>
                                    <p:animEffect transition="in" filter="fade">
                                      <p:cBhvr>
                                        <p:cTn id="12" dur="500"/>
                                        <p:tgtEl>
                                          <p:spTgt spid="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xEl>
                                              <p:pRg st="2" end="2"/>
                                            </p:txEl>
                                          </p:spTgt>
                                        </p:tgtEl>
                                        <p:attrNameLst>
                                          <p:attrName>style.visibility</p:attrName>
                                        </p:attrNameLst>
                                      </p:cBhvr>
                                      <p:to>
                                        <p:strVal val="visible"/>
                                      </p:to>
                                    </p:set>
                                    <p:animEffect transition="in" filter="fade">
                                      <p:cBhvr>
                                        <p:cTn id="17" dur="500"/>
                                        <p:tgtEl>
                                          <p:spTgt spid="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xEl>
                                              <p:pRg st="3" end="3"/>
                                            </p:txEl>
                                          </p:spTgt>
                                        </p:tgtEl>
                                        <p:attrNameLst>
                                          <p:attrName>style.visibility</p:attrName>
                                        </p:attrNameLst>
                                      </p:cBhvr>
                                      <p:to>
                                        <p:strVal val="visible"/>
                                      </p:to>
                                    </p:set>
                                    <p:animEffect transition="in" filter="fade">
                                      <p:cBhvr>
                                        <p:cTn id="22" dur="500"/>
                                        <p:tgtEl>
                                          <p:spTgt spid="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DC9A-CA95-A00B-B089-ACB801B2E3D0}"/>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7C6ED7A-A6C9-47A3-07FC-DBC1058D55AC}"/>
              </a:ext>
            </a:extLst>
          </p:cNvPr>
          <p:cNvSpPr>
            <a:spLocks noGrp="1"/>
          </p:cNvSpPr>
          <p:nvPr>
            <p:ph type="title"/>
          </p:nvPr>
        </p:nvSpPr>
        <p:spPr/>
        <p:txBody>
          <a:bodyPr/>
          <a:lstStyle/>
          <a:p>
            <a:r>
              <a:rPr lang="en-US" altLang="zh-CN" dirty="0"/>
              <a:t>8.1  </a:t>
            </a:r>
            <a:r>
              <a:rPr lang="zh-CN" altLang="en-US" dirty="0">
                <a:sym typeface="+mn-ea"/>
              </a:rPr>
              <a:t>数据库安全性定义</a:t>
            </a:r>
            <a:endParaRPr lang="zh-CN" altLang="en-US" dirty="0"/>
          </a:p>
        </p:txBody>
      </p:sp>
      <p:sp>
        <p:nvSpPr>
          <p:cNvPr id="5" name="内容占位符 4">
            <a:extLst>
              <a:ext uri="{FF2B5EF4-FFF2-40B4-BE49-F238E27FC236}">
                <a16:creationId xmlns:a16="http://schemas.microsoft.com/office/drawing/2014/main" id="{E559ABC2-FE5E-0556-A256-582166E5F11F}"/>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数据库的不安全因素：</a:t>
            </a:r>
          </a:p>
        </p:txBody>
      </p:sp>
      <p:sp>
        <p:nvSpPr>
          <p:cNvPr id="33" name="内容占位符 4">
            <a:extLst>
              <a:ext uri="{FF2B5EF4-FFF2-40B4-BE49-F238E27FC236}">
                <a16:creationId xmlns:a16="http://schemas.microsoft.com/office/drawing/2014/main" id="{436C57F0-850B-C815-BC65-5705BC417A69}"/>
              </a:ext>
            </a:extLst>
          </p:cNvPr>
          <p:cNvSpPr>
            <a:spLocks noGrp="1"/>
          </p:cNvSpPr>
          <p:nvPr/>
        </p:nvSpPr>
        <p:spPr>
          <a:xfrm>
            <a:off x="1081405" y="1753235"/>
            <a:ext cx="10317480" cy="2819559"/>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None/>
            </a:pPr>
            <a:r>
              <a:rPr lang="en-US" altLang="zh-CN" dirty="0"/>
              <a:t>2. </a:t>
            </a:r>
            <a:r>
              <a:rPr lang="zh-CN" altLang="en-US" dirty="0"/>
              <a:t>数据库中重要或敏感的数据被泄露</a:t>
            </a:r>
          </a:p>
          <a:p>
            <a:pPr marL="628650" indent="-358775">
              <a:lnSpc>
                <a:spcPct val="150000"/>
              </a:lnSpc>
            </a:pPr>
            <a:r>
              <a:rPr lang="zh-CN" altLang="en-US" dirty="0"/>
              <a:t>黑客和敌对分子千方百计盗窃数据库中的重要敏感的机密数据，造成数据泄露。</a:t>
            </a:r>
          </a:p>
          <a:p>
            <a:pPr marL="628650" indent="-358775">
              <a:lnSpc>
                <a:spcPct val="150000"/>
              </a:lnSpc>
            </a:pPr>
            <a:r>
              <a:rPr lang="en-US" altLang="zh-CN" dirty="0"/>
              <a:t>SQL</a:t>
            </a:r>
            <a:r>
              <a:rPr lang="zh-CN" altLang="en-US" dirty="0"/>
              <a:t>注入导致数据库被破坏的相关例子</a:t>
            </a:r>
          </a:p>
          <a:p>
            <a:pPr marL="898525" indent="-269875">
              <a:lnSpc>
                <a:spcPct val="150000"/>
              </a:lnSpc>
              <a:buFont typeface="Wingdings" panose="05000000000000000000" pitchFamily="2" charset="2"/>
              <a:buChar char="Ø"/>
            </a:pPr>
            <a:r>
              <a:rPr lang="zh-CN" altLang="en-US" dirty="0"/>
              <a:t>攻击者利用</a:t>
            </a:r>
            <a:r>
              <a:rPr lang="en-US" altLang="zh-CN" dirty="0"/>
              <a:t>SQL</a:t>
            </a:r>
            <a:r>
              <a:rPr lang="zh-CN" altLang="en-US" dirty="0"/>
              <a:t>注入技术，在入侵检测不严的情况下欺骗数据库服务器执行非授权的查询和操作，使得机密数据被泄露、篡改或锁定</a:t>
            </a:r>
          </a:p>
        </p:txBody>
      </p:sp>
    </p:spTree>
    <p:extLst>
      <p:ext uri="{BB962C8B-B14F-4D97-AF65-F5344CB8AC3E}">
        <p14:creationId xmlns:p14="http://schemas.microsoft.com/office/powerpoint/2010/main" val="63096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75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xEl>
                                              <p:pRg st="1" end="1"/>
                                            </p:txEl>
                                          </p:spTgt>
                                        </p:tgtEl>
                                        <p:attrNameLst>
                                          <p:attrName>style.visibility</p:attrName>
                                        </p:attrNameLst>
                                      </p:cBhvr>
                                      <p:to>
                                        <p:strVal val="visible"/>
                                      </p:to>
                                    </p:set>
                                    <p:animEffect transition="in" filter="fade">
                                      <p:cBhvr>
                                        <p:cTn id="12" dur="500"/>
                                        <p:tgtEl>
                                          <p:spTgt spid="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xEl>
                                              <p:pRg st="2" end="2"/>
                                            </p:txEl>
                                          </p:spTgt>
                                        </p:tgtEl>
                                        <p:attrNameLst>
                                          <p:attrName>style.visibility</p:attrName>
                                        </p:attrNameLst>
                                      </p:cBhvr>
                                      <p:to>
                                        <p:strVal val="visible"/>
                                      </p:to>
                                    </p:set>
                                    <p:animEffect transition="in" filter="fade">
                                      <p:cBhvr>
                                        <p:cTn id="17" dur="500"/>
                                        <p:tgtEl>
                                          <p:spTgt spid="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xEl>
                                              <p:pRg st="3" end="3"/>
                                            </p:txEl>
                                          </p:spTgt>
                                        </p:tgtEl>
                                        <p:attrNameLst>
                                          <p:attrName>style.visibility</p:attrName>
                                        </p:attrNameLst>
                                      </p:cBhvr>
                                      <p:to>
                                        <p:strVal val="visible"/>
                                      </p:to>
                                    </p:set>
                                    <p:animEffect transition="in" filter="fade">
                                      <p:cBhvr>
                                        <p:cTn id="22" dur="500"/>
                                        <p:tgtEl>
                                          <p:spTgt spid="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43F5A-886C-BB95-1238-EF9C2CCA036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BA08D83-3944-AF5E-06A2-C78E7CBABB19}"/>
              </a:ext>
            </a:extLst>
          </p:cNvPr>
          <p:cNvSpPr>
            <a:spLocks noGrp="1"/>
          </p:cNvSpPr>
          <p:nvPr>
            <p:ph type="title"/>
          </p:nvPr>
        </p:nvSpPr>
        <p:spPr/>
        <p:txBody>
          <a:bodyPr/>
          <a:lstStyle/>
          <a:p>
            <a:r>
              <a:rPr lang="en-US" altLang="zh-CN" dirty="0"/>
              <a:t>8.1  </a:t>
            </a:r>
            <a:r>
              <a:rPr lang="zh-CN" altLang="en-US" dirty="0">
                <a:sym typeface="+mn-ea"/>
              </a:rPr>
              <a:t>数据库安全性定义</a:t>
            </a:r>
            <a:endParaRPr lang="zh-CN" altLang="en-US" dirty="0"/>
          </a:p>
        </p:txBody>
      </p:sp>
      <p:sp>
        <p:nvSpPr>
          <p:cNvPr id="5" name="内容占位符 4">
            <a:extLst>
              <a:ext uri="{FF2B5EF4-FFF2-40B4-BE49-F238E27FC236}">
                <a16:creationId xmlns:a16="http://schemas.microsoft.com/office/drawing/2014/main" id="{DA69FD67-9155-3019-60B4-131BACDFCCF0}"/>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数据库的不安全因素：</a:t>
            </a:r>
          </a:p>
        </p:txBody>
      </p:sp>
      <p:sp>
        <p:nvSpPr>
          <p:cNvPr id="33" name="内容占位符 4">
            <a:extLst>
              <a:ext uri="{FF2B5EF4-FFF2-40B4-BE49-F238E27FC236}">
                <a16:creationId xmlns:a16="http://schemas.microsoft.com/office/drawing/2014/main" id="{B9573A30-7A1D-8F0B-0554-A4F65FC99B4A}"/>
              </a:ext>
            </a:extLst>
          </p:cNvPr>
          <p:cNvSpPr>
            <a:spLocks noGrp="1"/>
          </p:cNvSpPr>
          <p:nvPr/>
        </p:nvSpPr>
        <p:spPr>
          <a:xfrm>
            <a:off x="1081405" y="1753235"/>
            <a:ext cx="10317480" cy="2819559"/>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None/>
            </a:pPr>
            <a:r>
              <a:rPr lang="en-US" altLang="zh-CN" dirty="0"/>
              <a:t>3. </a:t>
            </a:r>
            <a:r>
              <a:rPr lang="zh-CN" altLang="en-US" dirty="0"/>
              <a:t>安全环境的脆弱性</a:t>
            </a:r>
          </a:p>
          <a:p>
            <a:pPr marL="628650" indent="-358775">
              <a:lnSpc>
                <a:spcPct val="150000"/>
              </a:lnSpc>
            </a:pPr>
            <a:r>
              <a:rPr lang="zh-CN" altLang="en-US" dirty="0"/>
              <a:t>数据库的安全性与计算机系统的安全性紧密联系</a:t>
            </a:r>
          </a:p>
          <a:p>
            <a:pPr marL="985838" indent="-357188">
              <a:lnSpc>
                <a:spcPct val="150000"/>
              </a:lnSpc>
              <a:buFont typeface="Wingdings" panose="05000000000000000000" pitchFamily="2" charset="2"/>
              <a:buChar char="Ø"/>
            </a:pPr>
            <a:r>
              <a:rPr lang="zh-CN" altLang="en-US" dirty="0"/>
              <a:t>计算机硬件、操作系统、网络系统等的安全性</a:t>
            </a:r>
          </a:p>
          <a:p>
            <a:pPr marL="628650" indent="-358775">
              <a:lnSpc>
                <a:spcPct val="150000"/>
              </a:lnSpc>
            </a:pPr>
            <a:r>
              <a:rPr lang="zh-CN" altLang="en-US" dirty="0"/>
              <a:t>建立一套可信（</a:t>
            </a:r>
            <a:r>
              <a:rPr lang="en-US" altLang="zh-CN" dirty="0"/>
              <a:t>trusted</a:t>
            </a:r>
            <a:r>
              <a:rPr lang="zh-CN" altLang="en-US" dirty="0"/>
              <a:t>）计算机系统的概念和标准</a:t>
            </a:r>
          </a:p>
        </p:txBody>
      </p:sp>
    </p:spTree>
    <p:extLst>
      <p:ext uri="{BB962C8B-B14F-4D97-AF65-F5344CB8AC3E}">
        <p14:creationId xmlns:p14="http://schemas.microsoft.com/office/powerpoint/2010/main" val="264434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75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xEl>
                                              <p:pRg st="1" end="1"/>
                                            </p:txEl>
                                          </p:spTgt>
                                        </p:tgtEl>
                                        <p:attrNameLst>
                                          <p:attrName>style.visibility</p:attrName>
                                        </p:attrNameLst>
                                      </p:cBhvr>
                                      <p:to>
                                        <p:strVal val="visible"/>
                                      </p:to>
                                    </p:set>
                                    <p:animEffect transition="in" filter="fade">
                                      <p:cBhvr>
                                        <p:cTn id="12" dur="500"/>
                                        <p:tgtEl>
                                          <p:spTgt spid="3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xEl>
                                              <p:pRg st="2" end="2"/>
                                            </p:txEl>
                                          </p:spTgt>
                                        </p:tgtEl>
                                        <p:attrNameLst>
                                          <p:attrName>style.visibility</p:attrName>
                                        </p:attrNameLst>
                                      </p:cBhvr>
                                      <p:to>
                                        <p:strVal val="visible"/>
                                      </p:to>
                                    </p:set>
                                    <p:animEffect transition="in" filter="fade">
                                      <p:cBhvr>
                                        <p:cTn id="17" dur="500"/>
                                        <p:tgtEl>
                                          <p:spTgt spid="3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xEl>
                                              <p:pRg st="3" end="3"/>
                                            </p:txEl>
                                          </p:spTgt>
                                        </p:tgtEl>
                                        <p:attrNameLst>
                                          <p:attrName>style.visibility</p:attrName>
                                        </p:attrNameLst>
                                      </p:cBhvr>
                                      <p:to>
                                        <p:strVal val="visible"/>
                                      </p:to>
                                    </p:set>
                                    <p:animEffect transition="in" filter="fade">
                                      <p:cBhvr>
                                        <p:cTn id="22" dur="500"/>
                                        <p:tgtEl>
                                          <p:spTgt spid="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DED-EA20-36AD-5F9D-A31B9EBE2CE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2D38ADE-9FA5-CAB9-B84F-A835BB39B4ED}"/>
              </a:ext>
            </a:extLst>
          </p:cNvPr>
          <p:cNvSpPr>
            <a:spLocks noGrp="1"/>
          </p:cNvSpPr>
          <p:nvPr>
            <p:ph type="title"/>
          </p:nvPr>
        </p:nvSpPr>
        <p:spPr/>
        <p:txBody>
          <a:bodyPr/>
          <a:lstStyle/>
          <a:p>
            <a:r>
              <a:rPr lang="en-US" altLang="zh-CN" dirty="0"/>
              <a:t>8.1  </a:t>
            </a:r>
            <a:r>
              <a:rPr lang="zh-CN" altLang="en-US" dirty="0">
                <a:sym typeface="+mn-ea"/>
              </a:rPr>
              <a:t>数据库安全性定义</a:t>
            </a:r>
            <a:endParaRPr lang="zh-CN" altLang="en-US" dirty="0"/>
          </a:p>
        </p:txBody>
      </p:sp>
      <p:sp>
        <p:nvSpPr>
          <p:cNvPr id="5" name="内容占位符 4">
            <a:extLst>
              <a:ext uri="{FF2B5EF4-FFF2-40B4-BE49-F238E27FC236}">
                <a16:creationId xmlns:a16="http://schemas.microsoft.com/office/drawing/2014/main" id="{85EC6E8F-8BFD-D1FA-C5A3-FC5C9D4B0E78}"/>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en-US" altLang="zh-CN" dirty="0"/>
              <a:t>TCSEC/TDI</a:t>
            </a:r>
            <a:r>
              <a:rPr lang="zh-CN" altLang="en-US" dirty="0"/>
              <a:t>安全级别划分</a:t>
            </a:r>
          </a:p>
        </p:txBody>
      </p:sp>
      <p:pic>
        <p:nvPicPr>
          <p:cNvPr id="2" name="图片 1">
            <a:extLst>
              <a:ext uri="{FF2B5EF4-FFF2-40B4-BE49-F238E27FC236}">
                <a16:creationId xmlns:a16="http://schemas.microsoft.com/office/drawing/2014/main" id="{575FC323-6ABC-F74B-DF68-497456535623}"/>
              </a:ext>
            </a:extLst>
          </p:cNvPr>
          <p:cNvPicPr>
            <a:picLocks noChangeAspect="1"/>
          </p:cNvPicPr>
          <p:nvPr/>
        </p:nvPicPr>
        <p:blipFill rotWithShape="1">
          <a:blip r:embed="rId2"/>
          <a:srcRect l="792" r="924"/>
          <a:stretch/>
        </p:blipFill>
        <p:spPr>
          <a:xfrm>
            <a:off x="1450975" y="1753394"/>
            <a:ext cx="8928992" cy="4692749"/>
          </a:xfrm>
          <a:prstGeom prst="rect">
            <a:avLst/>
          </a:prstGeom>
        </p:spPr>
      </p:pic>
    </p:spTree>
    <p:extLst>
      <p:ext uri="{BB962C8B-B14F-4D97-AF65-F5344CB8AC3E}">
        <p14:creationId xmlns:p14="http://schemas.microsoft.com/office/powerpoint/2010/main" val="360327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8791A-601B-F7D1-80B7-C98CF50B5032}"/>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E4685EBF-8818-7B88-38DD-CCFE062333D8}"/>
              </a:ext>
            </a:extLst>
          </p:cNvPr>
          <p:cNvSpPr>
            <a:spLocks noGrp="1"/>
          </p:cNvSpPr>
          <p:nvPr>
            <p:ph type="title"/>
          </p:nvPr>
        </p:nvSpPr>
        <p:spPr/>
        <p:txBody>
          <a:bodyPr/>
          <a:lstStyle/>
          <a:p>
            <a:r>
              <a:rPr lang="en-US" altLang="zh-CN" dirty="0"/>
              <a:t>8.1  </a:t>
            </a:r>
            <a:r>
              <a:rPr lang="zh-CN" altLang="en-US" dirty="0">
                <a:sym typeface="+mn-ea"/>
              </a:rPr>
              <a:t>数据库安全性定义</a:t>
            </a:r>
            <a:endParaRPr lang="zh-CN" altLang="en-US" dirty="0"/>
          </a:p>
        </p:txBody>
      </p:sp>
      <p:sp>
        <p:nvSpPr>
          <p:cNvPr id="5" name="内容占位符 4">
            <a:extLst>
              <a:ext uri="{FF2B5EF4-FFF2-40B4-BE49-F238E27FC236}">
                <a16:creationId xmlns:a16="http://schemas.microsoft.com/office/drawing/2014/main" id="{515035FB-D5A5-0BBF-717C-83FDB9AA0682}"/>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en-US" altLang="zh-CN" dirty="0"/>
              <a:t>CC</a:t>
            </a:r>
            <a:r>
              <a:rPr lang="zh-CN" altLang="en-US" dirty="0"/>
              <a:t>评估保证级（</a:t>
            </a:r>
            <a:r>
              <a:rPr lang="en-US" altLang="zh-CN" dirty="0"/>
              <a:t>EAL</a:t>
            </a:r>
            <a:r>
              <a:rPr lang="zh-CN" altLang="en-US" dirty="0"/>
              <a:t>）划分</a:t>
            </a:r>
          </a:p>
        </p:txBody>
      </p:sp>
      <p:graphicFrame>
        <p:nvGraphicFramePr>
          <p:cNvPr id="3" name="Group 5">
            <a:extLst>
              <a:ext uri="{FF2B5EF4-FFF2-40B4-BE49-F238E27FC236}">
                <a16:creationId xmlns:a16="http://schemas.microsoft.com/office/drawing/2014/main" id="{9E937E8B-295D-4FDC-6588-C258A1457805}"/>
              </a:ext>
            </a:extLst>
          </p:cNvPr>
          <p:cNvGraphicFramePr>
            <a:graphicFrameLocks/>
          </p:cNvGraphicFramePr>
          <p:nvPr>
            <p:extLst>
              <p:ext uri="{D42A27DB-BD31-4B8C-83A1-F6EECF244321}">
                <p14:modId xmlns:p14="http://schemas.microsoft.com/office/powerpoint/2010/main" val="289121234"/>
              </p:ext>
            </p:extLst>
          </p:nvPr>
        </p:nvGraphicFramePr>
        <p:xfrm>
          <a:off x="1298575" y="1753394"/>
          <a:ext cx="9432726" cy="4998592"/>
        </p:xfrm>
        <a:graphic>
          <a:graphicData uri="http://schemas.openxmlformats.org/drawingml/2006/table">
            <a:tbl>
              <a:tblPr/>
              <a:tblGrid>
                <a:gridCol w="1470614">
                  <a:extLst>
                    <a:ext uri="{9D8B030D-6E8A-4147-A177-3AD203B41FA5}">
                      <a16:colId xmlns:a16="http://schemas.microsoft.com/office/drawing/2014/main" val="20000"/>
                    </a:ext>
                  </a:extLst>
                </a:gridCol>
                <a:gridCol w="5713484">
                  <a:extLst>
                    <a:ext uri="{9D8B030D-6E8A-4147-A177-3AD203B41FA5}">
                      <a16:colId xmlns:a16="http://schemas.microsoft.com/office/drawing/2014/main" val="20001"/>
                    </a:ext>
                  </a:extLst>
                </a:gridCol>
                <a:gridCol w="2248628">
                  <a:extLst>
                    <a:ext uri="{9D8B030D-6E8A-4147-A177-3AD203B41FA5}">
                      <a16:colId xmlns:a16="http://schemas.microsoft.com/office/drawing/2014/main" val="20002"/>
                    </a:ext>
                  </a:extLst>
                </a:gridCol>
              </a:tblGrid>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200000"/>
                        </a:lnSpc>
                        <a:spcBef>
                          <a:spcPct val="0"/>
                        </a:spcBef>
                        <a:spcAft>
                          <a:spcPct val="0"/>
                        </a:spcAft>
                        <a:buClrTx/>
                        <a:buSzPct val="100000"/>
                        <a:buFont typeface="Wingdings" pitchFamily="2" charset="2"/>
                        <a:buNone/>
                        <a:tabLst/>
                      </a:pPr>
                      <a:r>
                        <a:rPr kumimoji="0" lang="zh-CN" altLang="zh-CN" sz="2000" b="0" i="0" u="none" strike="noStrike" cap="none" normalizeH="0" baseline="0" dirty="0">
                          <a:ln>
                            <a:noFill/>
                          </a:ln>
                          <a:solidFill>
                            <a:schemeClr val="tx1"/>
                          </a:solidFill>
                          <a:effectLst/>
                          <a:latin typeface="+mn-ea"/>
                          <a:ea typeface="+mn-ea"/>
                        </a:rPr>
                        <a:t>评估保证级</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200000"/>
                        </a:lnSpc>
                        <a:spcBef>
                          <a:spcPct val="0"/>
                        </a:spcBef>
                        <a:spcAft>
                          <a:spcPct val="0"/>
                        </a:spcAft>
                        <a:buClrTx/>
                        <a:buSzPct val="100000"/>
                        <a:buFont typeface="Wingdings" pitchFamily="2" charset="2"/>
                        <a:buNone/>
                        <a:tabLst/>
                      </a:pPr>
                      <a:r>
                        <a:rPr kumimoji="0" lang="zh-CN" altLang="zh-CN" sz="2000" b="0" i="0" u="none" strike="noStrike" cap="none" normalizeH="0" baseline="0" dirty="0">
                          <a:ln>
                            <a:noFill/>
                          </a:ln>
                          <a:solidFill>
                            <a:schemeClr val="tx1"/>
                          </a:solidFill>
                          <a:effectLst/>
                          <a:latin typeface="+mn-ea"/>
                          <a:ea typeface="+mn-ea"/>
                        </a:rPr>
                        <a:t>定　　义</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ea"/>
                          <a:ea typeface="+mn-ea"/>
                        </a:rPr>
                        <a:t>TCSEC</a:t>
                      </a:r>
                      <a:r>
                        <a:rPr kumimoji="0" lang="zh-CN" altLang="en-US" sz="2000" b="0" i="0" u="none" strike="noStrike" cap="none" normalizeH="0" baseline="0">
                          <a:ln>
                            <a:noFill/>
                          </a:ln>
                          <a:solidFill>
                            <a:schemeClr val="tx1"/>
                          </a:solidFill>
                          <a:effectLst/>
                          <a:latin typeface="+mn-ea"/>
                          <a:ea typeface="+mn-ea"/>
                        </a:rPr>
                        <a:t>安全级别（近似相当）</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79">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ea"/>
                          <a:ea typeface="+mn-ea"/>
                        </a:rPr>
                        <a:t>EAL1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功能测试（</a:t>
                      </a:r>
                      <a:r>
                        <a:rPr kumimoji="0" lang="en-US" altLang="zh-CN" sz="2000" b="0" i="0" u="none" strike="noStrike" cap="none" normalizeH="0" baseline="0" dirty="0">
                          <a:ln>
                            <a:noFill/>
                          </a:ln>
                          <a:solidFill>
                            <a:schemeClr val="tx1"/>
                          </a:solidFill>
                          <a:effectLst/>
                          <a:latin typeface="+mn-ea"/>
                          <a:ea typeface="+mn-ea"/>
                        </a:rPr>
                        <a:t>functionally tested</a:t>
                      </a:r>
                      <a:r>
                        <a:rPr kumimoji="0" lang="zh-CN" altLang="en-US" sz="2000" b="0" i="0" u="none" strike="noStrike" cap="none" normalizeH="0" baseline="0" dirty="0">
                          <a:ln>
                            <a:noFill/>
                          </a:ln>
                          <a:solidFill>
                            <a:schemeClr val="tx1"/>
                          </a:solidFill>
                          <a:effectLst/>
                          <a:latin typeface="+mn-ea"/>
                          <a:ea typeface="+mn-ea"/>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100000"/>
                        <a:buFont typeface="Wingdings" pitchFamily="2" charset="2"/>
                        <a:buNone/>
                        <a:tabLst/>
                      </a:pPr>
                      <a:endParaRPr kumimoji="0" lang="zh-CN" altLang="zh-CN" sz="2000" b="0" i="0" u="none" strike="noStrike" cap="none" normalizeH="0" baseline="0">
                        <a:ln>
                          <a:noFill/>
                        </a:ln>
                        <a:solidFill>
                          <a:schemeClr val="tx1"/>
                        </a:solidFill>
                        <a:effectLst/>
                        <a:latin typeface="+mn-ea"/>
                        <a:ea typeface="+mn-ea"/>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179">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ea"/>
                          <a:ea typeface="+mn-ea"/>
                        </a:rPr>
                        <a:t>EAL2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结构测试（</a:t>
                      </a:r>
                      <a:r>
                        <a:rPr kumimoji="0" lang="en-US" altLang="zh-CN" sz="2000" b="0" i="0" u="none" strike="noStrike" cap="none" normalizeH="0" baseline="0" dirty="0">
                          <a:ln>
                            <a:noFill/>
                          </a:ln>
                          <a:solidFill>
                            <a:schemeClr val="tx1"/>
                          </a:solidFill>
                          <a:effectLst/>
                          <a:latin typeface="+mn-ea"/>
                          <a:ea typeface="+mn-ea"/>
                        </a:rPr>
                        <a:t>structurally tested</a:t>
                      </a:r>
                      <a:r>
                        <a:rPr kumimoji="0" lang="zh-CN" altLang="en-US" sz="2000" b="0" i="0" u="none" strike="noStrike" cap="none" normalizeH="0" baseline="0" dirty="0">
                          <a:ln>
                            <a:noFill/>
                          </a:ln>
                          <a:solidFill>
                            <a:schemeClr val="tx1"/>
                          </a:solidFill>
                          <a:effectLst/>
                          <a:latin typeface="+mn-ea"/>
                          <a:ea typeface="+mn-ea"/>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ea"/>
                          <a:ea typeface="+mn-ea"/>
                        </a:rPr>
                        <a:t>C1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2"/>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ea"/>
                          <a:ea typeface="+mn-ea"/>
                        </a:rPr>
                        <a:t>EAL3</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系统地测试和检查（</a:t>
                      </a:r>
                      <a:r>
                        <a:rPr kumimoji="0" lang="en-US" altLang="zh-CN" sz="2000" b="0" i="0" u="none" strike="noStrike" cap="none" normalizeH="0" baseline="0" dirty="0">
                          <a:ln>
                            <a:noFill/>
                          </a:ln>
                          <a:solidFill>
                            <a:schemeClr val="tx1"/>
                          </a:solidFill>
                          <a:effectLst/>
                          <a:latin typeface="+mn-ea"/>
                          <a:ea typeface="+mn-ea"/>
                        </a:rPr>
                        <a:t>methodically tested and checked</a:t>
                      </a:r>
                      <a:r>
                        <a:rPr kumimoji="0" lang="zh-CN" altLang="en-US" sz="2000" b="0" i="0" u="none" strike="noStrike" cap="none" normalizeH="0" baseline="0" dirty="0">
                          <a:ln>
                            <a:noFill/>
                          </a:ln>
                          <a:solidFill>
                            <a:schemeClr val="tx1"/>
                          </a:solidFill>
                          <a:effectLst/>
                          <a:latin typeface="+mn-ea"/>
                          <a:ea typeface="+mn-ea"/>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ea"/>
                          <a:ea typeface="+mn-ea"/>
                        </a:rPr>
                        <a:t>C2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3"/>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ea"/>
                          <a:ea typeface="+mn-ea"/>
                        </a:rPr>
                        <a:t>EAL4</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系统地设计、测试和复查（</a:t>
                      </a:r>
                      <a:r>
                        <a:rPr kumimoji="0" lang="en-US" altLang="zh-CN" sz="2000" b="0" i="0" u="none" strike="noStrike" cap="none" normalizeH="0" baseline="0" dirty="0">
                          <a:ln>
                            <a:noFill/>
                          </a:ln>
                          <a:solidFill>
                            <a:schemeClr val="tx1"/>
                          </a:solidFill>
                          <a:effectLst/>
                          <a:latin typeface="+mn-ea"/>
                          <a:ea typeface="+mn-ea"/>
                        </a:rPr>
                        <a:t>methodically designed</a:t>
                      </a:r>
                      <a:r>
                        <a:rPr kumimoji="0" lang="zh-CN" altLang="en-US" sz="2000" b="0" i="0" u="none" strike="noStrike" cap="none" normalizeH="0" baseline="0" dirty="0">
                          <a:ln>
                            <a:noFill/>
                          </a:ln>
                          <a:solidFill>
                            <a:schemeClr val="tx1"/>
                          </a:solidFill>
                          <a:effectLst/>
                          <a:latin typeface="+mn-ea"/>
                          <a:ea typeface="+mn-ea"/>
                        </a:rPr>
                        <a:t>， </a:t>
                      </a:r>
                      <a:r>
                        <a:rPr kumimoji="0" lang="en-US" altLang="zh-CN" sz="2000" b="0" i="0" u="none" strike="noStrike" cap="none" normalizeH="0" baseline="0" dirty="0">
                          <a:ln>
                            <a:noFill/>
                          </a:ln>
                          <a:solidFill>
                            <a:schemeClr val="tx1"/>
                          </a:solidFill>
                          <a:effectLst/>
                          <a:latin typeface="+mn-ea"/>
                          <a:ea typeface="+mn-ea"/>
                        </a:rPr>
                        <a:t>tested</a:t>
                      </a:r>
                      <a:r>
                        <a:rPr kumimoji="0" lang="zh-CN" altLang="en-US" sz="2000" b="0" i="0" u="none" strike="noStrike" cap="none" normalizeH="0" baseline="0" dirty="0">
                          <a:ln>
                            <a:noFill/>
                          </a:ln>
                          <a:solidFill>
                            <a:schemeClr val="tx1"/>
                          </a:solidFill>
                          <a:effectLst/>
                          <a:latin typeface="+mn-ea"/>
                          <a:ea typeface="+mn-ea"/>
                        </a:rPr>
                        <a:t>， </a:t>
                      </a:r>
                      <a:r>
                        <a:rPr kumimoji="0" lang="en-US" altLang="zh-CN" sz="2000" b="0" i="0" u="none" strike="noStrike" cap="none" normalizeH="0" baseline="0" dirty="0">
                          <a:ln>
                            <a:noFill/>
                          </a:ln>
                          <a:solidFill>
                            <a:schemeClr val="tx1"/>
                          </a:solidFill>
                          <a:effectLst/>
                          <a:latin typeface="+mn-ea"/>
                          <a:ea typeface="+mn-ea"/>
                        </a:rPr>
                        <a:t>and reviewed</a:t>
                      </a:r>
                      <a:r>
                        <a:rPr kumimoji="0" lang="zh-CN" altLang="en-US" sz="2000" b="0" i="0" u="none" strike="noStrike" cap="none" normalizeH="0" baseline="0" dirty="0">
                          <a:ln>
                            <a:noFill/>
                          </a:ln>
                          <a:solidFill>
                            <a:schemeClr val="tx1"/>
                          </a:solidFill>
                          <a:effectLst/>
                          <a:latin typeface="+mn-ea"/>
                          <a:ea typeface="+mn-ea"/>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ea"/>
                          <a:ea typeface="+mn-ea"/>
                        </a:rPr>
                        <a:t>B1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ea"/>
                          <a:ea typeface="+mn-ea"/>
                        </a:rPr>
                        <a:t>EAL5</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半形式化设计和测试（</a:t>
                      </a:r>
                      <a:r>
                        <a:rPr kumimoji="0" lang="en-US" altLang="zh-CN" sz="2000" b="0" i="0" u="none" strike="noStrike" cap="none" normalizeH="0" baseline="0" dirty="0" err="1">
                          <a:ln>
                            <a:noFill/>
                          </a:ln>
                          <a:solidFill>
                            <a:schemeClr val="tx1"/>
                          </a:solidFill>
                          <a:effectLst/>
                          <a:latin typeface="+mn-ea"/>
                          <a:ea typeface="+mn-ea"/>
                        </a:rPr>
                        <a:t>semiformally</a:t>
                      </a:r>
                      <a:r>
                        <a:rPr kumimoji="0" lang="en-US" altLang="zh-CN" sz="2000" b="0" i="0" u="none" strike="noStrike" cap="none" normalizeH="0" baseline="0" dirty="0">
                          <a:ln>
                            <a:noFill/>
                          </a:ln>
                          <a:solidFill>
                            <a:schemeClr val="tx1"/>
                          </a:solidFill>
                          <a:effectLst/>
                          <a:latin typeface="+mn-ea"/>
                          <a:ea typeface="+mn-ea"/>
                        </a:rPr>
                        <a:t> designed and tested</a:t>
                      </a:r>
                      <a:r>
                        <a:rPr kumimoji="0" lang="zh-CN" altLang="en-US" sz="2000" b="0" i="0" u="none" strike="noStrike" cap="none" normalizeH="0" baseline="0" dirty="0">
                          <a:ln>
                            <a:noFill/>
                          </a:ln>
                          <a:solidFill>
                            <a:schemeClr val="tx1"/>
                          </a:solidFill>
                          <a:effectLst/>
                          <a:latin typeface="+mn-ea"/>
                          <a:ea typeface="+mn-ea"/>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ea"/>
                          <a:ea typeface="+mn-ea"/>
                        </a:rPr>
                        <a:t>B2</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ea"/>
                          <a:ea typeface="+mn-ea"/>
                        </a:rPr>
                        <a:t>EAL6</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a:ln>
                            <a:noFill/>
                          </a:ln>
                          <a:solidFill>
                            <a:schemeClr val="tx1"/>
                          </a:solidFill>
                          <a:effectLst/>
                          <a:latin typeface="+mn-ea"/>
                          <a:ea typeface="+mn-ea"/>
                        </a:rPr>
                        <a:t>半形式化验证的设计和测试（</a:t>
                      </a:r>
                      <a:r>
                        <a:rPr kumimoji="0" lang="en-US" altLang="zh-CN" sz="2000" b="0" i="0" u="none" strike="noStrike" cap="none" normalizeH="0" baseline="0">
                          <a:ln>
                            <a:noFill/>
                          </a:ln>
                          <a:solidFill>
                            <a:schemeClr val="tx1"/>
                          </a:solidFill>
                          <a:effectLst/>
                          <a:latin typeface="+mn-ea"/>
                          <a:ea typeface="+mn-ea"/>
                        </a:rPr>
                        <a:t>semiformally verified design and tested</a:t>
                      </a:r>
                      <a:r>
                        <a:rPr kumimoji="0" lang="zh-CN" altLang="en-US" sz="2000" b="0" i="0" u="none" strike="noStrike" cap="none" normalizeH="0" baseline="0">
                          <a:ln>
                            <a:noFill/>
                          </a:ln>
                          <a:solidFill>
                            <a:schemeClr val="tx1"/>
                          </a:solidFill>
                          <a:effectLst/>
                          <a:latin typeface="+mn-ea"/>
                          <a:ea typeface="+mn-ea"/>
                        </a:rPr>
                        <a:t>）</a:t>
                      </a:r>
                      <a:endParaRPr kumimoji="0" lang="en-US" altLang="zh-CN" sz="2000" b="0" i="0" u="none" strike="noStrike" cap="none" normalizeH="0" baseline="0">
                        <a:ln>
                          <a:noFill/>
                        </a:ln>
                        <a:solidFill>
                          <a:schemeClr val="tx1"/>
                        </a:solidFill>
                        <a:effectLst/>
                        <a:latin typeface="+mn-ea"/>
                        <a:ea typeface="+mn-ea"/>
                      </a:endParaRP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ea"/>
                          <a:ea typeface="+mn-ea"/>
                        </a:rPr>
                        <a:t>B3</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93868">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ea"/>
                          <a:ea typeface="+mn-ea"/>
                        </a:rPr>
                        <a:t>EAL7</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dirty="0">
                          <a:ln>
                            <a:noFill/>
                          </a:ln>
                          <a:solidFill>
                            <a:schemeClr val="tx1"/>
                          </a:solidFill>
                          <a:effectLst/>
                          <a:latin typeface="+mn-ea"/>
                          <a:ea typeface="+mn-ea"/>
                        </a:rPr>
                        <a:t>形式化验证的设计和测试（</a:t>
                      </a:r>
                      <a:r>
                        <a:rPr kumimoji="0" lang="en-US" altLang="zh-CN" sz="2000" b="0" i="0" u="none" strike="noStrike" cap="none" normalizeH="0" baseline="0" dirty="0">
                          <a:ln>
                            <a:noFill/>
                          </a:ln>
                          <a:solidFill>
                            <a:schemeClr val="tx1"/>
                          </a:solidFill>
                          <a:effectLst/>
                          <a:latin typeface="+mn-ea"/>
                          <a:ea typeface="+mn-ea"/>
                        </a:rPr>
                        <a:t>formally verified design and tested</a:t>
                      </a:r>
                      <a:r>
                        <a:rPr kumimoji="0" lang="zh-CN" altLang="en-US" sz="2000" b="0" i="0" u="none" strike="noStrike" cap="none" normalizeH="0" baseline="0" dirty="0">
                          <a:ln>
                            <a:noFill/>
                          </a:ln>
                          <a:solidFill>
                            <a:schemeClr val="tx1"/>
                          </a:solidFill>
                          <a:effectLst/>
                          <a:latin typeface="+mn-ea"/>
                          <a:ea typeface="+mn-ea"/>
                        </a:rPr>
                        <a:t>）</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ea"/>
                          <a:ea typeface="+mn-ea"/>
                        </a:rPr>
                        <a:t>A1</a:t>
                      </a:r>
                    </a:p>
                  </a:txBody>
                  <a:tcPr marL="91439" marR="91439"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0064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D967A-F922-5950-2940-447E055105E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F1A5754A-E71D-7BD2-D0B1-25411754F499}"/>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1CEB4501-17D9-0185-5AB0-288A9C5E0DAF}"/>
              </a:ext>
            </a:extLst>
          </p:cNvPr>
          <p:cNvSpPr>
            <a:spLocks noGrp="1"/>
          </p:cNvSpPr>
          <p:nvPr/>
        </p:nvSpPr>
        <p:spPr>
          <a:xfrm>
            <a:off x="536575" y="1284367"/>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计算机系统中，安全措施是一级一级层层设置</a:t>
            </a:r>
          </a:p>
        </p:txBody>
      </p:sp>
      <p:pic>
        <p:nvPicPr>
          <p:cNvPr id="2" name="图片 1">
            <a:extLst>
              <a:ext uri="{FF2B5EF4-FFF2-40B4-BE49-F238E27FC236}">
                <a16:creationId xmlns:a16="http://schemas.microsoft.com/office/drawing/2014/main" id="{EB4A3ECB-0C80-7749-7D37-B1E9A10786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700" y="2439194"/>
            <a:ext cx="9788369" cy="1295400"/>
          </a:xfrm>
          <a:prstGeom prst="rect">
            <a:avLst/>
          </a:prstGeom>
        </p:spPr>
      </p:pic>
      <p:sp>
        <p:nvSpPr>
          <p:cNvPr id="5" name="Rectangle 18">
            <a:extLst>
              <a:ext uri="{FF2B5EF4-FFF2-40B4-BE49-F238E27FC236}">
                <a16:creationId xmlns:a16="http://schemas.microsoft.com/office/drawing/2014/main" id="{219FC483-3D92-1996-907E-A6B35FFE5A46}"/>
              </a:ext>
            </a:extLst>
          </p:cNvPr>
          <p:cNvSpPr>
            <a:spLocks noChangeArrowheads="1"/>
          </p:cNvSpPr>
          <p:nvPr/>
        </p:nvSpPr>
        <p:spPr bwMode="auto">
          <a:xfrm>
            <a:off x="4385390" y="4122818"/>
            <a:ext cx="2566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b="0" dirty="0">
                <a:latin typeface="+mn-ea"/>
                <a:ea typeface="+mn-ea"/>
              </a:rPr>
              <a:t>计算机系统的安全模型 </a:t>
            </a:r>
          </a:p>
        </p:txBody>
      </p:sp>
    </p:spTree>
    <p:extLst>
      <p:ext uri="{BB962C8B-B14F-4D97-AF65-F5344CB8AC3E}">
        <p14:creationId xmlns:p14="http://schemas.microsoft.com/office/powerpoint/2010/main" val="64592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4EF83-718E-E31F-6F87-60EFABFDD27F}"/>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F8B97A6B-FFBF-AFD1-001E-2FA17713368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5" name="Rectangle 18">
            <a:extLst>
              <a:ext uri="{FF2B5EF4-FFF2-40B4-BE49-F238E27FC236}">
                <a16:creationId xmlns:a16="http://schemas.microsoft.com/office/drawing/2014/main" id="{478FB557-D95D-F98C-964C-5DCF3B2D6463}"/>
              </a:ext>
            </a:extLst>
          </p:cNvPr>
          <p:cNvSpPr>
            <a:spLocks noChangeArrowheads="1"/>
          </p:cNvSpPr>
          <p:nvPr/>
        </p:nvSpPr>
        <p:spPr bwMode="auto">
          <a:xfrm>
            <a:off x="4432750" y="5864612"/>
            <a:ext cx="32544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b="0" dirty="0">
                <a:latin typeface="+mn-ea"/>
                <a:ea typeface="+mn-ea"/>
              </a:rPr>
              <a:t>数据库系统的安全性控制模型 </a:t>
            </a:r>
          </a:p>
        </p:txBody>
      </p:sp>
      <p:pic>
        <p:nvPicPr>
          <p:cNvPr id="6" name="图片 5">
            <a:extLst>
              <a:ext uri="{FF2B5EF4-FFF2-40B4-BE49-F238E27FC236}">
                <a16:creationId xmlns:a16="http://schemas.microsoft.com/office/drawing/2014/main" id="{6A80FFDF-FD10-7785-4E02-CEF8188B4A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5375" y="1143794"/>
            <a:ext cx="7029878" cy="4572000"/>
          </a:xfrm>
          <a:prstGeom prst="rect">
            <a:avLst/>
          </a:prstGeom>
        </p:spPr>
      </p:pic>
    </p:spTree>
    <p:extLst>
      <p:ext uri="{BB962C8B-B14F-4D97-AF65-F5344CB8AC3E}">
        <p14:creationId xmlns:p14="http://schemas.microsoft.com/office/powerpoint/2010/main" val="120162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824CB-DC18-E83B-4F0D-58AD8D44D8B7}"/>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6D68467-6A1B-8F94-34B8-7C506DBEE938}"/>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82549F94-E9A9-BB77-CD7E-FBCD868A92A9}"/>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用户身份鉴别</a:t>
            </a:r>
          </a:p>
        </p:txBody>
      </p:sp>
      <p:sp>
        <p:nvSpPr>
          <p:cNvPr id="3" name="矩形 2">
            <a:extLst>
              <a:ext uri="{FF2B5EF4-FFF2-40B4-BE49-F238E27FC236}">
                <a16:creationId xmlns:a16="http://schemas.microsoft.com/office/drawing/2014/main" id="{8661A0FA-4FDE-43CD-B187-BF4D65DC18AD}"/>
              </a:ext>
            </a:extLst>
          </p:cNvPr>
          <p:cNvSpPr/>
          <p:nvPr/>
        </p:nvSpPr>
        <p:spPr>
          <a:xfrm>
            <a:off x="508608" y="1981995"/>
            <a:ext cx="11286490" cy="1524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lnSpc>
                <a:spcPct val="150000"/>
              </a:lnSpc>
              <a:buFont typeface="Wingdings" panose="05000000000000000000" pitchFamily="2" charset="2"/>
              <a:buChar char="l"/>
            </a:pPr>
            <a:r>
              <a:rPr lang="zh-CN" altLang="en-US" sz="1800" dirty="0">
                <a:solidFill>
                  <a:schemeClr val="tx1"/>
                </a:solidFill>
              </a:rPr>
              <a:t>系统</a:t>
            </a:r>
            <a:r>
              <a:rPr lang="zh-CN" altLang="en-US" sz="2000" dirty="0">
                <a:solidFill>
                  <a:schemeClr val="tx1"/>
                </a:solidFill>
              </a:rPr>
              <a:t>提供的最外层安全保护措施</a:t>
            </a:r>
          </a:p>
          <a:p>
            <a:pPr marL="342900" indent="-342900" algn="just">
              <a:lnSpc>
                <a:spcPct val="150000"/>
              </a:lnSpc>
              <a:buFont typeface="Wingdings" panose="05000000000000000000" pitchFamily="2" charset="2"/>
              <a:buChar char="l"/>
            </a:pPr>
            <a:r>
              <a:rPr lang="zh-CN" altLang="en-US" sz="2000" dirty="0">
                <a:solidFill>
                  <a:schemeClr val="tx1"/>
                </a:solidFill>
              </a:rPr>
              <a:t>用户标识：由用户名和用户标识号组成</a:t>
            </a:r>
          </a:p>
          <a:p>
            <a:pPr marL="715963" indent="-358775" algn="just">
              <a:lnSpc>
                <a:spcPct val="150000"/>
              </a:lnSpc>
              <a:buFont typeface="Wingdings" panose="05000000000000000000" charset="0"/>
              <a:buChar char="Ø"/>
            </a:pPr>
            <a:r>
              <a:rPr lang="zh-CN" altLang="en-US" sz="2000" dirty="0">
                <a:solidFill>
                  <a:schemeClr val="tx1"/>
                </a:solidFill>
              </a:rPr>
              <a:t>用户标识号在系统整个生命周期内</a:t>
            </a:r>
            <a:r>
              <a:rPr lang="zh-CN" altLang="en-US" sz="1800" dirty="0">
                <a:solidFill>
                  <a:schemeClr val="tx1"/>
                </a:solidFill>
              </a:rPr>
              <a:t>唯一</a:t>
            </a:r>
          </a:p>
        </p:txBody>
      </p:sp>
    </p:spTree>
    <p:extLst>
      <p:ext uri="{BB962C8B-B14F-4D97-AF65-F5344CB8AC3E}">
        <p14:creationId xmlns:p14="http://schemas.microsoft.com/office/powerpoint/2010/main" val="105408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4F91-A4EE-0397-AF5B-9203D036075F}"/>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E1D0D61-CB6B-2C5F-309A-9031D54061D7}"/>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D6819AA5-65DA-0BD2-C466-F2DCDF4C8580}"/>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用户身份鉴别</a:t>
            </a:r>
            <a:r>
              <a:rPr lang="en-US" altLang="zh-CN" dirty="0"/>
              <a:t>-</a:t>
            </a:r>
            <a:r>
              <a:rPr lang="zh-CN" altLang="en-US" dirty="0"/>
              <a:t>方法</a:t>
            </a:r>
          </a:p>
        </p:txBody>
      </p:sp>
      <p:sp>
        <p:nvSpPr>
          <p:cNvPr id="3" name="矩形 2">
            <a:extLst>
              <a:ext uri="{FF2B5EF4-FFF2-40B4-BE49-F238E27FC236}">
                <a16:creationId xmlns:a16="http://schemas.microsoft.com/office/drawing/2014/main" id="{19D24F42-BF38-F476-4EA2-B93243780194}"/>
              </a:ext>
            </a:extLst>
          </p:cNvPr>
          <p:cNvSpPr/>
          <p:nvPr/>
        </p:nvSpPr>
        <p:spPr>
          <a:xfrm>
            <a:off x="508608" y="1981994"/>
            <a:ext cx="11286490" cy="426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CN" sz="2000" dirty="0">
                <a:solidFill>
                  <a:schemeClr val="tx1"/>
                </a:solidFill>
              </a:rPr>
              <a:t>1. </a:t>
            </a:r>
            <a:r>
              <a:rPr lang="zh-CN" altLang="en-US" sz="2000" dirty="0">
                <a:solidFill>
                  <a:schemeClr val="tx1"/>
                </a:solidFill>
              </a:rPr>
              <a:t>静态口令鉴别</a:t>
            </a:r>
          </a:p>
          <a:p>
            <a:pPr marL="628650" indent="-358775" algn="just">
              <a:lnSpc>
                <a:spcPct val="150000"/>
              </a:lnSpc>
              <a:buFont typeface="Wingdings" panose="05000000000000000000" pitchFamily="2" charset="2"/>
              <a:buChar char="l"/>
            </a:pPr>
            <a:r>
              <a:rPr lang="zh-CN" altLang="en-US" sz="2000" dirty="0">
                <a:solidFill>
                  <a:schemeClr val="tx1"/>
                </a:solidFill>
              </a:rPr>
              <a:t>静态口令一般由用户自己设定，这些口令静态不变，方式简单，易被攻击，安全性较低。</a:t>
            </a:r>
          </a:p>
          <a:p>
            <a:pPr marL="628650" indent="-358775" algn="just">
              <a:lnSpc>
                <a:spcPct val="150000"/>
              </a:lnSpc>
              <a:buFont typeface="Wingdings" panose="05000000000000000000" pitchFamily="2" charset="2"/>
              <a:buChar char="l"/>
            </a:pPr>
            <a:r>
              <a:rPr lang="zh-CN" altLang="en-US" sz="2000" dirty="0">
                <a:solidFill>
                  <a:schemeClr val="tx1"/>
                </a:solidFill>
              </a:rPr>
              <a:t>可采用双因子鉴别，即口令</a:t>
            </a:r>
            <a:r>
              <a:rPr lang="en-US" altLang="zh-CN" sz="2000" dirty="0">
                <a:solidFill>
                  <a:schemeClr val="tx1"/>
                </a:solidFill>
              </a:rPr>
              <a:t>+</a:t>
            </a:r>
            <a:r>
              <a:rPr lang="zh-CN" altLang="en-US" sz="2000" dirty="0">
                <a:solidFill>
                  <a:schemeClr val="tx1"/>
                </a:solidFill>
              </a:rPr>
              <a:t>数字证书。</a:t>
            </a:r>
          </a:p>
          <a:p>
            <a:pPr marL="628650" indent="-358775" algn="just">
              <a:lnSpc>
                <a:spcPct val="150000"/>
              </a:lnSpc>
              <a:buFont typeface="Wingdings" panose="05000000000000000000" pitchFamily="2" charset="2"/>
              <a:buChar char="l"/>
            </a:pPr>
            <a:r>
              <a:rPr lang="zh-CN" altLang="en-US" sz="2000" dirty="0">
                <a:solidFill>
                  <a:schemeClr val="tx1"/>
                </a:solidFill>
              </a:rPr>
              <a:t>提供一套口令策略</a:t>
            </a:r>
          </a:p>
          <a:p>
            <a:pPr marL="628650" indent="-358775" algn="just">
              <a:lnSpc>
                <a:spcPct val="150000"/>
              </a:lnSpc>
              <a:buFont typeface="Wingdings" panose="05000000000000000000" pitchFamily="2" charset="2"/>
              <a:buChar char="l"/>
            </a:pPr>
            <a:r>
              <a:rPr lang="zh-CN" altLang="en-US" sz="2000" dirty="0">
                <a:solidFill>
                  <a:schemeClr val="tx1"/>
                </a:solidFill>
              </a:rPr>
              <a:t>用户身份鉴别可以重复多次</a:t>
            </a:r>
          </a:p>
          <a:p>
            <a:pPr algn="just">
              <a:lnSpc>
                <a:spcPct val="150000"/>
              </a:lnSpc>
            </a:pPr>
            <a:r>
              <a:rPr lang="en-US" altLang="zh-CN" sz="2000" dirty="0">
                <a:solidFill>
                  <a:schemeClr val="tx1"/>
                </a:solidFill>
              </a:rPr>
              <a:t>2. </a:t>
            </a:r>
            <a:r>
              <a:rPr lang="zh-CN" altLang="en-US" sz="2000" dirty="0">
                <a:solidFill>
                  <a:schemeClr val="tx1"/>
                </a:solidFill>
              </a:rPr>
              <a:t>动态口令鉴别</a:t>
            </a:r>
          </a:p>
          <a:p>
            <a:pPr marL="628650" indent="-358775" algn="just">
              <a:lnSpc>
                <a:spcPct val="150000"/>
              </a:lnSpc>
              <a:buFont typeface="Wingdings" panose="05000000000000000000" pitchFamily="2" charset="2"/>
              <a:buChar char="l"/>
            </a:pPr>
            <a:r>
              <a:rPr lang="zh-CN" altLang="en-US" sz="2000" dirty="0">
                <a:solidFill>
                  <a:schemeClr val="tx1"/>
                </a:solidFill>
              </a:rPr>
              <a:t>口令是动态变化的，采用一次一密的方法</a:t>
            </a:r>
          </a:p>
          <a:p>
            <a:pPr marL="628650" indent="-358775" algn="just">
              <a:lnSpc>
                <a:spcPct val="150000"/>
              </a:lnSpc>
              <a:buFont typeface="Wingdings" panose="05000000000000000000" pitchFamily="2" charset="2"/>
              <a:buChar char="l"/>
            </a:pPr>
            <a:r>
              <a:rPr lang="zh-CN" altLang="en-US" sz="2000" dirty="0">
                <a:solidFill>
                  <a:schemeClr val="tx1"/>
                </a:solidFill>
              </a:rPr>
              <a:t>常用的方式：验证码和动态令牌方式</a:t>
            </a:r>
          </a:p>
          <a:p>
            <a:pPr marL="628650" indent="-358775" algn="just">
              <a:lnSpc>
                <a:spcPct val="150000"/>
              </a:lnSpc>
              <a:buFont typeface="Wingdings" panose="05000000000000000000" pitchFamily="2" charset="2"/>
              <a:buChar char="l"/>
            </a:pPr>
            <a:r>
              <a:rPr lang="zh-CN" altLang="en-US" sz="2000" dirty="0">
                <a:solidFill>
                  <a:schemeClr val="tx1"/>
                </a:solidFill>
              </a:rPr>
              <a:t>安全性相对高一些</a:t>
            </a:r>
          </a:p>
        </p:txBody>
      </p:sp>
    </p:spTree>
    <p:extLst>
      <p:ext uri="{BB962C8B-B14F-4D97-AF65-F5344CB8AC3E}">
        <p14:creationId xmlns:p14="http://schemas.microsoft.com/office/powerpoint/2010/main" val="380377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250F5-E1A8-9CB0-E50C-450F1A152882}"/>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FFC70BE-AF00-E55C-1BDF-A41CD49CD508}"/>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03666C4E-D390-7939-4F38-B962339F0CC3}"/>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用户身份鉴别</a:t>
            </a:r>
            <a:r>
              <a:rPr lang="en-US" altLang="zh-CN" dirty="0"/>
              <a:t>-</a:t>
            </a:r>
            <a:r>
              <a:rPr lang="zh-CN" altLang="en-US" dirty="0"/>
              <a:t>方法</a:t>
            </a:r>
          </a:p>
        </p:txBody>
      </p:sp>
      <p:sp>
        <p:nvSpPr>
          <p:cNvPr id="3" name="矩形 2">
            <a:extLst>
              <a:ext uri="{FF2B5EF4-FFF2-40B4-BE49-F238E27FC236}">
                <a16:creationId xmlns:a16="http://schemas.microsoft.com/office/drawing/2014/main" id="{17FA3DED-E9F7-D219-2BC0-61F63C5D4324}"/>
              </a:ext>
            </a:extLst>
          </p:cNvPr>
          <p:cNvSpPr/>
          <p:nvPr/>
        </p:nvSpPr>
        <p:spPr>
          <a:xfrm>
            <a:off x="508608" y="1981994"/>
            <a:ext cx="11286490" cy="4267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CN" sz="2000" dirty="0">
                <a:solidFill>
                  <a:schemeClr val="tx1"/>
                </a:solidFill>
              </a:rPr>
              <a:t>3. </a:t>
            </a:r>
            <a:r>
              <a:rPr lang="zh-CN" altLang="en-US" sz="2000" dirty="0">
                <a:solidFill>
                  <a:schemeClr val="tx1"/>
                </a:solidFill>
              </a:rPr>
              <a:t>生物特征鉴别</a:t>
            </a:r>
          </a:p>
          <a:p>
            <a:pPr marL="628650" indent="-358775" algn="just">
              <a:lnSpc>
                <a:spcPct val="150000"/>
              </a:lnSpc>
              <a:buFont typeface="Wingdings" panose="05000000000000000000" pitchFamily="2" charset="2"/>
              <a:buChar char="l"/>
            </a:pPr>
            <a:r>
              <a:rPr lang="zh-CN" altLang="en-US" sz="2000" dirty="0">
                <a:solidFill>
                  <a:schemeClr val="tx1"/>
                </a:solidFill>
              </a:rPr>
              <a:t>通过生物特征进行认证的技术，生物特征如指纹、虹膜和掌纹等</a:t>
            </a:r>
          </a:p>
          <a:p>
            <a:pPr marL="628650" indent="-358775" algn="just">
              <a:lnSpc>
                <a:spcPct val="150000"/>
              </a:lnSpc>
              <a:buFont typeface="Wingdings" panose="05000000000000000000" pitchFamily="2" charset="2"/>
              <a:buChar char="l"/>
            </a:pPr>
            <a:r>
              <a:rPr lang="zh-CN" altLang="en-US" sz="2000" dirty="0">
                <a:solidFill>
                  <a:schemeClr val="tx1"/>
                </a:solidFill>
              </a:rPr>
              <a:t>安全性较高</a:t>
            </a:r>
          </a:p>
          <a:p>
            <a:pPr algn="just">
              <a:lnSpc>
                <a:spcPct val="150000"/>
              </a:lnSpc>
            </a:pPr>
            <a:r>
              <a:rPr lang="en-US" altLang="zh-CN" sz="2000" dirty="0">
                <a:solidFill>
                  <a:schemeClr val="tx1"/>
                </a:solidFill>
              </a:rPr>
              <a:t>4. </a:t>
            </a:r>
            <a:r>
              <a:rPr lang="zh-CN" altLang="en-US" sz="2000" dirty="0">
                <a:solidFill>
                  <a:schemeClr val="tx1"/>
                </a:solidFill>
              </a:rPr>
              <a:t>智能卡鉴别</a:t>
            </a:r>
          </a:p>
          <a:p>
            <a:pPr marL="628650" indent="-358775" algn="just">
              <a:lnSpc>
                <a:spcPct val="150000"/>
              </a:lnSpc>
              <a:buFont typeface="Wingdings" panose="05000000000000000000" pitchFamily="2" charset="2"/>
              <a:buChar char="l"/>
            </a:pPr>
            <a:r>
              <a:rPr lang="zh-CN" altLang="en-US" sz="2000" dirty="0">
                <a:solidFill>
                  <a:schemeClr val="tx1"/>
                </a:solidFill>
              </a:rPr>
              <a:t>智能卡是一种不可复制的硬件，内置集成电路的芯片，具有硬件加密功能</a:t>
            </a:r>
          </a:p>
          <a:p>
            <a:pPr marL="628650" indent="-358775" algn="just">
              <a:lnSpc>
                <a:spcPct val="150000"/>
              </a:lnSpc>
              <a:buFont typeface="Wingdings" panose="05000000000000000000" pitchFamily="2" charset="2"/>
              <a:buChar char="l"/>
            </a:pPr>
            <a:r>
              <a:rPr lang="zh-CN" altLang="en-US" sz="2000" dirty="0">
                <a:solidFill>
                  <a:schemeClr val="tx1"/>
                </a:solidFill>
              </a:rPr>
              <a:t>智能卡读取数据是静态的，通过内存扫描或网络监听等技术可能截取到用户的身份验证信息，存在安全隐患</a:t>
            </a:r>
          </a:p>
          <a:p>
            <a:pPr marL="628650" indent="-358775" algn="just">
              <a:lnSpc>
                <a:spcPct val="150000"/>
              </a:lnSpc>
              <a:buFont typeface="Wingdings" panose="05000000000000000000" pitchFamily="2" charset="2"/>
              <a:buChar char="l"/>
            </a:pPr>
            <a:r>
              <a:rPr lang="zh-CN" altLang="en-US" sz="2000" dirty="0">
                <a:solidFill>
                  <a:schemeClr val="tx1"/>
                </a:solidFill>
              </a:rPr>
              <a:t>实际应用中一般采用个人身份识别码（</a:t>
            </a:r>
            <a:r>
              <a:rPr lang="en-US" altLang="zh-CN" sz="2000" dirty="0">
                <a:solidFill>
                  <a:schemeClr val="tx1"/>
                </a:solidFill>
              </a:rPr>
              <a:t>Personal Identification Number</a:t>
            </a:r>
            <a:r>
              <a:rPr lang="zh-CN" altLang="en-US" sz="2000" dirty="0">
                <a:solidFill>
                  <a:schemeClr val="tx1"/>
                </a:solidFill>
              </a:rPr>
              <a:t>，</a:t>
            </a:r>
            <a:r>
              <a:rPr lang="en-US" altLang="zh-CN" sz="2000" dirty="0">
                <a:solidFill>
                  <a:schemeClr val="tx1"/>
                </a:solidFill>
              </a:rPr>
              <a:t>PIN</a:t>
            </a:r>
            <a:r>
              <a:rPr lang="zh-CN" altLang="en-US" sz="2000" dirty="0">
                <a:solidFill>
                  <a:schemeClr val="tx1"/>
                </a:solidFill>
              </a:rPr>
              <a:t>）和智能卡相结合方式</a:t>
            </a:r>
          </a:p>
        </p:txBody>
      </p:sp>
    </p:spTree>
    <p:extLst>
      <p:ext uri="{BB962C8B-B14F-4D97-AF65-F5344CB8AC3E}">
        <p14:creationId xmlns:p14="http://schemas.microsoft.com/office/powerpoint/2010/main" val="4239816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AF31F-DB5B-B153-9015-51603079071C}"/>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94F42192-2231-3EF4-A0C9-C3E21AE655C2}"/>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40E4CC18-303A-D98B-5F4C-0EF73D4DB5CA}"/>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用户身份鉴别</a:t>
            </a:r>
            <a:r>
              <a:rPr lang="en-US" altLang="zh-CN" dirty="0"/>
              <a:t>-</a:t>
            </a:r>
            <a:r>
              <a:rPr lang="zh-CN" altLang="en-US" dirty="0"/>
              <a:t>方法</a:t>
            </a:r>
          </a:p>
        </p:txBody>
      </p:sp>
      <p:sp>
        <p:nvSpPr>
          <p:cNvPr id="3" name="矩形 2">
            <a:extLst>
              <a:ext uri="{FF2B5EF4-FFF2-40B4-BE49-F238E27FC236}">
                <a16:creationId xmlns:a16="http://schemas.microsoft.com/office/drawing/2014/main" id="{230A1C9E-820E-5CD5-B35C-4BFE99464220}"/>
              </a:ext>
            </a:extLst>
          </p:cNvPr>
          <p:cNvSpPr/>
          <p:nvPr/>
        </p:nvSpPr>
        <p:spPr>
          <a:xfrm>
            <a:off x="508608" y="1981994"/>
            <a:ext cx="11286490" cy="2514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CN" sz="2000" dirty="0">
                <a:solidFill>
                  <a:schemeClr val="tx1"/>
                </a:solidFill>
              </a:rPr>
              <a:t>5. </a:t>
            </a:r>
            <a:r>
              <a:rPr lang="zh-CN" altLang="en-US" sz="2000" dirty="0">
                <a:solidFill>
                  <a:schemeClr val="tx1"/>
                </a:solidFill>
              </a:rPr>
              <a:t>入侵检测</a:t>
            </a:r>
          </a:p>
          <a:p>
            <a:pPr marL="628650" indent="-358775" algn="just">
              <a:lnSpc>
                <a:spcPct val="150000"/>
              </a:lnSpc>
              <a:buFont typeface="Wingdings" panose="05000000000000000000" pitchFamily="2" charset="2"/>
              <a:buChar char="l"/>
            </a:pPr>
            <a:r>
              <a:rPr lang="zh-CN" altLang="en-US" sz="2000" dirty="0">
                <a:solidFill>
                  <a:schemeClr val="tx1"/>
                </a:solidFill>
              </a:rPr>
              <a:t>检测前，管理员按实际需求定义检测规则</a:t>
            </a:r>
          </a:p>
          <a:p>
            <a:pPr marL="628650" indent="-358775" algn="just">
              <a:lnSpc>
                <a:spcPct val="150000"/>
              </a:lnSpc>
              <a:buFont typeface="Wingdings" panose="05000000000000000000" pitchFamily="2" charset="2"/>
              <a:buChar char="l"/>
            </a:pPr>
            <a:r>
              <a:rPr lang="zh-CN" altLang="en-US" sz="2000" dirty="0">
                <a:solidFill>
                  <a:schemeClr val="tx1"/>
                </a:solidFill>
              </a:rPr>
              <a:t>检测中，实时进行入侵分析</a:t>
            </a:r>
          </a:p>
          <a:p>
            <a:pPr marL="628650" indent="-358775" algn="just">
              <a:lnSpc>
                <a:spcPct val="150000"/>
              </a:lnSpc>
              <a:buFont typeface="Wingdings" panose="05000000000000000000" pitchFamily="2" charset="2"/>
              <a:buChar char="l"/>
            </a:pPr>
            <a:r>
              <a:rPr lang="zh-CN" altLang="en-US" sz="2000" dirty="0">
                <a:solidFill>
                  <a:schemeClr val="tx1"/>
                </a:solidFill>
              </a:rPr>
              <a:t>发现入侵情况，实时进行处理</a:t>
            </a:r>
          </a:p>
          <a:p>
            <a:pPr marL="985838" indent="-357188" algn="just">
              <a:lnSpc>
                <a:spcPct val="150000"/>
              </a:lnSpc>
              <a:buFont typeface="Wingdings" panose="05000000000000000000" pitchFamily="2" charset="2"/>
              <a:buChar char="Ø"/>
            </a:pPr>
            <a:r>
              <a:rPr lang="zh-CN" altLang="en-US" sz="2000" dirty="0">
                <a:solidFill>
                  <a:schemeClr val="tx1"/>
                </a:solidFill>
              </a:rPr>
              <a:t>通过邮件报警和断开会话连接、锁定用户进行处罚等</a:t>
            </a:r>
          </a:p>
        </p:txBody>
      </p:sp>
    </p:spTree>
    <p:extLst>
      <p:ext uri="{BB962C8B-B14F-4D97-AF65-F5344CB8AC3E}">
        <p14:creationId xmlns:p14="http://schemas.microsoft.com/office/powerpoint/2010/main" val="306999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par>
                          <p:cTn id="23" fill="hold">
                            <p:stCondLst>
                              <p:cond delay="500"/>
                            </p:stCondLst>
                            <p:childTnLst>
                              <p:par>
                                <p:cTn id="24" presetID="10" presetClass="entr" presetSubtype="0" fill="hold" nodeType="afterEffect">
                                  <p:stCondLst>
                                    <p:cond delay="25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C014D-D5DB-F2D0-78F9-CC54D818497A}"/>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5CF3268-629C-E4B7-6213-FBFC29D7054D}"/>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697045B9-3F1E-FEDD-872A-B6127D71A71E}"/>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存取控制</a:t>
            </a:r>
          </a:p>
        </p:txBody>
      </p:sp>
      <p:sp>
        <p:nvSpPr>
          <p:cNvPr id="3" name="矩形 2">
            <a:extLst>
              <a:ext uri="{FF2B5EF4-FFF2-40B4-BE49-F238E27FC236}">
                <a16:creationId xmlns:a16="http://schemas.microsoft.com/office/drawing/2014/main" id="{A5636CCA-EC75-C4FB-56F6-C66D9C663C33}"/>
              </a:ext>
            </a:extLst>
          </p:cNvPr>
          <p:cNvSpPr/>
          <p:nvPr/>
        </p:nvSpPr>
        <p:spPr>
          <a:xfrm>
            <a:off x="508608" y="1905794"/>
            <a:ext cx="11286490" cy="3810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zh-CN" altLang="en-US" sz="2000" dirty="0">
                <a:solidFill>
                  <a:schemeClr val="tx1"/>
                </a:solidFill>
              </a:rPr>
              <a:t>存取控制机制组成：</a:t>
            </a:r>
          </a:p>
          <a:p>
            <a:pPr marL="628650" indent="-358775" algn="just">
              <a:lnSpc>
                <a:spcPct val="150000"/>
              </a:lnSpc>
              <a:buFont typeface="Wingdings" panose="05000000000000000000" pitchFamily="2" charset="2"/>
              <a:buChar char="l"/>
            </a:pPr>
            <a:r>
              <a:rPr lang="zh-CN" altLang="en-US" sz="2000" dirty="0">
                <a:solidFill>
                  <a:schemeClr val="tx1"/>
                </a:solidFill>
              </a:rPr>
              <a:t>定义用户权限，并将用户权限登记到数据字典中</a:t>
            </a:r>
          </a:p>
          <a:p>
            <a:pPr marL="985838" indent="-357188" algn="just">
              <a:lnSpc>
                <a:spcPct val="150000"/>
              </a:lnSpc>
              <a:buFont typeface="Wingdings" panose="05000000000000000000" pitchFamily="2" charset="2"/>
              <a:buChar char="Ø"/>
            </a:pPr>
            <a:r>
              <a:rPr lang="zh-CN" altLang="en-US" sz="2000" dirty="0">
                <a:solidFill>
                  <a:schemeClr val="tx1"/>
                </a:solidFill>
              </a:rPr>
              <a:t>用户对某一数据对象的操作权力称为</a:t>
            </a:r>
            <a:r>
              <a:rPr lang="zh-CN" altLang="en-US" sz="2000" dirty="0">
                <a:solidFill>
                  <a:srgbClr val="FF0000"/>
                </a:solidFill>
              </a:rPr>
              <a:t>权限 </a:t>
            </a:r>
          </a:p>
          <a:p>
            <a:pPr marL="985838" indent="-357188" algn="just">
              <a:lnSpc>
                <a:spcPct val="150000"/>
              </a:lnSpc>
              <a:buFont typeface="Wingdings" panose="05000000000000000000" pitchFamily="2" charset="2"/>
              <a:buChar char="Ø"/>
            </a:pPr>
            <a:r>
              <a:rPr lang="zh-CN" altLang="en-US" sz="2000" dirty="0">
                <a:solidFill>
                  <a:schemeClr val="tx1"/>
                </a:solidFill>
              </a:rPr>
              <a:t>数据库管理系统提供适当的语言来定义用户权限，存放在数据字典中，称做安全规则或授权规则 </a:t>
            </a:r>
          </a:p>
          <a:p>
            <a:pPr marL="628650" indent="-358775" algn="just">
              <a:lnSpc>
                <a:spcPct val="150000"/>
              </a:lnSpc>
              <a:buFont typeface="Wingdings" panose="05000000000000000000" pitchFamily="2" charset="2"/>
              <a:buChar char="l"/>
            </a:pPr>
            <a:r>
              <a:rPr lang="zh-CN" altLang="en-US" sz="2000" dirty="0">
                <a:solidFill>
                  <a:schemeClr val="tx1"/>
                </a:solidFill>
              </a:rPr>
              <a:t>合法权限检查 </a:t>
            </a:r>
          </a:p>
          <a:p>
            <a:pPr marL="985838" indent="-357188" algn="just">
              <a:lnSpc>
                <a:spcPct val="150000"/>
              </a:lnSpc>
              <a:buFont typeface="Wingdings" panose="05000000000000000000" pitchFamily="2" charset="2"/>
              <a:buChar char="Ø"/>
            </a:pPr>
            <a:r>
              <a:rPr lang="zh-CN" altLang="en-US" sz="2000" dirty="0">
                <a:solidFill>
                  <a:schemeClr val="tx1"/>
                </a:solidFill>
              </a:rPr>
              <a:t>用户发出存取数据库操作请求</a:t>
            </a:r>
          </a:p>
          <a:p>
            <a:pPr marL="985838" indent="-357188" algn="just">
              <a:lnSpc>
                <a:spcPct val="150000"/>
              </a:lnSpc>
              <a:buFont typeface="Wingdings" panose="05000000000000000000" pitchFamily="2" charset="2"/>
              <a:buChar char="Ø"/>
            </a:pPr>
            <a:r>
              <a:rPr lang="zh-CN" altLang="en-US" sz="2000" dirty="0">
                <a:solidFill>
                  <a:schemeClr val="tx1"/>
                </a:solidFill>
              </a:rPr>
              <a:t>数据库管理系统查找数据字典，进行合法权限检查</a:t>
            </a:r>
          </a:p>
        </p:txBody>
      </p:sp>
      <p:sp>
        <p:nvSpPr>
          <p:cNvPr id="2" name="内容占位符 4">
            <a:extLst>
              <a:ext uri="{FF2B5EF4-FFF2-40B4-BE49-F238E27FC236}">
                <a16:creationId xmlns:a16="http://schemas.microsoft.com/office/drawing/2014/main" id="{1C5C8CFE-4330-D821-DB1E-BF948E266412}"/>
              </a:ext>
            </a:extLst>
          </p:cNvPr>
          <p:cNvSpPr>
            <a:spLocks noGrp="1"/>
          </p:cNvSpPr>
          <p:nvPr/>
        </p:nvSpPr>
        <p:spPr>
          <a:xfrm>
            <a:off x="552340" y="6020594"/>
            <a:ext cx="11242757" cy="457200"/>
          </a:xfrm>
          <a:prstGeom prst="rect">
            <a:avLst/>
          </a:prstGeom>
          <a:solidFill>
            <a:schemeClr val="accent3">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just">
              <a:lnSpc>
                <a:spcPct val="100000"/>
              </a:lnSpc>
              <a:buNone/>
            </a:pPr>
            <a:r>
              <a:rPr lang="zh-CN" altLang="en-US" dirty="0"/>
              <a:t>用户权限定义和合法权检查机制一起组成了数据库管理系统的存取控制子系统</a:t>
            </a:r>
          </a:p>
        </p:txBody>
      </p:sp>
    </p:spTree>
    <p:extLst>
      <p:ext uri="{BB962C8B-B14F-4D97-AF65-F5344CB8AC3E}">
        <p14:creationId xmlns:p14="http://schemas.microsoft.com/office/powerpoint/2010/main" val="319047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anim calcmode="lin" valueType="num">
                                      <p:cBhvr>
                                        <p:cTn id="43" dur="500" fill="hold"/>
                                        <p:tgtEl>
                                          <p:spTgt spid="2"/>
                                        </p:tgtEl>
                                        <p:attrNameLst>
                                          <p:attrName>ppt_x</p:attrName>
                                        </p:attrNameLst>
                                      </p:cBhvr>
                                      <p:tavLst>
                                        <p:tav tm="0">
                                          <p:val>
                                            <p:strVal val="#ppt_x"/>
                                          </p:val>
                                        </p:tav>
                                        <p:tav tm="100000">
                                          <p:val>
                                            <p:strVal val="#ppt_x"/>
                                          </p:val>
                                        </p:tav>
                                      </p:tavLst>
                                    </p:anim>
                                    <p:anim calcmode="lin" valueType="num">
                                      <p:cBhvr>
                                        <p:cTn id="44"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7701-BEDA-F4BA-CD0C-924DC0982EE6}"/>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2012066-C9CE-FE12-FDF6-D85620385FB3}"/>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BD66A374-13D5-9A46-D87D-3F8A72A14B5C}"/>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存取控制</a:t>
            </a:r>
          </a:p>
        </p:txBody>
      </p:sp>
      <p:sp>
        <p:nvSpPr>
          <p:cNvPr id="3" name="矩形 2">
            <a:extLst>
              <a:ext uri="{FF2B5EF4-FFF2-40B4-BE49-F238E27FC236}">
                <a16:creationId xmlns:a16="http://schemas.microsoft.com/office/drawing/2014/main" id="{2D24946E-BC92-4D79-D211-3F773E41F226}"/>
              </a:ext>
            </a:extLst>
          </p:cNvPr>
          <p:cNvSpPr/>
          <p:nvPr/>
        </p:nvSpPr>
        <p:spPr>
          <a:xfrm>
            <a:off x="508608" y="1905794"/>
            <a:ext cx="11286490" cy="2971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zh-CN" altLang="en-US" sz="2000" dirty="0">
                <a:solidFill>
                  <a:schemeClr val="tx1"/>
                </a:solidFill>
              </a:rPr>
              <a:t>常用的存取控制方法：</a:t>
            </a:r>
          </a:p>
          <a:p>
            <a:pPr marL="628650" indent="-358775" algn="just">
              <a:lnSpc>
                <a:spcPct val="150000"/>
              </a:lnSpc>
              <a:buFont typeface="Wingdings" panose="05000000000000000000" pitchFamily="2" charset="2"/>
              <a:buChar char="l"/>
            </a:pPr>
            <a:r>
              <a:rPr lang="zh-CN" altLang="en-US" sz="2000" dirty="0">
                <a:solidFill>
                  <a:schemeClr val="tx1"/>
                </a:solidFill>
              </a:rPr>
              <a:t>自主存取控制（</a:t>
            </a:r>
            <a:r>
              <a:rPr lang="en-US" altLang="zh-CN" sz="2000" dirty="0">
                <a:solidFill>
                  <a:schemeClr val="tx1"/>
                </a:solidFill>
              </a:rPr>
              <a:t>Discretionary Access Control </a:t>
            </a:r>
            <a:r>
              <a:rPr lang="zh-CN" altLang="en-US" sz="2000" dirty="0">
                <a:solidFill>
                  <a:schemeClr val="tx1"/>
                </a:solidFill>
              </a:rPr>
              <a:t>，</a:t>
            </a:r>
            <a:r>
              <a:rPr lang="en-US" altLang="zh-CN" sz="2000" dirty="0">
                <a:solidFill>
                  <a:schemeClr val="tx1"/>
                </a:solidFill>
              </a:rPr>
              <a:t>DAC</a:t>
            </a:r>
            <a:r>
              <a:rPr lang="zh-CN" altLang="en-US" sz="2000" dirty="0">
                <a:solidFill>
                  <a:schemeClr val="tx1"/>
                </a:solidFill>
              </a:rPr>
              <a:t>）</a:t>
            </a:r>
          </a:p>
          <a:p>
            <a:pPr marL="985838" indent="-357188" algn="just">
              <a:lnSpc>
                <a:spcPct val="150000"/>
              </a:lnSpc>
              <a:buFont typeface="Wingdings" panose="05000000000000000000" pitchFamily="2" charset="2"/>
              <a:buChar char="Ø"/>
            </a:pPr>
            <a:r>
              <a:rPr lang="en-US" altLang="zh-CN" sz="2000" dirty="0">
                <a:solidFill>
                  <a:schemeClr val="tx1"/>
                </a:solidFill>
              </a:rPr>
              <a:t>C2</a:t>
            </a:r>
            <a:r>
              <a:rPr lang="zh-CN" altLang="en-US" sz="2000" dirty="0">
                <a:solidFill>
                  <a:schemeClr val="tx1"/>
                </a:solidFill>
              </a:rPr>
              <a:t>级</a:t>
            </a:r>
          </a:p>
          <a:p>
            <a:pPr marL="985838" indent="-357188" algn="just">
              <a:lnSpc>
                <a:spcPct val="150000"/>
              </a:lnSpc>
              <a:buFont typeface="Wingdings" panose="05000000000000000000" pitchFamily="2" charset="2"/>
              <a:buChar char="Ø"/>
            </a:pPr>
            <a:r>
              <a:rPr lang="zh-CN" altLang="en-US" sz="2000" dirty="0">
                <a:solidFill>
                  <a:schemeClr val="tx1"/>
                </a:solidFill>
              </a:rPr>
              <a:t>用户对不同的数据对象有不同的存取权限</a:t>
            </a:r>
          </a:p>
          <a:p>
            <a:pPr marL="985838" indent="-357188" algn="just">
              <a:lnSpc>
                <a:spcPct val="150000"/>
              </a:lnSpc>
              <a:buFont typeface="Wingdings" panose="05000000000000000000" pitchFamily="2" charset="2"/>
              <a:buChar char="Ø"/>
            </a:pPr>
            <a:r>
              <a:rPr lang="zh-CN" altLang="en-US" sz="2000" dirty="0">
                <a:solidFill>
                  <a:schemeClr val="tx1"/>
                </a:solidFill>
              </a:rPr>
              <a:t>不同的用户对同一对象也有不同的权限</a:t>
            </a:r>
          </a:p>
          <a:p>
            <a:pPr marL="985838" indent="-357188" algn="just">
              <a:lnSpc>
                <a:spcPct val="150000"/>
              </a:lnSpc>
              <a:buFont typeface="Wingdings" panose="05000000000000000000" pitchFamily="2" charset="2"/>
              <a:buChar char="Ø"/>
            </a:pPr>
            <a:r>
              <a:rPr lang="zh-CN" altLang="en-US" sz="2000" dirty="0">
                <a:solidFill>
                  <a:schemeClr val="tx1"/>
                </a:solidFill>
              </a:rPr>
              <a:t>用户还可将其拥有的存取权限转授给其他用户</a:t>
            </a:r>
          </a:p>
        </p:txBody>
      </p:sp>
    </p:spTree>
    <p:extLst>
      <p:ext uri="{BB962C8B-B14F-4D97-AF65-F5344CB8AC3E}">
        <p14:creationId xmlns:p14="http://schemas.microsoft.com/office/powerpoint/2010/main" val="53553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65586-B745-6CEE-5663-228E60659DB0}"/>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BEBF7A84-AFEC-B663-032F-2FD3497252E4}"/>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A60830C4-D48D-4008-4DB4-CAAFA3D3B61F}"/>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存取控制</a:t>
            </a:r>
          </a:p>
        </p:txBody>
      </p:sp>
      <p:sp>
        <p:nvSpPr>
          <p:cNvPr id="3" name="矩形 2">
            <a:extLst>
              <a:ext uri="{FF2B5EF4-FFF2-40B4-BE49-F238E27FC236}">
                <a16:creationId xmlns:a16="http://schemas.microsoft.com/office/drawing/2014/main" id="{E7D143A1-FDF8-9654-21DD-9204EF798FE4}"/>
              </a:ext>
            </a:extLst>
          </p:cNvPr>
          <p:cNvSpPr/>
          <p:nvPr/>
        </p:nvSpPr>
        <p:spPr>
          <a:xfrm>
            <a:off x="508608" y="1905794"/>
            <a:ext cx="11286490" cy="2971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pPr>
            <a:r>
              <a:rPr lang="zh-CN" altLang="en-US" sz="2000" dirty="0">
                <a:solidFill>
                  <a:schemeClr val="tx1"/>
                </a:solidFill>
              </a:rPr>
              <a:t>常用的存取控制方法：</a:t>
            </a:r>
          </a:p>
          <a:p>
            <a:pPr marL="628650" indent="-358775" algn="just">
              <a:lnSpc>
                <a:spcPct val="150000"/>
              </a:lnSpc>
              <a:buFont typeface="Wingdings" panose="05000000000000000000" pitchFamily="2" charset="2"/>
              <a:buChar char="l"/>
            </a:pPr>
            <a:r>
              <a:rPr lang="zh-CN" altLang="en-US" sz="2000" dirty="0">
                <a:solidFill>
                  <a:schemeClr val="tx1"/>
                </a:solidFill>
              </a:rPr>
              <a:t>强制存取控制（</a:t>
            </a:r>
            <a:r>
              <a:rPr lang="en-US" altLang="zh-CN" sz="2000" dirty="0">
                <a:solidFill>
                  <a:schemeClr val="tx1"/>
                </a:solidFill>
              </a:rPr>
              <a:t>Mandatory Access Control </a:t>
            </a:r>
            <a:r>
              <a:rPr lang="zh-CN" altLang="en-US" sz="2000" dirty="0">
                <a:solidFill>
                  <a:schemeClr val="tx1"/>
                </a:solidFill>
              </a:rPr>
              <a:t>，</a:t>
            </a:r>
            <a:r>
              <a:rPr lang="en-US" altLang="zh-CN" sz="2000" dirty="0">
                <a:solidFill>
                  <a:schemeClr val="tx1"/>
                </a:solidFill>
              </a:rPr>
              <a:t>MAC</a:t>
            </a:r>
            <a:r>
              <a:rPr lang="zh-CN" altLang="en-US" sz="2000" dirty="0">
                <a:solidFill>
                  <a:schemeClr val="tx1"/>
                </a:solidFill>
              </a:rPr>
              <a:t>）</a:t>
            </a:r>
          </a:p>
          <a:p>
            <a:pPr marL="985838" indent="-357188" algn="just">
              <a:lnSpc>
                <a:spcPct val="150000"/>
              </a:lnSpc>
              <a:buFont typeface="Wingdings" panose="05000000000000000000" pitchFamily="2" charset="2"/>
              <a:buChar char="Ø"/>
            </a:pPr>
            <a:r>
              <a:rPr lang="en-US" altLang="zh-CN" sz="2000" dirty="0">
                <a:solidFill>
                  <a:schemeClr val="tx1"/>
                </a:solidFill>
              </a:rPr>
              <a:t>B1</a:t>
            </a:r>
            <a:r>
              <a:rPr lang="zh-CN" altLang="en-US" sz="2000" dirty="0">
                <a:solidFill>
                  <a:schemeClr val="tx1"/>
                </a:solidFill>
              </a:rPr>
              <a:t>级</a:t>
            </a:r>
          </a:p>
          <a:p>
            <a:pPr marL="985838" indent="-357188" algn="just">
              <a:lnSpc>
                <a:spcPct val="150000"/>
              </a:lnSpc>
              <a:buFont typeface="Wingdings" panose="05000000000000000000" pitchFamily="2" charset="2"/>
              <a:buChar char="Ø"/>
            </a:pPr>
            <a:r>
              <a:rPr lang="zh-CN" altLang="en-US" sz="2000" dirty="0">
                <a:solidFill>
                  <a:schemeClr val="tx1"/>
                </a:solidFill>
              </a:rPr>
              <a:t>每个数据对象被标以一定的密级</a:t>
            </a:r>
            <a:endParaRPr lang="en-US" altLang="zh-CN" sz="2000" dirty="0">
              <a:solidFill>
                <a:schemeClr val="tx1"/>
              </a:solidFill>
            </a:endParaRPr>
          </a:p>
          <a:p>
            <a:pPr marL="985838" indent="-357188" algn="just">
              <a:lnSpc>
                <a:spcPct val="150000"/>
              </a:lnSpc>
              <a:buFont typeface="Wingdings" panose="05000000000000000000" pitchFamily="2" charset="2"/>
              <a:buChar char="Ø"/>
            </a:pPr>
            <a:r>
              <a:rPr lang="zh-CN" altLang="en-US" sz="2000" dirty="0">
                <a:solidFill>
                  <a:schemeClr val="tx1"/>
                </a:solidFill>
              </a:rPr>
              <a:t>每个用户也被授予某一个级别的许可证</a:t>
            </a:r>
          </a:p>
          <a:p>
            <a:pPr marL="985838" indent="-357188" algn="just">
              <a:lnSpc>
                <a:spcPct val="150000"/>
              </a:lnSpc>
              <a:buFont typeface="Wingdings" panose="05000000000000000000" pitchFamily="2" charset="2"/>
              <a:buChar char="Ø"/>
            </a:pPr>
            <a:r>
              <a:rPr lang="zh-CN" altLang="en-US" sz="2000" dirty="0">
                <a:solidFill>
                  <a:schemeClr val="tx1"/>
                </a:solidFill>
              </a:rPr>
              <a:t>对于任意一个对象，只有具有合法许可证的用户才可以存取</a:t>
            </a:r>
          </a:p>
        </p:txBody>
      </p:sp>
    </p:spTree>
    <p:extLst>
      <p:ext uri="{BB962C8B-B14F-4D97-AF65-F5344CB8AC3E}">
        <p14:creationId xmlns:p14="http://schemas.microsoft.com/office/powerpoint/2010/main" val="249651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FFC86-C32F-9009-12EF-6509F03CD4C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6984ABC-FFDE-828C-BB34-78448BA3422B}"/>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5" name="内容占位符 4">
            <a:extLst>
              <a:ext uri="{FF2B5EF4-FFF2-40B4-BE49-F238E27FC236}">
                <a16:creationId xmlns:a16="http://schemas.microsoft.com/office/drawing/2014/main" id="{0C876D5D-CD53-DF4C-DFCA-ECC249C9C221}"/>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用户存取权限控制：</a:t>
            </a:r>
            <a:r>
              <a:rPr lang="en-US" altLang="zh-CN" dirty="0"/>
              <a:t> </a:t>
            </a:r>
            <a:endParaRPr lang="zh-CN" altLang="en-US" dirty="0"/>
          </a:p>
        </p:txBody>
      </p:sp>
      <p:sp>
        <p:nvSpPr>
          <p:cNvPr id="33" name="内容占位符 4">
            <a:extLst>
              <a:ext uri="{FF2B5EF4-FFF2-40B4-BE49-F238E27FC236}">
                <a16:creationId xmlns:a16="http://schemas.microsoft.com/office/drawing/2014/main" id="{65834A2A-A2F4-6092-3483-7385C8C9A7D9}"/>
              </a:ext>
            </a:extLst>
          </p:cNvPr>
          <p:cNvSpPr>
            <a:spLocks noGrp="1"/>
          </p:cNvSpPr>
          <p:nvPr/>
        </p:nvSpPr>
        <p:spPr>
          <a:xfrm>
            <a:off x="1222375" y="1981835"/>
            <a:ext cx="1031748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用户存取权限是指用户对于不同的数据对象（库、表、视图等）允许执行的操作权限。</a:t>
            </a:r>
          </a:p>
        </p:txBody>
      </p:sp>
      <p:sp>
        <p:nvSpPr>
          <p:cNvPr id="8" name="Freeform 7">
            <a:extLst>
              <a:ext uri="{FF2B5EF4-FFF2-40B4-BE49-F238E27FC236}">
                <a16:creationId xmlns:a16="http://schemas.microsoft.com/office/drawing/2014/main" id="{19C52E8C-B907-2122-0A2D-42FE7936A754}"/>
              </a:ext>
            </a:extLst>
          </p:cNvPr>
          <p:cNvSpPr/>
          <p:nvPr/>
        </p:nvSpPr>
        <p:spPr bwMode="auto">
          <a:xfrm>
            <a:off x="3508471" y="3962975"/>
            <a:ext cx="2133183" cy="937201"/>
          </a:xfrm>
          <a:custGeom>
            <a:avLst/>
            <a:gdLst>
              <a:gd name="T0" fmla="*/ 0 w 1525"/>
              <a:gd name="T1" fmla="*/ 670 h 670"/>
              <a:gd name="T2" fmla="*/ 1190 w 1525"/>
              <a:gd name="T3" fmla="*/ 670 h 670"/>
              <a:gd name="T4" fmla="*/ 1525 w 1525"/>
              <a:gd name="T5" fmla="*/ 336 h 670"/>
              <a:gd name="T6" fmla="*/ 1190 w 1525"/>
              <a:gd name="T7" fmla="*/ 0 h 670"/>
              <a:gd name="T8" fmla="*/ 0 w 1525"/>
              <a:gd name="T9" fmla="*/ 0 h 670"/>
              <a:gd name="T10" fmla="*/ 0 w 1525"/>
              <a:gd name="T11" fmla="*/ 670 h 670"/>
              <a:gd name="T12" fmla="*/ 0 w 1525"/>
              <a:gd name="T13" fmla="*/ 670 h 670"/>
            </a:gdLst>
            <a:ahLst/>
            <a:cxnLst>
              <a:cxn ang="0">
                <a:pos x="T0" y="T1"/>
              </a:cxn>
              <a:cxn ang="0">
                <a:pos x="T2" y="T3"/>
              </a:cxn>
              <a:cxn ang="0">
                <a:pos x="T4" y="T5"/>
              </a:cxn>
              <a:cxn ang="0">
                <a:pos x="T6" y="T7"/>
              </a:cxn>
              <a:cxn ang="0">
                <a:pos x="T8" y="T9"/>
              </a:cxn>
              <a:cxn ang="0">
                <a:pos x="T10" y="T11"/>
              </a:cxn>
              <a:cxn ang="0">
                <a:pos x="T12" y="T13"/>
              </a:cxn>
            </a:cxnLst>
            <a:rect l="0" t="0" r="r" b="b"/>
            <a:pathLst>
              <a:path w="1525" h="670">
                <a:moveTo>
                  <a:pt x="0" y="670"/>
                </a:moveTo>
                <a:lnTo>
                  <a:pt x="1190" y="670"/>
                </a:lnTo>
                <a:lnTo>
                  <a:pt x="1525" y="336"/>
                </a:lnTo>
                <a:lnTo>
                  <a:pt x="1190" y="0"/>
                </a:lnTo>
                <a:lnTo>
                  <a:pt x="0" y="0"/>
                </a:lnTo>
                <a:lnTo>
                  <a:pt x="0" y="670"/>
                </a:lnTo>
                <a:lnTo>
                  <a:pt x="0" y="670"/>
                </a:lnTo>
                <a:close/>
              </a:path>
            </a:pathLst>
          </a:custGeom>
          <a:solidFill>
            <a:schemeClr val="accent1"/>
          </a:solidFill>
          <a:ln>
            <a:noFill/>
          </a:ln>
        </p:spPr>
        <p:txBody>
          <a:bodyPr vert="horz" wrap="square" lIns="91440" tIns="45720" rIns="91440" bIns="45720" numCol="1" anchor="t" anchorCtr="0" compatLnSpc="1"/>
          <a:lstStyle/>
          <a:p>
            <a:endParaRPr lang="en-US" sz="2000" dirty="0"/>
          </a:p>
        </p:txBody>
      </p:sp>
      <p:sp>
        <p:nvSpPr>
          <p:cNvPr id="9" name="Freeform 8">
            <a:extLst>
              <a:ext uri="{FF2B5EF4-FFF2-40B4-BE49-F238E27FC236}">
                <a16:creationId xmlns:a16="http://schemas.microsoft.com/office/drawing/2014/main" id="{5EC0F571-1226-30AE-93C0-6740126E0855}"/>
              </a:ext>
            </a:extLst>
          </p:cNvPr>
          <p:cNvSpPr/>
          <p:nvPr/>
        </p:nvSpPr>
        <p:spPr bwMode="auto">
          <a:xfrm>
            <a:off x="4289006" y="3471993"/>
            <a:ext cx="228006" cy="622470"/>
          </a:xfrm>
          <a:custGeom>
            <a:avLst/>
            <a:gdLst>
              <a:gd name="T0" fmla="*/ 41 w 69"/>
              <a:gd name="T1" fmla="*/ 126 h 188"/>
              <a:gd name="T2" fmla="*/ 66 w 69"/>
              <a:gd name="T3" fmla="*/ 157 h 188"/>
              <a:gd name="T4" fmla="*/ 35 w 69"/>
              <a:gd name="T5" fmla="*/ 188 h 188"/>
              <a:gd name="T6" fmla="*/ 3 w 69"/>
              <a:gd name="T7" fmla="*/ 157 h 188"/>
              <a:gd name="T8" fmla="*/ 28 w 69"/>
              <a:gd name="T9" fmla="*/ 126 h 188"/>
              <a:gd name="T10" fmla="*/ 28 w 69"/>
              <a:gd name="T11" fmla="*/ 63 h 188"/>
              <a:gd name="T12" fmla="*/ 0 w 69"/>
              <a:gd name="T13" fmla="*/ 63 h 188"/>
              <a:gd name="T14" fmla="*/ 35 w 69"/>
              <a:gd name="T15" fmla="*/ 0 h 188"/>
              <a:gd name="T16" fmla="*/ 69 w 69"/>
              <a:gd name="T17" fmla="*/ 63 h 188"/>
              <a:gd name="T18" fmla="*/ 41 w 69"/>
              <a:gd name="T19" fmla="*/ 63 h 188"/>
              <a:gd name="T20" fmla="*/ 41 w 69"/>
              <a:gd name="T21"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41" y="126"/>
                </a:moveTo>
                <a:cubicBezTo>
                  <a:pt x="55"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ubicBezTo>
                  <a:pt x="41" y="63"/>
                  <a:pt x="41" y="63"/>
                  <a:pt x="41" y="63"/>
                </a:cubicBezTo>
                <a:cubicBezTo>
                  <a:pt x="41" y="126"/>
                  <a:pt x="41" y="126"/>
                  <a:pt x="41" y="126"/>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0" name="Freeform 9">
            <a:extLst>
              <a:ext uri="{FF2B5EF4-FFF2-40B4-BE49-F238E27FC236}">
                <a16:creationId xmlns:a16="http://schemas.microsoft.com/office/drawing/2014/main" id="{37021BFD-8796-D929-1810-1756E7B88203}"/>
              </a:ext>
            </a:extLst>
          </p:cNvPr>
          <p:cNvSpPr/>
          <p:nvPr/>
        </p:nvSpPr>
        <p:spPr bwMode="auto">
          <a:xfrm>
            <a:off x="5173054" y="3962975"/>
            <a:ext cx="2133183" cy="937201"/>
          </a:xfrm>
          <a:custGeom>
            <a:avLst/>
            <a:gdLst>
              <a:gd name="T0" fmla="*/ 0 w 1525"/>
              <a:gd name="T1" fmla="*/ 670 h 670"/>
              <a:gd name="T2" fmla="*/ 1189 w 1525"/>
              <a:gd name="T3" fmla="*/ 670 h 670"/>
              <a:gd name="T4" fmla="*/ 1525 w 1525"/>
              <a:gd name="T5" fmla="*/ 334 h 670"/>
              <a:gd name="T6" fmla="*/ 1189 w 1525"/>
              <a:gd name="T7" fmla="*/ 0 h 670"/>
              <a:gd name="T8" fmla="*/ 0 w 1525"/>
              <a:gd name="T9" fmla="*/ 0 h 670"/>
              <a:gd name="T10" fmla="*/ 0 w 1525"/>
              <a:gd name="T11" fmla="*/ 0 h 670"/>
              <a:gd name="T12" fmla="*/ 335 w 1525"/>
              <a:gd name="T13" fmla="*/ 336 h 670"/>
              <a:gd name="T14" fmla="*/ 0 w 1525"/>
              <a:gd name="T15" fmla="*/ 670 h 670"/>
              <a:gd name="T16" fmla="*/ 0 w 1525"/>
              <a:gd name="T17" fmla="*/ 670 h 670"/>
              <a:gd name="T18" fmla="*/ 0 w 1525"/>
              <a:gd name="T1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5" h="670">
                <a:moveTo>
                  <a:pt x="0" y="670"/>
                </a:moveTo>
                <a:lnTo>
                  <a:pt x="1189" y="670"/>
                </a:lnTo>
                <a:lnTo>
                  <a:pt x="1525" y="334"/>
                </a:lnTo>
                <a:lnTo>
                  <a:pt x="1189" y="0"/>
                </a:lnTo>
                <a:lnTo>
                  <a:pt x="0" y="0"/>
                </a:lnTo>
                <a:lnTo>
                  <a:pt x="0" y="0"/>
                </a:lnTo>
                <a:lnTo>
                  <a:pt x="335" y="336"/>
                </a:lnTo>
                <a:lnTo>
                  <a:pt x="0" y="670"/>
                </a:lnTo>
                <a:lnTo>
                  <a:pt x="0" y="670"/>
                </a:lnTo>
                <a:lnTo>
                  <a:pt x="0" y="670"/>
                </a:lnTo>
                <a:close/>
              </a:path>
            </a:pathLst>
          </a:custGeom>
          <a:solidFill>
            <a:schemeClr val="accent2"/>
          </a:solidFill>
          <a:ln>
            <a:noFill/>
          </a:ln>
        </p:spPr>
        <p:txBody>
          <a:bodyPr vert="horz" wrap="square" lIns="91440" tIns="45720" rIns="91440" bIns="45720" numCol="1" anchor="t" anchorCtr="0" compatLnSpc="1"/>
          <a:lstStyle/>
          <a:p>
            <a:endParaRPr lang="en-US" sz="2000"/>
          </a:p>
        </p:txBody>
      </p:sp>
      <p:sp>
        <p:nvSpPr>
          <p:cNvPr id="11" name="Freeform 10">
            <a:extLst>
              <a:ext uri="{FF2B5EF4-FFF2-40B4-BE49-F238E27FC236}">
                <a16:creationId xmlns:a16="http://schemas.microsoft.com/office/drawing/2014/main" id="{C34F0A0C-4DF8-1EC5-5842-7345DC38B2F5}"/>
              </a:ext>
            </a:extLst>
          </p:cNvPr>
          <p:cNvSpPr/>
          <p:nvPr/>
        </p:nvSpPr>
        <p:spPr bwMode="auto">
          <a:xfrm>
            <a:off x="5963380" y="3471993"/>
            <a:ext cx="225209" cy="622470"/>
          </a:xfrm>
          <a:custGeom>
            <a:avLst/>
            <a:gdLst>
              <a:gd name="T0" fmla="*/ 41 w 68"/>
              <a:gd name="T1" fmla="*/ 126 h 188"/>
              <a:gd name="T2" fmla="*/ 66 w 68"/>
              <a:gd name="T3" fmla="*/ 157 h 188"/>
              <a:gd name="T4" fmla="*/ 34 w 68"/>
              <a:gd name="T5" fmla="*/ 188 h 188"/>
              <a:gd name="T6" fmla="*/ 2 w 68"/>
              <a:gd name="T7" fmla="*/ 157 h 188"/>
              <a:gd name="T8" fmla="*/ 27 w 68"/>
              <a:gd name="T9" fmla="*/ 126 h 188"/>
              <a:gd name="T10" fmla="*/ 27 w 68"/>
              <a:gd name="T11" fmla="*/ 63 h 188"/>
              <a:gd name="T12" fmla="*/ 0 w 68"/>
              <a:gd name="T13" fmla="*/ 63 h 188"/>
              <a:gd name="T14" fmla="*/ 34 w 68"/>
              <a:gd name="T15" fmla="*/ 0 h 188"/>
              <a:gd name="T16" fmla="*/ 68 w 68"/>
              <a:gd name="T17" fmla="*/ 63 h 188"/>
              <a:gd name="T18" fmla="*/ 41 w 68"/>
              <a:gd name="T19" fmla="*/ 63 h 188"/>
              <a:gd name="T20" fmla="*/ 41 w 68"/>
              <a:gd name="T21"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88">
                <a:moveTo>
                  <a:pt x="41" y="126"/>
                </a:moveTo>
                <a:cubicBezTo>
                  <a:pt x="55" y="129"/>
                  <a:pt x="66" y="142"/>
                  <a:pt x="66" y="157"/>
                </a:cubicBezTo>
                <a:cubicBezTo>
                  <a:pt x="66" y="174"/>
                  <a:pt x="51" y="188"/>
                  <a:pt x="34" y="188"/>
                </a:cubicBezTo>
                <a:cubicBezTo>
                  <a:pt x="16" y="188"/>
                  <a:pt x="2" y="174"/>
                  <a:pt x="2" y="157"/>
                </a:cubicBezTo>
                <a:cubicBezTo>
                  <a:pt x="2" y="142"/>
                  <a:pt x="13" y="129"/>
                  <a:pt x="27" y="126"/>
                </a:cubicBezTo>
                <a:cubicBezTo>
                  <a:pt x="27" y="63"/>
                  <a:pt x="27" y="63"/>
                  <a:pt x="27" y="63"/>
                </a:cubicBezTo>
                <a:cubicBezTo>
                  <a:pt x="0" y="63"/>
                  <a:pt x="0" y="63"/>
                  <a:pt x="0" y="63"/>
                </a:cubicBezTo>
                <a:cubicBezTo>
                  <a:pt x="34" y="0"/>
                  <a:pt x="34" y="0"/>
                  <a:pt x="34" y="0"/>
                </a:cubicBezTo>
                <a:cubicBezTo>
                  <a:pt x="68" y="63"/>
                  <a:pt x="68" y="63"/>
                  <a:pt x="68" y="63"/>
                </a:cubicBezTo>
                <a:cubicBezTo>
                  <a:pt x="41" y="63"/>
                  <a:pt x="41" y="63"/>
                  <a:pt x="41" y="63"/>
                </a:cubicBezTo>
                <a:cubicBezTo>
                  <a:pt x="41" y="126"/>
                  <a:pt x="41" y="126"/>
                  <a:pt x="41" y="126"/>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2" name="Freeform 11">
            <a:extLst>
              <a:ext uri="{FF2B5EF4-FFF2-40B4-BE49-F238E27FC236}">
                <a16:creationId xmlns:a16="http://schemas.microsoft.com/office/drawing/2014/main" id="{9A6A1576-ABB8-F6C4-93E1-B12726686EFA}"/>
              </a:ext>
            </a:extLst>
          </p:cNvPr>
          <p:cNvSpPr/>
          <p:nvPr/>
        </p:nvSpPr>
        <p:spPr bwMode="auto">
          <a:xfrm>
            <a:off x="6836237" y="3962975"/>
            <a:ext cx="2130386" cy="937201"/>
          </a:xfrm>
          <a:custGeom>
            <a:avLst/>
            <a:gdLst>
              <a:gd name="T0" fmla="*/ 0 w 1523"/>
              <a:gd name="T1" fmla="*/ 670 h 670"/>
              <a:gd name="T2" fmla="*/ 1190 w 1523"/>
              <a:gd name="T3" fmla="*/ 670 h 670"/>
              <a:gd name="T4" fmla="*/ 1523 w 1523"/>
              <a:gd name="T5" fmla="*/ 334 h 670"/>
              <a:gd name="T6" fmla="*/ 1190 w 1523"/>
              <a:gd name="T7" fmla="*/ 0 h 670"/>
              <a:gd name="T8" fmla="*/ 0 w 1523"/>
              <a:gd name="T9" fmla="*/ 0 h 670"/>
              <a:gd name="T10" fmla="*/ 336 w 1523"/>
              <a:gd name="T11" fmla="*/ 334 h 670"/>
              <a:gd name="T12" fmla="*/ 0 w 1523"/>
              <a:gd name="T13" fmla="*/ 670 h 670"/>
              <a:gd name="T14" fmla="*/ 0 w 1523"/>
              <a:gd name="T15" fmla="*/ 67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3" h="670">
                <a:moveTo>
                  <a:pt x="0" y="670"/>
                </a:moveTo>
                <a:lnTo>
                  <a:pt x="1190" y="670"/>
                </a:lnTo>
                <a:lnTo>
                  <a:pt x="1523" y="334"/>
                </a:lnTo>
                <a:lnTo>
                  <a:pt x="1190" y="0"/>
                </a:lnTo>
                <a:lnTo>
                  <a:pt x="0" y="0"/>
                </a:lnTo>
                <a:lnTo>
                  <a:pt x="336" y="334"/>
                </a:lnTo>
                <a:lnTo>
                  <a:pt x="0" y="670"/>
                </a:lnTo>
                <a:lnTo>
                  <a:pt x="0" y="67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3" name="Freeform 12">
            <a:extLst>
              <a:ext uri="{FF2B5EF4-FFF2-40B4-BE49-F238E27FC236}">
                <a16:creationId xmlns:a16="http://schemas.microsoft.com/office/drawing/2014/main" id="{60864CFE-D8E6-37AC-FFA9-FC3964646F38}"/>
              </a:ext>
            </a:extLst>
          </p:cNvPr>
          <p:cNvSpPr/>
          <p:nvPr/>
        </p:nvSpPr>
        <p:spPr bwMode="auto">
          <a:xfrm>
            <a:off x="7640552" y="3471993"/>
            <a:ext cx="228006" cy="622470"/>
          </a:xfrm>
          <a:custGeom>
            <a:avLst/>
            <a:gdLst>
              <a:gd name="T0" fmla="*/ 69 w 69"/>
              <a:gd name="T1" fmla="*/ 63 h 188"/>
              <a:gd name="T2" fmla="*/ 41 w 69"/>
              <a:gd name="T3" fmla="*/ 63 h 188"/>
              <a:gd name="T4" fmla="*/ 41 w 69"/>
              <a:gd name="T5" fmla="*/ 126 h 188"/>
              <a:gd name="T6" fmla="*/ 66 w 69"/>
              <a:gd name="T7" fmla="*/ 157 h 188"/>
              <a:gd name="T8" fmla="*/ 35 w 69"/>
              <a:gd name="T9" fmla="*/ 188 h 188"/>
              <a:gd name="T10" fmla="*/ 3 w 69"/>
              <a:gd name="T11" fmla="*/ 157 h 188"/>
              <a:gd name="T12" fmla="*/ 28 w 69"/>
              <a:gd name="T13" fmla="*/ 126 h 188"/>
              <a:gd name="T14" fmla="*/ 28 w 69"/>
              <a:gd name="T15" fmla="*/ 63 h 188"/>
              <a:gd name="T16" fmla="*/ 0 w 69"/>
              <a:gd name="T17" fmla="*/ 63 h 188"/>
              <a:gd name="T18" fmla="*/ 35 w 69"/>
              <a:gd name="T19" fmla="*/ 0 h 188"/>
              <a:gd name="T20" fmla="*/ 69 w 69"/>
              <a:gd name="T21" fmla="*/ 6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69" y="63"/>
                </a:moveTo>
                <a:cubicBezTo>
                  <a:pt x="41" y="63"/>
                  <a:pt x="41" y="63"/>
                  <a:pt x="41" y="63"/>
                </a:cubicBezTo>
                <a:cubicBezTo>
                  <a:pt x="41" y="126"/>
                  <a:pt x="41" y="126"/>
                  <a:pt x="41" y="126"/>
                </a:cubicBezTo>
                <a:cubicBezTo>
                  <a:pt x="56"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20" name="Oval 20">
            <a:extLst>
              <a:ext uri="{FF2B5EF4-FFF2-40B4-BE49-F238E27FC236}">
                <a16:creationId xmlns:a16="http://schemas.microsoft.com/office/drawing/2014/main" id="{184C4A21-FF22-9089-C198-B057A7F05676}"/>
              </a:ext>
            </a:extLst>
          </p:cNvPr>
          <p:cNvSpPr>
            <a:spLocks noChangeArrowheads="1"/>
          </p:cNvSpPr>
          <p:nvPr/>
        </p:nvSpPr>
        <p:spPr bwMode="auto">
          <a:xfrm>
            <a:off x="5692616" y="2609533"/>
            <a:ext cx="766735" cy="766735"/>
          </a:xfrm>
          <a:prstGeom prst="ellipse">
            <a:avLst/>
          </a:prstGeom>
          <a:solidFill>
            <a:schemeClr val="accent2"/>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1" name="Oval 22">
            <a:extLst>
              <a:ext uri="{FF2B5EF4-FFF2-40B4-BE49-F238E27FC236}">
                <a16:creationId xmlns:a16="http://schemas.microsoft.com/office/drawing/2014/main" id="{DA63F52B-9136-38C3-B912-72FDA13C7C97}"/>
              </a:ext>
            </a:extLst>
          </p:cNvPr>
          <p:cNvSpPr>
            <a:spLocks noChangeArrowheads="1"/>
          </p:cNvSpPr>
          <p:nvPr/>
        </p:nvSpPr>
        <p:spPr bwMode="auto">
          <a:xfrm>
            <a:off x="7372586" y="2609533"/>
            <a:ext cx="766735" cy="766735"/>
          </a:xfrm>
          <a:prstGeom prst="ellipse">
            <a:avLst/>
          </a:prstGeom>
          <a:solidFill>
            <a:schemeClr val="accent3"/>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3" name="Oval 26">
            <a:extLst>
              <a:ext uri="{FF2B5EF4-FFF2-40B4-BE49-F238E27FC236}">
                <a16:creationId xmlns:a16="http://schemas.microsoft.com/office/drawing/2014/main" id="{8C0766B1-D525-CDAF-4B46-18ED905DA949}"/>
              </a:ext>
            </a:extLst>
          </p:cNvPr>
          <p:cNvSpPr>
            <a:spLocks noChangeArrowheads="1"/>
          </p:cNvSpPr>
          <p:nvPr/>
        </p:nvSpPr>
        <p:spPr bwMode="auto">
          <a:xfrm>
            <a:off x="4017821" y="2609533"/>
            <a:ext cx="770379" cy="766735"/>
          </a:xfrm>
          <a:prstGeom prst="ellipse">
            <a:avLst/>
          </a:prstGeom>
          <a:solidFill>
            <a:schemeClr val="accent1"/>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8" name="Inhaltsplatzhalter 4">
            <a:extLst>
              <a:ext uri="{FF2B5EF4-FFF2-40B4-BE49-F238E27FC236}">
                <a16:creationId xmlns:a16="http://schemas.microsoft.com/office/drawing/2014/main" id="{0600CF37-DF98-063D-08FD-6FD4124DB90D}"/>
              </a:ext>
            </a:extLst>
          </p:cNvPr>
          <p:cNvSpPr txBox="1"/>
          <p:nvPr/>
        </p:nvSpPr>
        <p:spPr>
          <a:xfrm>
            <a:off x="3739988" y="4313135"/>
            <a:ext cx="1330084" cy="307777"/>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2000" dirty="0">
                <a:latin typeface="+mn-ea"/>
              </a:rPr>
              <a:t>库权限</a:t>
            </a:r>
          </a:p>
        </p:txBody>
      </p:sp>
      <p:sp>
        <p:nvSpPr>
          <p:cNvPr id="30" name="Inhaltsplatzhalter 4">
            <a:extLst>
              <a:ext uri="{FF2B5EF4-FFF2-40B4-BE49-F238E27FC236}">
                <a16:creationId xmlns:a16="http://schemas.microsoft.com/office/drawing/2014/main" id="{BC457A9C-1D21-A1A5-19F6-3FA7389FE280}"/>
              </a:ext>
            </a:extLst>
          </p:cNvPr>
          <p:cNvSpPr txBox="1"/>
          <p:nvPr/>
        </p:nvSpPr>
        <p:spPr>
          <a:xfrm>
            <a:off x="5603254" y="4313135"/>
            <a:ext cx="1330084" cy="307777"/>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2000" dirty="0">
                <a:latin typeface="+mn-ea"/>
              </a:rPr>
              <a:t>表权限</a:t>
            </a:r>
          </a:p>
        </p:txBody>
      </p:sp>
      <p:sp>
        <p:nvSpPr>
          <p:cNvPr id="31" name="Inhaltsplatzhalter 4">
            <a:extLst>
              <a:ext uri="{FF2B5EF4-FFF2-40B4-BE49-F238E27FC236}">
                <a16:creationId xmlns:a16="http://schemas.microsoft.com/office/drawing/2014/main" id="{EDC844E9-7027-2984-83DD-2359D2729BE9}"/>
              </a:ext>
            </a:extLst>
          </p:cNvPr>
          <p:cNvSpPr txBox="1"/>
          <p:nvPr/>
        </p:nvSpPr>
        <p:spPr>
          <a:xfrm>
            <a:off x="7306237" y="4313135"/>
            <a:ext cx="1330084" cy="307777"/>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2000" dirty="0">
                <a:latin typeface="+mn-ea"/>
              </a:rPr>
              <a:t>视图权限等</a:t>
            </a:r>
          </a:p>
        </p:txBody>
      </p:sp>
      <p:grpSp>
        <p:nvGrpSpPr>
          <p:cNvPr id="32" name="Group 36">
            <a:extLst>
              <a:ext uri="{FF2B5EF4-FFF2-40B4-BE49-F238E27FC236}">
                <a16:creationId xmlns:a16="http://schemas.microsoft.com/office/drawing/2014/main" id="{BC04BBCD-E7ED-0D67-45E3-7DA23D8C716C}"/>
              </a:ext>
            </a:extLst>
          </p:cNvPr>
          <p:cNvGrpSpPr/>
          <p:nvPr/>
        </p:nvGrpSpPr>
        <p:grpSpPr>
          <a:xfrm>
            <a:off x="4179268" y="2774940"/>
            <a:ext cx="448352" cy="447193"/>
            <a:chOff x="674688" y="3432176"/>
            <a:chExt cx="614363" cy="612775"/>
          </a:xfrm>
          <a:solidFill>
            <a:schemeClr val="bg1"/>
          </a:solidFill>
        </p:grpSpPr>
        <p:sp>
          <p:nvSpPr>
            <p:cNvPr id="14" name="Freeform 37">
              <a:extLst>
                <a:ext uri="{FF2B5EF4-FFF2-40B4-BE49-F238E27FC236}">
                  <a16:creationId xmlns:a16="http://schemas.microsoft.com/office/drawing/2014/main" id="{8F77E02B-E8EE-1E21-264B-65459032B217}"/>
                </a:ext>
              </a:extLst>
            </p:cNvPr>
            <p:cNvSpPr/>
            <p:nvPr/>
          </p:nvSpPr>
          <p:spPr bwMode="auto">
            <a:xfrm>
              <a:off x="674688" y="3432176"/>
              <a:ext cx="361950" cy="287338"/>
            </a:xfrm>
            <a:custGeom>
              <a:avLst/>
              <a:gdLst>
                <a:gd name="T0" fmla="*/ 1151 w 2052"/>
                <a:gd name="T1" fmla="*/ 3 h 1632"/>
                <a:gd name="T2" fmla="*/ 1296 w 2052"/>
                <a:gd name="T3" fmla="*/ 22 h 1632"/>
                <a:gd name="T4" fmla="*/ 1436 w 2052"/>
                <a:gd name="T5" fmla="*/ 60 h 1632"/>
                <a:gd name="T6" fmla="*/ 1569 w 2052"/>
                <a:gd name="T7" fmla="*/ 116 h 1632"/>
                <a:gd name="T8" fmla="*/ 1694 w 2052"/>
                <a:gd name="T9" fmla="*/ 189 h 1632"/>
                <a:gd name="T10" fmla="*/ 1810 w 2052"/>
                <a:gd name="T11" fmla="*/ 280 h 1632"/>
                <a:gd name="T12" fmla="*/ 1914 w 2052"/>
                <a:gd name="T13" fmla="*/ 386 h 1632"/>
                <a:gd name="T14" fmla="*/ 2003 w 2052"/>
                <a:gd name="T15" fmla="*/ 509 h 1632"/>
                <a:gd name="T16" fmla="*/ 2050 w 2052"/>
                <a:gd name="T17" fmla="*/ 594 h 1632"/>
                <a:gd name="T18" fmla="*/ 2049 w 2052"/>
                <a:gd name="T19" fmla="*/ 632 h 1632"/>
                <a:gd name="T20" fmla="*/ 2029 w 2052"/>
                <a:gd name="T21" fmla="*/ 666 h 1632"/>
                <a:gd name="T22" fmla="*/ 1993 w 2052"/>
                <a:gd name="T23" fmla="*/ 686 h 1632"/>
                <a:gd name="T24" fmla="*/ 1954 w 2052"/>
                <a:gd name="T25" fmla="*/ 686 h 1632"/>
                <a:gd name="T26" fmla="*/ 1920 w 2052"/>
                <a:gd name="T27" fmla="*/ 665 h 1632"/>
                <a:gd name="T28" fmla="*/ 1872 w 2052"/>
                <a:gd name="T29" fmla="*/ 585 h 1632"/>
                <a:gd name="T30" fmla="*/ 1788 w 2052"/>
                <a:gd name="T31" fmla="*/ 467 h 1632"/>
                <a:gd name="T32" fmla="*/ 1689 w 2052"/>
                <a:gd name="T33" fmla="*/ 367 h 1632"/>
                <a:gd name="T34" fmla="*/ 1579 w 2052"/>
                <a:gd name="T35" fmla="*/ 285 h 1632"/>
                <a:gd name="T36" fmla="*/ 1458 w 2052"/>
                <a:gd name="T37" fmla="*/ 221 h 1632"/>
                <a:gd name="T38" fmla="*/ 1329 w 2052"/>
                <a:gd name="T39" fmla="*/ 175 h 1632"/>
                <a:gd name="T40" fmla="*/ 1196 w 2052"/>
                <a:gd name="T41" fmla="*/ 150 h 1632"/>
                <a:gd name="T42" fmla="*/ 1058 w 2052"/>
                <a:gd name="T43" fmla="*/ 143 h 1632"/>
                <a:gd name="T44" fmla="*/ 920 w 2052"/>
                <a:gd name="T45" fmla="*/ 158 h 1632"/>
                <a:gd name="T46" fmla="*/ 783 w 2052"/>
                <a:gd name="T47" fmla="*/ 195 h 1632"/>
                <a:gd name="T48" fmla="*/ 648 w 2052"/>
                <a:gd name="T49" fmla="*/ 253 h 1632"/>
                <a:gd name="T50" fmla="*/ 525 w 2052"/>
                <a:gd name="T51" fmla="*/ 332 h 1632"/>
                <a:gd name="T52" fmla="*/ 418 w 2052"/>
                <a:gd name="T53" fmla="*/ 425 h 1632"/>
                <a:gd name="T54" fmla="*/ 328 w 2052"/>
                <a:gd name="T55" fmla="*/ 532 h 1632"/>
                <a:gd name="T56" fmla="*/ 256 w 2052"/>
                <a:gd name="T57" fmla="*/ 649 h 1632"/>
                <a:gd name="T58" fmla="*/ 202 w 2052"/>
                <a:gd name="T59" fmla="*/ 776 h 1632"/>
                <a:gd name="T60" fmla="*/ 167 w 2052"/>
                <a:gd name="T61" fmla="*/ 909 h 1632"/>
                <a:gd name="T62" fmla="*/ 151 w 2052"/>
                <a:gd name="T63" fmla="*/ 1045 h 1632"/>
                <a:gd name="T64" fmla="*/ 155 w 2052"/>
                <a:gd name="T65" fmla="*/ 1183 h 1632"/>
                <a:gd name="T66" fmla="*/ 181 w 2052"/>
                <a:gd name="T67" fmla="*/ 1320 h 1632"/>
                <a:gd name="T68" fmla="*/ 228 w 2052"/>
                <a:gd name="T69" fmla="*/ 1455 h 1632"/>
                <a:gd name="T70" fmla="*/ 268 w 2052"/>
                <a:gd name="T71" fmla="*/ 1540 h 1632"/>
                <a:gd name="T72" fmla="*/ 267 w 2052"/>
                <a:gd name="T73" fmla="*/ 1578 h 1632"/>
                <a:gd name="T74" fmla="*/ 247 w 2052"/>
                <a:gd name="T75" fmla="*/ 1610 h 1632"/>
                <a:gd name="T76" fmla="*/ 211 w 2052"/>
                <a:gd name="T77" fmla="*/ 1631 h 1632"/>
                <a:gd name="T78" fmla="*/ 175 w 2052"/>
                <a:gd name="T79" fmla="*/ 1628 h 1632"/>
                <a:gd name="T80" fmla="*/ 145 w 2052"/>
                <a:gd name="T81" fmla="*/ 1614 h 1632"/>
                <a:gd name="T82" fmla="*/ 127 w 2052"/>
                <a:gd name="T83" fmla="*/ 1594 h 1632"/>
                <a:gd name="T84" fmla="*/ 65 w 2052"/>
                <a:gd name="T85" fmla="*/ 1454 h 1632"/>
                <a:gd name="T86" fmla="*/ 23 w 2052"/>
                <a:gd name="T87" fmla="*/ 1310 h 1632"/>
                <a:gd name="T88" fmla="*/ 3 w 2052"/>
                <a:gd name="T89" fmla="*/ 1164 h 1632"/>
                <a:gd name="T90" fmla="*/ 2 w 2052"/>
                <a:gd name="T91" fmla="*/ 1018 h 1632"/>
                <a:gd name="T92" fmla="*/ 21 w 2052"/>
                <a:gd name="T93" fmla="*/ 874 h 1632"/>
                <a:gd name="T94" fmla="*/ 59 w 2052"/>
                <a:gd name="T95" fmla="*/ 734 h 1632"/>
                <a:gd name="T96" fmla="*/ 116 w 2052"/>
                <a:gd name="T97" fmla="*/ 600 h 1632"/>
                <a:gd name="T98" fmla="*/ 189 w 2052"/>
                <a:gd name="T99" fmla="*/ 475 h 1632"/>
                <a:gd name="T100" fmla="*/ 279 w 2052"/>
                <a:gd name="T101" fmla="*/ 358 h 1632"/>
                <a:gd name="T102" fmla="*/ 386 w 2052"/>
                <a:gd name="T103" fmla="*/ 256 h 1632"/>
                <a:gd name="T104" fmla="*/ 508 w 2052"/>
                <a:gd name="T105" fmla="*/ 166 h 1632"/>
                <a:gd name="T106" fmla="*/ 645 w 2052"/>
                <a:gd name="T107" fmla="*/ 94 h 1632"/>
                <a:gd name="T108" fmla="*/ 787 w 2052"/>
                <a:gd name="T109" fmla="*/ 42 h 1632"/>
                <a:gd name="T110" fmla="*/ 933 w 2052"/>
                <a:gd name="T111" fmla="*/ 11 h 1632"/>
                <a:gd name="T112" fmla="*/ 1079 w 2052"/>
                <a:gd name="T113" fmla="*/ 0 h 1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52" h="1632">
                  <a:moveTo>
                    <a:pt x="1079" y="0"/>
                  </a:moveTo>
                  <a:lnTo>
                    <a:pt x="1151" y="3"/>
                  </a:lnTo>
                  <a:lnTo>
                    <a:pt x="1224" y="10"/>
                  </a:lnTo>
                  <a:lnTo>
                    <a:pt x="1296" y="22"/>
                  </a:lnTo>
                  <a:lnTo>
                    <a:pt x="1367" y="39"/>
                  </a:lnTo>
                  <a:lnTo>
                    <a:pt x="1436" y="60"/>
                  </a:lnTo>
                  <a:lnTo>
                    <a:pt x="1503" y="85"/>
                  </a:lnTo>
                  <a:lnTo>
                    <a:pt x="1569" y="116"/>
                  </a:lnTo>
                  <a:lnTo>
                    <a:pt x="1633" y="150"/>
                  </a:lnTo>
                  <a:lnTo>
                    <a:pt x="1694" y="189"/>
                  </a:lnTo>
                  <a:lnTo>
                    <a:pt x="1754" y="232"/>
                  </a:lnTo>
                  <a:lnTo>
                    <a:pt x="1810" y="280"/>
                  </a:lnTo>
                  <a:lnTo>
                    <a:pt x="1863" y="331"/>
                  </a:lnTo>
                  <a:lnTo>
                    <a:pt x="1914" y="386"/>
                  </a:lnTo>
                  <a:lnTo>
                    <a:pt x="1960" y="445"/>
                  </a:lnTo>
                  <a:lnTo>
                    <a:pt x="2003" y="509"/>
                  </a:lnTo>
                  <a:lnTo>
                    <a:pt x="2041" y="575"/>
                  </a:lnTo>
                  <a:lnTo>
                    <a:pt x="2050" y="594"/>
                  </a:lnTo>
                  <a:lnTo>
                    <a:pt x="2052" y="613"/>
                  </a:lnTo>
                  <a:lnTo>
                    <a:pt x="2049" y="632"/>
                  </a:lnTo>
                  <a:lnTo>
                    <a:pt x="2040" y="650"/>
                  </a:lnTo>
                  <a:lnTo>
                    <a:pt x="2029" y="666"/>
                  </a:lnTo>
                  <a:lnTo>
                    <a:pt x="2012" y="679"/>
                  </a:lnTo>
                  <a:lnTo>
                    <a:pt x="1993" y="686"/>
                  </a:lnTo>
                  <a:lnTo>
                    <a:pt x="1974" y="690"/>
                  </a:lnTo>
                  <a:lnTo>
                    <a:pt x="1954" y="686"/>
                  </a:lnTo>
                  <a:lnTo>
                    <a:pt x="1936" y="678"/>
                  </a:lnTo>
                  <a:lnTo>
                    <a:pt x="1920" y="665"/>
                  </a:lnTo>
                  <a:lnTo>
                    <a:pt x="1908" y="649"/>
                  </a:lnTo>
                  <a:lnTo>
                    <a:pt x="1872" y="585"/>
                  </a:lnTo>
                  <a:lnTo>
                    <a:pt x="1831" y="523"/>
                  </a:lnTo>
                  <a:lnTo>
                    <a:pt x="1788" y="467"/>
                  </a:lnTo>
                  <a:lnTo>
                    <a:pt x="1740" y="415"/>
                  </a:lnTo>
                  <a:lnTo>
                    <a:pt x="1689" y="367"/>
                  </a:lnTo>
                  <a:lnTo>
                    <a:pt x="1635" y="323"/>
                  </a:lnTo>
                  <a:lnTo>
                    <a:pt x="1579" y="285"/>
                  </a:lnTo>
                  <a:lnTo>
                    <a:pt x="1519" y="250"/>
                  </a:lnTo>
                  <a:lnTo>
                    <a:pt x="1458" y="221"/>
                  </a:lnTo>
                  <a:lnTo>
                    <a:pt x="1394" y="195"/>
                  </a:lnTo>
                  <a:lnTo>
                    <a:pt x="1329" y="175"/>
                  </a:lnTo>
                  <a:lnTo>
                    <a:pt x="1263" y="160"/>
                  </a:lnTo>
                  <a:lnTo>
                    <a:pt x="1196" y="150"/>
                  </a:lnTo>
                  <a:lnTo>
                    <a:pt x="1127" y="144"/>
                  </a:lnTo>
                  <a:lnTo>
                    <a:pt x="1058" y="143"/>
                  </a:lnTo>
                  <a:lnTo>
                    <a:pt x="989" y="149"/>
                  </a:lnTo>
                  <a:lnTo>
                    <a:pt x="920" y="158"/>
                  </a:lnTo>
                  <a:lnTo>
                    <a:pt x="851" y="174"/>
                  </a:lnTo>
                  <a:lnTo>
                    <a:pt x="783" y="195"/>
                  </a:lnTo>
                  <a:lnTo>
                    <a:pt x="715" y="222"/>
                  </a:lnTo>
                  <a:lnTo>
                    <a:pt x="648" y="253"/>
                  </a:lnTo>
                  <a:lnTo>
                    <a:pt x="585" y="290"/>
                  </a:lnTo>
                  <a:lnTo>
                    <a:pt x="525" y="332"/>
                  </a:lnTo>
                  <a:lnTo>
                    <a:pt x="470" y="376"/>
                  </a:lnTo>
                  <a:lnTo>
                    <a:pt x="418" y="425"/>
                  </a:lnTo>
                  <a:lnTo>
                    <a:pt x="371" y="477"/>
                  </a:lnTo>
                  <a:lnTo>
                    <a:pt x="328" y="532"/>
                  </a:lnTo>
                  <a:lnTo>
                    <a:pt x="290" y="590"/>
                  </a:lnTo>
                  <a:lnTo>
                    <a:pt x="256" y="649"/>
                  </a:lnTo>
                  <a:lnTo>
                    <a:pt x="226" y="712"/>
                  </a:lnTo>
                  <a:lnTo>
                    <a:pt x="202" y="776"/>
                  </a:lnTo>
                  <a:lnTo>
                    <a:pt x="181" y="842"/>
                  </a:lnTo>
                  <a:lnTo>
                    <a:pt x="167" y="909"/>
                  </a:lnTo>
                  <a:lnTo>
                    <a:pt x="156" y="976"/>
                  </a:lnTo>
                  <a:lnTo>
                    <a:pt x="151" y="1045"/>
                  </a:lnTo>
                  <a:lnTo>
                    <a:pt x="151" y="1114"/>
                  </a:lnTo>
                  <a:lnTo>
                    <a:pt x="155" y="1183"/>
                  </a:lnTo>
                  <a:lnTo>
                    <a:pt x="165" y="1252"/>
                  </a:lnTo>
                  <a:lnTo>
                    <a:pt x="181" y="1320"/>
                  </a:lnTo>
                  <a:lnTo>
                    <a:pt x="202" y="1388"/>
                  </a:lnTo>
                  <a:lnTo>
                    <a:pt x="228" y="1455"/>
                  </a:lnTo>
                  <a:lnTo>
                    <a:pt x="261" y="1520"/>
                  </a:lnTo>
                  <a:lnTo>
                    <a:pt x="268" y="1540"/>
                  </a:lnTo>
                  <a:lnTo>
                    <a:pt x="271" y="1559"/>
                  </a:lnTo>
                  <a:lnTo>
                    <a:pt x="267" y="1578"/>
                  </a:lnTo>
                  <a:lnTo>
                    <a:pt x="260" y="1596"/>
                  </a:lnTo>
                  <a:lnTo>
                    <a:pt x="247" y="1610"/>
                  </a:lnTo>
                  <a:lnTo>
                    <a:pt x="230" y="1623"/>
                  </a:lnTo>
                  <a:lnTo>
                    <a:pt x="211" y="1631"/>
                  </a:lnTo>
                  <a:lnTo>
                    <a:pt x="192" y="1632"/>
                  </a:lnTo>
                  <a:lnTo>
                    <a:pt x="175" y="1628"/>
                  </a:lnTo>
                  <a:lnTo>
                    <a:pt x="159" y="1622"/>
                  </a:lnTo>
                  <a:lnTo>
                    <a:pt x="145" y="1614"/>
                  </a:lnTo>
                  <a:lnTo>
                    <a:pt x="135" y="1604"/>
                  </a:lnTo>
                  <a:lnTo>
                    <a:pt x="127" y="1594"/>
                  </a:lnTo>
                  <a:lnTo>
                    <a:pt x="93" y="1525"/>
                  </a:lnTo>
                  <a:lnTo>
                    <a:pt x="65" y="1454"/>
                  </a:lnTo>
                  <a:lnTo>
                    <a:pt x="41" y="1382"/>
                  </a:lnTo>
                  <a:lnTo>
                    <a:pt x="23" y="1310"/>
                  </a:lnTo>
                  <a:lnTo>
                    <a:pt x="11" y="1237"/>
                  </a:lnTo>
                  <a:lnTo>
                    <a:pt x="3" y="1164"/>
                  </a:lnTo>
                  <a:lnTo>
                    <a:pt x="0" y="1091"/>
                  </a:lnTo>
                  <a:lnTo>
                    <a:pt x="2" y="1018"/>
                  </a:lnTo>
                  <a:lnTo>
                    <a:pt x="9" y="945"/>
                  </a:lnTo>
                  <a:lnTo>
                    <a:pt x="21" y="874"/>
                  </a:lnTo>
                  <a:lnTo>
                    <a:pt x="38" y="803"/>
                  </a:lnTo>
                  <a:lnTo>
                    <a:pt x="59" y="734"/>
                  </a:lnTo>
                  <a:lnTo>
                    <a:pt x="85" y="666"/>
                  </a:lnTo>
                  <a:lnTo>
                    <a:pt x="116" y="600"/>
                  </a:lnTo>
                  <a:lnTo>
                    <a:pt x="150" y="536"/>
                  </a:lnTo>
                  <a:lnTo>
                    <a:pt x="189" y="475"/>
                  </a:lnTo>
                  <a:lnTo>
                    <a:pt x="232" y="415"/>
                  </a:lnTo>
                  <a:lnTo>
                    <a:pt x="279" y="358"/>
                  </a:lnTo>
                  <a:lnTo>
                    <a:pt x="331" y="305"/>
                  </a:lnTo>
                  <a:lnTo>
                    <a:pt x="386" y="256"/>
                  </a:lnTo>
                  <a:lnTo>
                    <a:pt x="446" y="209"/>
                  </a:lnTo>
                  <a:lnTo>
                    <a:pt x="508" y="166"/>
                  </a:lnTo>
                  <a:lnTo>
                    <a:pt x="575" y="127"/>
                  </a:lnTo>
                  <a:lnTo>
                    <a:pt x="645" y="94"/>
                  </a:lnTo>
                  <a:lnTo>
                    <a:pt x="715" y="65"/>
                  </a:lnTo>
                  <a:lnTo>
                    <a:pt x="787" y="42"/>
                  </a:lnTo>
                  <a:lnTo>
                    <a:pt x="859" y="24"/>
                  </a:lnTo>
                  <a:lnTo>
                    <a:pt x="933" y="11"/>
                  </a:lnTo>
                  <a:lnTo>
                    <a:pt x="1006" y="4"/>
                  </a:lnTo>
                  <a:lnTo>
                    <a:pt x="107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4" name="Freeform 38">
              <a:extLst>
                <a:ext uri="{FF2B5EF4-FFF2-40B4-BE49-F238E27FC236}">
                  <a16:creationId xmlns:a16="http://schemas.microsoft.com/office/drawing/2014/main" id="{BF4E5BDE-0E44-1EE7-F0C3-735A14BA7CDB}"/>
                </a:ext>
              </a:extLst>
            </p:cNvPr>
            <p:cNvSpPr/>
            <p:nvPr/>
          </p:nvSpPr>
          <p:spPr bwMode="auto">
            <a:xfrm>
              <a:off x="757238" y="3513138"/>
              <a:ext cx="207963" cy="168275"/>
            </a:xfrm>
            <a:custGeom>
              <a:avLst/>
              <a:gdLst>
                <a:gd name="T0" fmla="*/ 679 w 1174"/>
                <a:gd name="T1" fmla="*/ 4 h 954"/>
                <a:gd name="T2" fmla="*/ 801 w 1174"/>
                <a:gd name="T3" fmla="*/ 31 h 954"/>
                <a:gd name="T4" fmla="*/ 901 w 1174"/>
                <a:gd name="T5" fmla="*/ 70 h 954"/>
                <a:gd name="T6" fmla="*/ 992 w 1174"/>
                <a:gd name="T7" fmla="*/ 127 h 954"/>
                <a:gd name="T8" fmla="*/ 1071 w 1174"/>
                <a:gd name="T9" fmla="*/ 201 h 954"/>
                <a:gd name="T10" fmla="*/ 1136 w 1174"/>
                <a:gd name="T11" fmla="*/ 288 h 954"/>
                <a:gd name="T12" fmla="*/ 1171 w 1174"/>
                <a:gd name="T13" fmla="*/ 355 h 954"/>
                <a:gd name="T14" fmla="*/ 1170 w 1174"/>
                <a:gd name="T15" fmla="*/ 393 h 954"/>
                <a:gd name="T16" fmla="*/ 1150 w 1174"/>
                <a:gd name="T17" fmla="*/ 426 h 954"/>
                <a:gd name="T18" fmla="*/ 1114 w 1174"/>
                <a:gd name="T19" fmla="*/ 448 h 954"/>
                <a:gd name="T20" fmla="*/ 1076 w 1174"/>
                <a:gd name="T21" fmla="*/ 447 h 954"/>
                <a:gd name="T22" fmla="*/ 1043 w 1174"/>
                <a:gd name="T23" fmla="*/ 425 h 954"/>
                <a:gd name="T24" fmla="*/ 1008 w 1174"/>
                <a:gd name="T25" fmla="*/ 367 h 954"/>
                <a:gd name="T26" fmla="*/ 952 w 1174"/>
                <a:gd name="T27" fmla="*/ 292 h 954"/>
                <a:gd name="T28" fmla="*/ 881 w 1174"/>
                <a:gd name="T29" fmla="*/ 233 h 954"/>
                <a:gd name="T30" fmla="*/ 800 w 1174"/>
                <a:gd name="T31" fmla="*/ 188 h 954"/>
                <a:gd name="T32" fmla="*/ 705 w 1174"/>
                <a:gd name="T33" fmla="*/ 159 h 954"/>
                <a:gd name="T34" fmla="*/ 601 w 1174"/>
                <a:gd name="T35" fmla="*/ 151 h 954"/>
                <a:gd name="T36" fmla="*/ 498 w 1174"/>
                <a:gd name="T37" fmla="*/ 168 h 954"/>
                <a:gd name="T38" fmla="*/ 400 w 1174"/>
                <a:gd name="T39" fmla="*/ 208 h 954"/>
                <a:gd name="T40" fmla="*/ 323 w 1174"/>
                <a:gd name="T41" fmla="*/ 259 h 954"/>
                <a:gd name="T42" fmla="*/ 257 w 1174"/>
                <a:gd name="T43" fmla="*/ 323 h 954"/>
                <a:gd name="T44" fmla="*/ 206 w 1174"/>
                <a:gd name="T45" fmla="*/ 400 h 954"/>
                <a:gd name="T46" fmla="*/ 170 w 1174"/>
                <a:gd name="T47" fmla="*/ 489 h 954"/>
                <a:gd name="T48" fmla="*/ 151 w 1174"/>
                <a:gd name="T49" fmla="*/ 592 h 954"/>
                <a:gd name="T50" fmla="*/ 155 w 1174"/>
                <a:gd name="T51" fmla="*/ 695 h 954"/>
                <a:gd name="T52" fmla="*/ 184 w 1174"/>
                <a:gd name="T53" fmla="*/ 796 h 954"/>
                <a:gd name="T54" fmla="*/ 213 w 1174"/>
                <a:gd name="T55" fmla="*/ 864 h 954"/>
                <a:gd name="T56" fmla="*/ 213 w 1174"/>
                <a:gd name="T57" fmla="*/ 903 h 954"/>
                <a:gd name="T58" fmla="*/ 193 w 1174"/>
                <a:gd name="T59" fmla="*/ 936 h 954"/>
                <a:gd name="T60" fmla="*/ 157 w 1174"/>
                <a:gd name="T61" fmla="*/ 954 h 954"/>
                <a:gd name="T62" fmla="*/ 120 w 1174"/>
                <a:gd name="T63" fmla="*/ 949 h 954"/>
                <a:gd name="T64" fmla="*/ 91 w 1174"/>
                <a:gd name="T65" fmla="*/ 931 h 954"/>
                <a:gd name="T66" fmla="*/ 73 w 1174"/>
                <a:gd name="T67" fmla="*/ 911 h 954"/>
                <a:gd name="T68" fmla="*/ 27 w 1174"/>
                <a:gd name="T69" fmla="*/ 801 h 954"/>
                <a:gd name="T70" fmla="*/ 3 w 1174"/>
                <a:gd name="T71" fmla="*/ 689 h 954"/>
                <a:gd name="T72" fmla="*/ 1 w 1174"/>
                <a:gd name="T73" fmla="*/ 576 h 954"/>
                <a:gd name="T74" fmla="*/ 19 w 1174"/>
                <a:gd name="T75" fmla="*/ 466 h 954"/>
                <a:gd name="T76" fmla="*/ 57 w 1174"/>
                <a:gd name="T77" fmla="*/ 361 h 954"/>
                <a:gd name="T78" fmla="*/ 114 w 1174"/>
                <a:gd name="T79" fmla="*/ 265 h 954"/>
                <a:gd name="T80" fmla="*/ 187 w 1174"/>
                <a:gd name="T81" fmla="*/ 178 h 954"/>
                <a:gd name="T82" fmla="*/ 276 w 1174"/>
                <a:gd name="T83" fmla="*/ 105 h 954"/>
                <a:gd name="T84" fmla="*/ 383 w 1174"/>
                <a:gd name="T85" fmla="*/ 46 h 954"/>
                <a:gd name="T86" fmla="*/ 499 w 1174"/>
                <a:gd name="T87" fmla="*/ 11 h 954"/>
                <a:gd name="T88" fmla="*/ 619 w 1174"/>
                <a:gd name="T89"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74" h="954">
                  <a:moveTo>
                    <a:pt x="619" y="0"/>
                  </a:moveTo>
                  <a:lnTo>
                    <a:pt x="679" y="4"/>
                  </a:lnTo>
                  <a:lnTo>
                    <a:pt x="740" y="14"/>
                  </a:lnTo>
                  <a:lnTo>
                    <a:pt x="801" y="31"/>
                  </a:lnTo>
                  <a:lnTo>
                    <a:pt x="852" y="48"/>
                  </a:lnTo>
                  <a:lnTo>
                    <a:pt x="901" y="70"/>
                  </a:lnTo>
                  <a:lnTo>
                    <a:pt x="948" y="96"/>
                  </a:lnTo>
                  <a:lnTo>
                    <a:pt x="992" y="127"/>
                  </a:lnTo>
                  <a:lnTo>
                    <a:pt x="1033" y="162"/>
                  </a:lnTo>
                  <a:lnTo>
                    <a:pt x="1071" y="201"/>
                  </a:lnTo>
                  <a:lnTo>
                    <a:pt x="1106" y="242"/>
                  </a:lnTo>
                  <a:lnTo>
                    <a:pt x="1136" y="288"/>
                  </a:lnTo>
                  <a:lnTo>
                    <a:pt x="1163" y="335"/>
                  </a:lnTo>
                  <a:lnTo>
                    <a:pt x="1171" y="355"/>
                  </a:lnTo>
                  <a:lnTo>
                    <a:pt x="1174" y="374"/>
                  </a:lnTo>
                  <a:lnTo>
                    <a:pt x="1170" y="393"/>
                  </a:lnTo>
                  <a:lnTo>
                    <a:pt x="1163" y="411"/>
                  </a:lnTo>
                  <a:lnTo>
                    <a:pt x="1150" y="426"/>
                  </a:lnTo>
                  <a:lnTo>
                    <a:pt x="1133" y="439"/>
                  </a:lnTo>
                  <a:lnTo>
                    <a:pt x="1114" y="448"/>
                  </a:lnTo>
                  <a:lnTo>
                    <a:pt x="1095" y="450"/>
                  </a:lnTo>
                  <a:lnTo>
                    <a:pt x="1076" y="447"/>
                  </a:lnTo>
                  <a:lnTo>
                    <a:pt x="1058" y="438"/>
                  </a:lnTo>
                  <a:lnTo>
                    <a:pt x="1043" y="425"/>
                  </a:lnTo>
                  <a:lnTo>
                    <a:pt x="1029" y="410"/>
                  </a:lnTo>
                  <a:lnTo>
                    <a:pt x="1008" y="367"/>
                  </a:lnTo>
                  <a:lnTo>
                    <a:pt x="981" y="328"/>
                  </a:lnTo>
                  <a:lnTo>
                    <a:pt x="952" y="292"/>
                  </a:lnTo>
                  <a:lnTo>
                    <a:pt x="918" y="260"/>
                  </a:lnTo>
                  <a:lnTo>
                    <a:pt x="881" y="233"/>
                  </a:lnTo>
                  <a:lnTo>
                    <a:pt x="841" y="208"/>
                  </a:lnTo>
                  <a:lnTo>
                    <a:pt x="800" y="188"/>
                  </a:lnTo>
                  <a:lnTo>
                    <a:pt x="757" y="171"/>
                  </a:lnTo>
                  <a:lnTo>
                    <a:pt x="705" y="159"/>
                  </a:lnTo>
                  <a:lnTo>
                    <a:pt x="653" y="152"/>
                  </a:lnTo>
                  <a:lnTo>
                    <a:pt x="601" y="151"/>
                  </a:lnTo>
                  <a:lnTo>
                    <a:pt x="550" y="158"/>
                  </a:lnTo>
                  <a:lnTo>
                    <a:pt x="498" y="168"/>
                  </a:lnTo>
                  <a:lnTo>
                    <a:pt x="448" y="185"/>
                  </a:lnTo>
                  <a:lnTo>
                    <a:pt x="400" y="208"/>
                  </a:lnTo>
                  <a:lnTo>
                    <a:pt x="360" y="232"/>
                  </a:lnTo>
                  <a:lnTo>
                    <a:pt x="323" y="259"/>
                  </a:lnTo>
                  <a:lnTo>
                    <a:pt x="289" y="290"/>
                  </a:lnTo>
                  <a:lnTo>
                    <a:pt x="257" y="323"/>
                  </a:lnTo>
                  <a:lnTo>
                    <a:pt x="229" y="360"/>
                  </a:lnTo>
                  <a:lnTo>
                    <a:pt x="206" y="400"/>
                  </a:lnTo>
                  <a:lnTo>
                    <a:pt x="186" y="443"/>
                  </a:lnTo>
                  <a:lnTo>
                    <a:pt x="170" y="489"/>
                  </a:lnTo>
                  <a:lnTo>
                    <a:pt x="157" y="540"/>
                  </a:lnTo>
                  <a:lnTo>
                    <a:pt x="151" y="592"/>
                  </a:lnTo>
                  <a:lnTo>
                    <a:pt x="150" y="643"/>
                  </a:lnTo>
                  <a:lnTo>
                    <a:pt x="155" y="695"/>
                  </a:lnTo>
                  <a:lnTo>
                    <a:pt x="167" y="746"/>
                  </a:lnTo>
                  <a:lnTo>
                    <a:pt x="184" y="796"/>
                  </a:lnTo>
                  <a:lnTo>
                    <a:pt x="206" y="845"/>
                  </a:lnTo>
                  <a:lnTo>
                    <a:pt x="213" y="864"/>
                  </a:lnTo>
                  <a:lnTo>
                    <a:pt x="216" y="884"/>
                  </a:lnTo>
                  <a:lnTo>
                    <a:pt x="213" y="903"/>
                  </a:lnTo>
                  <a:lnTo>
                    <a:pt x="205" y="920"/>
                  </a:lnTo>
                  <a:lnTo>
                    <a:pt x="193" y="936"/>
                  </a:lnTo>
                  <a:lnTo>
                    <a:pt x="176" y="948"/>
                  </a:lnTo>
                  <a:lnTo>
                    <a:pt x="157" y="954"/>
                  </a:lnTo>
                  <a:lnTo>
                    <a:pt x="138" y="954"/>
                  </a:lnTo>
                  <a:lnTo>
                    <a:pt x="120" y="949"/>
                  </a:lnTo>
                  <a:lnTo>
                    <a:pt x="105" y="941"/>
                  </a:lnTo>
                  <a:lnTo>
                    <a:pt x="91" y="931"/>
                  </a:lnTo>
                  <a:lnTo>
                    <a:pt x="81" y="921"/>
                  </a:lnTo>
                  <a:lnTo>
                    <a:pt x="73" y="911"/>
                  </a:lnTo>
                  <a:lnTo>
                    <a:pt x="47" y="856"/>
                  </a:lnTo>
                  <a:lnTo>
                    <a:pt x="27" y="801"/>
                  </a:lnTo>
                  <a:lnTo>
                    <a:pt x="13" y="745"/>
                  </a:lnTo>
                  <a:lnTo>
                    <a:pt x="3" y="689"/>
                  </a:lnTo>
                  <a:lnTo>
                    <a:pt x="0" y="632"/>
                  </a:lnTo>
                  <a:lnTo>
                    <a:pt x="1" y="576"/>
                  </a:lnTo>
                  <a:lnTo>
                    <a:pt x="7" y="521"/>
                  </a:lnTo>
                  <a:lnTo>
                    <a:pt x="19" y="466"/>
                  </a:lnTo>
                  <a:lnTo>
                    <a:pt x="36" y="413"/>
                  </a:lnTo>
                  <a:lnTo>
                    <a:pt x="57" y="361"/>
                  </a:lnTo>
                  <a:lnTo>
                    <a:pt x="83" y="311"/>
                  </a:lnTo>
                  <a:lnTo>
                    <a:pt x="114" y="265"/>
                  </a:lnTo>
                  <a:lnTo>
                    <a:pt x="147" y="219"/>
                  </a:lnTo>
                  <a:lnTo>
                    <a:pt x="187" y="178"/>
                  </a:lnTo>
                  <a:lnTo>
                    <a:pt x="229" y="140"/>
                  </a:lnTo>
                  <a:lnTo>
                    <a:pt x="276" y="105"/>
                  </a:lnTo>
                  <a:lnTo>
                    <a:pt x="327" y="74"/>
                  </a:lnTo>
                  <a:lnTo>
                    <a:pt x="383" y="46"/>
                  </a:lnTo>
                  <a:lnTo>
                    <a:pt x="440" y="25"/>
                  </a:lnTo>
                  <a:lnTo>
                    <a:pt x="499" y="11"/>
                  </a:lnTo>
                  <a:lnTo>
                    <a:pt x="558" y="2"/>
                  </a:lnTo>
                  <a:lnTo>
                    <a:pt x="61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5" name="Freeform 8">
              <a:extLst>
                <a:ext uri="{FF2B5EF4-FFF2-40B4-BE49-F238E27FC236}">
                  <a16:creationId xmlns:a16="http://schemas.microsoft.com/office/drawing/2014/main" id="{3056E671-0B63-976F-414B-0723656E83A6}"/>
                </a:ext>
              </a:extLst>
            </p:cNvPr>
            <p:cNvSpPr>
              <a:spLocks noEditPoints="1"/>
            </p:cNvSpPr>
            <p:nvPr/>
          </p:nvSpPr>
          <p:spPr bwMode="auto">
            <a:xfrm>
              <a:off x="793751" y="3595688"/>
              <a:ext cx="495300" cy="449263"/>
            </a:xfrm>
            <a:custGeom>
              <a:avLst/>
              <a:gdLst>
                <a:gd name="T0" fmla="*/ 1449 w 2805"/>
                <a:gd name="T1" fmla="*/ 2389 h 2551"/>
                <a:gd name="T2" fmla="*/ 438 w 2805"/>
                <a:gd name="T3" fmla="*/ 150 h 2551"/>
                <a:gd name="T4" fmla="*/ 375 w 2805"/>
                <a:gd name="T5" fmla="*/ 176 h 2551"/>
                <a:gd name="T6" fmla="*/ 337 w 2805"/>
                <a:gd name="T7" fmla="*/ 231 h 2551"/>
                <a:gd name="T8" fmla="*/ 337 w 2805"/>
                <a:gd name="T9" fmla="*/ 298 h 2551"/>
                <a:gd name="T10" fmla="*/ 877 w 2805"/>
                <a:gd name="T11" fmla="*/ 1322 h 2551"/>
                <a:gd name="T12" fmla="*/ 868 w 2805"/>
                <a:gd name="T13" fmla="*/ 1375 h 2551"/>
                <a:gd name="T14" fmla="*/ 825 w 2805"/>
                <a:gd name="T15" fmla="*/ 1406 h 2551"/>
                <a:gd name="T16" fmla="*/ 300 w 2805"/>
                <a:gd name="T17" fmla="*/ 1257 h 2551"/>
                <a:gd name="T18" fmla="*/ 231 w 2805"/>
                <a:gd name="T19" fmla="*/ 1257 h 2551"/>
                <a:gd name="T20" fmla="*/ 176 w 2805"/>
                <a:gd name="T21" fmla="*/ 1294 h 2551"/>
                <a:gd name="T22" fmla="*/ 151 w 2805"/>
                <a:gd name="T23" fmla="*/ 1358 h 2551"/>
                <a:gd name="T24" fmla="*/ 163 w 2805"/>
                <a:gd name="T25" fmla="*/ 1422 h 2551"/>
                <a:gd name="T26" fmla="*/ 211 w 2805"/>
                <a:gd name="T27" fmla="*/ 1470 h 2551"/>
                <a:gd name="T28" fmla="*/ 1094 w 2805"/>
                <a:gd name="T29" fmla="*/ 1743 h 2551"/>
                <a:gd name="T30" fmla="*/ 1199 w 2805"/>
                <a:gd name="T31" fmla="*/ 1916 h 2551"/>
                <a:gd name="T32" fmla="*/ 1884 w 2805"/>
                <a:gd name="T33" fmla="*/ 332 h 2551"/>
                <a:gd name="T34" fmla="*/ 1827 w 2805"/>
                <a:gd name="T35" fmla="*/ 290 h 2551"/>
                <a:gd name="T36" fmla="*/ 1757 w 2805"/>
                <a:gd name="T37" fmla="*/ 281 h 2551"/>
                <a:gd name="T38" fmla="*/ 844 w 2805"/>
                <a:gd name="T39" fmla="*/ 758 h 2551"/>
                <a:gd name="T40" fmla="*/ 521 w 2805"/>
                <a:gd name="T41" fmla="*/ 175 h 2551"/>
                <a:gd name="T42" fmla="*/ 460 w 2805"/>
                <a:gd name="T43" fmla="*/ 150 h 2551"/>
                <a:gd name="T44" fmla="*/ 492 w 2805"/>
                <a:gd name="T45" fmla="*/ 3 h 2551"/>
                <a:gd name="T46" fmla="*/ 588 w 2805"/>
                <a:gd name="T47" fmla="*/ 39 h 2551"/>
                <a:gd name="T48" fmla="*/ 664 w 2805"/>
                <a:gd name="T49" fmla="*/ 109 h 2551"/>
                <a:gd name="T50" fmla="*/ 1643 w 2805"/>
                <a:gd name="T51" fmla="*/ 163 h 2551"/>
                <a:gd name="T52" fmla="*/ 1751 w 2805"/>
                <a:gd name="T53" fmla="*/ 130 h 2551"/>
                <a:gd name="T54" fmla="*/ 1859 w 2805"/>
                <a:gd name="T55" fmla="*/ 141 h 2551"/>
                <a:gd name="T56" fmla="*/ 1957 w 2805"/>
                <a:gd name="T57" fmla="*/ 193 h 2551"/>
                <a:gd name="T58" fmla="*/ 2029 w 2805"/>
                <a:gd name="T59" fmla="*/ 280 h 2551"/>
                <a:gd name="T60" fmla="*/ 2805 w 2805"/>
                <a:gd name="T61" fmla="*/ 1757 h 2551"/>
                <a:gd name="T62" fmla="*/ 2793 w 2805"/>
                <a:gd name="T63" fmla="*/ 1820 h 2551"/>
                <a:gd name="T64" fmla="*/ 2746 w 2805"/>
                <a:gd name="T65" fmla="*/ 1868 h 2551"/>
                <a:gd name="T66" fmla="*/ 1445 w 2805"/>
                <a:gd name="T67" fmla="*/ 2551 h 2551"/>
                <a:gd name="T68" fmla="*/ 1381 w 2805"/>
                <a:gd name="T69" fmla="*/ 2538 h 2551"/>
                <a:gd name="T70" fmla="*/ 1335 w 2805"/>
                <a:gd name="T71" fmla="*/ 2491 h 2551"/>
                <a:gd name="T72" fmla="*/ 152 w 2805"/>
                <a:gd name="T73" fmla="*/ 1607 h 2551"/>
                <a:gd name="T74" fmla="*/ 63 w 2805"/>
                <a:gd name="T75" fmla="*/ 1539 h 2551"/>
                <a:gd name="T76" fmla="*/ 11 w 2805"/>
                <a:gd name="T77" fmla="*/ 1441 h 2551"/>
                <a:gd name="T78" fmla="*/ 3 w 2805"/>
                <a:gd name="T79" fmla="*/ 1329 h 2551"/>
                <a:gd name="T80" fmla="*/ 45 w 2805"/>
                <a:gd name="T81" fmla="*/ 1220 h 2551"/>
                <a:gd name="T82" fmla="*/ 125 w 2805"/>
                <a:gd name="T83" fmla="*/ 1142 h 2551"/>
                <a:gd name="T84" fmla="*/ 229 w 2805"/>
                <a:gd name="T85" fmla="*/ 1104 h 2551"/>
                <a:gd name="T86" fmla="*/ 344 w 2805"/>
                <a:gd name="T87" fmla="*/ 1113 h 2551"/>
                <a:gd name="T88" fmla="*/ 199 w 2805"/>
                <a:gd name="T89" fmla="*/ 357 h 2551"/>
                <a:gd name="T90" fmla="*/ 182 w 2805"/>
                <a:gd name="T91" fmla="*/ 255 h 2551"/>
                <a:gd name="T92" fmla="*/ 206 w 2805"/>
                <a:gd name="T93" fmla="*/ 156 h 2551"/>
                <a:gd name="T94" fmla="*/ 265 w 2805"/>
                <a:gd name="T95" fmla="*/ 73 h 2551"/>
                <a:gd name="T96" fmla="*/ 356 w 2805"/>
                <a:gd name="T97" fmla="*/ 15 h 2551"/>
                <a:gd name="T98" fmla="*/ 458 w 2805"/>
                <a:gd name="T99" fmla="*/ 0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05" h="2551">
                  <a:moveTo>
                    <a:pt x="2469" y="1425"/>
                  </a:moveTo>
                  <a:lnTo>
                    <a:pt x="1275" y="2062"/>
                  </a:lnTo>
                  <a:lnTo>
                    <a:pt x="1449" y="2389"/>
                  </a:lnTo>
                  <a:lnTo>
                    <a:pt x="2643" y="1751"/>
                  </a:lnTo>
                  <a:lnTo>
                    <a:pt x="2469" y="1425"/>
                  </a:lnTo>
                  <a:close/>
                  <a:moveTo>
                    <a:pt x="438" y="150"/>
                  </a:moveTo>
                  <a:lnTo>
                    <a:pt x="415" y="154"/>
                  </a:lnTo>
                  <a:lnTo>
                    <a:pt x="394" y="164"/>
                  </a:lnTo>
                  <a:lnTo>
                    <a:pt x="375" y="176"/>
                  </a:lnTo>
                  <a:lnTo>
                    <a:pt x="359" y="192"/>
                  </a:lnTo>
                  <a:lnTo>
                    <a:pt x="346" y="211"/>
                  </a:lnTo>
                  <a:lnTo>
                    <a:pt x="337" y="231"/>
                  </a:lnTo>
                  <a:lnTo>
                    <a:pt x="333" y="254"/>
                  </a:lnTo>
                  <a:lnTo>
                    <a:pt x="333" y="276"/>
                  </a:lnTo>
                  <a:lnTo>
                    <a:pt x="337" y="298"/>
                  </a:lnTo>
                  <a:lnTo>
                    <a:pt x="346" y="320"/>
                  </a:lnTo>
                  <a:lnTo>
                    <a:pt x="871" y="1303"/>
                  </a:lnTo>
                  <a:lnTo>
                    <a:pt x="877" y="1322"/>
                  </a:lnTo>
                  <a:lnTo>
                    <a:pt x="880" y="1341"/>
                  </a:lnTo>
                  <a:lnTo>
                    <a:pt x="876" y="1359"/>
                  </a:lnTo>
                  <a:lnTo>
                    <a:pt x="868" y="1375"/>
                  </a:lnTo>
                  <a:lnTo>
                    <a:pt x="857" y="1388"/>
                  </a:lnTo>
                  <a:lnTo>
                    <a:pt x="842" y="1399"/>
                  </a:lnTo>
                  <a:lnTo>
                    <a:pt x="825" y="1406"/>
                  </a:lnTo>
                  <a:lnTo>
                    <a:pt x="806" y="1408"/>
                  </a:lnTo>
                  <a:lnTo>
                    <a:pt x="787" y="1405"/>
                  </a:lnTo>
                  <a:lnTo>
                    <a:pt x="300" y="1257"/>
                  </a:lnTo>
                  <a:lnTo>
                    <a:pt x="277" y="1253"/>
                  </a:lnTo>
                  <a:lnTo>
                    <a:pt x="254" y="1253"/>
                  </a:lnTo>
                  <a:lnTo>
                    <a:pt x="231" y="1257"/>
                  </a:lnTo>
                  <a:lnTo>
                    <a:pt x="211" y="1266"/>
                  </a:lnTo>
                  <a:lnTo>
                    <a:pt x="192" y="1278"/>
                  </a:lnTo>
                  <a:lnTo>
                    <a:pt x="176" y="1294"/>
                  </a:lnTo>
                  <a:lnTo>
                    <a:pt x="163" y="1312"/>
                  </a:lnTo>
                  <a:lnTo>
                    <a:pt x="155" y="1334"/>
                  </a:lnTo>
                  <a:lnTo>
                    <a:pt x="151" y="1358"/>
                  </a:lnTo>
                  <a:lnTo>
                    <a:pt x="151" y="1380"/>
                  </a:lnTo>
                  <a:lnTo>
                    <a:pt x="155" y="1402"/>
                  </a:lnTo>
                  <a:lnTo>
                    <a:pt x="163" y="1422"/>
                  </a:lnTo>
                  <a:lnTo>
                    <a:pt x="176" y="1441"/>
                  </a:lnTo>
                  <a:lnTo>
                    <a:pt x="192" y="1457"/>
                  </a:lnTo>
                  <a:lnTo>
                    <a:pt x="211" y="1470"/>
                  </a:lnTo>
                  <a:lnTo>
                    <a:pt x="232" y="1478"/>
                  </a:lnTo>
                  <a:lnTo>
                    <a:pt x="1078" y="1735"/>
                  </a:lnTo>
                  <a:lnTo>
                    <a:pt x="1094" y="1743"/>
                  </a:lnTo>
                  <a:lnTo>
                    <a:pt x="1109" y="1755"/>
                  </a:lnTo>
                  <a:lnTo>
                    <a:pt x="1119" y="1770"/>
                  </a:lnTo>
                  <a:lnTo>
                    <a:pt x="1199" y="1916"/>
                  </a:lnTo>
                  <a:lnTo>
                    <a:pt x="2393" y="1279"/>
                  </a:lnTo>
                  <a:lnTo>
                    <a:pt x="1898" y="353"/>
                  </a:lnTo>
                  <a:lnTo>
                    <a:pt x="1884" y="332"/>
                  </a:lnTo>
                  <a:lnTo>
                    <a:pt x="1867" y="314"/>
                  </a:lnTo>
                  <a:lnTo>
                    <a:pt x="1848" y="300"/>
                  </a:lnTo>
                  <a:lnTo>
                    <a:pt x="1827" y="290"/>
                  </a:lnTo>
                  <a:lnTo>
                    <a:pt x="1804" y="282"/>
                  </a:lnTo>
                  <a:lnTo>
                    <a:pt x="1780" y="279"/>
                  </a:lnTo>
                  <a:lnTo>
                    <a:pt x="1757" y="281"/>
                  </a:lnTo>
                  <a:lnTo>
                    <a:pt x="1733" y="286"/>
                  </a:lnTo>
                  <a:lnTo>
                    <a:pt x="1709" y="296"/>
                  </a:lnTo>
                  <a:lnTo>
                    <a:pt x="844" y="758"/>
                  </a:lnTo>
                  <a:lnTo>
                    <a:pt x="551" y="210"/>
                  </a:lnTo>
                  <a:lnTo>
                    <a:pt x="538" y="191"/>
                  </a:lnTo>
                  <a:lnTo>
                    <a:pt x="521" y="175"/>
                  </a:lnTo>
                  <a:lnTo>
                    <a:pt x="503" y="163"/>
                  </a:lnTo>
                  <a:lnTo>
                    <a:pt x="482" y="154"/>
                  </a:lnTo>
                  <a:lnTo>
                    <a:pt x="460" y="150"/>
                  </a:lnTo>
                  <a:lnTo>
                    <a:pt x="438" y="150"/>
                  </a:lnTo>
                  <a:close/>
                  <a:moveTo>
                    <a:pt x="458" y="0"/>
                  </a:moveTo>
                  <a:lnTo>
                    <a:pt x="492" y="3"/>
                  </a:lnTo>
                  <a:lnTo>
                    <a:pt x="526" y="10"/>
                  </a:lnTo>
                  <a:lnTo>
                    <a:pt x="558" y="23"/>
                  </a:lnTo>
                  <a:lnTo>
                    <a:pt x="588" y="39"/>
                  </a:lnTo>
                  <a:lnTo>
                    <a:pt x="616" y="58"/>
                  </a:lnTo>
                  <a:lnTo>
                    <a:pt x="642" y="82"/>
                  </a:lnTo>
                  <a:lnTo>
                    <a:pt x="664" y="109"/>
                  </a:lnTo>
                  <a:lnTo>
                    <a:pt x="683" y="139"/>
                  </a:lnTo>
                  <a:lnTo>
                    <a:pt x="905" y="556"/>
                  </a:lnTo>
                  <a:lnTo>
                    <a:pt x="1643" y="163"/>
                  </a:lnTo>
                  <a:lnTo>
                    <a:pt x="1678" y="147"/>
                  </a:lnTo>
                  <a:lnTo>
                    <a:pt x="1714" y="136"/>
                  </a:lnTo>
                  <a:lnTo>
                    <a:pt x="1751" y="130"/>
                  </a:lnTo>
                  <a:lnTo>
                    <a:pt x="1788" y="130"/>
                  </a:lnTo>
                  <a:lnTo>
                    <a:pt x="1824" y="133"/>
                  </a:lnTo>
                  <a:lnTo>
                    <a:pt x="1859" y="141"/>
                  </a:lnTo>
                  <a:lnTo>
                    <a:pt x="1894" y="154"/>
                  </a:lnTo>
                  <a:lnTo>
                    <a:pt x="1926" y="171"/>
                  </a:lnTo>
                  <a:lnTo>
                    <a:pt x="1957" y="193"/>
                  </a:lnTo>
                  <a:lnTo>
                    <a:pt x="1983" y="218"/>
                  </a:lnTo>
                  <a:lnTo>
                    <a:pt x="2008" y="247"/>
                  </a:lnTo>
                  <a:lnTo>
                    <a:pt x="2029" y="280"/>
                  </a:lnTo>
                  <a:lnTo>
                    <a:pt x="2793" y="1713"/>
                  </a:lnTo>
                  <a:lnTo>
                    <a:pt x="2801" y="1734"/>
                  </a:lnTo>
                  <a:lnTo>
                    <a:pt x="2805" y="1757"/>
                  </a:lnTo>
                  <a:lnTo>
                    <a:pt x="2805" y="1778"/>
                  </a:lnTo>
                  <a:lnTo>
                    <a:pt x="2801" y="1800"/>
                  </a:lnTo>
                  <a:lnTo>
                    <a:pt x="2793" y="1820"/>
                  </a:lnTo>
                  <a:lnTo>
                    <a:pt x="2781" y="1838"/>
                  </a:lnTo>
                  <a:lnTo>
                    <a:pt x="2765" y="1854"/>
                  </a:lnTo>
                  <a:lnTo>
                    <a:pt x="2746" y="1868"/>
                  </a:lnTo>
                  <a:lnTo>
                    <a:pt x="1489" y="2538"/>
                  </a:lnTo>
                  <a:lnTo>
                    <a:pt x="1467" y="2546"/>
                  </a:lnTo>
                  <a:lnTo>
                    <a:pt x="1445" y="2551"/>
                  </a:lnTo>
                  <a:lnTo>
                    <a:pt x="1423" y="2551"/>
                  </a:lnTo>
                  <a:lnTo>
                    <a:pt x="1402" y="2546"/>
                  </a:lnTo>
                  <a:lnTo>
                    <a:pt x="1381" y="2538"/>
                  </a:lnTo>
                  <a:lnTo>
                    <a:pt x="1363" y="2526"/>
                  </a:lnTo>
                  <a:lnTo>
                    <a:pt x="1348" y="2510"/>
                  </a:lnTo>
                  <a:lnTo>
                    <a:pt x="1335" y="2491"/>
                  </a:lnTo>
                  <a:lnTo>
                    <a:pt x="1003" y="1870"/>
                  </a:lnTo>
                  <a:lnTo>
                    <a:pt x="189" y="1622"/>
                  </a:lnTo>
                  <a:lnTo>
                    <a:pt x="152" y="1607"/>
                  </a:lnTo>
                  <a:lnTo>
                    <a:pt x="119" y="1589"/>
                  </a:lnTo>
                  <a:lnTo>
                    <a:pt x="89" y="1566"/>
                  </a:lnTo>
                  <a:lnTo>
                    <a:pt x="63" y="1539"/>
                  </a:lnTo>
                  <a:lnTo>
                    <a:pt x="41" y="1509"/>
                  </a:lnTo>
                  <a:lnTo>
                    <a:pt x="23" y="1476"/>
                  </a:lnTo>
                  <a:lnTo>
                    <a:pt x="11" y="1441"/>
                  </a:lnTo>
                  <a:lnTo>
                    <a:pt x="3" y="1404"/>
                  </a:lnTo>
                  <a:lnTo>
                    <a:pt x="0" y="1367"/>
                  </a:lnTo>
                  <a:lnTo>
                    <a:pt x="3" y="1329"/>
                  </a:lnTo>
                  <a:lnTo>
                    <a:pt x="12" y="1290"/>
                  </a:lnTo>
                  <a:lnTo>
                    <a:pt x="26" y="1253"/>
                  </a:lnTo>
                  <a:lnTo>
                    <a:pt x="45" y="1220"/>
                  </a:lnTo>
                  <a:lnTo>
                    <a:pt x="68" y="1189"/>
                  </a:lnTo>
                  <a:lnTo>
                    <a:pt x="95" y="1164"/>
                  </a:lnTo>
                  <a:lnTo>
                    <a:pt x="125" y="1142"/>
                  </a:lnTo>
                  <a:lnTo>
                    <a:pt x="158" y="1125"/>
                  </a:lnTo>
                  <a:lnTo>
                    <a:pt x="193" y="1112"/>
                  </a:lnTo>
                  <a:lnTo>
                    <a:pt x="229" y="1104"/>
                  </a:lnTo>
                  <a:lnTo>
                    <a:pt x="267" y="1101"/>
                  </a:lnTo>
                  <a:lnTo>
                    <a:pt x="306" y="1105"/>
                  </a:lnTo>
                  <a:lnTo>
                    <a:pt x="344" y="1113"/>
                  </a:lnTo>
                  <a:lnTo>
                    <a:pt x="649" y="1206"/>
                  </a:lnTo>
                  <a:lnTo>
                    <a:pt x="214" y="390"/>
                  </a:lnTo>
                  <a:lnTo>
                    <a:pt x="199" y="357"/>
                  </a:lnTo>
                  <a:lnTo>
                    <a:pt x="189" y="323"/>
                  </a:lnTo>
                  <a:lnTo>
                    <a:pt x="184" y="290"/>
                  </a:lnTo>
                  <a:lnTo>
                    <a:pt x="182" y="255"/>
                  </a:lnTo>
                  <a:lnTo>
                    <a:pt x="187" y="221"/>
                  </a:lnTo>
                  <a:lnTo>
                    <a:pt x="194" y="188"/>
                  </a:lnTo>
                  <a:lnTo>
                    <a:pt x="206" y="156"/>
                  </a:lnTo>
                  <a:lnTo>
                    <a:pt x="222" y="126"/>
                  </a:lnTo>
                  <a:lnTo>
                    <a:pt x="242" y="98"/>
                  </a:lnTo>
                  <a:lnTo>
                    <a:pt x="265" y="73"/>
                  </a:lnTo>
                  <a:lnTo>
                    <a:pt x="293" y="49"/>
                  </a:lnTo>
                  <a:lnTo>
                    <a:pt x="324" y="30"/>
                  </a:lnTo>
                  <a:lnTo>
                    <a:pt x="356" y="15"/>
                  </a:lnTo>
                  <a:lnTo>
                    <a:pt x="390" y="6"/>
                  </a:lnTo>
                  <a:lnTo>
                    <a:pt x="424" y="0"/>
                  </a:lnTo>
                  <a:lnTo>
                    <a:pt x="458"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36" name="Group 40">
            <a:extLst>
              <a:ext uri="{FF2B5EF4-FFF2-40B4-BE49-F238E27FC236}">
                <a16:creationId xmlns:a16="http://schemas.microsoft.com/office/drawing/2014/main" id="{DB4C6612-EBA7-53CA-4C96-435B0A3AA0F0}"/>
              </a:ext>
            </a:extLst>
          </p:cNvPr>
          <p:cNvGrpSpPr/>
          <p:nvPr/>
        </p:nvGrpSpPr>
        <p:grpSpPr>
          <a:xfrm>
            <a:off x="5940600" y="2808326"/>
            <a:ext cx="270767" cy="348454"/>
            <a:chOff x="3457575" y="2789238"/>
            <a:chExt cx="376238" cy="484187"/>
          </a:xfrm>
          <a:solidFill>
            <a:schemeClr val="bg1"/>
          </a:solidFill>
        </p:grpSpPr>
        <p:sp>
          <p:nvSpPr>
            <p:cNvPr id="37" name="Freeform 55">
              <a:extLst>
                <a:ext uri="{FF2B5EF4-FFF2-40B4-BE49-F238E27FC236}">
                  <a16:creationId xmlns:a16="http://schemas.microsoft.com/office/drawing/2014/main" id="{14C47167-7C02-956B-62E0-E98D8FCF2AB5}"/>
                </a:ext>
              </a:extLst>
            </p:cNvPr>
            <p:cNvSpPr>
              <a:spLocks noEditPoints="1"/>
            </p:cNvSpPr>
            <p:nvPr/>
          </p:nvSpPr>
          <p:spPr bwMode="auto">
            <a:xfrm>
              <a:off x="3543300" y="2789238"/>
              <a:ext cx="201613" cy="200025"/>
            </a:xfrm>
            <a:custGeom>
              <a:avLst/>
              <a:gdLst>
                <a:gd name="T0" fmla="*/ 522 w 1139"/>
                <a:gd name="T1" fmla="*/ 158 h 1142"/>
                <a:gd name="T2" fmla="*/ 430 w 1139"/>
                <a:gd name="T3" fmla="*/ 179 h 1142"/>
                <a:gd name="T4" fmla="*/ 346 w 1139"/>
                <a:gd name="T5" fmla="*/ 220 h 1142"/>
                <a:gd name="T6" fmla="*/ 274 w 1139"/>
                <a:gd name="T7" fmla="*/ 277 h 1142"/>
                <a:gd name="T8" fmla="*/ 215 w 1139"/>
                <a:gd name="T9" fmla="*/ 350 h 1142"/>
                <a:gd name="T10" fmla="*/ 174 w 1139"/>
                <a:gd name="T11" fmla="*/ 433 h 1142"/>
                <a:gd name="T12" fmla="*/ 152 w 1139"/>
                <a:gd name="T13" fmla="*/ 527 h 1142"/>
                <a:gd name="T14" fmla="*/ 152 w 1139"/>
                <a:gd name="T15" fmla="*/ 626 h 1142"/>
                <a:gd name="T16" fmla="*/ 173 w 1139"/>
                <a:gd name="T17" fmla="*/ 718 h 1142"/>
                <a:gd name="T18" fmla="*/ 214 w 1139"/>
                <a:gd name="T19" fmla="*/ 803 h 1142"/>
                <a:gd name="T20" fmla="*/ 271 w 1139"/>
                <a:gd name="T21" fmla="*/ 875 h 1142"/>
                <a:gd name="T22" fmla="*/ 343 w 1139"/>
                <a:gd name="T23" fmla="*/ 933 h 1142"/>
                <a:gd name="T24" fmla="*/ 427 w 1139"/>
                <a:gd name="T25" fmla="*/ 975 h 1142"/>
                <a:gd name="T26" fmla="*/ 520 w 1139"/>
                <a:gd name="T27" fmla="*/ 997 h 1142"/>
                <a:gd name="T28" fmla="*/ 618 w 1139"/>
                <a:gd name="T29" fmla="*/ 997 h 1142"/>
                <a:gd name="T30" fmla="*/ 711 w 1139"/>
                <a:gd name="T31" fmla="*/ 976 h 1142"/>
                <a:gd name="T32" fmla="*/ 794 w 1139"/>
                <a:gd name="T33" fmla="*/ 935 h 1142"/>
                <a:gd name="T34" fmla="*/ 867 w 1139"/>
                <a:gd name="T35" fmla="*/ 878 h 1142"/>
                <a:gd name="T36" fmla="*/ 925 w 1139"/>
                <a:gd name="T37" fmla="*/ 805 h 1142"/>
                <a:gd name="T38" fmla="*/ 967 w 1139"/>
                <a:gd name="T39" fmla="*/ 721 h 1142"/>
                <a:gd name="T40" fmla="*/ 988 w 1139"/>
                <a:gd name="T41" fmla="*/ 628 h 1142"/>
                <a:gd name="T42" fmla="*/ 988 w 1139"/>
                <a:gd name="T43" fmla="*/ 524 h 1142"/>
                <a:gd name="T44" fmla="*/ 964 w 1139"/>
                <a:gd name="T45" fmla="*/ 424 h 1142"/>
                <a:gd name="T46" fmla="*/ 916 w 1139"/>
                <a:gd name="T47" fmla="*/ 335 h 1142"/>
                <a:gd name="T48" fmla="*/ 851 w 1139"/>
                <a:gd name="T49" fmla="*/ 260 h 1142"/>
                <a:gd name="T50" fmla="*/ 770 w 1139"/>
                <a:gd name="T51" fmla="*/ 204 h 1142"/>
                <a:gd name="T52" fmla="*/ 675 w 1139"/>
                <a:gd name="T53" fmla="*/ 168 h 1142"/>
                <a:gd name="T54" fmla="*/ 570 w 1139"/>
                <a:gd name="T55" fmla="*/ 155 h 1142"/>
                <a:gd name="T56" fmla="*/ 629 w 1139"/>
                <a:gd name="T57" fmla="*/ 3 h 1142"/>
                <a:gd name="T58" fmla="*/ 740 w 1139"/>
                <a:gd name="T59" fmla="*/ 25 h 1142"/>
                <a:gd name="T60" fmla="*/ 844 w 1139"/>
                <a:gd name="T61" fmla="*/ 68 h 1142"/>
                <a:gd name="T62" fmla="*/ 934 w 1139"/>
                <a:gd name="T63" fmla="*/ 128 h 1142"/>
                <a:gd name="T64" fmla="*/ 1011 w 1139"/>
                <a:gd name="T65" fmla="*/ 205 h 1142"/>
                <a:gd name="T66" fmla="*/ 1071 w 1139"/>
                <a:gd name="T67" fmla="*/ 296 h 1142"/>
                <a:gd name="T68" fmla="*/ 1114 w 1139"/>
                <a:gd name="T69" fmla="*/ 400 h 1142"/>
                <a:gd name="T70" fmla="*/ 1136 w 1139"/>
                <a:gd name="T71" fmla="*/ 511 h 1142"/>
                <a:gd name="T72" fmla="*/ 1136 w 1139"/>
                <a:gd name="T73" fmla="*/ 630 h 1142"/>
                <a:gd name="T74" fmla="*/ 1114 w 1139"/>
                <a:gd name="T75" fmla="*/ 742 h 1142"/>
                <a:gd name="T76" fmla="*/ 1071 w 1139"/>
                <a:gd name="T77" fmla="*/ 844 h 1142"/>
                <a:gd name="T78" fmla="*/ 1010 w 1139"/>
                <a:gd name="T79" fmla="*/ 935 h 1142"/>
                <a:gd name="T80" fmla="*/ 933 w 1139"/>
                <a:gd name="T81" fmla="*/ 1012 h 1142"/>
                <a:gd name="T82" fmla="*/ 843 w 1139"/>
                <a:gd name="T83" fmla="*/ 1073 h 1142"/>
                <a:gd name="T84" fmla="*/ 740 w 1139"/>
                <a:gd name="T85" fmla="*/ 1116 h 1142"/>
                <a:gd name="T86" fmla="*/ 629 w 1139"/>
                <a:gd name="T87" fmla="*/ 1138 h 1142"/>
                <a:gd name="T88" fmla="*/ 512 w 1139"/>
                <a:gd name="T89" fmla="*/ 1138 h 1142"/>
                <a:gd name="T90" fmla="*/ 403 w 1139"/>
                <a:gd name="T91" fmla="*/ 1116 h 1142"/>
                <a:gd name="T92" fmla="*/ 300 w 1139"/>
                <a:gd name="T93" fmla="*/ 1073 h 1142"/>
                <a:gd name="T94" fmla="*/ 210 w 1139"/>
                <a:gd name="T95" fmla="*/ 1012 h 1142"/>
                <a:gd name="T96" fmla="*/ 132 w 1139"/>
                <a:gd name="T97" fmla="*/ 935 h 1142"/>
                <a:gd name="T98" fmla="*/ 70 w 1139"/>
                <a:gd name="T99" fmla="*/ 844 h 1142"/>
                <a:gd name="T100" fmla="*/ 27 w 1139"/>
                <a:gd name="T101" fmla="*/ 742 h 1142"/>
                <a:gd name="T102" fmla="*/ 4 w 1139"/>
                <a:gd name="T103" fmla="*/ 630 h 1142"/>
                <a:gd name="T104" fmla="*/ 4 w 1139"/>
                <a:gd name="T105" fmla="*/ 511 h 1142"/>
                <a:gd name="T106" fmla="*/ 26 w 1139"/>
                <a:gd name="T107" fmla="*/ 400 h 1142"/>
                <a:gd name="T108" fmla="*/ 69 w 1139"/>
                <a:gd name="T109" fmla="*/ 296 h 1142"/>
                <a:gd name="T110" fmla="*/ 130 w 1139"/>
                <a:gd name="T111" fmla="*/ 205 h 1142"/>
                <a:gd name="T112" fmla="*/ 207 w 1139"/>
                <a:gd name="T113" fmla="*/ 128 h 1142"/>
                <a:gd name="T114" fmla="*/ 297 w 1139"/>
                <a:gd name="T115" fmla="*/ 68 h 1142"/>
                <a:gd name="T116" fmla="*/ 399 w 1139"/>
                <a:gd name="T117" fmla="*/ 25 h 1142"/>
                <a:gd name="T118" fmla="*/ 511 w 1139"/>
                <a:gd name="T119" fmla="*/ 3 h 1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1142">
                  <a:moveTo>
                    <a:pt x="570" y="155"/>
                  </a:moveTo>
                  <a:lnTo>
                    <a:pt x="522" y="158"/>
                  </a:lnTo>
                  <a:lnTo>
                    <a:pt x="474" y="166"/>
                  </a:lnTo>
                  <a:lnTo>
                    <a:pt x="430" y="179"/>
                  </a:lnTo>
                  <a:lnTo>
                    <a:pt x="387" y="198"/>
                  </a:lnTo>
                  <a:lnTo>
                    <a:pt x="346" y="220"/>
                  </a:lnTo>
                  <a:lnTo>
                    <a:pt x="308" y="247"/>
                  </a:lnTo>
                  <a:lnTo>
                    <a:pt x="274" y="277"/>
                  </a:lnTo>
                  <a:lnTo>
                    <a:pt x="243" y="312"/>
                  </a:lnTo>
                  <a:lnTo>
                    <a:pt x="215" y="350"/>
                  </a:lnTo>
                  <a:lnTo>
                    <a:pt x="192" y="390"/>
                  </a:lnTo>
                  <a:lnTo>
                    <a:pt x="174" y="433"/>
                  </a:lnTo>
                  <a:lnTo>
                    <a:pt x="160" y="480"/>
                  </a:lnTo>
                  <a:lnTo>
                    <a:pt x="152" y="527"/>
                  </a:lnTo>
                  <a:lnTo>
                    <a:pt x="149" y="578"/>
                  </a:lnTo>
                  <a:lnTo>
                    <a:pt x="152" y="626"/>
                  </a:lnTo>
                  <a:lnTo>
                    <a:pt x="160" y="673"/>
                  </a:lnTo>
                  <a:lnTo>
                    <a:pt x="173" y="718"/>
                  </a:lnTo>
                  <a:lnTo>
                    <a:pt x="191" y="762"/>
                  </a:lnTo>
                  <a:lnTo>
                    <a:pt x="214" y="803"/>
                  </a:lnTo>
                  <a:lnTo>
                    <a:pt x="240" y="840"/>
                  </a:lnTo>
                  <a:lnTo>
                    <a:pt x="271" y="875"/>
                  </a:lnTo>
                  <a:lnTo>
                    <a:pt x="306" y="906"/>
                  </a:lnTo>
                  <a:lnTo>
                    <a:pt x="343" y="933"/>
                  </a:lnTo>
                  <a:lnTo>
                    <a:pt x="384" y="956"/>
                  </a:lnTo>
                  <a:lnTo>
                    <a:pt x="427" y="975"/>
                  </a:lnTo>
                  <a:lnTo>
                    <a:pt x="472" y="989"/>
                  </a:lnTo>
                  <a:lnTo>
                    <a:pt x="520" y="997"/>
                  </a:lnTo>
                  <a:lnTo>
                    <a:pt x="570" y="1000"/>
                  </a:lnTo>
                  <a:lnTo>
                    <a:pt x="618" y="997"/>
                  </a:lnTo>
                  <a:lnTo>
                    <a:pt x="666" y="989"/>
                  </a:lnTo>
                  <a:lnTo>
                    <a:pt x="711" y="976"/>
                  </a:lnTo>
                  <a:lnTo>
                    <a:pt x="754" y="958"/>
                  </a:lnTo>
                  <a:lnTo>
                    <a:pt x="794" y="935"/>
                  </a:lnTo>
                  <a:lnTo>
                    <a:pt x="832" y="908"/>
                  </a:lnTo>
                  <a:lnTo>
                    <a:pt x="867" y="878"/>
                  </a:lnTo>
                  <a:lnTo>
                    <a:pt x="897" y="843"/>
                  </a:lnTo>
                  <a:lnTo>
                    <a:pt x="925" y="805"/>
                  </a:lnTo>
                  <a:lnTo>
                    <a:pt x="948" y="765"/>
                  </a:lnTo>
                  <a:lnTo>
                    <a:pt x="967" y="721"/>
                  </a:lnTo>
                  <a:lnTo>
                    <a:pt x="979" y="675"/>
                  </a:lnTo>
                  <a:lnTo>
                    <a:pt x="988" y="628"/>
                  </a:lnTo>
                  <a:lnTo>
                    <a:pt x="991" y="578"/>
                  </a:lnTo>
                  <a:lnTo>
                    <a:pt x="988" y="524"/>
                  </a:lnTo>
                  <a:lnTo>
                    <a:pt x="978" y="472"/>
                  </a:lnTo>
                  <a:lnTo>
                    <a:pt x="964" y="424"/>
                  </a:lnTo>
                  <a:lnTo>
                    <a:pt x="943" y="377"/>
                  </a:lnTo>
                  <a:lnTo>
                    <a:pt x="916" y="335"/>
                  </a:lnTo>
                  <a:lnTo>
                    <a:pt x="886" y="296"/>
                  </a:lnTo>
                  <a:lnTo>
                    <a:pt x="851" y="260"/>
                  </a:lnTo>
                  <a:lnTo>
                    <a:pt x="812" y="230"/>
                  </a:lnTo>
                  <a:lnTo>
                    <a:pt x="770" y="204"/>
                  </a:lnTo>
                  <a:lnTo>
                    <a:pt x="724" y="183"/>
                  </a:lnTo>
                  <a:lnTo>
                    <a:pt x="675" y="168"/>
                  </a:lnTo>
                  <a:lnTo>
                    <a:pt x="624" y="159"/>
                  </a:lnTo>
                  <a:lnTo>
                    <a:pt x="570" y="155"/>
                  </a:lnTo>
                  <a:close/>
                  <a:moveTo>
                    <a:pt x="570" y="0"/>
                  </a:moveTo>
                  <a:lnTo>
                    <a:pt x="629" y="3"/>
                  </a:lnTo>
                  <a:lnTo>
                    <a:pt x="686" y="11"/>
                  </a:lnTo>
                  <a:lnTo>
                    <a:pt x="740" y="25"/>
                  </a:lnTo>
                  <a:lnTo>
                    <a:pt x="793" y="44"/>
                  </a:lnTo>
                  <a:lnTo>
                    <a:pt x="844" y="68"/>
                  </a:lnTo>
                  <a:lnTo>
                    <a:pt x="890" y="96"/>
                  </a:lnTo>
                  <a:lnTo>
                    <a:pt x="934" y="128"/>
                  </a:lnTo>
                  <a:lnTo>
                    <a:pt x="974" y="165"/>
                  </a:lnTo>
                  <a:lnTo>
                    <a:pt x="1011" y="205"/>
                  </a:lnTo>
                  <a:lnTo>
                    <a:pt x="1044" y="250"/>
                  </a:lnTo>
                  <a:lnTo>
                    <a:pt x="1071" y="296"/>
                  </a:lnTo>
                  <a:lnTo>
                    <a:pt x="1095" y="347"/>
                  </a:lnTo>
                  <a:lnTo>
                    <a:pt x="1114" y="400"/>
                  </a:lnTo>
                  <a:lnTo>
                    <a:pt x="1128" y="454"/>
                  </a:lnTo>
                  <a:lnTo>
                    <a:pt x="1136" y="511"/>
                  </a:lnTo>
                  <a:lnTo>
                    <a:pt x="1139" y="571"/>
                  </a:lnTo>
                  <a:lnTo>
                    <a:pt x="1136" y="630"/>
                  </a:lnTo>
                  <a:lnTo>
                    <a:pt x="1128" y="687"/>
                  </a:lnTo>
                  <a:lnTo>
                    <a:pt x="1114" y="742"/>
                  </a:lnTo>
                  <a:lnTo>
                    <a:pt x="1095" y="794"/>
                  </a:lnTo>
                  <a:lnTo>
                    <a:pt x="1071" y="844"/>
                  </a:lnTo>
                  <a:lnTo>
                    <a:pt x="1043" y="891"/>
                  </a:lnTo>
                  <a:lnTo>
                    <a:pt x="1010" y="935"/>
                  </a:lnTo>
                  <a:lnTo>
                    <a:pt x="974" y="976"/>
                  </a:lnTo>
                  <a:lnTo>
                    <a:pt x="933" y="1012"/>
                  </a:lnTo>
                  <a:lnTo>
                    <a:pt x="890" y="1044"/>
                  </a:lnTo>
                  <a:lnTo>
                    <a:pt x="843" y="1073"/>
                  </a:lnTo>
                  <a:lnTo>
                    <a:pt x="793" y="1097"/>
                  </a:lnTo>
                  <a:lnTo>
                    <a:pt x="740" y="1116"/>
                  </a:lnTo>
                  <a:lnTo>
                    <a:pt x="686" y="1130"/>
                  </a:lnTo>
                  <a:lnTo>
                    <a:pt x="629" y="1138"/>
                  </a:lnTo>
                  <a:lnTo>
                    <a:pt x="570" y="1142"/>
                  </a:lnTo>
                  <a:lnTo>
                    <a:pt x="512" y="1138"/>
                  </a:lnTo>
                  <a:lnTo>
                    <a:pt x="456" y="1130"/>
                  </a:lnTo>
                  <a:lnTo>
                    <a:pt x="403" y="1116"/>
                  </a:lnTo>
                  <a:lnTo>
                    <a:pt x="350" y="1097"/>
                  </a:lnTo>
                  <a:lnTo>
                    <a:pt x="300" y="1073"/>
                  </a:lnTo>
                  <a:lnTo>
                    <a:pt x="253" y="1044"/>
                  </a:lnTo>
                  <a:lnTo>
                    <a:pt x="210" y="1012"/>
                  </a:lnTo>
                  <a:lnTo>
                    <a:pt x="169" y="976"/>
                  </a:lnTo>
                  <a:lnTo>
                    <a:pt x="132" y="935"/>
                  </a:lnTo>
                  <a:lnTo>
                    <a:pt x="99" y="891"/>
                  </a:lnTo>
                  <a:lnTo>
                    <a:pt x="70" y="844"/>
                  </a:lnTo>
                  <a:lnTo>
                    <a:pt x="46" y="794"/>
                  </a:lnTo>
                  <a:lnTo>
                    <a:pt x="27" y="742"/>
                  </a:lnTo>
                  <a:lnTo>
                    <a:pt x="12" y="687"/>
                  </a:lnTo>
                  <a:lnTo>
                    <a:pt x="4" y="630"/>
                  </a:lnTo>
                  <a:lnTo>
                    <a:pt x="0" y="571"/>
                  </a:lnTo>
                  <a:lnTo>
                    <a:pt x="4" y="511"/>
                  </a:lnTo>
                  <a:lnTo>
                    <a:pt x="12" y="454"/>
                  </a:lnTo>
                  <a:lnTo>
                    <a:pt x="26" y="400"/>
                  </a:lnTo>
                  <a:lnTo>
                    <a:pt x="45" y="347"/>
                  </a:lnTo>
                  <a:lnTo>
                    <a:pt x="69" y="296"/>
                  </a:lnTo>
                  <a:lnTo>
                    <a:pt x="97" y="250"/>
                  </a:lnTo>
                  <a:lnTo>
                    <a:pt x="130" y="205"/>
                  </a:lnTo>
                  <a:lnTo>
                    <a:pt x="166" y="165"/>
                  </a:lnTo>
                  <a:lnTo>
                    <a:pt x="207" y="128"/>
                  </a:lnTo>
                  <a:lnTo>
                    <a:pt x="250" y="96"/>
                  </a:lnTo>
                  <a:lnTo>
                    <a:pt x="297" y="68"/>
                  </a:lnTo>
                  <a:lnTo>
                    <a:pt x="347" y="44"/>
                  </a:lnTo>
                  <a:lnTo>
                    <a:pt x="399" y="25"/>
                  </a:lnTo>
                  <a:lnTo>
                    <a:pt x="454" y="11"/>
                  </a:lnTo>
                  <a:lnTo>
                    <a:pt x="511" y="3"/>
                  </a:lnTo>
                  <a:lnTo>
                    <a:pt x="57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8" name="Freeform 57">
              <a:extLst>
                <a:ext uri="{FF2B5EF4-FFF2-40B4-BE49-F238E27FC236}">
                  <a16:creationId xmlns:a16="http://schemas.microsoft.com/office/drawing/2014/main" id="{AA72F6A2-B0D2-5144-3809-FC7B8299E90F}"/>
                </a:ext>
              </a:extLst>
            </p:cNvPr>
            <p:cNvSpPr>
              <a:spLocks noEditPoints="1"/>
            </p:cNvSpPr>
            <p:nvPr/>
          </p:nvSpPr>
          <p:spPr bwMode="auto">
            <a:xfrm>
              <a:off x="3457575" y="3028950"/>
              <a:ext cx="376238" cy="244475"/>
            </a:xfrm>
            <a:custGeom>
              <a:avLst/>
              <a:gdLst>
                <a:gd name="T0" fmla="*/ 405 w 2129"/>
                <a:gd name="T1" fmla="*/ 151 h 1386"/>
                <a:gd name="T2" fmla="*/ 334 w 2129"/>
                <a:gd name="T3" fmla="*/ 171 h 1386"/>
                <a:gd name="T4" fmla="*/ 269 w 2129"/>
                <a:gd name="T5" fmla="*/ 208 h 1386"/>
                <a:gd name="T6" fmla="*/ 217 w 2129"/>
                <a:gd name="T7" fmla="*/ 260 h 1386"/>
                <a:gd name="T8" fmla="*/ 179 w 2129"/>
                <a:gd name="T9" fmla="*/ 323 h 1386"/>
                <a:gd name="T10" fmla="*/ 158 w 2129"/>
                <a:gd name="T11" fmla="*/ 398 h 1386"/>
                <a:gd name="T12" fmla="*/ 155 w 2129"/>
                <a:gd name="T13" fmla="*/ 1237 h 1386"/>
                <a:gd name="T14" fmla="*/ 1974 w 2129"/>
                <a:gd name="T15" fmla="*/ 438 h 1386"/>
                <a:gd name="T16" fmla="*/ 1963 w 2129"/>
                <a:gd name="T17" fmla="*/ 362 h 1386"/>
                <a:gd name="T18" fmla="*/ 1935 w 2129"/>
                <a:gd name="T19" fmla="*/ 294 h 1386"/>
                <a:gd name="T20" fmla="*/ 1891 w 2129"/>
                <a:gd name="T21" fmla="*/ 234 h 1386"/>
                <a:gd name="T22" fmla="*/ 1833 w 2129"/>
                <a:gd name="T23" fmla="*/ 189 h 1386"/>
                <a:gd name="T24" fmla="*/ 1763 w 2129"/>
                <a:gd name="T25" fmla="*/ 160 h 1386"/>
                <a:gd name="T26" fmla="*/ 1685 w 2129"/>
                <a:gd name="T27" fmla="*/ 148 h 1386"/>
                <a:gd name="T28" fmla="*/ 1116 w 2129"/>
                <a:gd name="T29" fmla="*/ 422 h 1386"/>
                <a:gd name="T30" fmla="*/ 1082 w 2129"/>
                <a:gd name="T31" fmla="*/ 442 h 1386"/>
                <a:gd name="T32" fmla="*/ 1045 w 2129"/>
                <a:gd name="T33" fmla="*/ 442 h 1386"/>
                <a:gd name="T34" fmla="*/ 1013 w 2129"/>
                <a:gd name="T35" fmla="*/ 422 h 1386"/>
                <a:gd name="T36" fmla="*/ 444 w 2129"/>
                <a:gd name="T37" fmla="*/ 148 h 1386"/>
                <a:gd name="T38" fmla="*/ 768 w 2129"/>
                <a:gd name="T39" fmla="*/ 0 h 1386"/>
                <a:gd name="T40" fmla="*/ 797 w 2129"/>
                <a:gd name="T41" fmla="*/ 7 h 1386"/>
                <a:gd name="T42" fmla="*/ 820 w 2129"/>
                <a:gd name="T43" fmla="*/ 22 h 1386"/>
                <a:gd name="T44" fmla="*/ 1309 w 2129"/>
                <a:gd name="T45" fmla="*/ 22 h 1386"/>
                <a:gd name="T46" fmla="*/ 1332 w 2129"/>
                <a:gd name="T47" fmla="*/ 7 h 1386"/>
                <a:gd name="T48" fmla="*/ 1360 w 2129"/>
                <a:gd name="T49" fmla="*/ 0 h 1386"/>
                <a:gd name="T50" fmla="*/ 1742 w 2129"/>
                <a:gd name="T51" fmla="*/ 3 h 1386"/>
                <a:gd name="T52" fmla="*/ 1838 w 2129"/>
                <a:gd name="T53" fmla="*/ 26 h 1386"/>
                <a:gd name="T54" fmla="*/ 1924 w 2129"/>
                <a:gd name="T55" fmla="*/ 68 h 1386"/>
                <a:gd name="T56" fmla="*/ 1999 w 2129"/>
                <a:gd name="T57" fmla="*/ 128 h 1386"/>
                <a:gd name="T58" fmla="*/ 2059 w 2129"/>
                <a:gd name="T59" fmla="*/ 202 h 1386"/>
                <a:gd name="T60" fmla="*/ 2102 w 2129"/>
                <a:gd name="T61" fmla="*/ 289 h 1386"/>
                <a:gd name="T62" fmla="*/ 2125 w 2129"/>
                <a:gd name="T63" fmla="*/ 386 h 1386"/>
                <a:gd name="T64" fmla="*/ 2129 w 2129"/>
                <a:gd name="T65" fmla="*/ 1312 h 1386"/>
                <a:gd name="T66" fmla="*/ 2113 w 2129"/>
                <a:gd name="T67" fmla="*/ 1351 h 1386"/>
                <a:gd name="T68" fmla="*/ 2083 w 2129"/>
                <a:gd name="T69" fmla="*/ 1377 h 1386"/>
                <a:gd name="T70" fmla="*/ 2048 w 2129"/>
                <a:gd name="T71" fmla="*/ 1386 h 1386"/>
                <a:gd name="T72" fmla="*/ 53 w 2129"/>
                <a:gd name="T73" fmla="*/ 1384 h 1386"/>
                <a:gd name="T74" fmla="*/ 20 w 2129"/>
                <a:gd name="T75" fmla="*/ 1366 h 1386"/>
                <a:gd name="T76" fmla="*/ 2 w 2129"/>
                <a:gd name="T77" fmla="*/ 1333 h 1386"/>
                <a:gd name="T78" fmla="*/ 0 w 2129"/>
                <a:gd name="T79" fmla="*/ 438 h 1386"/>
                <a:gd name="T80" fmla="*/ 12 w 2129"/>
                <a:gd name="T81" fmla="*/ 339 h 1386"/>
                <a:gd name="T82" fmla="*/ 44 w 2129"/>
                <a:gd name="T83" fmla="*/ 247 h 1386"/>
                <a:gd name="T84" fmla="*/ 95 w 2129"/>
                <a:gd name="T85" fmla="*/ 166 h 1386"/>
                <a:gd name="T86" fmla="*/ 162 w 2129"/>
                <a:gd name="T87" fmla="*/ 98 h 1386"/>
                <a:gd name="T88" fmla="*/ 243 w 2129"/>
                <a:gd name="T89" fmla="*/ 46 h 1386"/>
                <a:gd name="T90" fmla="*/ 335 w 2129"/>
                <a:gd name="T91" fmla="*/ 13 h 1386"/>
                <a:gd name="T92" fmla="*/ 436 w 2129"/>
                <a:gd name="T93" fmla="*/ 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9" h="1386">
                  <a:moveTo>
                    <a:pt x="444" y="148"/>
                  </a:moveTo>
                  <a:lnTo>
                    <a:pt x="405" y="151"/>
                  </a:lnTo>
                  <a:lnTo>
                    <a:pt x="368" y="159"/>
                  </a:lnTo>
                  <a:lnTo>
                    <a:pt x="334" y="171"/>
                  </a:lnTo>
                  <a:lnTo>
                    <a:pt x="300" y="187"/>
                  </a:lnTo>
                  <a:lnTo>
                    <a:pt x="269" y="208"/>
                  </a:lnTo>
                  <a:lnTo>
                    <a:pt x="241" y="231"/>
                  </a:lnTo>
                  <a:lnTo>
                    <a:pt x="217" y="260"/>
                  </a:lnTo>
                  <a:lnTo>
                    <a:pt x="196" y="290"/>
                  </a:lnTo>
                  <a:lnTo>
                    <a:pt x="179" y="323"/>
                  </a:lnTo>
                  <a:lnTo>
                    <a:pt x="166" y="360"/>
                  </a:lnTo>
                  <a:lnTo>
                    <a:pt x="158" y="398"/>
                  </a:lnTo>
                  <a:lnTo>
                    <a:pt x="155" y="438"/>
                  </a:lnTo>
                  <a:lnTo>
                    <a:pt x="155" y="1237"/>
                  </a:lnTo>
                  <a:lnTo>
                    <a:pt x="1974" y="1237"/>
                  </a:lnTo>
                  <a:lnTo>
                    <a:pt x="1974" y="438"/>
                  </a:lnTo>
                  <a:lnTo>
                    <a:pt x="1971" y="399"/>
                  </a:lnTo>
                  <a:lnTo>
                    <a:pt x="1963" y="362"/>
                  </a:lnTo>
                  <a:lnTo>
                    <a:pt x="1952" y="327"/>
                  </a:lnTo>
                  <a:lnTo>
                    <a:pt x="1935" y="294"/>
                  </a:lnTo>
                  <a:lnTo>
                    <a:pt x="1915" y="263"/>
                  </a:lnTo>
                  <a:lnTo>
                    <a:pt x="1891" y="234"/>
                  </a:lnTo>
                  <a:lnTo>
                    <a:pt x="1863" y="210"/>
                  </a:lnTo>
                  <a:lnTo>
                    <a:pt x="1833" y="189"/>
                  </a:lnTo>
                  <a:lnTo>
                    <a:pt x="1799" y="172"/>
                  </a:lnTo>
                  <a:lnTo>
                    <a:pt x="1763" y="160"/>
                  </a:lnTo>
                  <a:lnTo>
                    <a:pt x="1725" y="151"/>
                  </a:lnTo>
                  <a:lnTo>
                    <a:pt x="1685" y="148"/>
                  </a:lnTo>
                  <a:lnTo>
                    <a:pt x="1390" y="148"/>
                  </a:lnTo>
                  <a:lnTo>
                    <a:pt x="1116" y="422"/>
                  </a:lnTo>
                  <a:lnTo>
                    <a:pt x="1100" y="435"/>
                  </a:lnTo>
                  <a:lnTo>
                    <a:pt x="1082" y="442"/>
                  </a:lnTo>
                  <a:lnTo>
                    <a:pt x="1064" y="446"/>
                  </a:lnTo>
                  <a:lnTo>
                    <a:pt x="1045" y="442"/>
                  </a:lnTo>
                  <a:lnTo>
                    <a:pt x="1029" y="435"/>
                  </a:lnTo>
                  <a:lnTo>
                    <a:pt x="1013" y="422"/>
                  </a:lnTo>
                  <a:lnTo>
                    <a:pt x="739" y="148"/>
                  </a:lnTo>
                  <a:lnTo>
                    <a:pt x="444" y="148"/>
                  </a:lnTo>
                  <a:close/>
                  <a:moveTo>
                    <a:pt x="436" y="0"/>
                  </a:moveTo>
                  <a:lnTo>
                    <a:pt x="768" y="0"/>
                  </a:lnTo>
                  <a:lnTo>
                    <a:pt x="784" y="2"/>
                  </a:lnTo>
                  <a:lnTo>
                    <a:pt x="797" y="7"/>
                  </a:lnTo>
                  <a:lnTo>
                    <a:pt x="808" y="13"/>
                  </a:lnTo>
                  <a:lnTo>
                    <a:pt x="820" y="22"/>
                  </a:lnTo>
                  <a:lnTo>
                    <a:pt x="1064" y="267"/>
                  </a:lnTo>
                  <a:lnTo>
                    <a:pt x="1309" y="22"/>
                  </a:lnTo>
                  <a:lnTo>
                    <a:pt x="1319" y="13"/>
                  </a:lnTo>
                  <a:lnTo>
                    <a:pt x="1332" y="7"/>
                  </a:lnTo>
                  <a:lnTo>
                    <a:pt x="1344" y="2"/>
                  </a:lnTo>
                  <a:lnTo>
                    <a:pt x="1360" y="0"/>
                  </a:lnTo>
                  <a:lnTo>
                    <a:pt x="1693" y="0"/>
                  </a:lnTo>
                  <a:lnTo>
                    <a:pt x="1742" y="3"/>
                  </a:lnTo>
                  <a:lnTo>
                    <a:pt x="1791" y="12"/>
                  </a:lnTo>
                  <a:lnTo>
                    <a:pt x="1838" y="26"/>
                  </a:lnTo>
                  <a:lnTo>
                    <a:pt x="1882" y="45"/>
                  </a:lnTo>
                  <a:lnTo>
                    <a:pt x="1924" y="68"/>
                  </a:lnTo>
                  <a:lnTo>
                    <a:pt x="1963" y="95"/>
                  </a:lnTo>
                  <a:lnTo>
                    <a:pt x="1999" y="128"/>
                  </a:lnTo>
                  <a:lnTo>
                    <a:pt x="2032" y="163"/>
                  </a:lnTo>
                  <a:lnTo>
                    <a:pt x="2059" y="202"/>
                  </a:lnTo>
                  <a:lnTo>
                    <a:pt x="2083" y="244"/>
                  </a:lnTo>
                  <a:lnTo>
                    <a:pt x="2102" y="289"/>
                  </a:lnTo>
                  <a:lnTo>
                    <a:pt x="2117" y="337"/>
                  </a:lnTo>
                  <a:lnTo>
                    <a:pt x="2125" y="386"/>
                  </a:lnTo>
                  <a:lnTo>
                    <a:pt x="2129" y="438"/>
                  </a:lnTo>
                  <a:lnTo>
                    <a:pt x="2129" y="1312"/>
                  </a:lnTo>
                  <a:lnTo>
                    <a:pt x="2122" y="1333"/>
                  </a:lnTo>
                  <a:lnTo>
                    <a:pt x="2113" y="1351"/>
                  </a:lnTo>
                  <a:lnTo>
                    <a:pt x="2099" y="1366"/>
                  </a:lnTo>
                  <a:lnTo>
                    <a:pt x="2083" y="1377"/>
                  </a:lnTo>
                  <a:lnTo>
                    <a:pt x="2065" y="1384"/>
                  </a:lnTo>
                  <a:lnTo>
                    <a:pt x="2048" y="1386"/>
                  </a:lnTo>
                  <a:lnTo>
                    <a:pt x="74" y="1386"/>
                  </a:lnTo>
                  <a:lnTo>
                    <a:pt x="53" y="1384"/>
                  </a:lnTo>
                  <a:lnTo>
                    <a:pt x="35" y="1377"/>
                  </a:lnTo>
                  <a:lnTo>
                    <a:pt x="20" y="1366"/>
                  </a:lnTo>
                  <a:lnTo>
                    <a:pt x="9" y="1351"/>
                  </a:lnTo>
                  <a:lnTo>
                    <a:pt x="2" y="1333"/>
                  </a:lnTo>
                  <a:lnTo>
                    <a:pt x="0" y="1312"/>
                  </a:lnTo>
                  <a:lnTo>
                    <a:pt x="0" y="438"/>
                  </a:lnTo>
                  <a:lnTo>
                    <a:pt x="3" y="388"/>
                  </a:lnTo>
                  <a:lnTo>
                    <a:pt x="12" y="339"/>
                  </a:lnTo>
                  <a:lnTo>
                    <a:pt x="25" y="291"/>
                  </a:lnTo>
                  <a:lnTo>
                    <a:pt x="44" y="247"/>
                  </a:lnTo>
                  <a:lnTo>
                    <a:pt x="67" y="205"/>
                  </a:lnTo>
                  <a:lnTo>
                    <a:pt x="95" y="166"/>
                  </a:lnTo>
                  <a:lnTo>
                    <a:pt x="126" y="130"/>
                  </a:lnTo>
                  <a:lnTo>
                    <a:pt x="162" y="98"/>
                  </a:lnTo>
                  <a:lnTo>
                    <a:pt x="201" y="70"/>
                  </a:lnTo>
                  <a:lnTo>
                    <a:pt x="243" y="46"/>
                  </a:lnTo>
                  <a:lnTo>
                    <a:pt x="287" y="27"/>
                  </a:lnTo>
                  <a:lnTo>
                    <a:pt x="335" y="13"/>
                  </a:lnTo>
                  <a:lnTo>
                    <a:pt x="384" y="3"/>
                  </a:lnTo>
                  <a:lnTo>
                    <a:pt x="436"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39" name="Freeform 91">
            <a:extLst>
              <a:ext uri="{FF2B5EF4-FFF2-40B4-BE49-F238E27FC236}">
                <a16:creationId xmlns:a16="http://schemas.microsoft.com/office/drawing/2014/main" id="{A9DD3510-F6D0-BEEA-5FF1-049C231F4AA5}"/>
              </a:ext>
            </a:extLst>
          </p:cNvPr>
          <p:cNvSpPr>
            <a:spLocks noEditPoints="1"/>
          </p:cNvSpPr>
          <p:nvPr/>
        </p:nvSpPr>
        <p:spPr bwMode="auto">
          <a:xfrm>
            <a:off x="7571462" y="2807322"/>
            <a:ext cx="377634" cy="377634"/>
          </a:xfrm>
          <a:custGeom>
            <a:avLst/>
            <a:gdLst>
              <a:gd name="T0" fmla="*/ 1133 w 3474"/>
              <a:gd name="T1" fmla="*/ 1077 h 3475"/>
              <a:gd name="T2" fmla="*/ 1072 w 3474"/>
              <a:gd name="T3" fmla="*/ 1158 h 3475"/>
              <a:gd name="T4" fmla="*/ 1124 w 3474"/>
              <a:gd name="T5" fmla="*/ 1172 h 3475"/>
              <a:gd name="T6" fmla="*/ 1180 w 3474"/>
              <a:gd name="T7" fmla="*/ 1194 h 3475"/>
              <a:gd name="T8" fmla="*/ 1199 w 3474"/>
              <a:gd name="T9" fmla="*/ 1253 h 3475"/>
              <a:gd name="T10" fmla="*/ 1167 w 3474"/>
              <a:gd name="T11" fmla="*/ 1309 h 3475"/>
              <a:gd name="T12" fmla="*/ 1228 w 3474"/>
              <a:gd name="T13" fmla="*/ 1326 h 3475"/>
              <a:gd name="T14" fmla="*/ 1315 w 3474"/>
              <a:gd name="T15" fmla="*/ 1268 h 3475"/>
              <a:gd name="T16" fmla="*/ 1334 w 3474"/>
              <a:gd name="T17" fmla="*/ 1166 h 3475"/>
              <a:gd name="T18" fmla="*/ 1287 w 3474"/>
              <a:gd name="T19" fmla="*/ 1085 h 3475"/>
              <a:gd name="T20" fmla="*/ 1210 w 3474"/>
              <a:gd name="T21" fmla="*/ 1057 h 3475"/>
              <a:gd name="T22" fmla="*/ 736 w 3474"/>
              <a:gd name="T23" fmla="*/ 1040 h 3475"/>
              <a:gd name="T24" fmla="*/ 924 w 3474"/>
              <a:gd name="T25" fmla="*/ 1147 h 3475"/>
              <a:gd name="T26" fmla="*/ 978 w 3474"/>
              <a:gd name="T27" fmla="*/ 1020 h 3475"/>
              <a:gd name="T28" fmla="*/ 1094 w 3474"/>
              <a:gd name="T29" fmla="*/ 934 h 3475"/>
              <a:gd name="T30" fmla="*/ 1236 w 3474"/>
              <a:gd name="T31" fmla="*/ 916 h 3475"/>
              <a:gd name="T32" fmla="*/ 1372 w 3474"/>
              <a:gd name="T33" fmla="*/ 968 h 3475"/>
              <a:gd name="T34" fmla="*/ 1464 w 3474"/>
              <a:gd name="T35" fmla="*/ 1085 h 3475"/>
              <a:gd name="T36" fmla="*/ 1482 w 3474"/>
              <a:gd name="T37" fmla="*/ 1227 h 3475"/>
              <a:gd name="T38" fmla="*/ 1427 w 3474"/>
              <a:gd name="T39" fmla="*/ 1363 h 3475"/>
              <a:gd name="T40" fmla="*/ 1310 w 3474"/>
              <a:gd name="T41" fmla="*/ 1452 h 3475"/>
              <a:gd name="T42" fmla="*/ 1165 w 3474"/>
              <a:gd name="T43" fmla="*/ 1471 h 3475"/>
              <a:gd name="T44" fmla="*/ 1031 w 3474"/>
              <a:gd name="T45" fmla="*/ 1415 h 3475"/>
              <a:gd name="T46" fmla="*/ 942 w 3474"/>
              <a:gd name="T47" fmla="*/ 1299 h 3475"/>
              <a:gd name="T48" fmla="*/ 719 w 3474"/>
              <a:gd name="T49" fmla="*/ 1199 h 3475"/>
              <a:gd name="T50" fmla="*/ 3298 w 3474"/>
              <a:gd name="T51" fmla="*/ 2319 h 3475"/>
              <a:gd name="T52" fmla="*/ 208 w 3474"/>
              <a:gd name="T53" fmla="*/ 148 h 3475"/>
              <a:gd name="T54" fmla="*/ 147 w 3474"/>
              <a:gd name="T55" fmla="*/ 208 h 3475"/>
              <a:gd name="T56" fmla="*/ 151 w 3474"/>
              <a:gd name="T57" fmla="*/ 322 h 3475"/>
              <a:gd name="T58" fmla="*/ 214 w 3474"/>
              <a:gd name="T59" fmla="*/ 473 h 3475"/>
              <a:gd name="T60" fmla="*/ 329 w 3474"/>
              <a:gd name="T61" fmla="*/ 647 h 3475"/>
              <a:gd name="T62" fmla="*/ 489 w 3474"/>
              <a:gd name="T63" fmla="*/ 830 h 3475"/>
              <a:gd name="T64" fmla="*/ 602 w 3474"/>
              <a:gd name="T65" fmla="*/ 609 h 3475"/>
              <a:gd name="T66" fmla="*/ 649 w 3474"/>
              <a:gd name="T67" fmla="*/ 577 h 3475"/>
              <a:gd name="T68" fmla="*/ 734 w 3474"/>
              <a:gd name="T69" fmla="*/ 408 h 3475"/>
              <a:gd name="T70" fmla="*/ 555 w 3474"/>
              <a:gd name="T71" fmla="*/ 269 h 3475"/>
              <a:gd name="T72" fmla="*/ 392 w 3474"/>
              <a:gd name="T73" fmla="*/ 177 h 3475"/>
              <a:gd name="T74" fmla="*/ 259 w 3474"/>
              <a:gd name="T75" fmla="*/ 142 h 3475"/>
              <a:gd name="T76" fmla="*/ 336 w 3474"/>
              <a:gd name="T77" fmla="*/ 15 h 3475"/>
              <a:gd name="T78" fmla="*/ 524 w 3474"/>
              <a:gd name="T79" fmla="*/ 87 h 3475"/>
              <a:gd name="T80" fmla="*/ 726 w 3474"/>
              <a:gd name="T81" fmla="*/ 213 h 3475"/>
              <a:gd name="T82" fmla="*/ 929 w 3474"/>
              <a:gd name="T83" fmla="*/ 389 h 3475"/>
              <a:gd name="T84" fmla="*/ 1592 w 3474"/>
              <a:gd name="T85" fmla="*/ 427 h 3475"/>
              <a:gd name="T86" fmla="*/ 1645 w 3474"/>
              <a:gd name="T87" fmla="*/ 452 h 3475"/>
              <a:gd name="T88" fmla="*/ 3474 w 3474"/>
              <a:gd name="T89" fmla="*/ 2318 h 3475"/>
              <a:gd name="T90" fmla="*/ 2375 w 3474"/>
              <a:gd name="T91" fmla="*/ 3452 h 3475"/>
              <a:gd name="T92" fmla="*/ 2323 w 3474"/>
              <a:gd name="T93" fmla="*/ 3475 h 3475"/>
              <a:gd name="T94" fmla="*/ 2272 w 3474"/>
              <a:gd name="T95" fmla="*/ 3452 h 3475"/>
              <a:gd name="T96" fmla="*/ 443 w 3474"/>
              <a:gd name="T97" fmla="*/ 1592 h 3475"/>
              <a:gd name="T98" fmla="*/ 430 w 3474"/>
              <a:gd name="T99" fmla="*/ 978 h 3475"/>
              <a:gd name="T100" fmla="*/ 249 w 3474"/>
              <a:gd name="T101" fmla="*/ 781 h 3475"/>
              <a:gd name="T102" fmla="*/ 111 w 3474"/>
              <a:gd name="T103" fmla="*/ 575 h 3475"/>
              <a:gd name="T104" fmla="*/ 26 w 3474"/>
              <a:gd name="T105" fmla="*/ 381 h 3475"/>
              <a:gd name="T106" fmla="*/ 0 w 3474"/>
              <a:gd name="T107" fmla="*/ 212 h 3475"/>
              <a:gd name="T108" fmla="*/ 39 w 3474"/>
              <a:gd name="T109" fmla="*/ 83 h 3475"/>
              <a:gd name="T110" fmla="*/ 142 w 3474"/>
              <a:gd name="T111" fmla="*/ 11 h 3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74" h="3475">
                <a:moveTo>
                  <a:pt x="1210" y="1057"/>
                </a:moveTo>
                <a:lnTo>
                  <a:pt x="1184" y="1059"/>
                </a:lnTo>
                <a:lnTo>
                  <a:pt x="1159" y="1065"/>
                </a:lnTo>
                <a:lnTo>
                  <a:pt x="1133" y="1077"/>
                </a:lnTo>
                <a:lnTo>
                  <a:pt x="1107" y="1097"/>
                </a:lnTo>
                <a:lnTo>
                  <a:pt x="1091" y="1115"/>
                </a:lnTo>
                <a:lnTo>
                  <a:pt x="1080" y="1136"/>
                </a:lnTo>
                <a:lnTo>
                  <a:pt x="1072" y="1158"/>
                </a:lnTo>
                <a:lnTo>
                  <a:pt x="1068" y="1181"/>
                </a:lnTo>
                <a:lnTo>
                  <a:pt x="1088" y="1180"/>
                </a:lnTo>
                <a:lnTo>
                  <a:pt x="1106" y="1176"/>
                </a:lnTo>
                <a:lnTo>
                  <a:pt x="1124" y="1172"/>
                </a:lnTo>
                <a:lnTo>
                  <a:pt x="1141" y="1172"/>
                </a:lnTo>
                <a:lnTo>
                  <a:pt x="1157" y="1176"/>
                </a:lnTo>
                <a:lnTo>
                  <a:pt x="1170" y="1183"/>
                </a:lnTo>
                <a:lnTo>
                  <a:pt x="1180" y="1194"/>
                </a:lnTo>
                <a:lnTo>
                  <a:pt x="1190" y="1207"/>
                </a:lnTo>
                <a:lnTo>
                  <a:pt x="1195" y="1222"/>
                </a:lnTo>
                <a:lnTo>
                  <a:pt x="1199" y="1237"/>
                </a:lnTo>
                <a:lnTo>
                  <a:pt x="1199" y="1253"/>
                </a:lnTo>
                <a:lnTo>
                  <a:pt x="1196" y="1269"/>
                </a:lnTo>
                <a:lnTo>
                  <a:pt x="1191" y="1283"/>
                </a:lnTo>
                <a:lnTo>
                  <a:pt x="1181" y="1297"/>
                </a:lnTo>
                <a:lnTo>
                  <a:pt x="1167" y="1309"/>
                </a:lnTo>
                <a:lnTo>
                  <a:pt x="1151" y="1317"/>
                </a:lnTo>
                <a:lnTo>
                  <a:pt x="1175" y="1325"/>
                </a:lnTo>
                <a:lnTo>
                  <a:pt x="1201" y="1328"/>
                </a:lnTo>
                <a:lnTo>
                  <a:pt x="1228" y="1326"/>
                </a:lnTo>
                <a:lnTo>
                  <a:pt x="1253" y="1318"/>
                </a:lnTo>
                <a:lnTo>
                  <a:pt x="1277" y="1306"/>
                </a:lnTo>
                <a:lnTo>
                  <a:pt x="1298" y="1289"/>
                </a:lnTo>
                <a:lnTo>
                  <a:pt x="1315" y="1268"/>
                </a:lnTo>
                <a:lnTo>
                  <a:pt x="1328" y="1244"/>
                </a:lnTo>
                <a:lnTo>
                  <a:pt x="1334" y="1219"/>
                </a:lnTo>
                <a:lnTo>
                  <a:pt x="1337" y="1193"/>
                </a:lnTo>
                <a:lnTo>
                  <a:pt x="1334" y="1166"/>
                </a:lnTo>
                <a:lnTo>
                  <a:pt x="1328" y="1141"/>
                </a:lnTo>
                <a:lnTo>
                  <a:pt x="1315" y="1117"/>
                </a:lnTo>
                <a:lnTo>
                  <a:pt x="1298" y="1097"/>
                </a:lnTo>
                <a:lnTo>
                  <a:pt x="1287" y="1085"/>
                </a:lnTo>
                <a:lnTo>
                  <a:pt x="1271" y="1074"/>
                </a:lnTo>
                <a:lnTo>
                  <a:pt x="1253" y="1066"/>
                </a:lnTo>
                <a:lnTo>
                  <a:pt x="1232" y="1060"/>
                </a:lnTo>
                <a:lnTo>
                  <a:pt x="1210" y="1057"/>
                </a:lnTo>
                <a:close/>
                <a:moveTo>
                  <a:pt x="1572" y="585"/>
                </a:moveTo>
                <a:lnTo>
                  <a:pt x="730" y="718"/>
                </a:lnTo>
                <a:lnTo>
                  <a:pt x="686" y="1004"/>
                </a:lnTo>
                <a:lnTo>
                  <a:pt x="736" y="1040"/>
                </a:lnTo>
                <a:lnTo>
                  <a:pt x="785" y="1073"/>
                </a:lnTo>
                <a:lnTo>
                  <a:pt x="834" y="1102"/>
                </a:lnTo>
                <a:lnTo>
                  <a:pt x="879" y="1126"/>
                </a:lnTo>
                <a:lnTo>
                  <a:pt x="924" y="1147"/>
                </a:lnTo>
                <a:lnTo>
                  <a:pt x="931" y="1114"/>
                </a:lnTo>
                <a:lnTo>
                  <a:pt x="944" y="1081"/>
                </a:lnTo>
                <a:lnTo>
                  <a:pt x="959" y="1049"/>
                </a:lnTo>
                <a:lnTo>
                  <a:pt x="978" y="1020"/>
                </a:lnTo>
                <a:lnTo>
                  <a:pt x="1003" y="992"/>
                </a:lnTo>
                <a:lnTo>
                  <a:pt x="1030" y="968"/>
                </a:lnTo>
                <a:lnTo>
                  <a:pt x="1061" y="949"/>
                </a:lnTo>
                <a:lnTo>
                  <a:pt x="1094" y="934"/>
                </a:lnTo>
                <a:lnTo>
                  <a:pt x="1128" y="922"/>
                </a:lnTo>
                <a:lnTo>
                  <a:pt x="1163" y="916"/>
                </a:lnTo>
                <a:lnTo>
                  <a:pt x="1200" y="914"/>
                </a:lnTo>
                <a:lnTo>
                  <a:pt x="1236" y="916"/>
                </a:lnTo>
                <a:lnTo>
                  <a:pt x="1272" y="922"/>
                </a:lnTo>
                <a:lnTo>
                  <a:pt x="1308" y="934"/>
                </a:lnTo>
                <a:lnTo>
                  <a:pt x="1341" y="949"/>
                </a:lnTo>
                <a:lnTo>
                  <a:pt x="1372" y="968"/>
                </a:lnTo>
                <a:lnTo>
                  <a:pt x="1402" y="992"/>
                </a:lnTo>
                <a:lnTo>
                  <a:pt x="1427" y="1021"/>
                </a:lnTo>
                <a:lnTo>
                  <a:pt x="1448" y="1052"/>
                </a:lnTo>
                <a:lnTo>
                  <a:pt x="1464" y="1085"/>
                </a:lnTo>
                <a:lnTo>
                  <a:pt x="1476" y="1120"/>
                </a:lnTo>
                <a:lnTo>
                  <a:pt x="1482" y="1156"/>
                </a:lnTo>
                <a:lnTo>
                  <a:pt x="1485" y="1192"/>
                </a:lnTo>
                <a:lnTo>
                  <a:pt x="1482" y="1227"/>
                </a:lnTo>
                <a:lnTo>
                  <a:pt x="1476" y="1263"/>
                </a:lnTo>
                <a:lnTo>
                  <a:pt x="1464" y="1298"/>
                </a:lnTo>
                <a:lnTo>
                  <a:pt x="1448" y="1331"/>
                </a:lnTo>
                <a:lnTo>
                  <a:pt x="1427" y="1363"/>
                </a:lnTo>
                <a:lnTo>
                  <a:pt x="1402" y="1392"/>
                </a:lnTo>
                <a:lnTo>
                  <a:pt x="1374" y="1415"/>
                </a:lnTo>
                <a:lnTo>
                  <a:pt x="1344" y="1435"/>
                </a:lnTo>
                <a:lnTo>
                  <a:pt x="1310" y="1452"/>
                </a:lnTo>
                <a:lnTo>
                  <a:pt x="1275" y="1464"/>
                </a:lnTo>
                <a:lnTo>
                  <a:pt x="1239" y="1471"/>
                </a:lnTo>
                <a:lnTo>
                  <a:pt x="1202" y="1473"/>
                </a:lnTo>
                <a:lnTo>
                  <a:pt x="1165" y="1471"/>
                </a:lnTo>
                <a:lnTo>
                  <a:pt x="1129" y="1464"/>
                </a:lnTo>
                <a:lnTo>
                  <a:pt x="1095" y="1452"/>
                </a:lnTo>
                <a:lnTo>
                  <a:pt x="1062" y="1435"/>
                </a:lnTo>
                <a:lnTo>
                  <a:pt x="1031" y="1415"/>
                </a:lnTo>
                <a:lnTo>
                  <a:pt x="1003" y="1392"/>
                </a:lnTo>
                <a:lnTo>
                  <a:pt x="978" y="1363"/>
                </a:lnTo>
                <a:lnTo>
                  <a:pt x="957" y="1332"/>
                </a:lnTo>
                <a:lnTo>
                  <a:pt x="942" y="1299"/>
                </a:lnTo>
                <a:lnTo>
                  <a:pt x="889" y="1281"/>
                </a:lnTo>
                <a:lnTo>
                  <a:pt x="833" y="1258"/>
                </a:lnTo>
                <a:lnTo>
                  <a:pt x="777" y="1231"/>
                </a:lnTo>
                <a:lnTo>
                  <a:pt x="719" y="1199"/>
                </a:lnTo>
                <a:lnTo>
                  <a:pt x="661" y="1162"/>
                </a:lnTo>
                <a:lnTo>
                  <a:pt x="597" y="1563"/>
                </a:lnTo>
                <a:lnTo>
                  <a:pt x="2323" y="3296"/>
                </a:lnTo>
                <a:lnTo>
                  <a:pt x="3298" y="2319"/>
                </a:lnTo>
                <a:lnTo>
                  <a:pt x="1572" y="585"/>
                </a:lnTo>
                <a:close/>
                <a:moveTo>
                  <a:pt x="259" y="142"/>
                </a:moveTo>
                <a:lnTo>
                  <a:pt x="231" y="144"/>
                </a:lnTo>
                <a:lnTo>
                  <a:pt x="208" y="148"/>
                </a:lnTo>
                <a:lnTo>
                  <a:pt x="187" y="157"/>
                </a:lnTo>
                <a:lnTo>
                  <a:pt x="169" y="170"/>
                </a:lnTo>
                <a:lnTo>
                  <a:pt x="156" y="188"/>
                </a:lnTo>
                <a:lnTo>
                  <a:pt x="147" y="208"/>
                </a:lnTo>
                <a:lnTo>
                  <a:pt x="142" y="232"/>
                </a:lnTo>
                <a:lnTo>
                  <a:pt x="141" y="260"/>
                </a:lnTo>
                <a:lnTo>
                  <a:pt x="145" y="289"/>
                </a:lnTo>
                <a:lnTo>
                  <a:pt x="151" y="322"/>
                </a:lnTo>
                <a:lnTo>
                  <a:pt x="161" y="357"/>
                </a:lnTo>
                <a:lnTo>
                  <a:pt x="176" y="394"/>
                </a:lnTo>
                <a:lnTo>
                  <a:pt x="193" y="433"/>
                </a:lnTo>
                <a:lnTo>
                  <a:pt x="214" y="473"/>
                </a:lnTo>
                <a:lnTo>
                  <a:pt x="239" y="515"/>
                </a:lnTo>
                <a:lnTo>
                  <a:pt x="266" y="558"/>
                </a:lnTo>
                <a:lnTo>
                  <a:pt x="296" y="603"/>
                </a:lnTo>
                <a:lnTo>
                  <a:pt x="329" y="647"/>
                </a:lnTo>
                <a:lnTo>
                  <a:pt x="365" y="692"/>
                </a:lnTo>
                <a:lnTo>
                  <a:pt x="403" y="739"/>
                </a:lnTo>
                <a:lnTo>
                  <a:pt x="444" y="784"/>
                </a:lnTo>
                <a:lnTo>
                  <a:pt x="489" y="830"/>
                </a:lnTo>
                <a:lnTo>
                  <a:pt x="550" y="889"/>
                </a:lnTo>
                <a:lnTo>
                  <a:pt x="590" y="637"/>
                </a:lnTo>
                <a:lnTo>
                  <a:pt x="594" y="623"/>
                </a:lnTo>
                <a:lnTo>
                  <a:pt x="602" y="609"/>
                </a:lnTo>
                <a:lnTo>
                  <a:pt x="611" y="596"/>
                </a:lnTo>
                <a:lnTo>
                  <a:pt x="622" y="587"/>
                </a:lnTo>
                <a:lnTo>
                  <a:pt x="634" y="581"/>
                </a:lnTo>
                <a:lnTo>
                  <a:pt x="649" y="577"/>
                </a:lnTo>
                <a:lnTo>
                  <a:pt x="870" y="543"/>
                </a:lnTo>
                <a:lnTo>
                  <a:pt x="824" y="494"/>
                </a:lnTo>
                <a:lnTo>
                  <a:pt x="779" y="450"/>
                </a:lnTo>
                <a:lnTo>
                  <a:pt x="734" y="408"/>
                </a:lnTo>
                <a:lnTo>
                  <a:pt x="688" y="369"/>
                </a:lnTo>
                <a:lnTo>
                  <a:pt x="644" y="334"/>
                </a:lnTo>
                <a:lnTo>
                  <a:pt x="600" y="300"/>
                </a:lnTo>
                <a:lnTo>
                  <a:pt x="555" y="269"/>
                </a:lnTo>
                <a:lnTo>
                  <a:pt x="513" y="242"/>
                </a:lnTo>
                <a:lnTo>
                  <a:pt x="471" y="216"/>
                </a:lnTo>
                <a:lnTo>
                  <a:pt x="431" y="195"/>
                </a:lnTo>
                <a:lnTo>
                  <a:pt x="392" y="177"/>
                </a:lnTo>
                <a:lnTo>
                  <a:pt x="356" y="164"/>
                </a:lnTo>
                <a:lnTo>
                  <a:pt x="321" y="153"/>
                </a:lnTo>
                <a:lnTo>
                  <a:pt x="288" y="146"/>
                </a:lnTo>
                <a:lnTo>
                  <a:pt x="259" y="142"/>
                </a:lnTo>
                <a:close/>
                <a:moveTo>
                  <a:pt x="212" y="0"/>
                </a:moveTo>
                <a:lnTo>
                  <a:pt x="251" y="1"/>
                </a:lnTo>
                <a:lnTo>
                  <a:pt x="292" y="6"/>
                </a:lnTo>
                <a:lnTo>
                  <a:pt x="336" y="15"/>
                </a:lnTo>
                <a:lnTo>
                  <a:pt x="380" y="27"/>
                </a:lnTo>
                <a:lnTo>
                  <a:pt x="426" y="43"/>
                </a:lnTo>
                <a:lnTo>
                  <a:pt x="474" y="63"/>
                </a:lnTo>
                <a:lnTo>
                  <a:pt x="524" y="87"/>
                </a:lnTo>
                <a:lnTo>
                  <a:pt x="573" y="113"/>
                </a:lnTo>
                <a:lnTo>
                  <a:pt x="624" y="144"/>
                </a:lnTo>
                <a:lnTo>
                  <a:pt x="674" y="176"/>
                </a:lnTo>
                <a:lnTo>
                  <a:pt x="726" y="213"/>
                </a:lnTo>
                <a:lnTo>
                  <a:pt x="777" y="253"/>
                </a:lnTo>
                <a:lnTo>
                  <a:pt x="829" y="296"/>
                </a:lnTo>
                <a:lnTo>
                  <a:pt x="879" y="341"/>
                </a:lnTo>
                <a:lnTo>
                  <a:pt x="929" y="389"/>
                </a:lnTo>
                <a:lnTo>
                  <a:pt x="987" y="452"/>
                </a:lnTo>
                <a:lnTo>
                  <a:pt x="1042" y="515"/>
                </a:lnTo>
                <a:lnTo>
                  <a:pt x="1578" y="430"/>
                </a:lnTo>
                <a:lnTo>
                  <a:pt x="1592" y="427"/>
                </a:lnTo>
                <a:lnTo>
                  <a:pt x="1606" y="430"/>
                </a:lnTo>
                <a:lnTo>
                  <a:pt x="1618" y="435"/>
                </a:lnTo>
                <a:lnTo>
                  <a:pt x="1632" y="443"/>
                </a:lnTo>
                <a:lnTo>
                  <a:pt x="1645" y="452"/>
                </a:lnTo>
                <a:lnTo>
                  <a:pt x="3453" y="2267"/>
                </a:lnTo>
                <a:lnTo>
                  <a:pt x="3464" y="2282"/>
                </a:lnTo>
                <a:lnTo>
                  <a:pt x="3472" y="2300"/>
                </a:lnTo>
                <a:lnTo>
                  <a:pt x="3474" y="2318"/>
                </a:lnTo>
                <a:lnTo>
                  <a:pt x="3472" y="2337"/>
                </a:lnTo>
                <a:lnTo>
                  <a:pt x="3464" y="2355"/>
                </a:lnTo>
                <a:lnTo>
                  <a:pt x="3453" y="2371"/>
                </a:lnTo>
                <a:lnTo>
                  <a:pt x="2375" y="3452"/>
                </a:lnTo>
                <a:lnTo>
                  <a:pt x="2365" y="3462"/>
                </a:lnTo>
                <a:lnTo>
                  <a:pt x="2352" y="3468"/>
                </a:lnTo>
                <a:lnTo>
                  <a:pt x="2339" y="3472"/>
                </a:lnTo>
                <a:lnTo>
                  <a:pt x="2323" y="3475"/>
                </a:lnTo>
                <a:lnTo>
                  <a:pt x="2309" y="3472"/>
                </a:lnTo>
                <a:lnTo>
                  <a:pt x="2295" y="3468"/>
                </a:lnTo>
                <a:lnTo>
                  <a:pt x="2283" y="3462"/>
                </a:lnTo>
                <a:lnTo>
                  <a:pt x="2272" y="3452"/>
                </a:lnTo>
                <a:lnTo>
                  <a:pt x="464" y="1637"/>
                </a:lnTo>
                <a:lnTo>
                  <a:pt x="455" y="1624"/>
                </a:lnTo>
                <a:lnTo>
                  <a:pt x="448" y="1610"/>
                </a:lnTo>
                <a:lnTo>
                  <a:pt x="443" y="1592"/>
                </a:lnTo>
                <a:lnTo>
                  <a:pt x="442" y="1571"/>
                </a:lnTo>
                <a:lnTo>
                  <a:pt x="524" y="1061"/>
                </a:lnTo>
                <a:lnTo>
                  <a:pt x="476" y="1021"/>
                </a:lnTo>
                <a:lnTo>
                  <a:pt x="430" y="978"/>
                </a:lnTo>
                <a:lnTo>
                  <a:pt x="384" y="934"/>
                </a:lnTo>
                <a:lnTo>
                  <a:pt x="336" y="883"/>
                </a:lnTo>
                <a:lnTo>
                  <a:pt x="291" y="833"/>
                </a:lnTo>
                <a:lnTo>
                  <a:pt x="249" y="781"/>
                </a:lnTo>
                <a:lnTo>
                  <a:pt x="209" y="729"/>
                </a:lnTo>
                <a:lnTo>
                  <a:pt x="173" y="678"/>
                </a:lnTo>
                <a:lnTo>
                  <a:pt x="140" y="626"/>
                </a:lnTo>
                <a:lnTo>
                  <a:pt x="111" y="575"/>
                </a:lnTo>
                <a:lnTo>
                  <a:pt x="84" y="526"/>
                </a:lnTo>
                <a:lnTo>
                  <a:pt x="61" y="476"/>
                </a:lnTo>
                <a:lnTo>
                  <a:pt x="42" y="427"/>
                </a:lnTo>
                <a:lnTo>
                  <a:pt x="26" y="381"/>
                </a:lnTo>
                <a:lnTo>
                  <a:pt x="14" y="336"/>
                </a:lnTo>
                <a:lnTo>
                  <a:pt x="5" y="292"/>
                </a:lnTo>
                <a:lnTo>
                  <a:pt x="1" y="251"/>
                </a:lnTo>
                <a:lnTo>
                  <a:pt x="0" y="212"/>
                </a:lnTo>
                <a:lnTo>
                  <a:pt x="4" y="175"/>
                </a:lnTo>
                <a:lnTo>
                  <a:pt x="12" y="141"/>
                </a:lnTo>
                <a:lnTo>
                  <a:pt x="23" y="111"/>
                </a:lnTo>
                <a:lnTo>
                  <a:pt x="39" y="83"/>
                </a:lnTo>
                <a:lnTo>
                  <a:pt x="59" y="59"/>
                </a:lnTo>
                <a:lnTo>
                  <a:pt x="83" y="38"/>
                </a:lnTo>
                <a:lnTo>
                  <a:pt x="112" y="22"/>
                </a:lnTo>
                <a:lnTo>
                  <a:pt x="142" y="11"/>
                </a:lnTo>
                <a:lnTo>
                  <a:pt x="176" y="3"/>
                </a:lnTo>
                <a:lnTo>
                  <a:pt x="212"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a:p>
        </p:txBody>
      </p:sp>
    </p:spTree>
    <p:extLst>
      <p:ext uri="{BB962C8B-B14F-4D97-AF65-F5344CB8AC3E}">
        <p14:creationId xmlns:p14="http://schemas.microsoft.com/office/powerpoint/2010/main" val="3081300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F1A2-DB53-25CF-75BF-751844061DD5}"/>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26B4F0D-D16C-506A-0ED6-065481E89C63}"/>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647BCF5D-C4DF-927B-8E5D-A6A95DA64E6D}"/>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a:t>
            </a:r>
          </a:p>
        </p:txBody>
      </p:sp>
      <p:sp>
        <p:nvSpPr>
          <p:cNvPr id="3" name="矩形 2">
            <a:extLst>
              <a:ext uri="{FF2B5EF4-FFF2-40B4-BE49-F238E27FC236}">
                <a16:creationId xmlns:a16="http://schemas.microsoft.com/office/drawing/2014/main" id="{167AEE96-3029-E59A-613B-D2401B30D72C}"/>
              </a:ext>
            </a:extLst>
          </p:cNvPr>
          <p:cNvSpPr/>
          <p:nvPr/>
        </p:nvSpPr>
        <p:spPr>
          <a:xfrm>
            <a:off x="508608" y="1905794"/>
            <a:ext cx="11286490" cy="2971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indent="-358775" algn="just">
              <a:lnSpc>
                <a:spcPct val="150000"/>
              </a:lnSpc>
              <a:buFont typeface="Wingdings" panose="05000000000000000000" pitchFamily="2" charset="2"/>
              <a:buChar char="l"/>
            </a:pPr>
            <a:r>
              <a:rPr lang="zh-CN" altLang="en-US" sz="2000" dirty="0">
                <a:solidFill>
                  <a:schemeClr val="tx1"/>
                </a:solidFill>
              </a:rPr>
              <a:t>通过 </a:t>
            </a:r>
            <a:r>
              <a:rPr lang="en-US" altLang="zh-CN" sz="2000" dirty="0">
                <a:solidFill>
                  <a:schemeClr val="tx1"/>
                </a:solidFill>
              </a:rPr>
              <a:t>SQL </a:t>
            </a:r>
            <a:r>
              <a:rPr lang="zh-CN" altLang="en-US" sz="2000" dirty="0">
                <a:solidFill>
                  <a:schemeClr val="tx1"/>
                </a:solidFill>
              </a:rPr>
              <a:t>的</a:t>
            </a:r>
            <a:r>
              <a:rPr lang="en-US" altLang="zh-CN" sz="2000" dirty="0">
                <a:solidFill>
                  <a:schemeClr val="tx1"/>
                </a:solidFill>
              </a:rPr>
              <a:t>GRANT </a:t>
            </a:r>
            <a:r>
              <a:rPr lang="zh-CN" altLang="en-US" sz="2000" dirty="0">
                <a:solidFill>
                  <a:schemeClr val="tx1"/>
                </a:solidFill>
              </a:rPr>
              <a:t>语句和</a:t>
            </a:r>
            <a:r>
              <a:rPr lang="en-US" altLang="zh-CN" sz="2000" dirty="0">
                <a:solidFill>
                  <a:schemeClr val="tx1"/>
                </a:solidFill>
              </a:rPr>
              <a:t>REVOKE </a:t>
            </a:r>
            <a:r>
              <a:rPr lang="zh-CN" altLang="en-US" sz="2000" dirty="0">
                <a:solidFill>
                  <a:schemeClr val="tx1"/>
                </a:solidFill>
              </a:rPr>
              <a:t>语句实现</a:t>
            </a:r>
          </a:p>
          <a:p>
            <a:pPr marL="628650" indent="-358775" algn="just">
              <a:lnSpc>
                <a:spcPct val="150000"/>
              </a:lnSpc>
              <a:buFont typeface="Wingdings" panose="05000000000000000000" pitchFamily="2" charset="2"/>
              <a:buChar char="l"/>
            </a:pPr>
            <a:r>
              <a:rPr lang="zh-CN" altLang="en-US" sz="2000" dirty="0">
                <a:solidFill>
                  <a:schemeClr val="tx1"/>
                </a:solidFill>
              </a:rPr>
              <a:t>用户权限组成</a:t>
            </a:r>
          </a:p>
          <a:p>
            <a:pPr marL="985838" indent="-357188" algn="just">
              <a:lnSpc>
                <a:spcPct val="150000"/>
              </a:lnSpc>
              <a:buFont typeface="Wingdings" panose="05000000000000000000" pitchFamily="2" charset="2"/>
              <a:buChar char="Ø"/>
            </a:pPr>
            <a:r>
              <a:rPr lang="zh-CN" altLang="en-US" sz="2000" dirty="0">
                <a:solidFill>
                  <a:schemeClr val="tx1"/>
                </a:solidFill>
              </a:rPr>
              <a:t>数据库对象</a:t>
            </a:r>
          </a:p>
          <a:p>
            <a:pPr marL="985838" indent="-357188" algn="just">
              <a:lnSpc>
                <a:spcPct val="150000"/>
              </a:lnSpc>
              <a:buFont typeface="Wingdings" panose="05000000000000000000" pitchFamily="2" charset="2"/>
              <a:buChar char="Ø"/>
            </a:pPr>
            <a:r>
              <a:rPr lang="zh-CN" altLang="en-US" sz="2000" dirty="0">
                <a:solidFill>
                  <a:schemeClr val="tx1"/>
                </a:solidFill>
              </a:rPr>
              <a:t>操作类型</a:t>
            </a:r>
          </a:p>
          <a:p>
            <a:pPr marL="628650" indent="-358775" algn="just">
              <a:lnSpc>
                <a:spcPct val="150000"/>
              </a:lnSpc>
              <a:buFont typeface="Wingdings" panose="05000000000000000000" pitchFamily="2" charset="2"/>
              <a:buChar char="l"/>
            </a:pPr>
            <a:r>
              <a:rPr lang="zh-CN" altLang="en-US" sz="2000" dirty="0">
                <a:solidFill>
                  <a:schemeClr val="tx1"/>
                </a:solidFill>
              </a:rPr>
              <a:t>定义用户存取权限：定义用户可以在哪些数据库对象上进行哪些类型的操作</a:t>
            </a:r>
          </a:p>
          <a:p>
            <a:pPr marL="628650" indent="-358775" algn="just">
              <a:lnSpc>
                <a:spcPct val="150000"/>
              </a:lnSpc>
              <a:buFont typeface="Wingdings" panose="05000000000000000000" pitchFamily="2" charset="2"/>
              <a:buChar char="l"/>
            </a:pPr>
            <a:r>
              <a:rPr lang="zh-CN" altLang="en-US" sz="2000" dirty="0">
                <a:solidFill>
                  <a:schemeClr val="tx1"/>
                </a:solidFill>
              </a:rPr>
              <a:t>定义存取权限称为</a:t>
            </a:r>
            <a:r>
              <a:rPr lang="zh-CN" altLang="en-US" sz="2000" dirty="0">
                <a:solidFill>
                  <a:srgbClr val="FF0000"/>
                </a:solidFill>
              </a:rPr>
              <a:t>授权 </a:t>
            </a:r>
          </a:p>
        </p:txBody>
      </p:sp>
    </p:spTree>
    <p:extLst>
      <p:ext uri="{BB962C8B-B14F-4D97-AF65-F5344CB8AC3E}">
        <p14:creationId xmlns:p14="http://schemas.microsoft.com/office/powerpoint/2010/main" val="12026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17FA1-4D4B-94AC-1BD6-0E98828DC36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A9A5842-C432-38E9-C990-72244C6BE0FC}"/>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C678AB38-34ED-DFBB-8A03-60FF64CC02E6}"/>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a:t>
            </a:r>
          </a:p>
        </p:txBody>
      </p:sp>
      <p:graphicFrame>
        <p:nvGraphicFramePr>
          <p:cNvPr id="2" name="Group 5">
            <a:extLst>
              <a:ext uri="{FF2B5EF4-FFF2-40B4-BE49-F238E27FC236}">
                <a16:creationId xmlns:a16="http://schemas.microsoft.com/office/drawing/2014/main" id="{65001047-B81C-6E14-BC5A-8DEFA163ACBE}"/>
              </a:ext>
            </a:extLst>
          </p:cNvPr>
          <p:cNvGraphicFramePr>
            <a:graphicFrameLocks/>
          </p:cNvGraphicFramePr>
          <p:nvPr>
            <p:extLst>
              <p:ext uri="{D42A27DB-BD31-4B8C-83A1-F6EECF244321}">
                <p14:modId xmlns:p14="http://schemas.microsoft.com/office/powerpoint/2010/main" val="178337638"/>
              </p:ext>
            </p:extLst>
          </p:nvPr>
        </p:nvGraphicFramePr>
        <p:xfrm>
          <a:off x="1374775" y="1936426"/>
          <a:ext cx="9289032" cy="3632768"/>
        </p:xfrm>
        <a:graphic>
          <a:graphicData uri="http://schemas.openxmlformats.org/drawingml/2006/table">
            <a:tbl>
              <a:tblPr/>
              <a:tblGrid>
                <a:gridCol w="1337318">
                  <a:extLst>
                    <a:ext uri="{9D8B030D-6E8A-4147-A177-3AD203B41FA5}">
                      <a16:colId xmlns:a16="http://schemas.microsoft.com/office/drawing/2014/main" val="20000"/>
                    </a:ext>
                  </a:extLst>
                </a:gridCol>
                <a:gridCol w="2104519">
                  <a:extLst>
                    <a:ext uri="{9D8B030D-6E8A-4147-A177-3AD203B41FA5}">
                      <a16:colId xmlns:a16="http://schemas.microsoft.com/office/drawing/2014/main" val="20001"/>
                    </a:ext>
                  </a:extLst>
                </a:gridCol>
                <a:gridCol w="5847195">
                  <a:extLst>
                    <a:ext uri="{9D8B030D-6E8A-4147-A177-3AD203B41FA5}">
                      <a16:colId xmlns:a16="http://schemas.microsoft.com/office/drawing/2014/main" val="20002"/>
                    </a:ext>
                  </a:extLst>
                </a:gridCol>
              </a:tblGrid>
              <a:tr h="594370">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100000"/>
                        <a:buFont typeface="Wingdings" pitchFamily="2" charset="2"/>
                        <a:buNone/>
                        <a:tabLst/>
                      </a:pPr>
                      <a:r>
                        <a:rPr kumimoji="0" lang="zh-CN" altLang="zh-CN" sz="2000" b="0" i="0" u="none" strike="noStrike" cap="none" normalizeH="0" baseline="0" dirty="0">
                          <a:ln>
                            <a:noFill/>
                          </a:ln>
                          <a:solidFill>
                            <a:schemeClr val="tx1"/>
                          </a:solidFill>
                          <a:effectLst/>
                          <a:latin typeface="+mn-lt"/>
                          <a:ea typeface="+mn-ea"/>
                        </a:rPr>
                        <a:t>对象类型</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100000"/>
                        <a:buFont typeface="Wingdings" pitchFamily="2" charset="2"/>
                        <a:buNone/>
                        <a:tabLst/>
                      </a:pPr>
                      <a:r>
                        <a:rPr kumimoji="0" lang="zh-CN" altLang="zh-CN" sz="2000" b="0" i="0" u="none" strike="noStrike" cap="none" normalizeH="0" baseline="0" dirty="0">
                          <a:ln>
                            <a:noFill/>
                          </a:ln>
                          <a:solidFill>
                            <a:schemeClr val="tx1"/>
                          </a:solidFill>
                          <a:effectLst/>
                          <a:latin typeface="+mn-lt"/>
                          <a:ea typeface="+mn-ea"/>
                        </a:rPr>
                        <a:t>对象</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Pct val="100000"/>
                        <a:buFont typeface="Wingdings" pitchFamily="2" charset="2"/>
                        <a:buNone/>
                        <a:tabLst/>
                      </a:pPr>
                      <a:r>
                        <a:rPr kumimoji="0" lang="zh-CN" altLang="zh-CN" sz="2000" b="0" i="0" u="none" strike="noStrike" cap="none" normalizeH="0" baseline="0" dirty="0">
                          <a:ln>
                            <a:noFill/>
                          </a:ln>
                          <a:solidFill>
                            <a:schemeClr val="tx1"/>
                          </a:solidFill>
                          <a:effectLst/>
                          <a:latin typeface="+mn-lt"/>
                          <a:ea typeface="+mn-ea"/>
                        </a:rPr>
                        <a:t>操 作 类 型</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9070">
                <a:tc rowSpan="4">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0" i="0" u="none" strike="noStrike" cap="none" normalizeH="0" baseline="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数据库</a:t>
                      </a:r>
                      <a:endParaRPr kumimoji="0" lang="en-US" altLang="zh-CN" sz="2000" b="0" i="0" u="none" strike="noStrike" cap="none" normalizeH="0" baseline="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a:ln>
                            <a:noFill/>
                          </a:ln>
                          <a:solidFill>
                            <a:schemeClr val="tx1"/>
                          </a:solidFill>
                          <a:effectLst/>
                          <a:latin typeface="+mn-lt"/>
                          <a:ea typeface="+mn-ea"/>
                        </a:rPr>
                        <a:t>和</a:t>
                      </a:r>
                      <a:endParaRPr kumimoji="0" lang="zh-CN" altLang="zh-CN" sz="2000" b="0" i="0" u="none" strike="noStrike" cap="none" normalizeH="0" baseline="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模式</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0" i="0" u="none" strike="noStrike" cap="none" normalizeH="0" baseline="0" dirty="0">
                          <a:ln>
                            <a:noFill/>
                          </a:ln>
                          <a:solidFill>
                            <a:schemeClr val="tx1"/>
                          </a:solidFill>
                          <a:effectLst/>
                          <a:latin typeface="+mn-lt"/>
                          <a:ea typeface="+mn-ea"/>
                        </a:rPr>
                        <a:t>数据库和模式</a:t>
                      </a:r>
                      <a:endParaRPr kumimoji="0" lang="zh-CN" altLang="zh-CN" sz="2000" b="0" i="0" u="none" strike="noStrike" cap="none" normalizeH="0" baseline="0" dirty="0">
                        <a:ln>
                          <a:noFill/>
                        </a:ln>
                        <a:solidFill>
                          <a:schemeClr val="tx1"/>
                        </a:solidFill>
                        <a:effectLst/>
                        <a:latin typeface="+mn-lt"/>
                        <a:ea typeface="+mn-ea"/>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CREATE </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682">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基本表</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lt"/>
                          <a:ea typeface="+mn-ea"/>
                        </a:rPr>
                        <a:t>CREATE TABLE</a:t>
                      </a:r>
                      <a:r>
                        <a:rPr kumimoji="0" lang="zh-CN" altLang="en-US" sz="2000" b="0" i="0" u="none" strike="noStrike" cap="none" normalizeH="0" baseline="0">
                          <a:ln>
                            <a:noFill/>
                          </a:ln>
                          <a:solidFill>
                            <a:schemeClr val="tx1"/>
                          </a:solidFill>
                          <a:effectLst/>
                          <a:latin typeface="+mn-lt"/>
                          <a:ea typeface="+mn-ea"/>
                        </a:rPr>
                        <a:t>，</a:t>
                      </a:r>
                      <a:r>
                        <a:rPr kumimoji="0" lang="en-US" altLang="zh-CN" sz="2000" b="0" i="0" u="none" strike="noStrike" cap="none" normalizeH="0" baseline="0">
                          <a:ln>
                            <a:noFill/>
                          </a:ln>
                          <a:solidFill>
                            <a:schemeClr val="tx1"/>
                          </a:solidFill>
                          <a:effectLst/>
                          <a:latin typeface="+mn-lt"/>
                          <a:ea typeface="+mn-ea"/>
                        </a:rPr>
                        <a:t>ALTER TABLE</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9070">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视图</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CREATE VIEW</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2484">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索引</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lt"/>
                          <a:ea typeface="+mn-ea"/>
                        </a:rPr>
                        <a:t>CREATE INDEX</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6046">
                <a:tc rowSpan="2">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zh-CN" altLang="zh-CN" sz="2000" b="0" i="0" u="none" strike="noStrike" cap="none" normalizeH="0" baseline="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0" i="0" u="none" strike="noStrike" cap="none" normalizeH="0" baseline="0">
                        <a:ln>
                          <a:noFill/>
                        </a:ln>
                        <a:solidFill>
                          <a:schemeClr val="tx1"/>
                        </a:solidFill>
                        <a:effectLst/>
                        <a:latin typeface="+mn-lt"/>
                        <a:ea typeface="+mn-ea"/>
                      </a:endParaRPr>
                    </a:p>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数据</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基本表和视图</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a:ln>
                            <a:noFill/>
                          </a:ln>
                          <a:solidFill>
                            <a:schemeClr val="tx1"/>
                          </a:solidFill>
                          <a:effectLst/>
                          <a:latin typeface="+mn-lt"/>
                          <a:ea typeface="+mn-ea"/>
                        </a:rPr>
                        <a:t>SELECT</a:t>
                      </a:r>
                      <a:r>
                        <a:rPr kumimoji="0" lang="zh-CN" altLang="en-US" sz="2000" b="0" i="0" u="none" strike="noStrike" cap="none" normalizeH="0" baseline="0">
                          <a:ln>
                            <a:noFill/>
                          </a:ln>
                          <a:solidFill>
                            <a:schemeClr val="tx1"/>
                          </a:solidFill>
                          <a:effectLst/>
                          <a:latin typeface="+mn-lt"/>
                          <a:ea typeface="+mn-ea"/>
                        </a:rPr>
                        <a:t>，</a:t>
                      </a:r>
                      <a:r>
                        <a:rPr kumimoji="0" lang="en-US" altLang="zh-CN" sz="2000" b="0" i="0" u="none" strike="noStrike" cap="none" normalizeH="0" baseline="0">
                          <a:ln>
                            <a:noFill/>
                          </a:ln>
                          <a:solidFill>
                            <a:schemeClr val="tx1"/>
                          </a:solidFill>
                          <a:effectLst/>
                          <a:latin typeface="+mn-lt"/>
                          <a:ea typeface="+mn-ea"/>
                        </a:rPr>
                        <a:t>INSERT</a:t>
                      </a:r>
                      <a:r>
                        <a:rPr kumimoji="0" lang="zh-CN" altLang="en-US" sz="2000" b="0" i="0" u="none" strike="noStrike" cap="none" normalizeH="0" baseline="0">
                          <a:ln>
                            <a:noFill/>
                          </a:ln>
                          <a:solidFill>
                            <a:schemeClr val="tx1"/>
                          </a:solidFill>
                          <a:effectLst/>
                          <a:latin typeface="+mn-lt"/>
                          <a:ea typeface="+mn-ea"/>
                        </a:rPr>
                        <a:t>，</a:t>
                      </a:r>
                      <a:r>
                        <a:rPr kumimoji="0" lang="en-US" altLang="zh-CN" sz="2000" b="0" i="0" u="none" strike="noStrike" cap="none" normalizeH="0" baseline="0">
                          <a:ln>
                            <a:noFill/>
                          </a:ln>
                          <a:solidFill>
                            <a:schemeClr val="tx1"/>
                          </a:solidFill>
                          <a:effectLst/>
                          <a:latin typeface="+mn-lt"/>
                          <a:ea typeface="+mn-ea"/>
                        </a:rPr>
                        <a:t>UPDATE</a:t>
                      </a:r>
                      <a:r>
                        <a:rPr kumimoji="0" lang="zh-CN" altLang="en-US" sz="2000" b="0" i="0" u="none" strike="noStrike" cap="none" normalizeH="0" baseline="0">
                          <a:ln>
                            <a:noFill/>
                          </a:ln>
                          <a:solidFill>
                            <a:schemeClr val="tx1"/>
                          </a:solidFill>
                          <a:effectLst/>
                          <a:latin typeface="+mn-lt"/>
                          <a:ea typeface="+mn-ea"/>
                        </a:rPr>
                        <a:t>，</a:t>
                      </a:r>
                      <a:r>
                        <a:rPr kumimoji="0" lang="en-US" altLang="zh-CN" sz="2000" b="0" i="0" u="none" strike="noStrike" cap="none" normalizeH="0" baseline="0">
                          <a:ln>
                            <a:noFill/>
                          </a:ln>
                          <a:solidFill>
                            <a:schemeClr val="tx1"/>
                          </a:solidFill>
                          <a:effectLst/>
                          <a:latin typeface="+mn-lt"/>
                          <a:ea typeface="+mn-ea"/>
                        </a:rPr>
                        <a:t>DELETE</a:t>
                      </a:r>
                      <a:r>
                        <a:rPr kumimoji="0" lang="zh-CN" altLang="en-US" sz="2000" b="0" i="0" u="none" strike="noStrike" cap="none" normalizeH="0" baseline="0">
                          <a:ln>
                            <a:noFill/>
                          </a:ln>
                          <a:solidFill>
                            <a:schemeClr val="tx1"/>
                          </a:solidFill>
                          <a:effectLst/>
                          <a:latin typeface="+mn-lt"/>
                          <a:ea typeface="+mn-ea"/>
                        </a:rPr>
                        <a:t>，</a:t>
                      </a:r>
                      <a:r>
                        <a:rPr kumimoji="0" lang="en-US" altLang="zh-CN" sz="2000" b="0" i="0" u="none" strike="noStrike" cap="none" normalizeH="0" baseline="0">
                          <a:ln>
                            <a:noFill/>
                          </a:ln>
                          <a:solidFill>
                            <a:schemeClr val="tx1"/>
                          </a:solidFill>
                          <a:effectLst/>
                          <a:latin typeface="+mn-lt"/>
                          <a:ea typeface="+mn-ea"/>
                        </a:rPr>
                        <a:t>REFERENCES</a:t>
                      </a:r>
                      <a:r>
                        <a:rPr kumimoji="0" lang="zh-CN" altLang="en-US" sz="2000" b="0" i="0" u="none" strike="noStrike" cap="none" normalizeH="0" baseline="0">
                          <a:ln>
                            <a:noFill/>
                          </a:ln>
                          <a:solidFill>
                            <a:schemeClr val="tx1"/>
                          </a:solidFill>
                          <a:effectLst/>
                          <a:latin typeface="+mn-lt"/>
                          <a:ea typeface="+mn-ea"/>
                        </a:rPr>
                        <a:t>，</a:t>
                      </a:r>
                      <a:r>
                        <a:rPr kumimoji="0" lang="en-US" altLang="zh-CN" sz="2000" b="0" i="0" u="none" strike="noStrike" cap="none" normalizeH="0" baseline="0">
                          <a:ln>
                            <a:noFill/>
                          </a:ln>
                          <a:solidFill>
                            <a:schemeClr val="tx1"/>
                          </a:solidFill>
                          <a:effectLst/>
                          <a:latin typeface="+mn-lt"/>
                          <a:ea typeface="+mn-ea"/>
                        </a:rPr>
                        <a:t>ALL PRIVILEGES</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6046">
                <a:tc vMerge="1">
                  <a:txBody>
                    <a:bodyPr/>
                    <a:lstStyle/>
                    <a:p>
                      <a:endParaRPr lang="zh-CN" altLang="en-US"/>
                    </a:p>
                  </a:txBody>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0" i="0" u="none" strike="noStrike" cap="none" normalizeH="0" baseline="0">
                          <a:ln>
                            <a:noFill/>
                          </a:ln>
                          <a:solidFill>
                            <a:schemeClr val="tx1"/>
                          </a:solidFill>
                          <a:effectLst/>
                          <a:latin typeface="+mn-lt"/>
                          <a:ea typeface="+mn-ea"/>
                        </a:rPr>
                        <a:t>属性列</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0" i="0" u="none" strike="noStrike" cap="none" normalizeH="0" baseline="0" dirty="0">
                          <a:ln>
                            <a:noFill/>
                          </a:ln>
                          <a:solidFill>
                            <a:schemeClr val="tx1"/>
                          </a:solidFill>
                          <a:effectLst/>
                          <a:latin typeface="+mn-lt"/>
                          <a:ea typeface="+mn-ea"/>
                        </a:rPr>
                        <a:t>SELECT</a:t>
                      </a:r>
                      <a:r>
                        <a:rPr kumimoji="0" lang="zh-CN" altLang="en-US" sz="2000" b="0" i="0" u="none" strike="noStrike" cap="none" normalizeH="0" baseline="0" dirty="0">
                          <a:ln>
                            <a:noFill/>
                          </a:ln>
                          <a:solidFill>
                            <a:schemeClr val="tx1"/>
                          </a:solidFill>
                          <a:effectLst/>
                          <a:latin typeface="+mn-lt"/>
                          <a:ea typeface="+mn-ea"/>
                        </a:rPr>
                        <a:t>，</a:t>
                      </a:r>
                      <a:r>
                        <a:rPr kumimoji="0" lang="en-US" altLang="zh-CN" sz="2000" b="0" i="0" u="none" strike="noStrike" cap="none" normalizeH="0" baseline="0" dirty="0">
                          <a:ln>
                            <a:noFill/>
                          </a:ln>
                          <a:solidFill>
                            <a:schemeClr val="tx1"/>
                          </a:solidFill>
                          <a:effectLst/>
                          <a:latin typeface="+mn-lt"/>
                          <a:ea typeface="+mn-ea"/>
                        </a:rPr>
                        <a:t>INSERT</a:t>
                      </a:r>
                      <a:r>
                        <a:rPr kumimoji="0" lang="zh-CN" altLang="en-US" sz="2000" b="0" i="0" u="none" strike="noStrike" cap="none" normalizeH="0" baseline="0" dirty="0">
                          <a:ln>
                            <a:noFill/>
                          </a:ln>
                          <a:solidFill>
                            <a:schemeClr val="tx1"/>
                          </a:solidFill>
                          <a:effectLst/>
                          <a:latin typeface="+mn-lt"/>
                          <a:ea typeface="+mn-ea"/>
                        </a:rPr>
                        <a:t>，</a:t>
                      </a:r>
                      <a:r>
                        <a:rPr kumimoji="0" lang="en-US" altLang="zh-CN" sz="2000" b="0" i="0" u="none" strike="noStrike" cap="none" normalizeH="0" baseline="0" dirty="0">
                          <a:ln>
                            <a:noFill/>
                          </a:ln>
                          <a:solidFill>
                            <a:schemeClr val="tx1"/>
                          </a:solidFill>
                          <a:effectLst/>
                          <a:latin typeface="+mn-lt"/>
                          <a:ea typeface="+mn-ea"/>
                        </a:rPr>
                        <a:t>UPDATE</a:t>
                      </a:r>
                      <a:r>
                        <a:rPr kumimoji="0" lang="zh-CN" altLang="en-US" sz="2000" b="0" i="0" u="none" strike="noStrike" cap="none" normalizeH="0" baseline="0" dirty="0">
                          <a:ln>
                            <a:noFill/>
                          </a:ln>
                          <a:solidFill>
                            <a:schemeClr val="tx1"/>
                          </a:solidFill>
                          <a:effectLst/>
                          <a:latin typeface="+mn-lt"/>
                          <a:ea typeface="+mn-ea"/>
                        </a:rPr>
                        <a:t>， </a:t>
                      </a:r>
                      <a:r>
                        <a:rPr kumimoji="0" lang="en-US" altLang="zh-CN" sz="2000" b="0" i="0" u="none" strike="noStrike" cap="none" normalizeH="0" baseline="0" dirty="0">
                          <a:ln>
                            <a:noFill/>
                          </a:ln>
                          <a:solidFill>
                            <a:schemeClr val="tx1"/>
                          </a:solidFill>
                          <a:effectLst/>
                          <a:latin typeface="+mn-lt"/>
                          <a:ea typeface="+mn-ea"/>
                        </a:rPr>
                        <a:t>REFERENCES</a:t>
                      </a:r>
                      <a:r>
                        <a:rPr kumimoji="0" lang="zh-CN" altLang="en-US" sz="2000" b="0" i="0" u="none" strike="noStrike" cap="none" normalizeH="0" baseline="0" dirty="0">
                          <a:ln>
                            <a:noFill/>
                          </a:ln>
                          <a:solidFill>
                            <a:schemeClr val="tx1"/>
                          </a:solidFill>
                          <a:effectLst/>
                          <a:latin typeface="+mn-lt"/>
                          <a:ea typeface="+mn-ea"/>
                        </a:rPr>
                        <a:t>，</a:t>
                      </a:r>
                      <a:r>
                        <a:rPr kumimoji="0" lang="en-US" altLang="zh-CN" sz="2000" b="0" i="0" u="none" strike="noStrike" cap="none" normalizeH="0" baseline="0" dirty="0">
                          <a:ln>
                            <a:noFill/>
                          </a:ln>
                          <a:solidFill>
                            <a:schemeClr val="tx1"/>
                          </a:solidFill>
                          <a:effectLst/>
                          <a:latin typeface="+mn-lt"/>
                          <a:ea typeface="+mn-ea"/>
                        </a:rPr>
                        <a:t>ALL PRIVILEGES</a:t>
                      </a: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247">
            <a:extLst>
              <a:ext uri="{FF2B5EF4-FFF2-40B4-BE49-F238E27FC236}">
                <a16:creationId xmlns:a16="http://schemas.microsoft.com/office/drawing/2014/main" id="{F4A0F61C-001A-5F57-2E11-087ED4AC79DE}"/>
              </a:ext>
            </a:extLst>
          </p:cNvPr>
          <p:cNvSpPr>
            <a:spLocks noChangeArrowheads="1"/>
          </p:cNvSpPr>
          <p:nvPr/>
        </p:nvSpPr>
        <p:spPr bwMode="auto">
          <a:xfrm>
            <a:off x="3584575" y="5852805"/>
            <a:ext cx="50898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b="0" dirty="0">
                <a:latin typeface="+mn-ea"/>
                <a:ea typeface="+mn-ea"/>
              </a:rPr>
              <a:t>关系数据库系统中不同对象具有的主要存取权限 </a:t>
            </a:r>
          </a:p>
        </p:txBody>
      </p:sp>
    </p:spTree>
    <p:extLst>
      <p:ext uri="{BB962C8B-B14F-4D97-AF65-F5344CB8AC3E}">
        <p14:creationId xmlns:p14="http://schemas.microsoft.com/office/powerpoint/2010/main" val="278663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25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787FA-6416-DA57-4180-90CC330CC9D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3A9F5774-12E7-282D-793A-71D5067FDAA7}"/>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16DF8DFF-B857-D185-0451-165A241099BF}"/>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a:t>
            </a:r>
          </a:p>
        </p:txBody>
      </p:sp>
      <p:sp>
        <p:nvSpPr>
          <p:cNvPr id="3" name="矩形 2">
            <a:extLst>
              <a:ext uri="{FF2B5EF4-FFF2-40B4-BE49-F238E27FC236}">
                <a16:creationId xmlns:a16="http://schemas.microsoft.com/office/drawing/2014/main" id="{84336D3F-1ED9-D87A-73B8-F816D747869B}"/>
              </a:ext>
            </a:extLst>
          </p:cNvPr>
          <p:cNvSpPr/>
          <p:nvPr/>
        </p:nvSpPr>
        <p:spPr>
          <a:xfrm>
            <a:off x="508608" y="1829594"/>
            <a:ext cx="11286490" cy="384976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200000"/>
              </a:lnSpc>
            </a:pPr>
            <a:r>
              <a:rPr lang="en-US" altLang="zh-CN" sz="2000" dirty="0">
                <a:solidFill>
                  <a:schemeClr val="tx1"/>
                </a:solidFill>
              </a:rPr>
              <a:t>GRANT</a:t>
            </a:r>
          </a:p>
          <a:p>
            <a:pPr marL="628650" indent="-358775" algn="just">
              <a:lnSpc>
                <a:spcPct val="200000"/>
              </a:lnSpc>
              <a:buFont typeface="Wingdings" panose="05000000000000000000" pitchFamily="2" charset="2"/>
              <a:buChar char="l"/>
            </a:pPr>
            <a:r>
              <a:rPr lang="en-US" altLang="zh-CN" sz="2000" dirty="0">
                <a:solidFill>
                  <a:schemeClr val="tx1"/>
                </a:solidFill>
              </a:rPr>
              <a:t>GRANT</a:t>
            </a:r>
            <a:r>
              <a:rPr lang="zh-CN" altLang="en-US" sz="2000" dirty="0">
                <a:solidFill>
                  <a:schemeClr val="tx1"/>
                </a:solidFill>
              </a:rPr>
              <a:t>语句的一般格式：</a:t>
            </a:r>
          </a:p>
          <a:p>
            <a:pPr marL="269875" algn="just">
              <a:lnSpc>
                <a:spcPct val="200000"/>
              </a:lnSpc>
            </a:pPr>
            <a:r>
              <a:rPr lang="zh-CN" altLang="en-US" sz="2000" dirty="0">
                <a:solidFill>
                  <a:schemeClr val="tx1"/>
                </a:solidFill>
              </a:rPr>
              <a:t>       </a:t>
            </a:r>
            <a:r>
              <a:rPr lang="en-US" altLang="zh-CN" sz="2000" dirty="0">
                <a:solidFill>
                  <a:schemeClr val="tx1"/>
                </a:solidFill>
              </a:rPr>
              <a:t>GRANT &lt;</a:t>
            </a:r>
            <a:r>
              <a:rPr lang="zh-CN" altLang="en-US" sz="2000" dirty="0">
                <a:solidFill>
                  <a:schemeClr val="tx1"/>
                </a:solidFill>
              </a:rPr>
              <a:t>权限</a:t>
            </a:r>
            <a:r>
              <a:rPr lang="en-US" altLang="zh-CN" sz="2000" dirty="0">
                <a:solidFill>
                  <a:schemeClr val="tx1"/>
                </a:solidFill>
              </a:rPr>
              <a:t>&gt;[,&lt;</a:t>
            </a:r>
            <a:r>
              <a:rPr lang="zh-CN" altLang="en-US" sz="2000" dirty="0">
                <a:solidFill>
                  <a:schemeClr val="tx1"/>
                </a:solidFill>
              </a:rPr>
              <a:t>权限</a:t>
            </a:r>
            <a:r>
              <a:rPr lang="en-US" altLang="zh-CN" sz="2000" dirty="0">
                <a:solidFill>
                  <a:schemeClr val="tx1"/>
                </a:solidFill>
              </a:rPr>
              <a:t>&gt;]... </a:t>
            </a:r>
          </a:p>
          <a:p>
            <a:pPr marL="269875" algn="just">
              <a:lnSpc>
                <a:spcPct val="200000"/>
              </a:lnSpc>
            </a:pPr>
            <a:r>
              <a:rPr lang="en-US" altLang="zh-CN" sz="2000" dirty="0">
                <a:solidFill>
                  <a:schemeClr val="tx1"/>
                </a:solidFill>
              </a:rPr>
              <a:t>       ON &lt;</a:t>
            </a:r>
            <a:r>
              <a:rPr lang="zh-CN" altLang="en-US" sz="2000" dirty="0">
                <a:solidFill>
                  <a:schemeClr val="tx1"/>
                </a:solidFill>
              </a:rPr>
              <a:t>对象类型</a:t>
            </a:r>
            <a:r>
              <a:rPr lang="en-US" altLang="zh-CN" sz="2000" dirty="0">
                <a:solidFill>
                  <a:schemeClr val="tx1"/>
                </a:solidFill>
              </a:rPr>
              <a:t>&gt; &lt;</a:t>
            </a:r>
            <a:r>
              <a:rPr lang="zh-CN" altLang="en-US" sz="2000" dirty="0">
                <a:solidFill>
                  <a:schemeClr val="tx1"/>
                </a:solidFill>
              </a:rPr>
              <a:t>对象名</a:t>
            </a:r>
            <a:r>
              <a:rPr lang="en-US" altLang="zh-CN" sz="2000" dirty="0">
                <a:solidFill>
                  <a:schemeClr val="tx1"/>
                </a:solidFill>
              </a:rPr>
              <a:t>&gt;[,&lt;</a:t>
            </a:r>
            <a:r>
              <a:rPr lang="zh-CN" altLang="en-US" sz="2000" dirty="0">
                <a:solidFill>
                  <a:schemeClr val="tx1"/>
                </a:solidFill>
              </a:rPr>
              <a:t>对象类型</a:t>
            </a:r>
            <a:r>
              <a:rPr lang="en-US" altLang="zh-CN" sz="2000" dirty="0">
                <a:solidFill>
                  <a:schemeClr val="tx1"/>
                </a:solidFill>
              </a:rPr>
              <a:t>&gt; &lt;</a:t>
            </a:r>
            <a:r>
              <a:rPr lang="zh-CN" altLang="en-US" sz="2000" dirty="0">
                <a:solidFill>
                  <a:schemeClr val="tx1"/>
                </a:solidFill>
              </a:rPr>
              <a:t>对象名</a:t>
            </a:r>
            <a:r>
              <a:rPr lang="en-US" altLang="zh-CN" sz="2000" dirty="0">
                <a:solidFill>
                  <a:schemeClr val="tx1"/>
                </a:solidFill>
              </a:rPr>
              <a:t>&gt;]…</a:t>
            </a:r>
          </a:p>
          <a:p>
            <a:pPr marL="269875" algn="just">
              <a:lnSpc>
                <a:spcPct val="200000"/>
              </a:lnSpc>
            </a:pPr>
            <a:r>
              <a:rPr lang="en-US" altLang="zh-CN" sz="2000" dirty="0">
                <a:solidFill>
                  <a:schemeClr val="tx1"/>
                </a:solidFill>
              </a:rPr>
              <a:t>       TO &lt;</a:t>
            </a:r>
            <a:r>
              <a:rPr lang="zh-CN" altLang="en-US" sz="2000" dirty="0">
                <a:solidFill>
                  <a:schemeClr val="tx1"/>
                </a:solidFill>
              </a:rPr>
              <a:t>用户</a:t>
            </a:r>
            <a:r>
              <a:rPr lang="en-US" altLang="zh-CN" sz="2000" dirty="0">
                <a:solidFill>
                  <a:schemeClr val="tx1"/>
                </a:solidFill>
              </a:rPr>
              <a:t>&gt;[,&lt;</a:t>
            </a:r>
            <a:r>
              <a:rPr lang="zh-CN" altLang="en-US" sz="2000" dirty="0">
                <a:solidFill>
                  <a:schemeClr val="tx1"/>
                </a:solidFill>
              </a:rPr>
              <a:t>用户</a:t>
            </a:r>
            <a:r>
              <a:rPr lang="en-US" altLang="zh-CN" sz="2000" dirty="0">
                <a:solidFill>
                  <a:schemeClr val="tx1"/>
                </a:solidFill>
              </a:rPr>
              <a:t>&gt;]...</a:t>
            </a:r>
          </a:p>
          <a:p>
            <a:pPr marL="269875" algn="just">
              <a:lnSpc>
                <a:spcPct val="200000"/>
              </a:lnSpc>
            </a:pPr>
            <a:r>
              <a:rPr lang="en-US" altLang="zh-CN" sz="2000" dirty="0">
                <a:solidFill>
                  <a:schemeClr val="tx1"/>
                </a:solidFill>
              </a:rPr>
              <a:t>       [WITH GRANT OPTION];</a:t>
            </a:r>
          </a:p>
        </p:txBody>
      </p:sp>
      <p:sp>
        <p:nvSpPr>
          <p:cNvPr id="5" name="对话气泡: 圆角矩形 4">
            <a:extLst>
              <a:ext uri="{FF2B5EF4-FFF2-40B4-BE49-F238E27FC236}">
                <a16:creationId xmlns:a16="http://schemas.microsoft.com/office/drawing/2014/main" id="{5C3F874D-A803-A8AA-D920-67DA6EFEDB2C}"/>
              </a:ext>
            </a:extLst>
          </p:cNvPr>
          <p:cNvSpPr/>
          <p:nvPr/>
        </p:nvSpPr>
        <p:spPr>
          <a:xfrm>
            <a:off x="2212974" y="2077245"/>
            <a:ext cx="8839199" cy="514349"/>
          </a:xfrm>
          <a:prstGeom prst="wedgeRoundRectCallout">
            <a:avLst>
              <a:gd name="adj1" fmla="val -53038"/>
              <a:gd name="adj2" fmla="val -5850"/>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000" dirty="0">
                <a:latin typeface="+mn-ea"/>
              </a:rPr>
              <a:t>发出者：数据库管理员、数据库对象创建者（</a:t>
            </a:r>
            <a:r>
              <a:rPr lang="en-US" altLang="zh-CN" sz="2000" dirty="0">
                <a:latin typeface="+mn-ea"/>
              </a:rPr>
              <a:t>owner</a:t>
            </a:r>
            <a:r>
              <a:rPr lang="zh-CN" altLang="en-US" sz="2000" dirty="0">
                <a:latin typeface="+mn-ea"/>
              </a:rPr>
              <a:t>）、拥有该权限的用户</a:t>
            </a:r>
          </a:p>
        </p:txBody>
      </p:sp>
      <p:sp>
        <p:nvSpPr>
          <p:cNvPr id="6" name="标注: 双弯曲线形 5">
            <a:extLst>
              <a:ext uri="{FF2B5EF4-FFF2-40B4-BE49-F238E27FC236}">
                <a16:creationId xmlns:a16="http://schemas.microsoft.com/office/drawing/2014/main" id="{85A77C9E-5B67-4E04-D7B5-306E3BB5BD5F}"/>
              </a:ext>
            </a:extLst>
          </p:cNvPr>
          <p:cNvSpPr/>
          <p:nvPr/>
        </p:nvSpPr>
        <p:spPr>
          <a:xfrm>
            <a:off x="4041776" y="4496594"/>
            <a:ext cx="7010399" cy="457200"/>
          </a:xfrm>
          <a:prstGeom prst="borderCallout3">
            <a:avLst>
              <a:gd name="adj1" fmla="val 25707"/>
              <a:gd name="adj2" fmla="val -1847"/>
              <a:gd name="adj3" fmla="val 25707"/>
              <a:gd name="adj4" fmla="val -8086"/>
              <a:gd name="adj5" fmla="val 89566"/>
              <a:gd name="adj6" fmla="val -8113"/>
              <a:gd name="adj7" fmla="val 85833"/>
              <a:gd name="adj8" fmla="val -31621"/>
            </a:avLst>
          </a:prstGeom>
          <a:ln w="19050"/>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dirty="0">
                <a:latin typeface="+mn-ea"/>
              </a:rPr>
              <a:t>接受权限的用户：一个或多个具体用户、</a:t>
            </a:r>
            <a:r>
              <a:rPr lang="en-US" altLang="zh-CN" sz="2000" dirty="0">
                <a:latin typeface="+mn-ea"/>
              </a:rPr>
              <a:t>PUBLIC</a:t>
            </a:r>
            <a:r>
              <a:rPr lang="zh-CN" altLang="en-US" sz="2000" dirty="0">
                <a:latin typeface="+mn-ea"/>
              </a:rPr>
              <a:t>（全体用户）</a:t>
            </a:r>
          </a:p>
        </p:txBody>
      </p:sp>
      <p:sp>
        <p:nvSpPr>
          <p:cNvPr id="7" name="标注: 双弯曲线形 6">
            <a:extLst>
              <a:ext uri="{FF2B5EF4-FFF2-40B4-BE49-F238E27FC236}">
                <a16:creationId xmlns:a16="http://schemas.microsoft.com/office/drawing/2014/main" id="{8F6374C2-2B71-7960-740F-55795662E955}"/>
              </a:ext>
            </a:extLst>
          </p:cNvPr>
          <p:cNvSpPr/>
          <p:nvPr/>
        </p:nvSpPr>
        <p:spPr>
          <a:xfrm>
            <a:off x="4699746" y="5144294"/>
            <a:ext cx="6352429" cy="457200"/>
          </a:xfrm>
          <a:prstGeom prst="borderCallout3">
            <a:avLst>
              <a:gd name="adj1" fmla="val 25707"/>
              <a:gd name="adj2" fmla="val -1847"/>
              <a:gd name="adj3" fmla="val 25707"/>
              <a:gd name="adj4" fmla="val -8086"/>
              <a:gd name="adj5" fmla="val 89566"/>
              <a:gd name="adj6" fmla="val -8113"/>
              <a:gd name="adj7" fmla="val 91050"/>
              <a:gd name="adj8" fmla="val -52937"/>
            </a:avLst>
          </a:prstGeom>
          <a:ln w="19050"/>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dirty="0">
                <a:latin typeface="+mn-ea"/>
              </a:rPr>
              <a:t>指定：可以再授予；没有指定：不能传播</a:t>
            </a:r>
          </a:p>
        </p:txBody>
      </p:sp>
      <p:sp>
        <p:nvSpPr>
          <p:cNvPr id="8" name="对话气泡: 圆角矩形 7">
            <a:extLst>
              <a:ext uri="{FF2B5EF4-FFF2-40B4-BE49-F238E27FC236}">
                <a16:creationId xmlns:a16="http://schemas.microsoft.com/office/drawing/2014/main" id="{609242C2-D6DF-9C97-C91B-CBED957413F8}"/>
              </a:ext>
            </a:extLst>
          </p:cNvPr>
          <p:cNvSpPr/>
          <p:nvPr/>
        </p:nvSpPr>
        <p:spPr>
          <a:xfrm>
            <a:off x="4422775" y="2858294"/>
            <a:ext cx="6629399" cy="514349"/>
          </a:xfrm>
          <a:prstGeom prst="wedgeRoundRectCallout">
            <a:avLst>
              <a:gd name="adj1" fmla="val -46682"/>
              <a:gd name="adj2" fmla="val -6622"/>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zh-CN" altLang="en-US" sz="2000" dirty="0">
                <a:latin typeface="+mn-ea"/>
              </a:rPr>
              <a:t>语义：将对指定操作对象的指定操作权限授予指定的用户 </a:t>
            </a:r>
          </a:p>
        </p:txBody>
      </p:sp>
      <p:sp>
        <p:nvSpPr>
          <p:cNvPr id="9" name="对话气泡: 圆角矩形 8">
            <a:extLst>
              <a:ext uri="{FF2B5EF4-FFF2-40B4-BE49-F238E27FC236}">
                <a16:creationId xmlns:a16="http://schemas.microsoft.com/office/drawing/2014/main" id="{6F37B82A-2ADC-B480-D60A-C711B01B8AE0}"/>
              </a:ext>
            </a:extLst>
          </p:cNvPr>
          <p:cNvSpPr/>
          <p:nvPr/>
        </p:nvSpPr>
        <p:spPr>
          <a:xfrm>
            <a:off x="539752" y="5884404"/>
            <a:ext cx="2054224" cy="514349"/>
          </a:xfrm>
          <a:prstGeom prst="wedgeRoundRectCallout">
            <a:avLst>
              <a:gd name="adj1" fmla="val -46322"/>
              <a:gd name="adj2" fmla="val -6622"/>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zh-CN" altLang="en-US" sz="2000" dirty="0">
                <a:latin typeface="+mn-ea"/>
              </a:rPr>
              <a:t>不允许循环授权</a:t>
            </a:r>
          </a:p>
        </p:txBody>
      </p:sp>
      <p:pic>
        <p:nvPicPr>
          <p:cNvPr id="10" name="图片 6" descr="4z4">
            <a:extLst>
              <a:ext uri="{FF2B5EF4-FFF2-40B4-BE49-F238E27FC236}">
                <a16:creationId xmlns:a16="http://schemas.microsoft.com/office/drawing/2014/main" id="{CEF576A7-12B0-F6F4-45A7-37BF29C2B0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34151" y="5900878"/>
            <a:ext cx="4248472" cy="795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48941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par>
                          <p:cTn id="26" fill="hold">
                            <p:stCondLst>
                              <p:cond delay="1500"/>
                            </p:stCondLst>
                            <p:childTnLst>
                              <p:par>
                                <p:cTn id="27" presetID="10" presetClass="entr" presetSubtype="0" fill="hold" nodeType="after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fade">
                                      <p:cBhvr>
                                        <p:cTn id="53" dur="500"/>
                                        <p:tgtEl>
                                          <p:spTgt spid="9"/>
                                        </p:tgtEl>
                                      </p:cBhvr>
                                    </p:animEffect>
                                  </p:childTnLst>
                                </p:cTn>
                              </p:par>
                            </p:childTnLst>
                          </p:cTn>
                        </p:par>
                        <p:par>
                          <p:cTn id="54" fill="hold">
                            <p:stCondLst>
                              <p:cond delay="500"/>
                            </p:stCondLst>
                            <p:childTnLst>
                              <p:par>
                                <p:cTn id="55" presetID="42" presetClass="entr" presetSubtype="0" fill="hold" nodeType="afterEffect">
                                  <p:stCondLst>
                                    <p:cond delay="25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750"/>
                                        <p:tgtEl>
                                          <p:spTgt spid="10"/>
                                        </p:tgtEl>
                                      </p:cBhvr>
                                    </p:animEffect>
                                    <p:anim calcmode="lin" valueType="num">
                                      <p:cBhvr>
                                        <p:cTn id="58" dur="750" fill="hold"/>
                                        <p:tgtEl>
                                          <p:spTgt spid="10"/>
                                        </p:tgtEl>
                                        <p:attrNameLst>
                                          <p:attrName>ppt_x</p:attrName>
                                        </p:attrNameLst>
                                      </p:cBhvr>
                                      <p:tavLst>
                                        <p:tav tm="0">
                                          <p:val>
                                            <p:strVal val="#ppt_x"/>
                                          </p:val>
                                        </p:tav>
                                        <p:tav tm="100000">
                                          <p:val>
                                            <p:strVal val="#ppt_x"/>
                                          </p:val>
                                        </p:tav>
                                      </p:tavLst>
                                    </p:anim>
                                    <p:anim calcmode="lin" valueType="num">
                                      <p:cBhvr>
                                        <p:cTn id="59" dur="7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DA49B-5465-5423-C225-249009C5DC5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B7C7ED9C-73E4-0FA9-6F68-EB27E62B1D60}"/>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6BDBE841-F7AC-082B-2235-4A6B23332FC7}"/>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a:t>
            </a:r>
          </a:p>
        </p:txBody>
      </p:sp>
      <p:sp>
        <p:nvSpPr>
          <p:cNvPr id="3" name="矩形 2">
            <a:extLst>
              <a:ext uri="{FF2B5EF4-FFF2-40B4-BE49-F238E27FC236}">
                <a16:creationId xmlns:a16="http://schemas.microsoft.com/office/drawing/2014/main" id="{AC2F1D20-E954-A6A9-BDBF-42030C8FB945}"/>
              </a:ext>
            </a:extLst>
          </p:cNvPr>
          <p:cNvSpPr/>
          <p:nvPr/>
        </p:nvSpPr>
        <p:spPr>
          <a:xfrm>
            <a:off x="661008" y="4134645"/>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例：把对</a:t>
            </a:r>
            <a:r>
              <a:rPr lang="en-US" altLang="zh-CN" sz="2000" dirty="0">
                <a:solidFill>
                  <a:srgbClr val="FF0000"/>
                </a:solidFill>
              </a:rPr>
              <a:t>Student</a:t>
            </a:r>
            <a:r>
              <a:rPr lang="zh-CN" altLang="en-US" sz="2000" dirty="0">
                <a:solidFill>
                  <a:srgbClr val="FF0000"/>
                </a:solidFill>
              </a:rPr>
              <a:t>表和</a:t>
            </a:r>
            <a:r>
              <a:rPr lang="en-US" altLang="zh-CN" sz="2000" dirty="0">
                <a:solidFill>
                  <a:srgbClr val="FF0000"/>
                </a:solidFill>
              </a:rPr>
              <a:t>Course</a:t>
            </a:r>
            <a:r>
              <a:rPr lang="zh-CN" altLang="en-US" sz="2000" dirty="0">
                <a:solidFill>
                  <a:srgbClr val="FF0000"/>
                </a:solidFill>
              </a:rPr>
              <a:t>表的全部操作权限授予用户</a:t>
            </a:r>
            <a:r>
              <a:rPr lang="en-US" altLang="zh-CN" sz="2000" dirty="0">
                <a:solidFill>
                  <a:srgbClr val="FF0000"/>
                </a:solidFill>
              </a:rPr>
              <a:t>U2</a:t>
            </a:r>
            <a:r>
              <a:rPr lang="zh-CN" altLang="en-US" sz="2000" dirty="0">
                <a:solidFill>
                  <a:srgbClr val="FF0000"/>
                </a:solidFill>
              </a:rPr>
              <a:t>和</a:t>
            </a:r>
            <a:r>
              <a:rPr lang="en-US" altLang="zh-CN" sz="2000" dirty="0">
                <a:solidFill>
                  <a:srgbClr val="FF0000"/>
                </a:solidFill>
              </a:rPr>
              <a:t>U3</a:t>
            </a:r>
          </a:p>
          <a:p>
            <a:pPr marL="269875" algn="just">
              <a:lnSpc>
                <a:spcPct val="150000"/>
              </a:lnSpc>
            </a:pPr>
            <a:r>
              <a:rPr lang="en-US" altLang="zh-CN" sz="2000" dirty="0">
                <a:solidFill>
                  <a:srgbClr val="FF0000"/>
                </a:solidFill>
              </a:rPr>
              <a:t>      </a:t>
            </a:r>
            <a:r>
              <a:rPr lang="en-US" altLang="zh-CN" sz="2000" dirty="0">
                <a:solidFill>
                  <a:schemeClr val="tx1"/>
                </a:solidFill>
              </a:rPr>
              <a:t>GRANT ALL PRIVILIGES </a:t>
            </a:r>
          </a:p>
          <a:p>
            <a:pPr marL="269875" algn="just">
              <a:lnSpc>
                <a:spcPct val="150000"/>
              </a:lnSpc>
            </a:pPr>
            <a:r>
              <a:rPr lang="en-US" altLang="zh-CN" sz="2000" dirty="0">
                <a:solidFill>
                  <a:schemeClr val="tx1"/>
                </a:solidFill>
              </a:rPr>
              <a:t>      ON TABLE </a:t>
            </a:r>
            <a:r>
              <a:rPr lang="en-US" altLang="zh-CN" sz="2000" dirty="0" err="1">
                <a:solidFill>
                  <a:schemeClr val="tx1"/>
                </a:solidFill>
              </a:rPr>
              <a:t>Student,Course</a:t>
            </a:r>
            <a:r>
              <a:rPr lang="en-US" altLang="zh-CN" sz="2000" dirty="0">
                <a:solidFill>
                  <a:schemeClr val="tx1"/>
                </a:solidFill>
              </a:rPr>
              <a:t> </a:t>
            </a:r>
          </a:p>
          <a:p>
            <a:pPr marL="269875" algn="just">
              <a:lnSpc>
                <a:spcPct val="150000"/>
              </a:lnSpc>
            </a:pPr>
            <a:r>
              <a:rPr lang="en-US" altLang="zh-CN" sz="2000" dirty="0">
                <a:solidFill>
                  <a:schemeClr val="tx1"/>
                </a:solidFill>
              </a:rPr>
              <a:t>      TO U2,U3;</a:t>
            </a:r>
          </a:p>
        </p:txBody>
      </p:sp>
      <p:sp>
        <p:nvSpPr>
          <p:cNvPr id="2" name="矩形 1">
            <a:extLst>
              <a:ext uri="{FF2B5EF4-FFF2-40B4-BE49-F238E27FC236}">
                <a16:creationId xmlns:a16="http://schemas.microsoft.com/office/drawing/2014/main" id="{0EDBCDE6-41F7-3FB5-1F91-426F85AB5606}"/>
              </a:ext>
            </a:extLst>
          </p:cNvPr>
          <p:cNvSpPr/>
          <p:nvPr/>
        </p:nvSpPr>
        <p:spPr>
          <a:xfrm>
            <a:off x="661008" y="1981994"/>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例：把查询</a:t>
            </a:r>
            <a:r>
              <a:rPr lang="en-US" altLang="zh-CN" sz="2000" dirty="0">
                <a:solidFill>
                  <a:srgbClr val="FF0000"/>
                </a:solidFill>
              </a:rPr>
              <a:t>Student</a:t>
            </a:r>
            <a:r>
              <a:rPr lang="zh-CN" altLang="en-US" sz="2000" dirty="0">
                <a:solidFill>
                  <a:srgbClr val="FF0000"/>
                </a:solidFill>
              </a:rPr>
              <a:t>表权限授给用户</a:t>
            </a:r>
            <a:r>
              <a:rPr lang="en-US" altLang="zh-CN" sz="2000" dirty="0">
                <a:solidFill>
                  <a:srgbClr val="FF0000"/>
                </a:solidFill>
              </a:rPr>
              <a:t>U1</a:t>
            </a:r>
          </a:p>
          <a:p>
            <a:pPr marL="269875" algn="just">
              <a:lnSpc>
                <a:spcPct val="150000"/>
              </a:lnSpc>
            </a:pPr>
            <a:r>
              <a:rPr lang="en-US" altLang="zh-CN" sz="2000" dirty="0">
                <a:solidFill>
                  <a:schemeClr val="tx1"/>
                </a:solidFill>
              </a:rPr>
              <a:t>      GRANT   SELECT </a:t>
            </a:r>
          </a:p>
          <a:p>
            <a:pPr marL="269875" algn="just">
              <a:lnSpc>
                <a:spcPct val="150000"/>
              </a:lnSpc>
            </a:pPr>
            <a:r>
              <a:rPr lang="en-US" altLang="zh-CN" sz="2000" dirty="0">
                <a:solidFill>
                  <a:schemeClr val="tx1"/>
                </a:solidFill>
              </a:rPr>
              <a:t>      ON   TABLE   Student </a:t>
            </a:r>
          </a:p>
          <a:p>
            <a:pPr marL="269875" algn="just">
              <a:lnSpc>
                <a:spcPct val="150000"/>
              </a:lnSpc>
            </a:pPr>
            <a:r>
              <a:rPr lang="en-US" altLang="zh-CN" sz="2000" dirty="0">
                <a:solidFill>
                  <a:schemeClr val="tx1"/>
                </a:solidFill>
              </a:rPr>
              <a:t>      TO   U1;</a:t>
            </a:r>
          </a:p>
        </p:txBody>
      </p:sp>
    </p:spTree>
    <p:extLst>
      <p:ext uri="{BB962C8B-B14F-4D97-AF65-F5344CB8AC3E}">
        <p14:creationId xmlns:p14="http://schemas.microsoft.com/office/powerpoint/2010/main" val="117319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9568E-08FC-E6AA-FD7C-D2BA82431E16}"/>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E5114E57-C72D-3AFB-39F2-435346147DEF}"/>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ECB59401-B8E7-C416-7424-F7C079D53C69}"/>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a:t>
            </a:r>
          </a:p>
        </p:txBody>
      </p:sp>
      <p:sp>
        <p:nvSpPr>
          <p:cNvPr id="3" name="矩形 2">
            <a:extLst>
              <a:ext uri="{FF2B5EF4-FFF2-40B4-BE49-F238E27FC236}">
                <a16:creationId xmlns:a16="http://schemas.microsoft.com/office/drawing/2014/main" id="{F66130ED-7776-54AE-EBE7-813233043CF3}"/>
              </a:ext>
            </a:extLst>
          </p:cNvPr>
          <p:cNvSpPr/>
          <p:nvPr/>
        </p:nvSpPr>
        <p:spPr>
          <a:xfrm>
            <a:off x="661008" y="4134644"/>
            <a:ext cx="11286490" cy="237251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例：把查询</a:t>
            </a:r>
            <a:r>
              <a:rPr lang="en-US" altLang="zh-CN" sz="2000" dirty="0">
                <a:solidFill>
                  <a:srgbClr val="FF0000"/>
                </a:solidFill>
              </a:rPr>
              <a:t>Student</a:t>
            </a:r>
            <a:r>
              <a:rPr lang="zh-CN" altLang="en-US" sz="2000" dirty="0">
                <a:solidFill>
                  <a:srgbClr val="FF0000"/>
                </a:solidFill>
              </a:rPr>
              <a:t>表和修改学生学号的权限授给用户</a:t>
            </a:r>
            <a:r>
              <a:rPr lang="en-US" altLang="zh-CN" sz="2000" dirty="0">
                <a:solidFill>
                  <a:srgbClr val="FF0000"/>
                </a:solidFill>
              </a:rPr>
              <a:t>U4</a:t>
            </a:r>
          </a:p>
          <a:p>
            <a:pPr marL="269875" algn="just">
              <a:lnSpc>
                <a:spcPct val="150000"/>
              </a:lnSpc>
            </a:pPr>
            <a:r>
              <a:rPr lang="en-US" altLang="zh-CN" sz="2000" dirty="0">
                <a:solidFill>
                  <a:srgbClr val="FF0000"/>
                </a:solidFill>
              </a:rPr>
              <a:t>      </a:t>
            </a:r>
            <a:r>
              <a:rPr lang="en-US" altLang="zh-CN" sz="2000" dirty="0">
                <a:solidFill>
                  <a:schemeClr val="tx1"/>
                </a:solidFill>
              </a:rPr>
              <a:t>GRANT UPDATE(Sno), SELECT </a:t>
            </a:r>
          </a:p>
          <a:p>
            <a:pPr marL="269875" algn="just">
              <a:lnSpc>
                <a:spcPct val="150000"/>
              </a:lnSpc>
            </a:pPr>
            <a:r>
              <a:rPr lang="en-US" altLang="zh-CN" sz="2000" dirty="0">
                <a:solidFill>
                  <a:schemeClr val="tx1"/>
                </a:solidFill>
              </a:rPr>
              <a:t>      ON TABLE Student </a:t>
            </a:r>
          </a:p>
          <a:p>
            <a:pPr marL="269875" algn="just">
              <a:lnSpc>
                <a:spcPct val="150000"/>
              </a:lnSpc>
            </a:pPr>
            <a:r>
              <a:rPr lang="en-US" altLang="zh-CN" sz="2000" dirty="0">
                <a:solidFill>
                  <a:schemeClr val="tx1"/>
                </a:solidFill>
              </a:rPr>
              <a:t>      TO U4;</a:t>
            </a:r>
          </a:p>
          <a:p>
            <a:pPr marL="612775" indent="-342900" algn="just">
              <a:lnSpc>
                <a:spcPct val="150000"/>
              </a:lnSpc>
              <a:buFont typeface="Wingdings" panose="05000000000000000000" pitchFamily="2" charset="2"/>
              <a:buChar char="l"/>
            </a:pPr>
            <a:r>
              <a:rPr lang="en-US" altLang="zh-CN" sz="2000" dirty="0">
                <a:solidFill>
                  <a:schemeClr val="tx1"/>
                </a:solidFill>
              </a:rPr>
              <a:t> </a:t>
            </a:r>
            <a:r>
              <a:rPr lang="zh-CN" altLang="en-US" sz="2000" dirty="0">
                <a:solidFill>
                  <a:schemeClr val="tx1"/>
                </a:solidFill>
              </a:rPr>
              <a:t>对属性列授权时必须明确指出相应属性列名</a:t>
            </a:r>
            <a:endParaRPr lang="en-US" altLang="zh-CN" sz="2000" dirty="0">
              <a:solidFill>
                <a:schemeClr val="tx1"/>
              </a:solidFill>
            </a:endParaRPr>
          </a:p>
        </p:txBody>
      </p:sp>
      <p:sp>
        <p:nvSpPr>
          <p:cNvPr id="2" name="矩形 1">
            <a:extLst>
              <a:ext uri="{FF2B5EF4-FFF2-40B4-BE49-F238E27FC236}">
                <a16:creationId xmlns:a16="http://schemas.microsoft.com/office/drawing/2014/main" id="{066EEF17-48D6-3A8B-BDF5-3AF36AF7EAA1}"/>
              </a:ext>
            </a:extLst>
          </p:cNvPr>
          <p:cNvSpPr/>
          <p:nvPr/>
        </p:nvSpPr>
        <p:spPr>
          <a:xfrm>
            <a:off x="661008" y="1981994"/>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例：把对表</a:t>
            </a:r>
            <a:r>
              <a:rPr lang="en-US" altLang="zh-CN" sz="2000" dirty="0">
                <a:solidFill>
                  <a:srgbClr val="FF0000"/>
                </a:solidFill>
              </a:rPr>
              <a:t>SC</a:t>
            </a:r>
            <a:r>
              <a:rPr lang="zh-CN" altLang="en-US" sz="2000" dirty="0">
                <a:solidFill>
                  <a:srgbClr val="FF0000"/>
                </a:solidFill>
              </a:rPr>
              <a:t>的查询权限授予所有用户</a:t>
            </a:r>
          </a:p>
          <a:p>
            <a:pPr marL="269875" algn="just">
              <a:lnSpc>
                <a:spcPct val="150000"/>
              </a:lnSpc>
            </a:pPr>
            <a:r>
              <a:rPr lang="zh-CN" altLang="en-US" sz="2000" dirty="0">
                <a:solidFill>
                  <a:schemeClr val="tx1"/>
                </a:solidFill>
              </a:rPr>
              <a:t>      </a:t>
            </a:r>
            <a:r>
              <a:rPr lang="en-US" altLang="zh-CN" sz="2000" dirty="0">
                <a:solidFill>
                  <a:schemeClr val="tx1"/>
                </a:solidFill>
              </a:rPr>
              <a:t>GRANT SELECT </a:t>
            </a:r>
          </a:p>
          <a:p>
            <a:pPr marL="269875" algn="just">
              <a:lnSpc>
                <a:spcPct val="150000"/>
              </a:lnSpc>
            </a:pPr>
            <a:r>
              <a:rPr lang="en-US" altLang="zh-CN" sz="2000" dirty="0">
                <a:solidFill>
                  <a:schemeClr val="tx1"/>
                </a:solidFill>
              </a:rPr>
              <a:t>      ON TABLE SC </a:t>
            </a:r>
          </a:p>
          <a:p>
            <a:pPr marL="269875" algn="just">
              <a:lnSpc>
                <a:spcPct val="150000"/>
              </a:lnSpc>
            </a:pPr>
            <a:r>
              <a:rPr lang="en-US" altLang="zh-CN" sz="2000" dirty="0">
                <a:solidFill>
                  <a:schemeClr val="tx1"/>
                </a:solidFill>
              </a:rPr>
              <a:t>      TO PUBLIC;</a:t>
            </a:r>
          </a:p>
        </p:txBody>
      </p:sp>
    </p:spTree>
    <p:extLst>
      <p:ext uri="{BB962C8B-B14F-4D97-AF65-F5344CB8AC3E}">
        <p14:creationId xmlns:p14="http://schemas.microsoft.com/office/powerpoint/2010/main" val="122678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Effect transition="in" filter="fade">
                                      <p:cBhvr>
                                        <p:cTn id="16" dur="500"/>
                                        <p:tgtEl>
                                          <p:spTgt spid="2">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fade">
                                      <p:cBhvr>
                                        <p:cTn id="19" dur="500"/>
                                        <p:tgtEl>
                                          <p:spTgt spid="2">
                                            <p:txEl>
                                              <p:pRg st="2" end="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500"/>
                                        <p:tgtEl>
                                          <p:spTgt spid="3">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70EA1-018F-5483-1D0B-15E5F0BF9F26}"/>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8B1AE26-7B23-CA7F-49CC-0E0FDAEE4137}"/>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72F789D-F106-76BF-1E10-132385328A8F}"/>
              </a:ext>
            </a:extLst>
          </p:cNvPr>
          <p:cNvSpPr>
            <a:spLocks noGrp="1"/>
          </p:cNvSpPr>
          <p:nvPr/>
        </p:nvSpPr>
        <p:spPr>
          <a:xfrm>
            <a:off x="536576" y="1180226"/>
            <a:ext cx="35052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a:t>
            </a:r>
          </a:p>
        </p:txBody>
      </p:sp>
      <p:sp>
        <p:nvSpPr>
          <p:cNvPr id="2" name="矩形 1">
            <a:extLst>
              <a:ext uri="{FF2B5EF4-FFF2-40B4-BE49-F238E27FC236}">
                <a16:creationId xmlns:a16="http://schemas.microsoft.com/office/drawing/2014/main" id="{38DE93D3-F967-E070-0631-7118A7B7BA82}"/>
              </a:ext>
            </a:extLst>
          </p:cNvPr>
          <p:cNvSpPr/>
          <p:nvPr/>
        </p:nvSpPr>
        <p:spPr>
          <a:xfrm>
            <a:off x="661008" y="1981994"/>
            <a:ext cx="11286490" cy="2590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例：把对表</a:t>
            </a:r>
            <a:r>
              <a:rPr lang="en-US" altLang="zh-CN" sz="2000" dirty="0">
                <a:solidFill>
                  <a:srgbClr val="FF0000"/>
                </a:solidFill>
              </a:rPr>
              <a:t>SC</a:t>
            </a:r>
            <a:r>
              <a:rPr lang="zh-CN" altLang="en-US" sz="2000" dirty="0">
                <a:solidFill>
                  <a:srgbClr val="FF0000"/>
                </a:solidFill>
              </a:rPr>
              <a:t>的</a:t>
            </a:r>
            <a:r>
              <a:rPr lang="en-US" altLang="zh-CN" sz="2000" dirty="0">
                <a:solidFill>
                  <a:srgbClr val="FF0000"/>
                </a:solidFill>
              </a:rPr>
              <a:t>INSERT</a:t>
            </a:r>
            <a:r>
              <a:rPr lang="zh-CN" altLang="en-US" sz="2000" dirty="0">
                <a:solidFill>
                  <a:srgbClr val="FF0000"/>
                </a:solidFill>
              </a:rPr>
              <a:t>权限授予</a:t>
            </a:r>
            <a:r>
              <a:rPr lang="en-US" altLang="zh-CN" sz="2000" dirty="0">
                <a:solidFill>
                  <a:srgbClr val="FF0000"/>
                </a:solidFill>
              </a:rPr>
              <a:t>U5</a:t>
            </a:r>
            <a:r>
              <a:rPr lang="zh-CN" altLang="en-US" sz="2000" dirty="0">
                <a:solidFill>
                  <a:srgbClr val="FF0000"/>
                </a:solidFill>
              </a:rPr>
              <a:t>用户，并允许将此权限再授予其他用户</a:t>
            </a:r>
          </a:p>
          <a:p>
            <a:pPr marL="269875" algn="just">
              <a:lnSpc>
                <a:spcPct val="150000"/>
              </a:lnSpc>
            </a:pPr>
            <a:r>
              <a:rPr lang="zh-CN" altLang="en-US" sz="2000" dirty="0">
                <a:solidFill>
                  <a:schemeClr val="tx1"/>
                </a:solidFill>
              </a:rPr>
              <a:t>    </a:t>
            </a:r>
            <a:r>
              <a:rPr lang="en-US" altLang="zh-CN" sz="2000" dirty="0">
                <a:solidFill>
                  <a:schemeClr val="tx1"/>
                </a:solidFill>
              </a:rPr>
              <a:t>GRANT INSERT </a:t>
            </a:r>
          </a:p>
          <a:p>
            <a:pPr marL="269875" algn="just">
              <a:lnSpc>
                <a:spcPct val="150000"/>
              </a:lnSpc>
            </a:pPr>
            <a:r>
              <a:rPr lang="en-US" altLang="zh-CN" sz="2000" dirty="0">
                <a:solidFill>
                  <a:schemeClr val="tx1"/>
                </a:solidFill>
              </a:rPr>
              <a:t>    ON TABLE SC </a:t>
            </a:r>
          </a:p>
          <a:p>
            <a:pPr marL="269875" algn="just">
              <a:lnSpc>
                <a:spcPct val="150000"/>
              </a:lnSpc>
            </a:pPr>
            <a:r>
              <a:rPr lang="en-US" altLang="zh-CN" sz="2000" dirty="0">
                <a:solidFill>
                  <a:schemeClr val="tx1"/>
                </a:solidFill>
              </a:rPr>
              <a:t>    TO U5</a:t>
            </a:r>
          </a:p>
          <a:p>
            <a:pPr marL="269875" algn="just">
              <a:lnSpc>
                <a:spcPct val="150000"/>
              </a:lnSpc>
            </a:pPr>
            <a:r>
              <a:rPr lang="en-US" altLang="zh-CN" sz="2000" dirty="0">
                <a:solidFill>
                  <a:schemeClr val="tx1"/>
                </a:solidFill>
              </a:rPr>
              <a:t>    </a:t>
            </a:r>
            <a:r>
              <a:rPr lang="en-US" altLang="zh-CN" sz="2000" dirty="0">
                <a:solidFill>
                  <a:srgbClr val="FF0000"/>
                </a:solidFill>
              </a:rPr>
              <a:t>WITH GRANT OPTION</a:t>
            </a:r>
            <a:r>
              <a:rPr lang="en-US" altLang="zh-CN" sz="2000" dirty="0">
                <a:solidFill>
                  <a:schemeClr val="tx1"/>
                </a:solidFill>
              </a:rPr>
              <a:t>;</a:t>
            </a:r>
          </a:p>
        </p:txBody>
      </p:sp>
      <p:sp>
        <p:nvSpPr>
          <p:cNvPr id="7" name="箭头: 右 6">
            <a:extLst>
              <a:ext uri="{FF2B5EF4-FFF2-40B4-BE49-F238E27FC236}">
                <a16:creationId xmlns:a16="http://schemas.microsoft.com/office/drawing/2014/main" id="{ABDE7E98-D985-9856-A164-9CC11EED6302}"/>
              </a:ext>
            </a:extLst>
          </p:cNvPr>
          <p:cNvSpPr/>
          <p:nvPr/>
        </p:nvSpPr>
        <p:spPr>
          <a:xfrm>
            <a:off x="4194175" y="2591594"/>
            <a:ext cx="2819400" cy="1905000"/>
          </a:xfrm>
          <a:prstGeom prst="rightArrow">
            <a:avLst>
              <a:gd name="adj1" fmla="val 50000"/>
              <a:gd name="adj2" fmla="val 44976"/>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a:solidFill>
                  <a:schemeClr val="tx1"/>
                </a:solidFill>
              </a:rPr>
              <a:t>U5</a:t>
            </a:r>
            <a:r>
              <a:rPr lang="zh-CN" altLang="en-US" sz="2000" dirty="0">
                <a:solidFill>
                  <a:schemeClr val="tx1"/>
                </a:solidFill>
              </a:rPr>
              <a:t>不仅拥有了对表</a:t>
            </a:r>
            <a:r>
              <a:rPr lang="en-US" altLang="zh-CN" sz="2000" dirty="0">
                <a:solidFill>
                  <a:schemeClr val="tx1"/>
                </a:solidFill>
              </a:rPr>
              <a:t>SC</a:t>
            </a:r>
            <a:r>
              <a:rPr lang="zh-CN" altLang="en-US" sz="2000" dirty="0">
                <a:solidFill>
                  <a:schemeClr val="tx1"/>
                </a:solidFill>
              </a:rPr>
              <a:t>的</a:t>
            </a:r>
            <a:r>
              <a:rPr lang="en-US" altLang="zh-CN" sz="2000" dirty="0">
                <a:solidFill>
                  <a:schemeClr val="tx1"/>
                </a:solidFill>
              </a:rPr>
              <a:t>INSERT</a:t>
            </a:r>
            <a:r>
              <a:rPr lang="zh-CN" altLang="en-US" sz="2000" dirty="0">
                <a:solidFill>
                  <a:schemeClr val="tx1"/>
                </a:solidFill>
              </a:rPr>
              <a:t>权限，还可传播此权限</a:t>
            </a:r>
          </a:p>
        </p:txBody>
      </p:sp>
      <p:pic>
        <p:nvPicPr>
          <p:cNvPr id="11" name="图片 10">
            <a:extLst>
              <a:ext uri="{FF2B5EF4-FFF2-40B4-BE49-F238E27FC236}">
                <a16:creationId xmlns:a16="http://schemas.microsoft.com/office/drawing/2014/main" id="{D1A4A1E6-21A0-8DE4-DD1C-1096F5762229}"/>
              </a:ext>
            </a:extLst>
          </p:cNvPr>
          <p:cNvPicPr>
            <a:picLocks noChangeAspect="1"/>
          </p:cNvPicPr>
          <p:nvPr/>
        </p:nvPicPr>
        <p:blipFill>
          <a:blip r:embed="rId2"/>
          <a:stretch>
            <a:fillRect/>
          </a:stretch>
        </p:blipFill>
        <p:spPr>
          <a:xfrm>
            <a:off x="7623175" y="2754969"/>
            <a:ext cx="2525200" cy="1578250"/>
          </a:xfrm>
          <a:prstGeom prst="rect">
            <a:avLst/>
          </a:prstGeom>
          <a:ln w="19050">
            <a:solidFill>
              <a:schemeClr val="accent1"/>
            </a:solidFill>
          </a:ln>
        </p:spPr>
      </p:pic>
      <p:sp>
        <p:nvSpPr>
          <p:cNvPr id="12" name="矩形 11">
            <a:extLst>
              <a:ext uri="{FF2B5EF4-FFF2-40B4-BE49-F238E27FC236}">
                <a16:creationId xmlns:a16="http://schemas.microsoft.com/office/drawing/2014/main" id="{78EE420A-C558-30B2-FFA2-4F09FCCEB41A}"/>
              </a:ext>
            </a:extLst>
          </p:cNvPr>
          <p:cNvSpPr/>
          <p:nvPr/>
        </p:nvSpPr>
        <p:spPr>
          <a:xfrm>
            <a:off x="623764" y="4820445"/>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同样，</a:t>
            </a:r>
            <a:r>
              <a:rPr lang="en-US" altLang="zh-CN" sz="2000" dirty="0">
                <a:solidFill>
                  <a:srgbClr val="FF0000"/>
                </a:solidFill>
              </a:rPr>
              <a:t>U6</a:t>
            </a:r>
            <a:r>
              <a:rPr lang="zh-CN" altLang="en-US" sz="2000" dirty="0">
                <a:solidFill>
                  <a:srgbClr val="FF0000"/>
                </a:solidFill>
              </a:rPr>
              <a:t>还可以将此权限授予</a:t>
            </a:r>
            <a:r>
              <a:rPr lang="en-US" altLang="zh-CN" sz="2000" dirty="0">
                <a:solidFill>
                  <a:srgbClr val="FF0000"/>
                </a:solidFill>
              </a:rPr>
              <a:t>U7</a:t>
            </a:r>
            <a:r>
              <a:rPr lang="zh-CN" altLang="en-US" sz="2000" dirty="0">
                <a:solidFill>
                  <a:srgbClr val="FF0000"/>
                </a:solidFill>
              </a:rPr>
              <a:t>：</a:t>
            </a:r>
          </a:p>
          <a:p>
            <a:pPr marL="269875" algn="just">
              <a:lnSpc>
                <a:spcPct val="150000"/>
              </a:lnSpc>
            </a:pPr>
            <a:r>
              <a:rPr lang="zh-CN" altLang="en-US" sz="2000" dirty="0">
                <a:solidFill>
                  <a:schemeClr val="tx1"/>
                </a:solidFill>
              </a:rPr>
              <a:t>    </a:t>
            </a:r>
            <a:r>
              <a:rPr lang="en-US" altLang="zh-CN" sz="2000" dirty="0">
                <a:solidFill>
                  <a:schemeClr val="tx1"/>
                </a:solidFill>
              </a:rPr>
              <a:t>GRANT INSERT </a:t>
            </a:r>
          </a:p>
          <a:p>
            <a:pPr marL="269875" algn="just">
              <a:lnSpc>
                <a:spcPct val="150000"/>
              </a:lnSpc>
            </a:pPr>
            <a:r>
              <a:rPr lang="en-US" altLang="zh-CN" sz="2000" dirty="0">
                <a:solidFill>
                  <a:schemeClr val="tx1"/>
                </a:solidFill>
              </a:rPr>
              <a:t>    ON TABLE SC </a:t>
            </a:r>
          </a:p>
          <a:p>
            <a:pPr marL="269875" algn="just">
              <a:lnSpc>
                <a:spcPct val="150000"/>
              </a:lnSpc>
            </a:pPr>
            <a:r>
              <a:rPr lang="en-US" altLang="zh-CN" sz="2000" dirty="0">
                <a:solidFill>
                  <a:schemeClr val="tx1"/>
                </a:solidFill>
              </a:rPr>
              <a:t>    </a:t>
            </a:r>
            <a:r>
              <a:rPr lang="en-US" altLang="zh-CN" sz="2000" dirty="0">
                <a:solidFill>
                  <a:srgbClr val="FF0000"/>
                </a:solidFill>
              </a:rPr>
              <a:t>TO U7</a:t>
            </a:r>
            <a:r>
              <a:rPr lang="zh-CN" altLang="en-US" sz="2000" dirty="0">
                <a:solidFill>
                  <a:schemeClr val="tx1"/>
                </a:solidFill>
              </a:rPr>
              <a:t>；</a:t>
            </a:r>
            <a:endParaRPr lang="en-US" altLang="zh-CN" sz="2000" dirty="0">
              <a:solidFill>
                <a:schemeClr val="tx1"/>
              </a:solidFill>
            </a:endParaRPr>
          </a:p>
        </p:txBody>
      </p:sp>
      <p:sp>
        <p:nvSpPr>
          <p:cNvPr id="13" name="对话气泡: 圆角矩形 12">
            <a:extLst>
              <a:ext uri="{FF2B5EF4-FFF2-40B4-BE49-F238E27FC236}">
                <a16:creationId xmlns:a16="http://schemas.microsoft.com/office/drawing/2014/main" id="{CCD41A87-FE9A-5CD4-BF8A-CD0BF09B11F9}"/>
              </a:ext>
            </a:extLst>
          </p:cNvPr>
          <p:cNvSpPr/>
          <p:nvPr/>
        </p:nvSpPr>
        <p:spPr>
          <a:xfrm>
            <a:off x="3549651" y="6211096"/>
            <a:ext cx="2930524" cy="514349"/>
          </a:xfrm>
          <a:prstGeom prst="wedgeRoundRectCallout">
            <a:avLst>
              <a:gd name="adj1" fmla="val -46322"/>
              <a:gd name="adj2" fmla="val -6622"/>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zh-CN" altLang="en-US" sz="2000" dirty="0">
                <a:latin typeface="+mn-ea"/>
              </a:rPr>
              <a:t>但</a:t>
            </a:r>
            <a:r>
              <a:rPr lang="en-US" altLang="zh-CN" sz="2000" dirty="0">
                <a:latin typeface="+mn-ea"/>
              </a:rPr>
              <a:t>U7</a:t>
            </a:r>
            <a:r>
              <a:rPr lang="zh-CN" altLang="en-US" sz="2000" dirty="0">
                <a:latin typeface="+mn-ea"/>
              </a:rPr>
              <a:t>不能再传播此权限</a:t>
            </a:r>
          </a:p>
        </p:txBody>
      </p:sp>
    </p:spTree>
    <p:extLst>
      <p:ext uri="{BB962C8B-B14F-4D97-AF65-F5344CB8AC3E}">
        <p14:creationId xmlns:p14="http://schemas.microsoft.com/office/powerpoint/2010/main" val="337152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1000"/>
                                        <p:tgtEl>
                                          <p:spTgt spid="7"/>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5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500"/>
                                        <p:tgtEl>
                                          <p:spTgt spid="12">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2">
                                            <p:txEl>
                                              <p:pRg st="1" end="1"/>
                                            </p:txEl>
                                          </p:spTgt>
                                        </p:tgtEl>
                                        <p:attrNameLst>
                                          <p:attrName>style.visibility</p:attrName>
                                        </p:attrNameLst>
                                      </p:cBhvr>
                                      <p:to>
                                        <p:strVal val="visible"/>
                                      </p:to>
                                    </p:set>
                                    <p:animEffect transition="in" filter="fade">
                                      <p:cBhvr>
                                        <p:cTn id="40" dur="500"/>
                                        <p:tgtEl>
                                          <p:spTgt spid="12">
                                            <p:txEl>
                                              <p:pRg st="1" end="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animEffect transition="in" filter="fade">
                                      <p:cBhvr>
                                        <p:cTn id="43" dur="500"/>
                                        <p:tgtEl>
                                          <p:spTgt spid="12">
                                            <p:txEl>
                                              <p:pRg st="2" end="2"/>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2">
                                            <p:txEl>
                                              <p:pRg st="3" end="3"/>
                                            </p:txEl>
                                          </p:spTgt>
                                        </p:tgtEl>
                                        <p:attrNameLst>
                                          <p:attrName>style.visibility</p:attrName>
                                        </p:attrNameLst>
                                      </p:cBhvr>
                                      <p:to>
                                        <p:strVal val="visible"/>
                                      </p:to>
                                    </p:set>
                                    <p:animEffect transition="in" filter="fade">
                                      <p:cBhvr>
                                        <p:cTn id="46" dur="500"/>
                                        <p:tgtEl>
                                          <p:spTgt spid="12">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2A94-4F75-602C-F420-EF226E63002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BEE29A5A-BCA2-AC8C-A184-EB197011667C}"/>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F7478235-508B-98D4-E2BC-152E42E5BE8E}"/>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自主存取控制方法：授权收回</a:t>
            </a:r>
          </a:p>
        </p:txBody>
      </p:sp>
      <p:sp>
        <p:nvSpPr>
          <p:cNvPr id="5" name="矩形 4">
            <a:extLst>
              <a:ext uri="{FF2B5EF4-FFF2-40B4-BE49-F238E27FC236}">
                <a16:creationId xmlns:a16="http://schemas.microsoft.com/office/drawing/2014/main" id="{B6551E6D-E919-E98C-1EDD-923E69FB38C0}"/>
              </a:ext>
            </a:extLst>
          </p:cNvPr>
          <p:cNvSpPr/>
          <p:nvPr/>
        </p:nvSpPr>
        <p:spPr>
          <a:xfrm>
            <a:off x="508608" y="1829594"/>
            <a:ext cx="11286490" cy="384976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200000"/>
              </a:lnSpc>
            </a:pPr>
            <a:r>
              <a:rPr lang="en-US" altLang="zh-CN" sz="2000" dirty="0">
                <a:solidFill>
                  <a:schemeClr val="tx1"/>
                </a:solidFill>
              </a:rPr>
              <a:t>REVOKE</a:t>
            </a:r>
          </a:p>
          <a:p>
            <a:pPr marL="628650" indent="-358775" algn="just">
              <a:lnSpc>
                <a:spcPct val="200000"/>
              </a:lnSpc>
              <a:buFont typeface="Wingdings" panose="05000000000000000000" pitchFamily="2" charset="2"/>
              <a:buChar char="l"/>
            </a:pPr>
            <a:r>
              <a:rPr lang="zh-CN" altLang="en-US" sz="2000" dirty="0">
                <a:solidFill>
                  <a:schemeClr val="tx1"/>
                </a:solidFill>
              </a:rPr>
              <a:t>授予的权限可以由数据库管理员或其他授权者用</a:t>
            </a:r>
            <a:r>
              <a:rPr lang="en-US" altLang="zh-CN" sz="2000" dirty="0">
                <a:solidFill>
                  <a:srgbClr val="FF0000"/>
                </a:solidFill>
              </a:rPr>
              <a:t>REVOKE</a:t>
            </a:r>
            <a:r>
              <a:rPr lang="zh-CN" altLang="en-US" sz="2000" dirty="0">
                <a:solidFill>
                  <a:srgbClr val="FF0000"/>
                </a:solidFill>
              </a:rPr>
              <a:t>语句</a:t>
            </a:r>
            <a:r>
              <a:rPr lang="zh-CN" altLang="en-US" sz="2000" dirty="0">
                <a:solidFill>
                  <a:schemeClr val="tx1"/>
                </a:solidFill>
              </a:rPr>
              <a:t>收回</a:t>
            </a:r>
          </a:p>
          <a:p>
            <a:pPr marL="628650" indent="-358775" algn="just">
              <a:lnSpc>
                <a:spcPct val="200000"/>
              </a:lnSpc>
              <a:buFont typeface="Wingdings" panose="05000000000000000000" pitchFamily="2" charset="2"/>
              <a:buChar char="l"/>
            </a:pPr>
            <a:r>
              <a:rPr lang="en-US" altLang="zh-CN" sz="2000" dirty="0">
                <a:solidFill>
                  <a:schemeClr val="tx1"/>
                </a:solidFill>
              </a:rPr>
              <a:t>REVOKE</a:t>
            </a:r>
            <a:r>
              <a:rPr lang="zh-CN" altLang="en-US" sz="2000" dirty="0">
                <a:solidFill>
                  <a:schemeClr val="tx1"/>
                </a:solidFill>
              </a:rPr>
              <a:t>语句的一般格式为：</a:t>
            </a:r>
          </a:p>
          <a:p>
            <a:pPr marL="269875" indent="358775" algn="just">
              <a:lnSpc>
                <a:spcPct val="200000"/>
              </a:lnSpc>
            </a:pPr>
            <a:r>
              <a:rPr lang="zh-CN" altLang="en-US" sz="2000" dirty="0">
                <a:solidFill>
                  <a:schemeClr val="tx1"/>
                </a:solidFill>
              </a:rPr>
              <a:t>    </a:t>
            </a:r>
            <a:r>
              <a:rPr lang="en-US" altLang="zh-CN" sz="2000" dirty="0">
                <a:solidFill>
                  <a:schemeClr val="tx1"/>
                </a:solidFill>
              </a:rPr>
              <a:t>REVOKE &lt;</a:t>
            </a:r>
            <a:r>
              <a:rPr lang="zh-CN" altLang="en-US" sz="2000" dirty="0">
                <a:solidFill>
                  <a:schemeClr val="tx1"/>
                </a:solidFill>
              </a:rPr>
              <a:t>权限</a:t>
            </a:r>
            <a:r>
              <a:rPr lang="en-US" altLang="zh-CN" sz="2000" dirty="0">
                <a:solidFill>
                  <a:schemeClr val="tx1"/>
                </a:solidFill>
              </a:rPr>
              <a:t>&gt;[,&lt;</a:t>
            </a:r>
            <a:r>
              <a:rPr lang="zh-CN" altLang="en-US" sz="2000" dirty="0">
                <a:solidFill>
                  <a:schemeClr val="tx1"/>
                </a:solidFill>
              </a:rPr>
              <a:t>权限</a:t>
            </a:r>
            <a:r>
              <a:rPr lang="en-US" altLang="zh-CN" sz="2000" dirty="0">
                <a:solidFill>
                  <a:schemeClr val="tx1"/>
                </a:solidFill>
              </a:rPr>
              <a:t>&gt;]... </a:t>
            </a:r>
          </a:p>
          <a:p>
            <a:pPr marL="269875" indent="358775" algn="just">
              <a:lnSpc>
                <a:spcPct val="200000"/>
              </a:lnSpc>
            </a:pPr>
            <a:r>
              <a:rPr lang="en-US" altLang="zh-CN" sz="2000" dirty="0">
                <a:solidFill>
                  <a:schemeClr val="tx1"/>
                </a:solidFill>
              </a:rPr>
              <a:t>    ON &lt;</a:t>
            </a:r>
            <a:r>
              <a:rPr lang="zh-CN" altLang="en-US" sz="2000" dirty="0">
                <a:solidFill>
                  <a:schemeClr val="tx1"/>
                </a:solidFill>
              </a:rPr>
              <a:t>对象类型</a:t>
            </a:r>
            <a:r>
              <a:rPr lang="en-US" altLang="zh-CN" sz="2000" dirty="0">
                <a:solidFill>
                  <a:schemeClr val="tx1"/>
                </a:solidFill>
              </a:rPr>
              <a:t>&gt; &lt;</a:t>
            </a:r>
            <a:r>
              <a:rPr lang="zh-CN" altLang="en-US" sz="2000" dirty="0">
                <a:solidFill>
                  <a:schemeClr val="tx1"/>
                </a:solidFill>
              </a:rPr>
              <a:t>对象名</a:t>
            </a:r>
            <a:r>
              <a:rPr lang="en-US" altLang="zh-CN" sz="2000" dirty="0">
                <a:solidFill>
                  <a:schemeClr val="tx1"/>
                </a:solidFill>
              </a:rPr>
              <a:t>&gt;[,&lt;</a:t>
            </a:r>
            <a:r>
              <a:rPr lang="zh-CN" altLang="en-US" sz="2000" dirty="0">
                <a:solidFill>
                  <a:schemeClr val="tx1"/>
                </a:solidFill>
              </a:rPr>
              <a:t>对象类型</a:t>
            </a:r>
            <a:r>
              <a:rPr lang="en-US" altLang="zh-CN" sz="2000" dirty="0">
                <a:solidFill>
                  <a:schemeClr val="tx1"/>
                </a:solidFill>
              </a:rPr>
              <a:t>&gt;&lt;</a:t>
            </a:r>
            <a:r>
              <a:rPr lang="zh-CN" altLang="en-US" sz="2000" dirty="0">
                <a:solidFill>
                  <a:schemeClr val="tx1"/>
                </a:solidFill>
              </a:rPr>
              <a:t>对象名</a:t>
            </a:r>
            <a:r>
              <a:rPr lang="en-US" altLang="zh-CN" sz="2000" dirty="0">
                <a:solidFill>
                  <a:schemeClr val="tx1"/>
                </a:solidFill>
              </a:rPr>
              <a:t>&gt;]…</a:t>
            </a:r>
          </a:p>
          <a:p>
            <a:pPr marL="269875" indent="358775" algn="just">
              <a:lnSpc>
                <a:spcPct val="200000"/>
              </a:lnSpc>
            </a:pPr>
            <a:r>
              <a:rPr lang="en-US" altLang="zh-CN" sz="2000" dirty="0">
                <a:solidFill>
                  <a:schemeClr val="tx1"/>
                </a:solidFill>
              </a:rPr>
              <a:t>    FROM &lt;</a:t>
            </a:r>
            <a:r>
              <a:rPr lang="zh-CN" altLang="en-US" sz="2000" dirty="0">
                <a:solidFill>
                  <a:schemeClr val="tx1"/>
                </a:solidFill>
              </a:rPr>
              <a:t>用户</a:t>
            </a:r>
            <a:r>
              <a:rPr lang="en-US" altLang="zh-CN" sz="2000" dirty="0">
                <a:solidFill>
                  <a:schemeClr val="tx1"/>
                </a:solidFill>
              </a:rPr>
              <a:t>&gt;[,&lt;</a:t>
            </a:r>
            <a:r>
              <a:rPr lang="zh-CN" altLang="en-US" sz="2000" dirty="0">
                <a:solidFill>
                  <a:schemeClr val="tx1"/>
                </a:solidFill>
              </a:rPr>
              <a:t>用户</a:t>
            </a:r>
            <a:r>
              <a:rPr lang="en-US" altLang="zh-CN" sz="2000" dirty="0">
                <a:solidFill>
                  <a:schemeClr val="tx1"/>
                </a:solidFill>
              </a:rPr>
              <a:t>&gt;]...[CASCADE | RESTRICT];</a:t>
            </a:r>
          </a:p>
        </p:txBody>
      </p:sp>
      <p:sp>
        <p:nvSpPr>
          <p:cNvPr id="2" name="标注: 双弯曲线形(带边框和强调线) 1">
            <a:extLst>
              <a:ext uri="{FF2B5EF4-FFF2-40B4-BE49-F238E27FC236}">
                <a16:creationId xmlns:a16="http://schemas.microsoft.com/office/drawing/2014/main" id="{192F1B85-B3E1-5457-A6B2-2F08685FD387}"/>
              </a:ext>
            </a:extLst>
          </p:cNvPr>
          <p:cNvSpPr/>
          <p:nvPr/>
        </p:nvSpPr>
        <p:spPr>
          <a:xfrm>
            <a:off x="1450975" y="5791994"/>
            <a:ext cx="2666999" cy="457200"/>
          </a:xfrm>
          <a:prstGeom prst="accentBorderCallout3">
            <a:avLst>
              <a:gd name="adj1" fmla="val 27694"/>
              <a:gd name="adj2" fmla="val 103598"/>
              <a:gd name="adj3" fmla="val 27694"/>
              <a:gd name="adj4" fmla="val 109087"/>
              <a:gd name="adj5" fmla="val -40124"/>
              <a:gd name="adj6" fmla="val 109148"/>
              <a:gd name="adj7" fmla="val -39086"/>
              <a:gd name="adj8" fmla="val 158200"/>
            </a:avLst>
          </a:prstGeom>
          <a:ln w="19050"/>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dirty="0"/>
              <a:t>级联收回授予的权限</a:t>
            </a:r>
          </a:p>
        </p:txBody>
      </p:sp>
      <p:sp>
        <p:nvSpPr>
          <p:cNvPr id="3" name="标注: 双弯曲线形(带边框和强调线) 2">
            <a:extLst>
              <a:ext uri="{FF2B5EF4-FFF2-40B4-BE49-F238E27FC236}">
                <a16:creationId xmlns:a16="http://schemas.microsoft.com/office/drawing/2014/main" id="{70BDB4AD-D003-FDFC-9889-0920682CCCAA}"/>
              </a:ext>
            </a:extLst>
          </p:cNvPr>
          <p:cNvSpPr/>
          <p:nvPr/>
        </p:nvSpPr>
        <p:spPr>
          <a:xfrm>
            <a:off x="7394575" y="5791994"/>
            <a:ext cx="2666999" cy="457200"/>
          </a:xfrm>
          <a:prstGeom prst="accentBorderCallout3">
            <a:avLst>
              <a:gd name="adj1" fmla="val 29434"/>
              <a:gd name="adj2" fmla="val -3135"/>
              <a:gd name="adj3" fmla="val 29434"/>
              <a:gd name="adj4" fmla="val -7782"/>
              <a:gd name="adj5" fmla="val -38386"/>
              <a:gd name="adj6" fmla="val -8021"/>
              <a:gd name="adj7" fmla="val -42564"/>
              <a:gd name="adj8" fmla="val -57651"/>
            </a:avLst>
          </a:prstGeom>
          <a:ln w="19050"/>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dirty="0"/>
              <a:t>不能收回转授的权限</a:t>
            </a:r>
          </a:p>
        </p:txBody>
      </p:sp>
    </p:spTree>
    <p:extLst>
      <p:ext uri="{BB962C8B-B14F-4D97-AF65-F5344CB8AC3E}">
        <p14:creationId xmlns:p14="http://schemas.microsoft.com/office/powerpoint/2010/main" val="310009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childTnLst>
                          </p:cTn>
                        </p:par>
                        <p:par>
                          <p:cTn id="26" fill="hold">
                            <p:stCondLst>
                              <p:cond delay="1500"/>
                            </p:stCondLst>
                            <p:childTnLst>
                              <p:par>
                                <p:cTn id="27" presetID="10" presetClass="entr" presetSubtype="0" fill="hold" nodeType="after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500"/>
                                        <p:tgtEl>
                                          <p:spTgt spid="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right)">
                                      <p:cBhvr>
                                        <p:cTn id="34" dur="75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57E5C-F5D4-046B-1D57-3FBC97CB4D1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97969FF-760F-36CB-57B3-967BD7E58577}"/>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57CC29A-E9B8-6E32-6BAE-92D880AE41E9}"/>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自主存取控制方法：授权收回</a:t>
            </a:r>
          </a:p>
        </p:txBody>
      </p:sp>
      <p:sp>
        <p:nvSpPr>
          <p:cNvPr id="5" name="矩形 4">
            <a:extLst>
              <a:ext uri="{FF2B5EF4-FFF2-40B4-BE49-F238E27FC236}">
                <a16:creationId xmlns:a16="http://schemas.microsoft.com/office/drawing/2014/main" id="{73B59A28-F024-4479-056B-DE7E16DB7267}"/>
              </a:ext>
            </a:extLst>
          </p:cNvPr>
          <p:cNvSpPr/>
          <p:nvPr/>
        </p:nvSpPr>
        <p:spPr>
          <a:xfrm>
            <a:off x="508608" y="1829594"/>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例：把用户</a:t>
            </a:r>
            <a:r>
              <a:rPr lang="en-US" altLang="zh-CN" sz="2000" dirty="0">
                <a:solidFill>
                  <a:srgbClr val="FF0000"/>
                </a:solidFill>
              </a:rPr>
              <a:t>U4</a:t>
            </a:r>
            <a:r>
              <a:rPr lang="zh-CN" altLang="en-US" sz="2000" dirty="0">
                <a:solidFill>
                  <a:srgbClr val="FF0000"/>
                </a:solidFill>
              </a:rPr>
              <a:t>修改学生学号的权限收回</a:t>
            </a:r>
          </a:p>
          <a:p>
            <a:pPr marL="269875" indent="533400" algn="just">
              <a:lnSpc>
                <a:spcPct val="150000"/>
              </a:lnSpc>
            </a:pPr>
            <a:r>
              <a:rPr lang="en-US" altLang="zh-CN" sz="2000" dirty="0">
                <a:solidFill>
                  <a:schemeClr val="tx1"/>
                </a:solidFill>
              </a:rPr>
              <a:t>REVOKE UPDATE(Sno)</a:t>
            </a:r>
          </a:p>
          <a:p>
            <a:pPr marL="269875" indent="533400" algn="just">
              <a:lnSpc>
                <a:spcPct val="150000"/>
              </a:lnSpc>
            </a:pPr>
            <a:r>
              <a:rPr lang="en-US" altLang="zh-CN" sz="2000" dirty="0">
                <a:solidFill>
                  <a:schemeClr val="tx1"/>
                </a:solidFill>
              </a:rPr>
              <a:t>ON TABLE Student </a:t>
            </a:r>
          </a:p>
          <a:p>
            <a:pPr marL="269875" indent="533400" algn="just">
              <a:lnSpc>
                <a:spcPct val="150000"/>
              </a:lnSpc>
            </a:pPr>
            <a:r>
              <a:rPr lang="en-US" altLang="zh-CN" sz="2000" dirty="0">
                <a:solidFill>
                  <a:schemeClr val="tx1"/>
                </a:solidFill>
              </a:rPr>
              <a:t>FROM U4;</a:t>
            </a:r>
          </a:p>
        </p:txBody>
      </p:sp>
      <p:sp>
        <p:nvSpPr>
          <p:cNvPr id="6" name="矩形 5">
            <a:extLst>
              <a:ext uri="{FF2B5EF4-FFF2-40B4-BE49-F238E27FC236}">
                <a16:creationId xmlns:a16="http://schemas.microsoft.com/office/drawing/2014/main" id="{B2DD0F67-63A2-D7A5-6AB0-2C1B8B462FF5}"/>
              </a:ext>
            </a:extLst>
          </p:cNvPr>
          <p:cNvSpPr/>
          <p:nvPr/>
        </p:nvSpPr>
        <p:spPr>
          <a:xfrm>
            <a:off x="536575" y="3926762"/>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例：收回所有用户对表</a:t>
            </a:r>
            <a:r>
              <a:rPr lang="en-US" altLang="zh-CN" sz="2000" dirty="0">
                <a:solidFill>
                  <a:srgbClr val="FF0000"/>
                </a:solidFill>
              </a:rPr>
              <a:t>SC</a:t>
            </a:r>
            <a:r>
              <a:rPr lang="zh-CN" altLang="en-US" sz="2000" dirty="0">
                <a:solidFill>
                  <a:srgbClr val="FF0000"/>
                </a:solidFill>
              </a:rPr>
              <a:t>的查询权限</a:t>
            </a:r>
          </a:p>
          <a:p>
            <a:pPr marL="269875" indent="533400" algn="just">
              <a:lnSpc>
                <a:spcPct val="150000"/>
              </a:lnSpc>
            </a:pPr>
            <a:r>
              <a:rPr lang="en-US" altLang="zh-CN" sz="2000" dirty="0">
                <a:solidFill>
                  <a:schemeClr val="tx1"/>
                </a:solidFill>
              </a:rPr>
              <a:t>REVOKE SELECT </a:t>
            </a:r>
          </a:p>
          <a:p>
            <a:pPr marL="269875" indent="533400" algn="just">
              <a:lnSpc>
                <a:spcPct val="150000"/>
              </a:lnSpc>
            </a:pPr>
            <a:r>
              <a:rPr lang="en-US" altLang="zh-CN" sz="2000" dirty="0">
                <a:solidFill>
                  <a:schemeClr val="tx1"/>
                </a:solidFill>
              </a:rPr>
              <a:t>ON TABLE SC </a:t>
            </a:r>
          </a:p>
          <a:p>
            <a:pPr marL="269875" indent="533400" algn="just">
              <a:lnSpc>
                <a:spcPct val="150000"/>
              </a:lnSpc>
            </a:pPr>
            <a:r>
              <a:rPr lang="en-US" altLang="zh-CN" sz="2000" dirty="0">
                <a:solidFill>
                  <a:schemeClr val="tx1"/>
                </a:solidFill>
              </a:rPr>
              <a:t>FROM </a:t>
            </a:r>
            <a:r>
              <a:rPr lang="en-US" altLang="zh-CN" sz="2000" dirty="0">
                <a:solidFill>
                  <a:srgbClr val="FF0000"/>
                </a:solidFill>
              </a:rPr>
              <a:t>PUBLIC</a:t>
            </a:r>
            <a:r>
              <a:rPr lang="en-US" altLang="zh-CN" sz="2000" dirty="0">
                <a:solidFill>
                  <a:schemeClr val="tx1"/>
                </a:solidFill>
              </a:rPr>
              <a:t>;</a:t>
            </a:r>
          </a:p>
        </p:txBody>
      </p:sp>
    </p:spTree>
    <p:extLst>
      <p:ext uri="{BB962C8B-B14F-4D97-AF65-F5344CB8AC3E}">
        <p14:creationId xmlns:p14="http://schemas.microsoft.com/office/powerpoint/2010/main" val="171055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500"/>
                                        <p:tgtEl>
                                          <p:spTgt spid="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1" end="1"/>
                                            </p:txEl>
                                          </p:spTgt>
                                        </p:tgtEl>
                                        <p:attrNameLst>
                                          <p:attrName>style.visibility</p:attrName>
                                        </p:attrNameLst>
                                      </p:cBhvr>
                                      <p:to>
                                        <p:strVal val="visible"/>
                                      </p:to>
                                    </p:set>
                                    <p:animEffect transition="in" filter="fade">
                                      <p:cBhvr>
                                        <p:cTn id="28" dur="500"/>
                                        <p:tgtEl>
                                          <p:spTgt spid="6">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Effect transition="in" filter="fade">
                                      <p:cBhvr>
                                        <p:cTn id="31" dur="500"/>
                                        <p:tgtEl>
                                          <p:spTgt spid="6">
                                            <p:txEl>
                                              <p:pRg st="2" end="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fade">
                                      <p:cBhvr>
                                        <p:cTn id="34"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FF1F1-1A92-C75E-659B-903AC3FD3C3B}"/>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B19D9C10-9F49-2604-7A34-CE80DB8D439F}"/>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7AFAA4A1-F234-9E93-433E-3964D7A78BBD}"/>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自主存取控制方法：授权收回</a:t>
            </a:r>
          </a:p>
        </p:txBody>
      </p:sp>
      <p:sp>
        <p:nvSpPr>
          <p:cNvPr id="5" name="矩形 4">
            <a:extLst>
              <a:ext uri="{FF2B5EF4-FFF2-40B4-BE49-F238E27FC236}">
                <a16:creationId xmlns:a16="http://schemas.microsoft.com/office/drawing/2014/main" id="{47700C43-B625-BD4F-B9D7-55F5F72AA9CC}"/>
              </a:ext>
            </a:extLst>
          </p:cNvPr>
          <p:cNvSpPr/>
          <p:nvPr/>
        </p:nvSpPr>
        <p:spPr>
          <a:xfrm>
            <a:off x="508608" y="1829594"/>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例：把用户</a:t>
            </a:r>
            <a:r>
              <a:rPr lang="en-US" altLang="zh-CN" sz="2000" dirty="0">
                <a:solidFill>
                  <a:srgbClr val="FF0000"/>
                </a:solidFill>
              </a:rPr>
              <a:t>U5</a:t>
            </a:r>
            <a:r>
              <a:rPr lang="zh-CN" altLang="en-US" sz="2000" dirty="0">
                <a:solidFill>
                  <a:srgbClr val="FF0000"/>
                </a:solidFill>
              </a:rPr>
              <a:t>对</a:t>
            </a:r>
            <a:r>
              <a:rPr lang="en-US" altLang="zh-CN" sz="2000" dirty="0">
                <a:solidFill>
                  <a:srgbClr val="FF0000"/>
                </a:solidFill>
              </a:rPr>
              <a:t>SC</a:t>
            </a:r>
            <a:r>
              <a:rPr lang="zh-CN" altLang="en-US" sz="2000" dirty="0">
                <a:solidFill>
                  <a:srgbClr val="FF0000"/>
                </a:solidFill>
              </a:rPr>
              <a:t>表的</a:t>
            </a:r>
            <a:r>
              <a:rPr lang="en-US" altLang="zh-CN" sz="2000" dirty="0">
                <a:solidFill>
                  <a:srgbClr val="FF0000"/>
                </a:solidFill>
              </a:rPr>
              <a:t>INSERT</a:t>
            </a:r>
            <a:r>
              <a:rPr lang="zh-CN" altLang="en-US" sz="2000" dirty="0">
                <a:solidFill>
                  <a:srgbClr val="FF0000"/>
                </a:solidFill>
              </a:rPr>
              <a:t>权限收回</a:t>
            </a:r>
          </a:p>
          <a:p>
            <a:pPr marL="269875" indent="533400" algn="just">
              <a:lnSpc>
                <a:spcPct val="150000"/>
              </a:lnSpc>
            </a:pPr>
            <a:r>
              <a:rPr lang="en-US" altLang="zh-CN" sz="2000" dirty="0">
                <a:solidFill>
                  <a:schemeClr val="tx1"/>
                </a:solidFill>
              </a:rPr>
              <a:t>REVOKE INSERT </a:t>
            </a:r>
          </a:p>
          <a:p>
            <a:pPr marL="269875" indent="533400" algn="just">
              <a:lnSpc>
                <a:spcPct val="150000"/>
              </a:lnSpc>
            </a:pPr>
            <a:r>
              <a:rPr lang="en-US" altLang="zh-CN" sz="2000" dirty="0">
                <a:solidFill>
                  <a:schemeClr val="tx1"/>
                </a:solidFill>
              </a:rPr>
              <a:t>ON TABLE SC </a:t>
            </a:r>
          </a:p>
          <a:p>
            <a:pPr marL="269875" indent="533400" algn="just">
              <a:lnSpc>
                <a:spcPct val="150000"/>
              </a:lnSpc>
            </a:pPr>
            <a:r>
              <a:rPr lang="en-US" altLang="zh-CN" sz="2000" dirty="0">
                <a:solidFill>
                  <a:schemeClr val="tx1"/>
                </a:solidFill>
              </a:rPr>
              <a:t>FROM U5 CASCADE ;</a:t>
            </a:r>
          </a:p>
        </p:txBody>
      </p:sp>
      <p:sp>
        <p:nvSpPr>
          <p:cNvPr id="3" name="文本框 2">
            <a:extLst>
              <a:ext uri="{FF2B5EF4-FFF2-40B4-BE49-F238E27FC236}">
                <a16:creationId xmlns:a16="http://schemas.microsoft.com/office/drawing/2014/main" id="{AB143FF1-2D51-745C-F971-0F981F7DEAFF}"/>
              </a:ext>
            </a:extLst>
          </p:cNvPr>
          <p:cNvSpPr txBox="1"/>
          <p:nvPr/>
        </p:nvSpPr>
        <p:spPr>
          <a:xfrm>
            <a:off x="917575" y="3926762"/>
            <a:ext cx="10287000" cy="1422441"/>
          </a:xfrm>
          <a:prstGeom prst="rect">
            <a:avLst/>
          </a:prstGeom>
          <a:noFill/>
        </p:spPr>
        <p:txBody>
          <a:bodyPr wrap="square">
            <a:spAutoFit/>
          </a:bodyPr>
          <a:lstStyle/>
          <a:p>
            <a:pPr marL="342900" indent="-342900" algn="just">
              <a:lnSpc>
                <a:spcPct val="150000"/>
              </a:lnSpc>
              <a:buFont typeface="Wingdings" panose="05000000000000000000" pitchFamily="2" charset="2"/>
              <a:buChar char="l"/>
            </a:pPr>
            <a:r>
              <a:rPr lang="zh-CN" altLang="en-US" sz="2000" dirty="0"/>
              <a:t>将用户</a:t>
            </a:r>
            <a:r>
              <a:rPr lang="en-US" altLang="zh-CN" sz="2000" dirty="0"/>
              <a:t>U5</a:t>
            </a:r>
            <a:r>
              <a:rPr lang="zh-CN" altLang="en-US" sz="2000" dirty="0"/>
              <a:t>的</a:t>
            </a:r>
            <a:r>
              <a:rPr lang="en-US" altLang="zh-CN" sz="2000" dirty="0"/>
              <a:t>INSERT</a:t>
            </a:r>
            <a:r>
              <a:rPr lang="zh-CN" altLang="en-US" sz="2000" dirty="0"/>
              <a:t>权限收回，同时级联也收回了</a:t>
            </a:r>
            <a:r>
              <a:rPr lang="en-US" altLang="zh-CN" sz="2000" dirty="0"/>
              <a:t>U6</a:t>
            </a:r>
            <a:r>
              <a:rPr lang="zh-CN" altLang="en-US" sz="2000" dirty="0"/>
              <a:t>和</a:t>
            </a:r>
            <a:r>
              <a:rPr lang="en-US" altLang="zh-CN" sz="2000" dirty="0"/>
              <a:t>U7</a:t>
            </a:r>
            <a:r>
              <a:rPr lang="zh-CN" altLang="en-US" sz="2000" dirty="0"/>
              <a:t>的</a:t>
            </a:r>
            <a:r>
              <a:rPr lang="en-US" altLang="zh-CN" sz="2000" dirty="0"/>
              <a:t>INSERT</a:t>
            </a:r>
            <a:r>
              <a:rPr lang="zh-CN" altLang="en-US" sz="2000" dirty="0"/>
              <a:t>权限</a:t>
            </a:r>
          </a:p>
          <a:p>
            <a:pPr marL="342900" indent="-342900" algn="just">
              <a:lnSpc>
                <a:spcPct val="150000"/>
              </a:lnSpc>
              <a:buFont typeface="Wingdings" panose="05000000000000000000" pitchFamily="2" charset="2"/>
              <a:buChar char="l"/>
            </a:pPr>
            <a:r>
              <a:rPr lang="zh-CN" altLang="en-US" sz="2000" dirty="0"/>
              <a:t>如果</a:t>
            </a:r>
            <a:r>
              <a:rPr lang="en-US" altLang="zh-CN" sz="2000" dirty="0"/>
              <a:t>U6</a:t>
            </a:r>
            <a:r>
              <a:rPr lang="zh-CN" altLang="en-US" sz="2000" dirty="0"/>
              <a:t>或</a:t>
            </a:r>
            <a:r>
              <a:rPr lang="en-US" altLang="zh-CN" sz="2000" dirty="0"/>
              <a:t>U7</a:t>
            </a:r>
            <a:r>
              <a:rPr lang="zh-CN" altLang="en-US" sz="2000" dirty="0"/>
              <a:t>还从其他用户处获得对</a:t>
            </a:r>
            <a:r>
              <a:rPr lang="en-US" altLang="zh-CN" sz="2000" dirty="0"/>
              <a:t>SC</a:t>
            </a:r>
            <a:r>
              <a:rPr lang="zh-CN" altLang="en-US" sz="2000" dirty="0"/>
              <a:t>表的</a:t>
            </a:r>
            <a:r>
              <a:rPr lang="en-US" altLang="zh-CN" sz="2000" dirty="0"/>
              <a:t>INSERT</a:t>
            </a:r>
            <a:r>
              <a:rPr lang="zh-CN" altLang="en-US" sz="2000" dirty="0"/>
              <a:t>权限，则他们仍具有此权限，系统只收回直接或间接从</a:t>
            </a:r>
            <a:r>
              <a:rPr lang="en-US" altLang="zh-CN" sz="2000" dirty="0"/>
              <a:t>U5</a:t>
            </a:r>
            <a:r>
              <a:rPr lang="zh-CN" altLang="en-US" sz="2000" dirty="0"/>
              <a:t>处获得的权限 </a:t>
            </a:r>
          </a:p>
        </p:txBody>
      </p:sp>
    </p:spTree>
    <p:extLst>
      <p:ext uri="{BB962C8B-B14F-4D97-AF65-F5344CB8AC3E}">
        <p14:creationId xmlns:p14="http://schemas.microsoft.com/office/powerpoint/2010/main" val="58219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88EE9-684A-A16A-0D91-F3A42C52653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9A46F88D-0FD3-BB0E-8BAD-D699F2A8B489}"/>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8709EA82-4ACA-EB0D-66B9-60BC519F36DB}"/>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自主存取控制方法：授权收回</a:t>
            </a:r>
          </a:p>
        </p:txBody>
      </p:sp>
      <p:sp>
        <p:nvSpPr>
          <p:cNvPr id="5" name="矩形 4">
            <a:extLst>
              <a:ext uri="{FF2B5EF4-FFF2-40B4-BE49-F238E27FC236}">
                <a16:creationId xmlns:a16="http://schemas.microsoft.com/office/drawing/2014/main" id="{FDE924CE-9A53-7997-3DB7-4C5884E3B99F}"/>
              </a:ext>
            </a:extLst>
          </p:cNvPr>
          <p:cNvSpPr/>
          <p:nvPr/>
        </p:nvSpPr>
        <p:spPr>
          <a:xfrm>
            <a:off x="508608" y="1829594"/>
            <a:ext cx="11286490" cy="4800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en-US" altLang="zh-CN" sz="2000" dirty="0">
                <a:solidFill>
                  <a:srgbClr val="FF0000"/>
                </a:solidFill>
              </a:rPr>
              <a:t>SQL</a:t>
            </a:r>
            <a:r>
              <a:rPr lang="zh-CN" altLang="en-US" sz="2000" dirty="0">
                <a:solidFill>
                  <a:srgbClr val="FF0000"/>
                </a:solidFill>
              </a:rPr>
              <a:t>的授权机制</a:t>
            </a:r>
          </a:p>
          <a:p>
            <a:pPr marL="628650" indent="-358775" algn="just">
              <a:lnSpc>
                <a:spcPct val="150000"/>
              </a:lnSpc>
              <a:buFont typeface="Wingdings" panose="05000000000000000000" pitchFamily="2" charset="2"/>
              <a:buChar char="l"/>
            </a:pPr>
            <a:r>
              <a:rPr lang="zh-CN" altLang="en-US" sz="2000" dirty="0">
                <a:solidFill>
                  <a:schemeClr val="tx1"/>
                </a:solidFill>
              </a:rPr>
              <a:t>数据库管理员：</a:t>
            </a:r>
          </a:p>
          <a:p>
            <a:pPr marL="898525" indent="-269875" algn="just">
              <a:lnSpc>
                <a:spcPct val="150000"/>
              </a:lnSpc>
              <a:buFont typeface="Wingdings" panose="05000000000000000000" pitchFamily="2" charset="2"/>
              <a:buChar char="Ø"/>
            </a:pPr>
            <a:r>
              <a:rPr lang="zh-CN" altLang="en-US" sz="2000" dirty="0">
                <a:solidFill>
                  <a:schemeClr val="tx1"/>
                </a:solidFill>
              </a:rPr>
              <a:t>拥有所有对象的所有权限</a:t>
            </a:r>
          </a:p>
          <a:p>
            <a:pPr marL="898525" indent="-269875" algn="just">
              <a:lnSpc>
                <a:spcPct val="150000"/>
              </a:lnSpc>
              <a:buFont typeface="Wingdings" panose="05000000000000000000" pitchFamily="2" charset="2"/>
              <a:buChar char="Ø"/>
            </a:pPr>
            <a:r>
              <a:rPr lang="zh-CN" altLang="en-US" sz="2000" dirty="0">
                <a:solidFill>
                  <a:schemeClr val="tx1"/>
                </a:solidFill>
              </a:rPr>
              <a:t>根据实际情况不同的权限授予不同的用户</a:t>
            </a:r>
          </a:p>
          <a:p>
            <a:pPr marL="628650" indent="-358775" algn="just">
              <a:lnSpc>
                <a:spcPct val="150000"/>
              </a:lnSpc>
              <a:buFont typeface="Wingdings" panose="05000000000000000000" pitchFamily="2" charset="2"/>
              <a:buChar char="l"/>
            </a:pPr>
            <a:r>
              <a:rPr lang="zh-CN" altLang="en-US" sz="2000" dirty="0">
                <a:solidFill>
                  <a:schemeClr val="tx1"/>
                </a:solidFill>
              </a:rPr>
              <a:t>用户：</a:t>
            </a:r>
          </a:p>
          <a:p>
            <a:pPr marL="971550" indent="-342900" algn="just">
              <a:lnSpc>
                <a:spcPct val="150000"/>
              </a:lnSpc>
              <a:buFont typeface="Wingdings" panose="05000000000000000000" pitchFamily="2" charset="2"/>
              <a:buChar char="Ø"/>
            </a:pPr>
            <a:r>
              <a:rPr lang="zh-CN" altLang="en-US" sz="2000" dirty="0">
                <a:solidFill>
                  <a:schemeClr val="tx1"/>
                </a:solidFill>
              </a:rPr>
              <a:t>拥有自己建立的对象的全部的操作权限</a:t>
            </a:r>
          </a:p>
          <a:p>
            <a:pPr marL="971550" indent="-342900" algn="just">
              <a:lnSpc>
                <a:spcPct val="150000"/>
              </a:lnSpc>
              <a:buFont typeface="Wingdings" panose="05000000000000000000" pitchFamily="2" charset="2"/>
              <a:buChar char="Ø"/>
            </a:pPr>
            <a:r>
              <a:rPr lang="zh-CN" altLang="en-US" sz="2000" dirty="0">
                <a:solidFill>
                  <a:schemeClr val="tx1"/>
                </a:solidFill>
              </a:rPr>
              <a:t>可以使用</a:t>
            </a:r>
            <a:r>
              <a:rPr lang="en-US" altLang="zh-CN" sz="2000" dirty="0">
                <a:solidFill>
                  <a:schemeClr val="tx1"/>
                </a:solidFill>
              </a:rPr>
              <a:t>GRANT</a:t>
            </a:r>
            <a:r>
              <a:rPr lang="zh-CN" altLang="en-US" sz="2000" dirty="0">
                <a:solidFill>
                  <a:schemeClr val="tx1"/>
                </a:solidFill>
              </a:rPr>
              <a:t>，把权限授予其他用户</a:t>
            </a:r>
          </a:p>
          <a:p>
            <a:pPr marL="628650" indent="-358775" algn="just">
              <a:lnSpc>
                <a:spcPct val="150000"/>
              </a:lnSpc>
              <a:buFont typeface="Wingdings" panose="05000000000000000000" pitchFamily="2" charset="2"/>
              <a:buChar char="l"/>
            </a:pPr>
            <a:r>
              <a:rPr lang="zh-CN" altLang="en-US" sz="2000" dirty="0">
                <a:solidFill>
                  <a:schemeClr val="tx1"/>
                </a:solidFill>
              </a:rPr>
              <a:t>被授权的用户</a:t>
            </a:r>
          </a:p>
          <a:p>
            <a:pPr marL="971550" indent="-342900" algn="just">
              <a:lnSpc>
                <a:spcPct val="150000"/>
              </a:lnSpc>
              <a:buFont typeface="Wingdings" panose="05000000000000000000" pitchFamily="2" charset="2"/>
              <a:buChar char="Ø"/>
            </a:pPr>
            <a:r>
              <a:rPr lang="zh-CN" altLang="en-US" sz="2000" dirty="0">
                <a:solidFill>
                  <a:schemeClr val="tx1"/>
                </a:solidFill>
              </a:rPr>
              <a:t>如果具有</a:t>
            </a:r>
            <a:r>
              <a:rPr lang="en-US" altLang="zh-CN" sz="2000" dirty="0">
                <a:solidFill>
                  <a:schemeClr val="tx1"/>
                </a:solidFill>
              </a:rPr>
              <a:t>WITH GRANT OPTION</a:t>
            </a:r>
            <a:r>
              <a:rPr lang="zh-CN" altLang="en-US" sz="2000" dirty="0">
                <a:solidFill>
                  <a:schemeClr val="tx1"/>
                </a:solidFill>
              </a:rPr>
              <a:t>的许可，可以把获得的权限再授予其他用户</a:t>
            </a:r>
          </a:p>
          <a:p>
            <a:pPr marL="971550" indent="-342900" algn="just">
              <a:lnSpc>
                <a:spcPct val="150000"/>
              </a:lnSpc>
              <a:buFont typeface="Wingdings" panose="05000000000000000000" pitchFamily="2" charset="2"/>
              <a:buChar char="Ø"/>
            </a:pPr>
            <a:r>
              <a:rPr lang="zh-CN" altLang="en-US" sz="2000" dirty="0">
                <a:solidFill>
                  <a:schemeClr val="tx1"/>
                </a:solidFill>
              </a:rPr>
              <a:t>所有授予出去的权力在必要时又都可用</a:t>
            </a:r>
            <a:r>
              <a:rPr lang="en-US" altLang="zh-CN" sz="2000" dirty="0">
                <a:solidFill>
                  <a:schemeClr val="tx1"/>
                </a:solidFill>
              </a:rPr>
              <a:t>REVOKE</a:t>
            </a:r>
            <a:r>
              <a:rPr lang="zh-CN" altLang="en-US" sz="2000" dirty="0">
                <a:solidFill>
                  <a:schemeClr val="tx1"/>
                </a:solidFill>
              </a:rPr>
              <a:t>语句收回</a:t>
            </a:r>
          </a:p>
          <a:p>
            <a:pPr marL="269875" indent="533400" algn="just">
              <a:lnSpc>
                <a:spcPct val="150000"/>
              </a:lnSpc>
            </a:pPr>
            <a:endParaRPr lang="en-US" altLang="zh-CN" sz="2000" dirty="0">
              <a:solidFill>
                <a:schemeClr val="tx1"/>
              </a:solidFill>
            </a:endParaRPr>
          </a:p>
        </p:txBody>
      </p:sp>
    </p:spTree>
    <p:extLst>
      <p:ext uri="{BB962C8B-B14F-4D97-AF65-F5344CB8AC3E}">
        <p14:creationId xmlns:p14="http://schemas.microsoft.com/office/powerpoint/2010/main" val="363549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
                                        <p:tgtEl>
                                          <p:spTgt spid="5">
                                            <p:txEl>
                                              <p:pRg st="4" end="4"/>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5">
                                            <p:txEl>
                                              <p:pRg st="7" end="7"/>
                                            </p:txEl>
                                          </p:spTgt>
                                        </p:tgtEl>
                                        <p:attrNameLst>
                                          <p:attrName>style.visibility</p:attrName>
                                        </p:attrNameLst>
                                      </p:cBhvr>
                                      <p:to>
                                        <p:strVal val="visible"/>
                                      </p:to>
                                    </p:set>
                                    <p:animEffect transition="in" filter="fade">
                                      <p:cBhvr>
                                        <p:cTn id="20" dur="500"/>
                                        <p:tgtEl>
                                          <p:spTgt spid="5">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fade">
                                      <p:cBhvr>
                                        <p:cTn id="25" dur="500"/>
                                        <p:tgtEl>
                                          <p:spTgt spid="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fade">
                                      <p:cBhvr>
                                        <p:cTn id="30" dur="500"/>
                                        <p:tgtEl>
                                          <p:spTgt spid="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fade">
                                      <p:cBhvr>
                                        <p:cTn id="35" dur="500"/>
                                        <p:tgtEl>
                                          <p:spTgt spid="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Effect transition="in" filter="fade">
                                      <p:cBhvr>
                                        <p:cTn id="40" dur="500"/>
                                        <p:tgtEl>
                                          <p:spTgt spid="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8" end="8"/>
                                            </p:txEl>
                                          </p:spTgt>
                                        </p:tgtEl>
                                        <p:attrNameLst>
                                          <p:attrName>style.visibility</p:attrName>
                                        </p:attrNameLst>
                                      </p:cBhvr>
                                      <p:to>
                                        <p:strVal val="visible"/>
                                      </p:to>
                                    </p:set>
                                    <p:animEffect transition="in" filter="fade">
                                      <p:cBhvr>
                                        <p:cTn id="45" dur="500"/>
                                        <p:tgtEl>
                                          <p:spTgt spid="5">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9" end="9"/>
                                            </p:txEl>
                                          </p:spTgt>
                                        </p:tgtEl>
                                        <p:attrNameLst>
                                          <p:attrName>style.visibility</p:attrName>
                                        </p:attrNameLst>
                                      </p:cBhvr>
                                      <p:to>
                                        <p:strVal val="visible"/>
                                      </p:to>
                                    </p:set>
                                    <p:animEffect transition="in" filter="fade">
                                      <p:cBhvr>
                                        <p:cTn id="50"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01984-0B92-5052-5344-C2E7548DA97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5F937A6-704B-8218-558A-98BB0AA2989C}"/>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9364E065-4769-169E-5703-2DFCDFEAC727}"/>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创建数据库模式的权限</a:t>
            </a:r>
          </a:p>
        </p:txBody>
      </p:sp>
      <p:sp>
        <p:nvSpPr>
          <p:cNvPr id="5" name="矩形 4">
            <a:extLst>
              <a:ext uri="{FF2B5EF4-FFF2-40B4-BE49-F238E27FC236}">
                <a16:creationId xmlns:a16="http://schemas.microsoft.com/office/drawing/2014/main" id="{61CA40C0-94AD-B108-CFC8-82BE8CF0949E}"/>
              </a:ext>
            </a:extLst>
          </p:cNvPr>
          <p:cNvSpPr/>
          <p:nvPr/>
        </p:nvSpPr>
        <p:spPr>
          <a:xfrm>
            <a:off x="508608" y="1829594"/>
            <a:ext cx="11286490" cy="2514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indent="-358775" algn="just">
              <a:lnSpc>
                <a:spcPct val="150000"/>
              </a:lnSpc>
              <a:buFont typeface="Wingdings" panose="05000000000000000000" pitchFamily="2" charset="2"/>
              <a:buChar char="l"/>
            </a:pPr>
            <a:r>
              <a:rPr lang="zh-CN" altLang="en-US" sz="2000" dirty="0">
                <a:solidFill>
                  <a:schemeClr val="tx1"/>
                </a:solidFill>
              </a:rPr>
              <a:t>创建数据库也需要进行安全控制，也需要授权。</a:t>
            </a:r>
            <a:endParaRPr lang="en-US" altLang="zh-CN" sz="2000" dirty="0">
              <a:solidFill>
                <a:schemeClr val="tx1"/>
              </a:solidFill>
            </a:endParaRPr>
          </a:p>
          <a:p>
            <a:pPr marL="628650" indent="-358775" algn="just">
              <a:lnSpc>
                <a:spcPct val="150000"/>
              </a:lnSpc>
              <a:buFont typeface="Wingdings" panose="05000000000000000000" pitchFamily="2" charset="2"/>
              <a:buChar char="l"/>
            </a:pPr>
            <a:r>
              <a:rPr lang="en-US" altLang="zh-CN" sz="2000" dirty="0">
                <a:solidFill>
                  <a:srgbClr val="FF0000"/>
                </a:solidFill>
              </a:rPr>
              <a:t>CREATE USER</a:t>
            </a:r>
            <a:r>
              <a:rPr lang="zh-CN" altLang="en-US" sz="2000" dirty="0">
                <a:solidFill>
                  <a:schemeClr val="tx1"/>
                </a:solidFill>
              </a:rPr>
              <a:t>语句建立超级用户，再由超级用户创建具有</a:t>
            </a:r>
            <a:r>
              <a:rPr lang="en-US" altLang="zh-CN" sz="2000" dirty="0">
                <a:solidFill>
                  <a:schemeClr val="tx1"/>
                </a:solidFill>
              </a:rPr>
              <a:t>CREATE</a:t>
            </a:r>
            <a:r>
              <a:rPr lang="zh-CN" altLang="en-US" sz="2000" dirty="0">
                <a:solidFill>
                  <a:schemeClr val="tx1"/>
                </a:solidFill>
              </a:rPr>
              <a:t>数据库的用户</a:t>
            </a:r>
          </a:p>
          <a:p>
            <a:pPr marL="628650" indent="-358775" algn="just">
              <a:lnSpc>
                <a:spcPct val="150000"/>
              </a:lnSpc>
              <a:buFont typeface="Wingdings" panose="05000000000000000000" pitchFamily="2" charset="2"/>
              <a:buChar char="l"/>
            </a:pPr>
            <a:r>
              <a:rPr lang="en-US" altLang="zh-CN" sz="2000" dirty="0">
                <a:solidFill>
                  <a:schemeClr val="tx1"/>
                </a:solidFill>
              </a:rPr>
              <a:t>CREATE USER</a:t>
            </a:r>
            <a:r>
              <a:rPr lang="zh-CN" altLang="en-US" sz="2000" dirty="0">
                <a:solidFill>
                  <a:schemeClr val="tx1"/>
                </a:solidFill>
              </a:rPr>
              <a:t>语句格式</a:t>
            </a:r>
          </a:p>
          <a:p>
            <a:pPr marL="269875" indent="358775" algn="just">
              <a:lnSpc>
                <a:spcPct val="150000"/>
              </a:lnSpc>
            </a:pPr>
            <a:r>
              <a:rPr lang="en-US" altLang="zh-CN" sz="2000" dirty="0">
                <a:solidFill>
                  <a:schemeClr val="tx1"/>
                </a:solidFill>
              </a:rPr>
              <a:t>CREATE  USER  &lt;username&gt;[WITH]         </a:t>
            </a:r>
          </a:p>
          <a:p>
            <a:pPr marL="269875" indent="358775" algn="just">
              <a:lnSpc>
                <a:spcPct val="150000"/>
              </a:lnSpc>
            </a:pPr>
            <a:r>
              <a:rPr lang="en-US" altLang="zh-CN" sz="2000" dirty="0">
                <a:solidFill>
                  <a:schemeClr val="tx1"/>
                </a:solidFill>
              </a:rPr>
              <a:t>[</a:t>
            </a:r>
            <a:r>
              <a:rPr lang="en-US" altLang="zh-CN" sz="2000" dirty="0">
                <a:solidFill>
                  <a:srgbClr val="FF0000"/>
                </a:solidFill>
              </a:rPr>
              <a:t>SUPERUSER</a:t>
            </a:r>
            <a:r>
              <a:rPr lang="en-US" altLang="zh-CN" sz="2000" dirty="0">
                <a:solidFill>
                  <a:schemeClr val="tx1"/>
                </a:solidFill>
              </a:rPr>
              <a:t>|</a:t>
            </a:r>
            <a:r>
              <a:rPr lang="en-US" altLang="zh-CN" sz="2000" dirty="0">
                <a:solidFill>
                  <a:srgbClr val="FF0000"/>
                </a:solidFill>
              </a:rPr>
              <a:t>CREATEDB</a:t>
            </a:r>
            <a:r>
              <a:rPr lang="en-US" altLang="zh-CN" sz="2000" dirty="0">
                <a:solidFill>
                  <a:schemeClr val="tx1"/>
                </a:solidFill>
              </a:rPr>
              <a:t> ] | PASSWORD 'password';</a:t>
            </a:r>
          </a:p>
        </p:txBody>
      </p:sp>
      <p:sp>
        <p:nvSpPr>
          <p:cNvPr id="6" name="对话气泡: 圆角矩形 5">
            <a:extLst>
              <a:ext uri="{FF2B5EF4-FFF2-40B4-BE49-F238E27FC236}">
                <a16:creationId xmlns:a16="http://schemas.microsoft.com/office/drawing/2014/main" id="{D0D9576F-FF7B-5CD8-653D-EC02E86590D0}"/>
              </a:ext>
            </a:extLst>
          </p:cNvPr>
          <p:cNvSpPr/>
          <p:nvPr/>
        </p:nvSpPr>
        <p:spPr>
          <a:xfrm>
            <a:off x="612775" y="4358879"/>
            <a:ext cx="3276600" cy="457200"/>
          </a:xfrm>
          <a:prstGeom prst="wedgeRoundRectCallout">
            <a:avLst>
              <a:gd name="adj1" fmla="val -3730"/>
              <a:gd name="adj2" fmla="val -87065"/>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2000" dirty="0"/>
              <a:t>超级用户，可执行任何操作</a:t>
            </a:r>
          </a:p>
        </p:txBody>
      </p:sp>
      <p:sp>
        <p:nvSpPr>
          <p:cNvPr id="7" name="对话气泡: 圆角矩形 6">
            <a:extLst>
              <a:ext uri="{FF2B5EF4-FFF2-40B4-BE49-F238E27FC236}">
                <a16:creationId xmlns:a16="http://schemas.microsoft.com/office/drawing/2014/main" id="{D26D07BB-A853-B6D2-332B-10EA5C49E841}"/>
              </a:ext>
            </a:extLst>
          </p:cNvPr>
          <p:cNvSpPr/>
          <p:nvPr/>
        </p:nvSpPr>
        <p:spPr>
          <a:xfrm>
            <a:off x="4180370" y="4344194"/>
            <a:ext cx="7010400" cy="943770"/>
          </a:xfrm>
          <a:prstGeom prst="wedgeRoundRectCallout">
            <a:avLst>
              <a:gd name="adj1" fmla="val -49241"/>
              <a:gd name="adj2" fmla="val -72137"/>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lnSpc>
                <a:spcPct val="150000"/>
              </a:lnSpc>
            </a:pPr>
            <a:r>
              <a:rPr lang="zh-CN" altLang="en-US" sz="2000" dirty="0"/>
              <a:t>数据库属主</a:t>
            </a:r>
            <a:r>
              <a:rPr lang="en-US" altLang="zh-CN" sz="2000" dirty="0"/>
              <a:t>Owner</a:t>
            </a:r>
            <a:r>
              <a:rPr lang="zh-CN" altLang="en-US" sz="2000" dirty="0"/>
              <a:t>，具有在数据库上创建模式</a:t>
            </a:r>
            <a:r>
              <a:rPr lang="en-US" altLang="zh-CN" sz="2000" dirty="0"/>
              <a:t>schema</a:t>
            </a:r>
            <a:r>
              <a:rPr lang="zh-CN" altLang="en-US" sz="2000" dirty="0"/>
              <a:t>的权限，并可以把这些权限授予其他用户</a:t>
            </a:r>
          </a:p>
        </p:txBody>
      </p:sp>
      <p:sp>
        <p:nvSpPr>
          <p:cNvPr id="10" name="矩形 9">
            <a:extLst>
              <a:ext uri="{FF2B5EF4-FFF2-40B4-BE49-F238E27FC236}">
                <a16:creationId xmlns:a16="http://schemas.microsoft.com/office/drawing/2014/main" id="{E38E68FD-A081-EC46-5345-FA8D55E1A5A2}"/>
              </a:ext>
            </a:extLst>
          </p:cNvPr>
          <p:cNvSpPr/>
          <p:nvPr/>
        </p:nvSpPr>
        <p:spPr>
          <a:xfrm>
            <a:off x="536575" y="5487194"/>
            <a:ext cx="11286490" cy="94377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28650" indent="-358775" algn="just">
              <a:lnSpc>
                <a:spcPct val="150000"/>
              </a:lnSpc>
              <a:buFont typeface="Wingdings" panose="05000000000000000000" pitchFamily="2" charset="2"/>
              <a:buChar char="l"/>
            </a:pPr>
            <a:r>
              <a:rPr lang="zh-CN" altLang="en-US" sz="2000" dirty="0">
                <a:solidFill>
                  <a:schemeClr val="tx1"/>
                </a:solidFill>
              </a:rPr>
              <a:t>第一个超级用户是系统初始化时指定的。</a:t>
            </a:r>
          </a:p>
          <a:p>
            <a:pPr marL="628650" indent="-358775" algn="just">
              <a:lnSpc>
                <a:spcPct val="150000"/>
              </a:lnSpc>
              <a:buFont typeface="Wingdings" panose="05000000000000000000" pitchFamily="2" charset="2"/>
              <a:buChar char="l"/>
            </a:pPr>
            <a:r>
              <a:rPr lang="zh-CN" altLang="en-US" sz="2000" dirty="0">
                <a:solidFill>
                  <a:schemeClr val="tx1"/>
                </a:solidFill>
              </a:rPr>
              <a:t>在安装系统时可以指定一个名称为</a:t>
            </a:r>
            <a:r>
              <a:rPr lang="en-US" altLang="zh-CN" sz="2000" dirty="0">
                <a:solidFill>
                  <a:schemeClr val="tx1"/>
                </a:solidFill>
              </a:rPr>
              <a:t>system</a:t>
            </a:r>
            <a:r>
              <a:rPr lang="zh-CN" altLang="en-US" sz="2000" dirty="0">
                <a:solidFill>
                  <a:schemeClr val="tx1"/>
                </a:solidFill>
              </a:rPr>
              <a:t>的超级用户 </a:t>
            </a:r>
          </a:p>
        </p:txBody>
      </p:sp>
    </p:spTree>
    <p:extLst>
      <p:ext uri="{BB962C8B-B14F-4D97-AF65-F5344CB8AC3E}">
        <p14:creationId xmlns:p14="http://schemas.microsoft.com/office/powerpoint/2010/main" val="363485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fade">
                                      <p:cBhvr>
                                        <p:cTn id="38" dur="500"/>
                                        <p:tgtEl>
                                          <p:spTgt spid="1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animEffect transition="in" filter="fade">
                                      <p:cBhvr>
                                        <p:cTn id="43"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544E2-1F19-A5BB-8041-176C6D9905D9}"/>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9387D52-28CE-CCD2-2D5B-F9571108BFE7}"/>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24E59FF8-21FA-F485-66FF-DA7FE4C69381}"/>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创建数据库模式的权限</a:t>
            </a:r>
          </a:p>
        </p:txBody>
      </p:sp>
      <p:sp>
        <p:nvSpPr>
          <p:cNvPr id="5" name="矩形 4">
            <a:extLst>
              <a:ext uri="{FF2B5EF4-FFF2-40B4-BE49-F238E27FC236}">
                <a16:creationId xmlns:a16="http://schemas.microsoft.com/office/drawing/2014/main" id="{9071CEDB-2F18-1401-3F85-60445A529265}"/>
              </a:ext>
            </a:extLst>
          </p:cNvPr>
          <p:cNvSpPr/>
          <p:nvPr/>
        </p:nvSpPr>
        <p:spPr>
          <a:xfrm>
            <a:off x="508608" y="1829594"/>
            <a:ext cx="11286490" cy="24384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例：创建超级用户</a:t>
            </a:r>
            <a:r>
              <a:rPr lang="en-US" altLang="zh-CN" sz="2000" dirty="0">
                <a:solidFill>
                  <a:srgbClr val="FF0000"/>
                </a:solidFill>
              </a:rPr>
              <a:t>system2</a:t>
            </a:r>
            <a:endParaRPr lang="zh-CN" altLang="en-US" sz="2000" dirty="0">
              <a:solidFill>
                <a:srgbClr val="FF0000"/>
              </a:solidFill>
            </a:endParaRPr>
          </a:p>
          <a:p>
            <a:pPr marL="1168400" indent="-365125" algn="just">
              <a:lnSpc>
                <a:spcPct val="150000"/>
              </a:lnSpc>
              <a:buFont typeface="Wingdings" panose="05000000000000000000" pitchFamily="2" charset="2"/>
              <a:buChar char="l"/>
            </a:pPr>
            <a:r>
              <a:rPr lang="zh-CN" altLang="en-US" sz="2000" dirty="0">
                <a:solidFill>
                  <a:schemeClr val="tx1"/>
                </a:solidFill>
              </a:rPr>
              <a:t>首先以超级用户</a:t>
            </a:r>
            <a:r>
              <a:rPr lang="en-US" altLang="zh-CN" sz="2000" dirty="0">
                <a:solidFill>
                  <a:schemeClr val="tx1"/>
                </a:solidFill>
              </a:rPr>
              <a:t>system</a:t>
            </a:r>
            <a:r>
              <a:rPr lang="zh-CN" altLang="en-US" sz="2000" dirty="0">
                <a:solidFill>
                  <a:schemeClr val="tx1"/>
                </a:solidFill>
              </a:rPr>
              <a:t>登录，然后创建</a:t>
            </a:r>
            <a:r>
              <a:rPr lang="en-US" altLang="zh-CN" sz="2000" dirty="0">
                <a:solidFill>
                  <a:schemeClr val="tx1"/>
                </a:solidFill>
              </a:rPr>
              <a:t>system2</a:t>
            </a:r>
          </a:p>
          <a:p>
            <a:pPr marL="269875" indent="803275" algn="just">
              <a:lnSpc>
                <a:spcPct val="150000"/>
              </a:lnSpc>
            </a:pPr>
            <a:r>
              <a:rPr lang="en-US" altLang="zh-CN" sz="2000" dirty="0">
                <a:solidFill>
                  <a:schemeClr val="tx1"/>
                </a:solidFill>
              </a:rPr>
              <a:t>  CREATE USER system2</a:t>
            </a:r>
          </a:p>
          <a:p>
            <a:pPr marL="269875" indent="803275" algn="just">
              <a:lnSpc>
                <a:spcPct val="150000"/>
              </a:lnSpc>
            </a:pPr>
            <a:r>
              <a:rPr lang="en-US" altLang="zh-CN" sz="2000" dirty="0">
                <a:solidFill>
                  <a:schemeClr val="tx1"/>
                </a:solidFill>
              </a:rPr>
              <a:t>  WITH SUPERUSER </a:t>
            </a:r>
          </a:p>
          <a:p>
            <a:pPr marL="269875" indent="803275" algn="just">
              <a:lnSpc>
                <a:spcPct val="150000"/>
              </a:lnSpc>
            </a:pPr>
            <a:r>
              <a:rPr lang="en-US" altLang="zh-CN" sz="2000" dirty="0">
                <a:solidFill>
                  <a:schemeClr val="tx1"/>
                </a:solidFill>
              </a:rPr>
              <a:t>  PASSWORD '123456’; </a:t>
            </a:r>
          </a:p>
        </p:txBody>
      </p:sp>
    </p:spTree>
    <p:extLst>
      <p:ext uri="{BB962C8B-B14F-4D97-AF65-F5344CB8AC3E}">
        <p14:creationId xmlns:p14="http://schemas.microsoft.com/office/powerpoint/2010/main" val="399181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F53D4-FF61-5F7B-5A61-363EAA48AC02}"/>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8A34A2A5-4FA9-A5C5-3D65-DEBC922DCE5C}"/>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2401DD9A-FB6D-279B-DDE6-1A37635D67E9}"/>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创建数据库模式的权限</a:t>
            </a:r>
          </a:p>
        </p:txBody>
      </p:sp>
      <p:sp>
        <p:nvSpPr>
          <p:cNvPr id="5" name="矩形 4">
            <a:extLst>
              <a:ext uri="{FF2B5EF4-FFF2-40B4-BE49-F238E27FC236}">
                <a16:creationId xmlns:a16="http://schemas.microsoft.com/office/drawing/2014/main" id="{75BC076D-D35D-3411-D814-033BA8F81E9D}"/>
              </a:ext>
            </a:extLst>
          </p:cNvPr>
          <p:cNvSpPr/>
          <p:nvPr/>
        </p:nvSpPr>
        <p:spPr>
          <a:xfrm>
            <a:off x="508608" y="1829594"/>
            <a:ext cx="11286490" cy="384976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例：创建具有</a:t>
            </a:r>
            <a:r>
              <a:rPr lang="en-US" altLang="zh-CN" sz="2000" dirty="0">
                <a:solidFill>
                  <a:srgbClr val="FF0000"/>
                </a:solidFill>
              </a:rPr>
              <a:t>CREATEDB</a:t>
            </a:r>
            <a:r>
              <a:rPr lang="zh-CN" altLang="en-US" sz="2000" dirty="0">
                <a:solidFill>
                  <a:srgbClr val="FF0000"/>
                </a:solidFill>
              </a:rPr>
              <a:t>的用户</a:t>
            </a:r>
            <a:r>
              <a:rPr lang="en-US" altLang="zh-CN" sz="2000" dirty="0">
                <a:solidFill>
                  <a:srgbClr val="FF0000"/>
                </a:solidFill>
              </a:rPr>
              <a:t>U1</a:t>
            </a:r>
            <a:r>
              <a:rPr lang="zh-CN" altLang="en-US" sz="2000" dirty="0">
                <a:solidFill>
                  <a:srgbClr val="FF0000"/>
                </a:solidFill>
              </a:rPr>
              <a:t>和普通用户</a:t>
            </a:r>
            <a:r>
              <a:rPr lang="en-US" altLang="zh-CN" sz="2000" dirty="0">
                <a:solidFill>
                  <a:srgbClr val="FF0000"/>
                </a:solidFill>
              </a:rPr>
              <a:t>U2</a:t>
            </a:r>
            <a:endParaRPr lang="zh-CN" altLang="en-US" sz="2000" dirty="0">
              <a:solidFill>
                <a:srgbClr val="FF0000"/>
              </a:solidFill>
            </a:endParaRPr>
          </a:p>
          <a:p>
            <a:pPr marL="1168400" indent="-365125" algn="just">
              <a:lnSpc>
                <a:spcPct val="150000"/>
              </a:lnSpc>
              <a:buFont typeface="Wingdings" panose="05000000000000000000" pitchFamily="2" charset="2"/>
              <a:buChar char="l"/>
            </a:pPr>
            <a:r>
              <a:rPr lang="zh-CN" altLang="en-US" sz="2000" dirty="0">
                <a:solidFill>
                  <a:schemeClr val="tx1"/>
                </a:solidFill>
              </a:rPr>
              <a:t>以超级用户</a:t>
            </a:r>
            <a:r>
              <a:rPr lang="en-US" altLang="zh-CN" sz="2000" dirty="0">
                <a:solidFill>
                  <a:schemeClr val="tx1"/>
                </a:solidFill>
              </a:rPr>
              <a:t>system</a:t>
            </a:r>
            <a:r>
              <a:rPr lang="zh-CN" altLang="en-US" sz="2000" dirty="0">
                <a:solidFill>
                  <a:schemeClr val="tx1"/>
                </a:solidFill>
              </a:rPr>
              <a:t>登录，创建用户</a:t>
            </a:r>
            <a:r>
              <a:rPr lang="en-US" altLang="zh-CN" sz="2000" dirty="0">
                <a:solidFill>
                  <a:schemeClr val="tx1"/>
                </a:solidFill>
              </a:rPr>
              <a:t>U1</a:t>
            </a:r>
            <a:r>
              <a:rPr lang="zh-CN" altLang="en-US" sz="2000" dirty="0">
                <a:solidFill>
                  <a:schemeClr val="tx1"/>
                </a:solidFill>
              </a:rPr>
              <a:t>，</a:t>
            </a:r>
            <a:r>
              <a:rPr lang="en-US" altLang="zh-CN" sz="2000" dirty="0">
                <a:solidFill>
                  <a:schemeClr val="tx1"/>
                </a:solidFill>
              </a:rPr>
              <a:t>U2</a:t>
            </a:r>
          </a:p>
          <a:p>
            <a:pPr marL="269875" indent="898525" algn="just">
              <a:lnSpc>
                <a:spcPct val="150000"/>
              </a:lnSpc>
            </a:pPr>
            <a:r>
              <a:rPr lang="en-US" altLang="zh-CN" sz="2000" dirty="0">
                <a:solidFill>
                  <a:schemeClr val="tx1"/>
                </a:solidFill>
              </a:rPr>
              <a:t>CREATE USER U1 </a:t>
            </a:r>
          </a:p>
          <a:p>
            <a:pPr marL="269875" indent="898525" algn="just">
              <a:lnSpc>
                <a:spcPct val="150000"/>
              </a:lnSpc>
            </a:pPr>
            <a:r>
              <a:rPr lang="en-US" altLang="zh-CN" sz="2000" dirty="0">
                <a:solidFill>
                  <a:schemeClr val="tx1"/>
                </a:solidFill>
              </a:rPr>
              <a:t>WITH CREATEDB</a:t>
            </a:r>
          </a:p>
          <a:p>
            <a:pPr marL="269875" indent="898525" algn="just">
              <a:lnSpc>
                <a:spcPct val="150000"/>
              </a:lnSpc>
            </a:pPr>
            <a:r>
              <a:rPr lang="en-US" altLang="zh-CN" sz="2000" dirty="0">
                <a:solidFill>
                  <a:schemeClr val="tx1"/>
                </a:solidFill>
              </a:rPr>
              <a:t>PASSWORD ‘123456’;     /* U1</a:t>
            </a:r>
            <a:r>
              <a:rPr lang="zh-CN" altLang="en-US" sz="2000" dirty="0">
                <a:solidFill>
                  <a:schemeClr val="tx1"/>
                </a:solidFill>
              </a:rPr>
              <a:t>具有创建数据库的权限 *</a:t>
            </a:r>
            <a:r>
              <a:rPr lang="en-US" altLang="zh-CN" sz="2000" dirty="0">
                <a:solidFill>
                  <a:schemeClr val="tx1"/>
                </a:solidFill>
              </a:rPr>
              <a:t>/  </a:t>
            </a:r>
          </a:p>
          <a:p>
            <a:pPr marL="269875" indent="898525" algn="just">
              <a:lnSpc>
                <a:spcPct val="150000"/>
              </a:lnSpc>
            </a:pPr>
            <a:endParaRPr lang="en-US" altLang="zh-CN" sz="2000" dirty="0">
              <a:solidFill>
                <a:schemeClr val="tx1"/>
              </a:solidFill>
            </a:endParaRPr>
          </a:p>
          <a:p>
            <a:pPr marL="269875" indent="898525" algn="just">
              <a:lnSpc>
                <a:spcPct val="150000"/>
              </a:lnSpc>
            </a:pPr>
            <a:r>
              <a:rPr lang="en-US" altLang="zh-CN" sz="2000" dirty="0">
                <a:solidFill>
                  <a:schemeClr val="tx1"/>
                </a:solidFill>
              </a:rPr>
              <a:t>CREATE USER U2</a:t>
            </a:r>
          </a:p>
          <a:p>
            <a:pPr marL="269875" indent="898525" algn="just">
              <a:lnSpc>
                <a:spcPct val="150000"/>
              </a:lnSpc>
            </a:pPr>
            <a:r>
              <a:rPr lang="en-US" altLang="zh-CN" sz="2000" dirty="0">
                <a:solidFill>
                  <a:schemeClr val="tx1"/>
                </a:solidFill>
              </a:rPr>
              <a:t>PASSWORD ‘123456‘;          /* U2</a:t>
            </a:r>
            <a:r>
              <a:rPr lang="zh-CN" altLang="en-US" sz="2000" dirty="0">
                <a:solidFill>
                  <a:schemeClr val="tx1"/>
                </a:solidFill>
              </a:rPr>
              <a:t>是普通用户 *</a:t>
            </a:r>
            <a:r>
              <a:rPr lang="en-US" altLang="zh-CN" sz="2000" dirty="0">
                <a:solidFill>
                  <a:schemeClr val="tx1"/>
                </a:solidFill>
              </a:rPr>
              <a:t>/ </a:t>
            </a:r>
          </a:p>
        </p:txBody>
      </p:sp>
    </p:spTree>
    <p:extLst>
      <p:ext uri="{BB962C8B-B14F-4D97-AF65-F5344CB8AC3E}">
        <p14:creationId xmlns:p14="http://schemas.microsoft.com/office/powerpoint/2010/main" val="74308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500"/>
                                        <p:tgtEl>
                                          <p:spTgt spid="5">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Effect transition="in" filter="fade">
                                      <p:cBhvr>
                                        <p:cTn id="31"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ADFA-0E89-3EEF-2708-A5D862CA6B3C}"/>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43A4AFD-47B1-9DA0-2779-62834B0FEA9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2FB36849-C43A-12C1-07B2-AF4F87DE9529}"/>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创建数据库模式的权限</a:t>
            </a:r>
          </a:p>
        </p:txBody>
      </p:sp>
      <p:sp>
        <p:nvSpPr>
          <p:cNvPr id="5" name="矩形 4">
            <a:extLst>
              <a:ext uri="{FF2B5EF4-FFF2-40B4-BE49-F238E27FC236}">
                <a16:creationId xmlns:a16="http://schemas.microsoft.com/office/drawing/2014/main" id="{32E3A05B-5AAA-6384-C00C-1064B568056A}"/>
              </a:ext>
            </a:extLst>
          </p:cNvPr>
          <p:cNvSpPr/>
          <p:nvPr/>
        </p:nvSpPr>
        <p:spPr>
          <a:xfrm>
            <a:off x="508608" y="1829594"/>
            <a:ext cx="11286490" cy="2971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例：创建数据库</a:t>
            </a:r>
            <a:r>
              <a:rPr lang="en-US" altLang="zh-CN" sz="2000" dirty="0">
                <a:solidFill>
                  <a:srgbClr val="FF0000"/>
                </a:solidFill>
              </a:rPr>
              <a:t>U1DB</a:t>
            </a:r>
          </a:p>
          <a:p>
            <a:pPr marL="1168400" indent="-365125" algn="just">
              <a:lnSpc>
                <a:spcPct val="150000"/>
              </a:lnSpc>
              <a:buFont typeface="Wingdings" panose="05000000000000000000" pitchFamily="2" charset="2"/>
              <a:buChar char="l"/>
            </a:pPr>
            <a:r>
              <a:rPr lang="zh-CN" altLang="en-US" sz="2000" dirty="0">
                <a:solidFill>
                  <a:schemeClr val="tx1"/>
                </a:solidFill>
              </a:rPr>
              <a:t>以</a:t>
            </a:r>
            <a:r>
              <a:rPr lang="en-US" altLang="zh-CN" sz="2000" dirty="0">
                <a:solidFill>
                  <a:schemeClr val="tx1"/>
                </a:solidFill>
              </a:rPr>
              <a:t>U1</a:t>
            </a:r>
            <a:r>
              <a:rPr lang="zh-CN" altLang="en-US" sz="2000" dirty="0">
                <a:solidFill>
                  <a:schemeClr val="tx1"/>
                </a:solidFill>
              </a:rPr>
              <a:t>用户登录，创建数据库</a:t>
            </a:r>
            <a:r>
              <a:rPr lang="en-US" altLang="zh-CN" sz="2000" dirty="0">
                <a:solidFill>
                  <a:schemeClr val="tx1"/>
                </a:solidFill>
              </a:rPr>
              <a:t>U1DB</a:t>
            </a:r>
          </a:p>
          <a:p>
            <a:pPr marL="1073150" indent="95250" algn="just">
              <a:lnSpc>
                <a:spcPct val="150000"/>
              </a:lnSpc>
            </a:pPr>
            <a:r>
              <a:rPr lang="en-US" altLang="zh-CN" sz="2000" dirty="0">
                <a:solidFill>
                  <a:schemeClr val="tx1"/>
                </a:solidFill>
              </a:rPr>
              <a:t>CREATE DATABASE U1DB;         /* U1</a:t>
            </a:r>
            <a:r>
              <a:rPr lang="zh-CN" altLang="en-US" sz="2000" dirty="0">
                <a:solidFill>
                  <a:schemeClr val="tx1"/>
                </a:solidFill>
              </a:rPr>
              <a:t>创建了数据库 *</a:t>
            </a:r>
            <a:r>
              <a:rPr lang="en-US" altLang="zh-CN" sz="2000" dirty="0">
                <a:solidFill>
                  <a:schemeClr val="tx1"/>
                </a:solidFill>
              </a:rPr>
              <a:t>/</a:t>
            </a:r>
          </a:p>
          <a:p>
            <a:pPr marL="1073150" indent="95250" algn="just">
              <a:lnSpc>
                <a:spcPct val="150000"/>
              </a:lnSpc>
            </a:pPr>
            <a:endParaRPr lang="en-US" altLang="zh-CN" sz="2000" dirty="0">
              <a:solidFill>
                <a:schemeClr val="tx1"/>
              </a:solidFill>
            </a:endParaRPr>
          </a:p>
          <a:p>
            <a:pPr marL="1416050" indent="-342900" algn="just">
              <a:lnSpc>
                <a:spcPct val="150000"/>
              </a:lnSpc>
              <a:buFont typeface="Wingdings" panose="05000000000000000000" pitchFamily="2" charset="2"/>
              <a:buChar char="Ø"/>
            </a:pPr>
            <a:r>
              <a:rPr lang="en-US" altLang="zh-CN" sz="2000" dirty="0">
                <a:solidFill>
                  <a:schemeClr val="tx1"/>
                </a:solidFill>
              </a:rPr>
              <a:t>U1</a:t>
            </a:r>
            <a:r>
              <a:rPr lang="zh-CN" altLang="en-US" sz="2000" dirty="0">
                <a:solidFill>
                  <a:schemeClr val="tx1"/>
                </a:solidFill>
              </a:rPr>
              <a:t>成为数据库</a:t>
            </a:r>
            <a:r>
              <a:rPr lang="en-US" altLang="zh-CN" sz="2000" dirty="0">
                <a:solidFill>
                  <a:schemeClr val="tx1"/>
                </a:solidFill>
              </a:rPr>
              <a:t>U1DB</a:t>
            </a:r>
            <a:r>
              <a:rPr lang="zh-CN" altLang="en-US" sz="2000" dirty="0">
                <a:solidFill>
                  <a:schemeClr val="tx1"/>
                </a:solidFill>
              </a:rPr>
              <a:t>的属主</a:t>
            </a:r>
          </a:p>
          <a:p>
            <a:pPr marL="1416050" indent="-342900" algn="just">
              <a:lnSpc>
                <a:spcPct val="150000"/>
              </a:lnSpc>
              <a:buFont typeface="Wingdings" panose="05000000000000000000" pitchFamily="2" charset="2"/>
              <a:buChar char="Ø"/>
            </a:pPr>
            <a:r>
              <a:rPr lang="en-US" altLang="zh-CN" sz="2000" dirty="0">
                <a:solidFill>
                  <a:schemeClr val="tx1"/>
                </a:solidFill>
              </a:rPr>
              <a:t>U1</a:t>
            </a:r>
            <a:r>
              <a:rPr lang="zh-CN" altLang="en-US" sz="2000" dirty="0">
                <a:solidFill>
                  <a:schemeClr val="tx1"/>
                </a:solidFill>
              </a:rPr>
              <a:t>可以在</a:t>
            </a:r>
            <a:r>
              <a:rPr lang="en-US" altLang="zh-CN" sz="2000" dirty="0">
                <a:solidFill>
                  <a:schemeClr val="tx1"/>
                </a:solidFill>
              </a:rPr>
              <a:t>U1DB</a:t>
            </a:r>
            <a:r>
              <a:rPr lang="zh-CN" altLang="en-US" sz="2000" dirty="0">
                <a:solidFill>
                  <a:schemeClr val="tx1"/>
                </a:solidFill>
              </a:rPr>
              <a:t>数据库上创建</a:t>
            </a:r>
            <a:r>
              <a:rPr lang="en-US" altLang="zh-CN" sz="2000" dirty="0">
                <a:solidFill>
                  <a:schemeClr val="tx1"/>
                </a:solidFill>
              </a:rPr>
              <a:t>SCHEMA</a:t>
            </a:r>
          </a:p>
        </p:txBody>
      </p:sp>
    </p:spTree>
    <p:extLst>
      <p:ext uri="{BB962C8B-B14F-4D97-AF65-F5344CB8AC3E}">
        <p14:creationId xmlns:p14="http://schemas.microsoft.com/office/powerpoint/2010/main" val="2101410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ADFA-0E89-3EEF-2708-A5D862CA6B3C}"/>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43A4AFD-47B1-9DA0-2779-62834B0FEA9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2FB36849-C43A-12C1-07B2-AF4F87DE9529}"/>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数据库角色</a:t>
            </a:r>
          </a:p>
        </p:txBody>
      </p:sp>
      <p:sp>
        <p:nvSpPr>
          <p:cNvPr id="5" name="矩形 4">
            <a:extLst>
              <a:ext uri="{FF2B5EF4-FFF2-40B4-BE49-F238E27FC236}">
                <a16:creationId xmlns:a16="http://schemas.microsoft.com/office/drawing/2014/main" id="{32E3A05B-5AAA-6384-C00C-1064B568056A}"/>
              </a:ext>
            </a:extLst>
          </p:cNvPr>
          <p:cNvSpPr/>
          <p:nvPr/>
        </p:nvSpPr>
        <p:spPr>
          <a:xfrm>
            <a:off x="508608" y="1829594"/>
            <a:ext cx="11286490" cy="1905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被命名的一组与数据库操作相关的权限</a:t>
            </a:r>
          </a:p>
          <a:p>
            <a:pPr marL="612775" indent="-342900" algn="just">
              <a:lnSpc>
                <a:spcPct val="150000"/>
              </a:lnSpc>
              <a:buFont typeface="Wingdings" panose="05000000000000000000" pitchFamily="2" charset="2"/>
              <a:buChar char="l"/>
            </a:pPr>
            <a:r>
              <a:rPr lang="zh-CN" altLang="en-US" sz="2000" dirty="0">
                <a:solidFill>
                  <a:schemeClr val="tx1"/>
                </a:solidFill>
              </a:rPr>
              <a:t>角色是权限的集合 </a:t>
            </a:r>
          </a:p>
          <a:p>
            <a:pPr marL="612775" indent="-342900" algn="just">
              <a:lnSpc>
                <a:spcPct val="150000"/>
              </a:lnSpc>
              <a:buFont typeface="Wingdings" panose="05000000000000000000" pitchFamily="2" charset="2"/>
              <a:buChar char="l"/>
            </a:pPr>
            <a:r>
              <a:rPr lang="zh-CN" altLang="en-US" sz="2000" dirty="0">
                <a:solidFill>
                  <a:schemeClr val="tx1"/>
                </a:solidFill>
              </a:rPr>
              <a:t>可以为一组具有相同权限的用户创建一个角色</a:t>
            </a:r>
          </a:p>
          <a:p>
            <a:pPr marL="612775" indent="-342900" algn="just">
              <a:lnSpc>
                <a:spcPct val="150000"/>
              </a:lnSpc>
              <a:buFont typeface="Wingdings" panose="05000000000000000000" pitchFamily="2" charset="2"/>
              <a:buChar char="l"/>
            </a:pPr>
            <a:r>
              <a:rPr lang="zh-CN" altLang="en-US" sz="2000" dirty="0">
                <a:solidFill>
                  <a:schemeClr val="tx1"/>
                </a:solidFill>
              </a:rPr>
              <a:t>可以简化授权的过程</a:t>
            </a:r>
          </a:p>
        </p:txBody>
      </p:sp>
    </p:spTree>
    <p:extLst>
      <p:ext uri="{BB962C8B-B14F-4D97-AF65-F5344CB8AC3E}">
        <p14:creationId xmlns:p14="http://schemas.microsoft.com/office/powerpoint/2010/main" val="305292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3772D-D9F9-BBF1-5C55-61BAAF469886}"/>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9F88BF6E-4393-9373-F468-130A987802DF}"/>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E98831D6-FF82-2D6D-4ACF-22CD52B3B45C}"/>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数据库角色</a:t>
            </a:r>
          </a:p>
        </p:txBody>
      </p:sp>
      <p:sp>
        <p:nvSpPr>
          <p:cNvPr id="5" name="矩形 4">
            <a:extLst>
              <a:ext uri="{FF2B5EF4-FFF2-40B4-BE49-F238E27FC236}">
                <a16:creationId xmlns:a16="http://schemas.microsoft.com/office/drawing/2014/main" id="{333830E5-C9D7-137D-271B-89299EC97DAB}"/>
              </a:ext>
            </a:extLst>
          </p:cNvPr>
          <p:cNvSpPr/>
          <p:nvPr/>
        </p:nvSpPr>
        <p:spPr>
          <a:xfrm>
            <a:off x="508608" y="1829594"/>
            <a:ext cx="11286490" cy="467757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角色的创建</a:t>
            </a:r>
            <a:endParaRPr lang="en-US" altLang="zh-CN" sz="2000" dirty="0">
              <a:solidFill>
                <a:schemeClr val="tx1"/>
              </a:solidFill>
            </a:endParaRPr>
          </a:p>
          <a:p>
            <a:pPr marL="269875" indent="358775" algn="just">
              <a:lnSpc>
                <a:spcPct val="150000"/>
              </a:lnSpc>
            </a:pPr>
            <a:r>
              <a:rPr lang="en-US" altLang="zh-CN" sz="2000" dirty="0">
                <a:solidFill>
                  <a:srgbClr val="FF0000"/>
                </a:solidFill>
              </a:rPr>
              <a:t>CREATE  ROLE  </a:t>
            </a:r>
            <a:r>
              <a:rPr lang="en-US" altLang="zh-CN" sz="2000" dirty="0">
                <a:solidFill>
                  <a:schemeClr val="tx1"/>
                </a:solidFill>
              </a:rPr>
              <a:t>&lt;</a:t>
            </a:r>
            <a:r>
              <a:rPr lang="zh-CN" altLang="en-US" sz="2000" dirty="0">
                <a:solidFill>
                  <a:schemeClr val="tx1"/>
                </a:solidFill>
              </a:rPr>
              <a:t>角色名</a:t>
            </a:r>
            <a:r>
              <a:rPr lang="en-US" altLang="zh-CN" sz="2000" dirty="0">
                <a:solidFill>
                  <a:schemeClr val="tx1"/>
                </a:solidFill>
              </a:rPr>
              <a:t>&gt; </a:t>
            </a:r>
            <a:endParaRPr lang="zh-CN" altLang="en-US" sz="2000" dirty="0">
              <a:solidFill>
                <a:schemeClr val="tx1"/>
              </a:solidFill>
            </a:endParaRPr>
          </a:p>
          <a:p>
            <a:pPr marL="612775" indent="-342900" algn="just">
              <a:lnSpc>
                <a:spcPct val="150000"/>
              </a:lnSpc>
              <a:buFont typeface="Wingdings" panose="05000000000000000000" pitchFamily="2" charset="2"/>
              <a:buChar char="l"/>
            </a:pPr>
            <a:r>
              <a:rPr lang="zh-CN" altLang="en-US" sz="2000" dirty="0">
                <a:solidFill>
                  <a:schemeClr val="tx1"/>
                </a:solidFill>
              </a:rPr>
              <a:t>给角色授权 </a:t>
            </a:r>
          </a:p>
          <a:p>
            <a:pPr marL="269875" indent="358775" algn="just">
              <a:lnSpc>
                <a:spcPct val="150000"/>
              </a:lnSpc>
            </a:pPr>
            <a:r>
              <a:rPr lang="en-US" altLang="zh-CN" sz="2000" dirty="0">
                <a:solidFill>
                  <a:srgbClr val="FF0000"/>
                </a:solidFill>
              </a:rPr>
              <a:t>GRANT </a:t>
            </a:r>
            <a:r>
              <a:rPr lang="en-US" altLang="zh-CN" sz="2000" dirty="0">
                <a:solidFill>
                  <a:schemeClr val="tx1"/>
                </a:solidFill>
              </a:rPr>
              <a:t> &lt;</a:t>
            </a:r>
            <a:r>
              <a:rPr lang="zh-CN" altLang="en-US" sz="2000" dirty="0">
                <a:solidFill>
                  <a:schemeClr val="tx1"/>
                </a:solidFill>
              </a:rPr>
              <a:t>权限</a:t>
            </a:r>
            <a:r>
              <a:rPr lang="en-US" altLang="zh-CN" sz="2000" dirty="0">
                <a:solidFill>
                  <a:schemeClr val="tx1"/>
                </a:solidFill>
              </a:rPr>
              <a:t>&gt;[,&lt;</a:t>
            </a:r>
            <a:r>
              <a:rPr lang="zh-CN" altLang="en-US" sz="2000" dirty="0">
                <a:solidFill>
                  <a:schemeClr val="tx1"/>
                </a:solidFill>
              </a:rPr>
              <a:t>权限</a:t>
            </a:r>
            <a:r>
              <a:rPr lang="en-US" altLang="zh-CN" sz="2000" dirty="0">
                <a:solidFill>
                  <a:schemeClr val="tx1"/>
                </a:solidFill>
              </a:rPr>
              <a:t>&gt;]… </a:t>
            </a:r>
          </a:p>
          <a:p>
            <a:pPr marL="269875" indent="358775" algn="just">
              <a:lnSpc>
                <a:spcPct val="150000"/>
              </a:lnSpc>
            </a:pPr>
            <a:r>
              <a:rPr lang="en-US" altLang="zh-CN" sz="2000" dirty="0">
                <a:solidFill>
                  <a:schemeClr val="tx1"/>
                </a:solidFill>
              </a:rPr>
              <a:t>ON &lt;</a:t>
            </a:r>
            <a:r>
              <a:rPr lang="zh-CN" altLang="en-US" sz="2000" dirty="0">
                <a:solidFill>
                  <a:schemeClr val="tx1"/>
                </a:solidFill>
              </a:rPr>
              <a:t>对象类型</a:t>
            </a:r>
            <a:r>
              <a:rPr lang="en-US" altLang="zh-CN" sz="2000" dirty="0">
                <a:solidFill>
                  <a:schemeClr val="tx1"/>
                </a:solidFill>
              </a:rPr>
              <a:t>&gt;</a:t>
            </a:r>
            <a:r>
              <a:rPr lang="zh-CN" altLang="en-US" sz="2000" dirty="0">
                <a:solidFill>
                  <a:schemeClr val="tx1"/>
                </a:solidFill>
              </a:rPr>
              <a:t>对象名  </a:t>
            </a:r>
          </a:p>
          <a:p>
            <a:pPr marL="269875" indent="358775" algn="just">
              <a:lnSpc>
                <a:spcPct val="150000"/>
              </a:lnSpc>
            </a:pPr>
            <a:r>
              <a:rPr lang="en-US" altLang="zh-CN" sz="2000" dirty="0">
                <a:solidFill>
                  <a:schemeClr val="tx1"/>
                </a:solidFill>
              </a:rPr>
              <a:t>TO &lt;</a:t>
            </a:r>
            <a:r>
              <a:rPr lang="zh-CN" altLang="en-US" sz="2000" dirty="0">
                <a:solidFill>
                  <a:schemeClr val="tx1"/>
                </a:solidFill>
              </a:rPr>
              <a:t>角色</a:t>
            </a:r>
            <a:r>
              <a:rPr lang="en-US" altLang="zh-CN" sz="2000" dirty="0">
                <a:solidFill>
                  <a:schemeClr val="tx1"/>
                </a:solidFill>
              </a:rPr>
              <a:t>&gt;[,&lt;</a:t>
            </a:r>
            <a:r>
              <a:rPr lang="zh-CN" altLang="en-US" sz="2000" dirty="0">
                <a:solidFill>
                  <a:schemeClr val="tx1"/>
                </a:solidFill>
              </a:rPr>
              <a:t>角色</a:t>
            </a:r>
            <a:r>
              <a:rPr lang="en-US" altLang="zh-CN" sz="2000" dirty="0">
                <a:solidFill>
                  <a:schemeClr val="tx1"/>
                </a:solidFill>
              </a:rPr>
              <a:t>&gt;]…</a:t>
            </a:r>
          </a:p>
          <a:p>
            <a:pPr marL="612775" indent="-342900" algn="just">
              <a:lnSpc>
                <a:spcPct val="150000"/>
              </a:lnSpc>
              <a:buFont typeface="Wingdings" panose="05000000000000000000" pitchFamily="2" charset="2"/>
              <a:buChar char="l"/>
            </a:pPr>
            <a:r>
              <a:rPr lang="zh-CN" altLang="en-US" sz="2000" dirty="0">
                <a:solidFill>
                  <a:schemeClr val="tx1"/>
                </a:solidFill>
              </a:rPr>
              <a:t>将一个角色授予其他的角色或用户</a:t>
            </a:r>
            <a:endParaRPr lang="en-US" altLang="zh-CN" sz="2000" dirty="0">
              <a:solidFill>
                <a:schemeClr val="tx1"/>
              </a:solidFill>
            </a:endParaRPr>
          </a:p>
          <a:p>
            <a:pPr marL="269875" indent="358775" algn="just">
              <a:lnSpc>
                <a:spcPct val="150000"/>
              </a:lnSpc>
            </a:pPr>
            <a:r>
              <a:rPr lang="en-US" altLang="zh-CN" sz="2000" dirty="0">
                <a:solidFill>
                  <a:srgbClr val="FF0000"/>
                </a:solidFill>
              </a:rPr>
              <a:t>GRANT  </a:t>
            </a:r>
            <a:r>
              <a:rPr lang="en-US" altLang="zh-CN" sz="2000" dirty="0">
                <a:solidFill>
                  <a:schemeClr val="tx1"/>
                </a:solidFill>
              </a:rPr>
              <a:t>&lt;</a:t>
            </a:r>
            <a:r>
              <a:rPr lang="zh-CN" altLang="en-US" sz="2000" dirty="0">
                <a:solidFill>
                  <a:schemeClr val="tx1"/>
                </a:solidFill>
              </a:rPr>
              <a:t>角色</a:t>
            </a:r>
            <a:r>
              <a:rPr lang="en-US" altLang="zh-CN" sz="2000" dirty="0">
                <a:solidFill>
                  <a:schemeClr val="tx1"/>
                </a:solidFill>
              </a:rPr>
              <a:t>1&gt;[,&lt;</a:t>
            </a:r>
            <a:r>
              <a:rPr lang="zh-CN" altLang="en-US" sz="2000" dirty="0">
                <a:solidFill>
                  <a:schemeClr val="tx1"/>
                </a:solidFill>
              </a:rPr>
              <a:t>角色</a:t>
            </a:r>
            <a:r>
              <a:rPr lang="en-US" altLang="zh-CN" sz="2000" dirty="0">
                <a:solidFill>
                  <a:schemeClr val="tx1"/>
                </a:solidFill>
              </a:rPr>
              <a:t>2&gt;]…</a:t>
            </a:r>
          </a:p>
          <a:p>
            <a:pPr marL="269875" indent="358775" algn="just">
              <a:lnSpc>
                <a:spcPct val="150000"/>
              </a:lnSpc>
            </a:pPr>
            <a:r>
              <a:rPr lang="en-US" altLang="zh-CN" sz="2000" dirty="0">
                <a:solidFill>
                  <a:schemeClr val="tx1"/>
                </a:solidFill>
              </a:rPr>
              <a:t>TO  &lt;</a:t>
            </a:r>
            <a:r>
              <a:rPr lang="zh-CN" altLang="en-US" sz="2000" dirty="0">
                <a:solidFill>
                  <a:schemeClr val="tx1"/>
                </a:solidFill>
              </a:rPr>
              <a:t>角色</a:t>
            </a:r>
            <a:r>
              <a:rPr lang="en-US" altLang="zh-CN" sz="2000" dirty="0">
                <a:solidFill>
                  <a:schemeClr val="tx1"/>
                </a:solidFill>
              </a:rPr>
              <a:t>3&gt;[,&lt;</a:t>
            </a:r>
            <a:r>
              <a:rPr lang="zh-CN" altLang="en-US" sz="2000" dirty="0">
                <a:solidFill>
                  <a:schemeClr val="tx1"/>
                </a:solidFill>
              </a:rPr>
              <a:t>用户</a:t>
            </a:r>
            <a:r>
              <a:rPr lang="en-US" altLang="zh-CN" sz="2000" dirty="0">
                <a:solidFill>
                  <a:schemeClr val="tx1"/>
                </a:solidFill>
              </a:rPr>
              <a:t>1&gt;]… </a:t>
            </a:r>
          </a:p>
          <a:p>
            <a:pPr marL="269875" indent="358775" algn="just">
              <a:lnSpc>
                <a:spcPct val="150000"/>
              </a:lnSpc>
            </a:pPr>
            <a:r>
              <a:rPr lang="en-US" altLang="zh-CN" sz="2000" dirty="0">
                <a:solidFill>
                  <a:schemeClr val="tx1"/>
                </a:solidFill>
              </a:rPr>
              <a:t>[</a:t>
            </a:r>
            <a:r>
              <a:rPr lang="en-US" altLang="zh-CN" sz="2000" dirty="0">
                <a:solidFill>
                  <a:srgbClr val="FF0000"/>
                </a:solidFill>
              </a:rPr>
              <a:t>WITH ADMIN OPTION</a:t>
            </a:r>
            <a:r>
              <a:rPr lang="en-US" altLang="zh-CN" sz="2000" dirty="0">
                <a:solidFill>
                  <a:schemeClr val="tx1"/>
                </a:solidFill>
              </a:rPr>
              <a:t>]</a:t>
            </a:r>
          </a:p>
        </p:txBody>
      </p:sp>
      <p:sp>
        <p:nvSpPr>
          <p:cNvPr id="2" name="对话气泡: 圆角矩形 1">
            <a:extLst>
              <a:ext uri="{FF2B5EF4-FFF2-40B4-BE49-F238E27FC236}">
                <a16:creationId xmlns:a16="http://schemas.microsoft.com/office/drawing/2014/main" id="{FA607998-E2E3-7FC7-A6A5-C9CAB9302DC2}"/>
              </a:ext>
            </a:extLst>
          </p:cNvPr>
          <p:cNvSpPr/>
          <p:nvPr/>
        </p:nvSpPr>
        <p:spPr>
          <a:xfrm>
            <a:off x="5260975" y="4648994"/>
            <a:ext cx="5410200" cy="457200"/>
          </a:xfrm>
          <a:prstGeom prst="wedgeRoundRectCallout">
            <a:avLst>
              <a:gd name="adj1" fmla="val 638"/>
              <a:gd name="adj2" fmla="val -3141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2000" dirty="0"/>
              <a:t>该语句把角色授予某用户，或授予另一个角色</a:t>
            </a:r>
          </a:p>
        </p:txBody>
      </p:sp>
      <p:sp>
        <p:nvSpPr>
          <p:cNvPr id="3" name="对话气泡: 圆角矩形 2">
            <a:extLst>
              <a:ext uri="{FF2B5EF4-FFF2-40B4-BE49-F238E27FC236}">
                <a16:creationId xmlns:a16="http://schemas.microsoft.com/office/drawing/2014/main" id="{5B4FE8BA-C251-EE96-0D63-36775C133814}"/>
              </a:ext>
            </a:extLst>
          </p:cNvPr>
          <p:cNvSpPr/>
          <p:nvPr/>
        </p:nvSpPr>
        <p:spPr>
          <a:xfrm>
            <a:off x="4956175" y="3248024"/>
            <a:ext cx="5715000" cy="1019970"/>
          </a:xfrm>
          <a:prstGeom prst="wedgeRoundRectCallout">
            <a:avLst>
              <a:gd name="adj1" fmla="val -48710"/>
              <a:gd name="adj2" fmla="val 18936"/>
              <a:gd name="adj3" fmla="val 16667"/>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lnSpc>
                <a:spcPct val="150000"/>
              </a:lnSpc>
            </a:pPr>
            <a:r>
              <a:rPr lang="zh-CN" altLang="en-US" sz="2000"/>
              <a:t>一个角色的权限：直接授予这个角色的全部权限加上其他角色授予这个角色的全部权限</a:t>
            </a:r>
            <a:endParaRPr lang="zh-CN" altLang="en-US" sz="2000" dirty="0"/>
          </a:p>
        </p:txBody>
      </p:sp>
      <p:sp>
        <p:nvSpPr>
          <p:cNvPr id="7" name="标注: 双弯曲线形(带边框和强调线) 6">
            <a:extLst>
              <a:ext uri="{FF2B5EF4-FFF2-40B4-BE49-F238E27FC236}">
                <a16:creationId xmlns:a16="http://schemas.microsoft.com/office/drawing/2014/main" id="{03B07065-4E24-C6F8-3F1E-546DB438641F}"/>
              </a:ext>
            </a:extLst>
          </p:cNvPr>
          <p:cNvSpPr/>
          <p:nvPr/>
        </p:nvSpPr>
        <p:spPr>
          <a:xfrm>
            <a:off x="4575174" y="6046534"/>
            <a:ext cx="3095625" cy="457200"/>
          </a:xfrm>
          <a:prstGeom prst="accentBorderCallout3">
            <a:avLst>
              <a:gd name="adj1" fmla="val 20831"/>
              <a:gd name="adj2" fmla="val -6486"/>
              <a:gd name="adj3" fmla="val 20833"/>
              <a:gd name="adj4" fmla="val -10246"/>
              <a:gd name="adj5" fmla="val 79174"/>
              <a:gd name="adj6" fmla="val -10246"/>
              <a:gd name="adj7" fmla="val 77558"/>
              <a:gd name="adj8" fmla="val -103781"/>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just"/>
            <a:r>
              <a:rPr lang="zh-CN" altLang="en-US" sz="2000" dirty="0"/>
              <a:t>可以把权限授予其他角色</a:t>
            </a:r>
          </a:p>
        </p:txBody>
      </p:sp>
    </p:spTree>
    <p:extLst>
      <p:ext uri="{BB962C8B-B14F-4D97-AF65-F5344CB8AC3E}">
        <p14:creationId xmlns:p14="http://schemas.microsoft.com/office/powerpoint/2010/main" val="165509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fade">
                                      <p:cBhvr>
                                        <p:cTn id="41" dur="500"/>
                                        <p:tgtEl>
                                          <p:spTgt spid="5">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5">
                                            <p:txEl>
                                              <p:pRg st="8" end="8"/>
                                            </p:txEl>
                                          </p:spTgt>
                                        </p:tgtEl>
                                        <p:attrNameLst>
                                          <p:attrName>style.visibility</p:attrName>
                                        </p:attrNameLst>
                                      </p:cBhvr>
                                      <p:to>
                                        <p:strVal val="visible"/>
                                      </p:to>
                                    </p:set>
                                    <p:animEffect transition="in" filter="fade">
                                      <p:cBhvr>
                                        <p:cTn id="44" dur="500"/>
                                        <p:tgtEl>
                                          <p:spTgt spid="5">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Effect transition="in" filter="fade">
                                      <p:cBhvr>
                                        <p:cTn id="49" dur="500"/>
                                        <p:tgtEl>
                                          <p:spTgt spid="5">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fade">
                                      <p:cBhvr>
                                        <p:cTn id="5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ABBAB-4630-3191-4780-F93F0F9BE75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0108145-9698-C8A7-E0FB-D575E6A87AE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8EA09B96-B52F-8E82-F617-D0A9D331E5E0}"/>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数据库角色</a:t>
            </a:r>
          </a:p>
        </p:txBody>
      </p:sp>
      <p:sp>
        <p:nvSpPr>
          <p:cNvPr id="5" name="矩形 4">
            <a:extLst>
              <a:ext uri="{FF2B5EF4-FFF2-40B4-BE49-F238E27FC236}">
                <a16:creationId xmlns:a16="http://schemas.microsoft.com/office/drawing/2014/main" id="{49CA9FA1-51C2-94B6-B1B7-12D9221B8925}"/>
              </a:ext>
            </a:extLst>
          </p:cNvPr>
          <p:cNvSpPr/>
          <p:nvPr/>
        </p:nvSpPr>
        <p:spPr>
          <a:xfrm>
            <a:off x="508608" y="1829594"/>
            <a:ext cx="11286490" cy="3886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角色权限的收回</a:t>
            </a:r>
            <a:endParaRPr lang="en-US" altLang="zh-CN" sz="2000" dirty="0">
              <a:solidFill>
                <a:schemeClr val="tx1"/>
              </a:solidFill>
            </a:endParaRPr>
          </a:p>
          <a:p>
            <a:pPr marL="269875" indent="358775" algn="just">
              <a:lnSpc>
                <a:spcPct val="150000"/>
              </a:lnSpc>
            </a:pPr>
            <a:r>
              <a:rPr lang="en-US" altLang="zh-CN" sz="2000" dirty="0">
                <a:solidFill>
                  <a:srgbClr val="FF0000"/>
                </a:solidFill>
              </a:rPr>
              <a:t>REVOKE </a:t>
            </a:r>
            <a:r>
              <a:rPr lang="en-US" altLang="zh-CN" sz="2000" dirty="0">
                <a:solidFill>
                  <a:schemeClr val="tx1"/>
                </a:solidFill>
              </a:rPr>
              <a:t>&lt;</a:t>
            </a:r>
            <a:r>
              <a:rPr lang="zh-CN" altLang="en-US" sz="2000" dirty="0">
                <a:solidFill>
                  <a:schemeClr val="tx1"/>
                </a:solidFill>
              </a:rPr>
              <a:t>权限</a:t>
            </a:r>
            <a:r>
              <a:rPr lang="en-US" altLang="zh-CN" sz="2000" dirty="0">
                <a:solidFill>
                  <a:schemeClr val="tx1"/>
                </a:solidFill>
              </a:rPr>
              <a:t>&gt;[,&lt;</a:t>
            </a:r>
            <a:r>
              <a:rPr lang="zh-CN" altLang="en-US" sz="2000" dirty="0">
                <a:solidFill>
                  <a:schemeClr val="tx1"/>
                </a:solidFill>
              </a:rPr>
              <a:t>权限</a:t>
            </a:r>
            <a:r>
              <a:rPr lang="en-US" altLang="zh-CN" sz="2000" dirty="0">
                <a:solidFill>
                  <a:schemeClr val="tx1"/>
                </a:solidFill>
              </a:rPr>
              <a:t>&gt;]…</a:t>
            </a:r>
          </a:p>
          <a:p>
            <a:pPr marL="269875" indent="358775" algn="just">
              <a:lnSpc>
                <a:spcPct val="150000"/>
              </a:lnSpc>
            </a:pPr>
            <a:r>
              <a:rPr lang="en-US" altLang="zh-CN" sz="2000" dirty="0">
                <a:solidFill>
                  <a:schemeClr val="tx1"/>
                </a:solidFill>
              </a:rPr>
              <a:t>ON &lt;</a:t>
            </a:r>
            <a:r>
              <a:rPr lang="zh-CN" altLang="en-US" sz="2000" dirty="0">
                <a:solidFill>
                  <a:schemeClr val="tx1"/>
                </a:solidFill>
              </a:rPr>
              <a:t>对象类型</a:t>
            </a:r>
            <a:r>
              <a:rPr lang="en-US" altLang="zh-CN" sz="2000" dirty="0">
                <a:solidFill>
                  <a:schemeClr val="tx1"/>
                </a:solidFill>
              </a:rPr>
              <a:t>&gt; &lt;</a:t>
            </a:r>
            <a:r>
              <a:rPr lang="zh-CN" altLang="en-US" sz="2000" dirty="0">
                <a:solidFill>
                  <a:schemeClr val="tx1"/>
                </a:solidFill>
              </a:rPr>
              <a:t>对象名</a:t>
            </a:r>
            <a:r>
              <a:rPr lang="en-US" altLang="zh-CN" sz="2000" dirty="0">
                <a:solidFill>
                  <a:schemeClr val="tx1"/>
                </a:solidFill>
              </a:rPr>
              <a:t>&gt;</a:t>
            </a:r>
          </a:p>
          <a:p>
            <a:pPr marL="269875" indent="358775" algn="just">
              <a:lnSpc>
                <a:spcPct val="150000"/>
              </a:lnSpc>
            </a:pPr>
            <a:r>
              <a:rPr lang="en-US" altLang="zh-CN" sz="2000" dirty="0">
                <a:solidFill>
                  <a:schemeClr val="tx1"/>
                </a:solidFill>
              </a:rPr>
              <a:t>FROM &lt;</a:t>
            </a:r>
            <a:r>
              <a:rPr lang="zh-CN" altLang="en-US" sz="2000" dirty="0">
                <a:solidFill>
                  <a:schemeClr val="tx1"/>
                </a:solidFill>
              </a:rPr>
              <a:t>角色</a:t>
            </a:r>
            <a:r>
              <a:rPr lang="en-US" altLang="zh-CN" sz="2000" dirty="0">
                <a:solidFill>
                  <a:schemeClr val="tx1"/>
                </a:solidFill>
              </a:rPr>
              <a:t>&gt;[,&lt;</a:t>
            </a:r>
            <a:r>
              <a:rPr lang="zh-CN" altLang="en-US" sz="2000" dirty="0">
                <a:solidFill>
                  <a:schemeClr val="tx1"/>
                </a:solidFill>
              </a:rPr>
              <a:t>角色</a:t>
            </a:r>
            <a:r>
              <a:rPr lang="en-US" altLang="zh-CN" sz="2000" dirty="0">
                <a:solidFill>
                  <a:schemeClr val="tx1"/>
                </a:solidFill>
              </a:rPr>
              <a:t>&gt;]…</a:t>
            </a:r>
          </a:p>
          <a:p>
            <a:pPr marL="612775" indent="-342900" algn="just">
              <a:lnSpc>
                <a:spcPct val="150000"/>
              </a:lnSpc>
              <a:buFont typeface="Wingdings" panose="05000000000000000000" pitchFamily="2" charset="2"/>
              <a:buChar char="l"/>
            </a:pPr>
            <a:r>
              <a:rPr lang="zh-CN" altLang="en-US" sz="2000" dirty="0">
                <a:solidFill>
                  <a:schemeClr val="tx1"/>
                </a:solidFill>
              </a:rPr>
              <a:t>用户可以回收角色的权限，从而修改角色拥有的权限</a:t>
            </a:r>
          </a:p>
          <a:p>
            <a:pPr marL="612775" indent="-342900" algn="just">
              <a:lnSpc>
                <a:spcPct val="150000"/>
              </a:lnSpc>
              <a:buFont typeface="Wingdings" panose="05000000000000000000" pitchFamily="2" charset="2"/>
              <a:buChar char="l"/>
            </a:pPr>
            <a:r>
              <a:rPr lang="zh-CN" altLang="en-US" sz="2000" dirty="0">
                <a:solidFill>
                  <a:schemeClr val="tx1"/>
                </a:solidFill>
              </a:rPr>
              <a:t> </a:t>
            </a:r>
            <a:r>
              <a:rPr lang="en-US" altLang="zh-CN" sz="2000" dirty="0">
                <a:solidFill>
                  <a:schemeClr val="tx1"/>
                </a:solidFill>
              </a:rPr>
              <a:t>REVOKE</a:t>
            </a:r>
            <a:r>
              <a:rPr lang="zh-CN" altLang="en-US" sz="2000" dirty="0">
                <a:solidFill>
                  <a:schemeClr val="tx1"/>
                </a:solidFill>
              </a:rPr>
              <a:t>执行者</a:t>
            </a:r>
          </a:p>
          <a:p>
            <a:pPr marL="985838" indent="-357188" algn="just">
              <a:lnSpc>
                <a:spcPct val="150000"/>
              </a:lnSpc>
              <a:buFont typeface="Wingdings" panose="05000000000000000000" pitchFamily="2" charset="2"/>
              <a:buChar char="Ø"/>
            </a:pPr>
            <a:r>
              <a:rPr lang="zh-CN" altLang="en-US" sz="2000" dirty="0">
                <a:solidFill>
                  <a:schemeClr val="tx1"/>
                </a:solidFill>
              </a:rPr>
              <a:t>角色的创建者</a:t>
            </a:r>
          </a:p>
          <a:p>
            <a:pPr marL="985838" indent="-357188" algn="just">
              <a:lnSpc>
                <a:spcPct val="150000"/>
              </a:lnSpc>
              <a:buFont typeface="Wingdings" panose="05000000000000000000" pitchFamily="2" charset="2"/>
              <a:buChar char="Ø"/>
            </a:pPr>
            <a:r>
              <a:rPr lang="zh-CN" altLang="en-US" sz="2000" dirty="0">
                <a:solidFill>
                  <a:schemeClr val="tx1"/>
                </a:solidFill>
              </a:rPr>
              <a:t>拥有在这个（些）角色上的</a:t>
            </a:r>
            <a:r>
              <a:rPr lang="en-US" altLang="zh-CN" sz="2000" dirty="0">
                <a:solidFill>
                  <a:srgbClr val="FF0000"/>
                </a:solidFill>
              </a:rPr>
              <a:t>WITH ADMIN OPTION</a:t>
            </a:r>
            <a:r>
              <a:rPr lang="zh-CN" altLang="en-US" sz="2000" dirty="0">
                <a:solidFill>
                  <a:schemeClr val="tx1"/>
                </a:solidFill>
              </a:rPr>
              <a:t>权限者</a:t>
            </a:r>
          </a:p>
        </p:txBody>
      </p:sp>
    </p:spTree>
    <p:extLst>
      <p:ext uri="{BB962C8B-B14F-4D97-AF65-F5344CB8AC3E}">
        <p14:creationId xmlns:p14="http://schemas.microsoft.com/office/powerpoint/2010/main" val="80988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fade">
                                      <p:cBhvr>
                                        <p:cTn id="33" dur="500"/>
                                        <p:tgtEl>
                                          <p:spTgt spid="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fade">
                                      <p:cBhvr>
                                        <p:cTn id="38"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74EF-9E72-2286-F12A-7F2E44C7C62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2FDD397-66E1-9F3E-D573-87EAFD33A892}"/>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6210F29C-10DA-6FE0-A23C-EEFE1061686F}"/>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数据库角色</a:t>
            </a:r>
          </a:p>
        </p:txBody>
      </p:sp>
      <p:sp>
        <p:nvSpPr>
          <p:cNvPr id="5" name="矩形 4">
            <a:extLst>
              <a:ext uri="{FF2B5EF4-FFF2-40B4-BE49-F238E27FC236}">
                <a16:creationId xmlns:a16="http://schemas.microsoft.com/office/drawing/2014/main" id="{1D2EA833-6522-5221-3566-8C7601070F46}"/>
              </a:ext>
            </a:extLst>
          </p:cNvPr>
          <p:cNvSpPr/>
          <p:nvPr/>
        </p:nvSpPr>
        <p:spPr>
          <a:xfrm>
            <a:off x="508608" y="1829594"/>
            <a:ext cx="11286490" cy="3810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例：通过角色来实现将一组权限授予一个用户</a:t>
            </a:r>
          </a:p>
          <a:p>
            <a:pPr marL="612775" indent="-342900" algn="just">
              <a:lnSpc>
                <a:spcPct val="150000"/>
              </a:lnSpc>
              <a:buFont typeface="Wingdings" panose="05000000000000000000" pitchFamily="2" charset="2"/>
              <a:buChar char="l"/>
            </a:pPr>
            <a:r>
              <a:rPr lang="zh-CN" altLang="en-US" sz="2000" dirty="0">
                <a:solidFill>
                  <a:schemeClr val="tx1"/>
                </a:solidFill>
              </a:rPr>
              <a:t>步骤如下：</a:t>
            </a:r>
          </a:p>
          <a:p>
            <a:pPr marL="269875" algn="just">
              <a:lnSpc>
                <a:spcPct val="150000"/>
              </a:lnSpc>
            </a:pPr>
            <a:r>
              <a:rPr lang="zh-CN" altLang="en-US" sz="2000" dirty="0">
                <a:solidFill>
                  <a:schemeClr val="tx1"/>
                </a:solidFill>
              </a:rPr>
              <a:t>（</a:t>
            </a:r>
            <a:r>
              <a:rPr lang="en-US" altLang="zh-CN" sz="2000" dirty="0">
                <a:solidFill>
                  <a:schemeClr val="tx1"/>
                </a:solidFill>
              </a:rPr>
              <a:t>1</a:t>
            </a:r>
            <a:r>
              <a:rPr lang="zh-CN" altLang="en-US" sz="2000" dirty="0">
                <a:solidFill>
                  <a:schemeClr val="tx1"/>
                </a:solidFill>
              </a:rPr>
              <a:t>）首先创建一个角色 </a:t>
            </a:r>
            <a:r>
              <a:rPr lang="en-US" altLang="zh-CN" sz="2000" dirty="0">
                <a:solidFill>
                  <a:schemeClr val="tx1"/>
                </a:solidFill>
              </a:rPr>
              <a:t>R1</a:t>
            </a:r>
          </a:p>
          <a:p>
            <a:pPr marL="269875" indent="628650" algn="just">
              <a:lnSpc>
                <a:spcPct val="150000"/>
              </a:lnSpc>
            </a:pPr>
            <a:r>
              <a:rPr lang="en-US" altLang="zh-CN" sz="2000" dirty="0">
                <a:solidFill>
                  <a:schemeClr val="tx1"/>
                </a:solidFill>
              </a:rPr>
              <a:t> CREATE  ROLE  R1;</a:t>
            </a:r>
          </a:p>
          <a:p>
            <a:pPr marL="269875" algn="just">
              <a:lnSpc>
                <a:spcPct val="150000"/>
              </a:lnSpc>
            </a:pPr>
            <a:r>
              <a:rPr lang="zh-CN" altLang="en-US" sz="2000" dirty="0">
                <a:solidFill>
                  <a:schemeClr val="tx1"/>
                </a:solidFill>
              </a:rPr>
              <a:t>（</a:t>
            </a:r>
            <a:r>
              <a:rPr lang="en-US" altLang="zh-CN" sz="2000" dirty="0">
                <a:solidFill>
                  <a:schemeClr val="tx1"/>
                </a:solidFill>
              </a:rPr>
              <a:t>2</a:t>
            </a:r>
            <a:r>
              <a:rPr lang="zh-CN" altLang="en-US" sz="2000" dirty="0">
                <a:solidFill>
                  <a:schemeClr val="tx1"/>
                </a:solidFill>
              </a:rPr>
              <a:t>）然后使用</a:t>
            </a:r>
            <a:r>
              <a:rPr lang="en-US" altLang="zh-CN" sz="2000" dirty="0">
                <a:solidFill>
                  <a:schemeClr val="tx1"/>
                </a:solidFill>
              </a:rPr>
              <a:t>GRANT</a:t>
            </a:r>
            <a:r>
              <a:rPr lang="zh-CN" altLang="en-US" sz="2000" dirty="0">
                <a:solidFill>
                  <a:schemeClr val="tx1"/>
                </a:solidFill>
              </a:rPr>
              <a:t>语句，使角色</a:t>
            </a:r>
            <a:r>
              <a:rPr lang="en-US" altLang="zh-CN" sz="2000" dirty="0">
                <a:solidFill>
                  <a:schemeClr val="tx1"/>
                </a:solidFill>
              </a:rPr>
              <a:t>R1</a:t>
            </a:r>
            <a:r>
              <a:rPr lang="zh-CN" altLang="en-US" sz="2000" dirty="0">
                <a:solidFill>
                  <a:schemeClr val="tx1"/>
                </a:solidFill>
              </a:rPr>
              <a:t>拥有</a:t>
            </a:r>
            <a:r>
              <a:rPr lang="en-US" altLang="zh-CN" sz="2000" dirty="0">
                <a:solidFill>
                  <a:schemeClr val="tx1"/>
                </a:solidFill>
              </a:rPr>
              <a:t>Student</a:t>
            </a:r>
            <a:r>
              <a:rPr lang="zh-CN" altLang="en-US" sz="2000" dirty="0">
                <a:solidFill>
                  <a:schemeClr val="tx1"/>
                </a:solidFill>
              </a:rPr>
              <a:t>表的</a:t>
            </a:r>
            <a:r>
              <a:rPr lang="en-US" altLang="zh-CN" sz="2000" dirty="0">
                <a:solidFill>
                  <a:schemeClr val="tx1"/>
                </a:solidFill>
              </a:rPr>
              <a:t>SELECT</a:t>
            </a:r>
            <a:r>
              <a:rPr lang="zh-CN" altLang="en-US" sz="2000" dirty="0">
                <a:solidFill>
                  <a:schemeClr val="tx1"/>
                </a:solidFill>
              </a:rPr>
              <a:t>、</a:t>
            </a:r>
            <a:r>
              <a:rPr lang="en-US" altLang="zh-CN" sz="2000" dirty="0">
                <a:solidFill>
                  <a:schemeClr val="tx1"/>
                </a:solidFill>
              </a:rPr>
              <a:t>UPDATE</a:t>
            </a:r>
            <a:r>
              <a:rPr lang="zh-CN" altLang="en-US" sz="2000" dirty="0">
                <a:solidFill>
                  <a:schemeClr val="tx1"/>
                </a:solidFill>
              </a:rPr>
              <a:t>、</a:t>
            </a:r>
            <a:r>
              <a:rPr lang="en-US" altLang="zh-CN" sz="2000" dirty="0">
                <a:solidFill>
                  <a:schemeClr val="tx1"/>
                </a:solidFill>
              </a:rPr>
              <a:t>INSERT</a:t>
            </a:r>
            <a:r>
              <a:rPr lang="zh-CN" altLang="en-US" sz="2000" dirty="0">
                <a:solidFill>
                  <a:schemeClr val="tx1"/>
                </a:solidFill>
              </a:rPr>
              <a:t>权限</a:t>
            </a:r>
            <a:endParaRPr lang="en-US" altLang="zh-CN" sz="2000" dirty="0">
              <a:solidFill>
                <a:schemeClr val="tx1"/>
              </a:solidFill>
            </a:endParaRPr>
          </a:p>
          <a:p>
            <a:pPr marL="269875" indent="628650" algn="just">
              <a:lnSpc>
                <a:spcPct val="150000"/>
              </a:lnSpc>
            </a:pPr>
            <a:r>
              <a:rPr lang="en-US" altLang="zh-CN" sz="2000" dirty="0">
                <a:solidFill>
                  <a:schemeClr val="tx1"/>
                </a:solidFill>
              </a:rPr>
              <a:t>GRANT SELECT, UPDATE, INSERT </a:t>
            </a:r>
          </a:p>
          <a:p>
            <a:pPr marL="269875" indent="628650" algn="just">
              <a:lnSpc>
                <a:spcPct val="150000"/>
              </a:lnSpc>
            </a:pPr>
            <a:r>
              <a:rPr lang="en-US" altLang="zh-CN" sz="2000" dirty="0">
                <a:solidFill>
                  <a:schemeClr val="tx1"/>
                </a:solidFill>
              </a:rPr>
              <a:t>ON TABLE Student </a:t>
            </a:r>
          </a:p>
          <a:p>
            <a:pPr marL="269875" indent="628650" algn="just">
              <a:lnSpc>
                <a:spcPct val="150000"/>
              </a:lnSpc>
            </a:pPr>
            <a:r>
              <a:rPr lang="en-US" altLang="zh-CN" sz="2000" dirty="0">
                <a:solidFill>
                  <a:schemeClr val="tx1"/>
                </a:solidFill>
              </a:rPr>
              <a:t>TO R1;</a:t>
            </a:r>
            <a:endParaRPr lang="zh-CN" altLang="en-US" sz="2000" dirty="0">
              <a:solidFill>
                <a:schemeClr val="tx1"/>
              </a:solidFill>
            </a:endParaRPr>
          </a:p>
        </p:txBody>
      </p:sp>
    </p:spTree>
    <p:extLst>
      <p:ext uri="{BB962C8B-B14F-4D97-AF65-F5344CB8AC3E}">
        <p14:creationId xmlns:p14="http://schemas.microsoft.com/office/powerpoint/2010/main" val="205332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500"/>
                                        <p:tgtEl>
                                          <p:spTgt spid="5">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DF625-9B76-DC27-2CCE-6A860F6DF2C1}"/>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858320B1-C1B8-5C02-41F5-268E7C00139F}"/>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0FB58746-1021-BCDF-EC9D-789C1DD947DD}"/>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数据库角色</a:t>
            </a:r>
          </a:p>
        </p:txBody>
      </p:sp>
      <p:sp>
        <p:nvSpPr>
          <p:cNvPr id="5" name="矩形 4">
            <a:extLst>
              <a:ext uri="{FF2B5EF4-FFF2-40B4-BE49-F238E27FC236}">
                <a16:creationId xmlns:a16="http://schemas.microsoft.com/office/drawing/2014/main" id="{1DAD1466-377E-E238-4072-D3128940B465}"/>
              </a:ext>
            </a:extLst>
          </p:cNvPr>
          <p:cNvSpPr/>
          <p:nvPr/>
        </p:nvSpPr>
        <p:spPr>
          <a:xfrm>
            <a:off x="508608" y="1829594"/>
            <a:ext cx="11286490" cy="3810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例：通过角色来实现将一组权限授予一个用户</a:t>
            </a:r>
          </a:p>
          <a:p>
            <a:pPr marL="612775" indent="-342900" algn="just">
              <a:lnSpc>
                <a:spcPct val="150000"/>
              </a:lnSpc>
              <a:buFont typeface="Wingdings" panose="05000000000000000000" pitchFamily="2" charset="2"/>
              <a:buChar char="l"/>
            </a:pPr>
            <a:r>
              <a:rPr lang="zh-CN" altLang="en-US" sz="2000" dirty="0">
                <a:solidFill>
                  <a:schemeClr val="tx1"/>
                </a:solidFill>
              </a:rPr>
              <a:t>步骤如下：</a:t>
            </a:r>
          </a:p>
          <a:p>
            <a:pPr marL="269875" algn="just">
              <a:lnSpc>
                <a:spcPct val="150000"/>
              </a:lnSpc>
            </a:pPr>
            <a:r>
              <a:rPr lang="zh-CN" altLang="en-US" sz="2000" dirty="0">
                <a:solidFill>
                  <a:schemeClr val="tx1"/>
                </a:solidFill>
              </a:rPr>
              <a:t>（</a:t>
            </a:r>
            <a:r>
              <a:rPr lang="en-US" altLang="zh-CN" sz="2000" dirty="0">
                <a:solidFill>
                  <a:schemeClr val="tx1"/>
                </a:solidFill>
              </a:rPr>
              <a:t>3</a:t>
            </a:r>
            <a:r>
              <a:rPr lang="zh-CN" altLang="en-US" sz="2000" dirty="0">
                <a:solidFill>
                  <a:schemeClr val="tx1"/>
                </a:solidFill>
              </a:rPr>
              <a:t>）将这个角色授予王平，张明，赵玲，使他们具有角色</a:t>
            </a:r>
            <a:r>
              <a:rPr lang="en-US" altLang="zh-CN" sz="2000" dirty="0">
                <a:solidFill>
                  <a:schemeClr val="tx1"/>
                </a:solidFill>
              </a:rPr>
              <a:t>R1</a:t>
            </a:r>
            <a:r>
              <a:rPr lang="zh-CN" altLang="en-US" sz="2000" dirty="0">
                <a:solidFill>
                  <a:schemeClr val="tx1"/>
                </a:solidFill>
              </a:rPr>
              <a:t>所包含的全部权限</a:t>
            </a:r>
          </a:p>
          <a:p>
            <a:pPr marL="269875" algn="just">
              <a:lnSpc>
                <a:spcPct val="150000"/>
              </a:lnSpc>
            </a:pPr>
            <a:r>
              <a:rPr lang="zh-CN" altLang="en-US" sz="2000" dirty="0">
                <a:solidFill>
                  <a:schemeClr val="tx1"/>
                </a:solidFill>
              </a:rPr>
              <a:t>    	 </a:t>
            </a:r>
            <a:r>
              <a:rPr lang="en-US" altLang="zh-CN" sz="2000" dirty="0">
                <a:solidFill>
                  <a:schemeClr val="tx1"/>
                </a:solidFill>
              </a:rPr>
              <a:t>GRANT  R1 </a:t>
            </a:r>
          </a:p>
          <a:p>
            <a:pPr marL="269875" algn="just">
              <a:lnSpc>
                <a:spcPct val="150000"/>
              </a:lnSpc>
            </a:pPr>
            <a:r>
              <a:rPr lang="en-US" altLang="zh-CN" sz="2000" dirty="0">
                <a:solidFill>
                  <a:schemeClr val="tx1"/>
                </a:solidFill>
              </a:rPr>
              <a:t>    	 TO </a:t>
            </a:r>
            <a:r>
              <a:rPr lang="zh-CN" altLang="en-US" sz="2000" dirty="0">
                <a:solidFill>
                  <a:schemeClr val="tx1"/>
                </a:solidFill>
              </a:rPr>
              <a:t>王平</a:t>
            </a:r>
            <a:r>
              <a:rPr lang="en-US" altLang="zh-CN" sz="2000" dirty="0">
                <a:solidFill>
                  <a:schemeClr val="tx1"/>
                </a:solidFill>
              </a:rPr>
              <a:t>,</a:t>
            </a:r>
            <a:r>
              <a:rPr lang="zh-CN" altLang="en-US" sz="2000" dirty="0">
                <a:solidFill>
                  <a:schemeClr val="tx1"/>
                </a:solidFill>
              </a:rPr>
              <a:t>张明</a:t>
            </a:r>
            <a:r>
              <a:rPr lang="en-US" altLang="zh-CN" sz="2000" dirty="0">
                <a:solidFill>
                  <a:schemeClr val="tx1"/>
                </a:solidFill>
              </a:rPr>
              <a:t>,</a:t>
            </a:r>
            <a:r>
              <a:rPr lang="zh-CN" altLang="en-US" sz="2000" dirty="0">
                <a:solidFill>
                  <a:schemeClr val="tx1"/>
                </a:solidFill>
              </a:rPr>
              <a:t>赵玲</a:t>
            </a:r>
            <a:r>
              <a:rPr lang="en-US" altLang="zh-CN" sz="2000" dirty="0">
                <a:solidFill>
                  <a:schemeClr val="tx1"/>
                </a:solidFill>
              </a:rPr>
              <a:t>;</a:t>
            </a:r>
          </a:p>
          <a:p>
            <a:pPr marL="269875" algn="just">
              <a:lnSpc>
                <a:spcPct val="150000"/>
              </a:lnSpc>
            </a:pPr>
            <a:r>
              <a:rPr lang="zh-CN" altLang="en-US" sz="2000" dirty="0">
                <a:solidFill>
                  <a:schemeClr val="tx1"/>
                </a:solidFill>
              </a:rPr>
              <a:t>（</a:t>
            </a:r>
            <a:r>
              <a:rPr lang="en-US" altLang="zh-CN" sz="2000" dirty="0">
                <a:solidFill>
                  <a:schemeClr val="tx1"/>
                </a:solidFill>
              </a:rPr>
              <a:t>4</a:t>
            </a:r>
            <a:r>
              <a:rPr lang="zh-CN" altLang="en-US" sz="2000" dirty="0">
                <a:solidFill>
                  <a:schemeClr val="tx1"/>
                </a:solidFill>
              </a:rPr>
              <a:t>）一次性通过</a:t>
            </a:r>
            <a:r>
              <a:rPr lang="en-US" altLang="zh-CN" sz="2000" dirty="0">
                <a:solidFill>
                  <a:schemeClr val="tx1"/>
                </a:solidFill>
              </a:rPr>
              <a:t>R1</a:t>
            </a:r>
            <a:r>
              <a:rPr lang="zh-CN" altLang="en-US" sz="2000" dirty="0">
                <a:solidFill>
                  <a:schemeClr val="tx1"/>
                </a:solidFill>
              </a:rPr>
              <a:t>来回收王平的这三个权限</a:t>
            </a:r>
          </a:p>
          <a:p>
            <a:pPr marL="269875" algn="just">
              <a:lnSpc>
                <a:spcPct val="150000"/>
              </a:lnSpc>
            </a:pPr>
            <a:r>
              <a:rPr lang="zh-CN" altLang="en-US" sz="2000" dirty="0">
                <a:solidFill>
                  <a:schemeClr val="tx1"/>
                </a:solidFill>
              </a:rPr>
              <a:t>     	  </a:t>
            </a:r>
            <a:r>
              <a:rPr lang="en-US" altLang="zh-CN" sz="2000" dirty="0">
                <a:solidFill>
                  <a:schemeClr val="tx1"/>
                </a:solidFill>
              </a:rPr>
              <a:t>REVOKE  R1 </a:t>
            </a:r>
          </a:p>
          <a:p>
            <a:pPr marL="269875" algn="just">
              <a:lnSpc>
                <a:spcPct val="150000"/>
              </a:lnSpc>
            </a:pPr>
            <a:r>
              <a:rPr lang="en-US" altLang="zh-CN" sz="2000" dirty="0">
                <a:solidFill>
                  <a:schemeClr val="tx1"/>
                </a:solidFill>
              </a:rPr>
              <a:t>     	  FROM </a:t>
            </a:r>
            <a:r>
              <a:rPr lang="zh-CN" altLang="en-US" sz="2000" dirty="0">
                <a:solidFill>
                  <a:schemeClr val="tx1"/>
                </a:solidFill>
              </a:rPr>
              <a:t>王平</a:t>
            </a:r>
            <a:r>
              <a:rPr lang="en-US" altLang="zh-CN" sz="2000" dirty="0">
                <a:solidFill>
                  <a:schemeClr val="tx1"/>
                </a:solidFill>
              </a:rPr>
              <a:t>;</a:t>
            </a:r>
          </a:p>
        </p:txBody>
      </p:sp>
    </p:spTree>
    <p:extLst>
      <p:ext uri="{BB962C8B-B14F-4D97-AF65-F5344CB8AC3E}">
        <p14:creationId xmlns:p14="http://schemas.microsoft.com/office/powerpoint/2010/main" val="204230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500"/>
                                        <p:tgtEl>
                                          <p:spTgt spid="5">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fade">
                                      <p:cBhvr>
                                        <p:cTn id="20" dur="500"/>
                                        <p:tgtEl>
                                          <p:spTgt spid="5">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500"/>
                                        <p:tgtEl>
                                          <p:spTgt spid="5">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fade">
                                      <p:cBhvr>
                                        <p:cTn id="28"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0EDB-B904-A83D-D90D-0A6185D2E340}"/>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977E2A9-35C6-0626-449C-8D765C5CB00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E7E14060-2427-76E8-C7F7-E45CB93C1507}"/>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数据库角色</a:t>
            </a:r>
          </a:p>
        </p:txBody>
      </p:sp>
      <p:sp>
        <p:nvSpPr>
          <p:cNvPr id="5" name="矩形 4">
            <a:extLst>
              <a:ext uri="{FF2B5EF4-FFF2-40B4-BE49-F238E27FC236}">
                <a16:creationId xmlns:a16="http://schemas.microsoft.com/office/drawing/2014/main" id="{0BF2F24B-9401-BCF2-9040-E34587DB148F}"/>
              </a:ext>
            </a:extLst>
          </p:cNvPr>
          <p:cNvSpPr/>
          <p:nvPr/>
        </p:nvSpPr>
        <p:spPr>
          <a:xfrm>
            <a:off x="508608" y="1829594"/>
            <a:ext cx="11286490" cy="2286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例：给角色增加新的权限</a:t>
            </a:r>
          </a:p>
          <a:p>
            <a:pPr marL="269875" algn="just">
              <a:lnSpc>
                <a:spcPct val="150000"/>
              </a:lnSpc>
            </a:pPr>
            <a:r>
              <a:rPr lang="zh-CN" altLang="en-US" sz="2000" dirty="0">
                <a:solidFill>
                  <a:schemeClr val="tx1"/>
                </a:solidFill>
              </a:rPr>
              <a:t>        </a:t>
            </a:r>
            <a:r>
              <a:rPr lang="en-US" altLang="zh-CN" sz="2000" dirty="0">
                <a:solidFill>
                  <a:schemeClr val="tx1"/>
                </a:solidFill>
              </a:rPr>
              <a:t>GRANT DELETE </a:t>
            </a:r>
          </a:p>
          <a:p>
            <a:pPr marL="269875" algn="just">
              <a:lnSpc>
                <a:spcPct val="150000"/>
              </a:lnSpc>
            </a:pPr>
            <a:r>
              <a:rPr lang="en-US" altLang="zh-CN" sz="2000" dirty="0">
                <a:solidFill>
                  <a:schemeClr val="tx1"/>
                </a:solidFill>
              </a:rPr>
              <a:t>        ON TABLE Student</a:t>
            </a:r>
          </a:p>
          <a:p>
            <a:pPr marL="269875" algn="just">
              <a:lnSpc>
                <a:spcPct val="150000"/>
              </a:lnSpc>
            </a:pPr>
            <a:r>
              <a:rPr lang="en-US" altLang="zh-CN" sz="2000" dirty="0">
                <a:solidFill>
                  <a:schemeClr val="tx1"/>
                </a:solidFill>
              </a:rPr>
              <a:t>        TO R1;</a:t>
            </a:r>
          </a:p>
          <a:p>
            <a:pPr marL="803275" indent="-358775" algn="just">
              <a:lnSpc>
                <a:spcPct val="150000"/>
              </a:lnSpc>
              <a:buFont typeface="Wingdings" panose="05000000000000000000" pitchFamily="2" charset="2"/>
              <a:buChar char="Ø"/>
            </a:pPr>
            <a:r>
              <a:rPr lang="zh-CN" altLang="en-US" sz="2000" dirty="0">
                <a:solidFill>
                  <a:schemeClr val="tx1"/>
                </a:solidFill>
              </a:rPr>
              <a:t>使角色</a:t>
            </a:r>
            <a:r>
              <a:rPr lang="en-US" altLang="zh-CN" sz="2000" dirty="0">
                <a:solidFill>
                  <a:schemeClr val="tx1"/>
                </a:solidFill>
              </a:rPr>
              <a:t>R1</a:t>
            </a:r>
            <a:r>
              <a:rPr lang="zh-CN" altLang="en-US" sz="2000" dirty="0">
                <a:solidFill>
                  <a:schemeClr val="tx1"/>
                </a:solidFill>
              </a:rPr>
              <a:t>增加了</a:t>
            </a:r>
            <a:r>
              <a:rPr lang="en-US" altLang="zh-CN" sz="2000" dirty="0">
                <a:solidFill>
                  <a:schemeClr val="tx1"/>
                </a:solidFill>
              </a:rPr>
              <a:t>Student</a:t>
            </a:r>
            <a:r>
              <a:rPr lang="zh-CN" altLang="en-US" sz="2000" dirty="0">
                <a:solidFill>
                  <a:schemeClr val="tx1"/>
                </a:solidFill>
              </a:rPr>
              <a:t>表的</a:t>
            </a:r>
            <a:r>
              <a:rPr lang="en-US" altLang="zh-CN" sz="2000" dirty="0">
                <a:solidFill>
                  <a:schemeClr val="tx1"/>
                </a:solidFill>
              </a:rPr>
              <a:t>DELETE </a:t>
            </a:r>
            <a:r>
              <a:rPr lang="zh-CN" altLang="en-US" sz="2000" dirty="0">
                <a:solidFill>
                  <a:schemeClr val="tx1"/>
                </a:solidFill>
              </a:rPr>
              <a:t>权限</a:t>
            </a:r>
            <a:r>
              <a:rPr lang="en-US" altLang="zh-CN" sz="2000" dirty="0">
                <a:solidFill>
                  <a:schemeClr val="tx1"/>
                </a:solidFill>
              </a:rPr>
              <a:t>;</a:t>
            </a:r>
          </a:p>
        </p:txBody>
      </p:sp>
      <p:sp>
        <p:nvSpPr>
          <p:cNvPr id="2" name="矩形 1">
            <a:extLst>
              <a:ext uri="{FF2B5EF4-FFF2-40B4-BE49-F238E27FC236}">
                <a16:creationId xmlns:a16="http://schemas.microsoft.com/office/drawing/2014/main" id="{EA163F8A-6516-802F-A445-3C4C59C946A3}"/>
              </a:ext>
            </a:extLst>
          </p:cNvPr>
          <p:cNvSpPr/>
          <p:nvPr/>
        </p:nvSpPr>
        <p:spPr>
          <a:xfrm>
            <a:off x="465455" y="4307762"/>
            <a:ext cx="11286490" cy="2286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例：减少角色的权限　</a:t>
            </a:r>
          </a:p>
          <a:p>
            <a:pPr marL="898525" indent="-95250" algn="just">
              <a:lnSpc>
                <a:spcPct val="150000"/>
              </a:lnSpc>
            </a:pPr>
            <a:r>
              <a:rPr lang="en-US" altLang="zh-CN" sz="2000" dirty="0">
                <a:solidFill>
                  <a:schemeClr val="tx1"/>
                </a:solidFill>
              </a:rPr>
              <a:t>REVOKE SELECT </a:t>
            </a:r>
          </a:p>
          <a:p>
            <a:pPr marL="898525" indent="-95250" algn="just">
              <a:lnSpc>
                <a:spcPct val="150000"/>
              </a:lnSpc>
            </a:pPr>
            <a:r>
              <a:rPr lang="en-US" altLang="zh-CN" sz="2000" dirty="0">
                <a:solidFill>
                  <a:schemeClr val="tx1"/>
                </a:solidFill>
              </a:rPr>
              <a:t>ON TABLE Student</a:t>
            </a:r>
          </a:p>
          <a:p>
            <a:pPr marL="898525" indent="-95250" algn="just">
              <a:lnSpc>
                <a:spcPct val="150000"/>
              </a:lnSpc>
            </a:pPr>
            <a:r>
              <a:rPr lang="en-US" altLang="zh-CN" sz="2000" dirty="0">
                <a:solidFill>
                  <a:schemeClr val="tx1"/>
                </a:solidFill>
              </a:rPr>
              <a:t>FROM  R1</a:t>
            </a:r>
            <a:r>
              <a:rPr lang="zh-CN" altLang="en-US" sz="2000" dirty="0">
                <a:solidFill>
                  <a:schemeClr val="tx1"/>
                </a:solidFill>
              </a:rPr>
              <a:t>；</a:t>
            </a:r>
          </a:p>
          <a:p>
            <a:pPr marL="803275" indent="-358775" algn="just">
              <a:lnSpc>
                <a:spcPct val="150000"/>
              </a:lnSpc>
              <a:buFont typeface="Wingdings" panose="05000000000000000000" pitchFamily="2" charset="2"/>
              <a:buChar char="Ø"/>
            </a:pPr>
            <a:r>
              <a:rPr lang="zh-CN" altLang="en-US" sz="2000" dirty="0">
                <a:solidFill>
                  <a:schemeClr val="tx1"/>
                </a:solidFill>
              </a:rPr>
              <a:t>使</a:t>
            </a:r>
            <a:r>
              <a:rPr lang="en-US" altLang="zh-CN" sz="2000" dirty="0">
                <a:solidFill>
                  <a:schemeClr val="tx1"/>
                </a:solidFill>
              </a:rPr>
              <a:t>R1</a:t>
            </a:r>
            <a:r>
              <a:rPr lang="zh-CN" altLang="en-US" sz="2000" dirty="0">
                <a:solidFill>
                  <a:schemeClr val="tx1"/>
                </a:solidFill>
              </a:rPr>
              <a:t>减少了</a:t>
            </a:r>
            <a:r>
              <a:rPr lang="en-US" altLang="zh-CN" sz="2000" dirty="0">
                <a:solidFill>
                  <a:schemeClr val="tx1"/>
                </a:solidFill>
              </a:rPr>
              <a:t>SELECT</a:t>
            </a:r>
            <a:r>
              <a:rPr lang="zh-CN" altLang="en-US" sz="2000" dirty="0">
                <a:solidFill>
                  <a:schemeClr val="tx1"/>
                </a:solidFill>
              </a:rPr>
              <a:t>权限</a:t>
            </a:r>
          </a:p>
        </p:txBody>
      </p:sp>
    </p:spTree>
    <p:extLst>
      <p:ext uri="{BB962C8B-B14F-4D97-AF65-F5344CB8AC3E}">
        <p14:creationId xmlns:p14="http://schemas.microsoft.com/office/powerpoint/2010/main" val="2053798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750"/>
                            </p:stCondLst>
                            <p:childTnLst>
                              <p:par>
                                <p:cTn id="9" presetID="10" presetClass="entr" presetSubtype="0" fill="hold" nodeType="afterEffect">
                                  <p:stCondLst>
                                    <p:cond delay="25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par>
                          <p:cTn id="12" fill="hold">
                            <p:stCondLst>
                              <p:cond delay="1500"/>
                            </p:stCondLst>
                            <p:childTnLst>
                              <p:par>
                                <p:cTn id="13" presetID="10" presetClass="entr" presetSubtype="0" fill="hold" nodeType="afterEffect">
                                  <p:stCondLst>
                                    <p:cond delay="25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par>
                          <p:cTn id="16" fill="hold">
                            <p:stCondLst>
                              <p:cond delay="2250"/>
                            </p:stCondLst>
                            <p:childTnLst>
                              <p:par>
                                <p:cTn id="17" presetID="10" presetClass="entr" presetSubtype="0" fill="hold" nodeType="afterEffect">
                                  <p:stCondLst>
                                    <p:cond delay="25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500"/>
                                        <p:tgtEl>
                                          <p:spTgt spid="5">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animEffect transition="in" filter="fade">
                                      <p:cBhvr>
                                        <p:cTn id="29" dur="500"/>
                                        <p:tgtEl>
                                          <p:spTgt spid="2">
                                            <p:txEl>
                                              <p:pRg st="0" end="0"/>
                                            </p:txEl>
                                          </p:spTgt>
                                        </p:tgtEl>
                                      </p:cBhvr>
                                    </p:animEffect>
                                  </p:childTnLst>
                                </p:cTn>
                              </p:par>
                            </p:childTnLst>
                          </p:cTn>
                        </p:par>
                        <p:par>
                          <p:cTn id="30" fill="hold">
                            <p:stCondLst>
                              <p:cond delay="500"/>
                            </p:stCondLst>
                            <p:childTnLst>
                              <p:par>
                                <p:cTn id="31" presetID="10" presetClass="entr" presetSubtype="0" fill="hold" nodeType="afterEffect">
                                  <p:stCondLst>
                                    <p:cond delay="250"/>
                                  </p:stCondLst>
                                  <p:childTnLst>
                                    <p:set>
                                      <p:cBhvr>
                                        <p:cTn id="32" dur="1" fill="hold">
                                          <p:stCondLst>
                                            <p:cond delay="0"/>
                                          </p:stCondLst>
                                        </p:cTn>
                                        <p:tgtEl>
                                          <p:spTgt spid="2">
                                            <p:txEl>
                                              <p:pRg st="1" end="1"/>
                                            </p:txEl>
                                          </p:spTgt>
                                        </p:tgtEl>
                                        <p:attrNameLst>
                                          <p:attrName>style.visibility</p:attrName>
                                        </p:attrNameLst>
                                      </p:cBhvr>
                                      <p:to>
                                        <p:strVal val="visible"/>
                                      </p:to>
                                    </p:set>
                                    <p:animEffect transition="in" filter="fade">
                                      <p:cBhvr>
                                        <p:cTn id="33" dur="500"/>
                                        <p:tgtEl>
                                          <p:spTgt spid="2">
                                            <p:txEl>
                                              <p:pRg st="1" end="1"/>
                                            </p:txEl>
                                          </p:spTgt>
                                        </p:tgtEl>
                                      </p:cBhvr>
                                    </p:animEffect>
                                  </p:childTnLst>
                                </p:cTn>
                              </p:par>
                            </p:childTnLst>
                          </p:cTn>
                        </p:par>
                        <p:par>
                          <p:cTn id="34" fill="hold">
                            <p:stCondLst>
                              <p:cond delay="1250"/>
                            </p:stCondLst>
                            <p:childTnLst>
                              <p:par>
                                <p:cTn id="35" presetID="10" presetClass="entr" presetSubtype="0" fill="hold" nodeType="afterEffect">
                                  <p:stCondLst>
                                    <p:cond delay="25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fade">
                                      <p:cBhvr>
                                        <p:cTn id="37" dur="500"/>
                                        <p:tgtEl>
                                          <p:spTgt spid="2">
                                            <p:txEl>
                                              <p:pRg st="2" end="2"/>
                                            </p:txEl>
                                          </p:spTgt>
                                        </p:tgtEl>
                                      </p:cBhvr>
                                    </p:animEffect>
                                  </p:childTnLst>
                                </p:cTn>
                              </p:par>
                            </p:childTnLst>
                          </p:cTn>
                        </p:par>
                        <p:par>
                          <p:cTn id="38" fill="hold">
                            <p:stCondLst>
                              <p:cond delay="2000"/>
                            </p:stCondLst>
                            <p:childTnLst>
                              <p:par>
                                <p:cTn id="39" presetID="10" presetClass="entr" presetSubtype="0" fill="hold" nodeType="afterEffect">
                                  <p:stCondLst>
                                    <p:cond delay="250"/>
                                  </p:stCondLst>
                                  <p:childTnLst>
                                    <p:set>
                                      <p:cBhvr>
                                        <p:cTn id="40" dur="1" fill="hold">
                                          <p:stCondLst>
                                            <p:cond delay="0"/>
                                          </p:stCondLst>
                                        </p:cTn>
                                        <p:tgtEl>
                                          <p:spTgt spid="2">
                                            <p:txEl>
                                              <p:pRg st="3" end="3"/>
                                            </p:txEl>
                                          </p:spTgt>
                                        </p:tgtEl>
                                        <p:attrNameLst>
                                          <p:attrName>style.visibility</p:attrName>
                                        </p:attrNameLst>
                                      </p:cBhvr>
                                      <p:to>
                                        <p:strVal val="visible"/>
                                      </p:to>
                                    </p:set>
                                    <p:animEffect transition="in" filter="fade">
                                      <p:cBhvr>
                                        <p:cTn id="41" dur="500"/>
                                        <p:tgtEl>
                                          <p:spTgt spid="2">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
                                            <p:txEl>
                                              <p:pRg st="4" end="4"/>
                                            </p:txEl>
                                          </p:spTgt>
                                        </p:tgtEl>
                                        <p:attrNameLst>
                                          <p:attrName>style.visibility</p:attrName>
                                        </p:attrNameLst>
                                      </p:cBhvr>
                                      <p:to>
                                        <p:strVal val="visible"/>
                                      </p:to>
                                    </p:set>
                                    <p:animEffect transition="in" filter="fade">
                                      <p:cBhvr>
                                        <p:cTn id="4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578CE-A02E-7489-087F-0F5E3D1658E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E7F06F45-0E75-D8FB-58E7-CBC68076076F}"/>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5F84D05-F761-0C0F-B313-B04F231FFCFB}"/>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自主存取控制缺点</a:t>
            </a:r>
          </a:p>
        </p:txBody>
      </p:sp>
      <p:sp>
        <p:nvSpPr>
          <p:cNvPr id="5" name="矩形 4">
            <a:extLst>
              <a:ext uri="{FF2B5EF4-FFF2-40B4-BE49-F238E27FC236}">
                <a16:creationId xmlns:a16="http://schemas.microsoft.com/office/drawing/2014/main" id="{172B1195-A426-6C7D-6B45-8CCF6AE5715B}"/>
              </a:ext>
            </a:extLst>
          </p:cNvPr>
          <p:cNvSpPr/>
          <p:nvPr/>
        </p:nvSpPr>
        <p:spPr>
          <a:xfrm>
            <a:off x="508608" y="1829594"/>
            <a:ext cx="11286490" cy="1600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可能存在数据的“无意泄露”</a:t>
            </a:r>
          </a:p>
          <a:p>
            <a:pPr marL="898525" indent="-357188" algn="just">
              <a:lnSpc>
                <a:spcPct val="150000"/>
              </a:lnSpc>
              <a:buFont typeface="Wingdings" panose="05000000000000000000" pitchFamily="2" charset="2"/>
              <a:buChar char="Ø"/>
            </a:pPr>
            <a:r>
              <a:rPr lang="zh-CN" altLang="en-US" sz="2000" dirty="0">
                <a:solidFill>
                  <a:schemeClr val="tx1"/>
                </a:solidFill>
              </a:rPr>
              <a:t>原因：这种机制仅仅通过对数据的存取权限来进行安全控制，而数据本身并无安全性标记</a:t>
            </a:r>
          </a:p>
          <a:p>
            <a:pPr marL="898525" indent="-357188" algn="just">
              <a:lnSpc>
                <a:spcPct val="150000"/>
              </a:lnSpc>
              <a:buFont typeface="Wingdings" panose="05000000000000000000" pitchFamily="2" charset="2"/>
              <a:buChar char="Ø"/>
            </a:pPr>
            <a:r>
              <a:rPr lang="zh-CN" altLang="en-US" sz="2000" dirty="0">
                <a:solidFill>
                  <a:schemeClr val="tx1"/>
                </a:solidFill>
              </a:rPr>
              <a:t>解决：对系统控制下的所有主客体实施强制存取控制策略</a:t>
            </a:r>
          </a:p>
        </p:txBody>
      </p:sp>
    </p:spTree>
    <p:extLst>
      <p:ext uri="{BB962C8B-B14F-4D97-AF65-F5344CB8AC3E}">
        <p14:creationId xmlns:p14="http://schemas.microsoft.com/office/powerpoint/2010/main" val="93995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F3891-DBC6-08F0-B23F-BFF7E7802C82}"/>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8E8E3E7-BA85-AFDB-329F-2952808D037B}"/>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A5F886CC-274E-C9B8-1CCE-BF74C31F187B}"/>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强制存取控制方法</a:t>
            </a:r>
          </a:p>
        </p:txBody>
      </p:sp>
      <p:sp>
        <p:nvSpPr>
          <p:cNvPr id="5" name="矩形 4">
            <a:extLst>
              <a:ext uri="{FF2B5EF4-FFF2-40B4-BE49-F238E27FC236}">
                <a16:creationId xmlns:a16="http://schemas.microsoft.com/office/drawing/2014/main" id="{CE603F1F-6732-3C93-A04E-4D7A123172A3}"/>
              </a:ext>
            </a:extLst>
          </p:cNvPr>
          <p:cNvSpPr/>
          <p:nvPr/>
        </p:nvSpPr>
        <p:spPr>
          <a:xfrm>
            <a:off x="508608" y="1829594"/>
            <a:ext cx="11286490" cy="28194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强制存取控制（</a:t>
            </a:r>
            <a:r>
              <a:rPr lang="en-US" altLang="zh-CN" sz="2000" dirty="0">
                <a:solidFill>
                  <a:schemeClr val="tx1"/>
                </a:solidFill>
              </a:rPr>
              <a:t>MAC</a:t>
            </a:r>
            <a:r>
              <a:rPr lang="zh-CN" altLang="en-US" sz="2000" dirty="0">
                <a:solidFill>
                  <a:schemeClr val="tx1"/>
                </a:solidFill>
              </a:rPr>
              <a:t>）</a:t>
            </a:r>
          </a:p>
          <a:p>
            <a:pPr marL="985838" indent="-357188" algn="just">
              <a:lnSpc>
                <a:spcPct val="150000"/>
              </a:lnSpc>
              <a:buFont typeface="Wingdings" panose="05000000000000000000" pitchFamily="2" charset="2"/>
              <a:buChar char="Ø"/>
            </a:pPr>
            <a:r>
              <a:rPr lang="zh-CN" altLang="en-US" sz="2000" dirty="0">
                <a:solidFill>
                  <a:schemeClr val="tx1"/>
                </a:solidFill>
              </a:rPr>
              <a:t>保证更高程度的安全性</a:t>
            </a:r>
          </a:p>
          <a:p>
            <a:pPr marL="985838" indent="-357188" algn="just">
              <a:lnSpc>
                <a:spcPct val="150000"/>
              </a:lnSpc>
              <a:buFont typeface="Wingdings" panose="05000000000000000000" pitchFamily="2" charset="2"/>
              <a:buChar char="Ø"/>
            </a:pPr>
            <a:r>
              <a:rPr lang="zh-CN" altLang="en-US" sz="2000" dirty="0">
                <a:solidFill>
                  <a:schemeClr val="tx1"/>
                </a:solidFill>
              </a:rPr>
              <a:t>用户不能直接感知或进行控制</a:t>
            </a:r>
          </a:p>
          <a:p>
            <a:pPr marL="985838" indent="-357188" algn="just">
              <a:lnSpc>
                <a:spcPct val="150000"/>
              </a:lnSpc>
              <a:buFont typeface="Wingdings" panose="05000000000000000000" pitchFamily="2" charset="2"/>
              <a:buChar char="Ø"/>
            </a:pPr>
            <a:r>
              <a:rPr lang="zh-CN" altLang="en-US" sz="2000" dirty="0">
                <a:solidFill>
                  <a:schemeClr val="tx1"/>
                </a:solidFill>
              </a:rPr>
              <a:t>适用于对数据有严格而固定密级分类的部门</a:t>
            </a:r>
          </a:p>
          <a:p>
            <a:pPr marL="1255713" indent="-269875" algn="just">
              <a:lnSpc>
                <a:spcPct val="150000"/>
              </a:lnSpc>
              <a:buFont typeface="Arial" panose="020B0604020202020204" pitchFamily="34" charset="0"/>
              <a:buChar char="•"/>
            </a:pPr>
            <a:r>
              <a:rPr lang="zh-CN" altLang="en-US" sz="2000" dirty="0">
                <a:solidFill>
                  <a:schemeClr val="tx1"/>
                </a:solidFill>
              </a:rPr>
              <a:t>军事部门</a:t>
            </a:r>
          </a:p>
          <a:p>
            <a:pPr marL="1255713" indent="-269875" algn="just">
              <a:lnSpc>
                <a:spcPct val="150000"/>
              </a:lnSpc>
              <a:buFont typeface="Arial" panose="020B0604020202020204" pitchFamily="34" charset="0"/>
              <a:buChar char="•"/>
            </a:pPr>
            <a:r>
              <a:rPr lang="zh-CN" altLang="en-US" sz="2000" dirty="0">
                <a:solidFill>
                  <a:schemeClr val="tx1"/>
                </a:solidFill>
              </a:rPr>
              <a:t>政府部门</a:t>
            </a:r>
          </a:p>
        </p:txBody>
      </p:sp>
    </p:spTree>
    <p:extLst>
      <p:ext uri="{BB962C8B-B14F-4D97-AF65-F5344CB8AC3E}">
        <p14:creationId xmlns:p14="http://schemas.microsoft.com/office/powerpoint/2010/main" val="384708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par>
                          <p:cTn id="28" fill="hold">
                            <p:stCondLst>
                              <p:cond delay="500"/>
                            </p:stCondLst>
                            <p:childTnLst>
                              <p:par>
                                <p:cTn id="29" presetID="10" presetClass="entr" presetSubtype="0" fill="hold" nodeType="afterEffect">
                                  <p:stCondLst>
                                    <p:cond delay="25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58E8A-652D-FF53-43A2-DB176CC5B39B}"/>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10EA44A-879F-189D-2316-28D3FE3A2A13}"/>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62299C6-C748-E83B-61F3-B1785479DF47}"/>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强制存取控制方法</a:t>
            </a:r>
          </a:p>
        </p:txBody>
      </p:sp>
      <p:sp>
        <p:nvSpPr>
          <p:cNvPr id="5" name="矩形 4">
            <a:extLst>
              <a:ext uri="{FF2B5EF4-FFF2-40B4-BE49-F238E27FC236}">
                <a16:creationId xmlns:a16="http://schemas.microsoft.com/office/drawing/2014/main" id="{0A265C55-F7C1-5A6F-1FDD-9D10349DA170}"/>
              </a:ext>
            </a:extLst>
          </p:cNvPr>
          <p:cNvSpPr/>
          <p:nvPr/>
        </p:nvSpPr>
        <p:spPr>
          <a:xfrm>
            <a:off x="508608" y="1829594"/>
            <a:ext cx="11286490" cy="2895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在</a:t>
            </a:r>
            <a:r>
              <a:rPr lang="en-US" altLang="zh-CN" sz="2000" dirty="0">
                <a:solidFill>
                  <a:schemeClr val="tx1"/>
                </a:solidFill>
              </a:rPr>
              <a:t>MAC</a:t>
            </a:r>
            <a:r>
              <a:rPr lang="zh-CN" altLang="en-US" sz="2000" dirty="0">
                <a:solidFill>
                  <a:schemeClr val="tx1"/>
                </a:solidFill>
              </a:rPr>
              <a:t>中，数据库管理系统所管理的全部实体分为主体和客体两大类</a:t>
            </a:r>
          </a:p>
          <a:p>
            <a:pPr marL="898525" indent="-269875" algn="just">
              <a:lnSpc>
                <a:spcPct val="150000"/>
              </a:lnSpc>
              <a:buFont typeface="Wingdings" panose="05000000000000000000" pitchFamily="2" charset="2"/>
              <a:buChar char="Ø"/>
            </a:pPr>
            <a:r>
              <a:rPr lang="zh-CN" altLang="en-US" sz="2000" dirty="0">
                <a:solidFill>
                  <a:srgbClr val="FF0000"/>
                </a:solidFill>
              </a:rPr>
              <a:t>主体</a:t>
            </a:r>
            <a:r>
              <a:rPr lang="zh-CN" altLang="en-US" sz="2000" dirty="0">
                <a:solidFill>
                  <a:schemeClr val="tx1"/>
                </a:solidFill>
              </a:rPr>
              <a:t>是系统中的活动实体</a:t>
            </a:r>
          </a:p>
          <a:p>
            <a:pPr marL="1168400" indent="-269875" algn="just">
              <a:lnSpc>
                <a:spcPct val="150000"/>
              </a:lnSpc>
              <a:buFont typeface="Arial" panose="020B0604020202020204" pitchFamily="34" charset="0"/>
              <a:buChar char="•"/>
            </a:pPr>
            <a:r>
              <a:rPr lang="zh-CN" altLang="en-US" sz="2000" dirty="0">
                <a:solidFill>
                  <a:schemeClr val="tx1"/>
                </a:solidFill>
              </a:rPr>
              <a:t>数据库管理系统所管理的实际用户</a:t>
            </a:r>
          </a:p>
          <a:p>
            <a:pPr marL="1168400" indent="-269875" algn="just">
              <a:lnSpc>
                <a:spcPct val="150000"/>
              </a:lnSpc>
              <a:buFont typeface="Arial" panose="020B0604020202020204" pitchFamily="34" charset="0"/>
              <a:buChar char="•"/>
            </a:pPr>
            <a:r>
              <a:rPr lang="zh-CN" altLang="en-US" sz="2000" dirty="0">
                <a:solidFill>
                  <a:schemeClr val="tx1"/>
                </a:solidFill>
              </a:rPr>
              <a:t>代表用户的各进程</a:t>
            </a:r>
          </a:p>
          <a:p>
            <a:pPr marL="898525" indent="-269875" algn="just">
              <a:lnSpc>
                <a:spcPct val="150000"/>
              </a:lnSpc>
              <a:buFont typeface="Wingdings" panose="05000000000000000000" pitchFamily="2" charset="2"/>
              <a:buChar char="Ø"/>
            </a:pPr>
            <a:r>
              <a:rPr lang="zh-CN" altLang="en-US" sz="2000" dirty="0">
                <a:solidFill>
                  <a:srgbClr val="FF0000"/>
                </a:solidFill>
              </a:rPr>
              <a:t>客体</a:t>
            </a:r>
            <a:r>
              <a:rPr lang="zh-CN" altLang="en-US" sz="2000" dirty="0">
                <a:solidFill>
                  <a:schemeClr val="tx1"/>
                </a:solidFill>
              </a:rPr>
              <a:t>是系统中的被动实体，受主体操纵</a:t>
            </a:r>
          </a:p>
          <a:p>
            <a:pPr marL="1168400" indent="-269875" algn="just">
              <a:lnSpc>
                <a:spcPct val="150000"/>
              </a:lnSpc>
              <a:buFont typeface="Arial" panose="020B0604020202020204" pitchFamily="34" charset="0"/>
              <a:buChar char="•"/>
            </a:pPr>
            <a:r>
              <a:rPr lang="zh-CN" altLang="en-US" sz="2000" dirty="0">
                <a:solidFill>
                  <a:schemeClr val="tx1"/>
                </a:solidFill>
              </a:rPr>
              <a:t>文件、基本表、索引、视图等</a:t>
            </a:r>
          </a:p>
        </p:txBody>
      </p:sp>
      <p:sp>
        <p:nvSpPr>
          <p:cNvPr id="2" name="对话气泡: 圆角矩形 1">
            <a:extLst>
              <a:ext uri="{FF2B5EF4-FFF2-40B4-BE49-F238E27FC236}">
                <a16:creationId xmlns:a16="http://schemas.microsoft.com/office/drawing/2014/main" id="{F313A356-208E-9DDE-2AB6-6A4DFCC36EFD}"/>
              </a:ext>
            </a:extLst>
          </p:cNvPr>
          <p:cNvSpPr/>
          <p:nvPr/>
        </p:nvSpPr>
        <p:spPr>
          <a:xfrm>
            <a:off x="484491" y="4917362"/>
            <a:ext cx="11229367" cy="457200"/>
          </a:xfrm>
          <a:prstGeom prst="wedgeRoundRectCallout">
            <a:avLst>
              <a:gd name="adj1" fmla="val 638"/>
              <a:gd name="adj2" fmla="val -3141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en-US" altLang="zh-CN" sz="2000" dirty="0"/>
              <a:t>DBMS</a:t>
            </a:r>
            <a:r>
              <a:rPr lang="zh-CN" altLang="en-US" sz="2000" dirty="0"/>
              <a:t>为主体和客体的每个实例（值）指派一个</a:t>
            </a:r>
            <a:r>
              <a:rPr lang="zh-CN" altLang="en-US" sz="2000" dirty="0">
                <a:solidFill>
                  <a:srgbClr val="FF0000"/>
                </a:solidFill>
              </a:rPr>
              <a:t>敏感度标记（</a:t>
            </a:r>
            <a:r>
              <a:rPr lang="en-US" altLang="zh-CN" sz="2000" dirty="0" err="1">
                <a:solidFill>
                  <a:srgbClr val="FF0000"/>
                </a:solidFill>
              </a:rPr>
              <a:t>lable</a:t>
            </a:r>
            <a:r>
              <a:rPr lang="zh-CN" altLang="en-US" sz="2000" dirty="0">
                <a:solidFill>
                  <a:srgbClr val="FF0000"/>
                </a:solidFill>
              </a:rPr>
              <a:t>）</a:t>
            </a:r>
            <a:r>
              <a:rPr lang="zh-CN" altLang="en-US" sz="2000" dirty="0"/>
              <a:t>。</a:t>
            </a:r>
          </a:p>
        </p:txBody>
      </p:sp>
    </p:spTree>
    <p:extLst>
      <p:ext uri="{BB962C8B-B14F-4D97-AF65-F5344CB8AC3E}">
        <p14:creationId xmlns:p14="http://schemas.microsoft.com/office/powerpoint/2010/main" val="314002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25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D3C03-4573-12A2-5B18-75BF26160D7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E3D97E0-19E7-A065-DDFD-D8E368C3CB8B}"/>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15DA5E21-328B-43F2-2CB0-1F4C9CB2C999}"/>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强制存取控制方法</a:t>
            </a:r>
          </a:p>
        </p:txBody>
      </p:sp>
      <p:sp>
        <p:nvSpPr>
          <p:cNvPr id="5" name="矩形 4">
            <a:extLst>
              <a:ext uri="{FF2B5EF4-FFF2-40B4-BE49-F238E27FC236}">
                <a16:creationId xmlns:a16="http://schemas.microsoft.com/office/drawing/2014/main" id="{9213E2E5-F297-C407-854B-36586CCBCD06}"/>
              </a:ext>
            </a:extLst>
          </p:cNvPr>
          <p:cNvSpPr/>
          <p:nvPr/>
        </p:nvSpPr>
        <p:spPr>
          <a:xfrm>
            <a:off x="516559" y="1829594"/>
            <a:ext cx="11286490" cy="384976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rgbClr val="FF0000"/>
                </a:solidFill>
              </a:rPr>
              <a:t>敏感度标记</a:t>
            </a:r>
            <a:r>
              <a:rPr lang="zh-CN" altLang="en-US" sz="2000" dirty="0">
                <a:solidFill>
                  <a:schemeClr val="tx1"/>
                </a:solidFill>
              </a:rPr>
              <a:t>分成若干级别</a:t>
            </a:r>
          </a:p>
          <a:p>
            <a:pPr marL="985838" indent="-357188" algn="just">
              <a:lnSpc>
                <a:spcPct val="150000"/>
              </a:lnSpc>
              <a:buFont typeface="Wingdings" panose="05000000000000000000" pitchFamily="2" charset="2"/>
              <a:buChar char="Ø"/>
            </a:pPr>
            <a:r>
              <a:rPr lang="zh-CN" altLang="en-US" sz="2000" dirty="0">
                <a:solidFill>
                  <a:schemeClr val="tx1"/>
                </a:solidFill>
              </a:rPr>
              <a:t>绝密（</a:t>
            </a:r>
            <a:r>
              <a:rPr lang="en-US" altLang="zh-CN" sz="2000" dirty="0">
                <a:solidFill>
                  <a:schemeClr val="tx1"/>
                </a:solidFill>
              </a:rPr>
              <a:t>top secret</a:t>
            </a:r>
            <a:r>
              <a:rPr lang="zh-CN" altLang="en-US" sz="2000" dirty="0">
                <a:solidFill>
                  <a:schemeClr val="tx1"/>
                </a:solidFill>
              </a:rPr>
              <a:t>，</a:t>
            </a:r>
            <a:r>
              <a:rPr lang="en-US" altLang="zh-CN" sz="2000" dirty="0">
                <a:solidFill>
                  <a:schemeClr val="tx1"/>
                </a:solidFill>
              </a:rPr>
              <a:t>TS</a:t>
            </a:r>
            <a:r>
              <a:rPr lang="zh-CN" altLang="en-US" sz="2000" dirty="0">
                <a:solidFill>
                  <a:schemeClr val="tx1"/>
                </a:solidFill>
              </a:rPr>
              <a:t>）</a:t>
            </a:r>
          </a:p>
          <a:p>
            <a:pPr marL="985838" indent="-357188" algn="just">
              <a:lnSpc>
                <a:spcPct val="150000"/>
              </a:lnSpc>
              <a:buFont typeface="Wingdings" panose="05000000000000000000" pitchFamily="2" charset="2"/>
              <a:buChar char="Ø"/>
            </a:pPr>
            <a:r>
              <a:rPr lang="zh-CN" altLang="en-US" sz="2000" dirty="0">
                <a:solidFill>
                  <a:schemeClr val="tx1"/>
                </a:solidFill>
              </a:rPr>
              <a:t>机密（</a:t>
            </a:r>
            <a:r>
              <a:rPr lang="en-US" altLang="zh-CN" sz="2000" dirty="0">
                <a:solidFill>
                  <a:schemeClr val="tx1"/>
                </a:solidFill>
              </a:rPr>
              <a:t>secret</a:t>
            </a:r>
            <a:r>
              <a:rPr lang="zh-CN" altLang="en-US" sz="2000" dirty="0">
                <a:solidFill>
                  <a:schemeClr val="tx1"/>
                </a:solidFill>
              </a:rPr>
              <a:t>，</a:t>
            </a:r>
            <a:r>
              <a:rPr lang="en-US" altLang="zh-CN" sz="2000" dirty="0">
                <a:solidFill>
                  <a:schemeClr val="tx1"/>
                </a:solidFill>
              </a:rPr>
              <a:t>S</a:t>
            </a:r>
            <a:r>
              <a:rPr lang="zh-CN" altLang="en-US" sz="2000" dirty="0">
                <a:solidFill>
                  <a:schemeClr val="tx1"/>
                </a:solidFill>
              </a:rPr>
              <a:t>）</a:t>
            </a:r>
          </a:p>
          <a:p>
            <a:pPr marL="985838" indent="-357188" algn="just">
              <a:lnSpc>
                <a:spcPct val="150000"/>
              </a:lnSpc>
              <a:buFont typeface="Wingdings" panose="05000000000000000000" pitchFamily="2" charset="2"/>
              <a:buChar char="Ø"/>
            </a:pPr>
            <a:r>
              <a:rPr lang="zh-CN" altLang="en-US" sz="2000" dirty="0">
                <a:solidFill>
                  <a:schemeClr val="tx1"/>
                </a:solidFill>
              </a:rPr>
              <a:t>可信（</a:t>
            </a:r>
            <a:r>
              <a:rPr lang="en-US" altLang="zh-CN" sz="2000" dirty="0">
                <a:solidFill>
                  <a:schemeClr val="tx1"/>
                </a:solidFill>
              </a:rPr>
              <a:t>confidential</a:t>
            </a:r>
            <a:r>
              <a:rPr lang="zh-CN" altLang="en-US" sz="2000" dirty="0">
                <a:solidFill>
                  <a:schemeClr val="tx1"/>
                </a:solidFill>
              </a:rPr>
              <a:t>，</a:t>
            </a:r>
            <a:r>
              <a:rPr lang="en-US" altLang="zh-CN" sz="2000" dirty="0">
                <a:solidFill>
                  <a:schemeClr val="tx1"/>
                </a:solidFill>
              </a:rPr>
              <a:t>C</a:t>
            </a:r>
            <a:r>
              <a:rPr lang="zh-CN" altLang="en-US" sz="2000" dirty="0">
                <a:solidFill>
                  <a:schemeClr val="tx1"/>
                </a:solidFill>
              </a:rPr>
              <a:t>）</a:t>
            </a:r>
          </a:p>
          <a:p>
            <a:pPr marL="985838" indent="-357188" algn="just">
              <a:lnSpc>
                <a:spcPct val="150000"/>
              </a:lnSpc>
              <a:buFont typeface="Wingdings" panose="05000000000000000000" pitchFamily="2" charset="2"/>
              <a:buChar char="Ø"/>
            </a:pPr>
            <a:r>
              <a:rPr lang="zh-CN" altLang="en-US" sz="2000" dirty="0">
                <a:solidFill>
                  <a:schemeClr val="tx1"/>
                </a:solidFill>
              </a:rPr>
              <a:t>公开（</a:t>
            </a:r>
            <a:r>
              <a:rPr lang="en-US" altLang="zh-CN" sz="2000" dirty="0">
                <a:solidFill>
                  <a:schemeClr val="tx1"/>
                </a:solidFill>
              </a:rPr>
              <a:t>public</a:t>
            </a:r>
            <a:r>
              <a:rPr lang="zh-CN" altLang="en-US" sz="2000" dirty="0">
                <a:solidFill>
                  <a:schemeClr val="tx1"/>
                </a:solidFill>
              </a:rPr>
              <a:t>，</a:t>
            </a:r>
            <a:r>
              <a:rPr lang="en-US" altLang="zh-CN" sz="2000" dirty="0">
                <a:solidFill>
                  <a:schemeClr val="tx1"/>
                </a:solidFill>
              </a:rPr>
              <a:t>P</a:t>
            </a:r>
            <a:r>
              <a:rPr lang="zh-CN" altLang="en-US" sz="2000" dirty="0">
                <a:solidFill>
                  <a:schemeClr val="tx1"/>
                </a:solidFill>
              </a:rPr>
              <a:t>）</a:t>
            </a:r>
          </a:p>
          <a:p>
            <a:pPr marL="612775" indent="-342900" algn="just">
              <a:lnSpc>
                <a:spcPct val="150000"/>
              </a:lnSpc>
              <a:buFont typeface="Wingdings" panose="05000000000000000000" pitchFamily="2" charset="2"/>
              <a:buChar char="l"/>
            </a:pPr>
            <a:r>
              <a:rPr lang="en-US" altLang="zh-CN" sz="2000" dirty="0">
                <a:solidFill>
                  <a:schemeClr val="tx1"/>
                </a:solidFill>
              </a:rPr>
              <a:t>TS&gt;=S&gt;=C&gt;=P</a:t>
            </a:r>
          </a:p>
          <a:p>
            <a:pPr marL="612775" indent="-342900" algn="just">
              <a:lnSpc>
                <a:spcPct val="150000"/>
              </a:lnSpc>
              <a:buFont typeface="Wingdings" panose="05000000000000000000" pitchFamily="2" charset="2"/>
              <a:buChar char="l"/>
            </a:pPr>
            <a:r>
              <a:rPr lang="zh-CN" altLang="en-US" sz="2000" dirty="0">
                <a:solidFill>
                  <a:srgbClr val="FF0000"/>
                </a:solidFill>
              </a:rPr>
              <a:t>主体</a:t>
            </a:r>
            <a:r>
              <a:rPr lang="zh-CN" altLang="en-US" sz="2000" dirty="0">
                <a:solidFill>
                  <a:schemeClr val="tx1"/>
                </a:solidFill>
              </a:rPr>
              <a:t>的敏感度标记称为许可证级别</a:t>
            </a:r>
          </a:p>
          <a:p>
            <a:pPr marL="612775" indent="-342900" algn="just">
              <a:lnSpc>
                <a:spcPct val="150000"/>
              </a:lnSpc>
              <a:buFont typeface="Wingdings" panose="05000000000000000000" pitchFamily="2" charset="2"/>
              <a:buChar char="l"/>
            </a:pPr>
            <a:r>
              <a:rPr lang="zh-CN" altLang="en-US" sz="2000" dirty="0">
                <a:solidFill>
                  <a:srgbClr val="FF0000"/>
                </a:solidFill>
              </a:rPr>
              <a:t>客体</a:t>
            </a:r>
            <a:r>
              <a:rPr lang="zh-CN" altLang="en-US" sz="2000" dirty="0">
                <a:solidFill>
                  <a:schemeClr val="tx1"/>
                </a:solidFill>
              </a:rPr>
              <a:t>的敏感度标记称为密级</a:t>
            </a:r>
          </a:p>
        </p:txBody>
      </p:sp>
    </p:spTree>
    <p:extLst>
      <p:ext uri="{BB962C8B-B14F-4D97-AF65-F5344CB8AC3E}">
        <p14:creationId xmlns:p14="http://schemas.microsoft.com/office/powerpoint/2010/main" val="215095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25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par>
                          <p:cTn id="17" fill="hold">
                            <p:stCondLst>
                              <p:cond delay="1250"/>
                            </p:stCondLst>
                            <p:childTnLst>
                              <p:par>
                                <p:cTn id="18" presetID="10" presetClass="entr" presetSubtype="0" fill="hold" nodeType="afterEffect">
                                  <p:stCondLst>
                                    <p:cond delay="25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childTnLst>
                          </p:cTn>
                        </p:par>
                        <p:par>
                          <p:cTn id="21" fill="hold">
                            <p:stCondLst>
                              <p:cond delay="2000"/>
                            </p:stCondLst>
                            <p:childTnLst>
                              <p:par>
                                <p:cTn id="22" presetID="10" presetClass="entr" presetSubtype="0" fill="hold" nodeType="afterEffect">
                                  <p:stCondLst>
                                    <p:cond delay="25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500"/>
                                        <p:tgtEl>
                                          <p:spTgt spid="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500"/>
                                        <p:tgtEl>
                                          <p:spTgt spid="5">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fade">
                                      <p:cBhvr>
                                        <p:cTn id="39"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5BD71-5FF0-5450-49B2-4DFA7ED3E4F5}"/>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404AF59-84DE-0206-1C88-325A13BF1171}"/>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77B339D1-14DD-2BB9-28DB-46BB5E07210F}"/>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强制存取控制方法</a:t>
            </a:r>
          </a:p>
        </p:txBody>
      </p:sp>
      <p:sp>
        <p:nvSpPr>
          <p:cNvPr id="5" name="矩形 4">
            <a:extLst>
              <a:ext uri="{FF2B5EF4-FFF2-40B4-BE49-F238E27FC236}">
                <a16:creationId xmlns:a16="http://schemas.microsoft.com/office/drawing/2014/main" id="{C46670C3-6A5D-06FB-4192-0E9166CA9CEA}"/>
              </a:ext>
            </a:extLst>
          </p:cNvPr>
          <p:cNvSpPr/>
          <p:nvPr/>
        </p:nvSpPr>
        <p:spPr>
          <a:xfrm>
            <a:off x="516559" y="1829594"/>
            <a:ext cx="11286490" cy="1600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强制存取控制规则</a:t>
            </a:r>
          </a:p>
          <a:p>
            <a:pPr marL="269875" indent="358775" algn="just">
              <a:lnSpc>
                <a:spcPct val="150000"/>
              </a:lnSpc>
            </a:pPr>
            <a:r>
              <a:rPr lang="zh-CN" altLang="en-US" sz="2000" dirty="0">
                <a:solidFill>
                  <a:schemeClr val="tx1"/>
                </a:solidFill>
              </a:rPr>
              <a:t>（</a:t>
            </a:r>
            <a:r>
              <a:rPr lang="en-US" altLang="zh-CN" sz="2000" dirty="0">
                <a:solidFill>
                  <a:schemeClr val="tx1"/>
                </a:solidFill>
              </a:rPr>
              <a:t>1</a:t>
            </a:r>
            <a:r>
              <a:rPr lang="zh-CN" altLang="en-US" sz="2000" dirty="0">
                <a:solidFill>
                  <a:schemeClr val="tx1"/>
                </a:solidFill>
              </a:rPr>
              <a:t>）仅当主体的许可证级别大于或等于客体的密级时，该主体才能读取相应的客体</a:t>
            </a:r>
          </a:p>
          <a:p>
            <a:pPr marL="269875" indent="358775" algn="just">
              <a:lnSpc>
                <a:spcPct val="150000"/>
              </a:lnSpc>
            </a:pPr>
            <a:r>
              <a:rPr lang="zh-CN" altLang="en-US" sz="2000" dirty="0">
                <a:solidFill>
                  <a:schemeClr val="tx1"/>
                </a:solidFill>
              </a:rPr>
              <a:t>（</a:t>
            </a:r>
            <a:r>
              <a:rPr lang="en-US" altLang="zh-CN" sz="2000" dirty="0">
                <a:solidFill>
                  <a:schemeClr val="tx1"/>
                </a:solidFill>
              </a:rPr>
              <a:t>2</a:t>
            </a:r>
            <a:r>
              <a:rPr lang="zh-CN" altLang="en-US" sz="2000" dirty="0">
                <a:solidFill>
                  <a:schemeClr val="tx1"/>
                </a:solidFill>
              </a:rPr>
              <a:t>）仅当主体的许可证级别小于或等于客体的密级时，该主体才能写相应的客体</a:t>
            </a:r>
          </a:p>
        </p:txBody>
      </p:sp>
      <p:sp>
        <p:nvSpPr>
          <p:cNvPr id="2" name="对话气泡: 圆角矩形 1">
            <a:extLst>
              <a:ext uri="{FF2B5EF4-FFF2-40B4-BE49-F238E27FC236}">
                <a16:creationId xmlns:a16="http://schemas.microsoft.com/office/drawing/2014/main" id="{1948521E-BD37-D265-F2D7-B5F4A8F0D819}"/>
              </a:ext>
            </a:extLst>
          </p:cNvPr>
          <p:cNvSpPr/>
          <p:nvPr/>
        </p:nvSpPr>
        <p:spPr>
          <a:xfrm>
            <a:off x="516559" y="3621962"/>
            <a:ext cx="11229367" cy="457200"/>
          </a:xfrm>
          <a:prstGeom prst="wedgeRoundRectCallout">
            <a:avLst>
              <a:gd name="adj1" fmla="val 638"/>
              <a:gd name="adj2" fmla="val -31413"/>
              <a:gd name="adj3" fmla="val 16667"/>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zh-CN" altLang="en-US" sz="2000" dirty="0"/>
              <a:t>共同点：均禁止了拥有高许可证级别的主体更新低密级的数据对象，从而防止了敏感数据的泄露。</a:t>
            </a:r>
          </a:p>
        </p:txBody>
      </p:sp>
    </p:spTree>
    <p:extLst>
      <p:ext uri="{BB962C8B-B14F-4D97-AF65-F5344CB8AC3E}">
        <p14:creationId xmlns:p14="http://schemas.microsoft.com/office/powerpoint/2010/main" val="239801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54B91-404D-3113-D7ED-DFE74C22D93A}"/>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2AA99BB-8188-5080-4A83-BF21A8184FD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12F3E731-3C92-1D28-857A-B108034CC692}"/>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强制存取控制方法</a:t>
            </a:r>
          </a:p>
        </p:txBody>
      </p:sp>
      <p:sp>
        <p:nvSpPr>
          <p:cNvPr id="5" name="矩形 4">
            <a:extLst>
              <a:ext uri="{FF2B5EF4-FFF2-40B4-BE49-F238E27FC236}">
                <a16:creationId xmlns:a16="http://schemas.microsoft.com/office/drawing/2014/main" id="{492C016D-0356-E885-05C9-3967672BA684}"/>
              </a:ext>
            </a:extLst>
          </p:cNvPr>
          <p:cNvSpPr/>
          <p:nvPr/>
        </p:nvSpPr>
        <p:spPr>
          <a:xfrm>
            <a:off x="516559" y="1829594"/>
            <a:ext cx="11286490" cy="2590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强制存取控制（</a:t>
            </a:r>
            <a:r>
              <a:rPr lang="en-US" altLang="zh-CN" sz="2000" dirty="0">
                <a:solidFill>
                  <a:schemeClr val="tx1"/>
                </a:solidFill>
              </a:rPr>
              <a:t>MAC</a:t>
            </a:r>
            <a:r>
              <a:rPr lang="zh-CN" altLang="en-US" sz="2000" dirty="0">
                <a:solidFill>
                  <a:schemeClr val="tx1"/>
                </a:solidFill>
              </a:rPr>
              <a:t>）是对数据本身进行密级标记，无论数据如何复制，标记与数据是一个不可分的整体，只有符合密级标记要求的用户才可以操纵数据。</a:t>
            </a:r>
          </a:p>
          <a:p>
            <a:pPr marL="612775" indent="-342900" algn="just">
              <a:lnSpc>
                <a:spcPct val="150000"/>
              </a:lnSpc>
              <a:buFont typeface="Wingdings" panose="05000000000000000000" pitchFamily="2" charset="2"/>
              <a:buChar char="l"/>
            </a:pPr>
            <a:r>
              <a:rPr lang="zh-CN" altLang="en-US" sz="2000" dirty="0">
                <a:solidFill>
                  <a:schemeClr val="tx1"/>
                </a:solidFill>
              </a:rPr>
              <a:t>实现</a:t>
            </a:r>
            <a:r>
              <a:rPr lang="en-US" altLang="zh-CN" sz="2000" dirty="0">
                <a:solidFill>
                  <a:srgbClr val="FF0000"/>
                </a:solidFill>
              </a:rPr>
              <a:t>MAC</a:t>
            </a:r>
            <a:r>
              <a:rPr lang="zh-CN" altLang="en-US" sz="2000" dirty="0">
                <a:solidFill>
                  <a:schemeClr val="tx1"/>
                </a:solidFill>
              </a:rPr>
              <a:t>时要首先实现</a:t>
            </a:r>
            <a:r>
              <a:rPr lang="en-US" altLang="zh-CN" sz="2000" dirty="0">
                <a:solidFill>
                  <a:srgbClr val="FF0000"/>
                </a:solidFill>
              </a:rPr>
              <a:t>DAC</a:t>
            </a:r>
          </a:p>
          <a:p>
            <a:pPr marL="985838" indent="-357188" algn="just">
              <a:lnSpc>
                <a:spcPct val="150000"/>
              </a:lnSpc>
              <a:buFont typeface="Wingdings" panose="05000000000000000000" pitchFamily="2" charset="2"/>
              <a:buChar char="Ø"/>
              <a:tabLst>
                <a:tab pos="985838" algn="l"/>
              </a:tabLst>
            </a:pPr>
            <a:r>
              <a:rPr lang="zh-CN" altLang="en-US" sz="2000" dirty="0">
                <a:solidFill>
                  <a:schemeClr val="tx1"/>
                </a:solidFill>
              </a:rPr>
              <a:t>原因：较高安全性级别提供的安全保护要包含较低级别的所有保护</a:t>
            </a:r>
          </a:p>
          <a:p>
            <a:pPr marL="612775" indent="-342900" algn="just">
              <a:lnSpc>
                <a:spcPct val="150000"/>
              </a:lnSpc>
              <a:buFont typeface="Wingdings" panose="05000000000000000000" pitchFamily="2" charset="2"/>
              <a:buChar char="l"/>
            </a:pPr>
            <a:r>
              <a:rPr lang="en-US" altLang="zh-CN" sz="2000" dirty="0">
                <a:solidFill>
                  <a:srgbClr val="FF0000"/>
                </a:solidFill>
              </a:rPr>
              <a:t>DAC</a:t>
            </a:r>
            <a:r>
              <a:rPr lang="zh-CN" altLang="en-US" sz="2000" dirty="0">
                <a:solidFill>
                  <a:srgbClr val="FF0000"/>
                </a:solidFill>
              </a:rPr>
              <a:t>与</a:t>
            </a:r>
            <a:r>
              <a:rPr lang="en-US" altLang="zh-CN" sz="2000" dirty="0">
                <a:solidFill>
                  <a:srgbClr val="FF0000"/>
                </a:solidFill>
              </a:rPr>
              <a:t>MAC</a:t>
            </a:r>
            <a:r>
              <a:rPr lang="zh-CN" altLang="en-US" sz="2000" dirty="0">
                <a:solidFill>
                  <a:srgbClr val="FF0000"/>
                </a:solidFill>
              </a:rPr>
              <a:t>共同构成数据库管理系统的安全机制</a:t>
            </a:r>
          </a:p>
        </p:txBody>
      </p:sp>
    </p:spTree>
    <p:extLst>
      <p:ext uri="{BB962C8B-B14F-4D97-AF65-F5344CB8AC3E}">
        <p14:creationId xmlns:p14="http://schemas.microsoft.com/office/powerpoint/2010/main" val="228061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50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29D21-88A2-A38F-0B58-7794C0AD5D2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2FD67843-8D70-7312-CDBC-2C5368283228}"/>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54B21352-55D9-4B60-A6B5-354E149F7E82}"/>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en-US" altLang="zh-CN" dirty="0"/>
              <a:t>DAC + MAC</a:t>
            </a:r>
            <a:r>
              <a:rPr lang="zh-CN" altLang="en-US" dirty="0"/>
              <a:t>安全检查</a:t>
            </a:r>
          </a:p>
        </p:txBody>
      </p:sp>
      <p:sp>
        <p:nvSpPr>
          <p:cNvPr id="5" name="矩形 4">
            <a:extLst>
              <a:ext uri="{FF2B5EF4-FFF2-40B4-BE49-F238E27FC236}">
                <a16:creationId xmlns:a16="http://schemas.microsoft.com/office/drawing/2014/main" id="{21AF5509-3778-CDD2-00F5-8696ABB8D6C4}"/>
              </a:ext>
            </a:extLst>
          </p:cNvPr>
          <p:cNvSpPr/>
          <p:nvPr/>
        </p:nvSpPr>
        <p:spPr>
          <a:xfrm>
            <a:off x="4956175" y="2401094"/>
            <a:ext cx="6181090" cy="20574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先进行自主存取控制（</a:t>
            </a:r>
            <a:r>
              <a:rPr lang="en-US" altLang="zh-CN" sz="2000" dirty="0">
                <a:solidFill>
                  <a:schemeClr val="tx1"/>
                </a:solidFill>
              </a:rPr>
              <a:t>DAC</a:t>
            </a:r>
            <a:r>
              <a:rPr lang="zh-CN" altLang="en-US" sz="2000" dirty="0">
                <a:solidFill>
                  <a:schemeClr val="tx1"/>
                </a:solidFill>
              </a:rPr>
              <a:t>）检查</a:t>
            </a:r>
          </a:p>
          <a:p>
            <a:pPr marL="612775" indent="-342900" algn="just">
              <a:lnSpc>
                <a:spcPct val="150000"/>
              </a:lnSpc>
              <a:buFont typeface="Wingdings" panose="05000000000000000000" pitchFamily="2" charset="2"/>
              <a:buChar char="l"/>
            </a:pPr>
            <a:r>
              <a:rPr lang="zh-CN" altLang="en-US" sz="2000" dirty="0">
                <a:solidFill>
                  <a:schemeClr val="tx1"/>
                </a:solidFill>
              </a:rPr>
              <a:t>通过</a:t>
            </a:r>
            <a:r>
              <a:rPr lang="en-US" altLang="zh-CN" sz="2000" dirty="0">
                <a:solidFill>
                  <a:schemeClr val="tx1"/>
                </a:solidFill>
              </a:rPr>
              <a:t>DAC</a:t>
            </a:r>
            <a:r>
              <a:rPr lang="zh-CN" altLang="en-US" sz="2000" dirty="0">
                <a:solidFill>
                  <a:schemeClr val="tx1"/>
                </a:solidFill>
              </a:rPr>
              <a:t>检查的允许存取的数据对象，再由系统自动进行</a:t>
            </a:r>
            <a:r>
              <a:rPr lang="en-US" altLang="zh-CN" sz="2000" dirty="0">
                <a:solidFill>
                  <a:schemeClr val="tx1"/>
                </a:solidFill>
              </a:rPr>
              <a:t>MAC</a:t>
            </a:r>
            <a:r>
              <a:rPr lang="zh-CN" altLang="en-US" sz="2000" dirty="0">
                <a:solidFill>
                  <a:schemeClr val="tx1"/>
                </a:solidFill>
              </a:rPr>
              <a:t>检查</a:t>
            </a:r>
          </a:p>
          <a:p>
            <a:pPr marL="612775" indent="-342900" algn="just">
              <a:lnSpc>
                <a:spcPct val="150000"/>
              </a:lnSpc>
              <a:buFont typeface="Wingdings" panose="05000000000000000000" pitchFamily="2" charset="2"/>
              <a:buChar char="l"/>
            </a:pPr>
            <a:r>
              <a:rPr lang="zh-CN" altLang="en-US" sz="2000" dirty="0">
                <a:solidFill>
                  <a:schemeClr val="tx1"/>
                </a:solidFill>
              </a:rPr>
              <a:t>只有通过</a:t>
            </a:r>
            <a:r>
              <a:rPr lang="en-US" altLang="zh-CN" sz="2000" dirty="0">
                <a:solidFill>
                  <a:schemeClr val="tx1"/>
                </a:solidFill>
              </a:rPr>
              <a:t>MAC</a:t>
            </a:r>
            <a:r>
              <a:rPr lang="zh-CN" altLang="en-US" sz="2000" dirty="0">
                <a:solidFill>
                  <a:schemeClr val="tx1"/>
                </a:solidFill>
              </a:rPr>
              <a:t>检查的数据对象方可存取</a:t>
            </a:r>
          </a:p>
        </p:txBody>
      </p:sp>
      <p:pic>
        <p:nvPicPr>
          <p:cNvPr id="12" name="图片 11">
            <a:extLst>
              <a:ext uri="{FF2B5EF4-FFF2-40B4-BE49-F238E27FC236}">
                <a16:creationId xmlns:a16="http://schemas.microsoft.com/office/drawing/2014/main" id="{46138EDD-15F7-3DA1-EDA6-E4E1844F5801}"/>
              </a:ext>
            </a:extLst>
          </p:cNvPr>
          <p:cNvPicPr>
            <a:picLocks noChangeAspect="1"/>
          </p:cNvPicPr>
          <p:nvPr/>
        </p:nvPicPr>
        <p:blipFill>
          <a:blip r:embed="rId2">
            <a:biLevel thresh="75000"/>
            <a:extLst>
              <a:ext uri="{28A0092B-C50C-407E-A947-70E740481C1C}">
                <a14:useLocalDpi xmlns:a14="http://schemas.microsoft.com/office/drawing/2010/main" val="0"/>
              </a:ext>
            </a:extLst>
          </a:blip>
          <a:stretch>
            <a:fillRect/>
          </a:stretch>
        </p:blipFill>
        <p:spPr>
          <a:xfrm>
            <a:off x="536575" y="2035809"/>
            <a:ext cx="3842666" cy="3011095"/>
          </a:xfrm>
          <a:prstGeom prst="rect">
            <a:avLst/>
          </a:prstGeom>
        </p:spPr>
      </p:pic>
    </p:spTree>
    <p:extLst>
      <p:ext uri="{BB962C8B-B14F-4D97-AF65-F5344CB8AC3E}">
        <p14:creationId xmlns:p14="http://schemas.microsoft.com/office/powerpoint/2010/main" val="369310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1000"/>
                                        <p:tgtEl>
                                          <p:spTgt spid="12"/>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750"/>
                                        <p:tgtEl>
                                          <p:spTgt spid="5">
                                            <p:txEl>
                                              <p:pRg st="0" end="0"/>
                                            </p:txEl>
                                          </p:spTgt>
                                        </p:tgtEl>
                                      </p:cBhvr>
                                    </p:animEffect>
                                  </p:childTnLst>
                                </p:cTn>
                              </p:par>
                            </p:childTnLst>
                          </p:cTn>
                        </p:par>
                        <p:par>
                          <p:cTn id="12" fill="hold">
                            <p:stCondLst>
                              <p:cond delay="2250"/>
                            </p:stCondLst>
                            <p:childTnLst>
                              <p:par>
                                <p:cTn id="13" presetID="10" presetClass="entr" presetSubtype="0" fill="hold" nodeType="afterEffect">
                                  <p:stCondLst>
                                    <p:cond delay="50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750"/>
                                        <p:tgtEl>
                                          <p:spTgt spid="5">
                                            <p:txEl>
                                              <p:pRg st="1" end="1"/>
                                            </p:txEl>
                                          </p:spTgt>
                                        </p:tgtEl>
                                      </p:cBhvr>
                                    </p:animEffect>
                                  </p:childTnLst>
                                </p:cTn>
                              </p:par>
                            </p:childTnLst>
                          </p:cTn>
                        </p:par>
                        <p:par>
                          <p:cTn id="16" fill="hold">
                            <p:stCondLst>
                              <p:cond delay="3500"/>
                            </p:stCondLst>
                            <p:childTnLst>
                              <p:par>
                                <p:cTn id="17" presetID="10" presetClass="entr" presetSubtype="0" fill="hold" nodeType="afterEffect">
                                  <p:stCondLst>
                                    <p:cond delay="50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75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5" name="内容占位符 4"/>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用户存取权限控制：</a:t>
            </a:r>
            <a:r>
              <a:rPr lang="en-US" altLang="zh-CN" dirty="0"/>
              <a:t> </a:t>
            </a:r>
            <a:endParaRPr lang="zh-CN" altLang="en-US" dirty="0"/>
          </a:p>
        </p:txBody>
      </p:sp>
      <p:sp>
        <p:nvSpPr>
          <p:cNvPr id="33" name="内容占位符 4"/>
          <p:cNvSpPr>
            <a:spLocks noGrp="1"/>
          </p:cNvSpPr>
          <p:nvPr/>
        </p:nvSpPr>
        <p:spPr>
          <a:xfrm>
            <a:off x="1222375" y="1981835"/>
            <a:ext cx="1031748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用户存取权限是指用户对于不同的数据对象（库、表、视图等）允许执行的操作权限。</a:t>
            </a:r>
          </a:p>
        </p:txBody>
      </p:sp>
      <p:sp>
        <p:nvSpPr>
          <p:cNvPr id="8" name="Freeform 7"/>
          <p:cNvSpPr/>
          <p:nvPr/>
        </p:nvSpPr>
        <p:spPr bwMode="auto">
          <a:xfrm>
            <a:off x="3508471" y="3962975"/>
            <a:ext cx="2133183" cy="937201"/>
          </a:xfrm>
          <a:custGeom>
            <a:avLst/>
            <a:gdLst>
              <a:gd name="T0" fmla="*/ 0 w 1525"/>
              <a:gd name="T1" fmla="*/ 670 h 670"/>
              <a:gd name="T2" fmla="*/ 1190 w 1525"/>
              <a:gd name="T3" fmla="*/ 670 h 670"/>
              <a:gd name="T4" fmla="*/ 1525 w 1525"/>
              <a:gd name="T5" fmla="*/ 336 h 670"/>
              <a:gd name="T6" fmla="*/ 1190 w 1525"/>
              <a:gd name="T7" fmla="*/ 0 h 670"/>
              <a:gd name="T8" fmla="*/ 0 w 1525"/>
              <a:gd name="T9" fmla="*/ 0 h 670"/>
              <a:gd name="T10" fmla="*/ 0 w 1525"/>
              <a:gd name="T11" fmla="*/ 670 h 670"/>
              <a:gd name="T12" fmla="*/ 0 w 1525"/>
              <a:gd name="T13" fmla="*/ 670 h 670"/>
            </a:gdLst>
            <a:ahLst/>
            <a:cxnLst>
              <a:cxn ang="0">
                <a:pos x="T0" y="T1"/>
              </a:cxn>
              <a:cxn ang="0">
                <a:pos x="T2" y="T3"/>
              </a:cxn>
              <a:cxn ang="0">
                <a:pos x="T4" y="T5"/>
              </a:cxn>
              <a:cxn ang="0">
                <a:pos x="T6" y="T7"/>
              </a:cxn>
              <a:cxn ang="0">
                <a:pos x="T8" y="T9"/>
              </a:cxn>
              <a:cxn ang="0">
                <a:pos x="T10" y="T11"/>
              </a:cxn>
              <a:cxn ang="0">
                <a:pos x="T12" y="T13"/>
              </a:cxn>
            </a:cxnLst>
            <a:rect l="0" t="0" r="r" b="b"/>
            <a:pathLst>
              <a:path w="1525" h="670">
                <a:moveTo>
                  <a:pt x="0" y="670"/>
                </a:moveTo>
                <a:lnTo>
                  <a:pt x="1190" y="670"/>
                </a:lnTo>
                <a:lnTo>
                  <a:pt x="1525" y="336"/>
                </a:lnTo>
                <a:lnTo>
                  <a:pt x="1190" y="0"/>
                </a:lnTo>
                <a:lnTo>
                  <a:pt x="0" y="0"/>
                </a:lnTo>
                <a:lnTo>
                  <a:pt x="0" y="670"/>
                </a:lnTo>
                <a:lnTo>
                  <a:pt x="0" y="67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9" name="Freeform 8"/>
          <p:cNvSpPr/>
          <p:nvPr/>
        </p:nvSpPr>
        <p:spPr bwMode="auto">
          <a:xfrm>
            <a:off x="4289006" y="3471993"/>
            <a:ext cx="228006" cy="622470"/>
          </a:xfrm>
          <a:custGeom>
            <a:avLst/>
            <a:gdLst>
              <a:gd name="T0" fmla="*/ 41 w 69"/>
              <a:gd name="T1" fmla="*/ 126 h 188"/>
              <a:gd name="T2" fmla="*/ 66 w 69"/>
              <a:gd name="T3" fmla="*/ 157 h 188"/>
              <a:gd name="T4" fmla="*/ 35 w 69"/>
              <a:gd name="T5" fmla="*/ 188 h 188"/>
              <a:gd name="T6" fmla="*/ 3 w 69"/>
              <a:gd name="T7" fmla="*/ 157 h 188"/>
              <a:gd name="T8" fmla="*/ 28 w 69"/>
              <a:gd name="T9" fmla="*/ 126 h 188"/>
              <a:gd name="T10" fmla="*/ 28 w 69"/>
              <a:gd name="T11" fmla="*/ 63 h 188"/>
              <a:gd name="T12" fmla="*/ 0 w 69"/>
              <a:gd name="T13" fmla="*/ 63 h 188"/>
              <a:gd name="T14" fmla="*/ 35 w 69"/>
              <a:gd name="T15" fmla="*/ 0 h 188"/>
              <a:gd name="T16" fmla="*/ 69 w 69"/>
              <a:gd name="T17" fmla="*/ 63 h 188"/>
              <a:gd name="T18" fmla="*/ 41 w 69"/>
              <a:gd name="T19" fmla="*/ 63 h 188"/>
              <a:gd name="T20" fmla="*/ 41 w 69"/>
              <a:gd name="T21"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41" y="126"/>
                </a:moveTo>
                <a:cubicBezTo>
                  <a:pt x="55"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ubicBezTo>
                  <a:pt x="41" y="63"/>
                  <a:pt x="41" y="63"/>
                  <a:pt x="41" y="63"/>
                </a:cubicBezTo>
                <a:cubicBezTo>
                  <a:pt x="41" y="126"/>
                  <a:pt x="41" y="126"/>
                  <a:pt x="41" y="126"/>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0" name="Freeform 9"/>
          <p:cNvSpPr/>
          <p:nvPr/>
        </p:nvSpPr>
        <p:spPr bwMode="auto">
          <a:xfrm>
            <a:off x="5173054" y="3962975"/>
            <a:ext cx="2133183" cy="937201"/>
          </a:xfrm>
          <a:custGeom>
            <a:avLst/>
            <a:gdLst>
              <a:gd name="T0" fmla="*/ 0 w 1525"/>
              <a:gd name="T1" fmla="*/ 670 h 670"/>
              <a:gd name="T2" fmla="*/ 1189 w 1525"/>
              <a:gd name="T3" fmla="*/ 670 h 670"/>
              <a:gd name="T4" fmla="*/ 1525 w 1525"/>
              <a:gd name="T5" fmla="*/ 334 h 670"/>
              <a:gd name="T6" fmla="*/ 1189 w 1525"/>
              <a:gd name="T7" fmla="*/ 0 h 670"/>
              <a:gd name="T8" fmla="*/ 0 w 1525"/>
              <a:gd name="T9" fmla="*/ 0 h 670"/>
              <a:gd name="T10" fmla="*/ 0 w 1525"/>
              <a:gd name="T11" fmla="*/ 0 h 670"/>
              <a:gd name="T12" fmla="*/ 335 w 1525"/>
              <a:gd name="T13" fmla="*/ 336 h 670"/>
              <a:gd name="T14" fmla="*/ 0 w 1525"/>
              <a:gd name="T15" fmla="*/ 670 h 670"/>
              <a:gd name="T16" fmla="*/ 0 w 1525"/>
              <a:gd name="T17" fmla="*/ 670 h 670"/>
              <a:gd name="T18" fmla="*/ 0 w 1525"/>
              <a:gd name="T1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5" h="670">
                <a:moveTo>
                  <a:pt x="0" y="670"/>
                </a:moveTo>
                <a:lnTo>
                  <a:pt x="1189" y="670"/>
                </a:lnTo>
                <a:lnTo>
                  <a:pt x="1525" y="334"/>
                </a:lnTo>
                <a:lnTo>
                  <a:pt x="1189" y="0"/>
                </a:lnTo>
                <a:lnTo>
                  <a:pt x="0" y="0"/>
                </a:lnTo>
                <a:lnTo>
                  <a:pt x="0" y="0"/>
                </a:lnTo>
                <a:lnTo>
                  <a:pt x="335" y="336"/>
                </a:lnTo>
                <a:lnTo>
                  <a:pt x="0" y="670"/>
                </a:lnTo>
                <a:lnTo>
                  <a:pt x="0" y="670"/>
                </a:lnTo>
                <a:lnTo>
                  <a:pt x="0" y="670"/>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1" name="Freeform 10"/>
          <p:cNvSpPr/>
          <p:nvPr/>
        </p:nvSpPr>
        <p:spPr bwMode="auto">
          <a:xfrm>
            <a:off x="5963380" y="3471993"/>
            <a:ext cx="225209" cy="622470"/>
          </a:xfrm>
          <a:custGeom>
            <a:avLst/>
            <a:gdLst>
              <a:gd name="T0" fmla="*/ 41 w 68"/>
              <a:gd name="T1" fmla="*/ 126 h 188"/>
              <a:gd name="T2" fmla="*/ 66 w 68"/>
              <a:gd name="T3" fmla="*/ 157 h 188"/>
              <a:gd name="T4" fmla="*/ 34 w 68"/>
              <a:gd name="T5" fmla="*/ 188 h 188"/>
              <a:gd name="T6" fmla="*/ 2 w 68"/>
              <a:gd name="T7" fmla="*/ 157 h 188"/>
              <a:gd name="T8" fmla="*/ 27 w 68"/>
              <a:gd name="T9" fmla="*/ 126 h 188"/>
              <a:gd name="T10" fmla="*/ 27 w 68"/>
              <a:gd name="T11" fmla="*/ 63 h 188"/>
              <a:gd name="T12" fmla="*/ 0 w 68"/>
              <a:gd name="T13" fmla="*/ 63 h 188"/>
              <a:gd name="T14" fmla="*/ 34 w 68"/>
              <a:gd name="T15" fmla="*/ 0 h 188"/>
              <a:gd name="T16" fmla="*/ 68 w 68"/>
              <a:gd name="T17" fmla="*/ 63 h 188"/>
              <a:gd name="T18" fmla="*/ 41 w 68"/>
              <a:gd name="T19" fmla="*/ 63 h 188"/>
              <a:gd name="T20" fmla="*/ 41 w 68"/>
              <a:gd name="T21"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88">
                <a:moveTo>
                  <a:pt x="41" y="126"/>
                </a:moveTo>
                <a:cubicBezTo>
                  <a:pt x="55" y="129"/>
                  <a:pt x="66" y="142"/>
                  <a:pt x="66" y="157"/>
                </a:cubicBezTo>
                <a:cubicBezTo>
                  <a:pt x="66" y="174"/>
                  <a:pt x="51" y="188"/>
                  <a:pt x="34" y="188"/>
                </a:cubicBezTo>
                <a:cubicBezTo>
                  <a:pt x="16" y="188"/>
                  <a:pt x="2" y="174"/>
                  <a:pt x="2" y="157"/>
                </a:cubicBezTo>
                <a:cubicBezTo>
                  <a:pt x="2" y="142"/>
                  <a:pt x="13" y="129"/>
                  <a:pt x="27" y="126"/>
                </a:cubicBezTo>
                <a:cubicBezTo>
                  <a:pt x="27" y="63"/>
                  <a:pt x="27" y="63"/>
                  <a:pt x="27" y="63"/>
                </a:cubicBezTo>
                <a:cubicBezTo>
                  <a:pt x="0" y="63"/>
                  <a:pt x="0" y="63"/>
                  <a:pt x="0" y="63"/>
                </a:cubicBezTo>
                <a:cubicBezTo>
                  <a:pt x="34" y="0"/>
                  <a:pt x="34" y="0"/>
                  <a:pt x="34" y="0"/>
                </a:cubicBezTo>
                <a:cubicBezTo>
                  <a:pt x="68" y="63"/>
                  <a:pt x="68" y="63"/>
                  <a:pt x="68" y="63"/>
                </a:cubicBezTo>
                <a:cubicBezTo>
                  <a:pt x="41" y="63"/>
                  <a:pt x="41" y="63"/>
                  <a:pt x="41" y="63"/>
                </a:cubicBezTo>
                <a:cubicBezTo>
                  <a:pt x="41" y="126"/>
                  <a:pt x="41" y="126"/>
                  <a:pt x="41" y="126"/>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2" name="Freeform 11"/>
          <p:cNvSpPr/>
          <p:nvPr/>
        </p:nvSpPr>
        <p:spPr bwMode="auto">
          <a:xfrm>
            <a:off x="6836237" y="3962975"/>
            <a:ext cx="2130386" cy="937201"/>
          </a:xfrm>
          <a:custGeom>
            <a:avLst/>
            <a:gdLst>
              <a:gd name="T0" fmla="*/ 0 w 1523"/>
              <a:gd name="T1" fmla="*/ 670 h 670"/>
              <a:gd name="T2" fmla="*/ 1190 w 1523"/>
              <a:gd name="T3" fmla="*/ 670 h 670"/>
              <a:gd name="T4" fmla="*/ 1523 w 1523"/>
              <a:gd name="T5" fmla="*/ 334 h 670"/>
              <a:gd name="T6" fmla="*/ 1190 w 1523"/>
              <a:gd name="T7" fmla="*/ 0 h 670"/>
              <a:gd name="T8" fmla="*/ 0 w 1523"/>
              <a:gd name="T9" fmla="*/ 0 h 670"/>
              <a:gd name="T10" fmla="*/ 336 w 1523"/>
              <a:gd name="T11" fmla="*/ 334 h 670"/>
              <a:gd name="T12" fmla="*/ 0 w 1523"/>
              <a:gd name="T13" fmla="*/ 670 h 670"/>
              <a:gd name="T14" fmla="*/ 0 w 1523"/>
              <a:gd name="T15" fmla="*/ 67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3" h="670">
                <a:moveTo>
                  <a:pt x="0" y="670"/>
                </a:moveTo>
                <a:lnTo>
                  <a:pt x="1190" y="670"/>
                </a:lnTo>
                <a:lnTo>
                  <a:pt x="1523" y="334"/>
                </a:lnTo>
                <a:lnTo>
                  <a:pt x="1190" y="0"/>
                </a:lnTo>
                <a:lnTo>
                  <a:pt x="0" y="0"/>
                </a:lnTo>
                <a:lnTo>
                  <a:pt x="336" y="334"/>
                </a:lnTo>
                <a:lnTo>
                  <a:pt x="0" y="670"/>
                </a:lnTo>
                <a:lnTo>
                  <a:pt x="0" y="67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3" name="Freeform 12"/>
          <p:cNvSpPr/>
          <p:nvPr/>
        </p:nvSpPr>
        <p:spPr bwMode="auto">
          <a:xfrm>
            <a:off x="7640552" y="3471993"/>
            <a:ext cx="228006" cy="622470"/>
          </a:xfrm>
          <a:custGeom>
            <a:avLst/>
            <a:gdLst>
              <a:gd name="T0" fmla="*/ 69 w 69"/>
              <a:gd name="T1" fmla="*/ 63 h 188"/>
              <a:gd name="T2" fmla="*/ 41 w 69"/>
              <a:gd name="T3" fmla="*/ 63 h 188"/>
              <a:gd name="T4" fmla="*/ 41 w 69"/>
              <a:gd name="T5" fmla="*/ 126 h 188"/>
              <a:gd name="T6" fmla="*/ 66 w 69"/>
              <a:gd name="T7" fmla="*/ 157 h 188"/>
              <a:gd name="T8" fmla="*/ 35 w 69"/>
              <a:gd name="T9" fmla="*/ 188 h 188"/>
              <a:gd name="T10" fmla="*/ 3 w 69"/>
              <a:gd name="T11" fmla="*/ 157 h 188"/>
              <a:gd name="T12" fmla="*/ 28 w 69"/>
              <a:gd name="T13" fmla="*/ 126 h 188"/>
              <a:gd name="T14" fmla="*/ 28 w 69"/>
              <a:gd name="T15" fmla="*/ 63 h 188"/>
              <a:gd name="T16" fmla="*/ 0 w 69"/>
              <a:gd name="T17" fmla="*/ 63 h 188"/>
              <a:gd name="T18" fmla="*/ 35 w 69"/>
              <a:gd name="T19" fmla="*/ 0 h 188"/>
              <a:gd name="T20" fmla="*/ 69 w 69"/>
              <a:gd name="T21" fmla="*/ 6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69" y="63"/>
                </a:moveTo>
                <a:cubicBezTo>
                  <a:pt x="41" y="63"/>
                  <a:pt x="41" y="63"/>
                  <a:pt x="41" y="63"/>
                </a:cubicBezTo>
                <a:cubicBezTo>
                  <a:pt x="41" y="126"/>
                  <a:pt x="41" y="126"/>
                  <a:pt x="41" y="126"/>
                </a:cubicBezTo>
                <a:cubicBezTo>
                  <a:pt x="56"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20" name="Oval 20"/>
          <p:cNvSpPr>
            <a:spLocks noChangeArrowheads="1"/>
          </p:cNvSpPr>
          <p:nvPr/>
        </p:nvSpPr>
        <p:spPr bwMode="auto">
          <a:xfrm>
            <a:off x="5692616" y="2609533"/>
            <a:ext cx="766735" cy="766735"/>
          </a:xfrm>
          <a:prstGeom prst="ellipse">
            <a:avLst/>
          </a:prstGeom>
          <a:solidFill>
            <a:schemeClr val="accent2"/>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1" name="Oval 22"/>
          <p:cNvSpPr>
            <a:spLocks noChangeArrowheads="1"/>
          </p:cNvSpPr>
          <p:nvPr/>
        </p:nvSpPr>
        <p:spPr bwMode="auto">
          <a:xfrm>
            <a:off x="7372586" y="2609533"/>
            <a:ext cx="766735" cy="766735"/>
          </a:xfrm>
          <a:prstGeom prst="ellipse">
            <a:avLst/>
          </a:prstGeom>
          <a:solidFill>
            <a:schemeClr val="accent3"/>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3" name="Oval 26"/>
          <p:cNvSpPr>
            <a:spLocks noChangeArrowheads="1"/>
          </p:cNvSpPr>
          <p:nvPr/>
        </p:nvSpPr>
        <p:spPr bwMode="auto">
          <a:xfrm>
            <a:off x="4017821" y="2609533"/>
            <a:ext cx="770379" cy="766735"/>
          </a:xfrm>
          <a:prstGeom prst="ellipse">
            <a:avLst/>
          </a:prstGeom>
          <a:solidFill>
            <a:schemeClr val="accent1"/>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8" name="Inhaltsplatzhalter 4"/>
          <p:cNvSpPr txBox="1"/>
          <p:nvPr/>
        </p:nvSpPr>
        <p:spPr>
          <a:xfrm>
            <a:off x="3739988" y="4313135"/>
            <a:ext cx="1330084" cy="21526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1400" b="1" dirty="0">
                <a:latin typeface="+mj-lt"/>
              </a:rPr>
              <a:t>库权限</a:t>
            </a:r>
          </a:p>
        </p:txBody>
      </p:sp>
      <p:sp>
        <p:nvSpPr>
          <p:cNvPr id="30" name="Inhaltsplatzhalter 4"/>
          <p:cNvSpPr txBox="1"/>
          <p:nvPr/>
        </p:nvSpPr>
        <p:spPr>
          <a:xfrm>
            <a:off x="5603254" y="4313135"/>
            <a:ext cx="1330084" cy="21526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1400" b="1" dirty="0">
                <a:latin typeface="+mj-lt"/>
              </a:rPr>
              <a:t>表权限</a:t>
            </a:r>
          </a:p>
        </p:txBody>
      </p:sp>
      <p:sp>
        <p:nvSpPr>
          <p:cNvPr id="31" name="Inhaltsplatzhalter 4"/>
          <p:cNvSpPr txBox="1"/>
          <p:nvPr/>
        </p:nvSpPr>
        <p:spPr>
          <a:xfrm>
            <a:off x="7306237" y="4313135"/>
            <a:ext cx="1330084" cy="21526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zh-CN" altLang="en-US" sz="1400" b="1" dirty="0">
                <a:latin typeface="+mj-lt"/>
              </a:rPr>
              <a:t>视图权限等</a:t>
            </a:r>
          </a:p>
        </p:txBody>
      </p:sp>
      <p:grpSp>
        <p:nvGrpSpPr>
          <p:cNvPr id="32" name="Group 36"/>
          <p:cNvGrpSpPr/>
          <p:nvPr/>
        </p:nvGrpSpPr>
        <p:grpSpPr>
          <a:xfrm>
            <a:off x="4179268" y="2774940"/>
            <a:ext cx="448352" cy="447193"/>
            <a:chOff x="674688" y="3432176"/>
            <a:chExt cx="614363" cy="612775"/>
          </a:xfrm>
          <a:solidFill>
            <a:schemeClr val="bg1"/>
          </a:solidFill>
        </p:grpSpPr>
        <p:sp>
          <p:nvSpPr>
            <p:cNvPr id="14" name="Freeform 37"/>
            <p:cNvSpPr/>
            <p:nvPr/>
          </p:nvSpPr>
          <p:spPr bwMode="auto">
            <a:xfrm>
              <a:off x="674688" y="3432176"/>
              <a:ext cx="361950" cy="287338"/>
            </a:xfrm>
            <a:custGeom>
              <a:avLst/>
              <a:gdLst>
                <a:gd name="T0" fmla="*/ 1151 w 2052"/>
                <a:gd name="T1" fmla="*/ 3 h 1632"/>
                <a:gd name="T2" fmla="*/ 1296 w 2052"/>
                <a:gd name="T3" fmla="*/ 22 h 1632"/>
                <a:gd name="T4" fmla="*/ 1436 w 2052"/>
                <a:gd name="T5" fmla="*/ 60 h 1632"/>
                <a:gd name="T6" fmla="*/ 1569 w 2052"/>
                <a:gd name="T7" fmla="*/ 116 h 1632"/>
                <a:gd name="T8" fmla="*/ 1694 w 2052"/>
                <a:gd name="T9" fmla="*/ 189 h 1632"/>
                <a:gd name="T10" fmla="*/ 1810 w 2052"/>
                <a:gd name="T11" fmla="*/ 280 h 1632"/>
                <a:gd name="T12" fmla="*/ 1914 w 2052"/>
                <a:gd name="T13" fmla="*/ 386 h 1632"/>
                <a:gd name="T14" fmla="*/ 2003 w 2052"/>
                <a:gd name="T15" fmla="*/ 509 h 1632"/>
                <a:gd name="T16" fmla="*/ 2050 w 2052"/>
                <a:gd name="T17" fmla="*/ 594 h 1632"/>
                <a:gd name="T18" fmla="*/ 2049 w 2052"/>
                <a:gd name="T19" fmla="*/ 632 h 1632"/>
                <a:gd name="T20" fmla="*/ 2029 w 2052"/>
                <a:gd name="T21" fmla="*/ 666 h 1632"/>
                <a:gd name="T22" fmla="*/ 1993 w 2052"/>
                <a:gd name="T23" fmla="*/ 686 h 1632"/>
                <a:gd name="T24" fmla="*/ 1954 w 2052"/>
                <a:gd name="T25" fmla="*/ 686 h 1632"/>
                <a:gd name="T26" fmla="*/ 1920 w 2052"/>
                <a:gd name="T27" fmla="*/ 665 h 1632"/>
                <a:gd name="T28" fmla="*/ 1872 w 2052"/>
                <a:gd name="T29" fmla="*/ 585 h 1632"/>
                <a:gd name="T30" fmla="*/ 1788 w 2052"/>
                <a:gd name="T31" fmla="*/ 467 h 1632"/>
                <a:gd name="T32" fmla="*/ 1689 w 2052"/>
                <a:gd name="T33" fmla="*/ 367 h 1632"/>
                <a:gd name="T34" fmla="*/ 1579 w 2052"/>
                <a:gd name="T35" fmla="*/ 285 h 1632"/>
                <a:gd name="T36" fmla="*/ 1458 w 2052"/>
                <a:gd name="T37" fmla="*/ 221 h 1632"/>
                <a:gd name="T38" fmla="*/ 1329 w 2052"/>
                <a:gd name="T39" fmla="*/ 175 h 1632"/>
                <a:gd name="T40" fmla="*/ 1196 w 2052"/>
                <a:gd name="T41" fmla="*/ 150 h 1632"/>
                <a:gd name="T42" fmla="*/ 1058 w 2052"/>
                <a:gd name="T43" fmla="*/ 143 h 1632"/>
                <a:gd name="T44" fmla="*/ 920 w 2052"/>
                <a:gd name="T45" fmla="*/ 158 h 1632"/>
                <a:gd name="T46" fmla="*/ 783 w 2052"/>
                <a:gd name="T47" fmla="*/ 195 h 1632"/>
                <a:gd name="T48" fmla="*/ 648 w 2052"/>
                <a:gd name="T49" fmla="*/ 253 h 1632"/>
                <a:gd name="T50" fmla="*/ 525 w 2052"/>
                <a:gd name="T51" fmla="*/ 332 h 1632"/>
                <a:gd name="T52" fmla="*/ 418 w 2052"/>
                <a:gd name="T53" fmla="*/ 425 h 1632"/>
                <a:gd name="T54" fmla="*/ 328 w 2052"/>
                <a:gd name="T55" fmla="*/ 532 h 1632"/>
                <a:gd name="T56" fmla="*/ 256 w 2052"/>
                <a:gd name="T57" fmla="*/ 649 h 1632"/>
                <a:gd name="T58" fmla="*/ 202 w 2052"/>
                <a:gd name="T59" fmla="*/ 776 h 1632"/>
                <a:gd name="T60" fmla="*/ 167 w 2052"/>
                <a:gd name="T61" fmla="*/ 909 h 1632"/>
                <a:gd name="T62" fmla="*/ 151 w 2052"/>
                <a:gd name="T63" fmla="*/ 1045 h 1632"/>
                <a:gd name="T64" fmla="*/ 155 w 2052"/>
                <a:gd name="T65" fmla="*/ 1183 h 1632"/>
                <a:gd name="T66" fmla="*/ 181 w 2052"/>
                <a:gd name="T67" fmla="*/ 1320 h 1632"/>
                <a:gd name="T68" fmla="*/ 228 w 2052"/>
                <a:gd name="T69" fmla="*/ 1455 h 1632"/>
                <a:gd name="T70" fmla="*/ 268 w 2052"/>
                <a:gd name="T71" fmla="*/ 1540 h 1632"/>
                <a:gd name="T72" fmla="*/ 267 w 2052"/>
                <a:gd name="T73" fmla="*/ 1578 h 1632"/>
                <a:gd name="T74" fmla="*/ 247 w 2052"/>
                <a:gd name="T75" fmla="*/ 1610 h 1632"/>
                <a:gd name="T76" fmla="*/ 211 w 2052"/>
                <a:gd name="T77" fmla="*/ 1631 h 1632"/>
                <a:gd name="T78" fmla="*/ 175 w 2052"/>
                <a:gd name="T79" fmla="*/ 1628 h 1632"/>
                <a:gd name="T80" fmla="*/ 145 w 2052"/>
                <a:gd name="T81" fmla="*/ 1614 h 1632"/>
                <a:gd name="T82" fmla="*/ 127 w 2052"/>
                <a:gd name="T83" fmla="*/ 1594 h 1632"/>
                <a:gd name="T84" fmla="*/ 65 w 2052"/>
                <a:gd name="T85" fmla="*/ 1454 h 1632"/>
                <a:gd name="T86" fmla="*/ 23 w 2052"/>
                <a:gd name="T87" fmla="*/ 1310 h 1632"/>
                <a:gd name="T88" fmla="*/ 3 w 2052"/>
                <a:gd name="T89" fmla="*/ 1164 h 1632"/>
                <a:gd name="T90" fmla="*/ 2 w 2052"/>
                <a:gd name="T91" fmla="*/ 1018 h 1632"/>
                <a:gd name="T92" fmla="*/ 21 w 2052"/>
                <a:gd name="T93" fmla="*/ 874 h 1632"/>
                <a:gd name="T94" fmla="*/ 59 w 2052"/>
                <a:gd name="T95" fmla="*/ 734 h 1632"/>
                <a:gd name="T96" fmla="*/ 116 w 2052"/>
                <a:gd name="T97" fmla="*/ 600 h 1632"/>
                <a:gd name="T98" fmla="*/ 189 w 2052"/>
                <a:gd name="T99" fmla="*/ 475 h 1632"/>
                <a:gd name="T100" fmla="*/ 279 w 2052"/>
                <a:gd name="T101" fmla="*/ 358 h 1632"/>
                <a:gd name="T102" fmla="*/ 386 w 2052"/>
                <a:gd name="T103" fmla="*/ 256 h 1632"/>
                <a:gd name="T104" fmla="*/ 508 w 2052"/>
                <a:gd name="T105" fmla="*/ 166 h 1632"/>
                <a:gd name="T106" fmla="*/ 645 w 2052"/>
                <a:gd name="T107" fmla="*/ 94 h 1632"/>
                <a:gd name="T108" fmla="*/ 787 w 2052"/>
                <a:gd name="T109" fmla="*/ 42 h 1632"/>
                <a:gd name="T110" fmla="*/ 933 w 2052"/>
                <a:gd name="T111" fmla="*/ 11 h 1632"/>
                <a:gd name="T112" fmla="*/ 1079 w 2052"/>
                <a:gd name="T113" fmla="*/ 0 h 1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52" h="1632">
                  <a:moveTo>
                    <a:pt x="1079" y="0"/>
                  </a:moveTo>
                  <a:lnTo>
                    <a:pt x="1151" y="3"/>
                  </a:lnTo>
                  <a:lnTo>
                    <a:pt x="1224" y="10"/>
                  </a:lnTo>
                  <a:lnTo>
                    <a:pt x="1296" y="22"/>
                  </a:lnTo>
                  <a:lnTo>
                    <a:pt x="1367" y="39"/>
                  </a:lnTo>
                  <a:lnTo>
                    <a:pt x="1436" y="60"/>
                  </a:lnTo>
                  <a:lnTo>
                    <a:pt x="1503" y="85"/>
                  </a:lnTo>
                  <a:lnTo>
                    <a:pt x="1569" y="116"/>
                  </a:lnTo>
                  <a:lnTo>
                    <a:pt x="1633" y="150"/>
                  </a:lnTo>
                  <a:lnTo>
                    <a:pt x="1694" y="189"/>
                  </a:lnTo>
                  <a:lnTo>
                    <a:pt x="1754" y="232"/>
                  </a:lnTo>
                  <a:lnTo>
                    <a:pt x="1810" y="280"/>
                  </a:lnTo>
                  <a:lnTo>
                    <a:pt x="1863" y="331"/>
                  </a:lnTo>
                  <a:lnTo>
                    <a:pt x="1914" y="386"/>
                  </a:lnTo>
                  <a:lnTo>
                    <a:pt x="1960" y="445"/>
                  </a:lnTo>
                  <a:lnTo>
                    <a:pt x="2003" y="509"/>
                  </a:lnTo>
                  <a:lnTo>
                    <a:pt x="2041" y="575"/>
                  </a:lnTo>
                  <a:lnTo>
                    <a:pt x="2050" y="594"/>
                  </a:lnTo>
                  <a:lnTo>
                    <a:pt x="2052" y="613"/>
                  </a:lnTo>
                  <a:lnTo>
                    <a:pt x="2049" y="632"/>
                  </a:lnTo>
                  <a:lnTo>
                    <a:pt x="2040" y="650"/>
                  </a:lnTo>
                  <a:lnTo>
                    <a:pt x="2029" y="666"/>
                  </a:lnTo>
                  <a:lnTo>
                    <a:pt x="2012" y="679"/>
                  </a:lnTo>
                  <a:lnTo>
                    <a:pt x="1993" y="686"/>
                  </a:lnTo>
                  <a:lnTo>
                    <a:pt x="1974" y="690"/>
                  </a:lnTo>
                  <a:lnTo>
                    <a:pt x="1954" y="686"/>
                  </a:lnTo>
                  <a:lnTo>
                    <a:pt x="1936" y="678"/>
                  </a:lnTo>
                  <a:lnTo>
                    <a:pt x="1920" y="665"/>
                  </a:lnTo>
                  <a:lnTo>
                    <a:pt x="1908" y="649"/>
                  </a:lnTo>
                  <a:lnTo>
                    <a:pt x="1872" y="585"/>
                  </a:lnTo>
                  <a:lnTo>
                    <a:pt x="1831" y="523"/>
                  </a:lnTo>
                  <a:lnTo>
                    <a:pt x="1788" y="467"/>
                  </a:lnTo>
                  <a:lnTo>
                    <a:pt x="1740" y="415"/>
                  </a:lnTo>
                  <a:lnTo>
                    <a:pt x="1689" y="367"/>
                  </a:lnTo>
                  <a:lnTo>
                    <a:pt x="1635" y="323"/>
                  </a:lnTo>
                  <a:lnTo>
                    <a:pt x="1579" y="285"/>
                  </a:lnTo>
                  <a:lnTo>
                    <a:pt x="1519" y="250"/>
                  </a:lnTo>
                  <a:lnTo>
                    <a:pt x="1458" y="221"/>
                  </a:lnTo>
                  <a:lnTo>
                    <a:pt x="1394" y="195"/>
                  </a:lnTo>
                  <a:lnTo>
                    <a:pt x="1329" y="175"/>
                  </a:lnTo>
                  <a:lnTo>
                    <a:pt x="1263" y="160"/>
                  </a:lnTo>
                  <a:lnTo>
                    <a:pt x="1196" y="150"/>
                  </a:lnTo>
                  <a:lnTo>
                    <a:pt x="1127" y="144"/>
                  </a:lnTo>
                  <a:lnTo>
                    <a:pt x="1058" y="143"/>
                  </a:lnTo>
                  <a:lnTo>
                    <a:pt x="989" y="149"/>
                  </a:lnTo>
                  <a:lnTo>
                    <a:pt x="920" y="158"/>
                  </a:lnTo>
                  <a:lnTo>
                    <a:pt x="851" y="174"/>
                  </a:lnTo>
                  <a:lnTo>
                    <a:pt x="783" y="195"/>
                  </a:lnTo>
                  <a:lnTo>
                    <a:pt x="715" y="222"/>
                  </a:lnTo>
                  <a:lnTo>
                    <a:pt x="648" y="253"/>
                  </a:lnTo>
                  <a:lnTo>
                    <a:pt x="585" y="290"/>
                  </a:lnTo>
                  <a:lnTo>
                    <a:pt x="525" y="332"/>
                  </a:lnTo>
                  <a:lnTo>
                    <a:pt x="470" y="376"/>
                  </a:lnTo>
                  <a:lnTo>
                    <a:pt x="418" y="425"/>
                  </a:lnTo>
                  <a:lnTo>
                    <a:pt x="371" y="477"/>
                  </a:lnTo>
                  <a:lnTo>
                    <a:pt x="328" y="532"/>
                  </a:lnTo>
                  <a:lnTo>
                    <a:pt x="290" y="590"/>
                  </a:lnTo>
                  <a:lnTo>
                    <a:pt x="256" y="649"/>
                  </a:lnTo>
                  <a:lnTo>
                    <a:pt x="226" y="712"/>
                  </a:lnTo>
                  <a:lnTo>
                    <a:pt x="202" y="776"/>
                  </a:lnTo>
                  <a:lnTo>
                    <a:pt x="181" y="842"/>
                  </a:lnTo>
                  <a:lnTo>
                    <a:pt x="167" y="909"/>
                  </a:lnTo>
                  <a:lnTo>
                    <a:pt x="156" y="976"/>
                  </a:lnTo>
                  <a:lnTo>
                    <a:pt x="151" y="1045"/>
                  </a:lnTo>
                  <a:lnTo>
                    <a:pt x="151" y="1114"/>
                  </a:lnTo>
                  <a:lnTo>
                    <a:pt x="155" y="1183"/>
                  </a:lnTo>
                  <a:lnTo>
                    <a:pt x="165" y="1252"/>
                  </a:lnTo>
                  <a:lnTo>
                    <a:pt x="181" y="1320"/>
                  </a:lnTo>
                  <a:lnTo>
                    <a:pt x="202" y="1388"/>
                  </a:lnTo>
                  <a:lnTo>
                    <a:pt x="228" y="1455"/>
                  </a:lnTo>
                  <a:lnTo>
                    <a:pt x="261" y="1520"/>
                  </a:lnTo>
                  <a:lnTo>
                    <a:pt x="268" y="1540"/>
                  </a:lnTo>
                  <a:lnTo>
                    <a:pt x="271" y="1559"/>
                  </a:lnTo>
                  <a:lnTo>
                    <a:pt x="267" y="1578"/>
                  </a:lnTo>
                  <a:lnTo>
                    <a:pt x="260" y="1596"/>
                  </a:lnTo>
                  <a:lnTo>
                    <a:pt x="247" y="1610"/>
                  </a:lnTo>
                  <a:lnTo>
                    <a:pt x="230" y="1623"/>
                  </a:lnTo>
                  <a:lnTo>
                    <a:pt x="211" y="1631"/>
                  </a:lnTo>
                  <a:lnTo>
                    <a:pt x="192" y="1632"/>
                  </a:lnTo>
                  <a:lnTo>
                    <a:pt x="175" y="1628"/>
                  </a:lnTo>
                  <a:lnTo>
                    <a:pt x="159" y="1622"/>
                  </a:lnTo>
                  <a:lnTo>
                    <a:pt x="145" y="1614"/>
                  </a:lnTo>
                  <a:lnTo>
                    <a:pt x="135" y="1604"/>
                  </a:lnTo>
                  <a:lnTo>
                    <a:pt x="127" y="1594"/>
                  </a:lnTo>
                  <a:lnTo>
                    <a:pt x="93" y="1525"/>
                  </a:lnTo>
                  <a:lnTo>
                    <a:pt x="65" y="1454"/>
                  </a:lnTo>
                  <a:lnTo>
                    <a:pt x="41" y="1382"/>
                  </a:lnTo>
                  <a:lnTo>
                    <a:pt x="23" y="1310"/>
                  </a:lnTo>
                  <a:lnTo>
                    <a:pt x="11" y="1237"/>
                  </a:lnTo>
                  <a:lnTo>
                    <a:pt x="3" y="1164"/>
                  </a:lnTo>
                  <a:lnTo>
                    <a:pt x="0" y="1091"/>
                  </a:lnTo>
                  <a:lnTo>
                    <a:pt x="2" y="1018"/>
                  </a:lnTo>
                  <a:lnTo>
                    <a:pt x="9" y="945"/>
                  </a:lnTo>
                  <a:lnTo>
                    <a:pt x="21" y="874"/>
                  </a:lnTo>
                  <a:lnTo>
                    <a:pt x="38" y="803"/>
                  </a:lnTo>
                  <a:lnTo>
                    <a:pt x="59" y="734"/>
                  </a:lnTo>
                  <a:lnTo>
                    <a:pt x="85" y="666"/>
                  </a:lnTo>
                  <a:lnTo>
                    <a:pt x="116" y="600"/>
                  </a:lnTo>
                  <a:lnTo>
                    <a:pt x="150" y="536"/>
                  </a:lnTo>
                  <a:lnTo>
                    <a:pt x="189" y="475"/>
                  </a:lnTo>
                  <a:lnTo>
                    <a:pt x="232" y="415"/>
                  </a:lnTo>
                  <a:lnTo>
                    <a:pt x="279" y="358"/>
                  </a:lnTo>
                  <a:lnTo>
                    <a:pt x="331" y="305"/>
                  </a:lnTo>
                  <a:lnTo>
                    <a:pt x="386" y="256"/>
                  </a:lnTo>
                  <a:lnTo>
                    <a:pt x="446" y="209"/>
                  </a:lnTo>
                  <a:lnTo>
                    <a:pt x="508" y="166"/>
                  </a:lnTo>
                  <a:lnTo>
                    <a:pt x="575" y="127"/>
                  </a:lnTo>
                  <a:lnTo>
                    <a:pt x="645" y="94"/>
                  </a:lnTo>
                  <a:lnTo>
                    <a:pt x="715" y="65"/>
                  </a:lnTo>
                  <a:lnTo>
                    <a:pt x="787" y="42"/>
                  </a:lnTo>
                  <a:lnTo>
                    <a:pt x="859" y="24"/>
                  </a:lnTo>
                  <a:lnTo>
                    <a:pt x="933" y="11"/>
                  </a:lnTo>
                  <a:lnTo>
                    <a:pt x="1006" y="4"/>
                  </a:lnTo>
                  <a:lnTo>
                    <a:pt x="107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4" name="Freeform 38"/>
            <p:cNvSpPr/>
            <p:nvPr/>
          </p:nvSpPr>
          <p:spPr bwMode="auto">
            <a:xfrm>
              <a:off x="757238" y="3513138"/>
              <a:ext cx="207963" cy="168275"/>
            </a:xfrm>
            <a:custGeom>
              <a:avLst/>
              <a:gdLst>
                <a:gd name="T0" fmla="*/ 679 w 1174"/>
                <a:gd name="T1" fmla="*/ 4 h 954"/>
                <a:gd name="T2" fmla="*/ 801 w 1174"/>
                <a:gd name="T3" fmla="*/ 31 h 954"/>
                <a:gd name="T4" fmla="*/ 901 w 1174"/>
                <a:gd name="T5" fmla="*/ 70 h 954"/>
                <a:gd name="T6" fmla="*/ 992 w 1174"/>
                <a:gd name="T7" fmla="*/ 127 h 954"/>
                <a:gd name="T8" fmla="*/ 1071 w 1174"/>
                <a:gd name="T9" fmla="*/ 201 h 954"/>
                <a:gd name="T10" fmla="*/ 1136 w 1174"/>
                <a:gd name="T11" fmla="*/ 288 h 954"/>
                <a:gd name="T12" fmla="*/ 1171 w 1174"/>
                <a:gd name="T13" fmla="*/ 355 h 954"/>
                <a:gd name="T14" fmla="*/ 1170 w 1174"/>
                <a:gd name="T15" fmla="*/ 393 h 954"/>
                <a:gd name="T16" fmla="*/ 1150 w 1174"/>
                <a:gd name="T17" fmla="*/ 426 h 954"/>
                <a:gd name="T18" fmla="*/ 1114 w 1174"/>
                <a:gd name="T19" fmla="*/ 448 h 954"/>
                <a:gd name="T20" fmla="*/ 1076 w 1174"/>
                <a:gd name="T21" fmla="*/ 447 h 954"/>
                <a:gd name="T22" fmla="*/ 1043 w 1174"/>
                <a:gd name="T23" fmla="*/ 425 h 954"/>
                <a:gd name="T24" fmla="*/ 1008 w 1174"/>
                <a:gd name="T25" fmla="*/ 367 h 954"/>
                <a:gd name="T26" fmla="*/ 952 w 1174"/>
                <a:gd name="T27" fmla="*/ 292 h 954"/>
                <a:gd name="T28" fmla="*/ 881 w 1174"/>
                <a:gd name="T29" fmla="*/ 233 h 954"/>
                <a:gd name="T30" fmla="*/ 800 w 1174"/>
                <a:gd name="T31" fmla="*/ 188 h 954"/>
                <a:gd name="T32" fmla="*/ 705 w 1174"/>
                <a:gd name="T33" fmla="*/ 159 h 954"/>
                <a:gd name="T34" fmla="*/ 601 w 1174"/>
                <a:gd name="T35" fmla="*/ 151 h 954"/>
                <a:gd name="T36" fmla="*/ 498 w 1174"/>
                <a:gd name="T37" fmla="*/ 168 h 954"/>
                <a:gd name="T38" fmla="*/ 400 w 1174"/>
                <a:gd name="T39" fmla="*/ 208 h 954"/>
                <a:gd name="T40" fmla="*/ 323 w 1174"/>
                <a:gd name="T41" fmla="*/ 259 h 954"/>
                <a:gd name="T42" fmla="*/ 257 w 1174"/>
                <a:gd name="T43" fmla="*/ 323 h 954"/>
                <a:gd name="T44" fmla="*/ 206 w 1174"/>
                <a:gd name="T45" fmla="*/ 400 h 954"/>
                <a:gd name="T46" fmla="*/ 170 w 1174"/>
                <a:gd name="T47" fmla="*/ 489 h 954"/>
                <a:gd name="T48" fmla="*/ 151 w 1174"/>
                <a:gd name="T49" fmla="*/ 592 h 954"/>
                <a:gd name="T50" fmla="*/ 155 w 1174"/>
                <a:gd name="T51" fmla="*/ 695 h 954"/>
                <a:gd name="T52" fmla="*/ 184 w 1174"/>
                <a:gd name="T53" fmla="*/ 796 h 954"/>
                <a:gd name="T54" fmla="*/ 213 w 1174"/>
                <a:gd name="T55" fmla="*/ 864 h 954"/>
                <a:gd name="T56" fmla="*/ 213 w 1174"/>
                <a:gd name="T57" fmla="*/ 903 h 954"/>
                <a:gd name="T58" fmla="*/ 193 w 1174"/>
                <a:gd name="T59" fmla="*/ 936 h 954"/>
                <a:gd name="T60" fmla="*/ 157 w 1174"/>
                <a:gd name="T61" fmla="*/ 954 h 954"/>
                <a:gd name="T62" fmla="*/ 120 w 1174"/>
                <a:gd name="T63" fmla="*/ 949 h 954"/>
                <a:gd name="T64" fmla="*/ 91 w 1174"/>
                <a:gd name="T65" fmla="*/ 931 h 954"/>
                <a:gd name="T66" fmla="*/ 73 w 1174"/>
                <a:gd name="T67" fmla="*/ 911 h 954"/>
                <a:gd name="T68" fmla="*/ 27 w 1174"/>
                <a:gd name="T69" fmla="*/ 801 h 954"/>
                <a:gd name="T70" fmla="*/ 3 w 1174"/>
                <a:gd name="T71" fmla="*/ 689 h 954"/>
                <a:gd name="T72" fmla="*/ 1 w 1174"/>
                <a:gd name="T73" fmla="*/ 576 h 954"/>
                <a:gd name="T74" fmla="*/ 19 w 1174"/>
                <a:gd name="T75" fmla="*/ 466 h 954"/>
                <a:gd name="T76" fmla="*/ 57 w 1174"/>
                <a:gd name="T77" fmla="*/ 361 h 954"/>
                <a:gd name="T78" fmla="*/ 114 w 1174"/>
                <a:gd name="T79" fmla="*/ 265 h 954"/>
                <a:gd name="T80" fmla="*/ 187 w 1174"/>
                <a:gd name="T81" fmla="*/ 178 h 954"/>
                <a:gd name="T82" fmla="*/ 276 w 1174"/>
                <a:gd name="T83" fmla="*/ 105 h 954"/>
                <a:gd name="T84" fmla="*/ 383 w 1174"/>
                <a:gd name="T85" fmla="*/ 46 h 954"/>
                <a:gd name="T86" fmla="*/ 499 w 1174"/>
                <a:gd name="T87" fmla="*/ 11 h 954"/>
                <a:gd name="T88" fmla="*/ 619 w 1174"/>
                <a:gd name="T89"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74" h="954">
                  <a:moveTo>
                    <a:pt x="619" y="0"/>
                  </a:moveTo>
                  <a:lnTo>
                    <a:pt x="679" y="4"/>
                  </a:lnTo>
                  <a:lnTo>
                    <a:pt x="740" y="14"/>
                  </a:lnTo>
                  <a:lnTo>
                    <a:pt x="801" y="31"/>
                  </a:lnTo>
                  <a:lnTo>
                    <a:pt x="852" y="48"/>
                  </a:lnTo>
                  <a:lnTo>
                    <a:pt x="901" y="70"/>
                  </a:lnTo>
                  <a:lnTo>
                    <a:pt x="948" y="96"/>
                  </a:lnTo>
                  <a:lnTo>
                    <a:pt x="992" y="127"/>
                  </a:lnTo>
                  <a:lnTo>
                    <a:pt x="1033" y="162"/>
                  </a:lnTo>
                  <a:lnTo>
                    <a:pt x="1071" y="201"/>
                  </a:lnTo>
                  <a:lnTo>
                    <a:pt x="1106" y="242"/>
                  </a:lnTo>
                  <a:lnTo>
                    <a:pt x="1136" y="288"/>
                  </a:lnTo>
                  <a:lnTo>
                    <a:pt x="1163" y="335"/>
                  </a:lnTo>
                  <a:lnTo>
                    <a:pt x="1171" y="355"/>
                  </a:lnTo>
                  <a:lnTo>
                    <a:pt x="1174" y="374"/>
                  </a:lnTo>
                  <a:lnTo>
                    <a:pt x="1170" y="393"/>
                  </a:lnTo>
                  <a:lnTo>
                    <a:pt x="1163" y="411"/>
                  </a:lnTo>
                  <a:lnTo>
                    <a:pt x="1150" y="426"/>
                  </a:lnTo>
                  <a:lnTo>
                    <a:pt x="1133" y="439"/>
                  </a:lnTo>
                  <a:lnTo>
                    <a:pt x="1114" y="448"/>
                  </a:lnTo>
                  <a:lnTo>
                    <a:pt x="1095" y="450"/>
                  </a:lnTo>
                  <a:lnTo>
                    <a:pt x="1076" y="447"/>
                  </a:lnTo>
                  <a:lnTo>
                    <a:pt x="1058" y="438"/>
                  </a:lnTo>
                  <a:lnTo>
                    <a:pt x="1043" y="425"/>
                  </a:lnTo>
                  <a:lnTo>
                    <a:pt x="1029" y="410"/>
                  </a:lnTo>
                  <a:lnTo>
                    <a:pt x="1008" y="367"/>
                  </a:lnTo>
                  <a:lnTo>
                    <a:pt x="981" y="328"/>
                  </a:lnTo>
                  <a:lnTo>
                    <a:pt x="952" y="292"/>
                  </a:lnTo>
                  <a:lnTo>
                    <a:pt x="918" y="260"/>
                  </a:lnTo>
                  <a:lnTo>
                    <a:pt x="881" y="233"/>
                  </a:lnTo>
                  <a:lnTo>
                    <a:pt x="841" y="208"/>
                  </a:lnTo>
                  <a:lnTo>
                    <a:pt x="800" y="188"/>
                  </a:lnTo>
                  <a:lnTo>
                    <a:pt x="757" y="171"/>
                  </a:lnTo>
                  <a:lnTo>
                    <a:pt x="705" y="159"/>
                  </a:lnTo>
                  <a:lnTo>
                    <a:pt x="653" y="152"/>
                  </a:lnTo>
                  <a:lnTo>
                    <a:pt x="601" y="151"/>
                  </a:lnTo>
                  <a:lnTo>
                    <a:pt x="550" y="158"/>
                  </a:lnTo>
                  <a:lnTo>
                    <a:pt x="498" y="168"/>
                  </a:lnTo>
                  <a:lnTo>
                    <a:pt x="448" y="185"/>
                  </a:lnTo>
                  <a:lnTo>
                    <a:pt x="400" y="208"/>
                  </a:lnTo>
                  <a:lnTo>
                    <a:pt x="360" y="232"/>
                  </a:lnTo>
                  <a:lnTo>
                    <a:pt x="323" y="259"/>
                  </a:lnTo>
                  <a:lnTo>
                    <a:pt x="289" y="290"/>
                  </a:lnTo>
                  <a:lnTo>
                    <a:pt x="257" y="323"/>
                  </a:lnTo>
                  <a:lnTo>
                    <a:pt x="229" y="360"/>
                  </a:lnTo>
                  <a:lnTo>
                    <a:pt x="206" y="400"/>
                  </a:lnTo>
                  <a:lnTo>
                    <a:pt x="186" y="443"/>
                  </a:lnTo>
                  <a:lnTo>
                    <a:pt x="170" y="489"/>
                  </a:lnTo>
                  <a:lnTo>
                    <a:pt x="157" y="540"/>
                  </a:lnTo>
                  <a:lnTo>
                    <a:pt x="151" y="592"/>
                  </a:lnTo>
                  <a:lnTo>
                    <a:pt x="150" y="643"/>
                  </a:lnTo>
                  <a:lnTo>
                    <a:pt x="155" y="695"/>
                  </a:lnTo>
                  <a:lnTo>
                    <a:pt x="167" y="746"/>
                  </a:lnTo>
                  <a:lnTo>
                    <a:pt x="184" y="796"/>
                  </a:lnTo>
                  <a:lnTo>
                    <a:pt x="206" y="845"/>
                  </a:lnTo>
                  <a:lnTo>
                    <a:pt x="213" y="864"/>
                  </a:lnTo>
                  <a:lnTo>
                    <a:pt x="216" y="884"/>
                  </a:lnTo>
                  <a:lnTo>
                    <a:pt x="213" y="903"/>
                  </a:lnTo>
                  <a:lnTo>
                    <a:pt x="205" y="920"/>
                  </a:lnTo>
                  <a:lnTo>
                    <a:pt x="193" y="936"/>
                  </a:lnTo>
                  <a:lnTo>
                    <a:pt x="176" y="948"/>
                  </a:lnTo>
                  <a:lnTo>
                    <a:pt x="157" y="954"/>
                  </a:lnTo>
                  <a:lnTo>
                    <a:pt x="138" y="954"/>
                  </a:lnTo>
                  <a:lnTo>
                    <a:pt x="120" y="949"/>
                  </a:lnTo>
                  <a:lnTo>
                    <a:pt x="105" y="941"/>
                  </a:lnTo>
                  <a:lnTo>
                    <a:pt x="91" y="931"/>
                  </a:lnTo>
                  <a:lnTo>
                    <a:pt x="81" y="921"/>
                  </a:lnTo>
                  <a:lnTo>
                    <a:pt x="73" y="911"/>
                  </a:lnTo>
                  <a:lnTo>
                    <a:pt x="47" y="856"/>
                  </a:lnTo>
                  <a:lnTo>
                    <a:pt x="27" y="801"/>
                  </a:lnTo>
                  <a:lnTo>
                    <a:pt x="13" y="745"/>
                  </a:lnTo>
                  <a:lnTo>
                    <a:pt x="3" y="689"/>
                  </a:lnTo>
                  <a:lnTo>
                    <a:pt x="0" y="632"/>
                  </a:lnTo>
                  <a:lnTo>
                    <a:pt x="1" y="576"/>
                  </a:lnTo>
                  <a:lnTo>
                    <a:pt x="7" y="521"/>
                  </a:lnTo>
                  <a:lnTo>
                    <a:pt x="19" y="466"/>
                  </a:lnTo>
                  <a:lnTo>
                    <a:pt x="36" y="413"/>
                  </a:lnTo>
                  <a:lnTo>
                    <a:pt x="57" y="361"/>
                  </a:lnTo>
                  <a:lnTo>
                    <a:pt x="83" y="311"/>
                  </a:lnTo>
                  <a:lnTo>
                    <a:pt x="114" y="265"/>
                  </a:lnTo>
                  <a:lnTo>
                    <a:pt x="147" y="219"/>
                  </a:lnTo>
                  <a:lnTo>
                    <a:pt x="187" y="178"/>
                  </a:lnTo>
                  <a:lnTo>
                    <a:pt x="229" y="140"/>
                  </a:lnTo>
                  <a:lnTo>
                    <a:pt x="276" y="105"/>
                  </a:lnTo>
                  <a:lnTo>
                    <a:pt x="327" y="74"/>
                  </a:lnTo>
                  <a:lnTo>
                    <a:pt x="383" y="46"/>
                  </a:lnTo>
                  <a:lnTo>
                    <a:pt x="440" y="25"/>
                  </a:lnTo>
                  <a:lnTo>
                    <a:pt x="499" y="11"/>
                  </a:lnTo>
                  <a:lnTo>
                    <a:pt x="558" y="2"/>
                  </a:lnTo>
                  <a:lnTo>
                    <a:pt x="61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5" name="Freeform 8"/>
            <p:cNvSpPr>
              <a:spLocks noEditPoints="1"/>
            </p:cNvSpPr>
            <p:nvPr/>
          </p:nvSpPr>
          <p:spPr bwMode="auto">
            <a:xfrm>
              <a:off x="793751" y="3595688"/>
              <a:ext cx="495300" cy="449263"/>
            </a:xfrm>
            <a:custGeom>
              <a:avLst/>
              <a:gdLst>
                <a:gd name="T0" fmla="*/ 1449 w 2805"/>
                <a:gd name="T1" fmla="*/ 2389 h 2551"/>
                <a:gd name="T2" fmla="*/ 438 w 2805"/>
                <a:gd name="T3" fmla="*/ 150 h 2551"/>
                <a:gd name="T4" fmla="*/ 375 w 2805"/>
                <a:gd name="T5" fmla="*/ 176 h 2551"/>
                <a:gd name="T6" fmla="*/ 337 w 2805"/>
                <a:gd name="T7" fmla="*/ 231 h 2551"/>
                <a:gd name="T8" fmla="*/ 337 w 2805"/>
                <a:gd name="T9" fmla="*/ 298 h 2551"/>
                <a:gd name="T10" fmla="*/ 877 w 2805"/>
                <a:gd name="T11" fmla="*/ 1322 h 2551"/>
                <a:gd name="T12" fmla="*/ 868 w 2805"/>
                <a:gd name="T13" fmla="*/ 1375 h 2551"/>
                <a:gd name="T14" fmla="*/ 825 w 2805"/>
                <a:gd name="T15" fmla="*/ 1406 h 2551"/>
                <a:gd name="T16" fmla="*/ 300 w 2805"/>
                <a:gd name="T17" fmla="*/ 1257 h 2551"/>
                <a:gd name="T18" fmla="*/ 231 w 2805"/>
                <a:gd name="T19" fmla="*/ 1257 h 2551"/>
                <a:gd name="T20" fmla="*/ 176 w 2805"/>
                <a:gd name="T21" fmla="*/ 1294 h 2551"/>
                <a:gd name="T22" fmla="*/ 151 w 2805"/>
                <a:gd name="T23" fmla="*/ 1358 h 2551"/>
                <a:gd name="T24" fmla="*/ 163 w 2805"/>
                <a:gd name="T25" fmla="*/ 1422 h 2551"/>
                <a:gd name="T26" fmla="*/ 211 w 2805"/>
                <a:gd name="T27" fmla="*/ 1470 h 2551"/>
                <a:gd name="T28" fmla="*/ 1094 w 2805"/>
                <a:gd name="T29" fmla="*/ 1743 h 2551"/>
                <a:gd name="T30" fmla="*/ 1199 w 2805"/>
                <a:gd name="T31" fmla="*/ 1916 h 2551"/>
                <a:gd name="T32" fmla="*/ 1884 w 2805"/>
                <a:gd name="T33" fmla="*/ 332 h 2551"/>
                <a:gd name="T34" fmla="*/ 1827 w 2805"/>
                <a:gd name="T35" fmla="*/ 290 h 2551"/>
                <a:gd name="T36" fmla="*/ 1757 w 2805"/>
                <a:gd name="T37" fmla="*/ 281 h 2551"/>
                <a:gd name="T38" fmla="*/ 844 w 2805"/>
                <a:gd name="T39" fmla="*/ 758 h 2551"/>
                <a:gd name="T40" fmla="*/ 521 w 2805"/>
                <a:gd name="T41" fmla="*/ 175 h 2551"/>
                <a:gd name="T42" fmla="*/ 460 w 2805"/>
                <a:gd name="T43" fmla="*/ 150 h 2551"/>
                <a:gd name="T44" fmla="*/ 492 w 2805"/>
                <a:gd name="T45" fmla="*/ 3 h 2551"/>
                <a:gd name="T46" fmla="*/ 588 w 2805"/>
                <a:gd name="T47" fmla="*/ 39 h 2551"/>
                <a:gd name="T48" fmla="*/ 664 w 2805"/>
                <a:gd name="T49" fmla="*/ 109 h 2551"/>
                <a:gd name="T50" fmla="*/ 1643 w 2805"/>
                <a:gd name="T51" fmla="*/ 163 h 2551"/>
                <a:gd name="T52" fmla="*/ 1751 w 2805"/>
                <a:gd name="T53" fmla="*/ 130 h 2551"/>
                <a:gd name="T54" fmla="*/ 1859 w 2805"/>
                <a:gd name="T55" fmla="*/ 141 h 2551"/>
                <a:gd name="T56" fmla="*/ 1957 w 2805"/>
                <a:gd name="T57" fmla="*/ 193 h 2551"/>
                <a:gd name="T58" fmla="*/ 2029 w 2805"/>
                <a:gd name="T59" fmla="*/ 280 h 2551"/>
                <a:gd name="T60" fmla="*/ 2805 w 2805"/>
                <a:gd name="T61" fmla="*/ 1757 h 2551"/>
                <a:gd name="T62" fmla="*/ 2793 w 2805"/>
                <a:gd name="T63" fmla="*/ 1820 h 2551"/>
                <a:gd name="T64" fmla="*/ 2746 w 2805"/>
                <a:gd name="T65" fmla="*/ 1868 h 2551"/>
                <a:gd name="T66" fmla="*/ 1445 w 2805"/>
                <a:gd name="T67" fmla="*/ 2551 h 2551"/>
                <a:gd name="T68" fmla="*/ 1381 w 2805"/>
                <a:gd name="T69" fmla="*/ 2538 h 2551"/>
                <a:gd name="T70" fmla="*/ 1335 w 2805"/>
                <a:gd name="T71" fmla="*/ 2491 h 2551"/>
                <a:gd name="T72" fmla="*/ 152 w 2805"/>
                <a:gd name="T73" fmla="*/ 1607 h 2551"/>
                <a:gd name="T74" fmla="*/ 63 w 2805"/>
                <a:gd name="T75" fmla="*/ 1539 h 2551"/>
                <a:gd name="T76" fmla="*/ 11 w 2805"/>
                <a:gd name="T77" fmla="*/ 1441 h 2551"/>
                <a:gd name="T78" fmla="*/ 3 w 2805"/>
                <a:gd name="T79" fmla="*/ 1329 h 2551"/>
                <a:gd name="T80" fmla="*/ 45 w 2805"/>
                <a:gd name="T81" fmla="*/ 1220 h 2551"/>
                <a:gd name="T82" fmla="*/ 125 w 2805"/>
                <a:gd name="T83" fmla="*/ 1142 h 2551"/>
                <a:gd name="T84" fmla="*/ 229 w 2805"/>
                <a:gd name="T85" fmla="*/ 1104 h 2551"/>
                <a:gd name="T86" fmla="*/ 344 w 2805"/>
                <a:gd name="T87" fmla="*/ 1113 h 2551"/>
                <a:gd name="T88" fmla="*/ 199 w 2805"/>
                <a:gd name="T89" fmla="*/ 357 h 2551"/>
                <a:gd name="T90" fmla="*/ 182 w 2805"/>
                <a:gd name="T91" fmla="*/ 255 h 2551"/>
                <a:gd name="T92" fmla="*/ 206 w 2805"/>
                <a:gd name="T93" fmla="*/ 156 h 2551"/>
                <a:gd name="T94" fmla="*/ 265 w 2805"/>
                <a:gd name="T95" fmla="*/ 73 h 2551"/>
                <a:gd name="T96" fmla="*/ 356 w 2805"/>
                <a:gd name="T97" fmla="*/ 15 h 2551"/>
                <a:gd name="T98" fmla="*/ 458 w 2805"/>
                <a:gd name="T99" fmla="*/ 0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05" h="2551">
                  <a:moveTo>
                    <a:pt x="2469" y="1425"/>
                  </a:moveTo>
                  <a:lnTo>
                    <a:pt x="1275" y="2062"/>
                  </a:lnTo>
                  <a:lnTo>
                    <a:pt x="1449" y="2389"/>
                  </a:lnTo>
                  <a:lnTo>
                    <a:pt x="2643" y="1751"/>
                  </a:lnTo>
                  <a:lnTo>
                    <a:pt x="2469" y="1425"/>
                  </a:lnTo>
                  <a:close/>
                  <a:moveTo>
                    <a:pt x="438" y="150"/>
                  </a:moveTo>
                  <a:lnTo>
                    <a:pt x="415" y="154"/>
                  </a:lnTo>
                  <a:lnTo>
                    <a:pt x="394" y="164"/>
                  </a:lnTo>
                  <a:lnTo>
                    <a:pt x="375" y="176"/>
                  </a:lnTo>
                  <a:lnTo>
                    <a:pt x="359" y="192"/>
                  </a:lnTo>
                  <a:lnTo>
                    <a:pt x="346" y="211"/>
                  </a:lnTo>
                  <a:lnTo>
                    <a:pt x="337" y="231"/>
                  </a:lnTo>
                  <a:lnTo>
                    <a:pt x="333" y="254"/>
                  </a:lnTo>
                  <a:lnTo>
                    <a:pt x="333" y="276"/>
                  </a:lnTo>
                  <a:lnTo>
                    <a:pt x="337" y="298"/>
                  </a:lnTo>
                  <a:lnTo>
                    <a:pt x="346" y="320"/>
                  </a:lnTo>
                  <a:lnTo>
                    <a:pt x="871" y="1303"/>
                  </a:lnTo>
                  <a:lnTo>
                    <a:pt x="877" y="1322"/>
                  </a:lnTo>
                  <a:lnTo>
                    <a:pt x="880" y="1341"/>
                  </a:lnTo>
                  <a:lnTo>
                    <a:pt x="876" y="1359"/>
                  </a:lnTo>
                  <a:lnTo>
                    <a:pt x="868" y="1375"/>
                  </a:lnTo>
                  <a:lnTo>
                    <a:pt x="857" y="1388"/>
                  </a:lnTo>
                  <a:lnTo>
                    <a:pt x="842" y="1399"/>
                  </a:lnTo>
                  <a:lnTo>
                    <a:pt x="825" y="1406"/>
                  </a:lnTo>
                  <a:lnTo>
                    <a:pt x="806" y="1408"/>
                  </a:lnTo>
                  <a:lnTo>
                    <a:pt x="787" y="1405"/>
                  </a:lnTo>
                  <a:lnTo>
                    <a:pt x="300" y="1257"/>
                  </a:lnTo>
                  <a:lnTo>
                    <a:pt x="277" y="1253"/>
                  </a:lnTo>
                  <a:lnTo>
                    <a:pt x="254" y="1253"/>
                  </a:lnTo>
                  <a:lnTo>
                    <a:pt x="231" y="1257"/>
                  </a:lnTo>
                  <a:lnTo>
                    <a:pt x="211" y="1266"/>
                  </a:lnTo>
                  <a:lnTo>
                    <a:pt x="192" y="1278"/>
                  </a:lnTo>
                  <a:lnTo>
                    <a:pt x="176" y="1294"/>
                  </a:lnTo>
                  <a:lnTo>
                    <a:pt x="163" y="1312"/>
                  </a:lnTo>
                  <a:lnTo>
                    <a:pt x="155" y="1334"/>
                  </a:lnTo>
                  <a:lnTo>
                    <a:pt x="151" y="1358"/>
                  </a:lnTo>
                  <a:lnTo>
                    <a:pt x="151" y="1380"/>
                  </a:lnTo>
                  <a:lnTo>
                    <a:pt x="155" y="1402"/>
                  </a:lnTo>
                  <a:lnTo>
                    <a:pt x="163" y="1422"/>
                  </a:lnTo>
                  <a:lnTo>
                    <a:pt x="176" y="1441"/>
                  </a:lnTo>
                  <a:lnTo>
                    <a:pt x="192" y="1457"/>
                  </a:lnTo>
                  <a:lnTo>
                    <a:pt x="211" y="1470"/>
                  </a:lnTo>
                  <a:lnTo>
                    <a:pt x="232" y="1478"/>
                  </a:lnTo>
                  <a:lnTo>
                    <a:pt x="1078" y="1735"/>
                  </a:lnTo>
                  <a:lnTo>
                    <a:pt x="1094" y="1743"/>
                  </a:lnTo>
                  <a:lnTo>
                    <a:pt x="1109" y="1755"/>
                  </a:lnTo>
                  <a:lnTo>
                    <a:pt x="1119" y="1770"/>
                  </a:lnTo>
                  <a:lnTo>
                    <a:pt x="1199" y="1916"/>
                  </a:lnTo>
                  <a:lnTo>
                    <a:pt x="2393" y="1279"/>
                  </a:lnTo>
                  <a:lnTo>
                    <a:pt x="1898" y="353"/>
                  </a:lnTo>
                  <a:lnTo>
                    <a:pt x="1884" y="332"/>
                  </a:lnTo>
                  <a:lnTo>
                    <a:pt x="1867" y="314"/>
                  </a:lnTo>
                  <a:lnTo>
                    <a:pt x="1848" y="300"/>
                  </a:lnTo>
                  <a:lnTo>
                    <a:pt x="1827" y="290"/>
                  </a:lnTo>
                  <a:lnTo>
                    <a:pt x="1804" y="282"/>
                  </a:lnTo>
                  <a:lnTo>
                    <a:pt x="1780" y="279"/>
                  </a:lnTo>
                  <a:lnTo>
                    <a:pt x="1757" y="281"/>
                  </a:lnTo>
                  <a:lnTo>
                    <a:pt x="1733" y="286"/>
                  </a:lnTo>
                  <a:lnTo>
                    <a:pt x="1709" y="296"/>
                  </a:lnTo>
                  <a:lnTo>
                    <a:pt x="844" y="758"/>
                  </a:lnTo>
                  <a:lnTo>
                    <a:pt x="551" y="210"/>
                  </a:lnTo>
                  <a:lnTo>
                    <a:pt x="538" y="191"/>
                  </a:lnTo>
                  <a:lnTo>
                    <a:pt x="521" y="175"/>
                  </a:lnTo>
                  <a:lnTo>
                    <a:pt x="503" y="163"/>
                  </a:lnTo>
                  <a:lnTo>
                    <a:pt x="482" y="154"/>
                  </a:lnTo>
                  <a:lnTo>
                    <a:pt x="460" y="150"/>
                  </a:lnTo>
                  <a:lnTo>
                    <a:pt x="438" y="150"/>
                  </a:lnTo>
                  <a:close/>
                  <a:moveTo>
                    <a:pt x="458" y="0"/>
                  </a:moveTo>
                  <a:lnTo>
                    <a:pt x="492" y="3"/>
                  </a:lnTo>
                  <a:lnTo>
                    <a:pt x="526" y="10"/>
                  </a:lnTo>
                  <a:lnTo>
                    <a:pt x="558" y="23"/>
                  </a:lnTo>
                  <a:lnTo>
                    <a:pt x="588" y="39"/>
                  </a:lnTo>
                  <a:lnTo>
                    <a:pt x="616" y="58"/>
                  </a:lnTo>
                  <a:lnTo>
                    <a:pt x="642" y="82"/>
                  </a:lnTo>
                  <a:lnTo>
                    <a:pt x="664" y="109"/>
                  </a:lnTo>
                  <a:lnTo>
                    <a:pt x="683" y="139"/>
                  </a:lnTo>
                  <a:lnTo>
                    <a:pt x="905" y="556"/>
                  </a:lnTo>
                  <a:lnTo>
                    <a:pt x="1643" y="163"/>
                  </a:lnTo>
                  <a:lnTo>
                    <a:pt x="1678" y="147"/>
                  </a:lnTo>
                  <a:lnTo>
                    <a:pt x="1714" y="136"/>
                  </a:lnTo>
                  <a:lnTo>
                    <a:pt x="1751" y="130"/>
                  </a:lnTo>
                  <a:lnTo>
                    <a:pt x="1788" y="130"/>
                  </a:lnTo>
                  <a:lnTo>
                    <a:pt x="1824" y="133"/>
                  </a:lnTo>
                  <a:lnTo>
                    <a:pt x="1859" y="141"/>
                  </a:lnTo>
                  <a:lnTo>
                    <a:pt x="1894" y="154"/>
                  </a:lnTo>
                  <a:lnTo>
                    <a:pt x="1926" y="171"/>
                  </a:lnTo>
                  <a:lnTo>
                    <a:pt x="1957" y="193"/>
                  </a:lnTo>
                  <a:lnTo>
                    <a:pt x="1983" y="218"/>
                  </a:lnTo>
                  <a:lnTo>
                    <a:pt x="2008" y="247"/>
                  </a:lnTo>
                  <a:lnTo>
                    <a:pt x="2029" y="280"/>
                  </a:lnTo>
                  <a:lnTo>
                    <a:pt x="2793" y="1713"/>
                  </a:lnTo>
                  <a:lnTo>
                    <a:pt x="2801" y="1734"/>
                  </a:lnTo>
                  <a:lnTo>
                    <a:pt x="2805" y="1757"/>
                  </a:lnTo>
                  <a:lnTo>
                    <a:pt x="2805" y="1778"/>
                  </a:lnTo>
                  <a:lnTo>
                    <a:pt x="2801" y="1800"/>
                  </a:lnTo>
                  <a:lnTo>
                    <a:pt x="2793" y="1820"/>
                  </a:lnTo>
                  <a:lnTo>
                    <a:pt x="2781" y="1838"/>
                  </a:lnTo>
                  <a:lnTo>
                    <a:pt x="2765" y="1854"/>
                  </a:lnTo>
                  <a:lnTo>
                    <a:pt x="2746" y="1868"/>
                  </a:lnTo>
                  <a:lnTo>
                    <a:pt x="1489" y="2538"/>
                  </a:lnTo>
                  <a:lnTo>
                    <a:pt x="1467" y="2546"/>
                  </a:lnTo>
                  <a:lnTo>
                    <a:pt x="1445" y="2551"/>
                  </a:lnTo>
                  <a:lnTo>
                    <a:pt x="1423" y="2551"/>
                  </a:lnTo>
                  <a:lnTo>
                    <a:pt x="1402" y="2546"/>
                  </a:lnTo>
                  <a:lnTo>
                    <a:pt x="1381" y="2538"/>
                  </a:lnTo>
                  <a:lnTo>
                    <a:pt x="1363" y="2526"/>
                  </a:lnTo>
                  <a:lnTo>
                    <a:pt x="1348" y="2510"/>
                  </a:lnTo>
                  <a:lnTo>
                    <a:pt x="1335" y="2491"/>
                  </a:lnTo>
                  <a:lnTo>
                    <a:pt x="1003" y="1870"/>
                  </a:lnTo>
                  <a:lnTo>
                    <a:pt x="189" y="1622"/>
                  </a:lnTo>
                  <a:lnTo>
                    <a:pt x="152" y="1607"/>
                  </a:lnTo>
                  <a:lnTo>
                    <a:pt x="119" y="1589"/>
                  </a:lnTo>
                  <a:lnTo>
                    <a:pt x="89" y="1566"/>
                  </a:lnTo>
                  <a:lnTo>
                    <a:pt x="63" y="1539"/>
                  </a:lnTo>
                  <a:lnTo>
                    <a:pt x="41" y="1509"/>
                  </a:lnTo>
                  <a:lnTo>
                    <a:pt x="23" y="1476"/>
                  </a:lnTo>
                  <a:lnTo>
                    <a:pt x="11" y="1441"/>
                  </a:lnTo>
                  <a:lnTo>
                    <a:pt x="3" y="1404"/>
                  </a:lnTo>
                  <a:lnTo>
                    <a:pt x="0" y="1367"/>
                  </a:lnTo>
                  <a:lnTo>
                    <a:pt x="3" y="1329"/>
                  </a:lnTo>
                  <a:lnTo>
                    <a:pt x="12" y="1290"/>
                  </a:lnTo>
                  <a:lnTo>
                    <a:pt x="26" y="1253"/>
                  </a:lnTo>
                  <a:lnTo>
                    <a:pt x="45" y="1220"/>
                  </a:lnTo>
                  <a:lnTo>
                    <a:pt x="68" y="1189"/>
                  </a:lnTo>
                  <a:lnTo>
                    <a:pt x="95" y="1164"/>
                  </a:lnTo>
                  <a:lnTo>
                    <a:pt x="125" y="1142"/>
                  </a:lnTo>
                  <a:lnTo>
                    <a:pt x="158" y="1125"/>
                  </a:lnTo>
                  <a:lnTo>
                    <a:pt x="193" y="1112"/>
                  </a:lnTo>
                  <a:lnTo>
                    <a:pt x="229" y="1104"/>
                  </a:lnTo>
                  <a:lnTo>
                    <a:pt x="267" y="1101"/>
                  </a:lnTo>
                  <a:lnTo>
                    <a:pt x="306" y="1105"/>
                  </a:lnTo>
                  <a:lnTo>
                    <a:pt x="344" y="1113"/>
                  </a:lnTo>
                  <a:lnTo>
                    <a:pt x="649" y="1206"/>
                  </a:lnTo>
                  <a:lnTo>
                    <a:pt x="214" y="390"/>
                  </a:lnTo>
                  <a:lnTo>
                    <a:pt x="199" y="357"/>
                  </a:lnTo>
                  <a:lnTo>
                    <a:pt x="189" y="323"/>
                  </a:lnTo>
                  <a:lnTo>
                    <a:pt x="184" y="290"/>
                  </a:lnTo>
                  <a:lnTo>
                    <a:pt x="182" y="255"/>
                  </a:lnTo>
                  <a:lnTo>
                    <a:pt x="187" y="221"/>
                  </a:lnTo>
                  <a:lnTo>
                    <a:pt x="194" y="188"/>
                  </a:lnTo>
                  <a:lnTo>
                    <a:pt x="206" y="156"/>
                  </a:lnTo>
                  <a:lnTo>
                    <a:pt x="222" y="126"/>
                  </a:lnTo>
                  <a:lnTo>
                    <a:pt x="242" y="98"/>
                  </a:lnTo>
                  <a:lnTo>
                    <a:pt x="265" y="73"/>
                  </a:lnTo>
                  <a:lnTo>
                    <a:pt x="293" y="49"/>
                  </a:lnTo>
                  <a:lnTo>
                    <a:pt x="324" y="30"/>
                  </a:lnTo>
                  <a:lnTo>
                    <a:pt x="356" y="15"/>
                  </a:lnTo>
                  <a:lnTo>
                    <a:pt x="390" y="6"/>
                  </a:lnTo>
                  <a:lnTo>
                    <a:pt x="424" y="0"/>
                  </a:lnTo>
                  <a:lnTo>
                    <a:pt x="458"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36" name="Group 40"/>
          <p:cNvGrpSpPr/>
          <p:nvPr/>
        </p:nvGrpSpPr>
        <p:grpSpPr>
          <a:xfrm>
            <a:off x="5940600" y="2808326"/>
            <a:ext cx="270767" cy="348454"/>
            <a:chOff x="3457575" y="2789238"/>
            <a:chExt cx="376238" cy="484187"/>
          </a:xfrm>
          <a:solidFill>
            <a:schemeClr val="bg1"/>
          </a:solidFill>
        </p:grpSpPr>
        <p:sp>
          <p:nvSpPr>
            <p:cNvPr id="37" name="Freeform 55"/>
            <p:cNvSpPr>
              <a:spLocks noEditPoints="1"/>
            </p:cNvSpPr>
            <p:nvPr/>
          </p:nvSpPr>
          <p:spPr bwMode="auto">
            <a:xfrm>
              <a:off x="3543300" y="2789238"/>
              <a:ext cx="201613" cy="200025"/>
            </a:xfrm>
            <a:custGeom>
              <a:avLst/>
              <a:gdLst>
                <a:gd name="T0" fmla="*/ 522 w 1139"/>
                <a:gd name="T1" fmla="*/ 158 h 1142"/>
                <a:gd name="T2" fmla="*/ 430 w 1139"/>
                <a:gd name="T3" fmla="*/ 179 h 1142"/>
                <a:gd name="T4" fmla="*/ 346 w 1139"/>
                <a:gd name="T5" fmla="*/ 220 h 1142"/>
                <a:gd name="T6" fmla="*/ 274 w 1139"/>
                <a:gd name="T7" fmla="*/ 277 h 1142"/>
                <a:gd name="T8" fmla="*/ 215 w 1139"/>
                <a:gd name="T9" fmla="*/ 350 h 1142"/>
                <a:gd name="T10" fmla="*/ 174 w 1139"/>
                <a:gd name="T11" fmla="*/ 433 h 1142"/>
                <a:gd name="T12" fmla="*/ 152 w 1139"/>
                <a:gd name="T13" fmla="*/ 527 h 1142"/>
                <a:gd name="T14" fmla="*/ 152 w 1139"/>
                <a:gd name="T15" fmla="*/ 626 h 1142"/>
                <a:gd name="T16" fmla="*/ 173 w 1139"/>
                <a:gd name="T17" fmla="*/ 718 h 1142"/>
                <a:gd name="T18" fmla="*/ 214 w 1139"/>
                <a:gd name="T19" fmla="*/ 803 h 1142"/>
                <a:gd name="T20" fmla="*/ 271 w 1139"/>
                <a:gd name="T21" fmla="*/ 875 h 1142"/>
                <a:gd name="T22" fmla="*/ 343 w 1139"/>
                <a:gd name="T23" fmla="*/ 933 h 1142"/>
                <a:gd name="T24" fmla="*/ 427 w 1139"/>
                <a:gd name="T25" fmla="*/ 975 h 1142"/>
                <a:gd name="T26" fmla="*/ 520 w 1139"/>
                <a:gd name="T27" fmla="*/ 997 h 1142"/>
                <a:gd name="T28" fmla="*/ 618 w 1139"/>
                <a:gd name="T29" fmla="*/ 997 h 1142"/>
                <a:gd name="T30" fmla="*/ 711 w 1139"/>
                <a:gd name="T31" fmla="*/ 976 h 1142"/>
                <a:gd name="T32" fmla="*/ 794 w 1139"/>
                <a:gd name="T33" fmla="*/ 935 h 1142"/>
                <a:gd name="T34" fmla="*/ 867 w 1139"/>
                <a:gd name="T35" fmla="*/ 878 h 1142"/>
                <a:gd name="T36" fmla="*/ 925 w 1139"/>
                <a:gd name="T37" fmla="*/ 805 h 1142"/>
                <a:gd name="T38" fmla="*/ 967 w 1139"/>
                <a:gd name="T39" fmla="*/ 721 h 1142"/>
                <a:gd name="T40" fmla="*/ 988 w 1139"/>
                <a:gd name="T41" fmla="*/ 628 h 1142"/>
                <a:gd name="T42" fmla="*/ 988 w 1139"/>
                <a:gd name="T43" fmla="*/ 524 h 1142"/>
                <a:gd name="T44" fmla="*/ 964 w 1139"/>
                <a:gd name="T45" fmla="*/ 424 h 1142"/>
                <a:gd name="T46" fmla="*/ 916 w 1139"/>
                <a:gd name="T47" fmla="*/ 335 h 1142"/>
                <a:gd name="T48" fmla="*/ 851 w 1139"/>
                <a:gd name="T49" fmla="*/ 260 h 1142"/>
                <a:gd name="T50" fmla="*/ 770 w 1139"/>
                <a:gd name="T51" fmla="*/ 204 h 1142"/>
                <a:gd name="T52" fmla="*/ 675 w 1139"/>
                <a:gd name="T53" fmla="*/ 168 h 1142"/>
                <a:gd name="T54" fmla="*/ 570 w 1139"/>
                <a:gd name="T55" fmla="*/ 155 h 1142"/>
                <a:gd name="T56" fmla="*/ 629 w 1139"/>
                <a:gd name="T57" fmla="*/ 3 h 1142"/>
                <a:gd name="T58" fmla="*/ 740 w 1139"/>
                <a:gd name="T59" fmla="*/ 25 h 1142"/>
                <a:gd name="T60" fmla="*/ 844 w 1139"/>
                <a:gd name="T61" fmla="*/ 68 h 1142"/>
                <a:gd name="T62" fmla="*/ 934 w 1139"/>
                <a:gd name="T63" fmla="*/ 128 h 1142"/>
                <a:gd name="T64" fmla="*/ 1011 w 1139"/>
                <a:gd name="T65" fmla="*/ 205 h 1142"/>
                <a:gd name="T66" fmla="*/ 1071 w 1139"/>
                <a:gd name="T67" fmla="*/ 296 h 1142"/>
                <a:gd name="T68" fmla="*/ 1114 w 1139"/>
                <a:gd name="T69" fmla="*/ 400 h 1142"/>
                <a:gd name="T70" fmla="*/ 1136 w 1139"/>
                <a:gd name="T71" fmla="*/ 511 h 1142"/>
                <a:gd name="T72" fmla="*/ 1136 w 1139"/>
                <a:gd name="T73" fmla="*/ 630 h 1142"/>
                <a:gd name="T74" fmla="*/ 1114 w 1139"/>
                <a:gd name="T75" fmla="*/ 742 h 1142"/>
                <a:gd name="T76" fmla="*/ 1071 w 1139"/>
                <a:gd name="T77" fmla="*/ 844 h 1142"/>
                <a:gd name="T78" fmla="*/ 1010 w 1139"/>
                <a:gd name="T79" fmla="*/ 935 h 1142"/>
                <a:gd name="T80" fmla="*/ 933 w 1139"/>
                <a:gd name="T81" fmla="*/ 1012 h 1142"/>
                <a:gd name="T82" fmla="*/ 843 w 1139"/>
                <a:gd name="T83" fmla="*/ 1073 h 1142"/>
                <a:gd name="T84" fmla="*/ 740 w 1139"/>
                <a:gd name="T85" fmla="*/ 1116 h 1142"/>
                <a:gd name="T86" fmla="*/ 629 w 1139"/>
                <a:gd name="T87" fmla="*/ 1138 h 1142"/>
                <a:gd name="T88" fmla="*/ 512 w 1139"/>
                <a:gd name="T89" fmla="*/ 1138 h 1142"/>
                <a:gd name="T90" fmla="*/ 403 w 1139"/>
                <a:gd name="T91" fmla="*/ 1116 h 1142"/>
                <a:gd name="T92" fmla="*/ 300 w 1139"/>
                <a:gd name="T93" fmla="*/ 1073 h 1142"/>
                <a:gd name="T94" fmla="*/ 210 w 1139"/>
                <a:gd name="T95" fmla="*/ 1012 h 1142"/>
                <a:gd name="T96" fmla="*/ 132 w 1139"/>
                <a:gd name="T97" fmla="*/ 935 h 1142"/>
                <a:gd name="T98" fmla="*/ 70 w 1139"/>
                <a:gd name="T99" fmla="*/ 844 h 1142"/>
                <a:gd name="T100" fmla="*/ 27 w 1139"/>
                <a:gd name="T101" fmla="*/ 742 h 1142"/>
                <a:gd name="T102" fmla="*/ 4 w 1139"/>
                <a:gd name="T103" fmla="*/ 630 h 1142"/>
                <a:gd name="T104" fmla="*/ 4 w 1139"/>
                <a:gd name="T105" fmla="*/ 511 h 1142"/>
                <a:gd name="T106" fmla="*/ 26 w 1139"/>
                <a:gd name="T107" fmla="*/ 400 h 1142"/>
                <a:gd name="T108" fmla="*/ 69 w 1139"/>
                <a:gd name="T109" fmla="*/ 296 h 1142"/>
                <a:gd name="T110" fmla="*/ 130 w 1139"/>
                <a:gd name="T111" fmla="*/ 205 h 1142"/>
                <a:gd name="T112" fmla="*/ 207 w 1139"/>
                <a:gd name="T113" fmla="*/ 128 h 1142"/>
                <a:gd name="T114" fmla="*/ 297 w 1139"/>
                <a:gd name="T115" fmla="*/ 68 h 1142"/>
                <a:gd name="T116" fmla="*/ 399 w 1139"/>
                <a:gd name="T117" fmla="*/ 25 h 1142"/>
                <a:gd name="T118" fmla="*/ 511 w 1139"/>
                <a:gd name="T119" fmla="*/ 3 h 1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1142">
                  <a:moveTo>
                    <a:pt x="570" y="155"/>
                  </a:moveTo>
                  <a:lnTo>
                    <a:pt x="522" y="158"/>
                  </a:lnTo>
                  <a:lnTo>
                    <a:pt x="474" y="166"/>
                  </a:lnTo>
                  <a:lnTo>
                    <a:pt x="430" y="179"/>
                  </a:lnTo>
                  <a:lnTo>
                    <a:pt x="387" y="198"/>
                  </a:lnTo>
                  <a:lnTo>
                    <a:pt x="346" y="220"/>
                  </a:lnTo>
                  <a:lnTo>
                    <a:pt x="308" y="247"/>
                  </a:lnTo>
                  <a:lnTo>
                    <a:pt x="274" y="277"/>
                  </a:lnTo>
                  <a:lnTo>
                    <a:pt x="243" y="312"/>
                  </a:lnTo>
                  <a:lnTo>
                    <a:pt x="215" y="350"/>
                  </a:lnTo>
                  <a:lnTo>
                    <a:pt x="192" y="390"/>
                  </a:lnTo>
                  <a:lnTo>
                    <a:pt x="174" y="433"/>
                  </a:lnTo>
                  <a:lnTo>
                    <a:pt x="160" y="480"/>
                  </a:lnTo>
                  <a:lnTo>
                    <a:pt x="152" y="527"/>
                  </a:lnTo>
                  <a:lnTo>
                    <a:pt x="149" y="578"/>
                  </a:lnTo>
                  <a:lnTo>
                    <a:pt x="152" y="626"/>
                  </a:lnTo>
                  <a:lnTo>
                    <a:pt x="160" y="673"/>
                  </a:lnTo>
                  <a:lnTo>
                    <a:pt x="173" y="718"/>
                  </a:lnTo>
                  <a:lnTo>
                    <a:pt x="191" y="762"/>
                  </a:lnTo>
                  <a:lnTo>
                    <a:pt x="214" y="803"/>
                  </a:lnTo>
                  <a:lnTo>
                    <a:pt x="240" y="840"/>
                  </a:lnTo>
                  <a:lnTo>
                    <a:pt x="271" y="875"/>
                  </a:lnTo>
                  <a:lnTo>
                    <a:pt x="306" y="906"/>
                  </a:lnTo>
                  <a:lnTo>
                    <a:pt x="343" y="933"/>
                  </a:lnTo>
                  <a:lnTo>
                    <a:pt x="384" y="956"/>
                  </a:lnTo>
                  <a:lnTo>
                    <a:pt x="427" y="975"/>
                  </a:lnTo>
                  <a:lnTo>
                    <a:pt x="472" y="989"/>
                  </a:lnTo>
                  <a:lnTo>
                    <a:pt x="520" y="997"/>
                  </a:lnTo>
                  <a:lnTo>
                    <a:pt x="570" y="1000"/>
                  </a:lnTo>
                  <a:lnTo>
                    <a:pt x="618" y="997"/>
                  </a:lnTo>
                  <a:lnTo>
                    <a:pt x="666" y="989"/>
                  </a:lnTo>
                  <a:lnTo>
                    <a:pt x="711" y="976"/>
                  </a:lnTo>
                  <a:lnTo>
                    <a:pt x="754" y="958"/>
                  </a:lnTo>
                  <a:lnTo>
                    <a:pt x="794" y="935"/>
                  </a:lnTo>
                  <a:lnTo>
                    <a:pt x="832" y="908"/>
                  </a:lnTo>
                  <a:lnTo>
                    <a:pt x="867" y="878"/>
                  </a:lnTo>
                  <a:lnTo>
                    <a:pt x="897" y="843"/>
                  </a:lnTo>
                  <a:lnTo>
                    <a:pt x="925" y="805"/>
                  </a:lnTo>
                  <a:lnTo>
                    <a:pt x="948" y="765"/>
                  </a:lnTo>
                  <a:lnTo>
                    <a:pt x="967" y="721"/>
                  </a:lnTo>
                  <a:lnTo>
                    <a:pt x="979" y="675"/>
                  </a:lnTo>
                  <a:lnTo>
                    <a:pt x="988" y="628"/>
                  </a:lnTo>
                  <a:lnTo>
                    <a:pt x="991" y="578"/>
                  </a:lnTo>
                  <a:lnTo>
                    <a:pt x="988" y="524"/>
                  </a:lnTo>
                  <a:lnTo>
                    <a:pt x="978" y="472"/>
                  </a:lnTo>
                  <a:lnTo>
                    <a:pt x="964" y="424"/>
                  </a:lnTo>
                  <a:lnTo>
                    <a:pt x="943" y="377"/>
                  </a:lnTo>
                  <a:lnTo>
                    <a:pt x="916" y="335"/>
                  </a:lnTo>
                  <a:lnTo>
                    <a:pt x="886" y="296"/>
                  </a:lnTo>
                  <a:lnTo>
                    <a:pt x="851" y="260"/>
                  </a:lnTo>
                  <a:lnTo>
                    <a:pt x="812" y="230"/>
                  </a:lnTo>
                  <a:lnTo>
                    <a:pt x="770" y="204"/>
                  </a:lnTo>
                  <a:lnTo>
                    <a:pt x="724" y="183"/>
                  </a:lnTo>
                  <a:lnTo>
                    <a:pt x="675" y="168"/>
                  </a:lnTo>
                  <a:lnTo>
                    <a:pt x="624" y="159"/>
                  </a:lnTo>
                  <a:lnTo>
                    <a:pt x="570" y="155"/>
                  </a:lnTo>
                  <a:close/>
                  <a:moveTo>
                    <a:pt x="570" y="0"/>
                  </a:moveTo>
                  <a:lnTo>
                    <a:pt x="629" y="3"/>
                  </a:lnTo>
                  <a:lnTo>
                    <a:pt x="686" y="11"/>
                  </a:lnTo>
                  <a:lnTo>
                    <a:pt x="740" y="25"/>
                  </a:lnTo>
                  <a:lnTo>
                    <a:pt x="793" y="44"/>
                  </a:lnTo>
                  <a:lnTo>
                    <a:pt x="844" y="68"/>
                  </a:lnTo>
                  <a:lnTo>
                    <a:pt x="890" y="96"/>
                  </a:lnTo>
                  <a:lnTo>
                    <a:pt x="934" y="128"/>
                  </a:lnTo>
                  <a:lnTo>
                    <a:pt x="974" y="165"/>
                  </a:lnTo>
                  <a:lnTo>
                    <a:pt x="1011" y="205"/>
                  </a:lnTo>
                  <a:lnTo>
                    <a:pt x="1044" y="250"/>
                  </a:lnTo>
                  <a:lnTo>
                    <a:pt x="1071" y="296"/>
                  </a:lnTo>
                  <a:lnTo>
                    <a:pt x="1095" y="347"/>
                  </a:lnTo>
                  <a:lnTo>
                    <a:pt x="1114" y="400"/>
                  </a:lnTo>
                  <a:lnTo>
                    <a:pt x="1128" y="454"/>
                  </a:lnTo>
                  <a:lnTo>
                    <a:pt x="1136" y="511"/>
                  </a:lnTo>
                  <a:lnTo>
                    <a:pt x="1139" y="571"/>
                  </a:lnTo>
                  <a:lnTo>
                    <a:pt x="1136" y="630"/>
                  </a:lnTo>
                  <a:lnTo>
                    <a:pt x="1128" y="687"/>
                  </a:lnTo>
                  <a:lnTo>
                    <a:pt x="1114" y="742"/>
                  </a:lnTo>
                  <a:lnTo>
                    <a:pt x="1095" y="794"/>
                  </a:lnTo>
                  <a:lnTo>
                    <a:pt x="1071" y="844"/>
                  </a:lnTo>
                  <a:lnTo>
                    <a:pt x="1043" y="891"/>
                  </a:lnTo>
                  <a:lnTo>
                    <a:pt x="1010" y="935"/>
                  </a:lnTo>
                  <a:lnTo>
                    <a:pt x="974" y="976"/>
                  </a:lnTo>
                  <a:lnTo>
                    <a:pt x="933" y="1012"/>
                  </a:lnTo>
                  <a:lnTo>
                    <a:pt x="890" y="1044"/>
                  </a:lnTo>
                  <a:lnTo>
                    <a:pt x="843" y="1073"/>
                  </a:lnTo>
                  <a:lnTo>
                    <a:pt x="793" y="1097"/>
                  </a:lnTo>
                  <a:lnTo>
                    <a:pt x="740" y="1116"/>
                  </a:lnTo>
                  <a:lnTo>
                    <a:pt x="686" y="1130"/>
                  </a:lnTo>
                  <a:lnTo>
                    <a:pt x="629" y="1138"/>
                  </a:lnTo>
                  <a:lnTo>
                    <a:pt x="570" y="1142"/>
                  </a:lnTo>
                  <a:lnTo>
                    <a:pt x="512" y="1138"/>
                  </a:lnTo>
                  <a:lnTo>
                    <a:pt x="456" y="1130"/>
                  </a:lnTo>
                  <a:lnTo>
                    <a:pt x="403" y="1116"/>
                  </a:lnTo>
                  <a:lnTo>
                    <a:pt x="350" y="1097"/>
                  </a:lnTo>
                  <a:lnTo>
                    <a:pt x="300" y="1073"/>
                  </a:lnTo>
                  <a:lnTo>
                    <a:pt x="253" y="1044"/>
                  </a:lnTo>
                  <a:lnTo>
                    <a:pt x="210" y="1012"/>
                  </a:lnTo>
                  <a:lnTo>
                    <a:pt x="169" y="976"/>
                  </a:lnTo>
                  <a:lnTo>
                    <a:pt x="132" y="935"/>
                  </a:lnTo>
                  <a:lnTo>
                    <a:pt x="99" y="891"/>
                  </a:lnTo>
                  <a:lnTo>
                    <a:pt x="70" y="844"/>
                  </a:lnTo>
                  <a:lnTo>
                    <a:pt x="46" y="794"/>
                  </a:lnTo>
                  <a:lnTo>
                    <a:pt x="27" y="742"/>
                  </a:lnTo>
                  <a:lnTo>
                    <a:pt x="12" y="687"/>
                  </a:lnTo>
                  <a:lnTo>
                    <a:pt x="4" y="630"/>
                  </a:lnTo>
                  <a:lnTo>
                    <a:pt x="0" y="571"/>
                  </a:lnTo>
                  <a:lnTo>
                    <a:pt x="4" y="511"/>
                  </a:lnTo>
                  <a:lnTo>
                    <a:pt x="12" y="454"/>
                  </a:lnTo>
                  <a:lnTo>
                    <a:pt x="26" y="400"/>
                  </a:lnTo>
                  <a:lnTo>
                    <a:pt x="45" y="347"/>
                  </a:lnTo>
                  <a:lnTo>
                    <a:pt x="69" y="296"/>
                  </a:lnTo>
                  <a:lnTo>
                    <a:pt x="97" y="250"/>
                  </a:lnTo>
                  <a:lnTo>
                    <a:pt x="130" y="205"/>
                  </a:lnTo>
                  <a:lnTo>
                    <a:pt x="166" y="165"/>
                  </a:lnTo>
                  <a:lnTo>
                    <a:pt x="207" y="128"/>
                  </a:lnTo>
                  <a:lnTo>
                    <a:pt x="250" y="96"/>
                  </a:lnTo>
                  <a:lnTo>
                    <a:pt x="297" y="68"/>
                  </a:lnTo>
                  <a:lnTo>
                    <a:pt x="347" y="44"/>
                  </a:lnTo>
                  <a:lnTo>
                    <a:pt x="399" y="25"/>
                  </a:lnTo>
                  <a:lnTo>
                    <a:pt x="454" y="11"/>
                  </a:lnTo>
                  <a:lnTo>
                    <a:pt x="511" y="3"/>
                  </a:lnTo>
                  <a:lnTo>
                    <a:pt x="57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8" name="Freeform 57"/>
            <p:cNvSpPr>
              <a:spLocks noEditPoints="1"/>
            </p:cNvSpPr>
            <p:nvPr/>
          </p:nvSpPr>
          <p:spPr bwMode="auto">
            <a:xfrm>
              <a:off x="3457575" y="3028950"/>
              <a:ext cx="376238" cy="244475"/>
            </a:xfrm>
            <a:custGeom>
              <a:avLst/>
              <a:gdLst>
                <a:gd name="T0" fmla="*/ 405 w 2129"/>
                <a:gd name="T1" fmla="*/ 151 h 1386"/>
                <a:gd name="T2" fmla="*/ 334 w 2129"/>
                <a:gd name="T3" fmla="*/ 171 h 1386"/>
                <a:gd name="T4" fmla="*/ 269 w 2129"/>
                <a:gd name="T5" fmla="*/ 208 h 1386"/>
                <a:gd name="T6" fmla="*/ 217 w 2129"/>
                <a:gd name="T7" fmla="*/ 260 h 1386"/>
                <a:gd name="T8" fmla="*/ 179 w 2129"/>
                <a:gd name="T9" fmla="*/ 323 h 1386"/>
                <a:gd name="T10" fmla="*/ 158 w 2129"/>
                <a:gd name="T11" fmla="*/ 398 h 1386"/>
                <a:gd name="T12" fmla="*/ 155 w 2129"/>
                <a:gd name="T13" fmla="*/ 1237 h 1386"/>
                <a:gd name="T14" fmla="*/ 1974 w 2129"/>
                <a:gd name="T15" fmla="*/ 438 h 1386"/>
                <a:gd name="T16" fmla="*/ 1963 w 2129"/>
                <a:gd name="T17" fmla="*/ 362 h 1386"/>
                <a:gd name="T18" fmla="*/ 1935 w 2129"/>
                <a:gd name="T19" fmla="*/ 294 h 1386"/>
                <a:gd name="T20" fmla="*/ 1891 w 2129"/>
                <a:gd name="T21" fmla="*/ 234 h 1386"/>
                <a:gd name="T22" fmla="*/ 1833 w 2129"/>
                <a:gd name="T23" fmla="*/ 189 h 1386"/>
                <a:gd name="T24" fmla="*/ 1763 w 2129"/>
                <a:gd name="T25" fmla="*/ 160 h 1386"/>
                <a:gd name="T26" fmla="*/ 1685 w 2129"/>
                <a:gd name="T27" fmla="*/ 148 h 1386"/>
                <a:gd name="T28" fmla="*/ 1116 w 2129"/>
                <a:gd name="T29" fmla="*/ 422 h 1386"/>
                <a:gd name="T30" fmla="*/ 1082 w 2129"/>
                <a:gd name="T31" fmla="*/ 442 h 1386"/>
                <a:gd name="T32" fmla="*/ 1045 w 2129"/>
                <a:gd name="T33" fmla="*/ 442 h 1386"/>
                <a:gd name="T34" fmla="*/ 1013 w 2129"/>
                <a:gd name="T35" fmla="*/ 422 h 1386"/>
                <a:gd name="T36" fmla="*/ 444 w 2129"/>
                <a:gd name="T37" fmla="*/ 148 h 1386"/>
                <a:gd name="T38" fmla="*/ 768 w 2129"/>
                <a:gd name="T39" fmla="*/ 0 h 1386"/>
                <a:gd name="T40" fmla="*/ 797 w 2129"/>
                <a:gd name="T41" fmla="*/ 7 h 1386"/>
                <a:gd name="T42" fmla="*/ 820 w 2129"/>
                <a:gd name="T43" fmla="*/ 22 h 1386"/>
                <a:gd name="T44" fmla="*/ 1309 w 2129"/>
                <a:gd name="T45" fmla="*/ 22 h 1386"/>
                <a:gd name="T46" fmla="*/ 1332 w 2129"/>
                <a:gd name="T47" fmla="*/ 7 h 1386"/>
                <a:gd name="T48" fmla="*/ 1360 w 2129"/>
                <a:gd name="T49" fmla="*/ 0 h 1386"/>
                <a:gd name="T50" fmla="*/ 1742 w 2129"/>
                <a:gd name="T51" fmla="*/ 3 h 1386"/>
                <a:gd name="T52" fmla="*/ 1838 w 2129"/>
                <a:gd name="T53" fmla="*/ 26 h 1386"/>
                <a:gd name="T54" fmla="*/ 1924 w 2129"/>
                <a:gd name="T55" fmla="*/ 68 h 1386"/>
                <a:gd name="T56" fmla="*/ 1999 w 2129"/>
                <a:gd name="T57" fmla="*/ 128 h 1386"/>
                <a:gd name="T58" fmla="*/ 2059 w 2129"/>
                <a:gd name="T59" fmla="*/ 202 h 1386"/>
                <a:gd name="T60" fmla="*/ 2102 w 2129"/>
                <a:gd name="T61" fmla="*/ 289 h 1386"/>
                <a:gd name="T62" fmla="*/ 2125 w 2129"/>
                <a:gd name="T63" fmla="*/ 386 h 1386"/>
                <a:gd name="T64" fmla="*/ 2129 w 2129"/>
                <a:gd name="T65" fmla="*/ 1312 h 1386"/>
                <a:gd name="T66" fmla="*/ 2113 w 2129"/>
                <a:gd name="T67" fmla="*/ 1351 h 1386"/>
                <a:gd name="T68" fmla="*/ 2083 w 2129"/>
                <a:gd name="T69" fmla="*/ 1377 h 1386"/>
                <a:gd name="T70" fmla="*/ 2048 w 2129"/>
                <a:gd name="T71" fmla="*/ 1386 h 1386"/>
                <a:gd name="T72" fmla="*/ 53 w 2129"/>
                <a:gd name="T73" fmla="*/ 1384 h 1386"/>
                <a:gd name="T74" fmla="*/ 20 w 2129"/>
                <a:gd name="T75" fmla="*/ 1366 h 1386"/>
                <a:gd name="T76" fmla="*/ 2 w 2129"/>
                <a:gd name="T77" fmla="*/ 1333 h 1386"/>
                <a:gd name="T78" fmla="*/ 0 w 2129"/>
                <a:gd name="T79" fmla="*/ 438 h 1386"/>
                <a:gd name="T80" fmla="*/ 12 w 2129"/>
                <a:gd name="T81" fmla="*/ 339 h 1386"/>
                <a:gd name="T82" fmla="*/ 44 w 2129"/>
                <a:gd name="T83" fmla="*/ 247 h 1386"/>
                <a:gd name="T84" fmla="*/ 95 w 2129"/>
                <a:gd name="T85" fmla="*/ 166 h 1386"/>
                <a:gd name="T86" fmla="*/ 162 w 2129"/>
                <a:gd name="T87" fmla="*/ 98 h 1386"/>
                <a:gd name="T88" fmla="*/ 243 w 2129"/>
                <a:gd name="T89" fmla="*/ 46 h 1386"/>
                <a:gd name="T90" fmla="*/ 335 w 2129"/>
                <a:gd name="T91" fmla="*/ 13 h 1386"/>
                <a:gd name="T92" fmla="*/ 436 w 2129"/>
                <a:gd name="T93" fmla="*/ 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9" h="1386">
                  <a:moveTo>
                    <a:pt x="444" y="148"/>
                  </a:moveTo>
                  <a:lnTo>
                    <a:pt x="405" y="151"/>
                  </a:lnTo>
                  <a:lnTo>
                    <a:pt x="368" y="159"/>
                  </a:lnTo>
                  <a:lnTo>
                    <a:pt x="334" y="171"/>
                  </a:lnTo>
                  <a:lnTo>
                    <a:pt x="300" y="187"/>
                  </a:lnTo>
                  <a:lnTo>
                    <a:pt x="269" y="208"/>
                  </a:lnTo>
                  <a:lnTo>
                    <a:pt x="241" y="231"/>
                  </a:lnTo>
                  <a:lnTo>
                    <a:pt x="217" y="260"/>
                  </a:lnTo>
                  <a:lnTo>
                    <a:pt x="196" y="290"/>
                  </a:lnTo>
                  <a:lnTo>
                    <a:pt x="179" y="323"/>
                  </a:lnTo>
                  <a:lnTo>
                    <a:pt x="166" y="360"/>
                  </a:lnTo>
                  <a:lnTo>
                    <a:pt x="158" y="398"/>
                  </a:lnTo>
                  <a:lnTo>
                    <a:pt x="155" y="438"/>
                  </a:lnTo>
                  <a:lnTo>
                    <a:pt x="155" y="1237"/>
                  </a:lnTo>
                  <a:lnTo>
                    <a:pt x="1974" y="1237"/>
                  </a:lnTo>
                  <a:lnTo>
                    <a:pt x="1974" y="438"/>
                  </a:lnTo>
                  <a:lnTo>
                    <a:pt x="1971" y="399"/>
                  </a:lnTo>
                  <a:lnTo>
                    <a:pt x="1963" y="362"/>
                  </a:lnTo>
                  <a:lnTo>
                    <a:pt x="1952" y="327"/>
                  </a:lnTo>
                  <a:lnTo>
                    <a:pt x="1935" y="294"/>
                  </a:lnTo>
                  <a:lnTo>
                    <a:pt x="1915" y="263"/>
                  </a:lnTo>
                  <a:lnTo>
                    <a:pt x="1891" y="234"/>
                  </a:lnTo>
                  <a:lnTo>
                    <a:pt x="1863" y="210"/>
                  </a:lnTo>
                  <a:lnTo>
                    <a:pt x="1833" y="189"/>
                  </a:lnTo>
                  <a:lnTo>
                    <a:pt x="1799" y="172"/>
                  </a:lnTo>
                  <a:lnTo>
                    <a:pt x="1763" y="160"/>
                  </a:lnTo>
                  <a:lnTo>
                    <a:pt x="1725" y="151"/>
                  </a:lnTo>
                  <a:lnTo>
                    <a:pt x="1685" y="148"/>
                  </a:lnTo>
                  <a:lnTo>
                    <a:pt x="1390" y="148"/>
                  </a:lnTo>
                  <a:lnTo>
                    <a:pt x="1116" y="422"/>
                  </a:lnTo>
                  <a:lnTo>
                    <a:pt x="1100" y="435"/>
                  </a:lnTo>
                  <a:lnTo>
                    <a:pt x="1082" y="442"/>
                  </a:lnTo>
                  <a:lnTo>
                    <a:pt x="1064" y="446"/>
                  </a:lnTo>
                  <a:lnTo>
                    <a:pt x="1045" y="442"/>
                  </a:lnTo>
                  <a:lnTo>
                    <a:pt x="1029" y="435"/>
                  </a:lnTo>
                  <a:lnTo>
                    <a:pt x="1013" y="422"/>
                  </a:lnTo>
                  <a:lnTo>
                    <a:pt x="739" y="148"/>
                  </a:lnTo>
                  <a:lnTo>
                    <a:pt x="444" y="148"/>
                  </a:lnTo>
                  <a:close/>
                  <a:moveTo>
                    <a:pt x="436" y="0"/>
                  </a:moveTo>
                  <a:lnTo>
                    <a:pt x="768" y="0"/>
                  </a:lnTo>
                  <a:lnTo>
                    <a:pt x="784" y="2"/>
                  </a:lnTo>
                  <a:lnTo>
                    <a:pt x="797" y="7"/>
                  </a:lnTo>
                  <a:lnTo>
                    <a:pt x="808" y="13"/>
                  </a:lnTo>
                  <a:lnTo>
                    <a:pt x="820" y="22"/>
                  </a:lnTo>
                  <a:lnTo>
                    <a:pt x="1064" y="267"/>
                  </a:lnTo>
                  <a:lnTo>
                    <a:pt x="1309" y="22"/>
                  </a:lnTo>
                  <a:lnTo>
                    <a:pt x="1319" y="13"/>
                  </a:lnTo>
                  <a:lnTo>
                    <a:pt x="1332" y="7"/>
                  </a:lnTo>
                  <a:lnTo>
                    <a:pt x="1344" y="2"/>
                  </a:lnTo>
                  <a:lnTo>
                    <a:pt x="1360" y="0"/>
                  </a:lnTo>
                  <a:lnTo>
                    <a:pt x="1693" y="0"/>
                  </a:lnTo>
                  <a:lnTo>
                    <a:pt x="1742" y="3"/>
                  </a:lnTo>
                  <a:lnTo>
                    <a:pt x="1791" y="12"/>
                  </a:lnTo>
                  <a:lnTo>
                    <a:pt x="1838" y="26"/>
                  </a:lnTo>
                  <a:lnTo>
                    <a:pt x="1882" y="45"/>
                  </a:lnTo>
                  <a:lnTo>
                    <a:pt x="1924" y="68"/>
                  </a:lnTo>
                  <a:lnTo>
                    <a:pt x="1963" y="95"/>
                  </a:lnTo>
                  <a:lnTo>
                    <a:pt x="1999" y="128"/>
                  </a:lnTo>
                  <a:lnTo>
                    <a:pt x="2032" y="163"/>
                  </a:lnTo>
                  <a:lnTo>
                    <a:pt x="2059" y="202"/>
                  </a:lnTo>
                  <a:lnTo>
                    <a:pt x="2083" y="244"/>
                  </a:lnTo>
                  <a:lnTo>
                    <a:pt x="2102" y="289"/>
                  </a:lnTo>
                  <a:lnTo>
                    <a:pt x="2117" y="337"/>
                  </a:lnTo>
                  <a:lnTo>
                    <a:pt x="2125" y="386"/>
                  </a:lnTo>
                  <a:lnTo>
                    <a:pt x="2129" y="438"/>
                  </a:lnTo>
                  <a:lnTo>
                    <a:pt x="2129" y="1312"/>
                  </a:lnTo>
                  <a:lnTo>
                    <a:pt x="2122" y="1333"/>
                  </a:lnTo>
                  <a:lnTo>
                    <a:pt x="2113" y="1351"/>
                  </a:lnTo>
                  <a:lnTo>
                    <a:pt x="2099" y="1366"/>
                  </a:lnTo>
                  <a:lnTo>
                    <a:pt x="2083" y="1377"/>
                  </a:lnTo>
                  <a:lnTo>
                    <a:pt x="2065" y="1384"/>
                  </a:lnTo>
                  <a:lnTo>
                    <a:pt x="2048" y="1386"/>
                  </a:lnTo>
                  <a:lnTo>
                    <a:pt x="74" y="1386"/>
                  </a:lnTo>
                  <a:lnTo>
                    <a:pt x="53" y="1384"/>
                  </a:lnTo>
                  <a:lnTo>
                    <a:pt x="35" y="1377"/>
                  </a:lnTo>
                  <a:lnTo>
                    <a:pt x="20" y="1366"/>
                  </a:lnTo>
                  <a:lnTo>
                    <a:pt x="9" y="1351"/>
                  </a:lnTo>
                  <a:lnTo>
                    <a:pt x="2" y="1333"/>
                  </a:lnTo>
                  <a:lnTo>
                    <a:pt x="0" y="1312"/>
                  </a:lnTo>
                  <a:lnTo>
                    <a:pt x="0" y="438"/>
                  </a:lnTo>
                  <a:lnTo>
                    <a:pt x="3" y="388"/>
                  </a:lnTo>
                  <a:lnTo>
                    <a:pt x="12" y="339"/>
                  </a:lnTo>
                  <a:lnTo>
                    <a:pt x="25" y="291"/>
                  </a:lnTo>
                  <a:lnTo>
                    <a:pt x="44" y="247"/>
                  </a:lnTo>
                  <a:lnTo>
                    <a:pt x="67" y="205"/>
                  </a:lnTo>
                  <a:lnTo>
                    <a:pt x="95" y="166"/>
                  </a:lnTo>
                  <a:lnTo>
                    <a:pt x="126" y="130"/>
                  </a:lnTo>
                  <a:lnTo>
                    <a:pt x="162" y="98"/>
                  </a:lnTo>
                  <a:lnTo>
                    <a:pt x="201" y="70"/>
                  </a:lnTo>
                  <a:lnTo>
                    <a:pt x="243" y="46"/>
                  </a:lnTo>
                  <a:lnTo>
                    <a:pt x="287" y="27"/>
                  </a:lnTo>
                  <a:lnTo>
                    <a:pt x="335" y="13"/>
                  </a:lnTo>
                  <a:lnTo>
                    <a:pt x="384" y="3"/>
                  </a:lnTo>
                  <a:lnTo>
                    <a:pt x="436"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39" name="Freeform 91"/>
          <p:cNvSpPr>
            <a:spLocks noEditPoints="1"/>
          </p:cNvSpPr>
          <p:nvPr/>
        </p:nvSpPr>
        <p:spPr bwMode="auto">
          <a:xfrm>
            <a:off x="7571462" y="2807322"/>
            <a:ext cx="377634" cy="377634"/>
          </a:xfrm>
          <a:custGeom>
            <a:avLst/>
            <a:gdLst>
              <a:gd name="T0" fmla="*/ 1133 w 3474"/>
              <a:gd name="T1" fmla="*/ 1077 h 3475"/>
              <a:gd name="T2" fmla="*/ 1072 w 3474"/>
              <a:gd name="T3" fmla="*/ 1158 h 3475"/>
              <a:gd name="T4" fmla="*/ 1124 w 3474"/>
              <a:gd name="T5" fmla="*/ 1172 h 3475"/>
              <a:gd name="T6" fmla="*/ 1180 w 3474"/>
              <a:gd name="T7" fmla="*/ 1194 h 3475"/>
              <a:gd name="T8" fmla="*/ 1199 w 3474"/>
              <a:gd name="T9" fmla="*/ 1253 h 3475"/>
              <a:gd name="T10" fmla="*/ 1167 w 3474"/>
              <a:gd name="T11" fmla="*/ 1309 h 3475"/>
              <a:gd name="T12" fmla="*/ 1228 w 3474"/>
              <a:gd name="T13" fmla="*/ 1326 h 3475"/>
              <a:gd name="T14" fmla="*/ 1315 w 3474"/>
              <a:gd name="T15" fmla="*/ 1268 h 3475"/>
              <a:gd name="T16" fmla="*/ 1334 w 3474"/>
              <a:gd name="T17" fmla="*/ 1166 h 3475"/>
              <a:gd name="T18" fmla="*/ 1287 w 3474"/>
              <a:gd name="T19" fmla="*/ 1085 h 3475"/>
              <a:gd name="T20" fmla="*/ 1210 w 3474"/>
              <a:gd name="T21" fmla="*/ 1057 h 3475"/>
              <a:gd name="T22" fmla="*/ 736 w 3474"/>
              <a:gd name="T23" fmla="*/ 1040 h 3475"/>
              <a:gd name="T24" fmla="*/ 924 w 3474"/>
              <a:gd name="T25" fmla="*/ 1147 h 3475"/>
              <a:gd name="T26" fmla="*/ 978 w 3474"/>
              <a:gd name="T27" fmla="*/ 1020 h 3475"/>
              <a:gd name="T28" fmla="*/ 1094 w 3474"/>
              <a:gd name="T29" fmla="*/ 934 h 3475"/>
              <a:gd name="T30" fmla="*/ 1236 w 3474"/>
              <a:gd name="T31" fmla="*/ 916 h 3475"/>
              <a:gd name="T32" fmla="*/ 1372 w 3474"/>
              <a:gd name="T33" fmla="*/ 968 h 3475"/>
              <a:gd name="T34" fmla="*/ 1464 w 3474"/>
              <a:gd name="T35" fmla="*/ 1085 h 3475"/>
              <a:gd name="T36" fmla="*/ 1482 w 3474"/>
              <a:gd name="T37" fmla="*/ 1227 h 3475"/>
              <a:gd name="T38" fmla="*/ 1427 w 3474"/>
              <a:gd name="T39" fmla="*/ 1363 h 3475"/>
              <a:gd name="T40" fmla="*/ 1310 w 3474"/>
              <a:gd name="T41" fmla="*/ 1452 h 3475"/>
              <a:gd name="T42" fmla="*/ 1165 w 3474"/>
              <a:gd name="T43" fmla="*/ 1471 h 3475"/>
              <a:gd name="T44" fmla="*/ 1031 w 3474"/>
              <a:gd name="T45" fmla="*/ 1415 h 3475"/>
              <a:gd name="T46" fmla="*/ 942 w 3474"/>
              <a:gd name="T47" fmla="*/ 1299 h 3475"/>
              <a:gd name="T48" fmla="*/ 719 w 3474"/>
              <a:gd name="T49" fmla="*/ 1199 h 3475"/>
              <a:gd name="T50" fmla="*/ 3298 w 3474"/>
              <a:gd name="T51" fmla="*/ 2319 h 3475"/>
              <a:gd name="T52" fmla="*/ 208 w 3474"/>
              <a:gd name="T53" fmla="*/ 148 h 3475"/>
              <a:gd name="T54" fmla="*/ 147 w 3474"/>
              <a:gd name="T55" fmla="*/ 208 h 3475"/>
              <a:gd name="T56" fmla="*/ 151 w 3474"/>
              <a:gd name="T57" fmla="*/ 322 h 3475"/>
              <a:gd name="T58" fmla="*/ 214 w 3474"/>
              <a:gd name="T59" fmla="*/ 473 h 3475"/>
              <a:gd name="T60" fmla="*/ 329 w 3474"/>
              <a:gd name="T61" fmla="*/ 647 h 3475"/>
              <a:gd name="T62" fmla="*/ 489 w 3474"/>
              <a:gd name="T63" fmla="*/ 830 h 3475"/>
              <a:gd name="T64" fmla="*/ 602 w 3474"/>
              <a:gd name="T65" fmla="*/ 609 h 3475"/>
              <a:gd name="T66" fmla="*/ 649 w 3474"/>
              <a:gd name="T67" fmla="*/ 577 h 3475"/>
              <a:gd name="T68" fmla="*/ 734 w 3474"/>
              <a:gd name="T69" fmla="*/ 408 h 3475"/>
              <a:gd name="T70" fmla="*/ 555 w 3474"/>
              <a:gd name="T71" fmla="*/ 269 h 3475"/>
              <a:gd name="T72" fmla="*/ 392 w 3474"/>
              <a:gd name="T73" fmla="*/ 177 h 3475"/>
              <a:gd name="T74" fmla="*/ 259 w 3474"/>
              <a:gd name="T75" fmla="*/ 142 h 3475"/>
              <a:gd name="T76" fmla="*/ 336 w 3474"/>
              <a:gd name="T77" fmla="*/ 15 h 3475"/>
              <a:gd name="T78" fmla="*/ 524 w 3474"/>
              <a:gd name="T79" fmla="*/ 87 h 3475"/>
              <a:gd name="T80" fmla="*/ 726 w 3474"/>
              <a:gd name="T81" fmla="*/ 213 h 3475"/>
              <a:gd name="T82" fmla="*/ 929 w 3474"/>
              <a:gd name="T83" fmla="*/ 389 h 3475"/>
              <a:gd name="T84" fmla="*/ 1592 w 3474"/>
              <a:gd name="T85" fmla="*/ 427 h 3475"/>
              <a:gd name="T86" fmla="*/ 1645 w 3474"/>
              <a:gd name="T87" fmla="*/ 452 h 3475"/>
              <a:gd name="T88" fmla="*/ 3474 w 3474"/>
              <a:gd name="T89" fmla="*/ 2318 h 3475"/>
              <a:gd name="T90" fmla="*/ 2375 w 3474"/>
              <a:gd name="T91" fmla="*/ 3452 h 3475"/>
              <a:gd name="T92" fmla="*/ 2323 w 3474"/>
              <a:gd name="T93" fmla="*/ 3475 h 3475"/>
              <a:gd name="T94" fmla="*/ 2272 w 3474"/>
              <a:gd name="T95" fmla="*/ 3452 h 3475"/>
              <a:gd name="T96" fmla="*/ 443 w 3474"/>
              <a:gd name="T97" fmla="*/ 1592 h 3475"/>
              <a:gd name="T98" fmla="*/ 430 w 3474"/>
              <a:gd name="T99" fmla="*/ 978 h 3475"/>
              <a:gd name="T100" fmla="*/ 249 w 3474"/>
              <a:gd name="T101" fmla="*/ 781 h 3475"/>
              <a:gd name="T102" fmla="*/ 111 w 3474"/>
              <a:gd name="T103" fmla="*/ 575 h 3475"/>
              <a:gd name="T104" fmla="*/ 26 w 3474"/>
              <a:gd name="T105" fmla="*/ 381 h 3475"/>
              <a:gd name="T106" fmla="*/ 0 w 3474"/>
              <a:gd name="T107" fmla="*/ 212 h 3475"/>
              <a:gd name="T108" fmla="*/ 39 w 3474"/>
              <a:gd name="T109" fmla="*/ 83 h 3475"/>
              <a:gd name="T110" fmla="*/ 142 w 3474"/>
              <a:gd name="T111" fmla="*/ 11 h 3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74" h="3475">
                <a:moveTo>
                  <a:pt x="1210" y="1057"/>
                </a:moveTo>
                <a:lnTo>
                  <a:pt x="1184" y="1059"/>
                </a:lnTo>
                <a:lnTo>
                  <a:pt x="1159" y="1065"/>
                </a:lnTo>
                <a:lnTo>
                  <a:pt x="1133" y="1077"/>
                </a:lnTo>
                <a:lnTo>
                  <a:pt x="1107" y="1097"/>
                </a:lnTo>
                <a:lnTo>
                  <a:pt x="1091" y="1115"/>
                </a:lnTo>
                <a:lnTo>
                  <a:pt x="1080" y="1136"/>
                </a:lnTo>
                <a:lnTo>
                  <a:pt x="1072" y="1158"/>
                </a:lnTo>
                <a:lnTo>
                  <a:pt x="1068" y="1181"/>
                </a:lnTo>
                <a:lnTo>
                  <a:pt x="1088" y="1180"/>
                </a:lnTo>
                <a:lnTo>
                  <a:pt x="1106" y="1176"/>
                </a:lnTo>
                <a:lnTo>
                  <a:pt x="1124" y="1172"/>
                </a:lnTo>
                <a:lnTo>
                  <a:pt x="1141" y="1172"/>
                </a:lnTo>
                <a:lnTo>
                  <a:pt x="1157" y="1176"/>
                </a:lnTo>
                <a:lnTo>
                  <a:pt x="1170" y="1183"/>
                </a:lnTo>
                <a:lnTo>
                  <a:pt x="1180" y="1194"/>
                </a:lnTo>
                <a:lnTo>
                  <a:pt x="1190" y="1207"/>
                </a:lnTo>
                <a:lnTo>
                  <a:pt x="1195" y="1222"/>
                </a:lnTo>
                <a:lnTo>
                  <a:pt x="1199" y="1237"/>
                </a:lnTo>
                <a:lnTo>
                  <a:pt x="1199" y="1253"/>
                </a:lnTo>
                <a:lnTo>
                  <a:pt x="1196" y="1269"/>
                </a:lnTo>
                <a:lnTo>
                  <a:pt x="1191" y="1283"/>
                </a:lnTo>
                <a:lnTo>
                  <a:pt x="1181" y="1297"/>
                </a:lnTo>
                <a:lnTo>
                  <a:pt x="1167" y="1309"/>
                </a:lnTo>
                <a:lnTo>
                  <a:pt x="1151" y="1317"/>
                </a:lnTo>
                <a:lnTo>
                  <a:pt x="1175" y="1325"/>
                </a:lnTo>
                <a:lnTo>
                  <a:pt x="1201" y="1328"/>
                </a:lnTo>
                <a:lnTo>
                  <a:pt x="1228" y="1326"/>
                </a:lnTo>
                <a:lnTo>
                  <a:pt x="1253" y="1318"/>
                </a:lnTo>
                <a:lnTo>
                  <a:pt x="1277" y="1306"/>
                </a:lnTo>
                <a:lnTo>
                  <a:pt x="1298" y="1289"/>
                </a:lnTo>
                <a:lnTo>
                  <a:pt x="1315" y="1268"/>
                </a:lnTo>
                <a:lnTo>
                  <a:pt x="1328" y="1244"/>
                </a:lnTo>
                <a:lnTo>
                  <a:pt x="1334" y="1219"/>
                </a:lnTo>
                <a:lnTo>
                  <a:pt x="1337" y="1193"/>
                </a:lnTo>
                <a:lnTo>
                  <a:pt x="1334" y="1166"/>
                </a:lnTo>
                <a:lnTo>
                  <a:pt x="1328" y="1141"/>
                </a:lnTo>
                <a:lnTo>
                  <a:pt x="1315" y="1117"/>
                </a:lnTo>
                <a:lnTo>
                  <a:pt x="1298" y="1097"/>
                </a:lnTo>
                <a:lnTo>
                  <a:pt x="1287" y="1085"/>
                </a:lnTo>
                <a:lnTo>
                  <a:pt x="1271" y="1074"/>
                </a:lnTo>
                <a:lnTo>
                  <a:pt x="1253" y="1066"/>
                </a:lnTo>
                <a:lnTo>
                  <a:pt x="1232" y="1060"/>
                </a:lnTo>
                <a:lnTo>
                  <a:pt x="1210" y="1057"/>
                </a:lnTo>
                <a:close/>
                <a:moveTo>
                  <a:pt x="1572" y="585"/>
                </a:moveTo>
                <a:lnTo>
                  <a:pt x="730" y="718"/>
                </a:lnTo>
                <a:lnTo>
                  <a:pt x="686" y="1004"/>
                </a:lnTo>
                <a:lnTo>
                  <a:pt x="736" y="1040"/>
                </a:lnTo>
                <a:lnTo>
                  <a:pt x="785" y="1073"/>
                </a:lnTo>
                <a:lnTo>
                  <a:pt x="834" y="1102"/>
                </a:lnTo>
                <a:lnTo>
                  <a:pt x="879" y="1126"/>
                </a:lnTo>
                <a:lnTo>
                  <a:pt x="924" y="1147"/>
                </a:lnTo>
                <a:lnTo>
                  <a:pt x="931" y="1114"/>
                </a:lnTo>
                <a:lnTo>
                  <a:pt x="944" y="1081"/>
                </a:lnTo>
                <a:lnTo>
                  <a:pt x="959" y="1049"/>
                </a:lnTo>
                <a:lnTo>
                  <a:pt x="978" y="1020"/>
                </a:lnTo>
                <a:lnTo>
                  <a:pt x="1003" y="992"/>
                </a:lnTo>
                <a:lnTo>
                  <a:pt x="1030" y="968"/>
                </a:lnTo>
                <a:lnTo>
                  <a:pt x="1061" y="949"/>
                </a:lnTo>
                <a:lnTo>
                  <a:pt x="1094" y="934"/>
                </a:lnTo>
                <a:lnTo>
                  <a:pt x="1128" y="922"/>
                </a:lnTo>
                <a:lnTo>
                  <a:pt x="1163" y="916"/>
                </a:lnTo>
                <a:lnTo>
                  <a:pt x="1200" y="914"/>
                </a:lnTo>
                <a:lnTo>
                  <a:pt x="1236" y="916"/>
                </a:lnTo>
                <a:lnTo>
                  <a:pt x="1272" y="922"/>
                </a:lnTo>
                <a:lnTo>
                  <a:pt x="1308" y="934"/>
                </a:lnTo>
                <a:lnTo>
                  <a:pt x="1341" y="949"/>
                </a:lnTo>
                <a:lnTo>
                  <a:pt x="1372" y="968"/>
                </a:lnTo>
                <a:lnTo>
                  <a:pt x="1402" y="992"/>
                </a:lnTo>
                <a:lnTo>
                  <a:pt x="1427" y="1021"/>
                </a:lnTo>
                <a:lnTo>
                  <a:pt x="1448" y="1052"/>
                </a:lnTo>
                <a:lnTo>
                  <a:pt x="1464" y="1085"/>
                </a:lnTo>
                <a:lnTo>
                  <a:pt x="1476" y="1120"/>
                </a:lnTo>
                <a:lnTo>
                  <a:pt x="1482" y="1156"/>
                </a:lnTo>
                <a:lnTo>
                  <a:pt x="1485" y="1192"/>
                </a:lnTo>
                <a:lnTo>
                  <a:pt x="1482" y="1227"/>
                </a:lnTo>
                <a:lnTo>
                  <a:pt x="1476" y="1263"/>
                </a:lnTo>
                <a:lnTo>
                  <a:pt x="1464" y="1298"/>
                </a:lnTo>
                <a:lnTo>
                  <a:pt x="1448" y="1331"/>
                </a:lnTo>
                <a:lnTo>
                  <a:pt x="1427" y="1363"/>
                </a:lnTo>
                <a:lnTo>
                  <a:pt x="1402" y="1392"/>
                </a:lnTo>
                <a:lnTo>
                  <a:pt x="1374" y="1415"/>
                </a:lnTo>
                <a:lnTo>
                  <a:pt x="1344" y="1435"/>
                </a:lnTo>
                <a:lnTo>
                  <a:pt x="1310" y="1452"/>
                </a:lnTo>
                <a:lnTo>
                  <a:pt x="1275" y="1464"/>
                </a:lnTo>
                <a:lnTo>
                  <a:pt x="1239" y="1471"/>
                </a:lnTo>
                <a:lnTo>
                  <a:pt x="1202" y="1473"/>
                </a:lnTo>
                <a:lnTo>
                  <a:pt x="1165" y="1471"/>
                </a:lnTo>
                <a:lnTo>
                  <a:pt x="1129" y="1464"/>
                </a:lnTo>
                <a:lnTo>
                  <a:pt x="1095" y="1452"/>
                </a:lnTo>
                <a:lnTo>
                  <a:pt x="1062" y="1435"/>
                </a:lnTo>
                <a:lnTo>
                  <a:pt x="1031" y="1415"/>
                </a:lnTo>
                <a:lnTo>
                  <a:pt x="1003" y="1392"/>
                </a:lnTo>
                <a:lnTo>
                  <a:pt x="978" y="1363"/>
                </a:lnTo>
                <a:lnTo>
                  <a:pt x="957" y="1332"/>
                </a:lnTo>
                <a:lnTo>
                  <a:pt x="942" y="1299"/>
                </a:lnTo>
                <a:lnTo>
                  <a:pt x="889" y="1281"/>
                </a:lnTo>
                <a:lnTo>
                  <a:pt x="833" y="1258"/>
                </a:lnTo>
                <a:lnTo>
                  <a:pt x="777" y="1231"/>
                </a:lnTo>
                <a:lnTo>
                  <a:pt x="719" y="1199"/>
                </a:lnTo>
                <a:lnTo>
                  <a:pt x="661" y="1162"/>
                </a:lnTo>
                <a:lnTo>
                  <a:pt x="597" y="1563"/>
                </a:lnTo>
                <a:lnTo>
                  <a:pt x="2323" y="3296"/>
                </a:lnTo>
                <a:lnTo>
                  <a:pt x="3298" y="2319"/>
                </a:lnTo>
                <a:lnTo>
                  <a:pt x="1572" y="585"/>
                </a:lnTo>
                <a:close/>
                <a:moveTo>
                  <a:pt x="259" y="142"/>
                </a:moveTo>
                <a:lnTo>
                  <a:pt x="231" y="144"/>
                </a:lnTo>
                <a:lnTo>
                  <a:pt x="208" y="148"/>
                </a:lnTo>
                <a:lnTo>
                  <a:pt x="187" y="157"/>
                </a:lnTo>
                <a:lnTo>
                  <a:pt x="169" y="170"/>
                </a:lnTo>
                <a:lnTo>
                  <a:pt x="156" y="188"/>
                </a:lnTo>
                <a:lnTo>
                  <a:pt x="147" y="208"/>
                </a:lnTo>
                <a:lnTo>
                  <a:pt x="142" y="232"/>
                </a:lnTo>
                <a:lnTo>
                  <a:pt x="141" y="260"/>
                </a:lnTo>
                <a:lnTo>
                  <a:pt x="145" y="289"/>
                </a:lnTo>
                <a:lnTo>
                  <a:pt x="151" y="322"/>
                </a:lnTo>
                <a:lnTo>
                  <a:pt x="161" y="357"/>
                </a:lnTo>
                <a:lnTo>
                  <a:pt x="176" y="394"/>
                </a:lnTo>
                <a:lnTo>
                  <a:pt x="193" y="433"/>
                </a:lnTo>
                <a:lnTo>
                  <a:pt x="214" y="473"/>
                </a:lnTo>
                <a:lnTo>
                  <a:pt x="239" y="515"/>
                </a:lnTo>
                <a:lnTo>
                  <a:pt x="266" y="558"/>
                </a:lnTo>
                <a:lnTo>
                  <a:pt x="296" y="603"/>
                </a:lnTo>
                <a:lnTo>
                  <a:pt x="329" y="647"/>
                </a:lnTo>
                <a:lnTo>
                  <a:pt x="365" y="692"/>
                </a:lnTo>
                <a:lnTo>
                  <a:pt x="403" y="739"/>
                </a:lnTo>
                <a:lnTo>
                  <a:pt x="444" y="784"/>
                </a:lnTo>
                <a:lnTo>
                  <a:pt x="489" y="830"/>
                </a:lnTo>
                <a:lnTo>
                  <a:pt x="550" y="889"/>
                </a:lnTo>
                <a:lnTo>
                  <a:pt x="590" y="637"/>
                </a:lnTo>
                <a:lnTo>
                  <a:pt x="594" y="623"/>
                </a:lnTo>
                <a:lnTo>
                  <a:pt x="602" y="609"/>
                </a:lnTo>
                <a:lnTo>
                  <a:pt x="611" y="596"/>
                </a:lnTo>
                <a:lnTo>
                  <a:pt x="622" y="587"/>
                </a:lnTo>
                <a:lnTo>
                  <a:pt x="634" y="581"/>
                </a:lnTo>
                <a:lnTo>
                  <a:pt x="649" y="577"/>
                </a:lnTo>
                <a:lnTo>
                  <a:pt x="870" y="543"/>
                </a:lnTo>
                <a:lnTo>
                  <a:pt x="824" y="494"/>
                </a:lnTo>
                <a:lnTo>
                  <a:pt x="779" y="450"/>
                </a:lnTo>
                <a:lnTo>
                  <a:pt x="734" y="408"/>
                </a:lnTo>
                <a:lnTo>
                  <a:pt x="688" y="369"/>
                </a:lnTo>
                <a:lnTo>
                  <a:pt x="644" y="334"/>
                </a:lnTo>
                <a:lnTo>
                  <a:pt x="600" y="300"/>
                </a:lnTo>
                <a:lnTo>
                  <a:pt x="555" y="269"/>
                </a:lnTo>
                <a:lnTo>
                  <a:pt x="513" y="242"/>
                </a:lnTo>
                <a:lnTo>
                  <a:pt x="471" y="216"/>
                </a:lnTo>
                <a:lnTo>
                  <a:pt x="431" y="195"/>
                </a:lnTo>
                <a:lnTo>
                  <a:pt x="392" y="177"/>
                </a:lnTo>
                <a:lnTo>
                  <a:pt x="356" y="164"/>
                </a:lnTo>
                <a:lnTo>
                  <a:pt x="321" y="153"/>
                </a:lnTo>
                <a:lnTo>
                  <a:pt x="288" y="146"/>
                </a:lnTo>
                <a:lnTo>
                  <a:pt x="259" y="142"/>
                </a:lnTo>
                <a:close/>
                <a:moveTo>
                  <a:pt x="212" y="0"/>
                </a:moveTo>
                <a:lnTo>
                  <a:pt x="251" y="1"/>
                </a:lnTo>
                <a:lnTo>
                  <a:pt x="292" y="6"/>
                </a:lnTo>
                <a:lnTo>
                  <a:pt x="336" y="15"/>
                </a:lnTo>
                <a:lnTo>
                  <a:pt x="380" y="27"/>
                </a:lnTo>
                <a:lnTo>
                  <a:pt x="426" y="43"/>
                </a:lnTo>
                <a:lnTo>
                  <a:pt x="474" y="63"/>
                </a:lnTo>
                <a:lnTo>
                  <a:pt x="524" y="87"/>
                </a:lnTo>
                <a:lnTo>
                  <a:pt x="573" y="113"/>
                </a:lnTo>
                <a:lnTo>
                  <a:pt x="624" y="144"/>
                </a:lnTo>
                <a:lnTo>
                  <a:pt x="674" y="176"/>
                </a:lnTo>
                <a:lnTo>
                  <a:pt x="726" y="213"/>
                </a:lnTo>
                <a:lnTo>
                  <a:pt x="777" y="253"/>
                </a:lnTo>
                <a:lnTo>
                  <a:pt x="829" y="296"/>
                </a:lnTo>
                <a:lnTo>
                  <a:pt x="879" y="341"/>
                </a:lnTo>
                <a:lnTo>
                  <a:pt x="929" y="389"/>
                </a:lnTo>
                <a:lnTo>
                  <a:pt x="987" y="452"/>
                </a:lnTo>
                <a:lnTo>
                  <a:pt x="1042" y="515"/>
                </a:lnTo>
                <a:lnTo>
                  <a:pt x="1578" y="430"/>
                </a:lnTo>
                <a:lnTo>
                  <a:pt x="1592" y="427"/>
                </a:lnTo>
                <a:lnTo>
                  <a:pt x="1606" y="430"/>
                </a:lnTo>
                <a:lnTo>
                  <a:pt x="1618" y="435"/>
                </a:lnTo>
                <a:lnTo>
                  <a:pt x="1632" y="443"/>
                </a:lnTo>
                <a:lnTo>
                  <a:pt x="1645" y="452"/>
                </a:lnTo>
                <a:lnTo>
                  <a:pt x="3453" y="2267"/>
                </a:lnTo>
                <a:lnTo>
                  <a:pt x="3464" y="2282"/>
                </a:lnTo>
                <a:lnTo>
                  <a:pt x="3472" y="2300"/>
                </a:lnTo>
                <a:lnTo>
                  <a:pt x="3474" y="2318"/>
                </a:lnTo>
                <a:lnTo>
                  <a:pt x="3472" y="2337"/>
                </a:lnTo>
                <a:lnTo>
                  <a:pt x="3464" y="2355"/>
                </a:lnTo>
                <a:lnTo>
                  <a:pt x="3453" y="2371"/>
                </a:lnTo>
                <a:lnTo>
                  <a:pt x="2375" y="3452"/>
                </a:lnTo>
                <a:lnTo>
                  <a:pt x="2365" y="3462"/>
                </a:lnTo>
                <a:lnTo>
                  <a:pt x="2352" y="3468"/>
                </a:lnTo>
                <a:lnTo>
                  <a:pt x="2339" y="3472"/>
                </a:lnTo>
                <a:lnTo>
                  <a:pt x="2323" y="3475"/>
                </a:lnTo>
                <a:lnTo>
                  <a:pt x="2309" y="3472"/>
                </a:lnTo>
                <a:lnTo>
                  <a:pt x="2295" y="3468"/>
                </a:lnTo>
                <a:lnTo>
                  <a:pt x="2283" y="3462"/>
                </a:lnTo>
                <a:lnTo>
                  <a:pt x="2272" y="3452"/>
                </a:lnTo>
                <a:lnTo>
                  <a:pt x="464" y="1637"/>
                </a:lnTo>
                <a:lnTo>
                  <a:pt x="455" y="1624"/>
                </a:lnTo>
                <a:lnTo>
                  <a:pt x="448" y="1610"/>
                </a:lnTo>
                <a:lnTo>
                  <a:pt x="443" y="1592"/>
                </a:lnTo>
                <a:lnTo>
                  <a:pt x="442" y="1571"/>
                </a:lnTo>
                <a:lnTo>
                  <a:pt x="524" y="1061"/>
                </a:lnTo>
                <a:lnTo>
                  <a:pt x="476" y="1021"/>
                </a:lnTo>
                <a:lnTo>
                  <a:pt x="430" y="978"/>
                </a:lnTo>
                <a:lnTo>
                  <a:pt x="384" y="934"/>
                </a:lnTo>
                <a:lnTo>
                  <a:pt x="336" y="883"/>
                </a:lnTo>
                <a:lnTo>
                  <a:pt x="291" y="833"/>
                </a:lnTo>
                <a:lnTo>
                  <a:pt x="249" y="781"/>
                </a:lnTo>
                <a:lnTo>
                  <a:pt x="209" y="729"/>
                </a:lnTo>
                <a:lnTo>
                  <a:pt x="173" y="678"/>
                </a:lnTo>
                <a:lnTo>
                  <a:pt x="140" y="626"/>
                </a:lnTo>
                <a:lnTo>
                  <a:pt x="111" y="575"/>
                </a:lnTo>
                <a:lnTo>
                  <a:pt x="84" y="526"/>
                </a:lnTo>
                <a:lnTo>
                  <a:pt x="61" y="476"/>
                </a:lnTo>
                <a:lnTo>
                  <a:pt x="42" y="427"/>
                </a:lnTo>
                <a:lnTo>
                  <a:pt x="26" y="381"/>
                </a:lnTo>
                <a:lnTo>
                  <a:pt x="14" y="336"/>
                </a:lnTo>
                <a:lnTo>
                  <a:pt x="5" y="292"/>
                </a:lnTo>
                <a:lnTo>
                  <a:pt x="1" y="251"/>
                </a:lnTo>
                <a:lnTo>
                  <a:pt x="0" y="212"/>
                </a:lnTo>
                <a:lnTo>
                  <a:pt x="4" y="175"/>
                </a:lnTo>
                <a:lnTo>
                  <a:pt x="12" y="141"/>
                </a:lnTo>
                <a:lnTo>
                  <a:pt x="23" y="111"/>
                </a:lnTo>
                <a:lnTo>
                  <a:pt x="39" y="83"/>
                </a:lnTo>
                <a:lnTo>
                  <a:pt x="59" y="59"/>
                </a:lnTo>
                <a:lnTo>
                  <a:pt x="83" y="38"/>
                </a:lnTo>
                <a:lnTo>
                  <a:pt x="112" y="22"/>
                </a:lnTo>
                <a:lnTo>
                  <a:pt x="142" y="11"/>
                </a:lnTo>
                <a:lnTo>
                  <a:pt x="176" y="3"/>
                </a:lnTo>
                <a:lnTo>
                  <a:pt x="212"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a:p>
        </p:txBody>
      </p:sp>
      <p:sp>
        <p:nvSpPr>
          <p:cNvPr id="15" name="内容占位符 4"/>
          <p:cNvSpPr>
            <a:spLocks noGrp="1"/>
          </p:cNvSpPr>
          <p:nvPr/>
        </p:nvSpPr>
        <p:spPr>
          <a:xfrm>
            <a:off x="536575" y="5008880"/>
            <a:ext cx="5032375" cy="765175"/>
          </a:xfrm>
          <a:prstGeom prst="rect">
            <a:avLst/>
          </a:prstGeom>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50000"/>
              </a:lnSpc>
              <a:buNone/>
            </a:pPr>
            <a:r>
              <a:rPr lang="zh-CN" altLang="en-US" dirty="0">
                <a:solidFill>
                  <a:srgbClr val="FF0000"/>
                </a:solidFill>
              </a:rPr>
              <a:t>视图机制：</a:t>
            </a:r>
            <a:r>
              <a:rPr lang="en-US" altLang="zh-CN" dirty="0">
                <a:solidFill>
                  <a:srgbClr val="FF0000"/>
                </a:solidFill>
              </a:rPr>
              <a:t> </a:t>
            </a:r>
            <a:endParaRPr lang="zh-CN" altLang="en-US" dirty="0">
              <a:solidFill>
                <a:srgbClr val="FF0000"/>
              </a:solidFill>
            </a:endParaRPr>
          </a:p>
        </p:txBody>
      </p:sp>
      <p:sp>
        <p:nvSpPr>
          <p:cNvPr id="16" name="内容占位符 4"/>
          <p:cNvSpPr>
            <a:spLocks noGrp="1"/>
          </p:cNvSpPr>
          <p:nvPr/>
        </p:nvSpPr>
        <p:spPr>
          <a:xfrm>
            <a:off x="1081405" y="5737225"/>
            <a:ext cx="1031748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为不同的用户定义相应视图，可以限制各个用户的访问范围。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750"/>
                                        <p:tgtEl>
                                          <p:spTgt spid="15"/>
                                        </p:tgtEl>
                                      </p:cBhvr>
                                    </p:animEffect>
                                    <p:anim calcmode="lin" valueType="num">
                                      <p:cBhvr>
                                        <p:cTn id="8" dur="750" fill="hold"/>
                                        <p:tgtEl>
                                          <p:spTgt spid="15"/>
                                        </p:tgtEl>
                                        <p:attrNameLst>
                                          <p:attrName>ppt_x</p:attrName>
                                        </p:attrNameLst>
                                      </p:cBhvr>
                                      <p:tavLst>
                                        <p:tav tm="0">
                                          <p:val>
                                            <p:strVal val="#ppt_x"/>
                                          </p:val>
                                        </p:tav>
                                        <p:tav tm="100000">
                                          <p:val>
                                            <p:strVal val="#ppt_x"/>
                                          </p:val>
                                        </p:tav>
                                      </p:tavLst>
                                    </p:anim>
                                    <p:anim calcmode="lin" valueType="num">
                                      <p:cBhvr>
                                        <p:cTn id="9" dur="75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10" presetClass="entr" presetSubtype="0" fill="hold" grpId="0" nodeType="afterEffect">
                                  <p:stCondLst>
                                    <p:cond delay="5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E7A43-A2DC-E771-884E-CDF6FC3D262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53964B8-4D92-82C9-3BD0-130216194BE4}"/>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74DFDA7D-95DC-85A5-F53B-D129D8B9D2CC}"/>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视图机制</a:t>
            </a:r>
          </a:p>
        </p:txBody>
      </p:sp>
      <p:sp>
        <p:nvSpPr>
          <p:cNvPr id="5" name="矩形 4">
            <a:extLst>
              <a:ext uri="{FF2B5EF4-FFF2-40B4-BE49-F238E27FC236}">
                <a16:creationId xmlns:a16="http://schemas.microsoft.com/office/drawing/2014/main" id="{E3EDDB08-BA56-FFE7-D2A2-C08277B613A5}"/>
              </a:ext>
            </a:extLst>
          </p:cNvPr>
          <p:cNvSpPr/>
          <p:nvPr/>
        </p:nvSpPr>
        <p:spPr>
          <a:xfrm>
            <a:off x="516559" y="1829594"/>
            <a:ext cx="11286490" cy="1600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12775" indent="-342900" algn="just">
              <a:lnSpc>
                <a:spcPct val="150000"/>
              </a:lnSpc>
              <a:buFont typeface="Wingdings" panose="05000000000000000000" pitchFamily="2" charset="2"/>
              <a:buChar char="l"/>
            </a:pPr>
            <a:r>
              <a:rPr lang="zh-CN" altLang="en-US" sz="2000" dirty="0">
                <a:solidFill>
                  <a:schemeClr val="tx1"/>
                </a:solidFill>
              </a:rPr>
              <a:t>通过</a:t>
            </a:r>
            <a:r>
              <a:rPr lang="zh-CN" altLang="en-US" sz="2000" dirty="0">
                <a:solidFill>
                  <a:srgbClr val="FF0000"/>
                </a:solidFill>
              </a:rPr>
              <a:t>视图机制</a:t>
            </a:r>
            <a:r>
              <a:rPr lang="zh-CN" altLang="en-US" sz="2000" dirty="0">
                <a:solidFill>
                  <a:schemeClr val="tx1"/>
                </a:solidFill>
              </a:rPr>
              <a:t>，把要保密的数据对无权存取这些数据的用户隐藏起来，对数据提供一定程度的安全保护 </a:t>
            </a:r>
          </a:p>
          <a:p>
            <a:pPr marL="612775" indent="-342900" algn="just">
              <a:lnSpc>
                <a:spcPct val="150000"/>
              </a:lnSpc>
              <a:buFont typeface="Wingdings" panose="05000000000000000000" pitchFamily="2" charset="2"/>
              <a:buChar char="l"/>
            </a:pPr>
            <a:r>
              <a:rPr lang="zh-CN" altLang="en-US" sz="2000" dirty="0">
                <a:solidFill>
                  <a:srgbClr val="FF0000"/>
                </a:solidFill>
              </a:rPr>
              <a:t>视图机制配合授权机制</a:t>
            </a:r>
            <a:r>
              <a:rPr lang="zh-CN" altLang="en-US" sz="2000" dirty="0">
                <a:solidFill>
                  <a:schemeClr val="tx1"/>
                </a:solidFill>
              </a:rPr>
              <a:t>，间接地实现支持存取谓词的用户权限定义</a:t>
            </a:r>
          </a:p>
        </p:txBody>
      </p:sp>
    </p:spTree>
    <p:extLst>
      <p:ext uri="{BB962C8B-B14F-4D97-AF65-F5344CB8AC3E}">
        <p14:creationId xmlns:p14="http://schemas.microsoft.com/office/powerpoint/2010/main" val="15606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F7D2B-6F09-A7BA-D7DE-3694EC42486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379AA6A2-EBF5-534E-2090-489C74F57BFF}"/>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4D9B728B-ED5A-CCE1-5C94-6894E0CB8A50}"/>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视图机制</a:t>
            </a:r>
          </a:p>
        </p:txBody>
      </p:sp>
      <p:sp>
        <p:nvSpPr>
          <p:cNvPr id="5" name="矩形 4">
            <a:extLst>
              <a:ext uri="{FF2B5EF4-FFF2-40B4-BE49-F238E27FC236}">
                <a16:creationId xmlns:a16="http://schemas.microsoft.com/office/drawing/2014/main" id="{510C11FD-9DCA-07AA-129D-2B0020E145CA}"/>
              </a:ext>
            </a:extLst>
          </p:cNvPr>
          <p:cNvSpPr/>
          <p:nvPr/>
        </p:nvSpPr>
        <p:spPr>
          <a:xfrm>
            <a:off x="516559" y="1829594"/>
            <a:ext cx="11286490" cy="4419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例：建立计算机科学与技术专业学生的视图，把对该视图的</a:t>
            </a:r>
            <a:r>
              <a:rPr lang="en-US" altLang="zh-CN" sz="2000" dirty="0">
                <a:solidFill>
                  <a:srgbClr val="FF0000"/>
                </a:solidFill>
              </a:rPr>
              <a:t>SELECT</a:t>
            </a:r>
            <a:r>
              <a:rPr lang="zh-CN" altLang="en-US" sz="2000" dirty="0">
                <a:solidFill>
                  <a:srgbClr val="FF0000"/>
                </a:solidFill>
              </a:rPr>
              <a:t>权限授于王平，把该视图上的所有操作权限授于张明。 </a:t>
            </a:r>
          </a:p>
          <a:p>
            <a:pPr marL="715963" algn="just">
              <a:lnSpc>
                <a:spcPct val="150000"/>
              </a:lnSpc>
            </a:pPr>
            <a:r>
              <a:rPr lang="en-US" altLang="zh-CN" sz="2000" dirty="0">
                <a:solidFill>
                  <a:schemeClr val="tx1"/>
                </a:solidFill>
              </a:rPr>
              <a:t>CREATE VIEW </a:t>
            </a:r>
            <a:r>
              <a:rPr lang="en-US" altLang="zh-CN" sz="2000" dirty="0" err="1">
                <a:solidFill>
                  <a:schemeClr val="tx1"/>
                </a:solidFill>
              </a:rPr>
              <a:t>CS_Student</a:t>
            </a:r>
            <a:r>
              <a:rPr lang="en-US" altLang="zh-CN" sz="2000" dirty="0">
                <a:solidFill>
                  <a:schemeClr val="tx1"/>
                </a:solidFill>
              </a:rPr>
              <a:t>   		                              </a:t>
            </a:r>
            <a:r>
              <a:rPr lang="en-US" altLang="zh-CN" sz="1800" dirty="0">
                <a:solidFill>
                  <a:schemeClr val="tx1"/>
                </a:solidFill>
              </a:rPr>
              <a:t>/*</a:t>
            </a:r>
            <a:r>
              <a:rPr lang="zh-CN" altLang="en-US" sz="1800" dirty="0">
                <a:solidFill>
                  <a:schemeClr val="tx1"/>
                </a:solidFill>
              </a:rPr>
              <a:t>先建立视图</a:t>
            </a:r>
            <a:r>
              <a:rPr lang="en-US" altLang="zh-CN" sz="1800" dirty="0" err="1">
                <a:solidFill>
                  <a:schemeClr val="tx1"/>
                </a:solidFill>
              </a:rPr>
              <a:t>CS_Student</a:t>
            </a:r>
            <a:r>
              <a:rPr lang="en-US" altLang="zh-CN" sz="1800" dirty="0">
                <a:solidFill>
                  <a:schemeClr val="tx1"/>
                </a:solidFill>
              </a:rPr>
              <a:t>*/</a:t>
            </a:r>
            <a:endParaRPr lang="en-US" altLang="zh-CN" sz="2000" dirty="0">
              <a:solidFill>
                <a:schemeClr val="tx1"/>
              </a:solidFill>
            </a:endParaRPr>
          </a:p>
          <a:p>
            <a:pPr marL="715963" algn="just">
              <a:lnSpc>
                <a:spcPct val="150000"/>
              </a:lnSpc>
            </a:pPr>
            <a:r>
              <a:rPr lang="en-US" altLang="zh-CN" sz="2000" dirty="0">
                <a:solidFill>
                  <a:schemeClr val="tx1"/>
                </a:solidFill>
              </a:rPr>
              <a:t>AS </a:t>
            </a:r>
          </a:p>
          <a:p>
            <a:pPr marL="715963" algn="just">
              <a:lnSpc>
                <a:spcPct val="150000"/>
              </a:lnSpc>
            </a:pPr>
            <a:r>
              <a:rPr lang="en-US" altLang="zh-CN" sz="2000" dirty="0">
                <a:solidFill>
                  <a:schemeClr val="tx1"/>
                </a:solidFill>
              </a:rPr>
              <a:t>SELECT  *</a:t>
            </a:r>
          </a:p>
          <a:p>
            <a:pPr marL="715963" algn="just">
              <a:lnSpc>
                <a:spcPct val="150000"/>
              </a:lnSpc>
            </a:pPr>
            <a:r>
              <a:rPr lang="en-US" altLang="zh-CN" sz="2000" dirty="0">
                <a:solidFill>
                  <a:schemeClr val="tx1"/>
                </a:solidFill>
              </a:rPr>
              <a:t>FROM   Student</a:t>
            </a:r>
          </a:p>
          <a:p>
            <a:pPr marL="715963" algn="just">
              <a:lnSpc>
                <a:spcPct val="150000"/>
              </a:lnSpc>
            </a:pPr>
            <a:r>
              <a:rPr lang="en-US" altLang="zh-CN" sz="2000" dirty="0">
                <a:solidFill>
                  <a:schemeClr val="tx1"/>
                </a:solidFill>
              </a:rPr>
              <a:t>WHERE  </a:t>
            </a:r>
            <a:r>
              <a:rPr lang="en-US" altLang="zh-CN" sz="2000" dirty="0" err="1">
                <a:solidFill>
                  <a:schemeClr val="tx1"/>
                </a:solidFill>
              </a:rPr>
              <a:t>Smajor</a:t>
            </a:r>
            <a:r>
              <a:rPr lang="en-US" altLang="zh-CN" sz="2000" dirty="0">
                <a:solidFill>
                  <a:schemeClr val="tx1"/>
                </a:solidFill>
              </a:rPr>
              <a:t>=‘</a:t>
            </a:r>
            <a:r>
              <a:rPr lang="zh-CN" altLang="en-US" sz="2000" dirty="0">
                <a:solidFill>
                  <a:schemeClr val="tx1"/>
                </a:solidFill>
              </a:rPr>
              <a:t>计算机科学与技术’</a:t>
            </a:r>
          </a:p>
          <a:p>
            <a:pPr marL="715963" algn="just">
              <a:lnSpc>
                <a:spcPct val="150000"/>
              </a:lnSpc>
            </a:pPr>
            <a:r>
              <a:rPr lang="en-US" altLang="zh-CN" sz="2000" dirty="0">
                <a:solidFill>
                  <a:schemeClr val="tx1"/>
                </a:solidFill>
              </a:rPr>
              <a:t>WITH CHECK OPTION</a:t>
            </a:r>
          </a:p>
          <a:p>
            <a:pPr marL="715963" algn="just">
              <a:lnSpc>
                <a:spcPct val="150000"/>
              </a:lnSpc>
            </a:pPr>
            <a:r>
              <a:rPr lang="en-US" altLang="zh-CN" sz="1800" dirty="0">
                <a:solidFill>
                  <a:schemeClr val="tx1"/>
                </a:solidFill>
              </a:rPr>
              <a:t>                                             /*</a:t>
            </a:r>
            <a:r>
              <a:rPr lang="zh-CN" altLang="en-US" sz="1800" dirty="0">
                <a:solidFill>
                  <a:schemeClr val="tx1"/>
                </a:solidFill>
              </a:rPr>
              <a:t>对该视图进行增删改时，必须满足</a:t>
            </a:r>
            <a:r>
              <a:rPr lang="en-US" altLang="zh-CN" sz="1800" dirty="0" err="1">
                <a:solidFill>
                  <a:schemeClr val="tx1"/>
                </a:solidFill>
              </a:rPr>
              <a:t>Smajor</a:t>
            </a:r>
            <a:r>
              <a:rPr lang="en-US" altLang="zh-CN" sz="1800" dirty="0">
                <a:solidFill>
                  <a:schemeClr val="tx1"/>
                </a:solidFill>
              </a:rPr>
              <a:t>=‘</a:t>
            </a:r>
            <a:r>
              <a:rPr lang="zh-CN" altLang="en-US" sz="1800" dirty="0">
                <a:solidFill>
                  <a:schemeClr val="tx1"/>
                </a:solidFill>
              </a:rPr>
              <a:t>计算机科学与技术’的条件*</a:t>
            </a:r>
            <a:r>
              <a:rPr lang="en-US" altLang="zh-CN" sz="1800" dirty="0">
                <a:solidFill>
                  <a:schemeClr val="tx1"/>
                </a:solidFill>
              </a:rPr>
              <a:t>/</a:t>
            </a:r>
          </a:p>
        </p:txBody>
      </p:sp>
    </p:spTree>
    <p:extLst>
      <p:ext uri="{BB962C8B-B14F-4D97-AF65-F5344CB8AC3E}">
        <p14:creationId xmlns:p14="http://schemas.microsoft.com/office/powerpoint/2010/main" val="278283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10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10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10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10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59762-FBCF-1AF9-C975-A6A20CEE17E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DE9C143-2400-0EF3-40C3-C0140945E965}"/>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0B09EFD-212A-3C02-0066-90E6C02888ED}"/>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视图机制</a:t>
            </a:r>
          </a:p>
        </p:txBody>
      </p:sp>
      <p:sp>
        <p:nvSpPr>
          <p:cNvPr id="5" name="矩形 4">
            <a:extLst>
              <a:ext uri="{FF2B5EF4-FFF2-40B4-BE49-F238E27FC236}">
                <a16:creationId xmlns:a16="http://schemas.microsoft.com/office/drawing/2014/main" id="{59827C40-969E-BD7D-B3C2-C1DCBE8B9DCF}"/>
              </a:ext>
            </a:extLst>
          </p:cNvPr>
          <p:cNvSpPr/>
          <p:nvPr/>
        </p:nvSpPr>
        <p:spPr>
          <a:xfrm>
            <a:off x="516559" y="1829594"/>
            <a:ext cx="11286490" cy="384976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9875" algn="just">
              <a:lnSpc>
                <a:spcPct val="150000"/>
              </a:lnSpc>
            </a:pPr>
            <a:r>
              <a:rPr lang="zh-CN" altLang="en-US" sz="2000" dirty="0">
                <a:solidFill>
                  <a:srgbClr val="FF0000"/>
                </a:solidFill>
              </a:rPr>
              <a:t>在视图上进一步定义存取权限 </a:t>
            </a:r>
          </a:p>
          <a:p>
            <a:pPr marL="715963" algn="just">
              <a:lnSpc>
                <a:spcPct val="150000"/>
              </a:lnSpc>
            </a:pPr>
            <a:r>
              <a:rPr lang="en-US" altLang="zh-CN" sz="2000" dirty="0">
                <a:solidFill>
                  <a:schemeClr val="tx1"/>
                </a:solidFill>
              </a:rPr>
              <a:t>GRANT  SELECT                                             </a:t>
            </a:r>
            <a:r>
              <a:rPr lang="en-US" altLang="zh-CN" sz="1800" dirty="0">
                <a:solidFill>
                  <a:schemeClr val="tx1"/>
                </a:solidFill>
              </a:rPr>
              <a:t>/*</a:t>
            </a:r>
            <a:r>
              <a:rPr lang="zh-CN" altLang="en-US" sz="1800" dirty="0">
                <a:solidFill>
                  <a:schemeClr val="tx1"/>
                </a:solidFill>
              </a:rPr>
              <a:t>王平老师只能检索计算机科学与技术学生的信息*</a:t>
            </a:r>
            <a:r>
              <a:rPr lang="en-US" altLang="zh-CN" sz="1800" dirty="0">
                <a:solidFill>
                  <a:schemeClr val="tx1"/>
                </a:solidFill>
              </a:rPr>
              <a:t>/</a:t>
            </a:r>
          </a:p>
          <a:p>
            <a:pPr marL="715963" algn="just">
              <a:lnSpc>
                <a:spcPct val="150000"/>
              </a:lnSpc>
            </a:pPr>
            <a:r>
              <a:rPr lang="en-US" altLang="zh-CN" sz="2000" dirty="0">
                <a:solidFill>
                  <a:schemeClr val="tx1"/>
                </a:solidFill>
              </a:rPr>
              <a:t>ON  </a:t>
            </a:r>
            <a:r>
              <a:rPr lang="en-US" altLang="zh-CN" sz="2000" dirty="0" err="1">
                <a:solidFill>
                  <a:schemeClr val="tx1"/>
                </a:solidFill>
              </a:rPr>
              <a:t>CS_Student</a:t>
            </a:r>
            <a:r>
              <a:rPr lang="en-US" altLang="zh-CN" sz="2000" dirty="0">
                <a:solidFill>
                  <a:schemeClr val="tx1"/>
                </a:solidFill>
              </a:rPr>
              <a:t>  </a:t>
            </a:r>
          </a:p>
          <a:p>
            <a:pPr marL="715963" algn="just">
              <a:lnSpc>
                <a:spcPct val="150000"/>
              </a:lnSpc>
            </a:pPr>
            <a:r>
              <a:rPr lang="en-US" altLang="zh-CN" sz="2000" dirty="0">
                <a:solidFill>
                  <a:schemeClr val="tx1"/>
                </a:solidFill>
              </a:rPr>
              <a:t>TO </a:t>
            </a:r>
            <a:r>
              <a:rPr lang="zh-CN" altLang="en-US" sz="2000" dirty="0">
                <a:solidFill>
                  <a:schemeClr val="tx1"/>
                </a:solidFill>
              </a:rPr>
              <a:t>王平</a:t>
            </a:r>
            <a:r>
              <a:rPr lang="en-US" altLang="zh-CN" sz="2000" dirty="0">
                <a:solidFill>
                  <a:schemeClr val="tx1"/>
                </a:solidFill>
              </a:rPr>
              <a:t>;</a:t>
            </a:r>
          </a:p>
          <a:p>
            <a:pPr marL="715963" algn="just">
              <a:lnSpc>
                <a:spcPct val="150000"/>
              </a:lnSpc>
            </a:pPr>
            <a:r>
              <a:rPr lang="en-US" altLang="zh-CN" sz="2000" dirty="0">
                <a:solidFill>
                  <a:schemeClr val="tx1"/>
                </a:solidFill>
              </a:rPr>
              <a:t>     </a:t>
            </a:r>
          </a:p>
          <a:p>
            <a:pPr marL="715963" algn="just">
              <a:lnSpc>
                <a:spcPct val="150000"/>
              </a:lnSpc>
            </a:pPr>
            <a:r>
              <a:rPr lang="en-US" altLang="zh-CN" sz="2000" dirty="0">
                <a:solidFill>
                  <a:schemeClr val="tx1"/>
                </a:solidFill>
              </a:rPr>
              <a:t>GRANT ALL PRIVILIGES 	                         </a:t>
            </a:r>
            <a:r>
              <a:rPr lang="en-US" altLang="zh-CN" sz="1800" dirty="0">
                <a:solidFill>
                  <a:schemeClr val="tx1"/>
                </a:solidFill>
              </a:rPr>
              <a:t>/*</a:t>
            </a:r>
            <a:r>
              <a:rPr lang="zh-CN" altLang="en-US" sz="1800" dirty="0">
                <a:solidFill>
                  <a:schemeClr val="tx1"/>
                </a:solidFill>
              </a:rPr>
              <a:t>专业负责人张明具有检索和增删改该视图的所有权限*</a:t>
            </a:r>
            <a:r>
              <a:rPr lang="en-US" altLang="zh-CN" sz="1800" dirty="0">
                <a:solidFill>
                  <a:schemeClr val="tx1"/>
                </a:solidFill>
              </a:rPr>
              <a:t>/</a:t>
            </a:r>
            <a:endParaRPr lang="en-US" altLang="zh-CN" sz="2000" dirty="0">
              <a:solidFill>
                <a:schemeClr val="tx1"/>
              </a:solidFill>
            </a:endParaRPr>
          </a:p>
          <a:p>
            <a:pPr marL="715963" algn="just">
              <a:lnSpc>
                <a:spcPct val="150000"/>
              </a:lnSpc>
            </a:pPr>
            <a:r>
              <a:rPr lang="en-US" altLang="zh-CN" sz="2000" dirty="0">
                <a:solidFill>
                  <a:schemeClr val="tx1"/>
                </a:solidFill>
              </a:rPr>
              <a:t>ON  </a:t>
            </a:r>
            <a:r>
              <a:rPr lang="en-US" altLang="zh-CN" sz="2000" dirty="0" err="1">
                <a:solidFill>
                  <a:schemeClr val="tx1"/>
                </a:solidFill>
              </a:rPr>
              <a:t>CS_Student</a:t>
            </a:r>
            <a:r>
              <a:rPr lang="en-US" altLang="zh-CN" sz="2000" dirty="0">
                <a:solidFill>
                  <a:schemeClr val="tx1"/>
                </a:solidFill>
              </a:rPr>
              <a:t>  </a:t>
            </a:r>
          </a:p>
          <a:p>
            <a:pPr marL="715963" algn="just">
              <a:lnSpc>
                <a:spcPct val="150000"/>
              </a:lnSpc>
            </a:pPr>
            <a:r>
              <a:rPr lang="en-US" altLang="zh-CN" sz="2000" dirty="0">
                <a:solidFill>
                  <a:schemeClr val="tx1"/>
                </a:solidFill>
              </a:rPr>
              <a:t>TO  </a:t>
            </a:r>
            <a:r>
              <a:rPr lang="zh-CN" altLang="en-US" sz="2000" dirty="0">
                <a:solidFill>
                  <a:schemeClr val="tx1"/>
                </a:solidFill>
              </a:rPr>
              <a:t>张明</a:t>
            </a:r>
            <a:r>
              <a:rPr lang="en-US" altLang="zh-CN" sz="2000" dirty="0">
                <a:solidFill>
                  <a:schemeClr val="tx1"/>
                </a:solidFill>
              </a:rPr>
              <a:t>; </a:t>
            </a:r>
            <a:endParaRPr lang="en-US" altLang="zh-CN" sz="1800" dirty="0">
              <a:solidFill>
                <a:schemeClr val="tx1"/>
              </a:solidFill>
            </a:endParaRPr>
          </a:p>
        </p:txBody>
      </p:sp>
    </p:spTree>
    <p:extLst>
      <p:ext uri="{BB962C8B-B14F-4D97-AF65-F5344CB8AC3E}">
        <p14:creationId xmlns:p14="http://schemas.microsoft.com/office/powerpoint/2010/main" val="334560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fade">
                                      <p:cBhvr>
                                        <p:cTn id="23" dur="500"/>
                                        <p:tgtEl>
                                          <p:spTgt spid="5">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fade">
                                      <p:cBhvr>
                                        <p:cTn id="26" dur="500"/>
                                        <p:tgtEl>
                                          <p:spTgt spid="5">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fade">
                                      <p:cBhvr>
                                        <p:cTn id="29"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2" name="内容占位符 4"/>
          <p:cNvSpPr>
            <a:spLocks noGrp="1"/>
          </p:cNvSpPr>
          <p:nvPr/>
        </p:nvSpPr>
        <p:spPr>
          <a:xfrm>
            <a:off x="688975" y="1067594"/>
            <a:ext cx="5032375" cy="765175"/>
          </a:xfrm>
          <a:prstGeom prst="rect">
            <a:avLst/>
          </a:prstGeom>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50000"/>
              </a:lnSpc>
              <a:buNone/>
            </a:pPr>
            <a:r>
              <a:rPr lang="zh-CN" altLang="en-US" dirty="0"/>
              <a:t>安全审计：</a:t>
            </a:r>
            <a:r>
              <a:rPr lang="en-US" altLang="zh-CN" dirty="0"/>
              <a:t> </a:t>
            </a:r>
            <a:endParaRPr lang="zh-CN" altLang="en-US" dirty="0"/>
          </a:p>
        </p:txBody>
      </p:sp>
      <p:sp>
        <p:nvSpPr>
          <p:cNvPr id="3" name="内容占位符 4"/>
          <p:cNvSpPr>
            <a:spLocks noGrp="1"/>
          </p:cNvSpPr>
          <p:nvPr/>
        </p:nvSpPr>
        <p:spPr>
          <a:xfrm>
            <a:off x="1069975" y="1848009"/>
            <a:ext cx="10317480" cy="1169035"/>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50000"/>
              </a:lnSpc>
              <a:buNone/>
            </a:pPr>
            <a:r>
              <a:rPr lang="zh-CN" altLang="en-US" dirty="0"/>
              <a:t>对于某些高度敏感的关键数据，可以通过数据库日志记录数据各类操，并施加数据审计，监控数据库操作记录，分析数据库潜在的安全漏洞</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87289-E1B2-0A75-3BE0-97A950C718C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F062068C-FF5E-9FA0-BD10-12D4276FCBAA}"/>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2274DA4E-2CAA-A3CD-D978-54565E08845B}"/>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3550E2ED-29EB-BA66-125B-C64E623B86DF}"/>
              </a:ext>
            </a:extLst>
          </p:cNvPr>
          <p:cNvSpPr/>
          <p:nvPr/>
        </p:nvSpPr>
        <p:spPr>
          <a:xfrm>
            <a:off x="516559" y="1829594"/>
            <a:ext cx="11286490" cy="2590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启用一个专用的审计日志（</a:t>
            </a:r>
            <a:r>
              <a:rPr lang="en-US" altLang="zh-CN" sz="2000" dirty="0">
                <a:solidFill>
                  <a:schemeClr val="tx1"/>
                </a:solidFill>
              </a:rPr>
              <a:t>Audit Log</a:t>
            </a:r>
            <a:r>
              <a:rPr lang="zh-CN" altLang="en-US" sz="2000" dirty="0">
                <a:solidFill>
                  <a:schemeClr val="tx1"/>
                </a:solidFill>
              </a:rPr>
              <a:t>）</a:t>
            </a:r>
            <a:endParaRPr lang="en-US" altLang="zh-CN" sz="2000" dirty="0">
              <a:solidFill>
                <a:schemeClr val="tx1"/>
              </a:solidFill>
            </a:endParaRPr>
          </a:p>
          <a:p>
            <a:pPr marL="87313" indent="357188" algn="just">
              <a:lnSpc>
                <a:spcPct val="150000"/>
              </a:lnSpc>
            </a:pPr>
            <a:r>
              <a:rPr lang="zh-CN" altLang="en-US" sz="2000" dirty="0">
                <a:solidFill>
                  <a:schemeClr val="tx1"/>
                </a:solidFill>
              </a:rPr>
              <a:t>把用户对数据库的所有操作自动记录放入审计日志</a:t>
            </a:r>
          </a:p>
          <a:p>
            <a:pPr marL="430213" indent="-342900" algn="just">
              <a:lnSpc>
                <a:spcPct val="150000"/>
              </a:lnSpc>
              <a:buFont typeface="Wingdings" panose="05000000000000000000" pitchFamily="2" charset="2"/>
              <a:buChar char="l"/>
            </a:pPr>
            <a:r>
              <a:rPr lang="zh-CN" altLang="en-US" sz="2000" dirty="0">
                <a:solidFill>
                  <a:schemeClr val="tx1"/>
                </a:solidFill>
              </a:rPr>
              <a:t>审计员利用审计日志</a:t>
            </a:r>
          </a:p>
          <a:p>
            <a:pPr marL="87313" indent="357188" algn="just">
              <a:lnSpc>
                <a:spcPct val="150000"/>
              </a:lnSpc>
            </a:pPr>
            <a:r>
              <a:rPr lang="zh-CN" altLang="en-US" sz="2000" dirty="0">
                <a:solidFill>
                  <a:schemeClr val="tx1"/>
                </a:solidFill>
              </a:rPr>
              <a:t>监控数据库中的各种行为，找出非法存取数据的人、时间和内容</a:t>
            </a:r>
          </a:p>
          <a:p>
            <a:pPr marL="430213" indent="-342900" algn="just">
              <a:lnSpc>
                <a:spcPct val="150000"/>
              </a:lnSpc>
              <a:buFont typeface="Wingdings" panose="05000000000000000000" pitchFamily="2" charset="2"/>
              <a:buChar char="l"/>
            </a:pPr>
            <a:r>
              <a:rPr lang="en-US" altLang="zh-CN" sz="2000" dirty="0">
                <a:solidFill>
                  <a:schemeClr val="tx1"/>
                </a:solidFill>
              </a:rPr>
              <a:t>C2</a:t>
            </a:r>
            <a:r>
              <a:rPr lang="zh-CN" altLang="en-US" sz="2000" dirty="0">
                <a:solidFill>
                  <a:schemeClr val="tx1"/>
                </a:solidFill>
              </a:rPr>
              <a:t>以上安全级别</a:t>
            </a:r>
            <a:endParaRPr lang="en-US" altLang="zh-CN" sz="1800" dirty="0">
              <a:solidFill>
                <a:schemeClr val="tx1"/>
              </a:solidFill>
            </a:endParaRPr>
          </a:p>
        </p:txBody>
      </p:sp>
    </p:spTree>
    <p:extLst>
      <p:ext uri="{BB962C8B-B14F-4D97-AF65-F5344CB8AC3E}">
        <p14:creationId xmlns:p14="http://schemas.microsoft.com/office/powerpoint/2010/main" val="417228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25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par>
                                <p:cTn id="17" presetID="10" presetClass="entr" presetSubtype="0" fill="hold" nodeType="withEffect">
                                  <p:stCondLst>
                                    <p:cond delay="25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500"/>
                                        <p:tgtEl>
                                          <p:spTgt spid="5">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AC37-E950-61CB-0B60-D527199D8B8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A8A7CDB4-0AF6-3099-7E99-93463FC37D20}"/>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B34846BC-3387-53D7-3DF4-B78D4D44C048}"/>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22CF0A1E-FA87-D0DF-85E1-01658804F447}"/>
              </a:ext>
            </a:extLst>
          </p:cNvPr>
          <p:cNvSpPr/>
          <p:nvPr/>
        </p:nvSpPr>
        <p:spPr>
          <a:xfrm>
            <a:off x="516559" y="1829594"/>
            <a:ext cx="11286490" cy="2133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审计功能的</a:t>
            </a:r>
            <a:r>
              <a:rPr lang="zh-CN" altLang="en-US" sz="2000" dirty="0">
                <a:solidFill>
                  <a:srgbClr val="FF0000"/>
                </a:solidFill>
              </a:rPr>
              <a:t>可选性</a:t>
            </a:r>
          </a:p>
          <a:p>
            <a:pPr marL="787400" indent="-342900" algn="just">
              <a:lnSpc>
                <a:spcPct val="150000"/>
              </a:lnSpc>
              <a:buFont typeface="Wingdings" panose="05000000000000000000" pitchFamily="2" charset="2"/>
              <a:buChar char="Ø"/>
            </a:pPr>
            <a:r>
              <a:rPr lang="zh-CN" altLang="en-US" sz="2000" dirty="0">
                <a:solidFill>
                  <a:schemeClr val="tx1"/>
                </a:solidFill>
              </a:rPr>
              <a:t>审计很</a:t>
            </a:r>
            <a:r>
              <a:rPr lang="zh-CN" altLang="en-US" sz="2000" dirty="0">
                <a:solidFill>
                  <a:srgbClr val="FF0000"/>
                </a:solidFill>
              </a:rPr>
              <a:t>费时间和空间</a:t>
            </a:r>
          </a:p>
          <a:p>
            <a:pPr marL="787400" indent="-342900" algn="just">
              <a:lnSpc>
                <a:spcPct val="150000"/>
              </a:lnSpc>
              <a:buFont typeface="Wingdings" panose="05000000000000000000" pitchFamily="2" charset="2"/>
              <a:buChar char="Ø"/>
            </a:pPr>
            <a:r>
              <a:rPr lang="en-US" altLang="zh-CN" sz="2000" dirty="0">
                <a:solidFill>
                  <a:schemeClr val="tx1"/>
                </a:solidFill>
              </a:rPr>
              <a:t>DBA</a:t>
            </a:r>
            <a:r>
              <a:rPr lang="zh-CN" altLang="en-US" sz="2000" dirty="0">
                <a:solidFill>
                  <a:schemeClr val="tx1"/>
                </a:solidFill>
              </a:rPr>
              <a:t>可以根据应用对安全性的要求，灵活地打开或关闭审计功能</a:t>
            </a:r>
          </a:p>
          <a:p>
            <a:pPr marL="787400" indent="-342900" algn="just">
              <a:lnSpc>
                <a:spcPct val="150000"/>
              </a:lnSpc>
              <a:buFont typeface="Wingdings" panose="05000000000000000000" pitchFamily="2" charset="2"/>
              <a:buChar char="Ø"/>
            </a:pPr>
            <a:r>
              <a:rPr lang="zh-CN" altLang="en-US" sz="2000" dirty="0">
                <a:solidFill>
                  <a:schemeClr val="tx1"/>
                </a:solidFill>
              </a:rPr>
              <a:t>审计功能主要用于</a:t>
            </a:r>
            <a:r>
              <a:rPr lang="zh-CN" altLang="en-US" sz="2000" dirty="0">
                <a:solidFill>
                  <a:srgbClr val="FF0000"/>
                </a:solidFill>
              </a:rPr>
              <a:t>安全性要求较高</a:t>
            </a:r>
            <a:r>
              <a:rPr lang="zh-CN" altLang="en-US" sz="2000" dirty="0">
                <a:solidFill>
                  <a:schemeClr val="tx1"/>
                </a:solidFill>
              </a:rPr>
              <a:t>的部门</a:t>
            </a:r>
          </a:p>
        </p:txBody>
      </p:sp>
    </p:spTree>
    <p:extLst>
      <p:ext uri="{BB962C8B-B14F-4D97-AF65-F5344CB8AC3E}">
        <p14:creationId xmlns:p14="http://schemas.microsoft.com/office/powerpoint/2010/main" val="114256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CE0F5-DBEB-8850-CBED-FB2EE0FF6CF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E544946-2C1A-06AB-A061-6C16C8A842E9}"/>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891BE6A6-479C-BB1E-A5CF-7F3A29C22651}"/>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2E87642B-0941-3836-D97F-EB4DAE61ADE2}"/>
              </a:ext>
            </a:extLst>
          </p:cNvPr>
          <p:cNvSpPr/>
          <p:nvPr/>
        </p:nvSpPr>
        <p:spPr>
          <a:xfrm>
            <a:off x="516559" y="1829594"/>
            <a:ext cx="11286490" cy="4800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审计</a:t>
            </a:r>
            <a:r>
              <a:rPr lang="zh-CN" altLang="en-US" sz="2000" dirty="0">
                <a:solidFill>
                  <a:srgbClr val="FF0000"/>
                </a:solidFill>
              </a:rPr>
              <a:t>事件</a:t>
            </a:r>
          </a:p>
          <a:p>
            <a:pPr marL="803275" indent="-358775" algn="just">
              <a:lnSpc>
                <a:spcPct val="150000"/>
              </a:lnSpc>
              <a:buFont typeface="Wingdings" panose="05000000000000000000" pitchFamily="2" charset="2"/>
              <a:buChar char="Ø"/>
            </a:pPr>
            <a:r>
              <a:rPr lang="zh-CN" altLang="en-US" sz="2000" dirty="0">
                <a:solidFill>
                  <a:schemeClr val="tx1"/>
                </a:solidFill>
              </a:rPr>
              <a:t>服务器事件</a:t>
            </a:r>
          </a:p>
          <a:p>
            <a:pPr marL="87313" indent="715963" algn="just">
              <a:lnSpc>
                <a:spcPct val="150000"/>
              </a:lnSpc>
            </a:pPr>
            <a:r>
              <a:rPr lang="zh-CN" altLang="en-US" sz="2000" dirty="0">
                <a:solidFill>
                  <a:schemeClr val="tx1"/>
                </a:solidFill>
              </a:rPr>
              <a:t>审计数据库服务器发生的事件</a:t>
            </a:r>
          </a:p>
          <a:p>
            <a:pPr marL="803275" indent="-358775" algn="just">
              <a:lnSpc>
                <a:spcPct val="150000"/>
              </a:lnSpc>
              <a:buFont typeface="Wingdings" panose="05000000000000000000" pitchFamily="2" charset="2"/>
              <a:buChar char="Ø"/>
            </a:pPr>
            <a:r>
              <a:rPr lang="zh-CN" altLang="en-US" sz="2000" dirty="0">
                <a:solidFill>
                  <a:schemeClr val="tx1"/>
                </a:solidFill>
              </a:rPr>
              <a:t>系统权限</a:t>
            </a:r>
          </a:p>
          <a:p>
            <a:pPr marL="985838" indent="-269875" algn="just">
              <a:lnSpc>
                <a:spcPct val="150000"/>
              </a:lnSpc>
              <a:buFont typeface="Arial" panose="020B0604020202020204" pitchFamily="34" charset="0"/>
              <a:buChar char="•"/>
            </a:pPr>
            <a:r>
              <a:rPr lang="zh-CN" altLang="en-US" sz="2000" dirty="0">
                <a:solidFill>
                  <a:schemeClr val="tx1"/>
                </a:solidFill>
              </a:rPr>
              <a:t>对系统拥有的结构或模式对象进行操作的审计</a:t>
            </a:r>
          </a:p>
          <a:p>
            <a:pPr marL="985838" indent="-269875" algn="just">
              <a:lnSpc>
                <a:spcPct val="150000"/>
              </a:lnSpc>
              <a:buFont typeface="Arial" panose="020B0604020202020204" pitchFamily="34" charset="0"/>
              <a:buChar char="•"/>
            </a:pPr>
            <a:r>
              <a:rPr lang="zh-CN" altLang="en-US" sz="2000" dirty="0">
                <a:solidFill>
                  <a:schemeClr val="tx1"/>
                </a:solidFill>
              </a:rPr>
              <a:t>要求该操作的权限是通过系统权限获得的</a:t>
            </a:r>
          </a:p>
          <a:p>
            <a:pPr marL="803275" indent="-358775" algn="just">
              <a:lnSpc>
                <a:spcPct val="150000"/>
              </a:lnSpc>
              <a:buFont typeface="Wingdings" panose="05000000000000000000" pitchFamily="2" charset="2"/>
              <a:buChar char="Ø"/>
            </a:pPr>
            <a:r>
              <a:rPr lang="zh-CN" altLang="en-US" sz="2000" dirty="0">
                <a:solidFill>
                  <a:schemeClr val="tx1"/>
                </a:solidFill>
              </a:rPr>
              <a:t>语句事件</a:t>
            </a:r>
          </a:p>
          <a:p>
            <a:pPr marL="87313" indent="715963" algn="just">
              <a:lnSpc>
                <a:spcPct val="150000"/>
              </a:lnSpc>
            </a:pPr>
            <a:r>
              <a:rPr lang="zh-CN" altLang="en-US" sz="2000" dirty="0">
                <a:solidFill>
                  <a:schemeClr val="tx1"/>
                </a:solidFill>
              </a:rPr>
              <a:t>对</a:t>
            </a:r>
            <a:r>
              <a:rPr lang="en-US" altLang="zh-CN" sz="2000" dirty="0">
                <a:solidFill>
                  <a:schemeClr val="tx1"/>
                </a:solidFill>
              </a:rPr>
              <a:t>SQL</a:t>
            </a:r>
            <a:r>
              <a:rPr lang="zh-CN" altLang="en-US" sz="2000" dirty="0">
                <a:solidFill>
                  <a:schemeClr val="tx1"/>
                </a:solidFill>
              </a:rPr>
              <a:t>语句，如</a:t>
            </a:r>
            <a:r>
              <a:rPr lang="en-US" altLang="zh-CN" sz="2000" dirty="0">
                <a:solidFill>
                  <a:schemeClr val="tx1"/>
                </a:solidFill>
              </a:rPr>
              <a:t>DDL</a:t>
            </a:r>
            <a:r>
              <a:rPr lang="zh-CN" altLang="en-US" sz="2000" dirty="0">
                <a:solidFill>
                  <a:schemeClr val="tx1"/>
                </a:solidFill>
              </a:rPr>
              <a:t>、</a:t>
            </a:r>
            <a:r>
              <a:rPr lang="en-US" altLang="zh-CN" sz="2000" dirty="0">
                <a:solidFill>
                  <a:schemeClr val="tx1"/>
                </a:solidFill>
              </a:rPr>
              <a:t>DML</a:t>
            </a:r>
            <a:r>
              <a:rPr lang="zh-CN" altLang="en-US" sz="2000" dirty="0">
                <a:solidFill>
                  <a:schemeClr val="tx1"/>
                </a:solidFill>
              </a:rPr>
              <a:t>及</a:t>
            </a:r>
            <a:r>
              <a:rPr lang="en-US" altLang="zh-CN" sz="2000" dirty="0">
                <a:solidFill>
                  <a:schemeClr val="tx1"/>
                </a:solidFill>
              </a:rPr>
              <a:t>DCL</a:t>
            </a:r>
            <a:r>
              <a:rPr lang="zh-CN" altLang="en-US" sz="2000" dirty="0">
                <a:solidFill>
                  <a:schemeClr val="tx1"/>
                </a:solidFill>
              </a:rPr>
              <a:t>语句的审计</a:t>
            </a:r>
          </a:p>
          <a:p>
            <a:pPr marL="444500" indent="358775" algn="just">
              <a:lnSpc>
                <a:spcPct val="150000"/>
              </a:lnSpc>
              <a:buFont typeface="Wingdings" panose="05000000000000000000" pitchFamily="2" charset="2"/>
              <a:buChar char="Ø"/>
            </a:pPr>
            <a:r>
              <a:rPr lang="zh-CN" altLang="en-US" sz="2000" dirty="0">
                <a:solidFill>
                  <a:schemeClr val="tx1"/>
                </a:solidFill>
              </a:rPr>
              <a:t>模式对象事件</a:t>
            </a:r>
          </a:p>
          <a:p>
            <a:pPr marL="444500" indent="358775" algn="just">
              <a:lnSpc>
                <a:spcPct val="150000"/>
              </a:lnSpc>
            </a:pPr>
            <a:r>
              <a:rPr lang="zh-CN" altLang="en-US" sz="2000" dirty="0">
                <a:solidFill>
                  <a:schemeClr val="tx1"/>
                </a:solidFill>
              </a:rPr>
              <a:t>对特定模式对象上进行的</a:t>
            </a:r>
            <a:r>
              <a:rPr lang="en-US" altLang="zh-CN" sz="2000" dirty="0">
                <a:solidFill>
                  <a:schemeClr val="tx1"/>
                </a:solidFill>
              </a:rPr>
              <a:t>SELECT</a:t>
            </a:r>
            <a:r>
              <a:rPr lang="zh-CN" altLang="en-US" sz="2000" dirty="0">
                <a:solidFill>
                  <a:schemeClr val="tx1"/>
                </a:solidFill>
              </a:rPr>
              <a:t>或</a:t>
            </a:r>
            <a:r>
              <a:rPr lang="en-US" altLang="zh-CN" sz="2000" dirty="0">
                <a:solidFill>
                  <a:schemeClr val="tx1"/>
                </a:solidFill>
              </a:rPr>
              <a:t>DML</a:t>
            </a:r>
            <a:r>
              <a:rPr lang="zh-CN" altLang="en-US" sz="2000" dirty="0">
                <a:solidFill>
                  <a:schemeClr val="tx1"/>
                </a:solidFill>
              </a:rPr>
              <a:t>操作的审计 	</a:t>
            </a:r>
          </a:p>
        </p:txBody>
      </p:sp>
    </p:spTree>
    <p:extLst>
      <p:ext uri="{BB962C8B-B14F-4D97-AF65-F5344CB8AC3E}">
        <p14:creationId xmlns:p14="http://schemas.microsoft.com/office/powerpoint/2010/main" val="253946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5">
                                            <p:txEl>
                                              <p:pRg st="6" end="6"/>
                                            </p:txEl>
                                          </p:spTgt>
                                        </p:tgtEl>
                                        <p:attrNameLst>
                                          <p:attrName>style.visibility</p:attrName>
                                        </p:attrNameLst>
                                      </p:cBhvr>
                                      <p:to>
                                        <p:strVal val="visible"/>
                                      </p:to>
                                    </p:set>
                                    <p:animEffect transition="in" filter="fade">
                                      <p:cBhvr>
                                        <p:cTn id="20" dur="500"/>
                                        <p:tgtEl>
                                          <p:spTgt spid="5">
                                            <p:txEl>
                                              <p:pRg st="6" end="6"/>
                                            </p:txEl>
                                          </p:spTgt>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5">
                                            <p:txEl>
                                              <p:pRg st="8" end="8"/>
                                            </p:txEl>
                                          </p:spTgt>
                                        </p:tgtEl>
                                        <p:attrNameLst>
                                          <p:attrName>style.visibility</p:attrName>
                                        </p:attrNameLst>
                                      </p:cBhvr>
                                      <p:to>
                                        <p:strVal val="visible"/>
                                      </p:to>
                                    </p:set>
                                    <p:animEffect transition="in" filter="fade">
                                      <p:cBhvr>
                                        <p:cTn id="24" dur="500"/>
                                        <p:tgtEl>
                                          <p:spTgt spid="5">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fade">
                                      <p:cBhvr>
                                        <p:cTn id="29" dur="500"/>
                                        <p:tgtEl>
                                          <p:spTgt spid="5">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
                                            <p:txEl>
                                              <p:pRg st="4" end="4"/>
                                            </p:txEl>
                                          </p:spTgt>
                                        </p:tgtEl>
                                        <p:attrNameLst>
                                          <p:attrName>style.visibility</p:attrName>
                                        </p:attrNameLst>
                                      </p:cBhvr>
                                      <p:to>
                                        <p:strVal val="visible"/>
                                      </p:to>
                                    </p:set>
                                    <p:animEffect transition="in" filter="fade">
                                      <p:cBhvr>
                                        <p:cTn id="34" dur="500"/>
                                        <p:tgtEl>
                                          <p:spTgt spid="5">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animEffect transition="in" filter="fade">
                                      <p:cBhvr>
                                        <p:cTn id="39" dur="500"/>
                                        <p:tgtEl>
                                          <p:spTgt spid="5">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
                                            <p:txEl>
                                              <p:pRg st="7" end="7"/>
                                            </p:txEl>
                                          </p:spTgt>
                                        </p:tgtEl>
                                        <p:attrNameLst>
                                          <p:attrName>style.visibility</p:attrName>
                                        </p:attrNameLst>
                                      </p:cBhvr>
                                      <p:to>
                                        <p:strVal val="visible"/>
                                      </p:to>
                                    </p:set>
                                    <p:animEffect transition="in" filter="fade">
                                      <p:cBhvr>
                                        <p:cTn id="44" dur="500"/>
                                        <p:tgtEl>
                                          <p:spTgt spid="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
                                            <p:txEl>
                                              <p:pRg st="9" end="9"/>
                                            </p:txEl>
                                          </p:spTgt>
                                        </p:tgtEl>
                                        <p:attrNameLst>
                                          <p:attrName>style.visibility</p:attrName>
                                        </p:attrNameLst>
                                      </p:cBhvr>
                                      <p:to>
                                        <p:strVal val="visible"/>
                                      </p:to>
                                    </p:set>
                                    <p:animEffect transition="in" filter="fade">
                                      <p:cBhvr>
                                        <p:cTn id="49"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6CC7A-9DD1-65C2-8221-AFF036E57212}"/>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2D8DD9C9-064D-8394-8CBA-18E0769D221C}"/>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6532A71A-7EB5-22DB-1055-43BC3DF5D446}"/>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CBEF21FB-F580-DBA2-3180-BA82E87751B2}"/>
              </a:ext>
            </a:extLst>
          </p:cNvPr>
          <p:cNvSpPr/>
          <p:nvPr/>
        </p:nvSpPr>
        <p:spPr>
          <a:xfrm>
            <a:off x="516559" y="1829594"/>
            <a:ext cx="11286490" cy="467757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审计</a:t>
            </a:r>
            <a:r>
              <a:rPr lang="zh-CN" altLang="en-US" sz="2000" dirty="0">
                <a:solidFill>
                  <a:srgbClr val="FF0000"/>
                </a:solidFill>
              </a:rPr>
              <a:t>功能</a:t>
            </a:r>
          </a:p>
          <a:p>
            <a:pPr marL="803275" indent="-358775" algn="just">
              <a:lnSpc>
                <a:spcPct val="150000"/>
              </a:lnSpc>
              <a:buFont typeface="Wingdings" panose="05000000000000000000" pitchFamily="2" charset="2"/>
              <a:buChar char="Ø"/>
            </a:pPr>
            <a:r>
              <a:rPr lang="zh-CN" altLang="en-US" sz="2000" dirty="0">
                <a:solidFill>
                  <a:schemeClr val="tx1"/>
                </a:solidFill>
              </a:rPr>
              <a:t>基本功能</a:t>
            </a:r>
          </a:p>
          <a:p>
            <a:pPr marL="87313" indent="715963" algn="just">
              <a:lnSpc>
                <a:spcPct val="150000"/>
              </a:lnSpc>
            </a:pPr>
            <a:r>
              <a:rPr lang="zh-CN" altLang="en-US" sz="2000" dirty="0">
                <a:solidFill>
                  <a:schemeClr val="tx1"/>
                </a:solidFill>
              </a:rPr>
              <a:t>提供多种审计查阅方式提供多种审计查阅方式</a:t>
            </a:r>
          </a:p>
          <a:p>
            <a:pPr marL="803275" indent="-358775" algn="just">
              <a:lnSpc>
                <a:spcPct val="150000"/>
              </a:lnSpc>
              <a:buFont typeface="Wingdings" panose="05000000000000000000" pitchFamily="2" charset="2"/>
              <a:buChar char="Ø"/>
            </a:pPr>
            <a:r>
              <a:rPr lang="zh-CN" altLang="en-US" sz="2000" dirty="0">
                <a:solidFill>
                  <a:schemeClr val="tx1"/>
                </a:solidFill>
              </a:rPr>
              <a:t>多套审计规则：一般在初始化设定</a:t>
            </a:r>
          </a:p>
          <a:p>
            <a:pPr marL="803275" indent="-358775" algn="just">
              <a:lnSpc>
                <a:spcPct val="150000"/>
              </a:lnSpc>
              <a:buFont typeface="Wingdings" panose="05000000000000000000" pitchFamily="2" charset="2"/>
              <a:buChar char="Ø"/>
            </a:pPr>
            <a:r>
              <a:rPr lang="zh-CN" altLang="en-US" sz="2000" dirty="0">
                <a:solidFill>
                  <a:schemeClr val="tx1"/>
                </a:solidFill>
              </a:rPr>
              <a:t>提供审计分析和报表功能</a:t>
            </a:r>
          </a:p>
          <a:p>
            <a:pPr marL="803275" indent="-358775" algn="just">
              <a:lnSpc>
                <a:spcPct val="150000"/>
              </a:lnSpc>
              <a:buFont typeface="Wingdings" panose="05000000000000000000" pitchFamily="2" charset="2"/>
              <a:buChar char="Ø"/>
            </a:pPr>
            <a:r>
              <a:rPr lang="zh-CN" altLang="en-US" sz="2000" dirty="0">
                <a:solidFill>
                  <a:schemeClr val="tx1"/>
                </a:solidFill>
              </a:rPr>
              <a:t>审计日志管理功能</a:t>
            </a:r>
            <a:endParaRPr lang="en-US" altLang="zh-CN" sz="2000" dirty="0">
              <a:solidFill>
                <a:schemeClr val="tx1"/>
              </a:solidFill>
            </a:endParaRPr>
          </a:p>
          <a:p>
            <a:pPr marL="1168400" indent="-365125" algn="just">
              <a:lnSpc>
                <a:spcPct val="150000"/>
              </a:lnSpc>
              <a:buFont typeface="Arial" panose="020B0604020202020204" pitchFamily="34" charset="0"/>
              <a:buChar char="•"/>
            </a:pPr>
            <a:r>
              <a:rPr lang="zh-CN" altLang="en-US" sz="2000" dirty="0">
                <a:solidFill>
                  <a:schemeClr val="tx1"/>
                </a:solidFill>
              </a:rPr>
              <a:t>防止审计员误删审计记录，审计日志必须先转储后删除</a:t>
            </a:r>
          </a:p>
          <a:p>
            <a:pPr marL="1168400" indent="-365125" algn="just">
              <a:lnSpc>
                <a:spcPct val="150000"/>
              </a:lnSpc>
              <a:buFont typeface="Arial" panose="020B0604020202020204" pitchFamily="34" charset="0"/>
              <a:buChar char="•"/>
            </a:pPr>
            <a:r>
              <a:rPr lang="zh-CN" altLang="en-US" sz="2000" dirty="0">
                <a:solidFill>
                  <a:schemeClr val="tx1"/>
                </a:solidFill>
              </a:rPr>
              <a:t>对转储的审计记录文件提供完整性和保密性保护</a:t>
            </a:r>
          </a:p>
          <a:p>
            <a:pPr marL="1168400" indent="-365125" algn="just">
              <a:lnSpc>
                <a:spcPct val="150000"/>
              </a:lnSpc>
              <a:buFont typeface="Arial" panose="020B0604020202020204" pitchFamily="34" charset="0"/>
              <a:buChar char="•"/>
            </a:pPr>
            <a:r>
              <a:rPr lang="zh-CN" altLang="en-US" sz="2000" dirty="0">
                <a:solidFill>
                  <a:schemeClr val="tx1"/>
                </a:solidFill>
              </a:rPr>
              <a:t>只允许审计员查阅和转储审计记录，不允许任何用户新增和修改审计记录等</a:t>
            </a:r>
          </a:p>
          <a:p>
            <a:pPr marL="803275" indent="-358775" algn="just">
              <a:lnSpc>
                <a:spcPct val="150000"/>
              </a:lnSpc>
              <a:buFont typeface="Wingdings" panose="05000000000000000000" pitchFamily="2" charset="2"/>
              <a:buChar char="Ø"/>
            </a:pPr>
            <a:r>
              <a:rPr lang="zh-CN" altLang="en-US" sz="2000" dirty="0">
                <a:solidFill>
                  <a:schemeClr val="tx1"/>
                </a:solidFill>
              </a:rPr>
              <a:t>提供查询审计设置及审计记录信息的专门视图</a:t>
            </a:r>
          </a:p>
        </p:txBody>
      </p:sp>
    </p:spTree>
    <p:extLst>
      <p:ext uri="{BB962C8B-B14F-4D97-AF65-F5344CB8AC3E}">
        <p14:creationId xmlns:p14="http://schemas.microsoft.com/office/powerpoint/2010/main" val="193053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50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animEffect transition="in" filter="fade">
                                      <p:cBhvr>
                                        <p:cTn id="36" dur="500"/>
                                        <p:tgtEl>
                                          <p:spTgt spid="5">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fade">
                                      <p:cBhvr>
                                        <p:cTn id="41" dur="500"/>
                                        <p:tgtEl>
                                          <p:spTgt spid="5">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
                                            <p:txEl>
                                              <p:pRg st="8" end="8"/>
                                            </p:txEl>
                                          </p:spTgt>
                                        </p:tgtEl>
                                        <p:attrNameLst>
                                          <p:attrName>style.visibility</p:attrName>
                                        </p:attrNameLst>
                                      </p:cBhvr>
                                      <p:to>
                                        <p:strVal val="visible"/>
                                      </p:to>
                                    </p:set>
                                    <p:animEffect transition="in" filter="fade">
                                      <p:cBhvr>
                                        <p:cTn id="46" dur="500"/>
                                        <p:tgtEl>
                                          <p:spTgt spid="5">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animEffect transition="in" filter="fade">
                                      <p:cBhvr>
                                        <p:cTn id="5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BBF48-9040-7E44-8652-E0F6D9198EC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408991A7-4055-6585-33E8-00BE1DD48D46}"/>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AC5194C5-92BA-D1E2-D5A4-42CD9457D1DB}"/>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65969DE7-E47E-94A1-3967-FBCA312639AC}"/>
              </a:ext>
            </a:extLst>
          </p:cNvPr>
          <p:cNvSpPr/>
          <p:nvPr/>
        </p:nvSpPr>
        <p:spPr>
          <a:xfrm>
            <a:off x="516559" y="1829594"/>
            <a:ext cx="11286490" cy="1752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en-US" altLang="zh-CN" sz="2000" dirty="0">
                <a:solidFill>
                  <a:srgbClr val="FF0000"/>
                </a:solidFill>
              </a:rPr>
              <a:t>AUDIT</a:t>
            </a:r>
            <a:r>
              <a:rPr lang="zh-CN" altLang="en-US" sz="2000" dirty="0">
                <a:solidFill>
                  <a:srgbClr val="FF0000"/>
                </a:solidFill>
              </a:rPr>
              <a:t>语句</a:t>
            </a:r>
            <a:r>
              <a:rPr lang="zh-CN" altLang="en-US" sz="2000" dirty="0">
                <a:solidFill>
                  <a:schemeClr val="tx1"/>
                </a:solidFill>
              </a:rPr>
              <a:t>和</a:t>
            </a:r>
            <a:r>
              <a:rPr lang="en-US" altLang="zh-CN" sz="2000" dirty="0">
                <a:solidFill>
                  <a:srgbClr val="FF0000"/>
                </a:solidFill>
              </a:rPr>
              <a:t>NOAUDIT</a:t>
            </a:r>
            <a:r>
              <a:rPr lang="zh-CN" altLang="en-US" sz="2000" dirty="0">
                <a:solidFill>
                  <a:srgbClr val="FF0000"/>
                </a:solidFill>
              </a:rPr>
              <a:t>语句</a:t>
            </a:r>
            <a:endParaRPr lang="en-US" altLang="zh-CN" sz="2000" dirty="0">
              <a:solidFill>
                <a:srgbClr val="FF0000"/>
              </a:solidFill>
            </a:endParaRPr>
          </a:p>
          <a:p>
            <a:pPr marL="803275" indent="-358775" algn="just">
              <a:lnSpc>
                <a:spcPct val="150000"/>
              </a:lnSpc>
              <a:buFont typeface="Wingdings" panose="05000000000000000000" pitchFamily="2" charset="2"/>
              <a:buChar char="Ø"/>
            </a:pPr>
            <a:r>
              <a:rPr lang="en-US" altLang="zh-CN" sz="2000" dirty="0">
                <a:solidFill>
                  <a:schemeClr val="tx1"/>
                </a:solidFill>
              </a:rPr>
              <a:t>AUDIT</a:t>
            </a:r>
            <a:r>
              <a:rPr lang="zh-CN" altLang="en-US" sz="2000" dirty="0">
                <a:solidFill>
                  <a:schemeClr val="tx1"/>
                </a:solidFill>
              </a:rPr>
              <a:t>语句：设置审计功能 </a:t>
            </a:r>
          </a:p>
          <a:p>
            <a:pPr marL="803275" indent="-358775" algn="just">
              <a:lnSpc>
                <a:spcPct val="150000"/>
              </a:lnSpc>
              <a:buFont typeface="Wingdings" panose="05000000000000000000" pitchFamily="2" charset="2"/>
              <a:buChar char="Ø"/>
            </a:pPr>
            <a:r>
              <a:rPr lang="en-US" altLang="zh-CN" sz="2000" dirty="0">
                <a:solidFill>
                  <a:schemeClr val="tx1"/>
                </a:solidFill>
              </a:rPr>
              <a:t>NOAUDIT</a:t>
            </a:r>
            <a:r>
              <a:rPr lang="zh-CN" altLang="en-US" sz="2000" dirty="0">
                <a:solidFill>
                  <a:schemeClr val="tx1"/>
                </a:solidFill>
              </a:rPr>
              <a:t>语句：取消审计功能 </a:t>
            </a:r>
          </a:p>
        </p:txBody>
      </p:sp>
    </p:spTree>
    <p:extLst>
      <p:ext uri="{BB962C8B-B14F-4D97-AF65-F5344CB8AC3E}">
        <p14:creationId xmlns:p14="http://schemas.microsoft.com/office/powerpoint/2010/main" val="243867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DE51E-E451-33E0-7750-5311248E70FD}"/>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A4A11E45-0C70-E692-4279-ECC4EFE082E7}"/>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D369ACF-AD87-73E9-91F5-EFAC493FCB72}"/>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C44522AD-6A81-2023-EDEF-8E6E60B35EA9}"/>
              </a:ext>
            </a:extLst>
          </p:cNvPr>
          <p:cNvSpPr/>
          <p:nvPr/>
        </p:nvSpPr>
        <p:spPr>
          <a:xfrm>
            <a:off x="516559" y="1829594"/>
            <a:ext cx="11286490" cy="2971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用户级审计</a:t>
            </a:r>
          </a:p>
          <a:p>
            <a:pPr marL="803275" indent="-358775" algn="just">
              <a:lnSpc>
                <a:spcPct val="150000"/>
              </a:lnSpc>
              <a:buFont typeface="Wingdings" panose="05000000000000000000" pitchFamily="2" charset="2"/>
              <a:buChar char="Ø"/>
            </a:pPr>
            <a:r>
              <a:rPr lang="zh-CN" altLang="en-US" sz="2000" dirty="0">
                <a:solidFill>
                  <a:schemeClr val="tx1"/>
                </a:solidFill>
              </a:rPr>
              <a:t>任何用户可设置的审计</a:t>
            </a:r>
          </a:p>
          <a:p>
            <a:pPr marL="803275" indent="-358775" algn="just">
              <a:lnSpc>
                <a:spcPct val="150000"/>
              </a:lnSpc>
              <a:buFont typeface="Wingdings" panose="05000000000000000000" pitchFamily="2" charset="2"/>
              <a:buChar char="Ø"/>
            </a:pPr>
            <a:r>
              <a:rPr lang="zh-CN" altLang="en-US" sz="2000" dirty="0">
                <a:solidFill>
                  <a:schemeClr val="tx1"/>
                </a:solidFill>
              </a:rPr>
              <a:t>用户针对自己创建的数据库表和视图进行审计 </a:t>
            </a:r>
            <a:endParaRPr lang="en-US" altLang="zh-CN" sz="2000" dirty="0">
              <a:solidFill>
                <a:schemeClr val="tx1"/>
              </a:solidFill>
            </a:endParaRPr>
          </a:p>
          <a:p>
            <a:pPr marL="430213" indent="-342900" algn="just">
              <a:lnSpc>
                <a:spcPct val="150000"/>
              </a:lnSpc>
              <a:buFont typeface="Wingdings" panose="05000000000000000000" pitchFamily="2" charset="2"/>
              <a:buChar char="l"/>
            </a:pPr>
            <a:r>
              <a:rPr lang="zh-CN" altLang="en-US" sz="2000" dirty="0">
                <a:solidFill>
                  <a:schemeClr val="tx1"/>
                </a:solidFill>
              </a:rPr>
              <a:t>系统级审计</a:t>
            </a:r>
          </a:p>
          <a:p>
            <a:pPr marL="803275" indent="-358775" algn="just">
              <a:lnSpc>
                <a:spcPct val="150000"/>
              </a:lnSpc>
              <a:buFont typeface="Wingdings" panose="05000000000000000000" pitchFamily="2" charset="2"/>
              <a:buChar char="Ø"/>
            </a:pPr>
            <a:r>
              <a:rPr lang="zh-CN" altLang="en-US" sz="2000" dirty="0">
                <a:solidFill>
                  <a:schemeClr val="tx1"/>
                </a:solidFill>
              </a:rPr>
              <a:t>只能由数据库管理员设置</a:t>
            </a:r>
          </a:p>
          <a:p>
            <a:pPr marL="803275" indent="-358775" algn="just">
              <a:lnSpc>
                <a:spcPct val="150000"/>
              </a:lnSpc>
              <a:buFont typeface="Wingdings" panose="05000000000000000000" pitchFamily="2" charset="2"/>
              <a:buChar char="Ø"/>
            </a:pPr>
            <a:r>
              <a:rPr lang="zh-CN" altLang="en-US" sz="2000" dirty="0">
                <a:solidFill>
                  <a:schemeClr val="tx1"/>
                </a:solidFill>
              </a:rPr>
              <a:t>监测成功或失败的登录要求、监测授权和收回操作以及其他数据库级权限下的操作</a:t>
            </a:r>
          </a:p>
        </p:txBody>
      </p:sp>
    </p:spTree>
    <p:extLst>
      <p:ext uri="{BB962C8B-B14F-4D97-AF65-F5344CB8AC3E}">
        <p14:creationId xmlns:p14="http://schemas.microsoft.com/office/powerpoint/2010/main" val="92382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750"/>
                            </p:stCondLst>
                            <p:childTnLst>
                              <p:par>
                                <p:cTn id="9" presetID="10" presetClass="entr" presetSubtype="0" fill="hold" nodeType="afterEffect">
                                  <p:stCondLst>
                                    <p:cond delay="250"/>
                                  </p:stCondLst>
                                  <p:childTnLst>
                                    <p:set>
                                      <p:cBhvr>
                                        <p:cTn id="10" dur="1" fill="hold">
                                          <p:stCondLst>
                                            <p:cond delay="0"/>
                                          </p:stCondLst>
                                        </p:cTn>
                                        <p:tgtEl>
                                          <p:spTgt spid="5">
                                            <p:txEl>
                                              <p:pRg st="3" end="3"/>
                                            </p:txEl>
                                          </p:spTgt>
                                        </p:tgtEl>
                                        <p:attrNameLst>
                                          <p:attrName>style.visibility</p:attrName>
                                        </p:attrNameLst>
                                      </p:cBhvr>
                                      <p:to>
                                        <p:strVal val="visible"/>
                                      </p:to>
                                    </p:set>
                                    <p:animEffect transition="in" filter="fade">
                                      <p:cBhvr>
                                        <p:cTn id="11" dur="500"/>
                                        <p:tgtEl>
                                          <p:spTgt spid="5">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5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F430F-E2D0-E79A-669A-65E7A8A51500}"/>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1F0544D9-1420-251B-8EF0-794934AE9D9C}"/>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4628E8E1-7569-3483-7B2C-FE894CC066D3}"/>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B93E6C67-1361-82C5-1A4D-B2ED81E67B2B}"/>
              </a:ext>
            </a:extLst>
          </p:cNvPr>
          <p:cNvSpPr/>
          <p:nvPr/>
        </p:nvSpPr>
        <p:spPr>
          <a:xfrm>
            <a:off x="516559" y="1829594"/>
            <a:ext cx="11286490" cy="35814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7313" algn="just">
              <a:lnSpc>
                <a:spcPct val="150000"/>
              </a:lnSpc>
            </a:pPr>
            <a:r>
              <a:rPr lang="zh-CN" altLang="en-US" sz="2000" dirty="0">
                <a:solidFill>
                  <a:srgbClr val="FF0000"/>
                </a:solidFill>
              </a:rPr>
              <a:t>例：对修改</a:t>
            </a:r>
            <a:r>
              <a:rPr lang="en-US" altLang="zh-CN" sz="2000" dirty="0">
                <a:solidFill>
                  <a:srgbClr val="FF0000"/>
                </a:solidFill>
              </a:rPr>
              <a:t>SC</a:t>
            </a:r>
            <a:r>
              <a:rPr lang="zh-CN" altLang="en-US" sz="2000" dirty="0">
                <a:solidFill>
                  <a:srgbClr val="FF0000"/>
                </a:solidFill>
              </a:rPr>
              <a:t>表结构或修改</a:t>
            </a:r>
            <a:r>
              <a:rPr lang="en-US" altLang="zh-CN" sz="2000" dirty="0">
                <a:solidFill>
                  <a:srgbClr val="FF0000"/>
                </a:solidFill>
              </a:rPr>
              <a:t>SC</a:t>
            </a:r>
            <a:r>
              <a:rPr lang="zh-CN" altLang="en-US" sz="2000" dirty="0">
                <a:solidFill>
                  <a:srgbClr val="FF0000"/>
                </a:solidFill>
              </a:rPr>
              <a:t>表数据的操作进行审计</a:t>
            </a:r>
          </a:p>
          <a:p>
            <a:pPr marL="87313" algn="just">
              <a:lnSpc>
                <a:spcPct val="150000"/>
              </a:lnSpc>
            </a:pPr>
            <a:r>
              <a:rPr lang="zh-CN" altLang="en-US" sz="2000" dirty="0">
                <a:solidFill>
                  <a:schemeClr val="tx1"/>
                </a:solidFill>
              </a:rPr>
              <a:t> </a:t>
            </a:r>
            <a:r>
              <a:rPr lang="en-US" altLang="zh-CN" sz="2000" dirty="0">
                <a:solidFill>
                  <a:schemeClr val="tx1"/>
                </a:solidFill>
              </a:rPr>
              <a:t>(1) </a:t>
            </a:r>
            <a:r>
              <a:rPr lang="zh-CN" altLang="en-US" sz="2000" dirty="0">
                <a:solidFill>
                  <a:schemeClr val="tx1"/>
                </a:solidFill>
              </a:rPr>
              <a:t>先显示当前审计开关状态</a:t>
            </a:r>
          </a:p>
          <a:p>
            <a:pPr marL="87313" algn="just">
              <a:lnSpc>
                <a:spcPct val="150000"/>
              </a:lnSpc>
            </a:pPr>
            <a:r>
              <a:rPr lang="zh-CN" altLang="en-US" sz="2000" dirty="0">
                <a:solidFill>
                  <a:schemeClr val="tx1"/>
                </a:solidFill>
              </a:rPr>
              <a:t>	</a:t>
            </a:r>
            <a:r>
              <a:rPr lang="en-US" altLang="zh-CN" sz="2000" dirty="0">
                <a:solidFill>
                  <a:schemeClr val="tx1"/>
                </a:solidFill>
              </a:rPr>
              <a:t>SHOW AUDIT_TRAIL;</a:t>
            </a:r>
          </a:p>
          <a:p>
            <a:pPr marL="87313" algn="just">
              <a:lnSpc>
                <a:spcPct val="150000"/>
              </a:lnSpc>
            </a:pPr>
            <a:r>
              <a:rPr lang="en-US" altLang="zh-CN" sz="2000" dirty="0">
                <a:solidFill>
                  <a:schemeClr val="tx1"/>
                </a:solidFill>
              </a:rPr>
              <a:t>(2) </a:t>
            </a:r>
            <a:r>
              <a:rPr lang="zh-CN" altLang="en-US" sz="2000" dirty="0">
                <a:solidFill>
                  <a:schemeClr val="tx1"/>
                </a:solidFill>
              </a:rPr>
              <a:t>打开审计开关</a:t>
            </a:r>
          </a:p>
          <a:p>
            <a:pPr marL="87313" algn="just">
              <a:lnSpc>
                <a:spcPct val="150000"/>
              </a:lnSpc>
            </a:pPr>
            <a:r>
              <a:rPr lang="zh-CN" altLang="en-US" sz="2000" dirty="0">
                <a:solidFill>
                  <a:schemeClr val="tx1"/>
                </a:solidFill>
              </a:rPr>
              <a:t>	</a:t>
            </a:r>
            <a:r>
              <a:rPr lang="en-US" altLang="zh-CN" sz="2000" dirty="0">
                <a:solidFill>
                  <a:schemeClr val="tx1"/>
                </a:solidFill>
              </a:rPr>
              <a:t>SET AUDIT_TRAIL TO ON;</a:t>
            </a:r>
          </a:p>
          <a:p>
            <a:pPr marL="87313" algn="just">
              <a:lnSpc>
                <a:spcPct val="150000"/>
              </a:lnSpc>
            </a:pPr>
            <a:r>
              <a:rPr lang="en-US" altLang="zh-CN" sz="2000" dirty="0">
                <a:solidFill>
                  <a:schemeClr val="tx1"/>
                </a:solidFill>
              </a:rPr>
              <a:t>(3) </a:t>
            </a:r>
            <a:r>
              <a:rPr lang="zh-CN" altLang="en-US" sz="2000" dirty="0">
                <a:solidFill>
                  <a:schemeClr val="tx1"/>
                </a:solidFill>
              </a:rPr>
              <a:t>对</a:t>
            </a:r>
            <a:r>
              <a:rPr lang="en-US" altLang="zh-CN" sz="2000" dirty="0">
                <a:solidFill>
                  <a:schemeClr val="tx1"/>
                </a:solidFill>
              </a:rPr>
              <a:t>SC</a:t>
            </a:r>
            <a:r>
              <a:rPr lang="zh-CN" altLang="en-US" sz="2000" dirty="0">
                <a:solidFill>
                  <a:schemeClr val="tx1"/>
                </a:solidFill>
              </a:rPr>
              <a:t>表设置审计</a:t>
            </a:r>
          </a:p>
          <a:p>
            <a:pPr marL="87313" algn="just">
              <a:lnSpc>
                <a:spcPct val="150000"/>
              </a:lnSpc>
            </a:pPr>
            <a:r>
              <a:rPr lang="zh-CN" altLang="en-US" sz="2000" dirty="0">
                <a:solidFill>
                  <a:schemeClr val="tx1"/>
                </a:solidFill>
              </a:rPr>
              <a:t>                 </a:t>
            </a:r>
            <a:r>
              <a:rPr lang="en-US" altLang="zh-CN" sz="2000" dirty="0">
                <a:solidFill>
                  <a:schemeClr val="tx1"/>
                </a:solidFill>
              </a:rPr>
              <a:t>AUDITALTER,UPDATE ON SC BY ACCESS;</a:t>
            </a:r>
          </a:p>
        </p:txBody>
      </p:sp>
    </p:spTree>
    <p:extLst>
      <p:ext uri="{BB962C8B-B14F-4D97-AF65-F5344CB8AC3E}">
        <p14:creationId xmlns:p14="http://schemas.microsoft.com/office/powerpoint/2010/main" val="95054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25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par>
                          <p:cTn id="22" fill="hold">
                            <p:stCondLst>
                              <p:cond delay="500"/>
                            </p:stCondLst>
                            <p:childTnLst>
                              <p:par>
                                <p:cTn id="23" presetID="10" presetClass="entr" presetSubtype="0" fill="hold" nodeType="afterEffect">
                                  <p:stCondLst>
                                    <p:cond delay="25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500"/>
                                        <p:tgtEl>
                                          <p:spTgt spid="5">
                                            <p:txEl>
                                              <p:pRg st="5" end="5"/>
                                            </p:txEl>
                                          </p:spTgt>
                                        </p:tgtEl>
                                      </p:cBhvr>
                                    </p:animEffect>
                                  </p:childTnLst>
                                </p:cTn>
                              </p:par>
                            </p:childTnLst>
                          </p:cTn>
                        </p:par>
                        <p:par>
                          <p:cTn id="31" fill="hold">
                            <p:stCondLst>
                              <p:cond delay="500"/>
                            </p:stCondLst>
                            <p:childTnLst>
                              <p:par>
                                <p:cTn id="32" presetID="10" presetClass="entr" presetSubtype="0" fill="hold" nodeType="afterEffect">
                                  <p:stCondLst>
                                    <p:cond delay="25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65E50-2A44-6D91-5C3A-E3C7457967F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7CB7036-6237-9CC6-9563-6500DFAC8D84}"/>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49138776-8270-C6AE-B4DF-24AAD2A93783}"/>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77859ECF-7C4E-B96C-DA48-5365DFC94ECC}"/>
              </a:ext>
            </a:extLst>
          </p:cNvPr>
          <p:cNvSpPr/>
          <p:nvPr/>
        </p:nvSpPr>
        <p:spPr>
          <a:xfrm>
            <a:off x="516559" y="1829594"/>
            <a:ext cx="11286490" cy="2209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7313" algn="just">
              <a:lnSpc>
                <a:spcPct val="150000"/>
              </a:lnSpc>
            </a:pPr>
            <a:r>
              <a:rPr lang="zh-CN" altLang="en-US" sz="2000" dirty="0">
                <a:solidFill>
                  <a:srgbClr val="FF0000"/>
                </a:solidFill>
              </a:rPr>
              <a:t>例：取消对</a:t>
            </a:r>
            <a:r>
              <a:rPr lang="en-US" altLang="zh-CN" sz="2000" dirty="0">
                <a:solidFill>
                  <a:srgbClr val="FF0000"/>
                </a:solidFill>
              </a:rPr>
              <a:t>SC</a:t>
            </a:r>
            <a:r>
              <a:rPr lang="zh-CN" altLang="en-US" sz="2000" dirty="0">
                <a:solidFill>
                  <a:srgbClr val="FF0000"/>
                </a:solidFill>
              </a:rPr>
              <a:t>表的</a:t>
            </a:r>
            <a:r>
              <a:rPr lang="en-US" altLang="zh-CN" sz="2000" dirty="0">
                <a:solidFill>
                  <a:srgbClr val="FF0000"/>
                </a:solidFill>
              </a:rPr>
              <a:t>ALTER</a:t>
            </a:r>
            <a:r>
              <a:rPr lang="zh-CN" altLang="en-US" sz="2000" dirty="0">
                <a:solidFill>
                  <a:srgbClr val="FF0000"/>
                </a:solidFill>
              </a:rPr>
              <a:t>和</a:t>
            </a:r>
            <a:r>
              <a:rPr lang="en-US" altLang="zh-CN" sz="2000" dirty="0">
                <a:solidFill>
                  <a:srgbClr val="FF0000"/>
                </a:solidFill>
              </a:rPr>
              <a:t>UPDATE</a:t>
            </a:r>
            <a:r>
              <a:rPr lang="zh-CN" altLang="en-US" sz="2000" dirty="0">
                <a:solidFill>
                  <a:srgbClr val="FF0000"/>
                </a:solidFill>
              </a:rPr>
              <a:t>操作审计</a:t>
            </a:r>
          </a:p>
          <a:p>
            <a:pPr marL="87313" indent="1081088" algn="just">
              <a:lnSpc>
                <a:spcPct val="150000"/>
              </a:lnSpc>
            </a:pPr>
            <a:r>
              <a:rPr lang="en-US" altLang="zh-CN" sz="2000" dirty="0">
                <a:solidFill>
                  <a:schemeClr val="tx1"/>
                </a:solidFill>
              </a:rPr>
              <a:t>NOAUDIT  ALTER, UPDATE  ON  SC;</a:t>
            </a:r>
          </a:p>
          <a:p>
            <a:pPr marL="985838" indent="-444500" algn="just">
              <a:lnSpc>
                <a:spcPct val="150000"/>
              </a:lnSpc>
              <a:spcBef>
                <a:spcPts val="600"/>
              </a:spcBef>
              <a:buFont typeface="Wingdings" panose="05000000000000000000" pitchFamily="2" charset="2"/>
              <a:buChar char="l"/>
            </a:pPr>
            <a:r>
              <a:rPr lang="zh-CN" altLang="en-US" sz="2000" dirty="0">
                <a:solidFill>
                  <a:schemeClr val="tx1"/>
                </a:solidFill>
              </a:rPr>
              <a:t>审计设置以及审计日志一般都存储在数据字典中</a:t>
            </a:r>
          </a:p>
          <a:p>
            <a:pPr marL="985838" indent="-444500" algn="just">
              <a:lnSpc>
                <a:spcPct val="150000"/>
              </a:lnSpc>
              <a:spcBef>
                <a:spcPts val="600"/>
              </a:spcBef>
              <a:buFont typeface="Wingdings" panose="05000000000000000000" pitchFamily="2" charset="2"/>
              <a:buChar char="l"/>
            </a:pPr>
            <a:r>
              <a:rPr lang="zh-CN" altLang="en-US" sz="2000" dirty="0">
                <a:solidFill>
                  <a:schemeClr val="tx1"/>
                </a:solidFill>
              </a:rPr>
              <a:t>必须把审计开关打开，才可以在系统表</a:t>
            </a:r>
            <a:r>
              <a:rPr lang="en-US" altLang="zh-CN" sz="2000" dirty="0">
                <a:solidFill>
                  <a:schemeClr val="tx1"/>
                </a:solidFill>
              </a:rPr>
              <a:t>SYS_AUDITTRAIL</a:t>
            </a:r>
            <a:r>
              <a:rPr lang="zh-CN" altLang="en-US" sz="2000" dirty="0">
                <a:solidFill>
                  <a:schemeClr val="tx1"/>
                </a:solidFill>
              </a:rPr>
              <a:t>中查看到审计信息</a:t>
            </a:r>
          </a:p>
        </p:txBody>
      </p:sp>
    </p:spTree>
    <p:extLst>
      <p:ext uri="{BB962C8B-B14F-4D97-AF65-F5344CB8AC3E}">
        <p14:creationId xmlns:p14="http://schemas.microsoft.com/office/powerpoint/2010/main" val="186980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750"/>
                            </p:stCondLst>
                            <p:childTnLst>
                              <p:par>
                                <p:cTn id="9" presetID="10" presetClass="entr" presetSubtype="0" fill="hold" nodeType="afterEffect">
                                  <p:stCondLst>
                                    <p:cond delay="25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E025A-2A55-E0E7-C676-09641CC0148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2EC82179-0F1E-9F21-F8B1-6A682824E21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1ED942F-F2C5-6919-A053-2E14ADC98971}"/>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审计</a:t>
            </a:r>
          </a:p>
        </p:txBody>
      </p:sp>
      <p:sp>
        <p:nvSpPr>
          <p:cNvPr id="5" name="矩形 4">
            <a:extLst>
              <a:ext uri="{FF2B5EF4-FFF2-40B4-BE49-F238E27FC236}">
                <a16:creationId xmlns:a16="http://schemas.microsoft.com/office/drawing/2014/main" id="{FE967600-E374-582C-B69F-11473D2DD198}"/>
              </a:ext>
            </a:extLst>
          </p:cNvPr>
          <p:cNvSpPr/>
          <p:nvPr/>
        </p:nvSpPr>
        <p:spPr>
          <a:xfrm>
            <a:off x="516559" y="1829594"/>
            <a:ext cx="11286490" cy="22098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7313" algn="just">
              <a:lnSpc>
                <a:spcPct val="150000"/>
              </a:lnSpc>
            </a:pPr>
            <a:r>
              <a:rPr lang="zh-CN" altLang="en-US" sz="2000" dirty="0">
                <a:solidFill>
                  <a:srgbClr val="FF0000"/>
                </a:solidFill>
              </a:rPr>
              <a:t>例：取消对</a:t>
            </a:r>
            <a:r>
              <a:rPr lang="en-US" altLang="zh-CN" sz="2000" dirty="0">
                <a:solidFill>
                  <a:srgbClr val="FF0000"/>
                </a:solidFill>
              </a:rPr>
              <a:t>SC</a:t>
            </a:r>
            <a:r>
              <a:rPr lang="zh-CN" altLang="en-US" sz="2000" dirty="0">
                <a:solidFill>
                  <a:srgbClr val="FF0000"/>
                </a:solidFill>
              </a:rPr>
              <a:t>表的</a:t>
            </a:r>
            <a:r>
              <a:rPr lang="en-US" altLang="zh-CN" sz="2000" dirty="0">
                <a:solidFill>
                  <a:srgbClr val="FF0000"/>
                </a:solidFill>
              </a:rPr>
              <a:t>ALTER</a:t>
            </a:r>
            <a:r>
              <a:rPr lang="zh-CN" altLang="en-US" sz="2000" dirty="0">
                <a:solidFill>
                  <a:srgbClr val="FF0000"/>
                </a:solidFill>
              </a:rPr>
              <a:t>和</a:t>
            </a:r>
            <a:r>
              <a:rPr lang="en-US" altLang="zh-CN" sz="2000" dirty="0">
                <a:solidFill>
                  <a:srgbClr val="FF0000"/>
                </a:solidFill>
              </a:rPr>
              <a:t>UPDATE</a:t>
            </a:r>
            <a:r>
              <a:rPr lang="zh-CN" altLang="en-US" sz="2000" dirty="0">
                <a:solidFill>
                  <a:srgbClr val="FF0000"/>
                </a:solidFill>
              </a:rPr>
              <a:t>操作审计</a:t>
            </a:r>
          </a:p>
          <a:p>
            <a:pPr marL="87313" indent="1081088" algn="just">
              <a:lnSpc>
                <a:spcPct val="150000"/>
              </a:lnSpc>
            </a:pPr>
            <a:r>
              <a:rPr lang="en-US" altLang="zh-CN" sz="2000" dirty="0">
                <a:solidFill>
                  <a:schemeClr val="tx1"/>
                </a:solidFill>
              </a:rPr>
              <a:t>NOAUDIT  ALTER, UPDATE  ON  SC;</a:t>
            </a:r>
          </a:p>
          <a:p>
            <a:pPr marL="985838" indent="-444500" algn="just">
              <a:lnSpc>
                <a:spcPct val="150000"/>
              </a:lnSpc>
              <a:spcBef>
                <a:spcPts val="600"/>
              </a:spcBef>
              <a:buFont typeface="Wingdings" panose="05000000000000000000" pitchFamily="2" charset="2"/>
              <a:buChar char="l"/>
            </a:pPr>
            <a:r>
              <a:rPr lang="zh-CN" altLang="en-US" sz="2000" dirty="0">
                <a:solidFill>
                  <a:schemeClr val="tx1"/>
                </a:solidFill>
              </a:rPr>
              <a:t>审计设置以及审计日志一般都存储在数据字典中</a:t>
            </a:r>
          </a:p>
          <a:p>
            <a:pPr marL="985838" indent="-444500" algn="just">
              <a:lnSpc>
                <a:spcPct val="150000"/>
              </a:lnSpc>
              <a:spcBef>
                <a:spcPts val="600"/>
              </a:spcBef>
              <a:buFont typeface="Wingdings" panose="05000000000000000000" pitchFamily="2" charset="2"/>
              <a:buChar char="l"/>
            </a:pPr>
            <a:r>
              <a:rPr lang="zh-CN" altLang="en-US" sz="2000" dirty="0">
                <a:solidFill>
                  <a:schemeClr val="tx1"/>
                </a:solidFill>
              </a:rPr>
              <a:t>必须把审计开关打开，才可以在系统表</a:t>
            </a:r>
            <a:r>
              <a:rPr lang="en-US" altLang="zh-CN" sz="2000" dirty="0">
                <a:solidFill>
                  <a:schemeClr val="tx1"/>
                </a:solidFill>
              </a:rPr>
              <a:t>SYS_AUDITTRAIL</a:t>
            </a:r>
            <a:r>
              <a:rPr lang="zh-CN" altLang="en-US" sz="2000" dirty="0">
                <a:solidFill>
                  <a:schemeClr val="tx1"/>
                </a:solidFill>
              </a:rPr>
              <a:t>中查看到审计信息</a:t>
            </a:r>
          </a:p>
        </p:txBody>
      </p:sp>
    </p:spTree>
    <p:extLst>
      <p:ext uri="{BB962C8B-B14F-4D97-AF65-F5344CB8AC3E}">
        <p14:creationId xmlns:p14="http://schemas.microsoft.com/office/powerpoint/2010/main" val="72263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750"/>
                            </p:stCondLst>
                            <p:childTnLst>
                              <p:par>
                                <p:cTn id="9" presetID="10" presetClass="entr" presetSubtype="0" fill="hold" nodeType="afterEffect">
                                  <p:stCondLst>
                                    <p:cond delay="25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94EBA-48B3-0161-E429-3C69A8453A8E}"/>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A0439EC-6DA3-8657-D9D3-6993C91C6416}"/>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5" name="内容占位符 4">
            <a:extLst>
              <a:ext uri="{FF2B5EF4-FFF2-40B4-BE49-F238E27FC236}">
                <a16:creationId xmlns:a16="http://schemas.microsoft.com/office/drawing/2014/main" id="{D58C2BAE-5102-1AE7-ED88-CB5ABB47993F}"/>
              </a:ext>
            </a:extLst>
          </p:cNvPr>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文件加密：</a:t>
            </a:r>
            <a:r>
              <a:rPr lang="en-US" altLang="zh-CN" dirty="0"/>
              <a:t> </a:t>
            </a:r>
            <a:endParaRPr lang="zh-CN" altLang="en-US" dirty="0"/>
          </a:p>
        </p:txBody>
      </p:sp>
      <p:sp>
        <p:nvSpPr>
          <p:cNvPr id="33" name="内容占位符 4">
            <a:extLst>
              <a:ext uri="{FF2B5EF4-FFF2-40B4-BE49-F238E27FC236}">
                <a16:creationId xmlns:a16="http://schemas.microsoft.com/office/drawing/2014/main" id="{A154079D-A651-1658-EC11-DCBCC2C46E1C}"/>
              </a:ext>
            </a:extLst>
          </p:cNvPr>
          <p:cNvSpPr>
            <a:spLocks noGrp="1"/>
          </p:cNvSpPr>
          <p:nvPr/>
        </p:nvSpPr>
        <p:spPr>
          <a:xfrm>
            <a:off x="1081405" y="1753235"/>
            <a:ext cx="10317480" cy="1203325"/>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50000"/>
              </a:lnSpc>
              <a:buNone/>
            </a:pPr>
            <a:r>
              <a:rPr lang="zh-CN" altLang="en-US" dirty="0"/>
              <a:t>前面介绍的几种数据库安全措施，都是防止从数据库系统窃取保密数据，不能防止用户通过不正常渠道非法访问数据。</a:t>
            </a:r>
          </a:p>
        </p:txBody>
      </p:sp>
      <p:sp>
        <p:nvSpPr>
          <p:cNvPr id="15" name="内容占位符 4">
            <a:extLst>
              <a:ext uri="{FF2B5EF4-FFF2-40B4-BE49-F238E27FC236}">
                <a16:creationId xmlns:a16="http://schemas.microsoft.com/office/drawing/2014/main" id="{BECDA264-9C23-C3DE-2CE3-FF74711D5C68}"/>
              </a:ext>
            </a:extLst>
          </p:cNvPr>
          <p:cNvSpPr>
            <a:spLocks noGrp="1"/>
          </p:cNvSpPr>
          <p:nvPr/>
        </p:nvSpPr>
        <p:spPr>
          <a:xfrm>
            <a:off x="4270375" y="3048635"/>
            <a:ext cx="1296035" cy="765175"/>
          </a:xfrm>
          <a:prstGeom prst="rect">
            <a:avLst/>
          </a:prstGeom>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50000"/>
              </a:lnSpc>
              <a:buNone/>
            </a:pPr>
            <a:r>
              <a:rPr lang="zh-CN" dirty="0"/>
              <a:t>加密技术</a:t>
            </a:r>
          </a:p>
        </p:txBody>
      </p:sp>
      <p:sp>
        <p:nvSpPr>
          <p:cNvPr id="16" name="内容占位符 4">
            <a:extLst>
              <a:ext uri="{FF2B5EF4-FFF2-40B4-BE49-F238E27FC236}">
                <a16:creationId xmlns:a16="http://schemas.microsoft.com/office/drawing/2014/main" id="{D77FCEA4-110D-9FDF-9712-231C710E5EAD}"/>
              </a:ext>
            </a:extLst>
          </p:cNvPr>
          <p:cNvSpPr>
            <a:spLocks noGrp="1"/>
          </p:cNvSpPr>
          <p:nvPr/>
        </p:nvSpPr>
        <p:spPr>
          <a:xfrm>
            <a:off x="1081405" y="3886835"/>
            <a:ext cx="1031748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为了防止数据窃取问题，可对存储在文件系统上的数据文件进行加密（Data Encryption）</a:t>
            </a:r>
          </a:p>
        </p:txBody>
      </p:sp>
      <p:sp>
        <p:nvSpPr>
          <p:cNvPr id="6" name="下箭头 5">
            <a:extLst>
              <a:ext uri="{FF2B5EF4-FFF2-40B4-BE49-F238E27FC236}">
                <a16:creationId xmlns:a16="http://schemas.microsoft.com/office/drawing/2014/main" id="{8EF81B77-C44F-10B4-0187-4774259811EB}"/>
              </a:ext>
            </a:extLst>
          </p:cNvPr>
          <p:cNvSpPr/>
          <p:nvPr/>
        </p:nvSpPr>
        <p:spPr>
          <a:xfrm>
            <a:off x="5794375" y="3091180"/>
            <a:ext cx="583565" cy="66167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extLst>
      <p:ext uri="{BB962C8B-B14F-4D97-AF65-F5344CB8AC3E}">
        <p14:creationId xmlns:p14="http://schemas.microsoft.com/office/powerpoint/2010/main" val="141727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500"/>
                                        <p:tgtEl>
                                          <p:spTgt spid="15"/>
                                        </p:tgtEl>
                                      </p:cBhvr>
                                    </p:animEffect>
                                  </p:childTnLst>
                                </p:cTn>
                              </p:par>
                            </p:childTnLst>
                          </p:cTn>
                        </p:par>
                        <p:par>
                          <p:cTn id="21" fill="hold">
                            <p:stCondLst>
                              <p:cond delay="500"/>
                            </p:stCondLst>
                            <p:childTnLst>
                              <p:par>
                                <p:cTn id="22" presetID="10" presetClass="entr" presetSubtype="0" fill="hold" grpId="0" nodeType="afterEffect">
                                  <p:stCondLst>
                                    <p:cond delay="25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3" grpId="0" animBg="1"/>
      <p:bldP spid="15" grpId="0"/>
      <p:bldP spid="16" grpId="0" animBg="1"/>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FCAAA-F6DD-FC1F-2E09-7F96611D6C66}"/>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2E5BDB6-78DF-3917-FB9E-CB3E040D19FE}"/>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70E80AC4-BD92-F0ED-80EE-EA3ED9C1FC1A}"/>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数据加密</a:t>
            </a:r>
          </a:p>
        </p:txBody>
      </p:sp>
      <p:sp>
        <p:nvSpPr>
          <p:cNvPr id="5" name="矩形 4">
            <a:extLst>
              <a:ext uri="{FF2B5EF4-FFF2-40B4-BE49-F238E27FC236}">
                <a16:creationId xmlns:a16="http://schemas.microsoft.com/office/drawing/2014/main" id="{40E23690-57C7-1B91-3075-E1DC8638D6CC}"/>
              </a:ext>
            </a:extLst>
          </p:cNvPr>
          <p:cNvSpPr/>
          <p:nvPr/>
        </p:nvSpPr>
        <p:spPr>
          <a:xfrm>
            <a:off x="516559" y="1829594"/>
            <a:ext cx="11286490" cy="3886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数据加密</a:t>
            </a:r>
          </a:p>
          <a:p>
            <a:pPr marL="803275" indent="-358775" algn="just">
              <a:lnSpc>
                <a:spcPct val="150000"/>
              </a:lnSpc>
              <a:buFont typeface="Wingdings" panose="05000000000000000000" pitchFamily="2" charset="2"/>
              <a:buChar char="Ø"/>
            </a:pPr>
            <a:r>
              <a:rPr lang="zh-CN" altLang="en-US" sz="2000" dirty="0">
                <a:solidFill>
                  <a:schemeClr val="tx1"/>
                </a:solidFill>
              </a:rPr>
              <a:t>防止数据库中数据在存储和传输中失密的有效手段</a:t>
            </a:r>
          </a:p>
          <a:p>
            <a:pPr marL="430213" indent="-342900" algn="just">
              <a:lnSpc>
                <a:spcPct val="150000"/>
              </a:lnSpc>
              <a:buFont typeface="Wingdings" panose="05000000000000000000" pitchFamily="2" charset="2"/>
              <a:buChar char="l"/>
            </a:pPr>
            <a:r>
              <a:rPr lang="zh-CN" altLang="en-US" sz="2000" dirty="0">
                <a:solidFill>
                  <a:schemeClr val="tx1"/>
                </a:solidFill>
              </a:rPr>
              <a:t>加密的基本思想</a:t>
            </a:r>
          </a:p>
          <a:p>
            <a:pPr marL="803275" indent="-358775" algn="just">
              <a:lnSpc>
                <a:spcPct val="150000"/>
              </a:lnSpc>
              <a:buFont typeface="Wingdings" panose="05000000000000000000" pitchFamily="2" charset="2"/>
              <a:buChar char="Ø"/>
            </a:pPr>
            <a:r>
              <a:rPr lang="zh-CN" altLang="en-US" sz="2000" dirty="0">
                <a:solidFill>
                  <a:schemeClr val="tx1"/>
                </a:solidFill>
              </a:rPr>
              <a:t>根据一定的算法将原始数据</a:t>
            </a:r>
            <a:r>
              <a:rPr lang="en-US" altLang="zh-CN" sz="2000" dirty="0">
                <a:solidFill>
                  <a:schemeClr val="tx1"/>
                </a:solidFill>
              </a:rPr>
              <a:t>——</a:t>
            </a:r>
            <a:r>
              <a:rPr lang="zh-CN" altLang="en-US" sz="2000" dirty="0">
                <a:solidFill>
                  <a:schemeClr val="tx1"/>
                </a:solidFill>
              </a:rPr>
              <a:t>明文（</a:t>
            </a:r>
            <a:r>
              <a:rPr lang="en-US" altLang="zh-CN" sz="2000" dirty="0">
                <a:solidFill>
                  <a:schemeClr val="tx1"/>
                </a:solidFill>
              </a:rPr>
              <a:t>plain text</a:t>
            </a:r>
            <a:r>
              <a:rPr lang="zh-CN" altLang="en-US" sz="2000" dirty="0">
                <a:solidFill>
                  <a:schemeClr val="tx1"/>
                </a:solidFill>
              </a:rPr>
              <a:t>）经过一系列复杂计算，变换为不可直接识别的格式</a:t>
            </a:r>
            <a:r>
              <a:rPr lang="en-US" altLang="zh-CN" sz="2000" dirty="0">
                <a:solidFill>
                  <a:schemeClr val="tx1"/>
                </a:solidFill>
              </a:rPr>
              <a:t>­——</a:t>
            </a:r>
            <a:r>
              <a:rPr lang="zh-CN" altLang="en-US" sz="2000" dirty="0">
                <a:solidFill>
                  <a:schemeClr val="tx1"/>
                </a:solidFill>
              </a:rPr>
              <a:t>密文（</a:t>
            </a:r>
            <a:r>
              <a:rPr lang="en-US" altLang="zh-CN" sz="2000" dirty="0">
                <a:solidFill>
                  <a:schemeClr val="tx1"/>
                </a:solidFill>
              </a:rPr>
              <a:t>cipher text</a:t>
            </a:r>
            <a:r>
              <a:rPr lang="zh-CN" altLang="en-US" sz="2000" dirty="0">
                <a:solidFill>
                  <a:schemeClr val="tx1"/>
                </a:solidFill>
              </a:rPr>
              <a:t>）</a:t>
            </a:r>
          </a:p>
          <a:p>
            <a:pPr marL="430213" indent="-342900" algn="just">
              <a:lnSpc>
                <a:spcPct val="150000"/>
              </a:lnSpc>
              <a:buFont typeface="Wingdings" panose="05000000000000000000" pitchFamily="2" charset="2"/>
              <a:buChar char="l"/>
            </a:pPr>
            <a:r>
              <a:rPr lang="zh-CN" altLang="en-US" sz="2000" dirty="0">
                <a:solidFill>
                  <a:schemeClr val="tx1"/>
                </a:solidFill>
              </a:rPr>
              <a:t>加密方法</a:t>
            </a:r>
          </a:p>
          <a:p>
            <a:pPr marL="803275" indent="-358775" algn="just">
              <a:lnSpc>
                <a:spcPct val="150000"/>
              </a:lnSpc>
              <a:buFont typeface="Wingdings" panose="05000000000000000000" pitchFamily="2" charset="2"/>
              <a:buChar char="Ø"/>
            </a:pPr>
            <a:r>
              <a:rPr lang="zh-CN" altLang="en-US" sz="2000" dirty="0">
                <a:solidFill>
                  <a:schemeClr val="tx1"/>
                </a:solidFill>
              </a:rPr>
              <a:t>存储加密</a:t>
            </a:r>
          </a:p>
          <a:p>
            <a:pPr marL="803275" indent="-358775" algn="just">
              <a:lnSpc>
                <a:spcPct val="150000"/>
              </a:lnSpc>
              <a:buFont typeface="Wingdings" panose="05000000000000000000" pitchFamily="2" charset="2"/>
              <a:buChar char="Ø"/>
            </a:pPr>
            <a:r>
              <a:rPr lang="zh-CN" altLang="en-US" sz="2000" dirty="0">
                <a:solidFill>
                  <a:schemeClr val="tx1"/>
                </a:solidFill>
              </a:rPr>
              <a:t>传输加密</a:t>
            </a:r>
          </a:p>
        </p:txBody>
      </p:sp>
    </p:spTree>
    <p:extLst>
      <p:ext uri="{BB962C8B-B14F-4D97-AF65-F5344CB8AC3E}">
        <p14:creationId xmlns:p14="http://schemas.microsoft.com/office/powerpoint/2010/main" val="39508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25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childTnLst>
                          </p:cTn>
                        </p:par>
                        <p:par>
                          <p:cTn id="27" fill="hold">
                            <p:stCondLst>
                              <p:cond delay="500"/>
                            </p:stCondLst>
                            <p:childTnLst>
                              <p:par>
                                <p:cTn id="28" presetID="10" presetClass="entr" presetSubtype="0" fill="hold" nodeType="afterEffect">
                                  <p:stCondLst>
                                    <p:cond delay="25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fade">
                                      <p:cBhvr>
                                        <p:cTn id="30" dur="500"/>
                                        <p:tgtEl>
                                          <p:spTgt spid="5">
                                            <p:txEl>
                                              <p:pRg st="5" end="5"/>
                                            </p:txEl>
                                          </p:spTgt>
                                        </p:tgtEl>
                                      </p:cBhvr>
                                    </p:animEffect>
                                  </p:childTnLst>
                                </p:cTn>
                              </p:par>
                            </p:childTnLst>
                          </p:cTn>
                        </p:par>
                        <p:par>
                          <p:cTn id="31" fill="hold">
                            <p:stCondLst>
                              <p:cond delay="1250"/>
                            </p:stCondLst>
                            <p:childTnLst>
                              <p:par>
                                <p:cTn id="32" presetID="10" presetClass="entr" presetSubtype="0" fill="hold" nodeType="afterEffect">
                                  <p:stCondLst>
                                    <p:cond delay="25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B03F6-FBDC-3734-931D-54C4180550D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6BD97BF-2725-5F9D-7671-C1E7EE3DD694}"/>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C210C8D9-2175-AE52-BC1C-6E55201A3549}"/>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数据加密</a:t>
            </a:r>
          </a:p>
        </p:txBody>
      </p:sp>
      <p:sp>
        <p:nvSpPr>
          <p:cNvPr id="5" name="矩形 4">
            <a:extLst>
              <a:ext uri="{FF2B5EF4-FFF2-40B4-BE49-F238E27FC236}">
                <a16:creationId xmlns:a16="http://schemas.microsoft.com/office/drawing/2014/main" id="{F40875F9-C2EF-711E-7E8A-132780278CAD}"/>
              </a:ext>
            </a:extLst>
          </p:cNvPr>
          <p:cNvSpPr/>
          <p:nvPr/>
        </p:nvSpPr>
        <p:spPr>
          <a:xfrm>
            <a:off x="516559" y="1829594"/>
            <a:ext cx="11286490" cy="3429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存储加密</a:t>
            </a:r>
          </a:p>
          <a:p>
            <a:pPr marL="803275" indent="-358775" algn="just">
              <a:lnSpc>
                <a:spcPct val="150000"/>
              </a:lnSpc>
              <a:buFont typeface="Wingdings" panose="05000000000000000000" pitchFamily="2" charset="2"/>
              <a:buChar char="Ø"/>
            </a:pPr>
            <a:r>
              <a:rPr lang="zh-CN" altLang="en-US" sz="2000" dirty="0">
                <a:solidFill>
                  <a:schemeClr val="tx1"/>
                </a:solidFill>
              </a:rPr>
              <a:t>透明存储加密</a:t>
            </a:r>
          </a:p>
          <a:p>
            <a:pPr marL="1168400" indent="-365125" algn="just">
              <a:lnSpc>
                <a:spcPct val="150000"/>
              </a:lnSpc>
              <a:buFont typeface="Arial" panose="020B0604020202020204" pitchFamily="34" charset="0"/>
              <a:buChar char="•"/>
            </a:pPr>
            <a:r>
              <a:rPr lang="zh-CN" altLang="en-US" sz="2000" dirty="0">
                <a:solidFill>
                  <a:schemeClr val="tx1"/>
                </a:solidFill>
              </a:rPr>
              <a:t>内核级加密保护方式，对用户完全透明</a:t>
            </a:r>
          </a:p>
          <a:p>
            <a:pPr marL="1168400" indent="-365125" algn="just">
              <a:lnSpc>
                <a:spcPct val="150000"/>
              </a:lnSpc>
              <a:buFont typeface="Arial" panose="020B0604020202020204" pitchFamily="34" charset="0"/>
              <a:buChar char="•"/>
            </a:pPr>
            <a:r>
              <a:rPr lang="zh-CN" altLang="en-US" sz="2000" dirty="0">
                <a:solidFill>
                  <a:schemeClr val="tx1"/>
                </a:solidFill>
              </a:rPr>
              <a:t>数据在写到磁盘时对数据进行加密，授权用户读取数据时再对其进行解密</a:t>
            </a:r>
          </a:p>
          <a:p>
            <a:pPr marL="1168400" indent="-365125" algn="just">
              <a:lnSpc>
                <a:spcPct val="150000"/>
              </a:lnSpc>
              <a:buFont typeface="Arial" panose="020B0604020202020204" pitchFamily="34" charset="0"/>
              <a:buChar char="•"/>
            </a:pPr>
            <a:r>
              <a:rPr lang="zh-CN" altLang="en-US" sz="2000" dirty="0">
                <a:solidFill>
                  <a:schemeClr val="tx1"/>
                </a:solidFill>
              </a:rPr>
              <a:t>数据库的应用程序不需要做任何修改，只需在创建表语句中说明需加密的字段即可</a:t>
            </a:r>
          </a:p>
          <a:p>
            <a:pPr marL="803275" indent="-358775" algn="just">
              <a:lnSpc>
                <a:spcPct val="150000"/>
              </a:lnSpc>
              <a:buFont typeface="Wingdings" panose="05000000000000000000" pitchFamily="2" charset="2"/>
              <a:buChar char="Ø"/>
            </a:pPr>
            <a:r>
              <a:rPr lang="zh-CN" altLang="en-US" sz="2000" dirty="0">
                <a:solidFill>
                  <a:schemeClr val="tx1"/>
                </a:solidFill>
              </a:rPr>
              <a:t>非透明存储加密</a:t>
            </a:r>
          </a:p>
          <a:p>
            <a:pPr marL="1168400" indent="-365125" algn="just">
              <a:lnSpc>
                <a:spcPct val="150000"/>
              </a:lnSpc>
              <a:buFont typeface="Arial" panose="020B0604020202020204" pitchFamily="34" charset="0"/>
              <a:buChar char="•"/>
            </a:pPr>
            <a:r>
              <a:rPr lang="zh-CN" altLang="en-US" sz="2000" dirty="0">
                <a:solidFill>
                  <a:schemeClr val="tx1"/>
                </a:solidFill>
              </a:rPr>
              <a:t>通过多个加密函数实现</a:t>
            </a:r>
          </a:p>
        </p:txBody>
      </p:sp>
      <p:sp>
        <p:nvSpPr>
          <p:cNvPr id="2" name="思想气泡: 云 1">
            <a:extLst>
              <a:ext uri="{FF2B5EF4-FFF2-40B4-BE49-F238E27FC236}">
                <a16:creationId xmlns:a16="http://schemas.microsoft.com/office/drawing/2014/main" id="{D688C437-3884-1845-F777-3D52875DD8D3}"/>
              </a:ext>
            </a:extLst>
          </p:cNvPr>
          <p:cNvSpPr/>
          <p:nvPr/>
        </p:nvSpPr>
        <p:spPr>
          <a:xfrm>
            <a:off x="3441699" y="1829594"/>
            <a:ext cx="3952876" cy="990600"/>
          </a:xfrm>
          <a:prstGeom prst="cloudCallout">
            <a:avLst>
              <a:gd name="adj1" fmla="val -62383"/>
              <a:gd name="adj2" fmla="val 305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solidFill>
                  <a:srgbClr val="FF0000"/>
                </a:solidFill>
              </a:rPr>
              <a:t>内核级加密方法：性能较好，安全性较高</a:t>
            </a:r>
            <a:endParaRPr lang="zh-CN" altLang="en-US" sz="2000" dirty="0"/>
          </a:p>
        </p:txBody>
      </p:sp>
    </p:spTree>
    <p:extLst>
      <p:ext uri="{BB962C8B-B14F-4D97-AF65-F5344CB8AC3E}">
        <p14:creationId xmlns:p14="http://schemas.microsoft.com/office/powerpoint/2010/main" val="407035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5" end="5"/>
                                            </p:txEl>
                                          </p:spTgt>
                                        </p:tgtEl>
                                        <p:attrNameLst>
                                          <p:attrName>style.visibility</p:attrName>
                                        </p:attrNameLst>
                                      </p:cBhvr>
                                      <p:to>
                                        <p:strVal val="visible"/>
                                      </p:to>
                                    </p:set>
                                    <p:animEffect transition="in" filter="fade">
                                      <p:cBhvr>
                                        <p:cTn id="16" dur="500"/>
                                        <p:tgtEl>
                                          <p:spTgt spid="5">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fade">
                                      <p:cBhvr>
                                        <p:cTn id="31" dur="500"/>
                                        <p:tgtEl>
                                          <p:spTgt spid="5">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up)">
                                      <p:cBhvr>
                                        <p:cTn id="36" dur="10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animEffect transition="in" filter="fade">
                                      <p:cBhvr>
                                        <p:cTn id="41"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B5B28-9932-DACD-3ED2-BAEB71C9E46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E0BA1697-F487-2564-4F14-6A33E176BAC0}"/>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3B31BBB3-1B2B-EFB0-0AD9-19416F0F72AF}"/>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数据加密</a:t>
            </a:r>
          </a:p>
        </p:txBody>
      </p:sp>
      <p:sp>
        <p:nvSpPr>
          <p:cNvPr id="5" name="矩形 4">
            <a:extLst>
              <a:ext uri="{FF2B5EF4-FFF2-40B4-BE49-F238E27FC236}">
                <a16:creationId xmlns:a16="http://schemas.microsoft.com/office/drawing/2014/main" id="{571BBA39-F988-E159-2170-A8198010D9DB}"/>
              </a:ext>
            </a:extLst>
          </p:cNvPr>
          <p:cNvSpPr/>
          <p:nvPr/>
        </p:nvSpPr>
        <p:spPr>
          <a:xfrm>
            <a:off x="516559" y="1829594"/>
            <a:ext cx="11286490" cy="467757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传输加密</a:t>
            </a:r>
          </a:p>
          <a:p>
            <a:pPr marL="803275" indent="-358775" algn="just">
              <a:lnSpc>
                <a:spcPct val="150000"/>
              </a:lnSpc>
              <a:buFont typeface="Wingdings" panose="05000000000000000000" pitchFamily="2" charset="2"/>
              <a:buChar char="Ø"/>
            </a:pPr>
            <a:r>
              <a:rPr lang="zh-CN" altLang="en-US" sz="2000" dirty="0">
                <a:solidFill>
                  <a:schemeClr val="tx1"/>
                </a:solidFill>
              </a:rPr>
              <a:t>链路加密</a:t>
            </a:r>
          </a:p>
          <a:p>
            <a:pPr marL="1168400" indent="-365125" algn="just">
              <a:lnSpc>
                <a:spcPct val="150000"/>
              </a:lnSpc>
              <a:buFont typeface="Arial" panose="020B0604020202020204" pitchFamily="34" charset="0"/>
              <a:buChar char="•"/>
            </a:pPr>
            <a:r>
              <a:rPr lang="zh-CN" altLang="en-US" sz="2000" dirty="0">
                <a:solidFill>
                  <a:schemeClr val="tx1"/>
                </a:solidFill>
              </a:rPr>
              <a:t>在链路层进行加密</a:t>
            </a:r>
          </a:p>
          <a:p>
            <a:pPr marL="1168400" indent="-365125" algn="just">
              <a:lnSpc>
                <a:spcPct val="150000"/>
              </a:lnSpc>
              <a:buFont typeface="Arial" panose="020B0604020202020204" pitchFamily="34" charset="0"/>
              <a:buChar char="•"/>
            </a:pPr>
            <a:r>
              <a:rPr lang="zh-CN" altLang="en-US" sz="2000" dirty="0">
                <a:solidFill>
                  <a:schemeClr val="tx1"/>
                </a:solidFill>
              </a:rPr>
              <a:t>传输信息由报头和报文两部分组成</a:t>
            </a:r>
          </a:p>
          <a:p>
            <a:pPr marL="1168400" indent="-365125" algn="just">
              <a:lnSpc>
                <a:spcPct val="150000"/>
              </a:lnSpc>
              <a:buFont typeface="Arial" panose="020B0604020202020204" pitchFamily="34" charset="0"/>
              <a:buChar char="•"/>
            </a:pPr>
            <a:r>
              <a:rPr lang="zh-CN" altLang="en-US" sz="2000" dirty="0">
                <a:solidFill>
                  <a:schemeClr val="tx1"/>
                </a:solidFill>
              </a:rPr>
              <a:t>报文和报头均加密</a:t>
            </a:r>
          </a:p>
          <a:p>
            <a:pPr marL="803275" indent="-358775" algn="just">
              <a:lnSpc>
                <a:spcPct val="150000"/>
              </a:lnSpc>
              <a:buFont typeface="Wingdings" panose="05000000000000000000" pitchFamily="2" charset="2"/>
              <a:buChar char="Ø"/>
            </a:pPr>
            <a:r>
              <a:rPr lang="zh-CN" altLang="en-US" sz="2000" dirty="0">
                <a:solidFill>
                  <a:schemeClr val="tx1"/>
                </a:solidFill>
              </a:rPr>
              <a:t>端到端加密</a:t>
            </a:r>
          </a:p>
          <a:p>
            <a:pPr marL="1168400" indent="-365125" algn="just">
              <a:lnSpc>
                <a:spcPct val="150000"/>
              </a:lnSpc>
              <a:buFont typeface="Arial" panose="020B0604020202020204" pitchFamily="34" charset="0"/>
              <a:buChar char="•"/>
            </a:pPr>
            <a:r>
              <a:rPr lang="zh-CN" altLang="en-US" sz="2000" dirty="0">
                <a:solidFill>
                  <a:schemeClr val="tx1"/>
                </a:solidFill>
              </a:rPr>
              <a:t>在发送端加密，接收端解密</a:t>
            </a:r>
          </a:p>
          <a:p>
            <a:pPr marL="1168400" indent="-365125" algn="just">
              <a:lnSpc>
                <a:spcPct val="150000"/>
              </a:lnSpc>
              <a:buFont typeface="Arial" panose="020B0604020202020204" pitchFamily="34" charset="0"/>
              <a:buChar char="•"/>
            </a:pPr>
            <a:r>
              <a:rPr lang="zh-CN" altLang="en-US" sz="2000" dirty="0">
                <a:solidFill>
                  <a:schemeClr val="tx1"/>
                </a:solidFill>
              </a:rPr>
              <a:t>只加密报文，不加密报头</a:t>
            </a:r>
          </a:p>
          <a:p>
            <a:pPr marL="1168400" indent="-365125" algn="just">
              <a:lnSpc>
                <a:spcPct val="150000"/>
              </a:lnSpc>
              <a:buFont typeface="Arial" panose="020B0604020202020204" pitchFamily="34" charset="0"/>
              <a:buChar char="•"/>
            </a:pPr>
            <a:r>
              <a:rPr lang="zh-CN" altLang="en-US" sz="2000" dirty="0">
                <a:solidFill>
                  <a:schemeClr val="tx1"/>
                </a:solidFill>
              </a:rPr>
              <a:t>发送端和接收端需要密码设备，中间节点不需要密码设备</a:t>
            </a:r>
          </a:p>
          <a:p>
            <a:pPr marL="1168400" indent="-365125" algn="just">
              <a:lnSpc>
                <a:spcPct val="150000"/>
              </a:lnSpc>
              <a:buFont typeface="Arial" panose="020B0604020202020204" pitchFamily="34" charset="0"/>
              <a:buChar char="•"/>
            </a:pPr>
            <a:r>
              <a:rPr lang="zh-CN" altLang="en-US" sz="2000" dirty="0">
                <a:solidFill>
                  <a:schemeClr val="tx1"/>
                </a:solidFill>
              </a:rPr>
              <a:t>所需密码设备相对较少，容易被非法监听者获取敏感信息</a:t>
            </a:r>
          </a:p>
        </p:txBody>
      </p:sp>
    </p:spTree>
    <p:extLst>
      <p:ext uri="{BB962C8B-B14F-4D97-AF65-F5344CB8AC3E}">
        <p14:creationId xmlns:p14="http://schemas.microsoft.com/office/powerpoint/2010/main" val="103579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5" end="5"/>
                                            </p:txEl>
                                          </p:spTgt>
                                        </p:tgtEl>
                                        <p:attrNameLst>
                                          <p:attrName>style.visibility</p:attrName>
                                        </p:attrNameLst>
                                      </p:cBhvr>
                                      <p:to>
                                        <p:strVal val="visible"/>
                                      </p:to>
                                    </p:set>
                                    <p:animEffect transition="in" filter="fade">
                                      <p:cBhvr>
                                        <p:cTn id="16" dur="500"/>
                                        <p:tgtEl>
                                          <p:spTgt spid="5">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fade">
                                      <p:cBhvr>
                                        <p:cTn id="31" dur="500"/>
                                        <p:tgtEl>
                                          <p:spTgt spid="5">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animEffect transition="in" filter="fade">
                                      <p:cBhvr>
                                        <p:cTn id="36" dur="500"/>
                                        <p:tgtEl>
                                          <p:spTgt spid="5">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xEl>
                                              <p:pRg st="7" end="7"/>
                                            </p:txEl>
                                          </p:spTgt>
                                        </p:tgtEl>
                                        <p:attrNameLst>
                                          <p:attrName>style.visibility</p:attrName>
                                        </p:attrNameLst>
                                      </p:cBhvr>
                                      <p:to>
                                        <p:strVal val="visible"/>
                                      </p:to>
                                    </p:set>
                                    <p:animEffect transition="in" filter="fade">
                                      <p:cBhvr>
                                        <p:cTn id="41" dur="500"/>
                                        <p:tgtEl>
                                          <p:spTgt spid="5">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
                                            <p:txEl>
                                              <p:pRg st="8" end="8"/>
                                            </p:txEl>
                                          </p:spTgt>
                                        </p:tgtEl>
                                        <p:attrNameLst>
                                          <p:attrName>style.visibility</p:attrName>
                                        </p:attrNameLst>
                                      </p:cBhvr>
                                      <p:to>
                                        <p:strVal val="visible"/>
                                      </p:to>
                                    </p:set>
                                    <p:animEffect transition="in" filter="fade">
                                      <p:cBhvr>
                                        <p:cTn id="46" dur="500"/>
                                        <p:tgtEl>
                                          <p:spTgt spid="5">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animEffect transition="in" filter="fade">
                                      <p:cBhvr>
                                        <p:cTn id="5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6E76B-9DC4-2BB3-476B-8797A80ADEA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953017F4-37CE-2EE8-9C0E-BE465113DAF5}"/>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DFF053B9-3B0D-41DE-9252-70EFAD04FE4B}"/>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数据加密</a:t>
            </a:r>
          </a:p>
        </p:txBody>
      </p:sp>
      <p:sp>
        <p:nvSpPr>
          <p:cNvPr id="2" name="TextBox 15">
            <a:extLst>
              <a:ext uri="{FF2B5EF4-FFF2-40B4-BE49-F238E27FC236}">
                <a16:creationId xmlns:a16="http://schemas.microsoft.com/office/drawing/2014/main" id="{014D5FDF-4EF7-1F1D-2428-915FDFEA634B}"/>
              </a:ext>
            </a:extLst>
          </p:cNvPr>
          <p:cNvSpPr txBox="1">
            <a:spLocks noChangeArrowheads="1"/>
          </p:cNvSpPr>
          <p:nvPr/>
        </p:nvSpPr>
        <p:spPr bwMode="auto">
          <a:xfrm>
            <a:off x="2998801" y="5911049"/>
            <a:ext cx="59435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b="0" dirty="0">
                <a:latin typeface="+mn-lt"/>
                <a:ea typeface="+mn-ea"/>
              </a:rPr>
              <a:t>基于 </a:t>
            </a:r>
            <a:r>
              <a:rPr lang="en-US" altLang="zh-CN" sz="1800" b="0" dirty="0">
                <a:latin typeface="+mn-lt"/>
                <a:ea typeface="+mn-ea"/>
              </a:rPr>
              <a:t>SSL</a:t>
            </a:r>
            <a:r>
              <a:rPr lang="zh-CN" altLang="en-US" sz="1800" b="0" dirty="0">
                <a:latin typeface="+mn-lt"/>
                <a:ea typeface="+mn-ea"/>
              </a:rPr>
              <a:t> </a:t>
            </a:r>
            <a:r>
              <a:rPr lang="en-US" altLang="zh-CN" sz="1800" b="0" dirty="0" err="1">
                <a:latin typeface="+mn-lt"/>
                <a:ea typeface="+mn-ea"/>
              </a:rPr>
              <a:t>protol</a:t>
            </a:r>
            <a:r>
              <a:rPr lang="zh-CN" altLang="en-US" sz="1800" b="0" dirty="0">
                <a:latin typeface="+mn-lt"/>
                <a:ea typeface="+mn-ea"/>
              </a:rPr>
              <a:t>的数据库管理系统可信传输示意图</a:t>
            </a:r>
          </a:p>
        </p:txBody>
      </p:sp>
      <p:pic>
        <p:nvPicPr>
          <p:cNvPr id="3" name="Picture 15">
            <a:extLst>
              <a:ext uri="{FF2B5EF4-FFF2-40B4-BE49-F238E27FC236}">
                <a16:creationId xmlns:a16="http://schemas.microsoft.com/office/drawing/2014/main" id="{13C97844-EF19-3B5F-AD93-85453A4D3C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512" y="3121818"/>
            <a:ext cx="91281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a:extLst>
              <a:ext uri="{FF2B5EF4-FFF2-40B4-BE49-F238E27FC236}">
                <a16:creationId xmlns:a16="http://schemas.microsoft.com/office/drawing/2014/main" id="{64794070-BC3F-076F-8A03-002FAD0B45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3849" y="2977356"/>
            <a:ext cx="9525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左右箭头 18">
            <a:extLst>
              <a:ext uri="{FF2B5EF4-FFF2-40B4-BE49-F238E27FC236}">
                <a16:creationId xmlns:a16="http://schemas.microsoft.com/office/drawing/2014/main" id="{F57258D0-337D-B862-D2FE-A517EDEF05FF}"/>
              </a:ext>
            </a:extLst>
          </p:cNvPr>
          <p:cNvSpPr>
            <a:spLocks noChangeArrowheads="1"/>
          </p:cNvSpPr>
          <p:nvPr/>
        </p:nvSpPr>
        <p:spPr bwMode="auto">
          <a:xfrm>
            <a:off x="3744912" y="3112293"/>
            <a:ext cx="4837113" cy="46038"/>
          </a:xfrm>
          <a:prstGeom prst="leftRightArrow">
            <a:avLst>
              <a:gd name="adj1" fmla="val 50000"/>
              <a:gd name="adj2" fmla="val 4961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000" b="0">
              <a:latin typeface="+mn-lt"/>
              <a:ea typeface="+mn-ea"/>
            </a:endParaRPr>
          </a:p>
        </p:txBody>
      </p:sp>
      <p:sp>
        <p:nvSpPr>
          <p:cNvPr id="8" name="左右箭头 19">
            <a:extLst>
              <a:ext uri="{FF2B5EF4-FFF2-40B4-BE49-F238E27FC236}">
                <a16:creationId xmlns:a16="http://schemas.microsoft.com/office/drawing/2014/main" id="{305B6D25-1466-A11A-753E-81FCE053D3A5}"/>
              </a:ext>
            </a:extLst>
          </p:cNvPr>
          <p:cNvSpPr>
            <a:spLocks noChangeArrowheads="1"/>
          </p:cNvSpPr>
          <p:nvPr/>
        </p:nvSpPr>
        <p:spPr bwMode="auto">
          <a:xfrm>
            <a:off x="3744912" y="2256631"/>
            <a:ext cx="3973513" cy="144462"/>
          </a:xfrm>
          <a:prstGeom prst="leftRightArrow">
            <a:avLst>
              <a:gd name="adj1" fmla="val 50000"/>
              <a:gd name="adj2" fmla="val 4979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000" b="0">
              <a:latin typeface="+mn-lt"/>
              <a:ea typeface="+mn-ea"/>
            </a:endParaRPr>
          </a:p>
        </p:txBody>
      </p:sp>
      <p:sp>
        <p:nvSpPr>
          <p:cNvPr id="9" name="左右箭头 20">
            <a:extLst>
              <a:ext uri="{FF2B5EF4-FFF2-40B4-BE49-F238E27FC236}">
                <a16:creationId xmlns:a16="http://schemas.microsoft.com/office/drawing/2014/main" id="{628D3112-EA2C-9123-A61B-BA857FB1B832}"/>
              </a:ext>
            </a:extLst>
          </p:cNvPr>
          <p:cNvSpPr>
            <a:spLocks noChangeArrowheads="1"/>
          </p:cNvSpPr>
          <p:nvPr/>
        </p:nvSpPr>
        <p:spPr bwMode="auto">
          <a:xfrm>
            <a:off x="2822575" y="1753394"/>
            <a:ext cx="5616575" cy="144463"/>
          </a:xfrm>
          <a:prstGeom prst="leftRightArrow">
            <a:avLst>
              <a:gd name="adj1" fmla="val 50000"/>
              <a:gd name="adj2" fmla="val 4985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2000" b="0">
              <a:latin typeface="+mn-lt"/>
              <a:ea typeface="+mn-ea"/>
            </a:endParaRPr>
          </a:p>
        </p:txBody>
      </p:sp>
      <p:sp>
        <p:nvSpPr>
          <p:cNvPr id="16" name="TextBox 5">
            <a:extLst>
              <a:ext uri="{FF2B5EF4-FFF2-40B4-BE49-F238E27FC236}">
                <a16:creationId xmlns:a16="http://schemas.microsoft.com/office/drawing/2014/main" id="{6B792717-AB86-5D11-9509-180C2B0EBDAB}"/>
              </a:ext>
            </a:extLst>
          </p:cNvPr>
          <p:cNvSpPr txBox="1">
            <a:spLocks noChangeArrowheads="1"/>
          </p:cNvSpPr>
          <p:nvPr/>
        </p:nvSpPr>
        <p:spPr bwMode="auto">
          <a:xfrm>
            <a:off x="2678111" y="2067719"/>
            <a:ext cx="640873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000" b="0" dirty="0">
                <a:latin typeface="+mn-lt"/>
                <a:ea typeface="+mn-ea"/>
              </a:rPr>
              <a:t>第一步：创建可信连接</a:t>
            </a:r>
            <a:endParaRPr lang="en-US" altLang="zh-CN" sz="2000" b="0" dirty="0">
              <a:latin typeface="+mn-lt"/>
              <a:ea typeface="+mn-ea"/>
            </a:endParaRPr>
          </a:p>
          <a:p>
            <a:pPr algn="ctr" eaLnBrk="1" hangingPunct="1">
              <a:spcBef>
                <a:spcPct val="0"/>
              </a:spcBef>
              <a:buSzTx/>
              <a:buFont typeface="Arial" panose="020B0604020202020204" pitchFamily="34" charset="0"/>
              <a:buNone/>
            </a:pP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第二步：确认通信双方端点的可靠性</a:t>
            </a:r>
            <a:endParaRPr lang="en-US" altLang="zh-CN" sz="2000" b="0" dirty="0">
              <a:latin typeface="+mn-lt"/>
              <a:ea typeface="+mn-ea"/>
            </a:endParaRPr>
          </a:p>
          <a:p>
            <a:pPr algn="ctr" eaLnBrk="1" hangingPunct="1">
              <a:spcBef>
                <a:spcPct val="0"/>
              </a:spcBef>
              <a:buSzTx/>
              <a:buFont typeface="Arial" panose="020B0604020202020204" pitchFamily="34" charset="0"/>
              <a:buNone/>
            </a:pP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第三步：协商加密算法和密钥</a:t>
            </a:r>
            <a:endParaRPr lang="en-US" altLang="zh-CN" sz="2000" b="0" dirty="0">
              <a:latin typeface="+mn-lt"/>
              <a:ea typeface="+mn-ea"/>
            </a:endParaRPr>
          </a:p>
          <a:p>
            <a:pPr algn="ctr" eaLnBrk="1" hangingPunct="1">
              <a:spcBef>
                <a:spcPct val="0"/>
              </a:spcBef>
              <a:buSzTx/>
              <a:buFont typeface="Arial" panose="020B0604020202020204" pitchFamily="34" charset="0"/>
              <a:buNone/>
            </a:pP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第四步：可信传输数据</a:t>
            </a:r>
            <a:endParaRPr lang="en-US" altLang="zh-CN" sz="2000" b="0" dirty="0">
              <a:latin typeface="+mn-lt"/>
              <a:ea typeface="+mn-ea"/>
            </a:endParaRPr>
          </a:p>
          <a:p>
            <a:pPr algn="ctr" eaLnBrk="1" hangingPunct="1">
              <a:spcBef>
                <a:spcPct val="0"/>
              </a:spcBef>
              <a:buSzTx/>
              <a:buFont typeface="Arial" panose="020B0604020202020204" pitchFamily="34" charset="0"/>
              <a:buNone/>
            </a:pP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第五步：关闭可信连接</a:t>
            </a:r>
          </a:p>
        </p:txBody>
      </p:sp>
      <p:cxnSp>
        <p:nvCxnSpPr>
          <p:cNvPr id="17" name="直接箭头连接符 6">
            <a:extLst>
              <a:ext uri="{FF2B5EF4-FFF2-40B4-BE49-F238E27FC236}">
                <a16:creationId xmlns:a16="http://schemas.microsoft.com/office/drawing/2014/main" id="{51DAB880-0045-7603-05C0-6112DD1AEA60}"/>
              </a:ext>
            </a:extLst>
          </p:cNvPr>
          <p:cNvCxnSpPr>
            <a:cxnSpLocks noChangeShapeType="1"/>
          </p:cNvCxnSpPr>
          <p:nvPr/>
        </p:nvCxnSpPr>
        <p:spPr bwMode="auto">
          <a:xfrm>
            <a:off x="3384159" y="2449114"/>
            <a:ext cx="502754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8" name="直接箭头连接符 7">
            <a:extLst>
              <a:ext uri="{FF2B5EF4-FFF2-40B4-BE49-F238E27FC236}">
                <a16:creationId xmlns:a16="http://schemas.microsoft.com/office/drawing/2014/main" id="{5EFDAC0B-2D77-A027-D907-70BBFF55AD59}"/>
              </a:ext>
            </a:extLst>
          </p:cNvPr>
          <p:cNvCxnSpPr>
            <a:cxnSpLocks noChangeShapeType="1"/>
          </p:cNvCxnSpPr>
          <p:nvPr/>
        </p:nvCxnSpPr>
        <p:spPr bwMode="auto">
          <a:xfrm>
            <a:off x="3384159" y="3112292"/>
            <a:ext cx="502754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19" name="直接箭头连接符 8">
            <a:extLst>
              <a:ext uri="{FF2B5EF4-FFF2-40B4-BE49-F238E27FC236}">
                <a16:creationId xmlns:a16="http://schemas.microsoft.com/office/drawing/2014/main" id="{FCCE719C-5734-B577-DDDC-34FB94CBC399}"/>
              </a:ext>
            </a:extLst>
          </p:cNvPr>
          <p:cNvCxnSpPr>
            <a:cxnSpLocks noChangeShapeType="1"/>
          </p:cNvCxnSpPr>
          <p:nvPr/>
        </p:nvCxnSpPr>
        <p:spPr bwMode="auto">
          <a:xfrm>
            <a:off x="3384159" y="4930701"/>
            <a:ext cx="502754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20" name="直接箭头连接符 9">
            <a:extLst>
              <a:ext uri="{FF2B5EF4-FFF2-40B4-BE49-F238E27FC236}">
                <a16:creationId xmlns:a16="http://schemas.microsoft.com/office/drawing/2014/main" id="{3C09BDBD-C09C-2046-7E2E-174AF6ECA27D}"/>
              </a:ext>
            </a:extLst>
          </p:cNvPr>
          <p:cNvCxnSpPr>
            <a:cxnSpLocks noChangeShapeType="1"/>
          </p:cNvCxnSpPr>
          <p:nvPr/>
        </p:nvCxnSpPr>
        <p:spPr bwMode="auto">
          <a:xfrm>
            <a:off x="3407569" y="4272756"/>
            <a:ext cx="502754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4" name="矩形 12">
            <a:extLst>
              <a:ext uri="{FF2B5EF4-FFF2-40B4-BE49-F238E27FC236}">
                <a16:creationId xmlns:a16="http://schemas.microsoft.com/office/drawing/2014/main" id="{BCCB6EBD-562A-4102-9D7D-579B725AB2BF}"/>
              </a:ext>
            </a:extLst>
          </p:cNvPr>
          <p:cNvSpPr>
            <a:spLocks noChangeArrowheads="1"/>
          </p:cNvSpPr>
          <p:nvPr/>
        </p:nvSpPr>
        <p:spPr bwMode="auto">
          <a:xfrm>
            <a:off x="2822575" y="2067720"/>
            <a:ext cx="561584" cy="3573462"/>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000" b="0" dirty="0">
                <a:latin typeface="+mn-lt"/>
                <a:ea typeface="+mn-ea"/>
              </a:rPr>
              <a:t>可</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信</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通</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信</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模</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块</a:t>
            </a:r>
          </a:p>
        </p:txBody>
      </p:sp>
      <p:sp>
        <p:nvSpPr>
          <p:cNvPr id="15" name="矩形 13">
            <a:extLst>
              <a:ext uri="{FF2B5EF4-FFF2-40B4-BE49-F238E27FC236}">
                <a16:creationId xmlns:a16="http://schemas.microsoft.com/office/drawing/2014/main" id="{0D1D6B1D-6413-9A41-1FA8-99BC85E488FB}"/>
              </a:ext>
            </a:extLst>
          </p:cNvPr>
          <p:cNvSpPr>
            <a:spLocks noChangeArrowheads="1"/>
          </p:cNvSpPr>
          <p:nvPr/>
        </p:nvSpPr>
        <p:spPr bwMode="auto">
          <a:xfrm>
            <a:off x="8435113" y="2131285"/>
            <a:ext cx="507273" cy="3509897"/>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000" b="0" dirty="0">
                <a:latin typeface="+mn-lt"/>
                <a:ea typeface="+mn-ea"/>
              </a:rPr>
              <a:t>可</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信</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通</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信</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模</a:t>
            </a:r>
            <a:endParaRPr lang="en-US" altLang="zh-CN" sz="2000" b="0" dirty="0">
              <a:latin typeface="+mn-lt"/>
              <a:ea typeface="+mn-ea"/>
            </a:endParaRPr>
          </a:p>
          <a:p>
            <a:pPr algn="ctr" eaLnBrk="1" hangingPunct="1">
              <a:spcBef>
                <a:spcPct val="0"/>
              </a:spcBef>
              <a:buSzTx/>
              <a:buFont typeface="Arial" panose="020B0604020202020204" pitchFamily="34" charset="0"/>
              <a:buNone/>
            </a:pPr>
            <a:r>
              <a:rPr lang="zh-CN" altLang="en-US" sz="2000" b="0" dirty="0">
                <a:latin typeface="+mn-lt"/>
                <a:ea typeface="+mn-ea"/>
              </a:rPr>
              <a:t>块</a:t>
            </a:r>
          </a:p>
        </p:txBody>
      </p:sp>
      <p:cxnSp>
        <p:nvCxnSpPr>
          <p:cNvPr id="12" name="直接箭头连接符 9">
            <a:extLst>
              <a:ext uri="{FF2B5EF4-FFF2-40B4-BE49-F238E27FC236}">
                <a16:creationId xmlns:a16="http://schemas.microsoft.com/office/drawing/2014/main" id="{60E110CB-D416-178E-4064-CE51C81A9AA7}"/>
              </a:ext>
            </a:extLst>
          </p:cNvPr>
          <p:cNvCxnSpPr>
            <a:cxnSpLocks noChangeShapeType="1"/>
          </p:cNvCxnSpPr>
          <p:nvPr/>
        </p:nvCxnSpPr>
        <p:spPr bwMode="auto">
          <a:xfrm>
            <a:off x="3407569" y="3734594"/>
            <a:ext cx="5027544" cy="0"/>
          </a:xfrm>
          <a:prstGeom prst="straightConnector1">
            <a:avLst/>
          </a:prstGeom>
          <a:noFill/>
          <a:ln w="25400">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21" name="TextBox 23">
            <a:extLst>
              <a:ext uri="{FF2B5EF4-FFF2-40B4-BE49-F238E27FC236}">
                <a16:creationId xmlns:a16="http://schemas.microsoft.com/office/drawing/2014/main" id="{FADED3AC-E152-4C8C-6A14-E6DAC30A9A36}"/>
              </a:ext>
            </a:extLst>
          </p:cNvPr>
          <p:cNvSpPr txBox="1">
            <a:spLocks noChangeArrowheads="1"/>
          </p:cNvSpPr>
          <p:nvPr/>
        </p:nvSpPr>
        <p:spPr bwMode="auto">
          <a:xfrm>
            <a:off x="1885950" y="4129881"/>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b="0">
                <a:latin typeface="+mn-lt"/>
                <a:ea typeface="+mn-ea"/>
              </a:rPr>
              <a:t>用户</a:t>
            </a:r>
          </a:p>
        </p:txBody>
      </p:sp>
      <p:sp>
        <p:nvSpPr>
          <p:cNvPr id="22" name="TextBox 24">
            <a:extLst>
              <a:ext uri="{FF2B5EF4-FFF2-40B4-BE49-F238E27FC236}">
                <a16:creationId xmlns:a16="http://schemas.microsoft.com/office/drawing/2014/main" id="{60858ACF-7FAE-9EDE-003A-7A061EB58020}"/>
              </a:ext>
            </a:extLst>
          </p:cNvPr>
          <p:cNvSpPr txBox="1">
            <a:spLocks noChangeArrowheads="1"/>
          </p:cNvSpPr>
          <p:nvPr/>
        </p:nvSpPr>
        <p:spPr bwMode="auto">
          <a:xfrm>
            <a:off x="8963025" y="4272756"/>
            <a:ext cx="17331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2000" b="0">
                <a:latin typeface="+mn-lt"/>
                <a:ea typeface="+mn-ea"/>
              </a:rPr>
              <a:t>数据库服务器</a:t>
            </a:r>
          </a:p>
        </p:txBody>
      </p:sp>
    </p:spTree>
    <p:extLst>
      <p:ext uri="{BB962C8B-B14F-4D97-AF65-F5344CB8AC3E}">
        <p14:creationId xmlns:p14="http://schemas.microsoft.com/office/powerpoint/2010/main" val="367861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6F5C-8343-0511-80FB-715096900CCC}"/>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DFA6047-05C6-598C-2928-4E83A37BE958}"/>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153696E1-AD8E-F205-A8F7-17F6EBD77630}"/>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数据加密</a:t>
            </a:r>
          </a:p>
        </p:txBody>
      </p:sp>
      <p:sp>
        <p:nvSpPr>
          <p:cNvPr id="5" name="矩形 4">
            <a:extLst>
              <a:ext uri="{FF2B5EF4-FFF2-40B4-BE49-F238E27FC236}">
                <a16:creationId xmlns:a16="http://schemas.microsoft.com/office/drawing/2014/main" id="{4EEC4E2E-998F-AA86-EEF7-22D5C857AAD4}"/>
              </a:ext>
            </a:extLst>
          </p:cNvPr>
          <p:cNvSpPr/>
          <p:nvPr/>
        </p:nvSpPr>
        <p:spPr>
          <a:xfrm>
            <a:off x="516559" y="1829594"/>
            <a:ext cx="11286490" cy="39624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基于安全套接层协议</a:t>
            </a:r>
            <a:r>
              <a:rPr lang="en-US" altLang="zh-CN" sz="2000" dirty="0">
                <a:solidFill>
                  <a:schemeClr val="tx1"/>
                </a:solidFill>
              </a:rPr>
              <a:t>SSL</a:t>
            </a:r>
            <a:r>
              <a:rPr lang="zh-CN" altLang="en-US" sz="2000" dirty="0">
                <a:solidFill>
                  <a:schemeClr val="tx1"/>
                </a:solidFill>
              </a:rPr>
              <a:t>传输方案的实现思路：</a:t>
            </a:r>
          </a:p>
          <a:p>
            <a:pPr marL="87313" algn="just">
              <a:lnSpc>
                <a:spcPct val="150000"/>
              </a:lnSpc>
            </a:pPr>
            <a:r>
              <a:rPr lang="zh-CN" altLang="en-US" sz="2000" dirty="0">
                <a:solidFill>
                  <a:schemeClr val="tx1"/>
                </a:solidFill>
              </a:rPr>
              <a:t>（</a:t>
            </a:r>
            <a:r>
              <a:rPr lang="en-US" altLang="zh-CN" sz="2000" dirty="0">
                <a:solidFill>
                  <a:schemeClr val="tx1"/>
                </a:solidFill>
              </a:rPr>
              <a:t>1</a:t>
            </a:r>
            <a:r>
              <a:rPr lang="zh-CN" altLang="en-US" sz="2000" dirty="0">
                <a:solidFill>
                  <a:schemeClr val="tx1"/>
                </a:solidFill>
              </a:rPr>
              <a:t>）确认通信双方端点的可靠性</a:t>
            </a:r>
          </a:p>
          <a:p>
            <a:pPr marL="1073150" indent="-357188" algn="just">
              <a:lnSpc>
                <a:spcPct val="150000"/>
              </a:lnSpc>
              <a:buFont typeface="Wingdings" panose="05000000000000000000" pitchFamily="2" charset="2"/>
              <a:buChar char="Ø"/>
            </a:pPr>
            <a:r>
              <a:rPr lang="zh-CN" altLang="en-US" sz="2000" dirty="0">
                <a:solidFill>
                  <a:schemeClr val="tx1"/>
                </a:solidFill>
              </a:rPr>
              <a:t>采用基于数字证书的服务器和客户端认证方式</a:t>
            </a:r>
          </a:p>
          <a:p>
            <a:pPr marL="1073150" indent="-357188" algn="just">
              <a:lnSpc>
                <a:spcPct val="150000"/>
              </a:lnSpc>
              <a:buFont typeface="Wingdings" panose="05000000000000000000" pitchFamily="2" charset="2"/>
              <a:buChar char="Ø"/>
            </a:pPr>
            <a:r>
              <a:rPr lang="zh-CN" altLang="en-US" sz="2000" dirty="0">
                <a:solidFill>
                  <a:schemeClr val="tx1"/>
                </a:solidFill>
              </a:rPr>
              <a:t>通信时均首先向对方提供己方证书，然后使用本地的</a:t>
            </a:r>
            <a:r>
              <a:rPr lang="en-US" altLang="zh-CN" sz="2000" dirty="0">
                <a:solidFill>
                  <a:schemeClr val="tx1"/>
                </a:solidFill>
              </a:rPr>
              <a:t>CA </a:t>
            </a:r>
            <a:r>
              <a:rPr lang="zh-CN" altLang="en-US" sz="2000" dirty="0">
                <a:solidFill>
                  <a:schemeClr val="tx1"/>
                </a:solidFill>
              </a:rPr>
              <a:t>信任列表和证书撤销列表对接收到的对方证书进行验证</a:t>
            </a:r>
          </a:p>
          <a:p>
            <a:pPr marL="87313" algn="just">
              <a:lnSpc>
                <a:spcPct val="150000"/>
              </a:lnSpc>
            </a:pPr>
            <a:r>
              <a:rPr lang="zh-CN" altLang="en-US" sz="2000" dirty="0">
                <a:solidFill>
                  <a:schemeClr val="tx1"/>
                </a:solidFill>
              </a:rPr>
              <a:t>（</a:t>
            </a:r>
            <a:r>
              <a:rPr lang="en-US" altLang="zh-CN" sz="2000" dirty="0">
                <a:solidFill>
                  <a:schemeClr val="tx1"/>
                </a:solidFill>
              </a:rPr>
              <a:t>2</a:t>
            </a:r>
            <a:r>
              <a:rPr lang="zh-CN" altLang="en-US" sz="2000" dirty="0">
                <a:solidFill>
                  <a:schemeClr val="tx1"/>
                </a:solidFill>
              </a:rPr>
              <a:t>）协商加密算法和密钥</a:t>
            </a:r>
          </a:p>
          <a:p>
            <a:pPr marL="1073150" indent="-357188" algn="just">
              <a:lnSpc>
                <a:spcPct val="150000"/>
              </a:lnSpc>
              <a:buFont typeface="Wingdings" panose="05000000000000000000" pitchFamily="2" charset="2"/>
              <a:buChar char="Ø"/>
            </a:pPr>
            <a:r>
              <a:rPr lang="zh-CN" altLang="en-US" sz="2000" dirty="0">
                <a:solidFill>
                  <a:schemeClr val="tx1"/>
                </a:solidFill>
              </a:rPr>
              <a:t>确认双方端点的可靠性后，通信双方协商本次会话的加密算法与密钥</a:t>
            </a:r>
          </a:p>
          <a:p>
            <a:pPr marL="1073150" indent="-357188" algn="just">
              <a:lnSpc>
                <a:spcPct val="150000"/>
              </a:lnSpc>
              <a:buFont typeface="Wingdings" panose="05000000000000000000" pitchFamily="2" charset="2"/>
              <a:buChar char="Ø"/>
            </a:pPr>
            <a:r>
              <a:rPr lang="zh-CN" altLang="en-US" sz="2000" dirty="0">
                <a:solidFill>
                  <a:schemeClr val="tx1"/>
                </a:solidFill>
              </a:rPr>
              <a:t>利用公钥基础设施方式</a:t>
            </a:r>
          </a:p>
        </p:txBody>
      </p:sp>
    </p:spTree>
    <p:extLst>
      <p:ext uri="{BB962C8B-B14F-4D97-AF65-F5344CB8AC3E}">
        <p14:creationId xmlns:p14="http://schemas.microsoft.com/office/powerpoint/2010/main" val="104769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D278A-8A97-A848-C98A-B7597B77CD91}"/>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20017832-6950-106A-7D09-1C4882E4FD8D}"/>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EF9BA8DA-F1C7-3DE7-1BC1-F86ABE942C19}"/>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数据加密</a:t>
            </a:r>
          </a:p>
        </p:txBody>
      </p:sp>
      <p:sp>
        <p:nvSpPr>
          <p:cNvPr id="5" name="矩形 4">
            <a:extLst>
              <a:ext uri="{FF2B5EF4-FFF2-40B4-BE49-F238E27FC236}">
                <a16:creationId xmlns:a16="http://schemas.microsoft.com/office/drawing/2014/main" id="{F7021FCC-41D0-1A6B-D6F5-1D6D564CA893}"/>
              </a:ext>
            </a:extLst>
          </p:cNvPr>
          <p:cNvSpPr/>
          <p:nvPr/>
        </p:nvSpPr>
        <p:spPr>
          <a:xfrm>
            <a:off x="516559" y="1829594"/>
            <a:ext cx="11286490" cy="32766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基于安全套接层协议</a:t>
            </a:r>
            <a:r>
              <a:rPr lang="en-US" altLang="zh-CN" sz="2000" dirty="0">
                <a:solidFill>
                  <a:schemeClr val="tx1"/>
                </a:solidFill>
              </a:rPr>
              <a:t>SSL</a:t>
            </a:r>
            <a:r>
              <a:rPr lang="zh-CN" altLang="en-US" sz="2000" dirty="0">
                <a:solidFill>
                  <a:schemeClr val="tx1"/>
                </a:solidFill>
              </a:rPr>
              <a:t>传输方案的实现思路：</a:t>
            </a:r>
          </a:p>
          <a:p>
            <a:pPr marL="87313" algn="just">
              <a:lnSpc>
                <a:spcPct val="150000"/>
              </a:lnSpc>
            </a:pPr>
            <a:r>
              <a:rPr lang="zh-CN" altLang="en-US" sz="2000" dirty="0">
                <a:solidFill>
                  <a:schemeClr val="tx1"/>
                </a:solidFill>
              </a:rPr>
              <a:t>（</a:t>
            </a:r>
            <a:r>
              <a:rPr lang="en-US" altLang="zh-CN" sz="2000" dirty="0">
                <a:solidFill>
                  <a:schemeClr val="tx1"/>
                </a:solidFill>
              </a:rPr>
              <a:t>3</a:t>
            </a:r>
            <a:r>
              <a:rPr lang="zh-CN" altLang="en-US" sz="2000" dirty="0">
                <a:solidFill>
                  <a:schemeClr val="tx1"/>
                </a:solidFill>
              </a:rPr>
              <a:t>）可信数据传输</a:t>
            </a:r>
          </a:p>
          <a:p>
            <a:pPr marL="1073150" indent="-357188" algn="just">
              <a:lnSpc>
                <a:spcPct val="150000"/>
              </a:lnSpc>
              <a:buFont typeface="Wingdings" panose="05000000000000000000" pitchFamily="2" charset="2"/>
              <a:buChar char="Ø"/>
            </a:pPr>
            <a:r>
              <a:rPr lang="zh-CN" altLang="en-US" sz="2000" dirty="0">
                <a:solidFill>
                  <a:schemeClr val="tx1"/>
                </a:solidFill>
              </a:rPr>
              <a:t>业务数据在被发送之前被用某一组特定密钥进行加密和消息摘要计算，以密文形式传输</a:t>
            </a:r>
          </a:p>
          <a:p>
            <a:pPr marL="1073150" indent="-357188" algn="just">
              <a:lnSpc>
                <a:spcPct val="150000"/>
              </a:lnSpc>
              <a:buFont typeface="Wingdings" panose="05000000000000000000" pitchFamily="2" charset="2"/>
              <a:buChar char="Ø"/>
            </a:pPr>
            <a:r>
              <a:rPr lang="zh-CN" altLang="en-US" sz="2000" dirty="0">
                <a:solidFill>
                  <a:schemeClr val="tx1"/>
                </a:solidFill>
              </a:rPr>
              <a:t>当业务数据被接收的时候，需用相同一组特定的密钥进行解密和摘要计算</a:t>
            </a:r>
          </a:p>
          <a:p>
            <a:pPr marL="1431925" indent="-358775" algn="just">
              <a:lnSpc>
                <a:spcPct val="150000"/>
              </a:lnSpc>
              <a:buFont typeface="Arial" panose="020B0604020202020204" pitchFamily="34" charset="0"/>
              <a:buChar char="•"/>
            </a:pPr>
            <a:r>
              <a:rPr lang="zh-CN" altLang="en-US" sz="2000" dirty="0">
                <a:solidFill>
                  <a:schemeClr val="tx1"/>
                </a:solidFill>
              </a:rPr>
              <a:t>特定的密钥是由通信双方磋商决定的，为且仅为双方共享</a:t>
            </a:r>
          </a:p>
          <a:p>
            <a:pPr marL="1431925" indent="-358775" algn="just">
              <a:lnSpc>
                <a:spcPct val="150000"/>
              </a:lnSpc>
              <a:buFont typeface="Arial" panose="020B0604020202020204" pitchFamily="34" charset="0"/>
              <a:buChar char="•"/>
            </a:pPr>
            <a:r>
              <a:rPr lang="zh-CN" altLang="en-US" sz="2000" dirty="0">
                <a:solidFill>
                  <a:schemeClr val="tx1"/>
                </a:solidFill>
              </a:rPr>
              <a:t>会话密钥的生命周期仅限于本次通信</a:t>
            </a:r>
          </a:p>
        </p:txBody>
      </p:sp>
    </p:spTree>
    <p:extLst>
      <p:ext uri="{BB962C8B-B14F-4D97-AF65-F5344CB8AC3E}">
        <p14:creationId xmlns:p14="http://schemas.microsoft.com/office/powerpoint/2010/main" val="8896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CEBD1-8157-AB5D-3270-E4A7EAC462DC}"/>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D8E516D5-7F82-27DD-13EC-2B21A5A04B13}"/>
              </a:ext>
            </a:extLst>
          </p:cNvPr>
          <p:cNvSpPr>
            <a:spLocks noGrp="1"/>
          </p:cNvSpPr>
          <p:nvPr>
            <p:ph type="title"/>
          </p:nvPr>
        </p:nvSpPr>
        <p:spPr/>
        <p:txBody>
          <a:bodyPr/>
          <a:lstStyle/>
          <a:p>
            <a:r>
              <a:rPr lang="en-US" altLang="zh-CN" dirty="0"/>
              <a:t>8.2  </a:t>
            </a:r>
            <a:r>
              <a:rPr lang="zh-CN" altLang="en-US" dirty="0">
                <a:sym typeface="+mn-ea"/>
              </a:rPr>
              <a:t>数据库安全性控制</a:t>
            </a:r>
            <a:endParaRPr lang="zh-CN" altLang="en-US" dirty="0"/>
          </a:p>
        </p:txBody>
      </p:sp>
      <p:sp>
        <p:nvSpPr>
          <p:cNvPr id="33" name="内容占位符 4">
            <a:extLst>
              <a:ext uri="{FF2B5EF4-FFF2-40B4-BE49-F238E27FC236}">
                <a16:creationId xmlns:a16="http://schemas.microsoft.com/office/drawing/2014/main" id="{5BC1F71F-4652-24A2-D6CF-DD38244858BD}"/>
              </a:ext>
            </a:extLst>
          </p:cNvPr>
          <p:cNvSpPr>
            <a:spLocks noGrp="1"/>
          </p:cNvSpPr>
          <p:nvPr/>
        </p:nvSpPr>
        <p:spPr>
          <a:xfrm>
            <a:off x="536575" y="1180226"/>
            <a:ext cx="3657599"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数据加密</a:t>
            </a:r>
          </a:p>
        </p:txBody>
      </p:sp>
      <p:sp>
        <p:nvSpPr>
          <p:cNvPr id="5" name="矩形 4">
            <a:extLst>
              <a:ext uri="{FF2B5EF4-FFF2-40B4-BE49-F238E27FC236}">
                <a16:creationId xmlns:a16="http://schemas.microsoft.com/office/drawing/2014/main" id="{087D6EC2-5602-5968-E8CD-1F197E89EE8D}"/>
              </a:ext>
            </a:extLst>
          </p:cNvPr>
          <p:cNvSpPr/>
          <p:nvPr/>
        </p:nvSpPr>
        <p:spPr>
          <a:xfrm>
            <a:off x="516559" y="1829594"/>
            <a:ext cx="11286490" cy="3505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30213" indent="-342900" algn="just">
              <a:lnSpc>
                <a:spcPct val="150000"/>
              </a:lnSpc>
              <a:buFont typeface="Wingdings" panose="05000000000000000000" pitchFamily="2" charset="2"/>
              <a:buChar char="l"/>
            </a:pPr>
            <a:r>
              <a:rPr lang="zh-CN" altLang="en-US" sz="2000" dirty="0">
                <a:solidFill>
                  <a:schemeClr val="tx1"/>
                </a:solidFill>
              </a:rPr>
              <a:t>数据加密算法</a:t>
            </a:r>
          </a:p>
          <a:p>
            <a:pPr marL="803275" indent="-358775" algn="just">
              <a:lnSpc>
                <a:spcPct val="150000"/>
              </a:lnSpc>
              <a:buFont typeface="Wingdings" panose="05000000000000000000" pitchFamily="2" charset="2"/>
              <a:buChar char="Ø"/>
            </a:pPr>
            <a:r>
              <a:rPr lang="zh-CN" altLang="en-US" sz="2000" dirty="0">
                <a:solidFill>
                  <a:schemeClr val="tx1"/>
                </a:solidFill>
              </a:rPr>
              <a:t>对称算法加密：</a:t>
            </a:r>
            <a:r>
              <a:rPr lang="en-US" altLang="zh-CN" sz="2000" dirty="0">
                <a:solidFill>
                  <a:schemeClr val="tx1"/>
                </a:solidFill>
              </a:rPr>
              <a:t>AES</a:t>
            </a:r>
            <a:r>
              <a:rPr lang="zh-CN" altLang="en-US" sz="2000" dirty="0">
                <a:solidFill>
                  <a:schemeClr val="tx1"/>
                </a:solidFill>
              </a:rPr>
              <a:t>算法</a:t>
            </a:r>
          </a:p>
          <a:p>
            <a:pPr marL="803275" indent="-358775" algn="just">
              <a:lnSpc>
                <a:spcPct val="150000"/>
              </a:lnSpc>
              <a:buFont typeface="Wingdings" panose="05000000000000000000" pitchFamily="2" charset="2"/>
              <a:buChar char="Ø"/>
            </a:pPr>
            <a:r>
              <a:rPr lang="zh-CN" altLang="en-US" sz="2000" dirty="0">
                <a:solidFill>
                  <a:schemeClr val="tx1"/>
                </a:solidFill>
              </a:rPr>
              <a:t>非对称加密算法：</a:t>
            </a:r>
            <a:r>
              <a:rPr lang="en-US" altLang="zh-CN" sz="2000" dirty="0">
                <a:solidFill>
                  <a:schemeClr val="tx1"/>
                </a:solidFill>
              </a:rPr>
              <a:t>RSA</a:t>
            </a:r>
            <a:r>
              <a:rPr lang="zh-CN" altLang="en-US" sz="2000" dirty="0">
                <a:solidFill>
                  <a:schemeClr val="tx1"/>
                </a:solidFill>
              </a:rPr>
              <a:t>算法</a:t>
            </a:r>
          </a:p>
          <a:p>
            <a:pPr marL="803275" indent="-358775" algn="just">
              <a:lnSpc>
                <a:spcPct val="150000"/>
              </a:lnSpc>
              <a:buFont typeface="Wingdings" panose="05000000000000000000" pitchFamily="2" charset="2"/>
              <a:buChar char="Ø"/>
            </a:pPr>
            <a:r>
              <a:rPr lang="zh-CN" altLang="en-US" sz="2000" dirty="0">
                <a:solidFill>
                  <a:schemeClr val="tx1"/>
                </a:solidFill>
              </a:rPr>
              <a:t>数据库管理系统特定的加密算法</a:t>
            </a:r>
          </a:p>
          <a:p>
            <a:pPr marL="430213" indent="-342900" algn="just">
              <a:lnSpc>
                <a:spcPct val="150000"/>
              </a:lnSpc>
              <a:spcBef>
                <a:spcPts val="600"/>
              </a:spcBef>
              <a:buFont typeface="Wingdings" panose="05000000000000000000" pitchFamily="2" charset="2"/>
              <a:buChar char="l"/>
            </a:pPr>
            <a:r>
              <a:rPr lang="zh-CN" altLang="en-US" sz="2000" dirty="0">
                <a:solidFill>
                  <a:schemeClr val="tx1"/>
                </a:solidFill>
              </a:rPr>
              <a:t>数据加密优缺点</a:t>
            </a:r>
          </a:p>
          <a:p>
            <a:pPr marL="803275" indent="-358775" algn="just">
              <a:lnSpc>
                <a:spcPct val="150000"/>
              </a:lnSpc>
              <a:buFont typeface="Wingdings" panose="05000000000000000000" pitchFamily="2" charset="2"/>
              <a:buChar char="Ø"/>
            </a:pPr>
            <a:r>
              <a:rPr lang="zh-CN" altLang="en-US" sz="2000" dirty="0">
                <a:solidFill>
                  <a:schemeClr val="tx1"/>
                </a:solidFill>
              </a:rPr>
              <a:t>数据安全性进一步提高</a:t>
            </a:r>
          </a:p>
          <a:p>
            <a:pPr marL="803275" indent="-358775" algn="just">
              <a:lnSpc>
                <a:spcPct val="150000"/>
              </a:lnSpc>
              <a:buFont typeface="Wingdings" panose="05000000000000000000" pitchFamily="2" charset="2"/>
              <a:buChar char="Ø"/>
            </a:pPr>
            <a:r>
              <a:rPr lang="zh-CN" altLang="en-US" sz="2000" dirty="0">
                <a:solidFill>
                  <a:schemeClr val="tx1"/>
                </a:solidFill>
              </a:rPr>
              <a:t>增加查询处理复杂性，查询效率受到影响</a:t>
            </a:r>
          </a:p>
        </p:txBody>
      </p:sp>
    </p:spTree>
    <p:extLst>
      <p:ext uri="{BB962C8B-B14F-4D97-AF65-F5344CB8AC3E}">
        <p14:creationId xmlns:p14="http://schemas.microsoft.com/office/powerpoint/2010/main" val="4286305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8.3  </a:t>
            </a:r>
            <a:r>
              <a:rPr lang="en-US" altLang="zh-CN" dirty="0">
                <a:sym typeface="+mn-ea"/>
              </a:rPr>
              <a:t>MySQL</a:t>
            </a:r>
            <a:r>
              <a:rPr lang="zh-CN" altLang="en-US" dirty="0">
                <a:sym typeface="+mn-ea"/>
              </a:rPr>
              <a:t>权限系统</a:t>
            </a:r>
            <a:endParaRPr lang="zh-CN" altLang="en-US" dirty="0"/>
          </a:p>
        </p:txBody>
      </p:sp>
      <p:sp>
        <p:nvSpPr>
          <p:cNvPr id="5" name="内容占位符 4"/>
          <p:cNvSpPr>
            <a:spLocks noGrp="1"/>
          </p:cNvSpPr>
          <p:nvPr>
            <p:ph idx="1"/>
          </p:nvPr>
        </p:nvSpPr>
        <p:spPr>
          <a:xfrm>
            <a:off x="155575" y="835660"/>
            <a:ext cx="2847340" cy="765175"/>
          </a:xfrm>
        </p:spPr>
        <p:txBody>
          <a:bodyPr>
            <a:noAutofit/>
          </a:bodyPr>
          <a:lstStyle/>
          <a:p>
            <a:pPr marL="0" indent="0" algn="ctr">
              <a:lnSpc>
                <a:spcPct val="150000"/>
              </a:lnSpc>
              <a:buNone/>
            </a:pPr>
            <a:r>
              <a:rPr lang="zh-CN" altLang="en-US" dirty="0"/>
              <a:t>权限管理机制</a:t>
            </a:r>
            <a:r>
              <a:rPr lang="en-US" altLang="zh-CN" dirty="0"/>
              <a:t> </a:t>
            </a:r>
            <a:endParaRPr lang="zh-CN" altLang="en-US" dirty="0"/>
          </a:p>
        </p:txBody>
      </p:sp>
      <p:grpSp>
        <p:nvGrpSpPr>
          <p:cNvPr id="21" name="组合 20"/>
          <p:cNvGrpSpPr/>
          <p:nvPr/>
        </p:nvGrpSpPr>
        <p:grpSpPr>
          <a:xfrm>
            <a:off x="4955939" y="1600618"/>
            <a:ext cx="1501064" cy="2145510"/>
            <a:chOff x="5329375" y="1963452"/>
            <a:chExt cx="2389827" cy="3415840"/>
          </a:xfrm>
        </p:grpSpPr>
        <p:sp>
          <p:nvSpPr>
            <p:cNvPr id="22" name="六边形 21"/>
            <p:cNvSpPr/>
            <p:nvPr/>
          </p:nvSpPr>
          <p:spPr>
            <a:xfrm rot="5400000">
              <a:off x="5206714" y="2086112"/>
              <a:ext cx="1778573" cy="1533252"/>
            </a:xfrm>
            <a:prstGeom prst="hexagon">
              <a:avLst/>
            </a:prstGeom>
            <a:solidFill>
              <a:srgbClr val="1B75D5"/>
            </a:soli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entury Gothic" panose="020B0502020202020204"/>
                <a:ea typeface="微软雅黑" panose="020B0503020204020204" pitchFamily="34" charset="-122"/>
              </a:endParaRPr>
            </a:p>
          </p:txBody>
        </p:sp>
        <p:sp>
          <p:nvSpPr>
            <p:cNvPr id="24" name="六边形 23"/>
            <p:cNvSpPr/>
            <p:nvPr/>
          </p:nvSpPr>
          <p:spPr>
            <a:xfrm rot="5400000">
              <a:off x="6063290" y="3723380"/>
              <a:ext cx="1778572" cy="1533252"/>
            </a:xfrm>
            <a:prstGeom prst="hexagon">
              <a:avLst/>
            </a:prstGeom>
            <a:gradFill flip="none" rotWithShape="1">
              <a:gsLst>
                <a:gs pos="0">
                  <a:srgbClr val="FF5353">
                    <a:lumMod val="75000"/>
                  </a:srgbClr>
                </a:gs>
                <a:gs pos="100000">
                  <a:srgbClr val="FF5353"/>
                </a:gs>
              </a:gsLst>
              <a:lin ang="18900000" scaled="1"/>
              <a:tileRect/>
            </a:gradFill>
            <a:ln w="12700" cap="flat" cmpd="sng" algn="ctr">
              <a:noFill/>
              <a:prstDash val="solid"/>
              <a:miter lim="800000"/>
            </a:ln>
            <a:effectLst>
              <a:outerShdw blurRad="508000" dist="254000" dir="54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entury Gothic" panose="020B0502020202020204"/>
                <a:ea typeface="微软雅黑" panose="020B0503020204020204" pitchFamily="34" charset="-122"/>
              </a:endParaRPr>
            </a:p>
          </p:txBody>
        </p:sp>
      </p:grpSp>
      <p:sp>
        <p:nvSpPr>
          <p:cNvPr id="7" name="PA-文本框 8"/>
          <p:cNvSpPr txBox="1"/>
          <p:nvPr>
            <p:custDataLst>
              <p:tags r:id="rId1"/>
            </p:custDataLst>
          </p:nvPr>
        </p:nvSpPr>
        <p:spPr>
          <a:xfrm>
            <a:off x="3520954" y="1947698"/>
            <a:ext cx="1198880" cy="398780"/>
          </a:xfrm>
          <a:prstGeom prst="rect">
            <a:avLst/>
          </a:prstGeom>
          <a:noFill/>
        </p:spPr>
        <p:txBody>
          <a:bodyPr wrap="none" rtlCol="0">
            <a:spAutoFit/>
            <a:scene3d>
              <a:camera prst="orthographicFront"/>
              <a:lightRig rig="threePt" dir="t"/>
            </a:scene3d>
            <a:sp3d contourW="12700"/>
          </a:bodyPr>
          <a:lstStyle/>
          <a:p>
            <a:pPr defTabSz="457200" fontAlgn="auto">
              <a:spcBef>
                <a:spcPts val="0"/>
              </a:spcBef>
              <a:spcAft>
                <a:spcPts val="0"/>
              </a:spcAft>
            </a:pPr>
            <a:r>
              <a:rPr lang="zh-CN" altLang="en-US" sz="2000" dirty="0">
                <a:solidFill>
                  <a:srgbClr val="000000"/>
                </a:solidFill>
                <a:latin typeface="微软雅黑" panose="020B0503020204020204" pitchFamily="34" charset="-122"/>
                <a:ea typeface="微软雅黑" panose="020B0503020204020204" pitchFamily="34" charset="-122"/>
              </a:rPr>
              <a:t>登录验证</a:t>
            </a:r>
          </a:p>
        </p:txBody>
      </p:sp>
      <p:sp>
        <p:nvSpPr>
          <p:cNvPr id="8" name="PA-文本框 8"/>
          <p:cNvSpPr txBox="1"/>
          <p:nvPr>
            <p:custDataLst>
              <p:tags r:id="rId2"/>
            </p:custDataLst>
          </p:nvPr>
        </p:nvSpPr>
        <p:spPr>
          <a:xfrm>
            <a:off x="6770434" y="2987506"/>
            <a:ext cx="1198880" cy="398780"/>
          </a:xfrm>
          <a:prstGeom prst="rect">
            <a:avLst/>
          </a:prstGeom>
          <a:noFill/>
        </p:spPr>
        <p:txBody>
          <a:bodyPr wrap="none" rtlCol="0">
            <a:spAutoFit/>
            <a:scene3d>
              <a:camera prst="orthographicFront"/>
              <a:lightRig rig="threePt" dir="t"/>
            </a:scene3d>
            <a:sp3d contourW="12700"/>
          </a:bodyPr>
          <a:lstStyle/>
          <a:p>
            <a:pPr defTabSz="457200" fontAlgn="auto">
              <a:spcBef>
                <a:spcPts val="0"/>
              </a:spcBef>
              <a:spcAft>
                <a:spcPts val="0"/>
              </a:spcAft>
            </a:pPr>
            <a:r>
              <a:rPr lang="zh-CN" altLang="en-US" sz="2000" dirty="0">
                <a:solidFill>
                  <a:srgbClr val="000000"/>
                </a:solidFill>
                <a:latin typeface="微软雅黑" panose="020B0503020204020204" pitchFamily="34" charset="-122"/>
                <a:ea typeface="微软雅黑" panose="020B0503020204020204" pitchFamily="34" charset="-122"/>
              </a:rPr>
              <a:t>权限检查</a:t>
            </a:r>
          </a:p>
        </p:txBody>
      </p:sp>
      <p:grpSp>
        <p:nvGrpSpPr>
          <p:cNvPr id="31" name="组合 30"/>
          <p:cNvGrpSpPr/>
          <p:nvPr/>
        </p:nvGrpSpPr>
        <p:grpSpPr>
          <a:xfrm>
            <a:off x="5197316" y="1947796"/>
            <a:ext cx="1018309" cy="2481197"/>
            <a:chOff x="5586845" y="2713666"/>
            <a:chExt cx="1018309" cy="2481197"/>
          </a:xfrm>
        </p:grpSpPr>
        <p:sp>
          <p:nvSpPr>
            <p:cNvPr id="32" name="椭圆 11"/>
            <p:cNvSpPr/>
            <p:nvPr/>
          </p:nvSpPr>
          <p:spPr>
            <a:xfrm>
              <a:off x="5586845" y="2713666"/>
              <a:ext cx="480290" cy="422774"/>
            </a:xfrm>
            <a:custGeom>
              <a:avLst/>
              <a:gdLst>
                <a:gd name="connsiteX0" fmla="*/ 18335 w 604256"/>
                <a:gd name="connsiteY0" fmla="*/ 334272 h 531895"/>
                <a:gd name="connsiteX1" fmla="*/ 37988 w 604256"/>
                <a:gd name="connsiteY1" fmla="*/ 336249 h 531895"/>
                <a:gd name="connsiteX2" fmla="*/ 302130 w 604256"/>
                <a:gd name="connsiteY2" fmla="*/ 476833 h 531895"/>
                <a:gd name="connsiteX3" fmla="*/ 566126 w 604256"/>
                <a:gd name="connsiteY3" fmla="*/ 336249 h 531895"/>
                <a:gd name="connsiteX4" fmla="*/ 601178 w 604256"/>
                <a:gd name="connsiteY4" fmla="*/ 346793 h 531895"/>
                <a:gd name="connsiteX5" fmla="*/ 590619 w 604256"/>
                <a:gd name="connsiteY5" fmla="*/ 381793 h 531895"/>
                <a:gd name="connsiteX6" fmla="*/ 314303 w 604256"/>
                <a:gd name="connsiteY6" fmla="*/ 528820 h 531895"/>
                <a:gd name="connsiteX7" fmla="*/ 302130 w 604256"/>
                <a:gd name="connsiteY7" fmla="*/ 531895 h 531895"/>
                <a:gd name="connsiteX8" fmla="*/ 289957 w 604256"/>
                <a:gd name="connsiteY8" fmla="*/ 528820 h 531895"/>
                <a:gd name="connsiteX9" fmla="*/ 13641 w 604256"/>
                <a:gd name="connsiteY9" fmla="*/ 381793 h 531895"/>
                <a:gd name="connsiteX10" fmla="*/ 3082 w 604256"/>
                <a:gd name="connsiteY10" fmla="*/ 346793 h 531895"/>
                <a:gd name="connsiteX11" fmla="*/ 18335 w 604256"/>
                <a:gd name="connsiteY11" fmla="*/ 334272 h 531895"/>
                <a:gd name="connsiteX12" fmla="*/ 18335 w 604256"/>
                <a:gd name="connsiteY12" fmla="*/ 233364 h 531895"/>
                <a:gd name="connsiteX13" fmla="*/ 37988 w 604256"/>
                <a:gd name="connsiteY13" fmla="*/ 235341 h 531895"/>
                <a:gd name="connsiteX14" fmla="*/ 302130 w 604256"/>
                <a:gd name="connsiteY14" fmla="*/ 375925 h 531895"/>
                <a:gd name="connsiteX15" fmla="*/ 566126 w 604256"/>
                <a:gd name="connsiteY15" fmla="*/ 235341 h 531895"/>
                <a:gd name="connsiteX16" fmla="*/ 601178 w 604256"/>
                <a:gd name="connsiteY16" fmla="*/ 245885 h 531895"/>
                <a:gd name="connsiteX17" fmla="*/ 590619 w 604256"/>
                <a:gd name="connsiteY17" fmla="*/ 280885 h 531895"/>
                <a:gd name="connsiteX18" fmla="*/ 314303 w 604256"/>
                <a:gd name="connsiteY18" fmla="*/ 428058 h 531895"/>
                <a:gd name="connsiteX19" fmla="*/ 302130 w 604256"/>
                <a:gd name="connsiteY19" fmla="*/ 430987 h 531895"/>
                <a:gd name="connsiteX20" fmla="*/ 289957 w 604256"/>
                <a:gd name="connsiteY20" fmla="*/ 428058 h 531895"/>
                <a:gd name="connsiteX21" fmla="*/ 13641 w 604256"/>
                <a:gd name="connsiteY21" fmla="*/ 280885 h 531895"/>
                <a:gd name="connsiteX22" fmla="*/ 3082 w 604256"/>
                <a:gd name="connsiteY22" fmla="*/ 245885 h 531895"/>
                <a:gd name="connsiteX23" fmla="*/ 18335 w 604256"/>
                <a:gd name="connsiteY23" fmla="*/ 233364 h 531895"/>
                <a:gd name="connsiteX24" fmla="*/ 291571 w 604256"/>
                <a:gd name="connsiteY24" fmla="*/ 2196 h 531895"/>
                <a:gd name="connsiteX25" fmla="*/ 312689 w 604256"/>
                <a:gd name="connsiteY25" fmla="*/ 2196 h 531895"/>
                <a:gd name="connsiteX26" fmla="*/ 588846 w 604256"/>
                <a:gd name="connsiteY26" fmla="*/ 125214 h 531895"/>
                <a:gd name="connsiteX27" fmla="*/ 604245 w 604256"/>
                <a:gd name="connsiteY27" fmla="*/ 147914 h 531895"/>
                <a:gd name="connsiteX28" fmla="*/ 590605 w 604256"/>
                <a:gd name="connsiteY28" fmla="*/ 171639 h 531895"/>
                <a:gd name="connsiteX29" fmla="*/ 314303 w 604256"/>
                <a:gd name="connsiteY29" fmla="*/ 318676 h 531895"/>
                <a:gd name="connsiteX30" fmla="*/ 302130 w 604256"/>
                <a:gd name="connsiteY30" fmla="*/ 321751 h 531895"/>
                <a:gd name="connsiteX31" fmla="*/ 289957 w 604256"/>
                <a:gd name="connsiteY31" fmla="*/ 318676 h 531895"/>
                <a:gd name="connsiteX32" fmla="*/ 13654 w 604256"/>
                <a:gd name="connsiteY32" fmla="*/ 171639 h 531895"/>
                <a:gd name="connsiteX33" fmla="*/ 15 w 604256"/>
                <a:gd name="connsiteY33" fmla="*/ 147914 h 531895"/>
                <a:gd name="connsiteX34" fmla="*/ 15414 w 604256"/>
                <a:gd name="connsiteY34" fmla="*/ 125214 h 53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4256" h="531895">
                  <a:moveTo>
                    <a:pt x="18335" y="334272"/>
                  </a:moveTo>
                  <a:cubicBezTo>
                    <a:pt x="24642" y="332369"/>
                    <a:pt x="31682" y="332881"/>
                    <a:pt x="37988" y="336249"/>
                  </a:cubicBezTo>
                  <a:lnTo>
                    <a:pt x="302130" y="476833"/>
                  </a:lnTo>
                  <a:lnTo>
                    <a:pt x="566126" y="336249"/>
                  </a:lnTo>
                  <a:cubicBezTo>
                    <a:pt x="578739" y="329513"/>
                    <a:pt x="594432" y="334199"/>
                    <a:pt x="601178" y="346793"/>
                  </a:cubicBezTo>
                  <a:cubicBezTo>
                    <a:pt x="607925" y="359387"/>
                    <a:pt x="603085" y="375056"/>
                    <a:pt x="590619" y="381793"/>
                  </a:cubicBezTo>
                  <a:lnTo>
                    <a:pt x="314303" y="528820"/>
                  </a:lnTo>
                  <a:cubicBezTo>
                    <a:pt x="310490" y="530870"/>
                    <a:pt x="306383" y="531895"/>
                    <a:pt x="302130" y="531895"/>
                  </a:cubicBezTo>
                  <a:cubicBezTo>
                    <a:pt x="297877" y="531895"/>
                    <a:pt x="293770" y="530870"/>
                    <a:pt x="289957" y="528820"/>
                  </a:cubicBezTo>
                  <a:lnTo>
                    <a:pt x="13641" y="381793"/>
                  </a:lnTo>
                  <a:cubicBezTo>
                    <a:pt x="1028" y="375056"/>
                    <a:pt x="-3665" y="359387"/>
                    <a:pt x="3082" y="346793"/>
                  </a:cubicBezTo>
                  <a:cubicBezTo>
                    <a:pt x="6455" y="340496"/>
                    <a:pt x="12028" y="336176"/>
                    <a:pt x="18335" y="334272"/>
                  </a:cubicBezTo>
                  <a:close/>
                  <a:moveTo>
                    <a:pt x="18335" y="233364"/>
                  </a:moveTo>
                  <a:cubicBezTo>
                    <a:pt x="24642" y="231461"/>
                    <a:pt x="31682" y="231973"/>
                    <a:pt x="37988" y="235341"/>
                  </a:cubicBezTo>
                  <a:lnTo>
                    <a:pt x="302130" y="375925"/>
                  </a:lnTo>
                  <a:lnTo>
                    <a:pt x="566126" y="235341"/>
                  </a:lnTo>
                  <a:cubicBezTo>
                    <a:pt x="578739" y="228605"/>
                    <a:pt x="594432" y="233291"/>
                    <a:pt x="601178" y="245885"/>
                  </a:cubicBezTo>
                  <a:cubicBezTo>
                    <a:pt x="607925" y="258479"/>
                    <a:pt x="603085" y="274148"/>
                    <a:pt x="590619" y="280885"/>
                  </a:cubicBezTo>
                  <a:lnTo>
                    <a:pt x="314303" y="428058"/>
                  </a:lnTo>
                  <a:cubicBezTo>
                    <a:pt x="310490" y="430108"/>
                    <a:pt x="306383" y="430987"/>
                    <a:pt x="302130" y="430987"/>
                  </a:cubicBezTo>
                  <a:cubicBezTo>
                    <a:pt x="297877" y="430987"/>
                    <a:pt x="293770" y="430108"/>
                    <a:pt x="289957" y="428058"/>
                  </a:cubicBezTo>
                  <a:lnTo>
                    <a:pt x="13641" y="280885"/>
                  </a:lnTo>
                  <a:cubicBezTo>
                    <a:pt x="1028" y="274148"/>
                    <a:pt x="-3665" y="258479"/>
                    <a:pt x="3082" y="245885"/>
                  </a:cubicBezTo>
                  <a:cubicBezTo>
                    <a:pt x="6455" y="239588"/>
                    <a:pt x="12028" y="235268"/>
                    <a:pt x="18335" y="233364"/>
                  </a:cubicBezTo>
                  <a:close/>
                  <a:moveTo>
                    <a:pt x="291571" y="2196"/>
                  </a:moveTo>
                  <a:cubicBezTo>
                    <a:pt x="298317" y="-733"/>
                    <a:pt x="305943" y="-733"/>
                    <a:pt x="312689" y="2196"/>
                  </a:cubicBezTo>
                  <a:lnTo>
                    <a:pt x="588846" y="125214"/>
                  </a:lnTo>
                  <a:cubicBezTo>
                    <a:pt x="597938" y="129315"/>
                    <a:pt x="603805" y="138102"/>
                    <a:pt x="604245" y="147914"/>
                  </a:cubicBezTo>
                  <a:cubicBezTo>
                    <a:pt x="604538" y="157726"/>
                    <a:pt x="599258" y="166953"/>
                    <a:pt x="590605" y="171639"/>
                  </a:cubicBezTo>
                  <a:lnTo>
                    <a:pt x="314303" y="318676"/>
                  </a:lnTo>
                  <a:cubicBezTo>
                    <a:pt x="310489" y="320726"/>
                    <a:pt x="306383" y="321751"/>
                    <a:pt x="302130" y="321751"/>
                  </a:cubicBezTo>
                  <a:cubicBezTo>
                    <a:pt x="297877" y="321751"/>
                    <a:pt x="293771" y="320726"/>
                    <a:pt x="289957" y="318676"/>
                  </a:cubicBezTo>
                  <a:lnTo>
                    <a:pt x="13654" y="171639"/>
                  </a:lnTo>
                  <a:cubicBezTo>
                    <a:pt x="5002" y="166953"/>
                    <a:pt x="-278" y="157726"/>
                    <a:pt x="15" y="147914"/>
                  </a:cubicBezTo>
                  <a:cubicBezTo>
                    <a:pt x="309" y="138102"/>
                    <a:pt x="6322" y="129315"/>
                    <a:pt x="15414" y="125214"/>
                  </a:cubicBezTo>
                  <a:close/>
                </a:path>
              </a:pathLst>
            </a:custGeom>
            <a:solidFill>
              <a:srgbClr val="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12" name="椭圆 12"/>
            <p:cNvSpPr/>
            <p:nvPr/>
          </p:nvSpPr>
          <p:spPr>
            <a:xfrm>
              <a:off x="5586845" y="4768755"/>
              <a:ext cx="480290" cy="426108"/>
            </a:xfrm>
            <a:custGeom>
              <a:avLst/>
              <a:gdLst>
                <a:gd name="connsiteX0" fmla="*/ 237958 w 609046"/>
                <a:gd name="connsiteY0" fmla="*/ 339603 h 540340"/>
                <a:gd name="connsiteX1" fmla="*/ 302120 w 609046"/>
                <a:gd name="connsiteY1" fmla="*/ 409191 h 540340"/>
                <a:gd name="connsiteX2" fmla="*/ 202098 w 609046"/>
                <a:gd name="connsiteY2" fmla="*/ 525078 h 540340"/>
                <a:gd name="connsiteX3" fmla="*/ 139964 w 609046"/>
                <a:gd name="connsiteY3" fmla="*/ 529681 h 540340"/>
                <a:gd name="connsiteX4" fmla="*/ 135539 w 609046"/>
                <a:gd name="connsiteY4" fmla="*/ 525815 h 540340"/>
                <a:gd name="connsiteX5" fmla="*/ 130837 w 609046"/>
                <a:gd name="connsiteY5" fmla="*/ 463775 h 540340"/>
                <a:gd name="connsiteX6" fmla="*/ 91437 w 609046"/>
                <a:gd name="connsiteY6" fmla="*/ 7458 h 540340"/>
                <a:gd name="connsiteX7" fmla="*/ 200674 w 609046"/>
                <a:gd name="connsiteY7" fmla="*/ 42066 h 540340"/>
                <a:gd name="connsiteX8" fmla="*/ 225932 w 609046"/>
                <a:gd name="connsiteY8" fmla="*/ 154451 h 540340"/>
                <a:gd name="connsiteX9" fmla="*/ 223904 w 609046"/>
                <a:gd name="connsiteY9" fmla="*/ 160434 h 540340"/>
                <a:gd name="connsiteX10" fmla="*/ 221599 w 609046"/>
                <a:gd name="connsiteY10" fmla="*/ 166233 h 540340"/>
                <a:gd name="connsiteX11" fmla="*/ 222798 w 609046"/>
                <a:gd name="connsiteY11" fmla="*/ 167245 h 540340"/>
                <a:gd name="connsiteX12" fmla="*/ 307514 w 609046"/>
                <a:gd name="connsiteY12" fmla="*/ 259104 h 540340"/>
                <a:gd name="connsiteX13" fmla="*/ 371581 w 609046"/>
                <a:gd name="connsiteY13" fmla="*/ 328689 h 540340"/>
                <a:gd name="connsiteX14" fmla="*/ 489483 w 609046"/>
                <a:gd name="connsiteY14" fmla="*/ 456445 h 540340"/>
                <a:gd name="connsiteX15" fmla="*/ 486902 w 609046"/>
                <a:gd name="connsiteY15" fmla="*/ 518667 h 540340"/>
                <a:gd name="connsiteX16" fmla="*/ 482570 w 609046"/>
                <a:gd name="connsiteY16" fmla="*/ 522625 h 540340"/>
                <a:gd name="connsiteX17" fmla="*/ 452702 w 609046"/>
                <a:gd name="connsiteY17" fmla="*/ 534222 h 540340"/>
                <a:gd name="connsiteX18" fmla="*/ 420346 w 609046"/>
                <a:gd name="connsiteY18" fmla="*/ 520047 h 540340"/>
                <a:gd name="connsiteX19" fmla="*/ 309819 w 609046"/>
                <a:gd name="connsiteY19" fmla="*/ 400299 h 540340"/>
                <a:gd name="connsiteX20" fmla="*/ 245751 w 609046"/>
                <a:gd name="connsiteY20" fmla="*/ 330714 h 540340"/>
                <a:gd name="connsiteX21" fmla="*/ 153568 w 609046"/>
                <a:gd name="connsiteY21" fmla="*/ 230847 h 540340"/>
                <a:gd name="connsiteX22" fmla="*/ 152646 w 609046"/>
                <a:gd name="connsiteY22" fmla="*/ 229651 h 540340"/>
                <a:gd name="connsiteX23" fmla="*/ 146747 w 609046"/>
                <a:gd name="connsiteY23" fmla="*/ 231399 h 540340"/>
                <a:gd name="connsiteX24" fmla="*/ 140570 w 609046"/>
                <a:gd name="connsiteY24" fmla="*/ 232964 h 540340"/>
                <a:gd name="connsiteX25" fmla="*/ 30504 w 609046"/>
                <a:gd name="connsiteY25" fmla="*/ 198540 h 540340"/>
                <a:gd name="connsiteX26" fmla="*/ 4969 w 609046"/>
                <a:gd name="connsiteY26" fmla="*/ 86891 h 540340"/>
                <a:gd name="connsiteX27" fmla="*/ 85076 w 609046"/>
                <a:gd name="connsiteY27" fmla="*/ 173780 h 540340"/>
                <a:gd name="connsiteX28" fmla="*/ 149604 w 609046"/>
                <a:gd name="connsiteY28" fmla="*/ 157212 h 540340"/>
                <a:gd name="connsiteX29" fmla="*/ 171544 w 609046"/>
                <a:gd name="connsiteY29" fmla="*/ 94347 h 540340"/>
                <a:gd name="connsiteX30" fmla="*/ 513896 w 609046"/>
                <a:gd name="connsiteY30" fmla="*/ 1796 h 540340"/>
                <a:gd name="connsiteX31" fmla="*/ 436741 w 609046"/>
                <a:gd name="connsiteY31" fmla="*/ 91279 h 540340"/>
                <a:gd name="connsiteX32" fmla="*/ 460708 w 609046"/>
                <a:gd name="connsiteY32" fmla="*/ 153420 h 540340"/>
                <a:gd name="connsiteX33" fmla="*/ 525788 w 609046"/>
                <a:gd name="connsiteY33" fmla="*/ 167966 h 540340"/>
                <a:gd name="connsiteX34" fmla="*/ 602943 w 609046"/>
                <a:gd name="connsiteY34" fmla="*/ 78482 h 540340"/>
                <a:gd name="connsiteX35" fmla="*/ 581097 w 609046"/>
                <a:gd name="connsiteY35" fmla="*/ 190797 h 540340"/>
                <a:gd name="connsiteX36" fmla="*/ 460063 w 609046"/>
                <a:gd name="connsiteY36" fmla="*/ 225964 h 540340"/>
                <a:gd name="connsiteX37" fmla="*/ 459141 w 609046"/>
                <a:gd name="connsiteY37" fmla="*/ 227253 h 540340"/>
                <a:gd name="connsiteX38" fmla="*/ 379312 w 609046"/>
                <a:gd name="connsiteY38" fmla="*/ 319774 h 540340"/>
                <a:gd name="connsiteX39" fmla="*/ 315246 w 609046"/>
                <a:gd name="connsiteY39" fmla="*/ 250176 h 540340"/>
                <a:gd name="connsiteX40" fmla="*/ 387885 w 609046"/>
                <a:gd name="connsiteY40" fmla="*/ 165940 h 540340"/>
                <a:gd name="connsiteX41" fmla="*/ 388991 w 609046"/>
                <a:gd name="connsiteY41" fmla="*/ 164835 h 540340"/>
                <a:gd name="connsiteX42" fmla="*/ 405860 w 609046"/>
                <a:gd name="connsiteY42" fmla="*/ 40001 h 540340"/>
                <a:gd name="connsiteX43" fmla="*/ 513896 w 609046"/>
                <a:gd name="connsiteY43" fmla="*/ 1796 h 540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9046" h="540340">
                  <a:moveTo>
                    <a:pt x="237958" y="339603"/>
                  </a:moveTo>
                  <a:lnTo>
                    <a:pt x="302120" y="409191"/>
                  </a:lnTo>
                  <a:lnTo>
                    <a:pt x="202098" y="525078"/>
                  </a:lnTo>
                  <a:cubicBezTo>
                    <a:pt x="186242" y="543488"/>
                    <a:pt x="158401" y="545513"/>
                    <a:pt x="139964" y="529681"/>
                  </a:cubicBezTo>
                  <a:lnTo>
                    <a:pt x="135539" y="525815"/>
                  </a:lnTo>
                  <a:cubicBezTo>
                    <a:pt x="117102" y="509983"/>
                    <a:pt x="114981" y="482184"/>
                    <a:pt x="130837" y="463775"/>
                  </a:cubicBezTo>
                  <a:close/>
                  <a:moveTo>
                    <a:pt x="91437" y="7458"/>
                  </a:moveTo>
                  <a:cubicBezTo>
                    <a:pt x="130061" y="-734"/>
                    <a:pt x="171913" y="10863"/>
                    <a:pt x="200674" y="42066"/>
                  </a:cubicBezTo>
                  <a:cubicBezTo>
                    <a:pt x="229619" y="73453"/>
                    <a:pt x="237731" y="116437"/>
                    <a:pt x="225932" y="154451"/>
                  </a:cubicBezTo>
                  <a:cubicBezTo>
                    <a:pt x="225287" y="156476"/>
                    <a:pt x="224641" y="158501"/>
                    <a:pt x="223904" y="160434"/>
                  </a:cubicBezTo>
                  <a:cubicBezTo>
                    <a:pt x="223166" y="162367"/>
                    <a:pt x="222429" y="164300"/>
                    <a:pt x="221599" y="166233"/>
                  </a:cubicBezTo>
                  <a:cubicBezTo>
                    <a:pt x="221968" y="166601"/>
                    <a:pt x="222429" y="166877"/>
                    <a:pt x="222798" y="167245"/>
                  </a:cubicBezTo>
                  <a:lnTo>
                    <a:pt x="307514" y="259104"/>
                  </a:lnTo>
                  <a:lnTo>
                    <a:pt x="371581" y="328689"/>
                  </a:lnTo>
                  <a:lnTo>
                    <a:pt x="489483" y="456445"/>
                  </a:lnTo>
                  <a:cubicBezTo>
                    <a:pt x="505984" y="474302"/>
                    <a:pt x="504786" y="502191"/>
                    <a:pt x="486902" y="518667"/>
                  </a:cubicBezTo>
                  <a:lnTo>
                    <a:pt x="482570" y="522625"/>
                  </a:lnTo>
                  <a:cubicBezTo>
                    <a:pt x="474089" y="530448"/>
                    <a:pt x="463396" y="534222"/>
                    <a:pt x="452702" y="534222"/>
                  </a:cubicBezTo>
                  <a:cubicBezTo>
                    <a:pt x="440811" y="534222"/>
                    <a:pt x="429011" y="529436"/>
                    <a:pt x="420346" y="520047"/>
                  </a:cubicBezTo>
                  <a:lnTo>
                    <a:pt x="309819" y="400299"/>
                  </a:lnTo>
                  <a:lnTo>
                    <a:pt x="245751" y="330714"/>
                  </a:lnTo>
                  <a:lnTo>
                    <a:pt x="153568" y="230847"/>
                  </a:lnTo>
                  <a:cubicBezTo>
                    <a:pt x="153292" y="230479"/>
                    <a:pt x="153015" y="230019"/>
                    <a:pt x="152646" y="229651"/>
                  </a:cubicBezTo>
                  <a:cubicBezTo>
                    <a:pt x="150710" y="230295"/>
                    <a:pt x="148682" y="230847"/>
                    <a:pt x="146747" y="231399"/>
                  </a:cubicBezTo>
                  <a:cubicBezTo>
                    <a:pt x="144719" y="231952"/>
                    <a:pt x="142598" y="232504"/>
                    <a:pt x="140570" y="232964"/>
                  </a:cubicBezTo>
                  <a:cubicBezTo>
                    <a:pt x="101669" y="241524"/>
                    <a:pt x="59357" y="229835"/>
                    <a:pt x="30504" y="198540"/>
                  </a:cubicBezTo>
                  <a:cubicBezTo>
                    <a:pt x="1743" y="167337"/>
                    <a:pt x="-6462" y="124721"/>
                    <a:pt x="4969" y="86891"/>
                  </a:cubicBezTo>
                  <a:lnTo>
                    <a:pt x="85076" y="173780"/>
                  </a:lnTo>
                  <a:lnTo>
                    <a:pt x="149604" y="157212"/>
                  </a:lnTo>
                  <a:lnTo>
                    <a:pt x="171544" y="94347"/>
                  </a:lnTo>
                  <a:close/>
                  <a:moveTo>
                    <a:pt x="513896" y="1796"/>
                  </a:moveTo>
                  <a:lnTo>
                    <a:pt x="436741" y="91279"/>
                  </a:lnTo>
                  <a:lnTo>
                    <a:pt x="460708" y="153420"/>
                  </a:lnTo>
                  <a:lnTo>
                    <a:pt x="525788" y="167966"/>
                  </a:lnTo>
                  <a:lnTo>
                    <a:pt x="602943" y="78482"/>
                  </a:lnTo>
                  <a:cubicBezTo>
                    <a:pt x="615572" y="115859"/>
                    <a:pt x="608751" y="158759"/>
                    <a:pt x="581097" y="190797"/>
                  </a:cubicBezTo>
                  <a:cubicBezTo>
                    <a:pt x="550308" y="226516"/>
                    <a:pt x="502466" y="238760"/>
                    <a:pt x="460063" y="225964"/>
                  </a:cubicBezTo>
                  <a:cubicBezTo>
                    <a:pt x="459694" y="226332"/>
                    <a:pt x="459510" y="226792"/>
                    <a:pt x="459141" y="227253"/>
                  </a:cubicBezTo>
                  <a:lnTo>
                    <a:pt x="379312" y="319774"/>
                  </a:lnTo>
                  <a:lnTo>
                    <a:pt x="315246" y="250176"/>
                  </a:lnTo>
                  <a:lnTo>
                    <a:pt x="387885" y="165940"/>
                  </a:lnTo>
                  <a:cubicBezTo>
                    <a:pt x="388254" y="165480"/>
                    <a:pt x="388622" y="165204"/>
                    <a:pt x="388991" y="164835"/>
                  </a:cubicBezTo>
                  <a:cubicBezTo>
                    <a:pt x="370094" y="124789"/>
                    <a:pt x="375072" y="75720"/>
                    <a:pt x="405860" y="40001"/>
                  </a:cubicBezTo>
                  <a:cubicBezTo>
                    <a:pt x="433515" y="7964"/>
                    <a:pt x="474996" y="-5109"/>
                    <a:pt x="513896" y="1796"/>
                  </a:cubicBezTo>
                  <a:close/>
                </a:path>
              </a:pathLst>
            </a:custGeom>
            <a:solidFill>
              <a:srgbClr val="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sp>
          <p:nvSpPr>
            <p:cNvPr id="34" name="椭圆 13"/>
            <p:cNvSpPr/>
            <p:nvPr/>
          </p:nvSpPr>
          <p:spPr>
            <a:xfrm>
              <a:off x="6124865" y="3765349"/>
              <a:ext cx="480289" cy="387085"/>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grpSp>
      <p:sp>
        <p:nvSpPr>
          <p:cNvPr id="13" name="文本框 12"/>
          <p:cNvSpPr txBox="1"/>
          <p:nvPr/>
        </p:nvSpPr>
        <p:spPr>
          <a:xfrm>
            <a:off x="782320" y="1511935"/>
            <a:ext cx="2686685" cy="1337945"/>
          </a:xfrm>
          <a:prstGeom prst="rect">
            <a:avLst/>
          </a:prstGeom>
          <a:noFill/>
          <a:ln w="9525">
            <a:noFill/>
          </a:ln>
        </p:spPr>
        <p:txBody>
          <a:bodyPr wrap="square">
            <a:spAutoFit/>
          </a:bodyPr>
          <a:lstStyle/>
          <a:p>
            <a:pPr marL="285750" indent="-285750">
              <a:lnSpc>
                <a:spcPct val="150000"/>
              </a:lnSpc>
              <a:buFont typeface="Arial" panose="020B0604020202020204" pitchFamily="34" charset="0"/>
              <a:buChar char="•"/>
            </a:pPr>
            <a:r>
              <a:rPr lang="zh-CN" sz="1800" b="0">
                <a:cs typeface="方正书宋简体" charset="0"/>
              </a:rPr>
              <a:t>根据用户提供的信息，对照</a:t>
            </a:r>
            <a:r>
              <a:rPr lang="en-US" sz="1800" b="0">
                <a:latin typeface="Times New Roman" panose="02020603050405020304" pitchFamily="18" charset="0"/>
                <a:cs typeface="方正书宋简体" charset="0"/>
              </a:rPr>
              <a:t>mysql.user</a:t>
            </a:r>
            <a:r>
              <a:rPr lang="zh-CN" sz="1800" b="0">
                <a:cs typeface="方正书宋简体" charset="0"/>
              </a:rPr>
              <a:t>表中记录，验证用户身份。</a:t>
            </a:r>
            <a:endParaRPr lang="zh-CN" altLang="en-US" sz="1800" b="0">
              <a:cs typeface="方正书宋简体" charset="0"/>
            </a:endParaRPr>
          </a:p>
        </p:txBody>
      </p:sp>
      <p:sp>
        <p:nvSpPr>
          <p:cNvPr id="14" name="文本框 13"/>
          <p:cNvSpPr txBox="1"/>
          <p:nvPr/>
        </p:nvSpPr>
        <p:spPr>
          <a:xfrm>
            <a:off x="7699375" y="2058035"/>
            <a:ext cx="4265930" cy="1753235"/>
          </a:xfrm>
          <a:prstGeom prst="rect">
            <a:avLst/>
          </a:prstGeom>
          <a:noFill/>
          <a:ln w="9525">
            <a:noFill/>
          </a:ln>
        </p:spPr>
        <p:txBody>
          <a:bodyPr wrap="square">
            <a:spAutoFit/>
          </a:bodyPr>
          <a:lstStyle/>
          <a:p>
            <a:pPr marL="285750" indent="-285750">
              <a:lnSpc>
                <a:spcPct val="150000"/>
              </a:lnSpc>
              <a:buFont typeface="Arial" panose="020B0604020202020204" pitchFamily="34" charset="0"/>
              <a:buChar char="•"/>
            </a:pPr>
            <a:r>
              <a:rPr sz="1800" b="0">
                <a:cs typeface="方正书宋简体" charset="0"/>
              </a:rPr>
              <a:t>用户通过登录验证后，MySQL将对用户提交的每项数据库操作进行权限检查，判断用户是否具有足够的权限执行相应操作。</a:t>
            </a:r>
          </a:p>
        </p:txBody>
      </p:sp>
      <p:graphicFrame>
        <p:nvGraphicFramePr>
          <p:cNvPr id="2" name="对象 38"/>
          <p:cNvGraphicFramePr/>
          <p:nvPr/>
        </p:nvGraphicFramePr>
        <p:xfrm>
          <a:off x="4859655" y="3886835"/>
          <a:ext cx="7105650" cy="2760980"/>
        </p:xfrm>
        <a:graphic>
          <a:graphicData uri="http://schemas.openxmlformats.org/presentationml/2006/ole">
            <mc:AlternateContent xmlns:mc="http://schemas.openxmlformats.org/markup-compatibility/2006">
              <mc:Choice xmlns:v="urn:schemas-microsoft-com:vml" Requires="v">
                <p:oleObj r:id="rId4" imgW="6104890" imgH="2393315" progId="Visio.Drawing.11">
                  <p:embed/>
                </p:oleObj>
              </mc:Choice>
              <mc:Fallback>
                <p:oleObj r:id="rId4" imgW="6104890" imgH="2393315" progId="Visio.Drawing.11">
                  <p:embed/>
                  <p:pic>
                    <p:nvPicPr>
                      <p:cNvPr id="0" name="图片 3075"/>
                      <p:cNvPicPr/>
                      <p:nvPr/>
                    </p:nvPicPr>
                    <p:blipFill>
                      <a:blip r:embed="rId5"/>
                      <a:stretch>
                        <a:fillRect/>
                      </a:stretch>
                    </p:blipFill>
                    <p:spPr>
                      <a:xfrm>
                        <a:off x="4859655" y="3886835"/>
                        <a:ext cx="7105650" cy="2760980"/>
                      </a:xfrm>
                      <a:prstGeom prst="rect">
                        <a:avLst/>
                      </a:prstGeom>
                      <a:noFill/>
                      <a:ln w="38100">
                        <a:noFill/>
                        <a:miter/>
                      </a:ln>
                    </p:spPr>
                  </p:pic>
                </p:oleObj>
              </mc:Fallback>
            </mc:AlternateContent>
          </a:graphicData>
        </a:graphic>
      </p:graphicFrame>
      <p:sp>
        <p:nvSpPr>
          <p:cNvPr id="15" name="内容占位符 4"/>
          <p:cNvSpPr>
            <a:spLocks noGrp="1"/>
          </p:cNvSpPr>
          <p:nvPr/>
        </p:nvSpPr>
        <p:spPr>
          <a:xfrm>
            <a:off x="1216660" y="2999740"/>
            <a:ext cx="178625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用户名</a:t>
            </a:r>
          </a:p>
        </p:txBody>
      </p:sp>
      <p:sp>
        <p:nvSpPr>
          <p:cNvPr id="16" name="内容占位符 4"/>
          <p:cNvSpPr>
            <a:spLocks noGrp="1"/>
          </p:cNvSpPr>
          <p:nvPr/>
        </p:nvSpPr>
        <p:spPr>
          <a:xfrm>
            <a:off x="1232535" y="3658235"/>
            <a:ext cx="178625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密码</a:t>
            </a:r>
          </a:p>
        </p:txBody>
      </p:sp>
      <p:sp>
        <p:nvSpPr>
          <p:cNvPr id="17" name="内容占位符 4"/>
          <p:cNvSpPr>
            <a:spLocks noGrp="1"/>
          </p:cNvSpPr>
          <p:nvPr/>
        </p:nvSpPr>
        <p:spPr>
          <a:xfrm>
            <a:off x="1232535" y="4344035"/>
            <a:ext cx="178625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地址信息</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8.3  </a:t>
            </a:r>
            <a:r>
              <a:rPr lang="en-US" altLang="zh-CN" dirty="0">
                <a:sym typeface="+mn-ea"/>
              </a:rPr>
              <a:t>MySQL</a:t>
            </a:r>
            <a:r>
              <a:rPr lang="zh-CN" altLang="en-US" dirty="0">
                <a:sym typeface="+mn-ea"/>
              </a:rPr>
              <a:t>权限系统</a:t>
            </a:r>
            <a:endParaRPr lang="zh-CN" altLang="en-US" dirty="0"/>
          </a:p>
        </p:txBody>
      </p:sp>
      <p:sp>
        <p:nvSpPr>
          <p:cNvPr id="5" name="内容占位符 4"/>
          <p:cNvSpPr>
            <a:spLocks noGrp="1"/>
          </p:cNvSpPr>
          <p:nvPr>
            <p:ph idx="1"/>
          </p:nvPr>
        </p:nvSpPr>
        <p:spPr>
          <a:xfrm>
            <a:off x="155575" y="835660"/>
            <a:ext cx="2847340" cy="765175"/>
          </a:xfrm>
        </p:spPr>
        <p:txBody>
          <a:bodyPr>
            <a:noAutofit/>
          </a:bodyPr>
          <a:lstStyle/>
          <a:p>
            <a:pPr marL="0" indent="0" algn="ctr">
              <a:lnSpc>
                <a:spcPct val="150000"/>
              </a:lnSpc>
              <a:buNone/>
            </a:pPr>
            <a:r>
              <a:rPr dirty="0"/>
              <a:t>权限管理的相关表</a:t>
            </a:r>
          </a:p>
        </p:txBody>
      </p:sp>
      <p:sp>
        <p:nvSpPr>
          <p:cNvPr id="3" name="Freeform 5"/>
          <p:cNvSpPr/>
          <p:nvPr/>
        </p:nvSpPr>
        <p:spPr bwMode="auto">
          <a:xfrm>
            <a:off x="5639179" y="2273697"/>
            <a:ext cx="642135" cy="2329604"/>
          </a:xfrm>
          <a:custGeom>
            <a:avLst/>
            <a:gdLst>
              <a:gd name="T0" fmla="*/ 236 w 473"/>
              <a:gd name="T1" fmla="*/ 0 h 1716"/>
              <a:gd name="T2" fmla="*/ 0 w 473"/>
              <a:gd name="T3" fmla="*/ 409 h 1716"/>
              <a:gd name="T4" fmla="*/ 75 w 473"/>
              <a:gd name="T5" fmla="*/ 409 h 1716"/>
              <a:gd name="T6" fmla="*/ 75 w 473"/>
              <a:gd name="T7" fmla="*/ 1716 h 1716"/>
              <a:gd name="T8" fmla="*/ 398 w 473"/>
              <a:gd name="T9" fmla="*/ 1716 h 1716"/>
              <a:gd name="T10" fmla="*/ 398 w 473"/>
              <a:gd name="T11" fmla="*/ 409 h 1716"/>
              <a:gd name="T12" fmla="*/ 473 w 473"/>
              <a:gd name="T13" fmla="*/ 409 h 1716"/>
              <a:gd name="T14" fmla="*/ 236 w 473"/>
              <a:gd name="T15" fmla="*/ 0 h 17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3" h="1716">
                <a:moveTo>
                  <a:pt x="236" y="0"/>
                </a:moveTo>
                <a:lnTo>
                  <a:pt x="0" y="409"/>
                </a:lnTo>
                <a:lnTo>
                  <a:pt x="75" y="409"/>
                </a:lnTo>
                <a:lnTo>
                  <a:pt x="75" y="1716"/>
                </a:lnTo>
                <a:lnTo>
                  <a:pt x="398" y="1716"/>
                </a:lnTo>
                <a:lnTo>
                  <a:pt x="398" y="409"/>
                </a:lnTo>
                <a:lnTo>
                  <a:pt x="473" y="409"/>
                </a:lnTo>
                <a:lnTo>
                  <a:pt x="236" y="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6" name="Freeform 6"/>
          <p:cNvSpPr/>
          <p:nvPr/>
        </p:nvSpPr>
        <p:spPr bwMode="auto">
          <a:xfrm>
            <a:off x="5969071" y="3070595"/>
            <a:ext cx="1804222" cy="1804222"/>
          </a:xfrm>
          <a:custGeom>
            <a:avLst/>
            <a:gdLst>
              <a:gd name="T0" fmla="*/ 1329 w 1329"/>
              <a:gd name="T1" fmla="*/ 0 h 1329"/>
              <a:gd name="T2" fmla="*/ 872 w 1329"/>
              <a:gd name="T3" fmla="*/ 123 h 1329"/>
              <a:gd name="T4" fmla="*/ 925 w 1329"/>
              <a:gd name="T5" fmla="*/ 175 h 1329"/>
              <a:gd name="T6" fmla="*/ 0 w 1329"/>
              <a:gd name="T7" fmla="*/ 1098 h 1329"/>
              <a:gd name="T8" fmla="*/ 231 w 1329"/>
              <a:gd name="T9" fmla="*/ 1329 h 1329"/>
              <a:gd name="T10" fmla="*/ 1154 w 1329"/>
              <a:gd name="T11" fmla="*/ 404 h 1329"/>
              <a:gd name="T12" fmla="*/ 1206 w 1329"/>
              <a:gd name="T13" fmla="*/ 457 h 1329"/>
              <a:gd name="T14" fmla="*/ 1329 w 1329"/>
              <a:gd name="T15" fmla="*/ 0 h 1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9" h="1329">
                <a:moveTo>
                  <a:pt x="1329" y="0"/>
                </a:moveTo>
                <a:lnTo>
                  <a:pt x="872" y="123"/>
                </a:lnTo>
                <a:lnTo>
                  <a:pt x="925" y="175"/>
                </a:lnTo>
                <a:lnTo>
                  <a:pt x="0" y="1098"/>
                </a:lnTo>
                <a:lnTo>
                  <a:pt x="231" y="1329"/>
                </a:lnTo>
                <a:lnTo>
                  <a:pt x="1154" y="404"/>
                </a:lnTo>
                <a:lnTo>
                  <a:pt x="1206" y="457"/>
                </a:lnTo>
                <a:lnTo>
                  <a:pt x="1329" y="0"/>
                </a:ln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9" name="Freeform 7"/>
          <p:cNvSpPr/>
          <p:nvPr/>
        </p:nvSpPr>
        <p:spPr bwMode="auto">
          <a:xfrm>
            <a:off x="6091253" y="4420889"/>
            <a:ext cx="2329604" cy="642135"/>
          </a:xfrm>
          <a:custGeom>
            <a:avLst/>
            <a:gdLst>
              <a:gd name="T0" fmla="*/ 1716 w 1716"/>
              <a:gd name="T1" fmla="*/ 236 h 473"/>
              <a:gd name="T2" fmla="*/ 1307 w 1716"/>
              <a:gd name="T3" fmla="*/ 0 h 473"/>
              <a:gd name="T4" fmla="*/ 1307 w 1716"/>
              <a:gd name="T5" fmla="*/ 75 h 473"/>
              <a:gd name="T6" fmla="*/ 0 w 1716"/>
              <a:gd name="T7" fmla="*/ 75 h 473"/>
              <a:gd name="T8" fmla="*/ 0 w 1716"/>
              <a:gd name="T9" fmla="*/ 398 h 473"/>
              <a:gd name="T10" fmla="*/ 1307 w 1716"/>
              <a:gd name="T11" fmla="*/ 398 h 473"/>
              <a:gd name="T12" fmla="*/ 1307 w 1716"/>
              <a:gd name="T13" fmla="*/ 473 h 473"/>
              <a:gd name="T14" fmla="*/ 1716 w 1716"/>
              <a:gd name="T15" fmla="*/ 236 h 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6" h="473">
                <a:moveTo>
                  <a:pt x="1716" y="236"/>
                </a:moveTo>
                <a:lnTo>
                  <a:pt x="1307" y="0"/>
                </a:lnTo>
                <a:lnTo>
                  <a:pt x="1307" y="75"/>
                </a:lnTo>
                <a:lnTo>
                  <a:pt x="0" y="75"/>
                </a:lnTo>
                <a:lnTo>
                  <a:pt x="0" y="398"/>
                </a:lnTo>
                <a:lnTo>
                  <a:pt x="1307" y="398"/>
                </a:lnTo>
                <a:lnTo>
                  <a:pt x="1307" y="473"/>
                </a:lnTo>
                <a:lnTo>
                  <a:pt x="1716" y="236"/>
                </a:ln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10" name="Freeform 8"/>
          <p:cNvSpPr/>
          <p:nvPr/>
        </p:nvSpPr>
        <p:spPr bwMode="auto">
          <a:xfrm>
            <a:off x="3503709" y="4420889"/>
            <a:ext cx="2328247" cy="642135"/>
          </a:xfrm>
          <a:custGeom>
            <a:avLst/>
            <a:gdLst>
              <a:gd name="T0" fmla="*/ 0 w 1715"/>
              <a:gd name="T1" fmla="*/ 236 h 473"/>
              <a:gd name="T2" fmla="*/ 409 w 1715"/>
              <a:gd name="T3" fmla="*/ 0 h 473"/>
              <a:gd name="T4" fmla="*/ 409 w 1715"/>
              <a:gd name="T5" fmla="*/ 75 h 473"/>
              <a:gd name="T6" fmla="*/ 1715 w 1715"/>
              <a:gd name="T7" fmla="*/ 75 h 473"/>
              <a:gd name="T8" fmla="*/ 1715 w 1715"/>
              <a:gd name="T9" fmla="*/ 398 h 473"/>
              <a:gd name="T10" fmla="*/ 409 w 1715"/>
              <a:gd name="T11" fmla="*/ 398 h 473"/>
              <a:gd name="T12" fmla="*/ 409 w 1715"/>
              <a:gd name="T13" fmla="*/ 473 h 473"/>
              <a:gd name="T14" fmla="*/ 0 w 1715"/>
              <a:gd name="T15" fmla="*/ 236 h 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5" h="473">
                <a:moveTo>
                  <a:pt x="0" y="236"/>
                </a:moveTo>
                <a:lnTo>
                  <a:pt x="409" y="0"/>
                </a:lnTo>
                <a:lnTo>
                  <a:pt x="409" y="75"/>
                </a:lnTo>
                <a:lnTo>
                  <a:pt x="1715" y="75"/>
                </a:lnTo>
                <a:lnTo>
                  <a:pt x="1715" y="398"/>
                </a:lnTo>
                <a:lnTo>
                  <a:pt x="409" y="398"/>
                </a:lnTo>
                <a:lnTo>
                  <a:pt x="409" y="473"/>
                </a:lnTo>
                <a:lnTo>
                  <a:pt x="0" y="236"/>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1" name="Freeform 9"/>
          <p:cNvSpPr/>
          <p:nvPr/>
        </p:nvSpPr>
        <p:spPr bwMode="auto">
          <a:xfrm>
            <a:off x="4139056" y="3070595"/>
            <a:ext cx="1804222" cy="1804222"/>
          </a:xfrm>
          <a:custGeom>
            <a:avLst/>
            <a:gdLst>
              <a:gd name="T0" fmla="*/ 0 w 1329"/>
              <a:gd name="T1" fmla="*/ 0 h 1329"/>
              <a:gd name="T2" fmla="*/ 458 w 1329"/>
              <a:gd name="T3" fmla="*/ 123 h 1329"/>
              <a:gd name="T4" fmla="*/ 405 w 1329"/>
              <a:gd name="T5" fmla="*/ 175 h 1329"/>
              <a:gd name="T6" fmla="*/ 1329 w 1329"/>
              <a:gd name="T7" fmla="*/ 1098 h 1329"/>
              <a:gd name="T8" fmla="*/ 1100 w 1329"/>
              <a:gd name="T9" fmla="*/ 1329 h 1329"/>
              <a:gd name="T10" fmla="*/ 175 w 1329"/>
              <a:gd name="T11" fmla="*/ 404 h 1329"/>
              <a:gd name="T12" fmla="*/ 124 w 1329"/>
              <a:gd name="T13" fmla="*/ 457 h 1329"/>
              <a:gd name="T14" fmla="*/ 0 w 1329"/>
              <a:gd name="T15" fmla="*/ 0 h 13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9" h="1329">
                <a:moveTo>
                  <a:pt x="0" y="0"/>
                </a:moveTo>
                <a:lnTo>
                  <a:pt x="458" y="123"/>
                </a:lnTo>
                <a:lnTo>
                  <a:pt x="405" y="175"/>
                </a:lnTo>
                <a:lnTo>
                  <a:pt x="1329" y="1098"/>
                </a:lnTo>
                <a:lnTo>
                  <a:pt x="1100" y="1329"/>
                </a:lnTo>
                <a:lnTo>
                  <a:pt x="175" y="404"/>
                </a:lnTo>
                <a:lnTo>
                  <a:pt x="124" y="457"/>
                </a:lnTo>
                <a:lnTo>
                  <a:pt x="0" y="0"/>
                </a:lnTo>
                <a:close/>
              </a:path>
            </a:pathLst>
          </a:custGeom>
          <a:solidFill>
            <a:schemeClr val="accent2"/>
          </a:solidFill>
          <a:ln>
            <a:noFill/>
          </a:ln>
        </p:spPr>
        <p:txBody>
          <a:bodyPr vert="horz" wrap="square" lIns="91440" tIns="45720" rIns="91440" bIns="45720" numCol="1" anchor="t" anchorCtr="0" compatLnSpc="1"/>
          <a:lstStyle/>
          <a:p>
            <a:endParaRPr lang="en-US"/>
          </a:p>
        </p:txBody>
      </p:sp>
      <p:grpSp>
        <p:nvGrpSpPr>
          <p:cNvPr id="18" name="Group 3"/>
          <p:cNvGrpSpPr/>
          <p:nvPr/>
        </p:nvGrpSpPr>
        <p:grpSpPr>
          <a:xfrm>
            <a:off x="4498813" y="3276947"/>
            <a:ext cx="2922866" cy="2922866"/>
            <a:chOff x="4632531" y="3441650"/>
            <a:chExt cx="2922866" cy="2922866"/>
          </a:xfrm>
        </p:grpSpPr>
        <p:sp>
          <p:nvSpPr>
            <p:cNvPr id="19" name="Oval 10"/>
            <p:cNvSpPr>
              <a:spLocks noChangeArrowheads="1"/>
            </p:cNvSpPr>
            <p:nvPr/>
          </p:nvSpPr>
          <p:spPr bwMode="auto">
            <a:xfrm>
              <a:off x="4632531" y="3441650"/>
              <a:ext cx="2922866" cy="2922866"/>
            </a:xfrm>
            <a:prstGeom prst="ellipse">
              <a:avLst/>
            </a:pr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20" name="Freeform 11"/>
            <p:cNvSpPr>
              <a:spLocks noEditPoints="1"/>
            </p:cNvSpPr>
            <p:nvPr/>
          </p:nvSpPr>
          <p:spPr bwMode="auto">
            <a:xfrm>
              <a:off x="4750641" y="3559760"/>
              <a:ext cx="2686648" cy="2686648"/>
            </a:xfrm>
            <a:custGeom>
              <a:avLst/>
              <a:gdLst>
                <a:gd name="T0" fmla="*/ 820 w 1640"/>
                <a:gd name="T1" fmla="*/ 1640 h 1640"/>
                <a:gd name="T2" fmla="*/ 0 w 1640"/>
                <a:gd name="T3" fmla="*/ 820 h 1640"/>
                <a:gd name="T4" fmla="*/ 820 w 1640"/>
                <a:gd name="T5" fmla="*/ 0 h 1640"/>
                <a:gd name="T6" fmla="*/ 1640 w 1640"/>
                <a:gd name="T7" fmla="*/ 820 h 1640"/>
                <a:gd name="T8" fmla="*/ 820 w 1640"/>
                <a:gd name="T9" fmla="*/ 1640 h 1640"/>
                <a:gd name="T10" fmla="*/ 820 w 1640"/>
                <a:gd name="T11" fmla="*/ 29 h 1640"/>
                <a:gd name="T12" fmla="*/ 29 w 1640"/>
                <a:gd name="T13" fmla="*/ 820 h 1640"/>
                <a:gd name="T14" fmla="*/ 820 w 1640"/>
                <a:gd name="T15" fmla="*/ 1611 h 1640"/>
                <a:gd name="T16" fmla="*/ 1611 w 1640"/>
                <a:gd name="T17" fmla="*/ 820 h 1640"/>
                <a:gd name="T18" fmla="*/ 820 w 1640"/>
                <a:gd name="T19" fmla="*/ 29 h 1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0" h="1640">
                  <a:moveTo>
                    <a:pt x="820" y="1640"/>
                  </a:moveTo>
                  <a:cubicBezTo>
                    <a:pt x="368" y="1640"/>
                    <a:pt x="0" y="1272"/>
                    <a:pt x="0" y="820"/>
                  </a:cubicBezTo>
                  <a:cubicBezTo>
                    <a:pt x="0" y="368"/>
                    <a:pt x="368" y="0"/>
                    <a:pt x="820" y="0"/>
                  </a:cubicBezTo>
                  <a:cubicBezTo>
                    <a:pt x="1272" y="0"/>
                    <a:pt x="1640" y="368"/>
                    <a:pt x="1640" y="820"/>
                  </a:cubicBezTo>
                  <a:cubicBezTo>
                    <a:pt x="1640" y="1272"/>
                    <a:pt x="1272" y="1640"/>
                    <a:pt x="820" y="1640"/>
                  </a:cubicBezTo>
                  <a:close/>
                  <a:moveTo>
                    <a:pt x="820" y="29"/>
                  </a:moveTo>
                  <a:cubicBezTo>
                    <a:pt x="384" y="29"/>
                    <a:pt x="29" y="384"/>
                    <a:pt x="29" y="820"/>
                  </a:cubicBezTo>
                  <a:cubicBezTo>
                    <a:pt x="29" y="1256"/>
                    <a:pt x="384" y="1611"/>
                    <a:pt x="820" y="1611"/>
                  </a:cubicBezTo>
                  <a:cubicBezTo>
                    <a:pt x="1256" y="1611"/>
                    <a:pt x="1611" y="1256"/>
                    <a:pt x="1611" y="820"/>
                  </a:cubicBezTo>
                  <a:cubicBezTo>
                    <a:pt x="1611" y="384"/>
                    <a:pt x="1256" y="29"/>
                    <a:pt x="820" y="29"/>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en-US"/>
            </a:p>
          </p:txBody>
        </p:sp>
      </p:grpSp>
      <p:sp>
        <p:nvSpPr>
          <p:cNvPr id="23" name="Inhaltsplatzhalter 4"/>
          <p:cNvSpPr txBox="1"/>
          <p:nvPr/>
        </p:nvSpPr>
        <p:spPr>
          <a:xfrm>
            <a:off x="384211" y="4388261"/>
            <a:ext cx="2929288" cy="707390"/>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algn="r">
              <a:lnSpc>
                <a:spcPct val="100000"/>
              </a:lnSpc>
              <a:spcAft>
                <a:spcPts val="1200"/>
              </a:spcAft>
              <a:buClrTx/>
              <a:buSzTx/>
              <a:buNone/>
            </a:pPr>
            <a:r>
              <a:rPr lang="en-US" sz="1600" b="1" dirty="0">
                <a:solidFill>
                  <a:schemeClr val="accent2"/>
                </a:solidFill>
                <a:latin typeface="+mj-lt"/>
                <a:sym typeface="+mn-ea"/>
              </a:rPr>
              <a:t>全局权限表mysql.user</a:t>
            </a:r>
          </a:p>
        </p:txBody>
      </p:sp>
      <p:sp>
        <p:nvSpPr>
          <p:cNvPr id="25" name="Inhaltsplatzhalter 4"/>
          <p:cNvSpPr txBox="1"/>
          <p:nvPr/>
        </p:nvSpPr>
        <p:spPr>
          <a:xfrm>
            <a:off x="3965690" y="1524670"/>
            <a:ext cx="3821734" cy="707390"/>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algn="ctr">
              <a:lnSpc>
                <a:spcPct val="100000"/>
              </a:lnSpc>
              <a:spcAft>
                <a:spcPts val="1200"/>
              </a:spcAft>
              <a:buClrTx/>
              <a:buSzTx/>
              <a:buNone/>
            </a:pPr>
            <a:r>
              <a:rPr lang="en-US" sz="1600" b="1" dirty="0">
                <a:solidFill>
                  <a:schemeClr val="accent2"/>
                </a:solidFill>
                <a:latin typeface="+mj-lt"/>
                <a:sym typeface="+mn-ea"/>
              </a:rPr>
              <a:t>表级权限表mysql.tables_priv</a:t>
            </a:r>
          </a:p>
        </p:txBody>
      </p:sp>
      <p:sp>
        <p:nvSpPr>
          <p:cNvPr id="26" name="Inhaltsplatzhalter 4"/>
          <p:cNvSpPr txBox="1"/>
          <p:nvPr/>
        </p:nvSpPr>
        <p:spPr>
          <a:xfrm>
            <a:off x="8569029" y="4496211"/>
            <a:ext cx="2970055" cy="661670"/>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algn="l">
              <a:lnSpc>
                <a:spcPct val="100000"/>
              </a:lnSpc>
              <a:spcAft>
                <a:spcPts val="1200"/>
              </a:spcAft>
              <a:buClrTx/>
              <a:buSzTx/>
              <a:buNone/>
            </a:pPr>
            <a:r>
              <a:rPr lang="en-US" sz="1600" b="1" dirty="0">
                <a:solidFill>
                  <a:schemeClr val="accent2"/>
                </a:solidFill>
                <a:latin typeface="+mj-lt"/>
                <a:sym typeface="+mn-ea"/>
              </a:rPr>
              <a:t>存储过程或函数级权限表mysql.procs_priv</a:t>
            </a:r>
            <a:br>
              <a:rPr lang="en-US" sz="1600" b="1" dirty="0">
                <a:solidFill>
                  <a:schemeClr val="accent2"/>
                </a:solidFill>
                <a:latin typeface="+mj-lt"/>
                <a:sym typeface="+mn-ea"/>
              </a:rPr>
            </a:br>
            <a:r>
              <a:rPr lang="en-US" sz="1600" b="1" dirty="0">
                <a:solidFill>
                  <a:schemeClr val="accent2"/>
                </a:solidFill>
                <a:latin typeface="+mj-lt"/>
                <a:sym typeface="+mn-ea"/>
              </a:rPr>
              <a:t> </a:t>
            </a:r>
          </a:p>
        </p:txBody>
      </p:sp>
      <p:sp>
        <p:nvSpPr>
          <p:cNvPr id="27" name="Inhaltsplatzhalter 4"/>
          <p:cNvSpPr txBox="1"/>
          <p:nvPr/>
        </p:nvSpPr>
        <p:spPr>
          <a:xfrm>
            <a:off x="663825" y="2844004"/>
            <a:ext cx="3264805" cy="415290"/>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en-US" sz="1600" b="1" dirty="0">
                <a:solidFill>
                  <a:schemeClr val="accent2"/>
                </a:solidFill>
                <a:latin typeface="+mj-lt"/>
              </a:rPr>
              <a:t>数据库级权限表mysql.db</a:t>
            </a:r>
            <a:br>
              <a:rPr lang="en-US" sz="1400" b="1" dirty="0">
                <a:solidFill>
                  <a:schemeClr val="bg1">
                    <a:lumMod val="50000"/>
                  </a:schemeClr>
                </a:solidFill>
                <a:latin typeface="+mj-lt"/>
              </a:rPr>
            </a:br>
            <a:endParaRPr lang="en-US" sz="1100" dirty="0">
              <a:solidFill>
                <a:schemeClr val="bg1">
                  <a:lumMod val="50000"/>
                </a:schemeClr>
              </a:solidFill>
              <a:latin typeface="+mn-lt"/>
            </a:endParaRPr>
          </a:p>
        </p:txBody>
      </p:sp>
      <p:sp>
        <p:nvSpPr>
          <p:cNvPr id="28" name="Inhaltsplatzhalter 4"/>
          <p:cNvSpPr txBox="1"/>
          <p:nvPr/>
        </p:nvSpPr>
        <p:spPr>
          <a:xfrm>
            <a:off x="7991863" y="2697954"/>
            <a:ext cx="3264805" cy="707390"/>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algn="ctr">
              <a:lnSpc>
                <a:spcPct val="100000"/>
              </a:lnSpc>
              <a:spcAft>
                <a:spcPts val="1200"/>
              </a:spcAft>
              <a:buClrTx/>
              <a:buSzTx/>
              <a:buNone/>
            </a:pPr>
            <a:r>
              <a:rPr lang="en-US" sz="1600" b="1" dirty="0">
                <a:solidFill>
                  <a:schemeClr val="accent2"/>
                </a:solidFill>
                <a:latin typeface="+mj-lt"/>
                <a:sym typeface="+mn-ea"/>
              </a:rPr>
              <a:t>字段级权限表mysql.columns_priv</a:t>
            </a:r>
          </a:p>
        </p:txBody>
      </p:sp>
      <p:grpSp>
        <p:nvGrpSpPr>
          <p:cNvPr id="29" name="Group 46"/>
          <p:cNvGrpSpPr/>
          <p:nvPr/>
        </p:nvGrpSpPr>
        <p:grpSpPr>
          <a:xfrm>
            <a:off x="4395405" y="3334293"/>
            <a:ext cx="278238" cy="232020"/>
            <a:chOff x="10987088" y="1993900"/>
            <a:chExt cx="477837" cy="398463"/>
          </a:xfrm>
          <a:solidFill>
            <a:schemeClr val="bg1"/>
          </a:solidFill>
        </p:grpSpPr>
        <p:sp>
          <p:nvSpPr>
            <p:cNvPr id="30" name="Freeform 107"/>
            <p:cNvSpPr/>
            <p:nvPr/>
          </p:nvSpPr>
          <p:spPr bwMode="auto">
            <a:xfrm>
              <a:off x="10987088" y="1993900"/>
              <a:ext cx="396875" cy="398463"/>
            </a:xfrm>
            <a:custGeom>
              <a:avLst/>
              <a:gdLst>
                <a:gd name="T0" fmla="*/ 0 w 2745"/>
                <a:gd name="T1" fmla="*/ 0 h 2770"/>
                <a:gd name="T2" fmla="*/ 371 w 2745"/>
                <a:gd name="T3" fmla="*/ 0 h 2770"/>
                <a:gd name="T4" fmla="*/ 371 w 2745"/>
                <a:gd name="T5" fmla="*/ 2398 h 2770"/>
                <a:gd name="T6" fmla="*/ 2745 w 2745"/>
                <a:gd name="T7" fmla="*/ 2398 h 2770"/>
                <a:gd name="T8" fmla="*/ 2745 w 2745"/>
                <a:gd name="T9" fmla="*/ 2770 h 2770"/>
                <a:gd name="T10" fmla="*/ 0 w 2745"/>
                <a:gd name="T11" fmla="*/ 2770 h 2770"/>
                <a:gd name="T12" fmla="*/ 0 w 2745"/>
                <a:gd name="T13" fmla="*/ 0 h 2770"/>
              </a:gdLst>
              <a:ahLst/>
              <a:cxnLst>
                <a:cxn ang="0">
                  <a:pos x="T0" y="T1"/>
                </a:cxn>
                <a:cxn ang="0">
                  <a:pos x="T2" y="T3"/>
                </a:cxn>
                <a:cxn ang="0">
                  <a:pos x="T4" y="T5"/>
                </a:cxn>
                <a:cxn ang="0">
                  <a:pos x="T6" y="T7"/>
                </a:cxn>
                <a:cxn ang="0">
                  <a:pos x="T8" y="T9"/>
                </a:cxn>
                <a:cxn ang="0">
                  <a:pos x="T10" y="T11"/>
                </a:cxn>
                <a:cxn ang="0">
                  <a:pos x="T12" y="T13"/>
                </a:cxn>
              </a:cxnLst>
              <a:rect l="0" t="0" r="r" b="b"/>
              <a:pathLst>
                <a:path w="2745" h="2770">
                  <a:moveTo>
                    <a:pt x="0" y="0"/>
                  </a:moveTo>
                  <a:lnTo>
                    <a:pt x="371" y="0"/>
                  </a:lnTo>
                  <a:lnTo>
                    <a:pt x="371" y="2398"/>
                  </a:lnTo>
                  <a:lnTo>
                    <a:pt x="2745" y="2398"/>
                  </a:lnTo>
                  <a:lnTo>
                    <a:pt x="2745" y="2770"/>
                  </a:lnTo>
                  <a:lnTo>
                    <a:pt x="0" y="2770"/>
                  </a:lnTo>
                  <a:lnTo>
                    <a:pt x="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3" name="Freeform 108"/>
            <p:cNvSpPr/>
            <p:nvPr/>
          </p:nvSpPr>
          <p:spPr bwMode="auto">
            <a:xfrm>
              <a:off x="11066463" y="2047875"/>
              <a:ext cx="398462" cy="249238"/>
            </a:xfrm>
            <a:custGeom>
              <a:avLst/>
              <a:gdLst>
                <a:gd name="T0" fmla="*/ 2761 w 2761"/>
                <a:gd name="T1" fmla="*/ 0 h 1725"/>
                <a:gd name="T2" fmla="*/ 2559 w 2761"/>
                <a:gd name="T3" fmla="*/ 1146 h 1725"/>
                <a:gd name="T4" fmla="*/ 2274 w 2761"/>
                <a:gd name="T5" fmla="*/ 861 h 1725"/>
                <a:gd name="T6" fmla="*/ 1411 w 2761"/>
                <a:gd name="T7" fmla="*/ 1725 h 1725"/>
                <a:gd name="T8" fmla="*/ 864 w 2761"/>
                <a:gd name="T9" fmla="*/ 1177 h 1725"/>
                <a:gd name="T10" fmla="*/ 349 w 2761"/>
                <a:gd name="T11" fmla="*/ 1693 h 1725"/>
                <a:gd name="T12" fmla="*/ 0 w 2761"/>
                <a:gd name="T13" fmla="*/ 1341 h 1725"/>
                <a:gd name="T14" fmla="*/ 864 w 2761"/>
                <a:gd name="T15" fmla="*/ 476 h 1725"/>
                <a:gd name="T16" fmla="*/ 1411 w 2761"/>
                <a:gd name="T17" fmla="*/ 1025 h 1725"/>
                <a:gd name="T18" fmla="*/ 1924 w 2761"/>
                <a:gd name="T19" fmla="*/ 509 h 1725"/>
                <a:gd name="T20" fmla="*/ 1618 w 2761"/>
                <a:gd name="T21" fmla="*/ 202 h 1725"/>
                <a:gd name="T22" fmla="*/ 2761 w 2761"/>
                <a:gd name="T23" fmla="*/ 0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61" h="1725">
                  <a:moveTo>
                    <a:pt x="2761" y="0"/>
                  </a:moveTo>
                  <a:lnTo>
                    <a:pt x="2559" y="1146"/>
                  </a:lnTo>
                  <a:lnTo>
                    <a:pt x="2274" y="861"/>
                  </a:lnTo>
                  <a:lnTo>
                    <a:pt x="1411" y="1725"/>
                  </a:lnTo>
                  <a:lnTo>
                    <a:pt x="864" y="1177"/>
                  </a:lnTo>
                  <a:lnTo>
                    <a:pt x="349" y="1693"/>
                  </a:lnTo>
                  <a:lnTo>
                    <a:pt x="0" y="1341"/>
                  </a:lnTo>
                  <a:lnTo>
                    <a:pt x="864" y="476"/>
                  </a:lnTo>
                  <a:lnTo>
                    <a:pt x="1411" y="1025"/>
                  </a:lnTo>
                  <a:lnTo>
                    <a:pt x="1924" y="509"/>
                  </a:lnTo>
                  <a:lnTo>
                    <a:pt x="1618" y="202"/>
                  </a:lnTo>
                  <a:lnTo>
                    <a:pt x="2761"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35" name="Group 49"/>
          <p:cNvGrpSpPr/>
          <p:nvPr/>
        </p:nvGrpSpPr>
        <p:grpSpPr>
          <a:xfrm>
            <a:off x="7785364" y="4608145"/>
            <a:ext cx="258231" cy="227279"/>
            <a:chOff x="10059988" y="2759075"/>
            <a:chExt cx="463550" cy="407988"/>
          </a:xfrm>
          <a:solidFill>
            <a:schemeClr val="bg1"/>
          </a:solidFill>
        </p:grpSpPr>
        <p:sp>
          <p:nvSpPr>
            <p:cNvPr id="36" name="Freeform 182"/>
            <p:cNvSpPr/>
            <p:nvPr/>
          </p:nvSpPr>
          <p:spPr bwMode="auto">
            <a:xfrm>
              <a:off x="10059988" y="2759075"/>
              <a:ext cx="463550" cy="168275"/>
            </a:xfrm>
            <a:custGeom>
              <a:avLst/>
              <a:gdLst>
                <a:gd name="T0" fmla="*/ 1606 w 3212"/>
                <a:gd name="T1" fmla="*/ 0 h 1164"/>
                <a:gd name="T2" fmla="*/ 1815 w 3212"/>
                <a:gd name="T3" fmla="*/ 5 h 1164"/>
                <a:gd name="T4" fmla="*/ 2016 w 3212"/>
                <a:gd name="T5" fmla="*/ 19 h 1164"/>
                <a:gd name="T6" fmla="*/ 2208 w 3212"/>
                <a:gd name="T7" fmla="*/ 43 h 1164"/>
                <a:gd name="T8" fmla="*/ 2388 w 3212"/>
                <a:gd name="T9" fmla="*/ 74 h 1164"/>
                <a:gd name="T10" fmla="*/ 2554 w 3212"/>
                <a:gd name="T11" fmla="*/ 112 h 1164"/>
                <a:gd name="T12" fmla="*/ 2706 w 3212"/>
                <a:gd name="T13" fmla="*/ 158 h 1164"/>
                <a:gd name="T14" fmla="*/ 2841 w 3212"/>
                <a:gd name="T15" fmla="*/ 210 h 1164"/>
                <a:gd name="T16" fmla="*/ 2958 w 3212"/>
                <a:gd name="T17" fmla="*/ 268 h 1164"/>
                <a:gd name="T18" fmla="*/ 3055 w 3212"/>
                <a:gd name="T19" fmla="*/ 331 h 1164"/>
                <a:gd name="T20" fmla="*/ 3130 w 3212"/>
                <a:gd name="T21" fmla="*/ 398 h 1164"/>
                <a:gd name="T22" fmla="*/ 3182 w 3212"/>
                <a:gd name="T23" fmla="*/ 469 h 1164"/>
                <a:gd name="T24" fmla="*/ 3209 w 3212"/>
                <a:gd name="T25" fmla="*/ 544 h 1164"/>
                <a:gd name="T26" fmla="*/ 3209 w 3212"/>
                <a:gd name="T27" fmla="*/ 620 h 1164"/>
                <a:gd name="T28" fmla="*/ 3182 w 3212"/>
                <a:gd name="T29" fmla="*/ 695 h 1164"/>
                <a:gd name="T30" fmla="*/ 3130 w 3212"/>
                <a:gd name="T31" fmla="*/ 766 h 1164"/>
                <a:gd name="T32" fmla="*/ 3055 w 3212"/>
                <a:gd name="T33" fmla="*/ 833 h 1164"/>
                <a:gd name="T34" fmla="*/ 2958 w 3212"/>
                <a:gd name="T35" fmla="*/ 896 h 1164"/>
                <a:gd name="T36" fmla="*/ 2841 w 3212"/>
                <a:gd name="T37" fmla="*/ 954 h 1164"/>
                <a:gd name="T38" fmla="*/ 2706 w 3212"/>
                <a:gd name="T39" fmla="*/ 1006 h 1164"/>
                <a:gd name="T40" fmla="*/ 2554 w 3212"/>
                <a:gd name="T41" fmla="*/ 1052 h 1164"/>
                <a:gd name="T42" fmla="*/ 2388 w 3212"/>
                <a:gd name="T43" fmla="*/ 1090 h 1164"/>
                <a:gd name="T44" fmla="*/ 2208 w 3212"/>
                <a:gd name="T45" fmla="*/ 1122 h 1164"/>
                <a:gd name="T46" fmla="*/ 2016 w 3212"/>
                <a:gd name="T47" fmla="*/ 1145 h 1164"/>
                <a:gd name="T48" fmla="*/ 1815 w 3212"/>
                <a:gd name="T49" fmla="*/ 1159 h 1164"/>
                <a:gd name="T50" fmla="*/ 1606 w 3212"/>
                <a:gd name="T51" fmla="*/ 1164 h 1164"/>
                <a:gd name="T52" fmla="*/ 1397 w 3212"/>
                <a:gd name="T53" fmla="*/ 1159 h 1164"/>
                <a:gd name="T54" fmla="*/ 1195 w 3212"/>
                <a:gd name="T55" fmla="*/ 1145 h 1164"/>
                <a:gd name="T56" fmla="*/ 1004 w 3212"/>
                <a:gd name="T57" fmla="*/ 1122 h 1164"/>
                <a:gd name="T58" fmla="*/ 824 w 3212"/>
                <a:gd name="T59" fmla="*/ 1090 h 1164"/>
                <a:gd name="T60" fmla="*/ 658 w 3212"/>
                <a:gd name="T61" fmla="*/ 1052 h 1164"/>
                <a:gd name="T62" fmla="*/ 506 w 3212"/>
                <a:gd name="T63" fmla="*/ 1006 h 1164"/>
                <a:gd name="T64" fmla="*/ 371 w 3212"/>
                <a:gd name="T65" fmla="*/ 954 h 1164"/>
                <a:gd name="T66" fmla="*/ 254 w 3212"/>
                <a:gd name="T67" fmla="*/ 896 h 1164"/>
                <a:gd name="T68" fmla="*/ 157 w 3212"/>
                <a:gd name="T69" fmla="*/ 833 h 1164"/>
                <a:gd name="T70" fmla="*/ 82 w 3212"/>
                <a:gd name="T71" fmla="*/ 766 h 1164"/>
                <a:gd name="T72" fmla="*/ 30 w 3212"/>
                <a:gd name="T73" fmla="*/ 695 h 1164"/>
                <a:gd name="T74" fmla="*/ 3 w 3212"/>
                <a:gd name="T75" fmla="*/ 620 h 1164"/>
                <a:gd name="T76" fmla="*/ 3 w 3212"/>
                <a:gd name="T77" fmla="*/ 544 h 1164"/>
                <a:gd name="T78" fmla="*/ 30 w 3212"/>
                <a:gd name="T79" fmla="*/ 469 h 1164"/>
                <a:gd name="T80" fmla="*/ 82 w 3212"/>
                <a:gd name="T81" fmla="*/ 398 h 1164"/>
                <a:gd name="T82" fmla="*/ 157 w 3212"/>
                <a:gd name="T83" fmla="*/ 331 h 1164"/>
                <a:gd name="T84" fmla="*/ 254 w 3212"/>
                <a:gd name="T85" fmla="*/ 268 h 1164"/>
                <a:gd name="T86" fmla="*/ 371 w 3212"/>
                <a:gd name="T87" fmla="*/ 210 h 1164"/>
                <a:gd name="T88" fmla="*/ 506 w 3212"/>
                <a:gd name="T89" fmla="*/ 158 h 1164"/>
                <a:gd name="T90" fmla="*/ 658 w 3212"/>
                <a:gd name="T91" fmla="*/ 112 h 1164"/>
                <a:gd name="T92" fmla="*/ 824 w 3212"/>
                <a:gd name="T93" fmla="*/ 74 h 1164"/>
                <a:gd name="T94" fmla="*/ 1004 w 3212"/>
                <a:gd name="T95" fmla="*/ 43 h 1164"/>
                <a:gd name="T96" fmla="*/ 1195 w 3212"/>
                <a:gd name="T97" fmla="*/ 19 h 1164"/>
                <a:gd name="T98" fmla="*/ 1397 w 3212"/>
                <a:gd name="T99" fmla="*/ 5 h 1164"/>
                <a:gd name="T100" fmla="*/ 1606 w 3212"/>
                <a:gd name="T101" fmla="*/ 0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12" h="1164">
                  <a:moveTo>
                    <a:pt x="1606" y="0"/>
                  </a:moveTo>
                  <a:lnTo>
                    <a:pt x="1606" y="0"/>
                  </a:lnTo>
                  <a:lnTo>
                    <a:pt x="1712" y="2"/>
                  </a:lnTo>
                  <a:lnTo>
                    <a:pt x="1815" y="5"/>
                  </a:lnTo>
                  <a:lnTo>
                    <a:pt x="1917" y="11"/>
                  </a:lnTo>
                  <a:lnTo>
                    <a:pt x="2016" y="19"/>
                  </a:lnTo>
                  <a:lnTo>
                    <a:pt x="2114" y="30"/>
                  </a:lnTo>
                  <a:lnTo>
                    <a:pt x="2208" y="43"/>
                  </a:lnTo>
                  <a:lnTo>
                    <a:pt x="2299" y="57"/>
                  </a:lnTo>
                  <a:lnTo>
                    <a:pt x="2388" y="74"/>
                  </a:lnTo>
                  <a:lnTo>
                    <a:pt x="2472" y="92"/>
                  </a:lnTo>
                  <a:lnTo>
                    <a:pt x="2554" y="112"/>
                  </a:lnTo>
                  <a:lnTo>
                    <a:pt x="2632" y="135"/>
                  </a:lnTo>
                  <a:lnTo>
                    <a:pt x="2706" y="158"/>
                  </a:lnTo>
                  <a:lnTo>
                    <a:pt x="2775" y="183"/>
                  </a:lnTo>
                  <a:lnTo>
                    <a:pt x="2841" y="210"/>
                  </a:lnTo>
                  <a:lnTo>
                    <a:pt x="2902" y="238"/>
                  </a:lnTo>
                  <a:lnTo>
                    <a:pt x="2958" y="268"/>
                  </a:lnTo>
                  <a:lnTo>
                    <a:pt x="3009" y="299"/>
                  </a:lnTo>
                  <a:lnTo>
                    <a:pt x="3055" y="331"/>
                  </a:lnTo>
                  <a:lnTo>
                    <a:pt x="3096" y="364"/>
                  </a:lnTo>
                  <a:lnTo>
                    <a:pt x="3130" y="398"/>
                  </a:lnTo>
                  <a:lnTo>
                    <a:pt x="3159" y="433"/>
                  </a:lnTo>
                  <a:lnTo>
                    <a:pt x="3182" y="469"/>
                  </a:lnTo>
                  <a:lnTo>
                    <a:pt x="3199" y="506"/>
                  </a:lnTo>
                  <a:lnTo>
                    <a:pt x="3209" y="544"/>
                  </a:lnTo>
                  <a:lnTo>
                    <a:pt x="3212" y="582"/>
                  </a:lnTo>
                  <a:lnTo>
                    <a:pt x="3209" y="620"/>
                  </a:lnTo>
                  <a:lnTo>
                    <a:pt x="3199" y="658"/>
                  </a:lnTo>
                  <a:lnTo>
                    <a:pt x="3182" y="695"/>
                  </a:lnTo>
                  <a:lnTo>
                    <a:pt x="3159" y="731"/>
                  </a:lnTo>
                  <a:lnTo>
                    <a:pt x="3130" y="766"/>
                  </a:lnTo>
                  <a:lnTo>
                    <a:pt x="3096" y="800"/>
                  </a:lnTo>
                  <a:lnTo>
                    <a:pt x="3055" y="833"/>
                  </a:lnTo>
                  <a:lnTo>
                    <a:pt x="3009" y="865"/>
                  </a:lnTo>
                  <a:lnTo>
                    <a:pt x="2958" y="896"/>
                  </a:lnTo>
                  <a:lnTo>
                    <a:pt x="2902" y="926"/>
                  </a:lnTo>
                  <a:lnTo>
                    <a:pt x="2841" y="954"/>
                  </a:lnTo>
                  <a:lnTo>
                    <a:pt x="2775" y="981"/>
                  </a:lnTo>
                  <a:lnTo>
                    <a:pt x="2706" y="1006"/>
                  </a:lnTo>
                  <a:lnTo>
                    <a:pt x="2632" y="1030"/>
                  </a:lnTo>
                  <a:lnTo>
                    <a:pt x="2554" y="1052"/>
                  </a:lnTo>
                  <a:lnTo>
                    <a:pt x="2472" y="1072"/>
                  </a:lnTo>
                  <a:lnTo>
                    <a:pt x="2388" y="1090"/>
                  </a:lnTo>
                  <a:lnTo>
                    <a:pt x="2299" y="1107"/>
                  </a:lnTo>
                  <a:lnTo>
                    <a:pt x="2208" y="1122"/>
                  </a:lnTo>
                  <a:lnTo>
                    <a:pt x="2114" y="1134"/>
                  </a:lnTo>
                  <a:lnTo>
                    <a:pt x="2016" y="1145"/>
                  </a:lnTo>
                  <a:lnTo>
                    <a:pt x="1917" y="1153"/>
                  </a:lnTo>
                  <a:lnTo>
                    <a:pt x="1815" y="1159"/>
                  </a:lnTo>
                  <a:lnTo>
                    <a:pt x="1712" y="1163"/>
                  </a:lnTo>
                  <a:lnTo>
                    <a:pt x="1606" y="1164"/>
                  </a:lnTo>
                  <a:lnTo>
                    <a:pt x="1500" y="1163"/>
                  </a:lnTo>
                  <a:lnTo>
                    <a:pt x="1397" y="1159"/>
                  </a:lnTo>
                  <a:lnTo>
                    <a:pt x="1295" y="1153"/>
                  </a:lnTo>
                  <a:lnTo>
                    <a:pt x="1195" y="1145"/>
                  </a:lnTo>
                  <a:lnTo>
                    <a:pt x="1098" y="1134"/>
                  </a:lnTo>
                  <a:lnTo>
                    <a:pt x="1004" y="1122"/>
                  </a:lnTo>
                  <a:lnTo>
                    <a:pt x="912" y="1107"/>
                  </a:lnTo>
                  <a:lnTo>
                    <a:pt x="824" y="1090"/>
                  </a:lnTo>
                  <a:lnTo>
                    <a:pt x="739" y="1072"/>
                  </a:lnTo>
                  <a:lnTo>
                    <a:pt x="658" y="1052"/>
                  </a:lnTo>
                  <a:lnTo>
                    <a:pt x="580" y="1030"/>
                  </a:lnTo>
                  <a:lnTo>
                    <a:pt x="506" y="1006"/>
                  </a:lnTo>
                  <a:lnTo>
                    <a:pt x="436" y="981"/>
                  </a:lnTo>
                  <a:lnTo>
                    <a:pt x="371" y="954"/>
                  </a:lnTo>
                  <a:lnTo>
                    <a:pt x="310" y="926"/>
                  </a:lnTo>
                  <a:lnTo>
                    <a:pt x="254" y="896"/>
                  </a:lnTo>
                  <a:lnTo>
                    <a:pt x="203" y="865"/>
                  </a:lnTo>
                  <a:lnTo>
                    <a:pt x="157" y="833"/>
                  </a:lnTo>
                  <a:lnTo>
                    <a:pt x="116" y="800"/>
                  </a:lnTo>
                  <a:lnTo>
                    <a:pt x="82" y="766"/>
                  </a:lnTo>
                  <a:lnTo>
                    <a:pt x="53" y="731"/>
                  </a:lnTo>
                  <a:lnTo>
                    <a:pt x="30" y="695"/>
                  </a:lnTo>
                  <a:lnTo>
                    <a:pt x="13" y="658"/>
                  </a:lnTo>
                  <a:lnTo>
                    <a:pt x="3" y="620"/>
                  </a:lnTo>
                  <a:lnTo>
                    <a:pt x="0" y="582"/>
                  </a:lnTo>
                  <a:lnTo>
                    <a:pt x="3" y="544"/>
                  </a:lnTo>
                  <a:lnTo>
                    <a:pt x="13" y="506"/>
                  </a:lnTo>
                  <a:lnTo>
                    <a:pt x="30" y="469"/>
                  </a:lnTo>
                  <a:lnTo>
                    <a:pt x="53" y="433"/>
                  </a:lnTo>
                  <a:lnTo>
                    <a:pt x="82" y="398"/>
                  </a:lnTo>
                  <a:lnTo>
                    <a:pt x="116" y="364"/>
                  </a:lnTo>
                  <a:lnTo>
                    <a:pt x="157" y="331"/>
                  </a:lnTo>
                  <a:lnTo>
                    <a:pt x="203" y="299"/>
                  </a:lnTo>
                  <a:lnTo>
                    <a:pt x="254" y="268"/>
                  </a:lnTo>
                  <a:lnTo>
                    <a:pt x="310" y="238"/>
                  </a:lnTo>
                  <a:lnTo>
                    <a:pt x="371" y="210"/>
                  </a:lnTo>
                  <a:lnTo>
                    <a:pt x="436" y="183"/>
                  </a:lnTo>
                  <a:lnTo>
                    <a:pt x="506" y="158"/>
                  </a:lnTo>
                  <a:lnTo>
                    <a:pt x="580" y="135"/>
                  </a:lnTo>
                  <a:lnTo>
                    <a:pt x="658" y="112"/>
                  </a:lnTo>
                  <a:lnTo>
                    <a:pt x="739" y="92"/>
                  </a:lnTo>
                  <a:lnTo>
                    <a:pt x="824" y="74"/>
                  </a:lnTo>
                  <a:lnTo>
                    <a:pt x="912" y="57"/>
                  </a:lnTo>
                  <a:lnTo>
                    <a:pt x="1004" y="43"/>
                  </a:lnTo>
                  <a:lnTo>
                    <a:pt x="1098" y="30"/>
                  </a:lnTo>
                  <a:lnTo>
                    <a:pt x="1195" y="19"/>
                  </a:lnTo>
                  <a:lnTo>
                    <a:pt x="1295" y="11"/>
                  </a:lnTo>
                  <a:lnTo>
                    <a:pt x="1397" y="5"/>
                  </a:lnTo>
                  <a:lnTo>
                    <a:pt x="1500" y="2"/>
                  </a:lnTo>
                  <a:lnTo>
                    <a:pt x="160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7" name="Freeform 183"/>
            <p:cNvSpPr/>
            <p:nvPr/>
          </p:nvSpPr>
          <p:spPr bwMode="auto">
            <a:xfrm>
              <a:off x="10059988" y="2917825"/>
              <a:ext cx="463550" cy="93663"/>
            </a:xfrm>
            <a:custGeom>
              <a:avLst/>
              <a:gdLst>
                <a:gd name="T0" fmla="*/ 87 w 3212"/>
                <a:gd name="T1" fmla="*/ 40 h 648"/>
                <a:gd name="T2" fmla="*/ 256 w 3212"/>
                <a:gd name="T3" fmla="*/ 114 h 648"/>
                <a:gd name="T4" fmla="*/ 442 w 3212"/>
                <a:gd name="T5" fmla="*/ 179 h 648"/>
                <a:gd name="T6" fmla="*/ 647 w 3212"/>
                <a:gd name="T7" fmla="*/ 233 h 648"/>
                <a:gd name="T8" fmla="*/ 869 w 3212"/>
                <a:gd name="T9" fmla="*/ 277 h 648"/>
                <a:gd name="T10" fmla="*/ 1103 w 3212"/>
                <a:gd name="T11" fmla="*/ 310 h 648"/>
                <a:gd name="T12" fmla="*/ 1349 w 3212"/>
                <a:gd name="T13" fmla="*/ 330 h 648"/>
                <a:gd name="T14" fmla="*/ 1606 w 3212"/>
                <a:gd name="T15" fmla="*/ 338 h 648"/>
                <a:gd name="T16" fmla="*/ 1862 w 3212"/>
                <a:gd name="T17" fmla="*/ 330 h 648"/>
                <a:gd name="T18" fmla="*/ 2109 w 3212"/>
                <a:gd name="T19" fmla="*/ 310 h 648"/>
                <a:gd name="T20" fmla="*/ 2343 w 3212"/>
                <a:gd name="T21" fmla="*/ 277 h 648"/>
                <a:gd name="T22" fmla="*/ 2564 w 3212"/>
                <a:gd name="T23" fmla="*/ 233 h 648"/>
                <a:gd name="T24" fmla="*/ 2769 w 3212"/>
                <a:gd name="T25" fmla="*/ 179 h 648"/>
                <a:gd name="T26" fmla="*/ 2957 w 3212"/>
                <a:gd name="T27" fmla="*/ 114 h 648"/>
                <a:gd name="T28" fmla="*/ 3125 w 3212"/>
                <a:gd name="T29" fmla="*/ 40 h 648"/>
                <a:gd name="T30" fmla="*/ 3209 w 3212"/>
                <a:gd name="T31" fmla="*/ 33 h 648"/>
                <a:gd name="T32" fmla="*/ 3209 w 3212"/>
                <a:gd name="T33" fmla="*/ 104 h 648"/>
                <a:gd name="T34" fmla="*/ 3182 w 3212"/>
                <a:gd name="T35" fmla="*/ 179 h 648"/>
                <a:gd name="T36" fmla="*/ 3130 w 3212"/>
                <a:gd name="T37" fmla="*/ 250 h 648"/>
                <a:gd name="T38" fmla="*/ 3055 w 3212"/>
                <a:gd name="T39" fmla="*/ 317 h 648"/>
                <a:gd name="T40" fmla="*/ 2958 w 3212"/>
                <a:gd name="T41" fmla="*/ 381 h 648"/>
                <a:gd name="T42" fmla="*/ 2841 w 3212"/>
                <a:gd name="T43" fmla="*/ 439 h 648"/>
                <a:gd name="T44" fmla="*/ 2706 w 3212"/>
                <a:gd name="T45" fmla="*/ 491 h 648"/>
                <a:gd name="T46" fmla="*/ 2554 w 3212"/>
                <a:gd name="T47" fmla="*/ 536 h 648"/>
                <a:gd name="T48" fmla="*/ 2388 w 3212"/>
                <a:gd name="T49" fmla="*/ 575 h 648"/>
                <a:gd name="T50" fmla="*/ 2208 w 3212"/>
                <a:gd name="T51" fmla="*/ 606 h 648"/>
                <a:gd name="T52" fmla="*/ 2016 w 3212"/>
                <a:gd name="T53" fmla="*/ 629 h 648"/>
                <a:gd name="T54" fmla="*/ 1815 w 3212"/>
                <a:gd name="T55" fmla="*/ 644 h 648"/>
                <a:gd name="T56" fmla="*/ 1606 w 3212"/>
                <a:gd name="T57" fmla="*/ 648 h 648"/>
                <a:gd name="T58" fmla="*/ 1397 w 3212"/>
                <a:gd name="T59" fmla="*/ 644 h 648"/>
                <a:gd name="T60" fmla="*/ 1195 w 3212"/>
                <a:gd name="T61" fmla="*/ 629 h 648"/>
                <a:gd name="T62" fmla="*/ 1004 w 3212"/>
                <a:gd name="T63" fmla="*/ 606 h 648"/>
                <a:gd name="T64" fmla="*/ 824 w 3212"/>
                <a:gd name="T65" fmla="*/ 575 h 648"/>
                <a:gd name="T66" fmla="*/ 658 w 3212"/>
                <a:gd name="T67" fmla="*/ 536 h 648"/>
                <a:gd name="T68" fmla="*/ 506 w 3212"/>
                <a:gd name="T69" fmla="*/ 491 h 648"/>
                <a:gd name="T70" fmla="*/ 371 w 3212"/>
                <a:gd name="T71" fmla="*/ 439 h 648"/>
                <a:gd name="T72" fmla="*/ 254 w 3212"/>
                <a:gd name="T73" fmla="*/ 381 h 648"/>
                <a:gd name="T74" fmla="*/ 157 w 3212"/>
                <a:gd name="T75" fmla="*/ 317 h 648"/>
                <a:gd name="T76" fmla="*/ 82 w 3212"/>
                <a:gd name="T77" fmla="*/ 250 h 648"/>
                <a:gd name="T78" fmla="*/ 30 w 3212"/>
                <a:gd name="T79" fmla="*/ 179 h 648"/>
                <a:gd name="T80" fmla="*/ 3 w 3212"/>
                <a:gd name="T81" fmla="*/ 104 h 648"/>
                <a:gd name="T82" fmla="*/ 3 w 3212"/>
                <a:gd name="T83" fmla="*/ 33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12" h="648">
                  <a:moveTo>
                    <a:pt x="11" y="0"/>
                  </a:moveTo>
                  <a:lnTo>
                    <a:pt x="87" y="40"/>
                  </a:lnTo>
                  <a:lnTo>
                    <a:pt x="169" y="78"/>
                  </a:lnTo>
                  <a:lnTo>
                    <a:pt x="256" y="114"/>
                  </a:lnTo>
                  <a:lnTo>
                    <a:pt x="346" y="147"/>
                  </a:lnTo>
                  <a:lnTo>
                    <a:pt x="442" y="179"/>
                  </a:lnTo>
                  <a:lnTo>
                    <a:pt x="543" y="207"/>
                  </a:lnTo>
                  <a:lnTo>
                    <a:pt x="647" y="233"/>
                  </a:lnTo>
                  <a:lnTo>
                    <a:pt x="756" y="257"/>
                  </a:lnTo>
                  <a:lnTo>
                    <a:pt x="869" y="277"/>
                  </a:lnTo>
                  <a:lnTo>
                    <a:pt x="985" y="295"/>
                  </a:lnTo>
                  <a:lnTo>
                    <a:pt x="1103" y="310"/>
                  </a:lnTo>
                  <a:lnTo>
                    <a:pt x="1225" y="322"/>
                  </a:lnTo>
                  <a:lnTo>
                    <a:pt x="1349" y="330"/>
                  </a:lnTo>
                  <a:lnTo>
                    <a:pt x="1477" y="336"/>
                  </a:lnTo>
                  <a:lnTo>
                    <a:pt x="1606" y="338"/>
                  </a:lnTo>
                  <a:lnTo>
                    <a:pt x="1735" y="336"/>
                  </a:lnTo>
                  <a:lnTo>
                    <a:pt x="1862" y="330"/>
                  </a:lnTo>
                  <a:lnTo>
                    <a:pt x="1987" y="322"/>
                  </a:lnTo>
                  <a:lnTo>
                    <a:pt x="2109" y="310"/>
                  </a:lnTo>
                  <a:lnTo>
                    <a:pt x="2228" y="295"/>
                  </a:lnTo>
                  <a:lnTo>
                    <a:pt x="2343" y="277"/>
                  </a:lnTo>
                  <a:lnTo>
                    <a:pt x="2455" y="257"/>
                  </a:lnTo>
                  <a:lnTo>
                    <a:pt x="2564" y="233"/>
                  </a:lnTo>
                  <a:lnTo>
                    <a:pt x="2669" y="207"/>
                  </a:lnTo>
                  <a:lnTo>
                    <a:pt x="2769" y="179"/>
                  </a:lnTo>
                  <a:lnTo>
                    <a:pt x="2865" y="147"/>
                  </a:lnTo>
                  <a:lnTo>
                    <a:pt x="2957" y="114"/>
                  </a:lnTo>
                  <a:lnTo>
                    <a:pt x="3044" y="78"/>
                  </a:lnTo>
                  <a:lnTo>
                    <a:pt x="3125" y="40"/>
                  </a:lnTo>
                  <a:lnTo>
                    <a:pt x="3202" y="0"/>
                  </a:lnTo>
                  <a:lnTo>
                    <a:pt x="3209" y="33"/>
                  </a:lnTo>
                  <a:lnTo>
                    <a:pt x="3212" y="66"/>
                  </a:lnTo>
                  <a:lnTo>
                    <a:pt x="3209" y="104"/>
                  </a:lnTo>
                  <a:lnTo>
                    <a:pt x="3199" y="142"/>
                  </a:lnTo>
                  <a:lnTo>
                    <a:pt x="3182" y="179"/>
                  </a:lnTo>
                  <a:lnTo>
                    <a:pt x="3159" y="215"/>
                  </a:lnTo>
                  <a:lnTo>
                    <a:pt x="3130" y="250"/>
                  </a:lnTo>
                  <a:lnTo>
                    <a:pt x="3096" y="284"/>
                  </a:lnTo>
                  <a:lnTo>
                    <a:pt x="3055" y="317"/>
                  </a:lnTo>
                  <a:lnTo>
                    <a:pt x="3009" y="350"/>
                  </a:lnTo>
                  <a:lnTo>
                    <a:pt x="2958" y="381"/>
                  </a:lnTo>
                  <a:lnTo>
                    <a:pt x="2902" y="410"/>
                  </a:lnTo>
                  <a:lnTo>
                    <a:pt x="2841" y="439"/>
                  </a:lnTo>
                  <a:lnTo>
                    <a:pt x="2775" y="465"/>
                  </a:lnTo>
                  <a:lnTo>
                    <a:pt x="2706" y="491"/>
                  </a:lnTo>
                  <a:lnTo>
                    <a:pt x="2632" y="514"/>
                  </a:lnTo>
                  <a:lnTo>
                    <a:pt x="2554" y="536"/>
                  </a:lnTo>
                  <a:lnTo>
                    <a:pt x="2472" y="557"/>
                  </a:lnTo>
                  <a:lnTo>
                    <a:pt x="2388" y="575"/>
                  </a:lnTo>
                  <a:lnTo>
                    <a:pt x="2299" y="592"/>
                  </a:lnTo>
                  <a:lnTo>
                    <a:pt x="2208" y="606"/>
                  </a:lnTo>
                  <a:lnTo>
                    <a:pt x="2114" y="619"/>
                  </a:lnTo>
                  <a:lnTo>
                    <a:pt x="2016" y="629"/>
                  </a:lnTo>
                  <a:lnTo>
                    <a:pt x="1917" y="638"/>
                  </a:lnTo>
                  <a:lnTo>
                    <a:pt x="1815" y="644"/>
                  </a:lnTo>
                  <a:lnTo>
                    <a:pt x="1712" y="647"/>
                  </a:lnTo>
                  <a:lnTo>
                    <a:pt x="1606" y="648"/>
                  </a:lnTo>
                  <a:lnTo>
                    <a:pt x="1500" y="647"/>
                  </a:lnTo>
                  <a:lnTo>
                    <a:pt x="1397" y="644"/>
                  </a:lnTo>
                  <a:lnTo>
                    <a:pt x="1295" y="638"/>
                  </a:lnTo>
                  <a:lnTo>
                    <a:pt x="1195" y="629"/>
                  </a:lnTo>
                  <a:lnTo>
                    <a:pt x="1098" y="619"/>
                  </a:lnTo>
                  <a:lnTo>
                    <a:pt x="1004" y="606"/>
                  </a:lnTo>
                  <a:lnTo>
                    <a:pt x="912" y="592"/>
                  </a:lnTo>
                  <a:lnTo>
                    <a:pt x="824" y="575"/>
                  </a:lnTo>
                  <a:lnTo>
                    <a:pt x="739" y="557"/>
                  </a:lnTo>
                  <a:lnTo>
                    <a:pt x="658" y="536"/>
                  </a:lnTo>
                  <a:lnTo>
                    <a:pt x="580" y="514"/>
                  </a:lnTo>
                  <a:lnTo>
                    <a:pt x="506" y="491"/>
                  </a:lnTo>
                  <a:lnTo>
                    <a:pt x="436" y="465"/>
                  </a:lnTo>
                  <a:lnTo>
                    <a:pt x="371" y="439"/>
                  </a:lnTo>
                  <a:lnTo>
                    <a:pt x="310" y="410"/>
                  </a:lnTo>
                  <a:lnTo>
                    <a:pt x="254" y="381"/>
                  </a:lnTo>
                  <a:lnTo>
                    <a:pt x="203" y="350"/>
                  </a:lnTo>
                  <a:lnTo>
                    <a:pt x="157" y="317"/>
                  </a:lnTo>
                  <a:lnTo>
                    <a:pt x="116" y="284"/>
                  </a:lnTo>
                  <a:lnTo>
                    <a:pt x="82" y="250"/>
                  </a:lnTo>
                  <a:lnTo>
                    <a:pt x="53" y="215"/>
                  </a:lnTo>
                  <a:lnTo>
                    <a:pt x="30" y="179"/>
                  </a:lnTo>
                  <a:lnTo>
                    <a:pt x="13" y="142"/>
                  </a:lnTo>
                  <a:lnTo>
                    <a:pt x="3" y="104"/>
                  </a:lnTo>
                  <a:lnTo>
                    <a:pt x="0" y="66"/>
                  </a:lnTo>
                  <a:lnTo>
                    <a:pt x="3" y="33"/>
                  </a:lnTo>
                  <a:lnTo>
                    <a:pt x="1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8" name="Freeform 184"/>
            <p:cNvSpPr/>
            <p:nvPr/>
          </p:nvSpPr>
          <p:spPr bwMode="auto">
            <a:xfrm>
              <a:off x="10059988" y="2995613"/>
              <a:ext cx="463550" cy="93663"/>
            </a:xfrm>
            <a:custGeom>
              <a:avLst/>
              <a:gdLst>
                <a:gd name="T0" fmla="*/ 87 w 3212"/>
                <a:gd name="T1" fmla="*/ 40 h 647"/>
                <a:gd name="T2" fmla="*/ 256 w 3212"/>
                <a:gd name="T3" fmla="*/ 114 h 647"/>
                <a:gd name="T4" fmla="*/ 442 w 3212"/>
                <a:gd name="T5" fmla="*/ 178 h 647"/>
                <a:gd name="T6" fmla="*/ 647 w 3212"/>
                <a:gd name="T7" fmla="*/ 233 h 647"/>
                <a:gd name="T8" fmla="*/ 869 w 3212"/>
                <a:gd name="T9" fmla="*/ 277 h 647"/>
                <a:gd name="T10" fmla="*/ 1103 w 3212"/>
                <a:gd name="T11" fmla="*/ 310 h 647"/>
                <a:gd name="T12" fmla="*/ 1349 w 3212"/>
                <a:gd name="T13" fmla="*/ 330 h 647"/>
                <a:gd name="T14" fmla="*/ 1606 w 3212"/>
                <a:gd name="T15" fmla="*/ 337 h 647"/>
                <a:gd name="T16" fmla="*/ 1862 w 3212"/>
                <a:gd name="T17" fmla="*/ 330 h 647"/>
                <a:gd name="T18" fmla="*/ 2109 w 3212"/>
                <a:gd name="T19" fmla="*/ 310 h 647"/>
                <a:gd name="T20" fmla="*/ 2343 w 3212"/>
                <a:gd name="T21" fmla="*/ 277 h 647"/>
                <a:gd name="T22" fmla="*/ 2564 w 3212"/>
                <a:gd name="T23" fmla="*/ 233 h 647"/>
                <a:gd name="T24" fmla="*/ 2769 w 3212"/>
                <a:gd name="T25" fmla="*/ 178 h 647"/>
                <a:gd name="T26" fmla="*/ 2957 w 3212"/>
                <a:gd name="T27" fmla="*/ 114 h 647"/>
                <a:gd name="T28" fmla="*/ 3125 w 3212"/>
                <a:gd name="T29" fmla="*/ 40 h 647"/>
                <a:gd name="T30" fmla="*/ 3209 w 3212"/>
                <a:gd name="T31" fmla="*/ 33 h 647"/>
                <a:gd name="T32" fmla="*/ 3209 w 3212"/>
                <a:gd name="T33" fmla="*/ 104 h 647"/>
                <a:gd name="T34" fmla="*/ 3182 w 3212"/>
                <a:gd name="T35" fmla="*/ 178 h 647"/>
                <a:gd name="T36" fmla="*/ 3130 w 3212"/>
                <a:gd name="T37" fmla="*/ 250 h 647"/>
                <a:gd name="T38" fmla="*/ 3055 w 3212"/>
                <a:gd name="T39" fmla="*/ 317 h 647"/>
                <a:gd name="T40" fmla="*/ 2958 w 3212"/>
                <a:gd name="T41" fmla="*/ 380 h 647"/>
                <a:gd name="T42" fmla="*/ 2841 w 3212"/>
                <a:gd name="T43" fmla="*/ 438 h 647"/>
                <a:gd name="T44" fmla="*/ 2706 w 3212"/>
                <a:gd name="T45" fmla="*/ 490 h 647"/>
                <a:gd name="T46" fmla="*/ 2554 w 3212"/>
                <a:gd name="T47" fmla="*/ 535 h 647"/>
                <a:gd name="T48" fmla="*/ 2388 w 3212"/>
                <a:gd name="T49" fmla="*/ 574 h 647"/>
                <a:gd name="T50" fmla="*/ 2208 w 3212"/>
                <a:gd name="T51" fmla="*/ 605 h 647"/>
                <a:gd name="T52" fmla="*/ 2016 w 3212"/>
                <a:gd name="T53" fmla="*/ 628 h 647"/>
                <a:gd name="T54" fmla="*/ 1815 w 3212"/>
                <a:gd name="T55" fmla="*/ 643 h 647"/>
                <a:gd name="T56" fmla="*/ 1606 w 3212"/>
                <a:gd name="T57" fmla="*/ 647 h 647"/>
                <a:gd name="T58" fmla="*/ 1397 w 3212"/>
                <a:gd name="T59" fmla="*/ 643 h 647"/>
                <a:gd name="T60" fmla="*/ 1195 w 3212"/>
                <a:gd name="T61" fmla="*/ 628 h 647"/>
                <a:gd name="T62" fmla="*/ 1004 w 3212"/>
                <a:gd name="T63" fmla="*/ 605 h 647"/>
                <a:gd name="T64" fmla="*/ 824 w 3212"/>
                <a:gd name="T65" fmla="*/ 574 h 647"/>
                <a:gd name="T66" fmla="*/ 658 w 3212"/>
                <a:gd name="T67" fmla="*/ 535 h 647"/>
                <a:gd name="T68" fmla="*/ 506 w 3212"/>
                <a:gd name="T69" fmla="*/ 490 h 647"/>
                <a:gd name="T70" fmla="*/ 371 w 3212"/>
                <a:gd name="T71" fmla="*/ 438 h 647"/>
                <a:gd name="T72" fmla="*/ 254 w 3212"/>
                <a:gd name="T73" fmla="*/ 380 h 647"/>
                <a:gd name="T74" fmla="*/ 157 w 3212"/>
                <a:gd name="T75" fmla="*/ 317 h 647"/>
                <a:gd name="T76" fmla="*/ 82 w 3212"/>
                <a:gd name="T77" fmla="*/ 250 h 647"/>
                <a:gd name="T78" fmla="*/ 30 w 3212"/>
                <a:gd name="T79" fmla="*/ 178 h 647"/>
                <a:gd name="T80" fmla="*/ 3 w 3212"/>
                <a:gd name="T81" fmla="*/ 104 h 647"/>
                <a:gd name="T82" fmla="*/ 3 w 3212"/>
                <a:gd name="T83" fmla="*/ 33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12" h="647">
                  <a:moveTo>
                    <a:pt x="11" y="0"/>
                  </a:moveTo>
                  <a:lnTo>
                    <a:pt x="87" y="40"/>
                  </a:lnTo>
                  <a:lnTo>
                    <a:pt x="169" y="78"/>
                  </a:lnTo>
                  <a:lnTo>
                    <a:pt x="256" y="114"/>
                  </a:lnTo>
                  <a:lnTo>
                    <a:pt x="346" y="147"/>
                  </a:lnTo>
                  <a:lnTo>
                    <a:pt x="442" y="178"/>
                  </a:lnTo>
                  <a:lnTo>
                    <a:pt x="543" y="207"/>
                  </a:lnTo>
                  <a:lnTo>
                    <a:pt x="647" y="233"/>
                  </a:lnTo>
                  <a:lnTo>
                    <a:pt x="756" y="257"/>
                  </a:lnTo>
                  <a:lnTo>
                    <a:pt x="869" y="277"/>
                  </a:lnTo>
                  <a:lnTo>
                    <a:pt x="985" y="295"/>
                  </a:lnTo>
                  <a:lnTo>
                    <a:pt x="1103" y="310"/>
                  </a:lnTo>
                  <a:lnTo>
                    <a:pt x="1225" y="322"/>
                  </a:lnTo>
                  <a:lnTo>
                    <a:pt x="1349" y="330"/>
                  </a:lnTo>
                  <a:lnTo>
                    <a:pt x="1477" y="335"/>
                  </a:lnTo>
                  <a:lnTo>
                    <a:pt x="1606" y="337"/>
                  </a:lnTo>
                  <a:lnTo>
                    <a:pt x="1735" y="335"/>
                  </a:lnTo>
                  <a:lnTo>
                    <a:pt x="1862" y="330"/>
                  </a:lnTo>
                  <a:lnTo>
                    <a:pt x="1987" y="322"/>
                  </a:lnTo>
                  <a:lnTo>
                    <a:pt x="2109" y="310"/>
                  </a:lnTo>
                  <a:lnTo>
                    <a:pt x="2228" y="295"/>
                  </a:lnTo>
                  <a:lnTo>
                    <a:pt x="2343" y="277"/>
                  </a:lnTo>
                  <a:lnTo>
                    <a:pt x="2455" y="257"/>
                  </a:lnTo>
                  <a:lnTo>
                    <a:pt x="2564" y="233"/>
                  </a:lnTo>
                  <a:lnTo>
                    <a:pt x="2669" y="207"/>
                  </a:lnTo>
                  <a:lnTo>
                    <a:pt x="2769" y="178"/>
                  </a:lnTo>
                  <a:lnTo>
                    <a:pt x="2865" y="147"/>
                  </a:lnTo>
                  <a:lnTo>
                    <a:pt x="2957" y="114"/>
                  </a:lnTo>
                  <a:lnTo>
                    <a:pt x="3044" y="78"/>
                  </a:lnTo>
                  <a:lnTo>
                    <a:pt x="3125" y="40"/>
                  </a:lnTo>
                  <a:lnTo>
                    <a:pt x="3202" y="0"/>
                  </a:lnTo>
                  <a:lnTo>
                    <a:pt x="3209" y="33"/>
                  </a:lnTo>
                  <a:lnTo>
                    <a:pt x="3212" y="66"/>
                  </a:lnTo>
                  <a:lnTo>
                    <a:pt x="3209" y="104"/>
                  </a:lnTo>
                  <a:lnTo>
                    <a:pt x="3199" y="142"/>
                  </a:lnTo>
                  <a:lnTo>
                    <a:pt x="3182" y="178"/>
                  </a:lnTo>
                  <a:lnTo>
                    <a:pt x="3159" y="215"/>
                  </a:lnTo>
                  <a:lnTo>
                    <a:pt x="3130" y="250"/>
                  </a:lnTo>
                  <a:lnTo>
                    <a:pt x="3096" y="284"/>
                  </a:lnTo>
                  <a:lnTo>
                    <a:pt x="3055" y="317"/>
                  </a:lnTo>
                  <a:lnTo>
                    <a:pt x="3009" y="349"/>
                  </a:lnTo>
                  <a:lnTo>
                    <a:pt x="2958" y="380"/>
                  </a:lnTo>
                  <a:lnTo>
                    <a:pt x="2902" y="409"/>
                  </a:lnTo>
                  <a:lnTo>
                    <a:pt x="2841" y="438"/>
                  </a:lnTo>
                  <a:lnTo>
                    <a:pt x="2775" y="464"/>
                  </a:lnTo>
                  <a:lnTo>
                    <a:pt x="2706" y="490"/>
                  </a:lnTo>
                  <a:lnTo>
                    <a:pt x="2632" y="513"/>
                  </a:lnTo>
                  <a:lnTo>
                    <a:pt x="2554" y="535"/>
                  </a:lnTo>
                  <a:lnTo>
                    <a:pt x="2472" y="556"/>
                  </a:lnTo>
                  <a:lnTo>
                    <a:pt x="2388" y="574"/>
                  </a:lnTo>
                  <a:lnTo>
                    <a:pt x="2299" y="591"/>
                  </a:lnTo>
                  <a:lnTo>
                    <a:pt x="2208" y="605"/>
                  </a:lnTo>
                  <a:lnTo>
                    <a:pt x="2114" y="618"/>
                  </a:lnTo>
                  <a:lnTo>
                    <a:pt x="2016" y="628"/>
                  </a:lnTo>
                  <a:lnTo>
                    <a:pt x="1917" y="637"/>
                  </a:lnTo>
                  <a:lnTo>
                    <a:pt x="1815" y="643"/>
                  </a:lnTo>
                  <a:lnTo>
                    <a:pt x="1712" y="646"/>
                  </a:lnTo>
                  <a:lnTo>
                    <a:pt x="1606" y="647"/>
                  </a:lnTo>
                  <a:lnTo>
                    <a:pt x="1500" y="646"/>
                  </a:lnTo>
                  <a:lnTo>
                    <a:pt x="1397" y="643"/>
                  </a:lnTo>
                  <a:lnTo>
                    <a:pt x="1295" y="637"/>
                  </a:lnTo>
                  <a:lnTo>
                    <a:pt x="1195" y="628"/>
                  </a:lnTo>
                  <a:lnTo>
                    <a:pt x="1098" y="618"/>
                  </a:lnTo>
                  <a:lnTo>
                    <a:pt x="1004" y="605"/>
                  </a:lnTo>
                  <a:lnTo>
                    <a:pt x="912" y="591"/>
                  </a:lnTo>
                  <a:lnTo>
                    <a:pt x="824" y="574"/>
                  </a:lnTo>
                  <a:lnTo>
                    <a:pt x="739" y="556"/>
                  </a:lnTo>
                  <a:lnTo>
                    <a:pt x="658" y="535"/>
                  </a:lnTo>
                  <a:lnTo>
                    <a:pt x="580" y="513"/>
                  </a:lnTo>
                  <a:lnTo>
                    <a:pt x="506" y="490"/>
                  </a:lnTo>
                  <a:lnTo>
                    <a:pt x="436" y="464"/>
                  </a:lnTo>
                  <a:lnTo>
                    <a:pt x="371" y="438"/>
                  </a:lnTo>
                  <a:lnTo>
                    <a:pt x="310" y="409"/>
                  </a:lnTo>
                  <a:lnTo>
                    <a:pt x="254" y="380"/>
                  </a:lnTo>
                  <a:lnTo>
                    <a:pt x="203" y="349"/>
                  </a:lnTo>
                  <a:lnTo>
                    <a:pt x="157" y="317"/>
                  </a:lnTo>
                  <a:lnTo>
                    <a:pt x="116" y="284"/>
                  </a:lnTo>
                  <a:lnTo>
                    <a:pt x="82" y="250"/>
                  </a:lnTo>
                  <a:lnTo>
                    <a:pt x="53" y="215"/>
                  </a:lnTo>
                  <a:lnTo>
                    <a:pt x="30" y="178"/>
                  </a:lnTo>
                  <a:lnTo>
                    <a:pt x="13" y="142"/>
                  </a:lnTo>
                  <a:lnTo>
                    <a:pt x="3" y="104"/>
                  </a:lnTo>
                  <a:lnTo>
                    <a:pt x="0" y="66"/>
                  </a:lnTo>
                  <a:lnTo>
                    <a:pt x="3" y="33"/>
                  </a:lnTo>
                  <a:lnTo>
                    <a:pt x="1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9" name="Freeform 185"/>
            <p:cNvSpPr/>
            <p:nvPr/>
          </p:nvSpPr>
          <p:spPr bwMode="auto">
            <a:xfrm>
              <a:off x="10059988" y="3074988"/>
              <a:ext cx="463550" cy="92075"/>
            </a:xfrm>
            <a:custGeom>
              <a:avLst/>
              <a:gdLst>
                <a:gd name="T0" fmla="*/ 87 w 3212"/>
                <a:gd name="T1" fmla="*/ 40 h 647"/>
                <a:gd name="T2" fmla="*/ 256 w 3212"/>
                <a:gd name="T3" fmla="*/ 113 h 647"/>
                <a:gd name="T4" fmla="*/ 442 w 3212"/>
                <a:gd name="T5" fmla="*/ 178 h 647"/>
                <a:gd name="T6" fmla="*/ 647 w 3212"/>
                <a:gd name="T7" fmla="*/ 233 h 647"/>
                <a:gd name="T8" fmla="*/ 869 w 3212"/>
                <a:gd name="T9" fmla="*/ 277 h 647"/>
                <a:gd name="T10" fmla="*/ 1103 w 3212"/>
                <a:gd name="T11" fmla="*/ 310 h 647"/>
                <a:gd name="T12" fmla="*/ 1349 w 3212"/>
                <a:gd name="T13" fmla="*/ 330 h 647"/>
                <a:gd name="T14" fmla="*/ 1606 w 3212"/>
                <a:gd name="T15" fmla="*/ 337 h 647"/>
                <a:gd name="T16" fmla="*/ 1862 w 3212"/>
                <a:gd name="T17" fmla="*/ 330 h 647"/>
                <a:gd name="T18" fmla="*/ 2109 w 3212"/>
                <a:gd name="T19" fmla="*/ 310 h 647"/>
                <a:gd name="T20" fmla="*/ 2343 w 3212"/>
                <a:gd name="T21" fmla="*/ 277 h 647"/>
                <a:gd name="T22" fmla="*/ 2564 w 3212"/>
                <a:gd name="T23" fmla="*/ 233 h 647"/>
                <a:gd name="T24" fmla="*/ 2769 w 3212"/>
                <a:gd name="T25" fmla="*/ 178 h 647"/>
                <a:gd name="T26" fmla="*/ 2957 w 3212"/>
                <a:gd name="T27" fmla="*/ 113 h 647"/>
                <a:gd name="T28" fmla="*/ 3125 w 3212"/>
                <a:gd name="T29" fmla="*/ 40 h 647"/>
                <a:gd name="T30" fmla="*/ 3209 w 3212"/>
                <a:gd name="T31" fmla="*/ 32 h 647"/>
                <a:gd name="T32" fmla="*/ 3209 w 3212"/>
                <a:gd name="T33" fmla="*/ 103 h 647"/>
                <a:gd name="T34" fmla="*/ 3182 w 3212"/>
                <a:gd name="T35" fmla="*/ 178 h 647"/>
                <a:gd name="T36" fmla="*/ 3130 w 3212"/>
                <a:gd name="T37" fmla="*/ 249 h 647"/>
                <a:gd name="T38" fmla="*/ 3055 w 3212"/>
                <a:gd name="T39" fmla="*/ 316 h 647"/>
                <a:gd name="T40" fmla="*/ 2958 w 3212"/>
                <a:gd name="T41" fmla="*/ 379 h 647"/>
                <a:gd name="T42" fmla="*/ 2841 w 3212"/>
                <a:gd name="T43" fmla="*/ 437 h 647"/>
                <a:gd name="T44" fmla="*/ 2706 w 3212"/>
                <a:gd name="T45" fmla="*/ 489 h 647"/>
                <a:gd name="T46" fmla="*/ 2554 w 3212"/>
                <a:gd name="T47" fmla="*/ 535 h 647"/>
                <a:gd name="T48" fmla="*/ 2388 w 3212"/>
                <a:gd name="T49" fmla="*/ 574 h 647"/>
                <a:gd name="T50" fmla="*/ 2208 w 3212"/>
                <a:gd name="T51" fmla="*/ 605 h 647"/>
                <a:gd name="T52" fmla="*/ 2016 w 3212"/>
                <a:gd name="T53" fmla="*/ 628 h 647"/>
                <a:gd name="T54" fmla="*/ 1815 w 3212"/>
                <a:gd name="T55" fmla="*/ 642 h 647"/>
                <a:gd name="T56" fmla="*/ 1606 w 3212"/>
                <a:gd name="T57" fmla="*/ 647 h 647"/>
                <a:gd name="T58" fmla="*/ 1397 w 3212"/>
                <a:gd name="T59" fmla="*/ 642 h 647"/>
                <a:gd name="T60" fmla="*/ 1195 w 3212"/>
                <a:gd name="T61" fmla="*/ 628 h 647"/>
                <a:gd name="T62" fmla="*/ 1004 w 3212"/>
                <a:gd name="T63" fmla="*/ 605 h 647"/>
                <a:gd name="T64" fmla="*/ 824 w 3212"/>
                <a:gd name="T65" fmla="*/ 574 h 647"/>
                <a:gd name="T66" fmla="*/ 658 w 3212"/>
                <a:gd name="T67" fmla="*/ 535 h 647"/>
                <a:gd name="T68" fmla="*/ 506 w 3212"/>
                <a:gd name="T69" fmla="*/ 489 h 647"/>
                <a:gd name="T70" fmla="*/ 371 w 3212"/>
                <a:gd name="T71" fmla="*/ 437 h 647"/>
                <a:gd name="T72" fmla="*/ 254 w 3212"/>
                <a:gd name="T73" fmla="*/ 379 h 647"/>
                <a:gd name="T74" fmla="*/ 157 w 3212"/>
                <a:gd name="T75" fmla="*/ 316 h 647"/>
                <a:gd name="T76" fmla="*/ 82 w 3212"/>
                <a:gd name="T77" fmla="*/ 249 h 647"/>
                <a:gd name="T78" fmla="*/ 30 w 3212"/>
                <a:gd name="T79" fmla="*/ 178 h 647"/>
                <a:gd name="T80" fmla="*/ 3 w 3212"/>
                <a:gd name="T81" fmla="*/ 103 h 647"/>
                <a:gd name="T82" fmla="*/ 3 w 3212"/>
                <a:gd name="T83" fmla="*/ 32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12" h="647">
                  <a:moveTo>
                    <a:pt x="11" y="0"/>
                  </a:moveTo>
                  <a:lnTo>
                    <a:pt x="87" y="40"/>
                  </a:lnTo>
                  <a:lnTo>
                    <a:pt x="169" y="78"/>
                  </a:lnTo>
                  <a:lnTo>
                    <a:pt x="256" y="113"/>
                  </a:lnTo>
                  <a:lnTo>
                    <a:pt x="346" y="147"/>
                  </a:lnTo>
                  <a:lnTo>
                    <a:pt x="442" y="178"/>
                  </a:lnTo>
                  <a:lnTo>
                    <a:pt x="543" y="207"/>
                  </a:lnTo>
                  <a:lnTo>
                    <a:pt x="647" y="233"/>
                  </a:lnTo>
                  <a:lnTo>
                    <a:pt x="756" y="257"/>
                  </a:lnTo>
                  <a:lnTo>
                    <a:pt x="869" y="277"/>
                  </a:lnTo>
                  <a:lnTo>
                    <a:pt x="985" y="295"/>
                  </a:lnTo>
                  <a:lnTo>
                    <a:pt x="1103" y="310"/>
                  </a:lnTo>
                  <a:lnTo>
                    <a:pt x="1225" y="322"/>
                  </a:lnTo>
                  <a:lnTo>
                    <a:pt x="1349" y="330"/>
                  </a:lnTo>
                  <a:lnTo>
                    <a:pt x="1477" y="335"/>
                  </a:lnTo>
                  <a:lnTo>
                    <a:pt x="1606" y="337"/>
                  </a:lnTo>
                  <a:lnTo>
                    <a:pt x="1735" y="335"/>
                  </a:lnTo>
                  <a:lnTo>
                    <a:pt x="1862" y="330"/>
                  </a:lnTo>
                  <a:lnTo>
                    <a:pt x="1987" y="322"/>
                  </a:lnTo>
                  <a:lnTo>
                    <a:pt x="2109" y="310"/>
                  </a:lnTo>
                  <a:lnTo>
                    <a:pt x="2228" y="295"/>
                  </a:lnTo>
                  <a:lnTo>
                    <a:pt x="2343" y="277"/>
                  </a:lnTo>
                  <a:lnTo>
                    <a:pt x="2455" y="257"/>
                  </a:lnTo>
                  <a:lnTo>
                    <a:pt x="2564" y="233"/>
                  </a:lnTo>
                  <a:lnTo>
                    <a:pt x="2669" y="207"/>
                  </a:lnTo>
                  <a:lnTo>
                    <a:pt x="2769" y="178"/>
                  </a:lnTo>
                  <a:lnTo>
                    <a:pt x="2865" y="147"/>
                  </a:lnTo>
                  <a:lnTo>
                    <a:pt x="2957" y="113"/>
                  </a:lnTo>
                  <a:lnTo>
                    <a:pt x="3044" y="78"/>
                  </a:lnTo>
                  <a:lnTo>
                    <a:pt x="3125" y="40"/>
                  </a:lnTo>
                  <a:lnTo>
                    <a:pt x="3202" y="0"/>
                  </a:lnTo>
                  <a:lnTo>
                    <a:pt x="3209" y="32"/>
                  </a:lnTo>
                  <a:lnTo>
                    <a:pt x="3212" y="65"/>
                  </a:lnTo>
                  <a:lnTo>
                    <a:pt x="3209" y="103"/>
                  </a:lnTo>
                  <a:lnTo>
                    <a:pt x="3199" y="141"/>
                  </a:lnTo>
                  <a:lnTo>
                    <a:pt x="3182" y="178"/>
                  </a:lnTo>
                  <a:lnTo>
                    <a:pt x="3159" y="214"/>
                  </a:lnTo>
                  <a:lnTo>
                    <a:pt x="3130" y="249"/>
                  </a:lnTo>
                  <a:lnTo>
                    <a:pt x="3096" y="283"/>
                  </a:lnTo>
                  <a:lnTo>
                    <a:pt x="3055" y="316"/>
                  </a:lnTo>
                  <a:lnTo>
                    <a:pt x="3009" y="348"/>
                  </a:lnTo>
                  <a:lnTo>
                    <a:pt x="2958" y="379"/>
                  </a:lnTo>
                  <a:lnTo>
                    <a:pt x="2902" y="409"/>
                  </a:lnTo>
                  <a:lnTo>
                    <a:pt x="2841" y="437"/>
                  </a:lnTo>
                  <a:lnTo>
                    <a:pt x="2775" y="464"/>
                  </a:lnTo>
                  <a:lnTo>
                    <a:pt x="2706" y="489"/>
                  </a:lnTo>
                  <a:lnTo>
                    <a:pt x="2632" y="513"/>
                  </a:lnTo>
                  <a:lnTo>
                    <a:pt x="2554" y="535"/>
                  </a:lnTo>
                  <a:lnTo>
                    <a:pt x="2472" y="555"/>
                  </a:lnTo>
                  <a:lnTo>
                    <a:pt x="2388" y="574"/>
                  </a:lnTo>
                  <a:lnTo>
                    <a:pt x="2299" y="590"/>
                  </a:lnTo>
                  <a:lnTo>
                    <a:pt x="2208" y="605"/>
                  </a:lnTo>
                  <a:lnTo>
                    <a:pt x="2114" y="618"/>
                  </a:lnTo>
                  <a:lnTo>
                    <a:pt x="2016" y="628"/>
                  </a:lnTo>
                  <a:lnTo>
                    <a:pt x="1917" y="636"/>
                  </a:lnTo>
                  <a:lnTo>
                    <a:pt x="1815" y="642"/>
                  </a:lnTo>
                  <a:lnTo>
                    <a:pt x="1712" y="646"/>
                  </a:lnTo>
                  <a:lnTo>
                    <a:pt x="1606" y="647"/>
                  </a:lnTo>
                  <a:lnTo>
                    <a:pt x="1500" y="646"/>
                  </a:lnTo>
                  <a:lnTo>
                    <a:pt x="1397" y="642"/>
                  </a:lnTo>
                  <a:lnTo>
                    <a:pt x="1295" y="636"/>
                  </a:lnTo>
                  <a:lnTo>
                    <a:pt x="1195" y="628"/>
                  </a:lnTo>
                  <a:lnTo>
                    <a:pt x="1098" y="618"/>
                  </a:lnTo>
                  <a:lnTo>
                    <a:pt x="1004" y="605"/>
                  </a:lnTo>
                  <a:lnTo>
                    <a:pt x="912" y="590"/>
                  </a:lnTo>
                  <a:lnTo>
                    <a:pt x="824" y="574"/>
                  </a:lnTo>
                  <a:lnTo>
                    <a:pt x="739" y="555"/>
                  </a:lnTo>
                  <a:lnTo>
                    <a:pt x="658" y="535"/>
                  </a:lnTo>
                  <a:lnTo>
                    <a:pt x="580" y="513"/>
                  </a:lnTo>
                  <a:lnTo>
                    <a:pt x="506" y="489"/>
                  </a:lnTo>
                  <a:lnTo>
                    <a:pt x="436" y="464"/>
                  </a:lnTo>
                  <a:lnTo>
                    <a:pt x="371" y="437"/>
                  </a:lnTo>
                  <a:lnTo>
                    <a:pt x="310" y="409"/>
                  </a:lnTo>
                  <a:lnTo>
                    <a:pt x="254" y="379"/>
                  </a:lnTo>
                  <a:lnTo>
                    <a:pt x="203" y="348"/>
                  </a:lnTo>
                  <a:lnTo>
                    <a:pt x="157" y="316"/>
                  </a:lnTo>
                  <a:lnTo>
                    <a:pt x="116" y="283"/>
                  </a:lnTo>
                  <a:lnTo>
                    <a:pt x="82" y="249"/>
                  </a:lnTo>
                  <a:lnTo>
                    <a:pt x="53" y="214"/>
                  </a:lnTo>
                  <a:lnTo>
                    <a:pt x="30" y="178"/>
                  </a:lnTo>
                  <a:lnTo>
                    <a:pt x="13" y="141"/>
                  </a:lnTo>
                  <a:lnTo>
                    <a:pt x="3" y="103"/>
                  </a:lnTo>
                  <a:lnTo>
                    <a:pt x="0" y="65"/>
                  </a:lnTo>
                  <a:lnTo>
                    <a:pt x="3" y="32"/>
                  </a:lnTo>
                  <a:lnTo>
                    <a:pt x="11"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40" name="Group 54"/>
          <p:cNvGrpSpPr/>
          <p:nvPr/>
        </p:nvGrpSpPr>
        <p:grpSpPr>
          <a:xfrm>
            <a:off x="5846140" y="2709259"/>
            <a:ext cx="245862" cy="243228"/>
            <a:chOff x="2587625" y="4291013"/>
            <a:chExt cx="444500" cy="439738"/>
          </a:xfrm>
          <a:solidFill>
            <a:schemeClr val="bg1"/>
          </a:solidFill>
        </p:grpSpPr>
        <p:sp>
          <p:nvSpPr>
            <p:cNvPr id="41" name="Freeform 290"/>
            <p:cNvSpPr>
              <a:spLocks noEditPoints="1"/>
            </p:cNvSpPr>
            <p:nvPr/>
          </p:nvSpPr>
          <p:spPr bwMode="auto">
            <a:xfrm>
              <a:off x="2790825" y="4491038"/>
              <a:ext cx="241300" cy="239713"/>
            </a:xfrm>
            <a:custGeom>
              <a:avLst/>
              <a:gdLst>
                <a:gd name="T0" fmla="*/ 582 w 1676"/>
                <a:gd name="T1" fmla="*/ 282 h 1813"/>
                <a:gd name="T2" fmla="*/ 453 w 1676"/>
                <a:gd name="T3" fmla="*/ 343 h 1813"/>
                <a:gd name="T4" fmla="*/ 344 w 1676"/>
                <a:gd name="T5" fmla="*/ 449 h 1813"/>
                <a:gd name="T6" fmla="*/ 274 w 1676"/>
                <a:gd name="T7" fmla="*/ 582 h 1813"/>
                <a:gd name="T8" fmla="*/ 246 w 1676"/>
                <a:gd name="T9" fmla="*/ 729 h 1813"/>
                <a:gd name="T10" fmla="*/ 260 w 1676"/>
                <a:gd name="T11" fmla="*/ 878 h 1813"/>
                <a:gd name="T12" fmla="*/ 316 w 1676"/>
                <a:gd name="T13" fmla="*/ 1018 h 1813"/>
                <a:gd name="T14" fmla="*/ 414 w 1676"/>
                <a:gd name="T15" fmla="*/ 1136 h 1813"/>
                <a:gd name="T16" fmla="*/ 538 w 1676"/>
                <a:gd name="T17" fmla="*/ 1212 h 1813"/>
                <a:gd name="T18" fmla="*/ 673 w 1676"/>
                <a:gd name="T19" fmla="*/ 1242 h 1813"/>
                <a:gd name="T20" fmla="*/ 811 w 1676"/>
                <a:gd name="T21" fmla="*/ 1227 h 1813"/>
                <a:gd name="T22" fmla="*/ 941 w 1676"/>
                <a:gd name="T23" fmla="*/ 1166 h 1813"/>
                <a:gd name="T24" fmla="*/ 1049 w 1676"/>
                <a:gd name="T25" fmla="*/ 1061 h 1813"/>
                <a:gd name="T26" fmla="*/ 1119 w 1676"/>
                <a:gd name="T27" fmla="*/ 927 h 1813"/>
                <a:gd name="T28" fmla="*/ 1147 w 1676"/>
                <a:gd name="T29" fmla="*/ 779 h 1813"/>
                <a:gd name="T30" fmla="*/ 1133 w 1676"/>
                <a:gd name="T31" fmla="*/ 630 h 1813"/>
                <a:gd name="T32" fmla="*/ 1077 w 1676"/>
                <a:gd name="T33" fmla="*/ 491 h 1813"/>
                <a:gd name="T34" fmla="*/ 980 w 1676"/>
                <a:gd name="T35" fmla="*/ 374 h 1813"/>
                <a:gd name="T36" fmla="*/ 855 w 1676"/>
                <a:gd name="T37" fmla="*/ 298 h 1813"/>
                <a:gd name="T38" fmla="*/ 720 w 1676"/>
                <a:gd name="T39" fmla="*/ 267 h 1813"/>
                <a:gd name="T40" fmla="*/ 781 w 1676"/>
                <a:gd name="T41" fmla="*/ 5 h 1813"/>
                <a:gd name="T42" fmla="*/ 946 w 1676"/>
                <a:gd name="T43" fmla="*/ 49 h 1813"/>
                <a:gd name="T44" fmla="*/ 1099 w 1676"/>
                <a:gd name="T45" fmla="*/ 137 h 1813"/>
                <a:gd name="T46" fmla="*/ 1230 w 1676"/>
                <a:gd name="T47" fmla="*/ 267 h 1813"/>
                <a:gd name="T48" fmla="*/ 1324 w 1676"/>
                <a:gd name="T49" fmla="*/ 424 h 1813"/>
                <a:gd name="T50" fmla="*/ 1378 w 1676"/>
                <a:gd name="T51" fmla="*/ 596 h 1813"/>
                <a:gd name="T52" fmla="*/ 1393 w 1676"/>
                <a:gd name="T53" fmla="*/ 775 h 1813"/>
                <a:gd name="T54" fmla="*/ 1368 w 1676"/>
                <a:gd name="T55" fmla="*/ 953 h 1813"/>
                <a:gd name="T56" fmla="*/ 1603 w 1676"/>
                <a:gd name="T57" fmla="*/ 1363 h 1813"/>
                <a:gd name="T58" fmla="*/ 1656 w 1676"/>
                <a:gd name="T59" fmla="*/ 1449 h 1813"/>
                <a:gd name="T60" fmla="*/ 1676 w 1676"/>
                <a:gd name="T61" fmla="*/ 1550 h 1813"/>
                <a:gd name="T62" fmla="*/ 1656 w 1676"/>
                <a:gd name="T63" fmla="*/ 1651 h 1813"/>
                <a:gd name="T64" fmla="*/ 1603 w 1676"/>
                <a:gd name="T65" fmla="*/ 1737 h 1813"/>
                <a:gd name="T66" fmla="*/ 1515 w 1676"/>
                <a:gd name="T67" fmla="*/ 1798 h 1813"/>
                <a:gd name="T68" fmla="*/ 1414 w 1676"/>
                <a:gd name="T69" fmla="*/ 1813 h 1813"/>
                <a:gd name="T70" fmla="*/ 1316 w 1676"/>
                <a:gd name="T71" fmla="*/ 1783 h 1813"/>
                <a:gd name="T72" fmla="*/ 986 w 1676"/>
                <a:gd name="T73" fmla="*/ 1441 h 1813"/>
                <a:gd name="T74" fmla="*/ 826 w 1676"/>
                <a:gd name="T75" fmla="*/ 1496 h 1813"/>
                <a:gd name="T76" fmla="*/ 660 w 1676"/>
                <a:gd name="T77" fmla="*/ 1508 h 1813"/>
                <a:gd name="T78" fmla="*/ 496 w 1676"/>
                <a:gd name="T79" fmla="*/ 1477 h 1813"/>
                <a:gd name="T80" fmla="*/ 341 w 1676"/>
                <a:gd name="T81" fmla="*/ 1404 h 1813"/>
                <a:gd name="T82" fmla="*/ 204 w 1676"/>
                <a:gd name="T83" fmla="*/ 1289 h 1813"/>
                <a:gd name="T84" fmla="*/ 95 w 1676"/>
                <a:gd name="T85" fmla="*/ 1137 h 1813"/>
                <a:gd name="T86" fmla="*/ 27 w 1676"/>
                <a:gd name="T87" fmla="*/ 966 h 1813"/>
                <a:gd name="T88" fmla="*/ 0 w 1676"/>
                <a:gd name="T89" fmla="*/ 785 h 1813"/>
                <a:gd name="T90" fmla="*/ 13 w 1676"/>
                <a:gd name="T91" fmla="*/ 602 h 1813"/>
                <a:gd name="T92" fmla="*/ 67 w 1676"/>
                <a:gd name="T93" fmla="*/ 427 h 1813"/>
                <a:gd name="T94" fmla="*/ 162 w 1676"/>
                <a:gd name="T95" fmla="*/ 268 h 1813"/>
                <a:gd name="T96" fmla="*/ 294 w 1676"/>
                <a:gd name="T97" fmla="*/ 137 h 1813"/>
                <a:gd name="T98" fmla="*/ 447 w 1676"/>
                <a:gd name="T99" fmla="*/ 49 h 1813"/>
                <a:gd name="T100" fmla="*/ 612 w 1676"/>
                <a:gd name="T101" fmla="*/ 5 h 1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76" h="1813">
                  <a:moveTo>
                    <a:pt x="673" y="267"/>
                  </a:moveTo>
                  <a:lnTo>
                    <a:pt x="627" y="272"/>
                  </a:lnTo>
                  <a:lnTo>
                    <a:pt x="582" y="282"/>
                  </a:lnTo>
                  <a:lnTo>
                    <a:pt x="538" y="298"/>
                  </a:lnTo>
                  <a:lnTo>
                    <a:pt x="495" y="317"/>
                  </a:lnTo>
                  <a:lnTo>
                    <a:pt x="453" y="343"/>
                  </a:lnTo>
                  <a:lnTo>
                    <a:pt x="414" y="374"/>
                  </a:lnTo>
                  <a:lnTo>
                    <a:pt x="377" y="409"/>
                  </a:lnTo>
                  <a:lnTo>
                    <a:pt x="344" y="449"/>
                  </a:lnTo>
                  <a:lnTo>
                    <a:pt x="316" y="491"/>
                  </a:lnTo>
                  <a:lnTo>
                    <a:pt x="293" y="536"/>
                  </a:lnTo>
                  <a:lnTo>
                    <a:pt x="274" y="582"/>
                  </a:lnTo>
                  <a:lnTo>
                    <a:pt x="260" y="630"/>
                  </a:lnTo>
                  <a:lnTo>
                    <a:pt x="251" y="679"/>
                  </a:lnTo>
                  <a:lnTo>
                    <a:pt x="246" y="729"/>
                  </a:lnTo>
                  <a:lnTo>
                    <a:pt x="246" y="779"/>
                  </a:lnTo>
                  <a:lnTo>
                    <a:pt x="251" y="829"/>
                  </a:lnTo>
                  <a:lnTo>
                    <a:pt x="260" y="878"/>
                  </a:lnTo>
                  <a:lnTo>
                    <a:pt x="274" y="927"/>
                  </a:lnTo>
                  <a:lnTo>
                    <a:pt x="293" y="974"/>
                  </a:lnTo>
                  <a:lnTo>
                    <a:pt x="316" y="1018"/>
                  </a:lnTo>
                  <a:lnTo>
                    <a:pt x="344" y="1061"/>
                  </a:lnTo>
                  <a:lnTo>
                    <a:pt x="377" y="1100"/>
                  </a:lnTo>
                  <a:lnTo>
                    <a:pt x="414" y="1136"/>
                  </a:lnTo>
                  <a:lnTo>
                    <a:pt x="453" y="1166"/>
                  </a:lnTo>
                  <a:lnTo>
                    <a:pt x="495" y="1191"/>
                  </a:lnTo>
                  <a:lnTo>
                    <a:pt x="538" y="1212"/>
                  </a:lnTo>
                  <a:lnTo>
                    <a:pt x="582" y="1227"/>
                  </a:lnTo>
                  <a:lnTo>
                    <a:pt x="627" y="1237"/>
                  </a:lnTo>
                  <a:lnTo>
                    <a:pt x="673" y="1242"/>
                  </a:lnTo>
                  <a:lnTo>
                    <a:pt x="720" y="1242"/>
                  </a:lnTo>
                  <a:lnTo>
                    <a:pt x="766" y="1237"/>
                  </a:lnTo>
                  <a:lnTo>
                    <a:pt x="811" y="1227"/>
                  </a:lnTo>
                  <a:lnTo>
                    <a:pt x="855" y="1212"/>
                  </a:lnTo>
                  <a:lnTo>
                    <a:pt x="898" y="1191"/>
                  </a:lnTo>
                  <a:lnTo>
                    <a:pt x="941" y="1166"/>
                  </a:lnTo>
                  <a:lnTo>
                    <a:pt x="980" y="1136"/>
                  </a:lnTo>
                  <a:lnTo>
                    <a:pt x="1016" y="1100"/>
                  </a:lnTo>
                  <a:lnTo>
                    <a:pt x="1049" y="1061"/>
                  </a:lnTo>
                  <a:lnTo>
                    <a:pt x="1077" y="1018"/>
                  </a:lnTo>
                  <a:lnTo>
                    <a:pt x="1100" y="974"/>
                  </a:lnTo>
                  <a:lnTo>
                    <a:pt x="1119" y="927"/>
                  </a:lnTo>
                  <a:lnTo>
                    <a:pt x="1133" y="878"/>
                  </a:lnTo>
                  <a:lnTo>
                    <a:pt x="1142" y="829"/>
                  </a:lnTo>
                  <a:lnTo>
                    <a:pt x="1147" y="779"/>
                  </a:lnTo>
                  <a:lnTo>
                    <a:pt x="1147" y="729"/>
                  </a:lnTo>
                  <a:lnTo>
                    <a:pt x="1142" y="679"/>
                  </a:lnTo>
                  <a:lnTo>
                    <a:pt x="1133" y="630"/>
                  </a:lnTo>
                  <a:lnTo>
                    <a:pt x="1119" y="582"/>
                  </a:lnTo>
                  <a:lnTo>
                    <a:pt x="1100" y="536"/>
                  </a:lnTo>
                  <a:lnTo>
                    <a:pt x="1077" y="491"/>
                  </a:lnTo>
                  <a:lnTo>
                    <a:pt x="1049" y="449"/>
                  </a:lnTo>
                  <a:lnTo>
                    <a:pt x="1016" y="409"/>
                  </a:lnTo>
                  <a:lnTo>
                    <a:pt x="980" y="374"/>
                  </a:lnTo>
                  <a:lnTo>
                    <a:pt x="941" y="343"/>
                  </a:lnTo>
                  <a:lnTo>
                    <a:pt x="898" y="317"/>
                  </a:lnTo>
                  <a:lnTo>
                    <a:pt x="855" y="298"/>
                  </a:lnTo>
                  <a:lnTo>
                    <a:pt x="811" y="282"/>
                  </a:lnTo>
                  <a:lnTo>
                    <a:pt x="766" y="272"/>
                  </a:lnTo>
                  <a:lnTo>
                    <a:pt x="720" y="267"/>
                  </a:lnTo>
                  <a:lnTo>
                    <a:pt x="673" y="267"/>
                  </a:lnTo>
                  <a:close/>
                  <a:moveTo>
                    <a:pt x="725" y="0"/>
                  </a:moveTo>
                  <a:lnTo>
                    <a:pt x="781" y="5"/>
                  </a:lnTo>
                  <a:lnTo>
                    <a:pt x="837" y="15"/>
                  </a:lnTo>
                  <a:lnTo>
                    <a:pt x="892" y="29"/>
                  </a:lnTo>
                  <a:lnTo>
                    <a:pt x="946" y="49"/>
                  </a:lnTo>
                  <a:lnTo>
                    <a:pt x="999" y="74"/>
                  </a:lnTo>
                  <a:lnTo>
                    <a:pt x="1050" y="103"/>
                  </a:lnTo>
                  <a:lnTo>
                    <a:pt x="1099" y="137"/>
                  </a:lnTo>
                  <a:lnTo>
                    <a:pt x="1145" y="176"/>
                  </a:lnTo>
                  <a:lnTo>
                    <a:pt x="1190" y="219"/>
                  </a:lnTo>
                  <a:lnTo>
                    <a:pt x="1230" y="267"/>
                  </a:lnTo>
                  <a:lnTo>
                    <a:pt x="1266" y="317"/>
                  </a:lnTo>
                  <a:lnTo>
                    <a:pt x="1297" y="369"/>
                  </a:lnTo>
                  <a:lnTo>
                    <a:pt x="1324" y="424"/>
                  </a:lnTo>
                  <a:lnTo>
                    <a:pt x="1346" y="479"/>
                  </a:lnTo>
                  <a:lnTo>
                    <a:pt x="1364" y="537"/>
                  </a:lnTo>
                  <a:lnTo>
                    <a:pt x="1378" y="596"/>
                  </a:lnTo>
                  <a:lnTo>
                    <a:pt x="1387" y="655"/>
                  </a:lnTo>
                  <a:lnTo>
                    <a:pt x="1392" y="715"/>
                  </a:lnTo>
                  <a:lnTo>
                    <a:pt x="1393" y="775"/>
                  </a:lnTo>
                  <a:lnTo>
                    <a:pt x="1389" y="835"/>
                  </a:lnTo>
                  <a:lnTo>
                    <a:pt x="1381" y="895"/>
                  </a:lnTo>
                  <a:lnTo>
                    <a:pt x="1368" y="953"/>
                  </a:lnTo>
                  <a:lnTo>
                    <a:pt x="1351" y="1011"/>
                  </a:lnTo>
                  <a:lnTo>
                    <a:pt x="1330" y="1067"/>
                  </a:lnTo>
                  <a:lnTo>
                    <a:pt x="1603" y="1363"/>
                  </a:lnTo>
                  <a:lnTo>
                    <a:pt x="1625" y="1389"/>
                  </a:lnTo>
                  <a:lnTo>
                    <a:pt x="1642" y="1419"/>
                  </a:lnTo>
                  <a:lnTo>
                    <a:pt x="1656" y="1449"/>
                  </a:lnTo>
                  <a:lnTo>
                    <a:pt x="1668" y="1482"/>
                  </a:lnTo>
                  <a:lnTo>
                    <a:pt x="1674" y="1515"/>
                  </a:lnTo>
                  <a:lnTo>
                    <a:pt x="1676" y="1550"/>
                  </a:lnTo>
                  <a:lnTo>
                    <a:pt x="1674" y="1585"/>
                  </a:lnTo>
                  <a:lnTo>
                    <a:pt x="1668" y="1619"/>
                  </a:lnTo>
                  <a:lnTo>
                    <a:pt x="1656" y="1651"/>
                  </a:lnTo>
                  <a:lnTo>
                    <a:pt x="1642" y="1682"/>
                  </a:lnTo>
                  <a:lnTo>
                    <a:pt x="1625" y="1711"/>
                  </a:lnTo>
                  <a:lnTo>
                    <a:pt x="1603" y="1737"/>
                  </a:lnTo>
                  <a:lnTo>
                    <a:pt x="1576" y="1762"/>
                  </a:lnTo>
                  <a:lnTo>
                    <a:pt x="1547" y="1783"/>
                  </a:lnTo>
                  <a:lnTo>
                    <a:pt x="1515" y="1798"/>
                  </a:lnTo>
                  <a:lnTo>
                    <a:pt x="1482" y="1809"/>
                  </a:lnTo>
                  <a:lnTo>
                    <a:pt x="1449" y="1813"/>
                  </a:lnTo>
                  <a:lnTo>
                    <a:pt x="1414" y="1813"/>
                  </a:lnTo>
                  <a:lnTo>
                    <a:pt x="1380" y="1809"/>
                  </a:lnTo>
                  <a:lnTo>
                    <a:pt x="1347" y="1798"/>
                  </a:lnTo>
                  <a:lnTo>
                    <a:pt x="1316" y="1783"/>
                  </a:lnTo>
                  <a:lnTo>
                    <a:pt x="1286" y="1762"/>
                  </a:lnTo>
                  <a:lnTo>
                    <a:pt x="1259" y="1737"/>
                  </a:lnTo>
                  <a:lnTo>
                    <a:pt x="986" y="1441"/>
                  </a:lnTo>
                  <a:lnTo>
                    <a:pt x="934" y="1464"/>
                  </a:lnTo>
                  <a:lnTo>
                    <a:pt x="880" y="1483"/>
                  </a:lnTo>
                  <a:lnTo>
                    <a:pt x="826" y="1496"/>
                  </a:lnTo>
                  <a:lnTo>
                    <a:pt x="771" y="1504"/>
                  </a:lnTo>
                  <a:lnTo>
                    <a:pt x="716" y="1509"/>
                  </a:lnTo>
                  <a:lnTo>
                    <a:pt x="660" y="1508"/>
                  </a:lnTo>
                  <a:lnTo>
                    <a:pt x="605" y="1503"/>
                  </a:lnTo>
                  <a:lnTo>
                    <a:pt x="550" y="1493"/>
                  </a:lnTo>
                  <a:lnTo>
                    <a:pt x="496" y="1477"/>
                  </a:lnTo>
                  <a:lnTo>
                    <a:pt x="443" y="1458"/>
                  </a:lnTo>
                  <a:lnTo>
                    <a:pt x="391" y="1434"/>
                  </a:lnTo>
                  <a:lnTo>
                    <a:pt x="341" y="1404"/>
                  </a:lnTo>
                  <a:lnTo>
                    <a:pt x="293" y="1371"/>
                  </a:lnTo>
                  <a:lnTo>
                    <a:pt x="247" y="1332"/>
                  </a:lnTo>
                  <a:lnTo>
                    <a:pt x="204" y="1289"/>
                  </a:lnTo>
                  <a:lnTo>
                    <a:pt x="162" y="1240"/>
                  </a:lnTo>
                  <a:lnTo>
                    <a:pt x="126" y="1190"/>
                  </a:lnTo>
                  <a:lnTo>
                    <a:pt x="95" y="1137"/>
                  </a:lnTo>
                  <a:lnTo>
                    <a:pt x="68" y="1082"/>
                  </a:lnTo>
                  <a:lnTo>
                    <a:pt x="45" y="1024"/>
                  </a:lnTo>
                  <a:lnTo>
                    <a:pt x="27" y="966"/>
                  </a:lnTo>
                  <a:lnTo>
                    <a:pt x="13" y="906"/>
                  </a:lnTo>
                  <a:lnTo>
                    <a:pt x="4" y="846"/>
                  </a:lnTo>
                  <a:lnTo>
                    <a:pt x="0" y="785"/>
                  </a:lnTo>
                  <a:lnTo>
                    <a:pt x="0" y="724"/>
                  </a:lnTo>
                  <a:lnTo>
                    <a:pt x="4" y="663"/>
                  </a:lnTo>
                  <a:lnTo>
                    <a:pt x="13" y="602"/>
                  </a:lnTo>
                  <a:lnTo>
                    <a:pt x="27" y="543"/>
                  </a:lnTo>
                  <a:lnTo>
                    <a:pt x="45" y="485"/>
                  </a:lnTo>
                  <a:lnTo>
                    <a:pt x="67" y="427"/>
                  </a:lnTo>
                  <a:lnTo>
                    <a:pt x="94" y="373"/>
                  </a:lnTo>
                  <a:lnTo>
                    <a:pt x="126" y="319"/>
                  </a:lnTo>
                  <a:lnTo>
                    <a:pt x="162" y="268"/>
                  </a:lnTo>
                  <a:lnTo>
                    <a:pt x="203" y="220"/>
                  </a:lnTo>
                  <a:lnTo>
                    <a:pt x="247" y="176"/>
                  </a:lnTo>
                  <a:lnTo>
                    <a:pt x="294" y="137"/>
                  </a:lnTo>
                  <a:lnTo>
                    <a:pt x="343" y="103"/>
                  </a:lnTo>
                  <a:lnTo>
                    <a:pt x="394" y="74"/>
                  </a:lnTo>
                  <a:lnTo>
                    <a:pt x="447" y="49"/>
                  </a:lnTo>
                  <a:lnTo>
                    <a:pt x="501" y="29"/>
                  </a:lnTo>
                  <a:lnTo>
                    <a:pt x="556" y="15"/>
                  </a:lnTo>
                  <a:lnTo>
                    <a:pt x="612" y="5"/>
                  </a:lnTo>
                  <a:lnTo>
                    <a:pt x="668" y="0"/>
                  </a:lnTo>
                  <a:lnTo>
                    <a:pt x="725"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2" name="Freeform 291"/>
            <p:cNvSpPr/>
            <p:nvPr/>
          </p:nvSpPr>
          <p:spPr bwMode="auto">
            <a:xfrm>
              <a:off x="2811463" y="4335463"/>
              <a:ext cx="217488" cy="274638"/>
            </a:xfrm>
            <a:custGeom>
              <a:avLst/>
              <a:gdLst>
                <a:gd name="T0" fmla="*/ 459 w 1508"/>
                <a:gd name="T1" fmla="*/ 30 h 2083"/>
                <a:gd name="T2" fmla="*/ 619 w 1508"/>
                <a:gd name="T3" fmla="*/ 254 h 2083"/>
                <a:gd name="T4" fmla="*/ 841 w 1508"/>
                <a:gd name="T5" fmla="*/ 542 h 2083"/>
                <a:gd name="T6" fmla="*/ 960 w 1508"/>
                <a:gd name="T7" fmla="*/ 441 h 2083"/>
                <a:gd name="T8" fmla="*/ 1249 w 1508"/>
                <a:gd name="T9" fmla="*/ 400 h 2083"/>
                <a:gd name="T10" fmla="*/ 1340 w 1508"/>
                <a:gd name="T11" fmla="*/ 564 h 2083"/>
                <a:gd name="T12" fmla="*/ 1411 w 1508"/>
                <a:gd name="T13" fmla="*/ 741 h 2083"/>
                <a:gd name="T14" fmla="*/ 1464 w 1508"/>
                <a:gd name="T15" fmla="*/ 927 h 2083"/>
                <a:gd name="T16" fmla="*/ 1497 w 1508"/>
                <a:gd name="T17" fmla="*/ 1121 h 2083"/>
                <a:gd name="T18" fmla="*/ 1508 w 1508"/>
                <a:gd name="T19" fmla="*/ 1322 h 2083"/>
                <a:gd name="T20" fmla="*/ 1497 w 1508"/>
                <a:gd name="T21" fmla="*/ 1526 h 2083"/>
                <a:gd name="T22" fmla="*/ 1463 w 1508"/>
                <a:gd name="T23" fmla="*/ 1720 h 2083"/>
                <a:gd name="T24" fmla="*/ 1409 w 1508"/>
                <a:gd name="T25" fmla="*/ 1907 h 2083"/>
                <a:gd name="T26" fmla="*/ 1337 w 1508"/>
                <a:gd name="T27" fmla="*/ 2083 h 2083"/>
                <a:gd name="T28" fmla="*/ 1349 w 1508"/>
                <a:gd name="T29" fmla="*/ 1945 h 2083"/>
                <a:gd name="T30" fmla="*/ 1341 w 1508"/>
                <a:gd name="T31" fmla="*/ 1808 h 2083"/>
                <a:gd name="T32" fmla="*/ 1313 w 1508"/>
                <a:gd name="T33" fmla="*/ 1675 h 2083"/>
                <a:gd name="T34" fmla="*/ 1266 w 1508"/>
                <a:gd name="T35" fmla="*/ 1547 h 2083"/>
                <a:gd name="T36" fmla="*/ 1201 w 1508"/>
                <a:gd name="T37" fmla="*/ 1429 h 2083"/>
                <a:gd name="T38" fmla="*/ 1117 w 1508"/>
                <a:gd name="T39" fmla="*/ 1321 h 2083"/>
                <a:gd name="T40" fmla="*/ 1021 w 1508"/>
                <a:gd name="T41" fmla="*/ 1233 h 2083"/>
                <a:gd name="T42" fmla="*/ 915 w 1508"/>
                <a:gd name="T43" fmla="*/ 1162 h 2083"/>
                <a:gd name="T44" fmla="*/ 801 w 1508"/>
                <a:gd name="T45" fmla="*/ 1111 h 2083"/>
                <a:gd name="T46" fmla="*/ 680 w 1508"/>
                <a:gd name="T47" fmla="*/ 1080 h 2083"/>
                <a:gd name="T48" fmla="*/ 554 w 1508"/>
                <a:gd name="T49" fmla="*/ 1069 h 2083"/>
                <a:gd name="T50" fmla="*/ 416 w 1508"/>
                <a:gd name="T51" fmla="*/ 1082 h 2083"/>
                <a:gd name="T52" fmla="*/ 283 w 1508"/>
                <a:gd name="T53" fmla="*/ 1120 h 2083"/>
                <a:gd name="T54" fmla="*/ 160 w 1508"/>
                <a:gd name="T55" fmla="*/ 1182 h 2083"/>
                <a:gd name="T56" fmla="*/ 591 w 1508"/>
                <a:gd name="T57" fmla="*/ 812 h 2083"/>
                <a:gd name="T58" fmla="*/ 751 w 1508"/>
                <a:gd name="T59" fmla="*/ 755 h 2083"/>
                <a:gd name="T60" fmla="*/ 500 w 1508"/>
                <a:gd name="T61" fmla="*/ 407 h 2083"/>
                <a:gd name="T62" fmla="*/ 338 w 1508"/>
                <a:gd name="T63" fmla="*/ 367 h 2083"/>
                <a:gd name="T64" fmla="*/ 175 w 1508"/>
                <a:gd name="T65" fmla="*/ 519 h 2083"/>
                <a:gd name="T66" fmla="*/ 0 w 1508"/>
                <a:gd name="T67" fmla="*/ 375 h 2083"/>
                <a:gd name="T68" fmla="*/ 166 w 1508"/>
                <a:gd name="T69" fmla="*/ 151 h 2083"/>
                <a:gd name="T70" fmla="*/ 287 w 1508"/>
                <a:gd name="T71" fmla="*/ 289 h 2083"/>
                <a:gd name="T72" fmla="*/ 445 w 1508"/>
                <a:gd name="T73" fmla="*/ 351 h 2083"/>
                <a:gd name="T74" fmla="*/ 453 w 1508"/>
                <a:gd name="T75" fmla="*/ 220 h 2083"/>
                <a:gd name="T76" fmla="*/ 316 w 1508"/>
                <a:gd name="T77" fmla="*/ 0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08" h="2083">
                  <a:moveTo>
                    <a:pt x="316" y="0"/>
                  </a:moveTo>
                  <a:lnTo>
                    <a:pt x="459" y="30"/>
                  </a:lnTo>
                  <a:lnTo>
                    <a:pt x="582" y="149"/>
                  </a:lnTo>
                  <a:lnTo>
                    <a:pt x="619" y="254"/>
                  </a:lnTo>
                  <a:lnTo>
                    <a:pt x="647" y="352"/>
                  </a:lnTo>
                  <a:lnTo>
                    <a:pt x="841" y="542"/>
                  </a:lnTo>
                  <a:lnTo>
                    <a:pt x="891" y="559"/>
                  </a:lnTo>
                  <a:lnTo>
                    <a:pt x="960" y="441"/>
                  </a:lnTo>
                  <a:lnTo>
                    <a:pt x="1204" y="417"/>
                  </a:lnTo>
                  <a:lnTo>
                    <a:pt x="1249" y="400"/>
                  </a:lnTo>
                  <a:lnTo>
                    <a:pt x="1297" y="481"/>
                  </a:lnTo>
                  <a:lnTo>
                    <a:pt x="1340" y="564"/>
                  </a:lnTo>
                  <a:lnTo>
                    <a:pt x="1378" y="651"/>
                  </a:lnTo>
                  <a:lnTo>
                    <a:pt x="1411" y="741"/>
                  </a:lnTo>
                  <a:lnTo>
                    <a:pt x="1440" y="832"/>
                  </a:lnTo>
                  <a:lnTo>
                    <a:pt x="1464" y="927"/>
                  </a:lnTo>
                  <a:lnTo>
                    <a:pt x="1483" y="1022"/>
                  </a:lnTo>
                  <a:lnTo>
                    <a:pt x="1497" y="1121"/>
                  </a:lnTo>
                  <a:lnTo>
                    <a:pt x="1505" y="1221"/>
                  </a:lnTo>
                  <a:lnTo>
                    <a:pt x="1508" y="1322"/>
                  </a:lnTo>
                  <a:lnTo>
                    <a:pt x="1505" y="1425"/>
                  </a:lnTo>
                  <a:lnTo>
                    <a:pt x="1497" y="1526"/>
                  </a:lnTo>
                  <a:lnTo>
                    <a:pt x="1483" y="1623"/>
                  </a:lnTo>
                  <a:lnTo>
                    <a:pt x="1463" y="1720"/>
                  </a:lnTo>
                  <a:lnTo>
                    <a:pt x="1439" y="1815"/>
                  </a:lnTo>
                  <a:lnTo>
                    <a:pt x="1409" y="1907"/>
                  </a:lnTo>
                  <a:lnTo>
                    <a:pt x="1375" y="1996"/>
                  </a:lnTo>
                  <a:lnTo>
                    <a:pt x="1337" y="2083"/>
                  </a:lnTo>
                  <a:lnTo>
                    <a:pt x="1345" y="2015"/>
                  </a:lnTo>
                  <a:lnTo>
                    <a:pt x="1349" y="1945"/>
                  </a:lnTo>
                  <a:lnTo>
                    <a:pt x="1347" y="1877"/>
                  </a:lnTo>
                  <a:lnTo>
                    <a:pt x="1341" y="1808"/>
                  </a:lnTo>
                  <a:lnTo>
                    <a:pt x="1329" y="1741"/>
                  </a:lnTo>
                  <a:lnTo>
                    <a:pt x="1313" y="1675"/>
                  </a:lnTo>
                  <a:lnTo>
                    <a:pt x="1293" y="1610"/>
                  </a:lnTo>
                  <a:lnTo>
                    <a:pt x="1266" y="1547"/>
                  </a:lnTo>
                  <a:lnTo>
                    <a:pt x="1236" y="1486"/>
                  </a:lnTo>
                  <a:lnTo>
                    <a:pt x="1201" y="1429"/>
                  </a:lnTo>
                  <a:lnTo>
                    <a:pt x="1161" y="1373"/>
                  </a:lnTo>
                  <a:lnTo>
                    <a:pt x="1117" y="1321"/>
                  </a:lnTo>
                  <a:lnTo>
                    <a:pt x="1071" y="1276"/>
                  </a:lnTo>
                  <a:lnTo>
                    <a:pt x="1021" y="1233"/>
                  </a:lnTo>
                  <a:lnTo>
                    <a:pt x="969" y="1195"/>
                  </a:lnTo>
                  <a:lnTo>
                    <a:pt x="915" y="1162"/>
                  </a:lnTo>
                  <a:lnTo>
                    <a:pt x="859" y="1134"/>
                  </a:lnTo>
                  <a:lnTo>
                    <a:pt x="801" y="1111"/>
                  </a:lnTo>
                  <a:lnTo>
                    <a:pt x="741" y="1093"/>
                  </a:lnTo>
                  <a:lnTo>
                    <a:pt x="680" y="1080"/>
                  </a:lnTo>
                  <a:lnTo>
                    <a:pt x="617" y="1072"/>
                  </a:lnTo>
                  <a:lnTo>
                    <a:pt x="554" y="1069"/>
                  </a:lnTo>
                  <a:lnTo>
                    <a:pt x="484" y="1072"/>
                  </a:lnTo>
                  <a:lnTo>
                    <a:pt x="416" y="1082"/>
                  </a:lnTo>
                  <a:lnTo>
                    <a:pt x="349" y="1098"/>
                  </a:lnTo>
                  <a:lnTo>
                    <a:pt x="283" y="1120"/>
                  </a:lnTo>
                  <a:lnTo>
                    <a:pt x="220" y="1148"/>
                  </a:lnTo>
                  <a:lnTo>
                    <a:pt x="160" y="1182"/>
                  </a:lnTo>
                  <a:lnTo>
                    <a:pt x="338" y="952"/>
                  </a:lnTo>
                  <a:lnTo>
                    <a:pt x="591" y="812"/>
                  </a:lnTo>
                  <a:lnTo>
                    <a:pt x="738" y="833"/>
                  </a:lnTo>
                  <a:lnTo>
                    <a:pt x="751" y="755"/>
                  </a:lnTo>
                  <a:lnTo>
                    <a:pt x="570" y="556"/>
                  </a:lnTo>
                  <a:lnTo>
                    <a:pt x="500" y="407"/>
                  </a:lnTo>
                  <a:lnTo>
                    <a:pt x="400" y="407"/>
                  </a:lnTo>
                  <a:lnTo>
                    <a:pt x="338" y="367"/>
                  </a:lnTo>
                  <a:lnTo>
                    <a:pt x="203" y="345"/>
                  </a:lnTo>
                  <a:lnTo>
                    <a:pt x="175" y="519"/>
                  </a:lnTo>
                  <a:lnTo>
                    <a:pt x="12" y="484"/>
                  </a:lnTo>
                  <a:lnTo>
                    <a:pt x="0" y="375"/>
                  </a:lnTo>
                  <a:lnTo>
                    <a:pt x="125" y="345"/>
                  </a:lnTo>
                  <a:lnTo>
                    <a:pt x="166" y="151"/>
                  </a:lnTo>
                  <a:lnTo>
                    <a:pt x="291" y="207"/>
                  </a:lnTo>
                  <a:lnTo>
                    <a:pt x="287" y="289"/>
                  </a:lnTo>
                  <a:lnTo>
                    <a:pt x="382" y="332"/>
                  </a:lnTo>
                  <a:lnTo>
                    <a:pt x="445" y="351"/>
                  </a:lnTo>
                  <a:lnTo>
                    <a:pt x="522" y="308"/>
                  </a:lnTo>
                  <a:lnTo>
                    <a:pt x="453" y="220"/>
                  </a:lnTo>
                  <a:lnTo>
                    <a:pt x="313" y="71"/>
                  </a:lnTo>
                  <a:lnTo>
                    <a:pt x="31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3" name="Freeform 292"/>
            <p:cNvSpPr/>
            <p:nvPr/>
          </p:nvSpPr>
          <p:spPr bwMode="auto">
            <a:xfrm>
              <a:off x="2786063" y="4497388"/>
              <a:ext cx="30163" cy="26988"/>
            </a:xfrm>
            <a:custGeom>
              <a:avLst/>
              <a:gdLst>
                <a:gd name="T0" fmla="*/ 118 w 208"/>
                <a:gd name="T1" fmla="*/ 0 h 197"/>
                <a:gd name="T2" fmla="*/ 208 w 208"/>
                <a:gd name="T3" fmla="*/ 45 h 197"/>
                <a:gd name="T4" fmla="*/ 186 w 208"/>
                <a:gd name="T5" fmla="*/ 66 h 197"/>
                <a:gd name="T6" fmla="*/ 165 w 208"/>
                <a:gd name="T7" fmla="*/ 89 h 197"/>
                <a:gd name="T8" fmla="*/ 147 w 208"/>
                <a:gd name="T9" fmla="*/ 109 h 197"/>
                <a:gd name="T10" fmla="*/ 130 w 208"/>
                <a:gd name="T11" fmla="*/ 131 h 197"/>
                <a:gd name="T12" fmla="*/ 81 w 208"/>
                <a:gd name="T13" fmla="*/ 132 h 197"/>
                <a:gd name="T14" fmla="*/ 29 w 208"/>
                <a:gd name="T15" fmla="*/ 197 h 197"/>
                <a:gd name="T16" fmla="*/ 0 w 208"/>
                <a:gd name="T17" fmla="*/ 61 h 197"/>
                <a:gd name="T18" fmla="*/ 118 w 208"/>
                <a:gd name="T19"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197">
                  <a:moveTo>
                    <a:pt x="118" y="0"/>
                  </a:moveTo>
                  <a:lnTo>
                    <a:pt x="208" y="45"/>
                  </a:lnTo>
                  <a:lnTo>
                    <a:pt x="186" y="66"/>
                  </a:lnTo>
                  <a:lnTo>
                    <a:pt x="165" y="89"/>
                  </a:lnTo>
                  <a:lnTo>
                    <a:pt x="147" y="109"/>
                  </a:lnTo>
                  <a:lnTo>
                    <a:pt x="130" y="131"/>
                  </a:lnTo>
                  <a:lnTo>
                    <a:pt x="81" y="132"/>
                  </a:lnTo>
                  <a:lnTo>
                    <a:pt x="29" y="197"/>
                  </a:lnTo>
                  <a:lnTo>
                    <a:pt x="0" y="61"/>
                  </a:lnTo>
                  <a:lnTo>
                    <a:pt x="118"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4" name="Freeform 293"/>
            <p:cNvSpPr/>
            <p:nvPr/>
          </p:nvSpPr>
          <p:spPr bwMode="auto">
            <a:xfrm>
              <a:off x="2860675" y="4702175"/>
              <a:ext cx="52388" cy="20638"/>
            </a:xfrm>
            <a:custGeom>
              <a:avLst/>
              <a:gdLst>
                <a:gd name="T0" fmla="*/ 368 w 368"/>
                <a:gd name="T1" fmla="*/ 0 h 153"/>
                <a:gd name="T2" fmla="*/ 298 w 368"/>
                <a:gd name="T3" fmla="*/ 38 h 153"/>
                <a:gd name="T4" fmla="*/ 227 w 368"/>
                <a:gd name="T5" fmla="*/ 73 h 153"/>
                <a:gd name="T6" fmla="*/ 152 w 368"/>
                <a:gd name="T7" fmla="*/ 105 h 153"/>
                <a:gd name="T8" fmla="*/ 77 w 368"/>
                <a:gd name="T9" fmla="*/ 131 h 153"/>
                <a:gd name="T10" fmla="*/ 0 w 368"/>
                <a:gd name="T11" fmla="*/ 153 h 153"/>
                <a:gd name="T12" fmla="*/ 28 w 368"/>
                <a:gd name="T13" fmla="*/ 44 h 153"/>
                <a:gd name="T14" fmla="*/ 83 w 368"/>
                <a:gd name="T15" fmla="*/ 5 h 153"/>
                <a:gd name="T16" fmla="*/ 148 w 368"/>
                <a:gd name="T17" fmla="*/ 13 h 153"/>
                <a:gd name="T18" fmla="*/ 215 w 368"/>
                <a:gd name="T19" fmla="*/ 16 h 153"/>
                <a:gd name="T20" fmla="*/ 266 w 368"/>
                <a:gd name="T21" fmla="*/ 14 h 153"/>
                <a:gd name="T22" fmla="*/ 317 w 368"/>
                <a:gd name="T23" fmla="*/ 9 h 153"/>
                <a:gd name="T24" fmla="*/ 368 w 368"/>
                <a:gd name="T25"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8" h="153">
                  <a:moveTo>
                    <a:pt x="368" y="0"/>
                  </a:moveTo>
                  <a:lnTo>
                    <a:pt x="298" y="38"/>
                  </a:lnTo>
                  <a:lnTo>
                    <a:pt x="227" y="73"/>
                  </a:lnTo>
                  <a:lnTo>
                    <a:pt x="152" y="105"/>
                  </a:lnTo>
                  <a:lnTo>
                    <a:pt x="77" y="131"/>
                  </a:lnTo>
                  <a:lnTo>
                    <a:pt x="0" y="153"/>
                  </a:lnTo>
                  <a:lnTo>
                    <a:pt x="28" y="44"/>
                  </a:lnTo>
                  <a:lnTo>
                    <a:pt x="83" y="5"/>
                  </a:lnTo>
                  <a:lnTo>
                    <a:pt x="148" y="13"/>
                  </a:lnTo>
                  <a:lnTo>
                    <a:pt x="215" y="16"/>
                  </a:lnTo>
                  <a:lnTo>
                    <a:pt x="266" y="14"/>
                  </a:lnTo>
                  <a:lnTo>
                    <a:pt x="317" y="9"/>
                  </a:lnTo>
                  <a:lnTo>
                    <a:pt x="368"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5" name="Freeform 294"/>
            <p:cNvSpPr/>
            <p:nvPr/>
          </p:nvSpPr>
          <p:spPr bwMode="auto">
            <a:xfrm>
              <a:off x="2587625" y="4395788"/>
              <a:ext cx="249238" cy="333375"/>
            </a:xfrm>
            <a:custGeom>
              <a:avLst/>
              <a:gdLst>
                <a:gd name="T0" fmla="*/ 210 w 1723"/>
                <a:gd name="T1" fmla="*/ 95 h 2519"/>
                <a:gd name="T2" fmla="*/ 468 w 1723"/>
                <a:gd name="T3" fmla="*/ 157 h 2519"/>
                <a:gd name="T4" fmla="*/ 884 w 1723"/>
                <a:gd name="T5" fmla="*/ 389 h 2519"/>
                <a:gd name="T6" fmla="*/ 1103 w 1723"/>
                <a:gd name="T7" fmla="*/ 976 h 2519"/>
                <a:gd name="T8" fmla="*/ 1141 w 1723"/>
                <a:gd name="T9" fmla="*/ 862 h 2519"/>
                <a:gd name="T10" fmla="*/ 1389 w 1723"/>
                <a:gd name="T11" fmla="*/ 1094 h 2519"/>
                <a:gd name="T12" fmla="*/ 1344 w 1723"/>
                <a:gd name="T13" fmla="*/ 1213 h 2519"/>
                <a:gd name="T14" fmla="*/ 1316 w 1723"/>
                <a:gd name="T15" fmla="*/ 1341 h 2519"/>
                <a:gd name="T16" fmla="*/ 1307 w 1723"/>
                <a:gd name="T17" fmla="*/ 1472 h 2519"/>
                <a:gd name="T18" fmla="*/ 1317 w 1723"/>
                <a:gd name="T19" fmla="*/ 1609 h 2519"/>
                <a:gd name="T20" fmla="*/ 1346 w 1723"/>
                <a:gd name="T21" fmla="*/ 1741 h 2519"/>
                <a:gd name="T22" fmla="*/ 1394 w 1723"/>
                <a:gd name="T23" fmla="*/ 1865 h 2519"/>
                <a:gd name="T24" fmla="*/ 1459 w 1723"/>
                <a:gd name="T25" fmla="*/ 1979 h 2519"/>
                <a:gd name="T26" fmla="*/ 1541 w 1723"/>
                <a:gd name="T27" fmla="*/ 2083 h 2519"/>
                <a:gd name="T28" fmla="*/ 1628 w 1723"/>
                <a:gd name="T29" fmla="*/ 2165 h 2519"/>
                <a:gd name="T30" fmla="*/ 1723 w 1723"/>
                <a:gd name="T31" fmla="*/ 2230 h 2519"/>
                <a:gd name="T32" fmla="*/ 1714 w 1723"/>
                <a:gd name="T33" fmla="*/ 2268 h 2519"/>
                <a:gd name="T34" fmla="*/ 1708 w 1723"/>
                <a:gd name="T35" fmla="*/ 2294 h 2519"/>
                <a:gd name="T36" fmla="*/ 1706 w 1723"/>
                <a:gd name="T37" fmla="*/ 2304 h 2519"/>
                <a:gd name="T38" fmla="*/ 1659 w 1723"/>
                <a:gd name="T39" fmla="*/ 2513 h 2519"/>
                <a:gd name="T40" fmla="*/ 1530 w 1723"/>
                <a:gd name="T41" fmla="*/ 2519 h 2519"/>
                <a:gd name="T42" fmla="*/ 1338 w 1723"/>
                <a:gd name="T43" fmla="*/ 2506 h 2519"/>
                <a:gd name="T44" fmla="*/ 1154 w 1723"/>
                <a:gd name="T45" fmla="*/ 2468 h 2519"/>
                <a:gd name="T46" fmla="*/ 977 w 1723"/>
                <a:gd name="T47" fmla="*/ 2407 h 2519"/>
                <a:gd name="T48" fmla="*/ 810 w 1723"/>
                <a:gd name="T49" fmla="*/ 2325 h 2519"/>
                <a:gd name="T50" fmla="*/ 656 w 1723"/>
                <a:gd name="T51" fmla="*/ 2222 h 2519"/>
                <a:gd name="T52" fmla="*/ 514 w 1723"/>
                <a:gd name="T53" fmla="*/ 2101 h 2519"/>
                <a:gd name="T54" fmla="*/ 387 w 1723"/>
                <a:gd name="T55" fmla="*/ 1963 h 2519"/>
                <a:gd name="T56" fmla="*/ 274 w 1723"/>
                <a:gd name="T57" fmla="*/ 1809 h 2519"/>
                <a:gd name="T58" fmla="*/ 180 w 1723"/>
                <a:gd name="T59" fmla="*/ 1641 h 2519"/>
                <a:gd name="T60" fmla="*/ 103 w 1723"/>
                <a:gd name="T61" fmla="*/ 1461 h 2519"/>
                <a:gd name="T62" fmla="*/ 47 w 1723"/>
                <a:gd name="T63" fmla="*/ 1270 h 2519"/>
                <a:gd name="T64" fmla="*/ 12 w 1723"/>
                <a:gd name="T65" fmla="*/ 1070 h 2519"/>
                <a:gd name="T66" fmla="*/ 0 w 1723"/>
                <a:gd name="T67" fmla="*/ 862 h 2519"/>
                <a:gd name="T68" fmla="*/ 11 w 1723"/>
                <a:gd name="T69" fmla="*/ 662 h 2519"/>
                <a:gd name="T70" fmla="*/ 44 w 1723"/>
                <a:gd name="T71" fmla="*/ 470 h 2519"/>
                <a:gd name="T72" fmla="*/ 96 w 1723"/>
                <a:gd name="T73" fmla="*/ 285 h 2519"/>
                <a:gd name="T74" fmla="*/ 168 w 1723"/>
                <a:gd name="T75" fmla="*/ 111 h 2519"/>
                <a:gd name="T76" fmla="*/ 320 w 1723"/>
                <a:gd name="T77" fmla="*/ 0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23" h="2519">
                  <a:moveTo>
                    <a:pt x="320" y="0"/>
                  </a:moveTo>
                  <a:lnTo>
                    <a:pt x="210" y="95"/>
                  </a:lnTo>
                  <a:lnTo>
                    <a:pt x="296" y="157"/>
                  </a:lnTo>
                  <a:lnTo>
                    <a:pt x="468" y="157"/>
                  </a:lnTo>
                  <a:lnTo>
                    <a:pt x="724" y="107"/>
                  </a:lnTo>
                  <a:lnTo>
                    <a:pt x="884" y="389"/>
                  </a:lnTo>
                  <a:lnTo>
                    <a:pt x="884" y="655"/>
                  </a:lnTo>
                  <a:lnTo>
                    <a:pt x="1103" y="976"/>
                  </a:lnTo>
                  <a:lnTo>
                    <a:pt x="1141" y="976"/>
                  </a:lnTo>
                  <a:lnTo>
                    <a:pt x="1141" y="862"/>
                  </a:lnTo>
                  <a:lnTo>
                    <a:pt x="1225" y="1054"/>
                  </a:lnTo>
                  <a:lnTo>
                    <a:pt x="1389" y="1094"/>
                  </a:lnTo>
                  <a:lnTo>
                    <a:pt x="1365" y="1153"/>
                  </a:lnTo>
                  <a:lnTo>
                    <a:pt x="1344" y="1213"/>
                  </a:lnTo>
                  <a:lnTo>
                    <a:pt x="1328" y="1277"/>
                  </a:lnTo>
                  <a:lnTo>
                    <a:pt x="1316" y="1341"/>
                  </a:lnTo>
                  <a:lnTo>
                    <a:pt x="1309" y="1406"/>
                  </a:lnTo>
                  <a:lnTo>
                    <a:pt x="1307" y="1472"/>
                  </a:lnTo>
                  <a:lnTo>
                    <a:pt x="1309" y="1542"/>
                  </a:lnTo>
                  <a:lnTo>
                    <a:pt x="1317" y="1609"/>
                  </a:lnTo>
                  <a:lnTo>
                    <a:pt x="1329" y="1676"/>
                  </a:lnTo>
                  <a:lnTo>
                    <a:pt x="1346" y="1741"/>
                  </a:lnTo>
                  <a:lnTo>
                    <a:pt x="1368" y="1803"/>
                  </a:lnTo>
                  <a:lnTo>
                    <a:pt x="1394" y="1865"/>
                  </a:lnTo>
                  <a:lnTo>
                    <a:pt x="1424" y="1923"/>
                  </a:lnTo>
                  <a:lnTo>
                    <a:pt x="1459" y="1979"/>
                  </a:lnTo>
                  <a:lnTo>
                    <a:pt x="1498" y="2032"/>
                  </a:lnTo>
                  <a:lnTo>
                    <a:pt x="1541" y="2083"/>
                  </a:lnTo>
                  <a:lnTo>
                    <a:pt x="1583" y="2126"/>
                  </a:lnTo>
                  <a:lnTo>
                    <a:pt x="1628" y="2165"/>
                  </a:lnTo>
                  <a:lnTo>
                    <a:pt x="1675" y="2200"/>
                  </a:lnTo>
                  <a:lnTo>
                    <a:pt x="1723" y="2230"/>
                  </a:lnTo>
                  <a:lnTo>
                    <a:pt x="1718" y="2251"/>
                  </a:lnTo>
                  <a:lnTo>
                    <a:pt x="1714" y="2268"/>
                  </a:lnTo>
                  <a:lnTo>
                    <a:pt x="1711" y="2283"/>
                  </a:lnTo>
                  <a:lnTo>
                    <a:pt x="1708" y="2294"/>
                  </a:lnTo>
                  <a:lnTo>
                    <a:pt x="1706" y="2302"/>
                  </a:lnTo>
                  <a:lnTo>
                    <a:pt x="1706" y="2304"/>
                  </a:lnTo>
                  <a:lnTo>
                    <a:pt x="1722" y="2505"/>
                  </a:lnTo>
                  <a:lnTo>
                    <a:pt x="1659" y="2513"/>
                  </a:lnTo>
                  <a:lnTo>
                    <a:pt x="1594" y="2517"/>
                  </a:lnTo>
                  <a:lnTo>
                    <a:pt x="1530" y="2519"/>
                  </a:lnTo>
                  <a:lnTo>
                    <a:pt x="1433" y="2516"/>
                  </a:lnTo>
                  <a:lnTo>
                    <a:pt x="1338" y="2506"/>
                  </a:lnTo>
                  <a:lnTo>
                    <a:pt x="1245" y="2490"/>
                  </a:lnTo>
                  <a:lnTo>
                    <a:pt x="1154" y="2468"/>
                  </a:lnTo>
                  <a:lnTo>
                    <a:pt x="1064" y="2441"/>
                  </a:lnTo>
                  <a:lnTo>
                    <a:pt x="977" y="2407"/>
                  </a:lnTo>
                  <a:lnTo>
                    <a:pt x="893" y="2369"/>
                  </a:lnTo>
                  <a:lnTo>
                    <a:pt x="810" y="2325"/>
                  </a:lnTo>
                  <a:lnTo>
                    <a:pt x="732" y="2276"/>
                  </a:lnTo>
                  <a:lnTo>
                    <a:pt x="656" y="2222"/>
                  </a:lnTo>
                  <a:lnTo>
                    <a:pt x="583" y="2164"/>
                  </a:lnTo>
                  <a:lnTo>
                    <a:pt x="514" y="2101"/>
                  </a:lnTo>
                  <a:lnTo>
                    <a:pt x="448" y="2034"/>
                  </a:lnTo>
                  <a:lnTo>
                    <a:pt x="387" y="1963"/>
                  </a:lnTo>
                  <a:lnTo>
                    <a:pt x="328" y="1888"/>
                  </a:lnTo>
                  <a:lnTo>
                    <a:pt x="274" y="1809"/>
                  </a:lnTo>
                  <a:lnTo>
                    <a:pt x="225" y="1727"/>
                  </a:lnTo>
                  <a:lnTo>
                    <a:pt x="180" y="1641"/>
                  </a:lnTo>
                  <a:lnTo>
                    <a:pt x="139" y="1553"/>
                  </a:lnTo>
                  <a:lnTo>
                    <a:pt x="103" y="1461"/>
                  </a:lnTo>
                  <a:lnTo>
                    <a:pt x="72" y="1367"/>
                  </a:lnTo>
                  <a:lnTo>
                    <a:pt x="47" y="1270"/>
                  </a:lnTo>
                  <a:lnTo>
                    <a:pt x="27" y="1171"/>
                  </a:lnTo>
                  <a:lnTo>
                    <a:pt x="12" y="1070"/>
                  </a:lnTo>
                  <a:lnTo>
                    <a:pt x="3" y="968"/>
                  </a:lnTo>
                  <a:lnTo>
                    <a:pt x="0" y="862"/>
                  </a:lnTo>
                  <a:lnTo>
                    <a:pt x="3" y="761"/>
                  </a:lnTo>
                  <a:lnTo>
                    <a:pt x="11" y="662"/>
                  </a:lnTo>
                  <a:lnTo>
                    <a:pt x="25" y="565"/>
                  </a:lnTo>
                  <a:lnTo>
                    <a:pt x="44" y="470"/>
                  </a:lnTo>
                  <a:lnTo>
                    <a:pt x="68" y="376"/>
                  </a:lnTo>
                  <a:lnTo>
                    <a:pt x="96" y="285"/>
                  </a:lnTo>
                  <a:lnTo>
                    <a:pt x="131" y="197"/>
                  </a:lnTo>
                  <a:lnTo>
                    <a:pt x="168" y="111"/>
                  </a:lnTo>
                  <a:lnTo>
                    <a:pt x="210" y="27"/>
                  </a:lnTo>
                  <a:lnTo>
                    <a:pt x="32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6" name="Freeform 295"/>
            <p:cNvSpPr>
              <a:spLocks noEditPoints="1"/>
            </p:cNvSpPr>
            <p:nvPr/>
          </p:nvSpPr>
          <p:spPr bwMode="auto">
            <a:xfrm>
              <a:off x="2638425" y="4291013"/>
              <a:ext cx="263525" cy="79375"/>
            </a:xfrm>
            <a:custGeom>
              <a:avLst/>
              <a:gdLst>
                <a:gd name="T0" fmla="*/ 782 w 1831"/>
                <a:gd name="T1" fmla="*/ 179 h 603"/>
                <a:gd name="T2" fmla="*/ 779 w 1831"/>
                <a:gd name="T3" fmla="*/ 185 h 603"/>
                <a:gd name="T4" fmla="*/ 773 w 1831"/>
                <a:gd name="T5" fmla="*/ 194 h 603"/>
                <a:gd name="T6" fmla="*/ 763 w 1831"/>
                <a:gd name="T7" fmla="*/ 204 h 603"/>
                <a:gd name="T8" fmla="*/ 750 w 1831"/>
                <a:gd name="T9" fmla="*/ 214 h 603"/>
                <a:gd name="T10" fmla="*/ 737 w 1831"/>
                <a:gd name="T11" fmla="*/ 225 h 603"/>
                <a:gd name="T12" fmla="*/ 724 w 1831"/>
                <a:gd name="T13" fmla="*/ 235 h 603"/>
                <a:gd name="T14" fmla="*/ 711 w 1831"/>
                <a:gd name="T15" fmla="*/ 246 h 603"/>
                <a:gd name="T16" fmla="*/ 699 w 1831"/>
                <a:gd name="T17" fmla="*/ 254 h 603"/>
                <a:gd name="T18" fmla="*/ 690 w 1831"/>
                <a:gd name="T19" fmla="*/ 261 h 603"/>
                <a:gd name="T20" fmla="*/ 683 w 1831"/>
                <a:gd name="T21" fmla="*/ 266 h 603"/>
                <a:gd name="T22" fmla="*/ 681 w 1831"/>
                <a:gd name="T23" fmla="*/ 267 h 603"/>
                <a:gd name="T24" fmla="*/ 782 w 1831"/>
                <a:gd name="T25" fmla="*/ 331 h 603"/>
                <a:gd name="T26" fmla="*/ 990 w 1831"/>
                <a:gd name="T27" fmla="*/ 271 h 603"/>
                <a:gd name="T28" fmla="*/ 941 w 1831"/>
                <a:gd name="T29" fmla="*/ 179 h 603"/>
                <a:gd name="T30" fmla="*/ 851 w 1831"/>
                <a:gd name="T31" fmla="*/ 210 h 603"/>
                <a:gd name="T32" fmla="*/ 782 w 1831"/>
                <a:gd name="T33" fmla="*/ 179 h 603"/>
                <a:gd name="T34" fmla="*/ 1401 w 1831"/>
                <a:gd name="T35" fmla="*/ 72 h 603"/>
                <a:gd name="T36" fmla="*/ 1244 w 1831"/>
                <a:gd name="T37" fmla="*/ 166 h 603"/>
                <a:gd name="T38" fmla="*/ 1155 w 1831"/>
                <a:gd name="T39" fmla="*/ 226 h 603"/>
                <a:gd name="T40" fmla="*/ 1217 w 1831"/>
                <a:gd name="T41" fmla="*/ 270 h 603"/>
                <a:gd name="T42" fmla="*/ 1356 w 1831"/>
                <a:gd name="T43" fmla="*/ 255 h 603"/>
                <a:gd name="T44" fmla="*/ 1502 w 1831"/>
                <a:gd name="T45" fmla="*/ 135 h 603"/>
                <a:gd name="T46" fmla="*/ 1401 w 1831"/>
                <a:gd name="T47" fmla="*/ 72 h 603"/>
                <a:gd name="T48" fmla="*/ 1180 w 1831"/>
                <a:gd name="T49" fmla="*/ 0 h 603"/>
                <a:gd name="T50" fmla="*/ 1180 w 1831"/>
                <a:gd name="T51" fmla="*/ 0 h 603"/>
                <a:gd name="T52" fmla="*/ 1267 w 1831"/>
                <a:gd name="T53" fmla="*/ 4 h 603"/>
                <a:gd name="T54" fmla="*/ 1352 w 1831"/>
                <a:gd name="T55" fmla="*/ 11 h 603"/>
                <a:gd name="T56" fmla="*/ 1436 w 1831"/>
                <a:gd name="T57" fmla="*/ 24 h 603"/>
                <a:gd name="T58" fmla="*/ 1519 w 1831"/>
                <a:gd name="T59" fmla="*/ 43 h 603"/>
                <a:gd name="T60" fmla="*/ 1600 w 1831"/>
                <a:gd name="T61" fmla="*/ 66 h 603"/>
                <a:gd name="T62" fmla="*/ 1679 w 1831"/>
                <a:gd name="T63" fmla="*/ 93 h 603"/>
                <a:gd name="T64" fmla="*/ 1756 w 1831"/>
                <a:gd name="T65" fmla="*/ 124 h 603"/>
                <a:gd name="T66" fmla="*/ 1831 w 1831"/>
                <a:gd name="T67" fmla="*/ 160 h 603"/>
                <a:gd name="T68" fmla="*/ 1776 w 1831"/>
                <a:gd name="T69" fmla="*/ 169 h 603"/>
                <a:gd name="T70" fmla="*/ 1626 w 1831"/>
                <a:gd name="T71" fmla="*/ 145 h 603"/>
                <a:gd name="T72" fmla="*/ 1521 w 1831"/>
                <a:gd name="T73" fmla="*/ 221 h 603"/>
                <a:gd name="T74" fmla="*/ 1445 w 1831"/>
                <a:gd name="T75" fmla="*/ 311 h 603"/>
                <a:gd name="T76" fmla="*/ 1171 w 1831"/>
                <a:gd name="T77" fmla="*/ 338 h 603"/>
                <a:gd name="T78" fmla="*/ 1059 w 1831"/>
                <a:gd name="T79" fmla="*/ 319 h 603"/>
                <a:gd name="T80" fmla="*/ 981 w 1831"/>
                <a:gd name="T81" fmla="*/ 449 h 603"/>
                <a:gd name="T82" fmla="*/ 757 w 1831"/>
                <a:gd name="T83" fmla="*/ 463 h 603"/>
                <a:gd name="T84" fmla="*/ 616 w 1831"/>
                <a:gd name="T85" fmla="*/ 420 h 603"/>
                <a:gd name="T86" fmla="*/ 490 w 1831"/>
                <a:gd name="T87" fmla="*/ 494 h 603"/>
                <a:gd name="T88" fmla="*/ 218 w 1831"/>
                <a:gd name="T89" fmla="*/ 535 h 603"/>
                <a:gd name="T90" fmla="*/ 0 w 1831"/>
                <a:gd name="T91" fmla="*/ 603 h 603"/>
                <a:gd name="T92" fmla="*/ 0 w 1831"/>
                <a:gd name="T93" fmla="*/ 603 h 603"/>
                <a:gd name="T94" fmla="*/ 58 w 1831"/>
                <a:gd name="T95" fmla="*/ 531 h 603"/>
                <a:gd name="T96" fmla="*/ 120 w 1831"/>
                <a:gd name="T97" fmla="*/ 463 h 603"/>
                <a:gd name="T98" fmla="*/ 185 w 1831"/>
                <a:gd name="T99" fmla="*/ 399 h 603"/>
                <a:gd name="T100" fmla="*/ 253 w 1831"/>
                <a:gd name="T101" fmla="*/ 338 h 603"/>
                <a:gd name="T102" fmla="*/ 325 w 1831"/>
                <a:gd name="T103" fmla="*/ 283 h 603"/>
                <a:gd name="T104" fmla="*/ 400 w 1831"/>
                <a:gd name="T105" fmla="*/ 232 h 603"/>
                <a:gd name="T106" fmla="*/ 477 w 1831"/>
                <a:gd name="T107" fmla="*/ 185 h 603"/>
                <a:gd name="T108" fmla="*/ 558 w 1831"/>
                <a:gd name="T109" fmla="*/ 144 h 603"/>
                <a:gd name="T110" fmla="*/ 640 w 1831"/>
                <a:gd name="T111" fmla="*/ 107 h 603"/>
                <a:gd name="T112" fmla="*/ 725 w 1831"/>
                <a:gd name="T113" fmla="*/ 75 h 603"/>
                <a:gd name="T114" fmla="*/ 813 w 1831"/>
                <a:gd name="T115" fmla="*/ 49 h 603"/>
                <a:gd name="T116" fmla="*/ 902 w 1831"/>
                <a:gd name="T117" fmla="*/ 27 h 603"/>
                <a:gd name="T118" fmla="*/ 992 w 1831"/>
                <a:gd name="T119" fmla="*/ 13 h 603"/>
                <a:gd name="T120" fmla="*/ 1086 w 1831"/>
                <a:gd name="T121" fmla="*/ 4 h 603"/>
                <a:gd name="T122" fmla="*/ 1180 w 1831"/>
                <a:gd name="T123" fmla="*/ 0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31" h="603">
                  <a:moveTo>
                    <a:pt x="782" y="179"/>
                  </a:moveTo>
                  <a:lnTo>
                    <a:pt x="779" y="185"/>
                  </a:lnTo>
                  <a:lnTo>
                    <a:pt x="773" y="194"/>
                  </a:lnTo>
                  <a:lnTo>
                    <a:pt x="763" y="204"/>
                  </a:lnTo>
                  <a:lnTo>
                    <a:pt x="750" y="214"/>
                  </a:lnTo>
                  <a:lnTo>
                    <a:pt x="737" y="225"/>
                  </a:lnTo>
                  <a:lnTo>
                    <a:pt x="724" y="235"/>
                  </a:lnTo>
                  <a:lnTo>
                    <a:pt x="711" y="246"/>
                  </a:lnTo>
                  <a:lnTo>
                    <a:pt x="699" y="254"/>
                  </a:lnTo>
                  <a:lnTo>
                    <a:pt x="690" y="261"/>
                  </a:lnTo>
                  <a:lnTo>
                    <a:pt x="683" y="266"/>
                  </a:lnTo>
                  <a:lnTo>
                    <a:pt x="681" y="267"/>
                  </a:lnTo>
                  <a:lnTo>
                    <a:pt x="782" y="331"/>
                  </a:lnTo>
                  <a:lnTo>
                    <a:pt x="990" y="271"/>
                  </a:lnTo>
                  <a:lnTo>
                    <a:pt x="941" y="179"/>
                  </a:lnTo>
                  <a:lnTo>
                    <a:pt x="851" y="210"/>
                  </a:lnTo>
                  <a:lnTo>
                    <a:pt x="782" y="179"/>
                  </a:lnTo>
                  <a:close/>
                  <a:moveTo>
                    <a:pt x="1401" y="72"/>
                  </a:moveTo>
                  <a:lnTo>
                    <a:pt x="1244" y="166"/>
                  </a:lnTo>
                  <a:lnTo>
                    <a:pt x="1155" y="226"/>
                  </a:lnTo>
                  <a:lnTo>
                    <a:pt x="1217" y="270"/>
                  </a:lnTo>
                  <a:lnTo>
                    <a:pt x="1356" y="255"/>
                  </a:lnTo>
                  <a:lnTo>
                    <a:pt x="1502" y="135"/>
                  </a:lnTo>
                  <a:lnTo>
                    <a:pt x="1401" y="72"/>
                  </a:lnTo>
                  <a:close/>
                  <a:moveTo>
                    <a:pt x="1180" y="0"/>
                  </a:moveTo>
                  <a:lnTo>
                    <a:pt x="1180" y="0"/>
                  </a:lnTo>
                  <a:lnTo>
                    <a:pt x="1267" y="4"/>
                  </a:lnTo>
                  <a:lnTo>
                    <a:pt x="1352" y="11"/>
                  </a:lnTo>
                  <a:lnTo>
                    <a:pt x="1436" y="24"/>
                  </a:lnTo>
                  <a:lnTo>
                    <a:pt x="1519" y="43"/>
                  </a:lnTo>
                  <a:lnTo>
                    <a:pt x="1600" y="66"/>
                  </a:lnTo>
                  <a:lnTo>
                    <a:pt x="1679" y="93"/>
                  </a:lnTo>
                  <a:lnTo>
                    <a:pt x="1756" y="124"/>
                  </a:lnTo>
                  <a:lnTo>
                    <a:pt x="1831" y="160"/>
                  </a:lnTo>
                  <a:lnTo>
                    <a:pt x="1776" y="169"/>
                  </a:lnTo>
                  <a:lnTo>
                    <a:pt x="1626" y="145"/>
                  </a:lnTo>
                  <a:lnTo>
                    <a:pt x="1521" y="221"/>
                  </a:lnTo>
                  <a:lnTo>
                    <a:pt x="1445" y="311"/>
                  </a:lnTo>
                  <a:lnTo>
                    <a:pt x="1171" y="338"/>
                  </a:lnTo>
                  <a:lnTo>
                    <a:pt x="1059" y="319"/>
                  </a:lnTo>
                  <a:lnTo>
                    <a:pt x="981" y="449"/>
                  </a:lnTo>
                  <a:lnTo>
                    <a:pt x="757" y="463"/>
                  </a:lnTo>
                  <a:lnTo>
                    <a:pt x="616" y="420"/>
                  </a:lnTo>
                  <a:lnTo>
                    <a:pt x="490" y="494"/>
                  </a:lnTo>
                  <a:lnTo>
                    <a:pt x="218" y="535"/>
                  </a:lnTo>
                  <a:lnTo>
                    <a:pt x="0" y="603"/>
                  </a:lnTo>
                  <a:lnTo>
                    <a:pt x="0" y="603"/>
                  </a:lnTo>
                  <a:lnTo>
                    <a:pt x="58" y="531"/>
                  </a:lnTo>
                  <a:lnTo>
                    <a:pt x="120" y="463"/>
                  </a:lnTo>
                  <a:lnTo>
                    <a:pt x="185" y="399"/>
                  </a:lnTo>
                  <a:lnTo>
                    <a:pt x="253" y="338"/>
                  </a:lnTo>
                  <a:lnTo>
                    <a:pt x="325" y="283"/>
                  </a:lnTo>
                  <a:lnTo>
                    <a:pt x="400" y="232"/>
                  </a:lnTo>
                  <a:lnTo>
                    <a:pt x="477" y="185"/>
                  </a:lnTo>
                  <a:lnTo>
                    <a:pt x="558" y="144"/>
                  </a:lnTo>
                  <a:lnTo>
                    <a:pt x="640" y="107"/>
                  </a:lnTo>
                  <a:lnTo>
                    <a:pt x="725" y="75"/>
                  </a:lnTo>
                  <a:lnTo>
                    <a:pt x="813" y="49"/>
                  </a:lnTo>
                  <a:lnTo>
                    <a:pt x="902" y="27"/>
                  </a:lnTo>
                  <a:lnTo>
                    <a:pt x="992" y="13"/>
                  </a:lnTo>
                  <a:lnTo>
                    <a:pt x="1086" y="4"/>
                  </a:lnTo>
                  <a:lnTo>
                    <a:pt x="1180"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47" name="Group 61"/>
          <p:cNvGrpSpPr/>
          <p:nvPr/>
        </p:nvGrpSpPr>
        <p:grpSpPr>
          <a:xfrm>
            <a:off x="3946819" y="4558274"/>
            <a:ext cx="236499" cy="347865"/>
            <a:chOff x="9209088" y="5059363"/>
            <a:chExt cx="300038" cy="441324"/>
          </a:xfrm>
          <a:solidFill>
            <a:schemeClr val="bg1"/>
          </a:solidFill>
        </p:grpSpPr>
        <p:sp>
          <p:nvSpPr>
            <p:cNvPr id="48" name="Freeform 412"/>
            <p:cNvSpPr/>
            <p:nvPr/>
          </p:nvSpPr>
          <p:spPr bwMode="auto">
            <a:xfrm>
              <a:off x="9313863" y="5059363"/>
              <a:ext cx="90488" cy="90487"/>
            </a:xfrm>
            <a:custGeom>
              <a:avLst/>
              <a:gdLst>
                <a:gd name="T0" fmla="*/ 343 w 686"/>
                <a:gd name="T1" fmla="*/ 0 h 686"/>
                <a:gd name="T2" fmla="*/ 390 w 686"/>
                <a:gd name="T3" fmla="*/ 3 h 686"/>
                <a:gd name="T4" fmla="*/ 435 w 686"/>
                <a:gd name="T5" fmla="*/ 12 h 686"/>
                <a:gd name="T6" fmla="*/ 477 w 686"/>
                <a:gd name="T7" fmla="*/ 27 h 686"/>
                <a:gd name="T8" fmla="*/ 517 w 686"/>
                <a:gd name="T9" fmla="*/ 46 h 686"/>
                <a:gd name="T10" fmla="*/ 553 w 686"/>
                <a:gd name="T11" fmla="*/ 71 h 686"/>
                <a:gd name="T12" fmla="*/ 586 w 686"/>
                <a:gd name="T13" fmla="*/ 100 h 686"/>
                <a:gd name="T14" fmla="*/ 615 w 686"/>
                <a:gd name="T15" fmla="*/ 133 h 686"/>
                <a:gd name="T16" fmla="*/ 640 w 686"/>
                <a:gd name="T17" fmla="*/ 169 h 686"/>
                <a:gd name="T18" fmla="*/ 659 w 686"/>
                <a:gd name="T19" fmla="*/ 209 h 686"/>
                <a:gd name="T20" fmla="*/ 674 w 686"/>
                <a:gd name="T21" fmla="*/ 251 h 686"/>
                <a:gd name="T22" fmla="*/ 683 w 686"/>
                <a:gd name="T23" fmla="*/ 296 h 686"/>
                <a:gd name="T24" fmla="*/ 686 w 686"/>
                <a:gd name="T25" fmla="*/ 342 h 686"/>
                <a:gd name="T26" fmla="*/ 683 w 686"/>
                <a:gd name="T27" fmla="*/ 389 h 686"/>
                <a:gd name="T28" fmla="*/ 674 w 686"/>
                <a:gd name="T29" fmla="*/ 434 h 686"/>
                <a:gd name="T30" fmla="*/ 659 w 686"/>
                <a:gd name="T31" fmla="*/ 476 h 686"/>
                <a:gd name="T32" fmla="*/ 640 w 686"/>
                <a:gd name="T33" fmla="*/ 516 h 686"/>
                <a:gd name="T34" fmla="*/ 615 w 686"/>
                <a:gd name="T35" fmla="*/ 552 h 686"/>
                <a:gd name="T36" fmla="*/ 586 w 686"/>
                <a:gd name="T37" fmla="*/ 585 h 686"/>
                <a:gd name="T38" fmla="*/ 553 w 686"/>
                <a:gd name="T39" fmla="*/ 614 h 686"/>
                <a:gd name="T40" fmla="*/ 517 w 686"/>
                <a:gd name="T41" fmla="*/ 639 h 686"/>
                <a:gd name="T42" fmla="*/ 477 w 686"/>
                <a:gd name="T43" fmla="*/ 659 h 686"/>
                <a:gd name="T44" fmla="*/ 435 w 686"/>
                <a:gd name="T45" fmla="*/ 674 h 686"/>
                <a:gd name="T46" fmla="*/ 390 w 686"/>
                <a:gd name="T47" fmla="*/ 682 h 686"/>
                <a:gd name="T48" fmla="*/ 343 w 686"/>
                <a:gd name="T49" fmla="*/ 686 h 686"/>
                <a:gd name="T50" fmla="*/ 296 w 686"/>
                <a:gd name="T51" fmla="*/ 682 h 686"/>
                <a:gd name="T52" fmla="*/ 252 w 686"/>
                <a:gd name="T53" fmla="*/ 674 h 686"/>
                <a:gd name="T54" fmla="*/ 210 w 686"/>
                <a:gd name="T55" fmla="*/ 659 h 686"/>
                <a:gd name="T56" fmla="*/ 170 w 686"/>
                <a:gd name="T57" fmla="*/ 639 h 686"/>
                <a:gd name="T58" fmla="*/ 134 w 686"/>
                <a:gd name="T59" fmla="*/ 614 h 686"/>
                <a:gd name="T60" fmla="*/ 101 w 686"/>
                <a:gd name="T61" fmla="*/ 585 h 686"/>
                <a:gd name="T62" fmla="*/ 72 w 686"/>
                <a:gd name="T63" fmla="*/ 552 h 686"/>
                <a:gd name="T64" fmla="*/ 48 w 686"/>
                <a:gd name="T65" fmla="*/ 516 h 686"/>
                <a:gd name="T66" fmla="*/ 27 w 686"/>
                <a:gd name="T67" fmla="*/ 476 h 686"/>
                <a:gd name="T68" fmla="*/ 13 w 686"/>
                <a:gd name="T69" fmla="*/ 434 h 686"/>
                <a:gd name="T70" fmla="*/ 4 w 686"/>
                <a:gd name="T71" fmla="*/ 389 h 686"/>
                <a:gd name="T72" fmla="*/ 0 w 686"/>
                <a:gd name="T73" fmla="*/ 342 h 686"/>
                <a:gd name="T74" fmla="*/ 4 w 686"/>
                <a:gd name="T75" fmla="*/ 296 h 686"/>
                <a:gd name="T76" fmla="*/ 13 w 686"/>
                <a:gd name="T77" fmla="*/ 251 h 686"/>
                <a:gd name="T78" fmla="*/ 27 w 686"/>
                <a:gd name="T79" fmla="*/ 209 h 686"/>
                <a:gd name="T80" fmla="*/ 48 w 686"/>
                <a:gd name="T81" fmla="*/ 169 h 686"/>
                <a:gd name="T82" fmla="*/ 72 w 686"/>
                <a:gd name="T83" fmla="*/ 133 h 686"/>
                <a:gd name="T84" fmla="*/ 101 w 686"/>
                <a:gd name="T85" fmla="*/ 100 h 686"/>
                <a:gd name="T86" fmla="*/ 134 w 686"/>
                <a:gd name="T87" fmla="*/ 71 h 686"/>
                <a:gd name="T88" fmla="*/ 170 w 686"/>
                <a:gd name="T89" fmla="*/ 46 h 686"/>
                <a:gd name="T90" fmla="*/ 210 w 686"/>
                <a:gd name="T91" fmla="*/ 27 h 686"/>
                <a:gd name="T92" fmla="*/ 252 w 686"/>
                <a:gd name="T93" fmla="*/ 12 h 686"/>
                <a:gd name="T94" fmla="*/ 296 w 686"/>
                <a:gd name="T95" fmla="*/ 3 h 686"/>
                <a:gd name="T96" fmla="*/ 343 w 686"/>
                <a:gd name="T97" fmla="*/ 0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6" h="686">
                  <a:moveTo>
                    <a:pt x="343" y="0"/>
                  </a:moveTo>
                  <a:lnTo>
                    <a:pt x="390" y="3"/>
                  </a:lnTo>
                  <a:lnTo>
                    <a:pt x="435" y="12"/>
                  </a:lnTo>
                  <a:lnTo>
                    <a:pt x="477" y="27"/>
                  </a:lnTo>
                  <a:lnTo>
                    <a:pt x="517" y="46"/>
                  </a:lnTo>
                  <a:lnTo>
                    <a:pt x="553" y="71"/>
                  </a:lnTo>
                  <a:lnTo>
                    <a:pt x="586" y="100"/>
                  </a:lnTo>
                  <a:lnTo>
                    <a:pt x="615" y="133"/>
                  </a:lnTo>
                  <a:lnTo>
                    <a:pt x="640" y="169"/>
                  </a:lnTo>
                  <a:lnTo>
                    <a:pt x="659" y="209"/>
                  </a:lnTo>
                  <a:lnTo>
                    <a:pt x="674" y="251"/>
                  </a:lnTo>
                  <a:lnTo>
                    <a:pt x="683" y="296"/>
                  </a:lnTo>
                  <a:lnTo>
                    <a:pt x="686" y="342"/>
                  </a:lnTo>
                  <a:lnTo>
                    <a:pt x="683" y="389"/>
                  </a:lnTo>
                  <a:lnTo>
                    <a:pt x="674" y="434"/>
                  </a:lnTo>
                  <a:lnTo>
                    <a:pt x="659" y="476"/>
                  </a:lnTo>
                  <a:lnTo>
                    <a:pt x="640" y="516"/>
                  </a:lnTo>
                  <a:lnTo>
                    <a:pt x="615" y="552"/>
                  </a:lnTo>
                  <a:lnTo>
                    <a:pt x="586" y="585"/>
                  </a:lnTo>
                  <a:lnTo>
                    <a:pt x="553" y="614"/>
                  </a:lnTo>
                  <a:lnTo>
                    <a:pt x="517" y="639"/>
                  </a:lnTo>
                  <a:lnTo>
                    <a:pt x="477" y="659"/>
                  </a:lnTo>
                  <a:lnTo>
                    <a:pt x="435" y="674"/>
                  </a:lnTo>
                  <a:lnTo>
                    <a:pt x="390" y="682"/>
                  </a:lnTo>
                  <a:lnTo>
                    <a:pt x="343" y="686"/>
                  </a:lnTo>
                  <a:lnTo>
                    <a:pt x="296" y="682"/>
                  </a:lnTo>
                  <a:lnTo>
                    <a:pt x="252" y="674"/>
                  </a:lnTo>
                  <a:lnTo>
                    <a:pt x="210" y="659"/>
                  </a:lnTo>
                  <a:lnTo>
                    <a:pt x="170" y="639"/>
                  </a:lnTo>
                  <a:lnTo>
                    <a:pt x="134" y="614"/>
                  </a:lnTo>
                  <a:lnTo>
                    <a:pt x="101" y="585"/>
                  </a:lnTo>
                  <a:lnTo>
                    <a:pt x="72" y="552"/>
                  </a:lnTo>
                  <a:lnTo>
                    <a:pt x="48" y="516"/>
                  </a:lnTo>
                  <a:lnTo>
                    <a:pt x="27" y="476"/>
                  </a:lnTo>
                  <a:lnTo>
                    <a:pt x="13" y="434"/>
                  </a:lnTo>
                  <a:lnTo>
                    <a:pt x="4" y="389"/>
                  </a:lnTo>
                  <a:lnTo>
                    <a:pt x="0" y="342"/>
                  </a:lnTo>
                  <a:lnTo>
                    <a:pt x="4" y="296"/>
                  </a:lnTo>
                  <a:lnTo>
                    <a:pt x="13" y="251"/>
                  </a:lnTo>
                  <a:lnTo>
                    <a:pt x="27" y="209"/>
                  </a:lnTo>
                  <a:lnTo>
                    <a:pt x="48" y="169"/>
                  </a:lnTo>
                  <a:lnTo>
                    <a:pt x="72" y="133"/>
                  </a:lnTo>
                  <a:lnTo>
                    <a:pt x="101" y="100"/>
                  </a:lnTo>
                  <a:lnTo>
                    <a:pt x="134" y="71"/>
                  </a:lnTo>
                  <a:lnTo>
                    <a:pt x="170" y="46"/>
                  </a:lnTo>
                  <a:lnTo>
                    <a:pt x="210" y="27"/>
                  </a:lnTo>
                  <a:lnTo>
                    <a:pt x="252" y="12"/>
                  </a:lnTo>
                  <a:lnTo>
                    <a:pt x="296" y="3"/>
                  </a:lnTo>
                  <a:lnTo>
                    <a:pt x="343"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9" name="Freeform 413"/>
            <p:cNvSpPr/>
            <p:nvPr/>
          </p:nvSpPr>
          <p:spPr bwMode="auto">
            <a:xfrm>
              <a:off x="9288463" y="5156200"/>
              <a:ext cx="141288" cy="344487"/>
            </a:xfrm>
            <a:custGeom>
              <a:avLst/>
              <a:gdLst>
                <a:gd name="T0" fmla="*/ 925 w 1073"/>
                <a:gd name="T1" fmla="*/ 1 h 2605"/>
                <a:gd name="T2" fmla="*/ 982 w 1073"/>
                <a:gd name="T3" fmla="*/ 12 h 2605"/>
                <a:gd name="T4" fmla="*/ 1029 w 1073"/>
                <a:gd name="T5" fmla="*/ 45 h 2605"/>
                <a:gd name="T6" fmla="*/ 1061 w 1073"/>
                <a:gd name="T7" fmla="*/ 91 h 2605"/>
                <a:gd name="T8" fmla="*/ 1073 w 1073"/>
                <a:gd name="T9" fmla="*/ 149 h 2605"/>
                <a:gd name="T10" fmla="*/ 1069 w 1073"/>
                <a:gd name="T11" fmla="*/ 1419 h 2605"/>
                <a:gd name="T12" fmla="*/ 1048 w 1073"/>
                <a:gd name="T13" fmla="*/ 1472 h 2605"/>
                <a:gd name="T14" fmla="*/ 1007 w 1073"/>
                <a:gd name="T15" fmla="*/ 1512 h 2605"/>
                <a:gd name="T16" fmla="*/ 954 w 1073"/>
                <a:gd name="T17" fmla="*/ 1535 h 2605"/>
                <a:gd name="T18" fmla="*/ 900 w 1073"/>
                <a:gd name="T19" fmla="*/ 1536 h 2605"/>
                <a:gd name="T20" fmla="*/ 854 w 1073"/>
                <a:gd name="T21" fmla="*/ 1520 h 2605"/>
                <a:gd name="T22" fmla="*/ 835 w 1073"/>
                <a:gd name="T23" fmla="*/ 2456 h 2605"/>
                <a:gd name="T24" fmla="*/ 824 w 1073"/>
                <a:gd name="T25" fmla="*/ 2515 h 2605"/>
                <a:gd name="T26" fmla="*/ 792 w 1073"/>
                <a:gd name="T27" fmla="*/ 2561 h 2605"/>
                <a:gd name="T28" fmla="*/ 744 w 1073"/>
                <a:gd name="T29" fmla="*/ 2593 h 2605"/>
                <a:gd name="T30" fmla="*/ 687 w 1073"/>
                <a:gd name="T31" fmla="*/ 2605 h 2605"/>
                <a:gd name="T32" fmla="*/ 629 w 1073"/>
                <a:gd name="T33" fmla="*/ 2593 h 2605"/>
                <a:gd name="T34" fmla="*/ 582 w 1073"/>
                <a:gd name="T35" fmla="*/ 2561 h 2605"/>
                <a:gd name="T36" fmla="*/ 551 w 1073"/>
                <a:gd name="T37" fmla="*/ 2515 h 2605"/>
                <a:gd name="T38" fmla="*/ 539 w 1073"/>
                <a:gd name="T39" fmla="*/ 2456 h 2605"/>
                <a:gd name="T40" fmla="*/ 532 w 1073"/>
                <a:gd name="T41" fmla="*/ 2486 h 2605"/>
                <a:gd name="T42" fmla="*/ 509 w 1073"/>
                <a:gd name="T43" fmla="*/ 2539 h 2605"/>
                <a:gd name="T44" fmla="*/ 469 w 1073"/>
                <a:gd name="T45" fmla="*/ 2579 h 2605"/>
                <a:gd name="T46" fmla="*/ 416 w 1073"/>
                <a:gd name="T47" fmla="*/ 2602 h 2605"/>
                <a:gd name="T48" fmla="*/ 357 w 1073"/>
                <a:gd name="T49" fmla="*/ 2602 h 2605"/>
                <a:gd name="T50" fmla="*/ 304 w 1073"/>
                <a:gd name="T51" fmla="*/ 2579 h 2605"/>
                <a:gd name="T52" fmla="*/ 263 w 1073"/>
                <a:gd name="T53" fmla="*/ 2539 h 2605"/>
                <a:gd name="T54" fmla="*/ 241 w 1073"/>
                <a:gd name="T55" fmla="*/ 2486 h 2605"/>
                <a:gd name="T56" fmla="*/ 238 w 1073"/>
                <a:gd name="T57" fmla="*/ 1507 h 2605"/>
                <a:gd name="T58" fmla="*/ 197 w 1073"/>
                <a:gd name="T59" fmla="*/ 1530 h 2605"/>
                <a:gd name="T60" fmla="*/ 148 w 1073"/>
                <a:gd name="T61" fmla="*/ 1538 h 2605"/>
                <a:gd name="T62" fmla="*/ 91 w 1073"/>
                <a:gd name="T63" fmla="*/ 1526 h 2605"/>
                <a:gd name="T64" fmla="*/ 43 w 1073"/>
                <a:gd name="T65" fmla="*/ 1495 h 2605"/>
                <a:gd name="T66" fmla="*/ 12 w 1073"/>
                <a:gd name="T67" fmla="*/ 1447 h 2605"/>
                <a:gd name="T68" fmla="*/ 0 w 1073"/>
                <a:gd name="T69" fmla="*/ 1389 h 2605"/>
                <a:gd name="T70" fmla="*/ 3 w 1073"/>
                <a:gd name="T71" fmla="*/ 119 h 2605"/>
                <a:gd name="T72" fmla="*/ 25 w 1073"/>
                <a:gd name="T73" fmla="*/ 67 h 2605"/>
                <a:gd name="T74" fmla="*/ 64 w 1073"/>
                <a:gd name="T75" fmla="*/ 27 h 2605"/>
                <a:gd name="T76" fmla="*/ 116 w 1073"/>
                <a:gd name="T77" fmla="*/ 5 h 2605"/>
                <a:gd name="T78" fmla="*/ 145 w 1073"/>
                <a:gd name="T79" fmla="*/ 0 h 2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73" h="2605">
                  <a:moveTo>
                    <a:pt x="145" y="0"/>
                  </a:moveTo>
                  <a:lnTo>
                    <a:pt x="925" y="1"/>
                  </a:lnTo>
                  <a:lnTo>
                    <a:pt x="954" y="4"/>
                  </a:lnTo>
                  <a:lnTo>
                    <a:pt x="982" y="12"/>
                  </a:lnTo>
                  <a:lnTo>
                    <a:pt x="1007" y="26"/>
                  </a:lnTo>
                  <a:lnTo>
                    <a:pt x="1029" y="45"/>
                  </a:lnTo>
                  <a:lnTo>
                    <a:pt x="1048" y="66"/>
                  </a:lnTo>
                  <a:lnTo>
                    <a:pt x="1061" y="91"/>
                  </a:lnTo>
                  <a:lnTo>
                    <a:pt x="1069" y="119"/>
                  </a:lnTo>
                  <a:lnTo>
                    <a:pt x="1073" y="149"/>
                  </a:lnTo>
                  <a:lnTo>
                    <a:pt x="1073" y="1389"/>
                  </a:lnTo>
                  <a:lnTo>
                    <a:pt x="1069" y="1419"/>
                  </a:lnTo>
                  <a:lnTo>
                    <a:pt x="1061" y="1447"/>
                  </a:lnTo>
                  <a:lnTo>
                    <a:pt x="1048" y="1472"/>
                  </a:lnTo>
                  <a:lnTo>
                    <a:pt x="1029" y="1495"/>
                  </a:lnTo>
                  <a:lnTo>
                    <a:pt x="1007" y="1512"/>
                  </a:lnTo>
                  <a:lnTo>
                    <a:pt x="982" y="1526"/>
                  </a:lnTo>
                  <a:lnTo>
                    <a:pt x="954" y="1535"/>
                  </a:lnTo>
                  <a:lnTo>
                    <a:pt x="925" y="1538"/>
                  </a:lnTo>
                  <a:lnTo>
                    <a:pt x="900" y="1536"/>
                  </a:lnTo>
                  <a:lnTo>
                    <a:pt x="876" y="1530"/>
                  </a:lnTo>
                  <a:lnTo>
                    <a:pt x="854" y="1520"/>
                  </a:lnTo>
                  <a:lnTo>
                    <a:pt x="835" y="1508"/>
                  </a:lnTo>
                  <a:lnTo>
                    <a:pt x="835" y="2456"/>
                  </a:lnTo>
                  <a:lnTo>
                    <a:pt x="833" y="2486"/>
                  </a:lnTo>
                  <a:lnTo>
                    <a:pt x="824" y="2515"/>
                  </a:lnTo>
                  <a:lnTo>
                    <a:pt x="810" y="2539"/>
                  </a:lnTo>
                  <a:lnTo>
                    <a:pt x="792" y="2561"/>
                  </a:lnTo>
                  <a:lnTo>
                    <a:pt x="770" y="2579"/>
                  </a:lnTo>
                  <a:lnTo>
                    <a:pt x="744" y="2593"/>
                  </a:lnTo>
                  <a:lnTo>
                    <a:pt x="717" y="2602"/>
                  </a:lnTo>
                  <a:lnTo>
                    <a:pt x="687" y="2605"/>
                  </a:lnTo>
                  <a:lnTo>
                    <a:pt x="657" y="2602"/>
                  </a:lnTo>
                  <a:lnTo>
                    <a:pt x="629" y="2593"/>
                  </a:lnTo>
                  <a:lnTo>
                    <a:pt x="604" y="2579"/>
                  </a:lnTo>
                  <a:lnTo>
                    <a:pt x="582" y="2561"/>
                  </a:lnTo>
                  <a:lnTo>
                    <a:pt x="564" y="2539"/>
                  </a:lnTo>
                  <a:lnTo>
                    <a:pt x="551" y="2515"/>
                  </a:lnTo>
                  <a:lnTo>
                    <a:pt x="542" y="2486"/>
                  </a:lnTo>
                  <a:lnTo>
                    <a:pt x="539" y="2456"/>
                  </a:lnTo>
                  <a:lnTo>
                    <a:pt x="535" y="2456"/>
                  </a:lnTo>
                  <a:lnTo>
                    <a:pt x="532" y="2486"/>
                  </a:lnTo>
                  <a:lnTo>
                    <a:pt x="523" y="2515"/>
                  </a:lnTo>
                  <a:lnTo>
                    <a:pt x="509" y="2539"/>
                  </a:lnTo>
                  <a:lnTo>
                    <a:pt x="492" y="2561"/>
                  </a:lnTo>
                  <a:lnTo>
                    <a:pt x="469" y="2579"/>
                  </a:lnTo>
                  <a:lnTo>
                    <a:pt x="444" y="2593"/>
                  </a:lnTo>
                  <a:lnTo>
                    <a:pt x="416" y="2602"/>
                  </a:lnTo>
                  <a:lnTo>
                    <a:pt x="386" y="2605"/>
                  </a:lnTo>
                  <a:lnTo>
                    <a:pt x="357" y="2602"/>
                  </a:lnTo>
                  <a:lnTo>
                    <a:pt x="328" y="2593"/>
                  </a:lnTo>
                  <a:lnTo>
                    <a:pt x="304" y="2579"/>
                  </a:lnTo>
                  <a:lnTo>
                    <a:pt x="281" y="2561"/>
                  </a:lnTo>
                  <a:lnTo>
                    <a:pt x="263" y="2539"/>
                  </a:lnTo>
                  <a:lnTo>
                    <a:pt x="250" y="2515"/>
                  </a:lnTo>
                  <a:lnTo>
                    <a:pt x="241" y="2486"/>
                  </a:lnTo>
                  <a:lnTo>
                    <a:pt x="238" y="2456"/>
                  </a:lnTo>
                  <a:lnTo>
                    <a:pt x="238" y="1507"/>
                  </a:lnTo>
                  <a:lnTo>
                    <a:pt x="218" y="1520"/>
                  </a:lnTo>
                  <a:lnTo>
                    <a:pt x="197" y="1530"/>
                  </a:lnTo>
                  <a:lnTo>
                    <a:pt x="173" y="1536"/>
                  </a:lnTo>
                  <a:lnTo>
                    <a:pt x="148" y="1538"/>
                  </a:lnTo>
                  <a:lnTo>
                    <a:pt x="119" y="1535"/>
                  </a:lnTo>
                  <a:lnTo>
                    <a:pt x="91" y="1526"/>
                  </a:lnTo>
                  <a:lnTo>
                    <a:pt x="66" y="1512"/>
                  </a:lnTo>
                  <a:lnTo>
                    <a:pt x="43" y="1495"/>
                  </a:lnTo>
                  <a:lnTo>
                    <a:pt x="25" y="1472"/>
                  </a:lnTo>
                  <a:lnTo>
                    <a:pt x="12" y="1447"/>
                  </a:lnTo>
                  <a:lnTo>
                    <a:pt x="3" y="1419"/>
                  </a:lnTo>
                  <a:lnTo>
                    <a:pt x="0" y="1389"/>
                  </a:lnTo>
                  <a:lnTo>
                    <a:pt x="0" y="149"/>
                  </a:lnTo>
                  <a:lnTo>
                    <a:pt x="3" y="119"/>
                  </a:lnTo>
                  <a:lnTo>
                    <a:pt x="11" y="92"/>
                  </a:lnTo>
                  <a:lnTo>
                    <a:pt x="25" y="67"/>
                  </a:lnTo>
                  <a:lnTo>
                    <a:pt x="42" y="46"/>
                  </a:lnTo>
                  <a:lnTo>
                    <a:pt x="64" y="27"/>
                  </a:lnTo>
                  <a:lnTo>
                    <a:pt x="89" y="13"/>
                  </a:lnTo>
                  <a:lnTo>
                    <a:pt x="116" y="5"/>
                  </a:lnTo>
                  <a:lnTo>
                    <a:pt x="145" y="1"/>
                  </a:lnTo>
                  <a:lnTo>
                    <a:pt x="145"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0" name="Freeform 414"/>
            <p:cNvSpPr/>
            <p:nvPr/>
          </p:nvSpPr>
          <p:spPr bwMode="auto">
            <a:xfrm>
              <a:off x="9232901" y="5059363"/>
              <a:ext cx="74613" cy="82550"/>
            </a:xfrm>
            <a:custGeom>
              <a:avLst/>
              <a:gdLst>
                <a:gd name="T0" fmla="*/ 314 w 565"/>
                <a:gd name="T1" fmla="*/ 0 h 629"/>
                <a:gd name="T2" fmla="*/ 358 w 565"/>
                <a:gd name="T3" fmla="*/ 3 h 629"/>
                <a:gd name="T4" fmla="*/ 400 w 565"/>
                <a:gd name="T5" fmla="*/ 12 h 629"/>
                <a:gd name="T6" fmla="*/ 439 w 565"/>
                <a:gd name="T7" fmla="*/ 25 h 629"/>
                <a:gd name="T8" fmla="*/ 474 w 565"/>
                <a:gd name="T9" fmla="*/ 44 h 629"/>
                <a:gd name="T10" fmla="*/ 508 w 565"/>
                <a:gd name="T11" fmla="*/ 67 h 629"/>
                <a:gd name="T12" fmla="*/ 538 w 565"/>
                <a:gd name="T13" fmla="*/ 94 h 629"/>
                <a:gd name="T14" fmla="*/ 565 w 565"/>
                <a:gd name="T15" fmla="*/ 125 h 629"/>
                <a:gd name="T16" fmla="*/ 545 w 565"/>
                <a:gd name="T17" fmla="*/ 165 h 629"/>
                <a:gd name="T18" fmla="*/ 528 w 565"/>
                <a:gd name="T19" fmla="*/ 206 h 629"/>
                <a:gd name="T20" fmla="*/ 516 w 565"/>
                <a:gd name="T21" fmla="*/ 250 h 629"/>
                <a:gd name="T22" fmla="*/ 509 w 565"/>
                <a:gd name="T23" fmla="*/ 296 h 629"/>
                <a:gd name="T24" fmla="*/ 507 w 565"/>
                <a:gd name="T25" fmla="*/ 342 h 629"/>
                <a:gd name="T26" fmla="*/ 509 w 565"/>
                <a:gd name="T27" fmla="*/ 391 h 629"/>
                <a:gd name="T28" fmla="*/ 518 w 565"/>
                <a:gd name="T29" fmla="*/ 437 h 629"/>
                <a:gd name="T30" fmla="*/ 530 w 565"/>
                <a:gd name="T31" fmla="*/ 483 h 629"/>
                <a:gd name="T32" fmla="*/ 548 w 565"/>
                <a:gd name="T33" fmla="*/ 525 h 629"/>
                <a:gd name="T34" fmla="*/ 518 w 565"/>
                <a:gd name="T35" fmla="*/ 555 h 629"/>
                <a:gd name="T36" fmla="*/ 483 w 565"/>
                <a:gd name="T37" fmla="*/ 581 h 629"/>
                <a:gd name="T38" fmla="*/ 445 w 565"/>
                <a:gd name="T39" fmla="*/ 601 h 629"/>
                <a:gd name="T40" fmla="*/ 404 w 565"/>
                <a:gd name="T41" fmla="*/ 616 h 629"/>
                <a:gd name="T42" fmla="*/ 361 w 565"/>
                <a:gd name="T43" fmla="*/ 626 h 629"/>
                <a:gd name="T44" fmla="*/ 314 w 565"/>
                <a:gd name="T45" fmla="*/ 629 h 629"/>
                <a:gd name="T46" fmla="*/ 272 w 565"/>
                <a:gd name="T47" fmla="*/ 627 h 629"/>
                <a:gd name="T48" fmla="*/ 231 w 565"/>
                <a:gd name="T49" fmla="*/ 619 h 629"/>
                <a:gd name="T50" fmla="*/ 192 w 565"/>
                <a:gd name="T51" fmla="*/ 605 h 629"/>
                <a:gd name="T52" fmla="*/ 156 w 565"/>
                <a:gd name="T53" fmla="*/ 587 h 629"/>
                <a:gd name="T54" fmla="*/ 122 w 565"/>
                <a:gd name="T55" fmla="*/ 565 h 629"/>
                <a:gd name="T56" fmla="*/ 92 w 565"/>
                <a:gd name="T57" fmla="*/ 538 h 629"/>
                <a:gd name="T58" fmla="*/ 66 w 565"/>
                <a:gd name="T59" fmla="*/ 507 h 629"/>
                <a:gd name="T60" fmla="*/ 43 w 565"/>
                <a:gd name="T61" fmla="*/ 474 h 629"/>
                <a:gd name="T62" fmla="*/ 25 w 565"/>
                <a:gd name="T63" fmla="*/ 437 h 629"/>
                <a:gd name="T64" fmla="*/ 11 w 565"/>
                <a:gd name="T65" fmla="*/ 398 h 629"/>
                <a:gd name="T66" fmla="*/ 2 w 565"/>
                <a:gd name="T67" fmla="*/ 357 h 629"/>
                <a:gd name="T68" fmla="*/ 0 w 565"/>
                <a:gd name="T69" fmla="*/ 315 h 629"/>
                <a:gd name="T70" fmla="*/ 3 w 565"/>
                <a:gd name="T71" fmla="*/ 269 h 629"/>
                <a:gd name="T72" fmla="*/ 13 w 565"/>
                <a:gd name="T73" fmla="*/ 223 h 629"/>
                <a:gd name="T74" fmla="*/ 29 w 565"/>
                <a:gd name="T75" fmla="*/ 182 h 629"/>
                <a:gd name="T76" fmla="*/ 51 w 565"/>
                <a:gd name="T77" fmla="*/ 143 h 629"/>
                <a:gd name="T78" fmla="*/ 77 w 565"/>
                <a:gd name="T79" fmla="*/ 108 h 629"/>
                <a:gd name="T80" fmla="*/ 108 w 565"/>
                <a:gd name="T81" fmla="*/ 76 h 629"/>
                <a:gd name="T82" fmla="*/ 144 w 565"/>
                <a:gd name="T83" fmla="*/ 51 h 629"/>
                <a:gd name="T84" fmla="*/ 183 w 565"/>
                <a:gd name="T85" fmla="*/ 29 h 629"/>
                <a:gd name="T86" fmla="*/ 224 w 565"/>
                <a:gd name="T87" fmla="*/ 13 h 629"/>
                <a:gd name="T88" fmla="*/ 268 w 565"/>
                <a:gd name="T89" fmla="*/ 3 h 629"/>
                <a:gd name="T90" fmla="*/ 314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314" y="0"/>
                  </a:moveTo>
                  <a:lnTo>
                    <a:pt x="358" y="3"/>
                  </a:lnTo>
                  <a:lnTo>
                    <a:pt x="400" y="12"/>
                  </a:lnTo>
                  <a:lnTo>
                    <a:pt x="439" y="25"/>
                  </a:lnTo>
                  <a:lnTo>
                    <a:pt x="474" y="44"/>
                  </a:lnTo>
                  <a:lnTo>
                    <a:pt x="508" y="67"/>
                  </a:lnTo>
                  <a:lnTo>
                    <a:pt x="538" y="94"/>
                  </a:lnTo>
                  <a:lnTo>
                    <a:pt x="565" y="125"/>
                  </a:lnTo>
                  <a:lnTo>
                    <a:pt x="545" y="165"/>
                  </a:lnTo>
                  <a:lnTo>
                    <a:pt x="528" y="206"/>
                  </a:lnTo>
                  <a:lnTo>
                    <a:pt x="516" y="250"/>
                  </a:lnTo>
                  <a:lnTo>
                    <a:pt x="509" y="296"/>
                  </a:lnTo>
                  <a:lnTo>
                    <a:pt x="507" y="342"/>
                  </a:lnTo>
                  <a:lnTo>
                    <a:pt x="509" y="391"/>
                  </a:lnTo>
                  <a:lnTo>
                    <a:pt x="518" y="437"/>
                  </a:lnTo>
                  <a:lnTo>
                    <a:pt x="530" y="483"/>
                  </a:lnTo>
                  <a:lnTo>
                    <a:pt x="548" y="525"/>
                  </a:lnTo>
                  <a:lnTo>
                    <a:pt x="518" y="555"/>
                  </a:lnTo>
                  <a:lnTo>
                    <a:pt x="483" y="581"/>
                  </a:lnTo>
                  <a:lnTo>
                    <a:pt x="445" y="601"/>
                  </a:lnTo>
                  <a:lnTo>
                    <a:pt x="404" y="616"/>
                  </a:lnTo>
                  <a:lnTo>
                    <a:pt x="361" y="626"/>
                  </a:lnTo>
                  <a:lnTo>
                    <a:pt x="314" y="629"/>
                  </a:lnTo>
                  <a:lnTo>
                    <a:pt x="272" y="627"/>
                  </a:lnTo>
                  <a:lnTo>
                    <a:pt x="231" y="619"/>
                  </a:lnTo>
                  <a:lnTo>
                    <a:pt x="192" y="605"/>
                  </a:lnTo>
                  <a:lnTo>
                    <a:pt x="156" y="587"/>
                  </a:lnTo>
                  <a:lnTo>
                    <a:pt x="122" y="565"/>
                  </a:lnTo>
                  <a:lnTo>
                    <a:pt x="92" y="538"/>
                  </a:lnTo>
                  <a:lnTo>
                    <a:pt x="66" y="507"/>
                  </a:lnTo>
                  <a:lnTo>
                    <a:pt x="43" y="474"/>
                  </a:lnTo>
                  <a:lnTo>
                    <a:pt x="25" y="437"/>
                  </a:lnTo>
                  <a:lnTo>
                    <a:pt x="11" y="398"/>
                  </a:lnTo>
                  <a:lnTo>
                    <a:pt x="2" y="357"/>
                  </a:lnTo>
                  <a:lnTo>
                    <a:pt x="0" y="315"/>
                  </a:lnTo>
                  <a:lnTo>
                    <a:pt x="3" y="269"/>
                  </a:lnTo>
                  <a:lnTo>
                    <a:pt x="13" y="223"/>
                  </a:lnTo>
                  <a:lnTo>
                    <a:pt x="29" y="182"/>
                  </a:lnTo>
                  <a:lnTo>
                    <a:pt x="51" y="143"/>
                  </a:lnTo>
                  <a:lnTo>
                    <a:pt x="77" y="108"/>
                  </a:lnTo>
                  <a:lnTo>
                    <a:pt x="108" y="76"/>
                  </a:lnTo>
                  <a:lnTo>
                    <a:pt x="144" y="51"/>
                  </a:lnTo>
                  <a:lnTo>
                    <a:pt x="183" y="29"/>
                  </a:lnTo>
                  <a:lnTo>
                    <a:pt x="224" y="13"/>
                  </a:lnTo>
                  <a:lnTo>
                    <a:pt x="268" y="3"/>
                  </a:lnTo>
                  <a:lnTo>
                    <a:pt x="314"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1" name="Freeform 415"/>
            <p:cNvSpPr/>
            <p:nvPr/>
          </p:nvSpPr>
          <p:spPr bwMode="auto">
            <a:xfrm>
              <a:off x="9209088" y="5148263"/>
              <a:ext cx="96838" cy="317500"/>
            </a:xfrm>
            <a:custGeom>
              <a:avLst/>
              <a:gdLst>
                <a:gd name="T0" fmla="*/ 373 w 729"/>
                <a:gd name="T1" fmla="*/ 0 h 2394"/>
                <a:gd name="T2" fmla="*/ 510 w 729"/>
                <a:gd name="T3" fmla="*/ 0 h 2394"/>
                <a:gd name="T4" fmla="*/ 600 w 729"/>
                <a:gd name="T5" fmla="*/ 0 h 2394"/>
                <a:gd name="T6" fmla="*/ 550 w 729"/>
                <a:gd name="T7" fmla="*/ 46 h 2394"/>
                <a:gd name="T8" fmla="*/ 513 w 729"/>
                <a:gd name="T9" fmla="*/ 105 h 2394"/>
                <a:gd name="T10" fmla="*/ 494 w 729"/>
                <a:gd name="T11" fmla="*/ 172 h 2394"/>
                <a:gd name="T12" fmla="*/ 490 w 729"/>
                <a:gd name="T13" fmla="*/ 1448 h 2394"/>
                <a:gd name="T14" fmla="*/ 502 w 729"/>
                <a:gd name="T15" fmla="*/ 1526 h 2394"/>
                <a:gd name="T16" fmla="*/ 536 w 729"/>
                <a:gd name="T17" fmla="*/ 1594 h 2394"/>
                <a:gd name="T18" fmla="*/ 588 w 729"/>
                <a:gd name="T19" fmla="*/ 1648 h 2394"/>
                <a:gd name="T20" fmla="*/ 652 w 729"/>
                <a:gd name="T21" fmla="*/ 1685 h 2394"/>
                <a:gd name="T22" fmla="*/ 729 w 729"/>
                <a:gd name="T23" fmla="*/ 1702 h 2394"/>
                <a:gd name="T24" fmla="*/ 708 w 729"/>
                <a:gd name="T25" fmla="*/ 2370 h 2394"/>
                <a:gd name="T26" fmla="*/ 659 w 729"/>
                <a:gd name="T27" fmla="*/ 2392 h 2394"/>
                <a:gd name="T28" fmla="*/ 604 w 729"/>
                <a:gd name="T29" fmla="*/ 2392 h 2394"/>
                <a:gd name="T30" fmla="*/ 555 w 729"/>
                <a:gd name="T31" fmla="*/ 2372 h 2394"/>
                <a:gd name="T32" fmla="*/ 518 w 729"/>
                <a:gd name="T33" fmla="*/ 2335 h 2394"/>
                <a:gd name="T34" fmla="*/ 498 w 729"/>
                <a:gd name="T35" fmla="*/ 2285 h 2394"/>
                <a:gd name="T36" fmla="*/ 491 w 729"/>
                <a:gd name="T37" fmla="*/ 2258 h 2394"/>
                <a:gd name="T38" fmla="*/ 481 w 729"/>
                <a:gd name="T39" fmla="*/ 2311 h 2394"/>
                <a:gd name="T40" fmla="*/ 451 w 729"/>
                <a:gd name="T41" fmla="*/ 2354 h 2394"/>
                <a:gd name="T42" fmla="*/ 408 w 729"/>
                <a:gd name="T43" fmla="*/ 2383 h 2394"/>
                <a:gd name="T44" fmla="*/ 355 w 729"/>
                <a:gd name="T45" fmla="*/ 2394 h 2394"/>
                <a:gd name="T46" fmla="*/ 301 w 729"/>
                <a:gd name="T47" fmla="*/ 2383 h 2394"/>
                <a:gd name="T48" fmla="*/ 258 w 729"/>
                <a:gd name="T49" fmla="*/ 2354 h 2394"/>
                <a:gd name="T50" fmla="*/ 229 w 729"/>
                <a:gd name="T51" fmla="*/ 2311 h 2394"/>
                <a:gd name="T52" fmla="*/ 218 w 729"/>
                <a:gd name="T53" fmla="*/ 2258 h 2394"/>
                <a:gd name="T54" fmla="*/ 201 w 729"/>
                <a:gd name="T55" fmla="*/ 1397 h 2394"/>
                <a:gd name="T56" fmla="*/ 159 w 729"/>
                <a:gd name="T57" fmla="*/ 1411 h 2394"/>
                <a:gd name="T58" fmla="*/ 109 w 729"/>
                <a:gd name="T59" fmla="*/ 1410 h 2394"/>
                <a:gd name="T60" fmla="*/ 60 w 729"/>
                <a:gd name="T61" fmla="*/ 1390 h 2394"/>
                <a:gd name="T62" fmla="*/ 24 w 729"/>
                <a:gd name="T63" fmla="*/ 1353 h 2394"/>
                <a:gd name="T64" fmla="*/ 3 w 729"/>
                <a:gd name="T65" fmla="*/ 1305 h 2394"/>
                <a:gd name="T66" fmla="*/ 0 w 729"/>
                <a:gd name="T67" fmla="*/ 137 h 2394"/>
                <a:gd name="T68" fmla="*/ 11 w 729"/>
                <a:gd name="T69" fmla="*/ 84 h 2394"/>
                <a:gd name="T70" fmla="*/ 39 w 729"/>
                <a:gd name="T71" fmla="*/ 42 h 2394"/>
                <a:gd name="T72" fmla="*/ 81 w 729"/>
                <a:gd name="T73" fmla="*/ 12 h 2394"/>
                <a:gd name="T74" fmla="*/ 133 w 729"/>
                <a:gd name="T75" fmla="*/ 1 h 2394"/>
                <a:gd name="T76" fmla="*/ 289 w 729"/>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9" h="2394">
                  <a:moveTo>
                    <a:pt x="329" y="0"/>
                  </a:moveTo>
                  <a:lnTo>
                    <a:pt x="373" y="0"/>
                  </a:lnTo>
                  <a:lnTo>
                    <a:pt x="463" y="0"/>
                  </a:lnTo>
                  <a:lnTo>
                    <a:pt x="510" y="0"/>
                  </a:lnTo>
                  <a:lnTo>
                    <a:pt x="556" y="0"/>
                  </a:lnTo>
                  <a:lnTo>
                    <a:pt x="600" y="0"/>
                  </a:lnTo>
                  <a:lnTo>
                    <a:pt x="573" y="21"/>
                  </a:lnTo>
                  <a:lnTo>
                    <a:pt x="550" y="46"/>
                  </a:lnTo>
                  <a:lnTo>
                    <a:pt x="529" y="74"/>
                  </a:lnTo>
                  <a:lnTo>
                    <a:pt x="513" y="105"/>
                  </a:lnTo>
                  <a:lnTo>
                    <a:pt x="501" y="137"/>
                  </a:lnTo>
                  <a:lnTo>
                    <a:pt x="494" y="172"/>
                  </a:lnTo>
                  <a:lnTo>
                    <a:pt x="490" y="208"/>
                  </a:lnTo>
                  <a:lnTo>
                    <a:pt x="490" y="1448"/>
                  </a:lnTo>
                  <a:lnTo>
                    <a:pt x="494" y="1488"/>
                  </a:lnTo>
                  <a:lnTo>
                    <a:pt x="502" y="1526"/>
                  </a:lnTo>
                  <a:lnTo>
                    <a:pt x="516" y="1562"/>
                  </a:lnTo>
                  <a:lnTo>
                    <a:pt x="536" y="1594"/>
                  </a:lnTo>
                  <a:lnTo>
                    <a:pt x="559" y="1622"/>
                  </a:lnTo>
                  <a:lnTo>
                    <a:pt x="588" y="1648"/>
                  </a:lnTo>
                  <a:lnTo>
                    <a:pt x="619" y="1668"/>
                  </a:lnTo>
                  <a:lnTo>
                    <a:pt x="652" y="1685"/>
                  </a:lnTo>
                  <a:lnTo>
                    <a:pt x="690" y="1697"/>
                  </a:lnTo>
                  <a:lnTo>
                    <a:pt x="729" y="1702"/>
                  </a:lnTo>
                  <a:lnTo>
                    <a:pt x="729" y="2354"/>
                  </a:lnTo>
                  <a:lnTo>
                    <a:pt x="708" y="2370"/>
                  </a:lnTo>
                  <a:lnTo>
                    <a:pt x="685" y="2383"/>
                  </a:lnTo>
                  <a:lnTo>
                    <a:pt x="659" y="2392"/>
                  </a:lnTo>
                  <a:lnTo>
                    <a:pt x="632" y="2394"/>
                  </a:lnTo>
                  <a:lnTo>
                    <a:pt x="604" y="2392"/>
                  </a:lnTo>
                  <a:lnTo>
                    <a:pt x="579" y="2383"/>
                  </a:lnTo>
                  <a:lnTo>
                    <a:pt x="555" y="2372"/>
                  </a:lnTo>
                  <a:lnTo>
                    <a:pt x="535" y="2354"/>
                  </a:lnTo>
                  <a:lnTo>
                    <a:pt x="518" y="2335"/>
                  </a:lnTo>
                  <a:lnTo>
                    <a:pt x="505" y="2311"/>
                  </a:lnTo>
                  <a:lnTo>
                    <a:pt x="498" y="2285"/>
                  </a:lnTo>
                  <a:lnTo>
                    <a:pt x="495" y="2258"/>
                  </a:lnTo>
                  <a:lnTo>
                    <a:pt x="491" y="2258"/>
                  </a:lnTo>
                  <a:lnTo>
                    <a:pt x="488" y="2285"/>
                  </a:lnTo>
                  <a:lnTo>
                    <a:pt x="481" y="2311"/>
                  </a:lnTo>
                  <a:lnTo>
                    <a:pt x="469" y="2335"/>
                  </a:lnTo>
                  <a:lnTo>
                    <a:pt x="451" y="2354"/>
                  </a:lnTo>
                  <a:lnTo>
                    <a:pt x="431" y="2372"/>
                  </a:lnTo>
                  <a:lnTo>
                    <a:pt x="408" y="2383"/>
                  </a:lnTo>
                  <a:lnTo>
                    <a:pt x="382" y="2392"/>
                  </a:lnTo>
                  <a:lnTo>
                    <a:pt x="355" y="2394"/>
                  </a:lnTo>
                  <a:lnTo>
                    <a:pt x="327" y="2392"/>
                  </a:lnTo>
                  <a:lnTo>
                    <a:pt x="301" y="2383"/>
                  </a:lnTo>
                  <a:lnTo>
                    <a:pt x="279" y="2372"/>
                  </a:lnTo>
                  <a:lnTo>
                    <a:pt x="258" y="2354"/>
                  </a:lnTo>
                  <a:lnTo>
                    <a:pt x="242" y="2335"/>
                  </a:lnTo>
                  <a:lnTo>
                    <a:pt x="229" y="2311"/>
                  </a:lnTo>
                  <a:lnTo>
                    <a:pt x="221" y="2285"/>
                  </a:lnTo>
                  <a:lnTo>
                    <a:pt x="218" y="2258"/>
                  </a:lnTo>
                  <a:lnTo>
                    <a:pt x="218" y="1386"/>
                  </a:lnTo>
                  <a:lnTo>
                    <a:pt x="201" y="1397"/>
                  </a:lnTo>
                  <a:lnTo>
                    <a:pt x="180" y="1406"/>
                  </a:lnTo>
                  <a:lnTo>
                    <a:pt x="159" y="1411"/>
                  </a:lnTo>
                  <a:lnTo>
                    <a:pt x="137" y="1414"/>
                  </a:lnTo>
                  <a:lnTo>
                    <a:pt x="109" y="1410"/>
                  </a:lnTo>
                  <a:lnTo>
                    <a:pt x="83" y="1403"/>
                  </a:lnTo>
                  <a:lnTo>
                    <a:pt x="60" y="1390"/>
                  </a:lnTo>
                  <a:lnTo>
                    <a:pt x="40" y="1374"/>
                  </a:lnTo>
                  <a:lnTo>
                    <a:pt x="24" y="1353"/>
                  </a:lnTo>
                  <a:lnTo>
                    <a:pt x="11" y="1330"/>
                  </a:lnTo>
                  <a:lnTo>
                    <a:pt x="3" y="1305"/>
                  </a:lnTo>
                  <a:lnTo>
                    <a:pt x="0" y="1276"/>
                  </a:lnTo>
                  <a:lnTo>
                    <a:pt x="0" y="137"/>
                  </a:lnTo>
                  <a:lnTo>
                    <a:pt x="2" y="110"/>
                  </a:lnTo>
                  <a:lnTo>
                    <a:pt x="11" y="84"/>
                  </a:lnTo>
                  <a:lnTo>
                    <a:pt x="23" y="61"/>
                  </a:lnTo>
                  <a:lnTo>
                    <a:pt x="39" y="42"/>
                  </a:lnTo>
                  <a:lnTo>
                    <a:pt x="58" y="25"/>
                  </a:lnTo>
                  <a:lnTo>
                    <a:pt x="81" y="12"/>
                  </a:lnTo>
                  <a:lnTo>
                    <a:pt x="106" y="4"/>
                  </a:lnTo>
                  <a:lnTo>
                    <a:pt x="133" y="1"/>
                  </a:lnTo>
                  <a:lnTo>
                    <a:pt x="133" y="0"/>
                  </a:lnTo>
                  <a:lnTo>
                    <a:pt x="289" y="0"/>
                  </a:lnTo>
                  <a:lnTo>
                    <a:pt x="32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2" name="Freeform 416"/>
            <p:cNvSpPr/>
            <p:nvPr/>
          </p:nvSpPr>
          <p:spPr bwMode="auto">
            <a:xfrm>
              <a:off x="9410701" y="5059363"/>
              <a:ext cx="74613" cy="82550"/>
            </a:xfrm>
            <a:custGeom>
              <a:avLst/>
              <a:gdLst>
                <a:gd name="T0" fmla="*/ 249 w 565"/>
                <a:gd name="T1" fmla="*/ 0 h 629"/>
                <a:gd name="T2" fmla="*/ 297 w 565"/>
                <a:gd name="T3" fmla="*/ 3 h 629"/>
                <a:gd name="T4" fmla="*/ 341 w 565"/>
                <a:gd name="T5" fmla="*/ 13 h 629"/>
                <a:gd name="T6" fmla="*/ 382 w 565"/>
                <a:gd name="T7" fmla="*/ 29 h 629"/>
                <a:gd name="T8" fmla="*/ 421 w 565"/>
                <a:gd name="T9" fmla="*/ 51 h 629"/>
                <a:gd name="T10" fmla="*/ 457 w 565"/>
                <a:gd name="T11" fmla="*/ 76 h 629"/>
                <a:gd name="T12" fmla="*/ 488 w 565"/>
                <a:gd name="T13" fmla="*/ 108 h 629"/>
                <a:gd name="T14" fmla="*/ 514 w 565"/>
                <a:gd name="T15" fmla="*/ 143 h 629"/>
                <a:gd name="T16" fmla="*/ 535 w 565"/>
                <a:gd name="T17" fmla="*/ 182 h 629"/>
                <a:gd name="T18" fmla="*/ 552 w 565"/>
                <a:gd name="T19" fmla="*/ 223 h 629"/>
                <a:gd name="T20" fmla="*/ 561 w 565"/>
                <a:gd name="T21" fmla="*/ 269 h 629"/>
                <a:gd name="T22" fmla="*/ 565 w 565"/>
                <a:gd name="T23" fmla="*/ 315 h 629"/>
                <a:gd name="T24" fmla="*/ 562 w 565"/>
                <a:gd name="T25" fmla="*/ 357 h 629"/>
                <a:gd name="T26" fmla="*/ 554 w 565"/>
                <a:gd name="T27" fmla="*/ 398 h 629"/>
                <a:gd name="T28" fmla="*/ 540 w 565"/>
                <a:gd name="T29" fmla="*/ 437 h 629"/>
                <a:gd name="T30" fmla="*/ 521 w 565"/>
                <a:gd name="T31" fmla="*/ 474 h 629"/>
                <a:gd name="T32" fmla="*/ 499 w 565"/>
                <a:gd name="T33" fmla="*/ 507 h 629"/>
                <a:gd name="T34" fmla="*/ 473 w 565"/>
                <a:gd name="T35" fmla="*/ 538 h 629"/>
                <a:gd name="T36" fmla="*/ 443 w 565"/>
                <a:gd name="T37" fmla="*/ 565 h 629"/>
                <a:gd name="T38" fmla="*/ 409 w 565"/>
                <a:gd name="T39" fmla="*/ 587 h 629"/>
                <a:gd name="T40" fmla="*/ 372 w 565"/>
                <a:gd name="T41" fmla="*/ 605 h 629"/>
                <a:gd name="T42" fmla="*/ 333 w 565"/>
                <a:gd name="T43" fmla="*/ 619 h 629"/>
                <a:gd name="T44" fmla="*/ 292 w 565"/>
                <a:gd name="T45" fmla="*/ 627 h 629"/>
                <a:gd name="T46" fmla="*/ 249 w 565"/>
                <a:gd name="T47" fmla="*/ 629 h 629"/>
                <a:gd name="T48" fmla="*/ 204 w 565"/>
                <a:gd name="T49" fmla="*/ 626 h 629"/>
                <a:gd name="T50" fmla="*/ 161 w 565"/>
                <a:gd name="T51" fmla="*/ 616 h 629"/>
                <a:gd name="T52" fmla="*/ 120 w 565"/>
                <a:gd name="T53" fmla="*/ 601 h 629"/>
                <a:gd name="T54" fmla="*/ 82 w 565"/>
                <a:gd name="T55" fmla="*/ 581 h 629"/>
                <a:gd name="T56" fmla="*/ 47 w 565"/>
                <a:gd name="T57" fmla="*/ 555 h 629"/>
                <a:gd name="T58" fmla="*/ 17 w 565"/>
                <a:gd name="T59" fmla="*/ 526 h 629"/>
                <a:gd name="T60" fmla="*/ 34 w 565"/>
                <a:gd name="T61" fmla="*/ 483 h 629"/>
                <a:gd name="T62" fmla="*/ 47 w 565"/>
                <a:gd name="T63" fmla="*/ 438 h 629"/>
                <a:gd name="T64" fmla="*/ 56 w 565"/>
                <a:gd name="T65" fmla="*/ 391 h 629"/>
                <a:gd name="T66" fmla="*/ 59 w 565"/>
                <a:gd name="T67" fmla="*/ 342 h 629"/>
                <a:gd name="T68" fmla="*/ 56 w 565"/>
                <a:gd name="T69" fmla="*/ 296 h 629"/>
                <a:gd name="T70" fmla="*/ 48 w 565"/>
                <a:gd name="T71" fmla="*/ 250 h 629"/>
                <a:gd name="T72" fmla="*/ 36 w 565"/>
                <a:gd name="T73" fmla="*/ 206 h 629"/>
                <a:gd name="T74" fmla="*/ 20 w 565"/>
                <a:gd name="T75" fmla="*/ 164 h 629"/>
                <a:gd name="T76" fmla="*/ 0 w 565"/>
                <a:gd name="T77" fmla="*/ 124 h 629"/>
                <a:gd name="T78" fmla="*/ 27 w 565"/>
                <a:gd name="T79" fmla="*/ 94 h 629"/>
                <a:gd name="T80" fmla="*/ 57 w 565"/>
                <a:gd name="T81" fmla="*/ 67 h 629"/>
                <a:gd name="T82" fmla="*/ 90 w 565"/>
                <a:gd name="T83" fmla="*/ 44 h 629"/>
                <a:gd name="T84" fmla="*/ 126 w 565"/>
                <a:gd name="T85" fmla="*/ 25 h 629"/>
                <a:gd name="T86" fmla="*/ 165 w 565"/>
                <a:gd name="T87" fmla="*/ 12 h 629"/>
                <a:gd name="T88" fmla="*/ 207 w 565"/>
                <a:gd name="T89" fmla="*/ 3 h 629"/>
                <a:gd name="T90" fmla="*/ 249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249" y="0"/>
                  </a:moveTo>
                  <a:lnTo>
                    <a:pt x="297" y="3"/>
                  </a:lnTo>
                  <a:lnTo>
                    <a:pt x="341" y="13"/>
                  </a:lnTo>
                  <a:lnTo>
                    <a:pt x="382" y="29"/>
                  </a:lnTo>
                  <a:lnTo>
                    <a:pt x="421" y="51"/>
                  </a:lnTo>
                  <a:lnTo>
                    <a:pt x="457" y="76"/>
                  </a:lnTo>
                  <a:lnTo>
                    <a:pt x="488" y="108"/>
                  </a:lnTo>
                  <a:lnTo>
                    <a:pt x="514" y="143"/>
                  </a:lnTo>
                  <a:lnTo>
                    <a:pt x="535" y="182"/>
                  </a:lnTo>
                  <a:lnTo>
                    <a:pt x="552" y="223"/>
                  </a:lnTo>
                  <a:lnTo>
                    <a:pt x="561" y="269"/>
                  </a:lnTo>
                  <a:lnTo>
                    <a:pt x="565" y="315"/>
                  </a:lnTo>
                  <a:lnTo>
                    <a:pt x="562" y="357"/>
                  </a:lnTo>
                  <a:lnTo>
                    <a:pt x="554" y="398"/>
                  </a:lnTo>
                  <a:lnTo>
                    <a:pt x="540" y="437"/>
                  </a:lnTo>
                  <a:lnTo>
                    <a:pt x="521" y="474"/>
                  </a:lnTo>
                  <a:lnTo>
                    <a:pt x="499" y="507"/>
                  </a:lnTo>
                  <a:lnTo>
                    <a:pt x="473" y="538"/>
                  </a:lnTo>
                  <a:lnTo>
                    <a:pt x="443" y="565"/>
                  </a:lnTo>
                  <a:lnTo>
                    <a:pt x="409" y="587"/>
                  </a:lnTo>
                  <a:lnTo>
                    <a:pt x="372" y="605"/>
                  </a:lnTo>
                  <a:lnTo>
                    <a:pt x="333" y="619"/>
                  </a:lnTo>
                  <a:lnTo>
                    <a:pt x="292" y="627"/>
                  </a:lnTo>
                  <a:lnTo>
                    <a:pt x="249" y="629"/>
                  </a:lnTo>
                  <a:lnTo>
                    <a:pt x="204" y="626"/>
                  </a:lnTo>
                  <a:lnTo>
                    <a:pt x="161" y="616"/>
                  </a:lnTo>
                  <a:lnTo>
                    <a:pt x="120" y="601"/>
                  </a:lnTo>
                  <a:lnTo>
                    <a:pt x="82" y="581"/>
                  </a:lnTo>
                  <a:lnTo>
                    <a:pt x="47" y="555"/>
                  </a:lnTo>
                  <a:lnTo>
                    <a:pt x="17" y="526"/>
                  </a:lnTo>
                  <a:lnTo>
                    <a:pt x="34" y="483"/>
                  </a:lnTo>
                  <a:lnTo>
                    <a:pt x="47" y="438"/>
                  </a:lnTo>
                  <a:lnTo>
                    <a:pt x="56" y="391"/>
                  </a:lnTo>
                  <a:lnTo>
                    <a:pt x="59" y="342"/>
                  </a:lnTo>
                  <a:lnTo>
                    <a:pt x="56" y="296"/>
                  </a:lnTo>
                  <a:lnTo>
                    <a:pt x="48" y="250"/>
                  </a:lnTo>
                  <a:lnTo>
                    <a:pt x="36" y="206"/>
                  </a:lnTo>
                  <a:lnTo>
                    <a:pt x="20" y="164"/>
                  </a:lnTo>
                  <a:lnTo>
                    <a:pt x="0" y="124"/>
                  </a:lnTo>
                  <a:lnTo>
                    <a:pt x="27" y="94"/>
                  </a:lnTo>
                  <a:lnTo>
                    <a:pt x="57" y="67"/>
                  </a:lnTo>
                  <a:lnTo>
                    <a:pt x="90" y="44"/>
                  </a:lnTo>
                  <a:lnTo>
                    <a:pt x="126" y="25"/>
                  </a:lnTo>
                  <a:lnTo>
                    <a:pt x="165" y="12"/>
                  </a:lnTo>
                  <a:lnTo>
                    <a:pt x="207" y="3"/>
                  </a:lnTo>
                  <a:lnTo>
                    <a:pt x="24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3" name="Freeform 417"/>
            <p:cNvSpPr/>
            <p:nvPr/>
          </p:nvSpPr>
          <p:spPr bwMode="auto">
            <a:xfrm>
              <a:off x="9412288" y="5148263"/>
              <a:ext cx="96838" cy="317500"/>
            </a:xfrm>
            <a:custGeom>
              <a:avLst/>
              <a:gdLst>
                <a:gd name="T0" fmla="*/ 510 w 728"/>
                <a:gd name="T1" fmla="*/ 0 h 2394"/>
                <a:gd name="T2" fmla="*/ 579 w 728"/>
                <a:gd name="T3" fmla="*/ 0 h 2394"/>
                <a:gd name="T4" fmla="*/ 594 w 728"/>
                <a:gd name="T5" fmla="*/ 0 h 2394"/>
                <a:gd name="T6" fmla="*/ 621 w 728"/>
                <a:gd name="T7" fmla="*/ 4 h 2394"/>
                <a:gd name="T8" fmla="*/ 669 w 728"/>
                <a:gd name="T9" fmla="*/ 25 h 2394"/>
                <a:gd name="T10" fmla="*/ 705 w 728"/>
                <a:gd name="T11" fmla="*/ 61 h 2394"/>
                <a:gd name="T12" fmla="*/ 725 w 728"/>
                <a:gd name="T13" fmla="*/ 110 h 2394"/>
                <a:gd name="T14" fmla="*/ 728 w 728"/>
                <a:gd name="T15" fmla="*/ 1276 h 2394"/>
                <a:gd name="T16" fmla="*/ 717 w 728"/>
                <a:gd name="T17" fmla="*/ 1330 h 2394"/>
                <a:gd name="T18" fmla="*/ 688 w 728"/>
                <a:gd name="T19" fmla="*/ 1374 h 2394"/>
                <a:gd name="T20" fmla="*/ 645 w 728"/>
                <a:gd name="T21" fmla="*/ 1403 h 2394"/>
                <a:gd name="T22" fmla="*/ 592 w 728"/>
                <a:gd name="T23" fmla="*/ 1414 h 2394"/>
                <a:gd name="T24" fmla="*/ 547 w 728"/>
                <a:gd name="T25" fmla="*/ 1406 h 2394"/>
                <a:gd name="T26" fmla="*/ 509 w 728"/>
                <a:gd name="T27" fmla="*/ 1386 h 2394"/>
                <a:gd name="T28" fmla="*/ 506 w 728"/>
                <a:gd name="T29" fmla="*/ 2285 h 2394"/>
                <a:gd name="T30" fmla="*/ 486 w 728"/>
                <a:gd name="T31" fmla="*/ 2335 h 2394"/>
                <a:gd name="T32" fmla="*/ 449 w 728"/>
                <a:gd name="T33" fmla="*/ 2372 h 2394"/>
                <a:gd name="T34" fmla="*/ 401 w 728"/>
                <a:gd name="T35" fmla="*/ 2392 h 2394"/>
                <a:gd name="T36" fmla="*/ 345 w 728"/>
                <a:gd name="T37" fmla="*/ 2392 h 2394"/>
                <a:gd name="T38" fmla="*/ 297 w 728"/>
                <a:gd name="T39" fmla="*/ 2372 h 2394"/>
                <a:gd name="T40" fmla="*/ 260 w 728"/>
                <a:gd name="T41" fmla="*/ 2335 h 2394"/>
                <a:gd name="T42" fmla="*/ 240 w 728"/>
                <a:gd name="T43" fmla="*/ 2285 h 2394"/>
                <a:gd name="T44" fmla="*/ 233 w 728"/>
                <a:gd name="T45" fmla="*/ 2258 h 2394"/>
                <a:gd name="T46" fmla="*/ 222 w 728"/>
                <a:gd name="T47" fmla="*/ 2311 h 2394"/>
                <a:gd name="T48" fmla="*/ 192 w 728"/>
                <a:gd name="T49" fmla="*/ 2354 h 2394"/>
                <a:gd name="T50" fmla="*/ 149 w 728"/>
                <a:gd name="T51" fmla="*/ 2383 h 2394"/>
                <a:gd name="T52" fmla="*/ 96 w 728"/>
                <a:gd name="T53" fmla="*/ 2394 h 2394"/>
                <a:gd name="T54" fmla="*/ 43 w 728"/>
                <a:gd name="T55" fmla="*/ 2383 h 2394"/>
                <a:gd name="T56" fmla="*/ 0 w 728"/>
                <a:gd name="T57" fmla="*/ 2354 h 2394"/>
                <a:gd name="T58" fmla="*/ 39 w 728"/>
                <a:gd name="T59" fmla="*/ 1697 h 2394"/>
                <a:gd name="T60" fmla="*/ 109 w 728"/>
                <a:gd name="T61" fmla="*/ 1668 h 2394"/>
                <a:gd name="T62" fmla="*/ 168 w 728"/>
                <a:gd name="T63" fmla="*/ 1622 h 2394"/>
                <a:gd name="T64" fmla="*/ 210 w 728"/>
                <a:gd name="T65" fmla="*/ 1560 h 2394"/>
                <a:gd name="T66" fmla="*/ 234 w 728"/>
                <a:gd name="T67" fmla="*/ 1488 h 2394"/>
                <a:gd name="T68" fmla="*/ 236 w 728"/>
                <a:gd name="T69" fmla="*/ 208 h 2394"/>
                <a:gd name="T70" fmla="*/ 227 w 728"/>
                <a:gd name="T71" fmla="*/ 137 h 2394"/>
                <a:gd name="T72" fmla="*/ 199 w 728"/>
                <a:gd name="T73" fmla="*/ 74 h 2394"/>
                <a:gd name="T74" fmla="*/ 155 w 728"/>
                <a:gd name="T75" fmla="*/ 21 h 2394"/>
                <a:gd name="T76" fmla="*/ 438 w 728"/>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8" h="2394">
                  <a:moveTo>
                    <a:pt x="476" y="0"/>
                  </a:moveTo>
                  <a:lnTo>
                    <a:pt x="510" y="0"/>
                  </a:lnTo>
                  <a:lnTo>
                    <a:pt x="561" y="0"/>
                  </a:lnTo>
                  <a:lnTo>
                    <a:pt x="579" y="0"/>
                  </a:lnTo>
                  <a:lnTo>
                    <a:pt x="591" y="0"/>
                  </a:lnTo>
                  <a:lnTo>
                    <a:pt x="594" y="0"/>
                  </a:lnTo>
                  <a:lnTo>
                    <a:pt x="594" y="1"/>
                  </a:lnTo>
                  <a:lnTo>
                    <a:pt x="621" y="4"/>
                  </a:lnTo>
                  <a:lnTo>
                    <a:pt x="647" y="12"/>
                  </a:lnTo>
                  <a:lnTo>
                    <a:pt x="669" y="25"/>
                  </a:lnTo>
                  <a:lnTo>
                    <a:pt x="689" y="42"/>
                  </a:lnTo>
                  <a:lnTo>
                    <a:pt x="705" y="61"/>
                  </a:lnTo>
                  <a:lnTo>
                    <a:pt x="717" y="84"/>
                  </a:lnTo>
                  <a:lnTo>
                    <a:pt x="725" y="110"/>
                  </a:lnTo>
                  <a:lnTo>
                    <a:pt x="728" y="137"/>
                  </a:lnTo>
                  <a:lnTo>
                    <a:pt x="728" y="1276"/>
                  </a:lnTo>
                  <a:lnTo>
                    <a:pt x="725" y="1305"/>
                  </a:lnTo>
                  <a:lnTo>
                    <a:pt x="717" y="1330"/>
                  </a:lnTo>
                  <a:lnTo>
                    <a:pt x="704" y="1353"/>
                  </a:lnTo>
                  <a:lnTo>
                    <a:pt x="688" y="1374"/>
                  </a:lnTo>
                  <a:lnTo>
                    <a:pt x="667" y="1390"/>
                  </a:lnTo>
                  <a:lnTo>
                    <a:pt x="645" y="1403"/>
                  </a:lnTo>
                  <a:lnTo>
                    <a:pt x="619" y="1410"/>
                  </a:lnTo>
                  <a:lnTo>
                    <a:pt x="592" y="1414"/>
                  </a:lnTo>
                  <a:lnTo>
                    <a:pt x="569" y="1411"/>
                  </a:lnTo>
                  <a:lnTo>
                    <a:pt x="547" y="1406"/>
                  </a:lnTo>
                  <a:lnTo>
                    <a:pt x="527" y="1397"/>
                  </a:lnTo>
                  <a:lnTo>
                    <a:pt x="509" y="1386"/>
                  </a:lnTo>
                  <a:lnTo>
                    <a:pt x="509" y="2258"/>
                  </a:lnTo>
                  <a:lnTo>
                    <a:pt x="506" y="2285"/>
                  </a:lnTo>
                  <a:lnTo>
                    <a:pt x="499" y="2311"/>
                  </a:lnTo>
                  <a:lnTo>
                    <a:pt x="486" y="2335"/>
                  </a:lnTo>
                  <a:lnTo>
                    <a:pt x="470" y="2354"/>
                  </a:lnTo>
                  <a:lnTo>
                    <a:pt x="449" y="2372"/>
                  </a:lnTo>
                  <a:lnTo>
                    <a:pt x="426" y="2383"/>
                  </a:lnTo>
                  <a:lnTo>
                    <a:pt x="401" y="2392"/>
                  </a:lnTo>
                  <a:lnTo>
                    <a:pt x="372" y="2394"/>
                  </a:lnTo>
                  <a:lnTo>
                    <a:pt x="345" y="2392"/>
                  </a:lnTo>
                  <a:lnTo>
                    <a:pt x="320" y="2383"/>
                  </a:lnTo>
                  <a:lnTo>
                    <a:pt x="297" y="2372"/>
                  </a:lnTo>
                  <a:lnTo>
                    <a:pt x="276" y="2354"/>
                  </a:lnTo>
                  <a:lnTo>
                    <a:pt x="260" y="2335"/>
                  </a:lnTo>
                  <a:lnTo>
                    <a:pt x="247" y="2311"/>
                  </a:lnTo>
                  <a:lnTo>
                    <a:pt x="240" y="2285"/>
                  </a:lnTo>
                  <a:lnTo>
                    <a:pt x="236" y="2258"/>
                  </a:lnTo>
                  <a:lnTo>
                    <a:pt x="233" y="2258"/>
                  </a:lnTo>
                  <a:lnTo>
                    <a:pt x="230" y="2285"/>
                  </a:lnTo>
                  <a:lnTo>
                    <a:pt x="222" y="2311"/>
                  </a:lnTo>
                  <a:lnTo>
                    <a:pt x="209" y="2335"/>
                  </a:lnTo>
                  <a:lnTo>
                    <a:pt x="192" y="2354"/>
                  </a:lnTo>
                  <a:lnTo>
                    <a:pt x="173" y="2372"/>
                  </a:lnTo>
                  <a:lnTo>
                    <a:pt x="149" y="2383"/>
                  </a:lnTo>
                  <a:lnTo>
                    <a:pt x="123" y="2392"/>
                  </a:lnTo>
                  <a:lnTo>
                    <a:pt x="96" y="2394"/>
                  </a:lnTo>
                  <a:lnTo>
                    <a:pt x="69" y="2392"/>
                  </a:lnTo>
                  <a:lnTo>
                    <a:pt x="43" y="2383"/>
                  </a:lnTo>
                  <a:lnTo>
                    <a:pt x="19" y="2372"/>
                  </a:lnTo>
                  <a:lnTo>
                    <a:pt x="0" y="2354"/>
                  </a:lnTo>
                  <a:lnTo>
                    <a:pt x="0" y="1702"/>
                  </a:lnTo>
                  <a:lnTo>
                    <a:pt x="39" y="1697"/>
                  </a:lnTo>
                  <a:lnTo>
                    <a:pt x="75" y="1685"/>
                  </a:lnTo>
                  <a:lnTo>
                    <a:pt x="109" y="1668"/>
                  </a:lnTo>
                  <a:lnTo>
                    <a:pt x="140" y="1648"/>
                  </a:lnTo>
                  <a:lnTo>
                    <a:pt x="168" y="1622"/>
                  </a:lnTo>
                  <a:lnTo>
                    <a:pt x="191" y="1593"/>
                  </a:lnTo>
                  <a:lnTo>
                    <a:pt x="210" y="1560"/>
                  </a:lnTo>
                  <a:lnTo>
                    <a:pt x="224" y="1526"/>
                  </a:lnTo>
                  <a:lnTo>
                    <a:pt x="234" y="1488"/>
                  </a:lnTo>
                  <a:lnTo>
                    <a:pt x="236" y="1448"/>
                  </a:lnTo>
                  <a:lnTo>
                    <a:pt x="236" y="208"/>
                  </a:lnTo>
                  <a:lnTo>
                    <a:pt x="234" y="172"/>
                  </a:lnTo>
                  <a:lnTo>
                    <a:pt x="227" y="137"/>
                  </a:lnTo>
                  <a:lnTo>
                    <a:pt x="215" y="105"/>
                  </a:lnTo>
                  <a:lnTo>
                    <a:pt x="199" y="74"/>
                  </a:lnTo>
                  <a:lnTo>
                    <a:pt x="178" y="46"/>
                  </a:lnTo>
                  <a:lnTo>
                    <a:pt x="155" y="21"/>
                  </a:lnTo>
                  <a:lnTo>
                    <a:pt x="128" y="0"/>
                  </a:lnTo>
                  <a:lnTo>
                    <a:pt x="438" y="0"/>
                  </a:lnTo>
                  <a:lnTo>
                    <a:pt x="476"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54" name="Group 68"/>
          <p:cNvGrpSpPr/>
          <p:nvPr/>
        </p:nvGrpSpPr>
        <p:grpSpPr>
          <a:xfrm>
            <a:off x="7246850" y="3334293"/>
            <a:ext cx="253802" cy="294869"/>
            <a:chOff x="2593975" y="4225925"/>
            <a:chExt cx="490538" cy="569912"/>
          </a:xfrm>
          <a:solidFill>
            <a:schemeClr val="bg1"/>
          </a:solidFill>
        </p:grpSpPr>
        <p:sp>
          <p:nvSpPr>
            <p:cNvPr id="55" name="Freeform 18"/>
            <p:cNvSpPr/>
            <p:nvPr/>
          </p:nvSpPr>
          <p:spPr bwMode="auto">
            <a:xfrm>
              <a:off x="2773363" y="4384675"/>
              <a:ext cx="131763" cy="252412"/>
            </a:xfrm>
            <a:custGeom>
              <a:avLst/>
              <a:gdLst>
                <a:gd name="T0" fmla="*/ 445 w 827"/>
                <a:gd name="T1" fmla="*/ 0 h 1593"/>
                <a:gd name="T2" fmla="*/ 498 w 827"/>
                <a:gd name="T3" fmla="*/ 8 h 1593"/>
                <a:gd name="T4" fmla="*/ 515 w 827"/>
                <a:gd name="T5" fmla="*/ 47 h 1593"/>
                <a:gd name="T6" fmla="*/ 516 w 827"/>
                <a:gd name="T7" fmla="*/ 123 h 1593"/>
                <a:gd name="T8" fmla="*/ 525 w 827"/>
                <a:gd name="T9" fmla="*/ 163 h 1593"/>
                <a:gd name="T10" fmla="*/ 563 w 827"/>
                <a:gd name="T11" fmla="*/ 178 h 1593"/>
                <a:gd name="T12" fmla="*/ 691 w 827"/>
                <a:gd name="T13" fmla="*/ 207 h 1593"/>
                <a:gd name="T14" fmla="*/ 767 w 827"/>
                <a:gd name="T15" fmla="*/ 246 h 1593"/>
                <a:gd name="T16" fmla="*/ 771 w 827"/>
                <a:gd name="T17" fmla="*/ 287 h 1593"/>
                <a:gd name="T18" fmla="*/ 726 w 827"/>
                <a:gd name="T19" fmla="*/ 434 h 1593"/>
                <a:gd name="T20" fmla="*/ 700 w 827"/>
                <a:gd name="T21" fmla="*/ 455 h 1593"/>
                <a:gd name="T22" fmla="*/ 621 w 827"/>
                <a:gd name="T23" fmla="*/ 425 h 1593"/>
                <a:gd name="T24" fmla="*/ 473 w 827"/>
                <a:gd name="T25" fmla="*/ 396 h 1593"/>
                <a:gd name="T26" fmla="*/ 377 w 827"/>
                <a:gd name="T27" fmla="*/ 402 h 1593"/>
                <a:gd name="T28" fmla="*/ 315 w 827"/>
                <a:gd name="T29" fmla="*/ 437 h 1593"/>
                <a:gd name="T30" fmla="*/ 291 w 827"/>
                <a:gd name="T31" fmla="*/ 496 h 1593"/>
                <a:gd name="T32" fmla="*/ 314 w 827"/>
                <a:gd name="T33" fmla="*/ 557 h 1593"/>
                <a:gd name="T34" fmla="*/ 402 w 827"/>
                <a:gd name="T35" fmla="*/ 618 h 1593"/>
                <a:gd name="T36" fmla="*/ 572 w 827"/>
                <a:gd name="T37" fmla="*/ 691 h 1593"/>
                <a:gd name="T38" fmla="*/ 712 w 827"/>
                <a:gd name="T39" fmla="*/ 778 h 1593"/>
                <a:gd name="T40" fmla="*/ 791 w 827"/>
                <a:gd name="T41" fmla="*/ 886 h 1593"/>
                <a:gd name="T42" fmla="*/ 826 w 827"/>
                <a:gd name="T43" fmla="*/ 1009 h 1593"/>
                <a:gd name="T44" fmla="*/ 812 w 827"/>
                <a:gd name="T45" fmla="*/ 1137 h 1593"/>
                <a:gd name="T46" fmla="*/ 747 w 827"/>
                <a:gd name="T47" fmla="*/ 1256 h 1593"/>
                <a:gd name="T48" fmla="*/ 640 w 827"/>
                <a:gd name="T49" fmla="*/ 1345 h 1593"/>
                <a:gd name="T50" fmla="*/ 535 w 827"/>
                <a:gd name="T51" fmla="*/ 1387 h 1593"/>
                <a:gd name="T52" fmla="*/ 506 w 827"/>
                <a:gd name="T53" fmla="*/ 1423 h 1593"/>
                <a:gd name="T54" fmla="*/ 505 w 827"/>
                <a:gd name="T55" fmla="*/ 1545 h 1593"/>
                <a:gd name="T56" fmla="*/ 489 w 827"/>
                <a:gd name="T57" fmla="*/ 1585 h 1593"/>
                <a:gd name="T58" fmla="*/ 404 w 827"/>
                <a:gd name="T59" fmla="*/ 1593 h 1593"/>
                <a:gd name="T60" fmla="*/ 318 w 827"/>
                <a:gd name="T61" fmla="*/ 1584 h 1593"/>
                <a:gd name="T62" fmla="*/ 300 w 827"/>
                <a:gd name="T63" fmla="*/ 1542 h 1593"/>
                <a:gd name="T64" fmla="*/ 299 w 827"/>
                <a:gd name="T65" fmla="*/ 1446 h 1593"/>
                <a:gd name="T66" fmla="*/ 288 w 827"/>
                <a:gd name="T67" fmla="*/ 1413 h 1593"/>
                <a:gd name="T68" fmla="*/ 244 w 827"/>
                <a:gd name="T69" fmla="*/ 1401 h 1593"/>
                <a:gd name="T70" fmla="*/ 94 w 827"/>
                <a:gd name="T71" fmla="*/ 1365 h 1593"/>
                <a:gd name="T72" fmla="*/ 14 w 827"/>
                <a:gd name="T73" fmla="*/ 1325 h 1593"/>
                <a:gd name="T74" fmla="*/ 0 w 827"/>
                <a:gd name="T75" fmla="*/ 1293 h 1593"/>
                <a:gd name="T76" fmla="*/ 23 w 827"/>
                <a:gd name="T77" fmla="*/ 1198 h 1593"/>
                <a:gd name="T78" fmla="*/ 51 w 827"/>
                <a:gd name="T79" fmla="*/ 1113 h 1593"/>
                <a:gd name="T80" fmla="*/ 78 w 827"/>
                <a:gd name="T81" fmla="*/ 1102 h 1593"/>
                <a:gd name="T82" fmla="*/ 159 w 827"/>
                <a:gd name="T83" fmla="*/ 1137 h 1593"/>
                <a:gd name="T84" fmla="*/ 325 w 827"/>
                <a:gd name="T85" fmla="*/ 1180 h 1593"/>
                <a:gd name="T86" fmla="*/ 435 w 827"/>
                <a:gd name="T87" fmla="*/ 1173 h 1593"/>
                <a:gd name="T88" fmla="*/ 512 w 827"/>
                <a:gd name="T89" fmla="*/ 1132 h 1593"/>
                <a:gd name="T90" fmla="*/ 542 w 827"/>
                <a:gd name="T91" fmla="*/ 1070 h 1593"/>
                <a:gd name="T92" fmla="*/ 529 w 827"/>
                <a:gd name="T93" fmla="*/ 1004 h 1593"/>
                <a:gd name="T94" fmla="*/ 471 w 827"/>
                <a:gd name="T95" fmla="*/ 946 h 1593"/>
                <a:gd name="T96" fmla="*/ 369 w 827"/>
                <a:gd name="T97" fmla="*/ 898 h 1593"/>
                <a:gd name="T98" fmla="*/ 233 w 827"/>
                <a:gd name="T99" fmla="*/ 840 h 1593"/>
                <a:gd name="T100" fmla="*/ 126 w 827"/>
                <a:gd name="T101" fmla="*/ 772 h 1593"/>
                <a:gd name="T102" fmla="*/ 54 w 827"/>
                <a:gd name="T103" fmla="*/ 691 h 1593"/>
                <a:gd name="T104" fmla="*/ 15 w 827"/>
                <a:gd name="T105" fmla="*/ 591 h 1593"/>
                <a:gd name="T106" fmla="*/ 15 w 827"/>
                <a:gd name="T107" fmla="*/ 467 h 1593"/>
                <a:gd name="T108" fmla="*/ 58 w 827"/>
                <a:gd name="T109" fmla="*/ 351 h 1593"/>
                <a:gd name="T110" fmla="*/ 139 w 827"/>
                <a:gd name="T111" fmla="*/ 263 h 1593"/>
                <a:gd name="T112" fmla="*/ 254 w 827"/>
                <a:gd name="T113" fmla="*/ 203 h 1593"/>
                <a:gd name="T114" fmla="*/ 300 w 827"/>
                <a:gd name="T115" fmla="*/ 183 h 1593"/>
                <a:gd name="T116" fmla="*/ 314 w 827"/>
                <a:gd name="T117" fmla="*/ 156 h 1593"/>
                <a:gd name="T118" fmla="*/ 315 w 827"/>
                <a:gd name="T119" fmla="*/ 87 h 1593"/>
                <a:gd name="T120" fmla="*/ 320 w 827"/>
                <a:gd name="T121" fmla="*/ 21 h 1593"/>
                <a:gd name="T122" fmla="*/ 352 w 827"/>
                <a:gd name="T123" fmla="*/ 1 h 1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27" h="1593">
                  <a:moveTo>
                    <a:pt x="371" y="0"/>
                  </a:moveTo>
                  <a:lnTo>
                    <a:pt x="415" y="0"/>
                  </a:lnTo>
                  <a:lnTo>
                    <a:pt x="445" y="0"/>
                  </a:lnTo>
                  <a:lnTo>
                    <a:pt x="468" y="1"/>
                  </a:lnTo>
                  <a:lnTo>
                    <a:pt x="485" y="3"/>
                  </a:lnTo>
                  <a:lnTo>
                    <a:pt x="498" y="8"/>
                  </a:lnTo>
                  <a:lnTo>
                    <a:pt x="506" y="17"/>
                  </a:lnTo>
                  <a:lnTo>
                    <a:pt x="512" y="29"/>
                  </a:lnTo>
                  <a:lnTo>
                    <a:pt x="515" y="47"/>
                  </a:lnTo>
                  <a:lnTo>
                    <a:pt x="516" y="70"/>
                  </a:lnTo>
                  <a:lnTo>
                    <a:pt x="516" y="99"/>
                  </a:lnTo>
                  <a:lnTo>
                    <a:pt x="516" y="123"/>
                  </a:lnTo>
                  <a:lnTo>
                    <a:pt x="517" y="141"/>
                  </a:lnTo>
                  <a:lnTo>
                    <a:pt x="519" y="154"/>
                  </a:lnTo>
                  <a:lnTo>
                    <a:pt x="525" y="163"/>
                  </a:lnTo>
                  <a:lnTo>
                    <a:pt x="533" y="169"/>
                  </a:lnTo>
                  <a:lnTo>
                    <a:pt x="545" y="173"/>
                  </a:lnTo>
                  <a:lnTo>
                    <a:pt x="563" y="178"/>
                  </a:lnTo>
                  <a:lnTo>
                    <a:pt x="586" y="181"/>
                  </a:lnTo>
                  <a:lnTo>
                    <a:pt x="640" y="192"/>
                  </a:lnTo>
                  <a:lnTo>
                    <a:pt x="691" y="207"/>
                  </a:lnTo>
                  <a:lnTo>
                    <a:pt x="742" y="228"/>
                  </a:lnTo>
                  <a:lnTo>
                    <a:pt x="756" y="236"/>
                  </a:lnTo>
                  <a:lnTo>
                    <a:pt x="767" y="246"/>
                  </a:lnTo>
                  <a:lnTo>
                    <a:pt x="772" y="258"/>
                  </a:lnTo>
                  <a:lnTo>
                    <a:pt x="775" y="271"/>
                  </a:lnTo>
                  <a:lnTo>
                    <a:pt x="771" y="287"/>
                  </a:lnTo>
                  <a:lnTo>
                    <a:pt x="753" y="352"/>
                  </a:lnTo>
                  <a:lnTo>
                    <a:pt x="733" y="416"/>
                  </a:lnTo>
                  <a:lnTo>
                    <a:pt x="726" y="434"/>
                  </a:lnTo>
                  <a:lnTo>
                    <a:pt x="720" y="446"/>
                  </a:lnTo>
                  <a:lnTo>
                    <a:pt x="711" y="452"/>
                  </a:lnTo>
                  <a:lnTo>
                    <a:pt x="700" y="455"/>
                  </a:lnTo>
                  <a:lnTo>
                    <a:pt x="686" y="451"/>
                  </a:lnTo>
                  <a:lnTo>
                    <a:pt x="668" y="445"/>
                  </a:lnTo>
                  <a:lnTo>
                    <a:pt x="621" y="425"/>
                  </a:lnTo>
                  <a:lnTo>
                    <a:pt x="573" y="410"/>
                  </a:lnTo>
                  <a:lnTo>
                    <a:pt x="524" y="400"/>
                  </a:lnTo>
                  <a:lnTo>
                    <a:pt x="473" y="396"/>
                  </a:lnTo>
                  <a:lnTo>
                    <a:pt x="422" y="396"/>
                  </a:lnTo>
                  <a:lnTo>
                    <a:pt x="399" y="398"/>
                  </a:lnTo>
                  <a:lnTo>
                    <a:pt x="377" y="402"/>
                  </a:lnTo>
                  <a:lnTo>
                    <a:pt x="356" y="409"/>
                  </a:lnTo>
                  <a:lnTo>
                    <a:pt x="333" y="422"/>
                  </a:lnTo>
                  <a:lnTo>
                    <a:pt x="315" y="437"/>
                  </a:lnTo>
                  <a:lnTo>
                    <a:pt x="302" y="456"/>
                  </a:lnTo>
                  <a:lnTo>
                    <a:pt x="295" y="475"/>
                  </a:lnTo>
                  <a:lnTo>
                    <a:pt x="291" y="496"/>
                  </a:lnTo>
                  <a:lnTo>
                    <a:pt x="293" y="517"/>
                  </a:lnTo>
                  <a:lnTo>
                    <a:pt x="301" y="538"/>
                  </a:lnTo>
                  <a:lnTo>
                    <a:pt x="314" y="557"/>
                  </a:lnTo>
                  <a:lnTo>
                    <a:pt x="333" y="575"/>
                  </a:lnTo>
                  <a:lnTo>
                    <a:pt x="366" y="598"/>
                  </a:lnTo>
                  <a:lnTo>
                    <a:pt x="402" y="618"/>
                  </a:lnTo>
                  <a:lnTo>
                    <a:pt x="440" y="635"/>
                  </a:lnTo>
                  <a:lnTo>
                    <a:pt x="506" y="662"/>
                  </a:lnTo>
                  <a:lnTo>
                    <a:pt x="572" y="691"/>
                  </a:lnTo>
                  <a:lnTo>
                    <a:pt x="635" y="724"/>
                  </a:lnTo>
                  <a:lnTo>
                    <a:pt x="676" y="749"/>
                  </a:lnTo>
                  <a:lnTo>
                    <a:pt x="712" y="778"/>
                  </a:lnTo>
                  <a:lnTo>
                    <a:pt x="743" y="811"/>
                  </a:lnTo>
                  <a:lnTo>
                    <a:pt x="770" y="847"/>
                  </a:lnTo>
                  <a:lnTo>
                    <a:pt x="791" y="886"/>
                  </a:lnTo>
                  <a:lnTo>
                    <a:pt x="808" y="925"/>
                  </a:lnTo>
                  <a:lnTo>
                    <a:pt x="819" y="967"/>
                  </a:lnTo>
                  <a:lnTo>
                    <a:pt x="826" y="1009"/>
                  </a:lnTo>
                  <a:lnTo>
                    <a:pt x="827" y="1052"/>
                  </a:lnTo>
                  <a:lnTo>
                    <a:pt x="822" y="1095"/>
                  </a:lnTo>
                  <a:lnTo>
                    <a:pt x="812" y="1137"/>
                  </a:lnTo>
                  <a:lnTo>
                    <a:pt x="796" y="1179"/>
                  </a:lnTo>
                  <a:lnTo>
                    <a:pt x="775" y="1218"/>
                  </a:lnTo>
                  <a:lnTo>
                    <a:pt x="747" y="1256"/>
                  </a:lnTo>
                  <a:lnTo>
                    <a:pt x="715" y="1290"/>
                  </a:lnTo>
                  <a:lnTo>
                    <a:pt x="679" y="1320"/>
                  </a:lnTo>
                  <a:lnTo>
                    <a:pt x="640" y="1345"/>
                  </a:lnTo>
                  <a:lnTo>
                    <a:pt x="598" y="1366"/>
                  </a:lnTo>
                  <a:lnTo>
                    <a:pt x="553" y="1380"/>
                  </a:lnTo>
                  <a:lnTo>
                    <a:pt x="535" y="1387"/>
                  </a:lnTo>
                  <a:lnTo>
                    <a:pt x="521" y="1396"/>
                  </a:lnTo>
                  <a:lnTo>
                    <a:pt x="512" y="1407"/>
                  </a:lnTo>
                  <a:lnTo>
                    <a:pt x="506" y="1423"/>
                  </a:lnTo>
                  <a:lnTo>
                    <a:pt x="505" y="1442"/>
                  </a:lnTo>
                  <a:lnTo>
                    <a:pt x="506" y="1493"/>
                  </a:lnTo>
                  <a:lnTo>
                    <a:pt x="505" y="1545"/>
                  </a:lnTo>
                  <a:lnTo>
                    <a:pt x="504" y="1562"/>
                  </a:lnTo>
                  <a:lnTo>
                    <a:pt x="497" y="1575"/>
                  </a:lnTo>
                  <a:lnTo>
                    <a:pt x="489" y="1585"/>
                  </a:lnTo>
                  <a:lnTo>
                    <a:pt x="475" y="1590"/>
                  </a:lnTo>
                  <a:lnTo>
                    <a:pt x="459" y="1593"/>
                  </a:lnTo>
                  <a:lnTo>
                    <a:pt x="404" y="1593"/>
                  </a:lnTo>
                  <a:lnTo>
                    <a:pt x="348" y="1593"/>
                  </a:lnTo>
                  <a:lnTo>
                    <a:pt x="331" y="1590"/>
                  </a:lnTo>
                  <a:lnTo>
                    <a:pt x="318" y="1584"/>
                  </a:lnTo>
                  <a:lnTo>
                    <a:pt x="308" y="1574"/>
                  </a:lnTo>
                  <a:lnTo>
                    <a:pt x="302" y="1559"/>
                  </a:lnTo>
                  <a:lnTo>
                    <a:pt x="300" y="1542"/>
                  </a:lnTo>
                  <a:lnTo>
                    <a:pt x="300" y="1505"/>
                  </a:lnTo>
                  <a:lnTo>
                    <a:pt x="299" y="1466"/>
                  </a:lnTo>
                  <a:lnTo>
                    <a:pt x="299" y="1446"/>
                  </a:lnTo>
                  <a:lnTo>
                    <a:pt x="298" y="1431"/>
                  </a:lnTo>
                  <a:lnTo>
                    <a:pt x="293" y="1421"/>
                  </a:lnTo>
                  <a:lnTo>
                    <a:pt x="288" y="1413"/>
                  </a:lnTo>
                  <a:lnTo>
                    <a:pt x="278" y="1407"/>
                  </a:lnTo>
                  <a:lnTo>
                    <a:pt x="264" y="1404"/>
                  </a:lnTo>
                  <a:lnTo>
                    <a:pt x="244" y="1401"/>
                  </a:lnTo>
                  <a:lnTo>
                    <a:pt x="193" y="1392"/>
                  </a:lnTo>
                  <a:lnTo>
                    <a:pt x="142" y="1380"/>
                  </a:lnTo>
                  <a:lnTo>
                    <a:pt x="94" y="1365"/>
                  </a:lnTo>
                  <a:lnTo>
                    <a:pt x="46" y="1345"/>
                  </a:lnTo>
                  <a:lnTo>
                    <a:pt x="28" y="1335"/>
                  </a:lnTo>
                  <a:lnTo>
                    <a:pt x="14" y="1325"/>
                  </a:lnTo>
                  <a:lnTo>
                    <a:pt x="5" y="1317"/>
                  </a:lnTo>
                  <a:lnTo>
                    <a:pt x="1" y="1306"/>
                  </a:lnTo>
                  <a:lnTo>
                    <a:pt x="0" y="1293"/>
                  </a:lnTo>
                  <a:lnTo>
                    <a:pt x="2" y="1277"/>
                  </a:lnTo>
                  <a:lnTo>
                    <a:pt x="6" y="1256"/>
                  </a:lnTo>
                  <a:lnTo>
                    <a:pt x="23" y="1198"/>
                  </a:lnTo>
                  <a:lnTo>
                    <a:pt x="39" y="1142"/>
                  </a:lnTo>
                  <a:lnTo>
                    <a:pt x="45" y="1125"/>
                  </a:lnTo>
                  <a:lnTo>
                    <a:pt x="51" y="1113"/>
                  </a:lnTo>
                  <a:lnTo>
                    <a:pt x="58" y="1105"/>
                  </a:lnTo>
                  <a:lnTo>
                    <a:pt x="67" y="1102"/>
                  </a:lnTo>
                  <a:lnTo>
                    <a:pt x="78" y="1102"/>
                  </a:lnTo>
                  <a:lnTo>
                    <a:pt x="90" y="1107"/>
                  </a:lnTo>
                  <a:lnTo>
                    <a:pt x="106" y="1113"/>
                  </a:lnTo>
                  <a:lnTo>
                    <a:pt x="159" y="1137"/>
                  </a:lnTo>
                  <a:lnTo>
                    <a:pt x="212" y="1157"/>
                  </a:lnTo>
                  <a:lnTo>
                    <a:pt x="268" y="1170"/>
                  </a:lnTo>
                  <a:lnTo>
                    <a:pt x="325" y="1180"/>
                  </a:lnTo>
                  <a:lnTo>
                    <a:pt x="363" y="1182"/>
                  </a:lnTo>
                  <a:lnTo>
                    <a:pt x="399" y="1180"/>
                  </a:lnTo>
                  <a:lnTo>
                    <a:pt x="435" y="1173"/>
                  </a:lnTo>
                  <a:lnTo>
                    <a:pt x="469" y="1161"/>
                  </a:lnTo>
                  <a:lnTo>
                    <a:pt x="493" y="1148"/>
                  </a:lnTo>
                  <a:lnTo>
                    <a:pt x="512" y="1132"/>
                  </a:lnTo>
                  <a:lnTo>
                    <a:pt x="527" y="1113"/>
                  </a:lnTo>
                  <a:lnTo>
                    <a:pt x="537" y="1092"/>
                  </a:lnTo>
                  <a:lnTo>
                    <a:pt x="542" y="1070"/>
                  </a:lnTo>
                  <a:lnTo>
                    <a:pt x="542" y="1049"/>
                  </a:lnTo>
                  <a:lnTo>
                    <a:pt x="539" y="1026"/>
                  </a:lnTo>
                  <a:lnTo>
                    <a:pt x="529" y="1004"/>
                  </a:lnTo>
                  <a:lnTo>
                    <a:pt x="516" y="983"/>
                  </a:lnTo>
                  <a:lnTo>
                    <a:pt x="496" y="964"/>
                  </a:lnTo>
                  <a:lnTo>
                    <a:pt x="471" y="946"/>
                  </a:lnTo>
                  <a:lnTo>
                    <a:pt x="444" y="929"/>
                  </a:lnTo>
                  <a:lnTo>
                    <a:pt x="414" y="916"/>
                  </a:lnTo>
                  <a:lnTo>
                    <a:pt x="369" y="898"/>
                  </a:lnTo>
                  <a:lnTo>
                    <a:pt x="323" y="879"/>
                  </a:lnTo>
                  <a:lnTo>
                    <a:pt x="278" y="860"/>
                  </a:lnTo>
                  <a:lnTo>
                    <a:pt x="233" y="840"/>
                  </a:lnTo>
                  <a:lnTo>
                    <a:pt x="189" y="816"/>
                  </a:lnTo>
                  <a:lnTo>
                    <a:pt x="157" y="795"/>
                  </a:lnTo>
                  <a:lnTo>
                    <a:pt x="126" y="772"/>
                  </a:lnTo>
                  <a:lnTo>
                    <a:pt x="98" y="747"/>
                  </a:lnTo>
                  <a:lnTo>
                    <a:pt x="74" y="720"/>
                  </a:lnTo>
                  <a:lnTo>
                    <a:pt x="54" y="691"/>
                  </a:lnTo>
                  <a:lnTo>
                    <a:pt x="37" y="660"/>
                  </a:lnTo>
                  <a:lnTo>
                    <a:pt x="24" y="627"/>
                  </a:lnTo>
                  <a:lnTo>
                    <a:pt x="15" y="591"/>
                  </a:lnTo>
                  <a:lnTo>
                    <a:pt x="10" y="553"/>
                  </a:lnTo>
                  <a:lnTo>
                    <a:pt x="10" y="513"/>
                  </a:lnTo>
                  <a:lnTo>
                    <a:pt x="15" y="467"/>
                  </a:lnTo>
                  <a:lnTo>
                    <a:pt x="25" y="425"/>
                  </a:lnTo>
                  <a:lnTo>
                    <a:pt x="39" y="386"/>
                  </a:lnTo>
                  <a:lnTo>
                    <a:pt x="58" y="351"/>
                  </a:lnTo>
                  <a:lnTo>
                    <a:pt x="81" y="318"/>
                  </a:lnTo>
                  <a:lnTo>
                    <a:pt x="108" y="289"/>
                  </a:lnTo>
                  <a:lnTo>
                    <a:pt x="139" y="263"/>
                  </a:lnTo>
                  <a:lnTo>
                    <a:pt x="174" y="240"/>
                  </a:lnTo>
                  <a:lnTo>
                    <a:pt x="212" y="220"/>
                  </a:lnTo>
                  <a:lnTo>
                    <a:pt x="254" y="203"/>
                  </a:lnTo>
                  <a:lnTo>
                    <a:pt x="274" y="195"/>
                  </a:lnTo>
                  <a:lnTo>
                    <a:pt x="289" y="190"/>
                  </a:lnTo>
                  <a:lnTo>
                    <a:pt x="300" y="183"/>
                  </a:lnTo>
                  <a:lnTo>
                    <a:pt x="308" y="177"/>
                  </a:lnTo>
                  <a:lnTo>
                    <a:pt x="312" y="168"/>
                  </a:lnTo>
                  <a:lnTo>
                    <a:pt x="314" y="156"/>
                  </a:lnTo>
                  <a:lnTo>
                    <a:pt x="315" y="141"/>
                  </a:lnTo>
                  <a:lnTo>
                    <a:pt x="315" y="120"/>
                  </a:lnTo>
                  <a:lnTo>
                    <a:pt x="315" y="87"/>
                  </a:lnTo>
                  <a:lnTo>
                    <a:pt x="315" y="56"/>
                  </a:lnTo>
                  <a:lnTo>
                    <a:pt x="316" y="36"/>
                  </a:lnTo>
                  <a:lnTo>
                    <a:pt x="320" y="21"/>
                  </a:lnTo>
                  <a:lnTo>
                    <a:pt x="326" y="10"/>
                  </a:lnTo>
                  <a:lnTo>
                    <a:pt x="336" y="5"/>
                  </a:lnTo>
                  <a:lnTo>
                    <a:pt x="352" y="1"/>
                  </a:lnTo>
                  <a:lnTo>
                    <a:pt x="37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6" name="Freeform 19"/>
            <p:cNvSpPr>
              <a:spLocks noEditPoints="1"/>
            </p:cNvSpPr>
            <p:nvPr/>
          </p:nvSpPr>
          <p:spPr bwMode="auto">
            <a:xfrm>
              <a:off x="2593975" y="4225925"/>
              <a:ext cx="490538" cy="569912"/>
            </a:xfrm>
            <a:custGeom>
              <a:avLst/>
              <a:gdLst>
                <a:gd name="T0" fmla="*/ 1277 w 3088"/>
                <a:gd name="T1" fmla="*/ 663 h 3592"/>
                <a:gd name="T2" fmla="*/ 955 w 3088"/>
                <a:gd name="T3" fmla="*/ 791 h 3592"/>
                <a:gd name="T4" fmla="*/ 689 w 3088"/>
                <a:gd name="T5" fmla="*/ 1004 h 3592"/>
                <a:gd name="T6" fmla="*/ 496 w 3088"/>
                <a:gd name="T7" fmla="*/ 1284 h 3592"/>
                <a:gd name="T8" fmla="*/ 391 w 3088"/>
                <a:gd name="T9" fmla="*/ 1617 h 3592"/>
                <a:gd name="T10" fmla="*/ 391 w 3088"/>
                <a:gd name="T11" fmla="*/ 1976 h 3592"/>
                <a:gd name="T12" fmla="*/ 496 w 3088"/>
                <a:gd name="T13" fmla="*/ 2308 h 3592"/>
                <a:gd name="T14" fmla="*/ 689 w 3088"/>
                <a:gd name="T15" fmla="*/ 2589 h 3592"/>
                <a:gd name="T16" fmla="*/ 955 w 3088"/>
                <a:gd name="T17" fmla="*/ 2801 h 3592"/>
                <a:gd name="T18" fmla="*/ 1277 w 3088"/>
                <a:gd name="T19" fmla="*/ 2929 h 3592"/>
                <a:gd name="T20" fmla="*/ 1630 w 3088"/>
                <a:gd name="T21" fmla="*/ 2958 h 3592"/>
                <a:gd name="T22" fmla="*/ 1959 w 3088"/>
                <a:gd name="T23" fmla="*/ 2884 h 3592"/>
                <a:gd name="T24" fmla="*/ 2246 w 3088"/>
                <a:gd name="T25" fmla="*/ 2726 h 3592"/>
                <a:gd name="T26" fmla="*/ 2475 w 3088"/>
                <a:gd name="T27" fmla="*/ 2497 h 3592"/>
                <a:gd name="T28" fmla="*/ 2634 w 3088"/>
                <a:gd name="T29" fmla="*/ 2211 h 3592"/>
                <a:gd name="T30" fmla="*/ 2706 w 3088"/>
                <a:gd name="T31" fmla="*/ 1883 h 3592"/>
                <a:gd name="T32" fmla="*/ 2679 w 3088"/>
                <a:gd name="T33" fmla="*/ 1529 h 3592"/>
                <a:gd name="T34" fmla="*/ 2551 w 3088"/>
                <a:gd name="T35" fmla="*/ 1208 h 3592"/>
                <a:gd name="T36" fmla="*/ 2337 w 3088"/>
                <a:gd name="T37" fmla="*/ 944 h 3592"/>
                <a:gd name="T38" fmla="*/ 2057 w 3088"/>
                <a:gd name="T39" fmla="*/ 750 h 3592"/>
                <a:gd name="T40" fmla="*/ 1725 w 3088"/>
                <a:gd name="T41" fmla="*/ 646 h 3592"/>
                <a:gd name="T42" fmla="*/ 1557 w 3088"/>
                <a:gd name="T43" fmla="*/ 1 h 3592"/>
                <a:gd name="T44" fmla="*/ 1621 w 3088"/>
                <a:gd name="T45" fmla="*/ 39 h 3592"/>
                <a:gd name="T46" fmla="*/ 2010 w 3088"/>
                <a:gd name="T47" fmla="*/ 278 h 3592"/>
                <a:gd name="T48" fmla="*/ 2427 w 3088"/>
                <a:gd name="T49" fmla="*/ 456 h 3592"/>
                <a:gd name="T50" fmla="*/ 2828 w 3088"/>
                <a:gd name="T51" fmla="*/ 546 h 3592"/>
                <a:gd name="T52" fmla="*/ 3051 w 3088"/>
                <a:gd name="T53" fmla="*/ 577 h 3592"/>
                <a:gd name="T54" fmla="*/ 3087 w 3088"/>
                <a:gd name="T55" fmla="*/ 630 h 3592"/>
                <a:gd name="T56" fmla="*/ 3086 w 3088"/>
                <a:gd name="T57" fmla="*/ 1810 h 3592"/>
                <a:gd name="T58" fmla="*/ 3046 w 3088"/>
                <a:gd name="T59" fmla="*/ 2262 h 3592"/>
                <a:gd name="T60" fmla="*/ 2938 w 3088"/>
                <a:gd name="T61" fmla="*/ 2537 h 3592"/>
                <a:gd name="T62" fmla="*/ 2757 w 3088"/>
                <a:gd name="T63" fmla="*/ 2805 h 3592"/>
                <a:gd name="T64" fmla="*/ 2484 w 3088"/>
                <a:gd name="T65" fmla="*/ 3078 h 3592"/>
                <a:gd name="T66" fmla="*/ 2171 w 3088"/>
                <a:gd name="T67" fmla="*/ 3300 h 3592"/>
                <a:gd name="T68" fmla="*/ 1796 w 3088"/>
                <a:gd name="T69" fmla="*/ 3494 h 3592"/>
                <a:gd name="T70" fmla="*/ 1549 w 3088"/>
                <a:gd name="T71" fmla="*/ 3592 h 3592"/>
                <a:gd name="T72" fmla="*/ 1296 w 3088"/>
                <a:gd name="T73" fmla="*/ 3499 h 3592"/>
                <a:gd name="T74" fmla="*/ 891 w 3088"/>
                <a:gd name="T75" fmla="*/ 3284 h 3592"/>
                <a:gd name="T76" fmla="*/ 525 w 3088"/>
                <a:gd name="T77" fmla="*/ 3005 h 3592"/>
                <a:gd name="T78" fmla="*/ 282 w 3088"/>
                <a:gd name="T79" fmla="*/ 2741 h 3592"/>
                <a:gd name="T80" fmla="*/ 118 w 3088"/>
                <a:gd name="T81" fmla="*/ 2469 h 3592"/>
                <a:gd name="T82" fmla="*/ 25 w 3088"/>
                <a:gd name="T83" fmla="*/ 2161 h 3592"/>
                <a:gd name="T84" fmla="*/ 0 w 3088"/>
                <a:gd name="T85" fmla="*/ 1506 h 3592"/>
                <a:gd name="T86" fmla="*/ 3 w 3088"/>
                <a:gd name="T87" fmla="*/ 621 h 3592"/>
                <a:gd name="T88" fmla="*/ 44 w 3088"/>
                <a:gd name="T89" fmla="*/ 575 h 3592"/>
                <a:gd name="T90" fmla="*/ 324 w 3088"/>
                <a:gd name="T91" fmla="*/ 541 h 3592"/>
                <a:gd name="T92" fmla="*/ 764 w 3088"/>
                <a:gd name="T93" fmla="*/ 420 h 3592"/>
                <a:gd name="T94" fmla="*/ 1176 w 3088"/>
                <a:gd name="T95" fmla="*/ 224 h 3592"/>
                <a:gd name="T96" fmla="*/ 1489 w 3088"/>
                <a:gd name="T97" fmla="*/ 24 h 3592"/>
                <a:gd name="T98" fmla="*/ 1545 w 3088"/>
                <a:gd name="T99" fmla="*/ 0 h 3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88" h="3592">
                  <a:moveTo>
                    <a:pt x="1544" y="632"/>
                  </a:moveTo>
                  <a:lnTo>
                    <a:pt x="1453" y="635"/>
                  </a:lnTo>
                  <a:lnTo>
                    <a:pt x="1363" y="646"/>
                  </a:lnTo>
                  <a:lnTo>
                    <a:pt x="1277" y="663"/>
                  </a:lnTo>
                  <a:lnTo>
                    <a:pt x="1192" y="686"/>
                  </a:lnTo>
                  <a:lnTo>
                    <a:pt x="1110" y="715"/>
                  </a:lnTo>
                  <a:lnTo>
                    <a:pt x="1031" y="750"/>
                  </a:lnTo>
                  <a:lnTo>
                    <a:pt x="955" y="791"/>
                  </a:lnTo>
                  <a:lnTo>
                    <a:pt x="883" y="837"/>
                  </a:lnTo>
                  <a:lnTo>
                    <a:pt x="814" y="888"/>
                  </a:lnTo>
                  <a:lnTo>
                    <a:pt x="749" y="944"/>
                  </a:lnTo>
                  <a:lnTo>
                    <a:pt x="689" y="1004"/>
                  </a:lnTo>
                  <a:lnTo>
                    <a:pt x="634" y="1068"/>
                  </a:lnTo>
                  <a:lnTo>
                    <a:pt x="583" y="1136"/>
                  </a:lnTo>
                  <a:lnTo>
                    <a:pt x="537" y="1208"/>
                  </a:lnTo>
                  <a:lnTo>
                    <a:pt x="496" y="1284"/>
                  </a:lnTo>
                  <a:lnTo>
                    <a:pt x="461" y="1363"/>
                  </a:lnTo>
                  <a:lnTo>
                    <a:pt x="432" y="1445"/>
                  </a:lnTo>
                  <a:lnTo>
                    <a:pt x="409" y="1529"/>
                  </a:lnTo>
                  <a:lnTo>
                    <a:pt x="391" y="1617"/>
                  </a:lnTo>
                  <a:lnTo>
                    <a:pt x="381" y="1705"/>
                  </a:lnTo>
                  <a:lnTo>
                    <a:pt x="378" y="1796"/>
                  </a:lnTo>
                  <a:lnTo>
                    <a:pt x="381" y="1887"/>
                  </a:lnTo>
                  <a:lnTo>
                    <a:pt x="391" y="1976"/>
                  </a:lnTo>
                  <a:lnTo>
                    <a:pt x="409" y="2063"/>
                  </a:lnTo>
                  <a:lnTo>
                    <a:pt x="432" y="2148"/>
                  </a:lnTo>
                  <a:lnTo>
                    <a:pt x="461" y="2229"/>
                  </a:lnTo>
                  <a:lnTo>
                    <a:pt x="496" y="2308"/>
                  </a:lnTo>
                  <a:lnTo>
                    <a:pt x="537" y="2383"/>
                  </a:lnTo>
                  <a:lnTo>
                    <a:pt x="583" y="2456"/>
                  </a:lnTo>
                  <a:lnTo>
                    <a:pt x="634" y="2524"/>
                  </a:lnTo>
                  <a:lnTo>
                    <a:pt x="689" y="2589"/>
                  </a:lnTo>
                  <a:lnTo>
                    <a:pt x="749" y="2649"/>
                  </a:lnTo>
                  <a:lnTo>
                    <a:pt x="814" y="2705"/>
                  </a:lnTo>
                  <a:lnTo>
                    <a:pt x="883" y="2755"/>
                  </a:lnTo>
                  <a:lnTo>
                    <a:pt x="955" y="2801"/>
                  </a:lnTo>
                  <a:lnTo>
                    <a:pt x="1031" y="2842"/>
                  </a:lnTo>
                  <a:lnTo>
                    <a:pt x="1110" y="2877"/>
                  </a:lnTo>
                  <a:lnTo>
                    <a:pt x="1192" y="2906"/>
                  </a:lnTo>
                  <a:lnTo>
                    <a:pt x="1277" y="2929"/>
                  </a:lnTo>
                  <a:lnTo>
                    <a:pt x="1363" y="2947"/>
                  </a:lnTo>
                  <a:lnTo>
                    <a:pt x="1453" y="2957"/>
                  </a:lnTo>
                  <a:lnTo>
                    <a:pt x="1544" y="2961"/>
                  </a:lnTo>
                  <a:lnTo>
                    <a:pt x="1630" y="2958"/>
                  </a:lnTo>
                  <a:lnTo>
                    <a:pt x="1716" y="2948"/>
                  </a:lnTo>
                  <a:lnTo>
                    <a:pt x="1799" y="2933"/>
                  </a:lnTo>
                  <a:lnTo>
                    <a:pt x="1881" y="2911"/>
                  </a:lnTo>
                  <a:lnTo>
                    <a:pt x="1959" y="2884"/>
                  </a:lnTo>
                  <a:lnTo>
                    <a:pt x="2036" y="2853"/>
                  </a:lnTo>
                  <a:lnTo>
                    <a:pt x="2109" y="2815"/>
                  </a:lnTo>
                  <a:lnTo>
                    <a:pt x="2179" y="2773"/>
                  </a:lnTo>
                  <a:lnTo>
                    <a:pt x="2246" y="2726"/>
                  </a:lnTo>
                  <a:lnTo>
                    <a:pt x="2309" y="2674"/>
                  </a:lnTo>
                  <a:lnTo>
                    <a:pt x="2369" y="2620"/>
                  </a:lnTo>
                  <a:lnTo>
                    <a:pt x="2424" y="2559"/>
                  </a:lnTo>
                  <a:lnTo>
                    <a:pt x="2475" y="2497"/>
                  </a:lnTo>
                  <a:lnTo>
                    <a:pt x="2522" y="2430"/>
                  </a:lnTo>
                  <a:lnTo>
                    <a:pt x="2564" y="2360"/>
                  </a:lnTo>
                  <a:lnTo>
                    <a:pt x="2601" y="2287"/>
                  </a:lnTo>
                  <a:lnTo>
                    <a:pt x="2634" y="2211"/>
                  </a:lnTo>
                  <a:lnTo>
                    <a:pt x="2660" y="2133"/>
                  </a:lnTo>
                  <a:lnTo>
                    <a:pt x="2682" y="2052"/>
                  </a:lnTo>
                  <a:lnTo>
                    <a:pt x="2698" y="1969"/>
                  </a:lnTo>
                  <a:lnTo>
                    <a:pt x="2706" y="1883"/>
                  </a:lnTo>
                  <a:lnTo>
                    <a:pt x="2710" y="1796"/>
                  </a:lnTo>
                  <a:lnTo>
                    <a:pt x="2706" y="1705"/>
                  </a:lnTo>
                  <a:lnTo>
                    <a:pt x="2697" y="1617"/>
                  </a:lnTo>
                  <a:lnTo>
                    <a:pt x="2679" y="1529"/>
                  </a:lnTo>
                  <a:lnTo>
                    <a:pt x="2656" y="1445"/>
                  </a:lnTo>
                  <a:lnTo>
                    <a:pt x="2627" y="1363"/>
                  </a:lnTo>
                  <a:lnTo>
                    <a:pt x="2591" y="1284"/>
                  </a:lnTo>
                  <a:lnTo>
                    <a:pt x="2551" y="1208"/>
                  </a:lnTo>
                  <a:lnTo>
                    <a:pt x="2505" y="1136"/>
                  </a:lnTo>
                  <a:lnTo>
                    <a:pt x="2453" y="1068"/>
                  </a:lnTo>
                  <a:lnTo>
                    <a:pt x="2397" y="1004"/>
                  </a:lnTo>
                  <a:lnTo>
                    <a:pt x="2337" y="944"/>
                  </a:lnTo>
                  <a:lnTo>
                    <a:pt x="2274" y="888"/>
                  </a:lnTo>
                  <a:lnTo>
                    <a:pt x="2205" y="837"/>
                  </a:lnTo>
                  <a:lnTo>
                    <a:pt x="2132" y="791"/>
                  </a:lnTo>
                  <a:lnTo>
                    <a:pt x="2057" y="750"/>
                  </a:lnTo>
                  <a:lnTo>
                    <a:pt x="1978" y="715"/>
                  </a:lnTo>
                  <a:lnTo>
                    <a:pt x="1896" y="686"/>
                  </a:lnTo>
                  <a:lnTo>
                    <a:pt x="1811" y="663"/>
                  </a:lnTo>
                  <a:lnTo>
                    <a:pt x="1725" y="646"/>
                  </a:lnTo>
                  <a:lnTo>
                    <a:pt x="1635" y="635"/>
                  </a:lnTo>
                  <a:lnTo>
                    <a:pt x="1544" y="632"/>
                  </a:lnTo>
                  <a:close/>
                  <a:moveTo>
                    <a:pt x="1545" y="0"/>
                  </a:moveTo>
                  <a:lnTo>
                    <a:pt x="1557" y="1"/>
                  </a:lnTo>
                  <a:lnTo>
                    <a:pt x="1569" y="6"/>
                  </a:lnTo>
                  <a:lnTo>
                    <a:pt x="1583" y="14"/>
                  </a:lnTo>
                  <a:lnTo>
                    <a:pt x="1600" y="25"/>
                  </a:lnTo>
                  <a:lnTo>
                    <a:pt x="1621" y="39"/>
                  </a:lnTo>
                  <a:lnTo>
                    <a:pt x="1716" y="104"/>
                  </a:lnTo>
                  <a:lnTo>
                    <a:pt x="1812" y="165"/>
                  </a:lnTo>
                  <a:lnTo>
                    <a:pt x="1910" y="223"/>
                  </a:lnTo>
                  <a:lnTo>
                    <a:pt x="2010" y="278"/>
                  </a:lnTo>
                  <a:lnTo>
                    <a:pt x="2112" y="329"/>
                  </a:lnTo>
                  <a:lnTo>
                    <a:pt x="2215" y="375"/>
                  </a:lnTo>
                  <a:lnTo>
                    <a:pt x="2320" y="418"/>
                  </a:lnTo>
                  <a:lnTo>
                    <a:pt x="2427" y="456"/>
                  </a:lnTo>
                  <a:lnTo>
                    <a:pt x="2537" y="489"/>
                  </a:lnTo>
                  <a:lnTo>
                    <a:pt x="2648" y="516"/>
                  </a:lnTo>
                  <a:lnTo>
                    <a:pt x="2738" y="532"/>
                  </a:lnTo>
                  <a:lnTo>
                    <a:pt x="2828" y="546"/>
                  </a:lnTo>
                  <a:lnTo>
                    <a:pt x="2919" y="556"/>
                  </a:lnTo>
                  <a:lnTo>
                    <a:pt x="3010" y="567"/>
                  </a:lnTo>
                  <a:lnTo>
                    <a:pt x="3032" y="572"/>
                  </a:lnTo>
                  <a:lnTo>
                    <a:pt x="3051" y="577"/>
                  </a:lnTo>
                  <a:lnTo>
                    <a:pt x="3065" y="586"/>
                  </a:lnTo>
                  <a:lnTo>
                    <a:pt x="3075" y="597"/>
                  </a:lnTo>
                  <a:lnTo>
                    <a:pt x="3082" y="611"/>
                  </a:lnTo>
                  <a:lnTo>
                    <a:pt x="3087" y="630"/>
                  </a:lnTo>
                  <a:lnTo>
                    <a:pt x="3088" y="653"/>
                  </a:lnTo>
                  <a:lnTo>
                    <a:pt x="3088" y="1352"/>
                  </a:lnTo>
                  <a:lnTo>
                    <a:pt x="3088" y="1580"/>
                  </a:lnTo>
                  <a:lnTo>
                    <a:pt x="3086" y="1810"/>
                  </a:lnTo>
                  <a:lnTo>
                    <a:pt x="3080" y="2039"/>
                  </a:lnTo>
                  <a:lnTo>
                    <a:pt x="3074" y="2115"/>
                  </a:lnTo>
                  <a:lnTo>
                    <a:pt x="3063" y="2190"/>
                  </a:lnTo>
                  <a:lnTo>
                    <a:pt x="3046" y="2262"/>
                  </a:lnTo>
                  <a:lnTo>
                    <a:pt x="3025" y="2333"/>
                  </a:lnTo>
                  <a:lnTo>
                    <a:pt x="3000" y="2402"/>
                  </a:lnTo>
                  <a:lnTo>
                    <a:pt x="2972" y="2470"/>
                  </a:lnTo>
                  <a:lnTo>
                    <a:pt x="2938" y="2537"/>
                  </a:lnTo>
                  <a:lnTo>
                    <a:pt x="2900" y="2601"/>
                  </a:lnTo>
                  <a:lnTo>
                    <a:pt x="2860" y="2664"/>
                  </a:lnTo>
                  <a:lnTo>
                    <a:pt x="2817" y="2727"/>
                  </a:lnTo>
                  <a:lnTo>
                    <a:pt x="2757" y="2805"/>
                  </a:lnTo>
                  <a:lnTo>
                    <a:pt x="2693" y="2878"/>
                  </a:lnTo>
                  <a:lnTo>
                    <a:pt x="2627" y="2948"/>
                  </a:lnTo>
                  <a:lnTo>
                    <a:pt x="2556" y="3015"/>
                  </a:lnTo>
                  <a:lnTo>
                    <a:pt x="2484" y="3078"/>
                  </a:lnTo>
                  <a:lnTo>
                    <a:pt x="2410" y="3138"/>
                  </a:lnTo>
                  <a:lnTo>
                    <a:pt x="2332" y="3195"/>
                  </a:lnTo>
                  <a:lnTo>
                    <a:pt x="2252" y="3249"/>
                  </a:lnTo>
                  <a:lnTo>
                    <a:pt x="2171" y="3300"/>
                  </a:lnTo>
                  <a:lnTo>
                    <a:pt x="2086" y="3349"/>
                  </a:lnTo>
                  <a:lnTo>
                    <a:pt x="2001" y="3396"/>
                  </a:lnTo>
                  <a:lnTo>
                    <a:pt x="1900" y="3447"/>
                  </a:lnTo>
                  <a:lnTo>
                    <a:pt x="1796" y="3494"/>
                  </a:lnTo>
                  <a:lnTo>
                    <a:pt x="1692" y="3540"/>
                  </a:lnTo>
                  <a:lnTo>
                    <a:pt x="1588" y="3583"/>
                  </a:lnTo>
                  <a:lnTo>
                    <a:pt x="1570" y="3590"/>
                  </a:lnTo>
                  <a:lnTo>
                    <a:pt x="1549" y="3592"/>
                  </a:lnTo>
                  <a:lnTo>
                    <a:pt x="1530" y="3592"/>
                  </a:lnTo>
                  <a:lnTo>
                    <a:pt x="1511" y="3588"/>
                  </a:lnTo>
                  <a:lnTo>
                    <a:pt x="1404" y="3545"/>
                  </a:lnTo>
                  <a:lnTo>
                    <a:pt x="1296" y="3499"/>
                  </a:lnTo>
                  <a:lnTo>
                    <a:pt x="1192" y="3451"/>
                  </a:lnTo>
                  <a:lnTo>
                    <a:pt x="1089" y="3399"/>
                  </a:lnTo>
                  <a:lnTo>
                    <a:pt x="989" y="3343"/>
                  </a:lnTo>
                  <a:lnTo>
                    <a:pt x="891" y="3284"/>
                  </a:lnTo>
                  <a:lnTo>
                    <a:pt x="796" y="3220"/>
                  </a:lnTo>
                  <a:lnTo>
                    <a:pt x="702" y="3152"/>
                  </a:lnTo>
                  <a:lnTo>
                    <a:pt x="613" y="3081"/>
                  </a:lnTo>
                  <a:lnTo>
                    <a:pt x="525" y="3005"/>
                  </a:lnTo>
                  <a:lnTo>
                    <a:pt x="440" y="2924"/>
                  </a:lnTo>
                  <a:lnTo>
                    <a:pt x="385" y="2865"/>
                  </a:lnTo>
                  <a:lnTo>
                    <a:pt x="331" y="2803"/>
                  </a:lnTo>
                  <a:lnTo>
                    <a:pt x="282" y="2741"/>
                  </a:lnTo>
                  <a:lnTo>
                    <a:pt x="234" y="2677"/>
                  </a:lnTo>
                  <a:lnTo>
                    <a:pt x="192" y="2610"/>
                  </a:lnTo>
                  <a:lnTo>
                    <a:pt x="153" y="2540"/>
                  </a:lnTo>
                  <a:lnTo>
                    <a:pt x="118" y="2469"/>
                  </a:lnTo>
                  <a:lnTo>
                    <a:pt x="88" y="2394"/>
                  </a:lnTo>
                  <a:lnTo>
                    <a:pt x="62" y="2318"/>
                  </a:lnTo>
                  <a:lnTo>
                    <a:pt x="42" y="2239"/>
                  </a:lnTo>
                  <a:lnTo>
                    <a:pt x="25" y="2161"/>
                  </a:lnTo>
                  <a:lnTo>
                    <a:pt x="13" y="2084"/>
                  </a:lnTo>
                  <a:lnTo>
                    <a:pt x="5" y="2004"/>
                  </a:lnTo>
                  <a:lnTo>
                    <a:pt x="3" y="1925"/>
                  </a:lnTo>
                  <a:lnTo>
                    <a:pt x="0" y="1506"/>
                  </a:lnTo>
                  <a:lnTo>
                    <a:pt x="0" y="1087"/>
                  </a:lnTo>
                  <a:lnTo>
                    <a:pt x="1" y="668"/>
                  </a:lnTo>
                  <a:lnTo>
                    <a:pt x="1" y="642"/>
                  </a:lnTo>
                  <a:lnTo>
                    <a:pt x="3" y="621"/>
                  </a:lnTo>
                  <a:lnTo>
                    <a:pt x="9" y="604"/>
                  </a:lnTo>
                  <a:lnTo>
                    <a:pt x="16" y="591"/>
                  </a:lnTo>
                  <a:lnTo>
                    <a:pt x="28" y="582"/>
                  </a:lnTo>
                  <a:lnTo>
                    <a:pt x="44" y="575"/>
                  </a:lnTo>
                  <a:lnTo>
                    <a:pt x="65" y="571"/>
                  </a:lnTo>
                  <a:lnTo>
                    <a:pt x="91" y="569"/>
                  </a:lnTo>
                  <a:lnTo>
                    <a:pt x="209" y="558"/>
                  </a:lnTo>
                  <a:lnTo>
                    <a:pt x="324" y="541"/>
                  </a:lnTo>
                  <a:lnTo>
                    <a:pt x="437" y="518"/>
                  </a:lnTo>
                  <a:lnTo>
                    <a:pt x="548" y="491"/>
                  </a:lnTo>
                  <a:lnTo>
                    <a:pt x="657" y="458"/>
                  </a:lnTo>
                  <a:lnTo>
                    <a:pt x="764" y="420"/>
                  </a:lnTo>
                  <a:lnTo>
                    <a:pt x="869" y="377"/>
                  </a:lnTo>
                  <a:lnTo>
                    <a:pt x="973" y="330"/>
                  </a:lnTo>
                  <a:lnTo>
                    <a:pt x="1075" y="279"/>
                  </a:lnTo>
                  <a:lnTo>
                    <a:pt x="1176" y="224"/>
                  </a:lnTo>
                  <a:lnTo>
                    <a:pt x="1274" y="165"/>
                  </a:lnTo>
                  <a:lnTo>
                    <a:pt x="1372" y="102"/>
                  </a:lnTo>
                  <a:lnTo>
                    <a:pt x="1468" y="38"/>
                  </a:lnTo>
                  <a:lnTo>
                    <a:pt x="1489" y="24"/>
                  </a:lnTo>
                  <a:lnTo>
                    <a:pt x="1507" y="13"/>
                  </a:lnTo>
                  <a:lnTo>
                    <a:pt x="1521" y="5"/>
                  </a:lnTo>
                  <a:lnTo>
                    <a:pt x="1534" y="1"/>
                  </a:lnTo>
                  <a:lnTo>
                    <a:pt x="1545"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57" name="Inhaltsplatzhalter 4"/>
          <p:cNvSpPr txBox="1"/>
          <p:nvPr/>
        </p:nvSpPr>
        <p:spPr>
          <a:xfrm>
            <a:off x="4898526" y="4748382"/>
            <a:ext cx="2171700" cy="368935"/>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sz="1600" dirty="0">
                <a:solidFill>
                  <a:schemeClr val="tx1"/>
                </a:solidFill>
                <a:sym typeface="+mn-ea"/>
              </a:rPr>
              <a:t>权限管理的相关表</a:t>
            </a:r>
            <a:endParaRPr lang="en-US" sz="1600" dirty="0">
              <a:solidFill>
                <a:schemeClr val="tx1"/>
              </a:solidFill>
              <a:latin typeface="+mn-lt"/>
              <a:sym typeface="+mn-ea"/>
            </a:endParaRPr>
          </a:p>
        </p:txBody>
      </p:sp>
      <p:grpSp>
        <p:nvGrpSpPr>
          <p:cNvPr id="58" name="Group 72"/>
          <p:cNvGrpSpPr/>
          <p:nvPr/>
        </p:nvGrpSpPr>
        <p:grpSpPr>
          <a:xfrm>
            <a:off x="5665475" y="3825227"/>
            <a:ext cx="741942" cy="743862"/>
            <a:chOff x="3457575" y="2659063"/>
            <a:chExt cx="612776" cy="614362"/>
          </a:xfrm>
          <a:solidFill>
            <a:schemeClr val="tx1">
              <a:lumMod val="75000"/>
              <a:lumOff val="25000"/>
            </a:schemeClr>
          </a:solidFill>
        </p:grpSpPr>
        <p:sp>
          <p:nvSpPr>
            <p:cNvPr id="59" name="Freeform 55"/>
            <p:cNvSpPr>
              <a:spLocks noEditPoints="1"/>
            </p:cNvSpPr>
            <p:nvPr/>
          </p:nvSpPr>
          <p:spPr bwMode="auto">
            <a:xfrm>
              <a:off x="3543300" y="2789238"/>
              <a:ext cx="201613" cy="200025"/>
            </a:xfrm>
            <a:custGeom>
              <a:avLst/>
              <a:gdLst>
                <a:gd name="T0" fmla="*/ 522 w 1139"/>
                <a:gd name="T1" fmla="*/ 158 h 1142"/>
                <a:gd name="T2" fmla="*/ 430 w 1139"/>
                <a:gd name="T3" fmla="*/ 179 h 1142"/>
                <a:gd name="T4" fmla="*/ 346 w 1139"/>
                <a:gd name="T5" fmla="*/ 220 h 1142"/>
                <a:gd name="T6" fmla="*/ 274 w 1139"/>
                <a:gd name="T7" fmla="*/ 277 h 1142"/>
                <a:gd name="T8" fmla="*/ 215 w 1139"/>
                <a:gd name="T9" fmla="*/ 350 h 1142"/>
                <a:gd name="T10" fmla="*/ 174 w 1139"/>
                <a:gd name="T11" fmla="*/ 433 h 1142"/>
                <a:gd name="T12" fmla="*/ 152 w 1139"/>
                <a:gd name="T13" fmla="*/ 527 h 1142"/>
                <a:gd name="T14" fmla="*/ 152 w 1139"/>
                <a:gd name="T15" fmla="*/ 626 h 1142"/>
                <a:gd name="T16" fmla="*/ 173 w 1139"/>
                <a:gd name="T17" fmla="*/ 718 h 1142"/>
                <a:gd name="T18" fmla="*/ 214 w 1139"/>
                <a:gd name="T19" fmla="*/ 803 h 1142"/>
                <a:gd name="T20" fmla="*/ 271 w 1139"/>
                <a:gd name="T21" fmla="*/ 875 h 1142"/>
                <a:gd name="T22" fmla="*/ 343 w 1139"/>
                <a:gd name="T23" fmla="*/ 933 h 1142"/>
                <a:gd name="T24" fmla="*/ 427 w 1139"/>
                <a:gd name="T25" fmla="*/ 975 h 1142"/>
                <a:gd name="T26" fmla="*/ 520 w 1139"/>
                <a:gd name="T27" fmla="*/ 997 h 1142"/>
                <a:gd name="T28" fmla="*/ 618 w 1139"/>
                <a:gd name="T29" fmla="*/ 997 h 1142"/>
                <a:gd name="T30" fmla="*/ 711 w 1139"/>
                <a:gd name="T31" fmla="*/ 976 h 1142"/>
                <a:gd name="T32" fmla="*/ 794 w 1139"/>
                <a:gd name="T33" fmla="*/ 935 h 1142"/>
                <a:gd name="T34" fmla="*/ 867 w 1139"/>
                <a:gd name="T35" fmla="*/ 878 h 1142"/>
                <a:gd name="T36" fmla="*/ 925 w 1139"/>
                <a:gd name="T37" fmla="*/ 805 h 1142"/>
                <a:gd name="T38" fmla="*/ 967 w 1139"/>
                <a:gd name="T39" fmla="*/ 721 h 1142"/>
                <a:gd name="T40" fmla="*/ 988 w 1139"/>
                <a:gd name="T41" fmla="*/ 628 h 1142"/>
                <a:gd name="T42" fmla="*/ 988 w 1139"/>
                <a:gd name="T43" fmla="*/ 524 h 1142"/>
                <a:gd name="T44" fmla="*/ 964 w 1139"/>
                <a:gd name="T45" fmla="*/ 424 h 1142"/>
                <a:gd name="T46" fmla="*/ 916 w 1139"/>
                <a:gd name="T47" fmla="*/ 335 h 1142"/>
                <a:gd name="T48" fmla="*/ 851 w 1139"/>
                <a:gd name="T49" fmla="*/ 260 h 1142"/>
                <a:gd name="T50" fmla="*/ 770 w 1139"/>
                <a:gd name="T51" fmla="*/ 204 h 1142"/>
                <a:gd name="T52" fmla="*/ 675 w 1139"/>
                <a:gd name="T53" fmla="*/ 168 h 1142"/>
                <a:gd name="T54" fmla="*/ 570 w 1139"/>
                <a:gd name="T55" fmla="*/ 155 h 1142"/>
                <a:gd name="T56" fmla="*/ 629 w 1139"/>
                <a:gd name="T57" fmla="*/ 3 h 1142"/>
                <a:gd name="T58" fmla="*/ 740 w 1139"/>
                <a:gd name="T59" fmla="*/ 25 h 1142"/>
                <a:gd name="T60" fmla="*/ 844 w 1139"/>
                <a:gd name="T61" fmla="*/ 68 h 1142"/>
                <a:gd name="T62" fmla="*/ 934 w 1139"/>
                <a:gd name="T63" fmla="*/ 128 h 1142"/>
                <a:gd name="T64" fmla="*/ 1011 w 1139"/>
                <a:gd name="T65" fmla="*/ 205 h 1142"/>
                <a:gd name="T66" fmla="*/ 1071 w 1139"/>
                <a:gd name="T67" fmla="*/ 296 h 1142"/>
                <a:gd name="T68" fmla="*/ 1114 w 1139"/>
                <a:gd name="T69" fmla="*/ 400 h 1142"/>
                <a:gd name="T70" fmla="*/ 1136 w 1139"/>
                <a:gd name="T71" fmla="*/ 511 h 1142"/>
                <a:gd name="T72" fmla="*/ 1136 w 1139"/>
                <a:gd name="T73" fmla="*/ 630 h 1142"/>
                <a:gd name="T74" fmla="*/ 1114 w 1139"/>
                <a:gd name="T75" fmla="*/ 742 h 1142"/>
                <a:gd name="T76" fmla="*/ 1071 w 1139"/>
                <a:gd name="T77" fmla="*/ 844 h 1142"/>
                <a:gd name="T78" fmla="*/ 1010 w 1139"/>
                <a:gd name="T79" fmla="*/ 935 h 1142"/>
                <a:gd name="T80" fmla="*/ 933 w 1139"/>
                <a:gd name="T81" fmla="*/ 1012 h 1142"/>
                <a:gd name="T82" fmla="*/ 843 w 1139"/>
                <a:gd name="T83" fmla="*/ 1073 h 1142"/>
                <a:gd name="T84" fmla="*/ 740 w 1139"/>
                <a:gd name="T85" fmla="*/ 1116 h 1142"/>
                <a:gd name="T86" fmla="*/ 629 w 1139"/>
                <a:gd name="T87" fmla="*/ 1138 h 1142"/>
                <a:gd name="T88" fmla="*/ 512 w 1139"/>
                <a:gd name="T89" fmla="*/ 1138 h 1142"/>
                <a:gd name="T90" fmla="*/ 403 w 1139"/>
                <a:gd name="T91" fmla="*/ 1116 h 1142"/>
                <a:gd name="T92" fmla="*/ 300 w 1139"/>
                <a:gd name="T93" fmla="*/ 1073 h 1142"/>
                <a:gd name="T94" fmla="*/ 210 w 1139"/>
                <a:gd name="T95" fmla="*/ 1012 h 1142"/>
                <a:gd name="T96" fmla="*/ 132 w 1139"/>
                <a:gd name="T97" fmla="*/ 935 h 1142"/>
                <a:gd name="T98" fmla="*/ 70 w 1139"/>
                <a:gd name="T99" fmla="*/ 844 h 1142"/>
                <a:gd name="T100" fmla="*/ 27 w 1139"/>
                <a:gd name="T101" fmla="*/ 742 h 1142"/>
                <a:gd name="T102" fmla="*/ 4 w 1139"/>
                <a:gd name="T103" fmla="*/ 630 h 1142"/>
                <a:gd name="T104" fmla="*/ 4 w 1139"/>
                <a:gd name="T105" fmla="*/ 511 h 1142"/>
                <a:gd name="T106" fmla="*/ 26 w 1139"/>
                <a:gd name="T107" fmla="*/ 400 h 1142"/>
                <a:gd name="T108" fmla="*/ 69 w 1139"/>
                <a:gd name="T109" fmla="*/ 296 h 1142"/>
                <a:gd name="T110" fmla="*/ 130 w 1139"/>
                <a:gd name="T111" fmla="*/ 205 h 1142"/>
                <a:gd name="T112" fmla="*/ 207 w 1139"/>
                <a:gd name="T113" fmla="*/ 128 h 1142"/>
                <a:gd name="T114" fmla="*/ 297 w 1139"/>
                <a:gd name="T115" fmla="*/ 68 h 1142"/>
                <a:gd name="T116" fmla="*/ 399 w 1139"/>
                <a:gd name="T117" fmla="*/ 25 h 1142"/>
                <a:gd name="T118" fmla="*/ 511 w 1139"/>
                <a:gd name="T119" fmla="*/ 3 h 1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1142">
                  <a:moveTo>
                    <a:pt x="570" y="155"/>
                  </a:moveTo>
                  <a:lnTo>
                    <a:pt x="522" y="158"/>
                  </a:lnTo>
                  <a:lnTo>
                    <a:pt x="474" y="166"/>
                  </a:lnTo>
                  <a:lnTo>
                    <a:pt x="430" y="179"/>
                  </a:lnTo>
                  <a:lnTo>
                    <a:pt x="387" y="198"/>
                  </a:lnTo>
                  <a:lnTo>
                    <a:pt x="346" y="220"/>
                  </a:lnTo>
                  <a:lnTo>
                    <a:pt x="308" y="247"/>
                  </a:lnTo>
                  <a:lnTo>
                    <a:pt x="274" y="277"/>
                  </a:lnTo>
                  <a:lnTo>
                    <a:pt x="243" y="312"/>
                  </a:lnTo>
                  <a:lnTo>
                    <a:pt x="215" y="350"/>
                  </a:lnTo>
                  <a:lnTo>
                    <a:pt x="192" y="390"/>
                  </a:lnTo>
                  <a:lnTo>
                    <a:pt x="174" y="433"/>
                  </a:lnTo>
                  <a:lnTo>
                    <a:pt x="160" y="480"/>
                  </a:lnTo>
                  <a:lnTo>
                    <a:pt x="152" y="527"/>
                  </a:lnTo>
                  <a:lnTo>
                    <a:pt x="149" y="578"/>
                  </a:lnTo>
                  <a:lnTo>
                    <a:pt x="152" y="626"/>
                  </a:lnTo>
                  <a:lnTo>
                    <a:pt x="160" y="673"/>
                  </a:lnTo>
                  <a:lnTo>
                    <a:pt x="173" y="718"/>
                  </a:lnTo>
                  <a:lnTo>
                    <a:pt x="191" y="762"/>
                  </a:lnTo>
                  <a:lnTo>
                    <a:pt x="214" y="803"/>
                  </a:lnTo>
                  <a:lnTo>
                    <a:pt x="240" y="840"/>
                  </a:lnTo>
                  <a:lnTo>
                    <a:pt x="271" y="875"/>
                  </a:lnTo>
                  <a:lnTo>
                    <a:pt x="306" y="906"/>
                  </a:lnTo>
                  <a:lnTo>
                    <a:pt x="343" y="933"/>
                  </a:lnTo>
                  <a:lnTo>
                    <a:pt x="384" y="956"/>
                  </a:lnTo>
                  <a:lnTo>
                    <a:pt x="427" y="975"/>
                  </a:lnTo>
                  <a:lnTo>
                    <a:pt x="472" y="989"/>
                  </a:lnTo>
                  <a:lnTo>
                    <a:pt x="520" y="997"/>
                  </a:lnTo>
                  <a:lnTo>
                    <a:pt x="570" y="1000"/>
                  </a:lnTo>
                  <a:lnTo>
                    <a:pt x="618" y="997"/>
                  </a:lnTo>
                  <a:lnTo>
                    <a:pt x="666" y="989"/>
                  </a:lnTo>
                  <a:lnTo>
                    <a:pt x="711" y="976"/>
                  </a:lnTo>
                  <a:lnTo>
                    <a:pt x="754" y="958"/>
                  </a:lnTo>
                  <a:lnTo>
                    <a:pt x="794" y="935"/>
                  </a:lnTo>
                  <a:lnTo>
                    <a:pt x="832" y="908"/>
                  </a:lnTo>
                  <a:lnTo>
                    <a:pt x="867" y="878"/>
                  </a:lnTo>
                  <a:lnTo>
                    <a:pt x="897" y="843"/>
                  </a:lnTo>
                  <a:lnTo>
                    <a:pt x="925" y="805"/>
                  </a:lnTo>
                  <a:lnTo>
                    <a:pt x="948" y="765"/>
                  </a:lnTo>
                  <a:lnTo>
                    <a:pt x="967" y="721"/>
                  </a:lnTo>
                  <a:lnTo>
                    <a:pt x="979" y="675"/>
                  </a:lnTo>
                  <a:lnTo>
                    <a:pt x="988" y="628"/>
                  </a:lnTo>
                  <a:lnTo>
                    <a:pt x="991" y="578"/>
                  </a:lnTo>
                  <a:lnTo>
                    <a:pt x="988" y="524"/>
                  </a:lnTo>
                  <a:lnTo>
                    <a:pt x="978" y="472"/>
                  </a:lnTo>
                  <a:lnTo>
                    <a:pt x="964" y="424"/>
                  </a:lnTo>
                  <a:lnTo>
                    <a:pt x="943" y="377"/>
                  </a:lnTo>
                  <a:lnTo>
                    <a:pt x="916" y="335"/>
                  </a:lnTo>
                  <a:lnTo>
                    <a:pt x="886" y="296"/>
                  </a:lnTo>
                  <a:lnTo>
                    <a:pt x="851" y="260"/>
                  </a:lnTo>
                  <a:lnTo>
                    <a:pt x="812" y="230"/>
                  </a:lnTo>
                  <a:lnTo>
                    <a:pt x="770" y="204"/>
                  </a:lnTo>
                  <a:lnTo>
                    <a:pt x="724" y="183"/>
                  </a:lnTo>
                  <a:lnTo>
                    <a:pt x="675" y="168"/>
                  </a:lnTo>
                  <a:lnTo>
                    <a:pt x="624" y="159"/>
                  </a:lnTo>
                  <a:lnTo>
                    <a:pt x="570" y="155"/>
                  </a:lnTo>
                  <a:close/>
                  <a:moveTo>
                    <a:pt x="570" y="0"/>
                  </a:moveTo>
                  <a:lnTo>
                    <a:pt x="629" y="3"/>
                  </a:lnTo>
                  <a:lnTo>
                    <a:pt x="686" y="11"/>
                  </a:lnTo>
                  <a:lnTo>
                    <a:pt x="740" y="25"/>
                  </a:lnTo>
                  <a:lnTo>
                    <a:pt x="793" y="44"/>
                  </a:lnTo>
                  <a:lnTo>
                    <a:pt x="844" y="68"/>
                  </a:lnTo>
                  <a:lnTo>
                    <a:pt x="890" y="96"/>
                  </a:lnTo>
                  <a:lnTo>
                    <a:pt x="934" y="128"/>
                  </a:lnTo>
                  <a:lnTo>
                    <a:pt x="974" y="165"/>
                  </a:lnTo>
                  <a:lnTo>
                    <a:pt x="1011" y="205"/>
                  </a:lnTo>
                  <a:lnTo>
                    <a:pt x="1044" y="250"/>
                  </a:lnTo>
                  <a:lnTo>
                    <a:pt x="1071" y="296"/>
                  </a:lnTo>
                  <a:lnTo>
                    <a:pt x="1095" y="347"/>
                  </a:lnTo>
                  <a:lnTo>
                    <a:pt x="1114" y="400"/>
                  </a:lnTo>
                  <a:lnTo>
                    <a:pt x="1128" y="454"/>
                  </a:lnTo>
                  <a:lnTo>
                    <a:pt x="1136" y="511"/>
                  </a:lnTo>
                  <a:lnTo>
                    <a:pt x="1139" y="571"/>
                  </a:lnTo>
                  <a:lnTo>
                    <a:pt x="1136" y="630"/>
                  </a:lnTo>
                  <a:lnTo>
                    <a:pt x="1128" y="687"/>
                  </a:lnTo>
                  <a:lnTo>
                    <a:pt x="1114" y="742"/>
                  </a:lnTo>
                  <a:lnTo>
                    <a:pt x="1095" y="794"/>
                  </a:lnTo>
                  <a:lnTo>
                    <a:pt x="1071" y="844"/>
                  </a:lnTo>
                  <a:lnTo>
                    <a:pt x="1043" y="891"/>
                  </a:lnTo>
                  <a:lnTo>
                    <a:pt x="1010" y="935"/>
                  </a:lnTo>
                  <a:lnTo>
                    <a:pt x="974" y="976"/>
                  </a:lnTo>
                  <a:lnTo>
                    <a:pt x="933" y="1012"/>
                  </a:lnTo>
                  <a:lnTo>
                    <a:pt x="890" y="1044"/>
                  </a:lnTo>
                  <a:lnTo>
                    <a:pt x="843" y="1073"/>
                  </a:lnTo>
                  <a:lnTo>
                    <a:pt x="793" y="1097"/>
                  </a:lnTo>
                  <a:lnTo>
                    <a:pt x="740" y="1116"/>
                  </a:lnTo>
                  <a:lnTo>
                    <a:pt x="686" y="1130"/>
                  </a:lnTo>
                  <a:lnTo>
                    <a:pt x="629" y="1138"/>
                  </a:lnTo>
                  <a:lnTo>
                    <a:pt x="570" y="1142"/>
                  </a:lnTo>
                  <a:lnTo>
                    <a:pt x="512" y="1138"/>
                  </a:lnTo>
                  <a:lnTo>
                    <a:pt x="456" y="1130"/>
                  </a:lnTo>
                  <a:lnTo>
                    <a:pt x="403" y="1116"/>
                  </a:lnTo>
                  <a:lnTo>
                    <a:pt x="350" y="1097"/>
                  </a:lnTo>
                  <a:lnTo>
                    <a:pt x="300" y="1073"/>
                  </a:lnTo>
                  <a:lnTo>
                    <a:pt x="253" y="1044"/>
                  </a:lnTo>
                  <a:lnTo>
                    <a:pt x="210" y="1012"/>
                  </a:lnTo>
                  <a:lnTo>
                    <a:pt x="169" y="976"/>
                  </a:lnTo>
                  <a:lnTo>
                    <a:pt x="132" y="935"/>
                  </a:lnTo>
                  <a:lnTo>
                    <a:pt x="99" y="891"/>
                  </a:lnTo>
                  <a:lnTo>
                    <a:pt x="70" y="844"/>
                  </a:lnTo>
                  <a:lnTo>
                    <a:pt x="46" y="794"/>
                  </a:lnTo>
                  <a:lnTo>
                    <a:pt x="27" y="742"/>
                  </a:lnTo>
                  <a:lnTo>
                    <a:pt x="12" y="687"/>
                  </a:lnTo>
                  <a:lnTo>
                    <a:pt x="4" y="630"/>
                  </a:lnTo>
                  <a:lnTo>
                    <a:pt x="0" y="571"/>
                  </a:lnTo>
                  <a:lnTo>
                    <a:pt x="4" y="511"/>
                  </a:lnTo>
                  <a:lnTo>
                    <a:pt x="12" y="454"/>
                  </a:lnTo>
                  <a:lnTo>
                    <a:pt x="26" y="400"/>
                  </a:lnTo>
                  <a:lnTo>
                    <a:pt x="45" y="347"/>
                  </a:lnTo>
                  <a:lnTo>
                    <a:pt x="69" y="296"/>
                  </a:lnTo>
                  <a:lnTo>
                    <a:pt x="97" y="250"/>
                  </a:lnTo>
                  <a:lnTo>
                    <a:pt x="130" y="205"/>
                  </a:lnTo>
                  <a:lnTo>
                    <a:pt x="166" y="165"/>
                  </a:lnTo>
                  <a:lnTo>
                    <a:pt x="207" y="128"/>
                  </a:lnTo>
                  <a:lnTo>
                    <a:pt x="250" y="96"/>
                  </a:lnTo>
                  <a:lnTo>
                    <a:pt x="297" y="68"/>
                  </a:lnTo>
                  <a:lnTo>
                    <a:pt x="347" y="44"/>
                  </a:lnTo>
                  <a:lnTo>
                    <a:pt x="399" y="25"/>
                  </a:lnTo>
                  <a:lnTo>
                    <a:pt x="454" y="11"/>
                  </a:lnTo>
                  <a:lnTo>
                    <a:pt x="511" y="3"/>
                  </a:lnTo>
                  <a:lnTo>
                    <a:pt x="57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60" name="Freeform 56"/>
            <p:cNvSpPr>
              <a:spLocks noEditPoints="1"/>
            </p:cNvSpPr>
            <p:nvPr/>
          </p:nvSpPr>
          <p:spPr bwMode="auto">
            <a:xfrm>
              <a:off x="3770313" y="2659063"/>
              <a:ext cx="300038" cy="276225"/>
            </a:xfrm>
            <a:custGeom>
              <a:avLst/>
              <a:gdLst>
                <a:gd name="T0" fmla="*/ 148 w 1699"/>
                <a:gd name="T1" fmla="*/ 149 h 1564"/>
                <a:gd name="T2" fmla="*/ 148 w 1699"/>
                <a:gd name="T3" fmla="*/ 1074 h 1564"/>
                <a:gd name="T4" fmla="*/ 414 w 1699"/>
                <a:gd name="T5" fmla="*/ 1074 h 1564"/>
                <a:gd name="T6" fmla="*/ 435 w 1699"/>
                <a:gd name="T7" fmla="*/ 1078 h 1564"/>
                <a:gd name="T8" fmla="*/ 453 w 1699"/>
                <a:gd name="T9" fmla="*/ 1084 h 1564"/>
                <a:gd name="T10" fmla="*/ 467 w 1699"/>
                <a:gd name="T11" fmla="*/ 1096 h 1564"/>
                <a:gd name="T12" fmla="*/ 479 w 1699"/>
                <a:gd name="T13" fmla="*/ 1110 h 1564"/>
                <a:gd name="T14" fmla="*/ 485 w 1699"/>
                <a:gd name="T15" fmla="*/ 1128 h 1564"/>
                <a:gd name="T16" fmla="*/ 487 w 1699"/>
                <a:gd name="T17" fmla="*/ 1148 h 1564"/>
                <a:gd name="T18" fmla="*/ 487 w 1699"/>
                <a:gd name="T19" fmla="*/ 1312 h 1564"/>
                <a:gd name="T20" fmla="*/ 702 w 1699"/>
                <a:gd name="T21" fmla="*/ 1097 h 1564"/>
                <a:gd name="T22" fmla="*/ 713 w 1699"/>
                <a:gd name="T23" fmla="*/ 1087 h 1564"/>
                <a:gd name="T24" fmla="*/ 725 w 1699"/>
                <a:gd name="T25" fmla="*/ 1080 h 1564"/>
                <a:gd name="T26" fmla="*/ 738 w 1699"/>
                <a:gd name="T27" fmla="*/ 1077 h 1564"/>
                <a:gd name="T28" fmla="*/ 754 w 1699"/>
                <a:gd name="T29" fmla="*/ 1074 h 1564"/>
                <a:gd name="T30" fmla="*/ 1552 w 1699"/>
                <a:gd name="T31" fmla="*/ 1074 h 1564"/>
                <a:gd name="T32" fmla="*/ 1552 w 1699"/>
                <a:gd name="T33" fmla="*/ 149 h 1564"/>
                <a:gd name="T34" fmla="*/ 148 w 1699"/>
                <a:gd name="T35" fmla="*/ 149 h 1564"/>
                <a:gd name="T36" fmla="*/ 74 w 1699"/>
                <a:gd name="T37" fmla="*/ 0 h 1564"/>
                <a:gd name="T38" fmla="*/ 1625 w 1699"/>
                <a:gd name="T39" fmla="*/ 0 h 1564"/>
                <a:gd name="T40" fmla="*/ 1646 w 1699"/>
                <a:gd name="T41" fmla="*/ 2 h 1564"/>
                <a:gd name="T42" fmla="*/ 1664 w 1699"/>
                <a:gd name="T43" fmla="*/ 9 h 1564"/>
                <a:gd name="T44" fmla="*/ 1679 w 1699"/>
                <a:gd name="T45" fmla="*/ 20 h 1564"/>
                <a:gd name="T46" fmla="*/ 1691 w 1699"/>
                <a:gd name="T47" fmla="*/ 35 h 1564"/>
                <a:gd name="T48" fmla="*/ 1697 w 1699"/>
                <a:gd name="T49" fmla="*/ 53 h 1564"/>
                <a:gd name="T50" fmla="*/ 1699 w 1699"/>
                <a:gd name="T51" fmla="*/ 74 h 1564"/>
                <a:gd name="T52" fmla="*/ 1699 w 1699"/>
                <a:gd name="T53" fmla="*/ 1148 h 1564"/>
                <a:gd name="T54" fmla="*/ 1697 w 1699"/>
                <a:gd name="T55" fmla="*/ 1169 h 1564"/>
                <a:gd name="T56" fmla="*/ 1689 w 1699"/>
                <a:gd name="T57" fmla="*/ 1187 h 1564"/>
                <a:gd name="T58" fmla="*/ 1679 w 1699"/>
                <a:gd name="T59" fmla="*/ 1202 h 1564"/>
                <a:gd name="T60" fmla="*/ 1664 w 1699"/>
                <a:gd name="T61" fmla="*/ 1214 h 1564"/>
                <a:gd name="T62" fmla="*/ 1646 w 1699"/>
                <a:gd name="T63" fmla="*/ 1220 h 1564"/>
                <a:gd name="T64" fmla="*/ 1625 w 1699"/>
                <a:gd name="T65" fmla="*/ 1222 h 1564"/>
                <a:gd name="T66" fmla="*/ 783 w 1699"/>
                <a:gd name="T67" fmla="*/ 1222 h 1564"/>
                <a:gd name="T68" fmla="*/ 465 w 1699"/>
                <a:gd name="T69" fmla="*/ 1541 h 1564"/>
                <a:gd name="T70" fmla="*/ 454 w 1699"/>
                <a:gd name="T71" fmla="*/ 1550 h 1564"/>
                <a:gd name="T72" fmla="*/ 440 w 1699"/>
                <a:gd name="T73" fmla="*/ 1558 h 1564"/>
                <a:gd name="T74" fmla="*/ 426 w 1699"/>
                <a:gd name="T75" fmla="*/ 1562 h 1564"/>
                <a:gd name="T76" fmla="*/ 414 w 1699"/>
                <a:gd name="T77" fmla="*/ 1564 h 1564"/>
                <a:gd name="T78" fmla="*/ 407 w 1699"/>
                <a:gd name="T79" fmla="*/ 1564 h 1564"/>
                <a:gd name="T80" fmla="*/ 399 w 1699"/>
                <a:gd name="T81" fmla="*/ 1563 h 1564"/>
                <a:gd name="T82" fmla="*/ 391 w 1699"/>
                <a:gd name="T83" fmla="*/ 1561 h 1564"/>
                <a:gd name="T84" fmla="*/ 384 w 1699"/>
                <a:gd name="T85" fmla="*/ 1557 h 1564"/>
                <a:gd name="T86" fmla="*/ 368 w 1699"/>
                <a:gd name="T87" fmla="*/ 1547 h 1564"/>
                <a:gd name="T88" fmla="*/ 356 w 1699"/>
                <a:gd name="T89" fmla="*/ 1536 h 1564"/>
                <a:gd name="T90" fmla="*/ 346 w 1699"/>
                <a:gd name="T91" fmla="*/ 1522 h 1564"/>
                <a:gd name="T92" fmla="*/ 341 w 1699"/>
                <a:gd name="T93" fmla="*/ 1507 h 1564"/>
                <a:gd name="T94" fmla="*/ 340 w 1699"/>
                <a:gd name="T95" fmla="*/ 1490 h 1564"/>
                <a:gd name="T96" fmla="*/ 340 w 1699"/>
                <a:gd name="T97" fmla="*/ 1222 h 1564"/>
                <a:gd name="T98" fmla="*/ 74 w 1699"/>
                <a:gd name="T99" fmla="*/ 1222 h 1564"/>
                <a:gd name="T100" fmla="*/ 52 w 1699"/>
                <a:gd name="T101" fmla="*/ 1220 h 1564"/>
                <a:gd name="T102" fmla="*/ 35 w 1699"/>
                <a:gd name="T103" fmla="*/ 1213 h 1564"/>
                <a:gd name="T104" fmla="*/ 20 w 1699"/>
                <a:gd name="T105" fmla="*/ 1202 h 1564"/>
                <a:gd name="T106" fmla="*/ 9 w 1699"/>
                <a:gd name="T107" fmla="*/ 1187 h 1564"/>
                <a:gd name="T108" fmla="*/ 2 w 1699"/>
                <a:gd name="T109" fmla="*/ 1169 h 1564"/>
                <a:gd name="T110" fmla="*/ 0 w 1699"/>
                <a:gd name="T111" fmla="*/ 1148 h 1564"/>
                <a:gd name="T112" fmla="*/ 0 w 1699"/>
                <a:gd name="T113" fmla="*/ 74 h 1564"/>
                <a:gd name="T114" fmla="*/ 2 w 1699"/>
                <a:gd name="T115" fmla="*/ 53 h 1564"/>
                <a:gd name="T116" fmla="*/ 9 w 1699"/>
                <a:gd name="T117" fmla="*/ 35 h 1564"/>
                <a:gd name="T118" fmla="*/ 20 w 1699"/>
                <a:gd name="T119" fmla="*/ 20 h 1564"/>
                <a:gd name="T120" fmla="*/ 35 w 1699"/>
                <a:gd name="T121" fmla="*/ 9 h 1564"/>
                <a:gd name="T122" fmla="*/ 52 w 1699"/>
                <a:gd name="T123" fmla="*/ 2 h 1564"/>
                <a:gd name="T124" fmla="*/ 74 w 1699"/>
                <a:gd name="T125" fmla="*/ 0 h 1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9" h="1564">
                  <a:moveTo>
                    <a:pt x="148" y="149"/>
                  </a:moveTo>
                  <a:lnTo>
                    <a:pt x="148" y="1074"/>
                  </a:lnTo>
                  <a:lnTo>
                    <a:pt x="414" y="1074"/>
                  </a:lnTo>
                  <a:lnTo>
                    <a:pt x="435" y="1078"/>
                  </a:lnTo>
                  <a:lnTo>
                    <a:pt x="453" y="1084"/>
                  </a:lnTo>
                  <a:lnTo>
                    <a:pt x="467" y="1096"/>
                  </a:lnTo>
                  <a:lnTo>
                    <a:pt x="479" y="1110"/>
                  </a:lnTo>
                  <a:lnTo>
                    <a:pt x="485" y="1128"/>
                  </a:lnTo>
                  <a:lnTo>
                    <a:pt x="487" y="1148"/>
                  </a:lnTo>
                  <a:lnTo>
                    <a:pt x="487" y="1312"/>
                  </a:lnTo>
                  <a:lnTo>
                    <a:pt x="702" y="1097"/>
                  </a:lnTo>
                  <a:lnTo>
                    <a:pt x="713" y="1087"/>
                  </a:lnTo>
                  <a:lnTo>
                    <a:pt x="725" y="1080"/>
                  </a:lnTo>
                  <a:lnTo>
                    <a:pt x="738" y="1077"/>
                  </a:lnTo>
                  <a:lnTo>
                    <a:pt x="754" y="1074"/>
                  </a:lnTo>
                  <a:lnTo>
                    <a:pt x="1552" y="1074"/>
                  </a:lnTo>
                  <a:lnTo>
                    <a:pt x="1552" y="149"/>
                  </a:lnTo>
                  <a:lnTo>
                    <a:pt x="148" y="149"/>
                  </a:lnTo>
                  <a:close/>
                  <a:moveTo>
                    <a:pt x="74" y="0"/>
                  </a:moveTo>
                  <a:lnTo>
                    <a:pt x="1625" y="0"/>
                  </a:lnTo>
                  <a:lnTo>
                    <a:pt x="1646" y="2"/>
                  </a:lnTo>
                  <a:lnTo>
                    <a:pt x="1664" y="9"/>
                  </a:lnTo>
                  <a:lnTo>
                    <a:pt x="1679" y="20"/>
                  </a:lnTo>
                  <a:lnTo>
                    <a:pt x="1691" y="35"/>
                  </a:lnTo>
                  <a:lnTo>
                    <a:pt x="1697" y="53"/>
                  </a:lnTo>
                  <a:lnTo>
                    <a:pt x="1699" y="74"/>
                  </a:lnTo>
                  <a:lnTo>
                    <a:pt x="1699" y="1148"/>
                  </a:lnTo>
                  <a:lnTo>
                    <a:pt x="1697" y="1169"/>
                  </a:lnTo>
                  <a:lnTo>
                    <a:pt x="1689" y="1187"/>
                  </a:lnTo>
                  <a:lnTo>
                    <a:pt x="1679" y="1202"/>
                  </a:lnTo>
                  <a:lnTo>
                    <a:pt x="1664" y="1214"/>
                  </a:lnTo>
                  <a:lnTo>
                    <a:pt x="1646" y="1220"/>
                  </a:lnTo>
                  <a:lnTo>
                    <a:pt x="1625" y="1222"/>
                  </a:lnTo>
                  <a:lnTo>
                    <a:pt x="783" y="1222"/>
                  </a:lnTo>
                  <a:lnTo>
                    <a:pt x="465" y="1541"/>
                  </a:lnTo>
                  <a:lnTo>
                    <a:pt x="454" y="1550"/>
                  </a:lnTo>
                  <a:lnTo>
                    <a:pt x="440" y="1558"/>
                  </a:lnTo>
                  <a:lnTo>
                    <a:pt x="426" y="1562"/>
                  </a:lnTo>
                  <a:lnTo>
                    <a:pt x="414" y="1564"/>
                  </a:lnTo>
                  <a:lnTo>
                    <a:pt x="407" y="1564"/>
                  </a:lnTo>
                  <a:lnTo>
                    <a:pt x="399" y="1563"/>
                  </a:lnTo>
                  <a:lnTo>
                    <a:pt x="391" y="1561"/>
                  </a:lnTo>
                  <a:lnTo>
                    <a:pt x="384" y="1557"/>
                  </a:lnTo>
                  <a:lnTo>
                    <a:pt x="368" y="1547"/>
                  </a:lnTo>
                  <a:lnTo>
                    <a:pt x="356" y="1536"/>
                  </a:lnTo>
                  <a:lnTo>
                    <a:pt x="346" y="1522"/>
                  </a:lnTo>
                  <a:lnTo>
                    <a:pt x="341" y="1507"/>
                  </a:lnTo>
                  <a:lnTo>
                    <a:pt x="340" y="1490"/>
                  </a:lnTo>
                  <a:lnTo>
                    <a:pt x="340" y="1222"/>
                  </a:lnTo>
                  <a:lnTo>
                    <a:pt x="74" y="1222"/>
                  </a:lnTo>
                  <a:lnTo>
                    <a:pt x="52" y="1220"/>
                  </a:lnTo>
                  <a:lnTo>
                    <a:pt x="35" y="1213"/>
                  </a:lnTo>
                  <a:lnTo>
                    <a:pt x="20" y="1202"/>
                  </a:lnTo>
                  <a:lnTo>
                    <a:pt x="9" y="1187"/>
                  </a:lnTo>
                  <a:lnTo>
                    <a:pt x="2" y="1169"/>
                  </a:lnTo>
                  <a:lnTo>
                    <a:pt x="0" y="1148"/>
                  </a:lnTo>
                  <a:lnTo>
                    <a:pt x="0" y="74"/>
                  </a:lnTo>
                  <a:lnTo>
                    <a:pt x="2" y="53"/>
                  </a:lnTo>
                  <a:lnTo>
                    <a:pt x="9" y="35"/>
                  </a:lnTo>
                  <a:lnTo>
                    <a:pt x="20" y="20"/>
                  </a:lnTo>
                  <a:lnTo>
                    <a:pt x="35" y="9"/>
                  </a:lnTo>
                  <a:lnTo>
                    <a:pt x="52" y="2"/>
                  </a:lnTo>
                  <a:lnTo>
                    <a:pt x="74"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61" name="Freeform 57"/>
            <p:cNvSpPr>
              <a:spLocks noEditPoints="1"/>
            </p:cNvSpPr>
            <p:nvPr/>
          </p:nvSpPr>
          <p:spPr bwMode="auto">
            <a:xfrm>
              <a:off x="3457575" y="3028950"/>
              <a:ext cx="376238" cy="244475"/>
            </a:xfrm>
            <a:custGeom>
              <a:avLst/>
              <a:gdLst>
                <a:gd name="T0" fmla="*/ 405 w 2129"/>
                <a:gd name="T1" fmla="*/ 151 h 1386"/>
                <a:gd name="T2" fmla="*/ 334 w 2129"/>
                <a:gd name="T3" fmla="*/ 171 h 1386"/>
                <a:gd name="T4" fmla="*/ 269 w 2129"/>
                <a:gd name="T5" fmla="*/ 208 h 1386"/>
                <a:gd name="T6" fmla="*/ 217 w 2129"/>
                <a:gd name="T7" fmla="*/ 260 h 1386"/>
                <a:gd name="T8" fmla="*/ 179 w 2129"/>
                <a:gd name="T9" fmla="*/ 323 h 1386"/>
                <a:gd name="T10" fmla="*/ 158 w 2129"/>
                <a:gd name="T11" fmla="*/ 398 h 1386"/>
                <a:gd name="T12" fmla="*/ 155 w 2129"/>
                <a:gd name="T13" fmla="*/ 1237 h 1386"/>
                <a:gd name="T14" fmla="*/ 1974 w 2129"/>
                <a:gd name="T15" fmla="*/ 438 h 1386"/>
                <a:gd name="T16" fmla="*/ 1963 w 2129"/>
                <a:gd name="T17" fmla="*/ 362 h 1386"/>
                <a:gd name="T18" fmla="*/ 1935 w 2129"/>
                <a:gd name="T19" fmla="*/ 294 h 1386"/>
                <a:gd name="T20" fmla="*/ 1891 w 2129"/>
                <a:gd name="T21" fmla="*/ 234 h 1386"/>
                <a:gd name="T22" fmla="*/ 1833 w 2129"/>
                <a:gd name="T23" fmla="*/ 189 h 1386"/>
                <a:gd name="T24" fmla="*/ 1763 w 2129"/>
                <a:gd name="T25" fmla="*/ 160 h 1386"/>
                <a:gd name="T26" fmla="*/ 1685 w 2129"/>
                <a:gd name="T27" fmla="*/ 148 h 1386"/>
                <a:gd name="T28" fmla="*/ 1116 w 2129"/>
                <a:gd name="T29" fmla="*/ 422 h 1386"/>
                <a:gd name="T30" fmla="*/ 1082 w 2129"/>
                <a:gd name="T31" fmla="*/ 442 h 1386"/>
                <a:gd name="T32" fmla="*/ 1045 w 2129"/>
                <a:gd name="T33" fmla="*/ 442 h 1386"/>
                <a:gd name="T34" fmla="*/ 1013 w 2129"/>
                <a:gd name="T35" fmla="*/ 422 h 1386"/>
                <a:gd name="T36" fmla="*/ 444 w 2129"/>
                <a:gd name="T37" fmla="*/ 148 h 1386"/>
                <a:gd name="T38" fmla="*/ 768 w 2129"/>
                <a:gd name="T39" fmla="*/ 0 h 1386"/>
                <a:gd name="T40" fmla="*/ 797 w 2129"/>
                <a:gd name="T41" fmla="*/ 7 h 1386"/>
                <a:gd name="T42" fmla="*/ 820 w 2129"/>
                <a:gd name="T43" fmla="*/ 22 h 1386"/>
                <a:gd name="T44" fmla="*/ 1309 w 2129"/>
                <a:gd name="T45" fmla="*/ 22 h 1386"/>
                <a:gd name="T46" fmla="*/ 1332 w 2129"/>
                <a:gd name="T47" fmla="*/ 7 h 1386"/>
                <a:gd name="T48" fmla="*/ 1360 w 2129"/>
                <a:gd name="T49" fmla="*/ 0 h 1386"/>
                <a:gd name="T50" fmla="*/ 1742 w 2129"/>
                <a:gd name="T51" fmla="*/ 3 h 1386"/>
                <a:gd name="T52" fmla="*/ 1838 w 2129"/>
                <a:gd name="T53" fmla="*/ 26 h 1386"/>
                <a:gd name="T54" fmla="*/ 1924 w 2129"/>
                <a:gd name="T55" fmla="*/ 68 h 1386"/>
                <a:gd name="T56" fmla="*/ 1999 w 2129"/>
                <a:gd name="T57" fmla="*/ 128 h 1386"/>
                <a:gd name="T58" fmla="*/ 2059 w 2129"/>
                <a:gd name="T59" fmla="*/ 202 h 1386"/>
                <a:gd name="T60" fmla="*/ 2102 w 2129"/>
                <a:gd name="T61" fmla="*/ 289 h 1386"/>
                <a:gd name="T62" fmla="*/ 2125 w 2129"/>
                <a:gd name="T63" fmla="*/ 386 h 1386"/>
                <a:gd name="T64" fmla="*/ 2129 w 2129"/>
                <a:gd name="T65" fmla="*/ 1312 h 1386"/>
                <a:gd name="T66" fmla="*/ 2113 w 2129"/>
                <a:gd name="T67" fmla="*/ 1351 h 1386"/>
                <a:gd name="T68" fmla="*/ 2083 w 2129"/>
                <a:gd name="T69" fmla="*/ 1377 h 1386"/>
                <a:gd name="T70" fmla="*/ 2048 w 2129"/>
                <a:gd name="T71" fmla="*/ 1386 h 1386"/>
                <a:gd name="T72" fmla="*/ 53 w 2129"/>
                <a:gd name="T73" fmla="*/ 1384 h 1386"/>
                <a:gd name="T74" fmla="*/ 20 w 2129"/>
                <a:gd name="T75" fmla="*/ 1366 h 1386"/>
                <a:gd name="T76" fmla="*/ 2 w 2129"/>
                <a:gd name="T77" fmla="*/ 1333 h 1386"/>
                <a:gd name="T78" fmla="*/ 0 w 2129"/>
                <a:gd name="T79" fmla="*/ 438 h 1386"/>
                <a:gd name="T80" fmla="*/ 12 w 2129"/>
                <a:gd name="T81" fmla="*/ 339 h 1386"/>
                <a:gd name="T82" fmla="*/ 44 w 2129"/>
                <a:gd name="T83" fmla="*/ 247 h 1386"/>
                <a:gd name="T84" fmla="*/ 95 w 2129"/>
                <a:gd name="T85" fmla="*/ 166 h 1386"/>
                <a:gd name="T86" fmla="*/ 162 w 2129"/>
                <a:gd name="T87" fmla="*/ 98 h 1386"/>
                <a:gd name="T88" fmla="*/ 243 w 2129"/>
                <a:gd name="T89" fmla="*/ 46 h 1386"/>
                <a:gd name="T90" fmla="*/ 335 w 2129"/>
                <a:gd name="T91" fmla="*/ 13 h 1386"/>
                <a:gd name="T92" fmla="*/ 436 w 2129"/>
                <a:gd name="T93" fmla="*/ 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9" h="1386">
                  <a:moveTo>
                    <a:pt x="444" y="148"/>
                  </a:moveTo>
                  <a:lnTo>
                    <a:pt x="405" y="151"/>
                  </a:lnTo>
                  <a:lnTo>
                    <a:pt x="368" y="159"/>
                  </a:lnTo>
                  <a:lnTo>
                    <a:pt x="334" y="171"/>
                  </a:lnTo>
                  <a:lnTo>
                    <a:pt x="300" y="187"/>
                  </a:lnTo>
                  <a:lnTo>
                    <a:pt x="269" y="208"/>
                  </a:lnTo>
                  <a:lnTo>
                    <a:pt x="241" y="231"/>
                  </a:lnTo>
                  <a:lnTo>
                    <a:pt x="217" y="260"/>
                  </a:lnTo>
                  <a:lnTo>
                    <a:pt x="196" y="290"/>
                  </a:lnTo>
                  <a:lnTo>
                    <a:pt x="179" y="323"/>
                  </a:lnTo>
                  <a:lnTo>
                    <a:pt x="166" y="360"/>
                  </a:lnTo>
                  <a:lnTo>
                    <a:pt x="158" y="398"/>
                  </a:lnTo>
                  <a:lnTo>
                    <a:pt x="155" y="438"/>
                  </a:lnTo>
                  <a:lnTo>
                    <a:pt x="155" y="1237"/>
                  </a:lnTo>
                  <a:lnTo>
                    <a:pt x="1974" y="1237"/>
                  </a:lnTo>
                  <a:lnTo>
                    <a:pt x="1974" y="438"/>
                  </a:lnTo>
                  <a:lnTo>
                    <a:pt x="1971" y="399"/>
                  </a:lnTo>
                  <a:lnTo>
                    <a:pt x="1963" y="362"/>
                  </a:lnTo>
                  <a:lnTo>
                    <a:pt x="1952" y="327"/>
                  </a:lnTo>
                  <a:lnTo>
                    <a:pt x="1935" y="294"/>
                  </a:lnTo>
                  <a:lnTo>
                    <a:pt x="1915" y="263"/>
                  </a:lnTo>
                  <a:lnTo>
                    <a:pt x="1891" y="234"/>
                  </a:lnTo>
                  <a:lnTo>
                    <a:pt x="1863" y="210"/>
                  </a:lnTo>
                  <a:lnTo>
                    <a:pt x="1833" y="189"/>
                  </a:lnTo>
                  <a:lnTo>
                    <a:pt x="1799" y="172"/>
                  </a:lnTo>
                  <a:lnTo>
                    <a:pt x="1763" y="160"/>
                  </a:lnTo>
                  <a:lnTo>
                    <a:pt x="1725" y="151"/>
                  </a:lnTo>
                  <a:lnTo>
                    <a:pt x="1685" y="148"/>
                  </a:lnTo>
                  <a:lnTo>
                    <a:pt x="1390" y="148"/>
                  </a:lnTo>
                  <a:lnTo>
                    <a:pt x="1116" y="422"/>
                  </a:lnTo>
                  <a:lnTo>
                    <a:pt x="1100" y="435"/>
                  </a:lnTo>
                  <a:lnTo>
                    <a:pt x="1082" y="442"/>
                  </a:lnTo>
                  <a:lnTo>
                    <a:pt x="1064" y="446"/>
                  </a:lnTo>
                  <a:lnTo>
                    <a:pt x="1045" y="442"/>
                  </a:lnTo>
                  <a:lnTo>
                    <a:pt x="1029" y="435"/>
                  </a:lnTo>
                  <a:lnTo>
                    <a:pt x="1013" y="422"/>
                  </a:lnTo>
                  <a:lnTo>
                    <a:pt x="739" y="148"/>
                  </a:lnTo>
                  <a:lnTo>
                    <a:pt x="444" y="148"/>
                  </a:lnTo>
                  <a:close/>
                  <a:moveTo>
                    <a:pt x="436" y="0"/>
                  </a:moveTo>
                  <a:lnTo>
                    <a:pt x="768" y="0"/>
                  </a:lnTo>
                  <a:lnTo>
                    <a:pt x="784" y="2"/>
                  </a:lnTo>
                  <a:lnTo>
                    <a:pt x="797" y="7"/>
                  </a:lnTo>
                  <a:lnTo>
                    <a:pt x="808" y="13"/>
                  </a:lnTo>
                  <a:lnTo>
                    <a:pt x="820" y="22"/>
                  </a:lnTo>
                  <a:lnTo>
                    <a:pt x="1064" y="267"/>
                  </a:lnTo>
                  <a:lnTo>
                    <a:pt x="1309" y="22"/>
                  </a:lnTo>
                  <a:lnTo>
                    <a:pt x="1319" y="13"/>
                  </a:lnTo>
                  <a:lnTo>
                    <a:pt x="1332" y="7"/>
                  </a:lnTo>
                  <a:lnTo>
                    <a:pt x="1344" y="2"/>
                  </a:lnTo>
                  <a:lnTo>
                    <a:pt x="1360" y="0"/>
                  </a:lnTo>
                  <a:lnTo>
                    <a:pt x="1693" y="0"/>
                  </a:lnTo>
                  <a:lnTo>
                    <a:pt x="1742" y="3"/>
                  </a:lnTo>
                  <a:lnTo>
                    <a:pt x="1791" y="12"/>
                  </a:lnTo>
                  <a:lnTo>
                    <a:pt x="1838" y="26"/>
                  </a:lnTo>
                  <a:lnTo>
                    <a:pt x="1882" y="45"/>
                  </a:lnTo>
                  <a:lnTo>
                    <a:pt x="1924" y="68"/>
                  </a:lnTo>
                  <a:lnTo>
                    <a:pt x="1963" y="95"/>
                  </a:lnTo>
                  <a:lnTo>
                    <a:pt x="1999" y="128"/>
                  </a:lnTo>
                  <a:lnTo>
                    <a:pt x="2032" y="163"/>
                  </a:lnTo>
                  <a:lnTo>
                    <a:pt x="2059" y="202"/>
                  </a:lnTo>
                  <a:lnTo>
                    <a:pt x="2083" y="244"/>
                  </a:lnTo>
                  <a:lnTo>
                    <a:pt x="2102" y="289"/>
                  </a:lnTo>
                  <a:lnTo>
                    <a:pt x="2117" y="337"/>
                  </a:lnTo>
                  <a:lnTo>
                    <a:pt x="2125" y="386"/>
                  </a:lnTo>
                  <a:lnTo>
                    <a:pt x="2129" y="438"/>
                  </a:lnTo>
                  <a:lnTo>
                    <a:pt x="2129" y="1312"/>
                  </a:lnTo>
                  <a:lnTo>
                    <a:pt x="2122" y="1333"/>
                  </a:lnTo>
                  <a:lnTo>
                    <a:pt x="2113" y="1351"/>
                  </a:lnTo>
                  <a:lnTo>
                    <a:pt x="2099" y="1366"/>
                  </a:lnTo>
                  <a:lnTo>
                    <a:pt x="2083" y="1377"/>
                  </a:lnTo>
                  <a:lnTo>
                    <a:pt x="2065" y="1384"/>
                  </a:lnTo>
                  <a:lnTo>
                    <a:pt x="2048" y="1386"/>
                  </a:lnTo>
                  <a:lnTo>
                    <a:pt x="74" y="1386"/>
                  </a:lnTo>
                  <a:lnTo>
                    <a:pt x="53" y="1384"/>
                  </a:lnTo>
                  <a:lnTo>
                    <a:pt x="35" y="1377"/>
                  </a:lnTo>
                  <a:lnTo>
                    <a:pt x="20" y="1366"/>
                  </a:lnTo>
                  <a:lnTo>
                    <a:pt x="9" y="1351"/>
                  </a:lnTo>
                  <a:lnTo>
                    <a:pt x="2" y="1333"/>
                  </a:lnTo>
                  <a:lnTo>
                    <a:pt x="0" y="1312"/>
                  </a:lnTo>
                  <a:lnTo>
                    <a:pt x="0" y="438"/>
                  </a:lnTo>
                  <a:lnTo>
                    <a:pt x="3" y="388"/>
                  </a:lnTo>
                  <a:lnTo>
                    <a:pt x="12" y="339"/>
                  </a:lnTo>
                  <a:lnTo>
                    <a:pt x="25" y="291"/>
                  </a:lnTo>
                  <a:lnTo>
                    <a:pt x="44" y="247"/>
                  </a:lnTo>
                  <a:lnTo>
                    <a:pt x="67" y="205"/>
                  </a:lnTo>
                  <a:lnTo>
                    <a:pt x="95" y="166"/>
                  </a:lnTo>
                  <a:lnTo>
                    <a:pt x="126" y="130"/>
                  </a:lnTo>
                  <a:lnTo>
                    <a:pt x="162" y="98"/>
                  </a:lnTo>
                  <a:lnTo>
                    <a:pt x="201" y="70"/>
                  </a:lnTo>
                  <a:lnTo>
                    <a:pt x="243" y="46"/>
                  </a:lnTo>
                  <a:lnTo>
                    <a:pt x="287" y="27"/>
                  </a:lnTo>
                  <a:lnTo>
                    <a:pt x="335" y="13"/>
                  </a:lnTo>
                  <a:lnTo>
                    <a:pt x="384" y="3"/>
                  </a:lnTo>
                  <a:lnTo>
                    <a:pt x="43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62" name="Rectangle 58"/>
            <p:cNvSpPr>
              <a:spLocks noChangeArrowheads="1"/>
            </p:cNvSpPr>
            <p:nvPr/>
          </p:nvSpPr>
          <p:spPr bwMode="auto">
            <a:xfrm>
              <a:off x="3841750" y="2754313"/>
              <a:ext cx="26988" cy="26987"/>
            </a:xfrm>
            <a:prstGeom prst="rect">
              <a:avLst/>
            </a:prstGeom>
            <a:grpFill/>
            <a:ln w="0">
              <a:noFill/>
              <a:prstDash val="solid"/>
              <a:miter lim="800000"/>
            </a:ln>
          </p:spPr>
          <p:txBody>
            <a:bodyPr vert="horz" wrap="square" lIns="91440" tIns="45720" rIns="91440" bIns="45720" numCol="1" anchor="t" anchorCtr="0" compatLnSpc="1"/>
            <a:lstStyle/>
            <a:p>
              <a:endParaRPr lang="en-US"/>
            </a:p>
          </p:txBody>
        </p:sp>
        <p:sp>
          <p:nvSpPr>
            <p:cNvPr id="63" name="Rectangle 59"/>
            <p:cNvSpPr>
              <a:spLocks noChangeArrowheads="1"/>
            </p:cNvSpPr>
            <p:nvPr/>
          </p:nvSpPr>
          <p:spPr bwMode="auto">
            <a:xfrm>
              <a:off x="3906838" y="2754313"/>
              <a:ext cx="26988" cy="26987"/>
            </a:xfrm>
            <a:prstGeom prst="rect">
              <a:avLst/>
            </a:prstGeom>
            <a:grpFill/>
            <a:ln w="0">
              <a:noFill/>
              <a:prstDash val="solid"/>
              <a:miter lim="800000"/>
            </a:ln>
          </p:spPr>
          <p:txBody>
            <a:bodyPr vert="horz" wrap="square" lIns="91440" tIns="45720" rIns="91440" bIns="45720" numCol="1" anchor="t" anchorCtr="0" compatLnSpc="1"/>
            <a:lstStyle/>
            <a:p>
              <a:endParaRPr lang="en-US"/>
            </a:p>
          </p:txBody>
        </p:sp>
        <p:sp>
          <p:nvSpPr>
            <p:cNvPr id="64" name="Rectangle 60"/>
            <p:cNvSpPr>
              <a:spLocks noChangeArrowheads="1"/>
            </p:cNvSpPr>
            <p:nvPr/>
          </p:nvSpPr>
          <p:spPr bwMode="auto">
            <a:xfrm>
              <a:off x="3971925" y="2754313"/>
              <a:ext cx="26988" cy="26987"/>
            </a:xfrm>
            <a:prstGeom prst="rect">
              <a:avLst/>
            </a:prstGeom>
            <a:grpFill/>
            <a:ln w="0">
              <a:noFill/>
              <a:prstDash val="solid"/>
              <a:miter lim="800000"/>
            </a:ln>
          </p:spPr>
          <p:txBody>
            <a:bodyPr vert="horz" wrap="square" lIns="91440" tIns="45720" rIns="91440" bIns="45720" numCol="1" anchor="t" anchorCtr="0" compatLnSpc="1"/>
            <a:lstStyle/>
            <a:p>
              <a:endParaRPr lang="en-US"/>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8.3  MySQL</a:t>
            </a:r>
            <a:r>
              <a:rPr lang="zh-CN" altLang="en-US" dirty="0">
                <a:sym typeface="+mn-ea"/>
              </a:rPr>
              <a:t>权限系统</a:t>
            </a:r>
            <a:endParaRPr lang="zh-CN" altLang="en-US" dirty="0"/>
          </a:p>
        </p:txBody>
      </p:sp>
      <p:sp>
        <p:nvSpPr>
          <p:cNvPr id="5" name="内容占位符 4"/>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全局权限表mysql.user：</a:t>
            </a:r>
            <a:r>
              <a:rPr lang="en-US" altLang="zh-CN" dirty="0"/>
              <a:t> </a:t>
            </a:r>
            <a:endParaRPr lang="zh-CN" altLang="en-US" dirty="0"/>
          </a:p>
        </p:txBody>
      </p:sp>
      <p:sp>
        <p:nvSpPr>
          <p:cNvPr id="33" name="内容占位符 4"/>
          <p:cNvSpPr>
            <a:spLocks noGrp="1"/>
          </p:cNvSpPr>
          <p:nvPr/>
        </p:nvSpPr>
        <p:spPr>
          <a:xfrm>
            <a:off x="2722880" y="21342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用户身份验证相关字段</a:t>
            </a:r>
          </a:p>
        </p:txBody>
      </p:sp>
      <p:sp>
        <p:nvSpPr>
          <p:cNvPr id="2" name="内容占位符 4"/>
          <p:cNvSpPr>
            <a:spLocks noGrp="1"/>
          </p:cNvSpPr>
          <p:nvPr/>
        </p:nvSpPr>
        <p:spPr>
          <a:xfrm>
            <a:off x="6175375" y="15246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User（主码）</a:t>
            </a:r>
          </a:p>
        </p:txBody>
      </p:sp>
      <p:sp>
        <p:nvSpPr>
          <p:cNvPr id="3" name="内容占位符 4"/>
          <p:cNvSpPr>
            <a:spLocks noGrp="1"/>
          </p:cNvSpPr>
          <p:nvPr/>
        </p:nvSpPr>
        <p:spPr>
          <a:xfrm>
            <a:off x="6175375" y="21342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Authentication_string</a:t>
            </a:r>
          </a:p>
        </p:txBody>
      </p:sp>
      <p:sp>
        <p:nvSpPr>
          <p:cNvPr id="6" name="内容占位符 4"/>
          <p:cNvSpPr>
            <a:spLocks noGrp="1"/>
          </p:cNvSpPr>
          <p:nvPr/>
        </p:nvSpPr>
        <p:spPr>
          <a:xfrm>
            <a:off x="6175375" y="27438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Host（主码）</a:t>
            </a:r>
          </a:p>
        </p:txBody>
      </p:sp>
      <p:sp>
        <p:nvSpPr>
          <p:cNvPr id="7" name="内容占位符 4"/>
          <p:cNvSpPr>
            <a:spLocks noGrp="1"/>
          </p:cNvSpPr>
          <p:nvPr/>
        </p:nvSpPr>
        <p:spPr>
          <a:xfrm>
            <a:off x="2746375" y="40392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全局权限授予相关字段</a:t>
            </a:r>
          </a:p>
        </p:txBody>
      </p:sp>
      <p:sp>
        <p:nvSpPr>
          <p:cNvPr id="17" name="内容占位符 4"/>
          <p:cNvSpPr>
            <a:spLocks noGrp="1"/>
          </p:cNvSpPr>
          <p:nvPr/>
        </p:nvSpPr>
        <p:spPr>
          <a:xfrm>
            <a:off x="6175375" y="34296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一般权限字段</a:t>
            </a:r>
          </a:p>
        </p:txBody>
      </p:sp>
      <p:sp>
        <p:nvSpPr>
          <p:cNvPr id="18" name="内容占位符 4"/>
          <p:cNvSpPr>
            <a:spLocks noGrp="1"/>
          </p:cNvSpPr>
          <p:nvPr/>
        </p:nvSpPr>
        <p:spPr>
          <a:xfrm>
            <a:off x="6175375" y="45726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管理权限字段</a:t>
            </a:r>
          </a:p>
        </p:txBody>
      </p:sp>
      <p:sp>
        <p:nvSpPr>
          <p:cNvPr id="19" name="左大括号 18"/>
          <p:cNvSpPr/>
          <p:nvPr/>
        </p:nvSpPr>
        <p:spPr>
          <a:xfrm>
            <a:off x="5847080" y="1753235"/>
            <a:ext cx="217170" cy="1295400"/>
          </a:xfrm>
          <a:prstGeom prst="leftBrace">
            <a:avLst>
              <a:gd name="adj1" fmla="val 2558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22" name="左大括号 21"/>
          <p:cNvSpPr/>
          <p:nvPr/>
        </p:nvSpPr>
        <p:spPr>
          <a:xfrm>
            <a:off x="5847080" y="3658235"/>
            <a:ext cx="217170" cy="1295400"/>
          </a:xfrm>
          <a:prstGeom prst="leftBrace">
            <a:avLst>
              <a:gd name="adj1" fmla="val 2558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24" name="内容占位符 4"/>
          <p:cNvSpPr>
            <a:spLocks noGrp="1"/>
          </p:cNvSpPr>
          <p:nvPr/>
        </p:nvSpPr>
        <p:spPr>
          <a:xfrm>
            <a:off x="2799080" y="5182235"/>
            <a:ext cx="399986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用户安全连接认证配置字段</a:t>
            </a:r>
          </a:p>
        </p:txBody>
      </p:sp>
      <p:sp>
        <p:nvSpPr>
          <p:cNvPr id="25" name="内容占位符 4"/>
          <p:cNvSpPr>
            <a:spLocks noGrp="1"/>
          </p:cNvSpPr>
          <p:nvPr/>
        </p:nvSpPr>
        <p:spPr>
          <a:xfrm>
            <a:off x="2799080" y="5944235"/>
            <a:ext cx="399986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数据库资源使用约束字段</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8.3  MySQL</a:t>
            </a:r>
            <a:r>
              <a:rPr lang="zh-CN" altLang="en-US" dirty="0">
                <a:sym typeface="+mn-ea"/>
              </a:rPr>
              <a:t>权限系统</a:t>
            </a:r>
            <a:endParaRPr lang="zh-CN" altLang="en-US" dirty="0"/>
          </a:p>
        </p:txBody>
      </p:sp>
      <p:sp>
        <p:nvSpPr>
          <p:cNvPr id="5" name="内容占位符 4"/>
          <p:cNvSpPr>
            <a:spLocks noGrp="1"/>
          </p:cNvSpPr>
          <p:nvPr>
            <p:ph idx="1"/>
          </p:nvPr>
        </p:nvSpPr>
        <p:spPr>
          <a:xfrm>
            <a:off x="612775" y="1064260"/>
            <a:ext cx="5032375" cy="765175"/>
          </a:xfrm>
        </p:spPr>
        <p:txBody>
          <a:bodyPr>
            <a:noAutofit/>
          </a:bodyPr>
          <a:lstStyle/>
          <a:p>
            <a:pPr marL="0" indent="0" algn="l">
              <a:lnSpc>
                <a:spcPct val="150000"/>
              </a:lnSpc>
              <a:buNone/>
            </a:pPr>
            <a:r>
              <a:rPr lang="zh-CN" altLang="en-US" dirty="0"/>
              <a:t>数据库级权限表mysql.db：</a:t>
            </a:r>
            <a:r>
              <a:rPr lang="en-US" altLang="zh-CN" dirty="0"/>
              <a:t> </a:t>
            </a:r>
            <a:endParaRPr lang="zh-CN" altLang="en-US" dirty="0"/>
          </a:p>
        </p:txBody>
      </p:sp>
      <p:sp>
        <p:nvSpPr>
          <p:cNvPr id="33" name="内容占位符 4"/>
          <p:cNvSpPr>
            <a:spLocks noGrp="1"/>
          </p:cNvSpPr>
          <p:nvPr/>
        </p:nvSpPr>
        <p:spPr>
          <a:xfrm>
            <a:off x="2212975" y="3048635"/>
            <a:ext cx="32677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用户信息相关字段</a:t>
            </a:r>
          </a:p>
        </p:txBody>
      </p:sp>
      <p:sp>
        <p:nvSpPr>
          <p:cNvPr id="2" name="内容占位符 4"/>
          <p:cNvSpPr>
            <a:spLocks noGrp="1"/>
          </p:cNvSpPr>
          <p:nvPr/>
        </p:nvSpPr>
        <p:spPr>
          <a:xfrm>
            <a:off x="5920105" y="24390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主机字段Host</a:t>
            </a:r>
          </a:p>
        </p:txBody>
      </p:sp>
      <p:sp>
        <p:nvSpPr>
          <p:cNvPr id="3" name="内容占位符 4"/>
          <p:cNvSpPr>
            <a:spLocks noGrp="1"/>
          </p:cNvSpPr>
          <p:nvPr/>
        </p:nvSpPr>
        <p:spPr>
          <a:xfrm>
            <a:off x="5920105" y="30486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使用的数据库字段Db</a:t>
            </a:r>
          </a:p>
        </p:txBody>
      </p:sp>
      <p:sp>
        <p:nvSpPr>
          <p:cNvPr id="6" name="内容占位符 4"/>
          <p:cNvSpPr>
            <a:spLocks noGrp="1"/>
          </p:cNvSpPr>
          <p:nvPr/>
        </p:nvSpPr>
        <p:spPr>
          <a:xfrm>
            <a:off x="5920105" y="365823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用户名字段User</a:t>
            </a:r>
          </a:p>
        </p:txBody>
      </p:sp>
      <p:sp>
        <p:nvSpPr>
          <p:cNvPr id="7" name="内容占位符 4"/>
          <p:cNvSpPr>
            <a:spLocks noGrp="1"/>
          </p:cNvSpPr>
          <p:nvPr/>
        </p:nvSpPr>
        <p:spPr>
          <a:xfrm>
            <a:off x="2228850" y="4953635"/>
            <a:ext cx="326326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数据库级别授权相关字段</a:t>
            </a:r>
          </a:p>
        </p:txBody>
      </p:sp>
      <p:sp>
        <p:nvSpPr>
          <p:cNvPr id="17" name="内容占位符 4"/>
          <p:cNvSpPr>
            <a:spLocks noGrp="1"/>
          </p:cNvSpPr>
          <p:nvPr/>
        </p:nvSpPr>
        <p:spPr>
          <a:xfrm>
            <a:off x="5920105" y="4953635"/>
            <a:ext cx="425704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数据库级别用户操作权限</a:t>
            </a:r>
          </a:p>
        </p:txBody>
      </p:sp>
      <p:sp>
        <p:nvSpPr>
          <p:cNvPr id="19" name="左大括号 18"/>
          <p:cNvSpPr/>
          <p:nvPr/>
        </p:nvSpPr>
        <p:spPr>
          <a:xfrm>
            <a:off x="5591810" y="2667635"/>
            <a:ext cx="217170" cy="1295400"/>
          </a:xfrm>
          <a:prstGeom prst="leftBrace">
            <a:avLst>
              <a:gd name="adj1" fmla="val 2558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8.3  MySQL</a:t>
            </a:r>
            <a:r>
              <a:rPr lang="zh-CN" altLang="en-US" dirty="0">
                <a:sym typeface="+mn-ea"/>
              </a:rPr>
              <a:t>权限系统</a:t>
            </a:r>
            <a:endParaRPr lang="zh-CN" altLang="en-US" dirty="0"/>
          </a:p>
        </p:txBody>
      </p:sp>
      <p:sp>
        <p:nvSpPr>
          <p:cNvPr id="5" name="内容占位符 4"/>
          <p:cNvSpPr>
            <a:spLocks noGrp="1"/>
          </p:cNvSpPr>
          <p:nvPr>
            <p:ph idx="1"/>
          </p:nvPr>
        </p:nvSpPr>
        <p:spPr>
          <a:xfrm>
            <a:off x="612775" y="1064260"/>
            <a:ext cx="5032375" cy="765175"/>
          </a:xfrm>
        </p:spPr>
        <p:txBody>
          <a:bodyPr>
            <a:noAutofit/>
          </a:bodyPr>
          <a:lstStyle/>
          <a:p>
            <a:pPr marL="0" indent="0" algn="l">
              <a:lnSpc>
                <a:spcPct val="150000"/>
              </a:lnSpc>
              <a:buNone/>
            </a:pPr>
            <a:r>
              <a:rPr dirty="0"/>
              <a:t>表级权限表mysql.tables_priv</a:t>
            </a:r>
            <a:r>
              <a:rPr lang="zh-CN" dirty="0"/>
              <a:t>：</a:t>
            </a:r>
            <a:endParaRPr lang="en-US" altLang="zh-CN" dirty="0"/>
          </a:p>
        </p:txBody>
      </p:sp>
      <p:sp>
        <p:nvSpPr>
          <p:cNvPr id="33" name="内容占位符 4"/>
          <p:cNvSpPr>
            <a:spLocks noGrp="1"/>
          </p:cNvSpPr>
          <p:nvPr/>
        </p:nvSpPr>
        <p:spPr>
          <a:xfrm>
            <a:off x="2136775" y="2858770"/>
            <a:ext cx="32677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用户信息相关字段</a:t>
            </a:r>
          </a:p>
        </p:txBody>
      </p:sp>
      <p:sp>
        <p:nvSpPr>
          <p:cNvPr id="2" name="内容占位符 4"/>
          <p:cNvSpPr>
            <a:spLocks noGrp="1"/>
          </p:cNvSpPr>
          <p:nvPr/>
        </p:nvSpPr>
        <p:spPr>
          <a:xfrm>
            <a:off x="5843905" y="192468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主机字段Host</a:t>
            </a:r>
          </a:p>
        </p:txBody>
      </p:sp>
      <p:sp>
        <p:nvSpPr>
          <p:cNvPr id="3" name="内容占位符 4"/>
          <p:cNvSpPr>
            <a:spLocks noGrp="1"/>
          </p:cNvSpPr>
          <p:nvPr/>
        </p:nvSpPr>
        <p:spPr>
          <a:xfrm>
            <a:off x="5843905" y="253428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使用的数据库字段Db</a:t>
            </a:r>
          </a:p>
        </p:txBody>
      </p:sp>
      <p:sp>
        <p:nvSpPr>
          <p:cNvPr id="6" name="内容占位符 4"/>
          <p:cNvSpPr>
            <a:spLocks noGrp="1"/>
          </p:cNvSpPr>
          <p:nvPr/>
        </p:nvSpPr>
        <p:spPr>
          <a:xfrm>
            <a:off x="5843905" y="314388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用户名字段User</a:t>
            </a:r>
          </a:p>
        </p:txBody>
      </p:sp>
      <p:sp>
        <p:nvSpPr>
          <p:cNvPr id="7" name="内容占位符 4"/>
          <p:cNvSpPr>
            <a:spLocks noGrp="1"/>
          </p:cNvSpPr>
          <p:nvPr/>
        </p:nvSpPr>
        <p:spPr>
          <a:xfrm>
            <a:off x="2141220" y="4896485"/>
            <a:ext cx="326326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表级别权限信息相关字段</a:t>
            </a:r>
          </a:p>
        </p:txBody>
      </p:sp>
      <p:sp>
        <p:nvSpPr>
          <p:cNvPr id="17" name="内容占位符 4"/>
          <p:cNvSpPr>
            <a:spLocks noGrp="1"/>
          </p:cNvSpPr>
          <p:nvPr/>
        </p:nvSpPr>
        <p:spPr>
          <a:xfrm>
            <a:off x="5843905" y="4439285"/>
            <a:ext cx="300164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Table_priv</a:t>
            </a:r>
          </a:p>
        </p:txBody>
      </p:sp>
      <p:sp>
        <p:nvSpPr>
          <p:cNvPr id="19" name="左大括号 18"/>
          <p:cNvSpPr/>
          <p:nvPr/>
        </p:nvSpPr>
        <p:spPr>
          <a:xfrm>
            <a:off x="5515610" y="2153285"/>
            <a:ext cx="217170" cy="1867535"/>
          </a:xfrm>
          <a:prstGeom prst="leftBrace">
            <a:avLst>
              <a:gd name="adj1" fmla="val 2558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8" name="内容占位符 4"/>
          <p:cNvSpPr>
            <a:spLocks noGrp="1"/>
          </p:cNvSpPr>
          <p:nvPr/>
        </p:nvSpPr>
        <p:spPr>
          <a:xfrm>
            <a:off x="5843905" y="3753485"/>
            <a:ext cx="30010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表名称Table_name字段</a:t>
            </a:r>
          </a:p>
        </p:txBody>
      </p:sp>
      <p:sp>
        <p:nvSpPr>
          <p:cNvPr id="9" name="内容占位符 4"/>
          <p:cNvSpPr>
            <a:spLocks noGrp="1"/>
          </p:cNvSpPr>
          <p:nvPr/>
        </p:nvSpPr>
        <p:spPr>
          <a:xfrm>
            <a:off x="5870575" y="5258435"/>
            <a:ext cx="300164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Column_priv</a:t>
            </a:r>
          </a:p>
        </p:txBody>
      </p:sp>
      <p:sp>
        <p:nvSpPr>
          <p:cNvPr id="10" name="左大括号 9"/>
          <p:cNvSpPr/>
          <p:nvPr/>
        </p:nvSpPr>
        <p:spPr>
          <a:xfrm>
            <a:off x="5515610" y="4515485"/>
            <a:ext cx="217170" cy="1130300"/>
          </a:xfrm>
          <a:prstGeom prst="leftBrace">
            <a:avLst>
              <a:gd name="adj1" fmla="val 2558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8.3  MySQL</a:t>
            </a:r>
            <a:r>
              <a:rPr lang="zh-CN" altLang="en-US" dirty="0">
                <a:sym typeface="+mn-ea"/>
              </a:rPr>
              <a:t>权限系统</a:t>
            </a:r>
            <a:endParaRPr lang="zh-CN" altLang="en-US" dirty="0"/>
          </a:p>
        </p:txBody>
      </p:sp>
      <p:sp>
        <p:nvSpPr>
          <p:cNvPr id="5" name="内容占位符 4"/>
          <p:cNvSpPr>
            <a:spLocks noGrp="1"/>
          </p:cNvSpPr>
          <p:nvPr>
            <p:ph idx="1"/>
          </p:nvPr>
        </p:nvSpPr>
        <p:spPr>
          <a:xfrm>
            <a:off x="612775" y="1064260"/>
            <a:ext cx="5032375" cy="765175"/>
          </a:xfrm>
        </p:spPr>
        <p:txBody>
          <a:bodyPr>
            <a:noAutofit/>
          </a:bodyPr>
          <a:lstStyle/>
          <a:p>
            <a:pPr marL="0" indent="0" algn="l">
              <a:lnSpc>
                <a:spcPct val="150000"/>
              </a:lnSpc>
              <a:buNone/>
            </a:pPr>
            <a:r>
              <a:rPr dirty="0"/>
              <a:t>字段级权限表mysql.columns_priv</a:t>
            </a:r>
            <a:r>
              <a:rPr lang="zh-CN" dirty="0"/>
              <a:t>：</a:t>
            </a:r>
            <a:endParaRPr lang="en-US" altLang="zh-CN" dirty="0"/>
          </a:p>
        </p:txBody>
      </p:sp>
      <p:sp>
        <p:nvSpPr>
          <p:cNvPr id="33" name="内容占位符 4"/>
          <p:cNvSpPr>
            <a:spLocks noGrp="1"/>
          </p:cNvSpPr>
          <p:nvPr/>
        </p:nvSpPr>
        <p:spPr>
          <a:xfrm>
            <a:off x="2136775" y="2858770"/>
            <a:ext cx="32677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用户信息相关字段</a:t>
            </a:r>
          </a:p>
        </p:txBody>
      </p:sp>
      <p:sp>
        <p:nvSpPr>
          <p:cNvPr id="2" name="内容占位符 4"/>
          <p:cNvSpPr>
            <a:spLocks noGrp="1"/>
          </p:cNvSpPr>
          <p:nvPr/>
        </p:nvSpPr>
        <p:spPr>
          <a:xfrm>
            <a:off x="5843905" y="1924685"/>
            <a:ext cx="473646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主机字段Host</a:t>
            </a:r>
          </a:p>
        </p:txBody>
      </p:sp>
      <p:sp>
        <p:nvSpPr>
          <p:cNvPr id="3" name="内容占位符 4"/>
          <p:cNvSpPr>
            <a:spLocks noGrp="1"/>
          </p:cNvSpPr>
          <p:nvPr/>
        </p:nvSpPr>
        <p:spPr>
          <a:xfrm>
            <a:off x="5843905" y="2534285"/>
            <a:ext cx="472884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使用的数据库字段Db</a:t>
            </a:r>
          </a:p>
        </p:txBody>
      </p:sp>
      <p:sp>
        <p:nvSpPr>
          <p:cNvPr id="6" name="内容占位符 4"/>
          <p:cNvSpPr>
            <a:spLocks noGrp="1"/>
          </p:cNvSpPr>
          <p:nvPr/>
        </p:nvSpPr>
        <p:spPr>
          <a:xfrm>
            <a:off x="5843905" y="3134360"/>
            <a:ext cx="472948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用户名字段User</a:t>
            </a:r>
          </a:p>
        </p:txBody>
      </p:sp>
      <p:sp>
        <p:nvSpPr>
          <p:cNvPr id="7" name="内容占位符 4"/>
          <p:cNvSpPr>
            <a:spLocks noGrp="1"/>
          </p:cNvSpPr>
          <p:nvPr/>
        </p:nvSpPr>
        <p:spPr>
          <a:xfrm>
            <a:off x="2141220" y="5582285"/>
            <a:ext cx="403034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字段级别权限信息相关字段</a:t>
            </a:r>
          </a:p>
        </p:txBody>
      </p:sp>
      <p:sp>
        <p:nvSpPr>
          <p:cNvPr id="19" name="左大括号 18"/>
          <p:cNvSpPr/>
          <p:nvPr/>
        </p:nvSpPr>
        <p:spPr>
          <a:xfrm>
            <a:off x="5515610" y="2153285"/>
            <a:ext cx="217170" cy="1867535"/>
          </a:xfrm>
          <a:prstGeom prst="leftBrace">
            <a:avLst>
              <a:gd name="adj1" fmla="val 2558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8" name="内容占位符 4"/>
          <p:cNvSpPr>
            <a:spLocks noGrp="1"/>
          </p:cNvSpPr>
          <p:nvPr/>
        </p:nvSpPr>
        <p:spPr>
          <a:xfrm>
            <a:off x="5871210" y="3753485"/>
            <a:ext cx="469773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表名称Table_name字段</a:t>
            </a:r>
          </a:p>
        </p:txBody>
      </p:sp>
      <p:sp>
        <p:nvSpPr>
          <p:cNvPr id="11" name="内容占位符 4"/>
          <p:cNvSpPr>
            <a:spLocks noGrp="1"/>
          </p:cNvSpPr>
          <p:nvPr/>
        </p:nvSpPr>
        <p:spPr>
          <a:xfrm>
            <a:off x="5843905" y="4363085"/>
            <a:ext cx="47390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授予使用表中某一字段Column_name</a:t>
            </a:r>
          </a:p>
        </p:txBody>
      </p:sp>
      <p:sp>
        <p:nvSpPr>
          <p:cNvPr id="12" name="内容占位符 4"/>
          <p:cNvSpPr>
            <a:spLocks noGrp="1"/>
          </p:cNvSpPr>
          <p:nvPr/>
        </p:nvSpPr>
        <p:spPr>
          <a:xfrm>
            <a:off x="2136775" y="4953635"/>
            <a:ext cx="403542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授权信息相关字段</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8.3  MySQL</a:t>
            </a:r>
            <a:r>
              <a:rPr lang="zh-CN" altLang="en-US" dirty="0">
                <a:sym typeface="+mn-ea"/>
              </a:rPr>
              <a:t>权限系统</a:t>
            </a:r>
            <a:endParaRPr lang="zh-CN" altLang="en-US" dirty="0"/>
          </a:p>
        </p:txBody>
      </p:sp>
      <p:sp>
        <p:nvSpPr>
          <p:cNvPr id="5" name="内容占位符 4"/>
          <p:cNvSpPr>
            <a:spLocks noGrp="1"/>
          </p:cNvSpPr>
          <p:nvPr>
            <p:ph idx="1"/>
          </p:nvPr>
        </p:nvSpPr>
        <p:spPr>
          <a:xfrm>
            <a:off x="612775" y="1064260"/>
            <a:ext cx="5032375" cy="765175"/>
          </a:xfrm>
        </p:spPr>
        <p:txBody>
          <a:bodyPr>
            <a:noAutofit/>
          </a:bodyPr>
          <a:lstStyle/>
          <a:p>
            <a:pPr marL="0" indent="0" algn="l">
              <a:lnSpc>
                <a:spcPct val="150000"/>
              </a:lnSpc>
              <a:buNone/>
            </a:pPr>
            <a:r>
              <a:rPr dirty="0"/>
              <a:t>存储过程或函数级权限表mysql.procs_priv</a:t>
            </a:r>
            <a:r>
              <a:rPr lang="zh-CN" dirty="0"/>
              <a:t>：</a:t>
            </a:r>
            <a:endParaRPr lang="en-US" altLang="zh-CN" dirty="0"/>
          </a:p>
        </p:txBody>
      </p:sp>
      <p:sp>
        <p:nvSpPr>
          <p:cNvPr id="33" name="内容占位符 4"/>
          <p:cNvSpPr>
            <a:spLocks noGrp="1"/>
          </p:cNvSpPr>
          <p:nvPr/>
        </p:nvSpPr>
        <p:spPr>
          <a:xfrm>
            <a:off x="2136775" y="2858770"/>
            <a:ext cx="326771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用户信息相关字段</a:t>
            </a:r>
          </a:p>
        </p:txBody>
      </p:sp>
      <p:sp>
        <p:nvSpPr>
          <p:cNvPr id="2" name="内容占位符 4"/>
          <p:cNvSpPr>
            <a:spLocks noGrp="1"/>
          </p:cNvSpPr>
          <p:nvPr/>
        </p:nvSpPr>
        <p:spPr>
          <a:xfrm>
            <a:off x="5843905" y="1924685"/>
            <a:ext cx="61106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主机字段Host</a:t>
            </a:r>
          </a:p>
        </p:txBody>
      </p:sp>
      <p:sp>
        <p:nvSpPr>
          <p:cNvPr id="3" name="内容占位符 4"/>
          <p:cNvSpPr>
            <a:spLocks noGrp="1"/>
          </p:cNvSpPr>
          <p:nvPr/>
        </p:nvSpPr>
        <p:spPr>
          <a:xfrm>
            <a:off x="5843905" y="2534285"/>
            <a:ext cx="612711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使用的数据库字段Db</a:t>
            </a:r>
          </a:p>
        </p:txBody>
      </p:sp>
      <p:sp>
        <p:nvSpPr>
          <p:cNvPr id="6" name="内容占位符 4"/>
          <p:cNvSpPr>
            <a:spLocks noGrp="1"/>
          </p:cNvSpPr>
          <p:nvPr/>
        </p:nvSpPr>
        <p:spPr>
          <a:xfrm>
            <a:off x="5843905" y="3134360"/>
            <a:ext cx="612711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用户名字段User</a:t>
            </a:r>
          </a:p>
        </p:txBody>
      </p:sp>
      <p:sp>
        <p:nvSpPr>
          <p:cNvPr id="7" name="内容占位符 4"/>
          <p:cNvSpPr>
            <a:spLocks noGrp="1"/>
          </p:cNvSpPr>
          <p:nvPr/>
        </p:nvSpPr>
        <p:spPr>
          <a:xfrm>
            <a:off x="2141855" y="5544185"/>
            <a:ext cx="548259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存储过程或函数级别具体权限相关字段</a:t>
            </a:r>
          </a:p>
        </p:txBody>
      </p:sp>
      <p:sp>
        <p:nvSpPr>
          <p:cNvPr id="19" name="左大括号 18"/>
          <p:cNvSpPr/>
          <p:nvPr/>
        </p:nvSpPr>
        <p:spPr>
          <a:xfrm>
            <a:off x="5515610" y="2153285"/>
            <a:ext cx="217170" cy="1867535"/>
          </a:xfrm>
          <a:prstGeom prst="leftBrace">
            <a:avLst>
              <a:gd name="adj1" fmla="val 255833"/>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8" name="内容占位符 4"/>
          <p:cNvSpPr>
            <a:spLocks noGrp="1"/>
          </p:cNvSpPr>
          <p:nvPr/>
        </p:nvSpPr>
        <p:spPr>
          <a:xfrm>
            <a:off x="5871210" y="3753485"/>
            <a:ext cx="609917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授权使用的存储过程或函数名称Routine_name字段</a:t>
            </a:r>
          </a:p>
        </p:txBody>
      </p:sp>
      <p:sp>
        <p:nvSpPr>
          <p:cNvPr id="11" name="内容占位符 4"/>
          <p:cNvSpPr>
            <a:spLocks noGrp="1"/>
          </p:cNvSpPr>
          <p:nvPr/>
        </p:nvSpPr>
        <p:spPr>
          <a:xfrm>
            <a:off x="5843905" y="4363085"/>
            <a:ext cx="612140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授予使用存储过程或函数类型Routine_type字段</a:t>
            </a:r>
          </a:p>
        </p:txBody>
      </p:sp>
      <p:sp>
        <p:nvSpPr>
          <p:cNvPr id="12" name="内容占位符 4"/>
          <p:cNvSpPr>
            <a:spLocks noGrp="1"/>
          </p:cNvSpPr>
          <p:nvPr/>
        </p:nvSpPr>
        <p:spPr>
          <a:xfrm>
            <a:off x="2136775" y="4953635"/>
            <a:ext cx="548767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授权信息相关字段</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6" name="Freeform 15"/>
          <p:cNvSpPr/>
          <p:nvPr/>
        </p:nvSpPr>
        <p:spPr bwMode="auto">
          <a:xfrm>
            <a:off x="5651462" y="4712487"/>
            <a:ext cx="1241976" cy="1240742"/>
          </a:xfrm>
          <a:custGeom>
            <a:avLst/>
            <a:gdLst>
              <a:gd name="T0" fmla="*/ 189 w 674"/>
              <a:gd name="T1" fmla="*/ 593 h 674"/>
              <a:gd name="T2" fmla="*/ 82 w 674"/>
              <a:gd name="T3" fmla="*/ 190 h 674"/>
              <a:gd name="T4" fmla="*/ 485 w 674"/>
              <a:gd name="T5" fmla="*/ 82 h 674"/>
              <a:gd name="T6" fmla="*/ 592 w 674"/>
              <a:gd name="T7" fmla="*/ 485 h 674"/>
              <a:gd name="T8" fmla="*/ 189 w 674"/>
              <a:gd name="T9" fmla="*/ 593 h 674"/>
            </a:gdLst>
            <a:ahLst/>
            <a:cxnLst>
              <a:cxn ang="0">
                <a:pos x="T0" y="T1"/>
              </a:cxn>
              <a:cxn ang="0">
                <a:pos x="T2" y="T3"/>
              </a:cxn>
              <a:cxn ang="0">
                <a:pos x="T4" y="T5"/>
              </a:cxn>
              <a:cxn ang="0">
                <a:pos x="T6" y="T7"/>
              </a:cxn>
              <a:cxn ang="0">
                <a:pos x="T8" y="T9"/>
              </a:cxn>
            </a:cxnLst>
            <a:rect l="0" t="0" r="r" b="b"/>
            <a:pathLst>
              <a:path w="674" h="674">
                <a:moveTo>
                  <a:pt x="189" y="593"/>
                </a:moveTo>
                <a:cubicBezTo>
                  <a:pt x="48" y="511"/>
                  <a:pt x="0" y="331"/>
                  <a:pt x="82" y="190"/>
                </a:cubicBezTo>
                <a:cubicBezTo>
                  <a:pt x="163" y="49"/>
                  <a:pt x="344" y="0"/>
                  <a:pt x="485" y="82"/>
                </a:cubicBezTo>
                <a:cubicBezTo>
                  <a:pt x="626" y="164"/>
                  <a:pt x="674" y="344"/>
                  <a:pt x="592" y="485"/>
                </a:cubicBezTo>
                <a:cubicBezTo>
                  <a:pt x="511" y="626"/>
                  <a:pt x="330" y="674"/>
                  <a:pt x="189" y="593"/>
                </a:cubicBez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grpSp>
        <p:nvGrpSpPr>
          <p:cNvPr id="7" name="Group 11"/>
          <p:cNvGrpSpPr/>
          <p:nvPr/>
        </p:nvGrpSpPr>
        <p:grpSpPr>
          <a:xfrm>
            <a:off x="3603312" y="1398905"/>
            <a:ext cx="4795066" cy="4179015"/>
            <a:chOff x="3698467" y="1814286"/>
            <a:chExt cx="4795066" cy="4179015"/>
          </a:xfrm>
        </p:grpSpPr>
        <p:sp>
          <p:nvSpPr>
            <p:cNvPr id="8" name="Freeform 5"/>
            <p:cNvSpPr/>
            <p:nvPr/>
          </p:nvSpPr>
          <p:spPr bwMode="auto">
            <a:xfrm>
              <a:off x="5173777" y="2930336"/>
              <a:ext cx="2095064" cy="2093828"/>
            </a:xfrm>
            <a:custGeom>
              <a:avLst/>
              <a:gdLst>
                <a:gd name="T0" fmla="*/ 319 w 1137"/>
                <a:gd name="T1" fmla="*/ 999 h 1137"/>
                <a:gd name="T2" fmla="*/ 138 w 1137"/>
                <a:gd name="T3" fmla="*/ 319 h 1137"/>
                <a:gd name="T4" fmla="*/ 818 w 1137"/>
                <a:gd name="T5" fmla="*/ 137 h 1137"/>
                <a:gd name="T6" fmla="*/ 1000 w 1137"/>
                <a:gd name="T7" fmla="*/ 818 h 1137"/>
                <a:gd name="T8" fmla="*/ 319 w 1137"/>
                <a:gd name="T9" fmla="*/ 999 h 1137"/>
              </a:gdLst>
              <a:ahLst/>
              <a:cxnLst>
                <a:cxn ang="0">
                  <a:pos x="T0" y="T1"/>
                </a:cxn>
                <a:cxn ang="0">
                  <a:pos x="T2" y="T3"/>
                </a:cxn>
                <a:cxn ang="0">
                  <a:pos x="T4" y="T5"/>
                </a:cxn>
                <a:cxn ang="0">
                  <a:pos x="T6" y="T7"/>
                </a:cxn>
                <a:cxn ang="0">
                  <a:pos x="T8" y="T9"/>
                </a:cxn>
              </a:cxnLst>
              <a:rect l="0" t="0" r="r" b="b"/>
              <a:pathLst>
                <a:path w="1137" h="1137">
                  <a:moveTo>
                    <a:pt x="319" y="999"/>
                  </a:moveTo>
                  <a:cubicBezTo>
                    <a:pt x="81" y="862"/>
                    <a:pt x="0" y="557"/>
                    <a:pt x="138" y="319"/>
                  </a:cubicBezTo>
                  <a:cubicBezTo>
                    <a:pt x="275" y="81"/>
                    <a:pt x="580" y="0"/>
                    <a:pt x="818" y="137"/>
                  </a:cubicBezTo>
                  <a:cubicBezTo>
                    <a:pt x="1056" y="275"/>
                    <a:pt x="1137" y="580"/>
                    <a:pt x="1000" y="818"/>
                  </a:cubicBezTo>
                  <a:cubicBezTo>
                    <a:pt x="862" y="1056"/>
                    <a:pt x="557" y="1137"/>
                    <a:pt x="319" y="999"/>
                  </a:cubicBez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2" name="Freeform 6"/>
            <p:cNvSpPr/>
            <p:nvPr/>
          </p:nvSpPr>
          <p:spPr bwMode="auto">
            <a:xfrm>
              <a:off x="6809581" y="4136510"/>
              <a:ext cx="661729" cy="708642"/>
            </a:xfrm>
            <a:custGeom>
              <a:avLst/>
              <a:gdLst>
                <a:gd name="T0" fmla="*/ 171 w 359"/>
                <a:gd name="T1" fmla="*/ 0 h 385"/>
                <a:gd name="T2" fmla="*/ 359 w 359"/>
                <a:gd name="T3" fmla="*/ 148 h 385"/>
                <a:gd name="T4" fmla="*/ 222 w 359"/>
                <a:gd name="T5" fmla="*/ 385 h 385"/>
                <a:gd name="T6" fmla="*/ 0 w 359"/>
                <a:gd name="T7" fmla="*/ 295 h 385"/>
                <a:gd name="T8" fmla="*/ 171 w 359"/>
                <a:gd name="T9" fmla="*/ 0 h 385"/>
              </a:gdLst>
              <a:ahLst/>
              <a:cxnLst>
                <a:cxn ang="0">
                  <a:pos x="T0" y="T1"/>
                </a:cxn>
                <a:cxn ang="0">
                  <a:pos x="T2" y="T3"/>
                </a:cxn>
                <a:cxn ang="0">
                  <a:pos x="T4" y="T5"/>
                </a:cxn>
                <a:cxn ang="0">
                  <a:pos x="T6" y="T7"/>
                </a:cxn>
                <a:cxn ang="0">
                  <a:pos x="T8" y="T9"/>
                </a:cxn>
              </a:cxnLst>
              <a:rect l="0" t="0" r="r" b="b"/>
              <a:pathLst>
                <a:path w="359" h="385">
                  <a:moveTo>
                    <a:pt x="171" y="0"/>
                  </a:moveTo>
                  <a:cubicBezTo>
                    <a:pt x="145" y="143"/>
                    <a:pt x="282" y="202"/>
                    <a:pt x="359" y="148"/>
                  </a:cubicBezTo>
                  <a:cubicBezTo>
                    <a:pt x="222" y="385"/>
                    <a:pt x="222" y="385"/>
                    <a:pt x="222" y="385"/>
                  </a:cubicBezTo>
                  <a:cubicBezTo>
                    <a:pt x="231" y="291"/>
                    <a:pt x="112" y="202"/>
                    <a:pt x="0" y="295"/>
                  </a:cubicBezTo>
                  <a:lnTo>
                    <a:pt x="171" y="0"/>
                  </a:ln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3" name="Freeform 7"/>
            <p:cNvSpPr/>
            <p:nvPr/>
          </p:nvSpPr>
          <p:spPr bwMode="auto">
            <a:xfrm>
              <a:off x="5988592" y="4814288"/>
              <a:ext cx="609877" cy="466667"/>
            </a:xfrm>
            <a:custGeom>
              <a:avLst/>
              <a:gdLst>
                <a:gd name="T0" fmla="*/ 331 w 331"/>
                <a:gd name="T1" fmla="*/ 0 h 253"/>
                <a:gd name="T2" fmla="*/ 311 w 331"/>
                <a:gd name="T3" fmla="*/ 232 h 253"/>
                <a:gd name="T4" fmla="*/ 57 w 331"/>
                <a:gd name="T5" fmla="*/ 253 h 253"/>
                <a:gd name="T6" fmla="*/ 0 w 331"/>
                <a:gd name="T7" fmla="*/ 27 h 253"/>
                <a:gd name="T8" fmla="*/ 331 w 331"/>
                <a:gd name="T9" fmla="*/ 0 h 253"/>
              </a:gdLst>
              <a:ahLst/>
              <a:cxnLst>
                <a:cxn ang="0">
                  <a:pos x="T0" y="T1"/>
                </a:cxn>
                <a:cxn ang="0">
                  <a:pos x="T2" y="T3"/>
                </a:cxn>
                <a:cxn ang="0">
                  <a:pos x="T4" y="T5"/>
                </a:cxn>
                <a:cxn ang="0">
                  <a:pos x="T6" y="T7"/>
                </a:cxn>
                <a:cxn ang="0">
                  <a:pos x="T8" y="T9"/>
                </a:cxn>
              </a:cxnLst>
              <a:rect l="0" t="0" r="r" b="b"/>
              <a:pathLst>
                <a:path w="331" h="253">
                  <a:moveTo>
                    <a:pt x="331" y="0"/>
                  </a:moveTo>
                  <a:cubicBezTo>
                    <a:pt x="197" y="59"/>
                    <a:pt x="230" y="201"/>
                    <a:pt x="311" y="232"/>
                  </a:cubicBezTo>
                  <a:cubicBezTo>
                    <a:pt x="57" y="253"/>
                    <a:pt x="57" y="253"/>
                    <a:pt x="57" y="253"/>
                  </a:cubicBezTo>
                  <a:cubicBezTo>
                    <a:pt x="132" y="209"/>
                    <a:pt x="141" y="64"/>
                    <a:pt x="0" y="27"/>
                  </a:cubicBezTo>
                  <a:lnTo>
                    <a:pt x="331" y="0"/>
                  </a:ln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4" name="Freeform 8"/>
            <p:cNvSpPr/>
            <p:nvPr/>
          </p:nvSpPr>
          <p:spPr bwMode="auto">
            <a:xfrm>
              <a:off x="4962666" y="4189596"/>
              <a:ext cx="746915" cy="790124"/>
            </a:xfrm>
            <a:custGeom>
              <a:avLst/>
              <a:gdLst>
                <a:gd name="T0" fmla="*/ 406 w 406"/>
                <a:gd name="T1" fmla="*/ 298 h 429"/>
                <a:gd name="T2" fmla="*/ 189 w 406"/>
                <a:gd name="T3" fmla="*/ 429 h 429"/>
                <a:gd name="T4" fmla="*/ 0 w 406"/>
                <a:gd name="T5" fmla="*/ 157 h 429"/>
                <a:gd name="T6" fmla="*/ 199 w 406"/>
                <a:gd name="T7" fmla="*/ 0 h 429"/>
                <a:gd name="T8" fmla="*/ 406 w 406"/>
                <a:gd name="T9" fmla="*/ 298 h 429"/>
              </a:gdLst>
              <a:ahLst/>
              <a:cxnLst>
                <a:cxn ang="0">
                  <a:pos x="T0" y="T1"/>
                </a:cxn>
                <a:cxn ang="0">
                  <a:pos x="T2" y="T3"/>
                </a:cxn>
                <a:cxn ang="0">
                  <a:pos x="T4" y="T5"/>
                </a:cxn>
                <a:cxn ang="0">
                  <a:pos x="T6" y="T7"/>
                </a:cxn>
                <a:cxn ang="0">
                  <a:pos x="T8" y="T9"/>
                </a:cxn>
              </a:cxnLst>
              <a:rect l="0" t="0" r="r" b="b"/>
              <a:pathLst>
                <a:path w="406" h="429">
                  <a:moveTo>
                    <a:pt x="406" y="298"/>
                  </a:moveTo>
                  <a:cubicBezTo>
                    <a:pt x="291" y="220"/>
                    <a:pt x="166" y="316"/>
                    <a:pt x="189" y="429"/>
                  </a:cubicBezTo>
                  <a:cubicBezTo>
                    <a:pt x="0" y="157"/>
                    <a:pt x="0" y="157"/>
                    <a:pt x="0" y="157"/>
                  </a:cubicBezTo>
                  <a:cubicBezTo>
                    <a:pt x="98" y="218"/>
                    <a:pt x="231" y="135"/>
                    <a:pt x="199" y="0"/>
                  </a:cubicBezTo>
                  <a:lnTo>
                    <a:pt x="406" y="298"/>
                  </a:ln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5" name="Freeform 9"/>
            <p:cNvSpPr/>
            <p:nvPr/>
          </p:nvSpPr>
          <p:spPr bwMode="auto">
            <a:xfrm>
              <a:off x="4913283" y="3297003"/>
              <a:ext cx="604939" cy="681482"/>
            </a:xfrm>
            <a:custGeom>
              <a:avLst/>
              <a:gdLst>
                <a:gd name="T0" fmla="*/ 213 w 329"/>
                <a:gd name="T1" fmla="*/ 370 h 370"/>
                <a:gd name="T2" fmla="*/ 0 w 329"/>
                <a:gd name="T3" fmla="*/ 257 h 370"/>
                <a:gd name="T4" fmla="*/ 93 w 329"/>
                <a:gd name="T5" fmla="*/ 0 h 370"/>
                <a:gd name="T6" fmla="*/ 329 w 329"/>
                <a:gd name="T7" fmla="*/ 50 h 370"/>
                <a:gd name="T8" fmla="*/ 213 w 329"/>
                <a:gd name="T9" fmla="*/ 370 h 370"/>
              </a:gdLst>
              <a:ahLst/>
              <a:cxnLst>
                <a:cxn ang="0">
                  <a:pos x="T0" y="T1"/>
                </a:cxn>
                <a:cxn ang="0">
                  <a:pos x="T2" y="T3"/>
                </a:cxn>
                <a:cxn ang="0">
                  <a:pos x="T4" y="T5"/>
                </a:cxn>
                <a:cxn ang="0">
                  <a:pos x="T6" y="T7"/>
                </a:cxn>
                <a:cxn ang="0">
                  <a:pos x="T8" y="T9"/>
                </a:cxn>
              </a:cxnLst>
              <a:rect l="0" t="0" r="r" b="b"/>
              <a:pathLst>
                <a:path w="329" h="370">
                  <a:moveTo>
                    <a:pt x="213" y="370"/>
                  </a:moveTo>
                  <a:cubicBezTo>
                    <a:pt x="212" y="224"/>
                    <a:pt x="67" y="190"/>
                    <a:pt x="0" y="257"/>
                  </a:cubicBezTo>
                  <a:cubicBezTo>
                    <a:pt x="93" y="0"/>
                    <a:pt x="93" y="0"/>
                    <a:pt x="93" y="0"/>
                  </a:cubicBezTo>
                  <a:cubicBezTo>
                    <a:pt x="102" y="94"/>
                    <a:pt x="235" y="162"/>
                    <a:pt x="329" y="50"/>
                  </a:cubicBezTo>
                  <a:lnTo>
                    <a:pt x="213" y="370"/>
                  </a:ln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6" name="Freeform 10"/>
            <p:cNvSpPr/>
            <p:nvPr/>
          </p:nvSpPr>
          <p:spPr bwMode="auto">
            <a:xfrm>
              <a:off x="5678716" y="2676015"/>
              <a:ext cx="591359" cy="541976"/>
            </a:xfrm>
            <a:custGeom>
              <a:avLst/>
              <a:gdLst>
                <a:gd name="T0" fmla="*/ 15 w 321"/>
                <a:gd name="T1" fmla="*/ 294 h 294"/>
                <a:gd name="T2" fmla="*/ 0 w 321"/>
                <a:gd name="T3" fmla="*/ 59 h 294"/>
                <a:gd name="T4" fmla="*/ 213 w 321"/>
                <a:gd name="T5" fmla="*/ 0 h 294"/>
                <a:gd name="T6" fmla="*/ 321 w 321"/>
                <a:gd name="T7" fmla="*/ 209 h 294"/>
                <a:gd name="T8" fmla="*/ 15 w 321"/>
                <a:gd name="T9" fmla="*/ 294 h 294"/>
              </a:gdLst>
              <a:ahLst/>
              <a:cxnLst>
                <a:cxn ang="0">
                  <a:pos x="T0" y="T1"/>
                </a:cxn>
                <a:cxn ang="0">
                  <a:pos x="T2" y="T3"/>
                </a:cxn>
                <a:cxn ang="0">
                  <a:pos x="T4" y="T5"/>
                </a:cxn>
                <a:cxn ang="0">
                  <a:pos x="T6" y="T7"/>
                </a:cxn>
                <a:cxn ang="0">
                  <a:pos x="T8" y="T9"/>
                </a:cxn>
              </a:cxnLst>
              <a:rect l="0" t="0" r="r" b="b"/>
              <a:pathLst>
                <a:path w="321" h="294">
                  <a:moveTo>
                    <a:pt x="15" y="294"/>
                  </a:moveTo>
                  <a:cubicBezTo>
                    <a:pt x="146" y="206"/>
                    <a:pt x="77" y="74"/>
                    <a:pt x="0" y="59"/>
                  </a:cubicBezTo>
                  <a:cubicBezTo>
                    <a:pt x="213" y="0"/>
                    <a:pt x="213" y="0"/>
                    <a:pt x="213" y="0"/>
                  </a:cubicBezTo>
                  <a:cubicBezTo>
                    <a:pt x="155" y="52"/>
                    <a:pt x="164" y="201"/>
                    <a:pt x="321" y="209"/>
                  </a:cubicBezTo>
                  <a:lnTo>
                    <a:pt x="15" y="294"/>
                  </a:ln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7" name="Freeform 11"/>
            <p:cNvSpPr/>
            <p:nvPr/>
          </p:nvSpPr>
          <p:spPr bwMode="auto">
            <a:xfrm>
              <a:off x="3814516" y="2672312"/>
              <a:ext cx="1355557" cy="1355556"/>
            </a:xfrm>
            <a:custGeom>
              <a:avLst/>
              <a:gdLst>
                <a:gd name="T0" fmla="*/ 206 w 736"/>
                <a:gd name="T1" fmla="*/ 647 h 736"/>
                <a:gd name="T2" fmla="*/ 89 w 736"/>
                <a:gd name="T3" fmla="*/ 207 h 736"/>
                <a:gd name="T4" fmla="*/ 529 w 736"/>
                <a:gd name="T5" fmla="*/ 89 h 736"/>
                <a:gd name="T6" fmla="*/ 647 w 736"/>
                <a:gd name="T7" fmla="*/ 530 h 736"/>
                <a:gd name="T8" fmla="*/ 206 w 736"/>
                <a:gd name="T9" fmla="*/ 647 h 736"/>
              </a:gdLst>
              <a:ahLst/>
              <a:cxnLst>
                <a:cxn ang="0">
                  <a:pos x="T0" y="T1"/>
                </a:cxn>
                <a:cxn ang="0">
                  <a:pos x="T2" y="T3"/>
                </a:cxn>
                <a:cxn ang="0">
                  <a:pos x="T4" y="T5"/>
                </a:cxn>
                <a:cxn ang="0">
                  <a:pos x="T6" y="T7"/>
                </a:cxn>
                <a:cxn ang="0">
                  <a:pos x="T8" y="T9"/>
                </a:cxn>
              </a:cxnLst>
              <a:rect l="0" t="0" r="r" b="b"/>
              <a:pathLst>
                <a:path w="736" h="736">
                  <a:moveTo>
                    <a:pt x="206" y="647"/>
                  </a:moveTo>
                  <a:cubicBezTo>
                    <a:pt x="52" y="558"/>
                    <a:pt x="0" y="361"/>
                    <a:pt x="89" y="207"/>
                  </a:cubicBezTo>
                  <a:cubicBezTo>
                    <a:pt x="178" y="52"/>
                    <a:pt x="375" y="0"/>
                    <a:pt x="529" y="89"/>
                  </a:cubicBezTo>
                  <a:cubicBezTo>
                    <a:pt x="684" y="178"/>
                    <a:pt x="736" y="375"/>
                    <a:pt x="647" y="530"/>
                  </a:cubicBezTo>
                  <a:cubicBezTo>
                    <a:pt x="558" y="684"/>
                    <a:pt x="361" y="736"/>
                    <a:pt x="206" y="647"/>
                  </a:cubicBez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8" name="Freeform 13"/>
            <p:cNvSpPr/>
            <p:nvPr/>
          </p:nvSpPr>
          <p:spPr bwMode="auto">
            <a:xfrm>
              <a:off x="5244147" y="1814286"/>
              <a:ext cx="1044445" cy="1044445"/>
            </a:xfrm>
            <a:custGeom>
              <a:avLst/>
              <a:gdLst>
                <a:gd name="T0" fmla="*/ 159 w 567"/>
                <a:gd name="T1" fmla="*/ 498 h 567"/>
                <a:gd name="T2" fmla="*/ 68 w 567"/>
                <a:gd name="T3" fmla="*/ 159 h 567"/>
                <a:gd name="T4" fmla="*/ 407 w 567"/>
                <a:gd name="T5" fmla="*/ 68 h 567"/>
                <a:gd name="T6" fmla="*/ 498 w 567"/>
                <a:gd name="T7" fmla="*/ 408 h 567"/>
                <a:gd name="T8" fmla="*/ 159 w 567"/>
                <a:gd name="T9" fmla="*/ 498 h 567"/>
              </a:gdLst>
              <a:ahLst/>
              <a:cxnLst>
                <a:cxn ang="0">
                  <a:pos x="T0" y="T1"/>
                </a:cxn>
                <a:cxn ang="0">
                  <a:pos x="T2" y="T3"/>
                </a:cxn>
                <a:cxn ang="0">
                  <a:pos x="T4" y="T5"/>
                </a:cxn>
                <a:cxn ang="0">
                  <a:pos x="T6" y="T7"/>
                </a:cxn>
                <a:cxn ang="0">
                  <a:pos x="T8" y="T9"/>
                </a:cxn>
              </a:cxnLst>
              <a:rect l="0" t="0" r="r" b="b"/>
              <a:pathLst>
                <a:path w="567" h="567">
                  <a:moveTo>
                    <a:pt x="159" y="498"/>
                  </a:moveTo>
                  <a:cubicBezTo>
                    <a:pt x="40" y="429"/>
                    <a:pt x="0" y="278"/>
                    <a:pt x="68" y="159"/>
                  </a:cubicBezTo>
                  <a:cubicBezTo>
                    <a:pt x="137" y="40"/>
                    <a:pt x="289" y="0"/>
                    <a:pt x="407" y="68"/>
                  </a:cubicBezTo>
                  <a:cubicBezTo>
                    <a:pt x="526" y="137"/>
                    <a:pt x="567" y="289"/>
                    <a:pt x="498" y="408"/>
                  </a:cubicBezTo>
                  <a:cubicBezTo>
                    <a:pt x="429" y="526"/>
                    <a:pt x="278" y="567"/>
                    <a:pt x="159" y="498"/>
                  </a:cubicBez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19" name="Freeform 17"/>
            <p:cNvSpPr/>
            <p:nvPr/>
          </p:nvSpPr>
          <p:spPr bwMode="auto">
            <a:xfrm>
              <a:off x="3698467" y="4259967"/>
              <a:ext cx="1733335" cy="1733334"/>
            </a:xfrm>
            <a:custGeom>
              <a:avLst/>
              <a:gdLst>
                <a:gd name="T0" fmla="*/ 264 w 941"/>
                <a:gd name="T1" fmla="*/ 827 h 941"/>
                <a:gd name="T2" fmla="*/ 114 w 941"/>
                <a:gd name="T3" fmla="*/ 264 h 941"/>
                <a:gd name="T4" fmla="*/ 677 w 941"/>
                <a:gd name="T5" fmla="*/ 114 h 941"/>
                <a:gd name="T6" fmla="*/ 827 w 941"/>
                <a:gd name="T7" fmla="*/ 676 h 941"/>
                <a:gd name="T8" fmla="*/ 264 w 941"/>
                <a:gd name="T9" fmla="*/ 827 h 941"/>
              </a:gdLst>
              <a:ahLst/>
              <a:cxnLst>
                <a:cxn ang="0">
                  <a:pos x="T0" y="T1"/>
                </a:cxn>
                <a:cxn ang="0">
                  <a:pos x="T2" y="T3"/>
                </a:cxn>
                <a:cxn ang="0">
                  <a:pos x="T4" y="T5"/>
                </a:cxn>
                <a:cxn ang="0">
                  <a:pos x="T6" y="T7"/>
                </a:cxn>
                <a:cxn ang="0">
                  <a:pos x="T8" y="T9"/>
                </a:cxn>
              </a:cxnLst>
              <a:rect l="0" t="0" r="r" b="b"/>
              <a:pathLst>
                <a:path w="941" h="941">
                  <a:moveTo>
                    <a:pt x="264" y="827"/>
                  </a:moveTo>
                  <a:cubicBezTo>
                    <a:pt x="67" y="713"/>
                    <a:pt x="0" y="461"/>
                    <a:pt x="114" y="264"/>
                  </a:cubicBezTo>
                  <a:cubicBezTo>
                    <a:pt x="228" y="67"/>
                    <a:pt x="480" y="0"/>
                    <a:pt x="677" y="114"/>
                  </a:cubicBezTo>
                  <a:cubicBezTo>
                    <a:pt x="874" y="228"/>
                    <a:pt x="941" y="480"/>
                    <a:pt x="827" y="676"/>
                  </a:cubicBezTo>
                  <a:cubicBezTo>
                    <a:pt x="713" y="873"/>
                    <a:pt x="461" y="941"/>
                    <a:pt x="264" y="827"/>
                  </a:cubicBez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sp>
          <p:nvSpPr>
            <p:cNvPr id="20" name="Freeform 19"/>
            <p:cNvSpPr/>
            <p:nvPr/>
          </p:nvSpPr>
          <p:spPr bwMode="auto">
            <a:xfrm>
              <a:off x="7131803" y="4217991"/>
              <a:ext cx="1361730" cy="1360495"/>
            </a:xfrm>
            <a:custGeom>
              <a:avLst/>
              <a:gdLst>
                <a:gd name="T0" fmla="*/ 208 w 739"/>
                <a:gd name="T1" fmla="*/ 649 h 739"/>
                <a:gd name="T2" fmla="*/ 90 w 739"/>
                <a:gd name="T3" fmla="*/ 207 h 739"/>
                <a:gd name="T4" fmla="*/ 532 w 739"/>
                <a:gd name="T5" fmla="*/ 89 h 739"/>
                <a:gd name="T6" fmla="*/ 649 w 739"/>
                <a:gd name="T7" fmla="*/ 531 h 739"/>
                <a:gd name="T8" fmla="*/ 208 w 739"/>
                <a:gd name="T9" fmla="*/ 649 h 739"/>
              </a:gdLst>
              <a:ahLst/>
              <a:cxnLst>
                <a:cxn ang="0">
                  <a:pos x="T0" y="T1"/>
                </a:cxn>
                <a:cxn ang="0">
                  <a:pos x="T2" y="T3"/>
                </a:cxn>
                <a:cxn ang="0">
                  <a:pos x="T4" y="T5"/>
                </a:cxn>
                <a:cxn ang="0">
                  <a:pos x="T6" y="T7"/>
                </a:cxn>
                <a:cxn ang="0">
                  <a:pos x="T8" y="T9"/>
                </a:cxn>
              </a:cxnLst>
              <a:rect l="0" t="0" r="r" b="b"/>
              <a:pathLst>
                <a:path w="739" h="739">
                  <a:moveTo>
                    <a:pt x="208" y="649"/>
                  </a:moveTo>
                  <a:cubicBezTo>
                    <a:pt x="53" y="560"/>
                    <a:pt x="0" y="362"/>
                    <a:pt x="90" y="207"/>
                  </a:cubicBezTo>
                  <a:cubicBezTo>
                    <a:pt x="179" y="53"/>
                    <a:pt x="377" y="0"/>
                    <a:pt x="532" y="89"/>
                  </a:cubicBezTo>
                  <a:cubicBezTo>
                    <a:pt x="686" y="179"/>
                    <a:pt x="739" y="377"/>
                    <a:pt x="649" y="531"/>
                  </a:cubicBezTo>
                  <a:cubicBezTo>
                    <a:pt x="560" y="686"/>
                    <a:pt x="362" y="739"/>
                    <a:pt x="208" y="649"/>
                  </a:cubicBezTo>
                  <a:close/>
                </a:path>
              </a:pathLst>
            </a:custGeom>
            <a:solidFill>
              <a:schemeClr val="bg2">
                <a:lumMod val="95000"/>
              </a:schemeClr>
            </a:solidFill>
            <a:ln>
              <a:noFill/>
            </a:ln>
          </p:spPr>
          <p:txBody>
            <a:bodyPr vert="horz" wrap="square" lIns="91440" tIns="45720" rIns="91440" bIns="45720" numCol="1" anchor="t" anchorCtr="0" compatLnSpc="1"/>
            <a:lstStyle/>
            <a:p>
              <a:endParaRPr lang="en-US"/>
            </a:p>
          </p:txBody>
        </p:sp>
      </p:grpSp>
      <p:sp>
        <p:nvSpPr>
          <p:cNvPr id="21" name="Freeform 12"/>
          <p:cNvSpPr/>
          <p:nvPr/>
        </p:nvSpPr>
        <p:spPr bwMode="auto">
          <a:xfrm>
            <a:off x="3839114" y="2376683"/>
            <a:ext cx="1116050" cy="1116050"/>
          </a:xfrm>
          <a:custGeom>
            <a:avLst/>
            <a:gdLst>
              <a:gd name="T0" fmla="*/ 170 w 606"/>
              <a:gd name="T1" fmla="*/ 533 h 606"/>
              <a:gd name="T2" fmla="*/ 73 w 606"/>
              <a:gd name="T3" fmla="*/ 170 h 606"/>
              <a:gd name="T4" fmla="*/ 436 w 606"/>
              <a:gd name="T5" fmla="*/ 73 h 606"/>
              <a:gd name="T6" fmla="*/ 533 w 606"/>
              <a:gd name="T7" fmla="*/ 436 h 606"/>
              <a:gd name="T8" fmla="*/ 170 w 606"/>
              <a:gd name="T9" fmla="*/ 533 h 606"/>
            </a:gdLst>
            <a:ahLst/>
            <a:cxnLst>
              <a:cxn ang="0">
                <a:pos x="T0" y="T1"/>
              </a:cxn>
              <a:cxn ang="0">
                <a:pos x="T2" y="T3"/>
              </a:cxn>
              <a:cxn ang="0">
                <a:pos x="T4" y="T5"/>
              </a:cxn>
              <a:cxn ang="0">
                <a:pos x="T6" y="T7"/>
              </a:cxn>
              <a:cxn ang="0">
                <a:pos x="T8" y="T9"/>
              </a:cxn>
            </a:cxnLst>
            <a:rect l="0" t="0" r="r" b="b"/>
            <a:pathLst>
              <a:path w="606" h="606">
                <a:moveTo>
                  <a:pt x="170" y="533"/>
                </a:moveTo>
                <a:cubicBezTo>
                  <a:pt x="43" y="459"/>
                  <a:pt x="0" y="297"/>
                  <a:pt x="73" y="170"/>
                </a:cubicBezTo>
                <a:cubicBezTo>
                  <a:pt x="147" y="43"/>
                  <a:pt x="309" y="0"/>
                  <a:pt x="436" y="73"/>
                </a:cubicBezTo>
                <a:cubicBezTo>
                  <a:pt x="563" y="147"/>
                  <a:pt x="606" y="309"/>
                  <a:pt x="533" y="436"/>
                </a:cubicBezTo>
                <a:cubicBezTo>
                  <a:pt x="459" y="563"/>
                  <a:pt x="297" y="606"/>
                  <a:pt x="170" y="533"/>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22" name="Freeform 14"/>
          <p:cNvSpPr/>
          <p:nvPr/>
        </p:nvSpPr>
        <p:spPr bwMode="auto">
          <a:xfrm>
            <a:off x="5261338" y="1511251"/>
            <a:ext cx="817285" cy="817284"/>
          </a:xfrm>
          <a:custGeom>
            <a:avLst/>
            <a:gdLst>
              <a:gd name="T0" fmla="*/ 125 w 444"/>
              <a:gd name="T1" fmla="*/ 391 h 444"/>
              <a:gd name="T2" fmla="*/ 54 w 444"/>
              <a:gd name="T3" fmla="*/ 125 h 444"/>
              <a:gd name="T4" fmla="*/ 320 w 444"/>
              <a:gd name="T5" fmla="*/ 54 h 444"/>
              <a:gd name="T6" fmla="*/ 391 w 444"/>
              <a:gd name="T7" fmla="*/ 320 h 444"/>
              <a:gd name="T8" fmla="*/ 125 w 444"/>
              <a:gd name="T9" fmla="*/ 391 h 444"/>
            </a:gdLst>
            <a:ahLst/>
            <a:cxnLst>
              <a:cxn ang="0">
                <a:pos x="T0" y="T1"/>
              </a:cxn>
              <a:cxn ang="0">
                <a:pos x="T2" y="T3"/>
              </a:cxn>
              <a:cxn ang="0">
                <a:pos x="T4" y="T5"/>
              </a:cxn>
              <a:cxn ang="0">
                <a:pos x="T6" y="T7"/>
              </a:cxn>
              <a:cxn ang="0">
                <a:pos x="T8" y="T9"/>
              </a:cxn>
            </a:cxnLst>
            <a:rect l="0" t="0" r="r" b="b"/>
            <a:pathLst>
              <a:path w="444" h="444">
                <a:moveTo>
                  <a:pt x="125" y="391"/>
                </a:moveTo>
                <a:cubicBezTo>
                  <a:pt x="32" y="337"/>
                  <a:pt x="0" y="218"/>
                  <a:pt x="54" y="125"/>
                </a:cubicBezTo>
                <a:cubicBezTo>
                  <a:pt x="108" y="32"/>
                  <a:pt x="227" y="0"/>
                  <a:pt x="320" y="54"/>
                </a:cubicBezTo>
                <a:cubicBezTo>
                  <a:pt x="413" y="108"/>
                  <a:pt x="444" y="227"/>
                  <a:pt x="391" y="320"/>
                </a:cubicBezTo>
                <a:cubicBezTo>
                  <a:pt x="337" y="413"/>
                  <a:pt x="218" y="444"/>
                  <a:pt x="125" y="391"/>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23" name="Freeform 16"/>
          <p:cNvSpPr/>
          <p:nvPr/>
        </p:nvSpPr>
        <p:spPr bwMode="auto">
          <a:xfrm>
            <a:off x="5771215" y="4833475"/>
            <a:ext cx="1002470" cy="1000001"/>
          </a:xfrm>
          <a:custGeom>
            <a:avLst/>
            <a:gdLst>
              <a:gd name="T0" fmla="*/ 153 w 544"/>
              <a:gd name="T1" fmla="*/ 477 h 543"/>
              <a:gd name="T2" fmla="*/ 66 w 544"/>
              <a:gd name="T3" fmla="*/ 152 h 543"/>
              <a:gd name="T4" fmla="*/ 391 w 544"/>
              <a:gd name="T5" fmla="*/ 65 h 543"/>
              <a:gd name="T6" fmla="*/ 478 w 544"/>
              <a:gd name="T7" fmla="*/ 390 h 543"/>
              <a:gd name="T8" fmla="*/ 153 w 544"/>
              <a:gd name="T9" fmla="*/ 477 h 543"/>
            </a:gdLst>
            <a:ahLst/>
            <a:cxnLst>
              <a:cxn ang="0">
                <a:pos x="T0" y="T1"/>
              </a:cxn>
              <a:cxn ang="0">
                <a:pos x="T2" y="T3"/>
              </a:cxn>
              <a:cxn ang="0">
                <a:pos x="T4" y="T5"/>
              </a:cxn>
              <a:cxn ang="0">
                <a:pos x="T6" y="T7"/>
              </a:cxn>
              <a:cxn ang="0">
                <a:pos x="T8" y="T9"/>
              </a:cxn>
            </a:cxnLst>
            <a:rect l="0" t="0" r="r" b="b"/>
            <a:pathLst>
              <a:path w="544" h="543">
                <a:moveTo>
                  <a:pt x="153" y="477"/>
                </a:moveTo>
                <a:cubicBezTo>
                  <a:pt x="39" y="411"/>
                  <a:pt x="0" y="266"/>
                  <a:pt x="66" y="152"/>
                </a:cubicBezTo>
                <a:cubicBezTo>
                  <a:pt x="132" y="38"/>
                  <a:pt x="277" y="0"/>
                  <a:pt x="391" y="65"/>
                </a:cubicBezTo>
                <a:cubicBezTo>
                  <a:pt x="505" y="131"/>
                  <a:pt x="544" y="277"/>
                  <a:pt x="478" y="390"/>
                </a:cubicBezTo>
                <a:cubicBezTo>
                  <a:pt x="412" y="504"/>
                  <a:pt x="267" y="543"/>
                  <a:pt x="153" y="477"/>
                </a:cubicBez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24" name="Freeform 18"/>
          <p:cNvSpPr/>
          <p:nvPr/>
        </p:nvSpPr>
        <p:spPr bwMode="auto">
          <a:xfrm>
            <a:off x="3737880" y="3976684"/>
            <a:ext cx="1464199" cy="1466668"/>
          </a:xfrm>
          <a:custGeom>
            <a:avLst/>
            <a:gdLst>
              <a:gd name="T0" fmla="*/ 223 w 795"/>
              <a:gd name="T1" fmla="*/ 700 h 796"/>
              <a:gd name="T2" fmla="*/ 96 w 795"/>
              <a:gd name="T3" fmla="*/ 224 h 796"/>
              <a:gd name="T4" fmla="*/ 572 w 795"/>
              <a:gd name="T5" fmla="*/ 97 h 796"/>
              <a:gd name="T6" fmla="*/ 699 w 795"/>
              <a:gd name="T7" fmla="*/ 573 h 796"/>
              <a:gd name="T8" fmla="*/ 223 w 795"/>
              <a:gd name="T9" fmla="*/ 700 h 796"/>
            </a:gdLst>
            <a:ahLst/>
            <a:cxnLst>
              <a:cxn ang="0">
                <a:pos x="T0" y="T1"/>
              </a:cxn>
              <a:cxn ang="0">
                <a:pos x="T2" y="T3"/>
              </a:cxn>
              <a:cxn ang="0">
                <a:pos x="T4" y="T5"/>
              </a:cxn>
              <a:cxn ang="0">
                <a:pos x="T6" y="T7"/>
              </a:cxn>
              <a:cxn ang="0">
                <a:pos x="T8" y="T9"/>
              </a:cxn>
            </a:cxnLst>
            <a:rect l="0" t="0" r="r" b="b"/>
            <a:pathLst>
              <a:path w="795" h="796">
                <a:moveTo>
                  <a:pt x="223" y="700"/>
                </a:moveTo>
                <a:cubicBezTo>
                  <a:pt x="57" y="603"/>
                  <a:pt x="0" y="390"/>
                  <a:pt x="96" y="224"/>
                </a:cubicBezTo>
                <a:cubicBezTo>
                  <a:pt x="192" y="57"/>
                  <a:pt x="405" y="0"/>
                  <a:pt x="572" y="97"/>
                </a:cubicBezTo>
                <a:cubicBezTo>
                  <a:pt x="738" y="193"/>
                  <a:pt x="795" y="406"/>
                  <a:pt x="699" y="573"/>
                </a:cubicBezTo>
                <a:cubicBezTo>
                  <a:pt x="603" y="739"/>
                  <a:pt x="390" y="796"/>
                  <a:pt x="223" y="700"/>
                </a:cubicBez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25" name="Freeform 20"/>
          <p:cNvSpPr/>
          <p:nvPr/>
        </p:nvSpPr>
        <p:spPr bwMode="auto">
          <a:xfrm>
            <a:off x="7169981" y="3934709"/>
            <a:ext cx="1095063" cy="1096297"/>
          </a:xfrm>
          <a:custGeom>
            <a:avLst/>
            <a:gdLst>
              <a:gd name="T0" fmla="*/ 167 w 595"/>
              <a:gd name="T1" fmla="*/ 523 h 595"/>
              <a:gd name="T2" fmla="*/ 72 w 595"/>
              <a:gd name="T3" fmla="*/ 167 h 595"/>
              <a:gd name="T4" fmla="*/ 428 w 595"/>
              <a:gd name="T5" fmla="*/ 72 h 595"/>
              <a:gd name="T6" fmla="*/ 523 w 595"/>
              <a:gd name="T7" fmla="*/ 428 h 595"/>
              <a:gd name="T8" fmla="*/ 167 w 595"/>
              <a:gd name="T9" fmla="*/ 523 h 595"/>
            </a:gdLst>
            <a:ahLst/>
            <a:cxnLst>
              <a:cxn ang="0">
                <a:pos x="T0" y="T1"/>
              </a:cxn>
              <a:cxn ang="0">
                <a:pos x="T2" y="T3"/>
              </a:cxn>
              <a:cxn ang="0">
                <a:pos x="T4" y="T5"/>
              </a:cxn>
              <a:cxn ang="0">
                <a:pos x="T6" y="T7"/>
              </a:cxn>
              <a:cxn ang="0">
                <a:pos x="T8" y="T9"/>
              </a:cxn>
            </a:cxnLst>
            <a:rect l="0" t="0" r="r" b="b"/>
            <a:pathLst>
              <a:path w="595" h="595">
                <a:moveTo>
                  <a:pt x="167" y="523"/>
                </a:moveTo>
                <a:cubicBezTo>
                  <a:pt x="43" y="451"/>
                  <a:pt x="0" y="291"/>
                  <a:pt x="72" y="167"/>
                </a:cubicBezTo>
                <a:cubicBezTo>
                  <a:pt x="144" y="42"/>
                  <a:pt x="304" y="0"/>
                  <a:pt x="428" y="72"/>
                </a:cubicBezTo>
                <a:cubicBezTo>
                  <a:pt x="553" y="144"/>
                  <a:pt x="595" y="303"/>
                  <a:pt x="523" y="428"/>
                </a:cubicBezTo>
                <a:cubicBezTo>
                  <a:pt x="451" y="552"/>
                  <a:pt x="292" y="595"/>
                  <a:pt x="167" y="523"/>
                </a:cubicBezTo>
                <a:close/>
              </a:path>
            </a:pathLst>
          </a:custGeom>
          <a:solidFill>
            <a:schemeClr val="accent5"/>
          </a:solidFill>
          <a:ln>
            <a:noFill/>
          </a:ln>
        </p:spPr>
        <p:txBody>
          <a:bodyPr vert="horz" wrap="square" lIns="91440" tIns="45720" rIns="91440" bIns="45720" numCol="1" anchor="t" anchorCtr="0" compatLnSpc="1"/>
          <a:lstStyle/>
          <a:p>
            <a:endParaRPr lang="en-US"/>
          </a:p>
        </p:txBody>
      </p:sp>
      <p:sp>
        <p:nvSpPr>
          <p:cNvPr id="26" name="Freeform 21"/>
          <p:cNvSpPr/>
          <p:nvPr/>
        </p:nvSpPr>
        <p:spPr bwMode="auto">
          <a:xfrm>
            <a:off x="5263807" y="2697671"/>
            <a:ext cx="1724693" cy="1727162"/>
          </a:xfrm>
          <a:custGeom>
            <a:avLst/>
            <a:gdLst>
              <a:gd name="T0" fmla="*/ 263 w 937"/>
              <a:gd name="T1" fmla="*/ 825 h 938"/>
              <a:gd name="T2" fmla="*/ 113 w 937"/>
              <a:gd name="T3" fmla="*/ 264 h 938"/>
              <a:gd name="T4" fmla="*/ 674 w 937"/>
              <a:gd name="T5" fmla="*/ 114 h 938"/>
              <a:gd name="T6" fmla="*/ 824 w 937"/>
              <a:gd name="T7" fmla="*/ 675 h 938"/>
              <a:gd name="T8" fmla="*/ 263 w 937"/>
              <a:gd name="T9" fmla="*/ 825 h 938"/>
            </a:gdLst>
            <a:ahLst/>
            <a:cxnLst>
              <a:cxn ang="0">
                <a:pos x="T0" y="T1"/>
              </a:cxn>
              <a:cxn ang="0">
                <a:pos x="T2" y="T3"/>
              </a:cxn>
              <a:cxn ang="0">
                <a:pos x="T4" y="T5"/>
              </a:cxn>
              <a:cxn ang="0">
                <a:pos x="T6" y="T7"/>
              </a:cxn>
              <a:cxn ang="0">
                <a:pos x="T8" y="T9"/>
              </a:cxn>
            </a:cxnLst>
            <a:rect l="0" t="0" r="r" b="b"/>
            <a:pathLst>
              <a:path w="937" h="938">
                <a:moveTo>
                  <a:pt x="263" y="825"/>
                </a:moveTo>
                <a:cubicBezTo>
                  <a:pt x="67" y="711"/>
                  <a:pt x="0" y="460"/>
                  <a:pt x="113" y="264"/>
                </a:cubicBezTo>
                <a:cubicBezTo>
                  <a:pt x="227" y="68"/>
                  <a:pt x="478" y="0"/>
                  <a:pt x="674" y="114"/>
                </a:cubicBezTo>
                <a:cubicBezTo>
                  <a:pt x="870" y="228"/>
                  <a:pt x="937" y="479"/>
                  <a:pt x="824" y="675"/>
                </a:cubicBezTo>
                <a:cubicBezTo>
                  <a:pt x="710" y="871"/>
                  <a:pt x="459" y="938"/>
                  <a:pt x="263" y="825"/>
                </a:cubicBez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nvGrpSpPr>
          <p:cNvPr id="27" name="Group 33"/>
          <p:cNvGrpSpPr/>
          <p:nvPr/>
        </p:nvGrpSpPr>
        <p:grpSpPr>
          <a:xfrm>
            <a:off x="4130525" y="2636273"/>
            <a:ext cx="533228" cy="596870"/>
            <a:chOff x="3471863" y="1916113"/>
            <a:chExt cx="492125" cy="550863"/>
          </a:xfrm>
          <a:solidFill>
            <a:schemeClr val="bg1"/>
          </a:solidFill>
        </p:grpSpPr>
        <p:sp>
          <p:nvSpPr>
            <p:cNvPr id="28"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9"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0" name="Freeform 72"/>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31" name="Group 37"/>
          <p:cNvGrpSpPr/>
          <p:nvPr/>
        </p:nvGrpSpPr>
        <p:grpSpPr>
          <a:xfrm>
            <a:off x="5489442" y="1731811"/>
            <a:ext cx="361077" cy="376164"/>
            <a:chOff x="708025" y="1916113"/>
            <a:chExt cx="531813" cy="554037"/>
          </a:xfrm>
          <a:solidFill>
            <a:schemeClr val="bg1"/>
          </a:solidFill>
        </p:grpSpPr>
        <p:sp>
          <p:nvSpPr>
            <p:cNvPr id="32" name="Freeform 93"/>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4" name="Freeform 94"/>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5" name="Freeform 95"/>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7" name="Freeform 96"/>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38" name="Group 42"/>
          <p:cNvGrpSpPr/>
          <p:nvPr/>
        </p:nvGrpSpPr>
        <p:grpSpPr>
          <a:xfrm>
            <a:off x="4212000" y="4414578"/>
            <a:ext cx="515959" cy="590881"/>
            <a:chOff x="9990138" y="2690813"/>
            <a:chExt cx="481013" cy="550863"/>
          </a:xfrm>
          <a:solidFill>
            <a:schemeClr val="bg1"/>
          </a:solidFill>
        </p:grpSpPr>
        <p:sp>
          <p:nvSpPr>
            <p:cNvPr id="40" name="Freeform 107"/>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1" name="Freeform 108"/>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2" name="Freeform 109"/>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3" name="Freeform 110"/>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5" name="Freeform 111"/>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46" name="Group 48"/>
          <p:cNvGrpSpPr/>
          <p:nvPr/>
        </p:nvGrpSpPr>
        <p:grpSpPr>
          <a:xfrm>
            <a:off x="6021644" y="5116492"/>
            <a:ext cx="466793" cy="461428"/>
            <a:chOff x="4356100" y="3465513"/>
            <a:chExt cx="552450" cy="546100"/>
          </a:xfrm>
          <a:solidFill>
            <a:schemeClr val="bg1"/>
          </a:solidFill>
        </p:grpSpPr>
        <p:sp>
          <p:nvSpPr>
            <p:cNvPr id="47" name="Freeform 242"/>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8" name="Freeform 243"/>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9" name="Freeform 244"/>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0" name="Freeform 245"/>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51" name="Inhaltsplatzhalter 4"/>
          <p:cNvSpPr txBox="1"/>
          <p:nvPr/>
        </p:nvSpPr>
        <p:spPr>
          <a:xfrm>
            <a:off x="6379201" y="1521401"/>
            <a:ext cx="3278589" cy="61531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2000" b="1" dirty="0">
                <a:solidFill>
                  <a:schemeClr val="accent1"/>
                </a:solidFill>
                <a:latin typeface="+mj-lt"/>
              </a:rPr>
              <a:t>添加用户</a:t>
            </a:r>
            <a:br>
              <a:rPr lang="en-US" sz="2000" b="1" dirty="0">
                <a:solidFill>
                  <a:schemeClr val="accent1"/>
                </a:solidFill>
                <a:latin typeface="+mj-lt"/>
              </a:rPr>
            </a:br>
            <a:endParaRPr lang="en-US" sz="2000" b="1" dirty="0">
              <a:solidFill>
                <a:schemeClr val="accent1"/>
              </a:solidFill>
              <a:latin typeface="+mj-lt"/>
            </a:endParaRPr>
          </a:p>
        </p:txBody>
      </p:sp>
      <p:sp>
        <p:nvSpPr>
          <p:cNvPr id="52" name="Inhaltsplatzhalter 4"/>
          <p:cNvSpPr txBox="1"/>
          <p:nvPr/>
        </p:nvSpPr>
        <p:spPr>
          <a:xfrm>
            <a:off x="8537426" y="4329534"/>
            <a:ext cx="3278589" cy="307340"/>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2000" b="1" dirty="0">
                <a:solidFill>
                  <a:schemeClr val="accent5"/>
                </a:solidFill>
                <a:latin typeface="+mj-lt"/>
              </a:rPr>
              <a:t>删除用户</a:t>
            </a:r>
          </a:p>
        </p:txBody>
      </p:sp>
      <p:sp>
        <p:nvSpPr>
          <p:cNvPr id="53" name="Inhaltsplatzhalter 4"/>
          <p:cNvSpPr txBox="1"/>
          <p:nvPr/>
        </p:nvSpPr>
        <p:spPr>
          <a:xfrm>
            <a:off x="6937065" y="5443363"/>
            <a:ext cx="3278589" cy="307340"/>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2000" b="1" dirty="0">
                <a:solidFill>
                  <a:schemeClr val="accent4"/>
                </a:solidFill>
                <a:latin typeface="+mj-lt"/>
              </a:rPr>
              <a:t>修改用户口令</a:t>
            </a:r>
          </a:p>
        </p:txBody>
      </p:sp>
      <p:sp>
        <p:nvSpPr>
          <p:cNvPr id="54" name="Inhaltsplatzhalter 4"/>
          <p:cNvSpPr txBox="1"/>
          <p:nvPr/>
        </p:nvSpPr>
        <p:spPr>
          <a:xfrm>
            <a:off x="194072" y="2573070"/>
            <a:ext cx="3278589" cy="307340"/>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zh-CN" altLang="en-US" sz="2000" b="1" dirty="0">
                <a:solidFill>
                  <a:schemeClr val="accent2"/>
                </a:solidFill>
                <a:latin typeface="+mj-lt"/>
              </a:rPr>
              <a:t>查看用户</a:t>
            </a:r>
          </a:p>
        </p:txBody>
      </p:sp>
      <p:sp>
        <p:nvSpPr>
          <p:cNvPr id="55" name="Inhaltsplatzhalter 4"/>
          <p:cNvSpPr txBox="1"/>
          <p:nvPr/>
        </p:nvSpPr>
        <p:spPr>
          <a:xfrm>
            <a:off x="194369" y="4348380"/>
            <a:ext cx="3278589" cy="307340"/>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zh-CN" altLang="en-US" sz="2000" b="1" dirty="0">
                <a:solidFill>
                  <a:schemeClr val="accent3"/>
                </a:solidFill>
                <a:latin typeface="+mj-lt"/>
              </a:rPr>
              <a:t>重命名用户账号</a:t>
            </a:r>
          </a:p>
        </p:txBody>
      </p:sp>
      <p:grpSp>
        <p:nvGrpSpPr>
          <p:cNvPr id="56" name="Group 58"/>
          <p:cNvGrpSpPr/>
          <p:nvPr/>
        </p:nvGrpSpPr>
        <p:grpSpPr>
          <a:xfrm>
            <a:off x="7455283" y="4221377"/>
            <a:ext cx="524458" cy="522960"/>
            <a:chOff x="1603375" y="1916113"/>
            <a:chExt cx="557213" cy="555625"/>
          </a:xfrm>
          <a:solidFill>
            <a:schemeClr val="bg1"/>
          </a:solidFill>
        </p:grpSpPr>
        <p:sp>
          <p:nvSpPr>
            <p:cNvPr id="57" name="Freeform 74"/>
            <p:cNvSpPr>
              <a:spLocks noEditPoints="1"/>
            </p:cNvSpPr>
            <p:nvPr/>
          </p:nvSpPr>
          <p:spPr bwMode="auto">
            <a:xfrm>
              <a:off x="1603375" y="1916113"/>
              <a:ext cx="557213" cy="555625"/>
            </a:xfrm>
            <a:custGeom>
              <a:avLst/>
              <a:gdLst>
                <a:gd name="T0" fmla="*/ 190 w 3510"/>
                <a:gd name="T1" fmla="*/ 3035 h 3500"/>
                <a:gd name="T2" fmla="*/ 203 w 3510"/>
                <a:gd name="T3" fmla="*/ 3200 h 3500"/>
                <a:gd name="T4" fmla="*/ 333 w 3510"/>
                <a:gd name="T5" fmla="*/ 3310 h 3500"/>
                <a:gd name="T6" fmla="*/ 497 w 3510"/>
                <a:gd name="T7" fmla="*/ 3297 h 3500"/>
                <a:gd name="T8" fmla="*/ 905 w 3510"/>
                <a:gd name="T9" fmla="*/ 2290 h 3500"/>
                <a:gd name="T10" fmla="*/ 2237 w 3510"/>
                <a:gd name="T11" fmla="*/ 180 h 3500"/>
                <a:gd name="T12" fmla="*/ 1892 w 3510"/>
                <a:gd name="T13" fmla="*/ 235 h 3500"/>
                <a:gd name="T14" fmla="*/ 1576 w 3510"/>
                <a:gd name="T15" fmla="*/ 401 h 3500"/>
                <a:gd name="T16" fmla="*/ 1319 w 3510"/>
                <a:gd name="T17" fmla="*/ 678 h 3500"/>
                <a:gd name="T18" fmla="*/ 1174 w 3510"/>
                <a:gd name="T19" fmla="*/ 1016 h 3500"/>
                <a:gd name="T20" fmla="*/ 1150 w 3510"/>
                <a:gd name="T21" fmla="*/ 1379 h 3500"/>
                <a:gd name="T22" fmla="*/ 1247 w 3510"/>
                <a:gd name="T23" fmla="*/ 1731 h 3500"/>
                <a:gd name="T24" fmla="*/ 1465 w 3510"/>
                <a:gd name="T25" fmla="*/ 2040 h 3500"/>
                <a:gd name="T26" fmla="*/ 1774 w 3510"/>
                <a:gd name="T27" fmla="*/ 2257 h 3500"/>
                <a:gd name="T28" fmla="*/ 2127 w 3510"/>
                <a:gd name="T29" fmla="*/ 2353 h 3500"/>
                <a:gd name="T30" fmla="*/ 2491 w 3510"/>
                <a:gd name="T31" fmla="*/ 2329 h 3500"/>
                <a:gd name="T32" fmla="*/ 2830 w 3510"/>
                <a:gd name="T33" fmla="*/ 2185 h 3500"/>
                <a:gd name="T34" fmla="*/ 3111 w 3510"/>
                <a:gd name="T35" fmla="*/ 1923 h 3500"/>
                <a:gd name="T36" fmla="*/ 3280 w 3510"/>
                <a:gd name="T37" fmla="*/ 1593 h 3500"/>
                <a:gd name="T38" fmla="*/ 3329 w 3510"/>
                <a:gd name="T39" fmla="*/ 1232 h 3500"/>
                <a:gd name="T40" fmla="*/ 3257 w 3510"/>
                <a:gd name="T41" fmla="*/ 876 h 3500"/>
                <a:gd name="T42" fmla="*/ 3063 w 3510"/>
                <a:gd name="T43" fmla="*/ 556 h 3500"/>
                <a:gd name="T44" fmla="*/ 2777 w 3510"/>
                <a:gd name="T45" fmla="*/ 321 h 3500"/>
                <a:gd name="T46" fmla="*/ 2446 w 3510"/>
                <a:gd name="T47" fmla="*/ 200 h 3500"/>
                <a:gd name="T48" fmla="*/ 2319 w 3510"/>
                <a:gd name="T49" fmla="*/ 2 h 3500"/>
                <a:gd name="T50" fmla="*/ 2717 w 3510"/>
                <a:gd name="T51" fmla="*/ 93 h 3500"/>
                <a:gd name="T52" fmla="*/ 3074 w 3510"/>
                <a:gd name="T53" fmla="*/ 312 h 3500"/>
                <a:gd name="T54" fmla="*/ 3344 w 3510"/>
                <a:gd name="T55" fmla="*/ 642 h 3500"/>
                <a:gd name="T56" fmla="*/ 3487 w 3510"/>
                <a:gd name="T57" fmla="*/ 1027 h 3500"/>
                <a:gd name="T58" fmla="*/ 3508 w 3510"/>
                <a:gd name="T59" fmla="*/ 1350 h 3500"/>
                <a:gd name="T60" fmla="*/ 3416 w 3510"/>
                <a:gd name="T61" fmla="*/ 1748 h 3500"/>
                <a:gd name="T62" fmla="*/ 3197 w 3510"/>
                <a:gd name="T63" fmla="*/ 2104 h 3500"/>
                <a:gd name="T64" fmla="*/ 2867 w 3510"/>
                <a:gd name="T65" fmla="*/ 2374 h 3500"/>
                <a:gd name="T66" fmla="*/ 2480 w 3510"/>
                <a:gd name="T67" fmla="*/ 2516 h 3500"/>
                <a:gd name="T68" fmla="*/ 2075 w 3510"/>
                <a:gd name="T69" fmla="*/ 2528 h 3500"/>
                <a:gd name="T70" fmla="*/ 1684 w 3510"/>
                <a:gd name="T71" fmla="*/ 2413 h 3500"/>
                <a:gd name="T72" fmla="*/ 1251 w 3510"/>
                <a:gd name="T73" fmla="*/ 2380 h 3500"/>
                <a:gd name="T74" fmla="*/ 1432 w 3510"/>
                <a:gd name="T75" fmla="*/ 2608 h 3500"/>
                <a:gd name="T76" fmla="*/ 647 w 3510"/>
                <a:gd name="T77" fmla="*/ 3414 h 3500"/>
                <a:gd name="T78" fmla="*/ 442 w 3510"/>
                <a:gd name="T79" fmla="*/ 3498 h 3500"/>
                <a:gd name="T80" fmla="*/ 229 w 3510"/>
                <a:gd name="T81" fmla="*/ 3462 h 3500"/>
                <a:gd name="T82" fmla="*/ 60 w 3510"/>
                <a:gd name="T83" fmla="*/ 3311 h 3500"/>
                <a:gd name="T84" fmla="*/ 0 w 3510"/>
                <a:gd name="T85" fmla="*/ 3102 h 3500"/>
                <a:gd name="T86" fmla="*/ 38 w 3510"/>
                <a:gd name="T87" fmla="*/ 2932 h 3500"/>
                <a:gd name="T88" fmla="*/ 857 w 3510"/>
                <a:gd name="T89" fmla="*/ 2085 h 3500"/>
                <a:gd name="T90" fmla="*/ 952 w 3510"/>
                <a:gd name="T91" fmla="*/ 2085 h 3500"/>
                <a:gd name="T92" fmla="*/ 1172 w 3510"/>
                <a:gd name="T93" fmla="*/ 1965 h 3500"/>
                <a:gd name="T94" fmla="*/ 1005 w 3510"/>
                <a:gd name="T95" fmla="*/ 1590 h 3500"/>
                <a:gd name="T96" fmla="*/ 967 w 3510"/>
                <a:gd name="T97" fmla="*/ 1187 h 3500"/>
                <a:gd name="T98" fmla="*/ 1057 w 3510"/>
                <a:gd name="T99" fmla="*/ 790 h 3500"/>
                <a:gd name="T100" fmla="*/ 1277 w 3510"/>
                <a:gd name="T101" fmla="*/ 435 h 3500"/>
                <a:gd name="T102" fmla="*/ 1608 w 3510"/>
                <a:gd name="T103" fmla="*/ 165 h 3500"/>
                <a:gd name="T104" fmla="*/ 1993 w 3510"/>
                <a:gd name="T105" fmla="*/ 23 h 3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10" h="3500">
                  <a:moveTo>
                    <a:pt x="649" y="2545"/>
                  </a:moveTo>
                  <a:lnTo>
                    <a:pt x="245" y="2947"/>
                  </a:lnTo>
                  <a:lnTo>
                    <a:pt x="221" y="2975"/>
                  </a:lnTo>
                  <a:lnTo>
                    <a:pt x="203" y="3005"/>
                  </a:lnTo>
                  <a:lnTo>
                    <a:pt x="190" y="3035"/>
                  </a:lnTo>
                  <a:lnTo>
                    <a:pt x="183" y="3068"/>
                  </a:lnTo>
                  <a:lnTo>
                    <a:pt x="181" y="3102"/>
                  </a:lnTo>
                  <a:lnTo>
                    <a:pt x="183" y="3135"/>
                  </a:lnTo>
                  <a:lnTo>
                    <a:pt x="190" y="3168"/>
                  </a:lnTo>
                  <a:lnTo>
                    <a:pt x="203" y="3200"/>
                  </a:lnTo>
                  <a:lnTo>
                    <a:pt x="221" y="3230"/>
                  </a:lnTo>
                  <a:lnTo>
                    <a:pt x="245" y="3256"/>
                  </a:lnTo>
                  <a:lnTo>
                    <a:pt x="271" y="3279"/>
                  </a:lnTo>
                  <a:lnTo>
                    <a:pt x="301" y="3297"/>
                  </a:lnTo>
                  <a:lnTo>
                    <a:pt x="333" y="3310"/>
                  </a:lnTo>
                  <a:lnTo>
                    <a:pt x="366" y="3318"/>
                  </a:lnTo>
                  <a:lnTo>
                    <a:pt x="399" y="3320"/>
                  </a:lnTo>
                  <a:lnTo>
                    <a:pt x="433" y="3318"/>
                  </a:lnTo>
                  <a:lnTo>
                    <a:pt x="466" y="3310"/>
                  </a:lnTo>
                  <a:lnTo>
                    <a:pt x="497" y="3297"/>
                  </a:lnTo>
                  <a:lnTo>
                    <a:pt x="527" y="3279"/>
                  </a:lnTo>
                  <a:lnTo>
                    <a:pt x="553" y="3256"/>
                  </a:lnTo>
                  <a:lnTo>
                    <a:pt x="957" y="2853"/>
                  </a:lnTo>
                  <a:lnTo>
                    <a:pt x="649" y="2545"/>
                  </a:lnTo>
                  <a:close/>
                  <a:moveTo>
                    <a:pt x="905" y="2290"/>
                  </a:moveTo>
                  <a:lnTo>
                    <a:pt x="776" y="2417"/>
                  </a:lnTo>
                  <a:lnTo>
                    <a:pt x="1086" y="2726"/>
                  </a:lnTo>
                  <a:lnTo>
                    <a:pt x="1214" y="2597"/>
                  </a:lnTo>
                  <a:lnTo>
                    <a:pt x="905" y="2290"/>
                  </a:lnTo>
                  <a:close/>
                  <a:moveTo>
                    <a:pt x="2237" y="180"/>
                  </a:moveTo>
                  <a:lnTo>
                    <a:pt x="2167" y="182"/>
                  </a:lnTo>
                  <a:lnTo>
                    <a:pt x="2097" y="189"/>
                  </a:lnTo>
                  <a:lnTo>
                    <a:pt x="2028" y="200"/>
                  </a:lnTo>
                  <a:lnTo>
                    <a:pt x="1959" y="215"/>
                  </a:lnTo>
                  <a:lnTo>
                    <a:pt x="1892" y="235"/>
                  </a:lnTo>
                  <a:lnTo>
                    <a:pt x="1825" y="260"/>
                  </a:lnTo>
                  <a:lnTo>
                    <a:pt x="1760" y="288"/>
                  </a:lnTo>
                  <a:lnTo>
                    <a:pt x="1698" y="321"/>
                  </a:lnTo>
                  <a:lnTo>
                    <a:pt x="1636" y="360"/>
                  </a:lnTo>
                  <a:lnTo>
                    <a:pt x="1576" y="401"/>
                  </a:lnTo>
                  <a:lnTo>
                    <a:pt x="1519" y="448"/>
                  </a:lnTo>
                  <a:lnTo>
                    <a:pt x="1465" y="498"/>
                  </a:lnTo>
                  <a:lnTo>
                    <a:pt x="1411" y="556"/>
                  </a:lnTo>
                  <a:lnTo>
                    <a:pt x="1363" y="615"/>
                  </a:lnTo>
                  <a:lnTo>
                    <a:pt x="1319" y="678"/>
                  </a:lnTo>
                  <a:lnTo>
                    <a:pt x="1281" y="741"/>
                  </a:lnTo>
                  <a:lnTo>
                    <a:pt x="1247" y="808"/>
                  </a:lnTo>
                  <a:lnTo>
                    <a:pt x="1218" y="876"/>
                  </a:lnTo>
                  <a:lnTo>
                    <a:pt x="1193" y="946"/>
                  </a:lnTo>
                  <a:lnTo>
                    <a:pt x="1174" y="1016"/>
                  </a:lnTo>
                  <a:lnTo>
                    <a:pt x="1159" y="1088"/>
                  </a:lnTo>
                  <a:lnTo>
                    <a:pt x="1150" y="1160"/>
                  </a:lnTo>
                  <a:lnTo>
                    <a:pt x="1146" y="1232"/>
                  </a:lnTo>
                  <a:lnTo>
                    <a:pt x="1146" y="1306"/>
                  </a:lnTo>
                  <a:lnTo>
                    <a:pt x="1150" y="1379"/>
                  </a:lnTo>
                  <a:lnTo>
                    <a:pt x="1159" y="1451"/>
                  </a:lnTo>
                  <a:lnTo>
                    <a:pt x="1174" y="1522"/>
                  </a:lnTo>
                  <a:lnTo>
                    <a:pt x="1193" y="1593"/>
                  </a:lnTo>
                  <a:lnTo>
                    <a:pt x="1218" y="1662"/>
                  </a:lnTo>
                  <a:lnTo>
                    <a:pt x="1247" y="1731"/>
                  </a:lnTo>
                  <a:lnTo>
                    <a:pt x="1281" y="1797"/>
                  </a:lnTo>
                  <a:lnTo>
                    <a:pt x="1319" y="1861"/>
                  </a:lnTo>
                  <a:lnTo>
                    <a:pt x="1363" y="1923"/>
                  </a:lnTo>
                  <a:lnTo>
                    <a:pt x="1411" y="1983"/>
                  </a:lnTo>
                  <a:lnTo>
                    <a:pt x="1465" y="2040"/>
                  </a:lnTo>
                  <a:lnTo>
                    <a:pt x="1521" y="2093"/>
                  </a:lnTo>
                  <a:lnTo>
                    <a:pt x="1582" y="2141"/>
                  </a:lnTo>
                  <a:lnTo>
                    <a:pt x="1643" y="2185"/>
                  </a:lnTo>
                  <a:lnTo>
                    <a:pt x="1708" y="2223"/>
                  </a:lnTo>
                  <a:lnTo>
                    <a:pt x="1774" y="2257"/>
                  </a:lnTo>
                  <a:lnTo>
                    <a:pt x="1843" y="2286"/>
                  </a:lnTo>
                  <a:lnTo>
                    <a:pt x="1912" y="2310"/>
                  </a:lnTo>
                  <a:lnTo>
                    <a:pt x="1984" y="2329"/>
                  </a:lnTo>
                  <a:lnTo>
                    <a:pt x="2055" y="2344"/>
                  </a:lnTo>
                  <a:lnTo>
                    <a:pt x="2127" y="2353"/>
                  </a:lnTo>
                  <a:lnTo>
                    <a:pt x="2201" y="2358"/>
                  </a:lnTo>
                  <a:lnTo>
                    <a:pt x="2274" y="2358"/>
                  </a:lnTo>
                  <a:lnTo>
                    <a:pt x="2346" y="2353"/>
                  </a:lnTo>
                  <a:lnTo>
                    <a:pt x="2419" y="2344"/>
                  </a:lnTo>
                  <a:lnTo>
                    <a:pt x="2491" y="2329"/>
                  </a:lnTo>
                  <a:lnTo>
                    <a:pt x="2561" y="2310"/>
                  </a:lnTo>
                  <a:lnTo>
                    <a:pt x="2631" y="2286"/>
                  </a:lnTo>
                  <a:lnTo>
                    <a:pt x="2700" y="2257"/>
                  </a:lnTo>
                  <a:lnTo>
                    <a:pt x="2767" y="2223"/>
                  </a:lnTo>
                  <a:lnTo>
                    <a:pt x="2830" y="2185"/>
                  </a:lnTo>
                  <a:lnTo>
                    <a:pt x="2893" y="2141"/>
                  </a:lnTo>
                  <a:lnTo>
                    <a:pt x="2953" y="2093"/>
                  </a:lnTo>
                  <a:lnTo>
                    <a:pt x="3010" y="2040"/>
                  </a:lnTo>
                  <a:lnTo>
                    <a:pt x="3063" y="1983"/>
                  </a:lnTo>
                  <a:lnTo>
                    <a:pt x="3111" y="1923"/>
                  </a:lnTo>
                  <a:lnTo>
                    <a:pt x="3155" y="1861"/>
                  </a:lnTo>
                  <a:lnTo>
                    <a:pt x="3193" y="1797"/>
                  </a:lnTo>
                  <a:lnTo>
                    <a:pt x="3227" y="1731"/>
                  </a:lnTo>
                  <a:lnTo>
                    <a:pt x="3257" y="1662"/>
                  </a:lnTo>
                  <a:lnTo>
                    <a:pt x="3280" y="1593"/>
                  </a:lnTo>
                  <a:lnTo>
                    <a:pt x="3299" y="1522"/>
                  </a:lnTo>
                  <a:lnTo>
                    <a:pt x="3314" y="1451"/>
                  </a:lnTo>
                  <a:lnTo>
                    <a:pt x="3324" y="1379"/>
                  </a:lnTo>
                  <a:lnTo>
                    <a:pt x="3329" y="1306"/>
                  </a:lnTo>
                  <a:lnTo>
                    <a:pt x="3329" y="1232"/>
                  </a:lnTo>
                  <a:lnTo>
                    <a:pt x="3324" y="1160"/>
                  </a:lnTo>
                  <a:lnTo>
                    <a:pt x="3314" y="1088"/>
                  </a:lnTo>
                  <a:lnTo>
                    <a:pt x="3299" y="1016"/>
                  </a:lnTo>
                  <a:lnTo>
                    <a:pt x="3280" y="946"/>
                  </a:lnTo>
                  <a:lnTo>
                    <a:pt x="3257" y="876"/>
                  </a:lnTo>
                  <a:lnTo>
                    <a:pt x="3227" y="808"/>
                  </a:lnTo>
                  <a:lnTo>
                    <a:pt x="3193" y="741"/>
                  </a:lnTo>
                  <a:lnTo>
                    <a:pt x="3155" y="678"/>
                  </a:lnTo>
                  <a:lnTo>
                    <a:pt x="3111" y="615"/>
                  </a:lnTo>
                  <a:lnTo>
                    <a:pt x="3063" y="556"/>
                  </a:lnTo>
                  <a:lnTo>
                    <a:pt x="3010" y="498"/>
                  </a:lnTo>
                  <a:lnTo>
                    <a:pt x="2955" y="448"/>
                  </a:lnTo>
                  <a:lnTo>
                    <a:pt x="2898" y="401"/>
                  </a:lnTo>
                  <a:lnTo>
                    <a:pt x="2839" y="360"/>
                  </a:lnTo>
                  <a:lnTo>
                    <a:pt x="2777" y="321"/>
                  </a:lnTo>
                  <a:lnTo>
                    <a:pt x="2713" y="288"/>
                  </a:lnTo>
                  <a:lnTo>
                    <a:pt x="2648" y="260"/>
                  </a:lnTo>
                  <a:lnTo>
                    <a:pt x="2583" y="235"/>
                  </a:lnTo>
                  <a:lnTo>
                    <a:pt x="2514" y="215"/>
                  </a:lnTo>
                  <a:lnTo>
                    <a:pt x="2446" y="200"/>
                  </a:lnTo>
                  <a:lnTo>
                    <a:pt x="2376" y="189"/>
                  </a:lnTo>
                  <a:lnTo>
                    <a:pt x="2307" y="182"/>
                  </a:lnTo>
                  <a:lnTo>
                    <a:pt x="2237" y="180"/>
                  </a:lnTo>
                  <a:close/>
                  <a:moveTo>
                    <a:pt x="2237" y="0"/>
                  </a:moveTo>
                  <a:lnTo>
                    <a:pt x="2319" y="2"/>
                  </a:lnTo>
                  <a:lnTo>
                    <a:pt x="2400" y="11"/>
                  </a:lnTo>
                  <a:lnTo>
                    <a:pt x="2480" y="23"/>
                  </a:lnTo>
                  <a:lnTo>
                    <a:pt x="2560" y="41"/>
                  </a:lnTo>
                  <a:lnTo>
                    <a:pt x="2639" y="65"/>
                  </a:lnTo>
                  <a:lnTo>
                    <a:pt x="2717" y="93"/>
                  </a:lnTo>
                  <a:lnTo>
                    <a:pt x="2792" y="126"/>
                  </a:lnTo>
                  <a:lnTo>
                    <a:pt x="2867" y="165"/>
                  </a:lnTo>
                  <a:lnTo>
                    <a:pt x="2938" y="209"/>
                  </a:lnTo>
                  <a:lnTo>
                    <a:pt x="3007" y="258"/>
                  </a:lnTo>
                  <a:lnTo>
                    <a:pt x="3074" y="312"/>
                  </a:lnTo>
                  <a:lnTo>
                    <a:pt x="3138" y="371"/>
                  </a:lnTo>
                  <a:lnTo>
                    <a:pt x="3197" y="435"/>
                  </a:lnTo>
                  <a:lnTo>
                    <a:pt x="3252" y="502"/>
                  </a:lnTo>
                  <a:lnTo>
                    <a:pt x="3300" y="571"/>
                  </a:lnTo>
                  <a:lnTo>
                    <a:pt x="3344" y="642"/>
                  </a:lnTo>
                  <a:lnTo>
                    <a:pt x="3383" y="716"/>
                  </a:lnTo>
                  <a:lnTo>
                    <a:pt x="3416" y="791"/>
                  </a:lnTo>
                  <a:lnTo>
                    <a:pt x="3445" y="869"/>
                  </a:lnTo>
                  <a:lnTo>
                    <a:pt x="3469" y="947"/>
                  </a:lnTo>
                  <a:lnTo>
                    <a:pt x="3487" y="1027"/>
                  </a:lnTo>
                  <a:lnTo>
                    <a:pt x="3499" y="1107"/>
                  </a:lnTo>
                  <a:lnTo>
                    <a:pt x="3508" y="1188"/>
                  </a:lnTo>
                  <a:lnTo>
                    <a:pt x="3510" y="1270"/>
                  </a:lnTo>
                  <a:lnTo>
                    <a:pt x="3510" y="1270"/>
                  </a:lnTo>
                  <a:lnTo>
                    <a:pt x="3508" y="1350"/>
                  </a:lnTo>
                  <a:lnTo>
                    <a:pt x="3499" y="1432"/>
                  </a:lnTo>
                  <a:lnTo>
                    <a:pt x="3487" y="1512"/>
                  </a:lnTo>
                  <a:lnTo>
                    <a:pt x="3469" y="1592"/>
                  </a:lnTo>
                  <a:lnTo>
                    <a:pt x="3445" y="1670"/>
                  </a:lnTo>
                  <a:lnTo>
                    <a:pt x="3416" y="1748"/>
                  </a:lnTo>
                  <a:lnTo>
                    <a:pt x="3383" y="1823"/>
                  </a:lnTo>
                  <a:lnTo>
                    <a:pt x="3344" y="1896"/>
                  </a:lnTo>
                  <a:lnTo>
                    <a:pt x="3300" y="1968"/>
                  </a:lnTo>
                  <a:lnTo>
                    <a:pt x="3252" y="2037"/>
                  </a:lnTo>
                  <a:lnTo>
                    <a:pt x="3197" y="2104"/>
                  </a:lnTo>
                  <a:lnTo>
                    <a:pt x="3138" y="2167"/>
                  </a:lnTo>
                  <a:lnTo>
                    <a:pt x="3074" y="2226"/>
                  </a:lnTo>
                  <a:lnTo>
                    <a:pt x="3007" y="2280"/>
                  </a:lnTo>
                  <a:lnTo>
                    <a:pt x="2938" y="2330"/>
                  </a:lnTo>
                  <a:lnTo>
                    <a:pt x="2867" y="2374"/>
                  </a:lnTo>
                  <a:lnTo>
                    <a:pt x="2792" y="2412"/>
                  </a:lnTo>
                  <a:lnTo>
                    <a:pt x="2717" y="2446"/>
                  </a:lnTo>
                  <a:lnTo>
                    <a:pt x="2639" y="2474"/>
                  </a:lnTo>
                  <a:lnTo>
                    <a:pt x="2560" y="2498"/>
                  </a:lnTo>
                  <a:lnTo>
                    <a:pt x="2480" y="2516"/>
                  </a:lnTo>
                  <a:lnTo>
                    <a:pt x="2400" y="2528"/>
                  </a:lnTo>
                  <a:lnTo>
                    <a:pt x="2319" y="2536"/>
                  </a:lnTo>
                  <a:lnTo>
                    <a:pt x="2237" y="2539"/>
                  </a:lnTo>
                  <a:lnTo>
                    <a:pt x="2156" y="2536"/>
                  </a:lnTo>
                  <a:lnTo>
                    <a:pt x="2075" y="2528"/>
                  </a:lnTo>
                  <a:lnTo>
                    <a:pt x="1994" y="2516"/>
                  </a:lnTo>
                  <a:lnTo>
                    <a:pt x="1915" y="2498"/>
                  </a:lnTo>
                  <a:lnTo>
                    <a:pt x="1837" y="2474"/>
                  </a:lnTo>
                  <a:lnTo>
                    <a:pt x="1759" y="2447"/>
                  </a:lnTo>
                  <a:lnTo>
                    <a:pt x="1684" y="2413"/>
                  </a:lnTo>
                  <a:lnTo>
                    <a:pt x="1610" y="2375"/>
                  </a:lnTo>
                  <a:lnTo>
                    <a:pt x="1538" y="2331"/>
                  </a:lnTo>
                  <a:lnTo>
                    <a:pt x="1469" y="2282"/>
                  </a:lnTo>
                  <a:lnTo>
                    <a:pt x="1403" y="2228"/>
                  </a:lnTo>
                  <a:lnTo>
                    <a:pt x="1251" y="2380"/>
                  </a:lnTo>
                  <a:lnTo>
                    <a:pt x="1405" y="2534"/>
                  </a:lnTo>
                  <a:lnTo>
                    <a:pt x="1419" y="2551"/>
                  </a:lnTo>
                  <a:lnTo>
                    <a:pt x="1427" y="2569"/>
                  </a:lnTo>
                  <a:lnTo>
                    <a:pt x="1432" y="2588"/>
                  </a:lnTo>
                  <a:lnTo>
                    <a:pt x="1432" y="2608"/>
                  </a:lnTo>
                  <a:lnTo>
                    <a:pt x="1427" y="2627"/>
                  </a:lnTo>
                  <a:lnTo>
                    <a:pt x="1419" y="2645"/>
                  </a:lnTo>
                  <a:lnTo>
                    <a:pt x="1405" y="2661"/>
                  </a:lnTo>
                  <a:lnTo>
                    <a:pt x="682" y="3383"/>
                  </a:lnTo>
                  <a:lnTo>
                    <a:pt x="647" y="3414"/>
                  </a:lnTo>
                  <a:lnTo>
                    <a:pt x="609" y="3441"/>
                  </a:lnTo>
                  <a:lnTo>
                    <a:pt x="570" y="3462"/>
                  </a:lnTo>
                  <a:lnTo>
                    <a:pt x="529" y="3479"/>
                  </a:lnTo>
                  <a:lnTo>
                    <a:pt x="486" y="3490"/>
                  </a:lnTo>
                  <a:lnTo>
                    <a:pt x="442" y="3498"/>
                  </a:lnTo>
                  <a:lnTo>
                    <a:pt x="399" y="3500"/>
                  </a:lnTo>
                  <a:lnTo>
                    <a:pt x="355" y="3498"/>
                  </a:lnTo>
                  <a:lnTo>
                    <a:pt x="312" y="3490"/>
                  </a:lnTo>
                  <a:lnTo>
                    <a:pt x="269" y="3479"/>
                  </a:lnTo>
                  <a:lnTo>
                    <a:pt x="229" y="3462"/>
                  </a:lnTo>
                  <a:lnTo>
                    <a:pt x="189" y="3441"/>
                  </a:lnTo>
                  <a:lnTo>
                    <a:pt x="151" y="3414"/>
                  </a:lnTo>
                  <a:lnTo>
                    <a:pt x="117" y="3383"/>
                  </a:lnTo>
                  <a:lnTo>
                    <a:pt x="86" y="3349"/>
                  </a:lnTo>
                  <a:lnTo>
                    <a:pt x="60" y="3311"/>
                  </a:lnTo>
                  <a:lnTo>
                    <a:pt x="38" y="3272"/>
                  </a:lnTo>
                  <a:lnTo>
                    <a:pt x="21" y="3232"/>
                  </a:lnTo>
                  <a:lnTo>
                    <a:pt x="10" y="3189"/>
                  </a:lnTo>
                  <a:lnTo>
                    <a:pt x="2" y="3146"/>
                  </a:lnTo>
                  <a:lnTo>
                    <a:pt x="0" y="3102"/>
                  </a:lnTo>
                  <a:lnTo>
                    <a:pt x="0" y="3102"/>
                  </a:lnTo>
                  <a:lnTo>
                    <a:pt x="2" y="3059"/>
                  </a:lnTo>
                  <a:lnTo>
                    <a:pt x="10" y="3015"/>
                  </a:lnTo>
                  <a:lnTo>
                    <a:pt x="21" y="2973"/>
                  </a:lnTo>
                  <a:lnTo>
                    <a:pt x="38" y="2932"/>
                  </a:lnTo>
                  <a:lnTo>
                    <a:pt x="60" y="2892"/>
                  </a:lnTo>
                  <a:lnTo>
                    <a:pt x="86" y="2855"/>
                  </a:lnTo>
                  <a:lnTo>
                    <a:pt x="117" y="2820"/>
                  </a:lnTo>
                  <a:lnTo>
                    <a:pt x="841" y="2099"/>
                  </a:lnTo>
                  <a:lnTo>
                    <a:pt x="857" y="2085"/>
                  </a:lnTo>
                  <a:lnTo>
                    <a:pt x="875" y="2077"/>
                  </a:lnTo>
                  <a:lnTo>
                    <a:pt x="895" y="2072"/>
                  </a:lnTo>
                  <a:lnTo>
                    <a:pt x="915" y="2072"/>
                  </a:lnTo>
                  <a:lnTo>
                    <a:pt x="934" y="2077"/>
                  </a:lnTo>
                  <a:lnTo>
                    <a:pt x="952" y="2085"/>
                  </a:lnTo>
                  <a:lnTo>
                    <a:pt x="969" y="2099"/>
                  </a:lnTo>
                  <a:lnTo>
                    <a:pt x="1123" y="2253"/>
                  </a:lnTo>
                  <a:lnTo>
                    <a:pt x="1275" y="2101"/>
                  </a:lnTo>
                  <a:lnTo>
                    <a:pt x="1221" y="2035"/>
                  </a:lnTo>
                  <a:lnTo>
                    <a:pt x="1172" y="1965"/>
                  </a:lnTo>
                  <a:lnTo>
                    <a:pt x="1129" y="1894"/>
                  </a:lnTo>
                  <a:lnTo>
                    <a:pt x="1090" y="1821"/>
                  </a:lnTo>
                  <a:lnTo>
                    <a:pt x="1056" y="1745"/>
                  </a:lnTo>
                  <a:lnTo>
                    <a:pt x="1029" y="1668"/>
                  </a:lnTo>
                  <a:lnTo>
                    <a:pt x="1005" y="1590"/>
                  </a:lnTo>
                  <a:lnTo>
                    <a:pt x="987" y="1510"/>
                  </a:lnTo>
                  <a:lnTo>
                    <a:pt x="974" y="1430"/>
                  </a:lnTo>
                  <a:lnTo>
                    <a:pt x="967" y="1349"/>
                  </a:lnTo>
                  <a:lnTo>
                    <a:pt x="964" y="1267"/>
                  </a:lnTo>
                  <a:lnTo>
                    <a:pt x="967" y="1187"/>
                  </a:lnTo>
                  <a:lnTo>
                    <a:pt x="974" y="1106"/>
                  </a:lnTo>
                  <a:lnTo>
                    <a:pt x="988" y="1026"/>
                  </a:lnTo>
                  <a:lnTo>
                    <a:pt x="1006" y="946"/>
                  </a:lnTo>
                  <a:lnTo>
                    <a:pt x="1030" y="868"/>
                  </a:lnTo>
                  <a:lnTo>
                    <a:pt x="1057" y="790"/>
                  </a:lnTo>
                  <a:lnTo>
                    <a:pt x="1091" y="715"/>
                  </a:lnTo>
                  <a:lnTo>
                    <a:pt x="1130" y="642"/>
                  </a:lnTo>
                  <a:lnTo>
                    <a:pt x="1174" y="570"/>
                  </a:lnTo>
                  <a:lnTo>
                    <a:pt x="1223" y="501"/>
                  </a:lnTo>
                  <a:lnTo>
                    <a:pt x="1277" y="435"/>
                  </a:lnTo>
                  <a:lnTo>
                    <a:pt x="1337" y="371"/>
                  </a:lnTo>
                  <a:lnTo>
                    <a:pt x="1400" y="312"/>
                  </a:lnTo>
                  <a:lnTo>
                    <a:pt x="1467" y="258"/>
                  </a:lnTo>
                  <a:lnTo>
                    <a:pt x="1536" y="209"/>
                  </a:lnTo>
                  <a:lnTo>
                    <a:pt x="1608" y="165"/>
                  </a:lnTo>
                  <a:lnTo>
                    <a:pt x="1682" y="126"/>
                  </a:lnTo>
                  <a:lnTo>
                    <a:pt x="1757" y="93"/>
                  </a:lnTo>
                  <a:lnTo>
                    <a:pt x="1835" y="65"/>
                  </a:lnTo>
                  <a:lnTo>
                    <a:pt x="1913" y="41"/>
                  </a:lnTo>
                  <a:lnTo>
                    <a:pt x="1993" y="23"/>
                  </a:lnTo>
                  <a:lnTo>
                    <a:pt x="2074" y="11"/>
                  </a:lnTo>
                  <a:lnTo>
                    <a:pt x="2156" y="2"/>
                  </a:lnTo>
                  <a:lnTo>
                    <a:pt x="2237"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8" name="Freeform 75"/>
            <p:cNvSpPr>
              <a:spLocks noEditPoints="1"/>
            </p:cNvSpPr>
            <p:nvPr/>
          </p:nvSpPr>
          <p:spPr bwMode="auto">
            <a:xfrm>
              <a:off x="1819275" y="1978026"/>
              <a:ext cx="279400" cy="279400"/>
            </a:xfrm>
            <a:custGeom>
              <a:avLst/>
              <a:gdLst>
                <a:gd name="T0" fmla="*/ 760 w 1765"/>
                <a:gd name="T1" fmla="*/ 191 h 1760"/>
                <a:gd name="T2" fmla="*/ 586 w 1765"/>
                <a:gd name="T3" fmla="*/ 246 h 1760"/>
                <a:gd name="T4" fmla="*/ 432 w 1765"/>
                <a:gd name="T5" fmla="*/ 344 h 1760"/>
                <a:gd name="T6" fmla="*/ 306 w 1765"/>
                <a:gd name="T7" fmla="*/ 480 h 1760"/>
                <a:gd name="T8" fmla="*/ 222 w 1765"/>
                <a:gd name="T9" fmla="*/ 641 h 1760"/>
                <a:gd name="T10" fmla="*/ 183 w 1765"/>
                <a:gd name="T11" fmla="*/ 819 h 1760"/>
                <a:gd name="T12" fmla="*/ 192 w 1765"/>
                <a:gd name="T13" fmla="*/ 1003 h 1760"/>
                <a:gd name="T14" fmla="*/ 246 w 1765"/>
                <a:gd name="T15" fmla="*/ 1175 h 1760"/>
                <a:gd name="T16" fmla="*/ 344 w 1765"/>
                <a:gd name="T17" fmla="*/ 1329 h 1760"/>
                <a:gd name="T18" fmla="*/ 481 w 1765"/>
                <a:gd name="T19" fmla="*/ 1454 h 1760"/>
                <a:gd name="T20" fmla="*/ 641 w 1765"/>
                <a:gd name="T21" fmla="*/ 1538 h 1760"/>
                <a:gd name="T22" fmla="*/ 820 w 1765"/>
                <a:gd name="T23" fmla="*/ 1577 h 1760"/>
                <a:gd name="T24" fmla="*/ 1005 w 1765"/>
                <a:gd name="T25" fmla="*/ 1569 h 1760"/>
                <a:gd name="T26" fmla="*/ 1179 w 1765"/>
                <a:gd name="T27" fmla="*/ 1515 h 1760"/>
                <a:gd name="T28" fmla="*/ 1333 w 1765"/>
                <a:gd name="T29" fmla="*/ 1417 h 1760"/>
                <a:gd name="T30" fmla="*/ 1457 w 1765"/>
                <a:gd name="T31" fmla="*/ 1280 h 1760"/>
                <a:gd name="T32" fmla="*/ 1541 w 1765"/>
                <a:gd name="T33" fmla="*/ 1120 h 1760"/>
                <a:gd name="T34" fmla="*/ 1581 w 1765"/>
                <a:gd name="T35" fmla="*/ 942 h 1760"/>
                <a:gd name="T36" fmla="*/ 1573 w 1765"/>
                <a:gd name="T37" fmla="*/ 758 h 1760"/>
                <a:gd name="T38" fmla="*/ 1518 w 1765"/>
                <a:gd name="T39" fmla="*/ 585 h 1760"/>
                <a:gd name="T40" fmla="*/ 1420 w 1765"/>
                <a:gd name="T41" fmla="*/ 431 h 1760"/>
                <a:gd name="T42" fmla="*/ 1284 w 1765"/>
                <a:gd name="T43" fmla="*/ 307 h 1760"/>
                <a:gd name="T44" fmla="*/ 1122 w 1765"/>
                <a:gd name="T45" fmla="*/ 223 h 1760"/>
                <a:gd name="T46" fmla="*/ 944 w 1765"/>
                <a:gd name="T47" fmla="*/ 184 h 1760"/>
                <a:gd name="T48" fmla="*/ 952 w 1765"/>
                <a:gd name="T49" fmla="*/ 3 h 1760"/>
                <a:gd name="T50" fmla="*/ 1155 w 1765"/>
                <a:gd name="T51" fmla="*/ 44 h 1760"/>
                <a:gd name="T52" fmla="*/ 1342 w 1765"/>
                <a:gd name="T53" fmla="*/ 130 h 1760"/>
                <a:gd name="T54" fmla="*/ 1506 w 1765"/>
                <a:gd name="T55" fmla="*/ 258 h 1760"/>
                <a:gd name="T56" fmla="*/ 1635 w 1765"/>
                <a:gd name="T57" fmla="*/ 421 h 1760"/>
                <a:gd name="T58" fmla="*/ 1721 w 1765"/>
                <a:gd name="T59" fmla="*/ 608 h 1760"/>
                <a:gd name="T60" fmla="*/ 1761 w 1765"/>
                <a:gd name="T61" fmla="*/ 811 h 1760"/>
                <a:gd name="T62" fmla="*/ 1753 w 1765"/>
                <a:gd name="T63" fmla="*/ 1019 h 1760"/>
                <a:gd name="T64" fmla="*/ 1698 w 1765"/>
                <a:gd name="T65" fmla="*/ 1217 h 1760"/>
                <a:gd name="T66" fmla="*/ 1597 w 1765"/>
                <a:gd name="T67" fmla="*/ 1396 h 1760"/>
                <a:gd name="T68" fmla="*/ 1454 w 1765"/>
                <a:gd name="T69" fmla="*/ 1550 h 1760"/>
                <a:gd name="T70" fmla="*/ 1282 w 1765"/>
                <a:gd name="T71" fmla="*/ 1664 h 1760"/>
                <a:gd name="T72" fmla="*/ 1089 w 1765"/>
                <a:gd name="T73" fmla="*/ 1735 h 1760"/>
                <a:gd name="T74" fmla="*/ 882 w 1765"/>
                <a:gd name="T75" fmla="*/ 1760 h 1760"/>
                <a:gd name="T76" fmla="*/ 674 w 1765"/>
                <a:gd name="T77" fmla="*/ 1735 h 1760"/>
                <a:gd name="T78" fmla="*/ 482 w 1765"/>
                <a:gd name="T79" fmla="*/ 1664 h 1760"/>
                <a:gd name="T80" fmla="*/ 310 w 1765"/>
                <a:gd name="T81" fmla="*/ 1550 h 1760"/>
                <a:gd name="T82" fmla="*/ 167 w 1765"/>
                <a:gd name="T83" fmla="*/ 1396 h 1760"/>
                <a:gd name="T84" fmla="*/ 67 w 1765"/>
                <a:gd name="T85" fmla="*/ 1217 h 1760"/>
                <a:gd name="T86" fmla="*/ 11 w 1765"/>
                <a:gd name="T87" fmla="*/ 1019 h 1760"/>
                <a:gd name="T88" fmla="*/ 2 w 1765"/>
                <a:gd name="T89" fmla="*/ 811 h 1760"/>
                <a:gd name="T90" fmla="*/ 43 w 1765"/>
                <a:gd name="T91" fmla="*/ 608 h 1760"/>
                <a:gd name="T92" fmla="*/ 129 w 1765"/>
                <a:gd name="T93" fmla="*/ 421 h 1760"/>
                <a:gd name="T94" fmla="*/ 259 w 1765"/>
                <a:gd name="T95" fmla="*/ 258 h 1760"/>
                <a:gd name="T96" fmla="*/ 422 w 1765"/>
                <a:gd name="T97" fmla="*/ 130 h 1760"/>
                <a:gd name="T98" fmla="*/ 608 w 1765"/>
                <a:gd name="T99" fmla="*/ 44 h 1760"/>
                <a:gd name="T100" fmla="*/ 812 w 1765"/>
                <a:gd name="T101" fmla="*/ 3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5" h="1760">
                  <a:moveTo>
                    <a:pt x="882" y="181"/>
                  </a:moveTo>
                  <a:lnTo>
                    <a:pt x="820" y="184"/>
                  </a:lnTo>
                  <a:lnTo>
                    <a:pt x="760" y="191"/>
                  </a:lnTo>
                  <a:lnTo>
                    <a:pt x="700" y="205"/>
                  </a:lnTo>
                  <a:lnTo>
                    <a:pt x="641" y="223"/>
                  </a:lnTo>
                  <a:lnTo>
                    <a:pt x="586" y="246"/>
                  </a:lnTo>
                  <a:lnTo>
                    <a:pt x="532" y="274"/>
                  </a:lnTo>
                  <a:lnTo>
                    <a:pt x="481" y="307"/>
                  </a:lnTo>
                  <a:lnTo>
                    <a:pt x="432" y="344"/>
                  </a:lnTo>
                  <a:lnTo>
                    <a:pt x="386" y="385"/>
                  </a:lnTo>
                  <a:lnTo>
                    <a:pt x="344" y="431"/>
                  </a:lnTo>
                  <a:lnTo>
                    <a:pt x="306" y="480"/>
                  </a:lnTo>
                  <a:lnTo>
                    <a:pt x="273" y="532"/>
                  </a:lnTo>
                  <a:lnTo>
                    <a:pt x="246" y="585"/>
                  </a:lnTo>
                  <a:lnTo>
                    <a:pt x="222" y="641"/>
                  </a:lnTo>
                  <a:lnTo>
                    <a:pt x="204" y="698"/>
                  </a:lnTo>
                  <a:lnTo>
                    <a:pt x="192" y="758"/>
                  </a:lnTo>
                  <a:lnTo>
                    <a:pt x="183" y="819"/>
                  </a:lnTo>
                  <a:lnTo>
                    <a:pt x="181" y="881"/>
                  </a:lnTo>
                  <a:lnTo>
                    <a:pt x="183" y="942"/>
                  </a:lnTo>
                  <a:lnTo>
                    <a:pt x="192" y="1003"/>
                  </a:lnTo>
                  <a:lnTo>
                    <a:pt x="204" y="1062"/>
                  </a:lnTo>
                  <a:lnTo>
                    <a:pt x="222" y="1120"/>
                  </a:lnTo>
                  <a:lnTo>
                    <a:pt x="246" y="1175"/>
                  </a:lnTo>
                  <a:lnTo>
                    <a:pt x="273" y="1229"/>
                  </a:lnTo>
                  <a:lnTo>
                    <a:pt x="306" y="1280"/>
                  </a:lnTo>
                  <a:lnTo>
                    <a:pt x="344" y="1329"/>
                  </a:lnTo>
                  <a:lnTo>
                    <a:pt x="386" y="1375"/>
                  </a:lnTo>
                  <a:lnTo>
                    <a:pt x="432" y="1417"/>
                  </a:lnTo>
                  <a:lnTo>
                    <a:pt x="481" y="1454"/>
                  </a:lnTo>
                  <a:lnTo>
                    <a:pt x="532" y="1487"/>
                  </a:lnTo>
                  <a:lnTo>
                    <a:pt x="586" y="1515"/>
                  </a:lnTo>
                  <a:lnTo>
                    <a:pt x="641" y="1538"/>
                  </a:lnTo>
                  <a:lnTo>
                    <a:pt x="700" y="1556"/>
                  </a:lnTo>
                  <a:lnTo>
                    <a:pt x="760" y="1569"/>
                  </a:lnTo>
                  <a:lnTo>
                    <a:pt x="820" y="1577"/>
                  </a:lnTo>
                  <a:lnTo>
                    <a:pt x="882" y="1579"/>
                  </a:lnTo>
                  <a:lnTo>
                    <a:pt x="944" y="1577"/>
                  </a:lnTo>
                  <a:lnTo>
                    <a:pt x="1005" y="1569"/>
                  </a:lnTo>
                  <a:lnTo>
                    <a:pt x="1065" y="1556"/>
                  </a:lnTo>
                  <a:lnTo>
                    <a:pt x="1122" y="1538"/>
                  </a:lnTo>
                  <a:lnTo>
                    <a:pt x="1179" y="1515"/>
                  </a:lnTo>
                  <a:lnTo>
                    <a:pt x="1232" y="1487"/>
                  </a:lnTo>
                  <a:lnTo>
                    <a:pt x="1284" y="1454"/>
                  </a:lnTo>
                  <a:lnTo>
                    <a:pt x="1333" y="1417"/>
                  </a:lnTo>
                  <a:lnTo>
                    <a:pt x="1379" y="1375"/>
                  </a:lnTo>
                  <a:lnTo>
                    <a:pt x="1420" y="1329"/>
                  </a:lnTo>
                  <a:lnTo>
                    <a:pt x="1457" y="1280"/>
                  </a:lnTo>
                  <a:lnTo>
                    <a:pt x="1490" y="1229"/>
                  </a:lnTo>
                  <a:lnTo>
                    <a:pt x="1518" y="1175"/>
                  </a:lnTo>
                  <a:lnTo>
                    <a:pt x="1541" y="1120"/>
                  </a:lnTo>
                  <a:lnTo>
                    <a:pt x="1559" y="1062"/>
                  </a:lnTo>
                  <a:lnTo>
                    <a:pt x="1573" y="1003"/>
                  </a:lnTo>
                  <a:lnTo>
                    <a:pt x="1581" y="942"/>
                  </a:lnTo>
                  <a:lnTo>
                    <a:pt x="1584" y="881"/>
                  </a:lnTo>
                  <a:lnTo>
                    <a:pt x="1581" y="819"/>
                  </a:lnTo>
                  <a:lnTo>
                    <a:pt x="1573" y="758"/>
                  </a:lnTo>
                  <a:lnTo>
                    <a:pt x="1559" y="698"/>
                  </a:lnTo>
                  <a:lnTo>
                    <a:pt x="1541" y="641"/>
                  </a:lnTo>
                  <a:lnTo>
                    <a:pt x="1518" y="585"/>
                  </a:lnTo>
                  <a:lnTo>
                    <a:pt x="1490" y="532"/>
                  </a:lnTo>
                  <a:lnTo>
                    <a:pt x="1457" y="480"/>
                  </a:lnTo>
                  <a:lnTo>
                    <a:pt x="1420" y="431"/>
                  </a:lnTo>
                  <a:lnTo>
                    <a:pt x="1379" y="385"/>
                  </a:lnTo>
                  <a:lnTo>
                    <a:pt x="1333" y="344"/>
                  </a:lnTo>
                  <a:lnTo>
                    <a:pt x="1284" y="307"/>
                  </a:lnTo>
                  <a:lnTo>
                    <a:pt x="1232" y="274"/>
                  </a:lnTo>
                  <a:lnTo>
                    <a:pt x="1179" y="246"/>
                  </a:lnTo>
                  <a:lnTo>
                    <a:pt x="1122" y="223"/>
                  </a:lnTo>
                  <a:lnTo>
                    <a:pt x="1065" y="205"/>
                  </a:lnTo>
                  <a:lnTo>
                    <a:pt x="1005" y="191"/>
                  </a:lnTo>
                  <a:lnTo>
                    <a:pt x="944" y="184"/>
                  </a:lnTo>
                  <a:lnTo>
                    <a:pt x="882" y="181"/>
                  </a:lnTo>
                  <a:close/>
                  <a:moveTo>
                    <a:pt x="882" y="0"/>
                  </a:moveTo>
                  <a:lnTo>
                    <a:pt x="952" y="3"/>
                  </a:lnTo>
                  <a:lnTo>
                    <a:pt x="1021" y="12"/>
                  </a:lnTo>
                  <a:lnTo>
                    <a:pt x="1089" y="25"/>
                  </a:lnTo>
                  <a:lnTo>
                    <a:pt x="1155" y="44"/>
                  </a:lnTo>
                  <a:lnTo>
                    <a:pt x="1220" y="67"/>
                  </a:lnTo>
                  <a:lnTo>
                    <a:pt x="1282" y="96"/>
                  </a:lnTo>
                  <a:lnTo>
                    <a:pt x="1342" y="130"/>
                  </a:lnTo>
                  <a:lnTo>
                    <a:pt x="1400" y="168"/>
                  </a:lnTo>
                  <a:lnTo>
                    <a:pt x="1454" y="211"/>
                  </a:lnTo>
                  <a:lnTo>
                    <a:pt x="1506" y="258"/>
                  </a:lnTo>
                  <a:lnTo>
                    <a:pt x="1553" y="310"/>
                  </a:lnTo>
                  <a:lnTo>
                    <a:pt x="1597" y="364"/>
                  </a:lnTo>
                  <a:lnTo>
                    <a:pt x="1635" y="421"/>
                  </a:lnTo>
                  <a:lnTo>
                    <a:pt x="1669" y="482"/>
                  </a:lnTo>
                  <a:lnTo>
                    <a:pt x="1698" y="543"/>
                  </a:lnTo>
                  <a:lnTo>
                    <a:pt x="1721" y="608"/>
                  </a:lnTo>
                  <a:lnTo>
                    <a:pt x="1740" y="674"/>
                  </a:lnTo>
                  <a:lnTo>
                    <a:pt x="1753" y="742"/>
                  </a:lnTo>
                  <a:lnTo>
                    <a:pt x="1761" y="811"/>
                  </a:lnTo>
                  <a:lnTo>
                    <a:pt x="1765" y="881"/>
                  </a:lnTo>
                  <a:lnTo>
                    <a:pt x="1761" y="951"/>
                  </a:lnTo>
                  <a:lnTo>
                    <a:pt x="1753" y="1019"/>
                  </a:lnTo>
                  <a:lnTo>
                    <a:pt x="1740" y="1087"/>
                  </a:lnTo>
                  <a:lnTo>
                    <a:pt x="1721" y="1153"/>
                  </a:lnTo>
                  <a:lnTo>
                    <a:pt x="1698" y="1217"/>
                  </a:lnTo>
                  <a:lnTo>
                    <a:pt x="1669" y="1279"/>
                  </a:lnTo>
                  <a:lnTo>
                    <a:pt x="1635" y="1339"/>
                  </a:lnTo>
                  <a:lnTo>
                    <a:pt x="1597" y="1396"/>
                  </a:lnTo>
                  <a:lnTo>
                    <a:pt x="1553" y="1451"/>
                  </a:lnTo>
                  <a:lnTo>
                    <a:pt x="1506" y="1502"/>
                  </a:lnTo>
                  <a:lnTo>
                    <a:pt x="1454" y="1550"/>
                  </a:lnTo>
                  <a:lnTo>
                    <a:pt x="1400" y="1593"/>
                  </a:lnTo>
                  <a:lnTo>
                    <a:pt x="1342" y="1631"/>
                  </a:lnTo>
                  <a:lnTo>
                    <a:pt x="1282" y="1664"/>
                  </a:lnTo>
                  <a:lnTo>
                    <a:pt x="1220" y="1693"/>
                  </a:lnTo>
                  <a:lnTo>
                    <a:pt x="1155" y="1717"/>
                  </a:lnTo>
                  <a:lnTo>
                    <a:pt x="1089" y="1735"/>
                  </a:lnTo>
                  <a:lnTo>
                    <a:pt x="1021" y="1749"/>
                  </a:lnTo>
                  <a:lnTo>
                    <a:pt x="952" y="1758"/>
                  </a:lnTo>
                  <a:lnTo>
                    <a:pt x="882" y="1760"/>
                  </a:lnTo>
                  <a:lnTo>
                    <a:pt x="812" y="1758"/>
                  </a:lnTo>
                  <a:lnTo>
                    <a:pt x="742" y="1749"/>
                  </a:lnTo>
                  <a:lnTo>
                    <a:pt x="674" y="1735"/>
                  </a:lnTo>
                  <a:lnTo>
                    <a:pt x="608" y="1717"/>
                  </a:lnTo>
                  <a:lnTo>
                    <a:pt x="545" y="1693"/>
                  </a:lnTo>
                  <a:lnTo>
                    <a:pt x="482" y="1664"/>
                  </a:lnTo>
                  <a:lnTo>
                    <a:pt x="422" y="1631"/>
                  </a:lnTo>
                  <a:lnTo>
                    <a:pt x="365" y="1593"/>
                  </a:lnTo>
                  <a:lnTo>
                    <a:pt x="310" y="1550"/>
                  </a:lnTo>
                  <a:lnTo>
                    <a:pt x="259" y="1502"/>
                  </a:lnTo>
                  <a:lnTo>
                    <a:pt x="211" y="1451"/>
                  </a:lnTo>
                  <a:lnTo>
                    <a:pt x="167" y="1396"/>
                  </a:lnTo>
                  <a:lnTo>
                    <a:pt x="129" y="1339"/>
                  </a:lnTo>
                  <a:lnTo>
                    <a:pt x="96" y="1279"/>
                  </a:lnTo>
                  <a:lnTo>
                    <a:pt x="67" y="1217"/>
                  </a:lnTo>
                  <a:lnTo>
                    <a:pt x="43" y="1153"/>
                  </a:lnTo>
                  <a:lnTo>
                    <a:pt x="25" y="1087"/>
                  </a:lnTo>
                  <a:lnTo>
                    <a:pt x="11" y="1019"/>
                  </a:lnTo>
                  <a:lnTo>
                    <a:pt x="2" y="951"/>
                  </a:lnTo>
                  <a:lnTo>
                    <a:pt x="0" y="881"/>
                  </a:lnTo>
                  <a:lnTo>
                    <a:pt x="2" y="811"/>
                  </a:lnTo>
                  <a:lnTo>
                    <a:pt x="11" y="742"/>
                  </a:lnTo>
                  <a:lnTo>
                    <a:pt x="25" y="674"/>
                  </a:lnTo>
                  <a:lnTo>
                    <a:pt x="43" y="608"/>
                  </a:lnTo>
                  <a:lnTo>
                    <a:pt x="67" y="543"/>
                  </a:lnTo>
                  <a:lnTo>
                    <a:pt x="96" y="482"/>
                  </a:lnTo>
                  <a:lnTo>
                    <a:pt x="129" y="421"/>
                  </a:lnTo>
                  <a:lnTo>
                    <a:pt x="167" y="364"/>
                  </a:lnTo>
                  <a:lnTo>
                    <a:pt x="211" y="310"/>
                  </a:lnTo>
                  <a:lnTo>
                    <a:pt x="259" y="258"/>
                  </a:lnTo>
                  <a:lnTo>
                    <a:pt x="310" y="211"/>
                  </a:lnTo>
                  <a:lnTo>
                    <a:pt x="365" y="168"/>
                  </a:lnTo>
                  <a:lnTo>
                    <a:pt x="422" y="130"/>
                  </a:lnTo>
                  <a:lnTo>
                    <a:pt x="482" y="96"/>
                  </a:lnTo>
                  <a:lnTo>
                    <a:pt x="545" y="67"/>
                  </a:lnTo>
                  <a:lnTo>
                    <a:pt x="608" y="44"/>
                  </a:lnTo>
                  <a:lnTo>
                    <a:pt x="674" y="25"/>
                  </a:lnTo>
                  <a:lnTo>
                    <a:pt x="742" y="12"/>
                  </a:lnTo>
                  <a:lnTo>
                    <a:pt x="812" y="3"/>
                  </a:lnTo>
                  <a:lnTo>
                    <a:pt x="882"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9" name="Freeform 76"/>
            <p:cNvSpPr/>
            <p:nvPr/>
          </p:nvSpPr>
          <p:spPr bwMode="auto">
            <a:xfrm>
              <a:off x="1900238" y="2060576"/>
              <a:ext cx="115888" cy="114300"/>
            </a:xfrm>
            <a:custGeom>
              <a:avLst/>
              <a:gdLst>
                <a:gd name="T0" fmla="*/ 363 w 726"/>
                <a:gd name="T1" fmla="*/ 0 h 723"/>
                <a:gd name="T2" fmla="*/ 387 w 726"/>
                <a:gd name="T3" fmla="*/ 3 h 723"/>
                <a:gd name="T4" fmla="*/ 409 w 726"/>
                <a:gd name="T5" fmla="*/ 12 h 723"/>
                <a:gd name="T6" fmla="*/ 427 w 726"/>
                <a:gd name="T7" fmla="*/ 26 h 723"/>
                <a:gd name="T8" fmla="*/ 442 w 726"/>
                <a:gd name="T9" fmla="*/ 44 h 723"/>
                <a:gd name="T10" fmla="*/ 450 w 726"/>
                <a:gd name="T11" fmla="*/ 66 h 723"/>
                <a:gd name="T12" fmla="*/ 453 w 726"/>
                <a:gd name="T13" fmla="*/ 90 h 723"/>
                <a:gd name="T14" fmla="*/ 453 w 726"/>
                <a:gd name="T15" fmla="*/ 271 h 723"/>
                <a:gd name="T16" fmla="*/ 635 w 726"/>
                <a:gd name="T17" fmla="*/ 271 h 723"/>
                <a:gd name="T18" fmla="*/ 660 w 726"/>
                <a:gd name="T19" fmla="*/ 275 h 723"/>
                <a:gd name="T20" fmla="*/ 681 w 726"/>
                <a:gd name="T21" fmla="*/ 283 h 723"/>
                <a:gd name="T22" fmla="*/ 699 w 726"/>
                <a:gd name="T23" fmla="*/ 298 h 723"/>
                <a:gd name="T24" fmla="*/ 714 w 726"/>
                <a:gd name="T25" fmla="*/ 316 h 723"/>
                <a:gd name="T26" fmla="*/ 722 w 726"/>
                <a:gd name="T27" fmla="*/ 337 h 723"/>
                <a:gd name="T28" fmla="*/ 726 w 726"/>
                <a:gd name="T29" fmla="*/ 362 h 723"/>
                <a:gd name="T30" fmla="*/ 722 w 726"/>
                <a:gd name="T31" fmla="*/ 385 h 723"/>
                <a:gd name="T32" fmla="*/ 714 w 726"/>
                <a:gd name="T33" fmla="*/ 407 h 723"/>
                <a:gd name="T34" fmla="*/ 699 w 726"/>
                <a:gd name="T35" fmla="*/ 425 h 723"/>
                <a:gd name="T36" fmla="*/ 681 w 726"/>
                <a:gd name="T37" fmla="*/ 439 h 723"/>
                <a:gd name="T38" fmla="*/ 660 w 726"/>
                <a:gd name="T39" fmla="*/ 449 h 723"/>
                <a:gd name="T40" fmla="*/ 635 w 726"/>
                <a:gd name="T41" fmla="*/ 452 h 723"/>
                <a:gd name="T42" fmla="*/ 453 w 726"/>
                <a:gd name="T43" fmla="*/ 452 h 723"/>
                <a:gd name="T44" fmla="*/ 453 w 726"/>
                <a:gd name="T45" fmla="*/ 633 h 723"/>
                <a:gd name="T46" fmla="*/ 450 w 726"/>
                <a:gd name="T47" fmla="*/ 656 h 723"/>
                <a:gd name="T48" fmla="*/ 442 w 726"/>
                <a:gd name="T49" fmla="*/ 679 h 723"/>
                <a:gd name="T50" fmla="*/ 427 w 726"/>
                <a:gd name="T51" fmla="*/ 697 h 723"/>
                <a:gd name="T52" fmla="*/ 409 w 726"/>
                <a:gd name="T53" fmla="*/ 710 h 723"/>
                <a:gd name="T54" fmla="*/ 387 w 726"/>
                <a:gd name="T55" fmla="*/ 720 h 723"/>
                <a:gd name="T56" fmla="*/ 363 w 726"/>
                <a:gd name="T57" fmla="*/ 723 h 723"/>
                <a:gd name="T58" fmla="*/ 339 w 726"/>
                <a:gd name="T59" fmla="*/ 720 h 723"/>
                <a:gd name="T60" fmla="*/ 317 w 726"/>
                <a:gd name="T61" fmla="*/ 710 h 723"/>
                <a:gd name="T62" fmla="*/ 299 w 726"/>
                <a:gd name="T63" fmla="*/ 697 h 723"/>
                <a:gd name="T64" fmla="*/ 285 w 726"/>
                <a:gd name="T65" fmla="*/ 679 h 723"/>
                <a:gd name="T66" fmla="*/ 276 w 726"/>
                <a:gd name="T67" fmla="*/ 656 h 723"/>
                <a:gd name="T68" fmla="*/ 272 w 726"/>
                <a:gd name="T69" fmla="*/ 633 h 723"/>
                <a:gd name="T70" fmla="*/ 272 w 726"/>
                <a:gd name="T71" fmla="*/ 452 h 723"/>
                <a:gd name="T72" fmla="*/ 91 w 726"/>
                <a:gd name="T73" fmla="*/ 452 h 723"/>
                <a:gd name="T74" fmla="*/ 67 w 726"/>
                <a:gd name="T75" fmla="*/ 449 h 723"/>
                <a:gd name="T76" fmla="*/ 45 w 726"/>
                <a:gd name="T77" fmla="*/ 439 h 723"/>
                <a:gd name="T78" fmla="*/ 27 w 726"/>
                <a:gd name="T79" fmla="*/ 425 h 723"/>
                <a:gd name="T80" fmla="*/ 13 w 726"/>
                <a:gd name="T81" fmla="*/ 407 h 723"/>
                <a:gd name="T82" fmla="*/ 3 w 726"/>
                <a:gd name="T83" fmla="*/ 385 h 723"/>
                <a:gd name="T84" fmla="*/ 0 w 726"/>
                <a:gd name="T85" fmla="*/ 362 h 723"/>
                <a:gd name="T86" fmla="*/ 3 w 726"/>
                <a:gd name="T87" fmla="*/ 337 h 723"/>
                <a:gd name="T88" fmla="*/ 13 w 726"/>
                <a:gd name="T89" fmla="*/ 316 h 723"/>
                <a:gd name="T90" fmla="*/ 27 w 726"/>
                <a:gd name="T91" fmla="*/ 298 h 723"/>
                <a:gd name="T92" fmla="*/ 45 w 726"/>
                <a:gd name="T93" fmla="*/ 283 h 723"/>
                <a:gd name="T94" fmla="*/ 67 w 726"/>
                <a:gd name="T95" fmla="*/ 275 h 723"/>
                <a:gd name="T96" fmla="*/ 91 w 726"/>
                <a:gd name="T97" fmla="*/ 271 h 723"/>
                <a:gd name="T98" fmla="*/ 272 w 726"/>
                <a:gd name="T99" fmla="*/ 271 h 723"/>
                <a:gd name="T100" fmla="*/ 272 w 726"/>
                <a:gd name="T101" fmla="*/ 90 h 723"/>
                <a:gd name="T102" fmla="*/ 276 w 726"/>
                <a:gd name="T103" fmla="*/ 66 h 723"/>
                <a:gd name="T104" fmla="*/ 285 w 726"/>
                <a:gd name="T105" fmla="*/ 44 h 723"/>
                <a:gd name="T106" fmla="*/ 299 w 726"/>
                <a:gd name="T107" fmla="*/ 26 h 723"/>
                <a:gd name="T108" fmla="*/ 317 w 726"/>
                <a:gd name="T109" fmla="*/ 12 h 723"/>
                <a:gd name="T110" fmla="*/ 339 w 726"/>
                <a:gd name="T111" fmla="*/ 3 h 723"/>
                <a:gd name="T112" fmla="*/ 363 w 726"/>
                <a:gd name="T113" fmla="*/ 0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6" h="723">
                  <a:moveTo>
                    <a:pt x="363" y="0"/>
                  </a:moveTo>
                  <a:lnTo>
                    <a:pt x="387" y="3"/>
                  </a:lnTo>
                  <a:lnTo>
                    <a:pt x="409" y="12"/>
                  </a:lnTo>
                  <a:lnTo>
                    <a:pt x="427" y="26"/>
                  </a:lnTo>
                  <a:lnTo>
                    <a:pt x="442" y="44"/>
                  </a:lnTo>
                  <a:lnTo>
                    <a:pt x="450" y="66"/>
                  </a:lnTo>
                  <a:lnTo>
                    <a:pt x="453" y="90"/>
                  </a:lnTo>
                  <a:lnTo>
                    <a:pt x="453" y="271"/>
                  </a:lnTo>
                  <a:lnTo>
                    <a:pt x="635" y="271"/>
                  </a:lnTo>
                  <a:lnTo>
                    <a:pt x="660" y="275"/>
                  </a:lnTo>
                  <a:lnTo>
                    <a:pt x="681" y="283"/>
                  </a:lnTo>
                  <a:lnTo>
                    <a:pt x="699" y="298"/>
                  </a:lnTo>
                  <a:lnTo>
                    <a:pt x="714" y="316"/>
                  </a:lnTo>
                  <a:lnTo>
                    <a:pt x="722" y="337"/>
                  </a:lnTo>
                  <a:lnTo>
                    <a:pt x="726" y="362"/>
                  </a:lnTo>
                  <a:lnTo>
                    <a:pt x="722" y="385"/>
                  </a:lnTo>
                  <a:lnTo>
                    <a:pt x="714" y="407"/>
                  </a:lnTo>
                  <a:lnTo>
                    <a:pt x="699" y="425"/>
                  </a:lnTo>
                  <a:lnTo>
                    <a:pt x="681" y="439"/>
                  </a:lnTo>
                  <a:lnTo>
                    <a:pt x="660" y="449"/>
                  </a:lnTo>
                  <a:lnTo>
                    <a:pt x="635" y="452"/>
                  </a:lnTo>
                  <a:lnTo>
                    <a:pt x="453" y="452"/>
                  </a:lnTo>
                  <a:lnTo>
                    <a:pt x="453" y="633"/>
                  </a:lnTo>
                  <a:lnTo>
                    <a:pt x="450" y="656"/>
                  </a:lnTo>
                  <a:lnTo>
                    <a:pt x="442" y="679"/>
                  </a:lnTo>
                  <a:lnTo>
                    <a:pt x="427" y="697"/>
                  </a:lnTo>
                  <a:lnTo>
                    <a:pt x="409" y="710"/>
                  </a:lnTo>
                  <a:lnTo>
                    <a:pt x="387" y="720"/>
                  </a:lnTo>
                  <a:lnTo>
                    <a:pt x="363" y="723"/>
                  </a:lnTo>
                  <a:lnTo>
                    <a:pt x="339" y="720"/>
                  </a:lnTo>
                  <a:lnTo>
                    <a:pt x="317" y="710"/>
                  </a:lnTo>
                  <a:lnTo>
                    <a:pt x="299" y="697"/>
                  </a:lnTo>
                  <a:lnTo>
                    <a:pt x="285" y="679"/>
                  </a:lnTo>
                  <a:lnTo>
                    <a:pt x="276" y="656"/>
                  </a:lnTo>
                  <a:lnTo>
                    <a:pt x="272" y="633"/>
                  </a:lnTo>
                  <a:lnTo>
                    <a:pt x="272" y="452"/>
                  </a:lnTo>
                  <a:lnTo>
                    <a:pt x="91" y="452"/>
                  </a:lnTo>
                  <a:lnTo>
                    <a:pt x="67" y="449"/>
                  </a:lnTo>
                  <a:lnTo>
                    <a:pt x="45" y="439"/>
                  </a:lnTo>
                  <a:lnTo>
                    <a:pt x="27" y="425"/>
                  </a:lnTo>
                  <a:lnTo>
                    <a:pt x="13" y="407"/>
                  </a:lnTo>
                  <a:lnTo>
                    <a:pt x="3" y="385"/>
                  </a:lnTo>
                  <a:lnTo>
                    <a:pt x="0" y="362"/>
                  </a:lnTo>
                  <a:lnTo>
                    <a:pt x="3" y="337"/>
                  </a:lnTo>
                  <a:lnTo>
                    <a:pt x="13" y="316"/>
                  </a:lnTo>
                  <a:lnTo>
                    <a:pt x="27" y="298"/>
                  </a:lnTo>
                  <a:lnTo>
                    <a:pt x="45" y="283"/>
                  </a:lnTo>
                  <a:lnTo>
                    <a:pt x="67" y="275"/>
                  </a:lnTo>
                  <a:lnTo>
                    <a:pt x="91" y="271"/>
                  </a:lnTo>
                  <a:lnTo>
                    <a:pt x="272" y="271"/>
                  </a:lnTo>
                  <a:lnTo>
                    <a:pt x="272" y="90"/>
                  </a:lnTo>
                  <a:lnTo>
                    <a:pt x="276" y="66"/>
                  </a:lnTo>
                  <a:lnTo>
                    <a:pt x="285" y="44"/>
                  </a:lnTo>
                  <a:lnTo>
                    <a:pt x="299" y="26"/>
                  </a:lnTo>
                  <a:lnTo>
                    <a:pt x="317" y="12"/>
                  </a:lnTo>
                  <a:lnTo>
                    <a:pt x="339" y="3"/>
                  </a:lnTo>
                  <a:lnTo>
                    <a:pt x="363"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60" name="Freeform 124"/>
          <p:cNvSpPr>
            <a:spLocks noEditPoints="1"/>
          </p:cNvSpPr>
          <p:nvPr/>
        </p:nvSpPr>
        <p:spPr bwMode="auto">
          <a:xfrm>
            <a:off x="5718061" y="3201237"/>
            <a:ext cx="816184" cy="720030"/>
          </a:xfrm>
          <a:custGeom>
            <a:avLst/>
            <a:gdLst>
              <a:gd name="T0" fmla="*/ 1495 w 3650"/>
              <a:gd name="T1" fmla="*/ 3047 h 3224"/>
              <a:gd name="T2" fmla="*/ 1498 w 3650"/>
              <a:gd name="T3" fmla="*/ 3044 h 3224"/>
              <a:gd name="T4" fmla="*/ 198 w 3650"/>
              <a:gd name="T5" fmla="*/ 981 h 3224"/>
              <a:gd name="T6" fmla="*/ 179 w 3650"/>
              <a:gd name="T7" fmla="*/ 1543 h 3224"/>
              <a:gd name="T8" fmla="*/ 342 w 3650"/>
              <a:gd name="T9" fmla="*/ 1579 h 3224"/>
              <a:gd name="T10" fmla="*/ 3250 w 3650"/>
              <a:gd name="T11" fmla="*/ 1591 h 3224"/>
              <a:gd name="T12" fmla="*/ 3423 w 3650"/>
              <a:gd name="T13" fmla="*/ 1451 h 3224"/>
              <a:gd name="T14" fmla="*/ 3470 w 3650"/>
              <a:gd name="T15" fmla="*/ 1227 h 3224"/>
              <a:gd name="T16" fmla="*/ 3366 w 3650"/>
              <a:gd name="T17" fmla="*/ 1029 h 3224"/>
              <a:gd name="T18" fmla="*/ 617 w 3650"/>
              <a:gd name="T19" fmla="*/ 728 h 3224"/>
              <a:gd name="T20" fmla="*/ 529 w 3650"/>
              <a:gd name="T21" fmla="*/ 784 h 3224"/>
              <a:gd name="T22" fmla="*/ 521 w 3650"/>
              <a:gd name="T23" fmla="*/ 1746 h 3224"/>
              <a:gd name="T24" fmla="*/ 585 w 3650"/>
              <a:gd name="T25" fmla="*/ 1816 h 3224"/>
              <a:gd name="T26" fmla="*/ 627 w 3650"/>
              <a:gd name="T27" fmla="*/ 1821 h 3224"/>
              <a:gd name="T28" fmla="*/ 761 w 3650"/>
              <a:gd name="T29" fmla="*/ 1822 h 3224"/>
              <a:gd name="T30" fmla="*/ 949 w 3650"/>
              <a:gd name="T31" fmla="*/ 1822 h 3224"/>
              <a:gd name="T32" fmla="*/ 1083 w 3650"/>
              <a:gd name="T33" fmla="*/ 1822 h 3224"/>
              <a:gd name="T34" fmla="*/ 3024 w 3650"/>
              <a:gd name="T35" fmla="*/ 175 h 3224"/>
              <a:gd name="T36" fmla="*/ 2568 w 3650"/>
              <a:gd name="T37" fmla="*/ 398 h 3224"/>
              <a:gd name="T38" fmla="*/ 1772 w 3650"/>
              <a:gd name="T39" fmla="*/ 645 h 3224"/>
              <a:gd name="T40" fmla="*/ 1441 w 3650"/>
              <a:gd name="T41" fmla="*/ 1850 h 3224"/>
              <a:gd name="T42" fmla="*/ 2255 w 3650"/>
              <a:gd name="T43" fmla="*/ 2034 h 3224"/>
              <a:gd name="T44" fmla="*/ 3022 w 3650"/>
              <a:gd name="T45" fmla="*/ 2373 h 3224"/>
              <a:gd name="T46" fmla="*/ 3028 w 3650"/>
              <a:gd name="T47" fmla="*/ 2371 h 3224"/>
              <a:gd name="T48" fmla="*/ 3026 w 3650"/>
              <a:gd name="T49" fmla="*/ 177 h 3224"/>
              <a:gd name="T50" fmla="*/ 3116 w 3650"/>
              <a:gd name="T51" fmla="*/ 24 h 3224"/>
              <a:gd name="T52" fmla="*/ 3202 w 3650"/>
              <a:gd name="T53" fmla="*/ 148 h 3224"/>
              <a:gd name="T54" fmla="*/ 3368 w 3650"/>
              <a:gd name="T55" fmla="*/ 817 h 3224"/>
              <a:gd name="T56" fmla="*/ 3571 w 3650"/>
              <a:gd name="T57" fmla="*/ 1003 h 3224"/>
              <a:gd name="T58" fmla="*/ 3650 w 3650"/>
              <a:gd name="T59" fmla="*/ 1274 h 3224"/>
              <a:gd name="T60" fmla="*/ 3571 w 3650"/>
              <a:gd name="T61" fmla="*/ 1546 h 3224"/>
              <a:gd name="T62" fmla="*/ 3368 w 3650"/>
              <a:gd name="T63" fmla="*/ 1732 h 3224"/>
              <a:gd name="T64" fmla="*/ 3202 w 3650"/>
              <a:gd name="T65" fmla="*/ 2402 h 3224"/>
              <a:gd name="T66" fmla="*/ 3116 w 3650"/>
              <a:gd name="T67" fmla="*/ 2525 h 3224"/>
              <a:gd name="T68" fmla="*/ 2964 w 3650"/>
              <a:gd name="T69" fmla="*/ 2540 h 3224"/>
              <a:gd name="T70" fmla="*/ 2369 w 3650"/>
              <a:gd name="T71" fmla="*/ 2262 h 3224"/>
              <a:gd name="T72" fmla="*/ 1621 w 3650"/>
              <a:gd name="T73" fmla="*/ 2055 h 3224"/>
              <a:gd name="T74" fmla="*/ 1675 w 3650"/>
              <a:gd name="T75" fmla="*/ 3040 h 3224"/>
              <a:gd name="T76" fmla="*/ 1624 w 3650"/>
              <a:gd name="T77" fmla="*/ 3170 h 3224"/>
              <a:gd name="T78" fmla="*/ 1495 w 3650"/>
              <a:gd name="T79" fmla="*/ 3224 h 3224"/>
              <a:gd name="T80" fmla="*/ 969 w 3650"/>
              <a:gd name="T81" fmla="*/ 3182 h 3224"/>
              <a:gd name="T82" fmla="*/ 470 w 3650"/>
              <a:gd name="T83" fmla="*/ 1956 h 3224"/>
              <a:gd name="T84" fmla="*/ 352 w 3650"/>
              <a:gd name="T85" fmla="*/ 1797 h 3224"/>
              <a:gd name="T86" fmla="*/ 124 w 3650"/>
              <a:gd name="T87" fmla="*/ 1729 h 3224"/>
              <a:gd name="T88" fmla="*/ 12 w 3650"/>
              <a:gd name="T89" fmla="*/ 1598 h 3224"/>
              <a:gd name="T90" fmla="*/ 12 w 3650"/>
              <a:gd name="T91" fmla="*/ 951 h 3224"/>
              <a:gd name="T92" fmla="*/ 124 w 3650"/>
              <a:gd name="T93" fmla="*/ 821 h 3224"/>
              <a:gd name="T94" fmla="*/ 352 w 3650"/>
              <a:gd name="T95" fmla="*/ 755 h 3224"/>
              <a:gd name="T96" fmla="*/ 465 w 3650"/>
              <a:gd name="T97" fmla="*/ 598 h 3224"/>
              <a:gd name="T98" fmla="*/ 622 w 3650"/>
              <a:gd name="T99" fmla="*/ 552 h 3224"/>
              <a:gd name="T100" fmla="*/ 739 w 3650"/>
              <a:gd name="T101" fmla="*/ 552 h 3224"/>
              <a:gd name="T102" fmla="*/ 940 w 3650"/>
              <a:gd name="T103" fmla="*/ 551 h 3224"/>
              <a:gd name="T104" fmla="*/ 1123 w 3650"/>
              <a:gd name="T105" fmla="*/ 549 h 3224"/>
              <a:gd name="T106" fmla="*/ 1352 w 3650"/>
              <a:gd name="T107" fmla="*/ 533 h 3224"/>
              <a:gd name="T108" fmla="*/ 2169 w 3650"/>
              <a:gd name="T109" fmla="*/ 357 h 3224"/>
              <a:gd name="T110" fmla="*/ 2935 w 3650"/>
              <a:gd name="T111" fmla="*/ 23 h 3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50" h="3224">
                <a:moveTo>
                  <a:pt x="702" y="1998"/>
                </a:moveTo>
                <a:lnTo>
                  <a:pt x="1082" y="3046"/>
                </a:lnTo>
                <a:lnTo>
                  <a:pt x="1083" y="3047"/>
                </a:lnTo>
                <a:lnTo>
                  <a:pt x="1084" y="3047"/>
                </a:lnTo>
                <a:lnTo>
                  <a:pt x="1495" y="3047"/>
                </a:lnTo>
                <a:lnTo>
                  <a:pt x="1497" y="3047"/>
                </a:lnTo>
                <a:lnTo>
                  <a:pt x="1498" y="3046"/>
                </a:lnTo>
                <a:lnTo>
                  <a:pt x="1498" y="3046"/>
                </a:lnTo>
                <a:lnTo>
                  <a:pt x="1498" y="3045"/>
                </a:lnTo>
                <a:lnTo>
                  <a:pt x="1498" y="3044"/>
                </a:lnTo>
                <a:lnTo>
                  <a:pt x="1118" y="1998"/>
                </a:lnTo>
                <a:lnTo>
                  <a:pt x="702" y="1998"/>
                </a:lnTo>
                <a:close/>
                <a:moveTo>
                  <a:pt x="229" y="971"/>
                </a:moveTo>
                <a:lnTo>
                  <a:pt x="212" y="974"/>
                </a:lnTo>
                <a:lnTo>
                  <a:pt x="198" y="981"/>
                </a:lnTo>
                <a:lnTo>
                  <a:pt x="187" y="993"/>
                </a:lnTo>
                <a:lnTo>
                  <a:pt x="179" y="1008"/>
                </a:lnTo>
                <a:lnTo>
                  <a:pt x="176" y="1023"/>
                </a:lnTo>
                <a:lnTo>
                  <a:pt x="176" y="1527"/>
                </a:lnTo>
                <a:lnTo>
                  <a:pt x="179" y="1543"/>
                </a:lnTo>
                <a:lnTo>
                  <a:pt x="187" y="1558"/>
                </a:lnTo>
                <a:lnTo>
                  <a:pt x="198" y="1569"/>
                </a:lnTo>
                <a:lnTo>
                  <a:pt x="212" y="1576"/>
                </a:lnTo>
                <a:lnTo>
                  <a:pt x="229" y="1579"/>
                </a:lnTo>
                <a:lnTo>
                  <a:pt x="342" y="1579"/>
                </a:lnTo>
                <a:lnTo>
                  <a:pt x="342" y="971"/>
                </a:lnTo>
                <a:lnTo>
                  <a:pt x="229" y="971"/>
                </a:lnTo>
                <a:close/>
                <a:moveTo>
                  <a:pt x="3204" y="946"/>
                </a:moveTo>
                <a:lnTo>
                  <a:pt x="3204" y="1604"/>
                </a:lnTo>
                <a:lnTo>
                  <a:pt x="3250" y="1591"/>
                </a:lnTo>
                <a:lnTo>
                  <a:pt x="3292" y="1573"/>
                </a:lnTo>
                <a:lnTo>
                  <a:pt x="3330" y="1550"/>
                </a:lnTo>
                <a:lnTo>
                  <a:pt x="3366" y="1521"/>
                </a:lnTo>
                <a:lnTo>
                  <a:pt x="3397" y="1489"/>
                </a:lnTo>
                <a:lnTo>
                  <a:pt x="3423" y="1451"/>
                </a:lnTo>
                <a:lnTo>
                  <a:pt x="3444" y="1411"/>
                </a:lnTo>
                <a:lnTo>
                  <a:pt x="3461" y="1368"/>
                </a:lnTo>
                <a:lnTo>
                  <a:pt x="3470" y="1323"/>
                </a:lnTo>
                <a:lnTo>
                  <a:pt x="3474" y="1274"/>
                </a:lnTo>
                <a:lnTo>
                  <a:pt x="3470" y="1227"/>
                </a:lnTo>
                <a:lnTo>
                  <a:pt x="3461" y="1181"/>
                </a:lnTo>
                <a:lnTo>
                  <a:pt x="3444" y="1138"/>
                </a:lnTo>
                <a:lnTo>
                  <a:pt x="3423" y="1098"/>
                </a:lnTo>
                <a:lnTo>
                  <a:pt x="3397" y="1061"/>
                </a:lnTo>
                <a:lnTo>
                  <a:pt x="3366" y="1029"/>
                </a:lnTo>
                <a:lnTo>
                  <a:pt x="3330" y="1000"/>
                </a:lnTo>
                <a:lnTo>
                  <a:pt x="3292" y="977"/>
                </a:lnTo>
                <a:lnTo>
                  <a:pt x="3250" y="958"/>
                </a:lnTo>
                <a:lnTo>
                  <a:pt x="3204" y="946"/>
                </a:lnTo>
                <a:close/>
                <a:moveTo>
                  <a:pt x="617" y="728"/>
                </a:moveTo>
                <a:lnTo>
                  <a:pt x="595" y="731"/>
                </a:lnTo>
                <a:lnTo>
                  <a:pt x="574" y="739"/>
                </a:lnTo>
                <a:lnTo>
                  <a:pt x="555" y="750"/>
                </a:lnTo>
                <a:lnTo>
                  <a:pt x="540" y="765"/>
                </a:lnTo>
                <a:lnTo>
                  <a:pt x="529" y="784"/>
                </a:lnTo>
                <a:lnTo>
                  <a:pt x="521" y="805"/>
                </a:lnTo>
                <a:lnTo>
                  <a:pt x="518" y="827"/>
                </a:lnTo>
                <a:lnTo>
                  <a:pt x="518" y="827"/>
                </a:lnTo>
                <a:lnTo>
                  <a:pt x="518" y="1722"/>
                </a:lnTo>
                <a:lnTo>
                  <a:pt x="521" y="1746"/>
                </a:lnTo>
                <a:lnTo>
                  <a:pt x="529" y="1768"/>
                </a:lnTo>
                <a:lnTo>
                  <a:pt x="541" y="1785"/>
                </a:lnTo>
                <a:lnTo>
                  <a:pt x="557" y="1801"/>
                </a:lnTo>
                <a:lnTo>
                  <a:pt x="577" y="1813"/>
                </a:lnTo>
                <a:lnTo>
                  <a:pt x="585" y="1816"/>
                </a:lnTo>
                <a:lnTo>
                  <a:pt x="592" y="1819"/>
                </a:lnTo>
                <a:lnTo>
                  <a:pt x="601" y="1820"/>
                </a:lnTo>
                <a:lnTo>
                  <a:pt x="611" y="1821"/>
                </a:lnTo>
                <a:lnTo>
                  <a:pt x="615" y="1821"/>
                </a:lnTo>
                <a:lnTo>
                  <a:pt x="627" y="1821"/>
                </a:lnTo>
                <a:lnTo>
                  <a:pt x="645" y="1821"/>
                </a:lnTo>
                <a:lnTo>
                  <a:pt x="667" y="1821"/>
                </a:lnTo>
                <a:lnTo>
                  <a:pt x="696" y="1822"/>
                </a:lnTo>
                <a:lnTo>
                  <a:pt x="727" y="1822"/>
                </a:lnTo>
                <a:lnTo>
                  <a:pt x="761" y="1822"/>
                </a:lnTo>
                <a:lnTo>
                  <a:pt x="797" y="1822"/>
                </a:lnTo>
                <a:lnTo>
                  <a:pt x="836" y="1822"/>
                </a:lnTo>
                <a:lnTo>
                  <a:pt x="874" y="1822"/>
                </a:lnTo>
                <a:lnTo>
                  <a:pt x="911" y="1822"/>
                </a:lnTo>
                <a:lnTo>
                  <a:pt x="949" y="1822"/>
                </a:lnTo>
                <a:lnTo>
                  <a:pt x="983" y="1822"/>
                </a:lnTo>
                <a:lnTo>
                  <a:pt x="1014" y="1822"/>
                </a:lnTo>
                <a:lnTo>
                  <a:pt x="1042" y="1822"/>
                </a:lnTo>
                <a:lnTo>
                  <a:pt x="1065" y="1822"/>
                </a:lnTo>
                <a:lnTo>
                  <a:pt x="1083" y="1822"/>
                </a:lnTo>
                <a:lnTo>
                  <a:pt x="1094" y="1822"/>
                </a:lnTo>
                <a:lnTo>
                  <a:pt x="1097" y="1822"/>
                </a:lnTo>
                <a:lnTo>
                  <a:pt x="1097" y="728"/>
                </a:lnTo>
                <a:lnTo>
                  <a:pt x="617" y="728"/>
                </a:lnTo>
                <a:close/>
                <a:moveTo>
                  <a:pt x="3024" y="175"/>
                </a:moveTo>
                <a:lnTo>
                  <a:pt x="3023" y="175"/>
                </a:lnTo>
                <a:lnTo>
                  <a:pt x="3022" y="177"/>
                </a:lnTo>
                <a:lnTo>
                  <a:pt x="2872" y="256"/>
                </a:lnTo>
                <a:lnTo>
                  <a:pt x="2722" y="330"/>
                </a:lnTo>
                <a:lnTo>
                  <a:pt x="2568" y="398"/>
                </a:lnTo>
                <a:lnTo>
                  <a:pt x="2413" y="459"/>
                </a:lnTo>
                <a:lnTo>
                  <a:pt x="2255" y="514"/>
                </a:lnTo>
                <a:lnTo>
                  <a:pt x="2096" y="564"/>
                </a:lnTo>
                <a:lnTo>
                  <a:pt x="1936" y="607"/>
                </a:lnTo>
                <a:lnTo>
                  <a:pt x="1772" y="645"/>
                </a:lnTo>
                <a:lnTo>
                  <a:pt x="1608" y="676"/>
                </a:lnTo>
                <a:lnTo>
                  <a:pt x="1441" y="700"/>
                </a:lnTo>
                <a:lnTo>
                  <a:pt x="1274" y="719"/>
                </a:lnTo>
                <a:lnTo>
                  <a:pt x="1274" y="1831"/>
                </a:lnTo>
                <a:lnTo>
                  <a:pt x="1441" y="1850"/>
                </a:lnTo>
                <a:lnTo>
                  <a:pt x="1608" y="1874"/>
                </a:lnTo>
                <a:lnTo>
                  <a:pt x="1772" y="1905"/>
                </a:lnTo>
                <a:lnTo>
                  <a:pt x="1936" y="1943"/>
                </a:lnTo>
                <a:lnTo>
                  <a:pt x="2096" y="1986"/>
                </a:lnTo>
                <a:lnTo>
                  <a:pt x="2255" y="2034"/>
                </a:lnTo>
                <a:lnTo>
                  <a:pt x="2412" y="2091"/>
                </a:lnTo>
                <a:lnTo>
                  <a:pt x="2568" y="2152"/>
                </a:lnTo>
                <a:lnTo>
                  <a:pt x="2722" y="2219"/>
                </a:lnTo>
                <a:lnTo>
                  <a:pt x="2872" y="2293"/>
                </a:lnTo>
                <a:lnTo>
                  <a:pt x="3022" y="2373"/>
                </a:lnTo>
                <a:lnTo>
                  <a:pt x="3023" y="2373"/>
                </a:lnTo>
                <a:lnTo>
                  <a:pt x="3024" y="2374"/>
                </a:lnTo>
                <a:lnTo>
                  <a:pt x="3026" y="2373"/>
                </a:lnTo>
                <a:lnTo>
                  <a:pt x="3027" y="2372"/>
                </a:lnTo>
                <a:lnTo>
                  <a:pt x="3028" y="2371"/>
                </a:lnTo>
                <a:lnTo>
                  <a:pt x="3028" y="2370"/>
                </a:lnTo>
                <a:lnTo>
                  <a:pt x="3028" y="180"/>
                </a:lnTo>
                <a:lnTo>
                  <a:pt x="3028" y="179"/>
                </a:lnTo>
                <a:lnTo>
                  <a:pt x="3027" y="178"/>
                </a:lnTo>
                <a:lnTo>
                  <a:pt x="3026" y="177"/>
                </a:lnTo>
                <a:lnTo>
                  <a:pt x="3024" y="175"/>
                </a:lnTo>
                <a:close/>
                <a:moveTo>
                  <a:pt x="3026" y="0"/>
                </a:moveTo>
                <a:lnTo>
                  <a:pt x="3056" y="2"/>
                </a:lnTo>
                <a:lnTo>
                  <a:pt x="3087" y="11"/>
                </a:lnTo>
                <a:lnTo>
                  <a:pt x="3116" y="24"/>
                </a:lnTo>
                <a:lnTo>
                  <a:pt x="3141" y="43"/>
                </a:lnTo>
                <a:lnTo>
                  <a:pt x="3163" y="65"/>
                </a:lnTo>
                <a:lnTo>
                  <a:pt x="3181" y="90"/>
                </a:lnTo>
                <a:lnTo>
                  <a:pt x="3194" y="118"/>
                </a:lnTo>
                <a:lnTo>
                  <a:pt x="3202" y="148"/>
                </a:lnTo>
                <a:lnTo>
                  <a:pt x="3204" y="180"/>
                </a:lnTo>
                <a:lnTo>
                  <a:pt x="3204" y="767"/>
                </a:lnTo>
                <a:lnTo>
                  <a:pt x="3262" y="779"/>
                </a:lnTo>
                <a:lnTo>
                  <a:pt x="3316" y="795"/>
                </a:lnTo>
                <a:lnTo>
                  <a:pt x="3368" y="817"/>
                </a:lnTo>
                <a:lnTo>
                  <a:pt x="3417" y="845"/>
                </a:lnTo>
                <a:lnTo>
                  <a:pt x="3461" y="878"/>
                </a:lnTo>
                <a:lnTo>
                  <a:pt x="3503" y="916"/>
                </a:lnTo>
                <a:lnTo>
                  <a:pt x="3539" y="957"/>
                </a:lnTo>
                <a:lnTo>
                  <a:pt x="3571" y="1003"/>
                </a:lnTo>
                <a:lnTo>
                  <a:pt x="3599" y="1052"/>
                </a:lnTo>
                <a:lnTo>
                  <a:pt x="3620" y="1104"/>
                </a:lnTo>
                <a:lnTo>
                  <a:pt x="3637" y="1158"/>
                </a:lnTo>
                <a:lnTo>
                  <a:pt x="3647" y="1216"/>
                </a:lnTo>
                <a:lnTo>
                  <a:pt x="3650" y="1274"/>
                </a:lnTo>
                <a:lnTo>
                  <a:pt x="3647" y="1334"/>
                </a:lnTo>
                <a:lnTo>
                  <a:pt x="3637" y="1390"/>
                </a:lnTo>
                <a:lnTo>
                  <a:pt x="3620" y="1446"/>
                </a:lnTo>
                <a:lnTo>
                  <a:pt x="3599" y="1498"/>
                </a:lnTo>
                <a:lnTo>
                  <a:pt x="3571" y="1546"/>
                </a:lnTo>
                <a:lnTo>
                  <a:pt x="3539" y="1592"/>
                </a:lnTo>
                <a:lnTo>
                  <a:pt x="3503" y="1634"/>
                </a:lnTo>
                <a:lnTo>
                  <a:pt x="3461" y="1672"/>
                </a:lnTo>
                <a:lnTo>
                  <a:pt x="3417" y="1705"/>
                </a:lnTo>
                <a:lnTo>
                  <a:pt x="3368" y="1732"/>
                </a:lnTo>
                <a:lnTo>
                  <a:pt x="3316" y="1755"/>
                </a:lnTo>
                <a:lnTo>
                  <a:pt x="3262" y="1771"/>
                </a:lnTo>
                <a:lnTo>
                  <a:pt x="3204" y="1782"/>
                </a:lnTo>
                <a:lnTo>
                  <a:pt x="3204" y="2370"/>
                </a:lnTo>
                <a:lnTo>
                  <a:pt x="3202" y="2402"/>
                </a:lnTo>
                <a:lnTo>
                  <a:pt x="3194" y="2432"/>
                </a:lnTo>
                <a:lnTo>
                  <a:pt x="3181" y="2459"/>
                </a:lnTo>
                <a:lnTo>
                  <a:pt x="3163" y="2485"/>
                </a:lnTo>
                <a:lnTo>
                  <a:pt x="3141" y="2507"/>
                </a:lnTo>
                <a:lnTo>
                  <a:pt x="3116" y="2525"/>
                </a:lnTo>
                <a:lnTo>
                  <a:pt x="3086" y="2539"/>
                </a:lnTo>
                <a:lnTo>
                  <a:pt x="3055" y="2548"/>
                </a:lnTo>
                <a:lnTo>
                  <a:pt x="3024" y="2550"/>
                </a:lnTo>
                <a:lnTo>
                  <a:pt x="2994" y="2548"/>
                </a:lnTo>
                <a:lnTo>
                  <a:pt x="2964" y="2540"/>
                </a:lnTo>
                <a:lnTo>
                  <a:pt x="2935" y="2527"/>
                </a:lnTo>
                <a:lnTo>
                  <a:pt x="2797" y="2453"/>
                </a:lnTo>
                <a:lnTo>
                  <a:pt x="2657" y="2384"/>
                </a:lnTo>
                <a:lnTo>
                  <a:pt x="2514" y="2320"/>
                </a:lnTo>
                <a:lnTo>
                  <a:pt x="2369" y="2262"/>
                </a:lnTo>
                <a:lnTo>
                  <a:pt x="2223" y="2210"/>
                </a:lnTo>
                <a:lnTo>
                  <a:pt x="2075" y="2163"/>
                </a:lnTo>
                <a:lnTo>
                  <a:pt x="1926" y="2122"/>
                </a:lnTo>
                <a:lnTo>
                  <a:pt x="1774" y="2086"/>
                </a:lnTo>
                <a:lnTo>
                  <a:pt x="1621" y="2055"/>
                </a:lnTo>
                <a:lnTo>
                  <a:pt x="1467" y="2031"/>
                </a:lnTo>
                <a:lnTo>
                  <a:pt x="1312" y="2012"/>
                </a:lnTo>
                <a:lnTo>
                  <a:pt x="1664" y="2984"/>
                </a:lnTo>
                <a:lnTo>
                  <a:pt x="1671" y="3012"/>
                </a:lnTo>
                <a:lnTo>
                  <a:pt x="1675" y="3040"/>
                </a:lnTo>
                <a:lnTo>
                  <a:pt x="1672" y="3068"/>
                </a:lnTo>
                <a:lnTo>
                  <a:pt x="1667" y="3096"/>
                </a:lnTo>
                <a:lnTo>
                  <a:pt x="1657" y="3122"/>
                </a:lnTo>
                <a:lnTo>
                  <a:pt x="1641" y="3148"/>
                </a:lnTo>
                <a:lnTo>
                  <a:pt x="1624" y="3170"/>
                </a:lnTo>
                <a:lnTo>
                  <a:pt x="1602" y="3189"/>
                </a:lnTo>
                <a:lnTo>
                  <a:pt x="1578" y="3204"/>
                </a:lnTo>
                <a:lnTo>
                  <a:pt x="1552" y="3215"/>
                </a:lnTo>
                <a:lnTo>
                  <a:pt x="1524" y="3222"/>
                </a:lnTo>
                <a:lnTo>
                  <a:pt x="1495" y="3224"/>
                </a:lnTo>
                <a:lnTo>
                  <a:pt x="1084" y="3224"/>
                </a:lnTo>
                <a:lnTo>
                  <a:pt x="1053" y="3221"/>
                </a:lnTo>
                <a:lnTo>
                  <a:pt x="1022" y="3213"/>
                </a:lnTo>
                <a:lnTo>
                  <a:pt x="994" y="3200"/>
                </a:lnTo>
                <a:lnTo>
                  <a:pt x="969" y="3182"/>
                </a:lnTo>
                <a:lnTo>
                  <a:pt x="948" y="3160"/>
                </a:lnTo>
                <a:lnTo>
                  <a:pt x="929" y="3134"/>
                </a:lnTo>
                <a:lnTo>
                  <a:pt x="916" y="3106"/>
                </a:lnTo>
                <a:lnTo>
                  <a:pt x="507" y="1975"/>
                </a:lnTo>
                <a:lnTo>
                  <a:pt x="470" y="1956"/>
                </a:lnTo>
                <a:lnTo>
                  <a:pt x="438" y="1932"/>
                </a:lnTo>
                <a:lnTo>
                  <a:pt x="409" y="1903"/>
                </a:lnTo>
                <a:lnTo>
                  <a:pt x="385" y="1871"/>
                </a:lnTo>
                <a:lnTo>
                  <a:pt x="366" y="1835"/>
                </a:lnTo>
                <a:lnTo>
                  <a:pt x="352" y="1797"/>
                </a:lnTo>
                <a:lnTo>
                  <a:pt x="344" y="1755"/>
                </a:lnTo>
                <a:lnTo>
                  <a:pt x="229" y="1755"/>
                </a:lnTo>
                <a:lnTo>
                  <a:pt x="191" y="1752"/>
                </a:lnTo>
                <a:lnTo>
                  <a:pt x="156" y="1743"/>
                </a:lnTo>
                <a:lnTo>
                  <a:pt x="124" y="1729"/>
                </a:lnTo>
                <a:lnTo>
                  <a:pt x="94" y="1710"/>
                </a:lnTo>
                <a:lnTo>
                  <a:pt x="67" y="1688"/>
                </a:lnTo>
                <a:lnTo>
                  <a:pt x="44" y="1662"/>
                </a:lnTo>
                <a:lnTo>
                  <a:pt x="25" y="1632"/>
                </a:lnTo>
                <a:lnTo>
                  <a:pt x="12" y="1598"/>
                </a:lnTo>
                <a:lnTo>
                  <a:pt x="3" y="1563"/>
                </a:lnTo>
                <a:lnTo>
                  <a:pt x="0" y="1527"/>
                </a:lnTo>
                <a:lnTo>
                  <a:pt x="0" y="1023"/>
                </a:lnTo>
                <a:lnTo>
                  <a:pt x="3" y="987"/>
                </a:lnTo>
                <a:lnTo>
                  <a:pt x="12" y="951"/>
                </a:lnTo>
                <a:lnTo>
                  <a:pt x="25" y="919"/>
                </a:lnTo>
                <a:lnTo>
                  <a:pt x="44" y="888"/>
                </a:lnTo>
                <a:lnTo>
                  <a:pt x="67" y="862"/>
                </a:lnTo>
                <a:lnTo>
                  <a:pt x="94" y="839"/>
                </a:lnTo>
                <a:lnTo>
                  <a:pt x="124" y="821"/>
                </a:lnTo>
                <a:lnTo>
                  <a:pt x="156" y="806"/>
                </a:lnTo>
                <a:lnTo>
                  <a:pt x="191" y="797"/>
                </a:lnTo>
                <a:lnTo>
                  <a:pt x="229" y="795"/>
                </a:lnTo>
                <a:lnTo>
                  <a:pt x="344" y="795"/>
                </a:lnTo>
                <a:lnTo>
                  <a:pt x="352" y="755"/>
                </a:lnTo>
                <a:lnTo>
                  <a:pt x="365" y="717"/>
                </a:lnTo>
                <a:lnTo>
                  <a:pt x="384" y="682"/>
                </a:lnTo>
                <a:lnTo>
                  <a:pt x="406" y="650"/>
                </a:lnTo>
                <a:lnTo>
                  <a:pt x="434" y="623"/>
                </a:lnTo>
                <a:lnTo>
                  <a:pt x="465" y="598"/>
                </a:lnTo>
                <a:lnTo>
                  <a:pt x="499" y="578"/>
                </a:lnTo>
                <a:lnTo>
                  <a:pt x="536" y="564"/>
                </a:lnTo>
                <a:lnTo>
                  <a:pt x="576" y="555"/>
                </a:lnTo>
                <a:lnTo>
                  <a:pt x="617" y="552"/>
                </a:lnTo>
                <a:lnTo>
                  <a:pt x="622" y="552"/>
                </a:lnTo>
                <a:lnTo>
                  <a:pt x="633" y="552"/>
                </a:lnTo>
                <a:lnTo>
                  <a:pt x="651" y="552"/>
                </a:lnTo>
                <a:lnTo>
                  <a:pt x="676" y="552"/>
                </a:lnTo>
                <a:lnTo>
                  <a:pt x="705" y="552"/>
                </a:lnTo>
                <a:lnTo>
                  <a:pt x="739" y="552"/>
                </a:lnTo>
                <a:lnTo>
                  <a:pt x="775" y="551"/>
                </a:lnTo>
                <a:lnTo>
                  <a:pt x="815" y="551"/>
                </a:lnTo>
                <a:lnTo>
                  <a:pt x="856" y="551"/>
                </a:lnTo>
                <a:lnTo>
                  <a:pt x="898" y="551"/>
                </a:lnTo>
                <a:lnTo>
                  <a:pt x="940" y="551"/>
                </a:lnTo>
                <a:lnTo>
                  <a:pt x="982" y="551"/>
                </a:lnTo>
                <a:lnTo>
                  <a:pt x="1022" y="549"/>
                </a:lnTo>
                <a:lnTo>
                  <a:pt x="1059" y="549"/>
                </a:lnTo>
                <a:lnTo>
                  <a:pt x="1093" y="549"/>
                </a:lnTo>
                <a:lnTo>
                  <a:pt x="1123" y="549"/>
                </a:lnTo>
                <a:lnTo>
                  <a:pt x="1147" y="549"/>
                </a:lnTo>
                <a:lnTo>
                  <a:pt x="1166" y="549"/>
                </a:lnTo>
                <a:lnTo>
                  <a:pt x="1178" y="549"/>
                </a:lnTo>
                <a:lnTo>
                  <a:pt x="1183" y="548"/>
                </a:lnTo>
                <a:lnTo>
                  <a:pt x="1352" y="533"/>
                </a:lnTo>
                <a:lnTo>
                  <a:pt x="1519" y="511"/>
                </a:lnTo>
                <a:lnTo>
                  <a:pt x="1683" y="482"/>
                </a:lnTo>
                <a:lnTo>
                  <a:pt x="1847" y="447"/>
                </a:lnTo>
                <a:lnTo>
                  <a:pt x="2009" y="406"/>
                </a:lnTo>
                <a:lnTo>
                  <a:pt x="2169" y="357"/>
                </a:lnTo>
                <a:lnTo>
                  <a:pt x="2326" y="303"/>
                </a:lnTo>
                <a:lnTo>
                  <a:pt x="2482" y="242"/>
                </a:lnTo>
                <a:lnTo>
                  <a:pt x="2636" y="175"/>
                </a:lnTo>
                <a:lnTo>
                  <a:pt x="2786" y="102"/>
                </a:lnTo>
                <a:lnTo>
                  <a:pt x="2935" y="23"/>
                </a:lnTo>
                <a:lnTo>
                  <a:pt x="2964" y="9"/>
                </a:lnTo>
                <a:lnTo>
                  <a:pt x="2995" y="2"/>
                </a:lnTo>
                <a:lnTo>
                  <a:pt x="3026" y="0"/>
                </a:lnTo>
                <a:close/>
              </a:path>
            </a:pathLst>
          </a:custGeom>
          <a:solidFill>
            <a:schemeClr val="bg1">
              <a:lumMod val="50000"/>
            </a:schemeClr>
          </a:solidFill>
          <a:ln w="0">
            <a:noFill/>
            <a:prstDash val="solid"/>
            <a:round/>
          </a:ln>
        </p:spPr>
        <p:txBody>
          <a:bodyPr vert="horz" wrap="square" lIns="91440" tIns="45720" rIns="91440" bIns="45720" numCol="1" anchor="t" anchorCtr="0" compatLnSpc="1"/>
          <a:lstStyle/>
          <a:p>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231775" y="915035"/>
            <a:ext cx="1682750" cy="396875"/>
          </a:xfrm>
        </p:spPr>
        <p:txBody>
          <a:bodyPr>
            <a:noAutofit/>
          </a:bodyPr>
          <a:lstStyle/>
          <a:p>
            <a:pPr marL="0" indent="0" algn="ctr">
              <a:lnSpc>
                <a:spcPct val="100000"/>
              </a:lnSpc>
              <a:buNone/>
            </a:pPr>
            <a:r>
              <a:rPr lang="zh-CN" dirty="0"/>
              <a:t>添加用户</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00000"/>
              </a:lnSpc>
              <a:buNone/>
            </a:pPr>
            <a:r>
              <a:rPr lang="zh-CN" altLang="en-US" dirty="0"/>
              <a:t>1．使用CREATE USER语句创建普通用户</a:t>
            </a:r>
          </a:p>
        </p:txBody>
      </p:sp>
      <p:sp>
        <p:nvSpPr>
          <p:cNvPr id="2" name="下箭头 1"/>
          <p:cNvSpPr/>
          <p:nvPr/>
        </p:nvSpPr>
        <p:spPr>
          <a:xfrm rot="16200000">
            <a:off x="715460" y="231710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0" name="文本框 99"/>
          <p:cNvSpPr txBox="1"/>
          <p:nvPr/>
        </p:nvSpPr>
        <p:spPr>
          <a:xfrm>
            <a:off x="1450975" y="2035810"/>
            <a:ext cx="8228965" cy="1198880"/>
          </a:xfrm>
          <a:prstGeom prst="rect">
            <a:avLst/>
          </a:prstGeom>
          <a:noFill/>
          <a:ln w="9525">
            <a:noFill/>
          </a:ln>
        </p:spPr>
        <p:txBody>
          <a:bodyPr wrap="square">
            <a:spAutoFit/>
          </a:bodyPr>
          <a:lstStyle/>
          <a:p>
            <a:pPr indent="127000"/>
            <a:r>
              <a:rPr lang="zh-CN" sz="1800" b="0">
                <a:cs typeface="方正书宋简体" charset="0"/>
              </a:rPr>
              <a:t>CREATE USER [IF NOT EXISTS] '用户名'[@'主机地址或标识']</a:t>
            </a:r>
          </a:p>
          <a:p>
            <a:pPr indent="127000"/>
            <a:r>
              <a:rPr lang="zh-CN" sz="1800" b="0">
                <a:cs typeface="方正书宋简体" charset="0"/>
              </a:rPr>
              <a:t>[IDENTIFIED [WITH AUTH_PLUGIN] BY '用户口令' | RANDOM PASSWORD]</a:t>
            </a:r>
          </a:p>
          <a:p>
            <a:pPr indent="127000"/>
            <a:r>
              <a:rPr lang="zh-CN" sz="1800" b="0">
                <a:cs typeface="方正书宋简体" charset="0"/>
              </a:rPr>
              <a:t>[WITH resource_option [resource_option] ...]</a:t>
            </a:r>
          </a:p>
          <a:p>
            <a:pPr indent="127000"/>
            <a:r>
              <a:rPr lang="zh-CN" sz="1800" b="0">
                <a:cs typeface="方正书宋简体" charset="0"/>
              </a:rPr>
              <a:t>[password_option];</a:t>
            </a:r>
          </a:p>
        </p:txBody>
      </p:sp>
      <p:sp>
        <p:nvSpPr>
          <p:cNvPr id="3" name="矩形 2"/>
          <p:cNvSpPr/>
          <p:nvPr/>
        </p:nvSpPr>
        <p:spPr>
          <a:xfrm>
            <a:off x="688975" y="3353435"/>
            <a:ext cx="11286490" cy="330898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l">
              <a:lnSpc>
                <a:spcPct val="150000"/>
              </a:lnSpc>
              <a:buFont typeface="Wingdings" panose="05000000000000000000" charset="0"/>
              <a:buChar char="Ø"/>
            </a:pPr>
            <a:r>
              <a:rPr lang="zh-CN" altLang="en-US" sz="1800">
                <a:solidFill>
                  <a:schemeClr val="tx1"/>
                </a:solidFill>
              </a:rPr>
              <a:t>使用CREATE USER语句可一次性创建多个用户，不同用户的配置信息使用逗号分隔。</a:t>
            </a:r>
          </a:p>
          <a:p>
            <a:pPr marL="342900" indent="-342900" algn="l">
              <a:lnSpc>
                <a:spcPct val="150000"/>
              </a:lnSpc>
              <a:buFont typeface="Wingdings" panose="05000000000000000000" charset="0"/>
              <a:buChar char="Ø"/>
            </a:pPr>
            <a:r>
              <a:rPr lang="zh-CN" altLang="en-US" sz="1800">
                <a:solidFill>
                  <a:schemeClr val="tx1"/>
                </a:solidFill>
              </a:rPr>
              <a:t>创建用户时，可指定用户访问数据库时允许的主机信息，如主机标识或名称、主机地址或特殊符号，’%’表示任意位置。</a:t>
            </a:r>
          </a:p>
          <a:p>
            <a:pPr marL="342900" indent="-342900" algn="l">
              <a:lnSpc>
                <a:spcPct val="150000"/>
              </a:lnSpc>
              <a:buFont typeface="Wingdings" panose="05000000000000000000" charset="0"/>
              <a:buChar char="Ø"/>
            </a:pPr>
            <a:r>
              <a:rPr lang="zh-CN" altLang="en-US" sz="1800">
                <a:solidFill>
                  <a:schemeClr val="tx1"/>
                </a:solidFill>
              </a:rPr>
              <a:t>IDENTIFY子句使用WITH AUTH_PLUGIN指定口令加密策略。通过BY关键字指明口令明文或随机口令RANDOM PASSWORD。</a:t>
            </a:r>
          </a:p>
          <a:p>
            <a:pPr marL="342900" indent="-342900" algn="l">
              <a:lnSpc>
                <a:spcPct val="150000"/>
              </a:lnSpc>
              <a:buFont typeface="Wingdings" panose="05000000000000000000" charset="0"/>
              <a:buChar char="Ø"/>
            </a:pPr>
            <a:r>
              <a:rPr lang="zh-CN" altLang="en-US" sz="1800">
                <a:solidFill>
                  <a:schemeClr val="tx1"/>
                </a:solidFill>
              </a:rPr>
              <a:t>可选子句[WITH resource_option [resource_option] ...]使用resource_option配置用户对数据库资源使用约束。</a:t>
            </a:r>
          </a:p>
          <a:p>
            <a:pPr marL="342900" indent="-342900" algn="l">
              <a:lnSpc>
                <a:spcPct val="150000"/>
              </a:lnSpc>
              <a:buFont typeface="Wingdings" panose="05000000000000000000" charset="0"/>
              <a:buChar char="Ø"/>
            </a:pPr>
            <a:r>
              <a:rPr lang="zh-CN" altLang="en-US" sz="1800">
                <a:solidFill>
                  <a:schemeClr val="tx1"/>
                </a:solidFill>
              </a:rPr>
              <a:t>可选子句[password_option]设定口令策略。</a:t>
            </a:r>
          </a:p>
          <a:p>
            <a:pPr marL="342900" indent="-342900" algn="l">
              <a:lnSpc>
                <a:spcPct val="150000"/>
              </a:lnSpc>
              <a:buFont typeface="Wingdings" panose="05000000000000000000" charset="0"/>
              <a:buChar char="Ø"/>
            </a:pPr>
            <a:r>
              <a:rPr lang="zh-CN" altLang="en-US" sz="1800">
                <a:solidFill>
                  <a:schemeClr val="tx1"/>
                </a:solidFill>
              </a:rPr>
              <a:t>CREATE USER语句还提供了其他参数，如用户锁、用户连接安全策略等信息</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33" name="内容占位符 4"/>
          <p:cNvSpPr>
            <a:spLocks noGrp="1"/>
          </p:cNvSpPr>
          <p:nvPr/>
        </p:nvSpPr>
        <p:spPr>
          <a:xfrm>
            <a:off x="536575" y="106743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zh-CN" altLang="en-US" dirty="0"/>
              <a:t>1．使用CREATE USER语句创建普通用户</a:t>
            </a:r>
          </a:p>
        </p:txBody>
      </p:sp>
      <p:sp>
        <p:nvSpPr>
          <p:cNvPr id="100" name="文本框 99"/>
          <p:cNvSpPr txBox="1"/>
          <p:nvPr/>
        </p:nvSpPr>
        <p:spPr>
          <a:xfrm>
            <a:off x="1914525" y="2286635"/>
            <a:ext cx="8228965" cy="645160"/>
          </a:xfrm>
          <a:prstGeom prst="rect">
            <a:avLst/>
          </a:prstGeom>
          <a:noFill/>
          <a:ln w="9525">
            <a:noFill/>
          </a:ln>
        </p:spPr>
        <p:txBody>
          <a:bodyPr wrap="square">
            <a:spAutoFit/>
          </a:bodyPr>
          <a:lstStyle/>
          <a:p>
            <a:pPr indent="127000"/>
            <a:r>
              <a:rPr lang="zh-CN" sz="1800" b="0">
                <a:cs typeface="方正书宋简体" charset="0"/>
              </a:rPr>
              <a:t>CREATE USER IF NOT EXISTS 'student'@'localhost'</a:t>
            </a:r>
          </a:p>
          <a:p>
            <a:pPr indent="127000"/>
            <a:r>
              <a:rPr lang="zh-CN" sz="1800" b="0">
                <a:cs typeface="方正书宋简体" charset="0"/>
              </a:rPr>
              <a:t>IDENTIFIED BY 'student123';</a:t>
            </a:r>
          </a:p>
        </p:txBody>
      </p:sp>
      <p:sp>
        <p:nvSpPr>
          <p:cNvPr id="3" name="矩形 2"/>
          <p:cNvSpPr/>
          <p:nvPr/>
        </p:nvSpPr>
        <p:spPr>
          <a:xfrm>
            <a:off x="536575" y="1654810"/>
            <a:ext cx="11286490" cy="49847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例子：创建一个只允许在MySQL所在服务器上登录账户为student，密码为student123，其他配置信息保持默认。</a:t>
            </a:r>
          </a:p>
        </p:txBody>
      </p:sp>
      <p:sp>
        <p:nvSpPr>
          <p:cNvPr id="6" name="矩形 5"/>
          <p:cNvSpPr/>
          <p:nvPr/>
        </p:nvSpPr>
        <p:spPr>
          <a:xfrm>
            <a:off x="536575" y="2972435"/>
            <a:ext cx="11286490" cy="9194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800">
                <a:solidFill>
                  <a:schemeClr val="tx1"/>
                </a:solidFill>
              </a:rPr>
              <a:t>例子：创建两个用户，其中teacher1用户允许在任何主机访问服务器，其密码为teacher123，teacher2用户只允许在192.168.1.23地址的机器上访问服务器，其密码为随机密码。</a:t>
            </a:r>
          </a:p>
        </p:txBody>
      </p:sp>
      <p:sp>
        <p:nvSpPr>
          <p:cNvPr id="7" name="下箭头 6"/>
          <p:cNvSpPr/>
          <p:nvPr/>
        </p:nvSpPr>
        <p:spPr>
          <a:xfrm rot="16200000">
            <a:off x="867860" y="23367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8" name="文本框 7"/>
          <p:cNvSpPr txBox="1"/>
          <p:nvPr/>
        </p:nvSpPr>
        <p:spPr>
          <a:xfrm>
            <a:off x="1985010" y="3932555"/>
            <a:ext cx="8228965" cy="645160"/>
          </a:xfrm>
          <a:prstGeom prst="rect">
            <a:avLst/>
          </a:prstGeom>
          <a:noFill/>
          <a:ln w="9525">
            <a:noFill/>
          </a:ln>
        </p:spPr>
        <p:txBody>
          <a:bodyPr wrap="square">
            <a:spAutoFit/>
          </a:bodyPr>
          <a:lstStyle/>
          <a:p>
            <a:pPr indent="127000"/>
            <a:r>
              <a:rPr lang="zh-CN" sz="1800" b="0">
                <a:cs typeface="方正书宋简体" charset="0"/>
              </a:rPr>
              <a:t>CREATE USER 'teacher1'@'%' IDENTIFIED BY 'teacher123',</a:t>
            </a:r>
          </a:p>
          <a:p>
            <a:pPr indent="127000"/>
            <a:r>
              <a:rPr lang="zh-CN" sz="1800" b="0">
                <a:cs typeface="方正书宋简体" charset="0"/>
              </a:rPr>
              <a:t>'teacher2'@'192.168.1.23' IDENTIFIED BY RANDOM PASSWORD;</a:t>
            </a:r>
          </a:p>
        </p:txBody>
      </p:sp>
      <p:sp>
        <p:nvSpPr>
          <p:cNvPr id="9" name="下箭头 8"/>
          <p:cNvSpPr/>
          <p:nvPr/>
        </p:nvSpPr>
        <p:spPr>
          <a:xfrm rot="16200000">
            <a:off x="868495" y="390651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 name="矩形 9"/>
          <p:cNvSpPr/>
          <p:nvPr/>
        </p:nvSpPr>
        <p:spPr>
          <a:xfrm>
            <a:off x="607695" y="4648835"/>
            <a:ext cx="11286490" cy="9194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800">
                <a:solidFill>
                  <a:schemeClr val="tx1"/>
                </a:solidFill>
              </a:rPr>
              <a:t>例子：创建一个允许在任何主机访问数据库的用户teacher5，密码为空，用户teacher5每小时最多允许查询为60次，每小时最多允许更新100次。</a:t>
            </a:r>
          </a:p>
        </p:txBody>
      </p:sp>
      <p:sp>
        <p:nvSpPr>
          <p:cNvPr id="11" name="文本框 10"/>
          <p:cNvSpPr txBox="1"/>
          <p:nvPr/>
        </p:nvSpPr>
        <p:spPr>
          <a:xfrm>
            <a:off x="2136775" y="5578475"/>
            <a:ext cx="8228965" cy="922020"/>
          </a:xfrm>
          <a:prstGeom prst="rect">
            <a:avLst/>
          </a:prstGeom>
          <a:noFill/>
          <a:ln w="9525">
            <a:noFill/>
          </a:ln>
        </p:spPr>
        <p:txBody>
          <a:bodyPr wrap="square">
            <a:spAutoFit/>
          </a:bodyPr>
          <a:lstStyle/>
          <a:p>
            <a:pPr indent="127000"/>
            <a:r>
              <a:rPr lang="zh-CN" sz="1800" b="0">
                <a:cs typeface="方正书宋简体" charset="0"/>
              </a:rPr>
              <a:t>CREATE USER 'teacher5'</a:t>
            </a:r>
          </a:p>
          <a:p>
            <a:pPr indent="127000"/>
            <a:r>
              <a:rPr lang="zh-CN" sz="1800" b="0">
                <a:cs typeface="方正书宋简体" charset="0"/>
              </a:rPr>
              <a:t>  WITH MAX_QUERIES_PER_HOUR 60 </a:t>
            </a:r>
          </a:p>
          <a:p>
            <a:pPr indent="127000"/>
            <a:r>
              <a:rPr lang="zh-CN" sz="1800" b="0">
                <a:cs typeface="方正书宋简体" charset="0"/>
              </a:rPr>
              <a:t>MAX_UPDATES_PER_HOUR 100;</a:t>
            </a:r>
          </a:p>
        </p:txBody>
      </p:sp>
      <p:sp>
        <p:nvSpPr>
          <p:cNvPr id="13" name="下箭头 12"/>
          <p:cNvSpPr/>
          <p:nvPr/>
        </p:nvSpPr>
        <p:spPr>
          <a:xfrm rot="16200000">
            <a:off x="869130" y="572197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33" name="内容占位符 4"/>
          <p:cNvSpPr>
            <a:spLocks noGrp="1"/>
          </p:cNvSpPr>
          <p:nvPr/>
        </p:nvSpPr>
        <p:spPr>
          <a:xfrm>
            <a:off x="536575" y="106743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．使用系统表创建普通用户</a:t>
            </a:r>
          </a:p>
        </p:txBody>
      </p:sp>
      <p:sp>
        <p:nvSpPr>
          <p:cNvPr id="3" name="矩形 2"/>
          <p:cNvSpPr/>
          <p:nvPr/>
        </p:nvSpPr>
        <p:spPr>
          <a:xfrm>
            <a:off x="536575" y="1654810"/>
            <a:ext cx="11286490" cy="108648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800">
                <a:solidFill>
                  <a:schemeClr val="tx1"/>
                </a:solidFill>
              </a:rPr>
              <a:t>使用CREATE USER语句将在系统表mysql.user中添加用户信息，因此，如果拥有mysql数据库的INSERT权限，也可直接向mysql.user表中添加记录，达到与使用CREATE USER语句同样的目的。</a:t>
            </a:r>
          </a:p>
        </p:txBody>
      </p:sp>
      <p:sp>
        <p:nvSpPr>
          <p:cNvPr id="2" name="矩形 1"/>
          <p:cNvSpPr/>
          <p:nvPr/>
        </p:nvSpPr>
        <p:spPr>
          <a:xfrm>
            <a:off x="536575" y="2820035"/>
            <a:ext cx="11286490" cy="108648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800">
                <a:solidFill>
                  <a:schemeClr val="tx1"/>
                </a:solidFill>
              </a:rPr>
              <a:t>例子：使用系统表创建用户teacher6，该用户允许在服务器本地登录，该用户密码为t6123，访问时不适用安全协议SSL。</a:t>
            </a:r>
          </a:p>
        </p:txBody>
      </p:sp>
      <p:sp>
        <p:nvSpPr>
          <p:cNvPr id="5" name="文本框 4"/>
          <p:cNvSpPr txBox="1"/>
          <p:nvPr/>
        </p:nvSpPr>
        <p:spPr>
          <a:xfrm>
            <a:off x="476885" y="3985260"/>
            <a:ext cx="11244580" cy="922020"/>
          </a:xfrm>
          <a:prstGeom prst="rect">
            <a:avLst/>
          </a:prstGeom>
          <a:noFill/>
          <a:ln w="9525">
            <a:noFill/>
          </a:ln>
        </p:spPr>
        <p:txBody>
          <a:bodyPr wrap="square">
            <a:spAutoFit/>
          </a:bodyPr>
          <a:lstStyle/>
          <a:p>
            <a:pPr indent="127000">
              <a:lnSpc>
                <a:spcPct val="150000"/>
              </a:lnSpc>
            </a:pPr>
            <a:r>
              <a:rPr lang="zh-CN" sz="1800" b="0">
                <a:cs typeface="方正书宋简体" charset="0"/>
              </a:rPr>
              <a:t>INSERT INTO mysql.user (host user, authentication_string, ssl_type, ssl_cipher, x509_issuer,</a:t>
            </a:r>
            <a:r>
              <a:rPr lang="en-US" altLang="zh-CN" sz="1800" b="0">
                <a:cs typeface="方正书宋简体" charset="0"/>
              </a:rPr>
              <a:t> </a:t>
            </a:r>
            <a:r>
              <a:rPr lang="zh-CN" sz="1800" b="0">
                <a:cs typeface="方正书宋简体" charset="0"/>
              </a:rPr>
              <a:t>x509_subject)</a:t>
            </a:r>
          </a:p>
          <a:p>
            <a:pPr indent="127000">
              <a:lnSpc>
                <a:spcPct val="150000"/>
              </a:lnSpc>
            </a:pPr>
            <a:r>
              <a:rPr lang="zh-CN" sz="1800" b="0">
                <a:cs typeface="方正书宋简体" charset="0"/>
              </a:rPr>
              <a:t>VALUES('localhost', 'teacher6', sha('t6123'), '','','','');</a:t>
            </a:r>
          </a:p>
        </p:txBody>
      </p:sp>
      <p:sp>
        <p:nvSpPr>
          <p:cNvPr id="12" name="内容占位符 4"/>
          <p:cNvSpPr>
            <a:spLocks noGrp="1"/>
          </p:cNvSpPr>
          <p:nvPr/>
        </p:nvSpPr>
        <p:spPr>
          <a:xfrm>
            <a:off x="612775" y="5106035"/>
            <a:ext cx="11183620" cy="114681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50000"/>
              </a:lnSpc>
              <a:buNone/>
            </a:pPr>
            <a:r>
              <a:rPr lang="zh-CN" altLang="en-US" dirty="0"/>
              <a:t>在实际开发过程中，建议采用更为安全的CREATE USER语句创建用户，不建议直接使用INSERT语句向mysql.user表插入数据实现创建用户。</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33" name="内容占位符 4"/>
          <p:cNvSpPr>
            <a:spLocks noGrp="1"/>
          </p:cNvSpPr>
          <p:nvPr/>
        </p:nvSpPr>
        <p:spPr>
          <a:xfrm>
            <a:off x="536575" y="106743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3</a:t>
            </a:r>
            <a:r>
              <a:rPr lang="zh-CN" altLang="en-US" dirty="0"/>
              <a:t>．使用MySQL Workbench创建普通用户</a:t>
            </a:r>
          </a:p>
        </p:txBody>
      </p:sp>
      <p:sp>
        <p:nvSpPr>
          <p:cNvPr id="3" name="矩形 2"/>
          <p:cNvSpPr/>
          <p:nvPr/>
        </p:nvSpPr>
        <p:spPr>
          <a:xfrm>
            <a:off x="536575" y="1654810"/>
            <a:ext cx="11286490" cy="6343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可在Navigator窗格的Administration选项卡下，单击Users and Privileges选项，打开用户管理界面</a:t>
            </a:r>
          </a:p>
        </p:txBody>
      </p:sp>
      <p:sp>
        <p:nvSpPr>
          <p:cNvPr id="6" name="矩形 5"/>
          <p:cNvSpPr/>
          <p:nvPr/>
        </p:nvSpPr>
        <p:spPr>
          <a:xfrm>
            <a:off x="536575" y="2515235"/>
            <a:ext cx="11286490" cy="90995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800">
                <a:solidFill>
                  <a:schemeClr val="tx1"/>
                </a:solidFill>
              </a:rPr>
              <a:t>单击Add Account按钮解锁创建新用户的文本输入框，依次在输入用户名，访问服务器的主机信息、访问口令以及访问口令确认信息</a:t>
            </a:r>
          </a:p>
        </p:txBody>
      </p:sp>
      <p:pic>
        <p:nvPicPr>
          <p:cNvPr id="2" name="图片 41"/>
          <p:cNvPicPr>
            <a:picLocks noChangeAspect="1"/>
          </p:cNvPicPr>
          <p:nvPr>
            <p:custDataLst>
              <p:tags r:id="rId1"/>
            </p:custDataLst>
          </p:nvPr>
        </p:nvPicPr>
        <p:blipFill>
          <a:blip r:embed="rId3"/>
          <a:stretch>
            <a:fillRect/>
          </a:stretch>
        </p:blipFill>
        <p:spPr>
          <a:xfrm>
            <a:off x="993775" y="3582035"/>
            <a:ext cx="3656330" cy="3133090"/>
          </a:xfrm>
          <a:prstGeom prst="rect">
            <a:avLst/>
          </a:prstGeom>
          <a:noFill/>
          <a:ln w="9525" cap="flat" cmpd="sng">
            <a:solidFill>
              <a:srgbClr val="000000"/>
            </a:solidFill>
            <a:prstDash val="solid"/>
            <a:miter/>
            <a:headEnd type="none" w="med" len="med"/>
            <a:tailEnd type="none" w="med" len="med"/>
          </a:ln>
        </p:spPr>
      </p:pic>
      <p:sp>
        <p:nvSpPr>
          <p:cNvPr id="7" name="下箭头 6"/>
          <p:cNvSpPr/>
          <p:nvPr/>
        </p:nvSpPr>
        <p:spPr>
          <a:xfrm rot="16200000">
            <a:off x="5080635" y="4600575"/>
            <a:ext cx="583565" cy="984885"/>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pic>
        <p:nvPicPr>
          <p:cNvPr id="5" name="图片 56"/>
          <p:cNvPicPr>
            <a:picLocks noChangeAspect="1"/>
          </p:cNvPicPr>
          <p:nvPr/>
        </p:nvPicPr>
        <p:blipFill>
          <a:blip r:embed="rId4"/>
          <a:stretch>
            <a:fillRect/>
          </a:stretch>
        </p:blipFill>
        <p:spPr>
          <a:xfrm>
            <a:off x="6177280" y="3582035"/>
            <a:ext cx="5325745" cy="3126740"/>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231775" y="915035"/>
            <a:ext cx="1682750" cy="396875"/>
          </a:xfrm>
        </p:spPr>
        <p:txBody>
          <a:bodyPr>
            <a:noAutofit/>
          </a:bodyPr>
          <a:lstStyle/>
          <a:p>
            <a:pPr marL="0" indent="0" algn="ctr">
              <a:lnSpc>
                <a:spcPct val="100000"/>
              </a:lnSpc>
              <a:buNone/>
            </a:pPr>
            <a:r>
              <a:rPr lang="zh-CN" dirty="0"/>
              <a:t>查看用户</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zh-CN" altLang="en-US" dirty="0"/>
              <a:t>1．使用系统表查看用户</a:t>
            </a:r>
          </a:p>
        </p:txBody>
      </p:sp>
      <p:sp>
        <p:nvSpPr>
          <p:cNvPr id="3" name="矩形 2"/>
          <p:cNvSpPr/>
          <p:nvPr/>
        </p:nvSpPr>
        <p:spPr>
          <a:xfrm>
            <a:off x="536575" y="2035810"/>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l">
              <a:lnSpc>
                <a:spcPct val="100000"/>
              </a:lnSpc>
              <a:buFont typeface="Wingdings" panose="05000000000000000000" charset="0"/>
              <a:buChar char="Ø"/>
            </a:pPr>
            <a:r>
              <a:rPr lang="zh-CN" altLang="en-US" sz="1800">
                <a:solidFill>
                  <a:schemeClr val="tx1"/>
                </a:solidFill>
              </a:rPr>
              <a:t>查询系统表mysql.user，可以列出系统用户信息和全局权限信息。</a:t>
            </a:r>
          </a:p>
        </p:txBody>
      </p:sp>
      <p:sp>
        <p:nvSpPr>
          <p:cNvPr id="7" name="矩形 6"/>
          <p:cNvSpPr/>
          <p:nvPr/>
        </p:nvSpPr>
        <p:spPr>
          <a:xfrm>
            <a:off x="536575" y="2733040"/>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例子：查看teacher1的用户名、主机信息以及每小时最大查询执行次数。</a:t>
            </a:r>
          </a:p>
        </p:txBody>
      </p:sp>
      <p:sp>
        <p:nvSpPr>
          <p:cNvPr id="8" name="文本框 7"/>
          <p:cNvSpPr txBox="1"/>
          <p:nvPr/>
        </p:nvSpPr>
        <p:spPr>
          <a:xfrm>
            <a:off x="2212975" y="3429635"/>
            <a:ext cx="8228965" cy="922020"/>
          </a:xfrm>
          <a:prstGeom prst="rect">
            <a:avLst/>
          </a:prstGeom>
          <a:noFill/>
          <a:ln w="9525">
            <a:noFill/>
          </a:ln>
        </p:spPr>
        <p:txBody>
          <a:bodyPr wrap="square">
            <a:spAutoFit/>
          </a:bodyPr>
          <a:lstStyle/>
          <a:p>
            <a:pPr indent="127000"/>
            <a:r>
              <a:rPr lang="zh-CN" sz="1800" b="0">
                <a:cs typeface="方正书宋简体" charset="0"/>
              </a:rPr>
              <a:t>SELECT User,Host,max_questions </a:t>
            </a:r>
          </a:p>
          <a:p>
            <a:pPr indent="127000"/>
            <a:r>
              <a:rPr lang="zh-CN" sz="1800" b="0">
                <a:cs typeface="方正书宋简体" charset="0"/>
              </a:rPr>
              <a:t>FROM mysql.user</a:t>
            </a:r>
          </a:p>
          <a:p>
            <a:pPr indent="127000"/>
            <a:r>
              <a:rPr lang="zh-CN" sz="1800" b="0">
                <a:cs typeface="方正书宋简体" charset="0"/>
              </a:rPr>
              <a:t>WHERE User = 'teacher1';</a:t>
            </a:r>
          </a:p>
        </p:txBody>
      </p:sp>
      <p:sp>
        <p:nvSpPr>
          <p:cNvPr id="13" name="下箭头 12"/>
          <p:cNvSpPr/>
          <p:nvPr/>
        </p:nvSpPr>
        <p:spPr>
          <a:xfrm rot="16200000">
            <a:off x="944060" y="357250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 name="内容占位符 4"/>
          <p:cNvSpPr>
            <a:spLocks noGrp="1"/>
          </p:cNvSpPr>
          <p:nvPr/>
        </p:nvSpPr>
        <p:spPr>
          <a:xfrm>
            <a:off x="612775" y="442023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．使用MySQL Workbench查看用户</a:t>
            </a:r>
          </a:p>
        </p:txBody>
      </p:sp>
      <p:sp>
        <p:nvSpPr>
          <p:cNvPr id="10" name="矩形 9"/>
          <p:cNvSpPr/>
          <p:nvPr/>
        </p:nvSpPr>
        <p:spPr>
          <a:xfrm>
            <a:off x="612775" y="5029835"/>
            <a:ext cx="5640070" cy="16757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800">
                <a:solidFill>
                  <a:schemeClr val="tx1"/>
                </a:solidFill>
              </a:rPr>
              <a:t>在Navigator窗格的Administration选项卡下，单击Users and Privileges选项，打开用户管理界面</a:t>
            </a:r>
          </a:p>
        </p:txBody>
      </p:sp>
      <p:sp>
        <p:nvSpPr>
          <p:cNvPr id="11" name="下箭头 10"/>
          <p:cNvSpPr/>
          <p:nvPr/>
        </p:nvSpPr>
        <p:spPr>
          <a:xfrm rot="16200000">
            <a:off x="6422390" y="5544820"/>
            <a:ext cx="583565" cy="467995"/>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pic>
        <p:nvPicPr>
          <p:cNvPr id="2" name="图片 44"/>
          <p:cNvPicPr>
            <a:picLocks noChangeAspect="1"/>
          </p:cNvPicPr>
          <p:nvPr/>
        </p:nvPicPr>
        <p:blipFill>
          <a:blip r:embed="rId2"/>
          <a:stretch>
            <a:fillRect/>
          </a:stretch>
        </p:blipFill>
        <p:spPr>
          <a:xfrm>
            <a:off x="7142480" y="3895725"/>
            <a:ext cx="4655185" cy="2733675"/>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231775" y="915035"/>
            <a:ext cx="2529840" cy="396875"/>
          </a:xfrm>
        </p:spPr>
        <p:txBody>
          <a:bodyPr>
            <a:noAutofit/>
          </a:bodyPr>
          <a:lstStyle/>
          <a:p>
            <a:pPr marL="0" indent="0" algn="ctr">
              <a:lnSpc>
                <a:spcPct val="100000"/>
              </a:lnSpc>
              <a:buNone/>
            </a:pPr>
            <a:r>
              <a:rPr lang="zh-CN" dirty="0"/>
              <a:t>重命名用户账号</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zh-CN" altLang="en-US" dirty="0"/>
              <a:t>1．使用RENAME USER语句重命名用户账号</a:t>
            </a:r>
          </a:p>
        </p:txBody>
      </p:sp>
      <p:sp>
        <p:nvSpPr>
          <p:cNvPr id="100" name="文本框 99"/>
          <p:cNvSpPr txBox="1"/>
          <p:nvPr/>
        </p:nvSpPr>
        <p:spPr>
          <a:xfrm>
            <a:off x="1276985" y="2134235"/>
            <a:ext cx="9806305" cy="398780"/>
          </a:xfrm>
          <a:prstGeom prst="rect">
            <a:avLst/>
          </a:prstGeom>
          <a:noFill/>
          <a:ln w="9525">
            <a:noFill/>
          </a:ln>
        </p:spPr>
        <p:txBody>
          <a:bodyPr wrap="square">
            <a:spAutoFit/>
          </a:bodyPr>
          <a:lstStyle/>
          <a:p>
            <a:pPr indent="127000"/>
            <a:r>
              <a:rPr lang="en-US" sz="2000" b="0">
                <a:latin typeface="Times New Roman" panose="02020603050405020304" pitchFamily="18" charset="0"/>
                <a:cs typeface="方正书宋简体" charset="0"/>
              </a:rPr>
              <a:t>RENAME USER '</a:t>
            </a:r>
            <a:r>
              <a:rPr lang="zh-CN" sz="2000" b="0">
                <a:cs typeface="方正书宋简体" charset="0"/>
              </a:rPr>
              <a:t>原用户信息</a:t>
            </a:r>
            <a:r>
              <a:rPr lang="en-US" sz="2000" b="0">
                <a:latin typeface="Times New Roman" panose="02020603050405020304" pitchFamily="18" charset="0"/>
                <a:cs typeface="方正书宋简体" charset="0"/>
              </a:rPr>
              <a:t>'</a:t>
            </a:r>
            <a:r>
              <a:rPr lang="en-US" sz="2000" b="0">
                <a:latin typeface="方正书宋简体" charset="0"/>
                <a:cs typeface="方正书宋简体" charset="0"/>
              </a:rPr>
              <a:t> </a:t>
            </a:r>
            <a:r>
              <a:rPr lang="en-US" sz="2000" b="0">
                <a:latin typeface="Times New Roman" panose="02020603050405020304" pitchFamily="18" charset="0"/>
                <a:cs typeface="方正书宋简体" charset="0"/>
              </a:rPr>
              <a:t>TO '</a:t>
            </a:r>
            <a:r>
              <a:rPr lang="zh-CN" sz="2000" b="0">
                <a:cs typeface="方正书宋简体" charset="0"/>
              </a:rPr>
              <a:t>新用户信息</a:t>
            </a:r>
            <a:r>
              <a:rPr lang="en-US" sz="2000" b="0">
                <a:latin typeface="Times New Roman" panose="02020603050405020304" pitchFamily="18" charset="0"/>
                <a:cs typeface="方正书宋简体" charset="0"/>
              </a:rPr>
              <a:t>'[,'</a:t>
            </a:r>
            <a:r>
              <a:rPr lang="zh-CN" sz="2000" b="0">
                <a:cs typeface="方正书宋简体" charset="0"/>
              </a:rPr>
              <a:t>原用户信息</a:t>
            </a:r>
            <a:r>
              <a:rPr lang="en-US" sz="2000" b="0">
                <a:latin typeface="Times New Roman" panose="02020603050405020304" pitchFamily="18" charset="0"/>
                <a:cs typeface="方正书宋简体" charset="0"/>
              </a:rPr>
              <a:t>'</a:t>
            </a:r>
            <a:r>
              <a:rPr lang="en-US" sz="2000" b="0">
                <a:latin typeface="方正书宋简体" charset="0"/>
                <a:cs typeface="方正书宋简体" charset="0"/>
              </a:rPr>
              <a:t> </a:t>
            </a:r>
            <a:r>
              <a:rPr lang="en-US" sz="2000" b="0">
                <a:latin typeface="Times New Roman" panose="02020603050405020304" pitchFamily="18" charset="0"/>
                <a:cs typeface="方正书宋简体" charset="0"/>
              </a:rPr>
              <a:t>TO '</a:t>
            </a:r>
            <a:r>
              <a:rPr lang="zh-CN" sz="2000" b="0">
                <a:cs typeface="方正书宋简体" charset="0"/>
              </a:rPr>
              <a:t>新用户信息</a:t>
            </a:r>
            <a:r>
              <a:rPr lang="en-US" sz="2000" b="0">
                <a:latin typeface="Times New Roman" panose="02020603050405020304" pitchFamily="18" charset="0"/>
                <a:cs typeface="方正书宋简体" charset="0"/>
              </a:rPr>
              <a:t>']...</a:t>
            </a:r>
            <a:endParaRPr lang="en-US" altLang="en-US" sz="2000" b="0">
              <a:latin typeface="Times New Roman" panose="02020603050405020304" pitchFamily="18" charset="0"/>
              <a:cs typeface="方正书宋简体" charset="0"/>
            </a:endParaRPr>
          </a:p>
        </p:txBody>
      </p:sp>
      <p:sp>
        <p:nvSpPr>
          <p:cNvPr id="6" name="矩形 5"/>
          <p:cNvSpPr/>
          <p:nvPr/>
        </p:nvSpPr>
        <p:spPr>
          <a:xfrm>
            <a:off x="536575" y="2743835"/>
            <a:ext cx="11286490" cy="247523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l">
              <a:lnSpc>
                <a:spcPct val="150000"/>
              </a:lnSpc>
              <a:buFont typeface="Wingdings" panose="05000000000000000000" charset="0"/>
              <a:buChar char="Ø"/>
            </a:pPr>
            <a:r>
              <a:rPr lang="zh-CN" altLang="en-US" sz="1800">
                <a:solidFill>
                  <a:schemeClr val="tx1"/>
                </a:solidFill>
              </a:rPr>
              <a:t>可以使用RENAME USER语句一次性为多个已有用户进行重命名，不同用户使用逗号分隔。</a:t>
            </a:r>
          </a:p>
          <a:p>
            <a:pPr marL="342900" indent="-342900" algn="l">
              <a:lnSpc>
                <a:spcPct val="150000"/>
              </a:lnSpc>
              <a:buFont typeface="Wingdings" panose="05000000000000000000" charset="0"/>
              <a:buChar char="Ø"/>
            </a:pPr>
            <a:r>
              <a:rPr lang="zh-CN" altLang="en-US" sz="1800">
                <a:solidFill>
                  <a:schemeClr val="tx1"/>
                </a:solidFill>
              </a:rPr>
              <a:t>使用RENAME USER语句实际上是对mysql.user表操作，因此，需要具有mysql数据库的UPDATE权限或服务器级别的CREATE USER权限。</a:t>
            </a:r>
          </a:p>
          <a:p>
            <a:pPr marL="342900" indent="-342900" algn="l">
              <a:lnSpc>
                <a:spcPct val="150000"/>
              </a:lnSpc>
              <a:buFont typeface="Wingdings" panose="05000000000000000000" charset="0"/>
              <a:buChar char="Ø"/>
            </a:pPr>
            <a:r>
              <a:rPr lang="zh-CN" altLang="en-US" sz="1800">
                <a:solidFill>
                  <a:schemeClr val="tx1"/>
                </a:solidFill>
              </a:rPr>
              <a:t>使用'用户名'@'主机信息'的形式的用户信息重命名用户，该方式不仅可以重命名用户名称，还可以修改用户允许访问服务器的主机信息。</a:t>
            </a:r>
          </a:p>
          <a:p>
            <a:pPr marL="342900" indent="-342900" algn="l">
              <a:lnSpc>
                <a:spcPct val="150000"/>
              </a:lnSpc>
              <a:buFont typeface="Wingdings" panose="05000000000000000000" charset="0"/>
              <a:buChar char="Ø"/>
            </a:pPr>
            <a:r>
              <a:rPr lang="zh-CN" altLang="en-US" sz="1800">
                <a:solidFill>
                  <a:schemeClr val="tx1"/>
                </a:solidFill>
              </a:rPr>
              <a:t>当重命名的用户为定义视图、存储过程时指定的DEFINER属性值，MySQL会阻止用户重命名。</a:t>
            </a:r>
          </a:p>
        </p:txBody>
      </p:sp>
      <p:sp>
        <p:nvSpPr>
          <p:cNvPr id="12" name="下箭头 11"/>
          <p:cNvSpPr/>
          <p:nvPr/>
        </p:nvSpPr>
        <p:spPr>
          <a:xfrm rot="16200000">
            <a:off x="639260" y="19557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4" name="矩形 13"/>
          <p:cNvSpPr/>
          <p:nvPr/>
        </p:nvSpPr>
        <p:spPr>
          <a:xfrm>
            <a:off x="536575" y="53346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例子：将已有用户teacher1重命名为teacher10，将主机信息从%修改为localhost。</a:t>
            </a:r>
          </a:p>
        </p:txBody>
      </p:sp>
      <p:sp>
        <p:nvSpPr>
          <p:cNvPr id="15" name="下箭头 14"/>
          <p:cNvSpPr/>
          <p:nvPr/>
        </p:nvSpPr>
        <p:spPr>
          <a:xfrm rot="16200000">
            <a:off x="639260" y="603439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6" name="文本框 15"/>
          <p:cNvSpPr txBox="1"/>
          <p:nvPr/>
        </p:nvSpPr>
        <p:spPr>
          <a:xfrm>
            <a:off x="1276350" y="6152515"/>
            <a:ext cx="9806305" cy="398780"/>
          </a:xfrm>
          <a:prstGeom prst="rect">
            <a:avLst/>
          </a:prstGeom>
          <a:noFill/>
          <a:ln w="9525">
            <a:noFill/>
          </a:ln>
        </p:spPr>
        <p:txBody>
          <a:bodyPr wrap="square">
            <a:spAutoFit/>
          </a:bodyPr>
          <a:lstStyle/>
          <a:p>
            <a:pPr indent="127000"/>
            <a:r>
              <a:rPr sz="2000" b="0">
                <a:cs typeface="方正书宋简体" charset="0"/>
              </a:rPr>
              <a:t>RENAME USER 'teacher1'@'%' to 'teahcer10'@'localhost';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231775" y="915035"/>
            <a:ext cx="2529840" cy="396875"/>
          </a:xfrm>
        </p:spPr>
        <p:txBody>
          <a:bodyPr>
            <a:noAutofit/>
          </a:bodyPr>
          <a:lstStyle/>
          <a:p>
            <a:pPr marL="0" indent="0" algn="ctr">
              <a:lnSpc>
                <a:spcPct val="100000"/>
              </a:lnSpc>
              <a:buNone/>
            </a:pPr>
            <a:r>
              <a:rPr lang="zh-CN" dirty="0"/>
              <a:t>重命名用户账号</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．使用MySQL Workbench重命名用户账号</a:t>
            </a:r>
          </a:p>
        </p:txBody>
      </p:sp>
      <p:sp>
        <p:nvSpPr>
          <p:cNvPr id="14" name="矩形 13"/>
          <p:cNvSpPr/>
          <p:nvPr/>
        </p:nvSpPr>
        <p:spPr>
          <a:xfrm>
            <a:off x="536575" y="2035810"/>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在Navigator窗格的Administration选项卡下，单击Users and Privileges选项</a:t>
            </a:r>
          </a:p>
        </p:txBody>
      </p:sp>
      <p:sp>
        <p:nvSpPr>
          <p:cNvPr id="15" name="下箭头 14"/>
          <p:cNvSpPr/>
          <p:nvPr/>
        </p:nvSpPr>
        <p:spPr>
          <a:xfrm rot="16200000">
            <a:off x="2332990" y="3925570"/>
            <a:ext cx="583565" cy="1585595"/>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 name="矩形 1"/>
          <p:cNvSpPr/>
          <p:nvPr/>
        </p:nvSpPr>
        <p:spPr>
          <a:xfrm>
            <a:off x="536575" y="28200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在Login选项卡中输入重命名用户账号信息，修改完成后，单击Apply按钮提交修改请求</a:t>
            </a:r>
          </a:p>
        </p:txBody>
      </p:sp>
      <p:pic>
        <p:nvPicPr>
          <p:cNvPr id="3" name="图片 -2147482600"/>
          <p:cNvPicPr>
            <a:picLocks noChangeAspect="1"/>
          </p:cNvPicPr>
          <p:nvPr/>
        </p:nvPicPr>
        <p:blipFill>
          <a:blip r:embed="rId2"/>
          <a:stretch>
            <a:fillRect/>
          </a:stretch>
        </p:blipFill>
        <p:spPr>
          <a:xfrm>
            <a:off x="3660775" y="3505835"/>
            <a:ext cx="5488305" cy="3221355"/>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231775" y="915035"/>
            <a:ext cx="2529840" cy="396875"/>
          </a:xfrm>
        </p:spPr>
        <p:txBody>
          <a:bodyPr>
            <a:noAutofit/>
          </a:bodyPr>
          <a:lstStyle/>
          <a:p>
            <a:pPr marL="0" indent="0" algn="ctr">
              <a:lnSpc>
                <a:spcPct val="100000"/>
              </a:lnSpc>
              <a:buNone/>
            </a:pPr>
            <a:r>
              <a:rPr lang="zh-CN" dirty="0"/>
              <a:t>修改用户口令</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zh-CN" altLang="en-US" dirty="0"/>
              <a:t>1．使用mysqladmin命令修改用户口令</a:t>
            </a:r>
          </a:p>
        </p:txBody>
      </p:sp>
      <p:sp>
        <p:nvSpPr>
          <p:cNvPr id="100" name="文本框 99"/>
          <p:cNvSpPr txBox="1"/>
          <p:nvPr/>
        </p:nvSpPr>
        <p:spPr>
          <a:xfrm>
            <a:off x="1276985" y="2123440"/>
            <a:ext cx="9806305" cy="398780"/>
          </a:xfrm>
          <a:prstGeom prst="rect">
            <a:avLst/>
          </a:prstGeom>
          <a:noFill/>
          <a:ln w="9525">
            <a:noFill/>
          </a:ln>
        </p:spPr>
        <p:txBody>
          <a:bodyPr wrap="square">
            <a:spAutoFit/>
          </a:bodyPr>
          <a:lstStyle/>
          <a:p>
            <a:pPr indent="127000"/>
            <a:r>
              <a:rPr sz="2000" b="0">
                <a:cs typeface="方正书宋简体" charset="0"/>
              </a:rPr>
              <a:t>mysqladmin -u 用户名 p password</a:t>
            </a:r>
          </a:p>
        </p:txBody>
      </p:sp>
      <p:sp>
        <p:nvSpPr>
          <p:cNvPr id="6" name="矩形 5"/>
          <p:cNvSpPr/>
          <p:nvPr/>
        </p:nvSpPr>
        <p:spPr>
          <a:xfrm>
            <a:off x="536575" y="2743835"/>
            <a:ext cx="11286490" cy="13817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l">
              <a:lnSpc>
                <a:spcPct val="150000"/>
              </a:lnSpc>
              <a:buFont typeface="Wingdings" panose="05000000000000000000" charset="0"/>
              <a:buChar char="Ø"/>
            </a:pPr>
            <a:r>
              <a:rPr lang="zh-CN" altLang="en-US" sz="1800">
                <a:solidFill>
                  <a:schemeClr val="tx1"/>
                </a:solidFill>
              </a:rPr>
              <a:t>输入上述命令后，命令行提示首先输入原密码。原密码正确后，提示输入新密码和确认新密码。</a:t>
            </a:r>
          </a:p>
          <a:p>
            <a:pPr marL="342900" indent="-342900" algn="l">
              <a:lnSpc>
                <a:spcPct val="150000"/>
              </a:lnSpc>
              <a:buFont typeface="Wingdings" panose="05000000000000000000" charset="0"/>
              <a:buChar char="Ø"/>
            </a:pPr>
            <a:r>
              <a:rPr lang="zh-CN" altLang="en-US" sz="1800">
                <a:solidFill>
                  <a:schemeClr val="tx1"/>
                </a:solidFill>
              </a:rPr>
              <a:t>mysqladmin命令位于MySQL服务器安装路径的bin文件夹下，如果在任意文件夹下执行该命令，需将mysqladmin所在bin目录放在环境变量Path下。</a:t>
            </a:r>
          </a:p>
        </p:txBody>
      </p:sp>
      <p:sp>
        <p:nvSpPr>
          <p:cNvPr id="12" name="下箭头 11"/>
          <p:cNvSpPr/>
          <p:nvPr/>
        </p:nvSpPr>
        <p:spPr>
          <a:xfrm rot="16200000">
            <a:off x="639260" y="19557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 name="内容占位符 4"/>
          <p:cNvSpPr>
            <a:spLocks noGrp="1"/>
          </p:cNvSpPr>
          <p:nvPr/>
        </p:nvSpPr>
        <p:spPr>
          <a:xfrm>
            <a:off x="536575" y="419163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．使用SET PASSWORD语句修改用户口令</a:t>
            </a:r>
          </a:p>
        </p:txBody>
      </p:sp>
      <p:sp>
        <p:nvSpPr>
          <p:cNvPr id="3" name="下箭头 2"/>
          <p:cNvSpPr/>
          <p:nvPr/>
        </p:nvSpPr>
        <p:spPr>
          <a:xfrm rot="16200000">
            <a:off x="639895" y="469962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 name="文本框 6"/>
          <p:cNvSpPr txBox="1"/>
          <p:nvPr/>
        </p:nvSpPr>
        <p:spPr>
          <a:xfrm>
            <a:off x="1298575" y="4818380"/>
            <a:ext cx="9806305" cy="398780"/>
          </a:xfrm>
          <a:prstGeom prst="rect">
            <a:avLst/>
          </a:prstGeom>
          <a:noFill/>
          <a:ln w="9525">
            <a:noFill/>
          </a:ln>
        </p:spPr>
        <p:txBody>
          <a:bodyPr wrap="square">
            <a:spAutoFit/>
          </a:bodyPr>
          <a:lstStyle/>
          <a:p>
            <a:pPr indent="127000"/>
            <a:r>
              <a:rPr sz="2000" b="0">
                <a:cs typeface="方正书宋简体" charset="0"/>
              </a:rPr>
              <a:t>SET PASSWORD [FOR '用户名'@'主机信息'] = '新密码';</a:t>
            </a:r>
          </a:p>
        </p:txBody>
      </p:sp>
      <p:sp>
        <p:nvSpPr>
          <p:cNvPr id="8" name="矩形 7"/>
          <p:cNvSpPr/>
          <p:nvPr/>
        </p:nvSpPr>
        <p:spPr>
          <a:xfrm>
            <a:off x="536575" y="54870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例子：将主机信息为localhost、用户名为student的用户口令修改为student123。</a:t>
            </a:r>
          </a:p>
        </p:txBody>
      </p:sp>
      <p:sp>
        <p:nvSpPr>
          <p:cNvPr id="9" name="下箭头 8"/>
          <p:cNvSpPr/>
          <p:nvPr/>
        </p:nvSpPr>
        <p:spPr>
          <a:xfrm rot="16200000">
            <a:off x="639895" y="60705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 name="文本框 9"/>
          <p:cNvSpPr txBox="1"/>
          <p:nvPr/>
        </p:nvSpPr>
        <p:spPr>
          <a:xfrm>
            <a:off x="1374775" y="6189345"/>
            <a:ext cx="9806305" cy="398780"/>
          </a:xfrm>
          <a:prstGeom prst="rect">
            <a:avLst/>
          </a:prstGeom>
          <a:noFill/>
          <a:ln w="9525">
            <a:noFill/>
          </a:ln>
        </p:spPr>
        <p:txBody>
          <a:bodyPr wrap="square">
            <a:spAutoFit/>
          </a:bodyPr>
          <a:lstStyle/>
          <a:p>
            <a:pPr indent="127000"/>
            <a:r>
              <a:rPr sz="2000" b="0">
                <a:cs typeface="方正书宋简体" charset="0"/>
              </a:rPr>
              <a:t>SET PASSWORD FOR 'student'@'localhost'='student123';</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231775" y="915035"/>
            <a:ext cx="2529840" cy="396875"/>
          </a:xfrm>
        </p:spPr>
        <p:txBody>
          <a:bodyPr>
            <a:noAutofit/>
          </a:bodyPr>
          <a:lstStyle/>
          <a:p>
            <a:pPr marL="0" indent="0" algn="ctr">
              <a:lnSpc>
                <a:spcPct val="100000"/>
              </a:lnSpc>
              <a:buNone/>
            </a:pPr>
            <a:r>
              <a:rPr lang="zh-CN" dirty="0"/>
              <a:t>修改用户口令</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4</a:t>
            </a:r>
            <a:r>
              <a:rPr lang="zh-CN" altLang="en-US" dirty="0"/>
              <a:t>．使用ALTER USER语句修改用户口令</a:t>
            </a:r>
          </a:p>
        </p:txBody>
      </p:sp>
      <p:sp>
        <p:nvSpPr>
          <p:cNvPr id="100" name="文本框 99"/>
          <p:cNvSpPr txBox="1"/>
          <p:nvPr/>
        </p:nvSpPr>
        <p:spPr>
          <a:xfrm>
            <a:off x="1276985" y="2123440"/>
            <a:ext cx="9806305" cy="398780"/>
          </a:xfrm>
          <a:prstGeom prst="rect">
            <a:avLst/>
          </a:prstGeom>
          <a:noFill/>
          <a:ln w="9525">
            <a:noFill/>
          </a:ln>
        </p:spPr>
        <p:txBody>
          <a:bodyPr wrap="square">
            <a:spAutoFit/>
          </a:bodyPr>
          <a:lstStyle/>
          <a:p>
            <a:pPr indent="127000"/>
            <a:r>
              <a:rPr sz="2000" b="0">
                <a:cs typeface="方正书宋简体" charset="0"/>
              </a:rPr>
              <a:t>ALTER USER '用户名'@'主机信息' IDENTIFIED BY '新密码';</a:t>
            </a:r>
          </a:p>
        </p:txBody>
      </p:sp>
      <p:sp>
        <p:nvSpPr>
          <p:cNvPr id="12" name="下箭头 11"/>
          <p:cNvSpPr/>
          <p:nvPr/>
        </p:nvSpPr>
        <p:spPr>
          <a:xfrm rot="16200000">
            <a:off x="639260" y="194817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 name="内容占位符 4"/>
          <p:cNvSpPr>
            <a:spLocks noGrp="1"/>
          </p:cNvSpPr>
          <p:nvPr/>
        </p:nvSpPr>
        <p:spPr>
          <a:xfrm>
            <a:off x="536575" y="419163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4</a:t>
            </a:r>
            <a:r>
              <a:rPr lang="zh-CN" altLang="en-US" dirty="0"/>
              <a:t>．使用系统表修改用户口令</a:t>
            </a:r>
          </a:p>
        </p:txBody>
      </p:sp>
      <p:sp>
        <p:nvSpPr>
          <p:cNvPr id="8" name="矩形 7"/>
          <p:cNvSpPr/>
          <p:nvPr/>
        </p:nvSpPr>
        <p:spPr>
          <a:xfrm>
            <a:off x="536575" y="48012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例子：将主机信息为localhost、用户名为student的用户口令修改为student123。</a:t>
            </a:r>
          </a:p>
        </p:txBody>
      </p:sp>
      <p:sp>
        <p:nvSpPr>
          <p:cNvPr id="9" name="下箭头 8"/>
          <p:cNvSpPr/>
          <p:nvPr/>
        </p:nvSpPr>
        <p:spPr>
          <a:xfrm rot="16200000">
            <a:off x="640530" y="54609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 name="文本框 9"/>
          <p:cNvSpPr txBox="1"/>
          <p:nvPr/>
        </p:nvSpPr>
        <p:spPr>
          <a:xfrm>
            <a:off x="1374775" y="5487035"/>
            <a:ext cx="9806305" cy="1014730"/>
          </a:xfrm>
          <a:prstGeom prst="rect">
            <a:avLst/>
          </a:prstGeom>
          <a:noFill/>
          <a:ln w="9525">
            <a:noFill/>
          </a:ln>
        </p:spPr>
        <p:txBody>
          <a:bodyPr wrap="square">
            <a:spAutoFit/>
          </a:bodyPr>
          <a:lstStyle/>
          <a:p>
            <a:pPr indent="127000"/>
            <a:r>
              <a:rPr sz="2000" b="0">
                <a:cs typeface="方正书宋简体" charset="0"/>
              </a:rPr>
              <a:t>UPDATE mysql.user</a:t>
            </a:r>
          </a:p>
          <a:p>
            <a:pPr indent="127000"/>
            <a:r>
              <a:rPr sz="2000" b="0">
                <a:cs typeface="方正书宋简体" charset="0"/>
              </a:rPr>
              <a:t>SET authentication_string=sha('student123')</a:t>
            </a:r>
          </a:p>
          <a:p>
            <a:pPr indent="127000"/>
            <a:r>
              <a:rPr sz="2000" b="0">
                <a:cs typeface="方正书宋简体" charset="0"/>
              </a:rPr>
              <a:t>WHERE User = 'student' and Host = 'localhost';</a:t>
            </a:r>
          </a:p>
        </p:txBody>
      </p:sp>
      <p:sp>
        <p:nvSpPr>
          <p:cNvPr id="11" name="矩形 10"/>
          <p:cNvSpPr/>
          <p:nvPr/>
        </p:nvSpPr>
        <p:spPr>
          <a:xfrm>
            <a:off x="536575" y="26676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例子：将主机信息为localhost、用户名为student的用户口令修改为student123。</a:t>
            </a:r>
          </a:p>
        </p:txBody>
      </p:sp>
      <p:sp>
        <p:nvSpPr>
          <p:cNvPr id="13" name="下箭头 12"/>
          <p:cNvSpPr/>
          <p:nvPr/>
        </p:nvSpPr>
        <p:spPr>
          <a:xfrm rot="16200000">
            <a:off x="639895" y="335723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4" name="文本框 13"/>
          <p:cNvSpPr txBox="1"/>
          <p:nvPr/>
        </p:nvSpPr>
        <p:spPr>
          <a:xfrm>
            <a:off x="1374775" y="3462020"/>
            <a:ext cx="9806305" cy="398780"/>
          </a:xfrm>
          <a:prstGeom prst="rect">
            <a:avLst/>
          </a:prstGeom>
          <a:noFill/>
          <a:ln w="9525">
            <a:noFill/>
          </a:ln>
        </p:spPr>
        <p:txBody>
          <a:bodyPr wrap="square">
            <a:spAutoFit/>
          </a:bodyPr>
          <a:lstStyle/>
          <a:p>
            <a:pPr indent="127000"/>
            <a:r>
              <a:rPr sz="2000" b="0">
                <a:cs typeface="方正书宋简体" charset="0"/>
              </a:rPr>
              <a:t>ALTER USER 'student'@'localhost IDENTIFIED BY 'student123';</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231775" y="915035"/>
            <a:ext cx="2529840" cy="396875"/>
          </a:xfrm>
        </p:spPr>
        <p:txBody>
          <a:bodyPr>
            <a:noAutofit/>
          </a:bodyPr>
          <a:lstStyle/>
          <a:p>
            <a:pPr marL="0" indent="0" algn="ctr">
              <a:lnSpc>
                <a:spcPct val="100000"/>
              </a:lnSpc>
              <a:buNone/>
            </a:pPr>
            <a:r>
              <a:rPr lang="zh-CN" dirty="0"/>
              <a:t>修改用户口令</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5</a:t>
            </a:r>
            <a:r>
              <a:rPr lang="zh-CN" altLang="en-US" dirty="0"/>
              <a:t>．使用MySQL Workbench修改用户口令</a:t>
            </a:r>
          </a:p>
        </p:txBody>
      </p:sp>
      <p:sp>
        <p:nvSpPr>
          <p:cNvPr id="9" name="下箭头 8"/>
          <p:cNvSpPr/>
          <p:nvPr/>
        </p:nvSpPr>
        <p:spPr>
          <a:xfrm rot="16200000">
            <a:off x="3149600" y="4480560"/>
            <a:ext cx="583565" cy="76708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1" name="矩形 10"/>
          <p:cNvSpPr/>
          <p:nvPr/>
        </p:nvSpPr>
        <p:spPr>
          <a:xfrm>
            <a:off x="536575" y="2035810"/>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在Navigator窗格的Administration选项卡下，单击Users and Privileges选项，打开用户管理界面</a:t>
            </a:r>
          </a:p>
        </p:txBody>
      </p:sp>
      <p:sp>
        <p:nvSpPr>
          <p:cNvPr id="3" name="矩形 2"/>
          <p:cNvSpPr/>
          <p:nvPr/>
        </p:nvSpPr>
        <p:spPr>
          <a:xfrm>
            <a:off x="536575" y="2820035"/>
            <a:ext cx="11286490" cy="988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800">
                <a:solidFill>
                  <a:schemeClr val="tx1"/>
                </a:solidFill>
              </a:rPr>
              <a:t>选择需要修改的用户名称，在右侧先后在Password和Confirm Password文本框内输入新密码和确认新密码，单击Apply按钮提交修改申请</a:t>
            </a:r>
          </a:p>
        </p:txBody>
      </p:sp>
      <p:pic>
        <p:nvPicPr>
          <p:cNvPr id="2" name="图片 -2147482607"/>
          <p:cNvPicPr>
            <a:picLocks noChangeAspect="1"/>
          </p:cNvPicPr>
          <p:nvPr/>
        </p:nvPicPr>
        <p:blipFill>
          <a:blip r:embed="rId2"/>
          <a:stretch>
            <a:fillRect/>
          </a:stretch>
        </p:blipFill>
        <p:spPr>
          <a:xfrm>
            <a:off x="4498975" y="3886835"/>
            <a:ext cx="4733290" cy="2778760"/>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536575" y="915035"/>
            <a:ext cx="2225040" cy="396875"/>
          </a:xfrm>
        </p:spPr>
        <p:txBody>
          <a:bodyPr>
            <a:noAutofit/>
          </a:bodyPr>
          <a:lstStyle/>
          <a:p>
            <a:pPr marL="0" indent="0" algn="l">
              <a:lnSpc>
                <a:spcPct val="100000"/>
              </a:lnSpc>
              <a:buNone/>
            </a:pPr>
            <a:r>
              <a:rPr lang="zh-CN" dirty="0"/>
              <a:t>删除用户</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．使用DROP USER语句删除用户</a:t>
            </a:r>
          </a:p>
        </p:txBody>
      </p:sp>
      <p:sp>
        <p:nvSpPr>
          <p:cNvPr id="100" name="文本框 99"/>
          <p:cNvSpPr txBox="1"/>
          <p:nvPr/>
        </p:nvSpPr>
        <p:spPr>
          <a:xfrm>
            <a:off x="1276985" y="2123440"/>
            <a:ext cx="9806305" cy="398780"/>
          </a:xfrm>
          <a:prstGeom prst="rect">
            <a:avLst/>
          </a:prstGeom>
          <a:noFill/>
          <a:ln w="9525">
            <a:noFill/>
          </a:ln>
        </p:spPr>
        <p:txBody>
          <a:bodyPr wrap="square">
            <a:spAutoFit/>
          </a:bodyPr>
          <a:lstStyle/>
          <a:p>
            <a:pPr indent="127000"/>
            <a:r>
              <a:rPr sz="2000" b="0">
                <a:cs typeface="方正书宋简体" charset="0"/>
              </a:rPr>
              <a:t>DROP USER '用户名'@'主机信息'[,'用户名'@'主机信息']...</a:t>
            </a:r>
          </a:p>
        </p:txBody>
      </p:sp>
      <p:sp>
        <p:nvSpPr>
          <p:cNvPr id="12" name="下箭头 11"/>
          <p:cNvSpPr/>
          <p:nvPr/>
        </p:nvSpPr>
        <p:spPr>
          <a:xfrm rot="16200000">
            <a:off x="639260" y="194817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 name="矩形 5"/>
          <p:cNvSpPr/>
          <p:nvPr/>
        </p:nvSpPr>
        <p:spPr>
          <a:xfrm>
            <a:off x="536575" y="26676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例子：删除主机信息为localhost用户名为student的用户。</a:t>
            </a:r>
          </a:p>
        </p:txBody>
      </p:sp>
      <p:sp>
        <p:nvSpPr>
          <p:cNvPr id="13" name="下箭头 12"/>
          <p:cNvSpPr/>
          <p:nvPr/>
        </p:nvSpPr>
        <p:spPr>
          <a:xfrm rot="16200000">
            <a:off x="639895" y="335723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4" name="文本框 13"/>
          <p:cNvSpPr txBox="1"/>
          <p:nvPr/>
        </p:nvSpPr>
        <p:spPr>
          <a:xfrm>
            <a:off x="1374775" y="3462020"/>
            <a:ext cx="9806305" cy="398780"/>
          </a:xfrm>
          <a:prstGeom prst="rect">
            <a:avLst/>
          </a:prstGeom>
          <a:noFill/>
          <a:ln w="9525">
            <a:noFill/>
          </a:ln>
        </p:spPr>
        <p:txBody>
          <a:bodyPr wrap="square">
            <a:spAutoFit/>
          </a:bodyPr>
          <a:lstStyle/>
          <a:p>
            <a:pPr indent="127000"/>
            <a:r>
              <a:rPr sz="2000" b="0">
                <a:cs typeface="方正书宋简体" charset="0"/>
              </a:rPr>
              <a:t>DROP USER 'student'@'localhost;</a:t>
            </a:r>
          </a:p>
        </p:txBody>
      </p:sp>
      <p:sp>
        <p:nvSpPr>
          <p:cNvPr id="7" name="内容占位符 4"/>
          <p:cNvSpPr>
            <a:spLocks noGrp="1"/>
          </p:cNvSpPr>
          <p:nvPr/>
        </p:nvSpPr>
        <p:spPr>
          <a:xfrm>
            <a:off x="536575" y="404939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．使用系统表删除用户</a:t>
            </a:r>
          </a:p>
        </p:txBody>
      </p:sp>
      <p:sp>
        <p:nvSpPr>
          <p:cNvPr id="8" name="矩形 7"/>
          <p:cNvSpPr/>
          <p:nvPr/>
        </p:nvSpPr>
        <p:spPr>
          <a:xfrm>
            <a:off x="536575" y="4695190"/>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例子：删除主机信息为localhost、用户名为techer4的用户。</a:t>
            </a:r>
          </a:p>
        </p:txBody>
      </p:sp>
      <p:sp>
        <p:nvSpPr>
          <p:cNvPr id="10" name="下箭头 9"/>
          <p:cNvSpPr/>
          <p:nvPr/>
        </p:nvSpPr>
        <p:spPr>
          <a:xfrm rot="16200000">
            <a:off x="667835" y="559878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5" name="文本框 14"/>
          <p:cNvSpPr txBox="1"/>
          <p:nvPr/>
        </p:nvSpPr>
        <p:spPr>
          <a:xfrm>
            <a:off x="1374775" y="5563235"/>
            <a:ext cx="9806305" cy="706755"/>
          </a:xfrm>
          <a:prstGeom prst="rect">
            <a:avLst/>
          </a:prstGeom>
          <a:noFill/>
          <a:ln w="9525">
            <a:noFill/>
          </a:ln>
        </p:spPr>
        <p:txBody>
          <a:bodyPr wrap="square">
            <a:spAutoFit/>
          </a:bodyPr>
          <a:lstStyle/>
          <a:p>
            <a:pPr indent="127000"/>
            <a:r>
              <a:rPr sz="2000" b="0">
                <a:cs typeface="方正书宋简体" charset="0"/>
              </a:rPr>
              <a:t>DELELE FROM mysql.user</a:t>
            </a:r>
          </a:p>
          <a:p>
            <a:pPr indent="127000"/>
            <a:r>
              <a:rPr sz="2000" b="0">
                <a:cs typeface="方正书宋简体" charset="0"/>
              </a:rPr>
              <a:t>WHERE User = 'student' and Host = 'localhost';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8.4  </a:t>
            </a:r>
            <a:r>
              <a:rPr lang="en-US" altLang="zh-CN" dirty="0">
                <a:sym typeface="+mn-ea"/>
              </a:rPr>
              <a:t>MySQL</a:t>
            </a:r>
            <a:r>
              <a:rPr lang="zh-CN" altLang="en-US" dirty="0">
                <a:sym typeface="+mn-ea"/>
              </a:rPr>
              <a:t>用户管理</a:t>
            </a:r>
            <a:endParaRPr lang="zh-CN" altLang="en-US" dirty="0"/>
          </a:p>
        </p:txBody>
      </p:sp>
      <p:sp>
        <p:nvSpPr>
          <p:cNvPr id="5" name="内容占位符 4"/>
          <p:cNvSpPr>
            <a:spLocks noGrp="1"/>
          </p:cNvSpPr>
          <p:nvPr>
            <p:ph idx="1"/>
          </p:nvPr>
        </p:nvSpPr>
        <p:spPr>
          <a:xfrm>
            <a:off x="536575" y="915035"/>
            <a:ext cx="2225040" cy="396875"/>
          </a:xfrm>
        </p:spPr>
        <p:txBody>
          <a:bodyPr>
            <a:noAutofit/>
          </a:bodyPr>
          <a:lstStyle/>
          <a:p>
            <a:pPr marL="0" indent="0" algn="l">
              <a:lnSpc>
                <a:spcPct val="100000"/>
              </a:lnSpc>
              <a:buNone/>
            </a:pPr>
            <a:r>
              <a:rPr lang="zh-CN" dirty="0"/>
              <a:t>删除用户</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3</a:t>
            </a:r>
            <a:r>
              <a:rPr lang="zh-CN" altLang="en-US" dirty="0"/>
              <a:t>．使用MySQL Workbench删除用户</a:t>
            </a:r>
          </a:p>
        </p:txBody>
      </p:sp>
      <p:sp>
        <p:nvSpPr>
          <p:cNvPr id="6" name="矩形 5"/>
          <p:cNvSpPr/>
          <p:nvPr/>
        </p:nvSpPr>
        <p:spPr>
          <a:xfrm>
            <a:off x="536575" y="20580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在Navigator窗格的Administration选项卡下，单击Users and Privileges选项</a:t>
            </a:r>
          </a:p>
        </p:txBody>
      </p:sp>
      <p:sp>
        <p:nvSpPr>
          <p:cNvPr id="10" name="下箭头 9"/>
          <p:cNvSpPr/>
          <p:nvPr/>
        </p:nvSpPr>
        <p:spPr>
          <a:xfrm rot="16200000">
            <a:off x="2239010" y="4164965"/>
            <a:ext cx="583565" cy="124587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 name="矩形 1"/>
          <p:cNvSpPr/>
          <p:nvPr/>
        </p:nvSpPr>
        <p:spPr>
          <a:xfrm>
            <a:off x="536575" y="2820035"/>
            <a:ext cx="11286490" cy="6057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Font typeface="Wingdings" panose="05000000000000000000" charset="0"/>
              <a:buNone/>
            </a:pPr>
            <a:r>
              <a:rPr lang="zh-CN" altLang="en-US" sz="1800">
                <a:solidFill>
                  <a:schemeClr val="tx1"/>
                </a:solidFill>
              </a:rPr>
              <a:t>用户列表中，选择需要删除的用户名称，单击Delete按钮删除用户</a:t>
            </a:r>
          </a:p>
        </p:txBody>
      </p:sp>
      <p:pic>
        <p:nvPicPr>
          <p:cNvPr id="3" name="图片 49"/>
          <p:cNvPicPr>
            <a:picLocks noChangeAspect="1"/>
          </p:cNvPicPr>
          <p:nvPr/>
        </p:nvPicPr>
        <p:blipFill>
          <a:blip r:embed="rId2"/>
          <a:stretch>
            <a:fillRect/>
          </a:stretch>
        </p:blipFill>
        <p:spPr>
          <a:xfrm>
            <a:off x="3660775" y="3505835"/>
            <a:ext cx="5117465" cy="3003550"/>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8.5  </a:t>
            </a:r>
            <a:r>
              <a:rPr lang="en-US" altLang="zh-CN" dirty="0">
                <a:sym typeface="+mn-ea"/>
              </a:rPr>
              <a:t>MySQL</a:t>
            </a:r>
            <a:r>
              <a:rPr lang="zh-CN" altLang="en-US" dirty="0">
                <a:sym typeface="+mn-ea"/>
              </a:rPr>
              <a:t>权限管理</a:t>
            </a:r>
            <a:endParaRPr lang="zh-CN" altLang="en-US" dirty="0"/>
          </a:p>
        </p:txBody>
      </p:sp>
      <p:sp>
        <p:nvSpPr>
          <p:cNvPr id="3" name="Freeform 5"/>
          <p:cNvSpPr/>
          <p:nvPr/>
        </p:nvSpPr>
        <p:spPr bwMode="auto">
          <a:xfrm>
            <a:off x="3263977" y="1790189"/>
            <a:ext cx="2416360" cy="2097545"/>
          </a:xfrm>
          <a:custGeom>
            <a:avLst/>
            <a:gdLst>
              <a:gd name="T0" fmla="*/ 1675 w 1675"/>
              <a:gd name="T1" fmla="*/ 725 h 1454"/>
              <a:gd name="T2" fmla="*/ 1256 w 1675"/>
              <a:gd name="T3" fmla="*/ 1454 h 1454"/>
              <a:gd name="T4" fmla="*/ 418 w 1675"/>
              <a:gd name="T5" fmla="*/ 1454 h 1454"/>
              <a:gd name="T6" fmla="*/ 0 w 1675"/>
              <a:gd name="T7" fmla="*/ 725 h 1454"/>
              <a:gd name="T8" fmla="*/ 418 w 1675"/>
              <a:gd name="T9" fmla="*/ 0 h 1454"/>
              <a:gd name="T10" fmla="*/ 1256 w 1675"/>
              <a:gd name="T11" fmla="*/ 0 h 1454"/>
              <a:gd name="T12" fmla="*/ 1671 w 1675"/>
              <a:gd name="T13" fmla="*/ 716 h 1454"/>
              <a:gd name="T14" fmla="*/ 1675 w 1675"/>
              <a:gd name="T15" fmla="*/ 725 h 1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75" h="1454">
                <a:moveTo>
                  <a:pt x="1675" y="725"/>
                </a:moveTo>
                <a:lnTo>
                  <a:pt x="1256" y="1454"/>
                </a:lnTo>
                <a:lnTo>
                  <a:pt x="418" y="1454"/>
                </a:lnTo>
                <a:lnTo>
                  <a:pt x="0" y="725"/>
                </a:lnTo>
                <a:lnTo>
                  <a:pt x="418" y="0"/>
                </a:lnTo>
                <a:lnTo>
                  <a:pt x="1256" y="0"/>
                </a:lnTo>
                <a:lnTo>
                  <a:pt x="1671" y="716"/>
                </a:lnTo>
                <a:lnTo>
                  <a:pt x="1675" y="725"/>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6" name="Freeform 6"/>
          <p:cNvSpPr/>
          <p:nvPr/>
        </p:nvSpPr>
        <p:spPr bwMode="auto">
          <a:xfrm>
            <a:off x="3263977" y="3968520"/>
            <a:ext cx="2416360" cy="2097545"/>
          </a:xfrm>
          <a:custGeom>
            <a:avLst/>
            <a:gdLst>
              <a:gd name="T0" fmla="*/ 1675 w 1675"/>
              <a:gd name="T1" fmla="*/ 729 h 1454"/>
              <a:gd name="T2" fmla="*/ 1671 w 1675"/>
              <a:gd name="T3" fmla="*/ 738 h 1454"/>
              <a:gd name="T4" fmla="*/ 1256 w 1675"/>
              <a:gd name="T5" fmla="*/ 1454 h 1454"/>
              <a:gd name="T6" fmla="*/ 418 w 1675"/>
              <a:gd name="T7" fmla="*/ 1454 h 1454"/>
              <a:gd name="T8" fmla="*/ 0 w 1675"/>
              <a:gd name="T9" fmla="*/ 729 h 1454"/>
              <a:gd name="T10" fmla="*/ 418 w 1675"/>
              <a:gd name="T11" fmla="*/ 0 h 1454"/>
              <a:gd name="T12" fmla="*/ 1256 w 1675"/>
              <a:gd name="T13" fmla="*/ 0 h 1454"/>
              <a:gd name="T14" fmla="*/ 1675 w 1675"/>
              <a:gd name="T15" fmla="*/ 729 h 1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75" h="1454">
                <a:moveTo>
                  <a:pt x="1675" y="729"/>
                </a:moveTo>
                <a:lnTo>
                  <a:pt x="1671" y="738"/>
                </a:lnTo>
                <a:lnTo>
                  <a:pt x="1256" y="1454"/>
                </a:lnTo>
                <a:lnTo>
                  <a:pt x="418" y="1454"/>
                </a:lnTo>
                <a:lnTo>
                  <a:pt x="0" y="729"/>
                </a:lnTo>
                <a:lnTo>
                  <a:pt x="418" y="0"/>
                </a:lnTo>
                <a:lnTo>
                  <a:pt x="1256" y="0"/>
                </a:lnTo>
                <a:lnTo>
                  <a:pt x="1675" y="729"/>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7" name="Freeform 7"/>
          <p:cNvSpPr/>
          <p:nvPr/>
        </p:nvSpPr>
        <p:spPr bwMode="auto">
          <a:xfrm>
            <a:off x="5831810" y="1790189"/>
            <a:ext cx="2417803" cy="2097545"/>
          </a:xfrm>
          <a:custGeom>
            <a:avLst/>
            <a:gdLst>
              <a:gd name="T0" fmla="*/ 1676 w 1676"/>
              <a:gd name="T1" fmla="*/ 725 h 1454"/>
              <a:gd name="T2" fmla="*/ 1257 w 1676"/>
              <a:gd name="T3" fmla="*/ 1454 h 1454"/>
              <a:gd name="T4" fmla="*/ 419 w 1676"/>
              <a:gd name="T5" fmla="*/ 1454 h 1454"/>
              <a:gd name="T6" fmla="*/ 0 w 1676"/>
              <a:gd name="T7" fmla="*/ 725 h 1454"/>
              <a:gd name="T8" fmla="*/ 4 w 1676"/>
              <a:gd name="T9" fmla="*/ 716 h 1454"/>
              <a:gd name="T10" fmla="*/ 419 w 1676"/>
              <a:gd name="T11" fmla="*/ 0 h 1454"/>
              <a:gd name="T12" fmla="*/ 1257 w 1676"/>
              <a:gd name="T13" fmla="*/ 0 h 1454"/>
              <a:gd name="T14" fmla="*/ 1676 w 1676"/>
              <a:gd name="T15" fmla="*/ 725 h 1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76" h="1454">
                <a:moveTo>
                  <a:pt x="1676" y="725"/>
                </a:moveTo>
                <a:lnTo>
                  <a:pt x="1257" y="1454"/>
                </a:lnTo>
                <a:lnTo>
                  <a:pt x="419" y="1454"/>
                </a:lnTo>
                <a:lnTo>
                  <a:pt x="0" y="725"/>
                </a:lnTo>
                <a:lnTo>
                  <a:pt x="4" y="716"/>
                </a:lnTo>
                <a:lnTo>
                  <a:pt x="419" y="0"/>
                </a:lnTo>
                <a:lnTo>
                  <a:pt x="1257" y="0"/>
                </a:lnTo>
                <a:lnTo>
                  <a:pt x="1676" y="725"/>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8" name="Freeform 8"/>
          <p:cNvSpPr/>
          <p:nvPr/>
        </p:nvSpPr>
        <p:spPr bwMode="auto">
          <a:xfrm>
            <a:off x="5831810" y="3968520"/>
            <a:ext cx="2417803" cy="2097545"/>
          </a:xfrm>
          <a:custGeom>
            <a:avLst/>
            <a:gdLst>
              <a:gd name="T0" fmla="*/ 1676 w 1676"/>
              <a:gd name="T1" fmla="*/ 729 h 1454"/>
              <a:gd name="T2" fmla="*/ 1257 w 1676"/>
              <a:gd name="T3" fmla="*/ 1454 h 1454"/>
              <a:gd name="T4" fmla="*/ 419 w 1676"/>
              <a:gd name="T5" fmla="*/ 1454 h 1454"/>
              <a:gd name="T6" fmla="*/ 4 w 1676"/>
              <a:gd name="T7" fmla="*/ 738 h 1454"/>
              <a:gd name="T8" fmla="*/ 0 w 1676"/>
              <a:gd name="T9" fmla="*/ 729 h 1454"/>
              <a:gd name="T10" fmla="*/ 419 w 1676"/>
              <a:gd name="T11" fmla="*/ 0 h 1454"/>
              <a:gd name="T12" fmla="*/ 1257 w 1676"/>
              <a:gd name="T13" fmla="*/ 0 h 1454"/>
              <a:gd name="T14" fmla="*/ 1676 w 1676"/>
              <a:gd name="T15" fmla="*/ 729 h 14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76" h="1454">
                <a:moveTo>
                  <a:pt x="1676" y="729"/>
                </a:moveTo>
                <a:lnTo>
                  <a:pt x="1257" y="1454"/>
                </a:lnTo>
                <a:lnTo>
                  <a:pt x="419" y="1454"/>
                </a:lnTo>
                <a:lnTo>
                  <a:pt x="4" y="738"/>
                </a:lnTo>
                <a:lnTo>
                  <a:pt x="0" y="729"/>
                </a:lnTo>
                <a:lnTo>
                  <a:pt x="419" y="0"/>
                </a:lnTo>
                <a:lnTo>
                  <a:pt x="1257" y="0"/>
                </a:lnTo>
                <a:lnTo>
                  <a:pt x="1676" y="729"/>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12" name="Freeform 9"/>
          <p:cNvSpPr/>
          <p:nvPr/>
        </p:nvSpPr>
        <p:spPr bwMode="auto">
          <a:xfrm>
            <a:off x="5831810" y="2823093"/>
            <a:ext cx="1032904" cy="1064641"/>
          </a:xfrm>
          <a:custGeom>
            <a:avLst/>
            <a:gdLst>
              <a:gd name="T0" fmla="*/ 164 w 164"/>
              <a:gd name="T1" fmla="*/ 169 h 169"/>
              <a:gd name="T2" fmla="*/ 96 w 164"/>
              <a:gd name="T3" fmla="*/ 169 h 169"/>
              <a:gd name="T4" fmla="*/ 0 w 164"/>
              <a:gd name="T5" fmla="*/ 2 h 169"/>
              <a:gd name="T6" fmla="*/ 1 w 164"/>
              <a:gd name="T7" fmla="*/ 0 h 169"/>
              <a:gd name="T8" fmla="*/ 164 w 164"/>
              <a:gd name="T9" fmla="*/ 169 h 169"/>
            </a:gdLst>
            <a:ahLst/>
            <a:cxnLst>
              <a:cxn ang="0">
                <a:pos x="T0" y="T1"/>
              </a:cxn>
              <a:cxn ang="0">
                <a:pos x="T2" y="T3"/>
              </a:cxn>
              <a:cxn ang="0">
                <a:pos x="T4" y="T5"/>
              </a:cxn>
              <a:cxn ang="0">
                <a:pos x="T6" y="T7"/>
              </a:cxn>
              <a:cxn ang="0">
                <a:pos x="T8" y="T9"/>
              </a:cxn>
            </a:cxnLst>
            <a:rect l="0" t="0" r="r" b="b"/>
            <a:pathLst>
              <a:path w="164" h="169">
                <a:moveTo>
                  <a:pt x="164" y="169"/>
                </a:moveTo>
                <a:cubicBezTo>
                  <a:pt x="96" y="169"/>
                  <a:pt x="96" y="169"/>
                  <a:pt x="96" y="169"/>
                </a:cubicBezTo>
                <a:cubicBezTo>
                  <a:pt x="0" y="2"/>
                  <a:pt x="0" y="2"/>
                  <a:pt x="0" y="2"/>
                </a:cubicBezTo>
                <a:cubicBezTo>
                  <a:pt x="1" y="0"/>
                  <a:pt x="1" y="0"/>
                  <a:pt x="1" y="0"/>
                </a:cubicBezTo>
                <a:cubicBezTo>
                  <a:pt x="90" y="7"/>
                  <a:pt x="160" y="79"/>
                  <a:pt x="164" y="169"/>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3" name="Freeform 10"/>
          <p:cNvSpPr/>
          <p:nvPr/>
        </p:nvSpPr>
        <p:spPr bwMode="auto">
          <a:xfrm>
            <a:off x="5831810" y="3968520"/>
            <a:ext cx="1032904" cy="1064641"/>
          </a:xfrm>
          <a:custGeom>
            <a:avLst/>
            <a:gdLst>
              <a:gd name="T0" fmla="*/ 164 w 164"/>
              <a:gd name="T1" fmla="*/ 0 h 169"/>
              <a:gd name="T2" fmla="*/ 1 w 164"/>
              <a:gd name="T3" fmla="*/ 169 h 169"/>
              <a:gd name="T4" fmla="*/ 0 w 164"/>
              <a:gd name="T5" fmla="*/ 167 h 169"/>
              <a:gd name="T6" fmla="*/ 96 w 164"/>
              <a:gd name="T7" fmla="*/ 0 h 169"/>
              <a:gd name="T8" fmla="*/ 164 w 164"/>
              <a:gd name="T9" fmla="*/ 0 h 169"/>
            </a:gdLst>
            <a:ahLst/>
            <a:cxnLst>
              <a:cxn ang="0">
                <a:pos x="T0" y="T1"/>
              </a:cxn>
              <a:cxn ang="0">
                <a:pos x="T2" y="T3"/>
              </a:cxn>
              <a:cxn ang="0">
                <a:pos x="T4" y="T5"/>
              </a:cxn>
              <a:cxn ang="0">
                <a:pos x="T6" y="T7"/>
              </a:cxn>
              <a:cxn ang="0">
                <a:pos x="T8" y="T9"/>
              </a:cxn>
            </a:cxnLst>
            <a:rect l="0" t="0" r="r" b="b"/>
            <a:pathLst>
              <a:path w="164" h="169">
                <a:moveTo>
                  <a:pt x="164" y="0"/>
                </a:moveTo>
                <a:cubicBezTo>
                  <a:pt x="160" y="90"/>
                  <a:pt x="90" y="163"/>
                  <a:pt x="1" y="169"/>
                </a:cubicBezTo>
                <a:cubicBezTo>
                  <a:pt x="0" y="167"/>
                  <a:pt x="0" y="167"/>
                  <a:pt x="0" y="167"/>
                </a:cubicBezTo>
                <a:cubicBezTo>
                  <a:pt x="96" y="0"/>
                  <a:pt x="96" y="0"/>
                  <a:pt x="96" y="0"/>
                </a:cubicBezTo>
                <a:lnTo>
                  <a:pt x="164" y="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4" name="Freeform 11"/>
          <p:cNvSpPr/>
          <p:nvPr/>
        </p:nvSpPr>
        <p:spPr bwMode="auto">
          <a:xfrm>
            <a:off x="4648876" y="3968520"/>
            <a:ext cx="1031462" cy="1064641"/>
          </a:xfrm>
          <a:custGeom>
            <a:avLst/>
            <a:gdLst>
              <a:gd name="T0" fmla="*/ 164 w 164"/>
              <a:gd name="T1" fmla="*/ 167 h 169"/>
              <a:gd name="T2" fmla="*/ 163 w 164"/>
              <a:gd name="T3" fmla="*/ 169 h 169"/>
              <a:gd name="T4" fmla="*/ 0 w 164"/>
              <a:gd name="T5" fmla="*/ 0 h 169"/>
              <a:gd name="T6" fmla="*/ 68 w 164"/>
              <a:gd name="T7" fmla="*/ 0 h 169"/>
              <a:gd name="T8" fmla="*/ 164 w 164"/>
              <a:gd name="T9" fmla="*/ 167 h 169"/>
            </a:gdLst>
            <a:ahLst/>
            <a:cxnLst>
              <a:cxn ang="0">
                <a:pos x="T0" y="T1"/>
              </a:cxn>
              <a:cxn ang="0">
                <a:pos x="T2" y="T3"/>
              </a:cxn>
              <a:cxn ang="0">
                <a:pos x="T4" y="T5"/>
              </a:cxn>
              <a:cxn ang="0">
                <a:pos x="T6" y="T7"/>
              </a:cxn>
              <a:cxn ang="0">
                <a:pos x="T8" y="T9"/>
              </a:cxn>
            </a:cxnLst>
            <a:rect l="0" t="0" r="r" b="b"/>
            <a:pathLst>
              <a:path w="164" h="169">
                <a:moveTo>
                  <a:pt x="164" y="167"/>
                </a:moveTo>
                <a:cubicBezTo>
                  <a:pt x="163" y="169"/>
                  <a:pt x="163" y="169"/>
                  <a:pt x="163" y="169"/>
                </a:cubicBezTo>
                <a:cubicBezTo>
                  <a:pt x="74" y="163"/>
                  <a:pt x="3" y="90"/>
                  <a:pt x="0" y="0"/>
                </a:cubicBezTo>
                <a:cubicBezTo>
                  <a:pt x="68" y="0"/>
                  <a:pt x="68" y="0"/>
                  <a:pt x="68" y="0"/>
                </a:cubicBezTo>
                <a:lnTo>
                  <a:pt x="164" y="167"/>
                </a:ln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15" name="Freeform 12"/>
          <p:cNvSpPr/>
          <p:nvPr/>
        </p:nvSpPr>
        <p:spPr bwMode="auto">
          <a:xfrm>
            <a:off x="4648876" y="2823093"/>
            <a:ext cx="1031462" cy="1064641"/>
          </a:xfrm>
          <a:custGeom>
            <a:avLst/>
            <a:gdLst>
              <a:gd name="T0" fmla="*/ 164 w 164"/>
              <a:gd name="T1" fmla="*/ 2 h 169"/>
              <a:gd name="T2" fmla="*/ 68 w 164"/>
              <a:gd name="T3" fmla="*/ 169 h 169"/>
              <a:gd name="T4" fmla="*/ 0 w 164"/>
              <a:gd name="T5" fmla="*/ 169 h 169"/>
              <a:gd name="T6" fmla="*/ 163 w 164"/>
              <a:gd name="T7" fmla="*/ 0 h 169"/>
              <a:gd name="T8" fmla="*/ 164 w 164"/>
              <a:gd name="T9" fmla="*/ 2 h 169"/>
            </a:gdLst>
            <a:ahLst/>
            <a:cxnLst>
              <a:cxn ang="0">
                <a:pos x="T0" y="T1"/>
              </a:cxn>
              <a:cxn ang="0">
                <a:pos x="T2" y="T3"/>
              </a:cxn>
              <a:cxn ang="0">
                <a:pos x="T4" y="T5"/>
              </a:cxn>
              <a:cxn ang="0">
                <a:pos x="T6" y="T7"/>
              </a:cxn>
              <a:cxn ang="0">
                <a:pos x="T8" y="T9"/>
              </a:cxn>
            </a:cxnLst>
            <a:rect l="0" t="0" r="r" b="b"/>
            <a:pathLst>
              <a:path w="164" h="169">
                <a:moveTo>
                  <a:pt x="164" y="2"/>
                </a:moveTo>
                <a:cubicBezTo>
                  <a:pt x="68" y="169"/>
                  <a:pt x="68" y="169"/>
                  <a:pt x="68" y="169"/>
                </a:cubicBezTo>
                <a:cubicBezTo>
                  <a:pt x="0" y="169"/>
                  <a:pt x="0" y="169"/>
                  <a:pt x="0" y="169"/>
                </a:cubicBezTo>
                <a:cubicBezTo>
                  <a:pt x="3" y="79"/>
                  <a:pt x="74" y="7"/>
                  <a:pt x="163" y="0"/>
                </a:cubicBezTo>
                <a:lnTo>
                  <a:pt x="164" y="2"/>
                </a:lnTo>
                <a:close/>
              </a:path>
            </a:pathLst>
          </a:custGeom>
          <a:solidFill>
            <a:schemeClr val="accent1"/>
          </a:solidFill>
          <a:ln>
            <a:noFill/>
          </a:ln>
        </p:spPr>
        <p:txBody>
          <a:bodyPr vert="horz" wrap="square" lIns="91440" tIns="45720" rIns="91440" bIns="45720" numCol="1" anchor="t" anchorCtr="0" compatLnSpc="1"/>
          <a:lstStyle/>
          <a:p>
            <a:endParaRPr lang="en-US"/>
          </a:p>
        </p:txBody>
      </p:sp>
      <p:grpSp>
        <p:nvGrpSpPr>
          <p:cNvPr id="16" name="Group 21"/>
          <p:cNvGrpSpPr/>
          <p:nvPr/>
        </p:nvGrpSpPr>
        <p:grpSpPr>
          <a:xfrm>
            <a:off x="4484419" y="2815880"/>
            <a:ext cx="2537539" cy="2236035"/>
            <a:chOff x="4689475" y="2201863"/>
            <a:chExt cx="2792413" cy="2460625"/>
          </a:xfrm>
          <a:solidFill>
            <a:schemeClr val="bg1">
              <a:lumMod val="85000"/>
            </a:schemeClr>
          </a:solidFill>
        </p:grpSpPr>
        <p:sp>
          <p:nvSpPr>
            <p:cNvPr id="17" name="Freeform 13"/>
            <p:cNvSpPr>
              <a:spLocks noEditPoints="1"/>
            </p:cNvSpPr>
            <p:nvPr/>
          </p:nvSpPr>
          <p:spPr bwMode="auto">
            <a:xfrm>
              <a:off x="4724400" y="2244725"/>
              <a:ext cx="2728913" cy="2370138"/>
            </a:xfrm>
            <a:custGeom>
              <a:avLst/>
              <a:gdLst>
                <a:gd name="T0" fmla="*/ 1292 w 1719"/>
                <a:gd name="T1" fmla="*/ 1493 h 1493"/>
                <a:gd name="T2" fmla="*/ 428 w 1719"/>
                <a:gd name="T3" fmla="*/ 1493 h 1493"/>
                <a:gd name="T4" fmla="*/ 428 w 1719"/>
                <a:gd name="T5" fmla="*/ 1488 h 1493"/>
                <a:gd name="T6" fmla="*/ 0 w 1719"/>
                <a:gd name="T7" fmla="*/ 746 h 1493"/>
                <a:gd name="T8" fmla="*/ 0 w 1719"/>
                <a:gd name="T9" fmla="*/ 742 h 1493"/>
                <a:gd name="T10" fmla="*/ 428 w 1719"/>
                <a:gd name="T11" fmla="*/ 0 h 1493"/>
                <a:gd name="T12" fmla="*/ 1292 w 1719"/>
                <a:gd name="T13" fmla="*/ 0 h 1493"/>
                <a:gd name="T14" fmla="*/ 1292 w 1719"/>
                <a:gd name="T15" fmla="*/ 0 h 1493"/>
                <a:gd name="T16" fmla="*/ 1719 w 1719"/>
                <a:gd name="T17" fmla="*/ 746 h 1493"/>
                <a:gd name="T18" fmla="*/ 1719 w 1719"/>
                <a:gd name="T19" fmla="*/ 746 h 1493"/>
                <a:gd name="T20" fmla="*/ 1292 w 1719"/>
                <a:gd name="T21" fmla="*/ 1493 h 1493"/>
                <a:gd name="T22" fmla="*/ 432 w 1719"/>
                <a:gd name="T23" fmla="*/ 1484 h 1493"/>
                <a:gd name="T24" fmla="*/ 1287 w 1719"/>
                <a:gd name="T25" fmla="*/ 1484 h 1493"/>
                <a:gd name="T26" fmla="*/ 1715 w 1719"/>
                <a:gd name="T27" fmla="*/ 746 h 1493"/>
                <a:gd name="T28" fmla="*/ 1287 w 1719"/>
                <a:gd name="T29" fmla="*/ 4 h 1493"/>
                <a:gd name="T30" fmla="*/ 432 w 1719"/>
                <a:gd name="T31" fmla="*/ 4 h 1493"/>
                <a:gd name="T32" fmla="*/ 4 w 1719"/>
                <a:gd name="T33" fmla="*/ 746 h 1493"/>
                <a:gd name="T34" fmla="*/ 432 w 1719"/>
                <a:gd name="T35" fmla="*/ 1484 h 1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9" h="1493">
                  <a:moveTo>
                    <a:pt x="1292" y="1493"/>
                  </a:moveTo>
                  <a:lnTo>
                    <a:pt x="428" y="1493"/>
                  </a:lnTo>
                  <a:lnTo>
                    <a:pt x="428" y="1488"/>
                  </a:lnTo>
                  <a:lnTo>
                    <a:pt x="0" y="746"/>
                  </a:lnTo>
                  <a:lnTo>
                    <a:pt x="0" y="742"/>
                  </a:lnTo>
                  <a:lnTo>
                    <a:pt x="428" y="0"/>
                  </a:lnTo>
                  <a:lnTo>
                    <a:pt x="1292" y="0"/>
                  </a:lnTo>
                  <a:lnTo>
                    <a:pt x="1292" y="0"/>
                  </a:lnTo>
                  <a:lnTo>
                    <a:pt x="1719" y="746"/>
                  </a:lnTo>
                  <a:lnTo>
                    <a:pt x="1719" y="746"/>
                  </a:lnTo>
                  <a:lnTo>
                    <a:pt x="1292" y="1493"/>
                  </a:lnTo>
                  <a:close/>
                  <a:moveTo>
                    <a:pt x="432" y="1484"/>
                  </a:moveTo>
                  <a:lnTo>
                    <a:pt x="1287" y="1484"/>
                  </a:lnTo>
                  <a:lnTo>
                    <a:pt x="1715" y="746"/>
                  </a:lnTo>
                  <a:lnTo>
                    <a:pt x="1287" y="4"/>
                  </a:lnTo>
                  <a:lnTo>
                    <a:pt x="432" y="4"/>
                  </a:lnTo>
                  <a:lnTo>
                    <a:pt x="4" y="746"/>
                  </a:lnTo>
                  <a:lnTo>
                    <a:pt x="432" y="148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8" name="Oval 14"/>
            <p:cNvSpPr>
              <a:spLocks noChangeArrowheads="1"/>
            </p:cNvSpPr>
            <p:nvPr/>
          </p:nvSpPr>
          <p:spPr bwMode="auto">
            <a:xfrm>
              <a:off x="4689475" y="3381375"/>
              <a:ext cx="82550" cy="889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9" name="Oval 15"/>
            <p:cNvSpPr>
              <a:spLocks noChangeArrowheads="1"/>
            </p:cNvSpPr>
            <p:nvPr/>
          </p:nvSpPr>
          <p:spPr bwMode="auto">
            <a:xfrm>
              <a:off x="7397750" y="3381375"/>
              <a:ext cx="84138" cy="889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0" name="Oval 16"/>
            <p:cNvSpPr>
              <a:spLocks noChangeArrowheads="1"/>
            </p:cNvSpPr>
            <p:nvPr/>
          </p:nvSpPr>
          <p:spPr bwMode="auto">
            <a:xfrm>
              <a:off x="5368925" y="2201863"/>
              <a:ext cx="82550" cy="904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1" name="Oval 17"/>
            <p:cNvSpPr>
              <a:spLocks noChangeArrowheads="1"/>
            </p:cNvSpPr>
            <p:nvPr/>
          </p:nvSpPr>
          <p:spPr bwMode="auto">
            <a:xfrm>
              <a:off x="6732588" y="2201863"/>
              <a:ext cx="84138" cy="841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2" name="Oval 18"/>
            <p:cNvSpPr>
              <a:spLocks noChangeArrowheads="1"/>
            </p:cNvSpPr>
            <p:nvPr/>
          </p:nvSpPr>
          <p:spPr bwMode="auto">
            <a:xfrm>
              <a:off x="5368925" y="4572000"/>
              <a:ext cx="82550" cy="904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3" name="Oval 19"/>
            <p:cNvSpPr>
              <a:spLocks noChangeArrowheads="1"/>
            </p:cNvSpPr>
            <p:nvPr/>
          </p:nvSpPr>
          <p:spPr bwMode="auto">
            <a:xfrm>
              <a:off x="6732588" y="4572000"/>
              <a:ext cx="84138" cy="841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sp>
        <p:nvSpPr>
          <p:cNvPr id="24" name="Oval 20"/>
          <p:cNvSpPr>
            <a:spLocks noChangeArrowheads="1"/>
          </p:cNvSpPr>
          <p:nvPr/>
        </p:nvSpPr>
        <p:spPr bwMode="auto">
          <a:xfrm>
            <a:off x="4956151" y="3124597"/>
            <a:ext cx="1599847" cy="1607060"/>
          </a:xfrm>
          <a:prstGeom prst="ellipse">
            <a:avLst/>
          </a:prstGeom>
          <a:solidFill>
            <a:schemeClr val="bg2">
              <a:lumMod val="85000"/>
            </a:schemeClr>
          </a:solidFill>
          <a:ln>
            <a:noFill/>
          </a:ln>
        </p:spPr>
        <p:txBody>
          <a:bodyPr vert="horz" wrap="square" lIns="91440" tIns="45720" rIns="91440" bIns="45720" numCol="1" anchor="t" anchorCtr="0" compatLnSpc="1"/>
          <a:lstStyle/>
          <a:p>
            <a:endParaRPr lang="en-US"/>
          </a:p>
        </p:txBody>
      </p:sp>
      <p:sp>
        <p:nvSpPr>
          <p:cNvPr id="25" name="Inhaltsplatzhalter 4"/>
          <p:cNvSpPr txBox="1"/>
          <p:nvPr/>
        </p:nvSpPr>
        <p:spPr>
          <a:xfrm>
            <a:off x="384061" y="4832825"/>
            <a:ext cx="2810597" cy="738505"/>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en-US" sz="2400" b="1" dirty="0">
                <a:solidFill>
                  <a:schemeClr val="accent4"/>
                </a:solidFill>
                <a:latin typeface="+mj-lt"/>
              </a:rPr>
              <a:t>数据库权限</a:t>
            </a:r>
            <a:br>
              <a:rPr lang="en-US" sz="2400" b="1" dirty="0">
                <a:solidFill>
                  <a:schemeClr val="accent4"/>
                </a:solidFill>
                <a:latin typeface="+mj-lt"/>
              </a:rPr>
            </a:br>
            <a:endParaRPr lang="en-US" sz="2400" b="1" dirty="0">
              <a:solidFill>
                <a:schemeClr val="accent4"/>
              </a:solidFill>
              <a:latin typeface="+mj-lt"/>
            </a:endParaRPr>
          </a:p>
        </p:txBody>
      </p:sp>
      <p:sp>
        <p:nvSpPr>
          <p:cNvPr id="26" name="Inhaltsplatzhalter 4"/>
          <p:cNvSpPr txBox="1"/>
          <p:nvPr/>
        </p:nvSpPr>
        <p:spPr>
          <a:xfrm>
            <a:off x="175260" y="2654300"/>
            <a:ext cx="3037205" cy="368935"/>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en-US" sz="2400" b="1" dirty="0">
                <a:solidFill>
                  <a:schemeClr val="accent1"/>
                </a:solidFill>
                <a:latin typeface="+mj-lt"/>
              </a:rPr>
              <a:t>管理权限</a:t>
            </a:r>
          </a:p>
        </p:txBody>
      </p:sp>
      <p:sp>
        <p:nvSpPr>
          <p:cNvPr id="27" name="Inhaltsplatzhalter 4"/>
          <p:cNvSpPr txBox="1"/>
          <p:nvPr/>
        </p:nvSpPr>
        <p:spPr>
          <a:xfrm>
            <a:off x="8522366" y="4832825"/>
            <a:ext cx="2810597" cy="368935"/>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2400" b="1" dirty="0">
                <a:solidFill>
                  <a:schemeClr val="accent3"/>
                </a:solidFill>
                <a:latin typeface="+mj-lt"/>
              </a:rPr>
              <a:t>函数或存储过程权限</a:t>
            </a:r>
          </a:p>
        </p:txBody>
      </p:sp>
      <p:sp>
        <p:nvSpPr>
          <p:cNvPr id="28" name="Inhaltsplatzhalter 4"/>
          <p:cNvSpPr txBox="1"/>
          <p:nvPr/>
        </p:nvSpPr>
        <p:spPr>
          <a:xfrm>
            <a:off x="8401716" y="2598614"/>
            <a:ext cx="2810597" cy="368935"/>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2400" b="1" dirty="0">
                <a:solidFill>
                  <a:schemeClr val="accent2"/>
                </a:solidFill>
                <a:latin typeface="+mj-lt"/>
              </a:rPr>
              <a:t>数据库对象权限</a:t>
            </a:r>
          </a:p>
        </p:txBody>
      </p:sp>
      <p:sp>
        <p:nvSpPr>
          <p:cNvPr id="29" name="Freeform 14"/>
          <p:cNvSpPr>
            <a:spLocks noEditPoints="1"/>
          </p:cNvSpPr>
          <p:nvPr/>
        </p:nvSpPr>
        <p:spPr bwMode="auto">
          <a:xfrm>
            <a:off x="6766416" y="2569982"/>
            <a:ext cx="548590" cy="537958"/>
          </a:xfrm>
          <a:custGeom>
            <a:avLst/>
            <a:gdLst/>
            <a:ahLst/>
            <a:cxnLst>
              <a:cxn ang="0">
                <a:pos x="227" y="103"/>
              </a:cxn>
              <a:cxn ang="0">
                <a:pos x="245" y="135"/>
              </a:cxn>
              <a:cxn ang="0">
                <a:pos x="192" y="114"/>
              </a:cxn>
              <a:cxn ang="0">
                <a:pos x="176" y="116"/>
              </a:cxn>
              <a:cxn ang="0">
                <a:pos x="104" y="58"/>
              </a:cxn>
              <a:cxn ang="0">
                <a:pos x="176" y="0"/>
              </a:cxn>
              <a:cxn ang="0">
                <a:pos x="256" y="58"/>
              </a:cxn>
              <a:cxn ang="0">
                <a:pos x="227" y="103"/>
              </a:cxn>
              <a:cxn ang="0">
                <a:pos x="89" y="64"/>
              </a:cxn>
              <a:cxn ang="0">
                <a:pos x="170" y="132"/>
              </a:cxn>
              <a:cxn ang="0">
                <a:pos x="186" y="130"/>
              </a:cxn>
              <a:cxn ang="0">
                <a:pos x="186" y="130"/>
              </a:cxn>
              <a:cxn ang="0">
                <a:pos x="188" y="130"/>
              </a:cxn>
              <a:cxn ang="0">
                <a:pos x="229" y="147"/>
              </a:cxn>
              <a:cxn ang="0">
                <a:pos x="122" y="215"/>
              </a:cxn>
              <a:cxn ang="0">
                <a:pos x="98" y="211"/>
              </a:cxn>
              <a:cxn ang="0">
                <a:pos x="16" y="244"/>
              </a:cxn>
              <a:cxn ang="0">
                <a:pos x="44" y="195"/>
              </a:cxn>
              <a:cxn ang="0">
                <a:pos x="0" y="126"/>
              </a:cxn>
              <a:cxn ang="0">
                <a:pos x="93" y="40"/>
              </a:cxn>
              <a:cxn ang="0">
                <a:pos x="89" y="64"/>
              </a:cxn>
            </a:cxnLst>
            <a:rect l="0" t="0" r="r" b="b"/>
            <a:pathLst>
              <a:path w="256" h="251">
                <a:moveTo>
                  <a:pt x="227" y="103"/>
                </a:moveTo>
                <a:cubicBezTo>
                  <a:pt x="223" y="106"/>
                  <a:pt x="222" y="124"/>
                  <a:pt x="245" y="135"/>
                </a:cubicBezTo>
                <a:cubicBezTo>
                  <a:pt x="245" y="135"/>
                  <a:pt x="213" y="140"/>
                  <a:pt x="192" y="114"/>
                </a:cubicBezTo>
                <a:cubicBezTo>
                  <a:pt x="187" y="114"/>
                  <a:pt x="181" y="116"/>
                  <a:pt x="176" y="116"/>
                </a:cubicBezTo>
                <a:cubicBezTo>
                  <a:pt x="131" y="116"/>
                  <a:pt x="104" y="90"/>
                  <a:pt x="104" y="58"/>
                </a:cubicBezTo>
                <a:cubicBezTo>
                  <a:pt x="104" y="26"/>
                  <a:pt x="131" y="0"/>
                  <a:pt x="176" y="0"/>
                </a:cubicBezTo>
                <a:cubicBezTo>
                  <a:pt x="221" y="0"/>
                  <a:pt x="256" y="26"/>
                  <a:pt x="256" y="58"/>
                </a:cubicBezTo>
                <a:cubicBezTo>
                  <a:pt x="256" y="76"/>
                  <a:pt x="245" y="93"/>
                  <a:pt x="227" y="103"/>
                </a:cubicBezTo>
                <a:moveTo>
                  <a:pt x="89" y="64"/>
                </a:moveTo>
                <a:cubicBezTo>
                  <a:pt x="91" y="99"/>
                  <a:pt x="122" y="129"/>
                  <a:pt x="170" y="132"/>
                </a:cubicBezTo>
                <a:cubicBezTo>
                  <a:pt x="176" y="133"/>
                  <a:pt x="181" y="131"/>
                  <a:pt x="186" y="130"/>
                </a:cubicBezTo>
                <a:cubicBezTo>
                  <a:pt x="186" y="130"/>
                  <a:pt x="186" y="130"/>
                  <a:pt x="186" y="130"/>
                </a:cubicBezTo>
                <a:cubicBezTo>
                  <a:pt x="188" y="130"/>
                  <a:pt x="188" y="130"/>
                  <a:pt x="188" y="130"/>
                </a:cubicBezTo>
                <a:cubicBezTo>
                  <a:pt x="202" y="144"/>
                  <a:pt x="219" y="147"/>
                  <a:pt x="229" y="147"/>
                </a:cubicBezTo>
                <a:cubicBezTo>
                  <a:pt x="219" y="186"/>
                  <a:pt x="180" y="215"/>
                  <a:pt x="122" y="215"/>
                </a:cubicBezTo>
                <a:cubicBezTo>
                  <a:pt x="114" y="215"/>
                  <a:pt x="106" y="212"/>
                  <a:pt x="98" y="211"/>
                </a:cubicBezTo>
                <a:cubicBezTo>
                  <a:pt x="66" y="251"/>
                  <a:pt x="16" y="244"/>
                  <a:pt x="16" y="244"/>
                </a:cubicBezTo>
                <a:cubicBezTo>
                  <a:pt x="51" y="227"/>
                  <a:pt x="51" y="199"/>
                  <a:pt x="44" y="195"/>
                </a:cubicBezTo>
                <a:cubicBezTo>
                  <a:pt x="17" y="179"/>
                  <a:pt x="0" y="154"/>
                  <a:pt x="0" y="126"/>
                </a:cubicBezTo>
                <a:cubicBezTo>
                  <a:pt x="0" y="84"/>
                  <a:pt x="39" y="49"/>
                  <a:pt x="93" y="40"/>
                </a:cubicBezTo>
                <a:cubicBezTo>
                  <a:pt x="90" y="47"/>
                  <a:pt x="89" y="55"/>
                  <a:pt x="89" y="64"/>
                </a:cubicBezTo>
              </a:path>
            </a:pathLst>
          </a:custGeom>
          <a:solidFill>
            <a:schemeClr val="accent2"/>
          </a:solidFill>
          <a:ln w="9525">
            <a:noFill/>
            <a:round/>
          </a:ln>
        </p:spPr>
        <p:txBody>
          <a:bodyPr vert="horz" wrap="square" lIns="91440" tIns="45720" rIns="91440" bIns="45720" numCol="1" anchor="t" anchorCtr="0" compatLnSpc="1"/>
          <a:lstStyle/>
          <a:p>
            <a:endParaRPr lang="en-US"/>
          </a:p>
        </p:txBody>
      </p:sp>
      <p:sp>
        <p:nvSpPr>
          <p:cNvPr id="30" name="Freeform 22"/>
          <p:cNvSpPr>
            <a:spLocks noEditPoints="1"/>
          </p:cNvSpPr>
          <p:nvPr/>
        </p:nvSpPr>
        <p:spPr bwMode="auto">
          <a:xfrm>
            <a:off x="4198925" y="4763196"/>
            <a:ext cx="546464" cy="508192"/>
          </a:xfrm>
          <a:custGeom>
            <a:avLst/>
            <a:gdLst/>
            <a:ahLst/>
            <a:cxnLst>
              <a:cxn ang="0">
                <a:pos x="210" y="238"/>
              </a:cxn>
              <a:cxn ang="0">
                <a:pos x="199" y="226"/>
              </a:cxn>
              <a:cxn ang="0">
                <a:pos x="240" y="119"/>
              </a:cxn>
              <a:cxn ang="0">
                <a:pos x="199" y="12"/>
              </a:cxn>
              <a:cxn ang="0">
                <a:pos x="210" y="0"/>
              </a:cxn>
              <a:cxn ang="0">
                <a:pos x="256" y="119"/>
              </a:cxn>
              <a:cxn ang="0">
                <a:pos x="210" y="238"/>
              </a:cxn>
              <a:cxn ang="0">
                <a:pos x="179" y="206"/>
              </a:cxn>
              <a:cxn ang="0">
                <a:pos x="167" y="195"/>
              </a:cxn>
              <a:cxn ang="0">
                <a:pos x="196" y="119"/>
              </a:cxn>
              <a:cxn ang="0">
                <a:pos x="167" y="43"/>
              </a:cxn>
              <a:cxn ang="0">
                <a:pos x="179" y="32"/>
              </a:cxn>
              <a:cxn ang="0">
                <a:pos x="212" y="119"/>
              </a:cxn>
              <a:cxn ang="0">
                <a:pos x="179" y="206"/>
              </a:cxn>
              <a:cxn ang="0">
                <a:pos x="148" y="175"/>
              </a:cxn>
              <a:cxn ang="0">
                <a:pos x="136" y="164"/>
              </a:cxn>
              <a:cxn ang="0">
                <a:pos x="152" y="119"/>
              </a:cxn>
              <a:cxn ang="0">
                <a:pos x="136" y="74"/>
              </a:cxn>
              <a:cxn ang="0">
                <a:pos x="148" y="63"/>
              </a:cxn>
              <a:cxn ang="0">
                <a:pos x="168" y="119"/>
              </a:cxn>
              <a:cxn ang="0">
                <a:pos x="148" y="175"/>
              </a:cxn>
              <a:cxn ang="0">
                <a:pos x="100" y="183"/>
              </a:cxn>
              <a:cxn ang="0">
                <a:pos x="93" y="181"/>
              </a:cxn>
              <a:cxn ang="0">
                <a:pos x="93" y="181"/>
              </a:cxn>
              <a:cxn ang="0">
                <a:pos x="52" y="151"/>
              </a:cxn>
              <a:cxn ang="0">
                <a:pos x="12" y="151"/>
              </a:cxn>
              <a:cxn ang="0">
                <a:pos x="0" y="139"/>
              </a:cxn>
              <a:cxn ang="0">
                <a:pos x="0" y="99"/>
              </a:cxn>
              <a:cxn ang="0">
                <a:pos x="12" y="87"/>
              </a:cxn>
              <a:cxn ang="0">
                <a:pos x="12" y="87"/>
              </a:cxn>
              <a:cxn ang="0">
                <a:pos x="52" y="87"/>
              </a:cxn>
              <a:cxn ang="0">
                <a:pos x="92" y="54"/>
              </a:cxn>
              <a:cxn ang="0">
                <a:pos x="92" y="54"/>
              </a:cxn>
              <a:cxn ang="0">
                <a:pos x="100" y="51"/>
              </a:cxn>
              <a:cxn ang="0">
                <a:pos x="112" y="63"/>
              </a:cxn>
              <a:cxn ang="0">
                <a:pos x="112" y="99"/>
              </a:cxn>
              <a:cxn ang="0">
                <a:pos x="112" y="127"/>
              </a:cxn>
              <a:cxn ang="0">
                <a:pos x="112" y="139"/>
              </a:cxn>
              <a:cxn ang="0">
                <a:pos x="112" y="151"/>
              </a:cxn>
              <a:cxn ang="0">
                <a:pos x="112" y="171"/>
              </a:cxn>
              <a:cxn ang="0">
                <a:pos x="100" y="183"/>
              </a:cxn>
            </a:cxnLst>
            <a:rect l="0" t="0" r="r" b="b"/>
            <a:pathLst>
              <a:path w="256" h="238">
                <a:moveTo>
                  <a:pt x="210" y="238"/>
                </a:moveTo>
                <a:cubicBezTo>
                  <a:pt x="199" y="226"/>
                  <a:pt x="199" y="226"/>
                  <a:pt x="199" y="226"/>
                </a:cubicBezTo>
                <a:cubicBezTo>
                  <a:pt x="224" y="198"/>
                  <a:pt x="240" y="160"/>
                  <a:pt x="240" y="119"/>
                </a:cubicBezTo>
                <a:cubicBezTo>
                  <a:pt x="240" y="78"/>
                  <a:pt x="224" y="40"/>
                  <a:pt x="199" y="12"/>
                </a:cubicBezTo>
                <a:cubicBezTo>
                  <a:pt x="210" y="0"/>
                  <a:pt x="210" y="0"/>
                  <a:pt x="210" y="0"/>
                </a:cubicBezTo>
                <a:cubicBezTo>
                  <a:pt x="239" y="32"/>
                  <a:pt x="256" y="73"/>
                  <a:pt x="256" y="119"/>
                </a:cubicBezTo>
                <a:cubicBezTo>
                  <a:pt x="256" y="165"/>
                  <a:pt x="239" y="206"/>
                  <a:pt x="210" y="238"/>
                </a:cubicBezTo>
                <a:moveTo>
                  <a:pt x="179" y="206"/>
                </a:moveTo>
                <a:cubicBezTo>
                  <a:pt x="167" y="195"/>
                  <a:pt x="167" y="195"/>
                  <a:pt x="167" y="195"/>
                </a:cubicBezTo>
                <a:cubicBezTo>
                  <a:pt x="185" y="175"/>
                  <a:pt x="196" y="148"/>
                  <a:pt x="196" y="119"/>
                </a:cubicBezTo>
                <a:cubicBezTo>
                  <a:pt x="196" y="90"/>
                  <a:pt x="185" y="63"/>
                  <a:pt x="167" y="43"/>
                </a:cubicBezTo>
                <a:cubicBezTo>
                  <a:pt x="179" y="32"/>
                  <a:pt x="179" y="32"/>
                  <a:pt x="179" y="32"/>
                </a:cubicBezTo>
                <a:cubicBezTo>
                  <a:pt x="199" y="55"/>
                  <a:pt x="212" y="85"/>
                  <a:pt x="212" y="119"/>
                </a:cubicBezTo>
                <a:cubicBezTo>
                  <a:pt x="212" y="153"/>
                  <a:pt x="199" y="183"/>
                  <a:pt x="179" y="206"/>
                </a:cubicBezTo>
                <a:moveTo>
                  <a:pt x="148" y="175"/>
                </a:moveTo>
                <a:cubicBezTo>
                  <a:pt x="136" y="164"/>
                  <a:pt x="136" y="164"/>
                  <a:pt x="136" y="164"/>
                </a:cubicBezTo>
                <a:cubicBezTo>
                  <a:pt x="146" y="152"/>
                  <a:pt x="152" y="136"/>
                  <a:pt x="152" y="119"/>
                </a:cubicBezTo>
                <a:cubicBezTo>
                  <a:pt x="152" y="102"/>
                  <a:pt x="146" y="86"/>
                  <a:pt x="136" y="74"/>
                </a:cubicBezTo>
                <a:cubicBezTo>
                  <a:pt x="148" y="63"/>
                  <a:pt x="148" y="63"/>
                  <a:pt x="148" y="63"/>
                </a:cubicBezTo>
                <a:cubicBezTo>
                  <a:pt x="160" y="78"/>
                  <a:pt x="168" y="98"/>
                  <a:pt x="168" y="119"/>
                </a:cubicBezTo>
                <a:cubicBezTo>
                  <a:pt x="168" y="140"/>
                  <a:pt x="160" y="160"/>
                  <a:pt x="148" y="175"/>
                </a:cubicBezTo>
                <a:moveTo>
                  <a:pt x="100" y="183"/>
                </a:moveTo>
                <a:cubicBezTo>
                  <a:pt x="97" y="183"/>
                  <a:pt x="95" y="182"/>
                  <a:pt x="93" y="181"/>
                </a:cubicBezTo>
                <a:cubicBezTo>
                  <a:pt x="93" y="181"/>
                  <a:pt x="93" y="181"/>
                  <a:pt x="93" y="181"/>
                </a:cubicBezTo>
                <a:cubicBezTo>
                  <a:pt x="52" y="151"/>
                  <a:pt x="52" y="151"/>
                  <a:pt x="52" y="151"/>
                </a:cubicBezTo>
                <a:cubicBezTo>
                  <a:pt x="12" y="151"/>
                  <a:pt x="12" y="151"/>
                  <a:pt x="12" y="151"/>
                </a:cubicBezTo>
                <a:cubicBezTo>
                  <a:pt x="5" y="151"/>
                  <a:pt x="0" y="146"/>
                  <a:pt x="0" y="139"/>
                </a:cubicBezTo>
                <a:cubicBezTo>
                  <a:pt x="0" y="99"/>
                  <a:pt x="0" y="99"/>
                  <a:pt x="0" y="99"/>
                </a:cubicBezTo>
                <a:cubicBezTo>
                  <a:pt x="0" y="92"/>
                  <a:pt x="5" y="87"/>
                  <a:pt x="12" y="87"/>
                </a:cubicBezTo>
                <a:cubicBezTo>
                  <a:pt x="12" y="87"/>
                  <a:pt x="12" y="87"/>
                  <a:pt x="12" y="87"/>
                </a:cubicBezTo>
                <a:cubicBezTo>
                  <a:pt x="52" y="87"/>
                  <a:pt x="52" y="87"/>
                  <a:pt x="52" y="87"/>
                </a:cubicBezTo>
                <a:cubicBezTo>
                  <a:pt x="92" y="54"/>
                  <a:pt x="92" y="54"/>
                  <a:pt x="92" y="54"/>
                </a:cubicBezTo>
                <a:cubicBezTo>
                  <a:pt x="92" y="54"/>
                  <a:pt x="92" y="54"/>
                  <a:pt x="92" y="54"/>
                </a:cubicBezTo>
                <a:cubicBezTo>
                  <a:pt x="95" y="52"/>
                  <a:pt x="97" y="51"/>
                  <a:pt x="100" y="51"/>
                </a:cubicBezTo>
                <a:cubicBezTo>
                  <a:pt x="107" y="51"/>
                  <a:pt x="112" y="56"/>
                  <a:pt x="112" y="63"/>
                </a:cubicBezTo>
                <a:cubicBezTo>
                  <a:pt x="112" y="99"/>
                  <a:pt x="112" y="99"/>
                  <a:pt x="112" y="99"/>
                </a:cubicBezTo>
                <a:cubicBezTo>
                  <a:pt x="112" y="127"/>
                  <a:pt x="112" y="127"/>
                  <a:pt x="112" y="127"/>
                </a:cubicBezTo>
                <a:cubicBezTo>
                  <a:pt x="112" y="139"/>
                  <a:pt x="112" y="139"/>
                  <a:pt x="112" y="139"/>
                </a:cubicBezTo>
                <a:cubicBezTo>
                  <a:pt x="112" y="151"/>
                  <a:pt x="112" y="151"/>
                  <a:pt x="112" y="151"/>
                </a:cubicBezTo>
                <a:cubicBezTo>
                  <a:pt x="112" y="171"/>
                  <a:pt x="112" y="171"/>
                  <a:pt x="112" y="171"/>
                </a:cubicBezTo>
                <a:cubicBezTo>
                  <a:pt x="112" y="178"/>
                  <a:pt x="107" y="183"/>
                  <a:pt x="100" y="183"/>
                </a:cubicBezTo>
              </a:path>
            </a:pathLst>
          </a:custGeom>
          <a:solidFill>
            <a:schemeClr val="accent4"/>
          </a:solidFill>
          <a:ln w="9525">
            <a:noFill/>
            <a:round/>
          </a:ln>
        </p:spPr>
        <p:txBody>
          <a:bodyPr vert="horz" wrap="square" lIns="91440" tIns="45720" rIns="91440" bIns="45720" numCol="1" anchor="t" anchorCtr="0" compatLnSpc="1"/>
          <a:lstStyle/>
          <a:p>
            <a:endParaRPr lang="en-US"/>
          </a:p>
        </p:txBody>
      </p:sp>
      <p:sp>
        <p:nvSpPr>
          <p:cNvPr id="31" name="Freeform 64"/>
          <p:cNvSpPr>
            <a:spLocks noEditPoints="1"/>
          </p:cNvSpPr>
          <p:nvPr/>
        </p:nvSpPr>
        <p:spPr bwMode="auto">
          <a:xfrm>
            <a:off x="6852532" y="4769576"/>
            <a:ext cx="376358" cy="495432"/>
          </a:xfrm>
          <a:custGeom>
            <a:avLst/>
            <a:gdLst/>
            <a:ahLst/>
            <a:cxnLst>
              <a:cxn ang="0">
                <a:pos x="164" y="232"/>
              </a:cxn>
              <a:cxn ang="0">
                <a:pos x="12" y="232"/>
              </a:cxn>
              <a:cxn ang="0">
                <a:pos x="0" y="220"/>
              </a:cxn>
              <a:cxn ang="0">
                <a:pos x="0" y="12"/>
              </a:cxn>
              <a:cxn ang="0">
                <a:pos x="12" y="0"/>
              </a:cxn>
              <a:cxn ang="0">
                <a:pos x="76" y="0"/>
              </a:cxn>
              <a:cxn ang="0">
                <a:pos x="76" y="44"/>
              </a:cxn>
              <a:cxn ang="0">
                <a:pos x="76" y="68"/>
              </a:cxn>
              <a:cxn ang="0">
                <a:pos x="100" y="92"/>
              </a:cxn>
              <a:cxn ang="0">
                <a:pos x="124" y="92"/>
              </a:cxn>
              <a:cxn ang="0">
                <a:pos x="176" y="92"/>
              </a:cxn>
              <a:cxn ang="0">
                <a:pos x="176" y="188"/>
              </a:cxn>
              <a:cxn ang="0">
                <a:pos x="176" y="220"/>
              </a:cxn>
              <a:cxn ang="0">
                <a:pos x="164" y="232"/>
              </a:cxn>
              <a:cxn ang="0">
                <a:pos x="100" y="80"/>
              </a:cxn>
              <a:cxn ang="0">
                <a:pos x="88" y="68"/>
              </a:cxn>
              <a:cxn ang="0">
                <a:pos x="88" y="44"/>
              </a:cxn>
              <a:cxn ang="0">
                <a:pos x="88" y="0"/>
              </a:cxn>
              <a:cxn ang="0">
                <a:pos x="176" y="80"/>
              </a:cxn>
              <a:cxn ang="0">
                <a:pos x="124" y="80"/>
              </a:cxn>
              <a:cxn ang="0">
                <a:pos x="100" y="80"/>
              </a:cxn>
            </a:cxnLst>
            <a:rect l="0" t="0" r="r" b="b"/>
            <a:pathLst>
              <a:path w="176" h="232">
                <a:moveTo>
                  <a:pt x="164" y="232"/>
                </a:moveTo>
                <a:cubicBezTo>
                  <a:pt x="12" y="232"/>
                  <a:pt x="12" y="232"/>
                  <a:pt x="12" y="232"/>
                </a:cubicBezTo>
                <a:cubicBezTo>
                  <a:pt x="5" y="232"/>
                  <a:pt x="0" y="227"/>
                  <a:pt x="0" y="220"/>
                </a:cubicBezTo>
                <a:cubicBezTo>
                  <a:pt x="0" y="12"/>
                  <a:pt x="0" y="12"/>
                  <a:pt x="0" y="12"/>
                </a:cubicBezTo>
                <a:cubicBezTo>
                  <a:pt x="0" y="5"/>
                  <a:pt x="5" y="0"/>
                  <a:pt x="12" y="0"/>
                </a:cubicBezTo>
                <a:cubicBezTo>
                  <a:pt x="76" y="0"/>
                  <a:pt x="76" y="0"/>
                  <a:pt x="76" y="0"/>
                </a:cubicBezTo>
                <a:cubicBezTo>
                  <a:pt x="76" y="44"/>
                  <a:pt x="76" y="44"/>
                  <a:pt x="76" y="44"/>
                </a:cubicBezTo>
                <a:cubicBezTo>
                  <a:pt x="76" y="68"/>
                  <a:pt x="76" y="68"/>
                  <a:pt x="76" y="68"/>
                </a:cubicBezTo>
                <a:cubicBezTo>
                  <a:pt x="76" y="81"/>
                  <a:pt x="87" y="92"/>
                  <a:pt x="100" y="92"/>
                </a:cubicBezTo>
                <a:cubicBezTo>
                  <a:pt x="124" y="92"/>
                  <a:pt x="124" y="92"/>
                  <a:pt x="124" y="92"/>
                </a:cubicBezTo>
                <a:cubicBezTo>
                  <a:pt x="176" y="92"/>
                  <a:pt x="176" y="92"/>
                  <a:pt x="176" y="92"/>
                </a:cubicBezTo>
                <a:cubicBezTo>
                  <a:pt x="176" y="188"/>
                  <a:pt x="176" y="188"/>
                  <a:pt x="176" y="188"/>
                </a:cubicBezTo>
                <a:cubicBezTo>
                  <a:pt x="176" y="220"/>
                  <a:pt x="176" y="220"/>
                  <a:pt x="176" y="220"/>
                </a:cubicBezTo>
                <a:cubicBezTo>
                  <a:pt x="176" y="227"/>
                  <a:pt x="171" y="232"/>
                  <a:pt x="164" y="232"/>
                </a:cubicBezTo>
                <a:moveTo>
                  <a:pt x="100" y="80"/>
                </a:moveTo>
                <a:cubicBezTo>
                  <a:pt x="93" y="80"/>
                  <a:pt x="88" y="75"/>
                  <a:pt x="88" y="68"/>
                </a:cubicBezTo>
                <a:cubicBezTo>
                  <a:pt x="88" y="44"/>
                  <a:pt x="88" y="44"/>
                  <a:pt x="88" y="44"/>
                </a:cubicBezTo>
                <a:cubicBezTo>
                  <a:pt x="88" y="0"/>
                  <a:pt x="88" y="0"/>
                  <a:pt x="88" y="0"/>
                </a:cubicBezTo>
                <a:cubicBezTo>
                  <a:pt x="176" y="80"/>
                  <a:pt x="176" y="80"/>
                  <a:pt x="176" y="80"/>
                </a:cubicBezTo>
                <a:cubicBezTo>
                  <a:pt x="124" y="80"/>
                  <a:pt x="124" y="80"/>
                  <a:pt x="124" y="80"/>
                </a:cubicBezTo>
                <a:lnTo>
                  <a:pt x="100" y="80"/>
                </a:lnTo>
                <a:close/>
              </a:path>
            </a:pathLst>
          </a:custGeom>
          <a:solidFill>
            <a:schemeClr val="accent3"/>
          </a:solidFill>
          <a:ln w="9525">
            <a:noFill/>
            <a:round/>
          </a:ln>
        </p:spPr>
        <p:txBody>
          <a:bodyPr vert="horz" wrap="square" lIns="91440" tIns="45720" rIns="91440" bIns="45720" numCol="1" anchor="t" anchorCtr="0" compatLnSpc="1"/>
          <a:lstStyle/>
          <a:p>
            <a:endParaRPr lang="en-US"/>
          </a:p>
        </p:txBody>
      </p:sp>
      <p:sp>
        <p:nvSpPr>
          <p:cNvPr id="32" name="Freeform 85"/>
          <p:cNvSpPr>
            <a:spLocks noEditPoints="1"/>
          </p:cNvSpPr>
          <p:nvPr/>
        </p:nvSpPr>
        <p:spPr bwMode="auto">
          <a:xfrm>
            <a:off x="4207430" y="2598686"/>
            <a:ext cx="529454" cy="480550"/>
          </a:xfrm>
          <a:custGeom>
            <a:avLst/>
            <a:gdLst/>
            <a:ahLst/>
            <a:cxnLst>
              <a:cxn ang="0">
                <a:pos x="236" y="184"/>
              </a:cxn>
              <a:cxn ang="0">
                <a:pos x="176" y="184"/>
              </a:cxn>
              <a:cxn ang="0">
                <a:pos x="160" y="184"/>
              </a:cxn>
              <a:cxn ang="0">
                <a:pos x="160" y="204"/>
              </a:cxn>
              <a:cxn ang="0">
                <a:pos x="176" y="220"/>
              </a:cxn>
              <a:cxn ang="0">
                <a:pos x="176" y="224"/>
              </a:cxn>
              <a:cxn ang="0">
                <a:pos x="72" y="224"/>
              </a:cxn>
              <a:cxn ang="0">
                <a:pos x="72" y="220"/>
              </a:cxn>
              <a:cxn ang="0">
                <a:pos x="88" y="204"/>
              </a:cxn>
              <a:cxn ang="0">
                <a:pos x="88" y="184"/>
              </a:cxn>
              <a:cxn ang="0">
                <a:pos x="72" y="184"/>
              </a:cxn>
              <a:cxn ang="0">
                <a:pos x="12" y="184"/>
              </a:cxn>
              <a:cxn ang="0">
                <a:pos x="0" y="172"/>
              </a:cxn>
              <a:cxn ang="0">
                <a:pos x="0" y="12"/>
              </a:cxn>
              <a:cxn ang="0">
                <a:pos x="12" y="0"/>
              </a:cxn>
              <a:cxn ang="0">
                <a:pos x="236" y="0"/>
              </a:cxn>
              <a:cxn ang="0">
                <a:pos x="248" y="12"/>
              </a:cxn>
              <a:cxn ang="0">
                <a:pos x="248" y="172"/>
              </a:cxn>
              <a:cxn ang="0">
                <a:pos x="236" y="184"/>
              </a:cxn>
              <a:cxn ang="0">
                <a:pos x="232" y="16"/>
              </a:cxn>
              <a:cxn ang="0">
                <a:pos x="16" y="16"/>
              </a:cxn>
              <a:cxn ang="0">
                <a:pos x="16" y="152"/>
              </a:cxn>
              <a:cxn ang="0">
                <a:pos x="232" y="152"/>
              </a:cxn>
              <a:cxn ang="0">
                <a:pos x="232" y="16"/>
              </a:cxn>
            </a:cxnLst>
            <a:rect l="0" t="0" r="r" b="b"/>
            <a:pathLst>
              <a:path w="248" h="224">
                <a:moveTo>
                  <a:pt x="236" y="184"/>
                </a:moveTo>
                <a:cubicBezTo>
                  <a:pt x="176" y="184"/>
                  <a:pt x="176" y="184"/>
                  <a:pt x="176" y="184"/>
                </a:cubicBezTo>
                <a:cubicBezTo>
                  <a:pt x="160" y="184"/>
                  <a:pt x="160" y="184"/>
                  <a:pt x="160" y="184"/>
                </a:cubicBezTo>
                <a:cubicBezTo>
                  <a:pt x="160" y="204"/>
                  <a:pt x="160" y="204"/>
                  <a:pt x="160" y="204"/>
                </a:cubicBezTo>
                <a:cubicBezTo>
                  <a:pt x="176" y="220"/>
                  <a:pt x="176" y="220"/>
                  <a:pt x="176" y="220"/>
                </a:cubicBezTo>
                <a:cubicBezTo>
                  <a:pt x="176" y="224"/>
                  <a:pt x="176" y="224"/>
                  <a:pt x="176" y="224"/>
                </a:cubicBezTo>
                <a:cubicBezTo>
                  <a:pt x="72" y="224"/>
                  <a:pt x="72" y="224"/>
                  <a:pt x="72" y="224"/>
                </a:cubicBezTo>
                <a:cubicBezTo>
                  <a:pt x="72" y="220"/>
                  <a:pt x="72" y="220"/>
                  <a:pt x="72" y="220"/>
                </a:cubicBezTo>
                <a:cubicBezTo>
                  <a:pt x="88" y="204"/>
                  <a:pt x="88" y="204"/>
                  <a:pt x="88" y="204"/>
                </a:cubicBezTo>
                <a:cubicBezTo>
                  <a:pt x="88" y="184"/>
                  <a:pt x="88" y="184"/>
                  <a:pt x="88" y="184"/>
                </a:cubicBezTo>
                <a:cubicBezTo>
                  <a:pt x="72" y="184"/>
                  <a:pt x="72" y="184"/>
                  <a:pt x="72" y="184"/>
                </a:cubicBezTo>
                <a:cubicBezTo>
                  <a:pt x="12" y="184"/>
                  <a:pt x="12" y="184"/>
                  <a:pt x="12" y="184"/>
                </a:cubicBezTo>
                <a:cubicBezTo>
                  <a:pt x="5" y="184"/>
                  <a:pt x="0" y="179"/>
                  <a:pt x="0" y="172"/>
                </a:cubicBezTo>
                <a:cubicBezTo>
                  <a:pt x="0" y="12"/>
                  <a:pt x="0" y="12"/>
                  <a:pt x="0" y="12"/>
                </a:cubicBezTo>
                <a:cubicBezTo>
                  <a:pt x="0" y="5"/>
                  <a:pt x="5" y="0"/>
                  <a:pt x="12" y="0"/>
                </a:cubicBezTo>
                <a:cubicBezTo>
                  <a:pt x="236" y="0"/>
                  <a:pt x="236" y="0"/>
                  <a:pt x="236" y="0"/>
                </a:cubicBezTo>
                <a:cubicBezTo>
                  <a:pt x="243" y="0"/>
                  <a:pt x="248" y="5"/>
                  <a:pt x="248" y="12"/>
                </a:cubicBezTo>
                <a:cubicBezTo>
                  <a:pt x="248" y="172"/>
                  <a:pt x="248" y="172"/>
                  <a:pt x="248" y="172"/>
                </a:cubicBezTo>
                <a:cubicBezTo>
                  <a:pt x="248" y="179"/>
                  <a:pt x="243" y="184"/>
                  <a:pt x="236" y="184"/>
                </a:cubicBezTo>
                <a:moveTo>
                  <a:pt x="232" y="16"/>
                </a:moveTo>
                <a:cubicBezTo>
                  <a:pt x="16" y="16"/>
                  <a:pt x="16" y="16"/>
                  <a:pt x="16" y="16"/>
                </a:cubicBezTo>
                <a:cubicBezTo>
                  <a:pt x="16" y="152"/>
                  <a:pt x="16" y="152"/>
                  <a:pt x="16" y="152"/>
                </a:cubicBezTo>
                <a:cubicBezTo>
                  <a:pt x="232" y="152"/>
                  <a:pt x="232" y="152"/>
                  <a:pt x="232" y="152"/>
                </a:cubicBezTo>
                <a:lnTo>
                  <a:pt x="232" y="16"/>
                </a:lnTo>
                <a:close/>
              </a:path>
            </a:pathLst>
          </a:custGeom>
          <a:solidFill>
            <a:schemeClr val="accent1"/>
          </a:solidFill>
          <a:ln w="9525">
            <a:noFill/>
            <a:round/>
          </a:ln>
        </p:spPr>
        <p:txBody>
          <a:bodyPr vert="horz" wrap="square" lIns="91440" tIns="45720" rIns="91440" bIns="45720" numCol="1" anchor="t" anchorCtr="0" compatLnSpc="1"/>
          <a:lstStyle/>
          <a:p>
            <a:endParaRPr lang="en-US"/>
          </a:p>
        </p:txBody>
      </p:sp>
      <p:sp>
        <p:nvSpPr>
          <p:cNvPr id="34" name="Freeform 37"/>
          <p:cNvSpPr>
            <a:spLocks noEditPoints="1"/>
          </p:cNvSpPr>
          <p:nvPr/>
        </p:nvSpPr>
        <p:spPr bwMode="auto">
          <a:xfrm>
            <a:off x="5296617" y="3468672"/>
            <a:ext cx="918914" cy="918910"/>
          </a:xfrm>
          <a:custGeom>
            <a:avLst/>
            <a:gdLst/>
            <a:ahLst/>
            <a:cxnLst>
              <a:cxn ang="0">
                <a:pos x="146" y="130"/>
              </a:cxn>
              <a:cxn ang="0">
                <a:pos x="130" y="146"/>
              </a:cxn>
              <a:cxn ang="0">
                <a:pos x="146" y="162"/>
              </a:cxn>
              <a:cxn ang="0">
                <a:pos x="162" y="146"/>
              </a:cxn>
              <a:cxn ang="0">
                <a:pos x="146" y="130"/>
              </a:cxn>
              <a:cxn ang="0">
                <a:pos x="146" y="0"/>
              </a:cxn>
              <a:cxn ang="0">
                <a:pos x="0" y="146"/>
              </a:cxn>
              <a:cxn ang="0">
                <a:pos x="146" y="291"/>
              </a:cxn>
              <a:cxn ang="0">
                <a:pos x="291" y="146"/>
              </a:cxn>
              <a:cxn ang="0">
                <a:pos x="146" y="0"/>
              </a:cxn>
              <a:cxn ang="0">
                <a:pos x="178" y="178"/>
              </a:cxn>
              <a:cxn ang="0">
                <a:pos x="58" y="233"/>
              </a:cxn>
              <a:cxn ang="0">
                <a:pos x="114" y="114"/>
              </a:cxn>
              <a:cxn ang="0">
                <a:pos x="233" y="58"/>
              </a:cxn>
              <a:cxn ang="0">
                <a:pos x="178" y="178"/>
              </a:cxn>
              <a:cxn ang="0">
                <a:pos x="178" y="178"/>
              </a:cxn>
              <a:cxn ang="0">
                <a:pos x="178" y="178"/>
              </a:cxn>
            </a:cxnLst>
            <a:rect l="0" t="0" r="r" b="b"/>
            <a:pathLst>
              <a:path w="291" h="291">
                <a:moveTo>
                  <a:pt x="146" y="130"/>
                </a:moveTo>
                <a:cubicBezTo>
                  <a:pt x="137" y="130"/>
                  <a:pt x="130" y="137"/>
                  <a:pt x="130" y="146"/>
                </a:cubicBezTo>
                <a:cubicBezTo>
                  <a:pt x="130" y="155"/>
                  <a:pt x="137" y="162"/>
                  <a:pt x="146" y="162"/>
                </a:cubicBezTo>
                <a:cubicBezTo>
                  <a:pt x="154" y="162"/>
                  <a:pt x="162" y="155"/>
                  <a:pt x="162" y="146"/>
                </a:cubicBezTo>
                <a:cubicBezTo>
                  <a:pt x="162" y="137"/>
                  <a:pt x="154" y="130"/>
                  <a:pt x="146" y="130"/>
                </a:cubicBezTo>
                <a:close/>
                <a:moveTo>
                  <a:pt x="146" y="0"/>
                </a:moveTo>
                <a:cubicBezTo>
                  <a:pt x="66" y="0"/>
                  <a:pt x="0" y="66"/>
                  <a:pt x="0" y="146"/>
                </a:cubicBezTo>
                <a:cubicBezTo>
                  <a:pt x="0" y="226"/>
                  <a:pt x="66" y="291"/>
                  <a:pt x="146" y="291"/>
                </a:cubicBezTo>
                <a:cubicBezTo>
                  <a:pt x="226" y="291"/>
                  <a:pt x="291" y="226"/>
                  <a:pt x="291" y="146"/>
                </a:cubicBezTo>
                <a:cubicBezTo>
                  <a:pt x="291" y="66"/>
                  <a:pt x="226" y="0"/>
                  <a:pt x="146" y="0"/>
                </a:cubicBezTo>
                <a:close/>
                <a:moveTo>
                  <a:pt x="178" y="178"/>
                </a:moveTo>
                <a:cubicBezTo>
                  <a:pt x="58" y="233"/>
                  <a:pt x="58" y="233"/>
                  <a:pt x="58" y="233"/>
                </a:cubicBezTo>
                <a:cubicBezTo>
                  <a:pt x="114" y="114"/>
                  <a:pt x="114" y="114"/>
                  <a:pt x="114" y="114"/>
                </a:cubicBezTo>
                <a:cubicBezTo>
                  <a:pt x="233" y="58"/>
                  <a:pt x="233" y="58"/>
                  <a:pt x="233" y="58"/>
                </a:cubicBezTo>
                <a:lnTo>
                  <a:pt x="178" y="178"/>
                </a:lnTo>
                <a:close/>
                <a:moveTo>
                  <a:pt x="178" y="178"/>
                </a:moveTo>
                <a:cubicBezTo>
                  <a:pt x="178" y="178"/>
                  <a:pt x="178" y="178"/>
                  <a:pt x="178" y="178"/>
                </a:cubicBezTo>
              </a:path>
            </a:pathLst>
          </a:custGeom>
          <a:solidFill>
            <a:schemeClr val="bg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权限授予</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．使用GRANT语句授予权限</a:t>
            </a:r>
          </a:p>
        </p:txBody>
      </p:sp>
      <p:sp>
        <p:nvSpPr>
          <p:cNvPr id="100" name="文本框 99"/>
          <p:cNvSpPr txBox="1"/>
          <p:nvPr/>
        </p:nvSpPr>
        <p:spPr>
          <a:xfrm>
            <a:off x="1276985" y="1981835"/>
            <a:ext cx="9806305" cy="1322070"/>
          </a:xfrm>
          <a:prstGeom prst="rect">
            <a:avLst/>
          </a:prstGeom>
          <a:noFill/>
          <a:ln w="9525">
            <a:noFill/>
          </a:ln>
        </p:spPr>
        <p:txBody>
          <a:bodyPr wrap="square">
            <a:spAutoFit/>
          </a:bodyPr>
          <a:lstStyle/>
          <a:p>
            <a:pPr indent="127000"/>
            <a:r>
              <a:rPr sz="2000" b="0">
                <a:cs typeface="方正书宋简体" charset="0"/>
              </a:rPr>
              <a:t>GRANT 权限名称[(字段列表)][,权限名称[(字段列表)]]...</a:t>
            </a:r>
          </a:p>
          <a:p>
            <a:pPr indent="127000"/>
            <a:r>
              <a:rPr sz="2000" b="0">
                <a:cs typeface="方正书宋简体" charset="0"/>
              </a:rPr>
              <a:t>ON 授权层次及对象</a:t>
            </a:r>
          </a:p>
          <a:p>
            <a:pPr indent="127000"/>
            <a:r>
              <a:rPr sz="2000" b="0">
                <a:cs typeface="方正书宋简体" charset="0"/>
              </a:rPr>
              <a:t>TO '用户名'@'主机信息'[,'用户名'@'主机信息']...</a:t>
            </a:r>
          </a:p>
          <a:p>
            <a:pPr indent="127000"/>
            <a:r>
              <a:rPr sz="2000" b="0">
                <a:cs typeface="方正书宋简体" charset="0"/>
              </a:rPr>
              <a:t>[WITH GRANT OPTION];</a:t>
            </a:r>
          </a:p>
        </p:txBody>
      </p:sp>
      <p:sp>
        <p:nvSpPr>
          <p:cNvPr id="12" name="下箭头 11"/>
          <p:cNvSpPr/>
          <p:nvPr/>
        </p:nvSpPr>
        <p:spPr>
          <a:xfrm rot="16200000">
            <a:off x="639260" y="194817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1" name="矩形 10"/>
          <p:cNvSpPr/>
          <p:nvPr/>
        </p:nvSpPr>
        <p:spPr>
          <a:xfrm>
            <a:off x="536575" y="3296285"/>
            <a:ext cx="11286490" cy="340995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lnSpc>
                <a:spcPct val="150000"/>
              </a:lnSpc>
              <a:buFont typeface="Wingdings" panose="05000000000000000000" charset="0"/>
              <a:buChar char="Ø"/>
            </a:pPr>
            <a:r>
              <a:rPr lang="zh-CN" altLang="en-US" sz="1600">
                <a:solidFill>
                  <a:schemeClr val="tx1"/>
                </a:solidFill>
              </a:rPr>
              <a:t>可以一次性将多个权限赋予用户，不同权限名称使用逗号分隔。</a:t>
            </a:r>
          </a:p>
          <a:p>
            <a:pPr marL="285750" indent="-285750" algn="l">
              <a:lnSpc>
                <a:spcPct val="150000"/>
              </a:lnSpc>
              <a:buFont typeface="Wingdings" panose="05000000000000000000" charset="0"/>
              <a:buChar char="Ø"/>
            </a:pPr>
            <a:r>
              <a:rPr lang="zh-CN" altLang="en-US" sz="1600">
                <a:solidFill>
                  <a:schemeClr val="tx1"/>
                </a:solidFill>
              </a:rPr>
              <a:t>ON子句用于指明授权级别及对象，常见形式包括：</a:t>
            </a:r>
          </a:p>
          <a:p>
            <a:pPr marL="742950" lvl="1" indent="-285750" algn="l">
              <a:lnSpc>
                <a:spcPct val="150000"/>
              </a:lnSpc>
              <a:buFont typeface="Arial" panose="020B0604020202020204" pitchFamily="34" charset="0"/>
              <a:buChar char="•"/>
            </a:pPr>
            <a:r>
              <a:rPr lang="zh-CN" altLang="en-US" sz="1600">
                <a:solidFill>
                  <a:schemeClr val="tx1"/>
                </a:solidFill>
              </a:rPr>
              <a:t>*.*为服务器级别权限（全局权限）修改mysql.user表中记录</a:t>
            </a:r>
          </a:p>
          <a:p>
            <a:pPr marL="742950" lvl="1" indent="-285750" algn="l">
              <a:lnSpc>
                <a:spcPct val="150000"/>
              </a:lnSpc>
              <a:buFont typeface="Arial" panose="020B0604020202020204" pitchFamily="34" charset="0"/>
              <a:buChar char="•"/>
            </a:pPr>
            <a:r>
              <a:rPr lang="zh-CN" altLang="en-US" sz="1600">
                <a:solidFill>
                  <a:schemeClr val="tx1"/>
                </a:solidFill>
              </a:rPr>
              <a:t>db_name.*为数据库级别权限，修改mysql.db表中记录</a:t>
            </a:r>
          </a:p>
          <a:p>
            <a:pPr marL="742950" lvl="1" indent="-285750" algn="l">
              <a:lnSpc>
                <a:spcPct val="150000"/>
              </a:lnSpc>
              <a:buFont typeface="Arial" panose="020B0604020202020204" pitchFamily="34" charset="0"/>
              <a:buChar char="•"/>
            </a:pPr>
            <a:r>
              <a:rPr lang="zh-CN" altLang="en-US" sz="1600">
                <a:solidFill>
                  <a:schemeClr val="tx1"/>
                </a:solidFill>
              </a:rPr>
              <a:t>db_name.table_name为表或列级别权限，授予表级别权限将修改mysql.tables_priv表中记录，授予列级别权限将修改mysql.columns_priv表中记录</a:t>
            </a:r>
          </a:p>
          <a:p>
            <a:pPr marL="742950" lvl="1" indent="-285750" algn="l">
              <a:lnSpc>
                <a:spcPct val="150000"/>
              </a:lnSpc>
              <a:buFont typeface="Arial" panose="020B0604020202020204" pitchFamily="34" charset="0"/>
              <a:buChar char="•"/>
            </a:pPr>
            <a:r>
              <a:rPr lang="zh-CN" altLang="en-US" sz="1600">
                <a:solidFill>
                  <a:schemeClr val="tx1"/>
                </a:solidFill>
              </a:rPr>
              <a:t>db_name.routine_name为存储过程级别权限，修改mysql.routines_priv表中记录</a:t>
            </a:r>
          </a:p>
          <a:p>
            <a:pPr marL="285750" lvl="0" indent="-285750" algn="l">
              <a:lnSpc>
                <a:spcPct val="150000"/>
              </a:lnSpc>
              <a:buFont typeface="Wingdings" panose="05000000000000000000" charset="0"/>
              <a:buChar char="Ø"/>
            </a:pPr>
            <a:r>
              <a:rPr lang="zh-CN" altLang="en-US" sz="1600">
                <a:solidFill>
                  <a:schemeClr val="tx1"/>
                </a:solidFill>
              </a:rPr>
              <a:t>TO子句用于指明授予的用户，可以使用TO子句将权限授予多个用户</a:t>
            </a:r>
          </a:p>
          <a:p>
            <a:pPr marL="285750" lvl="0" indent="-285750" algn="l">
              <a:lnSpc>
                <a:spcPct val="150000"/>
              </a:lnSpc>
              <a:buFont typeface="Wingdings" panose="05000000000000000000" charset="0"/>
              <a:buChar char="Ø"/>
            </a:pPr>
            <a:r>
              <a:rPr lang="zh-CN" altLang="en-US" sz="1600">
                <a:solidFill>
                  <a:schemeClr val="tx1"/>
                </a:solidFill>
              </a:rPr>
              <a:t>（6）使用GRANT语句需要具有GRANT OPTION权限且具有授权权限的操作权限。</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权限授予</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．使用GRANT语句授予权限</a:t>
            </a:r>
          </a:p>
        </p:txBody>
      </p:sp>
      <p:sp>
        <p:nvSpPr>
          <p:cNvPr id="12" name="下箭头 11"/>
          <p:cNvSpPr/>
          <p:nvPr/>
        </p:nvSpPr>
        <p:spPr>
          <a:xfrm rot="16200000">
            <a:off x="639260" y="26415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1" name="矩形 10"/>
          <p:cNvSpPr/>
          <p:nvPr/>
        </p:nvSpPr>
        <p:spPr>
          <a:xfrm>
            <a:off x="536575" y="1981835"/>
            <a:ext cx="11286490" cy="5327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600">
                <a:solidFill>
                  <a:schemeClr val="tx1"/>
                </a:solidFill>
              </a:rPr>
              <a:t>例子：为teacher10用户赋予数据库服务器的所有使用权限（ALL），并允许权限由teacher10授予其他用户。</a:t>
            </a:r>
          </a:p>
        </p:txBody>
      </p:sp>
      <p:sp>
        <p:nvSpPr>
          <p:cNvPr id="10" name="文本框 9"/>
          <p:cNvSpPr txBox="1"/>
          <p:nvPr/>
        </p:nvSpPr>
        <p:spPr>
          <a:xfrm>
            <a:off x="1374775" y="2593975"/>
            <a:ext cx="9806305" cy="1014730"/>
          </a:xfrm>
          <a:prstGeom prst="rect">
            <a:avLst/>
          </a:prstGeom>
          <a:noFill/>
          <a:ln w="9525">
            <a:noFill/>
          </a:ln>
        </p:spPr>
        <p:txBody>
          <a:bodyPr wrap="square">
            <a:spAutoFit/>
          </a:bodyPr>
          <a:lstStyle/>
          <a:p>
            <a:pPr indent="127000"/>
            <a:r>
              <a:rPr sz="2000" b="0">
                <a:cs typeface="方正书宋简体" charset="0"/>
              </a:rPr>
              <a:t>GRANT ALL </a:t>
            </a:r>
          </a:p>
          <a:p>
            <a:pPr indent="127000"/>
            <a:r>
              <a:rPr sz="2000" b="0">
                <a:cs typeface="方正书宋简体" charset="0"/>
              </a:rPr>
              <a:t>ON *.* TO 'teacher10'@'localhost'</a:t>
            </a:r>
          </a:p>
          <a:p>
            <a:pPr indent="127000"/>
            <a:r>
              <a:rPr sz="2000" b="0">
                <a:cs typeface="方正书宋简体" charset="0"/>
              </a:rPr>
              <a:t>WITH GRANT OPTION;</a:t>
            </a:r>
          </a:p>
        </p:txBody>
      </p:sp>
      <p:sp>
        <p:nvSpPr>
          <p:cNvPr id="2" name="矩形 1"/>
          <p:cNvSpPr/>
          <p:nvPr/>
        </p:nvSpPr>
        <p:spPr>
          <a:xfrm>
            <a:off x="536575" y="3658235"/>
            <a:ext cx="11286490" cy="9645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600">
                <a:solidFill>
                  <a:schemeClr val="tx1"/>
                </a:solidFill>
              </a:rPr>
              <a:t>例子：为teacher6用户赋予数据库服务器级别的查找、插入和更新数据权限（SELECT、INSERT、UPDATE），并且不允许二次授权。</a:t>
            </a:r>
          </a:p>
        </p:txBody>
      </p:sp>
      <p:sp>
        <p:nvSpPr>
          <p:cNvPr id="3" name="下箭头 2"/>
          <p:cNvSpPr/>
          <p:nvPr/>
        </p:nvSpPr>
        <p:spPr>
          <a:xfrm rot="16200000">
            <a:off x="639895" y="47751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 name="文本框 5"/>
          <p:cNvSpPr txBox="1"/>
          <p:nvPr/>
        </p:nvSpPr>
        <p:spPr>
          <a:xfrm>
            <a:off x="1450975" y="4801235"/>
            <a:ext cx="9806305" cy="706755"/>
          </a:xfrm>
          <a:prstGeom prst="rect">
            <a:avLst/>
          </a:prstGeom>
          <a:noFill/>
          <a:ln w="9525">
            <a:noFill/>
          </a:ln>
        </p:spPr>
        <p:txBody>
          <a:bodyPr wrap="square">
            <a:spAutoFit/>
          </a:bodyPr>
          <a:lstStyle/>
          <a:p>
            <a:pPr indent="127000"/>
            <a:r>
              <a:rPr sz="2000" b="0">
                <a:cs typeface="方正书宋简体" charset="0"/>
              </a:rPr>
              <a:t>GRANT SELECT, INSERT, UPDATE </a:t>
            </a:r>
          </a:p>
          <a:p>
            <a:pPr indent="127000"/>
            <a:r>
              <a:rPr sz="2000" b="0">
                <a:cs typeface="方正书宋简体" charset="0"/>
              </a:rPr>
              <a:t>ON *.* TO 'teacher6'@'localhost';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权限授予</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．使用GRANT语句授予权限</a:t>
            </a:r>
          </a:p>
        </p:txBody>
      </p:sp>
      <p:sp>
        <p:nvSpPr>
          <p:cNvPr id="12" name="下箭头 11"/>
          <p:cNvSpPr/>
          <p:nvPr/>
        </p:nvSpPr>
        <p:spPr>
          <a:xfrm rot="16200000">
            <a:off x="640530" y="303402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1" name="矩形 10"/>
          <p:cNvSpPr/>
          <p:nvPr/>
        </p:nvSpPr>
        <p:spPr>
          <a:xfrm>
            <a:off x="536575" y="1981835"/>
            <a:ext cx="11286490" cy="8985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600">
                <a:solidFill>
                  <a:schemeClr val="tx1"/>
                </a:solidFill>
              </a:rPr>
              <a:t>例子：为teacher4用户赋予teaching数据库上对象的查找、创建数据表和插入数据权限（SELECT、CREATE、INSERT），并不允许权限由teacher4授予其他用户。</a:t>
            </a:r>
          </a:p>
        </p:txBody>
      </p:sp>
      <p:sp>
        <p:nvSpPr>
          <p:cNvPr id="10" name="文本框 9"/>
          <p:cNvSpPr txBox="1"/>
          <p:nvPr/>
        </p:nvSpPr>
        <p:spPr>
          <a:xfrm>
            <a:off x="1375410" y="3060065"/>
            <a:ext cx="9806305" cy="706755"/>
          </a:xfrm>
          <a:prstGeom prst="rect">
            <a:avLst/>
          </a:prstGeom>
          <a:noFill/>
          <a:ln w="9525">
            <a:noFill/>
          </a:ln>
        </p:spPr>
        <p:txBody>
          <a:bodyPr wrap="square">
            <a:spAutoFit/>
          </a:bodyPr>
          <a:lstStyle/>
          <a:p>
            <a:pPr indent="127000"/>
            <a:r>
              <a:rPr sz="2000" b="0">
                <a:cs typeface="方正书宋简体" charset="0"/>
              </a:rPr>
              <a:t>GRANT SELECT,CREATE, INSERT </a:t>
            </a:r>
          </a:p>
          <a:p>
            <a:pPr indent="127000"/>
            <a:r>
              <a:rPr sz="2000" b="0">
                <a:cs typeface="方正书宋简体" charset="0"/>
              </a:rPr>
              <a:t>ON teaching.* TO 'teacher4'@'localhost';</a:t>
            </a:r>
          </a:p>
        </p:txBody>
      </p:sp>
      <p:sp>
        <p:nvSpPr>
          <p:cNvPr id="2" name="矩形 1"/>
          <p:cNvSpPr/>
          <p:nvPr/>
        </p:nvSpPr>
        <p:spPr>
          <a:xfrm>
            <a:off x="612775" y="3963035"/>
            <a:ext cx="11286490" cy="9645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600">
                <a:solidFill>
                  <a:schemeClr val="tx1"/>
                </a:solidFill>
              </a:rPr>
              <a:t>例子：为teacher3用户赋予teaching数据库上教师表t的查找、插入、更新和删除数据权限（SELECT、INSERT、UPDATE、DELETE），并不允许权限由teacher3授予其他用户。</a:t>
            </a:r>
          </a:p>
        </p:txBody>
      </p:sp>
      <p:sp>
        <p:nvSpPr>
          <p:cNvPr id="3" name="下箭头 2"/>
          <p:cNvSpPr/>
          <p:nvPr/>
        </p:nvSpPr>
        <p:spPr>
          <a:xfrm rot="16200000">
            <a:off x="791660" y="506602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 name="文本框 5"/>
          <p:cNvSpPr txBox="1"/>
          <p:nvPr/>
        </p:nvSpPr>
        <p:spPr>
          <a:xfrm>
            <a:off x="1527175" y="5044440"/>
            <a:ext cx="9806305" cy="706755"/>
          </a:xfrm>
          <a:prstGeom prst="rect">
            <a:avLst/>
          </a:prstGeom>
          <a:noFill/>
          <a:ln w="9525">
            <a:noFill/>
          </a:ln>
        </p:spPr>
        <p:txBody>
          <a:bodyPr wrap="square">
            <a:spAutoFit/>
          </a:bodyPr>
          <a:lstStyle/>
          <a:p>
            <a:pPr indent="127000"/>
            <a:r>
              <a:rPr sz="2000" b="0">
                <a:cs typeface="方正书宋简体" charset="0"/>
              </a:rPr>
              <a:t>GRANT SELECT, INSERT, UPDATE, DELETE </a:t>
            </a:r>
          </a:p>
          <a:p>
            <a:pPr indent="127000"/>
            <a:r>
              <a:rPr sz="2000" b="0">
                <a:cs typeface="方正书宋简体" charset="0"/>
              </a:rPr>
              <a:t>ON teaching.t TO 'teacher3'@'localhost';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权限授予</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．使用GRANT语句授予权限</a:t>
            </a:r>
          </a:p>
        </p:txBody>
      </p:sp>
      <p:sp>
        <p:nvSpPr>
          <p:cNvPr id="12" name="下箭头 11"/>
          <p:cNvSpPr/>
          <p:nvPr/>
        </p:nvSpPr>
        <p:spPr>
          <a:xfrm rot="16200000">
            <a:off x="640530" y="303402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1" name="矩形 10"/>
          <p:cNvSpPr/>
          <p:nvPr/>
        </p:nvSpPr>
        <p:spPr>
          <a:xfrm>
            <a:off x="536575" y="1981835"/>
            <a:ext cx="11286490" cy="8985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r>
              <a:rPr lang="zh-CN" altLang="en-US" sz="1600">
                <a:solidFill>
                  <a:schemeClr val="tx1"/>
                </a:solidFill>
              </a:rPr>
              <a:t>例子：为teacher2用户赋予teaching数据库中教师表t上tno字段和tn字段的查找数据权限（SELECT），并不允许权限由teacher2授予其他用户。</a:t>
            </a:r>
          </a:p>
        </p:txBody>
      </p:sp>
      <p:sp>
        <p:nvSpPr>
          <p:cNvPr id="10" name="文本框 9"/>
          <p:cNvSpPr txBox="1"/>
          <p:nvPr/>
        </p:nvSpPr>
        <p:spPr>
          <a:xfrm>
            <a:off x="1375410" y="3060065"/>
            <a:ext cx="9806305" cy="706755"/>
          </a:xfrm>
          <a:prstGeom prst="rect">
            <a:avLst/>
          </a:prstGeom>
          <a:noFill/>
          <a:ln w="9525">
            <a:noFill/>
          </a:ln>
        </p:spPr>
        <p:txBody>
          <a:bodyPr wrap="square">
            <a:spAutoFit/>
          </a:bodyPr>
          <a:lstStyle/>
          <a:p>
            <a:pPr indent="127000"/>
            <a:r>
              <a:rPr sz="2000" b="0">
                <a:cs typeface="方正书宋简体" charset="0"/>
              </a:rPr>
              <a:t>GRANT SELECT(tno, tn)</a:t>
            </a:r>
          </a:p>
          <a:p>
            <a:pPr indent="127000"/>
            <a:r>
              <a:rPr sz="2000" b="0">
                <a:cs typeface="方正书宋简体" charset="0"/>
              </a:rPr>
              <a:t>ON teaching.t TO 'teacher2'@'192.168.1.23';</a:t>
            </a:r>
          </a:p>
        </p:txBody>
      </p:sp>
      <p:sp>
        <p:nvSpPr>
          <p:cNvPr id="2" name="矩形 1"/>
          <p:cNvSpPr/>
          <p:nvPr/>
        </p:nvSpPr>
        <p:spPr>
          <a:xfrm>
            <a:off x="635635" y="4420235"/>
            <a:ext cx="11286490" cy="206438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lnSpc>
                <a:spcPct val="150000"/>
              </a:lnSpc>
              <a:buFont typeface="Wingdings" panose="05000000000000000000" charset="0"/>
              <a:buChar char="Ø"/>
            </a:pPr>
            <a:r>
              <a:rPr lang="zh-CN" altLang="en-US" sz="1600">
                <a:solidFill>
                  <a:schemeClr val="tx1"/>
                </a:solidFill>
              </a:rPr>
              <a:t>MySQL 8不允许为不存在用户授权，所以不能使用GRANT语句达到授权同时创建用户的目的，必须先创建用户，然后才能授权。</a:t>
            </a:r>
          </a:p>
          <a:p>
            <a:pPr marL="285750" indent="-285750" algn="l">
              <a:lnSpc>
                <a:spcPct val="150000"/>
              </a:lnSpc>
              <a:buFont typeface="Wingdings" panose="05000000000000000000" charset="0"/>
              <a:buChar char="Ø"/>
            </a:pPr>
            <a:r>
              <a:rPr lang="zh-CN" altLang="en-US" sz="1600">
                <a:solidFill>
                  <a:schemeClr val="tx1"/>
                </a:solidFill>
              </a:rPr>
              <a:t>对于字段级别权限，由于只能对字段进行查询、插入和更新操作，所以字段级别权限只支持SELECT、INSERT和UPDATE权限。</a:t>
            </a:r>
          </a:p>
          <a:p>
            <a:pPr marL="285750" indent="-285750" algn="l">
              <a:lnSpc>
                <a:spcPct val="150000"/>
              </a:lnSpc>
              <a:buFont typeface="Wingdings" panose="05000000000000000000" charset="0"/>
              <a:buChar char="Ø"/>
            </a:pPr>
            <a:r>
              <a:rPr lang="zh-CN" altLang="en-US" sz="1600">
                <a:solidFill>
                  <a:schemeClr val="tx1"/>
                </a:solidFill>
              </a:rPr>
              <a:t>使用GRANT语句授予不同级别的权限，将在相应的权限表格中，创建或修改相应记录。</a:t>
            </a:r>
          </a:p>
        </p:txBody>
      </p:sp>
      <p:sp>
        <p:nvSpPr>
          <p:cNvPr id="100" name="文本框 99"/>
          <p:cNvSpPr txBox="1"/>
          <p:nvPr/>
        </p:nvSpPr>
        <p:spPr>
          <a:xfrm>
            <a:off x="536575" y="3946842"/>
            <a:ext cx="5080000" cy="368300"/>
          </a:xfrm>
          <a:prstGeom prst="rect">
            <a:avLst/>
          </a:prstGeom>
          <a:noFill/>
          <a:ln w="9525">
            <a:noFill/>
          </a:ln>
        </p:spPr>
        <p:txBody>
          <a:bodyPr>
            <a:spAutoFit/>
          </a:bodyPr>
          <a:lstStyle/>
          <a:p>
            <a:pPr indent="127000"/>
            <a:r>
              <a:rPr lang="zh-CN" sz="1800" b="0">
                <a:cs typeface="方正书宋简体" charset="0"/>
              </a:rPr>
              <a:t>使用</a:t>
            </a:r>
            <a:r>
              <a:rPr lang="en-US" sz="1800" b="0">
                <a:latin typeface="Times New Roman" panose="02020603050405020304" pitchFamily="18" charset="0"/>
                <a:cs typeface="方正书宋简体" charset="0"/>
              </a:rPr>
              <a:t>GRANT</a:t>
            </a:r>
            <a:r>
              <a:rPr lang="zh-CN" sz="1800" b="0">
                <a:cs typeface="方正书宋简体" charset="0"/>
              </a:rPr>
              <a:t>语句的其他注意事项：</a:t>
            </a:r>
            <a:endParaRPr lang="zh-CN" altLang="en-US" sz="1800" b="0">
              <a:cs typeface="方正书宋简体"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权限授予</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．使用MySQL Workbench授予权限</a:t>
            </a:r>
          </a:p>
        </p:txBody>
      </p:sp>
      <p:sp>
        <p:nvSpPr>
          <p:cNvPr id="11" name="矩形 10"/>
          <p:cNvSpPr/>
          <p:nvPr/>
        </p:nvSpPr>
        <p:spPr>
          <a:xfrm>
            <a:off x="536575" y="2058035"/>
            <a:ext cx="11286490" cy="39814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在Navigator窗格的Administration选项卡下，单击Users and Privileges选项，打开用户管理界面</a:t>
            </a:r>
          </a:p>
        </p:txBody>
      </p:sp>
      <p:sp>
        <p:nvSpPr>
          <p:cNvPr id="2" name="矩形 1"/>
          <p:cNvSpPr/>
          <p:nvPr/>
        </p:nvSpPr>
        <p:spPr>
          <a:xfrm>
            <a:off x="536575" y="2591435"/>
            <a:ext cx="11286490" cy="39814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在User Accounts窗格中，选择需要授权的用户。在右侧窗格中，选择Schema Privileges选项卡进入授权界面</a:t>
            </a:r>
          </a:p>
        </p:txBody>
      </p:sp>
      <p:sp>
        <p:nvSpPr>
          <p:cNvPr id="3" name="矩形 2"/>
          <p:cNvSpPr/>
          <p:nvPr/>
        </p:nvSpPr>
        <p:spPr>
          <a:xfrm>
            <a:off x="536575" y="3124835"/>
            <a:ext cx="11286490" cy="39814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单击Add Entry按钮，设置授权级别，如图8-11所示。选择ALL Schema选项，表示授予服务器级别权限</a:t>
            </a:r>
          </a:p>
        </p:txBody>
      </p:sp>
      <p:pic>
        <p:nvPicPr>
          <p:cNvPr id="6" name="图片 -2147482606"/>
          <p:cNvPicPr>
            <a:picLocks noChangeAspect="1"/>
          </p:cNvPicPr>
          <p:nvPr/>
        </p:nvPicPr>
        <p:blipFill>
          <a:blip r:embed="rId2"/>
          <a:stretch>
            <a:fillRect/>
          </a:stretch>
        </p:blipFill>
        <p:spPr>
          <a:xfrm>
            <a:off x="536575" y="3706495"/>
            <a:ext cx="3561080" cy="2263775"/>
          </a:xfrm>
          <a:prstGeom prst="rect">
            <a:avLst/>
          </a:prstGeom>
          <a:noFill/>
          <a:ln w="9525" cap="flat" cmpd="sng">
            <a:solidFill>
              <a:srgbClr val="000000"/>
            </a:solidFill>
            <a:prstDash val="solid"/>
            <a:miter/>
            <a:headEnd type="none" w="med" len="med"/>
            <a:tailEnd type="none" w="med" len="med"/>
          </a:ln>
        </p:spPr>
      </p:pic>
      <p:pic>
        <p:nvPicPr>
          <p:cNvPr id="7" name="图片 -2147482603"/>
          <p:cNvPicPr>
            <a:picLocks noChangeAspect="1"/>
          </p:cNvPicPr>
          <p:nvPr/>
        </p:nvPicPr>
        <p:blipFill>
          <a:blip r:embed="rId3"/>
          <a:stretch>
            <a:fillRect/>
          </a:stretch>
        </p:blipFill>
        <p:spPr>
          <a:xfrm>
            <a:off x="4194175" y="3732530"/>
            <a:ext cx="3736340" cy="2204085"/>
          </a:xfrm>
          <a:prstGeom prst="rect">
            <a:avLst/>
          </a:prstGeom>
          <a:noFill/>
          <a:ln w="9525" cap="flat" cmpd="sng">
            <a:solidFill>
              <a:srgbClr val="000000"/>
            </a:solidFill>
            <a:prstDash val="solid"/>
            <a:miter/>
            <a:headEnd type="none" w="med" len="med"/>
            <a:tailEnd type="none" w="med" len="med"/>
          </a:ln>
        </p:spPr>
      </p:pic>
      <p:pic>
        <p:nvPicPr>
          <p:cNvPr id="8" name="图片 52"/>
          <p:cNvPicPr>
            <a:picLocks noChangeAspect="1"/>
          </p:cNvPicPr>
          <p:nvPr/>
        </p:nvPicPr>
        <p:blipFill>
          <a:blip r:embed="rId4"/>
          <a:stretch>
            <a:fillRect/>
          </a:stretch>
        </p:blipFill>
        <p:spPr>
          <a:xfrm>
            <a:off x="8080375" y="3734435"/>
            <a:ext cx="3693160" cy="2178685"/>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权限查看</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．使用SHOW GRANTS语句查看权限授予情况</a:t>
            </a:r>
          </a:p>
        </p:txBody>
      </p:sp>
      <p:sp>
        <p:nvSpPr>
          <p:cNvPr id="11" name="矩形 10"/>
          <p:cNvSpPr/>
          <p:nvPr/>
        </p:nvSpPr>
        <p:spPr>
          <a:xfrm>
            <a:off x="841375" y="5334635"/>
            <a:ext cx="11286490" cy="39814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在Navigator窗格的Administration选项卡下，单击Users and Privileges选项，打开用户管理界面</a:t>
            </a:r>
          </a:p>
        </p:txBody>
      </p:sp>
      <p:sp>
        <p:nvSpPr>
          <p:cNvPr id="43" name="矩形 42"/>
          <p:cNvSpPr/>
          <p:nvPr/>
        </p:nvSpPr>
        <p:spPr>
          <a:xfrm>
            <a:off x="1374775" y="2972277"/>
            <a:ext cx="25908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角色</a:t>
            </a:r>
          </a:p>
        </p:txBody>
      </p:sp>
      <p:sp>
        <p:nvSpPr>
          <p:cNvPr id="9" name="矩形 8"/>
          <p:cNvSpPr/>
          <p:nvPr/>
        </p:nvSpPr>
        <p:spPr>
          <a:xfrm>
            <a:off x="4803775" y="2134077"/>
            <a:ext cx="2590800" cy="5334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权限</a:t>
            </a:r>
            <a:r>
              <a:rPr lang="en-US" altLang="zh-CN"/>
              <a:t>1</a:t>
            </a:r>
          </a:p>
        </p:txBody>
      </p:sp>
      <p:sp>
        <p:nvSpPr>
          <p:cNvPr id="10" name="矩形 9"/>
          <p:cNvSpPr/>
          <p:nvPr/>
        </p:nvSpPr>
        <p:spPr>
          <a:xfrm>
            <a:off x="4803775" y="2791302"/>
            <a:ext cx="2590800" cy="5334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ym typeface="+mn-ea"/>
              </a:rPr>
              <a:t>权限</a:t>
            </a:r>
            <a:r>
              <a:rPr lang="en-US" altLang="zh-CN">
                <a:sym typeface="+mn-ea"/>
              </a:rPr>
              <a:t>2</a:t>
            </a:r>
            <a:endParaRPr lang="zh-CN" altLang="en-US"/>
          </a:p>
        </p:txBody>
      </p:sp>
      <p:sp>
        <p:nvSpPr>
          <p:cNvPr id="13" name="矩形 12"/>
          <p:cNvSpPr/>
          <p:nvPr/>
        </p:nvSpPr>
        <p:spPr>
          <a:xfrm>
            <a:off x="4803775" y="3734277"/>
            <a:ext cx="2590800" cy="5334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ym typeface="+mn-ea"/>
              </a:rPr>
              <a:t>权限</a:t>
            </a:r>
            <a:r>
              <a:rPr lang="en-US" altLang="zh-CN">
                <a:sym typeface="+mn-ea"/>
              </a:rPr>
              <a:t>3</a:t>
            </a:r>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权限查看</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．使用SHOW GRANTS语句查看权限授予情况</a:t>
            </a:r>
          </a:p>
        </p:txBody>
      </p:sp>
      <p:sp>
        <p:nvSpPr>
          <p:cNvPr id="11" name="矩形 10"/>
          <p:cNvSpPr/>
          <p:nvPr/>
        </p:nvSpPr>
        <p:spPr>
          <a:xfrm>
            <a:off x="536575" y="2797175"/>
            <a:ext cx="11286490" cy="39814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例子：查看localhost主机上student用户的权限授予情况。</a:t>
            </a:r>
          </a:p>
        </p:txBody>
      </p:sp>
      <p:sp>
        <p:nvSpPr>
          <p:cNvPr id="12" name="下箭头 11"/>
          <p:cNvSpPr/>
          <p:nvPr/>
        </p:nvSpPr>
        <p:spPr>
          <a:xfrm rot="16200000">
            <a:off x="639260" y="20319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 name="文本框 9"/>
          <p:cNvSpPr txBox="1"/>
          <p:nvPr/>
        </p:nvSpPr>
        <p:spPr>
          <a:xfrm>
            <a:off x="1374775" y="2150745"/>
            <a:ext cx="9806305" cy="398780"/>
          </a:xfrm>
          <a:prstGeom prst="rect">
            <a:avLst/>
          </a:prstGeom>
          <a:noFill/>
          <a:ln w="9525">
            <a:noFill/>
          </a:ln>
        </p:spPr>
        <p:txBody>
          <a:bodyPr wrap="square">
            <a:spAutoFit/>
          </a:bodyPr>
          <a:lstStyle/>
          <a:p>
            <a:pPr indent="127000"/>
            <a:r>
              <a:rPr sz="2000" b="0">
                <a:cs typeface="方正书宋简体" charset="0"/>
              </a:rPr>
              <a:t>SHOW GRANTS FOR '用户名'@'主机信息'; </a:t>
            </a:r>
          </a:p>
        </p:txBody>
      </p:sp>
      <p:sp>
        <p:nvSpPr>
          <p:cNvPr id="2" name="文本框 1"/>
          <p:cNvSpPr txBox="1"/>
          <p:nvPr/>
        </p:nvSpPr>
        <p:spPr>
          <a:xfrm>
            <a:off x="1603375" y="3388360"/>
            <a:ext cx="9806305" cy="398780"/>
          </a:xfrm>
          <a:prstGeom prst="rect">
            <a:avLst/>
          </a:prstGeom>
          <a:noFill/>
          <a:ln w="9525">
            <a:noFill/>
          </a:ln>
        </p:spPr>
        <p:txBody>
          <a:bodyPr wrap="square">
            <a:spAutoFit/>
          </a:bodyPr>
          <a:lstStyle/>
          <a:p>
            <a:pPr indent="127000"/>
            <a:r>
              <a:rPr sz="2000" b="0">
                <a:cs typeface="方正书宋简体" charset="0"/>
              </a:rPr>
              <a:t>SHOW GRANTS FOR 'student'@'localhost';</a:t>
            </a:r>
          </a:p>
        </p:txBody>
      </p:sp>
      <p:sp>
        <p:nvSpPr>
          <p:cNvPr id="3" name="文本框 2"/>
          <p:cNvSpPr txBox="1"/>
          <p:nvPr/>
        </p:nvSpPr>
        <p:spPr>
          <a:xfrm>
            <a:off x="1603375" y="3810635"/>
            <a:ext cx="9806305" cy="398780"/>
          </a:xfrm>
          <a:prstGeom prst="rect">
            <a:avLst/>
          </a:prstGeom>
          <a:noFill/>
          <a:ln w="9525">
            <a:noFill/>
          </a:ln>
        </p:spPr>
        <p:txBody>
          <a:bodyPr wrap="square">
            <a:spAutoFit/>
          </a:bodyPr>
          <a:lstStyle/>
          <a:p>
            <a:pPr indent="127000"/>
            <a:r>
              <a:rPr sz="2000" b="0">
                <a:cs typeface="方正书宋简体" charset="0"/>
              </a:rPr>
              <a:t>SHOW GRANTS FOR CURRENT_USER;</a:t>
            </a:r>
          </a:p>
        </p:txBody>
      </p:sp>
      <p:sp>
        <p:nvSpPr>
          <p:cNvPr id="6" name="下箭头 5"/>
          <p:cNvSpPr/>
          <p:nvPr/>
        </p:nvSpPr>
        <p:spPr>
          <a:xfrm rot="16200000">
            <a:off x="716095" y="348042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 name="内容占位符 4"/>
          <p:cNvSpPr>
            <a:spLocks noGrp="1"/>
          </p:cNvSpPr>
          <p:nvPr/>
        </p:nvSpPr>
        <p:spPr>
          <a:xfrm>
            <a:off x="689610" y="420941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．使用MySQL Workbench查看权限授予情况</a:t>
            </a:r>
          </a:p>
        </p:txBody>
      </p:sp>
      <p:sp>
        <p:nvSpPr>
          <p:cNvPr id="8" name="矩形 7"/>
          <p:cNvSpPr/>
          <p:nvPr/>
        </p:nvSpPr>
        <p:spPr>
          <a:xfrm>
            <a:off x="635000" y="4785995"/>
            <a:ext cx="5650865" cy="80645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在Navigator窗格的Administration选项卡下，单击Users and Privileges选项，打开用户管理界面</a:t>
            </a:r>
          </a:p>
        </p:txBody>
      </p:sp>
      <p:sp>
        <p:nvSpPr>
          <p:cNvPr id="9" name="矩形 8"/>
          <p:cNvSpPr/>
          <p:nvPr/>
        </p:nvSpPr>
        <p:spPr>
          <a:xfrm>
            <a:off x="635000" y="5680710"/>
            <a:ext cx="5650865" cy="80645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在User Accounts窗格中，选择需要查看授权的用户。</a:t>
            </a:r>
          </a:p>
        </p:txBody>
      </p:sp>
      <p:pic>
        <p:nvPicPr>
          <p:cNvPr id="13" name="图片 -2147482604"/>
          <p:cNvPicPr>
            <a:picLocks noChangeAspect="1"/>
          </p:cNvPicPr>
          <p:nvPr/>
        </p:nvPicPr>
        <p:blipFill>
          <a:blip r:embed="rId2"/>
          <a:stretch>
            <a:fillRect/>
          </a:stretch>
        </p:blipFill>
        <p:spPr>
          <a:xfrm>
            <a:off x="6937375" y="3506470"/>
            <a:ext cx="4765675" cy="3027680"/>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权限回收</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．使用REVOKE语句回收权限</a:t>
            </a:r>
          </a:p>
        </p:txBody>
      </p:sp>
      <p:sp>
        <p:nvSpPr>
          <p:cNvPr id="11" name="矩形 10"/>
          <p:cNvSpPr/>
          <p:nvPr/>
        </p:nvSpPr>
        <p:spPr>
          <a:xfrm>
            <a:off x="536575" y="2972435"/>
            <a:ext cx="11286490" cy="39814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例子：回收localhost主机上teacher10用户对数据库中对象的DELETE权限和SELECT权限。</a:t>
            </a:r>
          </a:p>
        </p:txBody>
      </p:sp>
      <p:sp>
        <p:nvSpPr>
          <p:cNvPr id="12" name="下箭头 11"/>
          <p:cNvSpPr/>
          <p:nvPr/>
        </p:nvSpPr>
        <p:spPr>
          <a:xfrm rot="16200000">
            <a:off x="639260" y="20319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 name="文本框 9"/>
          <p:cNvSpPr txBox="1"/>
          <p:nvPr/>
        </p:nvSpPr>
        <p:spPr>
          <a:xfrm>
            <a:off x="1325880" y="1951355"/>
            <a:ext cx="9806305" cy="1014730"/>
          </a:xfrm>
          <a:prstGeom prst="rect">
            <a:avLst/>
          </a:prstGeom>
          <a:noFill/>
          <a:ln w="9525">
            <a:noFill/>
          </a:ln>
        </p:spPr>
        <p:txBody>
          <a:bodyPr wrap="square">
            <a:spAutoFit/>
          </a:bodyPr>
          <a:lstStyle/>
          <a:p>
            <a:pPr indent="127000"/>
            <a:r>
              <a:rPr sz="2000" b="0">
                <a:cs typeface="方正书宋简体" charset="0"/>
              </a:rPr>
              <a:t>REVOKE 权限名称[(字段列表)][,权限名称[(字段列表)]]...</a:t>
            </a:r>
          </a:p>
          <a:p>
            <a:pPr indent="127000"/>
            <a:r>
              <a:rPr sz="2000" b="0">
                <a:cs typeface="方正书宋简体" charset="0"/>
              </a:rPr>
              <a:t>ON 回收权限的层次及对象</a:t>
            </a:r>
          </a:p>
          <a:p>
            <a:pPr indent="127000"/>
            <a:r>
              <a:rPr sz="2000" b="0">
                <a:cs typeface="方正书宋简体" charset="0"/>
              </a:rPr>
              <a:t>FROM '用户名'@'主机信息'[,'用户名'@'主机信息']...;</a:t>
            </a:r>
          </a:p>
        </p:txBody>
      </p:sp>
      <p:sp>
        <p:nvSpPr>
          <p:cNvPr id="2" name="文本框 1"/>
          <p:cNvSpPr txBox="1"/>
          <p:nvPr/>
        </p:nvSpPr>
        <p:spPr>
          <a:xfrm>
            <a:off x="1603375" y="3388360"/>
            <a:ext cx="9806305" cy="1014730"/>
          </a:xfrm>
          <a:prstGeom prst="rect">
            <a:avLst/>
          </a:prstGeom>
          <a:noFill/>
          <a:ln w="9525">
            <a:noFill/>
          </a:ln>
        </p:spPr>
        <p:txBody>
          <a:bodyPr wrap="square">
            <a:spAutoFit/>
          </a:bodyPr>
          <a:lstStyle/>
          <a:p>
            <a:pPr indent="127000"/>
            <a:r>
              <a:rPr sz="2000" b="0">
                <a:cs typeface="方正书宋简体" charset="0"/>
              </a:rPr>
              <a:t>REVOKE SELECT, DELETE</a:t>
            </a:r>
          </a:p>
          <a:p>
            <a:pPr indent="127000"/>
            <a:r>
              <a:rPr sz="2000" b="0">
                <a:cs typeface="方正书宋简体" charset="0"/>
              </a:rPr>
              <a:t>ON teaching.*</a:t>
            </a:r>
          </a:p>
          <a:p>
            <a:pPr indent="127000"/>
            <a:r>
              <a:rPr sz="2000" b="0">
                <a:cs typeface="方正书宋简体" charset="0"/>
              </a:rPr>
              <a:t>FROM 'teacher10'@'localhost';</a:t>
            </a:r>
          </a:p>
        </p:txBody>
      </p:sp>
      <p:sp>
        <p:nvSpPr>
          <p:cNvPr id="6" name="下箭头 5"/>
          <p:cNvSpPr/>
          <p:nvPr/>
        </p:nvSpPr>
        <p:spPr>
          <a:xfrm rot="16200000">
            <a:off x="716095" y="348042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 name="内容占位符 4"/>
          <p:cNvSpPr>
            <a:spLocks noGrp="1"/>
          </p:cNvSpPr>
          <p:nvPr/>
        </p:nvSpPr>
        <p:spPr>
          <a:xfrm>
            <a:off x="612775" y="444055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a:t>
            </a:r>
            <a:r>
              <a:rPr lang="zh-CN" altLang="en-US" dirty="0"/>
              <a:t>．使用MySQL Workbench回收权限</a:t>
            </a:r>
          </a:p>
        </p:txBody>
      </p:sp>
      <p:sp>
        <p:nvSpPr>
          <p:cNvPr id="8" name="矩形 7"/>
          <p:cNvSpPr/>
          <p:nvPr/>
        </p:nvSpPr>
        <p:spPr>
          <a:xfrm>
            <a:off x="616585" y="5106035"/>
            <a:ext cx="5650865" cy="121285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在Navigator窗格的Administration选项卡下，单击Users and Privileges选项，在User Accounts窗格中，选择需要回收权限的用户</a:t>
            </a:r>
          </a:p>
        </p:txBody>
      </p:sp>
      <p:pic>
        <p:nvPicPr>
          <p:cNvPr id="3" name="图片 55"/>
          <p:cNvPicPr>
            <a:picLocks noChangeAspect="1"/>
          </p:cNvPicPr>
          <p:nvPr/>
        </p:nvPicPr>
        <p:blipFill>
          <a:blip r:embed="rId2"/>
          <a:stretch>
            <a:fillRect/>
          </a:stretch>
        </p:blipFill>
        <p:spPr>
          <a:xfrm>
            <a:off x="6861175" y="3505835"/>
            <a:ext cx="4940300" cy="3138170"/>
          </a:xfrm>
          <a:prstGeom prst="rect">
            <a:avLst/>
          </a:prstGeom>
          <a:noFill/>
          <a:ln w="9525" cap="flat" cmpd="sng">
            <a:solidFill>
              <a:srgbClr val="000000"/>
            </a:solidFill>
            <a:prstDash val="solid"/>
            <a:miter/>
            <a:headEnd type="none" w="med" len="med"/>
            <a:tailEnd type="none" w="med" len="me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8.5  MySQL</a:t>
            </a:r>
            <a:r>
              <a:rPr lang="zh-CN" altLang="en-US" dirty="0">
                <a:sym typeface="+mn-ea"/>
              </a:rPr>
              <a:t>权限管理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权限转移</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a:t>
            </a:r>
            <a:r>
              <a:rPr lang="zh-CN" altLang="en-US" dirty="0"/>
              <a:t>．使用REVOKE语句回收权限</a:t>
            </a:r>
          </a:p>
        </p:txBody>
      </p:sp>
      <p:sp>
        <p:nvSpPr>
          <p:cNvPr id="11" name="矩形 10"/>
          <p:cNvSpPr/>
          <p:nvPr/>
        </p:nvSpPr>
        <p:spPr>
          <a:xfrm>
            <a:off x="536575" y="2952750"/>
            <a:ext cx="11286490" cy="100139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例子：为localhost上teacher3用户授予teaching.t上查找SELECT和UPDATE权限，并允许teacher3用户将权限上述权限转移给其他用户。</a:t>
            </a:r>
          </a:p>
        </p:txBody>
      </p:sp>
      <p:sp>
        <p:nvSpPr>
          <p:cNvPr id="12" name="下箭头 11"/>
          <p:cNvSpPr/>
          <p:nvPr/>
        </p:nvSpPr>
        <p:spPr>
          <a:xfrm rot="16200000">
            <a:off x="639260" y="20319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 name="文本框 9"/>
          <p:cNvSpPr txBox="1"/>
          <p:nvPr/>
        </p:nvSpPr>
        <p:spPr>
          <a:xfrm>
            <a:off x="1450975" y="2209165"/>
            <a:ext cx="9806305" cy="398780"/>
          </a:xfrm>
          <a:prstGeom prst="rect">
            <a:avLst/>
          </a:prstGeom>
          <a:noFill/>
          <a:ln w="9525">
            <a:noFill/>
          </a:ln>
        </p:spPr>
        <p:txBody>
          <a:bodyPr wrap="square">
            <a:spAutoFit/>
          </a:bodyPr>
          <a:lstStyle/>
          <a:p>
            <a:pPr indent="127000"/>
            <a:r>
              <a:rPr sz="2000" b="0">
                <a:cs typeface="方正书宋简体" charset="0"/>
              </a:rPr>
              <a:t>使用GRANT语句中WITH GRANT OPTION参数表明允许权限转移。</a:t>
            </a:r>
          </a:p>
        </p:txBody>
      </p:sp>
      <p:sp>
        <p:nvSpPr>
          <p:cNvPr id="2" name="文本框 1"/>
          <p:cNvSpPr txBox="1"/>
          <p:nvPr/>
        </p:nvSpPr>
        <p:spPr>
          <a:xfrm>
            <a:off x="1603375" y="4115435"/>
            <a:ext cx="9806305" cy="1322070"/>
          </a:xfrm>
          <a:prstGeom prst="rect">
            <a:avLst/>
          </a:prstGeom>
          <a:noFill/>
          <a:ln w="9525">
            <a:noFill/>
          </a:ln>
        </p:spPr>
        <p:txBody>
          <a:bodyPr wrap="square">
            <a:spAutoFit/>
          </a:bodyPr>
          <a:lstStyle/>
          <a:p>
            <a:pPr indent="127000"/>
            <a:r>
              <a:rPr sz="2000" b="0">
                <a:cs typeface="方正书宋简体" charset="0"/>
              </a:rPr>
              <a:t>GRANT SELECT, UPDATE</a:t>
            </a:r>
          </a:p>
          <a:p>
            <a:pPr indent="127000"/>
            <a:r>
              <a:rPr sz="2000" b="0">
                <a:cs typeface="方正书宋简体" charset="0"/>
              </a:rPr>
              <a:t>ON teaching.t</a:t>
            </a:r>
          </a:p>
          <a:p>
            <a:pPr indent="127000"/>
            <a:r>
              <a:rPr sz="2000" b="0">
                <a:cs typeface="方正书宋简体" charset="0"/>
              </a:rPr>
              <a:t>TO 'teacher3'@'localhost'</a:t>
            </a:r>
          </a:p>
          <a:p>
            <a:pPr indent="127000"/>
            <a:r>
              <a:rPr sz="2000" b="0">
                <a:cs typeface="方正书宋简体" charset="0"/>
              </a:rPr>
              <a:t>WITH GRANT OPTION;</a:t>
            </a:r>
          </a:p>
        </p:txBody>
      </p:sp>
      <p:sp>
        <p:nvSpPr>
          <p:cNvPr id="6" name="下箭头 5"/>
          <p:cNvSpPr/>
          <p:nvPr/>
        </p:nvSpPr>
        <p:spPr>
          <a:xfrm rot="16200000">
            <a:off x="639895" y="40893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8.6  MySQL</a:t>
            </a:r>
            <a:r>
              <a:rPr lang="zh-CN" altLang="en-US" dirty="0">
                <a:sym typeface="+mn-ea"/>
              </a:rPr>
              <a:t>角色管理</a:t>
            </a:r>
            <a:endParaRPr lang="zh-CN" altLang="en-US" dirty="0"/>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角色与用户的关系</a:t>
            </a:r>
          </a:p>
        </p:txBody>
      </p:sp>
      <p:sp>
        <p:nvSpPr>
          <p:cNvPr id="11" name="矩形 10"/>
          <p:cNvSpPr/>
          <p:nvPr/>
        </p:nvSpPr>
        <p:spPr>
          <a:xfrm>
            <a:off x="612775" y="1524635"/>
            <a:ext cx="11286490" cy="69977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角色（Role）是对权限集中管理的一种机制，通常根据特定需要，将一系列权限集中在一起构成角色。</a:t>
            </a:r>
          </a:p>
        </p:txBody>
      </p:sp>
      <p:sp>
        <p:nvSpPr>
          <p:cNvPr id="43" name="矩形 42"/>
          <p:cNvSpPr/>
          <p:nvPr/>
        </p:nvSpPr>
        <p:spPr>
          <a:xfrm>
            <a:off x="1069975" y="3277077"/>
            <a:ext cx="25908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角色</a:t>
            </a:r>
          </a:p>
        </p:txBody>
      </p:sp>
      <p:sp>
        <p:nvSpPr>
          <p:cNvPr id="3" name="矩形 2"/>
          <p:cNvSpPr/>
          <p:nvPr/>
        </p:nvSpPr>
        <p:spPr>
          <a:xfrm>
            <a:off x="4525645" y="2362677"/>
            <a:ext cx="25908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角色</a:t>
            </a:r>
          </a:p>
        </p:txBody>
      </p:sp>
      <p:sp>
        <p:nvSpPr>
          <p:cNvPr id="7" name="矩形 6"/>
          <p:cNvSpPr/>
          <p:nvPr/>
        </p:nvSpPr>
        <p:spPr>
          <a:xfrm>
            <a:off x="4525645" y="3162777"/>
            <a:ext cx="25908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角色</a:t>
            </a:r>
          </a:p>
        </p:txBody>
      </p:sp>
      <p:sp>
        <p:nvSpPr>
          <p:cNvPr id="8" name="矩形 7"/>
          <p:cNvSpPr/>
          <p:nvPr/>
        </p:nvSpPr>
        <p:spPr>
          <a:xfrm>
            <a:off x="4525645" y="4039077"/>
            <a:ext cx="25908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角色</a:t>
            </a:r>
          </a:p>
        </p:txBody>
      </p:sp>
      <p:sp>
        <p:nvSpPr>
          <p:cNvPr id="9" name="矩形 8"/>
          <p:cNvSpPr/>
          <p:nvPr/>
        </p:nvSpPr>
        <p:spPr>
          <a:xfrm>
            <a:off x="4525645" y="2362677"/>
            <a:ext cx="2590800" cy="5334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权限</a:t>
            </a:r>
            <a:r>
              <a:rPr lang="en-US" altLang="zh-CN"/>
              <a:t>1</a:t>
            </a:r>
          </a:p>
        </p:txBody>
      </p:sp>
      <p:sp>
        <p:nvSpPr>
          <p:cNvPr id="13" name="矩形 12"/>
          <p:cNvSpPr/>
          <p:nvPr/>
        </p:nvSpPr>
        <p:spPr>
          <a:xfrm>
            <a:off x="4525645" y="3162777"/>
            <a:ext cx="2590800" cy="5334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ym typeface="+mn-ea"/>
              </a:rPr>
              <a:t>权限</a:t>
            </a:r>
            <a:r>
              <a:rPr lang="en-US" altLang="zh-CN">
                <a:sym typeface="+mn-ea"/>
              </a:rPr>
              <a:t>2</a:t>
            </a:r>
            <a:endParaRPr lang="zh-CN" altLang="en-US"/>
          </a:p>
        </p:txBody>
      </p:sp>
      <p:sp>
        <p:nvSpPr>
          <p:cNvPr id="14" name="矩形 13"/>
          <p:cNvSpPr/>
          <p:nvPr/>
        </p:nvSpPr>
        <p:spPr>
          <a:xfrm>
            <a:off x="4525645" y="4039077"/>
            <a:ext cx="2590800" cy="5334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ym typeface="+mn-ea"/>
              </a:rPr>
              <a:t>权限</a:t>
            </a:r>
            <a:r>
              <a:rPr lang="en-US" altLang="zh-CN">
                <a:sym typeface="+mn-ea"/>
              </a:rPr>
              <a:t>n</a:t>
            </a:r>
          </a:p>
        </p:txBody>
      </p:sp>
      <p:sp>
        <p:nvSpPr>
          <p:cNvPr id="15" name="文本框 14"/>
          <p:cNvSpPr txBox="1"/>
          <p:nvPr/>
        </p:nvSpPr>
        <p:spPr>
          <a:xfrm>
            <a:off x="5602605" y="3582035"/>
            <a:ext cx="436245" cy="460375"/>
          </a:xfrm>
          <a:prstGeom prst="rect">
            <a:avLst/>
          </a:prstGeom>
          <a:noFill/>
        </p:spPr>
        <p:txBody>
          <a:bodyPr wrap="none" rtlCol="0" anchor="t">
            <a:spAutoFit/>
          </a:bodyPr>
          <a:lstStyle/>
          <a:p>
            <a:r>
              <a:rPr lang="en-US">
                <a:cs typeface="方正书宋简体" charset="0"/>
                <a:sym typeface="+mn-ea"/>
              </a:rPr>
              <a:t>...</a:t>
            </a:r>
          </a:p>
        </p:txBody>
      </p:sp>
      <p:sp>
        <p:nvSpPr>
          <p:cNvPr id="16" name="左大括号 15"/>
          <p:cNvSpPr/>
          <p:nvPr/>
        </p:nvSpPr>
        <p:spPr>
          <a:xfrm>
            <a:off x="3965575" y="2591435"/>
            <a:ext cx="228600" cy="1828800"/>
          </a:xfrm>
          <a:prstGeom prst="leftBrace">
            <a:avLst>
              <a:gd name="adj1" fmla="val 137500"/>
              <a:gd name="adj2" fmla="val 50000"/>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17" name="内容占位符 4"/>
          <p:cNvSpPr>
            <a:spLocks noGrp="1"/>
          </p:cNvSpPr>
          <p:nvPr/>
        </p:nvSpPr>
        <p:spPr>
          <a:xfrm>
            <a:off x="621030" y="4787265"/>
            <a:ext cx="1127823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zh-CN" altLang="en-US" dirty="0"/>
              <a:t>使用角色可以更加方便和自然的为用户授予权限。</a:t>
            </a:r>
          </a:p>
        </p:txBody>
      </p:sp>
      <p:sp>
        <p:nvSpPr>
          <p:cNvPr id="18" name="内容占位符 4"/>
          <p:cNvSpPr>
            <a:spLocks noGrp="1"/>
          </p:cNvSpPr>
          <p:nvPr/>
        </p:nvSpPr>
        <p:spPr>
          <a:xfrm>
            <a:off x="612775" y="5400040"/>
            <a:ext cx="11278235" cy="1224915"/>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gn="l">
              <a:lnSpc>
                <a:spcPct val="150000"/>
              </a:lnSpc>
              <a:buFont typeface="Wingdings" panose="05000000000000000000" charset="0"/>
              <a:buChar char="ü"/>
            </a:pPr>
            <a:r>
              <a:rPr lang="zh-CN" altLang="en-US" dirty="0"/>
              <a:t>从MySQL 8开始，允许使用角色授权。</a:t>
            </a:r>
          </a:p>
          <a:p>
            <a:pPr algn="l">
              <a:lnSpc>
                <a:spcPct val="150000"/>
              </a:lnSpc>
              <a:buFont typeface="Wingdings" panose="05000000000000000000" charset="0"/>
              <a:buChar char="ü"/>
            </a:pPr>
            <a:r>
              <a:rPr lang="zh-CN" altLang="en-US" dirty="0"/>
              <a:t>一个用户可以分配多个角色，也允许一个角色分配给多个用户</a:t>
            </a:r>
            <a:r>
              <a:rPr lang="en-US" altLang="zh-CN" dirty="0"/>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8.6  MySQL</a:t>
            </a:r>
            <a:r>
              <a:rPr lang="zh-CN" altLang="en-US" dirty="0"/>
              <a:t>角色管理</a:t>
            </a:r>
          </a:p>
        </p:txBody>
      </p:sp>
      <p:sp>
        <p:nvSpPr>
          <p:cNvPr id="5" name="内容占位符 4"/>
          <p:cNvSpPr>
            <a:spLocks noGrp="1"/>
          </p:cNvSpPr>
          <p:nvPr>
            <p:ph idx="1"/>
          </p:nvPr>
        </p:nvSpPr>
        <p:spPr>
          <a:xfrm>
            <a:off x="619125" y="1056640"/>
            <a:ext cx="10978515" cy="765175"/>
          </a:xfrm>
        </p:spPr>
        <p:txBody>
          <a:bodyPr>
            <a:noAutofit/>
          </a:bodyPr>
          <a:lstStyle/>
          <a:p>
            <a:pPr marL="0" indent="0">
              <a:lnSpc>
                <a:spcPct val="150000"/>
              </a:lnSpc>
              <a:buNone/>
            </a:pPr>
            <a:r>
              <a:rPr lang="zh-CN" altLang="en-US" dirty="0"/>
              <a:t>角色生命周期</a:t>
            </a:r>
          </a:p>
        </p:txBody>
      </p:sp>
      <p:sp>
        <p:nvSpPr>
          <p:cNvPr id="7" name="Freeform 7"/>
          <p:cNvSpPr/>
          <p:nvPr/>
        </p:nvSpPr>
        <p:spPr bwMode="auto">
          <a:xfrm>
            <a:off x="1716501" y="3505775"/>
            <a:ext cx="2133183" cy="937201"/>
          </a:xfrm>
          <a:custGeom>
            <a:avLst/>
            <a:gdLst>
              <a:gd name="T0" fmla="*/ 0 w 1525"/>
              <a:gd name="T1" fmla="*/ 670 h 670"/>
              <a:gd name="T2" fmla="*/ 1190 w 1525"/>
              <a:gd name="T3" fmla="*/ 670 h 670"/>
              <a:gd name="T4" fmla="*/ 1525 w 1525"/>
              <a:gd name="T5" fmla="*/ 336 h 670"/>
              <a:gd name="T6" fmla="*/ 1190 w 1525"/>
              <a:gd name="T7" fmla="*/ 0 h 670"/>
              <a:gd name="T8" fmla="*/ 0 w 1525"/>
              <a:gd name="T9" fmla="*/ 0 h 670"/>
              <a:gd name="T10" fmla="*/ 0 w 1525"/>
              <a:gd name="T11" fmla="*/ 670 h 670"/>
              <a:gd name="T12" fmla="*/ 0 w 1525"/>
              <a:gd name="T13" fmla="*/ 670 h 670"/>
            </a:gdLst>
            <a:ahLst/>
            <a:cxnLst>
              <a:cxn ang="0">
                <a:pos x="T0" y="T1"/>
              </a:cxn>
              <a:cxn ang="0">
                <a:pos x="T2" y="T3"/>
              </a:cxn>
              <a:cxn ang="0">
                <a:pos x="T4" y="T5"/>
              </a:cxn>
              <a:cxn ang="0">
                <a:pos x="T6" y="T7"/>
              </a:cxn>
              <a:cxn ang="0">
                <a:pos x="T8" y="T9"/>
              </a:cxn>
              <a:cxn ang="0">
                <a:pos x="T10" y="T11"/>
              </a:cxn>
              <a:cxn ang="0">
                <a:pos x="T12" y="T13"/>
              </a:cxn>
            </a:cxnLst>
            <a:rect l="0" t="0" r="r" b="b"/>
            <a:pathLst>
              <a:path w="1525" h="670">
                <a:moveTo>
                  <a:pt x="0" y="670"/>
                </a:moveTo>
                <a:lnTo>
                  <a:pt x="1190" y="670"/>
                </a:lnTo>
                <a:lnTo>
                  <a:pt x="1525" y="336"/>
                </a:lnTo>
                <a:lnTo>
                  <a:pt x="1190" y="0"/>
                </a:lnTo>
                <a:lnTo>
                  <a:pt x="0" y="0"/>
                </a:lnTo>
                <a:lnTo>
                  <a:pt x="0" y="670"/>
                </a:lnTo>
                <a:lnTo>
                  <a:pt x="0" y="670"/>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8" name="Freeform 8"/>
          <p:cNvSpPr/>
          <p:nvPr/>
        </p:nvSpPr>
        <p:spPr bwMode="auto">
          <a:xfrm>
            <a:off x="2497036" y="3014793"/>
            <a:ext cx="228006" cy="622470"/>
          </a:xfrm>
          <a:custGeom>
            <a:avLst/>
            <a:gdLst>
              <a:gd name="T0" fmla="*/ 41 w 69"/>
              <a:gd name="T1" fmla="*/ 126 h 188"/>
              <a:gd name="T2" fmla="*/ 66 w 69"/>
              <a:gd name="T3" fmla="*/ 157 h 188"/>
              <a:gd name="T4" fmla="*/ 35 w 69"/>
              <a:gd name="T5" fmla="*/ 188 h 188"/>
              <a:gd name="T6" fmla="*/ 3 w 69"/>
              <a:gd name="T7" fmla="*/ 157 h 188"/>
              <a:gd name="T8" fmla="*/ 28 w 69"/>
              <a:gd name="T9" fmla="*/ 126 h 188"/>
              <a:gd name="T10" fmla="*/ 28 w 69"/>
              <a:gd name="T11" fmla="*/ 63 h 188"/>
              <a:gd name="T12" fmla="*/ 0 w 69"/>
              <a:gd name="T13" fmla="*/ 63 h 188"/>
              <a:gd name="T14" fmla="*/ 35 w 69"/>
              <a:gd name="T15" fmla="*/ 0 h 188"/>
              <a:gd name="T16" fmla="*/ 69 w 69"/>
              <a:gd name="T17" fmla="*/ 63 h 188"/>
              <a:gd name="T18" fmla="*/ 41 w 69"/>
              <a:gd name="T19" fmla="*/ 63 h 188"/>
              <a:gd name="T20" fmla="*/ 41 w 69"/>
              <a:gd name="T21"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41" y="126"/>
                </a:moveTo>
                <a:cubicBezTo>
                  <a:pt x="55"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ubicBezTo>
                  <a:pt x="41" y="63"/>
                  <a:pt x="41" y="63"/>
                  <a:pt x="41" y="63"/>
                </a:cubicBezTo>
                <a:cubicBezTo>
                  <a:pt x="41" y="126"/>
                  <a:pt x="41" y="126"/>
                  <a:pt x="41" y="126"/>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9" name="Freeform 9"/>
          <p:cNvSpPr/>
          <p:nvPr/>
        </p:nvSpPr>
        <p:spPr bwMode="auto">
          <a:xfrm>
            <a:off x="3381084" y="3505775"/>
            <a:ext cx="2133183" cy="937201"/>
          </a:xfrm>
          <a:custGeom>
            <a:avLst/>
            <a:gdLst>
              <a:gd name="T0" fmla="*/ 0 w 1525"/>
              <a:gd name="T1" fmla="*/ 670 h 670"/>
              <a:gd name="T2" fmla="*/ 1189 w 1525"/>
              <a:gd name="T3" fmla="*/ 670 h 670"/>
              <a:gd name="T4" fmla="*/ 1525 w 1525"/>
              <a:gd name="T5" fmla="*/ 334 h 670"/>
              <a:gd name="T6" fmla="*/ 1189 w 1525"/>
              <a:gd name="T7" fmla="*/ 0 h 670"/>
              <a:gd name="T8" fmla="*/ 0 w 1525"/>
              <a:gd name="T9" fmla="*/ 0 h 670"/>
              <a:gd name="T10" fmla="*/ 0 w 1525"/>
              <a:gd name="T11" fmla="*/ 0 h 670"/>
              <a:gd name="T12" fmla="*/ 335 w 1525"/>
              <a:gd name="T13" fmla="*/ 336 h 670"/>
              <a:gd name="T14" fmla="*/ 0 w 1525"/>
              <a:gd name="T15" fmla="*/ 670 h 670"/>
              <a:gd name="T16" fmla="*/ 0 w 1525"/>
              <a:gd name="T17" fmla="*/ 670 h 670"/>
              <a:gd name="T18" fmla="*/ 0 w 1525"/>
              <a:gd name="T1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5" h="670">
                <a:moveTo>
                  <a:pt x="0" y="670"/>
                </a:moveTo>
                <a:lnTo>
                  <a:pt x="1189" y="670"/>
                </a:lnTo>
                <a:lnTo>
                  <a:pt x="1525" y="334"/>
                </a:lnTo>
                <a:lnTo>
                  <a:pt x="1189" y="0"/>
                </a:lnTo>
                <a:lnTo>
                  <a:pt x="0" y="0"/>
                </a:lnTo>
                <a:lnTo>
                  <a:pt x="0" y="0"/>
                </a:lnTo>
                <a:lnTo>
                  <a:pt x="335" y="336"/>
                </a:lnTo>
                <a:lnTo>
                  <a:pt x="0" y="670"/>
                </a:lnTo>
                <a:lnTo>
                  <a:pt x="0" y="670"/>
                </a:lnTo>
                <a:lnTo>
                  <a:pt x="0" y="670"/>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0" name="Freeform 10"/>
          <p:cNvSpPr/>
          <p:nvPr/>
        </p:nvSpPr>
        <p:spPr bwMode="auto">
          <a:xfrm>
            <a:off x="4171410" y="3014793"/>
            <a:ext cx="225209" cy="622470"/>
          </a:xfrm>
          <a:custGeom>
            <a:avLst/>
            <a:gdLst>
              <a:gd name="T0" fmla="*/ 41 w 68"/>
              <a:gd name="T1" fmla="*/ 126 h 188"/>
              <a:gd name="T2" fmla="*/ 66 w 68"/>
              <a:gd name="T3" fmla="*/ 157 h 188"/>
              <a:gd name="T4" fmla="*/ 34 w 68"/>
              <a:gd name="T5" fmla="*/ 188 h 188"/>
              <a:gd name="T6" fmla="*/ 2 w 68"/>
              <a:gd name="T7" fmla="*/ 157 h 188"/>
              <a:gd name="T8" fmla="*/ 27 w 68"/>
              <a:gd name="T9" fmla="*/ 126 h 188"/>
              <a:gd name="T10" fmla="*/ 27 w 68"/>
              <a:gd name="T11" fmla="*/ 63 h 188"/>
              <a:gd name="T12" fmla="*/ 0 w 68"/>
              <a:gd name="T13" fmla="*/ 63 h 188"/>
              <a:gd name="T14" fmla="*/ 34 w 68"/>
              <a:gd name="T15" fmla="*/ 0 h 188"/>
              <a:gd name="T16" fmla="*/ 68 w 68"/>
              <a:gd name="T17" fmla="*/ 63 h 188"/>
              <a:gd name="T18" fmla="*/ 41 w 68"/>
              <a:gd name="T19" fmla="*/ 63 h 188"/>
              <a:gd name="T20" fmla="*/ 41 w 68"/>
              <a:gd name="T21"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188">
                <a:moveTo>
                  <a:pt x="41" y="126"/>
                </a:moveTo>
                <a:cubicBezTo>
                  <a:pt x="55" y="129"/>
                  <a:pt x="66" y="142"/>
                  <a:pt x="66" y="157"/>
                </a:cubicBezTo>
                <a:cubicBezTo>
                  <a:pt x="66" y="174"/>
                  <a:pt x="51" y="188"/>
                  <a:pt x="34" y="188"/>
                </a:cubicBezTo>
                <a:cubicBezTo>
                  <a:pt x="16" y="188"/>
                  <a:pt x="2" y="174"/>
                  <a:pt x="2" y="157"/>
                </a:cubicBezTo>
                <a:cubicBezTo>
                  <a:pt x="2" y="142"/>
                  <a:pt x="13" y="129"/>
                  <a:pt x="27" y="126"/>
                </a:cubicBezTo>
                <a:cubicBezTo>
                  <a:pt x="27" y="63"/>
                  <a:pt x="27" y="63"/>
                  <a:pt x="27" y="63"/>
                </a:cubicBezTo>
                <a:cubicBezTo>
                  <a:pt x="0" y="63"/>
                  <a:pt x="0" y="63"/>
                  <a:pt x="0" y="63"/>
                </a:cubicBezTo>
                <a:cubicBezTo>
                  <a:pt x="34" y="0"/>
                  <a:pt x="34" y="0"/>
                  <a:pt x="34" y="0"/>
                </a:cubicBezTo>
                <a:cubicBezTo>
                  <a:pt x="68" y="63"/>
                  <a:pt x="68" y="63"/>
                  <a:pt x="68" y="63"/>
                </a:cubicBezTo>
                <a:cubicBezTo>
                  <a:pt x="41" y="63"/>
                  <a:pt x="41" y="63"/>
                  <a:pt x="41" y="63"/>
                </a:cubicBezTo>
                <a:cubicBezTo>
                  <a:pt x="41" y="126"/>
                  <a:pt x="41" y="126"/>
                  <a:pt x="41" y="126"/>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11" name="Freeform 11"/>
          <p:cNvSpPr/>
          <p:nvPr/>
        </p:nvSpPr>
        <p:spPr bwMode="auto">
          <a:xfrm>
            <a:off x="5044267" y="3505775"/>
            <a:ext cx="2130386" cy="937201"/>
          </a:xfrm>
          <a:custGeom>
            <a:avLst/>
            <a:gdLst>
              <a:gd name="T0" fmla="*/ 0 w 1523"/>
              <a:gd name="T1" fmla="*/ 670 h 670"/>
              <a:gd name="T2" fmla="*/ 1190 w 1523"/>
              <a:gd name="T3" fmla="*/ 670 h 670"/>
              <a:gd name="T4" fmla="*/ 1523 w 1523"/>
              <a:gd name="T5" fmla="*/ 334 h 670"/>
              <a:gd name="T6" fmla="*/ 1190 w 1523"/>
              <a:gd name="T7" fmla="*/ 0 h 670"/>
              <a:gd name="T8" fmla="*/ 0 w 1523"/>
              <a:gd name="T9" fmla="*/ 0 h 670"/>
              <a:gd name="T10" fmla="*/ 336 w 1523"/>
              <a:gd name="T11" fmla="*/ 334 h 670"/>
              <a:gd name="T12" fmla="*/ 0 w 1523"/>
              <a:gd name="T13" fmla="*/ 670 h 670"/>
              <a:gd name="T14" fmla="*/ 0 w 1523"/>
              <a:gd name="T15" fmla="*/ 67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3" h="670">
                <a:moveTo>
                  <a:pt x="0" y="670"/>
                </a:moveTo>
                <a:lnTo>
                  <a:pt x="1190" y="670"/>
                </a:lnTo>
                <a:lnTo>
                  <a:pt x="1523" y="334"/>
                </a:lnTo>
                <a:lnTo>
                  <a:pt x="1190" y="0"/>
                </a:lnTo>
                <a:lnTo>
                  <a:pt x="0" y="0"/>
                </a:lnTo>
                <a:lnTo>
                  <a:pt x="336" y="334"/>
                </a:lnTo>
                <a:lnTo>
                  <a:pt x="0" y="670"/>
                </a:lnTo>
                <a:lnTo>
                  <a:pt x="0" y="670"/>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12" name="Freeform 12"/>
          <p:cNvSpPr/>
          <p:nvPr/>
        </p:nvSpPr>
        <p:spPr bwMode="auto">
          <a:xfrm>
            <a:off x="5848582" y="3014793"/>
            <a:ext cx="228006" cy="622470"/>
          </a:xfrm>
          <a:custGeom>
            <a:avLst/>
            <a:gdLst>
              <a:gd name="T0" fmla="*/ 69 w 69"/>
              <a:gd name="T1" fmla="*/ 63 h 188"/>
              <a:gd name="T2" fmla="*/ 41 w 69"/>
              <a:gd name="T3" fmla="*/ 63 h 188"/>
              <a:gd name="T4" fmla="*/ 41 w 69"/>
              <a:gd name="T5" fmla="*/ 126 h 188"/>
              <a:gd name="T6" fmla="*/ 66 w 69"/>
              <a:gd name="T7" fmla="*/ 157 h 188"/>
              <a:gd name="T8" fmla="*/ 35 w 69"/>
              <a:gd name="T9" fmla="*/ 188 h 188"/>
              <a:gd name="T10" fmla="*/ 3 w 69"/>
              <a:gd name="T11" fmla="*/ 157 h 188"/>
              <a:gd name="T12" fmla="*/ 28 w 69"/>
              <a:gd name="T13" fmla="*/ 126 h 188"/>
              <a:gd name="T14" fmla="*/ 28 w 69"/>
              <a:gd name="T15" fmla="*/ 63 h 188"/>
              <a:gd name="T16" fmla="*/ 0 w 69"/>
              <a:gd name="T17" fmla="*/ 63 h 188"/>
              <a:gd name="T18" fmla="*/ 35 w 69"/>
              <a:gd name="T19" fmla="*/ 0 h 188"/>
              <a:gd name="T20" fmla="*/ 69 w 69"/>
              <a:gd name="T21" fmla="*/ 6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69" y="63"/>
                </a:moveTo>
                <a:cubicBezTo>
                  <a:pt x="41" y="63"/>
                  <a:pt x="41" y="63"/>
                  <a:pt x="41" y="63"/>
                </a:cubicBezTo>
                <a:cubicBezTo>
                  <a:pt x="41" y="126"/>
                  <a:pt x="41" y="126"/>
                  <a:pt x="41" y="126"/>
                </a:cubicBezTo>
                <a:cubicBezTo>
                  <a:pt x="56"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lose/>
              </a:path>
            </a:pathLst>
          </a:custGeom>
          <a:solidFill>
            <a:schemeClr val="accent3"/>
          </a:solidFill>
          <a:ln>
            <a:noFill/>
          </a:ln>
        </p:spPr>
        <p:txBody>
          <a:bodyPr vert="horz" wrap="square" lIns="91440" tIns="45720" rIns="91440" bIns="45720" numCol="1" anchor="t" anchorCtr="0" compatLnSpc="1"/>
          <a:lstStyle/>
          <a:p>
            <a:endParaRPr lang="en-US"/>
          </a:p>
        </p:txBody>
      </p:sp>
      <p:grpSp>
        <p:nvGrpSpPr>
          <p:cNvPr id="13" name="Group 31"/>
          <p:cNvGrpSpPr/>
          <p:nvPr/>
        </p:nvGrpSpPr>
        <p:grpSpPr>
          <a:xfrm>
            <a:off x="6708848" y="3505774"/>
            <a:ext cx="2576605" cy="937202"/>
            <a:chOff x="7389855" y="4250913"/>
            <a:chExt cx="2343443" cy="852393"/>
          </a:xfrm>
        </p:grpSpPr>
        <p:sp>
          <p:nvSpPr>
            <p:cNvPr id="14" name="Freeform 6"/>
            <p:cNvSpPr/>
            <p:nvPr/>
          </p:nvSpPr>
          <p:spPr bwMode="auto">
            <a:xfrm>
              <a:off x="9101001" y="4253458"/>
              <a:ext cx="632297" cy="849848"/>
            </a:xfrm>
            <a:custGeom>
              <a:avLst/>
              <a:gdLst>
                <a:gd name="T0" fmla="*/ 161 w 497"/>
                <a:gd name="T1" fmla="*/ 0 h 668"/>
                <a:gd name="T2" fmla="*/ 497 w 497"/>
                <a:gd name="T3" fmla="*/ 334 h 668"/>
                <a:gd name="T4" fmla="*/ 161 w 497"/>
                <a:gd name="T5" fmla="*/ 668 h 668"/>
                <a:gd name="T6" fmla="*/ 0 w 497"/>
                <a:gd name="T7" fmla="*/ 668 h 668"/>
                <a:gd name="T8" fmla="*/ 336 w 497"/>
                <a:gd name="T9" fmla="*/ 334 h 668"/>
                <a:gd name="T10" fmla="*/ 0 w 497"/>
                <a:gd name="T11" fmla="*/ 0 h 668"/>
                <a:gd name="T12" fmla="*/ 161 w 497"/>
                <a:gd name="T13" fmla="*/ 0 h 668"/>
                <a:gd name="T14" fmla="*/ 161 w 497"/>
                <a:gd name="T15" fmla="*/ 0 h 6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7" h="668">
                  <a:moveTo>
                    <a:pt x="161" y="0"/>
                  </a:moveTo>
                  <a:lnTo>
                    <a:pt x="497" y="334"/>
                  </a:lnTo>
                  <a:lnTo>
                    <a:pt x="161" y="668"/>
                  </a:lnTo>
                  <a:lnTo>
                    <a:pt x="0" y="668"/>
                  </a:lnTo>
                  <a:lnTo>
                    <a:pt x="336" y="334"/>
                  </a:lnTo>
                  <a:lnTo>
                    <a:pt x="0" y="0"/>
                  </a:lnTo>
                  <a:lnTo>
                    <a:pt x="161" y="0"/>
                  </a:lnTo>
                  <a:lnTo>
                    <a:pt x="161" y="0"/>
                  </a:ln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15" name="Freeform 13"/>
            <p:cNvSpPr/>
            <p:nvPr/>
          </p:nvSpPr>
          <p:spPr bwMode="auto">
            <a:xfrm>
              <a:off x="7389855" y="4250913"/>
              <a:ext cx="1937603" cy="852392"/>
            </a:xfrm>
            <a:custGeom>
              <a:avLst/>
              <a:gdLst>
                <a:gd name="T0" fmla="*/ 0 w 1523"/>
                <a:gd name="T1" fmla="*/ 670 h 670"/>
                <a:gd name="T2" fmla="*/ 1189 w 1523"/>
                <a:gd name="T3" fmla="*/ 670 h 670"/>
                <a:gd name="T4" fmla="*/ 1523 w 1523"/>
                <a:gd name="T5" fmla="*/ 334 h 670"/>
                <a:gd name="T6" fmla="*/ 1189 w 1523"/>
                <a:gd name="T7" fmla="*/ 0 h 670"/>
                <a:gd name="T8" fmla="*/ 0 w 1523"/>
                <a:gd name="T9" fmla="*/ 0 h 670"/>
                <a:gd name="T10" fmla="*/ 333 w 1523"/>
                <a:gd name="T11" fmla="*/ 334 h 670"/>
                <a:gd name="T12" fmla="*/ 0 w 1523"/>
                <a:gd name="T13" fmla="*/ 670 h 670"/>
                <a:gd name="T14" fmla="*/ 0 w 1523"/>
                <a:gd name="T15" fmla="*/ 67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3" h="670">
                  <a:moveTo>
                    <a:pt x="0" y="670"/>
                  </a:moveTo>
                  <a:lnTo>
                    <a:pt x="1189" y="670"/>
                  </a:lnTo>
                  <a:lnTo>
                    <a:pt x="1523" y="334"/>
                  </a:lnTo>
                  <a:lnTo>
                    <a:pt x="1189" y="0"/>
                  </a:lnTo>
                  <a:lnTo>
                    <a:pt x="0" y="0"/>
                  </a:lnTo>
                  <a:lnTo>
                    <a:pt x="333" y="334"/>
                  </a:lnTo>
                  <a:lnTo>
                    <a:pt x="0" y="670"/>
                  </a:lnTo>
                  <a:lnTo>
                    <a:pt x="0" y="670"/>
                  </a:lnTo>
                  <a:close/>
                </a:path>
              </a:pathLst>
            </a:custGeom>
            <a:solidFill>
              <a:schemeClr val="accent4"/>
            </a:solidFill>
            <a:ln>
              <a:noFill/>
            </a:ln>
          </p:spPr>
          <p:txBody>
            <a:bodyPr vert="horz" wrap="square" lIns="91440" tIns="45720" rIns="91440" bIns="45720" numCol="1" anchor="t" anchorCtr="0" compatLnSpc="1"/>
            <a:lstStyle/>
            <a:p>
              <a:endParaRPr lang="en-US"/>
            </a:p>
          </p:txBody>
        </p:sp>
      </p:grpSp>
      <p:sp>
        <p:nvSpPr>
          <p:cNvPr id="16" name="Freeform 14"/>
          <p:cNvSpPr/>
          <p:nvPr/>
        </p:nvSpPr>
        <p:spPr bwMode="auto">
          <a:xfrm>
            <a:off x="7415723" y="3005903"/>
            <a:ext cx="228006" cy="622470"/>
          </a:xfrm>
          <a:custGeom>
            <a:avLst/>
            <a:gdLst>
              <a:gd name="T0" fmla="*/ 69 w 69"/>
              <a:gd name="T1" fmla="*/ 63 h 188"/>
              <a:gd name="T2" fmla="*/ 41 w 69"/>
              <a:gd name="T3" fmla="*/ 63 h 188"/>
              <a:gd name="T4" fmla="*/ 41 w 69"/>
              <a:gd name="T5" fmla="*/ 126 h 188"/>
              <a:gd name="T6" fmla="*/ 66 w 69"/>
              <a:gd name="T7" fmla="*/ 157 h 188"/>
              <a:gd name="T8" fmla="*/ 35 w 69"/>
              <a:gd name="T9" fmla="*/ 188 h 188"/>
              <a:gd name="T10" fmla="*/ 3 w 69"/>
              <a:gd name="T11" fmla="*/ 157 h 188"/>
              <a:gd name="T12" fmla="*/ 28 w 69"/>
              <a:gd name="T13" fmla="*/ 126 h 188"/>
              <a:gd name="T14" fmla="*/ 28 w 69"/>
              <a:gd name="T15" fmla="*/ 63 h 188"/>
              <a:gd name="T16" fmla="*/ 0 w 69"/>
              <a:gd name="T17" fmla="*/ 63 h 188"/>
              <a:gd name="T18" fmla="*/ 35 w 69"/>
              <a:gd name="T19" fmla="*/ 0 h 188"/>
              <a:gd name="T20" fmla="*/ 69 w 69"/>
              <a:gd name="T21" fmla="*/ 6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69" y="63"/>
                </a:moveTo>
                <a:cubicBezTo>
                  <a:pt x="41" y="63"/>
                  <a:pt x="41" y="63"/>
                  <a:pt x="41" y="63"/>
                </a:cubicBezTo>
                <a:cubicBezTo>
                  <a:pt x="41" y="126"/>
                  <a:pt x="41" y="126"/>
                  <a:pt x="41" y="126"/>
                </a:cubicBezTo>
                <a:cubicBezTo>
                  <a:pt x="56"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17" name="Freeform 15"/>
          <p:cNvSpPr/>
          <p:nvPr/>
        </p:nvSpPr>
        <p:spPr bwMode="auto">
          <a:xfrm>
            <a:off x="789940" y="2519680"/>
            <a:ext cx="10454005" cy="1552575"/>
          </a:xfrm>
          <a:custGeom>
            <a:avLst/>
            <a:gdLst>
              <a:gd name="T0" fmla="*/ 2837 w 2837"/>
              <a:gd name="T1" fmla="*/ 419 h 469"/>
              <a:gd name="T2" fmla="*/ 2788 w 2837"/>
              <a:gd name="T3" fmla="*/ 469 h 469"/>
              <a:gd name="T4" fmla="*/ 2739 w 2837"/>
              <a:gd name="T5" fmla="*/ 419 h 469"/>
              <a:gd name="T6" fmla="*/ 2751 w 2837"/>
              <a:gd name="T7" fmla="*/ 397 h 469"/>
              <a:gd name="T8" fmla="*/ 2776 w 2837"/>
              <a:gd name="T9" fmla="*/ 422 h 469"/>
              <a:gd name="T10" fmla="*/ 2353 w 2837"/>
              <a:gd name="T11" fmla="*/ 23 h 469"/>
              <a:gd name="T12" fmla="*/ 445 w 2837"/>
              <a:gd name="T13" fmla="*/ 23 h 469"/>
              <a:gd name="T14" fmla="*/ 23 w 2837"/>
              <a:gd name="T15" fmla="*/ 409 h 469"/>
              <a:gd name="T16" fmla="*/ 10 w 2837"/>
              <a:gd name="T17" fmla="*/ 397 h 469"/>
              <a:gd name="T18" fmla="*/ 0 w 2837"/>
              <a:gd name="T19" fmla="*/ 407 h 469"/>
              <a:gd name="T20" fmla="*/ 445 w 2837"/>
              <a:gd name="T21" fmla="*/ 0 h 469"/>
              <a:gd name="T22" fmla="*/ 2353 w 2837"/>
              <a:gd name="T23" fmla="*/ 0 h 469"/>
              <a:gd name="T24" fmla="*/ 2799 w 2837"/>
              <a:gd name="T25" fmla="*/ 423 h 469"/>
              <a:gd name="T26" fmla="*/ 2825 w 2837"/>
              <a:gd name="T27" fmla="*/ 397 h 469"/>
              <a:gd name="T28" fmla="*/ 2837 w 2837"/>
              <a:gd name="T29" fmla="*/ 41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7" h="469">
                <a:moveTo>
                  <a:pt x="2837" y="419"/>
                </a:moveTo>
                <a:cubicBezTo>
                  <a:pt x="2788" y="469"/>
                  <a:pt x="2788" y="469"/>
                  <a:pt x="2788" y="469"/>
                </a:cubicBezTo>
                <a:cubicBezTo>
                  <a:pt x="2739" y="419"/>
                  <a:pt x="2739" y="419"/>
                  <a:pt x="2739" y="419"/>
                </a:cubicBezTo>
                <a:cubicBezTo>
                  <a:pt x="2751" y="397"/>
                  <a:pt x="2751" y="397"/>
                  <a:pt x="2751" y="397"/>
                </a:cubicBezTo>
                <a:cubicBezTo>
                  <a:pt x="2776" y="422"/>
                  <a:pt x="2776" y="422"/>
                  <a:pt x="2776" y="422"/>
                </a:cubicBezTo>
                <a:cubicBezTo>
                  <a:pt x="2763" y="200"/>
                  <a:pt x="2578" y="23"/>
                  <a:pt x="2353" y="23"/>
                </a:cubicBezTo>
                <a:cubicBezTo>
                  <a:pt x="1717" y="23"/>
                  <a:pt x="1081" y="23"/>
                  <a:pt x="445" y="23"/>
                </a:cubicBezTo>
                <a:cubicBezTo>
                  <a:pt x="224" y="23"/>
                  <a:pt x="42" y="194"/>
                  <a:pt x="23" y="409"/>
                </a:cubicBezTo>
                <a:cubicBezTo>
                  <a:pt x="10" y="397"/>
                  <a:pt x="10" y="397"/>
                  <a:pt x="10" y="397"/>
                </a:cubicBezTo>
                <a:cubicBezTo>
                  <a:pt x="0" y="407"/>
                  <a:pt x="0" y="407"/>
                  <a:pt x="0" y="407"/>
                </a:cubicBezTo>
                <a:cubicBezTo>
                  <a:pt x="21" y="180"/>
                  <a:pt x="213" y="0"/>
                  <a:pt x="445" y="0"/>
                </a:cubicBezTo>
                <a:cubicBezTo>
                  <a:pt x="1081" y="0"/>
                  <a:pt x="1717" y="0"/>
                  <a:pt x="2353" y="0"/>
                </a:cubicBezTo>
                <a:cubicBezTo>
                  <a:pt x="2591" y="0"/>
                  <a:pt x="2786" y="188"/>
                  <a:pt x="2799" y="423"/>
                </a:cubicBezTo>
                <a:cubicBezTo>
                  <a:pt x="2825" y="397"/>
                  <a:pt x="2825" y="397"/>
                  <a:pt x="2825" y="397"/>
                </a:cubicBezTo>
                <a:cubicBezTo>
                  <a:pt x="2837" y="419"/>
                  <a:pt x="2837" y="419"/>
                  <a:pt x="2837" y="419"/>
                </a:cubicBezTo>
                <a:close/>
              </a:path>
            </a:pathLst>
          </a:custGeom>
          <a:solidFill>
            <a:schemeClr val="tx1">
              <a:lumMod val="10000"/>
              <a:lumOff val="90000"/>
            </a:schemeClr>
          </a:solidFill>
          <a:ln>
            <a:noFill/>
          </a:ln>
        </p:spPr>
        <p:txBody>
          <a:bodyPr vert="horz" wrap="square" lIns="91440" tIns="45720" rIns="91440" bIns="45720" numCol="1" anchor="t" anchorCtr="0" compatLnSpc="1"/>
          <a:lstStyle/>
          <a:p>
            <a:endParaRPr lang="en-US"/>
          </a:p>
        </p:txBody>
      </p:sp>
      <p:sp>
        <p:nvSpPr>
          <p:cNvPr id="18" name="Freeform 16"/>
          <p:cNvSpPr/>
          <p:nvPr/>
        </p:nvSpPr>
        <p:spPr bwMode="auto">
          <a:xfrm>
            <a:off x="681948" y="3815159"/>
            <a:ext cx="1948540" cy="1642200"/>
          </a:xfrm>
          <a:custGeom>
            <a:avLst/>
            <a:gdLst>
              <a:gd name="T0" fmla="*/ 99 w 589"/>
              <a:gd name="T1" fmla="*/ 49 h 496"/>
              <a:gd name="T2" fmla="*/ 49 w 589"/>
              <a:gd name="T3" fmla="*/ 0 h 496"/>
              <a:gd name="T4" fmla="*/ 0 w 589"/>
              <a:gd name="T5" fmla="*/ 49 h 496"/>
              <a:gd name="T6" fmla="*/ 12 w 589"/>
              <a:gd name="T7" fmla="*/ 72 h 496"/>
              <a:gd name="T8" fmla="*/ 38 w 589"/>
              <a:gd name="T9" fmla="*/ 47 h 496"/>
              <a:gd name="T10" fmla="*/ 38 w 589"/>
              <a:gd name="T11" fmla="*/ 50 h 496"/>
              <a:gd name="T12" fmla="*/ 484 w 589"/>
              <a:gd name="T13" fmla="*/ 496 h 496"/>
              <a:gd name="T14" fmla="*/ 586 w 589"/>
              <a:gd name="T15" fmla="*/ 496 h 496"/>
              <a:gd name="T16" fmla="*/ 576 w 589"/>
              <a:gd name="T17" fmla="*/ 486 h 496"/>
              <a:gd name="T18" fmla="*/ 589 w 589"/>
              <a:gd name="T19" fmla="*/ 473 h 496"/>
              <a:gd name="T20" fmla="*/ 484 w 589"/>
              <a:gd name="T21" fmla="*/ 473 h 496"/>
              <a:gd name="T22" fmla="*/ 60 w 589"/>
              <a:gd name="T23" fmla="*/ 50 h 496"/>
              <a:gd name="T24" fmla="*/ 60 w 589"/>
              <a:gd name="T25" fmla="*/ 46 h 496"/>
              <a:gd name="T26" fmla="*/ 86 w 589"/>
              <a:gd name="T27" fmla="*/ 72 h 496"/>
              <a:gd name="T28" fmla="*/ 99 w 589"/>
              <a:gd name="T29" fmla="*/ 49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9" h="496">
                <a:moveTo>
                  <a:pt x="99" y="49"/>
                </a:moveTo>
                <a:cubicBezTo>
                  <a:pt x="49" y="0"/>
                  <a:pt x="49" y="0"/>
                  <a:pt x="49" y="0"/>
                </a:cubicBezTo>
                <a:cubicBezTo>
                  <a:pt x="0" y="49"/>
                  <a:pt x="0" y="49"/>
                  <a:pt x="0" y="49"/>
                </a:cubicBezTo>
                <a:cubicBezTo>
                  <a:pt x="12" y="72"/>
                  <a:pt x="12" y="72"/>
                  <a:pt x="12" y="72"/>
                </a:cubicBezTo>
                <a:cubicBezTo>
                  <a:pt x="38" y="47"/>
                  <a:pt x="38" y="47"/>
                  <a:pt x="38" y="47"/>
                </a:cubicBezTo>
                <a:cubicBezTo>
                  <a:pt x="38" y="48"/>
                  <a:pt x="38" y="49"/>
                  <a:pt x="38" y="50"/>
                </a:cubicBezTo>
                <a:cubicBezTo>
                  <a:pt x="38" y="295"/>
                  <a:pt x="238" y="496"/>
                  <a:pt x="484" y="496"/>
                </a:cubicBezTo>
                <a:cubicBezTo>
                  <a:pt x="586" y="496"/>
                  <a:pt x="586" y="496"/>
                  <a:pt x="586" y="496"/>
                </a:cubicBezTo>
                <a:cubicBezTo>
                  <a:pt x="576" y="486"/>
                  <a:pt x="576" y="486"/>
                  <a:pt x="576" y="486"/>
                </a:cubicBezTo>
                <a:cubicBezTo>
                  <a:pt x="589" y="473"/>
                  <a:pt x="589" y="473"/>
                  <a:pt x="589" y="473"/>
                </a:cubicBezTo>
                <a:cubicBezTo>
                  <a:pt x="484" y="473"/>
                  <a:pt x="484" y="473"/>
                  <a:pt x="484" y="473"/>
                </a:cubicBezTo>
                <a:cubicBezTo>
                  <a:pt x="251" y="473"/>
                  <a:pt x="60" y="283"/>
                  <a:pt x="60" y="50"/>
                </a:cubicBezTo>
                <a:cubicBezTo>
                  <a:pt x="60" y="48"/>
                  <a:pt x="60" y="47"/>
                  <a:pt x="60" y="46"/>
                </a:cubicBezTo>
                <a:cubicBezTo>
                  <a:pt x="86" y="72"/>
                  <a:pt x="86" y="72"/>
                  <a:pt x="86" y="72"/>
                </a:cubicBezTo>
                <a:cubicBezTo>
                  <a:pt x="99" y="49"/>
                  <a:pt x="99" y="49"/>
                  <a:pt x="99" y="49"/>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19" name="Freeform 17"/>
          <p:cNvSpPr/>
          <p:nvPr/>
        </p:nvSpPr>
        <p:spPr bwMode="auto">
          <a:xfrm>
            <a:off x="2587125" y="5258729"/>
            <a:ext cx="2639551" cy="327321"/>
          </a:xfrm>
          <a:custGeom>
            <a:avLst/>
            <a:gdLst>
              <a:gd name="T0" fmla="*/ 118 w 1887"/>
              <a:gd name="T1" fmla="*/ 234 h 234"/>
              <a:gd name="T2" fmla="*/ 0 w 1887"/>
              <a:gd name="T3" fmla="*/ 118 h 234"/>
              <a:gd name="T4" fmla="*/ 118 w 1887"/>
              <a:gd name="T5" fmla="*/ 0 h 234"/>
              <a:gd name="T6" fmla="*/ 173 w 1887"/>
              <a:gd name="T7" fmla="*/ 30 h 234"/>
              <a:gd name="T8" fmla="*/ 114 w 1887"/>
              <a:gd name="T9" fmla="*/ 87 h 234"/>
              <a:gd name="T10" fmla="*/ 1887 w 1887"/>
              <a:gd name="T11" fmla="*/ 87 h 234"/>
              <a:gd name="T12" fmla="*/ 1857 w 1887"/>
              <a:gd name="T13" fmla="*/ 118 h 234"/>
              <a:gd name="T14" fmla="*/ 1880 w 1887"/>
              <a:gd name="T15" fmla="*/ 142 h 234"/>
              <a:gd name="T16" fmla="*/ 109 w 1887"/>
              <a:gd name="T17" fmla="*/ 142 h 234"/>
              <a:gd name="T18" fmla="*/ 173 w 1887"/>
              <a:gd name="T19" fmla="*/ 206 h 234"/>
              <a:gd name="T20" fmla="*/ 118 w 1887"/>
              <a:gd name="T21" fmla="*/ 234 h 234"/>
              <a:gd name="T22" fmla="*/ 118 w 1887"/>
              <a:gd name="T23"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7" h="234">
                <a:moveTo>
                  <a:pt x="118" y="234"/>
                </a:moveTo>
                <a:lnTo>
                  <a:pt x="0" y="118"/>
                </a:lnTo>
                <a:lnTo>
                  <a:pt x="118" y="0"/>
                </a:lnTo>
                <a:lnTo>
                  <a:pt x="173" y="30"/>
                </a:lnTo>
                <a:lnTo>
                  <a:pt x="114" y="87"/>
                </a:lnTo>
                <a:lnTo>
                  <a:pt x="1887" y="87"/>
                </a:lnTo>
                <a:lnTo>
                  <a:pt x="1857" y="118"/>
                </a:lnTo>
                <a:lnTo>
                  <a:pt x="1880" y="142"/>
                </a:lnTo>
                <a:lnTo>
                  <a:pt x="109" y="142"/>
                </a:lnTo>
                <a:lnTo>
                  <a:pt x="173" y="206"/>
                </a:lnTo>
                <a:lnTo>
                  <a:pt x="118" y="234"/>
                </a:lnTo>
                <a:lnTo>
                  <a:pt x="118" y="234"/>
                </a:ln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20" name="Freeform 18"/>
          <p:cNvSpPr/>
          <p:nvPr/>
        </p:nvSpPr>
        <p:spPr bwMode="auto">
          <a:xfrm>
            <a:off x="5184775" y="5258435"/>
            <a:ext cx="3679825" cy="327025"/>
          </a:xfrm>
          <a:custGeom>
            <a:avLst/>
            <a:gdLst>
              <a:gd name="T0" fmla="*/ 118 w 1885"/>
              <a:gd name="T1" fmla="*/ 234 h 234"/>
              <a:gd name="T2" fmla="*/ 0 w 1885"/>
              <a:gd name="T3" fmla="*/ 118 h 234"/>
              <a:gd name="T4" fmla="*/ 118 w 1885"/>
              <a:gd name="T5" fmla="*/ 0 h 234"/>
              <a:gd name="T6" fmla="*/ 172 w 1885"/>
              <a:gd name="T7" fmla="*/ 30 h 234"/>
              <a:gd name="T8" fmla="*/ 113 w 1885"/>
              <a:gd name="T9" fmla="*/ 87 h 234"/>
              <a:gd name="T10" fmla="*/ 1885 w 1885"/>
              <a:gd name="T11" fmla="*/ 87 h 234"/>
              <a:gd name="T12" fmla="*/ 1854 w 1885"/>
              <a:gd name="T13" fmla="*/ 118 h 234"/>
              <a:gd name="T14" fmla="*/ 1877 w 1885"/>
              <a:gd name="T15" fmla="*/ 142 h 234"/>
              <a:gd name="T16" fmla="*/ 109 w 1885"/>
              <a:gd name="T17" fmla="*/ 142 h 234"/>
              <a:gd name="T18" fmla="*/ 172 w 1885"/>
              <a:gd name="T19" fmla="*/ 206 h 234"/>
              <a:gd name="T20" fmla="*/ 118 w 1885"/>
              <a:gd name="T21" fmla="*/ 234 h 234"/>
              <a:gd name="T22" fmla="*/ 118 w 1885"/>
              <a:gd name="T23"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85" h="234">
                <a:moveTo>
                  <a:pt x="118" y="234"/>
                </a:moveTo>
                <a:lnTo>
                  <a:pt x="0" y="118"/>
                </a:lnTo>
                <a:lnTo>
                  <a:pt x="118" y="0"/>
                </a:lnTo>
                <a:lnTo>
                  <a:pt x="172" y="30"/>
                </a:lnTo>
                <a:lnTo>
                  <a:pt x="113" y="87"/>
                </a:lnTo>
                <a:lnTo>
                  <a:pt x="1885" y="87"/>
                </a:lnTo>
                <a:lnTo>
                  <a:pt x="1854" y="118"/>
                </a:lnTo>
                <a:lnTo>
                  <a:pt x="1877" y="142"/>
                </a:lnTo>
                <a:lnTo>
                  <a:pt x="109" y="142"/>
                </a:lnTo>
                <a:lnTo>
                  <a:pt x="172" y="206"/>
                </a:lnTo>
                <a:lnTo>
                  <a:pt x="118" y="234"/>
                </a:lnTo>
                <a:lnTo>
                  <a:pt x="118" y="234"/>
                </a:ln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21" name="Freeform 19"/>
          <p:cNvSpPr/>
          <p:nvPr/>
        </p:nvSpPr>
        <p:spPr bwMode="auto">
          <a:xfrm>
            <a:off x="8792197" y="4015952"/>
            <a:ext cx="2292647" cy="1569463"/>
          </a:xfrm>
          <a:custGeom>
            <a:avLst/>
            <a:gdLst>
              <a:gd name="T0" fmla="*/ 50 w 693"/>
              <a:gd name="T1" fmla="*/ 474 h 474"/>
              <a:gd name="T2" fmla="*/ 0 w 693"/>
              <a:gd name="T3" fmla="*/ 425 h 474"/>
              <a:gd name="T4" fmla="*/ 50 w 693"/>
              <a:gd name="T5" fmla="*/ 375 h 474"/>
              <a:gd name="T6" fmla="*/ 72 w 693"/>
              <a:gd name="T7" fmla="*/ 388 h 474"/>
              <a:gd name="T8" fmla="*/ 48 w 693"/>
              <a:gd name="T9" fmla="*/ 412 h 474"/>
              <a:gd name="T10" fmla="*/ 247 w 693"/>
              <a:gd name="T11" fmla="*/ 412 h 474"/>
              <a:gd name="T12" fmla="*/ 670 w 693"/>
              <a:gd name="T13" fmla="*/ 0 h 474"/>
              <a:gd name="T14" fmla="*/ 682 w 693"/>
              <a:gd name="T15" fmla="*/ 11 h 474"/>
              <a:gd name="T16" fmla="*/ 693 w 693"/>
              <a:gd name="T17" fmla="*/ 0 h 474"/>
              <a:gd name="T18" fmla="*/ 247 w 693"/>
              <a:gd name="T19" fmla="*/ 435 h 474"/>
              <a:gd name="T20" fmla="*/ 45 w 693"/>
              <a:gd name="T21" fmla="*/ 435 h 474"/>
              <a:gd name="T22" fmla="*/ 72 w 693"/>
              <a:gd name="T23" fmla="*/ 462 h 474"/>
              <a:gd name="T24" fmla="*/ 50 w 693"/>
              <a:gd name="T25" fmla="*/ 474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3" h="474">
                <a:moveTo>
                  <a:pt x="50" y="474"/>
                </a:moveTo>
                <a:cubicBezTo>
                  <a:pt x="0" y="425"/>
                  <a:pt x="0" y="425"/>
                  <a:pt x="0" y="425"/>
                </a:cubicBezTo>
                <a:cubicBezTo>
                  <a:pt x="50" y="375"/>
                  <a:pt x="50" y="375"/>
                  <a:pt x="50" y="375"/>
                </a:cubicBezTo>
                <a:cubicBezTo>
                  <a:pt x="72" y="388"/>
                  <a:pt x="72" y="388"/>
                  <a:pt x="72" y="388"/>
                </a:cubicBezTo>
                <a:cubicBezTo>
                  <a:pt x="48" y="412"/>
                  <a:pt x="48" y="412"/>
                  <a:pt x="48" y="412"/>
                </a:cubicBezTo>
                <a:cubicBezTo>
                  <a:pt x="247" y="412"/>
                  <a:pt x="247" y="412"/>
                  <a:pt x="247" y="412"/>
                </a:cubicBezTo>
                <a:cubicBezTo>
                  <a:pt x="476" y="412"/>
                  <a:pt x="665" y="227"/>
                  <a:pt x="670" y="0"/>
                </a:cubicBezTo>
                <a:cubicBezTo>
                  <a:pt x="682" y="11"/>
                  <a:pt x="682" y="11"/>
                  <a:pt x="682" y="11"/>
                </a:cubicBezTo>
                <a:cubicBezTo>
                  <a:pt x="693" y="0"/>
                  <a:pt x="693" y="0"/>
                  <a:pt x="693" y="0"/>
                </a:cubicBezTo>
                <a:cubicBezTo>
                  <a:pt x="687" y="240"/>
                  <a:pt x="489" y="435"/>
                  <a:pt x="247" y="435"/>
                </a:cubicBezTo>
                <a:cubicBezTo>
                  <a:pt x="45" y="435"/>
                  <a:pt x="45" y="435"/>
                  <a:pt x="45" y="435"/>
                </a:cubicBezTo>
                <a:cubicBezTo>
                  <a:pt x="72" y="462"/>
                  <a:pt x="72" y="462"/>
                  <a:pt x="72" y="462"/>
                </a:cubicBezTo>
                <a:cubicBezTo>
                  <a:pt x="50" y="474"/>
                  <a:pt x="50" y="474"/>
                  <a:pt x="50" y="474"/>
                </a:cubicBezTo>
                <a:close/>
              </a:path>
            </a:pathLst>
          </a:custGeom>
          <a:solidFill>
            <a:schemeClr val="accent4"/>
          </a:solidFill>
          <a:ln>
            <a:noFill/>
          </a:ln>
        </p:spPr>
        <p:txBody>
          <a:bodyPr vert="horz" wrap="square" lIns="91440" tIns="45720" rIns="91440" bIns="45720" numCol="1" anchor="t" anchorCtr="0" compatLnSpc="1"/>
          <a:lstStyle/>
          <a:p>
            <a:endParaRPr lang="en-US"/>
          </a:p>
        </p:txBody>
      </p:sp>
      <p:sp>
        <p:nvSpPr>
          <p:cNvPr id="22" name="Oval 20"/>
          <p:cNvSpPr>
            <a:spLocks noChangeArrowheads="1"/>
          </p:cNvSpPr>
          <p:nvPr/>
        </p:nvSpPr>
        <p:spPr bwMode="auto">
          <a:xfrm>
            <a:off x="3900646" y="2152333"/>
            <a:ext cx="766735" cy="766735"/>
          </a:xfrm>
          <a:prstGeom prst="ellipse">
            <a:avLst/>
          </a:prstGeom>
          <a:solidFill>
            <a:schemeClr val="accent2"/>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3" name="Oval 22"/>
          <p:cNvSpPr>
            <a:spLocks noChangeArrowheads="1"/>
          </p:cNvSpPr>
          <p:nvPr/>
        </p:nvSpPr>
        <p:spPr bwMode="auto">
          <a:xfrm>
            <a:off x="5580616" y="2152333"/>
            <a:ext cx="766735" cy="766735"/>
          </a:xfrm>
          <a:prstGeom prst="ellipse">
            <a:avLst/>
          </a:prstGeom>
          <a:solidFill>
            <a:schemeClr val="accent3"/>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4" name="Oval 24"/>
          <p:cNvSpPr>
            <a:spLocks noChangeArrowheads="1"/>
          </p:cNvSpPr>
          <p:nvPr/>
        </p:nvSpPr>
        <p:spPr bwMode="auto">
          <a:xfrm>
            <a:off x="7115327" y="2150428"/>
            <a:ext cx="770379" cy="766735"/>
          </a:xfrm>
          <a:prstGeom prst="ellipse">
            <a:avLst/>
          </a:prstGeom>
          <a:solidFill>
            <a:schemeClr val="accent4"/>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25" name="Oval 26"/>
          <p:cNvSpPr>
            <a:spLocks noChangeArrowheads="1"/>
          </p:cNvSpPr>
          <p:nvPr/>
        </p:nvSpPr>
        <p:spPr bwMode="auto">
          <a:xfrm>
            <a:off x="2225851" y="2152333"/>
            <a:ext cx="770379" cy="766735"/>
          </a:xfrm>
          <a:prstGeom prst="ellipse">
            <a:avLst/>
          </a:prstGeom>
          <a:solidFill>
            <a:schemeClr val="accent1"/>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sp>
        <p:nvSpPr>
          <p:cNvPr id="30" name="Inhaltsplatzhalter 4"/>
          <p:cNvSpPr txBox="1"/>
          <p:nvPr/>
        </p:nvSpPr>
        <p:spPr>
          <a:xfrm>
            <a:off x="1948018" y="3855935"/>
            <a:ext cx="1330084" cy="21526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latin typeface="+mj-lt"/>
              </a:rPr>
              <a:t>创建角色</a:t>
            </a:r>
          </a:p>
        </p:txBody>
      </p:sp>
      <p:sp>
        <p:nvSpPr>
          <p:cNvPr id="31" name="Inhaltsplatzhalter 4"/>
          <p:cNvSpPr txBox="1"/>
          <p:nvPr/>
        </p:nvSpPr>
        <p:spPr>
          <a:xfrm>
            <a:off x="7076865" y="3887050"/>
            <a:ext cx="1330084" cy="21526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latin typeface="+mj-lt"/>
              </a:rPr>
              <a:t>角色用户激活</a:t>
            </a:r>
          </a:p>
        </p:txBody>
      </p:sp>
      <p:sp>
        <p:nvSpPr>
          <p:cNvPr id="32" name="Inhaltsplatzhalter 4"/>
          <p:cNvSpPr txBox="1"/>
          <p:nvPr/>
        </p:nvSpPr>
        <p:spPr>
          <a:xfrm>
            <a:off x="3811284" y="3855935"/>
            <a:ext cx="1330084" cy="21526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latin typeface="+mj-lt"/>
              </a:rPr>
              <a:t>为角色授权</a:t>
            </a:r>
          </a:p>
        </p:txBody>
      </p:sp>
      <p:sp>
        <p:nvSpPr>
          <p:cNvPr id="33" name="Inhaltsplatzhalter 4"/>
          <p:cNvSpPr txBox="1"/>
          <p:nvPr/>
        </p:nvSpPr>
        <p:spPr>
          <a:xfrm>
            <a:off x="5514267" y="3855935"/>
            <a:ext cx="1330084" cy="430530"/>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latin typeface="+mj-lt"/>
              </a:rPr>
              <a:t>将角色分配给用户</a:t>
            </a:r>
          </a:p>
        </p:txBody>
      </p:sp>
      <p:grpSp>
        <p:nvGrpSpPr>
          <p:cNvPr id="34" name="Group 36"/>
          <p:cNvGrpSpPr/>
          <p:nvPr/>
        </p:nvGrpSpPr>
        <p:grpSpPr>
          <a:xfrm>
            <a:off x="2387298" y="2317740"/>
            <a:ext cx="448352" cy="447193"/>
            <a:chOff x="674688" y="3432176"/>
            <a:chExt cx="614363" cy="612775"/>
          </a:xfrm>
          <a:solidFill>
            <a:schemeClr val="bg1"/>
          </a:solidFill>
        </p:grpSpPr>
        <p:sp>
          <p:nvSpPr>
            <p:cNvPr id="35" name="Freeform 37"/>
            <p:cNvSpPr/>
            <p:nvPr/>
          </p:nvSpPr>
          <p:spPr bwMode="auto">
            <a:xfrm>
              <a:off x="674688" y="3432176"/>
              <a:ext cx="361950" cy="287338"/>
            </a:xfrm>
            <a:custGeom>
              <a:avLst/>
              <a:gdLst>
                <a:gd name="T0" fmla="*/ 1151 w 2052"/>
                <a:gd name="T1" fmla="*/ 3 h 1632"/>
                <a:gd name="T2" fmla="*/ 1296 w 2052"/>
                <a:gd name="T3" fmla="*/ 22 h 1632"/>
                <a:gd name="T4" fmla="*/ 1436 w 2052"/>
                <a:gd name="T5" fmla="*/ 60 h 1632"/>
                <a:gd name="T6" fmla="*/ 1569 w 2052"/>
                <a:gd name="T7" fmla="*/ 116 h 1632"/>
                <a:gd name="T8" fmla="*/ 1694 w 2052"/>
                <a:gd name="T9" fmla="*/ 189 h 1632"/>
                <a:gd name="T10" fmla="*/ 1810 w 2052"/>
                <a:gd name="T11" fmla="*/ 280 h 1632"/>
                <a:gd name="T12" fmla="*/ 1914 w 2052"/>
                <a:gd name="T13" fmla="*/ 386 h 1632"/>
                <a:gd name="T14" fmla="*/ 2003 w 2052"/>
                <a:gd name="T15" fmla="*/ 509 h 1632"/>
                <a:gd name="T16" fmla="*/ 2050 w 2052"/>
                <a:gd name="T17" fmla="*/ 594 h 1632"/>
                <a:gd name="T18" fmla="*/ 2049 w 2052"/>
                <a:gd name="T19" fmla="*/ 632 h 1632"/>
                <a:gd name="T20" fmla="*/ 2029 w 2052"/>
                <a:gd name="T21" fmla="*/ 666 h 1632"/>
                <a:gd name="T22" fmla="*/ 1993 w 2052"/>
                <a:gd name="T23" fmla="*/ 686 h 1632"/>
                <a:gd name="T24" fmla="*/ 1954 w 2052"/>
                <a:gd name="T25" fmla="*/ 686 h 1632"/>
                <a:gd name="T26" fmla="*/ 1920 w 2052"/>
                <a:gd name="T27" fmla="*/ 665 h 1632"/>
                <a:gd name="T28" fmla="*/ 1872 w 2052"/>
                <a:gd name="T29" fmla="*/ 585 h 1632"/>
                <a:gd name="T30" fmla="*/ 1788 w 2052"/>
                <a:gd name="T31" fmla="*/ 467 h 1632"/>
                <a:gd name="T32" fmla="*/ 1689 w 2052"/>
                <a:gd name="T33" fmla="*/ 367 h 1632"/>
                <a:gd name="T34" fmla="*/ 1579 w 2052"/>
                <a:gd name="T35" fmla="*/ 285 h 1632"/>
                <a:gd name="T36" fmla="*/ 1458 w 2052"/>
                <a:gd name="T37" fmla="*/ 221 h 1632"/>
                <a:gd name="T38" fmla="*/ 1329 w 2052"/>
                <a:gd name="T39" fmla="*/ 175 h 1632"/>
                <a:gd name="T40" fmla="*/ 1196 w 2052"/>
                <a:gd name="T41" fmla="*/ 150 h 1632"/>
                <a:gd name="T42" fmla="*/ 1058 w 2052"/>
                <a:gd name="T43" fmla="*/ 143 h 1632"/>
                <a:gd name="T44" fmla="*/ 920 w 2052"/>
                <a:gd name="T45" fmla="*/ 158 h 1632"/>
                <a:gd name="T46" fmla="*/ 783 w 2052"/>
                <a:gd name="T47" fmla="*/ 195 h 1632"/>
                <a:gd name="T48" fmla="*/ 648 w 2052"/>
                <a:gd name="T49" fmla="*/ 253 h 1632"/>
                <a:gd name="T50" fmla="*/ 525 w 2052"/>
                <a:gd name="T51" fmla="*/ 332 h 1632"/>
                <a:gd name="T52" fmla="*/ 418 w 2052"/>
                <a:gd name="T53" fmla="*/ 425 h 1632"/>
                <a:gd name="T54" fmla="*/ 328 w 2052"/>
                <a:gd name="T55" fmla="*/ 532 h 1632"/>
                <a:gd name="T56" fmla="*/ 256 w 2052"/>
                <a:gd name="T57" fmla="*/ 649 h 1632"/>
                <a:gd name="T58" fmla="*/ 202 w 2052"/>
                <a:gd name="T59" fmla="*/ 776 h 1632"/>
                <a:gd name="T60" fmla="*/ 167 w 2052"/>
                <a:gd name="T61" fmla="*/ 909 h 1632"/>
                <a:gd name="T62" fmla="*/ 151 w 2052"/>
                <a:gd name="T63" fmla="*/ 1045 h 1632"/>
                <a:gd name="T64" fmla="*/ 155 w 2052"/>
                <a:gd name="T65" fmla="*/ 1183 h 1632"/>
                <a:gd name="T66" fmla="*/ 181 w 2052"/>
                <a:gd name="T67" fmla="*/ 1320 h 1632"/>
                <a:gd name="T68" fmla="*/ 228 w 2052"/>
                <a:gd name="T69" fmla="*/ 1455 h 1632"/>
                <a:gd name="T70" fmla="*/ 268 w 2052"/>
                <a:gd name="T71" fmla="*/ 1540 h 1632"/>
                <a:gd name="T72" fmla="*/ 267 w 2052"/>
                <a:gd name="T73" fmla="*/ 1578 h 1632"/>
                <a:gd name="T74" fmla="*/ 247 w 2052"/>
                <a:gd name="T75" fmla="*/ 1610 h 1632"/>
                <a:gd name="T76" fmla="*/ 211 w 2052"/>
                <a:gd name="T77" fmla="*/ 1631 h 1632"/>
                <a:gd name="T78" fmla="*/ 175 w 2052"/>
                <a:gd name="T79" fmla="*/ 1628 h 1632"/>
                <a:gd name="T80" fmla="*/ 145 w 2052"/>
                <a:gd name="T81" fmla="*/ 1614 h 1632"/>
                <a:gd name="T82" fmla="*/ 127 w 2052"/>
                <a:gd name="T83" fmla="*/ 1594 h 1632"/>
                <a:gd name="T84" fmla="*/ 65 w 2052"/>
                <a:gd name="T85" fmla="*/ 1454 h 1632"/>
                <a:gd name="T86" fmla="*/ 23 w 2052"/>
                <a:gd name="T87" fmla="*/ 1310 h 1632"/>
                <a:gd name="T88" fmla="*/ 3 w 2052"/>
                <a:gd name="T89" fmla="*/ 1164 h 1632"/>
                <a:gd name="T90" fmla="*/ 2 w 2052"/>
                <a:gd name="T91" fmla="*/ 1018 h 1632"/>
                <a:gd name="T92" fmla="*/ 21 w 2052"/>
                <a:gd name="T93" fmla="*/ 874 h 1632"/>
                <a:gd name="T94" fmla="*/ 59 w 2052"/>
                <a:gd name="T95" fmla="*/ 734 h 1632"/>
                <a:gd name="T96" fmla="*/ 116 w 2052"/>
                <a:gd name="T97" fmla="*/ 600 h 1632"/>
                <a:gd name="T98" fmla="*/ 189 w 2052"/>
                <a:gd name="T99" fmla="*/ 475 h 1632"/>
                <a:gd name="T100" fmla="*/ 279 w 2052"/>
                <a:gd name="T101" fmla="*/ 358 h 1632"/>
                <a:gd name="T102" fmla="*/ 386 w 2052"/>
                <a:gd name="T103" fmla="*/ 256 h 1632"/>
                <a:gd name="T104" fmla="*/ 508 w 2052"/>
                <a:gd name="T105" fmla="*/ 166 h 1632"/>
                <a:gd name="T106" fmla="*/ 645 w 2052"/>
                <a:gd name="T107" fmla="*/ 94 h 1632"/>
                <a:gd name="T108" fmla="*/ 787 w 2052"/>
                <a:gd name="T109" fmla="*/ 42 h 1632"/>
                <a:gd name="T110" fmla="*/ 933 w 2052"/>
                <a:gd name="T111" fmla="*/ 11 h 1632"/>
                <a:gd name="T112" fmla="*/ 1079 w 2052"/>
                <a:gd name="T113" fmla="*/ 0 h 1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52" h="1632">
                  <a:moveTo>
                    <a:pt x="1079" y="0"/>
                  </a:moveTo>
                  <a:lnTo>
                    <a:pt x="1151" y="3"/>
                  </a:lnTo>
                  <a:lnTo>
                    <a:pt x="1224" y="10"/>
                  </a:lnTo>
                  <a:lnTo>
                    <a:pt x="1296" y="22"/>
                  </a:lnTo>
                  <a:lnTo>
                    <a:pt x="1367" y="39"/>
                  </a:lnTo>
                  <a:lnTo>
                    <a:pt x="1436" y="60"/>
                  </a:lnTo>
                  <a:lnTo>
                    <a:pt x="1503" y="85"/>
                  </a:lnTo>
                  <a:lnTo>
                    <a:pt x="1569" y="116"/>
                  </a:lnTo>
                  <a:lnTo>
                    <a:pt x="1633" y="150"/>
                  </a:lnTo>
                  <a:lnTo>
                    <a:pt x="1694" y="189"/>
                  </a:lnTo>
                  <a:lnTo>
                    <a:pt x="1754" y="232"/>
                  </a:lnTo>
                  <a:lnTo>
                    <a:pt x="1810" y="280"/>
                  </a:lnTo>
                  <a:lnTo>
                    <a:pt x="1863" y="331"/>
                  </a:lnTo>
                  <a:lnTo>
                    <a:pt x="1914" y="386"/>
                  </a:lnTo>
                  <a:lnTo>
                    <a:pt x="1960" y="445"/>
                  </a:lnTo>
                  <a:lnTo>
                    <a:pt x="2003" y="509"/>
                  </a:lnTo>
                  <a:lnTo>
                    <a:pt x="2041" y="575"/>
                  </a:lnTo>
                  <a:lnTo>
                    <a:pt x="2050" y="594"/>
                  </a:lnTo>
                  <a:lnTo>
                    <a:pt x="2052" y="613"/>
                  </a:lnTo>
                  <a:lnTo>
                    <a:pt x="2049" y="632"/>
                  </a:lnTo>
                  <a:lnTo>
                    <a:pt x="2040" y="650"/>
                  </a:lnTo>
                  <a:lnTo>
                    <a:pt x="2029" y="666"/>
                  </a:lnTo>
                  <a:lnTo>
                    <a:pt x="2012" y="679"/>
                  </a:lnTo>
                  <a:lnTo>
                    <a:pt x="1993" y="686"/>
                  </a:lnTo>
                  <a:lnTo>
                    <a:pt x="1974" y="690"/>
                  </a:lnTo>
                  <a:lnTo>
                    <a:pt x="1954" y="686"/>
                  </a:lnTo>
                  <a:lnTo>
                    <a:pt x="1936" y="678"/>
                  </a:lnTo>
                  <a:lnTo>
                    <a:pt x="1920" y="665"/>
                  </a:lnTo>
                  <a:lnTo>
                    <a:pt x="1908" y="649"/>
                  </a:lnTo>
                  <a:lnTo>
                    <a:pt x="1872" y="585"/>
                  </a:lnTo>
                  <a:lnTo>
                    <a:pt x="1831" y="523"/>
                  </a:lnTo>
                  <a:lnTo>
                    <a:pt x="1788" y="467"/>
                  </a:lnTo>
                  <a:lnTo>
                    <a:pt x="1740" y="415"/>
                  </a:lnTo>
                  <a:lnTo>
                    <a:pt x="1689" y="367"/>
                  </a:lnTo>
                  <a:lnTo>
                    <a:pt x="1635" y="323"/>
                  </a:lnTo>
                  <a:lnTo>
                    <a:pt x="1579" y="285"/>
                  </a:lnTo>
                  <a:lnTo>
                    <a:pt x="1519" y="250"/>
                  </a:lnTo>
                  <a:lnTo>
                    <a:pt x="1458" y="221"/>
                  </a:lnTo>
                  <a:lnTo>
                    <a:pt x="1394" y="195"/>
                  </a:lnTo>
                  <a:lnTo>
                    <a:pt x="1329" y="175"/>
                  </a:lnTo>
                  <a:lnTo>
                    <a:pt x="1263" y="160"/>
                  </a:lnTo>
                  <a:lnTo>
                    <a:pt x="1196" y="150"/>
                  </a:lnTo>
                  <a:lnTo>
                    <a:pt x="1127" y="144"/>
                  </a:lnTo>
                  <a:lnTo>
                    <a:pt x="1058" y="143"/>
                  </a:lnTo>
                  <a:lnTo>
                    <a:pt x="989" y="149"/>
                  </a:lnTo>
                  <a:lnTo>
                    <a:pt x="920" y="158"/>
                  </a:lnTo>
                  <a:lnTo>
                    <a:pt x="851" y="174"/>
                  </a:lnTo>
                  <a:lnTo>
                    <a:pt x="783" y="195"/>
                  </a:lnTo>
                  <a:lnTo>
                    <a:pt x="715" y="222"/>
                  </a:lnTo>
                  <a:lnTo>
                    <a:pt x="648" y="253"/>
                  </a:lnTo>
                  <a:lnTo>
                    <a:pt x="585" y="290"/>
                  </a:lnTo>
                  <a:lnTo>
                    <a:pt x="525" y="332"/>
                  </a:lnTo>
                  <a:lnTo>
                    <a:pt x="470" y="376"/>
                  </a:lnTo>
                  <a:lnTo>
                    <a:pt x="418" y="425"/>
                  </a:lnTo>
                  <a:lnTo>
                    <a:pt x="371" y="477"/>
                  </a:lnTo>
                  <a:lnTo>
                    <a:pt x="328" y="532"/>
                  </a:lnTo>
                  <a:lnTo>
                    <a:pt x="290" y="590"/>
                  </a:lnTo>
                  <a:lnTo>
                    <a:pt x="256" y="649"/>
                  </a:lnTo>
                  <a:lnTo>
                    <a:pt x="226" y="712"/>
                  </a:lnTo>
                  <a:lnTo>
                    <a:pt x="202" y="776"/>
                  </a:lnTo>
                  <a:lnTo>
                    <a:pt x="181" y="842"/>
                  </a:lnTo>
                  <a:lnTo>
                    <a:pt x="167" y="909"/>
                  </a:lnTo>
                  <a:lnTo>
                    <a:pt x="156" y="976"/>
                  </a:lnTo>
                  <a:lnTo>
                    <a:pt x="151" y="1045"/>
                  </a:lnTo>
                  <a:lnTo>
                    <a:pt x="151" y="1114"/>
                  </a:lnTo>
                  <a:lnTo>
                    <a:pt x="155" y="1183"/>
                  </a:lnTo>
                  <a:lnTo>
                    <a:pt x="165" y="1252"/>
                  </a:lnTo>
                  <a:lnTo>
                    <a:pt x="181" y="1320"/>
                  </a:lnTo>
                  <a:lnTo>
                    <a:pt x="202" y="1388"/>
                  </a:lnTo>
                  <a:lnTo>
                    <a:pt x="228" y="1455"/>
                  </a:lnTo>
                  <a:lnTo>
                    <a:pt x="261" y="1520"/>
                  </a:lnTo>
                  <a:lnTo>
                    <a:pt x="268" y="1540"/>
                  </a:lnTo>
                  <a:lnTo>
                    <a:pt x="271" y="1559"/>
                  </a:lnTo>
                  <a:lnTo>
                    <a:pt x="267" y="1578"/>
                  </a:lnTo>
                  <a:lnTo>
                    <a:pt x="260" y="1596"/>
                  </a:lnTo>
                  <a:lnTo>
                    <a:pt x="247" y="1610"/>
                  </a:lnTo>
                  <a:lnTo>
                    <a:pt x="230" y="1623"/>
                  </a:lnTo>
                  <a:lnTo>
                    <a:pt x="211" y="1631"/>
                  </a:lnTo>
                  <a:lnTo>
                    <a:pt x="192" y="1632"/>
                  </a:lnTo>
                  <a:lnTo>
                    <a:pt x="175" y="1628"/>
                  </a:lnTo>
                  <a:lnTo>
                    <a:pt x="159" y="1622"/>
                  </a:lnTo>
                  <a:lnTo>
                    <a:pt x="145" y="1614"/>
                  </a:lnTo>
                  <a:lnTo>
                    <a:pt x="135" y="1604"/>
                  </a:lnTo>
                  <a:lnTo>
                    <a:pt x="127" y="1594"/>
                  </a:lnTo>
                  <a:lnTo>
                    <a:pt x="93" y="1525"/>
                  </a:lnTo>
                  <a:lnTo>
                    <a:pt x="65" y="1454"/>
                  </a:lnTo>
                  <a:lnTo>
                    <a:pt x="41" y="1382"/>
                  </a:lnTo>
                  <a:lnTo>
                    <a:pt x="23" y="1310"/>
                  </a:lnTo>
                  <a:lnTo>
                    <a:pt x="11" y="1237"/>
                  </a:lnTo>
                  <a:lnTo>
                    <a:pt x="3" y="1164"/>
                  </a:lnTo>
                  <a:lnTo>
                    <a:pt x="0" y="1091"/>
                  </a:lnTo>
                  <a:lnTo>
                    <a:pt x="2" y="1018"/>
                  </a:lnTo>
                  <a:lnTo>
                    <a:pt x="9" y="945"/>
                  </a:lnTo>
                  <a:lnTo>
                    <a:pt x="21" y="874"/>
                  </a:lnTo>
                  <a:lnTo>
                    <a:pt x="38" y="803"/>
                  </a:lnTo>
                  <a:lnTo>
                    <a:pt x="59" y="734"/>
                  </a:lnTo>
                  <a:lnTo>
                    <a:pt x="85" y="666"/>
                  </a:lnTo>
                  <a:lnTo>
                    <a:pt x="116" y="600"/>
                  </a:lnTo>
                  <a:lnTo>
                    <a:pt x="150" y="536"/>
                  </a:lnTo>
                  <a:lnTo>
                    <a:pt x="189" y="475"/>
                  </a:lnTo>
                  <a:lnTo>
                    <a:pt x="232" y="415"/>
                  </a:lnTo>
                  <a:lnTo>
                    <a:pt x="279" y="358"/>
                  </a:lnTo>
                  <a:lnTo>
                    <a:pt x="331" y="305"/>
                  </a:lnTo>
                  <a:lnTo>
                    <a:pt x="386" y="256"/>
                  </a:lnTo>
                  <a:lnTo>
                    <a:pt x="446" y="209"/>
                  </a:lnTo>
                  <a:lnTo>
                    <a:pt x="508" y="166"/>
                  </a:lnTo>
                  <a:lnTo>
                    <a:pt x="575" y="127"/>
                  </a:lnTo>
                  <a:lnTo>
                    <a:pt x="645" y="94"/>
                  </a:lnTo>
                  <a:lnTo>
                    <a:pt x="715" y="65"/>
                  </a:lnTo>
                  <a:lnTo>
                    <a:pt x="787" y="42"/>
                  </a:lnTo>
                  <a:lnTo>
                    <a:pt x="859" y="24"/>
                  </a:lnTo>
                  <a:lnTo>
                    <a:pt x="933" y="11"/>
                  </a:lnTo>
                  <a:lnTo>
                    <a:pt x="1006" y="4"/>
                  </a:lnTo>
                  <a:lnTo>
                    <a:pt x="107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6" name="Freeform 38"/>
            <p:cNvSpPr/>
            <p:nvPr/>
          </p:nvSpPr>
          <p:spPr bwMode="auto">
            <a:xfrm>
              <a:off x="757238" y="3513138"/>
              <a:ext cx="207963" cy="168275"/>
            </a:xfrm>
            <a:custGeom>
              <a:avLst/>
              <a:gdLst>
                <a:gd name="T0" fmla="*/ 679 w 1174"/>
                <a:gd name="T1" fmla="*/ 4 h 954"/>
                <a:gd name="T2" fmla="*/ 801 w 1174"/>
                <a:gd name="T3" fmla="*/ 31 h 954"/>
                <a:gd name="T4" fmla="*/ 901 w 1174"/>
                <a:gd name="T5" fmla="*/ 70 h 954"/>
                <a:gd name="T6" fmla="*/ 992 w 1174"/>
                <a:gd name="T7" fmla="*/ 127 h 954"/>
                <a:gd name="T8" fmla="*/ 1071 w 1174"/>
                <a:gd name="T9" fmla="*/ 201 h 954"/>
                <a:gd name="T10" fmla="*/ 1136 w 1174"/>
                <a:gd name="T11" fmla="*/ 288 h 954"/>
                <a:gd name="T12" fmla="*/ 1171 w 1174"/>
                <a:gd name="T13" fmla="*/ 355 h 954"/>
                <a:gd name="T14" fmla="*/ 1170 w 1174"/>
                <a:gd name="T15" fmla="*/ 393 h 954"/>
                <a:gd name="T16" fmla="*/ 1150 w 1174"/>
                <a:gd name="T17" fmla="*/ 426 h 954"/>
                <a:gd name="T18" fmla="*/ 1114 w 1174"/>
                <a:gd name="T19" fmla="*/ 448 h 954"/>
                <a:gd name="T20" fmla="*/ 1076 w 1174"/>
                <a:gd name="T21" fmla="*/ 447 h 954"/>
                <a:gd name="T22" fmla="*/ 1043 w 1174"/>
                <a:gd name="T23" fmla="*/ 425 h 954"/>
                <a:gd name="T24" fmla="*/ 1008 w 1174"/>
                <a:gd name="T25" fmla="*/ 367 h 954"/>
                <a:gd name="T26" fmla="*/ 952 w 1174"/>
                <a:gd name="T27" fmla="*/ 292 h 954"/>
                <a:gd name="T28" fmla="*/ 881 w 1174"/>
                <a:gd name="T29" fmla="*/ 233 h 954"/>
                <a:gd name="T30" fmla="*/ 800 w 1174"/>
                <a:gd name="T31" fmla="*/ 188 h 954"/>
                <a:gd name="T32" fmla="*/ 705 w 1174"/>
                <a:gd name="T33" fmla="*/ 159 h 954"/>
                <a:gd name="T34" fmla="*/ 601 w 1174"/>
                <a:gd name="T35" fmla="*/ 151 h 954"/>
                <a:gd name="T36" fmla="*/ 498 w 1174"/>
                <a:gd name="T37" fmla="*/ 168 h 954"/>
                <a:gd name="T38" fmla="*/ 400 w 1174"/>
                <a:gd name="T39" fmla="*/ 208 h 954"/>
                <a:gd name="T40" fmla="*/ 323 w 1174"/>
                <a:gd name="T41" fmla="*/ 259 h 954"/>
                <a:gd name="T42" fmla="*/ 257 w 1174"/>
                <a:gd name="T43" fmla="*/ 323 h 954"/>
                <a:gd name="T44" fmla="*/ 206 w 1174"/>
                <a:gd name="T45" fmla="*/ 400 h 954"/>
                <a:gd name="T46" fmla="*/ 170 w 1174"/>
                <a:gd name="T47" fmla="*/ 489 h 954"/>
                <a:gd name="T48" fmla="*/ 151 w 1174"/>
                <a:gd name="T49" fmla="*/ 592 h 954"/>
                <a:gd name="T50" fmla="*/ 155 w 1174"/>
                <a:gd name="T51" fmla="*/ 695 h 954"/>
                <a:gd name="T52" fmla="*/ 184 w 1174"/>
                <a:gd name="T53" fmla="*/ 796 h 954"/>
                <a:gd name="T54" fmla="*/ 213 w 1174"/>
                <a:gd name="T55" fmla="*/ 864 h 954"/>
                <a:gd name="T56" fmla="*/ 213 w 1174"/>
                <a:gd name="T57" fmla="*/ 903 h 954"/>
                <a:gd name="T58" fmla="*/ 193 w 1174"/>
                <a:gd name="T59" fmla="*/ 936 h 954"/>
                <a:gd name="T60" fmla="*/ 157 w 1174"/>
                <a:gd name="T61" fmla="*/ 954 h 954"/>
                <a:gd name="T62" fmla="*/ 120 w 1174"/>
                <a:gd name="T63" fmla="*/ 949 h 954"/>
                <a:gd name="T64" fmla="*/ 91 w 1174"/>
                <a:gd name="T65" fmla="*/ 931 h 954"/>
                <a:gd name="T66" fmla="*/ 73 w 1174"/>
                <a:gd name="T67" fmla="*/ 911 h 954"/>
                <a:gd name="T68" fmla="*/ 27 w 1174"/>
                <a:gd name="T69" fmla="*/ 801 h 954"/>
                <a:gd name="T70" fmla="*/ 3 w 1174"/>
                <a:gd name="T71" fmla="*/ 689 h 954"/>
                <a:gd name="T72" fmla="*/ 1 w 1174"/>
                <a:gd name="T73" fmla="*/ 576 h 954"/>
                <a:gd name="T74" fmla="*/ 19 w 1174"/>
                <a:gd name="T75" fmla="*/ 466 h 954"/>
                <a:gd name="T76" fmla="*/ 57 w 1174"/>
                <a:gd name="T77" fmla="*/ 361 h 954"/>
                <a:gd name="T78" fmla="*/ 114 w 1174"/>
                <a:gd name="T79" fmla="*/ 265 h 954"/>
                <a:gd name="T80" fmla="*/ 187 w 1174"/>
                <a:gd name="T81" fmla="*/ 178 h 954"/>
                <a:gd name="T82" fmla="*/ 276 w 1174"/>
                <a:gd name="T83" fmla="*/ 105 h 954"/>
                <a:gd name="T84" fmla="*/ 383 w 1174"/>
                <a:gd name="T85" fmla="*/ 46 h 954"/>
                <a:gd name="T86" fmla="*/ 499 w 1174"/>
                <a:gd name="T87" fmla="*/ 11 h 954"/>
                <a:gd name="T88" fmla="*/ 619 w 1174"/>
                <a:gd name="T89"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74" h="954">
                  <a:moveTo>
                    <a:pt x="619" y="0"/>
                  </a:moveTo>
                  <a:lnTo>
                    <a:pt x="679" y="4"/>
                  </a:lnTo>
                  <a:lnTo>
                    <a:pt x="740" y="14"/>
                  </a:lnTo>
                  <a:lnTo>
                    <a:pt x="801" y="31"/>
                  </a:lnTo>
                  <a:lnTo>
                    <a:pt x="852" y="48"/>
                  </a:lnTo>
                  <a:lnTo>
                    <a:pt x="901" y="70"/>
                  </a:lnTo>
                  <a:lnTo>
                    <a:pt x="948" y="96"/>
                  </a:lnTo>
                  <a:lnTo>
                    <a:pt x="992" y="127"/>
                  </a:lnTo>
                  <a:lnTo>
                    <a:pt x="1033" y="162"/>
                  </a:lnTo>
                  <a:lnTo>
                    <a:pt x="1071" y="201"/>
                  </a:lnTo>
                  <a:lnTo>
                    <a:pt x="1106" y="242"/>
                  </a:lnTo>
                  <a:lnTo>
                    <a:pt x="1136" y="288"/>
                  </a:lnTo>
                  <a:lnTo>
                    <a:pt x="1163" y="335"/>
                  </a:lnTo>
                  <a:lnTo>
                    <a:pt x="1171" y="355"/>
                  </a:lnTo>
                  <a:lnTo>
                    <a:pt x="1174" y="374"/>
                  </a:lnTo>
                  <a:lnTo>
                    <a:pt x="1170" y="393"/>
                  </a:lnTo>
                  <a:lnTo>
                    <a:pt x="1163" y="411"/>
                  </a:lnTo>
                  <a:lnTo>
                    <a:pt x="1150" y="426"/>
                  </a:lnTo>
                  <a:lnTo>
                    <a:pt x="1133" y="439"/>
                  </a:lnTo>
                  <a:lnTo>
                    <a:pt x="1114" y="448"/>
                  </a:lnTo>
                  <a:lnTo>
                    <a:pt x="1095" y="450"/>
                  </a:lnTo>
                  <a:lnTo>
                    <a:pt x="1076" y="447"/>
                  </a:lnTo>
                  <a:lnTo>
                    <a:pt x="1058" y="438"/>
                  </a:lnTo>
                  <a:lnTo>
                    <a:pt x="1043" y="425"/>
                  </a:lnTo>
                  <a:lnTo>
                    <a:pt x="1029" y="410"/>
                  </a:lnTo>
                  <a:lnTo>
                    <a:pt x="1008" y="367"/>
                  </a:lnTo>
                  <a:lnTo>
                    <a:pt x="981" y="328"/>
                  </a:lnTo>
                  <a:lnTo>
                    <a:pt x="952" y="292"/>
                  </a:lnTo>
                  <a:lnTo>
                    <a:pt x="918" y="260"/>
                  </a:lnTo>
                  <a:lnTo>
                    <a:pt x="881" y="233"/>
                  </a:lnTo>
                  <a:lnTo>
                    <a:pt x="841" y="208"/>
                  </a:lnTo>
                  <a:lnTo>
                    <a:pt x="800" y="188"/>
                  </a:lnTo>
                  <a:lnTo>
                    <a:pt x="757" y="171"/>
                  </a:lnTo>
                  <a:lnTo>
                    <a:pt x="705" y="159"/>
                  </a:lnTo>
                  <a:lnTo>
                    <a:pt x="653" y="152"/>
                  </a:lnTo>
                  <a:lnTo>
                    <a:pt x="601" y="151"/>
                  </a:lnTo>
                  <a:lnTo>
                    <a:pt x="550" y="158"/>
                  </a:lnTo>
                  <a:lnTo>
                    <a:pt x="498" y="168"/>
                  </a:lnTo>
                  <a:lnTo>
                    <a:pt x="448" y="185"/>
                  </a:lnTo>
                  <a:lnTo>
                    <a:pt x="400" y="208"/>
                  </a:lnTo>
                  <a:lnTo>
                    <a:pt x="360" y="232"/>
                  </a:lnTo>
                  <a:lnTo>
                    <a:pt x="323" y="259"/>
                  </a:lnTo>
                  <a:lnTo>
                    <a:pt x="289" y="290"/>
                  </a:lnTo>
                  <a:lnTo>
                    <a:pt x="257" y="323"/>
                  </a:lnTo>
                  <a:lnTo>
                    <a:pt x="229" y="360"/>
                  </a:lnTo>
                  <a:lnTo>
                    <a:pt x="206" y="400"/>
                  </a:lnTo>
                  <a:lnTo>
                    <a:pt x="186" y="443"/>
                  </a:lnTo>
                  <a:lnTo>
                    <a:pt x="170" y="489"/>
                  </a:lnTo>
                  <a:lnTo>
                    <a:pt x="157" y="540"/>
                  </a:lnTo>
                  <a:lnTo>
                    <a:pt x="151" y="592"/>
                  </a:lnTo>
                  <a:lnTo>
                    <a:pt x="150" y="643"/>
                  </a:lnTo>
                  <a:lnTo>
                    <a:pt x="155" y="695"/>
                  </a:lnTo>
                  <a:lnTo>
                    <a:pt x="167" y="746"/>
                  </a:lnTo>
                  <a:lnTo>
                    <a:pt x="184" y="796"/>
                  </a:lnTo>
                  <a:lnTo>
                    <a:pt x="206" y="845"/>
                  </a:lnTo>
                  <a:lnTo>
                    <a:pt x="213" y="864"/>
                  </a:lnTo>
                  <a:lnTo>
                    <a:pt x="216" y="884"/>
                  </a:lnTo>
                  <a:lnTo>
                    <a:pt x="213" y="903"/>
                  </a:lnTo>
                  <a:lnTo>
                    <a:pt x="205" y="920"/>
                  </a:lnTo>
                  <a:lnTo>
                    <a:pt x="193" y="936"/>
                  </a:lnTo>
                  <a:lnTo>
                    <a:pt x="176" y="948"/>
                  </a:lnTo>
                  <a:lnTo>
                    <a:pt x="157" y="954"/>
                  </a:lnTo>
                  <a:lnTo>
                    <a:pt x="138" y="954"/>
                  </a:lnTo>
                  <a:lnTo>
                    <a:pt x="120" y="949"/>
                  </a:lnTo>
                  <a:lnTo>
                    <a:pt x="105" y="941"/>
                  </a:lnTo>
                  <a:lnTo>
                    <a:pt x="91" y="931"/>
                  </a:lnTo>
                  <a:lnTo>
                    <a:pt x="81" y="921"/>
                  </a:lnTo>
                  <a:lnTo>
                    <a:pt x="73" y="911"/>
                  </a:lnTo>
                  <a:lnTo>
                    <a:pt x="47" y="856"/>
                  </a:lnTo>
                  <a:lnTo>
                    <a:pt x="27" y="801"/>
                  </a:lnTo>
                  <a:lnTo>
                    <a:pt x="13" y="745"/>
                  </a:lnTo>
                  <a:lnTo>
                    <a:pt x="3" y="689"/>
                  </a:lnTo>
                  <a:lnTo>
                    <a:pt x="0" y="632"/>
                  </a:lnTo>
                  <a:lnTo>
                    <a:pt x="1" y="576"/>
                  </a:lnTo>
                  <a:lnTo>
                    <a:pt x="7" y="521"/>
                  </a:lnTo>
                  <a:lnTo>
                    <a:pt x="19" y="466"/>
                  </a:lnTo>
                  <a:lnTo>
                    <a:pt x="36" y="413"/>
                  </a:lnTo>
                  <a:lnTo>
                    <a:pt x="57" y="361"/>
                  </a:lnTo>
                  <a:lnTo>
                    <a:pt x="83" y="311"/>
                  </a:lnTo>
                  <a:lnTo>
                    <a:pt x="114" y="265"/>
                  </a:lnTo>
                  <a:lnTo>
                    <a:pt x="147" y="219"/>
                  </a:lnTo>
                  <a:lnTo>
                    <a:pt x="187" y="178"/>
                  </a:lnTo>
                  <a:lnTo>
                    <a:pt x="229" y="140"/>
                  </a:lnTo>
                  <a:lnTo>
                    <a:pt x="276" y="105"/>
                  </a:lnTo>
                  <a:lnTo>
                    <a:pt x="327" y="74"/>
                  </a:lnTo>
                  <a:lnTo>
                    <a:pt x="383" y="46"/>
                  </a:lnTo>
                  <a:lnTo>
                    <a:pt x="440" y="25"/>
                  </a:lnTo>
                  <a:lnTo>
                    <a:pt x="499" y="11"/>
                  </a:lnTo>
                  <a:lnTo>
                    <a:pt x="558" y="2"/>
                  </a:lnTo>
                  <a:lnTo>
                    <a:pt x="61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7" name="Freeform 8"/>
            <p:cNvSpPr>
              <a:spLocks noEditPoints="1"/>
            </p:cNvSpPr>
            <p:nvPr/>
          </p:nvSpPr>
          <p:spPr bwMode="auto">
            <a:xfrm>
              <a:off x="793751" y="3595688"/>
              <a:ext cx="495300" cy="449263"/>
            </a:xfrm>
            <a:custGeom>
              <a:avLst/>
              <a:gdLst>
                <a:gd name="T0" fmla="*/ 1449 w 2805"/>
                <a:gd name="T1" fmla="*/ 2389 h 2551"/>
                <a:gd name="T2" fmla="*/ 438 w 2805"/>
                <a:gd name="T3" fmla="*/ 150 h 2551"/>
                <a:gd name="T4" fmla="*/ 375 w 2805"/>
                <a:gd name="T5" fmla="*/ 176 h 2551"/>
                <a:gd name="T6" fmla="*/ 337 w 2805"/>
                <a:gd name="T7" fmla="*/ 231 h 2551"/>
                <a:gd name="T8" fmla="*/ 337 w 2805"/>
                <a:gd name="T9" fmla="*/ 298 h 2551"/>
                <a:gd name="T10" fmla="*/ 877 w 2805"/>
                <a:gd name="T11" fmla="*/ 1322 h 2551"/>
                <a:gd name="T12" fmla="*/ 868 w 2805"/>
                <a:gd name="T13" fmla="*/ 1375 h 2551"/>
                <a:gd name="T14" fmla="*/ 825 w 2805"/>
                <a:gd name="T15" fmla="*/ 1406 h 2551"/>
                <a:gd name="T16" fmla="*/ 300 w 2805"/>
                <a:gd name="T17" fmla="*/ 1257 h 2551"/>
                <a:gd name="T18" fmla="*/ 231 w 2805"/>
                <a:gd name="T19" fmla="*/ 1257 h 2551"/>
                <a:gd name="T20" fmla="*/ 176 w 2805"/>
                <a:gd name="T21" fmla="*/ 1294 h 2551"/>
                <a:gd name="T22" fmla="*/ 151 w 2805"/>
                <a:gd name="T23" fmla="*/ 1358 h 2551"/>
                <a:gd name="T24" fmla="*/ 163 w 2805"/>
                <a:gd name="T25" fmla="*/ 1422 h 2551"/>
                <a:gd name="T26" fmla="*/ 211 w 2805"/>
                <a:gd name="T27" fmla="*/ 1470 h 2551"/>
                <a:gd name="T28" fmla="*/ 1094 w 2805"/>
                <a:gd name="T29" fmla="*/ 1743 h 2551"/>
                <a:gd name="T30" fmla="*/ 1199 w 2805"/>
                <a:gd name="T31" fmla="*/ 1916 h 2551"/>
                <a:gd name="T32" fmla="*/ 1884 w 2805"/>
                <a:gd name="T33" fmla="*/ 332 h 2551"/>
                <a:gd name="T34" fmla="*/ 1827 w 2805"/>
                <a:gd name="T35" fmla="*/ 290 h 2551"/>
                <a:gd name="T36" fmla="*/ 1757 w 2805"/>
                <a:gd name="T37" fmla="*/ 281 h 2551"/>
                <a:gd name="T38" fmla="*/ 844 w 2805"/>
                <a:gd name="T39" fmla="*/ 758 h 2551"/>
                <a:gd name="T40" fmla="*/ 521 w 2805"/>
                <a:gd name="T41" fmla="*/ 175 h 2551"/>
                <a:gd name="T42" fmla="*/ 460 w 2805"/>
                <a:gd name="T43" fmla="*/ 150 h 2551"/>
                <a:gd name="T44" fmla="*/ 492 w 2805"/>
                <a:gd name="T45" fmla="*/ 3 h 2551"/>
                <a:gd name="T46" fmla="*/ 588 w 2805"/>
                <a:gd name="T47" fmla="*/ 39 h 2551"/>
                <a:gd name="T48" fmla="*/ 664 w 2805"/>
                <a:gd name="T49" fmla="*/ 109 h 2551"/>
                <a:gd name="T50" fmla="*/ 1643 w 2805"/>
                <a:gd name="T51" fmla="*/ 163 h 2551"/>
                <a:gd name="T52" fmla="*/ 1751 w 2805"/>
                <a:gd name="T53" fmla="*/ 130 h 2551"/>
                <a:gd name="T54" fmla="*/ 1859 w 2805"/>
                <a:gd name="T55" fmla="*/ 141 h 2551"/>
                <a:gd name="T56" fmla="*/ 1957 w 2805"/>
                <a:gd name="T57" fmla="*/ 193 h 2551"/>
                <a:gd name="T58" fmla="*/ 2029 w 2805"/>
                <a:gd name="T59" fmla="*/ 280 h 2551"/>
                <a:gd name="T60" fmla="*/ 2805 w 2805"/>
                <a:gd name="T61" fmla="*/ 1757 h 2551"/>
                <a:gd name="T62" fmla="*/ 2793 w 2805"/>
                <a:gd name="T63" fmla="*/ 1820 h 2551"/>
                <a:gd name="T64" fmla="*/ 2746 w 2805"/>
                <a:gd name="T65" fmla="*/ 1868 h 2551"/>
                <a:gd name="T66" fmla="*/ 1445 w 2805"/>
                <a:gd name="T67" fmla="*/ 2551 h 2551"/>
                <a:gd name="T68" fmla="*/ 1381 w 2805"/>
                <a:gd name="T69" fmla="*/ 2538 h 2551"/>
                <a:gd name="T70" fmla="*/ 1335 w 2805"/>
                <a:gd name="T71" fmla="*/ 2491 h 2551"/>
                <a:gd name="T72" fmla="*/ 152 w 2805"/>
                <a:gd name="T73" fmla="*/ 1607 h 2551"/>
                <a:gd name="T74" fmla="*/ 63 w 2805"/>
                <a:gd name="T75" fmla="*/ 1539 h 2551"/>
                <a:gd name="T76" fmla="*/ 11 w 2805"/>
                <a:gd name="T77" fmla="*/ 1441 h 2551"/>
                <a:gd name="T78" fmla="*/ 3 w 2805"/>
                <a:gd name="T79" fmla="*/ 1329 h 2551"/>
                <a:gd name="T80" fmla="*/ 45 w 2805"/>
                <a:gd name="T81" fmla="*/ 1220 h 2551"/>
                <a:gd name="T82" fmla="*/ 125 w 2805"/>
                <a:gd name="T83" fmla="*/ 1142 h 2551"/>
                <a:gd name="T84" fmla="*/ 229 w 2805"/>
                <a:gd name="T85" fmla="*/ 1104 h 2551"/>
                <a:gd name="T86" fmla="*/ 344 w 2805"/>
                <a:gd name="T87" fmla="*/ 1113 h 2551"/>
                <a:gd name="T88" fmla="*/ 199 w 2805"/>
                <a:gd name="T89" fmla="*/ 357 h 2551"/>
                <a:gd name="T90" fmla="*/ 182 w 2805"/>
                <a:gd name="T91" fmla="*/ 255 h 2551"/>
                <a:gd name="T92" fmla="*/ 206 w 2805"/>
                <a:gd name="T93" fmla="*/ 156 h 2551"/>
                <a:gd name="T94" fmla="*/ 265 w 2805"/>
                <a:gd name="T95" fmla="*/ 73 h 2551"/>
                <a:gd name="T96" fmla="*/ 356 w 2805"/>
                <a:gd name="T97" fmla="*/ 15 h 2551"/>
                <a:gd name="T98" fmla="*/ 458 w 2805"/>
                <a:gd name="T99" fmla="*/ 0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05" h="2551">
                  <a:moveTo>
                    <a:pt x="2469" y="1425"/>
                  </a:moveTo>
                  <a:lnTo>
                    <a:pt x="1275" y="2062"/>
                  </a:lnTo>
                  <a:lnTo>
                    <a:pt x="1449" y="2389"/>
                  </a:lnTo>
                  <a:lnTo>
                    <a:pt x="2643" y="1751"/>
                  </a:lnTo>
                  <a:lnTo>
                    <a:pt x="2469" y="1425"/>
                  </a:lnTo>
                  <a:close/>
                  <a:moveTo>
                    <a:pt x="438" y="150"/>
                  </a:moveTo>
                  <a:lnTo>
                    <a:pt x="415" y="154"/>
                  </a:lnTo>
                  <a:lnTo>
                    <a:pt x="394" y="164"/>
                  </a:lnTo>
                  <a:lnTo>
                    <a:pt x="375" y="176"/>
                  </a:lnTo>
                  <a:lnTo>
                    <a:pt x="359" y="192"/>
                  </a:lnTo>
                  <a:lnTo>
                    <a:pt x="346" y="211"/>
                  </a:lnTo>
                  <a:lnTo>
                    <a:pt x="337" y="231"/>
                  </a:lnTo>
                  <a:lnTo>
                    <a:pt x="333" y="254"/>
                  </a:lnTo>
                  <a:lnTo>
                    <a:pt x="333" y="276"/>
                  </a:lnTo>
                  <a:lnTo>
                    <a:pt x="337" y="298"/>
                  </a:lnTo>
                  <a:lnTo>
                    <a:pt x="346" y="320"/>
                  </a:lnTo>
                  <a:lnTo>
                    <a:pt x="871" y="1303"/>
                  </a:lnTo>
                  <a:lnTo>
                    <a:pt x="877" y="1322"/>
                  </a:lnTo>
                  <a:lnTo>
                    <a:pt x="880" y="1341"/>
                  </a:lnTo>
                  <a:lnTo>
                    <a:pt x="876" y="1359"/>
                  </a:lnTo>
                  <a:lnTo>
                    <a:pt x="868" y="1375"/>
                  </a:lnTo>
                  <a:lnTo>
                    <a:pt x="857" y="1388"/>
                  </a:lnTo>
                  <a:lnTo>
                    <a:pt x="842" y="1399"/>
                  </a:lnTo>
                  <a:lnTo>
                    <a:pt x="825" y="1406"/>
                  </a:lnTo>
                  <a:lnTo>
                    <a:pt x="806" y="1408"/>
                  </a:lnTo>
                  <a:lnTo>
                    <a:pt x="787" y="1405"/>
                  </a:lnTo>
                  <a:lnTo>
                    <a:pt x="300" y="1257"/>
                  </a:lnTo>
                  <a:lnTo>
                    <a:pt x="277" y="1253"/>
                  </a:lnTo>
                  <a:lnTo>
                    <a:pt x="254" y="1253"/>
                  </a:lnTo>
                  <a:lnTo>
                    <a:pt x="231" y="1257"/>
                  </a:lnTo>
                  <a:lnTo>
                    <a:pt x="211" y="1266"/>
                  </a:lnTo>
                  <a:lnTo>
                    <a:pt x="192" y="1278"/>
                  </a:lnTo>
                  <a:lnTo>
                    <a:pt x="176" y="1294"/>
                  </a:lnTo>
                  <a:lnTo>
                    <a:pt x="163" y="1312"/>
                  </a:lnTo>
                  <a:lnTo>
                    <a:pt x="155" y="1334"/>
                  </a:lnTo>
                  <a:lnTo>
                    <a:pt x="151" y="1358"/>
                  </a:lnTo>
                  <a:lnTo>
                    <a:pt x="151" y="1380"/>
                  </a:lnTo>
                  <a:lnTo>
                    <a:pt x="155" y="1402"/>
                  </a:lnTo>
                  <a:lnTo>
                    <a:pt x="163" y="1422"/>
                  </a:lnTo>
                  <a:lnTo>
                    <a:pt x="176" y="1441"/>
                  </a:lnTo>
                  <a:lnTo>
                    <a:pt x="192" y="1457"/>
                  </a:lnTo>
                  <a:lnTo>
                    <a:pt x="211" y="1470"/>
                  </a:lnTo>
                  <a:lnTo>
                    <a:pt x="232" y="1478"/>
                  </a:lnTo>
                  <a:lnTo>
                    <a:pt x="1078" y="1735"/>
                  </a:lnTo>
                  <a:lnTo>
                    <a:pt x="1094" y="1743"/>
                  </a:lnTo>
                  <a:lnTo>
                    <a:pt x="1109" y="1755"/>
                  </a:lnTo>
                  <a:lnTo>
                    <a:pt x="1119" y="1770"/>
                  </a:lnTo>
                  <a:lnTo>
                    <a:pt x="1199" y="1916"/>
                  </a:lnTo>
                  <a:lnTo>
                    <a:pt x="2393" y="1279"/>
                  </a:lnTo>
                  <a:lnTo>
                    <a:pt x="1898" y="353"/>
                  </a:lnTo>
                  <a:lnTo>
                    <a:pt x="1884" y="332"/>
                  </a:lnTo>
                  <a:lnTo>
                    <a:pt x="1867" y="314"/>
                  </a:lnTo>
                  <a:lnTo>
                    <a:pt x="1848" y="300"/>
                  </a:lnTo>
                  <a:lnTo>
                    <a:pt x="1827" y="290"/>
                  </a:lnTo>
                  <a:lnTo>
                    <a:pt x="1804" y="282"/>
                  </a:lnTo>
                  <a:lnTo>
                    <a:pt x="1780" y="279"/>
                  </a:lnTo>
                  <a:lnTo>
                    <a:pt x="1757" y="281"/>
                  </a:lnTo>
                  <a:lnTo>
                    <a:pt x="1733" y="286"/>
                  </a:lnTo>
                  <a:lnTo>
                    <a:pt x="1709" y="296"/>
                  </a:lnTo>
                  <a:lnTo>
                    <a:pt x="844" y="758"/>
                  </a:lnTo>
                  <a:lnTo>
                    <a:pt x="551" y="210"/>
                  </a:lnTo>
                  <a:lnTo>
                    <a:pt x="538" y="191"/>
                  </a:lnTo>
                  <a:lnTo>
                    <a:pt x="521" y="175"/>
                  </a:lnTo>
                  <a:lnTo>
                    <a:pt x="503" y="163"/>
                  </a:lnTo>
                  <a:lnTo>
                    <a:pt x="482" y="154"/>
                  </a:lnTo>
                  <a:lnTo>
                    <a:pt x="460" y="150"/>
                  </a:lnTo>
                  <a:lnTo>
                    <a:pt x="438" y="150"/>
                  </a:lnTo>
                  <a:close/>
                  <a:moveTo>
                    <a:pt x="458" y="0"/>
                  </a:moveTo>
                  <a:lnTo>
                    <a:pt x="492" y="3"/>
                  </a:lnTo>
                  <a:lnTo>
                    <a:pt x="526" y="10"/>
                  </a:lnTo>
                  <a:lnTo>
                    <a:pt x="558" y="23"/>
                  </a:lnTo>
                  <a:lnTo>
                    <a:pt x="588" y="39"/>
                  </a:lnTo>
                  <a:lnTo>
                    <a:pt x="616" y="58"/>
                  </a:lnTo>
                  <a:lnTo>
                    <a:pt x="642" y="82"/>
                  </a:lnTo>
                  <a:lnTo>
                    <a:pt x="664" y="109"/>
                  </a:lnTo>
                  <a:lnTo>
                    <a:pt x="683" y="139"/>
                  </a:lnTo>
                  <a:lnTo>
                    <a:pt x="905" y="556"/>
                  </a:lnTo>
                  <a:lnTo>
                    <a:pt x="1643" y="163"/>
                  </a:lnTo>
                  <a:lnTo>
                    <a:pt x="1678" y="147"/>
                  </a:lnTo>
                  <a:lnTo>
                    <a:pt x="1714" y="136"/>
                  </a:lnTo>
                  <a:lnTo>
                    <a:pt x="1751" y="130"/>
                  </a:lnTo>
                  <a:lnTo>
                    <a:pt x="1788" y="130"/>
                  </a:lnTo>
                  <a:lnTo>
                    <a:pt x="1824" y="133"/>
                  </a:lnTo>
                  <a:lnTo>
                    <a:pt x="1859" y="141"/>
                  </a:lnTo>
                  <a:lnTo>
                    <a:pt x="1894" y="154"/>
                  </a:lnTo>
                  <a:lnTo>
                    <a:pt x="1926" y="171"/>
                  </a:lnTo>
                  <a:lnTo>
                    <a:pt x="1957" y="193"/>
                  </a:lnTo>
                  <a:lnTo>
                    <a:pt x="1983" y="218"/>
                  </a:lnTo>
                  <a:lnTo>
                    <a:pt x="2008" y="247"/>
                  </a:lnTo>
                  <a:lnTo>
                    <a:pt x="2029" y="280"/>
                  </a:lnTo>
                  <a:lnTo>
                    <a:pt x="2793" y="1713"/>
                  </a:lnTo>
                  <a:lnTo>
                    <a:pt x="2801" y="1734"/>
                  </a:lnTo>
                  <a:lnTo>
                    <a:pt x="2805" y="1757"/>
                  </a:lnTo>
                  <a:lnTo>
                    <a:pt x="2805" y="1778"/>
                  </a:lnTo>
                  <a:lnTo>
                    <a:pt x="2801" y="1800"/>
                  </a:lnTo>
                  <a:lnTo>
                    <a:pt x="2793" y="1820"/>
                  </a:lnTo>
                  <a:lnTo>
                    <a:pt x="2781" y="1838"/>
                  </a:lnTo>
                  <a:lnTo>
                    <a:pt x="2765" y="1854"/>
                  </a:lnTo>
                  <a:lnTo>
                    <a:pt x="2746" y="1868"/>
                  </a:lnTo>
                  <a:lnTo>
                    <a:pt x="1489" y="2538"/>
                  </a:lnTo>
                  <a:lnTo>
                    <a:pt x="1467" y="2546"/>
                  </a:lnTo>
                  <a:lnTo>
                    <a:pt x="1445" y="2551"/>
                  </a:lnTo>
                  <a:lnTo>
                    <a:pt x="1423" y="2551"/>
                  </a:lnTo>
                  <a:lnTo>
                    <a:pt x="1402" y="2546"/>
                  </a:lnTo>
                  <a:lnTo>
                    <a:pt x="1381" y="2538"/>
                  </a:lnTo>
                  <a:lnTo>
                    <a:pt x="1363" y="2526"/>
                  </a:lnTo>
                  <a:lnTo>
                    <a:pt x="1348" y="2510"/>
                  </a:lnTo>
                  <a:lnTo>
                    <a:pt x="1335" y="2491"/>
                  </a:lnTo>
                  <a:lnTo>
                    <a:pt x="1003" y="1870"/>
                  </a:lnTo>
                  <a:lnTo>
                    <a:pt x="189" y="1622"/>
                  </a:lnTo>
                  <a:lnTo>
                    <a:pt x="152" y="1607"/>
                  </a:lnTo>
                  <a:lnTo>
                    <a:pt x="119" y="1589"/>
                  </a:lnTo>
                  <a:lnTo>
                    <a:pt x="89" y="1566"/>
                  </a:lnTo>
                  <a:lnTo>
                    <a:pt x="63" y="1539"/>
                  </a:lnTo>
                  <a:lnTo>
                    <a:pt x="41" y="1509"/>
                  </a:lnTo>
                  <a:lnTo>
                    <a:pt x="23" y="1476"/>
                  </a:lnTo>
                  <a:lnTo>
                    <a:pt x="11" y="1441"/>
                  </a:lnTo>
                  <a:lnTo>
                    <a:pt x="3" y="1404"/>
                  </a:lnTo>
                  <a:lnTo>
                    <a:pt x="0" y="1367"/>
                  </a:lnTo>
                  <a:lnTo>
                    <a:pt x="3" y="1329"/>
                  </a:lnTo>
                  <a:lnTo>
                    <a:pt x="12" y="1290"/>
                  </a:lnTo>
                  <a:lnTo>
                    <a:pt x="26" y="1253"/>
                  </a:lnTo>
                  <a:lnTo>
                    <a:pt x="45" y="1220"/>
                  </a:lnTo>
                  <a:lnTo>
                    <a:pt x="68" y="1189"/>
                  </a:lnTo>
                  <a:lnTo>
                    <a:pt x="95" y="1164"/>
                  </a:lnTo>
                  <a:lnTo>
                    <a:pt x="125" y="1142"/>
                  </a:lnTo>
                  <a:lnTo>
                    <a:pt x="158" y="1125"/>
                  </a:lnTo>
                  <a:lnTo>
                    <a:pt x="193" y="1112"/>
                  </a:lnTo>
                  <a:lnTo>
                    <a:pt x="229" y="1104"/>
                  </a:lnTo>
                  <a:lnTo>
                    <a:pt x="267" y="1101"/>
                  </a:lnTo>
                  <a:lnTo>
                    <a:pt x="306" y="1105"/>
                  </a:lnTo>
                  <a:lnTo>
                    <a:pt x="344" y="1113"/>
                  </a:lnTo>
                  <a:lnTo>
                    <a:pt x="649" y="1206"/>
                  </a:lnTo>
                  <a:lnTo>
                    <a:pt x="214" y="390"/>
                  </a:lnTo>
                  <a:lnTo>
                    <a:pt x="199" y="357"/>
                  </a:lnTo>
                  <a:lnTo>
                    <a:pt x="189" y="323"/>
                  </a:lnTo>
                  <a:lnTo>
                    <a:pt x="184" y="290"/>
                  </a:lnTo>
                  <a:lnTo>
                    <a:pt x="182" y="255"/>
                  </a:lnTo>
                  <a:lnTo>
                    <a:pt x="187" y="221"/>
                  </a:lnTo>
                  <a:lnTo>
                    <a:pt x="194" y="188"/>
                  </a:lnTo>
                  <a:lnTo>
                    <a:pt x="206" y="156"/>
                  </a:lnTo>
                  <a:lnTo>
                    <a:pt x="222" y="126"/>
                  </a:lnTo>
                  <a:lnTo>
                    <a:pt x="242" y="98"/>
                  </a:lnTo>
                  <a:lnTo>
                    <a:pt x="265" y="73"/>
                  </a:lnTo>
                  <a:lnTo>
                    <a:pt x="293" y="49"/>
                  </a:lnTo>
                  <a:lnTo>
                    <a:pt x="324" y="30"/>
                  </a:lnTo>
                  <a:lnTo>
                    <a:pt x="356" y="15"/>
                  </a:lnTo>
                  <a:lnTo>
                    <a:pt x="390" y="6"/>
                  </a:lnTo>
                  <a:lnTo>
                    <a:pt x="424" y="0"/>
                  </a:lnTo>
                  <a:lnTo>
                    <a:pt x="458"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38" name="Group 40"/>
          <p:cNvGrpSpPr/>
          <p:nvPr/>
        </p:nvGrpSpPr>
        <p:grpSpPr>
          <a:xfrm>
            <a:off x="4148630" y="2351126"/>
            <a:ext cx="270767" cy="348454"/>
            <a:chOff x="3457575" y="2789238"/>
            <a:chExt cx="376238" cy="484187"/>
          </a:xfrm>
          <a:solidFill>
            <a:schemeClr val="bg1"/>
          </a:solidFill>
        </p:grpSpPr>
        <p:sp>
          <p:nvSpPr>
            <p:cNvPr id="39" name="Freeform 55"/>
            <p:cNvSpPr>
              <a:spLocks noEditPoints="1"/>
            </p:cNvSpPr>
            <p:nvPr/>
          </p:nvSpPr>
          <p:spPr bwMode="auto">
            <a:xfrm>
              <a:off x="3543300" y="2789238"/>
              <a:ext cx="201613" cy="200025"/>
            </a:xfrm>
            <a:custGeom>
              <a:avLst/>
              <a:gdLst>
                <a:gd name="T0" fmla="*/ 522 w 1139"/>
                <a:gd name="T1" fmla="*/ 158 h 1142"/>
                <a:gd name="T2" fmla="*/ 430 w 1139"/>
                <a:gd name="T3" fmla="*/ 179 h 1142"/>
                <a:gd name="T4" fmla="*/ 346 w 1139"/>
                <a:gd name="T5" fmla="*/ 220 h 1142"/>
                <a:gd name="T6" fmla="*/ 274 w 1139"/>
                <a:gd name="T7" fmla="*/ 277 h 1142"/>
                <a:gd name="T8" fmla="*/ 215 w 1139"/>
                <a:gd name="T9" fmla="*/ 350 h 1142"/>
                <a:gd name="T10" fmla="*/ 174 w 1139"/>
                <a:gd name="T11" fmla="*/ 433 h 1142"/>
                <a:gd name="T12" fmla="*/ 152 w 1139"/>
                <a:gd name="T13" fmla="*/ 527 h 1142"/>
                <a:gd name="T14" fmla="*/ 152 w 1139"/>
                <a:gd name="T15" fmla="*/ 626 h 1142"/>
                <a:gd name="T16" fmla="*/ 173 w 1139"/>
                <a:gd name="T17" fmla="*/ 718 h 1142"/>
                <a:gd name="T18" fmla="*/ 214 w 1139"/>
                <a:gd name="T19" fmla="*/ 803 h 1142"/>
                <a:gd name="T20" fmla="*/ 271 w 1139"/>
                <a:gd name="T21" fmla="*/ 875 h 1142"/>
                <a:gd name="T22" fmla="*/ 343 w 1139"/>
                <a:gd name="T23" fmla="*/ 933 h 1142"/>
                <a:gd name="T24" fmla="*/ 427 w 1139"/>
                <a:gd name="T25" fmla="*/ 975 h 1142"/>
                <a:gd name="T26" fmla="*/ 520 w 1139"/>
                <a:gd name="T27" fmla="*/ 997 h 1142"/>
                <a:gd name="T28" fmla="*/ 618 w 1139"/>
                <a:gd name="T29" fmla="*/ 997 h 1142"/>
                <a:gd name="T30" fmla="*/ 711 w 1139"/>
                <a:gd name="T31" fmla="*/ 976 h 1142"/>
                <a:gd name="T32" fmla="*/ 794 w 1139"/>
                <a:gd name="T33" fmla="*/ 935 h 1142"/>
                <a:gd name="T34" fmla="*/ 867 w 1139"/>
                <a:gd name="T35" fmla="*/ 878 h 1142"/>
                <a:gd name="T36" fmla="*/ 925 w 1139"/>
                <a:gd name="T37" fmla="*/ 805 h 1142"/>
                <a:gd name="T38" fmla="*/ 967 w 1139"/>
                <a:gd name="T39" fmla="*/ 721 h 1142"/>
                <a:gd name="T40" fmla="*/ 988 w 1139"/>
                <a:gd name="T41" fmla="*/ 628 h 1142"/>
                <a:gd name="T42" fmla="*/ 988 w 1139"/>
                <a:gd name="T43" fmla="*/ 524 h 1142"/>
                <a:gd name="T44" fmla="*/ 964 w 1139"/>
                <a:gd name="T45" fmla="*/ 424 h 1142"/>
                <a:gd name="T46" fmla="*/ 916 w 1139"/>
                <a:gd name="T47" fmla="*/ 335 h 1142"/>
                <a:gd name="T48" fmla="*/ 851 w 1139"/>
                <a:gd name="T49" fmla="*/ 260 h 1142"/>
                <a:gd name="T50" fmla="*/ 770 w 1139"/>
                <a:gd name="T51" fmla="*/ 204 h 1142"/>
                <a:gd name="T52" fmla="*/ 675 w 1139"/>
                <a:gd name="T53" fmla="*/ 168 h 1142"/>
                <a:gd name="T54" fmla="*/ 570 w 1139"/>
                <a:gd name="T55" fmla="*/ 155 h 1142"/>
                <a:gd name="T56" fmla="*/ 629 w 1139"/>
                <a:gd name="T57" fmla="*/ 3 h 1142"/>
                <a:gd name="T58" fmla="*/ 740 w 1139"/>
                <a:gd name="T59" fmla="*/ 25 h 1142"/>
                <a:gd name="T60" fmla="*/ 844 w 1139"/>
                <a:gd name="T61" fmla="*/ 68 h 1142"/>
                <a:gd name="T62" fmla="*/ 934 w 1139"/>
                <a:gd name="T63" fmla="*/ 128 h 1142"/>
                <a:gd name="T64" fmla="*/ 1011 w 1139"/>
                <a:gd name="T65" fmla="*/ 205 h 1142"/>
                <a:gd name="T66" fmla="*/ 1071 w 1139"/>
                <a:gd name="T67" fmla="*/ 296 h 1142"/>
                <a:gd name="T68" fmla="*/ 1114 w 1139"/>
                <a:gd name="T69" fmla="*/ 400 h 1142"/>
                <a:gd name="T70" fmla="*/ 1136 w 1139"/>
                <a:gd name="T71" fmla="*/ 511 h 1142"/>
                <a:gd name="T72" fmla="*/ 1136 w 1139"/>
                <a:gd name="T73" fmla="*/ 630 h 1142"/>
                <a:gd name="T74" fmla="*/ 1114 w 1139"/>
                <a:gd name="T75" fmla="*/ 742 h 1142"/>
                <a:gd name="T76" fmla="*/ 1071 w 1139"/>
                <a:gd name="T77" fmla="*/ 844 h 1142"/>
                <a:gd name="T78" fmla="*/ 1010 w 1139"/>
                <a:gd name="T79" fmla="*/ 935 h 1142"/>
                <a:gd name="T80" fmla="*/ 933 w 1139"/>
                <a:gd name="T81" fmla="*/ 1012 h 1142"/>
                <a:gd name="T82" fmla="*/ 843 w 1139"/>
                <a:gd name="T83" fmla="*/ 1073 h 1142"/>
                <a:gd name="T84" fmla="*/ 740 w 1139"/>
                <a:gd name="T85" fmla="*/ 1116 h 1142"/>
                <a:gd name="T86" fmla="*/ 629 w 1139"/>
                <a:gd name="T87" fmla="*/ 1138 h 1142"/>
                <a:gd name="T88" fmla="*/ 512 w 1139"/>
                <a:gd name="T89" fmla="*/ 1138 h 1142"/>
                <a:gd name="T90" fmla="*/ 403 w 1139"/>
                <a:gd name="T91" fmla="*/ 1116 h 1142"/>
                <a:gd name="T92" fmla="*/ 300 w 1139"/>
                <a:gd name="T93" fmla="*/ 1073 h 1142"/>
                <a:gd name="T94" fmla="*/ 210 w 1139"/>
                <a:gd name="T95" fmla="*/ 1012 h 1142"/>
                <a:gd name="T96" fmla="*/ 132 w 1139"/>
                <a:gd name="T97" fmla="*/ 935 h 1142"/>
                <a:gd name="T98" fmla="*/ 70 w 1139"/>
                <a:gd name="T99" fmla="*/ 844 h 1142"/>
                <a:gd name="T100" fmla="*/ 27 w 1139"/>
                <a:gd name="T101" fmla="*/ 742 h 1142"/>
                <a:gd name="T102" fmla="*/ 4 w 1139"/>
                <a:gd name="T103" fmla="*/ 630 h 1142"/>
                <a:gd name="T104" fmla="*/ 4 w 1139"/>
                <a:gd name="T105" fmla="*/ 511 h 1142"/>
                <a:gd name="T106" fmla="*/ 26 w 1139"/>
                <a:gd name="T107" fmla="*/ 400 h 1142"/>
                <a:gd name="T108" fmla="*/ 69 w 1139"/>
                <a:gd name="T109" fmla="*/ 296 h 1142"/>
                <a:gd name="T110" fmla="*/ 130 w 1139"/>
                <a:gd name="T111" fmla="*/ 205 h 1142"/>
                <a:gd name="T112" fmla="*/ 207 w 1139"/>
                <a:gd name="T113" fmla="*/ 128 h 1142"/>
                <a:gd name="T114" fmla="*/ 297 w 1139"/>
                <a:gd name="T115" fmla="*/ 68 h 1142"/>
                <a:gd name="T116" fmla="*/ 399 w 1139"/>
                <a:gd name="T117" fmla="*/ 25 h 1142"/>
                <a:gd name="T118" fmla="*/ 511 w 1139"/>
                <a:gd name="T119" fmla="*/ 3 h 1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1142">
                  <a:moveTo>
                    <a:pt x="570" y="155"/>
                  </a:moveTo>
                  <a:lnTo>
                    <a:pt x="522" y="158"/>
                  </a:lnTo>
                  <a:lnTo>
                    <a:pt x="474" y="166"/>
                  </a:lnTo>
                  <a:lnTo>
                    <a:pt x="430" y="179"/>
                  </a:lnTo>
                  <a:lnTo>
                    <a:pt x="387" y="198"/>
                  </a:lnTo>
                  <a:lnTo>
                    <a:pt x="346" y="220"/>
                  </a:lnTo>
                  <a:lnTo>
                    <a:pt x="308" y="247"/>
                  </a:lnTo>
                  <a:lnTo>
                    <a:pt x="274" y="277"/>
                  </a:lnTo>
                  <a:lnTo>
                    <a:pt x="243" y="312"/>
                  </a:lnTo>
                  <a:lnTo>
                    <a:pt x="215" y="350"/>
                  </a:lnTo>
                  <a:lnTo>
                    <a:pt x="192" y="390"/>
                  </a:lnTo>
                  <a:lnTo>
                    <a:pt x="174" y="433"/>
                  </a:lnTo>
                  <a:lnTo>
                    <a:pt x="160" y="480"/>
                  </a:lnTo>
                  <a:lnTo>
                    <a:pt x="152" y="527"/>
                  </a:lnTo>
                  <a:lnTo>
                    <a:pt x="149" y="578"/>
                  </a:lnTo>
                  <a:lnTo>
                    <a:pt x="152" y="626"/>
                  </a:lnTo>
                  <a:lnTo>
                    <a:pt x="160" y="673"/>
                  </a:lnTo>
                  <a:lnTo>
                    <a:pt x="173" y="718"/>
                  </a:lnTo>
                  <a:lnTo>
                    <a:pt x="191" y="762"/>
                  </a:lnTo>
                  <a:lnTo>
                    <a:pt x="214" y="803"/>
                  </a:lnTo>
                  <a:lnTo>
                    <a:pt x="240" y="840"/>
                  </a:lnTo>
                  <a:lnTo>
                    <a:pt x="271" y="875"/>
                  </a:lnTo>
                  <a:lnTo>
                    <a:pt x="306" y="906"/>
                  </a:lnTo>
                  <a:lnTo>
                    <a:pt x="343" y="933"/>
                  </a:lnTo>
                  <a:lnTo>
                    <a:pt x="384" y="956"/>
                  </a:lnTo>
                  <a:lnTo>
                    <a:pt x="427" y="975"/>
                  </a:lnTo>
                  <a:lnTo>
                    <a:pt x="472" y="989"/>
                  </a:lnTo>
                  <a:lnTo>
                    <a:pt x="520" y="997"/>
                  </a:lnTo>
                  <a:lnTo>
                    <a:pt x="570" y="1000"/>
                  </a:lnTo>
                  <a:lnTo>
                    <a:pt x="618" y="997"/>
                  </a:lnTo>
                  <a:lnTo>
                    <a:pt x="666" y="989"/>
                  </a:lnTo>
                  <a:lnTo>
                    <a:pt x="711" y="976"/>
                  </a:lnTo>
                  <a:lnTo>
                    <a:pt x="754" y="958"/>
                  </a:lnTo>
                  <a:lnTo>
                    <a:pt x="794" y="935"/>
                  </a:lnTo>
                  <a:lnTo>
                    <a:pt x="832" y="908"/>
                  </a:lnTo>
                  <a:lnTo>
                    <a:pt x="867" y="878"/>
                  </a:lnTo>
                  <a:lnTo>
                    <a:pt x="897" y="843"/>
                  </a:lnTo>
                  <a:lnTo>
                    <a:pt x="925" y="805"/>
                  </a:lnTo>
                  <a:lnTo>
                    <a:pt x="948" y="765"/>
                  </a:lnTo>
                  <a:lnTo>
                    <a:pt x="967" y="721"/>
                  </a:lnTo>
                  <a:lnTo>
                    <a:pt x="979" y="675"/>
                  </a:lnTo>
                  <a:lnTo>
                    <a:pt x="988" y="628"/>
                  </a:lnTo>
                  <a:lnTo>
                    <a:pt x="991" y="578"/>
                  </a:lnTo>
                  <a:lnTo>
                    <a:pt x="988" y="524"/>
                  </a:lnTo>
                  <a:lnTo>
                    <a:pt x="978" y="472"/>
                  </a:lnTo>
                  <a:lnTo>
                    <a:pt x="964" y="424"/>
                  </a:lnTo>
                  <a:lnTo>
                    <a:pt x="943" y="377"/>
                  </a:lnTo>
                  <a:lnTo>
                    <a:pt x="916" y="335"/>
                  </a:lnTo>
                  <a:lnTo>
                    <a:pt x="886" y="296"/>
                  </a:lnTo>
                  <a:lnTo>
                    <a:pt x="851" y="260"/>
                  </a:lnTo>
                  <a:lnTo>
                    <a:pt x="812" y="230"/>
                  </a:lnTo>
                  <a:lnTo>
                    <a:pt x="770" y="204"/>
                  </a:lnTo>
                  <a:lnTo>
                    <a:pt x="724" y="183"/>
                  </a:lnTo>
                  <a:lnTo>
                    <a:pt x="675" y="168"/>
                  </a:lnTo>
                  <a:lnTo>
                    <a:pt x="624" y="159"/>
                  </a:lnTo>
                  <a:lnTo>
                    <a:pt x="570" y="155"/>
                  </a:lnTo>
                  <a:close/>
                  <a:moveTo>
                    <a:pt x="570" y="0"/>
                  </a:moveTo>
                  <a:lnTo>
                    <a:pt x="629" y="3"/>
                  </a:lnTo>
                  <a:lnTo>
                    <a:pt x="686" y="11"/>
                  </a:lnTo>
                  <a:lnTo>
                    <a:pt x="740" y="25"/>
                  </a:lnTo>
                  <a:lnTo>
                    <a:pt x="793" y="44"/>
                  </a:lnTo>
                  <a:lnTo>
                    <a:pt x="844" y="68"/>
                  </a:lnTo>
                  <a:lnTo>
                    <a:pt x="890" y="96"/>
                  </a:lnTo>
                  <a:lnTo>
                    <a:pt x="934" y="128"/>
                  </a:lnTo>
                  <a:lnTo>
                    <a:pt x="974" y="165"/>
                  </a:lnTo>
                  <a:lnTo>
                    <a:pt x="1011" y="205"/>
                  </a:lnTo>
                  <a:lnTo>
                    <a:pt x="1044" y="250"/>
                  </a:lnTo>
                  <a:lnTo>
                    <a:pt x="1071" y="296"/>
                  </a:lnTo>
                  <a:lnTo>
                    <a:pt x="1095" y="347"/>
                  </a:lnTo>
                  <a:lnTo>
                    <a:pt x="1114" y="400"/>
                  </a:lnTo>
                  <a:lnTo>
                    <a:pt x="1128" y="454"/>
                  </a:lnTo>
                  <a:lnTo>
                    <a:pt x="1136" y="511"/>
                  </a:lnTo>
                  <a:lnTo>
                    <a:pt x="1139" y="571"/>
                  </a:lnTo>
                  <a:lnTo>
                    <a:pt x="1136" y="630"/>
                  </a:lnTo>
                  <a:lnTo>
                    <a:pt x="1128" y="687"/>
                  </a:lnTo>
                  <a:lnTo>
                    <a:pt x="1114" y="742"/>
                  </a:lnTo>
                  <a:lnTo>
                    <a:pt x="1095" y="794"/>
                  </a:lnTo>
                  <a:lnTo>
                    <a:pt x="1071" y="844"/>
                  </a:lnTo>
                  <a:lnTo>
                    <a:pt x="1043" y="891"/>
                  </a:lnTo>
                  <a:lnTo>
                    <a:pt x="1010" y="935"/>
                  </a:lnTo>
                  <a:lnTo>
                    <a:pt x="974" y="976"/>
                  </a:lnTo>
                  <a:lnTo>
                    <a:pt x="933" y="1012"/>
                  </a:lnTo>
                  <a:lnTo>
                    <a:pt x="890" y="1044"/>
                  </a:lnTo>
                  <a:lnTo>
                    <a:pt x="843" y="1073"/>
                  </a:lnTo>
                  <a:lnTo>
                    <a:pt x="793" y="1097"/>
                  </a:lnTo>
                  <a:lnTo>
                    <a:pt x="740" y="1116"/>
                  </a:lnTo>
                  <a:lnTo>
                    <a:pt x="686" y="1130"/>
                  </a:lnTo>
                  <a:lnTo>
                    <a:pt x="629" y="1138"/>
                  </a:lnTo>
                  <a:lnTo>
                    <a:pt x="570" y="1142"/>
                  </a:lnTo>
                  <a:lnTo>
                    <a:pt x="512" y="1138"/>
                  </a:lnTo>
                  <a:lnTo>
                    <a:pt x="456" y="1130"/>
                  </a:lnTo>
                  <a:lnTo>
                    <a:pt x="403" y="1116"/>
                  </a:lnTo>
                  <a:lnTo>
                    <a:pt x="350" y="1097"/>
                  </a:lnTo>
                  <a:lnTo>
                    <a:pt x="300" y="1073"/>
                  </a:lnTo>
                  <a:lnTo>
                    <a:pt x="253" y="1044"/>
                  </a:lnTo>
                  <a:lnTo>
                    <a:pt x="210" y="1012"/>
                  </a:lnTo>
                  <a:lnTo>
                    <a:pt x="169" y="976"/>
                  </a:lnTo>
                  <a:lnTo>
                    <a:pt x="132" y="935"/>
                  </a:lnTo>
                  <a:lnTo>
                    <a:pt x="99" y="891"/>
                  </a:lnTo>
                  <a:lnTo>
                    <a:pt x="70" y="844"/>
                  </a:lnTo>
                  <a:lnTo>
                    <a:pt x="46" y="794"/>
                  </a:lnTo>
                  <a:lnTo>
                    <a:pt x="27" y="742"/>
                  </a:lnTo>
                  <a:lnTo>
                    <a:pt x="12" y="687"/>
                  </a:lnTo>
                  <a:lnTo>
                    <a:pt x="4" y="630"/>
                  </a:lnTo>
                  <a:lnTo>
                    <a:pt x="0" y="571"/>
                  </a:lnTo>
                  <a:lnTo>
                    <a:pt x="4" y="511"/>
                  </a:lnTo>
                  <a:lnTo>
                    <a:pt x="12" y="454"/>
                  </a:lnTo>
                  <a:lnTo>
                    <a:pt x="26" y="400"/>
                  </a:lnTo>
                  <a:lnTo>
                    <a:pt x="45" y="347"/>
                  </a:lnTo>
                  <a:lnTo>
                    <a:pt x="69" y="296"/>
                  </a:lnTo>
                  <a:lnTo>
                    <a:pt x="97" y="250"/>
                  </a:lnTo>
                  <a:lnTo>
                    <a:pt x="130" y="205"/>
                  </a:lnTo>
                  <a:lnTo>
                    <a:pt x="166" y="165"/>
                  </a:lnTo>
                  <a:lnTo>
                    <a:pt x="207" y="128"/>
                  </a:lnTo>
                  <a:lnTo>
                    <a:pt x="250" y="96"/>
                  </a:lnTo>
                  <a:lnTo>
                    <a:pt x="297" y="68"/>
                  </a:lnTo>
                  <a:lnTo>
                    <a:pt x="347" y="44"/>
                  </a:lnTo>
                  <a:lnTo>
                    <a:pt x="399" y="25"/>
                  </a:lnTo>
                  <a:lnTo>
                    <a:pt x="454" y="11"/>
                  </a:lnTo>
                  <a:lnTo>
                    <a:pt x="511" y="3"/>
                  </a:lnTo>
                  <a:lnTo>
                    <a:pt x="57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0" name="Freeform 57"/>
            <p:cNvSpPr>
              <a:spLocks noEditPoints="1"/>
            </p:cNvSpPr>
            <p:nvPr/>
          </p:nvSpPr>
          <p:spPr bwMode="auto">
            <a:xfrm>
              <a:off x="3457575" y="3028950"/>
              <a:ext cx="376238" cy="244475"/>
            </a:xfrm>
            <a:custGeom>
              <a:avLst/>
              <a:gdLst>
                <a:gd name="T0" fmla="*/ 405 w 2129"/>
                <a:gd name="T1" fmla="*/ 151 h 1386"/>
                <a:gd name="T2" fmla="*/ 334 w 2129"/>
                <a:gd name="T3" fmla="*/ 171 h 1386"/>
                <a:gd name="T4" fmla="*/ 269 w 2129"/>
                <a:gd name="T5" fmla="*/ 208 h 1386"/>
                <a:gd name="T6" fmla="*/ 217 w 2129"/>
                <a:gd name="T7" fmla="*/ 260 h 1386"/>
                <a:gd name="T8" fmla="*/ 179 w 2129"/>
                <a:gd name="T9" fmla="*/ 323 h 1386"/>
                <a:gd name="T10" fmla="*/ 158 w 2129"/>
                <a:gd name="T11" fmla="*/ 398 h 1386"/>
                <a:gd name="T12" fmla="*/ 155 w 2129"/>
                <a:gd name="T13" fmla="*/ 1237 h 1386"/>
                <a:gd name="T14" fmla="*/ 1974 w 2129"/>
                <a:gd name="T15" fmla="*/ 438 h 1386"/>
                <a:gd name="T16" fmla="*/ 1963 w 2129"/>
                <a:gd name="T17" fmla="*/ 362 h 1386"/>
                <a:gd name="T18" fmla="*/ 1935 w 2129"/>
                <a:gd name="T19" fmla="*/ 294 h 1386"/>
                <a:gd name="T20" fmla="*/ 1891 w 2129"/>
                <a:gd name="T21" fmla="*/ 234 h 1386"/>
                <a:gd name="T22" fmla="*/ 1833 w 2129"/>
                <a:gd name="T23" fmla="*/ 189 h 1386"/>
                <a:gd name="T24" fmla="*/ 1763 w 2129"/>
                <a:gd name="T25" fmla="*/ 160 h 1386"/>
                <a:gd name="T26" fmla="*/ 1685 w 2129"/>
                <a:gd name="T27" fmla="*/ 148 h 1386"/>
                <a:gd name="T28" fmla="*/ 1116 w 2129"/>
                <a:gd name="T29" fmla="*/ 422 h 1386"/>
                <a:gd name="T30" fmla="*/ 1082 w 2129"/>
                <a:gd name="T31" fmla="*/ 442 h 1386"/>
                <a:gd name="T32" fmla="*/ 1045 w 2129"/>
                <a:gd name="T33" fmla="*/ 442 h 1386"/>
                <a:gd name="T34" fmla="*/ 1013 w 2129"/>
                <a:gd name="T35" fmla="*/ 422 h 1386"/>
                <a:gd name="T36" fmla="*/ 444 w 2129"/>
                <a:gd name="T37" fmla="*/ 148 h 1386"/>
                <a:gd name="T38" fmla="*/ 768 w 2129"/>
                <a:gd name="T39" fmla="*/ 0 h 1386"/>
                <a:gd name="T40" fmla="*/ 797 w 2129"/>
                <a:gd name="T41" fmla="*/ 7 h 1386"/>
                <a:gd name="T42" fmla="*/ 820 w 2129"/>
                <a:gd name="T43" fmla="*/ 22 h 1386"/>
                <a:gd name="T44" fmla="*/ 1309 w 2129"/>
                <a:gd name="T45" fmla="*/ 22 h 1386"/>
                <a:gd name="T46" fmla="*/ 1332 w 2129"/>
                <a:gd name="T47" fmla="*/ 7 h 1386"/>
                <a:gd name="T48" fmla="*/ 1360 w 2129"/>
                <a:gd name="T49" fmla="*/ 0 h 1386"/>
                <a:gd name="T50" fmla="*/ 1742 w 2129"/>
                <a:gd name="T51" fmla="*/ 3 h 1386"/>
                <a:gd name="T52" fmla="*/ 1838 w 2129"/>
                <a:gd name="T53" fmla="*/ 26 h 1386"/>
                <a:gd name="T54" fmla="*/ 1924 w 2129"/>
                <a:gd name="T55" fmla="*/ 68 h 1386"/>
                <a:gd name="T56" fmla="*/ 1999 w 2129"/>
                <a:gd name="T57" fmla="*/ 128 h 1386"/>
                <a:gd name="T58" fmla="*/ 2059 w 2129"/>
                <a:gd name="T59" fmla="*/ 202 h 1386"/>
                <a:gd name="T60" fmla="*/ 2102 w 2129"/>
                <a:gd name="T61" fmla="*/ 289 h 1386"/>
                <a:gd name="T62" fmla="*/ 2125 w 2129"/>
                <a:gd name="T63" fmla="*/ 386 h 1386"/>
                <a:gd name="T64" fmla="*/ 2129 w 2129"/>
                <a:gd name="T65" fmla="*/ 1312 h 1386"/>
                <a:gd name="T66" fmla="*/ 2113 w 2129"/>
                <a:gd name="T67" fmla="*/ 1351 h 1386"/>
                <a:gd name="T68" fmla="*/ 2083 w 2129"/>
                <a:gd name="T69" fmla="*/ 1377 h 1386"/>
                <a:gd name="T70" fmla="*/ 2048 w 2129"/>
                <a:gd name="T71" fmla="*/ 1386 h 1386"/>
                <a:gd name="T72" fmla="*/ 53 w 2129"/>
                <a:gd name="T73" fmla="*/ 1384 h 1386"/>
                <a:gd name="T74" fmla="*/ 20 w 2129"/>
                <a:gd name="T75" fmla="*/ 1366 h 1386"/>
                <a:gd name="T76" fmla="*/ 2 w 2129"/>
                <a:gd name="T77" fmla="*/ 1333 h 1386"/>
                <a:gd name="T78" fmla="*/ 0 w 2129"/>
                <a:gd name="T79" fmla="*/ 438 h 1386"/>
                <a:gd name="T80" fmla="*/ 12 w 2129"/>
                <a:gd name="T81" fmla="*/ 339 h 1386"/>
                <a:gd name="T82" fmla="*/ 44 w 2129"/>
                <a:gd name="T83" fmla="*/ 247 h 1386"/>
                <a:gd name="T84" fmla="*/ 95 w 2129"/>
                <a:gd name="T85" fmla="*/ 166 h 1386"/>
                <a:gd name="T86" fmla="*/ 162 w 2129"/>
                <a:gd name="T87" fmla="*/ 98 h 1386"/>
                <a:gd name="T88" fmla="*/ 243 w 2129"/>
                <a:gd name="T89" fmla="*/ 46 h 1386"/>
                <a:gd name="T90" fmla="*/ 335 w 2129"/>
                <a:gd name="T91" fmla="*/ 13 h 1386"/>
                <a:gd name="T92" fmla="*/ 436 w 2129"/>
                <a:gd name="T93" fmla="*/ 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9" h="1386">
                  <a:moveTo>
                    <a:pt x="444" y="148"/>
                  </a:moveTo>
                  <a:lnTo>
                    <a:pt x="405" y="151"/>
                  </a:lnTo>
                  <a:lnTo>
                    <a:pt x="368" y="159"/>
                  </a:lnTo>
                  <a:lnTo>
                    <a:pt x="334" y="171"/>
                  </a:lnTo>
                  <a:lnTo>
                    <a:pt x="300" y="187"/>
                  </a:lnTo>
                  <a:lnTo>
                    <a:pt x="269" y="208"/>
                  </a:lnTo>
                  <a:lnTo>
                    <a:pt x="241" y="231"/>
                  </a:lnTo>
                  <a:lnTo>
                    <a:pt x="217" y="260"/>
                  </a:lnTo>
                  <a:lnTo>
                    <a:pt x="196" y="290"/>
                  </a:lnTo>
                  <a:lnTo>
                    <a:pt x="179" y="323"/>
                  </a:lnTo>
                  <a:lnTo>
                    <a:pt x="166" y="360"/>
                  </a:lnTo>
                  <a:lnTo>
                    <a:pt x="158" y="398"/>
                  </a:lnTo>
                  <a:lnTo>
                    <a:pt x="155" y="438"/>
                  </a:lnTo>
                  <a:lnTo>
                    <a:pt x="155" y="1237"/>
                  </a:lnTo>
                  <a:lnTo>
                    <a:pt x="1974" y="1237"/>
                  </a:lnTo>
                  <a:lnTo>
                    <a:pt x="1974" y="438"/>
                  </a:lnTo>
                  <a:lnTo>
                    <a:pt x="1971" y="399"/>
                  </a:lnTo>
                  <a:lnTo>
                    <a:pt x="1963" y="362"/>
                  </a:lnTo>
                  <a:lnTo>
                    <a:pt x="1952" y="327"/>
                  </a:lnTo>
                  <a:lnTo>
                    <a:pt x="1935" y="294"/>
                  </a:lnTo>
                  <a:lnTo>
                    <a:pt x="1915" y="263"/>
                  </a:lnTo>
                  <a:lnTo>
                    <a:pt x="1891" y="234"/>
                  </a:lnTo>
                  <a:lnTo>
                    <a:pt x="1863" y="210"/>
                  </a:lnTo>
                  <a:lnTo>
                    <a:pt x="1833" y="189"/>
                  </a:lnTo>
                  <a:lnTo>
                    <a:pt x="1799" y="172"/>
                  </a:lnTo>
                  <a:lnTo>
                    <a:pt x="1763" y="160"/>
                  </a:lnTo>
                  <a:lnTo>
                    <a:pt x="1725" y="151"/>
                  </a:lnTo>
                  <a:lnTo>
                    <a:pt x="1685" y="148"/>
                  </a:lnTo>
                  <a:lnTo>
                    <a:pt x="1390" y="148"/>
                  </a:lnTo>
                  <a:lnTo>
                    <a:pt x="1116" y="422"/>
                  </a:lnTo>
                  <a:lnTo>
                    <a:pt x="1100" y="435"/>
                  </a:lnTo>
                  <a:lnTo>
                    <a:pt x="1082" y="442"/>
                  </a:lnTo>
                  <a:lnTo>
                    <a:pt x="1064" y="446"/>
                  </a:lnTo>
                  <a:lnTo>
                    <a:pt x="1045" y="442"/>
                  </a:lnTo>
                  <a:lnTo>
                    <a:pt x="1029" y="435"/>
                  </a:lnTo>
                  <a:lnTo>
                    <a:pt x="1013" y="422"/>
                  </a:lnTo>
                  <a:lnTo>
                    <a:pt x="739" y="148"/>
                  </a:lnTo>
                  <a:lnTo>
                    <a:pt x="444" y="148"/>
                  </a:lnTo>
                  <a:close/>
                  <a:moveTo>
                    <a:pt x="436" y="0"/>
                  </a:moveTo>
                  <a:lnTo>
                    <a:pt x="768" y="0"/>
                  </a:lnTo>
                  <a:lnTo>
                    <a:pt x="784" y="2"/>
                  </a:lnTo>
                  <a:lnTo>
                    <a:pt x="797" y="7"/>
                  </a:lnTo>
                  <a:lnTo>
                    <a:pt x="808" y="13"/>
                  </a:lnTo>
                  <a:lnTo>
                    <a:pt x="820" y="22"/>
                  </a:lnTo>
                  <a:lnTo>
                    <a:pt x="1064" y="267"/>
                  </a:lnTo>
                  <a:lnTo>
                    <a:pt x="1309" y="22"/>
                  </a:lnTo>
                  <a:lnTo>
                    <a:pt x="1319" y="13"/>
                  </a:lnTo>
                  <a:lnTo>
                    <a:pt x="1332" y="7"/>
                  </a:lnTo>
                  <a:lnTo>
                    <a:pt x="1344" y="2"/>
                  </a:lnTo>
                  <a:lnTo>
                    <a:pt x="1360" y="0"/>
                  </a:lnTo>
                  <a:lnTo>
                    <a:pt x="1693" y="0"/>
                  </a:lnTo>
                  <a:lnTo>
                    <a:pt x="1742" y="3"/>
                  </a:lnTo>
                  <a:lnTo>
                    <a:pt x="1791" y="12"/>
                  </a:lnTo>
                  <a:lnTo>
                    <a:pt x="1838" y="26"/>
                  </a:lnTo>
                  <a:lnTo>
                    <a:pt x="1882" y="45"/>
                  </a:lnTo>
                  <a:lnTo>
                    <a:pt x="1924" y="68"/>
                  </a:lnTo>
                  <a:lnTo>
                    <a:pt x="1963" y="95"/>
                  </a:lnTo>
                  <a:lnTo>
                    <a:pt x="1999" y="128"/>
                  </a:lnTo>
                  <a:lnTo>
                    <a:pt x="2032" y="163"/>
                  </a:lnTo>
                  <a:lnTo>
                    <a:pt x="2059" y="202"/>
                  </a:lnTo>
                  <a:lnTo>
                    <a:pt x="2083" y="244"/>
                  </a:lnTo>
                  <a:lnTo>
                    <a:pt x="2102" y="289"/>
                  </a:lnTo>
                  <a:lnTo>
                    <a:pt x="2117" y="337"/>
                  </a:lnTo>
                  <a:lnTo>
                    <a:pt x="2125" y="386"/>
                  </a:lnTo>
                  <a:lnTo>
                    <a:pt x="2129" y="438"/>
                  </a:lnTo>
                  <a:lnTo>
                    <a:pt x="2129" y="1312"/>
                  </a:lnTo>
                  <a:lnTo>
                    <a:pt x="2122" y="1333"/>
                  </a:lnTo>
                  <a:lnTo>
                    <a:pt x="2113" y="1351"/>
                  </a:lnTo>
                  <a:lnTo>
                    <a:pt x="2099" y="1366"/>
                  </a:lnTo>
                  <a:lnTo>
                    <a:pt x="2083" y="1377"/>
                  </a:lnTo>
                  <a:lnTo>
                    <a:pt x="2065" y="1384"/>
                  </a:lnTo>
                  <a:lnTo>
                    <a:pt x="2048" y="1386"/>
                  </a:lnTo>
                  <a:lnTo>
                    <a:pt x="74" y="1386"/>
                  </a:lnTo>
                  <a:lnTo>
                    <a:pt x="53" y="1384"/>
                  </a:lnTo>
                  <a:lnTo>
                    <a:pt x="35" y="1377"/>
                  </a:lnTo>
                  <a:lnTo>
                    <a:pt x="20" y="1366"/>
                  </a:lnTo>
                  <a:lnTo>
                    <a:pt x="9" y="1351"/>
                  </a:lnTo>
                  <a:lnTo>
                    <a:pt x="2" y="1333"/>
                  </a:lnTo>
                  <a:lnTo>
                    <a:pt x="0" y="1312"/>
                  </a:lnTo>
                  <a:lnTo>
                    <a:pt x="0" y="438"/>
                  </a:lnTo>
                  <a:lnTo>
                    <a:pt x="3" y="388"/>
                  </a:lnTo>
                  <a:lnTo>
                    <a:pt x="12" y="339"/>
                  </a:lnTo>
                  <a:lnTo>
                    <a:pt x="25" y="291"/>
                  </a:lnTo>
                  <a:lnTo>
                    <a:pt x="44" y="247"/>
                  </a:lnTo>
                  <a:lnTo>
                    <a:pt x="67" y="205"/>
                  </a:lnTo>
                  <a:lnTo>
                    <a:pt x="95" y="166"/>
                  </a:lnTo>
                  <a:lnTo>
                    <a:pt x="126" y="130"/>
                  </a:lnTo>
                  <a:lnTo>
                    <a:pt x="162" y="98"/>
                  </a:lnTo>
                  <a:lnTo>
                    <a:pt x="201" y="70"/>
                  </a:lnTo>
                  <a:lnTo>
                    <a:pt x="243" y="46"/>
                  </a:lnTo>
                  <a:lnTo>
                    <a:pt x="287" y="27"/>
                  </a:lnTo>
                  <a:lnTo>
                    <a:pt x="335" y="13"/>
                  </a:lnTo>
                  <a:lnTo>
                    <a:pt x="384" y="3"/>
                  </a:lnTo>
                  <a:lnTo>
                    <a:pt x="436"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41" name="Freeform 91"/>
          <p:cNvSpPr>
            <a:spLocks noEditPoints="1"/>
          </p:cNvSpPr>
          <p:nvPr/>
        </p:nvSpPr>
        <p:spPr bwMode="auto">
          <a:xfrm>
            <a:off x="5779492" y="2350122"/>
            <a:ext cx="377634" cy="377634"/>
          </a:xfrm>
          <a:custGeom>
            <a:avLst/>
            <a:gdLst>
              <a:gd name="T0" fmla="*/ 1133 w 3474"/>
              <a:gd name="T1" fmla="*/ 1077 h 3475"/>
              <a:gd name="T2" fmla="*/ 1072 w 3474"/>
              <a:gd name="T3" fmla="*/ 1158 h 3475"/>
              <a:gd name="T4" fmla="*/ 1124 w 3474"/>
              <a:gd name="T5" fmla="*/ 1172 h 3475"/>
              <a:gd name="T6" fmla="*/ 1180 w 3474"/>
              <a:gd name="T7" fmla="*/ 1194 h 3475"/>
              <a:gd name="T8" fmla="*/ 1199 w 3474"/>
              <a:gd name="T9" fmla="*/ 1253 h 3475"/>
              <a:gd name="T10" fmla="*/ 1167 w 3474"/>
              <a:gd name="T11" fmla="*/ 1309 h 3475"/>
              <a:gd name="T12" fmla="*/ 1228 w 3474"/>
              <a:gd name="T13" fmla="*/ 1326 h 3475"/>
              <a:gd name="T14" fmla="*/ 1315 w 3474"/>
              <a:gd name="T15" fmla="*/ 1268 h 3475"/>
              <a:gd name="T16" fmla="*/ 1334 w 3474"/>
              <a:gd name="T17" fmla="*/ 1166 h 3475"/>
              <a:gd name="T18" fmla="*/ 1287 w 3474"/>
              <a:gd name="T19" fmla="*/ 1085 h 3475"/>
              <a:gd name="T20" fmla="*/ 1210 w 3474"/>
              <a:gd name="T21" fmla="*/ 1057 h 3475"/>
              <a:gd name="T22" fmla="*/ 736 w 3474"/>
              <a:gd name="T23" fmla="*/ 1040 h 3475"/>
              <a:gd name="T24" fmla="*/ 924 w 3474"/>
              <a:gd name="T25" fmla="*/ 1147 h 3475"/>
              <a:gd name="T26" fmla="*/ 978 w 3474"/>
              <a:gd name="T27" fmla="*/ 1020 h 3475"/>
              <a:gd name="T28" fmla="*/ 1094 w 3474"/>
              <a:gd name="T29" fmla="*/ 934 h 3475"/>
              <a:gd name="T30" fmla="*/ 1236 w 3474"/>
              <a:gd name="T31" fmla="*/ 916 h 3475"/>
              <a:gd name="T32" fmla="*/ 1372 w 3474"/>
              <a:gd name="T33" fmla="*/ 968 h 3475"/>
              <a:gd name="T34" fmla="*/ 1464 w 3474"/>
              <a:gd name="T35" fmla="*/ 1085 h 3475"/>
              <a:gd name="T36" fmla="*/ 1482 w 3474"/>
              <a:gd name="T37" fmla="*/ 1227 h 3475"/>
              <a:gd name="T38" fmla="*/ 1427 w 3474"/>
              <a:gd name="T39" fmla="*/ 1363 h 3475"/>
              <a:gd name="T40" fmla="*/ 1310 w 3474"/>
              <a:gd name="T41" fmla="*/ 1452 h 3475"/>
              <a:gd name="T42" fmla="*/ 1165 w 3474"/>
              <a:gd name="T43" fmla="*/ 1471 h 3475"/>
              <a:gd name="T44" fmla="*/ 1031 w 3474"/>
              <a:gd name="T45" fmla="*/ 1415 h 3475"/>
              <a:gd name="T46" fmla="*/ 942 w 3474"/>
              <a:gd name="T47" fmla="*/ 1299 h 3475"/>
              <a:gd name="T48" fmla="*/ 719 w 3474"/>
              <a:gd name="T49" fmla="*/ 1199 h 3475"/>
              <a:gd name="T50" fmla="*/ 3298 w 3474"/>
              <a:gd name="T51" fmla="*/ 2319 h 3475"/>
              <a:gd name="T52" fmla="*/ 208 w 3474"/>
              <a:gd name="T53" fmla="*/ 148 h 3475"/>
              <a:gd name="T54" fmla="*/ 147 w 3474"/>
              <a:gd name="T55" fmla="*/ 208 h 3475"/>
              <a:gd name="T56" fmla="*/ 151 w 3474"/>
              <a:gd name="T57" fmla="*/ 322 h 3475"/>
              <a:gd name="T58" fmla="*/ 214 w 3474"/>
              <a:gd name="T59" fmla="*/ 473 h 3475"/>
              <a:gd name="T60" fmla="*/ 329 w 3474"/>
              <a:gd name="T61" fmla="*/ 647 h 3475"/>
              <a:gd name="T62" fmla="*/ 489 w 3474"/>
              <a:gd name="T63" fmla="*/ 830 h 3475"/>
              <a:gd name="T64" fmla="*/ 602 w 3474"/>
              <a:gd name="T65" fmla="*/ 609 h 3475"/>
              <a:gd name="T66" fmla="*/ 649 w 3474"/>
              <a:gd name="T67" fmla="*/ 577 h 3475"/>
              <a:gd name="T68" fmla="*/ 734 w 3474"/>
              <a:gd name="T69" fmla="*/ 408 h 3475"/>
              <a:gd name="T70" fmla="*/ 555 w 3474"/>
              <a:gd name="T71" fmla="*/ 269 h 3475"/>
              <a:gd name="T72" fmla="*/ 392 w 3474"/>
              <a:gd name="T73" fmla="*/ 177 h 3475"/>
              <a:gd name="T74" fmla="*/ 259 w 3474"/>
              <a:gd name="T75" fmla="*/ 142 h 3475"/>
              <a:gd name="T76" fmla="*/ 336 w 3474"/>
              <a:gd name="T77" fmla="*/ 15 h 3475"/>
              <a:gd name="T78" fmla="*/ 524 w 3474"/>
              <a:gd name="T79" fmla="*/ 87 h 3475"/>
              <a:gd name="T80" fmla="*/ 726 w 3474"/>
              <a:gd name="T81" fmla="*/ 213 h 3475"/>
              <a:gd name="T82" fmla="*/ 929 w 3474"/>
              <a:gd name="T83" fmla="*/ 389 h 3475"/>
              <a:gd name="T84" fmla="*/ 1592 w 3474"/>
              <a:gd name="T85" fmla="*/ 427 h 3475"/>
              <a:gd name="T86" fmla="*/ 1645 w 3474"/>
              <a:gd name="T87" fmla="*/ 452 h 3475"/>
              <a:gd name="T88" fmla="*/ 3474 w 3474"/>
              <a:gd name="T89" fmla="*/ 2318 h 3475"/>
              <a:gd name="T90" fmla="*/ 2375 w 3474"/>
              <a:gd name="T91" fmla="*/ 3452 h 3475"/>
              <a:gd name="T92" fmla="*/ 2323 w 3474"/>
              <a:gd name="T93" fmla="*/ 3475 h 3475"/>
              <a:gd name="T94" fmla="*/ 2272 w 3474"/>
              <a:gd name="T95" fmla="*/ 3452 h 3475"/>
              <a:gd name="T96" fmla="*/ 443 w 3474"/>
              <a:gd name="T97" fmla="*/ 1592 h 3475"/>
              <a:gd name="T98" fmla="*/ 430 w 3474"/>
              <a:gd name="T99" fmla="*/ 978 h 3475"/>
              <a:gd name="T100" fmla="*/ 249 w 3474"/>
              <a:gd name="T101" fmla="*/ 781 h 3475"/>
              <a:gd name="T102" fmla="*/ 111 w 3474"/>
              <a:gd name="T103" fmla="*/ 575 h 3475"/>
              <a:gd name="T104" fmla="*/ 26 w 3474"/>
              <a:gd name="T105" fmla="*/ 381 h 3475"/>
              <a:gd name="T106" fmla="*/ 0 w 3474"/>
              <a:gd name="T107" fmla="*/ 212 h 3475"/>
              <a:gd name="T108" fmla="*/ 39 w 3474"/>
              <a:gd name="T109" fmla="*/ 83 h 3475"/>
              <a:gd name="T110" fmla="*/ 142 w 3474"/>
              <a:gd name="T111" fmla="*/ 11 h 3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74" h="3475">
                <a:moveTo>
                  <a:pt x="1210" y="1057"/>
                </a:moveTo>
                <a:lnTo>
                  <a:pt x="1184" y="1059"/>
                </a:lnTo>
                <a:lnTo>
                  <a:pt x="1159" y="1065"/>
                </a:lnTo>
                <a:lnTo>
                  <a:pt x="1133" y="1077"/>
                </a:lnTo>
                <a:lnTo>
                  <a:pt x="1107" y="1097"/>
                </a:lnTo>
                <a:lnTo>
                  <a:pt x="1091" y="1115"/>
                </a:lnTo>
                <a:lnTo>
                  <a:pt x="1080" y="1136"/>
                </a:lnTo>
                <a:lnTo>
                  <a:pt x="1072" y="1158"/>
                </a:lnTo>
                <a:lnTo>
                  <a:pt x="1068" y="1181"/>
                </a:lnTo>
                <a:lnTo>
                  <a:pt x="1088" y="1180"/>
                </a:lnTo>
                <a:lnTo>
                  <a:pt x="1106" y="1176"/>
                </a:lnTo>
                <a:lnTo>
                  <a:pt x="1124" y="1172"/>
                </a:lnTo>
                <a:lnTo>
                  <a:pt x="1141" y="1172"/>
                </a:lnTo>
                <a:lnTo>
                  <a:pt x="1157" y="1176"/>
                </a:lnTo>
                <a:lnTo>
                  <a:pt x="1170" y="1183"/>
                </a:lnTo>
                <a:lnTo>
                  <a:pt x="1180" y="1194"/>
                </a:lnTo>
                <a:lnTo>
                  <a:pt x="1190" y="1207"/>
                </a:lnTo>
                <a:lnTo>
                  <a:pt x="1195" y="1222"/>
                </a:lnTo>
                <a:lnTo>
                  <a:pt x="1199" y="1237"/>
                </a:lnTo>
                <a:lnTo>
                  <a:pt x="1199" y="1253"/>
                </a:lnTo>
                <a:lnTo>
                  <a:pt x="1196" y="1269"/>
                </a:lnTo>
                <a:lnTo>
                  <a:pt x="1191" y="1283"/>
                </a:lnTo>
                <a:lnTo>
                  <a:pt x="1181" y="1297"/>
                </a:lnTo>
                <a:lnTo>
                  <a:pt x="1167" y="1309"/>
                </a:lnTo>
                <a:lnTo>
                  <a:pt x="1151" y="1317"/>
                </a:lnTo>
                <a:lnTo>
                  <a:pt x="1175" y="1325"/>
                </a:lnTo>
                <a:lnTo>
                  <a:pt x="1201" y="1328"/>
                </a:lnTo>
                <a:lnTo>
                  <a:pt x="1228" y="1326"/>
                </a:lnTo>
                <a:lnTo>
                  <a:pt x="1253" y="1318"/>
                </a:lnTo>
                <a:lnTo>
                  <a:pt x="1277" y="1306"/>
                </a:lnTo>
                <a:lnTo>
                  <a:pt x="1298" y="1289"/>
                </a:lnTo>
                <a:lnTo>
                  <a:pt x="1315" y="1268"/>
                </a:lnTo>
                <a:lnTo>
                  <a:pt x="1328" y="1244"/>
                </a:lnTo>
                <a:lnTo>
                  <a:pt x="1334" y="1219"/>
                </a:lnTo>
                <a:lnTo>
                  <a:pt x="1337" y="1193"/>
                </a:lnTo>
                <a:lnTo>
                  <a:pt x="1334" y="1166"/>
                </a:lnTo>
                <a:lnTo>
                  <a:pt x="1328" y="1141"/>
                </a:lnTo>
                <a:lnTo>
                  <a:pt x="1315" y="1117"/>
                </a:lnTo>
                <a:lnTo>
                  <a:pt x="1298" y="1097"/>
                </a:lnTo>
                <a:lnTo>
                  <a:pt x="1287" y="1085"/>
                </a:lnTo>
                <a:lnTo>
                  <a:pt x="1271" y="1074"/>
                </a:lnTo>
                <a:lnTo>
                  <a:pt x="1253" y="1066"/>
                </a:lnTo>
                <a:lnTo>
                  <a:pt x="1232" y="1060"/>
                </a:lnTo>
                <a:lnTo>
                  <a:pt x="1210" y="1057"/>
                </a:lnTo>
                <a:close/>
                <a:moveTo>
                  <a:pt x="1572" y="585"/>
                </a:moveTo>
                <a:lnTo>
                  <a:pt x="730" y="718"/>
                </a:lnTo>
                <a:lnTo>
                  <a:pt x="686" y="1004"/>
                </a:lnTo>
                <a:lnTo>
                  <a:pt x="736" y="1040"/>
                </a:lnTo>
                <a:lnTo>
                  <a:pt x="785" y="1073"/>
                </a:lnTo>
                <a:lnTo>
                  <a:pt x="834" y="1102"/>
                </a:lnTo>
                <a:lnTo>
                  <a:pt x="879" y="1126"/>
                </a:lnTo>
                <a:lnTo>
                  <a:pt x="924" y="1147"/>
                </a:lnTo>
                <a:lnTo>
                  <a:pt x="931" y="1114"/>
                </a:lnTo>
                <a:lnTo>
                  <a:pt x="944" y="1081"/>
                </a:lnTo>
                <a:lnTo>
                  <a:pt x="959" y="1049"/>
                </a:lnTo>
                <a:lnTo>
                  <a:pt x="978" y="1020"/>
                </a:lnTo>
                <a:lnTo>
                  <a:pt x="1003" y="992"/>
                </a:lnTo>
                <a:lnTo>
                  <a:pt x="1030" y="968"/>
                </a:lnTo>
                <a:lnTo>
                  <a:pt x="1061" y="949"/>
                </a:lnTo>
                <a:lnTo>
                  <a:pt x="1094" y="934"/>
                </a:lnTo>
                <a:lnTo>
                  <a:pt x="1128" y="922"/>
                </a:lnTo>
                <a:lnTo>
                  <a:pt x="1163" y="916"/>
                </a:lnTo>
                <a:lnTo>
                  <a:pt x="1200" y="914"/>
                </a:lnTo>
                <a:lnTo>
                  <a:pt x="1236" y="916"/>
                </a:lnTo>
                <a:lnTo>
                  <a:pt x="1272" y="922"/>
                </a:lnTo>
                <a:lnTo>
                  <a:pt x="1308" y="934"/>
                </a:lnTo>
                <a:lnTo>
                  <a:pt x="1341" y="949"/>
                </a:lnTo>
                <a:lnTo>
                  <a:pt x="1372" y="968"/>
                </a:lnTo>
                <a:lnTo>
                  <a:pt x="1402" y="992"/>
                </a:lnTo>
                <a:lnTo>
                  <a:pt x="1427" y="1021"/>
                </a:lnTo>
                <a:lnTo>
                  <a:pt x="1448" y="1052"/>
                </a:lnTo>
                <a:lnTo>
                  <a:pt x="1464" y="1085"/>
                </a:lnTo>
                <a:lnTo>
                  <a:pt x="1476" y="1120"/>
                </a:lnTo>
                <a:lnTo>
                  <a:pt x="1482" y="1156"/>
                </a:lnTo>
                <a:lnTo>
                  <a:pt x="1485" y="1192"/>
                </a:lnTo>
                <a:lnTo>
                  <a:pt x="1482" y="1227"/>
                </a:lnTo>
                <a:lnTo>
                  <a:pt x="1476" y="1263"/>
                </a:lnTo>
                <a:lnTo>
                  <a:pt x="1464" y="1298"/>
                </a:lnTo>
                <a:lnTo>
                  <a:pt x="1448" y="1331"/>
                </a:lnTo>
                <a:lnTo>
                  <a:pt x="1427" y="1363"/>
                </a:lnTo>
                <a:lnTo>
                  <a:pt x="1402" y="1392"/>
                </a:lnTo>
                <a:lnTo>
                  <a:pt x="1374" y="1415"/>
                </a:lnTo>
                <a:lnTo>
                  <a:pt x="1344" y="1435"/>
                </a:lnTo>
                <a:lnTo>
                  <a:pt x="1310" y="1452"/>
                </a:lnTo>
                <a:lnTo>
                  <a:pt x="1275" y="1464"/>
                </a:lnTo>
                <a:lnTo>
                  <a:pt x="1239" y="1471"/>
                </a:lnTo>
                <a:lnTo>
                  <a:pt x="1202" y="1473"/>
                </a:lnTo>
                <a:lnTo>
                  <a:pt x="1165" y="1471"/>
                </a:lnTo>
                <a:lnTo>
                  <a:pt x="1129" y="1464"/>
                </a:lnTo>
                <a:lnTo>
                  <a:pt x="1095" y="1452"/>
                </a:lnTo>
                <a:lnTo>
                  <a:pt x="1062" y="1435"/>
                </a:lnTo>
                <a:lnTo>
                  <a:pt x="1031" y="1415"/>
                </a:lnTo>
                <a:lnTo>
                  <a:pt x="1003" y="1392"/>
                </a:lnTo>
                <a:lnTo>
                  <a:pt x="978" y="1363"/>
                </a:lnTo>
                <a:lnTo>
                  <a:pt x="957" y="1332"/>
                </a:lnTo>
                <a:lnTo>
                  <a:pt x="942" y="1299"/>
                </a:lnTo>
                <a:lnTo>
                  <a:pt x="889" y="1281"/>
                </a:lnTo>
                <a:lnTo>
                  <a:pt x="833" y="1258"/>
                </a:lnTo>
                <a:lnTo>
                  <a:pt x="777" y="1231"/>
                </a:lnTo>
                <a:lnTo>
                  <a:pt x="719" y="1199"/>
                </a:lnTo>
                <a:lnTo>
                  <a:pt x="661" y="1162"/>
                </a:lnTo>
                <a:lnTo>
                  <a:pt x="597" y="1563"/>
                </a:lnTo>
                <a:lnTo>
                  <a:pt x="2323" y="3296"/>
                </a:lnTo>
                <a:lnTo>
                  <a:pt x="3298" y="2319"/>
                </a:lnTo>
                <a:lnTo>
                  <a:pt x="1572" y="585"/>
                </a:lnTo>
                <a:close/>
                <a:moveTo>
                  <a:pt x="259" y="142"/>
                </a:moveTo>
                <a:lnTo>
                  <a:pt x="231" y="144"/>
                </a:lnTo>
                <a:lnTo>
                  <a:pt x="208" y="148"/>
                </a:lnTo>
                <a:lnTo>
                  <a:pt x="187" y="157"/>
                </a:lnTo>
                <a:lnTo>
                  <a:pt x="169" y="170"/>
                </a:lnTo>
                <a:lnTo>
                  <a:pt x="156" y="188"/>
                </a:lnTo>
                <a:lnTo>
                  <a:pt x="147" y="208"/>
                </a:lnTo>
                <a:lnTo>
                  <a:pt x="142" y="232"/>
                </a:lnTo>
                <a:lnTo>
                  <a:pt x="141" y="260"/>
                </a:lnTo>
                <a:lnTo>
                  <a:pt x="145" y="289"/>
                </a:lnTo>
                <a:lnTo>
                  <a:pt x="151" y="322"/>
                </a:lnTo>
                <a:lnTo>
                  <a:pt x="161" y="357"/>
                </a:lnTo>
                <a:lnTo>
                  <a:pt x="176" y="394"/>
                </a:lnTo>
                <a:lnTo>
                  <a:pt x="193" y="433"/>
                </a:lnTo>
                <a:lnTo>
                  <a:pt x="214" y="473"/>
                </a:lnTo>
                <a:lnTo>
                  <a:pt x="239" y="515"/>
                </a:lnTo>
                <a:lnTo>
                  <a:pt x="266" y="558"/>
                </a:lnTo>
                <a:lnTo>
                  <a:pt x="296" y="603"/>
                </a:lnTo>
                <a:lnTo>
                  <a:pt x="329" y="647"/>
                </a:lnTo>
                <a:lnTo>
                  <a:pt x="365" y="692"/>
                </a:lnTo>
                <a:lnTo>
                  <a:pt x="403" y="739"/>
                </a:lnTo>
                <a:lnTo>
                  <a:pt x="444" y="784"/>
                </a:lnTo>
                <a:lnTo>
                  <a:pt x="489" y="830"/>
                </a:lnTo>
                <a:lnTo>
                  <a:pt x="550" y="889"/>
                </a:lnTo>
                <a:lnTo>
                  <a:pt x="590" y="637"/>
                </a:lnTo>
                <a:lnTo>
                  <a:pt x="594" y="623"/>
                </a:lnTo>
                <a:lnTo>
                  <a:pt x="602" y="609"/>
                </a:lnTo>
                <a:lnTo>
                  <a:pt x="611" y="596"/>
                </a:lnTo>
                <a:lnTo>
                  <a:pt x="622" y="587"/>
                </a:lnTo>
                <a:lnTo>
                  <a:pt x="634" y="581"/>
                </a:lnTo>
                <a:lnTo>
                  <a:pt x="649" y="577"/>
                </a:lnTo>
                <a:lnTo>
                  <a:pt x="870" y="543"/>
                </a:lnTo>
                <a:lnTo>
                  <a:pt x="824" y="494"/>
                </a:lnTo>
                <a:lnTo>
                  <a:pt x="779" y="450"/>
                </a:lnTo>
                <a:lnTo>
                  <a:pt x="734" y="408"/>
                </a:lnTo>
                <a:lnTo>
                  <a:pt x="688" y="369"/>
                </a:lnTo>
                <a:lnTo>
                  <a:pt x="644" y="334"/>
                </a:lnTo>
                <a:lnTo>
                  <a:pt x="600" y="300"/>
                </a:lnTo>
                <a:lnTo>
                  <a:pt x="555" y="269"/>
                </a:lnTo>
                <a:lnTo>
                  <a:pt x="513" y="242"/>
                </a:lnTo>
                <a:lnTo>
                  <a:pt x="471" y="216"/>
                </a:lnTo>
                <a:lnTo>
                  <a:pt x="431" y="195"/>
                </a:lnTo>
                <a:lnTo>
                  <a:pt x="392" y="177"/>
                </a:lnTo>
                <a:lnTo>
                  <a:pt x="356" y="164"/>
                </a:lnTo>
                <a:lnTo>
                  <a:pt x="321" y="153"/>
                </a:lnTo>
                <a:lnTo>
                  <a:pt x="288" y="146"/>
                </a:lnTo>
                <a:lnTo>
                  <a:pt x="259" y="142"/>
                </a:lnTo>
                <a:close/>
                <a:moveTo>
                  <a:pt x="212" y="0"/>
                </a:moveTo>
                <a:lnTo>
                  <a:pt x="251" y="1"/>
                </a:lnTo>
                <a:lnTo>
                  <a:pt x="292" y="6"/>
                </a:lnTo>
                <a:lnTo>
                  <a:pt x="336" y="15"/>
                </a:lnTo>
                <a:lnTo>
                  <a:pt x="380" y="27"/>
                </a:lnTo>
                <a:lnTo>
                  <a:pt x="426" y="43"/>
                </a:lnTo>
                <a:lnTo>
                  <a:pt x="474" y="63"/>
                </a:lnTo>
                <a:lnTo>
                  <a:pt x="524" y="87"/>
                </a:lnTo>
                <a:lnTo>
                  <a:pt x="573" y="113"/>
                </a:lnTo>
                <a:lnTo>
                  <a:pt x="624" y="144"/>
                </a:lnTo>
                <a:lnTo>
                  <a:pt x="674" y="176"/>
                </a:lnTo>
                <a:lnTo>
                  <a:pt x="726" y="213"/>
                </a:lnTo>
                <a:lnTo>
                  <a:pt x="777" y="253"/>
                </a:lnTo>
                <a:lnTo>
                  <a:pt x="829" y="296"/>
                </a:lnTo>
                <a:lnTo>
                  <a:pt x="879" y="341"/>
                </a:lnTo>
                <a:lnTo>
                  <a:pt x="929" y="389"/>
                </a:lnTo>
                <a:lnTo>
                  <a:pt x="987" y="452"/>
                </a:lnTo>
                <a:lnTo>
                  <a:pt x="1042" y="515"/>
                </a:lnTo>
                <a:lnTo>
                  <a:pt x="1578" y="430"/>
                </a:lnTo>
                <a:lnTo>
                  <a:pt x="1592" y="427"/>
                </a:lnTo>
                <a:lnTo>
                  <a:pt x="1606" y="430"/>
                </a:lnTo>
                <a:lnTo>
                  <a:pt x="1618" y="435"/>
                </a:lnTo>
                <a:lnTo>
                  <a:pt x="1632" y="443"/>
                </a:lnTo>
                <a:lnTo>
                  <a:pt x="1645" y="452"/>
                </a:lnTo>
                <a:lnTo>
                  <a:pt x="3453" y="2267"/>
                </a:lnTo>
                <a:lnTo>
                  <a:pt x="3464" y="2282"/>
                </a:lnTo>
                <a:lnTo>
                  <a:pt x="3472" y="2300"/>
                </a:lnTo>
                <a:lnTo>
                  <a:pt x="3474" y="2318"/>
                </a:lnTo>
                <a:lnTo>
                  <a:pt x="3472" y="2337"/>
                </a:lnTo>
                <a:lnTo>
                  <a:pt x="3464" y="2355"/>
                </a:lnTo>
                <a:lnTo>
                  <a:pt x="3453" y="2371"/>
                </a:lnTo>
                <a:lnTo>
                  <a:pt x="2375" y="3452"/>
                </a:lnTo>
                <a:lnTo>
                  <a:pt x="2365" y="3462"/>
                </a:lnTo>
                <a:lnTo>
                  <a:pt x="2352" y="3468"/>
                </a:lnTo>
                <a:lnTo>
                  <a:pt x="2339" y="3472"/>
                </a:lnTo>
                <a:lnTo>
                  <a:pt x="2323" y="3475"/>
                </a:lnTo>
                <a:lnTo>
                  <a:pt x="2309" y="3472"/>
                </a:lnTo>
                <a:lnTo>
                  <a:pt x="2295" y="3468"/>
                </a:lnTo>
                <a:lnTo>
                  <a:pt x="2283" y="3462"/>
                </a:lnTo>
                <a:lnTo>
                  <a:pt x="2272" y="3452"/>
                </a:lnTo>
                <a:lnTo>
                  <a:pt x="464" y="1637"/>
                </a:lnTo>
                <a:lnTo>
                  <a:pt x="455" y="1624"/>
                </a:lnTo>
                <a:lnTo>
                  <a:pt x="448" y="1610"/>
                </a:lnTo>
                <a:lnTo>
                  <a:pt x="443" y="1592"/>
                </a:lnTo>
                <a:lnTo>
                  <a:pt x="442" y="1571"/>
                </a:lnTo>
                <a:lnTo>
                  <a:pt x="524" y="1061"/>
                </a:lnTo>
                <a:lnTo>
                  <a:pt x="476" y="1021"/>
                </a:lnTo>
                <a:lnTo>
                  <a:pt x="430" y="978"/>
                </a:lnTo>
                <a:lnTo>
                  <a:pt x="384" y="934"/>
                </a:lnTo>
                <a:lnTo>
                  <a:pt x="336" y="883"/>
                </a:lnTo>
                <a:lnTo>
                  <a:pt x="291" y="833"/>
                </a:lnTo>
                <a:lnTo>
                  <a:pt x="249" y="781"/>
                </a:lnTo>
                <a:lnTo>
                  <a:pt x="209" y="729"/>
                </a:lnTo>
                <a:lnTo>
                  <a:pt x="173" y="678"/>
                </a:lnTo>
                <a:lnTo>
                  <a:pt x="140" y="626"/>
                </a:lnTo>
                <a:lnTo>
                  <a:pt x="111" y="575"/>
                </a:lnTo>
                <a:lnTo>
                  <a:pt x="84" y="526"/>
                </a:lnTo>
                <a:lnTo>
                  <a:pt x="61" y="476"/>
                </a:lnTo>
                <a:lnTo>
                  <a:pt x="42" y="427"/>
                </a:lnTo>
                <a:lnTo>
                  <a:pt x="26" y="381"/>
                </a:lnTo>
                <a:lnTo>
                  <a:pt x="14" y="336"/>
                </a:lnTo>
                <a:lnTo>
                  <a:pt x="5" y="292"/>
                </a:lnTo>
                <a:lnTo>
                  <a:pt x="1" y="251"/>
                </a:lnTo>
                <a:lnTo>
                  <a:pt x="0" y="212"/>
                </a:lnTo>
                <a:lnTo>
                  <a:pt x="4" y="175"/>
                </a:lnTo>
                <a:lnTo>
                  <a:pt x="12" y="141"/>
                </a:lnTo>
                <a:lnTo>
                  <a:pt x="23" y="111"/>
                </a:lnTo>
                <a:lnTo>
                  <a:pt x="39" y="83"/>
                </a:lnTo>
                <a:lnTo>
                  <a:pt x="59" y="59"/>
                </a:lnTo>
                <a:lnTo>
                  <a:pt x="83" y="38"/>
                </a:lnTo>
                <a:lnTo>
                  <a:pt x="112" y="22"/>
                </a:lnTo>
                <a:lnTo>
                  <a:pt x="142" y="11"/>
                </a:lnTo>
                <a:lnTo>
                  <a:pt x="176" y="3"/>
                </a:lnTo>
                <a:lnTo>
                  <a:pt x="212"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a:p>
        </p:txBody>
      </p:sp>
      <p:grpSp>
        <p:nvGrpSpPr>
          <p:cNvPr id="42" name="Group 48"/>
          <p:cNvGrpSpPr/>
          <p:nvPr/>
        </p:nvGrpSpPr>
        <p:grpSpPr>
          <a:xfrm>
            <a:off x="7254037" y="2375908"/>
            <a:ext cx="404002" cy="404002"/>
            <a:chOff x="9059863" y="1887538"/>
            <a:chExt cx="612775" cy="612775"/>
          </a:xfrm>
          <a:solidFill>
            <a:schemeClr val="bg1"/>
          </a:solidFill>
        </p:grpSpPr>
        <p:sp>
          <p:nvSpPr>
            <p:cNvPr id="43" name="Freeform 189"/>
            <p:cNvSpPr>
              <a:spLocks noEditPoints="1"/>
            </p:cNvSpPr>
            <p:nvPr/>
          </p:nvSpPr>
          <p:spPr bwMode="auto">
            <a:xfrm>
              <a:off x="9059863" y="1887538"/>
              <a:ext cx="612775" cy="477838"/>
            </a:xfrm>
            <a:custGeom>
              <a:avLst/>
              <a:gdLst>
                <a:gd name="T0" fmla="*/ 3007 w 3475"/>
                <a:gd name="T1" fmla="*/ 1076 h 2711"/>
                <a:gd name="T2" fmla="*/ 2771 w 3475"/>
                <a:gd name="T3" fmla="*/ 1151 h 2711"/>
                <a:gd name="T4" fmla="*/ 2885 w 3475"/>
                <a:gd name="T5" fmla="*/ 1361 h 2711"/>
                <a:gd name="T6" fmla="*/ 2682 w 3475"/>
                <a:gd name="T7" fmla="*/ 1606 h 2711"/>
                <a:gd name="T8" fmla="*/ 2596 w 3475"/>
                <a:gd name="T9" fmla="*/ 1626 h 2711"/>
                <a:gd name="T10" fmla="*/ 2353 w 3475"/>
                <a:gd name="T11" fmla="*/ 1535 h 2711"/>
                <a:gd name="T12" fmla="*/ 2311 w 3475"/>
                <a:gd name="T13" fmla="*/ 1766 h 2711"/>
                <a:gd name="T14" fmla="*/ 1975 w 3475"/>
                <a:gd name="T15" fmla="*/ 1766 h 2711"/>
                <a:gd name="T16" fmla="*/ 1932 w 3475"/>
                <a:gd name="T17" fmla="*/ 1535 h 2711"/>
                <a:gd name="T18" fmla="*/ 1690 w 3475"/>
                <a:gd name="T19" fmla="*/ 1626 h 2711"/>
                <a:gd name="T20" fmla="*/ 1603 w 3475"/>
                <a:gd name="T21" fmla="*/ 1606 h 2711"/>
                <a:gd name="T22" fmla="*/ 1400 w 3475"/>
                <a:gd name="T23" fmla="*/ 1361 h 2711"/>
                <a:gd name="T24" fmla="*/ 1514 w 3475"/>
                <a:gd name="T25" fmla="*/ 1151 h 2711"/>
                <a:gd name="T26" fmla="*/ 1278 w 3475"/>
                <a:gd name="T27" fmla="*/ 1076 h 2711"/>
                <a:gd name="T28" fmla="*/ 957 w 3475"/>
                <a:gd name="T29" fmla="*/ 949 h 2711"/>
                <a:gd name="T30" fmla="*/ 2081 w 3475"/>
                <a:gd name="T31" fmla="*/ 152 h 2711"/>
                <a:gd name="T32" fmla="*/ 1892 w 3475"/>
                <a:gd name="T33" fmla="*/ 420 h 2711"/>
                <a:gd name="T34" fmla="*/ 1725 w 3475"/>
                <a:gd name="T35" fmla="*/ 559 h 2711"/>
                <a:gd name="T36" fmla="*/ 1621 w 3475"/>
                <a:gd name="T37" fmla="*/ 780 h 2711"/>
                <a:gd name="T38" fmla="*/ 1621 w 3475"/>
                <a:gd name="T39" fmla="*/ 1002 h 2711"/>
                <a:gd name="T40" fmla="*/ 1726 w 3475"/>
                <a:gd name="T41" fmla="*/ 1222 h 2711"/>
                <a:gd name="T42" fmla="*/ 1893 w 3475"/>
                <a:gd name="T43" fmla="*/ 1362 h 2711"/>
                <a:gd name="T44" fmla="*/ 2082 w 3475"/>
                <a:gd name="T45" fmla="*/ 1630 h 2711"/>
                <a:gd name="T46" fmla="*/ 2349 w 3475"/>
                <a:gd name="T47" fmla="*/ 1383 h 2711"/>
                <a:gd name="T48" fmla="*/ 2709 w 3475"/>
                <a:gd name="T49" fmla="*/ 1371 h 2711"/>
                <a:gd name="T50" fmla="*/ 2652 w 3475"/>
                <a:gd name="T51" fmla="*/ 1051 h 2711"/>
                <a:gd name="T52" fmla="*/ 2673 w 3475"/>
                <a:gd name="T53" fmla="*/ 830 h 2711"/>
                <a:gd name="T54" fmla="*/ 2589 w 3475"/>
                <a:gd name="T55" fmla="*/ 600 h 2711"/>
                <a:gd name="T56" fmla="*/ 2435 w 3475"/>
                <a:gd name="T57" fmla="*/ 445 h 2711"/>
                <a:gd name="T58" fmla="*/ 2204 w 3475"/>
                <a:gd name="T59" fmla="*/ 361 h 2711"/>
                <a:gd name="T60" fmla="*/ 919 w 3475"/>
                <a:gd name="T61" fmla="*/ 801 h 2711"/>
                <a:gd name="T62" fmla="*/ 1278 w 3475"/>
                <a:gd name="T63" fmla="*/ 705 h 2711"/>
                <a:gd name="T64" fmla="*/ 1514 w 3475"/>
                <a:gd name="T65" fmla="*/ 630 h 2711"/>
                <a:gd name="T66" fmla="*/ 1401 w 3475"/>
                <a:gd name="T67" fmla="*/ 421 h 2711"/>
                <a:gd name="T68" fmla="*/ 1603 w 3475"/>
                <a:gd name="T69" fmla="*/ 175 h 2711"/>
                <a:gd name="T70" fmla="*/ 1691 w 3475"/>
                <a:gd name="T71" fmla="*/ 155 h 2711"/>
                <a:gd name="T72" fmla="*/ 1933 w 3475"/>
                <a:gd name="T73" fmla="*/ 245 h 2711"/>
                <a:gd name="T74" fmla="*/ 1975 w 3475"/>
                <a:gd name="T75" fmla="*/ 15 h 2711"/>
                <a:gd name="T76" fmla="*/ 2311 w 3475"/>
                <a:gd name="T77" fmla="*/ 15 h 2711"/>
                <a:gd name="T78" fmla="*/ 2353 w 3475"/>
                <a:gd name="T79" fmla="*/ 246 h 2711"/>
                <a:gd name="T80" fmla="*/ 2596 w 3475"/>
                <a:gd name="T81" fmla="*/ 155 h 2711"/>
                <a:gd name="T82" fmla="*/ 2682 w 3475"/>
                <a:gd name="T83" fmla="*/ 175 h 2711"/>
                <a:gd name="T84" fmla="*/ 2885 w 3475"/>
                <a:gd name="T85" fmla="*/ 421 h 2711"/>
                <a:gd name="T86" fmla="*/ 2771 w 3475"/>
                <a:gd name="T87" fmla="*/ 631 h 2711"/>
                <a:gd name="T88" fmla="*/ 3007 w 3475"/>
                <a:gd name="T89" fmla="*/ 705 h 2711"/>
                <a:gd name="T90" fmla="*/ 3475 w 3475"/>
                <a:gd name="T91" fmla="*/ 801 h 2711"/>
                <a:gd name="T92" fmla="*/ 3233 w 3475"/>
                <a:gd name="T93" fmla="*/ 2091 h 2711"/>
                <a:gd name="T94" fmla="*/ 3313 w 3475"/>
                <a:gd name="T95" fmla="*/ 2195 h 2711"/>
                <a:gd name="T96" fmla="*/ 3378 w 3475"/>
                <a:gd name="T97" fmla="*/ 2347 h 2711"/>
                <a:gd name="T98" fmla="*/ 3356 w 3475"/>
                <a:gd name="T99" fmla="*/ 2521 h 2711"/>
                <a:gd name="T100" fmla="*/ 3203 w 3475"/>
                <a:gd name="T101" fmla="*/ 2671 h 2711"/>
                <a:gd name="T102" fmla="*/ 1001 w 3475"/>
                <a:gd name="T103" fmla="*/ 2711 h 2711"/>
                <a:gd name="T104" fmla="*/ 3127 w 3475"/>
                <a:gd name="T105" fmla="*/ 2544 h 2711"/>
                <a:gd name="T106" fmla="*/ 3217 w 3475"/>
                <a:gd name="T107" fmla="*/ 2455 h 2711"/>
                <a:gd name="T108" fmla="*/ 3217 w 3475"/>
                <a:gd name="T109" fmla="*/ 2326 h 2711"/>
                <a:gd name="T110" fmla="*/ 3149 w 3475"/>
                <a:gd name="T111" fmla="*/ 2222 h 2711"/>
                <a:gd name="T112" fmla="*/ 3095 w 3475"/>
                <a:gd name="T113" fmla="*/ 2170 h 2711"/>
                <a:gd name="T114" fmla="*/ 66 w 3475"/>
                <a:gd name="T115" fmla="*/ 0 h 2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475" h="2711">
                  <a:moveTo>
                    <a:pt x="3032" y="948"/>
                  </a:moveTo>
                  <a:lnTo>
                    <a:pt x="3032" y="1016"/>
                  </a:lnTo>
                  <a:lnTo>
                    <a:pt x="3030" y="1038"/>
                  </a:lnTo>
                  <a:lnTo>
                    <a:pt x="3021" y="1059"/>
                  </a:lnTo>
                  <a:lnTo>
                    <a:pt x="3007" y="1076"/>
                  </a:lnTo>
                  <a:lnTo>
                    <a:pt x="2990" y="1089"/>
                  </a:lnTo>
                  <a:lnTo>
                    <a:pt x="2970" y="1097"/>
                  </a:lnTo>
                  <a:lnTo>
                    <a:pt x="2948" y="1100"/>
                  </a:lnTo>
                  <a:lnTo>
                    <a:pt x="2790" y="1100"/>
                  </a:lnTo>
                  <a:lnTo>
                    <a:pt x="2771" y="1151"/>
                  </a:lnTo>
                  <a:lnTo>
                    <a:pt x="2749" y="1199"/>
                  </a:lnTo>
                  <a:lnTo>
                    <a:pt x="2860" y="1310"/>
                  </a:lnTo>
                  <a:lnTo>
                    <a:pt x="2873" y="1326"/>
                  </a:lnTo>
                  <a:lnTo>
                    <a:pt x="2881" y="1343"/>
                  </a:lnTo>
                  <a:lnTo>
                    <a:pt x="2885" y="1361"/>
                  </a:lnTo>
                  <a:lnTo>
                    <a:pt x="2885" y="1379"/>
                  </a:lnTo>
                  <a:lnTo>
                    <a:pt x="2881" y="1397"/>
                  </a:lnTo>
                  <a:lnTo>
                    <a:pt x="2873" y="1415"/>
                  </a:lnTo>
                  <a:lnTo>
                    <a:pt x="2860" y="1429"/>
                  </a:lnTo>
                  <a:lnTo>
                    <a:pt x="2682" y="1606"/>
                  </a:lnTo>
                  <a:lnTo>
                    <a:pt x="2668" y="1619"/>
                  </a:lnTo>
                  <a:lnTo>
                    <a:pt x="2650" y="1626"/>
                  </a:lnTo>
                  <a:lnTo>
                    <a:pt x="2632" y="1631"/>
                  </a:lnTo>
                  <a:lnTo>
                    <a:pt x="2614" y="1631"/>
                  </a:lnTo>
                  <a:lnTo>
                    <a:pt x="2596" y="1626"/>
                  </a:lnTo>
                  <a:lnTo>
                    <a:pt x="2578" y="1619"/>
                  </a:lnTo>
                  <a:lnTo>
                    <a:pt x="2563" y="1606"/>
                  </a:lnTo>
                  <a:lnTo>
                    <a:pt x="2452" y="1495"/>
                  </a:lnTo>
                  <a:lnTo>
                    <a:pt x="2403" y="1517"/>
                  </a:lnTo>
                  <a:lnTo>
                    <a:pt x="2353" y="1535"/>
                  </a:lnTo>
                  <a:lnTo>
                    <a:pt x="2353" y="1693"/>
                  </a:lnTo>
                  <a:lnTo>
                    <a:pt x="2350" y="1715"/>
                  </a:lnTo>
                  <a:lnTo>
                    <a:pt x="2342" y="1735"/>
                  </a:lnTo>
                  <a:lnTo>
                    <a:pt x="2328" y="1753"/>
                  </a:lnTo>
                  <a:lnTo>
                    <a:pt x="2311" y="1766"/>
                  </a:lnTo>
                  <a:lnTo>
                    <a:pt x="2291" y="1775"/>
                  </a:lnTo>
                  <a:lnTo>
                    <a:pt x="2269" y="1778"/>
                  </a:lnTo>
                  <a:lnTo>
                    <a:pt x="2017" y="1778"/>
                  </a:lnTo>
                  <a:lnTo>
                    <a:pt x="1995" y="1775"/>
                  </a:lnTo>
                  <a:lnTo>
                    <a:pt x="1975" y="1766"/>
                  </a:lnTo>
                  <a:lnTo>
                    <a:pt x="1958" y="1753"/>
                  </a:lnTo>
                  <a:lnTo>
                    <a:pt x="1944" y="1735"/>
                  </a:lnTo>
                  <a:lnTo>
                    <a:pt x="1935" y="1715"/>
                  </a:lnTo>
                  <a:lnTo>
                    <a:pt x="1932" y="1693"/>
                  </a:lnTo>
                  <a:lnTo>
                    <a:pt x="1932" y="1535"/>
                  </a:lnTo>
                  <a:lnTo>
                    <a:pt x="1882" y="1517"/>
                  </a:lnTo>
                  <a:lnTo>
                    <a:pt x="1834" y="1495"/>
                  </a:lnTo>
                  <a:lnTo>
                    <a:pt x="1723" y="1606"/>
                  </a:lnTo>
                  <a:lnTo>
                    <a:pt x="1707" y="1619"/>
                  </a:lnTo>
                  <a:lnTo>
                    <a:pt x="1690" y="1626"/>
                  </a:lnTo>
                  <a:lnTo>
                    <a:pt x="1672" y="1631"/>
                  </a:lnTo>
                  <a:lnTo>
                    <a:pt x="1654" y="1631"/>
                  </a:lnTo>
                  <a:lnTo>
                    <a:pt x="1635" y="1626"/>
                  </a:lnTo>
                  <a:lnTo>
                    <a:pt x="1618" y="1619"/>
                  </a:lnTo>
                  <a:lnTo>
                    <a:pt x="1603" y="1606"/>
                  </a:lnTo>
                  <a:lnTo>
                    <a:pt x="1424" y="1429"/>
                  </a:lnTo>
                  <a:lnTo>
                    <a:pt x="1413" y="1415"/>
                  </a:lnTo>
                  <a:lnTo>
                    <a:pt x="1404" y="1397"/>
                  </a:lnTo>
                  <a:lnTo>
                    <a:pt x="1400" y="1379"/>
                  </a:lnTo>
                  <a:lnTo>
                    <a:pt x="1400" y="1361"/>
                  </a:lnTo>
                  <a:lnTo>
                    <a:pt x="1404" y="1343"/>
                  </a:lnTo>
                  <a:lnTo>
                    <a:pt x="1413" y="1326"/>
                  </a:lnTo>
                  <a:lnTo>
                    <a:pt x="1424" y="1310"/>
                  </a:lnTo>
                  <a:lnTo>
                    <a:pt x="1536" y="1200"/>
                  </a:lnTo>
                  <a:lnTo>
                    <a:pt x="1514" y="1151"/>
                  </a:lnTo>
                  <a:lnTo>
                    <a:pt x="1496" y="1101"/>
                  </a:lnTo>
                  <a:lnTo>
                    <a:pt x="1339" y="1101"/>
                  </a:lnTo>
                  <a:lnTo>
                    <a:pt x="1316" y="1098"/>
                  </a:lnTo>
                  <a:lnTo>
                    <a:pt x="1295" y="1090"/>
                  </a:lnTo>
                  <a:lnTo>
                    <a:pt x="1278" y="1076"/>
                  </a:lnTo>
                  <a:lnTo>
                    <a:pt x="1266" y="1059"/>
                  </a:lnTo>
                  <a:lnTo>
                    <a:pt x="1257" y="1039"/>
                  </a:lnTo>
                  <a:lnTo>
                    <a:pt x="1254" y="1017"/>
                  </a:lnTo>
                  <a:lnTo>
                    <a:pt x="1254" y="949"/>
                  </a:lnTo>
                  <a:lnTo>
                    <a:pt x="957" y="949"/>
                  </a:lnTo>
                  <a:lnTo>
                    <a:pt x="1178" y="2021"/>
                  </a:lnTo>
                  <a:lnTo>
                    <a:pt x="3062" y="2021"/>
                  </a:lnTo>
                  <a:lnTo>
                    <a:pt x="3282" y="948"/>
                  </a:lnTo>
                  <a:lnTo>
                    <a:pt x="3032" y="948"/>
                  </a:lnTo>
                  <a:close/>
                  <a:moveTo>
                    <a:pt x="2081" y="152"/>
                  </a:moveTo>
                  <a:lnTo>
                    <a:pt x="2081" y="361"/>
                  </a:lnTo>
                  <a:lnTo>
                    <a:pt x="2032" y="370"/>
                  </a:lnTo>
                  <a:lnTo>
                    <a:pt x="1983" y="383"/>
                  </a:lnTo>
                  <a:lnTo>
                    <a:pt x="1936" y="400"/>
                  </a:lnTo>
                  <a:lnTo>
                    <a:pt x="1892" y="420"/>
                  </a:lnTo>
                  <a:lnTo>
                    <a:pt x="1851" y="445"/>
                  </a:lnTo>
                  <a:lnTo>
                    <a:pt x="1812" y="474"/>
                  </a:lnTo>
                  <a:lnTo>
                    <a:pt x="1663" y="325"/>
                  </a:lnTo>
                  <a:lnTo>
                    <a:pt x="1577" y="411"/>
                  </a:lnTo>
                  <a:lnTo>
                    <a:pt x="1725" y="559"/>
                  </a:lnTo>
                  <a:lnTo>
                    <a:pt x="1696" y="600"/>
                  </a:lnTo>
                  <a:lnTo>
                    <a:pt x="1672" y="641"/>
                  </a:lnTo>
                  <a:lnTo>
                    <a:pt x="1651" y="685"/>
                  </a:lnTo>
                  <a:lnTo>
                    <a:pt x="1634" y="732"/>
                  </a:lnTo>
                  <a:lnTo>
                    <a:pt x="1621" y="780"/>
                  </a:lnTo>
                  <a:lnTo>
                    <a:pt x="1613" y="830"/>
                  </a:lnTo>
                  <a:lnTo>
                    <a:pt x="1403" y="830"/>
                  </a:lnTo>
                  <a:lnTo>
                    <a:pt x="1403" y="952"/>
                  </a:lnTo>
                  <a:lnTo>
                    <a:pt x="1614" y="952"/>
                  </a:lnTo>
                  <a:lnTo>
                    <a:pt x="1621" y="1002"/>
                  </a:lnTo>
                  <a:lnTo>
                    <a:pt x="1634" y="1051"/>
                  </a:lnTo>
                  <a:lnTo>
                    <a:pt x="1651" y="1097"/>
                  </a:lnTo>
                  <a:lnTo>
                    <a:pt x="1672" y="1140"/>
                  </a:lnTo>
                  <a:lnTo>
                    <a:pt x="1697" y="1183"/>
                  </a:lnTo>
                  <a:lnTo>
                    <a:pt x="1726" y="1222"/>
                  </a:lnTo>
                  <a:lnTo>
                    <a:pt x="1578" y="1370"/>
                  </a:lnTo>
                  <a:lnTo>
                    <a:pt x="1663" y="1457"/>
                  </a:lnTo>
                  <a:lnTo>
                    <a:pt x="1812" y="1309"/>
                  </a:lnTo>
                  <a:lnTo>
                    <a:pt x="1851" y="1337"/>
                  </a:lnTo>
                  <a:lnTo>
                    <a:pt x="1893" y="1362"/>
                  </a:lnTo>
                  <a:lnTo>
                    <a:pt x="1937" y="1383"/>
                  </a:lnTo>
                  <a:lnTo>
                    <a:pt x="1984" y="1400"/>
                  </a:lnTo>
                  <a:lnTo>
                    <a:pt x="2032" y="1413"/>
                  </a:lnTo>
                  <a:lnTo>
                    <a:pt x="2082" y="1421"/>
                  </a:lnTo>
                  <a:lnTo>
                    <a:pt x="2082" y="1630"/>
                  </a:lnTo>
                  <a:lnTo>
                    <a:pt x="2205" y="1630"/>
                  </a:lnTo>
                  <a:lnTo>
                    <a:pt x="2205" y="1421"/>
                  </a:lnTo>
                  <a:lnTo>
                    <a:pt x="2255" y="1413"/>
                  </a:lnTo>
                  <a:lnTo>
                    <a:pt x="2303" y="1400"/>
                  </a:lnTo>
                  <a:lnTo>
                    <a:pt x="2349" y="1383"/>
                  </a:lnTo>
                  <a:lnTo>
                    <a:pt x="2394" y="1362"/>
                  </a:lnTo>
                  <a:lnTo>
                    <a:pt x="2436" y="1337"/>
                  </a:lnTo>
                  <a:lnTo>
                    <a:pt x="2475" y="1309"/>
                  </a:lnTo>
                  <a:lnTo>
                    <a:pt x="2622" y="1458"/>
                  </a:lnTo>
                  <a:lnTo>
                    <a:pt x="2709" y="1371"/>
                  </a:lnTo>
                  <a:lnTo>
                    <a:pt x="2561" y="1223"/>
                  </a:lnTo>
                  <a:lnTo>
                    <a:pt x="2589" y="1184"/>
                  </a:lnTo>
                  <a:lnTo>
                    <a:pt x="2614" y="1142"/>
                  </a:lnTo>
                  <a:lnTo>
                    <a:pt x="2635" y="1097"/>
                  </a:lnTo>
                  <a:lnTo>
                    <a:pt x="2652" y="1051"/>
                  </a:lnTo>
                  <a:lnTo>
                    <a:pt x="2664" y="1003"/>
                  </a:lnTo>
                  <a:lnTo>
                    <a:pt x="2673" y="953"/>
                  </a:lnTo>
                  <a:lnTo>
                    <a:pt x="2882" y="953"/>
                  </a:lnTo>
                  <a:lnTo>
                    <a:pt x="2882" y="830"/>
                  </a:lnTo>
                  <a:lnTo>
                    <a:pt x="2673" y="830"/>
                  </a:lnTo>
                  <a:lnTo>
                    <a:pt x="2664" y="780"/>
                  </a:lnTo>
                  <a:lnTo>
                    <a:pt x="2652" y="732"/>
                  </a:lnTo>
                  <a:lnTo>
                    <a:pt x="2635" y="685"/>
                  </a:lnTo>
                  <a:lnTo>
                    <a:pt x="2614" y="641"/>
                  </a:lnTo>
                  <a:lnTo>
                    <a:pt x="2589" y="600"/>
                  </a:lnTo>
                  <a:lnTo>
                    <a:pt x="2561" y="559"/>
                  </a:lnTo>
                  <a:lnTo>
                    <a:pt x="2709" y="411"/>
                  </a:lnTo>
                  <a:lnTo>
                    <a:pt x="2622" y="325"/>
                  </a:lnTo>
                  <a:lnTo>
                    <a:pt x="2474" y="474"/>
                  </a:lnTo>
                  <a:lnTo>
                    <a:pt x="2435" y="445"/>
                  </a:lnTo>
                  <a:lnTo>
                    <a:pt x="2392" y="420"/>
                  </a:lnTo>
                  <a:lnTo>
                    <a:pt x="2349" y="398"/>
                  </a:lnTo>
                  <a:lnTo>
                    <a:pt x="2303" y="382"/>
                  </a:lnTo>
                  <a:lnTo>
                    <a:pt x="2254" y="369"/>
                  </a:lnTo>
                  <a:lnTo>
                    <a:pt x="2204" y="361"/>
                  </a:lnTo>
                  <a:lnTo>
                    <a:pt x="2204" y="152"/>
                  </a:lnTo>
                  <a:lnTo>
                    <a:pt x="2081" y="152"/>
                  </a:lnTo>
                  <a:close/>
                  <a:moveTo>
                    <a:pt x="66" y="0"/>
                  </a:moveTo>
                  <a:lnTo>
                    <a:pt x="832" y="374"/>
                  </a:lnTo>
                  <a:lnTo>
                    <a:pt x="919" y="801"/>
                  </a:lnTo>
                  <a:lnTo>
                    <a:pt x="1254" y="801"/>
                  </a:lnTo>
                  <a:lnTo>
                    <a:pt x="1254" y="766"/>
                  </a:lnTo>
                  <a:lnTo>
                    <a:pt x="1257" y="742"/>
                  </a:lnTo>
                  <a:lnTo>
                    <a:pt x="1266" y="722"/>
                  </a:lnTo>
                  <a:lnTo>
                    <a:pt x="1278" y="705"/>
                  </a:lnTo>
                  <a:lnTo>
                    <a:pt x="1295" y="693"/>
                  </a:lnTo>
                  <a:lnTo>
                    <a:pt x="1316" y="684"/>
                  </a:lnTo>
                  <a:lnTo>
                    <a:pt x="1339" y="681"/>
                  </a:lnTo>
                  <a:lnTo>
                    <a:pt x="1496" y="681"/>
                  </a:lnTo>
                  <a:lnTo>
                    <a:pt x="1514" y="630"/>
                  </a:lnTo>
                  <a:lnTo>
                    <a:pt x="1536" y="583"/>
                  </a:lnTo>
                  <a:lnTo>
                    <a:pt x="1425" y="472"/>
                  </a:lnTo>
                  <a:lnTo>
                    <a:pt x="1414" y="456"/>
                  </a:lnTo>
                  <a:lnTo>
                    <a:pt x="1405" y="439"/>
                  </a:lnTo>
                  <a:lnTo>
                    <a:pt x="1401" y="421"/>
                  </a:lnTo>
                  <a:lnTo>
                    <a:pt x="1401" y="403"/>
                  </a:lnTo>
                  <a:lnTo>
                    <a:pt x="1405" y="384"/>
                  </a:lnTo>
                  <a:lnTo>
                    <a:pt x="1414" y="367"/>
                  </a:lnTo>
                  <a:lnTo>
                    <a:pt x="1425" y="352"/>
                  </a:lnTo>
                  <a:lnTo>
                    <a:pt x="1603" y="175"/>
                  </a:lnTo>
                  <a:lnTo>
                    <a:pt x="1619" y="162"/>
                  </a:lnTo>
                  <a:lnTo>
                    <a:pt x="1636" y="155"/>
                  </a:lnTo>
                  <a:lnTo>
                    <a:pt x="1654" y="151"/>
                  </a:lnTo>
                  <a:lnTo>
                    <a:pt x="1673" y="151"/>
                  </a:lnTo>
                  <a:lnTo>
                    <a:pt x="1691" y="155"/>
                  </a:lnTo>
                  <a:lnTo>
                    <a:pt x="1708" y="162"/>
                  </a:lnTo>
                  <a:lnTo>
                    <a:pt x="1724" y="175"/>
                  </a:lnTo>
                  <a:lnTo>
                    <a:pt x="1835" y="285"/>
                  </a:lnTo>
                  <a:lnTo>
                    <a:pt x="1882" y="263"/>
                  </a:lnTo>
                  <a:lnTo>
                    <a:pt x="1933" y="245"/>
                  </a:lnTo>
                  <a:lnTo>
                    <a:pt x="1933" y="88"/>
                  </a:lnTo>
                  <a:lnTo>
                    <a:pt x="1936" y="66"/>
                  </a:lnTo>
                  <a:lnTo>
                    <a:pt x="1945" y="45"/>
                  </a:lnTo>
                  <a:lnTo>
                    <a:pt x="1958" y="28"/>
                  </a:lnTo>
                  <a:lnTo>
                    <a:pt x="1975" y="15"/>
                  </a:lnTo>
                  <a:lnTo>
                    <a:pt x="1995" y="7"/>
                  </a:lnTo>
                  <a:lnTo>
                    <a:pt x="2018" y="4"/>
                  </a:lnTo>
                  <a:lnTo>
                    <a:pt x="2269" y="4"/>
                  </a:lnTo>
                  <a:lnTo>
                    <a:pt x="2291" y="7"/>
                  </a:lnTo>
                  <a:lnTo>
                    <a:pt x="2311" y="15"/>
                  </a:lnTo>
                  <a:lnTo>
                    <a:pt x="2328" y="28"/>
                  </a:lnTo>
                  <a:lnTo>
                    <a:pt x="2342" y="45"/>
                  </a:lnTo>
                  <a:lnTo>
                    <a:pt x="2350" y="66"/>
                  </a:lnTo>
                  <a:lnTo>
                    <a:pt x="2353" y="88"/>
                  </a:lnTo>
                  <a:lnTo>
                    <a:pt x="2353" y="246"/>
                  </a:lnTo>
                  <a:lnTo>
                    <a:pt x="2403" y="264"/>
                  </a:lnTo>
                  <a:lnTo>
                    <a:pt x="2452" y="286"/>
                  </a:lnTo>
                  <a:lnTo>
                    <a:pt x="2563" y="175"/>
                  </a:lnTo>
                  <a:lnTo>
                    <a:pt x="2578" y="162"/>
                  </a:lnTo>
                  <a:lnTo>
                    <a:pt x="2596" y="155"/>
                  </a:lnTo>
                  <a:lnTo>
                    <a:pt x="2614" y="151"/>
                  </a:lnTo>
                  <a:lnTo>
                    <a:pt x="2632" y="151"/>
                  </a:lnTo>
                  <a:lnTo>
                    <a:pt x="2650" y="155"/>
                  </a:lnTo>
                  <a:lnTo>
                    <a:pt x="2668" y="162"/>
                  </a:lnTo>
                  <a:lnTo>
                    <a:pt x="2682" y="175"/>
                  </a:lnTo>
                  <a:lnTo>
                    <a:pt x="2860" y="352"/>
                  </a:lnTo>
                  <a:lnTo>
                    <a:pt x="2873" y="367"/>
                  </a:lnTo>
                  <a:lnTo>
                    <a:pt x="2881" y="384"/>
                  </a:lnTo>
                  <a:lnTo>
                    <a:pt x="2885" y="403"/>
                  </a:lnTo>
                  <a:lnTo>
                    <a:pt x="2885" y="421"/>
                  </a:lnTo>
                  <a:lnTo>
                    <a:pt x="2881" y="439"/>
                  </a:lnTo>
                  <a:lnTo>
                    <a:pt x="2873" y="456"/>
                  </a:lnTo>
                  <a:lnTo>
                    <a:pt x="2860" y="472"/>
                  </a:lnTo>
                  <a:lnTo>
                    <a:pt x="2749" y="583"/>
                  </a:lnTo>
                  <a:lnTo>
                    <a:pt x="2771" y="631"/>
                  </a:lnTo>
                  <a:lnTo>
                    <a:pt x="2790" y="681"/>
                  </a:lnTo>
                  <a:lnTo>
                    <a:pt x="2948" y="681"/>
                  </a:lnTo>
                  <a:lnTo>
                    <a:pt x="2970" y="684"/>
                  </a:lnTo>
                  <a:lnTo>
                    <a:pt x="2990" y="693"/>
                  </a:lnTo>
                  <a:lnTo>
                    <a:pt x="3007" y="705"/>
                  </a:lnTo>
                  <a:lnTo>
                    <a:pt x="3021" y="722"/>
                  </a:lnTo>
                  <a:lnTo>
                    <a:pt x="3030" y="742"/>
                  </a:lnTo>
                  <a:lnTo>
                    <a:pt x="3032" y="766"/>
                  </a:lnTo>
                  <a:lnTo>
                    <a:pt x="3032" y="801"/>
                  </a:lnTo>
                  <a:lnTo>
                    <a:pt x="3475" y="801"/>
                  </a:lnTo>
                  <a:lnTo>
                    <a:pt x="3203" y="2062"/>
                  </a:lnTo>
                  <a:lnTo>
                    <a:pt x="3205" y="2063"/>
                  </a:lnTo>
                  <a:lnTo>
                    <a:pt x="3212" y="2070"/>
                  </a:lnTo>
                  <a:lnTo>
                    <a:pt x="3220" y="2078"/>
                  </a:lnTo>
                  <a:lnTo>
                    <a:pt x="3233" y="2091"/>
                  </a:lnTo>
                  <a:lnTo>
                    <a:pt x="3246" y="2107"/>
                  </a:lnTo>
                  <a:lnTo>
                    <a:pt x="3262" y="2125"/>
                  </a:lnTo>
                  <a:lnTo>
                    <a:pt x="3278" y="2146"/>
                  </a:lnTo>
                  <a:lnTo>
                    <a:pt x="3296" y="2169"/>
                  </a:lnTo>
                  <a:lnTo>
                    <a:pt x="3313" y="2195"/>
                  </a:lnTo>
                  <a:lnTo>
                    <a:pt x="3329" y="2222"/>
                  </a:lnTo>
                  <a:lnTo>
                    <a:pt x="3345" y="2252"/>
                  </a:lnTo>
                  <a:lnTo>
                    <a:pt x="3359" y="2283"/>
                  </a:lnTo>
                  <a:lnTo>
                    <a:pt x="3369" y="2314"/>
                  </a:lnTo>
                  <a:lnTo>
                    <a:pt x="3378" y="2347"/>
                  </a:lnTo>
                  <a:lnTo>
                    <a:pt x="3383" y="2381"/>
                  </a:lnTo>
                  <a:lnTo>
                    <a:pt x="3384" y="2416"/>
                  </a:lnTo>
                  <a:lnTo>
                    <a:pt x="3380" y="2451"/>
                  </a:lnTo>
                  <a:lnTo>
                    <a:pt x="3371" y="2486"/>
                  </a:lnTo>
                  <a:lnTo>
                    <a:pt x="3356" y="2521"/>
                  </a:lnTo>
                  <a:lnTo>
                    <a:pt x="3333" y="2558"/>
                  </a:lnTo>
                  <a:lnTo>
                    <a:pt x="3306" y="2592"/>
                  </a:lnTo>
                  <a:lnTo>
                    <a:pt x="3274" y="2622"/>
                  </a:lnTo>
                  <a:lnTo>
                    <a:pt x="3240" y="2649"/>
                  </a:lnTo>
                  <a:lnTo>
                    <a:pt x="3203" y="2671"/>
                  </a:lnTo>
                  <a:lnTo>
                    <a:pt x="3164" y="2688"/>
                  </a:lnTo>
                  <a:lnTo>
                    <a:pt x="3123" y="2701"/>
                  </a:lnTo>
                  <a:lnTo>
                    <a:pt x="3078" y="2709"/>
                  </a:lnTo>
                  <a:lnTo>
                    <a:pt x="3033" y="2711"/>
                  </a:lnTo>
                  <a:lnTo>
                    <a:pt x="1001" y="2711"/>
                  </a:lnTo>
                  <a:lnTo>
                    <a:pt x="1001" y="2565"/>
                  </a:lnTo>
                  <a:lnTo>
                    <a:pt x="3032" y="2565"/>
                  </a:lnTo>
                  <a:lnTo>
                    <a:pt x="3067" y="2562"/>
                  </a:lnTo>
                  <a:lnTo>
                    <a:pt x="3098" y="2555"/>
                  </a:lnTo>
                  <a:lnTo>
                    <a:pt x="3127" y="2544"/>
                  </a:lnTo>
                  <a:lnTo>
                    <a:pt x="3152" y="2529"/>
                  </a:lnTo>
                  <a:lnTo>
                    <a:pt x="3173" y="2512"/>
                  </a:lnTo>
                  <a:lnTo>
                    <a:pt x="3191" y="2494"/>
                  </a:lnTo>
                  <a:lnTo>
                    <a:pt x="3206" y="2474"/>
                  </a:lnTo>
                  <a:lnTo>
                    <a:pt x="3217" y="2455"/>
                  </a:lnTo>
                  <a:lnTo>
                    <a:pt x="3226" y="2429"/>
                  </a:lnTo>
                  <a:lnTo>
                    <a:pt x="3231" y="2402"/>
                  </a:lnTo>
                  <a:lnTo>
                    <a:pt x="3230" y="2377"/>
                  </a:lnTo>
                  <a:lnTo>
                    <a:pt x="3225" y="2351"/>
                  </a:lnTo>
                  <a:lnTo>
                    <a:pt x="3217" y="2326"/>
                  </a:lnTo>
                  <a:lnTo>
                    <a:pt x="3206" y="2303"/>
                  </a:lnTo>
                  <a:lnTo>
                    <a:pt x="3194" y="2280"/>
                  </a:lnTo>
                  <a:lnTo>
                    <a:pt x="3180" y="2259"/>
                  </a:lnTo>
                  <a:lnTo>
                    <a:pt x="3165" y="2240"/>
                  </a:lnTo>
                  <a:lnTo>
                    <a:pt x="3149" y="2222"/>
                  </a:lnTo>
                  <a:lnTo>
                    <a:pt x="3135" y="2206"/>
                  </a:lnTo>
                  <a:lnTo>
                    <a:pt x="3122" y="2194"/>
                  </a:lnTo>
                  <a:lnTo>
                    <a:pt x="3110" y="2183"/>
                  </a:lnTo>
                  <a:lnTo>
                    <a:pt x="3101" y="2175"/>
                  </a:lnTo>
                  <a:lnTo>
                    <a:pt x="3095" y="2170"/>
                  </a:lnTo>
                  <a:lnTo>
                    <a:pt x="3093" y="2168"/>
                  </a:lnTo>
                  <a:lnTo>
                    <a:pt x="1053" y="2168"/>
                  </a:lnTo>
                  <a:lnTo>
                    <a:pt x="699" y="478"/>
                  </a:lnTo>
                  <a:lnTo>
                    <a:pt x="0" y="133"/>
                  </a:lnTo>
                  <a:lnTo>
                    <a:pt x="6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4" name="Freeform 190"/>
            <p:cNvSpPr>
              <a:spLocks noEditPoints="1"/>
            </p:cNvSpPr>
            <p:nvPr/>
          </p:nvSpPr>
          <p:spPr bwMode="auto">
            <a:xfrm>
              <a:off x="9261476" y="2401888"/>
              <a:ext cx="98425" cy="98425"/>
            </a:xfrm>
            <a:custGeom>
              <a:avLst/>
              <a:gdLst>
                <a:gd name="T0" fmla="*/ 253 w 558"/>
                <a:gd name="T1" fmla="*/ 143 h 559"/>
                <a:gd name="T2" fmla="*/ 205 w 558"/>
                <a:gd name="T3" fmla="*/ 163 h 559"/>
                <a:gd name="T4" fmla="*/ 169 w 558"/>
                <a:gd name="T5" fmla="*/ 198 h 559"/>
                <a:gd name="T6" fmla="*/ 149 w 558"/>
                <a:gd name="T7" fmla="*/ 245 h 559"/>
                <a:gd name="T8" fmla="*/ 149 w 558"/>
                <a:gd name="T9" fmla="*/ 298 h 559"/>
                <a:gd name="T10" fmla="*/ 169 w 558"/>
                <a:gd name="T11" fmla="*/ 346 h 559"/>
                <a:gd name="T12" fmla="*/ 205 w 558"/>
                <a:gd name="T13" fmla="*/ 381 h 559"/>
                <a:gd name="T14" fmla="*/ 253 w 558"/>
                <a:gd name="T15" fmla="*/ 401 h 559"/>
                <a:gd name="T16" fmla="*/ 306 w 558"/>
                <a:gd name="T17" fmla="*/ 401 h 559"/>
                <a:gd name="T18" fmla="*/ 353 w 558"/>
                <a:gd name="T19" fmla="*/ 381 h 559"/>
                <a:gd name="T20" fmla="*/ 389 w 558"/>
                <a:gd name="T21" fmla="*/ 346 h 559"/>
                <a:gd name="T22" fmla="*/ 409 w 558"/>
                <a:gd name="T23" fmla="*/ 298 h 559"/>
                <a:gd name="T24" fmla="*/ 409 w 558"/>
                <a:gd name="T25" fmla="*/ 245 h 559"/>
                <a:gd name="T26" fmla="*/ 389 w 558"/>
                <a:gd name="T27" fmla="*/ 198 h 559"/>
                <a:gd name="T28" fmla="*/ 353 w 558"/>
                <a:gd name="T29" fmla="*/ 163 h 559"/>
                <a:gd name="T30" fmla="*/ 307 w 558"/>
                <a:gd name="T31" fmla="*/ 143 h 559"/>
                <a:gd name="T32" fmla="*/ 279 w 558"/>
                <a:gd name="T33" fmla="*/ 0 h 559"/>
                <a:gd name="T34" fmla="*/ 361 w 558"/>
                <a:gd name="T35" fmla="*/ 11 h 559"/>
                <a:gd name="T36" fmla="*/ 431 w 558"/>
                <a:gd name="T37" fmla="*/ 44 h 559"/>
                <a:gd name="T38" fmla="*/ 490 w 558"/>
                <a:gd name="T39" fmla="*/ 95 h 559"/>
                <a:gd name="T40" fmla="*/ 533 w 558"/>
                <a:gd name="T41" fmla="*/ 161 h 559"/>
                <a:gd name="T42" fmla="*/ 555 w 558"/>
                <a:gd name="T43" fmla="*/ 238 h 559"/>
                <a:gd name="T44" fmla="*/ 555 w 558"/>
                <a:gd name="T45" fmla="*/ 320 h 559"/>
                <a:gd name="T46" fmla="*/ 533 w 558"/>
                <a:gd name="T47" fmla="*/ 397 h 559"/>
                <a:gd name="T48" fmla="*/ 490 w 558"/>
                <a:gd name="T49" fmla="*/ 462 h 559"/>
                <a:gd name="T50" fmla="*/ 431 w 558"/>
                <a:gd name="T51" fmla="*/ 513 h 559"/>
                <a:gd name="T52" fmla="*/ 361 w 558"/>
                <a:gd name="T53" fmla="*/ 546 h 559"/>
                <a:gd name="T54" fmla="*/ 279 w 558"/>
                <a:gd name="T55" fmla="*/ 559 h 559"/>
                <a:gd name="T56" fmla="*/ 199 w 558"/>
                <a:gd name="T57" fmla="*/ 546 h 559"/>
                <a:gd name="T58" fmla="*/ 127 w 558"/>
                <a:gd name="T59" fmla="*/ 513 h 559"/>
                <a:gd name="T60" fmla="*/ 68 w 558"/>
                <a:gd name="T61" fmla="*/ 462 h 559"/>
                <a:gd name="T62" fmla="*/ 26 w 558"/>
                <a:gd name="T63" fmla="*/ 397 h 559"/>
                <a:gd name="T64" fmla="*/ 3 w 558"/>
                <a:gd name="T65" fmla="*/ 320 h 559"/>
                <a:gd name="T66" fmla="*/ 3 w 558"/>
                <a:gd name="T67" fmla="*/ 238 h 559"/>
                <a:gd name="T68" fmla="*/ 26 w 558"/>
                <a:gd name="T69" fmla="*/ 161 h 559"/>
                <a:gd name="T70" fmla="*/ 68 w 558"/>
                <a:gd name="T71" fmla="*/ 95 h 559"/>
                <a:gd name="T72" fmla="*/ 127 w 558"/>
                <a:gd name="T73" fmla="*/ 44 h 559"/>
                <a:gd name="T74" fmla="*/ 199 w 558"/>
                <a:gd name="T75" fmla="*/ 11 h 559"/>
                <a:gd name="T76" fmla="*/ 279 w 558"/>
                <a:gd name="T77" fmla="*/ 0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8" h="559">
                  <a:moveTo>
                    <a:pt x="279" y="139"/>
                  </a:moveTo>
                  <a:lnTo>
                    <a:pt x="253" y="143"/>
                  </a:lnTo>
                  <a:lnTo>
                    <a:pt x="227" y="150"/>
                  </a:lnTo>
                  <a:lnTo>
                    <a:pt x="205" y="163"/>
                  </a:lnTo>
                  <a:lnTo>
                    <a:pt x="185" y="179"/>
                  </a:lnTo>
                  <a:lnTo>
                    <a:pt x="169" y="198"/>
                  </a:lnTo>
                  <a:lnTo>
                    <a:pt x="157" y="220"/>
                  </a:lnTo>
                  <a:lnTo>
                    <a:pt x="149" y="245"/>
                  </a:lnTo>
                  <a:lnTo>
                    <a:pt x="147" y="272"/>
                  </a:lnTo>
                  <a:lnTo>
                    <a:pt x="149" y="298"/>
                  </a:lnTo>
                  <a:lnTo>
                    <a:pt x="157" y="324"/>
                  </a:lnTo>
                  <a:lnTo>
                    <a:pt x="169" y="346"/>
                  </a:lnTo>
                  <a:lnTo>
                    <a:pt x="185" y="365"/>
                  </a:lnTo>
                  <a:lnTo>
                    <a:pt x="205" y="381"/>
                  </a:lnTo>
                  <a:lnTo>
                    <a:pt x="227" y="393"/>
                  </a:lnTo>
                  <a:lnTo>
                    <a:pt x="253" y="401"/>
                  </a:lnTo>
                  <a:lnTo>
                    <a:pt x="279" y="404"/>
                  </a:lnTo>
                  <a:lnTo>
                    <a:pt x="306" y="401"/>
                  </a:lnTo>
                  <a:lnTo>
                    <a:pt x="331" y="393"/>
                  </a:lnTo>
                  <a:lnTo>
                    <a:pt x="353" y="381"/>
                  </a:lnTo>
                  <a:lnTo>
                    <a:pt x="373" y="365"/>
                  </a:lnTo>
                  <a:lnTo>
                    <a:pt x="389" y="346"/>
                  </a:lnTo>
                  <a:lnTo>
                    <a:pt x="402" y="324"/>
                  </a:lnTo>
                  <a:lnTo>
                    <a:pt x="409" y="298"/>
                  </a:lnTo>
                  <a:lnTo>
                    <a:pt x="411" y="272"/>
                  </a:lnTo>
                  <a:lnTo>
                    <a:pt x="409" y="245"/>
                  </a:lnTo>
                  <a:lnTo>
                    <a:pt x="402" y="220"/>
                  </a:lnTo>
                  <a:lnTo>
                    <a:pt x="389" y="198"/>
                  </a:lnTo>
                  <a:lnTo>
                    <a:pt x="373" y="179"/>
                  </a:lnTo>
                  <a:lnTo>
                    <a:pt x="353" y="163"/>
                  </a:lnTo>
                  <a:lnTo>
                    <a:pt x="331" y="150"/>
                  </a:lnTo>
                  <a:lnTo>
                    <a:pt x="307" y="143"/>
                  </a:lnTo>
                  <a:lnTo>
                    <a:pt x="279" y="139"/>
                  </a:lnTo>
                  <a:close/>
                  <a:moveTo>
                    <a:pt x="279" y="0"/>
                  </a:moveTo>
                  <a:lnTo>
                    <a:pt x="320" y="2"/>
                  </a:lnTo>
                  <a:lnTo>
                    <a:pt x="361" y="11"/>
                  </a:lnTo>
                  <a:lnTo>
                    <a:pt x="398" y="25"/>
                  </a:lnTo>
                  <a:lnTo>
                    <a:pt x="431" y="44"/>
                  </a:lnTo>
                  <a:lnTo>
                    <a:pt x="462" y="67"/>
                  </a:lnTo>
                  <a:lnTo>
                    <a:pt x="490" y="95"/>
                  </a:lnTo>
                  <a:lnTo>
                    <a:pt x="514" y="127"/>
                  </a:lnTo>
                  <a:lnTo>
                    <a:pt x="533" y="161"/>
                  </a:lnTo>
                  <a:lnTo>
                    <a:pt x="547" y="198"/>
                  </a:lnTo>
                  <a:lnTo>
                    <a:pt x="555" y="238"/>
                  </a:lnTo>
                  <a:lnTo>
                    <a:pt x="558" y="279"/>
                  </a:lnTo>
                  <a:lnTo>
                    <a:pt x="555" y="320"/>
                  </a:lnTo>
                  <a:lnTo>
                    <a:pt x="547" y="360"/>
                  </a:lnTo>
                  <a:lnTo>
                    <a:pt x="533" y="397"/>
                  </a:lnTo>
                  <a:lnTo>
                    <a:pt x="514" y="431"/>
                  </a:lnTo>
                  <a:lnTo>
                    <a:pt x="490" y="462"/>
                  </a:lnTo>
                  <a:lnTo>
                    <a:pt x="462" y="490"/>
                  </a:lnTo>
                  <a:lnTo>
                    <a:pt x="431" y="513"/>
                  </a:lnTo>
                  <a:lnTo>
                    <a:pt x="398" y="532"/>
                  </a:lnTo>
                  <a:lnTo>
                    <a:pt x="361" y="546"/>
                  </a:lnTo>
                  <a:lnTo>
                    <a:pt x="320" y="555"/>
                  </a:lnTo>
                  <a:lnTo>
                    <a:pt x="279" y="559"/>
                  </a:lnTo>
                  <a:lnTo>
                    <a:pt x="238" y="555"/>
                  </a:lnTo>
                  <a:lnTo>
                    <a:pt x="199" y="546"/>
                  </a:lnTo>
                  <a:lnTo>
                    <a:pt x="162" y="532"/>
                  </a:lnTo>
                  <a:lnTo>
                    <a:pt x="127" y="513"/>
                  </a:lnTo>
                  <a:lnTo>
                    <a:pt x="96" y="490"/>
                  </a:lnTo>
                  <a:lnTo>
                    <a:pt x="68" y="462"/>
                  </a:lnTo>
                  <a:lnTo>
                    <a:pt x="45" y="431"/>
                  </a:lnTo>
                  <a:lnTo>
                    <a:pt x="26" y="397"/>
                  </a:lnTo>
                  <a:lnTo>
                    <a:pt x="11" y="360"/>
                  </a:lnTo>
                  <a:lnTo>
                    <a:pt x="3" y="320"/>
                  </a:lnTo>
                  <a:lnTo>
                    <a:pt x="0" y="279"/>
                  </a:lnTo>
                  <a:lnTo>
                    <a:pt x="3" y="238"/>
                  </a:lnTo>
                  <a:lnTo>
                    <a:pt x="11" y="198"/>
                  </a:lnTo>
                  <a:lnTo>
                    <a:pt x="26" y="161"/>
                  </a:lnTo>
                  <a:lnTo>
                    <a:pt x="45" y="127"/>
                  </a:lnTo>
                  <a:lnTo>
                    <a:pt x="68" y="95"/>
                  </a:lnTo>
                  <a:lnTo>
                    <a:pt x="96" y="67"/>
                  </a:lnTo>
                  <a:lnTo>
                    <a:pt x="127" y="44"/>
                  </a:lnTo>
                  <a:lnTo>
                    <a:pt x="162" y="25"/>
                  </a:lnTo>
                  <a:lnTo>
                    <a:pt x="199" y="11"/>
                  </a:lnTo>
                  <a:lnTo>
                    <a:pt x="238" y="2"/>
                  </a:lnTo>
                  <a:lnTo>
                    <a:pt x="27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5" name="Freeform 191"/>
            <p:cNvSpPr>
              <a:spLocks noEditPoints="1"/>
            </p:cNvSpPr>
            <p:nvPr/>
          </p:nvSpPr>
          <p:spPr bwMode="auto">
            <a:xfrm>
              <a:off x="9526588" y="2401888"/>
              <a:ext cx="98425" cy="98425"/>
            </a:xfrm>
            <a:custGeom>
              <a:avLst/>
              <a:gdLst>
                <a:gd name="T0" fmla="*/ 252 w 559"/>
                <a:gd name="T1" fmla="*/ 142 h 559"/>
                <a:gd name="T2" fmla="*/ 205 w 559"/>
                <a:gd name="T3" fmla="*/ 162 h 559"/>
                <a:gd name="T4" fmla="*/ 170 w 559"/>
                <a:gd name="T5" fmla="*/ 197 h 559"/>
                <a:gd name="T6" fmla="*/ 149 w 559"/>
                <a:gd name="T7" fmla="*/ 244 h 559"/>
                <a:gd name="T8" fmla="*/ 149 w 559"/>
                <a:gd name="T9" fmla="*/ 297 h 559"/>
                <a:gd name="T10" fmla="*/ 170 w 559"/>
                <a:gd name="T11" fmla="*/ 345 h 559"/>
                <a:gd name="T12" fmla="*/ 205 w 559"/>
                <a:gd name="T13" fmla="*/ 381 h 559"/>
                <a:gd name="T14" fmla="*/ 252 w 559"/>
                <a:gd name="T15" fmla="*/ 400 h 559"/>
                <a:gd name="T16" fmla="*/ 306 w 559"/>
                <a:gd name="T17" fmla="*/ 400 h 559"/>
                <a:gd name="T18" fmla="*/ 354 w 559"/>
                <a:gd name="T19" fmla="*/ 381 h 559"/>
                <a:gd name="T20" fmla="*/ 390 w 559"/>
                <a:gd name="T21" fmla="*/ 345 h 559"/>
                <a:gd name="T22" fmla="*/ 409 w 559"/>
                <a:gd name="T23" fmla="*/ 298 h 559"/>
                <a:gd name="T24" fmla="*/ 412 w 559"/>
                <a:gd name="T25" fmla="*/ 244 h 559"/>
                <a:gd name="T26" fmla="*/ 393 w 559"/>
                <a:gd name="T27" fmla="*/ 197 h 559"/>
                <a:gd name="T28" fmla="*/ 356 w 559"/>
                <a:gd name="T29" fmla="*/ 162 h 559"/>
                <a:gd name="T30" fmla="*/ 306 w 559"/>
                <a:gd name="T31" fmla="*/ 142 h 559"/>
                <a:gd name="T32" fmla="*/ 280 w 559"/>
                <a:gd name="T33" fmla="*/ 0 h 559"/>
                <a:gd name="T34" fmla="*/ 360 w 559"/>
                <a:gd name="T35" fmla="*/ 11 h 559"/>
                <a:gd name="T36" fmla="*/ 432 w 559"/>
                <a:gd name="T37" fmla="*/ 44 h 559"/>
                <a:gd name="T38" fmla="*/ 490 w 559"/>
                <a:gd name="T39" fmla="*/ 95 h 559"/>
                <a:gd name="T40" fmla="*/ 533 w 559"/>
                <a:gd name="T41" fmla="*/ 161 h 559"/>
                <a:gd name="T42" fmla="*/ 556 w 559"/>
                <a:gd name="T43" fmla="*/ 238 h 559"/>
                <a:gd name="T44" fmla="*/ 556 w 559"/>
                <a:gd name="T45" fmla="*/ 320 h 559"/>
                <a:gd name="T46" fmla="*/ 533 w 559"/>
                <a:gd name="T47" fmla="*/ 397 h 559"/>
                <a:gd name="T48" fmla="*/ 490 w 559"/>
                <a:gd name="T49" fmla="*/ 462 h 559"/>
                <a:gd name="T50" fmla="*/ 432 w 559"/>
                <a:gd name="T51" fmla="*/ 513 h 559"/>
                <a:gd name="T52" fmla="*/ 360 w 559"/>
                <a:gd name="T53" fmla="*/ 546 h 559"/>
                <a:gd name="T54" fmla="*/ 280 w 559"/>
                <a:gd name="T55" fmla="*/ 559 h 559"/>
                <a:gd name="T56" fmla="*/ 198 w 559"/>
                <a:gd name="T57" fmla="*/ 546 h 559"/>
                <a:gd name="T58" fmla="*/ 127 w 559"/>
                <a:gd name="T59" fmla="*/ 513 h 559"/>
                <a:gd name="T60" fmla="*/ 68 w 559"/>
                <a:gd name="T61" fmla="*/ 462 h 559"/>
                <a:gd name="T62" fmla="*/ 26 w 559"/>
                <a:gd name="T63" fmla="*/ 397 h 559"/>
                <a:gd name="T64" fmla="*/ 3 w 559"/>
                <a:gd name="T65" fmla="*/ 320 h 559"/>
                <a:gd name="T66" fmla="*/ 3 w 559"/>
                <a:gd name="T67" fmla="*/ 238 h 559"/>
                <a:gd name="T68" fmla="*/ 26 w 559"/>
                <a:gd name="T69" fmla="*/ 161 h 559"/>
                <a:gd name="T70" fmla="*/ 68 w 559"/>
                <a:gd name="T71" fmla="*/ 95 h 559"/>
                <a:gd name="T72" fmla="*/ 127 w 559"/>
                <a:gd name="T73" fmla="*/ 44 h 559"/>
                <a:gd name="T74" fmla="*/ 198 w 559"/>
                <a:gd name="T75" fmla="*/ 11 h 559"/>
                <a:gd name="T76" fmla="*/ 280 w 559"/>
                <a:gd name="T77" fmla="*/ 0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9" h="559">
                  <a:moveTo>
                    <a:pt x="280" y="139"/>
                  </a:moveTo>
                  <a:lnTo>
                    <a:pt x="252" y="142"/>
                  </a:lnTo>
                  <a:lnTo>
                    <a:pt x="228" y="149"/>
                  </a:lnTo>
                  <a:lnTo>
                    <a:pt x="205" y="162"/>
                  </a:lnTo>
                  <a:lnTo>
                    <a:pt x="185" y="178"/>
                  </a:lnTo>
                  <a:lnTo>
                    <a:pt x="170" y="197"/>
                  </a:lnTo>
                  <a:lnTo>
                    <a:pt x="157" y="220"/>
                  </a:lnTo>
                  <a:lnTo>
                    <a:pt x="149" y="244"/>
                  </a:lnTo>
                  <a:lnTo>
                    <a:pt x="146" y="271"/>
                  </a:lnTo>
                  <a:lnTo>
                    <a:pt x="149" y="297"/>
                  </a:lnTo>
                  <a:lnTo>
                    <a:pt x="157" y="323"/>
                  </a:lnTo>
                  <a:lnTo>
                    <a:pt x="170" y="345"/>
                  </a:lnTo>
                  <a:lnTo>
                    <a:pt x="185" y="364"/>
                  </a:lnTo>
                  <a:lnTo>
                    <a:pt x="205" y="381"/>
                  </a:lnTo>
                  <a:lnTo>
                    <a:pt x="228" y="392"/>
                  </a:lnTo>
                  <a:lnTo>
                    <a:pt x="252" y="400"/>
                  </a:lnTo>
                  <a:lnTo>
                    <a:pt x="280" y="403"/>
                  </a:lnTo>
                  <a:lnTo>
                    <a:pt x="306" y="400"/>
                  </a:lnTo>
                  <a:lnTo>
                    <a:pt x="331" y="392"/>
                  </a:lnTo>
                  <a:lnTo>
                    <a:pt x="354" y="381"/>
                  </a:lnTo>
                  <a:lnTo>
                    <a:pt x="373" y="365"/>
                  </a:lnTo>
                  <a:lnTo>
                    <a:pt x="390" y="345"/>
                  </a:lnTo>
                  <a:lnTo>
                    <a:pt x="401" y="323"/>
                  </a:lnTo>
                  <a:lnTo>
                    <a:pt x="409" y="298"/>
                  </a:lnTo>
                  <a:lnTo>
                    <a:pt x="412" y="271"/>
                  </a:lnTo>
                  <a:lnTo>
                    <a:pt x="412" y="244"/>
                  </a:lnTo>
                  <a:lnTo>
                    <a:pt x="404" y="220"/>
                  </a:lnTo>
                  <a:lnTo>
                    <a:pt x="393" y="197"/>
                  </a:lnTo>
                  <a:lnTo>
                    <a:pt x="376" y="178"/>
                  </a:lnTo>
                  <a:lnTo>
                    <a:pt x="356" y="162"/>
                  </a:lnTo>
                  <a:lnTo>
                    <a:pt x="333" y="149"/>
                  </a:lnTo>
                  <a:lnTo>
                    <a:pt x="306" y="142"/>
                  </a:lnTo>
                  <a:lnTo>
                    <a:pt x="280" y="139"/>
                  </a:lnTo>
                  <a:close/>
                  <a:moveTo>
                    <a:pt x="280" y="0"/>
                  </a:moveTo>
                  <a:lnTo>
                    <a:pt x="321" y="2"/>
                  </a:lnTo>
                  <a:lnTo>
                    <a:pt x="360" y="11"/>
                  </a:lnTo>
                  <a:lnTo>
                    <a:pt x="397" y="25"/>
                  </a:lnTo>
                  <a:lnTo>
                    <a:pt x="432" y="44"/>
                  </a:lnTo>
                  <a:lnTo>
                    <a:pt x="463" y="67"/>
                  </a:lnTo>
                  <a:lnTo>
                    <a:pt x="490" y="95"/>
                  </a:lnTo>
                  <a:lnTo>
                    <a:pt x="513" y="127"/>
                  </a:lnTo>
                  <a:lnTo>
                    <a:pt x="533" y="161"/>
                  </a:lnTo>
                  <a:lnTo>
                    <a:pt x="546" y="198"/>
                  </a:lnTo>
                  <a:lnTo>
                    <a:pt x="556" y="238"/>
                  </a:lnTo>
                  <a:lnTo>
                    <a:pt x="559" y="279"/>
                  </a:lnTo>
                  <a:lnTo>
                    <a:pt x="556" y="320"/>
                  </a:lnTo>
                  <a:lnTo>
                    <a:pt x="546" y="360"/>
                  </a:lnTo>
                  <a:lnTo>
                    <a:pt x="533" y="397"/>
                  </a:lnTo>
                  <a:lnTo>
                    <a:pt x="513" y="431"/>
                  </a:lnTo>
                  <a:lnTo>
                    <a:pt x="490" y="462"/>
                  </a:lnTo>
                  <a:lnTo>
                    <a:pt x="463" y="490"/>
                  </a:lnTo>
                  <a:lnTo>
                    <a:pt x="432" y="513"/>
                  </a:lnTo>
                  <a:lnTo>
                    <a:pt x="397" y="532"/>
                  </a:lnTo>
                  <a:lnTo>
                    <a:pt x="360" y="546"/>
                  </a:lnTo>
                  <a:lnTo>
                    <a:pt x="321" y="555"/>
                  </a:lnTo>
                  <a:lnTo>
                    <a:pt x="280" y="559"/>
                  </a:lnTo>
                  <a:lnTo>
                    <a:pt x="238" y="555"/>
                  </a:lnTo>
                  <a:lnTo>
                    <a:pt x="198" y="546"/>
                  </a:lnTo>
                  <a:lnTo>
                    <a:pt x="161" y="532"/>
                  </a:lnTo>
                  <a:lnTo>
                    <a:pt x="127" y="513"/>
                  </a:lnTo>
                  <a:lnTo>
                    <a:pt x="96" y="490"/>
                  </a:lnTo>
                  <a:lnTo>
                    <a:pt x="68" y="462"/>
                  </a:lnTo>
                  <a:lnTo>
                    <a:pt x="45" y="431"/>
                  </a:lnTo>
                  <a:lnTo>
                    <a:pt x="26" y="397"/>
                  </a:lnTo>
                  <a:lnTo>
                    <a:pt x="12" y="360"/>
                  </a:lnTo>
                  <a:lnTo>
                    <a:pt x="3" y="320"/>
                  </a:lnTo>
                  <a:lnTo>
                    <a:pt x="0" y="279"/>
                  </a:lnTo>
                  <a:lnTo>
                    <a:pt x="3" y="238"/>
                  </a:lnTo>
                  <a:lnTo>
                    <a:pt x="12" y="198"/>
                  </a:lnTo>
                  <a:lnTo>
                    <a:pt x="26" y="161"/>
                  </a:lnTo>
                  <a:lnTo>
                    <a:pt x="45" y="127"/>
                  </a:lnTo>
                  <a:lnTo>
                    <a:pt x="68" y="95"/>
                  </a:lnTo>
                  <a:lnTo>
                    <a:pt x="96" y="67"/>
                  </a:lnTo>
                  <a:lnTo>
                    <a:pt x="127" y="44"/>
                  </a:lnTo>
                  <a:lnTo>
                    <a:pt x="161" y="25"/>
                  </a:lnTo>
                  <a:lnTo>
                    <a:pt x="198" y="11"/>
                  </a:lnTo>
                  <a:lnTo>
                    <a:pt x="238" y="2"/>
                  </a:lnTo>
                  <a:lnTo>
                    <a:pt x="28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6" name="Freeform 192"/>
            <p:cNvSpPr>
              <a:spLocks noEditPoints="1"/>
            </p:cNvSpPr>
            <p:nvPr/>
          </p:nvSpPr>
          <p:spPr bwMode="auto">
            <a:xfrm>
              <a:off x="9366251" y="1973263"/>
              <a:ext cx="142875" cy="142875"/>
            </a:xfrm>
            <a:custGeom>
              <a:avLst/>
              <a:gdLst>
                <a:gd name="T0" fmla="*/ 362 w 809"/>
                <a:gd name="T1" fmla="*/ 151 h 809"/>
                <a:gd name="T2" fmla="*/ 287 w 809"/>
                <a:gd name="T3" fmla="*/ 177 h 809"/>
                <a:gd name="T4" fmla="*/ 223 w 809"/>
                <a:gd name="T5" fmla="*/ 224 h 809"/>
                <a:gd name="T6" fmla="*/ 176 w 809"/>
                <a:gd name="T7" fmla="*/ 288 h 809"/>
                <a:gd name="T8" fmla="*/ 150 w 809"/>
                <a:gd name="T9" fmla="*/ 363 h 809"/>
                <a:gd name="T10" fmla="*/ 150 w 809"/>
                <a:gd name="T11" fmla="*/ 446 h 809"/>
                <a:gd name="T12" fmla="*/ 176 w 809"/>
                <a:gd name="T13" fmla="*/ 522 h 809"/>
                <a:gd name="T14" fmla="*/ 223 w 809"/>
                <a:gd name="T15" fmla="*/ 586 h 809"/>
                <a:gd name="T16" fmla="*/ 287 w 809"/>
                <a:gd name="T17" fmla="*/ 633 h 809"/>
                <a:gd name="T18" fmla="*/ 362 w 809"/>
                <a:gd name="T19" fmla="*/ 659 h 809"/>
                <a:gd name="T20" fmla="*/ 445 w 809"/>
                <a:gd name="T21" fmla="*/ 659 h 809"/>
                <a:gd name="T22" fmla="*/ 521 w 809"/>
                <a:gd name="T23" fmla="*/ 633 h 809"/>
                <a:gd name="T24" fmla="*/ 585 w 809"/>
                <a:gd name="T25" fmla="*/ 586 h 809"/>
                <a:gd name="T26" fmla="*/ 632 w 809"/>
                <a:gd name="T27" fmla="*/ 522 h 809"/>
                <a:gd name="T28" fmla="*/ 658 w 809"/>
                <a:gd name="T29" fmla="*/ 446 h 809"/>
                <a:gd name="T30" fmla="*/ 659 w 809"/>
                <a:gd name="T31" fmla="*/ 368 h 809"/>
                <a:gd name="T32" fmla="*/ 639 w 809"/>
                <a:gd name="T33" fmla="*/ 298 h 809"/>
                <a:gd name="T34" fmla="*/ 601 w 809"/>
                <a:gd name="T35" fmla="*/ 237 h 809"/>
                <a:gd name="T36" fmla="*/ 547 w 809"/>
                <a:gd name="T37" fmla="*/ 190 h 809"/>
                <a:gd name="T38" fmla="*/ 480 w 809"/>
                <a:gd name="T39" fmla="*/ 159 h 809"/>
                <a:gd name="T40" fmla="*/ 404 w 809"/>
                <a:gd name="T41" fmla="*/ 147 h 809"/>
                <a:gd name="T42" fmla="*/ 455 w 809"/>
                <a:gd name="T43" fmla="*/ 3 h 809"/>
                <a:gd name="T44" fmla="*/ 549 w 809"/>
                <a:gd name="T45" fmla="*/ 28 h 809"/>
                <a:gd name="T46" fmla="*/ 634 w 809"/>
                <a:gd name="T47" fmla="*/ 73 h 809"/>
                <a:gd name="T48" fmla="*/ 705 w 809"/>
                <a:gd name="T49" fmla="*/ 138 h 809"/>
                <a:gd name="T50" fmla="*/ 760 w 809"/>
                <a:gd name="T51" fmla="*/ 216 h 809"/>
                <a:gd name="T52" fmla="*/ 796 w 809"/>
                <a:gd name="T53" fmla="*/ 306 h 809"/>
                <a:gd name="T54" fmla="*/ 809 w 809"/>
                <a:gd name="T55" fmla="*/ 405 h 809"/>
                <a:gd name="T56" fmla="*/ 796 w 809"/>
                <a:gd name="T57" fmla="*/ 503 h 809"/>
                <a:gd name="T58" fmla="*/ 762 w 809"/>
                <a:gd name="T59" fmla="*/ 594 h 809"/>
                <a:gd name="T60" fmla="*/ 709 w 809"/>
                <a:gd name="T61" fmla="*/ 672 h 809"/>
                <a:gd name="T62" fmla="*/ 638 w 809"/>
                <a:gd name="T63" fmla="*/ 736 h 809"/>
                <a:gd name="T64" fmla="*/ 552 w 809"/>
                <a:gd name="T65" fmla="*/ 781 h 809"/>
                <a:gd name="T66" fmla="*/ 456 w 809"/>
                <a:gd name="T67" fmla="*/ 806 h 809"/>
                <a:gd name="T68" fmla="*/ 353 w 809"/>
                <a:gd name="T69" fmla="*/ 806 h 809"/>
                <a:gd name="T70" fmla="*/ 256 w 809"/>
                <a:gd name="T71" fmla="*/ 781 h 809"/>
                <a:gd name="T72" fmla="*/ 171 w 809"/>
                <a:gd name="T73" fmla="*/ 736 h 809"/>
                <a:gd name="T74" fmla="*/ 100 w 809"/>
                <a:gd name="T75" fmla="*/ 672 h 809"/>
                <a:gd name="T76" fmla="*/ 46 w 809"/>
                <a:gd name="T77" fmla="*/ 594 h 809"/>
                <a:gd name="T78" fmla="*/ 11 w 809"/>
                <a:gd name="T79" fmla="*/ 503 h 809"/>
                <a:gd name="T80" fmla="*/ 0 w 809"/>
                <a:gd name="T81" fmla="*/ 405 h 809"/>
                <a:gd name="T82" fmla="*/ 12 w 809"/>
                <a:gd name="T83" fmla="*/ 306 h 809"/>
                <a:gd name="T84" fmla="*/ 47 w 809"/>
                <a:gd name="T85" fmla="*/ 216 h 809"/>
                <a:gd name="T86" fmla="*/ 102 w 809"/>
                <a:gd name="T87" fmla="*/ 138 h 809"/>
                <a:gd name="T88" fmla="*/ 174 w 809"/>
                <a:gd name="T89" fmla="*/ 73 h 809"/>
                <a:gd name="T90" fmla="*/ 259 w 809"/>
                <a:gd name="T91" fmla="*/ 28 h 809"/>
                <a:gd name="T92" fmla="*/ 354 w 809"/>
                <a:gd name="T93" fmla="*/ 3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09" h="809">
                  <a:moveTo>
                    <a:pt x="404" y="147"/>
                  </a:moveTo>
                  <a:lnTo>
                    <a:pt x="362" y="151"/>
                  </a:lnTo>
                  <a:lnTo>
                    <a:pt x="323" y="161"/>
                  </a:lnTo>
                  <a:lnTo>
                    <a:pt x="287" y="177"/>
                  </a:lnTo>
                  <a:lnTo>
                    <a:pt x="253" y="198"/>
                  </a:lnTo>
                  <a:lnTo>
                    <a:pt x="223" y="224"/>
                  </a:lnTo>
                  <a:lnTo>
                    <a:pt x="197" y="254"/>
                  </a:lnTo>
                  <a:lnTo>
                    <a:pt x="176" y="288"/>
                  </a:lnTo>
                  <a:lnTo>
                    <a:pt x="160" y="324"/>
                  </a:lnTo>
                  <a:lnTo>
                    <a:pt x="150" y="363"/>
                  </a:lnTo>
                  <a:lnTo>
                    <a:pt x="147" y="405"/>
                  </a:lnTo>
                  <a:lnTo>
                    <a:pt x="150" y="446"/>
                  </a:lnTo>
                  <a:lnTo>
                    <a:pt x="160" y="485"/>
                  </a:lnTo>
                  <a:lnTo>
                    <a:pt x="176" y="522"/>
                  </a:lnTo>
                  <a:lnTo>
                    <a:pt x="197" y="556"/>
                  </a:lnTo>
                  <a:lnTo>
                    <a:pt x="223" y="586"/>
                  </a:lnTo>
                  <a:lnTo>
                    <a:pt x="253" y="612"/>
                  </a:lnTo>
                  <a:lnTo>
                    <a:pt x="287" y="633"/>
                  </a:lnTo>
                  <a:lnTo>
                    <a:pt x="323" y="649"/>
                  </a:lnTo>
                  <a:lnTo>
                    <a:pt x="362" y="659"/>
                  </a:lnTo>
                  <a:lnTo>
                    <a:pt x="404" y="663"/>
                  </a:lnTo>
                  <a:lnTo>
                    <a:pt x="445" y="659"/>
                  </a:lnTo>
                  <a:lnTo>
                    <a:pt x="484" y="649"/>
                  </a:lnTo>
                  <a:lnTo>
                    <a:pt x="521" y="633"/>
                  </a:lnTo>
                  <a:lnTo>
                    <a:pt x="555" y="612"/>
                  </a:lnTo>
                  <a:lnTo>
                    <a:pt x="585" y="586"/>
                  </a:lnTo>
                  <a:lnTo>
                    <a:pt x="611" y="556"/>
                  </a:lnTo>
                  <a:lnTo>
                    <a:pt x="632" y="522"/>
                  </a:lnTo>
                  <a:lnTo>
                    <a:pt x="648" y="485"/>
                  </a:lnTo>
                  <a:lnTo>
                    <a:pt x="658" y="446"/>
                  </a:lnTo>
                  <a:lnTo>
                    <a:pt x="662" y="405"/>
                  </a:lnTo>
                  <a:lnTo>
                    <a:pt x="659" y="368"/>
                  </a:lnTo>
                  <a:lnTo>
                    <a:pt x="651" y="332"/>
                  </a:lnTo>
                  <a:lnTo>
                    <a:pt x="639" y="298"/>
                  </a:lnTo>
                  <a:lnTo>
                    <a:pt x="622" y="266"/>
                  </a:lnTo>
                  <a:lnTo>
                    <a:pt x="601" y="237"/>
                  </a:lnTo>
                  <a:lnTo>
                    <a:pt x="575" y="212"/>
                  </a:lnTo>
                  <a:lnTo>
                    <a:pt x="547" y="190"/>
                  </a:lnTo>
                  <a:lnTo>
                    <a:pt x="515" y="172"/>
                  </a:lnTo>
                  <a:lnTo>
                    <a:pt x="480" y="159"/>
                  </a:lnTo>
                  <a:lnTo>
                    <a:pt x="443" y="151"/>
                  </a:lnTo>
                  <a:lnTo>
                    <a:pt x="404" y="147"/>
                  </a:lnTo>
                  <a:close/>
                  <a:moveTo>
                    <a:pt x="404" y="0"/>
                  </a:moveTo>
                  <a:lnTo>
                    <a:pt x="455" y="3"/>
                  </a:lnTo>
                  <a:lnTo>
                    <a:pt x="503" y="13"/>
                  </a:lnTo>
                  <a:lnTo>
                    <a:pt x="549" y="28"/>
                  </a:lnTo>
                  <a:lnTo>
                    <a:pt x="593" y="49"/>
                  </a:lnTo>
                  <a:lnTo>
                    <a:pt x="634" y="73"/>
                  </a:lnTo>
                  <a:lnTo>
                    <a:pt x="671" y="104"/>
                  </a:lnTo>
                  <a:lnTo>
                    <a:pt x="705" y="138"/>
                  </a:lnTo>
                  <a:lnTo>
                    <a:pt x="736" y="175"/>
                  </a:lnTo>
                  <a:lnTo>
                    <a:pt x="760" y="216"/>
                  </a:lnTo>
                  <a:lnTo>
                    <a:pt x="782" y="260"/>
                  </a:lnTo>
                  <a:lnTo>
                    <a:pt x="796" y="306"/>
                  </a:lnTo>
                  <a:lnTo>
                    <a:pt x="806" y="355"/>
                  </a:lnTo>
                  <a:lnTo>
                    <a:pt x="809" y="405"/>
                  </a:lnTo>
                  <a:lnTo>
                    <a:pt x="806" y="455"/>
                  </a:lnTo>
                  <a:lnTo>
                    <a:pt x="796" y="503"/>
                  </a:lnTo>
                  <a:lnTo>
                    <a:pt x="783" y="550"/>
                  </a:lnTo>
                  <a:lnTo>
                    <a:pt x="762" y="594"/>
                  </a:lnTo>
                  <a:lnTo>
                    <a:pt x="738" y="634"/>
                  </a:lnTo>
                  <a:lnTo>
                    <a:pt x="709" y="672"/>
                  </a:lnTo>
                  <a:lnTo>
                    <a:pt x="675" y="706"/>
                  </a:lnTo>
                  <a:lnTo>
                    <a:pt x="638" y="736"/>
                  </a:lnTo>
                  <a:lnTo>
                    <a:pt x="596" y="761"/>
                  </a:lnTo>
                  <a:lnTo>
                    <a:pt x="552" y="781"/>
                  </a:lnTo>
                  <a:lnTo>
                    <a:pt x="505" y="796"/>
                  </a:lnTo>
                  <a:lnTo>
                    <a:pt x="456" y="806"/>
                  </a:lnTo>
                  <a:lnTo>
                    <a:pt x="404" y="809"/>
                  </a:lnTo>
                  <a:lnTo>
                    <a:pt x="353" y="806"/>
                  </a:lnTo>
                  <a:lnTo>
                    <a:pt x="303" y="796"/>
                  </a:lnTo>
                  <a:lnTo>
                    <a:pt x="256" y="781"/>
                  </a:lnTo>
                  <a:lnTo>
                    <a:pt x="212" y="761"/>
                  </a:lnTo>
                  <a:lnTo>
                    <a:pt x="171" y="736"/>
                  </a:lnTo>
                  <a:lnTo>
                    <a:pt x="134" y="706"/>
                  </a:lnTo>
                  <a:lnTo>
                    <a:pt x="100" y="672"/>
                  </a:lnTo>
                  <a:lnTo>
                    <a:pt x="70" y="634"/>
                  </a:lnTo>
                  <a:lnTo>
                    <a:pt x="46" y="594"/>
                  </a:lnTo>
                  <a:lnTo>
                    <a:pt x="26" y="550"/>
                  </a:lnTo>
                  <a:lnTo>
                    <a:pt x="11" y="503"/>
                  </a:lnTo>
                  <a:lnTo>
                    <a:pt x="3" y="455"/>
                  </a:lnTo>
                  <a:lnTo>
                    <a:pt x="0" y="405"/>
                  </a:lnTo>
                  <a:lnTo>
                    <a:pt x="3" y="355"/>
                  </a:lnTo>
                  <a:lnTo>
                    <a:pt x="12" y="306"/>
                  </a:lnTo>
                  <a:lnTo>
                    <a:pt x="27" y="260"/>
                  </a:lnTo>
                  <a:lnTo>
                    <a:pt x="47" y="216"/>
                  </a:lnTo>
                  <a:lnTo>
                    <a:pt x="73" y="175"/>
                  </a:lnTo>
                  <a:lnTo>
                    <a:pt x="102" y="138"/>
                  </a:lnTo>
                  <a:lnTo>
                    <a:pt x="136" y="104"/>
                  </a:lnTo>
                  <a:lnTo>
                    <a:pt x="174" y="73"/>
                  </a:lnTo>
                  <a:lnTo>
                    <a:pt x="215" y="49"/>
                  </a:lnTo>
                  <a:lnTo>
                    <a:pt x="259" y="28"/>
                  </a:lnTo>
                  <a:lnTo>
                    <a:pt x="305" y="13"/>
                  </a:lnTo>
                  <a:lnTo>
                    <a:pt x="354" y="3"/>
                  </a:lnTo>
                  <a:lnTo>
                    <a:pt x="404"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47" name="Group 31"/>
          <p:cNvGrpSpPr/>
          <p:nvPr/>
        </p:nvGrpSpPr>
        <p:grpSpPr>
          <a:xfrm>
            <a:off x="7989008" y="3505774"/>
            <a:ext cx="2576605" cy="937202"/>
            <a:chOff x="7389855" y="4250913"/>
            <a:chExt cx="2343443" cy="852393"/>
          </a:xfrm>
          <a:solidFill>
            <a:schemeClr val="accent6">
              <a:lumMod val="60000"/>
              <a:lumOff val="40000"/>
            </a:schemeClr>
          </a:solidFill>
        </p:grpSpPr>
        <p:sp>
          <p:nvSpPr>
            <p:cNvPr id="48" name="Freeform 6"/>
            <p:cNvSpPr/>
            <p:nvPr/>
          </p:nvSpPr>
          <p:spPr bwMode="auto">
            <a:xfrm>
              <a:off x="9101001" y="4253458"/>
              <a:ext cx="632297" cy="849848"/>
            </a:xfrm>
            <a:custGeom>
              <a:avLst/>
              <a:gdLst>
                <a:gd name="T0" fmla="*/ 161 w 497"/>
                <a:gd name="T1" fmla="*/ 0 h 668"/>
                <a:gd name="T2" fmla="*/ 497 w 497"/>
                <a:gd name="T3" fmla="*/ 334 h 668"/>
                <a:gd name="T4" fmla="*/ 161 w 497"/>
                <a:gd name="T5" fmla="*/ 668 h 668"/>
                <a:gd name="T6" fmla="*/ 0 w 497"/>
                <a:gd name="T7" fmla="*/ 668 h 668"/>
                <a:gd name="T8" fmla="*/ 336 w 497"/>
                <a:gd name="T9" fmla="*/ 334 h 668"/>
                <a:gd name="T10" fmla="*/ 0 w 497"/>
                <a:gd name="T11" fmla="*/ 0 h 668"/>
                <a:gd name="T12" fmla="*/ 161 w 497"/>
                <a:gd name="T13" fmla="*/ 0 h 668"/>
                <a:gd name="T14" fmla="*/ 161 w 497"/>
                <a:gd name="T15" fmla="*/ 0 h 6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7" h="668">
                  <a:moveTo>
                    <a:pt x="161" y="0"/>
                  </a:moveTo>
                  <a:lnTo>
                    <a:pt x="497" y="334"/>
                  </a:lnTo>
                  <a:lnTo>
                    <a:pt x="161" y="668"/>
                  </a:lnTo>
                  <a:lnTo>
                    <a:pt x="0" y="668"/>
                  </a:lnTo>
                  <a:lnTo>
                    <a:pt x="336" y="334"/>
                  </a:lnTo>
                  <a:lnTo>
                    <a:pt x="0" y="0"/>
                  </a:lnTo>
                  <a:lnTo>
                    <a:pt x="161" y="0"/>
                  </a:lnTo>
                  <a:lnTo>
                    <a:pt x="161" y="0"/>
                  </a:lnTo>
                  <a:close/>
                </a:path>
              </a:pathLst>
            </a:custGeom>
            <a:grpFill/>
            <a:ln>
              <a:noFill/>
            </a:ln>
          </p:spPr>
          <p:txBody>
            <a:bodyPr vert="horz" wrap="square" lIns="91440" tIns="45720" rIns="91440" bIns="45720" numCol="1" anchor="t" anchorCtr="0" compatLnSpc="1"/>
            <a:lstStyle/>
            <a:p>
              <a:endParaRPr lang="en-US"/>
            </a:p>
          </p:txBody>
        </p:sp>
        <p:sp>
          <p:nvSpPr>
            <p:cNvPr id="49" name="Freeform 13"/>
            <p:cNvSpPr/>
            <p:nvPr/>
          </p:nvSpPr>
          <p:spPr bwMode="auto">
            <a:xfrm>
              <a:off x="7389855" y="4250913"/>
              <a:ext cx="1937603" cy="852392"/>
            </a:xfrm>
            <a:custGeom>
              <a:avLst/>
              <a:gdLst>
                <a:gd name="T0" fmla="*/ 0 w 1523"/>
                <a:gd name="T1" fmla="*/ 670 h 670"/>
                <a:gd name="T2" fmla="*/ 1189 w 1523"/>
                <a:gd name="T3" fmla="*/ 670 h 670"/>
                <a:gd name="T4" fmla="*/ 1523 w 1523"/>
                <a:gd name="T5" fmla="*/ 334 h 670"/>
                <a:gd name="T6" fmla="*/ 1189 w 1523"/>
                <a:gd name="T7" fmla="*/ 0 h 670"/>
                <a:gd name="T8" fmla="*/ 0 w 1523"/>
                <a:gd name="T9" fmla="*/ 0 h 670"/>
                <a:gd name="T10" fmla="*/ 333 w 1523"/>
                <a:gd name="T11" fmla="*/ 334 h 670"/>
                <a:gd name="T12" fmla="*/ 0 w 1523"/>
                <a:gd name="T13" fmla="*/ 670 h 670"/>
                <a:gd name="T14" fmla="*/ 0 w 1523"/>
                <a:gd name="T15" fmla="*/ 67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3" h="670">
                  <a:moveTo>
                    <a:pt x="0" y="670"/>
                  </a:moveTo>
                  <a:lnTo>
                    <a:pt x="1189" y="670"/>
                  </a:lnTo>
                  <a:lnTo>
                    <a:pt x="1523" y="334"/>
                  </a:lnTo>
                  <a:lnTo>
                    <a:pt x="1189" y="0"/>
                  </a:lnTo>
                  <a:lnTo>
                    <a:pt x="0" y="0"/>
                  </a:lnTo>
                  <a:lnTo>
                    <a:pt x="333" y="334"/>
                  </a:lnTo>
                  <a:lnTo>
                    <a:pt x="0" y="670"/>
                  </a:lnTo>
                  <a:lnTo>
                    <a:pt x="0" y="670"/>
                  </a:lnTo>
                  <a:close/>
                </a:path>
              </a:pathLst>
            </a:custGeom>
            <a:grpFill/>
            <a:ln>
              <a:noFill/>
            </a:ln>
          </p:spPr>
          <p:txBody>
            <a:bodyPr vert="horz" wrap="square" lIns="91440" tIns="45720" rIns="91440" bIns="45720" numCol="1" anchor="t" anchorCtr="0" compatLnSpc="1"/>
            <a:lstStyle/>
            <a:p>
              <a:endParaRPr lang="en-US"/>
            </a:p>
          </p:txBody>
        </p:sp>
      </p:grpSp>
      <p:sp>
        <p:nvSpPr>
          <p:cNvPr id="50" name="Freeform 14"/>
          <p:cNvSpPr/>
          <p:nvPr/>
        </p:nvSpPr>
        <p:spPr bwMode="auto">
          <a:xfrm>
            <a:off x="8868603" y="3014793"/>
            <a:ext cx="228006" cy="622470"/>
          </a:xfrm>
          <a:custGeom>
            <a:avLst/>
            <a:gdLst>
              <a:gd name="T0" fmla="*/ 69 w 69"/>
              <a:gd name="T1" fmla="*/ 63 h 188"/>
              <a:gd name="T2" fmla="*/ 41 w 69"/>
              <a:gd name="T3" fmla="*/ 63 h 188"/>
              <a:gd name="T4" fmla="*/ 41 w 69"/>
              <a:gd name="T5" fmla="*/ 126 h 188"/>
              <a:gd name="T6" fmla="*/ 66 w 69"/>
              <a:gd name="T7" fmla="*/ 157 h 188"/>
              <a:gd name="T8" fmla="*/ 35 w 69"/>
              <a:gd name="T9" fmla="*/ 188 h 188"/>
              <a:gd name="T10" fmla="*/ 3 w 69"/>
              <a:gd name="T11" fmla="*/ 157 h 188"/>
              <a:gd name="T12" fmla="*/ 28 w 69"/>
              <a:gd name="T13" fmla="*/ 126 h 188"/>
              <a:gd name="T14" fmla="*/ 28 w 69"/>
              <a:gd name="T15" fmla="*/ 63 h 188"/>
              <a:gd name="T16" fmla="*/ 0 w 69"/>
              <a:gd name="T17" fmla="*/ 63 h 188"/>
              <a:gd name="T18" fmla="*/ 35 w 69"/>
              <a:gd name="T19" fmla="*/ 0 h 188"/>
              <a:gd name="T20" fmla="*/ 69 w 69"/>
              <a:gd name="T21" fmla="*/ 6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88">
                <a:moveTo>
                  <a:pt x="69" y="63"/>
                </a:moveTo>
                <a:cubicBezTo>
                  <a:pt x="41" y="63"/>
                  <a:pt x="41" y="63"/>
                  <a:pt x="41" y="63"/>
                </a:cubicBezTo>
                <a:cubicBezTo>
                  <a:pt x="41" y="126"/>
                  <a:pt x="41" y="126"/>
                  <a:pt x="41" y="126"/>
                </a:cubicBezTo>
                <a:cubicBezTo>
                  <a:pt x="56" y="129"/>
                  <a:pt x="66" y="142"/>
                  <a:pt x="66" y="157"/>
                </a:cubicBezTo>
                <a:cubicBezTo>
                  <a:pt x="66" y="174"/>
                  <a:pt x="52" y="188"/>
                  <a:pt x="35" y="188"/>
                </a:cubicBezTo>
                <a:cubicBezTo>
                  <a:pt x="17" y="188"/>
                  <a:pt x="3" y="174"/>
                  <a:pt x="3" y="157"/>
                </a:cubicBezTo>
                <a:cubicBezTo>
                  <a:pt x="3" y="142"/>
                  <a:pt x="14" y="129"/>
                  <a:pt x="28" y="126"/>
                </a:cubicBezTo>
                <a:cubicBezTo>
                  <a:pt x="28" y="63"/>
                  <a:pt x="28" y="63"/>
                  <a:pt x="28" y="63"/>
                </a:cubicBezTo>
                <a:cubicBezTo>
                  <a:pt x="0" y="63"/>
                  <a:pt x="0" y="63"/>
                  <a:pt x="0" y="63"/>
                </a:cubicBezTo>
                <a:cubicBezTo>
                  <a:pt x="35" y="0"/>
                  <a:pt x="35" y="0"/>
                  <a:pt x="35" y="0"/>
                </a:cubicBezTo>
                <a:cubicBezTo>
                  <a:pt x="69" y="63"/>
                  <a:pt x="69" y="63"/>
                  <a:pt x="69" y="63"/>
                </a:cubicBezTo>
                <a:close/>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en-US"/>
          </a:p>
        </p:txBody>
      </p:sp>
      <p:sp>
        <p:nvSpPr>
          <p:cNvPr id="51" name="Oval 24"/>
          <p:cNvSpPr>
            <a:spLocks noChangeArrowheads="1"/>
          </p:cNvSpPr>
          <p:nvPr/>
        </p:nvSpPr>
        <p:spPr bwMode="auto">
          <a:xfrm>
            <a:off x="8598052" y="2152333"/>
            <a:ext cx="770379" cy="766735"/>
          </a:xfrm>
          <a:prstGeom prst="ellipse">
            <a:avLst/>
          </a:prstGeom>
          <a:solidFill>
            <a:schemeClr val="accent6">
              <a:lumMod val="60000"/>
              <a:lumOff val="40000"/>
            </a:schemeClr>
          </a:solidFill>
          <a:ln w="57150">
            <a:solidFill>
              <a:schemeClr val="tx1">
                <a:lumMod val="10000"/>
                <a:lumOff val="90000"/>
              </a:schemeClr>
            </a:solidFill>
          </a:ln>
        </p:spPr>
        <p:txBody>
          <a:bodyPr vert="horz" wrap="square" lIns="0" tIns="0" rIns="0" bIns="0" numCol="1" anchor="ctr" anchorCtr="0" compatLnSpc="1"/>
          <a:lstStyle/>
          <a:p>
            <a:pPr algn="ctr"/>
            <a:endParaRPr lang="en-US" b="1" dirty="0">
              <a:solidFill>
                <a:schemeClr val="bg1"/>
              </a:solidFill>
            </a:endParaRPr>
          </a:p>
        </p:txBody>
      </p:sp>
      <p:grpSp>
        <p:nvGrpSpPr>
          <p:cNvPr id="56" name="Group 40"/>
          <p:cNvGrpSpPr/>
          <p:nvPr/>
        </p:nvGrpSpPr>
        <p:grpSpPr>
          <a:xfrm>
            <a:off x="8846995" y="2334616"/>
            <a:ext cx="270767" cy="348454"/>
            <a:chOff x="3457575" y="2789238"/>
            <a:chExt cx="376238" cy="484187"/>
          </a:xfrm>
          <a:solidFill>
            <a:schemeClr val="bg1"/>
          </a:solidFill>
        </p:grpSpPr>
        <p:sp>
          <p:nvSpPr>
            <p:cNvPr id="57" name="Freeform 55"/>
            <p:cNvSpPr>
              <a:spLocks noEditPoints="1"/>
            </p:cNvSpPr>
            <p:nvPr/>
          </p:nvSpPr>
          <p:spPr bwMode="auto">
            <a:xfrm>
              <a:off x="3543300" y="2789238"/>
              <a:ext cx="201613" cy="200025"/>
            </a:xfrm>
            <a:custGeom>
              <a:avLst/>
              <a:gdLst>
                <a:gd name="T0" fmla="*/ 522 w 1139"/>
                <a:gd name="T1" fmla="*/ 158 h 1142"/>
                <a:gd name="T2" fmla="*/ 430 w 1139"/>
                <a:gd name="T3" fmla="*/ 179 h 1142"/>
                <a:gd name="T4" fmla="*/ 346 w 1139"/>
                <a:gd name="T5" fmla="*/ 220 h 1142"/>
                <a:gd name="T6" fmla="*/ 274 w 1139"/>
                <a:gd name="T7" fmla="*/ 277 h 1142"/>
                <a:gd name="T8" fmla="*/ 215 w 1139"/>
                <a:gd name="T9" fmla="*/ 350 h 1142"/>
                <a:gd name="T10" fmla="*/ 174 w 1139"/>
                <a:gd name="T11" fmla="*/ 433 h 1142"/>
                <a:gd name="T12" fmla="*/ 152 w 1139"/>
                <a:gd name="T13" fmla="*/ 527 h 1142"/>
                <a:gd name="T14" fmla="*/ 152 w 1139"/>
                <a:gd name="T15" fmla="*/ 626 h 1142"/>
                <a:gd name="T16" fmla="*/ 173 w 1139"/>
                <a:gd name="T17" fmla="*/ 718 h 1142"/>
                <a:gd name="T18" fmla="*/ 214 w 1139"/>
                <a:gd name="T19" fmla="*/ 803 h 1142"/>
                <a:gd name="T20" fmla="*/ 271 w 1139"/>
                <a:gd name="T21" fmla="*/ 875 h 1142"/>
                <a:gd name="T22" fmla="*/ 343 w 1139"/>
                <a:gd name="T23" fmla="*/ 933 h 1142"/>
                <a:gd name="T24" fmla="*/ 427 w 1139"/>
                <a:gd name="T25" fmla="*/ 975 h 1142"/>
                <a:gd name="T26" fmla="*/ 520 w 1139"/>
                <a:gd name="T27" fmla="*/ 997 h 1142"/>
                <a:gd name="T28" fmla="*/ 618 w 1139"/>
                <a:gd name="T29" fmla="*/ 997 h 1142"/>
                <a:gd name="T30" fmla="*/ 711 w 1139"/>
                <a:gd name="T31" fmla="*/ 976 h 1142"/>
                <a:gd name="T32" fmla="*/ 794 w 1139"/>
                <a:gd name="T33" fmla="*/ 935 h 1142"/>
                <a:gd name="T34" fmla="*/ 867 w 1139"/>
                <a:gd name="T35" fmla="*/ 878 h 1142"/>
                <a:gd name="T36" fmla="*/ 925 w 1139"/>
                <a:gd name="T37" fmla="*/ 805 h 1142"/>
                <a:gd name="T38" fmla="*/ 967 w 1139"/>
                <a:gd name="T39" fmla="*/ 721 h 1142"/>
                <a:gd name="T40" fmla="*/ 988 w 1139"/>
                <a:gd name="T41" fmla="*/ 628 h 1142"/>
                <a:gd name="T42" fmla="*/ 988 w 1139"/>
                <a:gd name="T43" fmla="*/ 524 h 1142"/>
                <a:gd name="T44" fmla="*/ 964 w 1139"/>
                <a:gd name="T45" fmla="*/ 424 h 1142"/>
                <a:gd name="T46" fmla="*/ 916 w 1139"/>
                <a:gd name="T47" fmla="*/ 335 h 1142"/>
                <a:gd name="T48" fmla="*/ 851 w 1139"/>
                <a:gd name="T49" fmla="*/ 260 h 1142"/>
                <a:gd name="T50" fmla="*/ 770 w 1139"/>
                <a:gd name="T51" fmla="*/ 204 h 1142"/>
                <a:gd name="T52" fmla="*/ 675 w 1139"/>
                <a:gd name="T53" fmla="*/ 168 h 1142"/>
                <a:gd name="T54" fmla="*/ 570 w 1139"/>
                <a:gd name="T55" fmla="*/ 155 h 1142"/>
                <a:gd name="T56" fmla="*/ 629 w 1139"/>
                <a:gd name="T57" fmla="*/ 3 h 1142"/>
                <a:gd name="T58" fmla="*/ 740 w 1139"/>
                <a:gd name="T59" fmla="*/ 25 h 1142"/>
                <a:gd name="T60" fmla="*/ 844 w 1139"/>
                <a:gd name="T61" fmla="*/ 68 h 1142"/>
                <a:gd name="T62" fmla="*/ 934 w 1139"/>
                <a:gd name="T63" fmla="*/ 128 h 1142"/>
                <a:gd name="T64" fmla="*/ 1011 w 1139"/>
                <a:gd name="T65" fmla="*/ 205 h 1142"/>
                <a:gd name="T66" fmla="*/ 1071 w 1139"/>
                <a:gd name="T67" fmla="*/ 296 h 1142"/>
                <a:gd name="T68" fmla="*/ 1114 w 1139"/>
                <a:gd name="T69" fmla="*/ 400 h 1142"/>
                <a:gd name="T70" fmla="*/ 1136 w 1139"/>
                <a:gd name="T71" fmla="*/ 511 h 1142"/>
                <a:gd name="T72" fmla="*/ 1136 w 1139"/>
                <a:gd name="T73" fmla="*/ 630 h 1142"/>
                <a:gd name="T74" fmla="*/ 1114 w 1139"/>
                <a:gd name="T75" fmla="*/ 742 h 1142"/>
                <a:gd name="T76" fmla="*/ 1071 w 1139"/>
                <a:gd name="T77" fmla="*/ 844 h 1142"/>
                <a:gd name="T78" fmla="*/ 1010 w 1139"/>
                <a:gd name="T79" fmla="*/ 935 h 1142"/>
                <a:gd name="T80" fmla="*/ 933 w 1139"/>
                <a:gd name="T81" fmla="*/ 1012 h 1142"/>
                <a:gd name="T82" fmla="*/ 843 w 1139"/>
                <a:gd name="T83" fmla="*/ 1073 h 1142"/>
                <a:gd name="T84" fmla="*/ 740 w 1139"/>
                <a:gd name="T85" fmla="*/ 1116 h 1142"/>
                <a:gd name="T86" fmla="*/ 629 w 1139"/>
                <a:gd name="T87" fmla="*/ 1138 h 1142"/>
                <a:gd name="T88" fmla="*/ 512 w 1139"/>
                <a:gd name="T89" fmla="*/ 1138 h 1142"/>
                <a:gd name="T90" fmla="*/ 403 w 1139"/>
                <a:gd name="T91" fmla="*/ 1116 h 1142"/>
                <a:gd name="T92" fmla="*/ 300 w 1139"/>
                <a:gd name="T93" fmla="*/ 1073 h 1142"/>
                <a:gd name="T94" fmla="*/ 210 w 1139"/>
                <a:gd name="T95" fmla="*/ 1012 h 1142"/>
                <a:gd name="T96" fmla="*/ 132 w 1139"/>
                <a:gd name="T97" fmla="*/ 935 h 1142"/>
                <a:gd name="T98" fmla="*/ 70 w 1139"/>
                <a:gd name="T99" fmla="*/ 844 h 1142"/>
                <a:gd name="T100" fmla="*/ 27 w 1139"/>
                <a:gd name="T101" fmla="*/ 742 h 1142"/>
                <a:gd name="T102" fmla="*/ 4 w 1139"/>
                <a:gd name="T103" fmla="*/ 630 h 1142"/>
                <a:gd name="T104" fmla="*/ 4 w 1139"/>
                <a:gd name="T105" fmla="*/ 511 h 1142"/>
                <a:gd name="T106" fmla="*/ 26 w 1139"/>
                <a:gd name="T107" fmla="*/ 400 h 1142"/>
                <a:gd name="T108" fmla="*/ 69 w 1139"/>
                <a:gd name="T109" fmla="*/ 296 h 1142"/>
                <a:gd name="T110" fmla="*/ 130 w 1139"/>
                <a:gd name="T111" fmla="*/ 205 h 1142"/>
                <a:gd name="T112" fmla="*/ 207 w 1139"/>
                <a:gd name="T113" fmla="*/ 128 h 1142"/>
                <a:gd name="T114" fmla="*/ 297 w 1139"/>
                <a:gd name="T115" fmla="*/ 68 h 1142"/>
                <a:gd name="T116" fmla="*/ 399 w 1139"/>
                <a:gd name="T117" fmla="*/ 25 h 1142"/>
                <a:gd name="T118" fmla="*/ 511 w 1139"/>
                <a:gd name="T119" fmla="*/ 3 h 1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1142">
                  <a:moveTo>
                    <a:pt x="570" y="155"/>
                  </a:moveTo>
                  <a:lnTo>
                    <a:pt x="522" y="158"/>
                  </a:lnTo>
                  <a:lnTo>
                    <a:pt x="474" y="166"/>
                  </a:lnTo>
                  <a:lnTo>
                    <a:pt x="430" y="179"/>
                  </a:lnTo>
                  <a:lnTo>
                    <a:pt x="387" y="198"/>
                  </a:lnTo>
                  <a:lnTo>
                    <a:pt x="346" y="220"/>
                  </a:lnTo>
                  <a:lnTo>
                    <a:pt x="308" y="247"/>
                  </a:lnTo>
                  <a:lnTo>
                    <a:pt x="274" y="277"/>
                  </a:lnTo>
                  <a:lnTo>
                    <a:pt x="243" y="312"/>
                  </a:lnTo>
                  <a:lnTo>
                    <a:pt x="215" y="350"/>
                  </a:lnTo>
                  <a:lnTo>
                    <a:pt x="192" y="390"/>
                  </a:lnTo>
                  <a:lnTo>
                    <a:pt x="174" y="433"/>
                  </a:lnTo>
                  <a:lnTo>
                    <a:pt x="160" y="480"/>
                  </a:lnTo>
                  <a:lnTo>
                    <a:pt x="152" y="527"/>
                  </a:lnTo>
                  <a:lnTo>
                    <a:pt x="149" y="578"/>
                  </a:lnTo>
                  <a:lnTo>
                    <a:pt x="152" y="626"/>
                  </a:lnTo>
                  <a:lnTo>
                    <a:pt x="160" y="673"/>
                  </a:lnTo>
                  <a:lnTo>
                    <a:pt x="173" y="718"/>
                  </a:lnTo>
                  <a:lnTo>
                    <a:pt x="191" y="762"/>
                  </a:lnTo>
                  <a:lnTo>
                    <a:pt x="214" y="803"/>
                  </a:lnTo>
                  <a:lnTo>
                    <a:pt x="240" y="840"/>
                  </a:lnTo>
                  <a:lnTo>
                    <a:pt x="271" y="875"/>
                  </a:lnTo>
                  <a:lnTo>
                    <a:pt x="306" y="906"/>
                  </a:lnTo>
                  <a:lnTo>
                    <a:pt x="343" y="933"/>
                  </a:lnTo>
                  <a:lnTo>
                    <a:pt x="384" y="956"/>
                  </a:lnTo>
                  <a:lnTo>
                    <a:pt x="427" y="975"/>
                  </a:lnTo>
                  <a:lnTo>
                    <a:pt x="472" y="989"/>
                  </a:lnTo>
                  <a:lnTo>
                    <a:pt x="520" y="997"/>
                  </a:lnTo>
                  <a:lnTo>
                    <a:pt x="570" y="1000"/>
                  </a:lnTo>
                  <a:lnTo>
                    <a:pt x="618" y="997"/>
                  </a:lnTo>
                  <a:lnTo>
                    <a:pt x="666" y="989"/>
                  </a:lnTo>
                  <a:lnTo>
                    <a:pt x="711" y="976"/>
                  </a:lnTo>
                  <a:lnTo>
                    <a:pt x="754" y="958"/>
                  </a:lnTo>
                  <a:lnTo>
                    <a:pt x="794" y="935"/>
                  </a:lnTo>
                  <a:lnTo>
                    <a:pt x="832" y="908"/>
                  </a:lnTo>
                  <a:lnTo>
                    <a:pt x="867" y="878"/>
                  </a:lnTo>
                  <a:lnTo>
                    <a:pt x="897" y="843"/>
                  </a:lnTo>
                  <a:lnTo>
                    <a:pt x="925" y="805"/>
                  </a:lnTo>
                  <a:lnTo>
                    <a:pt x="948" y="765"/>
                  </a:lnTo>
                  <a:lnTo>
                    <a:pt x="967" y="721"/>
                  </a:lnTo>
                  <a:lnTo>
                    <a:pt x="979" y="675"/>
                  </a:lnTo>
                  <a:lnTo>
                    <a:pt x="988" y="628"/>
                  </a:lnTo>
                  <a:lnTo>
                    <a:pt x="991" y="578"/>
                  </a:lnTo>
                  <a:lnTo>
                    <a:pt x="988" y="524"/>
                  </a:lnTo>
                  <a:lnTo>
                    <a:pt x="978" y="472"/>
                  </a:lnTo>
                  <a:lnTo>
                    <a:pt x="964" y="424"/>
                  </a:lnTo>
                  <a:lnTo>
                    <a:pt x="943" y="377"/>
                  </a:lnTo>
                  <a:lnTo>
                    <a:pt x="916" y="335"/>
                  </a:lnTo>
                  <a:lnTo>
                    <a:pt x="886" y="296"/>
                  </a:lnTo>
                  <a:lnTo>
                    <a:pt x="851" y="260"/>
                  </a:lnTo>
                  <a:lnTo>
                    <a:pt x="812" y="230"/>
                  </a:lnTo>
                  <a:lnTo>
                    <a:pt x="770" y="204"/>
                  </a:lnTo>
                  <a:lnTo>
                    <a:pt x="724" y="183"/>
                  </a:lnTo>
                  <a:lnTo>
                    <a:pt x="675" y="168"/>
                  </a:lnTo>
                  <a:lnTo>
                    <a:pt x="624" y="159"/>
                  </a:lnTo>
                  <a:lnTo>
                    <a:pt x="570" y="155"/>
                  </a:lnTo>
                  <a:close/>
                  <a:moveTo>
                    <a:pt x="570" y="0"/>
                  </a:moveTo>
                  <a:lnTo>
                    <a:pt x="629" y="3"/>
                  </a:lnTo>
                  <a:lnTo>
                    <a:pt x="686" y="11"/>
                  </a:lnTo>
                  <a:lnTo>
                    <a:pt x="740" y="25"/>
                  </a:lnTo>
                  <a:lnTo>
                    <a:pt x="793" y="44"/>
                  </a:lnTo>
                  <a:lnTo>
                    <a:pt x="844" y="68"/>
                  </a:lnTo>
                  <a:lnTo>
                    <a:pt x="890" y="96"/>
                  </a:lnTo>
                  <a:lnTo>
                    <a:pt x="934" y="128"/>
                  </a:lnTo>
                  <a:lnTo>
                    <a:pt x="974" y="165"/>
                  </a:lnTo>
                  <a:lnTo>
                    <a:pt x="1011" y="205"/>
                  </a:lnTo>
                  <a:lnTo>
                    <a:pt x="1044" y="250"/>
                  </a:lnTo>
                  <a:lnTo>
                    <a:pt x="1071" y="296"/>
                  </a:lnTo>
                  <a:lnTo>
                    <a:pt x="1095" y="347"/>
                  </a:lnTo>
                  <a:lnTo>
                    <a:pt x="1114" y="400"/>
                  </a:lnTo>
                  <a:lnTo>
                    <a:pt x="1128" y="454"/>
                  </a:lnTo>
                  <a:lnTo>
                    <a:pt x="1136" y="511"/>
                  </a:lnTo>
                  <a:lnTo>
                    <a:pt x="1139" y="571"/>
                  </a:lnTo>
                  <a:lnTo>
                    <a:pt x="1136" y="630"/>
                  </a:lnTo>
                  <a:lnTo>
                    <a:pt x="1128" y="687"/>
                  </a:lnTo>
                  <a:lnTo>
                    <a:pt x="1114" y="742"/>
                  </a:lnTo>
                  <a:lnTo>
                    <a:pt x="1095" y="794"/>
                  </a:lnTo>
                  <a:lnTo>
                    <a:pt x="1071" y="844"/>
                  </a:lnTo>
                  <a:lnTo>
                    <a:pt x="1043" y="891"/>
                  </a:lnTo>
                  <a:lnTo>
                    <a:pt x="1010" y="935"/>
                  </a:lnTo>
                  <a:lnTo>
                    <a:pt x="974" y="976"/>
                  </a:lnTo>
                  <a:lnTo>
                    <a:pt x="933" y="1012"/>
                  </a:lnTo>
                  <a:lnTo>
                    <a:pt x="890" y="1044"/>
                  </a:lnTo>
                  <a:lnTo>
                    <a:pt x="843" y="1073"/>
                  </a:lnTo>
                  <a:lnTo>
                    <a:pt x="793" y="1097"/>
                  </a:lnTo>
                  <a:lnTo>
                    <a:pt x="740" y="1116"/>
                  </a:lnTo>
                  <a:lnTo>
                    <a:pt x="686" y="1130"/>
                  </a:lnTo>
                  <a:lnTo>
                    <a:pt x="629" y="1138"/>
                  </a:lnTo>
                  <a:lnTo>
                    <a:pt x="570" y="1142"/>
                  </a:lnTo>
                  <a:lnTo>
                    <a:pt x="512" y="1138"/>
                  </a:lnTo>
                  <a:lnTo>
                    <a:pt x="456" y="1130"/>
                  </a:lnTo>
                  <a:lnTo>
                    <a:pt x="403" y="1116"/>
                  </a:lnTo>
                  <a:lnTo>
                    <a:pt x="350" y="1097"/>
                  </a:lnTo>
                  <a:lnTo>
                    <a:pt x="300" y="1073"/>
                  </a:lnTo>
                  <a:lnTo>
                    <a:pt x="253" y="1044"/>
                  </a:lnTo>
                  <a:lnTo>
                    <a:pt x="210" y="1012"/>
                  </a:lnTo>
                  <a:lnTo>
                    <a:pt x="169" y="976"/>
                  </a:lnTo>
                  <a:lnTo>
                    <a:pt x="132" y="935"/>
                  </a:lnTo>
                  <a:lnTo>
                    <a:pt x="99" y="891"/>
                  </a:lnTo>
                  <a:lnTo>
                    <a:pt x="70" y="844"/>
                  </a:lnTo>
                  <a:lnTo>
                    <a:pt x="46" y="794"/>
                  </a:lnTo>
                  <a:lnTo>
                    <a:pt x="27" y="742"/>
                  </a:lnTo>
                  <a:lnTo>
                    <a:pt x="12" y="687"/>
                  </a:lnTo>
                  <a:lnTo>
                    <a:pt x="4" y="630"/>
                  </a:lnTo>
                  <a:lnTo>
                    <a:pt x="0" y="571"/>
                  </a:lnTo>
                  <a:lnTo>
                    <a:pt x="4" y="511"/>
                  </a:lnTo>
                  <a:lnTo>
                    <a:pt x="12" y="454"/>
                  </a:lnTo>
                  <a:lnTo>
                    <a:pt x="26" y="400"/>
                  </a:lnTo>
                  <a:lnTo>
                    <a:pt x="45" y="347"/>
                  </a:lnTo>
                  <a:lnTo>
                    <a:pt x="69" y="296"/>
                  </a:lnTo>
                  <a:lnTo>
                    <a:pt x="97" y="250"/>
                  </a:lnTo>
                  <a:lnTo>
                    <a:pt x="130" y="205"/>
                  </a:lnTo>
                  <a:lnTo>
                    <a:pt x="166" y="165"/>
                  </a:lnTo>
                  <a:lnTo>
                    <a:pt x="207" y="128"/>
                  </a:lnTo>
                  <a:lnTo>
                    <a:pt x="250" y="96"/>
                  </a:lnTo>
                  <a:lnTo>
                    <a:pt x="297" y="68"/>
                  </a:lnTo>
                  <a:lnTo>
                    <a:pt x="347" y="44"/>
                  </a:lnTo>
                  <a:lnTo>
                    <a:pt x="399" y="25"/>
                  </a:lnTo>
                  <a:lnTo>
                    <a:pt x="454" y="11"/>
                  </a:lnTo>
                  <a:lnTo>
                    <a:pt x="511" y="3"/>
                  </a:lnTo>
                  <a:lnTo>
                    <a:pt x="57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8" name="Freeform 57"/>
            <p:cNvSpPr>
              <a:spLocks noEditPoints="1"/>
            </p:cNvSpPr>
            <p:nvPr/>
          </p:nvSpPr>
          <p:spPr bwMode="auto">
            <a:xfrm>
              <a:off x="3457575" y="3028950"/>
              <a:ext cx="376238" cy="244475"/>
            </a:xfrm>
            <a:custGeom>
              <a:avLst/>
              <a:gdLst>
                <a:gd name="T0" fmla="*/ 405 w 2129"/>
                <a:gd name="T1" fmla="*/ 151 h 1386"/>
                <a:gd name="T2" fmla="*/ 334 w 2129"/>
                <a:gd name="T3" fmla="*/ 171 h 1386"/>
                <a:gd name="T4" fmla="*/ 269 w 2129"/>
                <a:gd name="T5" fmla="*/ 208 h 1386"/>
                <a:gd name="T6" fmla="*/ 217 w 2129"/>
                <a:gd name="T7" fmla="*/ 260 h 1386"/>
                <a:gd name="T8" fmla="*/ 179 w 2129"/>
                <a:gd name="T9" fmla="*/ 323 h 1386"/>
                <a:gd name="T10" fmla="*/ 158 w 2129"/>
                <a:gd name="T11" fmla="*/ 398 h 1386"/>
                <a:gd name="T12" fmla="*/ 155 w 2129"/>
                <a:gd name="T13" fmla="*/ 1237 h 1386"/>
                <a:gd name="T14" fmla="*/ 1974 w 2129"/>
                <a:gd name="T15" fmla="*/ 438 h 1386"/>
                <a:gd name="T16" fmla="*/ 1963 w 2129"/>
                <a:gd name="T17" fmla="*/ 362 h 1386"/>
                <a:gd name="T18" fmla="*/ 1935 w 2129"/>
                <a:gd name="T19" fmla="*/ 294 h 1386"/>
                <a:gd name="T20" fmla="*/ 1891 w 2129"/>
                <a:gd name="T21" fmla="*/ 234 h 1386"/>
                <a:gd name="T22" fmla="*/ 1833 w 2129"/>
                <a:gd name="T23" fmla="*/ 189 h 1386"/>
                <a:gd name="T24" fmla="*/ 1763 w 2129"/>
                <a:gd name="T25" fmla="*/ 160 h 1386"/>
                <a:gd name="T26" fmla="*/ 1685 w 2129"/>
                <a:gd name="T27" fmla="*/ 148 h 1386"/>
                <a:gd name="T28" fmla="*/ 1116 w 2129"/>
                <a:gd name="T29" fmla="*/ 422 h 1386"/>
                <a:gd name="T30" fmla="*/ 1082 w 2129"/>
                <a:gd name="T31" fmla="*/ 442 h 1386"/>
                <a:gd name="T32" fmla="*/ 1045 w 2129"/>
                <a:gd name="T33" fmla="*/ 442 h 1386"/>
                <a:gd name="T34" fmla="*/ 1013 w 2129"/>
                <a:gd name="T35" fmla="*/ 422 h 1386"/>
                <a:gd name="T36" fmla="*/ 444 w 2129"/>
                <a:gd name="T37" fmla="*/ 148 h 1386"/>
                <a:gd name="T38" fmla="*/ 768 w 2129"/>
                <a:gd name="T39" fmla="*/ 0 h 1386"/>
                <a:gd name="T40" fmla="*/ 797 w 2129"/>
                <a:gd name="T41" fmla="*/ 7 h 1386"/>
                <a:gd name="T42" fmla="*/ 820 w 2129"/>
                <a:gd name="T43" fmla="*/ 22 h 1386"/>
                <a:gd name="T44" fmla="*/ 1309 w 2129"/>
                <a:gd name="T45" fmla="*/ 22 h 1386"/>
                <a:gd name="T46" fmla="*/ 1332 w 2129"/>
                <a:gd name="T47" fmla="*/ 7 h 1386"/>
                <a:gd name="T48" fmla="*/ 1360 w 2129"/>
                <a:gd name="T49" fmla="*/ 0 h 1386"/>
                <a:gd name="T50" fmla="*/ 1742 w 2129"/>
                <a:gd name="T51" fmla="*/ 3 h 1386"/>
                <a:gd name="T52" fmla="*/ 1838 w 2129"/>
                <a:gd name="T53" fmla="*/ 26 h 1386"/>
                <a:gd name="T54" fmla="*/ 1924 w 2129"/>
                <a:gd name="T55" fmla="*/ 68 h 1386"/>
                <a:gd name="T56" fmla="*/ 1999 w 2129"/>
                <a:gd name="T57" fmla="*/ 128 h 1386"/>
                <a:gd name="T58" fmla="*/ 2059 w 2129"/>
                <a:gd name="T59" fmla="*/ 202 h 1386"/>
                <a:gd name="T60" fmla="*/ 2102 w 2129"/>
                <a:gd name="T61" fmla="*/ 289 h 1386"/>
                <a:gd name="T62" fmla="*/ 2125 w 2129"/>
                <a:gd name="T63" fmla="*/ 386 h 1386"/>
                <a:gd name="T64" fmla="*/ 2129 w 2129"/>
                <a:gd name="T65" fmla="*/ 1312 h 1386"/>
                <a:gd name="T66" fmla="*/ 2113 w 2129"/>
                <a:gd name="T67" fmla="*/ 1351 h 1386"/>
                <a:gd name="T68" fmla="*/ 2083 w 2129"/>
                <a:gd name="T69" fmla="*/ 1377 h 1386"/>
                <a:gd name="T70" fmla="*/ 2048 w 2129"/>
                <a:gd name="T71" fmla="*/ 1386 h 1386"/>
                <a:gd name="T72" fmla="*/ 53 w 2129"/>
                <a:gd name="T73" fmla="*/ 1384 h 1386"/>
                <a:gd name="T74" fmla="*/ 20 w 2129"/>
                <a:gd name="T75" fmla="*/ 1366 h 1386"/>
                <a:gd name="T76" fmla="*/ 2 w 2129"/>
                <a:gd name="T77" fmla="*/ 1333 h 1386"/>
                <a:gd name="T78" fmla="*/ 0 w 2129"/>
                <a:gd name="T79" fmla="*/ 438 h 1386"/>
                <a:gd name="T80" fmla="*/ 12 w 2129"/>
                <a:gd name="T81" fmla="*/ 339 h 1386"/>
                <a:gd name="T82" fmla="*/ 44 w 2129"/>
                <a:gd name="T83" fmla="*/ 247 h 1386"/>
                <a:gd name="T84" fmla="*/ 95 w 2129"/>
                <a:gd name="T85" fmla="*/ 166 h 1386"/>
                <a:gd name="T86" fmla="*/ 162 w 2129"/>
                <a:gd name="T87" fmla="*/ 98 h 1386"/>
                <a:gd name="T88" fmla="*/ 243 w 2129"/>
                <a:gd name="T89" fmla="*/ 46 h 1386"/>
                <a:gd name="T90" fmla="*/ 335 w 2129"/>
                <a:gd name="T91" fmla="*/ 13 h 1386"/>
                <a:gd name="T92" fmla="*/ 436 w 2129"/>
                <a:gd name="T93" fmla="*/ 0 h 1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29" h="1386">
                  <a:moveTo>
                    <a:pt x="444" y="148"/>
                  </a:moveTo>
                  <a:lnTo>
                    <a:pt x="405" y="151"/>
                  </a:lnTo>
                  <a:lnTo>
                    <a:pt x="368" y="159"/>
                  </a:lnTo>
                  <a:lnTo>
                    <a:pt x="334" y="171"/>
                  </a:lnTo>
                  <a:lnTo>
                    <a:pt x="300" y="187"/>
                  </a:lnTo>
                  <a:lnTo>
                    <a:pt x="269" y="208"/>
                  </a:lnTo>
                  <a:lnTo>
                    <a:pt x="241" y="231"/>
                  </a:lnTo>
                  <a:lnTo>
                    <a:pt x="217" y="260"/>
                  </a:lnTo>
                  <a:lnTo>
                    <a:pt x="196" y="290"/>
                  </a:lnTo>
                  <a:lnTo>
                    <a:pt x="179" y="323"/>
                  </a:lnTo>
                  <a:lnTo>
                    <a:pt x="166" y="360"/>
                  </a:lnTo>
                  <a:lnTo>
                    <a:pt x="158" y="398"/>
                  </a:lnTo>
                  <a:lnTo>
                    <a:pt x="155" y="438"/>
                  </a:lnTo>
                  <a:lnTo>
                    <a:pt x="155" y="1237"/>
                  </a:lnTo>
                  <a:lnTo>
                    <a:pt x="1974" y="1237"/>
                  </a:lnTo>
                  <a:lnTo>
                    <a:pt x="1974" y="438"/>
                  </a:lnTo>
                  <a:lnTo>
                    <a:pt x="1971" y="399"/>
                  </a:lnTo>
                  <a:lnTo>
                    <a:pt x="1963" y="362"/>
                  </a:lnTo>
                  <a:lnTo>
                    <a:pt x="1952" y="327"/>
                  </a:lnTo>
                  <a:lnTo>
                    <a:pt x="1935" y="294"/>
                  </a:lnTo>
                  <a:lnTo>
                    <a:pt x="1915" y="263"/>
                  </a:lnTo>
                  <a:lnTo>
                    <a:pt x="1891" y="234"/>
                  </a:lnTo>
                  <a:lnTo>
                    <a:pt x="1863" y="210"/>
                  </a:lnTo>
                  <a:lnTo>
                    <a:pt x="1833" y="189"/>
                  </a:lnTo>
                  <a:lnTo>
                    <a:pt x="1799" y="172"/>
                  </a:lnTo>
                  <a:lnTo>
                    <a:pt x="1763" y="160"/>
                  </a:lnTo>
                  <a:lnTo>
                    <a:pt x="1725" y="151"/>
                  </a:lnTo>
                  <a:lnTo>
                    <a:pt x="1685" y="148"/>
                  </a:lnTo>
                  <a:lnTo>
                    <a:pt x="1390" y="148"/>
                  </a:lnTo>
                  <a:lnTo>
                    <a:pt x="1116" y="422"/>
                  </a:lnTo>
                  <a:lnTo>
                    <a:pt x="1100" y="435"/>
                  </a:lnTo>
                  <a:lnTo>
                    <a:pt x="1082" y="442"/>
                  </a:lnTo>
                  <a:lnTo>
                    <a:pt x="1064" y="446"/>
                  </a:lnTo>
                  <a:lnTo>
                    <a:pt x="1045" y="442"/>
                  </a:lnTo>
                  <a:lnTo>
                    <a:pt x="1029" y="435"/>
                  </a:lnTo>
                  <a:lnTo>
                    <a:pt x="1013" y="422"/>
                  </a:lnTo>
                  <a:lnTo>
                    <a:pt x="739" y="148"/>
                  </a:lnTo>
                  <a:lnTo>
                    <a:pt x="444" y="148"/>
                  </a:lnTo>
                  <a:close/>
                  <a:moveTo>
                    <a:pt x="436" y="0"/>
                  </a:moveTo>
                  <a:lnTo>
                    <a:pt x="768" y="0"/>
                  </a:lnTo>
                  <a:lnTo>
                    <a:pt x="784" y="2"/>
                  </a:lnTo>
                  <a:lnTo>
                    <a:pt x="797" y="7"/>
                  </a:lnTo>
                  <a:lnTo>
                    <a:pt x="808" y="13"/>
                  </a:lnTo>
                  <a:lnTo>
                    <a:pt x="820" y="22"/>
                  </a:lnTo>
                  <a:lnTo>
                    <a:pt x="1064" y="267"/>
                  </a:lnTo>
                  <a:lnTo>
                    <a:pt x="1309" y="22"/>
                  </a:lnTo>
                  <a:lnTo>
                    <a:pt x="1319" y="13"/>
                  </a:lnTo>
                  <a:lnTo>
                    <a:pt x="1332" y="7"/>
                  </a:lnTo>
                  <a:lnTo>
                    <a:pt x="1344" y="2"/>
                  </a:lnTo>
                  <a:lnTo>
                    <a:pt x="1360" y="0"/>
                  </a:lnTo>
                  <a:lnTo>
                    <a:pt x="1693" y="0"/>
                  </a:lnTo>
                  <a:lnTo>
                    <a:pt x="1742" y="3"/>
                  </a:lnTo>
                  <a:lnTo>
                    <a:pt x="1791" y="12"/>
                  </a:lnTo>
                  <a:lnTo>
                    <a:pt x="1838" y="26"/>
                  </a:lnTo>
                  <a:lnTo>
                    <a:pt x="1882" y="45"/>
                  </a:lnTo>
                  <a:lnTo>
                    <a:pt x="1924" y="68"/>
                  </a:lnTo>
                  <a:lnTo>
                    <a:pt x="1963" y="95"/>
                  </a:lnTo>
                  <a:lnTo>
                    <a:pt x="1999" y="128"/>
                  </a:lnTo>
                  <a:lnTo>
                    <a:pt x="2032" y="163"/>
                  </a:lnTo>
                  <a:lnTo>
                    <a:pt x="2059" y="202"/>
                  </a:lnTo>
                  <a:lnTo>
                    <a:pt x="2083" y="244"/>
                  </a:lnTo>
                  <a:lnTo>
                    <a:pt x="2102" y="289"/>
                  </a:lnTo>
                  <a:lnTo>
                    <a:pt x="2117" y="337"/>
                  </a:lnTo>
                  <a:lnTo>
                    <a:pt x="2125" y="386"/>
                  </a:lnTo>
                  <a:lnTo>
                    <a:pt x="2129" y="438"/>
                  </a:lnTo>
                  <a:lnTo>
                    <a:pt x="2129" y="1312"/>
                  </a:lnTo>
                  <a:lnTo>
                    <a:pt x="2122" y="1333"/>
                  </a:lnTo>
                  <a:lnTo>
                    <a:pt x="2113" y="1351"/>
                  </a:lnTo>
                  <a:lnTo>
                    <a:pt x="2099" y="1366"/>
                  </a:lnTo>
                  <a:lnTo>
                    <a:pt x="2083" y="1377"/>
                  </a:lnTo>
                  <a:lnTo>
                    <a:pt x="2065" y="1384"/>
                  </a:lnTo>
                  <a:lnTo>
                    <a:pt x="2048" y="1386"/>
                  </a:lnTo>
                  <a:lnTo>
                    <a:pt x="74" y="1386"/>
                  </a:lnTo>
                  <a:lnTo>
                    <a:pt x="53" y="1384"/>
                  </a:lnTo>
                  <a:lnTo>
                    <a:pt x="35" y="1377"/>
                  </a:lnTo>
                  <a:lnTo>
                    <a:pt x="20" y="1366"/>
                  </a:lnTo>
                  <a:lnTo>
                    <a:pt x="9" y="1351"/>
                  </a:lnTo>
                  <a:lnTo>
                    <a:pt x="2" y="1333"/>
                  </a:lnTo>
                  <a:lnTo>
                    <a:pt x="0" y="1312"/>
                  </a:lnTo>
                  <a:lnTo>
                    <a:pt x="0" y="438"/>
                  </a:lnTo>
                  <a:lnTo>
                    <a:pt x="3" y="388"/>
                  </a:lnTo>
                  <a:lnTo>
                    <a:pt x="12" y="339"/>
                  </a:lnTo>
                  <a:lnTo>
                    <a:pt x="25" y="291"/>
                  </a:lnTo>
                  <a:lnTo>
                    <a:pt x="44" y="247"/>
                  </a:lnTo>
                  <a:lnTo>
                    <a:pt x="67" y="205"/>
                  </a:lnTo>
                  <a:lnTo>
                    <a:pt x="95" y="166"/>
                  </a:lnTo>
                  <a:lnTo>
                    <a:pt x="126" y="130"/>
                  </a:lnTo>
                  <a:lnTo>
                    <a:pt x="162" y="98"/>
                  </a:lnTo>
                  <a:lnTo>
                    <a:pt x="201" y="70"/>
                  </a:lnTo>
                  <a:lnTo>
                    <a:pt x="243" y="46"/>
                  </a:lnTo>
                  <a:lnTo>
                    <a:pt x="287" y="27"/>
                  </a:lnTo>
                  <a:lnTo>
                    <a:pt x="335" y="13"/>
                  </a:lnTo>
                  <a:lnTo>
                    <a:pt x="384" y="3"/>
                  </a:lnTo>
                  <a:lnTo>
                    <a:pt x="436"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59" name="Inhaltsplatzhalter 4"/>
          <p:cNvSpPr txBox="1"/>
          <p:nvPr/>
        </p:nvSpPr>
        <p:spPr>
          <a:xfrm>
            <a:off x="8445290" y="3887685"/>
            <a:ext cx="1330084" cy="215265"/>
          </a:xfrm>
          <a:prstGeom prst="rect">
            <a:avLst/>
          </a:prstGeom>
        </p:spPr>
        <p:txBody>
          <a:bodyPr wrap="square" lIns="0" tIns="0" rIns="0" bIns="0">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400" b="1" dirty="0">
                <a:latin typeface="+mj-lt"/>
              </a:rPr>
              <a:t>角色撤销</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8.6  MySQL</a:t>
            </a:r>
            <a:r>
              <a:rPr lang="zh-CN" altLang="en-US" dirty="0">
                <a:sym typeface="+mn-ea"/>
              </a:rPr>
              <a:t>角色管理</a:t>
            </a:r>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角色创建</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zh-CN" altLang="en-US" dirty="0"/>
              <a:t>使用CREATE ROLE语句创建角色</a:t>
            </a:r>
          </a:p>
        </p:txBody>
      </p:sp>
      <p:sp>
        <p:nvSpPr>
          <p:cNvPr id="11" name="矩形 10"/>
          <p:cNvSpPr/>
          <p:nvPr/>
        </p:nvSpPr>
        <p:spPr>
          <a:xfrm>
            <a:off x="536575" y="2952750"/>
            <a:ext cx="11286490" cy="6445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例子：创建可在任意主机上使用的教师角色teacher和管理员角色administrator。</a:t>
            </a:r>
          </a:p>
        </p:txBody>
      </p:sp>
      <p:sp>
        <p:nvSpPr>
          <p:cNvPr id="12" name="下箭头 11"/>
          <p:cNvSpPr/>
          <p:nvPr/>
        </p:nvSpPr>
        <p:spPr>
          <a:xfrm rot="16200000">
            <a:off x="639260" y="20319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0" name="文本框 9"/>
          <p:cNvSpPr txBox="1"/>
          <p:nvPr/>
        </p:nvSpPr>
        <p:spPr>
          <a:xfrm>
            <a:off x="1450975" y="2209165"/>
            <a:ext cx="9806305" cy="398780"/>
          </a:xfrm>
          <a:prstGeom prst="rect">
            <a:avLst/>
          </a:prstGeom>
          <a:noFill/>
          <a:ln w="9525">
            <a:noFill/>
          </a:ln>
        </p:spPr>
        <p:txBody>
          <a:bodyPr wrap="square">
            <a:spAutoFit/>
          </a:bodyPr>
          <a:lstStyle/>
          <a:p>
            <a:pPr indent="127000"/>
            <a:r>
              <a:rPr sz="2000" b="0">
                <a:cs typeface="方正书宋简体" charset="0"/>
              </a:rPr>
              <a:t>CREATE ROLE '角色名称'@'主机信息'[, '角色名称'@'主机信息']...</a:t>
            </a:r>
          </a:p>
        </p:txBody>
      </p:sp>
      <p:sp>
        <p:nvSpPr>
          <p:cNvPr id="2" name="文本框 1"/>
          <p:cNvSpPr txBox="1"/>
          <p:nvPr/>
        </p:nvSpPr>
        <p:spPr>
          <a:xfrm>
            <a:off x="1527175" y="3886835"/>
            <a:ext cx="9806305" cy="398780"/>
          </a:xfrm>
          <a:prstGeom prst="rect">
            <a:avLst/>
          </a:prstGeom>
          <a:noFill/>
          <a:ln w="9525">
            <a:noFill/>
          </a:ln>
        </p:spPr>
        <p:txBody>
          <a:bodyPr wrap="square">
            <a:spAutoFit/>
          </a:bodyPr>
          <a:lstStyle/>
          <a:p>
            <a:pPr indent="127000"/>
            <a:r>
              <a:rPr sz="2000" b="0">
                <a:cs typeface="方正书宋简体" charset="0"/>
              </a:rPr>
              <a:t>CREATE ROLE 'teacher', 'administrator';</a:t>
            </a:r>
          </a:p>
        </p:txBody>
      </p:sp>
      <p:sp>
        <p:nvSpPr>
          <p:cNvPr id="6" name="下箭头 5"/>
          <p:cNvSpPr/>
          <p:nvPr/>
        </p:nvSpPr>
        <p:spPr>
          <a:xfrm rot="16200000">
            <a:off x="639895" y="37083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 name="矩形 2"/>
          <p:cNvSpPr/>
          <p:nvPr/>
        </p:nvSpPr>
        <p:spPr>
          <a:xfrm>
            <a:off x="536575" y="4572635"/>
            <a:ext cx="11286490" cy="6445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例子：创建可在本地主机上使用的开发者角色developer。</a:t>
            </a:r>
          </a:p>
        </p:txBody>
      </p:sp>
      <p:sp>
        <p:nvSpPr>
          <p:cNvPr id="7" name="文本框 6"/>
          <p:cNvSpPr txBox="1"/>
          <p:nvPr/>
        </p:nvSpPr>
        <p:spPr>
          <a:xfrm>
            <a:off x="1527810" y="5563870"/>
            <a:ext cx="9806305" cy="398780"/>
          </a:xfrm>
          <a:prstGeom prst="rect">
            <a:avLst/>
          </a:prstGeom>
          <a:noFill/>
          <a:ln w="9525">
            <a:noFill/>
          </a:ln>
        </p:spPr>
        <p:txBody>
          <a:bodyPr wrap="square">
            <a:spAutoFit/>
          </a:bodyPr>
          <a:lstStyle/>
          <a:p>
            <a:pPr indent="127000"/>
            <a:r>
              <a:rPr sz="2000" b="0">
                <a:cs typeface="方正书宋简体" charset="0"/>
              </a:rPr>
              <a:t> CREATE ROLE 'developer'@'localhost';</a:t>
            </a:r>
          </a:p>
        </p:txBody>
      </p:sp>
      <p:sp>
        <p:nvSpPr>
          <p:cNvPr id="8" name="下箭头 7"/>
          <p:cNvSpPr/>
          <p:nvPr/>
        </p:nvSpPr>
        <p:spPr>
          <a:xfrm rot="16200000">
            <a:off x="640530" y="538542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8.6  MySQL</a:t>
            </a:r>
            <a:r>
              <a:rPr lang="zh-CN" altLang="en-US" dirty="0">
                <a:sym typeface="+mn-ea"/>
              </a:rPr>
              <a:t>角色管理</a:t>
            </a:r>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角色授权</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zh-CN" altLang="en-US" dirty="0"/>
              <a:t>使用GRANT语句将角色包含的权限赋予角色。</a:t>
            </a:r>
          </a:p>
        </p:txBody>
      </p:sp>
      <p:sp>
        <p:nvSpPr>
          <p:cNvPr id="11" name="矩形 10"/>
          <p:cNvSpPr/>
          <p:nvPr/>
        </p:nvSpPr>
        <p:spPr>
          <a:xfrm>
            <a:off x="536575" y="2266950"/>
            <a:ext cx="11286490" cy="6445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例子：为管理员角色administrator授予服务器级别全局权限。</a:t>
            </a:r>
          </a:p>
        </p:txBody>
      </p:sp>
      <p:sp>
        <p:nvSpPr>
          <p:cNvPr id="2" name="文本框 1"/>
          <p:cNvSpPr txBox="1"/>
          <p:nvPr/>
        </p:nvSpPr>
        <p:spPr>
          <a:xfrm>
            <a:off x="1527175" y="3201035"/>
            <a:ext cx="9806305" cy="398780"/>
          </a:xfrm>
          <a:prstGeom prst="rect">
            <a:avLst/>
          </a:prstGeom>
          <a:noFill/>
          <a:ln w="9525">
            <a:noFill/>
          </a:ln>
        </p:spPr>
        <p:txBody>
          <a:bodyPr wrap="square">
            <a:spAutoFit/>
          </a:bodyPr>
          <a:lstStyle/>
          <a:p>
            <a:pPr indent="127000"/>
            <a:r>
              <a:rPr sz="2000" b="0">
                <a:cs typeface="方正书宋简体" charset="0"/>
              </a:rPr>
              <a:t>GRANT ALL PREVILEGE ON *.* TO administrator;</a:t>
            </a:r>
          </a:p>
        </p:txBody>
      </p:sp>
      <p:sp>
        <p:nvSpPr>
          <p:cNvPr id="6" name="下箭头 5"/>
          <p:cNvSpPr/>
          <p:nvPr/>
        </p:nvSpPr>
        <p:spPr>
          <a:xfrm rot="16200000">
            <a:off x="639895" y="30225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 name="矩形 2"/>
          <p:cNvSpPr/>
          <p:nvPr/>
        </p:nvSpPr>
        <p:spPr>
          <a:xfrm>
            <a:off x="536575" y="3886835"/>
            <a:ext cx="11286490" cy="83439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例子：为教师角色teacher授予teaching.sc表级别的查找SELECT、插入数据INSERT、更新数据UPDATE和删除数据DELETE权限。</a:t>
            </a:r>
          </a:p>
        </p:txBody>
      </p:sp>
      <p:sp>
        <p:nvSpPr>
          <p:cNvPr id="7" name="文本框 6"/>
          <p:cNvSpPr txBox="1"/>
          <p:nvPr/>
        </p:nvSpPr>
        <p:spPr>
          <a:xfrm>
            <a:off x="1527175" y="5106035"/>
            <a:ext cx="9806305" cy="1014730"/>
          </a:xfrm>
          <a:prstGeom prst="rect">
            <a:avLst/>
          </a:prstGeom>
          <a:noFill/>
          <a:ln w="9525">
            <a:noFill/>
          </a:ln>
        </p:spPr>
        <p:txBody>
          <a:bodyPr wrap="square">
            <a:spAutoFit/>
          </a:bodyPr>
          <a:lstStyle/>
          <a:p>
            <a:pPr indent="127000"/>
            <a:r>
              <a:rPr sz="2000" b="0">
                <a:cs typeface="方正书宋简体" charset="0"/>
              </a:rPr>
              <a:t> GRANT SELECT, INSERT, UPDATE, DELETE </a:t>
            </a:r>
          </a:p>
          <a:p>
            <a:pPr indent="127000"/>
            <a:r>
              <a:rPr sz="2000" b="0">
                <a:cs typeface="方正书宋简体" charset="0"/>
              </a:rPr>
              <a:t>ON teaching.sc</a:t>
            </a:r>
          </a:p>
          <a:p>
            <a:pPr indent="127000"/>
            <a:r>
              <a:rPr sz="2000" b="0">
                <a:cs typeface="方正书宋简体" charset="0"/>
              </a:rPr>
              <a:t>TO 'teacher';</a:t>
            </a:r>
          </a:p>
        </p:txBody>
      </p:sp>
      <p:sp>
        <p:nvSpPr>
          <p:cNvPr id="8" name="下箭头 7"/>
          <p:cNvSpPr/>
          <p:nvPr/>
        </p:nvSpPr>
        <p:spPr>
          <a:xfrm rot="16200000">
            <a:off x="715460" y="50037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8.6  MySQL</a:t>
            </a:r>
            <a:r>
              <a:rPr lang="zh-CN" altLang="en-US" dirty="0">
                <a:sym typeface="+mn-ea"/>
              </a:rPr>
              <a:t>角色管理</a:t>
            </a:r>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zh-CN" dirty="0"/>
              <a:t>角色激活</a:t>
            </a:r>
          </a:p>
        </p:txBody>
      </p:sp>
      <p:sp>
        <p:nvSpPr>
          <p:cNvPr id="33" name="内容占位符 4"/>
          <p:cNvSpPr>
            <a:spLocks noGrp="1"/>
          </p:cNvSpPr>
          <p:nvPr/>
        </p:nvSpPr>
        <p:spPr>
          <a:xfrm>
            <a:off x="536575" y="1445260"/>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1. </a:t>
            </a:r>
            <a:r>
              <a:rPr lang="zh-CN" altLang="en-US" dirty="0"/>
              <a:t>为用户分配角色</a:t>
            </a:r>
          </a:p>
        </p:txBody>
      </p:sp>
      <p:sp>
        <p:nvSpPr>
          <p:cNvPr id="11" name="矩形 10"/>
          <p:cNvSpPr/>
          <p:nvPr/>
        </p:nvSpPr>
        <p:spPr>
          <a:xfrm>
            <a:off x="536575" y="1981835"/>
            <a:ext cx="11286490" cy="6445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例子：为用户teacher2分配teacher角色。</a:t>
            </a:r>
          </a:p>
        </p:txBody>
      </p:sp>
      <p:sp>
        <p:nvSpPr>
          <p:cNvPr id="2" name="文本框 1"/>
          <p:cNvSpPr txBox="1"/>
          <p:nvPr/>
        </p:nvSpPr>
        <p:spPr>
          <a:xfrm>
            <a:off x="1450975" y="2836545"/>
            <a:ext cx="9806305" cy="398780"/>
          </a:xfrm>
          <a:prstGeom prst="rect">
            <a:avLst/>
          </a:prstGeom>
          <a:noFill/>
          <a:ln w="9525">
            <a:noFill/>
          </a:ln>
        </p:spPr>
        <p:txBody>
          <a:bodyPr wrap="square">
            <a:spAutoFit/>
          </a:bodyPr>
          <a:lstStyle/>
          <a:p>
            <a:pPr indent="127000"/>
            <a:r>
              <a:rPr sz="2000" b="0">
                <a:cs typeface="方正书宋简体" charset="0"/>
              </a:rPr>
              <a:t>GRANT 'teacher' TO 'teacher2';</a:t>
            </a:r>
          </a:p>
        </p:txBody>
      </p:sp>
      <p:sp>
        <p:nvSpPr>
          <p:cNvPr id="6" name="下箭头 5"/>
          <p:cNvSpPr/>
          <p:nvPr/>
        </p:nvSpPr>
        <p:spPr>
          <a:xfrm rot="16200000">
            <a:off x="639260" y="27177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3" name="矩形 2"/>
          <p:cNvSpPr/>
          <p:nvPr/>
        </p:nvSpPr>
        <p:spPr>
          <a:xfrm>
            <a:off x="536575" y="3963035"/>
            <a:ext cx="11286490" cy="5003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例子：使用户teacher2上的teacher角色生效。</a:t>
            </a:r>
          </a:p>
        </p:txBody>
      </p:sp>
      <p:sp>
        <p:nvSpPr>
          <p:cNvPr id="7" name="文本框 6"/>
          <p:cNvSpPr txBox="1"/>
          <p:nvPr/>
        </p:nvSpPr>
        <p:spPr>
          <a:xfrm>
            <a:off x="1450975" y="4877435"/>
            <a:ext cx="9806305" cy="398780"/>
          </a:xfrm>
          <a:prstGeom prst="rect">
            <a:avLst/>
          </a:prstGeom>
          <a:noFill/>
          <a:ln w="9525">
            <a:noFill/>
          </a:ln>
        </p:spPr>
        <p:txBody>
          <a:bodyPr wrap="square">
            <a:spAutoFit/>
          </a:bodyPr>
          <a:lstStyle/>
          <a:p>
            <a:pPr indent="127000"/>
            <a:r>
              <a:rPr sz="2000" b="0">
                <a:cs typeface="方正书宋简体" charset="0"/>
              </a:rPr>
              <a:t> SET DEFAULT ROLE 'teacher' TO 'teacher2';</a:t>
            </a:r>
          </a:p>
        </p:txBody>
      </p:sp>
      <p:sp>
        <p:nvSpPr>
          <p:cNvPr id="8" name="下箭头 7"/>
          <p:cNvSpPr/>
          <p:nvPr/>
        </p:nvSpPr>
        <p:spPr>
          <a:xfrm rot="16200000">
            <a:off x="639895" y="46989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9" name="内容占位符 4"/>
          <p:cNvSpPr>
            <a:spLocks noGrp="1"/>
          </p:cNvSpPr>
          <p:nvPr/>
        </p:nvSpPr>
        <p:spPr>
          <a:xfrm>
            <a:off x="536575" y="3371215"/>
            <a:ext cx="5640705"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lang="en-US" altLang="zh-CN" dirty="0"/>
              <a:t>2. </a:t>
            </a:r>
            <a:r>
              <a:rPr lang="zh-CN" altLang="en-US" dirty="0"/>
              <a:t>角色激活</a:t>
            </a:r>
          </a:p>
        </p:txBody>
      </p:sp>
      <p:sp>
        <p:nvSpPr>
          <p:cNvPr id="10" name="矩形 9"/>
          <p:cNvSpPr/>
          <p:nvPr/>
        </p:nvSpPr>
        <p:spPr>
          <a:xfrm>
            <a:off x="536575" y="5410835"/>
            <a:ext cx="11286490" cy="5003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例子：使用户teacher3上的所有角色生效。</a:t>
            </a:r>
          </a:p>
        </p:txBody>
      </p:sp>
      <p:sp>
        <p:nvSpPr>
          <p:cNvPr id="12" name="下箭头 11"/>
          <p:cNvSpPr/>
          <p:nvPr/>
        </p:nvSpPr>
        <p:spPr>
          <a:xfrm rot="16200000">
            <a:off x="640530" y="602042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3" name="文本框 12"/>
          <p:cNvSpPr txBox="1"/>
          <p:nvPr/>
        </p:nvSpPr>
        <p:spPr>
          <a:xfrm>
            <a:off x="1450975" y="6172835"/>
            <a:ext cx="9806305" cy="398780"/>
          </a:xfrm>
          <a:prstGeom prst="rect">
            <a:avLst/>
          </a:prstGeom>
          <a:noFill/>
          <a:ln w="9525">
            <a:noFill/>
          </a:ln>
        </p:spPr>
        <p:txBody>
          <a:bodyPr wrap="square">
            <a:spAutoFit/>
          </a:bodyPr>
          <a:lstStyle/>
          <a:p>
            <a:pPr indent="127000"/>
            <a:r>
              <a:rPr sz="2000" b="0">
                <a:cs typeface="方正书宋简体" charset="0"/>
              </a:rPr>
              <a:t> SET DEFAULT ROLE ALL TO 'teacher3';</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sym typeface="+mn-ea"/>
              </a:rPr>
              <a:t>8.6  MySQL</a:t>
            </a:r>
            <a:r>
              <a:rPr lang="zh-CN" altLang="en-US" dirty="0">
                <a:sym typeface="+mn-ea"/>
              </a:rPr>
              <a:t>角色管理</a:t>
            </a:r>
          </a:p>
        </p:txBody>
      </p:sp>
      <p:sp>
        <p:nvSpPr>
          <p:cNvPr id="5" name="内容占位符 4"/>
          <p:cNvSpPr>
            <a:spLocks noGrp="1"/>
          </p:cNvSpPr>
          <p:nvPr>
            <p:ph idx="1"/>
          </p:nvPr>
        </p:nvSpPr>
        <p:spPr>
          <a:xfrm>
            <a:off x="536575" y="915035"/>
            <a:ext cx="2529840" cy="396875"/>
          </a:xfrm>
        </p:spPr>
        <p:txBody>
          <a:bodyPr>
            <a:noAutofit/>
          </a:bodyPr>
          <a:lstStyle/>
          <a:p>
            <a:pPr marL="0" indent="0" algn="l">
              <a:lnSpc>
                <a:spcPct val="100000"/>
              </a:lnSpc>
              <a:buNone/>
            </a:pPr>
            <a:r>
              <a:rPr lang="en-US" altLang="zh-CN" dirty="0"/>
              <a:t>MySQL</a:t>
            </a:r>
            <a:r>
              <a:rPr lang="zh-CN" altLang="en-US" dirty="0"/>
              <a:t>角色查看</a:t>
            </a:r>
          </a:p>
        </p:txBody>
      </p:sp>
      <p:sp>
        <p:nvSpPr>
          <p:cNvPr id="33" name="内容占位符 4"/>
          <p:cNvSpPr>
            <a:spLocks noGrp="1"/>
          </p:cNvSpPr>
          <p:nvPr/>
        </p:nvSpPr>
        <p:spPr>
          <a:xfrm>
            <a:off x="536575" y="1445260"/>
            <a:ext cx="1128649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dirty="0"/>
              <a:t>使用SELECT语句查询CURRENT_ROLE函数可获得当前用户的生效角色</a:t>
            </a:r>
          </a:p>
        </p:txBody>
      </p:sp>
      <p:sp>
        <p:nvSpPr>
          <p:cNvPr id="11" name="矩形 10"/>
          <p:cNvSpPr/>
          <p:nvPr/>
        </p:nvSpPr>
        <p:spPr>
          <a:xfrm>
            <a:off x="536575" y="1981835"/>
            <a:ext cx="11286490" cy="64452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50000"/>
              </a:lnSpc>
              <a:buNone/>
            </a:pPr>
            <a:r>
              <a:rPr lang="zh-CN" altLang="en-US" sz="1600">
                <a:solidFill>
                  <a:schemeClr val="tx1"/>
                </a:solidFill>
              </a:rPr>
              <a:t>例子：查询当前用户生效的角色。</a:t>
            </a:r>
          </a:p>
        </p:txBody>
      </p:sp>
      <p:sp>
        <p:nvSpPr>
          <p:cNvPr id="2" name="文本框 1"/>
          <p:cNvSpPr txBox="1"/>
          <p:nvPr/>
        </p:nvSpPr>
        <p:spPr>
          <a:xfrm>
            <a:off x="1450975" y="2836545"/>
            <a:ext cx="9806305" cy="398780"/>
          </a:xfrm>
          <a:prstGeom prst="rect">
            <a:avLst/>
          </a:prstGeom>
          <a:noFill/>
          <a:ln w="9525">
            <a:noFill/>
          </a:ln>
        </p:spPr>
        <p:txBody>
          <a:bodyPr wrap="square">
            <a:spAutoFit/>
          </a:bodyPr>
          <a:lstStyle/>
          <a:p>
            <a:pPr indent="127000"/>
            <a:r>
              <a:rPr sz="2000" b="0">
                <a:cs typeface="方正书宋简体" charset="0"/>
              </a:rPr>
              <a:t>SELECT CURRENT_ROLE();</a:t>
            </a:r>
          </a:p>
        </p:txBody>
      </p:sp>
      <p:sp>
        <p:nvSpPr>
          <p:cNvPr id="6" name="下箭头 5"/>
          <p:cNvSpPr/>
          <p:nvPr/>
        </p:nvSpPr>
        <p:spPr>
          <a:xfrm rot="16200000">
            <a:off x="639260" y="27177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4" name="内容占位符 4"/>
          <p:cNvSpPr>
            <a:spLocks noGrp="1"/>
          </p:cNvSpPr>
          <p:nvPr/>
        </p:nvSpPr>
        <p:spPr>
          <a:xfrm>
            <a:off x="536575" y="3429635"/>
            <a:ext cx="2529840" cy="396875"/>
          </a:xfrm>
          <a:prstGeom prst="rect">
            <a:avLst/>
          </a:prstGeom>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dirty="0"/>
              <a:t>MySQL角色撤销</a:t>
            </a:r>
          </a:p>
        </p:txBody>
      </p:sp>
      <p:sp>
        <p:nvSpPr>
          <p:cNvPr id="15" name="内容占位符 4"/>
          <p:cNvSpPr>
            <a:spLocks noGrp="1"/>
          </p:cNvSpPr>
          <p:nvPr/>
        </p:nvSpPr>
        <p:spPr>
          <a:xfrm>
            <a:off x="536575" y="4020820"/>
            <a:ext cx="11286490" cy="457200"/>
          </a:xfrm>
          <a:prstGeom prst="rect">
            <a:avLst/>
          </a:prstGeom>
          <a:solidFill>
            <a:schemeClr val="accent6">
              <a:lumMod val="40000"/>
              <a:lumOff val="60000"/>
            </a:schemeClr>
          </a:solidFill>
        </p:spPr>
        <p:txBody>
          <a:bodyPr vert="horz" lIns="121917" tIns="60958" rIns="121917" bIns="60958" rtlCol="0">
            <a:noAutofit/>
          </a:bodyPr>
          <a:lstStyle>
            <a:lvl1pPr marL="457200" indent="-457200" algn="l" defTabSz="1219835"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l">
              <a:lnSpc>
                <a:spcPct val="100000"/>
              </a:lnSpc>
              <a:buNone/>
            </a:pPr>
            <a:r>
              <a:rPr dirty="0"/>
              <a:t>使用REVOKE语句可以回收已经分配给各用户的角色，回收后用户不再具有角色拥有的权限。</a:t>
            </a:r>
          </a:p>
        </p:txBody>
      </p:sp>
      <p:sp>
        <p:nvSpPr>
          <p:cNvPr id="16" name="矩形 15"/>
          <p:cNvSpPr/>
          <p:nvPr/>
        </p:nvSpPr>
        <p:spPr>
          <a:xfrm>
            <a:off x="536575" y="4572635"/>
            <a:ext cx="11286490" cy="30670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例子：回收用户teacher2的角色teacher。</a:t>
            </a:r>
          </a:p>
        </p:txBody>
      </p:sp>
      <p:sp>
        <p:nvSpPr>
          <p:cNvPr id="17" name="下箭头 16"/>
          <p:cNvSpPr/>
          <p:nvPr/>
        </p:nvSpPr>
        <p:spPr>
          <a:xfrm rot="16200000">
            <a:off x="639895" y="4927590"/>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8" name="文本框 17"/>
          <p:cNvSpPr txBox="1"/>
          <p:nvPr/>
        </p:nvSpPr>
        <p:spPr>
          <a:xfrm>
            <a:off x="1374775" y="5029835"/>
            <a:ext cx="9806305" cy="398780"/>
          </a:xfrm>
          <a:prstGeom prst="rect">
            <a:avLst/>
          </a:prstGeom>
          <a:noFill/>
          <a:ln w="9525">
            <a:noFill/>
          </a:ln>
        </p:spPr>
        <p:txBody>
          <a:bodyPr wrap="square">
            <a:spAutoFit/>
          </a:bodyPr>
          <a:lstStyle/>
          <a:p>
            <a:pPr indent="127000"/>
            <a:r>
              <a:rPr sz="2000" b="0">
                <a:cs typeface="方正书宋简体" charset="0"/>
              </a:rPr>
              <a:t>REVOKE 'teacher2' FROM 'teacher';</a:t>
            </a:r>
          </a:p>
        </p:txBody>
      </p:sp>
      <p:sp>
        <p:nvSpPr>
          <p:cNvPr id="19" name="矩形 18"/>
          <p:cNvSpPr/>
          <p:nvPr/>
        </p:nvSpPr>
        <p:spPr>
          <a:xfrm>
            <a:off x="536575" y="5639435"/>
            <a:ext cx="11286490" cy="30670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l">
              <a:lnSpc>
                <a:spcPct val="100000"/>
              </a:lnSpc>
              <a:buNone/>
            </a:pPr>
            <a:r>
              <a:rPr lang="zh-CN" altLang="en-US" sz="1600">
                <a:solidFill>
                  <a:schemeClr val="tx1"/>
                </a:solidFill>
              </a:rPr>
              <a:t>例子：删除角色teacher。</a:t>
            </a:r>
          </a:p>
        </p:txBody>
      </p:sp>
      <p:sp>
        <p:nvSpPr>
          <p:cNvPr id="20" name="下箭头 19"/>
          <p:cNvSpPr/>
          <p:nvPr/>
        </p:nvSpPr>
        <p:spPr>
          <a:xfrm rot="16200000">
            <a:off x="640530" y="6147425"/>
            <a:ext cx="583300" cy="63583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121983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1" name="文本框 20"/>
          <p:cNvSpPr txBox="1"/>
          <p:nvPr/>
        </p:nvSpPr>
        <p:spPr>
          <a:xfrm>
            <a:off x="1374775" y="6216650"/>
            <a:ext cx="9806305" cy="398780"/>
          </a:xfrm>
          <a:prstGeom prst="rect">
            <a:avLst/>
          </a:prstGeom>
          <a:noFill/>
          <a:ln w="9525">
            <a:noFill/>
          </a:ln>
        </p:spPr>
        <p:txBody>
          <a:bodyPr wrap="square">
            <a:spAutoFit/>
          </a:bodyPr>
          <a:lstStyle/>
          <a:p>
            <a:pPr indent="127000"/>
            <a:r>
              <a:rPr sz="2000" b="0">
                <a:cs typeface="方正书宋简体" charset="0"/>
              </a:rPr>
              <a:t>DROP ROLE 'teacher';</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4.3.3"/>
</p:tagLst>
</file>

<file path=ppt/tags/tag2.xml><?xml version="1.0" encoding="utf-8"?>
<p:tagLst xmlns:a="http://schemas.openxmlformats.org/drawingml/2006/main" xmlns:r="http://schemas.openxmlformats.org/officeDocument/2006/relationships" xmlns:p="http://schemas.openxmlformats.org/presentationml/2006/main">
  <p:tag name="PA" val="v4.3.3"/>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95,&quot;width&quot;:512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TotalTime>
  <Words>7401</Words>
  <Application>Microsoft Office PowerPoint</Application>
  <PresentationFormat>自定义</PresentationFormat>
  <Paragraphs>940</Paragraphs>
  <Slides>104</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104</vt:i4>
      </vt:variant>
    </vt:vector>
  </HeadingPairs>
  <TitlesOfParts>
    <vt:vector size="117" baseType="lpstr">
      <vt:lpstr>Arial Unicode MS</vt:lpstr>
      <vt:lpstr>等线</vt:lpstr>
      <vt:lpstr>方正书宋简体</vt:lpstr>
      <vt:lpstr>微软雅黑</vt:lpstr>
      <vt:lpstr>Arial</vt:lpstr>
      <vt:lpstr>Calibri</vt:lpstr>
      <vt:lpstr>Century Gothic</vt:lpstr>
      <vt:lpstr>Impact</vt:lpstr>
      <vt:lpstr>Leelawadee</vt:lpstr>
      <vt:lpstr>Times New Roman</vt:lpstr>
      <vt:lpstr>Wingdings</vt:lpstr>
      <vt:lpstr>Office Theme</vt:lpstr>
      <vt:lpstr>Microsoft Visio 2003-2010 绘图</vt:lpstr>
      <vt:lpstr>PowerPoint 演示文稿</vt:lpstr>
      <vt:lpstr>主要内容</vt:lpstr>
      <vt:lpstr>8.1  数据库安全性定义</vt:lpstr>
      <vt:lpstr>8.1  数据库安全性定义</vt:lpstr>
      <vt:lpstr>8.1  数据库安全性定义</vt:lpstr>
      <vt:lpstr>8.1  数据库安全性定义</vt:lpstr>
      <vt:lpstr>8.1  数据库安全性定义</vt:lpstr>
      <vt:lpstr>8.1  数据库安全性定义</vt:lpstr>
      <vt:lpstr>8.1  数据库安全性定义</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8.2  数据库安全性控制</vt:lpstr>
      <vt:lpstr>8.3  MySQL权限系统</vt:lpstr>
      <vt:lpstr>8.3  MySQL权限系统</vt:lpstr>
      <vt:lpstr>8.3  MySQL权限系统</vt:lpstr>
      <vt:lpstr>8.3  MySQL权限系统</vt:lpstr>
      <vt:lpstr>8.3  MySQL权限系统</vt:lpstr>
      <vt:lpstr>8.3  MySQL权限系统</vt:lpstr>
      <vt:lpstr>8.3  MySQL权限系统</vt:lpstr>
      <vt:lpstr>8.4  MySQL用户管理</vt:lpstr>
      <vt:lpstr>8.4  MySQL用户管理</vt:lpstr>
      <vt:lpstr>8.4  MySQL用户管理</vt:lpstr>
      <vt:lpstr>8.4  MySQL用户管理</vt:lpstr>
      <vt:lpstr>8.4  MySQL用户管理</vt:lpstr>
      <vt:lpstr>8.4  MySQL用户管理</vt:lpstr>
      <vt:lpstr>8.4  MySQL用户管理</vt:lpstr>
      <vt:lpstr>8.4  MySQL用户管理</vt:lpstr>
      <vt:lpstr>8.4  MySQL用户管理</vt:lpstr>
      <vt:lpstr>8.4  MySQL用户管理</vt:lpstr>
      <vt:lpstr>8.4  MySQL用户管理</vt:lpstr>
      <vt:lpstr>8.4  MySQL用户管理</vt:lpstr>
      <vt:lpstr>8.4  MySQL用户管理</vt:lpstr>
      <vt:lpstr>8.5  MySQL权限管理</vt:lpstr>
      <vt:lpstr>8.5  MySQL权限管理</vt:lpstr>
      <vt:lpstr>8.5  MySQL权限管理</vt:lpstr>
      <vt:lpstr>8.5  MySQL权限管理</vt:lpstr>
      <vt:lpstr>8.5  MySQL权限管理</vt:lpstr>
      <vt:lpstr>8.5  MySQL权限管理</vt:lpstr>
      <vt:lpstr>8.5  MySQL权限管理</vt:lpstr>
      <vt:lpstr>8.5  MySQL权限管理</vt:lpstr>
      <vt:lpstr>8.5  MySQL权限管理</vt:lpstr>
      <vt:lpstr>8.5  MySQL权限管理</vt:lpstr>
      <vt:lpstr>8.6  MySQL角色管理</vt:lpstr>
      <vt:lpstr>8.6  MySQL角色管理</vt:lpstr>
      <vt:lpstr>8.6  MySQL角色管理</vt:lpstr>
      <vt:lpstr>8.6  MySQL角色管理</vt:lpstr>
      <vt:lpstr>8.6  MySQL角色管理</vt:lpstr>
      <vt:lpstr>8.6  MySQL角色管理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jiajing wang</cp:lastModifiedBy>
  <cp:revision>207</cp:revision>
  <dcterms:created xsi:type="dcterms:W3CDTF">2006-08-16T00:00:00Z</dcterms:created>
  <dcterms:modified xsi:type="dcterms:W3CDTF">2024-11-19T13:02:16Z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792CF0007D954464BBC0E2A29E3753E3</vt:lpwstr>
  </property>
  <property fmtid="{D5CDD505-2E9C-101B-9397-08002B2CF9AE}" pid="3" name="KSOProductBuildVer">
    <vt:lpwstr>2052-11.1.0.11365</vt:lpwstr>
  </property>
</Properties>
</file>