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2"/>
  </p:notesMasterIdLst>
  <p:handoutMasterIdLst>
    <p:handoutMasterId r:id="rId53"/>
  </p:handoutMasterIdLst>
  <p:sldIdLst>
    <p:sldId id="288" r:id="rId2"/>
    <p:sldId id="302" r:id="rId3"/>
    <p:sldId id="340" r:id="rId4"/>
    <p:sldId id="341" r:id="rId5"/>
    <p:sldId id="342" r:id="rId6"/>
    <p:sldId id="343" r:id="rId7"/>
    <p:sldId id="344" r:id="rId8"/>
    <p:sldId id="345" r:id="rId9"/>
    <p:sldId id="346" r:id="rId10"/>
    <p:sldId id="347" r:id="rId11"/>
    <p:sldId id="348" r:id="rId12"/>
    <p:sldId id="349" r:id="rId13"/>
    <p:sldId id="350" r:id="rId14"/>
    <p:sldId id="351" r:id="rId15"/>
    <p:sldId id="352" r:id="rId16"/>
    <p:sldId id="353" r:id="rId17"/>
    <p:sldId id="355" r:id="rId18"/>
    <p:sldId id="354" r:id="rId19"/>
    <p:sldId id="356" r:id="rId20"/>
    <p:sldId id="357" r:id="rId21"/>
    <p:sldId id="358" r:id="rId22"/>
    <p:sldId id="359" r:id="rId23"/>
    <p:sldId id="360" r:id="rId24"/>
    <p:sldId id="361" r:id="rId25"/>
    <p:sldId id="362" r:id="rId26"/>
    <p:sldId id="363" r:id="rId27"/>
    <p:sldId id="364" r:id="rId28"/>
    <p:sldId id="365" r:id="rId29"/>
    <p:sldId id="366" r:id="rId30"/>
    <p:sldId id="367" r:id="rId31"/>
    <p:sldId id="368" r:id="rId32"/>
    <p:sldId id="369" r:id="rId33"/>
    <p:sldId id="370" r:id="rId34"/>
    <p:sldId id="371" r:id="rId35"/>
    <p:sldId id="372" r:id="rId36"/>
    <p:sldId id="373" r:id="rId37"/>
    <p:sldId id="374" r:id="rId38"/>
    <p:sldId id="375" r:id="rId39"/>
    <p:sldId id="376" r:id="rId40"/>
    <p:sldId id="377" r:id="rId41"/>
    <p:sldId id="378" r:id="rId42"/>
    <p:sldId id="379" r:id="rId43"/>
    <p:sldId id="380" r:id="rId44"/>
    <p:sldId id="381" r:id="rId45"/>
    <p:sldId id="382" r:id="rId46"/>
    <p:sldId id="384" r:id="rId47"/>
    <p:sldId id="385" r:id="rId48"/>
    <p:sldId id="386" r:id="rId49"/>
    <p:sldId id="387" r:id="rId50"/>
    <p:sldId id="388" r:id="rId51"/>
  </p:sldIdLst>
  <p:sldSz cx="12198350" cy="6859588"/>
  <p:notesSz cx="6858000" cy="9144000"/>
  <p:defaultTextStyle>
    <a:defPPr>
      <a:defRPr lang="en-US"/>
    </a:defPPr>
    <a:lvl1pPr marL="0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835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9435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9035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9270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8870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8470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8705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4">
          <p15:clr>
            <a:srgbClr val="A4A3A4"/>
          </p15:clr>
        </p15:guide>
        <p15:guide id="2" pos="2912">
          <p15:clr>
            <a:srgbClr val="A4A3A4"/>
          </p15:clr>
        </p15:guide>
        <p15:guide id="3" orient="horz" pos="2776">
          <p15:clr>
            <a:srgbClr val="A4A3A4"/>
          </p15:clr>
        </p15:guide>
        <p15:guide id="4" pos="395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ABC32"/>
    <a:srgbClr val="13668B"/>
    <a:srgbClr val="3E4D90"/>
    <a:srgbClr val="4A5DAC"/>
    <a:srgbClr val="28A7E1"/>
    <a:srgbClr val="0094C8"/>
    <a:srgbClr val="92D050"/>
    <a:srgbClr val="374581"/>
    <a:srgbClr val="3F4E92"/>
    <a:srgbClr val="1A8A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5758FB7-9AC5-4552-8A53-C91805E547FA}" styleName="主题样式 1 - 强调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92" autoAdjust="0"/>
    <p:restoredTop sz="99816" autoAdjust="0"/>
  </p:normalViewPr>
  <p:slideViewPr>
    <p:cSldViewPr>
      <p:cViewPr varScale="1">
        <p:scale>
          <a:sx n="60" d="100"/>
          <a:sy n="60" d="100"/>
        </p:scale>
        <p:origin x="57" y="207"/>
      </p:cViewPr>
      <p:guideLst>
        <p:guide orient="horz" pos="1964"/>
        <p:guide pos="2912"/>
        <p:guide orient="horz" pos="2776"/>
        <p:guide pos="3955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7" d="100"/>
          <a:sy n="87" d="100"/>
        </p:scale>
        <p:origin x="3840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677325-BB32-4E03-ADDD-049E86DE972C}" type="datetimeFigureOut">
              <a:rPr lang="zh-CN" altLang="en-US" smtClean="0"/>
              <a:t>2024/11/27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6720DD-8BEE-4F00-B620-6585463487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B2CA84-97B7-4DE0-A4BE-298A9A01B87C}" type="datetimeFigureOut">
              <a:rPr lang="zh-CN" altLang="en-US" smtClean="0"/>
              <a:t>2024/11/27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A6D530-88B3-468A-9042-0D43F32A3F0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一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700" y="352424"/>
            <a:ext cx="5334000" cy="429419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918" y="1143795"/>
            <a:ext cx="10978515" cy="5029200"/>
          </a:xfrm>
          <a:prstGeom prst="rect">
            <a:avLst/>
          </a:prstGeom>
        </p:spPr>
        <p:txBody>
          <a:bodyPr/>
          <a:lstStyle>
            <a:lvl1pPr marL="457200" indent="-457200">
              <a:lnSpc>
                <a:spcPct val="120000"/>
              </a:lnSpc>
              <a:buSzPct val="80000"/>
              <a:buFont typeface="Wingdings" panose="05000000000000000000" pitchFamily="2" charset="2"/>
              <a:buChar char="l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两级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700" y="362744"/>
            <a:ext cx="6581775" cy="4000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918" y="1600994"/>
            <a:ext cx="10978515" cy="4572000"/>
          </a:xfrm>
          <a:prstGeom prst="rect">
            <a:avLst/>
          </a:prstGeom>
        </p:spPr>
        <p:txBody>
          <a:bodyPr/>
          <a:lstStyle>
            <a:lvl1pPr marL="457200" indent="-457200">
              <a:lnSpc>
                <a:spcPct val="120000"/>
              </a:lnSpc>
              <a:buSzPct val="80000"/>
              <a:buFont typeface="Wingdings" panose="05000000000000000000" pitchFamily="2" charset="2"/>
              <a:buChar char="l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841375" y="984137"/>
            <a:ext cx="10747058" cy="46445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SzPct val="80000"/>
              <a:buFont typeface="Wingdings" panose="05000000000000000000" pitchFamily="2" charset="2"/>
              <a:buNone/>
              <a:defRPr b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3"/>
          <p:cNvSpPr/>
          <p:nvPr userDrawn="1"/>
        </p:nvSpPr>
        <p:spPr>
          <a:xfrm>
            <a:off x="-73026" y="0"/>
            <a:ext cx="12271375" cy="6859588"/>
          </a:xfrm>
          <a:custGeom>
            <a:avLst/>
            <a:gdLst>
              <a:gd name="connsiteX0" fmla="*/ 0 w 9144000"/>
              <a:gd name="connsiteY0" fmla="*/ 5143500 h 5143500"/>
              <a:gd name="connsiteX1" fmla="*/ 9144000 w 9144000"/>
              <a:gd name="connsiteY1" fmla="*/ 5143500 h 5143500"/>
              <a:gd name="connsiteX2" fmla="*/ 9144000 w 9144000"/>
              <a:gd name="connsiteY2" fmla="*/ 0 h 5143500"/>
              <a:gd name="connsiteX3" fmla="*/ 0 w 9144000"/>
              <a:gd name="connsiteY3" fmla="*/ 0 h 5143500"/>
              <a:gd name="connsiteX4" fmla="*/ 0 w 9144000"/>
              <a:gd name="connsiteY4" fmla="*/ 5143500 h 51435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4000" h="5143500">
                <a:moveTo>
                  <a:pt x="0" y="5143500"/>
                </a:moveTo>
                <a:lnTo>
                  <a:pt x="9144000" y="5143500"/>
                </a:lnTo>
                <a:lnTo>
                  <a:pt x="9144000" y="0"/>
                </a:lnTo>
                <a:lnTo>
                  <a:pt x="0" y="0"/>
                </a:lnTo>
                <a:lnTo>
                  <a:pt x="0" y="5143500"/>
                </a:lnTo>
              </a:path>
            </a:pathLst>
          </a:custGeom>
          <a:solidFill>
            <a:srgbClr val="ECECF2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3" tIns="60981" rIns="121963" bIns="60981" rtlCol="0" anchor="ctr"/>
          <a:lstStyle/>
          <a:p>
            <a:pPr algn="ctr"/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264" y="1250363"/>
            <a:ext cx="10978515" cy="1524353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917" y="2134095"/>
            <a:ext cx="5387605" cy="6036015"/>
          </a:xfrm>
          <a:prstGeom prst="rect">
            <a:avLst/>
          </a:prstGeo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0828" y="2134095"/>
            <a:ext cx="5387605" cy="6036015"/>
          </a:xfrm>
          <a:prstGeom prst="rect">
            <a:avLst/>
          </a:prstGeo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18" y="366269"/>
            <a:ext cx="10978515" cy="152435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918" y="2047291"/>
            <a:ext cx="5389723" cy="85321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835" indent="0">
              <a:buNone/>
              <a:defRPr sz="2400" b="1"/>
            </a:lvl3pPr>
            <a:lvl4pPr marL="1829435" indent="0">
              <a:buNone/>
              <a:defRPr sz="2100" b="1"/>
            </a:lvl4pPr>
            <a:lvl5pPr marL="2439035" indent="0">
              <a:buNone/>
              <a:defRPr sz="2100" b="1"/>
            </a:lvl5pPr>
            <a:lvl6pPr marL="3049270" indent="0">
              <a:buNone/>
              <a:defRPr sz="2100" b="1"/>
            </a:lvl6pPr>
            <a:lvl7pPr marL="3658870" indent="0">
              <a:buNone/>
              <a:defRPr sz="2100" b="1"/>
            </a:lvl7pPr>
            <a:lvl8pPr marL="4268470" indent="0">
              <a:buNone/>
              <a:defRPr sz="2100" b="1"/>
            </a:lvl8pPr>
            <a:lvl9pPr marL="4878705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918" y="2900505"/>
            <a:ext cx="5389723" cy="5269604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6593" y="2047291"/>
            <a:ext cx="5391840" cy="85321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835" indent="0">
              <a:buNone/>
              <a:defRPr sz="2400" b="1"/>
            </a:lvl3pPr>
            <a:lvl4pPr marL="1829435" indent="0">
              <a:buNone/>
              <a:defRPr sz="2100" b="1"/>
            </a:lvl4pPr>
            <a:lvl5pPr marL="2439035" indent="0">
              <a:buNone/>
              <a:defRPr sz="2100" b="1"/>
            </a:lvl5pPr>
            <a:lvl6pPr marL="3049270" indent="0">
              <a:buNone/>
              <a:defRPr sz="2100" b="1"/>
            </a:lvl6pPr>
            <a:lvl7pPr marL="3658870" indent="0">
              <a:buNone/>
              <a:defRPr sz="2100" b="1"/>
            </a:lvl7pPr>
            <a:lvl8pPr marL="4268470" indent="0">
              <a:buNone/>
              <a:defRPr sz="2100" b="1"/>
            </a:lvl8pPr>
            <a:lvl9pPr marL="4878705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6593" y="2900505"/>
            <a:ext cx="5391840" cy="5269604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18" y="364151"/>
            <a:ext cx="4013173" cy="1549759"/>
          </a:xfrm>
          <a:prstGeom prst="rect">
            <a:avLst/>
          </a:prstGeo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9216" y="364152"/>
            <a:ext cx="6819216" cy="7805958"/>
          </a:xfrm>
          <a:prstGeom prst="rect">
            <a:avLst/>
          </a:prstGeom>
        </p:spPr>
        <p:txBody>
          <a:bodyPr/>
          <a:lstStyle>
            <a:lvl1pPr>
              <a:defRPr sz="4300"/>
            </a:lvl1pPr>
            <a:lvl2pPr>
              <a:defRPr sz="3700"/>
            </a:lvl2pPr>
            <a:lvl3pPr>
              <a:defRPr sz="32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918" y="1913910"/>
            <a:ext cx="4013173" cy="62561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900"/>
            </a:lvl1pPr>
            <a:lvl2pPr marL="609600" indent="0">
              <a:buNone/>
              <a:defRPr sz="1600"/>
            </a:lvl2pPr>
            <a:lvl3pPr marL="1219835" indent="0">
              <a:buNone/>
              <a:defRPr sz="1300"/>
            </a:lvl3pPr>
            <a:lvl4pPr marL="1829435" indent="0">
              <a:buNone/>
              <a:defRPr sz="1200"/>
            </a:lvl4pPr>
            <a:lvl5pPr marL="2439035" indent="0">
              <a:buNone/>
              <a:defRPr sz="1200"/>
            </a:lvl5pPr>
            <a:lvl6pPr marL="3049270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8705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0962" y="6402282"/>
            <a:ext cx="7319010" cy="755826"/>
          </a:xfrm>
          <a:prstGeom prst="rect">
            <a:avLst/>
          </a:prstGeo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90962" y="817223"/>
            <a:ext cx="7319010" cy="54876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300"/>
            </a:lvl1pPr>
            <a:lvl2pPr marL="609600" indent="0">
              <a:buNone/>
              <a:defRPr sz="3700"/>
            </a:lvl2pPr>
            <a:lvl3pPr marL="1219835" indent="0">
              <a:buNone/>
              <a:defRPr sz="3200"/>
            </a:lvl3pPr>
            <a:lvl4pPr marL="1829435" indent="0">
              <a:buNone/>
              <a:defRPr sz="2700"/>
            </a:lvl4pPr>
            <a:lvl5pPr marL="2439035" indent="0">
              <a:buNone/>
              <a:defRPr sz="2700"/>
            </a:lvl5pPr>
            <a:lvl6pPr marL="3049270" indent="0">
              <a:buNone/>
              <a:defRPr sz="2700"/>
            </a:lvl6pPr>
            <a:lvl7pPr marL="3658870" indent="0">
              <a:buNone/>
              <a:defRPr sz="2700"/>
            </a:lvl7pPr>
            <a:lvl8pPr marL="4268470" indent="0">
              <a:buNone/>
              <a:defRPr sz="2700"/>
            </a:lvl8pPr>
            <a:lvl9pPr marL="4878705" indent="0">
              <a:buNone/>
              <a:defRPr sz="27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90962" y="7158108"/>
            <a:ext cx="7319010" cy="10733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900"/>
            </a:lvl1pPr>
            <a:lvl2pPr marL="609600" indent="0">
              <a:buNone/>
              <a:defRPr sz="1600"/>
            </a:lvl2pPr>
            <a:lvl3pPr marL="1219835" indent="0">
              <a:buNone/>
              <a:defRPr sz="1300"/>
            </a:lvl3pPr>
            <a:lvl4pPr marL="1829435" indent="0">
              <a:buNone/>
              <a:defRPr sz="1200"/>
            </a:lvl4pPr>
            <a:lvl5pPr marL="2439035" indent="0">
              <a:buNone/>
              <a:defRPr sz="1200"/>
            </a:lvl5pPr>
            <a:lvl6pPr marL="3049270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8705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18" y="366269"/>
            <a:ext cx="10978515" cy="1524353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918" y="2134095"/>
            <a:ext cx="10978515" cy="603601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43804" y="366269"/>
            <a:ext cx="2744629" cy="7803840"/>
          </a:xfrm>
          <a:prstGeom prst="rect">
            <a:avLst/>
          </a:prstGeo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918" y="366269"/>
            <a:ext cx="8030580" cy="780384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876" y="2841225"/>
            <a:ext cx="10368598" cy="1960487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9753" y="5182800"/>
            <a:ext cx="8538845" cy="233734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8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94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90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9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88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84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87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917" y="8477096"/>
            <a:ext cx="2846282" cy="486946"/>
          </a:xfrm>
          <a:prstGeom prst="rect">
            <a:avLst/>
          </a:prstGeom>
        </p:spPr>
        <p:txBody>
          <a:bodyPr vert="horz" lIns="121963" tIns="60981" rIns="121963" bIns="60981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11/27/2024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7770" y="8477096"/>
            <a:ext cx="3862811" cy="486946"/>
          </a:xfrm>
          <a:prstGeom prst="rect">
            <a:avLst/>
          </a:prstGeom>
        </p:spPr>
        <p:txBody>
          <a:bodyPr vert="horz" lIns="121963" tIns="60981" rIns="121963" bIns="60981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42151" y="8477096"/>
            <a:ext cx="2846282" cy="486946"/>
          </a:xfrm>
          <a:prstGeom prst="rect">
            <a:avLst/>
          </a:prstGeom>
        </p:spPr>
        <p:txBody>
          <a:bodyPr vert="horz" lIns="121963" tIns="60981" rIns="121963" bIns="60981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Text Placeholder 2"/>
          <p:cNvSpPr>
            <a:spLocks noGrp="1"/>
          </p:cNvSpPr>
          <p:nvPr>
            <p:ph type="body" idx="1"/>
          </p:nvPr>
        </p:nvSpPr>
        <p:spPr>
          <a:xfrm>
            <a:off x="609521" y="1143794"/>
            <a:ext cx="10971372" cy="5000369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矩形 23"/>
          <p:cNvSpPr/>
          <p:nvPr userDrawn="1"/>
        </p:nvSpPr>
        <p:spPr>
          <a:xfrm>
            <a:off x="0" y="335415"/>
            <a:ext cx="12198350" cy="432048"/>
          </a:xfrm>
          <a:prstGeom prst="rect">
            <a:avLst/>
          </a:prstGeom>
          <a:solidFill>
            <a:srgbClr val="3A4187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lvl="0" algn="ctr"/>
            <a:endParaRPr lang="zh-CN" altLang="en-US" dirty="0"/>
          </a:p>
        </p:txBody>
      </p:sp>
      <p:sp>
        <p:nvSpPr>
          <p:cNvPr id="25" name="矩形 24"/>
          <p:cNvSpPr/>
          <p:nvPr userDrawn="1"/>
        </p:nvSpPr>
        <p:spPr>
          <a:xfrm>
            <a:off x="0" y="764704"/>
            <a:ext cx="12198350" cy="72008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椭圆 25"/>
          <p:cNvSpPr/>
          <p:nvPr userDrawn="1"/>
        </p:nvSpPr>
        <p:spPr>
          <a:xfrm>
            <a:off x="11280775" y="330107"/>
            <a:ext cx="485233" cy="485233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TextBox 15"/>
          <p:cNvSpPr txBox="1"/>
          <p:nvPr userDrawn="1"/>
        </p:nvSpPr>
        <p:spPr>
          <a:xfrm>
            <a:off x="11283362" y="442092"/>
            <a:ext cx="483393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‹#›</a:t>
            </a:fld>
            <a:r>
              <a:rPr lang="zh-CN" altLang="en-US" sz="16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9" name="矩形 28"/>
          <p:cNvSpPr/>
          <p:nvPr userDrawn="1"/>
        </p:nvSpPr>
        <p:spPr>
          <a:xfrm>
            <a:off x="7470775" y="332656"/>
            <a:ext cx="3352800" cy="432048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>
                <a:solidFill>
                  <a:schemeClr val="bg1"/>
                </a:solidFill>
                <a:sym typeface="+mn-ea"/>
              </a:rPr>
              <a:t>第</a:t>
            </a:r>
            <a:r>
              <a:rPr lang="en-US" altLang="zh-CN" sz="1800" dirty="0">
                <a:solidFill>
                  <a:schemeClr val="bg1"/>
                </a:solidFill>
                <a:sym typeface="+mn-ea"/>
              </a:rPr>
              <a:t>8</a:t>
            </a:r>
            <a:r>
              <a:rPr lang="zh-CN" altLang="en-US" sz="1800" dirty="0">
                <a:solidFill>
                  <a:schemeClr val="bg1"/>
                </a:solidFill>
                <a:sym typeface="+mn-ea"/>
              </a:rPr>
              <a:t>章   数据库完整性</a:t>
            </a:r>
            <a:endParaRPr lang="zh-CN" altLang="en-US" sz="1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itle Placeholder 1"/>
          <p:cNvSpPr>
            <a:spLocks noGrp="1"/>
          </p:cNvSpPr>
          <p:nvPr>
            <p:ph type="title"/>
          </p:nvPr>
        </p:nvSpPr>
        <p:spPr>
          <a:xfrm>
            <a:off x="772942" y="362834"/>
            <a:ext cx="5305686" cy="399960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0" name="等腰三角形 39">
            <a:hlinkClick r:id="" action="ppaction://hlinkshowjump?jump=previousslide"/>
          </p:cNvPr>
          <p:cNvSpPr/>
          <p:nvPr userDrawn="1"/>
        </p:nvSpPr>
        <p:spPr>
          <a:xfrm rot="5400000" flipH="1">
            <a:off x="385417" y="517775"/>
            <a:ext cx="98663" cy="101148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/>
          </a:p>
        </p:txBody>
      </p:sp>
      <p:sp>
        <p:nvSpPr>
          <p:cNvPr id="41" name="等腰三角形 40">
            <a:hlinkClick r:id="" action="ppaction://hlinkshowjump?jump=previousslide"/>
          </p:cNvPr>
          <p:cNvSpPr/>
          <p:nvPr userDrawn="1"/>
        </p:nvSpPr>
        <p:spPr>
          <a:xfrm rot="5400000" flipH="1">
            <a:off x="525117" y="517775"/>
            <a:ext cx="98663" cy="101148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/>
          </a:p>
        </p:txBody>
      </p:sp>
      <p:sp>
        <p:nvSpPr>
          <p:cNvPr id="42" name="等腰三角形 41">
            <a:hlinkClick r:id="" action="ppaction://hlinkshowjump?jump=previousslide"/>
          </p:cNvPr>
          <p:cNvSpPr/>
          <p:nvPr userDrawn="1"/>
        </p:nvSpPr>
        <p:spPr>
          <a:xfrm rot="5400000" flipH="1">
            <a:off x="658467" y="517775"/>
            <a:ext cx="98663" cy="101148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219835" rtl="0" eaLnBrk="1" latinLnBrk="0" hangingPunct="1">
        <a:spcBef>
          <a:spcPct val="0"/>
        </a:spcBef>
        <a:buNone/>
        <a:defRPr sz="2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835" rtl="0" eaLnBrk="1" latinLnBrk="0" hangingPunct="1">
        <a:spcBef>
          <a:spcPct val="20000"/>
        </a:spcBef>
        <a:buSzPct val="80000"/>
        <a:buFont typeface="Wingdings" panose="05000000000000000000" pitchFamily="2" charset="2"/>
        <a:buChar char="l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991235" indent="-3810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524635" indent="-3048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2134235" indent="-3048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744470" indent="-304800" algn="l" defTabSz="1219835" rtl="0" eaLnBrk="1" latinLnBrk="0" hangingPunct="1">
        <a:spcBef>
          <a:spcPct val="20000"/>
        </a:spcBef>
        <a:buFont typeface="Arial" panose="020B0604020202020204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3354070" indent="-3048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3670" indent="-3048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3905" indent="-3048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3505" indent="-3048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835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9435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9035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9270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8870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8470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8705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0">
              <a:srgbClr val="374581"/>
            </a:gs>
            <a:gs pos="50000">
              <a:srgbClr val="4A5DAC"/>
            </a:gs>
            <a:gs pos="100000">
              <a:srgbClr val="374581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8350" cy="6859588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 flipV="1">
            <a:off x="1" y="1415937"/>
            <a:ext cx="12198349" cy="210459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3" tIns="60981" rIns="121963" bIns="60981" spcCol="0"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3175" y="1753394"/>
            <a:ext cx="12198349" cy="179614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  <a:effectLst>
            <a:outerShdw blurRad="50800" dist="165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3" tIns="60981" rIns="121963" bIns="60981" spcCol="0" rtlCol="0" anchor="ctr"/>
          <a:lstStyle/>
          <a:p>
            <a:pPr algn="ctr"/>
            <a:endParaRPr lang="zh-CN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1527175" y="2252051"/>
            <a:ext cx="7872730" cy="798830"/>
          </a:xfrm>
          <a:prstGeom prst="rect">
            <a:avLst/>
          </a:prstGeom>
          <a:noFill/>
        </p:spPr>
        <p:txBody>
          <a:bodyPr wrap="square" lIns="121963" tIns="60981" rIns="121963" bIns="60981" rtlCol="0">
            <a:spAutoFit/>
          </a:bodyPr>
          <a:lstStyle/>
          <a:p>
            <a:pPr algn="ctr"/>
            <a:r>
              <a:rPr lang="zh-CN" altLang="en-US" sz="4400" dirty="0"/>
              <a:t>第</a:t>
            </a:r>
            <a:r>
              <a:rPr lang="en-US" altLang="zh-CN" sz="4400" dirty="0"/>
              <a:t>9</a:t>
            </a:r>
            <a:r>
              <a:rPr lang="zh-CN" altLang="en-US" sz="4400" dirty="0"/>
              <a:t>章</a:t>
            </a:r>
            <a:r>
              <a:rPr lang="en-US" altLang="zh-CN" sz="4400" dirty="0"/>
              <a:t> </a:t>
            </a:r>
            <a:r>
              <a:rPr lang="zh-CN" altLang="en-US" sz="4400" dirty="0"/>
              <a:t>数据库完整性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7975" y="762635"/>
            <a:ext cx="7796530" cy="614045"/>
          </a:xfrm>
          <a:prstGeom prst="rect">
            <a:avLst/>
          </a:prstGeom>
          <a:noFill/>
        </p:spPr>
        <p:txBody>
          <a:bodyPr wrap="square" lIns="121963" tIns="60981" rIns="121963" bIns="60981" rtlCol="0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</a:rPr>
              <a:t>《数据库系统概论》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dirty="0"/>
              <a:t>主要内容</a:t>
            </a:r>
          </a:p>
        </p:txBody>
      </p:sp>
      <p:grpSp>
        <p:nvGrpSpPr>
          <p:cNvPr id="64" name="组合 63"/>
          <p:cNvGrpSpPr/>
          <p:nvPr/>
        </p:nvGrpSpPr>
        <p:grpSpPr>
          <a:xfrm>
            <a:off x="602260" y="1804194"/>
            <a:ext cx="6030315" cy="632563"/>
            <a:chOff x="1288060" y="2515394"/>
            <a:chExt cx="6030315" cy="632563"/>
          </a:xfrm>
        </p:grpSpPr>
        <p:sp>
          <p:nvSpPr>
            <p:cNvPr id="41" name="矩形 40"/>
            <p:cNvSpPr/>
            <p:nvPr/>
          </p:nvSpPr>
          <p:spPr>
            <a:xfrm>
              <a:off x="2060575" y="2515394"/>
              <a:ext cx="2590800" cy="5334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151869" y="2515394"/>
              <a:ext cx="2347106" cy="452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2000" dirty="0"/>
                <a:t>数据库完整性</a:t>
              </a:r>
              <a:endParaRPr lang="zh-CN" altLang="zh-CN" sz="2000" dirty="0"/>
            </a:p>
          </p:txBody>
        </p:sp>
        <p:cxnSp>
          <p:nvCxnSpPr>
            <p:cNvPr id="9" name="直接连接符 8"/>
            <p:cNvCxnSpPr/>
            <p:nvPr/>
          </p:nvCxnSpPr>
          <p:spPr bwMode="auto">
            <a:xfrm>
              <a:off x="1374775" y="3147957"/>
              <a:ext cx="594360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11" name="组合 10"/>
            <p:cNvGrpSpPr/>
            <p:nvPr/>
          </p:nvGrpSpPr>
          <p:grpSpPr>
            <a:xfrm>
              <a:off x="1288060" y="2521302"/>
              <a:ext cx="579307" cy="626655"/>
              <a:chOff x="6242320" y="1105727"/>
              <a:chExt cx="579005" cy="626656"/>
            </a:xfrm>
          </p:grpSpPr>
          <p:sp>
            <p:nvSpPr>
              <p:cNvPr id="12" name="TextBox 6"/>
              <p:cNvSpPr txBox="1"/>
              <p:nvPr/>
            </p:nvSpPr>
            <p:spPr>
              <a:xfrm>
                <a:off x="6327224" y="1105727"/>
                <a:ext cx="448425" cy="492443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 anchor="ctr">
                <a:spAutoFit/>
              </a:bodyPr>
              <a:lstStyle/>
              <a:p>
                <a:pPr algn="l"/>
                <a:r>
                  <a:rPr lang="en-US" altLang="zh-CN" sz="3200" dirty="0">
                    <a:solidFill>
                      <a:srgbClr val="FF9900"/>
                    </a:solidFill>
                    <a:latin typeface="Impact" panose="020B0806030902050204" pitchFamily="34" charset="0"/>
                    <a:ea typeface="微软雅黑" panose="020B0503020204020204" pitchFamily="34" charset="-122"/>
                  </a:rPr>
                  <a:t>01</a:t>
                </a:r>
                <a:endParaRPr lang="zh-CN" altLang="en-US" sz="3200" dirty="0">
                  <a:solidFill>
                    <a:srgbClr val="FF99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" name="文本框 22"/>
              <p:cNvSpPr txBox="1"/>
              <p:nvPr/>
            </p:nvSpPr>
            <p:spPr>
              <a:xfrm>
                <a:off x="6242320" y="1516939"/>
                <a:ext cx="579005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b="1" dirty="0">
                    <a:solidFill>
                      <a:srgbClr val="818181"/>
                    </a:solidFill>
                    <a:latin typeface="Leelawadee" panose="020B0502040204020203" pitchFamily="34" charset="-34"/>
                    <a:cs typeface="Leelawadee" panose="020B0502040204020203" pitchFamily="34" charset="-34"/>
                  </a:rPr>
                  <a:t>OPTION</a:t>
                </a:r>
                <a:endParaRPr lang="zh-CN" altLang="en-US" sz="800" b="1" dirty="0">
                  <a:solidFill>
                    <a:srgbClr val="818181"/>
                  </a:solidFill>
                  <a:latin typeface="Leelawadee" panose="020B0502040204020203" pitchFamily="34" charset="-34"/>
                  <a:cs typeface="Leelawadee" panose="020B0502040204020203" pitchFamily="34" charset="-34"/>
                </a:endParaRPr>
              </a:p>
            </p:txBody>
          </p:sp>
        </p:grpSp>
      </p:grpSp>
      <p:grpSp>
        <p:nvGrpSpPr>
          <p:cNvPr id="67" name="组合 66"/>
          <p:cNvGrpSpPr/>
          <p:nvPr/>
        </p:nvGrpSpPr>
        <p:grpSpPr>
          <a:xfrm>
            <a:off x="602260" y="4514363"/>
            <a:ext cx="6106515" cy="668031"/>
            <a:chOff x="1288060" y="4615657"/>
            <a:chExt cx="6106515" cy="668031"/>
          </a:xfrm>
        </p:grpSpPr>
        <p:grpSp>
          <p:nvGrpSpPr>
            <p:cNvPr id="66" name="组合 65"/>
            <p:cNvGrpSpPr/>
            <p:nvPr/>
          </p:nvGrpSpPr>
          <p:grpSpPr>
            <a:xfrm>
              <a:off x="1288060" y="4615657"/>
              <a:ext cx="6106515" cy="668031"/>
              <a:chOff x="1288060" y="4615657"/>
              <a:chExt cx="6106515" cy="668031"/>
            </a:xfrm>
          </p:grpSpPr>
          <p:sp>
            <p:nvSpPr>
              <p:cNvPr id="43" name="矩形 42"/>
              <p:cNvSpPr/>
              <p:nvPr/>
            </p:nvSpPr>
            <p:spPr>
              <a:xfrm>
                <a:off x="2060575" y="4615657"/>
                <a:ext cx="2590800" cy="533400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7" name="组合 16"/>
              <p:cNvGrpSpPr/>
              <p:nvPr/>
            </p:nvGrpSpPr>
            <p:grpSpPr>
              <a:xfrm>
                <a:off x="1288060" y="4635789"/>
                <a:ext cx="579307" cy="620494"/>
                <a:chOff x="6242320" y="3640739"/>
                <a:chExt cx="579005" cy="620494"/>
              </a:xfrm>
            </p:grpSpPr>
            <p:sp>
              <p:nvSpPr>
                <p:cNvPr id="18" name="TextBox 6"/>
                <p:cNvSpPr txBox="1"/>
                <p:nvPr/>
              </p:nvSpPr>
              <p:spPr>
                <a:xfrm>
                  <a:off x="6327224" y="3640739"/>
                  <a:ext cx="448425" cy="492443"/>
                </a:xfrm>
                <a:prstGeom prst="rect">
                  <a:avLst/>
                </a:prstGeom>
                <a:noFill/>
              </p:spPr>
              <p:txBody>
                <a:bodyPr vert="horz" wrap="square" lIns="0" tIns="0" rIns="0" bIns="0" rtlCol="0" anchor="ctr">
                  <a:spAutoFit/>
                </a:bodyPr>
                <a:lstStyle/>
                <a:p>
                  <a:pPr algn="l"/>
                  <a:r>
                    <a:rPr lang="en-US" altLang="zh-CN" sz="3200" dirty="0">
                      <a:solidFill>
                        <a:srgbClr val="00B050"/>
                      </a:solidFill>
                      <a:latin typeface="Impact" panose="020B0806030902050204" pitchFamily="34" charset="0"/>
                      <a:ea typeface="微软雅黑" panose="020B0503020204020204" pitchFamily="34" charset="-122"/>
                    </a:rPr>
                    <a:t>03</a:t>
                  </a:r>
                  <a:endParaRPr lang="zh-CN" altLang="en-US" sz="3200" dirty="0">
                    <a:solidFill>
                      <a:srgbClr val="00B05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9" name="文本框 24"/>
                <p:cNvSpPr txBox="1"/>
                <p:nvPr/>
              </p:nvSpPr>
              <p:spPr>
                <a:xfrm>
                  <a:off x="6242320" y="4045789"/>
                  <a:ext cx="579005" cy="2154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800" b="1" dirty="0">
                      <a:solidFill>
                        <a:srgbClr val="818181"/>
                      </a:solidFill>
                      <a:latin typeface="Leelawadee" panose="020B0502040204020203" pitchFamily="34" charset="-34"/>
                      <a:cs typeface="Leelawadee" panose="020B0502040204020203" pitchFamily="34" charset="-34"/>
                    </a:rPr>
                    <a:t>OPTION</a:t>
                  </a:r>
                  <a:endParaRPr lang="zh-CN" altLang="en-US" sz="800" b="1" dirty="0">
                    <a:solidFill>
                      <a:srgbClr val="818181"/>
                    </a:solidFill>
                    <a:latin typeface="Leelawadee" panose="020B0502040204020203" pitchFamily="34" charset="-34"/>
                    <a:cs typeface="Leelawadee" panose="020B0502040204020203" pitchFamily="34" charset="-34"/>
                  </a:endParaRPr>
                </a:p>
              </p:txBody>
            </p:sp>
          </p:grpSp>
          <p:cxnSp>
            <p:nvCxnSpPr>
              <p:cNvPr id="23" name="直接连接符 22"/>
              <p:cNvCxnSpPr/>
              <p:nvPr/>
            </p:nvCxnSpPr>
            <p:spPr bwMode="auto">
              <a:xfrm>
                <a:off x="1374775" y="5283688"/>
                <a:ext cx="6019800" cy="0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FF818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21" name="TextBox 20"/>
            <p:cNvSpPr txBox="1"/>
            <p:nvPr/>
          </p:nvSpPr>
          <p:spPr>
            <a:xfrm>
              <a:off x="2151869" y="4696474"/>
              <a:ext cx="3566306" cy="4508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2000" dirty="0"/>
                <a:t>触发器</a:t>
              </a:r>
            </a:p>
          </p:txBody>
        </p:sp>
      </p:grpSp>
      <p:grpSp>
        <p:nvGrpSpPr>
          <p:cNvPr id="65" name="组合 64"/>
          <p:cNvGrpSpPr/>
          <p:nvPr/>
        </p:nvGrpSpPr>
        <p:grpSpPr>
          <a:xfrm>
            <a:off x="602260" y="3118950"/>
            <a:ext cx="6106515" cy="666750"/>
            <a:chOff x="1288060" y="3601244"/>
            <a:chExt cx="6106515" cy="666750"/>
          </a:xfrm>
        </p:grpSpPr>
        <p:sp>
          <p:nvSpPr>
            <p:cNvPr id="42" name="矩形 41"/>
            <p:cNvSpPr/>
            <p:nvPr/>
          </p:nvSpPr>
          <p:spPr>
            <a:xfrm>
              <a:off x="2060575" y="3601244"/>
              <a:ext cx="2590800" cy="533400"/>
            </a:xfrm>
            <a:prstGeom prst="rect">
              <a:avLst/>
            </a:prstGeom>
            <a:solidFill>
              <a:srgbClr val="28A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4" name="组合 13"/>
            <p:cNvGrpSpPr/>
            <p:nvPr/>
          </p:nvGrpSpPr>
          <p:grpSpPr>
            <a:xfrm>
              <a:off x="1288060" y="3623526"/>
              <a:ext cx="579307" cy="631762"/>
              <a:chOff x="6242320" y="2373233"/>
              <a:chExt cx="579005" cy="631762"/>
            </a:xfrm>
          </p:grpSpPr>
          <p:sp>
            <p:nvSpPr>
              <p:cNvPr id="15" name="TextBox 6"/>
              <p:cNvSpPr txBox="1"/>
              <p:nvPr/>
            </p:nvSpPr>
            <p:spPr>
              <a:xfrm>
                <a:off x="6327224" y="2373233"/>
                <a:ext cx="448425" cy="492443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 anchor="ctr">
                <a:spAutoFit/>
              </a:bodyPr>
              <a:lstStyle/>
              <a:p>
                <a:pPr algn="l"/>
                <a:r>
                  <a:rPr lang="en-US" altLang="zh-CN" sz="3200" dirty="0">
                    <a:solidFill>
                      <a:srgbClr val="01ACBE"/>
                    </a:solidFill>
                    <a:latin typeface="Impact" panose="020B0806030902050204" pitchFamily="34" charset="0"/>
                    <a:ea typeface="微软雅黑" panose="020B0503020204020204" pitchFamily="34" charset="-122"/>
                  </a:rPr>
                  <a:t>02</a:t>
                </a:r>
                <a:endParaRPr lang="zh-CN" altLang="en-US" sz="3200" dirty="0">
                  <a:solidFill>
                    <a:srgbClr val="01ACB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" name="文本框 23"/>
              <p:cNvSpPr txBox="1"/>
              <p:nvPr/>
            </p:nvSpPr>
            <p:spPr>
              <a:xfrm>
                <a:off x="6242320" y="2789551"/>
                <a:ext cx="579005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b="1" dirty="0">
                    <a:solidFill>
                      <a:srgbClr val="818181"/>
                    </a:solidFill>
                    <a:latin typeface="Leelawadee" panose="020B0502040204020203" pitchFamily="34" charset="-34"/>
                    <a:cs typeface="Leelawadee" panose="020B0502040204020203" pitchFamily="34" charset="-34"/>
                  </a:rPr>
                  <a:t>OPTION</a:t>
                </a:r>
                <a:endParaRPr lang="zh-CN" altLang="en-US" sz="800" b="1" dirty="0">
                  <a:solidFill>
                    <a:srgbClr val="818181"/>
                  </a:solidFill>
                  <a:latin typeface="Leelawadee" panose="020B0502040204020203" pitchFamily="34" charset="-34"/>
                  <a:cs typeface="Leelawadee" panose="020B0502040204020203" pitchFamily="34" charset="-34"/>
                </a:endParaRPr>
              </a:p>
            </p:txBody>
          </p:sp>
        </p:grpSp>
        <p:sp>
          <p:nvSpPr>
            <p:cNvPr id="20" name="TextBox 19"/>
            <p:cNvSpPr txBox="1"/>
            <p:nvPr/>
          </p:nvSpPr>
          <p:spPr>
            <a:xfrm>
              <a:off x="2151869" y="3623151"/>
              <a:ext cx="2499506" cy="452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2000" dirty="0"/>
                <a:t>完整性约束</a:t>
              </a:r>
            </a:p>
          </p:txBody>
        </p:sp>
        <p:cxnSp>
          <p:nvCxnSpPr>
            <p:cNvPr id="22" name="直接连接符 21"/>
            <p:cNvCxnSpPr/>
            <p:nvPr/>
          </p:nvCxnSpPr>
          <p:spPr bwMode="auto">
            <a:xfrm>
              <a:off x="1374775" y="4267994"/>
              <a:ext cx="601980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00DBD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28" name="矩形 27"/>
          <p:cNvSpPr/>
          <p:nvPr/>
        </p:nvSpPr>
        <p:spPr>
          <a:xfrm>
            <a:off x="4041616" y="1832769"/>
            <a:ext cx="1064715" cy="4524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lnSpc>
                <a:spcPct val="130000"/>
              </a:lnSpc>
              <a:spcBef>
                <a:spcPct val="30000"/>
              </a:spcBef>
            </a:pPr>
            <a:r>
              <a:rPr lang="en-US" altLang="zh-CN" sz="2000" dirty="0">
                <a:latin typeface="Times New Roman" panose="02020603050405020304" pitchFamily="18" charset="0"/>
              </a:rPr>
              <a:t>Integrity</a:t>
            </a:r>
          </a:p>
        </p:txBody>
      </p:sp>
      <p:sp>
        <p:nvSpPr>
          <p:cNvPr id="30" name="矩形 29"/>
          <p:cNvSpPr/>
          <p:nvPr/>
        </p:nvSpPr>
        <p:spPr>
          <a:xfrm>
            <a:off x="4041775" y="3137727"/>
            <a:ext cx="2392001" cy="4521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 algn="l">
              <a:lnSpc>
                <a:spcPct val="130000"/>
              </a:lnSpc>
              <a:spcBef>
                <a:spcPct val="30000"/>
              </a:spcBef>
            </a:pPr>
            <a:r>
              <a:rPr lang="en-US" sz="2000" dirty="0">
                <a:sym typeface="+mn-ea"/>
              </a:rPr>
              <a:t>Integrity Constrains</a:t>
            </a:r>
            <a:endParaRPr lang="en-US" sz="2000" dirty="0">
              <a:latin typeface="Times New Roman" panose="02020603050405020304" pitchFamily="18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4041775" y="4556590"/>
            <a:ext cx="943463" cy="4524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>
              <a:lnSpc>
                <a:spcPct val="130000"/>
              </a:lnSpc>
              <a:spcBef>
                <a:spcPct val="30000"/>
              </a:spcBef>
            </a:pPr>
            <a:r>
              <a:rPr lang="en-US" altLang="zh-CN" sz="2000" dirty="0">
                <a:latin typeface="Times New Roman" panose="02020603050405020304" pitchFamily="18" charset="0"/>
              </a:rPr>
              <a:t>Trigger</a:t>
            </a:r>
          </a:p>
        </p:txBody>
      </p:sp>
      <p:pic>
        <p:nvPicPr>
          <p:cNvPr id="39" name="图片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8375" y="1902519"/>
            <a:ext cx="4481830" cy="325247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4D323-8E1E-B3EC-9710-2E3865A00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C710C35-CA85-D0C3-D644-B870FB559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8.1  </a:t>
            </a:r>
            <a:r>
              <a:rPr lang="zh-CN" altLang="en-US" dirty="0"/>
              <a:t>数据库完整性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AD6DC309-F777-7644-68B4-4A4CEA84C7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125" y="1056640"/>
            <a:ext cx="10978515" cy="76517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1. </a:t>
            </a:r>
            <a:r>
              <a:rPr lang="zh-CN" altLang="en-US" dirty="0"/>
              <a:t>数据库完整性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57E429-996E-1292-1607-81AA83AAF0AC}"/>
              </a:ext>
            </a:extLst>
          </p:cNvPr>
          <p:cNvSpPr txBox="1">
            <a:spLocks/>
          </p:cNvSpPr>
          <p:nvPr/>
        </p:nvSpPr>
        <p:spPr>
          <a:xfrm>
            <a:off x="619125" y="1677194"/>
            <a:ext cx="10978515" cy="482997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121917" tIns="60958" rIns="121917" bIns="60958" rtlCol="0">
            <a:normAutofit/>
          </a:bodyPr>
          <a:lstStyle>
            <a:lvl1pPr marL="457200" indent="-457200" algn="l" defTabSz="1219835" rtl="0" eaLnBrk="1" latinLnBrk="0" hangingPunct="1">
              <a:lnSpc>
                <a:spcPct val="120000"/>
              </a:lnSpc>
              <a:spcBef>
                <a:spcPct val="20000"/>
              </a:spcBef>
              <a:buSzPct val="80000"/>
              <a:buFont typeface="Wingdings" panose="05000000000000000000" pitchFamily="2" charset="2"/>
              <a:buChar char="l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/>
              <a:t>数据的</a:t>
            </a:r>
            <a:r>
              <a:rPr lang="zh-CN" altLang="en-US" dirty="0">
                <a:solidFill>
                  <a:srgbClr val="FF0000"/>
                </a:solidFill>
              </a:rPr>
              <a:t>正确性</a:t>
            </a:r>
          </a:p>
          <a:p>
            <a:pPr algn="just">
              <a:lnSpc>
                <a:spcPct val="150000"/>
              </a:lnSpc>
              <a:buNone/>
            </a:pPr>
            <a:r>
              <a:rPr lang="zh-CN" altLang="en-US" dirty="0"/>
              <a:t>数据是符合现实世界语义，反映了当前的实际状况</a:t>
            </a:r>
          </a:p>
          <a:p>
            <a:pPr algn="just">
              <a:lnSpc>
                <a:spcPct val="150000"/>
              </a:lnSpc>
            </a:pPr>
            <a:r>
              <a:rPr lang="zh-CN" altLang="en-US" dirty="0"/>
              <a:t>数据的</a:t>
            </a:r>
            <a:r>
              <a:rPr lang="zh-CN" altLang="en-US" dirty="0">
                <a:solidFill>
                  <a:srgbClr val="FF0000"/>
                </a:solidFill>
              </a:rPr>
              <a:t>相容性</a:t>
            </a:r>
          </a:p>
          <a:p>
            <a:pPr algn="just">
              <a:lnSpc>
                <a:spcPct val="150000"/>
              </a:lnSpc>
              <a:buNone/>
            </a:pPr>
            <a:r>
              <a:rPr lang="zh-CN" altLang="en-US" dirty="0"/>
              <a:t>数据库同一对象在不同关系表中的数据是相同的</a:t>
            </a:r>
          </a:p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例如：</a:t>
            </a:r>
          </a:p>
          <a:p>
            <a:pPr marL="803275" indent="-358775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学生的学号必须唯一</a:t>
            </a:r>
          </a:p>
          <a:p>
            <a:pPr marL="803275" indent="-358775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百分制的课程成绩取值范围为</a:t>
            </a:r>
            <a:r>
              <a:rPr lang="en-US" altLang="zh-CN" dirty="0"/>
              <a:t>0-100</a:t>
            </a:r>
          </a:p>
          <a:p>
            <a:pPr marL="803275" indent="-358775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学生所选的课程必须是学校开设的课程</a:t>
            </a:r>
          </a:p>
          <a:p>
            <a:pPr marL="803275" indent="-358775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学生所在的院系必须是学校已成立的院系等</a:t>
            </a:r>
          </a:p>
        </p:txBody>
      </p:sp>
    </p:spTree>
    <p:extLst>
      <p:ext uri="{BB962C8B-B14F-4D97-AF65-F5344CB8AC3E}">
        <p14:creationId xmlns:p14="http://schemas.microsoft.com/office/powerpoint/2010/main" val="2218859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5129F-48FA-1D13-C044-347DA6BEC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C8F079B-981F-DA89-F5E2-CA498DACC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8.1  </a:t>
            </a:r>
            <a:r>
              <a:rPr lang="zh-CN" altLang="en-US" dirty="0"/>
              <a:t>数据库完整性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1F93E9C3-51C7-B661-A79C-C0C364FE49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125" y="1056640"/>
            <a:ext cx="10978515" cy="76517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1. </a:t>
            </a:r>
            <a:r>
              <a:rPr lang="zh-CN" altLang="en-US" dirty="0"/>
              <a:t>数据库完整性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9D3D4C-8584-BFD2-4E88-1D7D61866A8C}"/>
              </a:ext>
            </a:extLst>
          </p:cNvPr>
          <p:cNvSpPr txBox="1">
            <a:spLocks/>
          </p:cNvSpPr>
          <p:nvPr/>
        </p:nvSpPr>
        <p:spPr>
          <a:xfrm>
            <a:off x="923924" y="1677194"/>
            <a:ext cx="4489451" cy="32004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121917" tIns="60958" rIns="121917" bIns="60958" rtlCol="0">
            <a:normAutofit/>
          </a:bodyPr>
          <a:lstStyle>
            <a:lvl1pPr marL="457200" indent="-457200" algn="l" defTabSz="1219835" rtl="0" eaLnBrk="1" latinLnBrk="0" hangingPunct="1">
              <a:lnSpc>
                <a:spcPct val="120000"/>
              </a:lnSpc>
              <a:spcBef>
                <a:spcPct val="20000"/>
              </a:spcBef>
              <a:buSzPct val="80000"/>
              <a:buFont typeface="Wingdings" panose="05000000000000000000" pitchFamily="2" charset="2"/>
              <a:buChar char="l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/>
              <a:t>数据的完整性</a:t>
            </a:r>
          </a:p>
          <a:p>
            <a:pPr algn="just">
              <a:lnSpc>
                <a:spcPct val="150000"/>
              </a:lnSpc>
            </a:pPr>
            <a:r>
              <a:rPr lang="zh-CN" altLang="en-US" dirty="0"/>
              <a:t>防止数据库中存在不符合语义的数据，防止数据库中存在不正确的数据</a:t>
            </a:r>
          </a:p>
          <a:p>
            <a:pPr algn="just">
              <a:lnSpc>
                <a:spcPct val="150000"/>
              </a:lnSpc>
            </a:pPr>
            <a:r>
              <a:rPr lang="zh-CN" altLang="en-US" dirty="0"/>
              <a:t>防范对象：不合语义的、不正确的数据</a:t>
            </a: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79FFA7F5-2FD8-AF59-9B05-F2C625E32A82}"/>
              </a:ext>
            </a:extLst>
          </p:cNvPr>
          <p:cNvSpPr txBox="1">
            <a:spLocks/>
          </p:cNvSpPr>
          <p:nvPr/>
        </p:nvSpPr>
        <p:spPr>
          <a:xfrm>
            <a:off x="6708775" y="1677194"/>
            <a:ext cx="4489451" cy="32004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121917" tIns="60958" rIns="121917" bIns="60958" rtlCol="0">
            <a:normAutofit/>
          </a:bodyPr>
          <a:lstStyle>
            <a:lvl1pPr marL="457200" indent="-457200" algn="l" defTabSz="1219835" rtl="0" eaLnBrk="1" latinLnBrk="0" hangingPunct="1">
              <a:lnSpc>
                <a:spcPct val="120000"/>
              </a:lnSpc>
              <a:spcBef>
                <a:spcPct val="20000"/>
              </a:spcBef>
              <a:buSzPct val="80000"/>
              <a:buFont typeface="Wingdings" panose="05000000000000000000" pitchFamily="2" charset="2"/>
              <a:buChar char="l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/>
              <a:t>数据的安全性</a:t>
            </a:r>
          </a:p>
          <a:p>
            <a:pPr algn="just">
              <a:lnSpc>
                <a:spcPct val="150000"/>
              </a:lnSpc>
            </a:pPr>
            <a:r>
              <a:rPr lang="zh-CN" altLang="en-US" dirty="0"/>
              <a:t>保护数据库防止恶意的破坏和非法的存取</a:t>
            </a:r>
          </a:p>
          <a:p>
            <a:pPr algn="just">
              <a:lnSpc>
                <a:spcPct val="150000"/>
              </a:lnSpc>
            </a:pPr>
            <a:r>
              <a:rPr lang="zh-CN" altLang="en-US" dirty="0"/>
              <a:t>防范对象：非法用户和非法操作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FE3ED628-0B59-F11E-0F85-EB2E1E9295E1}"/>
              </a:ext>
            </a:extLst>
          </p:cNvPr>
          <p:cNvSpPr txBox="1">
            <a:spLocks/>
          </p:cNvSpPr>
          <p:nvPr/>
        </p:nvSpPr>
        <p:spPr>
          <a:xfrm>
            <a:off x="5651182" y="2743994"/>
            <a:ext cx="914399" cy="914400"/>
          </a:xfrm>
          <a:prstGeom prst="rect">
            <a:avLst/>
          </a:prstGeom>
        </p:spPr>
        <p:txBody>
          <a:bodyPr vert="horz" lIns="121917" tIns="60958" rIns="121917" bIns="60958" rtlCol="0">
            <a:noAutofit/>
          </a:bodyPr>
          <a:lstStyle>
            <a:lvl1pPr marL="457200" indent="-457200" algn="l" defTabSz="1219835" rtl="0" eaLnBrk="1" latinLnBrk="0" hangingPunct="1">
              <a:lnSpc>
                <a:spcPct val="120000"/>
              </a:lnSpc>
              <a:spcBef>
                <a:spcPct val="20000"/>
              </a:spcBef>
              <a:buSzPct val="80000"/>
              <a:buFont typeface="Wingdings" panose="05000000000000000000" pitchFamily="2" charset="2"/>
              <a:buChar char="l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altLang="zh-CN" sz="3200" b="1" i="1" dirty="0">
                <a:solidFill>
                  <a:srgbClr val="C00000"/>
                </a:solidFill>
              </a:rPr>
              <a:t>VS</a:t>
            </a:r>
            <a:endParaRPr lang="zh-CN" altLang="en-US" sz="3200" b="1" i="1" dirty="0">
              <a:solidFill>
                <a:srgbClr val="C00000"/>
              </a:solidFill>
            </a:endParaRPr>
          </a:p>
        </p:txBody>
      </p:sp>
      <p:sp>
        <p:nvSpPr>
          <p:cNvPr id="7" name="箭头: 下 6">
            <a:extLst>
              <a:ext uri="{FF2B5EF4-FFF2-40B4-BE49-F238E27FC236}">
                <a16:creationId xmlns:a16="http://schemas.microsoft.com/office/drawing/2014/main" id="{61121852-8042-8D30-EF89-603BCCC307F3}"/>
              </a:ext>
            </a:extLst>
          </p:cNvPr>
          <p:cNvSpPr/>
          <p:nvPr/>
        </p:nvSpPr>
        <p:spPr>
          <a:xfrm>
            <a:off x="5879781" y="4344194"/>
            <a:ext cx="457200" cy="914400"/>
          </a:xfrm>
          <a:prstGeom prst="down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A32BA51F-55B3-73A9-4E87-07D1EA1AA096}"/>
              </a:ext>
            </a:extLst>
          </p:cNvPr>
          <p:cNvSpPr/>
          <p:nvPr/>
        </p:nvSpPr>
        <p:spPr>
          <a:xfrm>
            <a:off x="3467654" y="5487194"/>
            <a:ext cx="5281453" cy="685800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DBMS</a:t>
            </a:r>
            <a:r>
              <a:rPr lang="zh-CN" altLang="en-US" dirty="0"/>
              <a:t>如何保证数据的完整性要求？</a:t>
            </a:r>
          </a:p>
        </p:txBody>
      </p:sp>
    </p:spTree>
    <p:extLst>
      <p:ext uri="{BB962C8B-B14F-4D97-AF65-F5344CB8AC3E}">
        <p14:creationId xmlns:p14="http://schemas.microsoft.com/office/powerpoint/2010/main" val="1879749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CF81F-1EBC-EE8F-C130-F2B5162E3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DAAEEDF6-108F-F390-09A6-1D4658F18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8.1  </a:t>
            </a:r>
            <a:r>
              <a:rPr lang="zh-CN" altLang="en-US" dirty="0"/>
              <a:t>数据库完整性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CDC5ACEA-469F-E860-8665-A0A207CA61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125" y="1056640"/>
            <a:ext cx="10978515" cy="76517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1. </a:t>
            </a:r>
            <a:r>
              <a:rPr lang="zh-CN" altLang="en-US" dirty="0"/>
              <a:t>数据库完整性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7BE5464-8F23-007B-AAD4-EAFCB2D958DF}"/>
              </a:ext>
            </a:extLst>
          </p:cNvPr>
          <p:cNvSpPr txBox="1">
            <a:spLocks/>
          </p:cNvSpPr>
          <p:nvPr/>
        </p:nvSpPr>
        <p:spPr>
          <a:xfrm>
            <a:off x="619124" y="2548691"/>
            <a:ext cx="10978515" cy="3200400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>
            <a:lvl1pPr marL="457200" indent="-457200" algn="l" defTabSz="1219835" rtl="0" eaLnBrk="1" latinLnBrk="0" hangingPunct="1">
              <a:lnSpc>
                <a:spcPct val="120000"/>
              </a:lnSpc>
              <a:spcBef>
                <a:spcPct val="20000"/>
              </a:spcBef>
              <a:buSzPct val="80000"/>
              <a:buFont typeface="Wingdings" panose="05000000000000000000" pitchFamily="2" charset="2"/>
              <a:buChar char="l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69888" algn="just">
              <a:lnSpc>
                <a:spcPct val="150000"/>
              </a:lnSpc>
            </a:pPr>
            <a:r>
              <a:rPr lang="zh-CN" altLang="en-US" dirty="0"/>
              <a:t>提供定义完整性约束的机制</a:t>
            </a:r>
          </a:p>
          <a:p>
            <a:pPr marL="803275" indent="-358775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FF0000"/>
                </a:solidFill>
              </a:rPr>
              <a:t>完整性约束</a:t>
            </a:r>
            <a:r>
              <a:rPr lang="zh-CN" altLang="en-US" dirty="0"/>
              <a:t>也称为完整性规则，是数据库中的数据必须满足的语义约束</a:t>
            </a:r>
          </a:p>
          <a:p>
            <a:pPr marL="803275" indent="-358775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/>
              <a:t>SQL</a:t>
            </a:r>
            <a:r>
              <a:rPr lang="zh-CN" altLang="en-US" dirty="0"/>
              <a:t>标准使用了一系列概念来描述完整性，</a:t>
            </a:r>
            <a:endParaRPr lang="en-US" altLang="zh-CN" dirty="0"/>
          </a:p>
          <a:p>
            <a:pPr marL="444500" indent="358775" algn="just">
              <a:lnSpc>
                <a:spcPct val="150000"/>
              </a:lnSpc>
              <a:buNone/>
            </a:pPr>
            <a:r>
              <a:rPr lang="zh-CN" altLang="en-US" dirty="0"/>
              <a:t>包括关系模型的</a:t>
            </a:r>
            <a:r>
              <a:rPr lang="zh-CN" altLang="en-US" dirty="0">
                <a:solidFill>
                  <a:srgbClr val="FF0000"/>
                </a:solidFill>
              </a:rPr>
              <a:t>实体完整性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FF0000"/>
                </a:solidFill>
              </a:rPr>
              <a:t>参照完整性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FF0000"/>
                </a:solidFill>
              </a:rPr>
              <a:t>用户定义完整性</a:t>
            </a:r>
          </a:p>
          <a:p>
            <a:pPr marL="803275" indent="-358775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这些完整性约束一般由</a:t>
            </a:r>
            <a:r>
              <a:rPr lang="en-US" altLang="zh-CN" dirty="0"/>
              <a:t>SQL</a:t>
            </a:r>
            <a:r>
              <a:rPr lang="zh-CN" altLang="en-US" dirty="0"/>
              <a:t>的数据定义语言语句来实现 </a:t>
            </a:r>
          </a:p>
          <a:p>
            <a:pPr marL="803275" indent="-358775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zh-CN" altLang="en-US" dirty="0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9BE976C1-1487-FFED-E0C4-6C39B79CE794}"/>
              </a:ext>
            </a:extLst>
          </p:cNvPr>
          <p:cNvSpPr/>
          <p:nvPr/>
        </p:nvSpPr>
        <p:spPr>
          <a:xfrm>
            <a:off x="993775" y="1749505"/>
            <a:ext cx="5281453" cy="685800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DBMS</a:t>
            </a:r>
            <a:r>
              <a:rPr lang="zh-CN" altLang="en-US" dirty="0"/>
              <a:t>如何保证数据的完整性要求？</a:t>
            </a:r>
          </a:p>
        </p:txBody>
      </p:sp>
    </p:spTree>
    <p:extLst>
      <p:ext uri="{BB962C8B-B14F-4D97-AF65-F5344CB8AC3E}">
        <p14:creationId xmlns:p14="http://schemas.microsoft.com/office/powerpoint/2010/main" val="3650446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A8C28-DFA1-7079-64A5-EEE011FAE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92949696-7F9E-C0DE-4336-3D6F8AA7E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8.1  </a:t>
            </a:r>
            <a:r>
              <a:rPr lang="zh-CN" altLang="en-US" dirty="0"/>
              <a:t>数据库完整性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95950266-46CC-0583-B309-FBD4B9C5E9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125" y="1056640"/>
            <a:ext cx="10978515" cy="76517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1. </a:t>
            </a:r>
            <a:r>
              <a:rPr lang="zh-CN" altLang="en-US" dirty="0"/>
              <a:t>数据库完整性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CD16F0-217D-07CD-D61A-18FB37B2FA1E}"/>
              </a:ext>
            </a:extLst>
          </p:cNvPr>
          <p:cNvSpPr txBox="1">
            <a:spLocks/>
          </p:cNvSpPr>
          <p:nvPr/>
        </p:nvSpPr>
        <p:spPr>
          <a:xfrm>
            <a:off x="619124" y="2548691"/>
            <a:ext cx="10978515" cy="3200400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>
            <a:lvl1pPr marL="457200" indent="-457200" algn="l" defTabSz="1219835" rtl="0" eaLnBrk="1" latinLnBrk="0" hangingPunct="1">
              <a:lnSpc>
                <a:spcPct val="120000"/>
              </a:lnSpc>
              <a:spcBef>
                <a:spcPct val="20000"/>
              </a:spcBef>
              <a:buSzPct val="80000"/>
              <a:buFont typeface="Wingdings" panose="05000000000000000000" pitchFamily="2" charset="2"/>
              <a:buChar char="l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69888" algn="just">
              <a:lnSpc>
                <a:spcPct val="150000"/>
              </a:lnSpc>
            </a:pPr>
            <a:r>
              <a:rPr lang="zh-CN" altLang="en-US" dirty="0"/>
              <a:t>提供检查完整性约束的方法</a:t>
            </a:r>
          </a:p>
          <a:p>
            <a:pPr marL="803275" indent="-358775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关系数据库管理系统中检查数据是否满足完整性约束的机制称为</a:t>
            </a:r>
            <a:r>
              <a:rPr lang="zh-CN" altLang="en-US" dirty="0">
                <a:solidFill>
                  <a:srgbClr val="FF0000"/>
                </a:solidFill>
              </a:rPr>
              <a:t>完整性检查</a:t>
            </a:r>
            <a:r>
              <a:rPr lang="zh-CN" altLang="en-US" dirty="0"/>
              <a:t>。</a:t>
            </a:r>
          </a:p>
          <a:p>
            <a:pPr marL="803275" indent="-358775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一般在</a:t>
            </a:r>
            <a:r>
              <a:rPr lang="en-US" altLang="zh-CN" dirty="0">
                <a:solidFill>
                  <a:srgbClr val="FF0000"/>
                </a:solidFill>
              </a:rPr>
              <a:t>INSERT</a:t>
            </a:r>
            <a:r>
              <a:rPr lang="zh-CN" altLang="en-US" dirty="0">
                <a:solidFill>
                  <a:srgbClr val="FF0000"/>
                </a:solidFill>
              </a:rPr>
              <a:t>、</a:t>
            </a:r>
            <a:r>
              <a:rPr lang="en-US" altLang="zh-CN" dirty="0">
                <a:solidFill>
                  <a:srgbClr val="FF0000"/>
                </a:solidFill>
              </a:rPr>
              <a:t>UPDATE</a:t>
            </a:r>
            <a:r>
              <a:rPr lang="zh-CN" altLang="en-US" dirty="0">
                <a:solidFill>
                  <a:srgbClr val="FF0000"/>
                </a:solidFill>
              </a:rPr>
              <a:t>、</a:t>
            </a:r>
            <a:r>
              <a:rPr lang="en-US" altLang="zh-CN" dirty="0">
                <a:solidFill>
                  <a:srgbClr val="FF0000"/>
                </a:solidFill>
              </a:rPr>
              <a:t>DELETE</a:t>
            </a:r>
            <a:r>
              <a:rPr lang="zh-CN" altLang="en-US" dirty="0"/>
              <a:t>语句执行后开始检查，也可以在</a:t>
            </a:r>
            <a:r>
              <a:rPr lang="zh-CN" altLang="en-US" dirty="0">
                <a:solidFill>
                  <a:srgbClr val="FF0000"/>
                </a:solidFill>
              </a:rPr>
              <a:t>事务提交</a:t>
            </a:r>
            <a:r>
              <a:rPr lang="zh-CN" altLang="en-US" dirty="0"/>
              <a:t>时检查 </a:t>
            </a:r>
          </a:p>
          <a:p>
            <a:pPr marL="803275" indent="-358775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zh-CN" altLang="en-US" dirty="0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E402A74B-C54D-081D-6944-3D463427C8CB}"/>
              </a:ext>
            </a:extLst>
          </p:cNvPr>
          <p:cNvSpPr/>
          <p:nvPr/>
        </p:nvSpPr>
        <p:spPr>
          <a:xfrm>
            <a:off x="993775" y="1749505"/>
            <a:ext cx="5281453" cy="685800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DBMS</a:t>
            </a:r>
            <a:r>
              <a:rPr lang="zh-CN" altLang="en-US" dirty="0"/>
              <a:t>如何保证数据的完整性要求？</a:t>
            </a:r>
          </a:p>
        </p:txBody>
      </p:sp>
    </p:spTree>
    <p:extLst>
      <p:ext uri="{BB962C8B-B14F-4D97-AF65-F5344CB8AC3E}">
        <p14:creationId xmlns:p14="http://schemas.microsoft.com/office/powerpoint/2010/main" val="3476085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B93B3-1B44-5EF1-EB76-918F961D4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E1742C34-A1B4-3309-41E8-EB5D3B9E8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8.1  </a:t>
            </a:r>
            <a:r>
              <a:rPr lang="zh-CN" altLang="en-US" dirty="0"/>
              <a:t>数据库完整性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37468FD5-1F9F-A965-4252-8FD1A9FED7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125" y="1056640"/>
            <a:ext cx="10978515" cy="76517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1. </a:t>
            </a:r>
            <a:r>
              <a:rPr lang="zh-CN" altLang="en-US" dirty="0"/>
              <a:t>数据库完整性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A9EAA8-DF1A-8C97-B52F-91AEE01F5E88}"/>
              </a:ext>
            </a:extLst>
          </p:cNvPr>
          <p:cNvSpPr txBox="1">
            <a:spLocks/>
          </p:cNvSpPr>
          <p:nvPr/>
        </p:nvSpPr>
        <p:spPr>
          <a:xfrm>
            <a:off x="619124" y="2548691"/>
            <a:ext cx="10978515" cy="3200400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>
            <a:lvl1pPr marL="457200" indent="-457200" algn="l" defTabSz="1219835" rtl="0" eaLnBrk="1" latinLnBrk="0" hangingPunct="1">
              <a:lnSpc>
                <a:spcPct val="120000"/>
              </a:lnSpc>
              <a:spcBef>
                <a:spcPct val="20000"/>
              </a:spcBef>
              <a:buSzPct val="80000"/>
              <a:buFont typeface="Wingdings" panose="05000000000000000000" pitchFamily="2" charset="2"/>
              <a:buChar char="l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69888" algn="just">
              <a:lnSpc>
                <a:spcPct val="150000"/>
              </a:lnSpc>
            </a:pPr>
            <a:r>
              <a:rPr lang="zh-CN" altLang="en-US" dirty="0"/>
              <a:t>提供完整性的违约处理方法 </a:t>
            </a:r>
          </a:p>
          <a:p>
            <a:pPr marL="803275" indent="-358775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关系数据库管理系统若发现用户的操作违背了完整性约束，就采取一定的动作</a:t>
            </a:r>
          </a:p>
          <a:p>
            <a:pPr marL="1073150" indent="-26987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拒绝（</a:t>
            </a:r>
            <a:r>
              <a:rPr lang="en-US" altLang="zh-CN" dirty="0"/>
              <a:t>NO ACTION</a:t>
            </a:r>
            <a:r>
              <a:rPr lang="zh-CN" altLang="en-US" dirty="0"/>
              <a:t>）执行该操作</a:t>
            </a:r>
          </a:p>
          <a:p>
            <a:pPr marL="1073150" indent="-26987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级连（</a:t>
            </a:r>
            <a:r>
              <a:rPr lang="en-US" altLang="zh-CN" dirty="0"/>
              <a:t>CASCADE</a:t>
            </a:r>
            <a:r>
              <a:rPr lang="zh-CN" altLang="en-US" dirty="0"/>
              <a:t>）执行其他操作</a:t>
            </a:r>
          </a:p>
          <a:p>
            <a:pPr marL="803275" indent="-358775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zh-CN" altLang="en-US" dirty="0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B49C32EF-6326-EB85-5F3E-B36011EFF4B5}"/>
              </a:ext>
            </a:extLst>
          </p:cNvPr>
          <p:cNvSpPr/>
          <p:nvPr/>
        </p:nvSpPr>
        <p:spPr>
          <a:xfrm>
            <a:off x="993775" y="1749505"/>
            <a:ext cx="5281453" cy="685800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DBMS</a:t>
            </a:r>
            <a:r>
              <a:rPr lang="zh-CN" altLang="en-US" dirty="0"/>
              <a:t>如何保证数据的完整性要求？</a:t>
            </a:r>
          </a:p>
        </p:txBody>
      </p:sp>
    </p:spTree>
    <p:extLst>
      <p:ext uri="{BB962C8B-B14F-4D97-AF65-F5344CB8AC3E}">
        <p14:creationId xmlns:p14="http://schemas.microsoft.com/office/powerpoint/2010/main" val="3230196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0DBC6-1E23-3409-DFF9-C1DDD8B69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E37816FE-AC6F-FA1A-932C-C20376273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8.1  </a:t>
            </a:r>
            <a:r>
              <a:rPr lang="zh-CN" altLang="en-US" dirty="0"/>
              <a:t>数据库完整性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45C592E9-1D1B-FDDD-E1DA-A6FFD71EC6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125" y="1056640"/>
            <a:ext cx="10978515" cy="76517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2. </a:t>
            </a:r>
            <a:r>
              <a:rPr lang="zh-CN" altLang="en-US" dirty="0"/>
              <a:t>实体完整性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05D371-DBED-F96A-0ACD-FA2CE8F4AED7}"/>
              </a:ext>
            </a:extLst>
          </p:cNvPr>
          <p:cNvSpPr txBox="1">
            <a:spLocks/>
          </p:cNvSpPr>
          <p:nvPr/>
        </p:nvSpPr>
        <p:spPr>
          <a:xfrm>
            <a:off x="599771" y="1677194"/>
            <a:ext cx="10978515" cy="37338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121917" tIns="60958" rIns="121917" bIns="60958" rtlCol="0">
            <a:normAutofit/>
          </a:bodyPr>
          <a:lstStyle>
            <a:lvl1pPr marL="457200" indent="-457200" algn="l" defTabSz="1219835" rtl="0" eaLnBrk="1" latinLnBrk="0" hangingPunct="1">
              <a:lnSpc>
                <a:spcPct val="120000"/>
              </a:lnSpc>
              <a:spcBef>
                <a:spcPct val="20000"/>
              </a:spcBef>
              <a:buSzPct val="80000"/>
              <a:buFont typeface="Wingdings" panose="05000000000000000000" pitchFamily="2" charset="2"/>
              <a:buChar char="l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69888" algn="just">
              <a:lnSpc>
                <a:spcPct val="150000"/>
              </a:lnSpc>
            </a:pPr>
            <a:r>
              <a:rPr lang="zh-CN" altLang="en-US" dirty="0"/>
              <a:t>关系模型的实体完整性</a:t>
            </a:r>
          </a:p>
          <a:p>
            <a:pPr marL="85725" indent="358775" algn="just">
              <a:lnSpc>
                <a:spcPct val="150000"/>
              </a:lnSpc>
              <a:buNone/>
            </a:pPr>
            <a:r>
              <a:rPr lang="en-US" altLang="zh-CN" dirty="0"/>
              <a:t>CREATE  TABLE</a:t>
            </a:r>
            <a:r>
              <a:rPr lang="zh-CN" altLang="en-US" dirty="0"/>
              <a:t>中用</a:t>
            </a:r>
            <a:r>
              <a:rPr lang="en-US" altLang="zh-CN" dirty="0">
                <a:solidFill>
                  <a:srgbClr val="FF0000"/>
                </a:solidFill>
              </a:rPr>
              <a:t>PRIMARY KEY</a:t>
            </a:r>
            <a:r>
              <a:rPr lang="zh-CN" altLang="en-US" dirty="0"/>
              <a:t>定义</a:t>
            </a:r>
          </a:p>
          <a:p>
            <a:pPr indent="-369888" algn="just">
              <a:lnSpc>
                <a:spcPct val="150000"/>
              </a:lnSpc>
            </a:pPr>
            <a:r>
              <a:rPr lang="zh-CN" altLang="en-US" dirty="0"/>
              <a:t>单属性构成的码有两种说明方法 </a:t>
            </a:r>
          </a:p>
          <a:p>
            <a:pPr marL="803275" indent="-358775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定义为</a:t>
            </a:r>
            <a:r>
              <a:rPr lang="zh-CN" altLang="en-US" dirty="0">
                <a:solidFill>
                  <a:srgbClr val="FF0000"/>
                </a:solidFill>
              </a:rPr>
              <a:t>列级约束条件</a:t>
            </a:r>
          </a:p>
          <a:p>
            <a:pPr marL="803275" indent="-358775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定义为</a:t>
            </a:r>
            <a:r>
              <a:rPr lang="zh-CN" altLang="en-US" dirty="0">
                <a:solidFill>
                  <a:srgbClr val="FF0000"/>
                </a:solidFill>
              </a:rPr>
              <a:t>表级约束条件</a:t>
            </a:r>
          </a:p>
          <a:p>
            <a:pPr indent="-369888" algn="just">
              <a:lnSpc>
                <a:spcPct val="150000"/>
              </a:lnSpc>
            </a:pPr>
            <a:r>
              <a:rPr lang="zh-CN" altLang="en-US" dirty="0"/>
              <a:t>对多个属性构成的码只有一种说明方法</a:t>
            </a:r>
          </a:p>
          <a:p>
            <a:pPr marL="803275" indent="-358775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定义为</a:t>
            </a:r>
            <a:r>
              <a:rPr lang="zh-CN" altLang="en-US" dirty="0">
                <a:solidFill>
                  <a:srgbClr val="FF0000"/>
                </a:solidFill>
              </a:rPr>
              <a:t>表级约束条件 </a:t>
            </a:r>
          </a:p>
        </p:txBody>
      </p:sp>
    </p:spTree>
    <p:extLst>
      <p:ext uri="{BB962C8B-B14F-4D97-AF65-F5344CB8AC3E}">
        <p14:creationId xmlns:p14="http://schemas.microsoft.com/office/powerpoint/2010/main" val="1635732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C2B47-8F88-736A-F942-44EA8CA44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A18E79BE-6374-DEA4-55C8-B27A6D9C8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8.1  </a:t>
            </a:r>
            <a:r>
              <a:rPr lang="zh-CN" altLang="en-US" dirty="0"/>
              <a:t>数据库完整性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B7B331C8-D495-B311-C57C-71872613E5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125" y="1056640"/>
            <a:ext cx="10978515" cy="76517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2. </a:t>
            </a:r>
            <a:r>
              <a:rPr lang="zh-CN" altLang="en-US" dirty="0"/>
              <a:t>实体完整性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565376-6799-1C81-C002-013B8D97F266}"/>
              </a:ext>
            </a:extLst>
          </p:cNvPr>
          <p:cNvSpPr txBox="1">
            <a:spLocks/>
          </p:cNvSpPr>
          <p:nvPr/>
        </p:nvSpPr>
        <p:spPr>
          <a:xfrm>
            <a:off x="599771" y="1677194"/>
            <a:ext cx="10978515" cy="37338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121917" tIns="60958" rIns="121917" bIns="60958" rtlCol="0">
            <a:normAutofit fontScale="92500" lnSpcReduction="20000"/>
          </a:bodyPr>
          <a:lstStyle>
            <a:lvl1pPr marL="457200" indent="-457200" algn="l" defTabSz="1219835" rtl="0" eaLnBrk="1" latinLnBrk="0" hangingPunct="1">
              <a:lnSpc>
                <a:spcPct val="120000"/>
              </a:lnSpc>
              <a:spcBef>
                <a:spcPct val="20000"/>
              </a:spcBef>
              <a:buSzPct val="80000"/>
              <a:buFont typeface="Wingdings" panose="05000000000000000000" pitchFamily="2" charset="2"/>
              <a:buChar char="l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69888" algn="just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例：创建学生表</a:t>
            </a:r>
            <a:r>
              <a:rPr lang="en-US" altLang="zh-CN" dirty="0">
                <a:solidFill>
                  <a:srgbClr val="FF0000"/>
                </a:solidFill>
              </a:rPr>
              <a:t>Student</a:t>
            </a:r>
            <a:r>
              <a:rPr lang="zh-CN" altLang="en-US" dirty="0">
                <a:solidFill>
                  <a:srgbClr val="FF0000"/>
                </a:solidFill>
              </a:rPr>
              <a:t>，将</a:t>
            </a:r>
            <a:r>
              <a:rPr lang="en-US" altLang="zh-CN" dirty="0">
                <a:solidFill>
                  <a:srgbClr val="FF0000"/>
                </a:solidFill>
              </a:rPr>
              <a:t>Sno</a:t>
            </a:r>
            <a:r>
              <a:rPr lang="zh-CN" altLang="en-US" dirty="0">
                <a:solidFill>
                  <a:srgbClr val="FF0000"/>
                </a:solidFill>
              </a:rPr>
              <a:t>属性定义为主码</a:t>
            </a:r>
          </a:p>
          <a:p>
            <a:pPr marL="85725" indent="812800" algn="just">
              <a:lnSpc>
                <a:spcPct val="150000"/>
              </a:lnSpc>
              <a:buNone/>
            </a:pPr>
            <a:r>
              <a:rPr lang="en-US" altLang="zh-CN" dirty="0"/>
              <a:t>CREATE TABLE Student          </a:t>
            </a:r>
          </a:p>
          <a:p>
            <a:pPr marL="85725" indent="1169988" algn="just">
              <a:lnSpc>
                <a:spcPct val="150000"/>
              </a:lnSpc>
              <a:buNone/>
            </a:pPr>
            <a:r>
              <a:rPr lang="en-US" altLang="zh-CN" dirty="0"/>
              <a:t>(Sno  CHAR(8)  PRIMARY KEY,	     /*</a:t>
            </a:r>
            <a:r>
              <a:rPr lang="zh-CN" altLang="en-US" dirty="0"/>
              <a:t>在列级定义主码*</a:t>
            </a:r>
            <a:r>
              <a:rPr lang="en-US" altLang="zh-CN" dirty="0"/>
              <a:t>/</a:t>
            </a:r>
          </a:p>
          <a:p>
            <a:pPr marL="85725" indent="1169988" algn="just">
              <a:lnSpc>
                <a:spcPct val="150000"/>
              </a:lnSpc>
              <a:buNone/>
            </a:pPr>
            <a:r>
              <a:rPr lang="en-US" altLang="zh-CN" dirty="0" err="1"/>
              <a:t>Sname</a:t>
            </a:r>
            <a:r>
              <a:rPr lang="en-US" altLang="zh-CN" dirty="0"/>
              <a:t> CHAR(20)  UNIQUE,</a:t>
            </a:r>
          </a:p>
          <a:p>
            <a:pPr marL="85725" indent="1169988" algn="just">
              <a:lnSpc>
                <a:spcPct val="150000"/>
              </a:lnSpc>
              <a:buNone/>
            </a:pPr>
            <a:r>
              <a:rPr lang="en-US" altLang="zh-CN" dirty="0" err="1"/>
              <a:t>Ssex</a:t>
            </a:r>
            <a:r>
              <a:rPr lang="en-US" altLang="zh-CN" dirty="0"/>
              <a:t>   CHAR(6),</a:t>
            </a:r>
          </a:p>
          <a:p>
            <a:pPr marL="85725" indent="1169988" algn="just">
              <a:lnSpc>
                <a:spcPct val="150000"/>
              </a:lnSpc>
              <a:buNone/>
            </a:pPr>
            <a:r>
              <a:rPr lang="en-US" altLang="zh-CN" dirty="0" err="1"/>
              <a:t>Sbirthdate</a:t>
            </a:r>
            <a:r>
              <a:rPr lang="en-US" altLang="zh-CN" dirty="0"/>
              <a:t> Date, </a:t>
            </a:r>
          </a:p>
          <a:p>
            <a:pPr marL="85725" indent="1169988" algn="just">
              <a:lnSpc>
                <a:spcPct val="150000"/>
              </a:lnSpc>
              <a:buNone/>
            </a:pPr>
            <a:r>
              <a:rPr lang="en-US" altLang="zh-CN" dirty="0" err="1"/>
              <a:t>Smajor</a:t>
            </a:r>
            <a:r>
              <a:rPr lang="en-US" altLang="zh-CN" dirty="0"/>
              <a:t>  VARCHAR(40)</a:t>
            </a:r>
          </a:p>
          <a:p>
            <a:pPr marL="85725" indent="1169988" algn="just">
              <a:lnSpc>
                <a:spcPct val="150000"/>
              </a:lnSpc>
              <a:buNone/>
            </a:pPr>
            <a:r>
              <a:rPr lang="en-US" altLang="zh-CN" dirty="0"/>
              <a:t>)</a:t>
            </a:r>
            <a:r>
              <a:rPr lang="zh-CN" altLang="en-US" dirty="0"/>
              <a:t>；</a:t>
            </a:r>
          </a:p>
          <a:p>
            <a:pPr marL="803275" indent="-358775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833EAB2-9F28-5A37-194C-D271F6D476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6016"/>
          <a:stretch/>
        </p:blipFill>
        <p:spPr>
          <a:xfrm>
            <a:off x="5565775" y="3201193"/>
            <a:ext cx="6003096" cy="3323181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403255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82A82-9A1E-D6FE-804C-920F572CA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1A0E09DF-DED6-FE46-FA07-43D1F0FFB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8.1  </a:t>
            </a:r>
            <a:r>
              <a:rPr lang="zh-CN" altLang="en-US" dirty="0"/>
              <a:t>数据库完整性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08EFF45A-FE56-F940-0BA4-1B33ABFCB0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125" y="1056640"/>
            <a:ext cx="10978515" cy="76517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2. </a:t>
            </a:r>
            <a:r>
              <a:rPr lang="zh-CN" altLang="en-US" dirty="0"/>
              <a:t>实体完整性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DDAE86-6160-886E-E3A6-4989F66FAA67}"/>
              </a:ext>
            </a:extLst>
          </p:cNvPr>
          <p:cNvSpPr txBox="1">
            <a:spLocks/>
          </p:cNvSpPr>
          <p:nvPr/>
        </p:nvSpPr>
        <p:spPr>
          <a:xfrm>
            <a:off x="599771" y="1677194"/>
            <a:ext cx="10978515" cy="482997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121917" tIns="60958" rIns="121917" bIns="60958" rtlCol="0">
            <a:normAutofit/>
          </a:bodyPr>
          <a:lstStyle>
            <a:lvl1pPr marL="457200" indent="-457200" algn="l" defTabSz="1219835" rtl="0" eaLnBrk="1" latinLnBrk="0" hangingPunct="1">
              <a:lnSpc>
                <a:spcPct val="120000"/>
              </a:lnSpc>
              <a:spcBef>
                <a:spcPct val="20000"/>
              </a:spcBef>
              <a:buSzPct val="80000"/>
              <a:buFont typeface="Wingdings" panose="05000000000000000000" pitchFamily="2" charset="2"/>
              <a:buChar char="l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69888" algn="just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例：创建</a:t>
            </a:r>
            <a:r>
              <a:rPr lang="en-US" altLang="zh-CN" dirty="0">
                <a:solidFill>
                  <a:srgbClr val="FF0000"/>
                </a:solidFill>
              </a:rPr>
              <a:t>SC</a:t>
            </a:r>
            <a:r>
              <a:rPr lang="zh-CN" altLang="en-US" dirty="0">
                <a:solidFill>
                  <a:srgbClr val="FF0000"/>
                </a:solidFill>
              </a:rPr>
              <a:t>表，将</a:t>
            </a:r>
            <a:r>
              <a:rPr lang="en-US" altLang="zh-CN" dirty="0">
                <a:solidFill>
                  <a:srgbClr val="FF0000"/>
                </a:solidFill>
              </a:rPr>
              <a:t>(</a:t>
            </a:r>
            <a:r>
              <a:rPr lang="en-US" altLang="zh-CN" dirty="0" err="1">
                <a:solidFill>
                  <a:srgbClr val="FF0000"/>
                </a:solidFill>
              </a:rPr>
              <a:t>Sno,Cno</a:t>
            </a:r>
            <a:r>
              <a:rPr lang="en-US" altLang="zh-CN" dirty="0">
                <a:solidFill>
                  <a:srgbClr val="FF0000"/>
                </a:solidFill>
              </a:rPr>
              <a:t>)</a:t>
            </a:r>
            <a:r>
              <a:rPr lang="zh-CN" altLang="en-US" dirty="0">
                <a:solidFill>
                  <a:srgbClr val="FF0000"/>
                </a:solidFill>
              </a:rPr>
              <a:t>属性组定义为主码</a:t>
            </a:r>
          </a:p>
          <a:p>
            <a:pPr marL="85725" indent="900113" algn="just">
              <a:lnSpc>
                <a:spcPct val="15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CREATE TABLE SC</a:t>
            </a:r>
          </a:p>
          <a:p>
            <a:pPr marL="85725" indent="1346200" algn="just">
              <a:lnSpc>
                <a:spcPct val="15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  (Sno   CHAR(8),</a:t>
            </a:r>
          </a:p>
          <a:p>
            <a:pPr marL="85725" indent="1346200" algn="just">
              <a:lnSpc>
                <a:spcPct val="15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   </a:t>
            </a:r>
            <a:r>
              <a:rPr lang="en-US" altLang="zh-CN" dirty="0" err="1">
                <a:solidFill>
                  <a:schemeClr val="tx1"/>
                </a:solidFill>
              </a:rPr>
              <a:t>Cno</a:t>
            </a:r>
            <a:r>
              <a:rPr lang="en-US" altLang="zh-CN" dirty="0">
                <a:solidFill>
                  <a:schemeClr val="tx1"/>
                </a:solidFill>
              </a:rPr>
              <a:t>  CHAR(5),</a:t>
            </a:r>
          </a:p>
          <a:p>
            <a:pPr marL="85725" indent="1346200" algn="just">
              <a:lnSpc>
                <a:spcPct val="15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   Grade  SMALLINT,                 </a:t>
            </a:r>
          </a:p>
          <a:p>
            <a:pPr marL="85725" indent="1346200" algn="just">
              <a:lnSpc>
                <a:spcPct val="15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   Semester      CHAR(5),           /*</a:t>
            </a:r>
            <a:r>
              <a:rPr lang="zh-CN" altLang="en-US" dirty="0">
                <a:solidFill>
                  <a:schemeClr val="tx1"/>
                </a:solidFill>
              </a:rPr>
              <a:t>开课学期*</a:t>
            </a:r>
            <a:r>
              <a:rPr lang="en-US" altLang="zh-CN" dirty="0">
                <a:solidFill>
                  <a:schemeClr val="tx1"/>
                </a:solidFill>
              </a:rPr>
              <a:t>/           </a:t>
            </a:r>
          </a:p>
          <a:p>
            <a:pPr marL="85725" indent="1346200" algn="just">
              <a:lnSpc>
                <a:spcPct val="15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   </a:t>
            </a:r>
            <a:r>
              <a:rPr lang="en-US" altLang="zh-CN" dirty="0" err="1">
                <a:solidFill>
                  <a:schemeClr val="tx1"/>
                </a:solidFill>
              </a:rPr>
              <a:t>Teachingclass</a:t>
            </a:r>
            <a:r>
              <a:rPr lang="en-US" altLang="zh-CN" dirty="0">
                <a:solidFill>
                  <a:schemeClr val="tx1"/>
                </a:solidFill>
              </a:rPr>
              <a:t>   CHAR(8),     /*</a:t>
            </a:r>
            <a:r>
              <a:rPr lang="zh-CN" altLang="en-US" dirty="0">
                <a:solidFill>
                  <a:schemeClr val="tx1"/>
                </a:solidFill>
              </a:rPr>
              <a:t>学生选修某一门课所在的教学班*</a:t>
            </a:r>
            <a:r>
              <a:rPr lang="en-US" altLang="zh-CN" dirty="0">
                <a:solidFill>
                  <a:schemeClr val="tx1"/>
                </a:solidFill>
              </a:rPr>
              <a:t>/      </a:t>
            </a:r>
          </a:p>
          <a:p>
            <a:pPr marL="85725" indent="1346200" algn="just">
              <a:lnSpc>
                <a:spcPct val="15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   PRIMARY KEY (</a:t>
            </a:r>
            <a:r>
              <a:rPr lang="en-US" altLang="zh-CN" dirty="0" err="1">
                <a:solidFill>
                  <a:schemeClr val="tx1"/>
                </a:solidFill>
              </a:rPr>
              <a:t>Sno,Cno</a:t>
            </a:r>
            <a:r>
              <a:rPr lang="en-US" altLang="zh-CN" dirty="0">
                <a:solidFill>
                  <a:schemeClr val="tx1"/>
                </a:solidFill>
              </a:rPr>
              <a:t>)      /*</a:t>
            </a:r>
            <a:r>
              <a:rPr lang="zh-CN" altLang="en-US" dirty="0">
                <a:solidFill>
                  <a:schemeClr val="tx1"/>
                </a:solidFill>
              </a:rPr>
              <a:t>主码由两个属性构成，必须在表级定义主码*</a:t>
            </a:r>
            <a:r>
              <a:rPr lang="en-US" altLang="zh-CN" dirty="0">
                <a:solidFill>
                  <a:schemeClr val="tx1"/>
                </a:solidFill>
              </a:rPr>
              <a:t>/</a:t>
            </a:r>
          </a:p>
          <a:p>
            <a:pPr marL="85725" indent="1346200" algn="just">
              <a:lnSpc>
                <a:spcPct val="15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607385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40F28-1412-E3EB-0CD5-1598F430D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6EA6E835-ED91-53EA-AB81-6B5E4E36D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8.1  </a:t>
            </a:r>
            <a:r>
              <a:rPr lang="zh-CN" altLang="en-US" dirty="0"/>
              <a:t>数据库完整性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D34E74F1-8DFD-0F2A-865F-FF921B90CA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125" y="1056640"/>
            <a:ext cx="10978515" cy="76517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2. </a:t>
            </a:r>
            <a:r>
              <a:rPr lang="zh-CN" altLang="en-US" dirty="0"/>
              <a:t>实体完整性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2CA546-A38C-12B5-5F24-EA1A40B52947}"/>
              </a:ext>
            </a:extLst>
          </p:cNvPr>
          <p:cNvSpPr txBox="1">
            <a:spLocks/>
          </p:cNvSpPr>
          <p:nvPr/>
        </p:nvSpPr>
        <p:spPr>
          <a:xfrm>
            <a:off x="599771" y="1677194"/>
            <a:ext cx="10978515" cy="22098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121917" tIns="60958" rIns="121917" bIns="60958" rtlCol="0">
            <a:normAutofit/>
          </a:bodyPr>
          <a:lstStyle>
            <a:lvl1pPr marL="457200" indent="-457200" algn="l" defTabSz="1219835" rtl="0" eaLnBrk="1" latinLnBrk="0" hangingPunct="1">
              <a:lnSpc>
                <a:spcPct val="120000"/>
              </a:lnSpc>
              <a:spcBef>
                <a:spcPct val="20000"/>
              </a:spcBef>
              <a:buSzPct val="80000"/>
              <a:buFont typeface="Wingdings" panose="05000000000000000000" pitchFamily="2" charset="2"/>
              <a:buChar char="l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69888" algn="just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实体完整性检查和违约处理</a:t>
            </a:r>
            <a:endParaRPr lang="en-US" altLang="zh-CN" dirty="0">
              <a:solidFill>
                <a:srgbClr val="FF0000"/>
              </a:solidFill>
            </a:endParaRPr>
          </a:p>
          <a:p>
            <a:pPr marL="85725" indent="358775" algn="just">
              <a:lnSpc>
                <a:spcPct val="150000"/>
              </a:lnSpc>
              <a:buNone/>
            </a:pPr>
            <a:r>
              <a:rPr lang="zh-CN" altLang="en-US" dirty="0">
                <a:solidFill>
                  <a:schemeClr val="tx1"/>
                </a:solidFill>
              </a:rPr>
              <a:t>插入或对主码列进行更新操作时，关系数据库管理系统按照实体完整性规则自动进行检查。</a:t>
            </a:r>
          </a:p>
          <a:p>
            <a:pPr marL="803275" indent="-358775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</a:rPr>
              <a:t>检查主码值是否唯一，如果不唯一则拒绝插入或修改</a:t>
            </a:r>
          </a:p>
          <a:p>
            <a:pPr marL="803275" indent="-358775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</a:rPr>
              <a:t>检查主码的各个属性是否为空，只要有一个为空就拒绝插入或修改</a:t>
            </a:r>
          </a:p>
          <a:p>
            <a:pPr indent="-369888" algn="just">
              <a:lnSpc>
                <a:spcPct val="150000"/>
              </a:lnSpc>
            </a:pPr>
            <a:endParaRPr lang="en-US" altLang="zh-C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5622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BA82F-CB03-65D2-C842-7F0855880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00EFFCD5-3554-076A-71C5-16CEAC91C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8.1  </a:t>
            </a:r>
            <a:r>
              <a:rPr lang="zh-CN" altLang="en-US" dirty="0"/>
              <a:t>数据库完整性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F8AF62BC-1CB6-4977-C6E6-4F53784BD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125" y="1056640"/>
            <a:ext cx="10978515" cy="76517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2. </a:t>
            </a:r>
            <a:r>
              <a:rPr lang="zh-CN" altLang="en-US" dirty="0"/>
              <a:t>实体完整性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3CB2B6-7B79-3308-85DE-558C0CABF42E}"/>
              </a:ext>
            </a:extLst>
          </p:cNvPr>
          <p:cNvSpPr txBox="1">
            <a:spLocks/>
          </p:cNvSpPr>
          <p:nvPr/>
        </p:nvSpPr>
        <p:spPr>
          <a:xfrm>
            <a:off x="599771" y="1677194"/>
            <a:ext cx="10978515" cy="16764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121917" tIns="60958" rIns="121917" bIns="60958" rtlCol="0">
            <a:normAutofit/>
          </a:bodyPr>
          <a:lstStyle>
            <a:lvl1pPr marL="457200" indent="-457200" algn="l" defTabSz="1219835" rtl="0" eaLnBrk="1" latinLnBrk="0" hangingPunct="1">
              <a:lnSpc>
                <a:spcPct val="120000"/>
              </a:lnSpc>
              <a:spcBef>
                <a:spcPct val="20000"/>
              </a:spcBef>
              <a:buSzPct val="80000"/>
              <a:buFont typeface="Wingdings" panose="05000000000000000000" pitchFamily="2" charset="2"/>
              <a:buChar char="l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69888" algn="just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实体完整性检查和违约处理</a:t>
            </a:r>
            <a:endParaRPr lang="en-US" altLang="zh-CN" dirty="0">
              <a:solidFill>
                <a:srgbClr val="FF0000"/>
              </a:solidFill>
            </a:endParaRPr>
          </a:p>
          <a:p>
            <a:pPr marL="85725" indent="358775" algn="just">
              <a:lnSpc>
                <a:spcPct val="150000"/>
              </a:lnSpc>
              <a:buNone/>
            </a:pPr>
            <a:r>
              <a:rPr lang="zh-CN" altLang="en-US" dirty="0">
                <a:solidFill>
                  <a:schemeClr val="tx1"/>
                </a:solidFill>
              </a:rPr>
              <a:t>检查记录中主码值是否唯一的方法是进行</a:t>
            </a:r>
            <a:r>
              <a:rPr lang="zh-CN" altLang="en-US" dirty="0">
                <a:solidFill>
                  <a:srgbClr val="FF0000"/>
                </a:solidFill>
              </a:rPr>
              <a:t>全表扫描</a:t>
            </a:r>
          </a:p>
          <a:p>
            <a:pPr marL="803275" indent="-358775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</a:rPr>
              <a:t>依次判断表中每条记录的主码值与将插入记录的主码值（或者修改的新主码值）是否相同 </a:t>
            </a:r>
          </a:p>
        </p:txBody>
      </p:sp>
      <p:pic>
        <p:nvPicPr>
          <p:cNvPr id="2" name="图片 5">
            <a:extLst>
              <a:ext uri="{FF2B5EF4-FFF2-40B4-BE49-F238E27FC236}">
                <a16:creationId xmlns:a16="http://schemas.microsoft.com/office/drawing/2014/main" id="{058339C6-83F0-BD17-36B9-4FF4B90B0A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4175" y="3467031"/>
            <a:ext cx="6669087" cy="3236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本框 6">
            <a:extLst>
              <a:ext uri="{FF2B5EF4-FFF2-40B4-BE49-F238E27FC236}">
                <a16:creationId xmlns:a16="http://schemas.microsoft.com/office/drawing/2014/main" id="{889F0A9B-98E0-E8EC-987F-6B3CE0176F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2375" y="4267994"/>
            <a:ext cx="30956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zh-CN" altLang="en-US" sz="1600" dirty="0"/>
              <a:t>用全表扫描方法检查主码唯一性</a:t>
            </a:r>
          </a:p>
        </p:txBody>
      </p:sp>
      <p:sp>
        <p:nvSpPr>
          <p:cNvPr id="7" name="星形: 十二角 6">
            <a:extLst>
              <a:ext uri="{FF2B5EF4-FFF2-40B4-BE49-F238E27FC236}">
                <a16:creationId xmlns:a16="http://schemas.microsoft.com/office/drawing/2014/main" id="{44C57FB7-7A3D-2B19-442E-D385BC939E3F}"/>
              </a:ext>
            </a:extLst>
          </p:cNvPr>
          <p:cNvSpPr/>
          <p:nvPr/>
        </p:nvSpPr>
        <p:spPr>
          <a:xfrm>
            <a:off x="993775" y="5025232"/>
            <a:ext cx="2590800" cy="990600"/>
          </a:xfrm>
          <a:prstGeom prst="star12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+mn-ea"/>
              </a:rPr>
              <a:t>耗时</a:t>
            </a:r>
          </a:p>
        </p:txBody>
      </p:sp>
      <p:sp>
        <p:nvSpPr>
          <p:cNvPr id="9" name="箭头: 虚尾 8">
            <a:extLst>
              <a:ext uri="{FF2B5EF4-FFF2-40B4-BE49-F238E27FC236}">
                <a16:creationId xmlns:a16="http://schemas.microsoft.com/office/drawing/2014/main" id="{A36BFD67-6486-5A78-7D60-6BD242085D14}"/>
              </a:ext>
            </a:extLst>
          </p:cNvPr>
          <p:cNvSpPr/>
          <p:nvPr/>
        </p:nvSpPr>
        <p:spPr>
          <a:xfrm>
            <a:off x="3616242" y="5998937"/>
            <a:ext cx="990600" cy="562770"/>
          </a:xfrm>
          <a:prstGeom prst="striped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AE3837F-70E6-7277-98F0-5318CF502C89}"/>
              </a:ext>
            </a:extLst>
          </p:cNvPr>
          <p:cNvSpPr/>
          <p:nvPr/>
        </p:nvSpPr>
        <p:spPr>
          <a:xfrm>
            <a:off x="5069206" y="5957156"/>
            <a:ext cx="110799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3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索引</a:t>
            </a:r>
            <a:endParaRPr lang="zh-CN" altLang="en-US" sz="36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502424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2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6" presetClass="entr" presetSubtype="37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0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9" grpId="0" animBg="1"/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B6938-15E6-C7B3-6FB8-F22FB72C6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E5963B4A-FC58-298A-A905-935F42DE1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8.1  </a:t>
            </a:r>
            <a:r>
              <a:rPr lang="zh-CN" altLang="en-US" dirty="0"/>
              <a:t>数据库完整性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116F7FB3-49BE-7116-7E6F-AD48CB180C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125" y="1056640"/>
            <a:ext cx="10978515" cy="76517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2. </a:t>
            </a:r>
            <a:r>
              <a:rPr lang="zh-CN" altLang="en-US" dirty="0"/>
              <a:t>实体完整性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454CCD-DD59-7A84-2BB9-BD09EF92FC83}"/>
              </a:ext>
            </a:extLst>
          </p:cNvPr>
          <p:cNvSpPr txBox="1">
            <a:spLocks/>
          </p:cNvSpPr>
          <p:nvPr/>
        </p:nvSpPr>
        <p:spPr>
          <a:xfrm>
            <a:off x="599771" y="1677194"/>
            <a:ext cx="10978515" cy="49530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121917" tIns="60958" rIns="121917" bIns="60958" rtlCol="0">
            <a:normAutofit lnSpcReduction="10000"/>
          </a:bodyPr>
          <a:lstStyle>
            <a:lvl1pPr marL="457200" indent="-457200" algn="l" defTabSz="1219835" rtl="0" eaLnBrk="1" latinLnBrk="0" hangingPunct="1">
              <a:lnSpc>
                <a:spcPct val="120000"/>
              </a:lnSpc>
              <a:spcBef>
                <a:spcPct val="20000"/>
              </a:spcBef>
              <a:buSzPct val="80000"/>
              <a:buFont typeface="Wingdings" panose="05000000000000000000" pitchFamily="2" charset="2"/>
              <a:buChar char="l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69888" algn="just">
              <a:lnSpc>
                <a:spcPct val="150000"/>
              </a:lnSpc>
            </a:pPr>
            <a:r>
              <a:rPr lang="en-US" altLang="zh-CN" dirty="0">
                <a:solidFill>
                  <a:srgbClr val="FF0000"/>
                </a:solidFill>
              </a:rPr>
              <a:t>B+</a:t>
            </a:r>
            <a:r>
              <a:rPr lang="zh-CN" altLang="en-US" dirty="0">
                <a:solidFill>
                  <a:srgbClr val="FF0000"/>
                </a:solidFill>
              </a:rPr>
              <a:t>树索引</a:t>
            </a:r>
            <a:endParaRPr lang="en-US" altLang="zh-CN" dirty="0">
              <a:solidFill>
                <a:srgbClr val="FF0000"/>
              </a:solidFill>
            </a:endParaRPr>
          </a:p>
          <a:p>
            <a:pPr marL="85725" indent="358775" algn="just">
              <a:lnSpc>
                <a:spcPct val="150000"/>
              </a:lnSpc>
              <a:buNone/>
            </a:pPr>
            <a:endParaRPr lang="en-US" altLang="zh-CN" dirty="0">
              <a:solidFill>
                <a:schemeClr val="tx1"/>
              </a:solidFill>
            </a:endParaRPr>
          </a:p>
          <a:p>
            <a:pPr marL="85725" indent="358775" algn="just">
              <a:lnSpc>
                <a:spcPct val="150000"/>
              </a:lnSpc>
              <a:buNone/>
            </a:pPr>
            <a:endParaRPr lang="en-US" altLang="zh-CN" dirty="0">
              <a:solidFill>
                <a:schemeClr val="tx1"/>
              </a:solidFill>
            </a:endParaRPr>
          </a:p>
          <a:p>
            <a:pPr marL="85725" indent="358775" algn="just">
              <a:lnSpc>
                <a:spcPct val="150000"/>
              </a:lnSpc>
              <a:buNone/>
            </a:pPr>
            <a:endParaRPr lang="en-US" altLang="zh-CN" dirty="0">
              <a:solidFill>
                <a:schemeClr val="tx1"/>
              </a:solidFill>
            </a:endParaRPr>
          </a:p>
          <a:p>
            <a:pPr marL="85725" indent="358775" algn="just">
              <a:lnSpc>
                <a:spcPct val="150000"/>
              </a:lnSpc>
              <a:buNone/>
            </a:pPr>
            <a:endParaRPr lang="en-US" altLang="zh-CN" dirty="0">
              <a:solidFill>
                <a:schemeClr val="tx1"/>
              </a:solidFill>
            </a:endParaRPr>
          </a:p>
          <a:p>
            <a:pPr marL="85725" indent="358775" algn="just">
              <a:lnSpc>
                <a:spcPct val="150000"/>
              </a:lnSpc>
              <a:buNone/>
            </a:pPr>
            <a:endParaRPr lang="en-US" altLang="zh-CN" dirty="0">
              <a:solidFill>
                <a:schemeClr val="tx1"/>
              </a:solidFill>
            </a:endParaRPr>
          </a:p>
          <a:p>
            <a:pPr marL="803275" indent="-358775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</a:rPr>
              <a:t>新插入记录的主码值是</a:t>
            </a:r>
            <a:r>
              <a:rPr lang="en-US" altLang="zh-CN" dirty="0">
                <a:solidFill>
                  <a:schemeClr val="tx1"/>
                </a:solidFill>
              </a:rPr>
              <a:t>25</a:t>
            </a:r>
          </a:p>
          <a:p>
            <a:pPr marL="1073150" indent="-26987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</a:rPr>
              <a:t>通过主码索引，从</a:t>
            </a:r>
            <a:r>
              <a:rPr lang="en-US" altLang="zh-CN" dirty="0">
                <a:solidFill>
                  <a:schemeClr val="tx1"/>
                </a:solidFill>
              </a:rPr>
              <a:t>B+</a:t>
            </a:r>
            <a:r>
              <a:rPr lang="zh-CN" altLang="en-US" dirty="0">
                <a:solidFill>
                  <a:schemeClr val="tx1"/>
                </a:solidFill>
              </a:rPr>
              <a:t>树的根结点开始查找</a:t>
            </a:r>
          </a:p>
          <a:p>
            <a:pPr marL="1073150" indent="-26987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</a:rPr>
              <a:t>读取</a:t>
            </a:r>
            <a:r>
              <a:rPr lang="en-US" altLang="zh-CN" dirty="0">
                <a:solidFill>
                  <a:schemeClr val="tx1"/>
                </a:solidFill>
              </a:rPr>
              <a:t>3</a:t>
            </a:r>
            <a:r>
              <a:rPr lang="zh-CN" altLang="en-US" dirty="0">
                <a:solidFill>
                  <a:schemeClr val="tx1"/>
                </a:solidFill>
              </a:rPr>
              <a:t>个结点：根结点（</a:t>
            </a:r>
            <a:r>
              <a:rPr lang="en-US" altLang="zh-CN" dirty="0">
                <a:solidFill>
                  <a:schemeClr val="tx1"/>
                </a:solidFill>
              </a:rPr>
              <a:t>51</a:t>
            </a:r>
            <a:r>
              <a:rPr lang="zh-CN" altLang="en-US" dirty="0">
                <a:solidFill>
                  <a:schemeClr val="tx1"/>
                </a:solidFill>
              </a:rPr>
              <a:t>）、中间结点（</a:t>
            </a:r>
            <a:r>
              <a:rPr lang="en-US" altLang="zh-CN" dirty="0">
                <a:solidFill>
                  <a:schemeClr val="tx1"/>
                </a:solidFill>
              </a:rPr>
              <a:t>12 30</a:t>
            </a:r>
            <a:r>
              <a:rPr lang="zh-CN" altLang="en-US" dirty="0">
                <a:solidFill>
                  <a:schemeClr val="tx1"/>
                </a:solidFill>
              </a:rPr>
              <a:t>）、叶结点（</a:t>
            </a:r>
            <a:r>
              <a:rPr lang="en-US" altLang="zh-CN" dirty="0">
                <a:solidFill>
                  <a:schemeClr val="tx1"/>
                </a:solidFill>
              </a:rPr>
              <a:t>15 20 25</a:t>
            </a:r>
            <a:r>
              <a:rPr lang="zh-CN" altLang="en-US" dirty="0">
                <a:solidFill>
                  <a:schemeClr val="tx1"/>
                </a:solidFill>
              </a:rPr>
              <a:t>）</a:t>
            </a:r>
          </a:p>
          <a:p>
            <a:pPr marL="1073150" indent="-26987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</a:rPr>
              <a:t>该主码值已经存在，不能插入这条记录</a:t>
            </a:r>
          </a:p>
        </p:txBody>
      </p:sp>
      <p:pic>
        <p:nvPicPr>
          <p:cNvPr id="7" name="图片 5">
            <a:extLst>
              <a:ext uri="{FF2B5EF4-FFF2-40B4-BE49-F238E27FC236}">
                <a16:creationId xmlns:a16="http://schemas.microsoft.com/office/drawing/2014/main" id="{9BF10E4F-AE12-935D-C0DF-97E13EFCD8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5975" y="1753394"/>
            <a:ext cx="5686425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61757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98EA4-0DA5-8A5D-4378-CDCE2B949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3D5658BD-16C3-21A2-D81F-876153542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8.1  </a:t>
            </a:r>
            <a:r>
              <a:rPr lang="zh-CN" altLang="en-US" dirty="0"/>
              <a:t>数据库完整性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432A7C7F-E5D5-A594-100F-7B970607F2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125" y="1056640"/>
            <a:ext cx="10978515" cy="76517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3. </a:t>
            </a:r>
            <a:r>
              <a:rPr lang="zh-CN" altLang="en-US" dirty="0"/>
              <a:t>参照完整性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2CCFF0-F99A-2C40-A9C2-130667050D5B}"/>
              </a:ext>
            </a:extLst>
          </p:cNvPr>
          <p:cNvSpPr txBox="1">
            <a:spLocks/>
          </p:cNvSpPr>
          <p:nvPr/>
        </p:nvSpPr>
        <p:spPr>
          <a:xfrm>
            <a:off x="599771" y="1677194"/>
            <a:ext cx="10978515" cy="12192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121917" tIns="60958" rIns="121917" bIns="60958" rtlCol="0">
            <a:normAutofit/>
          </a:bodyPr>
          <a:lstStyle>
            <a:lvl1pPr marL="457200" indent="-457200" algn="l" defTabSz="1219835" rtl="0" eaLnBrk="1" latinLnBrk="0" hangingPunct="1">
              <a:lnSpc>
                <a:spcPct val="120000"/>
              </a:lnSpc>
              <a:spcBef>
                <a:spcPct val="20000"/>
              </a:spcBef>
              <a:buSzPct val="80000"/>
              <a:buFont typeface="Wingdings" panose="05000000000000000000" pitchFamily="2" charset="2"/>
              <a:buChar char="l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69888" algn="just"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</a:rPr>
              <a:t>在</a:t>
            </a:r>
            <a:r>
              <a:rPr lang="en-US" altLang="zh-CN" dirty="0">
                <a:solidFill>
                  <a:schemeClr val="tx1"/>
                </a:solidFill>
              </a:rPr>
              <a:t>CREATE  TABLE</a:t>
            </a:r>
            <a:r>
              <a:rPr lang="zh-CN" altLang="en-US" dirty="0">
                <a:solidFill>
                  <a:schemeClr val="tx1"/>
                </a:solidFill>
              </a:rPr>
              <a:t>中用</a:t>
            </a:r>
            <a:r>
              <a:rPr lang="en-US" altLang="zh-CN" dirty="0">
                <a:solidFill>
                  <a:srgbClr val="FF0000"/>
                </a:solidFill>
              </a:rPr>
              <a:t>FOREIGN KEY</a:t>
            </a:r>
            <a:r>
              <a:rPr lang="zh-CN" altLang="en-US" dirty="0">
                <a:solidFill>
                  <a:schemeClr val="tx1"/>
                </a:solidFill>
              </a:rPr>
              <a:t>短语定义哪些列为外码</a:t>
            </a:r>
          </a:p>
          <a:p>
            <a:pPr indent="-369888" algn="just"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</a:rPr>
              <a:t>用</a:t>
            </a:r>
            <a:r>
              <a:rPr lang="en-US" altLang="zh-CN" dirty="0">
                <a:solidFill>
                  <a:srgbClr val="FF0000"/>
                </a:solidFill>
              </a:rPr>
              <a:t>REFERENCES</a:t>
            </a:r>
            <a:r>
              <a:rPr lang="zh-CN" altLang="en-US" dirty="0">
                <a:solidFill>
                  <a:schemeClr val="tx1"/>
                </a:solidFill>
              </a:rPr>
              <a:t>短语指明这些外码参照哪些表的主码 </a:t>
            </a:r>
          </a:p>
        </p:txBody>
      </p:sp>
    </p:spTree>
    <p:extLst>
      <p:ext uri="{BB962C8B-B14F-4D97-AF65-F5344CB8AC3E}">
        <p14:creationId xmlns:p14="http://schemas.microsoft.com/office/powerpoint/2010/main" val="158953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5DFBA-00E7-2D5A-D2AF-384AB10BE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32D81377-FDC0-170C-C0A3-33D83E5EC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8.1  </a:t>
            </a:r>
            <a:r>
              <a:rPr lang="zh-CN" altLang="en-US" dirty="0"/>
              <a:t>数据库完整性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894346B9-7A7E-07F2-FC25-B825C332C8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125" y="1056640"/>
            <a:ext cx="10978515" cy="76517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3. </a:t>
            </a:r>
            <a:r>
              <a:rPr lang="zh-CN" altLang="en-US" dirty="0"/>
              <a:t>参照完整性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C04A14A-E513-CA74-ADBF-7B7809827897}"/>
              </a:ext>
            </a:extLst>
          </p:cNvPr>
          <p:cNvSpPr txBox="1">
            <a:spLocks/>
          </p:cNvSpPr>
          <p:nvPr/>
        </p:nvSpPr>
        <p:spPr>
          <a:xfrm>
            <a:off x="599771" y="1677194"/>
            <a:ext cx="10978515" cy="42672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121917" tIns="60958" rIns="121917" bIns="60958" rtlCol="0">
            <a:noAutofit/>
          </a:bodyPr>
          <a:lstStyle>
            <a:lvl1pPr marL="457200" indent="-457200" algn="l" defTabSz="1219835" rtl="0" eaLnBrk="1" latinLnBrk="0" hangingPunct="1">
              <a:lnSpc>
                <a:spcPct val="120000"/>
              </a:lnSpc>
              <a:spcBef>
                <a:spcPct val="20000"/>
              </a:spcBef>
              <a:buSzPct val="80000"/>
              <a:buFont typeface="Wingdings" panose="05000000000000000000" pitchFamily="2" charset="2"/>
              <a:buChar char="l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7312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650" dirty="0">
                <a:solidFill>
                  <a:srgbClr val="FF0000"/>
                </a:solidFill>
              </a:rPr>
              <a:t>例：定义</a:t>
            </a:r>
            <a:r>
              <a:rPr lang="en-US" altLang="zh-CN" sz="1650" dirty="0">
                <a:solidFill>
                  <a:srgbClr val="FF0000"/>
                </a:solidFill>
              </a:rPr>
              <a:t>SC</a:t>
            </a:r>
            <a:r>
              <a:rPr lang="zh-CN" altLang="en-US" sz="1650" dirty="0">
                <a:solidFill>
                  <a:srgbClr val="FF0000"/>
                </a:solidFill>
              </a:rPr>
              <a:t>中的参照完整性</a:t>
            </a:r>
          </a:p>
          <a:p>
            <a:pPr marL="85725" indent="1588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650" dirty="0">
                <a:solidFill>
                  <a:schemeClr val="tx1"/>
                </a:solidFill>
              </a:rPr>
              <a:t>CREATE TABLE SC</a:t>
            </a:r>
          </a:p>
          <a:p>
            <a:pPr marL="85725" indent="1588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650" dirty="0">
                <a:solidFill>
                  <a:schemeClr val="tx1"/>
                </a:solidFill>
              </a:rPr>
              <a:t> (Sno CHAR(8),</a:t>
            </a:r>
          </a:p>
          <a:p>
            <a:pPr marL="85725" indent="1588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650" dirty="0">
                <a:solidFill>
                  <a:schemeClr val="tx1"/>
                </a:solidFill>
              </a:rPr>
              <a:t>  </a:t>
            </a:r>
            <a:r>
              <a:rPr lang="en-US" altLang="zh-CN" sz="1650" dirty="0" err="1">
                <a:solidFill>
                  <a:schemeClr val="tx1"/>
                </a:solidFill>
              </a:rPr>
              <a:t>Cno</a:t>
            </a:r>
            <a:r>
              <a:rPr lang="en-US" altLang="zh-CN" sz="1650" dirty="0">
                <a:solidFill>
                  <a:schemeClr val="tx1"/>
                </a:solidFill>
              </a:rPr>
              <a:t>  CHAR(5),</a:t>
            </a:r>
          </a:p>
          <a:p>
            <a:pPr marL="85725" indent="1588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650" dirty="0">
                <a:solidFill>
                  <a:schemeClr val="tx1"/>
                </a:solidFill>
              </a:rPr>
              <a:t>  Grade SMALLINT, </a:t>
            </a:r>
          </a:p>
          <a:p>
            <a:pPr marL="85725" indent="1588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650" dirty="0">
                <a:solidFill>
                  <a:schemeClr val="tx1"/>
                </a:solidFill>
              </a:rPr>
              <a:t>  Semester CHAR(5), </a:t>
            </a:r>
          </a:p>
          <a:p>
            <a:pPr marL="85725" indent="1588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650" dirty="0">
                <a:solidFill>
                  <a:schemeClr val="tx1"/>
                </a:solidFill>
              </a:rPr>
              <a:t>  </a:t>
            </a:r>
            <a:r>
              <a:rPr lang="en-US" altLang="zh-CN" sz="1650" dirty="0" err="1">
                <a:solidFill>
                  <a:schemeClr val="tx1"/>
                </a:solidFill>
              </a:rPr>
              <a:t>Teachingclass</a:t>
            </a:r>
            <a:r>
              <a:rPr lang="en-US" altLang="zh-CN" sz="1650" dirty="0">
                <a:solidFill>
                  <a:schemeClr val="tx1"/>
                </a:solidFill>
              </a:rPr>
              <a:t>  CHAR(8), </a:t>
            </a:r>
          </a:p>
          <a:p>
            <a:pPr marL="85725" indent="1588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650" dirty="0">
                <a:solidFill>
                  <a:schemeClr val="tx1"/>
                </a:solidFill>
              </a:rPr>
              <a:t>  PRIMARY KEY (Sno, </a:t>
            </a:r>
            <a:r>
              <a:rPr lang="en-US" altLang="zh-CN" sz="1650" dirty="0" err="1">
                <a:solidFill>
                  <a:schemeClr val="tx1"/>
                </a:solidFill>
              </a:rPr>
              <a:t>Cno</a:t>
            </a:r>
            <a:r>
              <a:rPr lang="en-US" altLang="zh-CN" sz="1650" dirty="0">
                <a:solidFill>
                  <a:schemeClr val="tx1"/>
                </a:solidFill>
              </a:rPr>
              <a:t>),	      /*</a:t>
            </a:r>
            <a:r>
              <a:rPr lang="zh-CN" altLang="en-US" sz="1650" dirty="0">
                <a:solidFill>
                  <a:schemeClr val="tx1"/>
                </a:solidFill>
              </a:rPr>
              <a:t>在表级定义实体完整性*</a:t>
            </a:r>
            <a:r>
              <a:rPr lang="en-US" altLang="zh-CN" sz="1650" dirty="0">
                <a:solidFill>
                  <a:schemeClr val="tx1"/>
                </a:solidFill>
              </a:rPr>
              <a:t>/</a:t>
            </a:r>
          </a:p>
          <a:p>
            <a:pPr marL="85725" indent="1588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650" dirty="0">
                <a:solidFill>
                  <a:schemeClr val="tx1"/>
                </a:solidFill>
              </a:rPr>
              <a:t>  FOREIGN KEY (Sno) REFERENCES Student(Sno), /*</a:t>
            </a:r>
            <a:r>
              <a:rPr lang="zh-CN" altLang="en-US" sz="1650" dirty="0">
                <a:solidFill>
                  <a:schemeClr val="tx1"/>
                </a:solidFill>
              </a:rPr>
              <a:t>在表级定义参照完整性，</a:t>
            </a:r>
            <a:r>
              <a:rPr lang="en-US" altLang="zh-CN" sz="1650" dirty="0">
                <a:solidFill>
                  <a:schemeClr val="tx1"/>
                </a:solidFill>
              </a:rPr>
              <a:t>Sno</a:t>
            </a:r>
            <a:r>
              <a:rPr lang="zh-CN" altLang="en-US" sz="1650" dirty="0">
                <a:solidFill>
                  <a:schemeClr val="tx1"/>
                </a:solidFill>
              </a:rPr>
              <a:t>是外码，被参照表是</a:t>
            </a:r>
            <a:r>
              <a:rPr lang="en-US" altLang="zh-CN" sz="1650" dirty="0">
                <a:solidFill>
                  <a:schemeClr val="tx1"/>
                </a:solidFill>
              </a:rPr>
              <a:t>Student */</a:t>
            </a:r>
          </a:p>
          <a:p>
            <a:pPr marL="85725" indent="1588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650" dirty="0">
                <a:solidFill>
                  <a:schemeClr val="tx1"/>
                </a:solidFill>
              </a:rPr>
              <a:t>    FOREIGN KEY (</a:t>
            </a:r>
            <a:r>
              <a:rPr lang="en-US" altLang="zh-CN" sz="1650" dirty="0" err="1">
                <a:solidFill>
                  <a:schemeClr val="tx1"/>
                </a:solidFill>
              </a:rPr>
              <a:t>Cno</a:t>
            </a:r>
            <a:r>
              <a:rPr lang="en-US" altLang="zh-CN" sz="1650" dirty="0">
                <a:solidFill>
                  <a:schemeClr val="tx1"/>
                </a:solidFill>
              </a:rPr>
              <a:t>) REFERENCES Course(</a:t>
            </a:r>
            <a:r>
              <a:rPr lang="en-US" altLang="zh-CN" sz="1650" dirty="0" err="1">
                <a:solidFill>
                  <a:schemeClr val="tx1"/>
                </a:solidFill>
              </a:rPr>
              <a:t>Cno</a:t>
            </a:r>
            <a:r>
              <a:rPr lang="en-US" altLang="zh-CN" sz="1650" dirty="0">
                <a:solidFill>
                  <a:schemeClr val="tx1"/>
                </a:solidFill>
              </a:rPr>
              <a:t>) /*</a:t>
            </a:r>
            <a:r>
              <a:rPr lang="zh-CN" altLang="en-US" sz="1650" dirty="0">
                <a:solidFill>
                  <a:schemeClr val="tx1"/>
                </a:solidFill>
              </a:rPr>
              <a:t>在表级定义参照完整性，</a:t>
            </a:r>
            <a:r>
              <a:rPr lang="en-US" altLang="zh-CN" sz="1650" dirty="0" err="1">
                <a:solidFill>
                  <a:schemeClr val="tx1"/>
                </a:solidFill>
              </a:rPr>
              <a:t>Cno</a:t>
            </a:r>
            <a:r>
              <a:rPr lang="zh-CN" altLang="en-US" sz="1650" dirty="0">
                <a:solidFill>
                  <a:schemeClr val="tx1"/>
                </a:solidFill>
              </a:rPr>
              <a:t>是外码，被参照表是</a:t>
            </a:r>
            <a:r>
              <a:rPr lang="en-US" altLang="zh-CN" sz="1650" dirty="0">
                <a:solidFill>
                  <a:schemeClr val="tx1"/>
                </a:solidFill>
              </a:rPr>
              <a:t>Course */</a:t>
            </a:r>
          </a:p>
          <a:p>
            <a:pPr marL="85725" indent="1588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650" dirty="0">
                <a:solidFill>
                  <a:schemeClr val="tx1"/>
                </a:solidFill>
              </a:rPr>
              <a:t>   );</a:t>
            </a: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F55ADA73-82B6-9ECF-EF4D-AADFF6BBB9F3}"/>
              </a:ext>
            </a:extLst>
          </p:cNvPr>
          <p:cNvSpPr txBox="1">
            <a:spLocks/>
          </p:cNvSpPr>
          <p:nvPr/>
        </p:nvSpPr>
        <p:spPr>
          <a:xfrm>
            <a:off x="2365375" y="1067594"/>
            <a:ext cx="9385603" cy="49899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121917" tIns="60958" rIns="121917" bIns="60958" rtlCol="0">
            <a:normAutofit/>
          </a:bodyPr>
          <a:lstStyle>
            <a:lvl1pPr marL="457200" indent="-457200" algn="l" defTabSz="1219835" rtl="0" eaLnBrk="1" latinLnBrk="0" hangingPunct="1">
              <a:lnSpc>
                <a:spcPct val="120000"/>
              </a:lnSpc>
              <a:spcBef>
                <a:spcPct val="20000"/>
              </a:spcBef>
              <a:buSzPct val="80000"/>
              <a:buFont typeface="Wingdings" panose="05000000000000000000" pitchFamily="2" charset="2"/>
              <a:buChar char="l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7312" indent="0" algn="just">
              <a:lnSpc>
                <a:spcPct val="150000"/>
              </a:lnSpc>
              <a:buNone/>
            </a:pPr>
            <a:r>
              <a:rPr lang="zh-CN" altLang="en-US" sz="1800" dirty="0">
                <a:solidFill>
                  <a:srgbClr val="FF0000"/>
                </a:solidFill>
              </a:rPr>
              <a:t>关系</a:t>
            </a:r>
            <a:r>
              <a:rPr lang="en-US" altLang="zh-CN" sz="1800" dirty="0">
                <a:solidFill>
                  <a:srgbClr val="FF0000"/>
                </a:solidFill>
              </a:rPr>
              <a:t>SC</a:t>
            </a:r>
            <a:r>
              <a:rPr lang="zh-CN" altLang="en-US" sz="1800" dirty="0">
                <a:solidFill>
                  <a:srgbClr val="FF0000"/>
                </a:solidFill>
              </a:rPr>
              <a:t>中（</a:t>
            </a:r>
            <a:r>
              <a:rPr lang="en-US" altLang="zh-CN" sz="1800" dirty="0">
                <a:solidFill>
                  <a:srgbClr val="FF0000"/>
                </a:solidFill>
              </a:rPr>
              <a:t>Sno</a:t>
            </a:r>
            <a:r>
              <a:rPr lang="zh-CN" altLang="en-US" sz="1800" dirty="0">
                <a:solidFill>
                  <a:srgbClr val="FF0000"/>
                </a:solidFill>
              </a:rPr>
              <a:t>，</a:t>
            </a:r>
            <a:r>
              <a:rPr lang="en-US" altLang="zh-CN" sz="1800" dirty="0" err="1">
                <a:solidFill>
                  <a:srgbClr val="FF0000"/>
                </a:solidFill>
              </a:rPr>
              <a:t>Cno</a:t>
            </a:r>
            <a:r>
              <a:rPr lang="zh-CN" altLang="en-US" sz="1800" dirty="0">
                <a:solidFill>
                  <a:srgbClr val="FF0000"/>
                </a:solidFill>
              </a:rPr>
              <a:t>）是主码，</a:t>
            </a:r>
            <a:r>
              <a:rPr lang="en-US" altLang="zh-CN" sz="1800" dirty="0">
                <a:solidFill>
                  <a:srgbClr val="FF0000"/>
                </a:solidFill>
              </a:rPr>
              <a:t>Sno</a:t>
            </a:r>
            <a:r>
              <a:rPr lang="zh-CN" altLang="en-US" sz="1800" dirty="0">
                <a:solidFill>
                  <a:srgbClr val="FF0000"/>
                </a:solidFill>
              </a:rPr>
              <a:t>、</a:t>
            </a:r>
            <a:r>
              <a:rPr lang="en-US" altLang="zh-CN" sz="1800" dirty="0" err="1">
                <a:solidFill>
                  <a:srgbClr val="FF0000"/>
                </a:solidFill>
              </a:rPr>
              <a:t>Cno</a:t>
            </a:r>
            <a:r>
              <a:rPr lang="zh-CN" altLang="en-US" sz="1800" dirty="0">
                <a:solidFill>
                  <a:srgbClr val="FF0000"/>
                </a:solidFill>
              </a:rPr>
              <a:t>分别参照</a:t>
            </a:r>
            <a:r>
              <a:rPr lang="en-US" altLang="zh-CN" sz="1800" dirty="0">
                <a:solidFill>
                  <a:srgbClr val="FF0000"/>
                </a:solidFill>
              </a:rPr>
              <a:t>Student</a:t>
            </a:r>
            <a:r>
              <a:rPr lang="zh-CN" altLang="en-US" sz="1800" dirty="0">
                <a:solidFill>
                  <a:srgbClr val="FF0000"/>
                </a:solidFill>
              </a:rPr>
              <a:t>表的主码和</a:t>
            </a:r>
            <a:r>
              <a:rPr lang="en-US" altLang="zh-CN" sz="1800" dirty="0">
                <a:solidFill>
                  <a:srgbClr val="FF0000"/>
                </a:solidFill>
              </a:rPr>
              <a:t>Course</a:t>
            </a:r>
            <a:r>
              <a:rPr lang="zh-CN" altLang="en-US" sz="1800" dirty="0">
                <a:solidFill>
                  <a:srgbClr val="FF0000"/>
                </a:solidFill>
              </a:rPr>
              <a:t>表的主码 </a:t>
            </a:r>
          </a:p>
        </p:txBody>
      </p:sp>
    </p:spTree>
    <p:extLst>
      <p:ext uri="{BB962C8B-B14F-4D97-AF65-F5344CB8AC3E}">
        <p14:creationId xmlns:p14="http://schemas.microsoft.com/office/powerpoint/2010/main" val="1155597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5F0FC-EAF2-3533-4F05-6C32D1FDA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8538507A-3E5D-9ADD-A703-5DD370996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8.1  </a:t>
            </a:r>
            <a:r>
              <a:rPr lang="zh-CN" altLang="en-US" dirty="0"/>
              <a:t>数据库完整性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2F182B30-F4EE-8C5C-E9C3-740F5FB44D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125" y="1056640"/>
            <a:ext cx="10978515" cy="76517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3. </a:t>
            </a:r>
            <a:r>
              <a:rPr lang="zh-CN" altLang="en-US" dirty="0"/>
              <a:t>参照完整性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B7AB30-AD93-86CA-3C8C-B49A497DC5BC}"/>
              </a:ext>
            </a:extLst>
          </p:cNvPr>
          <p:cNvSpPr txBox="1">
            <a:spLocks/>
          </p:cNvSpPr>
          <p:nvPr/>
        </p:nvSpPr>
        <p:spPr>
          <a:xfrm>
            <a:off x="599771" y="1677194"/>
            <a:ext cx="10978515" cy="17526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121917" tIns="60958" rIns="121917" bIns="60958" rtlCol="0">
            <a:normAutofit/>
          </a:bodyPr>
          <a:lstStyle>
            <a:lvl1pPr marL="457200" indent="-457200" algn="l" defTabSz="1219835" rtl="0" eaLnBrk="1" latinLnBrk="0" hangingPunct="1">
              <a:lnSpc>
                <a:spcPct val="120000"/>
              </a:lnSpc>
              <a:spcBef>
                <a:spcPct val="20000"/>
              </a:spcBef>
              <a:buSzPct val="80000"/>
              <a:buFont typeface="Wingdings" panose="05000000000000000000" pitchFamily="2" charset="2"/>
              <a:buChar char="l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69888" algn="just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参照完整性检查和违约处理</a:t>
            </a:r>
            <a:endParaRPr lang="en-US" altLang="zh-CN" dirty="0">
              <a:solidFill>
                <a:srgbClr val="FF0000"/>
              </a:solidFill>
            </a:endParaRPr>
          </a:p>
          <a:p>
            <a:pPr marL="803275" indent="-358775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</a:rPr>
              <a:t>一个参照完整性将两个表中的相应元组联系起来</a:t>
            </a:r>
          </a:p>
          <a:p>
            <a:pPr marL="803275" indent="-358775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</a:rPr>
              <a:t>对被参照表和参照表进行增删改操作时有可能破坏参照完整性，必须进行检查 </a:t>
            </a:r>
          </a:p>
        </p:txBody>
      </p:sp>
    </p:spTree>
    <p:extLst>
      <p:ext uri="{BB962C8B-B14F-4D97-AF65-F5344CB8AC3E}">
        <p14:creationId xmlns:p14="http://schemas.microsoft.com/office/powerpoint/2010/main" val="2047134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1940E-497D-0C85-EE78-F8A93BF25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DAF257CF-8737-631D-4191-5AF7DF1F1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8.1  </a:t>
            </a:r>
            <a:r>
              <a:rPr lang="zh-CN" altLang="en-US" dirty="0"/>
              <a:t>数据库完整性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E4B6325D-CCF1-3A46-F410-3F70B6CF61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125" y="1056640"/>
            <a:ext cx="10978515" cy="76517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3. </a:t>
            </a:r>
            <a:r>
              <a:rPr lang="zh-CN" altLang="en-US" dirty="0"/>
              <a:t>参照完整性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F26A40-342F-9F3E-7E55-7613BD11C90D}"/>
              </a:ext>
            </a:extLst>
          </p:cNvPr>
          <p:cNvSpPr txBox="1">
            <a:spLocks/>
          </p:cNvSpPr>
          <p:nvPr/>
        </p:nvSpPr>
        <p:spPr>
          <a:xfrm>
            <a:off x="599771" y="1677194"/>
            <a:ext cx="10978515" cy="46482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121917" tIns="60958" rIns="121917" bIns="60958" rtlCol="0">
            <a:normAutofit/>
          </a:bodyPr>
          <a:lstStyle>
            <a:lvl1pPr marL="457200" indent="-457200" algn="l" defTabSz="1219835" rtl="0" eaLnBrk="1" latinLnBrk="0" hangingPunct="1">
              <a:lnSpc>
                <a:spcPct val="120000"/>
              </a:lnSpc>
              <a:spcBef>
                <a:spcPct val="20000"/>
              </a:spcBef>
              <a:buSzPct val="80000"/>
              <a:buFont typeface="Wingdings" panose="05000000000000000000" pitchFamily="2" charset="2"/>
              <a:buChar char="l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69888" algn="just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例如，对表</a:t>
            </a:r>
            <a:r>
              <a:rPr lang="en-US" altLang="zh-CN" dirty="0">
                <a:solidFill>
                  <a:srgbClr val="FF0000"/>
                </a:solidFill>
              </a:rPr>
              <a:t>SC</a:t>
            </a:r>
            <a:r>
              <a:rPr lang="zh-CN" altLang="en-US" dirty="0">
                <a:solidFill>
                  <a:srgbClr val="FF0000"/>
                </a:solidFill>
              </a:rPr>
              <a:t>和</a:t>
            </a:r>
            <a:r>
              <a:rPr lang="en-US" altLang="zh-CN" dirty="0">
                <a:solidFill>
                  <a:srgbClr val="FF0000"/>
                </a:solidFill>
              </a:rPr>
              <a:t>Student</a:t>
            </a:r>
            <a:r>
              <a:rPr lang="zh-CN" altLang="en-US" dirty="0">
                <a:solidFill>
                  <a:srgbClr val="FF0000"/>
                </a:solidFill>
              </a:rPr>
              <a:t>有四种可能破坏参照完整性的情况 </a:t>
            </a:r>
            <a:r>
              <a:rPr lang="en-US" altLang="zh-CN" dirty="0">
                <a:solidFill>
                  <a:srgbClr val="FF0000"/>
                </a:solidFill>
              </a:rPr>
              <a:t>:</a:t>
            </a:r>
          </a:p>
          <a:p>
            <a:pPr marL="87313" indent="357188" algn="just">
              <a:lnSpc>
                <a:spcPct val="15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① SC</a:t>
            </a:r>
            <a:r>
              <a:rPr lang="zh-CN" altLang="en-US" dirty="0">
                <a:solidFill>
                  <a:schemeClr val="tx1"/>
                </a:solidFill>
              </a:rPr>
              <a:t>表中增加一个元组，该元组的</a:t>
            </a:r>
            <a:r>
              <a:rPr lang="en-US" altLang="zh-CN" dirty="0">
                <a:solidFill>
                  <a:schemeClr val="tx1"/>
                </a:solidFill>
              </a:rPr>
              <a:t>Sno</a:t>
            </a:r>
            <a:r>
              <a:rPr lang="zh-CN" altLang="en-US" dirty="0">
                <a:solidFill>
                  <a:schemeClr val="tx1"/>
                </a:solidFill>
              </a:rPr>
              <a:t>属性值在表</a:t>
            </a:r>
            <a:r>
              <a:rPr lang="en-US" altLang="zh-CN" dirty="0">
                <a:solidFill>
                  <a:schemeClr val="tx1"/>
                </a:solidFill>
              </a:rPr>
              <a:t>Student</a:t>
            </a:r>
            <a:r>
              <a:rPr lang="zh-CN" altLang="en-US" dirty="0">
                <a:solidFill>
                  <a:schemeClr val="tx1"/>
                </a:solidFill>
              </a:rPr>
              <a:t>中找不到一个元组，其</a:t>
            </a:r>
            <a:r>
              <a:rPr lang="en-US" altLang="zh-CN" dirty="0">
                <a:solidFill>
                  <a:schemeClr val="tx1"/>
                </a:solidFill>
              </a:rPr>
              <a:t>Sno</a:t>
            </a:r>
            <a:r>
              <a:rPr lang="zh-CN" altLang="en-US" dirty="0">
                <a:solidFill>
                  <a:schemeClr val="tx1"/>
                </a:solidFill>
              </a:rPr>
              <a:t>属性值与之相等。</a:t>
            </a:r>
          </a:p>
          <a:p>
            <a:pPr marL="87313" indent="357188" algn="just">
              <a:lnSpc>
                <a:spcPct val="150000"/>
              </a:lnSpc>
              <a:buNone/>
            </a:pPr>
            <a:r>
              <a:rPr lang="zh-CN" altLang="en-US" dirty="0">
                <a:solidFill>
                  <a:schemeClr val="tx1"/>
                </a:solidFill>
              </a:rPr>
              <a:t>② 修改</a:t>
            </a:r>
            <a:r>
              <a:rPr lang="en-US" altLang="zh-CN" dirty="0">
                <a:solidFill>
                  <a:schemeClr val="tx1"/>
                </a:solidFill>
              </a:rPr>
              <a:t>SC</a:t>
            </a:r>
            <a:r>
              <a:rPr lang="zh-CN" altLang="en-US" dirty="0">
                <a:solidFill>
                  <a:schemeClr val="tx1"/>
                </a:solidFill>
              </a:rPr>
              <a:t>表中的一个元组，修改后该元组的</a:t>
            </a:r>
            <a:r>
              <a:rPr lang="en-US" altLang="zh-CN" dirty="0">
                <a:solidFill>
                  <a:schemeClr val="tx1"/>
                </a:solidFill>
              </a:rPr>
              <a:t>Sno</a:t>
            </a:r>
            <a:r>
              <a:rPr lang="zh-CN" altLang="en-US" dirty="0">
                <a:solidFill>
                  <a:schemeClr val="tx1"/>
                </a:solidFill>
              </a:rPr>
              <a:t>属性值在表</a:t>
            </a:r>
            <a:r>
              <a:rPr lang="en-US" altLang="zh-CN" dirty="0">
                <a:solidFill>
                  <a:schemeClr val="tx1"/>
                </a:solidFill>
              </a:rPr>
              <a:t>Student</a:t>
            </a:r>
            <a:r>
              <a:rPr lang="zh-CN" altLang="en-US" dirty="0">
                <a:solidFill>
                  <a:schemeClr val="tx1"/>
                </a:solidFill>
              </a:rPr>
              <a:t>中找不到一个元组，其</a:t>
            </a:r>
            <a:r>
              <a:rPr lang="en-US" altLang="zh-CN" dirty="0">
                <a:solidFill>
                  <a:schemeClr val="tx1"/>
                </a:solidFill>
              </a:rPr>
              <a:t>Sno</a:t>
            </a:r>
            <a:r>
              <a:rPr lang="zh-CN" altLang="en-US" dirty="0">
                <a:solidFill>
                  <a:schemeClr val="tx1"/>
                </a:solidFill>
              </a:rPr>
              <a:t>属性值与之相等。</a:t>
            </a:r>
            <a:endParaRPr lang="en-US" altLang="zh-CN" dirty="0">
              <a:solidFill>
                <a:schemeClr val="tx1"/>
              </a:solidFill>
            </a:endParaRPr>
          </a:p>
          <a:p>
            <a:pPr marL="87313" indent="357188" algn="just">
              <a:lnSpc>
                <a:spcPct val="150000"/>
              </a:lnSpc>
              <a:buNone/>
            </a:pPr>
            <a:r>
              <a:rPr lang="zh-CN" altLang="en-US" dirty="0">
                <a:solidFill>
                  <a:schemeClr val="tx1"/>
                </a:solidFill>
              </a:rPr>
              <a:t>③从</a:t>
            </a:r>
            <a:r>
              <a:rPr lang="en-US" altLang="zh-CN" dirty="0">
                <a:solidFill>
                  <a:schemeClr val="tx1"/>
                </a:solidFill>
              </a:rPr>
              <a:t>Student</a:t>
            </a:r>
            <a:r>
              <a:rPr lang="zh-CN" altLang="en-US" dirty="0">
                <a:solidFill>
                  <a:schemeClr val="tx1"/>
                </a:solidFill>
              </a:rPr>
              <a:t>表中删除一个元组，造成</a:t>
            </a:r>
            <a:r>
              <a:rPr lang="en-US" altLang="zh-CN" dirty="0">
                <a:solidFill>
                  <a:schemeClr val="tx1"/>
                </a:solidFill>
              </a:rPr>
              <a:t>SC</a:t>
            </a:r>
            <a:r>
              <a:rPr lang="zh-CN" altLang="en-US" dirty="0">
                <a:solidFill>
                  <a:schemeClr val="tx1"/>
                </a:solidFill>
              </a:rPr>
              <a:t>表中某些元组的</a:t>
            </a:r>
            <a:r>
              <a:rPr lang="en-US" altLang="zh-CN" dirty="0">
                <a:solidFill>
                  <a:schemeClr val="tx1"/>
                </a:solidFill>
              </a:rPr>
              <a:t>Sno</a:t>
            </a:r>
            <a:r>
              <a:rPr lang="zh-CN" altLang="en-US" dirty="0">
                <a:solidFill>
                  <a:schemeClr val="tx1"/>
                </a:solidFill>
              </a:rPr>
              <a:t>属性值在表</a:t>
            </a:r>
            <a:r>
              <a:rPr lang="en-US" altLang="zh-CN" dirty="0">
                <a:solidFill>
                  <a:schemeClr val="tx1"/>
                </a:solidFill>
              </a:rPr>
              <a:t>Student</a:t>
            </a:r>
            <a:r>
              <a:rPr lang="zh-CN" altLang="en-US" dirty="0">
                <a:solidFill>
                  <a:schemeClr val="tx1"/>
                </a:solidFill>
              </a:rPr>
              <a:t>中找不到一个元组，其</a:t>
            </a:r>
            <a:r>
              <a:rPr lang="en-US" altLang="zh-CN" dirty="0">
                <a:solidFill>
                  <a:schemeClr val="tx1"/>
                </a:solidFill>
              </a:rPr>
              <a:t>Sno</a:t>
            </a:r>
            <a:r>
              <a:rPr lang="zh-CN" altLang="en-US" dirty="0">
                <a:solidFill>
                  <a:schemeClr val="tx1"/>
                </a:solidFill>
              </a:rPr>
              <a:t>属性值与之相等。</a:t>
            </a:r>
          </a:p>
          <a:p>
            <a:pPr marL="87313" indent="357188" algn="just">
              <a:lnSpc>
                <a:spcPct val="150000"/>
              </a:lnSpc>
              <a:buNone/>
            </a:pPr>
            <a:r>
              <a:rPr lang="zh-CN" altLang="en-US" dirty="0">
                <a:solidFill>
                  <a:schemeClr val="tx1"/>
                </a:solidFill>
              </a:rPr>
              <a:t>④修改</a:t>
            </a:r>
            <a:r>
              <a:rPr lang="en-US" altLang="zh-CN" dirty="0">
                <a:solidFill>
                  <a:schemeClr val="tx1"/>
                </a:solidFill>
              </a:rPr>
              <a:t>Student</a:t>
            </a:r>
            <a:r>
              <a:rPr lang="zh-CN" altLang="en-US" dirty="0">
                <a:solidFill>
                  <a:schemeClr val="tx1"/>
                </a:solidFill>
              </a:rPr>
              <a:t>表中一个元组的</a:t>
            </a:r>
            <a:r>
              <a:rPr lang="en-US" altLang="zh-CN" dirty="0">
                <a:solidFill>
                  <a:schemeClr val="tx1"/>
                </a:solidFill>
              </a:rPr>
              <a:t>Sno</a:t>
            </a:r>
            <a:r>
              <a:rPr lang="zh-CN" altLang="en-US" dirty="0">
                <a:solidFill>
                  <a:schemeClr val="tx1"/>
                </a:solidFill>
              </a:rPr>
              <a:t>属性，造成</a:t>
            </a:r>
            <a:r>
              <a:rPr lang="en-US" altLang="zh-CN" dirty="0">
                <a:solidFill>
                  <a:schemeClr val="tx1"/>
                </a:solidFill>
              </a:rPr>
              <a:t>SC</a:t>
            </a:r>
            <a:r>
              <a:rPr lang="zh-CN" altLang="en-US" dirty="0">
                <a:solidFill>
                  <a:schemeClr val="tx1"/>
                </a:solidFill>
              </a:rPr>
              <a:t>表中某些元组的</a:t>
            </a:r>
            <a:r>
              <a:rPr lang="en-US" altLang="zh-CN" dirty="0">
                <a:solidFill>
                  <a:schemeClr val="tx1"/>
                </a:solidFill>
              </a:rPr>
              <a:t>Sno</a:t>
            </a:r>
            <a:r>
              <a:rPr lang="zh-CN" altLang="en-US" dirty="0">
                <a:solidFill>
                  <a:schemeClr val="tx1"/>
                </a:solidFill>
              </a:rPr>
              <a:t>属性值在表</a:t>
            </a:r>
            <a:r>
              <a:rPr lang="en-US" altLang="zh-CN" dirty="0">
                <a:solidFill>
                  <a:schemeClr val="tx1"/>
                </a:solidFill>
              </a:rPr>
              <a:t>Student</a:t>
            </a:r>
            <a:r>
              <a:rPr lang="zh-CN" altLang="en-US" dirty="0">
                <a:solidFill>
                  <a:schemeClr val="tx1"/>
                </a:solidFill>
              </a:rPr>
              <a:t>中找不到一个元组，其</a:t>
            </a:r>
            <a:r>
              <a:rPr lang="en-US" altLang="zh-CN" dirty="0">
                <a:solidFill>
                  <a:schemeClr val="tx1"/>
                </a:solidFill>
              </a:rPr>
              <a:t>Sno</a:t>
            </a:r>
            <a:r>
              <a:rPr lang="zh-CN" altLang="en-US" dirty="0">
                <a:solidFill>
                  <a:schemeClr val="tx1"/>
                </a:solidFill>
              </a:rPr>
              <a:t>属性值与之相等 。</a:t>
            </a:r>
          </a:p>
        </p:txBody>
      </p:sp>
    </p:spTree>
    <p:extLst>
      <p:ext uri="{BB962C8B-B14F-4D97-AF65-F5344CB8AC3E}">
        <p14:creationId xmlns:p14="http://schemas.microsoft.com/office/powerpoint/2010/main" val="2029378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3215B-8D1C-BF20-BB04-897D0B21C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64014153-A58D-4796-BEC8-27247097D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8.1  </a:t>
            </a:r>
            <a:r>
              <a:rPr lang="zh-CN" altLang="en-US" dirty="0"/>
              <a:t>数据库完整性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66934A9E-2234-2982-3A82-FD41268F97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125" y="1056640"/>
            <a:ext cx="10978515" cy="76517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3. </a:t>
            </a:r>
            <a:r>
              <a:rPr lang="zh-CN" altLang="en-US" dirty="0"/>
              <a:t>参照完整性</a:t>
            </a:r>
          </a:p>
        </p:txBody>
      </p:sp>
      <p:sp>
        <p:nvSpPr>
          <p:cNvPr id="2" name="Rectangle 8">
            <a:extLst>
              <a:ext uri="{FF2B5EF4-FFF2-40B4-BE49-F238E27FC236}">
                <a16:creationId xmlns:a16="http://schemas.microsoft.com/office/drawing/2014/main" id="{6E4157B3-273C-3771-6046-1E732AF671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2042" y="1790669"/>
            <a:ext cx="501451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100000"/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zh-CN" altLang="en-US" sz="2000" b="0" dirty="0">
                <a:latin typeface="+mn-lt"/>
                <a:ea typeface="+mn-ea"/>
              </a:rPr>
              <a:t>表</a:t>
            </a:r>
            <a:r>
              <a:rPr lang="en-US" altLang="zh-CN" sz="2000" b="0" dirty="0">
                <a:latin typeface="+mn-lt"/>
                <a:ea typeface="+mn-ea"/>
              </a:rPr>
              <a:t>1 </a:t>
            </a:r>
            <a:r>
              <a:rPr lang="zh-CN" altLang="en-US" sz="2000" b="0" dirty="0">
                <a:latin typeface="+mn-lt"/>
                <a:ea typeface="+mn-ea"/>
              </a:rPr>
              <a:t>可能破坏参照完整性的情况及违约处理</a:t>
            </a:r>
          </a:p>
        </p:txBody>
      </p:sp>
      <p:graphicFrame>
        <p:nvGraphicFramePr>
          <p:cNvPr id="6" name="Group 8">
            <a:extLst>
              <a:ext uri="{FF2B5EF4-FFF2-40B4-BE49-F238E27FC236}">
                <a16:creationId xmlns:a16="http://schemas.microsoft.com/office/drawing/2014/main" id="{8BB7A887-0234-DAB2-F590-4AB424A705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4116594"/>
              </p:ext>
            </p:extLst>
          </p:nvPr>
        </p:nvGraphicFramePr>
        <p:xfrm>
          <a:off x="1603375" y="2367755"/>
          <a:ext cx="9072685" cy="3652839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3136900">
                  <a:extLst>
                    <a:ext uri="{9D8B030D-6E8A-4147-A177-3AD203B41FA5}">
                      <a16:colId xmlns:a16="http://schemas.microsoft.com/office/drawing/2014/main" val="3817107894"/>
                    </a:ext>
                  </a:extLst>
                </a:gridCol>
                <a:gridCol w="2638425">
                  <a:extLst>
                    <a:ext uri="{9D8B030D-6E8A-4147-A177-3AD203B41FA5}">
                      <a16:colId xmlns:a16="http://schemas.microsoft.com/office/drawing/2014/main" val="2921790298"/>
                    </a:ext>
                  </a:extLst>
                </a:gridCol>
                <a:gridCol w="3297360">
                  <a:extLst>
                    <a:ext uri="{9D8B030D-6E8A-4147-A177-3AD203B41FA5}">
                      <a16:colId xmlns:a16="http://schemas.microsoft.com/office/drawing/2014/main" val="1943115298"/>
                    </a:ext>
                  </a:extLst>
                </a:gridCol>
              </a:tblGrid>
              <a:tr h="8874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altLang="zh-CN" sz="2000" b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被参照表（例如</a:t>
                      </a:r>
                      <a:r>
                        <a:rPr kumimoji="0" lang="en-US" altLang="zh-CN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Student</a:t>
                      </a:r>
                      <a:r>
                        <a:rPr kumimoji="0" lang="zh-CN" alt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）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宋体" panose="02010600030101010101" pitchFamily="2" charset="-122"/>
                      </a:endParaRPr>
                    </a:p>
                  </a:txBody>
                  <a:tcPr marL="91437" marR="91437" marT="45728" marB="45728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altLang="zh-CN" sz="2000" b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参照表（例如</a:t>
                      </a:r>
                      <a:r>
                        <a:rPr kumimoji="0" lang="en-US" altLang="zh-CN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SC</a:t>
                      </a:r>
                      <a:r>
                        <a:rPr kumimoji="0" lang="zh-CN" alt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）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宋体" panose="02010600030101010101" pitchFamily="2" charset="-122"/>
                      </a:endParaRPr>
                    </a:p>
                  </a:txBody>
                  <a:tcPr marL="91437" marR="91437" marT="45728" marB="45728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altLang="zh-CN" sz="2000" b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违约处理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宋体" panose="02010600030101010101" pitchFamily="2" charset="-122"/>
                      </a:endParaRPr>
                    </a:p>
                  </a:txBody>
                  <a:tcPr marL="91437" marR="91437" marT="45728" marB="45728" horzOverflow="overflow"/>
                </a:tc>
                <a:extLst>
                  <a:ext uri="{0D108BD9-81ED-4DB2-BD59-A6C34878D82A}">
                    <a16:rowId xmlns:a16="http://schemas.microsoft.com/office/drawing/2014/main" val="1059862589"/>
                  </a:ext>
                </a:extLst>
              </a:tr>
              <a:tr h="6238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可能破坏参照完整性</a:t>
                      </a: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7" marR="91437" marT="45728" marB="45728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   </a:t>
                      </a:r>
                      <a:r>
                        <a:rPr kumimoji="0" lang="zh-CN" alt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插入元组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7" marR="91437" marT="45728" marB="45728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拒绝</a:t>
                      </a: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7" marR="91437" marT="45728" marB="45728" horzOverflow="overflow"/>
                </a:tc>
                <a:extLst>
                  <a:ext uri="{0D108BD9-81ED-4DB2-BD59-A6C34878D82A}">
                    <a16:rowId xmlns:a16="http://schemas.microsoft.com/office/drawing/2014/main" val="1569919794"/>
                  </a:ext>
                </a:extLst>
              </a:tr>
              <a:tr h="6477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可能破坏参照完整性</a:t>
                      </a: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7" marR="91437" marT="45728" marB="45728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   </a:t>
                      </a:r>
                      <a:r>
                        <a:rPr kumimoji="0" lang="zh-CN" alt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修改外码值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7" marR="91437" marT="45728" marB="45728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拒绝</a:t>
                      </a: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7" marR="91437" marT="45728" marB="45728" horzOverflow="overflow"/>
                </a:tc>
                <a:extLst>
                  <a:ext uri="{0D108BD9-81ED-4DB2-BD59-A6C34878D82A}">
                    <a16:rowId xmlns:a16="http://schemas.microsoft.com/office/drawing/2014/main" val="4230810656"/>
                  </a:ext>
                </a:extLst>
              </a:tr>
              <a:tr h="7921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删除元组</a:t>
                      </a: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7" marR="91437" marT="45728" marB="45728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 </a:t>
                      </a:r>
                      <a:r>
                        <a:rPr kumimoji="0" lang="zh-CN" altLang="en-US" sz="2000" b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可能破坏参照完整性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7" marR="91437" marT="45728" marB="45728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拒绝</a:t>
                      </a:r>
                      <a:r>
                        <a:rPr kumimoji="0" lang="en-US" altLang="zh-CN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/</a:t>
                      </a:r>
                      <a:r>
                        <a:rPr kumimoji="0" lang="zh-CN" alt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级联删除</a:t>
                      </a:r>
                      <a:r>
                        <a:rPr kumimoji="0" lang="en-US" altLang="zh-CN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/</a:t>
                      </a:r>
                      <a:r>
                        <a:rPr kumimoji="0" lang="zh-CN" alt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设置为空值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7" marR="91437" marT="45728" marB="45728" horzOverflow="overflow"/>
                </a:tc>
                <a:extLst>
                  <a:ext uri="{0D108BD9-81ED-4DB2-BD59-A6C34878D82A}">
                    <a16:rowId xmlns:a16="http://schemas.microsoft.com/office/drawing/2014/main" val="978685166"/>
                  </a:ext>
                </a:extLst>
              </a:tr>
              <a:tr h="7016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修改主码值</a:t>
                      </a: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7" marR="91437" marT="45728" marB="45728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可能破坏参照完整性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7" marR="91437" marT="45728" marB="45728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拒绝</a:t>
                      </a:r>
                      <a:r>
                        <a:rPr kumimoji="0" lang="en-US" altLang="zh-CN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/</a:t>
                      </a:r>
                      <a:r>
                        <a:rPr kumimoji="0" lang="zh-CN" alt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级联修改</a:t>
                      </a:r>
                      <a:r>
                        <a:rPr kumimoji="0" lang="en-US" altLang="zh-CN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/</a:t>
                      </a:r>
                      <a:r>
                        <a:rPr kumimoji="0" lang="zh-CN" alt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设置为空值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7" marR="91437" marT="45728" marB="45728" horzOverflow="overflow"/>
                </a:tc>
                <a:extLst>
                  <a:ext uri="{0D108BD9-81ED-4DB2-BD59-A6C34878D82A}">
                    <a16:rowId xmlns:a16="http://schemas.microsoft.com/office/drawing/2014/main" val="36142640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1845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25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BBC55-83F3-104B-108E-359CFD609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140F0EC2-709C-7F89-E3B9-14767B50E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8.1  </a:t>
            </a:r>
            <a:r>
              <a:rPr lang="zh-CN" altLang="en-US" dirty="0"/>
              <a:t>数据库完整性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CDF0065C-3151-0B4E-BFDC-0228EC9D13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125" y="1056640"/>
            <a:ext cx="10978515" cy="76517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3. </a:t>
            </a:r>
            <a:r>
              <a:rPr lang="zh-CN" altLang="en-US" dirty="0"/>
              <a:t>参照完整性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D6063C-28A2-F2CD-0E2B-474A3896B8BE}"/>
              </a:ext>
            </a:extLst>
          </p:cNvPr>
          <p:cNvSpPr txBox="1">
            <a:spLocks/>
          </p:cNvSpPr>
          <p:nvPr/>
        </p:nvSpPr>
        <p:spPr>
          <a:xfrm>
            <a:off x="599771" y="1677194"/>
            <a:ext cx="10978515" cy="46482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121917" tIns="60958" rIns="121917" bIns="60958" rtlCol="0">
            <a:normAutofit/>
          </a:bodyPr>
          <a:lstStyle>
            <a:lvl1pPr marL="457200" indent="-457200" algn="l" defTabSz="1219835" rtl="0" eaLnBrk="1" latinLnBrk="0" hangingPunct="1">
              <a:lnSpc>
                <a:spcPct val="120000"/>
              </a:lnSpc>
              <a:spcBef>
                <a:spcPct val="20000"/>
              </a:spcBef>
              <a:buSzPct val="80000"/>
              <a:buFont typeface="Wingdings" panose="05000000000000000000" pitchFamily="2" charset="2"/>
              <a:buChar char="l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69888" algn="just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参照完整性违约处理</a:t>
            </a:r>
            <a:endParaRPr lang="en-US" altLang="zh-CN" dirty="0">
              <a:solidFill>
                <a:srgbClr val="FF0000"/>
              </a:solidFill>
            </a:endParaRPr>
          </a:p>
          <a:p>
            <a:pPr marL="87313" indent="357188" algn="just">
              <a:lnSpc>
                <a:spcPct val="150000"/>
              </a:lnSpc>
              <a:buNone/>
            </a:pPr>
            <a:r>
              <a:rPr lang="zh-CN" altLang="en-US" dirty="0">
                <a:solidFill>
                  <a:schemeClr val="tx1"/>
                </a:solidFill>
              </a:rPr>
              <a:t>（</a:t>
            </a:r>
            <a:r>
              <a:rPr lang="en-US" altLang="zh-CN" dirty="0">
                <a:solidFill>
                  <a:schemeClr val="tx1"/>
                </a:solidFill>
              </a:rPr>
              <a:t>1</a:t>
            </a:r>
            <a:r>
              <a:rPr lang="zh-CN" altLang="en-US" dirty="0">
                <a:solidFill>
                  <a:schemeClr val="tx1"/>
                </a:solidFill>
              </a:rPr>
              <a:t>） 拒绝执行</a:t>
            </a:r>
          </a:p>
          <a:p>
            <a:pPr marL="87313" indent="357188" algn="just">
              <a:lnSpc>
                <a:spcPct val="150000"/>
              </a:lnSpc>
              <a:buNone/>
            </a:pPr>
            <a:r>
              <a:rPr lang="zh-CN" altLang="en-US" dirty="0">
                <a:solidFill>
                  <a:schemeClr val="tx1"/>
                </a:solidFill>
              </a:rPr>
              <a:t>不允许该操作执行。该策略一般设置为默认策略</a:t>
            </a:r>
          </a:p>
          <a:p>
            <a:pPr marL="87313" indent="357188" algn="just">
              <a:lnSpc>
                <a:spcPct val="150000"/>
              </a:lnSpc>
              <a:buNone/>
            </a:pPr>
            <a:r>
              <a:rPr lang="zh-CN" altLang="en-US" dirty="0">
                <a:solidFill>
                  <a:schemeClr val="tx1"/>
                </a:solidFill>
              </a:rPr>
              <a:t>（</a:t>
            </a:r>
            <a:r>
              <a:rPr lang="en-US" altLang="zh-CN" dirty="0">
                <a:solidFill>
                  <a:schemeClr val="tx1"/>
                </a:solidFill>
              </a:rPr>
              <a:t>2</a:t>
            </a:r>
            <a:r>
              <a:rPr lang="zh-CN" altLang="en-US" dirty="0">
                <a:solidFill>
                  <a:schemeClr val="tx1"/>
                </a:solidFill>
              </a:rPr>
              <a:t>） 级联操作</a:t>
            </a:r>
          </a:p>
          <a:p>
            <a:pPr marL="87313" indent="357188" algn="just">
              <a:lnSpc>
                <a:spcPct val="150000"/>
              </a:lnSpc>
              <a:buNone/>
            </a:pPr>
            <a:r>
              <a:rPr lang="zh-CN" altLang="en-US" dirty="0">
                <a:solidFill>
                  <a:schemeClr val="tx1"/>
                </a:solidFill>
              </a:rPr>
              <a:t>当删除或修改被参照表（</a:t>
            </a:r>
            <a:r>
              <a:rPr lang="en-US" altLang="zh-CN" dirty="0">
                <a:solidFill>
                  <a:schemeClr val="tx1"/>
                </a:solidFill>
              </a:rPr>
              <a:t>Student</a:t>
            </a:r>
            <a:r>
              <a:rPr lang="zh-CN" altLang="en-US" dirty="0">
                <a:solidFill>
                  <a:schemeClr val="tx1"/>
                </a:solidFill>
              </a:rPr>
              <a:t>）的一个元组导致与参照表（</a:t>
            </a:r>
            <a:r>
              <a:rPr lang="en-US" altLang="zh-CN" dirty="0">
                <a:solidFill>
                  <a:schemeClr val="tx1"/>
                </a:solidFill>
              </a:rPr>
              <a:t>SC</a:t>
            </a:r>
            <a:r>
              <a:rPr lang="zh-CN" altLang="en-US" dirty="0">
                <a:solidFill>
                  <a:schemeClr val="tx1"/>
                </a:solidFill>
              </a:rPr>
              <a:t>）的不一致，则删除或修改参照表中的所有导致不一致的元组</a:t>
            </a:r>
          </a:p>
          <a:p>
            <a:pPr marL="87313" indent="357188" algn="just">
              <a:lnSpc>
                <a:spcPct val="150000"/>
              </a:lnSpc>
              <a:buNone/>
            </a:pPr>
            <a:r>
              <a:rPr lang="zh-CN" altLang="en-US" dirty="0">
                <a:solidFill>
                  <a:schemeClr val="tx1"/>
                </a:solidFill>
              </a:rPr>
              <a:t>（</a:t>
            </a:r>
            <a:r>
              <a:rPr lang="en-US" altLang="zh-CN" dirty="0">
                <a:solidFill>
                  <a:schemeClr val="tx1"/>
                </a:solidFill>
              </a:rPr>
              <a:t>3</a:t>
            </a:r>
            <a:r>
              <a:rPr lang="zh-CN" altLang="en-US" dirty="0">
                <a:solidFill>
                  <a:schemeClr val="tx1"/>
                </a:solidFill>
              </a:rPr>
              <a:t>）设置为空值</a:t>
            </a:r>
          </a:p>
          <a:p>
            <a:pPr marL="87313" indent="357188" algn="just">
              <a:lnSpc>
                <a:spcPct val="150000"/>
              </a:lnSpc>
              <a:buNone/>
            </a:pPr>
            <a:r>
              <a:rPr lang="zh-CN" altLang="en-US" dirty="0">
                <a:solidFill>
                  <a:schemeClr val="tx1"/>
                </a:solidFill>
              </a:rPr>
              <a:t>当删除或修改被参照表的一个元组时造成了不一致，则将参照表中的所有造成不一致的元组的对应属性设置为空值。</a:t>
            </a:r>
          </a:p>
        </p:txBody>
      </p:sp>
    </p:spTree>
    <p:extLst>
      <p:ext uri="{BB962C8B-B14F-4D97-AF65-F5344CB8AC3E}">
        <p14:creationId xmlns:p14="http://schemas.microsoft.com/office/powerpoint/2010/main" val="906907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91154-F70D-202F-05D1-0FEEAAFF8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4ADCFAD9-9FCF-E3C7-AF1A-8A9BAAF07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8.1  </a:t>
            </a:r>
            <a:r>
              <a:rPr lang="zh-CN" altLang="en-US" dirty="0"/>
              <a:t>数据库完整性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A9A99710-E4E9-EECF-AD91-51D61BB7C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125" y="1056640"/>
            <a:ext cx="10978515" cy="76517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3. </a:t>
            </a:r>
            <a:r>
              <a:rPr lang="zh-CN" altLang="en-US" dirty="0"/>
              <a:t>参照完整性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B96BC1-170C-76FD-92F6-94074728FB75}"/>
              </a:ext>
            </a:extLst>
          </p:cNvPr>
          <p:cNvSpPr txBox="1">
            <a:spLocks/>
          </p:cNvSpPr>
          <p:nvPr/>
        </p:nvSpPr>
        <p:spPr>
          <a:xfrm>
            <a:off x="599771" y="1677194"/>
            <a:ext cx="10978515" cy="336058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121917" tIns="60958" rIns="121917" bIns="60958" rtlCol="0">
            <a:normAutofit/>
          </a:bodyPr>
          <a:lstStyle>
            <a:lvl1pPr marL="457200" indent="-457200" algn="l" defTabSz="1219835" rtl="0" eaLnBrk="1" latinLnBrk="0" hangingPunct="1">
              <a:lnSpc>
                <a:spcPct val="120000"/>
              </a:lnSpc>
              <a:spcBef>
                <a:spcPct val="20000"/>
              </a:spcBef>
              <a:buSzPct val="80000"/>
              <a:buFont typeface="Wingdings" panose="05000000000000000000" pitchFamily="2" charset="2"/>
              <a:buChar char="l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69888" algn="just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例如，有下面</a:t>
            </a:r>
            <a:r>
              <a:rPr lang="en-US" altLang="zh-CN" dirty="0">
                <a:solidFill>
                  <a:srgbClr val="FF0000"/>
                </a:solidFill>
              </a:rPr>
              <a:t>2</a:t>
            </a:r>
            <a:r>
              <a:rPr lang="zh-CN" altLang="en-US" dirty="0">
                <a:solidFill>
                  <a:srgbClr val="FF0000"/>
                </a:solidFill>
              </a:rPr>
              <a:t>个关系</a:t>
            </a:r>
            <a:endParaRPr lang="en-US" altLang="zh-CN" dirty="0">
              <a:solidFill>
                <a:srgbClr val="FF0000"/>
              </a:solidFill>
            </a:endParaRPr>
          </a:p>
          <a:p>
            <a:pPr marL="85725" indent="358775" algn="just">
              <a:lnSpc>
                <a:spcPct val="150000"/>
              </a:lnSpc>
              <a:buNone/>
            </a:pPr>
            <a:r>
              <a:rPr lang="zh-CN" altLang="en-US" dirty="0">
                <a:solidFill>
                  <a:schemeClr val="tx1"/>
                </a:solidFill>
              </a:rPr>
              <a:t>学生（学号，姓名，性别，出生日期，主修专业）</a:t>
            </a:r>
          </a:p>
          <a:p>
            <a:pPr marL="85725" indent="358775" algn="just">
              <a:lnSpc>
                <a:spcPct val="150000"/>
              </a:lnSpc>
              <a:buNone/>
            </a:pPr>
            <a:r>
              <a:rPr lang="zh-CN" altLang="en-US" dirty="0">
                <a:solidFill>
                  <a:schemeClr val="tx1"/>
                </a:solidFill>
              </a:rPr>
              <a:t>专业（专业号，专业编码）</a:t>
            </a:r>
          </a:p>
          <a:p>
            <a:pPr marL="715963" indent="-358775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</a:rPr>
              <a:t>假设专业表中专业名为计算机科学与技术的元组被删除</a:t>
            </a:r>
          </a:p>
          <a:p>
            <a:pPr marL="715963" indent="-358775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</a:rPr>
              <a:t>把学生表中主修专业</a:t>
            </a:r>
            <a:r>
              <a:rPr lang="en-US" altLang="zh-CN" dirty="0">
                <a:solidFill>
                  <a:schemeClr val="tx1"/>
                </a:solidFill>
              </a:rPr>
              <a:t>='</a:t>
            </a:r>
            <a:r>
              <a:rPr lang="zh-CN" altLang="en-US" dirty="0">
                <a:solidFill>
                  <a:schemeClr val="tx1"/>
                </a:solidFill>
              </a:rPr>
              <a:t>计算机科学与技术</a:t>
            </a:r>
            <a:r>
              <a:rPr lang="en-US" altLang="zh-CN" dirty="0">
                <a:solidFill>
                  <a:schemeClr val="tx1"/>
                </a:solidFill>
              </a:rPr>
              <a:t>'</a:t>
            </a:r>
            <a:r>
              <a:rPr lang="zh-CN" altLang="en-US" dirty="0">
                <a:solidFill>
                  <a:schemeClr val="tx1"/>
                </a:solidFill>
              </a:rPr>
              <a:t>的所有元组的主修专业设置为空值</a:t>
            </a:r>
          </a:p>
          <a:p>
            <a:pPr marL="715963" indent="-358775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</a:rPr>
              <a:t>语义：某个专业删除了，则选择该专业为主修专业的所有学生就要等待重新选择主修专业</a:t>
            </a:r>
          </a:p>
        </p:txBody>
      </p:sp>
    </p:spTree>
    <p:extLst>
      <p:ext uri="{BB962C8B-B14F-4D97-AF65-F5344CB8AC3E}">
        <p14:creationId xmlns:p14="http://schemas.microsoft.com/office/powerpoint/2010/main" val="2627216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0FB09-347F-A258-F174-C9F977EBF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409988F2-789E-A91E-D20F-DF2543DD0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8.1  </a:t>
            </a:r>
            <a:r>
              <a:rPr lang="zh-CN" altLang="en-US" dirty="0"/>
              <a:t>数据库完整性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04A0733D-D597-09AD-AB7E-7FDD271D7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125" y="1056640"/>
            <a:ext cx="10978515" cy="76517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3. </a:t>
            </a:r>
            <a:r>
              <a:rPr lang="zh-CN" altLang="en-US" dirty="0"/>
              <a:t>参照完整性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C3A6FD-EFD8-0B8D-F3A1-92928E07BE39}"/>
              </a:ext>
            </a:extLst>
          </p:cNvPr>
          <p:cNvSpPr txBox="1">
            <a:spLocks/>
          </p:cNvSpPr>
          <p:nvPr/>
        </p:nvSpPr>
        <p:spPr>
          <a:xfrm>
            <a:off x="599771" y="1677194"/>
            <a:ext cx="10978515" cy="482997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121917" tIns="60958" rIns="121917" bIns="60958" rtlCol="0">
            <a:normAutofit/>
          </a:bodyPr>
          <a:lstStyle>
            <a:lvl1pPr marL="457200" indent="-457200" algn="l" defTabSz="1219835" rtl="0" eaLnBrk="1" latinLnBrk="0" hangingPunct="1">
              <a:lnSpc>
                <a:spcPct val="120000"/>
              </a:lnSpc>
              <a:spcBef>
                <a:spcPct val="20000"/>
              </a:spcBef>
              <a:buSzPct val="80000"/>
              <a:buFont typeface="Wingdings" panose="05000000000000000000" pitchFamily="2" charset="2"/>
              <a:buChar char="l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69888" algn="just"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</a:rPr>
              <a:t>对于参照完整性，除了应该定义外码，还应定义外码列是否允许空值 </a:t>
            </a:r>
            <a:endParaRPr lang="en-US" altLang="zh-CN" dirty="0">
              <a:solidFill>
                <a:schemeClr val="tx1"/>
              </a:solidFill>
            </a:endParaRPr>
          </a:p>
          <a:p>
            <a:pPr indent="-369888" algn="just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显式说明参照完整性的违约处理示例</a:t>
            </a:r>
            <a:endParaRPr lang="en-US" altLang="zh-CN" dirty="0">
              <a:solidFill>
                <a:srgbClr val="FF0000"/>
              </a:solidFill>
            </a:endParaRPr>
          </a:p>
          <a:p>
            <a:pPr indent="-369888" algn="just">
              <a:lnSpc>
                <a:spcPct val="150000"/>
              </a:lnSpc>
            </a:pPr>
            <a:endParaRPr lang="zh-CN" altLang="en-US" dirty="0">
              <a:solidFill>
                <a:schemeClr val="tx1"/>
              </a:solidFill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EEB7F1E-350C-1E92-2767-D25360BD9F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2375" y="2738311"/>
            <a:ext cx="7391400" cy="3768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517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4CA89-2D03-CC57-4994-3E3975BB5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28E75FEF-CCAC-AC81-0A4D-C8912C04C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8.1  </a:t>
            </a:r>
            <a:r>
              <a:rPr lang="zh-CN" altLang="en-US" dirty="0"/>
              <a:t>数据库完整性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652FA7F7-3940-02D1-7C14-FA7A1DC121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125" y="1056640"/>
            <a:ext cx="10978515" cy="76517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4. </a:t>
            </a:r>
            <a:r>
              <a:rPr lang="zh-CN" altLang="en-US" dirty="0"/>
              <a:t>用户定义的完整性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7B9EE4-6518-3F47-3754-984920344857}"/>
              </a:ext>
            </a:extLst>
          </p:cNvPr>
          <p:cNvSpPr txBox="1">
            <a:spLocks/>
          </p:cNvSpPr>
          <p:nvPr/>
        </p:nvSpPr>
        <p:spPr>
          <a:xfrm>
            <a:off x="599771" y="1677194"/>
            <a:ext cx="10978515" cy="336058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121917" tIns="60958" rIns="121917" bIns="60958" rtlCol="0">
            <a:normAutofit/>
          </a:bodyPr>
          <a:lstStyle>
            <a:lvl1pPr marL="457200" indent="-457200" algn="l" defTabSz="1219835" rtl="0" eaLnBrk="1" latinLnBrk="0" hangingPunct="1">
              <a:lnSpc>
                <a:spcPct val="120000"/>
              </a:lnSpc>
              <a:spcBef>
                <a:spcPct val="20000"/>
              </a:spcBef>
              <a:buSzPct val="80000"/>
              <a:buFont typeface="Wingdings" panose="05000000000000000000" pitchFamily="2" charset="2"/>
              <a:buChar char="l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69888" algn="just"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</a:rPr>
              <a:t>用户定义的完整性：</a:t>
            </a:r>
            <a:endParaRPr lang="en-US" altLang="zh-CN" dirty="0">
              <a:solidFill>
                <a:schemeClr val="tx1"/>
              </a:solidFill>
            </a:endParaRPr>
          </a:p>
          <a:p>
            <a:pPr marL="85725" indent="363538" algn="just">
              <a:lnSpc>
                <a:spcPct val="150000"/>
              </a:lnSpc>
              <a:buNone/>
            </a:pPr>
            <a:r>
              <a:rPr lang="zh-CN" altLang="en-US" dirty="0">
                <a:solidFill>
                  <a:srgbClr val="FF0000"/>
                </a:solidFill>
              </a:rPr>
              <a:t>针对某一具体应用的数据必须满足的语义要求 </a:t>
            </a:r>
          </a:p>
          <a:p>
            <a:pPr indent="-369888" algn="just"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</a:rPr>
              <a:t>关系数据库管理系统提供了定义和检验这类完整性的机制，不必由应用程序承担</a:t>
            </a:r>
          </a:p>
        </p:txBody>
      </p:sp>
    </p:spTree>
    <p:extLst>
      <p:ext uri="{BB962C8B-B14F-4D97-AF65-F5344CB8AC3E}">
        <p14:creationId xmlns:p14="http://schemas.microsoft.com/office/powerpoint/2010/main" val="3033297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EFEA5-6A84-FE52-F8B1-39501A73E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BCA31139-734C-C6DF-01AC-D279018F6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8.1  </a:t>
            </a:r>
            <a:r>
              <a:rPr lang="zh-CN" altLang="en-US" dirty="0"/>
              <a:t>数据库完整性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96387A0A-CD1D-4425-081A-B5DA88C161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125" y="1056640"/>
            <a:ext cx="10978515" cy="76517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4. </a:t>
            </a:r>
            <a:r>
              <a:rPr lang="zh-CN" altLang="en-US" dirty="0"/>
              <a:t>用户定义的完整性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03A7C4-D535-7FAB-F2F8-8D060D219D40}"/>
              </a:ext>
            </a:extLst>
          </p:cNvPr>
          <p:cNvSpPr txBox="1">
            <a:spLocks/>
          </p:cNvSpPr>
          <p:nvPr/>
        </p:nvSpPr>
        <p:spPr>
          <a:xfrm>
            <a:off x="599771" y="1677194"/>
            <a:ext cx="10978515" cy="336058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121917" tIns="60958" rIns="121917" bIns="60958" rtlCol="0">
            <a:normAutofit/>
          </a:bodyPr>
          <a:lstStyle>
            <a:lvl1pPr marL="457200" indent="-457200" algn="l" defTabSz="1219835" rtl="0" eaLnBrk="1" latinLnBrk="0" hangingPunct="1">
              <a:lnSpc>
                <a:spcPct val="120000"/>
              </a:lnSpc>
              <a:spcBef>
                <a:spcPct val="20000"/>
              </a:spcBef>
              <a:buSzPct val="80000"/>
              <a:buFont typeface="Wingdings" panose="05000000000000000000" pitchFamily="2" charset="2"/>
              <a:buChar char="l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69888" algn="just"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</a:rPr>
              <a:t>用户定义的完整性：</a:t>
            </a:r>
            <a:endParaRPr lang="en-US" altLang="zh-CN" dirty="0">
              <a:solidFill>
                <a:schemeClr val="tx1"/>
              </a:solidFill>
            </a:endParaRPr>
          </a:p>
          <a:p>
            <a:pPr marL="85725" indent="363538" algn="just">
              <a:lnSpc>
                <a:spcPct val="150000"/>
              </a:lnSpc>
              <a:buNone/>
            </a:pPr>
            <a:r>
              <a:rPr lang="zh-CN" altLang="en-US" dirty="0">
                <a:solidFill>
                  <a:srgbClr val="FF0000"/>
                </a:solidFill>
              </a:rPr>
              <a:t>针对某一具体应用的数据必须满足的语义要求 </a:t>
            </a:r>
          </a:p>
          <a:p>
            <a:pPr indent="-369888" algn="just"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</a:rPr>
              <a:t>关系数据库管理系统提供了定义和检验这类完整性的机制，不必由应用程序承担</a:t>
            </a:r>
            <a:endParaRPr lang="en-US" altLang="zh-CN" dirty="0">
              <a:solidFill>
                <a:schemeClr val="tx1"/>
              </a:solidFill>
            </a:endParaRPr>
          </a:p>
          <a:p>
            <a:pPr marL="85725" indent="717550" algn="just">
              <a:lnSpc>
                <a:spcPct val="150000"/>
              </a:lnSpc>
              <a:buNone/>
            </a:pPr>
            <a:r>
              <a:rPr lang="zh-CN" altLang="en-US" dirty="0">
                <a:solidFill>
                  <a:schemeClr val="tx1"/>
                </a:solidFill>
              </a:rPr>
              <a:t>属性上的约束</a:t>
            </a:r>
            <a:endParaRPr lang="en-US" altLang="zh-CN" dirty="0">
              <a:solidFill>
                <a:schemeClr val="tx1"/>
              </a:solidFill>
            </a:endParaRPr>
          </a:p>
          <a:p>
            <a:pPr marL="85725" indent="717550" algn="just">
              <a:lnSpc>
                <a:spcPct val="150000"/>
              </a:lnSpc>
              <a:buNone/>
            </a:pPr>
            <a:r>
              <a:rPr lang="zh-CN" altLang="en-US" dirty="0">
                <a:solidFill>
                  <a:schemeClr val="tx1"/>
                </a:solidFill>
              </a:rPr>
              <a:t>元组上的约束</a:t>
            </a:r>
          </a:p>
        </p:txBody>
      </p:sp>
      <p:sp>
        <p:nvSpPr>
          <p:cNvPr id="2" name="左大括号 1">
            <a:extLst>
              <a:ext uri="{FF2B5EF4-FFF2-40B4-BE49-F238E27FC236}">
                <a16:creationId xmlns:a16="http://schemas.microsoft.com/office/drawing/2014/main" id="{63392727-F6A5-6A12-D289-F1EA2FFCB8B6}"/>
              </a:ext>
            </a:extLst>
          </p:cNvPr>
          <p:cNvSpPr/>
          <p:nvPr/>
        </p:nvSpPr>
        <p:spPr>
          <a:xfrm>
            <a:off x="1222375" y="3505994"/>
            <a:ext cx="228600" cy="609600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8502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CD7B2-DAE7-82C3-04FD-52F7C7073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14886B91-04E8-FDD0-9CD1-24F5A82F1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8.1  </a:t>
            </a:r>
            <a:r>
              <a:rPr lang="zh-CN" altLang="en-US" dirty="0"/>
              <a:t>数据库完整性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4103027A-0896-DD7A-50C6-EBE0ACEB5C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125" y="1056640"/>
            <a:ext cx="10978515" cy="76517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4. </a:t>
            </a:r>
            <a:r>
              <a:rPr lang="zh-CN" altLang="en-US" dirty="0"/>
              <a:t>用户定义的完整性</a:t>
            </a:r>
            <a:r>
              <a:rPr lang="en-US" altLang="zh-CN" dirty="0"/>
              <a:t>-</a:t>
            </a:r>
            <a:r>
              <a:rPr lang="zh-CN" altLang="en-US" dirty="0">
                <a:solidFill>
                  <a:schemeClr val="tx1"/>
                </a:solidFill>
              </a:rPr>
              <a:t>属性上的约束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C07DD3-BE33-9C35-B60C-4C311AEC3B44}"/>
              </a:ext>
            </a:extLst>
          </p:cNvPr>
          <p:cNvSpPr txBox="1">
            <a:spLocks/>
          </p:cNvSpPr>
          <p:nvPr/>
        </p:nvSpPr>
        <p:spPr>
          <a:xfrm>
            <a:off x="599771" y="1677194"/>
            <a:ext cx="10978515" cy="336058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121917" tIns="60958" rIns="121917" bIns="60958" rtlCol="0">
            <a:normAutofit/>
          </a:bodyPr>
          <a:lstStyle>
            <a:lvl1pPr marL="457200" indent="-457200" algn="l" defTabSz="1219835" rtl="0" eaLnBrk="1" latinLnBrk="0" hangingPunct="1">
              <a:lnSpc>
                <a:spcPct val="120000"/>
              </a:lnSpc>
              <a:spcBef>
                <a:spcPct val="20000"/>
              </a:spcBef>
              <a:buSzPct val="80000"/>
              <a:buFont typeface="Wingdings" panose="05000000000000000000" pitchFamily="2" charset="2"/>
              <a:buChar char="l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69888" algn="just"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</a:rPr>
              <a:t>属性上约束的定义</a:t>
            </a:r>
          </a:p>
          <a:p>
            <a:pPr marL="87312" indent="0" algn="just">
              <a:lnSpc>
                <a:spcPct val="15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CREATE TABLE</a:t>
            </a:r>
            <a:r>
              <a:rPr lang="zh-CN" altLang="en-US" dirty="0">
                <a:solidFill>
                  <a:schemeClr val="tx1"/>
                </a:solidFill>
              </a:rPr>
              <a:t>中</a:t>
            </a:r>
            <a:r>
              <a:rPr lang="zh-CN" altLang="en-US" dirty="0">
                <a:solidFill>
                  <a:srgbClr val="FF0000"/>
                </a:solidFill>
              </a:rPr>
              <a:t>定义属性上的约束</a:t>
            </a:r>
          </a:p>
          <a:p>
            <a:pPr marL="803275" indent="-354013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</a:rPr>
              <a:t>列值非空（</a:t>
            </a:r>
            <a:r>
              <a:rPr lang="en-US" altLang="zh-CN" dirty="0">
                <a:solidFill>
                  <a:schemeClr val="tx1"/>
                </a:solidFill>
              </a:rPr>
              <a:t>NOT NULL</a:t>
            </a:r>
            <a:r>
              <a:rPr lang="zh-CN" altLang="en-US" dirty="0">
                <a:solidFill>
                  <a:schemeClr val="tx1"/>
                </a:solidFill>
              </a:rPr>
              <a:t>）</a:t>
            </a:r>
          </a:p>
          <a:p>
            <a:pPr marL="803275" indent="-354013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</a:rPr>
              <a:t>列值唯一（</a:t>
            </a:r>
            <a:r>
              <a:rPr lang="en-US" altLang="zh-CN" dirty="0">
                <a:solidFill>
                  <a:schemeClr val="tx1"/>
                </a:solidFill>
              </a:rPr>
              <a:t>UNIQUE</a:t>
            </a:r>
            <a:r>
              <a:rPr lang="zh-CN" altLang="en-US" dirty="0">
                <a:solidFill>
                  <a:schemeClr val="tx1"/>
                </a:solidFill>
              </a:rPr>
              <a:t>）</a:t>
            </a:r>
          </a:p>
          <a:p>
            <a:pPr marL="803275" indent="-354013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</a:rPr>
              <a:t>检查列值是否满足一个条件表达式（</a:t>
            </a:r>
            <a:r>
              <a:rPr lang="en-US" altLang="zh-CN" dirty="0">
                <a:solidFill>
                  <a:schemeClr val="tx1"/>
                </a:solidFill>
              </a:rPr>
              <a:t>CHECK</a:t>
            </a:r>
            <a:r>
              <a:rPr lang="zh-CN" altLang="en-US" dirty="0">
                <a:solidFill>
                  <a:schemeClr val="tx1"/>
                </a:solidFill>
              </a:rPr>
              <a:t>短语）</a:t>
            </a:r>
          </a:p>
        </p:txBody>
      </p:sp>
    </p:spTree>
    <p:extLst>
      <p:ext uri="{BB962C8B-B14F-4D97-AF65-F5344CB8AC3E}">
        <p14:creationId xmlns:p14="http://schemas.microsoft.com/office/powerpoint/2010/main" val="3852907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30D0C-3559-BC25-620D-723B88FC8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39D9B806-9E48-119B-0649-5BDBA487E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8.1  </a:t>
            </a:r>
            <a:r>
              <a:rPr lang="zh-CN" altLang="en-US" dirty="0"/>
              <a:t>数据库完整性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8602EE87-4D25-8319-C502-19473D326B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125" y="1056640"/>
            <a:ext cx="10978515" cy="76517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4. </a:t>
            </a:r>
            <a:r>
              <a:rPr lang="zh-CN" altLang="en-US" dirty="0"/>
              <a:t>用户定义的完整性</a:t>
            </a:r>
            <a:r>
              <a:rPr lang="en-US" altLang="zh-CN" dirty="0"/>
              <a:t>-</a:t>
            </a:r>
            <a:r>
              <a:rPr lang="zh-CN" altLang="en-US" dirty="0">
                <a:solidFill>
                  <a:schemeClr val="tx1"/>
                </a:solidFill>
              </a:rPr>
              <a:t>属性上的约束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E62500-9100-ED81-BCA4-E7291A21DA38}"/>
              </a:ext>
            </a:extLst>
          </p:cNvPr>
          <p:cNvSpPr txBox="1">
            <a:spLocks/>
          </p:cNvSpPr>
          <p:nvPr/>
        </p:nvSpPr>
        <p:spPr>
          <a:xfrm>
            <a:off x="599771" y="1677194"/>
            <a:ext cx="10978515" cy="42672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121917" tIns="60958" rIns="121917" bIns="60958" rtlCol="0">
            <a:normAutofit/>
          </a:bodyPr>
          <a:lstStyle>
            <a:lvl1pPr marL="457200" indent="-457200" algn="l" defTabSz="1219835" rtl="0" eaLnBrk="1" latinLnBrk="0" hangingPunct="1">
              <a:lnSpc>
                <a:spcPct val="120000"/>
              </a:lnSpc>
              <a:spcBef>
                <a:spcPct val="20000"/>
              </a:spcBef>
              <a:buSzPct val="80000"/>
              <a:buFont typeface="Wingdings" panose="05000000000000000000" pitchFamily="2" charset="2"/>
              <a:buChar char="l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69888" algn="just"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</a:rPr>
              <a:t>不允许取空值</a:t>
            </a:r>
            <a:endParaRPr lang="en-US" altLang="zh-CN" dirty="0">
              <a:solidFill>
                <a:schemeClr val="tx1"/>
              </a:solidFill>
            </a:endParaRPr>
          </a:p>
          <a:p>
            <a:pPr indent="-369888" algn="just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例：在定义</a:t>
            </a:r>
            <a:r>
              <a:rPr lang="en-US" altLang="zh-CN" dirty="0">
                <a:solidFill>
                  <a:srgbClr val="FF0000"/>
                </a:solidFill>
              </a:rPr>
              <a:t>SC</a:t>
            </a:r>
            <a:r>
              <a:rPr lang="zh-CN" altLang="en-US" dirty="0">
                <a:solidFill>
                  <a:srgbClr val="FF0000"/>
                </a:solidFill>
              </a:rPr>
              <a:t>表时，说明</a:t>
            </a:r>
            <a:r>
              <a:rPr lang="en-US" altLang="zh-CN" dirty="0">
                <a:solidFill>
                  <a:srgbClr val="FF0000"/>
                </a:solidFill>
              </a:rPr>
              <a:t>Sno</a:t>
            </a:r>
            <a:r>
              <a:rPr lang="zh-CN" altLang="en-US" dirty="0">
                <a:solidFill>
                  <a:srgbClr val="FF0000"/>
                </a:solidFill>
              </a:rPr>
              <a:t>、</a:t>
            </a:r>
            <a:r>
              <a:rPr lang="en-US" altLang="zh-CN" dirty="0" err="1">
                <a:solidFill>
                  <a:srgbClr val="FF0000"/>
                </a:solidFill>
              </a:rPr>
              <a:t>Cno</a:t>
            </a:r>
            <a:r>
              <a:rPr lang="zh-CN" altLang="en-US" dirty="0">
                <a:solidFill>
                  <a:srgbClr val="FF0000"/>
                </a:solidFill>
              </a:rPr>
              <a:t>、</a:t>
            </a:r>
            <a:r>
              <a:rPr lang="en-US" altLang="zh-CN" dirty="0">
                <a:solidFill>
                  <a:srgbClr val="FF0000"/>
                </a:solidFill>
              </a:rPr>
              <a:t>Grade</a:t>
            </a:r>
            <a:r>
              <a:rPr lang="zh-CN" altLang="en-US" dirty="0">
                <a:solidFill>
                  <a:srgbClr val="FF0000"/>
                </a:solidFill>
              </a:rPr>
              <a:t>属性不允许取空值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CFCBE32-C974-27FF-1182-9457295648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3375" y="2820194"/>
            <a:ext cx="9004637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791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2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281BC-BA19-2CEF-9947-0646190B9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B1CD1E61-9E7D-DFCC-197C-00FFFB146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8.1  </a:t>
            </a:r>
            <a:r>
              <a:rPr lang="zh-CN" altLang="en-US" dirty="0"/>
              <a:t>数据库完整性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75352164-0A5C-26F7-0ECD-E945EB567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125" y="1056640"/>
            <a:ext cx="10978515" cy="76517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4. </a:t>
            </a:r>
            <a:r>
              <a:rPr lang="zh-CN" altLang="en-US" dirty="0"/>
              <a:t>用户定义的完整性</a:t>
            </a:r>
            <a:r>
              <a:rPr lang="en-US" altLang="zh-CN" dirty="0"/>
              <a:t>-</a:t>
            </a:r>
            <a:r>
              <a:rPr lang="zh-CN" altLang="en-US" dirty="0">
                <a:solidFill>
                  <a:schemeClr val="tx1"/>
                </a:solidFill>
              </a:rPr>
              <a:t>属性上的约束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994E4B-3616-221E-EA30-FAA54F61440C}"/>
              </a:ext>
            </a:extLst>
          </p:cNvPr>
          <p:cNvSpPr txBox="1">
            <a:spLocks/>
          </p:cNvSpPr>
          <p:nvPr/>
        </p:nvSpPr>
        <p:spPr>
          <a:xfrm>
            <a:off x="599771" y="1677194"/>
            <a:ext cx="10978515" cy="32766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121917" tIns="60958" rIns="121917" bIns="60958" rtlCol="0">
            <a:normAutofit fontScale="92500" lnSpcReduction="20000"/>
          </a:bodyPr>
          <a:lstStyle>
            <a:lvl1pPr marL="457200" indent="-457200" algn="l" defTabSz="1219835" rtl="0" eaLnBrk="1" latinLnBrk="0" hangingPunct="1">
              <a:lnSpc>
                <a:spcPct val="120000"/>
              </a:lnSpc>
              <a:spcBef>
                <a:spcPct val="20000"/>
              </a:spcBef>
              <a:buSzPct val="80000"/>
              <a:buFont typeface="Wingdings" panose="05000000000000000000" pitchFamily="2" charset="2"/>
              <a:buChar char="l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69888" algn="just"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</a:rPr>
              <a:t>列值唯一 </a:t>
            </a:r>
            <a:endParaRPr lang="en-US" altLang="zh-CN" dirty="0">
              <a:solidFill>
                <a:schemeClr val="tx1"/>
              </a:solidFill>
            </a:endParaRPr>
          </a:p>
          <a:p>
            <a:pPr indent="-369888" algn="just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例：建立学校学院表</a:t>
            </a:r>
            <a:r>
              <a:rPr lang="en-US" altLang="zh-CN" dirty="0">
                <a:solidFill>
                  <a:srgbClr val="FF0000"/>
                </a:solidFill>
              </a:rPr>
              <a:t>School</a:t>
            </a:r>
            <a:r>
              <a:rPr lang="zh-CN" altLang="en-US" dirty="0">
                <a:solidFill>
                  <a:srgbClr val="FF0000"/>
                </a:solidFill>
              </a:rPr>
              <a:t>，要求学院名称</a:t>
            </a:r>
            <a:r>
              <a:rPr lang="en-US" altLang="zh-CN" dirty="0" err="1">
                <a:solidFill>
                  <a:srgbClr val="FF0000"/>
                </a:solidFill>
              </a:rPr>
              <a:t>SHname</a:t>
            </a:r>
            <a:r>
              <a:rPr lang="zh-CN" altLang="en-US" dirty="0">
                <a:solidFill>
                  <a:srgbClr val="FF0000"/>
                </a:solidFill>
              </a:rPr>
              <a:t>列取值唯一，学院编号</a:t>
            </a:r>
            <a:r>
              <a:rPr lang="en-US" altLang="zh-CN" dirty="0" err="1">
                <a:solidFill>
                  <a:srgbClr val="FF0000"/>
                </a:solidFill>
              </a:rPr>
              <a:t>SHno</a:t>
            </a:r>
            <a:r>
              <a:rPr lang="zh-CN" altLang="en-US" dirty="0">
                <a:solidFill>
                  <a:srgbClr val="FF0000"/>
                </a:solidFill>
              </a:rPr>
              <a:t>列为主码。</a:t>
            </a:r>
            <a:endParaRPr lang="en-US" altLang="zh-CN" dirty="0">
              <a:solidFill>
                <a:srgbClr val="FF0000"/>
              </a:solidFill>
            </a:endParaRPr>
          </a:p>
          <a:p>
            <a:pPr marL="85725" indent="814388" algn="just">
              <a:lnSpc>
                <a:spcPct val="150000"/>
              </a:lnSpc>
              <a:buNone/>
            </a:pPr>
            <a:r>
              <a:rPr lang="en-US" altLang="zh-CN" sz="2200" dirty="0">
                <a:solidFill>
                  <a:schemeClr val="tx1"/>
                </a:solidFill>
              </a:rPr>
              <a:t>CREATE TABLE School</a:t>
            </a:r>
          </a:p>
          <a:p>
            <a:pPr marL="85725" indent="814388" algn="just">
              <a:lnSpc>
                <a:spcPct val="150000"/>
              </a:lnSpc>
              <a:buNone/>
            </a:pPr>
            <a:r>
              <a:rPr lang="en-US" altLang="zh-CN" sz="2200" dirty="0">
                <a:solidFill>
                  <a:schemeClr val="tx1"/>
                </a:solidFill>
              </a:rPr>
              <a:t>      ( </a:t>
            </a:r>
            <a:r>
              <a:rPr lang="en-US" altLang="zh-CN" sz="2200" dirty="0" err="1">
                <a:solidFill>
                  <a:schemeClr val="tx1"/>
                </a:solidFill>
              </a:rPr>
              <a:t>SHno</a:t>
            </a:r>
            <a:r>
              <a:rPr lang="en-US" altLang="zh-CN" sz="2200" dirty="0">
                <a:solidFill>
                  <a:schemeClr val="tx1"/>
                </a:solidFill>
              </a:rPr>
              <a:t> CHAR(8)  PRIMARY KEY,      /*</a:t>
            </a:r>
            <a:r>
              <a:rPr lang="en-US" altLang="zh-CN" sz="2200" dirty="0" err="1">
                <a:solidFill>
                  <a:schemeClr val="tx1"/>
                </a:solidFill>
              </a:rPr>
              <a:t>SHno</a:t>
            </a:r>
            <a:r>
              <a:rPr lang="zh-CN" altLang="en-US" sz="2200" dirty="0">
                <a:solidFill>
                  <a:schemeClr val="tx1"/>
                </a:solidFill>
              </a:rPr>
              <a:t>列为主码*</a:t>
            </a:r>
            <a:r>
              <a:rPr lang="en-US" altLang="zh-CN" sz="2200" dirty="0">
                <a:solidFill>
                  <a:schemeClr val="tx1"/>
                </a:solidFill>
              </a:rPr>
              <a:t>/</a:t>
            </a:r>
          </a:p>
          <a:p>
            <a:pPr marL="85725" indent="814388" algn="just">
              <a:lnSpc>
                <a:spcPct val="150000"/>
              </a:lnSpc>
              <a:buNone/>
            </a:pPr>
            <a:r>
              <a:rPr lang="en-US" altLang="zh-CN" sz="2200" dirty="0">
                <a:solidFill>
                  <a:schemeClr val="tx1"/>
                </a:solidFill>
              </a:rPr>
              <a:t>       </a:t>
            </a:r>
            <a:r>
              <a:rPr lang="en-US" altLang="zh-CN" sz="2200" dirty="0" err="1">
                <a:solidFill>
                  <a:schemeClr val="tx1"/>
                </a:solidFill>
              </a:rPr>
              <a:t>SHname</a:t>
            </a:r>
            <a:r>
              <a:rPr lang="en-US" altLang="zh-CN" sz="2200" dirty="0">
                <a:solidFill>
                  <a:schemeClr val="tx1"/>
                </a:solidFill>
              </a:rPr>
              <a:t> VARCHAR(40)  UNIQUE ,    /*</a:t>
            </a:r>
            <a:r>
              <a:rPr lang="zh-CN" altLang="en-US" sz="2200" dirty="0">
                <a:solidFill>
                  <a:schemeClr val="tx1"/>
                </a:solidFill>
              </a:rPr>
              <a:t>要求</a:t>
            </a:r>
            <a:r>
              <a:rPr lang="en-US" altLang="zh-CN" sz="2200" dirty="0" err="1">
                <a:solidFill>
                  <a:schemeClr val="tx1"/>
                </a:solidFill>
              </a:rPr>
              <a:t>SHname</a:t>
            </a:r>
            <a:r>
              <a:rPr lang="zh-CN" altLang="en-US" sz="2200" dirty="0">
                <a:solidFill>
                  <a:schemeClr val="tx1"/>
                </a:solidFill>
              </a:rPr>
              <a:t>值唯一*</a:t>
            </a:r>
            <a:r>
              <a:rPr lang="en-US" altLang="zh-CN" sz="2200" dirty="0">
                <a:solidFill>
                  <a:schemeClr val="tx1"/>
                </a:solidFill>
              </a:rPr>
              <a:t>/</a:t>
            </a:r>
          </a:p>
          <a:p>
            <a:pPr marL="85725" indent="814388" algn="just">
              <a:lnSpc>
                <a:spcPct val="150000"/>
              </a:lnSpc>
              <a:buNone/>
            </a:pPr>
            <a:r>
              <a:rPr lang="en-US" altLang="zh-CN" sz="2200" dirty="0">
                <a:solidFill>
                  <a:schemeClr val="tx1"/>
                </a:solidFill>
              </a:rPr>
              <a:t>       </a:t>
            </a:r>
            <a:r>
              <a:rPr lang="en-US" altLang="zh-CN" sz="2200" dirty="0" err="1">
                <a:solidFill>
                  <a:schemeClr val="tx1"/>
                </a:solidFill>
              </a:rPr>
              <a:t>SHfounddate</a:t>
            </a:r>
            <a:r>
              <a:rPr lang="en-US" altLang="zh-CN" sz="2200" dirty="0">
                <a:solidFill>
                  <a:schemeClr val="tx1"/>
                </a:solidFill>
              </a:rPr>
              <a:t>  Date                          /*</a:t>
            </a:r>
            <a:r>
              <a:rPr lang="zh-CN" altLang="en-US" sz="2200" dirty="0">
                <a:solidFill>
                  <a:schemeClr val="tx1"/>
                </a:solidFill>
              </a:rPr>
              <a:t>学院创建日期*</a:t>
            </a:r>
            <a:r>
              <a:rPr lang="en-US" altLang="zh-CN" sz="2200" dirty="0">
                <a:solidFill>
                  <a:schemeClr val="tx1"/>
                </a:solidFill>
              </a:rPr>
              <a:t>/      </a:t>
            </a:r>
          </a:p>
          <a:p>
            <a:pPr marL="85725" indent="814388" algn="just">
              <a:lnSpc>
                <a:spcPct val="150000"/>
              </a:lnSpc>
              <a:buNone/>
            </a:pPr>
            <a:r>
              <a:rPr lang="en-US" altLang="zh-CN" sz="2200" dirty="0">
                <a:solidFill>
                  <a:schemeClr val="tx1"/>
                </a:solidFill>
              </a:rPr>
              <a:t>       );</a:t>
            </a:r>
          </a:p>
          <a:p>
            <a:pPr indent="-369888" algn="just">
              <a:lnSpc>
                <a:spcPct val="150000"/>
              </a:lnSpc>
            </a:pP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0040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61AAF-8FCC-CC08-F8D8-B30CE39E0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47B7239-04B5-3050-9977-2F228EBB0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8.1  </a:t>
            </a:r>
            <a:r>
              <a:rPr lang="zh-CN" altLang="en-US" dirty="0"/>
              <a:t>数据库完整性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8998EB8F-C0F0-A25D-7828-092438354D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125" y="1056640"/>
            <a:ext cx="10978515" cy="76517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4. </a:t>
            </a:r>
            <a:r>
              <a:rPr lang="zh-CN" altLang="en-US" dirty="0"/>
              <a:t>用户定义的完整性</a:t>
            </a:r>
            <a:r>
              <a:rPr lang="en-US" altLang="zh-CN" dirty="0"/>
              <a:t>-</a:t>
            </a:r>
            <a:r>
              <a:rPr lang="zh-CN" altLang="en-US" dirty="0">
                <a:solidFill>
                  <a:schemeClr val="tx1"/>
                </a:solidFill>
              </a:rPr>
              <a:t>属性上的约束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C4B176-9C87-00F6-A9DB-694BBF43DE4A}"/>
              </a:ext>
            </a:extLst>
          </p:cNvPr>
          <p:cNvSpPr txBox="1">
            <a:spLocks/>
          </p:cNvSpPr>
          <p:nvPr/>
        </p:nvSpPr>
        <p:spPr>
          <a:xfrm>
            <a:off x="599771" y="1677194"/>
            <a:ext cx="10978515" cy="47244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121917" tIns="60958" rIns="121917" bIns="60958" rtlCol="0">
            <a:noAutofit/>
          </a:bodyPr>
          <a:lstStyle>
            <a:lvl1pPr marL="457200" indent="-457200" algn="l" defTabSz="1219835" rtl="0" eaLnBrk="1" latinLnBrk="0" hangingPunct="1">
              <a:lnSpc>
                <a:spcPct val="120000"/>
              </a:lnSpc>
              <a:spcBef>
                <a:spcPct val="20000"/>
              </a:spcBef>
              <a:buSzPct val="80000"/>
              <a:buFont typeface="Wingdings" panose="05000000000000000000" pitchFamily="2" charset="2"/>
              <a:buChar char="l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69888" algn="just"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solidFill>
                  <a:schemeClr val="tx1"/>
                </a:solidFill>
              </a:rPr>
              <a:t>用</a:t>
            </a:r>
            <a:r>
              <a:rPr lang="en-US" altLang="zh-CN" dirty="0">
                <a:solidFill>
                  <a:schemeClr val="tx1"/>
                </a:solidFill>
              </a:rPr>
              <a:t>CHECK</a:t>
            </a:r>
            <a:r>
              <a:rPr lang="zh-CN" altLang="en-US" dirty="0">
                <a:solidFill>
                  <a:schemeClr val="tx1"/>
                </a:solidFill>
              </a:rPr>
              <a:t>短语指定列值应该满足的条件</a:t>
            </a:r>
            <a:endParaRPr lang="en-US" altLang="zh-CN" dirty="0">
              <a:solidFill>
                <a:schemeClr val="tx1"/>
              </a:solidFill>
            </a:endParaRPr>
          </a:p>
          <a:p>
            <a:pPr indent="-369888" algn="just"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solidFill>
                  <a:srgbClr val="FF0000"/>
                </a:solidFill>
              </a:rPr>
              <a:t>例：</a:t>
            </a:r>
            <a:r>
              <a:rPr lang="en-US" altLang="zh-CN" dirty="0">
                <a:solidFill>
                  <a:srgbClr val="FF0000"/>
                </a:solidFill>
              </a:rPr>
              <a:t>Student</a:t>
            </a:r>
            <a:r>
              <a:rPr lang="zh-CN" altLang="en-US" dirty="0">
                <a:solidFill>
                  <a:srgbClr val="FF0000"/>
                </a:solidFill>
              </a:rPr>
              <a:t>表的</a:t>
            </a:r>
            <a:r>
              <a:rPr lang="en-US" altLang="zh-CN" dirty="0" err="1">
                <a:solidFill>
                  <a:srgbClr val="FF0000"/>
                </a:solidFill>
              </a:rPr>
              <a:t>Ssex</a:t>
            </a:r>
            <a:r>
              <a:rPr lang="zh-CN" altLang="en-US" dirty="0">
                <a:solidFill>
                  <a:srgbClr val="FF0000"/>
                </a:solidFill>
              </a:rPr>
              <a:t>只允许取“男”或“女”。</a:t>
            </a:r>
            <a:endParaRPr lang="en-US" altLang="zh-CN" dirty="0">
              <a:solidFill>
                <a:srgbClr val="FF0000"/>
              </a:solidFill>
            </a:endParaRPr>
          </a:p>
          <a:p>
            <a:pPr marL="85725" indent="814388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CREATE TABLE Student</a:t>
            </a:r>
          </a:p>
          <a:p>
            <a:pPr marL="85725" indent="814388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     (Sno CHAR(8)  PRIMARY KEY,     /*</a:t>
            </a:r>
            <a:r>
              <a:rPr lang="zh-CN" altLang="en-US" dirty="0">
                <a:solidFill>
                  <a:schemeClr val="tx1"/>
                </a:solidFill>
              </a:rPr>
              <a:t>在列级定义主码*</a:t>
            </a:r>
            <a:r>
              <a:rPr lang="en-US" altLang="zh-CN" dirty="0">
                <a:solidFill>
                  <a:schemeClr val="tx1"/>
                </a:solidFill>
              </a:rPr>
              <a:t>/</a:t>
            </a:r>
          </a:p>
          <a:p>
            <a:pPr marL="85725" indent="814388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     </a:t>
            </a:r>
            <a:r>
              <a:rPr lang="en-US" altLang="zh-CN" dirty="0" err="1">
                <a:solidFill>
                  <a:schemeClr val="tx1"/>
                </a:solidFill>
              </a:rPr>
              <a:t>Sname</a:t>
            </a:r>
            <a:r>
              <a:rPr lang="en-US" altLang="zh-CN" dirty="0">
                <a:solidFill>
                  <a:schemeClr val="tx1"/>
                </a:solidFill>
              </a:rPr>
              <a:t> CHAR(20)  NOT NULL,         /* </a:t>
            </a:r>
            <a:r>
              <a:rPr lang="en-US" altLang="zh-CN" dirty="0" err="1">
                <a:solidFill>
                  <a:schemeClr val="tx1"/>
                </a:solidFill>
              </a:rPr>
              <a:t>Sname</a:t>
            </a:r>
            <a:r>
              <a:rPr lang="zh-CN" altLang="en-US" dirty="0">
                <a:solidFill>
                  <a:schemeClr val="tx1"/>
                </a:solidFill>
              </a:rPr>
              <a:t>属性不允许取空值*</a:t>
            </a:r>
            <a:r>
              <a:rPr lang="en-US" altLang="zh-CN" dirty="0">
                <a:solidFill>
                  <a:schemeClr val="tx1"/>
                </a:solidFill>
              </a:rPr>
              <a:t>/</a:t>
            </a:r>
          </a:p>
          <a:p>
            <a:pPr marL="85725" indent="814388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     </a:t>
            </a:r>
            <a:r>
              <a:rPr lang="en-US" altLang="zh-CN" dirty="0" err="1">
                <a:solidFill>
                  <a:schemeClr val="tx1"/>
                </a:solidFill>
              </a:rPr>
              <a:t>Ssex</a:t>
            </a:r>
            <a:r>
              <a:rPr lang="en-US" altLang="zh-CN" dirty="0">
                <a:solidFill>
                  <a:schemeClr val="tx1"/>
                </a:solidFill>
              </a:rPr>
              <a:t>  CHAR(6)  CHECK (</a:t>
            </a:r>
            <a:r>
              <a:rPr lang="en-US" altLang="zh-CN" dirty="0" err="1">
                <a:solidFill>
                  <a:schemeClr val="tx1"/>
                </a:solidFill>
              </a:rPr>
              <a:t>Ssex</a:t>
            </a:r>
            <a:r>
              <a:rPr lang="en-US" altLang="zh-CN" dirty="0">
                <a:solidFill>
                  <a:schemeClr val="tx1"/>
                </a:solidFill>
              </a:rPr>
              <a:t> IN ('</a:t>
            </a:r>
            <a:r>
              <a:rPr lang="zh-CN" altLang="en-US" dirty="0">
                <a:solidFill>
                  <a:schemeClr val="tx1"/>
                </a:solidFill>
              </a:rPr>
              <a:t>男</a:t>
            </a:r>
            <a:r>
              <a:rPr lang="en-US" altLang="zh-CN" dirty="0">
                <a:solidFill>
                  <a:schemeClr val="tx1"/>
                </a:solidFill>
              </a:rPr>
              <a:t>','</a:t>
            </a:r>
            <a:r>
              <a:rPr lang="zh-CN" altLang="en-US" dirty="0">
                <a:solidFill>
                  <a:schemeClr val="tx1"/>
                </a:solidFill>
              </a:rPr>
              <a:t>女</a:t>
            </a:r>
            <a:r>
              <a:rPr lang="en-US" altLang="zh-CN" dirty="0">
                <a:solidFill>
                  <a:schemeClr val="tx1"/>
                </a:solidFill>
              </a:rPr>
              <a:t>') ),    </a:t>
            </a:r>
          </a:p>
          <a:p>
            <a:pPr marL="85725" indent="814388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                                                             /*</a:t>
            </a:r>
            <a:r>
              <a:rPr lang="zh-CN" altLang="en-US" dirty="0">
                <a:solidFill>
                  <a:schemeClr val="tx1"/>
                </a:solidFill>
              </a:rPr>
              <a:t>性别属性</a:t>
            </a:r>
            <a:r>
              <a:rPr lang="en-US" altLang="zh-CN" dirty="0" err="1">
                <a:solidFill>
                  <a:schemeClr val="tx1"/>
                </a:solidFill>
              </a:rPr>
              <a:t>Ssex</a:t>
            </a:r>
            <a:r>
              <a:rPr lang="zh-CN" altLang="en-US" dirty="0">
                <a:solidFill>
                  <a:schemeClr val="tx1"/>
                </a:solidFill>
              </a:rPr>
              <a:t>只允许取</a:t>
            </a:r>
            <a:r>
              <a:rPr lang="en-US" altLang="zh-CN" dirty="0">
                <a:solidFill>
                  <a:schemeClr val="tx1"/>
                </a:solidFill>
              </a:rPr>
              <a:t>'</a:t>
            </a:r>
            <a:r>
              <a:rPr lang="zh-CN" altLang="en-US" dirty="0">
                <a:solidFill>
                  <a:schemeClr val="tx1"/>
                </a:solidFill>
              </a:rPr>
              <a:t>男</a:t>
            </a:r>
            <a:r>
              <a:rPr lang="en-US" altLang="zh-CN" dirty="0">
                <a:solidFill>
                  <a:schemeClr val="tx1"/>
                </a:solidFill>
              </a:rPr>
              <a:t>'</a:t>
            </a:r>
            <a:r>
              <a:rPr lang="zh-CN" altLang="en-US" dirty="0">
                <a:solidFill>
                  <a:schemeClr val="tx1"/>
                </a:solidFill>
              </a:rPr>
              <a:t>或</a:t>
            </a:r>
            <a:r>
              <a:rPr lang="en-US" altLang="zh-CN" dirty="0">
                <a:solidFill>
                  <a:schemeClr val="tx1"/>
                </a:solidFill>
              </a:rPr>
              <a:t>'</a:t>
            </a:r>
            <a:r>
              <a:rPr lang="zh-CN" altLang="en-US" dirty="0">
                <a:solidFill>
                  <a:schemeClr val="tx1"/>
                </a:solidFill>
              </a:rPr>
              <a:t>女</a:t>
            </a:r>
            <a:r>
              <a:rPr lang="en-US" altLang="zh-CN" dirty="0">
                <a:solidFill>
                  <a:schemeClr val="tx1"/>
                </a:solidFill>
              </a:rPr>
              <a:t>' */</a:t>
            </a:r>
          </a:p>
          <a:p>
            <a:pPr marL="85725" indent="814388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	 </a:t>
            </a:r>
            <a:r>
              <a:rPr lang="en-US" altLang="zh-CN" dirty="0" err="1">
                <a:solidFill>
                  <a:schemeClr val="tx1"/>
                </a:solidFill>
              </a:rPr>
              <a:t>Sbirthdate</a:t>
            </a:r>
            <a:r>
              <a:rPr lang="en-US" altLang="zh-CN" dirty="0">
                <a:solidFill>
                  <a:schemeClr val="tx1"/>
                </a:solidFill>
              </a:rPr>
              <a:t> Date, </a:t>
            </a:r>
          </a:p>
          <a:p>
            <a:pPr marL="85725" indent="814388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	 </a:t>
            </a:r>
            <a:r>
              <a:rPr lang="en-US" altLang="zh-CN" dirty="0" err="1">
                <a:solidFill>
                  <a:schemeClr val="tx1"/>
                </a:solidFill>
              </a:rPr>
              <a:t>Smajor</a:t>
            </a:r>
            <a:r>
              <a:rPr lang="en-US" altLang="zh-CN" dirty="0">
                <a:solidFill>
                  <a:schemeClr val="tx1"/>
                </a:solidFill>
              </a:rPr>
              <a:t>  VARCHAR(40)</a:t>
            </a:r>
          </a:p>
          <a:p>
            <a:pPr marL="85725" indent="814388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	);</a:t>
            </a:r>
          </a:p>
        </p:txBody>
      </p:sp>
    </p:spTree>
    <p:extLst>
      <p:ext uri="{BB962C8B-B14F-4D97-AF65-F5344CB8AC3E}">
        <p14:creationId xmlns:p14="http://schemas.microsoft.com/office/powerpoint/2010/main" val="38865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E45EA-ADBD-9BF7-25F3-3FACF930D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4F5DA157-A637-C7C1-380C-F5482E352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8.1  </a:t>
            </a:r>
            <a:r>
              <a:rPr lang="zh-CN" altLang="en-US" dirty="0"/>
              <a:t>数据库完整性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E84C739C-F57E-B766-D8F3-C02ACC05A7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125" y="1056640"/>
            <a:ext cx="10978515" cy="76517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4. </a:t>
            </a:r>
            <a:r>
              <a:rPr lang="zh-CN" altLang="en-US" dirty="0"/>
              <a:t>用户定义的完整性</a:t>
            </a:r>
            <a:r>
              <a:rPr lang="en-US" altLang="zh-CN" dirty="0"/>
              <a:t>-</a:t>
            </a:r>
            <a:r>
              <a:rPr lang="zh-CN" altLang="en-US" dirty="0">
                <a:solidFill>
                  <a:schemeClr val="tx1"/>
                </a:solidFill>
              </a:rPr>
              <a:t>属性上的约束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B9F3D5-0C6D-C643-5CD1-94656FBE58FD}"/>
              </a:ext>
            </a:extLst>
          </p:cNvPr>
          <p:cNvSpPr txBox="1">
            <a:spLocks/>
          </p:cNvSpPr>
          <p:nvPr/>
        </p:nvSpPr>
        <p:spPr>
          <a:xfrm>
            <a:off x="599771" y="1677194"/>
            <a:ext cx="10978515" cy="49530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121917" tIns="60958" rIns="121917" bIns="60958" rtlCol="0">
            <a:noAutofit/>
          </a:bodyPr>
          <a:lstStyle>
            <a:lvl1pPr marL="457200" indent="-457200" algn="l" defTabSz="1219835" rtl="0" eaLnBrk="1" latinLnBrk="0" hangingPunct="1">
              <a:lnSpc>
                <a:spcPct val="120000"/>
              </a:lnSpc>
              <a:spcBef>
                <a:spcPct val="20000"/>
              </a:spcBef>
              <a:buSzPct val="80000"/>
              <a:buFont typeface="Wingdings" panose="05000000000000000000" pitchFamily="2" charset="2"/>
              <a:buChar char="l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69888" algn="just"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solidFill>
                  <a:schemeClr val="tx1"/>
                </a:solidFill>
              </a:rPr>
              <a:t>用</a:t>
            </a:r>
            <a:r>
              <a:rPr lang="en-US" altLang="zh-CN" dirty="0">
                <a:solidFill>
                  <a:schemeClr val="tx1"/>
                </a:solidFill>
              </a:rPr>
              <a:t>CHECK</a:t>
            </a:r>
            <a:r>
              <a:rPr lang="zh-CN" altLang="en-US" dirty="0">
                <a:solidFill>
                  <a:schemeClr val="tx1"/>
                </a:solidFill>
              </a:rPr>
              <a:t>短语指定列值应该满足的条件</a:t>
            </a:r>
            <a:endParaRPr lang="en-US" altLang="zh-CN" dirty="0">
              <a:solidFill>
                <a:schemeClr val="tx1"/>
              </a:solidFill>
            </a:endParaRPr>
          </a:p>
          <a:p>
            <a:pPr indent="-369888" algn="just"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solidFill>
                  <a:srgbClr val="FF0000"/>
                </a:solidFill>
              </a:rPr>
              <a:t>例：</a:t>
            </a:r>
            <a:r>
              <a:rPr lang="en-US" altLang="zh-CN" dirty="0">
                <a:solidFill>
                  <a:srgbClr val="FF0000"/>
                </a:solidFill>
              </a:rPr>
              <a:t>SC</a:t>
            </a:r>
            <a:r>
              <a:rPr lang="zh-CN" altLang="en-US" dirty="0">
                <a:solidFill>
                  <a:srgbClr val="FF0000"/>
                </a:solidFill>
              </a:rPr>
              <a:t>表的</a:t>
            </a:r>
            <a:r>
              <a:rPr lang="en-US" altLang="zh-CN" dirty="0">
                <a:solidFill>
                  <a:srgbClr val="FF0000"/>
                </a:solidFill>
              </a:rPr>
              <a:t>Grade</a:t>
            </a:r>
            <a:r>
              <a:rPr lang="zh-CN" altLang="en-US" dirty="0">
                <a:solidFill>
                  <a:srgbClr val="FF0000"/>
                </a:solidFill>
              </a:rPr>
              <a:t>的值应该在</a:t>
            </a:r>
            <a:r>
              <a:rPr lang="en-US" altLang="zh-CN" dirty="0">
                <a:solidFill>
                  <a:srgbClr val="FF0000"/>
                </a:solidFill>
              </a:rPr>
              <a:t>0~100</a:t>
            </a:r>
            <a:r>
              <a:rPr lang="zh-CN" altLang="en-US" dirty="0">
                <a:solidFill>
                  <a:srgbClr val="FF0000"/>
                </a:solidFill>
              </a:rPr>
              <a:t>之间。</a:t>
            </a:r>
            <a:endParaRPr lang="en-US" altLang="zh-CN" dirty="0">
              <a:solidFill>
                <a:srgbClr val="FF0000"/>
              </a:solidFill>
            </a:endParaRPr>
          </a:p>
          <a:p>
            <a:pPr marL="85725" indent="814388" algn="just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chemeClr val="tx1"/>
                </a:solidFill>
              </a:rPr>
              <a:t>CREATE TABLE SC</a:t>
            </a:r>
          </a:p>
          <a:p>
            <a:pPr marL="85725" indent="814388" algn="just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chemeClr val="tx1"/>
                </a:solidFill>
              </a:rPr>
              <a:t>     ( Sno CHAR(8),</a:t>
            </a:r>
          </a:p>
          <a:p>
            <a:pPr marL="85725" indent="814388" algn="just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chemeClr val="tx1"/>
                </a:solidFill>
              </a:rPr>
              <a:t>       </a:t>
            </a:r>
            <a:r>
              <a:rPr lang="en-US" altLang="zh-CN" sz="1800" dirty="0" err="1">
                <a:solidFill>
                  <a:schemeClr val="tx1"/>
                </a:solidFill>
              </a:rPr>
              <a:t>Cno</a:t>
            </a:r>
            <a:r>
              <a:rPr lang="en-US" altLang="zh-CN" sz="1800" dirty="0">
                <a:solidFill>
                  <a:schemeClr val="tx1"/>
                </a:solidFill>
              </a:rPr>
              <a:t> CHAR(5),</a:t>
            </a:r>
          </a:p>
          <a:p>
            <a:pPr marL="85725" indent="814388" algn="just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chemeClr val="tx1"/>
                </a:solidFill>
              </a:rPr>
              <a:t>       Grade SMALLINT CHECK (Grade&gt;=0 AND Grade &lt;=100),     </a:t>
            </a:r>
          </a:p>
          <a:p>
            <a:pPr marL="85725" indent="814388" algn="just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chemeClr val="tx1"/>
                </a:solidFill>
              </a:rPr>
              <a:t>                                                                                               /*Grade</a:t>
            </a:r>
            <a:r>
              <a:rPr lang="zh-CN" altLang="en-US" sz="1800" dirty="0">
                <a:solidFill>
                  <a:schemeClr val="tx1"/>
                </a:solidFill>
              </a:rPr>
              <a:t>取值范围是</a:t>
            </a:r>
            <a:r>
              <a:rPr lang="en-US" altLang="zh-CN" sz="1800" dirty="0">
                <a:solidFill>
                  <a:schemeClr val="tx1"/>
                </a:solidFill>
              </a:rPr>
              <a:t>0~100*/</a:t>
            </a:r>
          </a:p>
          <a:p>
            <a:pPr marL="85725" indent="814388" algn="just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chemeClr val="tx1"/>
                </a:solidFill>
              </a:rPr>
              <a:t>       Semester           CHAR(5), </a:t>
            </a:r>
          </a:p>
          <a:p>
            <a:pPr marL="85725" indent="814388" algn="just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chemeClr val="tx1"/>
                </a:solidFill>
              </a:rPr>
              <a:t>       </a:t>
            </a:r>
            <a:r>
              <a:rPr lang="en-US" altLang="zh-CN" sz="1800" dirty="0" err="1">
                <a:solidFill>
                  <a:schemeClr val="tx1"/>
                </a:solidFill>
              </a:rPr>
              <a:t>Teachingclass</a:t>
            </a:r>
            <a:r>
              <a:rPr lang="en-US" altLang="zh-CN" sz="1800" dirty="0">
                <a:solidFill>
                  <a:schemeClr val="tx1"/>
                </a:solidFill>
              </a:rPr>
              <a:t>   CHAR(8), </a:t>
            </a:r>
          </a:p>
          <a:p>
            <a:pPr marL="85725" indent="814388" algn="just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chemeClr val="tx1"/>
                </a:solidFill>
              </a:rPr>
              <a:t>       PRIMARY KEY (Sno, </a:t>
            </a:r>
            <a:r>
              <a:rPr lang="en-US" altLang="zh-CN" sz="1800" dirty="0" err="1">
                <a:solidFill>
                  <a:schemeClr val="tx1"/>
                </a:solidFill>
              </a:rPr>
              <a:t>Cno</a:t>
            </a:r>
            <a:r>
              <a:rPr lang="en-US" altLang="zh-CN" sz="1800" dirty="0">
                <a:solidFill>
                  <a:schemeClr val="tx1"/>
                </a:solidFill>
              </a:rPr>
              <a:t>),</a:t>
            </a:r>
          </a:p>
          <a:p>
            <a:pPr marL="85725" indent="814388" algn="just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chemeClr val="tx1"/>
                </a:solidFill>
              </a:rPr>
              <a:t>       FOREIGN KEY (Sno) REFERENCES Student(Sno),</a:t>
            </a:r>
          </a:p>
          <a:p>
            <a:pPr marL="85725" indent="814388" algn="just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chemeClr val="tx1"/>
                </a:solidFill>
              </a:rPr>
              <a:t>       FOREIGN KEY (</a:t>
            </a:r>
            <a:r>
              <a:rPr lang="en-US" altLang="zh-CN" sz="1800" dirty="0" err="1">
                <a:solidFill>
                  <a:schemeClr val="tx1"/>
                </a:solidFill>
              </a:rPr>
              <a:t>Cno</a:t>
            </a:r>
            <a:r>
              <a:rPr lang="en-US" altLang="zh-CN" sz="1800" dirty="0">
                <a:solidFill>
                  <a:schemeClr val="tx1"/>
                </a:solidFill>
              </a:rPr>
              <a:t>) REFERENCES Course(</a:t>
            </a:r>
            <a:r>
              <a:rPr lang="en-US" altLang="zh-CN" sz="1800" dirty="0" err="1">
                <a:solidFill>
                  <a:schemeClr val="tx1"/>
                </a:solidFill>
              </a:rPr>
              <a:t>Cno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</a:p>
          <a:p>
            <a:pPr marL="85725" indent="814388" algn="just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chemeClr val="tx1"/>
                </a:solidFill>
              </a:rPr>
              <a:t>     );</a:t>
            </a:r>
          </a:p>
        </p:txBody>
      </p:sp>
    </p:spTree>
    <p:extLst>
      <p:ext uri="{BB962C8B-B14F-4D97-AF65-F5344CB8AC3E}">
        <p14:creationId xmlns:p14="http://schemas.microsoft.com/office/powerpoint/2010/main" val="4084071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D0963-196D-6E65-44A1-F443D26DA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1409316-D46D-4A71-929F-072BEC540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8.1  </a:t>
            </a:r>
            <a:r>
              <a:rPr lang="zh-CN" altLang="en-US" dirty="0"/>
              <a:t>数据库完整性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8004EEE2-10A9-41B9-69AD-4EB32866CB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125" y="1056640"/>
            <a:ext cx="10978515" cy="76517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4. </a:t>
            </a:r>
            <a:r>
              <a:rPr lang="zh-CN" altLang="en-US" dirty="0"/>
              <a:t>用户定义的完整性</a:t>
            </a:r>
            <a:r>
              <a:rPr lang="en-US" altLang="zh-CN" dirty="0"/>
              <a:t>-</a:t>
            </a:r>
            <a:r>
              <a:rPr lang="zh-CN" altLang="en-US" dirty="0">
                <a:solidFill>
                  <a:schemeClr val="tx1"/>
                </a:solidFill>
              </a:rPr>
              <a:t>属性上的约束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6304CD-AA8E-2D6F-0659-2198CCA3DB79}"/>
              </a:ext>
            </a:extLst>
          </p:cNvPr>
          <p:cNvSpPr txBox="1">
            <a:spLocks/>
          </p:cNvSpPr>
          <p:nvPr/>
        </p:nvSpPr>
        <p:spPr>
          <a:xfrm>
            <a:off x="599771" y="1677194"/>
            <a:ext cx="10978515" cy="17526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121917" tIns="60958" rIns="121917" bIns="60958" rtlCol="0">
            <a:noAutofit/>
          </a:bodyPr>
          <a:lstStyle>
            <a:lvl1pPr marL="457200" indent="-457200" algn="l" defTabSz="1219835" rtl="0" eaLnBrk="1" latinLnBrk="0" hangingPunct="1">
              <a:lnSpc>
                <a:spcPct val="120000"/>
              </a:lnSpc>
              <a:spcBef>
                <a:spcPct val="20000"/>
              </a:spcBef>
              <a:buSzPct val="80000"/>
              <a:buFont typeface="Wingdings" panose="05000000000000000000" pitchFamily="2" charset="2"/>
              <a:buChar char="l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69888" algn="just">
              <a:lnSpc>
                <a:spcPct val="15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/>
                </a:solidFill>
              </a:rPr>
              <a:t>属性上约束的检查和违约处理</a:t>
            </a:r>
            <a:endParaRPr lang="en-US" altLang="zh-CN" dirty="0">
              <a:solidFill>
                <a:schemeClr val="tx1"/>
              </a:solidFill>
            </a:endParaRPr>
          </a:p>
          <a:p>
            <a:pPr marL="803275" indent="-354013"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  <a:latin typeface="+mn-ea"/>
              </a:rPr>
              <a:t>插入元组或修改属性值时，关系数据库管理系统检查属性上的约束是否被满足</a:t>
            </a:r>
          </a:p>
          <a:p>
            <a:pPr marL="803275" indent="-354013"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  <a:latin typeface="+mn-ea"/>
              </a:rPr>
              <a:t>如果不满足则操作被拒绝执行 </a:t>
            </a:r>
          </a:p>
        </p:txBody>
      </p:sp>
    </p:spTree>
    <p:extLst>
      <p:ext uri="{BB962C8B-B14F-4D97-AF65-F5344CB8AC3E}">
        <p14:creationId xmlns:p14="http://schemas.microsoft.com/office/powerpoint/2010/main" val="3504193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22192-10B5-1478-7ADE-817B070A3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29C6C91-E79A-A110-8033-A3646A3AD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8.1  </a:t>
            </a:r>
            <a:r>
              <a:rPr lang="zh-CN" altLang="en-US" dirty="0"/>
              <a:t>数据库完整性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74304A5C-0C98-7579-07E8-08ACF23AC9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125" y="1056640"/>
            <a:ext cx="10978515" cy="76517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4. </a:t>
            </a:r>
            <a:r>
              <a:rPr lang="zh-CN" altLang="en-US" dirty="0"/>
              <a:t>用户定义的完整性</a:t>
            </a:r>
            <a:r>
              <a:rPr lang="en-US" altLang="zh-CN" dirty="0"/>
              <a:t>-</a:t>
            </a:r>
            <a:r>
              <a:rPr lang="zh-CN" altLang="en-US" dirty="0">
                <a:solidFill>
                  <a:schemeClr val="tx1"/>
                </a:solidFill>
              </a:rPr>
              <a:t>元组上的约束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DBB23A-E6FA-D09F-BEE4-A7464B6911EA}"/>
              </a:ext>
            </a:extLst>
          </p:cNvPr>
          <p:cNvSpPr txBox="1">
            <a:spLocks/>
          </p:cNvSpPr>
          <p:nvPr/>
        </p:nvSpPr>
        <p:spPr>
          <a:xfrm>
            <a:off x="599771" y="1677194"/>
            <a:ext cx="10978515" cy="17526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121917" tIns="60958" rIns="121917" bIns="60958" rtlCol="0">
            <a:noAutofit/>
          </a:bodyPr>
          <a:lstStyle>
            <a:lvl1pPr marL="457200" indent="-457200" algn="l" defTabSz="1219835" rtl="0" eaLnBrk="1" latinLnBrk="0" hangingPunct="1">
              <a:lnSpc>
                <a:spcPct val="120000"/>
              </a:lnSpc>
              <a:spcBef>
                <a:spcPct val="20000"/>
              </a:spcBef>
              <a:buSzPct val="80000"/>
              <a:buFont typeface="Wingdings" panose="05000000000000000000" pitchFamily="2" charset="2"/>
              <a:buChar char="l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69888" algn="just">
              <a:lnSpc>
                <a:spcPct val="15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/>
                </a:solidFill>
              </a:rPr>
              <a:t>元组上约束的定义</a:t>
            </a:r>
            <a:endParaRPr lang="en-US" altLang="zh-CN" dirty="0">
              <a:solidFill>
                <a:schemeClr val="tx1"/>
              </a:solidFill>
            </a:endParaRPr>
          </a:p>
          <a:p>
            <a:pPr marL="803275" indent="-354013"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  <a:latin typeface="+mn-ea"/>
              </a:rPr>
              <a:t>在</a:t>
            </a:r>
            <a:r>
              <a:rPr lang="en-US" altLang="zh-CN" dirty="0">
                <a:solidFill>
                  <a:schemeClr val="tx1"/>
                </a:solidFill>
                <a:latin typeface="+mn-ea"/>
              </a:rPr>
              <a:t>CREATE TABLE</a:t>
            </a:r>
            <a:r>
              <a:rPr lang="zh-CN" altLang="en-US" dirty="0">
                <a:solidFill>
                  <a:schemeClr val="tx1"/>
                </a:solidFill>
                <a:latin typeface="+mn-ea"/>
              </a:rPr>
              <a:t>语句中可以用</a:t>
            </a:r>
            <a:r>
              <a:rPr lang="en-US" altLang="zh-CN" dirty="0">
                <a:solidFill>
                  <a:srgbClr val="FF0000"/>
                </a:solidFill>
                <a:latin typeface="+mn-ea"/>
              </a:rPr>
              <a:t>CHECK</a:t>
            </a:r>
            <a:r>
              <a:rPr lang="zh-CN" altLang="en-US" dirty="0">
                <a:solidFill>
                  <a:schemeClr val="tx1"/>
                </a:solidFill>
                <a:latin typeface="+mn-ea"/>
              </a:rPr>
              <a:t>短语定义元组上的约束，即元组级的限制</a:t>
            </a:r>
          </a:p>
          <a:p>
            <a:pPr marL="803275" indent="-354013"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  <a:latin typeface="+mn-ea"/>
              </a:rPr>
              <a:t>同属性值限制相比，元组级的限制可以设置不同属性之间的取值的相互约束 </a:t>
            </a:r>
          </a:p>
        </p:txBody>
      </p:sp>
    </p:spTree>
    <p:extLst>
      <p:ext uri="{BB962C8B-B14F-4D97-AF65-F5344CB8AC3E}">
        <p14:creationId xmlns:p14="http://schemas.microsoft.com/office/powerpoint/2010/main" val="1470510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19E7B-B38A-7151-2E0C-D8BB46303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A9AB869E-E6B9-A1EA-909F-4C0B96226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8.1  </a:t>
            </a:r>
            <a:r>
              <a:rPr lang="zh-CN" altLang="en-US" dirty="0"/>
              <a:t>数据库完整性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54D385A2-263A-2F70-94E6-4F816597AD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125" y="1056640"/>
            <a:ext cx="10978515" cy="76517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4. </a:t>
            </a:r>
            <a:r>
              <a:rPr lang="zh-CN" altLang="en-US" dirty="0"/>
              <a:t>用户定义的完整性</a:t>
            </a:r>
            <a:r>
              <a:rPr lang="en-US" altLang="zh-CN" dirty="0"/>
              <a:t>-</a:t>
            </a:r>
            <a:r>
              <a:rPr lang="zh-CN" altLang="en-US" dirty="0">
                <a:solidFill>
                  <a:schemeClr val="tx1"/>
                </a:solidFill>
              </a:rPr>
              <a:t>元组上的约束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D4248B-F8D1-7794-424F-9821A6F106FB}"/>
              </a:ext>
            </a:extLst>
          </p:cNvPr>
          <p:cNvSpPr txBox="1">
            <a:spLocks/>
          </p:cNvSpPr>
          <p:nvPr/>
        </p:nvSpPr>
        <p:spPr>
          <a:xfrm>
            <a:off x="599771" y="1677194"/>
            <a:ext cx="10978515" cy="482997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121917" tIns="60958" rIns="121917" bIns="60958" rtlCol="0">
            <a:noAutofit/>
          </a:bodyPr>
          <a:lstStyle>
            <a:lvl1pPr marL="457200" indent="-457200" algn="l" defTabSz="1219835" rtl="0" eaLnBrk="1" latinLnBrk="0" hangingPunct="1">
              <a:lnSpc>
                <a:spcPct val="120000"/>
              </a:lnSpc>
              <a:spcBef>
                <a:spcPct val="20000"/>
              </a:spcBef>
              <a:buSzPct val="80000"/>
              <a:buFont typeface="Wingdings" panose="05000000000000000000" pitchFamily="2" charset="2"/>
              <a:buChar char="l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69888" algn="just">
              <a:lnSpc>
                <a:spcPct val="150000"/>
              </a:lnSpc>
              <a:spcBef>
                <a:spcPts val="600"/>
              </a:spcBef>
            </a:pPr>
            <a:r>
              <a:rPr lang="zh-CN" altLang="en-US" dirty="0">
                <a:solidFill>
                  <a:srgbClr val="FF0000"/>
                </a:solidFill>
              </a:rPr>
              <a:t>例：当学生的性别是男时，其名字不能以</a:t>
            </a:r>
            <a:r>
              <a:rPr lang="en-US" altLang="zh-CN" dirty="0">
                <a:solidFill>
                  <a:srgbClr val="FF0000"/>
                </a:solidFill>
              </a:rPr>
              <a:t>Ms.</a:t>
            </a:r>
            <a:r>
              <a:rPr lang="zh-CN" altLang="en-US" dirty="0">
                <a:solidFill>
                  <a:srgbClr val="FF0000"/>
                </a:solidFill>
              </a:rPr>
              <a:t>打头</a:t>
            </a:r>
          </a:p>
          <a:p>
            <a:pPr marL="900113" indent="87313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  <a:latin typeface="+mn-ea"/>
              </a:rPr>
              <a:t>CREATE TABLE Student</a:t>
            </a:r>
          </a:p>
          <a:p>
            <a:pPr marL="900113" indent="87313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  <a:latin typeface="+mn-ea"/>
              </a:rPr>
              <a:t>      ( Sno CHAR(8),</a:t>
            </a:r>
          </a:p>
          <a:p>
            <a:pPr marL="900113" indent="87313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  <a:latin typeface="+mn-ea"/>
              </a:rPr>
              <a:t>        </a:t>
            </a:r>
            <a:r>
              <a:rPr lang="en-US" altLang="zh-CN" dirty="0" err="1">
                <a:solidFill>
                  <a:schemeClr val="tx1"/>
                </a:solidFill>
                <a:latin typeface="+mn-ea"/>
              </a:rPr>
              <a:t>Sname</a:t>
            </a:r>
            <a:r>
              <a:rPr lang="en-US" altLang="zh-CN" dirty="0">
                <a:solidFill>
                  <a:schemeClr val="tx1"/>
                </a:solidFill>
                <a:latin typeface="+mn-ea"/>
              </a:rPr>
              <a:t> CHAR(20) NOT NULL,</a:t>
            </a:r>
          </a:p>
          <a:p>
            <a:pPr marL="900113" indent="87313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  <a:latin typeface="+mn-ea"/>
              </a:rPr>
              <a:t>        </a:t>
            </a:r>
            <a:r>
              <a:rPr lang="en-US" altLang="zh-CN" dirty="0" err="1">
                <a:solidFill>
                  <a:schemeClr val="tx1"/>
                </a:solidFill>
                <a:latin typeface="+mn-ea"/>
              </a:rPr>
              <a:t>Ssex</a:t>
            </a:r>
            <a:r>
              <a:rPr lang="en-US" altLang="zh-CN" dirty="0">
                <a:solidFill>
                  <a:schemeClr val="tx1"/>
                </a:solidFill>
                <a:latin typeface="+mn-ea"/>
              </a:rPr>
              <a:t> CHAR(6),</a:t>
            </a:r>
          </a:p>
          <a:p>
            <a:pPr marL="900113" indent="87313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  <a:latin typeface="+mn-ea"/>
              </a:rPr>
              <a:t>        </a:t>
            </a:r>
            <a:r>
              <a:rPr lang="en-US" altLang="zh-CN" dirty="0" err="1">
                <a:solidFill>
                  <a:schemeClr val="tx1"/>
                </a:solidFill>
                <a:latin typeface="+mn-ea"/>
              </a:rPr>
              <a:t>Sbirthdate</a:t>
            </a:r>
            <a:r>
              <a:rPr lang="en-US" altLang="zh-CN" dirty="0">
                <a:solidFill>
                  <a:schemeClr val="tx1"/>
                </a:solidFill>
                <a:latin typeface="+mn-ea"/>
              </a:rPr>
              <a:t> Date, </a:t>
            </a:r>
          </a:p>
          <a:p>
            <a:pPr marL="900113" indent="87313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  <a:latin typeface="+mn-ea"/>
              </a:rPr>
              <a:t>        </a:t>
            </a:r>
            <a:r>
              <a:rPr lang="en-US" altLang="zh-CN" dirty="0" err="1">
                <a:solidFill>
                  <a:schemeClr val="tx1"/>
                </a:solidFill>
                <a:latin typeface="+mn-ea"/>
              </a:rPr>
              <a:t>Smajor</a:t>
            </a:r>
            <a:r>
              <a:rPr lang="en-US" altLang="zh-CN" dirty="0">
                <a:solidFill>
                  <a:schemeClr val="tx1"/>
                </a:solidFill>
                <a:latin typeface="+mn-ea"/>
              </a:rPr>
              <a:t>  VARCHAR(40),</a:t>
            </a:r>
          </a:p>
          <a:p>
            <a:pPr marL="900113" indent="87313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  <a:latin typeface="+mn-ea"/>
              </a:rPr>
              <a:t>        PRIMARY KEY (Sno),</a:t>
            </a:r>
          </a:p>
          <a:p>
            <a:pPr marL="900113" indent="87313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  <a:latin typeface="+mn-ea"/>
              </a:rPr>
              <a:t>        CHECK (</a:t>
            </a:r>
            <a:r>
              <a:rPr lang="en-US" altLang="zh-CN" dirty="0" err="1">
                <a:solidFill>
                  <a:schemeClr val="tx1"/>
                </a:solidFill>
                <a:latin typeface="+mn-ea"/>
              </a:rPr>
              <a:t>Ssex</a:t>
            </a:r>
            <a:r>
              <a:rPr lang="en-US" altLang="zh-CN" dirty="0">
                <a:solidFill>
                  <a:schemeClr val="tx1"/>
                </a:solidFill>
                <a:latin typeface="+mn-ea"/>
              </a:rPr>
              <a:t>='</a:t>
            </a:r>
            <a:r>
              <a:rPr lang="zh-CN" altLang="en-US" dirty="0">
                <a:solidFill>
                  <a:schemeClr val="tx1"/>
                </a:solidFill>
                <a:latin typeface="+mn-ea"/>
              </a:rPr>
              <a:t>女</a:t>
            </a:r>
            <a:r>
              <a:rPr lang="en-US" altLang="zh-CN" dirty="0">
                <a:solidFill>
                  <a:schemeClr val="tx1"/>
                </a:solidFill>
                <a:latin typeface="+mn-ea"/>
              </a:rPr>
              <a:t>' OR </a:t>
            </a:r>
            <a:r>
              <a:rPr lang="en-US" altLang="zh-CN" dirty="0" err="1">
                <a:solidFill>
                  <a:schemeClr val="tx1"/>
                </a:solidFill>
                <a:latin typeface="+mn-ea"/>
              </a:rPr>
              <a:t>Sname</a:t>
            </a:r>
            <a:r>
              <a:rPr lang="en-US" altLang="zh-CN" dirty="0">
                <a:solidFill>
                  <a:schemeClr val="tx1"/>
                </a:solidFill>
                <a:latin typeface="+mn-ea"/>
              </a:rPr>
              <a:t> NOT LIKE 'Ms.%')</a:t>
            </a:r>
          </a:p>
          <a:p>
            <a:pPr marL="900113" indent="87313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  <a:latin typeface="+mn-ea"/>
              </a:rPr>
              <a:t>   );                      /*</a:t>
            </a:r>
            <a:r>
              <a:rPr lang="zh-CN" altLang="en-US" dirty="0">
                <a:solidFill>
                  <a:schemeClr val="tx1"/>
                </a:solidFill>
                <a:latin typeface="+mn-ea"/>
              </a:rPr>
              <a:t>定义了元组中</a:t>
            </a:r>
            <a:r>
              <a:rPr lang="en-US" altLang="zh-CN" dirty="0" err="1">
                <a:solidFill>
                  <a:schemeClr val="tx1"/>
                </a:solidFill>
                <a:latin typeface="+mn-ea"/>
              </a:rPr>
              <a:t>Sname</a:t>
            </a:r>
            <a:r>
              <a:rPr lang="zh-CN" altLang="en-US" dirty="0">
                <a:solidFill>
                  <a:schemeClr val="tx1"/>
                </a:solidFill>
                <a:latin typeface="+mn-ea"/>
              </a:rPr>
              <a:t>和 </a:t>
            </a:r>
            <a:r>
              <a:rPr lang="en-US" altLang="zh-CN" dirty="0" err="1">
                <a:solidFill>
                  <a:schemeClr val="tx1"/>
                </a:solidFill>
                <a:latin typeface="+mn-ea"/>
              </a:rPr>
              <a:t>Ssex</a:t>
            </a:r>
            <a:r>
              <a:rPr lang="zh-CN" altLang="en-US" dirty="0">
                <a:solidFill>
                  <a:schemeClr val="tx1"/>
                </a:solidFill>
                <a:latin typeface="+mn-ea"/>
              </a:rPr>
              <a:t>两个属性值之间的约束条件*</a:t>
            </a:r>
            <a:r>
              <a:rPr lang="en-US" altLang="zh-CN" dirty="0">
                <a:solidFill>
                  <a:schemeClr val="tx1"/>
                </a:solidFill>
                <a:latin typeface="+mn-ea"/>
              </a:rPr>
              <a:t>/</a:t>
            </a:r>
          </a:p>
          <a:p>
            <a:pPr marL="803275" indent="-354013"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endParaRPr lang="en-US" altLang="zh-CN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" name="标注: 线形(带边框和强调线) 6">
            <a:extLst>
              <a:ext uri="{FF2B5EF4-FFF2-40B4-BE49-F238E27FC236}">
                <a16:creationId xmlns:a16="http://schemas.microsoft.com/office/drawing/2014/main" id="{6B1BF36A-22FB-FE07-0961-02DEF91533BE}"/>
              </a:ext>
            </a:extLst>
          </p:cNvPr>
          <p:cNvSpPr/>
          <p:nvPr/>
        </p:nvSpPr>
        <p:spPr>
          <a:xfrm>
            <a:off x="5946775" y="4420394"/>
            <a:ext cx="5105400" cy="994490"/>
          </a:xfrm>
          <a:prstGeom prst="accentBorderCallout1">
            <a:avLst>
              <a:gd name="adj1" fmla="val 58022"/>
              <a:gd name="adj2" fmla="val -5072"/>
              <a:gd name="adj3" fmla="val 102118"/>
              <a:gd name="adj4" fmla="val -27190"/>
            </a:avLst>
          </a:prstGeom>
          <a:ln w="12700"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800" dirty="0"/>
              <a:t>性别是女性的元组都能通过该项</a:t>
            </a:r>
            <a:r>
              <a:rPr lang="en-US" altLang="zh-CN" sz="1800" dirty="0"/>
              <a:t>CHECK</a:t>
            </a:r>
            <a:r>
              <a:rPr lang="zh-CN" altLang="en-US" sz="1800" dirty="0"/>
              <a:t>检查；</a:t>
            </a:r>
            <a:endParaRPr lang="en-US" altLang="zh-CN" sz="1800" dirty="0"/>
          </a:p>
          <a:p>
            <a:pPr marL="285750" indent="-285750"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800" dirty="0"/>
              <a:t>当性别是男性时，要通过检查则名字一定不能以’</a:t>
            </a:r>
            <a:r>
              <a:rPr lang="en-US" altLang="zh-CN" sz="1800" dirty="0"/>
              <a:t>Ms.’</a:t>
            </a:r>
            <a:r>
              <a:rPr lang="zh-CN" altLang="en-US" sz="1800" dirty="0"/>
              <a:t>打头。</a:t>
            </a:r>
          </a:p>
        </p:txBody>
      </p:sp>
    </p:spTree>
    <p:extLst>
      <p:ext uri="{BB962C8B-B14F-4D97-AF65-F5344CB8AC3E}">
        <p14:creationId xmlns:p14="http://schemas.microsoft.com/office/powerpoint/2010/main" val="4201409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9C665-CCBF-24F4-7D69-0E71A68C7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EE224EA-87FB-DFB7-89BA-60251D998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8.1  </a:t>
            </a:r>
            <a:r>
              <a:rPr lang="zh-CN" altLang="en-US" dirty="0"/>
              <a:t>数据库完整性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A5084520-CDE3-675E-C9B3-B00C148DBF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125" y="1056640"/>
            <a:ext cx="10978515" cy="76517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4. </a:t>
            </a:r>
            <a:r>
              <a:rPr lang="zh-CN" altLang="en-US" dirty="0"/>
              <a:t>用户定义的完整性</a:t>
            </a:r>
            <a:r>
              <a:rPr lang="en-US" altLang="zh-CN" dirty="0"/>
              <a:t>-</a:t>
            </a:r>
            <a:r>
              <a:rPr lang="zh-CN" altLang="en-US" dirty="0">
                <a:solidFill>
                  <a:schemeClr val="tx1"/>
                </a:solidFill>
              </a:rPr>
              <a:t>元组上的约束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322758-171D-2980-443B-D49573529A6B}"/>
              </a:ext>
            </a:extLst>
          </p:cNvPr>
          <p:cNvSpPr txBox="1">
            <a:spLocks/>
          </p:cNvSpPr>
          <p:nvPr/>
        </p:nvSpPr>
        <p:spPr>
          <a:xfrm>
            <a:off x="599771" y="1677194"/>
            <a:ext cx="10978515" cy="17526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121917" tIns="60958" rIns="121917" bIns="60958" rtlCol="0">
            <a:noAutofit/>
          </a:bodyPr>
          <a:lstStyle>
            <a:lvl1pPr marL="457200" indent="-457200" algn="l" defTabSz="1219835" rtl="0" eaLnBrk="1" latinLnBrk="0" hangingPunct="1">
              <a:lnSpc>
                <a:spcPct val="120000"/>
              </a:lnSpc>
              <a:spcBef>
                <a:spcPct val="20000"/>
              </a:spcBef>
              <a:buSzPct val="80000"/>
              <a:buFont typeface="Wingdings" panose="05000000000000000000" pitchFamily="2" charset="2"/>
              <a:buChar char="l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69888" algn="just">
              <a:lnSpc>
                <a:spcPct val="15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/>
                </a:solidFill>
              </a:rPr>
              <a:t>元组上约束的检查和违约处理</a:t>
            </a:r>
            <a:endParaRPr lang="en-US" altLang="zh-CN" dirty="0">
              <a:solidFill>
                <a:schemeClr val="tx1"/>
              </a:solidFill>
            </a:endParaRPr>
          </a:p>
          <a:p>
            <a:pPr marL="803275" indent="-354013"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  <a:latin typeface="+mn-ea"/>
              </a:rPr>
              <a:t>插入元组或修改属性的值时，关系数据库管理系统检查元组上的约束是否被满足</a:t>
            </a:r>
          </a:p>
          <a:p>
            <a:pPr marL="803275" indent="-354013"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  <a:latin typeface="+mn-ea"/>
              </a:rPr>
              <a:t>如果不满足则操作被拒绝执行 </a:t>
            </a:r>
            <a:endParaRPr lang="en-US" altLang="zh-CN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22006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4A7AB-9139-1CA9-A820-7C0097336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82842369-B110-2FFE-C91B-73A8D7C11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8.1  </a:t>
            </a:r>
            <a:r>
              <a:rPr lang="zh-CN" altLang="en-US" dirty="0"/>
              <a:t>数据库完整性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17B31BA0-6419-69D0-9D7B-4927527805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125" y="1056640"/>
            <a:ext cx="10978515" cy="76517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5. </a:t>
            </a:r>
            <a:r>
              <a:rPr lang="zh-CN" altLang="en-US" dirty="0"/>
              <a:t>完整性约束命名子句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BE7720-8F2E-41B3-2109-39BD967EDAFB}"/>
              </a:ext>
            </a:extLst>
          </p:cNvPr>
          <p:cNvSpPr txBox="1">
            <a:spLocks/>
          </p:cNvSpPr>
          <p:nvPr/>
        </p:nvSpPr>
        <p:spPr>
          <a:xfrm>
            <a:off x="599771" y="1677194"/>
            <a:ext cx="10978515" cy="21336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121917" tIns="60958" rIns="121917" bIns="60958" rtlCol="0">
            <a:noAutofit/>
          </a:bodyPr>
          <a:lstStyle>
            <a:lvl1pPr marL="457200" indent="-457200" algn="l" defTabSz="1219835" rtl="0" eaLnBrk="1" latinLnBrk="0" hangingPunct="1">
              <a:lnSpc>
                <a:spcPct val="120000"/>
              </a:lnSpc>
              <a:spcBef>
                <a:spcPct val="20000"/>
              </a:spcBef>
              <a:buSzPct val="80000"/>
              <a:buFont typeface="Wingdings" panose="05000000000000000000" pitchFamily="2" charset="2"/>
              <a:buChar char="l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69888" algn="just">
              <a:lnSpc>
                <a:spcPct val="15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/>
                </a:solidFill>
              </a:rPr>
              <a:t>完整性约束命名子句格式</a:t>
            </a:r>
          </a:p>
          <a:p>
            <a:pPr marL="803275" indent="-354013"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chemeClr val="tx1"/>
                </a:solidFill>
              </a:rPr>
              <a:t>CONSTRAINT &lt;</a:t>
            </a:r>
            <a:r>
              <a:rPr lang="zh-CN" altLang="en-US" dirty="0">
                <a:solidFill>
                  <a:schemeClr val="tx1"/>
                </a:solidFill>
              </a:rPr>
              <a:t>完整性约束名</a:t>
            </a:r>
            <a:r>
              <a:rPr lang="en-US" altLang="zh-CN" dirty="0">
                <a:solidFill>
                  <a:schemeClr val="tx1"/>
                </a:solidFill>
              </a:rPr>
              <a:t>&gt;&lt;</a:t>
            </a:r>
            <a:r>
              <a:rPr lang="zh-CN" altLang="en-US" dirty="0">
                <a:solidFill>
                  <a:schemeClr val="tx1"/>
                </a:solidFill>
              </a:rPr>
              <a:t>完整性约束</a:t>
            </a:r>
            <a:r>
              <a:rPr lang="en-US" altLang="zh-CN" dirty="0">
                <a:solidFill>
                  <a:schemeClr val="tx1"/>
                </a:solidFill>
              </a:rPr>
              <a:t>&gt;</a:t>
            </a:r>
          </a:p>
        </p:txBody>
      </p:sp>
      <p:sp>
        <p:nvSpPr>
          <p:cNvPr id="2" name="标注: 线形(带边框和强调线) 1">
            <a:extLst>
              <a:ext uri="{FF2B5EF4-FFF2-40B4-BE49-F238E27FC236}">
                <a16:creationId xmlns:a16="http://schemas.microsoft.com/office/drawing/2014/main" id="{B41C0110-DB56-6DFA-F8EC-ADDE23416DDC}"/>
              </a:ext>
            </a:extLst>
          </p:cNvPr>
          <p:cNvSpPr/>
          <p:nvPr/>
        </p:nvSpPr>
        <p:spPr>
          <a:xfrm>
            <a:off x="4346575" y="2820194"/>
            <a:ext cx="7086600" cy="838200"/>
          </a:xfrm>
          <a:prstGeom prst="accentBorderCallout1">
            <a:avLst>
              <a:gd name="adj1" fmla="val 15231"/>
              <a:gd name="adj2" fmla="val -2714"/>
              <a:gd name="adj3" fmla="val -17705"/>
              <a:gd name="adj4" fmla="val 17948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altLang="zh-CN" sz="2000" dirty="0">
                <a:latin typeface="+mn-ea"/>
              </a:rPr>
              <a:t>&lt;</a:t>
            </a:r>
            <a:r>
              <a:rPr lang="zh-CN" altLang="en-US" sz="2000" dirty="0">
                <a:latin typeface="+mn-ea"/>
              </a:rPr>
              <a:t>完整性约束</a:t>
            </a:r>
            <a:r>
              <a:rPr lang="en-US" altLang="zh-CN" sz="2000" dirty="0">
                <a:latin typeface="+mn-ea"/>
              </a:rPr>
              <a:t>&gt;</a:t>
            </a:r>
            <a:r>
              <a:rPr lang="zh-CN" altLang="en-US" sz="2000" dirty="0">
                <a:latin typeface="+mn-ea"/>
              </a:rPr>
              <a:t>包括</a:t>
            </a:r>
            <a:r>
              <a:rPr lang="en-US" altLang="zh-CN" sz="2000" dirty="0">
                <a:latin typeface="+mn-ea"/>
              </a:rPr>
              <a:t>NOT NULL</a:t>
            </a:r>
            <a:r>
              <a:rPr lang="zh-CN" altLang="en-US" sz="2000" dirty="0">
                <a:latin typeface="+mn-ea"/>
              </a:rPr>
              <a:t>、</a:t>
            </a:r>
            <a:r>
              <a:rPr lang="en-US" altLang="zh-CN" sz="2000" dirty="0">
                <a:latin typeface="+mn-ea"/>
              </a:rPr>
              <a:t>UNIQUE</a:t>
            </a:r>
            <a:r>
              <a:rPr lang="zh-CN" altLang="en-US" sz="2000" dirty="0">
                <a:latin typeface="+mn-ea"/>
              </a:rPr>
              <a:t>、</a:t>
            </a:r>
            <a:r>
              <a:rPr lang="en-US" altLang="zh-CN" sz="2000" dirty="0">
                <a:latin typeface="+mn-ea"/>
              </a:rPr>
              <a:t>PRIMARY KEY</a:t>
            </a:r>
            <a:r>
              <a:rPr lang="zh-CN" altLang="en-US" sz="2000" dirty="0">
                <a:latin typeface="+mn-ea"/>
              </a:rPr>
              <a:t>、</a:t>
            </a:r>
            <a:r>
              <a:rPr lang="en-US" altLang="zh-CN" sz="2000" dirty="0">
                <a:latin typeface="+mn-ea"/>
              </a:rPr>
              <a:t>FOREIGN KEY</a:t>
            </a:r>
            <a:r>
              <a:rPr lang="zh-CN" altLang="en-US" sz="2000" dirty="0">
                <a:latin typeface="+mn-ea"/>
              </a:rPr>
              <a:t>、</a:t>
            </a:r>
            <a:r>
              <a:rPr lang="en-US" altLang="zh-CN" sz="2000" dirty="0">
                <a:latin typeface="+mn-ea"/>
              </a:rPr>
              <a:t>CHECK</a:t>
            </a:r>
            <a:r>
              <a:rPr lang="zh-CN" altLang="en-US" sz="2000" dirty="0">
                <a:latin typeface="+mn-ea"/>
              </a:rPr>
              <a:t>短语等</a:t>
            </a:r>
          </a:p>
        </p:txBody>
      </p:sp>
    </p:spTree>
    <p:extLst>
      <p:ext uri="{BB962C8B-B14F-4D97-AF65-F5344CB8AC3E}">
        <p14:creationId xmlns:p14="http://schemas.microsoft.com/office/powerpoint/2010/main" val="3507449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B9E28-C21C-20C4-F26E-01014968F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A4961649-DD52-F116-F66B-11B208F38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8.1  </a:t>
            </a:r>
            <a:r>
              <a:rPr lang="zh-CN" altLang="en-US" dirty="0"/>
              <a:t>数据库完整性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640F683E-27CF-FB11-C664-66E88EBDA0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125" y="1056640"/>
            <a:ext cx="10978515" cy="76517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5. </a:t>
            </a:r>
            <a:r>
              <a:rPr lang="zh-CN" altLang="en-US" dirty="0"/>
              <a:t>完整性约束命名子句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169590-8B31-03E1-492A-D3205AB22CE4}"/>
              </a:ext>
            </a:extLst>
          </p:cNvPr>
          <p:cNvSpPr txBox="1">
            <a:spLocks/>
          </p:cNvSpPr>
          <p:nvPr/>
        </p:nvSpPr>
        <p:spPr>
          <a:xfrm>
            <a:off x="599771" y="1677194"/>
            <a:ext cx="10978515" cy="50292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121917" tIns="60958" rIns="121917" bIns="60958" rtlCol="0">
            <a:noAutofit/>
          </a:bodyPr>
          <a:lstStyle>
            <a:lvl1pPr marL="457200" indent="-457200" algn="l" defTabSz="1219835" rtl="0" eaLnBrk="1" latinLnBrk="0" hangingPunct="1">
              <a:lnSpc>
                <a:spcPct val="120000"/>
              </a:lnSpc>
              <a:spcBef>
                <a:spcPct val="20000"/>
              </a:spcBef>
              <a:buSzPct val="80000"/>
              <a:buFont typeface="Wingdings" panose="05000000000000000000" pitchFamily="2" charset="2"/>
              <a:buChar char="l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69888" algn="just">
              <a:lnSpc>
                <a:spcPct val="130000"/>
              </a:lnSpc>
              <a:spcBef>
                <a:spcPts val="0"/>
              </a:spcBef>
            </a:pPr>
            <a:r>
              <a:rPr lang="zh-CN" altLang="en-US" dirty="0">
                <a:solidFill>
                  <a:srgbClr val="FF0000"/>
                </a:solidFill>
              </a:rPr>
              <a:t>例：建立”学生”登记表</a:t>
            </a:r>
            <a:r>
              <a:rPr lang="en-US" altLang="zh-CN" dirty="0">
                <a:solidFill>
                  <a:srgbClr val="FF0000"/>
                </a:solidFill>
              </a:rPr>
              <a:t>Student</a:t>
            </a:r>
            <a:r>
              <a:rPr lang="zh-CN" altLang="en-US" dirty="0">
                <a:solidFill>
                  <a:srgbClr val="FF0000"/>
                </a:solidFill>
              </a:rPr>
              <a:t>，要求学号在</a:t>
            </a:r>
            <a:r>
              <a:rPr lang="en-US" altLang="zh-CN" dirty="0">
                <a:solidFill>
                  <a:srgbClr val="FF0000"/>
                </a:solidFill>
              </a:rPr>
              <a:t>10000000</a:t>
            </a:r>
            <a:r>
              <a:rPr lang="zh-CN" altLang="en-US" dirty="0">
                <a:solidFill>
                  <a:srgbClr val="FF0000"/>
                </a:solidFill>
              </a:rPr>
              <a:t>～</a:t>
            </a:r>
            <a:r>
              <a:rPr lang="en-US" altLang="zh-CN" dirty="0">
                <a:solidFill>
                  <a:srgbClr val="FF0000"/>
                </a:solidFill>
              </a:rPr>
              <a:t>29999999</a:t>
            </a:r>
            <a:r>
              <a:rPr lang="zh-CN" altLang="en-US" dirty="0">
                <a:solidFill>
                  <a:srgbClr val="FF0000"/>
                </a:solidFill>
              </a:rPr>
              <a:t>之间，姓名不能取空值，出生日期在</a:t>
            </a:r>
            <a:r>
              <a:rPr lang="en-US" altLang="zh-CN" dirty="0">
                <a:solidFill>
                  <a:srgbClr val="FF0000"/>
                </a:solidFill>
              </a:rPr>
              <a:t>1980</a:t>
            </a:r>
            <a:r>
              <a:rPr lang="zh-CN" altLang="en-US" dirty="0">
                <a:solidFill>
                  <a:srgbClr val="FF0000"/>
                </a:solidFill>
              </a:rPr>
              <a:t>年之后，性别只能是“男”或“女”。</a:t>
            </a:r>
          </a:p>
          <a:p>
            <a:pPr marL="85725" indent="358775" algn="just">
              <a:lnSpc>
                <a:spcPct val="130000"/>
              </a:lnSpc>
              <a:spcBef>
                <a:spcPts val="600"/>
              </a:spcBef>
              <a:buNone/>
            </a:pPr>
            <a:r>
              <a:rPr lang="en-US" altLang="zh-CN" sz="1700" dirty="0">
                <a:solidFill>
                  <a:schemeClr val="tx1"/>
                </a:solidFill>
              </a:rPr>
              <a:t>CREATE TABLE Student</a:t>
            </a:r>
          </a:p>
          <a:p>
            <a:pPr marL="87312" indent="0" algn="just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700" dirty="0">
                <a:solidFill>
                  <a:schemeClr val="tx1"/>
                </a:solidFill>
              </a:rPr>
              <a:t>	(Sno CHAR(8)</a:t>
            </a:r>
          </a:p>
          <a:p>
            <a:pPr marL="87312" indent="0" algn="just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700" dirty="0">
                <a:solidFill>
                  <a:schemeClr val="tx1"/>
                </a:solidFill>
              </a:rPr>
              <a:t>	CONSTRAINT C1 CHECK (Sno BETWEEN '10000000' AND '29999999'),</a:t>
            </a:r>
          </a:p>
          <a:p>
            <a:pPr marL="87312" indent="0" algn="just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700" dirty="0">
                <a:solidFill>
                  <a:schemeClr val="tx1"/>
                </a:solidFill>
              </a:rPr>
              <a:t>  	</a:t>
            </a:r>
            <a:r>
              <a:rPr lang="en-US" altLang="zh-CN" sz="1700" dirty="0" err="1">
                <a:solidFill>
                  <a:schemeClr val="tx1"/>
                </a:solidFill>
              </a:rPr>
              <a:t>Sname</a:t>
            </a:r>
            <a:r>
              <a:rPr lang="en-US" altLang="zh-CN" sz="1700" dirty="0">
                <a:solidFill>
                  <a:schemeClr val="tx1"/>
                </a:solidFill>
              </a:rPr>
              <a:t> CHAR(20)  </a:t>
            </a:r>
          </a:p>
          <a:p>
            <a:pPr marL="87312" indent="0" algn="just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700" dirty="0">
                <a:solidFill>
                  <a:schemeClr val="tx1"/>
                </a:solidFill>
              </a:rPr>
              <a:t>    	CONSTRAINT C2 NOT NULL,</a:t>
            </a:r>
          </a:p>
          <a:p>
            <a:pPr marL="87312" indent="0" algn="just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700" dirty="0">
                <a:solidFill>
                  <a:schemeClr val="tx1"/>
                </a:solidFill>
              </a:rPr>
              <a:t>  	</a:t>
            </a:r>
            <a:r>
              <a:rPr lang="en-US" altLang="zh-CN" sz="1700" dirty="0" err="1">
                <a:solidFill>
                  <a:schemeClr val="tx1"/>
                </a:solidFill>
              </a:rPr>
              <a:t>Sbirthdate</a:t>
            </a:r>
            <a:r>
              <a:rPr lang="en-US" altLang="zh-CN" sz="1700" dirty="0">
                <a:solidFill>
                  <a:schemeClr val="tx1"/>
                </a:solidFill>
              </a:rPr>
              <a:t> Date</a:t>
            </a:r>
          </a:p>
          <a:p>
            <a:pPr marL="87312" indent="0" algn="just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700" dirty="0">
                <a:solidFill>
                  <a:schemeClr val="tx1"/>
                </a:solidFill>
              </a:rPr>
              <a:t>    	CONSTRAINT C3 CHECK (</a:t>
            </a:r>
            <a:r>
              <a:rPr lang="en-US" altLang="zh-CN" sz="1700" dirty="0" err="1">
                <a:solidFill>
                  <a:schemeClr val="tx1"/>
                </a:solidFill>
              </a:rPr>
              <a:t>Sbirthdate</a:t>
            </a:r>
            <a:r>
              <a:rPr lang="en-US" altLang="zh-CN" sz="1700" dirty="0">
                <a:solidFill>
                  <a:schemeClr val="tx1"/>
                </a:solidFill>
              </a:rPr>
              <a:t> &gt;'1980-1-1'),</a:t>
            </a:r>
          </a:p>
          <a:p>
            <a:pPr marL="87312" indent="0" algn="just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700" dirty="0">
                <a:solidFill>
                  <a:schemeClr val="tx1"/>
                </a:solidFill>
              </a:rPr>
              <a:t>  	</a:t>
            </a:r>
            <a:r>
              <a:rPr lang="en-US" altLang="zh-CN" sz="1700" dirty="0" err="1">
                <a:solidFill>
                  <a:schemeClr val="tx1"/>
                </a:solidFill>
              </a:rPr>
              <a:t>Ssex</a:t>
            </a:r>
            <a:r>
              <a:rPr lang="en-US" altLang="zh-CN" sz="1700" dirty="0">
                <a:solidFill>
                  <a:schemeClr val="tx1"/>
                </a:solidFill>
              </a:rPr>
              <a:t> CHAR(6)</a:t>
            </a:r>
          </a:p>
          <a:p>
            <a:pPr marL="87312" indent="0" algn="just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700" dirty="0">
                <a:solidFill>
                  <a:schemeClr val="tx1"/>
                </a:solidFill>
              </a:rPr>
              <a:t>    	CONSTRAINT C4 CHECK (</a:t>
            </a:r>
            <a:r>
              <a:rPr lang="en-US" altLang="zh-CN" sz="1700" dirty="0" err="1">
                <a:solidFill>
                  <a:schemeClr val="tx1"/>
                </a:solidFill>
              </a:rPr>
              <a:t>Ssex</a:t>
            </a:r>
            <a:r>
              <a:rPr lang="en-US" altLang="zh-CN" sz="1700" dirty="0">
                <a:solidFill>
                  <a:schemeClr val="tx1"/>
                </a:solidFill>
              </a:rPr>
              <a:t> IN ( '</a:t>
            </a:r>
            <a:r>
              <a:rPr lang="zh-CN" altLang="en-US" sz="1700" dirty="0">
                <a:solidFill>
                  <a:schemeClr val="tx1"/>
                </a:solidFill>
              </a:rPr>
              <a:t>男</a:t>
            </a:r>
            <a:r>
              <a:rPr lang="en-US" altLang="zh-CN" sz="1700" dirty="0">
                <a:solidFill>
                  <a:schemeClr val="tx1"/>
                </a:solidFill>
              </a:rPr>
              <a:t>','</a:t>
            </a:r>
            <a:r>
              <a:rPr lang="zh-CN" altLang="en-US" sz="1700" dirty="0">
                <a:solidFill>
                  <a:schemeClr val="tx1"/>
                </a:solidFill>
              </a:rPr>
              <a:t>女</a:t>
            </a:r>
            <a:r>
              <a:rPr lang="en-US" altLang="zh-CN" sz="1700" dirty="0">
                <a:solidFill>
                  <a:schemeClr val="tx1"/>
                </a:solidFill>
              </a:rPr>
              <a:t>')),    </a:t>
            </a:r>
          </a:p>
          <a:p>
            <a:pPr marL="87312" indent="0" algn="just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700" dirty="0">
                <a:solidFill>
                  <a:schemeClr val="tx1"/>
                </a:solidFill>
              </a:rPr>
              <a:t>	</a:t>
            </a:r>
            <a:r>
              <a:rPr lang="en-US" altLang="zh-CN" sz="1700" dirty="0" err="1">
                <a:solidFill>
                  <a:schemeClr val="tx1"/>
                </a:solidFill>
              </a:rPr>
              <a:t>Smajor</a:t>
            </a:r>
            <a:r>
              <a:rPr lang="en-US" altLang="zh-CN" sz="1700" dirty="0">
                <a:solidFill>
                  <a:schemeClr val="tx1"/>
                </a:solidFill>
              </a:rPr>
              <a:t>  VARCHAR(40),</a:t>
            </a:r>
          </a:p>
          <a:p>
            <a:pPr marL="87312" indent="0" algn="just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700" dirty="0">
                <a:solidFill>
                  <a:schemeClr val="tx1"/>
                </a:solidFill>
              </a:rPr>
              <a:t>	CONSTRAINT </a:t>
            </a:r>
            <a:r>
              <a:rPr lang="en-US" altLang="zh-CN" sz="1700" dirty="0" err="1">
                <a:solidFill>
                  <a:schemeClr val="tx1"/>
                </a:solidFill>
              </a:rPr>
              <a:t>StudentKey</a:t>
            </a:r>
            <a:r>
              <a:rPr lang="en-US" altLang="zh-CN" sz="1700" dirty="0">
                <a:solidFill>
                  <a:schemeClr val="tx1"/>
                </a:solidFill>
              </a:rPr>
              <a:t> PRIMARY KEY(Sno)</a:t>
            </a:r>
          </a:p>
          <a:p>
            <a:pPr marL="87312" indent="0" algn="just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700" dirty="0">
                <a:solidFill>
                  <a:schemeClr val="tx1"/>
                </a:solidFill>
              </a:rPr>
              <a:t>	);</a:t>
            </a:r>
          </a:p>
        </p:txBody>
      </p:sp>
    </p:spTree>
    <p:extLst>
      <p:ext uri="{BB962C8B-B14F-4D97-AF65-F5344CB8AC3E}">
        <p14:creationId xmlns:p14="http://schemas.microsoft.com/office/powerpoint/2010/main" val="2805632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36AC0-5402-400F-A326-63CA1CA95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692235A1-96C8-E428-1209-B5E0EC085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8.1  </a:t>
            </a:r>
            <a:r>
              <a:rPr lang="zh-CN" altLang="en-US" dirty="0"/>
              <a:t>数据库完整性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138B514E-1850-8592-3681-3392A43D0F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125" y="1056640"/>
            <a:ext cx="10978515" cy="76517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5. </a:t>
            </a:r>
            <a:r>
              <a:rPr lang="zh-CN" altLang="en-US" dirty="0"/>
              <a:t>完整性约束命名子句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683778-808B-396D-AC81-C95114B15255}"/>
              </a:ext>
            </a:extLst>
          </p:cNvPr>
          <p:cNvSpPr txBox="1">
            <a:spLocks/>
          </p:cNvSpPr>
          <p:nvPr/>
        </p:nvSpPr>
        <p:spPr>
          <a:xfrm>
            <a:off x="599771" y="1677194"/>
            <a:ext cx="10978515" cy="50292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121917" tIns="60958" rIns="121917" bIns="60958" rtlCol="0">
            <a:noAutofit/>
          </a:bodyPr>
          <a:lstStyle>
            <a:lvl1pPr marL="457200" indent="-457200" algn="l" defTabSz="1219835" rtl="0" eaLnBrk="1" latinLnBrk="0" hangingPunct="1">
              <a:lnSpc>
                <a:spcPct val="120000"/>
              </a:lnSpc>
              <a:spcBef>
                <a:spcPct val="20000"/>
              </a:spcBef>
              <a:buSzPct val="80000"/>
              <a:buFont typeface="Wingdings" panose="05000000000000000000" pitchFamily="2" charset="2"/>
              <a:buChar char="l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69888" algn="just">
              <a:lnSpc>
                <a:spcPct val="130000"/>
              </a:lnSpc>
              <a:spcBef>
                <a:spcPts val="0"/>
              </a:spcBef>
            </a:pPr>
            <a:r>
              <a:rPr lang="zh-CN" altLang="en-US" dirty="0">
                <a:solidFill>
                  <a:srgbClr val="FF0000"/>
                </a:solidFill>
              </a:rPr>
              <a:t>例：建立教师表</a:t>
            </a:r>
            <a:r>
              <a:rPr lang="en-US" altLang="zh-CN" dirty="0">
                <a:solidFill>
                  <a:srgbClr val="FF0000"/>
                </a:solidFill>
              </a:rPr>
              <a:t>TEACHER</a:t>
            </a:r>
            <a:r>
              <a:rPr lang="zh-CN" altLang="en-US" dirty="0">
                <a:solidFill>
                  <a:srgbClr val="FF0000"/>
                </a:solidFill>
              </a:rPr>
              <a:t>，要求每个教师的应发工资（每月）不低于</a:t>
            </a:r>
            <a:r>
              <a:rPr lang="en-US" altLang="zh-CN" dirty="0">
                <a:solidFill>
                  <a:srgbClr val="FF0000"/>
                </a:solidFill>
              </a:rPr>
              <a:t>3000</a:t>
            </a:r>
            <a:r>
              <a:rPr lang="zh-CN" altLang="en-US" dirty="0">
                <a:solidFill>
                  <a:srgbClr val="FF0000"/>
                </a:solidFill>
              </a:rPr>
              <a:t>元。应发工资是工资列</a:t>
            </a:r>
            <a:r>
              <a:rPr lang="en-US" altLang="zh-CN" dirty="0">
                <a:solidFill>
                  <a:srgbClr val="FF0000"/>
                </a:solidFill>
              </a:rPr>
              <a:t>Sal</a:t>
            </a:r>
            <a:r>
              <a:rPr lang="zh-CN" altLang="en-US" dirty="0">
                <a:solidFill>
                  <a:srgbClr val="FF0000"/>
                </a:solidFill>
              </a:rPr>
              <a:t>与扣除项</a:t>
            </a:r>
            <a:r>
              <a:rPr lang="en-US" altLang="zh-CN" dirty="0">
                <a:solidFill>
                  <a:srgbClr val="FF0000"/>
                </a:solidFill>
              </a:rPr>
              <a:t>Deduct</a:t>
            </a:r>
            <a:r>
              <a:rPr lang="zh-CN" altLang="en-US" dirty="0">
                <a:solidFill>
                  <a:srgbClr val="FF0000"/>
                </a:solidFill>
              </a:rPr>
              <a:t>之和。</a:t>
            </a:r>
          </a:p>
          <a:p>
            <a:pPr marL="85725" indent="358775" algn="just">
              <a:lnSpc>
                <a:spcPct val="130000"/>
              </a:lnSpc>
              <a:spcBef>
                <a:spcPts val="600"/>
              </a:spcBef>
              <a:buNone/>
            </a:pPr>
            <a:r>
              <a:rPr lang="en-US" altLang="zh-CN" sz="1700" dirty="0">
                <a:solidFill>
                  <a:schemeClr val="tx1"/>
                </a:solidFill>
              </a:rPr>
              <a:t>CREATE TABLE TEACHER</a:t>
            </a:r>
          </a:p>
          <a:p>
            <a:pPr marL="85725" indent="630238" algn="just">
              <a:lnSpc>
                <a:spcPct val="130000"/>
              </a:lnSpc>
              <a:spcBef>
                <a:spcPts val="600"/>
              </a:spcBef>
              <a:buNone/>
            </a:pPr>
            <a:r>
              <a:rPr lang="en-US" altLang="zh-CN" sz="1700" dirty="0">
                <a:solidFill>
                  <a:schemeClr val="tx1"/>
                </a:solidFill>
              </a:rPr>
              <a:t>  ( Eno CHAR(8)  PRIMARY KEY,      /*</a:t>
            </a:r>
            <a:r>
              <a:rPr lang="zh-CN" altLang="en-US" sz="1700" dirty="0">
                <a:solidFill>
                  <a:schemeClr val="tx1"/>
                </a:solidFill>
              </a:rPr>
              <a:t>在列级定义主码*</a:t>
            </a:r>
            <a:r>
              <a:rPr lang="en-US" altLang="zh-CN" sz="1700" dirty="0">
                <a:solidFill>
                  <a:schemeClr val="tx1"/>
                </a:solidFill>
              </a:rPr>
              <a:t>/</a:t>
            </a:r>
          </a:p>
          <a:p>
            <a:pPr marL="85725" indent="630238" algn="just">
              <a:lnSpc>
                <a:spcPct val="130000"/>
              </a:lnSpc>
              <a:spcBef>
                <a:spcPts val="600"/>
              </a:spcBef>
              <a:buNone/>
            </a:pPr>
            <a:r>
              <a:rPr lang="en-US" altLang="zh-CN" sz="1700" dirty="0">
                <a:solidFill>
                  <a:schemeClr val="tx1"/>
                </a:solidFill>
              </a:rPr>
              <a:t>    </a:t>
            </a:r>
            <a:r>
              <a:rPr lang="en-US" altLang="zh-CN" sz="1700" dirty="0" err="1">
                <a:solidFill>
                  <a:schemeClr val="tx1"/>
                </a:solidFill>
              </a:rPr>
              <a:t>Ename</a:t>
            </a:r>
            <a:r>
              <a:rPr lang="en-US" altLang="zh-CN" sz="1700" dirty="0">
                <a:solidFill>
                  <a:schemeClr val="tx1"/>
                </a:solidFill>
              </a:rPr>
              <a:t> VARCHAR(20),</a:t>
            </a:r>
          </a:p>
          <a:p>
            <a:pPr marL="85725" indent="630238" algn="just">
              <a:lnSpc>
                <a:spcPct val="130000"/>
              </a:lnSpc>
              <a:spcBef>
                <a:spcPts val="600"/>
              </a:spcBef>
              <a:buNone/>
            </a:pPr>
            <a:r>
              <a:rPr lang="en-US" altLang="zh-CN" sz="1700" dirty="0">
                <a:solidFill>
                  <a:schemeClr val="tx1"/>
                </a:solidFill>
              </a:rPr>
              <a:t>    Job CHAR(8),</a:t>
            </a:r>
          </a:p>
          <a:p>
            <a:pPr marL="85725" indent="630238" algn="just">
              <a:lnSpc>
                <a:spcPct val="130000"/>
              </a:lnSpc>
              <a:spcBef>
                <a:spcPts val="600"/>
              </a:spcBef>
              <a:buNone/>
            </a:pPr>
            <a:r>
              <a:rPr lang="en-US" altLang="zh-CN" sz="1700" dirty="0">
                <a:solidFill>
                  <a:schemeClr val="tx1"/>
                </a:solidFill>
              </a:rPr>
              <a:t>    Sal NUMERIC(7,2),                         /*</a:t>
            </a:r>
            <a:r>
              <a:rPr lang="zh-CN" altLang="en-US" sz="1700" dirty="0">
                <a:solidFill>
                  <a:schemeClr val="tx1"/>
                </a:solidFill>
              </a:rPr>
              <a:t>每月工资*</a:t>
            </a:r>
            <a:r>
              <a:rPr lang="en-US" altLang="zh-CN" sz="1700" dirty="0">
                <a:solidFill>
                  <a:schemeClr val="tx1"/>
                </a:solidFill>
              </a:rPr>
              <a:t>/</a:t>
            </a:r>
          </a:p>
          <a:p>
            <a:pPr marL="85725" indent="630238" algn="just">
              <a:lnSpc>
                <a:spcPct val="130000"/>
              </a:lnSpc>
              <a:spcBef>
                <a:spcPts val="600"/>
              </a:spcBef>
              <a:buNone/>
            </a:pPr>
            <a:r>
              <a:rPr lang="en-US" altLang="zh-CN" sz="1700" dirty="0">
                <a:solidFill>
                  <a:schemeClr val="tx1"/>
                </a:solidFill>
              </a:rPr>
              <a:t>    Deduct NUMERIC(7,2),                  /*</a:t>
            </a:r>
            <a:r>
              <a:rPr lang="zh-CN" altLang="en-US" sz="1700" dirty="0">
                <a:solidFill>
                  <a:schemeClr val="tx1"/>
                </a:solidFill>
              </a:rPr>
              <a:t>每月扣除项*</a:t>
            </a:r>
            <a:r>
              <a:rPr lang="en-US" altLang="zh-CN" sz="1700" dirty="0">
                <a:solidFill>
                  <a:schemeClr val="tx1"/>
                </a:solidFill>
              </a:rPr>
              <a:t>/</a:t>
            </a:r>
          </a:p>
          <a:p>
            <a:pPr marL="85725" indent="630238" algn="just">
              <a:lnSpc>
                <a:spcPct val="130000"/>
              </a:lnSpc>
              <a:spcBef>
                <a:spcPts val="600"/>
              </a:spcBef>
              <a:buNone/>
            </a:pPr>
            <a:r>
              <a:rPr lang="en-US" altLang="zh-CN" sz="1700" dirty="0">
                <a:solidFill>
                  <a:schemeClr val="tx1"/>
                </a:solidFill>
              </a:rPr>
              <a:t>    </a:t>
            </a:r>
            <a:r>
              <a:rPr lang="en-US" altLang="zh-CN" sz="1700" dirty="0" err="1">
                <a:solidFill>
                  <a:schemeClr val="tx1"/>
                </a:solidFill>
              </a:rPr>
              <a:t>Schoolno</a:t>
            </a:r>
            <a:r>
              <a:rPr lang="en-US" altLang="zh-CN" sz="1700" dirty="0">
                <a:solidFill>
                  <a:schemeClr val="tx1"/>
                </a:solidFill>
              </a:rPr>
              <a:t> CHAR(8),                       /*</a:t>
            </a:r>
            <a:r>
              <a:rPr lang="zh-CN" altLang="en-US" sz="1700" dirty="0">
                <a:solidFill>
                  <a:schemeClr val="tx1"/>
                </a:solidFill>
              </a:rPr>
              <a:t>教师所在的学院编号*</a:t>
            </a:r>
            <a:r>
              <a:rPr lang="en-US" altLang="zh-CN" sz="1700" dirty="0">
                <a:solidFill>
                  <a:schemeClr val="tx1"/>
                </a:solidFill>
              </a:rPr>
              <a:t>/</a:t>
            </a:r>
          </a:p>
          <a:p>
            <a:pPr marL="85725" indent="630238" algn="just">
              <a:lnSpc>
                <a:spcPct val="130000"/>
              </a:lnSpc>
              <a:spcBef>
                <a:spcPts val="600"/>
              </a:spcBef>
              <a:buNone/>
            </a:pPr>
            <a:r>
              <a:rPr lang="en-US" altLang="zh-CN" sz="1700" dirty="0">
                <a:solidFill>
                  <a:schemeClr val="tx1"/>
                </a:solidFill>
              </a:rPr>
              <a:t>    CONSTRAINT </a:t>
            </a:r>
            <a:r>
              <a:rPr lang="en-US" altLang="zh-CN" sz="1700" dirty="0" err="1">
                <a:solidFill>
                  <a:schemeClr val="tx1"/>
                </a:solidFill>
              </a:rPr>
              <a:t>TEACHERFKey</a:t>
            </a:r>
            <a:r>
              <a:rPr lang="en-US" altLang="zh-CN" sz="1700" dirty="0">
                <a:solidFill>
                  <a:schemeClr val="tx1"/>
                </a:solidFill>
              </a:rPr>
              <a:t> FOREIGN KEY (</a:t>
            </a:r>
            <a:r>
              <a:rPr lang="en-US" altLang="zh-CN" sz="1700" dirty="0" err="1">
                <a:solidFill>
                  <a:schemeClr val="tx1"/>
                </a:solidFill>
              </a:rPr>
              <a:t>Schoolno</a:t>
            </a:r>
            <a:r>
              <a:rPr lang="en-US" altLang="zh-CN" sz="1700" dirty="0">
                <a:solidFill>
                  <a:schemeClr val="tx1"/>
                </a:solidFill>
              </a:rPr>
              <a:t>) REFERENCES School(</a:t>
            </a:r>
            <a:r>
              <a:rPr lang="en-US" altLang="zh-CN" sz="1700" dirty="0" err="1">
                <a:solidFill>
                  <a:schemeClr val="tx1"/>
                </a:solidFill>
              </a:rPr>
              <a:t>Schoolno</a:t>
            </a:r>
            <a:r>
              <a:rPr lang="en-US" altLang="zh-CN" sz="1700" dirty="0">
                <a:solidFill>
                  <a:schemeClr val="tx1"/>
                </a:solidFill>
              </a:rPr>
              <a:t>),  </a:t>
            </a:r>
          </a:p>
          <a:p>
            <a:pPr marL="85725" indent="630238" algn="just">
              <a:lnSpc>
                <a:spcPct val="130000"/>
              </a:lnSpc>
              <a:spcBef>
                <a:spcPts val="600"/>
              </a:spcBef>
              <a:buNone/>
            </a:pPr>
            <a:r>
              <a:rPr lang="en-US" altLang="zh-CN" sz="1700" dirty="0">
                <a:solidFill>
                  <a:schemeClr val="tx1"/>
                </a:solidFill>
              </a:rPr>
              <a:t>                       				    /*</a:t>
            </a:r>
            <a:r>
              <a:rPr lang="zh-CN" altLang="en-US" sz="1700" dirty="0">
                <a:solidFill>
                  <a:schemeClr val="tx1"/>
                </a:solidFill>
              </a:rPr>
              <a:t>外码约束（命名为</a:t>
            </a:r>
            <a:r>
              <a:rPr lang="en-US" altLang="zh-CN" sz="1700" dirty="0" err="1">
                <a:solidFill>
                  <a:schemeClr val="tx1"/>
                </a:solidFill>
              </a:rPr>
              <a:t>TEACHERFKey</a:t>
            </a:r>
            <a:r>
              <a:rPr lang="zh-CN" altLang="en-US" sz="1700" dirty="0">
                <a:solidFill>
                  <a:schemeClr val="tx1"/>
                </a:solidFill>
              </a:rPr>
              <a:t>）*</a:t>
            </a:r>
            <a:r>
              <a:rPr lang="en-US" altLang="zh-CN" sz="1700" dirty="0">
                <a:solidFill>
                  <a:schemeClr val="tx1"/>
                </a:solidFill>
              </a:rPr>
              <a:t>/</a:t>
            </a:r>
          </a:p>
          <a:p>
            <a:pPr marL="85725" indent="630238" algn="just">
              <a:lnSpc>
                <a:spcPct val="130000"/>
              </a:lnSpc>
              <a:spcBef>
                <a:spcPts val="600"/>
              </a:spcBef>
              <a:buNone/>
            </a:pPr>
            <a:r>
              <a:rPr lang="en-US" altLang="zh-CN" sz="1700" dirty="0">
                <a:solidFill>
                  <a:schemeClr val="tx1"/>
                </a:solidFill>
              </a:rPr>
              <a:t>    CONSTRAINT C1 CHECK (Sal + Deduct &gt;= 3000)      /*</a:t>
            </a:r>
            <a:r>
              <a:rPr lang="zh-CN" altLang="en-US" sz="1700" dirty="0">
                <a:solidFill>
                  <a:schemeClr val="tx1"/>
                </a:solidFill>
              </a:rPr>
              <a:t>应发工资的约束条件</a:t>
            </a:r>
            <a:r>
              <a:rPr lang="en-US" altLang="zh-CN" sz="1700" dirty="0">
                <a:solidFill>
                  <a:schemeClr val="tx1"/>
                </a:solidFill>
              </a:rPr>
              <a:t>C1*/  );</a:t>
            </a:r>
          </a:p>
        </p:txBody>
      </p:sp>
    </p:spTree>
    <p:extLst>
      <p:ext uri="{BB962C8B-B14F-4D97-AF65-F5344CB8AC3E}">
        <p14:creationId xmlns:p14="http://schemas.microsoft.com/office/powerpoint/2010/main" val="1799762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2AEAD-060C-C8E8-6674-6C405E993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616C7046-43F8-A95F-0A9C-4CB48857B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8.1  </a:t>
            </a:r>
            <a:r>
              <a:rPr lang="zh-CN" altLang="en-US" dirty="0"/>
              <a:t>数据库完整性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1D7F6A04-3789-AD6E-E9A4-257478DCC2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125" y="1056640"/>
            <a:ext cx="10978515" cy="76517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5. </a:t>
            </a:r>
            <a:r>
              <a:rPr lang="zh-CN" altLang="en-US" dirty="0"/>
              <a:t>完整性约束命名子句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3A6A78-85CD-7B25-A854-F09753F26B48}"/>
              </a:ext>
            </a:extLst>
          </p:cNvPr>
          <p:cNvSpPr txBox="1">
            <a:spLocks/>
          </p:cNvSpPr>
          <p:nvPr/>
        </p:nvSpPr>
        <p:spPr>
          <a:xfrm>
            <a:off x="599771" y="1677194"/>
            <a:ext cx="10978515" cy="28956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121917" tIns="60958" rIns="121917" bIns="60958" rtlCol="0">
            <a:noAutofit/>
          </a:bodyPr>
          <a:lstStyle>
            <a:lvl1pPr marL="457200" indent="-457200" algn="l" defTabSz="1219835" rtl="0" eaLnBrk="1" latinLnBrk="0" hangingPunct="1">
              <a:lnSpc>
                <a:spcPct val="120000"/>
              </a:lnSpc>
              <a:spcBef>
                <a:spcPct val="20000"/>
              </a:spcBef>
              <a:buSzPct val="80000"/>
              <a:buFont typeface="Wingdings" panose="05000000000000000000" pitchFamily="2" charset="2"/>
              <a:buChar char="l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69888" algn="just">
              <a:lnSpc>
                <a:spcPct val="15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/>
                </a:solidFill>
              </a:rPr>
              <a:t>修改表中的完整性限制</a:t>
            </a:r>
            <a:endParaRPr lang="en-US" altLang="zh-CN" dirty="0">
              <a:solidFill>
                <a:schemeClr val="tx1"/>
              </a:solidFill>
            </a:endParaRPr>
          </a:p>
          <a:p>
            <a:pPr marL="803275" indent="-358775"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</a:rPr>
              <a:t>使用</a:t>
            </a:r>
            <a:r>
              <a:rPr lang="en-US" altLang="zh-CN" dirty="0">
                <a:solidFill>
                  <a:srgbClr val="FF0000"/>
                </a:solidFill>
              </a:rPr>
              <a:t>ALTER TABLE</a:t>
            </a:r>
            <a:r>
              <a:rPr lang="zh-CN" altLang="en-US" dirty="0">
                <a:solidFill>
                  <a:schemeClr val="tx1"/>
                </a:solidFill>
              </a:rPr>
              <a:t>语句修改表中的完整性约束</a:t>
            </a:r>
            <a:endParaRPr lang="en-US" altLang="zh-CN" dirty="0">
              <a:solidFill>
                <a:schemeClr val="tx1"/>
              </a:solidFill>
            </a:endParaRPr>
          </a:p>
          <a:p>
            <a:pPr marL="444500" indent="-357188" algn="just">
              <a:lnSpc>
                <a:spcPct val="150000"/>
              </a:lnSpc>
              <a:spcBef>
                <a:spcPts val="600"/>
              </a:spcBef>
            </a:pPr>
            <a:r>
              <a:rPr lang="zh-CN" altLang="en-US" dirty="0">
                <a:solidFill>
                  <a:srgbClr val="FF0000"/>
                </a:solidFill>
              </a:rPr>
              <a:t>去掉例</a:t>
            </a:r>
            <a:r>
              <a:rPr lang="en-US" altLang="zh-CN" dirty="0">
                <a:solidFill>
                  <a:srgbClr val="FF0000"/>
                </a:solidFill>
              </a:rPr>
              <a:t>Student</a:t>
            </a:r>
            <a:r>
              <a:rPr lang="zh-CN" altLang="en-US" dirty="0">
                <a:solidFill>
                  <a:srgbClr val="FF0000"/>
                </a:solidFill>
              </a:rPr>
              <a:t>表中对出生日期的限制</a:t>
            </a:r>
          </a:p>
          <a:p>
            <a:pPr marL="444500" indent="0" algn="just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ALTER TABLE Student </a:t>
            </a:r>
          </a:p>
          <a:p>
            <a:pPr marL="444500" indent="358775" algn="just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DROP CONSTRAINT C3;</a:t>
            </a:r>
            <a:endParaRPr lang="zh-CN" altLang="en-US" dirty="0">
              <a:solidFill>
                <a:schemeClr val="tx1"/>
              </a:solidFill>
            </a:endParaRPr>
          </a:p>
          <a:p>
            <a:pPr marL="85725" indent="358775" algn="just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2579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10171-483D-DDD6-A278-72734B2B2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6AB3462D-BA36-2DF4-9754-A78CCE65F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8.1  </a:t>
            </a:r>
            <a:r>
              <a:rPr lang="zh-CN" altLang="en-US" dirty="0"/>
              <a:t>数据库完整性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C41A4E08-B45E-0B8F-7321-243827ECB3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125" y="1056640"/>
            <a:ext cx="10978515" cy="76517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5. </a:t>
            </a:r>
            <a:r>
              <a:rPr lang="zh-CN" altLang="en-US" dirty="0"/>
              <a:t>完整性约束命名子句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37373A-57FD-3EC1-FEBA-BDB4CA2B46BC}"/>
              </a:ext>
            </a:extLst>
          </p:cNvPr>
          <p:cNvSpPr txBox="1">
            <a:spLocks/>
          </p:cNvSpPr>
          <p:nvPr/>
        </p:nvSpPr>
        <p:spPr>
          <a:xfrm>
            <a:off x="599771" y="1677194"/>
            <a:ext cx="10978515" cy="482997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121917" tIns="60958" rIns="121917" bIns="60958" rtlCol="0">
            <a:noAutofit/>
          </a:bodyPr>
          <a:lstStyle>
            <a:lvl1pPr marL="457200" indent="-457200" algn="l" defTabSz="1219835" rtl="0" eaLnBrk="1" latinLnBrk="0" hangingPunct="1">
              <a:lnSpc>
                <a:spcPct val="120000"/>
              </a:lnSpc>
              <a:spcBef>
                <a:spcPct val="20000"/>
              </a:spcBef>
              <a:buSzPct val="80000"/>
              <a:buFont typeface="Wingdings" panose="05000000000000000000" pitchFamily="2" charset="2"/>
              <a:buChar char="l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4500" indent="-357188" algn="just">
              <a:lnSpc>
                <a:spcPct val="150000"/>
              </a:lnSpc>
              <a:spcBef>
                <a:spcPts val="600"/>
              </a:spcBef>
            </a:pPr>
            <a:r>
              <a:rPr lang="zh-CN" altLang="en-US" dirty="0">
                <a:solidFill>
                  <a:srgbClr val="FF0000"/>
                </a:solidFill>
              </a:rPr>
              <a:t>例：修改表</a:t>
            </a:r>
            <a:r>
              <a:rPr lang="en-US" altLang="zh-CN" dirty="0">
                <a:solidFill>
                  <a:srgbClr val="FF0000"/>
                </a:solidFill>
              </a:rPr>
              <a:t>Student</a:t>
            </a:r>
            <a:r>
              <a:rPr lang="zh-CN" altLang="en-US" dirty="0">
                <a:solidFill>
                  <a:srgbClr val="FF0000"/>
                </a:solidFill>
              </a:rPr>
              <a:t>中的约束条件，要求学号改为在</a:t>
            </a:r>
            <a:r>
              <a:rPr lang="en-US" altLang="zh-CN" dirty="0">
                <a:solidFill>
                  <a:srgbClr val="FF0000"/>
                </a:solidFill>
              </a:rPr>
              <a:t>900000</a:t>
            </a:r>
            <a:r>
              <a:rPr lang="zh-CN" altLang="en-US" dirty="0">
                <a:solidFill>
                  <a:srgbClr val="FF0000"/>
                </a:solidFill>
              </a:rPr>
              <a:t>到</a:t>
            </a:r>
            <a:r>
              <a:rPr lang="en-US" altLang="zh-CN" dirty="0">
                <a:solidFill>
                  <a:srgbClr val="FF0000"/>
                </a:solidFill>
              </a:rPr>
              <a:t>999999</a:t>
            </a:r>
            <a:r>
              <a:rPr lang="zh-CN" altLang="en-US" dirty="0">
                <a:solidFill>
                  <a:srgbClr val="FF0000"/>
                </a:solidFill>
              </a:rPr>
              <a:t>之间，出生日期改为</a:t>
            </a:r>
            <a:r>
              <a:rPr lang="en-US" altLang="zh-CN" dirty="0">
                <a:solidFill>
                  <a:srgbClr val="FF0000"/>
                </a:solidFill>
              </a:rPr>
              <a:t>1985</a:t>
            </a:r>
            <a:r>
              <a:rPr lang="zh-CN" altLang="en-US" dirty="0">
                <a:solidFill>
                  <a:srgbClr val="FF0000"/>
                </a:solidFill>
              </a:rPr>
              <a:t>年之后。</a:t>
            </a:r>
          </a:p>
          <a:p>
            <a:pPr marL="444500" indent="0" algn="just"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en-US" dirty="0">
                <a:solidFill>
                  <a:schemeClr val="tx1"/>
                </a:solidFill>
              </a:rPr>
              <a:t>可以先删除原来的约束条件，再增加新的约束条件。</a:t>
            </a:r>
          </a:p>
          <a:p>
            <a:pPr marL="444500" indent="0" algn="just">
              <a:lnSpc>
                <a:spcPct val="130000"/>
              </a:lnSpc>
              <a:spcBef>
                <a:spcPts val="60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ALTER TABLE Student</a:t>
            </a:r>
          </a:p>
          <a:p>
            <a:pPr marL="444500" indent="0" algn="just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     DROP CONSTRAINT C1;</a:t>
            </a:r>
          </a:p>
          <a:p>
            <a:pPr marL="444500" indent="0" algn="just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ALTER TABLE Student</a:t>
            </a:r>
          </a:p>
          <a:p>
            <a:pPr marL="444500" indent="0" algn="just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     ADD CONSTRAINT C1 CHECK (Sno BETWEEN '900000' AND '999999’);</a:t>
            </a:r>
          </a:p>
          <a:p>
            <a:pPr marL="444500" indent="0" algn="just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ALTER TABLE Student</a:t>
            </a:r>
          </a:p>
          <a:p>
            <a:pPr marL="444500" indent="0" algn="just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     DROP CONSTRAINT C3;</a:t>
            </a:r>
          </a:p>
          <a:p>
            <a:pPr marL="444500" indent="0" algn="just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ALTER TABLE Student</a:t>
            </a:r>
          </a:p>
          <a:p>
            <a:pPr marL="444500" indent="0" algn="just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     ADD CONSTRAINT C3 CHECK (</a:t>
            </a:r>
            <a:r>
              <a:rPr lang="en-US" altLang="zh-CN" dirty="0" err="1">
                <a:solidFill>
                  <a:schemeClr val="tx1"/>
                </a:solidFill>
              </a:rPr>
              <a:t>Sbirthdate</a:t>
            </a:r>
            <a:r>
              <a:rPr lang="en-US" altLang="zh-CN" dirty="0">
                <a:solidFill>
                  <a:schemeClr val="tx1"/>
                </a:solidFill>
              </a:rPr>
              <a:t> &gt;’1985-1-1');</a:t>
            </a:r>
          </a:p>
        </p:txBody>
      </p:sp>
    </p:spTree>
    <p:extLst>
      <p:ext uri="{BB962C8B-B14F-4D97-AF65-F5344CB8AC3E}">
        <p14:creationId xmlns:p14="http://schemas.microsoft.com/office/powerpoint/2010/main" val="1382209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5DE2F-E329-5D4B-C3B9-552715A12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F441294B-076A-543C-5C92-FCC25BA22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8.1  </a:t>
            </a:r>
            <a:r>
              <a:rPr lang="zh-CN" altLang="en-US" dirty="0"/>
              <a:t>数据库完整性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E1CF48BE-F336-DB62-0A6E-91B564D62E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125" y="1056640"/>
            <a:ext cx="10978515" cy="76517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6. </a:t>
            </a:r>
            <a:r>
              <a:rPr lang="zh-CN" altLang="en-US" dirty="0"/>
              <a:t>触发器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1A2099-A9DE-7B32-94D0-B2D8C180D5B0}"/>
              </a:ext>
            </a:extLst>
          </p:cNvPr>
          <p:cNvSpPr txBox="1">
            <a:spLocks/>
          </p:cNvSpPr>
          <p:nvPr/>
        </p:nvSpPr>
        <p:spPr>
          <a:xfrm>
            <a:off x="599771" y="1677194"/>
            <a:ext cx="10978515" cy="26670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121917" tIns="60958" rIns="121917" bIns="60958" rtlCol="0">
            <a:noAutofit/>
          </a:bodyPr>
          <a:lstStyle>
            <a:lvl1pPr marL="457200" indent="-457200" algn="l" defTabSz="1219835" rtl="0" eaLnBrk="1" latinLnBrk="0" hangingPunct="1">
              <a:lnSpc>
                <a:spcPct val="120000"/>
              </a:lnSpc>
              <a:spcBef>
                <a:spcPct val="20000"/>
              </a:spcBef>
              <a:buSzPct val="80000"/>
              <a:buFont typeface="Wingdings" panose="05000000000000000000" pitchFamily="2" charset="2"/>
              <a:buChar char="l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4500" indent="-357188" algn="just">
              <a:lnSpc>
                <a:spcPct val="15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/>
                </a:solidFill>
              </a:rPr>
              <a:t>触发器（</a:t>
            </a:r>
            <a:r>
              <a:rPr lang="en-US" altLang="zh-CN" dirty="0">
                <a:solidFill>
                  <a:schemeClr val="tx1"/>
                </a:solidFill>
              </a:rPr>
              <a:t>trigger</a:t>
            </a:r>
            <a:r>
              <a:rPr lang="zh-CN" altLang="en-US" dirty="0">
                <a:solidFill>
                  <a:schemeClr val="tx1"/>
                </a:solidFill>
              </a:rPr>
              <a:t>）是用户定义在关系表上的一类由</a:t>
            </a:r>
            <a:r>
              <a:rPr lang="zh-CN" altLang="en-US" dirty="0">
                <a:solidFill>
                  <a:srgbClr val="FF0000"/>
                </a:solidFill>
              </a:rPr>
              <a:t>事件驱动</a:t>
            </a:r>
            <a:r>
              <a:rPr lang="zh-CN" altLang="en-US" dirty="0">
                <a:solidFill>
                  <a:schemeClr val="tx1"/>
                </a:solidFill>
              </a:rPr>
              <a:t>的特殊过程</a:t>
            </a:r>
          </a:p>
          <a:p>
            <a:pPr marL="803275" indent="-358775"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</a:rPr>
              <a:t>触发器可以实施更为复杂的检查和操作，具有更精细和更强大的数据控制能力 </a:t>
            </a:r>
          </a:p>
          <a:p>
            <a:pPr marL="803275" indent="-358775"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</a:rPr>
              <a:t>触发器保存在数据库服务器中</a:t>
            </a:r>
          </a:p>
          <a:p>
            <a:pPr marL="803275" indent="-358775"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</a:rPr>
              <a:t>任何用户对表的增、删、改操作均由服务器自动激活相应的触发器，在关系数据库管理系统核心层进行集中的完整性控制</a:t>
            </a:r>
          </a:p>
        </p:txBody>
      </p:sp>
    </p:spTree>
    <p:extLst>
      <p:ext uri="{BB962C8B-B14F-4D97-AF65-F5344CB8AC3E}">
        <p14:creationId xmlns:p14="http://schemas.microsoft.com/office/powerpoint/2010/main" val="1468737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C5C55-0330-1224-0933-565DCCCE9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C5979A5E-6E86-C92E-D3F0-A1C4A4B51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8.1  </a:t>
            </a:r>
            <a:r>
              <a:rPr lang="zh-CN" altLang="en-US" dirty="0"/>
              <a:t>数据库完整性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9F703036-A8EB-7015-B04C-81C7CCA387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125" y="1056640"/>
            <a:ext cx="10978515" cy="76517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6. </a:t>
            </a:r>
            <a:r>
              <a:rPr lang="zh-CN" altLang="en-US" dirty="0"/>
              <a:t>触发器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871915-3424-8290-C3ED-C9E4E334D3F1}"/>
              </a:ext>
            </a:extLst>
          </p:cNvPr>
          <p:cNvSpPr txBox="1">
            <a:spLocks/>
          </p:cNvSpPr>
          <p:nvPr/>
        </p:nvSpPr>
        <p:spPr>
          <a:xfrm>
            <a:off x="599771" y="1677194"/>
            <a:ext cx="10978515" cy="49530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121917" tIns="60958" rIns="121917" bIns="60958" rtlCol="0">
            <a:noAutofit/>
          </a:bodyPr>
          <a:lstStyle>
            <a:lvl1pPr marL="457200" indent="-457200" algn="l" defTabSz="1219835" rtl="0" eaLnBrk="1" latinLnBrk="0" hangingPunct="1">
              <a:lnSpc>
                <a:spcPct val="120000"/>
              </a:lnSpc>
              <a:spcBef>
                <a:spcPct val="20000"/>
              </a:spcBef>
              <a:buSzPct val="80000"/>
              <a:buFont typeface="Wingdings" panose="05000000000000000000" pitchFamily="2" charset="2"/>
              <a:buChar char="l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4500" indent="-357188" algn="just">
              <a:lnSpc>
                <a:spcPct val="15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/>
                </a:solidFill>
              </a:rPr>
              <a:t>定义触发器</a:t>
            </a:r>
          </a:p>
          <a:p>
            <a:pPr marL="803275" indent="-358775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</a:rPr>
              <a:t>触发器：</a:t>
            </a:r>
            <a:r>
              <a:rPr lang="zh-CN" altLang="en-US" dirty="0">
                <a:solidFill>
                  <a:srgbClr val="FF0000"/>
                </a:solidFill>
              </a:rPr>
              <a:t>事件</a:t>
            </a:r>
            <a:r>
              <a:rPr lang="en-US" altLang="zh-CN" dirty="0">
                <a:solidFill>
                  <a:srgbClr val="FF0000"/>
                </a:solidFill>
              </a:rPr>
              <a:t>-</a:t>
            </a:r>
            <a:r>
              <a:rPr lang="zh-CN" altLang="en-US" dirty="0">
                <a:solidFill>
                  <a:srgbClr val="FF0000"/>
                </a:solidFill>
              </a:rPr>
              <a:t>条件</a:t>
            </a:r>
            <a:r>
              <a:rPr lang="en-US" altLang="zh-CN" dirty="0">
                <a:solidFill>
                  <a:srgbClr val="FF0000"/>
                </a:solidFill>
              </a:rPr>
              <a:t>-</a:t>
            </a:r>
            <a:r>
              <a:rPr lang="zh-CN" altLang="en-US" dirty="0">
                <a:solidFill>
                  <a:srgbClr val="FF0000"/>
                </a:solidFill>
              </a:rPr>
              <a:t>动作规则</a:t>
            </a:r>
            <a:r>
              <a:rPr lang="zh-CN" altLang="en-US" dirty="0">
                <a:solidFill>
                  <a:schemeClr val="tx1"/>
                </a:solidFill>
              </a:rPr>
              <a:t>（</a:t>
            </a:r>
            <a:r>
              <a:rPr lang="en-US" altLang="zh-CN" dirty="0">
                <a:solidFill>
                  <a:schemeClr val="tx1"/>
                </a:solidFill>
              </a:rPr>
              <a:t>event-condition-action rule, ECA rule</a:t>
            </a:r>
            <a:r>
              <a:rPr lang="zh-CN" altLang="en-US" dirty="0">
                <a:solidFill>
                  <a:schemeClr val="tx1"/>
                </a:solidFill>
              </a:rPr>
              <a:t>）</a:t>
            </a:r>
          </a:p>
          <a:p>
            <a:pPr marL="1168400" indent="-365125"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</a:rPr>
              <a:t>当特定的系统事件发生时，对规则的条件进行检查</a:t>
            </a:r>
          </a:p>
          <a:p>
            <a:pPr marL="1168400" indent="-365125"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</a:rPr>
              <a:t>如果条件成立则执行规则中的动作，否则不执行该动作</a:t>
            </a:r>
          </a:p>
          <a:p>
            <a:pPr marL="1168400" indent="-365125"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</a:rPr>
              <a:t>规则中的动作体可以很复杂，通常是一段</a:t>
            </a:r>
            <a:r>
              <a:rPr lang="en-US" altLang="zh-CN" dirty="0">
                <a:solidFill>
                  <a:schemeClr val="tx1"/>
                </a:solidFill>
              </a:rPr>
              <a:t>SQL</a:t>
            </a:r>
            <a:r>
              <a:rPr lang="zh-CN" altLang="en-US" dirty="0">
                <a:solidFill>
                  <a:schemeClr val="tx1"/>
                </a:solidFill>
              </a:rPr>
              <a:t>存储过程</a:t>
            </a:r>
          </a:p>
          <a:p>
            <a:pPr marL="803275" indent="-358775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rgbClr val="FF0000"/>
                </a:solidFill>
              </a:rPr>
              <a:t>CREATE TRIGGER</a:t>
            </a:r>
            <a:r>
              <a:rPr lang="zh-CN" altLang="en-US" dirty="0">
                <a:solidFill>
                  <a:srgbClr val="FF0000"/>
                </a:solidFill>
              </a:rPr>
              <a:t>语法格式</a:t>
            </a:r>
            <a:endParaRPr lang="en-US" altLang="zh-CN" dirty="0">
              <a:solidFill>
                <a:srgbClr val="FF0000"/>
              </a:solidFill>
            </a:endParaRPr>
          </a:p>
          <a:p>
            <a:pPr marL="444500" indent="358775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chemeClr val="tx1"/>
                </a:solidFill>
              </a:rPr>
              <a:t>CREATE TRIGGER &lt;</a:t>
            </a:r>
            <a:r>
              <a:rPr lang="zh-CN" altLang="en-US" sz="1800" dirty="0">
                <a:solidFill>
                  <a:schemeClr val="tx1"/>
                </a:solidFill>
              </a:rPr>
              <a:t>触发器名</a:t>
            </a:r>
            <a:r>
              <a:rPr lang="en-US" altLang="zh-CN" sz="1800" dirty="0">
                <a:solidFill>
                  <a:schemeClr val="tx1"/>
                </a:solidFill>
              </a:rPr>
              <a:t>&gt;  </a:t>
            </a:r>
          </a:p>
          <a:p>
            <a:pPr marL="444500" indent="358775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chemeClr val="tx1"/>
                </a:solidFill>
              </a:rPr>
              <a:t>       {BEFORE | AFTER} &lt;</a:t>
            </a:r>
            <a:r>
              <a:rPr lang="zh-CN" altLang="en-US" sz="1800" dirty="0">
                <a:solidFill>
                  <a:schemeClr val="tx1"/>
                </a:solidFill>
              </a:rPr>
              <a:t>触发事件</a:t>
            </a:r>
            <a:r>
              <a:rPr lang="en-US" altLang="zh-CN" sz="1800" dirty="0">
                <a:solidFill>
                  <a:schemeClr val="tx1"/>
                </a:solidFill>
              </a:rPr>
              <a:t>&gt; ON &lt;</a:t>
            </a:r>
            <a:r>
              <a:rPr lang="zh-CN" altLang="en-US" sz="1800" dirty="0">
                <a:solidFill>
                  <a:schemeClr val="tx1"/>
                </a:solidFill>
              </a:rPr>
              <a:t>表名</a:t>
            </a:r>
            <a:r>
              <a:rPr lang="en-US" altLang="zh-CN" sz="1800" dirty="0">
                <a:solidFill>
                  <a:schemeClr val="tx1"/>
                </a:solidFill>
              </a:rPr>
              <a:t>&gt;</a:t>
            </a:r>
          </a:p>
          <a:p>
            <a:pPr marL="444500" indent="358775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chemeClr val="tx1"/>
                </a:solidFill>
              </a:rPr>
              <a:t>       REFERENCING NEW|OLD AS&lt;</a:t>
            </a:r>
            <a:r>
              <a:rPr lang="zh-CN" altLang="en-US" sz="1800" dirty="0">
                <a:solidFill>
                  <a:schemeClr val="tx1"/>
                </a:solidFill>
              </a:rPr>
              <a:t>变量</a:t>
            </a:r>
            <a:r>
              <a:rPr lang="en-US" altLang="zh-CN" sz="1800" dirty="0">
                <a:solidFill>
                  <a:schemeClr val="tx1"/>
                </a:solidFill>
              </a:rPr>
              <a:t>&gt;</a:t>
            </a:r>
          </a:p>
          <a:p>
            <a:pPr marL="444500" indent="358775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chemeClr val="tx1"/>
                </a:solidFill>
              </a:rPr>
              <a:t>       FOR EACH  {ROW | STATEMENT}</a:t>
            </a:r>
          </a:p>
          <a:p>
            <a:pPr marL="444500" indent="358775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chemeClr val="tx1"/>
                </a:solidFill>
              </a:rPr>
              <a:t>       [WHEN &lt;</a:t>
            </a:r>
            <a:r>
              <a:rPr lang="zh-CN" altLang="en-US" sz="1800" dirty="0">
                <a:solidFill>
                  <a:schemeClr val="tx1"/>
                </a:solidFill>
              </a:rPr>
              <a:t>触发条件</a:t>
            </a:r>
            <a:r>
              <a:rPr lang="en-US" altLang="zh-CN" sz="1800" dirty="0">
                <a:solidFill>
                  <a:schemeClr val="tx1"/>
                </a:solidFill>
              </a:rPr>
              <a:t>&gt;]&lt;</a:t>
            </a:r>
            <a:r>
              <a:rPr lang="zh-CN" altLang="en-US" sz="1800" dirty="0">
                <a:solidFill>
                  <a:schemeClr val="tx1"/>
                </a:solidFill>
              </a:rPr>
              <a:t>触发动作体</a:t>
            </a:r>
            <a:r>
              <a:rPr lang="en-US" altLang="zh-CN" sz="1800" dirty="0">
                <a:solidFill>
                  <a:schemeClr val="tx1"/>
                </a:solidFill>
              </a:rPr>
              <a:t>&gt;</a:t>
            </a:r>
            <a:endParaRPr lang="zh-CN" alt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9842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3BB24-12E2-8804-9FE2-F58C21144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B3182E5F-F907-8B64-94B5-0655750B0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8.1  </a:t>
            </a:r>
            <a:r>
              <a:rPr lang="zh-CN" altLang="en-US" dirty="0"/>
              <a:t>数据库完整性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077CEA05-91C9-5C5A-F40E-6E83746E91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125" y="1056640"/>
            <a:ext cx="10978515" cy="76517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6. </a:t>
            </a:r>
            <a:r>
              <a:rPr lang="zh-CN" altLang="en-US" dirty="0"/>
              <a:t>触发器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41D995-5A13-BF68-62EC-1DC86D8E47F3}"/>
              </a:ext>
            </a:extLst>
          </p:cNvPr>
          <p:cNvSpPr txBox="1">
            <a:spLocks/>
          </p:cNvSpPr>
          <p:nvPr/>
        </p:nvSpPr>
        <p:spPr>
          <a:xfrm>
            <a:off x="599771" y="1677194"/>
            <a:ext cx="10978515" cy="49530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121917" tIns="60958" rIns="121917" bIns="60958" rtlCol="0">
            <a:noAutofit/>
          </a:bodyPr>
          <a:lstStyle>
            <a:lvl1pPr marL="457200" indent="-457200" algn="l" defTabSz="1219835" rtl="0" eaLnBrk="1" latinLnBrk="0" hangingPunct="1">
              <a:lnSpc>
                <a:spcPct val="120000"/>
              </a:lnSpc>
              <a:spcBef>
                <a:spcPct val="20000"/>
              </a:spcBef>
              <a:buSzPct val="80000"/>
              <a:buFont typeface="Wingdings" panose="05000000000000000000" pitchFamily="2" charset="2"/>
              <a:buChar char="l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4500" indent="-357188" algn="just">
              <a:lnSpc>
                <a:spcPct val="15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/>
                </a:solidFill>
              </a:rPr>
              <a:t>定义触发器</a:t>
            </a:r>
          </a:p>
          <a:p>
            <a:pPr marL="803275" indent="-358775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</a:rPr>
              <a:t>触发器：</a:t>
            </a:r>
            <a:r>
              <a:rPr lang="zh-CN" altLang="en-US" dirty="0">
                <a:solidFill>
                  <a:srgbClr val="FF0000"/>
                </a:solidFill>
              </a:rPr>
              <a:t>事件</a:t>
            </a:r>
            <a:r>
              <a:rPr lang="en-US" altLang="zh-CN" dirty="0">
                <a:solidFill>
                  <a:srgbClr val="FF0000"/>
                </a:solidFill>
              </a:rPr>
              <a:t>-</a:t>
            </a:r>
            <a:r>
              <a:rPr lang="zh-CN" altLang="en-US" dirty="0">
                <a:solidFill>
                  <a:srgbClr val="FF0000"/>
                </a:solidFill>
              </a:rPr>
              <a:t>条件</a:t>
            </a:r>
            <a:r>
              <a:rPr lang="en-US" altLang="zh-CN" dirty="0">
                <a:solidFill>
                  <a:srgbClr val="FF0000"/>
                </a:solidFill>
              </a:rPr>
              <a:t>-</a:t>
            </a:r>
            <a:r>
              <a:rPr lang="zh-CN" altLang="en-US" dirty="0">
                <a:solidFill>
                  <a:srgbClr val="FF0000"/>
                </a:solidFill>
              </a:rPr>
              <a:t>动作规则</a:t>
            </a:r>
            <a:r>
              <a:rPr lang="zh-CN" altLang="en-US" dirty="0">
                <a:solidFill>
                  <a:schemeClr val="tx1"/>
                </a:solidFill>
              </a:rPr>
              <a:t>（</a:t>
            </a:r>
            <a:r>
              <a:rPr lang="en-US" altLang="zh-CN" dirty="0">
                <a:solidFill>
                  <a:schemeClr val="tx1"/>
                </a:solidFill>
              </a:rPr>
              <a:t>event-condition-action rule, ECA rule</a:t>
            </a:r>
            <a:r>
              <a:rPr lang="zh-CN" altLang="en-US" dirty="0">
                <a:solidFill>
                  <a:schemeClr val="tx1"/>
                </a:solidFill>
              </a:rPr>
              <a:t>）</a:t>
            </a:r>
          </a:p>
          <a:p>
            <a:pPr marL="1168400" indent="-365125"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</a:rPr>
              <a:t>当特定的系统事件发生时，对规则的条件进行检查</a:t>
            </a:r>
          </a:p>
          <a:p>
            <a:pPr marL="1168400" indent="-365125"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</a:rPr>
              <a:t>如果条件成立则执行规则中的动作，否则不执行该动作</a:t>
            </a:r>
          </a:p>
          <a:p>
            <a:pPr marL="1168400" indent="-365125"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</a:rPr>
              <a:t>规则中的动作体可以很复杂，通常是一段</a:t>
            </a:r>
            <a:r>
              <a:rPr lang="en-US" altLang="zh-CN" dirty="0">
                <a:solidFill>
                  <a:schemeClr val="tx1"/>
                </a:solidFill>
              </a:rPr>
              <a:t>SQL</a:t>
            </a:r>
            <a:r>
              <a:rPr lang="zh-CN" altLang="en-US" dirty="0">
                <a:solidFill>
                  <a:schemeClr val="tx1"/>
                </a:solidFill>
              </a:rPr>
              <a:t>存储过程</a:t>
            </a:r>
          </a:p>
          <a:p>
            <a:pPr marL="803275" indent="-358775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rgbClr val="FF0000"/>
                </a:solidFill>
              </a:rPr>
              <a:t>CREATE TRIGGER</a:t>
            </a:r>
            <a:r>
              <a:rPr lang="zh-CN" altLang="en-US" dirty="0">
                <a:solidFill>
                  <a:srgbClr val="FF0000"/>
                </a:solidFill>
              </a:rPr>
              <a:t>语法格式</a:t>
            </a:r>
            <a:endParaRPr lang="en-US" altLang="zh-CN" dirty="0">
              <a:solidFill>
                <a:srgbClr val="FF0000"/>
              </a:solidFill>
            </a:endParaRPr>
          </a:p>
          <a:p>
            <a:pPr marL="444500" indent="358775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chemeClr val="tx1"/>
                </a:solidFill>
              </a:rPr>
              <a:t>CREATE TRIGGER &lt;</a:t>
            </a:r>
            <a:r>
              <a:rPr lang="zh-CN" altLang="en-US" sz="1800" dirty="0">
                <a:solidFill>
                  <a:schemeClr val="tx1"/>
                </a:solidFill>
              </a:rPr>
              <a:t>触发器名</a:t>
            </a:r>
            <a:r>
              <a:rPr lang="en-US" altLang="zh-CN" sz="1800" dirty="0">
                <a:solidFill>
                  <a:schemeClr val="tx1"/>
                </a:solidFill>
              </a:rPr>
              <a:t>&gt;  </a:t>
            </a:r>
          </a:p>
          <a:p>
            <a:pPr marL="444500" indent="358775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chemeClr val="tx1"/>
                </a:solidFill>
              </a:rPr>
              <a:t>       {BEFORE | AFTER} &lt;</a:t>
            </a:r>
            <a:r>
              <a:rPr lang="zh-CN" altLang="en-US" sz="1800" dirty="0">
                <a:solidFill>
                  <a:schemeClr val="tx1"/>
                </a:solidFill>
              </a:rPr>
              <a:t>触发事件</a:t>
            </a:r>
            <a:r>
              <a:rPr lang="en-US" altLang="zh-CN" sz="1800" dirty="0">
                <a:solidFill>
                  <a:schemeClr val="tx1"/>
                </a:solidFill>
              </a:rPr>
              <a:t>&gt; ON &lt;</a:t>
            </a:r>
            <a:r>
              <a:rPr lang="zh-CN" altLang="en-US" sz="1800" dirty="0">
                <a:solidFill>
                  <a:schemeClr val="tx1"/>
                </a:solidFill>
              </a:rPr>
              <a:t>表名</a:t>
            </a:r>
            <a:r>
              <a:rPr lang="en-US" altLang="zh-CN" sz="1800" dirty="0">
                <a:solidFill>
                  <a:schemeClr val="tx1"/>
                </a:solidFill>
              </a:rPr>
              <a:t>&gt;</a:t>
            </a:r>
          </a:p>
          <a:p>
            <a:pPr marL="444500" indent="358775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chemeClr val="tx1"/>
                </a:solidFill>
              </a:rPr>
              <a:t>       REFERENCING NEW|OLD AS&lt;</a:t>
            </a:r>
            <a:r>
              <a:rPr lang="zh-CN" altLang="en-US" sz="1800" dirty="0">
                <a:solidFill>
                  <a:schemeClr val="tx1"/>
                </a:solidFill>
              </a:rPr>
              <a:t>变量</a:t>
            </a:r>
            <a:r>
              <a:rPr lang="en-US" altLang="zh-CN" sz="1800" dirty="0">
                <a:solidFill>
                  <a:schemeClr val="tx1"/>
                </a:solidFill>
              </a:rPr>
              <a:t>&gt;</a:t>
            </a:r>
          </a:p>
          <a:p>
            <a:pPr marL="444500" indent="358775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chemeClr val="tx1"/>
                </a:solidFill>
              </a:rPr>
              <a:t>       FOR EACH  {ROW | STATEMENT}</a:t>
            </a:r>
          </a:p>
          <a:p>
            <a:pPr marL="444500" indent="358775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chemeClr val="tx1"/>
                </a:solidFill>
              </a:rPr>
              <a:t>       [WHEN &lt;</a:t>
            </a:r>
            <a:r>
              <a:rPr lang="zh-CN" altLang="en-US" sz="1800" dirty="0">
                <a:solidFill>
                  <a:schemeClr val="tx1"/>
                </a:solidFill>
              </a:rPr>
              <a:t>触发条件</a:t>
            </a:r>
            <a:r>
              <a:rPr lang="en-US" altLang="zh-CN" sz="1800" dirty="0">
                <a:solidFill>
                  <a:schemeClr val="tx1"/>
                </a:solidFill>
              </a:rPr>
              <a:t>&gt;]&lt;</a:t>
            </a:r>
            <a:r>
              <a:rPr lang="zh-CN" altLang="en-US" sz="1800" dirty="0">
                <a:solidFill>
                  <a:schemeClr val="tx1"/>
                </a:solidFill>
              </a:rPr>
              <a:t>触发动作体</a:t>
            </a:r>
            <a:r>
              <a:rPr lang="en-US" altLang="zh-CN" sz="1800" dirty="0">
                <a:solidFill>
                  <a:schemeClr val="tx1"/>
                </a:solidFill>
              </a:rPr>
              <a:t>&gt;</a:t>
            </a:r>
            <a:endParaRPr lang="zh-CN" alt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8946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2E887-FF28-4D2B-A021-72867474F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BA0A5E01-BC0A-F5C2-DAF1-A9E1449AA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8.1  </a:t>
            </a:r>
            <a:r>
              <a:rPr lang="zh-CN" altLang="en-US" dirty="0"/>
              <a:t>数据库完整性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87DA5C55-1945-E44D-B507-87F4B69B33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125" y="1056640"/>
            <a:ext cx="10978515" cy="76517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6. </a:t>
            </a:r>
            <a:r>
              <a:rPr lang="zh-CN" altLang="en-US" dirty="0"/>
              <a:t>触发器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5F52C5-9E06-51F0-0BA2-6DB70D32DB64}"/>
              </a:ext>
            </a:extLst>
          </p:cNvPr>
          <p:cNvSpPr txBox="1">
            <a:spLocks/>
          </p:cNvSpPr>
          <p:nvPr/>
        </p:nvSpPr>
        <p:spPr>
          <a:xfrm>
            <a:off x="599771" y="1677194"/>
            <a:ext cx="10978515" cy="49530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121917" tIns="60958" rIns="121917" bIns="60958" rtlCol="0">
            <a:noAutofit/>
          </a:bodyPr>
          <a:lstStyle>
            <a:lvl1pPr marL="457200" indent="-457200" algn="l" defTabSz="1219835" rtl="0" eaLnBrk="1" latinLnBrk="0" hangingPunct="1">
              <a:lnSpc>
                <a:spcPct val="120000"/>
              </a:lnSpc>
              <a:spcBef>
                <a:spcPct val="20000"/>
              </a:spcBef>
              <a:buSzPct val="80000"/>
              <a:buFont typeface="Wingdings" panose="05000000000000000000" pitchFamily="2" charset="2"/>
              <a:buChar char="l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4500" indent="-357188" algn="just">
              <a:lnSpc>
                <a:spcPct val="15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/>
                </a:solidFill>
              </a:rPr>
              <a:t>定义触发器的语法说明</a:t>
            </a:r>
          </a:p>
          <a:p>
            <a:pPr marL="44450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dirty="0">
                <a:solidFill>
                  <a:schemeClr val="tx1"/>
                </a:solidFill>
              </a:rPr>
              <a:t>（</a:t>
            </a:r>
            <a:r>
              <a:rPr lang="en-US" altLang="zh-CN" dirty="0">
                <a:solidFill>
                  <a:schemeClr val="tx1"/>
                </a:solidFill>
              </a:rPr>
              <a:t>1</a:t>
            </a:r>
            <a:r>
              <a:rPr lang="zh-CN" altLang="en-US" dirty="0">
                <a:solidFill>
                  <a:schemeClr val="tx1"/>
                </a:solidFill>
              </a:rPr>
              <a:t>）创建触发器</a:t>
            </a:r>
            <a:endParaRPr lang="en-US" altLang="zh-CN" dirty="0">
              <a:solidFill>
                <a:schemeClr val="tx1"/>
              </a:solidFill>
            </a:endParaRPr>
          </a:p>
          <a:p>
            <a:pPr marL="444500" indent="62865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dirty="0">
                <a:solidFill>
                  <a:schemeClr val="tx1"/>
                </a:solidFill>
              </a:rPr>
              <a:t>表的</a:t>
            </a:r>
            <a:r>
              <a:rPr lang="zh-CN" altLang="en-US" dirty="0">
                <a:solidFill>
                  <a:srgbClr val="FF0000"/>
                </a:solidFill>
              </a:rPr>
              <a:t>拥有者</a:t>
            </a:r>
            <a:r>
              <a:rPr lang="zh-CN" altLang="en-US" dirty="0">
                <a:solidFill>
                  <a:schemeClr val="tx1"/>
                </a:solidFill>
              </a:rPr>
              <a:t>才可以在表上创建触发器</a:t>
            </a:r>
          </a:p>
          <a:p>
            <a:pPr marL="44450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dirty="0">
                <a:solidFill>
                  <a:schemeClr val="tx1"/>
                </a:solidFill>
              </a:rPr>
              <a:t>（</a:t>
            </a:r>
            <a:r>
              <a:rPr lang="en-US" altLang="zh-CN" dirty="0">
                <a:solidFill>
                  <a:schemeClr val="tx1"/>
                </a:solidFill>
              </a:rPr>
              <a:t>2</a:t>
            </a:r>
            <a:r>
              <a:rPr lang="zh-CN" altLang="en-US" dirty="0">
                <a:solidFill>
                  <a:schemeClr val="tx1"/>
                </a:solidFill>
              </a:rPr>
              <a:t>）触发器名</a:t>
            </a:r>
          </a:p>
          <a:p>
            <a:pPr marL="1343025" indent="-269875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</a:rPr>
              <a:t>可以包含模式名，也可以不包含模式名</a:t>
            </a:r>
          </a:p>
          <a:p>
            <a:pPr marL="1343025" indent="-269875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</a:rPr>
              <a:t>同一模式下，触发器名必须是唯一的</a:t>
            </a:r>
          </a:p>
          <a:p>
            <a:pPr marL="1343025" indent="-269875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</a:rPr>
              <a:t>触发器名和表名必须在同一模式下</a:t>
            </a:r>
          </a:p>
          <a:p>
            <a:pPr marL="44450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dirty="0">
                <a:solidFill>
                  <a:schemeClr val="tx1"/>
                </a:solidFill>
              </a:rPr>
              <a:t>（</a:t>
            </a:r>
            <a:r>
              <a:rPr lang="en-US" altLang="zh-CN" dirty="0">
                <a:solidFill>
                  <a:schemeClr val="tx1"/>
                </a:solidFill>
              </a:rPr>
              <a:t>3</a:t>
            </a:r>
            <a:r>
              <a:rPr lang="zh-CN" altLang="en-US" dirty="0">
                <a:solidFill>
                  <a:schemeClr val="tx1"/>
                </a:solidFill>
              </a:rPr>
              <a:t>）表名</a:t>
            </a:r>
          </a:p>
          <a:p>
            <a:pPr marL="1343025" indent="-269875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</a:rPr>
              <a:t>触发器只能定义在基本表上，不能定义在视图上</a:t>
            </a:r>
          </a:p>
          <a:p>
            <a:pPr marL="1343025" indent="-269875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</a:rPr>
              <a:t>当基本表的数据发生变化时，将激活定义在该表上相应触发事件的触发器</a:t>
            </a:r>
          </a:p>
        </p:txBody>
      </p:sp>
    </p:spTree>
    <p:extLst>
      <p:ext uri="{BB962C8B-B14F-4D97-AF65-F5344CB8AC3E}">
        <p14:creationId xmlns:p14="http://schemas.microsoft.com/office/powerpoint/2010/main" val="3287651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9D709-A8A8-4F1F-EB6E-387BCECB6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A6562BDE-BB06-A586-96CA-813B0EEC2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8.1  </a:t>
            </a:r>
            <a:r>
              <a:rPr lang="zh-CN" altLang="en-US" dirty="0"/>
              <a:t>数据库完整性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64FAFD78-6F2F-2811-8D35-62C30FF48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125" y="1056640"/>
            <a:ext cx="10978515" cy="76517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6. </a:t>
            </a:r>
            <a:r>
              <a:rPr lang="zh-CN" altLang="en-US" dirty="0"/>
              <a:t>触发器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0AEC17-FFC0-ED6F-AC38-0473F911541F}"/>
              </a:ext>
            </a:extLst>
          </p:cNvPr>
          <p:cNvSpPr txBox="1">
            <a:spLocks/>
          </p:cNvSpPr>
          <p:nvPr/>
        </p:nvSpPr>
        <p:spPr>
          <a:xfrm>
            <a:off x="599771" y="1677194"/>
            <a:ext cx="10978515" cy="43434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121917" tIns="60958" rIns="121917" bIns="60958" rtlCol="0">
            <a:noAutofit/>
          </a:bodyPr>
          <a:lstStyle>
            <a:lvl1pPr marL="457200" indent="-457200" algn="l" defTabSz="1219835" rtl="0" eaLnBrk="1" latinLnBrk="0" hangingPunct="1">
              <a:lnSpc>
                <a:spcPct val="120000"/>
              </a:lnSpc>
              <a:spcBef>
                <a:spcPct val="20000"/>
              </a:spcBef>
              <a:buSzPct val="80000"/>
              <a:buFont typeface="Wingdings" panose="05000000000000000000" pitchFamily="2" charset="2"/>
              <a:buChar char="l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4500" indent="-357188" algn="just">
              <a:lnSpc>
                <a:spcPct val="15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/>
                </a:solidFill>
              </a:rPr>
              <a:t>定义触发器的语法说明</a:t>
            </a:r>
          </a:p>
          <a:p>
            <a:pPr marL="444500" indent="0" algn="just"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en-US" dirty="0">
                <a:solidFill>
                  <a:schemeClr val="tx1"/>
                </a:solidFill>
              </a:rPr>
              <a:t>（</a:t>
            </a:r>
            <a:r>
              <a:rPr lang="en-US" altLang="zh-CN" dirty="0">
                <a:solidFill>
                  <a:schemeClr val="tx1"/>
                </a:solidFill>
              </a:rPr>
              <a:t>4</a:t>
            </a:r>
            <a:r>
              <a:rPr lang="zh-CN" altLang="en-US" dirty="0">
                <a:solidFill>
                  <a:schemeClr val="tx1"/>
                </a:solidFill>
              </a:rPr>
              <a:t>）触发事件</a:t>
            </a:r>
          </a:p>
          <a:p>
            <a:pPr marL="1431925" indent="-358775"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</a:rPr>
              <a:t>触发事件可以是</a:t>
            </a:r>
            <a:r>
              <a:rPr lang="en-US" altLang="zh-CN" dirty="0">
                <a:solidFill>
                  <a:srgbClr val="FF0000"/>
                </a:solidFill>
              </a:rPr>
              <a:t>INSERT</a:t>
            </a:r>
            <a:r>
              <a:rPr lang="zh-CN" altLang="en-US" dirty="0">
                <a:solidFill>
                  <a:srgbClr val="FF0000"/>
                </a:solidFill>
              </a:rPr>
              <a:t>、</a:t>
            </a:r>
            <a:r>
              <a:rPr lang="en-US" altLang="zh-CN" dirty="0">
                <a:solidFill>
                  <a:srgbClr val="FF0000"/>
                </a:solidFill>
              </a:rPr>
              <a:t>DELETE</a:t>
            </a:r>
            <a:r>
              <a:rPr lang="zh-CN" altLang="en-US" dirty="0">
                <a:solidFill>
                  <a:srgbClr val="FF0000"/>
                </a:solidFill>
              </a:rPr>
              <a:t>或</a:t>
            </a:r>
            <a:r>
              <a:rPr lang="en-US" altLang="zh-CN" dirty="0">
                <a:solidFill>
                  <a:srgbClr val="FF0000"/>
                </a:solidFill>
              </a:rPr>
              <a:t>UPDATE</a:t>
            </a:r>
          </a:p>
          <a:p>
            <a:pPr marL="1073150" indent="358775" algn="just"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en-US" dirty="0">
                <a:solidFill>
                  <a:schemeClr val="tx1"/>
                </a:solidFill>
              </a:rPr>
              <a:t>也可以是这几个事件的组合</a:t>
            </a:r>
          </a:p>
          <a:p>
            <a:pPr marL="1431925" indent="-358775"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</a:rPr>
              <a:t>还可以</a:t>
            </a:r>
            <a:r>
              <a:rPr lang="en-US" altLang="zh-CN" dirty="0">
                <a:solidFill>
                  <a:srgbClr val="FF0000"/>
                </a:solidFill>
              </a:rPr>
              <a:t>UPDATE OF&lt;</a:t>
            </a:r>
            <a:r>
              <a:rPr lang="zh-CN" altLang="en-US" dirty="0">
                <a:solidFill>
                  <a:srgbClr val="FF0000"/>
                </a:solidFill>
              </a:rPr>
              <a:t>触发列，</a:t>
            </a:r>
            <a:r>
              <a:rPr lang="en-US" altLang="zh-CN" dirty="0">
                <a:solidFill>
                  <a:srgbClr val="FF0000"/>
                </a:solidFill>
              </a:rPr>
              <a:t>...&gt;</a:t>
            </a:r>
            <a:r>
              <a:rPr lang="zh-CN" altLang="en-US" dirty="0">
                <a:solidFill>
                  <a:schemeClr val="tx1"/>
                </a:solidFill>
              </a:rPr>
              <a:t>，即进一步指明修改哪些列时激活触发器</a:t>
            </a:r>
          </a:p>
          <a:p>
            <a:pPr marL="1431925" indent="-358775"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rgbClr val="FF0000"/>
                </a:solidFill>
              </a:rPr>
              <a:t>AFTER/BEFORE</a:t>
            </a:r>
            <a:r>
              <a:rPr lang="zh-CN" altLang="en-US" dirty="0">
                <a:solidFill>
                  <a:schemeClr val="tx1"/>
                </a:solidFill>
              </a:rPr>
              <a:t>是触发的时机</a:t>
            </a:r>
          </a:p>
          <a:p>
            <a:pPr marL="1701800" indent="-269875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chemeClr val="tx1"/>
                </a:solidFill>
              </a:rPr>
              <a:t>AFTER</a:t>
            </a:r>
            <a:r>
              <a:rPr lang="zh-CN" altLang="en-US" dirty="0">
                <a:solidFill>
                  <a:schemeClr val="tx1"/>
                </a:solidFill>
              </a:rPr>
              <a:t>表示在触发事件的操作执行之后激活触发器</a:t>
            </a:r>
          </a:p>
          <a:p>
            <a:pPr marL="1701800" indent="-269875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chemeClr val="tx1"/>
                </a:solidFill>
              </a:rPr>
              <a:t>BEFORE</a:t>
            </a:r>
            <a:r>
              <a:rPr lang="zh-CN" altLang="en-US" dirty="0">
                <a:solidFill>
                  <a:schemeClr val="tx1"/>
                </a:solidFill>
              </a:rPr>
              <a:t>表示在触发事件的操作执行之前激活触发器</a:t>
            </a:r>
          </a:p>
        </p:txBody>
      </p:sp>
    </p:spTree>
    <p:extLst>
      <p:ext uri="{BB962C8B-B14F-4D97-AF65-F5344CB8AC3E}">
        <p14:creationId xmlns:p14="http://schemas.microsoft.com/office/powerpoint/2010/main" val="3817601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25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281F4-2611-ABA1-80BA-D2C0A281A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A510E18-B03D-EA2F-50D1-C81F1C9E5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8.1  </a:t>
            </a:r>
            <a:r>
              <a:rPr lang="zh-CN" altLang="en-US" dirty="0"/>
              <a:t>数据库完整性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A17880A1-5531-0B67-B090-1D78AAAE6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125" y="1056640"/>
            <a:ext cx="10978515" cy="76517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6. </a:t>
            </a:r>
            <a:r>
              <a:rPr lang="zh-CN" altLang="en-US" dirty="0"/>
              <a:t>触发器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A410CA-FD8C-1553-26A7-6E0FCAED6F73}"/>
              </a:ext>
            </a:extLst>
          </p:cNvPr>
          <p:cNvSpPr txBox="1">
            <a:spLocks/>
          </p:cNvSpPr>
          <p:nvPr/>
        </p:nvSpPr>
        <p:spPr>
          <a:xfrm>
            <a:off x="599771" y="1677194"/>
            <a:ext cx="10978515" cy="43434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121917" tIns="60958" rIns="121917" bIns="60958" rtlCol="0">
            <a:noAutofit/>
          </a:bodyPr>
          <a:lstStyle>
            <a:lvl1pPr marL="457200" indent="-457200" algn="l" defTabSz="1219835" rtl="0" eaLnBrk="1" latinLnBrk="0" hangingPunct="1">
              <a:lnSpc>
                <a:spcPct val="120000"/>
              </a:lnSpc>
              <a:spcBef>
                <a:spcPct val="20000"/>
              </a:spcBef>
              <a:buSzPct val="80000"/>
              <a:buFont typeface="Wingdings" panose="05000000000000000000" pitchFamily="2" charset="2"/>
              <a:buChar char="l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4500" indent="-357188" algn="just">
              <a:lnSpc>
                <a:spcPct val="15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/>
                </a:solidFill>
              </a:rPr>
              <a:t>定义触发器的语法说明</a:t>
            </a:r>
          </a:p>
          <a:p>
            <a:pPr marL="444500" indent="0" algn="just"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en-US" dirty="0">
                <a:solidFill>
                  <a:schemeClr val="tx1"/>
                </a:solidFill>
              </a:rPr>
              <a:t>（</a:t>
            </a:r>
            <a:r>
              <a:rPr lang="en-US" altLang="zh-CN" dirty="0">
                <a:solidFill>
                  <a:schemeClr val="tx1"/>
                </a:solidFill>
              </a:rPr>
              <a:t>5</a:t>
            </a:r>
            <a:r>
              <a:rPr lang="zh-CN" altLang="en-US" dirty="0">
                <a:solidFill>
                  <a:schemeClr val="tx1"/>
                </a:solidFill>
              </a:rPr>
              <a:t>）触发器类型</a:t>
            </a:r>
          </a:p>
          <a:p>
            <a:pPr marL="985838" indent="87313" algn="just"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en-US" dirty="0">
                <a:solidFill>
                  <a:schemeClr val="tx1"/>
                </a:solidFill>
              </a:rPr>
              <a:t>行级触发器（</a:t>
            </a:r>
            <a:r>
              <a:rPr lang="en-US" altLang="zh-CN" dirty="0">
                <a:solidFill>
                  <a:schemeClr val="tx1"/>
                </a:solidFill>
              </a:rPr>
              <a:t>FOR EACH ROW</a:t>
            </a:r>
            <a:r>
              <a:rPr lang="zh-CN" altLang="en-US" dirty="0">
                <a:solidFill>
                  <a:schemeClr val="tx1"/>
                </a:solidFill>
              </a:rPr>
              <a:t>）</a:t>
            </a:r>
          </a:p>
          <a:p>
            <a:pPr marL="985838" indent="87313" algn="just"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en-US" dirty="0">
                <a:solidFill>
                  <a:schemeClr val="tx1"/>
                </a:solidFill>
              </a:rPr>
              <a:t>语句级触发器（</a:t>
            </a:r>
            <a:r>
              <a:rPr lang="en-US" altLang="zh-CN" dirty="0">
                <a:solidFill>
                  <a:schemeClr val="tx1"/>
                </a:solidFill>
              </a:rPr>
              <a:t>FOR EACH STATEMENT</a:t>
            </a:r>
            <a:r>
              <a:rPr lang="zh-CN" altLang="en-US" dirty="0">
                <a:solidFill>
                  <a:schemeClr val="tx1"/>
                </a:solidFill>
              </a:rPr>
              <a:t>）</a:t>
            </a:r>
          </a:p>
          <a:p>
            <a:pPr marL="444500" indent="0" algn="just"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en-US" dirty="0">
                <a:solidFill>
                  <a:schemeClr val="tx1"/>
                </a:solidFill>
              </a:rPr>
              <a:t>（</a:t>
            </a:r>
            <a:r>
              <a:rPr lang="en-US" altLang="zh-CN" dirty="0">
                <a:solidFill>
                  <a:schemeClr val="tx1"/>
                </a:solidFill>
              </a:rPr>
              <a:t>6</a:t>
            </a:r>
            <a:r>
              <a:rPr lang="zh-CN" altLang="en-US" dirty="0">
                <a:solidFill>
                  <a:schemeClr val="tx1"/>
                </a:solidFill>
              </a:rPr>
              <a:t>）触发条件</a:t>
            </a:r>
          </a:p>
          <a:p>
            <a:pPr marL="1431925" indent="-358775"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</a:rPr>
              <a:t>触发器被激活时，只有当触发条件为真时触发动作体才执行；</a:t>
            </a:r>
            <a:endParaRPr lang="en-US" altLang="zh-CN" dirty="0">
              <a:solidFill>
                <a:schemeClr val="tx1"/>
              </a:solidFill>
            </a:endParaRPr>
          </a:p>
          <a:p>
            <a:pPr marL="1073150" indent="358775" algn="just"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en-US" dirty="0">
                <a:solidFill>
                  <a:schemeClr val="tx1"/>
                </a:solidFill>
              </a:rPr>
              <a:t>否则触发动作体不执行</a:t>
            </a:r>
          </a:p>
          <a:p>
            <a:pPr marL="1431925" indent="-358775"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</a:rPr>
              <a:t>如果省略</a:t>
            </a:r>
            <a:r>
              <a:rPr lang="en-US" altLang="zh-CN" dirty="0">
                <a:solidFill>
                  <a:schemeClr val="tx1"/>
                </a:solidFill>
              </a:rPr>
              <a:t>WHEN</a:t>
            </a:r>
            <a:r>
              <a:rPr lang="zh-CN" altLang="en-US" dirty="0">
                <a:solidFill>
                  <a:schemeClr val="tx1"/>
                </a:solidFill>
              </a:rPr>
              <a:t>触发条件，则触发动作体在触发器激活后立即执行</a:t>
            </a:r>
          </a:p>
        </p:txBody>
      </p:sp>
      <p:sp>
        <p:nvSpPr>
          <p:cNvPr id="2" name="左大括号 1">
            <a:extLst>
              <a:ext uri="{FF2B5EF4-FFF2-40B4-BE49-F238E27FC236}">
                <a16:creationId xmlns:a16="http://schemas.microsoft.com/office/drawing/2014/main" id="{FE67C089-940B-2211-EFAE-2C83634F575D}"/>
              </a:ext>
            </a:extLst>
          </p:cNvPr>
          <p:cNvSpPr/>
          <p:nvPr/>
        </p:nvSpPr>
        <p:spPr>
          <a:xfrm>
            <a:off x="1527175" y="3011620"/>
            <a:ext cx="228600" cy="609600"/>
          </a:xfrm>
          <a:prstGeom prst="leftBrac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6E124916-57B7-0388-B37F-FF7033522666}"/>
              </a:ext>
            </a:extLst>
          </p:cNvPr>
          <p:cNvSpPr/>
          <p:nvPr/>
        </p:nvSpPr>
        <p:spPr>
          <a:xfrm>
            <a:off x="6632575" y="3406090"/>
            <a:ext cx="4800600" cy="410023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zh-CN" altLang="en-US" sz="1800" dirty="0">
                <a:solidFill>
                  <a:schemeClr val="tx1"/>
                </a:solidFill>
              </a:rPr>
              <a:t>执行完</a:t>
            </a:r>
            <a:r>
              <a:rPr lang="en-US" altLang="zh-CN" sz="1800" dirty="0">
                <a:solidFill>
                  <a:schemeClr val="tx1"/>
                </a:solidFill>
              </a:rPr>
              <a:t>UPDATE</a:t>
            </a:r>
            <a:r>
              <a:rPr lang="zh-CN" altLang="en-US" sz="1800" dirty="0">
                <a:solidFill>
                  <a:schemeClr val="tx1"/>
                </a:solidFill>
              </a:rPr>
              <a:t>语句后触发动作体将执行一次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B6889281-3037-7D01-CA59-53B6146298D9}"/>
              </a:ext>
            </a:extLst>
          </p:cNvPr>
          <p:cNvSpPr/>
          <p:nvPr/>
        </p:nvSpPr>
        <p:spPr>
          <a:xfrm>
            <a:off x="5641975" y="2806608"/>
            <a:ext cx="4800600" cy="410023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altLang="zh-CN" sz="1800" dirty="0">
                <a:solidFill>
                  <a:schemeClr val="tx1"/>
                </a:solidFill>
              </a:rPr>
              <a:t>UPDATE </a:t>
            </a:r>
            <a:r>
              <a:rPr lang="zh-CN" altLang="en-US" sz="1800" dirty="0">
                <a:solidFill>
                  <a:schemeClr val="tx1"/>
                </a:solidFill>
              </a:rPr>
              <a:t>语句影响多少行，就触发多少次</a:t>
            </a:r>
          </a:p>
        </p:txBody>
      </p:sp>
    </p:spTree>
    <p:extLst>
      <p:ext uri="{BB962C8B-B14F-4D97-AF65-F5344CB8AC3E}">
        <p14:creationId xmlns:p14="http://schemas.microsoft.com/office/powerpoint/2010/main" val="1749902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25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9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5952F-DDD5-238D-B22A-DC560E5B6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8A1B061B-24BB-281E-2C12-5C29FD781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8.1  </a:t>
            </a:r>
            <a:r>
              <a:rPr lang="zh-CN" altLang="en-US" dirty="0"/>
              <a:t>数据库完整性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4775DE6A-2348-9121-42ED-86C90C1DC4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125" y="1056640"/>
            <a:ext cx="10978515" cy="76517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6. </a:t>
            </a:r>
            <a:r>
              <a:rPr lang="zh-CN" altLang="en-US" dirty="0"/>
              <a:t>触发器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9AD3DC-6CA8-103B-DE8D-86F8F929FA79}"/>
              </a:ext>
            </a:extLst>
          </p:cNvPr>
          <p:cNvSpPr txBox="1">
            <a:spLocks/>
          </p:cNvSpPr>
          <p:nvPr/>
        </p:nvSpPr>
        <p:spPr>
          <a:xfrm>
            <a:off x="599771" y="1677194"/>
            <a:ext cx="10978515" cy="482997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121917" tIns="60958" rIns="121917" bIns="60958" rtlCol="0">
            <a:noAutofit/>
          </a:bodyPr>
          <a:lstStyle>
            <a:lvl1pPr marL="457200" indent="-457200" algn="l" defTabSz="1219835" rtl="0" eaLnBrk="1" latinLnBrk="0" hangingPunct="1">
              <a:lnSpc>
                <a:spcPct val="120000"/>
              </a:lnSpc>
              <a:spcBef>
                <a:spcPct val="20000"/>
              </a:spcBef>
              <a:buSzPct val="80000"/>
              <a:buFont typeface="Wingdings" panose="05000000000000000000" pitchFamily="2" charset="2"/>
              <a:buChar char="l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4500" indent="-357188" algn="just">
              <a:lnSpc>
                <a:spcPct val="15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/>
                </a:solidFill>
              </a:rPr>
              <a:t>定义触发器的语法说明</a:t>
            </a:r>
          </a:p>
          <a:p>
            <a:pPr marL="444500" indent="0" algn="just"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en-US" dirty="0">
                <a:solidFill>
                  <a:schemeClr val="tx1"/>
                </a:solidFill>
              </a:rPr>
              <a:t>（</a:t>
            </a:r>
            <a:r>
              <a:rPr lang="en-US" altLang="zh-CN" dirty="0">
                <a:solidFill>
                  <a:schemeClr val="tx1"/>
                </a:solidFill>
              </a:rPr>
              <a:t>7</a:t>
            </a:r>
            <a:r>
              <a:rPr lang="zh-CN" altLang="en-US" dirty="0">
                <a:solidFill>
                  <a:schemeClr val="tx1"/>
                </a:solidFill>
              </a:rPr>
              <a:t>）触发动作体</a:t>
            </a:r>
          </a:p>
          <a:p>
            <a:pPr marL="1431925" indent="-358775"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</a:rPr>
              <a:t>触发动作体可以是一个匿名</a:t>
            </a:r>
            <a:r>
              <a:rPr lang="en-US" altLang="zh-CN" dirty="0">
                <a:solidFill>
                  <a:schemeClr val="tx1"/>
                </a:solidFill>
              </a:rPr>
              <a:t>PL/SQL</a:t>
            </a:r>
            <a:r>
              <a:rPr lang="zh-CN" altLang="en-US" dirty="0">
                <a:solidFill>
                  <a:schemeClr val="tx1"/>
                </a:solidFill>
              </a:rPr>
              <a:t>过程块</a:t>
            </a:r>
          </a:p>
          <a:p>
            <a:pPr marL="1073150" indent="358775" algn="just"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en-US" dirty="0">
                <a:solidFill>
                  <a:schemeClr val="tx1"/>
                </a:solidFill>
              </a:rPr>
              <a:t>也可以是对已创建存储过程的调用</a:t>
            </a:r>
          </a:p>
          <a:p>
            <a:pPr marL="1431925" indent="-358775"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</a:rPr>
              <a:t>如果是行级触发器，用户可以在过程体中使用</a:t>
            </a:r>
            <a:r>
              <a:rPr lang="en-US" altLang="zh-CN" dirty="0">
                <a:solidFill>
                  <a:schemeClr val="tx1"/>
                </a:solidFill>
              </a:rPr>
              <a:t>NEW</a:t>
            </a:r>
            <a:r>
              <a:rPr lang="zh-CN" altLang="en-US" dirty="0">
                <a:solidFill>
                  <a:schemeClr val="tx1"/>
                </a:solidFill>
              </a:rPr>
              <a:t>和</a:t>
            </a:r>
            <a:r>
              <a:rPr lang="en-US" altLang="zh-CN" dirty="0">
                <a:solidFill>
                  <a:schemeClr val="tx1"/>
                </a:solidFill>
              </a:rPr>
              <a:t>OLD</a:t>
            </a:r>
            <a:r>
              <a:rPr lang="zh-CN" altLang="en-US" dirty="0">
                <a:solidFill>
                  <a:schemeClr val="tx1"/>
                </a:solidFill>
              </a:rPr>
              <a:t>引用</a:t>
            </a:r>
            <a:r>
              <a:rPr lang="en-US" altLang="zh-CN" dirty="0">
                <a:solidFill>
                  <a:schemeClr val="tx1"/>
                </a:solidFill>
              </a:rPr>
              <a:t>UPDATE/INSERT</a:t>
            </a:r>
            <a:r>
              <a:rPr lang="zh-CN" altLang="en-US" dirty="0">
                <a:solidFill>
                  <a:schemeClr val="tx1"/>
                </a:solidFill>
              </a:rPr>
              <a:t>事件之后（前）的新（旧）值</a:t>
            </a:r>
          </a:p>
          <a:p>
            <a:pPr marL="1431925" indent="-358775"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</a:rPr>
              <a:t>如果是语句级触发器，不能在触发动作体中使用</a:t>
            </a:r>
            <a:r>
              <a:rPr lang="en-US" altLang="zh-CN" dirty="0">
                <a:solidFill>
                  <a:schemeClr val="tx1"/>
                </a:solidFill>
              </a:rPr>
              <a:t>NEW</a:t>
            </a:r>
            <a:r>
              <a:rPr lang="zh-CN" altLang="en-US" dirty="0">
                <a:solidFill>
                  <a:schemeClr val="tx1"/>
                </a:solidFill>
              </a:rPr>
              <a:t>或</a:t>
            </a:r>
            <a:r>
              <a:rPr lang="en-US" altLang="zh-CN" dirty="0">
                <a:solidFill>
                  <a:schemeClr val="tx1"/>
                </a:solidFill>
              </a:rPr>
              <a:t>OLD</a:t>
            </a:r>
            <a:r>
              <a:rPr lang="zh-CN" altLang="en-US" dirty="0">
                <a:solidFill>
                  <a:schemeClr val="tx1"/>
                </a:solidFill>
              </a:rPr>
              <a:t>进行引用</a:t>
            </a:r>
          </a:p>
          <a:p>
            <a:pPr marL="1431925" indent="-358775"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</a:rPr>
              <a:t>如果触发动作体执行失败，激活触发器的事件就会终止执行，触发器的目标表或触发器可能影响的其他对象不发生任何变化 </a:t>
            </a:r>
          </a:p>
        </p:txBody>
      </p:sp>
    </p:spTree>
    <p:extLst>
      <p:ext uri="{BB962C8B-B14F-4D97-AF65-F5344CB8AC3E}">
        <p14:creationId xmlns:p14="http://schemas.microsoft.com/office/powerpoint/2010/main" val="639162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20" end="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charRg st="20" end="4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42" end="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charRg st="42" end="5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58" end="1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charRg st="58" end="1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14" end="1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charRg st="114" end="14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47" end="20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charRg st="147" end="20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62E1D-EBE0-3F73-1179-A203FC13C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3D406C24-3036-6965-ACFE-68B7AD23C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8.1  </a:t>
            </a:r>
            <a:r>
              <a:rPr lang="zh-CN" altLang="en-US" dirty="0"/>
              <a:t>数据库完整性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9508BB85-54A9-A7BF-7B34-78956AE8D4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125" y="1056640"/>
            <a:ext cx="10978515" cy="76517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6. </a:t>
            </a:r>
            <a:r>
              <a:rPr lang="zh-CN" altLang="en-US" dirty="0"/>
              <a:t>触发器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9B6C26-A147-64AC-098A-7492D97458CB}"/>
              </a:ext>
            </a:extLst>
          </p:cNvPr>
          <p:cNvSpPr txBox="1">
            <a:spLocks/>
          </p:cNvSpPr>
          <p:nvPr/>
        </p:nvSpPr>
        <p:spPr>
          <a:xfrm>
            <a:off x="599771" y="1677194"/>
            <a:ext cx="10978515" cy="482997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121917" tIns="60958" rIns="121917" bIns="60958" rtlCol="0">
            <a:noAutofit/>
          </a:bodyPr>
          <a:lstStyle>
            <a:lvl1pPr marL="457200" indent="-457200" algn="l" defTabSz="1219835" rtl="0" eaLnBrk="1" latinLnBrk="0" hangingPunct="1">
              <a:lnSpc>
                <a:spcPct val="120000"/>
              </a:lnSpc>
              <a:spcBef>
                <a:spcPct val="20000"/>
              </a:spcBef>
              <a:buSzPct val="80000"/>
              <a:buFont typeface="Wingdings" panose="05000000000000000000" pitchFamily="2" charset="2"/>
              <a:buChar char="l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4500" indent="-357188" algn="just">
              <a:lnSpc>
                <a:spcPct val="130000"/>
              </a:lnSpc>
              <a:spcBef>
                <a:spcPts val="0"/>
              </a:spcBef>
            </a:pPr>
            <a:r>
              <a:rPr lang="zh-CN" altLang="en-US" dirty="0">
                <a:solidFill>
                  <a:srgbClr val="FF0000"/>
                </a:solidFill>
              </a:rPr>
              <a:t>例：当对表</a:t>
            </a:r>
            <a:r>
              <a:rPr lang="en-US" altLang="zh-CN" dirty="0">
                <a:solidFill>
                  <a:srgbClr val="FF0000"/>
                </a:solidFill>
              </a:rPr>
              <a:t>SC</a:t>
            </a:r>
            <a:r>
              <a:rPr lang="zh-CN" altLang="en-US" dirty="0">
                <a:solidFill>
                  <a:srgbClr val="FF0000"/>
                </a:solidFill>
              </a:rPr>
              <a:t>的</a:t>
            </a:r>
            <a:r>
              <a:rPr lang="en-US" altLang="zh-CN" dirty="0">
                <a:solidFill>
                  <a:srgbClr val="FF0000"/>
                </a:solidFill>
              </a:rPr>
              <a:t>Grade</a:t>
            </a:r>
            <a:r>
              <a:rPr lang="zh-CN" altLang="en-US" dirty="0">
                <a:solidFill>
                  <a:srgbClr val="FF0000"/>
                </a:solidFill>
              </a:rPr>
              <a:t>属性进行修改时，若分数增加了</a:t>
            </a:r>
            <a:r>
              <a:rPr lang="en-US" altLang="zh-CN" dirty="0">
                <a:solidFill>
                  <a:srgbClr val="FF0000"/>
                </a:solidFill>
              </a:rPr>
              <a:t>10%</a:t>
            </a:r>
            <a:r>
              <a:rPr lang="zh-CN" altLang="en-US" dirty="0">
                <a:solidFill>
                  <a:srgbClr val="FF0000"/>
                </a:solidFill>
              </a:rPr>
              <a:t>，则将此次操作记录到另一个表</a:t>
            </a:r>
            <a:r>
              <a:rPr lang="en-US" altLang="zh-CN" dirty="0">
                <a:solidFill>
                  <a:srgbClr val="FF0000"/>
                </a:solidFill>
              </a:rPr>
              <a:t>SC_U</a:t>
            </a:r>
            <a:r>
              <a:rPr lang="zh-CN" altLang="en-US" dirty="0">
                <a:solidFill>
                  <a:srgbClr val="FF0000"/>
                </a:solidFill>
              </a:rPr>
              <a:t>（</a:t>
            </a:r>
            <a:r>
              <a:rPr lang="en-US" altLang="zh-CN" dirty="0">
                <a:solidFill>
                  <a:srgbClr val="FF0000"/>
                </a:solidFill>
              </a:rPr>
              <a:t>Sno CHAR(8)</a:t>
            </a:r>
            <a:r>
              <a:rPr lang="zh-CN" altLang="en-US" dirty="0">
                <a:solidFill>
                  <a:srgbClr val="FF0000"/>
                </a:solidFill>
              </a:rPr>
              <a:t>、</a:t>
            </a:r>
            <a:r>
              <a:rPr lang="en-US" altLang="zh-CN" dirty="0" err="1">
                <a:solidFill>
                  <a:srgbClr val="FF0000"/>
                </a:solidFill>
              </a:rPr>
              <a:t>Cno</a:t>
            </a:r>
            <a:r>
              <a:rPr lang="en-US" altLang="zh-CN" dirty="0">
                <a:solidFill>
                  <a:srgbClr val="FF0000"/>
                </a:solidFill>
              </a:rPr>
              <a:t> CHAR(5)</a:t>
            </a:r>
            <a:r>
              <a:rPr lang="zh-CN" altLang="en-US" dirty="0">
                <a:solidFill>
                  <a:srgbClr val="FF0000"/>
                </a:solidFill>
              </a:rPr>
              <a:t>、</a:t>
            </a:r>
            <a:r>
              <a:rPr lang="en-US" altLang="zh-CN" dirty="0" err="1">
                <a:solidFill>
                  <a:srgbClr val="FF0000"/>
                </a:solidFill>
              </a:rPr>
              <a:t>Oldgrade</a:t>
            </a:r>
            <a:r>
              <a:rPr lang="en-US" altLang="zh-CN" dirty="0">
                <a:solidFill>
                  <a:srgbClr val="FF0000"/>
                </a:solidFill>
              </a:rPr>
              <a:t> SMALLINT</a:t>
            </a:r>
            <a:r>
              <a:rPr lang="zh-CN" altLang="en-US" dirty="0">
                <a:solidFill>
                  <a:srgbClr val="FF0000"/>
                </a:solidFill>
              </a:rPr>
              <a:t>、</a:t>
            </a:r>
            <a:r>
              <a:rPr lang="en-US" altLang="zh-CN" dirty="0" err="1">
                <a:solidFill>
                  <a:srgbClr val="FF0000"/>
                </a:solidFill>
              </a:rPr>
              <a:t>Newgrade</a:t>
            </a:r>
            <a:r>
              <a:rPr lang="en-US" altLang="zh-CN" dirty="0">
                <a:solidFill>
                  <a:srgbClr val="FF0000"/>
                </a:solidFill>
              </a:rPr>
              <a:t> SMALLINT </a:t>
            </a:r>
            <a:r>
              <a:rPr lang="zh-CN" altLang="en-US" dirty="0">
                <a:solidFill>
                  <a:srgbClr val="FF0000"/>
                </a:solidFill>
              </a:rPr>
              <a:t>）中，其中</a:t>
            </a:r>
            <a:r>
              <a:rPr lang="en-US" altLang="zh-CN" dirty="0" err="1">
                <a:solidFill>
                  <a:srgbClr val="FF0000"/>
                </a:solidFill>
              </a:rPr>
              <a:t>Oldgrade</a:t>
            </a:r>
            <a:r>
              <a:rPr lang="zh-CN" altLang="en-US" dirty="0">
                <a:solidFill>
                  <a:srgbClr val="FF0000"/>
                </a:solidFill>
              </a:rPr>
              <a:t>是修改前的分数，</a:t>
            </a:r>
            <a:r>
              <a:rPr lang="en-US" altLang="zh-CN" dirty="0" err="1">
                <a:solidFill>
                  <a:srgbClr val="FF0000"/>
                </a:solidFill>
              </a:rPr>
              <a:t>Newgrade</a:t>
            </a:r>
            <a:r>
              <a:rPr lang="zh-CN" altLang="en-US" dirty="0">
                <a:solidFill>
                  <a:srgbClr val="FF0000"/>
                </a:solidFill>
              </a:rPr>
              <a:t>是修改后的分数。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F25949B-25D8-70D9-FEDE-FE9D09BD1B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175" y="2972594"/>
            <a:ext cx="8885322" cy="3534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954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41F3A-3486-2B96-ED45-783969561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F4ACFA1-B077-659B-C95A-543A0ED4E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8.1  </a:t>
            </a:r>
            <a:r>
              <a:rPr lang="zh-CN" altLang="en-US" dirty="0"/>
              <a:t>数据库完整性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8C5F452B-0700-E500-E78E-56E50E526E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125" y="1056640"/>
            <a:ext cx="10978515" cy="76517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6. </a:t>
            </a:r>
            <a:r>
              <a:rPr lang="zh-CN" altLang="en-US" dirty="0"/>
              <a:t>触发器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8CBE3D-3F78-3334-4411-F199881B7AC3}"/>
              </a:ext>
            </a:extLst>
          </p:cNvPr>
          <p:cNvSpPr txBox="1">
            <a:spLocks/>
          </p:cNvSpPr>
          <p:nvPr/>
        </p:nvSpPr>
        <p:spPr>
          <a:xfrm>
            <a:off x="599771" y="1677194"/>
            <a:ext cx="10978515" cy="49530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121917" tIns="60958" rIns="121917" bIns="60958" rtlCol="0">
            <a:noAutofit/>
          </a:bodyPr>
          <a:lstStyle>
            <a:lvl1pPr marL="457200" indent="-457200" algn="l" defTabSz="1219835" rtl="0" eaLnBrk="1" latinLnBrk="0" hangingPunct="1">
              <a:lnSpc>
                <a:spcPct val="120000"/>
              </a:lnSpc>
              <a:spcBef>
                <a:spcPct val="20000"/>
              </a:spcBef>
              <a:buSzPct val="80000"/>
              <a:buFont typeface="Wingdings" panose="05000000000000000000" pitchFamily="2" charset="2"/>
              <a:buChar char="l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4500" indent="-357188" algn="just">
              <a:lnSpc>
                <a:spcPct val="130000"/>
              </a:lnSpc>
              <a:spcBef>
                <a:spcPts val="0"/>
              </a:spcBef>
            </a:pPr>
            <a:r>
              <a:rPr lang="zh-CN" altLang="en-US" dirty="0">
                <a:solidFill>
                  <a:srgbClr val="FF0000"/>
                </a:solidFill>
              </a:rPr>
              <a:t>例：将每次对表</a:t>
            </a:r>
            <a:r>
              <a:rPr lang="en-US" altLang="zh-CN" dirty="0">
                <a:solidFill>
                  <a:srgbClr val="FF0000"/>
                </a:solidFill>
              </a:rPr>
              <a:t>Student</a:t>
            </a:r>
            <a:r>
              <a:rPr lang="zh-CN" altLang="en-US" dirty="0">
                <a:solidFill>
                  <a:srgbClr val="FF0000"/>
                </a:solidFill>
              </a:rPr>
              <a:t>的插入操作所增加的学生个数记录到表</a:t>
            </a:r>
            <a:r>
              <a:rPr lang="en-US" altLang="zh-CN" dirty="0">
                <a:solidFill>
                  <a:srgbClr val="FF0000"/>
                </a:solidFill>
              </a:rPr>
              <a:t>Student </a:t>
            </a:r>
            <a:r>
              <a:rPr lang="en-US" altLang="zh-CN" dirty="0" err="1">
                <a:solidFill>
                  <a:srgbClr val="FF0000"/>
                </a:solidFill>
              </a:rPr>
              <a:t>InsertLog</a:t>
            </a:r>
            <a:r>
              <a:rPr lang="en-US" altLang="zh-CN" dirty="0">
                <a:solidFill>
                  <a:srgbClr val="FF0000"/>
                </a:solidFill>
              </a:rPr>
              <a:t>(numbers INT)</a:t>
            </a:r>
            <a:r>
              <a:rPr lang="zh-CN" altLang="en-US" dirty="0">
                <a:solidFill>
                  <a:srgbClr val="FF0000"/>
                </a:solidFill>
              </a:rPr>
              <a:t>中</a:t>
            </a:r>
            <a:r>
              <a:rPr lang="en-US" altLang="zh-CN" dirty="0">
                <a:solidFill>
                  <a:srgbClr val="FF0000"/>
                </a:solidFill>
              </a:rPr>
              <a:t>,</a:t>
            </a:r>
            <a:r>
              <a:rPr lang="zh-CN" altLang="en-US" dirty="0">
                <a:solidFill>
                  <a:srgbClr val="FF0000"/>
                </a:solidFill>
              </a:rPr>
              <a:t>运行触发器之前需要创建此表。</a:t>
            </a:r>
            <a:endParaRPr lang="en-US" altLang="zh-CN" dirty="0">
              <a:solidFill>
                <a:srgbClr val="FF0000"/>
              </a:solidFill>
            </a:endParaRPr>
          </a:p>
          <a:p>
            <a:pPr marL="85725" indent="358775" algn="just">
              <a:lnSpc>
                <a:spcPct val="130000"/>
              </a:lnSpc>
              <a:spcBef>
                <a:spcPts val="60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CREATE TRIGGER </a:t>
            </a:r>
            <a:r>
              <a:rPr lang="en-US" altLang="zh-CN" dirty="0" err="1">
                <a:solidFill>
                  <a:schemeClr val="tx1"/>
                </a:solidFill>
              </a:rPr>
              <a:t>Student_Count</a:t>
            </a:r>
            <a:endParaRPr lang="en-US" altLang="zh-CN" dirty="0">
              <a:solidFill>
                <a:schemeClr val="tx1"/>
              </a:solidFill>
            </a:endParaRPr>
          </a:p>
          <a:p>
            <a:pPr marL="85725" indent="358775" algn="just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AFTER INSERT ON Student                           /*</a:t>
            </a:r>
            <a:r>
              <a:rPr lang="zh-CN" altLang="en-US" dirty="0">
                <a:solidFill>
                  <a:schemeClr val="tx1"/>
                </a:solidFill>
              </a:rPr>
              <a:t>指明触发器激活的时间是在执行</a:t>
            </a:r>
            <a:r>
              <a:rPr lang="en-US" altLang="zh-CN" dirty="0">
                <a:solidFill>
                  <a:schemeClr val="tx1"/>
                </a:solidFill>
              </a:rPr>
              <a:t>INSERT</a:t>
            </a:r>
            <a:r>
              <a:rPr lang="zh-CN" altLang="en-US" dirty="0">
                <a:solidFill>
                  <a:schemeClr val="tx1"/>
                </a:solidFill>
              </a:rPr>
              <a:t>后*</a:t>
            </a:r>
            <a:r>
              <a:rPr lang="en-US" altLang="zh-CN" dirty="0">
                <a:solidFill>
                  <a:schemeClr val="tx1"/>
                </a:solidFill>
              </a:rPr>
              <a:t>/</a:t>
            </a:r>
          </a:p>
          <a:p>
            <a:pPr marL="85725" indent="358775" algn="just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REFERENCING</a:t>
            </a:r>
          </a:p>
          <a:p>
            <a:pPr marL="85725" indent="358775" algn="just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            NEWTABLE AS Delta</a:t>
            </a:r>
          </a:p>
          <a:p>
            <a:pPr marL="85725" indent="358775" algn="just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FOR EACH STATEMENT  </a:t>
            </a:r>
          </a:p>
          <a:p>
            <a:pPr marL="85725" indent="358775" algn="just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                               /*</a:t>
            </a:r>
            <a:r>
              <a:rPr lang="zh-CN" altLang="en-US" dirty="0">
                <a:solidFill>
                  <a:schemeClr val="tx1"/>
                </a:solidFill>
              </a:rPr>
              <a:t>语句级触发器，即执行完</a:t>
            </a:r>
            <a:r>
              <a:rPr lang="en-US" altLang="zh-CN" dirty="0">
                <a:solidFill>
                  <a:schemeClr val="tx1"/>
                </a:solidFill>
              </a:rPr>
              <a:t>INSERT</a:t>
            </a:r>
            <a:r>
              <a:rPr lang="zh-CN" altLang="en-US" dirty="0">
                <a:solidFill>
                  <a:schemeClr val="tx1"/>
                </a:solidFill>
              </a:rPr>
              <a:t>语句后下面的触发动作体才执行一次*</a:t>
            </a:r>
            <a:r>
              <a:rPr lang="en-US" altLang="zh-CN" dirty="0">
                <a:solidFill>
                  <a:schemeClr val="tx1"/>
                </a:solidFill>
              </a:rPr>
              <a:t>/</a:t>
            </a:r>
          </a:p>
          <a:p>
            <a:pPr marL="85725" indent="358775" algn="just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BEGIN         </a:t>
            </a:r>
          </a:p>
          <a:p>
            <a:pPr marL="85725" indent="358775" algn="just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         INSERT INTO </a:t>
            </a:r>
            <a:r>
              <a:rPr lang="en-US" altLang="zh-CN" dirty="0" err="1">
                <a:solidFill>
                  <a:schemeClr val="tx1"/>
                </a:solidFill>
              </a:rPr>
              <a:t>StudentInsertLog</a:t>
            </a:r>
            <a:r>
              <a:rPr lang="en-US" altLang="zh-CN" dirty="0">
                <a:solidFill>
                  <a:schemeClr val="tx1"/>
                </a:solidFill>
              </a:rPr>
              <a:t> (Numbers)</a:t>
            </a:r>
          </a:p>
          <a:p>
            <a:pPr marL="85725" indent="358775" algn="just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         SELECT COUNT(*) FROM Delta</a:t>
            </a:r>
          </a:p>
          <a:p>
            <a:pPr marL="85725" indent="358775" algn="just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END</a:t>
            </a:r>
          </a:p>
          <a:p>
            <a:pPr marL="444500" indent="-357188" algn="just">
              <a:lnSpc>
                <a:spcPct val="130000"/>
              </a:lnSpc>
              <a:spcBef>
                <a:spcPts val="0"/>
              </a:spcBef>
            </a:pP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2384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7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7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75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75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75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75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75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6019A-6BAA-4617-7614-1B6BB05DD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0D3FAA7B-B44C-53D6-30B9-3A1A54F02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8.1  </a:t>
            </a:r>
            <a:r>
              <a:rPr lang="zh-CN" altLang="en-US" dirty="0"/>
              <a:t>数据库完整性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FC36C888-A0B9-87E9-0D84-937813D1F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125" y="1056640"/>
            <a:ext cx="10978515" cy="76517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6. </a:t>
            </a:r>
            <a:r>
              <a:rPr lang="zh-CN" altLang="en-US" dirty="0"/>
              <a:t>触发器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00897F-2162-F0F6-1EF3-B002DE74510A}"/>
              </a:ext>
            </a:extLst>
          </p:cNvPr>
          <p:cNvSpPr txBox="1">
            <a:spLocks/>
          </p:cNvSpPr>
          <p:nvPr/>
        </p:nvSpPr>
        <p:spPr>
          <a:xfrm>
            <a:off x="599771" y="1677194"/>
            <a:ext cx="10978515" cy="49530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121917" tIns="60958" rIns="121917" bIns="60958" rtlCol="0">
            <a:noAutofit/>
          </a:bodyPr>
          <a:lstStyle>
            <a:lvl1pPr marL="457200" indent="-457200" algn="l" defTabSz="1219835" rtl="0" eaLnBrk="1" latinLnBrk="0" hangingPunct="1">
              <a:lnSpc>
                <a:spcPct val="120000"/>
              </a:lnSpc>
              <a:spcBef>
                <a:spcPct val="20000"/>
              </a:spcBef>
              <a:buSzPct val="80000"/>
              <a:buFont typeface="Wingdings" panose="05000000000000000000" pitchFamily="2" charset="2"/>
              <a:buChar char="l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4500" indent="-357188" algn="just">
              <a:lnSpc>
                <a:spcPct val="130000"/>
              </a:lnSpc>
              <a:spcBef>
                <a:spcPts val="0"/>
              </a:spcBef>
            </a:pPr>
            <a:r>
              <a:rPr lang="zh-CN" altLang="en-US" dirty="0">
                <a:solidFill>
                  <a:srgbClr val="FF0000"/>
                </a:solidFill>
              </a:rPr>
              <a:t>例：定义一个</a:t>
            </a:r>
            <a:r>
              <a:rPr lang="en-US" altLang="zh-CN" dirty="0">
                <a:solidFill>
                  <a:srgbClr val="FF0000"/>
                </a:solidFill>
              </a:rPr>
              <a:t>BEFORE</a:t>
            </a:r>
            <a:r>
              <a:rPr lang="zh-CN" altLang="en-US" dirty="0">
                <a:solidFill>
                  <a:srgbClr val="FF0000"/>
                </a:solidFill>
              </a:rPr>
              <a:t>行级触发器，为教师表</a:t>
            </a:r>
            <a:r>
              <a:rPr lang="en-US" altLang="zh-CN" dirty="0">
                <a:solidFill>
                  <a:srgbClr val="FF0000"/>
                </a:solidFill>
              </a:rPr>
              <a:t>Teacher</a:t>
            </a:r>
            <a:r>
              <a:rPr lang="zh-CN" altLang="en-US" dirty="0">
                <a:solidFill>
                  <a:srgbClr val="FF0000"/>
                </a:solidFill>
              </a:rPr>
              <a:t>定义完整性规则：教授的工资不得低于</a:t>
            </a:r>
            <a:r>
              <a:rPr lang="en-US" altLang="zh-CN" dirty="0">
                <a:solidFill>
                  <a:srgbClr val="FF0000"/>
                </a:solidFill>
              </a:rPr>
              <a:t>4000</a:t>
            </a:r>
            <a:r>
              <a:rPr lang="zh-CN" altLang="en-US" dirty="0">
                <a:solidFill>
                  <a:srgbClr val="FF0000"/>
                </a:solidFill>
              </a:rPr>
              <a:t>元，如果低于</a:t>
            </a:r>
            <a:r>
              <a:rPr lang="en-US" altLang="zh-CN" dirty="0">
                <a:solidFill>
                  <a:srgbClr val="FF0000"/>
                </a:solidFill>
              </a:rPr>
              <a:t>4000</a:t>
            </a:r>
            <a:r>
              <a:rPr lang="zh-CN" altLang="en-US" dirty="0">
                <a:solidFill>
                  <a:srgbClr val="FF0000"/>
                </a:solidFill>
              </a:rPr>
              <a:t>元，自动改为</a:t>
            </a:r>
            <a:r>
              <a:rPr lang="en-US" altLang="zh-CN" dirty="0">
                <a:solidFill>
                  <a:srgbClr val="FF0000"/>
                </a:solidFill>
              </a:rPr>
              <a:t>4000</a:t>
            </a:r>
            <a:r>
              <a:rPr lang="zh-CN" altLang="en-US" dirty="0">
                <a:solidFill>
                  <a:srgbClr val="FF0000"/>
                </a:solidFill>
              </a:rPr>
              <a:t>元。</a:t>
            </a:r>
          </a:p>
          <a:p>
            <a:pPr marL="85725" indent="358775" algn="just">
              <a:lnSpc>
                <a:spcPct val="130000"/>
              </a:lnSpc>
              <a:spcBef>
                <a:spcPts val="60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CREATE TRIGGER </a:t>
            </a:r>
            <a:r>
              <a:rPr lang="en-US" altLang="zh-CN" dirty="0" err="1">
                <a:solidFill>
                  <a:schemeClr val="tx1"/>
                </a:solidFill>
              </a:rPr>
              <a:t>Update_Sal</a:t>
            </a:r>
            <a:r>
              <a:rPr lang="en-US" altLang="zh-CN" dirty="0">
                <a:solidFill>
                  <a:schemeClr val="tx1"/>
                </a:solidFill>
              </a:rPr>
              <a:t> 	                        /*</a:t>
            </a:r>
            <a:r>
              <a:rPr lang="zh-CN" altLang="en-US" dirty="0">
                <a:solidFill>
                  <a:schemeClr val="tx1"/>
                </a:solidFill>
              </a:rPr>
              <a:t>对教师表插入或更新时激活触发器*</a:t>
            </a:r>
            <a:r>
              <a:rPr lang="en-US" altLang="zh-CN" dirty="0">
                <a:solidFill>
                  <a:schemeClr val="tx1"/>
                </a:solidFill>
              </a:rPr>
              <a:t>/</a:t>
            </a:r>
          </a:p>
          <a:p>
            <a:pPr marL="85725" indent="358775" algn="just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BEFORE UPDATE ON Teacher   	                        /*BEFORE</a:t>
            </a:r>
            <a:r>
              <a:rPr lang="zh-CN" altLang="en-US" dirty="0">
                <a:solidFill>
                  <a:schemeClr val="tx1"/>
                </a:solidFill>
              </a:rPr>
              <a:t>触发事件*</a:t>
            </a:r>
            <a:r>
              <a:rPr lang="en-US" altLang="zh-CN" dirty="0">
                <a:solidFill>
                  <a:schemeClr val="tx1"/>
                </a:solidFill>
              </a:rPr>
              <a:t>/</a:t>
            </a:r>
          </a:p>
          <a:p>
            <a:pPr marL="85725" indent="358775" algn="just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REFERENCING NEW AS </a:t>
            </a:r>
            <a:r>
              <a:rPr lang="en-US" altLang="zh-CN" dirty="0" err="1">
                <a:solidFill>
                  <a:schemeClr val="tx1"/>
                </a:solidFill>
              </a:rPr>
              <a:t>newTuple</a:t>
            </a:r>
            <a:endParaRPr lang="en-US" altLang="zh-CN" dirty="0">
              <a:solidFill>
                <a:schemeClr val="tx1"/>
              </a:solidFill>
            </a:endParaRPr>
          </a:p>
          <a:p>
            <a:pPr marL="85725" indent="358775" algn="just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FOR EACH ROW  	                                          /*</a:t>
            </a:r>
            <a:r>
              <a:rPr lang="zh-CN" altLang="en-US" dirty="0">
                <a:solidFill>
                  <a:schemeClr val="tx1"/>
                </a:solidFill>
              </a:rPr>
              <a:t>这是行级触发器*</a:t>
            </a:r>
            <a:r>
              <a:rPr lang="en-US" altLang="zh-CN" dirty="0">
                <a:solidFill>
                  <a:schemeClr val="tx1"/>
                </a:solidFill>
              </a:rPr>
              <a:t>/</a:t>
            </a:r>
          </a:p>
          <a:p>
            <a:pPr marL="85725" indent="358775" algn="just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BEGIN                 	                                             /*</a:t>
            </a:r>
            <a:r>
              <a:rPr lang="zh-CN" altLang="en-US" dirty="0">
                <a:solidFill>
                  <a:schemeClr val="tx1"/>
                </a:solidFill>
              </a:rPr>
              <a:t>定义触发动作体，这是一个</a:t>
            </a:r>
            <a:r>
              <a:rPr lang="en-US" altLang="zh-CN" dirty="0">
                <a:solidFill>
                  <a:schemeClr val="tx1"/>
                </a:solidFill>
              </a:rPr>
              <a:t>PL/SQL</a:t>
            </a:r>
            <a:r>
              <a:rPr lang="zh-CN" altLang="en-US" dirty="0">
                <a:solidFill>
                  <a:schemeClr val="tx1"/>
                </a:solidFill>
              </a:rPr>
              <a:t>过程块*</a:t>
            </a:r>
            <a:r>
              <a:rPr lang="en-US" altLang="zh-CN" dirty="0">
                <a:solidFill>
                  <a:schemeClr val="tx1"/>
                </a:solidFill>
              </a:rPr>
              <a:t>/</a:t>
            </a:r>
          </a:p>
          <a:p>
            <a:pPr marL="85725" indent="358775" algn="just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     IF (</a:t>
            </a:r>
            <a:r>
              <a:rPr lang="en-US" altLang="zh-CN" dirty="0" err="1">
                <a:solidFill>
                  <a:schemeClr val="tx1"/>
                </a:solidFill>
              </a:rPr>
              <a:t>newTuple.job</a:t>
            </a:r>
            <a:r>
              <a:rPr lang="en-US" altLang="zh-CN" dirty="0">
                <a:solidFill>
                  <a:schemeClr val="tx1"/>
                </a:solidFill>
              </a:rPr>
              <a:t>=‘</a:t>
            </a:r>
            <a:r>
              <a:rPr lang="zh-CN" altLang="en-US" dirty="0">
                <a:solidFill>
                  <a:schemeClr val="tx1"/>
                </a:solidFill>
              </a:rPr>
              <a:t>教授’</a:t>
            </a:r>
            <a:r>
              <a:rPr lang="en-US" altLang="zh-CN" dirty="0">
                <a:solidFill>
                  <a:schemeClr val="tx1"/>
                </a:solidFill>
              </a:rPr>
              <a:t>) AND (</a:t>
            </a:r>
            <a:r>
              <a:rPr lang="en-US" altLang="zh-CN" dirty="0" err="1">
                <a:solidFill>
                  <a:schemeClr val="tx1"/>
                </a:solidFill>
              </a:rPr>
              <a:t>newTuple.sal</a:t>
            </a:r>
            <a:r>
              <a:rPr lang="en-US" altLang="zh-CN" dirty="0">
                <a:solidFill>
                  <a:schemeClr val="tx1"/>
                </a:solidFill>
              </a:rPr>
              <a:t> &lt; 4000)  </a:t>
            </a:r>
          </a:p>
          <a:p>
            <a:pPr marL="85725" indent="358775" algn="just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                                                                                     /*</a:t>
            </a:r>
            <a:r>
              <a:rPr lang="zh-CN" altLang="en-US" dirty="0">
                <a:solidFill>
                  <a:schemeClr val="tx1"/>
                </a:solidFill>
              </a:rPr>
              <a:t>因为是行级触发器，可在过程体中*</a:t>
            </a:r>
            <a:r>
              <a:rPr lang="en-US" altLang="zh-CN" dirty="0">
                <a:solidFill>
                  <a:schemeClr val="tx1"/>
                </a:solidFill>
              </a:rPr>
              <a:t>/</a:t>
            </a:r>
          </a:p>
          <a:p>
            <a:pPr marL="85725" indent="358775" algn="just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     THEN </a:t>
            </a:r>
            <a:r>
              <a:rPr lang="en-US" altLang="zh-CN" dirty="0" err="1">
                <a:solidFill>
                  <a:schemeClr val="tx1"/>
                </a:solidFill>
              </a:rPr>
              <a:t>newTuple.sal</a:t>
            </a:r>
            <a:r>
              <a:rPr lang="en-US" altLang="zh-CN" dirty="0">
                <a:solidFill>
                  <a:schemeClr val="tx1"/>
                </a:solidFill>
              </a:rPr>
              <a:t> :=4000;                                          /*</a:t>
            </a:r>
            <a:r>
              <a:rPr lang="zh-CN" altLang="en-US" dirty="0">
                <a:solidFill>
                  <a:schemeClr val="tx1"/>
                </a:solidFill>
              </a:rPr>
              <a:t>使用插入或更新操作后的新值*</a:t>
            </a:r>
            <a:r>
              <a:rPr lang="en-US" altLang="zh-CN" dirty="0">
                <a:solidFill>
                  <a:schemeClr val="tx1"/>
                </a:solidFill>
              </a:rPr>
              <a:t>/</a:t>
            </a:r>
          </a:p>
          <a:p>
            <a:pPr marL="85725" indent="358775" algn="just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     END IF;</a:t>
            </a:r>
          </a:p>
          <a:p>
            <a:pPr marL="85725" indent="358775" algn="just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END;                            		                         /*</a:t>
            </a:r>
            <a:r>
              <a:rPr lang="zh-CN" altLang="en-US" dirty="0">
                <a:solidFill>
                  <a:schemeClr val="tx1"/>
                </a:solidFill>
              </a:rPr>
              <a:t>触发动作体结束*</a:t>
            </a:r>
            <a:r>
              <a:rPr lang="en-US" altLang="zh-CN" dirty="0">
                <a:solidFill>
                  <a:schemeClr val="tx1"/>
                </a:solidFill>
              </a:rPr>
              <a:t>/ 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7490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E87A5-5DF2-F5FB-D8D6-DB6E20836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FCC77B3-8C15-934B-D89F-985BD6F20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8.1  </a:t>
            </a:r>
            <a:r>
              <a:rPr lang="zh-CN" altLang="en-US" dirty="0"/>
              <a:t>数据库完整性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BC820840-33AA-A958-07A3-775EB8E0A5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125" y="1056640"/>
            <a:ext cx="10978515" cy="76517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6. </a:t>
            </a:r>
            <a:r>
              <a:rPr lang="zh-CN" altLang="en-US" dirty="0"/>
              <a:t>触发器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62B430-649B-F9E6-0DBF-C853F5E3216B}"/>
              </a:ext>
            </a:extLst>
          </p:cNvPr>
          <p:cNvSpPr txBox="1">
            <a:spLocks/>
          </p:cNvSpPr>
          <p:nvPr/>
        </p:nvSpPr>
        <p:spPr>
          <a:xfrm>
            <a:off x="599771" y="1677194"/>
            <a:ext cx="10978515" cy="32766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121917" tIns="60958" rIns="121917" bIns="60958" rtlCol="0">
            <a:noAutofit/>
          </a:bodyPr>
          <a:lstStyle>
            <a:lvl1pPr marL="457200" indent="-457200" algn="l" defTabSz="1219835" rtl="0" eaLnBrk="1" latinLnBrk="0" hangingPunct="1">
              <a:lnSpc>
                <a:spcPct val="120000"/>
              </a:lnSpc>
              <a:spcBef>
                <a:spcPct val="20000"/>
              </a:spcBef>
              <a:buSzPct val="80000"/>
              <a:buFont typeface="Wingdings" panose="05000000000000000000" pitchFamily="2" charset="2"/>
              <a:buChar char="l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4500" indent="-357188" algn="just">
              <a:lnSpc>
                <a:spcPct val="15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/>
                </a:solidFill>
              </a:rPr>
              <a:t>执行触发器</a:t>
            </a:r>
            <a:endParaRPr lang="en-US" altLang="zh-CN" dirty="0">
              <a:solidFill>
                <a:schemeClr val="tx1"/>
              </a:solidFill>
            </a:endParaRPr>
          </a:p>
          <a:p>
            <a:pPr marL="87312" indent="0" algn="just"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en-US" dirty="0">
                <a:solidFill>
                  <a:schemeClr val="tx1"/>
                </a:solidFill>
              </a:rPr>
              <a:t>触发器的执行，是由</a:t>
            </a:r>
            <a:r>
              <a:rPr lang="zh-CN" altLang="en-US" dirty="0">
                <a:solidFill>
                  <a:srgbClr val="FF0000"/>
                </a:solidFill>
              </a:rPr>
              <a:t>触发事件</a:t>
            </a:r>
            <a:r>
              <a:rPr lang="zh-CN" altLang="en-US" dirty="0">
                <a:solidFill>
                  <a:schemeClr val="tx1"/>
                </a:solidFill>
              </a:rPr>
              <a:t>激活，并由数据库服务器自动执行</a:t>
            </a:r>
          </a:p>
          <a:p>
            <a:pPr marL="715963" indent="-271463"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</a:rPr>
              <a:t>一个数据表上可能定义了</a:t>
            </a:r>
            <a:r>
              <a:rPr lang="zh-CN" altLang="en-US" dirty="0">
                <a:solidFill>
                  <a:srgbClr val="FF0000"/>
                </a:solidFill>
              </a:rPr>
              <a:t>多个</a:t>
            </a:r>
            <a:r>
              <a:rPr lang="zh-CN" altLang="en-US" dirty="0">
                <a:solidFill>
                  <a:schemeClr val="tx1"/>
                </a:solidFill>
              </a:rPr>
              <a:t>触发器，遵循执行顺序</a:t>
            </a:r>
            <a:r>
              <a:rPr lang="en-US" altLang="zh-CN" dirty="0">
                <a:solidFill>
                  <a:schemeClr val="tx1"/>
                </a:solidFill>
              </a:rPr>
              <a:t>:</a:t>
            </a:r>
          </a:p>
          <a:p>
            <a:pPr marL="444500" indent="271463" algn="just"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en-US" dirty="0">
                <a:solidFill>
                  <a:schemeClr val="tx1"/>
                </a:solidFill>
              </a:rPr>
              <a:t>（</a:t>
            </a:r>
            <a:r>
              <a:rPr lang="en-US" altLang="zh-CN" dirty="0">
                <a:solidFill>
                  <a:schemeClr val="tx1"/>
                </a:solidFill>
              </a:rPr>
              <a:t>1</a:t>
            </a:r>
            <a:r>
              <a:rPr lang="zh-CN" altLang="en-US" dirty="0">
                <a:solidFill>
                  <a:schemeClr val="tx1"/>
                </a:solidFill>
              </a:rPr>
              <a:t>） 执行该表上的</a:t>
            </a:r>
            <a:r>
              <a:rPr lang="en-US" altLang="zh-CN" dirty="0">
                <a:solidFill>
                  <a:schemeClr val="tx1"/>
                </a:solidFill>
              </a:rPr>
              <a:t>BEFORE</a:t>
            </a:r>
            <a:r>
              <a:rPr lang="zh-CN" altLang="en-US" dirty="0">
                <a:solidFill>
                  <a:schemeClr val="tx1"/>
                </a:solidFill>
              </a:rPr>
              <a:t>触发器</a:t>
            </a:r>
          </a:p>
          <a:p>
            <a:pPr marL="444500" indent="271463" algn="just"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en-US" dirty="0">
                <a:solidFill>
                  <a:schemeClr val="tx1"/>
                </a:solidFill>
              </a:rPr>
              <a:t>（</a:t>
            </a:r>
            <a:r>
              <a:rPr lang="en-US" altLang="zh-CN" dirty="0">
                <a:solidFill>
                  <a:schemeClr val="tx1"/>
                </a:solidFill>
              </a:rPr>
              <a:t>2</a:t>
            </a:r>
            <a:r>
              <a:rPr lang="zh-CN" altLang="en-US" dirty="0">
                <a:solidFill>
                  <a:schemeClr val="tx1"/>
                </a:solidFill>
              </a:rPr>
              <a:t>） 激活触发器的</a:t>
            </a:r>
            <a:r>
              <a:rPr lang="en-US" altLang="zh-CN" dirty="0">
                <a:solidFill>
                  <a:schemeClr val="tx1"/>
                </a:solidFill>
              </a:rPr>
              <a:t>SQL</a:t>
            </a:r>
            <a:r>
              <a:rPr lang="zh-CN" altLang="en-US" dirty="0">
                <a:solidFill>
                  <a:schemeClr val="tx1"/>
                </a:solidFill>
              </a:rPr>
              <a:t>语句</a:t>
            </a:r>
          </a:p>
          <a:p>
            <a:pPr marL="444500" indent="271463" algn="just"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en-US" dirty="0">
                <a:solidFill>
                  <a:schemeClr val="tx1"/>
                </a:solidFill>
              </a:rPr>
              <a:t>（</a:t>
            </a:r>
            <a:r>
              <a:rPr lang="en-US" altLang="zh-CN" dirty="0">
                <a:solidFill>
                  <a:schemeClr val="tx1"/>
                </a:solidFill>
              </a:rPr>
              <a:t>3</a:t>
            </a:r>
            <a:r>
              <a:rPr lang="zh-CN" altLang="en-US" dirty="0">
                <a:solidFill>
                  <a:schemeClr val="tx1"/>
                </a:solidFill>
              </a:rPr>
              <a:t>） 执行该表上的</a:t>
            </a:r>
            <a:r>
              <a:rPr lang="en-US" altLang="zh-CN" dirty="0">
                <a:solidFill>
                  <a:schemeClr val="tx1"/>
                </a:solidFill>
              </a:rPr>
              <a:t>AFTER</a:t>
            </a:r>
            <a:r>
              <a:rPr lang="zh-CN" altLang="en-US" dirty="0">
                <a:solidFill>
                  <a:schemeClr val="tx1"/>
                </a:solidFill>
              </a:rPr>
              <a:t>触发器</a:t>
            </a:r>
          </a:p>
        </p:txBody>
      </p:sp>
    </p:spTree>
    <p:extLst>
      <p:ext uri="{BB962C8B-B14F-4D97-AF65-F5344CB8AC3E}">
        <p14:creationId xmlns:p14="http://schemas.microsoft.com/office/powerpoint/2010/main" val="1325070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7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5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7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75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75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DA2FA-A25E-2752-CE7A-15F84EAF8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9E704396-D118-603E-8502-FE8484103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8.1  </a:t>
            </a:r>
            <a:r>
              <a:rPr lang="zh-CN" altLang="en-US" dirty="0"/>
              <a:t>数据库完整性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ED46048D-1B1D-C90B-5663-6D879D209C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125" y="1056640"/>
            <a:ext cx="10978515" cy="76517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6. </a:t>
            </a:r>
            <a:r>
              <a:rPr lang="zh-CN" altLang="en-US" dirty="0"/>
              <a:t>触发器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3286B1-B33A-FCAB-FB82-ED480D1DF484}"/>
              </a:ext>
            </a:extLst>
          </p:cNvPr>
          <p:cNvSpPr txBox="1">
            <a:spLocks/>
          </p:cNvSpPr>
          <p:nvPr/>
        </p:nvSpPr>
        <p:spPr>
          <a:xfrm>
            <a:off x="599771" y="1677194"/>
            <a:ext cx="10978515" cy="32766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121917" tIns="60958" rIns="121917" bIns="60958" rtlCol="0">
            <a:noAutofit/>
          </a:bodyPr>
          <a:lstStyle>
            <a:lvl1pPr marL="457200" indent="-457200" algn="l" defTabSz="1219835" rtl="0" eaLnBrk="1" latinLnBrk="0" hangingPunct="1">
              <a:lnSpc>
                <a:spcPct val="120000"/>
              </a:lnSpc>
              <a:spcBef>
                <a:spcPct val="20000"/>
              </a:spcBef>
              <a:buSzPct val="80000"/>
              <a:buFont typeface="Wingdings" panose="05000000000000000000" pitchFamily="2" charset="2"/>
              <a:buChar char="l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4500" indent="-357188" algn="just">
              <a:lnSpc>
                <a:spcPct val="15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/>
                </a:solidFill>
              </a:rPr>
              <a:t>删除触发器</a:t>
            </a:r>
            <a:endParaRPr lang="en-US" altLang="zh-CN" dirty="0">
              <a:solidFill>
                <a:schemeClr val="tx1"/>
              </a:solidFill>
            </a:endParaRPr>
          </a:p>
          <a:p>
            <a:pPr marL="803275" indent="-358775"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</a:rPr>
              <a:t>删除触发器的</a:t>
            </a:r>
            <a:r>
              <a:rPr lang="en-US" altLang="zh-CN" dirty="0">
                <a:solidFill>
                  <a:schemeClr val="tx1"/>
                </a:solidFill>
              </a:rPr>
              <a:t>SQL</a:t>
            </a:r>
            <a:r>
              <a:rPr lang="zh-CN" altLang="en-US" dirty="0">
                <a:solidFill>
                  <a:schemeClr val="tx1"/>
                </a:solidFill>
              </a:rPr>
              <a:t>语法：</a:t>
            </a:r>
          </a:p>
          <a:p>
            <a:pPr marL="444500" indent="0" algn="just"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en-US" dirty="0">
                <a:solidFill>
                  <a:schemeClr val="tx1"/>
                </a:solidFill>
              </a:rPr>
              <a:t>     </a:t>
            </a:r>
            <a:r>
              <a:rPr lang="en-US" altLang="zh-CN" dirty="0">
                <a:solidFill>
                  <a:schemeClr val="tx1"/>
                </a:solidFill>
              </a:rPr>
              <a:t>DROP TRIGGER &lt;</a:t>
            </a:r>
            <a:r>
              <a:rPr lang="zh-CN" altLang="en-US" dirty="0">
                <a:solidFill>
                  <a:schemeClr val="tx1"/>
                </a:solidFill>
              </a:rPr>
              <a:t>触发器名</a:t>
            </a:r>
            <a:r>
              <a:rPr lang="en-US" altLang="zh-CN" dirty="0">
                <a:solidFill>
                  <a:schemeClr val="tx1"/>
                </a:solidFill>
              </a:rPr>
              <a:t>&gt; ON &lt;</a:t>
            </a:r>
            <a:r>
              <a:rPr lang="zh-CN" altLang="en-US" dirty="0">
                <a:solidFill>
                  <a:schemeClr val="tx1"/>
                </a:solidFill>
              </a:rPr>
              <a:t>表名</a:t>
            </a:r>
            <a:r>
              <a:rPr lang="en-US" altLang="zh-CN" dirty="0">
                <a:solidFill>
                  <a:schemeClr val="tx1"/>
                </a:solidFill>
              </a:rPr>
              <a:t>&gt;;</a:t>
            </a:r>
          </a:p>
          <a:p>
            <a:pPr marL="803275" indent="-358775"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</a:rPr>
              <a:t>触发器必须是一个已经创建的触发器，只能由具有相应权限的用户删除。</a:t>
            </a:r>
          </a:p>
          <a:p>
            <a:pPr marL="444500" indent="271463" algn="just">
              <a:lnSpc>
                <a:spcPct val="150000"/>
              </a:lnSpc>
              <a:spcBef>
                <a:spcPts val="600"/>
              </a:spcBef>
              <a:buNone/>
            </a:pPr>
            <a:endParaRPr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0418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5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7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77A60-960E-22E5-3534-D35619B68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29399FCF-8B3F-7AAF-CD66-B778E655A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8.1  </a:t>
            </a:r>
            <a:r>
              <a:rPr lang="zh-CN" altLang="en-US" dirty="0"/>
              <a:t>数据库完整性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F1A90CF1-2A0D-A4A6-1E1A-B069910F1B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125" y="1056640"/>
            <a:ext cx="10978515" cy="76517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6. </a:t>
            </a:r>
            <a:r>
              <a:rPr lang="zh-CN" altLang="en-US" dirty="0"/>
              <a:t>触发器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AE80C6-08F3-C62D-276E-41C344579FF0}"/>
              </a:ext>
            </a:extLst>
          </p:cNvPr>
          <p:cNvSpPr txBox="1">
            <a:spLocks/>
          </p:cNvSpPr>
          <p:nvPr/>
        </p:nvSpPr>
        <p:spPr>
          <a:xfrm>
            <a:off x="599771" y="1677194"/>
            <a:ext cx="10978515" cy="22860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121917" tIns="60958" rIns="121917" bIns="60958" rtlCol="0">
            <a:noAutofit/>
          </a:bodyPr>
          <a:lstStyle>
            <a:lvl1pPr marL="457200" indent="-457200" algn="l" defTabSz="1219835" rtl="0" eaLnBrk="1" latinLnBrk="0" hangingPunct="1">
              <a:lnSpc>
                <a:spcPct val="120000"/>
              </a:lnSpc>
              <a:spcBef>
                <a:spcPct val="20000"/>
              </a:spcBef>
              <a:buSzPct val="80000"/>
              <a:buFont typeface="Wingdings" panose="05000000000000000000" pitchFamily="2" charset="2"/>
              <a:buChar char="l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4500" indent="-357188" algn="just">
              <a:lnSpc>
                <a:spcPct val="15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/>
                </a:solidFill>
              </a:rPr>
              <a:t>删除触发器</a:t>
            </a:r>
            <a:endParaRPr lang="en-US" altLang="zh-CN" dirty="0">
              <a:solidFill>
                <a:schemeClr val="tx1"/>
              </a:solidFill>
            </a:endParaRPr>
          </a:p>
          <a:p>
            <a:pPr marL="803275" indent="-358775"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</a:rPr>
              <a:t>删除触发器的</a:t>
            </a:r>
            <a:r>
              <a:rPr lang="en-US" altLang="zh-CN" dirty="0">
                <a:solidFill>
                  <a:schemeClr val="tx1"/>
                </a:solidFill>
              </a:rPr>
              <a:t>SQL</a:t>
            </a:r>
            <a:r>
              <a:rPr lang="zh-CN" altLang="en-US" dirty="0">
                <a:solidFill>
                  <a:schemeClr val="tx1"/>
                </a:solidFill>
              </a:rPr>
              <a:t>语法：</a:t>
            </a:r>
          </a:p>
          <a:p>
            <a:pPr marL="444500" indent="0" algn="just"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en-US" dirty="0">
                <a:solidFill>
                  <a:schemeClr val="tx1"/>
                </a:solidFill>
              </a:rPr>
              <a:t>     </a:t>
            </a:r>
            <a:r>
              <a:rPr lang="en-US" altLang="zh-CN" dirty="0">
                <a:solidFill>
                  <a:schemeClr val="tx1"/>
                </a:solidFill>
              </a:rPr>
              <a:t>DROP TRIGGER &lt;</a:t>
            </a:r>
            <a:r>
              <a:rPr lang="zh-CN" altLang="en-US" dirty="0">
                <a:solidFill>
                  <a:schemeClr val="tx1"/>
                </a:solidFill>
              </a:rPr>
              <a:t>触发器名</a:t>
            </a:r>
            <a:r>
              <a:rPr lang="en-US" altLang="zh-CN" dirty="0">
                <a:solidFill>
                  <a:schemeClr val="tx1"/>
                </a:solidFill>
              </a:rPr>
              <a:t>&gt; ON &lt;</a:t>
            </a:r>
            <a:r>
              <a:rPr lang="zh-CN" altLang="en-US" dirty="0">
                <a:solidFill>
                  <a:schemeClr val="tx1"/>
                </a:solidFill>
              </a:rPr>
              <a:t>表名</a:t>
            </a:r>
            <a:r>
              <a:rPr lang="en-US" altLang="zh-CN" dirty="0">
                <a:solidFill>
                  <a:schemeClr val="tx1"/>
                </a:solidFill>
              </a:rPr>
              <a:t>&gt;;</a:t>
            </a:r>
          </a:p>
          <a:p>
            <a:pPr marL="803275" indent="-358775"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</a:rPr>
              <a:t>触发器必须是一个已经创建的触发器，只能由具有相应权限的用户删除。</a:t>
            </a:r>
          </a:p>
          <a:p>
            <a:pPr marL="444500" indent="271463" algn="just">
              <a:lnSpc>
                <a:spcPct val="150000"/>
              </a:lnSpc>
              <a:spcBef>
                <a:spcPts val="600"/>
              </a:spcBef>
              <a:buNone/>
            </a:pPr>
            <a:endParaRPr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5334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5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7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常用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1079</TotalTime>
  <Words>3960</Words>
  <Application>Microsoft Office PowerPoint</Application>
  <PresentationFormat>自定义</PresentationFormat>
  <Paragraphs>449</Paragraphs>
  <Slides>50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50</vt:i4>
      </vt:variant>
    </vt:vector>
  </HeadingPairs>
  <TitlesOfParts>
    <vt:vector size="60" baseType="lpstr">
      <vt:lpstr>Arial Unicode MS</vt:lpstr>
      <vt:lpstr>等线</vt:lpstr>
      <vt:lpstr>微软雅黑</vt:lpstr>
      <vt:lpstr>Arial</vt:lpstr>
      <vt:lpstr>Calibri</vt:lpstr>
      <vt:lpstr>Impact</vt:lpstr>
      <vt:lpstr>Leelawadee</vt:lpstr>
      <vt:lpstr>Times New Roman</vt:lpstr>
      <vt:lpstr>Wingdings</vt:lpstr>
      <vt:lpstr>Office Theme</vt:lpstr>
      <vt:lpstr>PowerPoint 演示文稿</vt:lpstr>
      <vt:lpstr>主要内容</vt:lpstr>
      <vt:lpstr>8.1  数据库完整性</vt:lpstr>
      <vt:lpstr>8.1  数据库完整性</vt:lpstr>
      <vt:lpstr>8.1  数据库完整性</vt:lpstr>
      <vt:lpstr>8.1  数据库完整性</vt:lpstr>
      <vt:lpstr>8.1  数据库完整性</vt:lpstr>
      <vt:lpstr>8.1  数据库完整性</vt:lpstr>
      <vt:lpstr>8.1  数据库完整性</vt:lpstr>
      <vt:lpstr>8.1  数据库完整性</vt:lpstr>
      <vt:lpstr>8.1  数据库完整性</vt:lpstr>
      <vt:lpstr>8.1  数据库完整性</vt:lpstr>
      <vt:lpstr>8.1  数据库完整性</vt:lpstr>
      <vt:lpstr>8.1  数据库完整性</vt:lpstr>
      <vt:lpstr>8.1  数据库完整性</vt:lpstr>
      <vt:lpstr>8.1  数据库完整性</vt:lpstr>
      <vt:lpstr>8.1  数据库完整性</vt:lpstr>
      <vt:lpstr>8.1  数据库完整性</vt:lpstr>
      <vt:lpstr>8.1  数据库完整性</vt:lpstr>
      <vt:lpstr>8.1  数据库完整性</vt:lpstr>
      <vt:lpstr>8.1  数据库完整性</vt:lpstr>
      <vt:lpstr>8.1  数据库完整性</vt:lpstr>
      <vt:lpstr>8.1  数据库完整性</vt:lpstr>
      <vt:lpstr>8.1  数据库完整性</vt:lpstr>
      <vt:lpstr>8.1  数据库完整性</vt:lpstr>
      <vt:lpstr>8.1  数据库完整性</vt:lpstr>
      <vt:lpstr>8.1  数据库完整性</vt:lpstr>
      <vt:lpstr>8.1  数据库完整性</vt:lpstr>
      <vt:lpstr>8.1  数据库完整性</vt:lpstr>
      <vt:lpstr>8.1  数据库完整性</vt:lpstr>
      <vt:lpstr>8.1  数据库完整性</vt:lpstr>
      <vt:lpstr>8.1  数据库完整性</vt:lpstr>
      <vt:lpstr>8.1  数据库完整性</vt:lpstr>
      <vt:lpstr>8.1  数据库完整性</vt:lpstr>
      <vt:lpstr>8.1  数据库完整性</vt:lpstr>
      <vt:lpstr>8.1  数据库完整性</vt:lpstr>
      <vt:lpstr>8.1  数据库完整性</vt:lpstr>
      <vt:lpstr>8.1  数据库完整性</vt:lpstr>
      <vt:lpstr>8.1  数据库完整性</vt:lpstr>
      <vt:lpstr>8.1  数据库完整性</vt:lpstr>
      <vt:lpstr>8.1  数据库完整性</vt:lpstr>
      <vt:lpstr>8.1  数据库完整性</vt:lpstr>
      <vt:lpstr>8.1  数据库完整性</vt:lpstr>
      <vt:lpstr>8.1  数据库完整性</vt:lpstr>
      <vt:lpstr>8.1  数据库完整性</vt:lpstr>
      <vt:lpstr>8.1  数据库完整性</vt:lpstr>
      <vt:lpstr>8.1  数据库完整性</vt:lpstr>
      <vt:lpstr>8.1  数据库完整性</vt:lpstr>
      <vt:lpstr>8.1  数据库完整性</vt:lpstr>
      <vt:lpstr>8.1  数据库完整性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siri</dc:creator>
  <cp:lastModifiedBy>jiajing wang</cp:lastModifiedBy>
  <cp:revision>280</cp:revision>
  <dcterms:created xsi:type="dcterms:W3CDTF">2006-08-16T00:00:00Z</dcterms:created>
  <dcterms:modified xsi:type="dcterms:W3CDTF">2024-11-27T13:23:58Z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792CF0007D954464BBC0E2A29E3753E3</vt:lpwstr>
  </property>
  <property fmtid="{D5CDD505-2E9C-101B-9397-08002B2CF9AE}" pid="3" name="KSOProductBuildVer">
    <vt:lpwstr>2052-11.1.0.11365</vt:lpwstr>
  </property>
</Properties>
</file>