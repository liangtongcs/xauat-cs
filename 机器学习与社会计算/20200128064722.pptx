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4" r:id="rId4"/>
    <p:sldId id="276" r:id="rId5"/>
    <p:sldId id="291" r:id="rId6"/>
    <p:sldId id="292" r:id="rId7"/>
    <p:sldId id="295" r:id="rId8"/>
    <p:sldId id="293" r:id="rId9"/>
    <p:sldId id="283" r:id="rId10"/>
    <p:sldId id="294" r:id="rId11"/>
    <p:sldId id="282" r:id="rId12"/>
    <p:sldId id="27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7"/>
    <p:restoredTop sz="94694"/>
  </p:normalViewPr>
  <p:slideViewPr>
    <p:cSldViewPr snapToGrid="0" snapToObjects="1">
      <p:cViewPr varScale="1">
        <p:scale>
          <a:sx n="85" d="100"/>
          <a:sy n="85" d="100"/>
        </p:scale>
        <p:origin x="18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tiff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hyperlink" Target="http://en.wikipedia.org/wiki/File:LangtonsAntAnimated.gi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hyperlink" Target="#die" TargetMode="External"/><Relationship Id="rId8" Type="http://schemas.openxmlformats.org/officeDocument/2006/relationships/hyperlink" Target="#create-ordered-turtles" TargetMode="External"/><Relationship Id="rId73" Type="http://schemas.openxmlformats.org/officeDocument/2006/relationships/slideLayout" Target="../slideLayouts/slideLayout2.xml"/><Relationship Id="rId72" Type="http://schemas.openxmlformats.org/officeDocument/2006/relationships/hyperlink" Target="#ycor" TargetMode="External"/><Relationship Id="rId71" Type="http://schemas.openxmlformats.org/officeDocument/2006/relationships/hyperlink" Target="#xcor" TargetMode="External"/><Relationship Id="rId70" Type="http://schemas.openxmlformats.org/officeDocument/2006/relationships/hyperlink" Target="#who" TargetMode="External"/><Relationship Id="rId7" Type="http://schemas.openxmlformats.org/officeDocument/2006/relationships/hyperlink" Target="#create-turtles" TargetMode="External"/><Relationship Id="rId69" Type="http://schemas.openxmlformats.org/officeDocument/2006/relationships/hyperlink" Target="#size" TargetMode="External"/><Relationship Id="rId68" Type="http://schemas.openxmlformats.org/officeDocument/2006/relationships/hyperlink" Target="#shape" TargetMode="External"/><Relationship Id="rId67" Type="http://schemas.openxmlformats.org/officeDocument/2006/relationships/hyperlink" Target="#pen-size" TargetMode="External"/><Relationship Id="rId66" Type="http://schemas.openxmlformats.org/officeDocument/2006/relationships/hyperlink" Target="#pen-mode" TargetMode="External"/><Relationship Id="rId65" Type="http://schemas.openxmlformats.org/officeDocument/2006/relationships/hyperlink" Target="#label-color" TargetMode="External"/><Relationship Id="rId64" Type="http://schemas.openxmlformats.org/officeDocument/2006/relationships/hyperlink" Target="#label" TargetMode="External"/><Relationship Id="rId63" Type="http://schemas.openxmlformats.org/officeDocument/2006/relationships/hyperlink" Target="#hidden" TargetMode="External"/><Relationship Id="rId62" Type="http://schemas.openxmlformats.org/officeDocument/2006/relationships/hyperlink" Target="#heading" TargetMode="External"/><Relationship Id="rId61" Type="http://schemas.openxmlformats.org/officeDocument/2006/relationships/hyperlink" Target="#color" TargetMode="External"/><Relationship Id="rId60" Type="http://schemas.openxmlformats.org/officeDocument/2006/relationships/hyperlink" Target="#breedvar" TargetMode="External"/><Relationship Id="rId6" Type="http://schemas.openxmlformats.org/officeDocument/2006/relationships/hyperlink" Target="#clear-turtles" TargetMode="External"/><Relationship Id="rId59" Type="http://schemas.openxmlformats.org/officeDocument/2006/relationships/hyperlink" Target="#uphill" TargetMode="External"/><Relationship Id="rId58" Type="http://schemas.openxmlformats.org/officeDocument/2006/relationships/hyperlink" Target="#untie" TargetMode="External"/><Relationship Id="rId57" Type="http://schemas.openxmlformats.org/officeDocument/2006/relationships/hyperlink" Target="#turtles-own" TargetMode="External"/><Relationship Id="rId56" Type="http://schemas.openxmlformats.org/officeDocument/2006/relationships/hyperlink" Target="#turtles" TargetMode="External"/><Relationship Id="rId55" Type="http://schemas.openxmlformats.org/officeDocument/2006/relationships/hyperlink" Target="#turtle-set" TargetMode="External"/><Relationship Id="rId54" Type="http://schemas.openxmlformats.org/officeDocument/2006/relationships/hyperlink" Target="#turtle" TargetMode="External"/><Relationship Id="rId53" Type="http://schemas.openxmlformats.org/officeDocument/2006/relationships/hyperlink" Target="#towardsxy" TargetMode="External"/><Relationship Id="rId52" Type="http://schemas.openxmlformats.org/officeDocument/2006/relationships/hyperlink" Target="#towards" TargetMode="External"/><Relationship Id="rId51" Type="http://schemas.openxmlformats.org/officeDocument/2006/relationships/hyperlink" Target="#tie" TargetMode="External"/><Relationship Id="rId50" Type="http://schemas.openxmlformats.org/officeDocument/2006/relationships/hyperlink" Target="#subtract-headings" TargetMode="External"/><Relationship Id="rId5" Type="http://schemas.openxmlformats.org/officeDocument/2006/relationships/hyperlink" Target="#can-move" TargetMode="External"/><Relationship Id="rId49" Type="http://schemas.openxmlformats.org/officeDocument/2006/relationships/hyperlink" Target="#subject" TargetMode="External"/><Relationship Id="rId48" Type="http://schemas.openxmlformats.org/officeDocument/2006/relationships/hyperlink" Target="#stop-inspecting" TargetMode="External"/><Relationship Id="rId47" Type="http://schemas.openxmlformats.org/officeDocument/2006/relationships/hyperlink" Target="#stamp-erase" TargetMode="External"/><Relationship Id="rId46" Type="http://schemas.openxmlformats.org/officeDocument/2006/relationships/hyperlink" Target="#stamp" TargetMode="External"/><Relationship Id="rId45" Type="http://schemas.openxmlformats.org/officeDocument/2006/relationships/hyperlink" Target="#sprout" TargetMode="External"/><Relationship Id="rId44" Type="http://schemas.openxmlformats.org/officeDocument/2006/relationships/hyperlink" Target="#show-turtle" TargetMode="External"/><Relationship Id="rId43" Type="http://schemas.openxmlformats.org/officeDocument/2006/relationships/hyperlink" Target="#shapes" TargetMode="External"/><Relationship Id="rId42" Type="http://schemas.openxmlformats.org/officeDocument/2006/relationships/hyperlink" Target="#setxy" TargetMode="External"/><Relationship Id="rId41" Type="http://schemas.openxmlformats.org/officeDocument/2006/relationships/hyperlink" Target="#set-line-thickness" TargetMode="External"/><Relationship Id="rId40" Type="http://schemas.openxmlformats.org/officeDocument/2006/relationships/hyperlink" Target="#set-default-shape" TargetMode="External"/><Relationship Id="rId4" Type="http://schemas.openxmlformats.org/officeDocument/2006/relationships/hyperlink" Target="#turtles-on" TargetMode="External"/><Relationship Id="rId39" Type="http://schemas.openxmlformats.org/officeDocument/2006/relationships/hyperlink" Target="#self" TargetMode="External"/><Relationship Id="rId38" Type="http://schemas.openxmlformats.org/officeDocument/2006/relationships/hyperlink" Target="#right" TargetMode="External"/><Relationship Id="rId37" Type="http://schemas.openxmlformats.org/officeDocument/2006/relationships/hyperlink" Target="#random-cor" TargetMode="External"/><Relationship Id="rId36" Type="http://schemas.openxmlformats.org/officeDocument/2006/relationships/hyperlink" Target="#pen-switch-status" TargetMode="External"/><Relationship Id="rId35" Type="http://schemas.openxmlformats.org/officeDocument/2006/relationships/hyperlink" Target="#patch-lr-and-ahead" TargetMode="External"/><Relationship Id="rId34" Type="http://schemas.openxmlformats.org/officeDocument/2006/relationships/hyperlink" Target="#patch-here" TargetMode="External"/><Relationship Id="rId33" Type="http://schemas.openxmlformats.org/officeDocument/2006/relationships/hyperlink" Target="#patch-at-heading-and-distance" TargetMode="External"/><Relationship Id="rId32" Type="http://schemas.openxmlformats.org/officeDocument/2006/relationships/hyperlink" Target="#patch-at" TargetMode="External"/><Relationship Id="rId31" Type="http://schemas.openxmlformats.org/officeDocument/2006/relationships/hyperlink" Target="#patch-ahead" TargetMode="External"/><Relationship Id="rId30" Type="http://schemas.openxmlformats.org/officeDocument/2006/relationships/hyperlink" Target="#other" TargetMode="External"/><Relationship Id="rId3" Type="http://schemas.openxmlformats.org/officeDocument/2006/relationships/hyperlink" Target="#turtles-here" TargetMode="External"/><Relationship Id="rId29" Type="http://schemas.openxmlformats.org/officeDocument/2006/relationships/hyperlink" Target="#of" TargetMode="External"/><Relationship Id="rId28" Type="http://schemas.openxmlformats.org/officeDocument/2006/relationships/hyperlink" Target="#no-turtles" TargetMode="External"/><Relationship Id="rId27" Type="http://schemas.openxmlformats.org/officeDocument/2006/relationships/hyperlink" Target="#nobody" TargetMode="External"/><Relationship Id="rId26" Type="http://schemas.openxmlformats.org/officeDocument/2006/relationships/hyperlink" Target="#myself" TargetMode="External"/><Relationship Id="rId25" Type="http://schemas.openxmlformats.org/officeDocument/2006/relationships/hyperlink" Target="#move-to" TargetMode="External"/><Relationship Id="rId24" Type="http://schemas.openxmlformats.org/officeDocument/2006/relationships/hyperlink" Target="#left" TargetMode="External"/><Relationship Id="rId23" Type="http://schemas.openxmlformats.org/officeDocument/2006/relationships/hyperlink" Target="#layout-circle" TargetMode="External"/><Relationship Id="rId22" Type="http://schemas.openxmlformats.org/officeDocument/2006/relationships/hyperlink" Target="#jump" TargetMode="External"/><Relationship Id="rId21" Type="http://schemas.openxmlformats.org/officeDocument/2006/relationships/hyperlink" Target="#is-of-type" TargetMode="External"/><Relationship Id="rId20" Type="http://schemas.openxmlformats.org/officeDocument/2006/relationships/hyperlink" Target="#inspect" TargetMode="External"/><Relationship Id="rId2" Type="http://schemas.openxmlformats.org/officeDocument/2006/relationships/hyperlink" Target="#turtles-at" TargetMode="External"/><Relationship Id="rId19" Type="http://schemas.openxmlformats.org/officeDocument/2006/relationships/hyperlink" Target="#home" TargetMode="External"/><Relationship Id="rId18" Type="http://schemas.openxmlformats.org/officeDocument/2006/relationships/hyperlink" Target="#hide-turtle" TargetMode="External"/><Relationship Id="rId17" Type="http://schemas.openxmlformats.org/officeDocument/2006/relationships/hyperlink" Target="#hatch" TargetMode="External"/><Relationship Id="rId16" Type="http://schemas.openxmlformats.org/officeDocument/2006/relationships/hyperlink" Target="#forward" TargetMode="External"/><Relationship Id="rId15" Type="http://schemas.openxmlformats.org/officeDocument/2006/relationships/hyperlink" Target="#facexy" TargetMode="External"/><Relationship Id="rId14" Type="http://schemas.openxmlformats.org/officeDocument/2006/relationships/hyperlink" Target="#face" TargetMode="External"/><Relationship Id="rId13" Type="http://schemas.openxmlformats.org/officeDocument/2006/relationships/hyperlink" Target="#dxy" TargetMode="External"/><Relationship Id="rId12" Type="http://schemas.openxmlformats.org/officeDocument/2006/relationships/hyperlink" Target="#downhill" TargetMode="External"/><Relationship Id="rId11" Type="http://schemas.openxmlformats.org/officeDocument/2006/relationships/hyperlink" Target="#distancexy" TargetMode="External"/><Relationship Id="rId10" Type="http://schemas.openxmlformats.org/officeDocument/2006/relationships/hyperlink" Target="#distance" TargetMode="External"/><Relationship Id="rId1" Type="http://schemas.openxmlformats.org/officeDocument/2006/relationships/hyperlink" Target="#back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/>
          <p:cNvPicPr>
            <a:picLocks noChangeAspect="1"/>
          </p:cNvPicPr>
          <p:nvPr/>
        </p:nvPicPr>
        <p:blipFill rotWithShape="1">
          <a:blip r:embed="rId1"/>
          <a:srcRect t="7036" b="21295"/>
          <a:stretch>
            <a:fillRect/>
          </a:stretch>
        </p:blipFill>
        <p:spPr>
          <a:xfrm>
            <a:off x="-31" y="251293"/>
            <a:ext cx="12192031" cy="4915066"/>
          </a:xfrm>
          <a:prstGeom prst="rect">
            <a:avLst/>
          </a:prstGeom>
        </p:spPr>
      </p:pic>
      <p:sp>
        <p:nvSpPr>
          <p:cNvPr id="16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07" y="4915076"/>
            <a:ext cx="12188952" cy="19429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32739" y="5120639"/>
            <a:ext cx="7137263" cy="1280161"/>
          </a:xfrm>
        </p:spPr>
        <p:txBody>
          <a:bodyPr anchor="ctr">
            <a:normAutofit/>
          </a:bodyPr>
          <a:lstStyle/>
          <a:p>
            <a:pPr algn="just"/>
            <a:r>
              <a:rPr kumimoji="1" lang="zh-CN" altLang="en-US" sz="3200" dirty="0">
                <a:solidFill>
                  <a:srgbClr val="FFFFFF"/>
                </a:solidFill>
              </a:rPr>
              <a:t>从</a:t>
            </a:r>
            <a:r>
              <a:rPr kumimoji="1" lang="en-US" altLang="zh-CN" sz="3200" dirty="0">
                <a:solidFill>
                  <a:srgbClr val="FF0000"/>
                </a:solidFill>
              </a:rPr>
              <a:t>Langton</a:t>
            </a:r>
            <a:r>
              <a:rPr kumimoji="1" lang="zh-CN" altLang="en-US" sz="3200" dirty="0">
                <a:solidFill>
                  <a:srgbClr val="FF0000"/>
                </a:solidFill>
              </a:rPr>
              <a:t>的蚂蚁</a:t>
            </a:r>
            <a:r>
              <a:rPr kumimoji="1" lang="zh-CN" altLang="en-US" sz="3200" dirty="0">
                <a:solidFill>
                  <a:srgbClr val="FFFFFF"/>
                </a:solidFill>
              </a:rPr>
              <a:t>看</a:t>
            </a:r>
            <a:r>
              <a:rPr kumimoji="1" lang="en-US" altLang="zh-CN" sz="3200" dirty="0">
                <a:solidFill>
                  <a:srgbClr val="00B0F0"/>
                </a:solidFill>
              </a:rPr>
              <a:t>Turtle</a:t>
            </a:r>
            <a:r>
              <a:rPr kumimoji="1" lang="zh-CN" altLang="en-US" sz="3200" dirty="0">
                <a:solidFill>
                  <a:srgbClr val="00B0F0"/>
                </a:solidFill>
              </a:rPr>
              <a:t>与</a:t>
            </a:r>
            <a:r>
              <a:rPr kumimoji="1" lang="en-US" altLang="zh-CN" sz="3200" dirty="0">
                <a:solidFill>
                  <a:srgbClr val="00B0F0"/>
                </a:solidFill>
              </a:rPr>
              <a:t>Patch</a:t>
            </a:r>
            <a:r>
              <a:rPr kumimoji="1" lang="zh-CN" altLang="en-US" sz="3200" dirty="0">
                <a:solidFill>
                  <a:srgbClr val="00B0F0"/>
                </a:solidFill>
              </a:rPr>
              <a:t>的交互</a:t>
            </a:r>
            <a:endParaRPr kumimoji="1" lang="zh-CN" altLang="en-US" sz="3200" dirty="0">
              <a:solidFill>
                <a:srgbClr val="00B0F0"/>
              </a:solidFill>
            </a:endParaRPr>
          </a:p>
        </p:txBody>
      </p:sp>
      <p:cxnSp>
        <p:nvCxnSpPr>
          <p:cNvPr id="17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rot="16200000">
            <a:off x="7532813" y="5760720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958431" y="6048540"/>
            <a:ext cx="3006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FFFFFF"/>
                </a:solidFill>
              </a:rPr>
              <a:t>——</a:t>
            </a:r>
            <a:r>
              <a:rPr kumimoji="1" lang="en-US" altLang="zh-CN" dirty="0" err="1">
                <a:solidFill>
                  <a:srgbClr val="FFFFFF"/>
                </a:solidFill>
              </a:rPr>
              <a:t>NetLogo</a:t>
            </a:r>
            <a:r>
              <a:rPr kumimoji="1" lang="zh-CN" altLang="en-US" dirty="0">
                <a:solidFill>
                  <a:srgbClr val="FFFFFF"/>
                </a:solidFill>
              </a:rPr>
              <a:t>多主体建模入门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440" y="3599473"/>
            <a:ext cx="2149936" cy="1196991"/>
          </a:xfrm>
          <a:prstGeom prst="rect">
            <a:avLst/>
          </a:prstGeom>
        </p:spPr>
      </p:pic>
      <p:sp>
        <p:nvSpPr>
          <p:cNvPr id="5" name="副标题 4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3171" y="512891"/>
            <a:ext cx="3448259" cy="13438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zh-CN" sz="4000" dirty="0">
                <a:solidFill>
                  <a:schemeClr val="tx1"/>
                </a:solidFill>
              </a:rPr>
              <a:t>Langton</a:t>
            </a:r>
            <a:r>
              <a:rPr kumimoji="1" lang="zh-CN" altLang="en-US" sz="4000" dirty="0">
                <a:solidFill>
                  <a:schemeClr val="tx1"/>
                </a:solidFill>
              </a:rPr>
              <a:t>的蚂蚁</a:t>
            </a:r>
            <a:endParaRPr kumimoji="1"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5" name="内容占位符 5"/>
          <p:cNvSpPr txBox="1"/>
          <p:nvPr/>
        </p:nvSpPr>
        <p:spPr>
          <a:xfrm>
            <a:off x="643465" y="2291391"/>
            <a:ext cx="5712730" cy="33427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8640" indent="-457200" fontAlgn="ctr">
              <a:lnSpc>
                <a:spcPct val="90000"/>
              </a:lnSpc>
              <a:buFont typeface="Calibri" panose="020F0502020204030204" pitchFamily="34" charset="0"/>
              <a:buChar char="l"/>
              <a:tabLst>
                <a:tab pos="719455" algn="l"/>
              </a:tabLst>
            </a:pPr>
            <a:r>
              <a:rPr lang="en-US" altLang="zh-CN" sz="1600" dirty="0">
                <a:solidFill>
                  <a:schemeClr val="tx1"/>
                </a:solidFill>
              </a:rPr>
              <a:t>1986</a:t>
            </a:r>
            <a:r>
              <a:rPr lang="zh-CN" altLang="en-US" sz="1600" dirty="0">
                <a:solidFill>
                  <a:schemeClr val="tx1"/>
                </a:solidFill>
              </a:rPr>
              <a:t>年，由</a:t>
            </a:r>
            <a:r>
              <a:rPr lang="en-GB" altLang="zh-CN" sz="1600" dirty="0">
                <a:solidFill>
                  <a:schemeClr val="tx1"/>
                </a:solidFill>
              </a:rPr>
              <a:t>Christopher Langton</a:t>
            </a:r>
            <a:r>
              <a:rPr lang="zh-CN" altLang="en-US" sz="1600" dirty="0">
                <a:solidFill>
                  <a:schemeClr val="tx1"/>
                </a:solidFill>
              </a:rPr>
              <a:t>提出的一个最简单的二维图灵机模型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548640" indent="-457200" fontAlgn="ctr">
              <a:lnSpc>
                <a:spcPct val="90000"/>
              </a:lnSpc>
              <a:buFont typeface="Calibri" panose="020F0502020204030204" pitchFamily="34" charset="0"/>
              <a:buChar char="l"/>
              <a:tabLst>
                <a:tab pos="719455" algn="l"/>
              </a:tabLst>
            </a:pPr>
            <a:r>
              <a:rPr lang="zh-CN" altLang="en-US" sz="1600" dirty="0">
                <a:solidFill>
                  <a:schemeClr val="tx1"/>
                </a:solidFill>
              </a:rPr>
              <a:t>这个模型早期比较平庸，但在运行将近</a:t>
            </a:r>
            <a:r>
              <a:rPr lang="en-US" altLang="zh-CN" sz="1600" dirty="0">
                <a:solidFill>
                  <a:schemeClr val="tx1"/>
                </a:solidFill>
              </a:rPr>
              <a:t>10000</a:t>
            </a:r>
            <a:r>
              <a:rPr lang="zh-CN" altLang="en-US" sz="1600" dirty="0">
                <a:solidFill>
                  <a:schemeClr val="tx1"/>
                </a:solidFill>
              </a:rPr>
              <a:t>步左右会突然产生奇怪的行为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548640" indent="-457200" fontAlgn="ctr">
              <a:lnSpc>
                <a:spcPct val="90000"/>
              </a:lnSpc>
              <a:buFont typeface="Calibri" panose="020F0502020204030204" pitchFamily="34" charset="0"/>
              <a:buChar char="l"/>
              <a:tabLst>
                <a:tab pos="719455" algn="l"/>
              </a:tabLst>
            </a:pPr>
            <a:r>
              <a:rPr lang="en-GB" altLang="zh-CN" sz="1600" dirty="0">
                <a:solidFill>
                  <a:schemeClr val="tx1"/>
                </a:solidFill>
              </a:rPr>
              <a:t>Christopher Langton</a:t>
            </a:r>
            <a:r>
              <a:rPr lang="zh-CN" altLang="en-US" sz="1600" dirty="0">
                <a:solidFill>
                  <a:schemeClr val="tx1"/>
                </a:solidFill>
              </a:rPr>
              <a:t>： 人工生命之父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pic>
        <p:nvPicPr>
          <p:cNvPr id="9" name="Picture 9" descr="http://upload.wikimedia.org/wikipedia/commons/0/09/LangtonsAntAnimated.gif">
            <a:hlinkClick r:id="rId1"/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657" y="2136738"/>
            <a:ext cx="3985537" cy="398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http://www.sciencephoto.com/image/226730/large/H4120332-Christopher_Langton-SP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972" y="3965420"/>
            <a:ext cx="1489762" cy="215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8"/>
          <p:cNvSpPr txBox="1">
            <a:spLocks noChangeArrowheads="1"/>
          </p:cNvSpPr>
          <p:nvPr/>
        </p:nvSpPr>
        <p:spPr bwMode="auto">
          <a:xfrm>
            <a:off x="3299965" y="5790864"/>
            <a:ext cx="21996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chemeClr val="accent1"/>
              </a:buClr>
              <a:buSzPct val="80000"/>
              <a:buFont typeface="Wingdings 2" panose="05020102010507070707" pitchFamily="2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800">
                <a:latin typeface="华文楷体" panose="02010600040101010101" pitchFamily="2" charset="-122"/>
              </a:rPr>
              <a:t>Christopher Langton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蚂蚁规则</a:t>
            </a:r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356190" y="2312909"/>
            <a:ext cx="1357312" cy="1428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5" name="直接连接符 19"/>
          <p:cNvCxnSpPr/>
          <p:nvPr/>
        </p:nvCxnSpPr>
        <p:spPr>
          <a:xfrm>
            <a:off x="7356190" y="2739947"/>
            <a:ext cx="1357312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1"/>
          <p:cNvCxnSpPr/>
          <p:nvPr/>
        </p:nvCxnSpPr>
        <p:spPr>
          <a:xfrm>
            <a:off x="7356190" y="3240009"/>
            <a:ext cx="135731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23"/>
          <p:cNvCxnSpPr/>
          <p:nvPr/>
        </p:nvCxnSpPr>
        <p:spPr>
          <a:xfrm rot="5400000">
            <a:off x="7105364" y="2990772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24"/>
          <p:cNvCxnSpPr/>
          <p:nvPr/>
        </p:nvCxnSpPr>
        <p:spPr>
          <a:xfrm rot="5400000">
            <a:off x="7535577" y="2990772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784815" y="2741534"/>
            <a:ext cx="428625" cy="500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7927690" y="2884409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570752" y="2312909"/>
            <a:ext cx="1357313" cy="1428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2" name="直接连接符 28"/>
          <p:cNvCxnSpPr/>
          <p:nvPr/>
        </p:nvCxnSpPr>
        <p:spPr>
          <a:xfrm>
            <a:off x="9570752" y="2739947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9"/>
          <p:cNvCxnSpPr/>
          <p:nvPr/>
        </p:nvCxnSpPr>
        <p:spPr>
          <a:xfrm>
            <a:off x="9570752" y="3240009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30"/>
          <p:cNvCxnSpPr/>
          <p:nvPr/>
        </p:nvCxnSpPr>
        <p:spPr>
          <a:xfrm rot="5400000">
            <a:off x="9319927" y="2990772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31"/>
          <p:cNvCxnSpPr/>
          <p:nvPr/>
        </p:nvCxnSpPr>
        <p:spPr>
          <a:xfrm rot="5400000">
            <a:off x="9750139" y="2990772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999377" y="2741534"/>
            <a:ext cx="428625" cy="5000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10142252" y="3384472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8" name="直接箭头连接符 35"/>
          <p:cNvCxnSpPr/>
          <p:nvPr/>
        </p:nvCxnSpPr>
        <p:spPr>
          <a:xfrm rot="5400000" flipH="1" flipV="1">
            <a:off x="8142002" y="2741534"/>
            <a:ext cx="20638" cy="4079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36"/>
          <p:cNvCxnSpPr/>
          <p:nvPr/>
        </p:nvCxnSpPr>
        <p:spPr>
          <a:xfrm rot="5400000">
            <a:off x="10010490" y="3681334"/>
            <a:ext cx="407988" cy="15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356190" y="4313159"/>
            <a:ext cx="1357312" cy="1428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31" name="直接连接符 39"/>
          <p:cNvCxnSpPr/>
          <p:nvPr/>
        </p:nvCxnSpPr>
        <p:spPr>
          <a:xfrm>
            <a:off x="7356190" y="4740197"/>
            <a:ext cx="1357312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40"/>
          <p:cNvCxnSpPr/>
          <p:nvPr/>
        </p:nvCxnSpPr>
        <p:spPr>
          <a:xfrm>
            <a:off x="7356190" y="5240259"/>
            <a:ext cx="135731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41"/>
          <p:cNvCxnSpPr/>
          <p:nvPr/>
        </p:nvCxnSpPr>
        <p:spPr>
          <a:xfrm rot="5400000">
            <a:off x="7105364" y="4991022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42"/>
          <p:cNvCxnSpPr/>
          <p:nvPr/>
        </p:nvCxnSpPr>
        <p:spPr>
          <a:xfrm rot="5400000">
            <a:off x="7535577" y="4991022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7784815" y="4741784"/>
            <a:ext cx="428625" cy="5000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7927690" y="4884659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 rot="10800000">
            <a:off x="9570752" y="4313159"/>
            <a:ext cx="1357313" cy="1428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38" name="直接连接符 46"/>
          <p:cNvCxnSpPr/>
          <p:nvPr/>
        </p:nvCxnSpPr>
        <p:spPr>
          <a:xfrm rot="10800000">
            <a:off x="9570752" y="4740197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47"/>
          <p:cNvCxnSpPr/>
          <p:nvPr/>
        </p:nvCxnSpPr>
        <p:spPr>
          <a:xfrm rot="10800000">
            <a:off x="9570752" y="5240259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48"/>
          <p:cNvCxnSpPr/>
          <p:nvPr/>
        </p:nvCxnSpPr>
        <p:spPr>
          <a:xfrm rot="16200000">
            <a:off x="9319927" y="4991022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9"/>
          <p:cNvCxnSpPr/>
          <p:nvPr/>
        </p:nvCxnSpPr>
        <p:spPr>
          <a:xfrm rot="16200000">
            <a:off x="9750139" y="4991022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 rot="10800000">
            <a:off x="9999377" y="4741784"/>
            <a:ext cx="428625" cy="500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 rot="10800000">
            <a:off x="10142252" y="4477111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44" name="直接箭头连接符 52"/>
          <p:cNvCxnSpPr/>
          <p:nvPr/>
        </p:nvCxnSpPr>
        <p:spPr>
          <a:xfrm rot="5400000" flipH="1" flipV="1">
            <a:off x="8142002" y="4741784"/>
            <a:ext cx="20638" cy="4079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53"/>
          <p:cNvCxnSpPr/>
          <p:nvPr/>
        </p:nvCxnSpPr>
        <p:spPr>
          <a:xfrm rot="16200000">
            <a:off x="10010490" y="4324272"/>
            <a:ext cx="407987" cy="15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37"/>
          <p:cNvSpPr>
            <a:spLocks noChangeArrowheads="1"/>
          </p:cNvSpPr>
          <p:nvPr/>
        </p:nvSpPr>
        <p:spPr bwMode="auto">
          <a:xfrm>
            <a:off x="7335552" y="5978447"/>
            <a:ext cx="4383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lr>
                <a:schemeClr val="accent1"/>
              </a:buClr>
              <a:buSzPct val="80000"/>
              <a:buFont typeface="Wingdings 2" panose="05020102010507070707" pitchFamily="2" charset="2"/>
              <a:buChar char=""/>
              <a:defRPr sz="32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"/>
              <a:defRPr sz="28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E66C7D"/>
              </a:buClr>
              <a:buFont typeface="Arial" panose="020B0604020202020204" pitchFamily="34" charset="0"/>
              <a:buChar char="▪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6BB76D"/>
              </a:buClr>
              <a:buFont typeface="Arial" panose="020B0604020202020204" pitchFamily="34" charset="0"/>
              <a:buChar char="▪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8651"/>
              </a:buClr>
              <a:buFont typeface="Wingdings 3" panose="05040102010807070707" pitchFamily="2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http://en.wikipedia.org/wiki/Langton's_ant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内容占位符 5"/>
          <p:cNvSpPr>
            <a:spLocks noGrp="1"/>
          </p:cNvSpPr>
          <p:nvPr>
            <p:ph idx="1"/>
          </p:nvPr>
        </p:nvSpPr>
        <p:spPr>
          <a:xfrm>
            <a:off x="1097280" y="2471069"/>
            <a:ext cx="5546123" cy="276919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华文楷体" panose="02010600040101010101" pitchFamily="2" charset="-122"/>
              </a:rPr>
              <a:t>蚂蚁遵循以下两条规则：</a:t>
            </a:r>
            <a:endParaRPr lang="en-US" altLang="zh-CN" sz="1600" dirty="0">
              <a:latin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华文楷体" panose="02010600040101010101" pitchFamily="2" charset="-122"/>
              </a:rPr>
              <a:t>如果当前格子为白，右旋转</a:t>
            </a:r>
            <a:r>
              <a:rPr lang="en-US" altLang="zh-CN" sz="1600" dirty="0">
                <a:latin typeface="华文楷体" panose="02010600040101010101" pitchFamily="2" charset="-122"/>
              </a:rPr>
              <a:t>90</a:t>
            </a:r>
            <a:r>
              <a:rPr lang="zh-CN" altLang="en-US" sz="1600" dirty="0">
                <a:latin typeface="华文楷体" panose="02010600040101010101" pitchFamily="2" charset="-122"/>
              </a:rPr>
              <a:t>度，把格子涂黑，往前移动一个格子</a:t>
            </a:r>
            <a:endParaRPr lang="en-US" altLang="zh-CN" sz="1600" dirty="0">
              <a:latin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华文楷体" panose="02010600040101010101" pitchFamily="2" charset="-122"/>
              </a:rPr>
              <a:t>如果当前格子 为黑，左旋转</a:t>
            </a:r>
            <a:r>
              <a:rPr lang="en-US" altLang="zh-CN" sz="1600" dirty="0">
                <a:latin typeface="华文楷体" panose="02010600040101010101" pitchFamily="2" charset="-122"/>
              </a:rPr>
              <a:t>90</a:t>
            </a:r>
            <a:r>
              <a:rPr lang="zh-CN" altLang="en-US" sz="1600" dirty="0">
                <a:latin typeface="华文楷体" panose="02010600040101010101" pitchFamily="2" charset="-122"/>
              </a:rPr>
              <a:t>度，把格子涂白，往前移动一个格子</a:t>
            </a:r>
            <a:endParaRPr lang="en-US" altLang="zh-CN" sz="1600" dirty="0">
              <a:latin typeface="华文楷体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Char char="l"/>
            </a:pPr>
            <a:endParaRPr lang="en-US" altLang="zh-CN" sz="1600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关于</a:t>
            </a:r>
            <a:r>
              <a:rPr kumimoji="1" lang="en-US" altLang="zh-CN" dirty="0"/>
              <a:t>Turtle</a:t>
            </a:r>
            <a:endParaRPr kumimoji="1" lang="zh-CN" altLang="en-US" dirty="0"/>
          </a:p>
        </p:txBody>
      </p:sp>
      <p:sp>
        <p:nvSpPr>
          <p:cNvPr id="47" name="内容占位符 5"/>
          <p:cNvSpPr>
            <a:spLocks noGrp="1"/>
          </p:cNvSpPr>
          <p:nvPr>
            <p:ph idx="1"/>
          </p:nvPr>
        </p:nvSpPr>
        <p:spPr>
          <a:xfrm>
            <a:off x="1097279" y="2471069"/>
            <a:ext cx="10058399" cy="2769190"/>
          </a:xfrm>
        </p:spPr>
        <p:txBody>
          <a:bodyPr>
            <a:normAutofit/>
          </a:bodyPr>
          <a:lstStyle/>
          <a:p>
            <a:pPr marL="201295" lvl="1" indent="0">
              <a:buNone/>
            </a:pPr>
            <a:r>
              <a:rPr lang="en-GB" altLang="zh-CN" dirty="0">
                <a:hlinkClick r:id="rId1"/>
              </a:rPr>
              <a:t>back</a:t>
            </a:r>
            <a:r>
              <a:rPr lang="en-GB" altLang="zh-CN" dirty="0"/>
              <a:t> (</a:t>
            </a:r>
            <a:r>
              <a:rPr lang="en-GB" altLang="zh-CN" dirty="0">
                <a:hlinkClick r:id="rId1"/>
              </a:rPr>
              <a:t>bk</a:t>
            </a:r>
            <a:r>
              <a:rPr lang="en-GB" altLang="zh-CN" dirty="0"/>
              <a:t>) </a:t>
            </a:r>
            <a:r>
              <a:rPr lang="en-GB" altLang="zh-CN" i="1" dirty="0">
                <a:hlinkClick r:id="rId2"/>
              </a:rPr>
              <a:t>&lt;breeds&gt;</a:t>
            </a:r>
            <a:r>
              <a:rPr lang="en-GB" altLang="zh-CN" dirty="0">
                <a:hlinkClick r:id="rId2"/>
              </a:rPr>
              <a:t>-at</a:t>
            </a:r>
            <a:r>
              <a:rPr lang="en-GB" altLang="zh-CN" dirty="0"/>
              <a:t> </a:t>
            </a:r>
            <a:r>
              <a:rPr lang="en-GB" altLang="zh-CN" i="1" dirty="0">
                <a:hlinkClick r:id="rId3"/>
              </a:rPr>
              <a:t>&lt;breeds&gt;</a:t>
            </a:r>
            <a:r>
              <a:rPr lang="en-GB" altLang="zh-CN" dirty="0">
                <a:hlinkClick r:id="rId3"/>
              </a:rPr>
              <a:t>-here</a:t>
            </a:r>
            <a:r>
              <a:rPr lang="en-GB" altLang="zh-CN" dirty="0"/>
              <a:t> </a:t>
            </a:r>
            <a:r>
              <a:rPr lang="en-GB" altLang="zh-CN" i="1" dirty="0">
                <a:hlinkClick r:id="rId4"/>
              </a:rPr>
              <a:t>&lt;breeds&gt;</a:t>
            </a:r>
            <a:r>
              <a:rPr lang="en-GB" altLang="zh-CN" dirty="0">
                <a:hlinkClick r:id="rId4"/>
              </a:rPr>
              <a:t>-on</a:t>
            </a:r>
            <a:r>
              <a:rPr lang="en-GB" altLang="zh-CN" dirty="0"/>
              <a:t> </a:t>
            </a:r>
            <a:r>
              <a:rPr lang="en-GB" altLang="zh-CN" dirty="0">
                <a:hlinkClick r:id="rId5"/>
              </a:rPr>
              <a:t>can-move?</a:t>
            </a:r>
            <a:r>
              <a:rPr lang="en-GB" altLang="zh-CN" dirty="0"/>
              <a:t> </a:t>
            </a:r>
            <a:r>
              <a:rPr lang="en-GB" altLang="zh-CN" dirty="0">
                <a:hlinkClick r:id="rId6"/>
              </a:rPr>
              <a:t>clear-turtles</a:t>
            </a:r>
            <a:r>
              <a:rPr lang="en-GB" altLang="zh-CN" dirty="0"/>
              <a:t> (</a:t>
            </a:r>
            <a:r>
              <a:rPr lang="en-GB" altLang="zh-CN" dirty="0">
                <a:hlinkClick r:id="rId6"/>
              </a:rPr>
              <a:t>ct</a:t>
            </a:r>
            <a:r>
              <a:rPr lang="en-GB" altLang="zh-CN" dirty="0"/>
              <a:t>) </a:t>
            </a:r>
            <a:r>
              <a:rPr lang="en-GB" altLang="zh-CN" dirty="0">
                <a:hlinkClick r:id="rId7"/>
              </a:rPr>
              <a:t>create-</a:t>
            </a:r>
            <a:r>
              <a:rPr lang="en-GB" altLang="zh-CN" i="1" dirty="0">
                <a:hlinkClick r:id="rId7"/>
              </a:rPr>
              <a:t>&lt;breeds&gt;</a:t>
            </a:r>
            <a:r>
              <a:rPr lang="en-GB" altLang="zh-CN" dirty="0"/>
              <a:t> </a:t>
            </a:r>
            <a:r>
              <a:rPr lang="en-GB" altLang="zh-CN" dirty="0">
                <a:hlinkClick r:id="rId8"/>
              </a:rPr>
              <a:t>create-ordered-</a:t>
            </a:r>
            <a:r>
              <a:rPr lang="en-GB" altLang="zh-CN" i="1" dirty="0">
                <a:hlinkClick r:id="rId8"/>
              </a:rPr>
              <a:t>&lt;breeds&gt;</a:t>
            </a:r>
            <a:r>
              <a:rPr lang="en-GB" altLang="zh-CN" dirty="0"/>
              <a:t> </a:t>
            </a:r>
            <a:r>
              <a:rPr lang="en-GB" altLang="zh-CN" dirty="0">
                <a:hlinkClick r:id="rId8"/>
              </a:rPr>
              <a:t>create-ordered-turtles</a:t>
            </a:r>
            <a:r>
              <a:rPr lang="en-GB" altLang="zh-CN" dirty="0"/>
              <a:t> (</a:t>
            </a:r>
            <a:r>
              <a:rPr lang="en-GB" altLang="zh-CN" dirty="0">
                <a:hlinkClick r:id="rId8"/>
              </a:rPr>
              <a:t>cro</a:t>
            </a:r>
            <a:r>
              <a:rPr lang="en-GB" altLang="zh-CN" dirty="0"/>
              <a:t>) </a:t>
            </a:r>
            <a:r>
              <a:rPr lang="en-GB" altLang="zh-CN" dirty="0">
                <a:hlinkClick r:id="rId7"/>
              </a:rPr>
              <a:t>create-turtles</a:t>
            </a:r>
            <a:r>
              <a:rPr lang="en-GB" altLang="zh-CN" dirty="0"/>
              <a:t> (</a:t>
            </a:r>
            <a:r>
              <a:rPr lang="en-GB" altLang="zh-CN" dirty="0">
                <a:hlinkClick r:id="rId7"/>
              </a:rPr>
              <a:t>crt</a:t>
            </a:r>
            <a:r>
              <a:rPr lang="en-GB" altLang="zh-CN" dirty="0"/>
              <a:t>) </a:t>
            </a:r>
            <a:r>
              <a:rPr lang="en-GB" altLang="zh-CN" dirty="0">
                <a:hlinkClick r:id="rId9"/>
              </a:rPr>
              <a:t>die</a:t>
            </a:r>
            <a:r>
              <a:rPr lang="en-GB" altLang="zh-CN" dirty="0"/>
              <a:t> </a:t>
            </a:r>
            <a:r>
              <a:rPr lang="en-GB" altLang="zh-CN" dirty="0">
                <a:hlinkClick r:id="rId10"/>
              </a:rPr>
              <a:t>distance</a:t>
            </a:r>
            <a:r>
              <a:rPr lang="en-GB" altLang="zh-CN" dirty="0"/>
              <a:t> </a:t>
            </a:r>
            <a:r>
              <a:rPr lang="en-GB" altLang="zh-CN" dirty="0">
                <a:hlinkClick r:id="rId11"/>
              </a:rPr>
              <a:t>distancexy</a:t>
            </a:r>
            <a:r>
              <a:rPr lang="en-GB" altLang="zh-CN" dirty="0"/>
              <a:t> </a:t>
            </a:r>
            <a:r>
              <a:rPr lang="en-GB" altLang="zh-CN" dirty="0">
                <a:hlinkClick r:id="rId12"/>
              </a:rPr>
              <a:t>downhill</a:t>
            </a:r>
            <a:r>
              <a:rPr lang="en-GB" altLang="zh-CN" dirty="0"/>
              <a:t> </a:t>
            </a:r>
            <a:r>
              <a:rPr lang="en-GB" altLang="zh-CN" dirty="0">
                <a:hlinkClick r:id="rId12"/>
              </a:rPr>
              <a:t>downhill4</a:t>
            </a:r>
            <a:r>
              <a:rPr lang="en-GB" altLang="zh-CN" dirty="0"/>
              <a:t> </a:t>
            </a:r>
            <a:r>
              <a:rPr lang="en-GB" altLang="zh-CN" dirty="0">
                <a:hlinkClick r:id="rId13"/>
              </a:rPr>
              <a:t>dx</a:t>
            </a:r>
            <a:r>
              <a:rPr lang="en-GB" altLang="zh-CN" dirty="0"/>
              <a:t> </a:t>
            </a:r>
            <a:r>
              <a:rPr lang="en-GB" altLang="zh-CN" dirty="0">
                <a:hlinkClick r:id="rId13"/>
              </a:rPr>
              <a:t>dy</a:t>
            </a:r>
            <a:r>
              <a:rPr lang="en-GB" altLang="zh-CN" dirty="0"/>
              <a:t> </a:t>
            </a:r>
            <a:r>
              <a:rPr lang="en-GB" altLang="zh-CN" dirty="0">
                <a:hlinkClick r:id="rId14"/>
              </a:rPr>
              <a:t>face</a:t>
            </a:r>
            <a:r>
              <a:rPr lang="en-GB" altLang="zh-CN" dirty="0"/>
              <a:t> </a:t>
            </a:r>
            <a:r>
              <a:rPr lang="en-GB" altLang="zh-CN" dirty="0">
                <a:hlinkClick r:id="rId15"/>
              </a:rPr>
              <a:t>facexy</a:t>
            </a:r>
            <a:r>
              <a:rPr lang="en-GB" altLang="zh-CN" dirty="0"/>
              <a:t> </a:t>
            </a:r>
            <a:r>
              <a:rPr lang="en-GB" altLang="zh-CN" dirty="0">
                <a:hlinkClick r:id="rId16"/>
              </a:rPr>
              <a:t>forward</a:t>
            </a:r>
            <a:r>
              <a:rPr lang="en-GB" altLang="zh-CN" dirty="0"/>
              <a:t> (</a:t>
            </a:r>
            <a:r>
              <a:rPr lang="en-GB" altLang="zh-CN" dirty="0">
                <a:hlinkClick r:id="rId16"/>
              </a:rPr>
              <a:t>fd</a:t>
            </a:r>
            <a:r>
              <a:rPr lang="en-GB" altLang="zh-CN" dirty="0"/>
              <a:t>) </a:t>
            </a:r>
            <a:r>
              <a:rPr lang="en-GB" altLang="zh-CN" dirty="0">
                <a:hlinkClick r:id="rId17"/>
              </a:rPr>
              <a:t>hatch</a:t>
            </a:r>
            <a:r>
              <a:rPr lang="en-GB" altLang="zh-CN" dirty="0"/>
              <a:t> </a:t>
            </a:r>
            <a:r>
              <a:rPr lang="en-GB" altLang="zh-CN" dirty="0">
                <a:hlinkClick r:id="rId17"/>
              </a:rPr>
              <a:t>hatch-</a:t>
            </a:r>
            <a:r>
              <a:rPr lang="en-GB" altLang="zh-CN" i="1" dirty="0">
                <a:hlinkClick r:id="rId17"/>
              </a:rPr>
              <a:t>&lt;breeds&gt;</a:t>
            </a:r>
            <a:r>
              <a:rPr lang="en-GB" altLang="zh-CN" dirty="0"/>
              <a:t> </a:t>
            </a:r>
            <a:r>
              <a:rPr lang="en-GB" altLang="zh-CN" dirty="0">
                <a:hlinkClick r:id="rId18"/>
              </a:rPr>
              <a:t>hide-turtle</a:t>
            </a:r>
            <a:r>
              <a:rPr lang="en-GB" altLang="zh-CN" dirty="0"/>
              <a:t> (</a:t>
            </a:r>
            <a:r>
              <a:rPr lang="en-GB" altLang="zh-CN" dirty="0">
                <a:hlinkClick r:id="rId18"/>
              </a:rPr>
              <a:t>ht</a:t>
            </a:r>
            <a:r>
              <a:rPr lang="en-GB" altLang="zh-CN" dirty="0"/>
              <a:t>) </a:t>
            </a:r>
            <a:r>
              <a:rPr lang="en-GB" altLang="zh-CN" dirty="0">
                <a:hlinkClick r:id="rId19"/>
              </a:rPr>
              <a:t>home</a:t>
            </a:r>
            <a:r>
              <a:rPr lang="en-GB" altLang="zh-CN" dirty="0"/>
              <a:t> </a:t>
            </a:r>
            <a:r>
              <a:rPr lang="en-GB" altLang="zh-CN" dirty="0">
                <a:hlinkClick r:id="rId20"/>
              </a:rPr>
              <a:t>inspect</a:t>
            </a:r>
            <a:r>
              <a:rPr lang="en-GB" altLang="zh-CN" dirty="0"/>
              <a:t> </a:t>
            </a:r>
            <a:r>
              <a:rPr lang="en-GB" altLang="zh-CN" dirty="0">
                <a:hlinkClick r:id="rId21"/>
              </a:rPr>
              <a:t>is-</a:t>
            </a:r>
            <a:r>
              <a:rPr lang="en-GB" altLang="zh-CN" i="1" dirty="0">
                <a:hlinkClick r:id="rId21"/>
              </a:rPr>
              <a:t>&lt;breed&gt;</a:t>
            </a:r>
            <a:r>
              <a:rPr lang="en-GB" altLang="zh-CN" dirty="0">
                <a:hlinkClick r:id="rId21"/>
              </a:rPr>
              <a:t>?</a:t>
            </a:r>
            <a:r>
              <a:rPr lang="en-GB" altLang="zh-CN" dirty="0"/>
              <a:t> </a:t>
            </a:r>
            <a:r>
              <a:rPr lang="en-GB" altLang="zh-CN" dirty="0">
                <a:hlinkClick r:id="rId21"/>
              </a:rPr>
              <a:t>is-turtle?</a:t>
            </a:r>
            <a:r>
              <a:rPr lang="en-GB" altLang="zh-CN" dirty="0"/>
              <a:t> </a:t>
            </a:r>
            <a:r>
              <a:rPr lang="en-GB" altLang="zh-CN" dirty="0">
                <a:hlinkClick r:id="rId22"/>
              </a:rPr>
              <a:t>jump</a:t>
            </a:r>
            <a:r>
              <a:rPr lang="en-GB" altLang="zh-CN" dirty="0"/>
              <a:t> </a:t>
            </a:r>
            <a:r>
              <a:rPr lang="en-GB" altLang="zh-CN" dirty="0">
                <a:hlinkClick r:id="rId23"/>
              </a:rPr>
              <a:t>layout-circle</a:t>
            </a:r>
            <a:r>
              <a:rPr lang="en-GB" altLang="zh-CN" dirty="0"/>
              <a:t> </a:t>
            </a:r>
            <a:r>
              <a:rPr lang="en-GB" altLang="zh-CN" dirty="0">
                <a:hlinkClick r:id="rId24"/>
              </a:rPr>
              <a:t>left</a:t>
            </a:r>
            <a:r>
              <a:rPr lang="en-GB" altLang="zh-CN" dirty="0"/>
              <a:t> (</a:t>
            </a:r>
            <a:r>
              <a:rPr lang="en-GB" altLang="zh-CN" dirty="0">
                <a:hlinkClick r:id="rId24"/>
              </a:rPr>
              <a:t>lt</a:t>
            </a:r>
            <a:r>
              <a:rPr lang="en-GB" altLang="zh-CN" dirty="0"/>
              <a:t>) </a:t>
            </a:r>
            <a:r>
              <a:rPr lang="en-GB" altLang="zh-CN" dirty="0">
                <a:hlinkClick r:id="rId25"/>
              </a:rPr>
              <a:t>move-to</a:t>
            </a:r>
            <a:r>
              <a:rPr lang="en-GB" altLang="zh-CN" dirty="0"/>
              <a:t> </a:t>
            </a:r>
            <a:r>
              <a:rPr lang="en-GB" altLang="zh-CN" dirty="0">
                <a:hlinkClick r:id="rId26"/>
              </a:rPr>
              <a:t>myself</a:t>
            </a:r>
            <a:r>
              <a:rPr lang="en-GB" altLang="zh-CN" dirty="0"/>
              <a:t> </a:t>
            </a:r>
            <a:r>
              <a:rPr lang="en-GB" altLang="zh-CN" dirty="0">
                <a:hlinkClick r:id="rId27"/>
              </a:rPr>
              <a:t>nobody</a:t>
            </a:r>
            <a:r>
              <a:rPr lang="en-GB" altLang="zh-CN" dirty="0"/>
              <a:t> </a:t>
            </a:r>
            <a:r>
              <a:rPr lang="en-GB" altLang="zh-CN" dirty="0">
                <a:hlinkClick r:id="rId28"/>
              </a:rPr>
              <a:t>no-turtles</a:t>
            </a:r>
            <a:r>
              <a:rPr lang="en-GB" altLang="zh-CN" dirty="0"/>
              <a:t> </a:t>
            </a:r>
            <a:r>
              <a:rPr lang="en-GB" altLang="zh-CN" dirty="0">
                <a:hlinkClick r:id="rId29"/>
              </a:rPr>
              <a:t>of</a:t>
            </a:r>
            <a:r>
              <a:rPr lang="en-GB" altLang="zh-CN" dirty="0"/>
              <a:t> </a:t>
            </a:r>
            <a:r>
              <a:rPr lang="en-GB" altLang="zh-CN" dirty="0">
                <a:hlinkClick r:id="rId30"/>
              </a:rPr>
              <a:t>other</a:t>
            </a:r>
            <a:r>
              <a:rPr lang="en-GB" altLang="zh-CN" dirty="0"/>
              <a:t> </a:t>
            </a:r>
            <a:r>
              <a:rPr lang="en-GB" altLang="zh-CN" dirty="0">
                <a:hlinkClick r:id="rId31"/>
              </a:rPr>
              <a:t>patch-ahead</a:t>
            </a:r>
            <a:r>
              <a:rPr lang="en-GB" altLang="zh-CN" dirty="0"/>
              <a:t> </a:t>
            </a:r>
            <a:r>
              <a:rPr lang="en-GB" altLang="zh-CN" dirty="0">
                <a:hlinkClick r:id="rId32"/>
              </a:rPr>
              <a:t>patch-at</a:t>
            </a:r>
            <a:r>
              <a:rPr lang="en-GB" altLang="zh-CN" dirty="0"/>
              <a:t> </a:t>
            </a:r>
            <a:r>
              <a:rPr lang="en-GB" altLang="zh-CN" dirty="0">
                <a:hlinkClick r:id="rId33"/>
              </a:rPr>
              <a:t>patch-at-heading-and-distance</a:t>
            </a:r>
            <a:r>
              <a:rPr lang="en-GB" altLang="zh-CN" dirty="0"/>
              <a:t> </a:t>
            </a:r>
            <a:r>
              <a:rPr lang="en-GB" altLang="zh-CN" dirty="0">
                <a:hlinkClick r:id="rId34"/>
              </a:rPr>
              <a:t>patch-here</a:t>
            </a:r>
            <a:r>
              <a:rPr lang="en-GB" altLang="zh-CN" dirty="0"/>
              <a:t> </a:t>
            </a:r>
            <a:r>
              <a:rPr lang="en-GB" altLang="zh-CN" dirty="0">
                <a:hlinkClick r:id="rId35"/>
              </a:rPr>
              <a:t>patch-left-and-ahead</a:t>
            </a:r>
            <a:r>
              <a:rPr lang="en-GB" altLang="zh-CN" dirty="0"/>
              <a:t> </a:t>
            </a:r>
            <a:r>
              <a:rPr lang="en-GB" altLang="zh-CN" dirty="0">
                <a:hlinkClick r:id="rId35"/>
              </a:rPr>
              <a:t>patch-right-and-ahead</a:t>
            </a:r>
            <a:r>
              <a:rPr lang="en-GB" altLang="zh-CN" dirty="0"/>
              <a:t> </a:t>
            </a:r>
            <a:r>
              <a:rPr lang="en-GB" altLang="zh-CN" dirty="0">
                <a:hlinkClick r:id="rId36"/>
              </a:rPr>
              <a:t>pen-down</a:t>
            </a:r>
            <a:r>
              <a:rPr lang="en-GB" altLang="zh-CN" dirty="0"/>
              <a:t> (</a:t>
            </a:r>
            <a:r>
              <a:rPr lang="en-GB" altLang="zh-CN" dirty="0">
                <a:hlinkClick r:id="rId36"/>
              </a:rPr>
              <a:t>pd</a:t>
            </a:r>
            <a:r>
              <a:rPr lang="en-GB" altLang="zh-CN" dirty="0"/>
              <a:t>) </a:t>
            </a:r>
            <a:r>
              <a:rPr lang="en-GB" altLang="zh-CN" dirty="0">
                <a:hlinkClick r:id="rId36"/>
              </a:rPr>
              <a:t>pen-erase</a:t>
            </a:r>
            <a:r>
              <a:rPr lang="en-GB" altLang="zh-CN" dirty="0"/>
              <a:t> (</a:t>
            </a:r>
            <a:r>
              <a:rPr lang="en-GB" altLang="zh-CN" dirty="0">
                <a:hlinkClick r:id="rId36"/>
              </a:rPr>
              <a:t>pe</a:t>
            </a:r>
            <a:r>
              <a:rPr lang="en-GB" altLang="zh-CN" dirty="0"/>
              <a:t>) </a:t>
            </a:r>
            <a:r>
              <a:rPr lang="en-GB" altLang="zh-CN" dirty="0">
                <a:hlinkClick r:id="rId36"/>
              </a:rPr>
              <a:t>pen-up</a:t>
            </a:r>
            <a:r>
              <a:rPr lang="en-GB" altLang="zh-CN" dirty="0"/>
              <a:t> (</a:t>
            </a:r>
            <a:r>
              <a:rPr lang="en-GB" altLang="zh-CN" dirty="0">
                <a:hlinkClick r:id="rId36"/>
              </a:rPr>
              <a:t>pu</a:t>
            </a:r>
            <a:r>
              <a:rPr lang="en-GB" altLang="zh-CN" dirty="0"/>
              <a:t>) </a:t>
            </a:r>
            <a:r>
              <a:rPr lang="en-GB" altLang="zh-CN" dirty="0">
                <a:hlinkClick r:id="rId37"/>
              </a:rPr>
              <a:t>random-xcor</a:t>
            </a:r>
            <a:r>
              <a:rPr lang="en-GB" altLang="zh-CN" dirty="0"/>
              <a:t> </a:t>
            </a:r>
            <a:r>
              <a:rPr lang="en-GB" altLang="zh-CN" dirty="0">
                <a:hlinkClick r:id="rId37"/>
              </a:rPr>
              <a:t>random-ycor</a:t>
            </a:r>
            <a:r>
              <a:rPr lang="en-GB" altLang="zh-CN" dirty="0"/>
              <a:t> </a:t>
            </a:r>
            <a:r>
              <a:rPr lang="en-GB" altLang="zh-CN" dirty="0">
                <a:hlinkClick r:id="rId38"/>
              </a:rPr>
              <a:t>right</a:t>
            </a:r>
            <a:r>
              <a:rPr lang="en-GB" altLang="zh-CN" dirty="0"/>
              <a:t> (</a:t>
            </a:r>
            <a:r>
              <a:rPr lang="en-GB" altLang="zh-CN" dirty="0">
                <a:hlinkClick r:id="rId38"/>
              </a:rPr>
              <a:t>rt</a:t>
            </a:r>
            <a:r>
              <a:rPr lang="en-GB" altLang="zh-CN" dirty="0"/>
              <a:t>) </a:t>
            </a:r>
            <a:r>
              <a:rPr lang="en-GB" altLang="zh-CN" dirty="0">
                <a:hlinkClick r:id="rId39"/>
              </a:rPr>
              <a:t>self</a:t>
            </a:r>
            <a:r>
              <a:rPr lang="en-GB" altLang="zh-CN" dirty="0"/>
              <a:t> </a:t>
            </a:r>
            <a:r>
              <a:rPr lang="en-GB" altLang="zh-CN" dirty="0">
                <a:hlinkClick r:id="rId40"/>
              </a:rPr>
              <a:t>set-default-shape</a:t>
            </a:r>
            <a:r>
              <a:rPr lang="en-GB" altLang="zh-CN" dirty="0"/>
              <a:t> </a:t>
            </a:r>
            <a:r>
              <a:rPr lang="en-GB" altLang="zh-CN" dirty="0">
                <a:hlinkClick r:id="rId41"/>
              </a:rPr>
              <a:t>__set-line-thickness</a:t>
            </a:r>
            <a:r>
              <a:rPr lang="en-GB" altLang="zh-CN" dirty="0"/>
              <a:t> </a:t>
            </a:r>
            <a:r>
              <a:rPr lang="en-GB" altLang="zh-CN" dirty="0">
                <a:hlinkClick r:id="rId42"/>
              </a:rPr>
              <a:t>setxy</a:t>
            </a:r>
            <a:r>
              <a:rPr lang="en-GB" altLang="zh-CN" dirty="0"/>
              <a:t> </a:t>
            </a:r>
            <a:r>
              <a:rPr lang="en-GB" altLang="zh-CN" dirty="0">
                <a:hlinkClick r:id="rId43"/>
              </a:rPr>
              <a:t>shapes</a:t>
            </a:r>
            <a:r>
              <a:rPr lang="en-GB" altLang="zh-CN" dirty="0"/>
              <a:t> </a:t>
            </a:r>
            <a:r>
              <a:rPr lang="en-GB" altLang="zh-CN" dirty="0">
                <a:hlinkClick r:id="rId44"/>
              </a:rPr>
              <a:t>show-turtle</a:t>
            </a:r>
            <a:r>
              <a:rPr lang="en-GB" altLang="zh-CN" dirty="0"/>
              <a:t> (</a:t>
            </a:r>
            <a:r>
              <a:rPr lang="en-GB" altLang="zh-CN" dirty="0">
                <a:hlinkClick r:id="rId44"/>
              </a:rPr>
              <a:t>st</a:t>
            </a:r>
            <a:r>
              <a:rPr lang="en-GB" altLang="zh-CN" dirty="0"/>
              <a:t>) </a:t>
            </a:r>
            <a:r>
              <a:rPr lang="en-GB" altLang="zh-CN" dirty="0">
                <a:hlinkClick r:id="rId45"/>
              </a:rPr>
              <a:t>sprout</a:t>
            </a:r>
            <a:r>
              <a:rPr lang="en-GB" altLang="zh-CN" dirty="0"/>
              <a:t> </a:t>
            </a:r>
            <a:r>
              <a:rPr lang="en-GB" altLang="zh-CN" dirty="0">
                <a:hlinkClick r:id="rId45"/>
              </a:rPr>
              <a:t>sprout-</a:t>
            </a:r>
            <a:r>
              <a:rPr lang="en-GB" altLang="zh-CN" i="1" dirty="0">
                <a:hlinkClick r:id="rId45"/>
              </a:rPr>
              <a:t>&lt;breeds&gt;</a:t>
            </a:r>
            <a:r>
              <a:rPr lang="en-GB" altLang="zh-CN" dirty="0"/>
              <a:t> </a:t>
            </a:r>
            <a:r>
              <a:rPr lang="en-GB" altLang="zh-CN" dirty="0">
                <a:hlinkClick r:id="rId46"/>
              </a:rPr>
              <a:t>stamp</a:t>
            </a:r>
            <a:r>
              <a:rPr lang="en-GB" altLang="zh-CN" dirty="0"/>
              <a:t> </a:t>
            </a:r>
            <a:r>
              <a:rPr lang="en-GB" altLang="zh-CN" dirty="0">
                <a:hlinkClick r:id="rId47"/>
              </a:rPr>
              <a:t>stamp-erase</a:t>
            </a:r>
            <a:r>
              <a:rPr lang="en-GB" altLang="zh-CN" dirty="0"/>
              <a:t> </a:t>
            </a:r>
            <a:r>
              <a:rPr lang="en-GB" altLang="zh-CN" dirty="0">
                <a:hlinkClick r:id="rId48"/>
              </a:rPr>
              <a:t>stop-inspecting</a:t>
            </a:r>
            <a:r>
              <a:rPr lang="en-GB" altLang="zh-CN" dirty="0"/>
              <a:t> </a:t>
            </a:r>
            <a:r>
              <a:rPr lang="en-GB" altLang="zh-CN" dirty="0">
                <a:hlinkClick r:id="rId49"/>
              </a:rPr>
              <a:t>subject</a:t>
            </a:r>
            <a:r>
              <a:rPr lang="en-GB" altLang="zh-CN" dirty="0"/>
              <a:t> </a:t>
            </a:r>
            <a:r>
              <a:rPr lang="en-GB" altLang="zh-CN" dirty="0">
                <a:hlinkClick r:id="rId50"/>
              </a:rPr>
              <a:t>subtract-headings</a:t>
            </a:r>
            <a:r>
              <a:rPr lang="en-GB" altLang="zh-CN" dirty="0"/>
              <a:t> </a:t>
            </a:r>
            <a:r>
              <a:rPr lang="en-GB" altLang="zh-CN" dirty="0">
                <a:hlinkClick r:id="rId51"/>
              </a:rPr>
              <a:t>tie</a:t>
            </a:r>
            <a:r>
              <a:rPr lang="en-GB" altLang="zh-CN" dirty="0"/>
              <a:t> </a:t>
            </a:r>
            <a:r>
              <a:rPr lang="en-GB" altLang="zh-CN" dirty="0">
                <a:hlinkClick r:id="rId52"/>
              </a:rPr>
              <a:t>towards</a:t>
            </a:r>
            <a:r>
              <a:rPr lang="en-GB" altLang="zh-CN" dirty="0"/>
              <a:t> </a:t>
            </a:r>
            <a:r>
              <a:rPr lang="en-GB" altLang="zh-CN" dirty="0">
                <a:hlinkClick r:id="rId53"/>
              </a:rPr>
              <a:t>towardsxy</a:t>
            </a:r>
            <a:r>
              <a:rPr lang="en-GB" altLang="zh-CN" dirty="0"/>
              <a:t> </a:t>
            </a:r>
            <a:r>
              <a:rPr lang="en-GB" altLang="zh-CN" dirty="0">
                <a:hlinkClick r:id="rId54"/>
              </a:rPr>
              <a:t>turtle</a:t>
            </a:r>
            <a:r>
              <a:rPr lang="en-GB" altLang="zh-CN" dirty="0"/>
              <a:t> </a:t>
            </a:r>
            <a:r>
              <a:rPr lang="en-GB" altLang="zh-CN" dirty="0">
                <a:hlinkClick r:id="rId55"/>
              </a:rPr>
              <a:t>turtle-set</a:t>
            </a:r>
            <a:r>
              <a:rPr lang="en-GB" altLang="zh-CN" dirty="0"/>
              <a:t> </a:t>
            </a:r>
            <a:r>
              <a:rPr lang="en-GB" altLang="zh-CN" dirty="0">
                <a:hlinkClick r:id="rId56"/>
              </a:rPr>
              <a:t>turtles</a:t>
            </a:r>
            <a:r>
              <a:rPr lang="en-GB" altLang="zh-CN" dirty="0"/>
              <a:t> </a:t>
            </a:r>
            <a:r>
              <a:rPr lang="en-GB" altLang="zh-CN" dirty="0">
                <a:hlinkClick r:id="rId2"/>
              </a:rPr>
              <a:t>turtles-at</a:t>
            </a:r>
            <a:r>
              <a:rPr lang="en-GB" altLang="zh-CN" dirty="0"/>
              <a:t> </a:t>
            </a:r>
            <a:r>
              <a:rPr lang="en-GB" altLang="zh-CN" dirty="0">
                <a:hlinkClick r:id="rId3"/>
              </a:rPr>
              <a:t>turtles-here</a:t>
            </a:r>
            <a:r>
              <a:rPr lang="en-GB" altLang="zh-CN" dirty="0"/>
              <a:t> </a:t>
            </a:r>
            <a:r>
              <a:rPr lang="en-GB" altLang="zh-CN" dirty="0">
                <a:hlinkClick r:id="rId4"/>
              </a:rPr>
              <a:t>turtles-on</a:t>
            </a:r>
            <a:r>
              <a:rPr lang="en-GB" altLang="zh-CN" dirty="0"/>
              <a:t> </a:t>
            </a:r>
            <a:r>
              <a:rPr lang="en-GB" altLang="zh-CN" dirty="0">
                <a:hlinkClick r:id="rId57"/>
              </a:rPr>
              <a:t>turtles-own</a:t>
            </a:r>
            <a:r>
              <a:rPr lang="en-GB" altLang="zh-CN" dirty="0"/>
              <a:t> </a:t>
            </a:r>
            <a:r>
              <a:rPr lang="en-GB" altLang="zh-CN" dirty="0">
                <a:hlinkClick r:id="rId58"/>
              </a:rPr>
              <a:t>untie</a:t>
            </a:r>
            <a:r>
              <a:rPr lang="en-GB" altLang="zh-CN" dirty="0"/>
              <a:t> </a:t>
            </a:r>
            <a:r>
              <a:rPr lang="en-GB" altLang="zh-CN" dirty="0">
                <a:hlinkClick r:id="rId59"/>
              </a:rPr>
              <a:t>uphill</a:t>
            </a:r>
            <a:r>
              <a:rPr lang="en-GB" altLang="zh-CN" dirty="0"/>
              <a:t> </a:t>
            </a:r>
            <a:r>
              <a:rPr lang="en-GB" altLang="zh-CN" dirty="0">
                <a:hlinkClick r:id="rId59"/>
              </a:rPr>
              <a:t>uphill4</a:t>
            </a:r>
            <a:endParaRPr lang="en-US" altLang="zh-CN" sz="1600" dirty="0">
              <a:latin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61548" y="6013516"/>
            <a:ext cx="3327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参见</a:t>
            </a:r>
            <a:r>
              <a:rPr kumimoji="1" lang="en-US" altLang="zh-CN" dirty="0" err="1"/>
              <a:t>Netlogo</a:t>
            </a:r>
            <a:r>
              <a:rPr kumimoji="1" lang="zh-CN" altLang="en-US" dirty="0"/>
              <a:t>词典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74164" y="1993692"/>
            <a:ext cx="88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方法：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74164" y="5442221"/>
            <a:ext cx="10388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0"/>
              </a:rPr>
              <a:t>breed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1"/>
              </a:rPr>
              <a:t>color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sz="2400" dirty="0">
                <a:solidFill>
                  <a:srgbClr val="0070C0"/>
                </a:solidFill>
                <a:latin typeface="Arial" panose="020B0604020202020204" pitchFamily="34" charset="0"/>
                <a:hlinkClick r:id="rId62"/>
              </a:rPr>
              <a:t>heading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3"/>
              </a:rPr>
              <a:t>hidden?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4"/>
              </a:rPr>
              <a:t>label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5"/>
              </a:rPr>
              <a:t>label-color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6"/>
              </a:rPr>
              <a:t>pen-mode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7"/>
              </a:rPr>
              <a:t>pen-size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8"/>
              </a:rPr>
              <a:t>shape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69"/>
              </a:rPr>
              <a:t>size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70"/>
              </a:rPr>
              <a:t>who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71"/>
              </a:rPr>
              <a:t>xcor</a:t>
            </a:r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GB" altLang="zh-CN" dirty="0">
                <a:solidFill>
                  <a:srgbClr val="6E006E"/>
                </a:solidFill>
                <a:latin typeface="Arial" panose="020B0604020202020204" pitchFamily="34" charset="0"/>
                <a:hlinkClick r:id="rId72"/>
              </a:rPr>
              <a:t>ycor</a:t>
            </a:r>
            <a:endParaRPr lang="zh-CN" altLang="en-US" dirty="0"/>
          </a:p>
        </p:txBody>
      </p:sp>
      <p:sp>
        <p:nvSpPr>
          <p:cNvPr id="48" name="文本框 47"/>
          <p:cNvSpPr txBox="1"/>
          <p:nvPr/>
        </p:nvSpPr>
        <p:spPr>
          <a:xfrm>
            <a:off x="1274164" y="5107654"/>
            <a:ext cx="88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属性：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Random</a:t>
            </a:r>
            <a:endParaRPr kumimoji="1" lang="zh-CN" altLang="en-US" dirty="0"/>
          </a:p>
        </p:txBody>
      </p:sp>
      <p:sp>
        <p:nvSpPr>
          <p:cNvPr id="47" name="内容占位符 5"/>
          <p:cNvSpPr>
            <a:spLocks noGrp="1"/>
          </p:cNvSpPr>
          <p:nvPr>
            <p:ph idx="1"/>
          </p:nvPr>
        </p:nvSpPr>
        <p:spPr>
          <a:xfrm>
            <a:off x="1225543" y="2351451"/>
            <a:ext cx="8301553" cy="276919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华文楷体" panose="02010600040101010101" pitchFamily="2" charset="-122"/>
              </a:rPr>
              <a:t>Random</a:t>
            </a:r>
            <a:r>
              <a:rPr lang="zh-CN" altLang="en-US" sz="2800" dirty="0">
                <a:latin typeface="华文楷体" panose="02010600040101010101" pitchFamily="2" charset="-122"/>
              </a:rPr>
              <a:t> </a:t>
            </a:r>
            <a:r>
              <a:rPr lang="en-US" altLang="zh-CN" sz="2800" dirty="0">
                <a:latin typeface="华文楷体" panose="02010600040101010101" pitchFamily="2" charset="-122"/>
              </a:rPr>
              <a:t>x</a:t>
            </a:r>
            <a:endParaRPr lang="en-US" altLang="zh-CN" sz="28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</a:rPr>
              <a:t>如果</a:t>
            </a:r>
            <a:r>
              <a:rPr lang="en-US" altLang="zh-CN" sz="2400" dirty="0">
                <a:latin typeface="华文楷体" panose="02010600040101010101" pitchFamily="2" charset="-122"/>
              </a:rPr>
              <a:t>x&gt;0</a:t>
            </a:r>
            <a:r>
              <a:rPr lang="zh-CN" altLang="en-US" sz="2400" dirty="0">
                <a:latin typeface="华文楷体" panose="02010600040101010101" pitchFamily="2" charset="-122"/>
              </a:rPr>
              <a:t>，产生一个</a:t>
            </a:r>
            <a:r>
              <a:rPr lang="en-US" altLang="zh-CN" sz="2400" dirty="0">
                <a:latin typeface="华文楷体" panose="02010600040101010101" pitchFamily="2" charset="-122"/>
              </a:rPr>
              <a:t>(0,x)</a:t>
            </a:r>
            <a:r>
              <a:rPr lang="zh-CN" altLang="en-US" sz="2400" dirty="0">
                <a:latin typeface="华文楷体" panose="02010600040101010101" pitchFamily="2" charset="-122"/>
              </a:rPr>
              <a:t>的随机整数</a:t>
            </a:r>
            <a:endParaRPr lang="en-US" altLang="zh-CN" sz="24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</a:rPr>
              <a:t>如果</a:t>
            </a:r>
            <a:r>
              <a:rPr lang="en-US" altLang="zh-CN" sz="2400" dirty="0">
                <a:latin typeface="华文楷体" panose="02010600040101010101" pitchFamily="2" charset="-122"/>
              </a:rPr>
              <a:t>x&lt;0</a:t>
            </a:r>
            <a:r>
              <a:rPr lang="zh-CN" altLang="en-US" sz="2400" dirty="0">
                <a:latin typeface="华文楷体" panose="02010600040101010101" pitchFamily="2" charset="-122"/>
              </a:rPr>
              <a:t>，产生一个</a:t>
            </a:r>
            <a:r>
              <a:rPr lang="en-US" altLang="zh-CN" sz="2400" dirty="0">
                <a:latin typeface="华文楷体" panose="02010600040101010101" pitchFamily="2" charset="-122"/>
              </a:rPr>
              <a:t>(x,0)</a:t>
            </a:r>
            <a:r>
              <a:rPr lang="zh-CN" altLang="en-US" sz="2400" dirty="0">
                <a:latin typeface="华文楷体" panose="02010600040101010101" pitchFamily="2" charset="-122"/>
              </a:rPr>
              <a:t>的随机整数</a:t>
            </a:r>
            <a:endParaRPr lang="en-US" altLang="zh-CN" sz="2400" dirty="0">
              <a:latin typeface="华文楷体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8556" y="2580345"/>
            <a:ext cx="3357901" cy="3376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如何理解</a:t>
            </a:r>
            <a:endParaRPr kumimoji="1" lang="zh-CN" altLang="en-US" dirty="0"/>
          </a:p>
        </p:txBody>
      </p:sp>
      <p:sp>
        <p:nvSpPr>
          <p:cNvPr id="47" name="内容占位符 5"/>
          <p:cNvSpPr>
            <a:spLocks noGrp="1"/>
          </p:cNvSpPr>
          <p:nvPr>
            <p:ph idx="1"/>
          </p:nvPr>
        </p:nvSpPr>
        <p:spPr>
          <a:xfrm>
            <a:off x="1225543" y="2351451"/>
            <a:ext cx="8301553" cy="276919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楷体" panose="02010600040101010101" pitchFamily="2" charset="-122"/>
              </a:rPr>
              <a:t> </a:t>
            </a:r>
            <a:r>
              <a:rPr lang="en-US" altLang="zh-CN" sz="2800" dirty="0">
                <a:latin typeface="华文楷体" panose="02010600040101010101" pitchFamily="2" charset="-122"/>
              </a:rPr>
              <a:t>set heading random 3 * 90</a:t>
            </a:r>
            <a:endParaRPr lang="en-US" altLang="zh-CN" sz="28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</a:rPr>
              <a:t>相当于：</a:t>
            </a:r>
            <a:endParaRPr lang="en-US" altLang="zh-CN" sz="24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华文楷体" panose="02010600040101010101" pitchFamily="2" charset="-122"/>
              </a:rPr>
              <a:t>Set heading = (random(3) * 90)</a:t>
            </a:r>
            <a:endParaRPr lang="en-US" altLang="zh-CN" sz="2400" dirty="0">
              <a:latin typeface="华文楷体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8556" y="2580345"/>
            <a:ext cx="3357901" cy="33764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Right</a:t>
            </a:r>
            <a:r>
              <a:rPr kumimoji="1" lang="zh-CN" altLang="en-US" dirty="0"/>
              <a:t>向右旋转</a:t>
            </a:r>
            <a:endParaRPr kumimoji="1" lang="zh-CN" altLang="en-US" dirty="0"/>
          </a:p>
        </p:txBody>
      </p:sp>
      <p:sp>
        <p:nvSpPr>
          <p:cNvPr id="47" name="内容占位符 5"/>
          <p:cNvSpPr>
            <a:spLocks noGrp="1"/>
          </p:cNvSpPr>
          <p:nvPr>
            <p:ph idx="1"/>
          </p:nvPr>
        </p:nvSpPr>
        <p:spPr>
          <a:xfrm>
            <a:off x="1225543" y="2351451"/>
            <a:ext cx="8301553" cy="276919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华文楷体" panose="02010600040101010101" pitchFamily="2" charset="-122"/>
              </a:rPr>
              <a:t>Right</a:t>
            </a:r>
            <a:r>
              <a:rPr lang="zh-CN" altLang="en-US" sz="2800" dirty="0">
                <a:latin typeface="华文楷体" panose="02010600040101010101" pitchFamily="2" charset="-122"/>
              </a:rPr>
              <a:t> </a:t>
            </a:r>
            <a:r>
              <a:rPr lang="en-US" altLang="zh-CN" sz="2800" dirty="0">
                <a:latin typeface="华文楷体" panose="02010600040101010101" pitchFamily="2" charset="-122"/>
              </a:rPr>
              <a:t>x</a:t>
            </a:r>
            <a:endParaRPr lang="en-US" altLang="zh-CN" sz="28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</a:rPr>
              <a:t>向右旋转</a:t>
            </a:r>
            <a:r>
              <a:rPr lang="en-US" altLang="zh-CN" sz="2400" dirty="0">
                <a:latin typeface="华文楷体" panose="02010600040101010101" pitchFamily="2" charset="-122"/>
              </a:rPr>
              <a:t>x</a:t>
            </a:r>
            <a:r>
              <a:rPr lang="zh-CN" altLang="en-US" sz="2400" dirty="0">
                <a:latin typeface="华文楷体" panose="02010600040101010101" pitchFamily="2" charset="-122"/>
              </a:rPr>
              <a:t>度</a:t>
            </a:r>
            <a:endParaRPr lang="en-US" altLang="zh-CN" sz="24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</a:rPr>
              <a:t>即</a:t>
            </a:r>
            <a:r>
              <a:rPr lang="en-US" altLang="zh-CN" sz="2400" dirty="0">
                <a:latin typeface="华文楷体" panose="02010600040101010101" pitchFamily="2" charset="-122"/>
              </a:rPr>
              <a:t>heading = heading + x</a:t>
            </a:r>
            <a:endParaRPr lang="en-US" altLang="zh-CN" sz="2400" dirty="0">
              <a:latin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0" y="2714625"/>
            <a:ext cx="1357312" cy="1428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6" name="直接连接符 19"/>
          <p:cNvCxnSpPr/>
          <p:nvPr/>
        </p:nvCxnSpPr>
        <p:spPr>
          <a:xfrm>
            <a:off x="6096000" y="3141663"/>
            <a:ext cx="1357312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21"/>
          <p:cNvCxnSpPr/>
          <p:nvPr/>
        </p:nvCxnSpPr>
        <p:spPr>
          <a:xfrm>
            <a:off x="6096000" y="3641725"/>
            <a:ext cx="135731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23"/>
          <p:cNvCxnSpPr/>
          <p:nvPr/>
        </p:nvCxnSpPr>
        <p:spPr>
          <a:xfrm rot="5400000">
            <a:off x="5845174" y="3392488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24"/>
          <p:cNvCxnSpPr/>
          <p:nvPr/>
        </p:nvCxnSpPr>
        <p:spPr>
          <a:xfrm rot="5400000">
            <a:off x="6275387" y="3392488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524625" y="3143250"/>
            <a:ext cx="428625" cy="500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667500" y="3286125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10562" y="2714625"/>
            <a:ext cx="1357313" cy="1428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3" name="直接连接符 28"/>
          <p:cNvCxnSpPr/>
          <p:nvPr/>
        </p:nvCxnSpPr>
        <p:spPr>
          <a:xfrm>
            <a:off x="8310562" y="3141663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29"/>
          <p:cNvCxnSpPr/>
          <p:nvPr/>
        </p:nvCxnSpPr>
        <p:spPr>
          <a:xfrm>
            <a:off x="8310562" y="3641725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30"/>
          <p:cNvCxnSpPr/>
          <p:nvPr/>
        </p:nvCxnSpPr>
        <p:spPr>
          <a:xfrm rot="5400000">
            <a:off x="8059737" y="3392488"/>
            <a:ext cx="135731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31"/>
          <p:cNvCxnSpPr/>
          <p:nvPr/>
        </p:nvCxnSpPr>
        <p:spPr>
          <a:xfrm rot="5400000">
            <a:off x="8489949" y="3392488"/>
            <a:ext cx="1357313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8882062" y="3336486"/>
            <a:ext cx="142875" cy="14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19" name="直接箭头连接符 35"/>
          <p:cNvCxnSpPr/>
          <p:nvPr/>
        </p:nvCxnSpPr>
        <p:spPr>
          <a:xfrm rot="5400000" flipH="1" flipV="1">
            <a:off x="6881812" y="3143250"/>
            <a:ext cx="20638" cy="4079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36"/>
          <p:cNvCxnSpPr/>
          <p:nvPr/>
        </p:nvCxnSpPr>
        <p:spPr>
          <a:xfrm rot="5400000">
            <a:off x="8750300" y="3633348"/>
            <a:ext cx="407988" cy="15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Turtle</a:t>
            </a:r>
            <a:r>
              <a:rPr kumimoji="1" lang="zh-CN" altLang="en-US" dirty="0"/>
              <a:t>与</a:t>
            </a:r>
            <a:r>
              <a:rPr kumimoji="1" lang="en-US" altLang="zh-CN" dirty="0"/>
              <a:t>Patch</a:t>
            </a:r>
            <a:r>
              <a:rPr kumimoji="1" lang="zh-CN" altLang="en-US" dirty="0"/>
              <a:t>的交互</a:t>
            </a:r>
            <a:endParaRPr kumimoji="1" lang="zh-CN" altLang="en-US" dirty="0"/>
          </a:p>
        </p:txBody>
      </p:sp>
      <p:sp>
        <p:nvSpPr>
          <p:cNvPr id="19" name="内容占位符 5"/>
          <p:cNvSpPr>
            <a:spLocks noGrp="1"/>
          </p:cNvSpPr>
          <p:nvPr>
            <p:ph idx="1"/>
          </p:nvPr>
        </p:nvSpPr>
        <p:spPr>
          <a:xfrm>
            <a:off x="1225544" y="2351451"/>
            <a:ext cx="4870456" cy="3629624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楷体" panose="02010600040101010101" pitchFamily="2" charset="-122"/>
              </a:rPr>
              <a:t>每个</a:t>
            </a:r>
            <a:r>
              <a:rPr lang="en-US" altLang="zh-CN" sz="2800" dirty="0">
                <a:latin typeface="华文楷体" panose="02010600040101010101" pitchFamily="2" charset="-122"/>
              </a:rPr>
              <a:t>Turtle</a:t>
            </a:r>
            <a:r>
              <a:rPr lang="zh-CN" altLang="en-US" sz="2800" dirty="0">
                <a:latin typeface="华文楷体" panose="02010600040101010101" pitchFamily="2" charset="-122"/>
              </a:rPr>
              <a:t>都会有一个对应的</a:t>
            </a:r>
            <a:r>
              <a:rPr lang="en-US" altLang="zh-CN" sz="2800" dirty="0">
                <a:latin typeface="华文楷体" panose="02010600040101010101" pitchFamily="2" charset="-122"/>
              </a:rPr>
              <a:t>Patch</a:t>
            </a:r>
            <a:endParaRPr lang="en-US" altLang="zh-CN" sz="28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华文楷体" panose="02010600040101010101" pitchFamily="2" charset="-122"/>
              </a:rPr>
              <a:t>因此，这个</a:t>
            </a:r>
            <a:r>
              <a:rPr lang="en-US" altLang="zh-CN" sz="2200" dirty="0">
                <a:latin typeface="华文楷体" panose="02010600040101010101" pitchFamily="2" charset="-122"/>
              </a:rPr>
              <a:t>Patch</a:t>
            </a:r>
            <a:r>
              <a:rPr lang="zh-CN" altLang="en-US" sz="2200" dirty="0">
                <a:latin typeface="华文楷体" panose="02010600040101010101" pitchFamily="2" charset="-122"/>
              </a:rPr>
              <a:t>的所有变量都可以被这个</a:t>
            </a:r>
            <a:r>
              <a:rPr lang="en-US" altLang="zh-CN" sz="2200" dirty="0">
                <a:latin typeface="华文楷体" panose="02010600040101010101" pitchFamily="2" charset="-122"/>
              </a:rPr>
              <a:t>Turtle</a:t>
            </a:r>
            <a:r>
              <a:rPr lang="zh-CN" altLang="en-US" sz="2200" dirty="0">
                <a:latin typeface="华文楷体" panose="02010600040101010101" pitchFamily="2" charset="-122"/>
              </a:rPr>
              <a:t>所访问，如</a:t>
            </a:r>
            <a:r>
              <a:rPr lang="en-US" altLang="zh-CN" sz="2200" dirty="0" err="1">
                <a:latin typeface="华文楷体" panose="02010600040101010101" pitchFamily="2" charset="-122"/>
              </a:rPr>
              <a:t>pcolor</a:t>
            </a:r>
            <a:endParaRPr lang="en-US" altLang="zh-CN" sz="2200" dirty="0">
              <a:latin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</a:rPr>
              <a:t>每个</a:t>
            </a:r>
            <a:r>
              <a:rPr lang="en-US" altLang="zh-CN" sz="2400" dirty="0">
                <a:latin typeface="华文楷体" panose="02010600040101010101" pitchFamily="2" charset="-122"/>
              </a:rPr>
              <a:t>Patch</a:t>
            </a:r>
            <a:r>
              <a:rPr lang="zh-CN" altLang="en-US" sz="2400" dirty="0">
                <a:latin typeface="华文楷体" panose="02010600040101010101" pitchFamily="2" charset="-122"/>
              </a:rPr>
              <a:t>上面会有很多个</a:t>
            </a:r>
            <a:r>
              <a:rPr lang="en-US" altLang="zh-CN" sz="2400" dirty="0">
                <a:latin typeface="华文楷体" panose="02010600040101010101" pitchFamily="2" charset="-122"/>
              </a:rPr>
              <a:t>Turtles</a:t>
            </a:r>
            <a:r>
              <a:rPr lang="zh-CN" altLang="en-US" sz="2400" dirty="0">
                <a:latin typeface="华文楷体" panose="02010600040101010101" pitchFamily="2" charset="-122"/>
              </a:rPr>
              <a:t>，用</a:t>
            </a:r>
            <a:r>
              <a:rPr lang="en-US" altLang="zh-CN" sz="2400" dirty="0">
                <a:latin typeface="华文楷体" panose="02010600040101010101" pitchFamily="2" charset="-122"/>
              </a:rPr>
              <a:t>turtles-here</a:t>
            </a:r>
            <a:r>
              <a:rPr lang="zh-CN" altLang="en-US" sz="2400" dirty="0">
                <a:latin typeface="华文楷体" panose="02010600040101010101" pitchFamily="2" charset="-122"/>
              </a:rPr>
              <a:t>可以得到它们全部</a:t>
            </a:r>
            <a:endParaRPr lang="en-US" altLang="zh-CN" sz="2400" dirty="0">
              <a:latin typeface="华文楷体" panose="02010600040101010101" pitchFamily="2" charset="-122"/>
            </a:endParaRPr>
          </a:p>
        </p:txBody>
      </p:sp>
      <p:sp>
        <p:nvSpPr>
          <p:cNvPr id="3" name="三角形 2"/>
          <p:cNvSpPr/>
          <p:nvPr/>
        </p:nvSpPr>
        <p:spPr>
          <a:xfrm rot="5400000">
            <a:off x="7345180" y="2604542"/>
            <a:ext cx="269823" cy="55838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三角形 20"/>
          <p:cNvSpPr/>
          <p:nvPr/>
        </p:nvSpPr>
        <p:spPr>
          <a:xfrm rot="5400000">
            <a:off x="7345180" y="3284720"/>
            <a:ext cx="269823" cy="558384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三角形 21"/>
          <p:cNvSpPr/>
          <p:nvPr/>
        </p:nvSpPr>
        <p:spPr>
          <a:xfrm rot="5400000">
            <a:off x="7345180" y="3970521"/>
            <a:ext cx="269823" cy="558384"/>
          </a:xfrm>
          <a:prstGeom prst="triangl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743607" y="2608289"/>
            <a:ext cx="374754" cy="4103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743607" y="3358733"/>
            <a:ext cx="374754" cy="4103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728617" y="4109177"/>
            <a:ext cx="374754" cy="4103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连接符 5"/>
          <p:cNvCxnSpPr/>
          <p:nvPr/>
        </p:nvCxnSpPr>
        <p:spPr>
          <a:xfrm>
            <a:off x="7899816" y="2883734"/>
            <a:ext cx="16489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>
            <a:off x="7899816" y="3563911"/>
            <a:ext cx="16489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/>
          <p:cNvCxnSpPr/>
          <p:nvPr/>
        </p:nvCxnSpPr>
        <p:spPr>
          <a:xfrm flipV="1">
            <a:off x="7899816" y="3563911"/>
            <a:ext cx="1648918" cy="685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Tick</a:t>
            </a:r>
            <a:endParaRPr kumimoji="1" lang="zh-CN" altLang="en-US" dirty="0"/>
          </a:p>
        </p:txBody>
      </p:sp>
      <p:sp>
        <p:nvSpPr>
          <p:cNvPr id="19" name="内容占位符 5"/>
          <p:cNvSpPr>
            <a:spLocks noGrp="1"/>
          </p:cNvSpPr>
          <p:nvPr>
            <p:ph idx="1"/>
          </p:nvPr>
        </p:nvSpPr>
        <p:spPr>
          <a:xfrm>
            <a:off x="1225544" y="2351451"/>
            <a:ext cx="4870456" cy="3629624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楷体" panose="02010600040101010101" pitchFamily="2" charset="-122"/>
              </a:rPr>
              <a:t>在</a:t>
            </a:r>
            <a:r>
              <a:rPr lang="en-US" altLang="zh-CN" sz="2800" dirty="0">
                <a:latin typeface="华文楷体" panose="02010600040101010101" pitchFamily="2" charset="-122"/>
              </a:rPr>
              <a:t>to setup</a:t>
            </a:r>
            <a:r>
              <a:rPr lang="zh-CN" altLang="en-US" sz="2800" dirty="0">
                <a:latin typeface="华文楷体" panose="02010600040101010101" pitchFamily="2" charset="-122"/>
              </a:rPr>
              <a:t>中添加</a:t>
            </a:r>
            <a:endParaRPr lang="en-US" altLang="zh-CN" sz="28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华文楷体" panose="02010600040101010101" pitchFamily="2" charset="-122"/>
              </a:rPr>
              <a:t>reset-ticks</a:t>
            </a:r>
            <a:endParaRPr lang="en-US" altLang="zh-CN" sz="2200" dirty="0">
              <a:latin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</a:rPr>
              <a:t>在</a:t>
            </a:r>
            <a:r>
              <a:rPr lang="en-US" altLang="zh-CN" sz="2400" dirty="0">
                <a:latin typeface="华文楷体" panose="02010600040101010101" pitchFamily="2" charset="-122"/>
              </a:rPr>
              <a:t>to</a:t>
            </a:r>
            <a:r>
              <a:rPr lang="zh-CN" altLang="en-US" sz="2400" dirty="0">
                <a:latin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华文楷体" panose="02010600040101010101" pitchFamily="2" charset="-122"/>
              </a:rPr>
              <a:t>go</a:t>
            </a:r>
            <a:r>
              <a:rPr lang="zh-CN" altLang="en-US" sz="2400" dirty="0">
                <a:latin typeface="华文楷体" panose="02010600040101010101" pitchFamily="2" charset="-122"/>
              </a:rPr>
              <a:t>中添加</a:t>
            </a:r>
            <a:endParaRPr lang="en-US" altLang="zh-CN" sz="2400" dirty="0"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华文楷体" panose="02010600040101010101" pitchFamily="2" charset="-122"/>
              </a:rPr>
              <a:t>tick</a:t>
            </a:r>
            <a:endParaRPr lang="en-US" altLang="zh-CN" sz="2200" dirty="0">
              <a:latin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8911" y="643468"/>
            <a:ext cx="3663109" cy="16741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zh-CN" altLang="en-US" sz="4000" dirty="0"/>
              <a:t>高速公路之谜</a:t>
            </a:r>
            <a:endParaRPr kumimoji="1" lang="en-US" altLang="zh-CN" sz="4000" dirty="0"/>
          </a:p>
        </p:txBody>
      </p:sp>
      <p:cxnSp>
        <p:nvCxnSpPr>
          <p:cNvPr id="15" name="Straight Connector 1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/>
          <p:cNvSpPr txBox="1"/>
          <p:nvPr/>
        </p:nvSpPr>
        <p:spPr>
          <a:xfrm>
            <a:off x="962164" y="2663934"/>
            <a:ext cx="5243764" cy="322971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kumimoji="1" lang="zh-CN" altLang="en-US" dirty="0"/>
              <a:t>初始的时候，蚂蚁的行为会混乱不堪，但是到了大概</a:t>
            </a:r>
            <a:r>
              <a:rPr kumimoji="1" lang="en-US" altLang="zh-CN" dirty="0"/>
              <a:t>10000</a:t>
            </a:r>
            <a:r>
              <a:rPr kumimoji="1" lang="zh-CN" altLang="en-US" dirty="0"/>
              <a:t>步以后，蚂蚁开始沿着一条隧道状的通路运动</a:t>
            </a:r>
            <a:endParaRPr kumimoji="1" lang="zh-CN" alt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kumimoji="1" lang="zh-CN" altLang="en-US" dirty="0"/>
              <a:t>而且这一现象是不依赖于初始条件的</a:t>
            </a:r>
            <a:endParaRPr kumimoji="1" lang="zh-CN" alt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kumimoji="1" lang="zh-CN" altLang="en-US" dirty="0"/>
              <a:t>“</a:t>
            </a:r>
            <a:r>
              <a:rPr kumimoji="1" lang="en-GB" altLang="zh-CN" dirty="0"/>
              <a:t>Langton</a:t>
            </a:r>
            <a:r>
              <a:rPr kumimoji="1" lang="zh-CN" altLang="en-US" dirty="0"/>
              <a:t>的隧道”是一个吸引子</a:t>
            </a:r>
            <a:endParaRPr kumimoji="1" lang="zh-CN" altLang="en-US" dirty="0"/>
          </a:p>
          <a:p>
            <a:pPr lvl="1">
              <a:buFont typeface="Wingdings" panose="05000000000000000000" pitchFamily="2" charset="2"/>
              <a:buChar char="l"/>
            </a:pPr>
            <a:endParaRPr kumimoji="1" lang="en-US" altLang="zh-CN" dirty="0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30005" y="1648670"/>
            <a:ext cx="4107409" cy="41301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今日回顾</a:t>
            </a:r>
            <a:endParaRPr kumimoji="1" lang="zh-CN" altLang="en-US" dirty="0"/>
          </a:p>
        </p:txBody>
      </p:sp>
      <p:sp>
        <p:nvSpPr>
          <p:cNvPr id="20" name="内容占位符 2"/>
          <p:cNvSpPr txBox="1"/>
          <p:nvPr/>
        </p:nvSpPr>
        <p:spPr>
          <a:xfrm>
            <a:off x="1230751" y="2366154"/>
            <a:ext cx="5120841" cy="318966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kumimoji="1"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</a:rPr>
              <a:t>Turtle</a:t>
            </a:r>
            <a:r>
              <a:rPr kumimoji="1"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</a:rPr>
              <a:t>与</a:t>
            </a:r>
            <a:r>
              <a:rPr kumimoji="1" lang="en-US" altLang="zh-CN" sz="1800" dirty="0">
                <a:solidFill>
                  <a:schemeClr val="tx1"/>
                </a:solidFill>
                <a:latin typeface="华文楷体" panose="02010600040101010101" pitchFamily="2" charset="-122"/>
              </a:rPr>
              <a:t>Patch</a:t>
            </a:r>
            <a:r>
              <a:rPr kumimoji="1" lang="zh-CN" altLang="en-US" sz="1800" dirty="0">
                <a:solidFill>
                  <a:schemeClr val="tx1"/>
                </a:solidFill>
                <a:latin typeface="华文楷体" panose="02010600040101010101" pitchFamily="2" charset="-122"/>
              </a:rPr>
              <a:t>的关系</a:t>
            </a:r>
            <a:endParaRPr kumimoji="1" lang="en-US" altLang="zh-CN" sz="1800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kumimoji="1" lang="zh-CN" altLang="en-US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一个</a:t>
            </a:r>
            <a:r>
              <a:rPr kumimoji="1" lang="en-US" altLang="zh-CN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Turtle</a:t>
            </a:r>
            <a:r>
              <a:rPr kumimoji="1" lang="zh-CN" altLang="en-US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必然对应一个</a:t>
            </a:r>
            <a:r>
              <a:rPr kumimoji="1" lang="en-US" altLang="zh-CN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Patch</a:t>
            </a:r>
            <a:endParaRPr kumimoji="1" lang="en-US" altLang="zh-CN" sz="1400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kumimoji="1" lang="zh-CN" altLang="en-US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一个</a:t>
            </a:r>
            <a:r>
              <a:rPr kumimoji="1" lang="en-US" altLang="zh-CN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patch</a:t>
            </a:r>
            <a:r>
              <a:rPr kumimoji="1" lang="zh-CN" altLang="en-US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可以对应多个</a:t>
            </a:r>
            <a:r>
              <a:rPr kumimoji="1" lang="en-US" altLang="zh-CN" sz="1400" dirty="0">
                <a:solidFill>
                  <a:schemeClr val="tx1"/>
                </a:solidFill>
                <a:latin typeface="华文楷体" panose="02010600040101010101" pitchFamily="2" charset="-122"/>
              </a:rPr>
              <a:t>Turtles</a:t>
            </a:r>
            <a:endParaRPr kumimoji="1" lang="en-US" altLang="zh-CN" sz="1400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1"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</a:rPr>
              <a:t>Heading</a:t>
            </a:r>
            <a:endParaRPr kumimoji="1" lang="en-US" altLang="zh-CN" sz="1600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1"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</a:rPr>
              <a:t>Random</a:t>
            </a:r>
            <a:endParaRPr kumimoji="1" lang="en-US" altLang="zh-CN" sz="1600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1"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</a:rPr>
              <a:t>Right</a:t>
            </a:r>
            <a:endParaRPr kumimoji="1" lang="en-US" altLang="zh-CN" sz="1600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kumimoji="1"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</a:rPr>
              <a:t>关于</a:t>
            </a:r>
            <a:r>
              <a:rPr kumimoji="1"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</a:rPr>
              <a:t>Ticks</a:t>
            </a:r>
            <a:endParaRPr kumimoji="1" lang="en-US" altLang="zh-CN" sz="1600" dirty="0">
              <a:solidFill>
                <a:schemeClr val="tx1"/>
              </a:solidFill>
              <a:latin typeface="华文楷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1474" y="2493588"/>
            <a:ext cx="3062231" cy="30622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RegularSeedLeftStep">
      <a:dk1>
        <a:srgbClr val="000000"/>
      </a:dk1>
      <a:lt1>
        <a:srgbClr val="FFFFFF"/>
      </a:lt1>
      <a:dk2>
        <a:srgbClr val="243141"/>
      </a:dk2>
      <a:lt2>
        <a:srgbClr val="E2E8E3"/>
      </a:lt2>
      <a:accent1>
        <a:srgbClr val="C34DAB"/>
      </a:accent1>
      <a:accent2>
        <a:srgbClr val="983BB1"/>
      </a:accent2>
      <a:accent3>
        <a:srgbClr val="794DC3"/>
      </a:accent3>
      <a:accent4>
        <a:srgbClr val="4D52B9"/>
      </a:accent4>
      <a:accent5>
        <a:srgbClr val="4D83C3"/>
      </a:accent5>
      <a:accent6>
        <a:srgbClr val="3BA3B1"/>
      </a:accent6>
      <a:hlink>
        <a:srgbClr val="319546"/>
      </a:hlink>
      <a:folHlink>
        <a:srgbClr val="7F7F7F"/>
      </a:folHlink>
    </a:clrScheme>
    <a:fontScheme name="Retrospect">
      <a:majorFont>
        <a:latin typeface="Sagona Extra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gona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演示</Application>
  <PresentationFormat>宽屏</PresentationFormat>
  <Paragraphs>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Wingdings 2</vt:lpstr>
      <vt:lpstr>Corbel</vt:lpstr>
      <vt:lpstr>华文楷体</vt:lpstr>
      <vt:lpstr>Wingdings 3</vt:lpstr>
      <vt:lpstr>Sagona ExtraLight</vt:lpstr>
      <vt:lpstr>Segoe Print</vt:lpstr>
      <vt:lpstr>Sagona Book</vt:lpstr>
      <vt:lpstr>微软雅黑</vt:lpstr>
      <vt:lpstr>Arial Unicode MS</vt:lpstr>
      <vt:lpstr>RetrospectVTI</vt:lpstr>
      <vt:lpstr>从Langton的蚂蚁看Turtle与Patch的交互</vt:lpstr>
      <vt:lpstr>Langton的蚂蚁</vt:lpstr>
      <vt:lpstr>蚂蚁规则</vt:lpstr>
      <vt:lpstr>关于Turtle</vt:lpstr>
      <vt:lpstr>Random</vt:lpstr>
      <vt:lpstr>如何理解</vt:lpstr>
      <vt:lpstr>Right向右旋转</vt:lpstr>
      <vt:lpstr>Turtle与Patch的交互</vt:lpstr>
      <vt:lpstr>使用Tick</vt:lpstr>
      <vt:lpstr>高速公路之谜</vt:lpstr>
      <vt:lpstr>今日回顾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用“生命游戏”认识Patch</dc:title>
  <dc:creator>张 江</dc:creator>
  <cp:lastModifiedBy>吕长春</cp:lastModifiedBy>
  <cp:revision>22</cp:revision>
  <dcterms:created xsi:type="dcterms:W3CDTF">2020-01-14T05:53:00Z</dcterms:created>
  <dcterms:modified xsi:type="dcterms:W3CDTF">2025-12-01T10:50:29Z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B605DE6CCF5F44CD8B5C0684AE7EE697_13</vt:lpwstr>
  </property>
  <property fmtid="{D5CDD505-2E9C-101B-9397-08002B2CF9AE}" pid="3" name="KSOProductBuildVer">
    <vt:lpwstr>2052-12.1.0.23542</vt:lpwstr>
  </property>
</Properties>
</file>