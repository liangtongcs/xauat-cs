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1" r:id="rId3"/>
    <p:sldId id="285" r:id="rId5"/>
    <p:sldId id="307" r:id="rId6"/>
    <p:sldId id="354" r:id="rId7"/>
    <p:sldId id="308" r:id="rId8"/>
    <p:sldId id="300" r:id="rId9"/>
    <p:sldId id="317" r:id="rId10"/>
    <p:sldId id="319" r:id="rId11"/>
    <p:sldId id="320" r:id="rId12"/>
    <p:sldId id="301" r:id="rId13"/>
    <p:sldId id="328" r:id="rId14"/>
    <p:sldId id="377" r:id="rId15"/>
    <p:sldId id="302" r:id="rId16"/>
    <p:sldId id="334" r:id="rId17"/>
    <p:sldId id="335" r:id="rId18"/>
    <p:sldId id="336" r:id="rId19"/>
    <p:sldId id="342" r:id="rId20"/>
    <p:sldId id="339" r:id="rId21"/>
    <p:sldId id="340" r:id="rId22"/>
    <p:sldId id="341" r:id="rId23"/>
    <p:sldId id="303" r:id="rId24"/>
    <p:sldId id="304" r:id="rId25"/>
    <p:sldId id="305" r:id="rId26"/>
    <p:sldId id="350" r:id="rId27"/>
    <p:sldId id="351" r:id="rId28"/>
    <p:sldId id="352" r:id="rId29"/>
    <p:sldId id="306" r:id="rId3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0" userDrawn="1">
          <p15:clr>
            <a:srgbClr val="A4A3A4"/>
          </p15:clr>
        </p15:guide>
        <p15:guide id="2" pos="290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ao xiao"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6699"/>
    <a:srgbClr val="0099CC"/>
    <a:srgbClr val="3399FF"/>
    <a:srgbClr val="FFFFFF"/>
    <a:srgbClr val="33CCFF"/>
    <a:srgbClr val="FF33CC"/>
    <a:srgbClr val="CC00CC"/>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216"/>
    <p:restoredTop sz="94660"/>
  </p:normalViewPr>
  <p:slideViewPr>
    <p:cSldViewPr showGuides="1">
      <p:cViewPr varScale="1">
        <p:scale>
          <a:sx n="65" d="100"/>
          <a:sy n="65" d="100"/>
        </p:scale>
        <p:origin x="1299" y="39"/>
      </p:cViewPr>
      <p:guideLst>
        <p:guide orient="horz" pos="2190"/>
        <p:guide pos="290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63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63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863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63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63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66F2B95-DE17-4020-ABEE-699D08A83A5B}"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58050" name="Rectangle 2"/>
          <p:cNvSpPr>
            <a:spLocks noGrp="1" noRot="1" noChangeArrowheads="1"/>
          </p:cNvSpPr>
          <p:nvPr>
            <p:ph type="ctrTitle"/>
          </p:nvPr>
        </p:nvSpPr>
        <p:spPr>
          <a:xfrm>
            <a:off x="3962400" y="1066800"/>
            <a:ext cx="4648200" cy="1981200"/>
          </a:xfrm>
        </p:spPr>
        <p:txBody>
          <a:bodyPr/>
          <a:lstStyle>
            <a:lvl1pPr>
              <a:defRPr/>
            </a:lvl1pPr>
          </a:lstStyle>
          <a:p>
            <a:pPr lvl="0"/>
            <a:r>
              <a:rPr lang="zh-CN" altLang="en-US" noProof="0" smtClean="0"/>
              <a:t>单击此处编辑母版标题样式</a:t>
            </a:r>
            <a:endParaRPr lang="zh-CN" altLang="en-US" noProof="0" smtClean="0"/>
          </a:p>
        </p:txBody>
      </p:sp>
      <p:sp>
        <p:nvSpPr>
          <p:cNvPr id="258051"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 name="Rectangle 4"/>
          <p:cNvSpPr>
            <a:spLocks noGrp="1" noChangeArrowheads="1"/>
          </p:cNvSpPr>
          <p:nvPr>
            <p:ph type="dt" sz="half" idx="2"/>
          </p:nvPr>
        </p:nvSpPr>
        <p:spPr bwMode="auto">
          <a:xfrm>
            <a:off x="301625" y="6076950"/>
            <a:ext cx="2289175"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076950"/>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076950"/>
            <a:ext cx="2289175"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BFCD5CE-13F8-4C22-9A06-5CE82C29BE66}"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4175"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26" name="Rectangle 2"/>
          <p:cNvSpPr>
            <a:spLocks noGrp="1" noRot="1"/>
          </p:cNvSpPr>
          <p:nvPr>
            <p:ph type="title"/>
          </p:nvPr>
        </p:nvSpPr>
        <p:spPr>
          <a:xfrm>
            <a:off x="301625" y="6858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noRot="1"/>
          </p:cNvSpPr>
          <p:nvPr>
            <p:ph type="body" idx="1"/>
          </p:nvPr>
        </p:nvSpPr>
        <p:spPr>
          <a:xfrm>
            <a:off x="304800" y="1981200"/>
            <a:ext cx="854075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57028" name="Rectangle 4"/>
          <p:cNvSpPr>
            <a:spLocks noGrp="1" noChangeArrowheads="1"/>
          </p:cNvSpPr>
          <p:nvPr>
            <p:ph type="dt" sz="half" idx="2"/>
          </p:nvPr>
        </p:nvSpPr>
        <p:spPr bwMode="auto">
          <a:xfrm>
            <a:off x="301625" y="60198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57029" name="Rectangle 5"/>
          <p:cNvSpPr>
            <a:spLocks noGrp="1" noChangeArrowheads="1"/>
          </p:cNvSpPr>
          <p:nvPr>
            <p:ph type="ftr" sz="quarter" idx="3"/>
          </p:nvPr>
        </p:nvSpPr>
        <p:spPr bwMode="auto">
          <a:xfrm>
            <a:off x="3124200" y="60198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57030" name="Rectangle 6"/>
          <p:cNvSpPr>
            <a:spLocks noGrp="1" noChangeArrowheads="1"/>
          </p:cNvSpPr>
          <p:nvPr>
            <p:ph type="sldNum" sz="quarter" idx="4"/>
          </p:nvPr>
        </p:nvSpPr>
        <p:spPr bwMode="auto">
          <a:xfrm>
            <a:off x="6553200" y="60198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7C71B70-672E-49E2-9B77-5E317FE2EAB4}"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blinds dir="vert"/>
  </p:transition>
  <p:timing>
    <p:tnLst>
      <p:par>
        <p:cTn id="1" dur="indefinite" restart="never" nodeType="tmRoot"/>
      </p:par>
    </p:tnLst>
  </p:timing>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oleObject" Target="../embeddings/oleObject7.bin"/><Relationship Id="rId7" Type="http://schemas.openxmlformats.org/officeDocument/2006/relationships/oleObject" Target="../embeddings/oleObject6.bin"/><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10.png"/><Relationship Id="rId12" Type="http://schemas.openxmlformats.org/officeDocument/2006/relationships/vmlDrawing" Target="../drawings/vmlDrawing1.vml"/><Relationship Id="rId11" Type="http://schemas.openxmlformats.org/officeDocument/2006/relationships/slideLayout" Target="../slideLayouts/slideLayout2.xml"/><Relationship Id="rId10" Type="http://schemas.openxmlformats.org/officeDocument/2006/relationships/oleObject" Target="../embeddings/oleObject9.bin"/><Relationship Id="rId1"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oleObject" Target="../embeddings/oleObject11.bin"/><Relationship Id="rId2" Type="http://schemas.openxmlformats.org/officeDocument/2006/relationships/image" Target="../media/image10.png"/><Relationship Id="rId1" Type="http://schemas.openxmlformats.org/officeDocument/2006/relationships/oleObject" Target="../embeddings/oleObject10.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8B9A700-1363-4608-8072-468F1FE38543}"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82274" name="Rectangle 2"/>
          <p:cNvSpPr>
            <a:spLocks noGrp="1" noRot="1" noChangeArrowheads="1"/>
          </p:cNvSpPr>
          <p:nvPr>
            <p:ph type="title"/>
          </p:nvPr>
        </p:nvSpPr>
        <p:spPr>
          <a:xfrm>
            <a:off x="3419475" y="2276475"/>
            <a:ext cx="2160588" cy="8540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6000" b="1" i="0" u="none" strike="noStrike" kern="1200" cap="none" spc="0" normalizeH="0" baseline="0" noProof="0" dirty="0" smtClean="0">
                <a:ln>
                  <a:noFill/>
                </a:ln>
                <a:solidFill>
                  <a:srgbClr val="336699"/>
                </a:solidFill>
                <a:effectLst>
                  <a:outerShdw blurRad="38100" dist="38100" dir="2700000" algn="tl">
                    <a:srgbClr val="C0C0C0"/>
                  </a:outerShdw>
                </a:effectLst>
                <a:uLnTx/>
                <a:uFillTx/>
                <a:latin typeface="Verdana" panose="020B0604030504040204" pitchFamily="34" charset="0"/>
                <a:ea typeface="+mj-ea"/>
                <a:cs typeface="+mj-cs"/>
              </a:rPr>
              <a:t>总 结</a:t>
            </a:r>
            <a:endParaRPr kumimoji="0" lang="zh-CN" altLang="en-US" sz="6000" b="1" i="0" u="none" strike="noStrike" kern="1200" cap="none" spc="0" normalizeH="0" baseline="0" noProof="0" dirty="0" smtClean="0">
              <a:ln>
                <a:noFill/>
              </a:ln>
              <a:solidFill>
                <a:srgbClr val="336699"/>
              </a:solidFill>
              <a:effectLst>
                <a:outerShdw blurRad="38100" dist="38100" dir="2700000" algn="tl">
                  <a:srgbClr val="C0C0C0"/>
                </a:outerShdw>
              </a:effectLst>
              <a:uLnTx/>
              <a:uFillTx/>
              <a:latin typeface="Verdana" panose="020B0604030504040204" pitchFamily="34" charset="0"/>
              <a:ea typeface="+mj-ea"/>
              <a:cs typeface="+mj-cs"/>
            </a:endParaRPr>
          </a:p>
        </p:txBody>
      </p:sp>
    </p:spTree>
  </p:cSld>
  <p:clrMapOvr>
    <a:masterClrMapping/>
  </p:clrMapOvr>
  <p:transition spd="med">
    <p:split/>
    <p:sndAc>
      <p:stSnd>
        <p:snd r:embed="rId1"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C3B044A-3246-4531-8E89-B02BC1593899}"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123" name="Text Box 4"/>
          <p:cNvSpPr txBox="1"/>
          <p:nvPr/>
        </p:nvSpPr>
        <p:spPr>
          <a:xfrm>
            <a:off x="539750" y="908050"/>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1</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5124" name="文本框 1"/>
          <p:cNvSpPr txBox="1">
            <a:spLocks noChangeArrowheads="1"/>
          </p:cNvSpPr>
          <p:nvPr/>
        </p:nvSpPr>
        <p:spPr bwMode="auto">
          <a:xfrm>
            <a:off x="1087438" y="2276475"/>
            <a:ext cx="7345363"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Tx/>
              <a:buAutoNum type="arabicPeriod"/>
              <a:defRPr/>
            </a:pPr>
            <a:r>
              <a:rPr kumimoji="0" lang="zh-CN" altLang="en-US"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什么是编译器？</a:t>
            </a:r>
            <a:endPar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lang="zh-CN" altLang="en-US" sz="2400" b="1" dirty="0">
                <a:solidFill>
                  <a:srgbClr val="008000"/>
                </a:solidFill>
                <a:highlight>
                  <a:srgbClr val="FFFF00"/>
                </a:highlight>
                <a:latin typeface="Times New Roman" panose="02020603050405020304" pitchFamily="18" charset="0"/>
                <a:sym typeface="+mn-ea"/>
              </a:rPr>
              <a:t>编译器</a:t>
            </a:r>
            <a:r>
              <a:rPr lang="zh-CN" altLang="en-US" sz="2400" dirty="0">
                <a:solidFill>
                  <a:srgbClr val="000000"/>
                </a:solidFill>
                <a:latin typeface="Times New Roman" panose="02020603050405020304" pitchFamily="18" charset="0"/>
                <a:sym typeface="+mn-ea"/>
              </a:rPr>
              <a:t>是一个程序，它读入用某语言（</a:t>
            </a:r>
            <a:r>
              <a:rPr lang="zh-CN" altLang="en-US" sz="2400" dirty="0">
                <a:solidFill>
                  <a:srgbClr val="0000FF"/>
                </a:solidFill>
                <a:latin typeface="Times New Roman" panose="02020603050405020304" pitchFamily="18" charset="0"/>
                <a:sym typeface="+mn-ea"/>
              </a:rPr>
              <a:t>源语言</a:t>
            </a:r>
            <a:r>
              <a:rPr lang="zh-CN" altLang="en-US" sz="2400" dirty="0">
                <a:solidFill>
                  <a:srgbClr val="000000"/>
                </a:solidFill>
                <a:latin typeface="Times New Roman" panose="02020603050405020304" pitchFamily="18" charset="0"/>
                <a:sym typeface="+mn-ea"/>
              </a:rPr>
              <a:t>）编写的程序并将其翻译成一个与之</a:t>
            </a:r>
            <a:r>
              <a:rPr lang="zh-CN" altLang="en-US" sz="2400" b="1" dirty="0">
                <a:solidFill>
                  <a:srgbClr val="800080"/>
                </a:solidFill>
                <a:latin typeface="Times New Roman" panose="02020603050405020304" pitchFamily="18" charset="0"/>
                <a:sym typeface="+mn-ea"/>
              </a:rPr>
              <a:t>等价</a:t>
            </a:r>
            <a:r>
              <a:rPr lang="zh-CN" altLang="en-US" sz="2400" dirty="0">
                <a:solidFill>
                  <a:srgbClr val="000000"/>
                </a:solidFill>
                <a:latin typeface="Times New Roman" panose="02020603050405020304" pitchFamily="18" charset="0"/>
                <a:sym typeface="+mn-ea"/>
              </a:rPr>
              <a:t>的以另一种语言（</a:t>
            </a:r>
            <a:r>
              <a:rPr lang="zh-CN" altLang="en-US" sz="2400" dirty="0">
                <a:solidFill>
                  <a:srgbClr val="0000FF"/>
                </a:solidFill>
                <a:latin typeface="Times New Roman" panose="02020603050405020304" pitchFamily="18" charset="0"/>
                <a:sym typeface="+mn-ea"/>
              </a:rPr>
              <a:t>目标语言</a:t>
            </a:r>
            <a:r>
              <a:rPr lang="zh-CN" altLang="en-US" sz="2400" dirty="0">
                <a:solidFill>
                  <a:srgbClr val="000000"/>
                </a:solidFill>
                <a:latin typeface="Times New Roman" panose="02020603050405020304" pitchFamily="18" charset="0"/>
                <a:sym typeface="+mn-ea"/>
              </a:rPr>
              <a:t>）</a:t>
            </a:r>
            <a:endPar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2.  </a:t>
            </a:r>
            <a:r>
              <a:rPr kumimoji="0" lang="zh-CN" altLang="en-US"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编译器的逻辑阶段划分以及各个阶段的功能</a:t>
            </a:r>
            <a:endParaRPr kumimoji="0" lang="zh-CN" altLang="en-US"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 </a:t>
            </a:r>
            <a:endParaRPr lang="en-US" altLang="zh-CN"/>
          </a:p>
        </p:txBody>
      </p:sp>
      <p:pic>
        <p:nvPicPr>
          <p:cNvPr id="7" name="内容占位符 6"/>
          <p:cNvPicPr>
            <a:picLocks noChangeAspect="1"/>
          </p:cNvPicPr>
          <p:nvPr>
            <p:ph idx="1"/>
          </p:nvPr>
        </p:nvPicPr>
        <p:blipFill>
          <a:blip r:embed="rId1"/>
          <a:stretch>
            <a:fillRect/>
          </a:stretch>
        </p:blipFill>
        <p:spPr>
          <a:xfrm>
            <a:off x="972185" y="260350"/>
            <a:ext cx="6964045" cy="4442460"/>
          </a:xfrm>
          <a:prstGeom prst="rect">
            <a:avLst/>
          </a:prstGeom>
        </p:spPr>
      </p:pic>
      <p:pic>
        <p:nvPicPr>
          <p:cNvPr id="5" name="图片 4"/>
          <p:cNvPicPr>
            <a:picLocks noChangeAspect="1"/>
          </p:cNvPicPr>
          <p:nvPr/>
        </p:nvPicPr>
        <p:blipFill>
          <a:blip r:embed="rId2"/>
          <a:stretch>
            <a:fillRect/>
          </a:stretch>
        </p:blipFill>
        <p:spPr>
          <a:xfrm>
            <a:off x="395605" y="3068955"/>
            <a:ext cx="2057400" cy="2827020"/>
          </a:xfrm>
          <a:prstGeom prst="rect">
            <a:avLst/>
          </a:prstGeom>
        </p:spPr>
      </p:pic>
      <p:pic>
        <p:nvPicPr>
          <p:cNvPr id="8" name="图片 7"/>
          <p:cNvPicPr>
            <a:picLocks noChangeAspect="1"/>
          </p:cNvPicPr>
          <p:nvPr/>
        </p:nvPicPr>
        <p:blipFill>
          <a:blip r:embed="rId3"/>
          <a:stretch>
            <a:fillRect/>
          </a:stretch>
        </p:blipFill>
        <p:spPr>
          <a:xfrm>
            <a:off x="6228715" y="3213100"/>
            <a:ext cx="1767840" cy="1478280"/>
          </a:xfrm>
          <a:prstGeom prst="rect">
            <a:avLst/>
          </a:prstGeom>
        </p:spPr>
      </p:pic>
      <p:sp>
        <p:nvSpPr>
          <p:cNvPr id="9" name="文本框 8"/>
          <p:cNvSpPr txBox="1"/>
          <p:nvPr/>
        </p:nvSpPr>
        <p:spPr>
          <a:xfrm>
            <a:off x="2339975" y="4797425"/>
            <a:ext cx="6341745" cy="2676525"/>
          </a:xfrm>
          <a:prstGeom prst="rect">
            <a:avLst/>
          </a:prstGeom>
          <a:noFill/>
        </p:spPr>
        <p:txBody>
          <a:bodyPr wrap="square" rtlCol="0">
            <a:spAutoFit/>
          </a:bodyPr>
          <a:p>
            <a:r>
              <a:rPr lang="zh-CN" altLang="en-US" sz="2000" dirty="0">
                <a:solidFill>
                  <a:srgbClr val="000000"/>
                </a:solidFill>
                <a:sym typeface="+mn-ea"/>
              </a:rPr>
              <a:t>编译过程由两部分组成：</a:t>
            </a:r>
            <a:r>
              <a:rPr lang="zh-CN" altLang="en-US" sz="2000" b="1" dirty="0">
                <a:sym typeface="+mn-ea"/>
              </a:rPr>
              <a:t>分析和综合</a:t>
            </a:r>
            <a:endParaRPr lang="zh-CN" altLang="en-US" sz="2000" b="1" dirty="0">
              <a:sym typeface="+mn-ea"/>
            </a:endParaRPr>
          </a:p>
          <a:p>
            <a:pPr marL="0" lvl="0" indent="0" eaLnBrk="1" hangingPunct="1">
              <a:spcBef>
                <a:spcPct val="0"/>
              </a:spcBef>
              <a:buNone/>
            </a:pPr>
            <a:r>
              <a:rPr lang="zh-CN" altLang="en-US" sz="2000" dirty="0">
                <a:solidFill>
                  <a:srgbClr val="000000"/>
                </a:solidFill>
                <a:sym typeface="+mn-ea"/>
              </a:rPr>
              <a:t>分析</a:t>
            </a:r>
            <a:r>
              <a:rPr lang="en-US" altLang="zh-CN" sz="2000" dirty="0">
                <a:solidFill>
                  <a:srgbClr val="000000"/>
                </a:solidFill>
                <a:sym typeface="+mn-ea"/>
              </a:rPr>
              <a:t>(analysis)</a:t>
            </a:r>
            <a:r>
              <a:rPr lang="zh-CN" altLang="en-US" sz="2000" dirty="0">
                <a:solidFill>
                  <a:srgbClr val="000000"/>
                </a:solidFill>
                <a:sym typeface="+mn-ea"/>
              </a:rPr>
              <a:t>部分将源程序分解为多个组成要素，并在这些要素之上加上语法结构。然后它使用这个结构来创建该源程序的一个中间表示。</a:t>
            </a:r>
            <a:endParaRPr lang="zh-CN" altLang="en-US" sz="2000" dirty="0">
              <a:solidFill>
                <a:srgbClr val="000000"/>
              </a:solidFill>
              <a:latin typeface="Times New Roman" panose="02020603050405020304" pitchFamily="18" charset="0"/>
            </a:endParaRPr>
          </a:p>
          <a:p>
            <a:pPr marL="0" lvl="0" indent="0" eaLnBrk="1" hangingPunct="1">
              <a:spcBef>
                <a:spcPct val="0"/>
              </a:spcBef>
              <a:buNone/>
            </a:pPr>
            <a:r>
              <a:rPr lang="zh-CN" altLang="en-US" sz="2000" dirty="0">
                <a:solidFill>
                  <a:srgbClr val="000000"/>
                </a:solidFill>
                <a:sym typeface="+mn-ea"/>
              </a:rPr>
              <a:t>综合</a:t>
            </a:r>
            <a:r>
              <a:rPr lang="en-US" altLang="zh-CN" sz="2000" dirty="0">
                <a:solidFill>
                  <a:srgbClr val="000000"/>
                </a:solidFill>
                <a:sym typeface="+mn-ea"/>
              </a:rPr>
              <a:t>(synthesis)</a:t>
            </a:r>
            <a:r>
              <a:rPr lang="zh-CN" altLang="en-US" sz="2000" dirty="0">
                <a:solidFill>
                  <a:srgbClr val="000000"/>
                </a:solidFill>
                <a:sym typeface="+mn-ea"/>
              </a:rPr>
              <a:t>部分根据中间表示和符号表中的信息来构造用户期待的目标程序。</a:t>
            </a:r>
            <a:endParaRPr lang="zh-CN" altLang="en-US" sz="2000" dirty="0">
              <a:solidFill>
                <a:srgbClr val="000000"/>
              </a:solidFill>
              <a:latin typeface="Times New Roman" panose="02020603050405020304" pitchFamily="18" charset="0"/>
            </a:endParaRPr>
          </a:p>
          <a:p>
            <a:pPr marL="0" lvl="0" indent="0" eaLnBrk="1" hangingPunct="1">
              <a:spcBef>
                <a:spcPct val="0"/>
              </a:spcBef>
              <a:buNone/>
            </a:pPr>
            <a:r>
              <a:rPr lang="zh-CN" altLang="en-US" dirty="0">
                <a:solidFill>
                  <a:srgbClr val="000000"/>
                </a:solidFill>
                <a:sym typeface="+mn-ea"/>
              </a:rPr>
              <a:t>        </a:t>
            </a:r>
            <a:endParaRPr lang="zh-CN" altLang="en-US" dirty="0">
              <a:solidFill>
                <a:srgbClr val="000000"/>
              </a:solidFill>
              <a:latin typeface="Times New Roman" panose="02020603050405020304" pitchFamily="18" charset="0"/>
            </a:endParaRPr>
          </a:p>
          <a:p>
            <a:endParaRPr lang="zh-CN" altLang="en-US"/>
          </a:p>
        </p:txBody>
      </p:sp>
    </p:spTree>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95605" y="764540"/>
            <a:ext cx="8540750" cy="5651500"/>
          </a:xfrm>
        </p:spPr>
        <p:txBody>
          <a:bodyPr/>
          <a:p>
            <a:r>
              <a:rPr lang="zh-CN" altLang="en-US" sz="2800"/>
              <a:t>词法分析：</a:t>
            </a:r>
            <a:r>
              <a:rPr lang="zh-CN" altLang="en-US" sz="2800"/>
              <a:t>根据词法规则将源代码分解为有意义的最小词法单元（</a:t>
            </a:r>
            <a:r>
              <a:rPr lang="en-US" altLang="zh-CN" sz="2800"/>
              <a:t>token</a:t>
            </a:r>
            <a:r>
              <a:rPr lang="zh-CN" altLang="en-US" sz="2800"/>
              <a:t>）序列。</a:t>
            </a:r>
            <a:endParaRPr lang="zh-CN" altLang="en-US" sz="2800"/>
          </a:p>
          <a:p>
            <a:r>
              <a:rPr lang="zh-CN" altLang="en-US" sz="2800"/>
              <a:t>语法分析：根据语法规则验证</a:t>
            </a:r>
            <a:r>
              <a:rPr lang="en-US" altLang="zh-CN" sz="2800"/>
              <a:t>token</a:t>
            </a:r>
            <a:r>
              <a:rPr lang="zh-CN" altLang="en-US" sz="2800"/>
              <a:t>序列结构，组成</a:t>
            </a:r>
            <a:r>
              <a:rPr lang="zh-CN" altLang="en-US" sz="2800"/>
              <a:t>语法短语，并构建语法树。</a:t>
            </a:r>
            <a:endParaRPr lang="zh-CN" altLang="en-US" sz="2800"/>
          </a:p>
          <a:p>
            <a:r>
              <a:rPr lang="zh-CN" altLang="en-US" sz="2800"/>
              <a:t>语义分析：检查类型、作用域等上下文相关逻辑正确性。</a:t>
            </a:r>
            <a:endParaRPr lang="zh-CN" altLang="en-US" sz="2800"/>
          </a:p>
          <a:p>
            <a:r>
              <a:rPr lang="zh-CN" altLang="en-US" sz="2800"/>
              <a:t>中间代码生成：生成与机器无关的抽象中间表示（如三地址码）。</a:t>
            </a:r>
            <a:endParaRPr lang="zh-CN" altLang="en-US" sz="2800"/>
          </a:p>
          <a:p>
            <a:r>
              <a:rPr lang="zh-CN" altLang="en-US" sz="2800"/>
              <a:t>代码优化：通过等价变换提升中间代码执行效率或资源利用率。</a:t>
            </a:r>
            <a:endParaRPr lang="zh-CN" altLang="en-US" sz="2800"/>
          </a:p>
          <a:p>
            <a:r>
              <a:rPr lang="zh-CN" altLang="en-US" sz="2800"/>
              <a:t>目标代码生成：将优化后的中间代码转换为特定机器的低级语言代码。</a:t>
            </a:r>
            <a:endParaRPr lang="zh-CN" altLang="en-US" sz="2800"/>
          </a:p>
        </p:txBody>
      </p:sp>
      <p:sp>
        <p:nvSpPr>
          <p:cNvPr id="4" name="标题 3"/>
          <p:cNvSpPr/>
          <p:nvPr>
            <p:ph type="title"/>
          </p:nvPr>
        </p:nvSpPr>
        <p:spPr>
          <a:xfrm flipH="1">
            <a:off x="-386080" y="5024755"/>
            <a:ext cx="76200" cy="267335"/>
          </a:xfrm>
        </p:spPr>
        <p:txBody>
          <a:bodyPr/>
          <a:p>
            <a:r>
              <a:rPr lang="en-US" altLang="zh-CN"/>
              <a:t> </a:t>
            </a:r>
            <a:endParaRPr lang="en-US" altLang="zh-CN"/>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04800" y="335280"/>
            <a:ext cx="8540750" cy="5532120"/>
          </a:xfrm>
        </p:spPr>
        <p:txBody>
          <a:bodyPr/>
          <a:p>
            <a:r>
              <a:rPr lang="en-US" altLang="zh-CN" sz="2000">
                <a:sym typeface="+mn-ea"/>
              </a:rPr>
              <a:t> </a:t>
            </a:r>
            <a:r>
              <a:rPr lang="zh-CN" altLang="en-US" sz="2000" dirty="0">
                <a:solidFill>
                  <a:srgbClr val="000000"/>
                </a:solidFill>
                <a:latin typeface="Times New Roman" panose="02020603050405020304" pitchFamily="18" charset="0"/>
                <a:sym typeface="+mn-ea"/>
              </a:rPr>
              <a:t>在</a:t>
            </a:r>
            <a:r>
              <a:rPr lang="zh-CN" altLang="en-US" sz="2000" dirty="0">
                <a:solidFill>
                  <a:srgbClr val="000000"/>
                </a:solidFill>
                <a:highlight>
                  <a:srgbClr val="FFFF00"/>
                </a:highlight>
                <a:latin typeface="Times New Roman" panose="02020603050405020304" pitchFamily="18" charset="0"/>
                <a:sym typeface="+mn-ea"/>
              </a:rPr>
              <a:t>词法分析</a:t>
            </a:r>
            <a:r>
              <a:rPr lang="zh-CN" altLang="en-US" sz="2000" dirty="0">
                <a:solidFill>
                  <a:srgbClr val="000000"/>
                </a:solidFill>
                <a:latin typeface="Times New Roman" panose="02020603050405020304" pitchFamily="18" charset="0"/>
                <a:sym typeface="+mn-ea"/>
              </a:rPr>
              <a:t>中，从左到右的读构成源程序的字符流，</a:t>
            </a:r>
            <a:r>
              <a:rPr lang="zh-CN" altLang="en-US" sz="2000" dirty="0">
                <a:solidFill>
                  <a:srgbClr val="000000"/>
                </a:solidFill>
                <a:latin typeface="Times New Roman" panose="02020603050405020304" pitchFamily="18" charset="0"/>
                <a:sym typeface="+mn-ea"/>
              </a:rPr>
              <a:t>依据语言的</a:t>
            </a:r>
            <a:r>
              <a:rPr lang="zh-CN" altLang="en-US" sz="2000" dirty="0">
                <a:solidFill>
                  <a:srgbClr val="0000FF"/>
                </a:solidFill>
                <a:latin typeface="Times New Roman" panose="02020603050405020304" pitchFamily="18" charset="0"/>
                <a:sym typeface="+mn-ea"/>
              </a:rPr>
              <a:t>词法规则</a:t>
            </a:r>
            <a:r>
              <a:rPr lang="zh-CN" altLang="en-US" sz="2000" dirty="0">
                <a:solidFill>
                  <a:srgbClr val="000000"/>
                </a:solidFill>
                <a:latin typeface="Times New Roman" panose="02020603050405020304" pitchFamily="18" charset="0"/>
                <a:sym typeface="+mn-ea"/>
              </a:rPr>
              <a:t>把字符流组织成为有意义的</a:t>
            </a:r>
            <a:r>
              <a:rPr lang="zh-CN" altLang="en-US" sz="2000" b="1" dirty="0">
                <a:solidFill>
                  <a:srgbClr val="0000FF"/>
                </a:solidFill>
                <a:latin typeface="Times New Roman" panose="02020603050405020304" pitchFamily="18" charset="0"/>
                <a:ea typeface="楷体_GB2312" pitchFamily="49" charset="-122"/>
                <a:sym typeface="+mn-ea"/>
              </a:rPr>
              <a:t>词素</a:t>
            </a:r>
            <a:r>
              <a:rPr lang="en-US" altLang="zh-CN" sz="2000" dirty="0">
                <a:solidFill>
                  <a:srgbClr val="000000"/>
                </a:solidFill>
                <a:latin typeface="Times New Roman" panose="02020603050405020304" pitchFamily="18" charset="0"/>
                <a:sym typeface="+mn-ea"/>
              </a:rPr>
              <a:t>(lexeme)</a:t>
            </a:r>
            <a:r>
              <a:rPr lang="zh-CN" altLang="en-US" sz="2000" dirty="0">
                <a:solidFill>
                  <a:srgbClr val="000000"/>
                </a:solidFill>
                <a:latin typeface="Times New Roman" panose="02020603050405020304" pitchFamily="18" charset="0"/>
                <a:sym typeface="+mn-ea"/>
              </a:rPr>
              <a:t>的序列。</a:t>
            </a:r>
            <a:endParaRPr lang="en-US" altLang="zh-CN" sz="2000"/>
          </a:p>
          <a:p>
            <a:r>
              <a:rPr lang="zh-CN" altLang="en-US" sz="2000" b="1" dirty="0">
                <a:solidFill>
                  <a:srgbClr val="000000"/>
                </a:solidFill>
                <a:highlight>
                  <a:srgbClr val="FFFF00"/>
                </a:highlight>
                <a:latin typeface="Times New Roman" panose="02020603050405020304" pitchFamily="18" charset="0"/>
                <a:sym typeface="+mn-ea"/>
              </a:rPr>
              <a:t>语法分析</a:t>
            </a:r>
            <a:r>
              <a:rPr lang="zh-CN" altLang="en-US" sz="2000" b="1" dirty="0">
                <a:solidFill>
                  <a:srgbClr val="000000"/>
                </a:solidFill>
                <a:latin typeface="Times New Roman" panose="02020603050405020304" pitchFamily="18" charset="0"/>
                <a:sym typeface="+mn-ea"/>
              </a:rPr>
              <a:t>器依据</a:t>
            </a:r>
            <a:r>
              <a:rPr lang="zh-CN" altLang="en-US" sz="2000" dirty="0">
                <a:solidFill>
                  <a:srgbClr val="000000"/>
                </a:solidFill>
                <a:latin typeface="Times New Roman" panose="02020603050405020304" pitchFamily="18" charset="0"/>
                <a:sym typeface="+mn-ea"/>
              </a:rPr>
              <a:t>源程序的</a:t>
            </a:r>
            <a:r>
              <a:rPr lang="zh-CN" altLang="en-US" sz="2000" b="1" dirty="0">
                <a:solidFill>
                  <a:srgbClr val="0000FF"/>
                </a:solidFill>
                <a:latin typeface="Times New Roman" panose="02020603050405020304" pitchFamily="18" charset="0"/>
                <a:sym typeface="+mn-ea"/>
              </a:rPr>
              <a:t>语法规则</a:t>
            </a:r>
            <a:r>
              <a:rPr lang="zh-CN" altLang="en-US" sz="2000" dirty="0">
                <a:solidFill>
                  <a:srgbClr val="000000"/>
                </a:solidFill>
                <a:latin typeface="Times New Roman" panose="02020603050405020304" pitchFamily="18" charset="0"/>
                <a:sym typeface="+mn-ea"/>
              </a:rPr>
              <a:t>，把源程序的单词序列组成</a:t>
            </a:r>
            <a:r>
              <a:rPr lang="zh-CN" altLang="en-US" sz="2000" b="1" dirty="0">
                <a:solidFill>
                  <a:srgbClr val="0000FF"/>
                </a:solidFill>
                <a:latin typeface="Times New Roman" panose="02020603050405020304" pitchFamily="18" charset="0"/>
                <a:sym typeface="+mn-ea"/>
              </a:rPr>
              <a:t>语法短语</a:t>
            </a:r>
            <a:r>
              <a:rPr lang="zh-CN" altLang="en-US" sz="2000" dirty="0">
                <a:solidFill>
                  <a:srgbClr val="000000"/>
                </a:solidFill>
                <a:latin typeface="Times New Roman" panose="02020603050405020304" pitchFamily="18" charset="0"/>
                <a:sym typeface="+mn-ea"/>
              </a:rPr>
              <a:t>，即使用由词法分析器生成的各个词法单元的第一个分量来创建树形的中间表示。该中间表示给出了词法分析产生的词法单元的语法结构。</a:t>
            </a:r>
            <a:endParaRPr lang="zh-CN" altLang="en-US" sz="2000" dirty="0">
              <a:solidFill>
                <a:srgbClr val="000000"/>
              </a:solidFill>
              <a:latin typeface="Times New Roman" panose="02020603050405020304" pitchFamily="18" charset="0"/>
            </a:endParaRPr>
          </a:p>
          <a:p>
            <a:r>
              <a:rPr lang="zh-CN" altLang="en-US" sz="2000" noProof="0" dirty="0" smtClean="0">
                <a:ln>
                  <a:noFill/>
                </a:ln>
                <a:solidFill>
                  <a:srgbClr val="000000"/>
                </a:solidFill>
                <a:effectLst>
                  <a:outerShdw blurRad="38100" dist="38100" dir="2700000" algn="tl">
                    <a:srgbClr val="C0C0C0"/>
                  </a:outerShdw>
                </a:effectLst>
                <a:highlight>
                  <a:srgbClr val="FFFF00"/>
                </a:highlight>
                <a:uLnTx/>
                <a:uFillTx/>
                <a:latin typeface="Times New Roman" panose="02020603050405020304" pitchFamily="18" charset="0"/>
                <a:ea typeface="宋体" panose="02010600030101010101" pitchFamily="2" charset="-122"/>
                <a:sym typeface="+mn-ea"/>
              </a:rPr>
              <a:t>语义分析</a:t>
            </a:r>
            <a:r>
              <a:rPr lang="zh-CN" altLang="en-US" sz="2000" noProof="0" dirty="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sym typeface="+mn-ea"/>
              </a:rPr>
              <a:t>器使用语法树和符号表中的信息来检查源程序是否和语言定义的语义一致，进一步分析语法结构正确的程序是否符合源程序的上下文约束、运算相容性等规定。它同时也收集信息，并把这些信息存放在语法树或符号表中，以便在随后的中间代码生成过程中使用。</a:t>
            </a:r>
            <a:endParaRPr lang="zh-CN" altLang="en-US" sz="2000" noProof="0" dirty="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sym typeface="+mn-ea"/>
            </a:endParaRPr>
          </a:p>
          <a:p>
            <a:r>
              <a:rPr lang="zh-CN" altLang="en-US" sz="2000" b="1" dirty="0">
                <a:solidFill>
                  <a:srgbClr val="660066"/>
                </a:solidFill>
                <a:highlight>
                  <a:srgbClr val="FFFF00"/>
                </a:highlight>
                <a:latin typeface="Times New Roman" panose="02020603050405020304" pitchFamily="18" charset="0"/>
                <a:sym typeface="+mn-ea"/>
              </a:rPr>
              <a:t>中间代码生成</a:t>
            </a:r>
            <a:r>
              <a:rPr lang="zh-CN" altLang="en-US" sz="2000" dirty="0">
                <a:solidFill>
                  <a:srgbClr val="000000"/>
                </a:solidFill>
                <a:latin typeface="Times New Roman" panose="02020603050405020304" pitchFamily="18" charset="0"/>
                <a:sym typeface="+mn-ea"/>
              </a:rPr>
              <a:t>源程序的中间表示应该有两个性质：一是易于产生，二是易于翻译成目标程序。</a:t>
            </a:r>
            <a:endParaRPr lang="zh-CN" altLang="en-US" sz="2000" dirty="0">
              <a:solidFill>
                <a:srgbClr val="000000"/>
              </a:solidFill>
              <a:latin typeface="Times New Roman" panose="02020603050405020304" pitchFamily="18" charset="0"/>
            </a:endParaRPr>
          </a:p>
          <a:p>
            <a:r>
              <a:rPr lang="zh-CN" altLang="en-US" sz="2000" b="1" dirty="0">
                <a:solidFill>
                  <a:srgbClr val="660066"/>
                </a:solidFill>
                <a:highlight>
                  <a:srgbClr val="FFFF00"/>
                </a:highlight>
                <a:latin typeface="Times New Roman" panose="02020603050405020304" pitchFamily="18" charset="0"/>
                <a:sym typeface="+mn-ea"/>
              </a:rPr>
              <a:t>代码优化</a:t>
            </a:r>
            <a:r>
              <a:rPr lang="zh-CN" altLang="en-US" sz="2000" dirty="0">
                <a:solidFill>
                  <a:srgbClr val="000000"/>
                </a:solidFill>
                <a:latin typeface="Times New Roman" panose="02020603050405020304" pitchFamily="18" charset="0"/>
                <a:sym typeface="+mn-ea"/>
              </a:rPr>
              <a:t>机器无关的代码优化步骤试图改进中间代码，以便生成更好的目标代码。“更好”通常意味着更快、更短或能耗更低的目标代码。</a:t>
            </a:r>
            <a:endParaRPr lang="zh-CN" altLang="en-US" sz="2000" dirty="0">
              <a:solidFill>
                <a:srgbClr val="000000"/>
              </a:solidFill>
              <a:latin typeface="Times New Roman" panose="02020603050405020304" pitchFamily="18" charset="0"/>
            </a:endParaRPr>
          </a:p>
          <a:p>
            <a:r>
              <a:rPr lang="zh-CN" altLang="en-US" sz="2000" dirty="0">
                <a:solidFill>
                  <a:srgbClr val="000000"/>
                </a:solidFill>
                <a:highlight>
                  <a:srgbClr val="FFFF00"/>
                </a:highlight>
                <a:latin typeface="Times New Roman" panose="02020603050405020304" pitchFamily="18" charset="0"/>
                <a:sym typeface="+mn-ea"/>
              </a:rPr>
              <a:t>代码生成</a:t>
            </a:r>
            <a:r>
              <a:rPr lang="zh-CN" altLang="en-US" sz="2000" dirty="0">
                <a:solidFill>
                  <a:srgbClr val="000000"/>
                </a:solidFill>
                <a:latin typeface="Times New Roman" panose="02020603050405020304" pitchFamily="18" charset="0"/>
                <a:sym typeface="+mn-ea"/>
              </a:rPr>
              <a:t>器以源程序的中间表示形式作为输入，并把它映射到目标语言。如果目标语言是机器代码，那么就必须为程序使用的每个变量选择寄存器或内存位置。中间指令被翻译为能够完成相同任务的机器指令序列。</a:t>
            </a:r>
            <a:endParaRPr lang="zh-CN" altLang="en-US" sz="2000" dirty="0">
              <a:solidFill>
                <a:srgbClr val="000000"/>
              </a:solidFill>
              <a:latin typeface="Times New Roman" panose="02020603050405020304" pitchFamily="18" charset="0"/>
            </a:endParaRPr>
          </a:p>
          <a:p>
            <a:endParaRPr lang="zh-CN" altLang="en-US" sz="2000"/>
          </a:p>
        </p:txBody>
      </p:sp>
    </p:spTree>
  </p:cSld>
  <p:clrMapOvr>
    <a:masterClrMapping/>
  </p:clrMapOvr>
  <p:transition>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EE9929-5E86-413F-912C-2DC67C811D7B}"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147" name="Text Box 4"/>
          <p:cNvSpPr txBox="1"/>
          <p:nvPr/>
        </p:nvSpPr>
        <p:spPr>
          <a:xfrm>
            <a:off x="446088" y="620713"/>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3</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7" name="文本框 6"/>
          <p:cNvSpPr txBox="1"/>
          <p:nvPr/>
        </p:nvSpPr>
        <p:spPr>
          <a:xfrm>
            <a:off x="900113" y="1916113"/>
            <a:ext cx="7942263" cy="3970338"/>
          </a:xfrm>
          <a:prstGeom prst="rect">
            <a:avLst/>
          </a:prstGeom>
          <a:noFill/>
        </p:spPr>
        <p:txBody>
          <a:bodyPr>
            <a:spAutoFit/>
          </a:bodyPr>
          <a:lstStyle/>
          <a:p>
            <a:pPr marL="457200" marR="0" indent="-457200" defTabSz="914400" eaLnBrk="1" hangingPunct="1">
              <a:buClrTx/>
              <a:buSzTx/>
              <a:buFontTx/>
              <a:buAutoNum type="arabicPeriod"/>
              <a:defRPr/>
            </a:pPr>
            <a:r>
              <a:rPr kumimoji="0" lang="zh-CN" altLang="en-US" kern="1200" cap="none" spc="0" normalizeH="0" baseline="0" noProof="0" dirty="0">
                <a:latin typeface="Times New Roman" panose="02020603050405020304" pitchFamily="18" charset="0"/>
                <a:ea typeface="宋体" panose="02010600030101010101" pitchFamily="2" charset="-122"/>
                <a:cs typeface="+mn-cs"/>
              </a:rPr>
              <a:t>什么是</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NFA</a:t>
            </a:r>
            <a:r>
              <a:rPr kumimoji="0" lang="zh-CN" altLang="en-US" kern="1200" cap="none" spc="0" normalizeH="0" baseline="0" noProof="0" dirty="0">
                <a:latin typeface="Times New Roman" panose="02020603050405020304" pitchFamily="18" charset="0"/>
                <a:ea typeface="宋体" panose="02010600030101010101" pitchFamily="2" charset="-122"/>
                <a:cs typeface="+mn-cs"/>
              </a:rPr>
              <a:t>？什么是</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DFA</a:t>
            </a:r>
            <a:r>
              <a:rPr kumimoji="0" lang="zh-CN" altLang="en-US" kern="1200" cap="none" spc="0" normalizeH="0" baseline="0" noProof="0" dirty="0">
                <a:latin typeface="Times New Roman" panose="02020603050405020304" pitchFamily="18" charset="0"/>
                <a:ea typeface="宋体" panose="02010600030101010101" pitchFamily="2" charset="-122"/>
                <a:cs typeface="+mn-cs"/>
              </a:rPr>
              <a:t>？两者的区别？</a:t>
            </a:r>
            <a:endParaRPr kumimoji="0" lang="en-US" altLang="zh-CN"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1" hangingPunct="1">
              <a:buClrTx/>
              <a:buSzTx/>
              <a:buFontTx/>
              <a:buAutoNum type="arabicPeriod"/>
              <a:defRPr/>
            </a:pPr>
            <a:r>
              <a:rPr kumimoji="0" lang="zh-CN" altLang="en-US" kern="1200" cap="none" spc="0" normalizeH="0" baseline="0" noProof="0" dirty="0">
                <a:latin typeface="Times New Roman" panose="02020603050405020304" pitchFamily="18" charset="0"/>
                <a:ea typeface="宋体" panose="02010600030101010101" pitchFamily="2" charset="-122"/>
                <a:cs typeface="+mn-cs"/>
              </a:rPr>
              <a:t>正规表达式的应用，正反两个方向</a:t>
            </a:r>
            <a:endParaRPr kumimoji="0" lang="en-US" altLang="zh-CN"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endParaRPr kumimoji="0" lang="en-US" altLang="zh-CN"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kern="1200" cap="none" spc="0" normalizeH="0" baseline="0" noProof="0" dirty="0">
                <a:latin typeface="Times New Roman" panose="02020603050405020304" pitchFamily="18" charset="0"/>
                <a:ea typeface="宋体" panose="02010600030101010101" pitchFamily="2" charset="-122"/>
                <a:cs typeface="+mn-cs"/>
              </a:rPr>
              <a:t>三个重要算法：</a:t>
            </a: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        </a:t>
            </a: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1. </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从正规表达式构造</a:t>
            </a: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NFA</a:t>
            </a:r>
            <a:endPar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        2. NFA</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到</a:t>
            </a: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DFA</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的转换（</a:t>
            </a: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NFA</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的确定化）</a:t>
            </a:r>
            <a:endPar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        </a:t>
            </a: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3. DFA</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的最小化</a:t>
            </a:r>
            <a:endPar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a:p>
            <a:pPr marL="457200" marR="0" indent="-457200" defTabSz="914400" eaLnBrk="1" hangingPunct="1">
              <a:buClrTx/>
              <a:buSzTx/>
              <a:buFontTx/>
              <a:buAutoNum type="arabicPeriod"/>
              <a:defRPr/>
            </a:pP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A4E3A09-2B3A-4900-B308-64169268D4A9}"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8370" name="Text Box 4"/>
          <p:cNvSpPr txBox="1"/>
          <p:nvPr/>
        </p:nvSpPr>
        <p:spPr>
          <a:xfrm>
            <a:off x="611188" y="3284538"/>
            <a:ext cx="7848600" cy="2792412"/>
          </a:xfrm>
          <a:prstGeom prst="rect">
            <a:avLst/>
          </a:prstGeom>
          <a:noFill/>
          <a:ln w="19050">
            <a:noFill/>
          </a:ln>
        </p:spPr>
        <p:txBody>
          <a:bodyPr anchor="t" anchorCtr="1">
            <a:spAutoFit/>
          </a:bodyPr>
          <a:p>
            <a:pPr>
              <a:lnSpc>
                <a:spcPct val="150000"/>
              </a:lnSpc>
              <a:spcBef>
                <a:spcPct val="50000"/>
              </a:spcBef>
            </a:pPr>
            <a:r>
              <a:rPr lang="en-US" altLang="zh-CN" sz="2400" b="0" dirty="0">
                <a:solidFill>
                  <a:srgbClr val="000000"/>
                </a:solidFill>
                <a:latin typeface="Times New Roman" panose="02020603050405020304" pitchFamily="18" charset="0"/>
                <a:ea typeface="宋体" panose="02010600030101010101" pitchFamily="2" charset="-122"/>
              </a:rPr>
              <a:t>        </a:t>
            </a:r>
            <a:r>
              <a:rPr lang="zh-CN" altLang="en-US" sz="2400" b="0" dirty="0">
                <a:solidFill>
                  <a:srgbClr val="000000"/>
                </a:solidFill>
                <a:latin typeface="Times New Roman" panose="02020603050405020304" pitchFamily="18" charset="0"/>
                <a:ea typeface="宋体" panose="02010600030101010101" pitchFamily="2" charset="-122"/>
              </a:rPr>
              <a:t>确定和不确定的有穷自动机都能而且只能识别正规集，即它们能够识别正规表达式所表示的语言。但是它们之间有着时空的权衡。</a:t>
            </a:r>
            <a:r>
              <a:rPr lang="zh-CN" altLang="en-US" sz="2400" b="0" dirty="0">
                <a:solidFill>
                  <a:srgbClr val="0070C0"/>
                </a:solidFill>
                <a:latin typeface="Times New Roman" panose="02020603050405020304" pitchFamily="18" charset="0"/>
                <a:ea typeface="宋体" panose="02010600030101010101" pitchFamily="2" charset="-122"/>
              </a:rPr>
              <a:t>确定的有穷自动机导出的识别器比不确定的有穷自动机导出的识别器快得多，但确定的有穷自动机可能比与之等价的不确定的有穷自动机大得多</a:t>
            </a:r>
            <a:r>
              <a:rPr lang="zh-CN" altLang="en-US" sz="2400" b="0" dirty="0">
                <a:solidFill>
                  <a:srgbClr val="000000"/>
                </a:solidFill>
                <a:latin typeface="Times New Roman" panose="02020603050405020304" pitchFamily="18" charset="0"/>
                <a:ea typeface="宋体" panose="02010600030101010101" pitchFamily="2" charset="-122"/>
              </a:rPr>
              <a:t>。</a:t>
            </a:r>
            <a:endParaRPr lang="zh-CN" altLang="en-US" sz="2400" b="0" dirty="0">
              <a:solidFill>
                <a:srgbClr val="000000"/>
              </a:solidFill>
              <a:latin typeface="Times New Roman" panose="02020603050405020304" pitchFamily="18" charset="0"/>
              <a:ea typeface="宋体" panose="02010600030101010101" pitchFamily="2" charset="-122"/>
            </a:endParaRPr>
          </a:p>
        </p:txBody>
      </p:sp>
      <p:sp>
        <p:nvSpPr>
          <p:cNvPr id="58371" name="Rectangle 5"/>
          <p:cNvSpPr/>
          <p:nvPr/>
        </p:nvSpPr>
        <p:spPr>
          <a:xfrm>
            <a:off x="611188" y="908050"/>
            <a:ext cx="7921625" cy="2308225"/>
          </a:xfrm>
          <a:prstGeom prst="rect">
            <a:avLst/>
          </a:prstGeom>
          <a:noFill/>
          <a:ln w="19050">
            <a:noFill/>
          </a:ln>
        </p:spPr>
        <p:txBody>
          <a:bodyPr anchor="t" anchorCtr="1">
            <a:spAutoFit/>
          </a:bodyPr>
          <a:p>
            <a:pPr>
              <a:lnSpc>
                <a:spcPct val="150000"/>
              </a:lnSpc>
            </a:pPr>
            <a:r>
              <a:rPr lang="en-US" altLang="zh-CN" sz="2400" b="0" dirty="0">
                <a:solidFill>
                  <a:srgbClr val="00B0F0"/>
                </a:solidFill>
                <a:latin typeface="Times New Roman" panose="02020603050405020304" pitchFamily="18" charset="0"/>
                <a:ea typeface="宋体" panose="02010600030101010101" pitchFamily="2" charset="-122"/>
              </a:rPr>
              <a:t>        </a:t>
            </a:r>
            <a:r>
              <a:rPr lang="zh-CN" altLang="en-US" sz="2400" dirty="0">
                <a:solidFill>
                  <a:srgbClr val="00B0F0"/>
                </a:solidFill>
                <a:latin typeface="Times New Roman" panose="02020603050405020304" pitchFamily="18" charset="0"/>
                <a:ea typeface="宋体" panose="02010600030101010101" pitchFamily="2" charset="-122"/>
              </a:rPr>
              <a:t>确定的有穷自动机</a:t>
            </a:r>
            <a:r>
              <a:rPr lang="en-US" altLang="zh-CN" sz="2400" b="0" dirty="0">
                <a:solidFill>
                  <a:srgbClr val="000000"/>
                </a:solidFill>
                <a:latin typeface="Times New Roman" panose="02020603050405020304" pitchFamily="18" charset="0"/>
                <a:ea typeface="宋体" panose="02010600030101010101" pitchFamily="2" charset="-122"/>
              </a:rPr>
              <a:t>(Deterministic Finite Automata) </a:t>
            </a:r>
            <a:endParaRPr lang="en-US" altLang="zh-CN" sz="2400" b="0" dirty="0">
              <a:solidFill>
                <a:srgbClr val="000000"/>
              </a:solidFill>
              <a:latin typeface="Times New Roman" panose="02020603050405020304" pitchFamily="18" charset="0"/>
              <a:ea typeface="宋体" panose="02010600030101010101" pitchFamily="2" charset="-122"/>
            </a:endParaRPr>
          </a:p>
          <a:p>
            <a:pPr>
              <a:lnSpc>
                <a:spcPct val="150000"/>
              </a:lnSpc>
            </a:pPr>
            <a:r>
              <a:rPr lang="en-US" altLang="zh-CN" sz="2400" b="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B0F0"/>
                </a:solidFill>
                <a:latin typeface="Times New Roman" panose="02020603050405020304" pitchFamily="18" charset="0"/>
                <a:ea typeface="宋体" panose="02010600030101010101" pitchFamily="2" charset="-122"/>
              </a:rPr>
              <a:t>不确定的有穷自动机</a:t>
            </a:r>
            <a:r>
              <a:rPr lang="en-US" altLang="zh-CN" sz="2400" b="0" dirty="0">
                <a:solidFill>
                  <a:srgbClr val="000000"/>
                </a:solidFill>
                <a:latin typeface="Times New Roman" panose="02020603050405020304" pitchFamily="18" charset="0"/>
                <a:ea typeface="宋体" panose="02010600030101010101" pitchFamily="2" charset="-122"/>
              </a:rPr>
              <a:t>(Nondeterministic Finite Automata)</a:t>
            </a:r>
            <a:endParaRPr lang="en-US" altLang="zh-CN" sz="2400" b="0" dirty="0">
              <a:solidFill>
                <a:srgbClr val="000000"/>
              </a:solidFill>
              <a:latin typeface="Times New Roman" panose="02020603050405020304" pitchFamily="18" charset="0"/>
              <a:ea typeface="宋体" panose="02010600030101010101" pitchFamily="2" charset="-122"/>
            </a:endParaRPr>
          </a:p>
          <a:p>
            <a:pPr>
              <a:lnSpc>
                <a:spcPct val="150000"/>
              </a:lnSpc>
            </a:pPr>
            <a:r>
              <a:rPr lang="zh-CN" altLang="en-US" sz="2400" b="0" dirty="0">
                <a:solidFill>
                  <a:srgbClr val="000000"/>
                </a:solidFill>
                <a:latin typeface="Times New Roman" panose="02020603050405020304" pitchFamily="18" charset="0"/>
                <a:ea typeface="宋体" panose="02010600030101010101" pitchFamily="2" charset="-122"/>
              </a:rPr>
              <a:t>其中“</a:t>
            </a:r>
            <a:r>
              <a:rPr lang="zh-CN" altLang="en-US" sz="2400" b="0" dirty="0">
                <a:solidFill>
                  <a:srgbClr val="00B0F0"/>
                </a:solidFill>
                <a:latin typeface="Times New Roman" panose="02020603050405020304" pitchFamily="18" charset="0"/>
                <a:ea typeface="宋体" panose="02010600030101010101" pitchFamily="2" charset="-122"/>
              </a:rPr>
              <a:t>不确定</a:t>
            </a:r>
            <a:r>
              <a:rPr lang="zh-CN" altLang="en-US" sz="2400" b="0" dirty="0">
                <a:solidFill>
                  <a:srgbClr val="000000"/>
                </a:solidFill>
                <a:latin typeface="Times New Roman" panose="02020603050405020304" pitchFamily="18" charset="0"/>
                <a:ea typeface="宋体" panose="02010600030101010101" pitchFamily="2" charset="-122"/>
              </a:rPr>
              <a:t>”的含义是：对于某个输入符号，在同一个状态上存在不止一种转换。</a:t>
            </a:r>
            <a:endParaRPr lang="zh-CN" altLang="en-US" sz="2400" b="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87D6EBE-DF4C-4848-9268-4E5075BF1E9D}"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9394" name="Rectangle 4"/>
          <p:cNvSpPr>
            <a:spLocks noGrp="1"/>
          </p:cNvSpPr>
          <p:nvPr>
            <p:ph idx="1"/>
          </p:nvPr>
        </p:nvSpPr>
        <p:spPr>
          <a:xfrm>
            <a:off x="539750" y="549275"/>
            <a:ext cx="8229600" cy="604838"/>
          </a:xfrm>
        </p:spPr>
        <p:txBody>
          <a:bodyPr vert="horz" wrap="square" lIns="91440" tIns="45720" rIns="91440" bIns="45720" anchor="t" anchorCtr="0"/>
          <a:p>
            <a:pPr eaLnBrk="1" hangingPunct="1">
              <a:buNone/>
            </a:pPr>
            <a:r>
              <a:rPr lang="en-US" altLang="zh-CN" sz="2800" b="1" dirty="0">
                <a:latin typeface="宋体" panose="02010600030101010101" pitchFamily="2" charset="-122"/>
              </a:rPr>
              <a:t>■</a:t>
            </a:r>
            <a:r>
              <a:rPr lang="en-US" altLang="zh-CN" b="1" dirty="0"/>
              <a:t> </a:t>
            </a:r>
            <a:r>
              <a:rPr lang="en-US" altLang="zh-CN" sz="2800" b="1" dirty="0">
                <a:latin typeface="宋体" panose="02010600030101010101" pitchFamily="2" charset="-122"/>
              </a:rPr>
              <a:t>3.5.1 </a:t>
            </a:r>
            <a:r>
              <a:rPr lang="zh-CN" altLang="en-US" sz="2800" b="1" dirty="0">
                <a:latin typeface="宋体" panose="02010600030101010101" pitchFamily="2" charset="-122"/>
              </a:rPr>
              <a:t>不确定的有穷自动机（</a:t>
            </a:r>
            <a:r>
              <a:rPr lang="en-US" altLang="zh-CN" sz="2800" b="1" dirty="0">
                <a:latin typeface="宋体" panose="02010600030101010101" pitchFamily="2" charset="-122"/>
              </a:rPr>
              <a:t>NFA</a:t>
            </a:r>
            <a:r>
              <a:rPr lang="zh-CN" altLang="en-US" sz="2800" b="1" dirty="0">
                <a:latin typeface="宋体" panose="02010600030101010101" pitchFamily="2" charset="-122"/>
              </a:rPr>
              <a:t>）</a:t>
            </a:r>
            <a:endParaRPr lang="zh-CN" altLang="en-US" sz="2800" b="1" dirty="0">
              <a:latin typeface="宋体" panose="02010600030101010101" pitchFamily="2" charset="-122"/>
              <a:ea typeface="Times New Roman" panose="02020603050405020304" pitchFamily="18" charset="0"/>
            </a:endParaRPr>
          </a:p>
        </p:txBody>
      </p:sp>
      <p:sp>
        <p:nvSpPr>
          <p:cNvPr id="133125" name="Rectangle 5"/>
          <p:cNvSpPr/>
          <p:nvPr>
            <p:custDataLst>
              <p:tags r:id="rId1"/>
            </p:custDataLst>
          </p:nvPr>
        </p:nvSpPr>
        <p:spPr>
          <a:xfrm>
            <a:off x="755650" y="1341438"/>
            <a:ext cx="7848600" cy="829945"/>
          </a:xfrm>
          <a:prstGeom prst="rect">
            <a:avLst/>
          </a:prstGeom>
          <a:noFill/>
          <a:ln w="9525">
            <a:noFill/>
          </a:ln>
        </p:spPr>
        <p:txBody>
          <a:bodyPr anchor="t" anchorCtr="0">
            <a:spAutoFit/>
          </a:bodyPr>
          <a:p>
            <a:r>
              <a:rPr lang="zh-CN" altLang="en-US" sz="2400" b="0" dirty="0">
                <a:solidFill>
                  <a:srgbClr val="000000"/>
                </a:solidFill>
                <a:latin typeface="Times New Roman" panose="02020603050405020304" pitchFamily="18" charset="0"/>
                <a:ea typeface="宋体" panose="02010600030101010101" pitchFamily="2" charset="-122"/>
              </a:rPr>
              <a:t>不确定的有穷自动机 </a:t>
            </a:r>
            <a:r>
              <a:rPr lang="en-US" altLang="zh-CN" sz="2400" b="0" dirty="0">
                <a:solidFill>
                  <a:srgbClr val="000000"/>
                </a:solidFill>
                <a:latin typeface="Times New Roman" panose="02020603050405020304" pitchFamily="18" charset="0"/>
                <a:ea typeface="宋体" panose="02010600030101010101" pitchFamily="2" charset="-122"/>
              </a:rPr>
              <a:t>( NFA) </a:t>
            </a:r>
            <a:r>
              <a:rPr lang="zh-CN" altLang="en-US" sz="2400" b="0" dirty="0">
                <a:solidFill>
                  <a:srgbClr val="000000"/>
                </a:solidFill>
                <a:latin typeface="Times New Roman" panose="02020603050405020304" pitchFamily="18" charset="0"/>
                <a:ea typeface="宋体" panose="02010600030101010101" pitchFamily="2" charset="-122"/>
              </a:rPr>
              <a:t>是一个由以下几部分组成的数学模型：</a:t>
            </a:r>
            <a:r>
              <a:rPr lang="zh-CN" altLang="en-US" sz="2400" b="0" dirty="0">
                <a:solidFill>
                  <a:srgbClr val="000000"/>
                </a:solidFill>
                <a:highlight>
                  <a:srgbClr val="FFFF00"/>
                </a:highlight>
                <a:latin typeface="Times New Roman" panose="02020603050405020304" pitchFamily="18" charset="0"/>
                <a:ea typeface="宋体" panose="02010600030101010101" pitchFamily="2" charset="-122"/>
              </a:rPr>
              <a:t>状号函起末</a:t>
            </a:r>
            <a:endParaRPr lang="zh-CN" altLang="en-US" sz="2400" b="0" dirty="0">
              <a:solidFill>
                <a:srgbClr val="000000"/>
              </a:solidFill>
              <a:highlight>
                <a:srgbClr val="FFFF00"/>
              </a:highlight>
              <a:latin typeface="Times New Roman" panose="02020603050405020304" pitchFamily="18" charset="0"/>
              <a:ea typeface="宋体" panose="02010600030101010101" pitchFamily="2" charset="-122"/>
            </a:endParaRPr>
          </a:p>
        </p:txBody>
      </p:sp>
      <p:sp>
        <p:nvSpPr>
          <p:cNvPr id="133126" name="Rectangle 6"/>
          <p:cNvSpPr/>
          <p:nvPr>
            <p:custDataLst>
              <p:tags r:id="rId2"/>
            </p:custDataLst>
          </p:nvPr>
        </p:nvSpPr>
        <p:spPr>
          <a:xfrm>
            <a:off x="828675" y="2492375"/>
            <a:ext cx="3640138" cy="457200"/>
          </a:xfrm>
          <a:prstGeom prst="rect">
            <a:avLst/>
          </a:prstGeom>
          <a:noFill/>
          <a:ln w="9525">
            <a:noFill/>
          </a:ln>
        </p:spPr>
        <p:txBody>
          <a:bodyPr wrap="none" anchor="t" anchorCtr="0">
            <a:spAutoFit/>
          </a:bodyPr>
          <a:p>
            <a:r>
              <a:rPr lang="en-US" altLang="en-US" sz="2000" dirty="0">
                <a:solidFill>
                  <a:schemeClr val="accent2"/>
                </a:solidFill>
                <a:latin typeface="Times New Roman" panose="02020603050405020304" pitchFamily="18" charset="0"/>
                <a:ea typeface="宋体" panose="02010600030101010101" pitchFamily="2" charset="-122"/>
              </a:rPr>
              <a:t>●</a:t>
            </a:r>
            <a:r>
              <a:rPr lang="en-US" altLang="zh-CN" sz="2400" b="0" dirty="0">
                <a:solidFill>
                  <a:srgbClr val="000000"/>
                </a:solidFill>
                <a:latin typeface="Times New Roman" panose="02020603050405020304" pitchFamily="18" charset="0"/>
                <a:ea typeface="宋体" panose="02010600030101010101" pitchFamily="2" charset="-122"/>
              </a:rPr>
              <a:t> 1.</a:t>
            </a:r>
            <a:r>
              <a:rPr lang="zh-CN" altLang="en-US" sz="2400" b="0" dirty="0">
                <a:solidFill>
                  <a:srgbClr val="000000"/>
                </a:solidFill>
                <a:latin typeface="Times New Roman" panose="02020603050405020304" pitchFamily="18" charset="0"/>
                <a:ea typeface="宋体" panose="02010600030101010101" pitchFamily="2" charset="-122"/>
              </a:rPr>
              <a:t>一个</a:t>
            </a:r>
            <a:r>
              <a:rPr lang="zh-CN" altLang="en-US" sz="2400" b="0" dirty="0">
                <a:solidFill>
                  <a:srgbClr val="000000"/>
                </a:solidFill>
                <a:latin typeface="Times New Roman" panose="02020603050405020304" pitchFamily="18" charset="0"/>
                <a:ea typeface="楷体_GB2312" pitchFamily="49" charset="-122"/>
              </a:rPr>
              <a:t>状态</a:t>
            </a:r>
            <a:r>
              <a:rPr lang="zh-CN" altLang="en-US" sz="2400" b="0" dirty="0">
                <a:solidFill>
                  <a:srgbClr val="000000"/>
                </a:solidFill>
                <a:latin typeface="Times New Roman" panose="02020603050405020304" pitchFamily="18" charset="0"/>
                <a:ea typeface="宋体" panose="02010600030101010101" pitchFamily="2" charset="-122"/>
              </a:rPr>
              <a:t>的有穷集合</a:t>
            </a:r>
            <a:r>
              <a:rPr lang="en-US" altLang="zh-CN" sz="2400" b="0" i="1" dirty="0">
                <a:solidFill>
                  <a:srgbClr val="000000"/>
                </a:solidFill>
                <a:latin typeface="Times New Roman" panose="02020603050405020304" pitchFamily="18" charset="0"/>
                <a:ea typeface="宋体" panose="02010600030101010101" pitchFamily="2" charset="-122"/>
              </a:rPr>
              <a:t>S</a:t>
            </a:r>
            <a:endParaRPr lang="en-US" altLang="zh-CN" sz="2400" b="0" i="1" dirty="0">
              <a:solidFill>
                <a:srgbClr val="000000"/>
              </a:solidFill>
              <a:latin typeface="Times New Roman" panose="02020603050405020304" pitchFamily="18" charset="0"/>
              <a:ea typeface="宋体" panose="02010600030101010101" pitchFamily="2" charset="-122"/>
            </a:endParaRPr>
          </a:p>
        </p:txBody>
      </p:sp>
      <p:sp>
        <p:nvSpPr>
          <p:cNvPr id="133127" name="Rectangle 7"/>
          <p:cNvSpPr/>
          <p:nvPr>
            <p:custDataLst>
              <p:tags r:id="rId3"/>
            </p:custDataLst>
          </p:nvPr>
        </p:nvSpPr>
        <p:spPr>
          <a:xfrm>
            <a:off x="828675" y="3068638"/>
            <a:ext cx="6983413" cy="457200"/>
          </a:xfrm>
          <a:prstGeom prst="rect">
            <a:avLst/>
          </a:prstGeom>
          <a:noFill/>
          <a:ln w="9525">
            <a:noFill/>
          </a:ln>
        </p:spPr>
        <p:txBody>
          <a:bodyPr anchor="t" anchorCtr="0">
            <a:spAutoFit/>
          </a:bodyPr>
          <a:p>
            <a:r>
              <a:rPr lang="en-US" altLang="en-US" sz="2000" dirty="0">
                <a:solidFill>
                  <a:schemeClr val="accent2"/>
                </a:solidFill>
                <a:latin typeface="Times New Roman" panose="02020603050405020304" pitchFamily="18" charset="0"/>
                <a:ea typeface="宋体" panose="02010600030101010101" pitchFamily="2" charset="-122"/>
              </a:rPr>
              <a:t>●</a:t>
            </a:r>
            <a:r>
              <a:rPr lang="en-US" altLang="zh-CN" sz="2400" b="0" dirty="0">
                <a:solidFill>
                  <a:srgbClr val="000000"/>
                </a:solidFill>
                <a:latin typeface="Times New Roman" panose="02020603050405020304" pitchFamily="18" charset="0"/>
                <a:ea typeface="宋体" panose="02010600030101010101" pitchFamily="2" charset="-122"/>
              </a:rPr>
              <a:t> 2. </a:t>
            </a:r>
            <a:r>
              <a:rPr lang="zh-CN" altLang="en-US" sz="2400" b="0" dirty="0">
                <a:solidFill>
                  <a:srgbClr val="000000"/>
                </a:solidFill>
                <a:latin typeface="Times New Roman" panose="02020603050405020304" pitchFamily="18" charset="0"/>
                <a:ea typeface="宋体" panose="02010600030101010101" pitchFamily="2" charset="-122"/>
              </a:rPr>
              <a:t>一个输入符号集合 </a:t>
            </a:r>
            <a:r>
              <a:rPr lang="en-US" altLang="zh-CN" sz="2400" b="0" dirty="0">
                <a:solidFill>
                  <a:srgbClr val="000000"/>
                </a:solidFill>
                <a:latin typeface="Times New Roman" panose="02020603050405020304" pitchFamily="18" charset="0"/>
                <a:ea typeface="宋体" panose="02010600030101010101" pitchFamily="2" charset="-122"/>
              </a:rPr>
              <a:t>Σ</a:t>
            </a:r>
            <a:r>
              <a:rPr lang="zh-CN" altLang="en-US" sz="2400" b="0" dirty="0">
                <a:solidFill>
                  <a:srgbClr val="000000"/>
                </a:solidFill>
                <a:latin typeface="Times New Roman" panose="02020603050405020304" pitchFamily="18" charset="0"/>
                <a:ea typeface="宋体" panose="02010600030101010101" pitchFamily="2" charset="-122"/>
              </a:rPr>
              <a:t>，即</a:t>
            </a:r>
            <a:r>
              <a:rPr lang="zh-CN" altLang="en-US" sz="2400" b="0" dirty="0">
                <a:solidFill>
                  <a:srgbClr val="000000"/>
                </a:solidFill>
                <a:latin typeface="Times New Roman" panose="02020603050405020304" pitchFamily="18" charset="0"/>
                <a:ea typeface="楷体_GB2312" pitchFamily="49" charset="-122"/>
              </a:rPr>
              <a:t>输入字母表</a:t>
            </a:r>
            <a:endParaRPr lang="zh-CN" altLang="en-US" sz="2400" b="0" dirty="0">
              <a:solidFill>
                <a:srgbClr val="000000"/>
              </a:solidFill>
              <a:latin typeface="Times New Roman" panose="02020603050405020304" pitchFamily="18" charset="0"/>
              <a:ea typeface="楷体_GB2312" pitchFamily="49" charset="-122"/>
            </a:endParaRPr>
          </a:p>
        </p:txBody>
      </p:sp>
      <p:sp>
        <p:nvSpPr>
          <p:cNvPr id="133128" name="Rectangle 8"/>
          <p:cNvSpPr/>
          <p:nvPr>
            <p:custDataLst>
              <p:tags r:id="rId4"/>
            </p:custDataLst>
          </p:nvPr>
        </p:nvSpPr>
        <p:spPr>
          <a:xfrm>
            <a:off x="828675" y="3573463"/>
            <a:ext cx="7705725" cy="822325"/>
          </a:xfrm>
          <a:prstGeom prst="rect">
            <a:avLst/>
          </a:prstGeom>
          <a:noFill/>
          <a:ln w="9525">
            <a:noFill/>
          </a:ln>
        </p:spPr>
        <p:txBody>
          <a:bodyPr anchor="t" anchorCtr="0">
            <a:spAutoFit/>
          </a:bodyPr>
          <a:p>
            <a:r>
              <a:rPr lang="en-US" altLang="en-US" sz="2000" dirty="0">
                <a:solidFill>
                  <a:schemeClr val="accent2"/>
                </a:solidFill>
                <a:latin typeface="Times New Roman" panose="02020603050405020304" pitchFamily="18" charset="0"/>
                <a:ea typeface="宋体" panose="02010600030101010101" pitchFamily="2" charset="-122"/>
              </a:rPr>
              <a:t>●</a:t>
            </a:r>
            <a:r>
              <a:rPr lang="en-US" altLang="zh-CN" sz="2000" b="0" dirty="0">
                <a:solidFill>
                  <a:srgbClr val="000000"/>
                </a:solidFill>
                <a:latin typeface="Times New Roman" panose="02020603050405020304" pitchFamily="18" charset="0"/>
                <a:ea typeface="宋体" panose="02010600030101010101" pitchFamily="2" charset="-122"/>
              </a:rPr>
              <a:t> </a:t>
            </a:r>
            <a:r>
              <a:rPr lang="en-US" altLang="zh-CN" sz="2400" b="0" dirty="0">
                <a:solidFill>
                  <a:srgbClr val="000000"/>
                </a:solidFill>
                <a:latin typeface="Times New Roman" panose="02020603050405020304" pitchFamily="18" charset="0"/>
                <a:ea typeface="宋体" panose="02010600030101010101" pitchFamily="2" charset="-122"/>
              </a:rPr>
              <a:t>3. </a:t>
            </a:r>
            <a:r>
              <a:rPr lang="zh-CN" altLang="en-US" sz="2400" b="0" dirty="0">
                <a:solidFill>
                  <a:srgbClr val="000000"/>
                </a:solidFill>
                <a:latin typeface="Times New Roman" panose="02020603050405020304" pitchFamily="18" charset="0"/>
                <a:ea typeface="宋体" panose="02010600030101010101" pitchFamily="2" charset="-122"/>
              </a:rPr>
              <a:t>一个转换函数 </a:t>
            </a:r>
            <a:r>
              <a:rPr lang="en-US" altLang="zh-CN" sz="2400" b="0" i="1" dirty="0">
                <a:solidFill>
                  <a:srgbClr val="000000"/>
                </a:solidFill>
                <a:latin typeface="Times New Roman" panose="02020603050405020304" pitchFamily="18" charset="0"/>
                <a:ea typeface="宋体" panose="02010600030101010101" pitchFamily="2" charset="-122"/>
              </a:rPr>
              <a:t>move </a:t>
            </a:r>
            <a:r>
              <a:rPr lang="zh-CN" altLang="en-US" sz="2400" b="0" dirty="0">
                <a:solidFill>
                  <a:srgbClr val="000000"/>
                </a:solidFill>
                <a:latin typeface="Times New Roman" panose="02020603050405020304" pitchFamily="18" charset="0"/>
                <a:ea typeface="宋体" panose="02010600030101010101" pitchFamily="2" charset="-122"/>
              </a:rPr>
              <a:t>，它把由状态和符号组成的二元组映射到状态集合</a:t>
            </a:r>
            <a:endParaRPr lang="zh-CN" altLang="en-US" sz="2400" b="0" dirty="0">
              <a:solidFill>
                <a:srgbClr val="000000"/>
              </a:solidFill>
              <a:latin typeface="Times New Roman" panose="02020603050405020304" pitchFamily="18" charset="0"/>
              <a:ea typeface="宋体" panose="02010600030101010101" pitchFamily="2" charset="-122"/>
            </a:endParaRPr>
          </a:p>
        </p:txBody>
      </p:sp>
      <p:sp>
        <p:nvSpPr>
          <p:cNvPr id="133129" name="Rectangle 9"/>
          <p:cNvSpPr/>
          <p:nvPr>
            <p:custDataLst>
              <p:tags r:id="rId5"/>
            </p:custDataLst>
          </p:nvPr>
        </p:nvSpPr>
        <p:spPr>
          <a:xfrm>
            <a:off x="828675" y="4437063"/>
            <a:ext cx="6119813" cy="457200"/>
          </a:xfrm>
          <a:prstGeom prst="rect">
            <a:avLst/>
          </a:prstGeom>
          <a:noFill/>
          <a:ln w="9525">
            <a:noFill/>
          </a:ln>
        </p:spPr>
        <p:txBody>
          <a:bodyPr anchor="t" anchorCtr="0">
            <a:spAutoFit/>
          </a:bodyPr>
          <a:p>
            <a:r>
              <a:rPr lang="en-US" altLang="en-US" dirty="0">
                <a:solidFill>
                  <a:schemeClr val="accent2"/>
                </a:solidFill>
                <a:latin typeface="Arial" panose="020B0604020202020204" pitchFamily="34" charset="0"/>
                <a:ea typeface="宋体" panose="02010600030101010101" pitchFamily="2" charset="-122"/>
              </a:rPr>
              <a:t>●</a:t>
            </a:r>
            <a:r>
              <a:rPr lang="en-US" altLang="zh-CN" b="0" dirty="0">
                <a:solidFill>
                  <a:srgbClr val="000000"/>
                </a:solidFill>
                <a:latin typeface="Arial" panose="020B0604020202020204" pitchFamily="34" charset="0"/>
                <a:ea typeface="宋体" panose="02010600030101010101" pitchFamily="2" charset="-122"/>
              </a:rPr>
              <a:t> </a:t>
            </a:r>
            <a:r>
              <a:rPr lang="en-US" altLang="zh-CN" sz="2400" b="0" dirty="0">
                <a:solidFill>
                  <a:srgbClr val="000000"/>
                </a:solidFill>
                <a:latin typeface="Times New Roman" panose="02020603050405020304" pitchFamily="18" charset="0"/>
                <a:ea typeface="宋体" panose="02010600030101010101" pitchFamily="2" charset="-122"/>
              </a:rPr>
              <a:t>4. </a:t>
            </a:r>
            <a:r>
              <a:rPr lang="zh-CN" altLang="en-US" sz="2400" b="0" dirty="0">
                <a:solidFill>
                  <a:srgbClr val="000000"/>
                </a:solidFill>
                <a:latin typeface="Times New Roman" panose="02020603050405020304" pitchFamily="18" charset="0"/>
                <a:ea typeface="宋体" panose="02010600030101010101" pitchFamily="2" charset="-122"/>
              </a:rPr>
              <a:t>状态 </a:t>
            </a:r>
            <a:r>
              <a:rPr lang="en-US" altLang="zh-CN" sz="2400" b="0" i="1" dirty="0">
                <a:solidFill>
                  <a:srgbClr val="000000"/>
                </a:solidFill>
                <a:latin typeface="Times New Roman" panose="02020603050405020304" pitchFamily="18" charset="0"/>
                <a:ea typeface="宋体" panose="02010600030101010101" pitchFamily="2" charset="-122"/>
              </a:rPr>
              <a:t>s</a:t>
            </a:r>
            <a:r>
              <a:rPr lang="en-US" altLang="zh-CN" sz="2400" b="0" i="1" baseline="-25000" dirty="0">
                <a:solidFill>
                  <a:srgbClr val="000000"/>
                </a:solidFill>
                <a:latin typeface="Times New Roman" panose="02020603050405020304" pitchFamily="18" charset="0"/>
                <a:ea typeface="宋体" panose="02010600030101010101" pitchFamily="2" charset="-122"/>
              </a:rPr>
              <a:t>0</a:t>
            </a:r>
            <a:r>
              <a:rPr lang="en-US" altLang="zh-CN" sz="2400" b="0" dirty="0">
                <a:solidFill>
                  <a:srgbClr val="000000"/>
                </a:solidFill>
                <a:latin typeface="Times New Roman" panose="02020603050405020304" pitchFamily="18" charset="0"/>
                <a:ea typeface="宋体" panose="02010600030101010101" pitchFamily="2" charset="-122"/>
              </a:rPr>
              <a:t> </a:t>
            </a:r>
            <a:r>
              <a:rPr lang="zh-CN" altLang="en-US" sz="2400" b="0" dirty="0">
                <a:solidFill>
                  <a:srgbClr val="000000"/>
                </a:solidFill>
                <a:latin typeface="Times New Roman" panose="02020603050405020304" pitchFamily="18" charset="0"/>
                <a:ea typeface="宋体" panose="02010600030101010101" pitchFamily="2" charset="-122"/>
              </a:rPr>
              <a:t>是唯一的</a:t>
            </a:r>
            <a:r>
              <a:rPr lang="zh-CN" altLang="en-US" sz="2400" b="0" dirty="0">
                <a:solidFill>
                  <a:srgbClr val="000000"/>
                </a:solidFill>
                <a:latin typeface="Times New Roman" panose="02020603050405020304" pitchFamily="18" charset="0"/>
                <a:ea typeface="楷体_GB2312" pitchFamily="49" charset="-122"/>
              </a:rPr>
              <a:t>开始</a:t>
            </a:r>
            <a:r>
              <a:rPr lang="zh-CN" altLang="en-US" sz="2400" b="0" dirty="0">
                <a:solidFill>
                  <a:srgbClr val="000000"/>
                </a:solidFill>
                <a:latin typeface="Times New Roman" panose="02020603050405020304" pitchFamily="18" charset="0"/>
                <a:ea typeface="宋体" panose="02010600030101010101" pitchFamily="2" charset="-122"/>
              </a:rPr>
              <a:t>或</a:t>
            </a:r>
            <a:r>
              <a:rPr lang="zh-CN" altLang="en-US" sz="2400" b="0" dirty="0">
                <a:solidFill>
                  <a:srgbClr val="000000"/>
                </a:solidFill>
                <a:latin typeface="Times New Roman" panose="02020603050405020304" pitchFamily="18" charset="0"/>
                <a:ea typeface="楷体_GB2312" pitchFamily="49" charset="-122"/>
              </a:rPr>
              <a:t>初始</a:t>
            </a:r>
            <a:r>
              <a:rPr lang="zh-CN" altLang="en-US" sz="2400" b="0" dirty="0">
                <a:solidFill>
                  <a:srgbClr val="000000"/>
                </a:solidFill>
                <a:highlight>
                  <a:srgbClr val="FFFF00"/>
                </a:highlight>
                <a:latin typeface="Times New Roman" panose="02020603050405020304" pitchFamily="18" charset="0"/>
                <a:ea typeface="宋体" panose="02010600030101010101" pitchFamily="2" charset="-122"/>
              </a:rPr>
              <a:t>状态</a:t>
            </a:r>
            <a:endParaRPr lang="zh-CN" altLang="en-US" sz="2400" b="0" i="1" dirty="0">
              <a:solidFill>
                <a:srgbClr val="000000"/>
              </a:solidFill>
              <a:highlight>
                <a:srgbClr val="FFFF00"/>
              </a:highlight>
              <a:latin typeface="Times New Roman" panose="02020603050405020304" pitchFamily="18" charset="0"/>
              <a:ea typeface="宋体" panose="02010600030101010101" pitchFamily="2" charset="-122"/>
            </a:endParaRPr>
          </a:p>
        </p:txBody>
      </p:sp>
      <p:sp>
        <p:nvSpPr>
          <p:cNvPr id="133130" name="Rectangle 10"/>
          <p:cNvSpPr/>
          <p:nvPr>
            <p:custDataLst>
              <p:tags r:id="rId6"/>
            </p:custDataLst>
          </p:nvPr>
        </p:nvSpPr>
        <p:spPr>
          <a:xfrm>
            <a:off x="755650" y="5084763"/>
            <a:ext cx="6696075" cy="457200"/>
          </a:xfrm>
          <a:prstGeom prst="rect">
            <a:avLst/>
          </a:prstGeom>
          <a:noFill/>
          <a:ln w="9525">
            <a:noFill/>
          </a:ln>
        </p:spPr>
        <p:txBody>
          <a:bodyPr anchor="t" anchorCtr="0">
            <a:spAutoFit/>
          </a:bodyPr>
          <a:p>
            <a:r>
              <a:rPr lang="en-US" altLang="zh-CN" dirty="0">
                <a:solidFill>
                  <a:schemeClr val="accent2"/>
                </a:solidFill>
                <a:latin typeface="Arial" panose="020B0604020202020204" pitchFamily="34" charset="0"/>
                <a:ea typeface="宋体" panose="02010600030101010101" pitchFamily="2" charset="-122"/>
              </a:rPr>
              <a:t> </a:t>
            </a:r>
            <a:r>
              <a:rPr lang="en-US" altLang="en-US" dirty="0">
                <a:solidFill>
                  <a:schemeClr val="accent2"/>
                </a:solidFill>
                <a:latin typeface="Arial" panose="020B0604020202020204" pitchFamily="34" charset="0"/>
                <a:ea typeface="宋体" panose="02010600030101010101" pitchFamily="2" charset="-122"/>
              </a:rPr>
              <a:t>●</a:t>
            </a:r>
            <a:r>
              <a:rPr lang="en-US" altLang="zh-CN" b="0" dirty="0">
                <a:solidFill>
                  <a:srgbClr val="000000"/>
                </a:solidFill>
                <a:latin typeface="Arial" panose="020B0604020202020204" pitchFamily="34" charset="0"/>
                <a:ea typeface="宋体" panose="02010600030101010101" pitchFamily="2" charset="-122"/>
              </a:rPr>
              <a:t> </a:t>
            </a:r>
            <a:r>
              <a:rPr lang="en-US" altLang="zh-CN" sz="2400" b="0" dirty="0">
                <a:solidFill>
                  <a:srgbClr val="000000"/>
                </a:solidFill>
                <a:latin typeface="Times New Roman" panose="02020603050405020304" pitchFamily="18" charset="0"/>
                <a:ea typeface="宋体" panose="02010600030101010101" pitchFamily="2" charset="-122"/>
              </a:rPr>
              <a:t>5. </a:t>
            </a:r>
            <a:r>
              <a:rPr lang="zh-CN" altLang="en-US" sz="2400" b="0" dirty="0">
                <a:solidFill>
                  <a:srgbClr val="000000"/>
                </a:solidFill>
                <a:latin typeface="Times New Roman" panose="02020603050405020304" pitchFamily="18" charset="0"/>
                <a:ea typeface="宋体" panose="02010600030101010101" pitchFamily="2" charset="-122"/>
              </a:rPr>
              <a:t>状态集合 </a:t>
            </a:r>
            <a:r>
              <a:rPr lang="en-US" altLang="zh-CN" sz="2400" b="0" i="1" dirty="0">
                <a:solidFill>
                  <a:srgbClr val="000000"/>
                </a:solidFill>
                <a:latin typeface="Times New Roman" panose="02020603050405020304" pitchFamily="18" charset="0"/>
                <a:ea typeface="宋体" panose="02010600030101010101" pitchFamily="2" charset="-122"/>
              </a:rPr>
              <a:t>F </a:t>
            </a:r>
            <a:r>
              <a:rPr lang="zh-CN" altLang="en-US" sz="2400" b="0" dirty="0">
                <a:solidFill>
                  <a:srgbClr val="000000"/>
                </a:solidFill>
                <a:latin typeface="Times New Roman" panose="02020603050405020304" pitchFamily="18" charset="0"/>
                <a:ea typeface="宋体" panose="02010600030101010101" pitchFamily="2" charset="-122"/>
              </a:rPr>
              <a:t>是</a:t>
            </a:r>
            <a:r>
              <a:rPr lang="zh-CN" altLang="en-US" sz="2400" b="0" dirty="0">
                <a:solidFill>
                  <a:srgbClr val="000000"/>
                </a:solidFill>
                <a:latin typeface="Times New Roman" panose="02020603050405020304" pitchFamily="18" charset="0"/>
                <a:ea typeface="楷体_GB2312" pitchFamily="49" charset="-122"/>
              </a:rPr>
              <a:t>接受</a:t>
            </a:r>
            <a:r>
              <a:rPr lang="zh-CN" altLang="en-US" sz="2400" b="0" dirty="0">
                <a:solidFill>
                  <a:srgbClr val="000000"/>
                </a:solidFill>
                <a:latin typeface="Times New Roman" panose="02020603050405020304" pitchFamily="18" charset="0"/>
                <a:ea typeface="宋体" panose="02010600030101010101" pitchFamily="2" charset="-122"/>
              </a:rPr>
              <a:t>（或</a:t>
            </a:r>
            <a:r>
              <a:rPr lang="zh-CN" altLang="en-US" sz="2400" b="0" dirty="0">
                <a:solidFill>
                  <a:srgbClr val="000000"/>
                </a:solidFill>
                <a:latin typeface="Times New Roman" panose="02020603050405020304" pitchFamily="18" charset="0"/>
                <a:ea typeface="楷体_GB2312" pitchFamily="49" charset="-122"/>
              </a:rPr>
              <a:t>终止</a:t>
            </a:r>
            <a:r>
              <a:rPr lang="zh-CN" altLang="en-US" sz="2400" b="0" dirty="0">
                <a:solidFill>
                  <a:srgbClr val="000000"/>
                </a:solidFill>
                <a:latin typeface="Times New Roman" panose="02020603050405020304" pitchFamily="18" charset="0"/>
                <a:ea typeface="宋体" panose="02010600030101010101" pitchFamily="2" charset="-122"/>
              </a:rPr>
              <a:t>）</a:t>
            </a:r>
            <a:r>
              <a:rPr lang="zh-CN" altLang="en-US" sz="2400" b="0" dirty="0">
                <a:solidFill>
                  <a:srgbClr val="000000"/>
                </a:solidFill>
                <a:highlight>
                  <a:srgbClr val="FFFF00"/>
                </a:highlight>
                <a:latin typeface="Times New Roman" panose="02020603050405020304" pitchFamily="18" charset="0"/>
                <a:ea typeface="宋体" panose="02010600030101010101" pitchFamily="2" charset="-122"/>
              </a:rPr>
              <a:t>状态集合</a:t>
            </a:r>
            <a:endParaRPr lang="zh-CN" altLang="en-US" sz="2400" b="0" i="1" dirty="0">
              <a:solidFill>
                <a:srgbClr val="000000"/>
              </a:solidFill>
              <a:highlight>
                <a:srgbClr val="FFFF00"/>
              </a:highlight>
              <a:latin typeface="Times New Roman" panose="02020603050405020304" pitchFamily="18" charset="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33125"/>
                                        </p:tgtEl>
                                        <p:attrNameLst>
                                          <p:attrName>style.visibility</p:attrName>
                                        </p:attrNameLst>
                                      </p:cBhvr>
                                      <p:to>
                                        <p:strVal val="visible"/>
                                      </p:to>
                                    </p:set>
                                    <p:anim calcmode="lin" valueType="num">
                                      <p:cBhvr>
                                        <p:cTn id="7" dur="1000" fill="hold"/>
                                        <p:tgtEl>
                                          <p:spTgt spid="133125"/>
                                        </p:tgtEl>
                                        <p:attrNameLst>
                                          <p:attrName>ppt_w</p:attrName>
                                        </p:attrNameLst>
                                      </p:cBhvr>
                                      <p:tavLst>
                                        <p:tav tm="0">
                                          <p:val>
                                            <p:strVal val="#ppt_w*0.70"/>
                                          </p:val>
                                        </p:tav>
                                        <p:tav tm="100000">
                                          <p:val>
                                            <p:strVal val="#ppt_w"/>
                                          </p:val>
                                        </p:tav>
                                      </p:tavLst>
                                    </p:anim>
                                    <p:anim calcmode="lin" valueType="num">
                                      <p:cBhvr>
                                        <p:cTn id="8" dur="1000" fill="hold"/>
                                        <p:tgtEl>
                                          <p:spTgt spid="133125"/>
                                        </p:tgtEl>
                                        <p:attrNameLst>
                                          <p:attrName>ppt_h</p:attrName>
                                        </p:attrNameLst>
                                      </p:cBhvr>
                                      <p:tavLst>
                                        <p:tav tm="0">
                                          <p:val>
                                            <p:strVal val="#ppt_h"/>
                                          </p:val>
                                        </p:tav>
                                        <p:tav tm="100000">
                                          <p:val>
                                            <p:strVal val="#ppt_h"/>
                                          </p:val>
                                        </p:tav>
                                      </p:tavLst>
                                    </p:anim>
                                    <p:animEffect transition="in" filter="fade">
                                      <p:cBhvr>
                                        <p:cTn id="9" dur="1000"/>
                                        <p:tgtEl>
                                          <p:spTgt spid="133125"/>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33126"/>
                                        </p:tgtEl>
                                        <p:attrNameLst>
                                          <p:attrName>style.visibility</p:attrName>
                                        </p:attrNameLst>
                                      </p:cBhvr>
                                      <p:to>
                                        <p:strVal val="visible"/>
                                      </p:to>
                                    </p:set>
                                    <p:animEffect transition="in" filter="dissolve">
                                      <p:cBhvr>
                                        <p:cTn id="14" dur="500"/>
                                        <p:tgtEl>
                                          <p:spTgt spid="133126"/>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33127"/>
                                        </p:tgtEl>
                                        <p:attrNameLst>
                                          <p:attrName>style.visibility</p:attrName>
                                        </p:attrNameLst>
                                      </p:cBhvr>
                                      <p:to>
                                        <p:strVal val="visible"/>
                                      </p:to>
                                    </p:set>
                                    <p:animEffect transition="in" filter="dissolve">
                                      <p:cBhvr>
                                        <p:cTn id="19" dur="500"/>
                                        <p:tgtEl>
                                          <p:spTgt spid="133127"/>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33128"/>
                                        </p:tgtEl>
                                        <p:attrNameLst>
                                          <p:attrName>style.visibility</p:attrName>
                                        </p:attrNameLst>
                                      </p:cBhvr>
                                      <p:to>
                                        <p:strVal val="visible"/>
                                      </p:to>
                                    </p:set>
                                    <p:animEffect transition="in" filter="dissolve">
                                      <p:cBhvr>
                                        <p:cTn id="24" dur="500"/>
                                        <p:tgtEl>
                                          <p:spTgt spid="13312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33129"/>
                                        </p:tgtEl>
                                        <p:attrNameLst>
                                          <p:attrName>style.visibility</p:attrName>
                                        </p:attrNameLst>
                                      </p:cBhvr>
                                      <p:to>
                                        <p:strVal val="visible"/>
                                      </p:to>
                                    </p:set>
                                    <p:animEffect transition="in" filter="dissolve">
                                      <p:cBhvr>
                                        <p:cTn id="29" dur="500"/>
                                        <p:tgtEl>
                                          <p:spTgt spid="13312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3130"/>
                                        </p:tgtEl>
                                        <p:attrNameLst>
                                          <p:attrName>style.visibility</p:attrName>
                                        </p:attrNameLst>
                                      </p:cBhvr>
                                      <p:to>
                                        <p:strVal val="visible"/>
                                      </p:to>
                                    </p:set>
                                    <p:animEffect transition="in" filter="dissolve">
                                      <p:cBhvr>
                                        <p:cTn id="34" dur="500"/>
                                        <p:tgtEl>
                                          <p:spTgt spid="133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5" grpId="0"/>
      <p:bldP spid="133126" grpId="0"/>
      <p:bldP spid="133127" grpId="0"/>
      <p:bldP spid="133128" grpId="0"/>
      <p:bldP spid="133129" grpId="0"/>
      <p:bldP spid="1331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AFA1DB7-C63A-4BA7-9628-374B3622A61B}"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722" name="Rectangle 2"/>
          <p:cNvSpPr>
            <a:spLocks noGrp="1" noChangeArrowheads="1"/>
          </p:cNvSpPr>
          <p:nvPr>
            <p:ph type="title"/>
          </p:nvPr>
        </p:nvSpPr>
        <p:spPr>
          <a:xfrm>
            <a:off x="755650" y="1341438"/>
            <a:ext cx="7848600" cy="1800225"/>
          </a:xfrm>
        </p:spPr>
        <p:txBody>
          <a:bodyPr vert="horz" wrap="square" lIns="91440" tIns="45720" rIns="91440" bIns="45720" numCol="1" anchor="b" anchorCtr="0" compatLnSpc="1"/>
          <a:lstStyle/>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2400" b="0" i="0" u="none" strike="noStrike" kern="120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一个确定的有穷自动机（</a:t>
            </a:r>
            <a:r>
              <a:rPr kumimoji="0" lang="en-US" altLang="zh-CN"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DFA</a:t>
            </a:r>
            <a:r>
              <a:rPr kumimoji="0" lang="zh-CN" altLang="en-US"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 是不确定有穷自动机的特例，其中：</a:t>
            </a:r>
            <a:br>
              <a:rPr kumimoji="0" lang="zh-CN" altLang="en-US"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br>
            <a:r>
              <a:rPr kumimoji="0" lang="zh-CN" altLang="en-US"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 </a:t>
            </a:r>
            <a:r>
              <a:rPr kumimoji="0" lang="en-US" altLang="zh-CN"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1. </a:t>
            </a:r>
            <a:r>
              <a:rPr kumimoji="0" lang="zh-CN" altLang="en-US"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没有一个状态具有</a:t>
            </a:r>
            <a:r>
              <a:rPr kumimoji="0" lang="en-US" altLang="zh-CN"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ε</a:t>
            </a:r>
            <a:r>
              <a:rPr kumimoji="0" lang="zh-CN" altLang="en-US"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转换，即在输入</a:t>
            </a:r>
            <a:r>
              <a:rPr kumimoji="0" lang="en-US" altLang="zh-CN"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ε</a:t>
            </a:r>
            <a:r>
              <a:rPr kumimoji="0" lang="zh-CN" altLang="en-US" sz="2400" b="0" i="0" u="none" strike="noStrike" kern="1200" cap="none" spc="0" normalizeH="0" baseline="0" noProof="0" smtClean="0">
                <a:ln>
                  <a:noFill/>
                </a:ln>
                <a:solidFill>
                  <a:srgbClr val="000000"/>
                </a:solidFill>
                <a:effectLst>
                  <a:outerShdw blurRad="38100" dist="38100" dir="2700000" algn="tl">
                    <a:srgbClr val="C0C0C0"/>
                  </a:outerShdw>
                </a:effectLst>
                <a:uLnTx/>
                <a:uFillTx/>
                <a:latin typeface="Times New Roman" panose="02020603050405020304" pitchFamily="18" charset="0"/>
                <a:ea typeface="+mj-ea"/>
                <a:cs typeface="Times New Roman" panose="02020603050405020304" pitchFamily="18" charset="0"/>
              </a:rPr>
              <a:t>上的转换</a:t>
            </a:r>
            <a:r>
              <a:rPr kumimoji="0" lang="zh-CN" altLang="en-US" sz="4400" b="0" i="0" u="none" strike="noStrike" kern="120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endParaRPr kumimoji="0" lang="zh-CN" altLang="en-US" sz="4400" b="0" i="0" u="none" strike="noStrike" kern="120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6563" name="Rectangle 3"/>
          <p:cNvSpPr>
            <a:spLocks noGrp="1"/>
          </p:cNvSpPr>
          <p:nvPr>
            <p:ph idx="1"/>
          </p:nvPr>
        </p:nvSpPr>
        <p:spPr>
          <a:xfrm>
            <a:off x="468313" y="620713"/>
            <a:ext cx="8229600" cy="676275"/>
          </a:xfrm>
        </p:spPr>
        <p:txBody>
          <a:bodyPr vert="horz" wrap="square" lIns="91440" tIns="45720" rIns="91440" bIns="45720" anchor="t" anchorCtr="0"/>
          <a:p>
            <a:pPr marL="609600" indent="-609600" eaLnBrk="1" hangingPunct="1">
              <a:buNone/>
            </a:pPr>
            <a:r>
              <a:rPr lang="en-US" altLang="zh-CN" sz="1600" dirty="0">
                <a:solidFill>
                  <a:srgbClr val="FF0000"/>
                </a:solidFill>
              </a:rPr>
              <a:t>■</a:t>
            </a:r>
            <a:r>
              <a:rPr lang="en-US" altLang="zh-CN" sz="2400" b="1" dirty="0">
                <a:solidFill>
                  <a:srgbClr val="800080"/>
                </a:solidFill>
                <a:latin typeface="Times New Roman" panose="02020603050405020304" pitchFamily="18" charset="0"/>
              </a:rPr>
              <a:t>   </a:t>
            </a:r>
            <a:r>
              <a:rPr lang="en-US" altLang="zh-CN" sz="2800" b="1" dirty="0">
                <a:latin typeface="宋体" panose="02010600030101010101" pitchFamily="2" charset="-122"/>
              </a:rPr>
              <a:t>3.5.4 </a:t>
            </a:r>
            <a:r>
              <a:rPr lang="zh-CN" altLang="en-US" sz="2800" b="1" dirty="0">
                <a:latin typeface="宋体" panose="02010600030101010101" pitchFamily="2" charset="-122"/>
              </a:rPr>
              <a:t>确定的有穷自动机（</a:t>
            </a:r>
            <a:r>
              <a:rPr lang="en-US" altLang="zh-CN" sz="2800" b="1" dirty="0">
                <a:latin typeface="宋体" panose="02010600030101010101" pitchFamily="2" charset="-122"/>
              </a:rPr>
              <a:t>DFA</a:t>
            </a:r>
            <a:r>
              <a:rPr lang="zh-CN" altLang="en-US" sz="2800" b="1" dirty="0">
                <a:latin typeface="宋体" panose="02010600030101010101" pitchFamily="2" charset="-122"/>
              </a:rPr>
              <a:t>）</a:t>
            </a:r>
            <a:endParaRPr lang="zh-CN" altLang="en-US" sz="2800" b="1" dirty="0">
              <a:latin typeface="宋体" panose="02010600030101010101" pitchFamily="2" charset="-122"/>
              <a:ea typeface="Times New Roman" panose="02020603050405020304" pitchFamily="18" charset="0"/>
            </a:endParaRPr>
          </a:p>
        </p:txBody>
      </p:sp>
      <p:sp>
        <p:nvSpPr>
          <p:cNvPr id="66564" name="Rectangle 5"/>
          <p:cNvSpPr/>
          <p:nvPr/>
        </p:nvSpPr>
        <p:spPr>
          <a:xfrm>
            <a:off x="539750" y="3213100"/>
            <a:ext cx="8064500" cy="822325"/>
          </a:xfrm>
          <a:prstGeom prst="rect">
            <a:avLst/>
          </a:prstGeom>
          <a:noFill/>
          <a:ln w="9525">
            <a:noFill/>
          </a:ln>
        </p:spPr>
        <p:txBody>
          <a:bodyPr anchor="t" anchorCtr="0">
            <a:spAutoFit/>
          </a:bodyPr>
          <a:p>
            <a:r>
              <a:rPr lang="en-US" altLang="en-US" dirty="0">
                <a:solidFill>
                  <a:schemeClr val="accent2"/>
                </a:solidFill>
                <a:latin typeface="Arial" panose="020B0604020202020204" pitchFamily="34" charset="0"/>
                <a:ea typeface="宋体" panose="02010600030101010101" pitchFamily="2" charset="-122"/>
              </a:rPr>
              <a:t>●</a:t>
            </a:r>
            <a:r>
              <a:rPr lang="en-US" altLang="zh-CN" b="0" dirty="0">
                <a:solidFill>
                  <a:schemeClr val="tx2"/>
                </a:solidFill>
                <a:latin typeface="Arial" panose="020B0604020202020204" pitchFamily="34" charset="0"/>
                <a:ea typeface="宋体" panose="02010600030101010101" pitchFamily="2" charset="-122"/>
              </a:rPr>
              <a:t> </a:t>
            </a:r>
            <a:r>
              <a:rPr lang="en-US" altLang="zh-CN" sz="2400" b="0" dirty="0">
                <a:solidFill>
                  <a:srgbClr val="000000"/>
                </a:solidFill>
                <a:latin typeface="Times New Roman" panose="02020603050405020304" pitchFamily="18" charset="0"/>
                <a:ea typeface="宋体" panose="02010600030101010101" pitchFamily="2" charset="-122"/>
              </a:rPr>
              <a:t>2. </a:t>
            </a:r>
            <a:r>
              <a:rPr lang="zh-CN" altLang="en-US" sz="2400" b="0" dirty="0">
                <a:solidFill>
                  <a:srgbClr val="000000"/>
                </a:solidFill>
                <a:latin typeface="Times New Roman" panose="02020603050405020304" pitchFamily="18" charset="0"/>
                <a:ea typeface="宋体" panose="02010600030101010101" pitchFamily="2" charset="-122"/>
              </a:rPr>
              <a:t>对每个状态 </a:t>
            </a:r>
            <a:r>
              <a:rPr lang="en-US" altLang="zh-CN" sz="2400" b="0" dirty="0">
                <a:solidFill>
                  <a:srgbClr val="000000"/>
                </a:solidFill>
                <a:latin typeface="Times New Roman" panose="02020603050405020304" pitchFamily="18" charset="0"/>
                <a:ea typeface="宋体" panose="02010600030101010101" pitchFamily="2" charset="-122"/>
              </a:rPr>
              <a:t>s </a:t>
            </a:r>
            <a:r>
              <a:rPr lang="zh-CN" altLang="en-US" sz="2400" b="0" dirty="0">
                <a:solidFill>
                  <a:srgbClr val="000000"/>
                </a:solidFill>
                <a:latin typeface="Times New Roman" panose="02020603050405020304" pitchFamily="18" charset="0"/>
                <a:ea typeface="宋体" panose="02010600030101010101" pitchFamily="2" charset="-122"/>
              </a:rPr>
              <a:t>和输入符号 </a:t>
            </a:r>
            <a:r>
              <a:rPr lang="en-US" altLang="zh-CN" sz="2400" b="0" dirty="0">
                <a:solidFill>
                  <a:srgbClr val="000000"/>
                </a:solidFill>
                <a:latin typeface="Times New Roman" panose="02020603050405020304" pitchFamily="18" charset="0"/>
                <a:ea typeface="宋体" panose="02010600030101010101" pitchFamily="2" charset="-122"/>
              </a:rPr>
              <a:t>a, </a:t>
            </a:r>
            <a:r>
              <a:rPr lang="zh-CN" altLang="en-US" sz="2400" b="0" dirty="0">
                <a:solidFill>
                  <a:srgbClr val="000000"/>
                </a:solidFill>
                <a:latin typeface="Times New Roman" panose="02020603050405020304" pitchFamily="18" charset="0"/>
                <a:ea typeface="宋体" panose="02010600030101010101" pitchFamily="2" charset="-122"/>
              </a:rPr>
              <a:t>最多只有一条标记为</a:t>
            </a:r>
            <a:r>
              <a:rPr lang="en-US" altLang="zh-CN" sz="2400" b="0" dirty="0">
                <a:solidFill>
                  <a:srgbClr val="000000"/>
                </a:solidFill>
                <a:latin typeface="Times New Roman" panose="02020603050405020304" pitchFamily="18" charset="0"/>
                <a:ea typeface="宋体" panose="02010600030101010101" pitchFamily="2" charset="-122"/>
              </a:rPr>
              <a:t>a</a:t>
            </a:r>
            <a:r>
              <a:rPr lang="zh-CN" altLang="en-US" sz="2400" b="0" dirty="0">
                <a:solidFill>
                  <a:srgbClr val="000000"/>
                </a:solidFill>
                <a:latin typeface="Times New Roman" panose="02020603050405020304" pitchFamily="18" charset="0"/>
                <a:ea typeface="宋体" panose="02010600030101010101" pitchFamily="2" charset="-122"/>
              </a:rPr>
              <a:t>的边</a:t>
            </a:r>
            <a:endParaRPr lang="zh-CN" altLang="en-US" sz="2400" b="0" dirty="0">
              <a:solidFill>
                <a:srgbClr val="000000"/>
              </a:solidFill>
              <a:latin typeface="Times New Roman" panose="02020603050405020304" pitchFamily="18" charset="0"/>
              <a:ea typeface="宋体" panose="02010600030101010101" pitchFamily="2" charset="-122"/>
            </a:endParaRPr>
          </a:p>
          <a:p>
            <a:r>
              <a:rPr lang="zh-CN" altLang="en-US" sz="2400" b="0" dirty="0">
                <a:solidFill>
                  <a:srgbClr val="000000"/>
                </a:solidFill>
                <a:latin typeface="Times New Roman" panose="02020603050405020304" pitchFamily="18" charset="0"/>
                <a:ea typeface="宋体" panose="02010600030101010101" pitchFamily="2" charset="-122"/>
              </a:rPr>
              <a:t>        离开 </a:t>
            </a:r>
            <a:r>
              <a:rPr lang="en-US" altLang="zh-CN" sz="2400" b="0" dirty="0">
                <a:solidFill>
                  <a:srgbClr val="000000"/>
                </a:solidFill>
                <a:latin typeface="Times New Roman" panose="02020603050405020304" pitchFamily="18" charset="0"/>
                <a:ea typeface="宋体" panose="02010600030101010101" pitchFamily="2" charset="-122"/>
              </a:rPr>
              <a:t>s.</a:t>
            </a:r>
            <a:endParaRPr lang="en-US" altLang="zh-CN" sz="2400" b="0" dirty="0">
              <a:solidFill>
                <a:srgbClr val="000000"/>
              </a:solidFill>
              <a:latin typeface="Times New Roman" panose="02020603050405020304" pitchFamily="18" charset="0"/>
              <a:ea typeface="宋体" panose="02010600030101010101" pitchFamily="2" charset="-122"/>
            </a:endParaRPr>
          </a:p>
        </p:txBody>
      </p:sp>
      <p:sp>
        <p:nvSpPr>
          <p:cNvPr id="30726" name="Rectangle 6"/>
          <p:cNvSpPr>
            <a:spLocks noChangeArrowheads="1"/>
          </p:cNvSpPr>
          <p:nvPr/>
        </p:nvSpPr>
        <p:spPr bwMode="auto">
          <a:xfrm>
            <a:off x="684213" y="4149725"/>
            <a:ext cx="7848600"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lnSpc>
                <a:spcPct val="90000"/>
              </a:lnSpc>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1pPr>
            <a:lvl2pPr algn="ctr">
              <a:lnSpc>
                <a:spcPct val="90000"/>
              </a:lnSpc>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a:lnSpc>
                <a:spcPct val="90000"/>
              </a:lnSpc>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a:lnSpc>
                <a:spcPct val="90000"/>
              </a:lnSpc>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a:lnSpc>
                <a:spcPct val="90000"/>
              </a:lnSpc>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NFA</a:t>
            </a:r>
            <a:r>
              <a:rPr kumimoji="0" lang="zh-CN" altLang="en-US"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抽象的表示了用来识别某个语言中的串的算法，而相应的</a:t>
            </a:r>
            <a:r>
              <a:rPr kumimoji="0" lang="en-US" altLang="zh-CN"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DFA</a:t>
            </a:r>
            <a:r>
              <a:rPr kumimoji="0" lang="zh-CN" altLang="en-US"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则是一个简单具体的识别串的算法。在构造词法分析器的时候，真正实现或模拟的是</a:t>
            </a:r>
            <a:r>
              <a:rPr kumimoji="0" lang="en-US" altLang="zh-CN"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DFA</a:t>
            </a:r>
            <a:r>
              <a:rPr kumimoji="0" lang="zh-CN" altLang="en-US"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幸运的是，每个正规表达式和每个</a:t>
            </a:r>
            <a:r>
              <a:rPr kumimoji="0" lang="en-US" altLang="zh-CN"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NFA</a:t>
            </a:r>
            <a:r>
              <a:rPr kumimoji="0" lang="zh-CN" altLang="en-US"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都可以被转变为一个接受同样语言的</a:t>
            </a:r>
            <a:r>
              <a:rPr kumimoji="0" lang="en-US" altLang="zh-CN"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DFA</a:t>
            </a:r>
            <a:r>
              <a:rPr kumimoji="0" lang="zh-CN" altLang="en-US"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a:t>
            </a:r>
            <a:endParaRPr kumimoji="0" lang="zh-CN" altLang="en-US" sz="2400" b="0"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spd="med">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BFAA6BC-83AF-4CE0-B7E4-921FDFB82DF8}"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171" name="Text Box 4"/>
          <p:cNvSpPr txBox="1"/>
          <p:nvPr/>
        </p:nvSpPr>
        <p:spPr>
          <a:xfrm>
            <a:off x="446088" y="620713"/>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4</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7" name="文本框 6"/>
          <p:cNvSpPr txBox="1"/>
          <p:nvPr/>
        </p:nvSpPr>
        <p:spPr>
          <a:xfrm>
            <a:off x="877888" y="1916113"/>
            <a:ext cx="7942263" cy="3416300"/>
          </a:xfrm>
          <a:prstGeom prst="rect">
            <a:avLst/>
          </a:prstGeom>
          <a:noFill/>
        </p:spPr>
        <p:txBody>
          <a:bodyPr>
            <a:spAutoFit/>
          </a:bodyPr>
          <a:lstStyle/>
          <a:p>
            <a:pPr marL="457200" marR="0" indent="-457200" defTabSz="914400" eaLnBrk="1" hangingPunct="1">
              <a:buClrTx/>
              <a:buSzTx/>
              <a:buFontTx/>
              <a:buAutoNum type="arabicPeriod"/>
              <a:defRPr/>
            </a:pPr>
            <a:r>
              <a:rPr kumimoji="0" lang="zh-CN" altLang="en-US" kern="1200" cap="none" spc="0" normalizeH="0" baseline="0" noProof="0" dirty="0">
                <a:latin typeface="Times New Roman" panose="02020603050405020304" pitchFamily="18" charset="0"/>
                <a:ea typeface="宋体" panose="02010600030101010101" pitchFamily="2" charset="-122"/>
                <a:cs typeface="+mn-cs"/>
              </a:rPr>
              <a:t>上下文无关文法的基本概念，能分辨出各个组成部分</a:t>
            </a: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1" hangingPunct="1">
              <a:buClrTx/>
              <a:buSzTx/>
              <a:buFontTx/>
              <a:buAutoNum type="arabicPeriod"/>
              <a:defRPr/>
            </a:pPr>
            <a:r>
              <a:rPr kumimoji="0" lang="zh-CN" altLang="en-US" kern="1200" cap="none" spc="0" normalizeH="0" baseline="0" noProof="0" dirty="0" smtClean="0">
                <a:latin typeface="Times New Roman" panose="02020603050405020304" pitchFamily="18" charset="0"/>
                <a:ea typeface="宋体" panose="02010600030101010101" pitchFamily="2" charset="-122"/>
                <a:cs typeface="+mn-cs"/>
              </a:rPr>
              <a:t>推</a:t>
            </a:r>
            <a:r>
              <a:rPr kumimoji="0" lang="zh-CN" altLang="en-US" kern="1200" cap="none" spc="0" normalizeH="0" baseline="0" noProof="0" dirty="0">
                <a:latin typeface="Times New Roman" panose="02020603050405020304" pitchFamily="18" charset="0"/>
                <a:ea typeface="宋体" panose="02010600030101010101" pitchFamily="2" charset="-122"/>
                <a:cs typeface="+mn-cs"/>
              </a:rPr>
              <a:t>导，最左推导，最右推导，句型，句</a:t>
            </a:r>
            <a:r>
              <a:rPr kumimoji="0" lang="zh-CN" altLang="en-US" kern="1200" cap="none" spc="0" normalizeH="0" baseline="0" noProof="0" dirty="0" smtClean="0">
                <a:latin typeface="Times New Roman" panose="02020603050405020304" pitchFamily="18" charset="0"/>
                <a:ea typeface="宋体" panose="02010600030101010101" pitchFamily="2" charset="-122"/>
                <a:cs typeface="+mn-cs"/>
              </a:rPr>
              <a:t>柄</a:t>
            </a:r>
            <a:endParaRPr kumimoji="0" lang="en-US" altLang="zh-CN" kern="1200" cap="none" spc="0" normalizeH="0" baseline="0" noProof="0" dirty="0" smtClean="0">
              <a:latin typeface="Times New Roman" panose="02020603050405020304" pitchFamily="18" charset="0"/>
              <a:ea typeface="宋体" panose="02010600030101010101" pitchFamily="2" charset="-122"/>
              <a:cs typeface="+mn-cs"/>
            </a:endParaRPr>
          </a:p>
          <a:p>
            <a:pPr marL="457200" marR="0" indent="-457200" defTabSz="914400" eaLnBrk="1" hangingPunct="1">
              <a:buClrTx/>
              <a:buSzTx/>
              <a:buFontTx/>
              <a:buAutoNum type="arabicPeriod"/>
              <a:defRPr/>
            </a:pPr>
            <a:r>
              <a:rPr kumimoji="0" lang="zh-CN" altLang="en-US" kern="1200" cap="none" spc="0" normalizeH="0" baseline="0" noProof="0" dirty="0" smtClean="0">
                <a:latin typeface="Times New Roman" panose="02020603050405020304" pitchFamily="18" charset="0"/>
                <a:ea typeface="宋体" panose="02010600030101010101" pitchFamily="2" charset="-122"/>
                <a:cs typeface="+mn-cs"/>
              </a:rPr>
              <a:t>求</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First</a:t>
            </a:r>
            <a:r>
              <a:rPr kumimoji="0" lang="zh-CN" altLang="en-US" kern="1200" cap="none" spc="0" normalizeH="0" baseline="0" noProof="0" dirty="0">
                <a:latin typeface="Times New Roman" panose="02020603050405020304" pitchFamily="18" charset="0"/>
                <a:ea typeface="宋体" panose="02010600030101010101" pitchFamily="2" charset="-122"/>
                <a:cs typeface="+mn-cs"/>
              </a:rPr>
              <a:t>集和</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Follow</a:t>
            </a:r>
            <a:r>
              <a:rPr kumimoji="0" lang="zh-CN" altLang="en-US" kern="1200" cap="none" spc="0" normalizeH="0" baseline="0" noProof="0" dirty="0">
                <a:latin typeface="Times New Roman" panose="02020603050405020304" pitchFamily="18" charset="0"/>
                <a:ea typeface="宋体" panose="02010600030101010101" pitchFamily="2" charset="-122"/>
                <a:cs typeface="+mn-cs"/>
              </a:rPr>
              <a:t>集</a:t>
            </a:r>
            <a:endParaRPr kumimoji="0" lang="en-US" altLang="zh-CN"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1" hangingPunct="1">
              <a:spcBef>
                <a:spcPct val="50000"/>
              </a:spcBef>
              <a:buClrTx/>
              <a:buSzTx/>
              <a:buFontTx/>
              <a:buAutoNum type="arabicPeriod" startAt="2"/>
              <a:defRPr/>
            </a:pPr>
            <a:endParaRPr kumimoji="0" lang="en-US" altLang="zh-CN"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kern="1200" cap="none" spc="0" normalizeH="0" baseline="0" noProof="0" dirty="0">
                <a:latin typeface="Times New Roman" panose="02020603050405020304" pitchFamily="18" charset="0"/>
                <a:ea typeface="宋体" panose="02010600030101010101" pitchFamily="2" charset="-122"/>
                <a:cs typeface="+mn-cs"/>
              </a:rPr>
              <a:t>重要算法：</a:t>
            </a: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        </a:t>
            </a: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1. </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非递归的预测分析算法以及预测分析表的构造</a:t>
            </a:r>
            <a:endPar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        2. LR</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语法分析算法以及</a:t>
            </a:r>
            <a:r>
              <a:rPr kumimoji="0" lang="en-US" altLang="zh-CN" kern="1200" cap="none" spc="0" normalizeH="0" baseline="0" noProof="0" dirty="0">
                <a:solidFill>
                  <a:srgbClr val="000000"/>
                </a:solidFill>
                <a:latin typeface="Times New Roman" panose="02020603050405020304" pitchFamily="18" charset="0"/>
                <a:ea typeface="宋体" panose="02010600030101010101" pitchFamily="2" charset="-122"/>
                <a:cs typeface="+mn-cs"/>
              </a:rPr>
              <a:t>SLR</a:t>
            </a: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分析表的构造</a:t>
            </a: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5"/>
          <p:cNvSpPr txBox="1">
            <a:spLocks noGrp="1"/>
          </p:cNvSpPr>
          <p:nvPr>
            <p:ph type="sldNum" sz="quarter" idx="12"/>
          </p:nvPr>
        </p:nvSpPr>
        <p:spPr/>
        <p:txBody>
          <a:bodyPr/>
          <a:p>
            <a:pPr marL="0" indent="0" algn="r" eaLnBrk="1" hangingPunct="1">
              <a:spcBef>
                <a:spcPct val="0"/>
              </a:spcBef>
              <a:buNone/>
            </a:pPr>
            <a:fld id="{9A0DB2DC-4C9A-4742-B13C-FB6460FD3503}" type="slidenum">
              <a:rPr lang="en-US" altLang="zh-CN" sz="1400" dirty="0"/>
            </a:fld>
            <a:endParaRPr lang="en-US" altLang="zh-CN" sz="1400" dirty="0"/>
          </a:p>
        </p:txBody>
      </p:sp>
      <p:sp>
        <p:nvSpPr>
          <p:cNvPr id="11267" name="Text Box 5"/>
          <p:cNvSpPr txBox="1"/>
          <p:nvPr/>
        </p:nvSpPr>
        <p:spPr>
          <a:xfrm>
            <a:off x="563563" y="985838"/>
            <a:ext cx="705643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dirty="0">
                <a:solidFill>
                  <a:srgbClr val="000000"/>
                </a:solidFill>
                <a:latin typeface="Times New Roman" panose="02020603050405020304" pitchFamily="18" charset="0"/>
              </a:rPr>
              <a:t>上下文无关文法包含如下四个部分：</a:t>
            </a:r>
            <a:endParaRPr lang="zh-CN" altLang="en-US" sz="2400" dirty="0">
              <a:solidFill>
                <a:srgbClr val="000000"/>
              </a:solidFill>
              <a:latin typeface="Times New Roman" panose="02020603050405020304" pitchFamily="18" charset="0"/>
            </a:endParaRPr>
          </a:p>
        </p:txBody>
      </p:sp>
      <p:sp>
        <p:nvSpPr>
          <p:cNvPr id="7" name="Text Box 7"/>
          <p:cNvSpPr txBox="1"/>
          <p:nvPr/>
        </p:nvSpPr>
        <p:spPr>
          <a:xfrm>
            <a:off x="1016000" y="1489075"/>
            <a:ext cx="72723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solidFill>
                  <a:srgbClr val="000000"/>
                </a:solidFill>
                <a:latin typeface="Times New Roman" panose="02020603050405020304" pitchFamily="18" charset="0"/>
              </a:rPr>
              <a:t>1. </a:t>
            </a:r>
            <a:r>
              <a:rPr lang="zh-CN" altLang="en-US" sz="2400" dirty="0">
                <a:solidFill>
                  <a:srgbClr val="000000"/>
                </a:solidFill>
                <a:latin typeface="Times New Roman" panose="02020603050405020304" pitchFamily="18" charset="0"/>
              </a:rPr>
              <a:t>一个终结符集合。</a:t>
            </a:r>
            <a:endParaRPr lang="zh-CN" altLang="en-US" sz="2400" dirty="0">
              <a:solidFill>
                <a:srgbClr val="000000"/>
              </a:solidFill>
              <a:latin typeface="Times New Roman" panose="02020603050405020304" pitchFamily="18" charset="0"/>
            </a:endParaRPr>
          </a:p>
        </p:txBody>
      </p:sp>
      <p:sp>
        <p:nvSpPr>
          <p:cNvPr id="8" name="Text Box 8"/>
          <p:cNvSpPr txBox="1"/>
          <p:nvPr/>
        </p:nvSpPr>
        <p:spPr>
          <a:xfrm>
            <a:off x="1016000" y="2065338"/>
            <a:ext cx="67691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solidFill>
                  <a:srgbClr val="000000"/>
                </a:solidFill>
                <a:latin typeface="Times New Roman" panose="02020603050405020304" pitchFamily="18" charset="0"/>
              </a:rPr>
              <a:t>2. </a:t>
            </a:r>
            <a:r>
              <a:rPr lang="zh-CN" altLang="en-US" sz="2400" dirty="0">
                <a:solidFill>
                  <a:srgbClr val="000000"/>
                </a:solidFill>
                <a:latin typeface="Times New Roman" panose="02020603050405020304" pitchFamily="18" charset="0"/>
              </a:rPr>
              <a:t>一个非终结符集合。</a:t>
            </a:r>
            <a:endParaRPr lang="zh-CN" altLang="en-US" sz="2400" dirty="0">
              <a:solidFill>
                <a:srgbClr val="000000"/>
              </a:solidFill>
              <a:latin typeface="Times New Roman" panose="02020603050405020304" pitchFamily="18" charset="0"/>
            </a:endParaRPr>
          </a:p>
        </p:txBody>
      </p:sp>
      <p:sp>
        <p:nvSpPr>
          <p:cNvPr id="9" name="Text Box 9"/>
          <p:cNvSpPr txBox="1"/>
          <p:nvPr/>
        </p:nvSpPr>
        <p:spPr>
          <a:xfrm>
            <a:off x="981075" y="2600325"/>
            <a:ext cx="7704138"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solidFill>
                  <a:srgbClr val="000000"/>
                </a:solidFill>
                <a:latin typeface="Times New Roman" panose="02020603050405020304" pitchFamily="18" charset="0"/>
              </a:rPr>
              <a:t>3. </a:t>
            </a:r>
            <a:r>
              <a:rPr lang="zh-CN" altLang="en-US" sz="2400" dirty="0">
                <a:solidFill>
                  <a:srgbClr val="000000"/>
                </a:solidFill>
                <a:latin typeface="Times New Roman" panose="02020603050405020304" pitchFamily="18" charset="0"/>
              </a:rPr>
              <a:t>一个产生式集合。每个产生式具有一个左部和一个</a:t>
            </a:r>
            <a:endParaRPr lang="zh-CN" altLang="en-US" sz="2400" dirty="0">
              <a:solidFill>
                <a:srgbClr val="000000"/>
              </a:solidFill>
              <a:latin typeface="Times New Roman" panose="02020603050405020304" pitchFamily="18" charset="0"/>
            </a:endParaRPr>
          </a:p>
          <a:p>
            <a:pPr marL="0" lvl="0" indent="0" eaLnBrk="1" hangingPunct="1">
              <a:spcBef>
                <a:spcPct val="50000"/>
              </a:spcBef>
              <a:buNone/>
            </a:pPr>
            <a:r>
              <a:rPr lang="zh-CN" altLang="en-US" sz="2400" dirty="0">
                <a:solidFill>
                  <a:srgbClr val="000000"/>
                </a:solidFill>
                <a:latin typeface="Times New Roman" panose="02020603050405020304" pitchFamily="18" charset="0"/>
              </a:rPr>
              <a:t>    右部，左部和右部由箭头连接，左部是一个非终结</a:t>
            </a:r>
            <a:endParaRPr lang="zh-CN" altLang="en-US" sz="2400" dirty="0">
              <a:solidFill>
                <a:srgbClr val="000000"/>
              </a:solidFill>
              <a:latin typeface="Times New Roman" panose="02020603050405020304" pitchFamily="18" charset="0"/>
            </a:endParaRPr>
          </a:p>
          <a:p>
            <a:pPr marL="0" lvl="0" indent="0" eaLnBrk="1" hangingPunct="1">
              <a:spcBef>
                <a:spcPct val="50000"/>
              </a:spcBef>
              <a:buNone/>
            </a:pPr>
            <a:r>
              <a:rPr lang="zh-CN" altLang="en-US" sz="2400" dirty="0">
                <a:solidFill>
                  <a:srgbClr val="000000"/>
                </a:solidFill>
                <a:latin typeface="Times New Roman" panose="02020603050405020304" pitchFamily="18" charset="0"/>
              </a:rPr>
              <a:t>    符，右部是终结符和（或）非终结符序列。</a:t>
            </a:r>
            <a:endParaRPr lang="zh-CN" altLang="en-US" sz="2400" dirty="0">
              <a:solidFill>
                <a:srgbClr val="000000"/>
              </a:solidFill>
              <a:latin typeface="Times New Roman" panose="02020603050405020304" pitchFamily="18" charset="0"/>
            </a:endParaRPr>
          </a:p>
        </p:txBody>
      </p:sp>
      <p:sp>
        <p:nvSpPr>
          <p:cNvPr id="10" name="Text Box 10"/>
          <p:cNvSpPr txBox="1"/>
          <p:nvPr/>
        </p:nvSpPr>
        <p:spPr>
          <a:xfrm>
            <a:off x="944563" y="4152900"/>
            <a:ext cx="77771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dirty="0">
                <a:solidFill>
                  <a:srgbClr val="000000"/>
                </a:solidFill>
                <a:latin typeface="Times New Roman" panose="02020603050405020304" pitchFamily="18" charset="0"/>
              </a:rPr>
              <a:t> </a:t>
            </a:r>
            <a:r>
              <a:rPr lang="en-US" altLang="zh-CN" sz="2400" dirty="0">
                <a:solidFill>
                  <a:srgbClr val="000000"/>
                </a:solidFill>
                <a:latin typeface="Times New Roman" panose="02020603050405020304" pitchFamily="18" charset="0"/>
              </a:rPr>
              <a:t>4. </a:t>
            </a:r>
            <a:r>
              <a:rPr lang="zh-CN" altLang="en-US" sz="2400" dirty="0">
                <a:solidFill>
                  <a:srgbClr val="000000"/>
                </a:solidFill>
                <a:latin typeface="Times New Roman" panose="02020603050405020304" pitchFamily="18" charset="0"/>
              </a:rPr>
              <a:t>一个开始符号。开始符号是一个指定的非终结符。</a:t>
            </a:r>
            <a:endParaRPr lang="zh-CN" altLang="en-US" sz="2400" dirty="0">
              <a:solidFill>
                <a:srgbClr val="000000"/>
              </a:solidFill>
              <a:latin typeface="Times New Roman" panose="02020603050405020304" pitchFamily="18" charset="0"/>
            </a:endParaRPr>
          </a:p>
        </p:txBody>
      </p:sp>
      <p:sp>
        <p:nvSpPr>
          <p:cNvPr id="11272" name="Text Box 12"/>
          <p:cNvSpPr txBox="1"/>
          <p:nvPr/>
        </p:nvSpPr>
        <p:spPr>
          <a:xfrm>
            <a:off x="611188" y="4784725"/>
            <a:ext cx="8075612" cy="1477963"/>
          </a:xfrm>
          <a:prstGeom prst="rect">
            <a:avLst/>
          </a:prstGeom>
          <a:noFill/>
          <a:ln w="9525">
            <a:noFill/>
          </a:ln>
        </p:spPr>
        <p:txBody>
          <a:bodyPr anchor="t" anchorCtr="1">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000" b="1" dirty="0">
                <a:solidFill>
                  <a:srgbClr val="FF0000"/>
                </a:solidFill>
                <a:latin typeface="Times New Roman" panose="02020603050405020304" pitchFamily="18" charset="0"/>
              </a:rPr>
              <a:t>约定：</a:t>
            </a:r>
            <a:r>
              <a:rPr lang="zh-CN" altLang="en-US" sz="2000" b="1" dirty="0">
                <a:solidFill>
                  <a:srgbClr val="993366"/>
                </a:solidFill>
                <a:latin typeface="Times New Roman" panose="02020603050405020304" pitchFamily="18" charset="0"/>
              </a:rPr>
              <a:t>定义语法时只需列出文法的产生式，把以开始符号为左部的产生式列在最前面。</a:t>
            </a:r>
            <a:endParaRPr lang="zh-CN" altLang="en-US" sz="2000" b="1" dirty="0">
              <a:solidFill>
                <a:srgbClr val="993366"/>
              </a:solidFill>
              <a:latin typeface="Times New Roman" panose="02020603050405020304" pitchFamily="18" charset="0"/>
            </a:endParaRPr>
          </a:p>
          <a:p>
            <a:pPr marL="0" lvl="0" indent="0" eaLnBrk="1" hangingPunct="1">
              <a:spcBef>
                <a:spcPct val="50000"/>
              </a:spcBef>
              <a:buNone/>
            </a:pPr>
            <a:r>
              <a:rPr lang="zh-CN" altLang="en-US" sz="2000" b="1" dirty="0">
                <a:latin typeface="Times New Roman" panose="02020603050405020304" pitchFamily="18" charset="0"/>
              </a:rPr>
              <a:t>以后的讨论中假设：</a:t>
            </a:r>
            <a:r>
              <a:rPr lang="zh-CN" altLang="en-US" sz="2000" dirty="0">
                <a:solidFill>
                  <a:srgbClr val="000000"/>
                </a:solidFill>
                <a:latin typeface="Times New Roman" panose="02020603050405020304" pitchFamily="18" charset="0"/>
              </a:rPr>
              <a:t>数字、</a:t>
            </a:r>
            <a:r>
              <a:rPr lang="en-US" altLang="zh-CN" sz="2000" dirty="0">
                <a:solidFill>
                  <a:srgbClr val="000000"/>
                </a:solidFill>
                <a:latin typeface="Times New Roman" panose="02020603050405020304" pitchFamily="18" charset="0"/>
              </a:rPr>
              <a:t>&lt;=</a:t>
            </a:r>
            <a:r>
              <a:rPr lang="zh-CN" altLang="en-US" sz="2000" dirty="0">
                <a:solidFill>
                  <a:srgbClr val="000000"/>
                </a:solidFill>
                <a:latin typeface="Times New Roman" panose="02020603050405020304" pitchFamily="18" charset="0"/>
              </a:rPr>
              <a:t>等符号、黑体字符串为终结符，斜体为非终结符。</a:t>
            </a:r>
            <a:endParaRPr lang="zh-CN" altLang="en-US" sz="2000" dirty="0">
              <a:solidFill>
                <a:srgbClr val="000000"/>
              </a:solidFill>
              <a:latin typeface="Times New Roman" panose="02020603050405020304" pitchFamily="18" charset="0"/>
            </a:endParaRPr>
          </a:p>
        </p:txBody>
      </p:sp>
      <p:sp>
        <p:nvSpPr>
          <p:cNvPr id="12" name="Rectangle 3"/>
          <p:cNvSpPr txBox="1">
            <a:spLocks noChangeArrowheads="1"/>
          </p:cNvSpPr>
          <p:nvPr/>
        </p:nvSpPr>
        <p:spPr bwMode="auto">
          <a:xfrm>
            <a:off x="179388" y="430213"/>
            <a:ext cx="8229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800" b="1" i="0" u="none" strike="noStrike" kern="0" cap="none" spc="0" normalizeH="0" baseline="0" noProof="0" dirty="0" smtClean="0">
                <a:ln>
                  <a:noFill/>
                </a:ln>
                <a:solidFill>
                  <a:srgbClr val="660033"/>
                </a:solidFill>
                <a:effectLst/>
                <a:uLnTx/>
                <a:uFillTx/>
                <a:latin typeface="宋体" panose="02010600030101010101" pitchFamily="2" charset="-122"/>
                <a:ea typeface="+mn-ea"/>
                <a:cs typeface="Times New Roman" panose="02020603050405020304" pitchFamily="18" charset="0"/>
              </a:rPr>
              <a:t>4.2.1 </a:t>
            </a:r>
            <a:r>
              <a:rPr kumimoji="0" lang="zh-CN" altLang="en-US" sz="2800" b="1" i="0" u="none" strike="noStrike" kern="0" cap="none" spc="0" normalizeH="0" baseline="0" noProof="0" dirty="0" smtClean="0">
                <a:ln>
                  <a:noFill/>
                </a:ln>
                <a:solidFill>
                  <a:srgbClr val="660033"/>
                </a:solidFill>
                <a:effectLst/>
                <a:highlight>
                  <a:srgbClr val="FFFF00"/>
                </a:highlight>
                <a:uLnTx/>
                <a:uFillTx/>
                <a:latin typeface="宋体" panose="02010600030101010101" pitchFamily="2" charset="-122"/>
                <a:ea typeface="+mn-ea"/>
                <a:cs typeface="Times New Roman" panose="02020603050405020304" pitchFamily="18" charset="0"/>
              </a:rPr>
              <a:t>上下文无关文法的正式定义</a:t>
            </a:r>
            <a:endParaRPr kumimoji="0" lang="zh-CN" altLang="en-US" sz="2800" b="1" i="0" u="none" strike="noStrike" kern="0" cap="none" spc="0" normalizeH="0" baseline="0" noProof="0" dirty="0" smtClean="0">
              <a:ln>
                <a:noFill/>
              </a:ln>
              <a:solidFill>
                <a:srgbClr val="660033"/>
              </a:solidFill>
              <a:effectLst/>
              <a:highlight>
                <a:srgbClr val="FFFF00"/>
              </a:highlight>
              <a:uLnTx/>
              <a:uFillTx/>
              <a:latin typeface="宋体" panose="02010600030101010101" pitchFamily="2" charset="-122"/>
              <a:ea typeface="+mn-ea"/>
              <a:cs typeface="Times New Roman" panose="02020603050405020304" pitchFamily="18" charset="0"/>
            </a:endParaRPr>
          </a:p>
        </p:txBody>
      </p:sp>
      <p:sp>
        <p:nvSpPr>
          <p:cNvPr id="13" name="AutoShape 5"/>
          <p:cNvSpPr>
            <a:spLocks noChangeArrowheads="1"/>
          </p:cNvSpPr>
          <p:nvPr/>
        </p:nvSpPr>
        <p:spPr bwMode="auto">
          <a:xfrm>
            <a:off x="6372225" y="168275"/>
            <a:ext cx="1584325" cy="792163"/>
          </a:xfrm>
          <a:prstGeom prst="wedgeRoundRectCallout">
            <a:avLst>
              <a:gd name="adj1" fmla="val -88116"/>
              <a:gd name="adj2" fmla="val 60480"/>
              <a:gd name="adj3" fmla="val 16667"/>
            </a:avLst>
          </a:prstGeom>
          <a:noFill/>
          <a:ln w="19050" algn="ctr">
            <a:solidFill>
              <a:srgbClr val="0066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重点！！</a:t>
            </a:r>
            <a:endPar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2" name="文本框 1"/>
          <p:cNvSpPr txBox="1"/>
          <p:nvPr/>
        </p:nvSpPr>
        <p:spPr>
          <a:xfrm>
            <a:off x="1153795" y="6237605"/>
            <a:ext cx="6802755" cy="460375"/>
          </a:xfrm>
          <a:prstGeom prst="rect">
            <a:avLst/>
          </a:prstGeom>
          <a:noFill/>
        </p:spPr>
        <p:txBody>
          <a:bodyPr wrap="square" rtlCol="0">
            <a:spAutoFit/>
          </a:bodyPr>
          <a:p>
            <a:r>
              <a:rPr lang="zh-CN" altLang="en-US" dirty="0">
                <a:solidFill>
                  <a:srgbClr val="000000"/>
                </a:solidFill>
                <a:highlight>
                  <a:srgbClr val="FFFF00"/>
                </a:highlight>
                <a:sym typeface="+mn-ea"/>
              </a:rPr>
              <a:t>上下文无关文法用来定义语言的语法</a:t>
            </a:r>
            <a:endParaRPr lang="zh-CN" altLang="en-US" dirty="0">
              <a:solidFill>
                <a:srgbClr val="000000"/>
              </a:solidFill>
              <a:highlight>
                <a:srgbClr val="FFFF00"/>
              </a:highlight>
              <a:sym typeface="+mn-ea"/>
            </a:endParaRPr>
          </a:p>
        </p:txBody>
      </p:sp>
    </p:spTree>
  </p:cSld>
  <p:clrMapOvr>
    <a:masterClrMapping/>
  </p:clrMapOvr>
  <p:transition spd="med">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43A6833-4317-4E9D-9AC5-CC41B0876E9C}"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4" name="Text Box 2"/>
          <p:cNvSpPr txBox="1"/>
          <p:nvPr/>
        </p:nvSpPr>
        <p:spPr>
          <a:xfrm>
            <a:off x="250825" y="620713"/>
            <a:ext cx="4752975" cy="457200"/>
          </a:xfrm>
          <a:prstGeom prst="rect">
            <a:avLst/>
          </a:prstGeom>
          <a:noFill/>
          <a:ln w="9525">
            <a:noFill/>
          </a:ln>
        </p:spPr>
        <p:txBody>
          <a:bodyPr anchor="t" anchorCtr="1">
            <a:spAutoFit/>
          </a:bodyPr>
          <a:p>
            <a:pPr>
              <a:spcBef>
                <a:spcPct val="50000"/>
              </a:spcBef>
            </a:pPr>
            <a:r>
              <a:rPr lang="zh-CN" altLang="en-US" sz="2400" dirty="0">
                <a:solidFill>
                  <a:srgbClr val="0000CC"/>
                </a:solidFill>
                <a:latin typeface="Times New Roman" panose="02020603050405020304" pitchFamily="18" charset="0"/>
                <a:ea typeface="宋体" panose="02010600030101010101" pitchFamily="2" charset="-122"/>
              </a:rPr>
              <a:t>例</a:t>
            </a:r>
            <a:r>
              <a:rPr lang="en-US" altLang="zh-CN" sz="2400" dirty="0">
                <a:solidFill>
                  <a:srgbClr val="0000CC"/>
                </a:solidFill>
                <a:latin typeface="Times New Roman" panose="02020603050405020304" pitchFamily="18" charset="0"/>
                <a:ea typeface="宋体" panose="02010600030101010101" pitchFamily="2" charset="-122"/>
              </a:rPr>
              <a:t>3.24</a:t>
            </a:r>
            <a:r>
              <a:rPr lang="en-US" altLang="zh-CN" sz="2400" b="0" dirty="0">
                <a:solidFill>
                  <a:srgbClr val="000000"/>
                </a:solidFill>
                <a:latin typeface="Times New Roman" panose="02020603050405020304" pitchFamily="18" charset="0"/>
                <a:ea typeface="宋体" panose="02010600030101010101" pitchFamily="2" charset="-122"/>
              </a:rPr>
              <a:t> </a:t>
            </a:r>
            <a:r>
              <a:rPr lang="zh-CN" altLang="en-US" sz="2400" b="0" dirty="0">
                <a:solidFill>
                  <a:srgbClr val="000000"/>
                </a:solidFill>
                <a:latin typeface="Times New Roman" panose="02020603050405020304" pitchFamily="18" charset="0"/>
                <a:ea typeface="宋体" panose="02010600030101010101" pitchFamily="2" charset="-122"/>
              </a:rPr>
              <a:t>最小化下列</a:t>
            </a:r>
            <a:r>
              <a:rPr lang="en-US" altLang="zh-CN" sz="2400" b="0" dirty="0">
                <a:solidFill>
                  <a:srgbClr val="000000"/>
                </a:solidFill>
                <a:latin typeface="Times New Roman" panose="02020603050405020304" pitchFamily="18" charset="0"/>
                <a:ea typeface="宋体" panose="02010600030101010101" pitchFamily="2" charset="-122"/>
              </a:rPr>
              <a:t>DFA</a:t>
            </a:r>
            <a:r>
              <a:rPr lang="zh-CN" altLang="en-US" sz="2400" b="0" dirty="0">
                <a:solidFill>
                  <a:srgbClr val="000000"/>
                </a:solidFill>
                <a:latin typeface="Times New Roman" panose="02020603050405020304" pitchFamily="18" charset="0"/>
                <a:ea typeface="宋体" panose="02010600030101010101" pitchFamily="2" charset="-122"/>
              </a:rPr>
              <a:t>。</a:t>
            </a:r>
            <a:endParaRPr lang="zh-CN" altLang="en-US" sz="2400" b="0" dirty="0">
              <a:solidFill>
                <a:srgbClr val="000000"/>
              </a:solidFill>
              <a:latin typeface="Times New Roman" panose="02020603050405020304" pitchFamily="18" charset="0"/>
              <a:ea typeface="宋体" panose="02010600030101010101" pitchFamily="2" charset="-122"/>
            </a:endParaRPr>
          </a:p>
        </p:txBody>
      </p:sp>
      <p:grpSp>
        <p:nvGrpSpPr>
          <p:cNvPr id="105475" name="Group 3"/>
          <p:cNvGrpSpPr/>
          <p:nvPr/>
        </p:nvGrpSpPr>
        <p:grpSpPr>
          <a:xfrm>
            <a:off x="2051050" y="1052513"/>
            <a:ext cx="4406900" cy="2990850"/>
            <a:chOff x="1292" y="663"/>
            <a:chExt cx="2776" cy="1884"/>
          </a:xfrm>
        </p:grpSpPr>
        <p:sp>
          <p:nvSpPr>
            <p:cNvPr id="105476" name="Line 4"/>
            <p:cNvSpPr/>
            <p:nvPr/>
          </p:nvSpPr>
          <p:spPr>
            <a:xfrm>
              <a:off x="1292" y="1970"/>
              <a:ext cx="303" cy="1"/>
            </a:xfrm>
            <a:prstGeom prst="line">
              <a:avLst/>
            </a:prstGeom>
            <a:ln w="28575" cap="flat" cmpd="sng">
              <a:solidFill>
                <a:srgbClr val="000000"/>
              </a:solidFill>
              <a:prstDash val="solid"/>
              <a:round/>
              <a:headEnd type="none" w="med" len="med"/>
              <a:tailEnd type="triangle" w="lg" len="med"/>
            </a:ln>
          </p:spPr>
        </p:sp>
        <p:sp>
          <p:nvSpPr>
            <p:cNvPr id="105477" name="AutoShape 5"/>
            <p:cNvSpPr/>
            <p:nvPr/>
          </p:nvSpPr>
          <p:spPr>
            <a:xfrm>
              <a:off x="3696" y="1752"/>
              <a:ext cx="372" cy="321"/>
            </a:xfrm>
            <a:custGeom>
              <a:avLst/>
              <a:gdLst>
                <a:gd name="txL" fmla="*/ 3019 w 21600"/>
                <a:gd name="txT" fmla="*/ 3095 h 21600"/>
                <a:gd name="txR" fmla="*/ 18406 w 21600"/>
                <a:gd name="txB" fmla="*/ 18302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194" y="10800"/>
                  </a:moveTo>
                  <a:cubicBezTo>
                    <a:pt x="3194" y="15001"/>
                    <a:pt x="6599" y="18406"/>
                    <a:pt x="10800" y="18406"/>
                  </a:cubicBezTo>
                  <a:cubicBezTo>
                    <a:pt x="15001" y="18406"/>
                    <a:pt x="18406" y="15001"/>
                    <a:pt x="18406" y="10800"/>
                  </a:cubicBezTo>
                  <a:cubicBezTo>
                    <a:pt x="18406" y="6599"/>
                    <a:pt x="15001" y="3194"/>
                    <a:pt x="10800" y="3194"/>
                  </a:cubicBezTo>
                  <a:cubicBezTo>
                    <a:pt x="6599" y="3194"/>
                    <a:pt x="3194" y="6599"/>
                    <a:pt x="3194" y="10800"/>
                  </a:cubicBezTo>
                  <a:close/>
                </a:path>
              </a:pathLst>
            </a:custGeom>
            <a:solidFill>
              <a:schemeClr val="bg1">
                <a:alpha val="0"/>
              </a:schemeClr>
            </a:solidFill>
            <a:ln w="28575" cap="flat" cmpd="sng">
              <a:solidFill>
                <a:srgbClr val="000000"/>
              </a:solidFill>
              <a:prstDash val="solid"/>
              <a:round/>
              <a:headEnd type="none" w="med" len="med"/>
              <a:tailEnd type="none" w="med" len="med"/>
            </a:ln>
          </p:spPr>
          <p:txBody>
            <a:bodyPr anchor="ctr" anchorCtr="0">
              <a:spAutoFit/>
            </a:bodyPr>
            <a:p>
              <a:pPr algn="ctr">
                <a:spcBef>
                  <a:spcPct val="50000"/>
                </a:spcBef>
              </a:pPr>
              <a:r>
                <a:rPr lang="en-US" altLang="zh-CN" dirty="0">
                  <a:solidFill>
                    <a:schemeClr val="tx2"/>
                  </a:solidFill>
                  <a:latin typeface="宋体" panose="02010600030101010101" pitchFamily="2" charset="-122"/>
                  <a:ea typeface="宋体" panose="02010600030101010101" pitchFamily="2" charset="-122"/>
                </a:rPr>
                <a:t>E</a:t>
              </a:r>
              <a:endParaRPr lang="en-US" altLang="zh-CN" dirty="0">
                <a:solidFill>
                  <a:schemeClr val="tx2"/>
                </a:solidFill>
                <a:latin typeface="宋体" panose="02010600030101010101" pitchFamily="2" charset="-122"/>
                <a:ea typeface="宋体" panose="02010600030101010101" pitchFamily="2" charset="-122"/>
              </a:endParaRPr>
            </a:p>
          </p:txBody>
        </p:sp>
        <p:sp>
          <p:nvSpPr>
            <p:cNvPr id="105478" name="AutoShape 6"/>
            <p:cNvSpPr/>
            <p:nvPr/>
          </p:nvSpPr>
          <p:spPr>
            <a:xfrm>
              <a:off x="2298" y="1012"/>
              <a:ext cx="369" cy="348"/>
            </a:xfrm>
            <a:prstGeom prst="flowChartConnector">
              <a:avLst/>
            </a:prstGeom>
            <a:solidFill>
              <a:schemeClr val="bg1">
                <a:alpha val="0"/>
              </a:schemeClr>
            </a:solidFill>
            <a:ln w="28575" cap="flat" cmpd="sng">
              <a:solidFill>
                <a:srgbClr val="000000"/>
              </a:solidFill>
              <a:prstDash val="solid"/>
              <a:round/>
              <a:headEnd type="none" w="med" len="med"/>
              <a:tailEnd type="none" w="med" len="med"/>
            </a:ln>
          </p:spPr>
          <p:txBody>
            <a:bodyPr anchor="ctr" anchorCtr="0">
              <a:spAutoFit/>
            </a:bodyPr>
            <a:p>
              <a:pPr algn="ctr">
                <a:spcBef>
                  <a:spcPct val="50000"/>
                </a:spcBef>
              </a:pPr>
              <a:r>
                <a:rPr lang="en-US" altLang="zh-CN" sz="2000" dirty="0">
                  <a:solidFill>
                    <a:schemeClr val="tx2"/>
                  </a:solidFill>
                  <a:latin typeface="宋体" panose="02010600030101010101" pitchFamily="2" charset="-122"/>
                  <a:ea typeface="宋体" panose="02010600030101010101" pitchFamily="2" charset="-122"/>
                </a:rPr>
                <a:t>C</a:t>
              </a:r>
              <a:endParaRPr lang="en-US" altLang="zh-CN" sz="2000" dirty="0">
                <a:solidFill>
                  <a:schemeClr val="tx2"/>
                </a:solidFill>
                <a:latin typeface="宋体" panose="02010600030101010101" pitchFamily="2" charset="-122"/>
                <a:ea typeface="宋体" panose="02010600030101010101" pitchFamily="2" charset="-122"/>
              </a:endParaRPr>
            </a:p>
          </p:txBody>
        </p:sp>
        <p:sp>
          <p:nvSpPr>
            <p:cNvPr id="105479" name="AutoShape 7"/>
            <p:cNvSpPr/>
            <p:nvPr/>
          </p:nvSpPr>
          <p:spPr>
            <a:xfrm>
              <a:off x="2994" y="1749"/>
              <a:ext cx="369" cy="348"/>
            </a:xfrm>
            <a:prstGeom prst="flowChartConnector">
              <a:avLst/>
            </a:prstGeom>
            <a:solidFill>
              <a:schemeClr val="bg1">
                <a:alpha val="0"/>
              </a:schemeClr>
            </a:solidFill>
            <a:ln w="28575" cap="flat" cmpd="sng">
              <a:solidFill>
                <a:srgbClr val="000000"/>
              </a:solidFill>
              <a:prstDash val="solid"/>
              <a:round/>
              <a:headEnd type="none" w="med" len="med"/>
              <a:tailEnd type="none" w="med" len="med"/>
            </a:ln>
          </p:spPr>
          <p:txBody>
            <a:bodyPr anchor="ctr" anchorCtr="0">
              <a:spAutoFit/>
            </a:bodyPr>
            <a:p>
              <a:pPr algn="ctr">
                <a:spcBef>
                  <a:spcPct val="50000"/>
                </a:spcBef>
              </a:pPr>
              <a:r>
                <a:rPr lang="en-US" altLang="zh-CN" sz="2000" dirty="0">
                  <a:solidFill>
                    <a:schemeClr val="tx2"/>
                  </a:solidFill>
                  <a:latin typeface="宋体" panose="02010600030101010101" pitchFamily="2" charset="-122"/>
                  <a:ea typeface="宋体" panose="02010600030101010101" pitchFamily="2" charset="-122"/>
                </a:rPr>
                <a:t>D</a:t>
              </a:r>
              <a:endParaRPr lang="en-US" altLang="zh-CN" sz="2000" dirty="0">
                <a:solidFill>
                  <a:schemeClr val="tx2"/>
                </a:solidFill>
                <a:latin typeface="宋体" panose="02010600030101010101" pitchFamily="2" charset="-122"/>
                <a:ea typeface="宋体" panose="02010600030101010101" pitchFamily="2" charset="-122"/>
              </a:endParaRPr>
            </a:p>
          </p:txBody>
        </p:sp>
        <p:sp>
          <p:nvSpPr>
            <p:cNvPr id="105480" name="Text Box 8"/>
            <p:cNvSpPr txBox="1"/>
            <p:nvPr/>
          </p:nvSpPr>
          <p:spPr>
            <a:xfrm>
              <a:off x="1973" y="1752"/>
              <a:ext cx="240"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a</a:t>
              </a:r>
              <a:endParaRPr lang="en-US" altLang="zh-CN" sz="2000">
                <a:solidFill>
                  <a:schemeClr val="tx2"/>
                </a:solidFill>
                <a:latin typeface="宋体" panose="02010600030101010101" pitchFamily="2" charset="-122"/>
                <a:ea typeface="宋体" panose="02010600030101010101" pitchFamily="2" charset="-122"/>
              </a:endParaRPr>
            </a:p>
          </p:txBody>
        </p:sp>
        <p:sp>
          <p:nvSpPr>
            <p:cNvPr id="105481" name="AutoShape 9"/>
            <p:cNvSpPr/>
            <p:nvPr/>
          </p:nvSpPr>
          <p:spPr>
            <a:xfrm>
              <a:off x="1579" y="1789"/>
              <a:ext cx="369" cy="348"/>
            </a:xfrm>
            <a:prstGeom prst="flowChartConnector">
              <a:avLst/>
            </a:prstGeom>
            <a:solidFill>
              <a:schemeClr val="bg1">
                <a:alpha val="0"/>
              </a:schemeClr>
            </a:solidFill>
            <a:ln w="28575" cap="flat" cmpd="sng">
              <a:solidFill>
                <a:srgbClr val="000000"/>
              </a:solidFill>
              <a:prstDash val="solid"/>
              <a:round/>
              <a:headEnd type="none" w="med" len="med"/>
              <a:tailEnd type="none" w="med" len="med"/>
            </a:ln>
          </p:spPr>
          <p:txBody>
            <a:bodyPr anchor="ctr" anchorCtr="0">
              <a:spAutoFit/>
            </a:bodyPr>
            <a:p>
              <a:pPr algn="ctr">
                <a:spcBef>
                  <a:spcPct val="50000"/>
                </a:spcBef>
              </a:pPr>
              <a:r>
                <a:rPr lang="en-US" altLang="zh-CN" sz="2000" dirty="0">
                  <a:solidFill>
                    <a:schemeClr val="tx2"/>
                  </a:solidFill>
                  <a:latin typeface="宋体" panose="02010600030101010101" pitchFamily="2" charset="-122"/>
                  <a:ea typeface="宋体" panose="02010600030101010101" pitchFamily="2" charset="-122"/>
                </a:rPr>
                <a:t>A</a:t>
              </a:r>
              <a:endParaRPr lang="en-US" altLang="zh-CN" sz="2000" dirty="0">
                <a:solidFill>
                  <a:schemeClr val="tx2"/>
                </a:solidFill>
                <a:latin typeface="宋体" panose="02010600030101010101" pitchFamily="2" charset="-122"/>
                <a:ea typeface="宋体" panose="02010600030101010101" pitchFamily="2" charset="-122"/>
              </a:endParaRPr>
            </a:p>
          </p:txBody>
        </p:sp>
        <p:sp>
          <p:nvSpPr>
            <p:cNvPr id="105482" name="AutoShape 10"/>
            <p:cNvSpPr/>
            <p:nvPr/>
          </p:nvSpPr>
          <p:spPr>
            <a:xfrm>
              <a:off x="2339" y="1777"/>
              <a:ext cx="369" cy="348"/>
            </a:xfrm>
            <a:prstGeom prst="flowChartConnector">
              <a:avLst/>
            </a:prstGeom>
            <a:solidFill>
              <a:schemeClr val="bg1">
                <a:alpha val="0"/>
              </a:schemeClr>
            </a:solidFill>
            <a:ln w="28575" cap="flat" cmpd="sng">
              <a:solidFill>
                <a:srgbClr val="000000"/>
              </a:solidFill>
              <a:prstDash val="solid"/>
              <a:round/>
              <a:headEnd type="none" w="med" len="med"/>
              <a:tailEnd type="none" w="med" len="med"/>
            </a:ln>
          </p:spPr>
          <p:txBody>
            <a:bodyPr anchor="ctr" anchorCtr="0">
              <a:spAutoFit/>
            </a:bodyPr>
            <a:p>
              <a:pPr algn="ctr">
                <a:spcBef>
                  <a:spcPct val="50000"/>
                </a:spcBef>
              </a:pPr>
              <a:r>
                <a:rPr lang="en-US" altLang="zh-CN" sz="2000" dirty="0">
                  <a:solidFill>
                    <a:schemeClr val="tx2"/>
                  </a:solidFill>
                  <a:latin typeface="宋体" panose="02010600030101010101" pitchFamily="2" charset="-122"/>
                  <a:ea typeface="宋体" panose="02010600030101010101" pitchFamily="2" charset="-122"/>
                </a:rPr>
                <a:t>B</a:t>
              </a:r>
              <a:endParaRPr lang="en-US" altLang="zh-CN" sz="2000" dirty="0">
                <a:solidFill>
                  <a:schemeClr val="tx2"/>
                </a:solidFill>
                <a:latin typeface="宋体" panose="02010600030101010101" pitchFamily="2" charset="-122"/>
                <a:ea typeface="宋体" panose="02010600030101010101" pitchFamily="2" charset="-122"/>
              </a:endParaRPr>
            </a:p>
          </p:txBody>
        </p:sp>
        <p:sp>
          <p:nvSpPr>
            <p:cNvPr id="105483" name="Line 11"/>
            <p:cNvSpPr/>
            <p:nvPr/>
          </p:nvSpPr>
          <p:spPr>
            <a:xfrm>
              <a:off x="3364" y="1922"/>
              <a:ext cx="326" cy="1"/>
            </a:xfrm>
            <a:prstGeom prst="line">
              <a:avLst/>
            </a:prstGeom>
            <a:ln w="28575" cap="flat" cmpd="sng">
              <a:solidFill>
                <a:srgbClr val="000000"/>
              </a:solidFill>
              <a:prstDash val="solid"/>
              <a:round/>
              <a:headEnd type="none" w="med" len="med"/>
              <a:tailEnd type="triangle" w="lg" len="med"/>
            </a:ln>
          </p:spPr>
        </p:sp>
        <p:sp>
          <p:nvSpPr>
            <p:cNvPr id="105484" name="Line 12"/>
            <p:cNvSpPr/>
            <p:nvPr/>
          </p:nvSpPr>
          <p:spPr>
            <a:xfrm flipH="1">
              <a:off x="2472" y="1357"/>
              <a:ext cx="18" cy="440"/>
            </a:xfrm>
            <a:prstGeom prst="line">
              <a:avLst/>
            </a:prstGeom>
            <a:ln w="28575" cap="flat" cmpd="sng">
              <a:solidFill>
                <a:srgbClr val="000000"/>
              </a:solidFill>
              <a:prstDash val="solid"/>
              <a:round/>
              <a:headEnd type="none" w="med" len="med"/>
              <a:tailEnd type="triangle" w="lg" len="med"/>
            </a:ln>
          </p:spPr>
        </p:sp>
        <p:sp>
          <p:nvSpPr>
            <p:cNvPr id="105485" name="Line 13"/>
            <p:cNvSpPr/>
            <p:nvPr/>
          </p:nvSpPr>
          <p:spPr>
            <a:xfrm>
              <a:off x="2710" y="1951"/>
              <a:ext cx="280" cy="1"/>
            </a:xfrm>
            <a:prstGeom prst="line">
              <a:avLst/>
            </a:prstGeom>
            <a:ln w="25400" cap="flat" cmpd="sng">
              <a:solidFill>
                <a:srgbClr val="000000"/>
              </a:solidFill>
              <a:prstDash val="solid"/>
              <a:round/>
              <a:headEnd type="none" w="med" len="med"/>
              <a:tailEnd type="triangle" w="lg" len="med"/>
            </a:ln>
          </p:spPr>
        </p:sp>
        <p:sp>
          <p:nvSpPr>
            <p:cNvPr id="105486" name="Text Box 14"/>
            <p:cNvSpPr txBox="1"/>
            <p:nvPr/>
          </p:nvSpPr>
          <p:spPr>
            <a:xfrm>
              <a:off x="3379" y="1706"/>
              <a:ext cx="276"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b</a:t>
              </a:r>
              <a:endParaRPr lang="el-GR" altLang="zh-CN" sz="2000">
                <a:solidFill>
                  <a:schemeClr val="tx2"/>
                </a:solidFill>
                <a:latin typeface="宋体" panose="02010600030101010101" pitchFamily="2" charset="-122"/>
                <a:ea typeface="宋体" panose="02010600030101010101" pitchFamily="2" charset="-122"/>
              </a:endParaRPr>
            </a:p>
          </p:txBody>
        </p:sp>
        <p:sp>
          <p:nvSpPr>
            <p:cNvPr id="105487" name="Text Box 15"/>
            <p:cNvSpPr txBox="1"/>
            <p:nvPr/>
          </p:nvSpPr>
          <p:spPr>
            <a:xfrm>
              <a:off x="2298" y="663"/>
              <a:ext cx="280"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b</a:t>
              </a:r>
              <a:endParaRPr lang="el-GR" altLang="zh-CN" sz="2000">
                <a:solidFill>
                  <a:schemeClr val="tx2"/>
                </a:solidFill>
                <a:latin typeface="宋体" panose="02010600030101010101" pitchFamily="2" charset="-122"/>
                <a:ea typeface="宋体" panose="02010600030101010101" pitchFamily="2" charset="-122"/>
              </a:endParaRPr>
            </a:p>
          </p:txBody>
        </p:sp>
        <p:sp>
          <p:nvSpPr>
            <p:cNvPr id="105488" name="Freeform 16"/>
            <p:cNvSpPr/>
            <p:nvPr/>
          </p:nvSpPr>
          <p:spPr>
            <a:xfrm>
              <a:off x="1723" y="1193"/>
              <a:ext cx="575" cy="614"/>
            </a:xfrm>
            <a:custGeom>
              <a:avLst/>
              <a:gdLst/>
              <a:ahLst/>
              <a:cxnLst>
                <a:cxn ang="0">
                  <a:pos x="0" y="196"/>
                </a:cxn>
                <a:cxn ang="0">
                  <a:pos x="626" y="98"/>
                </a:cxn>
                <a:cxn ang="0">
                  <a:pos x="3785" y="0"/>
                </a:cxn>
              </a:cxnLst>
              <a:pathLst>
                <a:path w="544" h="635">
                  <a:moveTo>
                    <a:pt x="0" y="635"/>
                  </a:moveTo>
                  <a:cubicBezTo>
                    <a:pt x="0" y="529"/>
                    <a:pt x="0" y="424"/>
                    <a:pt x="91" y="318"/>
                  </a:cubicBezTo>
                  <a:cubicBezTo>
                    <a:pt x="182" y="212"/>
                    <a:pt x="363" y="106"/>
                    <a:pt x="544" y="0"/>
                  </a:cubicBezTo>
                </a:path>
              </a:pathLst>
            </a:custGeom>
            <a:noFill/>
            <a:ln w="25400" cap="flat" cmpd="sng">
              <a:solidFill>
                <a:srgbClr val="000000"/>
              </a:solidFill>
              <a:prstDash val="solid"/>
              <a:round/>
              <a:headEnd type="none" w="med" len="med"/>
              <a:tailEnd type="triangle" w="lg" len="med"/>
            </a:ln>
          </p:spPr>
          <p:txBody>
            <a:bodyPr/>
            <a:p>
              <a:endParaRPr lang="zh-CN" altLang="en-US"/>
            </a:p>
          </p:txBody>
        </p:sp>
        <p:sp>
          <p:nvSpPr>
            <p:cNvPr id="105489" name="Freeform 17"/>
            <p:cNvSpPr/>
            <p:nvPr/>
          </p:nvSpPr>
          <p:spPr>
            <a:xfrm>
              <a:off x="2339" y="826"/>
              <a:ext cx="226" cy="244"/>
            </a:xfrm>
            <a:custGeom>
              <a:avLst/>
              <a:gdLst/>
              <a:ahLst/>
              <a:cxnLst>
                <a:cxn ang="0">
                  <a:pos x="2" y="1"/>
                </a:cxn>
                <a:cxn ang="0">
                  <a:pos x="2" y="1"/>
                </a:cxn>
                <a:cxn ang="0">
                  <a:pos x="0" y="1"/>
                </a:cxn>
              </a:cxnLst>
              <a:pathLst>
                <a:path w="273" h="424">
                  <a:moveTo>
                    <a:pt x="273" y="333"/>
                  </a:moveTo>
                  <a:cubicBezTo>
                    <a:pt x="250" y="166"/>
                    <a:pt x="227" y="0"/>
                    <a:pt x="182" y="15"/>
                  </a:cubicBezTo>
                  <a:cubicBezTo>
                    <a:pt x="137" y="30"/>
                    <a:pt x="68" y="227"/>
                    <a:pt x="0" y="424"/>
                  </a:cubicBezTo>
                </a:path>
              </a:pathLst>
            </a:custGeom>
            <a:noFill/>
            <a:ln w="25400" cap="flat" cmpd="sng">
              <a:solidFill>
                <a:srgbClr val="000000"/>
              </a:solidFill>
              <a:prstDash val="solid"/>
              <a:round/>
              <a:headEnd type="none" w="med" len="med"/>
              <a:tailEnd type="triangle" w="lg" len="med"/>
            </a:ln>
          </p:spPr>
          <p:txBody>
            <a:bodyPr/>
            <a:p>
              <a:endParaRPr lang="zh-CN" altLang="en-US"/>
            </a:p>
          </p:txBody>
        </p:sp>
        <p:sp>
          <p:nvSpPr>
            <p:cNvPr id="105490" name="Line 18"/>
            <p:cNvSpPr/>
            <p:nvPr/>
          </p:nvSpPr>
          <p:spPr>
            <a:xfrm>
              <a:off x="1963" y="1970"/>
              <a:ext cx="383" cy="0"/>
            </a:xfrm>
            <a:prstGeom prst="line">
              <a:avLst/>
            </a:prstGeom>
            <a:ln w="25400" cap="flat" cmpd="sng">
              <a:solidFill>
                <a:srgbClr val="000000"/>
              </a:solidFill>
              <a:prstDash val="solid"/>
              <a:round/>
              <a:headEnd type="none" w="med" len="med"/>
              <a:tailEnd type="triangle" w="lg" len="med"/>
            </a:ln>
          </p:spPr>
        </p:sp>
        <p:sp>
          <p:nvSpPr>
            <p:cNvPr id="105491" name="Text Box 19"/>
            <p:cNvSpPr txBox="1"/>
            <p:nvPr/>
          </p:nvSpPr>
          <p:spPr>
            <a:xfrm>
              <a:off x="2699" y="1706"/>
              <a:ext cx="276"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b</a:t>
              </a:r>
              <a:endParaRPr lang="el-GR" altLang="zh-CN" sz="2000">
                <a:solidFill>
                  <a:schemeClr val="tx2"/>
                </a:solidFill>
                <a:latin typeface="宋体" panose="02010600030101010101" pitchFamily="2" charset="-122"/>
                <a:ea typeface="宋体" panose="02010600030101010101" pitchFamily="2" charset="-122"/>
              </a:endParaRPr>
            </a:p>
          </p:txBody>
        </p:sp>
        <p:sp>
          <p:nvSpPr>
            <p:cNvPr id="105492" name="Text Box 20"/>
            <p:cNvSpPr txBox="1"/>
            <p:nvPr/>
          </p:nvSpPr>
          <p:spPr>
            <a:xfrm>
              <a:off x="1579" y="1316"/>
              <a:ext cx="276"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b</a:t>
              </a:r>
              <a:endParaRPr lang="el-GR" altLang="zh-CN" sz="2000">
                <a:solidFill>
                  <a:schemeClr val="tx2"/>
                </a:solidFill>
                <a:latin typeface="宋体" panose="02010600030101010101" pitchFamily="2" charset="-122"/>
                <a:ea typeface="宋体" panose="02010600030101010101" pitchFamily="2" charset="-122"/>
              </a:endParaRPr>
            </a:p>
          </p:txBody>
        </p:sp>
        <p:sp>
          <p:nvSpPr>
            <p:cNvPr id="105493" name="Text Box 21"/>
            <p:cNvSpPr txBox="1"/>
            <p:nvPr/>
          </p:nvSpPr>
          <p:spPr>
            <a:xfrm>
              <a:off x="2443" y="1438"/>
              <a:ext cx="239"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a</a:t>
              </a:r>
              <a:endParaRPr lang="en-US" altLang="zh-CN" sz="2000">
                <a:solidFill>
                  <a:schemeClr val="tx2"/>
                </a:solidFill>
                <a:latin typeface="宋体" panose="02010600030101010101" pitchFamily="2" charset="-122"/>
                <a:ea typeface="宋体" panose="02010600030101010101" pitchFamily="2" charset="-122"/>
              </a:endParaRPr>
            </a:p>
          </p:txBody>
        </p:sp>
        <p:sp>
          <p:nvSpPr>
            <p:cNvPr id="105494" name="Freeform 22"/>
            <p:cNvSpPr/>
            <p:nvPr/>
          </p:nvSpPr>
          <p:spPr>
            <a:xfrm>
              <a:off x="2681" y="1193"/>
              <a:ext cx="1198" cy="572"/>
            </a:xfrm>
            <a:custGeom>
              <a:avLst/>
              <a:gdLst/>
              <a:ahLst/>
              <a:cxnLst>
                <a:cxn ang="0">
                  <a:pos x="7750" y="16"/>
                </a:cxn>
                <a:cxn ang="0">
                  <a:pos x="4960" y="5"/>
                </a:cxn>
                <a:cxn ang="0">
                  <a:pos x="0" y="0"/>
                </a:cxn>
              </a:cxnLst>
              <a:pathLst>
                <a:path w="1134" h="635">
                  <a:moveTo>
                    <a:pt x="1134" y="635"/>
                  </a:moveTo>
                  <a:cubicBezTo>
                    <a:pt x="1024" y="461"/>
                    <a:pt x="915" y="288"/>
                    <a:pt x="726" y="182"/>
                  </a:cubicBezTo>
                  <a:cubicBezTo>
                    <a:pt x="537" y="76"/>
                    <a:pt x="268" y="38"/>
                    <a:pt x="0" y="0"/>
                  </a:cubicBezTo>
                </a:path>
              </a:pathLst>
            </a:custGeom>
            <a:noFill/>
            <a:ln w="25400" cap="flat" cmpd="sng">
              <a:solidFill>
                <a:srgbClr val="000000"/>
              </a:solidFill>
              <a:prstDash val="solid"/>
              <a:round/>
              <a:headEnd type="none" w="med" len="med"/>
              <a:tailEnd type="triangle" w="lg" len="med"/>
            </a:ln>
          </p:spPr>
          <p:txBody>
            <a:bodyPr/>
            <a:p>
              <a:endParaRPr lang="zh-CN" altLang="en-US"/>
            </a:p>
          </p:txBody>
        </p:sp>
        <p:sp>
          <p:nvSpPr>
            <p:cNvPr id="105495" name="Text Box 23"/>
            <p:cNvSpPr txBox="1"/>
            <p:nvPr/>
          </p:nvSpPr>
          <p:spPr>
            <a:xfrm>
              <a:off x="3352" y="1153"/>
              <a:ext cx="276"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b</a:t>
              </a:r>
              <a:endParaRPr lang="el-GR" altLang="zh-CN" sz="2000">
                <a:solidFill>
                  <a:schemeClr val="tx2"/>
                </a:solidFill>
                <a:latin typeface="宋体" panose="02010600030101010101" pitchFamily="2" charset="-122"/>
                <a:ea typeface="宋体" panose="02010600030101010101" pitchFamily="2" charset="-122"/>
              </a:endParaRPr>
            </a:p>
          </p:txBody>
        </p:sp>
        <p:sp>
          <p:nvSpPr>
            <p:cNvPr id="105496" name="Freeform 24"/>
            <p:cNvSpPr/>
            <p:nvPr/>
          </p:nvSpPr>
          <p:spPr>
            <a:xfrm>
              <a:off x="2266" y="2010"/>
              <a:ext cx="206" cy="185"/>
            </a:xfrm>
            <a:custGeom>
              <a:avLst/>
              <a:gdLst/>
              <a:ahLst/>
              <a:cxnLst>
                <a:cxn ang="0">
                  <a:pos x="2" y="5"/>
                </a:cxn>
                <a:cxn ang="0">
                  <a:pos x="2" y="5"/>
                </a:cxn>
                <a:cxn ang="0">
                  <a:pos x="2" y="0"/>
                </a:cxn>
              </a:cxnLst>
              <a:pathLst>
                <a:path w="257" h="205">
                  <a:moveTo>
                    <a:pt x="257" y="137"/>
                  </a:moveTo>
                  <a:cubicBezTo>
                    <a:pt x="158" y="171"/>
                    <a:pt x="60" y="205"/>
                    <a:pt x="30" y="182"/>
                  </a:cubicBezTo>
                  <a:cubicBezTo>
                    <a:pt x="0" y="159"/>
                    <a:pt x="38" y="79"/>
                    <a:pt x="76" y="0"/>
                  </a:cubicBezTo>
                </a:path>
              </a:pathLst>
            </a:custGeom>
            <a:noFill/>
            <a:ln w="25400" cap="flat" cmpd="sng">
              <a:solidFill>
                <a:srgbClr val="000000"/>
              </a:solidFill>
              <a:prstDash val="solid"/>
              <a:round/>
              <a:headEnd type="none" w="med" len="med"/>
              <a:tailEnd type="triangle" w="lg" len="med"/>
            </a:ln>
          </p:spPr>
          <p:txBody>
            <a:bodyPr/>
            <a:p>
              <a:endParaRPr lang="zh-CN" altLang="en-US"/>
            </a:p>
          </p:txBody>
        </p:sp>
        <p:sp>
          <p:nvSpPr>
            <p:cNvPr id="105497" name="Text Box 25"/>
            <p:cNvSpPr txBox="1"/>
            <p:nvPr/>
          </p:nvSpPr>
          <p:spPr>
            <a:xfrm>
              <a:off x="2107" y="2092"/>
              <a:ext cx="239"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a</a:t>
              </a:r>
              <a:endParaRPr lang="en-US" altLang="zh-CN" sz="2000">
                <a:solidFill>
                  <a:schemeClr val="tx2"/>
                </a:solidFill>
                <a:latin typeface="宋体" panose="02010600030101010101" pitchFamily="2" charset="-122"/>
                <a:ea typeface="宋体" panose="02010600030101010101" pitchFamily="2" charset="-122"/>
              </a:endParaRPr>
            </a:p>
          </p:txBody>
        </p:sp>
        <p:sp>
          <p:nvSpPr>
            <p:cNvPr id="105498" name="Freeform 26"/>
            <p:cNvSpPr/>
            <p:nvPr/>
          </p:nvSpPr>
          <p:spPr>
            <a:xfrm>
              <a:off x="2653" y="2069"/>
              <a:ext cx="508" cy="111"/>
            </a:xfrm>
            <a:custGeom>
              <a:avLst/>
              <a:gdLst/>
              <a:ahLst/>
              <a:cxnLst>
                <a:cxn ang="0">
                  <a:pos x="933" y="2"/>
                </a:cxn>
                <a:cxn ang="0">
                  <a:pos x="422" y="2"/>
                </a:cxn>
                <a:cxn ang="0">
                  <a:pos x="0" y="0"/>
                </a:cxn>
              </a:cxnLst>
              <a:pathLst>
                <a:path w="499" h="143">
                  <a:moveTo>
                    <a:pt x="499" y="45"/>
                  </a:moveTo>
                  <a:cubicBezTo>
                    <a:pt x="404" y="94"/>
                    <a:pt x="310" y="143"/>
                    <a:pt x="227" y="136"/>
                  </a:cubicBezTo>
                  <a:cubicBezTo>
                    <a:pt x="144" y="129"/>
                    <a:pt x="72" y="64"/>
                    <a:pt x="0" y="0"/>
                  </a:cubicBezTo>
                </a:path>
              </a:pathLst>
            </a:custGeom>
            <a:noFill/>
            <a:ln w="25400" cap="flat" cmpd="sng">
              <a:solidFill>
                <a:srgbClr val="000000"/>
              </a:solidFill>
              <a:prstDash val="solid"/>
              <a:round/>
              <a:headEnd type="none" w="med" len="med"/>
              <a:tailEnd type="triangle" w="lg" len="med"/>
            </a:ln>
          </p:spPr>
          <p:txBody>
            <a:bodyPr/>
            <a:p>
              <a:endParaRPr lang="zh-CN" altLang="en-US"/>
            </a:p>
          </p:txBody>
        </p:sp>
        <p:sp>
          <p:nvSpPr>
            <p:cNvPr id="105499" name="Freeform 27"/>
            <p:cNvSpPr/>
            <p:nvPr/>
          </p:nvSpPr>
          <p:spPr>
            <a:xfrm rot="-173503">
              <a:off x="2564" y="2070"/>
              <a:ext cx="1271" cy="317"/>
            </a:xfrm>
            <a:custGeom>
              <a:avLst/>
              <a:gdLst/>
              <a:ahLst/>
              <a:cxnLst>
                <a:cxn ang="0">
                  <a:pos x="1305" y="0"/>
                </a:cxn>
                <a:cxn ang="0">
                  <a:pos x="806" y="3"/>
                </a:cxn>
                <a:cxn ang="0">
                  <a:pos x="0" y="3"/>
                </a:cxn>
              </a:cxnLst>
              <a:pathLst>
                <a:path w="1270" h="371">
                  <a:moveTo>
                    <a:pt x="1270" y="0"/>
                  </a:moveTo>
                  <a:cubicBezTo>
                    <a:pt x="1126" y="177"/>
                    <a:pt x="983" y="355"/>
                    <a:pt x="771" y="363"/>
                  </a:cubicBezTo>
                  <a:cubicBezTo>
                    <a:pt x="559" y="371"/>
                    <a:pt x="279" y="208"/>
                    <a:pt x="0" y="45"/>
                  </a:cubicBezTo>
                </a:path>
              </a:pathLst>
            </a:custGeom>
            <a:noFill/>
            <a:ln w="25400" cap="flat" cmpd="sng">
              <a:solidFill>
                <a:srgbClr val="000000"/>
              </a:solidFill>
              <a:prstDash val="solid"/>
              <a:round/>
              <a:headEnd type="none" w="med" len="med"/>
              <a:tailEnd type="triangle" w="lg" len="med"/>
            </a:ln>
          </p:spPr>
          <p:txBody>
            <a:bodyPr/>
            <a:p>
              <a:endParaRPr lang="zh-CN" altLang="en-US"/>
            </a:p>
          </p:txBody>
        </p:sp>
        <p:sp>
          <p:nvSpPr>
            <p:cNvPr id="105500" name="Text Box 28"/>
            <p:cNvSpPr txBox="1"/>
            <p:nvPr/>
          </p:nvSpPr>
          <p:spPr>
            <a:xfrm>
              <a:off x="2789" y="1933"/>
              <a:ext cx="240"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a</a:t>
              </a:r>
              <a:endParaRPr lang="en-US" altLang="zh-CN" sz="2000">
                <a:solidFill>
                  <a:schemeClr val="tx2"/>
                </a:solidFill>
                <a:latin typeface="宋体" panose="02010600030101010101" pitchFamily="2" charset="-122"/>
                <a:ea typeface="宋体" panose="02010600030101010101" pitchFamily="2" charset="-122"/>
              </a:endParaRPr>
            </a:p>
          </p:txBody>
        </p:sp>
        <p:sp>
          <p:nvSpPr>
            <p:cNvPr id="105501" name="Text Box 29"/>
            <p:cNvSpPr txBox="1"/>
            <p:nvPr/>
          </p:nvSpPr>
          <p:spPr>
            <a:xfrm>
              <a:off x="3209" y="2297"/>
              <a:ext cx="239" cy="250"/>
            </a:xfrm>
            <a:prstGeom prst="rect">
              <a:avLst/>
            </a:prstGeom>
            <a:noFill/>
            <a:ln w="9525">
              <a:noFill/>
            </a:ln>
          </p:spPr>
          <p:txBody>
            <a:bodyPr anchor="t" anchorCtr="0">
              <a:spAutoFit/>
            </a:bodyPr>
            <a:p>
              <a:pPr algn="ctr">
                <a:spcBef>
                  <a:spcPct val="50000"/>
                </a:spcBef>
                <a:buClrTx/>
                <a:buFontTx/>
              </a:pPr>
              <a:r>
                <a:rPr lang="en-US" altLang="zh-CN" sz="2000">
                  <a:solidFill>
                    <a:schemeClr val="tx2"/>
                  </a:solidFill>
                  <a:latin typeface="宋体" panose="02010600030101010101" pitchFamily="2" charset="-122"/>
                  <a:ea typeface="宋体" panose="02010600030101010101" pitchFamily="2" charset="-122"/>
                </a:rPr>
                <a:t>a</a:t>
              </a:r>
              <a:endParaRPr lang="en-US" altLang="zh-CN" sz="2000">
                <a:solidFill>
                  <a:schemeClr val="tx2"/>
                </a:solidFill>
                <a:latin typeface="宋体" panose="02010600030101010101" pitchFamily="2" charset="-122"/>
                <a:ea typeface="宋体" panose="02010600030101010101" pitchFamily="2" charset="-122"/>
              </a:endParaRPr>
            </a:p>
          </p:txBody>
        </p:sp>
      </p:grpSp>
      <p:sp>
        <p:nvSpPr>
          <p:cNvPr id="105502" name="Text Box 30"/>
          <p:cNvSpPr txBox="1"/>
          <p:nvPr/>
        </p:nvSpPr>
        <p:spPr>
          <a:xfrm>
            <a:off x="684213" y="4149725"/>
            <a:ext cx="7920037" cy="2378075"/>
          </a:xfrm>
          <a:prstGeom prst="rect">
            <a:avLst/>
          </a:prstGeom>
          <a:noFill/>
          <a:ln w="9525">
            <a:noFill/>
          </a:ln>
        </p:spPr>
        <p:txBody>
          <a:bodyPr anchor="t" anchorCtr="1">
            <a:spAutoFit/>
          </a:bodyPr>
          <a:p>
            <a:pPr>
              <a:spcBef>
                <a:spcPct val="50000"/>
              </a:spcBef>
            </a:pPr>
            <a:r>
              <a:rPr lang="zh-CN" altLang="en-US" sz="2000" b="0" dirty="0">
                <a:solidFill>
                  <a:srgbClr val="000000"/>
                </a:solidFill>
                <a:latin typeface="Times New Roman" panose="02020603050405020304" pitchFamily="18" charset="0"/>
                <a:ea typeface="宋体" panose="02010600030101010101" pitchFamily="2" charset="-122"/>
              </a:rPr>
              <a:t>初始划分∏：接受状态组（</a:t>
            </a:r>
            <a:r>
              <a:rPr lang="en-US" altLang="zh-CN" sz="2000" b="0" dirty="0">
                <a:solidFill>
                  <a:srgbClr val="000000"/>
                </a:solidFill>
                <a:latin typeface="Times New Roman" panose="02020603050405020304" pitchFamily="18" charset="0"/>
                <a:ea typeface="宋体" panose="02010600030101010101" pitchFamily="2" charset="-122"/>
              </a:rPr>
              <a:t>E</a:t>
            </a:r>
            <a:r>
              <a:rPr lang="zh-CN" altLang="en-US" sz="2000" b="0" dirty="0">
                <a:solidFill>
                  <a:srgbClr val="000000"/>
                </a:solidFill>
                <a:latin typeface="Times New Roman" panose="02020603050405020304" pitchFamily="18" charset="0"/>
                <a:ea typeface="宋体" panose="02010600030101010101" pitchFamily="2" charset="-122"/>
              </a:rPr>
              <a:t>），非接受状态组（</a:t>
            </a:r>
            <a:r>
              <a:rPr lang="en-US" altLang="zh-CN" sz="2000" b="0" dirty="0">
                <a:solidFill>
                  <a:srgbClr val="000000"/>
                </a:solidFill>
                <a:latin typeface="Times New Roman" panose="02020603050405020304" pitchFamily="18" charset="0"/>
                <a:ea typeface="宋体" panose="02010600030101010101" pitchFamily="2" charset="-122"/>
              </a:rPr>
              <a:t>ABCD</a:t>
            </a:r>
            <a:r>
              <a:rPr lang="zh-CN" altLang="en-US" sz="2000" b="0" dirty="0">
                <a:solidFill>
                  <a:srgbClr val="000000"/>
                </a:solidFill>
                <a:latin typeface="Times New Roman" panose="02020603050405020304" pitchFamily="18" charset="0"/>
                <a:ea typeface="宋体" panose="02010600030101010101" pitchFamily="2" charset="-122"/>
              </a:rPr>
              <a:t>）</a:t>
            </a:r>
            <a:endParaRPr lang="zh-CN" altLang="en-US" sz="2000" b="0" dirty="0">
              <a:solidFill>
                <a:srgbClr val="000000"/>
              </a:solidFill>
              <a:latin typeface="Times New Roman" panose="02020603050405020304" pitchFamily="18" charset="0"/>
              <a:ea typeface="宋体" panose="02010600030101010101" pitchFamily="2" charset="-122"/>
            </a:endParaRPr>
          </a:p>
          <a:p>
            <a:pPr>
              <a:spcBef>
                <a:spcPct val="50000"/>
              </a:spcBef>
            </a:pPr>
            <a:r>
              <a:rPr lang="zh-CN" altLang="en-US" sz="2000" b="0" dirty="0">
                <a:solidFill>
                  <a:srgbClr val="000000"/>
                </a:solidFill>
                <a:latin typeface="Times New Roman" panose="02020603050405020304" pitchFamily="18" charset="0"/>
                <a:ea typeface="宋体" panose="02010600030101010101" pitchFamily="2" charset="-122"/>
              </a:rPr>
              <a:t>用算法</a:t>
            </a:r>
            <a:r>
              <a:rPr lang="en-US" altLang="zh-CN" sz="2000" b="0" dirty="0">
                <a:solidFill>
                  <a:srgbClr val="000000"/>
                </a:solidFill>
                <a:latin typeface="Times New Roman" panose="02020603050405020304" pitchFamily="18" charset="0"/>
                <a:ea typeface="宋体" panose="02010600030101010101" pitchFamily="2" charset="-122"/>
              </a:rPr>
              <a:t>3-23</a:t>
            </a:r>
            <a:r>
              <a:rPr lang="zh-CN" altLang="en-US" sz="2000" b="0" dirty="0">
                <a:solidFill>
                  <a:srgbClr val="000000"/>
                </a:solidFill>
                <a:latin typeface="Times New Roman" panose="02020603050405020304" pitchFamily="18" charset="0"/>
                <a:ea typeface="宋体" panose="02010600030101010101" pitchFamily="2" charset="-122"/>
              </a:rPr>
              <a:t>构造∏</a:t>
            </a:r>
            <a:r>
              <a:rPr lang="en-US" altLang="zh-CN" sz="2000" b="0" dirty="0">
                <a:solidFill>
                  <a:srgbClr val="000000"/>
                </a:solidFill>
                <a:latin typeface="Times New Roman" panose="02020603050405020304" pitchFamily="18" charset="0"/>
                <a:ea typeface="宋体" panose="02010600030101010101" pitchFamily="2" charset="-122"/>
              </a:rPr>
              <a:t>new</a:t>
            </a:r>
            <a:r>
              <a:rPr lang="zh-CN" altLang="en-US" sz="2000" b="0" dirty="0">
                <a:solidFill>
                  <a:srgbClr val="000000"/>
                </a:solidFill>
                <a:latin typeface="Times New Roman" panose="02020603050405020304" pitchFamily="18" charset="0"/>
                <a:ea typeface="宋体" panose="02010600030101010101" pitchFamily="2" charset="-122"/>
              </a:rPr>
              <a:t>：（</a:t>
            </a:r>
            <a:r>
              <a:rPr lang="en-US" altLang="zh-CN" sz="2000" b="0" dirty="0">
                <a:solidFill>
                  <a:srgbClr val="000000"/>
                </a:solidFill>
                <a:latin typeface="Times New Roman" panose="02020603050405020304" pitchFamily="18" charset="0"/>
                <a:ea typeface="宋体" panose="02010600030101010101" pitchFamily="2" charset="-122"/>
              </a:rPr>
              <a:t>E</a:t>
            </a:r>
            <a:r>
              <a:rPr lang="zh-CN" altLang="en-US" sz="2000" b="0" dirty="0">
                <a:solidFill>
                  <a:srgbClr val="000000"/>
                </a:solidFill>
                <a:latin typeface="Times New Roman" panose="02020603050405020304" pitchFamily="18" charset="0"/>
                <a:ea typeface="宋体" panose="02010600030101010101" pitchFamily="2" charset="-122"/>
              </a:rPr>
              <a:t>）不能再划分，放回∏</a:t>
            </a:r>
            <a:r>
              <a:rPr lang="en-US" altLang="zh-CN" sz="2000" b="0" dirty="0">
                <a:solidFill>
                  <a:srgbClr val="000000"/>
                </a:solidFill>
                <a:latin typeface="Times New Roman" panose="02020603050405020304" pitchFamily="18" charset="0"/>
                <a:ea typeface="宋体" panose="02010600030101010101" pitchFamily="2" charset="-122"/>
              </a:rPr>
              <a:t>new</a:t>
            </a:r>
            <a:r>
              <a:rPr lang="zh-CN" altLang="en-US" sz="2000" b="0" dirty="0">
                <a:solidFill>
                  <a:srgbClr val="000000"/>
                </a:solidFill>
                <a:latin typeface="Times New Roman" panose="02020603050405020304" pitchFamily="18" charset="0"/>
                <a:ea typeface="宋体" panose="02010600030101010101" pitchFamily="2" charset="-122"/>
              </a:rPr>
              <a:t>；（</a:t>
            </a:r>
            <a:r>
              <a:rPr lang="en-US" altLang="zh-CN" sz="2000" b="0" dirty="0">
                <a:solidFill>
                  <a:srgbClr val="000000"/>
                </a:solidFill>
                <a:latin typeface="Times New Roman" panose="02020603050405020304" pitchFamily="18" charset="0"/>
                <a:ea typeface="宋体" panose="02010600030101010101" pitchFamily="2" charset="-122"/>
              </a:rPr>
              <a:t>ABCD</a:t>
            </a:r>
            <a:r>
              <a:rPr lang="zh-CN" altLang="en-US" sz="2000" b="0" dirty="0">
                <a:solidFill>
                  <a:srgbClr val="000000"/>
                </a:solidFill>
                <a:latin typeface="Times New Roman" panose="02020603050405020304" pitchFamily="18" charset="0"/>
                <a:ea typeface="宋体" panose="02010600030101010101" pitchFamily="2" charset="-122"/>
              </a:rPr>
              <a:t>）对输入</a:t>
            </a:r>
            <a:r>
              <a:rPr lang="en-US" altLang="zh-CN" sz="2000" b="0" dirty="0">
                <a:solidFill>
                  <a:srgbClr val="000000"/>
                </a:solidFill>
                <a:latin typeface="Times New Roman" panose="02020603050405020304" pitchFamily="18" charset="0"/>
                <a:ea typeface="宋体" panose="02010600030101010101" pitchFamily="2" charset="-122"/>
              </a:rPr>
              <a:t>a</a:t>
            </a:r>
            <a:r>
              <a:rPr lang="zh-CN" altLang="en-US" sz="2000" b="0" dirty="0">
                <a:solidFill>
                  <a:srgbClr val="000000"/>
                </a:solidFill>
                <a:latin typeface="Times New Roman" panose="02020603050405020304" pitchFamily="18" charset="0"/>
                <a:ea typeface="宋体" panose="02010600030101010101" pitchFamily="2" charset="-122"/>
              </a:rPr>
              <a:t>不变，但对输入</a:t>
            </a:r>
            <a:r>
              <a:rPr lang="en-US" altLang="zh-CN" sz="2000" b="0" dirty="0">
                <a:solidFill>
                  <a:srgbClr val="000000"/>
                </a:solidFill>
                <a:latin typeface="Times New Roman" panose="02020603050405020304" pitchFamily="18" charset="0"/>
                <a:ea typeface="宋体" panose="02010600030101010101" pitchFamily="2" charset="-122"/>
              </a:rPr>
              <a:t>b</a:t>
            </a:r>
            <a:r>
              <a:rPr lang="zh-CN" altLang="en-US" sz="2000" b="0" dirty="0">
                <a:solidFill>
                  <a:srgbClr val="000000"/>
                </a:solidFill>
                <a:latin typeface="Times New Roman" panose="02020603050405020304" pitchFamily="18" charset="0"/>
                <a:ea typeface="宋体" panose="02010600030101010101" pitchFamily="2" charset="-122"/>
              </a:rPr>
              <a:t>，</a:t>
            </a:r>
            <a:r>
              <a:rPr lang="en-US" altLang="zh-CN" sz="2000" b="0" dirty="0">
                <a:solidFill>
                  <a:srgbClr val="000000"/>
                </a:solidFill>
                <a:latin typeface="Times New Roman" panose="02020603050405020304" pitchFamily="18" charset="0"/>
                <a:ea typeface="宋体" panose="02010600030101010101" pitchFamily="2" charset="-122"/>
              </a:rPr>
              <a:t>D-&gt;E</a:t>
            </a:r>
            <a:r>
              <a:rPr lang="zh-CN" altLang="en-US" sz="2000" b="0" dirty="0">
                <a:solidFill>
                  <a:srgbClr val="000000"/>
                </a:solidFill>
                <a:latin typeface="Times New Roman" panose="02020603050405020304" pitchFamily="18" charset="0"/>
                <a:ea typeface="宋体" panose="02010600030101010101" pitchFamily="2" charset="-122"/>
              </a:rPr>
              <a:t>，所以划分为两组（</a:t>
            </a:r>
            <a:r>
              <a:rPr lang="en-US" altLang="zh-CN" sz="2000" b="0" dirty="0">
                <a:solidFill>
                  <a:srgbClr val="000000"/>
                </a:solidFill>
                <a:latin typeface="Times New Roman" panose="02020603050405020304" pitchFamily="18" charset="0"/>
                <a:ea typeface="宋体" panose="02010600030101010101" pitchFamily="2" charset="-122"/>
              </a:rPr>
              <a:t>ABC</a:t>
            </a:r>
            <a:r>
              <a:rPr lang="zh-CN" altLang="en-US" sz="2000" b="0" dirty="0">
                <a:solidFill>
                  <a:srgbClr val="000000"/>
                </a:solidFill>
                <a:latin typeface="Times New Roman" panose="02020603050405020304" pitchFamily="18" charset="0"/>
                <a:ea typeface="宋体" panose="02010600030101010101" pitchFamily="2" charset="-122"/>
              </a:rPr>
              <a:t>）和（</a:t>
            </a:r>
            <a:r>
              <a:rPr lang="en-US" altLang="zh-CN" sz="2000" b="0" dirty="0">
                <a:solidFill>
                  <a:srgbClr val="000000"/>
                </a:solidFill>
                <a:latin typeface="Times New Roman" panose="02020603050405020304" pitchFamily="18" charset="0"/>
                <a:ea typeface="宋体" panose="02010600030101010101" pitchFamily="2" charset="-122"/>
              </a:rPr>
              <a:t>D</a:t>
            </a:r>
            <a:r>
              <a:rPr lang="zh-CN" altLang="en-US" sz="2000" b="0" dirty="0">
                <a:solidFill>
                  <a:srgbClr val="000000"/>
                </a:solidFill>
                <a:latin typeface="Times New Roman" panose="02020603050405020304" pitchFamily="18" charset="0"/>
                <a:ea typeface="宋体" panose="02010600030101010101" pitchFamily="2" charset="-122"/>
              </a:rPr>
              <a:t>）。因此∏</a:t>
            </a:r>
            <a:r>
              <a:rPr lang="en-US" altLang="zh-CN" sz="2000" b="0" dirty="0">
                <a:solidFill>
                  <a:srgbClr val="000000"/>
                </a:solidFill>
                <a:latin typeface="Times New Roman" panose="02020603050405020304" pitchFamily="18" charset="0"/>
                <a:ea typeface="宋体" panose="02010600030101010101" pitchFamily="2" charset="-122"/>
              </a:rPr>
              <a:t>new</a:t>
            </a:r>
            <a:r>
              <a:rPr lang="zh-CN" altLang="en-US" sz="2000" b="0" dirty="0">
                <a:solidFill>
                  <a:srgbClr val="000000"/>
                </a:solidFill>
                <a:latin typeface="Times New Roman" panose="02020603050405020304" pitchFamily="18" charset="0"/>
                <a:ea typeface="宋体" panose="02010600030101010101" pitchFamily="2" charset="-122"/>
              </a:rPr>
              <a:t>为</a:t>
            </a:r>
            <a:r>
              <a:rPr lang="en-US" altLang="zh-CN" sz="2000" b="0" dirty="0">
                <a:solidFill>
                  <a:srgbClr val="000000"/>
                </a:solidFill>
                <a:latin typeface="Times New Roman" panose="02020603050405020304" pitchFamily="18" charset="0"/>
                <a:ea typeface="宋体" panose="02010600030101010101" pitchFamily="2" charset="-122"/>
              </a:rPr>
              <a:t>(ABC)(D)(E)</a:t>
            </a:r>
            <a:endParaRPr lang="en-US" altLang="zh-CN" sz="2000" b="0" dirty="0">
              <a:solidFill>
                <a:srgbClr val="000000"/>
              </a:solidFill>
              <a:latin typeface="Times New Roman" panose="02020603050405020304" pitchFamily="18" charset="0"/>
              <a:ea typeface="宋体" panose="02010600030101010101" pitchFamily="2" charset="-122"/>
            </a:endParaRPr>
          </a:p>
          <a:p>
            <a:pPr>
              <a:spcBef>
                <a:spcPct val="50000"/>
              </a:spcBef>
            </a:pPr>
            <a:r>
              <a:rPr lang="en-US" altLang="zh-CN" sz="2000" b="0" dirty="0">
                <a:solidFill>
                  <a:srgbClr val="000000"/>
                </a:solidFill>
                <a:latin typeface="Times New Roman" panose="02020603050405020304" pitchFamily="18" charset="0"/>
                <a:ea typeface="宋体" panose="02010600030101010101" pitchFamily="2" charset="-122"/>
              </a:rPr>
              <a:t>…… ∏final </a:t>
            </a:r>
            <a:r>
              <a:rPr lang="zh-CN" altLang="en-US" sz="2000" b="0" dirty="0">
                <a:solidFill>
                  <a:srgbClr val="000000"/>
                </a:solidFill>
                <a:latin typeface="Times New Roman" panose="02020603050405020304" pitchFamily="18" charset="0"/>
                <a:ea typeface="宋体" panose="02010600030101010101" pitchFamily="2" charset="-122"/>
              </a:rPr>
              <a:t>为</a:t>
            </a:r>
            <a:r>
              <a:rPr lang="en-US" altLang="zh-CN" sz="2000" b="0" dirty="0">
                <a:solidFill>
                  <a:srgbClr val="000000"/>
                </a:solidFill>
                <a:latin typeface="Times New Roman" panose="02020603050405020304" pitchFamily="18" charset="0"/>
                <a:ea typeface="宋体" panose="02010600030101010101" pitchFamily="2" charset="-122"/>
              </a:rPr>
              <a:t>(AC)(B)(D)(E)</a:t>
            </a:r>
            <a:r>
              <a:rPr lang="zh-CN" altLang="en-US" sz="2000" b="0" dirty="0">
                <a:solidFill>
                  <a:srgbClr val="000000"/>
                </a:solidFill>
                <a:latin typeface="Times New Roman" panose="02020603050405020304" pitchFamily="18" charset="0"/>
                <a:ea typeface="宋体" panose="02010600030101010101" pitchFamily="2" charset="-122"/>
              </a:rPr>
              <a:t>。</a:t>
            </a:r>
            <a:endParaRPr lang="zh-CN" altLang="en-US" sz="2000" b="0" dirty="0">
              <a:solidFill>
                <a:srgbClr val="000000"/>
              </a:solidFill>
              <a:latin typeface="Times New Roman" panose="02020603050405020304" pitchFamily="18" charset="0"/>
              <a:ea typeface="宋体" panose="02010600030101010101" pitchFamily="2" charset="-122"/>
            </a:endParaRPr>
          </a:p>
          <a:p>
            <a:pPr>
              <a:spcBef>
                <a:spcPct val="50000"/>
              </a:spcBef>
            </a:pPr>
            <a:r>
              <a:rPr lang="zh-CN" altLang="en-US" sz="2000" b="0" dirty="0">
                <a:solidFill>
                  <a:srgbClr val="000000"/>
                </a:solidFill>
                <a:latin typeface="Times New Roman" panose="02020603050405020304" pitchFamily="18" charset="0"/>
                <a:ea typeface="宋体" panose="02010600030101010101" pitchFamily="2" charset="-122"/>
              </a:rPr>
              <a:t>选</a:t>
            </a:r>
            <a:r>
              <a:rPr lang="en-US" altLang="zh-CN" sz="2000" b="0" dirty="0">
                <a:solidFill>
                  <a:srgbClr val="000000"/>
                </a:solidFill>
                <a:latin typeface="Times New Roman" panose="02020603050405020304" pitchFamily="18" charset="0"/>
                <a:ea typeface="宋体" panose="02010600030101010101" pitchFamily="2" charset="-122"/>
              </a:rPr>
              <a:t>A</a:t>
            </a:r>
            <a:r>
              <a:rPr lang="zh-CN" altLang="en-US" sz="2000" b="0" dirty="0">
                <a:solidFill>
                  <a:srgbClr val="000000"/>
                </a:solidFill>
                <a:latin typeface="Times New Roman" panose="02020603050405020304" pitchFamily="18" charset="0"/>
                <a:ea typeface="宋体" panose="02010600030101010101" pitchFamily="2" charset="-122"/>
              </a:rPr>
              <a:t>为</a:t>
            </a:r>
            <a:r>
              <a:rPr lang="en-US" altLang="zh-CN" sz="2000" b="0" dirty="0">
                <a:solidFill>
                  <a:srgbClr val="000000"/>
                </a:solidFill>
                <a:latin typeface="Times New Roman" panose="02020603050405020304" pitchFamily="18" charset="0"/>
                <a:ea typeface="宋体" panose="02010600030101010101" pitchFamily="2" charset="-122"/>
              </a:rPr>
              <a:t>(AC)</a:t>
            </a:r>
            <a:r>
              <a:rPr lang="zh-CN" altLang="en-US" sz="2000" b="0" dirty="0">
                <a:solidFill>
                  <a:srgbClr val="000000"/>
                </a:solidFill>
                <a:latin typeface="Times New Roman" panose="02020603050405020304" pitchFamily="18" charset="0"/>
                <a:ea typeface="宋体" panose="02010600030101010101" pitchFamily="2" charset="-122"/>
              </a:rPr>
              <a:t>的代表，</a:t>
            </a:r>
            <a:r>
              <a:rPr lang="en-US" altLang="zh-CN" sz="2000" b="0" dirty="0">
                <a:solidFill>
                  <a:srgbClr val="000000"/>
                </a:solidFill>
                <a:latin typeface="Times New Roman" panose="02020603050405020304" pitchFamily="18" charset="0"/>
                <a:ea typeface="宋体" panose="02010600030101010101" pitchFamily="2" charset="-122"/>
              </a:rPr>
              <a:t>B</a:t>
            </a:r>
            <a:r>
              <a:rPr lang="zh-CN" altLang="en-US" sz="2000" b="0" dirty="0">
                <a:solidFill>
                  <a:srgbClr val="000000"/>
                </a:solidFill>
                <a:latin typeface="Times New Roman" panose="02020603050405020304" pitchFamily="18" charset="0"/>
                <a:ea typeface="宋体" panose="02010600030101010101" pitchFamily="2" charset="-122"/>
              </a:rPr>
              <a:t>、</a:t>
            </a:r>
            <a:r>
              <a:rPr lang="en-US" altLang="zh-CN" sz="2000" b="0" dirty="0">
                <a:solidFill>
                  <a:srgbClr val="000000"/>
                </a:solidFill>
                <a:latin typeface="Times New Roman" panose="02020603050405020304" pitchFamily="18" charset="0"/>
                <a:ea typeface="宋体" panose="02010600030101010101" pitchFamily="2" charset="-122"/>
              </a:rPr>
              <a:t>D</a:t>
            </a:r>
            <a:r>
              <a:rPr lang="zh-CN" altLang="en-US" sz="2000" b="0" dirty="0">
                <a:solidFill>
                  <a:srgbClr val="000000"/>
                </a:solidFill>
                <a:latin typeface="Times New Roman" panose="02020603050405020304" pitchFamily="18" charset="0"/>
                <a:ea typeface="宋体" panose="02010600030101010101" pitchFamily="2" charset="-122"/>
              </a:rPr>
              <a:t>、</a:t>
            </a:r>
            <a:r>
              <a:rPr lang="en-US" altLang="zh-CN" sz="2000" b="0" dirty="0">
                <a:solidFill>
                  <a:srgbClr val="000000"/>
                </a:solidFill>
                <a:latin typeface="Times New Roman" panose="02020603050405020304" pitchFamily="18" charset="0"/>
                <a:ea typeface="宋体" panose="02010600030101010101" pitchFamily="2" charset="-122"/>
              </a:rPr>
              <a:t>E</a:t>
            </a:r>
            <a:r>
              <a:rPr lang="zh-CN" altLang="en-US" sz="2000" b="0" dirty="0">
                <a:solidFill>
                  <a:srgbClr val="000000"/>
                </a:solidFill>
                <a:latin typeface="Times New Roman" panose="02020603050405020304" pitchFamily="18" charset="0"/>
                <a:ea typeface="宋体" panose="02010600030101010101" pitchFamily="2" charset="-122"/>
              </a:rPr>
              <a:t>为其他组代表，可得转换表如图</a:t>
            </a:r>
            <a:r>
              <a:rPr lang="en-US" altLang="zh-CN" sz="2000" b="0" dirty="0">
                <a:solidFill>
                  <a:srgbClr val="000000"/>
                </a:solidFill>
                <a:latin typeface="Times New Roman" panose="02020603050405020304" pitchFamily="18" charset="0"/>
                <a:ea typeface="宋体" panose="02010600030101010101" pitchFamily="2" charset="-122"/>
              </a:rPr>
              <a:t>3-36</a:t>
            </a:r>
            <a:r>
              <a:rPr lang="zh-CN" altLang="en-US" sz="2000" b="0" dirty="0">
                <a:solidFill>
                  <a:srgbClr val="000000"/>
                </a:solidFill>
                <a:latin typeface="Times New Roman" panose="02020603050405020304" pitchFamily="18" charset="0"/>
                <a:ea typeface="宋体" panose="02010600030101010101" pitchFamily="2" charset="-122"/>
              </a:rPr>
              <a:t>。</a:t>
            </a:r>
            <a:endParaRPr lang="zh-CN" altLang="en-US" sz="2000" b="0" dirty="0">
              <a:solidFill>
                <a:srgbClr val="000000"/>
              </a:solidFill>
              <a:latin typeface="Times New Roman" panose="02020603050405020304" pitchFamily="18" charset="0"/>
              <a:ea typeface="宋体" panose="02010600030101010101" pitchFamily="2" charset="-122"/>
            </a:endParaRPr>
          </a:p>
        </p:txBody>
      </p:sp>
      <p:sp>
        <p:nvSpPr>
          <p:cNvPr id="2" name="文本框 1"/>
          <p:cNvSpPr txBox="1"/>
          <p:nvPr/>
        </p:nvSpPr>
        <p:spPr>
          <a:xfrm>
            <a:off x="4140200" y="836930"/>
            <a:ext cx="4358004" cy="706756"/>
          </a:xfrm>
          <a:prstGeom prst="rect">
            <a:avLst/>
          </a:prstGeom>
          <a:noFill/>
        </p:spPr>
        <p:txBody>
          <a:bodyPr wrap="square" rtlCol="0">
            <a:spAutoFit/>
          </a:bodyPr>
          <a:p>
            <a:r>
              <a:rPr lang="zh-CN" altLang="en-US" sz="2000" noProof="1">
                <a:highlight>
                  <a:srgbClr val="FFFF00"/>
                </a:highlight>
                <a:latin typeface="Times New Roman" panose="02020603050405020304" pitchFamily="18" charset="0"/>
                <a:ea typeface="宋体" panose="02010600030101010101" pitchFamily="2" charset="-122"/>
                <a:cs typeface="+mn-cs"/>
              </a:rPr>
              <a:t>若输入一个符号能到达同一个状态集合，说明是同一组</a:t>
            </a:r>
            <a:endParaRPr lang="zh-CN" altLang="en-US" sz="2000" noProof="1">
              <a:highlight>
                <a:srgbClr val="FFFF00"/>
              </a:highlight>
            </a:endParaRPr>
          </a:p>
        </p:txBody>
      </p:sp>
    </p:spTree>
  </p:cSld>
  <p:clrMapOvr>
    <a:masterClrMapping/>
  </p:clrMapOvr>
  <p:transition spd="med">
    <p:comb/>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F6154B5-A535-41D7-8475-44779D359ECB}"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195" name="Text Box 4"/>
          <p:cNvSpPr txBox="1"/>
          <p:nvPr/>
        </p:nvSpPr>
        <p:spPr>
          <a:xfrm>
            <a:off x="446088" y="620713"/>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5</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8196" name="文本框 6"/>
          <p:cNvSpPr txBox="1"/>
          <p:nvPr/>
        </p:nvSpPr>
        <p:spPr>
          <a:xfrm>
            <a:off x="877888" y="1916113"/>
            <a:ext cx="7942262"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综合属性、继承属性</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语法制导定义、翻译方案</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en-US" altLang="zh-CN" sz="2400" dirty="0">
                <a:latin typeface="Times New Roman" panose="02020603050405020304" pitchFamily="18" charset="0"/>
              </a:rPr>
              <a:t>L</a:t>
            </a:r>
            <a:r>
              <a:rPr lang="zh-CN" altLang="en-US" sz="2400" dirty="0">
                <a:latin typeface="Times New Roman" panose="02020603050405020304" pitchFamily="18" charset="0"/>
              </a:rPr>
              <a:t>属性定义，</a:t>
            </a:r>
            <a:r>
              <a:rPr lang="en-US" altLang="zh-CN" sz="2400" dirty="0">
                <a:latin typeface="Times New Roman" panose="02020603050405020304" pitchFamily="18" charset="0"/>
              </a:rPr>
              <a:t>S</a:t>
            </a:r>
            <a:r>
              <a:rPr lang="zh-CN" altLang="en-US" sz="2400" dirty="0">
                <a:latin typeface="Times New Roman" panose="02020603050405020304" pitchFamily="18" charset="0"/>
              </a:rPr>
              <a:t>属性定义</a:t>
            </a:r>
            <a:endParaRPr lang="en-US" altLang="zh-CN" sz="2400" dirty="0">
              <a:latin typeface="Times New Roman" panose="02020603050405020304" pitchFamily="18" charset="0"/>
            </a:endParaRPr>
          </a:p>
          <a:p>
            <a:pPr marL="457200" lvl="0" indent="-457200" eaLnBrk="1" hangingPunct="1">
              <a:spcBef>
                <a:spcPct val="50000"/>
              </a:spcBef>
              <a:buClrTx/>
              <a:buSzTx/>
              <a:buFontTx/>
              <a:buAutoNum type="arabicPeriod"/>
            </a:pPr>
            <a:endParaRPr lang="en-US" altLang="zh-CN" sz="2400" dirty="0">
              <a:latin typeface="Times New Roman" panose="02020603050405020304" pitchFamily="18" charset="0"/>
            </a:endParaRP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4"/>
          <p:cNvSpPr txBox="1">
            <a:spLocks noGrp="1"/>
          </p:cNvSpPr>
          <p:nvPr>
            <p:ph type="sldNum" sz="quarter" idx="11"/>
          </p:nvPr>
        </p:nvSpPr>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pic>
        <p:nvPicPr>
          <p:cNvPr id="12291" name="图片 2"/>
          <p:cNvPicPr>
            <a:picLocks noChangeAspect="1"/>
          </p:cNvPicPr>
          <p:nvPr/>
        </p:nvPicPr>
        <p:blipFill>
          <a:blip r:embed="rId1"/>
          <a:stretch>
            <a:fillRect/>
          </a:stretch>
        </p:blipFill>
        <p:spPr>
          <a:xfrm>
            <a:off x="250825" y="549275"/>
            <a:ext cx="7921625" cy="3802063"/>
          </a:xfrm>
          <a:prstGeom prst="rect">
            <a:avLst/>
          </a:prstGeom>
          <a:noFill/>
          <a:ln w="9525">
            <a:noFill/>
          </a:ln>
        </p:spPr>
      </p:pic>
      <p:pic>
        <p:nvPicPr>
          <p:cNvPr id="12292" name="图片 3"/>
          <p:cNvPicPr>
            <a:picLocks noChangeAspect="1"/>
          </p:cNvPicPr>
          <p:nvPr/>
        </p:nvPicPr>
        <p:blipFill>
          <a:blip r:embed="rId2"/>
          <a:stretch>
            <a:fillRect/>
          </a:stretch>
        </p:blipFill>
        <p:spPr>
          <a:xfrm>
            <a:off x="2339975" y="4271963"/>
            <a:ext cx="4533900" cy="2436812"/>
          </a:xfrm>
          <a:prstGeom prst="rect">
            <a:avLst/>
          </a:prstGeom>
          <a:noFill/>
          <a:ln w="9525">
            <a:noFill/>
          </a:ln>
        </p:spPr>
      </p:pic>
    </p:spTree>
  </p:cSld>
  <p:clrMapOvr>
    <a:masterClrMapping/>
  </p:clrMapOvr>
  <p:transition>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4"/>
          <p:cNvSpPr txBox="1">
            <a:spLocks noGrp="1"/>
          </p:cNvSpPr>
          <p:nvPr>
            <p:ph type="sldNum" sz="quarter" idx="11"/>
          </p:nvPr>
        </p:nvSpPr>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pic>
        <p:nvPicPr>
          <p:cNvPr id="13315" name="图片 1"/>
          <p:cNvPicPr>
            <a:picLocks noChangeAspect="1"/>
          </p:cNvPicPr>
          <p:nvPr/>
        </p:nvPicPr>
        <p:blipFill>
          <a:blip r:embed="rId1"/>
          <a:stretch>
            <a:fillRect/>
          </a:stretch>
        </p:blipFill>
        <p:spPr>
          <a:xfrm>
            <a:off x="468313" y="981075"/>
            <a:ext cx="7978775" cy="4622800"/>
          </a:xfrm>
          <a:prstGeom prst="rect">
            <a:avLst/>
          </a:prstGeom>
          <a:noFill/>
          <a:ln w="9525">
            <a:noFill/>
          </a:ln>
        </p:spPr>
      </p:pic>
    </p:spTree>
  </p:cSld>
  <p:clrMapOvr>
    <a:masterClrMapping/>
  </p:clrMapOvr>
  <p:transition>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2"/>
          <p:cNvSpPr txBox="1">
            <a:spLocks noGrp="1"/>
          </p:cNvSpPr>
          <p:nvPr>
            <p:ph type="sldNum" sz="quarter" idx="11"/>
          </p:nvPr>
        </p:nvSpPr>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pic>
        <p:nvPicPr>
          <p:cNvPr id="21507" name="图片 2"/>
          <p:cNvPicPr>
            <a:picLocks noChangeAspect="1"/>
          </p:cNvPicPr>
          <p:nvPr/>
        </p:nvPicPr>
        <p:blipFill>
          <a:blip r:embed="rId1"/>
          <a:stretch>
            <a:fillRect/>
          </a:stretch>
        </p:blipFill>
        <p:spPr>
          <a:xfrm>
            <a:off x="323850" y="765175"/>
            <a:ext cx="8186738" cy="4203700"/>
          </a:xfrm>
          <a:prstGeom prst="rect">
            <a:avLst/>
          </a:prstGeom>
          <a:noFill/>
          <a:ln w="9525">
            <a:noFill/>
          </a:ln>
        </p:spPr>
      </p:pic>
      <p:sp>
        <p:nvSpPr>
          <p:cNvPr id="4" name="矩形 3"/>
          <p:cNvSpPr/>
          <p:nvPr/>
        </p:nvSpPr>
        <p:spPr>
          <a:xfrm>
            <a:off x="755650" y="5084763"/>
            <a:ext cx="7754938" cy="846138"/>
          </a:xfrm>
          <a:prstGeom prst="rect">
            <a:avLst/>
          </a:prstGeom>
        </p:spPr>
        <p:txBody>
          <a:bodyPr>
            <a:spAutoFit/>
          </a:bodyPr>
          <a:lstStyle/>
          <a:p>
            <a:pPr marL="342900" marR="0" lvl="0" indent="-342900" algn="l" defTabSz="914400" rtl="0" eaLnBrk="1" fontAlgn="base" latinLnBrk="0" hangingPunct="1">
              <a:lnSpc>
                <a:spcPct val="100000"/>
              </a:lnSpc>
              <a:spcBef>
                <a:spcPct val="50000"/>
              </a:spcBef>
              <a:spcAft>
                <a:spcPct val="0"/>
              </a:spcAft>
              <a:buClrTx/>
              <a:buSzTx/>
              <a:buFont typeface="Wingdings" panose="05000000000000000000" pitchFamily="2" charset="2"/>
              <a:buChar char="Ø"/>
              <a:defRPr/>
            </a:pPr>
            <a:r>
              <a:rPr kumimoji="0" lang="zh-CN" altLang="en-US" sz="2450" b="1" i="0" u="none" strike="noStrike" kern="1200" cap="none" spc="0" normalizeH="0" baseline="0" noProof="0" dirty="0">
                <a:ln>
                  <a:noFill/>
                </a:ln>
                <a:solidFill>
                  <a:schemeClr val="tx1"/>
                </a:solidFill>
                <a:effectLst/>
                <a:highlight>
                  <a:srgbClr val="FFFF00"/>
                </a:highlight>
                <a:uLnTx/>
                <a:uFillTx/>
                <a:latin typeface="楷体" panose="02010609060101010101" pitchFamily="49" charset="-122"/>
                <a:ea typeface="楷体" panose="02010609060101010101" pitchFamily="49" charset="-122"/>
                <a:cs typeface="+mn-cs"/>
              </a:rPr>
              <a:t>开始符号不具有任何继承属性</a:t>
            </a:r>
            <a:r>
              <a:rPr kumimoji="0" lang="zh-CN" altLang="en-US" sz="245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，除非另有说明，如果有继承属性，在属性计算前要给定初始值。</a:t>
            </a:r>
            <a:endParaRPr kumimoji="0" lang="zh-CN" altLang="en-US" sz="245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p:transition>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2"/>
          <p:cNvSpPr txBox="1">
            <a:spLocks noGrp="1"/>
          </p:cNvSpPr>
          <p:nvPr>
            <p:ph type="sldNum" sz="quarter" idx="11"/>
          </p:nvPr>
        </p:nvSpPr>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pic>
        <p:nvPicPr>
          <p:cNvPr id="20483" name="图片 1"/>
          <p:cNvPicPr>
            <a:picLocks noChangeAspect="1"/>
          </p:cNvPicPr>
          <p:nvPr/>
        </p:nvPicPr>
        <p:blipFill>
          <a:blip r:embed="rId1"/>
          <a:stretch>
            <a:fillRect/>
          </a:stretch>
        </p:blipFill>
        <p:spPr>
          <a:xfrm>
            <a:off x="303213" y="836613"/>
            <a:ext cx="8383587" cy="4486275"/>
          </a:xfrm>
          <a:prstGeom prst="rect">
            <a:avLst/>
          </a:prstGeom>
          <a:noFill/>
          <a:ln w="9525">
            <a:noFill/>
          </a:ln>
        </p:spPr>
      </p:pic>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4"/>
          <p:cNvSpPr txBox="1">
            <a:spLocks noGrp="1"/>
          </p:cNvSpPr>
          <p:nvPr>
            <p:ph type="sldNum" sz="quarter" idx="11"/>
          </p:nvPr>
        </p:nvSpPr>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34819" name="Rectangle 4"/>
          <p:cNvSpPr>
            <a:spLocks noGrp="1"/>
          </p:cNvSpPr>
          <p:nvPr>
            <p:ph idx="1"/>
          </p:nvPr>
        </p:nvSpPr>
        <p:spPr>
          <a:xfrm>
            <a:off x="468313" y="765175"/>
            <a:ext cx="3644900" cy="601663"/>
          </a:xfrm>
        </p:spPr>
        <p:txBody>
          <a:bodyPr vert="horz" wrap="square" lIns="91440" tIns="45720" rIns="91440" bIns="45720" anchor="t" anchorCtr="0"/>
          <a:p>
            <a:pPr eaLnBrk="1" hangingPunct="1"/>
            <a:r>
              <a:rPr lang="en-US" altLang="zh-CN" sz="2800" b="1" dirty="0">
                <a:solidFill>
                  <a:srgbClr val="660066"/>
                </a:solidFill>
                <a:latin typeface="宋体" panose="02010600030101010101" pitchFamily="2" charset="-122"/>
                <a:cs typeface="Times New Roman" panose="02020603050405020304" pitchFamily="18" charset="0"/>
              </a:rPr>
              <a:t>5.2.3 S</a:t>
            </a:r>
            <a:r>
              <a:rPr lang="zh-CN" altLang="en-US" sz="2800" b="1" dirty="0">
                <a:solidFill>
                  <a:srgbClr val="660066"/>
                </a:solidFill>
                <a:latin typeface="宋体" panose="02010600030101010101" pitchFamily="2" charset="-122"/>
                <a:cs typeface="Times New Roman" panose="02020603050405020304" pitchFamily="18" charset="0"/>
              </a:rPr>
              <a:t>属性定义</a:t>
            </a:r>
            <a:endParaRPr lang="zh-CN" altLang="en-US" sz="2800" b="1" dirty="0">
              <a:solidFill>
                <a:srgbClr val="660066"/>
              </a:solidFill>
              <a:latin typeface="宋体" panose="02010600030101010101" pitchFamily="2" charset="-122"/>
              <a:ea typeface="Times New Roman" panose="02020603050405020304" pitchFamily="18" charset="0"/>
            </a:endParaRPr>
          </a:p>
        </p:txBody>
      </p:sp>
      <p:sp>
        <p:nvSpPr>
          <p:cNvPr id="34820" name="Text Box 5"/>
          <p:cNvSpPr txBox="1"/>
          <p:nvPr/>
        </p:nvSpPr>
        <p:spPr>
          <a:xfrm>
            <a:off x="806450" y="1484313"/>
            <a:ext cx="7561263" cy="831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t>       </a:t>
            </a:r>
            <a:r>
              <a:rPr lang="zh-CN" altLang="en-US" sz="2400" dirty="0"/>
              <a:t>如果一个</a:t>
            </a:r>
            <a:r>
              <a:rPr lang="en-US" altLang="zh-CN" sz="2400" dirty="0"/>
              <a:t>SDD</a:t>
            </a:r>
            <a:r>
              <a:rPr lang="zh-CN" altLang="en-US" sz="2400" dirty="0"/>
              <a:t>的每个属性都是</a:t>
            </a:r>
            <a:r>
              <a:rPr lang="zh-CN" altLang="en-US" sz="2400" dirty="0">
                <a:solidFill>
                  <a:srgbClr val="0000FF"/>
                </a:solidFill>
              </a:rPr>
              <a:t>综合属性</a:t>
            </a:r>
            <a:r>
              <a:rPr lang="zh-CN" altLang="en-US" sz="2400" dirty="0"/>
              <a:t>，它就是</a:t>
            </a:r>
            <a:r>
              <a:rPr lang="en-US" altLang="zh-CN" sz="2400" b="1" i="1" dirty="0">
                <a:solidFill>
                  <a:srgbClr val="0000FF"/>
                </a:solidFill>
              </a:rPr>
              <a:t>S</a:t>
            </a:r>
            <a:r>
              <a:rPr lang="zh-CN" altLang="en-US" sz="2400" b="1" i="1" dirty="0">
                <a:solidFill>
                  <a:srgbClr val="0000FF"/>
                </a:solidFill>
              </a:rPr>
              <a:t>属性</a:t>
            </a:r>
            <a:r>
              <a:rPr lang="zh-CN" altLang="en-US" sz="2400" dirty="0"/>
              <a:t>的。</a:t>
            </a:r>
            <a:endParaRPr lang="zh-CN" altLang="en-US" sz="2400" dirty="0"/>
          </a:p>
        </p:txBody>
      </p:sp>
      <p:sp>
        <p:nvSpPr>
          <p:cNvPr id="34821" name="Text Box 6"/>
          <p:cNvSpPr txBox="1"/>
          <p:nvPr/>
        </p:nvSpPr>
        <p:spPr>
          <a:xfrm>
            <a:off x="827088" y="4868863"/>
            <a:ext cx="7632700"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t>       </a:t>
            </a:r>
            <a:r>
              <a:rPr lang="zh-CN" altLang="en-US" sz="2400" dirty="0"/>
              <a:t>如果一个</a:t>
            </a:r>
            <a:r>
              <a:rPr lang="en-US" altLang="zh-CN" sz="2400" dirty="0"/>
              <a:t>SDD</a:t>
            </a:r>
            <a:r>
              <a:rPr lang="zh-CN" altLang="en-US" sz="2400" dirty="0"/>
              <a:t>是</a:t>
            </a:r>
            <a:r>
              <a:rPr lang="en-US" altLang="zh-CN" sz="2400" dirty="0"/>
              <a:t>S</a:t>
            </a:r>
            <a:r>
              <a:rPr lang="zh-CN" altLang="en-US" sz="2400" dirty="0"/>
              <a:t>属性的，则可以按照分析树结点的任何</a:t>
            </a:r>
            <a:r>
              <a:rPr lang="zh-CN" altLang="en-US" sz="2400" dirty="0">
                <a:solidFill>
                  <a:srgbClr val="0000FF"/>
                </a:solidFill>
              </a:rPr>
              <a:t>自底向上顺序</a:t>
            </a:r>
            <a:r>
              <a:rPr lang="zh-CN" altLang="en-US" sz="2400" dirty="0"/>
              <a:t>计算各个属性的值，并可以在</a:t>
            </a:r>
            <a:r>
              <a:rPr lang="zh-CN" altLang="en-US" sz="2400" dirty="0">
                <a:solidFill>
                  <a:srgbClr val="0000FF"/>
                </a:solidFill>
              </a:rPr>
              <a:t>自底向上的语法分析</a:t>
            </a:r>
            <a:r>
              <a:rPr lang="zh-CN" altLang="en-US" sz="2400" dirty="0"/>
              <a:t>过程中实现。</a:t>
            </a:r>
            <a:r>
              <a:rPr lang="en-US" altLang="zh-CN" sz="2400" dirty="0"/>
              <a:t> </a:t>
            </a:r>
            <a:r>
              <a:rPr lang="en-US" altLang="zh-CN" sz="2400" dirty="0">
                <a:highlight>
                  <a:srgbClr val="FFFF00"/>
                </a:highlight>
              </a:rPr>
              <a:t>  LR</a:t>
            </a:r>
            <a:r>
              <a:rPr lang="zh-CN" altLang="en-US" sz="2400" dirty="0">
                <a:highlight>
                  <a:srgbClr val="FFFF00"/>
                </a:highlight>
              </a:rPr>
              <a:t>分析，</a:t>
            </a:r>
            <a:r>
              <a:rPr lang="zh-CN" altLang="en-US" sz="2400" dirty="0">
                <a:highlight>
                  <a:srgbClr val="FFFF00"/>
                </a:highlight>
                <a:sym typeface="+mn-ea"/>
              </a:rPr>
              <a:t>所有动作都在产生式最右端的</a:t>
            </a:r>
            <a:r>
              <a:rPr lang="en-US" altLang="zh-CN" sz="2400" dirty="0">
                <a:highlight>
                  <a:srgbClr val="FFFF00"/>
                </a:highlight>
                <a:sym typeface="+mn-ea"/>
              </a:rPr>
              <a:t>SDT</a:t>
            </a:r>
            <a:r>
              <a:rPr lang="zh-CN" altLang="en-US" sz="2400" dirty="0">
                <a:highlight>
                  <a:srgbClr val="FFFF00"/>
                </a:highlight>
                <a:sym typeface="+mn-ea"/>
              </a:rPr>
              <a:t>称为</a:t>
            </a:r>
            <a:r>
              <a:rPr lang="zh-CN" altLang="en-US" sz="2400" b="1" dirty="0">
                <a:highlight>
                  <a:srgbClr val="FFFF00"/>
                </a:highlight>
                <a:sym typeface="+mn-ea"/>
              </a:rPr>
              <a:t>后缀翻译方案，用此实现</a:t>
            </a:r>
            <a:endParaRPr lang="zh-CN" altLang="en-US" sz="2400" b="1" dirty="0">
              <a:highlight>
                <a:srgbClr val="FFFF00"/>
              </a:highlight>
              <a:sym typeface="+mn-ea"/>
            </a:endParaRPr>
          </a:p>
        </p:txBody>
      </p:sp>
      <p:pic>
        <p:nvPicPr>
          <p:cNvPr id="34822" name="图片 1"/>
          <p:cNvPicPr>
            <a:picLocks noChangeAspect="1"/>
          </p:cNvPicPr>
          <p:nvPr/>
        </p:nvPicPr>
        <p:blipFill>
          <a:blip r:embed="rId1"/>
          <a:stretch>
            <a:fillRect/>
          </a:stretch>
        </p:blipFill>
        <p:spPr>
          <a:xfrm>
            <a:off x="2195513" y="2181225"/>
            <a:ext cx="4706937" cy="2687638"/>
          </a:xfrm>
          <a:prstGeom prst="rect">
            <a:avLst/>
          </a:prstGeom>
          <a:noFill/>
          <a:ln w="9525">
            <a:noFill/>
          </a:ln>
        </p:spPr>
      </p:pic>
    </p:spTree>
  </p:cSld>
  <p:clrMapOvr>
    <a:masterClrMapping/>
  </p:clrMapOvr>
  <p:transition>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4"/>
          <p:cNvSpPr txBox="1">
            <a:spLocks noGrp="1"/>
          </p:cNvSpPr>
          <p:nvPr>
            <p:ph type="sldNum" sz="quarter" idx="11"/>
          </p:nvPr>
        </p:nvSpPr>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35843" name="Rectangle 4"/>
          <p:cNvSpPr>
            <a:spLocks noGrp="1"/>
          </p:cNvSpPr>
          <p:nvPr>
            <p:ph idx="1"/>
          </p:nvPr>
        </p:nvSpPr>
        <p:spPr>
          <a:xfrm>
            <a:off x="468313" y="765175"/>
            <a:ext cx="3644900" cy="601663"/>
          </a:xfrm>
        </p:spPr>
        <p:txBody>
          <a:bodyPr vert="horz" wrap="square" lIns="91440" tIns="45720" rIns="91440" bIns="45720" anchor="t" anchorCtr="0"/>
          <a:p>
            <a:pPr eaLnBrk="1" hangingPunct="1"/>
            <a:r>
              <a:rPr lang="en-US" altLang="zh-CN" sz="2800" b="1" dirty="0">
                <a:solidFill>
                  <a:srgbClr val="660066"/>
                </a:solidFill>
                <a:latin typeface="宋体" panose="02010600030101010101" pitchFamily="2" charset="-122"/>
                <a:cs typeface="Times New Roman" panose="02020603050405020304" pitchFamily="18" charset="0"/>
              </a:rPr>
              <a:t>5.2.3 L</a:t>
            </a:r>
            <a:r>
              <a:rPr lang="zh-CN" altLang="en-US" sz="2800" b="1" dirty="0">
                <a:solidFill>
                  <a:srgbClr val="660066"/>
                </a:solidFill>
                <a:latin typeface="宋体" panose="02010600030101010101" pitchFamily="2" charset="-122"/>
                <a:cs typeface="Times New Roman" panose="02020603050405020304" pitchFamily="18" charset="0"/>
              </a:rPr>
              <a:t>属性定义</a:t>
            </a:r>
            <a:endParaRPr lang="zh-CN" altLang="en-US" sz="2800" b="1" dirty="0">
              <a:solidFill>
                <a:srgbClr val="660066"/>
              </a:solidFill>
              <a:latin typeface="宋体" panose="02010600030101010101" pitchFamily="2" charset="-122"/>
              <a:ea typeface="Times New Roman" panose="02020603050405020304" pitchFamily="18" charset="0"/>
            </a:endParaRPr>
          </a:p>
        </p:txBody>
      </p:sp>
      <p:sp>
        <p:nvSpPr>
          <p:cNvPr id="35844" name="Text Box 5"/>
          <p:cNvSpPr txBox="1"/>
          <p:nvPr/>
        </p:nvSpPr>
        <p:spPr>
          <a:xfrm>
            <a:off x="684213" y="1700213"/>
            <a:ext cx="7921625" cy="3232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t>       </a:t>
            </a:r>
            <a:r>
              <a:rPr lang="zh-CN" altLang="en-US" sz="2400" dirty="0"/>
              <a:t>这类</a:t>
            </a:r>
            <a:r>
              <a:rPr lang="en-US" altLang="zh-CN" sz="2400" dirty="0"/>
              <a:t>SDD</a:t>
            </a:r>
            <a:r>
              <a:rPr lang="zh-CN" altLang="en-US" sz="2400" dirty="0"/>
              <a:t>的思想是在一个产生式体所关联的各个属性之间，</a:t>
            </a:r>
            <a:r>
              <a:rPr lang="zh-CN" altLang="en-US" sz="2400" dirty="0">
                <a:solidFill>
                  <a:srgbClr val="0000FF"/>
                </a:solidFill>
              </a:rPr>
              <a:t>依赖图的边总是从左到右</a:t>
            </a:r>
            <a:r>
              <a:rPr lang="zh-CN" altLang="en-US" sz="2400" dirty="0"/>
              <a:t>，而不能从右到左（因此称为</a:t>
            </a:r>
            <a:r>
              <a:rPr lang="en-US" altLang="zh-CN" sz="2400" dirty="0"/>
              <a:t>L</a:t>
            </a:r>
            <a:r>
              <a:rPr lang="zh-CN" altLang="en-US" sz="2400" dirty="0"/>
              <a:t>属性的）。准确的说，</a:t>
            </a:r>
            <a:endParaRPr lang="zh-CN" altLang="en-US" sz="2400" dirty="0"/>
          </a:p>
          <a:p>
            <a:pPr marL="0" lvl="0" indent="0" eaLnBrk="1" hangingPunct="1">
              <a:spcBef>
                <a:spcPct val="50000"/>
              </a:spcBef>
              <a:buClrTx/>
              <a:buSzTx/>
              <a:buFontTx/>
              <a:buNone/>
            </a:pPr>
            <a:r>
              <a:rPr lang="zh-CN" altLang="en-US" sz="2400" dirty="0"/>
              <a:t>       如果对于每个产生式</a:t>
            </a:r>
            <a:r>
              <a:rPr lang="en-US" altLang="zh-CN" sz="2400" dirty="0"/>
              <a:t>A</a:t>
            </a:r>
            <a:r>
              <a:rPr lang="zh-CN" altLang="en-US" sz="2400" dirty="0"/>
              <a:t>－</a:t>
            </a:r>
            <a:r>
              <a:rPr lang="en-US" altLang="zh-CN" sz="2400" dirty="0"/>
              <a:t>&gt;X1X2…Xn</a:t>
            </a:r>
            <a:r>
              <a:rPr lang="zh-CN" altLang="en-US" sz="2400" dirty="0"/>
              <a:t>，其每个语义规则中的每个属性或者是综合属性，或者是</a:t>
            </a:r>
            <a:r>
              <a:rPr lang="en-US" altLang="zh-CN" sz="2400" dirty="0"/>
              <a:t>Xj</a:t>
            </a:r>
            <a:r>
              <a:rPr lang="zh-CN" altLang="en-US" sz="2400" dirty="0"/>
              <a:t>（</a:t>
            </a:r>
            <a:r>
              <a:rPr lang="en-US" altLang="zh-CN" sz="2400" dirty="0"/>
              <a:t>1&lt;=j&lt;=n) </a:t>
            </a:r>
            <a:r>
              <a:rPr lang="zh-CN" altLang="en-US" sz="2400" dirty="0"/>
              <a:t>的一个继承属性且这个继承属性仅依赖于：                                                                                    </a:t>
            </a:r>
            <a:endParaRPr lang="zh-CN" altLang="en-US" sz="2400" dirty="0"/>
          </a:p>
          <a:p>
            <a:pPr marL="0" lvl="0" indent="0" eaLnBrk="1" hangingPunct="1">
              <a:spcBef>
                <a:spcPct val="0"/>
              </a:spcBef>
              <a:buClrTx/>
              <a:buSzTx/>
              <a:buFontTx/>
              <a:buNone/>
            </a:pPr>
            <a:r>
              <a:rPr lang="zh-CN" altLang="en-US" sz="2400" dirty="0"/>
              <a:t>   </a:t>
            </a:r>
            <a:r>
              <a:rPr lang="en-US" altLang="zh-CN" sz="2400" dirty="0"/>
              <a:t>a. </a:t>
            </a:r>
            <a:r>
              <a:rPr lang="zh-CN" altLang="en-US" sz="2400" dirty="0"/>
              <a:t>产生式</a:t>
            </a:r>
            <a:r>
              <a:rPr lang="en-US" altLang="zh-CN" sz="2400" dirty="0"/>
              <a:t>Xj</a:t>
            </a:r>
            <a:r>
              <a:rPr lang="zh-CN" altLang="en-US" sz="2400" dirty="0"/>
              <a:t>的左边符号</a:t>
            </a:r>
            <a:r>
              <a:rPr lang="en-US" altLang="zh-CN" sz="2400" dirty="0"/>
              <a:t>X1</a:t>
            </a:r>
            <a:r>
              <a:rPr lang="zh-CN" altLang="en-US" sz="2400" dirty="0"/>
              <a:t>，</a:t>
            </a:r>
            <a:r>
              <a:rPr lang="en-US" altLang="zh-CN" sz="2400" dirty="0"/>
              <a:t>X2</a:t>
            </a:r>
            <a:r>
              <a:rPr lang="zh-CN" altLang="en-US" sz="2400" dirty="0"/>
              <a:t>，</a:t>
            </a:r>
            <a:r>
              <a:rPr lang="en-US" altLang="zh-CN" sz="2400" dirty="0"/>
              <a:t>…,Xj-1</a:t>
            </a:r>
            <a:r>
              <a:rPr lang="zh-CN" altLang="en-US" sz="2400" dirty="0"/>
              <a:t>的属性</a:t>
            </a:r>
            <a:endParaRPr lang="zh-CN" altLang="en-US" sz="2400" dirty="0"/>
          </a:p>
          <a:p>
            <a:pPr marL="0" lvl="0" indent="0" eaLnBrk="1" hangingPunct="1">
              <a:spcBef>
                <a:spcPct val="0"/>
              </a:spcBef>
              <a:buClrTx/>
              <a:buSzTx/>
              <a:buFontTx/>
              <a:buNone/>
            </a:pPr>
            <a:r>
              <a:rPr lang="zh-CN" altLang="en-US" sz="2400" dirty="0"/>
              <a:t>   </a:t>
            </a:r>
            <a:r>
              <a:rPr lang="en-US" altLang="zh-CN" sz="2400" dirty="0"/>
              <a:t>b. A</a:t>
            </a:r>
            <a:r>
              <a:rPr lang="zh-CN" altLang="en-US" sz="2400" dirty="0"/>
              <a:t>的继承属性</a:t>
            </a:r>
            <a:endParaRPr lang="zh-CN" altLang="en-US" sz="2400" dirty="0"/>
          </a:p>
        </p:txBody>
      </p:sp>
      <p:sp>
        <p:nvSpPr>
          <p:cNvPr id="247814" name="Text Box 6"/>
          <p:cNvSpPr txBox="1">
            <a:spLocks noChangeArrowheads="1"/>
          </p:cNvSpPr>
          <p:nvPr/>
        </p:nvSpPr>
        <p:spPr bwMode="auto">
          <a:xfrm>
            <a:off x="1258888" y="5300663"/>
            <a:ext cx="3951288" cy="396875"/>
          </a:xfrm>
          <a:prstGeom prst="rect">
            <a:avLst/>
          </a:prstGeom>
          <a:noFill/>
          <a:ln>
            <a:noFill/>
          </a:ln>
          <a:effectLst/>
        </p:spPr>
        <p:txBody>
          <a:bodyPr wrap="none">
            <a:spAutoFit/>
          </a:bodyPr>
          <a:lstStyle/>
          <a:p>
            <a:pPr marR="0" defTabSz="914400">
              <a:buClrTx/>
              <a:buSzTx/>
              <a:buFontTx/>
              <a:buNone/>
              <a:defRPr/>
            </a:pPr>
            <a:r>
              <a:rPr kumimoji="0" lang="en-US" altLang="zh-CN" sz="20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S-</a:t>
            </a:r>
            <a:r>
              <a:rPr kumimoji="0" lang="zh-CN" altLang="en-US" sz="20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属性文法是</a:t>
            </a:r>
            <a:r>
              <a:rPr kumimoji="0" lang="en-US" altLang="zh-CN" sz="20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L-</a:t>
            </a:r>
            <a:r>
              <a:rPr kumimoji="0" lang="zh-CN" altLang="en-US" sz="20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属性文法吗？？？</a:t>
            </a:r>
            <a:endParaRPr kumimoji="0" lang="zh-CN" altLang="en-US" sz="20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47815" name="Text Box 7"/>
          <p:cNvSpPr txBox="1"/>
          <p:nvPr/>
        </p:nvSpPr>
        <p:spPr>
          <a:xfrm>
            <a:off x="1258888" y="5734050"/>
            <a:ext cx="3471862"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2000" dirty="0">
                <a:latin typeface="Times New Roman" panose="02020603050405020304" pitchFamily="18" charset="0"/>
              </a:rPr>
              <a:t>S-</a:t>
            </a:r>
            <a:r>
              <a:rPr lang="zh-CN" altLang="en-US" sz="2000" dirty="0">
                <a:latin typeface="Times New Roman" panose="02020603050405020304" pitchFamily="18" charset="0"/>
              </a:rPr>
              <a:t>属性文法是</a:t>
            </a:r>
            <a:r>
              <a:rPr lang="en-US" altLang="zh-CN" sz="2000" dirty="0">
                <a:latin typeface="Times New Roman" panose="02020603050405020304" pitchFamily="18" charset="0"/>
              </a:rPr>
              <a:t>L-</a:t>
            </a:r>
            <a:r>
              <a:rPr lang="zh-CN" altLang="en-US" sz="2000" dirty="0">
                <a:latin typeface="Times New Roman" panose="02020603050405020304" pitchFamily="18" charset="0"/>
              </a:rPr>
              <a:t>属性文法。</a:t>
            </a:r>
            <a:endParaRPr lang="zh-CN" altLang="en-US" sz="2000" dirty="0">
              <a:latin typeface="Times New Roman" panose="02020603050405020304" pitchFamily="18" charset="0"/>
            </a:endParaRPr>
          </a:p>
          <a:p>
            <a:pPr marL="0" lvl="0" indent="0">
              <a:spcBef>
                <a:spcPct val="0"/>
              </a:spcBef>
              <a:buClrTx/>
              <a:buSzTx/>
              <a:buFontTx/>
              <a:buNone/>
            </a:pPr>
            <a:r>
              <a:rPr lang="zh-CN" altLang="en-US" sz="2000" dirty="0">
                <a:latin typeface="Times New Roman" panose="02020603050405020304" pitchFamily="18" charset="0"/>
              </a:rPr>
              <a:t>因为</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限制只用于继承属性</a:t>
            </a:r>
            <a:endParaRPr lang="zh-CN" altLang="en-US" sz="2000" dirty="0">
              <a:latin typeface="Times New Roman" panose="02020603050405020304" pitchFamily="18" charset="0"/>
            </a:endParaRPr>
          </a:p>
        </p:txBody>
      </p:sp>
      <p:sp>
        <p:nvSpPr>
          <p:cNvPr id="2" name="文本框 1"/>
          <p:cNvSpPr txBox="1"/>
          <p:nvPr/>
        </p:nvSpPr>
        <p:spPr>
          <a:xfrm>
            <a:off x="7072630" y="5276850"/>
            <a:ext cx="3048000" cy="460375"/>
          </a:xfrm>
          <a:prstGeom prst="rect">
            <a:avLst/>
          </a:prstGeom>
          <a:noFill/>
        </p:spPr>
        <p:txBody>
          <a:bodyPr wrap="square" rtlCol="0">
            <a:spAutoFit/>
          </a:bodyPr>
          <a:p>
            <a:r>
              <a:rPr lang="en-US" altLang="zh-CN"/>
              <a:t>LL</a:t>
            </a:r>
            <a:r>
              <a:rPr lang="zh-CN" altLang="en-US"/>
              <a:t>分析</a:t>
            </a: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47815"/>
                                        </p:tgtEl>
                                        <p:attrNameLst>
                                          <p:attrName>style.visibility</p:attrName>
                                        </p:attrNameLst>
                                      </p:cBhvr>
                                      <p:to>
                                        <p:strVal val="visible"/>
                                      </p:to>
                                    </p:set>
                                    <p:anim calcmode="lin" valueType="num">
                                      <p:cBhvr>
                                        <p:cTn id="7" dur="1000" fill="hold"/>
                                        <p:tgtEl>
                                          <p:spTgt spid="247815"/>
                                        </p:tgtEl>
                                        <p:attrNameLst>
                                          <p:attrName>ppt_w</p:attrName>
                                        </p:attrNameLst>
                                      </p:cBhvr>
                                      <p:tavLst>
                                        <p:tav tm="0">
                                          <p:val>
                                            <p:fltVal val="0.000000"/>
                                          </p:val>
                                        </p:tav>
                                        <p:tav tm="100000">
                                          <p:val>
                                            <p:strVal val="#ppt_w"/>
                                          </p:val>
                                        </p:tav>
                                      </p:tavLst>
                                    </p:anim>
                                    <p:anim calcmode="lin" valueType="num">
                                      <p:cBhvr>
                                        <p:cTn id="8" dur="1000" fill="hold"/>
                                        <p:tgtEl>
                                          <p:spTgt spid="247815"/>
                                        </p:tgtEl>
                                        <p:attrNameLst>
                                          <p:attrName>ppt_h</p:attrName>
                                        </p:attrNameLst>
                                      </p:cBhvr>
                                      <p:tavLst>
                                        <p:tav tm="0">
                                          <p:val>
                                            <p:fltVal val="0.000000"/>
                                          </p:val>
                                        </p:tav>
                                        <p:tav tm="100000">
                                          <p:val>
                                            <p:strVal val="#ppt_h"/>
                                          </p:val>
                                        </p:tav>
                                      </p:tavLst>
                                    </p:anim>
                                    <p:anim calcmode="lin" valueType="num">
                                      <p:cBhvr>
                                        <p:cTn id="9" dur="1000" fill="hold"/>
                                        <p:tgtEl>
                                          <p:spTgt spid="247815"/>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247815"/>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4"/>
          <p:cNvSpPr txBox="1">
            <a:spLocks noGrp="1"/>
          </p:cNvSpPr>
          <p:nvPr>
            <p:ph type="sldNum" sz="quarter" idx="11"/>
          </p:nvPr>
        </p:nvSpPr>
        <p:spPr/>
        <p:txBody>
          <a:bodyPr anchor="b" anchorCtr="0"/>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44035" name="Rectangle 4"/>
          <p:cNvSpPr>
            <a:spLocks noGrp="1"/>
          </p:cNvSpPr>
          <p:nvPr>
            <p:ph idx="1"/>
          </p:nvPr>
        </p:nvSpPr>
        <p:spPr>
          <a:xfrm>
            <a:off x="611188" y="1485900"/>
            <a:ext cx="6048375" cy="504825"/>
          </a:xfrm>
        </p:spPr>
        <p:txBody>
          <a:bodyPr vert="horz" wrap="square" lIns="91440" tIns="45720" rIns="91440" bIns="45720" anchor="t" anchorCtr="0"/>
          <a:p>
            <a:pPr eaLnBrk="1" hangingPunct="1">
              <a:buNone/>
            </a:pPr>
            <a:r>
              <a:rPr lang="en-US" altLang="zh-CN" sz="2800" b="1" dirty="0">
                <a:solidFill>
                  <a:srgbClr val="660066"/>
                </a:solidFill>
                <a:latin typeface="宋体" panose="02010600030101010101" pitchFamily="2" charset="-122"/>
                <a:cs typeface="Times New Roman" panose="02020603050405020304" pitchFamily="18" charset="0"/>
              </a:rPr>
              <a:t>5.4.5 L</a:t>
            </a:r>
            <a:r>
              <a:rPr lang="zh-CN" altLang="en-US" sz="2800" b="1" dirty="0">
                <a:solidFill>
                  <a:srgbClr val="660066"/>
                </a:solidFill>
                <a:latin typeface="宋体" panose="02010600030101010101" pitchFamily="2" charset="-122"/>
                <a:cs typeface="Times New Roman" panose="02020603050405020304" pitchFamily="18" charset="0"/>
              </a:rPr>
              <a:t>属性定义的</a:t>
            </a:r>
            <a:r>
              <a:rPr lang="en-US" altLang="zh-CN" sz="2800" b="1" dirty="0">
                <a:solidFill>
                  <a:srgbClr val="660066"/>
                </a:solidFill>
                <a:latin typeface="宋体" panose="02010600030101010101" pitchFamily="2" charset="-122"/>
                <a:cs typeface="Times New Roman" panose="02020603050405020304" pitchFamily="18" charset="0"/>
              </a:rPr>
              <a:t>SDT</a:t>
            </a:r>
            <a:endParaRPr lang="en-US" altLang="zh-CN" sz="2800" b="1" dirty="0">
              <a:solidFill>
                <a:srgbClr val="660066"/>
              </a:solidFill>
              <a:latin typeface="宋体" panose="02010600030101010101" pitchFamily="2" charset="-122"/>
              <a:ea typeface="Times New Roman" panose="02020603050405020304" pitchFamily="18" charset="0"/>
            </a:endParaRPr>
          </a:p>
        </p:txBody>
      </p:sp>
      <p:sp>
        <p:nvSpPr>
          <p:cNvPr id="44036" name="Text Box 5"/>
          <p:cNvSpPr txBox="1"/>
          <p:nvPr/>
        </p:nvSpPr>
        <p:spPr>
          <a:xfrm>
            <a:off x="695325" y="2492375"/>
            <a:ext cx="7991475" cy="2282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400" dirty="0"/>
              <a:t>将一个</a:t>
            </a:r>
            <a:r>
              <a:rPr lang="en-US" altLang="zh-CN" sz="2400" dirty="0"/>
              <a:t>L</a:t>
            </a:r>
            <a:r>
              <a:rPr lang="zh-CN" altLang="en-US" sz="2400" dirty="0"/>
              <a:t>属性的</a:t>
            </a:r>
            <a:r>
              <a:rPr lang="en-US" altLang="zh-CN" sz="2400" dirty="0"/>
              <a:t>SDD</a:t>
            </a:r>
            <a:r>
              <a:rPr lang="zh-CN" altLang="en-US" sz="2400" dirty="0"/>
              <a:t>转换为一个</a:t>
            </a:r>
            <a:r>
              <a:rPr lang="en-US" altLang="zh-CN" sz="2400" dirty="0"/>
              <a:t>SDT</a:t>
            </a:r>
            <a:r>
              <a:rPr lang="zh-CN" altLang="en-US" sz="2400" dirty="0"/>
              <a:t>的规则如下：</a:t>
            </a:r>
            <a:endParaRPr lang="zh-CN" altLang="en-US" sz="2400" dirty="0"/>
          </a:p>
          <a:p>
            <a:pPr marL="0" lvl="0" indent="0" eaLnBrk="1" hangingPunct="1">
              <a:spcBef>
                <a:spcPct val="50000"/>
              </a:spcBef>
              <a:buClrTx/>
              <a:buSzTx/>
              <a:buFontTx/>
              <a:buNone/>
            </a:pPr>
            <a:r>
              <a:rPr lang="zh-CN" altLang="en-US" sz="2400" dirty="0"/>
              <a:t>（</a:t>
            </a:r>
            <a:r>
              <a:rPr lang="en-US" altLang="zh-CN" sz="2400" dirty="0"/>
              <a:t>1</a:t>
            </a:r>
            <a:r>
              <a:rPr lang="zh-CN" altLang="en-US" sz="2400" dirty="0"/>
              <a:t>）把计算某个</a:t>
            </a:r>
            <a:r>
              <a:rPr lang="zh-CN" altLang="en-US" sz="2400" dirty="0">
                <a:highlight>
                  <a:srgbClr val="FFFF00"/>
                </a:highlight>
              </a:rPr>
              <a:t>非终结符</a:t>
            </a:r>
            <a:r>
              <a:rPr lang="en-US" altLang="zh-CN" sz="2400" dirty="0">
                <a:highlight>
                  <a:srgbClr val="FFFF00"/>
                </a:highlight>
              </a:rPr>
              <a:t>A</a:t>
            </a:r>
            <a:r>
              <a:rPr lang="zh-CN" altLang="en-US" sz="2400" dirty="0">
                <a:highlight>
                  <a:srgbClr val="FFFF00"/>
                </a:highlight>
              </a:rPr>
              <a:t>的继承属性</a:t>
            </a:r>
            <a:r>
              <a:rPr lang="zh-CN" altLang="en-US" sz="2400" dirty="0"/>
              <a:t>的动作插入到产生式体中紧</a:t>
            </a:r>
            <a:r>
              <a:rPr lang="zh-CN" altLang="en-US" sz="2400" dirty="0">
                <a:highlight>
                  <a:srgbClr val="FFFF00"/>
                </a:highlight>
              </a:rPr>
              <a:t>靠在</a:t>
            </a:r>
            <a:r>
              <a:rPr lang="en-US" altLang="zh-CN" sz="2400" dirty="0">
                <a:highlight>
                  <a:srgbClr val="FFFF00"/>
                </a:highlight>
              </a:rPr>
              <a:t>A</a:t>
            </a:r>
            <a:r>
              <a:rPr lang="zh-CN" altLang="en-US" sz="2400" dirty="0">
                <a:highlight>
                  <a:srgbClr val="FFFF00"/>
                </a:highlight>
              </a:rPr>
              <a:t>的本次出现之前的</a:t>
            </a:r>
            <a:r>
              <a:rPr lang="zh-CN" altLang="en-US" sz="2400" dirty="0"/>
              <a:t>位置上。</a:t>
            </a:r>
            <a:endParaRPr lang="zh-CN" altLang="en-US" sz="2400" dirty="0"/>
          </a:p>
          <a:p>
            <a:pPr marL="0" lvl="0" indent="0" eaLnBrk="1" hangingPunct="1">
              <a:spcBef>
                <a:spcPct val="50000"/>
              </a:spcBef>
              <a:buClrTx/>
              <a:buSzTx/>
              <a:buFontTx/>
              <a:buNone/>
            </a:pPr>
            <a:r>
              <a:rPr lang="zh-CN" altLang="en-US" sz="2400" dirty="0"/>
              <a:t>（</a:t>
            </a:r>
            <a:r>
              <a:rPr lang="en-US" altLang="zh-CN" sz="2400" dirty="0"/>
              <a:t>2</a:t>
            </a:r>
            <a:r>
              <a:rPr lang="zh-CN" altLang="en-US" sz="2400" dirty="0"/>
              <a:t>）将计算一个</a:t>
            </a:r>
            <a:r>
              <a:rPr lang="zh-CN" altLang="en-US" sz="2400" dirty="0">
                <a:highlight>
                  <a:srgbClr val="FFFF00"/>
                </a:highlight>
              </a:rPr>
              <a:t>产生式头的综合属性</a:t>
            </a:r>
            <a:r>
              <a:rPr lang="zh-CN" altLang="en-US" sz="2400" dirty="0"/>
              <a:t>的动作放置在这个产生式体的</a:t>
            </a:r>
            <a:r>
              <a:rPr lang="zh-CN" altLang="en-US" sz="2400" dirty="0">
                <a:highlight>
                  <a:srgbClr val="FFFF00"/>
                </a:highlight>
              </a:rPr>
              <a:t>最右端</a:t>
            </a:r>
            <a:r>
              <a:rPr lang="zh-CN" altLang="en-US" sz="2400" dirty="0"/>
              <a:t>。</a:t>
            </a:r>
            <a:endParaRPr lang="zh-CN" altLang="en-US" sz="2400" dirty="0"/>
          </a:p>
        </p:txBody>
      </p:sp>
      <p:sp>
        <p:nvSpPr>
          <p:cNvPr id="44037" name="文本框 1"/>
          <p:cNvSpPr txBox="1"/>
          <p:nvPr/>
        </p:nvSpPr>
        <p:spPr>
          <a:xfrm>
            <a:off x="528638" y="736600"/>
            <a:ext cx="82899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2400" dirty="0">
                <a:solidFill>
                  <a:srgbClr val="FF0000"/>
                </a:solidFill>
              </a:rPr>
              <a:t>对于基础文法可以用</a:t>
            </a:r>
            <a:r>
              <a:rPr lang="en-US" altLang="zh-CN" sz="2400" dirty="0">
                <a:solidFill>
                  <a:srgbClr val="FF0000"/>
                </a:solidFill>
              </a:rPr>
              <a:t>LL</a:t>
            </a:r>
            <a:r>
              <a:rPr lang="zh-CN" altLang="en-US" sz="2400" dirty="0">
                <a:solidFill>
                  <a:srgbClr val="FF0000"/>
                </a:solidFill>
              </a:rPr>
              <a:t>分析技术，</a:t>
            </a:r>
            <a:r>
              <a:rPr lang="en-US" altLang="zh-CN" sz="2400" dirty="0">
                <a:solidFill>
                  <a:srgbClr val="FF0000"/>
                </a:solidFill>
              </a:rPr>
              <a:t>SDD</a:t>
            </a:r>
            <a:r>
              <a:rPr lang="zh-CN" altLang="en-US" sz="2400" dirty="0">
                <a:solidFill>
                  <a:srgbClr val="FF0000"/>
                </a:solidFill>
              </a:rPr>
              <a:t>是</a:t>
            </a:r>
            <a:r>
              <a:rPr lang="en-US" altLang="zh-CN" sz="2400" dirty="0">
                <a:solidFill>
                  <a:srgbClr val="FF0000"/>
                </a:solidFill>
              </a:rPr>
              <a:t>L</a:t>
            </a:r>
            <a:r>
              <a:rPr lang="zh-CN" altLang="en-US" sz="2400" dirty="0">
                <a:solidFill>
                  <a:srgbClr val="FF0000"/>
                </a:solidFill>
              </a:rPr>
              <a:t>属性的</a:t>
            </a:r>
            <a:endParaRPr lang="zh-CN" altLang="en-US" sz="2400" dirty="0">
              <a:solidFill>
                <a:srgbClr val="FF0000"/>
              </a:solidFill>
            </a:endParaRPr>
          </a:p>
        </p:txBody>
      </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5A74368-1142-4EBB-8B10-50C577E989BC}"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219" name="Text Box 4"/>
          <p:cNvSpPr txBox="1"/>
          <p:nvPr/>
        </p:nvSpPr>
        <p:spPr>
          <a:xfrm>
            <a:off x="446088" y="620713"/>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6</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9220" name="文本框 6"/>
          <p:cNvSpPr txBox="1">
            <a:spLocks noChangeArrowheads="1"/>
          </p:cNvSpPr>
          <p:nvPr/>
        </p:nvSpPr>
        <p:spPr bwMode="auto">
          <a:xfrm>
            <a:off x="877888" y="1916113"/>
            <a:ext cx="794226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50000"/>
              </a:spcBef>
              <a:spcAft>
                <a:spcPct val="0"/>
              </a:spcAft>
              <a:buClrTx/>
              <a:buSzTx/>
              <a:buFont typeface="Arial" panose="020B0604020202020204" pitchFamily="34" charset="0"/>
              <a:buAutoNum type="arabicPeriod"/>
              <a:defRPr/>
            </a:pPr>
            <a:r>
              <a:rPr kumimoji="0" lang="zh-CN" altLang="en-US"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中间代码的表示方法，包括图形化（语法树和</a:t>
            </a:r>
            <a:r>
              <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DAG)</a:t>
            </a:r>
            <a:r>
              <a:rPr kumimoji="0" lang="zh-CN" altLang="en-US"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、后缀表示法、三地址码表示法</a:t>
            </a:r>
            <a:endPar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 typeface="Arial" panose="020B0604020202020204" pitchFamily="34" charset="0"/>
              <a:buAutoNum type="arabicPeriod"/>
              <a:defRPr/>
            </a:pPr>
            <a:r>
              <a:rPr kumimoji="0" lang="zh-CN" altLang="en-US"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三地址码的实现，包括四元式、三元式、间接三元式</a:t>
            </a:r>
            <a:endPar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AutoNum type="arabicPeriod"/>
              <a:defRPr/>
            </a:pPr>
            <a:r>
              <a:rPr kumimoji="0" lang="zh-CN" altLang="en-US"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算术表达式与赋值语句、布尔表达式与控制流语句的翻译</a:t>
            </a:r>
            <a:endPar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 typeface="Wingdings" panose="05000000000000000000" pitchFamily="2" charset="2"/>
              <a:buNone/>
              <a:defRPr/>
            </a:pPr>
            <a:endPar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5D0B90A-47EC-4585-95E9-3A016E707FA6}"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43" name="Text Box 4"/>
          <p:cNvSpPr txBox="1"/>
          <p:nvPr/>
        </p:nvSpPr>
        <p:spPr>
          <a:xfrm>
            <a:off x="446088" y="620713"/>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7</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10244" name="文本框 6"/>
          <p:cNvSpPr txBox="1"/>
          <p:nvPr/>
        </p:nvSpPr>
        <p:spPr>
          <a:xfrm>
            <a:off x="877888" y="1916113"/>
            <a:ext cx="7942262" cy="15700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存储分配策略</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什么是活动记录，活动记录中保存的信息一般有哪些？</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非局部数据访问的实现方法：访问链，显示表</a:t>
            </a:r>
            <a:endParaRPr lang="zh-CN" altLang="en-US" sz="2400" dirty="0">
              <a:latin typeface="Times New Roman" panose="02020603050405020304" pitchFamily="18" charset="0"/>
            </a:endParaRPr>
          </a:p>
        </p:txBody>
      </p:sp>
    </p:spTree>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4588E5A-1604-4CEB-BEE0-D86D115B17A6}"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1267" name="Text Box 4"/>
          <p:cNvSpPr txBox="1"/>
          <p:nvPr/>
        </p:nvSpPr>
        <p:spPr>
          <a:xfrm>
            <a:off x="446088" y="620713"/>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8</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11268" name="文本框 6"/>
          <p:cNvSpPr txBox="1"/>
          <p:nvPr/>
        </p:nvSpPr>
        <p:spPr>
          <a:xfrm>
            <a:off x="1217613" y="1916113"/>
            <a:ext cx="7150100"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代码生成器设计中需要考虑的问题</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基本块的划分以及流图的构建</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基本块的</a:t>
            </a:r>
            <a:r>
              <a:rPr lang="en-US" altLang="zh-CN" sz="2400" dirty="0">
                <a:latin typeface="Times New Roman" panose="02020603050405020304" pitchFamily="18" charset="0"/>
              </a:rPr>
              <a:t>DAG</a:t>
            </a:r>
            <a:r>
              <a:rPr lang="zh-CN" altLang="en-US" sz="2400" dirty="0">
                <a:latin typeface="Times New Roman" panose="02020603050405020304" pitchFamily="18" charset="0"/>
              </a:rPr>
              <a:t>表示</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寄存器描述符、地址描述符</a:t>
            </a:r>
            <a:endParaRPr lang="en-US" altLang="zh-CN" sz="2400" dirty="0">
              <a:latin typeface="Times New Roman" panose="02020603050405020304" pitchFamily="18" charset="0"/>
            </a:endParaRPr>
          </a:p>
        </p:txBody>
      </p:sp>
    </p:spTree>
  </p:cSld>
  <p:clrMapOvr>
    <a:masterClrMapping/>
  </p:clrMapOvr>
  <p:transition>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buClrTx/>
              <a:buFontTx/>
            </a:pP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2290" name="Rectangle 4"/>
          <p:cNvSpPr/>
          <p:nvPr/>
        </p:nvSpPr>
        <p:spPr>
          <a:xfrm>
            <a:off x="539750" y="692150"/>
            <a:ext cx="6192838" cy="457200"/>
          </a:xfrm>
          <a:prstGeom prst="rect">
            <a:avLst/>
          </a:prstGeom>
          <a:noFill/>
          <a:ln w="9525">
            <a:noFill/>
          </a:ln>
        </p:spPr>
        <p:txBody>
          <a:bodyPr anchor="t" anchorCtr="0">
            <a:spAutoFit/>
          </a:bodyPr>
          <a:p>
            <a:pPr>
              <a:buClrTx/>
              <a:buFontTx/>
            </a:pPr>
            <a:r>
              <a:rPr lang="en-US" altLang="zh-CN" dirty="0">
                <a:latin typeface="楷体_GB2312" pitchFamily="49" charset="-122"/>
                <a:ea typeface="楷体_GB2312" pitchFamily="49" charset="-122"/>
              </a:rPr>
              <a:t>3.</a:t>
            </a:r>
            <a:r>
              <a:rPr lang="zh-CN" altLang="en-US" dirty="0">
                <a:latin typeface="楷体_GB2312" pitchFamily="49" charset="-122"/>
                <a:ea typeface="楷体_GB2312" pitchFamily="49" charset="-122"/>
              </a:rPr>
              <a:t>将三地址语句序列划分为基本块的算法</a:t>
            </a:r>
            <a:endParaRPr lang="zh-CN" altLang="en-US" dirty="0">
              <a:latin typeface="楷体_GB2312" pitchFamily="49" charset="-122"/>
              <a:ea typeface="楷体_GB2312" pitchFamily="49" charset="-122"/>
            </a:endParaRPr>
          </a:p>
        </p:txBody>
      </p:sp>
      <p:grpSp>
        <p:nvGrpSpPr>
          <p:cNvPr id="2" name="Group 5"/>
          <p:cNvGrpSpPr/>
          <p:nvPr/>
        </p:nvGrpSpPr>
        <p:grpSpPr>
          <a:xfrm>
            <a:off x="204788" y="1112838"/>
            <a:ext cx="7416800" cy="719137"/>
            <a:chOff x="450" y="1344"/>
            <a:chExt cx="4585" cy="816"/>
          </a:xfrm>
        </p:grpSpPr>
        <p:graphicFrame>
          <p:nvGraphicFramePr>
            <p:cNvPr id="12292" name="Object 6"/>
            <p:cNvGraphicFramePr>
              <a:graphicFrameLocks noChangeAspect="1"/>
            </p:cNvGraphicFramePr>
            <p:nvPr/>
          </p:nvGraphicFramePr>
          <p:xfrm>
            <a:off x="450" y="1344"/>
            <a:ext cx="4585" cy="816"/>
          </p:xfrm>
          <a:graphic>
            <a:graphicData uri="http://schemas.openxmlformats.org/presentationml/2006/ole">
              <mc:AlternateContent xmlns:mc="http://schemas.openxmlformats.org/markup-compatibility/2006">
                <mc:Choice xmlns:v="urn:schemas-microsoft-com:vml" Requires="v">
                  <p:oleObj spid="_x0000_s3086" name="" r:id="rId1" imgW="7581900" imgH="2768600" progId="Photoshop.Image.7">
                    <p:embed/>
                  </p:oleObj>
                </mc:Choice>
                <mc:Fallback>
                  <p:oleObj name="" r:id="rId1" imgW="7581900" imgH="2768600" progId="Photoshop.Image.7">
                    <p:embed/>
                    <p:pic>
                      <p:nvPicPr>
                        <p:cNvPr id="0" name="图片 3085"/>
                        <p:cNvPicPr/>
                        <p:nvPr/>
                      </p:nvPicPr>
                      <p:blipFill>
                        <a:blip r:embed="rId2"/>
                        <a:stretch>
                          <a:fillRect/>
                        </a:stretch>
                      </p:blipFill>
                      <p:spPr>
                        <a:xfrm>
                          <a:off x="450" y="1344"/>
                          <a:ext cx="4585" cy="816"/>
                        </a:xfrm>
                        <a:prstGeom prst="rect">
                          <a:avLst/>
                        </a:prstGeom>
                        <a:noFill/>
                        <a:ln w="38100">
                          <a:noFill/>
                          <a:miter/>
                        </a:ln>
                      </p:spPr>
                    </p:pic>
                  </p:oleObj>
                </mc:Fallback>
              </mc:AlternateContent>
            </a:graphicData>
          </a:graphic>
        </p:graphicFrame>
        <p:sp>
          <p:nvSpPr>
            <p:cNvPr id="12293" name="Rectangle 7"/>
            <p:cNvSpPr/>
            <p:nvPr/>
          </p:nvSpPr>
          <p:spPr>
            <a:xfrm>
              <a:off x="657" y="1481"/>
              <a:ext cx="4355" cy="519"/>
            </a:xfrm>
            <a:prstGeom prst="rect">
              <a:avLst/>
            </a:prstGeom>
            <a:noFill/>
            <a:ln w="9525">
              <a:noFill/>
            </a:ln>
          </p:spPr>
          <p:txBody>
            <a:bodyPr anchor="t" anchorCtr="0">
              <a:spAutoFit/>
            </a:bodyPr>
            <a:p>
              <a:pPr>
                <a:spcBef>
                  <a:spcPct val="50000"/>
                </a:spcBef>
                <a:buClrTx/>
                <a:buFontTx/>
              </a:pPr>
              <a:r>
                <a:rPr lang="en-US" altLang="zh-CN" dirty="0">
                  <a:solidFill>
                    <a:schemeClr val="tx2"/>
                  </a:solidFill>
                  <a:latin typeface="宋体" panose="02010600030101010101" pitchFamily="2" charset="-122"/>
                  <a:ea typeface="宋体" panose="02010600030101010101" pitchFamily="2" charset="-122"/>
                </a:rPr>
                <a:t>1. </a:t>
              </a:r>
              <a:r>
                <a:rPr lang="zh-CN" altLang="en-US" dirty="0">
                  <a:solidFill>
                    <a:schemeClr val="tx2"/>
                  </a:solidFill>
                  <a:latin typeface="宋体" panose="02010600030101010101" pitchFamily="2" charset="-122"/>
                  <a:ea typeface="宋体" panose="02010600030101010101" pitchFamily="2" charset="-122"/>
                </a:rPr>
                <a:t>确定入口语句的集合，所用规则如下：</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3" name="Group 8"/>
          <p:cNvGrpSpPr/>
          <p:nvPr/>
        </p:nvGrpSpPr>
        <p:grpSpPr>
          <a:xfrm>
            <a:off x="204788" y="1773238"/>
            <a:ext cx="3529012" cy="719137"/>
            <a:chOff x="450" y="1344"/>
            <a:chExt cx="4585" cy="816"/>
          </a:xfrm>
        </p:grpSpPr>
        <p:graphicFrame>
          <p:nvGraphicFramePr>
            <p:cNvPr id="12295" name="Object 9"/>
            <p:cNvGraphicFramePr>
              <a:graphicFrameLocks noChangeAspect="1"/>
            </p:cNvGraphicFramePr>
            <p:nvPr/>
          </p:nvGraphicFramePr>
          <p:xfrm>
            <a:off x="450" y="1344"/>
            <a:ext cx="4585" cy="816"/>
          </p:xfrm>
          <a:graphic>
            <a:graphicData uri="http://schemas.openxmlformats.org/presentationml/2006/ole">
              <mc:AlternateContent xmlns:mc="http://schemas.openxmlformats.org/markup-compatibility/2006">
                <mc:Choice xmlns:v="urn:schemas-microsoft-com:vml" Requires="v">
                  <p:oleObj spid="_x0000_s3076" name="" r:id="rId3" imgW="7581900" imgH="2768600" progId="Photoshop.Image.7">
                    <p:embed/>
                  </p:oleObj>
                </mc:Choice>
                <mc:Fallback>
                  <p:oleObj name="" r:id="rId3" imgW="7581900" imgH="2768600" progId="Photoshop.Image.7">
                    <p:embed/>
                    <p:pic>
                      <p:nvPicPr>
                        <p:cNvPr id="0" name="图片 3075"/>
                        <p:cNvPicPr/>
                        <p:nvPr/>
                      </p:nvPicPr>
                      <p:blipFill>
                        <a:blip r:embed="rId2"/>
                        <a:stretch>
                          <a:fillRect/>
                        </a:stretch>
                      </p:blipFill>
                      <p:spPr>
                        <a:xfrm>
                          <a:off x="450" y="1344"/>
                          <a:ext cx="4585" cy="816"/>
                        </a:xfrm>
                        <a:prstGeom prst="rect">
                          <a:avLst/>
                        </a:prstGeom>
                        <a:noFill/>
                        <a:ln w="38100">
                          <a:noFill/>
                          <a:miter/>
                        </a:ln>
                      </p:spPr>
                    </p:pic>
                  </p:oleObj>
                </mc:Fallback>
              </mc:AlternateContent>
            </a:graphicData>
          </a:graphic>
        </p:graphicFrame>
        <p:sp>
          <p:nvSpPr>
            <p:cNvPr id="12296" name="Rectangle 10"/>
            <p:cNvSpPr/>
            <p:nvPr/>
          </p:nvSpPr>
          <p:spPr>
            <a:xfrm>
              <a:off x="656" y="1481"/>
              <a:ext cx="4356" cy="519"/>
            </a:xfrm>
            <a:prstGeom prst="rect">
              <a:avLst/>
            </a:prstGeom>
            <a:noFill/>
            <a:ln w="9525">
              <a:noFill/>
            </a:ln>
          </p:spPr>
          <p:txBody>
            <a:bodyPr anchor="t" anchorCtr="0">
              <a:spAutoFit/>
            </a:bodyPr>
            <a:p>
              <a:pPr>
                <a:spcBef>
                  <a:spcPct val="50000"/>
                </a:spcBef>
                <a:buClrTx/>
                <a:buFontTx/>
              </a:pPr>
              <a:r>
                <a:rPr lang="en-US" altLang="zh-CN" dirty="0">
                  <a:solidFill>
                    <a:schemeClr val="tx2"/>
                  </a:solidFill>
                  <a:latin typeface="宋体" panose="02010600030101010101" pitchFamily="2" charset="-122"/>
                  <a:ea typeface="宋体" panose="02010600030101010101" pitchFamily="2" charset="-122"/>
                </a:rPr>
                <a:t>(1)</a:t>
              </a:r>
              <a:r>
                <a:rPr lang="zh-CN" altLang="en-US" dirty="0">
                  <a:solidFill>
                    <a:schemeClr val="tx2"/>
                  </a:solidFill>
                  <a:latin typeface="宋体" panose="02010600030101010101" pitchFamily="2" charset="-122"/>
                  <a:ea typeface="宋体" panose="02010600030101010101" pitchFamily="2" charset="-122"/>
                </a:rPr>
                <a:t>程序的第一个语句</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4" name="Group 11"/>
          <p:cNvGrpSpPr/>
          <p:nvPr/>
        </p:nvGrpSpPr>
        <p:grpSpPr>
          <a:xfrm>
            <a:off x="219075" y="2330450"/>
            <a:ext cx="7775575" cy="719138"/>
            <a:chOff x="657" y="2478"/>
            <a:chExt cx="4898" cy="453"/>
          </a:xfrm>
        </p:grpSpPr>
        <p:graphicFrame>
          <p:nvGraphicFramePr>
            <p:cNvPr id="12298" name="Object 12"/>
            <p:cNvGraphicFramePr>
              <a:graphicFrameLocks noChangeAspect="1"/>
            </p:cNvGraphicFramePr>
            <p:nvPr/>
          </p:nvGraphicFramePr>
          <p:xfrm>
            <a:off x="657" y="2478"/>
            <a:ext cx="4898" cy="453"/>
          </p:xfrm>
          <a:graphic>
            <a:graphicData uri="http://schemas.openxmlformats.org/presentationml/2006/ole">
              <mc:AlternateContent xmlns:mc="http://schemas.openxmlformats.org/markup-compatibility/2006">
                <mc:Choice xmlns:v="urn:schemas-microsoft-com:vml" Requires="v">
                  <p:oleObj spid="_x0000_s3083" name="" r:id="rId4" imgW="7581900" imgH="2768600" progId="Photoshop.Image.7">
                    <p:embed/>
                  </p:oleObj>
                </mc:Choice>
                <mc:Fallback>
                  <p:oleObj name="" r:id="rId4" imgW="7581900" imgH="2768600" progId="Photoshop.Image.7">
                    <p:embed/>
                    <p:pic>
                      <p:nvPicPr>
                        <p:cNvPr id="0" name="图片 3082"/>
                        <p:cNvPicPr/>
                        <p:nvPr/>
                      </p:nvPicPr>
                      <p:blipFill>
                        <a:blip r:embed="rId2"/>
                        <a:stretch>
                          <a:fillRect/>
                        </a:stretch>
                      </p:blipFill>
                      <p:spPr>
                        <a:xfrm>
                          <a:off x="657" y="2478"/>
                          <a:ext cx="4898" cy="453"/>
                        </a:xfrm>
                        <a:prstGeom prst="rect">
                          <a:avLst/>
                        </a:prstGeom>
                        <a:noFill/>
                        <a:ln w="38100">
                          <a:noFill/>
                          <a:miter/>
                        </a:ln>
                      </p:spPr>
                    </p:pic>
                  </p:oleObj>
                </mc:Fallback>
              </mc:AlternateContent>
            </a:graphicData>
          </a:graphic>
        </p:graphicFrame>
        <p:sp>
          <p:nvSpPr>
            <p:cNvPr id="12299" name="Rectangle 13"/>
            <p:cNvSpPr/>
            <p:nvPr/>
          </p:nvSpPr>
          <p:spPr>
            <a:xfrm>
              <a:off x="748" y="2554"/>
              <a:ext cx="4652" cy="288"/>
            </a:xfrm>
            <a:prstGeom prst="rect">
              <a:avLst/>
            </a:prstGeom>
            <a:noFill/>
            <a:ln w="9525">
              <a:noFill/>
            </a:ln>
          </p:spPr>
          <p:txBody>
            <a:bodyPr anchor="t" anchorCtr="0">
              <a:spAutoFit/>
            </a:bodyPr>
            <a:p>
              <a:pPr>
                <a:spcBef>
                  <a:spcPct val="50000"/>
                </a:spcBef>
                <a:buClrTx/>
                <a:buFontTx/>
              </a:pPr>
              <a:r>
                <a:rPr lang="en-US" altLang="zh-CN" dirty="0">
                  <a:solidFill>
                    <a:schemeClr val="tx2"/>
                  </a:solidFill>
                  <a:latin typeface="宋体" panose="02010600030101010101" pitchFamily="2" charset="-122"/>
                  <a:ea typeface="宋体" panose="02010600030101010101" pitchFamily="2" charset="-122"/>
                </a:rPr>
                <a:t>(2)</a:t>
              </a:r>
              <a:r>
                <a:rPr lang="zh-CN" altLang="en-US" dirty="0">
                  <a:solidFill>
                    <a:schemeClr val="tx2"/>
                  </a:solidFill>
                  <a:latin typeface="宋体" panose="02010600030101010101" pitchFamily="2" charset="-122"/>
                  <a:ea typeface="宋体" panose="02010600030101010101" pitchFamily="2" charset="-122"/>
                </a:rPr>
                <a:t>能由条件转移语句或无条件转移语句转移到的语句</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5" name="Group 14"/>
          <p:cNvGrpSpPr/>
          <p:nvPr/>
        </p:nvGrpSpPr>
        <p:grpSpPr>
          <a:xfrm>
            <a:off x="250825" y="2957513"/>
            <a:ext cx="5473700" cy="719137"/>
            <a:chOff x="657" y="2977"/>
            <a:chExt cx="3448" cy="453"/>
          </a:xfrm>
        </p:grpSpPr>
        <p:graphicFrame>
          <p:nvGraphicFramePr>
            <p:cNvPr id="12301" name="Object 15"/>
            <p:cNvGraphicFramePr>
              <a:graphicFrameLocks noChangeAspect="1"/>
            </p:cNvGraphicFramePr>
            <p:nvPr/>
          </p:nvGraphicFramePr>
          <p:xfrm>
            <a:off x="657" y="2977"/>
            <a:ext cx="3448" cy="453"/>
          </p:xfrm>
          <a:graphic>
            <a:graphicData uri="http://schemas.openxmlformats.org/presentationml/2006/ole">
              <mc:AlternateContent xmlns:mc="http://schemas.openxmlformats.org/markup-compatibility/2006">
                <mc:Choice xmlns:v="urn:schemas-microsoft-com:vml" Requires="v">
                  <p:oleObj spid="_x0000_s3077" name="" r:id="rId5" imgW="7581900" imgH="2768600" progId="Photoshop.Image.7">
                    <p:embed/>
                  </p:oleObj>
                </mc:Choice>
                <mc:Fallback>
                  <p:oleObj name="" r:id="rId5" imgW="7581900" imgH="2768600" progId="Photoshop.Image.7">
                    <p:embed/>
                    <p:pic>
                      <p:nvPicPr>
                        <p:cNvPr id="0" name="图片 3076"/>
                        <p:cNvPicPr/>
                        <p:nvPr/>
                      </p:nvPicPr>
                      <p:blipFill>
                        <a:blip r:embed="rId2"/>
                        <a:stretch>
                          <a:fillRect/>
                        </a:stretch>
                      </p:blipFill>
                      <p:spPr>
                        <a:xfrm>
                          <a:off x="657" y="2977"/>
                          <a:ext cx="3448" cy="453"/>
                        </a:xfrm>
                        <a:prstGeom prst="rect">
                          <a:avLst/>
                        </a:prstGeom>
                        <a:noFill/>
                        <a:ln w="38100">
                          <a:noFill/>
                          <a:miter/>
                        </a:ln>
                      </p:spPr>
                    </p:pic>
                  </p:oleObj>
                </mc:Fallback>
              </mc:AlternateContent>
            </a:graphicData>
          </a:graphic>
        </p:graphicFrame>
        <p:sp>
          <p:nvSpPr>
            <p:cNvPr id="12302" name="Rectangle 16"/>
            <p:cNvSpPr/>
            <p:nvPr/>
          </p:nvSpPr>
          <p:spPr>
            <a:xfrm>
              <a:off x="748" y="3053"/>
              <a:ext cx="3275" cy="288"/>
            </a:xfrm>
            <a:prstGeom prst="rect">
              <a:avLst/>
            </a:prstGeom>
            <a:noFill/>
            <a:ln w="9525">
              <a:noFill/>
            </a:ln>
          </p:spPr>
          <p:txBody>
            <a:bodyPr anchor="t" anchorCtr="0">
              <a:spAutoFit/>
            </a:bodyPr>
            <a:p>
              <a:pPr>
                <a:spcBef>
                  <a:spcPct val="50000"/>
                </a:spcBef>
                <a:buClrTx/>
                <a:buFontTx/>
              </a:pPr>
              <a:r>
                <a:rPr lang="en-US" altLang="zh-CN" dirty="0">
                  <a:solidFill>
                    <a:schemeClr val="tx2"/>
                  </a:solidFill>
                  <a:latin typeface="宋体" panose="02010600030101010101" pitchFamily="2" charset="-122"/>
                  <a:ea typeface="宋体" panose="02010600030101010101" pitchFamily="2" charset="-122"/>
                </a:rPr>
                <a:t>(3)</a:t>
              </a:r>
              <a:r>
                <a:rPr lang="zh-CN" altLang="en-US" dirty="0">
                  <a:solidFill>
                    <a:schemeClr val="tx2"/>
                  </a:solidFill>
                  <a:latin typeface="宋体" panose="02010600030101010101" pitchFamily="2" charset="-122"/>
                  <a:ea typeface="宋体" panose="02010600030101010101" pitchFamily="2" charset="-122"/>
                </a:rPr>
                <a:t>紧跟在条件转移语句后面的语句</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6" name="Group 17"/>
          <p:cNvGrpSpPr/>
          <p:nvPr/>
        </p:nvGrpSpPr>
        <p:grpSpPr>
          <a:xfrm>
            <a:off x="258763" y="4221163"/>
            <a:ext cx="7775575" cy="719137"/>
            <a:chOff x="450" y="1344"/>
            <a:chExt cx="4585" cy="816"/>
          </a:xfrm>
        </p:grpSpPr>
        <p:graphicFrame>
          <p:nvGraphicFramePr>
            <p:cNvPr id="12304" name="Object 18"/>
            <p:cNvGraphicFramePr>
              <a:graphicFrameLocks noChangeAspect="1"/>
            </p:cNvGraphicFramePr>
            <p:nvPr/>
          </p:nvGraphicFramePr>
          <p:xfrm>
            <a:off x="450" y="1344"/>
            <a:ext cx="4585" cy="816"/>
          </p:xfrm>
          <a:graphic>
            <a:graphicData uri="http://schemas.openxmlformats.org/presentationml/2006/ole">
              <mc:AlternateContent xmlns:mc="http://schemas.openxmlformats.org/markup-compatibility/2006">
                <mc:Choice xmlns:v="urn:schemas-microsoft-com:vml" Requires="v">
                  <p:oleObj spid="_x0000_s3080" name="" r:id="rId6" imgW="7581900" imgH="2768600" progId="Photoshop.Image.7">
                    <p:embed/>
                  </p:oleObj>
                </mc:Choice>
                <mc:Fallback>
                  <p:oleObj name="" r:id="rId6" imgW="7581900" imgH="2768600" progId="Photoshop.Image.7">
                    <p:embed/>
                    <p:pic>
                      <p:nvPicPr>
                        <p:cNvPr id="0" name="图片 3079"/>
                        <p:cNvPicPr/>
                        <p:nvPr/>
                      </p:nvPicPr>
                      <p:blipFill>
                        <a:blip r:embed="rId2"/>
                        <a:stretch>
                          <a:fillRect/>
                        </a:stretch>
                      </p:blipFill>
                      <p:spPr>
                        <a:xfrm>
                          <a:off x="450" y="1344"/>
                          <a:ext cx="4585" cy="816"/>
                        </a:xfrm>
                        <a:prstGeom prst="rect">
                          <a:avLst/>
                        </a:prstGeom>
                        <a:noFill/>
                        <a:ln w="38100">
                          <a:noFill/>
                          <a:miter/>
                        </a:ln>
                      </p:spPr>
                    </p:pic>
                  </p:oleObj>
                </mc:Fallback>
              </mc:AlternateContent>
            </a:graphicData>
          </a:graphic>
        </p:graphicFrame>
        <p:sp>
          <p:nvSpPr>
            <p:cNvPr id="12305" name="Rectangle 19"/>
            <p:cNvSpPr/>
            <p:nvPr/>
          </p:nvSpPr>
          <p:spPr>
            <a:xfrm>
              <a:off x="657" y="1481"/>
              <a:ext cx="4355" cy="519"/>
            </a:xfrm>
            <a:prstGeom prst="rect">
              <a:avLst/>
            </a:prstGeom>
            <a:noFill/>
            <a:ln w="9525">
              <a:noFill/>
            </a:ln>
          </p:spPr>
          <p:txBody>
            <a:bodyPr anchor="t" anchorCtr="0">
              <a:spAutoFit/>
            </a:bodyPr>
            <a:p>
              <a:pPr>
                <a:spcBef>
                  <a:spcPct val="50000"/>
                </a:spcBef>
                <a:buClrTx/>
                <a:buFontTx/>
              </a:pPr>
              <a:r>
                <a:rPr lang="en-US" altLang="zh-CN" dirty="0">
                  <a:solidFill>
                    <a:schemeClr val="tx2"/>
                  </a:solidFill>
                  <a:latin typeface="宋体" panose="02010600030101010101" pitchFamily="2" charset="-122"/>
                  <a:ea typeface="宋体" panose="02010600030101010101" pitchFamily="2" charset="-122"/>
                </a:rPr>
                <a:t>2. </a:t>
              </a:r>
              <a:r>
                <a:rPr lang="zh-CN" altLang="en-US" dirty="0">
                  <a:solidFill>
                    <a:schemeClr val="tx2"/>
                  </a:solidFill>
                  <a:latin typeface="宋体" panose="02010600030101010101" pitchFamily="2" charset="-122"/>
                  <a:ea typeface="宋体" panose="02010600030101010101" pitchFamily="2" charset="-122"/>
                </a:rPr>
                <a:t>对以上求出的每一入口语句，构造其所属的基本块</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7" name="Group 20"/>
          <p:cNvGrpSpPr/>
          <p:nvPr/>
        </p:nvGrpSpPr>
        <p:grpSpPr>
          <a:xfrm>
            <a:off x="250825" y="4724400"/>
            <a:ext cx="5257800" cy="719138"/>
            <a:chOff x="450" y="1344"/>
            <a:chExt cx="4585" cy="816"/>
          </a:xfrm>
        </p:grpSpPr>
        <p:graphicFrame>
          <p:nvGraphicFramePr>
            <p:cNvPr id="12307" name="Object 21"/>
            <p:cNvGraphicFramePr>
              <a:graphicFrameLocks noChangeAspect="1"/>
            </p:cNvGraphicFramePr>
            <p:nvPr/>
          </p:nvGraphicFramePr>
          <p:xfrm>
            <a:off x="450" y="1344"/>
            <a:ext cx="4585" cy="816"/>
          </p:xfrm>
          <a:graphic>
            <a:graphicData uri="http://schemas.openxmlformats.org/presentationml/2006/ole">
              <mc:AlternateContent xmlns:mc="http://schemas.openxmlformats.org/markup-compatibility/2006">
                <mc:Choice xmlns:v="urn:schemas-microsoft-com:vml" Requires="v">
                  <p:oleObj spid="_x0000_s3081" name="" r:id="rId7" imgW="7581900" imgH="2768600" progId="Photoshop.Image.7">
                    <p:embed/>
                  </p:oleObj>
                </mc:Choice>
                <mc:Fallback>
                  <p:oleObj name="" r:id="rId7" imgW="7581900" imgH="2768600" progId="Photoshop.Image.7">
                    <p:embed/>
                    <p:pic>
                      <p:nvPicPr>
                        <p:cNvPr id="0" name="图片 3080"/>
                        <p:cNvPicPr/>
                        <p:nvPr/>
                      </p:nvPicPr>
                      <p:blipFill>
                        <a:blip r:embed="rId2"/>
                        <a:stretch>
                          <a:fillRect/>
                        </a:stretch>
                      </p:blipFill>
                      <p:spPr>
                        <a:xfrm>
                          <a:off x="450" y="1344"/>
                          <a:ext cx="4585" cy="816"/>
                        </a:xfrm>
                        <a:prstGeom prst="rect">
                          <a:avLst/>
                        </a:prstGeom>
                        <a:noFill/>
                        <a:ln w="38100">
                          <a:noFill/>
                          <a:miter/>
                        </a:ln>
                      </p:spPr>
                    </p:pic>
                  </p:oleObj>
                </mc:Fallback>
              </mc:AlternateContent>
            </a:graphicData>
          </a:graphic>
        </p:graphicFrame>
        <p:sp>
          <p:nvSpPr>
            <p:cNvPr id="12308" name="Rectangle 22"/>
            <p:cNvSpPr/>
            <p:nvPr/>
          </p:nvSpPr>
          <p:spPr>
            <a:xfrm>
              <a:off x="656" y="1481"/>
              <a:ext cx="4355" cy="519"/>
            </a:xfrm>
            <a:prstGeom prst="rect">
              <a:avLst/>
            </a:prstGeom>
            <a:noFill/>
            <a:ln w="9525">
              <a:noFill/>
            </a:ln>
          </p:spPr>
          <p:txBody>
            <a:bodyPr anchor="t" anchorCtr="0">
              <a:spAutoFit/>
            </a:bodyPr>
            <a:p>
              <a:pPr>
                <a:spcBef>
                  <a:spcPct val="50000"/>
                </a:spcBef>
                <a:buClrTx/>
                <a:buFontTx/>
              </a:pPr>
              <a:r>
                <a:rPr lang="zh-CN" altLang="en-US" dirty="0">
                  <a:solidFill>
                    <a:schemeClr val="tx2"/>
                  </a:solidFill>
                  <a:latin typeface="宋体" panose="02010600030101010101" pitchFamily="2" charset="-122"/>
                  <a:ea typeface="宋体" panose="02010600030101010101" pitchFamily="2" charset="-122"/>
                </a:rPr>
                <a:t>它是由该入口语句（开始）到</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8" name="Group 23"/>
          <p:cNvGrpSpPr/>
          <p:nvPr/>
        </p:nvGrpSpPr>
        <p:grpSpPr>
          <a:xfrm>
            <a:off x="258763" y="5322888"/>
            <a:ext cx="6769100" cy="719137"/>
            <a:chOff x="450" y="1344"/>
            <a:chExt cx="4585" cy="816"/>
          </a:xfrm>
        </p:grpSpPr>
        <p:graphicFrame>
          <p:nvGraphicFramePr>
            <p:cNvPr id="12310" name="Object 24"/>
            <p:cNvGraphicFramePr>
              <a:graphicFrameLocks noChangeAspect="1"/>
            </p:cNvGraphicFramePr>
            <p:nvPr/>
          </p:nvGraphicFramePr>
          <p:xfrm>
            <a:off x="450" y="1344"/>
            <a:ext cx="4585" cy="816"/>
          </p:xfrm>
          <a:graphic>
            <a:graphicData uri="http://schemas.openxmlformats.org/presentationml/2006/ole">
              <mc:AlternateContent xmlns:mc="http://schemas.openxmlformats.org/markup-compatibility/2006">
                <mc:Choice xmlns:v="urn:schemas-microsoft-com:vml" Requires="v">
                  <p:oleObj spid="_x0000_s3082" name="" r:id="rId8" imgW="7581900" imgH="2768600" progId="Photoshop.Image.7">
                    <p:embed/>
                  </p:oleObj>
                </mc:Choice>
                <mc:Fallback>
                  <p:oleObj name="" r:id="rId8" imgW="7581900" imgH="2768600" progId="Photoshop.Image.7">
                    <p:embed/>
                    <p:pic>
                      <p:nvPicPr>
                        <p:cNvPr id="0" name="图片 3081"/>
                        <p:cNvPicPr/>
                        <p:nvPr/>
                      </p:nvPicPr>
                      <p:blipFill>
                        <a:blip r:embed="rId2"/>
                        <a:stretch>
                          <a:fillRect/>
                        </a:stretch>
                      </p:blipFill>
                      <p:spPr>
                        <a:xfrm>
                          <a:off x="450" y="1344"/>
                          <a:ext cx="4585" cy="816"/>
                        </a:xfrm>
                        <a:prstGeom prst="rect">
                          <a:avLst/>
                        </a:prstGeom>
                        <a:noFill/>
                        <a:ln w="38100">
                          <a:noFill/>
                          <a:miter/>
                        </a:ln>
                      </p:spPr>
                    </p:pic>
                  </p:oleObj>
                </mc:Fallback>
              </mc:AlternateContent>
            </a:graphicData>
          </a:graphic>
        </p:graphicFrame>
        <p:sp>
          <p:nvSpPr>
            <p:cNvPr id="12311" name="Rectangle 25"/>
            <p:cNvSpPr/>
            <p:nvPr/>
          </p:nvSpPr>
          <p:spPr>
            <a:xfrm>
              <a:off x="656" y="1481"/>
              <a:ext cx="4355" cy="522"/>
            </a:xfrm>
            <a:prstGeom prst="rect">
              <a:avLst/>
            </a:prstGeom>
            <a:noFill/>
            <a:ln w="9525">
              <a:noFill/>
            </a:ln>
          </p:spPr>
          <p:txBody>
            <a:bodyPr anchor="t" anchorCtr="0">
              <a:spAutoFit/>
            </a:bodyPr>
            <a:p>
              <a:pPr marL="342900" indent="-342900">
                <a:spcBef>
                  <a:spcPct val="50000"/>
                </a:spcBef>
                <a:buClrTx/>
                <a:buFontTx/>
              </a:pPr>
              <a:r>
                <a:rPr lang="zh-CN" altLang="en-US" dirty="0">
                  <a:solidFill>
                    <a:schemeClr val="tx2"/>
                  </a:solidFill>
                  <a:latin typeface="宋体" panose="02010600030101010101" pitchFamily="2" charset="-122"/>
                  <a:ea typeface="宋体" panose="02010600030101010101" pitchFamily="2" charset="-122"/>
                </a:rPr>
                <a:t>下一个入口语句</a:t>
              </a:r>
              <a:r>
                <a:rPr lang="en-US" altLang="zh-CN" dirty="0">
                  <a:solidFill>
                    <a:schemeClr val="tx2"/>
                  </a:solidFill>
                  <a:latin typeface="宋体" panose="02010600030101010101" pitchFamily="2" charset="-122"/>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不包括该入口语句</a:t>
              </a:r>
              <a:r>
                <a:rPr lang="en-US" altLang="zh-CN" dirty="0">
                  <a:solidFill>
                    <a:schemeClr val="tx2"/>
                  </a:solidFill>
                  <a:latin typeface="宋体" panose="02010600030101010101" pitchFamily="2" charset="-122"/>
                  <a:ea typeface="宋体" panose="02010600030101010101" pitchFamily="2" charset="-122"/>
                </a:rPr>
                <a:t>)</a:t>
              </a:r>
              <a:r>
                <a:rPr lang="zh-CN" altLang="en-US" dirty="0">
                  <a:solidFill>
                    <a:schemeClr val="tx2"/>
                  </a:solidFill>
                  <a:latin typeface="宋体" panose="02010600030101010101" pitchFamily="2" charset="-122"/>
                  <a:ea typeface="宋体" panose="02010600030101010101" pitchFamily="2" charset="-122"/>
                </a:rPr>
                <a:t>，或到</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9" name="Group 26"/>
          <p:cNvGrpSpPr/>
          <p:nvPr/>
        </p:nvGrpSpPr>
        <p:grpSpPr>
          <a:xfrm>
            <a:off x="323850" y="5805488"/>
            <a:ext cx="4032250" cy="719137"/>
            <a:chOff x="450" y="1344"/>
            <a:chExt cx="4585" cy="816"/>
          </a:xfrm>
        </p:grpSpPr>
        <p:graphicFrame>
          <p:nvGraphicFramePr>
            <p:cNvPr id="12313" name="Object 27"/>
            <p:cNvGraphicFramePr>
              <a:graphicFrameLocks noChangeAspect="1"/>
            </p:cNvGraphicFramePr>
            <p:nvPr/>
          </p:nvGraphicFramePr>
          <p:xfrm>
            <a:off x="450" y="1344"/>
            <a:ext cx="4585" cy="816"/>
          </p:xfrm>
          <a:graphic>
            <a:graphicData uri="http://schemas.openxmlformats.org/presentationml/2006/ole">
              <mc:AlternateContent xmlns:mc="http://schemas.openxmlformats.org/markup-compatibility/2006">
                <mc:Choice xmlns:v="urn:schemas-microsoft-com:vml" Requires="v">
                  <p:oleObj spid="_x0000_s3078" name="" r:id="rId9" imgW="7581900" imgH="2768600" progId="Photoshop.Image.7">
                    <p:embed/>
                  </p:oleObj>
                </mc:Choice>
                <mc:Fallback>
                  <p:oleObj name="" r:id="rId9" imgW="7581900" imgH="2768600" progId="Photoshop.Image.7">
                    <p:embed/>
                    <p:pic>
                      <p:nvPicPr>
                        <p:cNvPr id="0" name="图片 3077"/>
                        <p:cNvPicPr/>
                        <p:nvPr/>
                      </p:nvPicPr>
                      <p:blipFill>
                        <a:blip r:embed="rId2"/>
                        <a:stretch>
                          <a:fillRect/>
                        </a:stretch>
                      </p:blipFill>
                      <p:spPr>
                        <a:xfrm>
                          <a:off x="450" y="1344"/>
                          <a:ext cx="4585" cy="816"/>
                        </a:xfrm>
                        <a:prstGeom prst="rect">
                          <a:avLst/>
                        </a:prstGeom>
                        <a:noFill/>
                        <a:ln w="38100">
                          <a:noFill/>
                          <a:miter/>
                        </a:ln>
                      </p:spPr>
                    </p:pic>
                  </p:oleObj>
                </mc:Fallback>
              </mc:AlternateContent>
            </a:graphicData>
          </a:graphic>
        </p:graphicFrame>
        <p:sp>
          <p:nvSpPr>
            <p:cNvPr id="12314" name="Rectangle 28"/>
            <p:cNvSpPr/>
            <p:nvPr/>
          </p:nvSpPr>
          <p:spPr>
            <a:xfrm>
              <a:off x="656" y="1481"/>
              <a:ext cx="4356" cy="519"/>
            </a:xfrm>
            <a:prstGeom prst="rect">
              <a:avLst/>
            </a:prstGeom>
            <a:noFill/>
            <a:ln w="9525">
              <a:noFill/>
            </a:ln>
          </p:spPr>
          <p:txBody>
            <a:bodyPr anchor="t" anchorCtr="0">
              <a:spAutoFit/>
            </a:bodyPr>
            <a:p>
              <a:pPr marL="342900" indent="-342900">
                <a:spcBef>
                  <a:spcPct val="50000"/>
                </a:spcBef>
                <a:buClrTx/>
                <a:buFontTx/>
              </a:pPr>
              <a:r>
                <a:rPr lang="zh-CN" altLang="en-US" dirty="0">
                  <a:solidFill>
                    <a:schemeClr val="tx2"/>
                  </a:solidFill>
                  <a:latin typeface="宋体" panose="02010600030101010101" pitchFamily="2" charset="-122"/>
                  <a:ea typeface="宋体" panose="02010600030101010101" pitchFamily="2" charset="-122"/>
                </a:rPr>
                <a:t>程序结束</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10" name="Group 32"/>
          <p:cNvGrpSpPr/>
          <p:nvPr/>
        </p:nvGrpSpPr>
        <p:grpSpPr>
          <a:xfrm>
            <a:off x="300038" y="3548063"/>
            <a:ext cx="3743325" cy="719137"/>
            <a:chOff x="450" y="1344"/>
            <a:chExt cx="4585" cy="816"/>
          </a:xfrm>
        </p:grpSpPr>
        <p:graphicFrame>
          <p:nvGraphicFramePr>
            <p:cNvPr id="12316" name="Object 33"/>
            <p:cNvGraphicFramePr>
              <a:graphicFrameLocks noChangeAspect="1"/>
            </p:cNvGraphicFramePr>
            <p:nvPr/>
          </p:nvGraphicFramePr>
          <p:xfrm>
            <a:off x="450" y="1344"/>
            <a:ext cx="4585" cy="816"/>
          </p:xfrm>
          <a:graphic>
            <a:graphicData uri="http://schemas.openxmlformats.org/presentationml/2006/ole">
              <mc:AlternateContent xmlns:mc="http://schemas.openxmlformats.org/markup-compatibility/2006">
                <mc:Choice xmlns:v="urn:schemas-microsoft-com:vml" Requires="v">
                  <p:oleObj spid="_x0000_s3079" name="" r:id="rId10" imgW="7581900" imgH="2768600" progId="Photoshop.Image.7">
                    <p:embed/>
                  </p:oleObj>
                </mc:Choice>
                <mc:Fallback>
                  <p:oleObj name="" r:id="rId10" imgW="7581900" imgH="2768600" progId="Photoshop.Image.7">
                    <p:embed/>
                    <p:pic>
                      <p:nvPicPr>
                        <p:cNvPr id="0" name="图片 3078"/>
                        <p:cNvPicPr/>
                        <p:nvPr/>
                      </p:nvPicPr>
                      <p:blipFill>
                        <a:blip r:embed="rId2"/>
                        <a:stretch>
                          <a:fillRect/>
                        </a:stretch>
                      </p:blipFill>
                      <p:spPr>
                        <a:xfrm>
                          <a:off x="450" y="1344"/>
                          <a:ext cx="4585" cy="816"/>
                        </a:xfrm>
                        <a:prstGeom prst="rect">
                          <a:avLst/>
                        </a:prstGeom>
                        <a:noFill/>
                        <a:ln w="38100">
                          <a:noFill/>
                          <a:miter/>
                        </a:ln>
                      </p:spPr>
                    </p:pic>
                  </p:oleObj>
                </mc:Fallback>
              </mc:AlternateContent>
            </a:graphicData>
          </a:graphic>
        </p:graphicFrame>
        <p:sp>
          <p:nvSpPr>
            <p:cNvPr id="12317" name="Rectangle 34"/>
            <p:cNvSpPr/>
            <p:nvPr/>
          </p:nvSpPr>
          <p:spPr>
            <a:xfrm>
              <a:off x="656" y="1481"/>
              <a:ext cx="4356" cy="519"/>
            </a:xfrm>
            <a:prstGeom prst="rect">
              <a:avLst/>
            </a:prstGeom>
            <a:noFill/>
            <a:ln w="9525">
              <a:noFill/>
            </a:ln>
          </p:spPr>
          <p:txBody>
            <a:bodyPr anchor="t" anchorCtr="0">
              <a:spAutoFit/>
            </a:bodyPr>
            <a:p>
              <a:pPr>
                <a:spcBef>
                  <a:spcPct val="50000"/>
                </a:spcBef>
                <a:buClrTx/>
                <a:buFontTx/>
              </a:pPr>
              <a:r>
                <a:rPr lang="zh-CN" altLang="en-US" dirty="0">
                  <a:solidFill>
                    <a:schemeClr val="tx2"/>
                  </a:solidFill>
                  <a:latin typeface="宋体" panose="02010600030101010101" pitchFamily="2" charset="-122"/>
                  <a:ea typeface="宋体" panose="02010600030101010101" pitchFamily="2" charset="-122"/>
                </a:rPr>
                <a:t>之间的语句序列组成的</a:t>
              </a:r>
              <a:endParaRPr lang="zh-CN" altLang="en-US" dirty="0">
                <a:solidFill>
                  <a:schemeClr val="tx2"/>
                </a:solidFill>
                <a:latin typeface="宋体" panose="02010600030101010101" pitchFamily="2" charset="-122"/>
                <a:ea typeface="宋体" panose="02010600030101010101" pitchFamily="2" charset="-122"/>
              </a:endParaRPr>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trips(downRigh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trips(downRigh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childTnLst>
                          </p:cTn>
                        </p:par>
                        <p:par>
                          <p:cTn id="28" fill="hold">
                            <p:stCondLst>
                              <p:cond delay="500"/>
                            </p:stCondLst>
                            <p:childTnLst>
                              <p:par>
                                <p:cTn id="29" presetID="9" presetClass="exit" presetSubtype="0" fill="hold" nodeType="afterEffect">
                                  <p:stCondLst>
                                    <p:cond delay="0"/>
                                  </p:stCondLst>
                                  <p:childTnLst>
                                    <p:animEffect transition="out" filter="dissolve">
                                      <p:cBhvr>
                                        <p:cTn id="30" dur="500"/>
                                        <p:tgtEl>
                                          <p:spTgt spid="4"/>
                                        </p:tgtEl>
                                      </p:cBhvr>
                                    </p:animEffect>
                                    <p:set>
                                      <p:cBhvr>
                                        <p:cTn id="31" dur="1" fill="hold">
                                          <p:stCondLst>
                                            <p:cond delay="499"/>
                                          </p:stCondLst>
                                        </p:cTn>
                                        <p:tgtEl>
                                          <p:spTgt spid="4"/>
                                        </p:tgtEl>
                                        <p:attrNameLst>
                                          <p:attrName>style.visibility</p:attrName>
                                        </p:attrNameLst>
                                      </p:cBhvr>
                                      <p:to>
                                        <p:strVal val="hidden"/>
                                      </p:to>
                                    </p:set>
                                  </p:childTnLst>
                                </p:cTn>
                              </p:par>
                            </p:childTnLst>
                          </p:cTn>
                        </p:par>
                        <p:par>
                          <p:cTn id="32" fill="hold">
                            <p:stCondLst>
                              <p:cond delay="1000"/>
                            </p:stCondLst>
                            <p:childTnLst>
                              <p:par>
                                <p:cTn id="33" presetID="9" presetClass="exit" presetSubtype="0" fill="hold" nodeType="afterEffect">
                                  <p:stCondLst>
                                    <p:cond delay="0"/>
                                  </p:stCondLst>
                                  <p:childTnLst>
                                    <p:animEffect transition="out" filter="dissolve">
                                      <p:cBhvr>
                                        <p:cTn id="34" dur="500"/>
                                        <p:tgtEl>
                                          <p:spTgt spid="3"/>
                                        </p:tgtEl>
                                      </p:cBhvr>
                                    </p:animEffect>
                                    <p:set>
                                      <p:cBhvr>
                                        <p:cTn id="35" dur="1" fill="hold">
                                          <p:stCondLst>
                                            <p:cond delay="499"/>
                                          </p:stCondLst>
                                        </p:cTn>
                                        <p:tgtEl>
                                          <p:spTgt spid="3"/>
                                        </p:tgtEl>
                                        <p:attrNameLst>
                                          <p:attrName>style.visibility</p:attrName>
                                        </p:attrNameLst>
                                      </p:cBhvr>
                                      <p:to>
                                        <p:strVal val="hidden"/>
                                      </p:to>
                                    </p:set>
                                  </p:childTnLst>
                                </p:cTn>
                              </p:par>
                            </p:childTnLst>
                          </p:cTn>
                        </p:par>
                        <p:par>
                          <p:cTn id="36" fill="hold">
                            <p:stCondLst>
                              <p:cond delay="1500"/>
                            </p:stCondLst>
                            <p:childTnLst>
                              <p:par>
                                <p:cTn id="37" presetID="9" presetClass="exit" presetSubtype="0" fill="hold" nodeType="afterEffect">
                                  <p:stCondLst>
                                    <p:cond delay="0"/>
                                  </p:stCondLst>
                                  <p:childTnLst>
                                    <p:animEffect transition="out" filter="dissolve">
                                      <p:cBhvr>
                                        <p:cTn id="38" dur="500"/>
                                        <p:tgtEl>
                                          <p:spTgt spid="2"/>
                                        </p:tgtEl>
                                      </p:cBhvr>
                                    </p:animEffect>
                                    <p:set>
                                      <p:cBhvr>
                                        <p:cTn id="39" dur="1" fill="hold">
                                          <p:stCondLst>
                                            <p:cond delay="499"/>
                                          </p:stCondLst>
                                        </p:cTn>
                                        <p:tgtEl>
                                          <p:spTgt spid="2"/>
                                        </p:tgtEl>
                                        <p:attrNameLst>
                                          <p:attrName>style.visibility</p:attrName>
                                        </p:attrNameLst>
                                      </p:cBhvr>
                                      <p:to>
                                        <p:strVal val="hidden"/>
                                      </p:to>
                                    </p:set>
                                  </p:childTnLst>
                                </p:cTn>
                              </p:par>
                            </p:childTnLst>
                          </p:cTn>
                        </p:par>
                        <p:par>
                          <p:cTn id="40" fill="hold">
                            <p:stCondLst>
                              <p:cond delay="2000"/>
                            </p:stCondLst>
                            <p:childTnLst>
                              <p:par>
                                <p:cTn id="41" presetID="18" presetClass="entr" presetSubtype="6" fill="hold" nodeType="after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strips(downRight)">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strips(downRight)">
                                      <p:cBhvr>
                                        <p:cTn id="48" dur="500"/>
                                        <p:tgtEl>
                                          <p:spTgt spid="7"/>
                                        </p:tgtEl>
                                      </p:cBhvr>
                                    </p:animEffect>
                                  </p:childTnLst>
                                </p:cTn>
                              </p:par>
                            </p:childTnLst>
                          </p:cTn>
                        </p:par>
                        <p:par>
                          <p:cTn id="49" fill="hold">
                            <p:stCondLst>
                              <p:cond delay="500"/>
                            </p:stCondLst>
                            <p:childTnLst>
                              <p:par>
                                <p:cTn id="50" presetID="18" presetClass="entr" presetSubtype="6"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strips(downRight)">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strips(downRight)">
                                      <p:cBhvr>
                                        <p:cTn id="57" dur="500"/>
                                        <p:tgtEl>
                                          <p:spTgt spid="9"/>
                                        </p:tgtEl>
                                      </p:cBhvr>
                                    </p:animEffect>
                                  </p:childTnLst>
                                </p:cTn>
                              </p:par>
                            </p:childTnLst>
                          </p:cTn>
                        </p:par>
                        <p:par>
                          <p:cTn id="58" fill="hold">
                            <p:stCondLst>
                              <p:cond delay="500"/>
                            </p:stCondLst>
                            <p:childTnLst>
                              <p:par>
                                <p:cTn id="59" presetID="18" presetClass="entr" presetSubtype="6" fill="hold" nodeType="after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strips(downRight)">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xit" presetSubtype="0" fill="hold" nodeType="clickEffect">
                                  <p:stCondLst>
                                    <p:cond delay="0"/>
                                  </p:stCondLst>
                                  <p:childTnLst>
                                    <p:animEffect transition="out" filter="dissolve">
                                      <p:cBhvr>
                                        <p:cTn id="65" dur="500"/>
                                        <p:tgtEl>
                                          <p:spTgt spid="10"/>
                                        </p:tgtEl>
                                      </p:cBhvr>
                                    </p:animEffect>
                                    <p:set>
                                      <p:cBhvr>
                                        <p:cTn id="66" dur="1" fill="hold">
                                          <p:stCondLst>
                                            <p:cond delay="499"/>
                                          </p:stCondLst>
                                        </p:cTn>
                                        <p:tgtEl>
                                          <p:spTgt spid="10"/>
                                        </p:tgtEl>
                                        <p:attrNameLst>
                                          <p:attrName>style.visibility</p:attrName>
                                        </p:attrNameLst>
                                      </p:cBhvr>
                                      <p:to>
                                        <p:strVal val="hidden"/>
                                      </p:to>
                                    </p:set>
                                  </p:childTnLst>
                                </p:cTn>
                              </p:par>
                            </p:childTnLst>
                          </p:cTn>
                        </p:par>
                        <p:par>
                          <p:cTn id="67" fill="hold">
                            <p:stCondLst>
                              <p:cond delay="500"/>
                            </p:stCondLst>
                            <p:childTnLst>
                              <p:par>
                                <p:cTn id="68" presetID="9" presetClass="exit" presetSubtype="0" fill="hold" nodeType="afterEffect">
                                  <p:stCondLst>
                                    <p:cond delay="0"/>
                                  </p:stCondLst>
                                  <p:childTnLst>
                                    <p:animEffect transition="out" filter="dissolve">
                                      <p:cBhvr>
                                        <p:cTn id="69" dur="500"/>
                                        <p:tgtEl>
                                          <p:spTgt spid="9"/>
                                        </p:tgtEl>
                                      </p:cBhvr>
                                    </p:animEffect>
                                    <p:set>
                                      <p:cBhvr>
                                        <p:cTn id="70" dur="1" fill="hold">
                                          <p:stCondLst>
                                            <p:cond delay="499"/>
                                          </p:stCondLst>
                                        </p:cTn>
                                        <p:tgtEl>
                                          <p:spTgt spid="9"/>
                                        </p:tgtEl>
                                        <p:attrNameLst>
                                          <p:attrName>style.visibility</p:attrName>
                                        </p:attrNameLst>
                                      </p:cBhvr>
                                      <p:to>
                                        <p:strVal val="hidden"/>
                                      </p:to>
                                    </p:set>
                                  </p:childTnLst>
                                </p:cTn>
                              </p:par>
                            </p:childTnLst>
                          </p:cTn>
                        </p:par>
                        <p:par>
                          <p:cTn id="71" fill="hold">
                            <p:stCondLst>
                              <p:cond delay="1000"/>
                            </p:stCondLst>
                            <p:childTnLst>
                              <p:par>
                                <p:cTn id="72" presetID="9" presetClass="exit" presetSubtype="0" fill="hold" nodeType="afterEffect">
                                  <p:stCondLst>
                                    <p:cond delay="0"/>
                                  </p:stCondLst>
                                  <p:childTnLst>
                                    <p:animEffect transition="out" filter="dissolve">
                                      <p:cBhvr>
                                        <p:cTn id="73" dur="500"/>
                                        <p:tgtEl>
                                          <p:spTgt spid="8"/>
                                        </p:tgtEl>
                                      </p:cBhvr>
                                    </p:animEffect>
                                    <p:set>
                                      <p:cBhvr>
                                        <p:cTn id="74" dur="1" fill="hold">
                                          <p:stCondLst>
                                            <p:cond delay="499"/>
                                          </p:stCondLst>
                                        </p:cTn>
                                        <p:tgtEl>
                                          <p:spTgt spid="8"/>
                                        </p:tgtEl>
                                        <p:attrNameLst>
                                          <p:attrName>style.visibility</p:attrName>
                                        </p:attrNameLst>
                                      </p:cBhvr>
                                      <p:to>
                                        <p:strVal val="hidden"/>
                                      </p:to>
                                    </p:set>
                                  </p:childTnLst>
                                </p:cTn>
                              </p:par>
                            </p:childTnLst>
                          </p:cTn>
                        </p:par>
                        <p:par>
                          <p:cTn id="75" fill="hold">
                            <p:stCondLst>
                              <p:cond delay="1500"/>
                            </p:stCondLst>
                            <p:childTnLst>
                              <p:par>
                                <p:cTn id="76" presetID="9" presetClass="exit" presetSubtype="0" fill="hold" nodeType="afterEffect">
                                  <p:stCondLst>
                                    <p:cond delay="0"/>
                                  </p:stCondLst>
                                  <p:childTnLst>
                                    <p:animEffect transition="out" filter="dissolve">
                                      <p:cBhvr>
                                        <p:cTn id="77" dur="500"/>
                                        <p:tgtEl>
                                          <p:spTgt spid="7"/>
                                        </p:tgtEl>
                                      </p:cBhvr>
                                    </p:animEffect>
                                    <p:set>
                                      <p:cBhvr>
                                        <p:cTn id="78" dur="1" fill="hold">
                                          <p:stCondLst>
                                            <p:cond delay="499"/>
                                          </p:stCondLst>
                                        </p:cTn>
                                        <p:tgtEl>
                                          <p:spTgt spid="7"/>
                                        </p:tgtEl>
                                        <p:attrNameLst>
                                          <p:attrName>style.visibility</p:attrName>
                                        </p:attrNameLst>
                                      </p:cBhvr>
                                      <p:to>
                                        <p:strVal val="hidden"/>
                                      </p:to>
                                    </p:set>
                                  </p:childTnLst>
                                </p:cTn>
                              </p:par>
                            </p:childTnLst>
                          </p:cTn>
                        </p:par>
                        <p:par>
                          <p:cTn id="79" fill="hold">
                            <p:stCondLst>
                              <p:cond delay="2000"/>
                            </p:stCondLst>
                            <p:childTnLst>
                              <p:par>
                                <p:cTn id="80" presetID="9" presetClass="exit" presetSubtype="0" fill="hold" nodeType="afterEffect">
                                  <p:stCondLst>
                                    <p:cond delay="0"/>
                                  </p:stCondLst>
                                  <p:childTnLst>
                                    <p:animEffect transition="out" filter="dissolve">
                                      <p:cBhvr>
                                        <p:cTn id="81" dur="500"/>
                                        <p:tgtEl>
                                          <p:spTgt spid="6"/>
                                        </p:tgtEl>
                                      </p:cBhvr>
                                    </p:animEffect>
                                    <p:set>
                                      <p:cBhvr>
                                        <p:cTn id="8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buClrTx/>
              <a:buFontTx/>
            </a:pP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3314" name="Rectangle 2"/>
          <p:cNvSpPr/>
          <p:nvPr/>
        </p:nvSpPr>
        <p:spPr>
          <a:xfrm>
            <a:off x="611188" y="549275"/>
            <a:ext cx="3351212" cy="519113"/>
          </a:xfrm>
          <a:prstGeom prst="rect">
            <a:avLst/>
          </a:prstGeom>
          <a:noFill/>
          <a:ln w="9525">
            <a:noFill/>
          </a:ln>
        </p:spPr>
        <p:txBody>
          <a:bodyPr anchor="t" anchorCtr="0">
            <a:spAutoFit/>
          </a:bodyPr>
          <a:p>
            <a:pPr>
              <a:buClrTx/>
              <a:buFontTx/>
            </a:pPr>
            <a:r>
              <a:rPr lang="en-US" altLang="zh-CN" sz="2800" dirty="0">
                <a:latin typeface="Times New Roman" panose="02020603050405020304" pitchFamily="18" charset="0"/>
                <a:ea typeface="宋体" panose="02010600030101010101" pitchFamily="2" charset="-122"/>
              </a:rPr>
              <a:t>8.4.2 </a:t>
            </a:r>
            <a:r>
              <a:rPr lang="zh-CN" altLang="en-US" sz="2800" dirty="0">
                <a:latin typeface="Times New Roman" panose="02020603050405020304" pitchFamily="18" charset="0"/>
                <a:ea typeface="宋体" panose="02010600030101010101" pitchFamily="2" charset="-122"/>
              </a:rPr>
              <a:t>流图</a:t>
            </a:r>
            <a:endParaRPr lang="zh-CN" altLang="en-US" sz="2800" dirty="0">
              <a:latin typeface="Times New Roman" panose="02020603050405020304" pitchFamily="18" charset="0"/>
              <a:ea typeface="宋体" panose="02010600030101010101" pitchFamily="2" charset="-122"/>
            </a:endParaRPr>
          </a:p>
        </p:txBody>
      </p:sp>
      <p:sp>
        <p:nvSpPr>
          <p:cNvPr id="13315" name="Rectangle 3"/>
          <p:cNvSpPr/>
          <p:nvPr/>
        </p:nvSpPr>
        <p:spPr>
          <a:xfrm>
            <a:off x="684213" y="1268413"/>
            <a:ext cx="1584325" cy="519112"/>
          </a:xfrm>
          <a:prstGeom prst="rect">
            <a:avLst/>
          </a:prstGeom>
          <a:noFill/>
          <a:ln w="9525">
            <a:noFill/>
          </a:ln>
        </p:spPr>
        <p:txBody>
          <a:bodyPr anchor="t" anchorCtr="0">
            <a:spAutoFit/>
          </a:bodyPr>
          <a:p>
            <a:pPr>
              <a:buClrTx/>
              <a:buFontTx/>
            </a:pPr>
            <a:r>
              <a:rPr lang="en-US" altLang="zh-CN" sz="2800" dirty="0">
                <a:latin typeface="楷体_GB2312" pitchFamily="49" charset="-122"/>
                <a:ea typeface="楷体_GB2312" pitchFamily="49" charset="-122"/>
              </a:rPr>
              <a:t>1. </a:t>
            </a:r>
            <a:r>
              <a:rPr lang="zh-CN" altLang="en-US" sz="2800" dirty="0">
                <a:latin typeface="楷体_GB2312" pitchFamily="49" charset="-122"/>
                <a:ea typeface="楷体_GB2312" pitchFamily="49" charset="-122"/>
              </a:rPr>
              <a:t>概念</a:t>
            </a:r>
            <a:endParaRPr lang="zh-CN" altLang="en-US" sz="2800" dirty="0">
              <a:latin typeface="楷体_GB2312" pitchFamily="49" charset="-122"/>
              <a:ea typeface="楷体_GB2312" pitchFamily="49" charset="-122"/>
            </a:endParaRPr>
          </a:p>
        </p:txBody>
      </p:sp>
      <p:grpSp>
        <p:nvGrpSpPr>
          <p:cNvPr id="2" name="Group 4"/>
          <p:cNvGrpSpPr/>
          <p:nvPr/>
        </p:nvGrpSpPr>
        <p:grpSpPr>
          <a:xfrm>
            <a:off x="971550" y="3644900"/>
            <a:ext cx="7416800" cy="1911350"/>
            <a:chOff x="295" y="2024"/>
            <a:chExt cx="4399" cy="2296"/>
          </a:xfrm>
        </p:grpSpPr>
        <p:graphicFrame>
          <p:nvGraphicFramePr>
            <p:cNvPr id="13317" name="Object 5"/>
            <p:cNvGraphicFramePr>
              <a:graphicFrameLocks noChangeAspect="1"/>
            </p:cNvGraphicFramePr>
            <p:nvPr/>
          </p:nvGraphicFramePr>
          <p:xfrm>
            <a:off x="295" y="2024"/>
            <a:ext cx="4399" cy="2296"/>
          </p:xfrm>
          <a:graphic>
            <a:graphicData uri="http://schemas.openxmlformats.org/presentationml/2006/ole">
              <mc:AlternateContent xmlns:mc="http://schemas.openxmlformats.org/markup-compatibility/2006">
                <mc:Choice xmlns:v="urn:schemas-microsoft-com:vml" Requires="v">
                  <p:oleObj spid="_x0000_s3084" name="" r:id="rId1" imgW="7581900" imgH="2768600" progId="Photoshop.Image.7">
                    <p:embed/>
                  </p:oleObj>
                </mc:Choice>
                <mc:Fallback>
                  <p:oleObj name="" r:id="rId1" imgW="7581900" imgH="2768600" progId="Photoshop.Image.7">
                    <p:embed/>
                    <p:pic>
                      <p:nvPicPr>
                        <p:cNvPr id="0" name="图片 3083"/>
                        <p:cNvPicPr/>
                        <p:nvPr/>
                      </p:nvPicPr>
                      <p:blipFill>
                        <a:blip r:embed="rId2"/>
                        <a:stretch>
                          <a:fillRect/>
                        </a:stretch>
                      </p:blipFill>
                      <p:spPr>
                        <a:xfrm>
                          <a:off x="295" y="2024"/>
                          <a:ext cx="4399" cy="2296"/>
                        </a:xfrm>
                        <a:prstGeom prst="rect">
                          <a:avLst/>
                        </a:prstGeom>
                        <a:noFill/>
                        <a:ln w="38100">
                          <a:noFill/>
                          <a:miter/>
                        </a:ln>
                      </p:spPr>
                    </p:pic>
                  </p:oleObj>
                </mc:Fallback>
              </mc:AlternateContent>
            </a:graphicData>
          </a:graphic>
        </p:graphicFrame>
        <p:sp>
          <p:nvSpPr>
            <p:cNvPr id="13318" name="Rectangle 6"/>
            <p:cNvSpPr/>
            <p:nvPr/>
          </p:nvSpPr>
          <p:spPr>
            <a:xfrm>
              <a:off x="385" y="2114"/>
              <a:ext cx="4246" cy="1646"/>
            </a:xfrm>
            <a:prstGeom prst="rect">
              <a:avLst/>
            </a:prstGeom>
            <a:noFill/>
            <a:ln w="9525">
              <a:noFill/>
            </a:ln>
          </p:spPr>
          <p:txBody>
            <a:bodyPr anchor="t" anchorCtr="0">
              <a:spAutoFit/>
            </a:bodyPr>
            <a:p>
              <a:pPr>
                <a:spcBef>
                  <a:spcPct val="50000"/>
                </a:spcBef>
                <a:buClrTx/>
                <a:buFontTx/>
              </a:pPr>
              <a:r>
                <a:rPr lang="zh-CN" altLang="en-US" dirty="0">
                  <a:solidFill>
                    <a:schemeClr val="tx2"/>
                  </a:solidFill>
                  <a:latin typeface="宋体" panose="02010600030101010101" pitchFamily="2" charset="-122"/>
                  <a:ea typeface="宋体" panose="02010600030101010101" pitchFamily="2" charset="-122"/>
                </a:rPr>
                <a:t>每个流图以基本块为</a:t>
              </a:r>
              <a:r>
                <a:rPr lang="zh-CN" altLang="en-US" dirty="0">
                  <a:solidFill>
                    <a:srgbClr val="FF3300"/>
                  </a:solidFill>
                  <a:latin typeface="宋体" panose="02010600030101010101" pitchFamily="2" charset="-122"/>
                  <a:ea typeface="宋体" panose="02010600030101010101" pitchFamily="2" charset="-122"/>
                </a:rPr>
                <a:t>结点</a:t>
              </a:r>
              <a:r>
                <a:rPr lang="zh-CN" altLang="en-US" dirty="0">
                  <a:solidFill>
                    <a:schemeClr val="tx2"/>
                  </a:solidFill>
                  <a:latin typeface="宋体" panose="02010600030101010101" pitchFamily="2" charset="-122"/>
                  <a:ea typeface="宋体" panose="02010600030101010101" pitchFamily="2" charset="-122"/>
                </a:rPr>
                <a:t>。</a:t>
              </a:r>
              <a:endParaRPr lang="zh-CN" altLang="en-US" dirty="0">
                <a:solidFill>
                  <a:schemeClr val="tx2"/>
                </a:solidFill>
                <a:latin typeface="宋体" panose="02010600030101010101" pitchFamily="2" charset="-122"/>
                <a:ea typeface="宋体" panose="02010600030101010101" pitchFamily="2" charset="-122"/>
              </a:endParaRPr>
            </a:p>
            <a:p>
              <a:pPr>
                <a:spcBef>
                  <a:spcPct val="50000"/>
                </a:spcBef>
                <a:buClrTx/>
                <a:buFontTx/>
              </a:pPr>
              <a:r>
                <a:rPr lang="zh-CN" altLang="en-US" dirty="0">
                  <a:solidFill>
                    <a:schemeClr val="tx2"/>
                  </a:solidFill>
                  <a:latin typeface="宋体" panose="02010600030101010101" pitchFamily="2" charset="-122"/>
                  <a:ea typeface="宋体" panose="02010600030101010101" pitchFamily="2" charset="-122"/>
                </a:rPr>
                <a:t>如果一个结点的基本块的入口语句是程序的第一条语句，则称此结点为</a:t>
              </a:r>
              <a:r>
                <a:rPr lang="zh-CN" altLang="en-US" dirty="0">
                  <a:solidFill>
                    <a:srgbClr val="FF3300"/>
                  </a:solidFill>
                  <a:latin typeface="宋体" panose="02010600030101010101" pitchFamily="2" charset="-122"/>
                  <a:ea typeface="宋体" panose="02010600030101010101" pitchFamily="2" charset="-122"/>
                </a:rPr>
                <a:t>首结点</a:t>
              </a:r>
              <a:r>
                <a:rPr lang="zh-CN" altLang="en-US" dirty="0">
                  <a:solidFill>
                    <a:schemeClr val="tx2"/>
                  </a:solidFill>
                  <a:latin typeface="宋体" panose="02010600030101010101" pitchFamily="2" charset="-122"/>
                  <a:ea typeface="宋体" panose="02010600030101010101" pitchFamily="2" charset="-122"/>
                </a:rPr>
                <a:t>。</a:t>
              </a:r>
              <a:endParaRPr lang="zh-CN" altLang="en-US" dirty="0">
                <a:solidFill>
                  <a:schemeClr val="tx2"/>
                </a:solidFill>
                <a:latin typeface="宋体" panose="02010600030101010101" pitchFamily="2" charset="-122"/>
                <a:ea typeface="宋体" panose="02010600030101010101" pitchFamily="2" charset="-122"/>
              </a:endParaRPr>
            </a:p>
          </p:txBody>
        </p:sp>
      </p:grpSp>
      <p:grpSp>
        <p:nvGrpSpPr>
          <p:cNvPr id="3" name="Group 7"/>
          <p:cNvGrpSpPr/>
          <p:nvPr/>
        </p:nvGrpSpPr>
        <p:grpSpPr>
          <a:xfrm>
            <a:off x="900113" y="2060575"/>
            <a:ext cx="7704137" cy="1006475"/>
            <a:chOff x="295" y="1072"/>
            <a:chExt cx="4672" cy="816"/>
          </a:xfrm>
        </p:grpSpPr>
        <p:graphicFrame>
          <p:nvGraphicFramePr>
            <p:cNvPr id="13320" name="Object 8"/>
            <p:cNvGraphicFramePr>
              <a:graphicFrameLocks noChangeAspect="1"/>
            </p:cNvGraphicFramePr>
            <p:nvPr/>
          </p:nvGraphicFramePr>
          <p:xfrm>
            <a:off x="295" y="1072"/>
            <a:ext cx="4672" cy="816"/>
          </p:xfrm>
          <a:graphic>
            <a:graphicData uri="http://schemas.openxmlformats.org/presentationml/2006/ole">
              <mc:AlternateContent xmlns:mc="http://schemas.openxmlformats.org/markup-compatibility/2006">
                <mc:Choice xmlns:v="urn:schemas-microsoft-com:vml" Requires="v">
                  <p:oleObj spid="_x0000_s3085" name="" r:id="rId3" imgW="7581900" imgH="2768600" progId="Photoshop.Image.7">
                    <p:embed/>
                  </p:oleObj>
                </mc:Choice>
                <mc:Fallback>
                  <p:oleObj name="" r:id="rId3" imgW="7581900" imgH="2768600" progId="Photoshop.Image.7">
                    <p:embed/>
                    <p:pic>
                      <p:nvPicPr>
                        <p:cNvPr id="0" name="图片 3084"/>
                        <p:cNvPicPr/>
                        <p:nvPr/>
                      </p:nvPicPr>
                      <p:blipFill>
                        <a:blip r:embed="rId2"/>
                        <a:stretch>
                          <a:fillRect/>
                        </a:stretch>
                      </p:blipFill>
                      <p:spPr>
                        <a:xfrm>
                          <a:off x="295" y="1072"/>
                          <a:ext cx="4672" cy="816"/>
                        </a:xfrm>
                        <a:prstGeom prst="rect">
                          <a:avLst/>
                        </a:prstGeom>
                        <a:noFill/>
                        <a:ln w="38100">
                          <a:noFill/>
                          <a:miter/>
                        </a:ln>
                      </p:spPr>
                    </p:pic>
                  </p:oleObj>
                </mc:Fallback>
              </mc:AlternateContent>
            </a:graphicData>
          </a:graphic>
        </p:graphicFrame>
        <p:sp>
          <p:nvSpPr>
            <p:cNvPr id="13321" name="Rectangle 9"/>
            <p:cNvSpPr/>
            <p:nvPr/>
          </p:nvSpPr>
          <p:spPr>
            <a:xfrm>
              <a:off x="385" y="1094"/>
              <a:ext cx="4438" cy="667"/>
            </a:xfrm>
            <a:prstGeom prst="rect">
              <a:avLst/>
            </a:prstGeom>
            <a:noFill/>
            <a:ln w="9525">
              <a:noFill/>
            </a:ln>
          </p:spPr>
          <p:txBody>
            <a:bodyPr anchor="t" anchorCtr="0">
              <a:spAutoFit/>
            </a:bodyPr>
            <a:p>
              <a:pPr>
                <a:spcBef>
                  <a:spcPct val="50000"/>
                </a:spcBef>
                <a:buClrTx/>
                <a:buFontTx/>
              </a:pPr>
              <a:r>
                <a:rPr lang="zh-CN" altLang="en-US" dirty="0">
                  <a:latin typeface="宋体" panose="02010600030101010101" pitchFamily="2" charset="-122"/>
                  <a:ea typeface="宋体" panose="02010600030101010101" pitchFamily="2" charset="-122"/>
                </a:rPr>
                <a:t>将控制流的信息加到基本块的集合，形成程序的有向图，称之为</a:t>
              </a:r>
              <a:r>
                <a:rPr lang="zh-CN" altLang="en-US" dirty="0">
                  <a:solidFill>
                    <a:srgbClr val="FF3300"/>
                  </a:solidFill>
                  <a:latin typeface="宋体" panose="02010600030101010101" pitchFamily="2" charset="-122"/>
                  <a:ea typeface="宋体" panose="02010600030101010101" pitchFamily="2" charset="-122"/>
                </a:rPr>
                <a:t>流图</a:t>
              </a:r>
              <a:r>
                <a:rPr lang="zh-CN" altLang="en-US" dirty="0">
                  <a:solidFill>
                    <a:schemeClr val="tx2"/>
                  </a:solidFill>
                  <a:latin typeface="宋体" panose="02010600030101010101" pitchFamily="2" charset="-122"/>
                  <a:ea typeface="宋体" panose="02010600030101010101" pitchFamily="2" charset="-122"/>
                </a:rPr>
                <a:t>。</a:t>
              </a:r>
              <a:endParaRPr lang="zh-CN" altLang="en-US" dirty="0">
                <a:solidFill>
                  <a:schemeClr val="tx2"/>
                </a:solidFill>
                <a:latin typeface="宋体" panose="02010600030101010101" pitchFamily="2" charset="-122"/>
                <a:ea typeface="宋体" panose="02010600030101010101" pitchFamily="2" charset="-122"/>
              </a:endParaRPr>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buClrTx/>
              <a:buFontTx/>
            </a:pP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4338" name="Rectangle 2"/>
          <p:cNvSpPr/>
          <p:nvPr/>
        </p:nvSpPr>
        <p:spPr>
          <a:xfrm>
            <a:off x="684213" y="692150"/>
            <a:ext cx="2232025" cy="519113"/>
          </a:xfrm>
          <a:prstGeom prst="rect">
            <a:avLst/>
          </a:prstGeom>
          <a:noFill/>
          <a:ln w="9525">
            <a:noFill/>
          </a:ln>
        </p:spPr>
        <p:txBody>
          <a:bodyPr anchor="t" anchorCtr="0">
            <a:spAutoFit/>
          </a:bodyPr>
          <a:p>
            <a:pPr>
              <a:buClrTx/>
              <a:buFontTx/>
            </a:pPr>
            <a:r>
              <a:rPr lang="en-US" altLang="zh-CN" sz="2800" dirty="0">
                <a:latin typeface="楷体_GB2312" pitchFamily="49" charset="-122"/>
                <a:ea typeface="楷体_GB2312" pitchFamily="49" charset="-122"/>
              </a:rPr>
              <a:t>2. </a:t>
            </a:r>
            <a:r>
              <a:rPr lang="zh-CN" altLang="en-US" sz="2800" dirty="0">
                <a:latin typeface="楷体_GB2312" pitchFamily="49" charset="-122"/>
                <a:ea typeface="楷体_GB2312" pitchFamily="49" charset="-122"/>
              </a:rPr>
              <a:t>构造</a:t>
            </a:r>
            <a:endParaRPr lang="zh-CN" altLang="en-US" sz="2800" dirty="0">
              <a:latin typeface="楷体_GB2312" pitchFamily="49" charset="-122"/>
              <a:ea typeface="楷体_GB2312" pitchFamily="49" charset="-122"/>
            </a:endParaRPr>
          </a:p>
        </p:txBody>
      </p:sp>
      <p:sp>
        <p:nvSpPr>
          <p:cNvPr id="27652" name="Text Box 3"/>
          <p:cNvSpPr txBox="1"/>
          <p:nvPr/>
        </p:nvSpPr>
        <p:spPr>
          <a:xfrm>
            <a:off x="755650" y="1484310"/>
            <a:ext cx="7848600" cy="392589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95000"/>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95000"/>
              <a:buFont typeface="Wingdings" panose="05000000000000000000" pitchFamily="2" charset="2"/>
              <a:buChar char="ª"/>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5000"/>
              <a:buFont typeface="Wingdings" panose="05000000000000000000" pitchFamily="2" charset="2"/>
              <a:buChar char="ª"/>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50000"/>
              </a:spcBef>
              <a:spcAft>
                <a:spcPct val="0"/>
              </a:spcAft>
              <a:buClrTx/>
              <a:buSzTx/>
              <a:buFontTx/>
              <a:buNone/>
            </a:pP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如果在某个执行序列中</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B2</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跟随</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B1</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，那么</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B1</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到</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B2</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有一条有向边。即如果</a:t>
            </a:r>
            <a:endParaRPr kumimoji="0" lang="zh-CN" altLang="en-US" sz="2400" b="0" i="0" u="none" strike="noStrike" kern="1200" cap="none" spc="0" normalizeH="0" baseline="0" noProof="1" dirty="0">
              <a:solidFill>
                <a:srgbClr val="000000"/>
              </a:solidFill>
              <a:latin typeface="宋体" panose="02010600030101010101" pitchFamily="2" charset="-122"/>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pP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1</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。从</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B1</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的最后一个语句有条件或无条件转移到</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B2</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的第一</a:t>
            </a:r>
            <a:endParaRPr kumimoji="0" lang="zh-CN" altLang="en-US" sz="2400" b="0" i="0" u="none" strike="noStrike" kern="1200" cap="none" spc="0" normalizeH="0" baseline="0" noProof="1" dirty="0">
              <a:solidFill>
                <a:srgbClr val="000000"/>
              </a:solidFill>
              <a:latin typeface="宋体" panose="02010600030101010101" pitchFamily="2" charset="-122"/>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pP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   个语句，或</a:t>
            </a:r>
            <a:endParaRPr kumimoji="0" lang="zh-CN" altLang="en-US" sz="2400" b="0" i="0" u="none" strike="noStrike" kern="1200" cap="none" spc="0" normalizeH="0" baseline="0" noProof="1" dirty="0">
              <a:solidFill>
                <a:srgbClr val="000000"/>
              </a:solidFill>
              <a:latin typeface="宋体" panose="02010600030101010101" pitchFamily="2" charset="-122"/>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pP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2</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。按程序正文的次序</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B2</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直接跟随</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B1</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a:t>
            </a:r>
            <a:r>
              <a:rPr kumimoji="0" lang="zh-CN" altLang="en-US" sz="2400" b="0" i="0" u="none" strike="noStrike" kern="1200" cap="none" spc="0" normalizeH="0" baseline="0" noProof="1" dirty="0">
                <a:solidFill>
                  <a:srgbClr val="000000"/>
                </a:solidFill>
                <a:highlight>
                  <a:srgbClr val="FFFF00"/>
                </a:highlight>
                <a:latin typeface="宋体" panose="02010600030101010101" pitchFamily="2" charset="-122"/>
                <a:ea typeface="+mn-ea"/>
                <a:cs typeface="+mn-cs"/>
              </a:rPr>
              <a:t>并且</a:t>
            </a:r>
            <a:r>
              <a:rPr kumimoji="0" lang="en-US" altLang="zh-CN" sz="2400" b="0" i="0" u="none" strike="noStrike" kern="1200" cap="none" spc="0" normalizeH="0" baseline="0" noProof="1" dirty="0">
                <a:solidFill>
                  <a:srgbClr val="000000"/>
                </a:solidFill>
                <a:highlight>
                  <a:srgbClr val="FFFF00"/>
                </a:highlight>
                <a:latin typeface="宋体" panose="02010600030101010101" pitchFamily="2" charset="-122"/>
                <a:ea typeface="+mn-ea"/>
                <a:cs typeface="+mn-cs"/>
              </a:rPr>
              <a:t>B1</a:t>
            </a:r>
            <a:r>
              <a:rPr kumimoji="0" lang="zh-CN" altLang="en-US" sz="2400" b="0" i="0" u="none" strike="noStrike" kern="1200" cap="none" spc="0" normalizeH="0" baseline="0" noProof="1" dirty="0">
                <a:solidFill>
                  <a:srgbClr val="000000"/>
                </a:solidFill>
                <a:highlight>
                  <a:srgbClr val="FFFF00"/>
                </a:highlight>
                <a:latin typeface="宋体" panose="02010600030101010101" pitchFamily="2" charset="-122"/>
                <a:ea typeface="+mn-ea"/>
                <a:cs typeface="+mn-cs"/>
              </a:rPr>
              <a:t>不是结束于</a:t>
            </a:r>
            <a:endParaRPr kumimoji="0" lang="zh-CN" altLang="en-US" sz="2400" b="0" i="0" u="none" strike="noStrike" kern="1200" cap="none" spc="0" normalizeH="0" baseline="0" noProof="1" dirty="0">
              <a:solidFill>
                <a:srgbClr val="000000"/>
              </a:solidFill>
              <a:highlight>
                <a:srgbClr val="FFFF00"/>
              </a:highlight>
              <a:latin typeface="宋体" panose="02010600030101010101" pitchFamily="2" charset="-122"/>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pPr>
            <a:r>
              <a:rPr kumimoji="0" lang="zh-CN" altLang="en-US" sz="2400" b="0" i="0" u="none" strike="noStrike" kern="1200" cap="none" spc="0" normalizeH="0" baseline="0" noProof="1" dirty="0">
                <a:solidFill>
                  <a:srgbClr val="000000"/>
                </a:solidFill>
                <a:highlight>
                  <a:srgbClr val="FFFF00"/>
                </a:highlight>
                <a:latin typeface="宋体" panose="02010600030101010101" pitchFamily="2" charset="-122"/>
                <a:ea typeface="+mn-ea"/>
                <a:cs typeface="+mn-cs"/>
              </a:rPr>
              <a:t>   无条件转移。</a:t>
            </a:r>
            <a:endParaRPr kumimoji="0" lang="zh-CN" altLang="en-US" sz="2400" b="0" i="0" u="none" strike="noStrike" kern="1200" cap="none" spc="0" normalizeH="0" baseline="0" noProof="1" dirty="0">
              <a:solidFill>
                <a:srgbClr val="000000"/>
              </a:solidFill>
              <a:highlight>
                <a:srgbClr val="FFFF00"/>
              </a:highlight>
              <a:latin typeface="宋体" panose="02010600030101010101" pitchFamily="2" charset="-122"/>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pP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我们说</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B1</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是</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B2</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的</a:t>
            </a:r>
            <a:r>
              <a:rPr kumimoji="0" lang="zh-CN" altLang="en-US" sz="2400" b="1" i="0" u="none" strike="noStrike" kern="1200" cap="none" spc="0" normalizeH="0" baseline="0" noProof="1" dirty="0">
                <a:solidFill>
                  <a:srgbClr val="000000"/>
                </a:solidFill>
                <a:latin typeface="宋体" panose="02010600030101010101" pitchFamily="2" charset="-122"/>
                <a:ea typeface="+mn-ea"/>
                <a:cs typeface="+mn-cs"/>
              </a:rPr>
              <a:t>前驱</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(predecessor)</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B2</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是</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B1</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的</a:t>
            </a:r>
            <a:r>
              <a:rPr kumimoji="0" lang="zh-CN" altLang="en-US" sz="2400" b="1" i="0" u="none" strike="noStrike" kern="1200" cap="none" spc="0" normalizeH="0" baseline="0" noProof="1" dirty="0">
                <a:solidFill>
                  <a:srgbClr val="000000"/>
                </a:solidFill>
                <a:latin typeface="宋体" panose="02010600030101010101" pitchFamily="2" charset="-122"/>
                <a:ea typeface="+mn-ea"/>
                <a:cs typeface="+mn-cs"/>
              </a:rPr>
              <a:t>后继</a:t>
            </a:r>
            <a:r>
              <a:rPr kumimoji="0" lang="en-US" altLang="zh-CN" sz="2400" b="0" i="0" u="none" strike="noStrike" kern="1200" cap="none" spc="0" normalizeH="0" baseline="0" noProof="1" dirty="0">
                <a:solidFill>
                  <a:srgbClr val="000000"/>
                </a:solidFill>
                <a:latin typeface="宋体" panose="02010600030101010101" pitchFamily="2" charset="-122"/>
                <a:ea typeface="+mn-ea"/>
                <a:cs typeface="+mn-cs"/>
              </a:rPr>
              <a:t>(successor)</a:t>
            </a:r>
            <a:r>
              <a:rPr kumimoji="0" lang="zh-CN" altLang="en-US" sz="2400" b="0" i="0" u="none" strike="noStrike" kern="1200" cap="none" spc="0" normalizeH="0" baseline="0" noProof="1" dirty="0">
                <a:solidFill>
                  <a:srgbClr val="000000"/>
                </a:solidFill>
                <a:latin typeface="宋体" panose="02010600030101010101" pitchFamily="2" charset="-122"/>
                <a:ea typeface="+mn-ea"/>
                <a:cs typeface="+mn-cs"/>
              </a:rPr>
              <a:t>。</a:t>
            </a:r>
            <a:endParaRPr kumimoji="0" lang="zh-CN" altLang="en-US" sz="2400" b="0" i="0" u="none" strike="noStrike" kern="1200" cap="none" spc="0" normalizeH="0" baseline="0" noProof="1" dirty="0">
              <a:solidFill>
                <a:srgbClr val="000000"/>
              </a:solidFill>
              <a:latin typeface="宋体" panose="02010600030101010101" pitchFamily="2" charset="-122"/>
              <a:ea typeface="+mn-ea"/>
              <a:cs typeface="+mn-cs"/>
            </a:endParaRPr>
          </a:p>
        </p:txBody>
      </p:sp>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4588E5A-1604-4CEB-BEE0-D86D115B17A6}" type="slidenum">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2291" name="Text Box 4"/>
          <p:cNvSpPr txBox="1"/>
          <p:nvPr/>
        </p:nvSpPr>
        <p:spPr>
          <a:xfrm>
            <a:off x="446088" y="620713"/>
            <a:ext cx="792162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zh-CN" altLang="en-US" sz="4000" dirty="0">
                <a:latin typeface="Times New Roman" panose="02020603050405020304" pitchFamily="18" charset="0"/>
              </a:rPr>
              <a:t>第</a:t>
            </a:r>
            <a:r>
              <a:rPr lang="en-US" altLang="zh-CN" sz="4000" dirty="0">
                <a:latin typeface="Times New Roman" panose="02020603050405020304" pitchFamily="18" charset="0"/>
              </a:rPr>
              <a:t>9</a:t>
            </a:r>
            <a:r>
              <a:rPr lang="zh-CN" altLang="en-US" sz="4000" dirty="0">
                <a:latin typeface="Times New Roman" panose="02020603050405020304" pitchFamily="18" charset="0"/>
              </a:rPr>
              <a:t>章</a:t>
            </a:r>
            <a:endParaRPr lang="zh-CN" altLang="en-US" sz="4000" dirty="0">
              <a:latin typeface="Times New Roman" panose="02020603050405020304" pitchFamily="18" charset="0"/>
            </a:endParaRPr>
          </a:p>
        </p:txBody>
      </p:sp>
      <p:sp>
        <p:nvSpPr>
          <p:cNvPr id="12292" name="文本框 6"/>
          <p:cNvSpPr txBox="1"/>
          <p:nvPr/>
        </p:nvSpPr>
        <p:spPr>
          <a:xfrm>
            <a:off x="1331913" y="1989138"/>
            <a:ext cx="4773612"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代码优化的方法</a:t>
            </a:r>
            <a:endParaRPr lang="en-US" altLang="zh-CN" sz="2400" dirty="0">
              <a:latin typeface="Times New Roman" panose="02020603050405020304" pitchFamily="18" charset="0"/>
            </a:endParaRPr>
          </a:p>
          <a:p>
            <a:pPr marL="457200" lvl="0" indent="-457200" eaLnBrk="1" hangingPunct="1">
              <a:spcBef>
                <a:spcPct val="50000"/>
              </a:spcBef>
              <a:buClrTx/>
              <a:buSzTx/>
              <a:buFont typeface="Arial" panose="020B0604020202020204" pitchFamily="34" charset="0"/>
              <a:buAutoNum type="arabicPeriod"/>
            </a:pPr>
            <a:r>
              <a:rPr lang="zh-CN" altLang="en-US" sz="2400" dirty="0">
                <a:latin typeface="Times New Roman" panose="02020603050405020304" pitchFamily="18" charset="0"/>
              </a:rPr>
              <a:t>循环优化的方法</a:t>
            </a:r>
            <a:endParaRPr lang="en-US" altLang="zh-CN" sz="2400" dirty="0">
              <a:latin typeface="Times New Roman" panose="02020603050405020304" pitchFamily="18" charset="0"/>
            </a:endParaRPr>
          </a:p>
        </p:txBody>
      </p:sp>
    </p:spTree>
  </p:cSld>
  <p:clrMapOvr>
    <a:masterClrMapping/>
  </p:clrMapOvr>
  <p:transition>
    <p:blinds dir="vert"/>
  </p:transition>
</p:sld>
</file>

<file path=ppt/tags/tag1.xml><?xml version="1.0" encoding="utf-8"?>
<p:tagLst xmlns:p="http://schemas.openxmlformats.org/presentationml/2006/main">
  <p:tag name="KSO_WM_DIAGRAM_VIRTUALLY_FRAME" val="{&quot;height&quot;:330.75000000000006,&quot;left&quot;:59.5,&quot;top&quot;:105.62503937007872,&quot;width&quot;:618}"/>
</p:tagLst>
</file>

<file path=ppt/tags/tag2.xml><?xml version="1.0" encoding="utf-8"?>
<p:tagLst xmlns:p="http://schemas.openxmlformats.org/presentationml/2006/main">
  <p:tag name="KSO_WM_DIAGRAM_VIRTUALLY_FRAME" val="{&quot;height&quot;:330.75000000000006,&quot;left&quot;:59.5,&quot;top&quot;:105.62503937007872,&quot;width&quot;:618}"/>
</p:tagLst>
</file>

<file path=ppt/tags/tag3.xml><?xml version="1.0" encoding="utf-8"?>
<p:tagLst xmlns:p="http://schemas.openxmlformats.org/presentationml/2006/main">
  <p:tag name="KSO_WM_DIAGRAM_VIRTUALLY_FRAME" val="{&quot;height&quot;:330.75000000000006,&quot;left&quot;:59.5,&quot;top&quot;:105.62503937007872,&quot;width&quot;:618}"/>
</p:tagLst>
</file>

<file path=ppt/tags/tag4.xml><?xml version="1.0" encoding="utf-8"?>
<p:tagLst xmlns:p="http://schemas.openxmlformats.org/presentationml/2006/main">
  <p:tag name="KSO_WM_DIAGRAM_VIRTUALLY_FRAME" val="{&quot;height&quot;:330.75000000000006,&quot;left&quot;:59.5,&quot;top&quot;:105.62503937007872,&quot;width&quot;:618}"/>
</p:tagLst>
</file>

<file path=ppt/tags/tag5.xml><?xml version="1.0" encoding="utf-8"?>
<p:tagLst xmlns:p="http://schemas.openxmlformats.org/presentationml/2006/main">
  <p:tag name="KSO_WM_DIAGRAM_VIRTUALLY_FRAME" val="{&quot;height&quot;:330.75000000000006,&quot;left&quot;:59.5,&quot;top&quot;:105.62503937007872,&quot;width&quot;:618}"/>
</p:tagLst>
</file>

<file path=ppt/tags/tag6.xml><?xml version="1.0" encoding="utf-8"?>
<p:tagLst xmlns:p="http://schemas.openxmlformats.org/presentationml/2006/main">
  <p:tag name="KSO_WM_DIAGRAM_VIRTUALLY_FRAME" val="{&quot;height&quot;:330.75000000000006,&quot;left&quot;:59.5,&quot;top&quot;:105.62503937007872,&quot;width&quot;:618}"/>
</p:tagLst>
</file>

<file path=ppt/theme/theme1.xml><?xml version="1.0" encoding="utf-8"?>
<a:theme xmlns:a="http://schemas.openxmlformats.org/drawingml/2006/main" name="古瓶荷花">
  <a:themeElements>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3648</Words>
  <Application>WPS 演示</Application>
  <PresentationFormat>全屏显示(4:3)</PresentationFormat>
  <Paragraphs>291</Paragraphs>
  <Slides>27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11</vt:i4>
      </vt:variant>
      <vt:variant>
        <vt:lpstr>幻灯片标题</vt:lpstr>
      </vt:variant>
      <vt:variant>
        <vt:i4>27</vt:i4>
      </vt:variant>
    </vt:vector>
  </HeadingPairs>
  <TitlesOfParts>
    <vt:vector size="50" baseType="lpstr">
      <vt:lpstr>Arial</vt:lpstr>
      <vt:lpstr>宋体</vt:lpstr>
      <vt:lpstr>Wingdings</vt:lpstr>
      <vt:lpstr>Times New Roman</vt:lpstr>
      <vt:lpstr>Verdana</vt:lpstr>
      <vt:lpstr>楷体_GB2312</vt:lpstr>
      <vt:lpstr>新宋体</vt:lpstr>
      <vt:lpstr>微软雅黑</vt:lpstr>
      <vt:lpstr>Arial Unicode MS</vt:lpstr>
      <vt:lpstr>Arial Black</vt:lpstr>
      <vt:lpstr>楷体</vt:lpstr>
      <vt:lpstr>古瓶荷花</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总 结</vt:lpstr>
      <vt:lpstr>PowerPoint 演示文稿</vt:lpstr>
      <vt:lpstr> </vt:lpstr>
      <vt:lpstr> </vt:lpstr>
      <vt:lpstr>PowerPoint 演示文稿</vt:lpstr>
      <vt:lpstr>PowerPoint 演示文稿</vt:lpstr>
      <vt:lpstr>PowerPoint 演示文稿</vt:lpstr>
      <vt:lpstr>PowerPoint 演示文稿</vt:lpstr>
      <vt:lpstr>      一个确定的有穷自动机（DFA） 是不确定有穷自动机的特例，其中：  1. 没有一个状态具有ε转换，即在输入ε上的转换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LVMEITANG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Type Checking</dc:title>
  <dc:creator>LVMEITANG</dc:creator>
  <cp:lastModifiedBy>梁桐</cp:lastModifiedBy>
  <cp:revision>182</cp:revision>
  <dcterms:created xsi:type="dcterms:W3CDTF">2006-06-04T03:06:00Z</dcterms:created>
  <dcterms:modified xsi:type="dcterms:W3CDTF">2025-05-22T03:23:04Z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DD671F0B13BC49CFB19D47E5E7F159E9_12</vt:lpwstr>
  </property>
  <property fmtid="{D5CDD505-2E9C-101B-9397-08002B2CF9AE}" pid="3" name="KSOProductBuildVer">
    <vt:lpwstr>2052-12.1.0.19770</vt:lpwstr>
  </property>
</Properties>
</file>