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9144000" cy="5143500" type="screen16x9"/>
  <p:notesSz cx="9144000" cy="51435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2"/>
    <p:restoredTop sz="94436"/>
  </p:normalViewPr>
  <p:slideViewPr>
    <p:cSldViewPr>
      <p:cViewPr varScale="1">
        <p:scale>
          <a:sx n="115" d="100"/>
          <a:sy n="115" d="100"/>
        </p:scale>
        <p:origin x="208" y="5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0018" y="1733499"/>
            <a:ext cx="2743962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F66FF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46350" y="3373628"/>
            <a:ext cx="5051298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66FF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bg1"/>
                </a:solidFill>
                <a:latin typeface="华文行楷"/>
                <a:cs typeface="华文行楷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bg1"/>
                </a:solidFill>
                <a:latin typeface="华文行楷"/>
                <a:cs typeface="华文行楷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bg1"/>
                </a:solidFill>
                <a:latin typeface="华文行楷"/>
                <a:cs typeface="华文行楷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60119"/>
            <a:ext cx="533400" cy="172720"/>
          </a:xfrm>
          <a:custGeom>
            <a:avLst/>
            <a:gdLst/>
            <a:ahLst/>
            <a:cxnLst/>
            <a:rect l="l" t="t" r="r" b="b"/>
            <a:pathLst>
              <a:path w="533400" h="172719">
                <a:moveTo>
                  <a:pt x="0" y="172212"/>
                </a:moveTo>
                <a:lnTo>
                  <a:pt x="533400" y="172212"/>
                </a:lnTo>
                <a:lnTo>
                  <a:pt x="533400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960119"/>
            <a:ext cx="8552815" cy="172720"/>
          </a:xfrm>
          <a:custGeom>
            <a:avLst/>
            <a:gdLst/>
            <a:ahLst/>
            <a:cxnLst/>
            <a:rect l="l" t="t" r="r" b="b"/>
            <a:pathLst>
              <a:path w="8552815" h="172719">
                <a:moveTo>
                  <a:pt x="0" y="172212"/>
                </a:moveTo>
                <a:lnTo>
                  <a:pt x="8552688" y="172212"/>
                </a:lnTo>
                <a:lnTo>
                  <a:pt x="855268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52980" y="1312240"/>
            <a:ext cx="5638038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bg1"/>
                </a:solidFill>
                <a:latin typeface="华文行楷"/>
                <a:cs typeface="华文行楷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1379" y="1462862"/>
            <a:ext cx="6381241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67081"/>
            <a:ext cx="4086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路线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图</a:t>
            </a: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风险计划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114" y="1620011"/>
            <a:ext cx="7828152" cy="2249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0717" y="173863"/>
            <a:ext cx="5062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中宋"/>
                <a:cs typeface="华文中宋"/>
              </a:rPr>
              <a:t>唯有变化才是永恒的</a:t>
            </a:r>
            <a:endParaRPr sz="4400">
              <a:latin typeface="华文中宋"/>
              <a:cs typeface="华文中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79676" y="1336547"/>
            <a:ext cx="5076444" cy="2538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4642" y="122047"/>
            <a:ext cx="578535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软件项目管理	</a:t>
            </a:r>
            <a:r>
              <a:rPr sz="4000" spc="969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975" dirty="0">
                <a:solidFill>
                  <a:srgbClr val="775F54"/>
                </a:solidFill>
                <a:latin typeface="华文琥珀"/>
                <a:cs typeface="华文琥珀"/>
              </a:rPr>
              <a:t>二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篇</a:t>
            </a:r>
            <a:endParaRPr sz="4000" dirty="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第 </a:t>
            </a:r>
            <a:r>
              <a:rPr dirty="0"/>
              <a:t>11</a:t>
            </a:r>
            <a:r>
              <a:rPr spc="-70" dirty="0"/>
              <a:t> </a:t>
            </a:r>
            <a:r>
              <a:rPr spc="-5" dirty="0"/>
              <a:t>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软</a:t>
            </a:r>
            <a:r>
              <a:rPr spc="5" dirty="0"/>
              <a:t>件</a:t>
            </a:r>
            <a:r>
              <a:rPr spc="-5" dirty="0"/>
              <a:t>项目风险计划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960119"/>
            <a:ext cx="8552815" cy="172720"/>
          </a:xfrm>
          <a:custGeom>
            <a:avLst/>
            <a:gdLst/>
            <a:ahLst/>
            <a:cxnLst/>
            <a:rect l="l" t="t" r="r" b="b"/>
            <a:pathLst>
              <a:path w="8552815" h="172719">
                <a:moveTo>
                  <a:pt x="0" y="172212"/>
                </a:moveTo>
                <a:lnTo>
                  <a:pt x="8552688" y="172212"/>
                </a:lnTo>
                <a:lnTo>
                  <a:pt x="855268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96138"/>
            <a:ext cx="22644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60119"/>
            <a:ext cx="533400" cy="17272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700" b="1" spc="-5" dirty="0">
                <a:latin typeface="Arial Narrow"/>
                <a:cs typeface="Arial Narrow"/>
              </a:rPr>
              <a:t>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0889" y="126930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711" y="1168908"/>
            <a:ext cx="50482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889" y="2105662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2005583"/>
            <a:ext cx="48196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414" y="289211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6711" y="2790444"/>
            <a:ext cx="483234" cy="50609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83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9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2414" y="367816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11" y="3576828"/>
            <a:ext cx="483234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20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155" y="1168908"/>
            <a:ext cx="4628515" cy="5048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125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风险管理过程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8295" y="2005583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207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7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风险管理计划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2790444"/>
            <a:ext cx="4630420" cy="50609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017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71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敏捷项目风险计划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820" y="3576828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874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34238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风险定义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440" y="1177239"/>
            <a:ext cx="8460105" cy="2325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风险是对潜在的、未来</a:t>
            </a:r>
            <a:r>
              <a:rPr sz="2900" spc="-10" dirty="0">
                <a:latin typeface="华文新魏"/>
                <a:cs typeface="华文新魏"/>
              </a:rPr>
              <a:t>可</a:t>
            </a:r>
            <a:r>
              <a:rPr sz="2900" spc="5" dirty="0">
                <a:latin typeface="华文新魏"/>
                <a:cs typeface="华文新魏"/>
              </a:rPr>
              <a:t>能发</a:t>
            </a:r>
            <a:r>
              <a:rPr sz="2900" spc="-10" dirty="0">
                <a:latin typeface="华文新魏"/>
                <a:cs typeface="华文新魏"/>
              </a:rPr>
              <a:t>生</a:t>
            </a:r>
            <a:r>
              <a:rPr sz="2900" spc="5" dirty="0">
                <a:latin typeface="华文新魏"/>
                <a:cs typeface="华文新魏"/>
              </a:rPr>
              <a:t>损害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spc="5" dirty="0">
                <a:latin typeface="华文新魏"/>
                <a:cs typeface="华文新魏"/>
              </a:rPr>
              <a:t>一种</a:t>
            </a:r>
            <a:r>
              <a:rPr sz="2900" spc="-10" dirty="0">
                <a:latin typeface="华文新魏"/>
                <a:cs typeface="华文新魏"/>
              </a:rPr>
              <a:t>度</a:t>
            </a:r>
            <a:r>
              <a:rPr sz="2900" dirty="0">
                <a:latin typeface="华文新魏"/>
                <a:cs typeface="华文新魏"/>
              </a:rPr>
              <a:t>量， 如果风险确实发生了，</a:t>
            </a:r>
            <a:r>
              <a:rPr sz="2900" spc="-10" dirty="0">
                <a:latin typeface="华文新魏"/>
                <a:cs typeface="华文新魏"/>
              </a:rPr>
              <a:t>则</a:t>
            </a:r>
            <a:r>
              <a:rPr sz="2900" dirty="0">
                <a:latin typeface="华文新魏"/>
                <a:cs typeface="华文新魏"/>
              </a:rPr>
              <a:t>会对</a:t>
            </a:r>
            <a:r>
              <a:rPr sz="2900" spc="-10" dirty="0">
                <a:latin typeface="华文新魏"/>
                <a:cs typeface="华文新魏"/>
              </a:rPr>
              <a:t>项</a:t>
            </a:r>
            <a:r>
              <a:rPr sz="2900" dirty="0">
                <a:latin typeface="华文新魏"/>
                <a:cs typeface="华文新魏"/>
              </a:rPr>
              <a:t>目产</a:t>
            </a:r>
            <a:r>
              <a:rPr sz="2900" spc="-10" dirty="0">
                <a:latin typeface="华文新魏"/>
                <a:cs typeface="华文新魏"/>
              </a:rPr>
              <a:t>生</a:t>
            </a:r>
            <a:r>
              <a:rPr sz="2900" dirty="0">
                <a:latin typeface="华文新魏"/>
                <a:cs typeface="华文新魏"/>
              </a:rPr>
              <a:t>有害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或者 负面的影响。</a:t>
            </a:r>
            <a:endParaRPr sz="2900">
              <a:latin typeface="华文新魏"/>
              <a:cs typeface="华文新魏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软件风险对软件开发过</a:t>
            </a:r>
            <a:r>
              <a:rPr sz="2900" spc="-10" dirty="0">
                <a:latin typeface="华文新魏"/>
                <a:cs typeface="华文新魏"/>
              </a:rPr>
              <a:t>程</a:t>
            </a:r>
            <a:r>
              <a:rPr sz="2900" dirty="0">
                <a:latin typeface="华文新魏"/>
                <a:cs typeface="华文新魏"/>
              </a:rPr>
              <a:t>及软</a:t>
            </a:r>
            <a:r>
              <a:rPr sz="2900" spc="-10" dirty="0">
                <a:latin typeface="华文新魏"/>
                <a:cs typeface="华文新魏"/>
              </a:rPr>
              <a:t>件</a:t>
            </a:r>
            <a:r>
              <a:rPr sz="2900" dirty="0">
                <a:latin typeface="华文新魏"/>
                <a:cs typeface="华文新魏"/>
              </a:rPr>
              <a:t>产品</a:t>
            </a:r>
            <a:r>
              <a:rPr sz="2900" spc="-10" dirty="0">
                <a:latin typeface="华文新魏"/>
                <a:cs typeface="华文新魏"/>
              </a:rPr>
              <a:t>本</a:t>
            </a:r>
            <a:r>
              <a:rPr sz="2900" dirty="0">
                <a:latin typeface="华文新魏"/>
                <a:cs typeface="华文新魏"/>
              </a:rPr>
              <a:t>身可</a:t>
            </a:r>
            <a:r>
              <a:rPr sz="2900" spc="-10" dirty="0">
                <a:latin typeface="华文新魏"/>
                <a:cs typeface="华文新魏"/>
              </a:rPr>
              <a:t>能</a:t>
            </a:r>
            <a:r>
              <a:rPr sz="2900" dirty="0">
                <a:latin typeface="华文新魏"/>
                <a:cs typeface="华文新魏"/>
              </a:rPr>
              <a:t>造成 的伤害或损失。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3915" y="4598619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36108" y="3209544"/>
            <a:ext cx="2782824" cy="1539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86613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风险类型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0829" y="4614468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6355" y="1293875"/>
            <a:ext cx="6541134" cy="1422400"/>
          </a:xfrm>
          <a:custGeom>
            <a:avLst/>
            <a:gdLst/>
            <a:ahLst/>
            <a:cxnLst/>
            <a:rect l="l" t="t" r="r" b="b"/>
            <a:pathLst>
              <a:path w="6541134" h="1422400">
                <a:moveTo>
                  <a:pt x="6360033" y="0"/>
                </a:moveTo>
                <a:lnTo>
                  <a:pt x="180975" y="0"/>
                </a:ln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0" y="1240917"/>
                </a:lnTo>
                <a:lnTo>
                  <a:pt x="6464" y="1289027"/>
                </a:lnTo>
                <a:lnTo>
                  <a:pt x="24708" y="1332258"/>
                </a:lnTo>
                <a:lnTo>
                  <a:pt x="53006" y="1368885"/>
                </a:lnTo>
                <a:lnTo>
                  <a:pt x="89633" y="1397183"/>
                </a:lnTo>
                <a:lnTo>
                  <a:pt x="132864" y="1415427"/>
                </a:lnTo>
                <a:lnTo>
                  <a:pt x="180975" y="1421892"/>
                </a:lnTo>
                <a:lnTo>
                  <a:pt x="6360033" y="1421892"/>
                </a:lnTo>
                <a:lnTo>
                  <a:pt x="6408143" y="1415427"/>
                </a:lnTo>
                <a:lnTo>
                  <a:pt x="6451374" y="1397183"/>
                </a:lnTo>
                <a:lnTo>
                  <a:pt x="6488001" y="1368885"/>
                </a:lnTo>
                <a:lnTo>
                  <a:pt x="6516299" y="1332258"/>
                </a:lnTo>
                <a:lnTo>
                  <a:pt x="6534543" y="1289027"/>
                </a:lnTo>
                <a:lnTo>
                  <a:pt x="6541008" y="1240917"/>
                </a:lnTo>
                <a:lnTo>
                  <a:pt x="6541008" y="180975"/>
                </a:lnTo>
                <a:lnTo>
                  <a:pt x="6534543" y="132864"/>
                </a:lnTo>
                <a:lnTo>
                  <a:pt x="6516299" y="89633"/>
                </a:lnTo>
                <a:lnTo>
                  <a:pt x="6488001" y="53006"/>
                </a:lnTo>
                <a:lnTo>
                  <a:pt x="6451374" y="24708"/>
                </a:lnTo>
                <a:lnTo>
                  <a:pt x="6408143" y="6464"/>
                </a:lnTo>
                <a:lnTo>
                  <a:pt x="6360033" y="0"/>
                </a:lnTo>
                <a:close/>
              </a:path>
            </a:pathLst>
          </a:custGeom>
          <a:solidFill>
            <a:srgbClr val="CFD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896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1839595" algn="l"/>
              </a:tabLst>
            </a:pPr>
            <a:r>
              <a:rPr spc="-5" dirty="0"/>
              <a:t>已知风险</a:t>
            </a:r>
            <a:r>
              <a:rPr dirty="0"/>
              <a:t>－Known </a:t>
            </a:r>
            <a:r>
              <a:rPr spc="-5" dirty="0"/>
              <a:t>known</a:t>
            </a:r>
          </a:p>
          <a:p>
            <a:pPr marL="1838960" indent="-243204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"/>
              <a:tabLst>
                <a:tab pos="1839595" algn="l"/>
              </a:tabLst>
            </a:pPr>
            <a:r>
              <a:rPr dirty="0"/>
              <a:t>可预测风险-Known</a:t>
            </a:r>
            <a:r>
              <a:rPr spc="-10" dirty="0"/>
              <a:t> </a:t>
            </a:r>
            <a:r>
              <a:rPr dirty="0"/>
              <a:t>unknown</a:t>
            </a:r>
          </a:p>
          <a:p>
            <a:pPr marL="1838960" indent="-243204">
              <a:lnSpc>
                <a:spcPct val="100000"/>
              </a:lnSpc>
              <a:buSzPct val="95833"/>
              <a:buFont typeface="Wingdings"/>
              <a:buChar char=""/>
              <a:tabLst>
                <a:tab pos="1839595" algn="l"/>
              </a:tabLst>
            </a:pPr>
            <a:r>
              <a:rPr dirty="0"/>
              <a:t>不可预测风险</a:t>
            </a:r>
            <a:r>
              <a:rPr spc="-5" dirty="0"/>
              <a:t>-unknown</a:t>
            </a:r>
            <a:r>
              <a:rPr spc="-45" dirty="0"/>
              <a:t> </a:t>
            </a:r>
            <a:r>
              <a:rPr spc="-5" dirty="0"/>
              <a:t>unknown</a:t>
            </a:r>
          </a:p>
        </p:txBody>
      </p:sp>
      <p:sp>
        <p:nvSpPr>
          <p:cNvPr id="7" name="object 7"/>
          <p:cNvSpPr/>
          <p:nvPr/>
        </p:nvSpPr>
        <p:spPr>
          <a:xfrm>
            <a:off x="1177289" y="12946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5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5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5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2" y="672845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5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7289" y="12946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5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5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2" y="672845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5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5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5869" y="1349502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86"/>
                </a:lnTo>
                <a:lnTo>
                  <a:pt x="1533730" y="701827"/>
                </a:lnTo>
                <a:lnTo>
                  <a:pt x="1525111" y="742511"/>
                </a:lnTo>
                <a:lnTo>
                  <a:pt x="1513243" y="782247"/>
                </a:lnTo>
                <a:lnTo>
                  <a:pt x="1498241" y="820943"/>
                </a:lnTo>
                <a:lnTo>
                  <a:pt x="1480220" y="858506"/>
                </a:lnTo>
                <a:lnTo>
                  <a:pt x="1459295" y="894844"/>
                </a:lnTo>
                <a:lnTo>
                  <a:pt x="1435579" y="929865"/>
                </a:lnTo>
                <a:lnTo>
                  <a:pt x="1409189" y="963478"/>
                </a:lnTo>
                <a:lnTo>
                  <a:pt x="1380239" y="995589"/>
                </a:lnTo>
                <a:lnTo>
                  <a:pt x="1348843" y="1026108"/>
                </a:lnTo>
                <a:lnTo>
                  <a:pt x="1315116" y="1054941"/>
                </a:lnTo>
                <a:lnTo>
                  <a:pt x="1279174" y="1081997"/>
                </a:lnTo>
                <a:lnTo>
                  <a:pt x="1241130" y="1107183"/>
                </a:lnTo>
                <a:lnTo>
                  <a:pt x="1201101" y="1130408"/>
                </a:lnTo>
                <a:lnTo>
                  <a:pt x="1159199" y="1151579"/>
                </a:lnTo>
                <a:lnTo>
                  <a:pt x="1115541" y="1170604"/>
                </a:lnTo>
                <a:lnTo>
                  <a:pt x="1070240" y="1187392"/>
                </a:lnTo>
                <a:lnTo>
                  <a:pt x="1023413" y="1201849"/>
                </a:lnTo>
                <a:lnTo>
                  <a:pt x="975173" y="1213885"/>
                </a:lnTo>
                <a:lnTo>
                  <a:pt x="925635" y="1223406"/>
                </a:lnTo>
                <a:lnTo>
                  <a:pt x="874914" y="1230321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1"/>
                </a:lnTo>
                <a:lnTo>
                  <a:pt x="615128" y="1223406"/>
                </a:lnTo>
                <a:lnTo>
                  <a:pt x="565590" y="1213885"/>
                </a:lnTo>
                <a:lnTo>
                  <a:pt x="517350" y="1201849"/>
                </a:lnTo>
                <a:lnTo>
                  <a:pt x="470523" y="1187392"/>
                </a:lnTo>
                <a:lnTo>
                  <a:pt x="425222" y="1170604"/>
                </a:lnTo>
                <a:lnTo>
                  <a:pt x="381564" y="1151579"/>
                </a:lnTo>
                <a:lnTo>
                  <a:pt x="339662" y="1130408"/>
                </a:lnTo>
                <a:lnTo>
                  <a:pt x="299633" y="1107183"/>
                </a:lnTo>
                <a:lnTo>
                  <a:pt x="261589" y="1081997"/>
                </a:lnTo>
                <a:lnTo>
                  <a:pt x="225647" y="1054941"/>
                </a:lnTo>
                <a:lnTo>
                  <a:pt x="191920" y="1026108"/>
                </a:lnTo>
                <a:lnTo>
                  <a:pt x="160524" y="995589"/>
                </a:lnTo>
                <a:lnTo>
                  <a:pt x="131574" y="963478"/>
                </a:lnTo>
                <a:lnTo>
                  <a:pt x="105184" y="929865"/>
                </a:lnTo>
                <a:lnTo>
                  <a:pt x="81468" y="894844"/>
                </a:lnTo>
                <a:lnTo>
                  <a:pt x="60543" y="858506"/>
                </a:lnTo>
                <a:lnTo>
                  <a:pt x="42522" y="820943"/>
                </a:lnTo>
                <a:lnTo>
                  <a:pt x="27520" y="782247"/>
                </a:lnTo>
                <a:lnTo>
                  <a:pt x="15652" y="742511"/>
                </a:lnTo>
                <a:lnTo>
                  <a:pt x="7033" y="701827"/>
                </a:lnTo>
                <a:lnTo>
                  <a:pt x="1777" y="660286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15974" y="1408938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39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32"/>
                </a:lnTo>
                <a:lnTo>
                  <a:pt x="1394480" y="645470"/>
                </a:lnTo>
                <a:lnTo>
                  <a:pt x="1385183" y="685660"/>
                </a:lnTo>
                <a:lnTo>
                  <a:pt x="1372402" y="724794"/>
                </a:lnTo>
                <a:lnTo>
                  <a:pt x="1356273" y="762762"/>
                </a:lnTo>
                <a:lnTo>
                  <a:pt x="1336931" y="799457"/>
                </a:lnTo>
                <a:lnTo>
                  <a:pt x="1314512" y="834770"/>
                </a:lnTo>
                <a:lnTo>
                  <a:pt x="1289150" y="868591"/>
                </a:lnTo>
                <a:lnTo>
                  <a:pt x="1260982" y="900813"/>
                </a:lnTo>
                <a:lnTo>
                  <a:pt x="1230143" y="931327"/>
                </a:lnTo>
                <a:lnTo>
                  <a:pt x="1196768" y="960024"/>
                </a:lnTo>
                <a:lnTo>
                  <a:pt x="1160993" y="986796"/>
                </a:lnTo>
                <a:lnTo>
                  <a:pt x="1122954" y="1011533"/>
                </a:lnTo>
                <a:lnTo>
                  <a:pt x="1082785" y="1034128"/>
                </a:lnTo>
                <a:lnTo>
                  <a:pt x="1040622" y="1054471"/>
                </a:lnTo>
                <a:lnTo>
                  <a:pt x="996602" y="1072455"/>
                </a:lnTo>
                <a:lnTo>
                  <a:pt x="950858" y="1087969"/>
                </a:lnTo>
                <a:lnTo>
                  <a:pt x="903527" y="1100907"/>
                </a:lnTo>
                <a:lnTo>
                  <a:pt x="854744" y="1111158"/>
                </a:lnTo>
                <a:lnTo>
                  <a:pt x="804645" y="1118615"/>
                </a:lnTo>
                <a:lnTo>
                  <a:pt x="753365" y="1123169"/>
                </a:lnTo>
                <a:lnTo>
                  <a:pt x="701039" y="1124712"/>
                </a:lnTo>
                <a:lnTo>
                  <a:pt x="648714" y="1123169"/>
                </a:lnTo>
                <a:lnTo>
                  <a:pt x="597434" y="1118615"/>
                </a:lnTo>
                <a:lnTo>
                  <a:pt x="547335" y="1111158"/>
                </a:lnTo>
                <a:lnTo>
                  <a:pt x="498552" y="1100907"/>
                </a:lnTo>
                <a:lnTo>
                  <a:pt x="451221" y="1087969"/>
                </a:lnTo>
                <a:lnTo>
                  <a:pt x="405477" y="1072455"/>
                </a:lnTo>
                <a:lnTo>
                  <a:pt x="361457" y="1054471"/>
                </a:lnTo>
                <a:lnTo>
                  <a:pt x="319294" y="1034128"/>
                </a:lnTo>
                <a:lnTo>
                  <a:pt x="279125" y="1011533"/>
                </a:lnTo>
                <a:lnTo>
                  <a:pt x="241086" y="986796"/>
                </a:lnTo>
                <a:lnTo>
                  <a:pt x="205311" y="960024"/>
                </a:lnTo>
                <a:lnTo>
                  <a:pt x="171936" y="931327"/>
                </a:lnTo>
                <a:lnTo>
                  <a:pt x="141097" y="900813"/>
                </a:lnTo>
                <a:lnTo>
                  <a:pt x="112929" y="868591"/>
                </a:lnTo>
                <a:lnTo>
                  <a:pt x="87567" y="834770"/>
                </a:lnTo>
                <a:lnTo>
                  <a:pt x="65148" y="799457"/>
                </a:lnTo>
                <a:lnTo>
                  <a:pt x="45806" y="762762"/>
                </a:lnTo>
                <a:lnTo>
                  <a:pt x="29677" y="724794"/>
                </a:lnTo>
                <a:lnTo>
                  <a:pt x="16896" y="685660"/>
                </a:lnTo>
                <a:lnTo>
                  <a:pt x="7599" y="645470"/>
                </a:lnTo>
                <a:lnTo>
                  <a:pt x="1922" y="604332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29588" y="1835911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预测角度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86355" y="2932176"/>
            <a:ext cx="6541134" cy="1481455"/>
          </a:xfrm>
          <a:custGeom>
            <a:avLst/>
            <a:gdLst/>
            <a:ahLst/>
            <a:cxnLst/>
            <a:rect l="l" t="t" r="r" b="b"/>
            <a:pathLst>
              <a:path w="6541134" h="1481454">
                <a:moveTo>
                  <a:pt x="6352540" y="0"/>
                </a:moveTo>
                <a:lnTo>
                  <a:pt x="188468" y="0"/>
                </a:lnTo>
                <a:lnTo>
                  <a:pt x="138391" y="6737"/>
                </a:lnTo>
                <a:lnTo>
                  <a:pt x="93377" y="25748"/>
                </a:lnTo>
                <a:lnTo>
                  <a:pt x="55229" y="55229"/>
                </a:lnTo>
                <a:lnTo>
                  <a:pt x="25748" y="93377"/>
                </a:lnTo>
                <a:lnTo>
                  <a:pt x="6737" y="138391"/>
                </a:lnTo>
                <a:lnTo>
                  <a:pt x="0" y="188468"/>
                </a:lnTo>
                <a:lnTo>
                  <a:pt x="0" y="1292796"/>
                </a:lnTo>
                <a:lnTo>
                  <a:pt x="6737" y="1342917"/>
                </a:lnTo>
                <a:lnTo>
                  <a:pt x="25748" y="1387953"/>
                </a:lnTo>
                <a:lnTo>
                  <a:pt x="55229" y="1426109"/>
                </a:lnTo>
                <a:lnTo>
                  <a:pt x="93377" y="1455588"/>
                </a:lnTo>
                <a:lnTo>
                  <a:pt x="138391" y="1474593"/>
                </a:lnTo>
                <a:lnTo>
                  <a:pt x="188468" y="1481328"/>
                </a:lnTo>
                <a:lnTo>
                  <a:pt x="6352540" y="1481328"/>
                </a:lnTo>
                <a:lnTo>
                  <a:pt x="6402616" y="1474593"/>
                </a:lnTo>
                <a:lnTo>
                  <a:pt x="6447630" y="1455588"/>
                </a:lnTo>
                <a:lnTo>
                  <a:pt x="6485778" y="1426109"/>
                </a:lnTo>
                <a:lnTo>
                  <a:pt x="6515259" y="1387953"/>
                </a:lnTo>
                <a:lnTo>
                  <a:pt x="6534270" y="1342917"/>
                </a:lnTo>
                <a:lnTo>
                  <a:pt x="6541008" y="1292796"/>
                </a:lnTo>
                <a:lnTo>
                  <a:pt x="6541008" y="188468"/>
                </a:lnTo>
                <a:lnTo>
                  <a:pt x="6534270" y="138391"/>
                </a:lnTo>
                <a:lnTo>
                  <a:pt x="6515259" y="93377"/>
                </a:lnTo>
                <a:lnTo>
                  <a:pt x="6485778" y="55229"/>
                </a:lnTo>
                <a:lnTo>
                  <a:pt x="6447630" y="25748"/>
                </a:lnTo>
                <a:lnTo>
                  <a:pt x="6402616" y="6737"/>
                </a:lnTo>
                <a:lnTo>
                  <a:pt x="6352540" y="0"/>
                </a:lnTo>
                <a:close/>
              </a:path>
            </a:pathLst>
          </a:custGeom>
          <a:solidFill>
            <a:srgbClr val="EB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7289" y="28948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5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6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5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2" y="672846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5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7289" y="28948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6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5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2" y="672846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5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6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45869" y="2949701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92"/>
                </a:lnTo>
                <a:lnTo>
                  <a:pt x="1533730" y="701838"/>
                </a:lnTo>
                <a:lnTo>
                  <a:pt x="1525111" y="742526"/>
                </a:lnTo>
                <a:lnTo>
                  <a:pt x="1513243" y="782265"/>
                </a:lnTo>
                <a:lnTo>
                  <a:pt x="1498241" y="820963"/>
                </a:lnTo>
                <a:lnTo>
                  <a:pt x="1480220" y="858527"/>
                </a:lnTo>
                <a:lnTo>
                  <a:pt x="1459295" y="894866"/>
                </a:lnTo>
                <a:lnTo>
                  <a:pt x="1435579" y="929888"/>
                </a:lnTo>
                <a:lnTo>
                  <a:pt x="1409189" y="963500"/>
                </a:lnTo>
                <a:lnTo>
                  <a:pt x="1380239" y="995611"/>
                </a:lnTo>
                <a:lnTo>
                  <a:pt x="1348843" y="1026128"/>
                </a:lnTo>
                <a:lnTo>
                  <a:pt x="1315116" y="1054960"/>
                </a:lnTo>
                <a:lnTo>
                  <a:pt x="1279174" y="1082014"/>
                </a:lnTo>
                <a:lnTo>
                  <a:pt x="1241130" y="1107199"/>
                </a:lnTo>
                <a:lnTo>
                  <a:pt x="1201101" y="1130421"/>
                </a:lnTo>
                <a:lnTo>
                  <a:pt x="1159199" y="1151590"/>
                </a:lnTo>
                <a:lnTo>
                  <a:pt x="1115541" y="1170614"/>
                </a:lnTo>
                <a:lnTo>
                  <a:pt x="1070240" y="1187399"/>
                </a:lnTo>
                <a:lnTo>
                  <a:pt x="1023413" y="1201855"/>
                </a:lnTo>
                <a:lnTo>
                  <a:pt x="975173" y="1213888"/>
                </a:lnTo>
                <a:lnTo>
                  <a:pt x="925635" y="1223408"/>
                </a:lnTo>
                <a:lnTo>
                  <a:pt x="874914" y="1230322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2"/>
                </a:lnTo>
                <a:lnTo>
                  <a:pt x="615128" y="1223408"/>
                </a:lnTo>
                <a:lnTo>
                  <a:pt x="565590" y="1213888"/>
                </a:lnTo>
                <a:lnTo>
                  <a:pt x="517350" y="1201855"/>
                </a:lnTo>
                <a:lnTo>
                  <a:pt x="470523" y="1187399"/>
                </a:lnTo>
                <a:lnTo>
                  <a:pt x="425222" y="1170614"/>
                </a:lnTo>
                <a:lnTo>
                  <a:pt x="381564" y="1151590"/>
                </a:lnTo>
                <a:lnTo>
                  <a:pt x="339662" y="1130421"/>
                </a:lnTo>
                <a:lnTo>
                  <a:pt x="299633" y="1107199"/>
                </a:lnTo>
                <a:lnTo>
                  <a:pt x="261589" y="1082014"/>
                </a:lnTo>
                <a:lnTo>
                  <a:pt x="225647" y="1054960"/>
                </a:lnTo>
                <a:lnTo>
                  <a:pt x="191920" y="1026128"/>
                </a:lnTo>
                <a:lnTo>
                  <a:pt x="160524" y="995611"/>
                </a:lnTo>
                <a:lnTo>
                  <a:pt x="131574" y="963500"/>
                </a:lnTo>
                <a:lnTo>
                  <a:pt x="105184" y="929888"/>
                </a:lnTo>
                <a:lnTo>
                  <a:pt x="81468" y="894866"/>
                </a:lnTo>
                <a:lnTo>
                  <a:pt x="60543" y="858527"/>
                </a:lnTo>
                <a:lnTo>
                  <a:pt x="42522" y="820963"/>
                </a:lnTo>
                <a:lnTo>
                  <a:pt x="27520" y="782265"/>
                </a:lnTo>
                <a:lnTo>
                  <a:pt x="15652" y="742526"/>
                </a:lnTo>
                <a:lnTo>
                  <a:pt x="7033" y="701838"/>
                </a:lnTo>
                <a:lnTo>
                  <a:pt x="1777" y="660292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15974" y="3009138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39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25"/>
                </a:lnTo>
                <a:lnTo>
                  <a:pt x="1394480" y="645456"/>
                </a:lnTo>
                <a:lnTo>
                  <a:pt x="1385183" y="685641"/>
                </a:lnTo>
                <a:lnTo>
                  <a:pt x="1372402" y="724771"/>
                </a:lnTo>
                <a:lnTo>
                  <a:pt x="1356273" y="762736"/>
                </a:lnTo>
                <a:lnTo>
                  <a:pt x="1336931" y="799430"/>
                </a:lnTo>
                <a:lnTo>
                  <a:pt x="1314512" y="834742"/>
                </a:lnTo>
                <a:lnTo>
                  <a:pt x="1289150" y="868563"/>
                </a:lnTo>
                <a:lnTo>
                  <a:pt x="1260982" y="900786"/>
                </a:lnTo>
                <a:lnTo>
                  <a:pt x="1230143" y="931301"/>
                </a:lnTo>
                <a:lnTo>
                  <a:pt x="1196768" y="960000"/>
                </a:lnTo>
                <a:lnTo>
                  <a:pt x="1160993" y="986774"/>
                </a:lnTo>
                <a:lnTo>
                  <a:pt x="1122954" y="1011514"/>
                </a:lnTo>
                <a:lnTo>
                  <a:pt x="1082785" y="1034112"/>
                </a:lnTo>
                <a:lnTo>
                  <a:pt x="1040622" y="1054458"/>
                </a:lnTo>
                <a:lnTo>
                  <a:pt x="996602" y="1072444"/>
                </a:lnTo>
                <a:lnTo>
                  <a:pt x="950858" y="1087962"/>
                </a:lnTo>
                <a:lnTo>
                  <a:pt x="903527" y="1100902"/>
                </a:lnTo>
                <a:lnTo>
                  <a:pt x="854744" y="1111155"/>
                </a:lnTo>
                <a:lnTo>
                  <a:pt x="804645" y="1118614"/>
                </a:lnTo>
                <a:lnTo>
                  <a:pt x="753365" y="1123169"/>
                </a:lnTo>
                <a:lnTo>
                  <a:pt x="701039" y="1124712"/>
                </a:lnTo>
                <a:lnTo>
                  <a:pt x="648714" y="1123169"/>
                </a:lnTo>
                <a:lnTo>
                  <a:pt x="597434" y="1118614"/>
                </a:lnTo>
                <a:lnTo>
                  <a:pt x="547335" y="1111155"/>
                </a:lnTo>
                <a:lnTo>
                  <a:pt x="498552" y="1100902"/>
                </a:lnTo>
                <a:lnTo>
                  <a:pt x="451221" y="1087962"/>
                </a:lnTo>
                <a:lnTo>
                  <a:pt x="405477" y="1072444"/>
                </a:lnTo>
                <a:lnTo>
                  <a:pt x="361457" y="1054458"/>
                </a:lnTo>
                <a:lnTo>
                  <a:pt x="319294" y="1034112"/>
                </a:lnTo>
                <a:lnTo>
                  <a:pt x="279125" y="1011514"/>
                </a:lnTo>
                <a:lnTo>
                  <a:pt x="241086" y="986774"/>
                </a:lnTo>
                <a:lnTo>
                  <a:pt x="205311" y="960000"/>
                </a:lnTo>
                <a:lnTo>
                  <a:pt x="171936" y="931301"/>
                </a:lnTo>
                <a:lnTo>
                  <a:pt x="141097" y="900786"/>
                </a:lnTo>
                <a:lnTo>
                  <a:pt x="112929" y="868563"/>
                </a:lnTo>
                <a:lnTo>
                  <a:pt x="87567" y="834742"/>
                </a:lnTo>
                <a:lnTo>
                  <a:pt x="65148" y="799430"/>
                </a:lnTo>
                <a:lnTo>
                  <a:pt x="45806" y="762736"/>
                </a:lnTo>
                <a:lnTo>
                  <a:pt x="29677" y="724771"/>
                </a:lnTo>
                <a:lnTo>
                  <a:pt x="16896" y="685641"/>
                </a:lnTo>
                <a:lnTo>
                  <a:pt x="7599" y="645456"/>
                </a:lnTo>
                <a:lnTo>
                  <a:pt x="1922" y="604325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13458" y="34126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范围角度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65247" y="2967419"/>
            <a:ext cx="5686425" cy="1343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0" algn="just">
              <a:lnSpc>
                <a:spcPct val="120000"/>
              </a:lnSpc>
              <a:spcBef>
                <a:spcPts val="105"/>
              </a:spcBef>
            </a:pPr>
            <a:r>
              <a:rPr sz="2400" spc="5" dirty="0">
                <a:latin typeface="华文新魏"/>
                <a:cs typeface="华文新魏"/>
              </a:rPr>
              <a:t>商业风险</a:t>
            </a:r>
            <a:r>
              <a:rPr sz="2400" spc="-5" dirty="0">
                <a:latin typeface="华文新魏"/>
                <a:cs typeface="华文新魏"/>
              </a:rPr>
              <a:t>、</a:t>
            </a:r>
            <a:r>
              <a:rPr sz="2400" spc="10" dirty="0">
                <a:latin typeface="华文新魏"/>
                <a:cs typeface="华文新魏"/>
              </a:rPr>
              <a:t>管理风</a:t>
            </a:r>
            <a:r>
              <a:rPr sz="2400" spc="5" dirty="0">
                <a:latin typeface="华文新魏"/>
                <a:cs typeface="华文新魏"/>
              </a:rPr>
              <a:t>险</a:t>
            </a:r>
            <a:r>
              <a:rPr sz="2400" spc="-5" dirty="0">
                <a:latin typeface="华文新魏"/>
                <a:cs typeface="华文新魏"/>
              </a:rPr>
              <a:t>、</a:t>
            </a:r>
            <a:r>
              <a:rPr sz="2400" spc="5" dirty="0">
                <a:latin typeface="华文新魏"/>
                <a:cs typeface="华文新魏"/>
              </a:rPr>
              <a:t>人员风</a:t>
            </a:r>
            <a:r>
              <a:rPr sz="2400" spc="10" dirty="0">
                <a:latin typeface="华文新魏"/>
                <a:cs typeface="华文新魏"/>
              </a:rPr>
              <a:t>险</a:t>
            </a:r>
            <a:r>
              <a:rPr sz="2400" spc="-5" dirty="0">
                <a:latin typeface="华文新魏"/>
                <a:cs typeface="华文新魏"/>
              </a:rPr>
              <a:t>、</a:t>
            </a:r>
            <a:r>
              <a:rPr sz="2400" spc="5" dirty="0">
                <a:latin typeface="华文新魏"/>
                <a:cs typeface="华文新魏"/>
              </a:rPr>
              <a:t>技术 </a:t>
            </a:r>
            <a:r>
              <a:rPr sz="2400" spc="80" dirty="0">
                <a:latin typeface="华文新魏"/>
                <a:cs typeface="华文新魏"/>
              </a:rPr>
              <a:t>风</a:t>
            </a:r>
            <a:r>
              <a:rPr sz="2400" spc="85" dirty="0">
                <a:latin typeface="华文新魏"/>
                <a:cs typeface="华文新魏"/>
              </a:rPr>
              <a:t>险</a:t>
            </a:r>
            <a:r>
              <a:rPr sz="2400" spc="70" dirty="0">
                <a:latin typeface="华文新魏"/>
                <a:cs typeface="华文新魏"/>
              </a:rPr>
              <a:t>、</a:t>
            </a:r>
            <a:r>
              <a:rPr sz="2400" spc="65" dirty="0">
                <a:latin typeface="华文新魏"/>
                <a:cs typeface="华文新魏"/>
              </a:rPr>
              <a:t>开</a:t>
            </a:r>
            <a:r>
              <a:rPr sz="2400" spc="80" dirty="0">
                <a:latin typeface="华文新魏"/>
                <a:cs typeface="华文新魏"/>
              </a:rPr>
              <a:t>发环</a:t>
            </a:r>
            <a:r>
              <a:rPr sz="2400" spc="65" dirty="0">
                <a:latin typeface="华文新魏"/>
                <a:cs typeface="华文新魏"/>
              </a:rPr>
              <a:t>境风</a:t>
            </a:r>
            <a:r>
              <a:rPr sz="2400" spc="95" dirty="0">
                <a:latin typeface="华文新魏"/>
                <a:cs typeface="华文新魏"/>
              </a:rPr>
              <a:t>险</a:t>
            </a:r>
            <a:r>
              <a:rPr sz="2400" spc="80" dirty="0">
                <a:latin typeface="华文新魏"/>
                <a:cs typeface="华文新魏"/>
              </a:rPr>
              <a:t>、</a:t>
            </a:r>
            <a:r>
              <a:rPr sz="2400" spc="65" dirty="0">
                <a:latin typeface="华文新魏"/>
                <a:cs typeface="华文新魏"/>
              </a:rPr>
              <a:t>客户</a:t>
            </a:r>
            <a:r>
              <a:rPr sz="2400" spc="80" dirty="0">
                <a:latin typeface="华文新魏"/>
                <a:cs typeface="华文新魏"/>
              </a:rPr>
              <a:t>风</a:t>
            </a:r>
            <a:r>
              <a:rPr sz="2400" spc="90" dirty="0">
                <a:latin typeface="华文新魏"/>
                <a:cs typeface="华文新魏"/>
              </a:rPr>
              <a:t>险</a:t>
            </a:r>
            <a:r>
              <a:rPr sz="2400" spc="70" dirty="0">
                <a:latin typeface="华文新魏"/>
                <a:cs typeface="华文新魏"/>
              </a:rPr>
              <a:t>、</a:t>
            </a:r>
            <a:r>
              <a:rPr sz="2400" spc="65" dirty="0">
                <a:latin typeface="华文新魏"/>
                <a:cs typeface="华文新魏"/>
              </a:rPr>
              <a:t>过</a:t>
            </a:r>
            <a:r>
              <a:rPr sz="2400" spc="90" dirty="0">
                <a:latin typeface="华文新魏"/>
                <a:cs typeface="华文新魏"/>
              </a:rPr>
              <a:t>程</a:t>
            </a:r>
            <a:r>
              <a:rPr sz="2400" dirty="0">
                <a:latin typeface="华文新魏"/>
                <a:cs typeface="华文新魏"/>
              </a:rPr>
              <a:t>风 险、产品规模风险等</a:t>
            </a:r>
            <a:r>
              <a:rPr sz="1400" b="1" dirty="0"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6807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项目风险的三要素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5140" y="467390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95165" y="2609850"/>
            <a:ext cx="1082040" cy="948055"/>
          </a:xfrm>
          <a:custGeom>
            <a:avLst/>
            <a:gdLst/>
            <a:ahLst/>
            <a:cxnLst/>
            <a:rect l="l" t="t" r="r" b="b"/>
            <a:pathLst>
              <a:path w="1082039" h="948054">
                <a:moveTo>
                  <a:pt x="924051" y="0"/>
                </a:moveTo>
                <a:lnTo>
                  <a:pt x="157987" y="0"/>
                </a:lnTo>
                <a:lnTo>
                  <a:pt x="108053" y="8054"/>
                </a:lnTo>
                <a:lnTo>
                  <a:pt x="64684" y="30484"/>
                </a:lnTo>
                <a:lnTo>
                  <a:pt x="30484" y="64684"/>
                </a:lnTo>
                <a:lnTo>
                  <a:pt x="8054" y="108053"/>
                </a:lnTo>
                <a:lnTo>
                  <a:pt x="0" y="157987"/>
                </a:lnTo>
                <a:lnTo>
                  <a:pt x="0" y="789939"/>
                </a:lnTo>
                <a:lnTo>
                  <a:pt x="8054" y="839874"/>
                </a:lnTo>
                <a:lnTo>
                  <a:pt x="30484" y="883243"/>
                </a:lnTo>
                <a:lnTo>
                  <a:pt x="64684" y="917443"/>
                </a:lnTo>
                <a:lnTo>
                  <a:pt x="108053" y="939873"/>
                </a:lnTo>
                <a:lnTo>
                  <a:pt x="157987" y="947928"/>
                </a:lnTo>
                <a:lnTo>
                  <a:pt x="924051" y="947928"/>
                </a:lnTo>
                <a:lnTo>
                  <a:pt x="973986" y="939873"/>
                </a:lnTo>
                <a:lnTo>
                  <a:pt x="1017355" y="917443"/>
                </a:lnTo>
                <a:lnTo>
                  <a:pt x="1051555" y="883243"/>
                </a:lnTo>
                <a:lnTo>
                  <a:pt x="1073985" y="839874"/>
                </a:lnTo>
                <a:lnTo>
                  <a:pt x="1082039" y="789939"/>
                </a:lnTo>
                <a:lnTo>
                  <a:pt x="1082039" y="157987"/>
                </a:lnTo>
                <a:lnTo>
                  <a:pt x="1073985" y="108053"/>
                </a:lnTo>
                <a:lnTo>
                  <a:pt x="1051555" y="64684"/>
                </a:lnTo>
                <a:lnTo>
                  <a:pt x="1017355" y="30484"/>
                </a:lnTo>
                <a:lnTo>
                  <a:pt x="973986" y="8054"/>
                </a:lnTo>
                <a:lnTo>
                  <a:pt x="92405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02989" y="2687269"/>
            <a:ext cx="866775" cy="690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5"/>
              </a:lnSpc>
              <a:spcBef>
                <a:spcPts val="95"/>
              </a:spcBef>
            </a:pPr>
            <a:r>
              <a:rPr sz="2200" b="1" dirty="0">
                <a:latin typeface="华文隶书"/>
                <a:cs typeface="华文隶书"/>
              </a:rPr>
              <a:t>风险三</a:t>
            </a:r>
            <a:endParaRPr sz="2200">
              <a:latin typeface="华文隶书"/>
              <a:cs typeface="华文隶书"/>
            </a:endParaRPr>
          </a:p>
          <a:p>
            <a:pPr marL="152400">
              <a:lnSpc>
                <a:spcPts val="2615"/>
              </a:lnSpc>
            </a:pPr>
            <a:r>
              <a:rPr sz="2200" b="1" dirty="0">
                <a:latin typeface="华文隶书"/>
                <a:cs typeface="华文隶书"/>
              </a:rPr>
              <a:t>要素</a:t>
            </a:r>
            <a:endParaRPr sz="2200">
              <a:latin typeface="华文隶书"/>
              <a:cs typeface="华文隶书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36185" y="1944497"/>
            <a:ext cx="0" cy="665480"/>
          </a:xfrm>
          <a:custGeom>
            <a:avLst/>
            <a:gdLst/>
            <a:ahLst/>
            <a:cxnLst/>
            <a:rect l="l" t="t" r="r" b="b"/>
            <a:pathLst>
              <a:path h="665480">
                <a:moveTo>
                  <a:pt x="0" y="665352"/>
                </a:moveTo>
                <a:lnTo>
                  <a:pt x="0" y="0"/>
                </a:lnTo>
              </a:path>
            </a:pathLst>
          </a:custGeom>
          <a:ln w="19812">
            <a:solidFill>
              <a:srgbClr val="7590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32682" y="1308353"/>
            <a:ext cx="1207135" cy="635635"/>
          </a:xfrm>
          <a:custGeom>
            <a:avLst/>
            <a:gdLst/>
            <a:ahLst/>
            <a:cxnLst/>
            <a:rect l="l" t="t" r="r" b="b"/>
            <a:pathLst>
              <a:path w="1207135" h="635635">
                <a:moveTo>
                  <a:pt x="1101089" y="0"/>
                </a:moveTo>
                <a:lnTo>
                  <a:pt x="105917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8"/>
                </a:lnTo>
                <a:lnTo>
                  <a:pt x="0" y="529590"/>
                </a:lnTo>
                <a:lnTo>
                  <a:pt x="8316" y="570839"/>
                </a:lnTo>
                <a:lnTo>
                  <a:pt x="31003" y="604504"/>
                </a:lnTo>
                <a:lnTo>
                  <a:pt x="64668" y="627191"/>
                </a:lnTo>
                <a:lnTo>
                  <a:pt x="105917" y="635508"/>
                </a:lnTo>
                <a:lnTo>
                  <a:pt x="1101089" y="635508"/>
                </a:lnTo>
                <a:lnTo>
                  <a:pt x="1142339" y="627191"/>
                </a:lnTo>
                <a:lnTo>
                  <a:pt x="1176004" y="604504"/>
                </a:lnTo>
                <a:lnTo>
                  <a:pt x="1198691" y="570839"/>
                </a:lnTo>
                <a:lnTo>
                  <a:pt x="1207007" y="529590"/>
                </a:lnTo>
                <a:lnTo>
                  <a:pt x="1207007" y="105918"/>
                </a:lnTo>
                <a:lnTo>
                  <a:pt x="1198691" y="64668"/>
                </a:lnTo>
                <a:lnTo>
                  <a:pt x="1176004" y="31003"/>
                </a:lnTo>
                <a:lnTo>
                  <a:pt x="1142339" y="8316"/>
                </a:lnTo>
                <a:lnTo>
                  <a:pt x="110108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32682" y="1308353"/>
            <a:ext cx="1207135" cy="635635"/>
          </a:xfrm>
          <a:custGeom>
            <a:avLst/>
            <a:gdLst/>
            <a:ahLst/>
            <a:cxnLst/>
            <a:rect l="l" t="t" r="r" b="b"/>
            <a:pathLst>
              <a:path w="1207135" h="635635">
                <a:moveTo>
                  <a:pt x="0" y="105918"/>
                </a:moveTo>
                <a:lnTo>
                  <a:pt x="8316" y="64668"/>
                </a:lnTo>
                <a:lnTo>
                  <a:pt x="31003" y="31003"/>
                </a:lnTo>
                <a:lnTo>
                  <a:pt x="64668" y="8316"/>
                </a:lnTo>
                <a:lnTo>
                  <a:pt x="105917" y="0"/>
                </a:lnTo>
                <a:lnTo>
                  <a:pt x="1101089" y="0"/>
                </a:lnTo>
                <a:lnTo>
                  <a:pt x="1142339" y="8316"/>
                </a:lnTo>
                <a:lnTo>
                  <a:pt x="1176004" y="31003"/>
                </a:lnTo>
                <a:lnTo>
                  <a:pt x="1198691" y="64668"/>
                </a:lnTo>
                <a:lnTo>
                  <a:pt x="1207007" y="105918"/>
                </a:lnTo>
                <a:lnTo>
                  <a:pt x="1207007" y="529590"/>
                </a:lnTo>
                <a:lnTo>
                  <a:pt x="1198691" y="570839"/>
                </a:lnTo>
                <a:lnTo>
                  <a:pt x="1176004" y="604504"/>
                </a:lnTo>
                <a:lnTo>
                  <a:pt x="1142339" y="627191"/>
                </a:lnTo>
                <a:lnTo>
                  <a:pt x="1101089" y="635508"/>
                </a:lnTo>
                <a:lnTo>
                  <a:pt x="105917" y="635508"/>
                </a:lnTo>
                <a:lnTo>
                  <a:pt x="64668" y="627191"/>
                </a:lnTo>
                <a:lnTo>
                  <a:pt x="31003" y="604504"/>
                </a:lnTo>
                <a:lnTo>
                  <a:pt x="8316" y="570839"/>
                </a:lnTo>
                <a:lnTo>
                  <a:pt x="0" y="529590"/>
                </a:lnTo>
                <a:lnTo>
                  <a:pt x="0" y="105918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11929" y="1420113"/>
            <a:ext cx="1046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B85B21"/>
                </a:solidFill>
                <a:latin typeface="华文新魏"/>
                <a:cs typeface="华文新魏"/>
              </a:rPr>
              <a:t>风险</a:t>
            </a:r>
            <a:r>
              <a:rPr sz="2000" b="1" dirty="0">
                <a:solidFill>
                  <a:srgbClr val="B85B21"/>
                </a:solidFill>
                <a:latin typeface="华文新魏"/>
                <a:cs typeface="华文新魏"/>
              </a:rPr>
              <a:t>事件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76063" y="3395598"/>
            <a:ext cx="193675" cy="112395"/>
          </a:xfrm>
          <a:custGeom>
            <a:avLst/>
            <a:gdLst/>
            <a:ahLst/>
            <a:cxnLst/>
            <a:rect l="l" t="t" r="r" b="b"/>
            <a:pathLst>
              <a:path w="193675" h="112395">
                <a:moveTo>
                  <a:pt x="0" y="0"/>
                </a:moveTo>
                <a:lnTo>
                  <a:pt x="193675" y="111887"/>
                </a:lnTo>
              </a:path>
            </a:pathLst>
          </a:custGeom>
          <a:ln w="19049">
            <a:solidFill>
              <a:srgbClr val="7590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70753" y="3495294"/>
            <a:ext cx="1054735" cy="635635"/>
          </a:xfrm>
          <a:custGeom>
            <a:avLst/>
            <a:gdLst/>
            <a:ahLst/>
            <a:cxnLst/>
            <a:rect l="l" t="t" r="r" b="b"/>
            <a:pathLst>
              <a:path w="1054735" h="635635">
                <a:moveTo>
                  <a:pt x="948690" y="0"/>
                </a:moveTo>
                <a:lnTo>
                  <a:pt x="105918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7"/>
                </a:lnTo>
                <a:lnTo>
                  <a:pt x="0" y="529589"/>
                </a:lnTo>
                <a:lnTo>
                  <a:pt x="8316" y="570817"/>
                </a:lnTo>
                <a:lnTo>
                  <a:pt x="31003" y="604485"/>
                </a:lnTo>
                <a:lnTo>
                  <a:pt x="64668" y="627184"/>
                </a:lnTo>
                <a:lnTo>
                  <a:pt x="105918" y="635507"/>
                </a:lnTo>
                <a:lnTo>
                  <a:pt x="948690" y="635507"/>
                </a:lnTo>
                <a:lnTo>
                  <a:pt x="989939" y="627184"/>
                </a:lnTo>
                <a:lnTo>
                  <a:pt x="1023604" y="604485"/>
                </a:lnTo>
                <a:lnTo>
                  <a:pt x="1046291" y="570817"/>
                </a:lnTo>
                <a:lnTo>
                  <a:pt x="1054608" y="529589"/>
                </a:lnTo>
                <a:lnTo>
                  <a:pt x="1054608" y="105917"/>
                </a:lnTo>
                <a:lnTo>
                  <a:pt x="1046291" y="64668"/>
                </a:lnTo>
                <a:lnTo>
                  <a:pt x="1023604" y="31003"/>
                </a:lnTo>
                <a:lnTo>
                  <a:pt x="989939" y="8316"/>
                </a:lnTo>
                <a:lnTo>
                  <a:pt x="94869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70753" y="3495294"/>
            <a:ext cx="1054735" cy="635635"/>
          </a:xfrm>
          <a:custGeom>
            <a:avLst/>
            <a:gdLst/>
            <a:ahLst/>
            <a:cxnLst/>
            <a:rect l="l" t="t" r="r" b="b"/>
            <a:pathLst>
              <a:path w="1054735" h="635635">
                <a:moveTo>
                  <a:pt x="0" y="105917"/>
                </a:moveTo>
                <a:lnTo>
                  <a:pt x="8316" y="64668"/>
                </a:lnTo>
                <a:lnTo>
                  <a:pt x="31003" y="31003"/>
                </a:lnTo>
                <a:lnTo>
                  <a:pt x="64668" y="8316"/>
                </a:lnTo>
                <a:lnTo>
                  <a:pt x="105918" y="0"/>
                </a:lnTo>
                <a:lnTo>
                  <a:pt x="948690" y="0"/>
                </a:lnTo>
                <a:lnTo>
                  <a:pt x="989939" y="8316"/>
                </a:lnTo>
                <a:lnTo>
                  <a:pt x="1023604" y="31003"/>
                </a:lnTo>
                <a:lnTo>
                  <a:pt x="1046291" y="64668"/>
                </a:lnTo>
                <a:lnTo>
                  <a:pt x="1054608" y="105917"/>
                </a:lnTo>
                <a:lnTo>
                  <a:pt x="1054608" y="529589"/>
                </a:lnTo>
                <a:lnTo>
                  <a:pt x="1046291" y="570817"/>
                </a:lnTo>
                <a:lnTo>
                  <a:pt x="1023604" y="604485"/>
                </a:lnTo>
                <a:lnTo>
                  <a:pt x="989939" y="627184"/>
                </a:lnTo>
                <a:lnTo>
                  <a:pt x="948690" y="635507"/>
                </a:lnTo>
                <a:lnTo>
                  <a:pt x="105918" y="635507"/>
                </a:lnTo>
                <a:lnTo>
                  <a:pt x="64668" y="627184"/>
                </a:lnTo>
                <a:lnTo>
                  <a:pt x="31003" y="604485"/>
                </a:lnTo>
                <a:lnTo>
                  <a:pt x="8316" y="570817"/>
                </a:lnTo>
                <a:lnTo>
                  <a:pt x="0" y="529589"/>
                </a:lnTo>
                <a:lnTo>
                  <a:pt x="0" y="105917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50509" y="3635502"/>
            <a:ext cx="8940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10" dirty="0">
                <a:solidFill>
                  <a:srgbClr val="B85B21"/>
                </a:solidFill>
                <a:latin typeface="华文新魏"/>
                <a:cs typeface="华文新魏"/>
              </a:rPr>
              <a:t>事件</a:t>
            </a:r>
            <a:r>
              <a:rPr sz="1700" b="1" dirty="0">
                <a:solidFill>
                  <a:srgbClr val="B85B21"/>
                </a:solidFill>
                <a:latin typeface="华文新魏"/>
                <a:cs typeface="华文新魏"/>
              </a:rPr>
              <a:t>影响</a:t>
            </a:r>
            <a:endParaRPr sz="1700">
              <a:latin typeface="华文新魏"/>
              <a:cs typeface="华文新魏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99585" y="3395598"/>
            <a:ext cx="194945" cy="113030"/>
          </a:xfrm>
          <a:custGeom>
            <a:avLst/>
            <a:gdLst/>
            <a:ahLst/>
            <a:cxnLst/>
            <a:rect l="l" t="t" r="r" b="b"/>
            <a:pathLst>
              <a:path w="194945" h="113029">
                <a:moveTo>
                  <a:pt x="194944" y="0"/>
                </a:moveTo>
                <a:lnTo>
                  <a:pt x="0" y="112649"/>
                </a:lnTo>
              </a:path>
            </a:pathLst>
          </a:custGeom>
          <a:ln w="19050">
            <a:solidFill>
              <a:srgbClr val="7590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47010" y="3495294"/>
            <a:ext cx="1053465" cy="635635"/>
          </a:xfrm>
          <a:custGeom>
            <a:avLst/>
            <a:gdLst/>
            <a:ahLst/>
            <a:cxnLst/>
            <a:rect l="l" t="t" r="r" b="b"/>
            <a:pathLst>
              <a:path w="1053464" h="635635">
                <a:moveTo>
                  <a:pt x="947165" y="0"/>
                </a:moveTo>
                <a:lnTo>
                  <a:pt x="105917" y="0"/>
                </a:lnTo>
                <a:lnTo>
                  <a:pt x="64668" y="8316"/>
                </a:lnTo>
                <a:lnTo>
                  <a:pt x="31003" y="31003"/>
                </a:lnTo>
                <a:lnTo>
                  <a:pt x="8316" y="64668"/>
                </a:lnTo>
                <a:lnTo>
                  <a:pt x="0" y="105917"/>
                </a:lnTo>
                <a:lnTo>
                  <a:pt x="0" y="529589"/>
                </a:lnTo>
                <a:lnTo>
                  <a:pt x="8316" y="570817"/>
                </a:lnTo>
                <a:lnTo>
                  <a:pt x="31003" y="604485"/>
                </a:lnTo>
                <a:lnTo>
                  <a:pt x="64668" y="627184"/>
                </a:lnTo>
                <a:lnTo>
                  <a:pt x="105917" y="635507"/>
                </a:lnTo>
                <a:lnTo>
                  <a:pt x="947165" y="635507"/>
                </a:lnTo>
                <a:lnTo>
                  <a:pt x="988415" y="627184"/>
                </a:lnTo>
                <a:lnTo>
                  <a:pt x="1022080" y="604485"/>
                </a:lnTo>
                <a:lnTo>
                  <a:pt x="1044767" y="570817"/>
                </a:lnTo>
                <a:lnTo>
                  <a:pt x="1053084" y="529589"/>
                </a:lnTo>
                <a:lnTo>
                  <a:pt x="1053084" y="105917"/>
                </a:lnTo>
                <a:lnTo>
                  <a:pt x="1044767" y="64668"/>
                </a:lnTo>
                <a:lnTo>
                  <a:pt x="1022080" y="31003"/>
                </a:lnTo>
                <a:lnTo>
                  <a:pt x="988415" y="8316"/>
                </a:lnTo>
                <a:lnTo>
                  <a:pt x="9471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47010" y="3495294"/>
            <a:ext cx="1053465" cy="635635"/>
          </a:xfrm>
          <a:custGeom>
            <a:avLst/>
            <a:gdLst/>
            <a:ahLst/>
            <a:cxnLst/>
            <a:rect l="l" t="t" r="r" b="b"/>
            <a:pathLst>
              <a:path w="1053464" h="635635">
                <a:moveTo>
                  <a:pt x="0" y="105917"/>
                </a:moveTo>
                <a:lnTo>
                  <a:pt x="8316" y="64668"/>
                </a:lnTo>
                <a:lnTo>
                  <a:pt x="31003" y="31003"/>
                </a:lnTo>
                <a:lnTo>
                  <a:pt x="64668" y="8316"/>
                </a:lnTo>
                <a:lnTo>
                  <a:pt x="105917" y="0"/>
                </a:lnTo>
                <a:lnTo>
                  <a:pt x="947165" y="0"/>
                </a:lnTo>
                <a:lnTo>
                  <a:pt x="988415" y="8316"/>
                </a:lnTo>
                <a:lnTo>
                  <a:pt x="1022080" y="31003"/>
                </a:lnTo>
                <a:lnTo>
                  <a:pt x="1044767" y="64668"/>
                </a:lnTo>
                <a:lnTo>
                  <a:pt x="1053084" y="105917"/>
                </a:lnTo>
                <a:lnTo>
                  <a:pt x="1053084" y="529589"/>
                </a:lnTo>
                <a:lnTo>
                  <a:pt x="1044767" y="570817"/>
                </a:lnTo>
                <a:lnTo>
                  <a:pt x="1022080" y="604485"/>
                </a:lnTo>
                <a:lnTo>
                  <a:pt x="988415" y="627184"/>
                </a:lnTo>
                <a:lnTo>
                  <a:pt x="947165" y="635507"/>
                </a:lnTo>
                <a:lnTo>
                  <a:pt x="105917" y="635507"/>
                </a:lnTo>
                <a:lnTo>
                  <a:pt x="64668" y="627184"/>
                </a:lnTo>
                <a:lnTo>
                  <a:pt x="31003" y="604485"/>
                </a:lnTo>
                <a:lnTo>
                  <a:pt x="8316" y="570817"/>
                </a:lnTo>
                <a:lnTo>
                  <a:pt x="0" y="529589"/>
                </a:lnTo>
                <a:lnTo>
                  <a:pt x="0" y="105917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25623" y="3635502"/>
            <a:ext cx="8940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10" dirty="0">
                <a:solidFill>
                  <a:srgbClr val="B85B21"/>
                </a:solidFill>
                <a:latin typeface="华文新魏"/>
                <a:cs typeface="华文新魏"/>
              </a:rPr>
              <a:t>事件</a:t>
            </a:r>
            <a:r>
              <a:rPr sz="1700" b="1" dirty="0">
                <a:solidFill>
                  <a:srgbClr val="B85B21"/>
                </a:solidFill>
                <a:latin typeface="华文新魏"/>
                <a:cs typeface="华文新魏"/>
              </a:rPr>
              <a:t>概率</a:t>
            </a:r>
            <a:endParaRPr sz="17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39" y="96138"/>
            <a:ext cx="5059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风险管理的四个过程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8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2361" y="1430274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63294" y="1437893"/>
            <a:ext cx="1433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09930" algn="l"/>
              </a:tabLst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	识别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8386" y="1521612"/>
            <a:ext cx="355600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险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8761" y="22303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风险评估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5161" y="30304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2800" spc="-10" dirty="0">
                <a:solidFill>
                  <a:srgbClr val="B85B21"/>
                </a:solidFill>
                <a:latin typeface="华文琥珀"/>
                <a:cs typeface="华文琥珀"/>
              </a:rPr>
              <a:t>风险规划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30161" y="38305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30161" y="38305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风险控制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7361" y="1690877"/>
            <a:ext cx="723900" cy="538480"/>
          </a:xfrm>
          <a:custGeom>
            <a:avLst/>
            <a:gdLst/>
            <a:ahLst/>
            <a:cxnLst/>
            <a:rect l="l" t="t" r="r" b="b"/>
            <a:pathLst>
              <a:path w="723900" h="538480">
                <a:moveTo>
                  <a:pt x="0" y="0"/>
                </a:moveTo>
                <a:lnTo>
                  <a:pt x="723900" y="0"/>
                </a:lnTo>
                <a:lnTo>
                  <a:pt x="723900" y="53809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53761" y="2344673"/>
            <a:ext cx="723900" cy="685800"/>
          </a:xfrm>
          <a:custGeom>
            <a:avLst/>
            <a:gdLst/>
            <a:ahLst/>
            <a:cxnLst/>
            <a:rect l="l" t="t" r="r" b="b"/>
            <a:pathLst>
              <a:path w="723900" h="685800">
                <a:moveTo>
                  <a:pt x="0" y="0"/>
                </a:moveTo>
                <a:lnTo>
                  <a:pt x="723900" y="0"/>
                </a:lnTo>
                <a:lnTo>
                  <a:pt x="723900" y="6858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65214" y="3201161"/>
            <a:ext cx="787400" cy="643255"/>
          </a:xfrm>
          <a:custGeom>
            <a:avLst/>
            <a:gdLst/>
            <a:ahLst/>
            <a:cxnLst/>
            <a:rect l="l" t="t" r="r" b="b"/>
            <a:pathLst>
              <a:path w="787400" h="643254">
                <a:moveTo>
                  <a:pt x="0" y="0"/>
                </a:moveTo>
                <a:lnTo>
                  <a:pt x="787400" y="0"/>
                </a:lnTo>
                <a:lnTo>
                  <a:pt x="787400" y="64300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3761" y="1690877"/>
            <a:ext cx="6438900" cy="2891155"/>
          </a:xfrm>
          <a:custGeom>
            <a:avLst/>
            <a:gdLst/>
            <a:ahLst/>
            <a:cxnLst/>
            <a:rect l="l" t="t" r="r" b="b"/>
            <a:pathLst>
              <a:path w="6438900" h="2891154">
                <a:moveTo>
                  <a:pt x="6438899" y="2662237"/>
                </a:moveTo>
                <a:lnTo>
                  <a:pt x="6438899" y="2890875"/>
                </a:lnTo>
                <a:lnTo>
                  <a:pt x="0" y="2890875"/>
                </a:lnTo>
                <a:lnTo>
                  <a:pt x="0" y="0"/>
                </a:lnTo>
                <a:lnTo>
                  <a:pt x="2286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46504" y="1479803"/>
            <a:ext cx="577595" cy="399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51002"/>
            <a:ext cx="2687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775F54"/>
                </a:solidFill>
                <a:latin typeface="华文楷体"/>
                <a:cs typeface="华文楷体"/>
              </a:rPr>
              <a:t>1)</a:t>
            </a:r>
            <a:r>
              <a:rPr sz="4400" dirty="0">
                <a:solidFill>
                  <a:srgbClr val="775F54"/>
                </a:solidFill>
                <a:latin typeface="华文楷体"/>
                <a:cs typeface="华文楷体"/>
              </a:rPr>
              <a:t>风险识别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692" y="1206245"/>
            <a:ext cx="790194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风险识别是识别风险事</a:t>
            </a:r>
            <a:r>
              <a:rPr sz="2900" spc="-20" dirty="0">
                <a:latin typeface="华文仿宋"/>
                <a:cs typeface="华文仿宋"/>
              </a:rPr>
              <a:t>件</a:t>
            </a:r>
            <a:r>
              <a:rPr sz="2900" dirty="0">
                <a:latin typeface="Tw Cen MT"/>
                <a:cs typeface="Tw Cen MT"/>
              </a:rPr>
              <a:t>,</a:t>
            </a:r>
            <a:r>
              <a:rPr sz="2900" spc="-55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系统化地确定对项目 计划的威胁，识别已知</a:t>
            </a:r>
            <a:r>
              <a:rPr sz="2900" spc="-10" dirty="0">
                <a:latin typeface="华文仿宋"/>
                <a:cs typeface="华文仿宋"/>
              </a:rPr>
              <a:t>和</a:t>
            </a:r>
            <a:r>
              <a:rPr sz="2900" dirty="0">
                <a:latin typeface="华文仿宋"/>
                <a:cs typeface="华文仿宋"/>
              </a:rPr>
              <a:t>可预</a:t>
            </a:r>
            <a:r>
              <a:rPr sz="2900" spc="-10" dirty="0">
                <a:latin typeface="华文仿宋"/>
                <a:cs typeface="华文仿宋"/>
              </a:rPr>
              <a:t>测</a:t>
            </a:r>
            <a:r>
              <a:rPr sz="2900" dirty="0">
                <a:latin typeface="华文仿宋"/>
                <a:cs typeface="华文仿宋"/>
              </a:rPr>
              <a:t>的风</a:t>
            </a:r>
            <a:r>
              <a:rPr sz="2900" spc="-10" dirty="0">
                <a:latin typeface="华文仿宋"/>
                <a:cs typeface="华文仿宋"/>
              </a:rPr>
              <a:t>险</a:t>
            </a:r>
            <a:r>
              <a:rPr sz="2900" spc="5" dirty="0">
                <a:latin typeface="华文仿宋"/>
                <a:cs typeface="华文仿宋"/>
              </a:rPr>
              <a:t>。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7116" y="4700117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39" y="96138"/>
            <a:ext cx="5059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风险管理的四个过程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10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2361" y="1430274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72361" y="1430274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风险识别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761" y="22303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0075" y="2238247"/>
            <a:ext cx="1433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09930" algn="l"/>
              </a:tabLst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	评估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5166" y="2321966"/>
            <a:ext cx="355600" cy="367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险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5161" y="30304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2800" spc="-10" dirty="0">
                <a:solidFill>
                  <a:srgbClr val="B85B21"/>
                </a:solidFill>
                <a:latin typeface="华文琥珀"/>
                <a:cs typeface="华文琥珀"/>
              </a:rPr>
              <a:t>风险规划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30161" y="38305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30161" y="38305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风险控制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7361" y="1690877"/>
            <a:ext cx="723900" cy="538480"/>
          </a:xfrm>
          <a:custGeom>
            <a:avLst/>
            <a:gdLst/>
            <a:ahLst/>
            <a:cxnLst/>
            <a:rect l="l" t="t" r="r" b="b"/>
            <a:pathLst>
              <a:path w="723900" h="538480">
                <a:moveTo>
                  <a:pt x="0" y="0"/>
                </a:moveTo>
                <a:lnTo>
                  <a:pt x="723900" y="0"/>
                </a:lnTo>
                <a:lnTo>
                  <a:pt x="723900" y="53809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53761" y="2344673"/>
            <a:ext cx="723900" cy="685800"/>
          </a:xfrm>
          <a:custGeom>
            <a:avLst/>
            <a:gdLst/>
            <a:ahLst/>
            <a:cxnLst/>
            <a:rect l="l" t="t" r="r" b="b"/>
            <a:pathLst>
              <a:path w="723900" h="685800">
                <a:moveTo>
                  <a:pt x="0" y="0"/>
                </a:moveTo>
                <a:lnTo>
                  <a:pt x="723900" y="0"/>
                </a:lnTo>
                <a:lnTo>
                  <a:pt x="723900" y="6858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65214" y="3201161"/>
            <a:ext cx="787400" cy="643255"/>
          </a:xfrm>
          <a:custGeom>
            <a:avLst/>
            <a:gdLst/>
            <a:ahLst/>
            <a:cxnLst/>
            <a:rect l="l" t="t" r="r" b="b"/>
            <a:pathLst>
              <a:path w="787400" h="643254">
                <a:moveTo>
                  <a:pt x="0" y="0"/>
                </a:moveTo>
                <a:lnTo>
                  <a:pt x="787400" y="0"/>
                </a:lnTo>
                <a:lnTo>
                  <a:pt x="787400" y="64300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3761" y="1690877"/>
            <a:ext cx="6438900" cy="2891155"/>
          </a:xfrm>
          <a:custGeom>
            <a:avLst/>
            <a:gdLst/>
            <a:ahLst/>
            <a:cxnLst/>
            <a:rect l="l" t="t" r="r" b="b"/>
            <a:pathLst>
              <a:path w="6438900" h="2891154">
                <a:moveTo>
                  <a:pt x="6438899" y="2662237"/>
                </a:moveTo>
                <a:lnTo>
                  <a:pt x="6438899" y="2890875"/>
                </a:lnTo>
                <a:lnTo>
                  <a:pt x="0" y="2890875"/>
                </a:lnTo>
                <a:lnTo>
                  <a:pt x="0" y="0"/>
                </a:lnTo>
                <a:lnTo>
                  <a:pt x="2286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2903" y="2353055"/>
            <a:ext cx="577596" cy="399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83845"/>
            <a:ext cx="2688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楷体"/>
                <a:cs typeface="华文楷体"/>
              </a:rPr>
              <a:t>2)风险评估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3915" y="4602581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065" y="1423796"/>
            <a:ext cx="776478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对风险事件发生概率的</a:t>
            </a:r>
            <a:r>
              <a:rPr sz="2900" spc="-15" dirty="0">
                <a:latin typeface="华文新魏"/>
                <a:cs typeface="华文新魏"/>
              </a:rPr>
              <a:t>评</a:t>
            </a:r>
            <a:r>
              <a:rPr sz="2900" dirty="0">
                <a:latin typeface="华文新魏"/>
                <a:cs typeface="华文新魏"/>
              </a:rPr>
              <a:t>估，</a:t>
            </a:r>
            <a:r>
              <a:rPr sz="2900" spc="-15" dirty="0">
                <a:latin typeface="华文新魏"/>
                <a:cs typeface="华文新魏"/>
              </a:rPr>
              <a:t>对</a:t>
            </a:r>
            <a:r>
              <a:rPr sz="2900" dirty="0">
                <a:latin typeface="华文新魏"/>
                <a:cs typeface="华文新魏"/>
              </a:rPr>
              <a:t>项目</a:t>
            </a:r>
            <a:r>
              <a:rPr sz="2900" spc="-15" dirty="0">
                <a:latin typeface="华文新魏"/>
                <a:cs typeface="华文新魏"/>
              </a:rPr>
              <a:t>风</a:t>
            </a:r>
            <a:r>
              <a:rPr sz="2900" dirty="0">
                <a:latin typeface="华文新魏"/>
                <a:cs typeface="华文新魏"/>
              </a:rPr>
              <a:t>险影</a:t>
            </a:r>
            <a:r>
              <a:rPr sz="2900" spc="-15" dirty="0">
                <a:latin typeface="华文新魏"/>
                <a:cs typeface="华文新魏"/>
              </a:rPr>
              <a:t>响</a:t>
            </a:r>
            <a:r>
              <a:rPr sz="2900" dirty="0">
                <a:latin typeface="华文新魏"/>
                <a:cs typeface="华文新魏"/>
              </a:rPr>
              <a:t>的 评估，给出项目风险排</a:t>
            </a:r>
            <a:r>
              <a:rPr sz="2900" spc="-10" dirty="0">
                <a:latin typeface="华文新魏"/>
                <a:cs typeface="华文新魏"/>
              </a:rPr>
              <a:t>序</a:t>
            </a:r>
            <a:r>
              <a:rPr sz="2900" spc="5" dirty="0"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39" y="96138"/>
            <a:ext cx="5059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风险管理的四个过程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12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2361" y="1430274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72361" y="1430274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风险识别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8761" y="22303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风险评估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25161" y="30304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4999" y="522731"/>
                </a:lnTo>
                <a:lnTo>
                  <a:pt x="1904999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16728" y="3038043"/>
            <a:ext cx="1433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09930" algn="l"/>
              </a:tabLst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	</a:t>
            </a:r>
            <a:r>
              <a:rPr sz="2800" spc="-10" dirty="0">
                <a:solidFill>
                  <a:srgbClr val="B85B21"/>
                </a:solidFill>
                <a:latin typeface="华文琥珀"/>
                <a:cs typeface="华文琥珀"/>
              </a:rPr>
              <a:t>规划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1821" y="3121822"/>
            <a:ext cx="35560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10" dirty="0">
                <a:solidFill>
                  <a:srgbClr val="B85B21"/>
                </a:solidFill>
                <a:latin typeface="华文琥珀"/>
                <a:cs typeface="华文琥珀"/>
              </a:rPr>
              <a:t>险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30161" y="38305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30161" y="38305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风险控制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7361" y="1690877"/>
            <a:ext cx="723900" cy="538480"/>
          </a:xfrm>
          <a:custGeom>
            <a:avLst/>
            <a:gdLst/>
            <a:ahLst/>
            <a:cxnLst/>
            <a:rect l="l" t="t" r="r" b="b"/>
            <a:pathLst>
              <a:path w="723900" h="538480">
                <a:moveTo>
                  <a:pt x="0" y="0"/>
                </a:moveTo>
                <a:lnTo>
                  <a:pt x="723900" y="0"/>
                </a:lnTo>
                <a:lnTo>
                  <a:pt x="723900" y="53809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53761" y="2344673"/>
            <a:ext cx="723900" cy="685800"/>
          </a:xfrm>
          <a:custGeom>
            <a:avLst/>
            <a:gdLst/>
            <a:ahLst/>
            <a:cxnLst/>
            <a:rect l="l" t="t" r="r" b="b"/>
            <a:pathLst>
              <a:path w="723900" h="685800">
                <a:moveTo>
                  <a:pt x="0" y="0"/>
                </a:moveTo>
                <a:lnTo>
                  <a:pt x="723900" y="0"/>
                </a:lnTo>
                <a:lnTo>
                  <a:pt x="723900" y="6858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65214" y="3201161"/>
            <a:ext cx="787400" cy="643255"/>
          </a:xfrm>
          <a:custGeom>
            <a:avLst/>
            <a:gdLst/>
            <a:ahLst/>
            <a:cxnLst/>
            <a:rect l="l" t="t" r="r" b="b"/>
            <a:pathLst>
              <a:path w="787400" h="643254">
                <a:moveTo>
                  <a:pt x="0" y="0"/>
                </a:moveTo>
                <a:lnTo>
                  <a:pt x="787400" y="0"/>
                </a:lnTo>
                <a:lnTo>
                  <a:pt x="787400" y="64300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3761" y="1690877"/>
            <a:ext cx="6438900" cy="2891155"/>
          </a:xfrm>
          <a:custGeom>
            <a:avLst/>
            <a:gdLst/>
            <a:ahLst/>
            <a:cxnLst/>
            <a:rect l="l" t="t" r="r" b="b"/>
            <a:pathLst>
              <a:path w="6438900" h="2891154">
                <a:moveTo>
                  <a:pt x="6438899" y="2662237"/>
                </a:moveTo>
                <a:lnTo>
                  <a:pt x="6438899" y="2890875"/>
                </a:lnTo>
                <a:lnTo>
                  <a:pt x="0" y="2890875"/>
                </a:lnTo>
                <a:lnTo>
                  <a:pt x="0" y="0"/>
                </a:lnTo>
                <a:lnTo>
                  <a:pt x="2286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25211" y="3081527"/>
            <a:ext cx="577596" cy="399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83845"/>
            <a:ext cx="2687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楷体"/>
                <a:cs typeface="华文楷体"/>
              </a:rPr>
              <a:t>3)风险规划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3915" y="4602581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267" y="1496390"/>
            <a:ext cx="813371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针对风险分析的结果，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制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定一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定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的行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动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和策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略</a:t>
            </a:r>
            <a:r>
              <a:rPr sz="2900" spc="-5" dirty="0">
                <a:solidFill>
                  <a:srgbClr val="B85B21"/>
                </a:solidFill>
                <a:latin typeface="华文新魏"/>
                <a:cs typeface="华文新魏"/>
              </a:rPr>
              <a:t>来对 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付、减少、以至于消灭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风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险事</a:t>
            </a:r>
            <a:r>
              <a:rPr sz="2900" spc="-5" dirty="0">
                <a:solidFill>
                  <a:srgbClr val="B85B21"/>
                </a:solidFill>
                <a:latin typeface="华文新魏"/>
                <a:cs typeface="华文新魏"/>
              </a:rPr>
              <a:t>件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造成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影响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39" y="96138"/>
            <a:ext cx="5059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风险管理的四个过程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2361" y="1430274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72361" y="1430274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风险识别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8761" y="22303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风险评估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25161" y="30304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4999" y="522731"/>
                </a:lnTo>
                <a:lnTo>
                  <a:pt x="1904999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16728" y="3038043"/>
            <a:ext cx="1433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09930" algn="l"/>
              </a:tabLst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	</a:t>
            </a:r>
            <a:r>
              <a:rPr sz="2800" spc="-10" dirty="0">
                <a:solidFill>
                  <a:srgbClr val="B85B21"/>
                </a:solidFill>
                <a:latin typeface="华文琥珀"/>
                <a:cs typeface="华文琥珀"/>
              </a:rPr>
              <a:t>规划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1821" y="3121822"/>
            <a:ext cx="35560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2800" spc="-10" dirty="0">
                <a:solidFill>
                  <a:srgbClr val="B85B21"/>
                </a:solidFill>
                <a:latin typeface="华文琥珀"/>
                <a:cs typeface="华文琥珀"/>
              </a:rPr>
              <a:t>险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30161" y="3830573"/>
            <a:ext cx="1905000" cy="523240"/>
          </a:xfrm>
          <a:custGeom>
            <a:avLst/>
            <a:gdLst/>
            <a:ahLst/>
            <a:cxnLst/>
            <a:rect l="l" t="t" r="r" b="b"/>
            <a:pathLst>
              <a:path w="1905000" h="523239">
                <a:moveTo>
                  <a:pt x="0" y="522731"/>
                </a:moveTo>
                <a:lnTo>
                  <a:pt x="1905000" y="522731"/>
                </a:lnTo>
                <a:lnTo>
                  <a:pt x="1905000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30161" y="3830573"/>
            <a:ext cx="1905000" cy="52324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0"/>
              </a:spcBef>
            </a:pPr>
            <a:r>
              <a:rPr sz="2800" spc="-5" dirty="0">
                <a:solidFill>
                  <a:srgbClr val="B85B21"/>
                </a:solidFill>
                <a:latin typeface="华文琥珀"/>
                <a:cs typeface="华文琥珀"/>
              </a:rPr>
              <a:t>风险控制</a:t>
            </a:r>
            <a:endParaRPr sz="2800">
              <a:latin typeface="华文琥珀"/>
              <a:cs typeface="华文琥珀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7361" y="1690877"/>
            <a:ext cx="723900" cy="538480"/>
          </a:xfrm>
          <a:custGeom>
            <a:avLst/>
            <a:gdLst/>
            <a:ahLst/>
            <a:cxnLst/>
            <a:rect l="l" t="t" r="r" b="b"/>
            <a:pathLst>
              <a:path w="723900" h="538480">
                <a:moveTo>
                  <a:pt x="0" y="0"/>
                </a:moveTo>
                <a:lnTo>
                  <a:pt x="723900" y="0"/>
                </a:lnTo>
                <a:lnTo>
                  <a:pt x="723900" y="53809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53761" y="2344673"/>
            <a:ext cx="723900" cy="685800"/>
          </a:xfrm>
          <a:custGeom>
            <a:avLst/>
            <a:gdLst/>
            <a:ahLst/>
            <a:cxnLst/>
            <a:rect l="l" t="t" r="r" b="b"/>
            <a:pathLst>
              <a:path w="723900" h="685800">
                <a:moveTo>
                  <a:pt x="0" y="0"/>
                </a:moveTo>
                <a:lnTo>
                  <a:pt x="723900" y="0"/>
                </a:lnTo>
                <a:lnTo>
                  <a:pt x="723900" y="6858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65214" y="3201161"/>
            <a:ext cx="787400" cy="643255"/>
          </a:xfrm>
          <a:custGeom>
            <a:avLst/>
            <a:gdLst/>
            <a:ahLst/>
            <a:cxnLst/>
            <a:rect l="l" t="t" r="r" b="b"/>
            <a:pathLst>
              <a:path w="787400" h="643254">
                <a:moveTo>
                  <a:pt x="0" y="0"/>
                </a:moveTo>
                <a:lnTo>
                  <a:pt x="787400" y="0"/>
                </a:lnTo>
                <a:lnTo>
                  <a:pt x="787400" y="64300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3761" y="1690877"/>
            <a:ext cx="6438900" cy="2891155"/>
          </a:xfrm>
          <a:custGeom>
            <a:avLst/>
            <a:gdLst/>
            <a:ahLst/>
            <a:cxnLst/>
            <a:rect l="l" t="t" r="r" b="b"/>
            <a:pathLst>
              <a:path w="6438900" h="2891154">
                <a:moveTo>
                  <a:pt x="6438899" y="2662237"/>
                </a:moveTo>
                <a:lnTo>
                  <a:pt x="6438899" y="2890875"/>
                </a:lnTo>
                <a:lnTo>
                  <a:pt x="0" y="2890875"/>
                </a:lnTo>
                <a:lnTo>
                  <a:pt x="0" y="0"/>
                </a:lnTo>
                <a:lnTo>
                  <a:pt x="2286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25211" y="3081527"/>
            <a:ext cx="577596" cy="399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51002"/>
            <a:ext cx="2687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775F54"/>
                </a:solidFill>
                <a:latin typeface="华文楷体"/>
                <a:cs typeface="华文楷体"/>
              </a:rPr>
              <a:t>4)</a:t>
            </a:r>
            <a:r>
              <a:rPr sz="4400" dirty="0">
                <a:solidFill>
                  <a:srgbClr val="775F54"/>
                </a:solidFill>
                <a:latin typeface="华文楷体"/>
                <a:cs typeface="华文楷体"/>
              </a:rPr>
              <a:t>风险控制</a:t>
            </a:r>
            <a:endParaRPr sz="4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204721"/>
            <a:ext cx="7771130" cy="1352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风险控制是在项目执行</a:t>
            </a:r>
            <a:r>
              <a:rPr sz="2900" spc="-10" dirty="0">
                <a:latin typeface="华文新魏"/>
                <a:cs typeface="华文新魏"/>
              </a:rPr>
              <a:t>过</a:t>
            </a:r>
            <a:r>
              <a:rPr sz="2900" dirty="0">
                <a:latin typeface="华文新魏"/>
                <a:cs typeface="华文新魏"/>
              </a:rPr>
              <a:t>程中</a:t>
            </a:r>
            <a:r>
              <a:rPr sz="2900" spc="-10" dirty="0">
                <a:latin typeface="华文新魏"/>
                <a:cs typeface="华文新魏"/>
              </a:rPr>
              <a:t>实</a:t>
            </a:r>
            <a:r>
              <a:rPr sz="2900" dirty="0">
                <a:latin typeface="华文新魏"/>
                <a:cs typeface="华文新魏"/>
              </a:rPr>
              <a:t>施和</a:t>
            </a:r>
            <a:r>
              <a:rPr sz="2900" spc="-10" dirty="0">
                <a:latin typeface="华文新魏"/>
                <a:cs typeface="华文新魏"/>
              </a:rPr>
              <a:t>监</a:t>
            </a:r>
            <a:r>
              <a:rPr sz="2900" dirty="0">
                <a:latin typeface="华文新魏"/>
                <a:cs typeface="华文新魏"/>
              </a:rPr>
              <a:t>控风</a:t>
            </a:r>
            <a:r>
              <a:rPr sz="2900" spc="-10" dirty="0">
                <a:latin typeface="华文新魏"/>
                <a:cs typeface="华文新魏"/>
              </a:rPr>
              <a:t>险</a:t>
            </a:r>
            <a:r>
              <a:rPr sz="2900" dirty="0">
                <a:latin typeface="华文新魏"/>
                <a:cs typeface="华文新魏"/>
              </a:rPr>
              <a:t>计 </a:t>
            </a:r>
            <a:r>
              <a:rPr sz="2900" spc="5" dirty="0">
                <a:latin typeface="华文新魏"/>
                <a:cs typeface="华文新魏"/>
              </a:rPr>
              <a:t>划，同时，不断进行风</a:t>
            </a:r>
            <a:r>
              <a:rPr sz="2900" spc="-10" dirty="0">
                <a:latin typeface="华文新魏"/>
                <a:cs typeface="华文新魏"/>
              </a:rPr>
              <a:t>险</a:t>
            </a:r>
            <a:r>
              <a:rPr sz="2900" spc="5" dirty="0">
                <a:latin typeface="华文新魏"/>
                <a:cs typeface="华文新魏"/>
              </a:rPr>
              <a:t>识别</a:t>
            </a:r>
            <a:r>
              <a:rPr sz="2900" spc="-10" dirty="0">
                <a:latin typeface="华文新魏"/>
                <a:cs typeface="华文新魏"/>
              </a:rPr>
              <a:t>、</a:t>
            </a:r>
            <a:r>
              <a:rPr sz="2900" spc="5" dirty="0">
                <a:latin typeface="华文新魏"/>
                <a:cs typeface="华文新魏"/>
              </a:rPr>
              <a:t>风险</a:t>
            </a:r>
            <a:r>
              <a:rPr sz="2900" spc="-10" dirty="0">
                <a:latin typeface="华文新魏"/>
                <a:cs typeface="华文新魏"/>
              </a:rPr>
              <a:t>分</a:t>
            </a:r>
            <a:r>
              <a:rPr sz="2900" spc="5" dirty="0">
                <a:latin typeface="华文新魏"/>
                <a:cs typeface="华文新魏"/>
              </a:rPr>
              <a:t>析、</a:t>
            </a:r>
            <a:r>
              <a:rPr sz="2900" spc="-10" dirty="0">
                <a:latin typeface="华文新魏"/>
                <a:cs typeface="华文新魏"/>
              </a:rPr>
              <a:t>风</a:t>
            </a:r>
            <a:r>
              <a:rPr sz="2900" dirty="0">
                <a:latin typeface="华文新魏"/>
                <a:cs typeface="华文新魏"/>
              </a:rPr>
              <a:t>险 规划的过程。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2541" y="4528820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960119"/>
            <a:ext cx="8552815" cy="172720"/>
          </a:xfrm>
          <a:custGeom>
            <a:avLst/>
            <a:gdLst/>
            <a:ahLst/>
            <a:cxnLst/>
            <a:rect l="l" t="t" r="r" b="b"/>
            <a:pathLst>
              <a:path w="8552815" h="172719">
                <a:moveTo>
                  <a:pt x="0" y="172212"/>
                </a:moveTo>
                <a:lnTo>
                  <a:pt x="8552688" y="172212"/>
                </a:lnTo>
                <a:lnTo>
                  <a:pt x="855268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96138"/>
            <a:ext cx="22644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60119"/>
            <a:ext cx="533400" cy="17272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700" b="1" spc="-15" dirty="0">
                <a:latin typeface="Arial Narrow"/>
                <a:cs typeface="Arial Narrow"/>
              </a:rPr>
              <a:t>16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0889" y="126930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711" y="1168908"/>
            <a:ext cx="50482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889" y="2105662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2005583"/>
            <a:ext cx="48196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414" y="289211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6711" y="2790444"/>
            <a:ext cx="483234" cy="50609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83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9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2414" y="367816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11" y="3576828"/>
            <a:ext cx="483234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20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155" y="1168908"/>
            <a:ext cx="4628515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125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风险管理过程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8295" y="2005583"/>
            <a:ext cx="4630420" cy="5048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9207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7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风险管理计划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2790444"/>
            <a:ext cx="4630420" cy="50609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017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71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敏捷项目风险计划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820" y="3576828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874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7081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风险识别方法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602581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886" y="1347977"/>
            <a:ext cx="8153400" cy="252095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德尔菲方法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头脑风暴法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情景分析法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b="1" u="sng" spc="5" dirty="0">
                <a:solidFill>
                  <a:srgbClr val="B85B21"/>
                </a:solidFill>
                <a:uFill>
                  <a:solidFill>
                    <a:srgbClr val="B85B21"/>
                  </a:solidFill>
                </a:uFill>
                <a:latin typeface="华文新魏"/>
                <a:cs typeface="华文新魏"/>
              </a:rPr>
              <a:t>利用</a:t>
            </a:r>
            <a:r>
              <a:rPr sz="2900" b="1" u="sng" dirty="0">
                <a:solidFill>
                  <a:srgbClr val="B85B21"/>
                </a:solidFill>
                <a:uFill>
                  <a:solidFill>
                    <a:srgbClr val="B85B21"/>
                  </a:solidFill>
                </a:uFill>
                <a:latin typeface="华文新魏"/>
                <a:cs typeface="华文新魏"/>
              </a:rPr>
              <a:t>风险</a:t>
            </a:r>
            <a:r>
              <a:rPr sz="2900" b="1" u="sng" spc="-15" dirty="0">
                <a:solidFill>
                  <a:srgbClr val="B85B21"/>
                </a:solidFill>
                <a:uFill>
                  <a:solidFill>
                    <a:srgbClr val="B85B21"/>
                  </a:solidFill>
                </a:uFill>
                <a:latin typeface="华文新魏"/>
                <a:cs typeface="华文新魏"/>
              </a:rPr>
              <a:t>条</a:t>
            </a:r>
            <a:r>
              <a:rPr sz="2900" b="1" u="sng" dirty="0">
                <a:solidFill>
                  <a:srgbClr val="B85B21"/>
                </a:solidFill>
                <a:uFill>
                  <a:solidFill>
                    <a:srgbClr val="B85B21"/>
                  </a:solidFill>
                </a:uFill>
                <a:latin typeface="华文新魏"/>
                <a:cs typeface="华文新魏"/>
              </a:rPr>
              <a:t>目检</a:t>
            </a:r>
            <a:r>
              <a:rPr sz="2900" b="1" u="sng" spc="-15" dirty="0">
                <a:solidFill>
                  <a:srgbClr val="B85B21"/>
                </a:solidFill>
                <a:uFill>
                  <a:solidFill>
                    <a:srgbClr val="B85B21"/>
                  </a:solidFill>
                </a:uFill>
                <a:latin typeface="华文新魏"/>
                <a:cs typeface="华文新魏"/>
              </a:rPr>
              <a:t>查</a:t>
            </a:r>
            <a:r>
              <a:rPr sz="2900" b="1" u="sng" dirty="0">
                <a:solidFill>
                  <a:srgbClr val="B85B21"/>
                </a:solidFill>
                <a:uFill>
                  <a:solidFill>
                    <a:srgbClr val="B85B21"/>
                  </a:solidFill>
                </a:uFill>
                <a:latin typeface="华文新魏"/>
                <a:cs typeface="华文新魏"/>
              </a:rPr>
              <a:t>表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03759"/>
            <a:ext cx="5101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风险条目检查</a:t>
            </a:r>
            <a:r>
              <a:rPr sz="4000" spc="-15" dirty="0">
                <a:solidFill>
                  <a:srgbClr val="775F54"/>
                </a:solidFill>
                <a:latin typeface="华文隶书"/>
                <a:cs typeface="华文隶书"/>
              </a:rPr>
              <a:t>表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—实例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18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30" y="1277874"/>
            <a:ext cx="7772400" cy="3511550"/>
          </a:xfrm>
          <a:custGeom>
            <a:avLst/>
            <a:gdLst/>
            <a:ahLst/>
            <a:cxnLst/>
            <a:rect l="l" t="t" r="r" b="b"/>
            <a:pathLst>
              <a:path w="7772400" h="3511550">
                <a:moveTo>
                  <a:pt x="0" y="3511296"/>
                </a:moveTo>
                <a:lnTo>
                  <a:pt x="7772400" y="3511296"/>
                </a:lnTo>
                <a:lnTo>
                  <a:pt x="7772400" y="0"/>
                </a:lnTo>
                <a:lnTo>
                  <a:pt x="0" y="0"/>
                </a:lnTo>
                <a:lnTo>
                  <a:pt x="0" y="351129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217" y="1213865"/>
            <a:ext cx="7402830" cy="3516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9259"/>
              <a:buAutoNum type="arabicPeriod"/>
              <a:tabLst>
                <a:tab pos="527685" algn="l"/>
                <a:tab pos="528320" algn="l"/>
              </a:tabLst>
            </a:pP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你以前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是否曾与这个客户合作</a:t>
            </a:r>
            <a:r>
              <a:rPr sz="2700" b="1" spc="10" dirty="0">
                <a:solidFill>
                  <a:srgbClr val="B85B21"/>
                </a:solidFill>
                <a:latin typeface="华文新魏"/>
                <a:cs typeface="华文新魏"/>
              </a:rPr>
              <a:t>过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？</a:t>
            </a:r>
            <a:endParaRPr sz="2700">
              <a:latin typeface="华文新魏"/>
              <a:cs typeface="华文新魏"/>
            </a:endParaRPr>
          </a:p>
          <a:p>
            <a:pPr marL="527685" marR="5080" indent="-515620">
              <a:lnSpc>
                <a:spcPts val="2590"/>
              </a:lnSpc>
              <a:spcBef>
                <a:spcPts val="675"/>
              </a:spcBef>
              <a:buClr>
                <a:srgbClr val="DD8046"/>
              </a:buClr>
              <a:buSzPct val="59259"/>
              <a:buAutoNum type="arabicPeriod"/>
              <a:tabLst>
                <a:tab pos="527685" algn="l"/>
                <a:tab pos="528320" algn="l"/>
              </a:tabLst>
            </a:pP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该客户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是否很</a:t>
            </a:r>
            <a:r>
              <a:rPr sz="2700" b="1" spc="-20" dirty="0">
                <a:solidFill>
                  <a:srgbClr val="B85B21"/>
                </a:solidFill>
                <a:latin typeface="华文新魏"/>
                <a:cs typeface="华文新魏"/>
              </a:rPr>
              <a:t>清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楚需要</a:t>
            </a:r>
            <a:r>
              <a:rPr sz="2700" b="1" spc="-20" dirty="0">
                <a:solidFill>
                  <a:srgbClr val="B85B21"/>
                </a:solidFill>
                <a:latin typeface="华文新魏"/>
                <a:cs typeface="华文新魏"/>
              </a:rPr>
              <a:t>什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么；他</a:t>
            </a:r>
            <a:r>
              <a:rPr sz="2700" b="1" spc="-20" dirty="0">
                <a:solidFill>
                  <a:srgbClr val="B85B21"/>
                </a:solidFill>
                <a:latin typeface="华文新魏"/>
                <a:cs typeface="华文新魏"/>
              </a:rPr>
              <a:t>能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否花时</a:t>
            </a:r>
            <a:r>
              <a:rPr sz="2700" b="1" spc="-20" dirty="0">
                <a:solidFill>
                  <a:srgbClr val="B85B21"/>
                </a:solidFill>
                <a:latin typeface="华文新魏"/>
                <a:cs typeface="华文新魏"/>
              </a:rPr>
              <a:t>间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把 </a:t>
            </a: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需求写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出</a:t>
            </a:r>
            <a:r>
              <a:rPr sz="2700" b="1" spc="5" dirty="0">
                <a:solidFill>
                  <a:srgbClr val="B85B21"/>
                </a:solidFill>
                <a:latin typeface="华文新魏"/>
                <a:cs typeface="华文新魏"/>
              </a:rPr>
              <a:t>来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？</a:t>
            </a:r>
            <a:endParaRPr sz="2700">
              <a:latin typeface="华文新魏"/>
              <a:cs typeface="华文新魏"/>
            </a:endParaRPr>
          </a:p>
          <a:p>
            <a:pPr marL="527685" marR="5080" indent="-515620">
              <a:lnSpc>
                <a:spcPts val="2590"/>
              </a:lnSpc>
              <a:spcBef>
                <a:spcPts val="715"/>
              </a:spcBef>
              <a:buClr>
                <a:srgbClr val="DD8046"/>
              </a:buClr>
              <a:buSzPct val="59259"/>
              <a:buAutoNum type="arabicPeriod"/>
              <a:tabLst>
                <a:tab pos="527685" algn="l"/>
                <a:tab pos="528320" algn="l"/>
              </a:tabLst>
            </a:pP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该客户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是否同意花时间召开正式的需求收集会 </a:t>
            </a: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议，以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确定项目范</a:t>
            </a:r>
            <a:r>
              <a:rPr sz="2700" b="1" spc="10" dirty="0">
                <a:solidFill>
                  <a:srgbClr val="B85B21"/>
                </a:solidFill>
                <a:latin typeface="华文新魏"/>
                <a:cs typeface="华文新魏"/>
              </a:rPr>
              <a:t>围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？</a:t>
            </a:r>
            <a:endParaRPr sz="27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75"/>
              </a:spcBef>
              <a:buClr>
                <a:srgbClr val="DD8046"/>
              </a:buClr>
              <a:buSzPct val="59259"/>
              <a:buAutoNum type="arabicPeriod"/>
              <a:tabLst>
                <a:tab pos="527685" algn="l"/>
                <a:tab pos="528320" algn="l"/>
              </a:tabLst>
            </a:pP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该客户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是否愿意参加复审工</a:t>
            </a:r>
            <a:r>
              <a:rPr sz="2700" b="1" spc="10" dirty="0">
                <a:solidFill>
                  <a:srgbClr val="B85B21"/>
                </a:solidFill>
                <a:latin typeface="华文新魏"/>
                <a:cs typeface="华文新魏"/>
              </a:rPr>
              <a:t>作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？</a:t>
            </a:r>
            <a:endParaRPr sz="2700">
              <a:latin typeface="华文新魏"/>
              <a:cs typeface="华文新魏"/>
            </a:endParaRPr>
          </a:p>
          <a:p>
            <a:pPr marL="527685" marR="5080" indent="-515620">
              <a:lnSpc>
                <a:spcPts val="2590"/>
              </a:lnSpc>
              <a:spcBef>
                <a:spcPts val="675"/>
              </a:spcBef>
              <a:buClr>
                <a:srgbClr val="DD8046"/>
              </a:buClr>
              <a:buSzPct val="59259"/>
              <a:buAutoNum type="arabicPeriod"/>
              <a:tabLst>
                <a:tab pos="527685" algn="l"/>
                <a:tab pos="528320" algn="l"/>
              </a:tabLst>
            </a:pP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待开发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的软件是否需要使用新的或未经证实的 </a:t>
            </a:r>
            <a:r>
              <a:rPr sz="2700" b="1" spc="5" dirty="0">
                <a:solidFill>
                  <a:srgbClr val="B85B21"/>
                </a:solidFill>
                <a:latin typeface="华文新魏"/>
                <a:cs typeface="华文新魏"/>
              </a:rPr>
              <a:t>硬件接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口？</a:t>
            </a:r>
            <a:endParaRPr sz="2700">
              <a:latin typeface="华文新魏"/>
              <a:cs typeface="华文新魏"/>
            </a:endParaRPr>
          </a:p>
          <a:p>
            <a:pPr marL="527685" indent="-515620">
              <a:lnSpc>
                <a:spcPct val="100000"/>
              </a:lnSpc>
              <a:spcBef>
                <a:spcPts val="85"/>
              </a:spcBef>
              <a:buClr>
                <a:srgbClr val="DD8046"/>
              </a:buClr>
              <a:buSzPct val="59259"/>
              <a:buAutoNum type="arabicPeriod"/>
              <a:tabLst>
                <a:tab pos="527685" algn="l"/>
                <a:tab pos="528320" algn="l"/>
              </a:tabLst>
            </a:pPr>
            <a:r>
              <a:rPr sz="2700" b="1" dirty="0">
                <a:solidFill>
                  <a:srgbClr val="B85B21"/>
                </a:solidFill>
                <a:latin typeface="华文新魏"/>
                <a:cs typeface="华文新魏"/>
              </a:rPr>
              <a:t>是否有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足够的人员可</a:t>
            </a:r>
            <a:r>
              <a:rPr sz="2700" b="1" spc="10" dirty="0">
                <a:solidFill>
                  <a:srgbClr val="B85B21"/>
                </a:solidFill>
                <a:latin typeface="华文新魏"/>
                <a:cs typeface="华文新魏"/>
              </a:rPr>
              <a:t>用</a:t>
            </a:r>
            <a:r>
              <a:rPr sz="2700" b="1" spc="-5" dirty="0">
                <a:solidFill>
                  <a:srgbClr val="B85B21"/>
                </a:solidFill>
                <a:latin typeface="华文新魏"/>
                <a:cs typeface="华文新魏"/>
              </a:rPr>
              <a:t>？</a:t>
            </a:r>
            <a:endParaRPr sz="27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96138"/>
            <a:ext cx="3940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风险识别的结果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9816" y="4724310"/>
            <a:ext cx="7994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90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875" y="1176526"/>
            <a:ext cx="8667750" cy="3966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86613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风险评估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6541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6355" y="1293875"/>
            <a:ext cx="6541134" cy="1422400"/>
          </a:xfrm>
          <a:custGeom>
            <a:avLst/>
            <a:gdLst/>
            <a:ahLst/>
            <a:cxnLst/>
            <a:rect l="l" t="t" r="r" b="b"/>
            <a:pathLst>
              <a:path w="6541134" h="1422400">
                <a:moveTo>
                  <a:pt x="6360033" y="0"/>
                </a:moveTo>
                <a:lnTo>
                  <a:pt x="180975" y="0"/>
                </a:ln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0" y="1240917"/>
                </a:lnTo>
                <a:lnTo>
                  <a:pt x="6464" y="1289027"/>
                </a:lnTo>
                <a:lnTo>
                  <a:pt x="24708" y="1332258"/>
                </a:lnTo>
                <a:lnTo>
                  <a:pt x="53006" y="1368885"/>
                </a:lnTo>
                <a:lnTo>
                  <a:pt x="89633" y="1397183"/>
                </a:lnTo>
                <a:lnTo>
                  <a:pt x="132864" y="1415427"/>
                </a:lnTo>
                <a:lnTo>
                  <a:pt x="180975" y="1421892"/>
                </a:lnTo>
                <a:lnTo>
                  <a:pt x="6360033" y="1421892"/>
                </a:lnTo>
                <a:lnTo>
                  <a:pt x="6408143" y="1415427"/>
                </a:lnTo>
                <a:lnTo>
                  <a:pt x="6451374" y="1397183"/>
                </a:lnTo>
                <a:lnTo>
                  <a:pt x="6488001" y="1368885"/>
                </a:lnTo>
                <a:lnTo>
                  <a:pt x="6516299" y="1332258"/>
                </a:lnTo>
                <a:lnTo>
                  <a:pt x="6534543" y="1289027"/>
                </a:lnTo>
                <a:lnTo>
                  <a:pt x="6541008" y="1240917"/>
                </a:lnTo>
                <a:lnTo>
                  <a:pt x="6541008" y="180975"/>
                </a:lnTo>
                <a:lnTo>
                  <a:pt x="6534543" y="132864"/>
                </a:lnTo>
                <a:lnTo>
                  <a:pt x="6516299" y="89633"/>
                </a:lnTo>
                <a:lnTo>
                  <a:pt x="6488001" y="53006"/>
                </a:lnTo>
                <a:lnTo>
                  <a:pt x="6451374" y="24708"/>
                </a:lnTo>
                <a:lnTo>
                  <a:pt x="6408143" y="6464"/>
                </a:lnTo>
                <a:lnTo>
                  <a:pt x="6360033" y="0"/>
                </a:lnTo>
                <a:close/>
              </a:path>
            </a:pathLst>
          </a:custGeom>
          <a:solidFill>
            <a:srgbClr val="CFD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42233" y="1416761"/>
            <a:ext cx="343852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87020" algn="l"/>
              </a:tabLst>
            </a:pPr>
            <a:r>
              <a:rPr sz="2400" spc="-5" dirty="0">
                <a:solidFill>
                  <a:srgbClr val="B85B21"/>
                </a:solidFill>
                <a:latin typeface="华文新魏"/>
                <a:cs typeface="华文新魏"/>
              </a:rPr>
              <a:t>风险发生</a:t>
            </a: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400" spc="-5" dirty="0">
                <a:solidFill>
                  <a:srgbClr val="B85B21"/>
                </a:solidFill>
                <a:latin typeface="华文新魏"/>
                <a:cs typeface="华文新魏"/>
              </a:rPr>
              <a:t>概率（P）</a:t>
            </a:r>
            <a:endParaRPr sz="2400">
              <a:latin typeface="华文新魏"/>
              <a:cs typeface="华文新魏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风险对项目的影响（I）</a:t>
            </a:r>
            <a:endParaRPr sz="2400">
              <a:latin typeface="华文新魏"/>
              <a:cs typeface="华文新魏"/>
            </a:endParaRPr>
          </a:p>
          <a:p>
            <a:pPr marL="287020" indent="-274320">
              <a:lnSpc>
                <a:spcPct val="100000"/>
              </a:lnSpc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风险值，R=F(P,I)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7289" y="12946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5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5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5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2" y="672845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5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7289" y="12946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5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5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2" y="672845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5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5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5869" y="1349502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86"/>
                </a:lnTo>
                <a:lnTo>
                  <a:pt x="1533730" y="701827"/>
                </a:lnTo>
                <a:lnTo>
                  <a:pt x="1525111" y="742511"/>
                </a:lnTo>
                <a:lnTo>
                  <a:pt x="1513243" y="782247"/>
                </a:lnTo>
                <a:lnTo>
                  <a:pt x="1498241" y="820943"/>
                </a:lnTo>
                <a:lnTo>
                  <a:pt x="1480220" y="858506"/>
                </a:lnTo>
                <a:lnTo>
                  <a:pt x="1459295" y="894844"/>
                </a:lnTo>
                <a:lnTo>
                  <a:pt x="1435579" y="929865"/>
                </a:lnTo>
                <a:lnTo>
                  <a:pt x="1409189" y="963478"/>
                </a:lnTo>
                <a:lnTo>
                  <a:pt x="1380239" y="995589"/>
                </a:lnTo>
                <a:lnTo>
                  <a:pt x="1348843" y="1026108"/>
                </a:lnTo>
                <a:lnTo>
                  <a:pt x="1315116" y="1054941"/>
                </a:lnTo>
                <a:lnTo>
                  <a:pt x="1279174" y="1081997"/>
                </a:lnTo>
                <a:lnTo>
                  <a:pt x="1241130" y="1107183"/>
                </a:lnTo>
                <a:lnTo>
                  <a:pt x="1201101" y="1130408"/>
                </a:lnTo>
                <a:lnTo>
                  <a:pt x="1159199" y="1151579"/>
                </a:lnTo>
                <a:lnTo>
                  <a:pt x="1115541" y="1170604"/>
                </a:lnTo>
                <a:lnTo>
                  <a:pt x="1070240" y="1187392"/>
                </a:lnTo>
                <a:lnTo>
                  <a:pt x="1023413" y="1201849"/>
                </a:lnTo>
                <a:lnTo>
                  <a:pt x="975173" y="1213885"/>
                </a:lnTo>
                <a:lnTo>
                  <a:pt x="925635" y="1223406"/>
                </a:lnTo>
                <a:lnTo>
                  <a:pt x="874914" y="1230321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1"/>
                </a:lnTo>
                <a:lnTo>
                  <a:pt x="615128" y="1223406"/>
                </a:lnTo>
                <a:lnTo>
                  <a:pt x="565590" y="1213885"/>
                </a:lnTo>
                <a:lnTo>
                  <a:pt x="517350" y="1201849"/>
                </a:lnTo>
                <a:lnTo>
                  <a:pt x="470523" y="1187392"/>
                </a:lnTo>
                <a:lnTo>
                  <a:pt x="425222" y="1170604"/>
                </a:lnTo>
                <a:lnTo>
                  <a:pt x="381564" y="1151579"/>
                </a:lnTo>
                <a:lnTo>
                  <a:pt x="339662" y="1130408"/>
                </a:lnTo>
                <a:lnTo>
                  <a:pt x="299633" y="1107183"/>
                </a:lnTo>
                <a:lnTo>
                  <a:pt x="261589" y="1081997"/>
                </a:lnTo>
                <a:lnTo>
                  <a:pt x="225647" y="1054941"/>
                </a:lnTo>
                <a:lnTo>
                  <a:pt x="191920" y="1026108"/>
                </a:lnTo>
                <a:lnTo>
                  <a:pt x="160524" y="995589"/>
                </a:lnTo>
                <a:lnTo>
                  <a:pt x="131574" y="963478"/>
                </a:lnTo>
                <a:lnTo>
                  <a:pt x="105184" y="929865"/>
                </a:lnTo>
                <a:lnTo>
                  <a:pt x="81468" y="894844"/>
                </a:lnTo>
                <a:lnTo>
                  <a:pt x="60543" y="858506"/>
                </a:lnTo>
                <a:lnTo>
                  <a:pt x="42522" y="820943"/>
                </a:lnTo>
                <a:lnTo>
                  <a:pt x="27520" y="782247"/>
                </a:lnTo>
                <a:lnTo>
                  <a:pt x="15652" y="742511"/>
                </a:lnTo>
                <a:lnTo>
                  <a:pt x="7033" y="701827"/>
                </a:lnTo>
                <a:lnTo>
                  <a:pt x="1777" y="660286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15974" y="1408938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39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32"/>
                </a:lnTo>
                <a:lnTo>
                  <a:pt x="1394480" y="645470"/>
                </a:lnTo>
                <a:lnTo>
                  <a:pt x="1385183" y="685660"/>
                </a:lnTo>
                <a:lnTo>
                  <a:pt x="1372402" y="724794"/>
                </a:lnTo>
                <a:lnTo>
                  <a:pt x="1356273" y="762762"/>
                </a:lnTo>
                <a:lnTo>
                  <a:pt x="1336931" y="799457"/>
                </a:lnTo>
                <a:lnTo>
                  <a:pt x="1314512" y="834770"/>
                </a:lnTo>
                <a:lnTo>
                  <a:pt x="1289150" y="868591"/>
                </a:lnTo>
                <a:lnTo>
                  <a:pt x="1260982" y="900813"/>
                </a:lnTo>
                <a:lnTo>
                  <a:pt x="1230143" y="931327"/>
                </a:lnTo>
                <a:lnTo>
                  <a:pt x="1196768" y="960024"/>
                </a:lnTo>
                <a:lnTo>
                  <a:pt x="1160993" y="986796"/>
                </a:lnTo>
                <a:lnTo>
                  <a:pt x="1122954" y="1011533"/>
                </a:lnTo>
                <a:lnTo>
                  <a:pt x="1082785" y="1034128"/>
                </a:lnTo>
                <a:lnTo>
                  <a:pt x="1040622" y="1054471"/>
                </a:lnTo>
                <a:lnTo>
                  <a:pt x="996602" y="1072455"/>
                </a:lnTo>
                <a:lnTo>
                  <a:pt x="950858" y="1087969"/>
                </a:lnTo>
                <a:lnTo>
                  <a:pt x="903527" y="1100907"/>
                </a:lnTo>
                <a:lnTo>
                  <a:pt x="854744" y="1111158"/>
                </a:lnTo>
                <a:lnTo>
                  <a:pt x="804645" y="1118615"/>
                </a:lnTo>
                <a:lnTo>
                  <a:pt x="753365" y="1123169"/>
                </a:lnTo>
                <a:lnTo>
                  <a:pt x="701039" y="1124712"/>
                </a:lnTo>
                <a:lnTo>
                  <a:pt x="648714" y="1123169"/>
                </a:lnTo>
                <a:lnTo>
                  <a:pt x="597434" y="1118615"/>
                </a:lnTo>
                <a:lnTo>
                  <a:pt x="547335" y="1111158"/>
                </a:lnTo>
                <a:lnTo>
                  <a:pt x="498552" y="1100907"/>
                </a:lnTo>
                <a:lnTo>
                  <a:pt x="451221" y="1087969"/>
                </a:lnTo>
                <a:lnTo>
                  <a:pt x="405477" y="1072455"/>
                </a:lnTo>
                <a:lnTo>
                  <a:pt x="361457" y="1054471"/>
                </a:lnTo>
                <a:lnTo>
                  <a:pt x="319294" y="1034128"/>
                </a:lnTo>
                <a:lnTo>
                  <a:pt x="279125" y="1011533"/>
                </a:lnTo>
                <a:lnTo>
                  <a:pt x="241086" y="986796"/>
                </a:lnTo>
                <a:lnTo>
                  <a:pt x="205311" y="960024"/>
                </a:lnTo>
                <a:lnTo>
                  <a:pt x="171936" y="931327"/>
                </a:lnTo>
                <a:lnTo>
                  <a:pt x="141097" y="900813"/>
                </a:lnTo>
                <a:lnTo>
                  <a:pt x="112929" y="868591"/>
                </a:lnTo>
                <a:lnTo>
                  <a:pt x="87567" y="834770"/>
                </a:lnTo>
                <a:lnTo>
                  <a:pt x="65148" y="799457"/>
                </a:lnTo>
                <a:lnTo>
                  <a:pt x="45806" y="762762"/>
                </a:lnTo>
                <a:lnTo>
                  <a:pt x="29677" y="724794"/>
                </a:lnTo>
                <a:lnTo>
                  <a:pt x="16896" y="685660"/>
                </a:lnTo>
                <a:lnTo>
                  <a:pt x="7599" y="645470"/>
                </a:lnTo>
                <a:lnTo>
                  <a:pt x="1922" y="604332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58188" y="1835911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86355" y="2932176"/>
            <a:ext cx="6541134" cy="1481455"/>
          </a:xfrm>
          <a:custGeom>
            <a:avLst/>
            <a:gdLst/>
            <a:ahLst/>
            <a:cxnLst/>
            <a:rect l="l" t="t" r="r" b="b"/>
            <a:pathLst>
              <a:path w="6541134" h="1481454">
                <a:moveTo>
                  <a:pt x="6352540" y="0"/>
                </a:moveTo>
                <a:lnTo>
                  <a:pt x="188468" y="0"/>
                </a:lnTo>
                <a:lnTo>
                  <a:pt x="138391" y="6737"/>
                </a:lnTo>
                <a:lnTo>
                  <a:pt x="93377" y="25748"/>
                </a:lnTo>
                <a:lnTo>
                  <a:pt x="55229" y="55229"/>
                </a:lnTo>
                <a:lnTo>
                  <a:pt x="25748" y="93377"/>
                </a:lnTo>
                <a:lnTo>
                  <a:pt x="6737" y="138391"/>
                </a:lnTo>
                <a:lnTo>
                  <a:pt x="0" y="188468"/>
                </a:lnTo>
                <a:lnTo>
                  <a:pt x="0" y="1292796"/>
                </a:lnTo>
                <a:lnTo>
                  <a:pt x="6737" y="1342917"/>
                </a:lnTo>
                <a:lnTo>
                  <a:pt x="25748" y="1387953"/>
                </a:lnTo>
                <a:lnTo>
                  <a:pt x="55229" y="1426109"/>
                </a:lnTo>
                <a:lnTo>
                  <a:pt x="93377" y="1455588"/>
                </a:lnTo>
                <a:lnTo>
                  <a:pt x="138391" y="1474593"/>
                </a:lnTo>
                <a:lnTo>
                  <a:pt x="188468" y="1481328"/>
                </a:lnTo>
                <a:lnTo>
                  <a:pt x="6352540" y="1481328"/>
                </a:lnTo>
                <a:lnTo>
                  <a:pt x="6402616" y="1474593"/>
                </a:lnTo>
                <a:lnTo>
                  <a:pt x="6447630" y="1455588"/>
                </a:lnTo>
                <a:lnTo>
                  <a:pt x="6485778" y="1426109"/>
                </a:lnTo>
                <a:lnTo>
                  <a:pt x="6515259" y="1387953"/>
                </a:lnTo>
                <a:lnTo>
                  <a:pt x="6534270" y="1342917"/>
                </a:lnTo>
                <a:lnTo>
                  <a:pt x="6541008" y="1292796"/>
                </a:lnTo>
                <a:lnTo>
                  <a:pt x="6541008" y="188468"/>
                </a:lnTo>
                <a:lnTo>
                  <a:pt x="6534270" y="138391"/>
                </a:lnTo>
                <a:lnTo>
                  <a:pt x="6515259" y="93377"/>
                </a:lnTo>
                <a:lnTo>
                  <a:pt x="6485778" y="55229"/>
                </a:lnTo>
                <a:lnTo>
                  <a:pt x="6447630" y="25748"/>
                </a:lnTo>
                <a:lnTo>
                  <a:pt x="6402616" y="6737"/>
                </a:lnTo>
                <a:lnTo>
                  <a:pt x="6352540" y="0"/>
                </a:lnTo>
                <a:close/>
              </a:path>
            </a:pathLst>
          </a:custGeom>
          <a:solidFill>
            <a:srgbClr val="EB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7289" y="28948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5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6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5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2" y="672846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5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7289" y="28948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6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5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2" y="672846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5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6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45869" y="2949701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92"/>
                </a:lnTo>
                <a:lnTo>
                  <a:pt x="1533730" y="701838"/>
                </a:lnTo>
                <a:lnTo>
                  <a:pt x="1525111" y="742526"/>
                </a:lnTo>
                <a:lnTo>
                  <a:pt x="1513243" y="782265"/>
                </a:lnTo>
                <a:lnTo>
                  <a:pt x="1498241" y="820963"/>
                </a:lnTo>
                <a:lnTo>
                  <a:pt x="1480220" y="858527"/>
                </a:lnTo>
                <a:lnTo>
                  <a:pt x="1459295" y="894866"/>
                </a:lnTo>
                <a:lnTo>
                  <a:pt x="1435579" y="929888"/>
                </a:lnTo>
                <a:lnTo>
                  <a:pt x="1409189" y="963500"/>
                </a:lnTo>
                <a:lnTo>
                  <a:pt x="1380239" y="995611"/>
                </a:lnTo>
                <a:lnTo>
                  <a:pt x="1348843" y="1026128"/>
                </a:lnTo>
                <a:lnTo>
                  <a:pt x="1315116" y="1054960"/>
                </a:lnTo>
                <a:lnTo>
                  <a:pt x="1279174" y="1082014"/>
                </a:lnTo>
                <a:lnTo>
                  <a:pt x="1241130" y="1107199"/>
                </a:lnTo>
                <a:lnTo>
                  <a:pt x="1201101" y="1130421"/>
                </a:lnTo>
                <a:lnTo>
                  <a:pt x="1159199" y="1151590"/>
                </a:lnTo>
                <a:lnTo>
                  <a:pt x="1115541" y="1170614"/>
                </a:lnTo>
                <a:lnTo>
                  <a:pt x="1070240" y="1187399"/>
                </a:lnTo>
                <a:lnTo>
                  <a:pt x="1023413" y="1201855"/>
                </a:lnTo>
                <a:lnTo>
                  <a:pt x="975173" y="1213888"/>
                </a:lnTo>
                <a:lnTo>
                  <a:pt x="925635" y="1223408"/>
                </a:lnTo>
                <a:lnTo>
                  <a:pt x="874914" y="1230322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2"/>
                </a:lnTo>
                <a:lnTo>
                  <a:pt x="615128" y="1223408"/>
                </a:lnTo>
                <a:lnTo>
                  <a:pt x="565590" y="1213888"/>
                </a:lnTo>
                <a:lnTo>
                  <a:pt x="517350" y="1201855"/>
                </a:lnTo>
                <a:lnTo>
                  <a:pt x="470523" y="1187399"/>
                </a:lnTo>
                <a:lnTo>
                  <a:pt x="425222" y="1170614"/>
                </a:lnTo>
                <a:lnTo>
                  <a:pt x="381564" y="1151590"/>
                </a:lnTo>
                <a:lnTo>
                  <a:pt x="339662" y="1130421"/>
                </a:lnTo>
                <a:lnTo>
                  <a:pt x="299633" y="1107199"/>
                </a:lnTo>
                <a:lnTo>
                  <a:pt x="261589" y="1082014"/>
                </a:lnTo>
                <a:lnTo>
                  <a:pt x="225647" y="1054960"/>
                </a:lnTo>
                <a:lnTo>
                  <a:pt x="191920" y="1026128"/>
                </a:lnTo>
                <a:lnTo>
                  <a:pt x="160524" y="995611"/>
                </a:lnTo>
                <a:lnTo>
                  <a:pt x="131574" y="963500"/>
                </a:lnTo>
                <a:lnTo>
                  <a:pt x="105184" y="929888"/>
                </a:lnTo>
                <a:lnTo>
                  <a:pt x="81468" y="894866"/>
                </a:lnTo>
                <a:lnTo>
                  <a:pt x="60543" y="858527"/>
                </a:lnTo>
                <a:lnTo>
                  <a:pt x="42522" y="820963"/>
                </a:lnTo>
                <a:lnTo>
                  <a:pt x="27520" y="782265"/>
                </a:lnTo>
                <a:lnTo>
                  <a:pt x="15652" y="742526"/>
                </a:lnTo>
                <a:lnTo>
                  <a:pt x="7033" y="701838"/>
                </a:lnTo>
                <a:lnTo>
                  <a:pt x="1777" y="660292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15974" y="3009138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39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25"/>
                </a:lnTo>
                <a:lnTo>
                  <a:pt x="1394480" y="645456"/>
                </a:lnTo>
                <a:lnTo>
                  <a:pt x="1385183" y="685641"/>
                </a:lnTo>
                <a:lnTo>
                  <a:pt x="1372402" y="724771"/>
                </a:lnTo>
                <a:lnTo>
                  <a:pt x="1356273" y="762736"/>
                </a:lnTo>
                <a:lnTo>
                  <a:pt x="1336931" y="799430"/>
                </a:lnTo>
                <a:lnTo>
                  <a:pt x="1314512" y="834742"/>
                </a:lnTo>
                <a:lnTo>
                  <a:pt x="1289150" y="868563"/>
                </a:lnTo>
                <a:lnTo>
                  <a:pt x="1260982" y="900786"/>
                </a:lnTo>
                <a:lnTo>
                  <a:pt x="1230143" y="931301"/>
                </a:lnTo>
                <a:lnTo>
                  <a:pt x="1196768" y="960000"/>
                </a:lnTo>
                <a:lnTo>
                  <a:pt x="1160993" y="986774"/>
                </a:lnTo>
                <a:lnTo>
                  <a:pt x="1122954" y="1011514"/>
                </a:lnTo>
                <a:lnTo>
                  <a:pt x="1082785" y="1034112"/>
                </a:lnTo>
                <a:lnTo>
                  <a:pt x="1040622" y="1054458"/>
                </a:lnTo>
                <a:lnTo>
                  <a:pt x="996602" y="1072444"/>
                </a:lnTo>
                <a:lnTo>
                  <a:pt x="950858" y="1087962"/>
                </a:lnTo>
                <a:lnTo>
                  <a:pt x="903527" y="1100902"/>
                </a:lnTo>
                <a:lnTo>
                  <a:pt x="854744" y="1111155"/>
                </a:lnTo>
                <a:lnTo>
                  <a:pt x="804645" y="1118614"/>
                </a:lnTo>
                <a:lnTo>
                  <a:pt x="753365" y="1123169"/>
                </a:lnTo>
                <a:lnTo>
                  <a:pt x="701039" y="1124712"/>
                </a:lnTo>
                <a:lnTo>
                  <a:pt x="648714" y="1123169"/>
                </a:lnTo>
                <a:lnTo>
                  <a:pt x="597434" y="1118614"/>
                </a:lnTo>
                <a:lnTo>
                  <a:pt x="547335" y="1111155"/>
                </a:lnTo>
                <a:lnTo>
                  <a:pt x="498552" y="1100902"/>
                </a:lnTo>
                <a:lnTo>
                  <a:pt x="451221" y="1087962"/>
                </a:lnTo>
                <a:lnTo>
                  <a:pt x="405477" y="1072444"/>
                </a:lnTo>
                <a:lnTo>
                  <a:pt x="361457" y="1054458"/>
                </a:lnTo>
                <a:lnTo>
                  <a:pt x="319294" y="1034112"/>
                </a:lnTo>
                <a:lnTo>
                  <a:pt x="279125" y="1011514"/>
                </a:lnTo>
                <a:lnTo>
                  <a:pt x="241086" y="986774"/>
                </a:lnTo>
                <a:lnTo>
                  <a:pt x="205311" y="960000"/>
                </a:lnTo>
                <a:lnTo>
                  <a:pt x="171936" y="931301"/>
                </a:lnTo>
                <a:lnTo>
                  <a:pt x="141097" y="900786"/>
                </a:lnTo>
                <a:lnTo>
                  <a:pt x="112929" y="868563"/>
                </a:lnTo>
                <a:lnTo>
                  <a:pt x="87567" y="834742"/>
                </a:lnTo>
                <a:lnTo>
                  <a:pt x="65148" y="799430"/>
                </a:lnTo>
                <a:lnTo>
                  <a:pt x="45806" y="762736"/>
                </a:lnTo>
                <a:lnTo>
                  <a:pt x="29677" y="724771"/>
                </a:lnTo>
                <a:lnTo>
                  <a:pt x="16896" y="685641"/>
                </a:lnTo>
                <a:lnTo>
                  <a:pt x="7599" y="645456"/>
                </a:lnTo>
                <a:lnTo>
                  <a:pt x="1922" y="604325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90955" y="3412616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确定优先次序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3282" y="3267202"/>
            <a:ext cx="40284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按风险值排序</a:t>
            </a:r>
            <a:endParaRPr sz="2400">
              <a:latin typeface="华文新魏"/>
              <a:cs typeface="华文新魏"/>
            </a:endParaRPr>
          </a:p>
          <a:p>
            <a:pPr marL="287020" indent="-274320">
              <a:lnSpc>
                <a:spcPct val="100000"/>
              </a:lnSpc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确定最需要关注</a:t>
            </a:r>
            <a:r>
              <a:rPr sz="2400" spc="-15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TOP</a:t>
            </a:r>
            <a:r>
              <a:rPr sz="2400" spc="-75" dirty="0">
                <a:solidFill>
                  <a:srgbClr val="B85B21"/>
                </a:solidFill>
                <a:latin typeface="华文新魏"/>
                <a:cs typeface="华文新魏"/>
              </a:rPr>
              <a:t> </a:t>
            </a: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风险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74701"/>
            <a:ext cx="21882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风险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实</a:t>
            </a: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验</a:t>
            </a:r>
            <a:r>
              <a:rPr sz="4000" i="1" spc="-5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8142" y="467390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630" y="1419605"/>
            <a:ext cx="8153400" cy="2377440"/>
          </a:xfrm>
          <a:custGeom>
            <a:avLst/>
            <a:gdLst/>
            <a:ahLst/>
            <a:cxnLst/>
            <a:rect l="l" t="t" r="r" b="b"/>
            <a:pathLst>
              <a:path w="8153400" h="2377440">
                <a:moveTo>
                  <a:pt x="0" y="2377440"/>
                </a:moveTo>
                <a:lnTo>
                  <a:pt x="8153400" y="2377440"/>
                </a:lnTo>
                <a:lnTo>
                  <a:pt x="8153400" y="0"/>
                </a:lnTo>
                <a:lnTo>
                  <a:pt x="0" y="0"/>
                </a:lnTo>
                <a:lnTo>
                  <a:pt x="0" y="237744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7217" y="1420749"/>
            <a:ext cx="7834630" cy="2154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华文新魏"/>
                <a:cs typeface="华文新魏"/>
              </a:rPr>
              <a:t>A: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直接获得100美元</a:t>
            </a:r>
            <a:endParaRPr sz="32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</a:pPr>
            <a:endParaRPr sz="45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200" spc="-5" dirty="0">
                <a:latin typeface="华文新魏"/>
                <a:cs typeface="华文新魏"/>
              </a:rPr>
              <a:t>B: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投掷一次硬币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,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如果是正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面,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你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会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获得250美 元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,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如果背面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,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你必须支</a:t>
            </a:r>
            <a:r>
              <a:rPr sz="3200" spc="5" dirty="0">
                <a:solidFill>
                  <a:srgbClr val="B85B21"/>
                </a:solidFill>
                <a:latin typeface="华文新魏"/>
                <a:cs typeface="华文新魏"/>
              </a:rPr>
              <a:t>付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50</a:t>
            </a:r>
            <a:r>
              <a:rPr sz="3200" spc="5" dirty="0">
                <a:solidFill>
                  <a:srgbClr val="B85B21"/>
                </a:solidFill>
                <a:latin typeface="华文新魏"/>
                <a:cs typeface="华文新魏"/>
              </a:rPr>
              <a:t>美元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96138"/>
            <a:ext cx="7454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风险评估的方</a:t>
            </a:r>
            <a:r>
              <a:rPr sz="4400" spc="-10" dirty="0">
                <a:solidFill>
                  <a:srgbClr val="775F54"/>
                </a:solidFill>
                <a:latin typeface="华文隶书"/>
                <a:cs typeface="华文隶书"/>
              </a:rPr>
              <a:t>法</a:t>
            </a:r>
            <a:r>
              <a:rPr sz="4400" i="1" spc="5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定性风险评估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602581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22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886" y="1492758"/>
            <a:ext cx="8153400" cy="115062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5"/>
              </a:spcBef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定性评估风险概率及后果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7081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风险概率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5140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286" y="1995677"/>
            <a:ext cx="8153400" cy="208978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730885" indent="-274955">
              <a:lnSpc>
                <a:spcPct val="100000"/>
              </a:lnSpc>
              <a:spcBef>
                <a:spcPts val="16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高、中、低</a:t>
            </a:r>
            <a:endParaRPr sz="2600">
              <a:latin typeface="华文新魏"/>
              <a:cs typeface="华文新魏"/>
            </a:endParaRPr>
          </a:p>
          <a:p>
            <a:pPr marL="730885" indent="-27495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极高、高、中、低、极低</a:t>
            </a:r>
            <a:endParaRPr sz="2600">
              <a:latin typeface="华文新魏"/>
              <a:cs typeface="华文新魏"/>
            </a:endParaRPr>
          </a:p>
          <a:p>
            <a:pPr marL="730885" indent="-27495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不可能，不一定，可能</a:t>
            </a:r>
            <a:r>
              <a:rPr sz="2600" spc="-15" dirty="0">
                <a:solidFill>
                  <a:srgbClr val="B85B21"/>
                </a:solidFill>
                <a:latin typeface="华文新魏"/>
                <a:cs typeface="华文新魏"/>
              </a:rPr>
              <a:t>和</a:t>
            </a: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极可能</a:t>
            </a:r>
            <a:endParaRPr sz="2600">
              <a:latin typeface="华文新魏"/>
              <a:cs typeface="华文新魏"/>
            </a:endParaRPr>
          </a:p>
          <a:p>
            <a:pPr marL="730885" indent="-27495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152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等等</a:t>
            </a:r>
            <a:endParaRPr sz="26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5094" y="1247089"/>
            <a:ext cx="261366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u="heavy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风险概</a:t>
            </a:r>
            <a:r>
              <a:rPr sz="2900" b="1" u="heavy" spc="-5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率度</a:t>
            </a:r>
            <a:r>
              <a:rPr sz="2900" b="1" u="heavy" spc="5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量</a:t>
            </a:r>
            <a:r>
              <a:rPr sz="2900" b="1" u="heavy" spc="-5" dirty="0">
                <a:uFill>
                  <a:solidFill>
                    <a:srgbClr val="000000"/>
                  </a:solidFill>
                </a:uFill>
                <a:latin typeface="仿宋"/>
                <a:cs typeface="仿宋"/>
              </a:rPr>
              <a:t>：</a:t>
            </a:r>
            <a:endParaRPr sz="2900">
              <a:latin typeface="仿宋"/>
              <a:cs typeface="仿宋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96138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风险影响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2541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374" y="1995677"/>
            <a:ext cx="7703820" cy="208978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729615" indent="-274955">
              <a:lnSpc>
                <a:spcPct val="100000"/>
              </a:lnSpc>
              <a:spcBef>
                <a:spcPts val="16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25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高、中、低</a:t>
            </a:r>
            <a:endParaRPr sz="2600">
              <a:latin typeface="华文新魏"/>
              <a:cs typeface="华文新魏"/>
            </a:endParaRPr>
          </a:p>
          <a:p>
            <a:pPr marL="729615" indent="-27495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25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极高、高、中、低、极低</a:t>
            </a:r>
            <a:endParaRPr sz="2600">
              <a:latin typeface="华文新魏"/>
              <a:cs typeface="华文新魏"/>
            </a:endParaRPr>
          </a:p>
          <a:p>
            <a:pPr marL="729615" indent="-27495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25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灾难，严重，轻微，可</a:t>
            </a:r>
            <a:r>
              <a:rPr sz="2600" spc="-15" dirty="0">
                <a:solidFill>
                  <a:srgbClr val="B85B21"/>
                </a:solidFill>
                <a:latin typeface="华文新魏"/>
                <a:cs typeface="华文新魏"/>
              </a:rPr>
              <a:t>忽</a:t>
            </a: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略</a:t>
            </a:r>
            <a:endParaRPr sz="2600">
              <a:latin typeface="华文新魏"/>
              <a:cs typeface="华文新魏"/>
            </a:endParaRPr>
          </a:p>
          <a:p>
            <a:pPr marL="729615" indent="-27495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250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等等</a:t>
            </a:r>
            <a:endParaRPr sz="26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7016" y="1199845"/>
            <a:ext cx="2768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风险影响度量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96138"/>
            <a:ext cx="68954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风险概率及后果估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计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矩阵图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0220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28950" y="1044575"/>
            <a:ext cx="38100" cy="3321050"/>
          </a:xfrm>
          <a:custGeom>
            <a:avLst/>
            <a:gdLst/>
            <a:ahLst/>
            <a:cxnLst/>
            <a:rect l="l" t="t" r="r" b="b"/>
            <a:pathLst>
              <a:path w="38100" h="3321050">
                <a:moveTo>
                  <a:pt x="0" y="3257550"/>
                </a:moveTo>
                <a:lnTo>
                  <a:pt x="19050" y="3321050"/>
                </a:lnTo>
                <a:lnTo>
                  <a:pt x="30476" y="3282962"/>
                </a:lnTo>
                <a:lnTo>
                  <a:pt x="12700" y="3282962"/>
                </a:lnTo>
                <a:lnTo>
                  <a:pt x="12700" y="3274483"/>
                </a:lnTo>
                <a:lnTo>
                  <a:pt x="0" y="3257550"/>
                </a:lnTo>
                <a:close/>
              </a:path>
              <a:path w="38100" h="3321050">
                <a:moveTo>
                  <a:pt x="12700" y="3274483"/>
                </a:moveTo>
                <a:lnTo>
                  <a:pt x="12700" y="3282962"/>
                </a:lnTo>
                <a:lnTo>
                  <a:pt x="25400" y="3282962"/>
                </a:lnTo>
                <a:lnTo>
                  <a:pt x="19050" y="3282950"/>
                </a:lnTo>
                <a:lnTo>
                  <a:pt x="12700" y="3274483"/>
                </a:lnTo>
                <a:close/>
              </a:path>
              <a:path w="38100" h="3321050">
                <a:moveTo>
                  <a:pt x="38100" y="3257550"/>
                </a:moveTo>
                <a:lnTo>
                  <a:pt x="25400" y="3274483"/>
                </a:lnTo>
                <a:lnTo>
                  <a:pt x="25400" y="3282962"/>
                </a:lnTo>
                <a:lnTo>
                  <a:pt x="30480" y="3282950"/>
                </a:lnTo>
                <a:lnTo>
                  <a:pt x="38100" y="3257550"/>
                </a:lnTo>
                <a:close/>
              </a:path>
              <a:path w="38100" h="3321050">
                <a:moveTo>
                  <a:pt x="25400" y="0"/>
                </a:moveTo>
                <a:lnTo>
                  <a:pt x="12700" y="0"/>
                </a:lnTo>
                <a:lnTo>
                  <a:pt x="12700" y="3274483"/>
                </a:lnTo>
                <a:lnTo>
                  <a:pt x="19050" y="3282950"/>
                </a:lnTo>
                <a:lnTo>
                  <a:pt x="25400" y="3274483"/>
                </a:lnTo>
                <a:lnTo>
                  <a:pt x="25400" y="0"/>
                </a:lnTo>
                <a:close/>
              </a:path>
              <a:path w="38100" h="3321050">
                <a:moveTo>
                  <a:pt x="25400" y="3274483"/>
                </a:moveTo>
                <a:lnTo>
                  <a:pt x="19050" y="3282950"/>
                </a:lnTo>
                <a:lnTo>
                  <a:pt x="25400" y="3282950"/>
                </a:lnTo>
                <a:lnTo>
                  <a:pt x="25400" y="3274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52950" y="1044575"/>
            <a:ext cx="38100" cy="3321050"/>
          </a:xfrm>
          <a:custGeom>
            <a:avLst/>
            <a:gdLst/>
            <a:ahLst/>
            <a:cxnLst/>
            <a:rect l="l" t="t" r="r" b="b"/>
            <a:pathLst>
              <a:path w="38100" h="3321050">
                <a:moveTo>
                  <a:pt x="0" y="3257550"/>
                </a:moveTo>
                <a:lnTo>
                  <a:pt x="19050" y="3321050"/>
                </a:lnTo>
                <a:lnTo>
                  <a:pt x="30476" y="3282962"/>
                </a:lnTo>
                <a:lnTo>
                  <a:pt x="12700" y="3282962"/>
                </a:lnTo>
                <a:lnTo>
                  <a:pt x="12700" y="3274483"/>
                </a:lnTo>
                <a:lnTo>
                  <a:pt x="0" y="3257550"/>
                </a:lnTo>
                <a:close/>
              </a:path>
              <a:path w="38100" h="3321050">
                <a:moveTo>
                  <a:pt x="12700" y="3274483"/>
                </a:moveTo>
                <a:lnTo>
                  <a:pt x="12700" y="3282962"/>
                </a:lnTo>
                <a:lnTo>
                  <a:pt x="25400" y="3282962"/>
                </a:lnTo>
                <a:lnTo>
                  <a:pt x="19050" y="3282950"/>
                </a:lnTo>
                <a:lnTo>
                  <a:pt x="12700" y="3274483"/>
                </a:lnTo>
                <a:close/>
              </a:path>
              <a:path w="38100" h="3321050">
                <a:moveTo>
                  <a:pt x="38100" y="3257550"/>
                </a:moveTo>
                <a:lnTo>
                  <a:pt x="25400" y="3274483"/>
                </a:lnTo>
                <a:lnTo>
                  <a:pt x="25400" y="3282962"/>
                </a:lnTo>
                <a:lnTo>
                  <a:pt x="30479" y="3282950"/>
                </a:lnTo>
                <a:lnTo>
                  <a:pt x="38100" y="3257550"/>
                </a:lnTo>
                <a:close/>
              </a:path>
              <a:path w="38100" h="3321050">
                <a:moveTo>
                  <a:pt x="25400" y="0"/>
                </a:moveTo>
                <a:lnTo>
                  <a:pt x="12700" y="0"/>
                </a:lnTo>
                <a:lnTo>
                  <a:pt x="12700" y="3274483"/>
                </a:lnTo>
                <a:lnTo>
                  <a:pt x="19050" y="3282950"/>
                </a:lnTo>
                <a:lnTo>
                  <a:pt x="25400" y="3274483"/>
                </a:lnTo>
                <a:lnTo>
                  <a:pt x="25400" y="0"/>
                </a:lnTo>
                <a:close/>
              </a:path>
              <a:path w="38100" h="3321050">
                <a:moveTo>
                  <a:pt x="25400" y="3274483"/>
                </a:moveTo>
                <a:lnTo>
                  <a:pt x="19050" y="3282950"/>
                </a:lnTo>
                <a:lnTo>
                  <a:pt x="25400" y="3282950"/>
                </a:lnTo>
                <a:lnTo>
                  <a:pt x="25400" y="3274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6950" y="1044575"/>
            <a:ext cx="38100" cy="3321050"/>
          </a:xfrm>
          <a:custGeom>
            <a:avLst/>
            <a:gdLst/>
            <a:ahLst/>
            <a:cxnLst/>
            <a:rect l="l" t="t" r="r" b="b"/>
            <a:pathLst>
              <a:path w="38100" h="3321050">
                <a:moveTo>
                  <a:pt x="0" y="3257550"/>
                </a:moveTo>
                <a:lnTo>
                  <a:pt x="19050" y="3321050"/>
                </a:lnTo>
                <a:lnTo>
                  <a:pt x="30476" y="3282962"/>
                </a:lnTo>
                <a:lnTo>
                  <a:pt x="12700" y="3282962"/>
                </a:lnTo>
                <a:lnTo>
                  <a:pt x="12700" y="3274483"/>
                </a:lnTo>
                <a:lnTo>
                  <a:pt x="0" y="3257550"/>
                </a:lnTo>
                <a:close/>
              </a:path>
              <a:path w="38100" h="3321050">
                <a:moveTo>
                  <a:pt x="12700" y="3274483"/>
                </a:moveTo>
                <a:lnTo>
                  <a:pt x="12700" y="3282962"/>
                </a:lnTo>
                <a:lnTo>
                  <a:pt x="25400" y="3282962"/>
                </a:lnTo>
                <a:lnTo>
                  <a:pt x="19050" y="3282950"/>
                </a:lnTo>
                <a:lnTo>
                  <a:pt x="12700" y="3274483"/>
                </a:lnTo>
                <a:close/>
              </a:path>
              <a:path w="38100" h="3321050">
                <a:moveTo>
                  <a:pt x="38100" y="3257550"/>
                </a:moveTo>
                <a:lnTo>
                  <a:pt x="25400" y="3274483"/>
                </a:lnTo>
                <a:lnTo>
                  <a:pt x="25400" y="3282962"/>
                </a:lnTo>
                <a:lnTo>
                  <a:pt x="30479" y="3282950"/>
                </a:lnTo>
                <a:lnTo>
                  <a:pt x="38100" y="3257550"/>
                </a:lnTo>
                <a:close/>
              </a:path>
              <a:path w="38100" h="3321050">
                <a:moveTo>
                  <a:pt x="25400" y="0"/>
                </a:moveTo>
                <a:lnTo>
                  <a:pt x="12700" y="0"/>
                </a:lnTo>
                <a:lnTo>
                  <a:pt x="12700" y="3274483"/>
                </a:lnTo>
                <a:lnTo>
                  <a:pt x="19050" y="3282950"/>
                </a:lnTo>
                <a:lnTo>
                  <a:pt x="25400" y="3274483"/>
                </a:lnTo>
                <a:lnTo>
                  <a:pt x="25400" y="0"/>
                </a:lnTo>
                <a:close/>
              </a:path>
              <a:path w="38100" h="3321050">
                <a:moveTo>
                  <a:pt x="25400" y="3274483"/>
                </a:moveTo>
                <a:lnTo>
                  <a:pt x="19050" y="3282950"/>
                </a:lnTo>
                <a:lnTo>
                  <a:pt x="25400" y="3282950"/>
                </a:lnTo>
                <a:lnTo>
                  <a:pt x="25400" y="3274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9775" y="1834007"/>
            <a:ext cx="6124575" cy="38100"/>
          </a:xfrm>
          <a:custGeom>
            <a:avLst/>
            <a:gdLst/>
            <a:ahLst/>
            <a:cxnLst/>
            <a:rect l="l" t="t" r="r" b="b"/>
            <a:pathLst>
              <a:path w="6124575" h="38100">
                <a:moveTo>
                  <a:pt x="6060948" y="0"/>
                </a:moveTo>
                <a:lnTo>
                  <a:pt x="6086348" y="19050"/>
                </a:lnTo>
                <a:lnTo>
                  <a:pt x="6060948" y="38100"/>
                </a:lnTo>
                <a:lnTo>
                  <a:pt x="6103281" y="25400"/>
                </a:lnTo>
                <a:lnTo>
                  <a:pt x="6086475" y="25400"/>
                </a:lnTo>
                <a:lnTo>
                  <a:pt x="6086475" y="12700"/>
                </a:lnTo>
                <a:lnTo>
                  <a:pt x="6103281" y="12700"/>
                </a:lnTo>
                <a:lnTo>
                  <a:pt x="6060948" y="0"/>
                </a:lnTo>
                <a:close/>
              </a:path>
              <a:path w="6124575" h="38100">
                <a:moveTo>
                  <a:pt x="6077881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077881" y="25400"/>
                </a:lnTo>
                <a:lnTo>
                  <a:pt x="6086348" y="19050"/>
                </a:lnTo>
                <a:lnTo>
                  <a:pt x="6077881" y="12700"/>
                </a:lnTo>
                <a:close/>
              </a:path>
              <a:path w="6124575" h="38100">
                <a:moveTo>
                  <a:pt x="6103281" y="12700"/>
                </a:moveTo>
                <a:lnTo>
                  <a:pt x="6086475" y="12700"/>
                </a:lnTo>
                <a:lnTo>
                  <a:pt x="6086475" y="25400"/>
                </a:lnTo>
                <a:lnTo>
                  <a:pt x="6103281" y="25400"/>
                </a:lnTo>
                <a:lnTo>
                  <a:pt x="6124448" y="19050"/>
                </a:lnTo>
                <a:lnTo>
                  <a:pt x="6103281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09775" y="2807970"/>
            <a:ext cx="6124575" cy="38100"/>
          </a:xfrm>
          <a:custGeom>
            <a:avLst/>
            <a:gdLst/>
            <a:ahLst/>
            <a:cxnLst/>
            <a:rect l="l" t="t" r="r" b="b"/>
            <a:pathLst>
              <a:path w="6124575" h="38100">
                <a:moveTo>
                  <a:pt x="6060948" y="0"/>
                </a:moveTo>
                <a:lnTo>
                  <a:pt x="6086348" y="19050"/>
                </a:lnTo>
                <a:lnTo>
                  <a:pt x="6060948" y="38100"/>
                </a:lnTo>
                <a:lnTo>
                  <a:pt x="6103281" y="25400"/>
                </a:lnTo>
                <a:lnTo>
                  <a:pt x="6086475" y="25400"/>
                </a:lnTo>
                <a:lnTo>
                  <a:pt x="6086475" y="12700"/>
                </a:lnTo>
                <a:lnTo>
                  <a:pt x="6103281" y="12700"/>
                </a:lnTo>
                <a:lnTo>
                  <a:pt x="6060948" y="0"/>
                </a:lnTo>
                <a:close/>
              </a:path>
              <a:path w="6124575" h="38100">
                <a:moveTo>
                  <a:pt x="6077881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6077881" y="25400"/>
                </a:lnTo>
                <a:lnTo>
                  <a:pt x="6086348" y="19050"/>
                </a:lnTo>
                <a:lnTo>
                  <a:pt x="6077881" y="12700"/>
                </a:lnTo>
                <a:close/>
              </a:path>
              <a:path w="6124575" h="38100">
                <a:moveTo>
                  <a:pt x="6103281" y="12700"/>
                </a:moveTo>
                <a:lnTo>
                  <a:pt x="6086475" y="12700"/>
                </a:lnTo>
                <a:lnTo>
                  <a:pt x="6086475" y="25400"/>
                </a:lnTo>
                <a:lnTo>
                  <a:pt x="6103281" y="25400"/>
                </a:lnTo>
                <a:lnTo>
                  <a:pt x="6124448" y="19050"/>
                </a:lnTo>
                <a:lnTo>
                  <a:pt x="6103281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09775" y="3570096"/>
            <a:ext cx="6124575" cy="38100"/>
          </a:xfrm>
          <a:custGeom>
            <a:avLst/>
            <a:gdLst/>
            <a:ahLst/>
            <a:cxnLst/>
            <a:rect l="l" t="t" r="r" b="b"/>
            <a:pathLst>
              <a:path w="6124575" h="38100">
                <a:moveTo>
                  <a:pt x="6060948" y="0"/>
                </a:moveTo>
                <a:lnTo>
                  <a:pt x="6086348" y="19049"/>
                </a:lnTo>
                <a:lnTo>
                  <a:pt x="6060948" y="38099"/>
                </a:lnTo>
                <a:lnTo>
                  <a:pt x="6103281" y="25399"/>
                </a:lnTo>
                <a:lnTo>
                  <a:pt x="6086475" y="25399"/>
                </a:lnTo>
                <a:lnTo>
                  <a:pt x="6086475" y="12699"/>
                </a:lnTo>
                <a:lnTo>
                  <a:pt x="6103281" y="12699"/>
                </a:lnTo>
                <a:lnTo>
                  <a:pt x="6060948" y="0"/>
                </a:lnTo>
                <a:close/>
              </a:path>
              <a:path w="6124575" h="38100">
                <a:moveTo>
                  <a:pt x="6077881" y="12699"/>
                </a:moveTo>
                <a:lnTo>
                  <a:pt x="0" y="12699"/>
                </a:lnTo>
                <a:lnTo>
                  <a:pt x="0" y="25399"/>
                </a:lnTo>
                <a:lnTo>
                  <a:pt x="6077881" y="25399"/>
                </a:lnTo>
                <a:lnTo>
                  <a:pt x="6086348" y="19049"/>
                </a:lnTo>
                <a:lnTo>
                  <a:pt x="6077881" y="12699"/>
                </a:lnTo>
                <a:close/>
              </a:path>
              <a:path w="6124575" h="38100">
                <a:moveTo>
                  <a:pt x="6103281" y="12699"/>
                </a:moveTo>
                <a:lnTo>
                  <a:pt x="6086475" y="12699"/>
                </a:lnTo>
                <a:lnTo>
                  <a:pt x="6086475" y="25399"/>
                </a:lnTo>
                <a:lnTo>
                  <a:pt x="6103281" y="25399"/>
                </a:lnTo>
                <a:lnTo>
                  <a:pt x="6124448" y="19049"/>
                </a:lnTo>
                <a:lnTo>
                  <a:pt x="6103281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81074" y="1044575"/>
            <a:ext cx="85725" cy="3321050"/>
          </a:xfrm>
          <a:custGeom>
            <a:avLst/>
            <a:gdLst/>
            <a:ahLst/>
            <a:cxnLst/>
            <a:rect l="l" t="t" r="r" b="b"/>
            <a:pathLst>
              <a:path w="85725" h="3321050">
                <a:moveTo>
                  <a:pt x="0" y="3178175"/>
                </a:moveTo>
                <a:lnTo>
                  <a:pt x="42925" y="3321050"/>
                </a:lnTo>
                <a:lnTo>
                  <a:pt x="68605" y="3235325"/>
                </a:lnTo>
                <a:lnTo>
                  <a:pt x="28575" y="3235325"/>
                </a:lnTo>
                <a:lnTo>
                  <a:pt x="28575" y="3216218"/>
                </a:lnTo>
                <a:lnTo>
                  <a:pt x="0" y="3178175"/>
                </a:lnTo>
                <a:close/>
              </a:path>
              <a:path w="85725" h="3321050">
                <a:moveTo>
                  <a:pt x="28575" y="3216218"/>
                </a:moveTo>
                <a:lnTo>
                  <a:pt x="28575" y="3235325"/>
                </a:lnTo>
                <a:lnTo>
                  <a:pt x="42925" y="3235325"/>
                </a:lnTo>
                <a:lnTo>
                  <a:pt x="28575" y="3216218"/>
                </a:lnTo>
                <a:close/>
              </a:path>
              <a:path w="85725" h="3321050">
                <a:moveTo>
                  <a:pt x="57150" y="0"/>
                </a:moveTo>
                <a:lnTo>
                  <a:pt x="28575" y="0"/>
                </a:lnTo>
                <a:lnTo>
                  <a:pt x="28659" y="3216331"/>
                </a:lnTo>
                <a:lnTo>
                  <a:pt x="42925" y="3235325"/>
                </a:lnTo>
                <a:lnTo>
                  <a:pt x="57150" y="3216331"/>
                </a:lnTo>
                <a:lnTo>
                  <a:pt x="57150" y="0"/>
                </a:lnTo>
                <a:close/>
              </a:path>
              <a:path w="85725" h="3321050">
                <a:moveTo>
                  <a:pt x="57150" y="3216331"/>
                </a:moveTo>
                <a:lnTo>
                  <a:pt x="42925" y="3235325"/>
                </a:lnTo>
                <a:lnTo>
                  <a:pt x="57150" y="3235325"/>
                </a:lnTo>
                <a:lnTo>
                  <a:pt x="57150" y="3216331"/>
                </a:lnTo>
                <a:close/>
              </a:path>
              <a:path w="85725" h="3321050">
                <a:moveTo>
                  <a:pt x="85725" y="3178175"/>
                </a:moveTo>
                <a:lnTo>
                  <a:pt x="57234" y="3216218"/>
                </a:lnTo>
                <a:lnTo>
                  <a:pt x="57150" y="3235325"/>
                </a:lnTo>
                <a:lnTo>
                  <a:pt x="68605" y="3235325"/>
                </a:lnTo>
                <a:lnTo>
                  <a:pt x="85725" y="3178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77073" y="1044575"/>
            <a:ext cx="85725" cy="3321050"/>
          </a:xfrm>
          <a:custGeom>
            <a:avLst/>
            <a:gdLst/>
            <a:ahLst/>
            <a:cxnLst/>
            <a:rect l="l" t="t" r="r" b="b"/>
            <a:pathLst>
              <a:path w="85725" h="3321050">
                <a:moveTo>
                  <a:pt x="0" y="3178175"/>
                </a:moveTo>
                <a:lnTo>
                  <a:pt x="42925" y="3321050"/>
                </a:lnTo>
                <a:lnTo>
                  <a:pt x="68605" y="3235325"/>
                </a:lnTo>
                <a:lnTo>
                  <a:pt x="28575" y="3235325"/>
                </a:lnTo>
                <a:lnTo>
                  <a:pt x="28575" y="3216218"/>
                </a:lnTo>
                <a:lnTo>
                  <a:pt x="0" y="3178175"/>
                </a:lnTo>
                <a:close/>
              </a:path>
              <a:path w="85725" h="3321050">
                <a:moveTo>
                  <a:pt x="28575" y="3216218"/>
                </a:moveTo>
                <a:lnTo>
                  <a:pt x="28575" y="3235325"/>
                </a:lnTo>
                <a:lnTo>
                  <a:pt x="42925" y="3235325"/>
                </a:lnTo>
                <a:lnTo>
                  <a:pt x="28575" y="3216218"/>
                </a:lnTo>
                <a:close/>
              </a:path>
              <a:path w="85725" h="3321050">
                <a:moveTo>
                  <a:pt x="57150" y="0"/>
                </a:moveTo>
                <a:lnTo>
                  <a:pt x="28575" y="0"/>
                </a:lnTo>
                <a:lnTo>
                  <a:pt x="28659" y="3216331"/>
                </a:lnTo>
                <a:lnTo>
                  <a:pt x="42925" y="3235325"/>
                </a:lnTo>
                <a:lnTo>
                  <a:pt x="57150" y="3216331"/>
                </a:lnTo>
                <a:lnTo>
                  <a:pt x="57150" y="0"/>
                </a:lnTo>
                <a:close/>
              </a:path>
              <a:path w="85725" h="3321050">
                <a:moveTo>
                  <a:pt x="57150" y="3216331"/>
                </a:moveTo>
                <a:lnTo>
                  <a:pt x="42925" y="3235325"/>
                </a:lnTo>
                <a:lnTo>
                  <a:pt x="57150" y="3235325"/>
                </a:lnTo>
                <a:lnTo>
                  <a:pt x="57150" y="3216331"/>
                </a:lnTo>
                <a:close/>
              </a:path>
              <a:path w="85725" h="3321050">
                <a:moveTo>
                  <a:pt x="85725" y="3178175"/>
                </a:moveTo>
                <a:lnTo>
                  <a:pt x="57234" y="3216218"/>
                </a:lnTo>
                <a:lnTo>
                  <a:pt x="57150" y="3235325"/>
                </a:lnTo>
                <a:lnTo>
                  <a:pt x="68605" y="3235325"/>
                </a:lnTo>
                <a:lnTo>
                  <a:pt x="85725" y="3178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09775" y="1016000"/>
            <a:ext cx="6124575" cy="85725"/>
          </a:xfrm>
          <a:custGeom>
            <a:avLst/>
            <a:gdLst/>
            <a:ahLst/>
            <a:cxnLst/>
            <a:rect l="l" t="t" r="r" b="b"/>
            <a:pathLst>
              <a:path w="6124575" h="85725">
                <a:moveTo>
                  <a:pt x="5981573" y="0"/>
                </a:moveTo>
                <a:lnTo>
                  <a:pt x="6038723" y="42799"/>
                </a:lnTo>
                <a:lnTo>
                  <a:pt x="5981573" y="85725"/>
                </a:lnTo>
                <a:lnTo>
                  <a:pt x="6076682" y="57150"/>
                </a:lnTo>
                <a:lnTo>
                  <a:pt x="6038850" y="57150"/>
                </a:lnTo>
                <a:lnTo>
                  <a:pt x="6038850" y="28575"/>
                </a:lnTo>
                <a:lnTo>
                  <a:pt x="6076964" y="28575"/>
                </a:lnTo>
                <a:lnTo>
                  <a:pt x="5981573" y="0"/>
                </a:lnTo>
                <a:close/>
              </a:path>
              <a:path w="6124575" h="85725">
                <a:moveTo>
                  <a:pt x="6019729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019616" y="57150"/>
                </a:lnTo>
                <a:lnTo>
                  <a:pt x="6038723" y="42799"/>
                </a:lnTo>
                <a:lnTo>
                  <a:pt x="6019729" y="28575"/>
                </a:lnTo>
                <a:close/>
              </a:path>
              <a:path w="6124575" h="85725">
                <a:moveTo>
                  <a:pt x="6076964" y="28575"/>
                </a:moveTo>
                <a:lnTo>
                  <a:pt x="6038850" y="28575"/>
                </a:lnTo>
                <a:lnTo>
                  <a:pt x="6038850" y="57150"/>
                </a:lnTo>
                <a:lnTo>
                  <a:pt x="6076682" y="57150"/>
                </a:lnTo>
                <a:lnTo>
                  <a:pt x="6124448" y="42799"/>
                </a:lnTo>
                <a:lnTo>
                  <a:pt x="607696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09775" y="4308475"/>
            <a:ext cx="6124575" cy="85725"/>
          </a:xfrm>
          <a:custGeom>
            <a:avLst/>
            <a:gdLst/>
            <a:ahLst/>
            <a:cxnLst/>
            <a:rect l="l" t="t" r="r" b="b"/>
            <a:pathLst>
              <a:path w="6124575" h="85725">
                <a:moveTo>
                  <a:pt x="5981573" y="0"/>
                </a:moveTo>
                <a:lnTo>
                  <a:pt x="6038723" y="42862"/>
                </a:lnTo>
                <a:lnTo>
                  <a:pt x="5981573" y="85725"/>
                </a:lnTo>
                <a:lnTo>
                  <a:pt x="6076823" y="57150"/>
                </a:lnTo>
                <a:lnTo>
                  <a:pt x="6038850" y="57150"/>
                </a:lnTo>
                <a:lnTo>
                  <a:pt x="6038850" y="28575"/>
                </a:lnTo>
                <a:lnTo>
                  <a:pt x="6076823" y="28575"/>
                </a:lnTo>
                <a:lnTo>
                  <a:pt x="5981573" y="0"/>
                </a:lnTo>
                <a:close/>
              </a:path>
              <a:path w="6124575" h="85725">
                <a:moveTo>
                  <a:pt x="6019673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6019673" y="57150"/>
                </a:lnTo>
                <a:lnTo>
                  <a:pt x="6038723" y="42862"/>
                </a:lnTo>
                <a:lnTo>
                  <a:pt x="6019673" y="28575"/>
                </a:lnTo>
                <a:close/>
              </a:path>
              <a:path w="6124575" h="85725">
                <a:moveTo>
                  <a:pt x="6076823" y="28575"/>
                </a:moveTo>
                <a:lnTo>
                  <a:pt x="6038850" y="28575"/>
                </a:lnTo>
                <a:lnTo>
                  <a:pt x="6038850" y="57150"/>
                </a:lnTo>
                <a:lnTo>
                  <a:pt x="6076823" y="57150"/>
                </a:lnTo>
                <a:lnTo>
                  <a:pt x="6124448" y="42862"/>
                </a:lnTo>
                <a:lnTo>
                  <a:pt x="6076823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91312" y="960119"/>
          <a:ext cx="8552178" cy="3072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0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9702">
                <a:tc>
                  <a:txBody>
                    <a:bodyPr/>
                    <a:lstStyle/>
                    <a:p>
                      <a:pPr marL="1809114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P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  <a:p>
                      <a:pPr marL="14782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  <a:p>
                      <a:pPr marL="10242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12954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spc="-5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Low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53340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spc="-5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Medium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spc="-5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High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1257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46">
                <a:tc>
                  <a:txBody>
                    <a:bodyPr/>
                    <a:lstStyle/>
                    <a:p>
                      <a:pPr marL="10242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High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L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5334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H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H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03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524">
                <a:tc>
                  <a:txBody>
                    <a:bodyPr/>
                    <a:lstStyle/>
                    <a:p>
                      <a:pPr marL="1024255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400" spc="-5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Medium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26924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L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69240" marB="0"/>
                </a:tc>
                <a:tc>
                  <a:txBody>
                    <a:bodyPr/>
                    <a:lstStyle/>
                    <a:p>
                      <a:pPr marL="53340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H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6924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H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2692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32">
                <a:tc>
                  <a:txBody>
                    <a:bodyPr/>
                    <a:lstStyle/>
                    <a:p>
                      <a:pPr marL="102425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400" spc="-5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Low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3170"/>
                        </a:lnSpc>
                        <a:spcBef>
                          <a:spcPts val="1285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L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marL="533400">
                        <a:lnSpc>
                          <a:spcPts val="3170"/>
                        </a:lnSpc>
                        <a:spcBef>
                          <a:spcPts val="1285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M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3170"/>
                        </a:lnSpc>
                        <a:spcBef>
                          <a:spcPts val="1285"/>
                        </a:spcBef>
                      </a:pPr>
                      <a:r>
                        <a:rPr sz="2700" dirty="0">
                          <a:solidFill>
                            <a:srgbClr val="001F5F"/>
                          </a:solidFill>
                          <a:latin typeface="Arial Narrow"/>
                          <a:cs typeface="Arial Narrow"/>
                        </a:rPr>
                        <a:t>M</a:t>
                      </a:r>
                      <a:endParaRPr sz="2700">
                        <a:latin typeface="Arial Narrow"/>
                        <a:cs typeface="Arial Narrow"/>
                      </a:endParaRPr>
                    </a:p>
                  </a:txBody>
                  <a:tcPr marL="0" marR="0" marT="1631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1524761" y="1078230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0" y="0"/>
                </a:moveTo>
                <a:lnTo>
                  <a:pt x="914400" y="8001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761" y="1084325"/>
            <a:ext cx="1447800" cy="342900"/>
          </a:xfrm>
          <a:custGeom>
            <a:avLst/>
            <a:gdLst/>
            <a:ahLst/>
            <a:cxnLst/>
            <a:rect l="l" t="t" r="r" b="b"/>
            <a:pathLst>
              <a:path w="1447800" h="342900">
                <a:moveTo>
                  <a:pt x="0" y="0"/>
                </a:moveTo>
                <a:lnTo>
                  <a:pt x="1447800" y="3429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74701"/>
            <a:ext cx="7103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风险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实</a:t>
            </a: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验</a:t>
            </a:r>
            <a:r>
              <a:rPr sz="4000" i="1" spc="-5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r>
              <a:rPr sz="4000" i="1" spc="-3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可以定性方法选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择</a:t>
            </a:r>
            <a:r>
              <a:rPr sz="4000" i="1" spc="-10" dirty="0">
                <a:solidFill>
                  <a:srgbClr val="775F54"/>
                </a:solidFill>
                <a:latin typeface="华文隶书"/>
                <a:cs typeface="华文隶书"/>
              </a:rPr>
              <a:t>A,B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8142" y="467390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154430"/>
            <a:ext cx="8153400" cy="1729739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0"/>
              </a:spcBef>
            </a:pPr>
            <a:r>
              <a:rPr sz="3200" spc="-5" dirty="0">
                <a:latin typeface="华文新魏"/>
                <a:cs typeface="华文新魏"/>
              </a:rPr>
              <a:t>A: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直接获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得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100美元</a:t>
            </a:r>
            <a:endParaRPr sz="3200">
              <a:latin typeface="华文新魏"/>
              <a:cs typeface="华文新魏"/>
            </a:endParaRPr>
          </a:p>
          <a:p>
            <a:pPr marL="90805" marR="245110">
              <a:lnSpc>
                <a:spcPct val="100000"/>
              </a:lnSpc>
              <a:spcBef>
                <a:spcPts val="695"/>
              </a:spcBef>
            </a:pPr>
            <a:r>
              <a:rPr sz="3200" spc="-5" dirty="0">
                <a:latin typeface="华文新魏"/>
                <a:cs typeface="华文新魏"/>
              </a:rPr>
              <a:t>B:</a:t>
            </a:r>
            <a:r>
              <a:rPr sz="3200" spc="5" dirty="0">
                <a:solidFill>
                  <a:srgbClr val="B85B21"/>
                </a:solidFill>
                <a:latin typeface="华文新魏"/>
                <a:cs typeface="华文新魏"/>
              </a:rPr>
              <a:t>投掷一次硬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币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,如果是正面,</a:t>
            </a:r>
            <a:r>
              <a:rPr sz="3200" spc="5" dirty="0">
                <a:solidFill>
                  <a:srgbClr val="B85B21"/>
                </a:solidFill>
                <a:latin typeface="华文新魏"/>
                <a:cs typeface="华文新魏"/>
              </a:rPr>
              <a:t>你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会</a:t>
            </a:r>
            <a:r>
              <a:rPr sz="3200" spc="5" dirty="0">
                <a:solidFill>
                  <a:srgbClr val="B85B21"/>
                </a:solidFill>
                <a:latin typeface="华文新魏"/>
                <a:cs typeface="华文新魏"/>
              </a:rPr>
              <a:t>获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得250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美 元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,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如果背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面,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你必须支</a:t>
            </a:r>
            <a:r>
              <a:rPr sz="3200" spc="-5" dirty="0">
                <a:solidFill>
                  <a:srgbClr val="B85B21"/>
                </a:solidFill>
                <a:latin typeface="华文新魏"/>
                <a:cs typeface="华文新魏"/>
              </a:rPr>
              <a:t>付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50美元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850" y="2911601"/>
            <a:ext cx="1606550" cy="1605280"/>
          </a:xfrm>
          <a:custGeom>
            <a:avLst/>
            <a:gdLst/>
            <a:ahLst/>
            <a:cxnLst/>
            <a:rect l="l" t="t" r="r" b="b"/>
            <a:pathLst>
              <a:path w="1606550" h="1605279">
                <a:moveTo>
                  <a:pt x="561720" y="0"/>
                </a:moveTo>
                <a:lnTo>
                  <a:pt x="0" y="802386"/>
                </a:lnTo>
                <a:lnTo>
                  <a:pt x="561720" y="1604772"/>
                </a:lnTo>
                <a:lnTo>
                  <a:pt x="561720" y="1203579"/>
                </a:lnTo>
                <a:lnTo>
                  <a:pt x="1606296" y="1203579"/>
                </a:lnTo>
                <a:lnTo>
                  <a:pt x="1606296" y="401193"/>
                </a:lnTo>
                <a:lnTo>
                  <a:pt x="561720" y="401193"/>
                </a:lnTo>
                <a:lnTo>
                  <a:pt x="56172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3053" y="2911601"/>
            <a:ext cx="1605280" cy="1605280"/>
          </a:xfrm>
          <a:custGeom>
            <a:avLst/>
            <a:gdLst/>
            <a:ahLst/>
            <a:cxnLst/>
            <a:rect l="l" t="t" r="r" b="b"/>
            <a:pathLst>
              <a:path w="1605279" h="1605279">
                <a:moveTo>
                  <a:pt x="1043051" y="0"/>
                </a:moveTo>
                <a:lnTo>
                  <a:pt x="1043051" y="401193"/>
                </a:lnTo>
                <a:lnTo>
                  <a:pt x="0" y="401193"/>
                </a:lnTo>
                <a:lnTo>
                  <a:pt x="0" y="1203579"/>
                </a:lnTo>
                <a:lnTo>
                  <a:pt x="1043051" y="1203579"/>
                </a:lnTo>
                <a:lnTo>
                  <a:pt x="1043051" y="1604772"/>
                </a:lnTo>
                <a:lnTo>
                  <a:pt x="1604772" y="802386"/>
                </a:lnTo>
                <a:lnTo>
                  <a:pt x="104305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44189" y="3418408"/>
            <a:ext cx="23488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030" algn="l"/>
              </a:tabLst>
            </a:pPr>
            <a:r>
              <a:rPr sz="3000" dirty="0">
                <a:solidFill>
                  <a:srgbClr val="FF0000"/>
                </a:solidFill>
                <a:latin typeface="Tw Cen MT"/>
                <a:cs typeface="Tw Cen MT"/>
              </a:rPr>
              <a:t>A	B</a:t>
            </a:r>
            <a:endParaRPr sz="30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5975" y="3055112"/>
            <a:ext cx="155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定性方法选择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7081"/>
            <a:ext cx="7452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风险评估的方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法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定量风</a:t>
            </a:r>
            <a:r>
              <a:rPr sz="4400" spc="-20" dirty="0">
                <a:solidFill>
                  <a:srgbClr val="775F54"/>
                </a:solidFill>
                <a:latin typeface="华文隶书"/>
                <a:cs typeface="华文隶书"/>
              </a:rPr>
              <a:t>险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评估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74616" y="4673295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6666" y="1418082"/>
            <a:ext cx="4464050" cy="2108200"/>
          </a:xfrm>
          <a:custGeom>
            <a:avLst/>
            <a:gdLst/>
            <a:ahLst/>
            <a:cxnLst/>
            <a:rect l="l" t="t" r="r" b="b"/>
            <a:pathLst>
              <a:path w="4464050" h="2108200">
                <a:moveTo>
                  <a:pt x="0" y="2107692"/>
                </a:moveTo>
                <a:lnTo>
                  <a:pt x="4463796" y="2107692"/>
                </a:lnTo>
                <a:lnTo>
                  <a:pt x="4463796" y="0"/>
                </a:lnTo>
                <a:lnTo>
                  <a:pt x="0" y="0"/>
                </a:lnTo>
                <a:lnTo>
                  <a:pt x="0" y="210769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7344" y="1337538"/>
            <a:ext cx="2759075" cy="19723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32765" indent="-532765">
              <a:lnSpc>
                <a:spcPct val="100000"/>
              </a:lnSpc>
              <a:spcBef>
                <a:spcPts val="445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盈亏平衡分析</a:t>
            </a:r>
            <a:endParaRPr sz="29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350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敏感性分析</a:t>
            </a:r>
            <a:endParaRPr sz="29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345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模拟</a:t>
            </a:r>
            <a:endParaRPr sz="29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365"/>
              </a:spcBef>
              <a:buClr>
                <a:srgbClr val="DD8046"/>
              </a:buClr>
              <a:buSzPct val="60344"/>
              <a:buAutoNum type="arabicPeriod"/>
              <a:tabLst>
                <a:tab pos="532765" algn="l"/>
                <a:tab pos="53340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决策树分析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6708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决策树分析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6215" y="4673295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28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347977"/>
            <a:ext cx="8153400" cy="2520950"/>
          </a:xfrm>
          <a:custGeom>
            <a:avLst/>
            <a:gdLst/>
            <a:ahLst/>
            <a:cxnLst/>
            <a:rect l="l" t="t" r="r" b="b"/>
            <a:pathLst>
              <a:path w="8153400" h="2520950">
                <a:moveTo>
                  <a:pt x="0" y="2520696"/>
                </a:moveTo>
                <a:lnTo>
                  <a:pt x="8153400" y="2520696"/>
                </a:lnTo>
                <a:lnTo>
                  <a:pt x="8153400" y="0"/>
                </a:lnTo>
                <a:lnTo>
                  <a:pt x="0" y="0"/>
                </a:lnTo>
                <a:lnTo>
                  <a:pt x="0" y="252069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065" y="1263689"/>
            <a:ext cx="7723505" cy="205993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决策树分析是一种图表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分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析方法</a:t>
            </a:r>
            <a:endParaRPr sz="2900">
              <a:latin typeface="华文新魏"/>
              <a:cs typeface="华文新魏"/>
            </a:endParaRPr>
          </a:p>
          <a:p>
            <a:pPr marL="332105" marR="508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提供项目所有可供选择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行动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方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案，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行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动方案 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之间的关系，行动方案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后果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以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及发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生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的概率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提供选择一个最佳的方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案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的依据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89" y="12649"/>
            <a:ext cx="8456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775F54"/>
                </a:solidFill>
                <a:latin typeface="华文隶书"/>
                <a:cs typeface="华文隶书"/>
              </a:rPr>
              <a:t>决策树分析</a:t>
            </a:r>
            <a:r>
              <a:rPr sz="3600" dirty="0">
                <a:solidFill>
                  <a:srgbClr val="775F54"/>
                </a:solidFill>
                <a:latin typeface="华文隶书"/>
                <a:cs typeface="华文隶书"/>
              </a:rPr>
              <a:t>与</a:t>
            </a:r>
            <a:r>
              <a:rPr sz="3600" i="1" dirty="0">
                <a:solidFill>
                  <a:srgbClr val="775F54"/>
                </a:solidFill>
                <a:latin typeface="华文隶书"/>
                <a:cs typeface="华文隶书"/>
              </a:rPr>
              <a:t>EMV</a:t>
            </a:r>
            <a:r>
              <a:rPr sz="3600" i="1" spc="-1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3600" i="1" dirty="0">
                <a:solidFill>
                  <a:srgbClr val="775F54"/>
                </a:solidFill>
                <a:latin typeface="华文隶书"/>
                <a:cs typeface="华文隶书"/>
              </a:rPr>
              <a:t>(</a:t>
            </a:r>
            <a:r>
              <a:rPr sz="3600" i="1" spc="-3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3600" i="1" dirty="0">
                <a:solidFill>
                  <a:srgbClr val="775F54"/>
                </a:solidFill>
                <a:latin typeface="华文隶书"/>
                <a:cs typeface="华文隶书"/>
              </a:rPr>
              <a:t>Expected</a:t>
            </a:r>
            <a:r>
              <a:rPr sz="3600" i="1" spc="-1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3600" i="1" dirty="0">
                <a:solidFill>
                  <a:srgbClr val="775F54"/>
                </a:solidFill>
                <a:latin typeface="华文隶书"/>
                <a:cs typeface="华文隶书"/>
              </a:rPr>
              <a:t>Monetary</a:t>
            </a:r>
            <a:r>
              <a:rPr sz="3600" i="1" spc="-4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3600" i="1" dirty="0">
                <a:solidFill>
                  <a:srgbClr val="775F54"/>
                </a:solidFill>
                <a:latin typeface="华文隶书"/>
                <a:cs typeface="华文隶书"/>
              </a:rPr>
              <a:t>Value)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6515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374" y="1347977"/>
            <a:ext cx="8639810" cy="115379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409575" indent="-320675">
              <a:lnSpc>
                <a:spcPct val="100000"/>
              </a:lnSpc>
              <a:spcBef>
                <a:spcPts val="1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0209" algn="l"/>
              </a:tabLst>
            </a:pPr>
            <a:r>
              <a:rPr sz="3200" i="1" dirty="0">
                <a:solidFill>
                  <a:srgbClr val="B85B21"/>
                </a:solidFill>
                <a:latin typeface="华文隶书"/>
                <a:cs typeface="华文隶书"/>
              </a:rPr>
              <a:t>EMV</a:t>
            </a:r>
            <a:r>
              <a:rPr sz="3200" i="1" spc="-20" dirty="0">
                <a:solidFill>
                  <a:srgbClr val="B85B21"/>
                </a:solidFill>
                <a:latin typeface="华文隶书"/>
                <a:cs typeface="华文隶书"/>
              </a:rPr>
              <a:t> </a:t>
            </a:r>
            <a:r>
              <a:rPr sz="3200" i="1" spc="-5" dirty="0">
                <a:solidFill>
                  <a:srgbClr val="B85B21"/>
                </a:solidFill>
                <a:latin typeface="华文隶书"/>
                <a:cs typeface="华文隶书"/>
              </a:rPr>
              <a:t>(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损益期望值</a:t>
            </a:r>
            <a:r>
              <a:rPr sz="2900" spc="-5" dirty="0">
                <a:solidFill>
                  <a:srgbClr val="B85B21"/>
                </a:solidFill>
                <a:latin typeface="华文新魏"/>
                <a:cs typeface="华文新魏"/>
              </a:rPr>
              <a:t>)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是决策树的一种计算值</a:t>
            </a:r>
            <a:endParaRPr sz="2900">
              <a:latin typeface="华文新魏"/>
              <a:cs typeface="华文新魏"/>
            </a:endParaRPr>
          </a:p>
          <a:p>
            <a:pPr marL="409575" indent="-320675">
              <a:lnSpc>
                <a:spcPct val="100000"/>
              </a:lnSpc>
              <a:spcBef>
                <a:spcPts val="819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09575" algn="l"/>
                <a:tab pos="410209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根</a:t>
            </a:r>
            <a:r>
              <a:rPr sz="2900" spc="-5" dirty="0">
                <a:solidFill>
                  <a:srgbClr val="B85B21"/>
                </a:solidFill>
                <a:latin typeface="华文新魏"/>
                <a:cs typeface="华文新魏"/>
              </a:rPr>
              <a:t>据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预期结果、发生的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概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率计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算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出一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种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期望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损益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477" y="2788157"/>
            <a:ext cx="8153400" cy="1729739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40"/>
              </a:spcBef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例如：</a:t>
            </a:r>
            <a:endParaRPr sz="2900">
              <a:latin typeface="华文新魏"/>
              <a:cs typeface="华文新魏"/>
            </a:endParaRPr>
          </a:p>
          <a:p>
            <a:pPr marL="452120" marR="1009015">
              <a:lnSpc>
                <a:spcPts val="4180"/>
              </a:lnSpc>
              <a:spcBef>
                <a:spcPts val="250"/>
              </a:spcBef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某行动方案成功的概率</a:t>
            </a:r>
            <a:r>
              <a:rPr sz="2900" spc="-20" dirty="0">
                <a:solidFill>
                  <a:srgbClr val="B85B21"/>
                </a:solidFill>
                <a:latin typeface="华文新魏"/>
                <a:cs typeface="华文新魏"/>
              </a:rPr>
              <a:t>是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50%，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收益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是</a:t>
            </a:r>
            <a:r>
              <a:rPr sz="2900" spc="-5" dirty="0">
                <a:solidFill>
                  <a:srgbClr val="B85B21"/>
                </a:solidFill>
                <a:latin typeface="华文新魏"/>
                <a:cs typeface="华文新魏"/>
              </a:rPr>
              <a:t>10  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EMV=10*50%=5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96138"/>
            <a:ext cx="3940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决策树分析例子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30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72717" y="4063746"/>
            <a:ext cx="228600" cy="170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72717" y="4063746"/>
            <a:ext cx="228600" cy="170815"/>
          </a:xfrm>
          <a:custGeom>
            <a:avLst/>
            <a:gdLst/>
            <a:ahLst/>
            <a:cxnLst/>
            <a:rect l="l" t="t" r="r" b="b"/>
            <a:pathLst>
              <a:path w="228600" h="170814">
                <a:moveTo>
                  <a:pt x="0" y="85343"/>
                </a:moveTo>
                <a:lnTo>
                  <a:pt x="8981" y="52126"/>
                </a:lnTo>
                <a:lnTo>
                  <a:pt x="33475" y="24998"/>
                </a:lnTo>
                <a:lnTo>
                  <a:pt x="69806" y="6707"/>
                </a:lnTo>
                <a:lnTo>
                  <a:pt x="114300" y="0"/>
                </a:lnTo>
                <a:lnTo>
                  <a:pt x="158787" y="6707"/>
                </a:lnTo>
                <a:lnTo>
                  <a:pt x="195119" y="24998"/>
                </a:lnTo>
                <a:lnTo>
                  <a:pt x="219616" y="52126"/>
                </a:lnTo>
                <a:lnTo>
                  <a:pt x="228600" y="85343"/>
                </a:lnTo>
                <a:lnTo>
                  <a:pt x="219616" y="118561"/>
                </a:lnTo>
                <a:lnTo>
                  <a:pt x="195119" y="145689"/>
                </a:lnTo>
                <a:lnTo>
                  <a:pt x="158787" y="163980"/>
                </a:lnTo>
                <a:lnTo>
                  <a:pt x="114300" y="170687"/>
                </a:lnTo>
                <a:lnTo>
                  <a:pt x="69806" y="163980"/>
                </a:lnTo>
                <a:lnTo>
                  <a:pt x="33475" y="145689"/>
                </a:lnTo>
                <a:lnTo>
                  <a:pt x="8981" y="118561"/>
                </a:lnTo>
                <a:lnTo>
                  <a:pt x="0" y="8534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5117" y="1491233"/>
            <a:ext cx="5715000" cy="2573020"/>
          </a:xfrm>
          <a:custGeom>
            <a:avLst/>
            <a:gdLst/>
            <a:ahLst/>
            <a:cxnLst/>
            <a:rect l="l" t="t" r="r" b="b"/>
            <a:pathLst>
              <a:path w="5715000" h="2573020">
                <a:moveTo>
                  <a:pt x="0" y="2572512"/>
                </a:moveTo>
                <a:lnTo>
                  <a:pt x="57150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20517" y="3377946"/>
            <a:ext cx="228600" cy="170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20517" y="3377946"/>
            <a:ext cx="228600" cy="170815"/>
          </a:xfrm>
          <a:custGeom>
            <a:avLst/>
            <a:gdLst/>
            <a:ahLst/>
            <a:cxnLst/>
            <a:rect l="l" t="t" r="r" b="b"/>
            <a:pathLst>
              <a:path w="228600" h="170814">
                <a:moveTo>
                  <a:pt x="0" y="85343"/>
                </a:moveTo>
                <a:lnTo>
                  <a:pt x="8983" y="52131"/>
                </a:lnTo>
                <a:lnTo>
                  <a:pt x="33480" y="25003"/>
                </a:lnTo>
                <a:lnTo>
                  <a:pt x="69812" y="6709"/>
                </a:lnTo>
                <a:lnTo>
                  <a:pt x="114300" y="0"/>
                </a:lnTo>
                <a:lnTo>
                  <a:pt x="158787" y="6709"/>
                </a:lnTo>
                <a:lnTo>
                  <a:pt x="195119" y="25003"/>
                </a:lnTo>
                <a:lnTo>
                  <a:pt x="219616" y="52131"/>
                </a:lnTo>
                <a:lnTo>
                  <a:pt x="228600" y="85343"/>
                </a:lnTo>
                <a:lnTo>
                  <a:pt x="219616" y="118556"/>
                </a:lnTo>
                <a:lnTo>
                  <a:pt x="195119" y="145684"/>
                </a:lnTo>
                <a:lnTo>
                  <a:pt x="158787" y="163978"/>
                </a:lnTo>
                <a:lnTo>
                  <a:pt x="114300" y="170687"/>
                </a:lnTo>
                <a:lnTo>
                  <a:pt x="69812" y="163978"/>
                </a:lnTo>
                <a:lnTo>
                  <a:pt x="33480" y="145684"/>
                </a:lnTo>
                <a:lnTo>
                  <a:pt x="8983" y="118556"/>
                </a:lnTo>
                <a:lnTo>
                  <a:pt x="0" y="8534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35117" y="2234945"/>
            <a:ext cx="228600" cy="1706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35117" y="2234945"/>
            <a:ext cx="228600" cy="170815"/>
          </a:xfrm>
          <a:custGeom>
            <a:avLst/>
            <a:gdLst/>
            <a:ahLst/>
            <a:cxnLst/>
            <a:rect l="l" t="t" r="r" b="b"/>
            <a:pathLst>
              <a:path w="228600" h="170814">
                <a:moveTo>
                  <a:pt x="0" y="85343"/>
                </a:moveTo>
                <a:lnTo>
                  <a:pt x="8983" y="52131"/>
                </a:lnTo>
                <a:lnTo>
                  <a:pt x="33480" y="25003"/>
                </a:lnTo>
                <a:lnTo>
                  <a:pt x="69812" y="6709"/>
                </a:lnTo>
                <a:lnTo>
                  <a:pt x="114300" y="0"/>
                </a:lnTo>
                <a:lnTo>
                  <a:pt x="158787" y="6709"/>
                </a:lnTo>
                <a:lnTo>
                  <a:pt x="195119" y="25003"/>
                </a:lnTo>
                <a:lnTo>
                  <a:pt x="219616" y="52131"/>
                </a:lnTo>
                <a:lnTo>
                  <a:pt x="228600" y="85343"/>
                </a:lnTo>
                <a:lnTo>
                  <a:pt x="219616" y="118556"/>
                </a:lnTo>
                <a:lnTo>
                  <a:pt x="195119" y="145684"/>
                </a:lnTo>
                <a:lnTo>
                  <a:pt x="158787" y="163978"/>
                </a:lnTo>
                <a:lnTo>
                  <a:pt x="114300" y="170687"/>
                </a:lnTo>
                <a:lnTo>
                  <a:pt x="69812" y="163978"/>
                </a:lnTo>
                <a:lnTo>
                  <a:pt x="33480" y="145684"/>
                </a:lnTo>
                <a:lnTo>
                  <a:pt x="8983" y="118556"/>
                </a:lnTo>
                <a:lnTo>
                  <a:pt x="0" y="8534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01317" y="4178046"/>
            <a:ext cx="1371600" cy="513715"/>
          </a:xfrm>
          <a:custGeom>
            <a:avLst/>
            <a:gdLst/>
            <a:ahLst/>
            <a:cxnLst/>
            <a:rect l="l" t="t" r="r" b="b"/>
            <a:pathLst>
              <a:path w="1371600" h="513714">
                <a:moveTo>
                  <a:pt x="0" y="0"/>
                </a:moveTo>
                <a:lnTo>
                  <a:pt x="1371600" y="51358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49117" y="3492246"/>
            <a:ext cx="1676400" cy="457200"/>
          </a:xfrm>
          <a:custGeom>
            <a:avLst/>
            <a:gdLst/>
            <a:ahLst/>
            <a:cxnLst/>
            <a:rect l="l" t="t" r="r" b="b"/>
            <a:pathLst>
              <a:path w="1676400" h="457200">
                <a:moveTo>
                  <a:pt x="0" y="0"/>
                </a:moveTo>
                <a:lnTo>
                  <a:pt x="1676399" y="45719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63717" y="2349245"/>
            <a:ext cx="2362200" cy="457200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2362200" y="4572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50895" y="4547412"/>
            <a:ext cx="8534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B85B21"/>
                </a:solidFill>
                <a:latin typeface="Arial Narrow"/>
                <a:cs typeface="Arial Narrow"/>
              </a:rPr>
              <a:t>EMV=0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41295" y="2024634"/>
            <a:ext cx="147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B85B21"/>
                </a:solidFill>
                <a:latin typeface="宋体"/>
                <a:cs typeface="宋体"/>
              </a:rPr>
              <a:t>成功：</a:t>
            </a:r>
            <a:r>
              <a:rPr sz="2000" b="1" dirty="0">
                <a:solidFill>
                  <a:srgbClr val="B85B21"/>
                </a:solidFill>
                <a:latin typeface="Arial Narrow"/>
                <a:cs typeface="Arial Narrow"/>
              </a:rPr>
              <a:t>P=70%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1695" y="4592218"/>
            <a:ext cx="793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B85B21"/>
                </a:solidFill>
                <a:latin typeface="宋体"/>
                <a:cs typeface="宋体"/>
              </a:rPr>
              <a:t>不实施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24478" y="3403295"/>
            <a:ext cx="354711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8044" marR="5080" indent="-855980">
              <a:lnSpc>
                <a:spcPct val="132900"/>
              </a:lnSpc>
              <a:spcBef>
                <a:spcPts val="95"/>
              </a:spcBef>
            </a:pPr>
            <a:r>
              <a:rPr sz="2000" b="1" spc="5" dirty="0">
                <a:solidFill>
                  <a:srgbClr val="B85B21"/>
                </a:solidFill>
                <a:latin typeface="宋体"/>
                <a:cs typeface="宋体"/>
              </a:rPr>
              <a:t>失败</a:t>
            </a:r>
            <a:r>
              <a:rPr sz="2000" b="1" dirty="0">
                <a:solidFill>
                  <a:srgbClr val="B85B21"/>
                </a:solidFill>
                <a:latin typeface="宋体"/>
                <a:cs typeface="宋体"/>
              </a:rPr>
              <a:t>：</a:t>
            </a:r>
            <a:r>
              <a:rPr sz="2000" b="1" dirty="0">
                <a:solidFill>
                  <a:srgbClr val="B85B21"/>
                </a:solidFill>
                <a:latin typeface="Arial Narrow"/>
                <a:cs typeface="Arial Narrow"/>
              </a:rPr>
              <a:t>P=30%,</a:t>
            </a:r>
            <a:r>
              <a:rPr sz="2000" b="1" spc="-2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1800" b="1" spc="-5" dirty="0">
                <a:solidFill>
                  <a:srgbClr val="B85B21"/>
                </a:solidFill>
                <a:latin typeface="Arial Narrow"/>
                <a:cs typeface="Arial Narrow"/>
              </a:rPr>
              <a:t>outcome=</a:t>
            </a:r>
            <a:r>
              <a:rPr sz="1800" b="1" spc="5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2000" b="1" spc="-5" dirty="0">
                <a:solidFill>
                  <a:srgbClr val="B85B21"/>
                </a:solidFill>
                <a:latin typeface="Arial Narrow"/>
                <a:cs typeface="Arial Narrow"/>
              </a:rPr>
              <a:t>-200,000  EMV=-200,000*30%=-60000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12695" y="2599436"/>
            <a:ext cx="2435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37" baseline="1388" dirty="0">
                <a:solidFill>
                  <a:srgbClr val="B85B21"/>
                </a:solidFill>
                <a:latin typeface="Arial Narrow"/>
                <a:cs typeface="Arial Narrow"/>
              </a:rPr>
              <a:t>EMV=</a:t>
            </a:r>
            <a:r>
              <a:rPr sz="2000" b="1" spc="-25" dirty="0">
                <a:solidFill>
                  <a:srgbClr val="B85B21"/>
                </a:solidFill>
                <a:latin typeface="Arial Narrow"/>
                <a:cs typeface="Arial Narrow"/>
              </a:rPr>
              <a:t>95</a:t>
            </a:r>
            <a:r>
              <a:rPr sz="3000" b="1" spc="-37" baseline="1388" dirty="0">
                <a:solidFill>
                  <a:srgbClr val="B85B21"/>
                </a:solidFill>
                <a:latin typeface="Arial Narrow"/>
                <a:cs typeface="Arial Narrow"/>
              </a:rPr>
              <a:t>,</a:t>
            </a:r>
            <a:r>
              <a:rPr sz="2000" b="1" spc="-25" dirty="0">
                <a:solidFill>
                  <a:srgbClr val="B85B21"/>
                </a:solidFill>
                <a:latin typeface="Arial Narrow"/>
                <a:cs typeface="Arial Narrow"/>
              </a:rPr>
              <a:t>,000</a:t>
            </a:r>
            <a:r>
              <a:rPr sz="3000" b="1" spc="-37" baseline="1388" dirty="0">
                <a:solidFill>
                  <a:srgbClr val="B85B21"/>
                </a:solidFill>
                <a:latin typeface="Arial Narrow"/>
                <a:cs typeface="Arial Narrow"/>
              </a:rPr>
              <a:t>*70%=66500</a:t>
            </a:r>
            <a:endParaRPr sz="3000" baseline="1388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9732" y="2133980"/>
            <a:ext cx="2969260" cy="676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B85B21"/>
                </a:solidFill>
                <a:latin typeface="宋体"/>
                <a:cs typeface="宋体"/>
              </a:rPr>
              <a:t>低性能：</a:t>
            </a: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P=70%,</a:t>
            </a:r>
            <a:r>
              <a:rPr sz="1600" b="1" spc="-3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1600" b="1" dirty="0">
                <a:solidFill>
                  <a:srgbClr val="B85B21"/>
                </a:solidFill>
                <a:latin typeface="Arial Narrow"/>
                <a:cs typeface="Arial Narrow"/>
              </a:rPr>
              <a:t>outcome=-</a:t>
            </a:r>
            <a:r>
              <a:rPr sz="1600" b="1" spc="-5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100,000</a:t>
            </a:r>
            <a:endParaRPr sz="1600">
              <a:latin typeface="Arial Narrow"/>
              <a:cs typeface="Arial Narrow"/>
            </a:endParaRPr>
          </a:p>
          <a:p>
            <a:pPr marL="50800">
              <a:lnSpc>
                <a:spcPct val="100000"/>
              </a:lnSpc>
              <a:spcBef>
                <a:spcPts val="1295"/>
              </a:spcBef>
            </a:pP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EMV=-100,000*</a:t>
            </a:r>
            <a:r>
              <a:rPr sz="1600" b="1" spc="-4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70%=-70000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08930" y="1205382"/>
            <a:ext cx="286766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marR="5080" indent="-177800">
              <a:lnSpc>
                <a:spcPct val="1426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B85B21"/>
                </a:solidFill>
                <a:latin typeface="宋体"/>
                <a:cs typeface="宋体"/>
              </a:rPr>
              <a:t>高性能：</a:t>
            </a: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P=30%,</a:t>
            </a:r>
            <a:r>
              <a:rPr sz="1600" b="1" spc="-3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outcome=550,000  EMV=550,000*</a:t>
            </a:r>
            <a:r>
              <a:rPr sz="1600" b="1" spc="-45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1600" b="1" spc="-5" dirty="0">
                <a:solidFill>
                  <a:srgbClr val="B85B21"/>
                </a:solidFill>
                <a:latin typeface="Arial Narrow"/>
                <a:cs typeface="Arial Narrow"/>
              </a:rPr>
              <a:t>30%=165000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4116" y="3531489"/>
            <a:ext cx="229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7" baseline="-4166" dirty="0">
                <a:solidFill>
                  <a:srgbClr val="B85B21"/>
                </a:solidFill>
                <a:latin typeface="宋体"/>
                <a:cs typeface="宋体"/>
              </a:rPr>
              <a:t>实施后</a:t>
            </a:r>
            <a:r>
              <a:rPr sz="3000" b="1" baseline="-4166" dirty="0">
                <a:solidFill>
                  <a:srgbClr val="B85B21"/>
                </a:solidFill>
                <a:latin typeface="Arial Narrow"/>
                <a:cs typeface="Arial Narrow"/>
              </a:rPr>
              <a:t>:</a:t>
            </a:r>
            <a:r>
              <a:rPr sz="3000" b="1" spc="562" baseline="-4166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2400" b="1" dirty="0">
                <a:solidFill>
                  <a:srgbClr val="B85B21"/>
                </a:solidFill>
                <a:latin typeface="Arial Narrow"/>
                <a:cs typeface="Arial Narrow"/>
              </a:rPr>
              <a:t>EMV=6,500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03759"/>
            <a:ext cx="5741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风</a:t>
            </a: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险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实验</a:t>
            </a:r>
            <a:r>
              <a:rPr sz="4000" i="1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决策树分析结果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7941" y="4673295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065" y="2454909"/>
            <a:ext cx="739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宋体"/>
                <a:cs typeface="宋体"/>
              </a:rPr>
              <a:t>决策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20774" y="1870710"/>
            <a:ext cx="2087880" cy="756285"/>
          </a:xfrm>
          <a:custGeom>
            <a:avLst/>
            <a:gdLst/>
            <a:ahLst/>
            <a:cxnLst/>
            <a:rect l="l" t="t" r="r" b="b"/>
            <a:pathLst>
              <a:path w="2087879" h="756285">
                <a:moveTo>
                  <a:pt x="0" y="755903"/>
                </a:moveTo>
                <a:lnTo>
                  <a:pt x="208787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20774" y="2626614"/>
            <a:ext cx="2159635" cy="917575"/>
          </a:xfrm>
          <a:custGeom>
            <a:avLst/>
            <a:gdLst/>
            <a:ahLst/>
            <a:cxnLst/>
            <a:rect l="l" t="t" r="r" b="b"/>
            <a:pathLst>
              <a:path w="2159635" h="917575">
                <a:moveTo>
                  <a:pt x="0" y="0"/>
                </a:moveTo>
                <a:lnTo>
                  <a:pt x="2159508" y="9174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75053" y="2480310"/>
            <a:ext cx="288290" cy="216535"/>
          </a:xfrm>
          <a:custGeom>
            <a:avLst/>
            <a:gdLst/>
            <a:ahLst/>
            <a:cxnLst/>
            <a:rect l="l" t="t" r="r" b="b"/>
            <a:pathLst>
              <a:path w="288289" h="216535">
                <a:moveTo>
                  <a:pt x="144018" y="0"/>
                </a:moveTo>
                <a:lnTo>
                  <a:pt x="87975" y="8495"/>
                </a:lnTo>
                <a:lnTo>
                  <a:pt x="42195" y="31670"/>
                </a:lnTo>
                <a:lnTo>
                  <a:pt x="11322" y="66061"/>
                </a:lnTo>
                <a:lnTo>
                  <a:pt x="0" y="108203"/>
                </a:lnTo>
                <a:lnTo>
                  <a:pt x="11322" y="150346"/>
                </a:lnTo>
                <a:lnTo>
                  <a:pt x="42195" y="184737"/>
                </a:lnTo>
                <a:lnTo>
                  <a:pt x="87975" y="207912"/>
                </a:lnTo>
                <a:lnTo>
                  <a:pt x="144018" y="216407"/>
                </a:lnTo>
                <a:lnTo>
                  <a:pt x="200060" y="207912"/>
                </a:lnTo>
                <a:lnTo>
                  <a:pt x="245840" y="184737"/>
                </a:lnTo>
                <a:lnTo>
                  <a:pt x="276713" y="150346"/>
                </a:lnTo>
                <a:lnTo>
                  <a:pt x="288035" y="108203"/>
                </a:lnTo>
                <a:lnTo>
                  <a:pt x="276713" y="66061"/>
                </a:lnTo>
                <a:lnTo>
                  <a:pt x="245840" y="31670"/>
                </a:lnTo>
                <a:lnTo>
                  <a:pt x="200060" y="8495"/>
                </a:lnTo>
                <a:lnTo>
                  <a:pt x="14401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75053" y="2480310"/>
            <a:ext cx="288290" cy="216535"/>
          </a:xfrm>
          <a:custGeom>
            <a:avLst/>
            <a:gdLst/>
            <a:ahLst/>
            <a:cxnLst/>
            <a:rect l="l" t="t" r="r" b="b"/>
            <a:pathLst>
              <a:path w="288289" h="216535">
                <a:moveTo>
                  <a:pt x="0" y="108203"/>
                </a:moveTo>
                <a:lnTo>
                  <a:pt x="11322" y="66061"/>
                </a:lnTo>
                <a:lnTo>
                  <a:pt x="42195" y="31670"/>
                </a:lnTo>
                <a:lnTo>
                  <a:pt x="87975" y="8495"/>
                </a:lnTo>
                <a:lnTo>
                  <a:pt x="144018" y="0"/>
                </a:lnTo>
                <a:lnTo>
                  <a:pt x="200060" y="8495"/>
                </a:lnTo>
                <a:lnTo>
                  <a:pt x="245840" y="31670"/>
                </a:lnTo>
                <a:lnTo>
                  <a:pt x="276713" y="66061"/>
                </a:lnTo>
                <a:lnTo>
                  <a:pt x="288035" y="108203"/>
                </a:lnTo>
                <a:lnTo>
                  <a:pt x="276713" y="150346"/>
                </a:lnTo>
                <a:lnTo>
                  <a:pt x="245840" y="184737"/>
                </a:lnTo>
                <a:lnTo>
                  <a:pt x="200060" y="207912"/>
                </a:lnTo>
                <a:lnTo>
                  <a:pt x="144018" y="216407"/>
                </a:lnTo>
                <a:lnTo>
                  <a:pt x="87975" y="207912"/>
                </a:lnTo>
                <a:lnTo>
                  <a:pt x="42195" y="184737"/>
                </a:lnTo>
                <a:lnTo>
                  <a:pt x="11322" y="150346"/>
                </a:lnTo>
                <a:lnTo>
                  <a:pt x="0" y="10820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08653" y="3382517"/>
            <a:ext cx="288290" cy="215265"/>
          </a:xfrm>
          <a:custGeom>
            <a:avLst/>
            <a:gdLst/>
            <a:ahLst/>
            <a:cxnLst/>
            <a:rect l="l" t="t" r="r" b="b"/>
            <a:pathLst>
              <a:path w="288289" h="215264">
                <a:moveTo>
                  <a:pt x="144018" y="0"/>
                </a:moveTo>
                <a:lnTo>
                  <a:pt x="87975" y="8447"/>
                </a:lnTo>
                <a:lnTo>
                  <a:pt x="42195" y="31480"/>
                </a:lnTo>
                <a:lnTo>
                  <a:pt x="11322" y="65633"/>
                </a:lnTo>
                <a:lnTo>
                  <a:pt x="0" y="107441"/>
                </a:lnTo>
                <a:lnTo>
                  <a:pt x="11322" y="149250"/>
                </a:lnTo>
                <a:lnTo>
                  <a:pt x="42195" y="183403"/>
                </a:lnTo>
                <a:lnTo>
                  <a:pt x="87975" y="206436"/>
                </a:lnTo>
                <a:lnTo>
                  <a:pt x="144018" y="214883"/>
                </a:lnTo>
                <a:lnTo>
                  <a:pt x="200060" y="206436"/>
                </a:lnTo>
                <a:lnTo>
                  <a:pt x="245840" y="183403"/>
                </a:lnTo>
                <a:lnTo>
                  <a:pt x="276713" y="149250"/>
                </a:lnTo>
                <a:lnTo>
                  <a:pt x="288036" y="107441"/>
                </a:lnTo>
                <a:lnTo>
                  <a:pt x="276713" y="65633"/>
                </a:lnTo>
                <a:lnTo>
                  <a:pt x="245840" y="31480"/>
                </a:lnTo>
                <a:lnTo>
                  <a:pt x="200060" y="8447"/>
                </a:lnTo>
                <a:lnTo>
                  <a:pt x="14401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08653" y="3382517"/>
            <a:ext cx="288290" cy="215265"/>
          </a:xfrm>
          <a:custGeom>
            <a:avLst/>
            <a:gdLst/>
            <a:ahLst/>
            <a:cxnLst/>
            <a:rect l="l" t="t" r="r" b="b"/>
            <a:pathLst>
              <a:path w="288289" h="215264">
                <a:moveTo>
                  <a:pt x="0" y="107441"/>
                </a:moveTo>
                <a:lnTo>
                  <a:pt x="11322" y="65633"/>
                </a:lnTo>
                <a:lnTo>
                  <a:pt x="42195" y="31480"/>
                </a:lnTo>
                <a:lnTo>
                  <a:pt x="87975" y="8447"/>
                </a:lnTo>
                <a:lnTo>
                  <a:pt x="144018" y="0"/>
                </a:lnTo>
                <a:lnTo>
                  <a:pt x="200060" y="8447"/>
                </a:lnTo>
                <a:lnTo>
                  <a:pt x="245840" y="31480"/>
                </a:lnTo>
                <a:lnTo>
                  <a:pt x="276713" y="65633"/>
                </a:lnTo>
                <a:lnTo>
                  <a:pt x="288036" y="107441"/>
                </a:lnTo>
                <a:lnTo>
                  <a:pt x="276713" y="149250"/>
                </a:lnTo>
                <a:lnTo>
                  <a:pt x="245840" y="183403"/>
                </a:lnTo>
                <a:lnTo>
                  <a:pt x="200060" y="206436"/>
                </a:lnTo>
                <a:lnTo>
                  <a:pt x="144018" y="214883"/>
                </a:lnTo>
                <a:lnTo>
                  <a:pt x="87975" y="206436"/>
                </a:lnTo>
                <a:lnTo>
                  <a:pt x="42195" y="183403"/>
                </a:lnTo>
                <a:lnTo>
                  <a:pt x="11322" y="149250"/>
                </a:lnTo>
                <a:lnTo>
                  <a:pt x="0" y="10744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88667" y="2921889"/>
            <a:ext cx="26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B85B21"/>
                </a:solidFill>
                <a:latin typeface="Arial Narrow"/>
                <a:cs typeface="Arial Narrow"/>
              </a:rPr>
              <a:t>B: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96690" y="3057905"/>
            <a:ext cx="1945005" cy="379730"/>
          </a:xfrm>
          <a:custGeom>
            <a:avLst/>
            <a:gdLst/>
            <a:ahLst/>
            <a:cxnLst/>
            <a:rect l="l" t="t" r="r" b="b"/>
            <a:pathLst>
              <a:path w="1945004" h="379729">
                <a:moveTo>
                  <a:pt x="0" y="379475"/>
                </a:moveTo>
                <a:lnTo>
                  <a:pt x="194462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96690" y="3544061"/>
            <a:ext cx="1945005" cy="431800"/>
          </a:xfrm>
          <a:custGeom>
            <a:avLst/>
            <a:gdLst/>
            <a:ahLst/>
            <a:cxnLst/>
            <a:rect l="l" t="t" r="r" b="b"/>
            <a:pathLst>
              <a:path w="1945004" h="431800">
                <a:moveTo>
                  <a:pt x="0" y="0"/>
                </a:moveTo>
                <a:lnTo>
                  <a:pt x="1944624" y="43129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19833" y="1505458"/>
            <a:ext cx="3792220" cy="751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1085">
              <a:lnSpc>
                <a:spcPts val="3100"/>
              </a:lnSpc>
              <a:spcBef>
                <a:spcPts val="95"/>
              </a:spcBef>
            </a:pPr>
            <a:r>
              <a:rPr sz="2800" b="1" spc="-5" dirty="0">
                <a:latin typeface="Arial Narrow"/>
                <a:cs typeface="Arial Narrow"/>
              </a:rPr>
              <a:t>EM</a:t>
            </a:r>
            <a:r>
              <a:rPr sz="2800" b="1" spc="-20" dirty="0">
                <a:latin typeface="Arial Narrow"/>
                <a:cs typeface="Arial Narrow"/>
              </a:rPr>
              <a:t>V</a:t>
            </a:r>
            <a:r>
              <a:rPr sz="2800" b="1" spc="-5" dirty="0">
                <a:latin typeface="Arial Narrow"/>
                <a:cs typeface="Arial Narrow"/>
              </a:rPr>
              <a:t>=$100</a:t>
            </a:r>
            <a:endParaRPr sz="2800">
              <a:latin typeface="Arial Narrow"/>
              <a:cs typeface="Arial Narrow"/>
            </a:endParaRPr>
          </a:p>
          <a:p>
            <a:pPr marL="12700">
              <a:lnSpc>
                <a:spcPts val="2620"/>
              </a:lnSpc>
              <a:tabLst>
                <a:tab pos="387985" algn="l"/>
              </a:tabLst>
            </a:pPr>
            <a:r>
              <a:rPr sz="2400" dirty="0">
                <a:solidFill>
                  <a:srgbClr val="B85B21"/>
                </a:solidFill>
                <a:latin typeface="Arial Narrow"/>
                <a:cs typeface="Arial Narrow"/>
              </a:rPr>
              <a:t>A:	</a:t>
            </a:r>
            <a:r>
              <a:rPr sz="2400" spc="-5" dirty="0">
                <a:solidFill>
                  <a:srgbClr val="B85B21"/>
                </a:solidFill>
                <a:latin typeface="Arial Narrow"/>
                <a:cs typeface="Arial Narrow"/>
              </a:rPr>
              <a:t>$100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65676" y="2709383"/>
            <a:ext cx="4251325" cy="136144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925"/>
              </a:spcBef>
              <a:tabLst>
                <a:tab pos="2954655" algn="l"/>
              </a:tabLst>
            </a:pPr>
            <a:r>
              <a:rPr sz="2400" dirty="0">
                <a:solidFill>
                  <a:srgbClr val="B85B21"/>
                </a:solidFill>
                <a:latin typeface="Arial Narrow"/>
                <a:cs typeface="Arial Narrow"/>
              </a:rPr>
              <a:t>P=50%,</a:t>
            </a:r>
            <a:r>
              <a:rPr sz="2400" spc="1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2400" spc="-5" dirty="0">
                <a:solidFill>
                  <a:srgbClr val="B85B21"/>
                </a:solidFill>
                <a:latin typeface="Arial Narrow"/>
                <a:cs typeface="Arial Narrow"/>
              </a:rPr>
              <a:t>outcome=&amp;250	</a:t>
            </a:r>
            <a:r>
              <a:rPr sz="3600" b="1" baseline="9259" dirty="0">
                <a:solidFill>
                  <a:srgbClr val="B85B21"/>
                </a:solidFill>
                <a:latin typeface="Arial Narrow"/>
                <a:cs typeface="Arial Narrow"/>
              </a:rPr>
              <a:t>EMV=$125</a:t>
            </a:r>
            <a:endParaRPr sz="3600" baseline="9259">
              <a:latin typeface="Arial Narrow"/>
              <a:cs typeface="Arial Narrow"/>
            </a:endParaRPr>
          </a:p>
          <a:p>
            <a:pPr marL="2054225">
              <a:lnSpc>
                <a:spcPts val="3170"/>
              </a:lnSpc>
              <a:spcBef>
                <a:spcPts val="950"/>
              </a:spcBef>
            </a:pPr>
            <a:r>
              <a:rPr sz="2800" b="1" spc="-5" dirty="0">
                <a:latin typeface="Arial Narrow"/>
                <a:cs typeface="Arial Narrow"/>
              </a:rPr>
              <a:t>EMV=$100</a:t>
            </a:r>
            <a:endParaRPr sz="2800">
              <a:latin typeface="Arial Narrow"/>
              <a:cs typeface="Arial Narrow"/>
            </a:endParaRPr>
          </a:p>
          <a:p>
            <a:pPr marL="38100">
              <a:lnSpc>
                <a:spcPts val="2690"/>
              </a:lnSpc>
              <a:tabLst>
                <a:tab pos="2954655" algn="l"/>
              </a:tabLst>
            </a:pPr>
            <a:r>
              <a:rPr sz="2400" dirty="0">
                <a:solidFill>
                  <a:srgbClr val="B85B21"/>
                </a:solidFill>
                <a:latin typeface="Arial Narrow"/>
                <a:cs typeface="Arial Narrow"/>
              </a:rPr>
              <a:t>P=50%,</a:t>
            </a:r>
            <a:r>
              <a:rPr sz="2400" spc="10" dirty="0">
                <a:solidFill>
                  <a:srgbClr val="B85B21"/>
                </a:solidFill>
                <a:latin typeface="Arial Narrow"/>
                <a:cs typeface="Arial Narrow"/>
              </a:rPr>
              <a:t> </a:t>
            </a:r>
            <a:r>
              <a:rPr sz="2400" spc="-5" dirty="0">
                <a:solidFill>
                  <a:srgbClr val="B85B21"/>
                </a:solidFill>
                <a:latin typeface="Arial Narrow"/>
                <a:cs typeface="Arial Narrow"/>
              </a:rPr>
              <a:t>outcome=-&amp;50	</a:t>
            </a:r>
            <a:r>
              <a:rPr sz="2400" b="1" spc="-5" dirty="0">
                <a:solidFill>
                  <a:srgbClr val="B85B21"/>
                </a:solidFill>
                <a:latin typeface="Arial Narrow"/>
                <a:cs typeface="Arial Narrow"/>
              </a:rPr>
              <a:t>EMV=-$25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1" y="1492758"/>
            <a:ext cx="4860290" cy="864235"/>
          </a:xfrm>
          <a:custGeom>
            <a:avLst/>
            <a:gdLst/>
            <a:ahLst/>
            <a:cxnLst/>
            <a:rect l="l" t="t" r="r" b="b"/>
            <a:pathLst>
              <a:path w="4860290" h="864235">
                <a:moveTo>
                  <a:pt x="0" y="432053"/>
                </a:moveTo>
                <a:lnTo>
                  <a:pt x="10306" y="391992"/>
                </a:lnTo>
                <a:lnTo>
                  <a:pt x="40619" y="352962"/>
                </a:lnTo>
                <a:lnTo>
                  <a:pt x="71496" y="327593"/>
                </a:lnTo>
                <a:lnTo>
                  <a:pt x="110592" y="302802"/>
                </a:lnTo>
                <a:lnTo>
                  <a:pt x="157640" y="278637"/>
                </a:lnTo>
                <a:lnTo>
                  <a:pt x="212370" y="255144"/>
                </a:lnTo>
                <a:lnTo>
                  <a:pt x="274513" y="232372"/>
                </a:lnTo>
                <a:lnTo>
                  <a:pt x="343801" y="210369"/>
                </a:lnTo>
                <a:lnTo>
                  <a:pt x="381041" y="199670"/>
                </a:lnTo>
                <a:lnTo>
                  <a:pt x="419966" y="189182"/>
                </a:lnTo>
                <a:lnTo>
                  <a:pt x="460542" y="178909"/>
                </a:lnTo>
                <a:lnTo>
                  <a:pt x="502737" y="168859"/>
                </a:lnTo>
                <a:lnTo>
                  <a:pt x="546516" y="159036"/>
                </a:lnTo>
                <a:lnTo>
                  <a:pt x="591846" y="149448"/>
                </a:lnTo>
                <a:lnTo>
                  <a:pt x="638693" y="140099"/>
                </a:lnTo>
                <a:lnTo>
                  <a:pt x="687025" y="130996"/>
                </a:lnTo>
                <a:lnTo>
                  <a:pt x="736806" y="122146"/>
                </a:lnTo>
                <a:lnTo>
                  <a:pt x="788004" y="113553"/>
                </a:lnTo>
                <a:lnTo>
                  <a:pt x="840584" y="105223"/>
                </a:lnTo>
                <a:lnTo>
                  <a:pt x="894514" y="97164"/>
                </a:lnTo>
                <a:lnTo>
                  <a:pt x="949760" y="89381"/>
                </a:lnTo>
                <a:lnTo>
                  <a:pt x="1006288" y="81879"/>
                </a:lnTo>
                <a:lnTo>
                  <a:pt x="1064064" y="74665"/>
                </a:lnTo>
                <a:lnTo>
                  <a:pt x="1123055" y="67744"/>
                </a:lnTo>
                <a:lnTo>
                  <a:pt x="1183228" y="61123"/>
                </a:lnTo>
                <a:lnTo>
                  <a:pt x="1244548" y="54808"/>
                </a:lnTo>
                <a:lnTo>
                  <a:pt x="1306982" y="48805"/>
                </a:lnTo>
                <a:lnTo>
                  <a:pt x="1370496" y="43119"/>
                </a:lnTo>
                <a:lnTo>
                  <a:pt x="1435058" y="37756"/>
                </a:lnTo>
                <a:lnTo>
                  <a:pt x="1500633" y="32723"/>
                </a:lnTo>
                <a:lnTo>
                  <a:pt x="1567187" y="28026"/>
                </a:lnTo>
                <a:lnTo>
                  <a:pt x="1634687" y="23670"/>
                </a:lnTo>
                <a:lnTo>
                  <a:pt x="1703100" y="19661"/>
                </a:lnTo>
                <a:lnTo>
                  <a:pt x="1772392" y="16006"/>
                </a:lnTo>
                <a:lnTo>
                  <a:pt x="1842528" y="12710"/>
                </a:lnTo>
                <a:lnTo>
                  <a:pt x="1913477" y="9780"/>
                </a:lnTo>
                <a:lnTo>
                  <a:pt x="1985203" y="7221"/>
                </a:lnTo>
                <a:lnTo>
                  <a:pt x="2057674" y="5039"/>
                </a:lnTo>
                <a:lnTo>
                  <a:pt x="2130855" y="3241"/>
                </a:lnTo>
                <a:lnTo>
                  <a:pt x="2204714" y="1832"/>
                </a:lnTo>
                <a:lnTo>
                  <a:pt x="2279217" y="818"/>
                </a:lnTo>
                <a:lnTo>
                  <a:pt x="2354329" y="205"/>
                </a:lnTo>
                <a:lnTo>
                  <a:pt x="2430018" y="0"/>
                </a:lnTo>
                <a:lnTo>
                  <a:pt x="2505703" y="205"/>
                </a:lnTo>
                <a:lnTo>
                  <a:pt x="2580813" y="818"/>
                </a:lnTo>
                <a:lnTo>
                  <a:pt x="2655313" y="1832"/>
                </a:lnTo>
                <a:lnTo>
                  <a:pt x="2729170" y="3241"/>
                </a:lnTo>
                <a:lnTo>
                  <a:pt x="2802349" y="5039"/>
                </a:lnTo>
                <a:lnTo>
                  <a:pt x="2874818" y="7221"/>
                </a:lnTo>
                <a:lnTo>
                  <a:pt x="2946543" y="9780"/>
                </a:lnTo>
                <a:lnTo>
                  <a:pt x="3017490" y="12710"/>
                </a:lnTo>
                <a:lnTo>
                  <a:pt x="3087626" y="16006"/>
                </a:lnTo>
                <a:lnTo>
                  <a:pt x="3156916" y="19661"/>
                </a:lnTo>
                <a:lnTo>
                  <a:pt x="3225328" y="23670"/>
                </a:lnTo>
                <a:lnTo>
                  <a:pt x="3292828" y="28026"/>
                </a:lnTo>
                <a:lnTo>
                  <a:pt x="3359381" y="32723"/>
                </a:lnTo>
                <a:lnTo>
                  <a:pt x="3424955" y="37756"/>
                </a:lnTo>
                <a:lnTo>
                  <a:pt x="3489516" y="43119"/>
                </a:lnTo>
                <a:lnTo>
                  <a:pt x="3553031" y="48805"/>
                </a:lnTo>
                <a:lnTo>
                  <a:pt x="3615465" y="54808"/>
                </a:lnTo>
                <a:lnTo>
                  <a:pt x="3676785" y="61123"/>
                </a:lnTo>
                <a:lnTo>
                  <a:pt x="3736957" y="67744"/>
                </a:lnTo>
                <a:lnTo>
                  <a:pt x="3795949" y="74665"/>
                </a:lnTo>
                <a:lnTo>
                  <a:pt x="3853725" y="81879"/>
                </a:lnTo>
                <a:lnTo>
                  <a:pt x="3910253" y="89381"/>
                </a:lnTo>
                <a:lnTo>
                  <a:pt x="3965499" y="97164"/>
                </a:lnTo>
                <a:lnTo>
                  <a:pt x="4019430" y="105223"/>
                </a:lnTo>
                <a:lnTo>
                  <a:pt x="4072011" y="113553"/>
                </a:lnTo>
                <a:lnTo>
                  <a:pt x="4123210" y="122146"/>
                </a:lnTo>
                <a:lnTo>
                  <a:pt x="4172992" y="130996"/>
                </a:lnTo>
                <a:lnTo>
                  <a:pt x="4221324" y="140099"/>
                </a:lnTo>
                <a:lnTo>
                  <a:pt x="4268172" y="149448"/>
                </a:lnTo>
                <a:lnTo>
                  <a:pt x="4313503" y="159036"/>
                </a:lnTo>
                <a:lnTo>
                  <a:pt x="4357283" y="168859"/>
                </a:lnTo>
                <a:lnTo>
                  <a:pt x="4399478" y="178909"/>
                </a:lnTo>
                <a:lnTo>
                  <a:pt x="4440056" y="189182"/>
                </a:lnTo>
                <a:lnTo>
                  <a:pt x="4478982" y="199670"/>
                </a:lnTo>
                <a:lnTo>
                  <a:pt x="4516222" y="210369"/>
                </a:lnTo>
                <a:lnTo>
                  <a:pt x="4585512" y="232372"/>
                </a:lnTo>
                <a:lnTo>
                  <a:pt x="4647658" y="255144"/>
                </a:lnTo>
                <a:lnTo>
                  <a:pt x="4702389" y="278637"/>
                </a:lnTo>
                <a:lnTo>
                  <a:pt x="4749439" y="302802"/>
                </a:lnTo>
                <a:lnTo>
                  <a:pt x="4788536" y="327593"/>
                </a:lnTo>
                <a:lnTo>
                  <a:pt x="4819414" y="352962"/>
                </a:lnTo>
                <a:lnTo>
                  <a:pt x="4849729" y="391992"/>
                </a:lnTo>
                <a:lnTo>
                  <a:pt x="4860036" y="432053"/>
                </a:lnTo>
                <a:lnTo>
                  <a:pt x="4858879" y="445512"/>
                </a:lnTo>
                <a:lnTo>
                  <a:pt x="4841802" y="485247"/>
                </a:lnTo>
                <a:lnTo>
                  <a:pt x="4805020" y="523899"/>
                </a:lnTo>
                <a:lnTo>
                  <a:pt x="4769998" y="548984"/>
                </a:lnTo>
                <a:lnTo>
                  <a:pt x="4726891" y="573469"/>
                </a:lnTo>
                <a:lnTo>
                  <a:pt x="4675967" y="597304"/>
                </a:lnTo>
                <a:lnTo>
                  <a:pt x="4617495" y="620442"/>
                </a:lnTo>
                <a:lnTo>
                  <a:pt x="4551743" y="642836"/>
                </a:lnTo>
                <a:lnTo>
                  <a:pt x="4478982" y="664437"/>
                </a:lnTo>
                <a:lnTo>
                  <a:pt x="4440056" y="674925"/>
                </a:lnTo>
                <a:lnTo>
                  <a:pt x="4399478" y="685198"/>
                </a:lnTo>
                <a:lnTo>
                  <a:pt x="4357283" y="695248"/>
                </a:lnTo>
                <a:lnTo>
                  <a:pt x="4313503" y="705071"/>
                </a:lnTo>
                <a:lnTo>
                  <a:pt x="4268172" y="714659"/>
                </a:lnTo>
                <a:lnTo>
                  <a:pt x="4221324" y="724008"/>
                </a:lnTo>
                <a:lnTo>
                  <a:pt x="4172992" y="733111"/>
                </a:lnTo>
                <a:lnTo>
                  <a:pt x="4123210" y="741961"/>
                </a:lnTo>
                <a:lnTo>
                  <a:pt x="4072011" y="750554"/>
                </a:lnTo>
                <a:lnTo>
                  <a:pt x="4019430" y="758884"/>
                </a:lnTo>
                <a:lnTo>
                  <a:pt x="3965499" y="766943"/>
                </a:lnTo>
                <a:lnTo>
                  <a:pt x="3910253" y="774726"/>
                </a:lnTo>
                <a:lnTo>
                  <a:pt x="3853725" y="782228"/>
                </a:lnTo>
                <a:lnTo>
                  <a:pt x="3795949" y="789442"/>
                </a:lnTo>
                <a:lnTo>
                  <a:pt x="3736957" y="796363"/>
                </a:lnTo>
                <a:lnTo>
                  <a:pt x="3676785" y="802984"/>
                </a:lnTo>
                <a:lnTo>
                  <a:pt x="3615465" y="809299"/>
                </a:lnTo>
                <a:lnTo>
                  <a:pt x="3553031" y="815302"/>
                </a:lnTo>
                <a:lnTo>
                  <a:pt x="3489516" y="820988"/>
                </a:lnTo>
                <a:lnTo>
                  <a:pt x="3424955" y="826351"/>
                </a:lnTo>
                <a:lnTo>
                  <a:pt x="3359381" y="831384"/>
                </a:lnTo>
                <a:lnTo>
                  <a:pt x="3292828" y="836081"/>
                </a:lnTo>
                <a:lnTo>
                  <a:pt x="3225328" y="840437"/>
                </a:lnTo>
                <a:lnTo>
                  <a:pt x="3156916" y="844446"/>
                </a:lnTo>
                <a:lnTo>
                  <a:pt x="3087626" y="848101"/>
                </a:lnTo>
                <a:lnTo>
                  <a:pt x="3017490" y="851397"/>
                </a:lnTo>
                <a:lnTo>
                  <a:pt x="2946543" y="854327"/>
                </a:lnTo>
                <a:lnTo>
                  <a:pt x="2874818" y="856886"/>
                </a:lnTo>
                <a:lnTo>
                  <a:pt x="2802349" y="859068"/>
                </a:lnTo>
                <a:lnTo>
                  <a:pt x="2729170" y="860866"/>
                </a:lnTo>
                <a:lnTo>
                  <a:pt x="2655313" y="862275"/>
                </a:lnTo>
                <a:lnTo>
                  <a:pt x="2580813" y="863289"/>
                </a:lnTo>
                <a:lnTo>
                  <a:pt x="2505703" y="863902"/>
                </a:lnTo>
                <a:lnTo>
                  <a:pt x="2430018" y="864107"/>
                </a:lnTo>
                <a:lnTo>
                  <a:pt x="2354329" y="863902"/>
                </a:lnTo>
                <a:lnTo>
                  <a:pt x="2279217" y="863289"/>
                </a:lnTo>
                <a:lnTo>
                  <a:pt x="2204714" y="862275"/>
                </a:lnTo>
                <a:lnTo>
                  <a:pt x="2130855" y="860866"/>
                </a:lnTo>
                <a:lnTo>
                  <a:pt x="2057674" y="859068"/>
                </a:lnTo>
                <a:lnTo>
                  <a:pt x="1985203" y="856886"/>
                </a:lnTo>
                <a:lnTo>
                  <a:pt x="1913477" y="854327"/>
                </a:lnTo>
                <a:lnTo>
                  <a:pt x="1842528" y="851397"/>
                </a:lnTo>
                <a:lnTo>
                  <a:pt x="1772392" y="848101"/>
                </a:lnTo>
                <a:lnTo>
                  <a:pt x="1703100" y="844446"/>
                </a:lnTo>
                <a:lnTo>
                  <a:pt x="1634687" y="840437"/>
                </a:lnTo>
                <a:lnTo>
                  <a:pt x="1567187" y="836081"/>
                </a:lnTo>
                <a:lnTo>
                  <a:pt x="1500633" y="831384"/>
                </a:lnTo>
                <a:lnTo>
                  <a:pt x="1435058" y="826351"/>
                </a:lnTo>
                <a:lnTo>
                  <a:pt x="1370496" y="820988"/>
                </a:lnTo>
                <a:lnTo>
                  <a:pt x="1306982" y="815302"/>
                </a:lnTo>
                <a:lnTo>
                  <a:pt x="1244548" y="809299"/>
                </a:lnTo>
                <a:lnTo>
                  <a:pt x="1183228" y="802984"/>
                </a:lnTo>
                <a:lnTo>
                  <a:pt x="1123055" y="796363"/>
                </a:lnTo>
                <a:lnTo>
                  <a:pt x="1064064" y="789442"/>
                </a:lnTo>
                <a:lnTo>
                  <a:pt x="1006288" y="782228"/>
                </a:lnTo>
                <a:lnTo>
                  <a:pt x="949760" y="774726"/>
                </a:lnTo>
                <a:lnTo>
                  <a:pt x="894514" y="766943"/>
                </a:lnTo>
                <a:lnTo>
                  <a:pt x="840584" y="758884"/>
                </a:lnTo>
                <a:lnTo>
                  <a:pt x="788004" y="750554"/>
                </a:lnTo>
                <a:lnTo>
                  <a:pt x="736806" y="741961"/>
                </a:lnTo>
                <a:lnTo>
                  <a:pt x="687025" y="733111"/>
                </a:lnTo>
                <a:lnTo>
                  <a:pt x="638693" y="724008"/>
                </a:lnTo>
                <a:lnTo>
                  <a:pt x="591846" y="714659"/>
                </a:lnTo>
                <a:lnTo>
                  <a:pt x="546516" y="705071"/>
                </a:lnTo>
                <a:lnTo>
                  <a:pt x="502737" y="695248"/>
                </a:lnTo>
                <a:lnTo>
                  <a:pt x="460542" y="685198"/>
                </a:lnTo>
                <a:lnTo>
                  <a:pt x="419966" y="674925"/>
                </a:lnTo>
                <a:lnTo>
                  <a:pt x="381041" y="664437"/>
                </a:lnTo>
                <a:lnTo>
                  <a:pt x="343801" y="653738"/>
                </a:lnTo>
                <a:lnTo>
                  <a:pt x="274513" y="631735"/>
                </a:lnTo>
                <a:lnTo>
                  <a:pt x="212370" y="608963"/>
                </a:lnTo>
                <a:lnTo>
                  <a:pt x="157640" y="585470"/>
                </a:lnTo>
                <a:lnTo>
                  <a:pt x="110592" y="561305"/>
                </a:lnTo>
                <a:lnTo>
                  <a:pt x="71496" y="536514"/>
                </a:lnTo>
                <a:lnTo>
                  <a:pt x="40619" y="511145"/>
                </a:lnTo>
                <a:lnTo>
                  <a:pt x="10306" y="472115"/>
                </a:lnTo>
                <a:lnTo>
                  <a:pt x="0" y="432053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167" y="128981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风险评估结果实例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32</a:t>
            </a:r>
            <a:endParaRPr sz="700">
              <a:latin typeface="Arial Narrow"/>
              <a:cs typeface="Arial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2984" y="1260347"/>
          <a:ext cx="8746490" cy="36544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798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排序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输入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风险事件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可能性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影响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风险值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采取的措施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410"/>
                        </a:lnSpc>
                        <a:spcBef>
                          <a:spcPts val="390"/>
                        </a:spcBef>
                      </a:pPr>
                      <a:r>
                        <a:rPr sz="1200" spc="190" dirty="0">
                          <a:latin typeface="宋体"/>
                          <a:cs typeface="宋体"/>
                        </a:rPr>
                        <a:t>系统</a:t>
                      </a:r>
                      <a:r>
                        <a:rPr sz="1200" spc="200" dirty="0">
                          <a:latin typeface="宋体"/>
                          <a:cs typeface="宋体"/>
                        </a:rPr>
                        <a:t>设</a:t>
                      </a:r>
                      <a:r>
                        <a:rPr sz="1200" spc="190" dirty="0">
                          <a:latin typeface="宋体"/>
                          <a:cs typeface="宋体"/>
                        </a:rPr>
                        <a:t>计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评</a:t>
                      </a:r>
                      <a:endParaRPr sz="1200">
                        <a:latin typeface="宋体"/>
                        <a:cs typeface="宋体"/>
                      </a:endParaRPr>
                    </a:p>
                    <a:p>
                      <a:pPr marL="208279">
                        <a:lnSpc>
                          <a:spcPts val="1410"/>
                        </a:lnSpc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审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410"/>
                        </a:lnSpc>
                        <a:spcBef>
                          <a:spcPts val="390"/>
                        </a:spcBef>
                      </a:pPr>
                      <a:r>
                        <a:rPr sz="1200" spc="140" dirty="0">
                          <a:latin typeface="宋体"/>
                          <a:cs typeface="宋体"/>
                        </a:rPr>
                        <a:t>没有足够的时间</a:t>
                      </a:r>
                      <a:endParaRPr sz="1200">
                        <a:latin typeface="宋体"/>
                        <a:cs typeface="宋体"/>
                      </a:endParaRPr>
                    </a:p>
                    <a:p>
                      <a:pPr marL="208279">
                        <a:lnSpc>
                          <a:spcPts val="1410"/>
                        </a:lnSpc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进行产品测试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70%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59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WBS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 marR="181610" algn="just">
                        <a:lnSpc>
                          <a:spcPct val="97900"/>
                        </a:lnSpc>
                        <a:spcBef>
                          <a:spcPts val="420"/>
                        </a:spcBef>
                      </a:pPr>
                      <a:r>
                        <a:rPr sz="1200" spc="140" dirty="0">
                          <a:latin typeface="宋体"/>
                          <a:cs typeface="宋体"/>
                        </a:rPr>
                        <a:t>对需求的开发式 系统标准没有合 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适的测试案例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16%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5192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需求和计划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254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 marR="181610" algn="just">
                        <a:lnSpc>
                          <a:spcPct val="97900"/>
                        </a:lnSpc>
                        <a:spcBef>
                          <a:spcPts val="425"/>
                        </a:spcBef>
                      </a:pPr>
                      <a:r>
                        <a:rPr sz="1200" spc="140" dirty="0">
                          <a:latin typeface="宋体"/>
                          <a:cs typeface="宋体"/>
                        </a:rPr>
                        <a:t>采用新技术可可 能导致进度的延 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期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3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95" dirty="0">
                          <a:latin typeface="宋体"/>
                          <a:cs typeface="宋体"/>
                        </a:rPr>
                        <a:t>。。。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2544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7081"/>
            <a:ext cx="5059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风险规划的主要策略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8142" y="467390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630" y="1564386"/>
            <a:ext cx="8153400" cy="1874520"/>
          </a:xfrm>
          <a:custGeom>
            <a:avLst/>
            <a:gdLst/>
            <a:ahLst/>
            <a:cxnLst/>
            <a:rect l="l" t="t" r="r" b="b"/>
            <a:pathLst>
              <a:path w="8153400" h="1874520">
                <a:moveTo>
                  <a:pt x="0" y="1874520"/>
                </a:moveTo>
                <a:lnTo>
                  <a:pt x="8153400" y="1874520"/>
                </a:lnTo>
                <a:lnTo>
                  <a:pt x="8153400" y="0"/>
                </a:lnTo>
                <a:lnTo>
                  <a:pt x="0" y="0"/>
                </a:lnTo>
                <a:lnTo>
                  <a:pt x="0" y="187452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917" y="1483326"/>
            <a:ext cx="1917700" cy="18637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32765" indent="-532765">
              <a:lnSpc>
                <a:spcPct val="100000"/>
              </a:lnSpc>
              <a:spcBef>
                <a:spcPts val="480"/>
              </a:spcBef>
              <a:buClr>
                <a:srgbClr val="DD8046"/>
              </a:buClr>
              <a:buSzPct val="59259"/>
              <a:buAutoNum type="arabicPeriod"/>
              <a:tabLst>
                <a:tab pos="532765" algn="l"/>
                <a:tab pos="533400" algn="l"/>
              </a:tabLst>
            </a:pPr>
            <a:r>
              <a:rPr sz="2700" dirty="0">
                <a:solidFill>
                  <a:srgbClr val="B85B21"/>
                </a:solidFill>
                <a:latin typeface="华文新魏"/>
                <a:cs typeface="华文新魏"/>
              </a:rPr>
              <a:t>回避风险</a:t>
            </a:r>
            <a:endParaRPr sz="27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385"/>
              </a:spcBef>
              <a:buClr>
                <a:srgbClr val="DD8046"/>
              </a:buClr>
              <a:buSzPct val="59259"/>
              <a:buAutoNum type="arabicPeriod"/>
              <a:tabLst>
                <a:tab pos="532765" algn="l"/>
                <a:tab pos="533400" algn="l"/>
              </a:tabLst>
            </a:pPr>
            <a:r>
              <a:rPr sz="2700" spc="-5" dirty="0">
                <a:solidFill>
                  <a:srgbClr val="B85B21"/>
                </a:solidFill>
                <a:latin typeface="华文新魏"/>
                <a:cs typeface="华文新魏"/>
              </a:rPr>
              <a:t>转移风险</a:t>
            </a:r>
            <a:endParaRPr sz="27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AutoNum type="arabicPeriod"/>
              <a:tabLst>
                <a:tab pos="532765" algn="l"/>
                <a:tab pos="533400" algn="l"/>
              </a:tabLst>
            </a:pPr>
            <a:r>
              <a:rPr sz="2700" dirty="0">
                <a:solidFill>
                  <a:srgbClr val="B85B21"/>
                </a:solidFill>
                <a:latin typeface="华文新魏"/>
                <a:cs typeface="华文新魏"/>
              </a:rPr>
              <a:t>损失控制</a:t>
            </a:r>
            <a:endParaRPr sz="27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AutoNum type="arabicPeriod"/>
              <a:tabLst>
                <a:tab pos="532765" algn="l"/>
                <a:tab pos="533400" algn="l"/>
              </a:tabLst>
            </a:pPr>
            <a:r>
              <a:rPr sz="2700" dirty="0">
                <a:solidFill>
                  <a:srgbClr val="B85B21"/>
                </a:solidFill>
                <a:latin typeface="华文新魏"/>
                <a:cs typeface="华文新魏"/>
              </a:rPr>
              <a:t>自留风险</a:t>
            </a:r>
            <a:endParaRPr sz="27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96138"/>
            <a:ext cx="24212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回避风险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11295" y="4602581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222" y="1419605"/>
            <a:ext cx="8425180" cy="2016760"/>
          </a:xfrm>
          <a:custGeom>
            <a:avLst/>
            <a:gdLst/>
            <a:ahLst/>
            <a:cxnLst/>
            <a:rect l="l" t="t" r="r" b="b"/>
            <a:pathLst>
              <a:path w="8425180" h="2016760">
                <a:moveTo>
                  <a:pt x="0" y="2016252"/>
                </a:moveTo>
                <a:lnTo>
                  <a:pt x="8424672" y="2016252"/>
                </a:lnTo>
                <a:lnTo>
                  <a:pt x="8424672" y="0"/>
                </a:lnTo>
                <a:lnTo>
                  <a:pt x="0" y="0"/>
                </a:lnTo>
                <a:lnTo>
                  <a:pt x="0" y="201625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9590" y="1423796"/>
            <a:ext cx="8091170" cy="1440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回避风险是对可能发生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风险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尽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可能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规避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，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采 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取主动放弃或者拒绝使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用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导致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风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险的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方</a:t>
            </a:r>
            <a:r>
              <a:rPr sz="2900" spc="5" dirty="0">
                <a:solidFill>
                  <a:srgbClr val="B85B21"/>
                </a:solidFill>
                <a:latin typeface="华文新魏"/>
                <a:cs typeface="华文新魏"/>
              </a:rPr>
              <a:t>案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例如放弃采用新技术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96138"/>
            <a:ext cx="24199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转移风险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067" y="453034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351864"/>
            <a:ext cx="7764780" cy="91884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40"/>
              </a:spcBef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转移风险是为了避免承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担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风险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损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失，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有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意识</a:t>
            </a:r>
            <a:r>
              <a:rPr sz="2900" spc="-10" dirty="0">
                <a:solidFill>
                  <a:srgbClr val="B85B21"/>
                </a:solidFill>
                <a:latin typeface="华文新魏"/>
                <a:cs typeface="华文新魏"/>
              </a:rPr>
              <a:t>将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损 失或与损失有关的财务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后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果转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嫁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出去</a:t>
            </a:r>
            <a:r>
              <a:rPr sz="2900" spc="-15" dirty="0">
                <a:solidFill>
                  <a:srgbClr val="B85B21"/>
                </a:solidFill>
                <a:latin typeface="华文新魏"/>
                <a:cs typeface="华文新魏"/>
              </a:rPr>
              <a:t>的</a:t>
            </a: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方法。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869" y="2455926"/>
            <a:ext cx="8153400" cy="1943100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3300"/>
              </a:lnSpc>
            </a:pPr>
            <a:r>
              <a:rPr sz="2900" dirty="0">
                <a:solidFill>
                  <a:srgbClr val="B85B21"/>
                </a:solidFill>
                <a:latin typeface="华文新魏"/>
                <a:cs typeface="华文新魏"/>
              </a:rPr>
              <a:t>例如</a:t>
            </a:r>
            <a:endParaRPr sz="2900">
              <a:latin typeface="华文新魏"/>
              <a:cs typeface="华文新魏"/>
            </a:endParaRPr>
          </a:p>
          <a:p>
            <a:pPr marL="730250" indent="-27495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885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分包</a:t>
            </a:r>
            <a:endParaRPr sz="2600">
              <a:latin typeface="华文新魏"/>
              <a:cs typeface="华文新魏"/>
            </a:endParaRPr>
          </a:p>
          <a:p>
            <a:pPr marL="730250" indent="-274955">
              <a:lnSpc>
                <a:spcPct val="100000"/>
              </a:lnSpc>
              <a:spcBef>
                <a:spcPts val="29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885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开脱责任合同</a:t>
            </a:r>
            <a:endParaRPr sz="2600">
              <a:latin typeface="华文新魏"/>
              <a:cs typeface="华文新魏"/>
            </a:endParaRPr>
          </a:p>
          <a:p>
            <a:pPr marL="730250" indent="-274955">
              <a:lnSpc>
                <a:spcPct val="100000"/>
              </a:lnSpc>
              <a:spcBef>
                <a:spcPts val="290"/>
              </a:spcBef>
              <a:buClr>
                <a:srgbClr val="93B6D2"/>
              </a:buClr>
              <a:buSzPct val="69230"/>
              <a:buFont typeface="Wingdings"/>
              <a:buChar char=""/>
              <a:tabLst>
                <a:tab pos="730885" algn="l"/>
              </a:tabLst>
            </a:pPr>
            <a:r>
              <a:rPr sz="2600" dirty="0">
                <a:solidFill>
                  <a:srgbClr val="B85B21"/>
                </a:solidFill>
                <a:latin typeface="华文新魏"/>
                <a:cs typeface="华文新魏"/>
              </a:rPr>
              <a:t>保险</a:t>
            </a:r>
            <a:endParaRPr sz="2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7081"/>
            <a:ext cx="24199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损失控制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7116" y="4700117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6355" y="1293875"/>
            <a:ext cx="6541134" cy="1422400"/>
          </a:xfrm>
          <a:custGeom>
            <a:avLst/>
            <a:gdLst/>
            <a:ahLst/>
            <a:cxnLst/>
            <a:rect l="l" t="t" r="r" b="b"/>
            <a:pathLst>
              <a:path w="6541134" h="1422400">
                <a:moveTo>
                  <a:pt x="6360033" y="0"/>
                </a:moveTo>
                <a:lnTo>
                  <a:pt x="180975" y="0"/>
                </a:ln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0" y="1240917"/>
                </a:lnTo>
                <a:lnTo>
                  <a:pt x="6464" y="1289027"/>
                </a:lnTo>
                <a:lnTo>
                  <a:pt x="24708" y="1332258"/>
                </a:lnTo>
                <a:lnTo>
                  <a:pt x="53006" y="1368885"/>
                </a:lnTo>
                <a:lnTo>
                  <a:pt x="89633" y="1397183"/>
                </a:lnTo>
                <a:lnTo>
                  <a:pt x="132864" y="1415427"/>
                </a:lnTo>
                <a:lnTo>
                  <a:pt x="180975" y="1421892"/>
                </a:lnTo>
                <a:lnTo>
                  <a:pt x="6360033" y="1421892"/>
                </a:lnTo>
                <a:lnTo>
                  <a:pt x="6408143" y="1415427"/>
                </a:lnTo>
                <a:lnTo>
                  <a:pt x="6451374" y="1397183"/>
                </a:lnTo>
                <a:lnTo>
                  <a:pt x="6488001" y="1368885"/>
                </a:lnTo>
                <a:lnTo>
                  <a:pt x="6516299" y="1332258"/>
                </a:lnTo>
                <a:lnTo>
                  <a:pt x="6534543" y="1289027"/>
                </a:lnTo>
                <a:lnTo>
                  <a:pt x="6541008" y="1240917"/>
                </a:lnTo>
                <a:lnTo>
                  <a:pt x="6541008" y="180975"/>
                </a:lnTo>
                <a:lnTo>
                  <a:pt x="6534543" y="132864"/>
                </a:lnTo>
                <a:lnTo>
                  <a:pt x="6516299" y="89633"/>
                </a:lnTo>
                <a:lnTo>
                  <a:pt x="6488001" y="53006"/>
                </a:lnTo>
                <a:lnTo>
                  <a:pt x="6451374" y="24708"/>
                </a:lnTo>
                <a:lnTo>
                  <a:pt x="6408143" y="6464"/>
                </a:lnTo>
                <a:lnTo>
                  <a:pt x="6360033" y="0"/>
                </a:lnTo>
                <a:close/>
              </a:path>
            </a:pathLst>
          </a:custGeom>
          <a:solidFill>
            <a:srgbClr val="CFD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86810" y="1647570"/>
            <a:ext cx="490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例如：项目技术培训，预防技术失败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7289" y="12946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5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5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5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2" y="672845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5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7289" y="12946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5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5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2" y="672845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5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5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5869" y="1349502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86"/>
                </a:lnTo>
                <a:lnTo>
                  <a:pt x="1533730" y="701827"/>
                </a:lnTo>
                <a:lnTo>
                  <a:pt x="1525111" y="742511"/>
                </a:lnTo>
                <a:lnTo>
                  <a:pt x="1513243" y="782247"/>
                </a:lnTo>
                <a:lnTo>
                  <a:pt x="1498241" y="820943"/>
                </a:lnTo>
                <a:lnTo>
                  <a:pt x="1480220" y="858506"/>
                </a:lnTo>
                <a:lnTo>
                  <a:pt x="1459295" y="894844"/>
                </a:lnTo>
                <a:lnTo>
                  <a:pt x="1435579" y="929865"/>
                </a:lnTo>
                <a:lnTo>
                  <a:pt x="1409189" y="963478"/>
                </a:lnTo>
                <a:lnTo>
                  <a:pt x="1380239" y="995589"/>
                </a:lnTo>
                <a:lnTo>
                  <a:pt x="1348843" y="1026108"/>
                </a:lnTo>
                <a:lnTo>
                  <a:pt x="1315116" y="1054941"/>
                </a:lnTo>
                <a:lnTo>
                  <a:pt x="1279174" y="1081997"/>
                </a:lnTo>
                <a:lnTo>
                  <a:pt x="1241130" y="1107183"/>
                </a:lnTo>
                <a:lnTo>
                  <a:pt x="1201101" y="1130408"/>
                </a:lnTo>
                <a:lnTo>
                  <a:pt x="1159199" y="1151579"/>
                </a:lnTo>
                <a:lnTo>
                  <a:pt x="1115541" y="1170604"/>
                </a:lnTo>
                <a:lnTo>
                  <a:pt x="1070240" y="1187392"/>
                </a:lnTo>
                <a:lnTo>
                  <a:pt x="1023413" y="1201849"/>
                </a:lnTo>
                <a:lnTo>
                  <a:pt x="975173" y="1213885"/>
                </a:lnTo>
                <a:lnTo>
                  <a:pt x="925635" y="1223406"/>
                </a:lnTo>
                <a:lnTo>
                  <a:pt x="874914" y="1230321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1"/>
                </a:lnTo>
                <a:lnTo>
                  <a:pt x="615128" y="1223406"/>
                </a:lnTo>
                <a:lnTo>
                  <a:pt x="565590" y="1213885"/>
                </a:lnTo>
                <a:lnTo>
                  <a:pt x="517350" y="1201849"/>
                </a:lnTo>
                <a:lnTo>
                  <a:pt x="470523" y="1187392"/>
                </a:lnTo>
                <a:lnTo>
                  <a:pt x="425222" y="1170604"/>
                </a:lnTo>
                <a:lnTo>
                  <a:pt x="381564" y="1151579"/>
                </a:lnTo>
                <a:lnTo>
                  <a:pt x="339662" y="1130408"/>
                </a:lnTo>
                <a:lnTo>
                  <a:pt x="299633" y="1107183"/>
                </a:lnTo>
                <a:lnTo>
                  <a:pt x="261589" y="1081997"/>
                </a:lnTo>
                <a:lnTo>
                  <a:pt x="225647" y="1054941"/>
                </a:lnTo>
                <a:lnTo>
                  <a:pt x="191920" y="1026108"/>
                </a:lnTo>
                <a:lnTo>
                  <a:pt x="160524" y="995589"/>
                </a:lnTo>
                <a:lnTo>
                  <a:pt x="131574" y="963478"/>
                </a:lnTo>
                <a:lnTo>
                  <a:pt x="105184" y="929865"/>
                </a:lnTo>
                <a:lnTo>
                  <a:pt x="81468" y="894844"/>
                </a:lnTo>
                <a:lnTo>
                  <a:pt x="60543" y="858506"/>
                </a:lnTo>
                <a:lnTo>
                  <a:pt x="42522" y="820943"/>
                </a:lnTo>
                <a:lnTo>
                  <a:pt x="27520" y="782247"/>
                </a:lnTo>
                <a:lnTo>
                  <a:pt x="15652" y="742511"/>
                </a:lnTo>
                <a:lnTo>
                  <a:pt x="7033" y="701827"/>
                </a:lnTo>
                <a:lnTo>
                  <a:pt x="1777" y="660286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15974" y="1408938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39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32"/>
                </a:lnTo>
                <a:lnTo>
                  <a:pt x="1394480" y="645470"/>
                </a:lnTo>
                <a:lnTo>
                  <a:pt x="1385183" y="685660"/>
                </a:lnTo>
                <a:lnTo>
                  <a:pt x="1372402" y="724794"/>
                </a:lnTo>
                <a:lnTo>
                  <a:pt x="1356273" y="762762"/>
                </a:lnTo>
                <a:lnTo>
                  <a:pt x="1336931" y="799457"/>
                </a:lnTo>
                <a:lnTo>
                  <a:pt x="1314512" y="834770"/>
                </a:lnTo>
                <a:lnTo>
                  <a:pt x="1289150" y="868591"/>
                </a:lnTo>
                <a:lnTo>
                  <a:pt x="1260982" y="900813"/>
                </a:lnTo>
                <a:lnTo>
                  <a:pt x="1230143" y="931327"/>
                </a:lnTo>
                <a:lnTo>
                  <a:pt x="1196768" y="960024"/>
                </a:lnTo>
                <a:lnTo>
                  <a:pt x="1160993" y="986796"/>
                </a:lnTo>
                <a:lnTo>
                  <a:pt x="1122954" y="1011533"/>
                </a:lnTo>
                <a:lnTo>
                  <a:pt x="1082785" y="1034128"/>
                </a:lnTo>
                <a:lnTo>
                  <a:pt x="1040622" y="1054471"/>
                </a:lnTo>
                <a:lnTo>
                  <a:pt x="996602" y="1072455"/>
                </a:lnTo>
                <a:lnTo>
                  <a:pt x="950858" y="1087969"/>
                </a:lnTo>
                <a:lnTo>
                  <a:pt x="903527" y="1100907"/>
                </a:lnTo>
                <a:lnTo>
                  <a:pt x="854744" y="1111158"/>
                </a:lnTo>
                <a:lnTo>
                  <a:pt x="804645" y="1118615"/>
                </a:lnTo>
                <a:lnTo>
                  <a:pt x="753365" y="1123169"/>
                </a:lnTo>
                <a:lnTo>
                  <a:pt x="701039" y="1124712"/>
                </a:lnTo>
                <a:lnTo>
                  <a:pt x="648714" y="1123169"/>
                </a:lnTo>
                <a:lnTo>
                  <a:pt x="597434" y="1118615"/>
                </a:lnTo>
                <a:lnTo>
                  <a:pt x="547335" y="1111158"/>
                </a:lnTo>
                <a:lnTo>
                  <a:pt x="498552" y="1100907"/>
                </a:lnTo>
                <a:lnTo>
                  <a:pt x="451221" y="1087969"/>
                </a:lnTo>
                <a:lnTo>
                  <a:pt x="405477" y="1072455"/>
                </a:lnTo>
                <a:lnTo>
                  <a:pt x="361457" y="1054471"/>
                </a:lnTo>
                <a:lnTo>
                  <a:pt x="319294" y="1034128"/>
                </a:lnTo>
                <a:lnTo>
                  <a:pt x="279125" y="1011533"/>
                </a:lnTo>
                <a:lnTo>
                  <a:pt x="241086" y="986796"/>
                </a:lnTo>
                <a:lnTo>
                  <a:pt x="205311" y="960024"/>
                </a:lnTo>
                <a:lnTo>
                  <a:pt x="171936" y="931327"/>
                </a:lnTo>
                <a:lnTo>
                  <a:pt x="141097" y="900813"/>
                </a:lnTo>
                <a:lnTo>
                  <a:pt x="112929" y="868591"/>
                </a:lnTo>
                <a:lnTo>
                  <a:pt x="87567" y="834770"/>
                </a:lnTo>
                <a:lnTo>
                  <a:pt x="65148" y="799457"/>
                </a:lnTo>
                <a:lnTo>
                  <a:pt x="45806" y="762762"/>
                </a:lnTo>
                <a:lnTo>
                  <a:pt x="29677" y="724794"/>
                </a:lnTo>
                <a:lnTo>
                  <a:pt x="16896" y="685660"/>
                </a:lnTo>
                <a:lnTo>
                  <a:pt x="7599" y="645470"/>
                </a:lnTo>
                <a:lnTo>
                  <a:pt x="1922" y="604332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08252" y="1808734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华文中宋"/>
                <a:cs typeface="华文中宋"/>
              </a:rPr>
              <a:t>损失预防</a:t>
            </a:r>
            <a:endParaRPr sz="2000">
              <a:latin typeface="华文中宋"/>
              <a:cs typeface="华文中宋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86355" y="2932176"/>
            <a:ext cx="6541134" cy="1481455"/>
          </a:xfrm>
          <a:custGeom>
            <a:avLst/>
            <a:gdLst/>
            <a:ahLst/>
            <a:cxnLst/>
            <a:rect l="l" t="t" r="r" b="b"/>
            <a:pathLst>
              <a:path w="6541134" h="1481454">
                <a:moveTo>
                  <a:pt x="6352540" y="0"/>
                </a:moveTo>
                <a:lnTo>
                  <a:pt x="188468" y="0"/>
                </a:lnTo>
                <a:lnTo>
                  <a:pt x="138391" y="6737"/>
                </a:lnTo>
                <a:lnTo>
                  <a:pt x="93377" y="25748"/>
                </a:lnTo>
                <a:lnTo>
                  <a:pt x="55229" y="55229"/>
                </a:lnTo>
                <a:lnTo>
                  <a:pt x="25748" y="93377"/>
                </a:lnTo>
                <a:lnTo>
                  <a:pt x="6737" y="138391"/>
                </a:lnTo>
                <a:lnTo>
                  <a:pt x="0" y="188468"/>
                </a:lnTo>
                <a:lnTo>
                  <a:pt x="0" y="1292796"/>
                </a:lnTo>
                <a:lnTo>
                  <a:pt x="6737" y="1342917"/>
                </a:lnTo>
                <a:lnTo>
                  <a:pt x="25748" y="1387953"/>
                </a:lnTo>
                <a:lnTo>
                  <a:pt x="55229" y="1426109"/>
                </a:lnTo>
                <a:lnTo>
                  <a:pt x="93377" y="1455588"/>
                </a:lnTo>
                <a:lnTo>
                  <a:pt x="138391" y="1474593"/>
                </a:lnTo>
                <a:lnTo>
                  <a:pt x="188468" y="1481328"/>
                </a:lnTo>
                <a:lnTo>
                  <a:pt x="6352540" y="1481328"/>
                </a:lnTo>
                <a:lnTo>
                  <a:pt x="6402616" y="1474593"/>
                </a:lnTo>
                <a:lnTo>
                  <a:pt x="6447630" y="1455588"/>
                </a:lnTo>
                <a:lnTo>
                  <a:pt x="6485778" y="1426109"/>
                </a:lnTo>
                <a:lnTo>
                  <a:pt x="6515259" y="1387953"/>
                </a:lnTo>
                <a:lnTo>
                  <a:pt x="6534270" y="1342917"/>
                </a:lnTo>
                <a:lnTo>
                  <a:pt x="6541008" y="1292796"/>
                </a:lnTo>
                <a:lnTo>
                  <a:pt x="6541008" y="188468"/>
                </a:lnTo>
                <a:lnTo>
                  <a:pt x="6534270" y="138391"/>
                </a:lnTo>
                <a:lnTo>
                  <a:pt x="6515259" y="93377"/>
                </a:lnTo>
                <a:lnTo>
                  <a:pt x="6485778" y="55229"/>
                </a:lnTo>
                <a:lnTo>
                  <a:pt x="6447630" y="25748"/>
                </a:lnTo>
                <a:lnTo>
                  <a:pt x="6402616" y="6737"/>
                </a:lnTo>
                <a:lnTo>
                  <a:pt x="6352540" y="0"/>
                </a:lnTo>
                <a:close/>
              </a:path>
            </a:pathLst>
          </a:custGeom>
          <a:solidFill>
            <a:srgbClr val="EB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7289" y="28948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840485" y="0"/>
                </a:moveTo>
                <a:lnTo>
                  <a:pt x="787332" y="1323"/>
                </a:lnTo>
                <a:lnTo>
                  <a:pt x="735057" y="5242"/>
                </a:lnTo>
                <a:lnTo>
                  <a:pt x="683759" y="11677"/>
                </a:lnTo>
                <a:lnTo>
                  <a:pt x="633537" y="20549"/>
                </a:lnTo>
                <a:lnTo>
                  <a:pt x="584488" y="31779"/>
                </a:lnTo>
                <a:lnTo>
                  <a:pt x="536712" y="45290"/>
                </a:lnTo>
                <a:lnTo>
                  <a:pt x="490306" y="61001"/>
                </a:lnTo>
                <a:lnTo>
                  <a:pt x="445370" y="78834"/>
                </a:lnTo>
                <a:lnTo>
                  <a:pt x="402001" y="98710"/>
                </a:lnTo>
                <a:lnTo>
                  <a:pt x="360299" y="120551"/>
                </a:lnTo>
                <a:lnTo>
                  <a:pt x="320361" y="144278"/>
                </a:lnTo>
                <a:lnTo>
                  <a:pt x="282286" y="169811"/>
                </a:lnTo>
                <a:lnTo>
                  <a:pt x="246173" y="197072"/>
                </a:lnTo>
                <a:lnTo>
                  <a:pt x="212120" y="225982"/>
                </a:lnTo>
                <a:lnTo>
                  <a:pt x="180225" y="256462"/>
                </a:lnTo>
                <a:lnTo>
                  <a:pt x="150587" y="288434"/>
                </a:lnTo>
                <a:lnTo>
                  <a:pt x="123305" y="321819"/>
                </a:lnTo>
                <a:lnTo>
                  <a:pt x="98476" y="356537"/>
                </a:lnTo>
                <a:lnTo>
                  <a:pt x="76200" y="392511"/>
                </a:lnTo>
                <a:lnTo>
                  <a:pt x="56574" y="429661"/>
                </a:lnTo>
                <a:lnTo>
                  <a:pt x="39698" y="467908"/>
                </a:lnTo>
                <a:lnTo>
                  <a:pt x="25669" y="507173"/>
                </a:lnTo>
                <a:lnTo>
                  <a:pt x="14586" y="547379"/>
                </a:lnTo>
                <a:lnTo>
                  <a:pt x="6548" y="588445"/>
                </a:lnTo>
                <a:lnTo>
                  <a:pt x="1653" y="630294"/>
                </a:lnTo>
                <a:lnTo>
                  <a:pt x="0" y="672846"/>
                </a:lnTo>
                <a:lnTo>
                  <a:pt x="1653" y="715397"/>
                </a:lnTo>
                <a:lnTo>
                  <a:pt x="6548" y="757246"/>
                </a:lnTo>
                <a:lnTo>
                  <a:pt x="14586" y="798312"/>
                </a:lnTo>
                <a:lnTo>
                  <a:pt x="25669" y="838518"/>
                </a:lnTo>
                <a:lnTo>
                  <a:pt x="39698" y="877783"/>
                </a:lnTo>
                <a:lnTo>
                  <a:pt x="56574" y="916030"/>
                </a:lnTo>
                <a:lnTo>
                  <a:pt x="76200" y="953180"/>
                </a:lnTo>
                <a:lnTo>
                  <a:pt x="98476" y="989154"/>
                </a:lnTo>
                <a:lnTo>
                  <a:pt x="123305" y="1023872"/>
                </a:lnTo>
                <a:lnTo>
                  <a:pt x="150587" y="1057257"/>
                </a:lnTo>
                <a:lnTo>
                  <a:pt x="180225" y="1089229"/>
                </a:lnTo>
                <a:lnTo>
                  <a:pt x="212120" y="1119709"/>
                </a:lnTo>
                <a:lnTo>
                  <a:pt x="246173" y="1148619"/>
                </a:lnTo>
                <a:lnTo>
                  <a:pt x="282286" y="1175880"/>
                </a:lnTo>
                <a:lnTo>
                  <a:pt x="320361" y="1201413"/>
                </a:lnTo>
                <a:lnTo>
                  <a:pt x="360299" y="1225140"/>
                </a:lnTo>
                <a:lnTo>
                  <a:pt x="402001" y="1246981"/>
                </a:lnTo>
                <a:lnTo>
                  <a:pt x="445370" y="1266857"/>
                </a:lnTo>
                <a:lnTo>
                  <a:pt x="490306" y="1284690"/>
                </a:lnTo>
                <a:lnTo>
                  <a:pt x="536712" y="1300401"/>
                </a:lnTo>
                <a:lnTo>
                  <a:pt x="584488" y="1313912"/>
                </a:lnTo>
                <a:lnTo>
                  <a:pt x="633537" y="1325142"/>
                </a:lnTo>
                <a:lnTo>
                  <a:pt x="683759" y="1334014"/>
                </a:lnTo>
                <a:lnTo>
                  <a:pt x="735057" y="1340449"/>
                </a:lnTo>
                <a:lnTo>
                  <a:pt x="787332" y="1344368"/>
                </a:lnTo>
                <a:lnTo>
                  <a:pt x="840485" y="1345692"/>
                </a:lnTo>
                <a:lnTo>
                  <a:pt x="893639" y="1344368"/>
                </a:lnTo>
                <a:lnTo>
                  <a:pt x="945914" y="1340449"/>
                </a:lnTo>
                <a:lnTo>
                  <a:pt x="997212" y="1334014"/>
                </a:lnTo>
                <a:lnTo>
                  <a:pt x="1047434" y="1325142"/>
                </a:lnTo>
                <a:lnTo>
                  <a:pt x="1096483" y="1313912"/>
                </a:lnTo>
                <a:lnTo>
                  <a:pt x="1144259" y="1300401"/>
                </a:lnTo>
                <a:lnTo>
                  <a:pt x="1190665" y="1284690"/>
                </a:lnTo>
                <a:lnTo>
                  <a:pt x="1235601" y="1266857"/>
                </a:lnTo>
                <a:lnTo>
                  <a:pt x="1278970" y="1246981"/>
                </a:lnTo>
                <a:lnTo>
                  <a:pt x="1320672" y="1225140"/>
                </a:lnTo>
                <a:lnTo>
                  <a:pt x="1360610" y="1201413"/>
                </a:lnTo>
                <a:lnTo>
                  <a:pt x="1398685" y="1175880"/>
                </a:lnTo>
                <a:lnTo>
                  <a:pt x="1434798" y="1148619"/>
                </a:lnTo>
                <a:lnTo>
                  <a:pt x="1468851" y="1119709"/>
                </a:lnTo>
                <a:lnTo>
                  <a:pt x="1500746" y="1089229"/>
                </a:lnTo>
                <a:lnTo>
                  <a:pt x="1530384" y="1057257"/>
                </a:lnTo>
                <a:lnTo>
                  <a:pt x="1557666" y="1023872"/>
                </a:lnTo>
                <a:lnTo>
                  <a:pt x="1582495" y="989154"/>
                </a:lnTo>
                <a:lnTo>
                  <a:pt x="1604771" y="953180"/>
                </a:lnTo>
                <a:lnTo>
                  <a:pt x="1624397" y="916030"/>
                </a:lnTo>
                <a:lnTo>
                  <a:pt x="1641273" y="877783"/>
                </a:lnTo>
                <a:lnTo>
                  <a:pt x="1655302" y="838518"/>
                </a:lnTo>
                <a:lnTo>
                  <a:pt x="1666385" y="798312"/>
                </a:lnTo>
                <a:lnTo>
                  <a:pt x="1674423" y="757246"/>
                </a:lnTo>
                <a:lnTo>
                  <a:pt x="1679318" y="715397"/>
                </a:lnTo>
                <a:lnTo>
                  <a:pt x="1680972" y="672846"/>
                </a:lnTo>
                <a:lnTo>
                  <a:pt x="1679318" y="630294"/>
                </a:lnTo>
                <a:lnTo>
                  <a:pt x="1674423" y="588445"/>
                </a:lnTo>
                <a:lnTo>
                  <a:pt x="1666385" y="547379"/>
                </a:lnTo>
                <a:lnTo>
                  <a:pt x="1655302" y="507173"/>
                </a:lnTo>
                <a:lnTo>
                  <a:pt x="1641273" y="467908"/>
                </a:lnTo>
                <a:lnTo>
                  <a:pt x="1624397" y="429661"/>
                </a:lnTo>
                <a:lnTo>
                  <a:pt x="1604771" y="392511"/>
                </a:lnTo>
                <a:lnTo>
                  <a:pt x="1582495" y="356537"/>
                </a:lnTo>
                <a:lnTo>
                  <a:pt x="1557666" y="321819"/>
                </a:lnTo>
                <a:lnTo>
                  <a:pt x="1530384" y="288434"/>
                </a:lnTo>
                <a:lnTo>
                  <a:pt x="1500746" y="256462"/>
                </a:lnTo>
                <a:lnTo>
                  <a:pt x="1468851" y="225982"/>
                </a:lnTo>
                <a:lnTo>
                  <a:pt x="1434798" y="197072"/>
                </a:lnTo>
                <a:lnTo>
                  <a:pt x="1398685" y="169811"/>
                </a:lnTo>
                <a:lnTo>
                  <a:pt x="1360610" y="144278"/>
                </a:lnTo>
                <a:lnTo>
                  <a:pt x="1320672" y="120551"/>
                </a:lnTo>
                <a:lnTo>
                  <a:pt x="1278970" y="98710"/>
                </a:lnTo>
                <a:lnTo>
                  <a:pt x="1235601" y="78834"/>
                </a:lnTo>
                <a:lnTo>
                  <a:pt x="1190665" y="61001"/>
                </a:lnTo>
                <a:lnTo>
                  <a:pt x="1144259" y="45290"/>
                </a:lnTo>
                <a:lnTo>
                  <a:pt x="1096483" y="31779"/>
                </a:lnTo>
                <a:lnTo>
                  <a:pt x="1047434" y="20549"/>
                </a:lnTo>
                <a:lnTo>
                  <a:pt x="997212" y="11677"/>
                </a:lnTo>
                <a:lnTo>
                  <a:pt x="945914" y="5242"/>
                </a:lnTo>
                <a:lnTo>
                  <a:pt x="893639" y="1323"/>
                </a:lnTo>
                <a:lnTo>
                  <a:pt x="840485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7289" y="2894838"/>
            <a:ext cx="1681480" cy="1346200"/>
          </a:xfrm>
          <a:custGeom>
            <a:avLst/>
            <a:gdLst/>
            <a:ahLst/>
            <a:cxnLst/>
            <a:rect l="l" t="t" r="r" b="b"/>
            <a:pathLst>
              <a:path w="1681480" h="1346200">
                <a:moveTo>
                  <a:pt x="0" y="672846"/>
                </a:moveTo>
                <a:lnTo>
                  <a:pt x="1653" y="630294"/>
                </a:lnTo>
                <a:lnTo>
                  <a:pt x="6548" y="588445"/>
                </a:lnTo>
                <a:lnTo>
                  <a:pt x="14586" y="547379"/>
                </a:lnTo>
                <a:lnTo>
                  <a:pt x="25669" y="507173"/>
                </a:lnTo>
                <a:lnTo>
                  <a:pt x="39698" y="467908"/>
                </a:lnTo>
                <a:lnTo>
                  <a:pt x="56574" y="429661"/>
                </a:lnTo>
                <a:lnTo>
                  <a:pt x="76200" y="392511"/>
                </a:lnTo>
                <a:lnTo>
                  <a:pt x="98476" y="356537"/>
                </a:lnTo>
                <a:lnTo>
                  <a:pt x="123305" y="321819"/>
                </a:lnTo>
                <a:lnTo>
                  <a:pt x="150587" y="288434"/>
                </a:lnTo>
                <a:lnTo>
                  <a:pt x="180225" y="256462"/>
                </a:lnTo>
                <a:lnTo>
                  <a:pt x="212120" y="225982"/>
                </a:lnTo>
                <a:lnTo>
                  <a:pt x="246173" y="197072"/>
                </a:lnTo>
                <a:lnTo>
                  <a:pt x="282286" y="169811"/>
                </a:lnTo>
                <a:lnTo>
                  <a:pt x="320361" y="144278"/>
                </a:lnTo>
                <a:lnTo>
                  <a:pt x="360299" y="120551"/>
                </a:lnTo>
                <a:lnTo>
                  <a:pt x="402001" y="98710"/>
                </a:lnTo>
                <a:lnTo>
                  <a:pt x="445370" y="78834"/>
                </a:lnTo>
                <a:lnTo>
                  <a:pt x="490306" y="61001"/>
                </a:lnTo>
                <a:lnTo>
                  <a:pt x="536712" y="45290"/>
                </a:lnTo>
                <a:lnTo>
                  <a:pt x="584488" y="31779"/>
                </a:lnTo>
                <a:lnTo>
                  <a:pt x="633537" y="20549"/>
                </a:lnTo>
                <a:lnTo>
                  <a:pt x="683759" y="11677"/>
                </a:lnTo>
                <a:lnTo>
                  <a:pt x="735057" y="5242"/>
                </a:lnTo>
                <a:lnTo>
                  <a:pt x="787332" y="1323"/>
                </a:lnTo>
                <a:lnTo>
                  <a:pt x="840485" y="0"/>
                </a:lnTo>
                <a:lnTo>
                  <a:pt x="893639" y="1323"/>
                </a:lnTo>
                <a:lnTo>
                  <a:pt x="945914" y="5242"/>
                </a:lnTo>
                <a:lnTo>
                  <a:pt x="997212" y="11677"/>
                </a:lnTo>
                <a:lnTo>
                  <a:pt x="1047434" y="20549"/>
                </a:lnTo>
                <a:lnTo>
                  <a:pt x="1096483" y="31779"/>
                </a:lnTo>
                <a:lnTo>
                  <a:pt x="1144259" y="45290"/>
                </a:lnTo>
                <a:lnTo>
                  <a:pt x="1190665" y="61001"/>
                </a:lnTo>
                <a:lnTo>
                  <a:pt x="1235601" y="78834"/>
                </a:lnTo>
                <a:lnTo>
                  <a:pt x="1278970" y="98710"/>
                </a:lnTo>
                <a:lnTo>
                  <a:pt x="1320672" y="120551"/>
                </a:lnTo>
                <a:lnTo>
                  <a:pt x="1360610" y="144278"/>
                </a:lnTo>
                <a:lnTo>
                  <a:pt x="1398685" y="169811"/>
                </a:lnTo>
                <a:lnTo>
                  <a:pt x="1434798" y="197072"/>
                </a:lnTo>
                <a:lnTo>
                  <a:pt x="1468851" y="225982"/>
                </a:lnTo>
                <a:lnTo>
                  <a:pt x="1500746" y="256462"/>
                </a:lnTo>
                <a:lnTo>
                  <a:pt x="1530384" y="288434"/>
                </a:lnTo>
                <a:lnTo>
                  <a:pt x="1557666" y="321819"/>
                </a:lnTo>
                <a:lnTo>
                  <a:pt x="1582495" y="356537"/>
                </a:lnTo>
                <a:lnTo>
                  <a:pt x="1604771" y="392511"/>
                </a:lnTo>
                <a:lnTo>
                  <a:pt x="1624397" y="429661"/>
                </a:lnTo>
                <a:lnTo>
                  <a:pt x="1641273" y="467908"/>
                </a:lnTo>
                <a:lnTo>
                  <a:pt x="1655302" y="507173"/>
                </a:lnTo>
                <a:lnTo>
                  <a:pt x="1666385" y="547379"/>
                </a:lnTo>
                <a:lnTo>
                  <a:pt x="1674423" y="588445"/>
                </a:lnTo>
                <a:lnTo>
                  <a:pt x="1679318" y="630294"/>
                </a:lnTo>
                <a:lnTo>
                  <a:pt x="1680972" y="672846"/>
                </a:lnTo>
                <a:lnTo>
                  <a:pt x="1679318" y="715397"/>
                </a:lnTo>
                <a:lnTo>
                  <a:pt x="1674423" y="757246"/>
                </a:lnTo>
                <a:lnTo>
                  <a:pt x="1666385" y="798312"/>
                </a:lnTo>
                <a:lnTo>
                  <a:pt x="1655302" y="838518"/>
                </a:lnTo>
                <a:lnTo>
                  <a:pt x="1641273" y="877783"/>
                </a:lnTo>
                <a:lnTo>
                  <a:pt x="1624397" y="916030"/>
                </a:lnTo>
                <a:lnTo>
                  <a:pt x="1604771" y="953180"/>
                </a:lnTo>
                <a:lnTo>
                  <a:pt x="1582495" y="989154"/>
                </a:lnTo>
                <a:lnTo>
                  <a:pt x="1557666" y="1023872"/>
                </a:lnTo>
                <a:lnTo>
                  <a:pt x="1530384" y="1057257"/>
                </a:lnTo>
                <a:lnTo>
                  <a:pt x="1500746" y="1089229"/>
                </a:lnTo>
                <a:lnTo>
                  <a:pt x="1468851" y="1119709"/>
                </a:lnTo>
                <a:lnTo>
                  <a:pt x="1434798" y="1148619"/>
                </a:lnTo>
                <a:lnTo>
                  <a:pt x="1398685" y="1175880"/>
                </a:lnTo>
                <a:lnTo>
                  <a:pt x="1360610" y="1201413"/>
                </a:lnTo>
                <a:lnTo>
                  <a:pt x="1320672" y="1225140"/>
                </a:lnTo>
                <a:lnTo>
                  <a:pt x="1278970" y="1246981"/>
                </a:lnTo>
                <a:lnTo>
                  <a:pt x="1235601" y="1266857"/>
                </a:lnTo>
                <a:lnTo>
                  <a:pt x="1190665" y="1284690"/>
                </a:lnTo>
                <a:lnTo>
                  <a:pt x="1144259" y="1300401"/>
                </a:lnTo>
                <a:lnTo>
                  <a:pt x="1096483" y="1313912"/>
                </a:lnTo>
                <a:lnTo>
                  <a:pt x="1047434" y="1325142"/>
                </a:lnTo>
                <a:lnTo>
                  <a:pt x="997212" y="1334014"/>
                </a:lnTo>
                <a:lnTo>
                  <a:pt x="945914" y="1340449"/>
                </a:lnTo>
                <a:lnTo>
                  <a:pt x="893639" y="1344368"/>
                </a:lnTo>
                <a:lnTo>
                  <a:pt x="840485" y="1345692"/>
                </a:lnTo>
                <a:lnTo>
                  <a:pt x="787332" y="1344368"/>
                </a:lnTo>
                <a:lnTo>
                  <a:pt x="735057" y="1340449"/>
                </a:lnTo>
                <a:lnTo>
                  <a:pt x="683759" y="1334014"/>
                </a:lnTo>
                <a:lnTo>
                  <a:pt x="633537" y="1325142"/>
                </a:lnTo>
                <a:lnTo>
                  <a:pt x="584488" y="1313912"/>
                </a:lnTo>
                <a:lnTo>
                  <a:pt x="536712" y="1300401"/>
                </a:lnTo>
                <a:lnTo>
                  <a:pt x="490306" y="1284690"/>
                </a:lnTo>
                <a:lnTo>
                  <a:pt x="445370" y="1266857"/>
                </a:lnTo>
                <a:lnTo>
                  <a:pt x="402001" y="1246981"/>
                </a:lnTo>
                <a:lnTo>
                  <a:pt x="360299" y="1225140"/>
                </a:lnTo>
                <a:lnTo>
                  <a:pt x="320361" y="1201413"/>
                </a:lnTo>
                <a:lnTo>
                  <a:pt x="282286" y="1175880"/>
                </a:lnTo>
                <a:lnTo>
                  <a:pt x="246173" y="1148619"/>
                </a:lnTo>
                <a:lnTo>
                  <a:pt x="212120" y="1119709"/>
                </a:lnTo>
                <a:lnTo>
                  <a:pt x="180225" y="1089229"/>
                </a:lnTo>
                <a:lnTo>
                  <a:pt x="150587" y="1057257"/>
                </a:lnTo>
                <a:lnTo>
                  <a:pt x="123305" y="1023872"/>
                </a:lnTo>
                <a:lnTo>
                  <a:pt x="98476" y="989154"/>
                </a:lnTo>
                <a:lnTo>
                  <a:pt x="76200" y="953180"/>
                </a:lnTo>
                <a:lnTo>
                  <a:pt x="56574" y="916030"/>
                </a:lnTo>
                <a:lnTo>
                  <a:pt x="39698" y="877783"/>
                </a:lnTo>
                <a:lnTo>
                  <a:pt x="25669" y="838518"/>
                </a:lnTo>
                <a:lnTo>
                  <a:pt x="14586" y="798312"/>
                </a:lnTo>
                <a:lnTo>
                  <a:pt x="6548" y="757246"/>
                </a:lnTo>
                <a:lnTo>
                  <a:pt x="1653" y="715397"/>
                </a:lnTo>
                <a:lnTo>
                  <a:pt x="0" y="672846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45869" y="2949701"/>
            <a:ext cx="1541145" cy="1236345"/>
          </a:xfrm>
          <a:custGeom>
            <a:avLst/>
            <a:gdLst/>
            <a:ahLst/>
            <a:cxnLst/>
            <a:rect l="l" t="t" r="r" b="b"/>
            <a:pathLst>
              <a:path w="1541145" h="1236345">
                <a:moveTo>
                  <a:pt x="0" y="617982"/>
                </a:moveTo>
                <a:lnTo>
                  <a:pt x="1777" y="575677"/>
                </a:lnTo>
                <a:lnTo>
                  <a:pt x="7033" y="534136"/>
                </a:lnTo>
                <a:lnTo>
                  <a:pt x="15652" y="493452"/>
                </a:lnTo>
                <a:lnTo>
                  <a:pt x="27520" y="453716"/>
                </a:lnTo>
                <a:lnTo>
                  <a:pt x="42522" y="415020"/>
                </a:lnTo>
                <a:lnTo>
                  <a:pt x="60543" y="377457"/>
                </a:lnTo>
                <a:lnTo>
                  <a:pt x="81468" y="341119"/>
                </a:lnTo>
                <a:lnTo>
                  <a:pt x="105184" y="306098"/>
                </a:lnTo>
                <a:lnTo>
                  <a:pt x="131574" y="272485"/>
                </a:lnTo>
                <a:lnTo>
                  <a:pt x="160524" y="240374"/>
                </a:lnTo>
                <a:lnTo>
                  <a:pt x="191920" y="209855"/>
                </a:lnTo>
                <a:lnTo>
                  <a:pt x="225647" y="181022"/>
                </a:lnTo>
                <a:lnTo>
                  <a:pt x="261589" y="153966"/>
                </a:lnTo>
                <a:lnTo>
                  <a:pt x="299633" y="128780"/>
                </a:lnTo>
                <a:lnTo>
                  <a:pt x="339662" y="105555"/>
                </a:lnTo>
                <a:lnTo>
                  <a:pt x="381564" y="84384"/>
                </a:lnTo>
                <a:lnTo>
                  <a:pt x="425222" y="65359"/>
                </a:lnTo>
                <a:lnTo>
                  <a:pt x="470523" y="48571"/>
                </a:lnTo>
                <a:lnTo>
                  <a:pt x="517350" y="34114"/>
                </a:lnTo>
                <a:lnTo>
                  <a:pt x="565590" y="22078"/>
                </a:lnTo>
                <a:lnTo>
                  <a:pt x="615128" y="12557"/>
                </a:lnTo>
                <a:lnTo>
                  <a:pt x="665849" y="5642"/>
                </a:lnTo>
                <a:lnTo>
                  <a:pt x="717639" y="1425"/>
                </a:lnTo>
                <a:lnTo>
                  <a:pt x="770382" y="0"/>
                </a:lnTo>
                <a:lnTo>
                  <a:pt x="823124" y="1425"/>
                </a:lnTo>
                <a:lnTo>
                  <a:pt x="874914" y="5642"/>
                </a:lnTo>
                <a:lnTo>
                  <a:pt x="925635" y="12557"/>
                </a:lnTo>
                <a:lnTo>
                  <a:pt x="975173" y="22078"/>
                </a:lnTo>
                <a:lnTo>
                  <a:pt x="1023413" y="34114"/>
                </a:lnTo>
                <a:lnTo>
                  <a:pt x="1070240" y="48571"/>
                </a:lnTo>
                <a:lnTo>
                  <a:pt x="1115541" y="65359"/>
                </a:lnTo>
                <a:lnTo>
                  <a:pt x="1159199" y="84384"/>
                </a:lnTo>
                <a:lnTo>
                  <a:pt x="1201101" y="105555"/>
                </a:lnTo>
                <a:lnTo>
                  <a:pt x="1241130" y="128780"/>
                </a:lnTo>
                <a:lnTo>
                  <a:pt x="1279174" y="153966"/>
                </a:lnTo>
                <a:lnTo>
                  <a:pt x="1315116" y="181022"/>
                </a:lnTo>
                <a:lnTo>
                  <a:pt x="1348843" y="209855"/>
                </a:lnTo>
                <a:lnTo>
                  <a:pt x="1380239" y="240374"/>
                </a:lnTo>
                <a:lnTo>
                  <a:pt x="1409189" y="272485"/>
                </a:lnTo>
                <a:lnTo>
                  <a:pt x="1435579" y="306098"/>
                </a:lnTo>
                <a:lnTo>
                  <a:pt x="1459295" y="341119"/>
                </a:lnTo>
                <a:lnTo>
                  <a:pt x="1480220" y="377457"/>
                </a:lnTo>
                <a:lnTo>
                  <a:pt x="1498241" y="415020"/>
                </a:lnTo>
                <a:lnTo>
                  <a:pt x="1513243" y="453716"/>
                </a:lnTo>
                <a:lnTo>
                  <a:pt x="1525111" y="493452"/>
                </a:lnTo>
                <a:lnTo>
                  <a:pt x="1533730" y="534136"/>
                </a:lnTo>
                <a:lnTo>
                  <a:pt x="1538986" y="575677"/>
                </a:lnTo>
                <a:lnTo>
                  <a:pt x="1540764" y="617982"/>
                </a:lnTo>
                <a:lnTo>
                  <a:pt x="1538986" y="660292"/>
                </a:lnTo>
                <a:lnTo>
                  <a:pt x="1533730" y="701838"/>
                </a:lnTo>
                <a:lnTo>
                  <a:pt x="1525111" y="742526"/>
                </a:lnTo>
                <a:lnTo>
                  <a:pt x="1513243" y="782265"/>
                </a:lnTo>
                <a:lnTo>
                  <a:pt x="1498241" y="820963"/>
                </a:lnTo>
                <a:lnTo>
                  <a:pt x="1480220" y="858527"/>
                </a:lnTo>
                <a:lnTo>
                  <a:pt x="1459295" y="894866"/>
                </a:lnTo>
                <a:lnTo>
                  <a:pt x="1435579" y="929888"/>
                </a:lnTo>
                <a:lnTo>
                  <a:pt x="1409189" y="963500"/>
                </a:lnTo>
                <a:lnTo>
                  <a:pt x="1380239" y="995611"/>
                </a:lnTo>
                <a:lnTo>
                  <a:pt x="1348843" y="1026128"/>
                </a:lnTo>
                <a:lnTo>
                  <a:pt x="1315116" y="1054960"/>
                </a:lnTo>
                <a:lnTo>
                  <a:pt x="1279174" y="1082014"/>
                </a:lnTo>
                <a:lnTo>
                  <a:pt x="1241130" y="1107199"/>
                </a:lnTo>
                <a:lnTo>
                  <a:pt x="1201101" y="1130421"/>
                </a:lnTo>
                <a:lnTo>
                  <a:pt x="1159199" y="1151590"/>
                </a:lnTo>
                <a:lnTo>
                  <a:pt x="1115541" y="1170614"/>
                </a:lnTo>
                <a:lnTo>
                  <a:pt x="1070240" y="1187399"/>
                </a:lnTo>
                <a:lnTo>
                  <a:pt x="1023413" y="1201855"/>
                </a:lnTo>
                <a:lnTo>
                  <a:pt x="975173" y="1213888"/>
                </a:lnTo>
                <a:lnTo>
                  <a:pt x="925635" y="1223408"/>
                </a:lnTo>
                <a:lnTo>
                  <a:pt x="874914" y="1230322"/>
                </a:lnTo>
                <a:lnTo>
                  <a:pt x="823124" y="1234538"/>
                </a:lnTo>
                <a:lnTo>
                  <a:pt x="770382" y="1235964"/>
                </a:lnTo>
                <a:lnTo>
                  <a:pt x="717639" y="1234538"/>
                </a:lnTo>
                <a:lnTo>
                  <a:pt x="665849" y="1230322"/>
                </a:lnTo>
                <a:lnTo>
                  <a:pt x="615128" y="1223408"/>
                </a:lnTo>
                <a:lnTo>
                  <a:pt x="565590" y="1213888"/>
                </a:lnTo>
                <a:lnTo>
                  <a:pt x="517350" y="1201855"/>
                </a:lnTo>
                <a:lnTo>
                  <a:pt x="470523" y="1187399"/>
                </a:lnTo>
                <a:lnTo>
                  <a:pt x="425222" y="1170614"/>
                </a:lnTo>
                <a:lnTo>
                  <a:pt x="381564" y="1151590"/>
                </a:lnTo>
                <a:lnTo>
                  <a:pt x="339662" y="1130421"/>
                </a:lnTo>
                <a:lnTo>
                  <a:pt x="299633" y="1107199"/>
                </a:lnTo>
                <a:lnTo>
                  <a:pt x="261589" y="1082014"/>
                </a:lnTo>
                <a:lnTo>
                  <a:pt x="225647" y="1054960"/>
                </a:lnTo>
                <a:lnTo>
                  <a:pt x="191920" y="1026128"/>
                </a:lnTo>
                <a:lnTo>
                  <a:pt x="160524" y="995611"/>
                </a:lnTo>
                <a:lnTo>
                  <a:pt x="131574" y="963500"/>
                </a:lnTo>
                <a:lnTo>
                  <a:pt x="105184" y="929888"/>
                </a:lnTo>
                <a:lnTo>
                  <a:pt x="81468" y="894866"/>
                </a:lnTo>
                <a:lnTo>
                  <a:pt x="60543" y="858527"/>
                </a:lnTo>
                <a:lnTo>
                  <a:pt x="42522" y="820963"/>
                </a:lnTo>
                <a:lnTo>
                  <a:pt x="27520" y="782265"/>
                </a:lnTo>
                <a:lnTo>
                  <a:pt x="15652" y="742526"/>
                </a:lnTo>
                <a:lnTo>
                  <a:pt x="7033" y="701838"/>
                </a:lnTo>
                <a:lnTo>
                  <a:pt x="1777" y="660292"/>
                </a:lnTo>
                <a:lnTo>
                  <a:pt x="0" y="617982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15974" y="3009138"/>
            <a:ext cx="1402080" cy="1125220"/>
          </a:xfrm>
          <a:custGeom>
            <a:avLst/>
            <a:gdLst/>
            <a:ahLst/>
            <a:cxnLst/>
            <a:rect l="l" t="t" r="r" b="b"/>
            <a:pathLst>
              <a:path w="1402080" h="1125220">
                <a:moveTo>
                  <a:pt x="0" y="562356"/>
                </a:moveTo>
                <a:lnTo>
                  <a:pt x="1922" y="520379"/>
                </a:lnTo>
                <a:lnTo>
                  <a:pt x="7599" y="479241"/>
                </a:lnTo>
                <a:lnTo>
                  <a:pt x="16896" y="439051"/>
                </a:lnTo>
                <a:lnTo>
                  <a:pt x="29677" y="399917"/>
                </a:lnTo>
                <a:lnTo>
                  <a:pt x="45806" y="361949"/>
                </a:lnTo>
                <a:lnTo>
                  <a:pt x="65148" y="325254"/>
                </a:lnTo>
                <a:lnTo>
                  <a:pt x="87567" y="289941"/>
                </a:lnTo>
                <a:lnTo>
                  <a:pt x="112929" y="256120"/>
                </a:lnTo>
                <a:lnTo>
                  <a:pt x="141097" y="223898"/>
                </a:lnTo>
                <a:lnTo>
                  <a:pt x="171936" y="193384"/>
                </a:lnTo>
                <a:lnTo>
                  <a:pt x="205311" y="164687"/>
                </a:lnTo>
                <a:lnTo>
                  <a:pt x="241086" y="137915"/>
                </a:lnTo>
                <a:lnTo>
                  <a:pt x="279125" y="113178"/>
                </a:lnTo>
                <a:lnTo>
                  <a:pt x="319294" y="90583"/>
                </a:lnTo>
                <a:lnTo>
                  <a:pt x="361457" y="70240"/>
                </a:lnTo>
                <a:lnTo>
                  <a:pt x="405477" y="52256"/>
                </a:lnTo>
                <a:lnTo>
                  <a:pt x="451221" y="36742"/>
                </a:lnTo>
                <a:lnTo>
                  <a:pt x="498552" y="23804"/>
                </a:lnTo>
                <a:lnTo>
                  <a:pt x="547335" y="13553"/>
                </a:lnTo>
                <a:lnTo>
                  <a:pt x="597434" y="6096"/>
                </a:lnTo>
                <a:lnTo>
                  <a:pt x="648714" y="1542"/>
                </a:lnTo>
                <a:lnTo>
                  <a:pt x="701039" y="0"/>
                </a:lnTo>
                <a:lnTo>
                  <a:pt x="753365" y="1542"/>
                </a:lnTo>
                <a:lnTo>
                  <a:pt x="804645" y="6096"/>
                </a:lnTo>
                <a:lnTo>
                  <a:pt x="854744" y="13553"/>
                </a:lnTo>
                <a:lnTo>
                  <a:pt x="903527" y="23804"/>
                </a:lnTo>
                <a:lnTo>
                  <a:pt x="950858" y="36742"/>
                </a:lnTo>
                <a:lnTo>
                  <a:pt x="996602" y="52256"/>
                </a:lnTo>
                <a:lnTo>
                  <a:pt x="1040622" y="70240"/>
                </a:lnTo>
                <a:lnTo>
                  <a:pt x="1082785" y="90583"/>
                </a:lnTo>
                <a:lnTo>
                  <a:pt x="1122954" y="113178"/>
                </a:lnTo>
                <a:lnTo>
                  <a:pt x="1160993" y="137915"/>
                </a:lnTo>
                <a:lnTo>
                  <a:pt x="1196768" y="164687"/>
                </a:lnTo>
                <a:lnTo>
                  <a:pt x="1230143" y="193384"/>
                </a:lnTo>
                <a:lnTo>
                  <a:pt x="1260982" y="223898"/>
                </a:lnTo>
                <a:lnTo>
                  <a:pt x="1289150" y="256120"/>
                </a:lnTo>
                <a:lnTo>
                  <a:pt x="1314512" y="289941"/>
                </a:lnTo>
                <a:lnTo>
                  <a:pt x="1336931" y="325254"/>
                </a:lnTo>
                <a:lnTo>
                  <a:pt x="1356273" y="361949"/>
                </a:lnTo>
                <a:lnTo>
                  <a:pt x="1372402" y="399917"/>
                </a:lnTo>
                <a:lnTo>
                  <a:pt x="1385183" y="439051"/>
                </a:lnTo>
                <a:lnTo>
                  <a:pt x="1394480" y="479241"/>
                </a:lnTo>
                <a:lnTo>
                  <a:pt x="1400157" y="520379"/>
                </a:lnTo>
                <a:lnTo>
                  <a:pt x="1402080" y="562356"/>
                </a:lnTo>
                <a:lnTo>
                  <a:pt x="1400157" y="604325"/>
                </a:lnTo>
                <a:lnTo>
                  <a:pt x="1394480" y="645456"/>
                </a:lnTo>
                <a:lnTo>
                  <a:pt x="1385183" y="685641"/>
                </a:lnTo>
                <a:lnTo>
                  <a:pt x="1372402" y="724771"/>
                </a:lnTo>
                <a:lnTo>
                  <a:pt x="1356273" y="762736"/>
                </a:lnTo>
                <a:lnTo>
                  <a:pt x="1336931" y="799430"/>
                </a:lnTo>
                <a:lnTo>
                  <a:pt x="1314512" y="834742"/>
                </a:lnTo>
                <a:lnTo>
                  <a:pt x="1289150" y="868563"/>
                </a:lnTo>
                <a:lnTo>
                  <a:pt x="1260982" y="900786"/>
                </a:lnTo>
                <a:lnTo>
                  <a:pt x="1230143" y="931301"/>
                </a:lnTo>
                <a:lnTo>
                  <a:pt x="1196768" y="960000"/>
                </a:lnTo>
                <a:lnTo>
                  <a:pt x="1160993" y="986774"/>
                </a:lnTo>
                <a:lnTo>
                  <a:pt x="1122954" y="1011514"/>
                </a:lnTo>
                <a:lnTo>
                  <a:pt x="1082785" y="1034112"/>
                </a:lnTo>
                <a:lnTo>
                  <a:pt x="1040622" y="1054458"/>
                </a:lnTo>
                <a:lnTo>
                  <a:pt x="996602" y="1072444"/>
                </a:lnTo>
                <a:lnTo>
                  <a:pt x="950858" y="1087962"/>
                </a:lnTo>
                <a:lnTo>
                  <a:pt x="903527" y="1100902"/>
                </a:lnTo>
                <a:lnTo>
                  <a:pt x="854744" y="1111155"/>
                </a:lnTo>
                <a:lnTo>
                  <a:pt x="804645" y="1118614"/>
                </a:lnTo>
                <a:lnTo>
                  <a:pt x="753365" y="1123169"/>
                </a:lnTo>
                <a:lnTo>
                  <a:pt x="701039" y="1124712"/>
                </a:lnTo>
                <a:lnTo>
                  <a:pt x="648714" y="1123169"/>
                </a:lnTo>
                <a:lnTo>
                  <a:pt x="597434" y="1118614"/>
                </a:lnTo>
                <a:lnTo>
                  <a:pt x="547335" y="1111155"/>
                </a:lnTo>
                <a:lnTo>
                  <a:pt x="498552" y="1100902"/>
                </a:lnTo>
                <a:lnTo>
                  <a:pt x="451221" y="1087962"/>
                </a:lnTo>
                <a:lnTo>
                  <a:pt x="405477" y="1072444"/>
                </a:lnTo>
                <a:lnTo>
                  <a:pt x="361457" y="1054458"/>
                </a:lnTo>
                <a:lnTo>
                  <a:pt x="319294" y="1034112"/>
                </a:lnTo>
                <a:lnTo>
                  <a:pt x="279125" y="1011514"/>
                </a:lnTo>
                <a:lnTo>
                  <a:pt x="241086" y="986774"/>
                </a:lnTo>
                <a:lnTo>
                  <a:pt x="205311" y="960000"/>
                </a:lnTo>
                <a:lnTo>
                  <a:pt x="171936" y="931301"/>
                </a:lnTo>
                <a:lnTo>
                  <a:pt x="141097" y="900786"/>
                </a:lnTo>
                <a:lnTo>
                  <a:pt x="112929" y="868563"/>
                </a:lnTo>
                <a:lnTo>
                  <a:pt x="87567" y="834742"/>
                </a:lnTo>
                <a:lnTo>
                  <a:pt x="65148" y="799430"/>
                </a:lnTo>
                <a:lnTo>
                  <a:pt x="45806" y="762736"/>
                </a:lnTo>
                <a:lnTo>
                  <a:pt x="29677" y="724771"/>
                </a:lnTo>
                <a:lnTo>
                  <a:pt x="16896" y="685641"/>
                </a:lnTo>
                <a:lnTo>
                  <a:pt x="7599" y="645456"/>
                </a:lnTo>
                <a:lnTo>
                  <a:pt x="1922" y="604325"/>
                </a:lnTo>
                <a:lnTo>
                  <a:pt x="0" y="562356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19555" y="341261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华文中宋"/>
                <a:cs typeface="华文中宋"/>
              </a:rPr>
              <a:t>损失抑制</a:t>
            </a:r>
            <a:endParaRPr sz="1800">
              <a:latin typeface="华文中宋"/>
              <a:cs typeface="华文中宋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77032" y="3267202"/>
            <a:ext cx="52127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85B21"/>
                </a:solidFill>
                <a:latin typeface="华文新魏"/>
                <a:cs typeface="华文新魏"/>
              </a:rPr>
              <a:t>例如：项目人员储备，抑制人员流失的 损失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64" y="0"/>
            <a:ext cx="2421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自留风险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3915" y="4673295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594" y="1636014"/>
            <a:ext cx="8784590" cy="108077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由项目组织自己承担风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险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事故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所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致损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失</a:t>
            </a:r>
            <a:r>
              <a:rPr sz="3200" dirty="0">
                <a:solidFill>
                  <a:srgbClr val="B85B21"/>
                </a:solidFill>
                <a:latin typeface="华文新魏"/>
                <a:cs typeface="华文新魏"/>
              </a:rPr>
              <a:t>的措</a:t>
            </a:r>
            <a:r>
              <a:rPr sz="3200" spc="-15" dirty="0">
                <a:solidFill>
                  <a:srgbClr val="B85B21"/>
                </a:solidFill>
                <a:latin typeface="华文新魏"/>
                <a:cs typeface="华文新魏"/>
              </a:rPr>
              <a:t>施</a:t>
            </a:r>
            <a:r>
              <a:rPr sz="3200" spc="5" dirty="0">
                <a:solidFill>
                  <a:srgbClr val="B85B21"/>
                </a:solidFill>
                <a:latin typeface="华文新魏"/>
                <a:cs typeface="华文新魏"/>
              </a:rPr>
              <a:t>。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65" y="200913"/>
            <a:ext cx="45002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风险管理应对计划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38</a:t>
            </a:r>
            <a:endParaRPr sz="700">
              <a:latin typeface="Arial Narrow"/>
              <a:cs typeface="Arial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-4572" y="1199388"/>
          <a:ext cx="9074147" cy="3820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7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3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排序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输入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风险事件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可能性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影响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风险值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5" dirty="0">
                          <a:latin typeface="宋体"/>
                          <a:cs typeface="宋体"/>
                        </a:rPr>
                        <a:t>采取的措施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447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 marR="170815">
                        <a:lnSpc>
                          <a:spcPts val="1380"/>
                        </a:lnSpc>
                        <a:spcBef>
                          <a:spcPts val="484"/>
                        </a:spcBef>
                      </a:pPr>
                      <a:r>
                        <a:rPr sz="1200" spc="285" dirty="0">
                          <a:latin typeface="宋体"/>
                          <a:cs typeface="宋体"/>
                        </a:rPr>
                        <a:t>系统设计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评 审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61594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 marR="210185">
                        <a:lnSpc>
                          <a:spcPts val="1380"/>
                        </a:lnSpc>
                        <a:spcBef>
                          <a:spcPts val="484"/>
                        </a:spcBef>
                      </a:pPr>
                      <a:r>
                        <a:rPr sz="1200" spc="10" dirty="0">
                          <a:latin typeface="宋体"/>
                          <a:cs typeface="宋体"/>
                        </a:rPr>
                        <a:t>没有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足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够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时间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进 行产品测试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61594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70%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 indent="-229870">
                        <a:lnSpc>
                          <a:spcPct val="100000"/>
                        </a:lnSpc>
                        <a:spcBef>
                          <a:spcPts val="330"/>
                        </a:spcBef>
                        <a:buSzPct val="91666"/>
                        <a:buFont typeface="Times New Roman"/>
                        <a:buAutoNum type="arabicPeriod"/>
                        <a:tabLst>
                          <a:tab pos="321310" algn="l"/>
                        </a:tabLst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采取加班的方法</a:t>
                      </a:r>
                      <a:endParaRPr sz="1200">
                        <a:latin typeface="宋体"/>
                        <a:cs typeface="宋体"/>
                      </a:endParaRPr>
                    </a:p>
                    <a:p>
                      <a:pPr marL="320675" indent="-229870">
                        <a:lnSpc>
                          <a:spcPct val="100000"/>
                        </a:lnSpc>
                        <a:buSzPct val="91666"/>
                        <a:buFont typeface="Times New Roman"/>
                        <a:buAutoNum type="arabicPeriod"/>
                        <a:tabLst>
                          <a:tab pos="321310" algn="l"/>
                        </a:tabLst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修改计划去掉一些任务</a:t>
                      </a:r>
                      <a:endParaRPr sz="1200">
                        <a:latin typeface="宋体"/>
                        <a:cs typeface="宋体"/>
                      </a:endParaRPr>
                    </a:p>
                    <a:p>
                      <a:pPr marL="91440" marR="85725">
                        <a:lnSpc>
                          <a:spcPct val="100000"/>
                        </a:lnSpc>
                        <a:buSzPct val="91666"/>
                        <a:buFont typeface="Times New Roman"/>
                        <a:buAutoNum type="arabicPeriod"/>
                        <a:tabLst>
                          <a:tab pos="329565" algn="l"/>
                        </a:tabLst>
                      </a:pPr>
                      <a:r>
                        <a:rPr sz="1200" spc="35" dirty="0">
                          <a:latin typeface="宋体"/>
                          <a:cs typeface="宋体"/>
                        </a:rPr>
                        <a:t>与客户商量延长一些时 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间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WBS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 marR="210185" algn="just">
                        <a:lnSpc>
                          <a:spcPct val="98000"/>
                        </a:lnSpc>
                        <a:spcBef>
                          <a:spcPts val="420"/>
                        </a:spcBef>
                      </a:pPr>
                      <a:r>
                        <a:rPr sz="1200" spc="10" dirty="0">
                          <a:latin typeface="宋体"/>
                          <a:cs typeface="宋体"/>
                        </a:rPr>
                        <a:t>对需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开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发式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系 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统标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准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没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有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合适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的 测试案例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16%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360" marR="211454">
                        <a:lnSpc>
                          <a:spcPts val="1380"/>
                        </a:lnSpc>
                        <a:spcBef>
                          <a:spcPts val="484"/>
                        </a:spcBef>
                      </a:pPr>
                      <a:r>
                        <a:rPr sz="1200" spc="30" dirty="0">
                          <a:latin typeface="宋体"/>
                          <a:cs typeface="宋体"/>
                        </a:rPr>
                        <a:t>找专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业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测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试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公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司完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成 测试工作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61594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83">
                <a:tc>
                  <a:txBody>
                    <a:bodyPr/>
                    <a:lstStyle/>
                    <a:p>
                      <a:pPr marL="158750">
                        <a:lnSpc>
                          <a:spcPts val="1425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415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需求和计划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355"/>
                        </a:lnSpc>
                        <a:spcBef>
                          <a:spcPts val="390"/>
                        </a:spcBef>
                      </a:pPr>
                      <a:r>
                        <a:rPr sz="1200" spc="10" dirty="0">
                          <a:latin typeface="宋体"/>
                          <a:cs typeface="宋体"/>
                        </a:rPr>
                        <a:t>采用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新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技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术</a:t>
                      </a:r>
                      <a:r>
                        <a:rPr sz="1200" spc="10" dirty="0">
                          <a:latin typeface="宋体"/>
                          <a:cs typeface="宋体"/>
                        </a:rPr>
                        <a:t>可可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能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1425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1425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1425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415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．培训开发人员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7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340"/>
                        </a:lnSpc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导致进度的延期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34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．找专家作指导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365"/>
                        </a:lnSpc>
                      </a:pPr>
                      <a:r>
                        <a:rPr sz="1200" spc="9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00" spc="90" dirty="0">
                          <a:latin typeface="宋体"/>
                          <a:cs typeface="宋体"/>
                        </a:rPr>
                        <a:t>．采取边开发边学习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0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325"/>
                        </a:lnSpc>
                      </a:pPr>
                      <a:r>
                        <a:rPr sz="1200" spc="35" dirty="0">
                          <a:latin typeface="宋体"/>
                          <a:cs typeface="宋体"/>
                        </a:rPr>
                        <a:t>的方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法</a:t>
                      </a:r>
                      <a:r>
                        <a:rPr sz="1200" spc="35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要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求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他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们必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须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310"/>
                        </a:lnSpc>
                      </a:pPr>
                      <a:r>
                        <a:rPr sz="1200" spc="30" dirty="0">
                          <a:latin typeface="宋体"/>
                          <a:cs typeface="宋体"/>
                        </a:rPr>
                        <a:t>在规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定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的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时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间</a:t>
                      </a:r>
                      <a:r>
                        <a:rPr sz="1200" spc="20" dirty="0">
                          <a:latin typeface="宋体"/>
                          <a:cs typeface="宋体"/>
                        </a:rPr>
                        <a:t>内</a:t>
                      </a:r>
                      <a:r>
                        <a:rPr sz="1200" spc="30" dirty="0">
                          <a:latin typeface="宋体"/>
                          <a:cs typeface="宋体"/>
                        </a:rPr>
                        <a:t>掌握</a:t>
                      </a:r>
                      <a:r>
                        <a:rPr sz="1200" dirty="0">
                          <a:latin typeface="宋体"/>
                          <a:cs typeface="宋体"/>
                        </a:rPr>
                        <a:t>技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360"/>
                        </a:lnSpc>
                      </a:pPr>
                      <a:r>
                        <a:rPr sz="1200" dirty="0">
                          <a:latin typeface="宋体"/>
                          <a:cs typeface="宋体"/>
                        </a:rPr>
                        <a:t>术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626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190" dirty="0">
                          <a:latin typeface="宋体"/>
                          <a:cs typeface="宋体"/>
                        </a:rPr>
                        <a:t>。。。</a:t>
                      </a:r>
                      <a:endParaRPr sz="1200">
                        <a:latin typeface="宋体"/>
                        <a:cs typeface="宋体"/>
                      </a:endParaRPr>
                    </a:p>
                  </a:txBody>
                  <a:tcPr marL="0" marR="0" marT="42545" marB="0"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10438"/>
            <a:ext cx="72777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风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险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管理计划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---</a:t>
            </a:r>
            <a:r>
              <a:rPr sz="4400" i="1" spc="-4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TOP</a:t>
            </a:r>
            <a:r>
              <a:rPr sz="4400" i="1" spc="-3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清单例子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9816" y="4724310"/>
            <a:ext cx="7994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90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39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059178"/>
            <a:ext cx="9143999" cy="4084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74701"/>
            <a:ext cx="6472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风险管理计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划</a:t>
            </a:r>
            <a:r>
              <a:rPr sz="4000" i="1" spc="-5" dirty="0">
                <a:solidFill>
                  <a:srgbClr val="775F54"/>
                </a:solidFill>
                <a:latin typeface="华文隶书"/>
                <a:cs typeface="华文隶书"/>
              </a:rPr>
              <a:t>--</a:t>
            </a:r>
            <a:r>
              <a:rPr sz="4000" i="1" spc="1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000" i="1" spc="-5" dirty="0">
                <a:solidFill>
                  <a:srgbClr val="775F54"/>
                </a:solidFill>
                <a:latin typeface="华文隶书"/>
                <a:cs typeface="华文隶书"/>
              </a:rPr>
              <a:t>TOP</a:t>
            </a:r>
            <a:r>
              <a:rPr sz="4000" i="1" spc="-2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000" spc="-5" dirty="0">
                <a:solidFill>
                  <a:srgbClr val="775F54"/>
                </a:solidFill>
                <a:latin typeface="华文隶书"/>
                <a:cs typeface="华文隶书"/>
              </a:rPr>
              <a:t>清单例子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1514" y="4770334"/>
            <a:ext cx="7994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90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40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311" y="1149094"/>
            <a:ext cx="8927592" cy="3994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960119"/>
            <a:ext cx="8552815" cy="172720"/>
          </a:xfrm>
          <a:custGeom>
            <a:avLst/>
            <a:gdLst/>
            <a:ahLst/>
            <a:cxnLst/>
            <a:rect l="l" t="t" r="r" b="b"/>
            <a:pathLst>
              <a:path w="8552815" h="172719">
                <a:moveTo>
                  <a:pt x="0" y="172212"/>
                </a:moveTo>
                <a:lnTo>
                  <a:pt x="8552688" y="172212"/>
                </a:lnTo>
                <a:lnTo>
                  <a:pt x="855268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96138"/>
            <a:ext cx="22644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60119"/>
            <a:ext cx="533400" cy="17272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700" b="1" spc="-15" dirty="0">
                <a:latin typeface="Arial Narrow"/>
                <a:cs typeface="Arial Narrow"/>
              </a:rPr>
              <a:t>41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0889" y="126930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711" y="1168908"/>
            <a:ext cx="50482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889" y="2105662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2005583"/>
            <a:ext cx="48196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414" y="289211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6711" y="2790444"/>
            <a:ext cx="483234" cy="50609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83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9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2414" y="367816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11" y="3576828"/>
            <a:ext cx="483234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20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155" y="1168908"/>
            <a:ext cx="4628515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125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风险基本概念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8295" y="2005583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207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7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风险管理过程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2790444"/>
            <a:ext cx="4630420" cy="50609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9017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71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敏捷项目风险计划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820" y="3576828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874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51002"/>
            <a:ext cx="56184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敏捷项目风险应对方法</a:t>
            </a:r>
            <a:endParaRPr sz="4400">
              <a:latin typeface="华文新魏"/>
              <a:cs typeface="华文新魏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440" y="1055047"/>
            <a:ext cx="5995670" cy="298005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9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华文新魏"/>
                <a:cs typeface="华文新魏"/>
              </a:rPr>
              <a:t>损失预防与损失抑制策略</a:t>
            </a:r>
            <a:endParaRPr sz="2900">
              <a:latin typeface="华文新魏"/>
              <a:cs typeface="华文新魏"/>
            </a:endParaRPr>
          </a:p>
          <a:p>
            <a:pPr marL="652780" indent="-273685">
              <a:lnSpc>
                <a:spcPct val="100000"/>
              </a:lnSpc>
              <a:spcBef>
                <a:spcPts val="62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dirty="0">
                <a:latin typeface="华文新魏"/>
                <a:cs typeface="华文新魏"/>
              </a:rPr>
              <a:t>跨职能项目团队</a:t>
            </a:r>
            <a:r>
              <a:rPr sz="2600" spc="-5" dirty="0">
                <a:latin typeface="华文新魏"/>
                <a:cs typeface="华文新魏"/>
              </a:rPr>
              <a:t>(</a:t>
            </a:r>
            <a:r>
              <a:rPr sz="2600" dirty="0">
                <a:latin typeface="华文新魏"/>
                <a:cs typeface="华文新魏"/>
              </a:rPr>
              <a:t>识别风</a:t>
            </a:r>
            <a:r>
              <a:rPr sz="2600" spc="-10" dirty="0">
                <a:latin typeface="华文新魏"/>
                <a:cs typeface="华文新魏"/>
              </a:rPr>
              <a:t>险</a:t>
            </a:r>
            <a:r>
              <a:rPr sz="2600" dirty="0">
                <a:latin typeface="华文新魏"/>
                <a:cs typeface="华文新魏"/>
              </a:rPr>
              <a:t>)</a:t>
            </a:r>
            <a:endParaRPr sz="2600">
              <a:latin typeface="华文新魏"/>
              <a:cs typeface="华文新魏"/>
            </a:endParaRPr>
          </a:p>
          <a:p>
            <a:pPr marL="652780" indent="-27368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dirty="0">
                <a:latin typeface="华文新魏"/>
                <a:cs typeface="华文新魏"/>
              </a:rPr>
              <a:t>选择迭代内</a:t>
            </a:r>
            <a:r>
              <a:rPr sz="2600" spc="610" dirty="0">
                <a:latin typeface="华文新魏"/>
                <a:cs typeface="华文新魏"/>
              </a:rPr>
              <a:t>容</a:t>
            </a:r>
            <a:r>
              <a:rPr sz="2600" spc="-5" dirty="0">
                <a:latin typeface="华文新魏"/>
                <a:cs typeface="华文新魏"/>
              </a:rPr>
              <a:t>(</a:t>
            </a:r>
            <a:r>
              <a:rPr sz="2600" dirty="0">
                <a:latin typeface="华文新魏"/>
                <a:cs typeface="华文新魏"/>
              </a:rPr>
              <a:t>选择风险小的)</a:t>
            </a:r>
            <a:endParaRPr sz="2600">
              <a:latin typeface="华文新魏"/>
              <a:cs typeface="华文新魏"/>
            </a:endParaRPr>
          </a:p>
          <a:p>
            <a:pPr marL="65278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653415" algn="l"/>
              </a:tabLst>
            </a:pPr>
            <a:r>
              <a:rPr sz="2600" dirty="0">
                <a:latin typeface="华文新魏"/>
                <a:cs typeface="华文新魏"/>
              </a:rPr>
              <a:t>频繁评</a:t>
            </a:r>
            <a:r>
              <a:rPr sz="2600" spc="-5" dirty="0">
                <a:latin typeface="华文新魏"/>
                <a:cs typeface="华文新魏"/>
              </a:rPr>
              <a:t>审</a:t>
            </a:r>
            <a:r>
              <a:rPr sz="2600" dirty="0">
                <a:latin typeface="华文新魏"/>
                <a:cs typeface="华文新魏"/>
              </a:rPr>
              <a:t>增量产品</a:t>
            </a:r>
            <a:endParaRPr sz="2600">
              <a:latin typeface="华文新魏"/>
              <a:cs typeface="华文新魏"/>
            </a:endParaRPr>
          </a:p>
          <a:p>
            <a:pPr marL="652780" indent="-273685">
              <a:lnSpc>
                <a:spcPct val="100000"/>
              </a:lnSpc>
              <a:spcBef>
                <a:spcPts val="580"/>
              </a:spcBef>
              <a:buClr>
                <a:srgbClr val="93B6D2"/>
              </a:buClr>
              <a:buSzPct val="69642"/>
              <a:buFont typeface="Wingdings 2"/>
              <a:buChar char=""/>
              <a:tabLst>
                <a:tab pos="653415" algn="l"/>
              </a:tabLst>
            </a:pPr>
            <a:r>
              <a:rPr sz="2800" spc="-10" dirty="0">
                <a:latin typeface="华文新魏"/>
                <a:cs typeface="华文新魏"/>
              </a:rPr>
              <a:t>持续测试可以及早发现问题</a:t>
            </a:r>
            <a:endParaRPr sz="2800">
              <a:latin typeface="华文新魏"/>
              <a:cs typeface="华文新魏"/>
            </a:endParaRPr>
          </a:p>
          <a:p>
            <a:pPr marL="652780" indent="-27368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642"/>
              <a:buFont typeface="Wingdings 2"/>
              <a:buChar char=""/>
              <a:tabLst>
                <a:tab pos="653415" algn="l"/>
              </a:tabLst>
            </a:pPr>
            <a:r>
              <a:rPr sz="2800" spc="-5" dirty="0">
                <a:latin typeface="华文新魏"/>
                <a:cs typeface="华文新魏"/>
              </a:rPr>
              <a:t>客</a:t>
            </a:r>
            <a:r>
              <a:rPr sz="2800" spc="-10" dirty="0">
                <a:latin typeface="华文新魏"/>
                <a:cs typeface="华文新魏"/>
              </a:rPr>
              <a:t>户</a:t>
            </a:r>
            <a:r>
              <a:rPr sz="2800" spc="-5" dirty="0">
                <a:latin typeface="华文新魏"/>
                <a:cs typeface="华文新魏"/>
              </a:rPr>
              <a:t>参与可以减少需求变更的风险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0914" y="4735169"/>
            <a:ext cx="82676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0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54051"/>
            <a:ext cx="45002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新魏"/>
                <a:cs typeface="华文新魏"/>
              </a:rPr>
              <a:t>敏捷项目存在风险</a:t>
            </a:r>
            <a:endParaRPr sz="4400">
              <a:latin typeface="华文新魏"/>
              <a:cs typeface="华文新魏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193516"/>
            <a:ext cx="6453505" cy="10858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没有长期计划,识别一</a:t>
            </a:r>
            <a:r>
              <a:rPr sz="2900" spc="-15" dirty="0">
                <a:latin typeface="华文新魏"/>
                <a:cs typeface="华文新魏"/>
              </a:rPr>
              <a:t>些</a:t>
            </a:r>
            <a:r>
              <a:rPr sz="2900" dirty="0">
                <a:latin typeface="华文新魏"/>
                <a:cs typeface="华文新魏"/>
              </a:rPr>
              <a:t>风险</a:t>
            </a:r>
            <a:r>
              <a:rPr sz="2900" spc="-15" dirty="0">
                <a:latin typeface="华文新魏"/>
                <a:cs typeface="华文新魏"/>
              </a:rPr>
              <a:t>比</a:t>
            </a:r>
            <a:r>
              <a:rPr sz="2900" dirty="0">
                <a:latin typeface="华文新魏"/>
                <a:cs typeface="华文新魏"/>
              </a:rPr>
              <a:t>较困</a:t>
            </a:r>
            <a:r>
              <a:rPr sz="2900" spc="-10" dirty="0">
                <a:latin typeface="华文新魏"/>
                <a:cs typeface="华文新魏"/>
              </a:rPr>
              <a:t>难</a:t>
            </a:r>
            <a:r>
              <a:rPr sz="2900" dirty="0">
                <a:latin typeface="华文新魏"/>
                <a:cs typeface="华文新魏"/>
              </a:rPr>
              <a:t>.</a:t>
            </a:r>
            <a:endParaRPr sz="2900">
              <a:latin typeface="华文新魏"/>
              <a:cs typeface="华文新魏"/>
            </a:endParaRPr>
          </a:p>
          <a:p>
            <a:pPr marL="33274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没有长期规划，存在变更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2541" y="460654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solidFill>
                  <a:srgbClr val="775F54"/>
                </a:solidFill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960119"/>
            <a:ext cx="8552815" cy="172720"/>
          </a:xfrm>
          <a:custGeom>
            <a:avLst/>
            <a:gdLst/>
            <a:ahLst/>
            <a:cxnLst/>
            <a:rect l="l" t="t" r="r" b="b"/>
            <a:pathLst>
              <a:path w="8552815" h="172719">
                <a:moveTo>
                  <a:pt x="0" y="172212"/>
                </a:moveTo>
                <a:lnTo>
                  <a:pt x="8552688" y="172212"/>
                </a:lnTo>
                <a:lnTo>
                  <a:pt x="855268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639" y="96138"/>
            <a:ext cx="22644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960119"/>
            <a:ext cx="533400" cy="17272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700" b="1" spc="-15" dirty="0">
                <a:latin typeface="Arial Narrow"/>
                <a:cs typeface="Arial Narrow"/>
              </a:rPr>
              <a:t>44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0889" y="126930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6711" y="1168908"/>
            <a:ext cx="50482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889" y="2105662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711" y="2005583"/>
            <a:ext cx="481965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1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414" y="289211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6711" y="2790444"/>
            <a:ext cx="483234" cy="50609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83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9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2414" y="367816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711" y="3576828"/>
            <a:ext cx="483234" cy="5048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1620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1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155" y="1168908"/>
            <a:ext cx="4628515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125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风险基本概念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8295" y="2005583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207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7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风险管理过程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820" y="2790444"/>
            <a:ext cx="4630420" cy="50609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017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71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敏捷项目风险管理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820" y="3576828"/>
            <a:ext cx="4630420" cy="5048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874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59258"/>
            <a:ext cx="8413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医疗信息商务平台：项目风险</a:t>
            </a:r>
            <a:r>
              <a:rPr sz="4400" spc="-20" dirty="0">
                <a:solidFill>
                  <a:srgbClr val="775F54"/>
                </a:solidFill>
                <a:latin typeface="华文隶书"/>
                <a:cs typeface="华文隶书"/>
              </a:rPr>
              <a:t>计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9816" y="4724310"/>
            <a:ext cx="7994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90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45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831" y="1112518"/>
            <a:ext cx="8712708" cy="3991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67081"/>
            <a:ext cx="1144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小结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5140" y="4746142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45" dirty="0">
                <a:latin typeface="Arial Narrow"/>
                <a:cs typeface="Arial Narrow"/>
              </a:rPr>
              <a:t>11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46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222" y="1564386"/>
            <a:ext cx="8153400" cy="14401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09575" indent="-320675">
              <a:lnSpc>
                <a:spcPct val="100000"/>
              </a:lnSpc>
              <a:spcBef>
                <a:spcPts val="13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209" algn="l"/>
              </a:tabLst>
            </a:pPr>
            <a:r>
              <a:rPr sz="2900" b="1" spc="10" dirty="0">
                <a:solidFill>
                  <a:srgbClr val="B85B21"/>
                </a:solidFill>
                <a:latin typeface="华文仿宋"/>
                <a:cs typeface="华文仿宋"/>
              </a:rPr>
              <a:t>风险</a:t>
            </a:r>
            <a:r>
              <a:rPr sz="2900" b="1" dirty="0">
                <a:solidFill>
                  <a:srgbClr val="B85B21"/>
                </a:solidFill>
                <a:latin typeface="华文仿宋"/>
                <a:cs typeface="华文仿宋"/>
              </a:rPr>
              <a:t>管理的四个</a:t>
            </a:r>
            <a:r>
              <a:rPr sz="2900" b="1" spc="-10" dirty="0">
                <a:solidFill>
                  <a:srgbClr val="B85B21"/>
                </a:solidFill>
                <a:latin typeface="华文仿宋"/>
                <a:cs typeface="华文仿宋"/>
              </a:rPr>
              <a:t>过</a:t>
            </a:r>
            <a:r>
              <a:rPr sz="2900" b="1" dirty="0">
                <a:solidFill>
                  <a:srgbClr val="B85B21"/>
                </a:solidFill>
                <a:latin typeface="华文仿宋"/>
                <a:cs typeface="华文仿宋"/>
              </a:rPr>
              <a:t>程</a:t>
            </a:r>
            <a:endParaRPr sz="2900">
              <a:latin typeface="华文仿宋"/>
              <a:cs typeface="华文仿宋"/>
            </a:endParaRPr>
          </a:p>
          <a:p>
            <a:pPr marL="40957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209" algn="l"/>
              </a:tabLst>
            </a:pPr>
            <a:r>
              <a:rPr sz="2900" b="1" spc="5" dirty="0">
                <a:solidFill>
                  <a:srgbClr val="B85B21"/>
                </a:solidFill>
                <a:latin typeface="华文仿宋"/>
                <a:cs typeface="华文仿宋"/>
              </a:rPr>
              <a:t>风险</a:t>
            </a:r>
            <a:r>
              <a:rPr sz="2900" b="1" dirty="0">
                <a:solidFill>
                  <a:srgbClr val="B85B21"/>
                </a:solidFill>
                <a:latin typeface="华文仿宋"/>
                <a:cs typeface="华文仿宋"/>
              </a:rPr>
              <a:t>管理</a:t>
            </a:r>
            <a:r>
              <a:rPr sz="2900" b="1" spc="-15" dirty="0">
                <a:solidFill>
                  <a:srgbClr val="B85B21"/>
                </a:solidFill>
                <a:latin typeface="华文仿宋"/>
                <a:cs typeface="华文仿宋"/>
              </a:rPr>
              <a:t>计</a:t>
            </a:r>
            <a:r>
              <a:rPr sz="2900" b="1" dirty="0">
                <a:solidFill>
                  <a:srgbClr val="B85B21"/>
                </a:solidFill>
                <a:latin typeface="华文仿宋"/>
                <a:cs typeface="华文仿宋"/>
              </a:rPr>
              <a:t>划</a:t>
            </a:r>
            <a:endParaRPr sz="29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824</Words>
  <Application>Microsoft Macintosh PowerPoint</Application>
  <PresentationFormat>全屏显示(16:9)</PresentationFormat>
  <Paragraphs>385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仿宋</vt:lpstr>
      <vt:lpstr>华文仿宋</vt:lpstr>
      <vt:lpstr>华文琥珀</vt:lpstr>
      <vt:lpstr>华文楷体</vt:lpstr>
      <vt:lpstr>华文隶书</vt:lpstr>
      <vt:lpstr>华文新魏</vt:lpstr>
      <vt:lpstr>华文行楷</vt:lpstr>
      <vt:lpstr>华文中宋</vt:lpstr>
      <vt:lpstr>宋体</vt:lpstr>
      <vt:lpstr>微软雅黑</vt:lpstr>
      <vt:lpstr>Arial Narrow</vt:lpstr>
      <vt:lpstr>Calibri</vt:lpstr>
      <vt:lpstr>Times New Roman</vt:lpstr>
      <vt:lpstr>Tw Cen MT</vt:lpstr>
      <vt:lpstr>Wingdings</vt:lpstr>
      <vt:lpstr>Wingdings 2</vt:lpstr>
      <vt:lpstr>Office Theme</vt:lpstr>
      <vt:lpstr>路线图:风险计划</vt:lpstr>
      <vt:lpstr>唯有变化才是永恒的</vt:lpstr>
      <vt:lpstr>第 11 章</vt:lpstr>
      <vt:lpstr>本章要点</vt:lpstr>
      <vt:lpstr>风险定义</vt:lpstr>
      <vt:lpstr>风险类型</vt:lpstr>
      <vt:lpstr>项目风险的三要素</vt:lpstr>
      <vt:lpstr>风险管理的四个过程</vt:lpstr>
      <vt:lpstr>1)风险识别</vt:lpstr>
      <vt:lpstr>风险管理的四个过程</vt:lpstr>
      <vt:lpstr>2)风险评估</vt:lpstr>
      <vt:lpstr>风险管理的四个过程</vt:lpstr>
      <vt:lpstr>3)风险规划</vt:lpstr>
      <vt:lpstr>风险管理的四个过程</vt:lpstr>
      <vt:lpstr>4)风险控制</vt:lpstr>
      <vt:lpstr>本章要点</vt:lpstr>
      <vt:lpstr>风险识别方法</vt:lpstr>
      <vt:lpstr>风险条目检查表—实例</vt:lpstr>
      <vt:lpstr>风险识别的结果</vt:lpstr>
      <vt:lpstr>风险评估</vt:lpstr>
      <vt:lpstr>风险实验:</vt:lpstr>
      <vt:lpstr>风险评估的方法-定性风险评估</vt:lpstr>
      <vt:lpstr>风险概率</vt:lpstr>
      <vt:lpstr>风险影响</vt:lpstr>
      <vt:lpstr>风险概率及后果估计-矩阵图</vt:lpstr>
      <vt:lpstr>风险实验: 可以定性方法选择A,B</vt:lpstr>
      <vt:lpstr>风险评估的方法-定量风险评估</vt:lpstr>
      <vt:lpstr>决策树分析</vt:lpstr>
      <vt:lpstr>决策树分析与EMV ( Expected Monetary Value)</vt:lpstr>
      <vt:lpstr>决策树分析例子</vt:lpstr>
      <vt:lpstr>风险实验:决策树分析结果</vt:lpstr>
      <vt:lpstr>风险评估结果实例</vt:lpstr>
      <vt:lpstr>风险规划的主要策略</vt:lpstr>
      <vt:lpstr>-回避风险</vt:lpstr>
      <vt:lpstr>-转移风险</vt:lpstr>
      <vt:lpstr>-损失控制</vt:lpstr>
      <vt:lpstr>-自留风险</vt:lpstr>
      <vt:lpstr>风险管理应对计划</vt:lpstr>
      <vt:lpstr>风险管理计划--- TOP 清单例子</vt:lpstr>
      <vt:lpstr>风险管理计划-- TOP 清单例子</vt:lpstr>
      <vt:lpstr>本章要点</vt:lpstr>
      <vt:lpstr>敏捷项目风险应对方法</vt:lpstr>
      <vt:lpstr>敏捷项目存在风险</vt:lpstr>
      <vt:lpstr>本章要点</vt:lpstr>
      <vt:lpstr>医疗信息商务平台：项目风险计划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项目管理_</dc:title>
  <dc:subject>第十章</dc:subject>
  <dc:creator>hanwanjiang</dc:creator>
  <cp:lastModifiedBy>Microsoft Office 用户</cp:lastModifiedBy>
  <cp:revision>2</cp:revision>
  <dcterms:created xsi:type="dcterms:W3CDTF">2020-06-12T01:25:21Z</dcterms:created>
  <dcterms:modified xsi:type="dcterms:W3CDTF">2024-04-11T04:01:58Z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