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5143500" type="screen16x9"/>
  <p:notesSz cx="9144000" cy="51435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0"/>
    <p:restoredTop sz="94436"/>
  </p:normalViewPr>
  <p:slideViewPr>
    <p:cSldViewPr>
      <p:cViewPr varScale="1">
        <p:scale>
          <a:sx n="109" d="100"/>
          <a:sy n="109" d="100"/>
        </p:scale>
        <p:origin x="200" y="6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0018" y="1733499"/>
            <a:ext cx="2743962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FF66FF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36116" y="3373628"/>
            <a:ext cx="6271767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FF66FF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bg1"/>
                </a:solidFill>
                <a:latin typeface="华文行楷"/>
                <a:cs typeface="华文行楷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60119"/>
            <a:ext cx="533400" cy="172720"/>
          </a:xfrm>
          <a:custGeom>
            <a:avLst/>
            <a:gdLst/>
            <a:ahLst/>
            <a:cxnLst/>
            <a:rect l="l" t="t" r="r" b="b"/>
            <a:pathLst>
              <a:path w="533400" h="172719">
                <a:moveTo>
                  <a:pt x="0" y="172212"/>
                </a:moveTo>
                <a:lnTo>
                  <a:pt x="533400" y="172212"/>
                </a:lnTo>
                <a:lnTo>
                  <a:pt x="533400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960119"/>
            <a:ext cx="8552815" cy="172720"/>
          </a:xfrm>
          <a:custGeom>
            <a:avLst/>
            <a:gdLst/>
            <a:ahLst/>
            <a:cxnLst/>
            <a:rect l="l" t="t" r="r" b="b"/>
            <a:pathLst>
              <a:path w="8552815" h="172719">
                <a:moveTo>
                  <a:pt x="0" y="172212"/>
                </a:moveTo>
                <a:lnTo>
                  <a:pt x="8552688" y="172212"/>
                </a:lnTo>
                <a:lnTo>
                  <a:pt x="8552688" y="0"/>
                </a:lnTo>
                <a:lnTo>
                  <a:pt x="0" y="0"/>
                </a:lnTo>
                <a:lnTo>
                  <a:pt x="0" y="172212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6087" y="141858"/>
            <a:ext cx="795182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52980" y="1312240"/>
            <a:ext cx="5638038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bg1"/>
                </a:solidFill>
                <a:latin typeface="华文行楷"/>
                <a:cs typeface="华文行楷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74701"/>
            <a:ext cx="30708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项目执行控制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8111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7971" y="2311665"/>
            <a:ext cx="8030612" cy="11036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74701"/>
            <a:ext cx="1548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775F54"/>
                </a:solidFill>
                <a:latin typeface="华文隶书"/>
                <a:cs typeface="华文隶书"/>
              </a:rPr>
              <a:t>路线图</a:t>
            </a:r>
            <a:endParaRPr sz="40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8111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2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3157" y="1837757"/>
            <a:ext cx="6226931" cy="1711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00327" y="3506723"/>
            <a:ext cx="7014972" cy="844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4642" y="122047"/>
            <a:ext cx="5556758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软件项目管理	</a:t>
            </a:r>
            <a:r>
              <a:rPr sz="4000" spc="969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975" dirty="0">
                <a:solidFill>
                  <a:srgbClr val="775F54"/>
                </a:solidFill>
                <a:latin typeface="华文琥珀"/>
                <a:cs typeface="华文琥珀"/>
              </a:rPr>
              <a:t>三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篇</a:t>
            </a:r>
            <a:endParaRPr sz="4000" dirty="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第 </a:t>
            </a:r>
            <a:r>
              <a:rPr dirty="0"/>
              <a:t>13</a:t>
            </a:r>
            <a:r>
              <a:rPr spc="-70" dirty="0"/>
              <a:t> </a:t>
            </a:r>
            <a:r>
              <a:rPr spc="-5" dirty="0"/>
              <a:t>章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74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项</a:t>
            </a:r>
            <a:r>
              <a:rPr spc="5" dirty="0"/>
              <a:t>目</a:t>
            </a:r>
            <a:r>
              <a:rPr spc="-5" dirty="0"/>
              <a:t>集成计划执行控制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41858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6448" y="4700117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614" y="14606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6420" y="1287780"/>
            <a:ext cx="483234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796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4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614" y="224625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4895" y="2072639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923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9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614" y="30325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4895" y="285902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9527" y="1287780"/>
            <a:ext cx="4628515" cy="6496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435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1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项目集成计划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527" y="2072639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478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140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集成计划的执行控制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9527" y="2859023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敏捷项目集成管理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1614" y="382508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34895" y="365150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9527" y="3651503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115" y="96138"/>
            <a:ext cx="3381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项目集成管理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73172" y="1457705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质量目标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7244" y="2385441"/>
            <a:ext cx="7391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进度目标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9403" y="2385440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成本目标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16400" y="4046321"/>
            <a:ext cx="8883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宋体"/>
                <a:cs typeface="宋体"/>
              </a:rPr>
              <a:t>其他</a:t>
            </a:r>
            <a:r>
              <a:rPr sz="1800" spc="-5" dirty="0">
                <a:latin typeface="宋体"/>
                <a:cs typeface="宋体"/>
              </a:rPr>
              <a:t>目标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9944" y="4046321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宋体"/>
                <a:cs typeface="宋体"/>
              </a:rPr>
              <a:t>范围目标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68423" y="1798320"/>
            <a:ext cx="2887980" cy="2405380"/>
          </a:xfrm>
          <a:custGeom>
            <a:avLst/>
            <a:gdLst/>
            <a:ahLst/>
            <a:cxnLst/>
            <a:rect l="l" t="t" r="r" b="b"/>
            <a:pathLst>
              <a:path w="2887979" h="2405379">
                <a:moveTo>
                  <a:pt x="0" y="918590"/>
                </a:moveTo>
                <a:lnTo>
                  <a:pt x="1443989" y="0"/>
                </a:lnTo>
                <a:lnTo>
                  <a:pt x="2887979" y="918590"/>
                </a:lnTo>
                <a:lnTo>
                  <a:pt x="2336418" y="2404871"/>
                </a:lnTo>
                <a:lnTo>
                  <a:pt x="551561" y="2404871"/>
                </a:lnTo>
                <a:lnTo>
                  <a:pt x="0" y="91859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499105" y="2622550"/>
            <a:ext cx="15525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25000"/>
              </a:lnSpc>
              <a:spcBef>
                <a:spcPts val="100"/>
              </a:spcBef>
            </a:pPr>
            <a:r>
              <a:rPr sz="2000" dirty="0">
                <a:solidFill>
                  <a:srgbClr val="DD8046"/>
                </a:solidFill>
                <a:latin typeface="宋体"/>
                <a:cs typeface="宋体"/>
              </a:rPr>
              <a:t>项目总目标： 用户满意</a:t>
            </a:r>
            <a:endParaRPr sz="2000" dirty="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02911" y="2167127"/>
            <a:ext cx="3345815" cy="1093470"/>
          </a:xfrm>
          <a:custGeom>
            <a:avLst/>
            <a:gdLst/>
            <a:ahLst/>
            <a:cxnLst/>
            <a:rect l="l" t="t" r="r" b="b"/>
            <a:pathLst>
              <a:path w="3345815" h="1093470">
                <a:moveTo>
                  <a:pt x="1902460" y="0"/>
                </a:moveTo>
                <a:lnTo>
                  <a:pt x="2142997" y="0"/>
                </a:lnTo>
                <a:lnTo>
                  <a:pt x="2503805" y="0"/>
                </a:lnTo>
                <a:lnTo>
                  <a:pt x="3345688" y="0"/>
                </a:lnTo>
                <a:lnTo>
                  <a:pt x="3345688" y="539623"/>
                </a:lnTo>
                <a:lnTo>
                  <a:pt x="3345688" y="770890"/>
                </a:lnTo>
                <a:lnTo>
                  <a:pt x="3345688" y="925068"/>
                </a:lnTo>
                <a:lnTo>
                  <a:pt x="2503805" y="925068"/>
                </a:lnTo>
                <a:lnTo>
                  <a:pt x="2142997" y="925068"/>
                </a:lnTo>
                <a:lnTo>
                  <a:pt x="1902460" y="925068"/>
                </a:lnTo>
                <a:lnTo>
                  <a:pt x="1902460" y="770890"/>
                </a:lnTo>
                <a:lnTo>
                  <a:pt x="0" y="1093470"/>
                </a:lnTo>
                <a:lnTo>
                  <a:pt x="1902460" y="539623"/>
                </a:lnTo>
                <a:lnTo>
                  <a:pt x="190246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85382" y="2195525"/>
            <a:ext cx="73914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66FF"/>
                </a:solidFill>
                <a:latin typeface="宋体"/>
                <a:cs typeface="宋体"/>
              </a:rPr>
              <a:t>约束绳：</a:t>
            </a:r>
            <a:endParaRPr sz="14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66FF"/>
                </a:solidFill>
                <a:latin typeface="宋体"/>
                <a:cs typeface="宋体"/>
              </a:rPr>
              <a:t>相互制约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2526" y="4495038"/>
            <a:ext cx="4630420" cy="523240"/>
          </a:xfrm>
          <a:prstGeom prst="rect">
            <a:avLst/>
          </a:prstGeom>
          <a:ln w="28955">
            <a:solidFill>
              <a:srgbClr val="001F5F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项目集成管理由项目经理负责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391" y="174701"/>
            <a:ext cx="66236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软件项目管</a:t>
            </a:r>
            <a:r>
              <a:rPr sz="4000" spc="-5" dirty="0"/>
              <a:t>理</a:t>
            </a:r>
            <a:r>
              <a:rPr sz="4000" spc="-10" dirty="0"/>
              <a:t>的重要四个要素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932046" y="4530953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13</a:t>
            </a:r>
            <a:endParaRPr sz="1400" dirty="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347977"/>
            <a:ext cx="8153400" cy="266446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5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b="1" spc="10" dirty="0">
                <a:solidFill>
                  <a:srgbClr val="B85B21"/>
                </a:solidFill>
                <a:latin typeface="华文仿宋"/>
                <a:cs typeface="华文仿宋"/>
              </a:rPr>
              <a:t>范</a:t>
            </a:r>
            <a:r>
              <a:rPr sz="2900" b="1" spc="5" dirty="0">
                <a:solidFill>
                  <a:srgbClr val="B85B21"/>
                </a:solidFill>
                <a:latin typeface="华文仿宋"/>
                <a:cs typeface="华文仿宋"/>
              </a:rPr>
              <a:t>围</a:t>
            </a:r>
            <a:r>
              <a:rPr sz="2900" b="1" dirty="0">
                <a:solidFill>
                  <a:srgbClr val="B85B21"/>
                </a:solidFill>
                <a:latin typeface="Tw Cen MT"/>
                <a:cs typeface="Tw Cen MT"/>
              </a:rPr>
              <a:t>(S)</a:t>
            </a:r>
            <a:endParaRPr sz="2900">
              <a:latin typeface="Tw Cen MT"/>
              <a:cs typeface="Tw Cen MT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b="1" spc="10" dirty="0">
                <a:solidFill>
                  <a:srgbClr val="B85B21"/>
                </a:solidFill>
                <a:latin typeface="华文仿宋"/>
                <a:cs typeface="华文仿宋"/>
              </a:rPr>
              <a:t>质量</a:t>
            </a:r>
            <a:r>
              <a:rPr sz="2900" b="1" dirty="0">
                <a:solidFill>
                  <a:srgbClr val="B85B21"/>
                </a:solidFill>
                <a:latin typeface="Tw Cen MT"/>
                <a:cs typeface="Tw Cen MT"/>
              </a:rPr>
              <a:t>(Q)</a:t>
            </a:r>
            <a:endParaRPr sz="2900">
              <a:latin typeface="Tw Cen MT"/>
              <a:cs typeface="Tw Cen MT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b="1" spc="10" dirty="0">
                <a:solidFill>
                  <a:srgbClr val="B85B21"/>
                </a:solidFill>
                <a:latin typeface="华文仿宋"/>
                <a:cs typeface="华文仿宋"/>
              </a:rPr>
              <a:t>进</a:t>
            </a:r>
            <a:r>
              <a:rPr sz="2900" b="1" spc="5" dirty="0">
                <a:solidFill>
                  <a:srgbClr val="B85B21"/>
                </a:solidFill>
                <a:latin typeface="华文仿宋"/>
                <a:cs typeface="华文仿宋"/>
              </a:rPr>
              <a:t>度</a:t>
            </a:r>
            <a:r>
              <a:rPr sz="2900" b="1" dirty="0">
                <a:solidFill>
                  <a:srgbClr val="B85B21"/>
                </a:solidFill>
                <a:latin typeface="Tw Cen MT"/>
                <a:cs typeface="Tw Cen MT"/>
              </a:rPr>
              <a:t>(T)</a:t>
            </a:r>
            <a:endParaRPr sz="2900">
              <a:latin typeface="Tw Cen MT"/>
              <a:cs typeface="Tw Cen MT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b="1" spc="10" dirty="0">
                <a:solidFill>
                  <a:srgbClr val="B85B21"/>
                </a:solidFill>
                <a:latin typeface="华文仿宋"/>
                <a:cs typeface="华文仿宋"/>
              </a:rPr>
              <a:t>成本</a:t>
            </a:r>
            <a:r>
              <a:rPr sz="2900" b="1" dirty="0">
                <a:solidFill>
                  <a:srgbClr val="B85B21"/>
                </a:solidFill>
                <a:latin typeface="Tw Cen MT"/>
                <a:cs typeface="Tw Cen MT"/>
              </a:rPr>
              <a:t>(C)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82362" y="1632180"/>
            <a:ext cx="3146069" cy="21115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65303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四要素的关系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8346" y="4746142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95222" y="2073401"/>
            <a:ext cx="6361176" cy="2371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95222" y="2073401"/>
            <a:ext cx="6361430" cy="2371725"/>
          </a:xfrm>
          <a:custGeom>
            <a:avLst/>
            <a:gdLst/>
            <a:ahLst/>
            <a:cxnLst/>
            <a:rect l="l" t="t" r="r" b="b"/>
            <a:pathLst>
              <a:path w="6361430" h="2371725">
                <a:moveTo>
                  <a:pt x="0" y="395224"/>
                </a:moveTo>
                <a:lnTo>
                  <a:pt x="2658" y="349125"/>
                </a:lnTo>
                <a:lnTo>
                  <a:pt x="10436" y="304591"/>
                </a:lnTo>
                <a:lnTo>
                  <a:pt x="23037" y="261916"/>
                </a:lnTo>
                <a:lnTo>
                  <a:pt x="40164" y="221398"/>
                </a:lnTo>
                <a:lnTo>
                  <a:pt x="61522" y="183332"/>
                </a:lnTo>
                <a:lnTo>
                  <a:pt x="86814" y="148016"/>
                </a:lnTo>
                <a:lnTo>
                  <a:pt x="115744" y="115744"/>
                </a:lnTo>
                <a:lnTo>
                  <a:pt x="148016" y="86814"/>
                </a:lnTo>
                <a:lnTo>
                  <a:pt x="183332" y="61522"/>
                </a:lnTo>
                <a:lnTo>
                  <a:pt x="221398" y="40164"/>
                </a:lnTo>
                <a:lnTo>
                  <a:pt x="261916" y="23037"/>
                </a:lnTo>
                <a:lnTo>
                  <a:pt x="304591" y="10436"/>
                </a:lnTo>
                <a:lnTo>
                  <a:pt x="349125" y="2658"/>
                </a:lnTo>
                <a:lnTo>
                  <a:pt x="395223" y="0"/>
                </a:lnTo>
                <a:lnTo>
                  <a:pt x="5965952" y="0"/>
                </a:lnTo>
                <a:lnTo>
                  <a:pt x="6012050" y="2658"/>
                </a:lnTo>
                <a:lnTo>
                  <a:pt x="6056584" y="10436"/>
                </a:lnTo>
                <a:lnTo>
                  <a:pt x="6099259" y="23037"/>
                </a:lnTo>
                <a:lnTo>
                  <a:pt x="6139777" y="40164"/>
                </a:lnTo>
                <a:lnTo>
                  <a:pt x="6177843" y="61522"/>
                </a:lnTo>
                <a:lnTo>
                  <a:pt x="6213159" y="86814"/>
                </a:lnTo>
                <a:lnTo>
                  <a:pt x="6245431" y="115744"/>
                </a:lnTo>
                <a:lnTo>
                  <a:pt x="6274361" y="148016"/>
                </a:lnTo>
                <a:lnTo>
                  <a:pt x="6299653" y="183332"/>
                </a:lnTo>
                <a:lnTo>
                  <a:pt x="6321011" y="221398"/>
                </a:lnTo>
                <a:lnTo>
                  <a:pt x="6338138" y="261916"/>
                </a:lnTo>
                <a:lnTo>
                  <a:pt x="6350739" y="304591"/>
                </a:lnTo>
                <a:lnTo>
                  <a:pt x="6358517" y="349125"/>
                </a:lnTo>
                <a:lnTo>
                  <a:pt x="6361176" y="395224"/>
                </a:lnTo>
                <a:lnTo>
                  <a:pt x="6361176" y="1976120"/>
                </a:lnTo>
                <a:lnTo>
                  <a:pt x="6358517" y="2022211"/>
                </a:lnTo>
                <a:lnTo>
                  <a:pt x="6350739" y="2066740"/>
                </a:lnTo>
                <a:lnTo>
                  <a:pt x="6338138" y="2109412"/>
                </a:lnTo>
                <a:lnTo>
                  <a:pt x="6321011" y="2149928"/>
                </a:lnTo>
                <a:lnTo>
                  <a:pt x="6299653" y="2187994"/>
                </a:lnTo>
                <a:lnTo>
                  <a:pt x="6274361" y="2223311"/>
                </a:lnTo>
                <a:lnTo>
                  <a:pt x="6245431" y="2255585"/>
                </a:lnTo>
                <a:lnTo>
                  <a:pt x="6213159" y="2284517"/>
                </a:lnTo>
                <a:lnTo>
                  <a:pt x="6177843" y="2309812"/>
                </a:lnTo>
                <a:lnTo>
                  <a:pt x="6139777" y="2331172"/>
                </a:lnTo>
                <a:lnTo>
                  <a:pt x="6099259" y="2348302"/>
                </a:lnTo>
                <a:lnTo>
                  <a:pt x="6056584" y="2360905"/>
                </a:lnTo>
                <a:lnTo>
                  <a:pt x="6012050" y="2368685"/>
                </a:lnTo>
                <a:lnTo>
                  <a:pt x="5965952" y="2371344"/>
                </a:lnTo>
                <a:lnTo>
                  <a:pt x="395223" y="2371344"/>
                </a:lnTo>
                <a:lnTo>
                  <a:pt x="349125" y="2368685"/>
                </a:lnTo>
                <a:lnTo>
                  <a:pt x="304591" y="2360905"/>
                </a:lnTo>
                <a:lnTo>
                  <a:pt x="261916" y="2348302"/>
                </a:lnTo>
                <a:lnTo>
                  <a:pt x="221398" y="2331172"/>
                </a:lnTo>
                <a:lnTo>
                  <a:pt x="183332" y="2309812"/>
                </a:lnTo>
                <a:lnTo>
                  <a:pt x="148016" y="2284517"/>
                </a:lnTo>
                <a:lnTo>
                  <a:pt x="115744" y="2255585"/>
                </a:lnTo>
                <a:lnTo>
                  <a:pt x="86814" y="2223311"/>
                </a:lnTo>
                <a:lnTo>
                  <a:pt x="61522" y="2187994"/>
                </a:lnTo>
                <a:lnTo>
                  <a:pt x="40164" y="2149928"/>
                </a:lnTo>
                <a:lnTo>
                  <a:pt x="23037" y="2109412"/>
                </a:lnTo>
                <a:lnTo>
                  <a:pt x="10436" y="2066740"/>
                </a:lnTo>
                <a:lnTo>
                  <a:pt x="2658" y="2022211"/>
                </a:lnTo>
                <a:lnTo>
                  <a:pt x="0" y="1976120"/>
                </a:lnTo>
                <a:lnTo>
                  <a:pt x="0" y="395224"/>
                </a:lnTo>
                <a:close/>
              </a:path>
            </a:pathLst>
          </a:custGeom>
          <a:ln w="19811">
            <a:solidFill>
              <a:srgbClr val="6F44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29611" y="1603247"/>
            <a:ext cx="4686300" cy="934719"/>
          </a:xfrm>
          <a:custGeom>
            <a:avLst/>
            <a:gdLst/>
            <a:ahLst/>
            <a:cxnLst/>
            <a:rect l="l" t="t" r="r" b="b"/>
            <a:pathLst>
              <a:path w="4686300" h="934719">
                <a:moveTo>
                  <a:pt x="4522723" y="0"/>
                </a:moveTo>
                <a:lnTo>
                  <a:pt x="163575" y="0"/>
                </a:lnTo>
                <a:lnTo>
                  <a:pt x="120106" y="5846"/>
                </a:lnTo>
                <a:lnTo>
                  <a:pt x="81035" y="22342"/>
                </a:lnTo>
                <a:lnTo>
                  <a:pt x="47926" y="47926"/>
                </a:lnTo>
                <a:lnTo>
                  <a:pt x="22342" y="81035"/>
                </a:lnTo>
                <a:lnTo>
                  <a:pt x="5846" y="120106"/>
                </a:lnTo>
                <a:lnTo>
                  <a:pt x="0" y="163575"/>
                </a:lnTo>
                <a:lnTo>
                  <a:pt x="0" y="770635"/>
                </a:lnTo>
                <a:lnTo>
                  <a:pt x="5846" y="814105"/>
                </a:lnTo>
                <a:lnTo>
                  <a:pt x="22342" y="853176"/>
                </a:lnTo>
                <a:lnTo>
                  <a:pt x="47926" y="886285"/>
                </a:lnTo>
                <a:lnTo>
                  <a:pt x="81035" y="911869"/>
                </a:lnTo>
                <a:lnTo>
                  <a:pt x="120106" y="928365"/>
                </a:lnTo>
                <a:lnTo>
                  <a:pt x="163575" y="934212"/>
                </a:lnTo>
                <a:lnTo>
                  <a:pt x="4522723" y="934212"/>
                </a:lnTo>
                <a:lnTo>
                  <a:pt x="4566193" y="928365"/>
                </a:lnTo>
                <a:lnTo>
                  <a:pt x="4605264" y="911869"/>
                </a:lnTo>
                <a:lnTo>
                  <a:pt x="4638373" y="886285"/>
                </a:lnTo>
                <a:lnTo>
                  <a:pt x="4663957" y="853176"/>
                </a:lnTo>
                <a:lnTo>
                  <a:pt x="4680453" y="814105"/>
                </a:lnTo>
                <a:lnTo>
                  <a:pt x="4686299" y="770635"/>
                </a:lnTo>
                <a:lnTo>
                  <a:pt x="4686299" y="163575"/>
                </a:lnTo>
                <a:lnTo>
                  <a:pt x="4680453" y="120106"/>
                </a:lnTo>
                <a:lnTo>
                  <a:pt x="4663957" y="81035"/>
                </a:lnTo>
                <a:lnTo>
                  <a:pt x="4638373" y="47926"/>
                </a:lnTo>
                <a:lnTo>
                  <a:pt x="4605264" y="22342"/>
                </a:lnTo>
                <a:lnTo>
                  <a:pt x="4566193" y="5846"/>
                </a:lnTo>
                <a:lnTo>
                  <a:pt x="4522723" y="0"/>
                </a:lnTo>
                <a:close/>
              </a:path>
            </a:pathLst>
          </a:custGeom>
          <a:solidFill>
            <a:srgbClr val="6F4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40279" y="1632204"/>
            <a:ext cx="4669536" cy="224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40279" y="2272283"/>
            <a:ext cx="4669536" cy="2240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94102" y="1738706"/>
            <a:ext cx="4216400" cy="2360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49300" algn="ctr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solidFill>
                  <a:srgbClr val="FFFFFF"/>
                </a:solidFill>
                <a:latin typeface="Arial Narrow"/>
                <a:cs typeface="Arial Narrow"/>
              </a:rPr>
              <a:t>C=F(S,Q,T</a:t>
            </a:r>
            <a:r>
              <a:rPr sz="3200" spc="-5" dirty="0">
                <a:solidFill>
                  <a:srgbClr val="FFFFFF"/>
                </a:solidFill>
                <a:latin typeface="Arial Narrow"/>
                <a:cs typeface="Arial Narrow"/>
              </a:rPr>
              <a:t>)</a:t>
            </a:r>
            <a:endParaRPr sz="3200">
              <a:latin typeface="Arial Narrow"/>
              <a:cs typeface="Arial Narrow"/>
            </a:endParaRPr>
          </a:p>
          <a:p>
            <a:pPr marL="295275" indent="-283210">
              <a:lnSpc>
                <a:spcPct val="100000"/>
              </a:lnSpc>
              <a:spcBef>
                <a:spcPts val="3510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10" dirty="0">
                <a:latin typeface="华文新魏"/>
                <a:cs typeface="华文新魏"/>
              </a:rPr>
              <a:t>C</a:t>
            </a:r>
            <a:r>
              <a:rPr sz="2800" b="1" spc="-15" dirty="0">
                <a:latin typeface="华文新魏"/>
                <a:cs typeface="华文新魏"/>
              </a:rPr>
              <a:t> </a:t>
            </a:r>
            <a:r>
              <a:rPr sz="2800" b="1" spc="685" dirty="0">
                <a:latin typeface="华文新魏"/>
                <a:cs typeface="华文新魏"/>
              </a:rPr>
              <a:t>与</a:t>
            </a:r>
            <a:r>
              <a:rPr sz="2800" b="1" dirty="0">
                <a:latin typeface="华文新魏"/>
                <a:cs typeface="华文新魏"/>
              </a:rPr>
              <a:t>S</a:t>
            </a:r>
            <a:r>
              <a:rPr sz="2800" b="1" spc="-5" dirty="0">
                <a:latin typeface="华文新魏"/>
                <a:cs typeface="华文新魏"/>
              </a:rPr>
              <a:t>成一定正比</a:t>
            </a:r>
            <a:r>
              <a:rPr sz="2800" b="1" spc="-10" dirty="0">
                <a:latin typeface="华文新魏"/>
                <a:cs typeface="华文新魏"/>
              </a:rPr>
              <a:t>关系</a:t>
            </a:r>
            <a:endParaRPr sz="2800">
              <a:latin typeface="华文新魏"/>
              <a:cs typeface="华文新魏"/>
            </a:endParaRPr>
          </a:p>
          <a:p>
            <a:pPr marL="295275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10" dirty="0">
                <a:latin typeface="华文新魏"/>
                <a:cs typeface="华文新魏"/>
              </a:rPr>
              <a:t>C</a:t>
            </a:r>
            <a:r>
              <a:rPr sz="2800" b="1" spc="-70" dirty="0">
                <a:latin typeface="华文新魏"/>
                <a:cs typeface="华文新魏"/>
              </a:rPr>
              <a:t> </a:t>
            </a:r>
            <a:r>
              <a:rPr sz="2800" b="1" spc="685" dirty="0">
                <a:latin typeface="华文新魏"/>
                <a:cs typeface="华文新魏"/>
              </a:rPr>
              <a:t>与</a:t>
            </a:r>
            <a:r>
              <a:rPr sz="2800" b="1" spc="-5" dirty="0">
                <a:latin typeface="华文新魏"/>
                <a:cs typeface="华文新魏"/>
              </a:rPr>
              <a:t>Q成一定的正</a:t>
            </a:r>
            <a:r>
              <a:rPr sz="2800" b="1" spc="-10" dirty="0">
                <a:latin typeface="华文新魏"/>
                <a:cs typeface="华文新魏"/>
              </a:rPr>
              <a:t>比关系</a:t>
            </a:r>
            <a:endParaRPr sz="2800">
              <a:latin typeface="华文新魏"/>
              <a:cs typeface="华文新魏"/>
            </a:endParaRPr>
          </a:p>
          <a:p>
            <a:pPr marL="295275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b="1" spc="-5" dirty="0">
                <a:latin typeface="华文新魏"/>
                <a:cs typeface="华文新魏"/>
              </a:rPr>
              <a:t>C</a:t>
            </a:r>
            <a:r>
              <a:rPr sz="2800" b="1" spc="-100" dirty="0">
                <a:latin typeface="华文新魏"/>
                <a:cs typeface="华文新魏"/>
              </a:rPr>
              <a:t> </a:t>
            </a:r>
            <a:r>
              <a:rPr sz="2800" b="1" dirty="0">
                <a:latin typeface="华文新魏"/>
                <a:cs typeface="华文新魏"/>
              </a:rPr>
              <a:t>与T成一定的</a:t>
            </a:r>
            <a:r>
              <a:rPr sz="2800" b="1" spc="-5" dirty="0">
                <a:latin typeface="华文新魏"/>
                <a:cs typeface="华文新魏"/>
              </a:rPr>
              <a:t>反比关系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567" y="0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软件项目集成计划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9816" y="4724310"/>
            <a:ext cx="799465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90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1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latin typeface="Arial Narrow"/>
                <a:cs typeface="Arial Narrow"/>
              </a:rPr>
              <a:t>8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067555" y="1155190"/>
            <a:ext cx="4896611" cy="39883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9456" y="1216150"/>
            <a:ext cx="3960876" cy="3813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41858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6448" y="4700117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3273" y="968121"/>
            <a:ext cx="660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614" y="14606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6420" y="1287780"/>
            <a:ext cx="483234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796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4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614" y="224625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4895" y="2072639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923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9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614" y="30325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4895" y="285902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9527" y="1287780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35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1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项目集成计划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527" y="2072639"/>
            <a:ext cx="4628515" cy="6496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57480" rIns="0" bIns="0" rtlCol="0">
            <a:spAutoFit/>
          </a:bodyPr>
          <a:lstStyle/>
          <a:p>
            <a:pPr marL="133350">
              <a:lnSpc>
                <a:spcPct val="100000"/>
              </a:lnSpc>
              <a:spcBef>
                <a:spcPts val="124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集成计划的执行控制</a:t>
            </a:r>
            <a:endParaRPr sz="2000" dirty="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9527" y="2859023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敏捷项目集成管理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1614" y="382508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34895" y="365150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9527" y="3651503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7081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项目执行控制过程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4422" y="4773269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10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815" y="1318503"/>
            <a:ext cx="8345446" cy="3413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48678" y="2967989"/>
            <a:ext cx="1873250" cy="1205865"/>
          </a:xfrm>
          <a:custGeom>
            <a:avLst/>
            <a:gdLst/>
            <a:ahLst/>
            <a:cxnLst/>
            <a:rect l="l" t="t" r="r" b="b"/>
            <a:pathLst>
              <a:path w="1873250" h="1205864">
                <a:moveTo>
                  <a:pt x="0" y="1205484"/>
                </a:moveTo>
                <a:lnTo>
                  <a:pt x="1872996" y="1205484"/>
                </a:lnTo>
                <a:lnTo>
                  <a:pt x="1872996" y="0"/>
                </a:lnTo>
                <a:lnTo>
                  <a:pt x="0" y="0"/>
                </a:lnTo>
                <a:lnTo>
                  <a:pt x="0" y="1205484"/>
                </a:lnTo>
                <a:close/>
              </a:path>
            </a:pathLst>
          </a:custGeom>
          <a:ln w="28956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6800" y="40005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365241" y="1925573"/>
            <a:ext cx="1871980" cy="862965"/>
          </a:xfrm>
          <a:custGeom>
            <a:avLst/>
            <a:gdLst/>
            <a:ahLst/>
            <a:cxnLst/>
            <a:rect l="l" t="t" r="r" b="b"/>
            <a:pathLst>
              <a:path w="1871979" h="862964">
                <a:moveTo>
                  <a:pt x="0" y="862583"/>
                </a:moveTo>
                <a:lnTo>
                  <a:pt x="1871471" y="862583"/>
                </a:lnTo>
                <a:lnTo>
                  <a:pt x="1871471" y="0"/>
                </a:lnTo>
                <a:lnTo>
                  <a:pt x="0" y="0"/>
                </a:lnTo>
                <a:lnTo>
                  <a:pt x="0" y="862583"/>
                </a:lnTo>
                <a:close/>
              </a:path>
            </a:pathLst>
          </a:custGeom>
          <a:ln w="28956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8630" y="3117342"/>
            <a:ext cx="1871980" cy="866140"/>
          </a:xfrm>
          <a:custGeom>
            <a:avLst/>
            <a:gdLst/>
            <a:ahLst/>
            <a:cxnLst/>
            <a:rect l="l" t="t" r="r" b="b"/>
            <a:pathLst>
              <a:path w="1871980" h="866139">
                <a:moveTo>
                  <a:pt x="0" y="865632"/>
                </a:moveTo>
                <a:lnTo>
                  <a:pt x="1871472" y="865632"/>
                </a:lnTo>
                <a:lnTo>
                  <a:pt x="1871472" y="0"/>
                </a:lnTo>
                <a:lnTo>
                  <a:pt x="0" y="0"/>
                </a:lnTo>
                <a:lnTo>
                  <a:pt x="0" y="865632"/>
                </a:lnTo>
                <a:close/>
              </a:path>
            </a:pathLst>
          </a:custGeom>
          <a:ln w="28956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94233"/>
            <a:ext cx="5059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项目执行控制的步骤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194" y="1279397"/>
            <a:ext cx="2153920" cy="1292860"/>
          </a:xfrm>
          <a:custGeom>
            <a:avLst/>
            <a:gdLst/>
            <a:ahLst/>
            <a:cxnLst/>
            <a:rect l="l" t="t" r="r" b="b"/>
            <a:pathLst>
              <a:path w="2153920" h="1292860">
                <a:moveTo>
                  <a:pt x="2024126" y="0"/>
                </a:moveTo>
                <a:lnTo>
                  <a:pt x="129235" y="0"/>
                </a:lnTo>
                <a:lnTo>
                  <a:pt x="78931" y="10163"/>
                </a:lnTo>
                <a:lnTo>
                  <a:pt x="37852" y="37877"/>
                </a:lnTo>
                <a:lnTo>
                  <a:pt x="10156" y="78974"/>
                </a:lnTo>
                <a:lnTo>
                  <a:pt x="0" y="129286"/>
                </a:lnTo>
                <a:lnTo>
                  <a:pt x="0" y="1163065"/>
                </a:lnTo>
                <a:lnTo>
                  <a:pt x="10156" y="1213377"/>
                </a:lnTo>
                <a:lnTo>
                  <a:pt x="37852" y="1254474"/>
                </a:lnTo>
                <a:lnTo>
                  <a:pt x="78931" y="1282188"/>
                </a:lnTo>
                <a:lnTo>
                  <a:pt x="129235" y="1292352"/>
                </a:lnTo>
                <a:lnTo>
                  <a:pt x="2024126" y="1292352"/>
                </a:lnTo>
                <a:lnTo>
                  <a:pt x="2074437" y="1282188"/>
                </a:lnTo>
                <a:lnTo>
                  <a:pt x="2115534" y="1254474"/>
                </a:lnTo>
                <a:lnTo>
                  <a:pt x="2143248" y="1213377"/>
                </a:lnTo>
                <a:lnTo>
                  <a:pt x="2153412" y="1163065"/>
                </a:lnTo>
                <a:lnTo>
                  <a:pt x="2153412" y="129286"/>
                </a:lnTo>
                <a:lnTo>
                  <a:pt x="2143248" y="78974"/>
                </a:lnTo>
                <a:lnTo>
                  <a:pt x="2115534" y="37877"/>
                </a:lnTo>
                <a:lnTo>
                  <a:pt x="2074437" y="10163"/>
                </a:lnTo>
                <a:lnTo>
                  <a:pt x="202412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1491" y="164231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B85B21"/>
                </a:solidFill>
                <a:latin typeface="华文新魏"/>
                <a:cs typeface="华文新魏"/>
              </a:rPr>
              <a:t>建立标准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50820" y="1658111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228600" y="0"/>
                </a:moveTo>
                <a:lnTo>
                  <a:pt x="228600" y="106679"/>
                </a:lnTo>
                <a:lnTo>
                  <a:pt x="0" y="106679"/>
                </a:lnTo>
                <a:lnTo>
                  <a:pt x="0" y="426719"/>
                </a:lnTo>
                <a:lnTo>
                  <a:pt x="228600" y="426719"/>
                </a:lnTo>
                <a:lnTo>
                  <a:pt x="228600" y="533400"/>
                </a:lnTo>
                <a:lnTo>
                  <a:pt x="457200" y="266700"/>
                </a:lnTo>
                <a:lnTo>
                  <a:pt x="228600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23665" y="1279397"/>
            <a:ext cx="2153920" cy="1292860"/>
          </a:xfrm>
          <a:custGeom>
            <a:avLst/>
            <a:gdLst/>
            <a:ahLst/>
            <a:cxnLst/>
            <a:rect l="l" t="t" r="r" b="b"/>
            <a:pathLst>
              <a:path w="2153920" h="1292860">
                <a:moveTo>
                  <a:pt x="2024126" y="0"/>
                </a:moveTo>
                <a:lnTo>
                  <a:pt x="129286" y="0"/>
                </a:lnTo>
                <a:lnTo>
                  <a:pt x="78974" y="10163"/>
                </a:lnTo>
                <a:lnTo>
                  <a:pt x="37877" y="37877"/>
                </a:lnTo>
                <a:lnTo>
                  <a:pt x="10163" y="78974"/>
                </a:lnTo>
                <a:lnTo>
                  <a:pt x="0" y="129286"/>
                </a:lnTo>
                <a:lnTo>
                  <a:pt x="0" y="1163065"/>
                </a:lnTo>
                <a:lnTo>
                  <a:pt x="10163" y="1213377"/>
                </a:lnTo>
                <a:lnTo>
                  <a:pt x="37877" y="1254474"/>
                </a:lnTo>
                <a:lnTo>
                  <a:pt x="78974" y="1282188"/>
                </a:lnTo>
                <a:lnTo>
                  <a:pt x="129286" y="1292352"/>
                </a:lnTo>
                <a:lnTo>
                  <a:pt x="2024126" y="1292352"/>
                </a:lnTo>
                <a:lnTo>
                  <a:pt x="2074437" y="1282188"/>
                </a:lnTo>
                <a:lnTo>
                  <a:pt x="2115534" y="1254474"/>
                </a:lnTo>
                <a:lnTo>
                  <a:pt x="2143248" y="1213377"/>
                </a:lnTo>
                <a:lnTo>
                  <a:pt x="2153412" y="1163065"/>
                </a:lnTo>
                <a:lnTo>
                  <a:pt x="2153412" y="129286"/>
                </a:lnTo>
                <a:lnTo>
                  <a:pt x="2143248" y="78974"/>
                </a:lnTo>
                <a:lnTo>
                  <a:pt x="2115534" y="37877"/>
                </a:lnTo>
                <a:lnTo>
                  <a:pt x="2074437" y="10163"/>
                </a:lnTo>
                <a:lnTo>
                  <a:pt x="202412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99815" y="1431162"/>
            <a:ext cx="1801495" cy="87439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67665" marR="5080" indent="-355600">
              <a:lnSpc>
                <a:spcPts val="3329"/>
              </a:lnSpc>
              <a:spcBef>
                <a:spcPts val="229"/>
              </a:spcBef>
            </a:pPr>
            <a:r>
              <a:rPr sz="2800" spc="-5" dirty="0">
                <a:solidFill>
                  <a:srgbClr val="B85B21"/>
                </a:solidFill>
                <a:latin typeface="华文新魏"/>
                <a:cs typeface="华文新魏"/>
              </a:rPr>
              <a:t>采</a:t>
            </a:r>
            <a:r>
              <a:rPr sz="2800" spc="-10" dirty="0">
                <a:solidFill>
                  <a:srgbClr val="B85B21"/>
                </a:solidFill>
                <a:latin typeface="华文新魏"/>
                <a:cs typeface="华文新魏"/>
              </a:rPr>
              <a:t>集</a:t>
            </a:r>
            <a:r>
              <a:rPr sz="2800" spc="-5" dirty="0">
                <a:solidFill>
                  <a:srgbClr val="B85B21"/>
                </a:solidFill>
                <a:latin typeface="华文新魏"/>
                <a:cs typeface="华文新魏"/>
              </a:rPr>
              <a:t>项目实 际数据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66815" y="1658111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227837" y="106679"/>
                </a:lnTo>
                <a:lnTo>
                  <a:pt x="0" y="106679"/>
                </a:lnTo>
                <a:lnTo>
                  <a:pt x="0" y="426719"/>
                </a:lnTo>
                <a:lnTo>
                  <a:pt x="227837" y="426719"/>
                </a:lnTo>
                <a:lnTo>
                  <a:pt x="227837" y="533400"/>
                </a:lnTo>
                <a:lnTo>
                  <a:pt x="455675" y="266700"/>
                </a:lnTo>
                <a:lnTo>
                  <a:pt x="227837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38138" y="1279397"/>
            <a:ext cx="2155190" cy="1292860"/>
          </a:xfrm>
          <a:custGeom>
            <a:avLst/>
            <a:gdLst/>
            <a:ahLst/>
            <a:cxnLst/>
            <a:rect l="l" t="t" r="r" b="b"/>
            <a:pathLst>
              <a:path w="2155190" h="1292860">
                <a:moveTo>
                  <a:pt x="2025650" y="0"/>
                </a:moveTo>
                <a:lnTo>
                  <a:pt x="129286" y="0"/>
                </a:lnTo>
                <a:lnTo>
                  <a:pt x="78974" y="10163"/>
                </a:lnTo>
                <a:lnTo>
                  <a:pt x="37877" y="37877"/>
                </a:lnTo>
                <a:lnTo>
                  <a:pt x="10163" y="78974"/>
                </a:lnTo>
                <a:lnTo>
                  <a:pt x="0" y="129286"/>
                </a:lnTo>
                <a:lnTo>
                  <a:pt x="0" y="1163065"/>
                </a:lnTo>
                <a:lnTo>
                  <a:pt x="10163" y="1213377"/>
                </a:lnTo>
                <a:lnTo>
                  <a:pt x="37877" y="1254474"/>
                </a:lnTo>
                <a:lnTo>
                  <a:pt x="78974" y="1282188"/>
                </a:lnTo>
                <a:lnTo>
                  <a:pt x="129286" y="1292352"/>
                </a:lnTo>
                <a:lnTo>
                  <a:pt x="2025650" y="1292352"/>
                </a:lnTo>
                <a:lnTo>
                  <a:pt x="2075961" y="1282188"/>
                </a:lnTo>
                <a:lnTo>
                  <a:pt x="2117058" y="1254474"/>
                </a:lnTo>
                <a:lnTo>
                  <a:pt x="2144772" y="1213377"/>
                </a:lnTo>
                <a:lnTo>
                  <a:pt x="2154936" y="1163065"/>
                </a:lnTo>
                <a:lnTo>
                  <a:pt x="2154936" y="129286"/>
                </a:lnTo>
                <a:lnTo>
                  <a:pt x="2144772" y="78974"/>
                </a:lnTo>
                <a:lnTo>
                  <a:pt x="2117058" y="37877"/>
                </a:lnTo>
                <a:lnTo>
                  <a:pt x="2075961" y="10163"/>
                </a:lnTo>
                <a:lnTo>
                  <a:pt x="20256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15430" y="1431162"/>
            <a:ext cx="1800860" cy="874394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89230" marR="5080" indent="-177165">
              <a:lnSpc>
                <a:spcPts val="3329"/>
              </a:lnSpc>
              <a:spcBef>
                <a:spcPts val="229"/>
              </a:spcBef>
            </a:pPr>
            <a:r>
              <a:rPr sz="2800" spc="-5" dirty="0">
                <a:solidFill>
                  <a:srgbClr val="B85B21"/>
                </a:solidFill>
                <a:latin typeface="华文新魏"/>
                <a:cs typeface="华文新魏"/>
              </a:rPr>
              <a:t>实际结果与 计划比较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248143" y="2759964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533400" y="228600"/>
                </a:moveTo>
                <a:lnTo>
                  <a:pt x="0" y="228600"/>
                </a:lnTo>
                <a:lnTo>
                  <a:pt x="266700" y="457200"/>
                </a:lnTo>
                <a:lnTo>
                  <a:pt x="533400" y="228600"/>
                </a:lnTo>
                <a:close/>
              </a:path>
              <a:path w="533400" h="457200">
                <a:moveTo>
                  <a:pt x="426720" y="0"/>
                </a:moveTo>
                <a:lnTo>
                  <a:pt x="106679" y="0"/>
                </a:lnTo>
                <a:lnTo>
                  <a:pt x="106679" y="228600"/>
                </a:lnTo>
                <a:lnTo>
                  <a:pt x="426720" y="228600"/>
                </a:lnTo>
                <a:lnTo>
                  <a:pt x="426720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38138" y="3432809"/>
            <a:ext cx="2155190" cy="1292860"/>
          </a:xfrm>
          <a:custGeom>
            <a:avLst/>
            <a:gdLst/>
            <a:ahLst/>
            <a:cxnLst/>
            <a:rect l="l" t="t" r="r" b="b"/>
            <a:pathLst>
              <a:path w="2155190" h="1292860">
                <a:moveTo>
                  <a:pt x="2025650" y="0"/>
                </a:moveTo>
                <a:lnTo>
                  <a:pt x="129286" y="0"/>
                </a:lnTo>
                <a:lnTo>
                  <a:pt x="78974" y="10163"/>
                </a:lnTo>
                <a:lnTo>
                  <a:pt x="37877" y="37877"/>
                </a:lnTo>
                <a:lnTo>
                  <a:pt x="10163" y="78974"/>
                </a:lnTo>
                <a:lnTo>
                  <a:pt x="0" y="129285"/>
                </a:lnTo>
                <a:lnTo>
                  <a:pt x="0" y="1163116"/>
                </a:lnTo>
                <a:lnTo>
                  <a:pt x="10163" y="1213420"/>
                </a:lnTo>
                <a:lnTo>
                  <a:pt x="37877" y="1254499"/>
                </a:lnTo>
                <a:lnTo>
                  <a:pt x="78974" y="1282195"/>
                </a:lnTo>
                <a:lnTo>
                  <a:pt x="129286" y="1292352"/>
                </a:lnTo>
                <a:lnTo>
                  <a:pt x="2025650" y="1292352"/>
                </a:lnTo>
                <a:lnTo>
                  <a:pt x="2075961" y="1282195"/>
                </a:lnTo>
                <a:lnTo>
                  <a:pt x="2117058" y="1254499"/>
                </a:lnTo>
                <a:lnTo>
                  <a:pt x="2144772" y="1213420"/>
                </a:lnTo>
                <a:lnTo>
                  <a:pt x="2154936" y="1163116"/>
                </a:lnTo>
                <a:lnTo>
                  <a:pt x="2154936" y="129285"/>
                </a:lnTo>
                <a:lnTo>
                  <a:pt x="2144772" y="78974"/>
                </a:lnTo>
                <a:lnTo>
                  <a:pt x="2117058" y="37877"/>
                </a:lnTo>
                <a:lnTo>
                  <a:pt x="2075961" y="10163"/>
                </a:lnTo>
                <a:lnTo>
                  <a:pt x="20256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792214" y="3584854"/>
            <a:ext cx="1445895" cy="87439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2700" marR="5080">
              <a:lnSpc>
                <a:spcPts val="3329"/>
              </a:lnSpc>
              <a:spcBef>
                <a:spcPts val="234"/>
              </a:spcBef>
            </a:pPr>
            <a:r>
              <a:rPr sz="2800" spc="-10" dirty="0">
                <a:solidFill>
                  <a:srgbClr val="B85B21"/>
                </a:solidFill>
                <a:latin typeface="华文新魏"/>
                <a:cs typeface="华文新魏"/>
              </a:rPr>
              <a:t>决定是否 </a:t>
            </a:r>
            <a:r>
              <a:rPr sz="2800" spc="-5" dirty="0">
                <a:solidFill>
                  <a:srgbClr val="B85B21"/>
                </a:solidFill>
                <a:latin typeface="华文新魏"/>
                <a:cs typeface="华文新魏"/>
              </a:rPr>
              <a:t>修正计划</a:t>
            </a:r>
            <a:endParaRPr sz="2800">
              <a:latin typeface="华文新魏"/>
              <a:cs typeface="华文新魏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92723" y="3811523"/>
            <a:ext cx="455930" cy="533400"/>
          </a:xfrm>
          <a:custGeom>
            <a:avLst/>
            <a:gdLst/>
            <a:ahLst/>
            <a:cxnLst/>
            <a:rect l="l" t="t" r="r" b="b"/>
            <a:pathLst>
              <a:path w="455929" h="533400">
                <a:moveTo>
                  <a:pt x="227837" y="0"/>
                </a:moveTo>
                <a:lnTo>
                  <a:pt x="0" y="266700"/>
                </a:lnTo>
                <a:lnTo>
                  <a:pt x="227837" y="533399"/>
                </a:lnTo>
                <a:lnTo>
                  <a:pt x="227837" y="426719"/>
                </a:lnTo>
                <a:lnTo>
                  <a:pt x="455675" y="426719"/>
                </a:lnTo>
                <a:lnTo>
                  <a:pt x="455675" y="106679"/>
                </a:lnTo>
                <a:lnTo>
                  <a:pt x="227837" y="106679"/>
                </a:lnTo>
                <a:lnTo>
                  <a:pt x="227837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23665" y="3432809"/>
            <a:ext cx="2153920" cy="1292860"/>
          </a:xfrm>
          <a:custGeom>
            <a:avLst/>
            <a:gdLst/>
            <a:ahLst/>
            <a:cxnLst/>
            <a:rect l="l" t="t" r="r" b="b"/>
            <a:pathLst>
              <a:path w="2153920" h="1292860">
                <a:moveTo>
                  <a:pt x="2024126" y="0"/>
                </a:moveTo>
                <a:lnTo>
                  <a:pt x="129286" y="0"/>
                </a:lnTo>
                <a:lnTo>
                  <a:pt x="78974" y="10163"/>
                </a:lnTo>
                <a:lnTo>
                  <a:pt x="37877" y="37877"/>
                </a:lnTo>
                <a:lnTo>
                  <a:pt x="10163" y="78974"/>
                </a:lnTo>
                <a:lnTo>
                  <a:pt x="0" y="129285"/>
                </a:lnTo>
                <a:lnTo>
                  <a:pt x="0" y="1163116"/>
                </a:lnTo>
                <a:lnTo>
                  <a:pt x="10163" y="1213420"/>
                </a:lnTo>
                <a:lnTo>
                  <a:pt x="37877" y="1254499"/>
                </a:lnTo>
                <a:lnTo>
                  <a:pt x="78974" y="1282195"/>
                </a:lnTo>
                <a:lnTo>
                  <a:pt x="129286" y="1292352"/>
                </a:lnTo>
                <a:lnTo>
                  <a:pt x="2024126" y="1292352"/>
                </a:lnTo>
                <a:lnTo>
                  <a:pt x="2074437" y="1282195"/>
                </a:lnTo>
                <a:lnTo>
                  <a:pt x="2115534" y="1254499"/>
                </a:lnTo>
                <a:lnTo>
                  <a:pt x="2143248" y="1213420"/>
                </a:lnTo>
                <a:lnTo>
                  <a:pt x="2153412" y="1163116"/>
                </a:lnTo>
                <a:lnTo>
                  <a:pt x="2153412" y="129285"/>
                </a:lnTo>
                <a:lnTo>
                  <a:pt x="2143248" y="78974"/>
                </a:lnTo>
                <a:lnTo>
                  <a:pt x="2115534" y="37877"/>
                </a:lnTo>
                <a:lnTo>
                  <a:pt x="2074437" y="10163"/>
                </a:lnTo>
                <a:lnTo>
                  <a:pt x="202412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99815" y="3584854"/>
            <a:ext cx="1802764" cy="87439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9230" marR="5080" indent="-177165">
              <a:lnSpc>
                <a:spcPts val="3329"/>
              </a:lnSpc>
              <a:spcBef>
                <a:spcPts val="234"/>
              </a:spcBef>
            </a:pPr>
            <a:r>
              <a:rPr sz="2800" spc="-5" dirty="0">
                <a:solidFill>
                  <a:srgbClr val="B85B21"/>
                </a:solidFill>
                <a:latin typeface="华文新魏"/>
                <a:cs typeface="华文新魏"/>
              </a:rPr>
              <a:t>修正计划， 协调各方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74701"/>
            <a:ext cx="4085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项目时间采集例子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017898" y="4698097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12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204" y="1190243"/>
            <a:ext cx="8964168" cy="3613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14" y="174701"/>
            <a:ext cx="4088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项目工时采集例子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915157" y="472431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571" y="1203958"/>
            <a:ext cx="9032875" cy="3867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74701"/>
            <a:ext cx="4085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缺陷数据采集例子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285234" y="4770334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831" y="1203958"/>
            <a:ext cx="8775757" cy="3816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74701"/>
            <a:ext cx="5101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测试过程数据采</a:t>
            </a:r>
            <a:r>
              <a:rPr sz="4000" spc="-5" dirty="0"/>
              <a:t>集例子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936494" y="472431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8436" y="1165858"/>
            <a:ext cx="8192906" cy="3854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项目数据是项目执行控制的依据</a:t>
            </a:r>
          </a:p>
        </p:txBody>
      </p:sp>
      <p:sp>
        <p:nvSpPr>
          <p:cNvPr id="3" name="object 3"/>
          <p:cNvSpPr/>
          <p:nvPr/>
        </p:nvSpPr>
        <p:spPr>
          <a:xfrm>
            <a:off x="624077" y="1282446"/>
            <a:ext cx="2139950" cy="3209925"/>
          </a:xfrm>
          <a:custGeom>
            <a:avLst/>
            <a:gdLst/>
            <a:ahLst/>
            <a:cxnLst/>
            <a:rect l="l" t="t" r="r" b="b"/>
            <a:pathLst>
              <a:path w="2139950" h="3209925">
                <a:moveTo>
                  <a:pt x="1925701" y="0"/>
                </a:moveTo>
                <a:lnTo>
                  <a:pt x="213969" y="0"/>
                </a:lnTo>
                <a:lnTo>
                  <a:pt x="164907" y="5649"/>
                </a:lnTo>
                <a:lnTo>
                  <a:pt x="119870" y="21741"/>
                </a:lnTo>
                <a:lnTo>
                  <a:pt x="80141" y="46996"/>
                </a:lnTo>
                <a:lnTo>
                  <a:pt x="47006" y="80130"/>
                </a:lnTo>
                <a:lnTo>
                  <a:pt x="21747" y="119863"/>
                </a:lnTo>
                <a:lnTo>
                  <a:pt x="5651" y="164911"/>
                </a:lnTo>
                <a:lnTo>
                  <a:pt x="0" y="213994"/>
                </a:lnTo>
                <a:lnTo>
                  <a:pt x="0" y="2995574"/>
                </a:lnTo>
                <a:lnTo>
                  <a:pt x="5651" y="3044636"/>
                </a:lnTo>
                <a:lnTo>
                  <a:pt x="21747" y="3089673"/>
                </a:lnTo>
                <a:lnTo>
                  <a:pt x="47006" y="3129402"/>
                </a:lnTo>
                <a:lnTo>
                  <a:pt x="80141" y="3162537"/>
                </a:lnTo>
                <a:lnTo>
                  <a:pt x="119870" y="3187796"/>
                </a:lnTo>
                <a:lnTo>
                  <a:pt x="164907" y="3203892"/>
                </a:lnTo>
                <a:lnTo>
                  <a:pt x="213969" y="3209543"/>
                </a:lnTo>
                <a:lnTo>
                  <a:pt x="1925701" y="3209543"/>
                </a:lnTo>
                <a:lnTo>
                  <a:pt x="1974784" y="3203892"/>
                </a:lnTo>
                <a:lnTo>
                  <a:pt x="2019832" y="3187796"/>
                </a:lnTo>
                <a:lnTo>
                  <a:pt x="2059565" y="3162537"/>
                </a:lnTo>
                <a:lnTo>
                  <a:pt x="2092699" y="3129402"/>
                </a:lnTo>
                <a:lnTo>
                  <a:pt x="2117954" y="3089673"/>
                </a:lnTo>
                <a:lnTo>
                  <a:pt x="2134046" y="3044636"/>
                </a:lnTo>
                <a:lnTo>
                  <a:pt x="2139696" y="2995574"/>
                </a:lnTo>
                <a:lnTo>
                  <a:pt x="2139696" y="213994"/>
                </a:lnTo>
                <a:lnTo>
                  <a:pt x="2134046" y="164911"/>
                </a:lnTo>
                <a:lnTo>
                  <a:pt x="2117954" y="119863"/>
                </a:lnTo>
                <a:lnTo>
                  <a:pt x="2092699" y="80130"/>
                </a:lnTo>
                <a:lnTo>
                  <a:pt x="2059565" y="46996"/>
                </a:lnTo>
                <a:lnTo>
                  <a:pt x="2019832" y="21741"/>
                </a:lnTo>
                <a:lnTo>
                  <a:pt x="1974784" y="5649"/>
                </a:lnTo>
                <a:lnTo>
                  <a:pt x="192570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5578" y="2187424"/>
            <a:ext cx="1398270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100"/>
              </a:spcBef>
            </a:pPr>
            <a:r>
              <a:rPr sz="3600" dirty="0">
                <a:solidFill>
                  <a:srgbClr val="B85B21"/>
                </a:solidFill>
                <a:latin typeface="华文仿宋"/>
                <a:cs typeface="华文仿宋"/>
              </a:rPr>
              <a:t>项目数 据采集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7895" y="2621279"/>
            <a:ext cx="454659" cy="530860"/>
          </a:xfrm>
          <a:custGeom>
            <a:avLst/>
            <a:gdLst/>
            <a:ahLst/>
            <a:cxnLst/>
            <a:rect l="l" t="t" r="r" b="b"/>
            <a:pathLst>
              <a:path w="454660" h="530860">
                <a:moveTo>
                  <a:pt x="227076" y="0"/>
                </a:moveTo>
                <a:lnTo>
                  <a:pt x="227076" y="106044"/>
                </a:lnTo>
                <a:lnTo>
                  <a:pt x="0" y="106044"/>
                </a:lnTo>
                <a:lnTo>
                  <a:pt x="0" y="424306"/>
                </a:lnTo>
                <a:lnTo>
                  <a:pt x="227076" y="424306"/>
                </a:lnTo>
                <a:lnTo>
                  <a:pt x="227076" y="530351"/>
                </a:lnTo>
                <a:lnTo>
                  <a:pt x="454152" y="265175"/>
                </a:lnTo>
                <a:lnTo>
                  <a:pt x="227076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20261" y="1201674"/>
            <a:ext cx="2139950" cy="3371215"/>
          </a:xfrm>
          <a:custGeom>
            <a:avLst/>
            <a:gdLst/>
            <a:ahLst/>
            <a:cxnLst/>
            <a:rect l="l" t="t" r="r" b="b"/>
            <a:pathLst>
              <a:path w="2139950" h="3371215">
                <a:moveTo>
                  <a:pt x="1925701" y="0"/>
                </a:moveTo>
                <a:lnTo>
                  <a:pt x="213995" y="0"/>
                </a:lnTo>
                <a:lnTo>
                  <a:pt x="164911" y="5649"/>
                </a:lnTo>
                <a:lnTo>
                  <a:pt x="119863" y="21741"/>
                </a:lnTo>
                <a:lnTo>
                  <a:pt x="80130" y="46996"/>
                </a:lnTo>
                <a:lnTo>
                  <a:pt x="46996" y="80130"/>
                </a:lnTo>
                <a:lnTo>
                  <a:pt x="21741" y="119863"/>
                </a:lnTo>
                <a:lnTo>
                  <a:pt x="5649" y="164911"/>
                </a:lnTo>
                <a:lnTo>
                  <a:pt x="0" y="213995"/>
                </a:lnTo>
                <a:lnTo>
                  <a:pt x="0" y="3157118"/>
                </a:lnTo>
                <a:lnTo>
                  <a:pt x="5649" y="3206180"/>
                </a:lnTo>
                <a:lnTo>
                  <a:pt x="21741" y="3251217"/>
                </a:lnTo>
                <a:lnTo>
                  <a:pt x="46996" y="3290946"/>
                </a:lnTo>
                <a:lnTo>
                  <a:pt x="80130" y="3324081"/>
                </a:lnTo>
                <a:lnTo>
                  <a:pt x="119863" y="3349340"/>
                </a:lnTo>
                <a:lnTo>
                  <a:pt x="164911" y="3365436"/>
                </a:lnTo>
                <a:lnTo>
                  <a:pt x="213995" y="3371088"/>
                </a:lnTo>
                <a:lnTo>
                  <a:pt x="1925701" y="3371088"/>
                </a:lnTo>
                <a:lnTo>
                  <a:pt x="1974784" y="3365436"/>
                </a:lnTo>
                <a:lnTo>
                  <a:pt x="2019832" y="3349340"/>
                </a:lnTo>
                <a:lnTo>
                  <a:pt x="2059565" y="3324081"/>
                </a:lnTo>
                <a:lnTo>
                  <a:pt x="2092699" y="3290946"/>
                </a:lnTo>
                <a:lnTo>
                  <a:pt x="2117954" y="3251217"/>
                </a:lnTo>
                <a:lnTo>
                  <a:pt x="2134046" y="3206180"/>
                </a:lnTo>
                <a:lnTo>
                  <a:pt x="2139696" y="3157118"/>
                </a:lnTo>
                <a:lnTo>
                  <a:pt x="2139696" y="213995"/>
                </a:lnTo>
                <a:lnTo>
                  <a:pt x="2134046" y="164911"/>
                </a:lnTo>
                <a:lnTo>
                  <a:pt x="2117954" y="119863"/>
                </a:lnTo>
                <a:lnTo>
                  <a:pt x="2092699" y="80130"/>
                </a:lnTo>
                <a:lnTo>
                  <a:pt x="2059565" y="46996"/>
                </a:lnTo>
                <a:lnTo>
                  <a:pt x="2019832" y="21741"/>
                </a:lnTo>
                <a:lnTo>
                  <a:pt x="1974784" y="5649"/>
                </a:lnTo>
                <a:lnTo>
                  <a:pt x="192570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70045" y="1282724"/>
            <a:ext cx="1040765" cy="3049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37800"/>
              </a:lnSpc>
              <a:spcBef>
                <a:spcPts val="105"/>
              </a:spcBef>
            </a:pPr>
            <a:r>
              <a:rPr sz="1600" spc="-5" dirty="0">
                <a:solidFill>
                  <a:srgbClr val="B85B21"/>
                </a:solidFill>
                <a:latin typeface="华文新魏"/>
                <a:cs typeface="华文新魏"/>
              </a:rPr>
              <a:t>范围管理 时间管理 成本管理 质量管理 团队管理 沟通管理 干系人管理 风险管理 合同管理</a:t>
            </a:r>
            <a:endParaRPr sz="1600">
              <a:latin typeface="华文新魏"/>
              <a:cs typeface="华文新魏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74079" y="2621279"/>
            <a:ext cx="452755" cy="530860"/>
          </a:xfrm>
          <a:custGeom>
            <a:avLst/>
            <a:gdLst/>
            <a:ahLst/>
            <a:cxnLst/>
            <a:rect l="l" t="t" r="r" b="b"/>
            <a:pathLst>
              <a:path w="452754" h="530860">
                <a:moveTo>
                  <a:pt x="226314" y="0"/>
                </a:moveTo>
                <a:lnTo>
                  <a:pt x="226314" y="106044"/>
                </a:lnTo>
                <a:lnTo>
                  <a:pt x="0" y="106044"/>
                </a:lnTo>
                <a:lnTo>
                  <a:pt x="0" y="424306"/>
                </a:lnTo>
                <a:lnTo>
                  <a:pt x="226314" y="424306"/>
                </a:lnTo>
                <a:lnTo>
                  <a:pt x="226314" y="530351"/>
                </a:lnTo>
                <a:lnTo>
                  <a:pt x="452628" y="265175"/>
                </a:lnTo>
                <a:lnTo>
                  <a:pt x="226314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16445" y="1282446"/>
            <a:ext cx="2139950" cy="3209925"/>
          </a:xfrm>
          <a:custGeom>
            <a:avLst/>
            <a:gdLst/>
            <a:ahLst/>
            <a:cxnLst/>
            <a:rect l="l" t="t" r="r" b="b"/>
            <a:pathLst>
              <a:path w="2139950" h="3209925">
                <a:moveTo>
                  <a:pt x="1925701" y="0"/>
                </a:moveTo>
                <a:lnTo>
                  <a:pt x="213995" y="0"/>
                </a:lnTo>
                <a:lnTo>
                  <a:pt x="164911" y="5649"/>
                </a:lnTo>
                <a:lnTo>
                  <a:pt x="119863" y="21741"/>
                </a:lnTo>
                <a:lnTo>
                  <a:pt x="80130" y="46996"/>
                </a:lnTo>
                <a:lnTo>
                  <a:pt x="46996" y="80130"/>
                </a:lnTo>
                <a:lnTo>
                  <a:pt x="21741" y="119863"/>
                </a:lnTo>
                <a:lnTo>
                  <a:pt x="5649" y="164911"/>
                </a:lnTo>
                <a:lnTo>
                  <a:pt x="0" y="213994"/>
                </a:lnTo>
                <a:lnTo>
                  <a:pt x="0" y="2995574"/>
                </a:lnTo>
                <a:lnTo>
                  <a:pt x="5649" y="3044636"/>
                </a:lnTo>
                <a:lnTo>
                  <a:pt x="21741" y="3089673"/>
                </a:lnTo>
                <a:lnTo>
                  <a:pt x="46996" y="3129402"/>
                </a:lnTo>
                <a:lnTo>
                  <a:pt x="80130" y="3162537"/>
                </a:lnTo>
                <a:lnTo>
                  <a:pt x="119863" y="3187796"/>
                </a:lnTo>
                <a:lnTo>
                  <a:pt x="164911" y="3203892"/>
                </a:lnTo>
                <a:lnTo>
                  <a:pt x="213995" y="3209543"/>
                </a:lnTo>
                <a:lnTo>
                  <a:pt x="1925701" y="3209543"/>
                </a:lnTo>
                <a:lnTo>
                  <a:pt x="1974784" y="3203892"/>
                </a:lnTo>
                <a:lnTo>
                  <a:pt x="2019832" y="3187796"/>
                </a:lnTo>
                <a:lnTo>
                  <a:pt x="2059565" y="3162537"/>
                </a:lnTo>
                <a:lnTo>
                  <a:pt x="2092699" y="3129402"/>
                </a:lnTo>
                <a:lnTo>
                  <a:pt x="2117954" y="3089673"/>
                </a:lnTo>
                <a:lnTo>
                  <a:pt x="2134046" y="3044636"/>
                </a:lnTo>
                <a:lnTo>
                  <a:pt x="2139696" y="2995574"/>
                </a:lnTo>
                <a:lnTo>
                  <a:pt x="2139696" y="213994"/>
                </a:lnTo>
                <a:lnTo>
                  <a:pt x="2134046" y="164911"/>
                </a:lnTo>
                <a:lnTo>
                  <a:pt x="2117954" y="119863"/>
                </a:lnTo>
                <a:lnTo>
                  <a:pt x="2092699" y="80130"/>
                </a:lnTo>
                <a:lnTo>
                  <a:pt x="2059565" y="46996"/>
                </a:lnTo>
                <a:lnTo>
                  <a:pt x="2019832" y="21741"/>
                </a:lnTo>
                <a:lnTo>
                  <a:pt x="1974784" y="5649"/>
                </a:lnTo>
                <a:lnTo>
                  <a:pt x="192570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16520" y="1837944"/>
            <a:ext cx="940435" cy="169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700"/>
              </a:lnSpc>
              <a:spcBef>
                <a:spcPts val="100"/>
              </a:spcBef>
            </a:pPr>
            <a:r>
              <a:rPr sz="3600" dirty="0">
                <a:solidFill>
                  <a:srgbClr val="B85B21"/>
                </a:solidFill>
                <a:latin typeface="华文仿宋"/>
                <a:cs typeface="华文仿宋"/>
              </a:rPr>
              <a:t>项目 决策</a:t>
            </a:r>
            <a:endParaRPr sz="3600">
              <a:latin typeface="华文仿宋"/>
              <a:cs typeface="华文仿宋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9896" y="4735169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174701"/>
            <a:ext cx="2055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变更管理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1304" y="1225294"/>
            <a:ext cx="4895088" cy="38877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96138"/>
            <a:ext cx="33813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项目计划修改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16933" y="4602581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18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813" y="1347977"/>
            <a:ext cx="4643755" cy="273431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5"/>
              </a:spcBef>
            </a:pPr>
            <a:r>
              <a:rPr sz="2900" dirty="0">
                <a:latin typeface="华文新魏"/>
                <a:cs typeface="华文新魏"/>
              </a:rPr>
              <a:t>计划修改的原因:</a:t>
            </a:r>
            <a:endParaRPr sz="29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209" algn="l"/>
                <a:tab pos="410845" algn="l"/>
              </a:tabLst>
            </a:pPr>
            <a:r>
              <a:rPr sz="2900" dirty="0">
                <a:latin typeface="华文新魏"/>
                <a:cs typeface="华文新魏"/>
              </a:rPr>
              <a:t>计划的不合理</a:t>
            </a:r>
            <a:endParaRPr sz="29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209" algn="l"/>
                <a:tab pos="410845" algn="l"/>
              </a:tabLst>
            </a:pPr>
            <a:r>
              <a:rPr sz="2900" dirty="0">
                <a:latin typeface="华文新魏"/>
                <a:cs typeface="华文新魏"/>
              </a:rPr>
              <a:t>客观原因导致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77740" y="1347216"/>
            <a:ext cx="4177284" cy="2734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41858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6448" y="4700117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614" y="14606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6420" y="1287780"/>
            <a:ext cx="483234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796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4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614" y="224625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4895" y="2072639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923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9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614" y="30325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4895" y="285902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9527" y="1287780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35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1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项目集成计划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527" y="2072639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478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140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集成计划的执行控制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9527" y="2859023"/>
            <a:ext cx="4628515" cy="6496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敏捷项目集成管理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1614" y="382508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34895" y="365150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9527" y="3651503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34238"/>
            <a:ext cx="50596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敏捷项目的集成管理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461" y="1276350"/>
            <a:ext cx="8881161" cy="294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敏捷方法能够促进团队成员以相关</a:t>
            </a:r>
            <a:r>
              <a:rPr sz="2800" spc="5" dirty="0">
                <a:latin typeface="华文新魏"/>
                <a:cs typeface="华文新魏"/>
              </a:rPr>
              <a:t>领</a:t>
            </a:r>
            <a:r>
              <a:rPr sz="2800" spc="-5" dirty="0">
                <a:latin typeface="华文新魏"/>
                <a:cs typeface="华文新魏"/>
              </a:rPr>
              <a:t>域专</a:t>
            </a:r>
            <a:r>
              <a:rPr sz="2800" spc="5" dirty="0">
                <a:latin typeface="华文新魏"/>
                <a:cs typeface="华文新魏"/>
              </a:rPr>
              <a:t>家</a:t>
            </a:r>
            <a:r>
              <a:rPr sz="2800" spc="-5" dirty="0">
                <a:latin typeface="华文新魏"/>
                <a:cs typeface="华文新魏"/>
              </a:rPr>
              <a:t>的身</a:t>
            </a:r>
            <a:r>
              <a:rPr sz="2800" spc="5" dirty="0">
                <a:latin typeface="华文新魏"/>
                <a:cs typeface="华文新魏"/>
              </a:rPr>
              <a:t>份</a:t>
            </a:r>
            <a:r>
              <a:rPr sz="2800" spc="-5" dirty="0">
                <a:latin typeface="华文新魏"/>
                <a:cs typeface="华文新魏"/>
              </a:rPr>
              <a:t>参与整 合管理。</a:t>
            </a:r>
            <a:endParaRPr sz="2800" dirty="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项目经理的关注点在于营造一个合</a:t>
            </a:r>
            <a:r>
              <a:rPr sz="2800" spc="5" dirty="0">
                <a:latin typeface="华文新魏"/>
                <a:cs typeface="华文新魏"/>
              </a:rPr>
              <a:t>作</a:t>
            </a:r>
            <a:r>
              <a:rPr sz="2800" spc="-5" dirty="0">
                <a:latin typeface="华文新魏"/>
                <a:cs typeface="华文新魏"/>
              </a:rPr>
              <a:t>型的</a:t>
            </a:r>
            <a:r>
              <a:rPr sz="2800" spc="5" dirty="0">
                <a:latin typeface="华文新魏"/>
                <a:cs typeface="华文新魏"/>
              </a:rPr>
              <a:t>决</a:t>
            </a:r>
            <a:r>
              <a:rPr sz="2800" spc="-5" dirty="0">
                <a:latin typeface="华文新魏"/>
                <a:cs typeface="华文新魏"/>
              </a:rPr>
              <a:t>策氛围</a:t>
            </a:r>
            <a:endParaRPr sz="2800" dirty="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对具体产品的规划和交付授权给团</a:t>
            </a:r>
            <a:r>
              <a:rPr sz="2800" spc="5" dirty="0">
                <a:latin typeface="华文新魏"/>
                <a:cs typeface="华文新魏"/>
              </a:rPr>
              <a:t>队</a:t>
            </a:r>
            <a:r>
              <a:rPr sz="2800" spc="-5" dirty="0">
                <a:latin typeface="华文新魏"/>
                <a:cs typeface="华文新魏"/>
              </a:rPr>
              <a:t>来控</a:t>
            </a:r>
            <a:r>
              <a:rPr sz="2800" spc="5" dirty="0">
                <a:latin typeface="华文新魏"/>
                <a:cs typeface="华文新魏"/>
              </a:rPr>
              <a:t>制</a:t>
            </a:r>
            <a:r>
              <a:rPr sz="2800" spc="-5" dirty="0">
                <a:latin typeface="华文新魏"/>
                <a:cs typeface="华文新魏"/>
              </a:rPr>
              <a:t>。</a:t>
            </a:r>
            <a:endParaRPr sz="2800" dirty="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确保团队有能力应对变更</a:t>
            </a:r>
            <a:endParaRPr sz="2800" dirty="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变更过</a:t>
            </a:r>
            <a:r>
              <a:rPr sz="2800" spc="-10" dirty="0">
                <a:latin typeface="华文新魏"/>
                <a:cs typeface="华文新魏"/>
              </a:rPr>
              <a:t>程</a:t>
            </a:r>
            <a:r>
              <a:rPr sz="2800" spc="-5" dirty="0">
                <a:latin typeface="华文新魏"/>
                <a:cs typeface="华文新魏"/>
              </a:rPr>
              <a:t>可视为一个敏捷项目</a:t>
            </a:r>
            <a:endParaRPr sz="2800" dirty="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7416" y="4449267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72338"/>
            <a:ext cx="6115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变更初始待办事项列表排序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258824" y="1138457"/>
            <a:ext cx="6048756" cy="3582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292346" y="4735169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7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72338"/>
            <a:ext cx="4085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管理跟踪变更过程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5567" y="1203963"/>
            <a:ext cx="6715194" cy="35097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141858"/>
            <a:ext cx="2263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16448" y="4700117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1614" y="14606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36420" y="1287780"/>
            <a:ext cx="483234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796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48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1614" y="2246251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4895" y="2072639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923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9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614" y="3032576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4895" y="285902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9527" y="1287780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35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11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项目集成计划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19527" y="2072639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4780" rIns="0" bIns="0" rtlCol="0">
            <a:spAutoFit/>
          </a:bodyPr>
          <a:lstStyle/>
          <a:p>
            <a:pPr marL="204470">
              <a:lnSpc>
                <a:spcPct val="100000"/>
              </a:lnSpc>
              <a:spcBef>
                <a:spcPts val="1140"/>
              </a:spcBef>
            </a:pPr>
            <a:r>
              <a:rPr sz="2000" b="1" spc="5" dirty="0">
                <a:solidFill>
                  <a:srgbClr val="003366"/>
                </a:solidFill>
                <a:latin typeface="微软雅黑"/>
                <a:cs typeface="微软雅黑"/>
              </a:rPr>
              <a:t>集成计划的执行控制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19527" y="2859023"/>
            <a:ext cx="4628515" cy="64960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敏捷项目集成管理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91614" y="3825082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34895" y="3651503"/>
            <a:ext cx="485140" cy="64960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8859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48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19527" y="3651503"/>
            <a:ext cx="4628515" cy="64960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42875" rIns="0" bIns="0" rtlCol="0">
            <a:spAutoFit/>
          </a:bodyPr>
          <a:lstStyle/>
          <a:p>
            <a:pPr marL="206375">
              <a:lnSpc>
                <a:spcPct val="100000"/>
              </a:lnSpc>
              <a:spcBef>
                <a:spcPts val="112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06570" y="4770334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3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65" y="174701"/>
            <a:ext cx="58216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案例分析</a:t>
            </a:r>
            <a:r>
              <a:rPr sz="4000" spc="-5" dirty="0"/>
              <a:t>:</a:t>
            </a:r>
            <a:r>
              <a:rPr sz="4000" u="sng" spc="-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MED</a:t>
            </a:r>
            <a:r>
              <a:rPr sz="4000" u="sng" spc="-1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集成计划</a:t>
            </a:r>
            <a:r>
              <a:rPr sz="4000" u="sng" spc="-15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</a:rPr>
              <a:t>书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24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03960"/>
            <a:ext cx="9143999" cy="3671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265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案例分析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4394" y="4817770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4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461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0258" y="1856994"/>
            <a:ext cx="7703820" cy="2947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0258" y="1856994"/>
            <a:ext cx="7703820" cy="2947670"/>
          </a:xfrm>
          <a:custGeom>
            <a:avLst/>
            <a:gdLst/>
            <a:ahLst/>
            <a:cxnLst/>
            <a:rect l="l" t="t" r="r" b="b"/>
            <a:pathLst>
              <a:path w="7703820" h="2947670">
                <a:moveTo>
                  <a:pt x="0" y="491235"/>
                </a:moveTo>
                <a:lnTo>
                  <a:pt x="2248" y="443931"/>
                </a:lnTo>
                <a:lnTo>
                  <a:pt x="8857" y="397898"/>
                </a:lnTo>
                <a:lnTo>
                  <a:pt x="19621" y="353341"/>
                </a:lnTo>
                <a:lnTo>
                  <a:pt x="34333" y="310468"/>
                </a:lnTo>
                <a:lnTo>
                  <a:pt x="52788" y="269484"/>
                </a:lnTo>
                <a:lnTo>
                  <a:pt x="74780" y="230595"/>
                </a:lnTo>
                <a:lnTo>
                  <a:pt x="100103" y="194007"/>
                </a:lnTo>
                <a:lnTo>
                  <a:pt x="128551" y="159926"/>
                </a:lnTo>
                <a:lnTo>
                  <a:pt x="159918" y="128559"/>
                </a:lnTo>
                <a:lnTo>
                  <a:pt x="193999" y="100110"/>
                </a:lnTo>
                <a:lnTo>
                  <a:pt x="230587" y="74786"/>
                </a:lnTo>
                <a:lnTo>
                  <a:pt x="269477" y="52793"/>
                </a:lnTo>
                <a:lnTo>
                  <a:pt x="310463" y="34336"/>
                </a:lnTo>
                <a:lnTo>
                  <a:pt x="353339" y="19623"/>
                </a:lnTo>
                <a:lnTo>
                  <a:pt x="397899" y="8858"/>
                </a:lnTo>
                <a:lnTo>
                  <a:pt x="443938" y="2249"/>
                </a:lnTo>
                <a:lnTo>
                  <a:pt x="491248" y="0"/>
                </a:lnTo>
                <a:lnTo>
                  <a:pt x="7212584" y="0"/>
                </a:lnTo>
                <a:lnTo>
                  <a:pt x="7259888" y="2249"/>
                </a:lnTo>
                <a:lnTo>
                  <a:pt x="7305921" y="8858"/>
                </a:lnTo>
                <a:lnTo>
                  <a:pt x="7350478" y="19623"/>
                </a:lnTo>
                <a:lnTo>
                  <a:pt x="7393351" y="34336"/>
                </a:lnTo>
                <a:lnTo>
                  <a:pt x="7434335" y="52793"/>
                </a:lnTo>
                <a:lnTo>
                  <a:pt x="7473224" y="74786"/>
                </a:lnTo>
                <a:lnTo>
                  <a:pt x="7509812" y="100110"/>
                </a:lnTo>
                <a:lnTo>
                  <a:pt x="7543893" y="128559"/>
                </a:lnTo>
                <a:lnTo>
                  <a:pt x="7575260" y="159926"/>
                </a:lnTo>
                <a:lnTo>
                  <a:pt x="7603709" y="194007"/>
                </a:lnTo>
                <a:lnTo>
                  <a:pt x="7629033" y="230595"/>
                </a:lnTo>
                <a:lnTo>
                  <a:pt x="7651026" y="269484"/>
                </a:lnTo>
                <a:lnTo>
                  <a:pt x="7669483" y="310468"/>
                </a:lnTo>
                <a:lnTo>
                  <a:pt x="7684196" y="353341"/>
                </a:lnTo>
                <a:lnTo>
                  <a:pt x="7694961" y="397898"/>
                </a:lnTo>
                <a:lnTo>
                  <a:pt x="7701570" y="443931"/>
                </a:lnTo>
                <a:lnTo>
                  <a:pt x="7703820" y="491235"/>
                </a:lnTo>
                <a:lnTo>
                  <a:pt x="7703820" y="2456167"/>
                </a:lnTo>
                <a:lnTo>
                  <a:pt x="7701570" y="2503477"/>
                </a:lnTo>
                <a:lnTo>
                  <a:pt x="7694961" y="2549516"/>
                </a:lnTo>
                <a:lnTo>
                  <a:pt x="7684196" y="2594076"/>
                </a:lnTo>
                <a:lnTo>
                  <a:pt x="7669483" y="2636952"/>
                </a:lnTo>
                <a:lnTo>
                  <a:pt x="7651026" y="2677938"/>
                </a:lnTo>
                <a:lnTo>
                  <a:pt x="7629033" y="2716828"/>
                </a:lnTo>
                <a:lnTo>
                  <a:pt x="7603709" y="2753416"/>
                </a:lnTo>
                <a:lnTo>
                  <a:pt x="7575260" y="2787497"/>
                </a:lnTo>
                <a:lnTo>
                  <a:pt x="7543893" y="2818864"/>
                </a:lnTo>
                <a:lnTo>
                  <a:pt x="7509812" y="2847312"/>
                </a:lnTo>
                <a:lnTo>
                  <a:pt x="7473224" y="2872635"/>
                </a:lnTo>
                <a:lnTo>
                  <a:pt x="7434335" y="2894627"/>
                </a:lnTo>
                <a:lnTo>
                  <a:pt x="7393351" y="2913082"/>
                </a:lnTo>
                <a:lnTo>
                  <a:pt x="7350478" y="2927794"/>
                </a:lnTo>
                <a:lnTo>
                  <a:pt x="7305921" y="2938558"/>
                </a:lnTo>
                <a:lnTo>
                  <a:pt x="7259888" y="2945167"/>
                </a:lnTo>
                <a:lnTo>
                  <a:pt x="7212584" y="2947416"/>
                </a:lnTo>
                <a:lnTo>
                  <a:pt x="491248" y="2947416"/>
                </a:lnTo>
                <a:lnTo>
                  <a:pt x="443938" y="2945167"/>
                </a:lnTo>
                <a:lnTo>
                  <a:pt x="397899" y="2938558"/>
                </a:lnTo>
                <a:lnTo>
                  <a:pt x="353339" y="2927794"/>
                </a:lnTo>
                <a:lnTo>
                  <a:pt x="310463" y="2913082"/>
                </a:lnTo>
                <a:lnTo>
                  <a:pt x="269477" y="2894627"/>
                </a:lnTo>
                <a:lnTo>
                  <a:pt x="230587" y="2872635"/>
                </a:lnTo>
                <a:lnTo>
                  <a:pt x="193999" y="2847312"/>
                </a:lnTo>
                <a:lnTo>
                  <a:pt x="159918" y="2818864"/>
                </a:lnTo>
                <a:lnTo>
                  <a:pt x="128551" y="2787497"/>
                </a:lnTo>
                <a:lnTo>
                  <a:pt x="100103" y="2753416"/>
                </a:lnTo>
                <a:lnTo>
                  <a:pt x="74780" y="2716828"/>
                </a:lnTo>
                <a:lnTo>
                  <a:pt x="52788" y="2677938"/>
                </a:lnTo>
                <a:lnTo>
                  <a:pt x="34333" y="2636952"/>
                </a:lnTo>
                <a:lnTo>
                  <a:pt x="19621" y="2594076"/>
                </a:lnTo>
                <a:lnTo>
                  <a:pt x="8857" y="2549516"/>
                </a:lnTo>
                <a:lnTo>
                  <a:pt x="2248" y="2503477"/>
                </a:lnTo>
                <a:lnTo>
                  <a:pt x="0" y="2456167"/>
                </a:lnTo>
                <a:lnTo>
                  <a:pt x="0" y="491235"/>
                </a:lnTo>
                <a:close/>
              </a:path>
            </a:pathLst>
          </a:custGeom>
          <a:ln w="19812">
            <a:solidFill>
              <a:srgbClr val="6F44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0200" y="1347216"/>
            <a:ext cx="5675630" cy="1019810"/>
          </a:xfrm>
          <a:custGeom>
            <a:avLst/>
            <a:gdLst/>
            <a:ahLst/>
            <a:cxnLst/>
            <a:rect l="l" t="t" r="r" b="b"/>
            <a:pathLst>
              <a:path w="5675630" h="1019810">
                <a:moveTo>
                  <a:pt x="5496814" y="0"/>
                </a:moveTo>
                <a:lnTo>
                  <a:pt x="178562" y="0"/>
                </a:lnTo>
                <a:lnTo>
                  <a:pt x="131071" y="6374"/>
                </a:lnTo>
                <a:lnTo>
                  <a:pt x="88410" y="24365"/>
                </a:lnTo>
                <a:lnTo>
                  <a:pt x="52276" y="52276"/>
                </a:lnTo>
                <a:lnTo>
                  <a:pt x="24365" y="88410"/>
                </a:lnTo>
                <a:lnTo>
                  <a:pt x="6374" y="131071"/>
                </a:lnTo>
                <a:lnTo>
                  <a:pt x="0" y="178562"/>
                </a:lnTo>
                <a:lnTo>
                  <a:pt x="0" y="840994"/>
                </a:lnTo>
                <a:lnTo>
                  <a:pt x="6374" y="888484"/>
                </a:lnTo>
                <a:lnTo>
                  <a:pt x="24365" y="931145"/>
                </a:lnTo>
                <a:lnTo>
                  <a:pt x="52276" y="967279"/>
                </a:lnTo>
                <a:lnTo>
                  <a:pt x="88410" y="995190"/>
                </a:lnTo>
                <a:lnTo>
                  <a:pt x="131071" y="1013181"/>
                </a:lnTo>
                <a:lnTo>
                  <a:pt x="178562" y="1019556"/>
                </a:lnTo>
                <a:lnTo>
                  <a:pt x="5496814" y="1019556"/>
                </a:lnTo>
                <a:lnTo>
                  <a:pt x="5544304" y="1013181"/>
                </a:lnTo>
                <a:lnTo>
                  <a:pt x="5586965" y="995190"/>
                </a:lnTo>
                <a:lnTo>
                  <a:pt x="5623099" y="967279"/>
                </a:lnTo>
                <a:lnTo>
                  <a:pt x="5651010" y="931145"/>
                </a:lnTo>
                <a:lnTo>
                  <a:pt x="5669001" y="888484"/>
                </a:lnTo>
                <a:lnTo>
                  <a:pt x="5675376" y="840994"/>
                </a:lnTo>
                <a:lnTo>
                  <a:pt x="5675376" y="178562"/>
                </a:lnTo>
                <a:lnTo>
                  <a:pt x="5669001" y="131071"/>
                </a:lnTo>
                <a:lnTo>
                  <a:pt x="5651010" y="88410"/>
                </a:lnTo>
                <a:lnTo>
                  <a:pt x="5623099" y="52276"/>
                </a:lnTo>
                <a:lnTo>
                  <a:pt x="5586965" y="24365"/>
                </a:lnTo>
                <a:lnTo>
                  <a:pt x="5544304" y="6374"/>
                </a:lnTo>
                <a:lnTo>
                  <a:pt x="5496814" y="0"/>
                </a:lnTo>
                <a:close/>
              </a:path>
            </a:pathLst>
          </a:custGeom>
          <a:solidFill>
            <a:srgbClr val="6F4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13916" y="2078735"/>
            <a:ext cx="5654040" cy="2438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13916" y="1379219"/>
            <a:ext cx="5654040" cy="2438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10917" y="1539366"/>
            <a:ext cx="49060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华文仿宋"/>
                <a:cs typeface="华文仿宋"/>
              </a:rPr>
              <a:t>医疗信</a:t>
            </a:r>
            <a:r>
              <a:rPr sz="2400" b="1" spc="-5" dirty="0">
                <a:solidFill>
                  <a:srgbClr val="FFFFFF"/>
                </a:solidFill>
                <a:latin typeface="华文仿宋"/>
                <a:cs typeface="华文仿宋"/>
              </a:rPr>
              <a:t>息商务平台项目数据采集案例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1870" y="2575142"/>
            <a:ext cx="3568065" cy="17538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59375"/>
              <a:buFont typeface="Wingdings"/>
              <a:buChar char=""/>
              <a:tabLst>
                <a:tab pos="299720" algn="l"/>
              </a:tabLst>
            </a:pPr>
            <a:r>
              <a:rPr sz="3200" dirty="0">
                <a:latin typeface="华文新魏"/>
                <a:cs typeface="华文新魏"/>
              </a:rPr>
              <a:t>工时采集案例</a:t>
            </a:r>
            <a:endParaRPr sz="3200">
              <a:latin typeface="华文新魏"/>
              <a:cs typeface="华文新魏"/>
            </a:endParaRPr>
          </a:p>
          <a:p>
            <a:pPr marL="299085" indent="-28702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"/>
              <a:tabLst>
                <a:tab pos="299720" algn="l"/>
              </a:tabLst>
            </a:pPr>
            <a:r>
              <a:rPr sz="3200" dirty="0">
                <a:latin typeface="华文新魏"/>
                <a:cs typeface="华文新魏"/>
              </a:rPr>
              <a:t>人力规模统计案例</a:t>
            </a:r>
            <a:endParaRPr sz="3200">
              <a:latin typeface="华文新魏"/>
              <a:cs typeface="华文新魏"/>
            </a:endParaRPr>
          </a:p>
          <a:p>
            <a:pPr marL="299085" indent="-28702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"/>
              <a:tabLst>
                <a:tab pos="299720" algn="l"/>
              </a:tabLst>
            </a:pPr>
            <a:r>
              <a:rPr sz="3200" dirty="0">
                <a:latin typeface="华文新魏"/>
                <a:cs typeface="华文新魏"/>
              </a:rPr>
              <a:t>缺陷数据采集案例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0"/>
            <a:ext cx="57092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MED项目工时采集案例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472431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26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5210" y="1274298"/>
            <a:ext cx="8623895" cy="16881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4027" y="2953510"/>
            <a:ext cx="8740140" cy="2066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9032"/>
            <a:ext cx="6827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MED项目人力规</a:t>
            </a:r>
            <a:r>
              <a:rPr spc="-10" dirty="0"/>
              <a:t>模统</a:t>
            </a:r>
            <a:r>
              <a:rPr spc="5" dirty="0"/>
              <a:t>计案例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494" y="4724310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27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15211" y="1203958"/>
            <a:ext cx="6425184" cy="39395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80010"/>
            <a:ext cx="61976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ME</a:t>
            </a:r>
            <a:r>
              <a:rPr sz="4000" spc="-10" dirty="0"/>
              <a:t>D</a:t>
            </a:r>
            <a:r>
              <a:rPr sz="4000" spc="-5" dirty="0"/>
              <a:t>项目缺陷数据采</a:t>
            </a:r>
            <a:r>
              <a:rPr sz="4000" spc="-15" dirty="0"/>
              <a:t>集</a:t>
            </a:r>
            <a:r>
              <a:rPr sz="4000" spc="-5" dirty="0"/>
              <a:t>案例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730116" y="4698097"/>
            <a:ext cx="81026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spc="-5" dirty="0">
                <a:latin typeface="Arial Narrow"/>
                <a:cs typeface="Arial Narrow"/>
              </a:rPr>
              <a:t>1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28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9831" y="1277111"/>
            <a:ext cx="8964167" cy="3671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96138"/>
            <a:ext cx="1144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2234" y="4673904"/>
            <a:ext cx="835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4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14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8488" y="968121"/>
            <a:ext cx="1047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Arial Narrow"/>
                <a:cs typeface="Arial Narrow"/>
              </a:rPr>
              <a:t>29</a:t>
            </a:r>
            <a:endParaRPr sz="7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43177" y="1419605"/>
            <a:ext cx="6410325" cy="2306320"/>
          </a:xfrm>
          <a:custGeom>
            <a:avLst/>
            <a:gdLst/>
            <a:ahLst/>
            <a:cxnLst/>
            <a:rect l="l" t="t" r="r" b="b"/>
            <a:pathLst>
              <a:path w="6410325" h="2306320">
                <a:moveTo>
                  <a:pt x="0" y="2305812"/>
                </a:moveTo>
                <a:lnTo>
                  <a:pt x="6409944" y="2305812"/>
                </a:lnTo>
                <a:lnTo>
                  <a:pt x="6409944" y="0"/>
                </a:lnTo>
                <a:lnTo>
                  <a:pt x="0" y="0"/>
                </a:lnTo>
                <a:lnTo>
                  <a:pt x="0" y="230581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22070" y="1336348"/>
            <a:ext cx="3601085" cy="21367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32105" indent="-320040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SzPct val="59375"/>
              <a:buFont typeface="Wingdings"/>
              <a:buChar char="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项目集成计划</a:t>
            </a:r>
            <a:endParaRPr sz="3200">
              <a:latin typeface="华文新魏"/>
              <a:cs typeface="华文新魏"/>
            </a:endParaRPr>
          </a:p>
          <a:p>
            <a:pPr marL="332105" indent="-320040">
              <a:lnSpc>
                <a:spcPct val="100000"/>
              </a:lnSpc>
              <a:spcBef>
                <a:spcPts val="315"/>
              </a:spcBef>
              <a:buClr>
                <a:srgbClr val="DD8046"/>
              </a:buClr>
              <a:buSzPct val="59375"/>
              <a:buFont typeface="Wingdings"/>
              <a:buChar char="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项目执行控制流程</a:t>
            </a:r>
            <a:endParaRPr sz="3200">
              <a:latin typeface="华文新魏"/>
              <a:cs typeface="华文新魏"/>
            </a:endParaRPr>
          </a:p>
          <a:p>
            <a:pPr marL="332105" indent="-320040">
              <a:lnSpc>
                <a:spcPct val="100000"/>
              </a:lnSpc>
              <a:spcBef>
                <a:spcPts val="325"/>
              </a:spcBef>
              <a:buClr>
                <a:srgbClr val="DD8046"/>
              </a:buClr>
              <a:buSzPct val="59375"/>
              <a:buFont typeface="Wingdings"/>
              <a:buChar char="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项目数据采集</a:t>
            </a:r>
            <a:endParaRPr sz="3200">
              <a:latin typeface="华文新魏"/>
              <a:cs typeface="华文新魏"/>
            </a:endParaRPr>
          </a:p>
          <a:p>
            <a:pPr marL="332105" indent="-320040">
              <a:lnSpc>
                <a:spcPct val="100000"/>
              </a:lnSpc>
              <a:spcBef>
                <a:spcPts val="315"/>
              </a:spcBef>
              <a:buClr>
                <a:srgbClr val="DD8046"/>
              </a:buClr>
              <a:buSzPct val="59375"/>
              <a:buFont typeface="Wingdings"/>
              <a:buChar char="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集成变更管理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265</Words>
  <Application>Microsoft Macintosh PowerPoint</Application>
  <PresentationFormat>全屏显示(16:9)</PresentationFormat>
  <Paragraphs>171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华文仿宋</vt:lpstr>
      <vt:lpstr>华文琥珀</vt:lpstr>
      <vt:lpstr>华文隶书</vt:lpstr>
      <vt:lpstr>华文新魏</vt:lpstr>
      <vt:lpstr>华文行楷</vt:lpstr>
      <vt:lpstr>宋体</vt:lpstr>
      <vt:lpstr>微软雅黑</vt:lpstr>
      <vt:lpstr>Arial Narrow</vt:lpstr>
      <vt:lpstr>Calibri</vt:lpstr>
      <vt:lpstr>Tw Cen MT</vt:lpstr>
      <vt:lpstr>Wingdings</vt:lpstr>
      <vt:lpstr>Office Theme</vt:lpstr>
      <vt:lpstr>项目执行控制</vt:lpstr>
      <vt:lpstr>PowerPoint 演示文稿</vt:lpstr>
      <vt:lpstr>第 13 章</vt:lpstr>
      <vt:lpstr>本章要点</vt:lpstr>
      <vt:lpstr>项目集成管理</vt:lpstr>
      <vt:lpstr>软件项目管理的重要四个要素</vt:lpstr>
      <vt:lpstr>四要素的关系</vt:lpstr>
      <vt:lpstr>软件项目集成计划</vt:lpstr>
      <vt:lpstr>本章要点</vt:lpstr>
      <vt:lpstr>项目执行控制过程</vt:lpstr>
      <vt:lpstr>项目执行控制的步骤</vt:lpstr>
      <vt:lpstr>项目时间采集例子</vt:lpstr>
      <vt:lpstr>项目工时采集例子</vt:lpstr>
      <vt:lpstr>缺陷数据采集例子</vt:lpstr>
      <vt:lpstr>测试过程数据采集例子</vt:lpstr>
      <vt:lpstr>项目数据是项目执行控制的依据</vt:lpstr>
      <vt:lpstr>变更管理</vt:lpstr>
      <vt:lpstr>项目计划修改</vt:lpstr>
      <vt:lpstr>本章要点</vt:lpstr>
      <vt:lpstr>敏捷项目的集成管理</vt:lpstr>
      <vt:lpstr>变更初始待办事项列表排序</vt:lpstr>
      <vt:lpstr>管理跟踪变更过程</vt:lpstr>
      <vt:lpstr>本章要点</vt:lpstr>
      <vt:lpstr>案例分析:MED集成计划书</vt:lpstr>
      <vt:lpstr>案例分析</vt:lpstr>
      <vt:lpstr>MED项目工时采集案例</vt:lpstr>
      <vt:lpstr>MED项目人力规模统计案例</vt:lpstr>
      <vt:lpstr>MED项目缺陷数据采集案例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</dc:title>
  <dc:creator>think</dc:creator>
  <cp:lastModifiedBy>Microsoft Office 用户</cp:lastModifiedBy>
  <cp:revision>2</cp:revision>
  <dcterms:created xsi:type="dcterms:W3CDTF">2020-06-12T01:28:48Z</dcterms:created>
  <dcterms:modified xsi:type="dcterms:W3CDTF">2024-04-15T00:12:13Z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