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0"/>
    <p:restoredTop sz="94436"/>
  </p:normalViewPr>
  <p:slideViewPr>
    <p:cSldViewPr>
      <p:cViewPr varScale="1">
        <p:scale>
          <a:sx n="104" d="100"/>
          <a:sy n="104" d="100"/>
        </p:scale>
        <p:origin x="36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0653" y="2351659"/>
            <a:ext cx="2742692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F66FF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38656" y="3991736"/>
            <a:ext cx="6266687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66FF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168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1683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063" y="354583"/>
            <a:ext cx="67945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040204"/>
            <a:ext cx="8153400" cy="257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60.png"/><Relationship Id="rId7" Type="http://schemas.openxmlformats.org/officeDocument/2006/relationships/image" Target="../media/image64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jp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7.png"/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91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136982"/>
            <a:ext cx="1703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路线图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631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2648" y="2030000"/>
            <a:ext cx="7900415" cy="3816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4642" y="162890"/>
            <a:ext cx="5217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软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965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975" dirty="0">
                <a:solidFill>
                  <a:srgbClr val="775F54"/>
                </a:solidFill>
                <a:latin typeface="华文琥珀"/>
                <a:cs typeface="华文琥珀"/>
              </a:rPr>
              <a:t>三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第 </a:t>
            </a:r>
            <a:r>
              <a:rPr spc="-5" dirty="0"/>
              <a:t>14</a:t>
            </a:r>
            <a:r>
              <a:rPr spc="-50" dirty="0"/>
              <a:t> </a:t>
            </a:r>
            <a:r>
              <a:rPr spc="-10" dirty="0"/>
              <a:t>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项</a:t>
            </a:r>
            <a:r>
              <a:rPr spc="10" dirty="0"/>
              <a:t>目</a:t>
            </a:r>
            <a:r>
              <a:rPr spc="-5" dirty="0"/>
              <a:t>核心计划执行控制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202438"/>
            <a:ext cx="22644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情景引入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631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17598" y="1899338"/>
            <a:ext cx="5201945" cy="4115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3788" y="212427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8339" y="1842516"/>
            <a:ext cx="54419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3788" y="308350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8339" y="2802635"/>
            <a:ext cx="483234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5311" y="40442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8339" y="3762755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5311" y="500552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339" y="4722876"/>
            <a:ext cx="485140" cy="86741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2407" y="1842516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3060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范围管</a:t>
            </a: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理</a:t>
            </a:r>
            <a:r>
              <a:rPr sz="2000" b="1" spc="-2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-</a:t>
            </a:r>
            <a:r>
              <a:rPr sz="2000" b="1" spc="-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448" y="280263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86055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进度成本管理</a:t>
            </a:r>
            <a:r>
              <a:rPr sz="2000" b="1" spc="-2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- 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2972" y="376275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11811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质量管理</a:t>
            </a:r>
            <a:r>
              <a:rPr sz="2000" b="1" spc="-2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- 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2972" y="4722876"/>
            <a:ext cx="4630420" cy="86741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范围管理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56715"/>
            <a:ext cx="886968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范围</a:t>
            </a:r>
            <a:r>
              <a:rPr sz="2900" spc="5" dirty="0">
                <a:latin typeface="华文新魏"/>
                <a:cs typeface="华文新魏"/>
              </a:rPr>
              <a:t>执</a:t>
            </a:r>
            <a:r>
              <a:rPr sz="2900" dirty="0">
                <a:latin typeface="华文新魏"/>
                <a:cs typeface="华文新魏"/>
              </a:rPr>
              <a:t>行</a:t>
            </a:r>
            <a:r>
              <a:rPr sz="2900" spc="5" dirty="0">
                <a:latin typeface="华文新魏"/>
                <a:cs typeface="华文新魏"/>
              </a:rPr>
              <a:t>控制是</a:t>
            </a:r>
            <a:r>
              <a:rPr sz="2900" spc="-5" dirty="0">
                <a:latin typeface="华文新魏"/>
                <a:cs typeface="华文新魏"/>
              </a:rPr>
              <a:t>监</a:t>
            </a:r>
            <a:r>
              <a:rPr sz="2900" spc="5" dirty="0">
                <a:latin typeface="华文新魏"/>
                <a:cs typeface="华文新魏"/>
              </a:rPr>
              <a:t>督项</a:t>
            </a:r>
            <a:r>
              <a:rPr sz="2900" spc="-20" dirty="0">
                <a:latin typeface="华文新魏"/>
                <a:cs typeface="华文新魏"/>
              </a:rPr>
              <a:t>目</a:t>
            </a:r>
            <a:r>
              <a:rPr sz="2900" spc="5" dirty="0">
                <a:latin typeface="华文新魏"/>
                <a:cs typeface="华文新魏"/>
              </a:rPr>
              <a:t>的范</a:t>
            </a:r>
            <a:r>
              <a:rPr sz="2900" spc="-20" dirty="0">
                <a:latin typeface="华文新魏"/>
                <a:cs typeface="华文新魏"/>
              </a:rPr>
              <a:t>围</a:t>
            </a:r>
            <a:r>
              <a:rPr sz="2900" spc="5" dirty="0">
                <a:latin typeface="华文新魏"/>
                <a:cs typeface="华文新魏"/>
              </a:rPr>
              <a:t>状态</a:t>
            </a:r>
            <a:r>
              <a:rPr sz="2900" spc="-20" dirty="0">
                <a:latin typeface="华文新魏"/>
                <a:cs typeface="华文新魏"/>
              </a:rPr>
              <a:t>，</a:t>
            </a:r>
            <a:r>
              <a:rPr sz="2900" spc="5" dirty="0">
                <a:latin typeface="华文新魏"/>
                <a:cs typeface="华文新魏"/>
              </a:rPr>
              <a:t>管理</a:t>
            </a:r>
            <a:r>
              <a:rPr sz="2900" spc="-20" dirty="0">
                <a:latin typeface="华文新魏"/>
                <a:cs typeface="华文新魏"/>
              </a:rPr>
              <a:t>范</a:t>
            </a:r>
            <a:r>
              <a:rPr sz="2900" spc="5" dirty="0">
                <a:latin typeface="华文新魏"/>
                <a:cs typeface="华文新魏"/>
              </a:rPr>
              <a:t>围基</a:t>
            </a:r>
            <a:r>
              <a:rPr sz="2900" spc="-20" dirty="0">
                <a:latin typeface="华文新魏"/>
                <a:cs typeface="华文新魏"/>
              </a:rPr>
              <a:t>准</a:t>
            </a:r>
            <a:r>
              <a:rPr sz="2900" dirty="0">
                <a:latin typeface="华文新魏"/>
                <a:cs typeface="华文新魏"/>
              </a:rPr>
              <a:t>变 更的过程。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148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033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4611" y="2706622"/>
            <a:ext cx="8279892" cy="4034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87801" y="3141726"/>
            <a:ext cx="4753610" cy="3472179"/>
          </a:xfrm>
          <a:custGeom>
            <a:avLst/>
            <a:gdLst/>
            <a:ahLst/>
            <a:cxnLst/>
            <a:rect l="l" t="t" r="r" b="b"/>
            <a:pathLst>
              <a:path w="4753609" h="3472179">
                <a:moveTo>
                  <a:pt x="0" y="3471672"/>
                </a:moveTo>
                <a:lnTo>
                  <a:pt x="4753356" y="3471672"/>
                </a:lnTo>
                <a:lnTo>
                  <a:pt x="4753356" y="0"/>
                </a:lnTo>
                <a:lnTo>
                  <a:pt x="0" y="0"/>
                </a:lnTo>
                <a:lnTo>
                  <a:pt x="0" y="3471672"/>
                </a:lnTo>
                <a:close/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35026"/>
            <a:ext cx="22644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仿宋"/>
                <a:cs typeface="华文仿宋"/>
              </a:rPr>
              <a:t>分析技术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040" y="1724990"/>
            <a:ext cx="150368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u="sng" spc="-7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u="sng" spc="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偏差</a:t>
            </a:r>
            <a:r>
              <a:rPr sz="2900" b="1" u="sng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分析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23790" y="1595120"/>
            <a:ext cx="15036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u="sng" spc="-7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u="sng" spc="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趋势</a:t>
            </a:r>
            <a:r>
              <a:rPr sz="2900" b="1" u="sng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分</a:t>
            </a:r>
            <a:r>
              <a:rPr sz="2900" b="1" u="sng" spc="-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析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033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8047" y="622686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9107" y="2545376"/>
            <a:ext cx="3842043" cy="28087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43271" y="2727960"/>
            <a:ext cx="4068542" cy="2500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15" y="136982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范围控制要点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631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9235" y="2240279"/>
            <a:ext cx="4864735" cy="3382010"/>
          </a:xfrm>
          <a:custGeom>
            <a:avLst/>
            <a:gdLst/>
            <a:ahLst/>
            <a:cxnLst/>
            <a:rect l="l" t="t" r="r" b="b"/>
            <a:pathLst>
              <a:path w="4864734" h="3382010">
                <a:moveTo>
                  <a:pt x="4593590" y="0"/>
                </a:moveTo>
                <a:lnTo>
                  <a:pt x="271018" y="0"/>
                </a:lnTo>
                <a:lnTo>
                  <a:pt x="222287" y="4364"/>
                </a:lnTo>
                <a:lnTo>
                  <a:pt x="176429" y="16949"/>
                </a:lnTo>
                <a:lnTo>
                  <a:pt x="134206" y="36989"/>
                </a:lnTo>
                <a:lnTo>
                  <a:pt x="96382" y="63722"/>
                </a:lnTo>
                <a:lnTo>
                  <a:pt x="63722" y="96382"/>
                </a:lnTo>
                <a:lnTo>
                  <a:pt x="36989" y="134206"/>
                </a:lnTo>
                <a:lnTo>
                  <a:pt x="16949" y="176429"/>
                </a:lnTo>
                <a:lnTo>
                  <a:pt x="4364" y="222287"/>
                </a:lnTo>
                <a:lnTo>
                  <a:pt x="0" y="271018"/>
                </a:lnTo>
                <a:lnTo>
                  <a:pt x="0" y="3110738"/>
                </a:lnTo>
                <a:lnTo>
                  <a:pt x="4364" y="3159468"/>
                </a:lnTo>
                <a:lnTo>
                  <a:pt x="16949" y="3205326"/>
                </a:lnTo>
                <a:lnTo>
                  <a:pt x="36989" y="3247549"/>
                </a:lnTo>
                <a:lnTo>
                  <a:pt x="63722" y="3285373"/>
                </a:lnTo>
                <a:lnTo>
                  <a:pt x="96382" y="3318033"/>
                </a:lnTo>
                <a:lnTo>
                  <a:pt x="134206" y="3344766"/>
                </a:lnTo>
                <a:lnTo>
                  <a:pt x="176429" y="3364806"/>
                </a:lnTo>
                <a:lnTo>
                  <a:pt x="222287" y="3377391"/>
                </a:lnTo>
                <a:lnTo>
                  <a:pt x="271018" y="3381756"/>
                </a:lnTo>
                <a:lnTo>
                  <a:pt x="4593590" y="3381756"/>
                </a:lnTo>
                <a:lnTo>
                  <a:pt x="4642320" y="3377391"/>
                </a:lnTo>
                <a:lnTo>
                  <a:pt x="4688178" y="3364806"/>
                </a:lnTo>
                <a:lnTo>
                  <a:pt x="4730401" y="3344766"/>
                </a:lnTo>
                <a:lnTo>
                  <a:pt x="4768225" y="3318033"/>
                </a:lnTo>
                <a:lnTo>
                  <a:pt x="4800885" y="3285373"/>
                </a:lnTo>
                <a:lnTo>
                  <a:pt x="4827618" y="3247549"/>
                </a:lnTo>
                <a:lnTo>
                  <a:pt x="4847658" y="3205326"/>
                </a:lnTo>
                <a:lnTo>
                  <a:pt x="4860243" y="3159468"/>
                </a:lnTo>
                <a:lnTo>
                  <a:pt x="4864608" y="3110738"/>
                </a:lnTo>
                <a:lnTo>
                  <a:pt x="4864608" y="271018"/>
                </a:lnTo>
                <a:lnTo>
                  <a:pt x="4860243" y="222287"/>
                </a:lnTo>
                <a:lnTo>
                  <a:pt x="4847658" y="176429"/>
                </a:lnTo>
                <a:lnTo>
                  <a:pt x="4827618" y="134206"/>
                </a:lnTo>
                <a:lnTo>
                  <a:pt x="4800885" y="96382"/>
                </a:lnTo>
                <a:lnTo>
                  <a:pt x="4768225" y="63722"/>
                </a:lnTo>
                <a:lnTo>
                  <a:pt x="4730401" y="36989"/>
                </a:lnTo>
                <a:lnTo>
                  <a:pt x="4688178" y="16949"/>
                </a:lnTo>
                <a:lnTo>
                  <a:pt x="4642320" y="4364"/>
                </a:lnTo>
                <a:lnTo>
                  <a:pt x="459359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69235" y="2240279"/>
            <a:ext cx="4864735" cy="3382010"/>
          </a:xfrm>
          <a:custGeom>
            <a:avLst/>
            <a:gdLst/>
            <a:ahLst/>
            <a:cxnLst/>
            <a:rect l="l" t="t" r="r" b="b"/>
            <a:pathLst>
              <a:path w="4864734" h="3382010">
                <a:moveTo>
                  <a:pt x="0" y="271018"/>
                </a:moveTo>
                <a:lnTo>
                  <a:pt x="4364" y="222287"/>
                </a:lnTo>
                <a:lnTo>
                  <a:pt x="16949" y="176429"/>
                </a:lnTo>
                <a:lnTo>
                  <a:pt x="36989" y="134206"/>
                </a:lnTo>
                <a:lnTo>
                  <a:pt x="63722" y="96382"/>
                </a:lnTo>
                <a:lnTo>
                  <a:pt x="96382" y="63722"/>
                </a:lnTo>
                <a:lnTo>
                  <a:pt x="134206" y="36989"/>
                </a:lnTo>
                <a:lnTo>
                  <a:pt x="176429" y="16949"/>
                </a:lnTo>
                <a:lnTo>
                  <a:pt x="222287" y="4364"/>
                </a:lnTo>
                <a:lnTo>
                  <a:pt x="271018" y="0"/>
                </a:lnTo>
                <a:lnTo>
                  <a:pt x="4593590" y="0"/>
                </a:lnTo>
                <a:lnTo>
                  <a:pt x="4642320" y="4364"/>
                </a:lnTo>
                <a:lnTo>
                  <a:pt x="4688178" y="16949"/>
                </a:lnTo>
                <a:lnTo>
                  <a:pt x="4730401" y="36989"/>
                </a:lnTo>
                <a:lnTo>
                  <a:pt x="4768225" y="63722"/>
                </a:lnTo>
                <a:lnTo>
                  <a:pt x="4800885" y="96382"/>
                </a:lnTo>
                <a:lnTo>
                  <a:pt x="4827618" y="134206"/>
                </a:lnTo>
                <a:lnTo>
                  <a:pt x="4847658" y="176429"/>
                </a:lnTo>
                <a:lnTo>
                  <a:pt x="4860243" y="222287"/>
                </a:lnTo>
                <a:lnTo>
                  <a:pt x="4864608" y="271018"/>
                </a:lnTo>
                <a:lnTo>
                  <a:pt x="4864608" y="3110738"/>
                </a:lnTo>
                <a:lnTo>
                  <a:pt x="4860243" y="3159468"/>
                </a:lnTo>
                <a:lnTo>
                  <a:pt x="4847658" y="3205326"/>
                </a:lnTo>
                <a:lnTo>
                  <a:pt x="4827618" y="3247549"/>
                </a:lnTo>
                <a:lnTo>
                  <a:pt x="4800885" y="3285373"/>
                </a:lnTo>
                <a:lnTo>
                  <a:pt x="4768225" y="3318033"/>
                </a:lnTo>
                <a:lnTo>
                  <a:pt x="4730401" y="3344766"/>
                </a:lnTo>
                <a:lnTo>
                  <a:pt x="4688178" y="3364806"/>
                </a:lnTo>
                <a:lnTo>
                  <a:pt x="4642320" y="3377391"/>
                </a:lnTo>
                <a:lnTo>
                  <a:pt x="4593590" y="3381756"/>
                </a:lnTo>
                <a:lnTo>
                  <a:pt x="271018" y="3381756"/>
                </a:lnTo>
                <a:lnTo>
                  <a:pt x="222287" y="3377391"/>
                </a:lnTo>
                <a:lnTo>
                  <a:pt x="176429" y="3364806"/>
                </a:lnTo>
                <a:lnTo>
                  <a:pt x="134206" y="3344766"/>
                </a:lnTo>
                <a:lnTo>
                  <a:pt x="96382" y="3318033"/>
                </a:lnTo>
                <a:lnTo>
                  <a:pt x="63722" y="3285373"/>
                </a:lnTo>
                <a:lnTo>
                  <a:pt x="36989" y="3247549"/>
                </a:lnTo>
                <a:lnTo>
                  <a:pt x="16949" y="3205326"/>
                </a:lnTo>
                <a:lnTo>
                  <a:pt x="4364" y="3159468"/>
                </a:lnTo>
                <a:lnTo>
                  <a:pt x="0" y="3110738"/>
                </a:lnTo>
                <a:lnTo>
                  <a:pt x="0" y="271018"/>
                </a:lnTo>
                <a:close/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21891" y="1604772"/>
            <a:ext cx="6196584" cy="4344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56688" y="1604772"/>
            <a:ext cx="4127500" cy="0"/>
          </a:xfrm>
          <a:custGeom>
            <a:avLst/>
            <a:gdLst/>
            <a:ahLst/>
            <a:cxnLst/>
            <a:rect l="l" t="t" r="r" b="b"/>
            <a:pathLst>
              <a:path w="4127500">
                <a:moveTo>
                  <a:pt x="0" y="0"/>
                </a:moveTo>
                <a:lnTo>
                  <a:pt x="4126991" y="0"/>
                </a:lnTo>
              </a:path>
            </a:pathLst>
          </a:custGeom>
          <a:ln w="1219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56688" y="2558795"/>
            <a:ext cx="4127500" cy="0"/>
          </a:xfrm>
          <a:custGeom>
            <a:avLst/>
            <a:gdLst/>
            <a:ahLst/>
            <a:cxnLst/>
            <a:rect l="l" t="t" r="r" b="b"/>
            <a:pathLst>
              <a:path w="4127500">
                <a:moveTo>
                  <a:pt x="4126991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83680" y="1604772"/>
            <a:ext cx="477520" cy="954405"/>
          </a:xfrm>
          <a:custGeom>
            <a:avLst/>
            <a:gdLst/>
            <a:ahLst/>
            <a:cxnLst/>
            <a:rect l="l" t="t" r="r" b="b"/>
            <a:pathLst>
              <a:path w="477520" h="954405">
                <a:moveTo>
                  <a:pt x="0" y="0"/>
                </a:moveTo>
                <a:lnTo>
                  <a:pt x="48763" y="2463"/>
                </a:lnTo>
                <a:lnTo>
                  <a:pt x="96120" y="9693"/>
                </a:lnTo>
                <a:lnTo>
                  <a:pt x="141830" y="21449"/>
                </a:lnTo>
                <a:lnTo>
                  <a:pt x="185654" y="37492"/>
                </a:lnTo>
                <a:lnTo>
                  <a:pt x="227350" y="57582"/>
                </a:lnTo>
                <a:lnTo>
                  <a:pt x="266680" y="81478"/>
                </a:lnTo>
                <a:lnTo>
                  <a:pt x="303403" y="108942"/>
                </a:lnTo>
                <a:lnTo>
                  <a:pt x="337280" y="139731"/>
                </a:lnTo>
                <a:lnTo>
                  <a:pt x="368069" y="173608"/>
                </a:lnTo>
                <a:lnTo>
                  <a:pt x="395533" y="210331"/>
                </a:lnTo>
                <a:lnTo>
                  <a:pt x="419429" y="249661"/>
                </a:lnTo>
                <a:lnTo>
                  <a:pt x="439519" y="291357"/>
                </a:lnTo>
                <a:lnTo>
                  <a:pt x="455562" y="335181"/>
                </a:lnTo>
                <a:lnTo>
                  <a:pt x="467318" y="380891"/>
                </a:lnTo>
                <a:lnTo>
                  <a:pt x="474548" y="428248"/>
                </a:lnTo>
                <a:lnTo>
                  <a:pt x="477012" y="477012"/>
                </a:lnTo>
                <a:lnTo>
                  <a:pt x="474548" y="525775"/>
                </a:lnTo>
                <a:lnTo>
                  <a:pt x="467318" y="573132"/>
                </a:lnTo>
                <a:lnTo>
                  <a:pt x="455562" y="618842"/>
                </a:lnTo>
                <a:lnTo>
                  <a:pt x="439519" y="662666"/>
                </a:lnTo>
                <a:lnTo>
                  <a:pt x="419429" y="704362"/>
                </a:lnTo>
                <a:lnTo>
                  <a:pt x="395533" y="743692"/>
                </a:lnTo>
                <a:lnTo>
                  <a:pt x="368069" y="780415"/>
                </a:lnTo>
                <a:lnTo>
                  <a:pt x="337280" y="814292"/>
                </a:lnTo>
                <a:lnTo>
                  <a:pt x="303403" y="845081"/>
                </a:lnTo>
                <a:lnTo>
                  <a:pt x="266680" y="872545"/>
                </a:lnTo>
                <a:lnTo>
                  <a:pt x="227350" y="896441"/>
                </a:lnTo>
                <a:lnTo>
                  <a:pt x="185654" y="916531"/>
                </a:lnTo>
                <a:lnTo>
                  <a:pt x="141830" y="932574"/>
                </a:lnTo>
                <a:lnTo>
                  <a:pt x="96120" y="944330"/>
                </a:lnTo>
                <a:lnTo>
                  <a:pt x="48763" y="951560"/>
                </a:lnTo>
                <a:lnTo>
                  <a:pt x="0" y="954024"/>
                </a:lnTo>
              </a:path>
            </a:pathLst>
          </a:custGeom>
          <a:ln w="1219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79676" y="1604772"/>
            <a:ext cx="5081016" cy="954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79676" y="1604772"/>
            <a:ext cx="5081270" cy="954405"/>
          </a:xfrm>
          <a:custGeom>
            <a:avLst/>
            <a:gdLst/>
            <a:ahLst/>
            <a:cxnLst/>
            <a:rect l="l" t="t" r="r" b="b"/>
            <a:pathLst>
              <a:path w="5081270" h="954405">
                <a:moveTo>
                  <a:pt x="0" y="477012"/>
                </a:moveTo>
                <a:lnTo>
                  <a:pt x="2463" y="428248"/>
                </a:lnTo>
                <a:lnTo>
                  <a:pt x="9693" y="380891"/>
                </a:lnTo>
                <a:lnTo>
                  <a:pt x="21449" y="335181"/>
                </a:lnTo>
                <a:lnTo>
                  <a:pt x="37492" y="291357"/>
                </a:lnTo>
                <a:lnTo>
                  <a:pt x="57582" y="249661"/>
                </a:lnTo>
                <a:lnTo>
                  <a:pt x="81478" y="210331"/>
                </a:lnTo>
                <a:lnTo>
                  <a:pt x="108942" y="173608"/>
                </a:lnTo>
                <a:lnTo>
                  <a:pt x="139731" y="139731"/>
                </a:lnTo>
                <a:lnTo>
                  <a:pt x="173608" y="108942"/>
                </a:lnTo>
                <a:lnTo>
                  <a:pt x="210331" y="81478"/>
                </a:lnTo>
                <a:lnTo>
                  <a:pt x="249661" y="57582"/>
                </a:lnTo>
                <a:lnTo>
                  <a:pt x="291357" y="37492"/>
                </a:lnTo>
                <a:lnTo>
                  <a:pt x="335181" y="21449"/>
                </a:lnTo>
                <a:lnTo>
                  <a:pt x="380891" y="9693"/>
                </a:lnTo>
                <a:lnTo>
                  <a:pt x="428248" y="2463"/>
                </a:lnTo>
                <a:lnTo>
                  <a:pt x="477012" y="0"/>
                </a:lnTo>
                <a:lnTo>
                  <a:pt x="4604004" y="0"/>
                </a:lnTo>
                <a:lnTo>
                  <a:pt x="4652767" y="2463"/>
                </a:lnTo>
                <a:lnTo>
                  <a:pt x="4700124" y="9693"/>
                </a:lnTo>
                <a:lnTo>
                  <a:pt x="4745834" y="21449"/>
                </a:lnTo>
                <a:lnTo>
                  <a:pt x="4789658" y="37492"/>
                </a:lnTo>
                <a:lnTo>
                  <a:pt x="4831354" y="57582"/>
                </a:lnTo>
                <a:lnTo>
                  <a:pt x="4870684" y="81478"/>
                </a:lnTo>
                <a:lnTo>
                  <a:pt x="4907407" y="108942"/>
                </a:lnTo>
                <a:lnTo>
                  <a:pt x="4941284" y="139731"/>
                </a:lnTo>
                <a:lnTo>
                  <a:pt x="4972073" y="173608"/>
                </a:lnTo>
                <a:lnTo>
                  <a:pt x="4999537" y="210331"/>
                </a:lnTo>
                <a:lnTo>
                  <a:pt x="5023433" y="249661"/>
                </a:lnTo>
                <a:lnTo>
                  <a:pt x="5043523" y="291357"/>
                </a:lnTo>
                <a:lnTo>
                  <a:pt x="5059566" y="335181"/>
                </a:lnTo>
                <a:lnTo>
                  <a:pt x="5071322" y="380891"/>
                </a:lnTo>
                <a:lnTo>
                  <a:pt x="5078552" y="428248"/>
                </a:lnTo>
                <a:lnTo>
                  <a:pt x="5081016" y="477012"/>
                </a:lnTo>
                <a:lnTo>
                  <a:pt x="5078552" y="525775"/>
                </a:lnTo>
                <a:lnTo>
                  <a:pt x="5071322" y="573132"/>
                </a:lnTo>
                <a:lnTo>
                  <a:pt x="5059566" y="618842"/>
                </a:lnTo>
                <a:lnTo>
                  <a:pt x="5043523" y="662666"/>
                </a:lnTo>
                <a:lnTo>
                  <a:pt x="5023433" y="704362"/>
                </a:lnTo>
                <a:lnTo>
                  <a:pt x="4999537" y="743692"/>
                </a:lnTo>
                <a:lnTo>
                  <a:pt x="4972073" y="780415"/>
                </a:lnTo>
                <a:lnTo>
                  <a:pt x="4941284" y="814292"/>
                </a:lnTo>
                <a:lnTo>
                  <a:pt x="4907407" y="845081"/>
                </a:lnTo>
                <a:lnTo>
                  <a:pt x="4870684" y="872545"/>
                </a:lnTo>
                <a:lnTo>
                  <a:pt x="4831354" y="896441"/>
                </a:lnTo>
                <a:lnTo>
                  <a:pt x="4789658" y="916531"/>
                </a:lnTo>
                <a:lnTo>
                  <a:pt x="4745834" y="932574"/>
                </a:lnTo>
                <a:lnTo>
                  <a:pt x="4700124" y="944330"/>
                </a:lnTo>
                <a:lnTo>
                  <a:pt x="4652767" y="951560"/>
                </a:lnTo>
                <a:lnTo>
                  <a:pt x="4604004" y="954024"/>
                </a:lnTo>
                <a:lnTo>
                  <a:pt x="477012" y="954024"/>
                </a:lnTo>
                <a:lnTo>
                  <a:pt x="428248" y="951560"/>
                </a:lnTo>
                <a:lnTo>
                  <a:pt x="380891" y="944330"/>
                </a:lnTo>
                <a:lnTo>
                  <a:pt x="335181" y="932574"/>
                </a:lnTo>
                <a:lnTo>
                  <a:pt x="291357" y="916531"/>
                </a:lnTo>
                <a:lnTo>
                  <a:pt x="249661" y="896441"/>
                </a:lnTo>
                <a:lnTo>
                  <a:pt x="210331" y="872545"/>
                </a:lnTo>
                <a:lnTo>
                  <a:pt x="173608" y="845081"/>
                </a:lnTo>
                <a:lnTo>
                  <a:pt x="139731" y="814292"/>
                </a:lnTo>
                <a:lnTo>
                  <a:pt x="108942" y="780415"/>
                </a:lnTo>
                <a:lnTo>
                  <a:pt x="81478" y="743692"/>
                </a:lnTo>
                <a:lnTo>
                  <a:pt x="57582" y="704362"/>
                </a:lnTo>
                <a:lnTo>
                  <a:pt x="37492" y="662666"/>
                </a:lnTo>
                <a:lnTo>
                  <a:pt x="21449" y="618842"/>
                </a:lnTo>
                <a:lnTo>
                  <a:pt x="9693" y="573132"/>
                </a:lnTo>
                <a:lnTo>
                  <a:pt x="2463" y="525775"/>
                </a:lnTo>
                <a:lnTo>
                  <a:pt x="0" y="477012"/>
                </a:lnTo>
                <a:close/>
              </a:path>
            </a:pathLst>
          </a:custGeom>
          <a:ln w="1219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7707" y="1748027"/>
            <a:ext cx="227075" cy="661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33016" y="1748027"/>
            <a:ext cx="227075" cy="6614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23897" y="1751203"/>
            <a:ext cx="4765675" cy="3481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A07B36"/>
                </a:solidFill>
                <a:latin typeface="华文新魏"/>
                <a:cs typeface="华文新魏"/>
              </a:rPr>
              <a:t>防止不</a:t>
            </a:r>
            <a:r>
              <a:rPr sz="3600" b="1" spc="-5" dirty="0">
                <a:solidFill>
                  <a:srgbClr val="A07B36"/>
                </a:solidFill>
                <a:latin typeface="华文新魏"/>
                <a:cs typeface="华文新魏"/>
              </a:rPr>
              <a:t>合理的范围扩张</a:t>
            </a:r>
            <a:endParaRPr sz="36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080808"/>
                </a:solidFill>
                <a:latin typeface="华文新魏"/>
                <a:cs typeface="华文新魏"/>
              </a:rPr>
              <a:t>蔓延(Scope</a:t>
            </a:r>
            <a:r>
              <a:rPr sz="4000" spc="-45" dirty="0">
                <a:solidFill>
                  <a:srgbClr val="080808"/>
                </a:solidFill>
                <a:latin typeface="华文新魏"/>
                <a:cs typeface="华文新魏"/>
              </a:rPr>
              <a:t> </a:t>
            </a:r>
            <a:r>
              <a:rPr sz="4000" spc="-5" dirty="0">
                <a:solidFill>
                  <a:srgbClr val="080808"/>
                </a:solidFill>
                <a:latin typeface="华文新魏"/>
                <a:cs typeface="华文新魏"/>
              </a:rPr>
              <a:t>Creeping</a:t>
            </a:r>
            <a:r>
              <a:rPr sz="3600" spc="-5" dirty="0">
                <a:solidFill>
                  <a:srgbClr val="080808"/>
                </a:solidFill>
                <a:latin typeface="华文新魏"/>
                <a:cs typeface="华文新魏"/>
              </a:rPr>
              <a:t>)</a:t>
            </a:r>
            <a:endParaRPr sz="36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</a:pPr>
            <a:r>
              <a:rPr sz="4000" spc="-10" dirty="0">
                <a:solidFill>
                  <a:srgbClr val="080808"/>
                </a:solidFill>
                <a:latin typeface="华文新魏"/>
                <a:cs typeface="华文新魏"/>
              </a:rPr>
              <a:t>镀金</a:t>
            </a:r>
            <a:r>
              <a:rPr sz="4000" spc="-5" dirty="0">
                <a:solidFill>
                  <a:srgbClr val="080808"/>
                </a:solidFill>
                <a:latin typeface="华文新魏"/>
                <a:cs typeface="华文新魏"/>
              </a:rPr>
              <a:t>(Gold-plating)</a:t>
            </a:r>
            <a:endParaRPr sz="4000">
              <a:latin typeface="华文新魏"/>
              <a:cs typeface="华文新魏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19300" y="3015995"/>
            <a:ext cx="254507" cy="2423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13204" y="3009900"/>
            <a:ext cx="139445" cy="2545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46554" y="3015995"/>
            <a:ext cx="127635" cy="242570"/>
          </a:xfrm>
          <a:custGeom>
            <a:avLst/>
            <a:gdLst/>
            <a:ahLst/>
            <a:cxnLst/>
            <a:rect l="l" t="t" r="r" b="b"/>
            <a:pathLst>
              <a:path w="127635" h="242570">
                <a:moveTo>
                  <a:pt x="0" y="0"/>
                </a:moveTo>
                <a:lnTo>
                  <a:pt x="49512" y="9519"/>
                </a:lnTo>
                <a:lnTo>
                  <a:pt x="89963" y="35480"/>
                </a:lnTo>
                <a:lnTo>
                  <a:pt x="117246" y="73991"/>
                </a:lnTo>
                <a:lnTo>
                  <a:pt x="127253" y="121157"/>
                </a:lnTo>
                <a:lnTo>
                  <a:pt x="117246" y="168324"/>
                </a:lnTo>
                <a:lnTo>
                  <a:pt x="89963" y="206835"/>
                </a:lnTo>
                <a:lnTo>
                  <a:pt x="49512" y="232796"/>
                </a:lnTo>
                <a:lnTo>
                  <a:pt x="0" y="242315"/>
                </a:lnTo>
              </a:path>
            </a:pathLst>
          </a:custGeom>
          <a:ln w="12192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19300" y="3015995"/>
            <a:ext cx="254507" cy="2423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19300" y="3015995"/>
            <a:ext cx="254635" cy="242570"/>
          </a:xfrm>
          <a:custGeom>
            <a:avLst/>
            <a:gdLst/>
            <a:ahLst/>
            <a:cxnLst/>
            <a:rect l="l" t="t" r="r" b="b"/>
            <a:pathLst>
              <a:path w="254635" h="242570">
                <a:moveTo>
                  <a:pt x="0" y="121157"/>
                </a:moveTo>
                <a:lnTo>
                  <a:pt x="10007" y="73991"/>
                </a:lnTo>
                <a:lnTo>
                  <a:pt x="37290" y="35480"/>
                </a:lnTo>
                <a:lnTo>
                  <a:pt x="77741" y="9519"/>
                </a:lnTo>
                <a:lnTo>
                  <a:pt x="127254" y="0"/>
                </a:lnTo>
                <a:lnTo>
                  <a:pt x="176766" y="9519"/>
                </a:lnTo>
                <a:lnTo>
                  <a:pt x="217217" y="35480"/>
                </a:lnTo>
                <a:lnTo>
                  <a:pt x="244500" y="73991"/>
                </a:lnTo>
                <a:lnTo>
                  <a:pt x="254507" y="121157"/>
                </a:lnTo>
                <a:lnTo>
                  <a:pt x="244500" y="168324"/>
                </a:lnTo>
                <a:lnTo>
                  <a:pt x="217217" y="206835"/>
                </a:lnTo>
                <a:lnTo>
                  <a:pt x="176766" y="232796"/>
                </a:lnTo>
                <a:lnTo>
                  <a:pt x="127254" y="242315"/>
                </a:lnTo>
                <a:lnTo>
                  <a:pt x="77741" y="232796"/>
                </a:lnTo>
                <a:lnTo>
                  <a:pt x="37290" y="206835"/>
                </a:lnTo>
                <a:lnTo>
                  <a:pt x="10007" y="168324"/>
                </a:lnTo>
                <a:lnTo>
                  <a:pt x="0" y="121157"/>
                </a:lnTo>
                <a:close/>
              </a:path>
            </a:pathLst>
          </a:custGeom>
          <a:ln w="12192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39111" y="3035807"/>
            <a:ext cx="213360" cy="2011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01011" y="4831079"/>
            <a:ext cx="265175" cy="2529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07107" y="4837176"/>
            <a:ext cx="252984" cy="24079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07107" y="4837176"/>
            <a:ext cx="253365" cy="241300"/>
          </a:xfrm>
          <a:custGeom>
            <a:avLst/>
            <a:gdLst/>
            <a:ahLst/>
            <a:cxnLst/>
            <a:rect l="l" t="t" r="r" b="b"/>
            <a:pathLst>
              <a:path w="253364" h="241300">
                <a:moveTo>
                  <a:pt x="0" y="120396"/>
                </a:moveTo>
                <a:lnTo>
                  <a:pt x="9941" y="73509"/>
                </a:lnTo>
                <a:lnTo>
                  <a:pt x="37052" y="35242"/>
                </a:lnTo>
                <a:lnTo>
                  <a:pt x="77259" y="9453"/>
                </a:lnTo>
                <a:lnTo>
                  <a:pt x="126492" y="0"/>
                </a:lnTo>
                <a:lnTo>
                  <a:pt x="175724" y="9453"/>
                </a:lnTo>
                <a:lnTo>
                  <a:pt x="215931" y="35242"/>
                </a:lnTo>
                <a:lnTo>
                  <a:pt x="243042" y="73509"/>
                </a:lnTo>
                <a:lnTo>
                  <a:pt x="252984" y="120396"/>
                </a:lnTo>
                <a:lnTo>
                  <a:pt x="243042" y="167282"/>
                </a:lnTo>
                <a:lnTo>
                  <a:pt x="215931" y="205549"/>
                </a:lnTo>
                <a:lnTo>
                  <a:pt x="175724" y="231338"/>
                </a:lnTo>
                <a:lnTo>
                  <a:pt x="126492" y="240792"/>
                </a:lnTo>
                <a:lnTo>
                  <a:pt x="77259" y="231338"/>
                </a:lnTo>
                <a:lnTo>
                  <a:pt x="37052" y="205549"/>
                </a:lnTo>
                <a:lnTo>
                  <a:pt x="9941" y="167282"/>
                </a:lnTo>
                <a:lnTo>
                  <a:pt x="0" y="120396"/>
                </a:lnTo>
                <a:close/>
              </a:path>
            </a:pathLst>
          </a:custGeom>
          <a:ln w="12192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25395" y="4856988"/>
            <a:ext cx="214884" cy="19964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315213"/>
            <a:ext cx="33832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变更控制系统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961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79676" y="1577338"/>
            <a:ext cx="4608576" cy="5280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63233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敏捷项目</a:t>
            </a:r>
            <a:r>
              <a:rPr i="1" spc="-5" dirty="0">
                <a:latin typeface="华文隶书"/>
                <a:cs typeface="华文隶书"/>
              </a:rPr>
              <a:t>:</a:t>
            </a:r>
            <a:r>
              <a:rPr dirty="0"/>
              <a:t>需求不断被定义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733" y="1292141"/>
            <a:ext cx="69850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b="1" dirty="0">
                <a:latin typeface="Arial Narrow"/>
                <a:cs typeface="Arial Narrow"/>
              </a:rPr>
              <a:t>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342644"/>
            <a:ext cx="8964167" cy="5035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86094" y="3528821"/>
            <a:ext cx="1510665" cy="693420"/>
          </a:xfrm>
          <a:custGeom>
            <a:avLst/>
            <a:gdLst/>
            <a:ahLst/>
            <a:cxnLst/>
            <a:rect l="l" t="t" r="r" b="b"/>
            <a:pathLst>
              <a:path w="1510665" h="693420">
                <a:moveTo>
                  <a:pt x="0" y="693419"/>
                </a:moveTo>
                <a:lnTo>
                  <a:pt x="1510283" y="693419"/>
                </a:lnTo>
                <a:lnTo>
                  <a:pt x="1510283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3177" y="2807970"/>
            <a:ext cx="2954020" cy="721360"/>
          </a:xfrm>
          <a:custGeom>
            <a:avLst/>
            <a:gdLst/>
            <a:ahLst/>
            <a:cxnLst/>
            <a:rect l="l" t="t" r="r" b="b"/>
            <a:pathLst>
              <a:path w="2954020" h="721360">
                <a:moveTo>
                  <a:pt x="0" y="720851"/>
                </a:moveTo>
                <a:lnTo>
                  <a:pt x="2953512" y="720851"/>
                </a:lnTo>
                <a:lnTo>
                  <a:pt x="2953512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55109" y="3139948"/>
            <a:ext cx="2030095" cy="766445"/>
          </a:xfrm>
          <a:custGeom>
            <a:avLst/>
            <a:gdLst/>
            <a:ahLst/>
            <a:cxnLst/>
            <a:rect l="l" t="t" r="r" b="b"/>
            <a:pathLst>
              <a:path w="2030095" h="766445">
                <a:moveTo>
                  <a:pt x="1801651" y="694309"/>
                </a:moveTo>
                <a:lnTo>
                  <a:pt x="1776729" y="766444"/>
                </a:lnTo>
                <a:lnTo>
                  <a:pt x="2030094" y="732916"/>
                </a:lnTo>
                <a:lnTo>
                  <a:pt x="2004496" y="706754"/>
                </a:lnTo>
                <a:lnTo>
                  <a:pt x="1837689" y="706754"/>
                </a:lnTo>
                <a:lnTo>
                  <a:pt x="1801651" y="694309"/>
                </a:lnTo>
                <a:close/>
              </a:path>
              <a:path w="2030095" h="766445">
                <a:moveTo>
                  <a:pt x="1826530" y="622293"/>
                </a:moveTo>
                <a:lnTo>
                  <a:pt x="1801651" y="694309"/>
                </a:lnTo>
                <a:lnTo>
                  <a:pt x="1837689" y="706754"/>
                </a:lnTo>
                <a:lnTo>
                  <a:pt x="1862581" y="634745"/>
                </a:lnTo>
                <a:lnTo>
                  <a:pt x="1826530" y="622293"/>
                </a:lnTo>
                <a:close/>
              </a:path>
              <a:path w="2030095" h="766445">
                <a:moveTo>
                  <a:pt x="1851405" y="550290"/>
                </a:moveTo>
                <a:lnTo>
                  <a:pt x="1826530" y="622293"/>
                </a:lnTo>
                <a:lnTo>
                  <a:pt x="1862581" y="634745"/>
                </a:lnTo>
                <a:lnTo>
                  <a:pt x="1837689" y="706754"/>
                </a:lnTo>
                <a:lnTo>
                  <a:pt x="2004496" y="706754"/>
                </a:lnTo>
                <a:lnTo>
                  <a:pt x="1851405" y="550290"/>
                </a:lnTo>
                <a:close/>
              </a:path>
              <a:path w="2030095" h="766445">
                <a:moveTo>
                  <a:pt x="24891" y="0"/>
                </a:moveTo>
                <a:lnTo>
                  <a:pt x="0" y="72136"/>
                </a:lnTo>
                <a:lnTo>
                  <a:pt x="1801651" y="694309"/>
                </a:lnTo>
                <a:lnTo>
                  <a:pt x="1826530" y="622293"/>
                </a:lnTo>
                <a:lnTo>
                  <a:pt x="248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敏捷项目范围管理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17116"/>
            <a:ext cx="5507355" cy="16167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把需求列入未完项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不</a:t>
            </a:r>
            <a:r>
              <a:rPr sz="2900" spc="-5" dirty="0">
                <a:latin typeface="华文新魏"/>
                <a:cs typeface="华文新魏"/>
              </a:rPr>
              <a:t>断</a:t>
            </a:r>
            <a:r>
              <a:rPr sz="2900" dirty="0">
                <a:latin typeface="华文新魏"/>
                <a:cs typeface="华文新魏"/>
              </a:rPr>
              <a:t>构建</a:t>
            </a:r>
            <a:r>
              <a:rPr sz="2900" spc="-5" dirty="0">
                <a:latin typeface="华文新魏"/>
                <a:cs typeface="华文新魏"/>
              </a:rPr>
              <a:t>和</a:t>
            </a:r>
            <a:r>
              <a:rPr sz="2900" dirty="0">
                <a:latin typeface="华文新魏"/>
                <a:cs typeface="华文新魏"/>
              </a:rPr>
              <a:t>评审原形系统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通过发布多个版本来明</a:t>
            </a:r>
            <a:r>
              <a:rPr sz="2900" spc="-10" dirty="0">
                <a:latin typeface="华文新魏"/>
                <a:cs typeface="华文新魏"/>
              </a:rPr>
              <a:t>确</a:t>
            </a:r>
            <a:r>
              <a:rPr sz="2900" dirty="0">
                <a:latin typeface="华文新魏"/>
                <a:cs typeface="华文新魏"/>
              </a:rPr>
              <a:t>需求。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029" y="126961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3788" y="212427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8339" y="1842516"/>
            <a:ext cx="50609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3788" y="308350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8339" y="2802635"/>
            <a:ext cx="483234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5311" y="40442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8339" y="3762755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5311" y="500552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339" y="4722876"/>
            <a:ext cx="485140" cy="86741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4307" y="1842516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56944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范围管</a:t>
            </a: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理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-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448" y="280263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86055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进度成本管理-</a:t>
            </a:r>
            <a:r>
              <a:rPr sz="2000" b="1" spc="-2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2972" y="376275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01346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质量管理-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2972" y="4722876"/>
            <a:ext cx="4630420" cy="86741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50038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性能分析的主要技术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8269" y="6177178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2133600"/>
            <a:ext cx="8153400" cy="2735580"/>
          </a:xfrm>
          <a:custGeom>
            <a:avLst/>
            <a:gdLst/>
            <a:ahLst/>
            <a:cxnLst/>
            <a:rect l="l" t="t" r="r" b="b"/>
            <a:pathLst>
              <a:path w="8153400" h="2735579">
                <a:moveTo>
                  <a:pt x="0" y="2735580"/>
                </a:moveTo>
                <a:lnTo>
                  <a:pt x="8153400" y="2735580"/>
                </a:lnTo>
                <a:lnTo>
                  <a:pt x="8153400" y="0"/>
                </a:lnTo>
                <a:lnTo>
                  <a:pt x="0" y="0"/>
                </a:lnTo>
                <a:lnTo>
                  <a:pt x="0" y="273558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840" y="2353985"/>
            <a:ext cx="2444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0"/>
              </a:lnSpc>
            </a:pPr>
            <a:r>
              <a:rPr sz="2150" spc="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2150">
              <a:latin typeface="Wingdings"/>
              <a:cs typeface="Wingding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810"/>
              </a:spcBef>
            </a:pPr>
            <a:r>
              <a:rPr spc="-5" dirty="0"/>
              <a:t>图解控制法</a:t>
            </a:r>
          </a:p>
          <a:p>
            <a:pPr marL="411480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dirty="0"/>
              <a:t>挣值分析法</a:t>
            </a:r>
          </a:p>
          <a:p>
            <a:pPr marL="41148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spc="-5" dirty="0"/>
              <a:t>网络图</a:t>
            </a:r>
            <a:r>
              <a:rPr dirty="0"/>
              <a:t>分析</a:t>
            </a:r>
          </a:p>
          <a:p>
            <a:pPr marL="41148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dirty="0"/>
              <a:t>敏捷方法</a:t>
            </a:r>
          </a:p>
        </p:txBody>
      </p:sp>
      <p:sp>
        <p:nvSpPr>
          <p:cNvPr id="8" name="object 8"/>
          <p:cNvSpPr/>
          <p:nvPr/>
        </p:nvSpPr>
        <p:spPr>
          <a:xfrm>
            <a:off x="321563" y="2133600"/>
            <a:ext cx="579120" cy="711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67" y="35458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图解控制法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03220" y="2051304"/>
            <a:ext cx="3191128" cy="3416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2450" y="2427859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方正姚体"/>
                <a:cs typeface="方正姚体"/>
              </a:rPr>
              <a:t>进度图</a:t>
            </a:r>
            <a:endParaRPr sz="1800">
              <a:latin typeface="方正姚体"/>
              <a:cs typeface="方正姚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5747" y="3811346"/>
            <a:ext cx="27603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95"/>
              </a:lnSpc>
              <a:spcBef>
                <a:spcPts val="100"/>
              </a:spcBef>
            </a:pPr>
            <a:r>
              <a:rPr sz="1800" b="1" dirty="0">
                <a:latin typeface="方正姚体"/>
                <a:cs typeface="方正姚体"/>
              </a:rPr>
              <a:t>资源图</a:t>
            </a:r>
            <a:endParaRPr sz="1800">
              <a:latin typeface="方正姚体"/>
              <a:cs typeface="方正姚体"/>
            </a:endParaRPr>
          </a:p>
          <a:p>
            <a:pPr marL="2058670">
              <a:lnSpc>
                <a:spcPts val="1895"/>
              </a:lnSpc>
            </a:pPr>
            <a:r>
              <a:rPr sz="1800" b="1" dirty="0">
                <a:latin typeface="方正姚体"/>
                <a:cs typeface="方正姚体"/>
              </a:rPr>
              <a:t>成本</a:t>
            </a:r>
            <a:r>
              <a:rPr sz="1800" b="1" spc="-10" dirty="0">
                <a:latin typeface="方正姚体"/>
                <a:cs typeface="方正姚体"/>
              </a:rPr>
              <a:t>图</a:t>
            </a:r>
            <a:endParaRPr sz="1800">
              <a:latin typeface="方正姚体"/>
              <a:cs typeface="方正姚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3627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spc="-10" dirty="0">
                <a:latin typeface="华文隶书"/>
                <a:cs typeface="华文隶书"/>
              </a:rPr>
              <a:t>1</a:t>
            </a:r>
            <a:r>
              <a:rPr dirty="0"/>
              <a:t>）项目甘特图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611" y="1844039"/>
            <a:ext cx="8496300" cy="2089785"/>
          </a:xfrm>
          <a:custGeom>
            <a:avLst/>
            <a:gdLst/>
            <a:ahLst/>
            <a:cxnLst/>
            <a:rect l="l" t="t" r="r" b="b"/>
            <a:pathLst>
              <a:path w="8496300" h="2089785">
                <a:moveTo>
                  <a:pt x="0" y="2089404"/>
                </a:moveTo>
                <a:lnTo>
                  <a:pt x="8496300" y="2089404"/>
                </a:lnTo>
                <a:lnTo>
                  <a:pt x="8496300" y="0"/>
                </a:lnTo>
                <a:lnTo>
                  <a:pt x="0" y="0"/>
                </a:lnTo>
                <a:lnTo>
                  <a:pt x="0" y="2089404"/>
                </a:lnTo>
                <a:close/>
              </a:path>
            </a:pathLst>
          </a:custGeom>
          <a:solidFill>
            <a:srgbClr val="D3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5442" y="1940407"/>
            <a:ext cx="8322309" cy="4596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4"/>
              </a:lnSpc>
            </a:pPr>
            <a:r>
              <a:rPr sz="3200" b="1" spc="70" dirty="0">
                <a:latin typeface="华文新魏"/>
                <a:cs typeface="华文新魏"/>
              </a:rPr>
              <a:t>及时更新项目信</a:t>
            </a:r>
            <a:r>
              <a:rPr sz="3200" b="1" spc="75" dirty="0">
                <a:latin typeface="华文新魏"/>
                <a:cs typeface="华文新魏"/>
              </a:rPr>
              <a:t>息</a:t>
            </a:r>
            <a:r>
              <a:rPr sz="3200" b="1" spc="70" dirty="0">
                <a:latin typeface="华文新魏"/>
                <a:cs typeface="华文新魏"/>
              </a:rPr>
              <a:t>，及时比较基准计划与实际</a:t>
            </a:r>
            <a:endParaRPr sz="32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r>
              <a:rPr sz="3200" b="1" spc="65" dirty="0">
                <a:latin typeface="华文新魏"/>
                <a:cs typeface="华文新魏"/>
              </a:rPr>
              <a:t>运行状况的差</a:t>
            </a:r>
            <a:r>
              <a:rPr sz="3200" b="1" spc="70" dirty="0">
                <a:latin typeface="华文新魏"/>
                <a:cs typeface="华文新魏"/>
              </a:rPr>
              <a:t>异，</a:t>
            </a:r>
            <a:r>
              <a:rPr sz="3200" b="1" spc="65" dirty="0">
                <a:latin typeface="华文新魏"/>
                <a:cs typeface="华文新魏"/>
              </a:rPr>
              <a:t>以便于及时调整项</a:t>
            </a:r>
            <a:r>
              <a:rPr sz="3200" b="1" spc="70" dirty="0">
                <a:latin typeface="华文新魏"/>
                <a:cs typeface="华文新魏"/>
              </a:rPr>
              <a:t>目</a:t>
            </a:r>
            <a:r>
              <a:rPr sz="3200" b="1" spc="65" dirty="0">
                <a:latin typeface="华文新魏"/>
                <a:cs typeface="华文新魏"/>
              </a:rPr>
              <a:t>，达到 </a:t>
            </a:r>
            <a:r>
              <a:rPr sz="3200" b="1" spc="5" dirty="0">
                <a:latin typeface="华文新魏"/>
                <a:cs typeface="华文新魏"/>
              </a:rPr>
              <a:t>项目</a:t>
            </a:r>
            <a:r>
              <a:rPr sz="3200" b="1" dirty="0">
                <a:latin typeface="华文新魏"/>
                <a:cs typeface="华文新魏"/>
              </a:rPr>
              <a:t>跟踪</a:t>
            </a:r>
            <a:r>
              <a:rPr sz="3200" b="1" spc="-15" dirty="0">
                <a:latin typeface="华文新魏"/>
                <a:cs typeface="华文新魏"/>
              </a:rPr>
              <a:t>的</a:t>
            </a:r>
            <a:r>
              <a:rPr sz="3200" b="1" dirty="0">
                <a:latin typeface="华文新魏"/>
                <a:cs typeface="华文新魏"/>
              </a:rPr>
              <a:t>目</a:t>
            </a:r>
            <a:r>
              <a:rPr sz="3200" b="1" spc="5" dirty="0">
                <a:latin typeface="华文新魏"/>
                <a:cs typeface="华文新魏"/>
              </a:rPr>
              <a:t>的</a:t>
            </a:r>
            <a:r>
              <a:rPr sz="3200" b="1" dirty="0">
                <a:latin typeface="华文新魏"/>
                <a:cs typeface="华文新魏"/>
              </a:rPr>
              <a:t>。</a:t>
            </a:r>
            <a:endParaRPr sz="32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00">
              <a:latin typeface="Times New Roman"/>
              <a:cs typeface="Times New Roman"/>
            </a:endParaRPr>
          </a:p>
          <a:p>
            <a:pPr marL="2520950">
              <a:lnSpc>
                <a:spcPct val="100000"/>
              </a:lnSpc>
            </a:pPr>
            <a:r>
              <a:rPr sz="1400" spc="-5" dirty="0">
                <a:latin typeface="Arial Narrow"/>
                <a:cs typeface="Arial Narrow"/>
              </a:rPr>
              <a:t>chapter__12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516378"/>
            <a:ext cx="9107424" cy="53416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1" y="1511807"/>
            <a:ext cx="9111615" cy="5346700"/>
          </a:xfrm>
          <a:custGeom>
            <a:avLst/>
            <a:gdLst/>
            <a:ahLst/>
            <a:cxnLst/>
            <a:rect l="l" t="t" r="r" b="b"/>
            <a:pathLst>
              <a:path w="9111615" h="5346700">
                <a:moveTo>
                  <a:pt x="9111234" y="5346192"/>
                </a:moveTo>
                <a:lnTo>
                  <a:pt x="9111234" y="0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27982" y="1517141"/>
            <a:ext cx="4537075" cy="5153025"/>
          </a:xfrm>
          <a:custGeom>
            <a:avLst/>
            <a:gdLst/>
            <a:ahLst/>
            <a:cxnLst/>
            <a:rect l="l" t="t" r="r" b="b"/>
            <a:pathLst>
              <a:path w="4537075" h="5153025">
                <a:moveTo>
                  <a:pt x="0" y="5152644"/>
                </a:moveTo>
                <a:lnTo>
                  <a:pt x="4536948" y="5152644"/>
                </a:lnTo>
                <a:lnTo>
                  <a:pt x="4536948" y="0"/>
                </a:lnTo>
                <a:lnTo>
                  <a:pt x="0" y="0"/>
                </a:lnTo>
                <a:lnTo>
                  <a:pt x="0" y="515264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8916" y="291464"/>
            <a:ext cx="25082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2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）延迟图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27766" y="1549907"/>
            <a:ext cx="5692005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90569" y="6275628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15213"/>
            <a:ext cx="25082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3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）时间线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2555" y="2040351"/>
            <a:ext cx="5046227" cy="3870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6369" y="6330188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0808" y="2148332"/>
            <a:ext cx="160020" cy="8572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060"/>
              </a:lnSpc>
              <a:spcBef>
                <a:spcPts val="305"/>
              </a:spcBef>
            </a:pPr>
            <a:r>
              <a:rPr sz="1050" dirty="0">
                <a:solidFill>
                  <a:srgbClr val="FF0000"/>
                </a:solidFill>
                <a:latin typeface="宋体"/>
                <a:cs typeface="宋体"/>
              </a:rPr>
              <a:t>分 析 享 有 系 统</a:t>
            </a:r>
            <a:endParaRPr sz="10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3" y="50038"/>
            <a:ext cx="36283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4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）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费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用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曲线图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2496" y="6272885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2232" y="1854816"/>
            <a:ext cx="7616631" cy="3887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32663"/>
            <a:ext cx="3629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5</a:t>
            </a:r>
            <a:r>
              <a:rPr spc="-5" dirty="0"/>
              <a:t>）</a:t>
            </a:r>
            <a:r>
              <a:rPr dirty="0"/>
              <a:t>资源图偏差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9495" y="1700783"/>
            <a:ext cx="8153400" cy="2044064"/>
          </a:xfrm>
          <a:custGeom>
            <a:avLst/>
            <a:gdLst/>
            <a:ahLst/>
            <a:cxnLst/>
            <a:rect l="l" t="t" r="r" b="b"/>
            <a:pathLst>
              <a:path w="8153400" h="2044064">
                <a:moveTo>
                  <a:pt x="0" y="2043683"/>
                </a:moveTo>
                <a:lnTo>
                  <a:pt x="8153400" y="2043683"/>
                </a:lnTo>
                <a:lnTo>
                  <a:pt x="8153400" y="0"/>
                </a:lnTo>
                <a:lnTo>
                  <a:pt x="0" y="0"/>
                </a:lnTo>
                <a:lnTo>
                  <a:pt x="0" y="2043683"/>
                </a:lnTo>
                <a:close/>
              </a:path>
            </a:pathLst>
          </a:custGeom>
          <a:solidFill>
            <a:srgbClr val="D3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240" y="1795881"/>
            <a:ext cx="7644765" cy="474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4"/>
              </a:lnSpc>
            </a:pPr>
            <a:r>
              <a:rPr sz="1900" spc="15" dirty="0">
                <a:solidFill>
                  <a:srgbClr val="DD8046"/>
                </a:solidFill>
                <a:latin typeface="Wingdings"/>
                <a:cs typeface="Wingdings"/>
              </a:rPr>
              <a:t></a:t>
            </a:r>
            <a:r>
              <a:rPr sz="1900" spc="20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华文新魏"/>
                <a:cs typeface="华文新魏"/>
              </a:rPr>
              <a:t>资源完成的总实际工时</a:t>
            </a:r>
            <a:endParaRPr sz="32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sz="1900" spc="15" dirty="0">
                <a:solidFill>
                  <a:srgbClr val="DD8046"/>
                </a:solidFill>
                <a:latin typeface="Wingdings"/>
                <a:cs typeface="Wingdings"/>
              </a:rPr>
              <a:t></a:t>
            </a:r>
            <a:r>
              <a:rPr sz="1900" spc="20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latin typeface="华文新魏"/>
                <a:cs typeface="华文新魏"/>
              </a:rPr>
              <a:t>每天更新资源的实际工时</a:t>
            </a:r>
            <a:endParaRPr sz="32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sz="1900" spc="15" dirty="0">
                <a:solidFill>
                  <a:srgbClr val="DD8046"/>
                </a:solidFill>
                <a:latin typeface="Wingdings"/>
                <a:cs typeface="Wingdings"/>
              </a:rPr>
              <a:t></a:t>
            </a:r>
            <a:r>
              <a:rPr sz="1900" spc="484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华文新魏"/>
                <a:cs typeface="华文新魏"/>
              </a:rPr>
              <a:t>查看资源计划工时与实</a:t>
            </a:r>
            <a:r>
              <a:rPr sz="3200" spc="-15" dirty="0">
                <a:latin typeface="华文新魏"/>
                <a:cs typeface="华文新魏"/>
              </a:rPr>
              <a:t>际</a:t>
            </a:r>
            <a:r>
              <a:rPr sz="3200" dirty="0">
                <a:latin typeface="华文新魏"/>
                <a:cs typeface="华文新魏"/>
              </a:rPr>
              <a:t>工时</a:t>
            </a:r>
            <a:r>
              <a:rPr sz="3200" spc="-15" dirty="0">
                <a:latin typeface="华文新魏"/>
                <a:cs typeface="华文新魏"/>
              </a:rPr>
              <a:t>之</a:t>
            </a:r>
            <a:r>
              <a:rPr sz="3200" dirty="0">
                <a:latin typeface="华文新魏"/>
                <a:cs typeface="华文新魏"/>
              </a:rPr>
              <a:t>间的</a:t>
            </a:r>
            <a:r>
              <a:rPr sz="3200" spc="-15" dirty="0">
                <a:latin typeface="华文新魏"/>
                <a:cs typeface="华文新魏"/>
              </a:rPr>
              <a:t>差</a:t>
            </a:r>
            <a:r>
              <a:rPr sz="3200" dirty="0">
                <a:latin typeface="华文新魏"/>
                <a:cs typeface="华文新魏"/>
              </a:rPr>
              <a:t>异</a:t>
            </a:r>
            <a:endParaRPr sz="32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Times New Roman"/>
              <a:cs typeface="Times New Roman"/>
            </a:endParaRPr>
          </a:p>
          <a:p>
            <a:pPr marL="2305050">
              <a:lnSpc>
                <a:spcPct val="100000"/>
              </a:lnSpc>
            </a:pPr>
            <a:r>
              <a:rPr sz="1400" spc="-5" dirty="0">
                <a:latin typeface="Arial Narrow"/>
                <a:cs typeface="Arial Narrow"/>
              </a:rPr>
              <a:t>chapter__12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" y="1560574"/>
            <a:ext cx="9107423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7565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偏差分析与控制</a:t>
            </a:r>
          </a:p>
        </p:txBody>
      </p:sp>
      <p:sp>
        <p:nvSpPr>
          <p:cNvPr id="3" name="object 3"/>
          <p:cNvSpPr/>
          <p:nvPr/>
        </p:nvSpPr>
        <p:spPr>
          <a:xfrm>
            <a:off x="613409" y="1600961"/>
            <a:ext cx="8153400" cy="4131945"/>
          </a:xfrm>
          <a:custGeom>
            <a:avLst/>
            <a:gdLst/>
            <a:ahLst/>
            <a:cxnLst/>
            <a:rect l="l" t="t" r="r" b="b"/>
            <a:pathLst>
              <a:path w="8153400" h="4131945">
                <a:moveTo>
                  <a:pt x="0" y="4131564"/>
                </a:moveTo>
                <a:lnTo>
                  <a:pt x="8153400" y="4131564"/>
                </a:lnTo>
                <a:lnTo>
                  <a:pt x="8153400" y="0"/>
                </a:lnTo>
                <a:lnTo>
                  <a:pt x="0" y="0"/>
                </a:lnTo>
                <a:lnTo>
                  <a:pt x="0" y="4131564"/>
                </a:lnTo>
                <a:close/>
              </a:path>
            </a:pathLst>
          </a:custGeom>
          <a:ln w="3810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517116"/>
            <a:ext cx="7695565" cy="335470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5" dirty="0">
                <a:latin typeface="华文新魏"/>
                <a:cs typeface="华文新魏"/>
              </a:rPr>
              <a:t>精确</a:t>
            </a:r>
            <a:r>
              <a:rPr sz="2900" b="1" dirty="0">
                <a:latin typeface="华文新魏"/>
                <a:cs typeface="华文新魏"/>
              </a:rPr>
              <a:t>记录</a:t>
            </a:r>
            <a:r>
              <a:rPr sz="2900" b="1" spc="-15" dirty="0">
                <a:latin typeface="华文新魏"/>
                <a:cs typeface="华文新魏"/>
              </a:rPr>
              <a:t>任</a:t>
            </a:r>
            <a:r>
              <a:rPr sz="2900" b="1" dirty="0">
                <a:latin typeface="华文新魏"/>
                <a:cs typeface="华文新魏"/>
              </a:rPr>
              <a:t>务消</a:t>
            </a:r>
            <a:r>
              <a:rPr sz="2900" b="1" spc="-15" dirty="0">
                <a:latin typeface="华文新魏"/>
                <a:cs typeface="华文新魏"/>
              </a:rPr>
              <a:t>耗</a:t>
            </a:r>
            <a:r>
              <a:rPr sz="2900" b="1" dirty="0">
                <a:latin typeface="华文新魏"/>
                <a:cs typeface="华文新魏"/>
              </a:rPr>
              <a:t>的实</a:t>
            </a:r>
            <a:r>
              <a:rPr sz="2900" b="1" spc="-15" dirty="0">
                <a:latin typeface="华文新魏"/>
                <a:cs typeface="华文新魏"/>
              </a:rPr>
              <a:t>际</a:t>
            </a:r>
            <a:r>
              <a:rPr sz="2900" b="1" dirty="0">
                <a:latin typeface="华文新魏"/>
                <a:cs typeface="华文新魏"/>
              </a:rPr>
              <a:t>时间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5" dirty="0">
                <a:latin typeface="华文新魏"/>
                <a:cs typeface="华文新魏"/>
              </a:rPr>
              <a:t>量化</a:t>
            </a:r>
            <a:r>
              <a:rPr sz="2900" b="1" dirty="0">
                <a:latin typeface="华文新魏"/>
                <a:cs typeface="华文新魏"/>
              </a:rPr>
              <a:t>任务</a:t>
            </a:r>
            <a:r>
              <a:rPr sz="2900" b="1" spc="-15" dirty="0">
                <a:latin typeface="华文新魏"/>
                <a:cs typeface="华文新魏"/>
              </a:rPr>
              <a:t>的</a:t>
            </a:r>
            <a:r>
              <a:rPr sz="2900" b="1" dirty="0">
                <a:latin typeface="华文新魏"/>
                <a:cs typeface="华文新魏"/>
              </a:rPr>
              <a:t>计划</a:t>
            </a:r>
            <a:r>
              <a:rPr sz="2900" b="1" spc="-15" dirty="0">
                <a:latin typeface="华文新魏"/>
                <a:cs typeface="华文新魏"/>
              </a:rPr>
              <a:t>偏</a:t>
            </a:r>
            <a:r>
              <a:rPr sz="2900" b="1" dirty="0">
                <a:latin typeface="华文新魏"/>
                <a:cs typeface="华文新魏"/>
              </a:rPr>
              <a:t>差</a:t>
            </a:r>
            <a:endParaRPr sz="2900">
              <a:latin typeface="华文新魏"/>
              <a:cs typeface="华文新魏"/>
            </a:endParaRPr>
          </a:p>
          <a:p>
            <a:pPr marL="652145" marR="5080" lvl="1" indent="-273050">
              <a:lnSpc>
                <a:spcPct val="100000"/>
              </a:lnSpc>
              <a:spcBef>
                <a:spcPts val="63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2780" algn="l"/>
              </a:tabLst>
            </a:pPr>
            <a:r>
              <a:rPr sz="2600" dirty="0">
                <a:latin typeface="华文仿宋"/>
                <a:cs typeface="华文仿宋"/>
              </a:rPr>
              <a:t>持续时间偏</a:t>
            </a:r>
            <a:r>
              <a:rPr sz="2600" spc="5" dirty="0">
                <a:latin typeface="华文仿宋"/>
                <a:cs typeface="华文仿宋"/>
              </a:rPr>
              <a:t>差</a:t>
            </a:r>
            <a:r>
              <a:rPr sz="2600" spc="15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(%)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=((</a:t>
            </a:r>
            <a:r>
              <a:rPr sz="2600" spc="-40" dirty="0">
                <a:latin typeface="Tw Cen MT"/>
                <a:cs typeface="Tw Cen MT"/>
              </a:rPr>
              <a:t> </a:t>
            </a:r>
            <a:r>
              <a:rPr sz="2600" dirty="0">
                <a:latin typeface="华文仿宋"/>
                <a:cs typeface="华文仿宋"/>
              </a:rPr>
              <a:t>实际持续时</a:t>
            </a:r>
            <a:r>
              <a:rPr sz="2600" spc="5" dirty="0">
                <a:latin typeface="华文仿宋"/>
                <a:cs typeface="华文仿宋"/>
              </a:rPr>
              <a:t>间</a:t>
            </a:r>
            <a:r>
              <a:rPr sz="2600" spc="35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-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dirty="0">
                <a:latin typeface="华文仿宋"/>
                <a:cs typeface="华文仿宋"/>
              </a:rPr>
              <a:t>计划持续时 间</a:t>
            </a:r>
            <a:r>
              <a:rPr sz="2600" spc="50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)/</a:t>
            </a:r>
            <a:r>
              <a:rPr sz="2600" spc="-10" dirty="0">
                <a:latin typeface="Tw Cen MT"/>
                <a:cs typeface="Tw Cen MT"/>
              </a:rPr>
              <a:t> </a:t>
            </a:r>
            <a:r>
              <a:rPr sz="2600" dirty="0">
                <a:latin typeface="华文仿宋"/>
                <a:cs typeface="华文仿宋"/>
              </a:rPr>
              <a:t>计划持续时间</a:t>
            </a:r>
            <a:r>
              <a:rPr sz="2600" spc="35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)*100</a:t>
            </a:r>
            <a:endParaRPr sz="2600">
              <a:latin typeface="Tw Cen MT"/>
              <a:cs typeface="Tw Cen MT"/>
            </a:endParaRPr>
          </a:p>
          <a:p>
            <a:pPr marL="652145" lvl="1" indent="-27305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2780" algn="l"/>
              </a:tabLst>
            </a:pPr>
            <a:r>
              <a:rPr sz="2600" dirty="0">
                <a:latin typeface="华文仿宋"/>
                <a:cs typeface="华文仿宋"/>
              </a:rPr>
              <a:t>进度偏差</a:t>
            </a:r>
            <a:r>
              <a:rPr sz="2600" spc="40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(%)=((</a:t>
            </a:r>
            <a:r>
              <a:rPr sz="2600" spc="-45" dirty="0">
                <a:latin typeface="Tw Cen MT"/>
                <a:cs typeface="Tw Cen MT"/>
              </a:rPr>
              <a:t> </a:t>
            </a:r>
            <a:r>
              <a:rPr sz="2600" dirty="0">
                <a:latin typeface="华文仿宋"/>
                <a:cs typeface="华文仿宋"/>
              </a:rPr>
              <a:t>实际结束时间</a:t>
            </a:r>
            <a:r>
              <a:rPr sz="2600" spc="35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-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华文仿宋"/>
                <a:cs typeface="华文仿宋"/>
              </a:rPr>
              <a:t>计划结束时间</a:t>
            </a:r>
            <a:r>
              <a:rPr sz="2600" spc="45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)/</a:t>
            </a:r>
            <a:endParaRPr sz="2600">
              <a:latin typeface="Tw Cen MT"/>
              <a:cs typeface="Tw Cen MT"/>
            </a:endParaRPr>
          </a:p>
          <a:p>
            <a:pPr marL="652145">
              <a:lnSpc>
                <a:spcPct val="100000"/>
              </a:lnSpc>
            </a:pPr>
            <a:r>
              <a:rPr sz="2600" dirty="0">
                <a:latin typeface="华文仿宋"/>
                <a:cs typeface="华文仿宋"/>
              </a:rPr>
              <a:t>计划持续时</a:t>
            </a:r>
            <a:r>
              <a:rPr sz="2600" spc="5" dirty="0">
                <a:latin typeface="华文仿宋"/>
                <a:cs typeface="华文仿宋"/>
              </a:rPr>
              <a:t>间</a:t>
            </a:r>
            <a:r>
              <a:rPr sz="2600" spc="25" dirty="0">
                <a:latin typeface="华文仿宋"/>
                <a:cs typeface="华文仿宋"/>
              </a:rPr>
              <a:t> </a:t>
            </a:r>
            <a:r>
              <a:rPr sz="2600" dirty="0">
                <a:latin typeface="Tw Cen MT"/>
                <a:cs typeface="Tw Cen MT"/>
              </a:rPr>
              <a:t>)*100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6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对计划偏差进行根因分析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2346" y="615066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05232"/>
            <a:ext cx="5866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图解控制法－偏差分</a:t>
            </a:r>
            <a:r>
              <a:rPr spc="10" dirty="0"/>
              <a:t>析</a:t>
            </a:r>
            <a:r>
              <a:rPr i="1" dirty="0">
                <a:latin typeface="华文隶书"/>
                <a:cs typeface="华文隶书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7907" y="1624648"/>
            <a:ext cx="7663185" cy="50915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52777" y="1623822"/>
            <a:ext cx="7024370" cy="1229995"/>
          </a:xfrm>
          <a:custGeom>
            <a:avLst/>
            <a:gdLst/>
            <a:ahLst/>
            <a:cxnLst/>
            <a:rect l="l" t="t" r="r" b="b"/>
            <a:pathLst>
              <a:path w="7024370" h="1229995">
                <a:moveTo>
                  <a:pt x="0" y="1229867"/>
                </a:moveTo>
                <a:lnTo>
                  <a:pt x="7024116" y="1229867"/>
                </a:lnTo>
                <a:lnTo>
                  <a:pt x="7024116" y="0"/>
                </a:lnTo>
                <a:lnTo>
                  <a:pt x="0" y="0"/>
                </a:lnTo>
                <a:lnTo>
                  <a:pt x="0" y="1229867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20774" y="2992373"/>
            <a:ext cx="7023100" cy="1229995"/>
          </a:xfrm>
          <a:custGeom>
            <a:avLst/>
            <a:gdLst/>
            <a:ahLst/>
            <a:cxnLst/>
            <a:rect l="l" t="t" r="r" b="b"/>
            <a:pathLst>
              <a:path w="7023100" h="1229995">
                <a:moveTo>
                  <a:pt x="0" y="1229868"/>
                </a:moveTo>
                <a:lnTo>
                  <a:pt x="7022592" y="1229868"/>
                </a:lnTo>
                <a:lnTo>
                  <a:pt x="7022592" y="0"/>
                </a:lnTo>
                <a:lnTo>
                  <a:pt x="0" y="0"/>
                </a:lnTo>
                <a:lnTo>
                  <a:pt x="0" y="122986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51254" y="4367021"/>
            <a:ext cx="7025640" cy="2214880"/>
          </a:xfrm>
          <a:custGeom>
            <a:avLst/>
            <a:gdLst/>
            <a:ahLst/>
            <a:cxnLst/>
            <a:rect l="l" t="t" r="r" b="b"/>
            <a:pathLst>
              <a:path w="7025640" h="2214879">
                <a:moveTo>
                  <a:pt x="0" y="2214372"/>
                </a:moveTo>
                <a:lnTo>
                  <a:pt x="7025640" y="2214372"/>
                </a:lnTo>
                <a:lnTo>
                  <a:pt x="7025640" y="0"/>
                </a:lnTo>
                <a:lnTo>
                  <a:pt x="0" y="0"/>
                </a:lnTo>
                <a:lnTo>
                  <a:pt x="0" y="221437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36982"/>
            <a:ext cx="6000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图解控制</a:t>
            </a:r>
            <a:r>
              <a:rPr spc="5" dirty="0"/>
              <a:t>法</a:t>
            </a:r>
            <a:r>
              <a:rPr spc="-95" dirty="0"/>
              <a:t> </a:t>
            </a:r>
            <a:r>
              <a:rPr spc="5" dirty="0"/>
              <a:t>－偏差分</a:t>
            </a:r>
            <a:r>
              <a:rPr spc="-5" dirty="0"/>
              <a:t>析</a:t>
            </a:r>
            <a:r>
              <a:rPr i="1" dirty="0">
                <a:latin typeface="华文隶书"/>
                <a:cs typeface="华文隶书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12746"/>
            <a:ext cx="9144000" cy="5445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96845" y="1629917"/>
            <a:ext cx="6840220" cy="1224280"/>
          </a:xfrm>
          <a:custGeom>
            <a:avLst/>
            <a:gdLst/>
            <a:ahLst/>
            <a:cxnLst/>
            <a:rect l="l" t="t" r="r" b="b"/>
            <a:pathLst>
              <a:path w="6840220" h="1224280">
                <a:moveTo>
                  <a:pt x="0" y="1223772"/>
                </a:moveTo>
                <a:lnTo>
                  <a:pt x="6839711" y="1223772"/>
                </a:lnTo>
                <a:lnTo>
                  <a:pt x="6839711" y="0"/>
                </a:lnTo>
                <a:lnTo>
                  <a:pt x="0" y="0"/>
                </a:lnTo>
                <a:lnTo>
                  <a:pt x="0" y="122377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58745" y="2925317"/>
            <a:ext cx="6878320" cy="1458595"/>
          </a:xfrm>
          <a:custGeom>
            <a:avLst/>
            <a:gdLst/>
            <a:ahLst/>
            <a:cxnLst/>
            <a:rect l="l" t="t" r="r" b="b"/>
            <a:pathLst>
              <a:path w="6878320" h="1458595">
                <a:moveTo>
                  <a:pt x="0" y="1458467"/>
                </a:moveTo>
                <a:lnTo>
                  <a:pt x="6877811" y="1458467"/>
                </a:lnTo>
                <a:lnTo>
                  <a:pt x="6877811" y="0"/>
                </a:lnTo>
                <a:lnTo>
                  <a:pt x="0" y="0"/>
                </a:lnTo>
                <a:lnTo>
                  <a:pt x="0" y="1458467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6845" y="4367021"/>
            <a:ext cx="6913245" cy="2231390"/>
          </a:xfrm>
          <a:custGeom>
            <a:avLst/>
            <a:gdLst/>
            <a:ahLst/>
            <a:cxnLst/>
            <a:rect l="l" t="t" r="r" b="b"/>
            <a:pathLst>
              <a:path w="6913245" h="2231390">
                <a:moveTo>
                  <a:pt x="0" y="2231135"/>
                </a:moveTo>
                <a:lnTo>
                  <a:pt x="6912864" y="2231135"/>
                </a:lnTo>
                <a:lnTo>
                  <a:pt x="6912864" y="0"/>
                </a:lnTo>
                <a:lnTo>
                  <a:pt x="0" y="0"/>
                </a:lnTo>
                <a:lnTo>
                  <a:pt x="0" y="2231135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50038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性能分析的主要技术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8269" y="6177178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2133600"/>
            <a:ext cx="8153400" cy="2735580"/>
          </a:xfrm>
          <a:custGeom>
            <a:avLst/>
            <a:gdLst/>
            <a:ahLst/>
            <a:cxnLst/>
            <a:rect l="l" t="t" r="r" b="b"/>
            <a:pathLst>
              <a:path w="8153400" h="2735579">
                <a:moveTo>
                  <a:pt x="0" y="2735580"/>
                </a:moveTo>
                <a:lnTo>
                  <a:pt x="8153400" y="2735580"/>
                </a:lnTo>
                <a:lnTo>
                  <a:pt x="8153400" y="0"/>
                </a:lnTo>
                <a:lnTo>
                  <a:pt x="0" y="0"/>
                </a:lnTo>
                <a:lnTo>
                  <a:pt x="0" y="273558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840" y="2992795"/>
            <a:ext cx="2444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0"/>
              </a:lnSpc>
            </a:pPr>
            <a:r>
              <a:rPr sz="2150" spc="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2150">
              <a:latin typeface="Wingdings"/>
              <a:cs typeface="Wingding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 marR="5447665" indent="-320675">
              <a:lnSpc>
                <a:spcPct val="116399"/>
              </a:lnSpc>
              <a:spcBef>
                <a:spcPts val="10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spc="-5" dirty="0"/>
              <a:t>图解控制法 </a:t>
            </a:r>
            <a:r>
              <a:rPr dirty="0"/>
              <a:t>挣值分析法</a:t>
            </a:r>
          </a:p>
          <a:p>
            <a:pPr marL="41148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spc="-5" dirty="0"/>
              <a:t>网络图</a:t>
            </a:r>
            <a:r>
              <a:rPr dirty="0"/>
              <a:t>分析</a:t>
            </a:r>
          </a:p>
          <a:p>
            <a:pPr marL="41148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dirty="0"/>
              <a:t>敏捷方法</a:t>
            </a:r>
          </a:p>
        </p:txBody>
      </p:sp>
      <p:sp>
        <p:nvSpPr>
          <p:cNvPr id="8" name="object 8"/>
          <p:cNvSpPr/>
          <p:nvPr/>
        </p:nvSpPr>
        <p:spPr>
          <a:xfrm>
            <a:off x="324611" y="2717292"/>
            <a:ext cx="577595" cy="711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388" y="316737"/>
            <a:ext cx="3072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00000"/>
                </a:solidFill>
              </a:rPr>
              <a:t>挣值分析原理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01879" y="1276350"/>
            <a:ext cx="1873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Arial Narrow"/>
                <a:cs typeface="Arial Narrow"/>
              </a:rPr>
              <a:t>23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0713" y="5983223"/>
            <a:ext cx="7162800" cy="78105"/>
          </a:xfrm>
          <a:custGeom>
            <a:avLst/>
            <a:gdLst/>
            <a:ahLst/>
            <a:cxnLst/>
            <a:rect l="l" t="t" r="r" b="b"/>
            <a:pathLst>
              <a:path w="7162800" h="78104">
                <a:moveTo>
                  <a:pt x="7033259" y="0"/>
                </a:moveTo>
                <a:lnTo>
                  <a:pt x="7033259" y="77723"/>
                </a:lnTo>
                <a:lnTo>
                  <a:pt x="7119620" y="51815"/>
                </a:lnTo>
                <a:lnTo>
                  <a:pt x="7046213" y="51815"/>
                </a:lnTo>
                <a:lnTo>
                  <a:pt x="7046213" y="25907"/>
                </a:lnTo>
                <a:lnTo>
                  <a:pt x="7119619" y="25907"/>
                </a:lnTo>
                <a:lnTo>
                  <a:pt x="7033259" y="0"/>
                </a:lnTo>
                <a:close/>
              </a:path>
              <a:path w="7162800" h="78104">
                <a:moveTo>
                  <a:pt x="70332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7033259" y="51815"/>
                </a:lnTo>
                <a:lnTo>
                  <a:pt x="7033259" y="25907"/>
                </a:lnTo>
                <a:close/>
              </a:path>
              <a:path w="7162800" h="78104">
                <a:moveTo>
                  <a:pt x="7119619" y="25907"/>
                </a:moveTo>
                <a:lnTo>
                  <a:pt x="7046213" y="25907"/>
                </a:lnTo>
                <a:lnTo>
                  <a:pt x="7046213" y="51815"/>
                </a:lnTo>
                <a:lnTo>
                  <a:pt x="7119620" y="51815"/>
                </a:lnTo>
                <a:lnTo>
                  <a:pt x="7162800" y="38862"/>
                </a:lnTo>
                <a:lnTo>
                  <a:pt x="71196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1852" y="1907285"/>
            <a:ext cx="78105" cy="4114800"/>
          </a:xfrm>
          <a:custGeom>
            <a:avLst/>
            <a:gdLst/>
            <a:ahLst/>
            <a:cxnLst/>
            <a:rect l="l" t="t" r="r" b="b"/>
            <a:pathLst>
              <a:path w="78105" h="4114800">
                <a:moveTo>
                  <a:pt x="51815" y="116586"/>
                </a:moveTo>
                <a:lnTo>
                  <a:pt x="25907" y="116586"/>
                </a:lnTo>
                <a:lnTo>
                  <a:pt x="25907" y="4114800"/>
                </a:lnTo>
                <a:lnTo>
                  <a:pt x="51815" y="4114800"/>
                </a:lnTo>
                <a:lnTo>
                  <a:pt x="51815" y="116586"/>
                </a:lnTo>
                <a:close/>
              </a:path>
              <a:path w="78105" h="4114800">
                <a:moveTo>
                  <a:pt x="38861" y="0"/>
                </a:moveTo>
                <a:lnTo>
                  <a:pt x="0" y="129539"/>
                </a:lnTo>
                <a:lnTo>
                  <a:pt x="25907" y="129539"/>
                </a:lnTo>
                <a:lnTo>
                  <a:pt x="25907" y="116586"/>
                </a:lnTo>
                <a:lnTo>
                  <a:pt x="73837" y="116586"/>
                </a:lnTo>
                <a:lnTo>
                  <a:pt x="38861" y="0"/>
                </a:lnTo>
                <a:close/>
              </a:path>
              <a:path w="78105" h="4114800">
                <a:moveTo>
                  <a:pt x="73837" y="116586"/>
                </a:moveTo>
                <a:lnTo>
                  <a:pt x="51815" y="116586"/>
                </a:lnTo>
                <a:lnTo>
                  <a:pt x="51815" y="129539"/>
                </a:lnTo>
                <a:lnTo>
                  <a:pt x="77723" y="129539"/>
                </a:lnTo>
                <a:lnTo>
                  <a:pt x="73837" y="116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0713" y="2207005"/>
            <a:ext cx="7239000" cy="3810635"/>
          </a:xfrm>
          <a:custGeom>
            <a:avLst/>
            <a:gdLst/>
            <a:ahLst/>
            <a:cxnLst/>
            <a:rect l="l" t="t" r="r" b="b"/>
            <a:pathLst>
              <a:path w="7239000" h="3810635">
                <a:moveTo>
                  <a:pt x="0" y="3810508"/>
                </a:moveTo>
                <a:lnTo>
                  <a:pt x="50334" y="3779219"/>
                </a:lnTo>
                <a:lnTo>
                  <a:pt x="100667" y="3747933"/>
                </a:lnTo>
                <a:lnTo>
                  <a:pt x="150993" y="3716651"/>
                </a:lnTo>
                <a:lnTo>
                  <a:pt x="201311" y="3685376"/>
                </a:lnTo>
                <a:lnTo>
                  <a:pt x="251619" y="3654108"/>
                </a:lnTo>
                <a:lnTo>
                  <a:pt x="301912" y="3622851"/>
                </a:lnTo>
                <a:lnTo>
                  <a:pt x="352189" y="3591606"/>
                </a:lnTo>
                <a:lnTo>
                  <a:pt x="402447" y="3560376"/>
                </a:lnTo>
                <a:lnTo>
                  <a:pt x="452682" y="3529163"/>
                </a:lnTo>
                <a:lnTo>
                  <a:pt x="502892" y="3497969"/>
                </a:lnTo>
                <a:lnTo>
                  <a:pt x="553075" y="3466795"/>
                </a:lnTo>
                <a:lnTo>
                  <a:pt x="603228" y="3435644"/>
                </a:lnTo>
                <a:lnTo>
                  <a:pt x="653347" y="3404518"/>
                </a:lnTo>
                <a:lnTo>
                  <a:pt x="703431" y="3373420"/>
                </a:lnTo>
                <a:lnTo>
                  <a:pt x="753475" y="3342350"/>
                </a:lnTo>
                <a:lnTo>
                  <a:pt x="803478" y="3311312"/>
                </a:lnTo>
                <a:lnTo>
                  <a:pt x="853437" y="3280307"/>
                </a:lnTo>
                <a:lnTo>
                  <a:pt x="903349" y="3249338"/>
                </a:lnTo>
                <a:lnTo>
                  <a:pt x="953212" y="3218406"/>
                </a:lnTo>
                <a:lnTo>
                  <a:pt x="1003021" y="3187514"/>
                </a:lnTo>
                <a:lnTo>
                  <a:pt x="1052776" y="3156664"/>
                </a:lnTo>
                <a:lnTo>
                  <a:pt x="1102472" y="3125857"/>
                </a:lnTo>
                <a:lnTo>
                  <a:pt x="1152108" y="3095097"/>
                </a:lnTo>
                <a:lnTo>
                  <a:pt x="1201680" y="3064384"/>
                </a:lnTo>
                <a:lnTo>
                  <a:pt x="1251186" y="3033722"/>
                </a:lnTo>
                <a:lnTo>
                  <a:pt x="1300622" y="3003112"/>
                </a:lnTo>
                <a:lnTo>
                  <a:pt x="1349987" y="2972556"/>
                </a:lnTo>
                <a:lnTo>
                  <a:pt x="1399277" y="2942056"/>
                </a:lnTo>
                <a:lnTo>
                  <a:pt x="1448490" y="2911615"/>
                </a:lnTo>
                <a:lnTo>
                  <a:pt x="1497622" y="2881234"/>
                </a:lnTo>
                <a:lnTo>
                  <a:pt x="1546672" y="2850916"/>
                </a:lnTo>
                <a:lnTo>
                  <a:pt x="1595636" y="2820663"/>
                </a:lnTo>
                <a:lnTo>
                  <a:pt x="1644511" y="2790477"/>
                </a:lnTo>
                <a:lnTo>
                  <a:pt x="1693296" y="2760359"/>
                </a:lnTo>
                <a:lnTo>
                  <a:pt x="1741986" y="2730312"/>
                </a:lnTo>
                <a:lnTo>
                  <a:pt x="1790580" y="2700339"/>
                </a:lnTo>
                <a:lnTo>
                  <a:pt x="1839074" y="2670441"/>
                </a:lnTo>
                <a:lnTo>
                  <a:pt x="1887465" y="2640620"/>
                </a:lnTo>
                <a:lnTo>
                  <a:pt x="1935752" y="2610878"/>
                </a:lnTo>
                <a:lnTo>
                  <a:pt x="1983931" y="2581218"/>
                </a:lnTo>
                <a:lnTo>
                  <a:pt x="2032000" y="2551641"/>
                </a:lnTo>
                <a:lnTo>
                  <a:pt x="2079955" y="2522150"/>
                </a:lnTo>
                <a:lnTo>
                  <a:pt x="2127794" y="2492747"/>
                </a:lnTo>
                <a:lnTo>
                  <a:pt x="2175514" y="2463433"/>
                </a:lnTo>
                <a:lnTo>
                  <a:pt x="2223112" y="2434212"/>
                </a:lnTo>
                <a:lnTo>
                  <a:pt x="2270586" y="2405084"/>
                </a:lnTo>
                <a:lnTo>
                  <a:pt x="2317933" y="2376052"/>
                </a:lnTo>
                <a:lnTo>
                  <a:pt x="2365150" y="2347119"/>
                </a:lnTo>
                <a:lnTo>
                  <a:pt x="2412235" y="2318286"/>
                </a:lnTo>
                <a:lnTo>
                  <a:pt x="2459184" y="2289555"/>
                </a:lnTo>
                <a:lnTo>
                  <a:pt x="2505995" y="2260929"/>
                </a:lnTo>
                <a:lnTo>
                  <a:pt x="2552664" y="2232409"/>
                </a:lnTo>
                <a:lnTo>
                  <a:pt x="2599190" y="2203997"/>
                </a:lnTo>
                <a:lnTo>
                  <a:pt x="2645570" y="2175697"/>
                </a:lnTo>
                <a:lnTo>
                  <a:pt x="2691800" y="2147509"/>
                </a:lnTo>
                <a:lnTo>
                  <a:pt x="2737879" y="2119436"/>
                </a:lnTo>
                <a:lnTo>
                  <a:pt x="2783802" y="2091480"/>
                </a:lnTo>
                <a:lnTo>
                  <a:pt x="2829568" y="2063643"/>
                </a:lnTo>
                <a:lnTo>
                  <a:pt x="2875174" y="2035927"/>
                </a:lnTo>
                <a:lnTo>
                  <a:pt x="2920616" y="2008335"/>
                </a:lnTo>
                <a:lnTo>
                  <a:pt x="2965893" y="1980868"/>
                </a:lnTo>
                <a:lnTo>
                  <a:pt x="3011001" y="1953528"/>
                </a:lnTo>
                <a:lnTo>
                  <a:pt x="3055938" y="1926318"/>
                </a:lnTo>
                <a:lnTo>
                  <a:pt x="3100700" y="1899239"/>
                </a:lnTo>
                <a:lnTo>
                  <a:pt x="3145286" y="1872294"/>
                </a:lnTo>
                <a:lnTo>
                  <a:pt x="3189692" y="1845485"/>
                </a:lnTo>
                <a:lnTo>
                  <a:pt x="3233916" y="1818814"/>
                </a:lnTo>
                <a:lnTo>
                  <a:pt x="3277954" y="1792282"/>
                </a:lnTo>
                <a:lnTo>
                  <a:pt x="3321805" y="1765893"/>
                </a:lnTo>
                <a:lnTo>
                  <a:pt x="3365464" y="1739648"/>
                </a:lnTo>
                <a:lnTo>
                  <a:pt x="3408931" y="1713549"/>
                </a:lnTo>
                <a:lnTo>
                  <a:pt x="3452201" y="1687598"/>
                </a:lnTo>
                <a:lnTo>
                  <a:pt x="3495272" y="1661798"/>
                </a:lnTo>
                <a:lnTo>
                  <a:pt x="3538141" y="1636150"/>
                </a:lnTo>
                <a:lnTo>
                  <a:pt x="3580806" y="1610657"/>
                </a:lnTo>
                <a:lnTo>
                  <a:pt x="3623263" y="1585320"/>
                </a:lnTo>
                <a:lnTo>
                  <a:pt x="3665511" y="1560142"/>
                </a:lnTo>
                <a:lnTo>
                  <a:pt x="3707545" y="1535126"/>
                </a:lnTo>
                <a:lnTo>
                  <a:pt x="3749364" y="1510272"/>
                </a:lnTo>
                <a:lnTo>
                  <a:pt x="3790965" y="1485583"/>
                </a:lnTo>
                <a:lnTo>
                  <a:pt x="3832344" y="1461061"/>
                </a:lnTo>
                <a:lnTo>
                  <a:pt x="3873500" y="1436708"/>
                </a:lnTo>
                <a:lnTo>
                  <a:pt x="3914428" y="1412527"/>
                </a:lnTo>
                <a:lnTo>
                  <a:pt x="3955128" y="1388519"/>
                </a:lnTo>
                <a:lnTo>
                  <a:pt x="3995595" y="1364686"/>
                </a:lnTo>
                <a:lnTo>
                  <a:pt x="4035828" y="1341032"/>
                </a:lnTo>
                <a:lnTo>
                  <a:pt x="4075822" y="1317556"/>
                </a:lnTo>
                <a:lnTo>
                  <a:pt x="4115576" y="1294263"/>
                </a:lnTo>
                <a:lnTo>
                  <a:pt x="4155087" y="1271153"/>
                </a:lnTo>
                <a:lnTo>
                  <a:pt x="4194352" y="1248229"/>
                </a:lnTo>
                <a:lnTo>
                  <a:pt x="4233368" y="1225494"/>
                </a:lnTo>
                <a:lnTo>
                  <a:pt x="4272133" y="1202948"/>
                </a:lnTo>
                <a:lnTo>
                  <a:pt x="4310643" y="1180595"/>
                </a:lnTo>
                <a:lnTo>
                  <a:pt x="4348897" y="1158436"/>
                </a:lnTo>
                <a:lnTo>
                  <a:pt x="4386890" y="1136473"/>
                </a:lnTo>
                <a:lnTo>
                  <a:pt x="4424621" y="1114708"/>
                </a:lnTo>
                <a:lnTo>
                  <a:pt x="4462087" y="1093145"/>
                </a:lnTo>
                <a:lnTo>
                  <a:pt x="4499284" y="1071784"/>
                </a:lnTo>
                <a:lnTo>
                  <a:pt x="4536211" y="1050627"/>
                </a:lnTo>
                <a:lnTo>
                  <a:pt x="4572864" y="1029678"/>
                </a:lnTo>
                <a:lnTo>
                  <a:pt x="4609240" y="1008937"/>
                </a:lnTo>
                <a:lnTo>
                  <a:pt x="4645338" y="988407"/>
                </a:lnTo>
                <a:lnTo>
                  <a:pt x="4681153" y="968091"/>
                </a:lnTo>
                <a:lnTo>
                  <a:pt x="4716684" y="947989"/>
                </a:lnTo>
                <a:lnTo>
                  <a:pt x="4751927" y="928105"/>
                </a:lnTo>
                <a:lnTo>
                  <a:pt x="4786880" y="908441"/>
                </a:lnTo>
                <a:lnTo>
                  <a:pt x="4821540" y="888997"/>
                </a:lnTo>
                <a:lnTo>
                  <a:pt x="4855905" y="869777"/>
                </a:lnTo>
                <a:lnTo>
                  <a:pt x="4889970" y="850783"/>
                </a:lnTo>
                <a:lnTo>
                  <a:pt x="4923735" y="832017"/>
                </a:lnTo>
                <a:lnTo>
                  <a:pt x="4957195" y="813480"/>
                </a:lnTo>
                <a:lnTo>
                  <a:pt x="5023193" y="777105"/>
                </a:lnTo>
                <a:lnTo>
                  <a:pt x="5087941" y="741674"/>
                </a:lnTo>
                <a:lnTo>
                  <a:pt x="5151418" y="707204"/>
                </a:lnTo>
                <a:lnTo>
                  <a:pt x="5213602" y="673711"/>
                </a:lnTo>
                <a:lnTo>
                  <a:pt x="5274470" y="641213"/>
                </a:lnTo>
                <a:lnTo>
                  <a:pt x="5334000" y="609727"/>
                </a:lnTo>
                <a:lnTo>
                  <a:pt x="5420818" y="564600"/>
                </a:lnTo>
                <a:lnTo>
                  <a:pt x="5504756" y="522107"/>
                </a:lnTo>
                <a:lnTo>
                  <a:pt x="5585880" y="482161"/>
                </a:lnTo>
                <a:lnTo>
                  <a:pt x="5664257" y="444678"/>
                </a:lnTo>
                <a:lnTo>
                  <a:pt x="5739953" y="409569"/>
                </a:lnTo>
                <a:lnTo>
                  <a:pt x="5813034" y="376750"/>
                </a:lnTo>
                <a:lnTo>
                  <a:pt x="5883567" y="346133"/>
                </a:lnTo>
                <a:lnTo>
                  <a:pt x="5951617" y="317633"/>
                </a:lnTo>
                <a:lnTo>
                  <a:pt x="6017252" y="291164"/>
                </a:lnTo>
                <a:lnTo>
                  <a:pt x="6080537" y="266638"/>
                </a:lnTo>
                <a:lnTo>
                  <a:pt x="6141540" y="243970"/>
                </a:lnTo>
                <a:lnTo>
                  <a:pt x="6200325" y="223073"/>
                </a:lnTo>
                <a:lnTo>
                  <a:pt x="6256960" y="203862"/>
                </a:lnTo>
                <a:lnTo>
                  <a:pt x="6311511" y="186250"/>
                </a:lnTo>
                <a:lnTo>
                  <a:pt x="6364044" y="170150"/>
                </a:lnTo>
                <a:lnTo>
                  <a:pt x="6414626" y="155478"/>
                </a:lnTo>
                <a:lnTo>
                  <a:pt x="6463323" y="142145"/>
                </a:lnTo>
                <a:lnTo>
                  <a:pt x="6510201" y="130066"/>
                </a:lnTo>
                <a:lnTo>
                  <a:pt x="6555327" y="119156"/>
                </a:lnTo>
                <a:lnTo>
                  <a:pt x="6598766" y="109326"/>
                </a:lnTo>
                <a:lnTo>
                  <a:pt x="6640586" y="100492"/>
                </a:lnTo>
                <a:lnTo>
                  <a:pt x="6680853" y="92567"/>
                </a:lnTo>
                <a:lnTo>
                  <a:pt x="6719632" y="85465"/>
                </a:lnTo>
                <a:lnTo>
                  <a:pt x="6792995" y="73384"/>
                </a:lnTo>
                <a:lnTo>
                  <a:pt x="6861206" y="63560"/>
                </a:lnTo>
                <a:lnTo>
                  <a:pt x="6924795" y="55301"/>
                </a:lnTo>
                <a:lnTo>
                  <a:pt x="6984294" y="47919"/>
                </a:lnTo>
                <a:lnTo>
                  <a:pt x="7012675" y="44340"/>
                </a:lnTo>
                <a:lnTo>
                  <a:pt x="7067032" y="36978"/>
                </a:lnTo>
                <a:lnTo>
                  <a:pt x="7118626" y="28768"/>
                </a:lnTo>
                <a:lnTo>
                  <a:pt x="7167986" y="19018"/>
                </a:lnTo>
                <a:lnTo>
                  <a:pt x="7215643" y="7040"/>
                </a:lnTo>
                <a:lnTo>
                  <a:pt x="72390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1525" y="2013381"/>
            <a:ext cx="280035" cy="68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</a:pPr>
            <a:r>
              <a:rPr sz="2000" dirty="0">
                <a:latin typeface="华文仿宋"/>
                <a:cs typeface="华文仿宋"/>
              </a:rPr>
              <a:t>成 本</a:t>
            </a:r>
            <a:endParaRPr sz="2000">
              <a:latin typeface="华文仿宋"/>
              <a:cs typeface="华文仿宋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8558" y="6166815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楷体"/>
                <a:cs typeface="楷体"/>
              </a:rPr>
              <a:t>时间</a:t>
            </a:r>
            <a:endParaRPr sz="2000">
              <a:latin typeface="楷体"/>
              <a:cs typeface="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69714" y="3096005"/>
            <a:ext cx="0" cy="2926080"/>
          </a:xfrm>
          <a:custGeom>
            <a:avLst/>
            <a:gdLst/>
            <a:ahLst/>
            <a:cxnLst/>
            <a:rect l="l" t="t" r="r" b="b"/>
            <a:pathLst>
              <a:path h="2926079">
                <a:moveTo>
                  <a:pt x="0" y="0"/>
                </a:moveTo>
                <a:lnTo>
                  <a:pt x="0" y="2926080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40713" y="3888485"/>
            <a:ext cx="3429000" cy="0"/>
          </a:xfrm>
          <a:custGeom>
            <a:avLst/>
            <a:gdLst/>
            <a:ahLst/>
            <a:cxnLst/>
            <a:rect l="l" t="t" r="r" b="b"/>
            <a:pathLst>
              <a:path w="3429000">
                <a:moveTo>
                  <a:pt x="34290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96180" y="6111951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华文仿宋"/>
                <a:cs typeface="华文仿宋"/>
              </a:rPr>
              <a:t>今天</a:t>
            </a:r>
            <a:endParaRPr sz="2000">
              <a:latin typeface="华文仿宋"/>
              <a:cs typeface="华文仿宋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15745" y="3324605"/>
            <a:ext cx="3430270" cy="2680335"/>
          </a:xfrm>
          <a:custGeom>
            <a:avLst/>
            <a:gdLst/>
            <a:ahLst/>
            <a:cxnLst/>
            <a:rect l="l" t="t" r="r" b="b"/>
            <a:pathLst>
              <a:path w="3430270" h="2680335">
                <a:moveTo>
                  <a:pt x="3342089" y="41050"/>
                </a:moveTo>
                <a:lnTo>
                  <a:pt x="3228238" y="108077"/>
                </a:lnTo>
                <a:lnTo>
                  <a:pt x="3194964" y="128270"/>
                </a:lnTo>
                <a:lnTo>
                  <a:pt x="3160801" y="149479"/>
                </a:lnTo>
                <a:lnTo>
                  <a:pt x="3126511" y="171704"/>
                </a:lnTo>
                <a:lnTo>
                  <a:pt x="3092221" y="194945"/>
                </a:lnTo>
                <a:lnTo>
                  <a:pt x="3058566" y="218821"/>
                </a:lnTo>
                <a:lnTo>
                  <a:pt x="3025673" y="243713"/>
                </a:lnTo>
                <a:lnTo>
                  <a:pt x="2993923" y="269113"/>
                </a:lnTo>
                <a:lnTo>
                  <a:pt x="2964078" y="295402"/>
                </a:lnTo>
                <a:lnTo>
                  <a:pt x="2935122" y="323088"/>
                </a:lnTo>
                <a:lnTo>
                  <a:pt x="2906293" y="352806"/>
                </a:lnTo>
                <a:lnTo>
                  <a:pt x="2877464" y="384302"/>
                </a:lnTo>
                <a:lnTo>
                  <a:pt x="2848762" y="417322"/>
                </a:lnTo>
                <a:lnTo>
                  <a:pt x="2820060" y="451612"/>
                </a:lnTo>
                <a:lnTo>
                  <a:pt x="2791358" y="486791"/>
                </a:lnTo>
                <a:lnTo>
                  <a:pt x="2762783" y="522478"/>
                </a:lnTo>
                <a:lnTo>
                  <a:pt x="2648610" y="667004"/>
                </a:lnTo>
                <a:lnTo>
                  <a:pt x="2620162" y="701929"/>
                </a:lnTo>
                <a:lnTo>
                  <a:pt x="2591714" y="735838"/>
                </a:lnTo>
                <a:lnTo>
                  <a:pt x="2563393" y="768477"/>
                </a:lnTo>
                <a:lnTo>
                  <a:pt x="2535072" y="799719"/>
                </a:lnTo>
                <a:lnTo>
                  <a:pt x="2506751" y="828929"/>
                </a:lnTo>
                <a:lnTo>
                  <a:pt x="2478557" y="855980"/>
                </a:lnTo>
                <a:lnTo>
                  <a:pt x="2423185" y="903351"/>
                </a:lnTo>
                <a:lnTo>
                  <a:pt x="2367940" y="945134"/>
                </a:lnTo>
                <a:lnTo>
                  <a:pt x="2284374" y="1003808"/>
                </a:lnTo>
                <a:lnTo>
                  <a:pt x="2256307" y="1023874"/>
                </a:lnTo>
                <a:lnTo>
                  <a:pt x="2198903" y="1067054"/>
                </a:lnTo>
                <a:lnTo>
                  <a:pt x="2155088" y="1103630"/>
                </a:lnTo>
                <a:lnTo>
                  <a:pt x="2125370" y="1130681"/>
                </a:lnTo>
                <a:lnTo>
                  <a:pt x="2095017" y="1160399"/>
                </a:lnTo>
                <a:lnTo>
                  <a:pt x="2064283" y="1193165"/>
                </a:lnTo>
                <a:lnTo>
                  <a:pt x="2032914" y="1229487"/>
                </a:lnTo>
                <a:lnTo>
                  <a:pt x="2002180" y="1269365"/>
                </a:lnTo>
                <a:lnTo>
                  <a:pt x="1971827" y="1312164"/>
                </a:lnTo>
                <a:lnTo>
                  <a:pt x="1941728" y="1357757"/>
                </a:lnTo>
                <a:lnTo>
                  <a:pt x="1896643" y="1430147"/>
                </a:lnTo>
                <a:lnTo>
                  <a:pt x="1804568" y="1583944"/>
                </a:lnTo>
                <a:lnTo>
                  <a:pt x="1772818" y="1636268"/>
                </a:lnTo>
                <a:lnTo>
                  <a:pt x="1740052" y="1688338"/>
                </a:lnTo>
                <a:lnTo>
                  <a:pt x="1706270" y="1739773"/>
                </a:lnTo>
                <a:lnTo>
                  <a:pt x="1671345" y="1790065"/>
                </a:lnTo>
                <a:lnTo>
                  <a:pt x="1635023" y="1839087"/>
                </a:lnTo>
                <a:lnTo>
                  <a:pt x="1597177" y="1885823"/>
                </a:lnTo>
                <a:lnTo>
                  <a:pt x="1557680" y="1930146"/>
                </a:lnTo>
                <a:lnTo>
                  <a:pt x="1516405" y="1971675"/>
                </a:lnTo>
                <a:lnTo>
                  <a:pt x="1472463" y="2011680"/>
                </a:lnTo>
                <a:lnTo>
                  <a:pt x="1425727" y="2051304"/>
                </a:lnTo>
                <a:lnTo>
                  <a:pt x="1376832" y="2090547"/>
                </a:lnTo>
                <a:lnTo>
                  <a:pt x="1325905" y="2129028"/>
                </a:lnTo>
                <a:lnTo>
                  <a:pt x="1273327" y="2166874"/>
                </a:lnTo>
                <a:lnTo>
                  <a:pt x="1219352" y="2203958"/>
                </a:lnTo>
                <a:lnTo>
                  <a:pt x="1164361" y="2240026"/>
                </a:lnTo>
                <a:lnTo>
                  <a:pt x="1108862" y="2274912"/>
                </a:lnTo>
                <a:lnTo>
                  <a:pt x="1053109" y="2308720"/>
                </a:lnTo>
                <a:lnTo>
                  <a:pt x="997229" y="2341270"/>
                </a:lnTo>
                <a:lnTo>
                  <a:pt x="941730" y="2372334"/>
                </a:lnTo>
                <a:lnTo>
                  <a:pt x="886993" y="2401951"/>
                </a:lnTo>
                <a:lnTo>
                  <a:pt x="833272" y="2429865"/>
                </a:lnTo>
                <a:lnTo>
                  <a:pt x="780948" y="2456053"/>
                </a:lnTo>
                <a:lnTo>
                  <a:pt x="730275" y="2480386"/>
                </a:lnTo>
                <a:lnTo>
                  <a:pt x="681888" y="2502712"/>
                </a:lnTo>
                <a:lnTo>
                  <a:pt x="635152" y="2522918"/>
                </a:lnTo>
                <a:lnTo>
                  <a:pt x="589051" y="2540977"/>
                </a:lnTo>
                <a:lnTo>
                  <a:pt x="543966" y="2557132"/>
                </a:lnTo>
                <a:lnTo>
                  <a:pt x="499389" y="2571508"/>
                </a:lnTo>
                <a:lnTo>
                  <a:pt x="455574" y="2584259"/>
                </a:lnTo>
                <a:lnTo>
                  <a:pt x="412394" y="2595422"/>
                </a:lnTo>
                <a:lnTo>
                  <a:pt x="369849" y="2605252"/>
                </a:lnTo>
                <a:lnTo>
                  <a:pt x="327558" y="2613761"/>
                </a:lnTo>
                <a:lnTo>
                  <a:pt x="285775" y="2621241"/>
                </a:lnTo>
                <a:lnTo>
                  <a:pt x="244246" y="2627693"/>
                </a:lnTo>
                <a:lnTo>
                  <a:pt x="203225" y="2633370"/>
                </a:lnTo>
                <a:lnTo>
                  <a:pt x="162331" y="2638298"/>
                </a:lnTo>
                <a:lnTo>
                  <a:pt x="81051" y="2646768"/>
                </a:lnTo>
                <a:lnTo>
                  <a:pt x="0" y="2654096"/>
                </a:lnTo>
                <a:lnTo>
                  <a:pt x="2336" y="2679903"/>
                </a:lnTo>
                <a:lnTo>
                  <a:pt x="83337" y="2672562"/>
                </a:lnTo>
                <a:lnTo>
                  <a:pt x="164998" y="2664066"/>
                </a:lnTo>
                <a:lnTo>
                  <a:pt x="206273" y="2659100"/>
                </a:lnTo>
                <a:lnTo>
                  <a:pt x="247802" y="2653347"/>
                </a:lnTo>
                <a:lnTo>
                  <a:pt x="289712" y="2646845"/>
                </a:lnTo>
                <a:lnTo>
                  <a:pt x="332003" y="2639263"/>
                </a:lnTo>
                <a:lnTo>
                  <a:pt x="374929" y="2630639"/>
                </a:lnTo>
                <a:lnTo>
                  <a:pt x="418236" y="2620657"/>
                </a:lnTo>
                <a:lnTo>
                  <a:pt x="462051" y="2609342"/>
                </a:lnTo>
                <a:lnTo>
                  <a:pt x="506628" y="2596375"/>
                </a:lnTo>
                <a:lnTo>
                  <a:pt x="551840" y="2581795"/>
                </a:lnTo>
                <a:lnTo>
                  <a:pt x="597814" y="2565374"/>
                </a:lnTo>
                <a:lnTo>
                  <a:pt x="644550" y="2547035"/>
                </a:lnTo>
                <a:lnTo>
                  <a:pt x="692048" y="2526487"/>
                </a:lnTo>
                <a:lnTo>
                  <a:pt x="741197" y="2503855"/>
                </a:lnTo>
                <a:lnTo>
                  <a:pt x="792124" y="2479408"/>
                </a:lnTo>
                <a:lnTo>
                  <a:pt x="844829" y="2453030"/>
                </a:lnTo>
                <a:lnTo>
                  <a:pt x="898931" y="2424938"/>
                </a:lnTo>
                <a:lnTo>
                  <a:pt x="954049" y="2395118"/>
                </a:lnTo>
                <a:lnTo>
                  <a:pt x="1009929" y="2363889"/>
                </a:lnTo>
                <a:lnTo>
                  <a:pt x="1066063" y="2331097"/>
                </a:lnTo>
                <a:lnTo>
                  <a:pt x="1122324" y="2297074"/>
                </a:lnTo>
                <a:lnTo>
                  <a:pt x="1178204" y="2261870"/>
                </a:lnTo>
                <a:lnTo>
                  <a:pt x="1233576" y="2225548"/>
                </a:lnTo>
                <a:lnTo>
                  <a:pt x="1287932" y="2188337"/>
                </a:lnTo>
                <a:lnTo>
                  <a:pt x="1341018" y="2150110"/>
                </a:lnTo>
                <a:lnTo>
                  <a:pt x="1392453" y="2111121"/>
                </a:lnTo>
                <a:lnTo>
                  <a:pt x="1442110" y="2071497"/>
                </a:lnTo>
                <a:lnTo>
                  <a:pt x="1489354" y="2031238"/>
                </a:lnTo>
                <a:lnTo>
                  <a:pt x="1533931" y="1990725"/>
                </a:lnTo>
                <a:lnTo>
                  <a:pt x="1576349" y="1948180"/>
                </a:lnTo>
                <a:lnTo>
                  <a:pt x="1616735" y="1902841"/>
                </a:lnTo>
                <a:lnTo>
                  <a:pt x="1655343" y="1855089"/>
                </a:lnTo>
                <a:lnTo>
                  <a:pt x="1692173" y="1805559"/>
                </a:lnTo>
                <a:lnTo>
                  <a:pt x="1727606" y="1754505"/>
                </a:lnTo>
                <a:lnTo>
                  <a:pt x="1761769" y="1702562"/>
                </a:lnTo>
                <a:lnTo>
                  <a:pt x="1794789" y="1650111"/>
                </a:lnTo>
                <a:lnTo>
                  <a:pt x="1826793" y="1597406"/>
                </a:lnTo>
                <a:lnTo>
                  <a:pt x="1888642" y="1493774"/>
                </a:lnTo>
                <a:lnTo>
                  <a:pt x="1918868" y="1443482"/>
                </a:lnTo>
                <a:lnTo>
                  <a:pt x="1948713" y="1395095"/>
                </a:lnTo>
                <a:lnTo>
                  <a:pt x="1978431" y="1348867"/>
                </a:lnTo>
                <a:lnTo>
                  <a:pt x="2008276" y="1305179"/>
                </a:lnTo>
                <a:lnTo>
                  <a:pt x="2038248" y="1264666"/>
                </a:lnTo>
                <a:lnTo>
                  <a:pt x="2068474" y="1227582"/>
                </a:lnTo>
                <a:lnTo>
                  <a:pt x="2098827" y="1193927"/>
                </a:lnTo>
                <a:lnTo>
                  <a:pt x="2128545" y="1163574"/>
                </a:lnTo>
                <a:lnTo>
                  <a:pt x="2157882" y="1135761"/>
                </a:lnTo>
                <a:lnTo>
                  <a:pt x="2186711" y="1110488"/>
                </a:lnTo>
                <a:lnTo>
                  <a:pt x="2243480" y="1065403"/>
                </a:lnTo>
                <a:lnTo>
                  <a:pt x="2382926" y="966343"/>
                </a:lnTo>
                <a:lnTo>
                  <a:pt x="2410993" y="945642"/>
                </a:lnTo>
                <a:lnTo>
                  <a:pt x="2467381" y="900430"/>
                </a:lnTo>
                <a:lnTo>
                  <a:pt x="2495956" y="875157"/>
                </a:lnTo>
                <a:lnTo>
                  <a:pt x="2524785" y="847471"/>
                </a:lnTo>
                <a:lnTo>
                  <a:pt x="2553614" y="817626"/>
                </a:lnTo>
                <a:lnTo>
                  <a:pt x="2582443" y="786003"/>
                </a:lnTo>
                <a:lnTo>
                  <a:pt x="2611272" y="752856"/>
                </a:lnTo>
                <a:lnTo>
                  <a:pt x="2639974" y="718439"/>
                </a:lnTo>
                <a:lnTo>
                  <a:pt x="2668676" y="683260"/>
                </a:lnTo>
                <a:lnTo>
                  <a:pt x="2697378" y="647446"/>
                </a:lnTo>
                <a:lnTo>
                  <a:pt x="2783103" y="538607"/>
                </a:lnTo>
                <a:lnTo>
                  <a:pt x="2811678" y="502920"/>
                </a:lnTo>
                <a:lnTo>
                  <a:pt x="2840126" y="467995"/>
                </a:lnTo>
                <a:lnTo>
                  <a:pt x="2868574" y="433959"/>
                </a:lnTo>
                <a:lnTo>
                  <a:pt x="2897022" y="401320"/>
                </a:lnTo>
                <a:lnTo>
                  <a:pt x="2925343" y="370332"/>
                </a:lnTo>
                <a:lnTo>
                  <a:pt x="2953664" y="341122"/>
                </a:lnTo>
                <a:lnTo>
                  <a:pt x="2981858" y="314198"/>
                </a:lnTo>
                <a:lnTo>
                  <a:pt x="3011068" y="288671"/>
                </a:lnTo>
                <a:lnTo>
                  <a:pt x="3041802" y="263779"/>
                </a:lnTo>
                <a:lnTo>
                  <a:pt x="3074060" y="239522"/>
                </a:lnTo>
                <a:lnTo>
                  <a:pt x="3107207" y="216027"/>
                </a:lnTo>
                <a:lnTo>
                  <a:pt x="3140989" y="193294"/>
                </a:lnTo>
                <a:lnTo>
                  <a:pt x="3174898" y="171323"/>
                </a:lnTo>
                <a:lnTo>
                  <a:pt x="3208553" y="150241"/>
                </a:lnTo>
                <a:lnTo>
                  <a:pt x="3241573" y="130175"/>
                </a:lnTo>
                <a:lnTo>
                  <a:pt x="3358172" y="61628"/>
                </a:lnTo>
                <a:lnTo>
                  <a:pt x="3365144" y="42545"/>
                </a:lnTo>
                <a:lnTo>
                  <a:pt x="3342089" y="41050"/>
                </a:lnTo>
                <a:close/>
              </a:path>
              <a:path w="3430270" h="2680335">
                <a:moveTo>
                  <a:pt x="3403693" y="31369"/>
                </a:moveTo>
                <a:lnTo>
                  <a:pt x="3358540" y="31369"/>
                </a:lnTo>
                <a:lnTo>
                  <a:pt x="3371748" y="53594"/>
                </a:lnTo>
                <a:lnTo>
                  <a:pt x="3358172" y="61628"/>
                </a:lnTo>
                <a:lnTo>
                  <a:pt x="3342919" y="103378"/>
                </a:lnTo>
                <a:lnTo>
                  <a:pt x="3403693" y="31369"/>
                </a:lnTo>
                <a:close/>
              </a:path>
              <a:path w="3430270" h="2680335">
                <a:moveTo>
                  <a:pt x="3358540" y="31369"/>
                </a:moveTo>
                <a:lnTo>
                  <a:pt x="3342089" y="41050"/>
                </a:lnTo>
                <a:lnTo>
                  <a:pt x="3365144" y="42545"/>
                </a:lnTo>
                <a:lnTo>
                  <a:pt x="3358172" y="61628"/>
                </a:lnTo>
                <a:lnTo>
                  <a:pt x="3371748" y="53594"/>
                </a:lnTo>
                <a:lnTo>
                  <a:pt x="3358540" y="31369"/>
                </a:lnTo>
                <a:close/>
              </a:path>
              <a:path w="3430270" h="2680335">
                <a:moveTo>
                  <a:pt x="3430168" y="0"/>
                </a:moveTo>
                <a:lnTo>
                  <a:pt x="3300501" y="38354"/>
                </a:lnTo>
                <a:lnTo>
                  <a:pt x="3342089" y="41050"/>
                </a:lnTo>
                <a:lnTo>
                  <a:pt x="3358540" y="31369"/>
                </a:lnTo>
                <a:lnTo>
                  <a:pt x="3403693" y="31369"/>
                </a:lnTo>
                <a:lnTo>
                  <a:pt x="3430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40713" y="3400805"/>
            <a:ext cx="3276600" cy="0"/>
          </a:xfrm>
          <a:custGeom>
            <a:avLst/>
            <a:gdLst/>
            <a:ahLst/>
            <a:cxnLst/>
            <a:rect l="l" t="t" r="r" b="b"/>
            <a:pathLst>
              <a:path w="3276600">
                <a:moveTo>
                  <a:pt x="32766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30769" y="3613530"/>
            <a:ext cx="3439160" cy="2386965"/>
          </a:xfrm>
          <a:custGeom>
            <a:avLst/>
            <a:gdLst/>
            <a:ahLst/>
            <a:cxnLst/>
            <a:rect l="l" t="t" r="r" b="b"/>
            <a:pathLst>
              <a:path w="3439160" h="2386965">
                <a:moveTo>
                  <a:pt x="3341934" y="18965"/>
                </a:moveTo>
                <a:lnTo>
                  <a:pt x="3269780" y="28956"/>
                </a:lnTo>
                <a:lnTo>
                  <a:pt x="3193580" y="41275"/>
                </a:lnTo>
                <a:lnTo>
                  <a:pt x="3152559" y="49149"/>
                </a:lnTo>
                <a:lnTo>
                  <a:pt x="3109506" y="58293"/>
                </a:lnTo>
                <a:lnTo>
                  <a:pt x="3064929" y="69342"/>
                </a:lnTo>
                <a:lnTo>
                  <a:pt x="3018955" y="82042"/>
                </a:lnTo>
                <a:lnTo>
                  <a:pt x="2971711" y="97028"/>
                </a:lnTo>
                <a:lnTo>
                  <a:pt x="2923197" y="114173"/>
                </a:lnTo>
                <a:lnTo>
                  <a:pt x="2873921" y="133985"/>
                </a:lnTo>
                <a:lnTo>
                  <a:pt x="2823629" y="156591"/>
                </a:lnTo>
                <a:lnTo>
                  <a:pt x="2771051" y="182753"/>
                </a:lnTo>
                <a:lnTo>
                  <a:pt x="2714282" y="212852"/>
                </a:lnTo>
                <a:lnTo>
                  <a:pt x="2654211" y="246253"/>
                </a:lnTo>
                <a:lnTo>
                  <a:pt x="2591219" y="282702"/>
                </a:lnTo>
                <a:lnTo>
                  <a:pt x="2525814" y="321564"/>
                </a:lnTo>
                <a:lnTo>
                  <a:pt x="2390813" y="404622"/>
                </a:lnTo>
                <a:lnTo>
                  <a:pt x="2186343" y="535051"/>
                </a:lnTo>
                <a:lnTo>
                  <a:pt x="1741970" y="826135"/>
                </a:lnTo>
                <a:lnTo>
                  <a:pt x="1700949" y="853821"/>
                </a:lnTo>
                <a:lnTo>
                  <a:pt x="1662341" y="880364"/>
                </a:lnTo>
                <a:lnTo>
                  <a:pt x="1590967" y="930275"/>
                </a:lnTo>
                <a:lnTo>
                  <a:pt x="1526197" y="977011"/>
                </a:lnTo>
                <a:lnTo>
                  <a:pt x="1466380" y="1021207"/>
                </a:lnTo>
                <a:lnTo>
                  <a:pt x="1269530" y="1169670"/>
                </a:lnTo>
                <a:lnTo>
                  <a:pt x="1216444" y="1210564"/>
                </a:lnTo>
                <a:lnTo>
                  <a:pt x="1143165" y="1268730"/>
                </a:lnTo>
                <a:lnTo>
                  <a:pt x="962825" y="1416050"/>
                </a:lnTo>
                <a:lnTo>
                  <a:pt x="916343" y="1453515"/>
                </a:lnTo>
                <a:lnTo>
                  <a:pt x="892975" y="1471803"/>
                </a:lnTo>
                <a:lnTo>
                  <a:pt x="870115" y="1489202"/>
                </a:lnTo>
                <a:lnTo>
                  <a:pt x="847509" y="1505966"/>
                </a:lnTo>
                <a:lnTo>
                  <a:pt x="735622" y="1586611"/>
                </a:lnTo>
                <a:lnTo>
                  <a:pt x="712762" y="1603756"/>
                </a:lnTo>
                <a:lnTo>
                  <a:pt x="665391" y="1640713"/>
                </a:lnTo>
                <a:lnTo>
                  <a:pt x="615480" y="1682877"/>
                </a:lnTo>
                <a:lnTo>
                  <a:pt x="562394" y="1731772"/>
                </a:lnTo>
                <a:lnTo>
                  <a:pt x="534073" y="1759331"/>
                </a:lnTo>
                <a:lnTo>
                  <a:pt x="504990" y="1788922"/>
                </a:lnTo>
                <a:lnTo>
                  <a:pt x="475018" y="1820164"/>
                </a:lnTo>
                <a:lnTo>
                  <a:pt x="444284" y="1852930"/>
                </a:lnTo>
                <a:lnTo>
                  <a:pt x="412915" y="1887220"/>
                </a:lnTo>
                <a:lnTo>
                  <a:pt x="380784" y="1922780"/>
                </a:lnTo>
                <a:lnTo>
                  <a:pt x="348018" y="1959483"/>
                </a:lnTo>
                <a:lnTo>
                  <a:pt x="314871" y="1997341"/>
                </a:lnTo>
                <a:lnTo>
                  <a:pt x="281089" y="2036267"/>
                </a:lnTo>
                <a:lnTo>
                  <a:pt x="246926" y="2076005"/>
                </a:lnTo>
                <a:lnTo>
                  <a:pt x="177457" y="2157717"/>
                </a:lnTo>
                <a:lnTo>
                  <a:pt x="0" y="2369781"/>
                </a:lnTo>
                <a:lnTo>
                  <a:pt x="19888" y="2386368"/>
                </a:lnTo>
                <a:lnTo>
                  <a:pt x="197269" y="2174379"/>
                </a:lnTo>
                <a:lnTo>
                  <a:pt x="300774" y="2053132"/>
                </a:lnTo>
                <a:lnTo>
                  <a:pt x="334429" y="2014321"/>
                </a:lnTo>
                <a:lnTo>
                  <a:pt x="367576" y="1976564"/>
                </a:lnTo>
                <a:lnTo>
                  <a:pt x="400088" y="1939925"/>
                </a:lnTo>
                <a:lnTo>
                  <a:pt x="463334" y="1870456"/>
                </a:lnTo>
                <a:lnTo>
                  <a:pt x="493941" y="1837944"/>
                </a:lnTo>
                <a:lnTo>
                  <a:pt x="523659" y="1806829"/>
                </a:lnTo>
                <a:lnTo>
                  <a:pt x="566585" y="1763649"/>
                </a:lnTo>
                <a:lnTo>
                  <a:pt x="607098" y="1725295"/>
                </a:lnTo>
                <a:lnTo>
                  <a:pt x="657771" y="1680718"/>
                </a:lnTo>
                <a:lnTo>
                  <a:pt x="705396" y="1641983"/>
                </a:lnTo>
                <a:lnTo>
                  <a:pt x="751116" y="1607439"/>
                </a:lnTo>
                <a:lnTo>
                  <a:pt x="840270" y="1543304"/>
                </a:lnTo>
                <a:lnTo>
                  <a:pt x="885482" y="1510157"/>
                </a:lnTo>
                <a:lnTo>
                  <a:pt x="908596" y="1492504"/>
                </a:lnTo>
                <a:lnTo>
                  <a:pt x="932345" y="1473835"/>
                </a:lnTo>
                <a:lnTo>
                  <a:pt x="979081" y="1436243"/>
                </a:lnTo>
                <a:lnTo>
                  <a:pt x="1113574" y="1326007"/>
                </a:lnTo>
                <a:lnTo>
                  <a:pt x="1183170" y="1269873"/>
                </a:lnTo>
                <a:lnTo>
                  <a:pt x="1207427" y="1250569"/>
                </a:lnTo>
                <a:lnTo>
                  <a:pt x="1258354" y="1210818"/>
                </a:lnTo>
                <a:lnTo>
                  <a:pt x="1341412" y="1147826"/>
                </a:lnTo>
                <a:lnTo>
                  <a:pt x="1369479" y="1126871"/>
                </a:lnTo>
                <a:lnTo>
                  <a:pt x="1481874" y="1042035"/>
                </a:lnTo>
                <a:lnTo>
                  <a:pt x="1541564" y="997839"/>
                </a:lnTo>
                <a:lnTo>
                  <a:pt x="1606080" y="951357"/>
                </a:lnTo>
                <a:lnTo>
                  <a:pt x="1640624" y="926973"/>
                </a:lnTo>
                <a:lnTo>
                  <a:pt x="1696123" y="888492"/>
                </a:lnTo>
                <a:lnTo>
                  <a:pt x="1777657" y="833501"/>
                </a:lnTo>
                <a:lnTo>
                  <a:pt x="2200567" y="556768"/>
                </a:lnTo>
                <a:lnTo>
                  <a:pt x="2336203" y="469646"/>
                </a:lnTo>
                <a:lnTo>
                  <a:pt x="2472474" y="384429"/>
                </a:lnTo>
                <a:lnTo>
                  <a:pt x="2539276" y="343789"/>
                </a:lnTo>
                <a:lnTo>
                  <a:pt x="2604427" y="305054"/>
                </a:lnTo>
                <a:lnTo>
                  <a:pt x="2667165" y="268732"/>
                </a:lnTo>
                <a:lnTo>
                  <a:pt x="2755430" y="220218"/>
                </a:lnTo>
                <a:lnTo>
                  <a:pt x="2809532" y="192278"/>
                </a:lnTo>
                <a:lnTo>
                  <a:pt x="2859697" y="168529"/>
                </a:lnTo>
                <a:lnTo>
                  <a:pt x="2908465" y="147828"/>
                </a:lnTo>
                <a:lnTo>
                  <a:pt x="2956471" y="129667"/>
                </a:lnTo>
                <a:lnTo>
                  <a:pt x="3003588" y="113919"/>
                </a:lnTo>
                <a:lnTo>
                  <a:pt x="3071914" y="94234"/>
                </a:lnTo>
                <a:lnTo>
                  <a:pt x="3115729" y="83566"/>
                </a:lnTo>
                <a:lnTo>
                  <a:pt x="3158020" y="74422"/>
                </a:lnTo>
                <a:lnTo>
                  <a:pt x="3198533" y="66675"/>
                </a:lnTo>
                <a:lnTo>
                  <a:pt x="3237141" y="60198"/>
                </a:lnTo>
                <a:lnTo>
                  <a:pt x="3291116" y="52070"/>
                </a:lnTo>
                <a:lnTo>
                  <a:pt x="3324390" y="47625"/>
                </a:lnTo>
                <a:lnTo>
                  <a:pt x="3340138" y="45339"/>
                </a:lnTo>
                <a:lnTo>
                  <a:pt x="3348327" y="44298"/>
                </a:lnTo>
                <a:lnTo>
                  <a:pt x="3362363" y="29337"/>
                </a:lnTo>
                <a:lnTo>
                  <a:pt x="3341934" y="18965"/>
                </a:lnTo>
                <a:close/>
              </a:path>
              <a:path w="3439160" h="2386965">
                <a:moveTo>
                  <a:pt x="3437679" y="16510"/>
                </a:moveTo>
                <a:lnTo>
                  <a:pt x="3360585" y="16510"/>
                </a:lnTo>
                <a:lnTo>
                  <a:pt x="3364141" y="42164"/>
                </a:lnTo>
                <a:lnTo>
                  <a:pt x="3355124" y="43434"/>
                </a:lnTo>
                <a:lnTo>
                  <a:pt x="3348327" y="44298"/>
                </a:lnTo>
                <a:lnTo>
                  <a:pt x="3318040" y="76581"/>
                </a:lnTo>
                <a:lnTo>
                  <a:pt x="3437679" y="16510"/>
                </a:lnTo>
                <a:close/>
              </a:path>
              <a:path w="3439160" h="2386965">
                <a:moveTo>
                  <a:pt x="3362363" y="29337"/>
                </a:moveTo>
                <a:lnTo>
                  <a:pt x="3348327" y="44298"/>
                </a:lnTo>
                <a:lnTo>
                  <a:pt x="3355124" y="43434"/>
                </a:lnTo>
                <a:lnTo>
                  <a:pt x="3364141" y="42164"/>
                </a:lnTo>
                <a:lnTo>
                  <a:pt x="3362363" y="29337"/>
                </a:lnTo>
                <a:close/>
              </a:path>
              <a:path w="3439160" h="2386965">
                <a:moveTo>
                  <a:pt x="3360585" y="16510"/>
                </a:moveTo>
                <a:lnTo>
                  <a:pt x="3341934" y="18965"/>
                </a:lnTo>
                <a:lnTo>
                  <a:pt x="3362363" y="29337"/>
                </a:lnTo>
                <a:lnTo>
                  <a:pt x="3360585" y="16510"/>
                </a:lnTo>
                <a:close/>
              </a:path>
              <a:path w="3439160" h="2386965">
                <a:moveTo>
                  <a:pt x="3304578" y="0"/>
                </a:moveTo>
                <a:lnTo>
                  <a:pt x="3341934" y="18965"/>
                </a:lnTo>
                <a:lnTo>
                  <a:pt x="3360585" y="16510"/>
                </a:lnTo>
                <a:lnTo>
                  <a:pt x="3437679" y="16510"/>
                </a:lnTo>
                <a:lnTo>
                  <a:pt x="3438944" y="15875"/>
                </a:lnTo>
                <a:lnTo>
                  <a:pt x="3304578" y="0"/>
                </a:lnTo>
                <a:close/>
              </a:path>
            </a:pathLst>
          </a:custGeom>
          <a:solidFill>
            <a:srgbClr val="AFA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30467" y="3162426"/>
            <a:ext cx="2445385" cy="1209675"/>
          </a:xfrm>
          <a:custGeom>
            <a:avLst/>
            <a:gdLst/>
            <a:ahLst/>
            <a:cxnLst/>
            <a:rect l="l" t="t" r="r" b="b"/>
            <a:pathLst>
              <a:path w="2445384" h="1209675">
                <a:moveTo>
                  <a:pt x="0" y="0"/>
                </a:moveTo>
                <a:lnTo>
                  <a:pt x="1080770" y="444373"/>
                </a:lnTo>
                <a:lnTo>
                  <a:pt x="1131830" y="432274"/>
                </a:lnTo>
                <a:lnTo>
                  <a:pt x="1183803" y="421759"/>
                </a:lnTo>
                <a:lnTo>
                  <a:pt x="1236544" y="412809"/>
                </a:lnTo>
                <a:lnTo>
                  <a:pt x="1289905" y="405405"/>
                </a:lnTo>
                <a:lnTo>
                  <a:pt x="1343741" y="399530"/>
                </a:lnTo>
                <a:lnTo>
                  <a:pt x="1397906" y="395166"/>
                </a:lnTo>
                <a:lnTo>
                  <a:pt x="1452255" y="392295"/>
                </a:lnTo>
                <a:lnTo>
                  <a:pt x="1506641" y="390899"/>
                </a:lnTo>
                <a:lnTo>
                  <a:pt x="1560919" y="390960"/>
                </a:lnTo>
                <a:lnTo>
                  <a:pt x="1614943" y="392460"/>
                </a:lnTo>
                <a:lnTo>
                  <a:pt x="1668566" y="395381"/>
                </a:lnTo>
                <a:lnTo>
                  <a:pt x="1721644" y="399705"/>
                </a:lnTo>
                <a:lnTo>
                  <a:pt x="1774031" y="405415"/>
                </a:lnTo>
                <a:lnTo>
                  <a:pt x="1825580" y="412492"/>
                </a:lnTo>
                <a:lnTo>
                  <a:pt x="1876145" y="420919"/>
                </a:lnTo>
                <a:lnTo>
                  <a:pt x="1925581" y="430677"/>
                </a:lnTo>
                <a:lnTo>
                  <a:pt x="1973742" y="441748"/>
                </a:lnTo>
                <a:lnTo>
                  <a:pt x="2020483" y="454115"/>
                </a:lnTo>
                <a:lnTo>
                  <a:pt x="2065656" y="467759"/>
                </a:lnTo>
                <a:lnTo>
                  <a:pt x="2109117" y="482663"/>
                </a:lnTo>
                <a:lnTo>
                  <a:pt x="2150719" y="498809"/>
                </a:lnTo>
                <a:lnTo>
                  <a:pt x="2190318" y="516178"/>
                </a:lnTo>
                <a:lnTo>
                  <a:pt x="2227766" y="534754"/>
                </a:lnTo>
                <a:lnTo>
                  <a:pt x="2262918" y="554517"/>
                </a:lnTo>
                <a:lnTo>
                  <a:pt x="2295628" y="575450"/>
                </a:lnTo>
                <a:lnTo>
                  <a:pt x="2358658" y="625944"/>
                </a:lnTo>
                <a:lnTo>
                  <a:pt x="2386166" y="654955"/>
                </a:lnTo>
                <a:lnTo>
                  <a:pt x="2425286" y="714286"/>
                </a:lnTo>
                <a:lnTo>
                  <a:pt x="2443721" y="774535"/>
                </a:lnTo>
                <a:lnTo>
                  <a:pt x="2445370" y="804695"/>
                </a:lnTo>
                <a:lnTo>
                  <a:pt x="2442077" y="834712"/>
                </a:lnTo>
                <a:lnTo>
                  <a:pt x="2420963" y="893824"/>
                </a:lnTo>
                <a:lnTo>
                  <a:pt x="2380988" y="950879"/>
                </a:lnTo>
                <a:lnTo>
                  <a:pt x="2354117" y="978325"/>
                </a:lnTo>
                <a:lnTo>
                  <a:pt x="2322759" y="1004885"/>
                </a:lnTo>
                <a:lnTo>
                  <a:pt x="2286990" y="1030434"/>
                </a:lnTo>
                <a:lnTo>
                  <a:pt x="2246885" y="1054849"/>
                </a:lnTo>
                <a:lnTo>
                  <a:pt x="2202521" y="1078007"/>
                </a:lnTo>
                <a:lnTo>
                  <a:pt x="2153974" y="1099781"/>
                </a:lnTo>
                <a:lnTo>
                  <a:pt x="2101320" y="1120050"/>
                </a:lnTo>
                <a:lnTo>
                  <a:pt x="2044634" y="1138688"/>
                </a:lnTo>
                <a:lnTo>
                  <a:pt x="1983993" y="1155573"/>
                </a:lnTo>
                <a:lnTo>
                  <a:pt x="1932933" y="1167671"/>
                </a:lnTo>
                <a:lnTo>
                  <a:pt x="1880960" y="1178186"/>
                </a:lnTo>
                <a:lnTo>
                  <a:pt x="1828219" y="1187136"/>
                </a:lnTo>
                <a:lnTo>
                  <a:pt x="1774858" y="1194540"/>
                </a:lnTo>
                <a:lnTo>
                  <a:pt x="1721022" y="1200415"/>
                </a:lnTo>
                <a:lnTo>
                  <a:pt x="1666857" y="1204779"/>
                </a:lnTo>
                <a:lnTo>
                  <a:pt x="1612508" y="1207650"/>
                </a:lnTo>
                <a:lnTo>
                  <a:pt x="1558122" y="1209046"/>
                </a:lnTo>
                <a:lnTo>
                  <a:pt x="1503844" y="1208985"/>
                </a:lnTo>
                <a:lnTo>
                  <a:pt x="1449820" y="1207485"/>
                </a:lnTo>
                <a:lnTo>
                  <a:pt x="1396197" y="1204564"/>
                </a:lnTo>
                <a:lnTo>
                  <a:pt x="1343119" y="1200240"/>
                </a:lnTo>
                <a:lnTo>
                  <a:pt x="1290732" y="1194530"/>
                </a:lnTo>
                <a:lnTo>
                  <a:pt x="1239183" y="1187453"/>
                </a:lnTo>
                <a:lnTo>
                  <a:pt x="1188618" y="1179026"/>
                </a:lnTo>
                <a:lnTo>
                  <a:pt x="1139182" y="1169268"/>
                </a:lnTo>
                <a:lnTo>
                  <a:pt x="1091021" y="1158197"/>
                </a:lnTo>
                <a:lnTo>
                  <a:pt x="1044280" y="1145830"/>
                </a:lnTo>
                <a:lnTo>
                  <a:pt x="999107" y="1132186"/>
                </a:lnTo>
                <a:lnTo>
                  <a:pt x="955646" y="1117282"/>
                </a:lnTo>
                <a:lnTo>
                  <a:pt x="914044" y="1101136"/>
                </a:lnTo>
                <a:lnTo>
                  <a:pt x="874445" y="1083767"/>
                </a:lnTo>
                <a:lnTo>
                  <a:pt x="836997" y="1065191"/>
                </a:lnTo>
                <a:lnTo>
                  <a:pt x="801845" y="1045428"/>
                </a:lnTo>
                <a:lnTo>
                  <a:pt x="769135" y="1024495"/>
                </a:lnTo>
                <a:lnTo>
                  <a:pt x="700349" y="968351"/>
                </a:lnTo>
                <a:lnTo>
                  <a:pt x="669267" y="933266"/>
                </a:lnTo>
                <a:lnTo>
                  <a:pt x="645726" y="897387"/>
                </a:lnTo>
                <a:lnTo>
                  <a:pt x="629687" y="860948"/>
                </a:lnTo>
                <a:lnTo>
                  <a:pt x="619960" y="787316"/>
                </a:lnTo>
                <a:lnTo>
                  <a:pt x="626194" y="750589"/>
                </a:lnTo>
                <a:lnTo>
                  <a:pt x="639773" y="714230"/>
                </a:lnTo>
                <a:lnTo>
                  <a:pt x="660659" y="678472"/>
                </a:lnTo>
                <a:lnTo>
                  <a:pt x="688812" y="643548"/>
                </a:lnTo>
                <a:lnTo>
                  <a:pt x="724193" y="609689"/>
                </a:lnTo>
                <a:lnTo>
                  <a:pt x="766763" y="577129"/>
                </a:lnTo>
                <a:lnTo>
                  <a:pt x="816483" y="546100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775F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0109" y="4520819"/>
            <a:ext cx="2510790" cy="1146810"/>
          </a:xfrm>
          <a:custGeom>
            <a:avLst/>
            <a:gdLst/>
            <a:ahLst/>
            <a:cxnLst/>
            <a:rect l="l" t="t" r="r" b="b"/>
            <a:pathLst>
              <a:path w="2510790" h="1146810">
                <a:moveTo>
                  <a:pt x="0" y="0"/>
                </a:moveTo>
                <a:lnTo>
                  <a:pt x="1109599" y="421258"/>
                </a:lnTo>
                <a:lnTo>
                  <a:pt x="1160062" y="410177"/>
                </a:lnTo>
                <a:lnTo>
                  <a:pt x="1211401" y="400489"/>
                </a:lnTo>
                <a:lnTo>
                  <a:pt x="1263480" y="392178"/>
                </a:lnTo>
                <a:lnTo>
                  <a:pt x="1316167" y="385229"/>
                </a:lnTo>
                <a:lnTo>
                  <a:pt x="1369327" y="379627"/>
                </a:lnTo>
                <a:lnTo>
                  <a:pt x="1422828" y="375358"/>
                </a:lnTo>
                <a:lnTo>
                  <a:pt x="1476534" y="372405"/>
                </a:lnTo>
                <a:lnTo>
                  <a:pt x="1530312" y="370753"/>
                </a:lnTo>
                <a:lnTo>
                  <a:pt x="1584028" y="370388"/>
                </a:lnTo>
                <a:lnTo>
                  <a:pt x="1637549" y="371294"/>
                </a:lnTo>
                <a:lnTo>
                  <a:pt x="1690741" y="373455"/>
                </a:lnTo>
                <a:lnTo>
                  <a:pt x="1743470" y="376858"/>
                </a:lnTo>
                <a:lnTo>
                  <a:pt x="1795601" y="381485"/>
                </a:lnTo>
                <a:lnTo>
                  <a:pt x="1847003" y="387323"/>
                </a:lnTo>
                <a:lnTo>
                  <a:pt x="1897539" y="394356"/>
                </a:lnTo>
                <a:lnTo>
                  <a:pt x="1947078" y="402568"/>
                </a:lnTo>
                <a:lnTo>
                  <a:pt x="1995484" y="411946"/>
                </a:lnTo>
                <a:lnTo>
                  <a:pt x="2042625" y="422472"/>
                </a:lnTo>
                <a:lnTo>
                  <a:pt x="2088366" y="434133"/>
                </a:lnTo>
                <a:lnTo>
                  <a:pt x="2132574" y="446912"/>
                </a:lnTo>
                <a:lnTo>
                  <a:pt x="2175114" y="460795"/>
                </a:lnTo>
                <a:lnTo>
                  <a:pt x="2215854" y="475767"/>
                </a:lnTo>
                <a:lnTo>
                  <a:pt x="2254659" y="491812"/>
                </a:lnTo>
                <a:lnTo>
                  <a:pt x="2291395" y="508915"/>
                </a:lnTo>
                <a:lnTo>
                  <a:pt x="2325928" y="527060"/>
                </a:lnTo>
                <a:lnTo>
                  <a:pt x="2387854" y="566419"/>
                </a:lnTo>
                <a:lnTo>
                  <a:pt x="2421632" y="593342"/>
                </a:lnTo>
                <a:lnTo>
                  <a:pt x="2449868" y="620836"/>
                </a:lnTo>
                <a:lnTo>
                  <a:pt x="2490023" y="677070"/>
                </a:lnTo>
                <a:lnTo>
                  <a:pt x="2508943" y="734178"/>
                </a:lnTo>
                <a:lnTo>
                  <a:pt x="2510634" y="762767"/>
                </a:lnTo>
                <a:lnTo>
                  <a:pt x="2507251" y="791221"/>
                </a:lnTo>
                <a:lnTo>
                  <a:pt x="2485572" y="847256"/>
                </a:lnTo>
                <a:lnTo>
                  <a:pt x="2444530" y="901343"/>
                </a:lnTo>
                <a:lnTo>
                  <a:pt x="2384749" y="952541"/>
                </a:lnTo>
                <a:lnTo>
                  <a:pt x="2348026" y="976762"/>
                </a:lnTo>
                <a:lnTo>
                  <a:pt x="2306853" y="999907"/>
                </a:lnTo>
                <a:lnTo>
                  <a:pt x="2261306" y="1021860"/>
                </a:lnTo>
                <a:lnTo>
                  <a:pt x="2211465" y="1042502"/>
                </a:lnTo>
                <a:lnTo>
                  <a:pt x="2157407" y="1061716"/>
                </a:lnTo>
                <a:lnTo>
                  <a:pt x="2099210" y="1079383"/>
                </a:lnTo>
                <a:lnTo>
                  <a:pt x="2036952" y="1095387"/>
                </a:lnTo>
                <a:lnTo>
                  <a:pt x="1986489" y="1106460"/>
                </a:lnTo>
                <a:lnTo>
                  <a:pt x="1935152" y="1116142"/>
                </a:lnTo>
                <a:lnTo>
                  <a:pt x="1883075" y="1124446"/>
                </a:lnTo>
                <a:lnTo>
                  <a:pt x="1830391" y="1131389"/>
                </a:lnTo>
                <a:lnTo>
                  <a:pt x="1777234" y="1136985"/>
                </a:lnTo>
                <a:lnTo>
                  <a:pt x="1723738" y="1141250"/>
                </a:lnTo>
                <a:lnTo>
                  <a:pt x="1670036" y="1144199"/>
                </a:lnTo>
                <a:lnTo>
                  <a:pt x="1616263" y="1145847"/>
                </a:lnTo>
                <a:lnTo>
                  <a:pt x="1562551" y="1146209"/>
                </a:lnTo>
                <a:lnTo>
                  <a:pt x="1509035" y="1145301"/>
                </a:lnTo>
                <a:lnTo>
                  <a:pt x="1455848" y="1143138"/>
                </a:lnTo>
                <a:lnTo>
                  <a:pt x="1403123" y="1139735"/>
                </a:lnTo>
                <a:lnTo>
                  <a:pt x="1350995" y="1135107"/>
                </a:lnTo>
                <a:lnTo>
                  <a:pt x="1299598" y="1129269"/>
                </a:lnTo>
                <a:lnTo>
                  <a:pt x="1249064" y="1122236"/>
                </a:lnTo>
                <a:lnTo>
                  <a:pt x="1199528" y="1114025"/>
                </a:lnTo>
                <a:lnTo>
                  <a:pt x="1151122" y="1104649"/>
                </a:lnTo>
                <a:lnTo>
                  <a:pt x="1103982" y="1094125"/>
                </a:lnTo>
                <a:lnTo>
                  <a:pt x="1058241" y="1082467"/>
                </a:lnTo>
                <a:lnTo>
                  <a:pt x="1014031" y="1069690"/>
                </a:lnTo>
                <a:lnTo>
                  <a:pt x="971488" y="1055810"/>
                </a:lnTo>
                <a:lnTo>
                  <a:pt x="930744" y="1040842"/>
                </a:lnTo>
                <a:lnTo>
                  <a:pt x="891933" y="1024801"/>
                </a:lnTo>
                <a:lnTo>
                  <a:pt x="855190" y="1007703"/>
                </a:lnTo>
                <a:lnTo>
                  <a:pt x="820647" y="989562"/>
                </a:lnTo>
                <a:lnTo>
                  <a:pt x="758698" y="950213"/>
                </a:lnTo>
                <a:lnTo>
                  <a:pt x="718995" y="917940"/>
                </a:lnTo>
                <a:lnTo>
                  <a:pt x="687078" y="884688"/>
                </a:lnTo>
                <a:lnTo>
                  <a:pt x="662907" y="850679"/>
                </a:lnTo>
                <a:lnTo>
                  <a:pt x="646441" y="816135"/>
                </a:lnTo>
                <a:lnTo>
                  <a:pt x="636458" y="746326"/>
                </a:lnTo>
                <a:lnTo>
                  <a:pt x="642860" y="711503"/>
                </a:lnTo>
                <a:lnTo>
                  <a:pt x="678246" y="643127"/>
                </a:lnTo>
                <a:lnTo>
                  <a:pt x="707148" y="610017"/>
                </a:lnTo>
                <a:lnTo>
                  <a:pt x="743468" y="577920"/>
                </a:lnTo>
                <a:lnTo>
                  <a:pt x="787166" y="547058"/>
                </a:lnTo>
                <a:lnTo>
                  <a:pt x="838200" y="517651"/>
                </a:lnTo>
                <a:lnTo>
                  <a:pt x="0" y="0"/>
                </a:lnTo>
                <a:close/>
              </a:path>
            </a:pathLst>
          </a:custGeom>
          <a:ln w="25907">
            <a:solidFill>
              <a:srgbClr val="775F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440428" y="5032324"/>
            <a:ext cx="1106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5" dirty="0">
                <a:solidFill>
                  <a:srgbClr val="775F54"/>
                </a:solidFill>
                <a:latin typeface="Arial Rounded MT Bold"/>
                <a:cs typeface="Arial Rounded MT Bold"/>
              </a:rPr>
              <a:t>A</a:t>
            </a:r>
            <a:r>
              <a:rPr sz="2800" spc="-10" dirty="0">
                <a:solidFill>
                  <a:srgbClr val="775F54"/>
                </a:solidFill>
                <a:latin typeface="Arial Rounded MT Bold"/>
                <a:cs typeface="Arial Rounded MT Bold"/>
              </a:rPr>
              <a:t>CWP</a:t>
            </a:r>
            <a:endParaRPr sz="2800">
              <a:latin typeface="Arial Rounded MT Bold"/>
              <a:cs typeface="Arial Rounded MT Bold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93490" y="1907154"/>
            <a:ext cx="3253104" cy="2371090"/>
          </a:xfrm>
          <a:custGeom>
            <a:avLst/>
            <a:gdLst/>
            <a:ahLst/>
            <a:cxnLst/>
            <a:rect l="l" t="t" r="r" b="b"/>
            <a:pathLst>
              <a:path w="3253104" h="2371090">
                <a:moveTo>
                  <a:pt x="1775667" y="2370840"/>
                </a:moveTo>
                <a:lnTo>
                  <a:pt x="1372188" y="1302770"/>
                </a:lnTo>
                <a:lnTo>
                  <a:pt x="1304523" y="1297867"/>
                </a:lnTo>
                <a:lnTo>
                  <a:pt x="1238015" y="1291889"/>
                </a:lnTo>
                <a:lnTo>
                  <a:pt x="1172712" y="1284863"/>
                </a:lnTo>
                <a:lnTo>
                  <a:pt x="1108661" y="1276814"/>
                </a:lnTo>
                <a:lnTo>
                  <a:pt x="1045908" y="1267768"/>
                </a:lnTo>
                <a:lnTo>
                  <a:pt x="984501" y="1257752"/>
                </a:lnTo>
                <a:lnTo>
                  <a:pt x="924486" y="1246792"/>
                </a:lnTo>
                <a:lnTo>
                  <a:pt x="865910" y="1234913"/>
                </a:lnTo>
                <a:lnTo>
                  <a:pt x="808821" y="1222141"/>
                </a:lnTo>
                <a:lnTo>
                  <a:pt x="753264" y="1208503"/>
                </a:lnTo>
                <a:lnTo>
                  <a:pt x="699289" y="1194025"/>
                </a:lnTo>
                <a:lnTo>
                  <a:pt x="646940" y="1178732"/>
                </a:lnTo>
                <a:lnTo>
                  <a:pt x="596265" y="1162651"/>
                </a:lnTo>
                <a:lnTo>
                  <a:pt x="547311" y="1145808"/>
                </a:lnTo>
                <a:lnTo>
                  <a:pt x="500126" y="1128228"/>
                </a:lnTo>
                <a:lnTo>
                  <a:pt x="454755" y="1109938"/>
                </a:lnTo>
                <a:lnTo>
                  <a:pt x="411246" y="1090964"/>
                </a:lnTo>
                <a:lnTo>
                  <a:pt x="369646" y="1071331"/>
                </a:lnTo>
                <a:lnTo>
                  <a:pt x="330002" y="1051067"/>
                </a:lnTo>
                <a:lnTo>
                  <a:pt x="292361" y="1030196"/>
                </a:lnTo>
                <a:lnTo>
                  <a:pt x="256769" y="1008745"/>
                </a:lnTo>
                <a:lnTo>
                  <a:pt x="223274" y="986739"/>
                </a:lnTo>
                <a:lnTo>
                  <a:pt x="191923" y="964206"/>
                </a:lnTo>
                <a:lnTo>
                  <a:pt x="135839" y="917659"/>
                </a:lnTo>
                <a:lnTo>
                  <a:pt x="88893" y="869313"/>
                </a:lnTo>
                <a:lnTo>
                  <a:pt x="51460" y="819374"/>
                </a:lnTo>
                <a:lnTo>
                  <a:pt x="23917" y="768051"/>
                </a:lnTo>
                <a:lnTo>
                  <a:pt x="6638" y="715553"/>
                </a:lnTo>
                <a:lnTo>
                  <a:pt x="0" y="662088"/>
                </a:lnTo>
                <a:lnTo>
                  <a:pt x="788" y="635058"/>
                </a:lnTo>
                <a:lnTo>
                  <a:pt x="10814" y="580532"/>
                </a:lnTo>
                <a:lnTo>
                  <a:pt x="31339" y="527748"/>
                </a:lnTo>
                <a:lnTo>
                  <a:pt x="60585" y="478286"/>
                </a:lnTo>
                <a:lnTo>
                  <a:pt x="98633" y="430551"/>
                </a:lnTo>
                <a:lnTo>
                  <a:pt x="145069" y="384663"/>
                </a:lnTo>
                <a:lnTo>
                  <a:pt x="199480" y="340744"/>
                </a:lnTo>
                <a:lnTo>
                  <a:pt x="261453" y="298915"/>
                </a:lnTo>
                <a:lnTo>
                  <a:pt x="295145" y="278821"/>
                </a:lnTo>
                <a:lnTo>
                  <a:pt x="330573" y="259296"/>
                </a:lnTo>
                <a:lnTo>
                  <a:pt x="367684" y="240354"/>
                </a:lnTo>
                <a:lnTo>
                  <a:pt x="406427" y="222009"/>
                </a:lnTo>
                <a:lnTo>
                  <a:pt x="446750" y="204278"/>
                </a:lnTo>
                <a:lnTo>
                  <a:pt x="488602" y="187176"/>
                </a:lnTo>
                <a:lnTo>
                  <a:pt x="531930" y="170717"/>
                </a:lnTo>
                <a:lnTo>
                  <a:pt x="576684" y="154917"/>
                </a:lnTo>
                <a:lnTo>
                  <a:pt x="622810" y="139790"/>
                </a:lnTo>
                <a:lnTo>
                  <a:pt x="670259" y="125353"/>
                </a:lnTo>
                <a:lnTo>
                  <a:pt x="718978" y="111619"/>
                </a:lnTo>
                <a:lnTo>
                  <a:pt x="768914" y="98605"/>
                </a:lnTo>
                <a:lnTo>
                  <a:pt x="820018" y="86326"/>
                </a:lnTo>
                <a:lnTo>
                  <a:pt x="872236" y="74795"/>
                </a:lnTo>
                <a:lnTo>
                  <a:pt x="925518" y="64030"/>
                </a:lnTo>
                <a:lnTo>
                  <a:pt x="979811" y="54044"/>
                </a:lnTo>
                <a:lnTo>
                  <a:pt x="1035064" y="44854"/>
                </a:lnTo>
                <a:lnTo>
                  <a:pt x="1091225" y="36473"/>
                </a:lnTo>
                <a:lnTo>
                  <a:pt x="1148243" y="28918"/>
                </a:lnTo>
                <a:lnTo>
                  <a:pt x="1206065" y="22203"/>
                </a:lnTo>
                <a:lnTo>
                  <a:pt x="1264641" y="16343"/>
                </a:lnTo>
                <a:lnTo>
                  <a:pt x="1323918" y="11354"/>
                </a:lnTo>
                <a:lnTo>
                  <a:pt x="1383844" y="7251"/>
                </a:lnTo>
                <a:lnTo>
                  <a:pt x="1444369" y="4049"/>
                </a:lnTo>
                <a:lnTo>
                  <a:pt x="1505439" y="1763"/>
                </a:lnTo>
                <a:lnTo>
                  <a:pt x="1567005" y="408"/>
                </a:lnTo>
                <a:lnTo>
                  <a:pt x="1629013" y="0"/>
                </a:lnTo>
                <a:lnTo>
                  <a:pt x="1691413" y="552"/>
                </a:lnTo>
                <a:lnTo>
                  <a:pt x="1754152" y="2082"/>
                </a:lnTo>
                <a:lnTo>
                  <a:pt x="1817179" y="4603"/>
                </a:lnTo>
                <a:lnTo>
                  <a:pt x="1880442" y="8132"/>
                </a:lnTo>
                <a:lnTo>
                  <a:pt x="1948107" y="13035"/>
                </a:lnTo>
                <a:lnTo>
                  <a:pt x="2014615" y="19013"/>
                </a:lnTo>
                <a:lnTo>
                  <a:pt x="2079918" y="26039"/>
                </a:lnTo>
                <a:lnTo>
                  <a:pt x="2143969" y="34088"/>
                </a:lnTo>
                <a:lnTo>
                  <a:pt x="2206722" y="43133"/>
                </a:lnTo>
                <a:lnTo>
                  <a:pt x="2268129" y="53149"/>
                </a:lnTo>
                <a:lnTo>
                  <a:pt x="2328144" y="64110"/>
                </a:lnTo>
                <a:lnTo>
                  <a:pt x="2386720" y="75989"/>
                </a:lnTo>
                <a:lnTo>
                  <a:pt x="2443809" y="88760"/>
                </a:lnTo>
                <a:lnTo>
                  <a:pt x="2499366" y="102398"/>
                </a:lnTo>
                <a:lnTo>
                  <a:pt x="2553341" y="116877"/>
                </a:lnTo>
                <a:lnTo>
                  <a:pt x="2605690" y="132169"/>
                </a:lnTo>
                <a:lnTo>
                  <a:pt x="2656365" y="148250"/>
                </a:lnTo>
                <a:lnTo>
                  <a:pt x="2705319" y="165094"/>
                </a:lnTo>
                <a:lnTo>
                  <a:pt x="2752504" y="182674"/>
                </a:lnTo>
                <a:lnTo>
                  <a:pt x="2797875" y="200964"/>
                </a:lnTo>
                <a:lnTo>
                  <a:pt x="2841384" y="219938"/>
                </a:lnTo>
                <a:lnTo>
                  <a:pt x="2882984" y="239570"/>
                </a:lnTo>
                <a:lnTo>
                  <a:pt x="2922628" y="259835"/>
                </a:lnTo>
                <a:lnTo>
                  <a:pt x="2960269" y="280706"/>
                </a:lnTo>
                <a:lnTo>
                  <a:pt x="2995861" y="302157"/>
                </a:lnTo>
                <a:lnTo>
                  <a:pt x="3029356" y="324162"/>
                </a:lnTo>
                <a:lnTo>
                  <a:pt x="3060707" y="346695"/>
                </a:lnTo>
                <a:lnTo>
                  <a:pt x="3116791" y="393242"/>
                </a:lnTo>
                <a:lnTo>
                  <a:pt x="3163737" y="441589"/>
                </a:lnTo>
                <a:lnTo>
                  <a:pt x="3201170" y="491528"/>
                </a:lnTo>
                <a:lnTo>
                  <a:pt x="3228713" y="542850"/>
                </a:lnTo>
                <a:lnTo>
                  <a:pt x="3245992" y="595348"/>
                </a:lnTo>
                <a:lnTo>
                  <a:pt x="3252630" y="648813"/>
                </a:lnTo>
                <a:lnTo>
                  <a:pt x="3251842" y="675844"/>
                </a:lnTo>
                <a:lnTo>
                  <a:pt x="3241816" y="730369"/>
                </a:lnTo>
                <a:lnTo>
                  <a:pt x="3220393" y="784924"/>
                </a:lnTo>
                <a:lnTo>
                  <a:pt x="3188155" y="837940"/>
                </a:lnTo>
                <a:lnTo>
                  <a:pt x="3145559" y="889182"/>
                </a:lnTo>
                <a:lnTo>
                  <a:pt x="3093059" y="938453"/>
                </a:lnTo>
                <a:lnTo>
                  <a:pt x="3063238" y="962287"/>
                </a:lnTo>
                <a:lnTo>
                  <a:pt x="3031112" y="985555"/>
                </a:lnTo>
                <a:lnTo>
                  <a:pt x="2996738" y="1008232"/>
                </a:lnTo>
                <a:lnTo>
                  <a:pt x="2960173" y="1030293"/>
                </a:lnTo>
                <a:lnTo>
                  <a:pt x="2921474" y="1051713"/>
                </a:lnTo>
                <a:lnTo>
                  <a:pt x="2880698" y="1072468"/>
                </a:lnTo>
                <a:lnTo>
                  <a:pt x="2837903" y="1092534"/>
                </a:lnTo>
                <a:lnTo>
                  <a:pt x="2793144" y="1111885"/>
                </a:lnTo>
                <a:lnTo>
                  <a:pt x="2746480" y="1130497"/>
                </a:lnTo>
                <a:lnTo>
                  <a:pt x="2697966" y="1148346"/>
                </a:lnTo>
                <a:lnTo>
                  <a:pt x="2647661" y="1165406"/>
                </a:lnTo>
                <a:lnTo>
                  <a:pt x="2595620" y="1181654"/>
                </a:lnTo>
                <a:lnTo>
                  <a:pt x="2541902" y="1197064"/>
                </a:lnTo>
                <a:lnTo>
                  <a:pt x="2486562" y="1211612"/>
                </a:lnTo>
                <a:lnTo>
                  <a:pt x="2429659" y="1225273"/>
                </a:lnTo>
                <a:lnTo>
                  <a:pt x="2371248" y="1238023"/>
                </a:lnTo>
                <a:lnTo>
                  <a:pt x="2311388" y="1249837"/>
                </a:lnTo>
                <a:lnTo>
                  <a:pt x="2250134" y="1260691"/>
                </a:lnTo>
                <a:lnTo>
                  <a:pt x="2187545" y="1270559"/>
                </a:lnTo>
                <a:lnTo>
                  <a:pt x="2123676" y="1279418"/>
                </a:lnTo>
                <a:lnTo>
                  <a:pt x="2058585" y="1287242"/>
                </a:lnTo>
                <a:lnTo>
                  <a:pt x="1992329" y="1294007"/>
                </a:lnTo>
                <a:lnTo>
                  <a:pt x="1775667" y="2370840"/>
                </a:lnTo>
                <a:close/>
              </a:path>
            </a:pathLst>
          </a:custGeom>
          <a:ln w="25908">
            <a:solidFill>
              <a:srgbClr val="775F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83485" y="1902995"/>
            <a:ext cx="2124075" cy="90678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475615">
              <a:lnSpc>
                <a:spcPct val="100000"/>
              </a:lnSpc>
              <a:spcBef>
                <a:spcPts val="1850"/>
              </a:spcBef>
            </a:pPr>
            <a:r>
              <a:rPr sz="2800" spc="-10" dirty="0">
                <a:solidFill>
                  <a:srgbClr val="775F54"/>
                </a:solidFill>
                <a:latin typeface="Arial Rounded MT Bold"/>
                <a:cs typeface="Arial Rounded MT Bold"/>
              </a:rPr>
              <a:t>BCWP</a:t>
            </a:r>
            <a:endParaRPr sz="2800">
              <a:latin typeface="Arial Rounded MT Bold"/>
              <a:cs typeface="Arial Rounded MT Bold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000" b="1" spc="-10" dirty="0">
                <a:latin typeface="黑体"/>
                <a:cs typeface="黑体"/>
              </a:rPr>
              <a:t>(Budgeted cost </a:t>
            </a:r>
            <a:r>
              <a:rPr sz="1000" b="1" spc="-5" dirty="0">
                <a:latin typeface="黑体"/>
                <a:cs typeface="黑体"/>
              </a:rPr>
              <a:t>of </a:t>
            </a:r>
            <a:r>
              <a:rPr sz="1000" b="1" spc="-10" dirty="0">
                <a:latin typeface="黑体"/>
                <a:cs typeface="黑体"/>
              </a:rPr>
              <a:t>work</a:t>
            </a:r>
            <a:r>
              <a:rPr sz="1000" b="1" spc="-45" dirty="0">
                <a:latin typeface="黑体"/>
                <a:cs typeface="黑体"/>
              </a:rPr>
              <a:t> </a:t>
            </a:r>
            <a:r>
              <a:rPr sz="1000" b="1" spc="-5" dirty="0">
                <a:latin typeface="黑体"/>
                <a:cs typeface="黑体"/>
              </a:rPr>
              <a:t>performed</a:t>
            </a:r>
            <a:r>
              <a:rPr sz="1000" spc="-5" dirty="0">
                <a:latin typeface="黑体"/>
                <a:cs typeface="黑体"/>
              </a:rPr>
              <a:t>)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66176" y="2181605"/>
            <a:ext cx="78105" cy="3886200"/>
          </a:xfrm>
          <a:custGeom>
            <a:avLst/>
            <a:gdLst/>
            <a:ahLst/>
            <a:cxnLst/>
            <a:rect l="l" t="t" r="r" b="b"/>
            <a:pathLst>
              <a:path w="78104" h="3886200">
                <a:moveTo>
                  <a:pt x="25907" y="3808476"/>
                </a:moveTo>
                <a:lnTo>
                  <a:pt x="0" y="3808476"/>
                </a:lnTo>
                <a:lnTo>
                  <a:pt x="38862" y="3886200"/>
                </a:lnTo>
                <a:lnTo>
                  <a:pt x="71240" y="3821442"/>
                </a:lnTo>
                <a:lnTo>
                  <a:pt x="25907" y="3821442"/>
                </a:lnTo>
                <a:lnTo>
                  <a:pt x="25907" y="3808476"/>
                </a:lnTo>
                <a:close/>
              </a:path>
              <a:path w="78104" h="3886200">
                <a:moveTo>
                  <a:pt x="51816" y="3717810"/>
                </a:moveTo>
                <a:lnTo>
                  <a:pt x="25907" y="3717810"/>
                </a:lnTo>
                <a:lnTo>
                  <a:pt x="25907" y="3821442"/>
                </a:lnTo>
                <a:lnTo>
                  <a:pt x="51816" y="3821442"/>
                </a:lnTo>
                <a:lnTo>
                  <a:pt x="51816" y="3717810"/>
                </a:lnTo>
                <a:close/>
              </a:path>
              <a:path w="78104" h="3886200">
                <a:moveTo>
                  <a:pt x="77724" y="3808476"/>
                </a:moveTo>
                <a:lnTo>
                  <a:pt x="51816" y="3808476"/>
                </a:lnTo>
                <a:lnTo>
                  <a:pt x="51816" y="3821442"/>
                </a:lnTo>
                <a:lnTo>
                  <a:pt x="71240" y="3821442"/>
                </a:lnTo>
                <a:lnTo>
                  <a:pt x="77724" y="3808476"/>
                </a:lnTo>
                <a:close/>
              </a:path>
              <a:path w="78104" h="3886200">
                <a:moveTo>
                  <a:pt x="51816" y="3536454"/>
                </a:moveTo>
                <a:lnTo>
                  <a:pt x="25907" y="3536454"/>
                </a:lnTo>
                <a:lnTo>
                  <a:pt x="25907" y="3640086"/>
                </a:lnTo>
                <a:lnTo>
                  <a:pt x="51816" y="3640086"/>
                </a:lnTo>
                <a:lnTo>
                  <a:pt x="51816" y="3536454"/>
                </a:lnTo>
                <a:close/>
              </a:path>
              <a:path w="78104" h="3886200">
                <a:moveTo>
                  <a:pt x="51816" y="3355086"/>
                </a:moveTo>
                <a:lnTo>
                  <a:pt x="25907" y="3355086"/>
                </a:lnTo>
                <a:lnTo>
                  <a:pt x="25907" y="3458730"/>
                </a:lnTo>
                <a:lnTo>
                  <a:pt x="51816" y="3458730"/>
                </a:lnTo>
                <a:lnTo>
                  <a:pt x="51816" y="3355086"/>
                </a:lnTo>
                <a:close/>
              </a:path>
              <a:path w="78104" h="3886200">
                <a:moveTo>
                  <a:pt x="51816" y="3173730"/>
                </a:moveTo>
                <a:lnTo>
                  <a:pt x="25907" y="3173730"/>
                </a:lnTo>
                <a:lnTo>
                  <a:pt x="25907" y="3277362"/>
                </a:lnTo>
                <a:lnTo>
                  <a:pt x="51816" y="3277362"/>
                </a:lnTo>
                <a:lnTo>
                  <a:pt x="51816" y="3173730"/>
                </a:lnTo>
                <a:close/>
              </a:path>
              <a:path w="78104" h="3886200">
                <a:moveTo>
                  <a:pt x="51816" y="2992374"/>
                </a:moveTo>
                <a:lnTo>
                  <a:pt x="25907" y="2992374"/>
                </a:lnTo>
                <a:lnTo>
                  <a:pt x="25907" y="3096006"/>
                </a:lnTo>
                <a:lnTo>
                  <a:pt x="51816" y="3096006"/>
                </a:lnTo>
                <a:lnTo>
                  <a:pt x="51816" y="2992374"/>
                </a:lnTo>
                <a:close/>
              </a:path>
              <a:path w="78104" h="3886200">
                <a:moveTo>
                  <a:pt x="51816" y="2811018"/>
                </a:moveTo>
                <a:lnTo>
                  <a:pt x="25907" y="2811018"/>
                </a:lnTo>
                <a:lnTo>
                  <a:pt x="25907" y="2914650"/>
                </a:lnTo>
                <a:lnTo>
                  <a:pt x="51816" y="2914650"/>
                </a:lnTo>
                <a:lnTo>
                  <a:pt x="51816" y="2811018"/>
                </a:lnTo>
                <a:close/>
              </a:path>
              <a:path w="78104" h="3886200">
                <a:moveTo>
                  <a:pt x="51816" y="2629662"/>
                </a:moveTo>
                <a:lnTo>
                  <a:pt x="25907" y="2629662"/>
                </a:lnTo>
                <a:lnTo>
                  <a:pt x="25907" y="2733294"/>
                </a:lnTo>
                <a:lnTo>
                  <a:pt x="51816" y="2733294"/>
                </a:lnTo>
                <a:lnTo>
                  <a:pt x="51816" y="2629662"/>
                </a:lnTo>
                <a:close/>
              </a:path>
              <a:path w="78104" h="3886200">
                <a:moveTo>
                  <a:pt x="51816" y="2448306"/>
                </a:moveTo>
                <a:lnTo>
                  <a:pt x="25907" y="2448306"/>
                </a:lnTo>
                <a:lnTo>
                  <a:pt x="25907" y="2551938"/>
                </a:lnTo>
                <a:lnTo>
                  <a:pt x="51816" y="2551938"/>
                </a:lnTo>
                <a:lnTo>
                  <a:pt x="51816" y="2448306"/>
                </a:lnTo>
                <a:close/>
              </a:path>
              <a:path w="78104" h="3886200">
                <a:moveTo>
                  <a:pt x="51816" y="2266950"/>
                </a:moveTo>
                <a:lnTo>
                  <a:pt x="25907" y="2266950"/>
                </a:lnTo>
                <a:lnTo>
                  <a:pt x="25907" y="2370582"/>
                </a:lnTo>
                <a:lnTo>
                  <a:pt x="51816" y="2370582"/>
                </a:lnTo>
                <a:lnTo>
                  <a:pt x="51816" y="2266950"/>
                </a:lnTo>
                <a:close/>
              </a:path>
              <a:path w="78104" h="3886200">
                <a:moveTo>
                  <a:pt x="51816" y="2085594"/>
                </a:moveTo>
                <a:lnTo>
                  <a:pt x="25907" y="2085594"/>
                </a:lnTo>
                <a:lnTo>
                  <a:pt x="25907" y="2189226"/>
                </a:lnTo>
                <a:lnTo>
                  <a:pt x="51816" y="2189226"/>
                </a:lnTo>
                <a:lnTo>
                  <a:pt x="51816" y="2085594"/>
                </a:lnTo>
                <a:close/>
              </a:path>
              <a:path w="78104" h="3886200">
                <a:moveTo>
                  <a:pt x="51816" y="1904238"/>
                </a:moveTo>
                <a:lnTo>
                  <a:pt x="25907" y="1904238"/>
                </a:lnTo>
                <a:lnTo>
                  <a:pt x="25907" y="2007870"/>
                </a:lnTo>
                <a:lnTo>
                  <a:pt x="51816" y="2007870"/>
                </a:lnTo>
                <a:lnTo>
                  <a:pt x="51816" y="1904238"/>
                </a:lnTo>
                <a:close/>
              </a:path>
              <a:path w="78104" h="3886200">
                <a:moveTo>
                  <a:pt x="51816" y="1722882"/>
                </a:moveTo>
                <a:lnTo>
                  <a:pt x="25907" y="1722882"/>
                </a:lnTo>
                <a:lnTo>
                  <a:pt x="25907" y="1826514"/>
                </a:lnTo>
                <a:lnTo>
                  <a:pt x="51816" y="1826514"/>
                </a:lnTo>
                <a:lnTo>
                  <a:pt x="51816" y="1722882"/>
                </a:lnTo>
                <a:close/>
              </a:path>
              <a:path w="78104" h="3886200">
                <a:moveTo>
                  <a:pt x="51816" y="1541526"/>
                </a:moveTo>
                <a:lnTo>
                  <a:pt x="25907" y="1541526"/>
                </a:lnTo>
                <a:lnTo>
                  <a:pt x="25907" y="1645158"/>
                </a:lnTo>
                <a:lnTo>
                  <a:pt x="51816" y="1645158"/>
                </a:lnTo>
                <a:lnTo>
                  <a:pt x="51816" y="1541526"/>
                </a:lnTo>
                <a:close/>
              </a:path>
              <a:path w="78104" h="3886200">
                <a:moveTo>
                  <a:pt x="51816" y="1360170"/>
                </a:moveTo>
                <a:lnTo>
                  <a:pt x="25907" y="1360170"/>
                </a:lnTo>
                <a:lnTo>
                  <a:pt x="25907" y="1463802"/>
                </a:lnTo>
                <a:lnTo>
                  <a:pt x="51816" y="1463802"/>
                </a:lnTo>
                <a:lnTo>
                  <a:pt x="51816" y="1360170"/>
                </a:lnTo>
                <a:close/>
              </a:path>
              <a:path w="78104" h="3886200">
                <a:moveTo>
                  <a:pt x="51816" y="1178814"/>
                </a:moveTo>
                <a:lnTo>
                  <a:pt x="25907" y="1178814"/>
                </a:lnTo>
                <a:lnTo>
                  <a:pt x="25907" y="1282446"/>
                </a:lnTo>
                <a:lnTo>
                  <a:pt x="51816" y="1282446"/>
                </a:lnTo>
                <a:lnTo>
                  <a:pt x="51816" y="1178814"/>
                </a:lnTo>
                <a:close/>
              </a:path>
              <a:path w="78104" h="3886200">
                <a:moveTo>
                  <a:pt x="51816" y="997458"/>
                </a:moveTo>
                <a:lnTo>
                  <a:pt x="25907" y="997458"/>
                </a:lnTo>
                <a:lnTo>
                  <a:pt x="25907" y="1101090"/>
                </a:lnTo>
                <a:lnTo>
                  <a:pt x="51816" y="1101090"/>
                </a:lnTo>
                <a:lnTo>
                  <a:pt x="51816" y="997458"/>
                </a:lnTo>
                <a:close/>
              </a:path>
              <a:path w="78104" h="3886200">
                <a:moveTo>
                  <a:pt x="51816" y="816102"/>
                </a:moveTo>
                <a:lnTo>
                  <a:pt x="25907" y="816102"/>
                </a:lnTo>
                <a:lnTo>
                  <a:pt x="25907" y="919734"/>
                </a:lnTo>
                <a:lnTo>
                  <a:pt x="51816" y="919734"/>
                </a:lnTo>
                <a:lnTo>
                  <a:pt x="51816" y="816102"/>
                </a:lnTo>
                <a:close/>
              </a:path>
              <a:path w="78104" h="3886200">
                <a:moveTo>
                  <a:pt x="51816" y="634746"/>
                </a:moveTo>
                <a:lnTo>
                  <a:pt x="25907" y="634746"/>
                </a:lnTo>
                <a:lnTo>
                  <a:pt x="25907" y="738378"/>
                </a:lnTo>
                <a:lnTo>
                  <a:pt x="51816" y="738378"/>
                </a:lnTo>
                <a:lnTo>
                  <a:pt x="51816" y="634746"/>
                </a:lnTo>
                <a:close/>
              </a:path>
              <a:path w="78104" h="3886200">
                <a:moveTo>
                  <a:pt x="51816" y="453390"/>
                </a:moveTo>
                <a:lnTo>
                  <a:pt x="25907" y="453390"/>
                </a:lnTo>
                <a:lnTo>
                  <a:pt x="25907" y="557022"/>
                </a:lnTo>
                <a:lnTo>
                  <a:pt x="51816" y="557022"/>
                </a:lnTo>
                <a:lnTo>
                  <a:pt x="51816" y="453390"/>
                </a:lnTo>
                <a:close/>
              </a:path>
              <a:path w="78104" h="3886200">
                <a:moveTo>
                  <a:pt x="51816" y="272034"/>
                </a:moveTo>
                <a:lnTo>
                  <a:pt x="25907" y="272034"/>
                </a:lnTo>
                <a:lnTo>
                  <a:pt x="25907" y="375666"/>
                </a:lnTo>
                <a:lnTo>
                  <a:pt x="51816" y="375666"/>
                </a:lnTo>
                <a:lnTo>
                  <a:pt x="51816" y="272034"/>
                </a:lnTo>
                <a:close/>
              </a:path>
              <a:path w="78104" h="3886200">
                <a:moveTo>
                  <a:pt x="51816" y="90678"/>
                </a:moveTo>
                <a:lnTo>
                  <a:pt x="25907" y="90678"/>
                </a:lnTo>
                <a:lnTo>
                  <a:pt x="25907" y="194310"/>
                </a:lnTo>
                <a:lnTo>
                  <a:pt x="51816" y="194310"/>
                </a:lnTo>
                <a:lnTo>
                  <a:pt x="51816" y="90678"/>
                </a:lnTo>
                <a:close/>
              </a:path>
              <a:path w="78104" h="3886200">
                <a:moveTo>
                  <a:pt x="38862" y="0"/>
                </a:moveTo>
                <a:lnTo>
                  <a:pt x="0" y="77724"/>
                </a:lnTo>
                <a:lnTo>
                  <a:pt x="77724" y="77724"/>
                </a:lnTo>
                <a:lnTo>
                  <a:pt x="3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05573" y="3294126"/>
            <a:ext cx="1757680" cy="85788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489710" marR="5080" algn="r">
              <a:lnSpc>
                <a:spcPts val="1980"/>
              </a:lnSpc>
              <a:spcBef>
                <a:spcPts val="520"/>
              </a:spcBef>
            </a:pPr>
            <a:r>
              <a:rPr sz="2000" b="1" spc="-5" dirty="0">
                <a:latin typeface="楷体"/>
                <a:cs typeface="楷体"/>
              </a:rPr>
              <a:t>总 估</a:t>
            </a:r>
            <a:endParaRPr sz="2000">
              <a:latin typeface="楷体"/>
              <a:cs typeface="楷体"/>
            </a:endParaRPr>
          </a:p>
          <a:p>
            <a:pPr marL="12700">
              <a:lnSpc>
                <a:spcPts val="2175"/>
              </a:lnSpc>
              <a:tabLst>
                <a:tab pos="1489710" algn="l"/>
              </a:tabLst>
            </a:pPr>
            <a:r>
              <a:rPr sz="2800" spc="-10" dirty="0">
                <a:solidFill>
                  <a:srgbClr val="775F54"/>
                </a:solidFill>
                <a:latin typeface="Arial Rounded MT Bold"/>
                <a:cs typeface="Arial Rounded MT Bold"/>
              </a:rPr>
              <a:t>BCW</a:t>
            </a:r>
            <a:r>
              <a:rPr sz="2800" spc="-5" dirty="0">
                <a:solidFill>
                  <a:srgbClr val="775F54"/>
                </a:solidFill>
                <a:latin typeface="Arial Rounded MT Bold"/>
                <a:cs typeface="Arial Rounded MT Bold"/>
              </a:rPr>
              <a:t>S</a:t>
            </a:r>
            <a:r>
              <a:rPr sz="2800" dirty="0">
                <a:solidFill>
                  <a:srgbClr val="775F54"/>
                </a:solidFill>
                <a:latin typeface="Arial Rounded MT Bold"/>
                <a:cs typeface="Arial Rounded MT Bold"/>
              </a:rPr>
              <a:t>	</a:t>
            </a:r>
            <a:r>
              <a:rPr sz="3000" b="1" spc="-7" baseline="1388" dirty="0">
                <a:latin typeface="楷体"/>
                <a:cs typeface="楷体"/>
              </a:rPr>
              <a:t>算</a:t>
            </a:r>
            <a:endParaRPr sz="3000" baseline="1388">
              <a:latin typeface="楷体"/>
              <a:cs typeface="楷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17314" y="3324605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0"/>
                </a:moveTo>
                <a:lnTo>
                  <a:pt x="81006" y="911"/>
                </a:lnTo>
                <a:lnTo>
                  <a:pt x="153811" y="3480"/>
                </a:lnTo>
                <a:lnTo>
                  <a:pt x="215503" y="7461"/>
                </a:lnTo>
                <a:lnTo>
                  <a:pt x="263172" y="12605"/>
                </a:lnTo>
                <a:lnTo>
                  <a:pt x="304800" y="25400"/>
                </a:lnTo>
                <a:lnTo>
                  <a:pt x="304800" y="127000"/>
                </a:lnTo>
                <a:lnTo>
                  <a:pt x="315692" y="133732"/>
                </a:lnTo>
                <a:lnTo>
                  <a:pt x="394096" y="144938"/>
                </a:lnTo>
                <a:lnTo>
                  <a:pt x="455788" y="148919"/>
                </a:lnTo>
                <a:lnTo>
                  <a:pt x="528593" y="151488"/>
                </a:lnTo>
                <a:lnTo>
                  <a:pt x="609600" y="152400"/>
                </a:lnTo>
                <a:lnTo>
                  <a:pt x="528593" y="153311"/>
                </a:lnTo>
                <a:lnTo>
                  <a:pt x="455788" y="155880"/>
                </a:lnTo>
                <a:lnTo>
                  <a:pt x="394096" y="159861"/>
                </a:lnTo>
                <a:lnTo>
                  <a:pt x="346427" y="165005"/>
                </a:lnTo>
                <a:lnTo>
                  <a:pt x="304800" y="177800"/>
                </a:lnTo>
                <a:lnTo>
                  <a:pt x="304800" y="279400"/>
                </a:lnTo>
                <a:lnTo>
                  <a:pt x="293907" y="286132"/>
                </a:lnTo>
                <a:lnTo>
                  <a:pt x="263172" y="292194"/>
                </a:lnTo>
                <a:lnTo>
                  <a:pt x="215503" y="297338"/>
                </a:lnTo>
                <a:lnTo>
                  <a:pt x="153811" y="301319"/>
                </a:lnTo>
                <a:lnTo>
                  <a:pt x="81006" y="303888"/>
                </a:lnTo>
                <a:lnTo>
                  <a:pt x="0" y="30480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17314" y="3629405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0"/>
                </a:moveTo>
                <a:lnTo>
                  <a:pt x="81006" y="911"/>
                </a:lnTo>
                <a:lnTo>
                  <a:pt x="153811" y="3480"/>
                </a:lnTo>
                <a:lnTo>
                  <a:pt x="215503" y="7461"/>
                </a:lnTo>
                <a:lnTo>
                  <a:pt x="263172" y="12605"/>
                </a:lnTo>
                <a:lnTo>
                  <a:pt x="304800" y="25400"/>
                </a:lnTo>
                <a:lnTo>
                  <a:pt x="304800" y="127000"/>
                </a:lnTo>
                <a:lnTo>
                  <a:pt x="315692" y="133732"/>
                </a:lnTo>
                <a:lnTo>
                  <a:pt x="394096" y="144938"/>
                </a:lnTo>
                <a:lnTo>
                  <a:pt x="455788" y="148919"/>
                </a:lnTo>
                <a:lnTo>
                  <a:pt x="528593" y="151488"/>
                </a:lnTo>
                <a:lnTo>
                  <a:pt x="609600" y="152400"/>
                </a:lnTo>
                <a:lnTo>
                  <a:pt x="528593" y="153311"/>
                </a:lnTo>
                <a:lnTo>
                  <a:pt x="455788" y="155880"/>
                </a:lnTo>
                <a:lnTo>
                  <a:pt x="394096" y="159861"/>
                </a:lnTo>
                <a:lnTo>
                  <a:pt x="346427" y="165005"/>
                </a:lnTo>
                <a:lnTo>
                  <a:pt x="304800" y="177800"/>
                </a:lnTo>
                <a:lnTo>
                  <a:pt x="304800" y="279400"/>
                </a:lnTo>
                <a:lnTo>
                  <a:pt x="293907" y="286132"/>
                </a:lnTo>
                <a:lnTo>
                  <a:pt x="263172" y="292194"/>
                </a:lnTo>
                <a:lnTo>
                  <a:pt x="215503" y="297338"/>
                </a:lnTo>
                <a:lnTo>
                  <a:pt x="153811" y="301319"/>
                </a:lnTo>
                <a:lnTo>
                  <a:pt x="81006" y="303888"/>
                </a:lnTo>
                <a:lnTo>
                  <a:pt x="0" y="30480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37582" y="2769870"/>
            <a:ext cx="299720" cy="734060"/>
          </a:xfrm>
          <a:custGeom>
            <a:avLst/>
            <a:gdLst/>
            <a:ahLst/>
            <a:cxnLst/>
            <a:rect l="l" t="t" r="r" b="b"/>
            <a:pathLst>
              <a:path w="299720" h="734060">
                <a:moveTo>
                  <a:pt x="299212" y="0"/>
                </a:moveTo>
                <a:lnTo>
                  <a:pt x="0" y="733551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346953" y="2472689"/>
            <a:ext cx="1280160" cy="485140"/>
          </a:xfrm>
          <a:prstGeom prst="rect">
            <a:avLst/>
          </a:prstGeom>
          <a:ln w="22859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65"/>
              </a:spcBef>
            </a:pPr>
            <a:r>
              <a:rPr sz="2000" spc="-5" dirty="0">
                <a:latin typeface="Candara"/>
                <a:cs typeface="Candara"/>
              </a:rPr>
              <a:t>CV=</a:t>
            </a:r>
            <a:r>
              <a:rPr sz="2000" spc="-5" dirty="0">
                <a:latin typeface="宋体"/>
                <a:cs typeface="宋体"/>
              </a:rPr>
              <a:t>－１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30470" y="3788409"/>
            <a:ext cx="368935" cy="427355"/>
          </a:xfrm>
          <a:custGeom>
            <a:avLst/>
            <a:gdLst/>
            <a:ahLst/>
            <a:cxnLst/>
            <a:rect l="l" t="t" r="r" b="b"/>
            <a:pathLst>
              <a:path w="368935" h="427354">
                <a:moveTo>
                  <a:pt x="368934" y="426973"/>
                </a:moveTo>
                <a:lnTo>
                  <a:pt x="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07914" y="4010405"/>
            <a:ext cx="1219200" cy="439420"/>
          </a:xfrm>
          <a:prstGeom prst="rect">
            <a:avLst/>
          </a:prstGeom>
          <a:ln w="28955">
            <a:solidFill>
              <a:srgbClr val="FF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275"/>
              </a:spcBef>
            </a:pPr>
            <a:r>
              <a:rPr sz="2000" spc="-5" dirty="0">
                <a:latin typeface="Candara"/>
                <a:cs typeface="Candara"/>
              </a:rPr>
              <a:t>SV=</a:t>
            </a:r>
            <a:r>
              <a:rPr sz="2000" spc="-5" dirty="0">
                <a:latin typeface="宋体"/>
                <a:cs typeface="宋体"/>
              </a:rPr>
              <a:t>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91990" y="3324605"/>
            <a:ext cx="154305" cy="589915"/>
          </a:xfrm>
          <a:custGeom>
            <a:avLst/>
            <a:gdLst/>
            <a:ahLst/>
            <a:cxnLst/>
            <a:rect l="l" t="t" r="r" b="b"/>
            <a:pathLst>
              <a:path w="154304" h="589914">
                <a:moveTo>
                  <a:pt x="0" y="294894"/>
                </a:moveTo>
                <a:lnTo>
                  <a:pt x="2030" y="227293"/>
                </a:lnTo>
                <a:lnTo>
                  <a:pt x="7815" y="165229"/>
                </a:lnTo>
                <a:lnTo>
                  <a:pt x="16895" y="110474"/>
                </a:lnTo>
                <a:lnTo>
                  <a:pt x="28809" y="64801"/>
                </a:lnTo>
                <a:lnTo>
                  <a:pt x="59302" y="7791"/>
                </a:lnTo>
                <a:lnTo>
                  <a:pt x="76962" y="0"/>
                </a:lnTo>
                <a:lnTo>
                  <a:pt x="94621" y="7791"/>
                </a:lnTo>
                <a:lnTo>
                  <a:pt x="125114" y="64801"/>
                </a:lnTo>
                <a:lnTo>
                  <a:pt x="137028" y="110474"/>
                </a:lnTo>
                <a:lnTo>
                  <a:pt x="146108" y="165229"/>
                </a:lnTo>
                <a:lnTo>
                  <a:pt x="151893" y="227293"/>
                </a:lnTo>
                <a:lnTo>
                  <a:pt x="153924" y="294894"/>
                </a:lnTo>
                <a:lnTo>
                  <a:pt x="151893" y="362494"/>
                </a:lnTo>
                <a:lnTo>
                  <a:pt x="146108" y="424558"/>
                </a:lnTo>
                <a:lnTo>
                  <a:pt x="137028" y="479313"/>
                </a:lnTo>
                <a:lnTo>
                  <a:pt x="125114" y="524986"/>
                </a:lnTo>
                <a:lnTo>
                  <a:pt x="94621" y="581996"/>
                </a:lnTo>
                <a:lnTo>
                  <a:pt x="76962" y="589788"/>
                </a:lnTo>
                <a:lnTo>
                  <a:pt x="59302" y="581996"/>
                </a:lnTo>
                <a:lnTo>
                  <a:pt x="28809" y="524986"/>
                </a:lnTo>
                <a:lnTo>
                  <a:pt x="16895" y="479313"/>
                </a:lnTo>
                <a:lnTo>
                  <a:pt x="7815" y="424558"/>
                </a:lnTo>
                <a:lnTo>
                  <a:pt x="2030" y="362494"/>
                </a:lnTo>
                <a:lnTo>
                  <a:pt x="0" y="294894"/>
                </a:lnTo>
                <a:close/>
              </a:path>
            </a:pathLst>
          </a:custGeom>
          <a:ln w="28956">
            <a:solidFill>
              <a:srgbClr val="2CBA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40713" y="3629405"/>
            <a:ext cx="3429000" cy="0"/>
          </a:xfrm>
          <a:custGeom>
            <a:avLst/>
            <a:gdLst/>
            <a:ahLst/>
            <a:cxnLst/>
            <a:rect l="l" t="t" r="r" b="b"/>
            <a:pathLst>
              <a:path w="3429000">
                <a:moveTo>
                  <a:pt x="34290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07847" y="3097239"/>
            <a:ext cx="266700" cy="9906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00" spc="-5" dirty="0"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740"/>
              </a:spcBef>
            </a:pPr>
            <a:r>
              <a:rPr sz="1600" spc="-13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49211" y="1488947"/>
            <a:ext cx="1604010" cy="1130300"/>
          </a:xfrm>
          <a:custGeom>
            <a:avLst/>
            <a:gdLst/>
            <a:ahLst/>
            <a:cxnLst/>
            <a:rect l="l" t="t" r="r" b="b"/>
            <a:pathLst>
              <a:path w="1604009" h="11303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756539" y="0"/>
                </a:lnTo>
                <a:lnTo>
                  <a:pt x="1080770" y="0"/>
                </a:lnTo>
                <a:lnTo>
                  <a:pt x="1208024" y="0"/>
                </a:lnTo>
                <a:lnTo>
                  <a:pt x="1242649" y="6979"/>
                </a:lnTo>
                <a:lnTo>
                  <a:pt x="1270904" y="26019"/>
                </a:lnTo>
                <a:lnTo>
                  <a:pt x="1289944" y="54274"/>
                </a:lnTo>
                <a:lnTo>
                  <a:pt x="1296924" y="88900"/>
                </a:lnTo>
                <a:lnTo>
                  <a:pt x="1296924" y="311150"/>
                </a:lnTo>
                <a:lnTo>
                  <a:pt x="1296924" y="444500"/>
                </a:lnTo>
                <a:lnTo>
                  <a:pt x="1289944" y="479125"/>
                </a:lnTo>
                <a:lnTo>
                  <a:pt x="1270904" y="507380"/>
                </a:lnTo>
                <a:lnTo>
                  <a:pt x="1242649" y="526420"/>
                </a:lnTo>
                <a:lnTo>
                  <a:pt x="1208024" y="533400"/>
                </a:lnTo>
                <a:lnTo>
                  <a:pt x="1080770" y="533400"/>
                </a:lnTo>
                <a:lnTo>
                  <a:pt x="1603502" y="1130300"/>
                </a:lnTo>
                <a:lnTo>
                  <a:pt x="756539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311150"/>
                </a:lnTo>
                <a:lnTo>
                  <a:pt x="0" y="889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909054" y="1542110"/>
            <a:ext cx="779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775F54"/>
                </a:solidFill>
                <a:latin typeface="Arial Rounded MT Bold"/>
                <a:cs typeface="Arial Rounded MT Bold"/>
              </a:rPr>
              <a:t>B</a:t>
            </a:r>
            <a:r>
              <a:rPr sz="2800" spc="-70" dirty="0">
                <a:solidFill>
                  <a:srgbClr val="775F54"/>
                </a:solidFill>
                <a:latin typeface="Arial Rounded MT Bold"/>
                <a:cs typeface="Arial Rounded MT Bold"/>
              </a:rPr>
              <a:t>A</a:t>
            </a:r>
            <a:r>
              <a:rPr sz="2800" spc="-5" dirty="0">
                <a:solidFill>
                  <a:srgbClr val="775F54"/>
                </a:solidFill>
                <a:latin typeface="Arial Rounded MT Bold"/>
                <a:cs typeface="Arial Rounded MT Bold"/>
              </a:rPr>
              <a:t>C</a:t>
            </a:r>
            <a:endParaRPr sz="2800">
              <a:latin typeface="Arial Rounded MT Bold"/>
              <a:cs typeface="Arial Rounded MT Bold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12280" y="4809744"/>
            <a:ext cx="1435735" cy="1177925"/>
          </a:xfrm>
          <a:custGeom>
            <a:avLst/>
            <a:gdLst/>
            <a:ahLst/>
            <a:cxnLst/>
            <a:rect l="l" t="t" r="r" b="b"/>
            <a:pathLst>
              <a:path w="1435734" h="1177925">
                <a:moveTo>
                  <a:pt x="0" y="88899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749426" y="0"/>
                </a:lnTo>
                <a:lnTo>
                  <a:pt x="1070610" y="0"/>
                </a:lnTo>
                <a:lnTo>
                  <a:pt x="1195831" y="0"/>
                </a:lnTo>
                <a:lnTo>
                  <a:pt x="1230457" y="6979"/>
                </a:lnTo>
                <a:lnTo>
                  <a:pt x="1258712" y="26019"/>
                </a:lnTo>
                <a:lnTo>
                  <a:pt x="1277752" y="54274"/>
                </a:lnTo>
                <a:lnTo>
                  <a:pt x="1284731" y="88899"/>
                </a:lnTo>
                <a:lnTo>
                  <a:pt x="1284731" y="311149"/>
                </a:lnTo>
                <a:lnTo>
                  <a:pt x="1284731" y="444499"/>
                </a:lnTo>
                <a:lnTo>
                  <a:pt x="1277752" y="479125"/>
                </a:lnTo>
                <a:lnTo>
                  <a:pt x="1258712" y="507380"/>
                </a:lnTo>
                <a:lnTo>
                  <a:pt x="1230457" y="526420"/>
                </a:lnTo>
                <a:lnTo>
                  <a:pt x="1195831" y="533399"/>
                </a:lnTo>
                <a:lnTo>
                  <a:pt x="1070610" y="533399"/>
                </a:lnTo>
                <a:lnTo>
                  <a:pt x="1435353" y="1177899"/>
                </a:lnTo>
                <a:lnTo>
                  <a:pt x="749426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311149"/>
                </a:lnTo>
                <a:lnTo>
                  <a:pt x="0" y="888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087869" y="4864353"/>
            <a:ext cx="734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85" dirty="0">
                <a:solidFill>
                  <a:srgbClr val="775F54"/>
                </a:solidFill>
                <a:latin typeface="Arial Rounded MT Bold"/>
                <a:cs typeface="Arial Rounded MT Bold"/>
              </a:rPr>
              <a:t>T</a:t>
            </a:r>
            <a:r>
              <a:rPr sz="2800" spc="-75" dirty="0">
                <a:solidFill>
                  <a:srgbClr val="775F54"/>
                </a:solidFill>
                <a:latin typeface="Arial Rounded MT Bold"/>
                <a:cs typeface="Arial Rounded MT Bold"/>
              </a:rPr>
              <a:t>A</a:t>
            </a:r>
            <a:r>
              <a:rPr sz="2800" spc="-5" dirty="0">
                <a:solidFill>
                  <a:srgbClr val="775F54"/>
                </a:solidFill>
                <a:latin typeface="Arial Rounded MT Bold"/>
                <a:cs typeface="Arial Rounded MT Bold"/>
              </a:rPr>
              <a:t>C</a:t>
            </a:r>
            <a:endParaRPr sz="280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输入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222" y="1605533"/>
            <a:ext cx="8712835" cy="4800600"/>
          </a:xfrm>
          <a:custGeom>
            <a:avLst/>
            <a:gdLst/>
            <a:ahLst/>
            <a:cxnLst/>
            <a:rect l="l" t="t" r="r" b="b"/>
            <a:pathLst>
              <a:path w="8712835" h="4800600">
                <a:moveTo>
                  <a:pt x="0" y="4800600"/>
                </a:moveTo>
                <a:lnTo>
                  <a:pt x="8712708" y="4800600"/>
                </a:lnTo>
                <a:lnTo>
                  <a:pt x="87127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9590" y="1552777"/>
            <a:ext cx="8068309" cy="4431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715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黑体"/>
                <a:cs typeface="黑体"/>
              </a:rPr>
              <a:t>①	</a:t>
            </a:r>
            <a:r>
              <a:rPr sz="3200" dirty="0">
                <a:latin typeface="黑体"/>
                <a:cs typeface="黑体"/>
              </a:rPr>
              <a:t>BAC(Budget </a:t>
            </a:r>
            <a:r>
              <a:rPr sz="3200" spc="-5" dirty="0">
                <a:latin typeface="黑体"/>
                <a:cs typeface="黑体"/>
              </a:rPr>
              <a:t>At</a:t>
            </a:r>
            <a:r>
              <a:rPr sz="3200" spc="-25" dirty="0">
                <a:latin typeface="黑体"/>
                <a:cs typeface="黑体"/>
              </a:rPr>
              <a:t> </a:t>
            </a:r>
            <a:r>
              <a:rPr sz="3200" dirty="0">
                <a:latin typeface="黑体"/>
                <a:cs typeface="黑体"/>
              </a:rPr>
              <a:t>Completion)</a:t>
            </a:r>
            <a:endParaRPr sz="3200">
              <a:latin typeface="黑体"/>
              <a:cs typeface="黑体"/>
            </a:endParaRPr>
          </a:p>
          <a:p>
            <a:pPr marL="893444" indent="-515620">
              <a:lnSpc>
                <a:spcPts val="3065"/>
              </a:lnSpc>
              <a:buClr>
                <a:srgbClr val="93B6D2"/>
              </a:buClr>
              <a:buSzPct val="68518"/>
              <a:buFont typeface="Wingdings"/>
              <a:buChar char=""/>
              <a:tabLst>
                <a:tab pos="893444" algn="l"/>
                <a:tab pos="894080" algn="l"/>
              </a:tabLst>
            </a:pPr>
            <a:r>
              <a:rPr sz="2700" dirty="0">
                <a:solidFill>
                  <a:srgbClr val="A07B36"/>
                </a:solidFill>
                <a:latin typeface="华文新魏"/>
                <a:cs typeface="华文新魏"/>
              </a:rPr>
              <a:t>预算总值（估算结果）</a:t>
            </a:r>
            <a:endParaRPr sz="2700">
              <a:latin typeface="华文新魏"/>
              <a:cs typeface="华文新魏"/>
            </a:endParaRPr>
          </a:p>
          <a:p>
            <a:pPr marL="58419">
              <a:lnSpc>
                <a:spcPts val="3779"/>
              </a:lnSpc>
              <a:tabLst>
                <a:tab pos="571500" algn="l"/>
              </a:tabLst>
            </a:pPr>
            <a:r>
              <a:rPr sz="1900" spc="20" dirty="0">
                <a:solidFill>
                  <a:srgbClr val="DD8046"/>
                </a:solidFill>
                <a:latin typeface="华文仿宋"/>
                <a:cs typeface="华文仿宋"/>
              </a:rPr>
              <a:t>②	</a:t>
            </a:r>
            <a:r>
              <a:rPr sz="3200" spc="-5" dirty="0">
                <a:latin typeface="Candara"/>
                <a:cs typeface="Candara"/>
              </a:rPr>
              <a:t>TAC(</a:t>
            </a:r>
            <a:r>
              <a:rPr sz="3200" spc="-5" dirty="0">
                <a:latin typeface="黑体"/>
                <a:cs typeface="黑体"/>
              </a:rPr>
              <a:t>Time </a:t>
            </a:r>
            <a:r>
              <a:rPr sz="3200" dirty="0">
                <a:latin typeface="黑体"/>
                <a:cs typeface="黑体"/>
              </a:rPr>
              <a:t>At</a:t>
            </a:r>
            <a:r>
              <a:rPr sz="3200" spc="-50" dirty="0">
                <a:latin typeface="黑体"/>
                <a:cs typeface="黑体"/>
              </a:rPr>
              <a:t> </a:t>
            </a:r>
            <a:r>
              <a:rPr sz="3200" dirty="0">
                <a:latin typeface="黑体"/>
                <a:cs typeface="黑体"/>
              </a:rPr>
              <a:t>Completion</a:t>
            </a:r>
            <a:r>
              <a:rPr sz="3200" dirty="0">
                <a:latin typeface="Candara"/>
                <a:cs typeface="Candara"/>
              </a:rPr>
              <a:t>)</a:t>
            </a:r>
            <a:endParaRPr sz="3200">
              <a:latin typeface="Candara"/>
              <a:cs typeface="Candara"/>
            </a:endParaRPr>
          </a:p>
          <a:p>
            <a:pPr marL="835660" indent="-457834">
              <a:lnSpc>
                <a:spcPts val="3225"/>
              </a:lnSpc>
              <a:buClr>
                <a:srgbClr val="93B6D2"/>
              </a:buClr>
              <a:buSzPct val="68518"/>
              <a:buFont typeface="Wingdings"/>
              <a:buChar char=""/>
              <a:tabLst>
                <a:tab pos="835660" algn="l"/>
                <a:tab pos="836294" algn="l"/>
              </a:tabLst>
            </a:pPr>
            <a:r>
              <a:rPr sz="2700" spc="-5" dirty="0">
                <a:solidFill>
                  <a:srgbClr val="A07B36"/>
                </a:solidFill>
                <a:latin typeface="华文新魏"/>
                <a:cs typeface="华文新魏"/>
              </a:rPr>
              <a:t>预计完成时间</a:t>
            </a:r>
            <a:endParaRPr sz="2700">
              <a:latin typeface="华文新魏"/>
              <a:cs typeface="华文新魏"/>
            </a:endParaRPr>
          </a:p>
          <a:p>
            <a:pPr marL="12700">
              <a:lnSpc>
                <a:spcPts val="3710"/>
              </a:lnSpc>
              <a:spcBef>
                <a:spcPts val="150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黑体"/>
                <a:cs typeface="黑体"/>
              </a:rPr>
              <a:t>③	</a:t>
            </a:r>
            <a:r>
              <a:rPr sz="3200" dirty="0">
                <a:latin typeface="黑体"/>
                <a:cs typeface="黑体"/>
              </a:rPr>
              <a:t>BCWS(Budgeted cost of work</a:t>
            </a:r>
            <a:r>
              <a:rPr sz="3200" spc="-35" dirty="0">
                <a:latin typeface="黑体"/>
                <a:cs typeface="黑体"/>
              </a:rPr>
              <a:t> </a:t>
            </a:r>
            <a:r>
              <a:rPr sz="3200" dirty="0">
                <a:latin typeface="黑体"/>
                <a:cs typeface="黑体"/>
              </a:rPr>
              <a:t>scheduled)</a:t>
            </a:r>
            <a:endParaRPr sz="3200">
              <a:latin typeface="黑体"/>
              <a:cs typeface="黑体"/>
            </a:endParaRPr>
          </a:p>
          <a:p>
            <a:pPr marL="893444" indent="-515620">
              <a:lnSpc>
                <a:spcPts val="3110"/>
              </a:lnSpc>
              <a:buClr>
                <a:srgbClr val="93B6D2"/>
              </a:buClr>
              <a:buSzPct val="68518"/>
              <a:buFont typeface="Wingdings"/>
              <a:buChar char=""/>
              <a:tabLst>
                <a:tab pos="893444" algn="l"/>
                <a:tab pos="894080" algn="l"/>
              </a:tabLst>
            </a:pPr>
            <a:r>
              <a:rPr sz="2700" dirty="0">
                <a:solidFill>
                  <a:srgbClr val="A07B36"/>
                </a:solidFill>
                <a:latin typeface="华文新魏"/>
                <a:cs typeface="华文新魏"/>
              </a:rPr>
              <a:t>计划工作成本</a:t>
            </a:r>
            <a:endParaRPr sz="2700">
              <a:latin typeface="华文新魏"/>
              <a:cs typeface="华文新魏"/>
            </a:endParaRPr>
          </a:p>
          <a:p>
            <a:pPr marL="12700">
              <a:lnSpc>
                <a:spcPts val="3715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黑体"/>
                <a:cs typeface="黑体"/>
              </a:rPr>
              <a:t>④	</a:t>
            </a:r>
            <a:r>
              <a:rPr sz="3200" dirty="0">
                <a:latin typeface="黑体"/>
                <a:cs typeface="黑体"/>
              </a:rPr>
              <a:t>ACWP(Actual cost of work</a:t>
            </a:r>
            <a:r>
              <a:rPr sz="3200" spc="-35" dirty="0">
                <a:latin typeface="黑体"/>
                <a:cs typeface="黑体"/>
              </a:rPr>
              <a:t> </a:t>
            </a:r>
            <a:r>
              <a:rPr sz="3200" dirty="0">
                <a:latin typeface="黑体"/>
                <a:cs typeface="黑体"/>
              </a:rPr>
              <a:t>performed)</a:t>
            </a:r>
            <a:endParaRPr sz="3200">
              <a:latin typeface="黑体"/>
              <a:cs typeface="黑体"/>
            </a:endParaRPr>
          </a:p>
          <a:p>
            <a:pPr marL="893444" indent="-515620">
              <a:lnSpc>
                <a:spcPts val="3115"/>
              </a:lnSpc>
              <a:buClr>
                <a:srgbClr val="93B6D2"/>
              </a:buClr>
              <a:buSzPct val="68518"/>
              <a:buFont typeface="Wingdings"/>
              <a:buChar char=""/>
              <a:tabLst>
                <a:tab pos="893444" algn="l"/>
                <a:tab pos="894080" algn="l"/>
              </a:tabLst>
            </a:pPr>
            <a:r>
              <a:rPr sz="2700" dirty="0">
                <a:solidFill>
                  <a:srgbClr val="A07B36"/>
                </a:solidFill>
                <a:latin typeface="华文新魏"/>
                <a:cs typeface="华文新魏"/>
              </a:rPr>
              <a:t>实际工作成本</a:t>
            </a:r>
            <a:endParaRPr sz="2700">
              <a:latin typeface="华文新魏"/>
              <a:cs typeface="华文新魏"/>
            </a:endParaRPr>
          </a:p>
          <a:p>
            <a:pPr marL="12700">
              <a:lnSpc>
                <a:spcPts val="3710"/>
              </a:lnSpc>
              <a:spcBef>
                <a:spcPts val="140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黑体"/>
                <a:cs typeface="黑体"/>
              </a:rPr>
              <a:t>⑤	</a:t>
            </a:r>
            <a:r>
              <a:rPr sz="3200" dirty="0">
                <a:latin typeface="黑体"/>
                <a:cs typeface="黑体"/>
              </a:rPr>
              <a:t>BCWP(Budgeted cost of work</a:t>
            </a:r>
            <a:r>
              <a:rPr sz="3200" spc="-35" dirty="0">
                <a:latin typeface="黑体"/>
                <a:cs typeface="黑体"/>
              </a:rPr>
              <a:t> </a:t>
            </a:r>
            <a:r>
              <a:rPr sz="3200" dirty="0">
                <a:latin typeface="黑体"/>
                <a:cs typeface="黑体"/>
              </a:rPr>
              <a:t>performed)</a:t>
            </a:r>
            <a:endParaRPr sz="3200">
              <a:latin typeface="黑体"/>
              <a:cs typeface="黑体"/>
            </a:endParaRPr>
          </a:p>
          <a:p>
            <a:pPr marL="893444" indent="-515620">
              <a:lnSpc>
                <a:spcPts val="3110"/>
              </a:lnSpc>
              <a:buClr>
                <a:srgbClr val="93B6D2"/>
              </a:buClr>
              <a:buSzPct val="68518"/>
              <a:buFont typeface="Wingdings"/>
              <a:buChar char=""/>
              <a:tabLst>
                <a:tab pos="893444" algn="l"/>
                <a:tab pos="894080" algn="l"/>
              </a:tabLst>
            </a:pPr>
            <a:r>
              <a:rPr sz="2700" spc="-5" dirty="0">
                <a:solidFill>
                  <a:srgbClr val="A07B36"/>
                </a:solidFill>
                <a:latin typeface="华文新魏"/>
                <a:cs typeface="华文新魏"/>
              </a:rPr>
              <a:t>已获值(Earned</a:t>
            </a:r>
            <a:r>
              <a:rPr sz="2700" spc="5" dirty="0">
                <a:solidFill>
                  <a:srgbClr val="A07B36"/>
                </a:solidFill>
                <a:latin typeface="华文新魏"/>
                <a:cs typeface="华文新魏"/>
              </a:rPr>
              <a:t> </a:t>
            </a:r>
            <a:r>
              <a:rPr sz="2700" spc="-5" dirty="0">
                <a:solidFill>
                  <a:srgbClr val="A07B36"/>
                </a:solidFill>
                <a:latin typeface="华文新魏"/>
                <a:cs typeface="华文新魏"/>
              </a:rPr>
              <a:t>Value)</a:t>
            </a:r>
            <a:endParaRPr sz="27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04876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挣值分析模型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19" y="1828800"/>
            <a:ext cx="1809750" cy="3906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1235" y="2907792"/>
            <a:ext cx="2362962" cy="1616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16396" y="1603247"/>
            <a:ext cx="2093213" cy="48089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346963"/>
            <a:ext cx="31248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BCW</a:t>
            </a:r>
            <a:r>
              <a:rPr i="1" spc="-5" dirty="0">
                <a:latin typeface="华文隶书"/>
                <a:cs typeface="华文隶书"/>
              </a:rPr>
              <a:t>P</a:t>
            </a:r>
            <a:r>
              <a:rPr dirty="0"/>
              <a:t>的计算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0617" y="1919477"/>
            <a:ext cx="1873250" cy="792480"/>
          </a:xfrm>
          <a:custGeom>
            <a:avLst/>
            <a:gdLst/>
            <a:ahLst/>
            <a:cxnLst/>
            <a:rect l="l" t="t" r="r" b="b"/>
            <a:pathLst>
              <a:path w="1873250" h="792480">
                <a:moveTo>
                  <a:pt x="1740916" y="0"/>
                </a:moveTo>
                <a:lnTo>
                  <a:pt x="132080" y="0"/>
                </a:lnTo>
                <a:lnTo>
                  <a:pt x="90350" y="6738"/>
                </a:lnTo>
                <a:lnTo>
                  <a:pt x="54095" y="25497"/>
                </a:lnTo>
                <a:lnTo>
                  <a:pt x="25497" y="54095"/>
                </a:lnTo>
                <a:lnTo>
                  <a:pt x="6738" y="90350"/>
                </a:lnTo>
                <a:lnTo>
                  <a:pt x="0" y="132080"/>
                </a:lnTo>
                <a:lnTo>
                  <a:pt x="0" y="660400"/>
                </a:lnTo>
                <a:lnTo>
                  <a:pt x="6738" y="702129"/>
                </a:lnTo>
                <a:lnTo>
                  <a:pt x="25497" y="738384"/>
                </a:lnTo>
                <a:lnTo>
                  <a:pt x="54095" y="766982"/>
                </a:lnTo>
                <a:lnTo>
                  <a:pt x="90350" y="785741"/>
                </a:lnTo>
                <a:lnTo>
                  <a:pt x="132080" y="792480"/>
                </a:lnTo>
                <a:lnTo>
                  <a:pt x="1740916" y="792480"/>
                </a:lnTo>
                <a:lnTo>
                  <a:pt x="1782645" y="785741"/>
                </a:lnTo>
                <a:lnTo>
                  <a:pt x="1818900" y="766982"/>
                </a:lnTo>
                <a:lnTo>
                  <a:pt x="1847498" y="738384"/>
                </a:lnTo>
                <a:lnTo>
                  <a:pt x="1866257" y="702129"/>
                </a:lnTo>
                <a:lnTo>
                  <a:pt x="1872996" y="660400"/>
                </a:lnTo>
                <a:lnTo>
                  <a:pt x="1872996" y="132080"/>
                </a:lnTo>
                <a:lnTo>
                  <a:pt x="1866257" y="90350"/>
                </a:lnTo>
                <a:lnTo>
                  <a:pt x="1847498" y="54095"/>
                </a:lnTo>
                <a:lnTo>
                  <a:pt x="1818900" y="25497"/>
                </a:lnTo>
                <a:lnTo>
                  <a:pt x="1782645" y="6738"/>
                </a:lnTo>
                <a:lnTo>
                  <a:pt x="174091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0617" y="3291078"/>
            <a:ext cx="1871980" cy="792480"/>
          </a:xfrm>
          <a:custGeom>
            <a:avLst/>
            <a:gdLst/>
            <a:ahLst/>
            <a:cxnLst/>
            <a:rect l="l" t="t" r="r" b="b"/>
            <a:pathLst>
              <a:path w="1871979" h="792479">
                <a:moveTo>
                  <a:pt x="1739392" y="0"/>
                </a:moveTo>
                <a:lnTo>
                  <a:pt x="132080" y="0"/>
                </a:lnTo>
                <a:lnTo>
                  <a:pt x="90350" y="6738"/>
                </a:lnTo>
                <a:lnTo>
                  <a:pt x="54095" y="25497"/>
                </a:lnTo>
                <a:lnTo>
                  <a:pt x="25497" y="54095"/>
                </a:lnTo>
                <a:lnTo>
                  <a:pt x="6738" y="90350"/>
                </a:lnTo>
                <a:lnTo>
                  <a:pt x="0" y="132080"/>
                </a:lnTo>
                <a:lnTo>
                  <a:pt x="0" y="660400"/>
                </a:lnTo>
                <a:lnTo>
                  <a:pt x="6738" y="702129"/>
                </a:lnTo>
                <a:lnTo>
                  <a:pt x="25497" y="738384"/>
                </a:lnTo>
                <a:lnTo>
                  <a:pt x="54095" y="766982"/>
                </a:lnTo>
                <a:lnTo>
                  <a:pt x="90350" y="785741"/>
                </a:lnTo>
                <a:lnTo>
                  <a:pt x="132080" y="792480"/>
                </a:lnTo>
                <a:lnTo>
                  <a:pt x="1739392" y="792480"/>
                </a:lnTo>
                <a:lnTo>
                  <a:pt x="1781121" y="785741"/>
                </a:lnTo>
                <a:lnTo>
                  <a:pt x="1817376" y="766982"/>
                </a:lnTo>
                <a:lnTo>
                  <a:pt x="1845974" y="738384"/>
                </a:lnTo>
                <a:lnTo>
                  <a:pt x="1864733" y="702129"/>
                </a:lnTo>
                <a:lnTo>
                  <a:pt x="1871472" y="660400"/>
                </a:lnTo>
                <a:lnTo>
                  <a:pt x="1871472" y="132080"/>
                </a:lnTo>
                <a:lnTo>
                  <a:pt x="1864733" y="90350"/>
                </a:lnTo>
                <a:lnTo>
                  <a:pt x="1845974" y="54095"/>
                </a:lnTo>
                <a:lnTo>
                  <a:pt x="1817376" y="25497"/>
                </a:lnTo>
                <a:lnTo>
                  <a:pt x="1781121" y="6738"/>
                </a:lnTo>
                <a:lnTo>
                  <a:pt x="173939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0617" y="4618482"/>
            <a:ext cx="1873250" cy="792480"/>
          </a:xfrm>
          <a:custGeom>
            <a:avLst/>
            <a:gdLst/>
            <a:ahLst/>
            <a:cxnLst/>
            <a:rect l="l" t="t" r="r" b="b"/>
            <a:pathLst>
              <a:path w="1873250" h="792479">
                <a:moveTo>
                  <a:pt x="1740916" y="0"/>
                </a:moveTo>
                <a:lnTo>
                  <a:pt x="132080" y="0"/>
                </a:lnTo>
                <a:lnTo>
                  <a:pt x="90350" y="6738"/>
                </a:lnTo>
                <a:lnTo>
                  <a:pt x="54095" y="25497"/>
                </a:lnTo>
                <a:lnTo>
                  <a:pt x="25497" y="54095"/>
                </a:lnTo>
                <a:lnTo>
                  <a:pt x="6738" y="90350"/>
                </a:lnTo>
                <a:lnTo>
                  <a:pt x="0" y="132080"/>
                </a:lnTo>
                <a:lnTo>
                  <a:pt x="0" y="660400"/>
                </a:lnTo>
                <a:lnTo>
                  <a:pt x="6738" y="702129"/>
                </a:lnTo>
                <a:lnTo>
                  <a:pt x="25497" y="738384"/>
                </a:lnTo>
                <a:lnTo>
                  <a:pt x="54095" y="766982"/>
                </a:lnTo>
                <a:lnTo>
                  <a:pt x="90350" y="785741"/>
                </a:lnTo>
                <a:lnTo>
                  <a:pt x="132080" y="792480"/>
                </a:lnTo>
                <a:lnTo>
                  <a:pt x="1740916" y="792480"/>
                </a:lnTo>
                <a:lnTo>
                  <a:pt x="1782645" y="785741"/>
                </a:lnTo>
                <a:lnTo>
                  <a:pt x="1818900" y="766982"/>
                </a:lnTo>
                <a:lnTo>
                  <a:pt x="1847498" y="738384"/>
                </a:lnTo>
                <a:lnTo>
                  <a:pt x="1866257" y="702129"/>
                </a:lnTo>
                <a:lnTo>
                  <a:pt x="1872996" y="660400"/>
                </a:lnTo>
                <a:lnTo>
                  <a:pt x="1872996" y="132080"/>
                </a:lnTo>
                <a:lnTo>
                  <a:pt x="1866257" y="90350"/>
                </a:lnTo>
                <a:lnTo>
                  <a:pt x="1847498" y="54095"/>
                </a:lnTo>
                <a:lnTo>
                  <a:pt x="1818900" y="25497"/>
                </a:lnTo>
                <a:lnTo>
                  <a:pt x="1782645" y="6738"/>
                </a:lnTo>
                <a:lnTo>
                  <a:pt x="174091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09471" y="2120264"/>
            <a:ext cx="6731000" cy="368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916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FFFF"/>
                </a:solidFill>
                <a:latin typeface="黑体"/>
                <a:cs typeface="黑体"/>
              </a:rPr>
              <a:t>50/50</a:t>
            </a:r>
            <a:r>
              <a:rPr sz="2000" b="1" dirty="0">
                <a:solidFill>
                  <a:srgbClr val="FFFFFF"/>
                </a:solidFill>
                <a:latin typeface="华文仿宋"/>
                <a:cs typeface="华文仿宋"/>
              </a:rPr>
              <a:t>规则</a:t>
            </a:r>
            <a:endParaRPr sz="2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2400" dirty="0">
                <a:latin typeface="华文行楷"/>
                <a:cs typeface="华文行楷"/>
              </a:rPr>
              <a:t>当一项任务开始、没有结束前，获得一半的价值。</a:t>
            </a:r>
            <a:endParaRPr sz="2400">
              <a:latin typeface="华文行楷"/>
              <a:cs typeface="华文行楷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Times New Roman"/>
              <a:cs typeface="Times New Roman"/>
            </a:endParaRPr>
          </a:p>
          <a:p>
            <a:pPr marL="2167890">
              <a:lnSpc>
                <a:spcPct val="100000"/>
              </a:lnSpc>
              <a:spcBef>
                <a:spcPts val="5"/>
              </a:spcBef>
            </a:pPr>
            <a:r>
              <a:rPr sz="2000" b="1" spc="10" dirty="0">
                <a:solidFill>
                  <a:srgbClr val="FFFFFF"/>
                </a:solidFill>
                <a:latin typeface="黑体"/>
                <a:cs typeface="黑体"/>
              </a:rPr>
              <a:t>0/100</a:t>
            </a:r>
            <a:r>
              <a:rPr sz="2000" b="1" spc="-5" dirty="0">
                <a:solidFill>
                  <a:srgbClr val="FFFFFF"/>
                </a:solidFill>
                <a:latin typeface="华文仿宋"/>
                <a:cs typeface="华文仿宋"/>
              </a:rPr>
              <a:t>规则</a:t>
            </a:r>
            <a:endParaRPr sz="2000">
              <a:latin typeface="华文仿宋"/>
              <a:cs typeface="华文仿宋"/>
            </a:endParaRPr>
          </a:p>
          <a:p>
            <a:pPr marR="374650" algn="ctr">
              <a:lnSpc>
                <a:spcPct val="100000"/>
              </a:lnSpc>
              <a:spcBef>
                <a:spcPts val="2200"/>
              </a:spcBef>
            </a:pPr>
            <a:r>
              <a:rPr sz="2400" spc="-5" dirty="0">
                <a:latin typeface="华文行楷"/>
                <a:cs typeface="华文行楷"/>
              </a:rPr>
              <a:t>当一项任务没完成前，没有价值。</a:t>
            </a:r>
            <a:endParaRPr sz="2400">
              <a:latin typeface="华文行楷"/>
              <a:cs typeface="华文行楷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2211070">
              <a:lnSpc>
                <a:spcPct val="100000"/>
              </a:lnSpc>
            </a:pPr>
            <a:r>
              <a:rPr sz="2000" b="1" spc="10" dirty="0">
                <a:solidFill>
                  <a:srgbClr val="FFFFFF"/>
                </a:solidFill>
                <a:latin typeface="华文仿宋"/>
                <a:cs typeface="华文仿宋"/>
              </a:rPr>
              <a:t>经验</a:t>
            </a:r>
            <a:r>
              <a:rPr sz="2000" b="1" dirty="0">
                <a:solidFill>
                  <a:srgbClr val="FFFFFF"/>
                </a:solidFill>
                <a:latin typeface="华文仿宋"/>
                <a:cs typeface="华文仿宋"/>
              </a:rPr>
              <a:t>加权</a:t>
            </a:r>
            <a:endParaRPr sz="20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imes New Roman"/>
              <a:cs typeface="Times New Roman"/>
            </a:endParaRPr>
          </a:p>
          <a:p>
            <a:pPr marR="372745"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华文行楷"/>
                <a:cs typeface="华文行楷"/>
              </a:rPr>
              <a:t>按照经验百分比计算价</a:t>
            </a:r>
            <a:r>
              <a:rPr sz="2400" dirty="0">
                <a:latin typeface="华文行楷"/>
                <a:cs typeface="华文行楷"/>
              </a:rPr>
              <a:t>值</a:t>
            </a:r>
            <a:r>
              <a:rPr sz="2400" dirty="0">
                <a:latin typeface="黑体"/>
                <a:cs typeface="黑体"/>
              </a:rPr>
              <a:t>。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65" y="291464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挣值计算实例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2708" y="1758695"/>
            <a:ext cx="2418715" cy="323215"/>
          </a:xfrm>
          <a:custGeom>
            <a:avLst/>
            <a:gdLst/>
            <a:ahLst/>
            <a:cxnLst/>
            <a:rect l="l" t="t" r="r" b="b"/>
            <a:pathLst>
              <a:path w="2418715" h="323214">
                <a:moveTo>
                  <a:pt x="0" y="323088"/>
                </a:moveTo>
                <a:lnTo>
                  <a:pt x="2418588" y="323088"/>
                </a:lnTo>
                <a:lnTo>
                  <a:pt x="2418588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17294" y="1694510"/>
            <a:ext cx="1169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任</a:t>
            </a:r>
            <a:r>
              <a:rPr sz="1800" spc="-5" dirty="0">
                <a:latin typeface="宋体"/>
                <a:cs typeface="宋体"/>
              </a:rPr>
              <a:t>务</a:t>
            </a:r>
            <a:r>
              <a:rPr sz="1800" spc="-5" dirty="0">
                <a:latin typeface="Times New Roman"/>
                <a:cs typeface="Times New Roman"/>
              </a:rPr>
              <a:t>A:$1</a:t>
            </a:r>
            <a:r>
              <a:rPr sz="1800" spc="-1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4375" y="2750820"/>
            <a:ext cx="2418715" cy="32321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3890">
              <a:lnSpc>
                <a:spcPts val="1760"/>
              </a:lnSpc>
            </a:pPr>
            <a:r>
              <a:rPr sz="1800" spc="-5" dirty="0">
                <a:latin typeface="宋体"/>
                <a:cs typeface="宋体"/>
              </a:rPr>
              <a:t>任务</a:t>
            </a:r>
            <a:r>
              <a:rPr sz="1800" dirty="0">
                <a:latin typeface="Times New Roman"/>
                <a:cs typeface="Times New Roman"/>
              </a:rPr>
              <a:t>B:$100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979" y="3727703"/>
            <a:ext cx="2418715" cy="3219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3255">
              <a:lnSpc>
                <a:spcPts val="1755"/>
              </a:lnSpc>
            </a:pPr>
            <a:r>
              <a:rPr sz="1800" dirty="0">
                <a:latin typeface="宋体"/>
                <a:cs typeface="宋体"/>
              </a:rPr>
              <a:t>任</a:t>
            </a:r>
            <a:r>
              <a:rPr sz="1800" spc="-5" dirty="0">
                <a:latin typeface="宋体"/>
                <a:cs typeface="宋体"/>
              </a:rPr>
              <a:t>务</a:t>
            </a:r>
            <a:r>
              <a:rPr sz="1800" dirty="0">
                <a:latin typeface="Times New Roman"/>
                <a:cs typeface="Times New Roman"/>
              </a:rPr>
              <a:t>C:$100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0944" y="4660391"/>
            <a:ext cx="2420620" cy="33718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8175">
              <a:lnSpc>
                <a:spcPts val="1764"/>
              </a:lnSpc>
            </a:pPr>
            <a:r>
              <a:rPr sz="1800" dirty="0">
                <a:latin typeface="宋体"/>
                <a:cs typeface="宋体"/>
              </a:rPr>
              <a:t>任</a:t>
            </a:r>
            <a:r>
              <a:rPr sz="1800" spc="-5" dirty="0">
                <a:latin typeface="宋体"/>
                <a:cs typeface="宋体"/>
              </a:rPr>
              <a:t>务</a:t>
            </a:r>
            <a:r>
              <a:rPr sz="1800" spc="-5" dirty="0">
                <a:latin typeface="Times New Roman"/>
                <a:cs typeface="Times New Roman"/>
              </a:rPr>
              <a:t>D:$100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03620" y="1621536"/>
            <a:ext cx="15240" cy="3450590"/>
          </a:xfrm>
          <a:custGeom>
            <a:avLst/>
            <a:gdLst/>
            <a:ahLst/>
            <a:cxnLst/>
            <a:rect l="l" t="t" r="r" b="b"/>
            <a:pathLst>
              <a:path w="15239" h="3450590">
                <a:moveTo>
                  <a:pt x="0" y="0"/>
                </a:moveTo>
                <a:lnTo>
                  <a:pt x="15239" y="3450336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33600" y="3069335"/>
            <a:ext cx="2420620" cy="291465"/>
          </a:xfrm>
          <a:custGeom>
            <a:avLst/>
            <a:gdLst/>
            <a:ahLst/>
            <a:cxnLst/>
            <a:rect l="l" t="t" r="r" b="b"/>
            <a:pathLst>
              <a:path w="2420620" h="291464">
                <a:moveTo>
                  <a:pt x="0" y="291084"/>
                </a:moveTo>
                <a:lnTo>
                  <a:pt x="2420112" y="291084"/>
                </a:lnTo>
                <a:lnTo>
                  <a:pt x="2420112" y="0"/>
                </a:lnTo>
                <a:lnTo>
                  <a:pt x="0" y="0"/>
                </a:lnTo>
                <a:lnTo>
                  <a:pt x="0" y="291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33600" y="3069335"/>
            <a:ext cx="2420620" cy="291465"/>
          </a:xfrm>
          <a:custGeom>
            <a:avLst/>
            <a:gdLst/>
            <a:ahLst/>
            <a:cxnLst/>
            <a:rect l="l" t="t" r="r" b="b"/>
            <a:pathLst>
              <a:path w="2420620" h="291464">
                <a:moveTo>
                  <a:pt x="0" y="291084"/>
                </a:moveTo>
                <a:lnTo>
                  <a:pt x="2420112" y="291084"/>
                </a:lnTo>
                <a:lnTo>
                  <a:pt x="2420112" y="0"/>
                </a:lnTo>
                <a:lnTo>
                  <a:pt x="0" y="0"/>
                </a:lnTo>
                <a:lnTo>
                  <a:pt x="0" y="2910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0964" y="4049267"/>
            <a:ext cx="2420620" cy="292735"/>
          </a:xfrm>
          <a:custGeom>
            <a:avLst/>
            <a:gdLst/>
            <a:ahLst/>
            <a:cxnLst/>
            <a:rect l="l" t="t" r="r" b="b"/>
            <a:pathLst>
              <a:path w="2420620" h="292735">
                <a:moveTo>
                  <a:pt x="0" y="292607"/>
                </a:moveTo>
                <a:lnTo>
                  <a:pt x="2420112" y="292607"/>
                </a:lnTo>
                <a:lnTo>
                  <a:pt x="2420112" y="0"/>
                </a:lnTo>
                <a:lnTo>
                  <a:pt x="0" y="0"/>
                </a:lnTo>
                <a:lnTo>
                  <a:pt x="0" y="292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40964" y="4049267"/>
            <a:ext cx="2420620" cy="292735"/>
          </a:xfrm>
          <a:custGeom>
            <a:avLst/>
            <a:gdLst/>
            <a:ahLst/>
            <a:cxnLst/>
            <a:rect l="l" t="t" r="r" b="b"/>
            <a:pathLst>
              <a:path w="2420620" h="292735">
                <a:moveTo>
                  <a:pt x="0" y="292607"/>
                </a:moveTo>
                <a:lnTo>
                  <a:pt x="2420112" y="292607"/>
                </a:lnTo>
                <a:lnTo>
                  <a:pt x="2420112" y="0"/>
                </a:lnTo>
                <a:lnTo>
                  <a:pt x="0" y="0"/>
                </a:lnTo>
                <a:lnTo>
                  <a:pt x="0" y="29260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02123" y="4997196"/>
            <a:ext cx="1303020" cy="274320"/>
          </a:xfrm>
          <a:custGeom>
            <a:avLst/>
            <a:gdLst/>
            <a:ahLst/>
            <a:cxnLst/>
            <a:rect l="l" t="t" r="r" b="b"/>
            <a:pathLst>
              <a:path w="1303020" h="274320">
                <a:moveTo>
                  <a:pt x="0" y="274319"/>
                </a:moveTo>
                <a:lnTo>
                  <a:pt x="1303020" y="274319"/>
                </a:lnTo>
                <a:lnTo>
                  <a:pt x="1303020" y="0"/>
                </a:lnTo>
                <a:lnTo>
                  <a:pt x="0" y="0"/>
                </a:lnTo>
                <a:lnTo>
                  <a:pt x="0" y="274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02123" y="4997196"/>
            <a:ext cx="1303020" cy="274320"/>
          </a:xfrm>
          <a:custGeom>
            <a:avLst/>
            <a:gdLst/>
            <a:ahLst/>
            <a:cxnLst/>
            <a:rect l="l" t="t" r="r" b="b"/>
            <a:pathLst>
              <a:path w="1303020" h="274320">
                <a:moveTo>
                  <a:pt x="0" y="274319"/>
                </a:moveTo>
                <a:lnTo>
                  <a:pt x="1303020" y="274319"/>
                </a:lnTo>
                <a:lnTo>
                  <a:pt x="1303020" y="0"/>
                </a:lnTo>
                <a:lnTo>
                  <a:pt x="0" y="0"/>
                </a:lnTo>
                <a:lnTo>
                  <a:pt x="0" y="2743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7927" y="5344667"/>
            <a:ext cx="7728584" cy="0"/>
          </a:xfrm>
          <a:custGeom>
            <a:avLst/>
            <a:gdLst/>
            <a:ahLst/>
            <a:cxnLst/>
            <a:rect l="l" t="t" r="r" b="b"/>
            <a:pathLst>
              <a:path w="7728584">
                <a:moveTo>
                  <a:pt x="0" y="0"/>
                </a:moveTo>
                <a:lnTo>
                  <a:pt x="772820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14671" y="5497067"/>
            <a:ext cx="3578860" cy="76200"/>
          </a:xfrm>
          <a:custGeom>
            <a:avLst/>
            <a:gdLst/>
            <a:ahLst/>
            <a:cxnLst/>
            <a:rect l="l" t="t" r="r" b="b"/>
            <a:pathLst>
              <a:path w="3578859" h="76200">
                <a:moveTo>
                  <a:pt x="3502152" y="0"/>
                </a:moveTo>
                <a:lnTo>
                  <a:pt x="3502152" y="76199"/>
                </a:lnTo>
                <a:lnTo>
                  <a:pt x="3565652" y="44449"/>
                </a:lnTo>
                <a:lnTo>
                  <a:pt x="3514852" y="44449"/>
                </a:lnTo>
                <a:lnTo>
                  <a:pt x="3514852" y="31749"/>
                </a:lnTo>
                <a:lnTo>
                  <a:pt x="3565652" y="31749"/>
                </a:lnTo>
                <a:lnTo>
                  <a:pt x="3502152" y="0"/>
                </a:lnTo>
                <a:close/>
              </a:path>
              <a:path w="3578859" h="76200">
                <a:moveTo>
                  <a:pt x="3502152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502152" y="44449"/>
                </a:lnTo>
                <a:lnTo>
                  <a:pt x="3502152" y="31749"/>
                </a:lnTo>
                <a:close/>
              </a:path>
              <a:path w="3578859" h="76200">
                <a:moveTo>
                  <a:pt x="3565652" y="31749"/>
                </a:moveTo>
                <a:lnTo>
                  <a:pt x="3514852" y="31749"/>
                </a:lnTo>
                <a:lnTo>
                  <a:pt x="3514852" y="44449"/>
                </a:lnTo>
                <a:lnTo>
                  <a:pt x="3565652" y="44449"/>
                </a:lnTo>
                <a:lnTo>
                  <a:pt x="3578352" y="38099"/>
                </a:lnTo>
                <a:lnTo>
                  <a:pt x="3565652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32301" y="5415788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楷体"/>
                <a:cs typeface="楷体"/>
              </a:rPr>
              <a:t>时间</a:t>
            </a:r>
            <a:endParaRPr sz="2000">
              <a:latin typeface="楷体"/>
              <a:cs typeface="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11928" y="1655140"/>
            <a:ext cx="482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楷体"/>
                <a:cs typeface="楷体"/>
              </a:rPr>
              <a:t>今天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74208" y="1859279"/>
            <a:ext cx="629920" cy="320040"/>
          </a:xfrm>
          <a:custGeom>
            <a:avLst/>
            <a:gdLst/>
            <a:ahLst/>
            <a:cxnLst/>
            <a:rect l="l" t="t" r="r" b="b"/>
            <a:pathLst>
              <a:path w="629920" h="320039">
                <a:moveTo>
                  <a:pt x="0" y="0"/>
                </a:moveTo>
                <a:lnTo>
                  <a:pt x="629412" y="32004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98995" y="1484757"/>
            <a:ext cx="789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BC</a:t>
            </a:r>
            <a:r>
              <a:rPr sz="2000" b="1" spc="5" dirty="0">
                <a:latin typeface="Times New Roman"/>
                <a:cs typeface="Times New Roman"/>
              </a:rPr>
              <a:t>W</a:t>
            </a:r>
            <a:r>
              <a:rPr sz="2000" b="1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43700" y="1943100"/>
            <a:ext cx="749935" cy="44386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000" spc="5" dirty="0">
                <a:latin typeface="Times New Roman"/>
                <a:cs typeface="Times New Roman"/>
              </a:rPr>
              <a:t>$100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43700" y="2775204"/>
            <a:ext cx="749935" cy="43942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000" spc="5" dirty="0">
                <a:latin typeface="Times New Roman"/>
                <a:cs typeface="Times New Roman"/>
              </a:rPr>
              <a:t>$100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43700" y="3738371"/>
            <a:ext cx="749935" cy="454659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000" spc="5" dirty="0">
                <a:latin typeface="Times New Roman"/>
                <a:cs typeface="Times New Roman"/>
              </a:rPr>
              <a:t>$100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75704" y="4684776"/>
            <a:ext cx="749935" cy="451484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000" spc="5" dirty="0">
                <a:latin typeface="Times New Roman"/>
                <a:cs typeface="Times New Roman"/>
              </a:rPr>
              <a:t>$50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49146" y="5968746"/>
            <a:ext cx="1478280" cy="457200"/>
          </a:xfrm>
          <a:prstGeom prst="rect">
            <a:avLst/>
          </a:prstGeom>
          <a:ln w="19812">
            <a:solidFill>
              <a:srgbClr val="DD8046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9"/>
              </a:spcBef>
            </a:pPr>
            <a:r>
              <a:rPr sz="1600" spc="-10" dirty="0">
                <a:latin typeface="Times New Roman"/>
                <a:cs typeface="Times New Roman"/>
              </a:rPr>
              <a:t>BCWP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$350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8851" y="5982106"/>
            <a:ext cx="1139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001F5F"/>
                </a:solidFill>
                <a:latin typeface="Microsoft JhengHei"/>
                <a:cs typeface="Microsoft JhengHei"/>
              </a:rPr>
              <a:t>50</a:t>
            </a:r>
            <a:r>
              <a:rPr sz="2000" b="1" spc="130" dirty="0">
                <a:solidFill>
                  <a:srgbClr val="001F5F"/>
                </a:solidFill>
                <a:latin typeface="Microsoft JhengHei"/>
                <a:cs typeface="Microsoft JhengHei"/>
              </a:rPr>
              <a:t>/</a:t>
            </a:r>
            <a:r>
              <a:rPr sz="2000" b="1" spc="-254" dirty="0">
                <a:solidFill>
                  <a:srgbClr val="001F5F"/>
                </a:solidFill>
                <a:latin typeface="Microsoft JhengHei"/>
                <a:cs typeface="Microsoft JhengHei"/>
              </a:rPr>
              <a:t>50</a:t>
            </a:r>
            <a:r>
              <a:rPr sz="2000" b="1" spc="-15" dirty="0">
                <a:solidFill>
                  <a:srgbClr val="001F5F"/>
                </a:solidFill>
                <a:latin typeface="Microsoft JhengHei"/>
                <a:cs typeface="Microsoft JhengHei"/>
              </a:rPr>
              <a:t>规则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55034" y="6010757"/>
            <a:ext cx="1139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001F5F"/>
                </a:solidFill>
                <a:latin typeface="Microsoft JhengHei"/>
                <a:cs typeface="Microsoft JhengHei"/>
              </a:rPr>
              <a:t>0</a:t>
            </a:r>
            <a:r>
              <a:rPr sz="2000" b="1" spc="130" dirty="0">
                <a:solidFill>
                  <a:srgbClr val="001F5F"/>
                </a:solidFill>
                <a:latin typeface="Microsoft JhengHei"/>
                <a:cs typeface="Microsoft JhengHei"/>
              </a:rPr>
              <a:t>/</a:t>
            </a:r>
            <a:r>
              <a:rPr sz="2000" b="1" spc="-250" dirty="0">
                <a:solidFill>
                  <a:srgbClr val="001F5F"/>
                </a:solidFill>
                <a:latin typeface="Microsoft JhengHei"/>
                <a:cs typeface="Microsoft JhengHei"/>
              </a:rPr>
              <a:t>1</a:t>
            </a:r>
            <a:r>
              <a:rPr sz="2000" b="1" spc="-254" dirty="0">
                <a:solidFill>
                  <a:srgbClr val="001F5F"/>
                </a:solidFill>
                <a:latin typeface="Microsoft JhengHei"/>
                <a:cs typeface="Microsoft JhengHei"/>
              </a:rPr>
              <a:t>00</a:t>
            </a:r>
            <a:r>
              <a:rPr sz="2000" b="1" spc="-15" dirty="0">
                <a:solidFill>
                  <a:srgbClr val="001F5F"/>
                </a:solidFill>
                <a:latin typeface="Microsoft JhengHei"/>
                <a:cs typeface="Microsoft JhengHei"/>
              </a:rPr>
              <a:t>规则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72761" y="5996178"/>
            <a:ext cx="1440180" cy="457200"/>
          </a:xfrm>
          <a:prstGeom prst="rect">
            <a:avLst/>
          </a:prstGeom>
          <a:ln w="19811">
            <a:solidFill>
              <a:srgbClr val="DD804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Times New Roman"/>
                <a:cs typeface="Times New Roman"/>
              </a:rPr>
              <a:t>BCWP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$300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58305" y="6015329"/>
            <a:ext cx="10483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001F5F"/>
                </a:solidFill>
                <a:latin typeface="Microsoft JhengHei"/>
                <a:cs typeface="Microsoft JhengHei"/>
              </a:rPr>
              <a:t>经验</a:t>
            </a:r>
            <a:r>
              <a:rPr sz="2000" b="1" spc="5" dirty="0">
                <a:solidFill>
                  <a:srgbClr val="001F5F"/>
                </a:solidFill>
                <a:latin typeface="黑体"/>
                <a:cs typeface="黑体"/>
              </a:rPr>
              <a:t>：</a:t>
            </a:r>
            <a:r>
              <a:rPr sz="2000" b="1" spc="-10" dirty="0">
                <a:solidFill>
                  <a:srgbClr val="001F5F"/>
                </a:solidFill>
                <a:latin typeface="黑体"/>
                <a:cs typeface="黑体"/>
              </a:rPr>
              <a:t>20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99838" y="6104737"/>
            <a:ext cx="117475" cy="17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526273" y="5968746"/>
            <a:ext cx="1510665" cy="457200"/>
          </a:xfrm>
          <a:prstGeom prst="rect">
            <a:avLst/>
          </a:prstGeom>
          <a:ln w="19811">
            <a:solidFill>
              <a:srgbClr val="DD8046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sz="1600" spc="-10" dirty="0">
                <a:latin typeface="Times New Roman"/>
                <a:cs typeface="Times New Roman"/>
              </a:rPr>
              <a:t>BCWP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$320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00327" y="2058923"/>
            <a:ext cx="2418715" cy="292735"/>
          </a:xfrm>
          <a:custGeom>
            <a:avLst/>
            <a:gdLst/>
            <a:ahLst/>
            <a:cxnLst/>
            <a:rect l="l" t="t" r="r" b="b"/>
            <a:pathLst>
              <a:path w="2418715" h="292735">
                <a:moveTo>
                  <a:pt x="0" y="292608"/>
                </a:moveTo>
                <a:lnTo>
                  <a:pt x="2418588" y="292608"/>
                </a:lnTo>
                <a:lnTo>
                  <a:pt x="2418588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00327" y="2058923"/>
            <a:ext cx="2418715" cy="292735"/>
          </a:xfrm>
          <a:custGeom>
            <a:avLst/>
            <a:gdLst/>
            <a:ahLst/>
            <a:cxnLst/>
            <a:rect l="l" t="t" r="r" b="b"/>
            <a:pathLst>
              <a:path w="2418715" h="292735">
                <a:moveTo>
                  <a:pt x="0" y="292608"/>
                </a:moveTo>
                <a:lnTo>
                  <a:pt x="2418588" y="292608"/>
                </a:lnTo>
                <a:lnTo>
                  <a:pt x="2418588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757921" y="4708652"/>
            <a:ext cx="1139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001F5F"/>
                </a:solidFill>
                <a:latin typeface="Microsoft JhengHei"/>
                <a:cs typeface="Microsoft JhengHei"/>
              </a:rPr>
              <a:t>50</a:t>
            </a:r>
            <a:r>
              <a:rPr sz="2000" b="1" spc="130" dirty="0">
                <a:solidFill>
                  <a:srgbClr val="001F5F"/>
                </a:solidFill>
                <a:latin typeface="Microsoft JhengHei"/>
                <a:cs typeface="Microsoft JhengHei"/>
              </a:rPr>
              <a:t>/</a:t>
            </a:r>
            <a:r>
              <a:rPr sz="2000" b="1" spc="-254" dirty="0">
                <a:solidFill>
                  <a:srgbClr val="001F5F"/>
                </a:solidFill>
                <a:latin typeface="Microsoft JhengHei"/>
                <a:cs typeface="Microsoft JhengHei"/>
              </a:rPr>
              <a:t>50</a:t>
            </a:r>
            <a:r>
              <a:rPr sz="2000" b="1" spc="-15" dirty="0">
                <a:solidFill>
                  <a:srgbClr val="001F5F"/>
                </a:solidFill>
                <a:latin typeface="Microsoft JhengHei"/>
                <a:cs typeface="Microsoft JhengHei"/>
              </a:rPr>
              <a:t>规则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38676" y="1558798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楷体"/>
                <a:cs typeface="楷体"/>
              </a:rPr>
              <a:t>计划</a:t>
            </a:r>
            <a:endParaRPr sz="1600">
              <a:latin typeface="楷体"/>
              <a:cs typeface="楷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43578" y="2041093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楷体"/>
                <a:cs typeface="楷体"/>
              </a:rPr>
              <a:t>实际</a:t>
            </a:r>
            <a:endParaRPr sz="1600">
              <a:latin typeface="楷体"/>
              <a:cs typeface="楷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535679" y="1792223"/>
            <a:ext cx="605155" cy="123825"/>
          </a:xfrm>
          <a:custGeom>
            <a:avLst/>
            <a:gdLst/>
            <a:ahLst/>
            <a:cxnLst/>
            <a:rect l="l" t="t" r="r" b="b"/>
            <a:pathLst>
              <a:path w="605154" h="123825">
                <a:moveTo>
                  <a:pt x="605028" y="0"/>
                </a:moveTo>
                <a:lnTo>
                  <a:pt x="0" y="12344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21964" y="2193035"/>
            <a:ext cx="619125" cy="12700"/>
          </a:xfrm>
          <a:custGeom>
            <a:avLst/>
            <a:gdLst/>
            <a:ahLst/>
            <a:cxnLst/>
            <a:rect l="l" t="t" r="r" b="b"/>
            <a:pathLst>
              <a:path w="619125" h="12700">
                <a:moveTo>
                  <a:pt x="0" y="0"/>
                </a:moveTo>
                <a:lnTo>
                  <a:pt x="618744" y="1219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615" y="258902"/>
            <a:ext cx="378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挣值分析输</a:t>
            </a:r>
            <a:r>
              <a:rPr spc="5" dirty="0"/>
              <a:t>出</a:t>
            </a:r>
            <a:r>
              <a:rPr i="1" dirty="0">
                <a:latin typeface="华文隶书"/>
                <a:cs typeface="华文隶书"/>
              </a:rPr>
              <a:t>-1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634" y="1521550"/>
            <a:ext cx="7755890" cy="43522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3200" b="1" spc="5" dirty="0">
                <a:solidFill>
                  <a:srgbClr val="404040"/>
                </a:solidFill>
                <a:latin typeface="黑体"/>
                <a:cs typeface="黑体"/>
              </a:rPr>
              <a:t>进度</a:t>
            </a:r>
            <a:r>
              <a:rPr sz="3200" b="1" spc="-10" dirty="0">
                <a:solidFill>
                  <a:srgbClr val="404040"/>
                </a:solidFill>
                <a:latin typeface="黑体"/>
                <a:cs typeface="黑体"/>
              </a:rPr>
              <a:t>差</a:t>
            </a:r>
            <a:r>
              <a:rPr sz="3200" b="1" spc="15" dirty="0">
                <a:solidFill>
                  <a:srgbClr val="404040"/>
                </a:solidFill>
                <a:latin typeface="黑体"/>
                <a:cs typeface="黑体"/>
              </a:rPr>
              <a:t>异</a:t>
            </a:r>
            <a:r>
              <a:rPr sz="3200" b="1" spc="-5" dirty="0">
                <a:solidFill>
                  <a:srgbClr val="404040"/>
                </a:solidFill>
                <a:latin typeface="黑体"/>
                <a:cs typeface="黑体"/>
              </a:rPr>
              <a:t>:SV</a:t>
            </a:r>
            <a:r>
              <a:rPr sz="3200" b="1" spc="-5" dirty="0">
                <a:solidFill>
                  <a:srgbClr val="404040"/>
                </a:solidFill>
                <a:latin typeface="宋体"/>
                <a:cs typeface="宋体"/>
              </a:rPr>
              <a:t>（</a:t>
            </a:r>
            <a:r>
              <a:rPr sz="2400" b="1" spc="-5" dirty="0">
                <a:solidFill>
                  <a:srgbClr val="404040"/>
                </a:solidFill>
                <a:latin typeface="黑体"/>
                <a:cs typeface="黑体"/>
              </a:rPr>
              <a:t>Schedule</a:t>
            </a:r>
            <a:r>
              <a:rPr sz="2400" b="1" spc="-50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2400" b="1" dirty="0">
                <a:solidFill>
                  <a:srgbClr val="404040"/>
                </a:solidFill>
                <a:latin typeface="黑体"/>
                <a:cs typeface="黑体"/>
              </a:rPr>
              <a:t>Variance</a:t>
            </a:r>
            <a:r>
              <a:rPr sz="3200" b="1" dirty="0">
                <a:solidFill>
                  <a:srgbClr val="404040"/>
                </a:solidFill>
                <a:latin typeface="宋体"/>
                <a:cs typeface="宋体"/>
              </a:rPr>
              <a:t>）</a:t>
            </a:r>
            <a:r>
              <a:rPr sz="3200" b="1" dirty="0">
                <a:solidFill>
                  <a:srgbClr val="404040"/>
                </a:solidFill>
                <a:latin typeface="黑体"/>
                <a:cs typeface="黑体"/>
              </a:rPr>
              <a:t>=BCWP-BCWS</a:t>
            </a:r>
            <a:endParaRPr sz="3200">
              <a:latin typeface="黑体"/>
              <a:cs typeface="黑体"/>
            </a:endParaRPr>
          </a:p>
          <a:p>
            <a:pPr marL="2432685">
              <a:lnSpc>
                <a:spcPct val="100000"/>
              </a:lnSpc>
              <a:spcBef>
                <a:spcPts val="1035"/>
              </a:spcBef>
              <a:tabLst>
                <a:tab pos="2889885" algn="l"/>
              </a:tabLst>
            </a:pPr>
            <a:r>
              <a:rPr sz="2800" spc="-5" dirty="0">
                <a:solidFill>
                  <a:srgbClr val="716868"/>
                </a:solidFill>
                <a:latin typeface="Wingdings"/>
                <a:cs typeface="Wingdings"/>
              </a:rPr>
              <a:t></a:t>
            </a:r>
            <a:r>
              <a:rPr sz="2800" spc="-5" dirty="0">
                <a:solidFill>
                  <a:srgbClr val="716868"/>
                </a:solidFill>
                <a:latin typeface="Times New Roman"/>
                <a:cs typeface="Times New Roman"/>
              </a:rPr>
              <a:t>	</a:t>
            </a:r>
            <a:r>
              <a:rPr sz="2800" i="1" spc="-5" dirty="0">
                <a:solidFill>
                  <a:srgbClr val="404040"/>
                </a:solidFill>
                <a:latin typeface="华文隶书"/>
                <a:cs typeface="华文隶书"/>
              </a:rPr>
              <a:t>=0</a:t>
            </a:r>
            <a:r>
              <a:rPr sz="2800" spc="-5" dirty="0">
                <a:solidFill>
                  <a:srgbClr val="404040"/>
                </a:solidFill>
                <a:latin typeface="华文隶书"/>
                <a:cs typeface="华文隶书"/>
              </a:rPr>
              <a:t>：按照计划进度进行</a:t>
            </a:r>
            <a:endParaRPr sz="2800">
              <a:latin typeface="华文隶书"/>
              <a:cs typeface="华文隶书"/>
            </a:endParaRPr>
          </a:p>
          <a:p>
            <a:pPr marL="2966085" indent="-457834">
              <a:lnSpc>
                <a:spcPct val="100000"/>
              </a:lnSpc>
              <a:spcBef>
                <a:spcPts val="670"/>
              </a:spcBef>
              <a:buClr>
                <a:srgbClr val="716868"/>
              </a:buClr>
              <a:buFont typeface="Wingdings"/>
              <a:buChar char=""/>
              <a:tabLst>
                <a:tab pos="2966085" algn="l"/>
                <a:tab pos="2966720" algn="l"/>
              </a:tabLst>
            </a:pPr>
            <a:r>
              <a:rPr sz="2800" i="1" spc="-5" dirty="0">
                <a:solidFill>
                  <a:srgbClr val="404040"/>
                </a:solidFill>
                <a:latin typeface="华文隶书"/>
                <a:cs typeface="华文隶书"/>
              </a:rPr>
              <a:t>&lt;</a:t>
            </a:r>
            <a:r>
              <a:rPr sz="2800" i="1" dirty="0">
                <a:solidFill>
                  <a:srgbClr val="404040"/>
                </a:solidFill>
                <a:latin typeface="华文隶书"/>
                <a:cs typeface="华文隶书"/>
              </a:rPr>
              <a:t>0</a:t>
            </a:r>
            <a:r>
              <a:rPr sz="2800" spc="-5" dirty="0">
                <a:solidFill>
                  <a:srgbClr val="404040"/>
                </a:solidFill>
                <a:latin typeface="华文隶书"/>
                <a:cs typeface="华文隶书"/>
              </a:rPr>
              <a:t>：落后于进度</a:t>
            </a:r>
            <a:endParaRPr sz="2800">
              <a:latin typeface="华文隶书"/>
              <a:cs typeface="华文隶书"/>
            </a:endParaRPr>
          </a:p>
          <a:p>
            <a:pPr marL="2966085" indent="-457834">
              <a:lnSpc>
                <a:spcPct val="100000"/>
              </a:lnSpc>
              <a:spcBef>
                <a:spcPts val="670"/>
              </a:spcBef>
              <a:buClr>
                <a:srgbClr val="716868"/>
              </a:buClr>
              <a:buFont typeface="Wingdings"/>
              <a:buChar char=""/>
              <a:tabLst>
                <a:tab pos="2966085" algn="l"/>
                <a:tab pos="2966720" algn="l"/>
              </a:tabLst>
            </a:pPr>
            <a:r>
              <a:rPr sz="2800" i="1" spc="-10" dirty="0">
                <a:solidFill>
                  <a:srgbClr val="404040"/>
                </a:solidFill>
                <a:latin typeface="华文隶书"/>
                <a:cs typeface="华文隶书"/>
              </a:rPr>
              <a:t>&gt;</a:t>
            </a:r>
            <a:r>
              <a:rPr sz="2800" i="1" spc="-5" dirty="0">
                <a:solidFill>
                  <a:srgbClr val="404040"/>
                </a:solidFill>
                <a:latin typeface="华文隶书"/>
                <a:cs typeface="华文隶书"/>
              </a:rPr>
              <a:t>0</a:t>
            </a:r>
            <a:r>
              <a:rPr sz="2800" spc="-10" dirty="0">
                <a:solidFill>
                  <a:srgbClr val="404040"/>
                </a:solidFill>
                <a:latin typeface="华文隶书"/>
                <a:cs typeface="华文隶书"/>
              </a:rPr>
              <a:t>：超前于进度</a:t>
            </a:r>
            <a:endParaRPr sz="2800">
              <a:latin typeface="华文隶书"/>
              <a:cs typeface="华文隶书"/>
            </a:endParaRPr>
          </a:p>
          <a:p>
            <a:pPr marL="24765">
              <a:lnSpc>
                <a:spcPct val="100000"/>
              </a:lnSpc>
              <a:spcBef>
                <a:spcPts val="1110"/>
              </a:spcBef>
            </a:pPr>
            <a:r>
              <a:rPr sz="3200" b="1" spc="-5" dirty="0">
                <a:latin typeface="黑体"/>
                <a:cs typeface="黑体"/>
              </a:rPr>
              <a:t>成本</a:t>
            </a:r>
            <a:r>
              <a:rPr sz="3200" b="1" spc="-10" dirty="0">
                <a:latin typeface="黑体"/>
                <a:cs typeface="黑体"/>
              </a:rPr>
              <a:t>差</a:t>
            </a:r>
            <a:r>
              <a:rPr sz="3200" b="1" spc="5" dirty="0">
                <a:latin typeface="黑体"/>
                <a:cs typeface="黑体"/>
              </a:rPr>
              <a:t>异</a:t>
            </a:r>
            <a:r>
              <a:rPr sz="3200" b="1" spc="-5" dirty="0">
                <a:latin typeface="黑体"/>
                <a:cs typeface="黑体"/>
              </a:rPr>
              <a:t>:CV</a:t>
            </a:r>
            <a:r>
              <a:rPr sz="3200" spc="-5" dirty="0">
                <a:latin typeface="黑体"/>
                <a:cs typeface="黑体"/>
              </a:rPr>
              <a:t>（</a:t>
            </a:r>
            <a:r>
              <a:rPr sz="2800" spc="-5" dirty="0">
                <a:latin typeface="黑体"/>
                <a:cs typeface="黑体"/>
              </a:rPr>
              <a:t>Cost</a:t>
            </a:r>
            <a:r>
              <a:rPr sz="2800" spc="-15" dirty="0">
                <a:latin typeface="黑体"/>
                <a:cs typeface="黑体"/>
              </a:rPr>
              <a:t> </a:t>
            </a:r>
            <a:r>
              <a:rPr sz="2800" spc="-5" dirty="0">
                <a:latin typeface="黑体"/>
                <a:cs typeface="黑体"/>
              </a:rPr>
              <a:t>Variance</a:t>
            </a:r>
            <a:r>
              <a:rPr sz="2800" spc="210" dirty="0">
                <a:latin typeface="黑体"/>
                <a:cs typeface="黑体"/>
              </a:rPr>
              <a:t> </a:t>
            </a:r>
            <a:r>
              <a:rPr sz="3200" b="1" spc="-5" dirty="0">
                <a:latin typeface="黑体"/>
                <a:cs typeface="黑体"/>
              </a:rPr>
              <a:t>)=BCWP-ACWP</a:t>
            </a:r>
            <a:endParaRPr sz="3200">
              <a:latin typeface="黑体"/>
              <a:cs typeface="黑体"/>
            </a:endParaRPr>
          </a:p>
          <a:p>
            <a:pPr marL="2590165">
              <a:lnSpc>
                <a:spcPct val="100000"/>
              </a:lnSpc>
              <a:spcBef>
                <a:spcPts val="1835"/>
              </a:spcBef>
            </a:pPr>
            <a:r>
              <a:rPr sz="2400" dirty="0">
                <a:solidFill>
                  <a:srgbClr val="716868"/>
                </a:solidFill>
                <a:latin typeface="Wingdings"/>
                <a:cs typeface="Wingdings"/>
              </a:rPr>
              <a:t></a:t>
            </a:r>
            <a:r>
              <a:rPr sz="2400" spc="180" dirty="0">
                <a:solidFill>
                  <a:srgbClr val="716868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04040"/>
                </a:solidFill>
                <a:latin typeface="华文隶书"/>
                <a:cs typeface="华文隶书"/>
              </a:rPr>
              <a:t>=0</a:t>
            </a:r>
            <a:r>
              <a:rPr sz="2400" dirty="0">
                <a:solidFill>
                  <a:srgbClr val="404040"/>
                </a:solidFill>
                <a:latin typeface="华文隶书"/>
                <a:cs typeface="华文隶书"/>
              </a:rPr>
              <a:t>：按照计划预算进行</a:t>
            </a:r>
            <a:endParaRPr sz="2400">
              <a:latin typeface="华文隶书"/>
              <a:cs typeface="华文隶书"/>
            </a:endParaRPr>
          </a:p>
          <a:p>
            <a:pPr marL="2902585" indent="-343535">
              <a:lnSpc>
                <a:spcPct val="100000"/>
              </a:lnSpc>
              <a:spcBef>
                <a:spcPts val="575"/>
              </a:spcBef>
              <a:buClr>
                <a:srgbClr val="716868"/>
              </a:buClr>
              <a:buFont typeface="Wingdings"/>
              <a:buChar char=""/>
              <a:tabLst>
                <a:tab pos="2903220" algn="l"/>
              </a:tabLst>
            </a:pPr>
            <a:r>
              <a:rPr sz="2400" i="1" spc="-5" dirty="0">
                <a:solidFill>
                  <a:srgbClr val="404040"/>
                </a:solidFill>
                <a:latin typeface="华文隶书"/>
                <a:cs typeface="华文隶书"/>
              </a:rPr>
              <a:t>&lt;0</a:t>
            </a:r>
            <a:r>
              <a:rPr sz="2400" spc="-5" dirty="0">
                <a:solidFill>
                  <a:srgbClr val="404040"/>
                </a:solidFill>
                <a:latin typeface="华文隶书"/>
                <a:cs typeface="华文隶书"/>
              </a:rPr>
              <a:t>：比预算差</a:t>
            </a:r>
            <a:endParaRPr sz="2400">
              <a:latin typeface="华文隶书"/>
              <a:cs typeface="华文隶书"/>
            </a:endParaRPr>
          </a:p>
          <a:p>
            <a:pPr marL="2902585" indent="-343535">
              <a:lnSpc>
                <a:spcPct val="100000"/>
              </a:lnSpc>
              <a:spcBef>
                <a:spcPts val="575"/>
              </a:spcBef>
              <a:buClr>
                <a:srgbClr val="716868"/>
              </a:buClr>
              <a:buFont typeface="Wingdings"/>
              <a:buChar char=""/>
              <a:tabLst>
                <a:tab pos="2903220" algn="l"/>
              </a:tabLst>
            </a:pPr>
            <a:r>
              <a:rPr sz="2400" i="1" dirty="0">
                <a:solidFill>
                  <a:srgbClr val="404040"/>
                </a:solidFill>
                <a:latin typeface="华文隶书"/>
                <a:cs typeface="华文隶书"/>
              </a:rPr>
              <a:t>&gt;0</a:t>
            </a:r>
            <a:r>
              <a:rPr sz="2400" dirty="0">
                <a:solidFill>
                  <a:srgbClr val="404040"/>
                </a:solidFill>
                <a:latin typeface="华文隶书"/>
                <a:cs typeface="华文隶书"/>
              </a:rPr>
              <a:t>：比预算好</a:t>
            </a:r>
            <a:endParaRPr sz="24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36982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进度差异实例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84374"/>
            <a:ext cx="9144000" cy="5253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5477" y="1623822"/>
            <a:ext cx="8569960" cy="1374775"/>
          </a:xfrm>
          <a:custGeom>
            <a:avLst/>
            <a:gdLst/>
            <a:ahLst/>
            <a:cxnLst/>
            <a:rect l="l" t="t" r="r" b="b"/>
            <a:pathLst>
              <a:path w="8569960" h="1374775">
                <a:moveTo>
                  <a:pt x="0" y="1374648"/>
                </a:moveTo>
                <a:lnTo>
                  <a:pt x="8569452" y="1374648"/>
                </a:lnTo>
                <a:lnTo>
                  <a:pt x="8569452" y="0"/>
                </a:lnTo>
                <a:lnTo>
                  <a:pt x="0" y="0"/>
                </a:lnTo>
                <a:lnTo>
                  <a:pt x="0" y="1374648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5477" y="3141726"/>
            <a:ext cx="8569960" cy="1374775"/>
          </a:xfrm>
          <a:custGeom>
            <a:avLst/>
            <a:gdLst/>
            <a:ahLst/>
            <a:cxnLst/>
            <a:rect l="l" t="t" r="r" b="b"/>
            <a:pathLst>
              <a:path w="8569960" h="1374775">
                <a:moveTo>
                  <a:pt x="0" y="1374648"/>
                </a:moveTo>
                <a:lnTo>
                  <a:pt x="8569452" y="1374648"/>
                </a:lnTo>
                <a:lnTo>
                  <a:pt x="8569452" y="0"/>
                </a:lnTo>
                <a:lnTo>
                  <a:pt x="0" y="0"/>
                </a:lnTo>
                <a:lnTo>
                  <a:pt x="0" y="1374648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4433" y="4798314"/>
            <a:ext cx="8569960" cy="1940560"/>
          </a:xfrm>
          <a:custGeom>
            <a:avLst/>
            <a:gdLst/>
            <a:ahLst/>
            <a:cxnLst/>
            <a:rect l="l" t="t" r="r" b="b"/>
            <a:pathLst>
              <a:path w="8569960" h="1940559">
                <a:moveTo>
                  <a:pt x="0" y="1940051"/>
                </a:moveTo>
                <a:lnTo>
                  <a:pt x="8569452" y="1940051"/>
                </a:lnTo>
                <a:lnTo>
                  <a:pt x="8569452" y="0"/>
                </a:lnTo>
                <a:lnTo>
                  <a:pt x="0" y="0"/>
                </a:lnTo>
                <a:lnTo>
                  <a:pt x="0" y="1940051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67" y="170433"/>
            <a:ext cx="37852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挣值分析输出</a:t>
            </a:r>
            <a:r>
              <a:rPr i="1" dirty="0">
                <a:latin typeface="华文隶书"/>
                <a:cs typeface="华文隶书"/>
              </a:rPr>
              <a:t>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4422" y="6271666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759" y="1662175"/>
            <a:ext cx="4330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404040"/>
                </a:solidFill>
                <a:latin typeface="黑体"/>
                <a:cs typeface="黑体"/>
              </a:rPr>
              <a:t>进度效能指</a:t>
            </a:r>
            <a:r>
              <a:rPr sz="2800" b="1" spc="-15" dirty="0">
                <a:solidFill>
                  <a:srgbClr val="404040"/>
                </a:solidFill>
                <a:latin typeface="黑体"/>
                <a:cs typeface="黑体"/>
              </a:rPr>
              <a:t>标</a:t>
            </a:r>
            <a:r>
              <a:rPr sz="2800" b="1" spc="-65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黑体"/>
                <a:cs typeface="黑体"/>
              </a:rPr>
              <a:t>SPI</a:t>
            </a:r>
            <a:r>
              <a:rPr sz="2400" spc="-5" dirty="0">
                <a:solidFill>
                  <a:srgbClr val="404040"/>
                </a:solidFill>
                <a:latin typeface="宋体"/>
                <a:cs typeface="宋体"/>
              </a:rPr>
              <a:t>（</a:t>
            </a:r>
            <a:r>
              <a:rPr sz="2400" spc="-5" dirty="0">
                <a:solidFill>
                  <a:srgbClr val="404040"/>
                </a:solidFill>
                <a:latin typeface="黑体"/>
                <a:cs typeface="黑体"/>
              </a:rPr>
              <a:t>Schedule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7971" y="1712467"/>
            <a:ext cx="4119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dirty="0">
                <a:solidFill>
                  <a:srgbClr val="404040"/>
                </a:solidFill>
                <a:latin typeface="黑体"/>
                <a:cs typeface="黑体"/>
              </a:rPr>
              <a:t>Performance	Index)=</a:t>
            </a:r>
            <a:r>
              <a:rPr sz="2400" spc="-65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1800" b="1" dirty="0">
                <a:solidFill>
                  <a:srgbClr val="404040"/>
                </a:solidFill>
                <a:latin typeface="黑体"/>
                <a:cs typeface="黑体"/>
              </a:rPr>
              <a:t>BCWP/BCWS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559" y="3629025"/>
            <a:ext cx="6974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1670" algn="l"/>
              </a:tabLst>
            </a:pPr>
            <a:r>
              <a:rPr sz="2800" b="1" spc="10" dirty="0">
                <a:solidFill>
                  <a:srgbClr val="404040"/>
                </a:solidFill>
                <a:latin typeface="黑体"/>
                <a:cs typeface="黑体"/>
              </a:rPr>
              <a:t>成本效能指</a:t>
            </a:r>
            <a:r>
              <a:rPr sz="2800" b="1" spc="-15" dirty="0">
                <a:solidFill>
                  <a:srgbClr val="404040"/>
                </a:solidFill>
                <a:latin typeface="黑体"/>
                <a:cs typeface="黑体"/>
              </a:rPr>
              <a:t>标</a:t>
            </a:r>
            <a:r>
              <a:rPr sz="2800" spc="-5" dirty="0">
                <a:solidFill>
                  <a:srgbClr val="404040"/>
                </a:solidFill>
                <a:latin typeface="宋体"/>
                <a:cs typeface="宋体"/>
              </a:rPr>
              <a:t>：</a:t>
            </a:r>
            <a:r>
              <a:rPr sz="2400" b="1" dirty="0">
                <a:solidFill>
                  <a:srgbClr val="404040"/>
                </a:solidFill>
                <a:latin typeface="黑体"/>
                <a:cs typeface="黑体"/>
              </a:rPr>
              <a:t>CPI</a:t>
            </a:r>
            <a:r>
              <a:rPr sz="2800" dirty="0">
                <a:solidFill>
                  <a:srgbClr val="404040"/>
                </a:solidFill>
                <a:latin typeface="黑体"/>
                <a:cs typeface="黑体"/>
              </a:rPr>
              <a:t>(</a:t>
            </a:r>
            <a:r>
              <a:rPr sz="2400" dirty="0">
                <a:solidFill>
                  <a:srgbClr val="404040"/>
                </a:solidFill>
                <a:latin typeface="黑体"/>
                <a:cs typeface="黑体"/>
              </a:rPr>
              <a:t>Cost</a:t>
            </a:r>
            <a:r>
              <a:rPr sz="2400" spc="-40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2400" dirty="0">
                <a:solidFill>
                  <a:srgbClr val="404040"/>
                </a:solidFill>
                <a:latin typeface="黑体"/>
                <a:cs typeface="黑体"/>
              </a:rPr>
              <a:t>Performance	Inde</a:t>
            </a:r>
            <a:r>
              <a:rPr sz="2400" spc="5" dirty="0">
                <a:solidFill>
                  <a:srgbClr val="404040"/>
                </a:solidFill>
                <a:latin typeface="黑体"/>
                <a:cs typeface="黑体"/>
              </a:rPr>
              <a:t>x</a:t>
            </a:r>
            <a:r>
              <a:rPr sz="3600" dirty="0">
                <a:solidFill>
                  <a:srgbClr val="404040"/>
                </a:solidFill>
                <a:latin typeface="黑体"/>
                <a:cs typeface="黑体"/>
              </a:rPr>
              <a:t>)=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6268" y="3857625"/>
            <a:ext cx="106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黑体"/>
                <a:cs typeface="黑体"/>
              </a:rPr>
              <a:t>BCWP/ACWP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67" y="170433"/>
            <a:ext cx="37852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挣值分析输出</a:t>
            </a:r>
            <a:r>
              <a:rPr i="1" dirty="0">
                <a:latin typeface="华文隶书"/>
                <a:cs typeface="华文隶书"/>
              </a:rPr>
              <a:t>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4422" y="6271666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0003" y="2249881"/>
            <a:ext cx="34042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16868"/>
                </a:solidFill>
                <a:latin typeface="Wingdings"/>
                <a:cs typeface="Wingdings"/>
              </a:rPr>
              <a:t></a:t>
            </a:r>
            <a:r>
              <a:rPr sz="2400" spc="125" dirty="0">
                <a:solidFill>
                  <a:srgbClr val="716868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404040"/>
                </a:solidFill>
                <a:latin typeface="华文隶书"/>
                <a:cs typeface="华文隶书"/>
              </a:rPr>
              <a:t>=1</a:t>
            </a:r>
            <a:r>
              <a:rPr sz="2400" spc="-5" dirty="0">
                <a:solidFill>
                  <a:srgbClr val="404040"/>
                </a:solidFill>
                <a:latin typeface="华文隶书"/>
                <a:cs typeface="华文隶书"/>
              </a:rPr>
              <a:t>：按照计划进度进行</a:t>
            </a:r>
            <a:endParaRPr sz="2400">
              <a:latin typeface="华文隶书"/>
              <a:cs typeface="华文隶书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716868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i="1" dirty="0">
                <a:solidFill>
                  <a:srgbClr val="404040"/>
                </a:solidFill>
                <a:latin typeface="华文隶书"/>
                <a:cs typeface="华文隶书"/>
              </a:rPr>
              <a:t>&gt;1</a:t>
            </a:r>
            <a:r>
              <a:rPr sz="2400" dirty="0">
                <a:solidFill>
                  <a:srgbClr val="404040"/>
                </a:solidFill>
                <a:latin typeface="华文隶书"/>
                <a:cs typeface="华文隶书"/>
              </a:rPr>
              <a:t>：超前于进度</a:t>
            </a:r>
            <a:endParaRPr sz="2400">
              <a:latin typeface="华文隶书"/>
              <a:cs typeface="华文隶书"/>
            </a:endParaRPr>
          </a:p>
          <a:p>
            <a:pPr marL="355600" indent="-342900">
              <a:lnSpc>
                <a:spcPct val="100000"/>
              </a:lnSpc>
              <a:buClr>
                <a:srgbClr val="716868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i="1" dirty="0">
                <a:solidFill>
                  <a:srgbClr val="404040"/>
                </a:solidFill>
                <a:latin typeface="华文隶书"/>
                <a:cs typeface="华文隶书"/>
              </a:rPr>
              <a:t>&lt;1</a:t>
            </a:r>
            <a:r>
              <a:rPr sz="2400" dirty="0">
                <a:solidFill>
                  <a:srgbClr val="404040"/>
                </a:solidFill>
                <a:latin typeface="华文隶书"/>
                <a:cs typeface="华文隶书"/>
              </a:rPr>
              <a:t>：落后于进度</a:t>
            </a:r>
            <a:endParaRPr sz="2400">
              <a:latin typeface="华文隶书"/>
              <a:cs typeface="华文隶书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9" y="1662175"/>
            <a:ext cx="4330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404040"/>
                </a:solidFill>
                <a:latin typeface="黑体"/>
                <a:cs typeface="黑体"/>
              </a:rPr>
              <a:t>进度效能指</a:t>
            </a:r>
            <a:r>
              <a:rPr sz="2800" b="1" spc="-15" dirty="0">
                <a:solidFill>
                  <a:srgbClr val="404040"/>
                </a:solidFill>
                <a:latin typeface="黑体"/>
                <a:cs typeface="黑体"/>
              </a:rPr>
              <a:t>标</a:t>
            </a:r>
            <a:r>
              <a:rPr sz="2800" b="1" spc="-65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黑体"/>
                <a:cs typeface="黑体"/>
              </a:rPr>
              <a:t>SPI</a:t>
            </a:r>
            <a:r>
              <a:rPr sz="2400" spc="-5" dirty="0">
                <a:solidFill>
                  <a:srgbClr val="404040"/>
                </a:solidFill>
                <a:latin typeface="宋体"/>
                <a:cs typeface="宋体"/>
              </a:rPr>
              <a:t>（</a:t>
            </a:r>
            <a:r>
              <a:rPr sz="2400" spc="-5" dirty="0">
                <a:solidFill>
                  <a:srgbClr val="404040"/>
                </a:solidFill>
                <a:latin typeface="黑体"/>
                <a:cs typeface="黑体"/>
              </a:rPr>
              <a:t>Schedule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7971" y="1712467"/>
            <a:ext cx="4119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dirty="0">
                <a:solidFill>
                  <a:srgbClr val="404040"/>
                </a:solidFill>
                <a:latin typeface="黑体"/>
                <a:cs typeface="黑体"/>
              </a:rPr>
              <a:t>Performance	Index)=</a:t>
            </a:r>
            <a:r>
              <a:rPr sz="2400" spc="-65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1800" b="1" dirty="0">
                <a:solidFill>
                  <a:srgbClr val="404040"/>
                </a:solidFill>
                <a:latin typeface="黑体"/>
                <a:cs typeface="黑体"/>
              </a:rPr>
              <a:t>BCWP/BCWS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6268" y="3857625"/>
            <a:ext cx="106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黑体"/>
                <a:cs typeface="黑体"/>
              </a:rPr>
              <a:t>BCWP/ACWP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559" y="3505404"/>
            <a:ext cx="7082790" cy="195262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  <a:tabLst>
                <a:tab pos="5741670" algn="l"/>
              </a:tabLst>
            </a:pPr>
            <a:r>
              <a:rPr sz="2800" b="1" spc="10" dirty="0">
                <a:solidFill>
                  <a:srgbClr val="404040"/>
                </a:solidFill>
                <a:latin typeface="黑体"/>
                <a:cs typeface="黑体"/>
              </a:rPr>
              <a:t>成本效能指</a:t>
            </a:r>
            <a:r>
              <a:rPr sz="2800" b="1" spc="-15" dirty="0">
                <a:solidFill>
                  <a:srgbClr val="404040"/>
                </a:solidFill>
                <a:latin typeface="黑体"/>
                <a:cs typeface="黑体"/>
              </a:rPr>
              <a:t>标</a:t>
            </a:r>
            <a:r>
              <a:rPr sz="2800" dirty="0">
                <a:solidFill>
                  <a:srgbClr val="404040"/>
                </a:solidFill>
                <a:latin typeface="宋体"/>
                <a:cs typeface="宋体"/>
              </a:rPr>
              <a:t>：</a:t>
            </a:r>
            <a:r>
              <a:rPr sz="2400" b="1" dirty="0">
                <a:solidFill>
                  <a:srgbClr val="404040"/>
                </a:solidFill>
                <a:latin typeface="黑体"/>
                <a:cs typeface="黑体"/>
              </a:rPr>
              <a:t>CPI</a:t>
            </a:r>
            <a:r>
              <a:rPr sz="2800" dirty="0">
                <a:solidFill>
                  <a:srgbClr val="404040"/>
                </a:solidFill>
                <a:latin typeface="黑体"/>
                <a:cs typeface="黑体"/>
              </a:rPr>
              <a:t>(</a:t>
            </a:r>
            <a:r>
              <a:rPr sz="2400" dirty="0">
                <a:solidFill>
                  <a:srgbClr val="404040"/>
                </a:solidFill>
                <a:latin typeface="黑体"/>
                <a:cs typeface="黑体"/>
              </a:rPr>
              <a:t>Cost</a:t>
            </a:r>
            <a:r>
              <a:rPr sz="2400" spc="-40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2400" dirty="0">
                <a:solidFill>
                  <a:srgbClr val="404040"/>
                </a:solidFill>
                <a:latin typeface="黑体"/>
                <a:cs typeface="黑体"/>
              </a:rPr>
              <a:t>Performance	Index</a:t>
            </a:r>
            <a:r>
              <a:rPr sz="3600" dirty="0">
                <a:solidFill>
                  <a:srgbClr val="404040"/>
                </a:solidFill>
                <a:latin typeface="黑体"/>
                <a:cs typeface="黑体"/>
              </a:rPr>
              <a:t>)=</a:t>
            </a:r>
            <a:endParaRPr sz="3600">
              <a:latin typeface="黑体"/>
              <a:cs typeface="黑体"/>
            </a:endParaRPr>
          </a:p>
          <a:p>
            <a:pPr marL="3556000">
              <a:lnSpc>
                <a:spcPct val="100000"/>
              </a:lnSpc>
              <a:spcBef>
                <a:spcPts val="755"/>
              </a:spcBef>
              <a:tabLst>
                <a:tab pos="4013835" algn="l"/>
              </a:tabLst>
            </a:pPr>
            <a:r>
              <a:rPr sz="2800" spc="-5" dirty="0">
                <a:solidFill>
                  <a:srgbClr val="716868"/>
                </a:solidFill>
                <a:latin typeface="Wingdings"/>
                <a:cs typeface="Wingdings"/>
              </a:rPr>
              <a:t></a:t>
            </a:r>
            <a:r>
              <a:rPr sz="2800" spc="-5" dirty="0">
                <a:solidFill>
                  <a:srgbClr val="716868"/>
                </a:solidFill>
                <a:latin typeface="Times New Roman"/>
                <a:cs typeface="Times New Roman"/>
              </a:rPr>
              <a:t>	</a:t>
            </a:r>
            <a:r>
              <a:rPr sz="2800" dirty="0">
                <a:solidFill>
                  <a:srgbClr val="404040"/>
                </a:solidFill>
                <a:latin typeface="黑体"/>
                <a:cs typeface="黑体"/>
              </a:rPr>
              <a:t>=</a:t>
            </a:r>
            <a:r>
              <a:rPr sz="2400" i="1" dirty="0">
                <a:solidFill>
                  <a:srgbClr val="404040"/>
                </a:solidFill>
                <a:latin typeface="华文隶书"/>
                <a:cs typeface="华文隶书"/>
              </a:rPr>
              <a:t>1</a:t>
            </a:r>
            <a:r>
              <a:rPr sz="2400" dirty="0">
                <a:solidFill>
                  <a:srgbClr val="404040"/>
                </a:solidFill>
                <a:latin typeface="华文隶书"/>
                <a:cs typeface="华文隶书"/>
              </a:rPr>
              <a:t>：按照计划预算进行</a:t>
            </a:r>
            <a:endParaRPr sz="2400">
              <a:latin typeface="华文隶书"/>
              <a:cs typeface="华文隶书"/>
            </a:endParaRPr>
          </a:p>
          <a:p>
            <a:pPr marL="3890645" indent="-344170">
              <a:lnSpc>
                <a:spcPct val="100000"/>
              </a:lnSpc>
              <a:spcBef>
                <a:spcPts val="5"/>
              </a:spcBef>
              <a:buClr>
                <a:srgbClr val="716868"/>
              </a:buClr>
              <a:buFont typeface="Wingdings"/>
              <a:buChar char=""/>
              <a:tabLst>
                <a:tab pos="3891279" algn="l"/>
              </a:tabLst>
            </a:pPr>
            <a:r>
              <a:rPr sz="2400" i="1" spc="-5" dirty="0">
                <a:solidFill>
                  <a:srgbClr val="404040"/>
                </a:solidFill>
                <a:latin typeface="华文隶书"/>
                <a:cs typeface="华文隶书"/>
              </a:rPr>
              <a:t>&gt;1</a:t>
            </a:r>
            <a:r>
              <a:rPr sz="2400" spc="-5" dirty="0">
                <a:solidFill>
                  <a:srgbClr val="404040"/>
                </a:solidFill>
                <a:latin typeface="华文隶书"/>
                <a:cs typeface="华文隶书"/>
              </a:rPr>
              <a:t>：低于预算</a:t>
            </a:r>
            <a:endParaRPr sz="2400">
              <a:latin typeface="华文隶书"/>
              <a:cs typeface="华文隶书"/>
            </a:endParaRPr>
          </a:p>
          <a:p>
            <a:pPr marL="3890645" indent="-344170">
              <a:lnSpc>
                <a:spcPct val="100000"/>
              </a:lnSpc>
              <a:buClr>
                <a:srgbClr val="716868"/>
              </a:buClr>
              <a:buFont typeface="Wingdings"/>
              <a:buChar char=""/>
              <a:tabLst>
                <a:tab pos="3891279" algn="l"/>
              </a:tabLst>
            </a:pPr>
            <a:r>
              <a:rPr sz="2400" i="1" dirty="0">
                <a:solidFill>
                  <a:srgbClr val="404040"/>
                </a:solidFill>
                <a:latin typeface="华文隶书"/>
                <a:cs typeface="华文隶书"/>
              </a:rPr>
              <a:t>&lt;1</a:t>
            </a:r>
            <a:r>
              <a:rPr sz="2400" dirty="0">
                <a:solidFill>
                  <a:srgbClr val="404040"/>
                </a:solidFill>
                <a:latin typeface="华文隶书"/>
                <a:cs typeface="华文隶书"/>
              </a:rPr>
              <a:t>：超出预算</a:t>
            </a:r>
            <a:endParaRPr sz="24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36982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性能指标图示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8495" y="2582964"/>
            <a:ext cx="8644128" cy="4213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051" y="1688592"/>
            <a:ext cx="9037320" cy="524510"/>
          </a:xfrm>
          <a:prstGeom prst="rect">
            <a:avLst/>
          </a:prstGeom>
          <a:ln w="9144">
            <a:solidFill>
              <a:srgbClr val="AFAC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2800" b="1" dirty="0">
                <a:latin typeface="华文新魏"/>
                <a:cs typeface="华文新魏"/>
              </a:rPr>
              <a:t>研究表明：</a:t>
            </a:r>
            <a:r>
              <a:rPr sz="2800" b="1" spc="-5" dirty="0">
                <a:latin typeface="华文新魏"/>
                <a:cs typeface="华文新魏"/>
              </a:rPr>
              <a:t>进度进展</a:t>
            </a:r>
            <a:r>
              <a:rPr sz="2800" b="1" spc="20" dirty="0">
                <a:latin typeface="华文新魏"/>
                <a:cs typeface="华文新魏"/>
              </a:rPr>
              <a:t>到</a:t>
            </a:r>
            <a:r>
              <a:rPr sz="2800" b="1" dirty="0">
                <a:latin typeface="华文新魏"/>
                <a:cs typeface="华文新魏"/>
              </a:rPr>
              <a:t>20%左</a:t>
            </a:r>
            <a:r>
              <a:rPr sz="2800" b="1" spc="-5" dirty="0">
                <a:latin typeface="华文新魏"/>
                <a:cs typeface="华文新魏"/>
              </a:rPr>
              <a:t>右的时候，CPI</a:t>
            </a:r>
            <a:r>
              <a:rPr sz="2800" b="1" dirty="0">
                <a:latin typeface="华文新魏"/>
                <a:cs typeface="华文新魏"/>
              </a:rPr>
              <a:t>趋</a:t>
            </a:r>
            <a:r>
              <a:rPr sz="2800" b="1" spc="-5" dirty="0">
                <a:latin typeface="华文新魏"/>
                <a:cs typeface="华文新魏"/>
              </a:rPr>
              <a:t>于稳定。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644" y="459739"/>
            <a:ext cx="1703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中宋"/>
                <a:cs typeface="华文中宋"/>
              </a:rPr>
              <a:t>问题？</a:t>
            </a:r>
            <a:endParaRPr sz="4400">
              <a:latin typeface="华文中宋"/>
              <a:cs typeface="华文中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6062" y="2134361"/>
            <a:ext cx="8153400" cy="605155"/>
          </a:xfrm>
          <a:custGeom>
            <a:avLst/>
            <a:gdLst/>
            <a:ahLst/>
            <a:cxnLst/>
            <a:rect l="l" t="t" r="r" b="b"/>
            <a:pathLst>
              <a:path w="8153400" h="605155">
                <a:moveTo>
                  <a:pt x="0" y="605027"/>
                </a:moveTo>
                <a:lnTo>
                  <a:pt x="8153400" y="605027"/>
                </a:lnTo>
                <a:lnTo>
                  <a:pt x="81534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4040" y="2130374"/>
            <a:ext cx="5293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w Cen MT"/>
                <a:cs typeface="Tw Cen MT"/>
              </a:rPr>
              <a:t>CPI=0.8</a:t>
            </a:r>
            <a:r>
              <a:rPr sz="4000" b="1" spc="-5" dirty="0">
                <a:latin typeface="华文仿宋"/>
                <a:cs typeface="华文仿宋"/>
              </a:rPr>
              <a:t>代表什么意</a:t>
            </a:r>
            <a:r>
              <a:rPr sz="4000" b="1" spc="-10" dirty="0">
                <a:latin typeface="华文仿宋"/>
                <a:cs typeface="华文仿宋"/>
              </a:rPr>
              <a:t>思？</a:t>
            </a:r>
            <a:endParaRPr sz="4000">
              <a:latin typeface="华文仿宋"/>
              <a:cs typeface="华文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464311"/>
            <a:ext cx="78574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9810" algn="l"/>
                <a:tab pos="2417445" algn="l"/>
                <a:tab pos="5160645" algn="l"/>
              </a:tabLst>
            </a:pPr>
            <a:r>
              <a:rPr sz="3600" dirty="0">
                <a:latin typeface="华文中宋"/>
                <a:cs typeface="华文中宋"/>
              </a:rPr>
              <a:t>CPI	</a:t>
            </a:r>
            <a:r>
              <a:rPr sz="4000" dirty="0">
                <a:solidFill>
                  <a:srgbClr val="404040"/>
                </a:solidFill>
                <a:latin typeface="黑体"/>
                <a:cs typeface="黑体"/>
              </a:rPr>
              <a:t>(</a:t>
            </a:r>
            <a:r>
              <a:rPr sz="3600" dirty="0">
                <a:solidFill>
                  <a:srgbClr val="404040"/>
                </a:solidFill>
                <a:latin typeface="黑体"/>
                <a:cs typeface="黑体"/>
              </a:rPr>
              <a:t>Cost	Performance	Inde</a:t>
            </a:r>
            <a:r>
              <a:rPr sz="3600" spc="5" dirty="0">
                <a:solidFill>
                  <a:srgbClr val="404040"/>
                </a:solidFill>
                <a:latin typeface="黑体"/>
                <a:cs typeface="黑体"/>
              </a:rPr>
              <a:t>x</a:t>
            </a:r>
            <a:r>
              <a:rPr sz="4800" dirty="0">
                <a:solidFill>
                  <a:srgbClr val="404040"/>
                </a:solidFill>
                <a:latin typeface="黑体"/>
                <a:cs typeface="黑体"/>
              </a:rPr>
              <a:t>)</a:t>
            </a:r>
            <a:r>
              <a:rPr sz="3600" dirty="0">
                <a:latin typeface="华文中宋"/>
                <a:cs typeface="华文中宋"/>
              </a:rPr>
              <a:t>与CPI</a:t>
            </a:r>
            <a:endParaRPr sz="3600">
              <a:latin typeface="华文中宋"/>
              <a:cs typeface="华文中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9695" y="2997707"/>
            <a:ext cx="5111496" cy="209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2420" y="5586984"/>
            <a:ext cx="8509000" cy="521334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70"/>
              </a:spcBef>
            </a:pPr>
            <a:r>
              <a:rPr sz="2800" spc="-5" dirty="0">
                <a:latin typeface="华文琥珀"/>
                <a:cs typeface="华文琥珀"/>
              </a:rPr>
              <a:t>CPI（consumer</a:t>
            </a:r>
            <a:r>
              <a:rPr sz="2800" spc="15" dirty="0">
                <a:latin typeface="华文琥珀"/>
                <a:cs typeface="华文琥珀"/>
              </a:rPr>
              <a:t> </a:t>
            </a:r>
            <a:r>
              <a:rPr sz="2800" spc="-5" dirty="0">
                <a:latin typeface="华文琥珀"/>
                <a:cs typeface="华文琥珀"/>
              </a:rPr>
              <a:t>price</a:t>
            </a:r>
            <a:r>
              <a:rPr sz="2800" spc="-15" dirty="0">
                <a:latin typeface="华文琥珀"/>
                <a:cs typeface="华文琥珀"/>
              </a:rPr>
              <a:t> </a:t>
            </a:r>
            <a:r>
              <a:rPr sz="2800" dirty="0">
                <a:latin typeface="华文琥珀"/>
                <a:cs typeface="华文琥珀"/>
              </a:rPr>
              <a:t>index）</a:t>
            </a:r>
            <a:r>
              <a:rPr sz="2800" spc="-5" dirty="0">
                <a:latin typeface="华文琥珀"/>
                <a:cs typeface="华文琥珀"/>
              </a:rPr>
              <a:t>居民消费价格指数</a:t>
            </a:r>
            <a:endParaRPr sz="2800">
              <a:latin typeface="华文琥珀"/>
              <a:cs typeface="华文琥珀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963" y="251282"/>
            <a:ext cx="378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挣值分析输</a:t>
            </a:r>
            <a:r>
              <a:rPr spc="-5" dirty="0"/>
              <a:t>出</a:t>
            </a:r>
            <a:r>
              <a:rPr i="1" dirty="0">
                <a:latin typeface="华文隶书"/>
                <a:cs typeface="华文隶书"/>
              </a:rPr>
              <a:t>-3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9446" y="6225336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946" y="1745472"/>
            <a:ext cx="7625715" cy="339788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4000" spc="-5" dirty="0">
                <a:solidFill>
                  <a:srgbClr val="404040"/>
                </a:solidFill>
                <a:latin typeface="黑体"/>
                <a:cs typeface="黑体"/>
              </a:rPr>
              <a:t>EAC (</a:t>
            </a:r>
            <a:r>
              <a:rPr sz="2800" spc="-5" dirty="0">
                <a:solidFill>
                  <a:srgbClr val="404040"/>
                </a:solidFill>
                <a:latin typeface="黑体"/>
                <a:cs typeface="黑体"/>
              </a:rPr>
              <a:t>Estimate At</a:t>
            </a:r>
            <a:r>
              <a:rPr sz="2800" spc="40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黑体"/>
                <a:cs typeface="黑体"/>
              </a:rPr>
              <a:t>Completion</a:t>
            </a:r>
            <a:r>
              <a:rPr sz="4800" spc="-5" dirty="0">
                <a:solidFill>
                  <a:srgbClr val="404040"/>
                </a:solidFill>
                <a:latin typeface="黑体"/>
                <a:cs typeface="黑体"/>
              </a:rPr>
              <a:t>)</a:t>
            </a:r>
            <a:r>
              <a:rPr sz="4000" spc="-5" dirty="0">
                <a:solidFill>
                  <a:srgbClr val="404040"/>
                </a:solidFill>
                <a:latin typeface="黑体"/>
                <a:cs typeface="黑体"/>
              </a:rPr>
              <a:t>=BAC/CPI</a:t>
            </a:r>
            <a:endParaRPr sz="4000">
              <a:latin typeface="黑体"/>
              <a:cs typeface="黑体"/>
            </a:endParaRPr>
          </a:p>
          <a:p>
            <a:pPr marR="330835" algn="ctr">
              <a:lnSpc>
                <a:spcPct val="100000"/>
              </a:lnSpc>
              <a:spcBef>
                <a:spcPts val="434"/>
              </a:spcBef>
            </a:pPr>
            <a:r>
              <a:rPr sz="1600" spc="-5" dirty="0">
                <a:solidFill>
                  <a:srgbClr val="716868"/>
                </a:solidFill>
                <a:latin typeface="Wingdings 2"/>
                <a:cs typeface="Wingdings 2"/>
              </a:rPr>
              <a:t></a:t>
            </a:r>
            <a:r>
              <a:rPr sz="3200" b="1" spc="-10" dirty="0">
                <a:solidFill>
                  <a:srgbClr val="404040"/>
                </a:solidFill>
                <a:latin typeface="楷体"/>
                <a:cs typeface="楷体"/>
              </a:rPr>
              <a:t>预</a:t>
            </a:r>
            <a:r>
              <a:rPr sz="3200" b="1" spc="5" dirty="0">
                <a:solidFill>
                  <a:srgbClr val="404040"/>
                </a:solidFill>
                <a:latin typeface="楷体"/>
                <a:cs typeface="楷体"/>
              </a:rPr>
              <a:t>测</a:t>
            </a:r>
            <a:r>
              <a:rPr sz="3200" b="1" spc="-10" dirty="0">
                <a:solidFill>
                  <a:srgbClr val="404040"/>
                </a:solidFill>
                <a:latin typeface="楷体"/>
                <a:cs typeface="楷体"/>
              </a:rPr>
              <a:t>项目</a:t>
            </a:r>
            <a:r>
              <a:rPr sz="3200" b="1" dirty="0">
                <a:solidFill>
                  <a:srgbClr val="404040"/>
                </a:solidFill>
                <a:latin typeface="楷体"/>
                <a:cs typeface="楷体"/>
              </a:rPr>
              <a:t>完</a:t>
            </a:r>
            <a:r>
              <a:rPr sz="3200" b="1" spc="-10" dirty="0">
                <a:solidFill>
                  <a:srgbClr val="404040"/>
                </a:solidFill>
                <a:latin typeface="楷体"/>
                <a:cs typeface="楷体"/>
              </a:rPr>
              <a:t>成成本</a:t>
            </a:r>
            <a:endParaRPr sz="3200">
              <a:latin typeface="楷体"/>
              <a:cs typeface="楷体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220345">
              <a:lnSpc>
                <a:spcPct val="100000"/>
              </a:lnSpc>
              <a:spcBef>
                <a:spcPts val="2145"/>
              </a:spcBef>
            </a:pPr>
            <a:r>
              <a:rPr sz="4000" spc="-5" dirty="0">
                <a:solidFill>
                  <a:srgbClr val="404040"/>
                </a:solidFill>
                <a:latin typeface="黑体"/>
                <a:cs typeface="黑体"/>
              </a:rPr>
              <a:t>SAC(</a:t>
            </a:r>
            <a:r>
              <a:rPr sz="2800" spc="-5" dirty="0">
                <a:solidFill>
                  <a:srgbClr val="404040"/>
                </a:solidFill>
                <a:latin typeface="黑体"/>
                <a:cs typeface="黑体"/>
              </a:rPr>
              <a:t>Schedule At Completion</a:t>
            </a:r>
            <a:r>
              <a:rPr sz="2800" spc="45" dirty="0">
                <a:solidFill>
                  <a:srgbClr val="404040"/>
                </a:solidFill>
                <a:latin typeface="黑体"/>
                <a:cs typeface="黑体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黑体"/>
                <a:cs typeface="黑体"/>
              </a:rPr>
              <a:t>)=TAC/SPI</a:t>
            </a:r>
            <a:endParaRPr sz="4000">
              <a:latin typeface="黑体"/>
              <a:cs typeface="黑体"/>
            </a:endParaRPr>
          </a:p>
          <a:p>
            <a:pPr marR="384810" algn="ctr">
              <a:lnSpc>
                <a:spcPct val="100000"/>
              </a:lnSpc>
              <a:spcBef>
                <a:spcPts val="1415"/>
              </a:spcBef>
            </a:pPr>
            <a:r>
              <a:rPr sz="1600" dirty="0">
                <a:solidFill>
                  <a:srgbClr val="716868"/>
                </a:solidFill>
                <a:latin typeface="Wingdings 2"/>
                <a:cs typeface="Wingdings 2"/>
              </a:rPr>
              <a:t></a:t>
            </a:r>
            <a:r>
              <a:rPr sz="3200" b="1" spc="-5" dirty="0">
                <a:solidFill>
                  <a:srgbClr val="404040"/>
                </a:solidFill>
                <a:latin typeface="楷体"/>
                <a:cs typeface="楷体"/>
              </a:rPr>
              <a:t>预测</a:t>
            </a:r>
            <a:r>
              <a:rPr sz="3200" b="1" spc="-10" dirty="0">
                <a:solidFill>
                  <a:srgbClr val="404040"/>
                </a:solidFill>
                <a:latin typeface="楷体"/>
                <a:cs typeface="楷体"/>
              </a:rPr>
              <a:t>项</a:t>
            </a:r>
            <a:r>
              <a:rPr sz="3200" b="1" spc="-5" dirty="0">
                <a:solidFill>
                  <a:srgbClr val="404040"/>
                </a:solidFill>
                <a:latin typeface="楷体"/>
                <a:cs typeface="楷体"/>
              </a:rPr>
              <a:t>目完</a:t>
            </a:r>
            <a:r>
              <a:rPr sz="3200" b="1" spc="-10" dirty="0">
                <a:solidFill>
                  <a:srgbClr val="404040"/>
                </a:solidFill>
                <a:latin typeface="楷体"/>
                <a:cs typeface="楷体"/>
              </a:rPr>
              <a:t>成</a:t>
            </a:r>
            <a:r>
              <a:rPr sz="3200" b="1" spc="-5" dirty="0">
                <a:solidFill>
                  <a:srgbClr val="404040"/>
                </a:solidFill>
                <a:latin typeface="楷体"/>
                <a:cs typeface="楷体"/>
              </a:rPr>
              <a:t>时</a:t>
            </a:r>
            <a:r>
              <a:rPr sz="3200" b="1" spc="-10" dirty="0">
                <a:solidFill>
                  <a:srgbClr val="404040"/>
                </a:solidFill>
                <a:latin typeface="楷体"/>
                <a:cs typeface="楷体"/>
              </a:rPr>
              <a:t>间</a:t>
            </a:r>
            <a:endParaRPr sz="32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37852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挣值分析输出</a:t>
            </a:r>
            <a:r>
              <a:rPr i="1" dirty="0">
                <a:latin typeface="华文隶书"/>
                <a:cs typeface="华文隶书"/>
              </a:rPr>
              <a:t>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988820"/>
            <a:ext cx="8153400" cy="1694814"/>
          </a:xfrm>
          <a:prstGeom prst="rect">
            <a:avLst/>
          </a:prstGeom>
          <a:solidFill>
            <a:srgbClr val="AFC9C4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3750">
              <a:latin typeface="Times New Roman"/>
              <a:cs typeface="Times New Roman"/>
            </a:endParaRPr>
          </a:p>
          <a:p>
            <a:pPr marL="411480" indent="-320675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dirty="0">
                <a:latin typeface="华文仿宋"/>
                <a:cs typeface="华文仿宋"/>
              </a:rPr>
              <a:t>成本偏差</a:t>
            </a:r>
            <a:r>
              <a:rPr sz="2900" spc="-55" dirty="0">
                <a:latin typeface="Tw Cen MT"/>
                <a:cs typeface="Tw Cen MT"/>
              </a:rPr>
              <a:t>:VAC=BAC-EAC</a:t>
            </a:r>
            <a:endParaRPr sz="2900">
              <a:latin typeface="Tw Cen MT"/>
              <a:cs typeface="Tw Cen MT"/>
            </a:endParaRPr>
          </a:p>
          <a:p>
            <a:pPr marL="411480" indent="-320675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dirty="0">
                <a:latin typeface="华文仿宋"/>
                <a:cs typeface="华文仿宋"/>
              </a:rPr>
              <a:t>时间偏</a:t>
            </a:r>
            <a:r>
              <a:rPr sz="2900" spc="-5" dirty="0">
                <a:latin typeface="华文仿宋"/>
                <a:cs typeface="华文仿宋"/>
              </a:rPr>
              <a:t>差</a:t>
            </a:r>
            <a:r>
              <a:rPr sz="2900" spc="-55" dirty="0">
                <a:latin typeface="Tw Cen MT"/>
                <a:cs typeface="Tw Cen MT"/>
              </a:rPr>
              <a:t>:VAT=SAC-TAC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1942" y="6206134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232663"/>
            <a:ext cx="37852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挣值分析输</a:t>
            </a:r>
            <a:r>
              <a:rPr spc="-10" dirty="0"/>
              <a:t>出</a:t>
            </a:r>
            <a:r>
              <a:rPr i="1" dirty="0">
                <a:latin typeface="华文隶书"/>
                <a:cs typeface="华文隶书"/>
              </a:rPr>
              <a:t>-5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2496" y="608147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1989582"/>
            <a:ext cx="8153400" cy="220853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5"/>
              </a:spcBef>
            </a:pPr>
            <a:r>
              <a:rPr sz="4000" spc="-5" dirty="0">
                <a:latin typeface="华文隶书"/>
                <a:cs typeface="华文隶书"/>
              </a:rPr>
              <a:t>未完工指数</a:t>
            </a:r>
            <a:endParaRPr sz="4000">
              <a:latin typeface="华文隶书"/>
              <a:cs typeface="华文隶书"/>
            </a:endParaRPr>
          </a:p>
          <a:p>
            <a:pPr marL="90805">
              <a:lnSpc>
                <a:spcPct val="100000"/>
              </a:lnSpc>
              <a:spcBef>
                <a:spcPts val="1105"/>
              </a:spcBef>
            </a:pPr>
            <a:r>
              <a:rPr sz="2900" dirty="0">
                <a:latin typeface="黑体"/>
                <a:cs typeface="黑体"/>
              </a:rPr>
              <a:t>TCPI=</a:t>
            </a:r>
            <a:r>
              <a:rPr sz="2900" spc="-15" dirty="0">
                <a:latin typeface="黑体"/>
                <a:cs typeface="黑体"/>
              </a:rPr>
              <a:t>剩</a:t>
            </a:r>
            <a:r>
              <a:rPr sz="2900" dirty="0">
                <a:latin typeface="黑体"/>
                <a:cs typeface="黑体"/>
              </a:rPr>
              <a:t>余工作</a:t>
            </a:r>
            <a:r>
              <a:rPr sz="2900" spc="-15" dirty="0">
                <a:latin typeface="黑体"/>
                <a:cs typeface="黑体"/>
              </a:rPr>
              <a:t>/</a:t>
            </a:r>
            <a:r>
              <a:rPr sz="2900" dirty="0">
                <a:latin typeface="黑体"/>
                <a:cs typeface="黑体"/>
              </a:rPr>
              <a:t>剩余成本</a:t>
            </a:r>
            <a:endParaRPr sz="2900">
              <a:latin typeface="黑体"/>
              <a:cs typeface="黑体"/>
            </a:endParaRPr>
          </a:p>
          <a:p>
            <a:pPr marL="1564640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黑体"/>
                <a:cs typeface="黑体"/>
              </a:rPr>
              <a:t>=(BAC-BCWP)/(Goal-ACWP)</a:t>
            </a:r>
            <a:endParaRPr sz="2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542" y="251282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挣值分析实例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00955" y="4162044"/>
            <a:ext cx="1278890" cy="224154"/>
          </a:xfrm>
          <a:custGeom>
            <a:avLst/>
            <a:gdLst/>
            <a:ahLst/>
            <a:cxnLst/>
            <a:rect l="l" t="t" r="r" b="b"/>
            <a:pathLst>
              <a:path w="1278889" h="224154">
                <a:moveTo>
                  <a:pt x="0" y="224027"/>
                </a:moveTo>
                <a:lnTo>
                  <a:pt x="1278636" y="224027"/>
                </a:lnTo>
                <a:lnTo>
                  <a:pt x="1278636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00955" y="4162044"/>
            <a:ext cx="1278890" cy="224154"/>
          </a:xfrm>
          <a:custGeom>
            <a:avLst/>
            <a:gdLst/>
            <a:ahLst/>
            <a:cxnLst/>
            <a:rect l="l" t="t" r="r" b="b"/>
            <a:pathLst>
              <a:path w="1278889" h="224154">
                <a:moveTo>
                  <a:pt x="0" y="224027"/>
                </a:moveTo>
                <a:lnTo>
                  <a:pt x="1278636" y="224027"/>
                </a:lnTo>
                <a:lnTo>
                  <a:pt x="1278636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1973579"/>
            <a:ext cx="2344420" cy="222885"/>
          </a:xfrm>
          <a:custGeom>
            <a:avLst/>
            <a:gdLst/>
            <a:ahLst/>
            <a:cxnLst/>
            <a:rect l="l" t="t" r="r" b="b"/>
            <a:pathLst>
              <a:path w="2344420" h="222885">
                <a:moveTo>
                  <a:pt x="0" y="222503"/>
                </a:moveTo>
                <a:lnTo>
                  <a:pt x="2343912" y="222503"/>
                </a:lnTo>
                <a:lnTo>
                  <a:pt x="2343912" y="0"/>
                </a:lnTo>
                <a:lnTo>
                  <a:pt x="0" y="0"/>
                </a:lnTo>
                <a:lnTo>
                  <a:pt x="0" y="222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1973579"/>
            <a:ext cx="2344420" cy="222885"/>
          </a:xfrm>
          <a:custGeom>
            <a:avLst/>
            <a:gdLst/>
            <a:ahLst/>
            <a:cxnLst/>
            <a:rect l="l" t="t" r="r" b="b"/>
            <a:pathLst>
              <a:path w="2344420" h="222885">
                <a:moveTo>
                  <a:pt x="0" y="222503"/>
                </a:moveTo>
                <a:lnTo>
                  <a:pt x="2343912" y="222503"/>
                </a:lnTo>
                <a:lnTo>
                  <a:pt x="2343912" y="0"/>
                </a:lnTo>
                <a:lnTo>
                  <a:pt x="0" y="0"/>
                </a:lnTo>
                <a:lnTo>
                  <a:pt x="0" y="222503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42644" y="2406395"/>
            <a:ext cx="2372995" cy="25907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3895">
              <a:lnSpc>
                <a:spcPts val="1610"/>
              </a:lnSpc>
            </a:pPr>
            <a:r>
              <a:rPr sz="1600" spc="-5" dirty="0">
                <a:latin typeface="宋体"/>
                <a:cs typeface="宋体"/>
              </a:rPr>
              <a:t>任务</a:t>
            </a:r>
            <a:r>
              <a:rPr sz="1600" spc="-5" dirty="0">
                <a:latin typeface="Times New Roman"/>
                <a:cs typeface="Times New Roman"/>
              </a:rPr>
              <a:t>B:$100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8716" y="2689860"/>
            <a:ext cx="2374900" cy="234950"/>
          </a:xfrm>
          <a:custGeom>
            <a:avLst/>
            <a:gdLst/>
            <a:ahLst/>
            <a:cxnLst/>
            <a:rect l="l" t="t" r="r" b="b"/>
            <a:pathLst>
              <a:path w="2374900" h="234950">
                <a:moveTo>
                  <a:pt x="0" y="234696"/>
                </a:moveTo>
                <a:lnTo>
                  <a:pt x="2374392" y="234696"/>
                </a:lnTo>
                <a:lnTo>
                  <a:pt x="2374392" y="0"/>
                </a:lnTo>
                <a:lnTo>
                  <a:pt x="0" y="0"/>
                </a:lnTo>
                <a:lnTo>
                  <a:pt x="0" y="234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18716" y="2689860"/>
            <a:ext cx="2374900" cy="234950"/>
          </a:xfrm>
          <a:custGeom>
            <a:avLst/>
            <a:gdLst/>
            <a:ahLst/>
            <a:cxnLst/>
            <a:rect l="l" t="t" r="r" b="b"/>
            <a:pathLst>
              <a:path w="2374900" h="234950">
                <a:moveTo>
                  <a:pt x="0" y="234696"/>
                </a:moveTo>
                <a:lnTo>
                  <a:pt x="2374392" y="234696"/>
                </a:lnTo>
                <a:lnTo>
                  <a:pt x="2374392" y="0"/>
                </a:lnTo>
                <a:lnTo>
                  <a:pt x="0" y="0"/>
                </a:lnTo>
                <a:lnTo>
                  <a:pt x="0" y="23469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41703" y="3124200"/>
            <a:ext cx="2372995" cy="25907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3895">
              <a:lnSpc>
                <a:spcPts val="1605"/>
              </a:lnSpc>
            </a:pPr>
            <a:r>
              <a:rPr sz="1600" spc="-5" dirty="0">
                <a:latin typeface="宋体"/>
                <a:cs typeface="宋体"/>
              </a:rPr>
              <a:t>任</a:t>
            </a:r>
            <a:r>
              <a:rPr sz="1600" spc="-10" dirty="0">
                <a:latin typeface="宋体"/>
                <a:cs typeface="宋体"/>
              </a:rPr>
              <a:t>务</a:t>
            </a:r>
            <a:r>
              <a:rPr sz="1600" spc="-5" dirty="0">
                <a:latin typeface="Times New Roman"/>
                <a:cs typeface="Times New Roman"/>
              </a:rPr>
              <a:t>C:$100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31592" y="3419855"/>
            <a:ext cx="2372995" cy="236220"/>
          </a:xfrm>
          <a:custGeom>
            <a:avLst/>
            <a:gdLst/>
            <a:ahLst/>
            <a:cxnLst/>
            <a:rect l="l" t="t" r="r" b="b"/>
            <a:pathLst>
              <a:path w="2372995" h="236220">
                <a:moveTo>
                  <a:pt x="0" y="236220"/>
                </a:moveTo>
                <a:lnTo>
                  <a:pt x="2372868" y="236220"/>
                </a:lnTo>
                <a:lnTo>
                  <a:pt x="2372868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31592" y="3419855"/>
            <a:ext cx="2372995" cy="236220"/>
          </a:xfrm>
          <a:custGeom>
            <a:avLst/>
            <a:gdLst/>
            <a:ahLst/>
            <a:cxnLst/>
            <a:rect l="l" t="t" r="r" b="b"/>
            <a:pathLst>
              <a:path w="2372995" h="236220">
                <a:moveTo>
                  <a:pt x="0" y="236220"/>
                </a:moveTo>
                <a:lnTo>
                  <a:pt x="2372868" y="236220"/>
                </a:lnTo>
                <a:lnTo>
                  <a:pt x="2372868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16351" y="3866388"/>
            <a:ext cx="2372995" cy="2717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6910">
              <a:lnSpc>
                <a:spcPts val="1605"/>
              </a:lnSpc>
            </a:pPr>
            <a:r>
              <a:rPr sz="1600" spc="-10" dirty="0">
                <a:latin typeface="宋体"/>
                <a:cs typeface="宋体"/>
              </a:rPr>
              <a:t>任务</a:t>
            </a:r>
            <a:r>
              <a:rPr sz="1600" spc="-5" dirty="0">
                <a:latin typeface="Times New Roman"/>
                <a:cs typeface="Times New Roman"/>
              </a:rPr>
              <a:t>D:$100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3167" y="1676400"/>
            <a:ext cx="2372995" cy="26098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6910">
              <a:lnSpc>
                <a:spcPts val="1610"/>
              </a:lnSpc>
            </a:pPr>
            <a:r>
              <a:rPr sz="1600" spc="-5" dirty="0">
                <a:latin typeface="宋体"/>
                <a:cs typeface="宋体"/>
              </a:rPr>
              <a:t>任</a:t>
            </a:r>
            <a:r>
              <a:rPr sz="1600" spc="-10" dirty="0">
                <a:latin typeface="宋体"/>
                <a:cs typeface="宋体"/>
              </a:rPr>
              <a:t>务</a:t>
            </a:r>
            <a:r>
              <a:rPr sz="1600" spc="-5" dirty="0">
                <a:latin typeface="Times New Roman"/>
                <a:cs typeface="Times New Roman"/>
              </a:rPr>
              <a:t>A:$100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1436" y="4497323"/>
            <a:ext cx="7579359" cy="0"/>
          </a:xfrm>
          <a:custGeom>
            <a:avLst/>
            <a:gdLst/>
            <a:ahLst/>
            <a:cxnLst/>
            <a:rect l="l" t="t" r="r" b="b"/>
            <a:pathLst>
              <a:path w="7579359">
                <a:moveTo>
                  <a:pt x="0" y="0"/>
                </a:moveTo>
                <a:lnTo>
                  <a:pt x="757885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78067" y="1565147"/>
            <a:ext cx="15240" cy="2783205"/>
          </a:xfrm>
          <a:custGeom>
            <a:avLst/>
            <a:gdLst/>
            <a:ahLst/>
            <a:cxnLst/>
            <a:rect l="l" t="t" r="r" b="b"/>
            <a:pathLst>
              <a:path w="15239" h="2783204">
                <a:moveTo>
                  <a:pt x="0" y="0"/>
                </a:moveTo>
                <a:lnTo>
                  <a:pt x="15240" y="2782824"/>
                </a:lnTo>
              </a:path>
            </a:pathLst>
          </a:custGeom>
          <a:ln w="914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35984" y="1544573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楷体"/>
                <a:cs typeface="楷体"/>
              </a:rPr>
              <a:t>计划</a:t>
            </a:r>
            <a:endParaRPr sz="1600">
              <a:latin typeface="楷体"/>
              <a:cs typeface="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64051" y="1940432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楷体"/>
                <a:cs typeface="楷体"/>
              </a:rPr>
              <a:t>实际</a:t>
            </a:r>
            <a:endParaRPr sz="1600">
              <a:latin typeface="楷体"/>
              <a:cs typeface="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0416" y="1601469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楷体"/>
                <a:cs typeface="楷体"/>
              </a:rPr>
              <a:t>今天</a:t>
            </a:r>
            <a:endParaRPr sz="1600">
              <a:latin typeface="楷体"/>
              <a:cs typeface="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36035" y="1694688"/>
            <a:ext cx="605155" cy="123825"/>
          </a:xfrm>
          <a:custGeom>
            <a:avLst/>
            <a:gdLst/>
            <a:ahLst/>
            <a:cxnLst/>
            <a:rect l="l" t="t" r="r" b="b"/>
            <a:pathLst>
              <a:path w="605154" h="123825">
                <a:moveTo>
                  <a:pt x="605027" y="0"/>
                </a:moveTo>
                <a:lnTo>
                  <a:pt x="0" y="12344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36035" y="2052827"/>
            <a:ext cx="617220" cy="12700"/>
          </a:xfrm>
          <a:custGeom>
            <a:avLst/>
            <a:gdLst/>
            <a:ahLst/>
            <a:cxnLst/>
            <a:rect l="l" t="t" r="r" b="b"/>
            <a:pathLst>
              <a:path w="617220" h="12700">
                <a:moveTo>
                  <a:pt x="0" y="0"/>
                </a:moveTo>
                <a:lnTo>
                  <a:pt x="617219" y="1219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59323" y="1755648"/>
            <a:ext cx="619125" cy="260985"/>
          </a:xfrm>
          <a:custGeom>
            <a:avLst/>
            <a:gdLst/>
            <a:ahLst/>
            <a:cxnLst/>
            <a:rect l="l" t="t" r="r" b="b"/>
            <a:pathLst>
              <a:path w="619125" h="260985">
                <a:moveTo>
                  <a:pt x="0" y="0"/>
                </a:moveTo>
                <a:lnTo>
                  <a:pt x="618743" y="26060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18076" y="4686300"/>
            <a:ext cx="3508375" cy="76200"/>
          </a:xfrm>
          <a:custGeom>
            <a:avLst/>
            <a:gdLst/>
            <a:ahLst/>
            <a:cxnLst/>
            <a:rect l="l" t="t" r="r" b="b"/>
            <a:pathLst>
              <a:path w="3508375" h="76200">
                <a:moveTo>
                  <a:pt x="3432048" y="0"/>
                </a:moveTo>
                <a:lnTo>
                  <a:pt x="3432048" y="76200"/>
                </a:lnTo>
                <a:lnTo>
                  <a:pt x="3495548" y="44450"/>
                </a:lnTo>
                <a:lnTo>
                  <a:pt x="3444748" y="44450"/>
                </a:lnTo>
                <a:lnTo>
                  <a:pt x="3444748" y="31750"/>
                </a:lnTo>
                <a:lnTo>
                  <a:pt x="3495548" y="31750"/>
                </a:lnTo>
                <a:lnTo>
                  <a:pt x="3432048" y="0"/>
                </a:lnTo>
                <a:close/>
              </a:path>
              <a:path w="3508375" h="76200">
                <a:moveTo>
                  <a:pt x="343204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432048" y="44450"/>
                </a:lnTo>
                <a:lnTo>
                  <a:pt x="3432048" y="31750"/>
                </a:lnTo>
                <a:close/>
              </a:path>
              <a:path w="3508375" h="76200">
                <a:moveTo>
                  <a:pt x="3495548" y="31750"/>
                </a:moveTo>
                <a:lnTo>
                  <a:pt x="3444748" y="31750"/>
                </a:lnTo>
                <a:lnTo>
                  <a:pt x="3444748" y="44450"/>
                </a:lnTo>
                <a:lnTo>
                  <a:pt x="3495548" y="44450"/>
                </a:lnTo>
                <a:lnTo>
                  <a:pt x="3508248" y="38100"/>
                </a:lnTo>
                <a:lnTo>
                  <a:pt x="349554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539230" y="3647947"/>
            <a:ext cx="1565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ndara"/>
                <a:cs typeface="Candara"/>
              </a:rPr>
              <a:t>BCWP=$350</a:t>
            </a:r>
            <a:endParaRPr sz="2400">
              <a:latin typeface="Candara"/>
              <a:cs typeface="Candar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85890" y="1786585"/>
            <a:ext cx="1591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ndara"/>
                <a:cs typeface="Candara"/>
              </a:rPr>
              <a:t>BAC= </a:t>
            </a:r>
            <a:r>
              <a:rPr sz="2400" dirty="0">
                <a:latin typeface="Candara"/>
                <a:cs typeface="Candara"/>
              </a:rPr>
              <a:t>$</a:t>
            </a:r>
            <a:r>
              <a:rPr sz="2400" spc="-7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1000</a:t>
            </a:r>
            <a:endParaRPr sz="2400">
              <a:latin typeface="Candara"/>
              <a:cs typeface="Candar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06082" y="3060572"/>
            <a:ext cx="171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ndara"/>
                <a:cs typeface="Candara"/>
              </a:rPr>
              <a:t>ACWP= </a:t>
            </a:r>
            <a:r>
              <a:rPr sz="2400" dirty="0">
                <a:latin typeface="Candara"/>
                <a:cs typeface="Candara"/>
              </a:rPr>
              <a:t>$</a:t>
            </a:r>
            <a:r>
              <a:rPr sz="2400" spc="-8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700</a:t>
            </a:r>
            <a:endParaRPr sz="2400">
              <a:latin typeface="Candara"/>
              <a:cs typeface="Candar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43355" y="4580617"/>
            <a:ext cx="6814184" cy="17754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R="1360805" algn="ctr">
              <a:lnSpc>
                <a:spcPct val="100000"/>
              </a:lnSpc>
              <a:spcBef>
                <a:spcPts val="250"/>
              </a:spcBef>
            </a:pPr>
            <a:r>
              <a:rPr sz="1600" spc="5" dirty="0">
                <a:latin typeface="楷体"/>
                <a:cs typeface="楷体"/>
              </a:rPr>
              <a:t>时间</a:t>
            </a:r>
            <a:endParaRPr sz="1600">
              <a:latin typeface="楷体"/>
              <a:cs typeface="楷体"/>
            </a:endParaRPr>
          </a:p>
          <a:p>
            <a:pPr marL="262255">
              <a:lnSpc>
                <a:spcPct val="100000"/>
              </a:lnSpc>
              <a:spcBef>
                <a:spcPts val="235"/>
              </a:spcBef>
              <a:tabLst>
                <a:tab pos="4072890" algn="l"/>
              </a:tabLst>
            </a:pPr>
            <a:r>
              <a:rPr sz="2400" spc="-5" dirty="0">
                <a:latin typeface="Candara"/>
                <a:cs typeface="Candara"/>
              </a:rPr>
              <a:t>SV= </a:t>
            </a:r>
            <a:r>
              <a:rPr sz="2400" dirty="0">
                <a:latin typeface="Candara"/>
                <a:cs typeface="Candara"/>
              </a:rPr>
              <a:t>- $ </a:t>
            </a:r>
            <a:r>
              <a:rPr sz="2400" spc="-5" dirty="0">
                <a:latin typeface="Candara"/>
                <a:cs typeface="Candara"/>
              </a:rPr>
              <a:t>50</a:t>
            </a:r>
            <a:r>
              <a:rPr sz="2400" spc="-5" dirty="0">
                <a:latin typeface="宋体"/>
                <a:cs typeface="宋体"/>
              </a:rPr>
              <a:t>；</a:t>
            </a:r>
            <a:r>
              <a:rPr sz="2400" spc="-5" dirty="0">
                <a:latin typeface="Candara"/>
                <a:cs typeface="Candara"/>
              </a:rPr>
              <a:t>CV= </a:t>
            </a:r>
            <a:r>
              <a:rPr sz="2400" dirty="0">
                <a:latin typeface="Candara"/>
                <a:cs typeface="Candara"/>
              </a:rPr>
              <a:t>-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$ </a:t>
            </a:r>
            <a:r>
              <a:rPr sz="2400" spc="-5" dirty="0">
                <a:latin typeface="Candara"/>
                <a:cs typeface="Candara"/>
              </a:rPr>
              <a:t>350	SPI=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spc="-5" dirty="0">
                <a:latin typeface="Candara"/>
                <a:cs typeface="Candara"/>
              </a:rPr>
              <a:t>87.5%</a:t>
            </a:r>
            <a:r>
              <a:rPr sz="2400" spc="-5" dirty="0">
                <a:latin typeface="宋体"/>
                <a:cs typeface="宋体"/>
              </a:rPr>
              <a:t>；</a:t>
            </a:r>
            <a:r>
              <a:rPr sz="2400" spc="-5" dirty="0">
                <a:latin typeface="Candara"/>
                <a:cs typeface="Candara"/>
              </a:rPr>
              <a:t>CPI=50%</a:t>
            </a:r>
            <a:endParaRPr sz="2400">
              <a:latin typeface="Candara"/>
              <a:cs typeface="Candara"/>
            </a:endParaRPr>
          </a:p>
          <a:p>
            <a:pPr marL="506095">
              <a:lnSpc>
                <a:spcPct val="100000"/>
              </a:lnSpc>
              <a:spcBef>
                <a:spcPts val="1200"/>
              </a:spcBef>
              <a:tabLst>
                <a:tab pos="2202815" algn="l"/>
                <a:tab pos="2833370" algn="l"/>
              </a:tabLst>
            </a:pPr>
            <a:r>
              <a:rPr sz="2400" dirty="0">
                <a:latin typeface="Candara"/>
                <a:cs typeface="Candara"/>
              </a:rPr>
              <a:t>BAC=</a:t>
            </a:r>
            <a:r>
              <a:rPr sz="2400" spc="5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$ 1000	</a:t>
            </a:r>
            <a:r>
              <a:rPr sz="2400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Candara"/>
                <a:cs typeface="Candara"/>
              </a:rPr>
              <a:t>EAC=1000/0.5=</a:t>
            </a:r>
            <a:r>
              <a:rPr sz="2400" spc="-30" dirty="0">
                <a:latin typeface="Candara"/>
                <a:cs typeface="Candara"/>
              </a:rPr>
              <a:t> </a:t>
            </a:r>
            <a:r>
              <a:rPr sz="2400" dirty="0">
                <a:latin typeface="Candara"/>
                <a:cs typeface="Candara"/>
              </a:rPr>
              <a:t>$2000</a:t>
            </a:r>
            <a:endParaRPr sz="24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  <a:tabLst>
                <a:tab pos="2626360" algn="l"/>
              </a:tabLst>
            </a:pPr>
            <a:r>
              <a:rPr sz="2400" dirty="0">
                <a:latin typeface="Candara"/>
                <a:cs typeface="Candara"/>
              </a:rPr>
              <a:t>Goal=BAC	</a:t>
            </a:r>
            <a:r>
              <a:rPr sz="2400" spc="-5" dirty="0">
                <a:latin typeface="Candara"/>
                <a:cs typeface="Candara"/>
              </a:rPr>
              <a:t>TCPI=(1000-350)/(1000-700)=2.17</a:t>
            </a:r>
            <a:endParaRPr sz="2400">
              <a:latin typeface="Candara"/>
              <a:cs typeface="Candar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8938" y="2445461"/>
            <a:ext cx="1585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ndara"/>
                <a:cs typeface="Candara"/>
              </a:rPr>
              <a:t>BCWS=$400</a:t>
            </a:r>
            <a:endParaRPr sz="2400">
              <a:latin typeface="Candara"/>
              <a:cs typeface="Candar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77361" y="6093714"/>
            <a:ext cx="411480" cy="167640"/>
          </a:xfrm>
          <a:custGeom>
            <a:avLst/>
            <a:gdLst/>
            <a:ahLst/>
            <a:cxnLst/>
            <a:rect l="l" t="t" r="r" b="b"/>
            <a:pathLst>
              <a:path w="411479" h="167639">
                <a:moveTo>
                  <a:pt x="327660" y="0"/>
                </a:moveTo>
                <a:lnTo>
                  <a:pt x="327660" y="41910"/>
                </a:lnTo>
                <a:lnTo>
                  <a:pt x="0" y="41910"/>
                </a:lnTo>
                <a:lnTo>
                  <a:pt x="0" y="125730"/>
                </a:lnTo>
                <a:lnTo>
                  <a:pt x="327660" y="125730"/>
                </a:lnTo>
                <a:lnTo>
                  <a:pt x="327660" y="167640"/>
                </a:lnTo>
                <a:lnTo>
                  <a:pt x="411479" y="83820"/>
                </a:lnTo>
                <a:lnTo>
                  <a:pt x="32766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7361" y="6093714"/>
            <a:ext cx="411480" cy="167640"/>
          </a:xfrm>
          <a:custGeom>
            <a:avLst/>
            <a:gdLst/>
            <a:ahLst/>
            <a:cxnLst/>
            <a:rect l="l" t="t" r="r" b="b"/>
            <a:pathLst>
              <a:path w="411479" h="167639">
                <a:moveTo>
                  <a:pt x="0" y="41910"/>
                </a:moveTo>
                <a:lnTo>
                  <a:pt x="327660" y="41910"/>
                </a:lnTo>
                <a:lnTo>
                  <a:pt x="327660" y="0"/>
                </a:lnTo>
                <a:lnTo>
                  <a:pt x="411479" y="83820"/>
                </a:lnTo>
                <a:lnTo>
                  <a:pt x="327660" y="167640"/>
                </a:lnTo>
                <a:lnTo>
                  <a:pt x="327660" y="125730"/>
                </a:lnTo>
                <a:lnTo>
                  <a:pt x="0" y="125730"/>
                </a:lnTo>
                <a:lnTo>
                  <a:pt x="0" y="41910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23938" y="4853178"/>
            <a:ext cx="1193800" cy="521334"/>
          </a:xfrm>
          <a:custGeom>
            <a:avLst/>
            <a:gdLst/>
            <a:ahLst/>
            <a:cxnLst/>
            <a:rect l="l" t="t" r="r" b="b"/>
            <a:pathLst>
              <a:path w="1193800" h="521335">
                <a:moveTo>
                  <a:pt x="0" y="521208"/>
                </a:moveTo>
                <a:lnTo>
                  <a:pt x="1193292" y="521208"/>
                </a:lnTo>
                <a:lnTo>
                  <a:pt x="1193292" y="0"/>
                </a:lnTo>
                <a:lnTo>
                  <a:pt x="0" y="0"/>
                </a:lnTo>
                <a:lnTo>
                  <a:pt x="0" y="52120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50038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性能分析的主要技术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8269" y="6177178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2133600"/>
            <a:ext cx="8153400" cy="2735580"/>
          </a:xfrm>
          <a:custGeom>
            <a:avLst/>
            <a:gdLst/>
            <a:ahLst/>
            <a:cxnLst/>
            <a:rect l="l" t="t" r="r" b="b"/>
            <a:pathLst>
              <a:path w="8153400" h="2735579">
                <a:moveTo>
                  <a:pt x="0" y="2735580"/>
                </a:moveTo>
                <a:lnTo>
                  <a:pt x="8153400" y="2735580"/>
                </a:lnTo>
                <a:lnTo>
                  <a:pt x="8153400" y="0"/>
                </a:lnTo>
                <a:lnTo>
                  <a:pt x="0" y="0"/>
                </a:lnTo>
                <a:lnTo>
                  <a:pt x="0" y="273558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840" y="3510417"/>
            <a:ext cx="1692275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sz="2150" spc="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r>
              <a:rPr sz="2150" spc="-30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华文新魏"/>
                <a:cs typeface="华文新魏"/>
              </a:rPr>
              <a:t>网络图</a:t>
            </a:r>
            <a:endParaRPr sz="36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20675" marR="5447665" indent="-320675" algn="r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320675" algn="l"/>
              </a:tabLst>
            </a:pPr>
            <a:r>
              <a:rPr spc="-5" dirty="0"/>
              <a:t>图解控制法</a:t>
            </a:r>
          </a:p>
          <a:p>
            <a:pPr marL="320675" marR="5447665" indent="-320675" algn="r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320675" algn="l"/>
              </a:tabLst>
            </a:pPr>
            <a:r>
              <a:rPr dirty="0"/>
              <a:t>挣值分析法</a:t>
            </a:r>
          </a:p>
          <a:p>
            <a:pPr marR="5447030" algn="r">
              <a:lnSpc>
                <a:spcPct val="100000"/>
              </a:lnSpc>
              <a:spcBef>
                <a:spcPts val="695"/>
              </a:spcBef>
            </a:pPr>
            <a:r>
              <a:rPr dirty="0"/>
              <a:t>分析</a:t>
            </a:r>
          </a:p>
          <a:p>
            <a:pPr marL="41148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dirty="0"/>
              <a:t>敏捷方法</a:t>
            </a:r>
          </a:p>
        </p:txBody>
      </p:sp>
      <p:sp>
        <p:nvSpPr>
          <p:cNvPr id="8" name="object 8"/>
          <p:cNvSpPr/>
          <p:nvPr/>
        </p:nvSpPr>
        <p:spPr>
          <a:xfrm>
            <a:off x="393191" y="3223260"/>
            <a:ext cx="579120" cy="710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网络图分析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594" y="1600961"/>
            <a:ext cx="8784590" cy="240538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0845" algn="l"/>
              </a:tabLst>
            </a:pPr>
            <a:r>
              <a:rPr sz="2900" dirty="0">
                <a:latin typeface="华文新魏"/>
                <a:cs typeface="华文新魏"/>
              </a:rPr>
              <a:t>分析网络图中某任务的</a:t>
            </a:r>
            <a:r>
              <a:rPr sz="2900" spc="-15" dirty="0">
                <a:latin typeface="华文新魏"/>
                <a:cs typeface="华文新魏"/>
              </a:rPr>
              <a:t>进</a:t>
            </a:r>
            <a:r>
              <a:rPr sz="2900" dirty="0">
                <a:latin typeface="华文新魏"/>
                <a:cs typeface="华文新魏"/>
              </a:rPr>
              <a:t>度成</a:t>
            </a:r>
            <a:r>
              <a:rPr sz="2900" spc="-15" dirty="0">
                <a:latin typeface="华文新魏"/>
                <a:cs typeface="华文新魏"/>
              </a:rPr>
              <a:t>本</a:t>
            </a:r>
            <a:r>
              <a:rPr sz="2900" dirty="0">
                <a:latin typeface="华文新魏"/>
                <a:cs typeface="华文新魏"/>
              </a:rPr>
              <a:t>情况</a:t>
            </a:r>
            <a:endParaRPr sz="29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0845" algn="l"/>
              </a:tabLst>
            </a:pPr>
            <a:r>
              <a:rPr sz="2900" dirty="0">
                <a:latin typeface="华文新魏"/>
                <a:cs typeface="华文新魏"/>
              </a:rPr>
              <a:t>可以采用贝叶斯网络解</a:t>
            </a:r>
            <a:r>
              <a:rPr sz="2900" spc="-15" dirty="0">
                <a:latin typeface="华文新魏"/>
                <a:cs typeface="华文新魏"/>
              </a:rPr>
              <a:t>决</a:t>
            </a:r>
            <a:r>
              <a:rPr sz="2900" dirty="0">
                <a:latin typeface="华文新魏"/>
                <a:cs typeface="华文新魏"/>
              </a:rPr>
              <a:t>项目</a:t>
            </a:r>
            <a:r>
              <a:rPr sz="2900" spc="-15" dirty="0">
                <a:latin typeface="华文新魏"/>
                <a:cs typeface="华文新魏"/>
              </a:rPr>
              <a:t>中</a:t>
            </a:r>
            <a:r>
              <a:rPr sz="2900" dirty="0">
                <a:latin typeface="华文新魏"/>
                <a:cs typeface="华文新魏"/>
              </a:rPr>
              <a:t>的不</a:t>
            </a:r>
            <a:r>
              <a:rPr sz="2900" spc="-15" dirty="0">
                <a:latin typeface="华文新魏"/>
                <a:cs typeface="华文新魏"/>
              </a:rPr>
              <a:t>确</a:t>
            </a:r>
            <a:r>
              <a:rPr sz="2900" dirty="0">
                <a:latin typeface="华文新魏"/>
                <a:cs typeface="华文新魏"/>
              </a:rPr>
              <a:t>定性</a:t>
            </a:r>
            <a:r>
              <a:rPr sz="2900" spc="-15" dirty="0">
                <a:latin typeface="华文新魏"/>
                <a:cs typeface="华文新魏"/>
              </a:rPr>
              <a:t>问</a:t>
            </a:r>
            <a:r>
              <a:rPr sz="2900" dirty="0">
                <a:latin typeface="华文新魏"/>
                <a:cs typeface="华文新魏"/>
              </a:rPr>
              <a:t>题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4997" y="6154927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2824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华文中宋"/>
                <a:cs typeface="华文中宋"/>
              </a:rPr>
              <a:t>贝</a:t>
            </a:r>
            <a:r>
              <a:rPr b="1" spc="10" dirty="0">
                <a:latin typeface="华文中宋"/>
                <a:cs typeface="华文中宋"/>
              </a:rPr>
              <a:t>叶</a:t>
            </a:r>
            <a:r>
              <a:rPr b="1" spc="-5" dirty="0">
                <a:latin typeface="华文中宋"/>
                <a:cs typeface="华文中宋"/>
              </a:rPr>
              <a:t>斯定理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553971"/>
            <a:ext cx="22402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仿宋"/>
                <a:cs typeface="华文仿宋"/>
              </a:rPr>
              <a:t>贝叶斯公式：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6341" y="6068059"/>
            <a:ext cx="837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49299" y="2276855"/>
            <a:ext cx="3082364" cy="691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28257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5" dirty="0">
                <a:latin typeface="华文中宋"/>
                <a:cs typeface="华文中宋"/>
              </a:rPr>
              <a:t>贝叶</a:t>
            </a:r>
            <a:r>
              <a:rPr b="1" spc="-5" dirty="0">
                <a:latin typeface="华文中宋"/>
                <a:cs typeface="华文中宋"/>
              </a:rPr>
              <a:t>斯网络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558544"/>
            <a:ext cx="8429625" cy="349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dirty="0">
                <a:latin typeface="华文仿宋"/>
                <a:cs typeface="华文仿宋"/>
              </a:rPr>
              <a:t>贝叶斯网络</a:t>
            </a:r>
            <a:r>
              <a:rPr sz="2400" spc="-15" dirty="0">
                <a:latin typeface="Tw Cen MT"/>
                <a:cs typeface="Tw Cen MT"/>
              </a:rPr>
              <a:t>(Bayesian</a:t>
            </a:r>
            <a:r>
              <a:rPr sz="2400" spc="-35" dirty="0">
                <a:latin typeface="Tw Cen MT"/>
                <a:cs typeface="Tw Cen MT"/>
              </a:rPr>
              <a:t> </a:t>
            </a:r>
            <a:r>
              <a:rPr sz="2400" spc="-5" dirty="0">
                <a:latin typeface="Tw Cen MT"/>
                <a:cs typeface="Tw Cen MT"/>
              </a:rPr>
              <a:t>network)</a:t>
            </a:r>
            <a:r>
              <a:rPr sz="2400" spc="-5" dirty="0">
                <a:latin typeface="华文仿宋"/>
                <a:cs typeface="华文仿宋"/>
              </a:rPr>
              <a:t>，</a:t>
            </a:r>
            <a:r>
              <a:rPr sz="2400" dirty="0">
                <a:latin typeface="华文仿宋"/>
                <a:cs typeface="华文仿宋"/>
              </a:rPr>
              <a:t>是一种概率图模型，它是一种 模拟人类推理过程中因果关系的不确定性处理模型，其网络 </a:t>
            </a:r>
            <a:r>
              <a:rPr sz="2400" spc="-5" dirty="0">
                <a:latin typeface="华文仿宋"/>
                <a:cs typeface="华文仿宋"/>
              </a:rPr>
              <a:t>拓朴结构是一个有向无环</a:t>
            </a:r>
            <a:r>
              <a:rPr sz="2400" dirty="0">
                <a:latin typeface="华文仿宋"/>
                <a:cs typeface="华文仿宋"/>
              </a:rPr>
              <a:t>图</a:t>
            </a:r>
            <a:r>
              <a:rPr sz="2400" spc="-30" dirty="0">
                <a:latin typeface="Tw Cen MT"/>
                <a:cs typeface="Tw Cen MT"/>
              </a:rPr>
              <a:t>(DAG)</a:t>
            </a:r>
            <a:r>
              <a:rPr sz="2400" dirty="0">
                <a:latin typeface="华文仿宋"/>
                <a:cs typeface="华文仿宋"/>
              </a:rPr>
              <a:t>。</a:t>
            </a:r>
            <a:r>
              <a:rPr sz="2400" spc="50" dirty="0">
                <a:latin typeface="华文仿宋"/>
                <a:cs typeface="华文仿宋"/>
              </a:rPr>
              <a:t> </a:t>
            </a:r>
            <a:r>
              <a:rPr sz="2400" spc="-5" dirty="0">
                <a:latin typeface="华文仿宋"/>
                <a:cs typeface="华文仿宋"/>
              </a:rPr>
              <a:t>贝叶斯网络的有向无环 </a:t>
            </a:r>
            <a:r>
              <a:rPr sz="2400" dirty="0">
                <a:latin typeface="华文仿宋"/>
                <a:cs typeface="华文仿宋"/>
              </a:rPr>
              <a:t>图中的节点表示随机变量</a:t>
            </a:r>
            <a:endParaRPr sz="2400">
              <a:latin typeface="华文仿宋"/>
              <a:cs typeface="华文仿宋"/>
            </a:endParaRPr>
          </a:p>
          <a:p>
            <a:pPr marL="332740" marR="163830" indent="-320040" algn="just">
              <a:lnSpc>
                <a:spcPct val="100299"/>
              </a:lnSpc>
              <a:spcBef>
                <a:spcPts val="68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华文仿宋"/>
                <a:cs typeface="华文仿宋"/>
              </a:rPr>
              <a:t>若两个节点间以一个单箭头连接在一起，表示其中一个节点 是</a:t>
            </a:r>
            <a:r>
              <a:rPr sz="2400" dirty="0">
                <a:latin typeface="Tw Cen MT"/>
                <a:cs typeface="Tw Cen MT"/>
              </a:rPr>
              <a:t>“</a:t>
            </a:r>
            <a:r>
              <a:rPr sz="2400" dirty="0">
                <a:latin typeface="华文仿宋"/>
                <a:cs typeface="华文仿宋"/>
              </a:rPr>
              <a:t>因</a:t>
            </a:r>
            <a:r>
              <a:rPr sz="2400" spc="-5" dirty="0">
                <a:latin typeface="Tw Cen MT"/>
                <a:cs typeface="Tw Cen MT"/>
              </a:rPr>
              <a:t>(parents)”</a:t>
            </a:r>
            <a:r>
              <a:rPr sz="2400" spc="-5" dirty="0">
                <a:latin typeface="华文仿宋"/>
                <a:cs typeface="华文仿宋"/>
              </a:rPr>
              <a:t>，</a:t>
            </a:r>
            <a:r>
              <a:rPr sz="2400" dirty="0">
                <a:latin typeface="华文仿宋"/>
                <a:cs typeface="华文仿宋"/>
              </a:rPr>
              <a:t>另一个是</a:t>
            </a:r>
            <a:r>
              <a:rPr sz="2400" dirty="0">
                <a:latin typeface="Tw Cen MT"/>
                <a:cs typeface="Tw Cen MT"/>
              </a:rPr>
              <a:t>“</a:t>
            </a:r>
            <a:r>
              <a:rPr sz="2400" dirty="0">
                <a:latin typeface="华文仿宋"/>
                <a:cs typeface="华文仿宋"/>
              </a:rPr>
              <a:t>果</a:t>
            </a:r>
            <a:r>
              <a:rPr sz="2400" spc="5" dirty="0">
                <a:latin typeface="Tw Cen MT"/>
                <a:cs typeface="Tw Cen MT"/>
              </a:rPr>
              <a:t>(children)”</a:t>
            </a:r>
            <a:r>
              <a:rPr sz="2400" spc="5" dirty="0">
                <a:latin typeface="华文仿宋"/>
                <a:cs typeface="华文仿宋"/>
              </a:rPr>
              <a:t>，</a:t>
            </a:r>
            <a:r>
              <a:rPr sz="2400" dirty="0">
                <a:latin typeface="华文仿宋"/>
                <a:cs typeface="华文仿宋"/>
              </a:rPr>
              <a:t>两节点就会产生一 个条件概率值。</a:t>
            </a:r>
            <a:endParaRPr sz="2400">
              <a:latin typeface="华文仿宋"/>
              <a:cs typeface="华文仿宋"/>
            </a:endParaRPr>
          </a:p>
          <a:p>
            <a:pPr marL="332740" marR="163830" indent="-320040" algn="just">
              <a:lnSpc>
                <a:spcPct val="100400"/>
              </a:lnSpc>
              <a:spcBef>
                <a:spcPts val="67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solidFill>
                  <a:srgbClr val="333333"/>
                </a:solidFill>
                <a:latin typeface="华文仿宋"/>
                <a:cs typeface="华文仿宋"/>
              </a:rPr>
              <a:t>对于任意的随机变量，其联合概率可由各自的局部条件概率 分布相乘而得出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6892" y="6237528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004" y="5337047"/>
            <a:ext cx="7632192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50991" y="2781300"/>
            <a:ext cx="1801367" cy="269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54838"/>
            <a:ext cx="3943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solidFill>
                  <a:srgbClr val="775F54"/>
                </a:solidFill>
                <a:latin typeface="华文中宋"/>
                <a:cs typeface="华文中宋"/>
              </a:rPr>
              <a:t>贝</a:t>
            </a:r>
            <a:r>
              <a:rPr sz="4400" b="1" spc="10" dirty="0">
                <a:solidFill>
                  <a:srgbClr val="775F54"/>
                </a:solidFill>
                <a:latin typeface="华文中宋"/>
                <a:cs typeface="华文中宋"/>
              </a:rPr>
              <a:t>叶</a:t>
            </a:r>
            <a:r>
              <a:rPr sz="4400" b="1" spc="-5" dirty="0">
                <a:solidFill>
                  <a:srgbClr val="775F54"/>
                </a:solidFill>
                <a:latin typeface="华文中宋"/>
                <a:cs typeface="华文中宋"/>
              </a:rPr>
              <a:t>斯网络例子</a:t>
            </a:r>
            <a:endParaRPr sz="4400">
              <a:latin typeface="华文中宋"/>
              <a:cs typeface="华文中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546" y="615706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6673" y="1953317"/>
            <a:ext cx="2209800" cy="1999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5904" y="4547615"/>
            <a:ext cx="6118860" cy="5775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6177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华文中宋"/>
                <a:cs typeface="华文中宋"/>
              </a:rPr>
              <a:t>贝</a:t>
            </a:r>
            <a:r>
              <a:rPr b="1" spc="10" dirty="0">
                <a:latin typeface="华文中宋"/>
                <a:cs typeface="华文中宋"/>
              </a:rPr>
              <a:t>叶</a:t>
            </a:r>
            <a:r>
              <a:rPr b="1" spc="-5" dirty="0">
                <a:latin typeface="华文中宋"/>
                <a:cs typeface="华文中宋"/>
              </a:rPr>
              <a:t>斯网络分析</a:t>
            </a:r>
            <a:r>
              <a:rPr b="1" spc="-30" dirty="0">
                <a:latin typeface="华文中宋"/>
                <a:cs typeface="华文中宋"/>
              </a:rPr>
              <a:t>软</a:t>
            </a:r>
            <a:r>
              <a:rPr b="1" spc="-5" dirty="0">
                <a:latin typeface="华文中宋"/>
                <a:cs typeface="华文中宋"/>
              </a:rPr>
              <a:t>件进展</a:t>
            </a:r>
          </a:p>
        </p:txBody>
      </p:sp>
      <p:sp>
        <p:nvSpPr>
          <p:cNvPr id="3" name="object 3"/>
          <p:cNvSpPr/>
          <p:nvPr/>
        </p:nvSpPr>
        <p:spPr>
          <a:xfrm>
            <a:off x="266700" y="1844039"/>
            <a:ext cx="8516620" cy="2406650"/>
          </a:xfrm>
          <a:custGeom>
            <a:avLst/>
            <a:gdLst/>
            <a:ahLst/>
            <a:cxnLst/>
            <a:rect l="l" t="t" r="r" b="b"/>
            <a:pathLst>
              <a:path w="8516620" h="2406650">
                <a:moveTo>
                  <a:pt x="0" y="2406395"/>
                </a:moveTo>
                <a:lnTo>
                  <a:pt x="8516112" y="2406395"/>
                </a:lnTo>
                <a:lnTo>
                  <a:pt x="8516112" y="0"/>
                </a:lnTo>
                <a:lnTo>
                  <a:pt x="0" y="0"/>
                </a:lnTo>
                <a:lnTo>
                  <a:pt x="0" y="2406395"/>
                </a:lnTo>
                <a:close/>
              </a:path>
            </a:pathLst>
          </a:custGeom>
          <a:solidFill>
            <a:srgbClr val="C9DC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5440" y="1849374"/>
            <a:ext cx="8135620" cy="179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100"/>
              </a:spcBef>
            </a:pPr>
            <a:r>
              <a:rPr sz="2900" dirty="0">
                <a:latin typeface="华文仿宋"/>
                <a:cs typeface="华文仿宋"/>
              </a:rPr>
              <a:t>采用贝叶斯网络来解决</a:t>
            </a:r>
            <a:r>
              <a:rPr sz="2900" spc="-15" dirty="0">
                <a:latin typeface="华文仿宋"/>
                <a:cs typeface="华文仿宋"/>
              </a:rPr>
              <a:t>软</a:t>
            </a:r>
            <a:r>
              <a:rPr sz="2900" dirty="0">
                <a:latin typeface="华文仿宋"/>
                <a:cs typeface="华文仿宋"/>
              </a:rPr>
              <a:t>件规</a:t>
            </a:r>
            <a:r>
              <a:rPr sz="2900" spc="-15" dirty="0">
                <a:latin typeface="华文仿宋"/>
                <a:cs typeface="华文仿宋"/>
              </a:rPr>
              <a:t>模</a:t>
            </a:r>
            <a:r>
              <a:rPr sz="2900" dirty="0">
                <a:latin typeface="华文仿宋"/>
                <a:cs typeface="华文仿宋"/>
              </a:rPr>
              <a:t>进度</a:t>
            </a:r>
            <a:r>
              <a:rPr sz="2900" spc="-15" dirty="0">
                <a:latin typeface="华文仿宋"/>
                <a:cs typeface="华文仿宋"/>
              </a:rPr>
              <a:t>的</a:t>
            </a:r>
            <a:r>
              <a:rPr sz="2900" dirty="0">
                <a:latin typeface="华文仿宋"/>
                <a:cs typeface="华文仿宋"/>
              </a:rPr>
              <a:t>预测</a:t>
            </a:r>
            <a:r>
              <a:rPr sz="2900" spc="-15" dirty="0">
                <a:latin typeface="华文仿宋"/>
                <a:cs typeface="华文仿宋"/>
              </a:rPr>
              <a:t>与</a:t>
            </a:r>
            <a:r>
              <a:rPr sz="2900" dirty="0">
                <a:latin typeface="华文仿宋"/>
                <a:cs typeface="华文仿宋"/>
              </a:rPr>
              <a:t>控制 问</a:t>
            </a:r>
            <a:r>
              <a:rPr sz="2900" spc="5" dirty="0">
                <a:latin typeface="华文仿宋"/>
                <a:cs typeface="华文仿宋"/>
              </a:rPr>
              <a:t>题</a:t>
            </a:r>
            <a:r>
              <a:rPr sz="2900" dirty="0">
                <a:latin typeface="华文仿宋"/>
                <a:cs typeface="华文仿宋"/>
              </a:rPr>
              <a:t>。确定项目进度图</a:t>
            </a:r>
            <a:r>
              <a:rPr sz="2900" spc="-10" dirty="0">
                <a:latin typeface="华文仿宋"/>
                <a:cs typeface="华文仿宋"/>
              </a:rPr>
              <a:t>示</a:t>
            </a:r>
            <a:r>
              <a:rPr sz="2900" dirty="0">
                <a:latin typeface="华文仿宋"/>
                <a:cs typeface="华文仿宋"/>
              </a:rPr>
              <a:t>，选</a:t>
            </a:r>
            <a:r>
              <a:rPr sz="2900" spc="-10" dirty="0">
                <a:latin typeface="华文仿宋"/>
                <a:cs typeface="华文仿宋"/>
              </a:rPr>
              <a:t>择</a:t>
            </a:r>
            <a:r>
              <a:rPr sz="2900" dirty="0">
                <a:latin typeface="华文仿宋"/>
                <a:cs typeface="华文仿宋"/>
              </a:rPr>
              <a:t>影响</a:t>
            </a:r>
            <a:r>
              <a:rPr sz="2900" spc="-10" dirty="0">
                <a:latin typeface="华文仿宋"/>
                <a:cs typeface="华文仿宋"/>
              </a:rPr>
              <a:t>软</a:t>
            </a:r>
            <a:r>
              <a:rPr sz="2900" dirty="0">
                <a:latin typeface="华文仿宋"/>
                <a:cs typeface="华文仿宋"/>
              </a:rPr>
              <a:t>件规</a:t>
            </a:r>
            <a:r>
              <a:rPr sz="2900" spc="-10" dirty="0">
                <a:latin typeface="华文仿宋"/>
                <a:cs typeface="华文仿宋"/>
              </a:rPr>
              <a:t>模</a:t>
            </a:r>
            <a:r>
              <a:rPr sz="2900" spc="-5" dirty="0">
                <a:latin typeface="华文仿宋"/>
                <a:cs typeface="华文仿宋"/>
              </a:rPr>
              <a:t>进度 </a:t>
            </a:r>
            <a:r>
              <a:rPr sz="2900" dirty="0">
                <a:latin typeface="华文仿宋"/>
                <a:cs typeface="华文仿宋"/>
              </a:rPr>
              <a:t>的因素并且确定因素间</a:t>
            </a:r>
            <a:r>
              <a:rPr sz="2900" spc="-15" dirty="0">
                <a:latin typeface="华文仿宋"/>
                <a:cs typeface="华文仿宋"/>
              </a:rPr>
              <a:t>因</a:t>
            </a:r>
            <a:r>
              <a:rPr sz="2900" dirty="0">
                <a:latin typeface="华文仿宋"/>
                <a:cs typeface="华文仿宋"/>
              </a:rPr>
              <a:t>果关</a:t>
            </a:r>
            <a:r>
              <a:rPr sz="2900" spc="-10" dirty="0">
                <a:latin typeface="华文仿宋"/>
                <a:cs typeface="华文仿宋"/>
              </a:rPr>
              <a:t>系</a:t>
            </a:r>
            <a:r>
              <a:rPr sz="2900" dirty="0">
                <a:latin typeface="华文仿宋"/>
                <a:cs typeface="华文仿宋"/>
              </a:rPr>
              <a:t>，构建贝叶</a:t>
            </a:r>
            <a:r>
              <a:rPr sz="2900" spc="-15" dirty="0">
                <a:latin typeface="华文仿宋"/>
                <a:cs typeface="华文仿宋"/>
              </a:rPr>
              <a:t>斯</a:t>
            </a:r>
            <a:r>
              <a:rPr sz="2900" dirty="0">
                <a:latin typeface="华文仿宋"/>
                <a:cs typeface="华文仿宋"/>
              </a:rPr>
              <a:t>网络 结构</a:t>
            </a:r>
            <a:r>
              <a:rPr sz="2900" spc="-5" dirty="0">
                <a:latin typeface="华文仿宋"/>
                <a:cs typeface="华文仿宋"/>
              </a:rPr>
              <a:t>，</a:t>
            </a:r>
            <a:r>
              <a:rPr sz="2900" dirty="0">
                <a:latin typeface="华文仿宋"/>
                <a:cs typeface="华文仿宋"/>
              </a:rPr>
              <a:t>根据项目数据，</a:t>
            </a:r>
            <a:r>
              <a:rPr sz="2900" spc="-15" dirty="0">
                <a:latin typeface="华文仿宋"/>
                <a:cs typeface="华文仿宋"/>
              </a:rPr>
              <a:t>估</a:t>
            </a:r>
            <a:r>
              <a:rPr sz="2900" dirty="0">
                <a:latin typeface="华文仿宋"/>
                <a:cs typeface="华文仿宋"/>
              </a:rPr>
              <a:t>计和</a:t>
            </a:r>
            <a:r>
              <a:rPr sz="2900" spc="-15" dirty="0">
                <a:latin typeface="华文仿宋"/>
                <a:cs typeface="华文仿宋"/>
              </a:rPr>
              <a:t>预</a:t>
            </a:r>
            <a:r>
              <a:rPr sz="2900" dirty="0">
                <a:latin typeface="华文仿宋"/>
                <a:cs typeface="华文仿宋"/>
              </a:rPr>
              <a:t>测实</a:t>
            </a:r>
            <a:r>
              <a:rPr sz="2900" spc="-15" dirty="0">
                <a:latin typeface="华文仿宋"/>
                <a:cs typeface="华文仿宋"/>
              </a:rPr>
              <a:t>际</a:t>
            </a:r>
            <a:r>
              <a:rPr sz="2900" dirty="0">
                <a:latin typeface="华文仿宋"/>
                <a:cs typeface="华文仿宋"/>
              </a:rPr>
              <a:t>偏差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7970" y="608086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1977"/>
            <a:ext cx="56146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步</a:t>
            </a:r>
            <a:r>
              <a:rPr sz="4400" spc="-5" dirty="0">
                <a:solidFill>
                  <a:srgbClr val="775F54"/>
                </a:solidFill>
                <a:latin typeface="华文新魏"/>
                <a:cs typeface="华文新魏"/>
              </a:rPr>
              <a:t>骤-1.</a:t>
            </a: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构建项目网络图</a:t>
            </a:r>
            <a:endParaRPr sz="4400">
              <a:latin typeface="华文新魏"/>
              <a:cs typeface="华文新魏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3571" y="6225336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32082" y="2360920"/>
            <a:ext cx="6911581" cy="2400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7522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步</a:t>
            </a:r>
            <a:r>
              <a:rPr spc="-5" dirty="0">
                <a:latin typeface="华文新魏"/>
                <a:cs typeface="华文新魏"/>
              </a:rPr>
              <a:t>骤</a:t>
            </a:r>
            <a:r>
              <a:rPr dirty="0">
                <a:latin typeface="华文新魏"/>
                <a:cs typeface="华文新魏"/>
              </a:rPr>
              <a:t>-</a:t>
            </a:r>
            <a:r>
              <a:rPr spc="-60" dirty="0">
                <a:latin typeface="华文新魏"/>
                <a:cs typeface="华文新魏"/>
              </a:rPr>
              <a:t> </a:t>
            </a:r>
            <a:r>
              <a:rPr dirty="0">
                <a:latin typeface="华文新魏"/>
                <a:cs typeface="华文新魏"/>
              </a:rPr>
              <a:t>2.构建活动的贝叶斯网络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9728" y="1609470"/>
            <a:ext cx="46539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华文仿宋"/>
                <a:cs typeface="华文仿宋"/>
              </a:rPr>
              <a:t>对每一个活动构造贝叶</a:t>
            </a:r>
            <a:r>
              <a:rPr sz="2600" spc="-15" dirty="0">
                <a:latin typeface="华文仿宋"/>
                <a:cs typeface="华文仿宋"/>
              </a:rPr>
              <a:t>斯</a:t>
            </a:r>
            <a:r>
              <a:rPr sz="2600" dirty="0">
                <a:latin typeface="华文仿宋"/>
                <a:cs typeface="华文仿宋"/>
              </a:rPr>
              <a:t>网络。</a:t>
            </a:r>
            <a:endParaRPr sz="26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148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7531" y="2334742"/>
            <a:ext cx="6237692" cy="3342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2221" y="5867400"/>
            <a:ext cx="6000914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1977"/>
            <a:ext cx="41668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步</a:t>
            </a:r>
            <a:r>
              <a:rPr sz="4400" spc="-5" dirty="0">
                <a:solidFill>
                  <a:srgbClr val="775F54"/>
                </a:solidFill>
                <a:latin typeface="华文新魏"/>
                <a:cs typeface="华文新魏"/>
              </a:rPr>
              <a:t>骤</a:t>
            </a: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-</a:t>
            </a:r>
            <a:r>
              <a:rPr sz="4400" spc="-80" dirty="0">
                <a:solidFill>
                  <a:srgbClr val="775F54"/>
                </a:solidFill>
                <a:latin typeface="华文新魏"/>
                <a:cs typeface="华文新魏"/>
              </a:rPr>
              <a:t> </a:t>
            </a: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3.数据处理</a:t>
            </a:r>
            <a:endParaRPr sz="4400">
              <a:latin typeface="华文新魏"/>
              <a:cs typeface="华文新魏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0569" y="6267703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9911" y="1603886"/>
            <a:ext cx="3413489" cy="4604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331977"/>
            <a:ext cx="58591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步骤-</a:t>
            </a:r>
            <a:r>
              <a:rPr spc="-70" dirty="0">
                <a:latin typeface="华文新魏"/>
                <a:cs typeface="华文新魏"/>
              </a:rPr>
              <a:t> </a:t>
            </a:r>
            <a:r>
              <a:rPr spc="-5" dirty="0">
                <a:latin typeface="华文新魏"/>
                <a:cs typeface="华文新魏"/>
              </a:rPr>
              <a:t>4:</a:t>
            </a:r>
            <a:r>
              <a:rPr dirty="0">
                <a:latin typeface="华文新魏"/>
                <a:cs typeface="华文新魏"/>
              </a:rPr>
              <a:t>贝叶斯模型学习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18640"/>
            <a:ext cx="4032885" cy="10864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5" dirty="0">
                <a:latin typeface="华文仿宋"/>
                <a:cs typeface="华文仿宋"/>
              </a:rPr>
              <a:t>各节</a:t>
            </a:r>
            <a:r>
              <a:rPr sz="2900" b="1" dirty="0">
                <a:latin typeface="华文仿宋"/>
                <a:cs typeface="华文仿宋"/>
              </a:rPr>
              <a:t>点变</a:t>
            </a:r>
            <a:r>
              <a:rPr sz="2900" b="1" spc="-15" dirty="0">
                <a:latin typeface="华文仿宋"/>
                <a:cs typeface="华文仿宋"/>
              </a:rPr>
              <a:t>量</a:t>
            </a:r>
            <a:r>
              <a:rPr sz="2900" b="1" dirty="0">
                <a:latin typeface="华文仿宋"/>
                <a:cs typeface="华文仿宋"/>
              </a:rPr>
              <a:t>的先</a:t>
            </a:r>
            <a:r>
              <a:rPr sz="2900" b="1" spc="-15" dirty="0">
                <a:latin typeface="华文仿宋"/>
                <a:cs typeface="华文仿宋"/>
              </a:rPr>
              <a:t>验</a:t>
            </a:r>
            <a:r>
              <a:rPr sz="2900" b="1" dirty="0">
                <a:latin typeface="华文仿宋"/>
                <a:cs typeface="华文仿宋"/>
              </a:rPr>
              <a:t>概率</a:t>
            </a:r>
            <a:endParaRPr sz="29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5" dirty="0">
                <a:latin typeface="华文仿宋"/>
                <a:cs typeface="华文仿宋"/>
              </a:rPr>
              <a:t>确定</a:t>
            </a:r>
            <a:r>
              <a:rPr sz="2900" b="1" dirty="0">
                <a:latin typeface="华文仿宋"/>
                <a:cs typeface="华文仿宋"/>
              </a:rPr>
              <a:t>条件</a:t>
            </a:r>
            <a:r>
              <a:rPr sz="2900" b="1" spc="-15" dirty="0">
                <a:latin typeface="华文仿宋"/>
                <a:cs typeface="华文仿宋"/>
              </a:rPr>
              <a:t>概</a:t>
            </a:r>
            <a:r>
              <a:rPr sz="2900" b="1" dirty="0">
                <a:latin typeface="华文仿宋"/>
                <a:cs typeface="华文仿宋"/>
              </a:rPr>
              <a:t>率分</a:t>
            </a:r>
            <a:r>
              <a:rPr sz="2900" b="1" spc="-15" dirty="0">
                <a:latin typeface="华文仿宋"/>
                <a:cs typeface="华文仿宋"/>
              </a:rPr>
              <a:t>布</a:t>
            </a:r>
            <a:r>
              <a:rPr sz="2900" b="1" dirty="0">
                <a:latin typeface="华文仿宋"/>
                <a:cs typeface="华文仿宋"/>
              </a:rPr>
              <a:t>表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531" y="2781293"/>
            <a:ext cx="7415684" cy="3649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58445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步</a:t>
            </a:r>
            <a:r>
              <a:rPr spc="-5" dirty="0">
                <a:latin typeface="华文新魏"/>
                <a:cs typeface="华文新魏"/>
              </a:rPr>
              <a:t>骤</a:t>
            </a:r>
            <a:r>
              <a:rPr dirty="0">
                <a:latin typeface="华文新魏"/>
                <a:cs typeface="华文新魏"/>
              </a:rPr>
              <a:t>-</a:t>
            </a:r>
            <a:r>
              <a:rPr spc="-70" dirty="0">
                <a:latin typeface="华文新魏"/>
                <a:cs typeface="华文新魏"/>
              </a:rPr>
              <a:t> </a:t>
            </a:r>
            <a:r>
              <a:rPr dirty="0">
                <a:latin typeface="华文新魏"/>
                <a:cs typeface="华文新魏"/>
              </a:rPr>
              <a:t>5.贝叶斯网络更新</a:t>
            </a:r>
          </a:p>
        </p:txBody>
      </p:sp>
      <p:sp>
        <p:nvSpPr>
          <p:cNvPr id="3" name="object 3"/>
          <p:cNvSpPr/>
          <p:nvPr/>
        </p:nvSpPr>
        <p:spPr>
          <a:xfrm>
            <a:off x="1028699" y="1600156"/>
            <a:ext cx="7288929" cy="4463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41668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步</a:t>
            </a:r>
            <a:r>
              <a:rPr spc="-5" dirty="0">
                <a:latin typeface="华文新魏"/>
                <a:cs typeface="华文新魏"/>
              </a:rPr>
              <a:t>骤</a:t>
            </a:r>
            <a:r>
              <a:rPr dirty="0">
                <a:latin typeface="华文新魏"/>
                <a:cs typeface="华文新魏"/>
              </a:rPr>
              <a:t>-</a:t>
            </a:r>
            <a:r>
              <a:rPr spc="-80" dirty="0">
                <a:latin typeface="华文新魏"/>
                <a:cs typeface="华文新魏"/>
              </a:rPr>
              <a:t> </a:t>
            </a:r>
            <a:r>
              <a:rPr dirty="0">
                <a:latin typeface="华文新魏"/>
                <a:cs typeface="华文新魏"/>
              </a:rPr>
              <a:t>6.分析原因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606422"/>
            <a:ext cx="195072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仿宋"/>
                <a:cs typeface="华文仿宋"/>
              </a:rPr>
              <a:t>敏感性分析</a:t>
            </a:r>
            <a:r>
              <a:rPr sz="2900" dirty="0">
                <a:latin typeface="Tw Cen MT"/>
                <a:cs typeface="Tw Cen MT"/>
              </a:rPr>
              <a:t>: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7416" y="617291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4733" y="2358746"/>
            <a:ext cx="5279963" cy="1989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50038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性能分析的主要技术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2133600"/>
            <a:ext cx="8153400" cy="2735580"/>
          </a:xfrm>
          <a:custGeom>
            <a:avLst/>
            <a:gdLst/>
            <a:ahLst/>
            <a:cxnLst/>
            <a:rect l="l" t="t" r="r" b="b"/>
            <a:pathLst>
              <a:path w="8153400" h="2735579">
                <a:moveTo>
                  <a:pt x="0" y="2735580"/>
                </a:moveTo>
                <a:lnTo>
                  <a:pt x="8153400" y="2735580"/>
                </a:lnTo>
                <a:lnTo>
                  <a:pt x="8153400" y="0"/>
                </a:lnTo>
                <a:lnTo>
                  <a:pt x="0" y="0"/>
                </a:lnTo>
                <a:lnTo>
                  <a:pt x="0" y="273558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4840" y="4267240"/>
            <a:ext cx="2444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0"/>
              </a:lnSpc>
            </a:pPr>
            <a:r>
              <a:rPr sz="2150" spc="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215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11480" indent="-320675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spc="-5" dirty="0"/>
              <a:t>图解控制法</a:t>
            </a:r>
          </a:p>
          <a:p>
            <a:pPr marL="411480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dirty="0"/>
              <a:t>挣值分析法</a:t>
            </a:r>
          </a:p>
          <a:p>
            <a:pPr marL="411480" marR="5447030" indent="-320675">
              <a:lnSpc>
                <a:spcPts val="5020"/>
              </a:lnSpc>
              <a:spcBef>
                <a:spcPts val="280"/>
              </a:spcBef>
              <a:buClr>
                <a:srgbClr val="DD8046"/>
              </a:buClr>
              <a:buSzPct val="59722"/>
              <a:buFont typeface="Wingdings"/>
              <a:buChar char=""/>
              <a:tabLst>
                <a:tab pos="412115" algn="l"/>
              </a:tabLst>
            </a:pPr>
            <a:r>
              <a:rPr spc="-5" dirty="0"/>
              <a:t>网络图</a:t>
            </a:r>
            <a:r>
              <a:rPr dirty="0"/>
              <a:t>分析 敏捷方法</a:t>
            </a:r>
          </a:p>
        </p:txBody>
      </p:sp>
      <p:sp>
        <p:nvSpPr>
          <p:cNvPr id="7" name="object 7"/>
          <p:cNvSpPr/>
          <p:nvPr/>
        </p:nvSpPr>
        <p:spPr>
          <a:xfrm>
            <a:off x="324611" y="4012691"/>
            <a:ext cx="577595" cy="711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敏捷项目进展衡量的原则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544" y="1915667"/>
            <a:ext cx="8153400" cy="894715"/>
          </a:xfrm>
          <a:prstGeom prst="rect">
            <a:avLst/>
          </a:prstGeom>
          <a:solidFill>
            <a:srgbClr val="D4D1D1"/>
          </a:solidFill>
        </p:spPr>
        <p:txBody>
          <a:bodyPr vert="horz" wrap="square" lIns="0" tIns="19685" rIns="0" bIns="0" rtlCol="0">
            <a:spAutoFit/>
          </a:bodyPr>
          <a:lstStyle/>
          <a:p>
            <a:pPr marL="411480" indent="-320675">
              <a:lnSpc>
                <a:spcPct val="100000"/>
              </a:lnSpc>
              <a:spcBef>
                <a:spcPts val="15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dirty="0">
                <a:latin typeface="华文仿宋"/>
                <a:cs typeface="华文仿宋"/>
              </a:rPr>
              <a:t>交付价值替代</a:t>
            </a:r>
            <a:r>
              <a:rPr sz="2900" spc="5" dirty="0">
                <a:latin typeface="华文仿宋"/>
                <a:cs typeface="华文仿宋"/>
              </a:rPr>
              <a:t>预测型</a:t>
            </a:r>
            <a:r>
              <a:rPr sz="2900" spc="-5" dirty="0">
                <a:latin typeface="华文仿宋"/>
                <a:cs typeface="华文仿宋"/>
              </a:rPr>
              <a:t>衡</a:t>
            </a:r>
            <a:r>
              <a:rPr sz="2900" spc="-10" dirty="0">
                <a:latin typeface="华文仿宋"/>
                <a:cs typeface="华文仿宋"/>
              </a:rPr>
              <a:t>量</a:t>
            </a:r>
            <a:r>
              <a:rPr sz="2900" spc="5" dirty="0">
                <a:latin typeface="华文仿宋"/>
                <a:cs typeface="华文仿宋"/>
              </a:rPr>
              <a:t>指标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9344" y="5973572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68770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(一)</a:t>
            </a:r>
            <a:r>
              <a:rPr dirty="0">
                <a:latin typeface="华文新魏"/>
                <a:cs typeface="华文新魏"/>
              </a:rPr>
              <a:t>基于迭代的项</a:t>
            </a:r>
            <a:r>
              <a:rPr spc="-10" dirty="0">
                <a:latin typeface="华文新魏"/>
                <a:cs typeface="华文新魏"/>
              </a:rPr>
              <a:t>目</a:t>
            </a:r>
            <a:r>
              <a:rPr dirty="0">
                <a:latin typeface="华文新魏"/>
                <a:cs typeface="华文新魏"/>
              </a:rPr>
              <a:t>:</a:t>
            </a:r>
            <a:r>
              <a:rPr spc="-80" dirty="0">
                <a:latin typeface="华文新魏"/>
                <a:cs typeface="华文新魏"/>
              </a:rPr>
              <a:t> </a:t>
            </a:r>
            <a:r>
              <a:rPr dirty="0">
                <a:latin typeface="华文新魏"/>
                <a:cs typeface="华文新魏"/>
              </a:rPr>
              <a:t>燃尽图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8595" y="1600004"/>
            <a:ext cx="7453366" cy="4495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28232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项</a:t>
            </a:r>
            <a:r>
              <a:rPr spc="-5" dirty="0"/>
              <a:t>目</a:t>
            </a:r>
            <a:r>
              <a:rPr dirty="0"/>
              <a:t>燃尽图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9718" y="1825172"/>
            <a:ext cx="7137793" cy="4124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67443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(一)</a:t>
            </a:r>
            <a:r>
              <a:rPr dirty="0">
                <a:latin typeface="华文新魏"/>
                <a:cs typeface="华文新魏"/>
              </a:rPr>
              <a:t>基于迭代的项</a:t>
            </a:r>
            <a:r>
              <a:rPr spc="-10" dirty="0">
                <a:latin typeface="华文新魏"/>
                <a:cs typeface="华文新魏"/>
              </a:rPr>
              <a:t>目</a:t>
            </a:r>
            <a:r>
              <a:rPr spc="-5" dirty="0">
                <a:latin typeface="华文新魏"/>
                <a:cs typeface="华文新魏"/>
              </a:rPr>
              <a:t>:</a:t>
            </a:r>
            <a:r>
              <a:rPr dirty="0">
                <a:latin typeface="华文新魏"/>
                <a:cs typeface="华文新魏"/>
              </a:rPr>
              <a:t>燃起图</a:t>
            </a:r>
          </a:p>
        </p:txBody>
      </p:sp>
      <p:sp>
        <p:nvSpPr>
          <p:cNvPr id="3" name="object 3"/>
          <p:cNvSpPr/>
          <p:nvPr/>
        </p:nvSpPr>
        <p:spPr>
          <a:xfrm>
            <a:off x="1141473" y="1900795"/>
            <a:ext cx="7076699" cy="3904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6014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(二)</a:t>
            </a:r>
            <a:r>
              <a:rPr dirty="0">
                <a:latin typeface="华文新魏"/>
                <a:cs typeface="华文新魏"/>
              </a:rPr>
              <a:t>基于流程的衡量指标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40622"/>
            <a:ext cx="7934959" cy="341439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6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交付周期</a:t>
            </a:r>
            <a:endParaRPr sz="2900">
              <a:latin typeface="华文新魏"/>
              <a:cs typeface="华文新魏"/>
            </a:endParaRPr>
          </a:p>
          <a:p>
            <a:pPr marL="652145" marR="5080" lvl="1" indent="-273050">
              <a:lnSpc>
                <a:spcPts val="3120"/>
              </a:lnSpc>
              <a:spcBef>
                <a:spcPts val="725"/>
              </a:spcBef>
              <a:buClr>
                <a:srgbClr val="93B6D2"/>
              </a:buClr>
              <a:buSzPct val="65454"/>
              <a:buFont typeface="Wingdings 2"/>
              <a:buChar char=""/>
              <a:tabLst>
                <a:tab pos="652780" algn="l"/>
              </a:tabLst>
            </a:pP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交付一个工作项目花费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的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总时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间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，从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项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目添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加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到看 板直至项目完成</a:t>
            </a:r>
            <a:endParaRPr sz="275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57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周期时间</a:t>
            </a:r>
            <a:endParaRPr sz="2900">
              <a:latin typeface="华文新魏"/>
              <a:cs typeface="华文新魏"/>
            </a:endParaRPr>
          </a:p>
          <a:p>
            <a:pPr marL="652145" lvl="1" indent="-273050">
              <a:lnSpc>
                <a:spcPct val="100000"/>
              </a:lnSpc>
              <a:spcBef>
                <a:spcPts val="475"/>
              </a:spcBef>
              <a:buClr>
                <a:srgbClr val="93B6D2"/>
              </a:buClr>
              <a:buSzPct val="65454"/>
              <a:buFont typeface="Wingdings 2"/>
              <a:buChar char=""/>
              <a:tabLst>
                <a:tab pos="652780" algn="l"/>
              </a:tabLst>
            </a:pP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处理一个工作项目所需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的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时间</a:t>
            </a:r>
            <a:endParaRPr sz="275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4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响应时间</a:t>
            </a:r>
            <a:endParaRPr sz="2900">
              <a:latin typeface="华文新魏"/>
              <a:cs typeface="华文新魏"/>
            </a:endParaRPr>
          </a:p>
          <a:p>
            <a:pPr marL="652145" lvl="1" indent="-273050">
              <a:lnSpc>
                <a:spcPct val="100000"/>
              </a:lnSpc>
              <a:spcBef>
                <a:spcPts val="475"/>
              </a:spcBef>
              <a:buClr>
                <a:srgbClr val="93B6D2"/>
              </a:buClr>
              <a:buSzPct val="65454"/>
              <a:buFont typeface="Wingdings 2"/>
              <a:buChar char=""/>
              <a:tabLst>
                <a:tab pos="652780" algn="l"/>
              </a:tabLst>
            </a:pP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一个工作项目等待工作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开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始的</a:t>
            </a:r>
            <a:r>
              <a:rPr sz="2750" i="1" spc="-165" dirty="0">
                <a:solidFill>
                  <a:srgbClr val="9999FF"/>
                </a:solidFill>
                <a:latin typeface="华文新魏"/>
                <a:cs typeface="华文新魏"/>
              </a:rPr>
              <a:t>时</a:t>
            </a:r>
            <a:r>
              <a:rPr sz="2750" i="1" spc="-150" dirty="0">
                <a:solidFill>
                  <a:srgbClr val="9999FF"/>
                </a:solidFill>
                <a:latin typeface="华文新魏"/>
                <a:cs typeface="华文新魏"/>
              </a:rPr>
              <a:t>间</a:t>
            </a:r>
            <a:endParaRPr sz="275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2346" y="617291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56603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(三)</a:t>
            </a:r>
            <a:r>
              <a:rPr dirty="0">
                <a:latin typeface="华文新魏"/>
                <a:cs typeface="华文新魏"/>
              </a:rPr>
              <a:t>功能燃起</a:t>
            </a:r>
            <a:r>
              <a:rPr spc="-5" dirty="0">
                <a:latin typeface="华文新魏"/>
                <a:cs typeface="华文新魏"/>
              </a:rPr>
              <a:t>图</a:t>
            </a:r>
            <a:r>
              <a:rPr dirty="0">
                <a:latin typeface="华文新魏"/>
                <a:cs typeface="华文新魏"/>
              </a:rPr>
              <a:t>/燃尽图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3628" y="1910727"/>
            <a:ext cx="8165421" cy="3953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8228"/>
            <a:ext cx="43345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</a:t>
            </a:r>
            <a:r>
              <a:rPr dirty="0">
                <a:latin typeface="华文新魏"/>
                <a:cs typeface="华文新魏"/>
              </a:rPr>
              <a:t>四</a:t>
            </a:r>
            <a:r>
              <a:rPr spc="-5" dirty="0">
                <a:latin typeface="华文新魏"/>
                <a:cs typeface="华文新魏"/>
              </a:rPr>
              <a:t>)</a:t>
            </a:r>
            <a:r>
              <a:rPr dirty="0">
                <a:latin typeface="华文新魏"/>
                <a:cs typeface="华文新魏"/>
              </a:rPr>
              <a:t>完成指标管理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778965"/>
            <a:ext cx="826770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迭代速</a:t>
            </a:r>
            <a:r>
              <a:rPr sz="2900" spc="5" dirty="0">
                <a:latin typeface="华文仿宋"/>
                <a:cs typeface="华文仿宋"/>
              </a:rPr>
              <a:t>率</a:t>
            </a:r>
            <a:r>
              <a:rPr sz="2900" dirty="0">
                <a:latin typeface="Tw Cen MT"/>
                <a:cs typeface="Tw Cen MT"/>
              </a:rPr>
              <a:t>:</a:t>
            </a:r>
            <a:r>
              <a:rPr sz="2900" spc="-9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反映了一个团队在一个迭</a:t>
            </a:r>
            <a:r>
              <a:rPr sz="2900" spc="-10" dirty="0">
                <a:latin typeface="华文仿宋"/>
                <a:cs typeface="华文仿宋"/>
              </a:rPr>
              <a:t>代</a:t>
            </a:r>
            <a:r>
              <a:rPr sz="2900" dirty="0">
                <a:latin typeface="华文仿宋"/>
                <a:cs typeface="华文仿宋"/>
              </a:rPr>
              <a:t>周期</a:t>
            </a:r>
            <a:r>
              <a:rPr sz="2900" spc="-10" dirty="0">
                <a:latin typeface="华文仿宋"/>
                <a:cs typeface="华文仿宋"/>
              </a:rPr>
              <a:t>内</a:t>
            </a:r>
            <a:r>
              <a:rPr sz="2900" dirty="0">
                <a:latin typeface="华文仿宋"/>
                <a:cs typeface="华文仿宋"/>
              </a:rPr>
              <a:t>所能 交付的</a:t>
            </a:r>
            <a:r>
              <a:rPr sz="2900" spc="60" dirty="0">
                <a:latin typeface="华文仿宋"/>
                <a:cs typeface="华文仿宋"/>
              </a:rPr>
              <a:t> </a:t>
            </a:r>
            <a:r>
              <a:rPr sz="2900" dirty="0">
                <a:latin typeface="Tw Cen MT"/>
                <a:cs typeface="Tw Cen MT"/>
              </a:rPr>
              <a:t>Story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个数。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8269" y="6056172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58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8228"/>
            <a:ext cx="43345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</a:t>
            </a:r>
            <a:r>
              <a:rPr dirty="0">
                <a:latin typeface="华文新魏"/>
                <a:cs typeface="华文新魏"/>
              </a:rPr>
              <a:t>四</a:t>
            </a:r>
            <a:r>
              <a:rPr spc="-5" dirty="0">
                <a:latin typeface="华文新魏"/>
                <a:cs typeface="华文新魏"/>
              </a:rPr>
              <a:t>)</a:t>
            </a:r>
            <a:r>
              <a:rPr dirty="0">
                <a:latin typeface="华文新魏"/>
                <a:cs typeface="华文新魏"/>
              </a:rPr>
              <a:t>完成指标管理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778965"/>
            <a:ext cx="8267700" cy="354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迭代速</a:t>
            </a:r>
            <a:r>
              <a:rPr sz="2900" spc="5" dirty="0">
                <a:latin typeface="华文仿宋"/>
                <a:cs typeface="华文仿宋"/>
              </a:rPr>
              <a:t>率</a:t>
            </a:r>
            <a:r>
              <a:rPr sz="2900" dirty="0">
                <a:latin typeface="Tw Cen MT"/>
                <a:cs typeface="Tw Cen MT"/>
              </a:rPr>
              <a:t>:</a:t>
            </a:r>
            <a:r>
              <a:rPr sz="2900" spc="-9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反映了一个团队在一个迭</a:t>
            </a:r>
            <a:r>
              <a:rPr sz="2900" spc="-10" dirty="0">
                <a:latin typeface="华文仿宋"/>
                <a:cs typeface="华文仿宋"/>
              </a:rPr>
              <a:t>代</a:t>
            </a:r>
            <a:r>
              <a:rPr sz="2900" dirty="0">
                <a:latin typeface="华文仿宋"/>
                <a:cs typeface="华文仿宋"/>
              </a:rPr>
              <a:t>周期</a:t>
            </a:r>
            <a:r>
              <a:rPr sz="2900" spc="-10" dirty="0">
                <a:latin typeface="华文仿宋"/>
                <a:cs typeface="华文仿宋"/>
              </a:rPr>
              <a:t>内</a:t>
            </a:r>
            <a:r>
              <a:rPr sz="2900" dirty="0">
                <a:latin typeface="华文仿宋"/>
                <a:cs typeface="华文仿宋"/>
              </a:rPr>
              <a:t>所能 交付的</a:t>
            </a:r>
            <a:r>
              <a:rPr sz="2900" spc="60" dirty="0">
                <a:latin typeface="华文仿宋"/>
                <a:cs typeface="华文仿宋"/>
              </a:rPr>
              <a:t> </a:t>
            </a:r>
            <a:r>
              <a:rPr sz="2900" dirty="0">
                <a:latin typeface="Tw Cen MT"/>
                <a:cs typeface="Tw Cen MT"/>
              </a:rPr>
              <a:t>Story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个数。</a:t>
            </a:r>
            <a:endParaRPr sz="2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buClr>
                <a:srgbClr val="DD8046"/>
              </a:buClr>
              <a:buFont typeface="Wingdings"/>
              <a:buChar char=""/>
            </a:pPr>
            <a:endParaRPr sz="4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例如</a:t>
            </a:r>
            <a:r>
              <a:rPr sz="2900" dirty="0">
                <a:latin typeface="Tw Cen MT"/>
                <a:cs typeface="Tw Cen MT"/>
              </a:rPr>
              <a:t>:</a:t>
            </a:r>
            <a:endParaRPr sz="2900">
              <a:latin typeface="Tw Cen MT"/>
              <a:cs typeface="Tw Cen MT"/>
            </a:endParaRPr>
          </a:p>
          <a:p>
            <a:pPr marL="652780" lvl="1" indent="-27305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965"/>
              <a:buFont typeface="Wingdings 2"/>
              <a:buChar char=""/>
              <a:tabLst>
                <a:tab pos="652780" algn="l"/>
              </a:tabLst>
            </a:pPr>
            <a:r>
              <a:rPr sz="2900" dirty="0">
                <a:latin typeface="华文仿宋"/>
                <a:cs typeface="华文仿宋"/>
              </a:rPr>
              <a:t>迭代速率</a:t>
            </a:r>
            <a:r>
              <a:rPr sz="2900" dirty="0">
                <a:latin typeface="Tw Cen MT"/>
                <a:cs typeface="Tw Cen MT"/>
              </a:rPr>
              <a:t>=50</a:t>
            </a:r>
            <a:r>
              <a:rPr sz="2900" dirty="0">
                <a:latin typeface="华文仿宋"/>
                <a:cs typeface="华文仿宋"/>
              </a:rPr>
              <a:t>个</a:t>
            </a:r>
            <a:r>
              <a:rPr sz="2900" dirty="0">
                <a:latin typeface="Tw Cen MT"/>
                <a:cs typeface="Tw Cen MT"/>
              </a:rPr>
              <a:t>Story</a:t>
            </a:r>
            <a:r>
              <a:rPr sz="2900" spc="-5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points/</a:t>
            </a:r>
            <a:r>
              <a:rPr sz="2900" dirty="0">
                <a:latin typeface="华文仿宋"/>
                <a:cs typeface="华文仿宋"/>
              </a:rPr>
              <a:t>迭代</a:t>
            </a:r>
            <a:endParaRPr sz="2900">
              <a:latin typeface="华文仿宋"/>
              <a:cs typeface="华文仿宋"/>
            </a:endParaRPr>
          </a:p>
          <a:p>
            <a:pPr marL="652780" lvl="1" indent="-27305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8965"/>
              <a:buFont typeface="Wingdings 2"/>
              <a:buChar char=""/>
              <a:tabLst>
                <a:tab pos="652780" algn="l"/>
              </a:tabLst>
            </a:pPr>
            <a:r>
              <a:rPr sz="2900" dirty="0">
                <a:latin typeface="华文仿宋"/>
                <a:cs typeface="华文仿宋"/>
              </a:rPr>
              <a:t>项目有</a:t>
            </a:r>
            <a:r>
              <a:rPr sz="2900" dirty="0">
                <a:latin typeface="Tw Cen MT"/>
                <a:cs typeface="Tw Cen MT"/>
              </a:rPr>
              <a:t>500</a:t>
            </a:r>
            <a:r>
              <a:rPr sz="2900" spc="-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Story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points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3851910" algn="l"/>
              </a:tabLst>
            </a:pPr>
            <a:r>
              <a:rPr sz="2900" dirty="0">
                <a:latin typeface="华文仿宋"/>
                <a:cs typeface="华文仿宋"/>
              </a:rPr>
              <a:t>则，项目大约还需要	</a:t>
            </a:r>
            <a:r>
              <a:rPr sz="2900" spc="5" dirty="0">
                <a:latin typeface="Tw Cen MT"/>
                <a:cs typeface="Tw Cen MT"/>
              </a:rPr>
              <a:t>10</a:t>
            </a:r>
            <a:r>
              <a:rPr sz="2900" dirty="0">
                <a:latin typeface="华文仿宋"/>
                <a:cs typeface="华文仿宋"/>
              </a:rPr>
              <a:t>个迭代。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8269" y="6056172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8228"/>
            <a:ext cx="43345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华文新魏"/>
                <a:cs typeface="华文新魏"/>
              </a:rPr>
              <a:t>(</a:t>
            </a:r>
            <a:r>
              <a:rPr dirty="0">
                <a:latin typeface="华文新魏"/>
                <a:cs typeface="华文新魏"/>
              </a:rPr>
              <a:t>四</a:t>
            </a:r>
            <a:r>
              <a:rPr spc="-5" dirty="0">
                <a:latin typeface="华文新魏"/>
                <a:cs typeface="华文新魏"/>
              </a:rPr>
              <a:t>)</a:t>
            </a:r>
            <a:r>
              <a:rPr dirty="0">
                <a:latin typeface="华文新魏"/>
                <a:cs typeface="华文新魏"/>
              </a:rPr>
              <a:t>完成指标管理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778965"/>
            <a:ext cx="826770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期望值管</a:t>
            </a:r>
            <a:r>
              <a:rPr sz="2900" spc="5" dirty="0">
                <a:latin typeface="华文仿宋"/>
                <a:cs typeface="华文仿宋"/>
              </a:rPr>
              <a:t>理</a:t>
            </a:r>
            <a:r>
              <a:rPr sz="2900" dirty="0">
                <a:latin typeface="Tw Cen MT"/>
                <a:cs typeface="Tw Cen MT"/>
              </a:rPr>
              <a:t>:</a:t>
            </a:r>
            <a:r>
              <a:rPr sz="2900" spc="-9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团队的管理者要适当控</a:t>
            </a:r>
            <a:r>
              <a:rPr sz="2900" spc="-10" dirty="0">
                <a:latin typeface="华文仿宋"/>
                <a:cs typeface="华文仿宋"/>
              </a:rPr>
              <a:t>制</a:t>
            </a:r>
            <a:r>
              <a:rPr sz="2900" dirty="0">
                <a:latin typeface="华文仿宋"/>
                <a:cs typeface="华文仿宋"/>
              </a:rPr>
              <a:t>他们</a:t>
            </a:r>
            <a:r>
              <a:rPr sz="2900" spc="-10" dirty="0">
                <a:latin typeface="华文仿宋"/>
                <a:cs typeface="华文仿宋"/>
              </a:rPr>
              <a:t>的</a:t>
            </a:r>
            <a:r>
              <a:rPr sz="2900" dirty="0">
                <a:latin typeface="华文仿宋"/>
                <a:cs typeface="华文仿宋"/>
              </a:rPr>
              <a:t>期望 值的提升，因为团队的</a:t>
            </a:r>
            <a:r>
              <a:rPr sz="2900" spc="-15" dirty="0">
                <a:latin typeface="华文仿宋"/>
                <a:cs typeface="华文仿宋"/>
              </a:rPr>
              <a:t>生</a:t>
            </a:r>
            <a:r>
              <a:rPr sz="2900" dirty="0">
                <a:latin typeface="华文仿宋"/>
                <a:cs typeface="华文仿宋"/>
              </a:rPr>
              <a:t>产能</a:t>
            </a:r>
            <a:r>
              <a:rPr sz="2900" spc="-15" dirty="0">
                <a:latin typeface="华文仿宋"/>
                <a:cs typeface="华文仿宋"/>
              </a:rPr>
              <a:t>力</a:t>
            </a:r>
            <a:r>
              <a:rPr sz="2900" dirty="0">
                <a:latin typeface="华文仿宋"/>
                <a:cs typeface="华文仿宋"/>
              </a:rPr>
              <a:t>应该</a:t>
            </a:r>
            <a:r>
              <a:rPr sz="2900" spc="-15" dirty="0">
                <a:latin typeface="华文仿宋"/>
                <a:cs typeface="华文仿宋"/>
              </a:rPr>
              <a:t>有</a:t>
            </a:r>
            <a:r>
              <a:rPr sz="2900" dirty="0">
                <a:latin typeface="华文仿宋"/>
                <a:cs typeface="华文仿宋"/>
              </a:rPr>
              <a:t>它的</a:t>
            </a:r>
            <a:r>
              <a:rPr sz="2900" spc="-15" dirty="0">
                <a:latin typeface="华文仿宋"/>
                <a:cs typeface="华文仿宋"/>
              </a:rPr>
              <a:t>上</a:t>
            </a:r>
            <a:r>
              <a:rPr sz="2900" dirty="0">
                <a:latin typeface="华文仿宋"/>
                <a:cs typeface="华文仿宋"/>
              </a:rPr>
              <a:t>限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8269" y="6056172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进度变更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648" y="1629155"/>
            <a:ext cx="8153400" cy="1396365"/>
          </a:xfrm>
          <a:prstGeom prst="rect">
            <a:avLst/>
          </a:prstGeom>
          <a:solidFill>
            <a:srgbClr val="C9DCD7"/>
          </a:solidFill>
        </p:spPr>
        <p:txBody>
          <a:bodyPr vert="horz" wrap="square" lIns="0" tIns="18415" rIns="0" bIns="0" rtlCol="0">
            <a:spAutoFit/>
          </a:bodyPr>
          <a:lstStyle/>
          <a:p>
            <a:pPr marL="411480" indent="-320675">
              <a:lnSpc>
                <a:spcPct val="100000"/>
              </a:lnSpc>
              <a:spcBef>
                <a:spcPts val="14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dirty="0">
                <a:latin typeface="华文仿宋"/>
                <a:cs typeface="华文仿宋"/>
              </a:rPr>
              <a:t>通过项目进度分</a:t>
            </a:r>
            <a:r>
              <a:rPr sz="2900" spc="5" dirty="0">
                <a:latin typeface="华文仿宋"/>
                <a:cs typeface="华文仿宋"/>
              </a:rPr>
              <a:t>析</a:t>
            </a:r>
            <a:r>
              <a:rPr sz="2900" dirty="0">
                <a:latin typeface="Tw Cen MT"/>
                <a:cs typeface="Tw Cen MT"/>
              </a:rPr>
              <a:t>,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确定必要的变更</a:t>
            </a:r>
            <a:endParaRPr sz="2900">
              <a:latin typeface="华文仿宋"/>
              <a:cs typeface="华文仿宋"/>
            </a:endParaRPr>
          </a:p>
          <a:p>
            <a:pPr marL="41148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dirty="0">
                <a:latin typeface="华文仿宋"/>
                <a:cs typeface="华文仿宋"/>
              </a:rPr>
              <a:t>必要时</a:t>
            </a:r>
            <a:r>
              <a:rPr sz="2900" spc="-5" dirty="0">
                <a:latin typeface="Tw Cen MT"/>
                <a:cs typeface="Tw Cen MT"/>
              </a:rPr>
              <a:t>,</a:t>
            </a:r>
            <a:r>
              <a:rPr sz="2900" dirty="0">
                <a:latin typeface="华文仿宋"/>
                <a:cs typeface="华文仿宋"/>
              </a:rPr>
              <a:t>执行集成变更流程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1942" y="6154927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61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3788" y="212427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8339" y="1842516"/>
            <a:ext cx="50609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3788" y="308350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8339" y="2802635"/>
            <a:ext cx="483234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5311" y="40442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8339" y="3762755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5311" y="500552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339" y="4722876"/>
            <a:ext cx="485140" cy="86741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4307" y="1842516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56944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范围管</a:t>
            </a: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理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-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448" y="280263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86055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进度成本管理-</a:t>
            </a:r>
            <a:r>
              <a:rPr sz="2000" b="1" spc="-2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2972" y="376275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01346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质量管理-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2972" y="4722876"/>
            <a:ext cx="4630420" cy="86741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36982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质量执行控制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6743" y="1638566"/>
            <a:ext cx="324128" cy="341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5000" y="1651254"/>
            <a:ext cx="5530596" cy="386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6686" y="1651254"/>
            <a:ext cx="3916679" cy="3810"/>
          </a:xfrm>
          <a:custGeom>
            <a:avLst/>
            <a:gdLst/>
            <a:ahLst/>
            <a:cxnLst/>
            <a:rect l="l" t="t" r="r" b="b"/>
            <a:pathLst>
              <a:path w="3916679" h="3810">
                <a:moveTo>
                  <a:pt x="-19049" y="1662"/>
                </a:moveTo>
                <a:lnTo>
                  <a:pt x="3935281" y="1662"/>
                </a:lnTo>
              </a:path>
            </a:pathLst>
          </a:custGeom>
          <a:ln w="414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46743" y="2026339"/>
            <a:ext cx="387312" cy="348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82918" y="1651254"/>
            <a:ext cx="352425" cy="400050"/>
          </a:xfrm>
          <a:custGeom>
            <a:avLst/>
            <a:gdLst/>
            <a:ahLst/>
            <a:cxnLst/>
            <a:rect l="l" t="t" r="r" b="b"/>
            <a:pathLst>
              <a:path w="352425" h="400050">
                <a:moveTo>
                  <a:pt x="0" y="0"/>
                </a:moveTo>
                <a:lnTo>
                  <a:pt x="47772" y="3213"/>
                </a:lnTo>
                <a:lnTo>
                  <a:pt x="93590" y="12574"/>
                </a:lnTo>
                <a:lnTo>
                  <a:pt x="137034" y="27664"/>
                </a:lnTo>
                <a:lnTo>
                  <a:pt x="177687" y="48062"/>
                </a:lnTo>
                <a:lnTo>
                  <a:pt x="215127" y="73350"/>
                </a:lnTo>
                <a:lnTo>
                  <a:pt x="248935" y="103108"/>
                </a:lnTo>
                <a:lnTo>
                  <a:pt x="278693" y="136916"/>
                </a:lnTo>
                <a:lnTo>
                  <a:pt x="303981" y="174356"/>
                </a:lnTo>
                <a:lnTo>
                  <a:pt x="324379" y="215009"/>
                </a:lnTo>
                <a:lnTo>
                  <a:pt x="339469" y="258453"/>
                </a:lnTo>
                <a:lnTo>
                  <a:pt x="348830" y="304271"/>
                </a:lnTo>
                <a:lnTo>
                  <a:pt x="352043" y="352044"/>
                </a:lnTo>
                <a:lnTo>
                  <a:pt x="348830" y="399816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12803" y="2032020"/>
            <a:ext cx="137994" cy="239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82918" y="2252233"/>
            <a:ext cx="249554" cy="103505"/>
          </a:xfrm>
          <a:custGeom>
            <a:avLst/>
            <a:gdLst/>
            <a:ahLst/>
            <a:cxnLst/>
            <a:rect l="l" t="t" r="r" b="b"/>
            <a:pathLst>
              <a:path w="249554" h="103505">
                <a:moveTo>
                  <a:pt x="248935" y="0"/>
                </a:moveTo>
                <a:lnTo>
                  <a:pt x="215127" y="29757"/>
                </a:lnTo>
                <a:lnTo>
                  <a:pt x="177687" y="55045"/>
                </a:lnTo>
                <a:lnTo>
                  <a:pt x="137034" y="75443"/>
                </a:lnTo>
                <a:lnTo>
                  <a:pt x="93590" y="90533"/>
                </a:lnTo>
                <a:lnTo>
                  <a:pt x="47772" y="99894"/>
                </a:lnTo>
                <a:lnTo>
                  <a:pt x="0" y="10310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62961" y="1651254"/>
            <a:ext cx="4571999" cy="7040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62961" y="1651254"/>
            <a:ext cx="4572000" cy="704215"/>
          </a:xfrm>
          <a:custGeom>
            <a:avLst/>
            <a:gdLst/>
            <a:ahLst/>
            <a:cxnLst/>
            <a:rect l="l" t="t" r="r" b="b"/>
            <a:pathLst>
              <a:path w="4572000" h="704214">
                <a:moveTo>
                  <a:pt x="0" y="352044"/>
                </a:moveTo>
                <a:lnTo>
                  <a:pt x="3213" y="304271"/>
                </a:lnTo>
                <a:lnTo>
                  <a:pt x="12574" y="258453"/>
                </a:lnTo>
                <a:lnTo>
                  <a:pt x="27664" y="215009"/>
                </a:lnTo>
                <a:lnTo>
                  <a:pt x="48062" y="174356"/>
                </a:lnTo>
                <a:lnTo>
                  <a:pt x="73350" y="136916"/>
                </a:lnTo>
                <a:lnTo>
                  <a:pt x="103108" y="103108"/>
                </a:lnTo>
                <a:lnTo>
                  <a:pt x="136916" y="73350"/>
                </a:lnTo>
                <a:lnTo>
                  <a:pt x="174356" y="48062"/>
                </a:lnTo>
                <a:lnTo>
                  <a:pt x="215009" y="27664"/>
                </a:lnTo>
                <a:lnTo>
                  <a:pt x="258453" y="12574"/>
                </a:lnTo>
                <a:lnTo>
                  <a:pt x="304271" y="3213"/>
                </a:lnTo>
                <a:lnTo>
                  <a:pt x="352044" y="0"/>
                </a:lnTo>
                <a:lnTo>
                  <a:pt x="4219956" y="0"/>
                </a:lnTo>
                <a:lnTo>
                  <a:pt x="4267728" y="3213"/>
                </a:lnTo>
                <a:lnTo>
                  <a:pt x="4313546" y="12574"/>
                </a:lnTo>
                <a:lnTo>
                  <a:pt x="4356990" y="27664"/>
                </a:lnTo>
                <a:lnTo>
                  <a:pt x="4397643" y="48062"/>
                </a:lnTo>
                <a:lnTo>
                  <a:pt x="4435083" y="73350"/>
                </a:lnTo>
                <a:lnTo>
                  <a:pt x="4468891" y="103108"/>
                </a:lnTo>
                <a:lnTo>
                  <a:pt x="4498649" y="136916"/>
                </a:lnTo>
                <a:lnTo>
                  <a:pt x="4523937" y="174356"/>
                </a:lnTo>
                <a:lnTo>
                  <a:pt x="4544335" y="215009"/>
                </a:lnTo>
                <a:lnTo>
                  <a:pt x="4559425" y="258453"/>
                </a:lnTo>
                <a:lnTo>
                  <a:pt x="4568786" y="304271"/>
                </a:lnTo>
                <a:lnTo>
                  <a:pt x="4571999" y="352044"/>
                </a:lnTo>
                <a:lnTo>
                  <a:pt x="4568786" y="399816"/>
                </a:lnTo>
                <a:lnTo>
                  <a:pt x="4559425" y="445634"/>
                </a:lnTo>
                <a:lnTo>
                  <a:pt x="4544335" y="489078"/>
                </a:lnTo>
                <a:lnTo>
                  <a:pt x="4523937" y="529731"/>
                </a:lnTo>
                <a:lnTo>
                  <a:pt x="4498649" y="567171"/>
                </a:lnTo>
                <a:lnTo>
                  <a:pt x="4468891" y="600979"/>
                </a:lnTo>
                <a:lnTo>
                  <a:pt x="4435083" y="630737"/>
                </a:lnTo>
                <a:lnTo>
                  <a:pt x="4397643" y="656025"/>
                </a:lnTo>
                <a:lnTo>
                  <a:pt x="4356990" y="676423"/>
                </a:lnTo>
                <a:lnTo>
                  <a:pt x="4313546" y="691513"/>
                </a:lnTo>
                <a:lnTo>
                  <a:pt x="4267728" y="700874"/>
                </a:lnTo>
                <a:lnTo>
                  <a:pt x="4219956" y="704088"/>
                </a:lnTo>
                <a:lnTo>
                  <a:pt x="352044" y="704088"/>
                </a:lnTo>
                <a:lnTo>
                  <a:pt x="304271" y="700874"/>
                </a:lnTo>
                <a:lnTo>
                  <a:pt x="258453" y="691513"/>
                </a:lnTo>
                <a:lnTo>
                  <a:pt x="215009" y="676423"/>
                </a:lnTo>
                <a:lnTo>
                  <a:pt x="174356" y="656025"/>
                </a:lnTo>
                <a:lnTo>
                  <a:pt x="136916" y="630737"/>
                </a:lnTo>
                <a:lnTo>
                  <a:pt x="103108" y="600979"/>
                </a:lnTo>
                <a:lnTo>
                  <a:pt x="73350" y="567171"/>
                </a:lnTo>
                <a:lnTo>
                  <a:pt x="48062" y="529731"/>
                </a:lnTo>
                <a:lnTo>
                  <a:pt x="27664" y="489078"/>
                </a:lnTo>
                <a:lnTo>
                  <a:pt x="12574" y="445634"/>
                </a:lnTo>
                <a:lnTo>
                  <a:pt x="3213" y="399816"/>
                </a:lnTo>
                <a:lnTo>
                  <a:pt x="0" y="35204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16528" y="1816734"/>
            <a:ext cx="186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楷体"/>
                <a:cs typeface="楷体"/>
              </a:rPr>
              <a:t>项目质量计划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0053" y="3213354"/>
            <a:ext cx="2158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楷体"/>
                <a:cs typeface="楷体"/>
              </a:rPr>
              <a:t>质</a:t>
            </a:r>
            <a:r>
              <a:rPr sz="2800" spc="-5" dirty="0">
                <a:latin typeface="楷体"/>
                <a:cs typeface="楷体"/>
              </a:rPr>
              <a:t>量执行</a:t>
            </a:r>
            <a:r>
              <a:rPr sz="2800" dirty="0">
                <a:latin typeface="楷体"/>
                <a:cs typeface="楷体"/>
              </a:rPr>
              <a:t>控</a:t>
            </a:r>
            <a:r>
              <a:rPr sz="2800" spc="-5" dirty="0">
                <a:latin typeface="楷体"/>
                <a:cs typeface="楷体"/>
              </a:rPr>
              <a:t>制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56382" y="4849114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质量保证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19400" y="5554979"/>
            <a:ext cx="1453896" cy="4145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37835" y="4811014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质量控制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00600" y="5585459"/>
            <a:ext cx="1453896" cy="4160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5642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spc="-5" dirty="0">
                <a:latin typeface="华文隶书"/>
                <a:cs typeface="华文隶书"/>
              </a:rPr>
              <a:t>QA:</a:t>
            </a:r>
            <a:r>
              <a:rPr spc="5" dirty="0"/>
              <a:t>质量审计（</a:t>
            </a:r>
            <a:r>
              <a:rPr spc="-65" dirty="0"/>
              <a:t> </a:t>
            </a:r>
            <a:r>
              <a:rPr i="1" dirty="0">
                <a:latin typeface="华文隶书"/>
                <a:cs typeface="华文隶书"/>
              </a:rPr>
              <a:t>Audit</a:t>
            </a:r>
            <a:r>
              <a:rPr i="1" spc="-45" dirty="0">
                <a:latin typeface="华文隶书"/>
                <a:cs typeface="华文隶书"/>
              </a:rPr>
              <a:t> </a:t>
            </a:r>
            <a:r>
              <a:rPr spc="5" dirty="0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6341" y="6081471"/>
            <a:ext cx="837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1076" y="2564892"/>
            <a:ext cx="5570220" cy="2880360"/>
          </a:xfrm>
          <a:custGeom>
            <a:avLst/>
            <a:gdLst/>
            <a:ahLst/>
            <a:cxnLst/>
            <a:rect l="l" t="t" r="r" b="b"/>
            <a:pathLst>
              <a:path w="5570220" h="2880360">
                <a:moveTo>
                  <a:pt x="4130040" y="0"/>
                </a:moveTo>
                <a:lnTo>
                  <a:pt x="4130040" y="720090"/>
                </a:lnTo>
                <a:lnTo>
                  <a:pt x="0" y="720090"/>
                </a:lnTo>
                <a:lnTo>
                  <a:pt x="0" y="2160270"/>
                </a:lnTo>
                <a:lnTo>
                  <a:pt x="4130040" y="2160270"/>
                </a:lnTo>
                <a:lnTo>
                  <a:pt x="4130040" y="2880360"/>
                </a:lnTo>
                <a:lnTo>
                  <a:pt x="5570220" y="1440180"/>
                </a:lnTo>
                <a:lnTo>
                  <a:pt x="4130040" y="0"/>
                </a:lnTo>
                <a:close/>
              </a:path>
            </a:pathLst>
          </a:custGeom>
          <a:solidFill>
            <a:srgbClr val="E0E1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4405" y="3429761"/>
            <a:ext cx="2682240" cy="1152525"/>
          </a:xfrm>
          <a:custGeom>
            <a:avLst/>
            <a:gdLst/>
            <a:ahLst/>
            <a:cxnLst/>
            <a:rect l="l" t="t" r="r" b="b"/>
            <a:pathLst>
              <a:path w="2682240" h="1152525">
                <a:moveTo>
                  <a:pt x="2490216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0" y="960119"/>
                </a:lnTo>
                <a:lnTo>
                  <a:pt x="5071" y="1004147"/>
                </a:lnTo>
                <a:lnTo>
                  <a:pt x="19518" y="1044564"/>
                </a:lnTo>
                <a:lnTo>
                  <a:pt x="42187" y="1080218"/>
                </a:lnTo>
                <a:lnTo>
                  <a:pt x="71925" y="1109956"/>
                </a:lnTo>
                <a:lnTo>
                  <a:pt x="107579" y="1132625"/>
                </a:lnTo>
                <a:lnTo>
                  <a:pt x="147996" y="1147072"/>
                </a:lnTo>
                <a:lnTo>
                  <a:pt x="192024" y="1152144"/>
                </a:lnTo>
                <a:lnTo>
                  <a:pt x="2490216" y="1152144"/>
                </a:lnTo>
                <a:lnTo>
                  <a:pt x="2534243" y="1147072"/>
                </a:lnTo>
                <a:lnTo>
                  <a:pt x="2574660" y="1132625"/>
                </a:lnTo>
                <a:lnTo>
                  <a:pt x="2610314" y="1109956"/>
                </a:lnTo>
                <a:lnTo>
                  <a:pt x="2640052" y="1080218"/>
                </a:lnTo>
                <a:lnTo>
                  <a:pt x="2662721" y="1044564"/>
                </a:lnTo>
                <a:lnTo>
                  <a:pt x="2677168" y="1004147"/>
                </a:lnTo>
                <a:lnTo>
                  <a:pt x="2682240" y="960119"/>
                </a:lnTo>
                <a:lnTo>
                  <a:pt x="2682240" y="192024"/>
                </a:lnTo>
                <a:lnTo>
                  <a:pt x="2677168" y="147996"/>
                </a:lnTo>
                <a:lnTo>
                  <a:pt x="2662721" y="107579"/>
                </a:lnTo>
                <a:lnTo>
                  <a:pt x="2640052" y="71925"/>
                </a:lnTo>
                <a:lnTo>
                  <a:pt x="2610314" y="42187"/>
                </a:lnTo>
                <a:lnTo>
                  <a:pt x="2574660" y="19518"/>
                </a:lnTo>
                <a:lnTo>
                  <a:pt x="2534243" y="5071"/>
                </a:lnTo>
                <a:lnTo>
                  <a:pt x="2490216" y="0"/>
                </a:lnTo>
                <a:close/>
              </a:path>
            </a:pathLst>
          </a:custGeom>
          <a:solidFill>
            <a:srgbClr val="A4AB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24405" y="3429761"/>
            <a:ext cx="2682240" cy="1152525"/>
          </a:xfrm>
          <a:custGeom>
            <a:avLst/>
            <a:gdLst/>
            <a:ahLst/>
            <a:cxnLst/>
            <a:rect l="l" t="t" r="r" b="b"/>
            <a:pathLst>
              <a:path w="2682240" h="1152525">
                <a:moveTo>
                  <a:pt x="0" y="192024"/>
                </a:moveTo>
                <a:lnTo>
                  <a:pt x="5071" y="147996"/>
                </a:lnTo>
                <a:lnTo>
                  <a:pt x="19518" y="107579"/>
                </a:lnTo>
                <a:lnTo>
                  <a:pt x="42187" y="71925"/>
                </a:lnTo>
                <a:lnTo>
                  <a:pt x="71925" y="42187"/>
                </a:lnTo>
                <a:lnTo>
                  <a:pt x="107579" y="19518"/>
                </a:lnTo>
                <a:lnTo>
                  <a:pt x="147996" y="5071"/>
                </a:lnTo>
                <a:lnTo>
                  <a:pt x="192024" y="0"/>
                </a:lnTo>
                <a:lnTo>
                  <a:pt x="2490216" y="0"/>
                </a:lnTo>
                <a:lnTo>
                  <a:pt x="2534243" y="5071"/>
                </a:lnTo>
                <a:lnTo>
                  <a:pt x="2574660" y="19518"/>
                </a:lnTo>
                <a:lnTo>
                  <a:pt x="2610314" y="42187"/>
                </a:lnTo>
                <a:lnTo>
                  <a:pt x="2640052" y="71925"/>
                </a:lnTo>
                <a:lnTo>
                  <a:pt x="2662721" y="107579"/>
                </a:lnTo>
                <a:lnTo>
                  <a:pt x="2677168" y="147996"/>
                </a:lnTo>
                <a:lnTo>
                  <a:pt x="2682240" y="192024"/>
                </a:lnTo>
                <a:lnTo>
                  <a:pt x="2682240" y="960119"/>
                </a:lnTo>
                <a:lnTo>
                  <a:pt x="2677168" y="1004147"/>
                </a:lnTo>
                <a:lnTo>
                  <a:pt x="2662721" y="1044564"/>
                </a:lnTo>
                <a:lnTo>
                  <a:pt x="2640052" y="1080218"/>
                </a:lnTo>
                <a:lnTo>
                  <a:pt x="2610314" y="1109956"/>
                </a:lnTo>
                <a:lnTo>
                  <a:pt x="2574660" y="1132625"/>
                </a:lnTo>
                <a:lnTo>
                  <a:pt x="2534243" y="1147072"/>
                </a:lnTo>
                <a:lnTo>
                  <a:pt x="2490216" y="1152144"/>
                </a:lnTo>
                <a:lnTo>
                  <a:pt x="192024" y="1152144"/>
                </a:lnTo>
                <a:lnTo>
                  <a:pt x="147996" y="1147072"/>
                </a:lnTo>
                <a:lnTo>
                  <a:pt x="107579" y="1132625"/>
                </a:lnTo>
                <a:lnTo>
                  <a:pt x="71925" y="1109956"/>
                </a:lnTo>
                <a:lnTo>
                  <a:pt x="42187" y="1080218"/>
                </a:lnTo>
                <a:lnTo>
                  <a:pt x="19518" y="1044564"/>
                </a:lnTo>
                <a:lnTo>
                  <a:pt x="5071" y="1004147"/>
                </a:lnTo>
                <a:lnTo>
                  <a:pt x="0" y="960119"/>
                </a:lnTo>
                <a:lnTo>
                  <a:pt x="0" y="19202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85517" y="3601339"/>
            <a:ext cx="2159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华文仿宋"/>
                <a:cs typeface="华文仿宋"/>
              </a:rPr>
              <a:t>过程审计</a:t>
            </a:r>
            <a:endParaRPr sz="4200">
              <a:latin typeface="华文仿宋"/>
              <a:cs typeface="华文仿宋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67250" y="3429761"/>
            <a:ext cx="2682240" cy="1152525"/>
          </a:xfrm>
          <a:custGeom>
            <a:avLst/>
            <a:gdLst/>
            <a:ahLst/>
            <a:cxnLst/>
            <a:rect l="l" t="t" r="r" b="b"/>
            <a:pathLst>
              <a:path w="2682240" h="1152525">
                <a:moveTo>
                  <a:pt x="2490216" y="0"/>
                </a:moveTo>
                <a:lnTo>
                  <a:pt x="192024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0" y="960119"/>
                </a:lnTo>
                <a:lnTo>
                  <a:pt x="5071" y="1004147"/>
                </a:lnTo>
                <a:lnTo>
                  <a:pt x="19518" y="1044564"/>
                </a:lnTo>
                <a:lnTo>
                  <a:pt x="42187" y="1080218"/>
                </a:lnTo>
                <a:lnTo>
                  <a:pt x="71925" y="1109956"/>
                </a:lnTo>
                <a:lnTo>
                  <a:pt x="107579" y="1132625"/>
                </a:lnTo>
                <a:lnTo>
                  <a:pt x="147996" y="1147072"/>
                </a:lnTo>
                <a:lnTo>
                  <a:pt x="192024" y="1152144"/>
                </a:lnTo>
                <a:lnTo>
                  <a:pt x="2490216" y="1152144"/>
                </a:lnTo>
                <a:lnTo>
                  <a:pt x="2534243" y="1147072"/>
                </a:lnTo>
                <a:lnTo>
                  <a:pt x="2574660" y="1132625"/>
                </a:lnTo>
                <a:lnTo>
                  <a:pt x="2610314" y="1109956"/>
                </a:lnTo>
                <a:lnTo>
                  <a:pt x="2640052" y="1080218"/>
                </a:lnTo>
                <a:lnTo>
                  <a:pt x="2662721" y="1044564"/>
                </a:lnTo>
                <a:lnTo>
                  <a:pt x="2677168" y="1004147"/>
                </a:lnTo>
                <a:lnTo>
                  <a:pt x="2682240" y="960119"/>
                </a:lnTo>
                <a:lnTo>
                  <a:pt x="2682240" y="192024"/>
                </a:lnTo>
                <a:lnTo>
                  <a:pt x="2677168" y="147996"/>
                </a:lnTo>
                <a:lnTo>
                  <a:pt x="2662721" y="107579"/>
                </a:lnTo>
                <a:lnTo>
                  <a:pt x="2640052" y="71925"/>
                </a:lnTo>
                <a:lnTo>
                  <a:pt x="2610314" y="42187"/>
                </a:lnTo>
                <a:lnTo>
                  <a:pt x="2574660" y="19518"/>
                </a:lnTo>
                <a:lnTo>
                  <a:pt x="2534243" y="5071"/>
                </a:lnTo>
                <a:lnTo>
                  <a:pt x="2490216" y="0"/>
                </a:lnTo>
                <a:close/>
              </a:path>
            </a:pathLst>
          </a:custGeom>
          <a:solidFill>
            <a:srgbClr val="D7B1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7250" y="3429761"/>
            <a:ext cx="2682240" cy="1152525"/>
          </a:xfrm>
          <a:custGeom>
            <a:avLst/>
            <a:gdLst/>
            <a:ahLst/>
            <a:cxnLst/>
            <a:rect l="l" t="t" r="r" b="b"/>
            <a:pathLst>
              <a:path w="2682240" h="1152525">
                <a:moveTo>
                  <a:pt x="0" y="192024"/>
                </a:moveTo>
                <a:lnTo>
                  <a:pt x="5071" y="147996"/>
                </a:lnTo>
                <a:lnTo>
                  <a:pt x="19518" y="107579"/>
                </a:lnTo>
                <a:lnTo>
                  <a:pt x="42187" y="71925"/>
                </a:lnTo>
                <a:lnTo>
                  <a:pt x="71925" y="42187"/>
                </a:lnTo>
                <a:lnTo>
                  <a:pt x="107579" y="19518"/>
                </a:lnTo>
                <a:lnTo>
                  <a:pt x="147996" y="5071"/>
                </a:lnTo>
                <a:lnTo>
                  <a:pt x="192024" y="0"/>
                </a:lnTo>
                <a:lnTo>
                  <a:pt x="2490216" y="0"/>
                </a:lnTo>
                <a:lnTo>
                  <a:pt x="2534243" y="5071"/>
                </a:lnTo>
                <a:lnTo>
                  <a:pt x="2574660" y="19518"/>
                </a:lnTo>
                <a:lnTo>
                  <a:pt x="2610314" y="42187"/>
                </a:lnTo>
                <a:lnTo>
                  <a:pt x="2640052" y="71925"/>
                </a:lnTo>
                <a:lnTo>
                  <a:pt x="2662721" y="107579"/>
                </a:lnTo>
                <a:lnTo>
                  <a:pt x="2677168" y="147996"/>
                </a:lnTo>
                <a:lnTo>
                  <a:pt x="2682240" y="192024"/>
                </a:lnTo>
                <a:lnTo>
                  <a:pt x="2682240" y="960119"/>
                </a:lnTo>
                <a:lnTo>
                  <a:pt x="2677168" y="1004147"/>
                </a:lnTo>
                <a:lnTo>
                  <a:pt x="2662721" y="1044564"/>
                </a:lnTo>
                <a:lnTo>
                  <a:pt x="2640052" y="1080218"/>
                </a:lnTo>
                <a:lnTo>
                  <a:pt x="2610314" y="1109956"/>
                </a:lnTo>
                <a:lnTo>
                  <a:pt x="2574660" y="1132625"/>
                </a:lnTo>
                <a:lnTo>
                  <a:pt x="2534243" y="1147072"/>
                </a:lnTo>
                <a:lnTo>
                  <a:pt x="2490216" y="1152144"/>
                </a:lnTo>
                <a:lnTo>
                  <a:pt x="192024" y="1152144"/>
                </a:lnTo>
                <a:lnTo>
                  <a:pt x="147996" y="1147072"/>
                </a:lnTo>
                <a:lnTo>
                  <a:pt x="107579" y="1132625"/>
                </a:lnTo>
                <a:lnTo>
                  <a:pt x="71925" y="1109956"/>
                </a:lnTo>
                <a:lnTo>
                  <a:pt x="42187" y="1080218"/>
                </a:lnTo>
                <a:lnTo>
                  <a:pt x="19518" y="1044564"/>
                </a:lnTo>
                <a:lnTo>
                  <a:pt x="5071" y="1004147"/>
                </a:lnTo>
                <a:lnTo>
                  <a:pt x="0" y="960119"/>
                </a:lnTo>
                <a:lnTo>
                  <a:pt x="0" y="19202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28108" y="3601339"/>
            <a:ext cx="2159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华文仿宋"/>
                <a:cs typeface="华文仿宋"/>
              </a:rPr>
              <a:t>产品审计</a:t>
            </a:r>
            <a:endParaRPr sz="42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063" y="354583"/>
            <a:ext cx="79140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情景项</a:t>
            </a:r>
            <a:r>
              <a:rPr spc="-5" dirty="0"/>
              <a:t>目</a:t>
            </a:r>
            <a:r>
              <a:rPr i="1" spc="-5" dirty="0">
                <a:latin typeface="华文隶书"/>
                <a:cs typeface="华文隶书"/>
              </a:rPr>
              <a:t>:SPM</a:t>
            </a:r>
            <a:r>
              <a:rPr dirty="0"/>
              <a:t>项目执行过程审计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276" y="2084832"/>
            <a:ext cx="5615940" cy="4063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9896" y="3364738"/>
            <a:ext cx="1183640" cy="13811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069" marR="5080" indent="-40005">
              <a:lnSpc>
                <a:spcPts val="5390"/>
              </a:lnSpc>
              <a:spcBef>
                <a:spcPts val="190"/>
              </a:spcBef>
            </a:pPr>
            <a:r>
              <a:rPr sz="4400" dirty="0">
                <a:latin typeface="华文新魏"/>
                <a:cs typeface="华文新魏"/>
              </a:rPr>
              <a:t>过程 审计</a:t>
            </a:r>
            <a:endParaRPr sz="44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6266" y="2265426"/>
            <a:ext cx="3017520" cy="835660"/>
          </a:xfrm>
          <a:custGeom>
            <a:avLst/>
            <a:gdLst/>
            <a:ahLst/>
            <a:cxnLst/>
            <a:rect l="l" t="t" r="r" b="b"/>
            <a:pathLst>
              <a:path w="3017520" h="835660">
                <a:moveTo>
                  <a:pt x="0" y="76073"/>
                </a:moveTo>
                <a:lnTo>
                  <a:pt x="5974" y="46452"/>
                </a:lnTo>
                <a:lnTo>
                  <a:pt x="22272" y="22272"/>
                </a:lnTo>
                <a:lnTo>
                  <a:pt x="46452" y="5974"/>
                </a:lnTo>
                <a:lnTo>
                  <a:pt x="76072" y="0"/>
                </a:lnTo>
                <a:lnTo>
                  <a:pt x="2941447" y="0"/>
                </a:lnTo>
                <a:lnTo>
                  <a:pt x="2971067" y="5974"/>
                </a:lnTo>
                <a:lnTo>
                  <a:pt x="2995247" y="22272"/>
                </a:lnTo>
                <a:lnTo>
                  <a:pt x="3011545" y="46452"/>
                </a:lnTo>
                <a:lnTo>
                  <a:pt x="3017520" y="76073"/>
                </a:lnTo>
                <a:lnTo>
                  <a:pt x="3017520" y="759078"/>
                </a:lnTo>
                <a:lnTo>
                  <a:pt x="3011545" y="788699"/>
                </a:lnTo>
                <a:lnTo>
                  <a:pt x="2995247" y="812879"/>
                </a:lnTo>
                <a:lnTo>
                  <a:pt x="2971067" y="829177"/>
                </a:lnTo>
                <a:lnTo>
                  <a:pt x="2941447" y="835151"/>
                </a:lnTo>
                <a:lnTo>
                  <a:pt x="76072" y="835151"/>
                </a:lnTo>
                <a:lnTo>
                  <a:pt x="46452" y="829177"/>
                </a:lnTo>
                <a:lnTo>
                  <a:pt x="22272" y="812879"/>
                </a:lnTo>
                <a:lnTo>
                  <a:pt x="5974" y="788699"/>
                </a:lnTo>
                <a:lnTo>
                  <a:pt x="0" y="759078"/>
                </a:lnTo>
                <a:lnTo>
                  <a:pt x="0" y="76073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4116" y="2391613"/>
            <a:ext cx="18618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需求过程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66266" y="3789426"/>
            <a:ext cx="3017520" cy="835660"/>
          </a:xfrm>
          <a:custGeom>
            <a:avLst/>
            <a:gdLst/>
            <a:ahLst/>
            <a:cxnLst/>
            <a:rect l="l" t="t" r="r" b="b"/>
            <a:pathLst>
              <a:path w="3017520" h="835660">
                <a:moveTo>
                  <a:pt x="0" y="76073"/>
                </a:moveTo>
                <a:lnTo>
                  <a:pt x="5974" y="46452"/>
                </a:lnTo>
                <a:lnTo>
                  <a:pt x="22272" y="22272"/>
                </a:lnTo>
                <a:lnTo>
                  <a:pt x="46452" y="5974"/>
                </a:lnTo>
                <a:lnTo>
                  <a:pt x="76072" y="0"/>
                </a:lnTo>
                <a:lnTo>
                  <a:pt x="2941447" y="0"/>
                </a:lnTo>
                <a:lnTo>
                  <a:pt x="2971067" y="5974"/>
                </a:lnTo>
                <a:lnTo>
                  <a:pt x="2995247" y="22272"/>
                </a:lnTo>
                <a:lnTo>
                  <a:pt x="3011545" y="46452"/>
                </a:lnTo>
                <a:lnTo>
                  <a:pt x="3017520" y="76073"/>
                </a:lnTo>
                <a:lnTo>
                  <a:pt x="3017520" y="759079"/>
                </a:lnTo>
                <a:lnTo>
                  <a:pt x="3011545" y="788699"/>
                </a:lnTo>
                <a:lnTo>
                  <a:pt x="2995247" y="812879"/>
                </a:lnTo>
                <a:lnTo>
                  <a:pt x="2971067" y="829177"/>
                </a:lnTo>
                <a:lnTo>
                  <a:pt x="2941447" y="835151"/>
                </a:lnTo>
                <a:lnTo>
                  <a:pt x="76072" y="835151"/>
                </a:lnTo>
                <a:lnTo>
                  <a:pt x="46452" y="829177"/>
                </a:lnTo>
                <a:lnTo>
                  <a:pt x="22272" y="812879"/>
                </a:lnTo>
                <a:lnTo>
                  <a:pt x="5974" y="788699"/>
                </a:lnTo>
                <a:lnTo>
                  <a:pt x="0" y="759079"/>
                </a:lnTo>
                <a:lnTo>
                  <a:pt x="0" y="76073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44116" y="3916426"/>
            <a:ext cx="1861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设计过程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66266" y="5313426"/>
            <a:ext cx="3017520" cy="835660"/>
          </a:xfrm>
          <a:custGeom>
            <a:avLst/>
            <a:gdLst/>
            <a:ahLst/>
            <a:cxnLst/>
            <a:rect l="l" t="t" r="r" b="b"/>
            <a:pathLst>
              <a:path w="3017520" h="835660">
                <a:moveTo>
                  <a:pt x="0" y="76073"/>
                </a:moveTo>
                <a:lnTo>
                  <a:pt x="5974" y="46452"/>
                </a:lnTo>
                <a:lnTo>
                  <a:pt x="22272" y="22272"/>
                </a:lnTo>
                <a:lnTo>
                  <a:pt x="46452" y="5974"/>
                </a:lnTo>
                <a:lnTo>
                  <a:pt x="76072" y="0"/>
                </a:lnTo>
                <a:lnTo>
                  <a:pt x="2941447" y="0"/>
                </a:lnTo>
                <a:lnTo>
                  <a:pt x="2971067" y="5974"/>
                </a:lnTo>
                <a:lnTo>
                  <a:pt x="2995247" y="22272"/>
                </a:lnTo>
                <a:lnTo>
                  <a:pt x="3011545" y="46452"/>
                </a:lnTo>
                <a:lnTo>
                  <a:pt x="3017520" y="76073"/>
                </a:lnTo>
                <a:lnTo>
                  <a:pt x="3017520" y="759104"/>
                </a:lnTo>
                <a:lnTo>
                  <a:pt x="3011545" y="788705"/>
                </a:lnTo>
                <a:lnTo>
                  <a:pt x="2995247" y="812877"/>
                </a:lnTo>
                <a:lnTo>
                  <a:pt x="2971067" y="829175"/>
                </a:lnTo>
                <a:lnTo>
                  <a:pt x="2941447" y="835152"/>
                </a:lnTo>
                <a:lnTo>
                  <a:pt x="76072" y="835152"/>
                </a:lnTo>
                <a:lnTo>
                  <a:pt x="46452" y="829175"/>
                </a:lnTo>
                <a:lnTo>
                  <a:pt x="22272" y="812877"/>
                </a:lnTo>
                <a:lnTo>
                  <a:pt x="5974" y="788705"/>
                </a:lnTo>
                <a:lnTo>
                  <a:pt x="0" y="759104"/>
                </a:lnTo>
                <a:lnTo>
                  <a:pt x="0" y="7607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72970" y="5440781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编码过程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33031" y="3410711"/>
            <a:ext cx="2159635" cy="882650"/>
          </a:xfrm>
          <a:custGeom>
            <a:avLst/>
            <a:gdLst/>
            <a:ahLst/>
            <a:cxnLst/>
            <a:rect l="l" t="t" r="r" b="b"/>
            <a:pathLst>
              <a:path w="2159634" h="882650">
                <a:moveTo>
                  <a:pt x="2079117" y="0"/>
                </a:moveTo>
                <a:lnTo>
                  <a:pt x="80391" y="0"/>
                </a:lnTo>
                <a:lnTo>
                  <a:pt x="49077" y="6310"/>
                </a:lnTo>
                <a:lnTo>
                  <a:pt x="23526" y="23526"/>
                </a:lnTo>
                <a:lnTo>
                  <a:pt x="6310" y="49077"/>
                </a:lnTo>
                <a:lnTo>
                  <a:pt x="0" y="80390"/>
                </a:lnTo>
                <a:lnTo>
                  <a:pt x="0" y="802005"/>
                </a:lnTo>
                <a:lnTo>
                  <a:pt x="6310" y="833318"/>
                </a:lnTo>
                <a:lnTo>
                  <a:pt x="23526" y="858869"/>
                </a:lnTo>
                <a:lnTo>
                  <a:pt x="49077" y="876085"/>
                </a:lnTo>
                <a:lnTo>
                  <a:pt x="80391" y="882395"/>
                </a:lnTo>
                <a:lnTo>
                  <a:pt x="2079117" y="882395"/>
                </a:lnTo>
                <a:lnTo>
                  <a:pt x="2110430" y="876085"/>
                </a:lnTo>
                <a:lnTo>
                  <a:pt x="2135981" y="858869"/>
                </a:lnTo>
                <a:lnTo>
                  <a:pt x="2153197" y="833318"/>
                </a:lnTo>
                <a:lnTo>
                  <a:pt x="2159508" y="802005"/>
                </a:lnTo>
                <a:lnTo>
                  <a:pt x="2159508" y="80390"/>
                </a:lnTo>
                <a:lnTo>
                  <a:pt x="2153197" y="49077"/>
                </a:lnTo>
                <a:lnTo>
                  <a:pt x="2135981" y="23526"/>
                </a:lnTo>
                <a:lnTo>
                  <a:pt x="2110430" y="6310"/>
                </a:lnTo>
                <a:lnTo>
                  <a:pt x="2079117" y="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83400" y="3560826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宋体"/>
                <a:cs typeface="宋体"/>
              </a:rPr>
              <a:t>审计报告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51282"/>
            <a:ext cx="5059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例如：需求过程审计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715" y="1502662"/>
            <a:ext cx="8427720" cy="5256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446" y="4005834"/>
            <a:ext cx="7416165" cy="361315"/>
          </a:xfrm>
          <a:custGeom>
            <a:avLst/>
            <a:gdLst/>
            <a:ahLst/>
            <a:cxnLst/>
            <a:rect l="l" t="t" r="r" b="b"/>
            <a:pathLst>
              <a:path w="7416165" h="361314">
                <a:moveTo>
                  <a:pt x="0" y="361188"/>
                </a:moveTo>
                <a:lnTo>
                  <a:pt x="7415783" y="361188"/>
                </a:lnTo>
                <a:lnTo>
                  <a:pt x="7415783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情景项</a:t>
            </a:r>
            <a:r>
              <a:rPr spc="-5" dirty="0"/>
              <a:t>目</a:t>
            </a:r>
            <a:r>
              <a:rPr i="1" spc="-5" dirty="0">
                <a:latin typeface="华文隶书"/>
                <a:cs typeface="华文隶书"/>
              </a:rPr>
              <a:t>:SPM</a:t>
            </a:r>
            <a:r>
              <a:rPr dirty="0"/>
              <a:t>项目产品审计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276" y="2084832"/>
            <a:ext cx="5615940" cy="4063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9896" y="3364738"/>
            <a:ext cx="1183640" cy="13811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2069" marR="5080" indent="-40005">
              <a:lnSpc>
                <a:spcPts val="5390"/>
              </a:lnSpc>
              <a:spcBef>
                <a:spcPts val="190"/>
              </a:spcBef>
            </a:pPr>
            <a:r>
              <a:rPr sz="4400" dirty="0">
                <a:latin typeface="华文新魏"/>
                <a:cs typeface="华文新魏"/>
              </a:rPr>
              <a:t>产品 审计</a:t>
            </a:r>
            <a:endParaRPr sz="44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6266" y="2265426"/>
            <a:ext cx="3017520" cy="835660"/>
          </a:xfrm>
          <a:custGeom>
            <a:avLst/>
            <a:gdLst/>
            <a:ahLst/>
            <a:cxnLst/>
            <a:rect l="l" t="t" r="r" b="b"/>
            <a:pathLst>
              <a:path w="3017520" h="835660">
                <a:moveTo>
                  <a:pt x="0" y="76073"/>
                </a:moveTo>
                <a:lnTo>
                  <a:pt x="5974" y="46452"/>
                </a:lnTo>
                <a:lnTo>
                  <a:pt x="22272" y="22272"/>
                </a:lnTo>
                <a:lnTo>
                  <a:pt x="46452" y="5974"/>
                </a:lnTo>
                <a:lnTo>
                  <a:pt x="76072" y="0"/>
                </a:lnTo>
                <a:lnTo>
                  <a:pt x="2941447" y="0"/>
                </a:lnTo>
                <a:lnTo>
                  <a:pt x="2971067" y="5974"/>
                </a:lnTo>
                <a:lnTo>
                  <a:pt x="2995247" y="22272"/>
                </a:lnTo>
                <a:lnTo>
                  <a:pt x="3011545" y="46452"/>
                </a:lnTo>
                <a:lnTo>
                  <a:pt x="3017520" y="76073"/>
                </a:lnTo>
                <a:lnTo>
                  <a:pt x="3017520" y="759078"/>
                </a:lnTo>
                <a:lnTo>
                  <a:pt x="3011545" y="788699"/>
                </a:lnTo>
                <a:lnTo>
                  <a:pt x="2995247" y="812879"/>
                </a:lnTo>
                <a:lnTo>
                  <a:pt x="2971067" y="829177"/>
                </a:lnTo>
                <a:lnTo>
                  <a:pt x="2941447" y="835151"/>
                </a:lnTo>
                <a:lnTo>
                  <a:pt x="76072" y="835151"/>
                </a:lnTo>
                <a:lnTo>
                  <a:pt x="46452" y="829177"/>
                </a:lnTo>
                <a:lnTo>
                  <a:pt x="22272" y="812879"/>
                </a:lnTo>
                <a:lnTo>
                  <a:pt x="5974" y="788699"/>
                </a:lnTo>
                <a:lnTo>
                  <a:pt x="0" y="759078"/>
                </a:lnTo>
                <a:lnTo>
                  <a:pt x="0" y="76073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4116" y="2391613"/>
            <a:ext cx="18618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需求规格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66266" y="3789426"/>
            <a:ext cx="3017520" cy="835660"/>
          </a:xfrm>
          <a:custGeom>
            <a:avLst/>
            <a:gdLst/>
            <a:ahLst/>
            <a:cxnLst/>
            <a:rect l="l" t="t" r="r" b="b"/>
            <a:pathLst>
              <a:path w="3017520" h="835660">
                <a:moveTo>
                  <a:pt x="0" y="76073"/>
                </a:moveTo>
                <a:lnTo>
                  <a:pt x="5974" y="46452"/>
                </a:lnTo>
                <a:lnTo>
                  <a:pt x="22272" y="22272"/>
                </a:lnTo>
                <a:lnTo>
                  <a:pt x="46452" y="5974"/>
                </a:lnTo>
                <a:lnTo>
                  <a:pt x="76072" y="0"/>
                </a:lnTo>
                <a:lnTo>
                  <a:pt x="2941447" y="0"/>
                </a:lnTo>
                <a:lnTo>
                  <a:pt x="2971067" y="5974"/>
                </a:lnTo>
                <a:lnTo>
                  <a:pt x="2995247" y="22272"/>
                </a:lnTo>
                <a:lnTo>
                  <a:pt x="3011545" y="46452"/>
                </a:lnTo>
                <a:lnTo>
                  <a:pt x="3017520" y="76073"/>
                </a:lnTo>
                <a:lnTo>
                  <a:pt x="3017520" y="759079"/>
                </a:lnTo>
                <a:lnTo>
                  <a:pt x="3011545" y="788699"/>
                </a:lnTo>
                <a:lnTo>
                  <a:pt x="2995247" y="812879"/>
                </a:lnTo>
                <a:lnTo>
                  <a:pt x="2971067" y="829177"/>
                </a:lnTo>
                <a:lnTo>
                  <a:pt x="2941447" y="835151"/>
                </a:lnTo>
                <a:lnTo>
                  <a:pt x="76072" y="835151"/>
                </a:lnTo>
                <a:lnTo>
                  <a:pt x="46452" y="829177"/>
                </a:lnTo>
                <a:lnTo>
                  <a:pt x="22272" y="812879"/>
                </a:lnTo>
                <a:lnTo>
                  <a:pt x="5974" y="788699"/>
                </a:lnTo>
                <a:lnTo>
                  <a:pt x="0" y="759079"/>
                </a:lnTo>
                <a:lnTo>
                  <a:pt x="0" y="76073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13992" y="3916426"/>
            <a:ext cx="2319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设计说明书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66266" y="5313426"/>
            <a:ext cx="3017520" cy="835660"/>
          </a:xfrm>
          <a:custGeom>
            <a:avLst/>
            <a:gdLst/>
            <a:ahLst/>
            <a:cxnLst/>
            <a:rect l="l" t="t" r="r" b="b"/>
            <a:pathLst>
              <a:path w="3017520" h="835660">
                <a:moveTo>
                  <a:pt x="0" y="76073"/>
                </a:moveTo>
                <a:lnTo>
                  <a:pt x="5974" y="46452"/>
                </a:lnTo>
                <a:lnTo>
                  <a:pt x="22272" y="22272"/>
                </a:lnTo>
                <a:lnTo>
                  <a:pt x="46452" y="5974"/>
                </a:lnTo>
                <a:lnTo>
                  <a:pt x="76072" y="0"/>
                </a:lnTo>
                <a:lnTo>
                  <a:pt x="2941447" y="0"/>
                </a:lnTo>
                <a:lnTo>
                  <a:pt x="2971067" y="5974"/>
                </a:lnTo>
                <a:lnTo>
                  <a:pt x="2995247" y="22272"/>
                </a:lnTo>
                <a:lnTo>
                  <a:pt x="3011545" y="46452"/>
                </a:lnTo>
                <a:lnTo>
                  <a:pt x="3017520" y="76073"/>
                </a:lnTo>
                <a:lnTo>
                  <a:pt x="3017520" y="759104"/>
                </a:lnTo>
                <a:lnTo>
                  <a:pt x="3011545" y="788705"/>
                </a:lnTo>
                <a:lnTo>
                  <a:pt x="2995247" y="812877"/>
                </a:lnTo>
                <a:lnTo>
                  <a:pt x="2971067" y="829175"/>
                </a:lnTo>
                <a:lnTo>
                  <a:pt x="2941447" y="835152"/>
                </a:lnTo>
                <a:lnTo>
                  <a:pt x="76072" y="835152"/>
                </a:lnTo>
                <a:lnTo>
                  <a:pt x="46452" y="829175"/>
                </a:lnTo>
                <a:lnTo>
                  <a:pt x="22272" y="812877"/>
                </a:lnTo>
                <a:lnTo>
                  <a:pt x="5974" y="788705"/>
                </a:lnTo>
                <a:lnTo>
                  <a:pt x="0" y="759104"/>
                </a:lnTo>
                <a:lnTo>
                  <a:pt x="0" y="7607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31694" y="5440781"/>
            <a:ext cx="942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33031" y="3410711"/>
            <a:ext cx="2159635" cy="882650"/>
          </a:xfrm>
          <a:custGeom>
            <a:avLst/>
            <a:gdLst/>
            <a:ahLst/>
            <a:cxnLst/>
            <a:rect l="l" t="t" r="r" b="b"/>
            <a:pathLst>
              <a:path w="2159634" h="882650">
                <a:moveTo>
                  <a:pt x="2079117" y="0"/>
                </a:moveTo>
                <a:lnTo>
                  <a:pt x="80391" y="0"/>
                </a:lnTo>
                <a:lnTo>
                  <a:pt x="49077" y="6310"/>
                </a:lnTo>
                <a:lnTo>
                  <a:pt x="23526" y="23526"/>
                </a:lnTo>
                <a:lnTo>
                  <a:pt x="6310" y="49077"/>
                </a:lnTo>
                <a:lnTo>
                  <a:pt x="0" y="80390"/>
                </a:lnTo>
                <a:lnTo>
                  <a:pt x="0" y="802005"/>
                </a:lnTo>
                <a:lnTo>
                  <a:pt x="6310" y="833318"/>
                </a:lnTo>
                <a:lnTo>
                  <a:pt x="23526" y="858869"/>
                </a:lnTo>
                <a:lnTo>
                  <a:pt x="49077" y="876085"/>
                </a:lnTo>
                <a:lnTo>
                  <a:pt x="80391" y="882395"/>
                </a:lnTo>
                <a:lnTo>
                  <a:pt x="2079117" y="882395"/>
                </a:lnTo>
                <a:lnTo>
                  <a:pt x="2110430" y="876085"/>
                </a:lnTo>
                <a:lnTo>
                  <a:pt x="2135981" y="858869"/>
                </a:lnTo>
                <a:lnTo>
                  <a:pt x="2153197" y="833318"/>
                </a:lnTo>
                <a:lnTo>
                  <a:pt x="2159508" y="802005"/>
                </a:lnTo>
                <a:lnTo>
                  <a:pt x="2159508" y="80390"/>
                </a:lnTo>
                <a:lnTo>
                  <a:pt x="2153197" y="49077"/>
                </a:lnTo>
                <a:lnTo>
                  <a:pt x="2135981" y="23526"/>
                </a:lnTo>
                <a:lnTo>
                  <a:pt x="2110430" y="6310"/>
                </a:lnTo>
                <a:lnTo>
                  <a:pt x="2079117" y="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83400" y="3560826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宋体"/>
                <a:cs typeface="宋体"/>
              </a:rPr>
              <a:t>审计报告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43527" y="934211"/>
            <a:ext cx="4549140" cy="2827020"/>
          </a:xfrm>
          <a:custGeom>
            <a:avLst/>
            <a:gdLst/>
            <a:ahLst/>
            <a:cxnLst/>
            <a:rect l="l" t="t" r="r" b="b"/>
            <a:pathLst>
              <a:path w="4549140" h="2827020">
                <a:moveTo>
                  <a:pt x="1956689" y="0"/>
                </a:moveTo>
                <a:lnTo>
                  <a:pt x="2388743" y="0"/>
                </a:lnTo>
                <a:lnTo>
                  <a:pt x="3036824" y="0"/>
                </a:lnTo>
                <a:lnTo>
                  <a:pt x="4549013" y="0"/>
                </a:lnTo>
                <a:lnTo>
                  <a:pt x="4549013" y="1444625"/>
                </a:lnTo>
                <a:lnTo>
                  <a:pt x="4549013" y="2063750"/>
                </a:lnTo>
                <a:lnTo>
                  <a:pt x="4549013" y="2476500"/>
                </a:lnTo>
                <a:lnTo>
                  <a:pt x="3036824" y="2476500"/>
                </a:lnTo>
                <a:lnTo>
                  <a:pt x="2388743" y="2476500"/>
                </a:lnTo>
                <a:lnTo>
                  <a:pt x="1956689" y="2476500"/>
                </a:lnTo>
                <a:lnTo>
                  <a:pt x="1956689" y="2063750"/>
                </a:lnTo>
                <a:lnTo>
                  <a:pt x="0" y="2826893"/>
                </a:lnTo>
                <a:lnTo>
                  <a:pt x="1956689" y="1444625"/>
                </a:lnTo>
                <a:lnTo>
                  <a:pt x="1956689" y="0"/>
                </a:lnTo>
                <a:close/>
              </a:path>
            </a:pathLst>
          </a:custGeom>
          <a:ln w="9144">
            <a:solidFill>
              <a:srgbClr val="7AA7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80479" y="942594"/>
            <a:ext cx="1671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B85B21"/>
                </a:solidFill>
                <a:latin typeface="华文新魏"/>
                <a:cs typeface="华文新魏"/>
              </a:rPr>
              <a:t>1</a:t>
            </a: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、设计模板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0479" y="1308353"/>
            <a:ext cx="17233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2、体系结构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0479" y="1674114"/>
            <a:ext cx="23329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3、模块设计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4</a:t>
            </a:r>
            <a:r>
              <a:rPr sz="2400" spc="-5" dirty="0">
                <a:solidFill>
                  <a:srgbClr val="B85B21"/>
                </a:solidFill>
                <a:latin typeface="华文新魏"/>
                <a:cs typeface="华文新魏"/>
              </a:rPr>
              <a:t>、数据结构设计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5、详细设计流程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41541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QC:</a:t>
            </a:r>
            <a:r>
              <a:rPr dirty="0"/>
              <a:t>质量控制活动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1708" y="4343400"/>
            <a:ext cx="2488692" cy="530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9209" y="3794228"/>
            <a:ext cx="76835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5"/>
              </a:lnSpc>
            </a:pPr>
            <a:r>
              <a:rPr sz="2000" b="1" spc="5" dirty="0">
                <a:latin typeface="宋体"/>
                <a:cs typeface="宋体"/>
              </a:rPr>
              <a:t>质量控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7305" y="3794228"/>
            <a:ext cx="51244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5"/>
              </a:lnSpc>
            </a:pPr>
            <a:r>
              <a:rPr sz="2000" b="1" spc="5" dirty="0">
                <a:latin typeface="宋体"/>
                <a:cs typeface="宋体"/>
              </a:rPr>
              <a:t>制活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9370" y="3794228"/>
            <a:ext cx="2565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5"/>
              </a:lnSpc>
            </a:pPr>
            <a:r>
              <a:rPr sz="2000" b="1" spc="5" dirty="0"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9250" y="4410582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返工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1708" y="2307335"/>
            <a:ext cx="2488692" cy="652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9652" y="2403475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技术评审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31635" y="4343400"/>
            <a:ext cx="2542032" cy="670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77939" y="4401439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软件测试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12179" y="2202179"/>
            <a:ext cx="2543555" cy="6507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76264" y="2341626"/>
            <a:ext cx="2018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代码评审/走查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21252" y="3953255"/>
            <a:ext cx="1916429" cy="20368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45079" y="3345179"/>
            <a:ext cx="2036825" cy="19179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51276" y="1921764"/>
            <a:ext cx="1917953" cy="20353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93335" y="2686811"/>
            <a:ext cx="2036825" cy="19179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1683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839" y="136982"/>
            <a:ext cx="3034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QC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dirty="0"/>
              <a:t>技术评审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1281683"/>
            <a:ext cx="533400" cy="22860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635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Arial Narrow"/>
                <a:cs typeface="Arial Narrow"/>
              </a:rPr>
              <a:t>69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1183" y="4674184"/>
            <a:ext cx="1854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spc="-5" dirty="0">
                <a:uFill>
                  <a:solidFill>
                    <a:srgbClr val="000000"/>
                  </a:solidFill>
                </a:uFill>
                <a:latin typeface="华文仿宋"/>
                <a:cs typeface="华文仿宋"/>
              </a:rPr>
              <a:t>对等评审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3628" y="3611878"/>
            <a:ext cx="4247387" cy="3183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1856" y="1534667"/>
            <a:ext cx="1155700" cy="416559"/>
          </a:xfrm>
          <a:custGeom>
            <a:avLst/>
            <a:gdLst/>
            <a:ahLst/>
            <a:cxnLst/>
            <a:rect l="l" t="t" r="r" b="b"/>
            <a:pathLst>
              <a:path w="1155700" h="416560">
                <a:moveTo>
                  <a:pt x="1131570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392430"/>
                </a:lnTo>
                <a:lnTo>
                  <a:pt x="1856" y="401639"/>
                </a:lnTo>
                <a:lnTo>
                  <a:pt x="6919" y="409146"/>
                </a:lnTo>
                <a:lnTo>
                  <a:pt x="14428" y="414200"/>
                </a:lnTo>
                <a:lnTo>
                  <a:pt x="23621" y="416052"/>
                </a:lnTo>
                <a:lnTo>
                  <a:pt x="1131570" y="416052"/>
                </a:lnTo>
                <a:lnTo>
                  <a:pt x="1140779" y="414200"/>
                </a:lnTo>
                <a:lnTo>
                  <a:pt x="1148286" y="409146"/>
                </a:lnTo>
                <a:lnTo>
                  <a:pt x="1153340" y="401639"/>
                </a:lnTo>
                <a:lnTo>
                  <a:pt x="1153609" y="400304"/>
                </a:lnTo>
                <a:lnTo>
                  <a:pt x="19278" y="400304"/>
                </a:lnTo>
                <a:lnTo>
                  <a:pt x="15747" y="396748"/>
                </a:lnTo>
                <a:lnTo>
                  <a:pt x="15747" y="19304"/>
                </a:lnTo>
                <a:lnTo>
                  <a:pt x="19278" y="15748"/>
                </a:lnTo>
                <a:lnTo>
                  <a:pt x="1153609" y="15748"/>
                </a:lnTo>
                <a:lnTo>
                  <a:pt x="1153340" y="14412"/>
                </a:lnTo>
                <a:lnTo>
                  <a:pt x="1148286" y="6905"/>
                </a:lnTo>
                <a:lnTo>
                  <a:pt x="1140779" y="1851"/>
                </a:lnTo>
                <a:lnTo>
                  <a:pt x="1131570" y="0"/>
                </a:lnTo>
                <a:close/>
              </a:path>
              <a:path w="1155700" h="416560">
                <a:moveTo>
                  <a:pt x="1155192" y="392430"/>
                </a:moveTo>
                <a:lnTo>
                  <a:pt x="1139444" y="392430"/>
                </a:lnTo>
                <a:lnTo>
                  <a:pt x="1139444" y="396748"/>
                </a:lnTo>
                <a:lnTo>
                  <a:pt x="1135888" y="400304"/>
                </a:lnTo>
                <a:lnTo>
                  <a:pt x="1153609" y="400304"/>
                </a:lnTo>
                <a:lnTo>
                  <a:pt x="1155192" y="392430"/>
                </a:lnTo>
                <a:close/>
              </a:path>
              <a:path w="1155700" h="416560">
                <a:moveTo>
                  <a:pt x="1131570" y="23622"/>
                </a:moveTo>
                <a:lnTo>
                  <a:pt x="23621" y="23622"/>
                </a:lnTo>
                <a:lnTo>
                  <a:pt x="23621" y="392430"/>
                </a:lnTo>
                <a:lnTo>
                  <a:pt x="1131570" y="392430"/>
                </a:lnTo>
                <a:lnTo>
                  <a:pt x="1131570" y="23622"/>
                </a:lnTo>
                <a:close/>
              </a:path>
              <a:path w="1155700" h="416560">
                <a:moveTo>
                  <a:pt x="1139444" y="23622"/>
                </a:moveTo>
                <a:lnTo>
                  <a:pt x="1131570" y="23622"/>
                </a:lnTo>
                <a:lnTo>
                  <a:pt x="1131570" y="392430"/>
                </a:lnTo>
                <a:lnTo>
                  <a:pt x="1139444" y="392430"/>
                </a:lnTo>
                <a:lnTo>
                  <a:pt x="1139444" y="23622"/>
                </a:lnTo>
                <a:close/>
              </a:path>
              <a:path w="1155700" h="416560">
                <a:moveTo>
                  <a:pt x="1153609" y="15748"/>
                </a:moveTo>
                <a:lnTo>
                  <a:pt x="1135888" y="15748"/>
                </a:lnTo>
                <a:lnTo>
                  <a:pt x="1139444" y="19304"/>
                </a:lnTo>
                <a:lnTo>
                  <a:pt x="1139444" y="23622"/>
                </a:lnTo>
                <a:lnTo>
                  <a:pt x="1155192" y="23622"/>
                </a:lnTo>
                <a:lnTo>
                  <a:pt x="1153609" y="157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5477" y="1558289"/>
            <a:ext cx="1108075" cy="368935"/>
          </a:xfrm>
          <a:custGeom>
            <a:avLst/>
            <a:gdLst/>
            <a:ahLst/>
            <a:cxnLst/>
            <a:rect l="l" t="t" r="r" b="b"/>
            <a:pathLst>
              <a:path w="1108075" h="368935">
                <a:moveTo>
                  <a:pt x="0" y="368808"/>
                </a:moveTo>
                <a:lnTo>
                  <a:pt x="1107948" y="368808"/>
                </a:lnTo>
                <a:lnTo>
                  <a:pt x="1107948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1856" y="1534667"/>
            <a:ext cx="1155700" cy="416559"/>
          </a:xfrm>
          <a:custGeom>
            <a:avLst/>
            <a:gdLst/>
            <a:ahLst/>
            <a:cxnLst/>
            <a:rect l="l" t="t" r="r" b="b"/>
            <a:pathLst>
              <a:path w="1155700" h="416560">
                <a:moveTo>
                  <a:pt x="1131570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392430"/>
                </a:lnTo>
                <a:lnTo>
                  <a:pt x="1856" y="401639"/>
                </a:lnTo>
                <a:lnTo>
                  <a:pt x="6919" y="409146"/>
                </a:lnTo>
                <a:lnTo>
                  <a:pt x="14428" y="414200"/>
                </a:lnTo>
                <a:lnTo>
                  <a:pt x="23621" y="416052"/>
                </a:lnTo>
                <a:lnTo>
                  <a:pt x="1131570" y="416052"/>
                </a:lnTo>
                <a:lnTo>
                  <a:pt x="1140779" y="414200"/>
                </a:lnTo>
                <a:lnTo>
                  <a:pt x="1148286" y="409146"/>
                </a:lnTo>
                <a:lnTo>
                  <a:pt x="1153340" y="401639"/>
                </a:lnTo>
                <a:lnTo>
                  <a:pt x="1153609" y="400304"/>
                </a:lnTo>
                <a:lnTo>
                  <a:pt x="19278" y="400304"/>
                </a:lnTo>
                <a:lnTo>
                  <a:pt x="15747" y="396748"/>
                </a:lnTo>
                <a:lnTo>
                  <a:pt x="15747" y="19304"/>
                </a:lnTo>
                <a:lnTo>
                  <a:pt x="19278" y="15748"/>
                </a:lnTo>
                <a:lnTo>
                  <a:pt x="1153609" y="15748"/>
                </a:lnTo>
                <a:lnTo>
                  <a:pt x="1153340" y="14412"/>
                </a:lnTo>
                <a:lnTo>
                  <a:pt x="1148286" y="6905"/>
                </a:lnTo>
                <a:lnTo>
                  <a:pt x="1140779" y="1851"/>
                </a:lnTo>
                <a:lnTo>
                  <a:pt x="1131570" y="0"/>
                </a:lnTo>
                <a:close/>
              </a:path>
              <a:path w="1155700" h="416560">
                <a:moveTo>
                  <a:pt x="1153609" y="15748"/>
                </a:moveTo>
                <a:lnTo>
                  <a:pt x="1135888" y="15748"/>
                </a:lnTo>
                <a:lnTo>
                  <a:pt x="1139444" y="19304"/>
                </a:lnTo>
                <a:lnTo>
                  <a:pt x="1139444" y="396748"/>
                </a:lnTo>
                <a:lnTo>
                  <a:pt x="1135888" y="400304"/>
                </a:lnTo>
                <a:lnTo>
                  <a:pt x="1153609" y="400304"/>
                </a:lnTo>
                <a:lnTo>
                  <a:pt x="1155192" y="392430"/>
                </a:lnTo>
                <a:lnTo>
                  <a:pt x="1155192" y="23622"/>
                </a:lnTo>
                <a:lnTo>
                  <a:pt x="1153609" y="15748"/>
                </a:lnTo>
                <a:close/>
              </a:path>
              <a:path w="1155700" h="416560">
                <a:moveTo>
                  <a:pt x="1123696" y="31496"/>
                </a:moveTo>
                <a:lnTo>
                  <a:pt x="31496" y="31496"/>
                </a:lnTo>
                <a:lnTo>
                  <a:pt x="31496" y="384556"/>
                </a:lnTo>
                <a:lnTo>
                  <a:pt x="1123696" y="384556"/>
                </a:lnTo>
                <a:lnTo>
                  <a:pt x="1123696" y="368808"/>
                </a:lnTo>
                <a:lnTo>
                  <a:pt x="47243" y="368808"/>
                </a:lnTo>
                <a:lnTo>
                  <a:pt x="47243" y="47244"/>
                </a:lnTo>
                <a:lnTo>
                  <a:pt x="1123696" y="47244"/>
                </a:lnTo>
                <a:lnTo>
                  <a:pt x="1123696" y="31496"/>
                </a:lnTo>
                <a:close/>
              </a:path>
              <a:path w="1155700" h="416560">
                <a:moveTo>
                  <a:pt x="1123696" y="47244"/>
                </a:moveTo>
                <a:lnTo>
                  <a:pt x="1107948" y="47244"/>
                </a:lnTo>
                <a:lnTo>
                  <a:pt x="1107948" y="368808"/>
                </a:lnTo>
                <a:lnTo>
                  <a:pt x="1123696" y="368808"/>
                </a:lnTo>
                <a:lnTo>
                  <a:pt x="1123696" y="47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5477" y="1581658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技术评审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9586" y="2180082"/>
            <a:ext cx="1087120" cy="469900"/>
          </a:xfrm>
          <a:custGeom>
            <a:avLst/>
            <a:gdLst/>
            <a:ahLst/>
            <a:cxnLst/>
            <a:rect l="l" t="t" r="r" b="b"/>
            <a:pathLst>
              <a:path w="1087120" h="469900">
                <a:moveTo>
                  <a:pt x="0" y="469391"/>
                </a:moveTo>
                <a:lnTo>
                  <a:pt x="1086612" y="469391"/>
                </a:lnTo>
                <a:lnTo>
                  <a:pt x="1086612" y="0"/>
                </a:lnTo>
                <a:lnTo>
                  <a:pt x="0" y="0"/>
                </a:lnTo>
                <a:lnTo>
                  <a:pt x="0" y="469391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15468" y="1978151"/>
          <a:ext cx="8669655" cy="1343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53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B6D2"/>
                      </a:solidFill>
                      <a:prstDash val="solid"/>
                    </a:lnL>
                    <a:lnR w="28575">
                      <a:solidFill>
                        <a:srgbClr val="93B6D2"/>
                      </a:solidFill>
                      <a:prstDash val="solid"/>
                    </a:lnR>
                    <a:lnT w="28575">
                      <a:solidFill>
                        <a:srgbClr val="93B6D2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91">
                <a:tc>
                  <a:txBody>
                    <a:bodyPr/>
                    <a:lstStyle/>
                    <a:p>
                      <a:pPr marL="546735">
                        <a:lnSpc>
                          <a:spcPts val="3115"/>
                        </a:lnSpc>
                      </a:pPr>
                      <a:r>
                        <a:rPr sz="2800" dirty="0">
                          <a:latin typeface="华文新魏"/>
                          <a:cs typeface="华文新魏"/>
                        </a:rPr>
                        <a:t>尽早发现工作成果中的缺陷，并帮</a:t>
                      </a:r>
                      <a:r>
                        <a:rPr sz="2800" spc="5" dirty="0">
                          <a:latin typeface="华文新魏"/>
                          <a:cs typeface="华文新魏"/>
                        </a:rPr>
                        <a:t>助</a:t>
                      </a:r>
                      <a:r>
                        <a:rPr sz="2800" dirty="0">
                          <a:latin typeface="华文新魏"/>
                          <a:cs typeface="华文新魏"/>
                        </a:rPr>
                        <a:t>开发</a:t>
                      </a:r>
                      <a:r>
                        <a:rPr sz="2800" spc="5" dirty="0">
                          <a:latin typeface="华文新魏"/>
                          <a:cs typeface="华文新魏"/>
                        </a:rPr>
                        <a:t>人</a:t>
                      </a:r>
                      <a:r>
                        <a:rPr sz="2800" dirty="0">
                          <a:latin typeface="华文新魏"/>
                          <a:cs typeface="华文新魏"/>
                        </a:rPr>
                        <a:t>员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0" marB="0">
                    <a:lnL w="28575">
                      <a:solidFill>
                        <a:srgbClr val="93B6D2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3115"/>
                        </a:lnSpc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及时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272"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800" spc="-10" dirty="0">
                          <a:latin typeface="华文新魏"/>
                          <a:cs typeface="华文新魏"/>
                        </a:rPr>
                        <a:t>消除缺陷，从而有效地提高产品的</a:t>
                      </a:r>
                      <a:r>
                        <a:rPr sz="2800" dirty="0">
                          <a:latin typeface="华文新魏"/>
                          <a:cs typeface="华文新魏"/>
                        </a:rPr>
                        <a:t>质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量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139700" marB="0">
                    <a:lnL w="28575">
                      <a:solidFill>
                        <a:srgbClr val="93B6D2"/>
                      </a:solidFill>
                      <a:prstDash val="solid"/>
                    </a:lnL>
                    <a:lnR w="28575">
                      <a:solidFill>
                        <a:srgbClr val="93B6D2"/>
                      </a:solidFill>
                      <a:prstDash val="solid"/>
                    </a:lnR>
                    <a:lnB w="28575">
                      <a:solidFill>
                        <a:srgbClr val="93B6D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35274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技术评审例子</a:t>
            </a:r>
            <a:r>
              <a:rPr i="1" dirty="0">
                <a:latin typeface="华文隶书"/>
                <a:cs typeface="华文隶书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715770"/>
            <a:ext cx="414655" cy="4870450"/>
          </a:xfrm>
          <a:custGeom>
            <a:avLst/>
            <a:gdLst/>
            <a:ahLst/>
            <a:cxnLst/>
            <a:rect l="l" t="t" r="r" b="b"/>
            <a:pathLst>
              <a:path w="414655" h="4870450">
                <a:moveTo>
                  <a:pt x="414235" y="0"/>
                </a:moveTo>
                <a:lnTo>
                  <a:pt x="256755" y="0"/>
                </a:lnTo>
                <a:lnTo>
                  <a:pt x="226107" y="6177"/>
                </a:lnTo>
                <a:lnTo>
                  <a:pt x="201079" y="23034"/>
                </a:lnTo>
                <a:lnTo>
                  <a:pt x="184203" y="48059"/>
                </a:lnTo>
                <a:lnTo>
                  <a:pt x="178015" y="78739"/>
                </a:lnTo>
                <a:lnTo>
                  <a:pt x="184203" y="109366"/>
                </a:lnTo>
                <a:lnTo>
                  <a:pt x="201079" y="134397"/>
                </a:lnTo>
                <a:lnTo>
                  <a:pt x="226107" y="151284"/>
                </a:lnTo>
                <a:lnTo>
                  <a:pt x="256755" y="157479"/>
                </a:lnTo>
                <a:lnTo>
                  <a:pt x="306530" y="149453"/>
                </a:lnTo>
                <a:lnTo>
                  <a:pt x="349759" y="127101"/>
                </a:lnTo>
                <a:lnTo>
                  <a:pt x="383850" y="93014"/>
                </a:lnTo>
                <a:lnTo>
                  <a:pt x="406207" y="49783"/>
                </a:lnTo>
                <a:lnTo>
                  <a:pt x="414235" y="0"/>
                </a:lnTo>
                <a:close/>
              </a:path>
              <a:path w="414655" h="4870450">
                <a:moveTo>
                  <a:pt x="99292" y="4724920"/>
                </a:moveTo>
                <a:lnTo>
                  <a:pt x="0" y="4724928"/>
                </a:lnTo>
                <a:lnTo>
                  <a:pt x="0" y="4870014"/>
                </a:lnTo>
                <a:lnTo>
                  <a:pt x="34822" y="4852006"/>
                </a:lnTo>
                <a:lnTo>
                  <a:pt x="68909" y="4817920"/>
                </a:lnTo>
                <a:lnTo>
                  <a:pt x="91264" y="4774693"/>
                </a:lnTo>
                <a:lnTo>
                  <a:pt x="99292" y="4724920"/>
                </a:lnTo>
                <a:close/>
              </a:path>
              <a:path w="414655" h="4870450">
                <a:moveTo>
                  <a:pt x="0" y="4594219"/>
                </a:moveTo>
                <a:lnTo>
                  <a:pt x="0" y="4698162"/>
                </a:lnTo>
                <a:lnTo>
                  <a:pt x="14374" y="4676841"/>
                </a:lnTo>
                <a:lnTo>
                  <a:pt x="20562" y="4646193"/>
                </a:lnTo>
                <a:lnTo>
                  <a:pt x="14374" y="4615539"/>
                </a:lnTo>
                <a:lnTo>
                  <a:pt x="0" y="4594219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292" y="1558289"/>
            <a:ext cx="9044940" cy="4725035"/>
          </a:xfrm>
          <a:custGeom>
            <a:avLst/>
            <a:gdLst/>
            <a:ahLst/>
            <a:cxnLst/>
            <a:rect l="l" t="t" r="r" b="b"/>
            <a:pathLst>
              <a:path w="9044940" h="4725035">
                <a:moveTo>
                  <a:pt x="0" y="4724933"/>
                </a:moveTo>
                <a:lnTo>
                  <a:pt x="0" y="157480"/>
                </a:lnTo>
                <a:lnTo>
                  <a:pt x="8028" y="107696"/>
                </a:lnTo>
                <a:lnTo>
                  <a:pt x="30383" y="64465"/>
                </a:lnTo>
                <a:lnTo>
                  <a:pt x="64470" y="30378"/>
                </a:lnTo>
                <a:lnTo>
                  <a:pt x="107695" y="8026"/>
                </a:lnTo>
                <a:lnTo>
                  <a:pt x="157463" y="0"/>
                </a:lnTo>
                <a:lnTo>
                  <a:pt x="8924565" y="0"/>
                </a:lnTo>
                <a:lnTo>
                  <a:pt x="8974349" y="8026"/>
                </a:lnTo>
                <a:lnTo>
                  <a:pt x="9017580" y="30378"/>
                </a:lnTo>
                <a:lnTo>
                  <a:pt x="9044707" y="57505"/>
                </a:lnTo>
              </a:path>
            </a:pathLst>
          </a:custGeom>
          <a:ln w="19811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815744"/>
            <a:ext cx="9144000" cy="4782820"/>
          </a:xfrm>
          <a:custGeom>
            <a:avLst/>
            <a:gdLst/>
            <a:ahLst/>
            <a:cxnLst/>
            <a:rect l="l" t="t" r="r" b="b"/>
            <a:pathLst>
              <a:path w="9144000" h="4782820">
                <a:moveTo>
                  <a:pt x="9143999" y="0"/>
                </a:moveTo>
                <a:lnTo>
                  <a:pt x="9116872" y="27127"/>
                </a:lnTo>
                <a:lnTo>
                  <a:pt x="9073642" y="49479"/>
                </a:lnTo>
                <a:lnTo>
                  <a:pt x="9023858" y="57505"/>
                </a:lnTo>
                <a:lnTo>
                  <a:pt x="8866378" y="57505"/>
                </a:lnTo>
                <a:lnTo>
                  <a:pt x="8866378" y="4624946"/>
                </a:lnTo>
                <a:lnTo>
                  <a:pt x="8858351" y="4674719"/>
                </a:lnTo>
                <a:lnTo>
                  <a:pt x="8835999" y="4717945"/>
                </a:lnTo>
                <a:lnTo>
                  <a:pt x="8801912" y="4752032"/>
                </a:lnTo>
                <a:lnTo>
                  <a:pt x="8758682" y="4774386"/>
                </a:lnTo>
                <a:lnTo>
                  <a:pt x="8708898" y="4782413"/>
                </a:lnTo>
                <a:lnTo>
                  <a:pt x="0" y="4782413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3223"/>
            <a:ext cx="99695" cy="0"/>
          </a:xfrm>
          <a:custGeom>
            <a:avLst/>
            <a:gdLst/>
            <a:ahLst/>
            <a:cxnLst/>
            <a:rect l="l" t="t" r="r" b="b"/>
            <a:pathLst>
              <a:path w="99695">
                <a:moveTo>
                  <a:pt x="0" y="0"/>
                </a:moveTo>
                <a:lnTo>
                  <a:pt x="99292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8015" y="1558289"/>
            <a:ext cx="236220" cy="314960"/>
          </a:xfrm>
          <a:custGeom>
            <a:avLst/>
            <a:gdLst/>
            <a:ahLst/>
            <a:cxnLst/>
            <a:rect l="l" t="t" r="r" b="b"/>
            <a:pathLst>
              <a:path w="236220" h="314960">
                <a:moveTo>
                  <a:pt x="78739" y="0"/>
                </a:moveTo>
                <a:lnTo>
                  <a:pt x="128514" y="8026"/>
                </a:lnTo>
                <a:lnTo>
                  <a:pt x="171743" y="30378"/>
                </a:lnTo>
                <a:lnTo>
                  <a:pt x="205834" y="64465"/>
                </a:lnTo>
                <a:lnTo>
                  <a:pt x="228191" y="107696"/>
                </a:lnTo>
                <a:lnTo>
                  <a:pt x="236219" y="157480"/>
                </a:lnTo>
                <a:lnTo>
                  <a:pt x="228191" y="207263"/>
                </a:lnTo>
                <a:lnTo>
                  <a:pt x="205834" y="250494"/>
                </a:lnTo>
                <a:lnTo>
                  <a:pt x="171743" y="284581"/>
                </a:lnTo>
                <a:lnTo>
                  <a:pt x="128514" y="306933"/>
                </a:lnTo>
                <a:lnTo>
                  <a:pt x="78739" y="314960"/>
                </a:lnTo>
                <a:lnTo>
                  <a:pt x="48091" y="308764"/>
                </a:lnTo>
                <a:lnTo>
                  <a:pt x="23063" y="291877"/>
                </a:lnTo>
                <a:lnTo>
                  <a:pt x="6188" y="266846"/>
                </a:lnTo>
                <a:lnTo>
                  <a:pt x="0" y="236220"/>
                </a:lnTo>
                <a:lnTo>
                  <a:pt x="6188" y="205539"/>
                </a:lnTo>
                <a:lnTo>
                  <a:pt x="23063" y="180514"/>
                </a:lnTo>
                <a:lnTo>
                  <a:pt x="48091" y="163657"/>
                </a:lnTo>
                <a:lnTo>
                  <a:pt x="78739" y="157480"/>
                </a:lnTo>
                <a:lnTo>
                  <a:pt x="236219" y="15748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6755" y="1873250"/>
            <a:ext cx="8609965" cy="0"/>
          </a:xfrm>
          <a:custGeom>
            <a:avLst/>
            <a:gdLst/>
            <a:ahLst/>
            <a:cxnLst/>
            <a:rect l="l" t="t" r="r" b="b"/>
            <a:pathLst>
              <a:path w="8609965">
                <a:moveTo>
                  <a:pt x="8609622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309989"/>
            <a:ext cx="20955" cy="104139"/>
          </a:xfrm>
          <a:custGeom>
            <a:avLst/>
            <a:gdLst/>
            <a:ahLst/>
            <a:cxnLst/>
            <a:rect l="l" t="t" r="r" b="b"/>
            <a:pathLst>
              <a:path w="20955" h="104139">
                <a:moveTo>
                  <a:pt x="0" y="0"/>
                </a:moveTo>
                <a:lnTo>
                  <a:pt x="14374" y="21320"/>
                </a:lnTo>
                <a:lnTo>
                  <a:pt x="20562" y="51974"/>
                </a:lnTo>
                <a:lnTo>
                  <a:pt x="14374" y="82622"/>
                </a:lnTo>
                <a:lnTo>
                  <a:pt x="0" y="103943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6440690"/>
            <a:ext cx="99695" cy="635"/>
          </a:xfrm>
          <a:custGeom>
            <a:avLst/>
            <a:gdLst/>
            <a:ahLst/>
            <a:cxnLst/>
            <a:rect l="l" t="t" r="r" b="b"/>
            <a:pathLst>
              <a:path w="99695" h="635">
                <a:moveTo>
                  <a:pt x="0" y="8"/>
                </a:moveTo>
                <a:lnTo>
                  <a:pt x="99292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6283223"/>
            <a:ext cx="99695" cy="302895"/>
          </a:xfrm>
          <a:custGeom>
            <a:avLst/>
            <a:gdLst/>
            <a:ahLst/>
            <a:cxnLst/>
            <a:rect l="l" t="t" r="r" b="b"/>
            <a:pathLst>
              <a:path w="99695" h="302895">
                <a:moveTo>
                  <a:pt x="0" y="302561"/>
                </a:moveTo>
                <a:lnTo>
                  <a:pt x="34822" y="284553"/>
                </a:lnTo>
                <a:lnTo>
                  <a:pt x="68909" y="250466"/>
                </a:lnTo>
                <a:lnTo>
                  <a:pt x="91264" y="207240"/>
                </a:lnTo>
                <a:lnTo>
                  <a:pt x="99292" y="157467"/>
                </a:lnTo>
                <a:lnTo>
                  <a:pt x="99292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7800" y="2094636"/>
            <a:ext cx="8429625" cy="4033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795"/>
              </a:lnSpc>
              <a:spcBef>
                <a:spcPts val="130"/>
              </a:spcBef>
            </a:pPr>
            <a:r>
              <a:rPr sz="2000" i="1" spc="-5" dirty="0">
                <a:latin typeface="Tw Cen MT"/>
                <a:cs typeface="Tw Cen MT"/>
              </a:rPr>
              <a:t>1</a:t>
            </a:r>
            <a:r>
              <a:rPr sz="2100" i="1" spc="-100" dirty="0">
                <a:latin typeface="华文仿宋"/>
                <a:cs typeface="华文仿宋"/>
              </a:rPr>
              <a:t>、</a:t>
            </a:r>
            <a:r>
              <a:rPr sz="2500" i="1" spc="-100" dirty="0">
                <a:latin typeface="华文新魏"/>
                <a:cs typeface="华文新魏"/>
              </a:rPr>
              <a:t>召开评审会议：一般</a:t>
            </a:r>
            <a:r>
              <a:rPr sz="2500" i="1" u="heavy" spc="-10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应</a:t>
            </a:r>
            <a:r>
              <a:rPr sz="2500" i="1" u="heavy" spc="-12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有</a:t>
            </a:r>
            <a:r>
              <a:rPr sz="2500" i="1" u="heavy" spc="-6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3</a:t>
            </a:r>
            <a:r>
              <a:rPr sz="2500" i="1" u="heavy" spc="-10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至</a:t>
            </a:r>
            <a:r>
              <a:rPr sz="2500" i="1" u="heavy" spc="-6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5</a:t>
            </a:r>
            <a:r>
              <a:rPr sz="2500" i="1" u="heavy" spc="-10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相关领域人员</a:t>
            </a:r>
            <a:r>
              <a:rPr sz="2500" i="1" spc="-100" dirty="0">
                <a:latin typeface="华文新魏"/>
                <a:cs typeface="华文新魏"/>
              </a:rPr>
              <a:t>参加，会前每个</a:t>
            </a:r>
            <a:endParaRPr sz="2500">
              <a:latin typeface="华文新魏"/>
              <a:cs typeface="华文新魏"/>
            </a:endParaRPr>
          </a:p>
          <a:p>
            <a:pPr marL="12700">
              <a:lnSpc>
                <a:spcPts val="2590"/>
              </a:lnSpc>
            </a:pPr>
            <a:r>
              <a:rPr sz="2500" i="1" spc="-100" dirty="0">
                <a:latin typeface="华文新魏"/>
                <a:cs typeface="华文新魏"/>
              </a:rPr>
              <a:t>参加者做好准备，评审</a:t>
            </a:r>
            <a:r>
              <a:rPr sz="2500" i="1" u="heavy" spc="-10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会每次一般不超</a:t>
            </a:r>
            <a:r>
              <a:rPr sz="2500" i="1" u="heavy" spc="-95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过</a:t>
            </a:r>
            <a:r>
              <a:rPr sz="2500" i="1" u="heavy" spc="-6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2</a:t>
            </a:r>
            <a:r>
              <a:rPr sz="2500" i="1" u="heavy" spc="-10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小时</a:t>
            </a:r>
            <a:r>
              <a:rPr sz="2500" i="1" spc="-100" dirty="0">
                <a:latin typeface="华文新魏"/>
                <a:cs typeface="华文新魏"/>
              </a:rPr>
              <a:t>；</a:t>
            </a:r>
            <a:endParaRPr sz="2500">
              <a:latin typeface="华文新魏"/>
              <a:cs typeface="华文新魏"/>
            </a:endParaRPr>
          </a:p>
          <a:p>
            <a:pPr marL="12700">
              <a:lnSpc>
                <a:spcPts val="2595"/>
              </a:lnSpc>
            </a:pPr>
            <a:r>
              <a:rPr sz="2500" i="1" spc="-60" dirty="0">
                <a:latin typeface="华文新魏"/>
                <a:cs typeface="华文新魏"/>
              </a:rPr>
              <a:t>2</a:t>
            </a:r>
            <a:r>
              <a:rPr sz="2500" i="1" spc="-105" dirty="0">
                <a:latin typeface="华文新魏"/>
                <a:cs typeface="华文新魏"/>
              </a:rPr>
              <a:t>、在评审会上，由开发小组对提交的评审对象进行讲解；</a:t>
            </a:r>
            <a:endParaRPr sz="2500">
              <a:latin typeface="华文新魏"/>
              <a:cs typeface="华文新魏"/>
            </a:endParaRPr>
          </a:p>
          <a:p>
            <a:pPr marL="12700" marR="120014">
              <a:lnSpc>
                <a:spcPts val="2590"/>
              </a:lnSpc>
              <a:spcBef>
                <a:spcPts val="225"/>
              </a:spcBef>
            </a:pPr>
            <a:r>
              <a:rPr sz="2500" i="1" spc="-100" dirty="0">
                <a:latin typeface="华文新魏"/>
                <a:cs typeface="华文新魏"/>
              </a:rPr>
              <a:t>3、评审组可以对开发小组进行提</a:t>
            </a:r>
            <a:r>
              <a:rPr sz="2500" i="1" spc="-95" dirty="0">
                <a:latin typeface="华文新魏"/>
                <a:cs typeface="华文新魏"/>
              </a:rPr>
              <a:t>问</a:t>
            </a:r>
            <a:r>
              <a:rPr sz="2500" i="1" spc="-85" dirty="0">
                <a:latin typeface="华文新魏"/>
                <a:cs typeface="华文新魏"/>
              </a:rPr>
              <a:t>;提出建议和要求;也可以与 </a:t>
            </a:r>
            <a:r>
              <a:rPr sz="2500" i="1" spc="-100" dirty="0">
                <a:latin typeface="华文新魏"/>
                <a:cs typeface="华文新魏"/>
              </a:rPr>
              <a:t>开发小组展开讨论；</a:t>
            </a:r>
            <a:endParaRPr sz="2500">
              <a:latin typeface="华文新魏"/>
              <a:cs typeface="华文新魏"/>
            </a:endParaRPr>
          </a:p>
          <a:p>
            <a:pPr marL="12700">
              <a:lnSpc>
                <a:spcPts val="2375"/>
              </a:lnSpc>
            </a:pPr>
            <a:r>
              <a:rPr sz="2500" i="1" spc="-60" dirty="0">
                <a:latin typeface="华文新魏"/>
                <a:cs typeface="华文新魏"/>
              </a:rPr>
              <a:t>4</a:t>
            </a:r>
            <a:r>
              <a:rPr sz="2500" i="1" spc="-105" dirty="0">
                <a:latin typeface="华文新魏"/>
                <a:cs typeface="华文新魏"/>
              </a:rPr>
              <a:t>、会议结束</a:t>
            </a:r>
            <a:r>
              <a:rPr sz="2500" i="1" u="heavy" spc="-105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时必须做出以下决策之</a:t>
            </a:r>
            <a:r>
              <a:rPr sz="2500" i="1" spc="-105" dirty="0">
                <a:latin typeface="华文新魏"/>
                <a:cs typeface="华文新魏"/>
              </a:rPr>
              <a:t>一：</a:t>
            </a:r>
            <a:endParaRPr sz="2500">
              <a:latin typeface="华文新魏"/>
              <a:cs typeface="华文新魏"/>
            </a:endParaRPr>
          </a:p>
          <a:p>
            <a:pPr marL="709930" indent="-240665">
              <a:lnSpc>
                <a:spcPts val="2595"/>
              </a:lnSpc>
              <a:buSzPct val="92000"/>
              <a:buFont typeface="Wingdings"/>
              <a:buChar char=""/>
              <a:tabLst>
                <a:tab pos="710565" algn="l"/>
              </a:tabLst>
            </a:pPr>
            <a:r>
              <a:rPr sz="2500" i="1" spc="-100" dirty="0">
                <a:latin typeface="华文新魏"/>
                <a:cs typeface="华文新魏"/>
              </a:rPr>
              <a:t>接受该产品，不需做修改；</a:t>
            </a:r>
            <a:endParaRPr sz="2500">
              <a:latin typeface="华文新魏"/>
              <a:cs typeface="华文新魏"/>
            </a:endParaRPr>
          </a:p>
          <a:p>
            <a:pPr marL="709930" indent="-240665">
              <a:lnSpc>
                <a:spcPts val="2590"/>
              </a:lnSpc>
              <a:buSzPct val="92000"/>
              <a:buFont typeface="Wingdings"/>
              <a:buChar char=""/>
              <a:tabLst>
                <a:tab pos="710565" algn="l"/>
              </a:tabLst>
            </a:pPr>
            <a:r>
              <a:rPr sz="2500" i="1" spc="-100" dirty="0">
                <a:latin typeface="华文新魏"/>
                <a:cs typeface="华文新魏"/>
              </a:rPr>
              <a:t>由于错误严重，拒绝接受；</a:t>
            </a:r>
            <a:endParaRPr sz="2500">
              <a:latin typeface="华文新魏"/>
              <a:cs typeface="华文新魏"/>
            </a:endParaRPr>
          </a:p>
          <a:p>
            <a:pPr marL="469900" marR="5080">
              <a:lnSpc>
                <a:spcPts val="2590"/>
              </a:lnSpc>
              <a:spcBef>
                <a:spcPts val="225"/>
              </a:spcBef>
              <a:buSzPct val="92000"/>
              <a:buFont typeface="Wingdings"/>
              <a:buChar char=""/>
              <a:tabLst>
                <a:tab pos="710565" algn="l"/>
              </a:tabLst>
            </a:pPr>
            <a:r>
              <a:rPr sz="2500" i="1" spc="-95" dirty="0">
                <a:latin typeface="华文新魏"/>
                <a:cs typeface="华文新魏"/>
              </a:rPr>
              <a:t>暂时接受该产品,但需要对某一部分进行修改。开发小组还 </a:t>
            </a:r>
            <a:r>
              <a:rPr sz="2500" i="1" spc="-100" dirty="0">
                <a:latin typeface="华文新魏"/>
                <a:cs typeface="华文新魏"/>
              </a:rPr>
              <a:t>要将修改后的结果反馈至评审组。</a:t>
            </a:r>
            <a:endParaRPr sz="2500">
              <a:latin typeface="华文新魏"/>
              <a:cs typeface="华文新魏"/>
            </a:endParaRPr>
          </a:p>
          <a:p>
            <a:pPr marL="12700" marR="6350">
              <a:lnSpc>
                <a:spcPts val="2590"/>
              </a:lnSpc>
              <a:spcBef>
                <a:spcPts val="5"/>
              </a:spcBef>
            </a:pPr>
            <a:r>
              <a:rPr sz="2500" i="1" spc="-80" dirty="0">
                <a:latin typeface="华文新魏"/>
                <a:cs typeface="华文新魏"/>
              </a:rPr>
              <a:t>5、</a:t>
            </a:r>
            <a:r>
              <a:rPr sz="2500" i="1" u="heavy" spc="-100" dirty="0"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评审报告与记录；所</a:t>
            </a:r>
            <a:r>
              <a:rPr sz="2500" i="1" spc="-100" dirty="0">
                <a:latin typeface="华文新魏"/>
                <a:cs typeface="华文新魏"/>
              </a:rPr>
              <a:t>提出的问题都要进行记录，在评审会结 束前产生一个评审问题表，另外必须完成评审报告。</a:t>
            </a:r>
            <a:endParaRPr sz="2500">
              <a:latin typeface="华文新魏"/>
              <a:cs typeface="华文新魏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89170" y="3213354"/>
            <a:ext cx="3168650" cy="0"/>
          </a:xfrm>
          <a:custGeom>
            <a:avLst/>
            <a:gdLst/>
            <a:ahLst/>
            <a:cxnLst/>
            <a:rect l="l" t="t" r="r" b="b"/>
            <a:pathLst>
              <a:path w="3168650">
                <a:moveTo>
                  <a:pt x="0" y="0"/>
                </a:moveTo>
                <a:lnTo>
                  <a:pt x="316865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9410" y="3574541"/>
            <a:ext cx="3167380" cy="0"/>
          </a:xfrm>
          <a:custGeom>
            <a:avLst/>
            <a:gdLst/>
            <a:ahLst/>
            <a:cxnLst/>
            <a:rect l="l" t="t" r="r" b="b"/>
            <a:pathLst>
              <a:path w="3167379">
                <a:moveTo>
                  <a:pt x="0" y="0"/>
                </a:moveTo>
                <a:lnTo>
                  <a:pt x="316699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66" y="354583"/>
            <a:ext cx="43440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QC:</a:t>
            </a:r>
            <a:r>
              <a:rPr dirty="0"/>
              <a:t>代码评</a:t>
            </a:r>
            <a:r>
              <a:rPr spc="-5" dirty="0"/>
              <a:t>审</a:t>
            </a:r>
            <a:r>
              <a:rPr i="1" dirty="0">
                <a:latin typeface="华文隶书"/>
                <a:cs typeface="华文隶书"/>
              </a:rPr>
              <a:t>/</a:t>
            </a:r>
            <a:r>
              <a:rPr dirty="0"/>
              <a:t>走查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9098" y="6152184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25395" y="2276855"/>
            <a:ext cx="6543040" cy="1422400"/>
          </a:xfrm>
          <a:custGeom>
            <a:avLst/>
            <a:gdLst/>
            <a:ahLst/>
            <a:cxnLst/>
            <a:rect l="l" t="t" r="r" b="b"/>
            <a:pathLst>
              <a:path w="6543040" h="1422400">
                <a:moveTo>
                  <a:pt x="6361557" y="0"/>
                </a:moveTo>
                <a:lnTo>
                  <a:pt x="180975" y="0"/>
                </a:ln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0" y="1240917"/>
                </a:lnTo>
                <a:lnTo>
                  <a:pt x="6464" y="1289027"/>
                </a:lnTo>
                <a:lnTo>
                  <a:pt x="24708" y="1332258"/>
                </a:lnTo>
                <a:lnTo>
                  <a:pt x="53006" y="1368885"/>
                </a:lnTo>
                <a:lnTo>
                  <a:pt x="89633" y="1397183"/>
                </a:lnTo>
                <a:lnTo>
                  <a:pt x="132864" y="1415427"/>
                </a:lnTo>
                <a:lnTo>
                  <a:pt x="180975" y="1421892"/>
                </a:lnTo>
                <a:lnTo>
                  <a:pt x="6361557" y="1421892"/>
                </a:lnTo>
                <a:lnTo>
                  <a:pt x="6409667" y="1415427"/>
                </a:lnTo>
                <a:lnTo>
                  <a:pt x="6452898" y="1397183"/>
                </a:lnTo>
                <a:lnTo>
                  <a:pt x="6489525" y="1368885"/>
                </a:lnTo>
                <a:lnTo>
                  <a:pt x="6517823" y="1332258"/>
                </a:lnTo>
                <a:lnTo>
                  <a:pt x="6536067" y="1289027"/>
                </a:lnTo>
                <a:lnTo>
                  <a:pt x="6542532" y="1240917"/>
                </a:lnTo>
                <a:lnTo>
                  <a:pt x="6542532" y="180975"/>
                </a:lnTo>
                <a:lnTo>
                  <a:pt x="6536067" y="132864"/>
                </a:lnTo>
                <a:lnTo>
                  <a:pt x="6517823" y="89633"/>
                </a:lnTo>
                <a:lnTo>
                  <a:pt x="6489525" y="53006"/>
                </a:lnTo>
                <a:lnTo>
                  <a:pt x="6452898" y="24708"/>
                </a:lnTo>
                <a:lnTo>
                  <a:pt x="6409667" y="6464"/>
                </a:lnTo>
                <a:lnTo>
                  <a:pt x="6361557" y="0"/>
                </a:lnTo>
                <a:close/>
              </a:path>
            </a:pathLst>
          </a:custGeom>
          <a:solidFill>
            <a:srgbClr val="CFD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66998" y="2446146"/>
            <a:ext cx="49060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华文仿宋"/>
                <a:cs typeface="华文仿宋"/>
              </a:rPr>
              <a:t>由一组</a:t>
            </a:r>
            <a:r>
              <a:rPr sz="2400" b="1" spc="-5" dirty="0">
                <a:latin typeface="华文仿宋"/>
                <a:cs typeface="华文仿宋"/>
              </a:rPr>
              <a:t>人通过阅读、讨论和争议对程 </a:t>
            </a:r>
            <a:r>
              <a:rPr sz="2400" b="1" spc="5" dirty="0">
                <a:latin typeface="华文仿宋"/>
                <a:cs typeface="华文仿宋"/>
              </a:rPr>
              <a:t>序进行</a:t>
            </a:r>
            <a:r>
              <a:rPr sz="2400" b="1" dirty="0">
                <a:latin typeface="华文仿宋"/>
                <a:cs typeface="华文仿宋"/>
              </a:rPr>
              <a:t>静态分</a:t>
            </a:r>
            <a:r>
              <a:rPr sz="2400" b="1" spc="-10" dirty="0">
                <a:latin typeface="华文仿宋"/>
                <a:cs typeface="华文仿宋"/>
              </a:rPr>
              <a:t>析</a:t>
            </a:r>
            <a:r>
              <a:rPr sz="2400" b="1" dirty="0">
                <a:latin typeface="华文仿宋"/>
                <a:cs typeface="华文仿宋"/>
              </a:rPr>
              <a:t>的过程。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16330" y="2277617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6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6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6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1" y="672846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6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16330" y="2277617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6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6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1" y="672846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6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6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86433" y="2332482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1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1"/>
                </a:lnTo>
                <a:lnTo>
                  <a:pt x="1538986" y="660286"/>
                </a:lnTo>
                <a:lnTo>
                  <a:pt x="1533730" y="701827"/>
                </a:lnTo>
                <a:lnTo>
                  <a:pt x="1525111" y="742511"/>
                </a:lnTo>
                <a:lnTo>
                  <a:pt x="1513243" y="782247"/>
                </a:lnTo>
                <a:lnTo>
                  <a:pt x="1498241" y="820943"/>
                </a:lnTo>
                <a:lnTo>
                  <a:pt x="1480220" y="858506"/>
                </a:lnTo>
                <a:lnTo>
                  <a:pt x="1459295" y="894844"/>
                </a:lnTo>
                <a:lnTo>
                  <a:pt x="1435579" y="929865"/>
                </a:lnTo>
                <a:lnTo>
                  <a:pt x="1409189" y="963478"/>
                </a:lnTo>
                <a:lnTo>
                  <a:pt x="1380239" y="995589"/>
                </a:lnTo>
                <a:lnTo>
                  <a:pt x="1348843" y="1026108"/>
                </a:lnTo>
                <a:lnTo>
                  <a:pt x="1315116" y="1054941"/>
                </a:lnTo>
                <a:lnTo>
                  <a:pt x="1279174" y="1081997"/>
                </a:lnTo>
                <a:lnTo>
                  <a:pt x="1241130" y="1107183"/>
                </a:lnTo>
                <a:lnTo>
                  <a:pt x="1201101" y="1130408"/>
                </a:lnTo>
                <a:lnTo>
                  <a:pt x="1159199" y="1151579"/>
                </a:lnTo>
                <a:lnTo>
                  <a:pt x="1115541" y="1170604"/>
                </a:lnTo>
                <a:lnTo>
                  <a:pt x="1070240" y="1187392"/>
                </a:lnTo>
                <a:lnTo>
                  <a:pt x="1023413" y="1201849"/>
                </a:lnTo>
                <a:lnTo>
                  <a:pt x="975173" y="1213885"/>
                </a:lnTo>
                <a:lnTo>
                  <a:pt x="925635" y="1223406"/>
                </a:lnTo>
                <a:lnTo>
                  <a:pt x="874914" y="1230321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1"/>
                </a:lnTo>
                <a:lnTo>
                  <a:pt x="615128" y="1223406"/>
                </a:lnTo>
                <a:lnTo>
                  <a:pt x="565590" y="1213885"/>
                </a:lnTo>
                <a:lnTo>
                  <a:pt x="517350" y="1201849"/>
                </a:lnTo>
                <a:lnTo>
                  <a:pt x="470523" y="1187392"/>
                </a:lnTo>
                <a:lnTo>
                  <a:pt x="425222" y="1170604"/>
                </a:lnTo>
                <a:lnTo>
                  <a:pt x="381564" y="1151579"/>
                </a:lnTo>
                <a:lnTo>
                  <a:pt x="339662" y="1130408"/>
                </a:lnTo>
                <a:lnTo>
                  <a:pt x="299633" y="1107183"/>
                </a:lnTo>
                <a:lnTo>
                  <a:pt x="261589" y="1081997"/>
                </a:lnTo>
                <a:lnTo>
                  <a:pt x="225647" y="1054941"/>
                </a:lnTo>
                <a:lnTo>
                  <a:pt x="191920" y="1026108"/>
                </a:lnTo>
                <a:lnTo>
                  <a:pt x="160524" y="995589"/>
                </a:lnTo>
                <a:lnTo>
                  <a:pt x="131574" y="963478"/>
                </a:lnTo>
                <a:lnTo>
                  <a:pt x="105184" y="929865"/>
                </a:lnTo>
                <a:lnTo>
                  <a:pt x="81468" y="894844"/>
                </a:lnTo>
                <a:lnTo>
                  <a:pt x="60543" y="858506"/>
                </a:lnTo>
                <a:lnTo>
                  <a:pt x="42522" y="820943"/>
                </a:lnTo>
                <a:lnTo>
                  <a:pt x="27520" y="782247"/>
                </a:lnTo>
                <a:lnTo>
                  <a:pt x="15652" y="742511"/>
                </a:lnTo>
                <a:lnTo>
                  <a:pt x="7033" y="701827"/>
                </a:lnTo>
                <a:lnTo>
                  <a:pt x="1777" y="660286"/>
                </a:lnTo>
                <a:lnTo>
                  <a:pt x="0" y="617981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55013" y="2391917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40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32"/>
                </a:lnTo>
                <a:lnTo>
                  <a:pt x="1394480" y="645470"/>
                </a:lnTo>
                <a:lnTo>
                  <a:pt x="1385183" y="685660"/>
                </a:lnTo>
                <a:lnTo>
                  <a:pt x="1372402" y="724794"/>
                </a:lnTo>
                <a:lnTo>
                  <a:pt x="1356273" y="762762"/>
                </a:lnTo>
                <a:lnTo>
                  <a:pt x="1336931" y="799457"/>
                </a:lnTo>
                <a:lnTo>
                  <a:pt x="1314512" y="834770"/>
                </a:lnTo>
                <a:lnTo>
                  <a:pt x="1289150" y="868591"/>
                </a:lnTo>
                <a:lnTo>
                  <a:pt x="1260982" y="900813"/>
                </a:lnTo>
                <a:lnTo>
                  <a:pt x="1230143" y="931327"/>
                </a:lnTo>
                <a:lnTo>
                  <a:pt x="1196768" y="960024"/>
                </a:lnTo>
                <a:lnTo>
                  <a:pt x="1160993" y="986796"/>
                </a:lnTo>
                <a:lnTo>
                  <a:pt x="1122954" y="1011533"/>
                </a:lnTo>
                <a:lnTo>
                  <a:pt x="1082785" y="1034128"/>
                </a:lnTo>
                <a:lnTo>
                  <a:pt x="1040622" y="1054471"/>
                </a:lnTo>
                <a:lnTo>
                  <a:pt x="996602" y="1072455"/>
                </a:lnTo>
                <a:lnTo>
                  <a:pt x="950858" y="1087969"/>
                </a:lnTo>
                <a:lnTo>
                  <a:pt x="903527" y="1100907"/>
                </a:lnTo>
                <a:lnTo>
                  <a:pt x="854744" y="1111158"/>
                </a:lnTo>
                <a:lnTo>
                  <a:pt x="804645" y="1118616"/>
                </a:lnTo>
                <a:lnTo>
                  <a:pt x="753365" y="1123169"/>
                </a:lnTo>
                <a:lnTo>
                  <a:pt x="701040" y="1124712"/>
                </a:lnTo>
                <a:lnTo>
                  <a:pt x="648714" y="1123169"/>
                </a:lnTo>
                <a:lnTo>
                  <a:pt x="597434" y="1118615"/>
                </a:lnTo>
                <a:lnTo>
                  <a:pt x="547335" y="1111158"/>
                </a:lnTo>
                <a:lnTo>
                  <a:pt x="498552" y="1100907"/>
                </a:lnTo>
                <a:lnTo>
                  <a:pt x="451221" y="1087969"/>
                </a:lnTo>
                <a:lnTo>
                  <a:pt x="405477" y="1072455"/>
                </a:lnTo>
                <a:lnTo>
                  <a:pt x="361457" y="1054471"/>
                </a:lnTo>
                <a:lnTo>
                  <a:pt x="319294" y="1034128"/>
                </a:lnTo>
                <a:lnTo>
                  <a:pt x="279125" y="1011533"/>
                </a:lnTo>
                <a:lnTo>
                  <a:pt x="241086" y="986796"/>
                </a:lnTo>
                <a:lnTo>
                  <a:pt x="205311" y="960024"/>
                </a:lnTo>
                <a:lnTo>
                  <a:pt x="171936" y="931327"/>
                </a:lnTo>
                <a:lnTo>
                  <a:pt x="141097" y="900813"/>
                </a:lnTo>
                <a:lnTo>
                  <a:pt x="112929" y="868591"/>
                </a:lnTo>
                <a:lnTo>
                  <a:pt x="87567" y="834770"/>
                </a:lnTo>
                <a:lnTo>
                  <a:pt x="65148" y="799457"/>
                </a:lnTo>
                <a:lnTo>
                  <a:pt x="45806" y="762762"/>
                </a:lnTo>
                <a:lnTo>
                  <a:pt x="29677" y="724794"/>
                </a:lnTo>
                <a:lnTo>
                  <a:pt x="16896" y="685660"/>
                </a:lnTo>
                <a:lnTo>
                  <a:pt x="7599" y="645470"/>
                </a:lnTo>
                <a:lnTo>
                  <a:pt x="1922" y="604332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5338" y="2806446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latin typeface="华文仿宋"/>
                <a:cs typeface="华文仿宋"/>
              </a:rPr>
              <a:t>代码评审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25395" y="3915155"/>
            <a:ext cx="6543040" cy="1481455"/>
          </a:xfrm>
          <a:custGeom>
            <a:avLst/>
            <a:gdLst/>
            <a:ahLst/>
            <a:cxnLst/>
            <a:rect l="l" t="t" r="r" b="b"/>
            <a:pathLst>
              <a:path w="6543040" h="1481454">
                <a:moveTo>
                  <a:pt x="6354063" y="0"/>
                </a:moveTo>
                <a:lnTo>
                  <a:pt x="188468" y="0"/>
                </a:lnTo>
                <a:lnTo>
                  <a:pt x="138391" y="6737"/>
                </a:lnTo>
                <a:lnTo>
                  <a:pt x="93377" y="25748"/>
                </a:lnTo>
                <a:lnTo>
                  <a:pt x="55229" y="55229"/>
                </a:lnTo>
                <a:lnTo>
                  <a:pt x="25748" y="93377"/>
                </a:lnTo>
                <a:lnTo>
                  <a:pt x="6737" y="138391"/>
                </a:lnTo>
                <a:lnTo>
                  <a:pt x="0" y="188468"/>
                </a:lnTo>
                <a:lnTo>
                  <a:pt x="0" y="1292860"/>
                </a:lnTo>
                <a:lnTo>
                  <a:pt x="6737" y="1342936"/>
                </a:lnTo>
                <a:lnTo>
                  <a:pt x="25748" y="1387950"/>
                </a:lnTo>
                <a:lnTo>
                  <a:pt x="55229" y="1426098"/>
                </a:lnTo>
                <a:lnTo>
                  <a:pt x="93377" y="1455579"/>
                </a:lnTo>
                <a:lnTo>
                  <a:pt x="138391" y="1474590"/>
                </a:lnTo>
                <a:lnTo>
                  <a:pt x="188468" y="1481328"/>
                </a:lnTo>
                <a:lnTo>
                  <a:pt x="6354063" y="1481328"/>
                </a:lnTo>
                <a:lnTo>
                  <a:pt x="6404140" y="1474590"/>
                </a:lnTo>
                <a:lnTo>
                  <a:pt x="6449154" y="1455579"/>
                </a:lnTo>
                <a:lnTo>
                  <a:pt x="6487302" y="1426098"/>
                </a:lnTo>
                <a:lnTo>
                  <a:pt x="6516783" y="1387950"/>
                </a:lnTo>
                <a:lnTo>
                  <a:pt x="6535794" y="1342936"/>
                </a:lnTo>
                <a:lnTo>
                  <a:pt x="6542532" y="1292860"/>
                </a:lnTo>
                <a:lnTo>
                  <a:pt x="6542532" y="188468"/>
                </a:lnTo>
                <a:lnTo>
                  <a:pt x="6535794" y="138391"/>
                </a:lnTo>
                <a:lnTo>
                  <a:pt x="6516783" y="93377"/>
                </a:lnTo>
                <a:lnTo>
                  <a:pt x="6487302" y="55229"/>
                </a:lnTo>
                <a:lnTo>
                  <a:pt x="6449154" y="25748"/>
                </a:lnTo>
                <a:lnTo>
                  <a:pt x="6404140" y="6737"/>
                </a:lnTo>
                <a:lnTo>
                  <a:pt x="6354063" y="0"/>
                </a:lnTo>
                <a:close/>
              </a:path>
            </a:pathLst>
          </a:custGeom>
          <a:solidFill>
            <a:srgbClr val="EB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6330" y="3877817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6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5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6" y="1345691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1" y="672845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6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16330" y="3877817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5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6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1" y="672845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6" y="1345691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5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86433" y="3932682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86"/>
                </a:lnTo>
                <a:lnTo>
                  <a:pt x="1533730" y="701827"/>
                </a:lnTo>
                <a:lnTo>
                  <a:pt x="1525111" y="742511"/>
                </a:lnTo>
                <a:lnTo>
                  <a:pt x="1513243" y="782247"/>
                </a:lnTo>
                <a:lnTo>
                  <a:pt x="1498241" y="820943"/>
                </a:lnTo>
                <a:lnTo>
                  <a:pt x="1480220" y="858506"/>
                </a:lnTo>
                <a:lnTo>
                  <a:pt x="1459295" y="894844"/>
                </a:lnTo>
                <a:lnTo>
                  <a:pt x="1435579" y="929865"/>
                </a:lnTo>
                <a:lnTo>
                  <a:pt x="1409189" y="963478"/>
                </a:lnTo>
                <a:lnTo>
                  <a:pt x="1380239" y="995589"/>
                </a:lnTo>
                <a:lnTo>
                  <a:pt x="1348843" y="1026108"/>
                </a:lnTo>
                <a:lnTo>
                  <a:pt x="1315116" y="1054941"/>
                </a:lnTo>
                <a:lnTo>
                  <a:pt x="1279174" y="1081997"/>
                </a:lnTo>
                <a:lnTo>
                  <a:pt x="1241130" y="1107183"/>
                </a:lnTo>
                <a:lnTo>
                  <a:pt x="1201101" y="1130408"/>
                </a:lnTo>
                <a:lnTo>
                  <a:pt x="1159199" y="1151579"/>
                </a:lnTo>
                <a:lnTo>
                  <a:pt x="1115541" y="1170604"/>
                </a:lnTo>
                <a:lnTo>
                  <a:pt x="1070240" y="1187392"/>
                </a:lnTo>
                <a:lnTo>
                  <a:pt x="1023413" y="1201849"/>
                </a:lnTo>
                <a:lnTo>
                  <a:pt x="975173" y="1213885"/>
                </a:lnTo>
                <a:lnTo>
                  <a:pt x="925635" y="1223406"/>
                </a:lnTo>
                <a:lnTo>
                  <a:pt x="874914" y="1230321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1"/>
                </a:lnTo>
                <a:lnTo>
                  <a:pt x="615128" y="1223406"/>
                </a:lnTo>
                <a:lnTo>
                  <a:pt x="565590" y="1213885"/>
                </a:lnTo>
                <a:lnTo>
                  <a:pt x="517350" y="1201849"/>
                </a:lnTo>
                <a:lnTo>
                  <a:pt x="470523" y="1187392"/>
                </a:lnTo>
                <a:lnTo>
                  <a:pt x="425222" y="1170604"/>
                </a:lnTo>
                <a:lnTo>
                  <a:pt x="381564" y="1151579"/>
                </a:lnTo>
                <a:lnTo>
                  <a:pt x="339662" y="1130408"/>
                </a:lnTo>
                <a:lnTo>
                  <a:pt x="299633" y="1107183"/>
                </a:lnTo>
                <a:lnTo>
                  <a:pt x="261589" y="1081997"/>
                </a:lnTo>
                <a:lnTo>
                  <a:pt x="225647" y="1054941"/>
                </a:lnTo>
                <a:lnTo>
                  <a:pt x="191920" y="1026108"/>
                </a:lnTo>
                <a:lnTo>
                  <a:pt x="160524" y="995589"/>
                </a:lnTo>
                <a:lnTo>
                  <a:pt x="131574" y="963478"/>
                </a:lnTo>
                <a:lnTo>
                  <a:pt x="105184" y="929865"/>
                </a:lnTo>
                <a:lnTo>
                  <a:pt x="81468" y="894844"/>
                </a:lnTo>
                <a:lnTo>
                  <a:pt x="60543" y="858506"/>
                </a:lnTo>
                <a:lnTo>
                  <a:pt x="42522" y="820943"/>
                </a:lnTo>
                <a:lnTo>
                  <a:pt x="27520" y="782247"/>
                </a:lnTo>
                <a:lnTo>
                  <a:pt x="15652" y="742511"/>
                </a:lnTo>
                <a:lnTo>
                  <a:pt x="7033" y="701827"/>
                </a:lnTo>
                <a:lnTo>
                  <a:pt x="1777" y="660286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55013" y="3992117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5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40" y="0"/>
                </a:lnTo>
                <a:lnTo>
                  <a:pt x="753365" y="1542"/>
                </a:lnTo>
                <a:lnTo>
                  <a:pt x="804645" y="6095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5"/>
                </a:lnTo>
                <a:lnTo>
                  <a:pt x="1400157" y="604332"/>
                </a:lnTo>
                <a:lnTo>
                  <a:pt x="1394480" y="645470"/>
                </a:lnTo>
                <a:lnTo>
                  <a:pt x="1385183" y="685660"/>
                </a:lnTo>
                <a:lnTo>
                  <a:pt x="1372402" y="724794"/>
                </a:lnTo>
                <a:lnTo>
                  <a:pt x="1356273" y="762762"/>
                </a:lnTo>
                <a:lnTo>
                  <a:pt x="1336931" y="799457"/>
                </a:lnTo>
                <a:lnTo>
                  <a:pt x="1314512" y="834770"/>
                </a:lnTo>
                <a:lnTo>
                  <a:pt x="1289150" y="868591"/>
                </a:lnTo>
                <a:lnTo>
                  <a:pt x="1260982" y="900813"/>
                </a:lnTo>
                <a:lnTo>
                  <a:pt x="1230143" y="931327"/>
                </a:lnTo>
                <a:lnTo>
                  <a:pt x="1196768" y="960024"/>
                </a:lnTo>
                <a:lnTo>
                  <a:pt x="1160993" y="986796"/>
                </a:lnTo>
                <a:lnTo>
                  <a:pt x="1122954" y="1011533"/>
                </a:lnTo>
                <a:lnTo>
                  <a:pt x="1082785" y="1034128"/>
                </a:lnTo>
                <a:lnTo>
                  <a:pt x="1040622" y="1054471"/>
                </a:lnTo>
                <a:lnTo>
                  <a:pt x="996602" y="1072455"/>
                </a:lnTo>
                <a:lnTo>
                  <a:pt x="950858" y="1087969"/>
                </a:lnTo>
                <a:lnTo>
                  <a:pt x="903527" y="1100907"/>
                </a:lnTo>
                <a:lnTo>
                  <a:pt x="854744" y="1111158"/>
                </a:lnTo>
                <a:lnTo>
                  <a:pt x="804645" y="1118615"/>
                </a:lnTo>
                <a:lnTo>
                  <a:pt x="753365" y="1123169"/>
                </a:lnTo>
                <a:lnTo>
                  <a:pt x="701040" y="1124711"/>
                </a:lnTo>
                <a:lnTo>
                  <a:pt x="648714" y="1123169"/>
                </a:lnTo>
                <a:lnTo>
                  <a:pt x="597434" y="1118615"/>
                </a:lnTo>
                <a:lnTo>
                  <a:pt x="547335" y="1111158"/>
                </a:lnTo>
                <a:lnTo>
                  <a:pt x="498552" y="1100907"/>
                </a:lnTo>
                <a:lnTo>
                  <a:pt x="451221" y="1087969"/>
                </a:lnTo>
                <a:lnTo>
                  <a:pt x="405477" y="1072455"/>
                </a:lnTo>
                <a:lnTo>
                  <a:pt x="361457" y="1054471"/>
                </a:lnTo>
                <a:lnTo>
                  <a:pt x="319294" y="1034128"/>
                </a:lnTo>
                <a:lnTo>
                  <a:pt x="279125" y="1011533"/>
                </a:lnTo>
                <a:lnTo>
                  <a:pt x="241086" y="986796"/>
                </a:lnTo>
                <a:lnTo>
                  <a:pt x="205311" y="960024"/>
                </a:lnTo>
                <a:lnTo>
                  <a:pt x="171936" y="931327"/>
                </a:lnTo>
                <a:lnTo>
                  <a:pt x="141097" y="900813"/>
                </a:lnTo>
                <a:lnTo>
                  <a:pt x="112929" y="868591"/>
                </a:lnTo>
                <a:lnTo>
                  <a:pt x="87567" y="834770"/>
                </a:lnTo>
                <a:lnTo>
                  <a:pt x="65148" y="799457"/>
                </a:lnTo>
                <a:lnTo>
                  <a:pt x="45806" y="762762"/>
                </a:lnTo>
                <a:lnTo>
                  <a:pt x="29677" y="724794"/>
                </a:lnTo>
                <a:lnTo>
                  <a:pt x="16896" y="685660"/>
                </a:lnTo>
                <a:lnTo>
                  <a:pt x="7599" y="645470"/>
                </a:lnTo>
                <a:lnTo>
                  <a:pt x="1922" y="604332"/>
                </a:lnTo>
                <a:lnTo>
                  <a:pt x="0" y="562355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97686" y="4382846"/>
            <a:ext cx="1250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" dirty="0">
                <a:latin typeface="华文仿宋"/>
                <a:cs typeface="华文仿宋"/>
              </a:rPr>
              <a:t>代码走查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04922" y="4150297"/>
            <a:ext cx="566928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sz="2400" b="1" spc="5" dirty="0">
                <a:latin typeface="华文仿宋"/>
                <a:cs typeface="华文仿宋"/>
              </a:rPr>
              <a:t>在代码</a:t>
            </a:r>
            <a:r>
              <a:rPr sz="2400" b="1" dirty="0">
                <a:latin typeface="华文仿宋"/>
                <a:cs typeface="华文仿宋"/>
              </a:rPr>
              <a:t>编写阶</a:t>
            </a:r>
            <a:r>
              <a:rPr sz="2400" b="1" spc="-10" dirty="0">
                <a:latin typeface="华文仿宋"/>
                <a:cs typeface="华文仿宋"/>
              </a:rPr>
              <a:t>段</a:t>
            </a:r>
            <a:r>
              <a:rPr sz="2400" b="1" dirty="0">
                <a:latin typeface="华文仿宋"/>
                <a:cs typeface="华文仿宋"/>
              </a:rPr>
              <a:t>，开发</a:t>
            </a:r>
            <a:r>
              <a:rPr sz="2400" b="1" spc="-10" dirty="0">
                <a:latin typeface="华文仿宋"/>
                <a:cs typeface="华文仿宋"/>
              </a:rPr>
              <a:t>人</a:t>
            </a:r>
            <a:r>
              <a:rPr sz="2400" b="1" dirty="0">
                <a:latin typeface="华文仿宋"/>
                <a:cs typeface="华文仿宋"/>
              </a:rPr>
              <a:t>员自己</a:t>
            </a:r>
            <a:r>
              <a:rPr sz="2400" b="1" spc="-10" dirty="0">
                <a:latin typeface="华文仿宋"/>
                <a:cs typeface="华文仿宋"/>
              </a:rPr>
              <a:t>检</a:t>
            </a:r>
            <a:r>
              <a:rPr sz="2400" b="1" dirty="0">
                <a:latin typeface="华文仿宋"/>
                <a:cs typeface="华文仿宋"/>
              </a:rPr>
              <a:t>查自</a:t>
            </a:r>
            <a:endParaRPr sz="24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5" dirty="0">
                <a:latin typeface="华文仿宋"/>
                <a:cs typeface="华文仿宋"/>
              </a:rPr>
              <a:t>己的代</a:t>
            </a:r>
            <a:r>
              <a:rPr sz="2400" b="1" spc="-15" dirty="0">
                <a:latin typeface="华文仿宋"/>
                <a:cs typeface="华文仿宋"/>
              </a:rPr>
              <a:t>码</a:t>
            </a:r>
            <a:r>
              <a:rPr sz="1400" b="1" dirty="0">
                <a:latin typeface="华文仿宋"/>
                <a:cs typeface="华文仿宋"/>
              </a:rPr>
              <a:t>。</a:t>
            </a:r>
            <a:endParaRPr sz="1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241" y="232663"/>
            <a:ext cx="72072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情景项目：</a:t>
            </a:r>
            <a:r>
              <a:rPr i="1" dirty="0">
                <a:latin typeface="华文隶书"/>
                <a:cs typeface="华文隶书"/>
              </a:rPr>
              <a:t>SPM</a:t>
            </a:r>
            <a:r>
              <a:rPr dirty="0"/>
              <a:t>代码评审要求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1459" y="6271666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0154" y="2021585"/>
            <a:ext cx="7772400" cy="2921635"/>
          </a:xfrm>
          <a:custGeom>
            <a:avLst/>
            <a:gdLst/>
            <a:ahLst/>
            <a:cxnLst/>
            <a:rect l="l" t="t" r="r" b="b"/>
            <a:pathLst>
              <a:path w="7772400" h="2921635">
                <a:moveTo>
                  <a:pt x="0" y="2921508"/>
                </a:moveTo>
                <a:lnTo>
                  <a:pt x="7772400" y="2921508"/>
                </a:lnTo>
                <a:lnTo>
                  <a:pt x="7772400" y="0"/>
                </a:lnTo>
                <a:lnTo>
                  <a:pt x="0" y="0"/>
                </a:lnTo>
                <a:lnTo>
                  <a:pt x="0" y="2921508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1441" y="1932002"/>
            <a:ext cx="3962400" cy="193928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tabLst>
                <a:tab pos="743585" algn="l"/>
              </a:tabLst>
            </a:pPr>
            <a:r>
              <a:rPr sz="2150" b="1" spc="5" dirty="0">
                <a:solidFill>
                  <a:srgbClr val="DD8046"/>
                </a:solidFill>
                <a:latin typeface="华文仿宋"/>
                <a:cs typeface="华文仿宋"/>
              </a:rPr>
              <a:t>①	</a:t>
            </a:r>
            <a:r>
              <a:rPr sz="3600" b="1" spc="5" dirty="0">
                <a:latin typeface="华文仿宋"/>
                <a:cs typeface="华文仿宋"/>
              </a:rPr>
              <a:t>有</a:t>
            </a:r>
            <a:r>
              <a:rPr sz="3600" b="1" dirty="0">
                <a:latin typeface="华文仿宋"/>
                <a:cs typeface="华文仿宋"/>
              </a:rPr>
              <a:t>人</a:t>
            </a:r>
            <a:r>
              <a:rPr sz="3600" b="1" spc="-5" dirty="0">
                <a:latin typeface="华文仿宋"/>
                <a:cs typeface="华文仿宋"/>
              </a:rPr>
              <a:t>阅读代码</a:t>
            </a:r>
            <a:endParaRPr sz="36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tabLst>
                <a:tab pos="743585" algn="l"/>
              </a:tabLst>
            </a:pPr>
            <a:r>
              <a:rPr sz="2150" b="1" spc="5" dirty="0">
                <a:solidFill>
                  <a:srgbClr val="DD8046"/>
                </a:solidFill>
                <a:latin typeface="华文仿宋"/>
                <a:cs typeface="华文仿宋"/>
              </a:rPr>
              <a:t>②	</a:t>
            </a:r>
            <a:r>
              <a:rPr sz="3600" b="1" spc="5" dirty="0">
                <a:latin typeface="华文仿宋"/>
                <a:cs typeface="华文仿宋"/>
              </a:rPr>
              <a:t>有人提</a:t>
            </a:r>
            <a:r>
              <a:rPr sz="3600" b="1" spc="-5" dirty="0">
                <a:latin typeface="华文仿宋"/>
                <a:cs typeface="华文仿宋"/>
              </a:rPr>
              <a:t>出意见</a:t>
            </a:r>
            <a:endParaRPr sz="36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tabLst>
                <a:tab pos="743585" algn="l"/>
              </a:tabLst>
            </a:pPr>
            <a:r>
              <a:rPr sz="2150" b="1" spc="10" dirty="0">
                <a:solidFill>
                  <a:srgbClr val="DD8046"/>
                </a:solidFill>
                <a:latin typeface="华文仿宋"/>
                <a:cs typeface="华文仿宋"/>
              </a:rPr>
              <a:t>③	</a:t>
            </a:r>
            <a:r>
              <a:rPr sz="3600" b="1" dirty="0">
                <a:latin typeface="华文仿宋"/>
                <a:cs typeface="华文仿宋"/>
              </a:rPr>
              <a:t>有人记</a:t>
            </a:r>
            <a:r>
              <a:rPr sz="3600" b="1" spc="-5" dirty="0">
                <a:latin typeface="华文仿宋"/>
                <a:cs typeface="华文仿宋"/>
              </a:rPr>
              <a:t>录问</a:t>
            </a:r>
            <a:r>
              <a:rPr sz="3600" b="1" dirty="0">
                <a:latin typeface="华文仿宋"/>
                <a:cs typeface="华文仿宋"/>
              </a:rPr>
              <a:t>题</a:t>
            </a:r>
            <a:r>
              <a:rPr sz="3600" b="1" spc="-5" dirty="0">
                <a:latin typeface="华文仿宋"/>
                <a:cs typeface="华文仿宋"/>
              </a:rPr>
              <a:t>等</a:t>
            </a:r>
            <a:endParaRPr sz="36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82955"/>
            <a:ext cx="78111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w Cen MT"/>
                <a:cs typeface="Tw Cen MT"/>
              </a:rPr>
              <a:t>Course</a:t>
            </a:r>
            <a:r>
              <a:rPr sz="3600" spc="-50" dirty="0">
                <a:latin typeface="Tw Cen MT"/>
                <a:cs typeface="Tw Cen MT"/>
              </a:rPr>
              <a:t> </a:t>
            </a:r>
            <a:r>
              <a:rPr sz="3600" dirty="0">
                <a:latin typeface="Tw Cen MT"/>
                <a:cs typeface="Tw Cen MT"/>
              </a:rPr>
              <a:t>findCourse(String){}</a:t>
            </a:r>
            <a:r>
              <a:rPr sz="3600" spc="-65" dirty="0">
                <a:latin typeface="Tw Cen MT"/>
                <a:cs typeface="Tw Cen MT"/>
              </a:rPr>
              <a:t> </a:t>
            </a:r>
            <a:r>
              <a:rPr sz="3600" dirty="0">
                <a:latin typeface="华文仿宋"/>
                <a:cs typeface="华文仿宋"/>
              </a:rPr>
              <a:t>存在风险语句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2130551"/>
            <a:ext cx="8229600" cy="3368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5217" y="3699509"/>
            <a:ext cx="4319270" cy="269875"/>
          </a:xfrm>
          <a:custGeom>
            <a:avLst/>
            <a:gdLst/>
            <a:ahLst/>
            <a:cxnLst/>
            <a:rect l="l" t="t" r="r" b="b"/>
            <a:pathLst>
              <a:path w="4319270" h="269875">
                <a:moveTo>
                  <a:pt x="0" y="269748"/>
                </a:moveTo>
                <a:lnTo>
                  <a:pt x="4319015" y="269748"/>
                </a:lnTo>
                <a:lnTo>
                  <a:pt x="4319015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5217" y="1989582"/>
            <a:ext cx="5615940" cy="1852295"/>
          </a:xfrm>
          <a:custGeom>
            <a:avLst/>
            <a:gdLst/>
            <a:ahLst/>
            <a:cxnLst/>
            <a:rect l="l" t="t" r="r" b="b"/>
            <a:pathLst>
              <a:path w="5615940" h="1852295">
                <a:moveTo>
                  <a:pt x="0" y="231139"/>
                </a:moveTo>
                <a:lnTo>
                  <a:pt x="4696" y="184562"/>
                </a:lnTo>
                <a:lnTo>
                  <a:pt x="18166" y="141178"/>
                </a:lnTo>
                <a:lnTo>
                  <a:pt x="39480" y="101916"/>
                </a:lnTo>
                <a:lnTo>
                  <a:pt x="67706" y="67706"/>
                </a:lnTo>
                <a:lnTo>
                  <a:pt x="101916" y="39480"/>
                </a:lnTo>
                <a:lnTo>
                  <a:pt x="141178" y="18166"/>
                </a:lnTo>
                <a:lnTo>
                  <a:pt x="184562" y="4696"/>
                </a:lnTo>
                <a:lnTo>
                  <a:pt x="231139" y="0"/>
                </a:lnTo>
                <a:lnTo>
                  <a:pt x="935989" y="0"/>
                </a:lnTo>
                <a:lnTo>
                  <a:pt x="2339974" y="0"/>
                </a:lnTo>
                <a:lnTo>
                  <a:pt x="5384800" y="0"/>
                </a:lnTo>
                <a:lnTo>
                  <a:pt x="5431377" y="4696"/>
                </a:lnTo>
                <a:lnTo>
                  <a:pt x="5474761" y="18166"/>
                </a:lnTo>
                <a:lnTo>
                  <a:pt x="5514023" y="39480"/>
                </a:lnTo>
                <a:lnTo>
                  <a:pt x="5548233" y="67706"/>
                </a:lnTo>
                <a:lnTo>
                  <a:pt x="5576459" y="101916"/>
                </a:lnTo>
                <a:lnTo>
                  <a:pt x="5597773" y="141178"/>
                </a:lnTo>
                <a:lnTo>
                  <a:pt x="5611243" y="184562"/>
                </a:lnTo>
                <a:lnTo>
                  <a:pt x="5615939" y="231139"/>
                </a:lnTo>
                <a:lnTo>
                  <a:pt x="5615939" y="808989"/>
                </a:lnTo>
                <a:lnTo>
                  <a:pt x="5615939" y="1155700"/>
                </a:lnTo>
                <a:lnTo>
                  <a:pt x="5611243" y="1202277"/>
                </a:lnTo>
                <a:lnTo>
                  <a:pt x="5597773" y="1245661"/>
                </a:lnTo>
                <a:lnTo>
                  <a:pt x="5576459" y="1284923"/>
                </a:lnTo>
                <a:lnTo>
                  <a:pt x="5548233" y="1319133"/>
                </a:lnTo>
                <a:lnTo>
                  <a:pt x="5514023" y="1347359"/>
                </a:lnTo>
                <a:lnTo>
                  <a:pt x="5474761" y="1368673"/>
                </a:lnTo>
                <a:lnTo>
                  <a:pt x="5431377" y="1382143"/>
                </a:lnTo>
                <a:lnTo>
                  <a:pt x="5384800" y="1386839"/>
                </a:lnTo>
                <a:lnTo>
                  <a:pt x="2339974" y="1386839"/>
                </a:lnTo>
                <a:lnTo>
                  <a:pt x="2006219" y="1852040"/>
                </a:lnTo>
                <a:lnTo>
                  <a:pt x="935989" y="1386839"/>
                </a:lnTo>
                <a:lnTo>
                  <a:pt x="231139" y="1386839"/>
                </a:lnTo>
                <a:lnTo>
                  <a:pt x="184562" y="1382143"/>
                </a:lnTo>
                <a:lnTo>
                  <a:pt x="141178" y="1368673"/>
                </a:lnTo>
                <a:lnTo>
                  <a:pt x="101916" y="1347359"/>
                </a:lnTo>
                <a:lnTo>
                  <a:pt x="67706" y="1319133"/>
                </a:lnTo>
                <a:lnTo>
                  <a:pt x="39480" y="1284923"/>
                </a:lnTo>
                <a:lnTo>
                  <a:pt x="18166" y="1245661"/>
                </a:lnTo>
                <a:lnTo>
                  <a:pt x="4696" y="1202277"/>
                </a:lnTo>
                <a:lnTo>
                  <a:pt x="0" y="1155700"/>
                </a:lnTo>
                <a:lnTo>
                  <a:pt x="0" y="808989"/>
                </a:lnTo>
                <a:lnTo>
                  <a:pt x="0" y="231139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1333" y="2102561"/>
            <a:ext cx="5283835" cy="1125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200"/>
              </a:lnSpc>
              <a:spcBef>
                <a:spcPts val="95"/>
              </a:spcBef>
            </a:pPr>
            <a:r>
              <a:rPr sz="1800" spc="-5" dirty="0">
                <a:solidFill>
                  <a:srgbClr val="FF0000"/>
                </a:solidFill>
                <a:latin typeface="华文仿宋"/>
                <a:cs typeface="华文仿宋"/>
              </a:rPr>
              <a:t>全表遍历语句，这个语句是有风险的，如果数据库中 </a:t>
            </a:r>
            <a:r>
              <a:rPr sz="1800" dirty="0">
                <a:solidFill>
                  <a:srgbClr val="FF0000"/>
                </a:solidFill>
                <a:latin typeface="华文仿宋"/>
                <a:cs typeface="华文仿宋"/>
              </a:rPr>
              <a:t>的记录没有及时清理，采用这种没有条件的查询语句 在一定条件下可以导致系统处理能力急剧下降，直至 死机</a:t>
            </a:r>
            <a:endParaRPr sz="18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3034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QC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dirty="0">
                <a:solidFill>
                  <a:srgbClr val="3333CC"/>
                </a:solidFill>
              </a:rPr>
              <a:t>软件测试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0607" y="6271666"/>
            <a:ext cx="835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222" y="1844801"/>
            <a:ext cx="8153400" cy="4032885"/>
          </a:xfrm>
          <a:custGeom>
            <a:avLst/>
            <a:gdLst/>
            <a:ahLst/>
            <a:cxnLst/>
            <a:rect l="l" t="t" r="r" b="b"/>
            <a:pathLst>
              <a:path w="8153400" h="4032885">
                <a:moveTo>
                  <a:pt x="0" y="4032504"/>
                </a:moveTo>
                <a:lnTo>
                  <a:pt x="8153400" y="4032504"/>
                </a:lnTo>
                <a:lnTo>
                  <a:pt x="8153400" y="0"/>
                </a:lnTo>
                <a:lnTo>
                  <a:pt x="0" y="0"/>
                </a:lnTo>
                <a:lnTo>
                  <a:pt x="0" y="403250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9590" y="1890522"/>
            <a:ext cx="7751445" cy="313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8890" indent="-320040">
              <a:lnSpc>
                <a:spcPct val="100000"/>
              </a:lnSpc>
              <a:spcBef>
                <a:spcPts val="105"/>
              </a:spcBef>
              <a:buAutoNum type="arabicParenBoth"/>
              <a:tabLst>
                <a:tab pos="825500" algn="l"/>
              </a:tabLst>
            </a:pPr>
            <a:r>
              <a:rPr sz="3200" dirty="0">
                <a:latin typeface="黑体"/>
                <a:cs typeface="黑体"/>
              </a:rPr>
              <a:t>测试是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程序的</a:t>
            </a:r>
            <a:r>
              <a:rPr sz="3200" spc="-15" dirty="0">
                <a:solidFill>
                  <a:srgbClr val="0066FF"/>
                </a:solidFill>
                <a:latin typeface="黑体"/>
                <a:cs typeface="黑体"/>
              </a:rPr>
              <a:t>执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行过</a:t>
            </a:r>
            <a:r>
              <a:rPr sz="3200" spc="-20" dirty="0">
                <a:solidFill>
                  <a:srgbClr val="0066FF"/>
                </a:solidFill>
                <a:latin typeface="黑体"/>
                <a:cs typeface="黑体"/>
              </a:rPr>
              <a:t>程</a:t>
            </a:r>
            <a:r>
              <a:rPr sz="3200" dirty="0">
                <a:latin typeface="黑体"/>
                <a:cs typeface="黑体"/>
              </a:rPr>
              <a:t>，目</a:t>
            </a:r>
            <a:r>
              <a:rPr sz="3200" spc="-15" dirty="0">
                <a:latin typeface="黑体"/>
                <a:cs typeface="黑体"/>
              </a:rPr>
              <a:t>的</a:t>
            </a:r>
            <a:r>
              <a:rPr sz="3200" dirty="0">
                <a:latin typeface="黑体"/>
                <a:cs typeface="黑体"/>
              </a:rPr>
              <a:t>在于</a:t>
            </a:r>
            <a:r>
              <a:rPr sz="3200" spc="-15" dirty="0">
                <a:solidFill>
                  <a:srgbClr val="0066FF"/>
                </a:solidFill>
                <a:latin typeface="黑体"/>
                <a:cs typeface="黑体"/>
              </a:rPr>
              <a:t>发现 </a:t>
            </a:r>
            <a:r>
              <a:rPr sz="3200" spc="5" dirty="0">
                <a:solidFill>
                  <a:srgbClr val="0066FF"/>
                </a:solidFill>
                <a:latin typeface="黑体"/>
                <a:cs typeface="黑体"/>
              </a:rPr>
              <a:t>错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误</a:t>
            </a:r>
            <a:r>
              <a:rPr sz="3200" spc="5" dirty="0">
                <a:latin typeface="黑体"/>
                <a:cs typeface="黑体"/>
              </a:rPr>
              <a:t>；</a:t>
            </a:r>
            <a:endParaRPr sz="3200">
              <a:latin typeface="黑体"/>
              <a:cs typeface="黑体"/>
            </a:endParaRPr>
          </a:p>
          <a:p>
            <a:pPr marL="332740" marR="7620" indent="-320040">
              <a:lnSpc>
                <a:spcPct val="100000"/>
              </a:lnSpc>
              <a:spcBef>
                <a:spcPts val="695"/>
              </a:spcBef>
              <a:buAutoNum type="arabicParenBoth"/>
              <a:tabLst>
                <a:tab pos="825500" algn="l"/>
              </a:tabLst>
            </a:pPr>
            <a:r>
              <a:rPr sz="3200" dirty="0">
                <a:latin typeface="黑体"/>
                <a:cs typeface="黑体"/>
              </a:rPr>
              <a:t>一个好</a:t>
            </a:r>
            <a:r>
              <a:rPr sz="3200" spc="-15" dirty="0">
                <a:latin typeface="黑体"/>
                <a:cs typeface="黑体"/>
              </a:rPr>
              <a:t>的</a:t>
            </a:r>
            <a:r>
              <a:rPr sz="3200" dirty="0">
                <a:latin typeface="黑体"/>
                <a:cs typeface="黑体"/>
              </a:rPr>
              <a:t>测试</a:t>
            </a:r>
            <a:r>
              <a:rPr sz="3200" spc="-15" dirty="0">
                <a:latin typeface="黑体"/>
                <a:cs typeface="黑体"/>
              </a:rPr>
              <a:t>用</a:t>
            </a:r>
            <a:r>
              <a:rPr sz="3200" dirty="0">
                <a:latin typeface="黑体"/>
                <a:cs typeface="黑体"/>
              </a:rPr>
              <a:t>例在</a:t>
            </a:r>
            <a:r>
              <a:rPr sz="3200" spc="-10" dirty="0">
                <a:latin typeface="黑体"/>
                <a:cs typeface="黑体"/>
              </a:rPr>
              <a:t>于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能发</a:t>
            </a:r>
            <a:r>
              <a:rPr sz="3200" spc="-15" dirty="0">
                <a:solidFill>
                  <a:srgbClr val="0066FF"/>
                </a:solidFill>
                <a:latin typeface="黑体"/>
                <a:cs typeface="黑体"/>
              </a:rPr>
              <a:t>现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至今</a:t>
            </a:r>
            <a:r>
              <a:rPr sz="3200" spc="-15" dirty="0">
                <a:solidFill>
                  <a:srgbClr val="0066FF"/>
                </a:solidFill>
                <a:latin typeface="黑体"/>
                <a:cs typeface="黑体"/>
              </a:rPr>
              <a:t>未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发 </a:t>
            </a:r>
            <a:r>
              <a:rPr sz="3200" spc="5" dirty="0">
                <a:solidFill>
                  <a:srgbClr val="0066FF"/>
                </a:solidFill>
                <a:latin typeface="黑体"/>
                <a:cs typeface="黑体"/>
              </a:rPr>
              <a:t>现的</a:t>
            </a:r>
            <a:r>
              <a:rPr sz="3200" spc="-10" dirty="0">
                <a:solidFill>
                  <a:srgbClr val="0066FF"/>
                </a:solidFill>
                <a:latin typeface="黑体"/>
                <a:cs typeface="黑体"/>
              </a:rPr>
              <a:t>错</a:t>
            </a:r>
            <a:r>
              <a:rPr sz="3200" spc="-5" dirty="0">
                <a:solidFill>
                  <a:srgbClr val="0066FF"/>
                </a:solidFill>
                <a:latin typeface="黑体"/>
                <a:cs typeface="黑体"/>
              </a:rPr>
              <a:t>误</a:t>
            </a:r>
            <a:r>
              <a:rPr sz="3200" spc="5" dirty="0">
                <a:latin typeface="黑体"/>
                <a:cs typeface="黑体"/>
              </a:rPr>
              <a:t>；</a:t>
            </a:r>
            <a:endParaRPr sz="3200">
              <a:latin typeface="黑体"/>
              <a:cs typeface="黑体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AutoNum type="arabicParenBoth"/>
              <a:tabLst>
                <a:tab pos="825500" algn="l"/>
              </a:tabLst>
            </a:pPr>
            <a:r>
              <a:rPr sz="3200" dirty="0">
                <a:latin typeface="黑体"/>
                <a:cs typeface="黑体"/>
              </a:rPr>
              <a:t>一个成</a:t>
            </a:r>
            <a:r>
              <a:rPr sz="3200" spc="-15" dirty="0">
                <a:latin typeface="黑体"/>
                <a:cs typeface="黑体"/>
              </a:rPr>
              <a:t>功</a:t>
            </a:r>
            <a:r>
              <a:rPr sz="3200" dirty="0">
                <a:latin typeface="黑体"/>
                <a:cs typeface="黑体"/>
              </a:rPr>
              <a:t>的测</a:t>
            </a:r>
            <a:r>
              <a:rPr sz="3200" spc="-15" dirty="0">
                <a:latin typeface="黑体"/>
                <a:cs typeface="黑体"/>
              </a:rPr>
              <a:t>试</a:t>
            </a:r>
            <a:r>
              <a:rPr sz="3200" dirty="0">
                <a:latin typeface="黑体"/>
                <a:cs typeface="黑体"/>
              </a:rPr>
              <a:t>是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发现了至</a:t>
            </a:r>
            <a:r>
              <a:rPr sz="3200" spc="-15" dirty="0">
                <a:solidFill>
                  <a:srgbClr val="0066FF"/>
                </a:solidFill>
                <a:latin typeface="黑体"/>
                <a:cs typeface="黑体"/>
              </a:rPr>
              <a:t>今</a:t>
            </a:r>
            <a:r>
              <a:rPr sz="3200" dirty="0">
                <a:solidFill>
                  <a:srgbClr val="0066FF"/>
                </a:solidFill>
                <a:latin typeface="黑体"/>
                <a:cs typeface="黑体"/>
              </a:rPr>
              <a:t>未发现的 错误的测</a:t>
            </a:r>
            <a:r>
              <a:rPr sz="3200" spc="-10" dirty="0">
                <a:solidFill>
                  <a:srgbClr val="0066FF"/>
                </a:solidFill>
                <a:latin typeface="黑体"/>
                <a:cs typeface="黑体"/>
              </a:rPr>
              <a:t>试</a:t>
            </a:r>
            <a:r>
              <a:rPr sz="3200" dirty="0">
                <a:latin typeface="黑体"/>
                <a:cs typeface="黑体"/>
              </a:rPr>
              <a:t>。</a:t>
            </a:r>
            <a:endParaRPr sz="3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75081"/>
            <a:ext cx="7548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华文新魏"/>
                <a:cs typeface="华文新魏"/>
              </a:rPr>
              <a:t>借助工</a:t>
            </a:r>
            <a:r>
              <a:rPr sz="4000" spc="985" dirty="0">
                <a:latin typeface="华文新魏"/>
                <a:cs typeface="华文新魏"/>
              </a:rPr>
              <a:t>具</a:t>
            </a:r>
            <a:r>
              <a:rPr sz="4000" spc="-5" dirty="0">
                <a:latin typeface="华文新魏"/>
                <a:cs typeface="华文新魏"/>
              </a:rPr>
              <a:t>(Findbugs)检查代码</a:t>
            </a:r>
            <a:r>
              <a:rPr sz="4000" dirty="0">
                <a:latin typeface="华文新魏"/>
                <a:cs typeface="华文新魏"/>
              </a:rPr>
              <a:t>质</a:t>
            </a:r>
            <a:r>
              <a:rPr sz="4000" spc="-5" dirty="0">
                <a:latin typeface="华文新魏"/>
                <a:cs typeface="华文新魏"/>
              </a:rPr>
              <a:t>量</a:t>
            </a:r>
            <a:endParaRPr sz="4000">
              <a:latin typeface="华文新魏"/>
              <a:cs typeface="华文新魏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4691" y="2057400"/>
            <a:ext cx="7214616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75081"/>
            <a:ext cx="7548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华文新魏"/>
                <a:cs typeface="华文新魏"/>
              </a:rPr>
              <a:t>借助工</a:t>
            </a:r>
            <a:r>
              <a:rPr sz="4000" spc="985" dirty="0">
                <a:latin typeface="华文新魏"/>
                <a:cs typeface="华文新魏"/>
              </a:rPr>
              <a:t>具</a:t>
            </a:r>
            <a:r>
              <a:rPr sz="4000" spc="-5" dirty="0">
                <a:latin typeface="华文新魏"/>
                <a:cs typeface="华文新魏"/>
              </a:rPr>
              <a:t>(Findbugs)检查代码</a:t>
            </a:r>
            <a:r>
              <a:rPr sz="4000" dirty="0">
                <a:latin typeface="华文新魏"/>
                <a:cs typeface="华文新魏"/>
              </a:rPr>
              <a:t>质</a:t>
            </a:r>
            <a:r>
              <a:rPr sz="4000" spc="-5" dirty="0">
                <a:latin typeface="华文新魏"/>
                <a:cs typeface="华文新魏"/>
              </a:rPr>
              <a:t>量</a:t>
            </a:r>
            <a:endParaRPr sz="4000">
              <a:latin typeface="华文新魏"/>
              <a:cs typeface="华文新魏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6216" y="2057400"/>
            <a:ext cx="7211568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19157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QC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dirty="0"/>
              <a:t>返工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28008" y="6176873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2134361"/>
            <a:ext cx="8153400" cy="18288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0805" marR="32829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返工是将有缺陷的和不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合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格项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改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造为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与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需求 和规格一致的行为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17" y="232663"/>
            <a:ext cx="41529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QC</a:t>
            </a:r>
            <a:r>
              <a:rPr dirty="0"/>
              <a:t>手段</a:t>
            </a:r>
            <a:r>
              <a:rPr i="1" spc="-5" dirty="0">
                <a:latin typeface="华文隶书"/>
                <a:cs typeface="华文隶书"/>
              </a:rPr>
              <a:t>:</a:t>
            </a:r>
            <a:r>
              <a:rPr dirty="0"/>
              <a:t>控制图法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965" y="5165597"/>
            <a:ext cx="8964295" cy="137795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 marR="331470">
              <a:lnSpc>
                <a:spcPct val="99100"/>
              </a:lnSpc>
              <a:spcBef>
                <a:spcPts val="190"/>
              </a:spcBef>
            </a:pPr>
            <a:r>
              <a:rPr sz="2400" dirty="0">
                <a:latin typeface="华文新魏"/>
                <a:cs typeface="华文新魏"/>
              </a:rPr>
              <a:t>控制图法是一种图形的控制方法，它显示软件产品的质量随着时 </a:t>
            </a:r>
            <a:r>
              <a:rPr sz="2400" spc="-5" dirty="0">
                <a:latin typeface="华文新魏"/>
                <a:cs typeface="华文新魏"/>
              </a:rPr>
              <a:t>间变化的情况，</a:t>
            </a:r>
            <a:r>
              <a:rPr sz="2400" dirty="0">
                <a:latin typeface="华文新魏"/>
                <a:cs typeface="华文新魏"/>
              </a:rPr>
              <a:t>在</a:t>
            </a:r>
            <a:r>
              <a:rPr sz="2400" spc="-5" dirty="0">
                <a:latin typeface="华文新魏"/>
                <a:cs typeface="华文新魏"/>
              </a:rPr>
              <a:t>控制图法中标识出质量控制的偏差标</a:t>
            </a:r>
            <a:r>
              <a:rPr sz="2400" spc="5" dirty="0">
                <a:latin typeface="华文新魏"/>
                <a:cs typeface="华文新魏"/>
              </a:rPr>
              <a:t>准</a:t>
            </a:r>
            <a:r>
              <a:rPr sz="2800" spc="-5" dirty="0">
                <a:latin typeface="华文新魏"/>
                <a:cs typeface="华文新魏"/>
              </a:rPr>
              <a:t>。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1510283"/>
            <a:ext cx="7127748" cy="3654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232663"/>
            <a:ext cx="41541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QC</a:t>
            </a:r>
            <a:r>
              <a:rPr dirty="0"/>
              <a:t>手段</a:t>
            </a:r>
            <a:r>
              <a:rPr i="1" spc="-5" dirty="0">
                <a:latin typeface="华文隶书"/>
                <a:cs typeface="华文隶书"/>
              </a:rPr>
              <a:t>:</a:t>
            </a:r>
            <a:r>
              <a:rPr dirty="0"/>
              <a:t>控制图法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9" y="1612391"/>
            <a:ext cx="8569452" cy="5081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165" y="136982"/>
            <a:ext cx="4154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spc="-5" dirty="0">
                <a:latin typeface="华文隶书"/>
                <a:cs typeface="华文隶书"/>
              </a:rPr>
              <a:t>Q</a:t>
            </a:r>
            <a:r>
              <a:rPr i="1" dirty="0">
                <a:latin typeface="华文隶书"/>
                <a:cs typeface="华文隶书"/>
              </a:rPr>
              <a:t>C</a:t>
            </a:r>
            <a:r>
              <a:rPr dirty="0"/>
              <a:t>手段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spc="5" dirty="0"/>
              <a:t>趋势分析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002" y="5118353"/>
            <a:ext cx="8516620" cy="146939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90805" marR="302260">
              <a:lnSpc>
                <a:spcPct val="100000"/>
              </a:lnSpc>
              <a:spcBef>
                <a:spcPts val="140"/>
              </a:spcBef>
            </a:pPr>
            <a:r>
              <a:rPr sz="2900" dirty="0">
                <a:latin typeface="华文新魏"/>
                <a:cs typeface="华文新魏"/>
              </a:rPr>
              <a:t>趋势分析指运用数字技</a:t>
            </a:r>
            <a:r>
              <a:rPr sz="2900" spc="-10" dirty="0">
                <a:latin typeface="华文新魏"/>
                <a:cs typeface="华文新魏"/>
              </a:rPr>
              <a:t>巧</a:t>
            </a:r>
            <a:r>
              <a:rPr sz="2900" dirty="0">
                <a:latin typeface="华文新魏"/>
                <a:cs typeface="华文新魏"/>
              </a:rPr>
              <a:t>，依</a:t>
            </a:r>
            <a:r>
              <a:rPr sz="2900" spc="-10" dirty="0">
                <a:latin typeface="华文新魏"/>
                <a:cs typeface="华文新魏"/>
              </a:rPr>
              <a:t>据</a:t>
            </a:r>
            <a:r>
              <a:rPr sz="2900" dirty="0">
                <a:latin typeface="华文新魏"/>
                <a:cs typeface="华文新魏"/>
              </a:rPr>
              <a:t>过去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成果</a:t>
            </a:r>
            <a:r>
              <a:rPr sz="2900" spc="-10" dirty="0">
                <a:latin typeface="华文新魏"/>
                <a:cs typeface="华文新魏"/>
              </a:rPr>
              <a:t>预</a:t>
            </a:r>
            <a:r>
              <a:rPr sz="2900" dirty="0">
                <a:latin typeface="华文新魏"/>
                <a:cs typeface="华文新魏"/>
              </a:rPr>
              <a:t>测将 </a:t>
            </a:r>
            <a:r>
              <a:rPr sz="2900" spc="5" dirty="0">
                <a:latin typeface="华文新魏"/>
                <a:cs typeface="华文新魏"/>
              </a:rPr>
              <a:t>来的产品。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63267" y="1568507"/>
            <a:ext cx="5714598" cy="34545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16" y="136982"/>
            <a:ext cx="41529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spc="-5" dirty="0">
                <a:latin typeface="华文隶书"/>
                <a:cs typeface="华文隶书"/>
              </a:rPr>
              <a:t>Q</a:t>
            </a:r>
            <a:r>
              <a:rPr i="1" dirty="0">
                <a:latin typeface="华文隶书"/>
                <a:cs typeface="华文隶书"/>
              </a:rPr>
              <a:t>C</a:t>
            </a:r>
            <a:r>
              <a:rPr dirty="0"/>
              <a:t>手</a:t>
            </a:r>
            <a:r>
              <a:rPr spc="5" dirty="0"/>
              <a:t>段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dirty="0"/>
              <a:t>抽样统计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365" y="4389882"/>
            <a:ext cx="8766175" cy="207137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410209" marR="168275" indent="-15240" algn="just">
              <a:lnSpc>
                <a:spcPct val="99900"/>
              </a:lnSpc>
              <a:spcBef>
                <a:spcPts val="280"/>
              </a:spcBef>
            </a:pP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抽样统计是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根据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一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定的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分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布概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率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抽取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部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分产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品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进行检 </a:t>
            </a:r>
            <a:r>
              <a:rPr sz="2800" b="1" dirty="0">
                <a:solidFill>
                  <a:srgbClr val="B85B21"/>
                </a:solidFill>
                <a:latin typeface="华文新魏"/>
                <a:cs typeface="华文新魏"/>
              </a:rPr>
              <a:t>查。它是以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小批量的抽</a:t>
            </a:r>
            <a:r>
              <a:rPr sz="2800" b="1" dirty="0">
                <a:solidFill>
                  <a:srgbClr val="B85B21"/>
                </a:solidFill>
                <a:latin typeface="华文新魏"/>
                <a:cs typeface="华文新魏"/>
              </a:rPr>
              <a:t>样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为基准进行</a:t>
            </a:r>
            <a:r>
              <a:rPr sz="2800" b="1" dirty="0">
                <a:solidFill>
                  <a:srgbClr val="B85B21"/>
                </a:solidFill>
                <a:latin typeface="华文新魏"/>
                <a:cs typeface="华文新魏"/>
              </a:rPr>
              <a:t>检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验，以确定大 量或批量产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品质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量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的最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常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使用</a:t>
            </a:r>
            <a:r>
              <a:rPr sz="2800" b="1" spc="-5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800" b="1" spc="-10" dirty="0">
                <a:solidFill>
                  <a:srgbClr val="B85B21"/>
                </a:solidFill>
                <a:latin typeface="华文新魏"/>
                <a:cs typeface="华文新魏"/>
              </a:rPr>
              <a:t>方法。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3998" y="1636776"/>
            <a:ext cx="7908622" cy="2353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敏捷项目质量管理过程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612648" y="1600200"/>
            <a:ext cx="8153400" cy="3124200"/>
          </a:xfrm>
          <a:custGeom>
            <a:avLst/>
            <a:gdLst/>
            <a:ahLst/>
            <a:cxnLst/>
            <a:rect l="l" t="t" r="r" b="b"/>
            <a:pathLst>
              <a:path w="8153400" h="3124200">
                <a:moveTo>
                  <a:pt x="0" y="3124200"/>
                </a:moveTo>
                <a:lnTo>
                  <a:pt x="8153400" y="3124200"/>
                </a:lnTo>
                <a:lnTo>
                  <a:pt x="8153400" y="0"/>
                </a:lnTo>
                <a:lnTo>
                  <a:pt x="0" y="0"/>
                </a:lnTo>
                <a:lnTo>
                  <a:pt x="0" y="3124200"/>
                </a:lnTo>
                <a:close/>
              </a:path>
            </a:pathLst>
          </a:custGeom>
          <a:solidFill>
            <a:srgbClr val="C9DC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517116"/>
            <a:ext cx="7718425" cy="26790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不断进行审核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定期检查质量过程的效果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建议实施新的质量改进</a:t>
            </a:r>
            <a:r>
              <a:rPr sz="2900" spc="-10" dirty="0">
                <a:latin typeface="华文新魏"/>
                <a:cs typeface="华文新魏"/>
              </a:rPr>
              <a:t>方</a:t>
            </a:r>
            <a:r>
              <a:rPr sz="2900" spc="5" dirty="0">
                <a:latin typeface="华文新魏"/>
                <a:cs typeface="华文新魏"/>
              </a:rPr>
              <a:t>法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回顾会议评估试验过程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小批量工作以便</a:t>
            </a:r>
            <a:r>
              <a:rPr sz="2900" spc="5" dirty="0">
                <a:latin typeface="华文新魏"/>
                <a:cs typeface="华文新魏"/>
              </a:rPr>
              <a:t>在早期</a:t>
            </a:r>
            <a:r>
              <a:rPr sz="2900" spc="-20" dirty="0">
                <a:latin typeface="华文新魏"/>
                <a:cs typeface="华文新魏"/>
              </a:rPr>
              <a:t>发</a:t>
            </a:r>
            <a:r>
              <a:rPr sz="2900" spc="5" dirty="0">
                <a:latin typeface="华文新魏"/>
                <a:cs typeface="华文新魏"/>
              </a:rPr>
              <a:t>现不</a:t>
            </a:r>
            <a:r>
              <a:rPr sz="2900" spc="-20" dirty="0">
                <a:latin typeface="华文新魏"/>
                <a:cs typeface="华文新魏"/>
              </a:rPr>
              <a:t>一</a:t>
            </a:r>
            <a:r>
              <a:rPr sz="2900" spc="5" dirty="0">
                <a:latin typeface="华文新魏"/>
                <a:cs typeface="华文新魏"/>
              </a:rPr>
              <a:t>致和</a:t>
            </a:r>
            <a:r>
              <a:rPr sz="2900" spc="-20" dirty="0">
                <a:latin typeface="华文新魏"/>
                <a:cs typeface="华文新魏"/>
              </a:rPr>
              <a:t>质</a:t>
            </a:r>
            <a:r>
              <a:rPr sz="2900" spc="5" dirty="0">
                <a:latin typeface="华文新魏"/>
                <a:cs typeface="华文新魏"/>
              </a:rPr>
              <a:t>量问题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2346" y="6142735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502996"/>
            <a:ext cx="5059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新魏"/>
                <a:cs typeface="华文新魏"/>
              </a:rPr>
              <a:t>敏捷项目的质量活动</a:t>
            </a:r>
          </a:p>
        </p:txBody>
      </p:sp>
      <p:sp>
        <p:nvSpPr>
          <p:cNvPr id="3" name="object 3"/>
          <p:cNvSpPr/>
          <p:nvPr/>
        </p:nvSpPr>
        <p:spPr>
          <a:xfrm>
            <a:off x="372618" y="1629917"/>
            <a:ext cx="8364220" cy="4307205"/>
          </a:xfrm>
          <a:custGeom>
            <a:avLst/>
            <a:gdLst/>
            <a:ahLst/>
            <a:cxnLst/>
            <a:rect l="l" t="t" r="r" b="b"/>
            <a:pathLst>
              <a:path w="8364220" h="4307205">
                <a:moveTo>
                  <a:pt x="0" y="4306824"/>
                </a:moveTo>
                <a:lnTo>
                  <a:pt x="8363711" y="4306824"/>
                </a:lnTo>
                <a:lnTo>
                  <a:pt x="8363711" y="0"/>
                </a:lnTo>
                <a:lnTo>
                  <a:pt x="0" y="0"/>
                </a:lnTo>
                <a:lnTo>
                  <a:pt x="0" y="4306824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0291" y="1545167"/>
            <a:ext cx="7027545" cy="3754754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10" dirty="0">
                <a:latin typeface="华文新魏"/>
                <a:cs typeface="华文新魏"/>
              </a:rPr>
              <a:t>代码检</a:t>
            </a:r>
            <a:r>
              <a:rPr sz="2800" spc="-5" dirty="0">
                <a:latin typeface="华文新魏"/>
                <a:cs typeface="华文新魏"/>
              </a:rPr>
              <a:t>查:Pair</a:t>
            </a:r>
            <a:r>
              <a:rPr sz="2800" spc="1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Programming</a:t>
            </a:r>
            <a:endParaRPr sz="28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TDD(Test Driven</a:t>
            </a:r>
            <a:r>
              <a:rPr sz="2800" spc="15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Development)</a:t>
            </a:r>
            <a:endParaRPr sz="28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10" dirty="0">
                <a:latin typeface="华文新魏"/>
                <a:cs typeface="华文新魏"/>
              </a:rPr>
              <a:t>持续集成</a:t>
            </a:r>
            <a:endParaRPr sz="28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不同层面测试</a:t>
            </a:r>
            <a:endParaRPr sz="28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迭代评审</a:t>
            </a:r>
            <a:endParaRPr sz="32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验收测试驱动开发（ATDD)</a:t>
            </a:r>
            <a:r>
              <a:rPr sz="2800" spc="3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-</a:t>
            </a:r>
            <a:r>
              <a:rPr sz="2800" spc="-15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Customer</a:t>
            </a:r>
            <a:r>
              <a:rPr sz="2800" spc="1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test</a:t>
            </a:r>
            <a:endParaRPr sz="28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迭代回顾会议:</a:t>
            </a:r>
            <a:r>
              <a:rPr sz="3200" spc="-120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Refactor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3788" y="212427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8339" y="1842516"/>
            <a:ext cx="50609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3788" y="308350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8339" y="2802635"/>
            <a:ext cx="483234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5311" y="40442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8339" y="3762755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5311" y="500552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339" y="4722876"/>
            <a:ext cx="485140" cy="86741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4307" y="1842516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56944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范围管</a:t>
            </a: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理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-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1448" y="280263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84785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时间和成本管理-</a:t>
            </a:r>
            <a:r>
              <a:rPr sz="2000" b="1" spc="-3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2972" y="3762755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01346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质量管理-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传统与敏捷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2972" y="4722876"/>
            <a:ext cx="4630420" cy="86741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R="407034" algn="ctr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4696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医疗信息商务平台案例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844" y="2133600"/>
            <a:ext cx="7876032" cy="3959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36547" y="2427808"/>
            <a:ext cx="5303520" cy="228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5"/>
              </a:spcBef>
            </a:pPr>
            <a:r>
              <a:rPr sz="4000" b="1" u="heavy" spc="-10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核心计划执行控制案例</a:t>
            </a:r>
            <a:endParaRPr sz="4000">
              <a:latin typeface="方正姚体"/>
              <a:cs typeface="方正姚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spcBef>
                <a:spcPts val="5"/>
              </a:spcBef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u="heavy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MED范围执行控制</a:t>
            </a:r>
            <a:r>
              <a:rPr sz="3600" u="heavy" spc="105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 </a:t>
            </a:r>
            <a:endParaRPr sz="3600">
              <a:latin typeface="华文新魏"/>
              <a:cs typeface="华文新魏"/>
            </a:endParaRPr>
          </a:p>
          <a:p>
            <a:pPr marL="376555" indent="-364490">
              <a:lnSpc>
                <a:spcPct val="100000"/>
              </a:lnSpc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dirty="0">
                <a:solidFill>
                  <a:srgbClr val="B85B21"/>
                </a:solidFill>
                <a:latin typeface="华文新魏"/>
                <a:cs typeface="华文新魏"/>
              </a:rPr>
              <a:t>MED成本时间执</a:t>
            </a:r>
            <a:r>
              <a:rPr sz="3600" spc="-10" dirty="0">
                <a:solidFill>
                  <a:srgbClr val="B85B21"/>
                </a:solidFill>
                <a:latin typeface="华文新魏"/>
                <a:cs typeface="华文新魏"/>
              </a:rPr>
              <a:t>行</a:t>
            </a:r>
            <a:r>
              <a:rPr sz="3600" spc="-5" dirty="0">
                <a:solidFill>
                  <a:srgbClr val="B85B21"/>
                </a:solidFill>
                <a:latin typeface="华文新魏"/>
                <a:cs typeface="华文新魏"/>
              </a:rPr>
              <a:t>控制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51498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的迭代开发流程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4809" y="2209075"/>
            <a:ext cx="7563192" cy="2856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41" y="232663"/>
            <a:ext cx="34728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范围变更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98777" y="1496566"/>
            <a:ext cx="6486398" cy="5347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59586" y="2565654"/>
            <a:ext cx="6337300" cy="935990"/>
          </a:xfrm>
          <a:custGeom>
            <a:avLst/>
            <a:gdLst/>
            <a:ahLst/>
            <a:cxnLst/>
            <a:rect l="l" t="t" r="r" b="b"/>
            <a:pathLst>
              <a:path w="6337300" h="935989">
                <a:moveTo>
                  <a:pt x="0" y="935736"/>
                </a:moveTo>
                <a:lnTo>
                  <a:pt x="6336792" y="935736"/>
                </a:lnTo>
                <a:lnTo>
                  <a:pt x="6336792" y="0"/>
                </a:lnTo>
                <a:lnTo>
                  <a:pt x="0" y="0"/>
                </a:lnTo>
                <a:lnTo>
                  <a:pt x="0" y="93573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9586" y="3501390"/>
            <a:ext cx="6337300" cy="935990"/>
          </a:xfrm>
          <a:custGeom>
            <a:avLst/>
            <a:gdLst/>
            <a:ahLst/>
            <a:cxnLst/>
            <a:rect l="l" t="t" r="r" b="b"/>
            <a:pathLst>
              <a:path w="6337300" h="935989">
                <a:moveTo>
                  <a:pt x="0" y="935736"/>
                </a:moveTo>
                <a:lnTo>
                  <a:pt x="6336792" y="935736"/>
                </a:lnTo>
                <a:lnTo>
                  <a:pt x="6336792" y="0"/>
                </a:lnTo>
                <a:lnTo>
                  <a:pt x="0" y="0"/>
                </a:lnTo>
                <a:lnTo>
                  <a:pt x="0" y="93573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4366" y="4725161"/>
            <a:ext cx="6337300" cy="1225550"/>
          </a:xfrm>
          <a:custGeom>
            <a:avLst/>
            <a:gdLst/>
            <a:ahLst/>
            <a:cxnLst/>
            <a:rect l="l" t="t" r="r" b="b"/>
            <a:pathLst>
              <a:path w="6337300" h="1225550">
                <a:moveTo>
                  <a:pt x="0" y="1225296"/>
                </a:moveTo>
                <a:lnTo>
                  <a:pt x="6336792" y="1225296"/>
                </a:lnTo>
                <a:lnTo>
                  <a:pt x="6336792" y="0"/>
                </a:lnTo>
                <a:lnTo>
                  <a:pt x="0" y="0"/>
                </a:lnTo>
                <a:lnTo>
                  <a:pt x="0" y="122529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4696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医疗信息商务平台案例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844" y="2133600"/>
            <a:ext cx="7876032" cy="3959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36547" y="2427808"/>
            <a:ext cx="5303520" cy="228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5"/>
              </a:spcBef>
            </a:pPr>
            <a:r>
              <a:rPr sz="4000" b="1" u="heavy" spc="-10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核心计划执行控制案例</a:t>
            </a:r>
            <a:endParaRPr sz="4000">
              <a:latin typeface="方正姚体"/>
              <a:cs typeface="方正姚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spcBef>
                <a:spcPts val="5"/>
              </a:spcBef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dirty="0">
                <a:solidFill>
                  <a:srgbClr val="B85B21"/>
                </a:solidFill>
                <a:latin typeface="华文新魏"/>
                <a:cs typeface="华文新魏"/>
              </a:rPr>
              <a:t>MED范围执行控制</a:t>
            </a:r>
            <a:endParaRPr sz="3600">
              <a:latin typeface="华文新魏"/>
              <a:cs typeface="华文新魏"/>
            </a:endParaRPr>
          </a:p>
          <a:p>
            <a:pPr marL="376555" indent="-364490">
              <a:lnSpc>
                <a:spcPct val="100000"/>
              </a:lnSpc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u="heavy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MED成本时间执</a:t>
            </a:r>
            <a:r>
              <a:rPr sz="3600" u="heavy" spc="-10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行</a:t>
            </a:r>
            <a:r>
              <a:rPr sz="3600" u="heavy" spc="-5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控制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47675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燃尽图</a:t>
            </a:r>
            <a:r>
              <a:rPr spc="-5" dirty="0"/>
              <a:t>：</a:t>
            </a:r>
            <a:r>
              <a:rPr i="1" spc="-5" dirty="0">
                <a:latin typeface="华文隶书"/>
                <a:cs typeface="华文隶书"/>
              </a:rPr>
              <a:t>7</a:t>
            </a:r>
            <a:r>
              <a:rPr spc="-5" dirty="0"/>
              <a:t>：</a:t>
            </a:r>
            <a:r>
              <a:rPr i="1" spc="-5" dirty="0">
                <a:latin typeface="华文隶书"/>
                <a:cs typeface="华文隶书"/>
              </a:rPr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2896" y="4963667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2896" y="464820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2896" y="4331208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2896" y="401574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2896" y="3698747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2896" y="3383279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2896" y="3066288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72896" y="275082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2896" y="2433827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2896" y="211836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2896" y="2118360"/>
            <a:ext cx="0" cy="3161030"/>
          </a:xfrm>
          <a:custGeom>
            <a:avLst/>
            <a:gdLst/>
            <a:ahLst/>
            <a:cxnLst/>
            <a:rect l="l" t="t" r="r" b="b"/>
            <a:pathLst>
              <a:path h="3161029">
                <a:moveTo>
                  <a:pt x="0" y="3160776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33272" y="5279135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33272" y="496366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33272" y="464820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33272" y="433120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33272" y="401574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33272" y="369874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33272" y="338327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33272" y="306628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33272" y="275082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33272" y="243382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33272" y="211836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72896" y="5279135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72896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58695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46020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33344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19144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06467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192267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79591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66916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52716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40040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25840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16558" y="2119122"/>
            <a:ext cx="4119879" cy="2212975"/>
          </a:xfrm>
          <a:custGeom>
            <a:avLst/>
            <a:gdLst/>
            <a:ahLst/>
            <a:cxnLst/>
            <a:rect l="l" t="t" r="r" b="b"/>
            <a:pathLst>
              <a:path w="4119879" h="2212975">
                <a:moveTo>
                  <a:pt x="0" y="0"/>
                </a:moveTo>
                <a:lnTo>
                  <a:pt x="685799" y="315467"/>
                </a:lnTo>
                <a:lnTo>
                  <a:pt x="1373123" y="630936"/>
                </a:lnTo>
                <a:lnTo>
                  <a:pt x="2058924" y="947927"/>
                </a:lnTo>
                <a:lnTo>
                  <a:pt x="2746247" y="1263395"/>
                </a:lnTo>
                <a:lnTo>
                  <a:pt x="3433571" y="1580388"/>
                </a:lnTo>
                <a:lnTo>
                  <a:pt x="4119371" y="2212847"/>
                </a:lnTo>
              </a:path>
            </a:pathLst>
          </a:custGeom>
          <a:ln w="2895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367155" y="2069592"/>
            <a:ext cx="97535" cy="97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54479" y="2385060"/>
            <a:ext cx="97536" cy="97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40279" y="2702051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27603" y="3017520"/>
            <a:ext cx="97536" cy="975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14927" y="3334511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00727" y="3649979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88051" y="4282440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82853" y="2020950"/>
            <a:ext cx="292100" cy="334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 Narrow"/>
                <a:cs typeface="Arial Narrow"/>
              </a:rPr>
              <a:t>100%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90%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80%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70%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60%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50%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40%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30%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20%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10%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0%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54976" y="5454253"/>
            <a:ext cx="523875" cy="524510"/>
          </a:xfrm>
          <a:custGeom>
            <a:avLst/>
            <a:gdLst/>
            <a:ahLst/>
            <a:cxnLst/>
            <a:rect l="l" t="t" r="r" b="b"/>
            <a:pathLst>
              <a:path w="523875" h="524510">
                <a:moveTo>
                  <a:pt x="31089" y="438089"/>
                </a:moveTo>
                <a:lnTo>
                  <a:pt x="20967" y="439143"/>
                </a:lnTo>
                <a:lnTo>
                  <a:pt x="21666" y="445430"/>
                </a:lnTo>
                <a:lnTo>
                  <a:pt x="8381" y="458701"/>
                </a:lnTo>
                <a:lnTo>
                  <a:pt x="0" y="461495"/>
                </a:lnTo>
                <a:lnTo>
                  <a:pt x="4455" y="465643"/>
                </a:lnTo>
                <a:lnTo>
                  <a:pt x="10831" y="471801"/>
                </a:lnTo>
                <a:lnTo>
                  <a:pt x="39810" y="500652"/>
                </a:lnTo>
                <a:lnTo>
                  <a:pt x="62534" y="524043"/>
                </a:lnTo>
                <a:lnTo>
                  <a:pt x="64985" y="516004"/>
                </a:lnTo>
                <a:lnTo>
                  <a:pt x="57645" y="508663"/>
                </a:lnTo>
                <a:lnTo>
                  <a:pt x="59740" y="506568"/>
                </a:lnTo>
                <a:lnTo>
                  <a:pt x="55549" y="506568"/>
                </a:lnTo>
                <a:lnTo>
                  <a:pt x="33185" y="484216"/>
                </a:lnTo>
                <a:lnTo>
                  <a:pt x="35293" y="482107"/>
                </a:lnTo>
                <a:lnTo>
                  <a:pt x="31089" y="482107"/>
                </a:lnTo>
                <a:lnTo>
                  <a:pt x="10134" y="461152"/>
                </a:lnTo>
                <a:lnTo>
                  <a:pt x="24460" y="446827"/>
                </a:lnTo>
                <a:lnTo>
                  <a:pt x="34239" y="446827"/>
                </a:lnTo>
                <a:lnTo>
                  <a:pt x="30746" y="443334"/>
                </a:lnTo>
                <a:lnTo>
                  <a:pt x="31089" y="438089"/>
                </a:lnTo>
                <a:close/>
              </a:path>
              <a:path w="523875" h="524510">
                <a:moveTo>
                  <a:pt x="57302" y="469890"/>
                </a:moveTo>
                <a:lnTo>
                  <a:pt x="47510" y="469890"/>
                </a:lnTo>
                <a:lnTo>
                  <a:pt x="69875" y="492242"/>
                </a:lnTo>
                <a:lnTo>
                  <a:pt x="55549" y="506568"/>
                </a:lnTo>
                <a:lnTo>
                  <a:pt x="59740" y="506568"/>
                </a:lnTo>
                <a:lnTo>
                  <a:pt x="71970" y="494337"/>
                </a:lnTo>
                <a:lnTo>
                  <a:pt x="81089" y="494337"/>
                </a:lnTo>
                <a:lnTo>
                  <a:pt x="81406" y="493296"/>
                </a:lnTo>
                <a:lnTo>
                  <a:pt x="77950" y="490146"/>
                </a:lnTo>
                <a:lnTo>
                  <a:pt x="73283" y="485694"/>
                </a:lnTo>
                <a:lnTo>
                  <a:pt x="67060" y="479603"/>
                </a:lnTo>
                <a:lnTo>
                  <a:pt x="57302" y="469890"/>
                </a:lnTo>
                <a:close/>
              </a:path>
              <a:path w="523875" h="524510">
                <a:moveTo>
                  <a:pt x="81089" y="494337"/>
                </a:moveTo>
                <a:lnTo>
                  <a:pt x="71970" y="494337"/>
                </a:lnTo>
                <a:lnTo>
                  <a:pt x="78955" y="501335"/>
                </a:lnTo>
                <a:lnTo>
                  <a:pt x="81089" y="494337"/>
                </a:lnTo>
                <a:close/>
              </a:path>
              <a:path w="523875" h="524510">
                <a:moveTo>
                  <a:pt x="79654" y="420970"/>
                </a:moveTo>
                <a:lnTo>
                  <a:pt x="69875" y="420970"/>
                </a:lnTo>
                <a:lnTo>
                  <a:pt x="116116" y="467210"/>
                </a:lnTo>
                <a:lnTo>
                  <a:pt x="116700" y="469420"/>
                </a:lnTo>
                <a:lnTo>
                  <a:pt x="113893" y="473141"/>
                </a:lnTo>
                <a:lnTo>
                  <a:pt x="109588" y="476761"/>
                </a:lnTo>
                <a:lnTo>
                  <a:pt x="102374" y="482107"/>
                </a:lnTo>
                <a:lnTo>
                  <a:pt x="104114" y="483860"/>
                </a:lnTo>
                <a:lnTo>
                  <a:pt x="113195" y="478043"/>
                </a:lnTo>
                <a:lnTo>
                  <a:pt x="119608" y="476761"/>
                </a:lnTo>
                <a:lnTo>
                  <a:pt x="124848" y="476761"/>
                </a:lnTo>
                <a:lnTo>
                  <a:pt x="126540" y="473141"/>
                </a:lnTo>
                <a:lnTo>
                  <a:pt x="126468" y="471801"/>
                </a:lnTo>
                <a:lnTo>
                  <a:pt x="126009" y="467325"/>
                </a:lnTo>
                <a:lnTo>
                  <a:pt x="79654" y="420970"/>
                </a:lnTo>
                <a:close/>
              </a:path>
              <a:path w="523875" h="524510">
                <a:moveTo>
                  <a:pt x="34239" y="446827"/>
                </a:moveTo>
                <a:lnTo>
                  <a:pt x="24460" y="446827"/>
                </a:lnTo>
                <a:lnTo>
                  <a:pt x="45415" y="467794"/>
                </a:lnTo>
                <a:lnTo>
                  <a:pt x="31089" y="482107"/>
                </a:lnTo>
                <a:lnTo>
                  <a:pt x="35293" y="482107"/>
                </a:lnTo>
                <a:lnTo>
                  <a:pt x="47510" y="469890"/>
                </a:lnTo>
                <a:lnTo>
                  <a:pt x="57302" y="469890"/>
                </a:lnTo>
                <a:lnTo>
                  <a:pt x="34239" y="446827"/>
                </a:lnTo>
                <a:close/>
              </a:path>
              <a:path w="523875" h="524510">
                <a:moveTo>
                  <a:pt x="124848" y="476761"/>
                </a:moveTo>
                <a:lnTo>
                  <a:pt x="119608" y="476761"/>
                </a:lnTo>
                <a:lnTo>
                  <a:pt x="123329" y="480012"/>
                </a:lnTo>
                <a:lnTo>
                  <a:pt x="124848" y="476761"/>
                </a:lnTo>
                <a:close/>
              </a:path>
              <a:path w="523875" h="524510">
                <a:moveTo>
                  <a:pt x="73075" y="450027"/>
                </a:moveTo>
                <a:lnTo>
                  <a:pt x="66154" y="450548"/>
                </a:lnTo>
                <a:lnTo>
                  <a:pt x="55905" y="452415"/>
                </a:lnTo>
                <a:lnTo>
                  <a:pt x="55905" y="454510"/>
                </a:lnTo>
                <a:lnTo>
                  <a:pt x="64515" y="455679"/>
                </a:lnTo>
                <a:lnTo>
                  <a:pt x="71450" y="457825"/>
                </a:lnTo>
                <a:lnTo>
                  <a:pt x="81927" y="464124"/>
                </a:lnTo>
                <a:lnTo>
                  <a:pt x="84137" y="463426"/>
                </a:lnTo>
                <a:lnTo>
                  <a:pt x="82511" y="454332"/>
                </a:lnTo>
                <a:lnTo>
                  <a:pt x="80302" y="451653"/>
                </a:lnTo>
                <a:lnTo>
                  <a:pt x="73075" y="450027"/>
                </a:lnTo>
                <a:close/>
              </a:path>
              <a:path w="523875" h="524510">
                <a:moveTo>
                  <a:pt x="58000" y="392318"/>
                </a:moveTo>
                <a:lnTo>
                  <a:pt x="44716" y="396509"/>
                </a:lnTo>
                <a:lnTo>
                  <a:pt x="49700" y="401186"/>
                </a:lnTo>
                <a:lnTo>
                  <a:pt x="55205" y="406473"/>
                </a:lnTo>
                <a:lnTo>
                  <a:pt x="61231" y="412369"/>
                </a:lnTo>
                <a:lnTo>
                  <a:pt x="67779" y="418874"/>
                </a:lnTo>
                <a:lnTo>
                  <a:pt x="38087" y="448567"/>
                </a:lnTo>
                <a:lnTo>
                  <a:pt x="44373" y="448567"/>
                </a:lnTo>
                <a:lnTo>
                  <a:pt x="46240" y="445315"/>
                </a:lnTo>
                <a:lnTo>
                  <a:pt x="48679" y="442166"/>
                </a:lnTo>
                <a:lnTo>
                  <a:pt x="69875" y="420970"/>
                </a:lnTo>
                <a:lnTo>
                  <a:pt x="79654" y="420970"/>
                </a:lnTo>
                <a:lnTo>
                  <a:pt x="74764" y="416080"/>
                </a:lnTo>
                <a:lnTo>
                  <a:pt x="76860" y="413985"/>
                </a:lnTo>
                <a:lnTo>
                  <a:pt x="72669" y="413985"/>
                </a:lnTo>
                <a:lnTo>
                  <a:pt x="56946" y="398262"/>
                </a:lnTo>
                <a:lnTo>
                  <a:pt x="58000" y="392318"/>
                </a:lnTo>
                <a:close/>
              </a:path>
              <a:path w="523875" h="524510">
                <a:moveTo>
                  <a:pt x="105867" y="366118"/>
                </a:moveTo>
                <a:lnTo>
                  <a:pt x="93281" y="370309"/>
                </a:lnTo>
                <a:lnTo>
                  <a:pt x="97565" y="374284"/>
                </a:lnTo>
                <a:lnTo>
                  <a:pt x="104816" y="381314"/>
                </a:lnTo>
                <a:lnTo>
                  <a:pt x="128219" y="404548"/>
                </a:lnTo>
                <a:lnTo>
                  <a:pt x="151458" y="427961"/>
                </a:lnTo>
                <a:lnTo>
                  <a:pt x="158489" y="435209"/>
                </a:lnTo>
                <a:lnTo>
                  <a:pt x="162458" y="439486"/>
                </a:lnTo>
                <a:lnTo>
                  <a:pt x="165963" y="431803"/>
                </a:lnTo>
                <a:lnTo>
                  <a:pt x="162001" y="428310"/>
                </a:lnTo>
                <a:lnTo>
                  <a:pt x="158153" y="424703"/>
                </a:lnTo>
                <a:lnTo>
                  <a:pt x="104813" y="371363"/>
                </a:lnTo>
                <a:lnTo>
                  <a:pt x="105867" y="366118"/>
                </a:lnTo>
                <a:close/>
              </a:path>
              <a:path w="523875" h="524510">
                <a:moveTo>
                  <a:pt x="91186" y="399659"/>
                </a:moveTo>
                <a:lnTo>
                  <a:pt x="77914" y="399659"/>
                </a:lnTo>
                <a:lnTo>
                  <a:pt x="77914" y="408739"/>
                </a:lnTo>
                <a:lnTo>
                  <a:pt x="72669" y="413985"/>
                </a:lnTo>
                <a:lnTo>
                  <a:pt x="76860" y="413985"/>
                </a:lnTo>
                <a:lnTo>
                  <a:pt x="91186" y="399659"/>
                </a:lnTo>
                <a:close/>
              </a:path>
              <a:path w="523875" h="524510">
                <a:moveTo>
                  <a:pt x="157924" y="335016"/>
                </a:moveTo>
                <a:lnTo>
                  <a:pt x="148844" y="335016"/>
                </a:lnTo>
                <a:lnTo>
                  <a:pt x="148844" y="342014"/>
                </a:lnTo>
                <a:lnTo>
                  <a:pt x="131724" y="359133"/>
                </a:lnTo>
                <a:lnTo>
                  <a:pt x="123329" y="361229"/>
                </a:lnTo>
                <a:lnTo>
                  <a:pt x="130237" y="367777"/>
                </a:lnTo>
                <a:lnTo>
                  <a:pt x="134466" y="371840"/>
                </a:lnTo>
                <a:lnTo>
                  <a:pt x="161931" y="399516"/>
                </a:lnTo>
                <a:lnTo>
                  <a:pt x="167360" y="405247"/>
                </a:lnTo>
                <a:lnTo>
                  <a:pt x="169799" y="397906"/>
                </a:lnTo>
                <a:lnTo>
                  <a:pt x="165963" y="394071"/>
                </a:lnTo>
                <a:lnTo>
                  <a:pt x="168057" y="391975"/>
                </a:lnTo>
                <a:lnTo>
                  <a:pt x="163868" y="391975"/>
                </a:lnTo>
                <a:lnTo>
                  <a:pt x="149186" y="377294"/>
                </a:lnTo>
                <a:lnTo>
                  <a:pt x="151283" y="375199"/>
                </a:lnTo>
                <a:lnTo>
                  <a:pt x="147091" y="375199"/>
                </a:lnTo>
                <a:lnTo>
                  <a:pt x="133464" y="361572"/>
                </a:lnTo>
                <a:lnTo>
                  <a:pt x="151637" y="343411"/>
                </a:lnTo>
                <a:lnTo>
                  <a:pt x="160731" y="343411"/>
                </a:lnTo>
                <a:lnTo>
                  <a:pt x="157568" y="340261"/>
                </a:lnTo>
                <a:lnTo>
                  <a:pt x="157924" y="335016"/>
                </a:lnTo>
                <a:close/>
              </a:path>
              <a:path w="523875" h="524510">
                <a:moveTo>
                  <a:pt x="176599" y="359133"/>
                </a:moveTo>
                <a:lnTo>
                  <a:pt x="167360" y="359133"/>
                </a:lnTo>
                <a:lnTo>
                  <a:pt x="182029" y="373802"/>
                </a:lnTo>
                <a:lnTo>
                  <a:pt x="163868" y="391975"/>
                </a:lnTo>
                <a:lnTo>
                  <a:pt x="168057" y="391975"/>
                </a:lnTo>
                <a:lnTo>
                  <a:pt x="184124" y="375897"/>
                </a:lnTo>
                <a:lnTo>
                  <a:pt x="191236" y="375897"/>
                </a:lnTo>
                <a:lnTo>
                  <a:pt x="191808" y="373802"/>
                </a:lnTo>
                <a:lnTo>
                  <a:pt x="185441" y="367744"/>
                </a:lnTo>
                <a:lnTo>
                  <a:pt x="176599" y="359133"/>
                </a:lnTo>
                <a:close/>
              </a:path>
              <a:path w="523875" h="524510">
                <a:moveTo>
                  <a:pt x="165252" y="307419"/>
                </a:moveTo>
                <a:lnTo>
                  <a:pt x="155473" y="307419"/>
                </a:lnTo>
                <a:lnTo>
                  <a:pt x="215798" y="367744"/>
                </a:lnTo>
                <a:lnTo>
                  <a:pt x="216331" y="369204"/>
                </a:lnTo>
                <a:lnTo>
                  <a:pt x="215163" y="371770"/>
                </a:lnTo>
                <a:lnTo>
                  <a:pt x="210565" y="375554"/>
                </a:lnTo>
                <a:lnTo>
                  <a:pt x="201942" y="381841"/>
                </a:lnTo>
                <a:lnTo>
                  <a:pt x="203339" y="383238"/>
                </a:lnTo>
                <a:lnTo>
                  <a:pt x="210096" y="379275"/>
                </a:lnTo>
                <a:lnTo>
                  <a:pt x="216382" y="378348"/>
                </a:lnTo>
                <a:lnTo>
                  <a:pt x="223051" y="378348"/>
                </a:lnTo>
                <a:lnTo>
                  <a:pt x="224033" y="375897"/>
                </a:lnTo>
                <a:lnTo>
                  <a:pt x="224828" y="372227"/>
                </a:lnTo>
                <a:lnTo>
                  <a:pt x="224129" y="367337"/>
                </a:lnTo>
                <a:lnTo>
                  <a:pt x="222440" y="364607"/>
                </a:lnTo>
                <a:lnTo>
                  <a:pt x="165252" y="307419"/>
                </a:lnTo>
                <a:close/>
              </a:path>
              <a:path w="523875" h="524510">
                <a:moveTo>
                  <a:pt x="191236" y="375897"/>
                </a:moveTo>
                <a:lnTo>
                  <a:pt x="184124" y="375897"/>
                </a:lnTo>
                <a:lnTo>
                  <a:pt x="189712" y="381485"/>
                </a:lnTo>
                <a:lnTo>
                  <a:pt x="191236" y="375897"/>
                </a:lnTo>
                <a:close/>
              </a:path>
              <a:path w="523875" h="524510">
                <a:moveTo>
                  <a:pt x="223051" y="378348"/>
                </a:moveTo>
                <a:lnTo>
                  <a:pt x="216382" y="378348"/>
                </a:lnTo>
                <a:lnTo>
                  <a:pt x="222211" y="380444"/>
                </a:lnTo>
                <a:lnTo>
                  <a:pt x="223051" y="378348"/>
                </a:lnTo>
                <a:close/>
              </a:path>
              <a:path w="523875" h="524510">
                <a:moveTo>
                  <a:pt x="160731" y="343411"/>
                </a:moveTo>
                <a:lnTo>
                  <a:pt x="151637" y="343411"/>
                </a:lnTo>
                <a:lnTo>
                  <a:pt x="165265" y="357038"/>
                </a:lnTo>
                <a:lnTo>
                  <a:pt x="147091" y="375199"/>
                </a:lnTo>
                <a:lnTo>
                  <a:pt x="151283" y="375199"/>
                </a:lnTo>
                <a:lnTo>
                  <a:pt x="167360" y="359133"/>
                </a:lnTo>
                <a:lnTo>
                  <a:pt x="176599" y="359133"/>
                </a:lnTo>
                <a:lnTo>
                  <a:pt x="168358" y="351008"/>
                </a:lnTo>
                <a:lnTo>
                  <a:pt x="160731" y="343411"/>
                </a:lnTo>
                <a:close/>
              </a:path>
              <a:path w="523875" h="524510">
                <a:moveTo>
                  <a:pt x="104698" y="349697"/>
                </a:moveTo>
                <a:lnTo>
                  <a:pt x="98640" y="350281"/>
                </a:lnTo>
                <a:lnTo>
                  <a:pt x="89789" y="352136"/>
                </a:lnTo>
                <a:lnTo>
                  <a:pt x="89789" y="354244"/>
                </a:lnTo>
                <a:lnTo>
                  <a:pt x="97472" y="355399"/>
                </a:lnTo>
                <a:lnTo>
                  <a:pt x="103644" y="357266"/>
                </a:lnTo>
                <a:lnTo>
                  <a:pt x="112966" y="362384"/>
                </a:lnTo>
                <a:lnTo>
                  <a:pt x="114884" y="361635"/>
                </a:lnTo>
                <a:lnTo>
                  <a:pt x="113258" y="353482"/>
                </a:lnTo>
                <a:lnTo>
                  <a:pt x="111226" y="351094"/>
                </a:lnTo>
                <a:lnTo>
                  <a:pt x="104698" y="349697"/>
                </a:lnTo>
                <a:close/>
              </a:path>
              <a:path w="523875" h="524510">
                <a:moveTo>
                  <a:pt x="162458" y="299037"/>
                </a:moveTo>
                <a:lnTo>
                  <a:pt x="152679" y="299037"/>
                </a:lnTo>
                <a:lnTo>
                  <a:pt x="152679" y="306022"/>
                </a:lnTo>
                <a:lnTo>
                  <a:pt x="113893" y="344808"/>
                </a:lnTo>
                <a:lnTo>
                  <a:pt x="120192" y="344808"/>
                </a:lnTo>
                <a:lnTo>
                  <a:pt x="122047" y="341544"/>
                </a:lnTo>
                <a:lnTo>
                  <a:pt x="124498" y="338394"/>
                </a:lnTo>
                <a:lnTo>
                  <a:pt x="155473" y="307419"/>
                </a:lnTo>
                <a:lnTo>
                  <a:pt x="165252" y="307419"/>
                </a:lnTo>
                <a:lnTo>
                  <a:pt x="161759" y="303926"/>
                </a:lnTo>
                <a:lnTo>
                  <a:pt x="162458" y="299037"/>
                </a:lnTo>
                <a:close/>
              </a:path>
              <a:path w="523875" h="524510">
                <a:moveTo>
                  <a:pt x="242468" y="210518"/>
                </a:moveTo>
                <a:lnTo>
                  <a:pt x="239359" y="235885"/>
                </a:lnTo>
                <a:lnTo>
                  <a:pt x="239929" y="241743"/>
                </a:lnTo>
                <a:lnTo>
                  <a:pt x="262150" y="276738"/>
                </a:lnTo>
                <a:lnTo>
                  <a:pt x="288074" y="284305"/>
                </a:lnTo>
                <a:lnTo>
                  <a:pt x="295402" y="284064"/>
                </a:lnTo>
                <a:lnTo>
                  <a:pt x="308686" y="281511"/>
                </a:lnTo>
                <a:lnTo>
                  <a:pt x="312000" y="280406"/>
                </a:lnTo>
                <a:lnTo>
                  <a:pt x="312000" y="280114"/>
                </a:lnTo>
                <a:lnTo>
                  <a:pt x="295986" y="280114"/>
                </a:lnTo>
                <a:lnTo>
                  <a:pt x="289115" y="279873"/>
                </a:lnTo>
                <a:lnTo>
                  <a:pt x="254037" y="259345"/>
                </a:lnTo>
                <a:lnTo>
                  <a:pt x="242857" y="225542"/>
                </a:lnTo>
                <a:lnTo>
                  <a:pt x="243842" y="215534"/>
                </a:lnTo>
                <a:lnTo>
                  <a:pt x="243878" y="211458"/>
                </a:lnTo>
                <a:lnTo>
                  <a:pt x="242468" y="210518"/>
                </a:lnTo>
                <a:close/>
              </a:path>
              <a:path w="523875" h="524510">
                <a:moveTo>
                  <a:pt x="308800" y="278476"/>
                </a:moveTo>
                <a:lnTo>
                  <a:pt x="295986" y="280114"/>
                </a:lnTo>
                <a:lnTo>
                  <a:pt x="312000" y="280114"/>
                </a:lnTo>
                <a:lnTo>
                  <a:pt x="312000" y="278539"/>
                </a:lnTo>
                <a:lnTo>
                  <a:pt x="308800" y="278476"/>
                </a:lnTo>
                <a:close/>
              </a:path>
              <a:path w="523875" h="524510">
                <a:moveTo>
                  <a:pt x="313055" y="184788"/>
                </a:moveTo>
                <a:lnTo>
                  <a:pt x="299770" y="186883"/>
                </a:lnTo>
                <a:lnTo>
                  <a:pt x="301866" y="190376"/>
                </a:lnTo>
                <a:lnTo>
                  <a:pt x="304203" y="195379"/>
                </a:lnTo>
                <a:lnTo>
                  <a:pt x="315607" y="237886"/>
                </a:lnTo>
                <a:lnTo>
                  <a:pt x="315849" y="244186"/>
                </a:lnTo>
                <a:lnTo>
                  <a:pt x="317944" y="244186"/>
                </a:lnTo>
                <a:lnTo>
                  <a:pt x="318192" y="237886"/>
                </a:lnTo>
                <a:lnTo>
                  <a:pt x="318103" y="226533"/>
                </a:lnTo>
                <a:lnTo>
                  <a:pt x="317742" y="220859"/>
                </a:lnTo>
                <a:lnTo>
                  <a:pt x="316890" y="214137"/>
                </a:lnTo>
                <a:lnTo>
                  <a:pt x="315493" y="205514"/>
                </a:lnTo>
                <a:lnTo>
                  <a:pt x="314274" y="199164"/>
                </a:lnTo>
                <a:lnTo>
                  <a:pt x="312178" y="191011"/>
                </a:lnTo>
                <a:lnTo>
                  <a:pt x="312115" y="187582"/>
                </a:lnTo>
                <a:lnTo>
                  <a:pt x="313055" y="184788"/>
                </a:lnTo>
                <a:close/>
              </a:path>
              <a:path w="523875" h="524510">
                <a:moveTo>
                  <a:pt x="307454" y="143551"/>
                </a:moveTo>
                <a:lnTo>
                  <a:pt x="293839" y="148796"/>
                </a:lnTo>
                <a:lnTo>
                  <a:pt x="298259" y="152758"/>
                </a:lnTo>
                <a:lnTo>
                  <a:pt x="304088" y="158346"/>
                </a:lnTo>
                <a:lnTo>
                  <a:pt x="363829" y="218087"/>
                </a:lnTo>
                <a:lnTo>
                  <a:pt x="364299" y="220894"/>
                </a:lnTo>
                <a:lnTo>
                  <a:pt x="359638" y="225542"/>
                </a:lnTo>
                <a:lnTo>
                  <a:pt x="355447" y="228806"/>
                </a:lnTo>
                <a:lnTo>
                  <a:pt x="349389" y="232997"/>
                </a:lnTo>
                <a:lnTo>
                  <a:pt x="351129" y="234749"/>
                </a:lnTo>
                <a:lnTo>
                  <a:pt x="361848" y="230089"/>
                </a:lnTo>
                <a:lnTo>
                  <a:pt x="368490" y="229276"/>
                </a:lnTo>
                <a:lnTo>
                  <a:pt x="372342" y="229276"/>
                </a:lnTo>
                <a:lnTo>
                  <a:pt x="374548" y="224145"/>
                </a:lnTo>
                <a:lnTo>
                  <a:pt x="373608" y="217389"/>
                </a:lnTo>
                <a:lnTo>
                  <a:pt x="306755" y="150548"/>
                </a:lnTo>
                <a:lnTo>
                  <a:pt x="307454" y="143551"/>
                </a:lnTo>
                <a:close/>
              </a:path>
              <a:path w="523875" h="524510">
                <a:moveTo>
                  <a:pt x="372342" y="229276"/>
                </a:moveTo>
                <a:lnTo>
                  <a:pt x="368490" y="229276"/>
                </a:lnTo>
                <a:lnTo>
                  <a:pt x="371043" y="232298"/>
                </a:lnTo>
                <a:lnTo>
                  <a:pt x="372342" y="229276"/>
                </a:lnTo>
                <a:close/>
              </a:path>
              <a:path w="523875" h="524510">
                <a:moveTo>
                  <a:pt x="367207" y="155082"/>
                </a:moveTo>
                <a:lnTo>
                  <a:pt x="361266" y="155085"/>
                </a:lnTo>
                <a:lnTo>
                  <a:pt x="353579" y="155435"/>
                </a:lnTo>
                <a:lnTo>
                  <a:pt x="344145" y="156133"/>
                </a:lnTo>
                <a:lnTo>
                  <a:pt x="332968" y="157178"/>
                </a:lnTo>
                <a:lnTo>
                  <a:pt x="332968" y="159273"/>
                </a:lnTo>
                <a:lnTo>
                  <a:pt x="340917" y="159907"/>
                </a:lnTo>
                <a:lnTo>
                  <a:pt x="348341" y="160759"/>
                </a:lnTo>
                <a:lnTo>
                  <a:pt x="386651" y="172329"/>
                </a:lnTo>
                <a:lnTo>
                  <a:pt x="388874" y="171618"/>
                </a:lnTo>
                <a:lnTo>
                  <a:pt x="387464" y="163706"/>
                </a:lnTo>
                <a:lnTo>
                  <a:pt x="385495" y="160670"/>
                </a:lnTo>
                <a:lnTo>
                  <a:pt x="378968" y="156479"/>
                </a:lnTo>
                <a:lnTo>
                  <a:pt x="373964" y="155324"/>
                </a:lnTo>
                <a:lnTo>
                  <a:pt x="367207" y="155082"/>
                </a:lnTo>
                <a:close/>
              </a:path>
              <a:path w="523875" h="524510">
                <a:moveTo>
                  <a:pt x="388874" y="80279"/>
                </a:moveTo>
                <a:lnTo>
                  <a:pt x="378739" y="81422"/>
                </a:lnTo>
                <a:lnTo>
                  <a:pt x="379437" y="87645"/>
                </a:lnTo>
                <a:lnTo>
                  <a:pt x="366153" y="100980"/>
                </a:lnTo>
                <a:lnTo>
                  <a:pt x="357771" y="103774"/>
                </a:lnTo>
                <a:lnTo>
                  <a:pt x="362227" y="107918"/>
                </a:lnTo>
                <a:lnTo>
                  <a:pt x="368603" y="114061"/>
                </a:lnTo>
                <a:lnTo>
                  <a:pt x="406606" y="152025"/>
                </a:lnTo>
                <a:lnTo>
                  <a:pt x="420357" y="166271"/>
                </a:lnTo>
                <a:lnTo>
                  <a:pt x="422770" y="158232"/>
                </a:lnTo>
                <a:lnTo>
                  <a:pt x="415404" y="150891"/>
                </a:lnTo>
                <a:lnTo>
                  <a:pt x="417503" y="148796"/>
                </a:lnTo>
                <a:lnTo>
                  <a:pt x="413321" y="148796"/>
                </a:lnTo>
                <a:lnTo>
                  <a:pt x="390969" y="126380"/>
                </a:lnTo>
                <a:lnTo>
                  <a:pt x="393016" y="124348"/>
                </a:lnTo>
                <a:lnTo>
                  <a:pt x="388874" y="124348"/>
                </a:lnTo>
                <a:lnTo>
                  <a:pt x="367906" y="103393"/>
                </a:lnTo>
                <a:lnTo>
                  <a:pt x="382231" y="89042"/>
                </a:lnTo>
                <a:lnTo>
                  <a:pt x="391958" y="89042"/>
                </a:lnTo>
                <a:lnTo>
                  <a:pt x="388518" y="85613"/>
                </a:lnTo>
                <a:lnTo>
                  <a:pt x="388874" y="80279"/>
                </a:lnTo>
                <a:close/>
              </a:path>
              <a:path w="523875" h="524510">
                <a:moveTo>
                  <a:pt x="415143" y="112156"/>
                </a:moveTo>
                <a:lnTo>
                  <a:pt x="405295" y="112156"/>
                </a:lnTo>
                <a:lnTo>
                  <a:pt x="427596" y="134470"/>
                </a:lnTo>
                <a:lnTo>
                  <a:pt x="413321" y="148796"/>
                </a:lnTo>
                <a:lnTo>
                  <a:pt x="417503" y="148796"/>
                </a:lnTo>
                <a:lnTo>
                  <a:pt x="429755" y="136566"/>
                </a:lnTo>
                <a:lnTo>
                  <a:pt x="438840" y="136566"/>
                </a:lnTo>
                <a:lnTo>
                  <a:pt x="439153" y="135524"/>
                </a:lnTo>
                <a:lnTo>
                  <a:pt x="435845" y="132476"/>
                </a:lnTo>
                <a:lnTo>
                  <a:pt x="431072" y="127904"/>
                </a:lnTo>
                <a:lnTo>
                  <a:pt x="424847" y="121808"/>
                </a:lnTo>
                <a:lnTo>
                  <a:pt x="415143" y="112156"/>
                </a:lnTo>
                <a:close/>
              </a:path>
              <a:path w="523875" h="524510">
                <a:moveTo>
                  <a:pt x="438840" y="136566"/>
                </a:moveTo>
                <a:lnTo>
                  <a:pt x="429755" y="136566"/>
                </a:lnTo>
                <a:lnTo>
                  <a:pt x="436740" y="143551"/>
                </a:lnTo>
                <a:lnTo>
                  <a:pt x="438840" y="136566"/>
                </a:lnTo>
                <a:close/>
              </a:path>
              <a:path w="523875" h="524510">
                <a:moveTo>
                  <a:pt x="437375" y="63134"/>
                </a:moveTo>
                <a:lnTo>
                  <a:pt x="427596" y="63134"/>
                </a:lnTo>
                <a:lnTo>
                  <a:pt x="471284" y="106822"/>
                </a:lnTo>
                <a:lnTo>
                  <a:pt x="473824" y="109489"/>
                </a:lnTo>
                <a:lnTo>
                  <a:pt x="460108" y="124348"/>
                </a:lnTo>
                <a:lnTo>
                  <a:pt x="461886" y="126126"/>
                </a:lnTo>
                <a:lnTo>
                  <a:pt x="471030" y="120284"/>
                </a:lnTo>
                <a:lnTo>
                  <a:pt x="477380" y="119014"/>
                </a:lnTo>
                <a:lnTo>
                  <a:pt x="482564" y="119014"/>
                </a:lnTo>
                <a:lnTo>
                  <a:pt x="484305" y="115331"/>
                </a:lnTo>
                <a:lnTo>
                  <a:pt x="484181" y="113553"/>
                </a:lnTo>
                <a:lnTo>
                  <a:pt x="483730" y="109489"/>
                </a:lnTo>
                <a:lnTo>
                  <a:pt x="437375" y="63134"/>
                </a:lnTo>
                <a:close/>
              </a:path>
              <a:path w="523875" h="524510">
                <a:moveTo>
                  <a:pt x="391958" y="89042"/>
                </a:moveTo>
                <a:lnTo>
                  <a:pt x="382231" y="89042"/>
                </a:lnTo>
                <a:lnTo>
                  <a:pt x="403186" y="109997"/>
                </a:lnTo>
                <a:lnTo>
                  <a:pt x="388874" y="124348"/>
                </a:lnTo>
                <a:lnTo>
                  <a:pt x="393016" y="124348"/>
                </a:lnTo>
                <a:lnTo>
                  <a:pt x="405295" y="112156"/>
                </a:lnTo>
                <a:lnTo>
                  <a:pt x="415143" y="112156"/>
                </a:lnTo>
                <a:lnTo>
                  <a:pt x="391958" y="89042"/>
                </a:lnTo>
                <a:close/>
              </a:path>
              <a:path w="523875" h="524510">
                <a:moveTo>
                  <a:pt x="482564" y="119014"/>
                </a:moveTo>
                <a:lnTo>
                  <a:pt x="477380" y="119014"/>
                </a:lnTo>
                <a:lnTo>
                  <a:pt x="481063" y="122189"/>
                </a:lnTo>
                <a:lnTo>
                  <a:pt x="482564" y="119014"/>
                </a:lnTo>
                <a:close/>
              </a:path>
              <a:path w="523875" h="524510">
                <a:moveTo>
                  <a:pt x="430898" y="92217"/>
                </a:moveTo>
                <a:lnTo>
                  <a:pt x="423913" y="92725"/>
                </a:lnTo>
                <a:lnTo>
                  <a:pt x="413677" y="94630"/>
                </a:lnTo>
                <a:lnTo>
                  <a:pt x="413677" y="96789"/>
                </a:lnTo>
                <a:lnTo>
                  <a:pt x="422262" y="97932"/>
                </a:lnTo>
                <a:lnTo>
                  <a:pt x="429247" y="100091"/>
                </a:lnTo>
                <a:lnTo>
                  <a:pt x="434454" y="103139"/>
                </a:lnTo>
                <a:lnTo>
                  <a:pt x="439661" y="106314"/>
                </a:lnTo>
                <a:lnTo>
                  <a:pt x="441947" y="105679"/>
                </a:lnTo>
                <a:lnTo>
                  <a:pt x="441037" y="100980"/>
                </a:lnTo>
                <a:lnTo>
                  <a:pt x="440296" y="96535"/>
                </a:lnTo>
                <a:lnTo>
                  <a:pt x="438010" y="93868"/>
                </a:lnTo>
                <a:lnTo>
                  <a:pt x="434454" y="93106"/>
                </a:lnTo>
                <a:lnTo>
                  <a:pt x="430898" y="92217"/>
                </a:lnTo>
                <a:close/>
              </a:path>
              <a:path w="523875" h="524510">
                <a:moveTo>
                  <a:pt x="415785" y="34559"/>
                </a:moveTo>
                <a:lnTo>
                  <a:pt x="402488" y="38750"/>
                </a:lnTo>
                <a:lnTo>
                  <a:pt x="407465" y="43422"/>
                </a:lnTo>
                <a:lnTo>
                  <a:pt x="412959" y="48688"/>
                </a:lnTo>
                <a:lnTo>
                  <a:pt x="418986" y="54574"/>
                </a:lnTo>
                <a:lnTo>
                  <a:pt x="425564" y="61102"/>
                </a:lnTo>
                <a:lnTo>
                  <a:pt x="395859" y="90820"/>
                </a:lnTo>
                <a:lnTo>
                  <a:pt x="402145" y="90820"/>
                </a:lnTo>
                <a:lnTo>
                  <a:pt x="404012" y="87518"/>
                </a:lnTo>
                <a:lnTo>
                  <a:pt x="406450" y="84343"/>
                </a:lnTo>
                <a:lnTo>
                  <a:pt x="409486" y="81422"/>
                </a:lnTo>
                <a:lnTo>
                  <a:pt x="427596" y="63134"/>
                </a:lnTo>
                <a:lnTo>
                  <a:pt x="437375" y="63134"/>
                </a:lnTo>
                <a:lnTo>
                  <a:pt x="432549" y="58308"/>
                </a:lnTo>
                <a:lnTo>
                  <a:pt x="434708" y="56149"/>
                </a:lnTo>
                <a:lnTo>
                  <a:pt x="430390" y="56149"/>
                </a:lnTo>
                <a:lnTo>
                  <a:pt x="414718" y="40528"/>
                </a:lnTo>
                <a:lnTo>
                  <a:pt x="415785" y="34559"/>
                </a:lnTo>
                <a:close/>
              </a:path>
              <a:path w="523875" h="524510">
                <a:moveTo>
                  <a:pt x="492810" y="3698"/>
                </a:moveTo>
                <a:lnTo>
                  <a:pt x="464045" y="3698"/>
                </a:lnTo>
                <a:lnTo>
                  <a:pt x="471030" y="4206"/>
                </a:lnTo>
                <a:lnTo>
                  <a:pt x="479031" y="5857"/>
                </a:lnTo>
                <a:lnTo>
                  <a:pt x="511765" y="29495"/>
                </a:lnTo>
                <a:lnTo>
                  <a:pt x="519036" y="58816"/>
                </a:lnTo>
                <a:lnTo>
                  <a:pt x="517258" y="70373"/>
                </a:lnTo>
                <a:lnTo>
                  <a:pt x="517131" y="73548"/>
                </a:lnTo>
                <a:lnTo>
                  <a:pt x="517766" y="74056"/>
                </a:lnTo>
                <a:lnTo>
                  <a:pt x="518528" y="74437"/>
                </a:lnTo>
                <a:lnTo>
                  <a:pt x="519798" y="71135"/>
                </a:lnTo>
                <a:lnTo>
                  <a:pt x="521576" y="63896"/>
                </a:lnTo>
                <a:lnTo>
                  <a:pt x="523481" y="56657"/>
                </a:lnTo>
                <a:lnTo>
                  <a:pt x="509892" y="15128"/>
                </a:lnTo>
                <a:lnTo>
                  <a:pt x="497716" y="5810"/>
                </a:lnTo>
                <a:lnTo>
                  <a:pt x="492810" y="3698"/>
                </a:lnTo>
                <a:close/>
              </a:path>
              <a:path w="523875" h="524510">
                <a:moveTo>
                  <a:pt x="448932" y="41925"/>
                </a:moveTo>
                <a:lnTo>
                  <a:pt x="435724" y="41925"/>
                </a:lnTo>
                <a:lnTo>
                  <a:pt x="435724" y="50942"/>
                </a:lnTo>
                <a:lnTo>
                  <a:pt x="430390" y="56149"/>
                </a:lnTo>
                <a:lnTo>
                  <a:pt x="434708" y="56149"/>
                </a:lnTo>
                <a:lnTo>
                  <a:pt x="448932" y="41925"/>
                </a:lnTo>
                <a:close/>
              </a:path>
              <a:path w="523875" h="524510">
                <a:moveTo>
                  <a:pt x="469903" y="0"/>
                </a:moveTo>
                <a:lnTo>
                  <a:pt x="463745" y="248"/>
                </a:lnTo>
                <a:lnTo>
                  <a:pt x="458076" y="1031"/>
                </a:lnTo>
                <a:lnTo>
                  <a:pt x="450837" y="2428"/>
                </a:lnTo>
                <a:lnTo>
                  <a:pt x="447408" y="3444"/>
                </a:lnTo>
                <a:lnTo>
                  <a:pt x="447916" y="4206"/>
                </a:lnTo>
                <a:lnTo>
                  <a:pt x="448424" y="4841"/>
                </a:lnTo>
                <a:lnTo>
                  <a:pt x="451726" y="4968"/>
                </a:lnTo>
                <a:lnTo>
                  <a:pt x="464045" y="3698"/>
                </a:lnTo>
                <a:lnTo>
                  <a:pt x="492810" y="3698"/>
                </a:lnTo>
                <a:lnTo>
                  <a:pt x="490943" y="2895"/>
                </a:lnTo>
                <a:lnTo>
                  <a:pt x="483730" y="1158"/>
                </a:lnTo>
                <a:lnTo>
                  <a:pt x="476560" y="299"/>
                </a:lnTo>
                <a:lnTo>
                  <a:pt x="469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054605" y="5387721"/>
            <a:ext cx="69342" cy="779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729992" y="5391022"/>
            <a:ext cx="79120" cy="788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385058" y="5389371"/>
            <a:ext cx="119125" cy="1126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71746" y="5390134"/>
            <a:ext cx="110616" cy="1118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748657" y="5390769"/>
            <a:ext cx="120268" cy="1297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435346" y="5387721"/>
            <a:ext cx="122174" cy="1328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22034" y="5391022"/>
            <a:ext cx="120650" cy="1295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08851" y="5389371"/>
            <a:ext cx="128904" cy="1215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495637" y="5390134"/>
            <a:ext cx="120203" cy="12077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194040" y="5390769"/>
            <a:ext cx="108584" cy="11582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089275" y="1686305"/>
            <a:ext cx="3200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“组织成员注册”任务燃尽</a:t>
            </a:r>
            <a:r>
              <a:rPr sz="1600" b="1" dirty="0">
                <a:latin typeface="宋体"/>
                <a:cs typeface="宋体"/>
              </a:rPr>
              <a:t>图</a:t>
            </a:r>
            <a:r>
              <a:rPr sz="1600" b="1" spc="-20" dirty="0">
                <a:latin typeface="宋体"/>
                <a:cs typeface="宋体"/>
              </a:rPr>
              <a:t>：</a:t>
            </a:r>
            <a:r>
              <a:rPr sz="1600" b="1" spc="-20" dirty="0">
                <a:latin typeface="Arial Narrow"/>
                <a:cs typeface="Arial Narrow"/>
              </a:rPr>
              <a:t>7.11</a:t>
            </a:r>
            <a:endParaRPr sz="1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36982"/>
            <a:ext cx="4767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ME</a:t>
            </a:r>
            <a:r>
              <a:rPr i="1" spc="-5" dirty="0">
                <a:latin typeface="华文隶书"/>
                <a:cs typeface="华文隶书"/>
              </a:rPr>
              <a:t>D</a:t>
            </a:r>
            <a:r>
              <a:rPr spc="5" dirty="0"/>
              <a:t>燃尽图</a:t>
            </a:r>
            <a:r>
              <a:rPr spc="-5" dirty="0"/>
              <a:t>：</a:t>
            </a:r>
            <a:r>
              <a:rPr i="1" spc="-10" dirty="0">
                <a:latin typeface="华文隶书"/>
                <a:cs typeface="华文隶书"/>
              </a:rPr>
              <a:t>7</a:t>
            </a:r>
            <a:r>
              <a:rPr dirty="0"/>
              <a:t>：</a:t>
            </a:r>
            <a:r>
              <a:rPr i="1" spc="-10" dirty="0">
                <a:latin typeface="华文隶书"/>
                <a:cs typeface="华文隶书"/>
              </a:rPr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2896" y="4963667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2896" y="464820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2896" y="4331208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2896" y="401574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2896" y="3698747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2896" y="3383279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2896" y="3066288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72896" y="275082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2896" y="2433827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2896" y="2118360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2896" y="2118360"/>
            <a:ext cx="0" cy="3161030"/>
          </a:xfrm>
          <a:custGeom>
            <a:avLst/>
            <a:gdLst/>
            <a:ahLst/>
            <a:cxnLst/>
            <a:rect l="l" t="t" r="r" b="b"/>
            <a:pathLst>
              <a:path h="3161029">
                <a:moveTo>
                  <a:pt x="0" y="3160776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33272" y="5279135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33272" y="496366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33272" y="464820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33272" y="433120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33272" y="401574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33272" y="369874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33272" y="338327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33272" y="306628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33272" y="275082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33272" y="2433827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33272" y="211836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72896" y="5279135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72896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58695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46020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33344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19144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06467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192267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79591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66916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52716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40040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25840" y="5279135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3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16558" y="2119122"/>
            <a:ext cx="6867525" cy="3161030"/>
          </a:xfrm>
          <a:custGeom>
            <a:avLst/>
            <a:gdLst/>
            <a:ahLst/>
            <a:cxnLst/>
            <a:rect l="l" t="t" r="r" b="b"/>
            <a:pathLst>
              <a:path w="6867525" h="3161029">
                <a:moveTo>
                  <a:pt x="0" y="0"/>
                </a:moveTo>
                <a:lnTo>
                  <a:pt x="685799" y="315467"/>
                </a:lnTo>
                <a:lnTo>
                  <a:pt x="1373123" y="630936"/>
                </a:lnTo>
                <a:lnTo>
                  <a:pt x="2058924" y="947927"/>
                </a:lnTo>
                <a:lnTo>
                  <a:pt x="2746247" y="1263395"/>
                </a:lnTo>
                <a:lnTo>
                  <a:pt x="3433571" y="1580388"/>
                </a:lnTo>
                <a:lnTo>
                  <a:pt x="4119371" y="2212847"/>
                </a:lnTo>
                <a:lnTo>
                  <a:pt x="4806695" y="2369820"/>
                </a:lnTo>
                <a:lnTo>
                  <a:pt x="5492495" y="2845308"/>
                </a:lnTo>
                <a:lnTo>
                  <a:pt x="6179820" y="3160776"/>
                </a:lnTo>
                <a:lnTo>
                  <a:pt x="6867144" y="3160776"/>
                </a:lnTo>
              </a:path>
            </a:pathLst>
          </a:custGeom>
          <a:ln w="2895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367155" y="2069592"/>
            <a:ext cx="97535" cy="97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54479" y="2385060"/>
            <a:ext cx="97536" cy="97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40279" y="2702051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27603" y="3017520"/>
            <a:ext cx="97536" cy="975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14927" y="3334511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00727" y="3649979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88051" y="4282440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173851" y="4440935"/>
            <a:ext cx="97536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61175" y="4914900"/>
            <a:ext cx="97536" cy="975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48498" y="5230367"/>
            <a:ext cx="97536" cy="97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34298" y="5230367"/>
            <a:ext cx="97536" cy="97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82853" y="2020950"/>
            <a:ext cx="292100" cy="334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 Narrow"/>
                <a:cs typeface="Arial Narrow"/>
              </a:rPr>
              <a:t>100%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90%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80%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70%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60%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50%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40%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30%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20%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10%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0%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54976" y="5454253"/>
            <a:ext cx="523875" cy="524510"/>
          </a:xfrm>
          <a:custGeom>
            <a:avLst/>
            <a:gdLst/>
            <a:ahLst/>
            <a:cxnLst/>
            <a:rect l="l" t="t" r="r" b="b"/>
            <a:pathLst>
              <a:path w="523875" h="524510">
                <a:moveTo>
                  <a:pt x="31089" y="438089"/>
                </a:moveTo>
                <a:lnTo>
                  <a:pt x="20967" y="439143"/>
                </a:lnTo>
                <a:lnTo>
                  <a:pt x="21666" y="445430"/>
                </a:lnTo>
                <a:lnTo>
                  <a:pt x="8381" y="458701"/>
                </a:lnTo>
                <a:lnTo>
                  <a:pt x="0" y="461495"/>
                </a:lnTo>
                <a:lnTo>
                  <a:pt x="4455" y="465643"/>
                </a:lnTo>
                <a:lnTo>
                  <a:pt x="10831" y="471801"/>
                </a:lnTo>
                <a:lnTo>
                  <a:pt x="39810" y="500652"/>
                </a:lnTo>
                <a:lnTo>
                  <a:pt x="62534" y="524043"/>
                </a:lnTo>
                <a:lnTo>
                  <a:pt x="64985" y="516004"/>
                </a:lnTo>
                <a:lnTo>
                  <a:pt x="57645" y="508663"/>
                </a:lnTo>
                <a:lnTo>
                  <a:pt x="59740" y="506568"/>
                </a:lnTo>
                <a:lnTo>
                  <a:pt x="55549" y="506568"/>
                </a:lnTo>
                <a:lnTo>
                  <a:pt x="33185" y="484216"/>
                </a:lnTo>
                <a:lnTo>
                  <a:pt x="35293" y="482107"/>
                </a:lnTo>
                <a:lnTo>
                  <a:pt x="31089" y="482107"/>
                </a:lnTo>
                <a:lnTo>
                  <a:pt x="10134" y="461152"/>
                </a:lnTo>
                <a:lnTo>
                  <a:pt x="24460" y="446827"/>
                </a:lnTo>
                <a:lnTo>
                  <a:pt x="34239" y="446827"/>
                </a:lnTo>
                <a:lnTo>
                  <a:pt x="30746" y="443334"/>
                </a:lnTo>
                <a:lnTo>
                  <a:pt x="31089" y="438089"/>
                </a:lnTo>
                <a:close/>
              </a:path>
              <a:path w="523875" h="524510">
                <a:moveTo>
                  <a:pt x="57302" y="469890"/>
                </a:moveTo>
                <a:lnTo>
                  <a:pt x="47510" y="469890"/>
                </a:lnTo>
                <a:lnTo>
                  <a:pt x="69875" y="492242"/>
                </a:lnTo>
                <a:lnTo>
                  <a:pt x="55549" y="506568"/>
                </a:lnTo>
                <a:lnTo>
                  <a:pt x="59740" y="506568"/>
                </a:lnTo>
                <a:lnTo>
                  <a:pt x="71970" y="494337"/>
                </a:lnTo>
                <a:lnTo>
                  <a:pt x="81089" y="494337"/>
                </a:lnTo>
                <a:lnTo>
                  <a:pt x="81406" y="493296"/>
                </a:lnTo>
                <a:lnTo>
                  <a:pt x="77950" y="490146"/>
                </a:lnTo>
                <a:lnTo>
                  <a:pt x="73283" y="485694"/>
                </a:lnTo>
                <a:lnTo>
                  <a:pt x="67060" y="479603"/>
                </a:lnTo>
                <a:lnTo>
                  <a:pt x="57302" y="469890"/>
                </a:lnTo>
                <a:close/>
              </a:path>
              <a:path w="523875" h="524510">
                <a:moveTo>
                  <a:pt x="81089" y="494337"/>
                </a:moveTo>
                <a:lnTo>
                  <a:pt x="71970" y="494337"/>
                </a:lnTo>
                <a:lnTo>
                  <a:pt x="78955" y="501335"/>
                </a:lnTo>
                <a:lnTo>
                  <a:pt x="81089" y="494337"/>
                </a:lnTo>
                <a:close/>
              </a:path>
              <a:path w="523875" h="524510">
                <a:moveTo>
                  <a:pt x="79654" y="420970"/>
                </a:moveTo>
                <a:lnTo>
                  <a:pt x="69875" y="420970"/>
                </a:lnTo>
                <a:lnTo>
                  <a:pt x="116116" y="467210"/>
                </a:lnTo>
                <a:lnTo>
                  <a:pt x="116700" y="469420"/>
                </a:lnTo>
                <a:lnTo>
                  <a:pt x="113893" y="473141"/>
                </a:lnTo>
                <a:lnTo>
                  <a:pt x="109588" y="476761"/>
                </a:lnTo>
                <a:lnTo>
                  <a:pt x="102374" y="482107"/>
                </a:lnTo>
                <a:lnTo>
                  <a:pt x="104114" y="483860"/>
                </a:lnTo>
                <a:lnTo>
                  <a:pt x="113195" y="478043"/>
                </a:lnTo>
                <a:lnTo>
                  <a:pt x="119608" y="476761"/>
                </a:lnTo>
                <a:lnTo>
                  <a:pt x="124848" y="476761"/>
                </a:lnTo>
                <a:lnTo>
                  <a:pt x="126540" y="473141"/>
                </a:lnTo>
                <a:lnTo>
                  <a:pt x="126468" y="471801"/>
                </a:lnTo>
                <a:lnTo>
                  <a:pt x="126009" y="467325"/>
                </a:lnTo>
                <a:lnTo>
                  <a:pt x="79654" y="420970"/>
                </a:lnTo>
                <a:close/>
              </a:path>
              <a:path w="523875" h="524510">
                <a:moveTo>
                  <a:pt x="34239" y="446827"/>
                </a:moveTo>
                <a:lnTo>
                  <a:pt x="24460" y="446827"/>
                </a:lnTo>
                <a:lnTo>
                  <a:pt x="45415" y="467794"/>
                </a:lnTo>
                <a:lnTo>
                  <a:pt x="31089" y="482107"/>
                </a:lnTo>
                <a:lnTo>
                  <a:pt x="35293" y="482107"/>
                </a:lnTo>
                <a:lnTo>
                  <a:pt x="47510" y="469890"/>
                </a:lnTo>
                <a:lnTo>
                  <a:pt x="57302" y="469890"/>
                </a:lnTo>
                <a:lnTo>
                  <a:pt x="34239" y="446827"/>
                </a:lnTo>
                <a:close/>
              </a:path>
              <a:path w="523875" h="524510">
                <a:moveTo>
                  <a:pt x="124848" y="476761"/>
                </a:moveTo>
                <a:lnTo>
                  <a:pt x="119608" y="476761"/>
                </a:lnTo>
                <a:lnTo>
                  <a:pt x="123329" y="480012"/>
                </a:lnTo>
                <a:lnTo>
                  <a:pt x="124848" y="476761"/>
                </a:lnTo>
                <a:close/>
              </a:path>
              <a:path w="523875" h="524510">
                <a:moveTo>
                  <a:pt x="73075" y="450027"/>
                </a:moveTo>
                <a:lnTo>
                  <a:pt x="66154" y="450548"/>
                </a:lnTo>
                <a:lnTo>
                  <a:pt x="55905" y="452415"/>
                </a:lnTo>
                <a:lnTo>
                  <a:pt x="55905" y="454510"/>
                </a:lnTo>
                <a:lnTo>
                  <a:pt x="64515" y="455679"/>
                </a:lnTo>
                <a:lnTo>
                  <a:pt x="71450" y="457825"/>
                </a:lnTo>
                <a:lnTo>
                  <a:pt x="81927" y="464124"/>
                </a:lnTo>
                <a:lnTo>
                  <a:pt x="84137" y="463426"/>
                </a:lnTo>
                <a:lnTo>
                  <a:pt x="82511" y="454332"/>
                </a:lnTo>
                <a:lnTo>
                  <a:pt x="80302" y="451653"/>
                </a:lnTo>
                <a:lnTo>
                  <a:pt x="73075" y="450027"/>
                </a:lnTo>
                <a:close/>
              </a:path>
              <a:path w="523875" h="524510">
                <a:moveTo>
                  <a:pt x="58000" y="392318"/>
                </a:moveTo>
                <a:lnTo>
                  <a:pt x="44716" y="396509"/>
                </a:lnTo>
                <a:lnTo>
                  <a:pt x="49700" y="401186"/>
                </a:lnTo>
                <a:lnTo>
                  <a:pt x="55205" y="406473"/>
                </a:lnTo>
                <a:lnTo>
                  <a:pt x="61231" y="412369"/>
                </a:lnTo>
                <a:lnTo>
                  <a:pt x="67779" y="418874"/>
                </a:lnTo>
                <a:lnTo>
                  <a:pt x="38087" y="448567"/>
                </a:lnTo>
                <a:lnTo>
                  <a:pt x="44373" y="448567"/>
                </a:lnTo>
                <a:lnTo>
                  <a:pt x="46240" y="445315"/>
                </a:lnTo>
                <a:lnTo>
                  <a:pt x="48679" y="442166"/>
                </a:lnTo>
                <a:lnTo>
                  <a:pt x="69875" y="420970"/>
                </a:lnTo>
                <a:lnTo>
                  <a:pt x="79654" y="420970"/>
                </a:lnTo>
                <a:lnTo>
                  <a:pt x="74764" y="416080"/>
                </a:lnTo>
                <a:lnTo>
                  <a:pt x="76860" y="413985"/>
                </a:lnTo>
                <a:lnTo>
                  <a:pt x="72669" y="413985"/>
                </a:lnTo>
                <a:lnTo>
                  <a:pt x="56946" y="398262"/>
                </a:lnTo>
                <a:lnTo>
                  <a:pt x="58000" y="392318"/>
                </a:lnTo>
                <a:close/>
              </a:path>
              <a:path w="523875" h="524510">
                <a:moveTo>
                  <a:pt x="105867" y="366118"/>
                </a:moveTo>
                <a:lnTo>
                  <a:pt x="93281" y="370309"/>
                </a:lnTo>
                <a:lnTo>
                  <a:pt x="97565" y="374284"/>
                </a:lnTo>
                <a:lnTo>
                  <a:pt x="104816" y="381314"/>
                </a:lnTo>
                <a:lnTo>
                  <a:pt x="128219" y="404548"/>
                </a:lnTo>
                <a:lnTo>
                  <a:pt x="151458" y="427961"/>
                </a:lnTo>
                <a:lnTo>
                  <a:pt x="158489" y="435209"/>
                </a:lnTo>
                <a:lnTo>
                  <a:pt x="162458" y="439486"/>
                </a:lnTo>
                <a:lnTo>
                  <a:pt x="165963" y="431803"/>
                </a:lnTo>
                <a:lnTo>
                  <a:pt x="162001" y="428310"/>
                </a:lnTo>
                <a:lnTo>
                  <a:pt x="158153" y="424703"/>
                </a:lnTo>
                <a:lnTo>
                  <a:pt x="104813" y="371363"/>
                </a:lnTo>
                <a:lnTo>
                  <a:pt x="105867" y="366118"/>
                </a:lnTo>
                <a:close/>
              </a:path>
              <a:path w="523875" h="524510">
                <a:moveTo>
                  <a:pt x="91186" y="399659"/>
                </a:moveTo>
                <a:lnTo>
                  <a:pt x="77914" y="399659"/>
                </a:lnTo>
                <a:lnTo>
                  <a:pt x="77914" y="408739"/>
                </a:lnTo>
                <a:lnTo>
                  <a:pt x="72669" y="413985"/>
                </a:lnTo>
                <a:lnTo>
                  <a:pt x="76860" y="413985"/>
                </a:lnTo>
                <a:lnTo>
                  <a:pt x="91186" y="399659"/>
                </a:lnTo>
                <a:close/>
              </a:path>
              <a:path w="523875" h="524510">
                <a:moveTo>
                  <a:pt x="157924" y="335016"/>
                </a:moveTo>
                <a:lnTo>
                  <a:pt x="148844" y="335016"/>
                </a:lnTo>
                <a:lnTo>
                  <a:pt x="148844" y="342014"/>
                </a:lnTo>
                <a:lnTo>
                  <a:pt x="131724" y="359133"/>
                </a:lnTo>
                <a:lnTo>
                  <a:pt x="123329" y="361229"/>
                </a:lnTo>
                <a:lnTo>
                  <a:pt x="130237" y="367777"/>
                </a:lnTo>
                <a:lnTo>
                  <a:pt x="134466" y="371840"/>
                </a:lnTo>
                <a:lnTo>
                  <a:pt x="161931" y="399516"/>
                </a:lnTo>
                <a:lnTo>
                  <a:pt x="167360" y="405247"/>
                </a:lnTo>
                <a:lnTo>
                  <a:pt x="169799" y="397906"/>
                </a:lnTo>
                <a:lnTo>
                  <a:pt x="165963" y="394071"/>
                </a:lnTo>
                <a:lnTo>
                  <a:pt x="168057" y="391975"/>
                </a:lnTo>
                <a:lnTo>
                  <a:pt x="163868" y="391975"/>
                </a:lnTo>
                <a:lnTo>
                  <a:pt x="149186" y="377294"/>
                </a:lnTo>
                <a:lnTo>
                  <a:pt x="151283" y="375199"/>
                </a:lnTo>
                <a:lnTo>
                  <a:pt x="147091" y="375199"/>
                </a:lnTo>
                <a:lnTo>
                  <a:pt x="133464" y="361572"/>
                </a:lnTo>
                <a:lnTo>
                  <a:pt x="151637" y="343411"/>
                </a:lnTo>
                <a:lnTo>
                  <a:pt x="160731" y="343411"/>
                </a:lnTo>
                <a:lnTo>
                  <a:pt x="157568" y="340261"/>
                </a:lnTo>
                <a:lnTo>
                  <a:pt x="157924" y="335016"/>
                </a:lnTo>
                <a:close/>
              </a:path>
              <a:path w="523875" h="524510">
                <a:moveTo>
                  <a:pt x="176599" y="359133"/>
                </a:moveTo>
                <a:lnTo>
                  <a:pt x="167360" y="359133"/>
                </a:lnTo>
                <a:lnTo>
                  <a:pt x="182029" y="373802"/>
                </a:lnTo>
                <a:lnTo>
                  <a:pt x="163868" y="391975"/>
                </a:lnTo>
                <a:lnTo>
                  <a:pt x="168057" y="391975"/>
                </a:lnTo>
                <a:lnTo>
                  <a:pt x="184124" y="375897"/>
                </a:lnTo>
                <a:lnTo>
                  <a:pt x="191236" y="375897"/>
                </a:lnTo>
                <a:lnTo>
                  <a:pt x="191808" y="373802"/>
                </a:lnTo>
                <a:lnTo>
                  <a:pt x="185441" y="367744"/>
                </a:lnTo>
                <a:lnTo>
                  <a:pt x="176599" y="359133"/>
                </a:lnTo>
                <a:close/>
              </a:path>
              <a:path w="523875" h="524510">
                <a:moveTo>
                  <a:pt x="165252" y="307419"/>
                </a:moveTo>
                <a:lnTo>
                  <a:pt x="155473" y="307419"/>
                </a:lnTo>
                <a:lnTo>
                  <a:pt x="215798" y="367744"/>
                </a:lnTo>
                <a:lnTo>
                  <a:pt x="216331" y="369204"/>
                </a:lnTo>
                <a:lnTo>
                  <a:pt x="215163" y="371770"/>
                </a:lnTo>
                <a:lnTo>
                  <a:pt x="210565" y="375554"/>
                </a:lnTo>
                <a:lnTo>
                  <a:pt x="201942" y="381841"/>
                </a:lnTo>
                <a:lnTo>
                  <a:pt x="203339" y="383238"/>
                </a:lnTo>
                <a:lnTo>
                  <a:pt x="210096" y="379275"/>
                </a:lnTo>
                <a:lnTo>
                  <a:pt x="216382" y="378348"/>
                </a:lnTo>
                <a:lnTo>
                  <a:pt x="223051" y="378348"/>
                </a:lnTo>
                <a:lnTo>
                  <a:pt x="224033" y="375897"/>
                </a:lnTo>
                <a:lnTo>
                  <a:pt x="224828" y="372227"/>
                </a:lnTo>
                <a:lnTo>
                  <a:pt x="224129" y="367337"/>
                </a:lnTo>
                <a:lnTo>
                  <a:pt x="222440" y="364607"/>
                </a:lnTo>
                <a:lnTo>
                  <a:pt x="165252" y="307419"/>
                </a:lnTo>
                <a:close/>
              </a:path>
              <a:path w="523875" h="524510">
                <a:moveTo>
                  <a:pt x="191236" y="375897"/>
                </a:moveTo>
                <a:lnTo>
                  <a:pt x="184124" y="375897"/>
                </a:lnTo>
                <a:lnTo>
                  <a:pt x="189712" y="381485"/>
                </a:lnTo>
                <a:lnTo>
                  <a:pt x="191236" y="375897"/>
                </a:lnTo>
                <a:close/>
              </a:path>
              <a:path w="523875" h="524510">
                <a:moveTo>
                  <a:pt x="223051" y="378348"/>
                </a:moveTo>
                <a:lnTo>
                  <a:pt x="216382" y="378348"/>
                </a:lnTo>
                <a:lnTo>
                  <a:pt x="222211" y="380444"/>
                </a:lnTo>
                <a:lnTo>
                  <a:pt x="223051" y="378348"/>
                </a:lnTo>
                <a:close/>
              </a:path>
              <a:path w="523875" h="524510">
                <a:moveTo>
                  <a:pt x="160731" y="343411"/>
                </a:moveTo>
                <a:lnTo>
                  <a:pt x="151637" y="343411"/>
                </a:lnTo>
                <a:lnTo>
                  <a:pt x="165265" y="357038"/>
                </a:lnTo>
                <a:lnTo>
                  <a:pt x="147091" y="375199"/>
                </a:lnTo>
                <a:lnTo>
                  <a:pt x="151283" y="375199"/>
                </a:lnTo>
                <a:lnTo>
                  <a:pt x="167360" y="359133"/>
                </a:lnTo>
                <a:lnTo>
                  <a:pt x="176599" y="359133"/>
                </a:lnTo>
                <a:lnTo>
                  <a:pt x="168358" y="351008"/>
                </a:lnTo>
                <a:lnTo>
                  <a:pt x="160731" y="343411"/>
                </a:lnTo>
                <a:close/>
              </a:path>
              <a:path w="523875" h="524510">
                <a:moveTo>
                  <a:pt x="104698" y="349697"/>
                </a:moveTo>
                <a:lnTo>
                  <a:pt x="98640" y="350281"/>
                </a:lnTo>
                <a:lnTo>
                  <a:pt x="89789" y="352136"/>
                </a:lnTo>
                <a:lnTo>
                  <a:pt x="89789" y="354244"/>
                </a:lnTo>
                <a:lnTo>
                  <a:pt x="97472" y="355399"/>
                </a:lnTo>
                <a:lnTo>
                  <a:pt x="103644" y="357266"/>
                </a:lnTo>
                <a:lnTo>
                  <a:pt x="112966" y="362384"/>
                </a:lnTo>
                <a:lnTo>
                  <a:pt x="114884" y="361635"/>
                </a:lnTo>
                <a:lnTo>
                  <a:pt x="113258" y="353482"/>
                </a:lnTo>
                <a:lnTo>
                  <a:pt x="111226" y="351094"/>
                </a:lnTo>
                <a:lnTo>
                  <a:pt x="104698" y="349697"/>
                </a:lnTo>
                <a:close/>
              </a:path>
              <a:path w="523875" h="524510">
                <a:moveTo>
                  <a:pt x="162458" y="299037"/>
                </a:moveTo>
                <a:lnTo>
                  <a:pt x="152679" y="299037"/>
                </a:lnTo>
                <a:lnTo>
                  <a:pt x="152679" y="306022"/>
                </a:lnTo>
                <a:lnTo>
                  <a:pt x="113893" y="344808"/>
                </a:lnTo>
                <a:lnTo>
                  <a:pt x="120192" y="344808"/>
                </a:lnTo>
                <a:lnTo>
                  <a:pt x="122047" y="341544"/>
                </a:lnTo>
                <a:lnTo>
                  <a:pt x="124498" y="338394"/>
                </a:lnTo>
                <a:lnTo>
                  <a:pt x="155473" y="307419"/>
                </a:lnTo>
                <a:lnTo>
                  <a:pt x="165252" y="307419"/>
                </a:lnTo>
                <a:lnTo>
                  <a:pt x="161759" y="303926"/>
                </a:lnTo>
                <a:lnTo>
                  <a:pt x="162458" y="299037"/>
                </a:lnTo>
                <a:close/>
              </a:path>
              <a:path w="523875" h="524510">
                <a:moveTo>
                  <a:pt x="242468" y="210518"/>
                </a:moveTo>
                <a:lnTo>
                  <a:pt x="239359" y="235885"/>
                </a:lnTo>
                <a:lnTo>
                  <a:pt x="239929" y="241743"/>
                </a:lnTo>
                <a:lnTo>
                  <a:pt x="262150" y="276738"/>
                </a:lnTo>
                <a:lnTo>
                  <a:pt x="288074" y="284305"/>
                </a:lnTo>
                <a:lnTo>
                  <a:pt x="295402" y="284064"/>
                </a:lnTo>
                <a:lnTo>
                  <a:pt x="308686" y="281511"/>
                </a:lnTo>
                <a:lnTo>
                  <a:pt x="312000" y="280406"/>
                </a:lnTo>
                <a:lnTo>
                  <a:pt x="312000" y="280114"/>
                </a:lnTo>
                <a:lnTo>
                  <a:pt x="295986" y="280114"/>
                </a:lnTo>
                <a:lnTo>
                  <a:pt x="289115" y="279873"/>
                </a:lnTo>
                <a:lnTo>
                  <a:pt x="254037" y="259345"/>
                </a:lnTo>
                <a:lnTo>
                  <a:pt x="242857" y="225542"/>
                </a:lnTo>
                <a:lnTo>
                  <a:pt x="243842" y="215534"/>
                </a:lnTo>
                <a:lnTo>
                  <a:pt x="243878" y="211458"/>
                </a:lnTo>
                <a:lnTo>
                  <a:pt x="242468" y="210518"/>
                </a:lnTo>
                <a:close/>
              </a:path>
              <a:path w="523875" h="524510">
                <a:moveTo>
                  <a:pt x="308800" y="278476"/>
                </a:moveTo>
                <a:lnTo>
                  <a:pt x="295986" y="280114"/>
                </a:lnTo>
                <a:lnTo>
                  <a:pt x="312000" y="280114"/>
                </a:lnTo>
                <a:lnTo>
                  <a:pt x="312000" y="278539"/>
                </a:lnTo>
                <a:lnTo>
                  <a:pt x="308800" y="278476"/>
                </a:lnTo>
                <a:close/>
              </a:path>
              <a:path w="523875" h="524510">
                <a:moveTo>
                  <a:pt x="313055" y="184788"/>
                </a:moveTo>
                <a:lnTo>
                  <a:pt x="299770" y="186883"/>
                </a:lnTo>
                <a:lnTo>
                  <a:pt x="301866" y="190376"/>
                </a:lnTo>
                <a:lnTo>
                  <a:pt x="304203" y="195379"/>
                </a:lnTo>
                <a:lnTo>
                  <a:pt x="315607" y="237886"/>
                </a:lnTo>
                <a:lnTo>
                  <a:pt x="315849" y="244186"/>
                </a:lnTo>
                <a:lnTo>
                  <a:pt x="317944" y="244186"/>
                </a:lnTo>
                <a:lnTo>
                  <a:pt x="318192" y="237886"/>
                </a:lnTo>
                <a:lnTo>
                  <a:pt x="318103" y="226533"/>
                </a:lnTo>
                <a:lnTo>
                  <a:pt x="317742" y="220859"/>
                </a:lnTo>
                <a:lnTo>
                  <a:pt x="316890" y="214137"/>
                </a:lnTo>
                <a:lnTo>
                  <a:pt x="315493" y="205514"/>
                </a:lnTo>
                <a:lnTo>
                  <a:pt x="314274" y="199164"/>
                </a:lnTo>
                <a:lnTo>
                  <a:pt x="312178" y="191011"/>
                </a:lnTo>
                <a:lnTo>
                  <a:pt x="312115" y="187582"/>
                </a:lnTo>
                <a:lnTo>
                  <a:pt x="313055" y="184788"/>
                </a:lnTo>
                <a:close/>
              </a:path>
              <a:path w="523875" h="524510">
                <a:moveTo>
                  <a:pt x="307454" y="143551"/>
                </a:moveTo>
                <a:lnTo>
                  <a:pt x="293839" y="148796"/>
                </a:lnTo>
                <a:lnTo>
                  <a:pt x="298259" y="152758"/>
                </a:lnTo>
                <a:lnTo>
                  <a:pt x="304088" y="158346"/>
                </a:lnTo>
                <a:lnTo>
                  <a:pt x="363829" y="218087"/>
                </a:lnTo>
                <a:lnTo>
                  <a:pt x="364299" y="220894"/>
                </a:lnTo>
                <a:lnTo>
                  <a:pt x="359638" y="225542"/>
                </a:lnTo>
                <a:lnTo>
                  <a:pt x="355447" y="228806"/>
                </a:lnTo>
                <a:lnTo>
                  <a:pt x="349389" y="232997"/>
                </a:lnTo>
                <a:lnTo>
                  <a:pt x="351129" y="234749"/>
                </a:lnTo>
                <a:lnTo>
                  <a:pt x="361848" y="230089"/>
                </a:lnTo>
                <a:lnTo>
                  <a:pt x="368490" y="229276"/>
                </a:lnTo>
                <a:lnTo>
                  <a:pt x="372342" y="229276"/>
                </a:lnTo>
                <a:lnTo>
                  <a:pt x="374548" y="224145"/>
                </a:lnTo>
                <a:lnTo>
                  <a:pt x="373608" y="217389"/>
                </a:lnTo>
                <a:lnTo>
                  <a:pt x="306755" y="150548"/>
                </a:lnTo>
                <a:lnTo>
                  <a:pt x="307454" y="143551"/>
                </a:lnTo>
                <a:close/>
              </a:path>
              <a:path w="523875" h="524510">
                <a:moveTo>
                  <a:pt x="372342" y="229276"/>
                </a:moveTo>
                <a:lnTo>
                  <a:pt x="368490" y="229276"/>
                </a:lnTo>
                <a:lnTo>
                  <a:pt x="371043" y="232298"/>
                </a:lnTo>
                <a:lnTo>
                  <a:pt x="372342" y="229276"/>
                </a:lnTo>
                <a:close/>
              </a:path>
              <a:path w="523875" h="524510">
                <a:moveTo>
                  <a:pt x="367207" y="155082"/>
                </a:moveTo>
                <a:lnTo>
                  <a:pt x="361266" y="155085"/>
                </a:lnTo>
                <a:lnTo>
                  <a:pt x="353579" y="155435"/>
                </a:lnTo>
                <a:lnTo>
                  <a:pt x="344145" y="156133"/>
                </a:lnTo>
                <a:lnTo>
                  <a:pt x="332968" y="157178"/>
                </a:lnTo>
                <a:lnTo>
                  <a:pt x="332968" y="159273"/>
                </a:lnTo>
                <a:lnTo>
                  <a:pt x="340917" y="159907"/>
                </a:lnTo>
                <a:lnTo>
                  <a:pt x="348341" y="160759"/>
                </a:lnTo>
                <a:lnTo>
                  <a:pt x="386651" y="172329"/>
                </a:lnTo>
                <a:lnTo>
                  <a:pt x="388874" y="171618"/>
                </a:lnTo>
                <a:lnTo>
                  <a:pt x="387464" y="163706"/>
                </a:lnTo>
                <a:lnTo>
                  <a:pt x="385495" y="160670"/>
                </a:lnTo>
                <a:lnTo>
                  <a:pt x="378968" y="156479"/>
                </a:lnTo>
                <a:lnTo>
                  <a:pt x="373964" y="155324"/>
                </a:lnTo>
                <a:lnTo>
                  <a:pt x="367207" y="155082"/>
                </a:lnTo>
                <a:close/>
              </a:path>
              <a:path w="523875" h="524510">
                <a:moveTo>
                  <a:pt x="388874" y="80279"/>
                </a:moveTo>
                <a:lnTo>
                  <a:pt x="378739" y="81422"/>
                </a:lnTo>
                <a:lnTo>
                  <a:pt x="379437" y="87645"/>
                </a:lnTo>
                <a:lnTo>
                  <a:pt x="366153" y="100980"/>
                </a:lnTo>
                <a:lnTo>
                  <a:pt x="357771" y="103774"/>
                </a:lnTo>
                <a:lnTo>
                  <a:pt x="362227" y="107918"/>
                </a:lnTo>
                <a:lnTo>
                  <a:pt x="368603" y="114061"/>
                </a:lnTo>
                <a:lnTo>
                  <a:pt x="406606" y="152025"/>
                </a:lnTo>
                <a:lnTo>
                  <a:pt x="420357" y="166271"/>
                </a:lnTo>
                <a:lnTo>
                  <a:pt x="422770" y="158232"/>
                </a:lnTo>
                <a:lnTo>
                  <a:pt x="415404" y="150891"/>
                </a:lnTo>
                <a:lnTo>
                  <a:pt x="417503" y="148796"/>
                </a:lnTo>
                <a:lnTo>
                  <a:pt x="413321" y="148796"/>
                </a:lnTo>
                <a:lnTo>
                  <a:pt x="390969" y="126380"/>
                </a:lnTo>
                <a:lnTo>
                  <a:pt x="393016" y="124348"/>
                </a:lnTo>
                <a:lnTo>
                  <a:pt x="388874" y="124348"/>
                </a:lnTo>
                <a:lnTo>
                  <a:pt x="367906" y="103393"/>
                </a:lnTo>
                <a:lnTo>
                  <a:pt x="382231" y="89042"/>
                </a:lnTo>
                <a:lnTo>
                  <a:pt x="391958" y="89042"/>
                </a:lnTo>
                <a:lnTo>
                  <a:pt x="388518" y="85613"/>
                </a:lnTo>
                <a:lnTo>
                  <a:pt x="388874" y="80279"/>
                </a:lnTo>
                <a:close/>
              </a:path>
              <a:path w="523875" h="524510">
                <a:moveTo>
                  <a:pt x="415143" y="112156"/>
                </a:moveTo>
                <a:lnTo>
                  <a:pt x="405295" y="112156"/>
                </a:lnTo>
                <a:lnTo>
                  <a:pt x="427596" y="134470"/>
                </a:lnTo>
                <a:lnTo>
                  <a:pt x="413321" y="148796"/>
                </a:lnTo>
                <a:lnTo>
                  <a:pt x="417503" y="148796"/>
                </a:lnTo>
                <a:lnTo>
                  <a:pt x="429755" y="136566"/>
                </a:lnTo>
                <a:lnTo>
                  <a:pt x="438840" y="136566"/>
                </a:lnTo>
                <a:lnTo>
                  <a:pt x="439153" y="135524"/>
                </a:lnTo>
                <a:lnTo>
                  <a:pt x="435845" y="132476"/>
                </a:lnTo>
                <a:lnTo>
                  <a:pt x="431072" y="127904"/>
                </a:lnTo>
                <a:lnTo>
                  <a:pt x="424847" y="121808"/>
                </a:lnTo>
                <a:lnTo>
                  <a:pt x="415143" y="112156"/>
                </a:lnTo>
                <a:close/>
              </a:path>
              <a:path w="523875" h="524510">
                <a:moveTo>
                  <a:pt x="438840" y="136566"/>
                </a:moveTo>
                <a:lnTo>
                  <a:pt x="429755" y="136566"/>
                </a:lnTo>
                <a:lnTo>
                  <a:pt x="436740" y="143551"/>
                </a:lnTo>
                <a:lnTo>
                  <a:pt x="438840" y="136566"/>
                </a:lnTo>
                <a:close/>
              </a:path>
              <a:path w="523875" h="524510">
                <a:moveTo>
                  <a:pt x="437375" y="63134"/>
                </a:moveTo>
                <a:lnTo>
                  <a:pt x="427596" y="63134"/>
                </a:lnTo>
                <a:lnTo>
                  <a:pt x="471284" y="106822"/>
                </a:lnTo>
                <a:lnTo>
                  <a:pt x="473824" y="109489"/>
                </a:lnTo>
                <a:lnTo>
                  <a:pt x="460108" y="124348"/>
                </a:lnTo>
                <a:lnTo>
                  <a:pt x="461886" y="126126"/>
                </a:lnTo>
                <a:lnTo>
                  <a:pt x="471030" y="120284"/>
                </a:lnTo>
                <a:lnTo>
                  <a:pt x="477380" y="119014"/>
                </a:lnTo>
                <a:lnTo>
                  <a:pt x="482564" y="119014"/>
                </a:lnTo>
                <a:lnTo>
                  <a:pt x="484305" y="115331"/>
                </a:lnTo>
                <a:lnTo>
                  <a:pt x="484181" y="113553"/>
                </a:lnTo>
                <a:lnTo>
                  <a:pt x="483730" y="109489"/>
                </a:lnTo>
                <a:lnTo>
                  <a:pt x="437375" y="63134"/>
                </a:lnTo>
                <a:close/>
              </a:path>
              <a:path w="523875" h="524510">
                <a:moveTo>
                  <a:pt x="391958" y="89042"/>
                </a:moveTo>
                <a:lnTo>
                  <a:pt x="382231" y="89042"/>
                </a:lnTo>
                <a:lnTo>
                  <a:pt x="403186" y="109997"/>
                </a:lnTo>
                <a:lnTo>
                  <a:pt x="388874" y="124348"/>
                </a:lnTo>
                <a:lnTo>
                  <a:pt x="393016" y="124348"/>
                </a:lnTo>
                <a:lnTo>
                  <a:pt x="405295" y="112156"/>
                </a:lnTo>
                <a:lnTo>
                  <a:pt x="415143" y="112156"/>
                </a:lnTo>
                <a:lnTo>
                  <a:pt x="391958" y="89042"/>
                </a:lnTo>
                <a:close/>
              </a:path>
              <a:path w="523875" h="524510">
                <a:moveTo>
                  <a:pt x="482564" y="119014"/>
                </a:moveTo>
                <a:lnTo>
                  <a:pt x="477380" y="119014"/>
                </a:lnTo>
                <a:lnTo>
                  <a:pt x="481063" y="122189"/>
                </a:lnTo>
                <a:lnTo>
                  <a:pt x="482564" y="119014"/>
                </a:lnTo>
                <a:close/>
              </a:path>
              <a:path w="523875" h="524510">
                <a:moveTo>
                  <a:pt x="430898" y="92217"/>
                </a:moveTo>
                <a:lnTo>
                  <a:pt x="423913" y="92725"/>
                </a:lnTo>
                <a:lnTo>
                  <a:pt x="413677" y="94630"/>
                </a:lnTo>
                <a:lnTo>
                  <a:pt x="413677" y="96789"/>
                </a:lnTo>
                <a:lnTo>
                  <a:pt x="422262" y="97932"/>
                </a:lnTo>
                <a:lnTo>
                  <a:pt x="429247" y="100091"/>
                </a:lnTo>
                <a:lnTo>
                  <a:pt x="434454" y="103139"/>
                </a:lnTo>
                <a:lnTo>
                  <a:pt x="439661" y="106314"/>
                </a:lnTo>
                <a:lnTo>
                  <a:pt x="441947" y="105679"/>
                </a:lnTo>
                <a:lnTo>
                  <a:pt x="441037" y="100980"/>
                </a:lnTo>
                <a:lnTo>
                  <a:pt x="440296" y="96535"/>
                </a:lnTo>
                <a:lnTo>
                  <a:pt x="438010" y="93868"/>
                </a:lnTo>
                <a:lnTo>
                  <a:pt x="434454" y="93106"/>
                </a:lnTo>
                <a:lnTo>
                  <a:pt x="430898" y="92217"/>
                </a:lnTo>
                <a:close/>
              </a:path>
              <a:path w="523875" h="524510">
                <a:moveTo>
                  <a:pt x="415785" y="34559"/>
                </a:moveTo>
                <a:lnTo>
                  <a:pt x="402488" y="38750"/>
                </a:lnTo>
                <a:lnTo>
                  <a:pt x="407465" y="43422"/>
                </a:lnTo>
                <a:lnTo>
                  <a:pt x="412959" y="48688"/>
                </a:lnTo>
                <a:lnTo>
                  <a:pt x="418986" y="54574"/>
                </a:lnTo>
                <a:lnTo>
                  <a:pt x="425564" y="61102"/>
                </a:lnTo>
                <a:lnTo>
                  <a:pt x="395859" y="90820"/>
                </a:lnTo>
                <a:lnTo>
                  <a:pt x="402145" y="90820"/>
                </a:lnTo>
                <a:lnTo>
                  <a:pt x="404012" y="87518"/>
                </a:lnTo>
                <a:lnTo>
                  <a:pt x="406450" y="84343"/>
                </a:lnTo>
                <a:lnTo>
                  <a:pt x="409486" y="81422"/>
                </a:lnTo>
                <a:lnTo>
                  <a:pt x="427596" y="63134"/>
                </a:lnTo>
                <a:lnTo>
                  <a:pt x="437375" y="63134"/>
                </a:lnTo>
                <a:lnTo>
                  <a:pt x="432549" y="58308"/>
                </a:lnTo>
                <a:lnTo>
                  <a:pt x="434708" y="56149"/>
                </a:lnTo>
                <a:lnTo>
                  <a:pt x="430390" y="56149"/>
                </a:lnTo>
                <a:lnTo>
                  <a:pt x="414718" y="40528"/>
                </a:lnTo>
                <a:lnTo>
                  <a:pt x="415785" y="34559"/>
                </a:lnTo>
                <a:close/>
              </a:path>
              <a:path w="523875" h="524510">
                <a:moveTo>
                  <a:pt x="492810" y="3698"/>
                </a:moveTo>
                <a:lnTo>
                  <a:pt x="464045" y="3698"/>
                </a:lnTo>
                <a:lnTo>
                  <a:pt x="471030" y="4206"/>
                </a:lnTo>
                <a:lnTo>
                  <a:pt x="479031" y="5857"/>
                </a:lnTo>
                <a:lnTo>
                  <a:pt x="511765" y="29495"/>
                </a:lnTo>
                <a:lnTo>
                  <a:pt x="519036" y="58816"/>
                </a:lnTo>
                <a:lnTo>
                  <a:pt x="517258" y="70373"/>
                </a:lnTo>
                <a:lnTo>
                  <a:pt x="517131" y="73548"/>
                </a:lnTo>
                <a:lnTo>
                  <a:pt x="517766" y="74056"/>
                </a:lnTo>
                <a:lnTo>
                  <a:pt x="518528" y="74437"/>
                </a:lnTo>
                <a:lnTo>
                  <a:pt x="519798" y="71135"/>
                </a:lnTo>
                <a:lnTo>
                  <a:pt x="521576" y="63896"/>
                </a:lnTo>
                <a:lnTo>
                  <a:pt x="523481" y="56657"/>
                </a:lnTo>
                <a:lnTo>
                  <a:pt x="509892" y="15128"/>
                </a:lnTo>
                <a:lnTo>
                  <a:pt x="497716" y="5810"/>
                </a:lnTo>
                <a:lnTo>
                  <a:pt x="492810" y="3698"/>
                </a:lnTo>
                <a:close/>
              </a:path>
              <a:path w="523875" h="524510">
                <a:moveTo>
                  <a:pt x="448932" y="41925"/>
                </a:moveTo>
                <a:lnTo>
                  <a:pt x="435724" y="41925"/>
                </a:lnTo>
                <a:lnTo>
                  <a:pt x="435724" y="50942"/>
                </a:lnTo>
                <a:lnTo>
                  <a:pt x="430390" y="56149"/>
                </a:lnTo>
                <a:lnTo>
                  <a:pt x="434708" y="56149"/>
                </a:lnTo>
                <a:lnTo>
                  <a:pt x="448932" y="41925"/>
                </a:lnTo>
                <a:close/>
              </a:path>
              <a:path w="523875" h="524510">
                <a:moveTo>
                  <a:pt x="469903" y="0"/>
                </a:moveTo>
                <a:lnTo>
                  <a:pt x="463745" y="248"/>
                </a:lnTo>
                <a:lnTo>
                  <a:pt x="458076" y="1031"/>
                </a:lnTo>
                <a:lnTo>
                  <a:pt x="450837" y="2428"/>
                </a:lnTo>
                <a:lnTo>
                  <a:pt x="447408" y="3444"/>
                </a:lnTo>
                <a:lnTo>
                  <a:pt x="447916" y="4206"/>
                </a:lnTo>
                <a:lnTo>
                  <a:pt x="448424" y="4841"/>
                </a:lnTo>
                <a:lnTo>
                  <a:pt x="451726" y="4968"/>
                </a:lnTo>
                <a:lnTo>
                  <a:pt x="464045" y="3698"/>
                </a:lnTo>
                <a:lnTo>
                  <a:pt x="492810" y="3698"/>
                </a:lnTo>
                <a:lnTo>
                  <a:pt x="490943" y="2895"/>
                </a:lnTo>
                <a:lnTo>
                  <a:pt x="483730" y="1158"/>
                </a:lnTo>
                <a:lnTo>
                  <a:pt x="476560" y="299"/>
                </a:lnTo>
                <a:lnTo>
                  <a:pt x="469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054605" y="5387721"/>
            <a:ext cx="69342" cy="779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729992" y="5391022"/>
            <a:ext cx="79120" cy="788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385058" y="5389371"/>
            <a:ext cx="119125" cy="11264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071746" y="5390134"/>
            <a:ext cx="110616" cy="1118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748657" y="5390769"/>
            <a:ext cx="120268" cy="1297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35346" y="5387721"/>
            <a:ext cx="122174" cy="1328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808851" y="5389371"/>
            <a:ext cx="128904" cy="1215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22034" y="5391022"/>
            <a:ext cx="120650" cy="1295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495637" y="5390134"/>
            <a:ext cx="120203" cy="1207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194040" y="5390769"/>
            <a:ext cx="108584" cy="1158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3005454" y="1686305"/>
            <a:ext cx="3368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“组织成员注册”任务燃尽</a:t>
            </a:r>
            <a:r>
              <a:rPr sz="1600" b="1" dirty="0">
                <a:latin typeface="宋体"/>
                <a:cs typeface="宋体"/>
              </a:rPr>
              <a:t>图</a:t>
            </a:r>
            <a:r>
              <a:rPr sz="1600" b="1" spc="-5" dirty="0">
                <a:latin typeface="宋体"/>
                <a:cs typeface="宋体"/>
              </a:rPr>
              <a:t>：</a:t>
            </a:r>
            <a:r>
              <a:rPr sz="1600" b="1" spc="-5" dirty="0">
                <a:latin typeface="Arial Narrow"/>
                <a:cs typeface="Arial Narrow"/>
              </a:rPr>
              <a:t>7</a:t>
            </a:r>
            <a:r>
              <a:rPr sz="1600" b="1" spc="-5" dirty="0">
                <a:latin typeface="宋体"/>
                <a:cs typeface="宋体"/>
              </a:rPr>
              <a:t>：</a:t>
            </a:r>
            <a:r>
              <a:rPr sz="1600" b="1" spc="-5" dirty="0">
                <a:latin typeface="Arial Narrow"/>
                <a:cs typeface="Arial Narrow"/>
              </a:rPr>
              <a:t>13</a:t>
            </a:r>
            <a:endParaRPr sz="1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3129" y="884427"/>
            <a:ext cx="134620" cy="0"/>
          </a:xfrm>
          <a:custGeom>
            <a:avLst/>
            <a:gdLst/>
            <a:ahLst/>
            <a:cxnLst/>
            <a:rect l="l" t="t" r="r" b="b"/>
            <a:pathLst>
              <a:path w="134619">
                <a:moveTo>
                  <a:pt x="0" y="0"/>
                </a:moveTo>
                <a:lnTo>
                  <a:pt x="134112" y="0"/>
                </a:lnTo>
              </a:path>
            </a:pathLst>
          </a:custGeom>
          <a:ln w="10667">
            <a:solidFill>
              <a:srgbClr val="775F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7242" y="884427"/>
            <a:ext cx="5340350" cy="0"/>
          </a:xfrm>
          <a:custGeom>
            <a:avLst/>
            <a:gdLst/>
            <a:ahLst/>
            <a:cxnLst/>
            <a:rect l="l" t="t" r="r" b="b"/>
            <a:pathLst>
              <a:path w="5340350">
                <a:moveTo>
                  <a:pt x="0" y="0"/>
                </a:moveTo>
                <a:lnTo>
                  <a:pt x="5340096" y="0"/>
                </a:lnTo>
              </a:path>
            </a:pathLst>
          </a:custGeom>
          <a:ln w="10667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81305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9000" algn="l"/>
              </a:tabLst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：</a:t>
            </a:r>
            <a:r>
              <a:rPr spc="-10" dirty="0"/>
              <a:t> </a:t>
            </a:r>
            <a:r>
              <a:rPr i="1" dirty="0">
                <a:solidFill>
                  <a:srgbClr val="F7B615"/>
                </a:solidFill>
                <a:latin typeface="华文隶书"/>
                <a:cs typeface="华文隶书"/>
              </a:rPr>
              <a:t>Sprint	Backlog</a:t>
            </a:r>
            <a:r>
              <a:rPr dirty="0">
                <a:solidFill>
                  <a:srgbClr val="F7B615"/>
                </a:solidFill>
              </a:rPr>
              <a:t>更新数据</a:t>
            </a:r>
            <a:r>
              <a:rPr i="1" dirty="0">
                <a:latin typeface="华文隶书"/>
                <a:cs typeface="华文隶书"/>
              </a:rPr>
              <a:t>7.18</a:t>
            </a:r>
          </a:p>
        </p:txBody>
      </p:sp>
      <p:sp>
        <p:nvSpPr>
          <p:cNvPr id="5" name="object 5"/>
          <p:cNvSpPr/>
          <p:nvPr/>
        </p:nvSpPr>
        <p:spPr>
          <a:xfrm>
            <a:off x="7657338" y="884427"/>
            <a:ext cx="859790" cy="0"/>
          </a:xfrm>
          <a:custGeom>
            <a:avLst/>
            <a:gdLst/>
            <a:ahLst/>
            <a:cxnLst/>
            <a:rect l="l" t="t" r="r" b="b"/>
            <a:pathLst>
              <a:path w="859790">
                <a:moveTo>
                  <a:pt x="0" y="0"/>
                </a:moveTo>
                <a:lnTo>
                  <a:pt x="859536" y="0"/>
                </a:lnTo>
              </a:path>
            </a:pathLst>
          </a:custGeom>
          <a:ln w="10667">
            <a:solidFill>
              <a:srgbClr val="775F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459" y="1604772"/>
            <a:ext cx="8892539" cy="4320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77203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第一迭代任务燃尽</a:t>
            </a:r>
            <a:r>
              <a:rPr spc="-5" dirty="0"/>
              <a:t>图</a:t>
            </a:r>
            <a:r>
              <a:rPr i="1" spc="-5" dirty="0">
                <a:latin typeface="华文隶书"/>
                <a:cs typeface="华文隶书"/>
              </a:rPr>
              <a:t>-7</a:t>
            </a:r>
            <a:r>
              <a:rPr dirty="0"/>
              <a:t>月</a:t>
            </a:r>
            <a:r>
              <a:rPr i="1" spc="-10" dirty="0">
                <a:latin typeface="华文隶书"/>
                <a:cs typeface="华文隶书"/>
              </a:rPr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2896" y="5047488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2896" y="4725923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2896" y="4404359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2896" y="4082796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2896" y="3761232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2896" y="3438144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2896" y="3116579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72896" y="2795016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2896" y="2473451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2896" y="2151888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2896" y="2151888"/>
            <a:ext cx="0" cy="3217545"/>
          </a:xfrm>
          <a:custGeom>
            <a:avLst/>
            <a:gdLst/>
            <a:ahLst/>
            <a:cxnLst/>
            <a:rect l="l" t="t" r="r" b="b"/>
            <a:pathLst>
              <a:path h="3217545">
                <a:moveTo>
                  <a:pt x="0" y="3217164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33272" y="5369052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33272" y="504748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33272" y="4725923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33272" y="440435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33272" y="4082796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33272" y="3761232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33272" y="3438144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33272" y="311657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33272" y="2795016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33272" y="2473451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33272" y="215188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62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72896" y="5369052"/>
            <a:ext cx="7553325" cy="0"/>
          </a:xfrm>
          <a:custGeom>
            <a:avLst/>
            <a:gdLst/>
            <a:ahLst/>
            <a:cxnLst/>
            <a:rect l="l" t="t" r="r" b="b"/>
            <a:pathLst>
              <a:path w="7553325">
                <a:moveTo>
                  <a:pt x="0" y="0"/>
                </a:moveTo>
                <a:lnTo>
                  <a:pt x="75529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72896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62455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53539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44623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34183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25267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816351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05911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96996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88079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77640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68723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58284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49367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40452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430011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721096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12179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301740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92823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83907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73468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464552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754111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45195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36280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25840" y="5369052"/>
            <a:ext cx="0" cy="40005"/>
          </a:xfrm>
          <a:custGeom>
            <a:avLst/>
            <a:gdLst/>
            <a:ahLst/>
            <a:cxnLst/>
            <a:rect l="l" t="t" r="r" b="b"/>
            <a:pathLst>
              <a:path h="40004">
                <a:moveTo>
                  <a:pt x="0" y="0"/>
                </a:moveTo>
                <a:lnTo>
                  <a:pt x="0" y="39624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18438" y="2248661"/>
            <a:ext cx="2033270" cy="1205865"/>
          </a:xfrm>
          <a:custGeom>
            <a:avLst/>
            <a:gdLst/>
            <a:ahLst/>
            <a:cxnLst/>
            <a:rect l="l" t="t" r="r" b="b"/>
            <a:pathLst>
              <a:path w="2033270" h="1205864">
                <a:moveTo>
                  <a:pt x="0" y="0"/>
                </a:moveTo>
                <a:lnTo>
                  <a:pt x="289559" y="105155"/>
                </a:lnTo>
                <a:lnTo>
                  <a:pt x="580644" y="307848"/>
                </a:lnTo>
                <a:lnTo>
                  <a:pt x="871728" y="513588"/>
                </a:lnTo>
                <a:lnTo>
                  <a:pt x="1161288" y="716279"/>
                </a:lnTo>
                <a:lnTo>
                  <a:pt x="1452372" y="880872"/>
                </a:lnTo>
                <a:lnTo>
                  <a:pt x="1741932" y="1042415"/>
                </a:lnTo>
                <a:lnTo>
                  <a:pt x="2033015" y="1205484"/>
                </a:lnTo>
              </a:path>
            </a:pathLst>
          </a:custGeom>
          <a:ln w="2895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40765" y="2376042"/>
            <a:ext cx="234315" cy="307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 Narrow"/>
                <a:cs typeface="Arial Narrow"/>
              </a:rPr>
              <a:t>90%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80%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70%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60%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50%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40%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30%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20%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10%</a:t>
            </a:r>
            <a:endParaRPr sz="1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</a:pPr>
            <a:r>
              <a:rPr sz="1000" spc="-5" dirty="0">
                <a:latin typeface="Arial Narrow"/>
                <a:cs typeface="Arial Narrow"/>
              </a:rPr>
              <a:t>0%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82853" y="2053539"/>
            <a:ext cx="29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 Narrow"/>
                <a:cs typeface="Arial Narrow"/>
              </a:rPr>
              <a:t>100%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46683" y="5489828"/>
            <a:ext cx="7750378" cy="488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2272410" y="1858517"/>
            <a:ext cx="269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第一迭代任务燃尽</a:t>
            </a:r>
            <a:r>
              <a:rPr sz="1800" b="1" spc="-5" dirty="0">
                <a:latin typeface="宋体"/>
                <a:cs typeface="宋体"/>
              </a:rPr>
              <a:t>图</a:t>
            </a:r>
            <a:r>
              <a:rPr sz="1800" b="1" spc="-5" dirty="0">
                <a:latin typeface="Arial Narrow"/>
                <a:cs typeface="Arial Narrow"/>
              </a:rPr>
              <a:t>-7</a:t>
            </a:r>
            <a:r>
              <a:rPr sz="1800" b="1" dirty="0">
                <a:latin typeface="宋体"/>
                <a:cs typeface="宋体"/>
              </a:rPr>
              <a:t>月</a:t>
            </a:r>
            <a:r>
              <a:rPr sz="1800" b="1" spc="-5" dirty="0">
                <a:latin typeface="Arial Narrow"/>
                <a:cs typeface="Arial Narrow"/>
              </a:rPr>
              <a:t>18</a:t>
            </a:r>
            <a:endParaRPr sz="1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4591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：跟踪甘特图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611" y="1735277"/>
            <a:ext cx="8639556" cy="4286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6269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/>
              <a:t>：项目总体</a:t>
            </a:r>
            <a:r>
              <a:rPr spc="5" dirty="0"/>
              <a:t>情</a:t>
            </a:r>
            <a:r>
              <a:rPr dirty="0"/>
              <a:t>况分析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8742" y="1605482"/>
            <a:ext cx="7348017" cy="44905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4696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医疗信息商务平台案例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95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844" y="2133600"/>
            <a:ext cx="7876032" cy="3959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9536" y="3337559"/>
            <a:ext cx="7457440" cy="2567940"/>
          </a:xfrm>
          <a:custGeom>
            <a:avLst/>
            <a:gdLst/>
            <a:ahLst/>
            <a:cxnLst/>
            <a:rect l="l" t="t" r="r" b="b"/>
            <a:pathLst>
              <a:path w="7457440" h="2567940">
                <a:moveTo>
                  <a:pt x="7028942" y="0"/>
                </a:moveTo>
                <a:lnTo>
                  <a:pt x="427989" y="0"/>
                </a:lnTo>
                <a:lnTo>
                  <a:pt x="381355" y="2511"/>
                </a:lnTo>
                <a:lnTo>
                  <a:pt x="336176" y="9872"/>
                </a:lnTo>
                <a:lnTo>
                  <a:pt x="292712" y="21821"/>
                </a:lnTo>
                <a:lnTo>
                  <a:pt x="251224" y="38097"/>
                </a:lnTo>
                <a:lnTo>
                  <a:pt x="211975" y="58438"/>
                </a:lnTo>
                <a:lnTo>
                  <a:pt x="175224" y="82584"/>
                </a:lnTo>
                <a:lnTo>
                  <a:pt x="141234" y="110273"/>
                </a:lnTo>
                <a:lnTo>
                  <a:pt x="110264" y="141244"/>
                </a:lnTo>
                <a:lnTo>
                  <a:pt x="82577" y="175235"/>
                </a:lnTo>
                <a:lnTo>
                  <a:pt x="58433" y="211986"/>
                </a:lnTo>
                <a:lnTo>
                  <a:pt x="38093" y="251235"/>
                </a:lnTo>
                <a:lnTo>
                  <a:pt x="21819" y="292721"/>
                </a:lnTo>
                <a:lnTo>
                  <a:pt x="9871" y="336183"/>
                </a:lnTo>
                <a:lnTo>
                  <a:pt x="2511" y="381360"/>
                </a:lnTo>
                <a:lnTo>
                  <a:pt x="0" y="427989"/>
                </a:lnTo>
                <a:lnTo>
                  <a:pt x="0" y="2139950"/>
                </a:lnTo>
                <a:lnTo>
                  <a:pt x="2511" y="2186584"/>
                </a:lnTo>
                <a:lnTo>
                  <a:pt x="9871" y="2231763"/>
                </a:lnTo>
                <a:lnTo>
                  <a:pt x="21819" y="2275227"/>
                </a:lnTo>
                <a:lnTo>
                  <a:pt x="38093" y="2316715"/>
                </a:lnTo>
                <a:lnTo>
                  <a:pt x="58433" y="2355964"/>
                </a:lnTo>
                <a:lnTo>
                  <a:pt x="82577" y="2392715"/>
                </a:lnTo>
                <a:lnTo>
                  <a:pt x="110264" y="2426705"/>
                </a:lnTo>
                <a:lnTo>
                  <a:pt x="141234" y="2457675"/>
                </a:lnTo>
                <a:lnTo>
                  <a:pt x="175224" y="2485362"/>
                </a:lnTo>
                <a:lnTo>
                  <a:pt x="211975" y="2509506"/>
                </a:lnTo>
                <a:lnTo>
                  <a:pt x="251224" y="2529846"/>
                </a:lnTo>
                <a:lnTo>
                  <a:pt x="292712" y="2546120"/>
                </a:lnTo>
                <a:lnTo>
                  <a:pt x="336176" y="2558068"/>
                </a:lnTo>
                <a:lnTo>
                  <a:pt x="381355" y="2565428"/>
                </a:lnTo>
                <a:lnTo>
                  <a:pt x="427989" y="2567940"/>
                </a:lnTo>
                <a:lnTo>
                  <a:pt x="7028942" y="2567940"/>
                </a:lnTo>
                <a:lnTo>
                  <a:pt x="7075571" y="2565428"/>
                </a:lnTo>
                <a:lnTo>
                  <a:pt x="7120748" y="2558068"/>
                </a:lnTo>
                <a:lnTo>
                  <a:pt x="7164210" y="2546120"/>
                </a:lnTo>
                <a:lnTo>
                  <a:pt x="7205696" y="2529846"/>
                </a:lnTo>
                <a:lnTo>
                  <a:pt x="7244945" y="2509506"/>
                </a:lnTo>
                <a:lnTo>
                  <a:pt x="7281696" y="2485362"/>
                </a:lnTo>
                <a:lnTo>
                  <a:pt x="7315687" y="2457675"/>
                </a:lnTo>
                <a:lnTo>
                  <a:pt x="7346658" y="2426705"/>
                </a:lnTo>
                <a:lnTo>
                  <a:pt x="7374347" y="2392715"/>
                </a:lnTo>
                <a:lnTo>
                  <a:pt x="7398493" y="2355964"/>
                </a:lnTo>
                <a:lnTo>
                  <a:pt x="7418834" y="2316715"/>
                </a:lnTo>
                <a:lnTo>
                  <a:pt x="7435110" y="2275227"/>
                </a:lnTo>
                <a:lnTo>
                  <a:pt x="7447059" y="2231763"/>
                </a:lnTo>
                <a:lnTo>
                  <a:pt x="7454420" y="2186584"/>
                </a:lnTo>
                <a:lnTo>
                  <a:pt x="7456932" y="2139950"/>
                </a:lnTo>
                <a:lnTo>
                  <a:pt x="7456932" y="427989"/>
                </a:lnTo>
                <a:lnTo>
                  <a:pt x="7454420" y="381360"/>
                </a:lnTo>
                <a:lnTo>
                  <a:pt x="7447059" y="336183"/>
                </a:lnTo>
                <a:lnTo>
                  <a:pt x="7435110" y="292721"/>
                </a:lnTo>
                <a:lnTo>
                  <a:pt x="7418834" y="251235"/>
                </a:lnTo>
                <a:lnTo>
                  <a:pt x="7398493" y="211986"/>
                </a:lnTo>
                <a:lnTo>
                  <a:pt x="7374347" y="175235"/>
                </a:lnTo>
                <a:lnTo>
                  <a:pt x="7346658" y="141244"/>
                </a:lnTo>
                <a:lnTo>
                  <a:pt x="7315687" y="110273"/>
                </a:lnTo>
                <a:lnTo>
                  <a:pt x="7281696" y="82584"/>
                </a:lnTo>
                <a:lnTo>
                  <a:pt x="7244945" y="58438"/>
                </a:lnTo>
                <a:lnTo>
                  <a:pt x="7205696" y="38097"/>
                </a:lnTo>
                <a:lnTo>
                  <a:pt x="7164210" y="21821"/>
                </a:lnTo>
                <a:lnTo>
                  <a:pt x="7120748" y="9872"/>
                </a:lnTo>
                <a:lnTo>
                  <a:pt x="7075571" y="2511"/>
                </a:lnTo>
                <a:lnTo>
                  <a:pt x="70289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36547" y="2427808"/>
            <a:ext cx="5303520" cy="283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5"/>
              </a:spcBef>
            </a:pPr>
            <a:r>
              <a:rPr sz="4000" b="1" u="heavy" spc="-10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核心计划执行控制案例</a:t>
            </a:r>
            <a:endParaRPr sz="4000">
              <a:latin typeface="方正姚体"/>
              <a:cs typeface="方正姚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>
              <a:latin typeface="Times New Roman"/>
              <a:cs typeface="Times New Roman"/>
            </a:endParaRPr>
          </a:p>
          <a:p>
            <a:pPr marL="376555" indent="-364490">
              <a:lnSpc>
                <a:spcPct val="100000"/>
              </a:lnSpc>
              <a:spcBef>
                <a:spcPts val="5"/>
              </a:spcBef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dirty="0">
                <a:solidFill>
                  <a:srgbClr val="B85B21"/>
                </a:solidFill>
                <a:latin typeface="华文新魏"/>
                <a:cs typeface="华文新魏"/>
              </a:rPr>
              <a:t>MED范围执行控制</a:t>
            </a:r>
            <a:endParaRPr sz="3600">
              <a:latin typeface="华文新魏"/>
              <a:cs typeface="华文新魏"/>
            </a:endParaRPr>
          </a:p>
          <a:p>
            <a:pPr marL="376555" indent="-364490">
              <a:lnSpc>
                <a:spcPct val="100000"/>
              </a:lnSpc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dirty="0">
                <a:solidFill>
                  <a:srgbClr val="B85B21"/>
                </a:solidFill>
                <a:latin typeface="华文新魏"/>
                <a:cs typeface="华文新魏"/>
              </a:rPr>
              <a:t>MED成本时间执行控制</a:t>
            </a:r>
            <a:endParaRPr sz="3600">
              <a:latin typeface="华文新魏"/>
              <a:cs typeface="华文新魏"/>
            </a:endParaRPr>
          </a:p>
          <a:p>
            <a:pPr marL="376555" indent="-364490">
              <a:lnSpc>
                <a:spcPct val="100000"/>
              </a:lnSpc>
              <a:buSzPct val="97222"/>
              <a:buFont typeface="Wingdings"/>
              <a:buChar char=""/>
              <a:tabLst>
                <a:tab pos="377190" algn="l"/>
              </a:tabLst>
            </a:pPr>
            <a:r>
              <a:rPr sz="3600" u="heavy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MED质量执行控制</a:t>
            </a:r>
            <a:r>
              <a:rPr sz="3600" u="heavy" spc="105" dirty="0">
                <a:solidFill>
                  <a:srgbClr val="B85B21"/>
                </a:solidFill>
                <a:uFill>
                  <a:solidFill>
                    <a:srgbClr val="548AB8"/>
                  </a:solidFill>
                </a:uFill>
                <a:latin typeface="华文新魏"/>
                <a:cs typeface="华文新魏"/>
              </a:rPr>
              <a:t> 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需求分析过程审计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633213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1639" y="1592580"/>
            <a:ext cx="5903975" cy="5100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设计产品评审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1933" y="6394004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9676" y="1604769"/>
            <a:ext cx="5039868" cy="52532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36982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阶段评审过程审计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6570" y="6201066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1411224"/>
            <a:ext cx="8354568" cy="5186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7970" y="608147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961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773" y="2564129"/>
            <a:ext cx="6543040" cy="285623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9575" indent="-320675">
              <a:lnSpc>
                <a:spcPts val="3595"/>
              </a:lnSpc>
              <a:buClr>
                <a:srgbClr val="DD8046"/>
              </a:buClr>
              <a:buSzPct val="59375"/>
              <a:buFont typeface="Wingdings"/>
              <a:buChar char=""/>
              <a:tabLst>
                <a:tab pos="409575" algn="l"/>
                <a:tab pos="410209" algn="l"/>
              </a:tabLst>
            </a:pPr>
            <a:r>
              <a:rPr sz="3200" dirty="0">
                <a:latin typeface="华文新魏"/>
                <a:cs typeface="华文新魏"/>
              </a:rPr>
              <a:t>范围执行控制</a:t>
            </a:r>
            <a:endParaRPr sz="3200">
              <a:latin typeface="华文新魏"/>
              <a:cs typeface="华文新魏"/>
            </a:endParaRPr>
          </a:p>
          <a:p>
            <a:pPr marL="409575" indent="-320675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59375"/>
              <a:buFont typeface="Wingdings"/>
              <a:buChar char=""/>
              <a:tabLst>
                <a:tab pos="409575" algn="l"/>
                <a:tab pos="410209" algn="l"/>
              </a:tabLst>
            </a:pPr>
            <a:r>
              <a:rPr sz="3200" dirty="0">
                <a:latin typeface="华文新魏"/>
                <a:cs typeface="华文新魏"/>
              </a:rPr>
              <a:t>时间\成本执行控制</a:t>
            </a:r>
            <a:endParaRPr sz="3200">
              <a:latin typeface="华文新魏"/>
              <a:cs typeface="华文新魏"/>
            </a:endParaRPr>
          </a:p>
          <a:p>
            <a:pPr marL="409575" indent="-320675">
              <a:lnSpc>
                <a:spcPct val="100000"/>
              </a:lnSpc>
              <a:spcBef>
                <a:spcPts val="325"/>
              </a:spcBef>
              <a:buClr>
                <a:srgbClr val="DD8046"/>
              </a:buClr>
              <a:buSzPct val="59375"/>
              <a:buFont typeface="Wingdings"/>
              <a:buChar char=""/>
              <a:tabLst>
                <a:tab pos="409575" algn="l"/>
                <a:tab pos="410209" algn="l"/>
              </a:tabLst>
            </a:pPr>
            <a:r>
              <a:rPr sz="3200" dirty="0">
                <a:latin typeface="华文新魏"/>
                <a:cs typeface="华文新魏"/>
              </a:rPr>
              <a:t>质量执行控制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990" y="1770379"/>
            <a:ext cx="5054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项目核心计划的执行控</a:t>
            </a:r>
            <a:r>
              <a:rPr sz="36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制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1490</Words>
  <Application>Microsoft Macintosh PowerPoint</Application>
  <PresentationFormat>全屏显示(4:3)</PresentationFormat>
  <Paragraphs>637</Paragraphs>
  <Slides>99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99</vt:i4>
      </vt:variant>
    </vt:vector>
  </HeadingPairs>
  <TitlesOfParts>
    <vt:vector size="121" baseType="lpstr">
      <vt:lpstr>方正姚体</vt:lpstr>
      <vt:lpstr>黑体</vt:lpstr>
      <vt:lpstr>华文仿宋</vt:lpstr>
      <vt:lpstr>华文琥珀</vt:lpstr>
      <vt:lpstr>华文隶书</vt:lpstr>
      <vt:lpstr>华文新魏</vt:lpstr>
      <vt:lpstr>华文行楷</vt:lpstr>
      <vt:lpstr>华文中宋</vt:lpstr>
      <vt:lpstr>楷体</vt:lpstr>
      <vt:lpstr>宋体</vt:lpstr>
      <vt:lpstr>微软雅黑</vt:lpstr>
      <vt:lpstr>Microsoft JhengHei</vt:lpstr>
      <vt:lpstr>Arial</vt:lpstr>
      <vt:lpstr>Arial Narrow</vt:lpstr>
      <vt:lpstr>Arial Rounded MT Bold</vt:lpstr>
      <vt:lpstr>Calibri</vt:lpstr>
      <vt:lpstr>Candara</vt:lpstr>
      <vt:lpstr>Times New Roman</vt:lpstr>
      <vt:lpstr>Tw Cen MT</vt:lpstr>
      <vt:lpstr>Wingdings</vt:lpstr>
      <vt:lpstr>Wingdings 2</vt:lpstr>
      <vt:lpstr>Office Theme</vt:lpstr>
      <vt:lpstr>PowerPoint 演示文稿</vt:lpstr>
      <vt:lpstr>第 14 章</vt:lpstr>
      <vt:lpstr>情景引入</vt:lpstr>
      <vt:lpstr>本章要点</vt:lpstr>
      <vt:lpstr>范围管理</vt:lpstr>
      <vt:lpstr>分析技术</vt:lpstr>
      <vt:lpstr>范围控制要点</vt:lpstr>
      <vt:lpstr>变更控制系统</vt:lpstr>
      <vt:lpstr>敏捷项目:需求不断被定义</vt:lpstr>
      <vt:lpstr>敏捷项目范围管理</vt:lpstr>
      <vt:lpstr>本章要点</vt:lpstr>
      <vt:lpstr>性能分析的主要技术</vt:lpstr>
      <vt:lpstr>图解控制法</vt:lpstr>
      <vt:lpstr>1）项目甘特图</vt:lpstr>
      <vt:lpstr>PowerPoint 演示文稿</vt:lpstr>
      <vt:lpstr>PowerPoint 演示文稿</vt:lpstr>
      <vt:lpstr>PowerPoint 演示文稿</vt:lpstr>
      <vt:lpstr>5）资源图偏差</vt:lpstr>
      <vt:lpstr>偏差分析与控制</vt:lpstr>
      <vt:lpstr>图解控制法－偏差分析1</vt:lpstr>
      <vt:lpstr>图解控制法 －偏差分析2</vt:lpstr>
      <vt:lpstr>性能分析的主要技术</vt:lpstr>
      <vt:lpstr>挣值分析原理</vt:lpstr>
      <vt:lpstr>输入</vt:lpstr>
      <vt:lpstr>挣值分析模型</vt:lpstr>
      <vt:lpstr>BCWP的计算</vt:lpstr>
      <vt:lpstr>挣值计算实例</vt:lpstr>
      <vt:lpstr>挣值分析输出-1</vt:lpstr>
      <vt:lpstr>进度差异实例</vt:lpstr>
      <vt:lpstr>挣值分析输出-2</vt:lpstr>
      <vt:lpstr>挣值分析输出-2</vt:lpstr>
      <vt:lpstr>性能指标图示</vt:lpstr>
      <vt:lpstr>PowerPoint 演示文稿</vt:lpstr>
      <vt:lpstr>CPI (Cost Performance Index)与CPI</vt:lpstr>
      <vt:lpstr>挣值分析输出-3</vt:lpstr>
      <vt:lpstr>挣值分析输出-4</vt:lpstr>
      <vt:lpstr>挣值分析输出-5</vt:lpstr>
      <vt:lpstr>挣值分析实例</vt:lpstr>
      <vt:lpstr>性能分析的主要技术</vt:lpstr>
      <vt:lpstr>网络图分析</vt:lpstr>
      <vt:lpstr>贝叶斯定理</vt:lpstr>
      <vt:lpstr>贝叶斯网络</vt:lpstr>
      <vt:lpstr>PowerPoint 演示文稿</vt:lpstr>
      <vt:lpstr>贝叶斯网络分析软件进展</vt:lpstr>
      <vt:lpstr>PowerPoint 演示文稿</vt:lpstr>
      <vt:lpstr>步骤- 2.构建活动的贝叶斯网络</vt:lpstr>
      <vt:lpstr>PowerPoint 演示文稿</vt:lpstr>
      <vt:lpstr>步骤- 4:贝叶斯模型学习</vt:lpstr>
      <vt:lpstr>步骤- 5.贝叶斯网络更新</vt:lpstr>
      <vt:lpstr>步骤- 6.分析原因</vt:lpstr>
      <vt:lpstr>性能分析的主要技术</vt:lpstr>
      <vt:lpstr>敏捷项目进展衡量的原则</vt:lpstr>
      <vt:lpstr>(一)基于迭代的项目: 燃尽图</vt:lpstr>
      <vt:lpstr>项目燃尽图</vt:lpstr>
      <vt:lpstr>(一)基于迭代的项目:燃起图</vt:lpstr>
      <vt:lpstr>(二)基于流程的衡量指标</vt:lpstr>
      <vt:lpstr>(三)功能燃起图/燃尽图</vt:lpstr>
      <vt:lpstr>(四)完成指标管理</vt:lpstr>
      <vt:lpstr>(四)完成指标管理</vt:lpstr>
      <vt:lpstr>(四)完成指标管理</vt:lpstr>
      <vt:lpstr>进度变更</vt:lpstr>
      <vt:lpstr>本章要点</vt:lpstr>
      <vt:lpstr>质量执行控制</vt:lpstr>
      <vt:lpstr>QA:质量审计（ Audit ）</vt:lpstr>
      <vt:lpstr>情景项目:SPM项目执行过程审计</vt:lpstr>
      <vt:lpstr>例如：需求过程审计</vt:lpstr>
      <vt:lpstr>情景项目:SPM项目产品审计</vt:lpstr>
      <vt:lpstr>QC:质量控制活动</vt:lpstr>
      <vt:lpstr>QC:技术评审</vt:lpstr>
      <vt:lpstr>技术评审例子:</vt:lpstr>
      <vt:lpstr>QC:代码评审/走查</vt:lpstr>
      <vt:lpstr>情景项目：SPM代码评审要求</vt:lpstr>
      <vt:lpstr>Course findCourse(String){} 存在风险语句</vt:lpstr>
      <vt:lpstr>QC:软件测试</vt:lpstr>
      <vt:lpstr>借助工具(Findbugs)检查代码质量</vt:lpstr>
      <vt:lpstr>借助工具(Findbugs)检查代码质量</vt:lpstr>
      <vt:lpstr>QC:返工</vt:lpstr>
      <vt:lpstr>QC手段:控制图法</vt:lpstr>
      <vt:lpstr>QC手段:控制图法</vt:lpstr>
      <vt:lpstr>QC手段:趋势分析</vt:lpstr>
      <vt:lpstr>QC手段:抽样统计</vt:lpstr>
      <vt:lpstr>敏捷项目质量管理过程</vt:lpstr>
      <vt:lpstr>敏捷项目的质量活动</vt:lpstr>
      <vt:lpstr>本章要点</vt:lpstr>
      <vt:lpstr>医疗信息商务平台案例</vt:lpstr>
      <vt:lpstr>MED的迭代开发流程</vt:lpstr>
      <vt:lpstr>MED范围变更</vt:lpstr>
      <vt:lpstr>医疗信息商务平台案例</vt:lpstr>
      <vt:lpstr>MED燃尽图：7：11</vt:lpstr>
      <vt:lpstr>MED燃尽图：7：13</vt:lpstr>
      <vt:lpstr>MED： Sprint Backlog更新数据7.18</vt:lpstr>
      <vt:lpstr>MED第一迭代任务燃尽图-7月18</vt:lpstr>
      <vt:lpstr>MED：跟踪甘特图</vt:lpstr>
      <vt:lpstr>MED：项目总体情况分析</vt:lpstr>
      <vt:lpstr>医疗信息商务平台案例</vt:lpstr>
      <vt:lpstr>需求分析过程审计</vt:lpstr>
      <vt:lpstr>设计产品评审</vt:lpstr>
      <vt:lpstr>阶段评审过程审计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</dc:title>
  <dc:creator>think</dc:creator>
  <cp:lastModifiedBy>Microsoft Office 用户</cp:lastModifiedBy>
  <cp:revision>1</cp:revision>
  <dcterms:created xsi:type="dcterms:W3CDTF">2020-06-12T01:30:40Z</dcterms:created>
  <dcterms:modified xsi:type="dcterms:W3CDTF">2024-04-15T00:24:18Z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