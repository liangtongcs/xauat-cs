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16"/>
    <p:restoredTop sz="93369"/>
  </p:normalViewPr>
  <p:slideViewPr>
    <p:cSldViewPr>
      <p:cViewPr varScale="1">
        <p:scale>
          <a:sx n="89" d="100"/>
          <a:sy n="89" d="100"/>
        </p:scale>
        <p:origin x="1968" y="1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0" y="228600"/>
                </a:moveTo>
                <a:lnTo>
                  <a:pt x="533400" y="228600"/>
                </a:lnTo>
                <a:lnTo>
                  <a:pt x="5334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228600"/>
                </a:moveTo>
                <a:lnTo>
                  <a:pt x="8552688" y="228600"/>
                </a:lnTo>
                <a:lnTo>
                  <a:pt x="855268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02742" y="346963"/>
            <a:ext cx="833851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0" y="228600"/>
                </a:moveTo>
                <a:lnTo>
                  <a:pt x="533400" y="228600"/>
                </a:lnTo>
                <a:lnTo>
                  <a:pt x="5334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228600"/>
                </a:moveTo>
                <a:lnTo>
                  <a:pt x="8552688" y="228600"/>
                </a:lnTo>
                <a:lnTo>
                  <a:pt x="855268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0" y="228600"/>
                </a:moveTo>
                <a:lnTo>
                  <a:pt x="533400" y="228600"/>
                </a:lnTo>
                <a:lnTo>
                  <a:pt x="5334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228600"/>
                </a:moveTo>
                <a:lnTo>
                  <a:pt x="8552688" y="228600"/>
                </a:lnTo>
                <a:lnTo>
                  <a:pt x="855268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0" y="228600"/>
                </a:moveTo>
                <a:lnTo>
                  <a:pt x="533400" y="228600"/>
                </a:lnTo>
                <a:lnTo>
                  <a:pt x="5334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7217" y="305257"/>
            <a:ext cx="8049564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8332" y="2133610"/>
            <a:ext cx="5529580" cy="1742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mailto:knguyen@abc.com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291" y="160731"/>
            <a:ext cx="45002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软件项目管理过程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0311" y="2688335"/>
            <a:ext cx="8933687" cy="1533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3266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项目初始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0608" y="2762883"/>
            <a:ext cx="7278326" cy="2306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42338" y="331165"/>
            <a:ext cx="49682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32810" algn="l"/>
              </a:tabLst>
            </a:pPr>
            <a:r>
              <a:rPr sz="4000" spc="-10" dirty="0">
                <a:solidFill>
                  <a:srgbClr val="775F54"/>
                </a:solidFill>
                <a:latin typeface="华文琥珀"/>
                <a:cs typeface="华文琥珀"/>
              </a:rPr>
              <a:t>软件项目管</a:t>
            </a:r>
            <a:r>
              <a:rPr sz="4000" spc="-5" dirty="0">
                <a:solidFill>
                  <a:srgbClr val="775F54"/>
                </a:solidFill>
                <a:latin typeface="华文琥珀"/>
                <a:cs typeface="华文琥珀"/>
              </a:rPr>
              <a:t>理</a:t>
            </a:r>
            <a:r>
              <a:rPr sz="4000" dirty="0">
                <a:solidFill>
                  <a:srgbClr val="775F54"/>
                </a:solidFill>
                <a:latin typeface="华文琥珀"/>
                <a:cs typeface="华文琥珀"/>
              </a:rPr>
              <a:t>	</a:t>
            </a:r>
            <a:r>
              <a:rPr sz="4000" spc="-10" dirty="0">
                <a:solidFill>
                  <a:srgbClr val="775F54"/>
                </a:solidFill>
                <a:latin typeface="华文琥珀"/>
                <a:cs typeface="华文琥珀"/>
              </a:rPr>
              <a:t>第一篇</a:t>
            </a:r>
            <a:endParaRPr sz="4000">
              <a:latin typeface="华文琥珀"/>
              <a:cs typeface="华文琥珀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54604" y="2590876"/>
            <a:ext cx="3686810" cy="2397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000" b="1" spc="-5" dirty="0">
                <a:solidFill>
                  <a:srgbClr val="FF66FF"/>
                </a:solidFill>
                <a:latin typeface="华文隶书"/>
                <a:cs typeface="华文隶书"/>
              </a:rPr>
              <a:t>第 2</a:t>
            </a:r>
            <a:r>
              <a:rPr sz="6000" b="1" spc="-10" dirty="0">
                <a:solidFill>
                  <a:srgbClr val="FF66FF"/>
                </a:solidFill>
                <a:latin typeface="华文隶书"/>
                <a:cs typeface="华文隶书"/>
              </a:rPr>
              <a:t> </a:t>
            </a:r>
            <a:r>
              <a:rPr sz="6000" b="1" spc="-5" dirty="0">
                <a:solidFill>
                  <a:srgbClr val="FF66FF"/>
                </a:solidFill>
                <a:latin typeface="华文隶书"/>
                <a:cs typeface="华文隶书"/>
              </a:rPr>
              <a:t>章</a:t>
            </a:r>
            <a:endParaRPr sz="6000">
              <a:latin typeface="华文隶书"/>
              <a:cs typeface="华文隶书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4800" b="1" spc="-5" dirty="0">
                <a:solidFill>
                  <a:srgbClr val="FF66FF"/>
                </a:solidFill>
                <a:latin typeface="华文隶书"/>
                <a:cs typeface="华文隶书"/>
              </a:rPr>
              <a:t>软</a:t>
            </a:r>
            <a:r>
              <a:rPr sz="4800" b="1" spc="5" dirty="0">
                <a:solidFill>
                  <a:srgbClr val="FF66FF"/>
                </a:solidFill>
                <a:latin typeface="华文隶书"/>
                <a:cs typeface="华文隶书"/>
              </a:rPr>
              <a:t>件</a:t>
            </a:r>
            <a:r>
              <a:rPr sz="4800" b="1" spc="-5" dirty="0">
                <a:solidFill>
                  <a:srgbClr val="FF66FF"/>
                </a:solidFill>
                <a:latin typeface="华文隶书"/>
                <a:cs typeface="华文隶书"/>
              </a:rPr>
              <a:t>项目确立</a:t>
            </a:r>
            <a:endParaRPr sz="4800">
              <a:latin typeface="华文隶书"/>
              <a:cs typeface="华文隶书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228600"/>
                </a:moveTo>
                <a:lnTo>
                  <a:pt x="8552688" y="228600"/>
                </a:lnTo>
                <a:lnTo>
                  <a:pt x="855268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6639" y="136982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本章要点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76373" y="219742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6711" y="1915667"/>
            <a:ext cx="504825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718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34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6373" y="3156079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86711" y="2874264"/>
            <a:ext cx="481965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76373" y="411702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86711" y="3835908"/>
            <a:ext cx="504825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654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3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76373" y="5078673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86711" y="4796028"/>
            <a:ext cx="483234" cy="86741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0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91155" y="1915667"/>
            <a:ext cx="4628515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6379" rIns="0" bIns="0" rtlCol="0">
            <a:spAutoFit/>
          </a:bodyPr>
          <a:lstStyle/>
          <a:p>
            <a:pPr marR="229870" algn="ctr">
              <a:lnSpc>
                <a:spcPct val="100000"/>
              </a:lnSpc>
              <a:spcBef>
                <a:spcPts val="1939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项目立项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68295" y="2874264"/>
            <a:ext cx="4630420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7015" rIns="0" bIns="0" rtlCol="0">
            <a:spAutoFit/>
          </a:bodyPr>
          <a:lstStyle/>
          <a:p>
            <a:pPr marL="26034" algn="ctr">
              <a:lnSpc>
                <a:spcPct val="100000"/>
              </a:lnSpc>
              <a:spcBef>
                <a:spcPts val="194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项目招投标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91155" y="3835908"/>
            <a:ext cx="4628515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745" rIns="0" bIns="0" rtlCol="0">
            <a:spAutoFit/>
          </a:bodyPr>
          <a:lstStyle/>
          <a:p>
            <a:pPr marR="160655" algn="ctr">
              <a:lnSpc>
                <a:spcPct val="100000"/>
              </a:lnSpc>
              <a:spcBef>
                <a:spcPts val="19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项目章程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69820" y="4796028"/>
            <a:ext cx="4630420" cy="86741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33679" rIns="0" bIns="0" rtlCol="0">
            <a:spAutoFit/>
          </a:bodyPr>
          <a:lstStyle/>
          <a:p>
            <a:pPr marR="46990" algn="ctr">
              <a:lnSpc>
                <a:spcPct val="100000"/>
              </a:lnSpc>
              <a:spcBef>
                <a:spcPts val="1839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案例总结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项目启动背景</a:t>
            </a:r>
          </a:p>
        </p:txBody>
      </p:sp>
      <p:sp>
        <p:nvSpPr>
          <p:cNvPr id="3" name="object 3"/>
          <p:cNvSpPr/>
          <p:nvPr/>
        </p:nvSpPr>
        <p:spPr>
          <a:xfrm>
            <a:off x="1601724" y="1527445"/>
            <a:ext cx="6175248" cy="44481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96180" y="6237439"/>
            <a:ext cx="754380" cy="2311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228600"/>
                </a:moveTo>
                <a:lnTo>
                  <a:pt x="8552688" y="228600"/>
                </a:lnTo>
                <a:lnTo>
                  <a:pt x="855268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4441" y="377189"/>
            <a:ext cx="33813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软件项目启动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18909" y="2585466"/>
            <a:ext cx="9525" cy="1905"/>
          </a:xfrm>
          <a:custGeom>
            <a:avLst/>
            <a:gdLst/>
            <a:ahLst/>
            <a:cxnLst/>
            <a:rect l="l" t="t" r="r" b="b"/>
            <a:pathLst>
              <a:path w="9525" h="1905">
                <a:moveTo>
                  <a:pt x="0" y="0"/>
                </a:moveTo>
                <a:lnTo>
                  <a:pt x="9144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18909" y="2585466"/>
            <a:ext cx="1905" cy="9525"/>
          </a:xfrm>
          <a:custGeom>
            <a:avLst/>
            <a:gdLst/>
            <a:ahLst/>
            <a:cxnLst/>
            <a:rect l="l" t="t" r="r" b="b"/>
            <a:pathLst>
              <a:path w="1904" h="9525">
                <a:moveTo>
                  <a:pt x="0" y="0"/>
                </a:moveTo>
                <a:lnTo>
                  <a:pt x="1524" y="914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518909" y="2585466"/>
            <a:ext cx="9525" cy="1905"/>
          </a:xfrm>
          <a:custGeom>
            <a:avLst/>
            <a:gdLst/>
            <a:ahLst/>
            <a:cxnLst/>
            <a:rect l="l" t="t" r="r" b="b"/>
            <a:pathLst>
              <a:path w="9525" h="1905">
                <a:moveTo>
                  <a:pt x="0" y="0"/>
                </a:moveTo>
                <a:lnTo>
                  <a:pt x="9144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18909" y="2585466"/>
            <a:ext cx="1905" cy="9525"/>
          </a:xfrm>
          <a:custGeom>
            <a:avLst/>
            <a:gdLst/>
            <a:ahLst/>
            <a:cxnLst/>
            <a:rect l="l" t="t" r="r" b="b"/>
            <a:pathLst>
              <a:path w="1904" h="9525">
                <a:moveTo>
                  <a:pt x="0" y="0"/>
                </a:moveTo>
                <a:lnTo>
                  <a:pt x="1524" y="914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679692" y="2750820"/>
            <a:ext cx="940435" cy="270700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050">
              <a:latin typeface="Times New Roman"/>
              <a:cs typeface="Times New Roman"/>
            </a:endParaRPr>
          </a:p>
          <a:p>
            <a:pPr marL="229870">
              <a:lnSpc>
                <a:spcPct val="100000"/>
              </a:lnSpc>
            </a:pPr>
            <a:r>
              <a:rPr sz="1600" spc="-5" dirty="0">
                <a:latin typeface="宋体"/>
                <a:cs typeface="宋体"/>
              </a:rPr>
              <a:t>用户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7305" y="2925317"/>
            <a:ext cx="4311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宋体"/>
                <a:cs typeface="宋体"/>
              </a:rPr>
              <a:t>用户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91054" y="4884547"/>
            <a:ext cx="4311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宋体"/>
                <a:cs typeface="宋体"/>
              </a:rPr>
              <a:t>需求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69435" y="5359907"/>
            <a:ext cx="9525" cy="7620"/>
          </a:xfrm>
          <a:custGeom>
            <a:avLst/>
            <a:gdLst/>
            <a:ahLst/>
            <a:cxnLst/>
            <a:rect l="l" t="t" r="r" b="b"/>
            <a:pathLst>
              <a:path w="9525" h="7620">
                <a:moveTo>
                  <a:pt x="0" y="7620"/>
                </a:moveTo>
                <a:lnTo>
                  <a:pt x="9144" y="7620"/>
                </a:lnTo>
                <a:lnTo>
                  <a:pt x="9144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69435" y="5359907"/>
            <a:ext cx="9525" cy="7620"/>
          </a:xfrm>
          <a:custGeom>
            <a:avLst/>
            <a:gdLst/>
            <a:ahLst/>
            <a:cxnLst/>
            <a:rect l="l" t="t" r="r" b="b"/>
            <a:pathLst>
              <a:path w="9525" h="7620">
                <a:moveTo>
                  <a:pt x="0" y="7620"/>
                </a:moveTo>
                <a:lnTo>
                  <a:pt x="9144" y="7620"/>
                </a:lnTo>
                <a:lnTo>
                  <a:pt x="9144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471159" y="4879085"/>
            <a:ext cx="573405" cy="44577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935"/>
              </a:spcBef>
            </a:pPr>
            <a:r>
              <a:rPr sz="1400" dirty="0">
                <a:latin typeface="宋体"/>
                <a:cs typeface="宋体"/>
              </a:rPr>
              <a:t>产品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470397" y="4872990"/>
            <a:ext cx="9525" cy="1905"/>
          </a:xfrm>
          <a:custGeom>
            <a:avLst/>
            <a:gdLst/>
            <a:ahLst/>
            <a:cxnLst/>
            <a:rect l="l" t="t" r="r" b="b"/>
            <a:pathLst>
              <a:path w="9525" h="1904">
                <a:moveTo>
                  <a:pt x="0" y="0"/>
                </a:moveTo>
                <a:lnTo>
                  <a:pt x="9143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470397" y="4872990"/>
            <a:ext cx="1905" cy="9525"/>
          </a:xfrm>
          <a:custGeom>
            <a:avLst/>
            <a:gdLst/>
            <a:ahLst/>
            <a:cxnLst/>
            <a:rect l="l" t="t" r="r" b="b"/>
            <a:pathLst>
              <a:path w="1904" h="9525">
                <a:moveTo>
                  <a:pt x="0" y="0"/>
                </a:moveTo>
                <a:lnTo>
                  <a:pt x="1524" y="914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470397" y="4872990"/>
            <a:ext cx="9525" cy="1905"/>
          </a:xfrm>
          <a:custGeom>
            <a:avLst/>
            <a:gdLst/>
            <a:ahLst/>
            <a:cxnLst/>
            <a:rect l="l" t="t" r="r" b="b"/>
            <a:pathLst>
              <a:path w="9525" h="1904">
                <a:moveTo>
                  <a:pt x="0" y="0"/>
                </a:moveTo>
                <a:lnTo>
                  <a:pt x="9143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470397" y="4872990"/>
            <a:ext cx="1905" cy="9525"/>
          </a:xfrm>
          <a:custGeom>
            <a:avLst/>
            <a:gdLst/>
            <a:ahLst/>
            <a:cxnLst/>
            <a:rect l="l" t="t" r="r" b="b"/>
            <a:pathLst>
              <a:path w="1904" h="9525">
                <a:moveTo>
                  <a:pt x="0" y="0"/>
                </a:moveTo>
                <a:lnTo>
                  <a:pt x="1524" y="914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035802" y="4872990"/>
            <a:ext cx="10795" cy="1905"/>
          </a:xfrm>
          <a:custGeom>
            <a:avLst/>
            <a:gdLst/>
            <a:ahLst/>
            <a:cxnLst/>
            <a:rect l="l" t="t" r="r" b="b"/>
            <a:pathLst>
              <a:path w="10795" h="1904">
                <a:moveTo>
                  <a:pt x="0" y="0"/>
                </a:moveTo>
                <a:lnTo>
                  <a:pt x="10668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035802" y="4872990"/>
            <a:ext cx="1905" cy="9525"/>
          </a:xfrm>
          <a:custGeom>
            <a:avLst/>
            <a:gdLst/>
            <a:ahLst/>
            <a:cxnLst/>
            <a:rect l="l" t="t" r="r" b="b"/>
            <a:pathLst>
              <a:path w="1904" h="9525">
                <a:moveTo>
                  <a:pt x="0" y="0"/>
                </a:moveTo>
                <a:lnTo>
                  <a:pt x="1524" y="914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035802" y="4872990"/>
            <a:ext cx="10795" cy="1905"/>
          </a:xfrm>
          <a:custGeom>
            <a:avLst/>
            <a:gdLst/>
            <a:ahLst/>
            <a:cxnLst/>
            <a:rect l="l" t="t" r="r" b="b"/>
            <a:pathLst>
              <a:path w="10795" h="1904">
                <a:moveTo>
                  <a:pt x="0" y="0"/>
                </a:moveTo>
                <a:lnTo>
                  <a:pt x="10668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035802" y="4872990"/>
            <a:ext cx="1905" cy="9525"/>
          </a:xfrm>
          <a:custGeom>
            <a:avLst/>
            <a:gdLst/>
            <a:ahLst/>
            <a:cxnLst/>
            <a:rect l="l" t="t" r="r" b="b"/>
            <a:pathLst>
              <a:path w="1904" h="9525">
                <a:moveTo>
                  <a:pt x="0" y="0"/>
                </a:moveTo>
                <a:lnTo>
                  <a:pt x="1524" y="914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470397" y="5304282"/>
            <a:ext cx="9525" cy="1905"/>
          </a:xfrm>
          <a:custGeom>
            <a:avLst/>
            <a:gdLst/>
            <a:ahLst/>
            <a:cxnLst/>
            <a:rect l="l" t="t" r="r" b="b"/>
            <a:pathLst>
              <a:path w="9525" h="1904">
                <a:moveTo>
                  <a:pt x="0" y="0"/>
                </a:moveTo>
                <a:lnTo>
                  <a:pt x="9143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470397" y="5304282"/>
            <a:ext cx="1905" cy="9525"/>
          </a:xfrm>
          <a:custGeom>
            <a:avLst/>
            <a:gdLst/>
            <a:ahLst/>
            <a:cxnLst/>
            <a:rect l="l" t="t" r="r" b="b"/>
            <a:pathLst>
              <a:path w="1904" h="9525">
                <a:moveTo>
                  <a:pt x="0" y="0"/>
                </a:moveTo>
                <a:lnTo>
                  <a:pt x="1524" y="914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470397" y="5304282"/>
            <a:ext cx="9525" cy="1905"/>
          </a:xfrm>
          <a:custGeom>
            <a:avLst/>
            <a:gdLst/>
            <a:ahLst/>
            <a:cxnLst/>
            <a:rect l="l" t="t" r="r" b="b"/>
            <a:pathLst>
              <a:path w="9525" h="1904">
                <a:moveTo>
                  <a:pt x="0" y="0"/>
                </a:moveTo>
                <a:lnTo>
                  <a:pt x="9143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470397" y="5304282"/>
            <a:ext cx="1905" cy="9525"/>
          </a:xfrm>
          <a:custGeom>
            <a:avLst/>
            <a:gdLst/>
            <a:ahLst/>
            <a:cxnLst/>
            <a:rect l="l" t="t" r="r" b="b"/>
            <a:pathLst>
              <a:path w="1904" h="9525">
                <a:moveTo>
                  <a:pt x="0" y="0"/>
                </a:moveTo>
                <a:lnTo>
                  <a:pt x="1524" y="914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035802" y="5304282"/>
            <a:ext cx="10795" cy="1905"/>
          </a:xfrm>
          <a:custGeom>
            <a:avLst/>
            <a:gdLst/>
            <a:ahLst/>
            <a:cxnLst/>
            <a:rect l="l" t="t" r="r" b="b"/>
            <a:pathLst>
              <a:path w="10795" h="1904">
                <a:moveTo>
                  <a:pt x="0" y="0"/>
                </a:moveTo>
                <a:lnTo>
                  <a:pt x="10668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035802" y="5304282"/>
            <a:ext cx="1905" cy="9525"/>
          </a:xfrm>
          <a:custGeom>
            <a:avLst/>
            <a:gdLst/>
            <a:ahLst/>
            <a:cxnLst/>
            <a:rect l="l" t="t" r="r" b="b"/>
            <a:pathLst>
              <a:path w="1904" h="9525">
                <a:moveTo>
                  <a:pt x="0" y="0"/>
                </a:moveTo>
                <a:lnTo>
                  <a:pt x="1524" y="914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035802" y="5304282"/>
            <a:ext cx="10795" cy="1905"/>
          </a:xfrm>
          <a:custGeom>
            <a:avLst/>
            <a:gdLst/>
            <a:ahLst/>
            <a:cxnLst/>
            <a:rect l="l" t="t" r="r" b="b"/>
            <a:pathLst>
              <a:path w="10795" h="1904">
                <a:moveTo>
                  <a:pt x="0" y="0"/>
                </a:moveTo>
                <a:lnTo>
                  <a:pt x="10668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035802" y="5304282"/>
            <a:ext cx="1905" cy="9525"/>
          </a:xfrm>
          <a:custGeom>
            <a:avLst/>
            <a:gdLst/>
            <a:ahLst/>
            <a:cxnLst/>
            <a:rect l="l" t="t" r="r" b="b"/>
            <a:pathLst>
              <a:path w="1904" h="9525">
                <a:moveTo>
                  <a:pt x="0" y="0"/>
                </a:moveTo>
                <a:lnTo>
                  <a:pt x="1524" y="914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765805" y="4776596"/>
            <a:ext cx="330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宋体"/>
                <a:cs typeface="宋体"/>
              </a:rPr>
              <a:t>输入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122289" y="4776596"/>
            <a:ext cx="330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宋体"/>
                <a:cs typeface="宋体"/>
              </a:rPr>
              <a:t>输出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393691" y="5017008"/>
            <a:ext cx="342900" cy="196850"/>
          </a:xfrm>
          <a:custGeom>
            <a:avLst/>
            <a:gdLst/>
            <a:ahLst/>
            <a:cxnLst/>
            <a:rect l="l" t="t" r="r" b="b"/>
            <a:pathLst>
              <a:path w="342900" h="196850">
                <a:moveTo>
                  <a:pt x="257175" y="0"/>
                </a:moveTo>
                <a:lnTo>
                  <a:pt x="0" y="0"/>
                </a:lnTo>
                <a:lnTo>
                  <a:pt x="84962" y="98298"/>
                </a:lnTo>
                <a:lnTo>
                  <a:pt x="0" y="196596"/>
                </a:lnTo>
                <a:lnTo>
                  <a:pt x="257175" y="196596"/>
                </a:lnTo>
                <a:lnTo>
                  <a:pt x="342900" y="98298"/>
                </a:lnTo>
                <a:lnTo>
                  <a:pt x="25717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507991" y="5058155"/>
            <a:ext cx="342900" cy="192405"/>
          </a:xfrm>
          <a:custGeom>
            <a:avLst/>
            <a:gdLst/>
            <a:ahLst/>
            <a:cxnLst/>
            <a:rect l="l" t="t" r="r" b="b"/>
            <a:pathLst>
              <a:path w="342900" h="192404">
                <a:moveTo>
                  <a:pt x="257175" y="0"/>
                </a:moveTo>
                <a:lnTo>
                  <a:pt x="0" y="0"/>
                </a:lnTo>
                <a:lnTo>
                  <a:pt x="86487" y="95631"/>
                </a:lnTo>
                <a:lnTo>
                  <a:pt x="0" y="192024"/>
                </a:lnTo>
                <a:lnTo>
                  <a:pt x="257175" y="192024"/>
                </a:lnTo>
                <a:lnTo>
                  <a:pt x="342900" y="95631"/>
                </a:lnTo>
                <a:lnTo>
                  <a:pt x="2571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507991" y="5058155"/>
            <a:ext cx="342900" cy="192405"/>
          </a:xfrm>
          <a:custGeom>
            <a:avLst/>
            <a:gdLst/>
            <a:ahLst/>
            <a:cxnLst/>
            <a:rect l="l" t="t" r="r" b="b"/>
            <a:pathLst>
              <a:path w="342900" h="192404">
                <a:moveTo>
                  <a:pt x="257175" y="0"/>
                </a:moveTo>
                <a:lnTo>
                  <a:pt x="0" y="0"/>
                </a:lnTo>
                <a:lnTo>
                  <a:pt x="86487" y="95631"/>
                </a:lnTo>
                <a:lnTo>
                  <a:pt x="0" y="192024"/>
                </a:lnTo>
                <a:lnTo>
                  <a:pt x="257175" y="192024"/>
                </a:lnTo>
                <a:lnTo>
                  <a:pt x="342900" y="95631"/>
                </a:lnTo>
                <a:lnTo>
                  <a:pt x="25717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660391" y="5113020"/>
            <a:ext cx="342900" cy="207645"/>
          </a:xfrm>
          <a:custGeom>
            <a:avLst/>
            <a:gdLst/>
            <a:ahLst/>
            <a:cxnLst/>
            <a:rect l="l" t="t" r="r" b="b"/>
            <a:pathLst>
              <a:path w="342900" h="207645">
                <a:moveTo>
                  <a:pt x="257937" y="0"/>
                </a:moveTo>
                <a:lnTo>
                  <a:pt x="0" y="0"/>
                </a:lnTo>
                <a:lnTo>
                  <a:pt x="85725" y="103631"/>
                </a:lnTo>
                <a:lnTo>
                  <a:pt x="0" y="207263"/>
                </a:lnTo>
                <a:lnTo>
                  <a:pt x="257937" y="207263"/>
                </a:lnTo>
                <a:lnTo>
                  <a:pt x="342900" y="103631"/>
                </a:lnTo>
                <a:lnTo>
                  <a:pt x="2579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660391" y="5113020"/>
            <a:ext cx="342900" cy="207645"/>
          </a:xfrm>
          <a:custGeom>
            <a:avLst/>
            <a:gdLst/>
            <a:ahLst/>
            <a:cxnLst/>
            <a:rect l="l" t="t" r="r" b="b"/>
            <a:pathLst>
              <a:path w="342900" h="207645">
                <a:moveTo>
                  <a:pt x="257937" y="0"/>
                </a:moveTo>
                <a:lnTo>
                  <a:pt x="0" y="0"/>
                </a:lnTo>
                <a:lnTo>
                  <a:pt x="85725" y="103631"/>
                </a:lnTo>
                <a:lnTo>
                  <a:pt x="0" y="207263"/>
                </a:lnTo>
                <a:lnTo>
                  <a:pt x="257937" y="207263"/>
                </a:lnTo>
                <a:lnTo>
                  <a:pt x="342900" y="103631"/>
                </a:lnTo>
                <a:lnTo>
                  <a:pt x="257937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070091" y="4998720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533400" y="0"/>
                </a:moveTo>
                <a:lnTo>
                  <a:pt x="533400" y="76199"/>
                </a:lnTo>
                <a:lnTo>
                  <a:pt x="596900" y="44449"/>
                </a:lnTo>
                <a:lnTo>
                  <a:pt x="546100" y="44449"/>
                </a:lnTo>
                <a:lnTo>
                  <a:pt x="546100" y="31749"/>
                </a:lnTo>
                <a:lnTo>
                  <a:pt x="596900" y="31749"/>
                </a:lnTo>
                <a:lnTo>
                  <a:pt x="533400" y="0"/>
                </a:lnTo>
                <a:close/>
              </a:path>
              <a:path w="609600" h="76200">
                <a:moveTo>
                  <a:pt x="533400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533400" y="44449"/>
                </a:lnTo>
                <a:lnTo>
                  <a:pt x="533400" y="31749"/>
                </a:lnTo>
                <a:close/>
              </a:path>
              <a:path w="609600" h="76200">
                <a:moveTo>
                  <a:pt x="596900" y="31749"/>
                </a:moveTo>
                <a:lnTo>
                  <a:pt x="546100" y="31749"/>
                </a:lnTo>
                <a:lnTo>
                  <a:pt x="546100" y="44449"/>
                </a:lnTo>
                <a:lnTo>
                  <a:pt x="596900" y="44449"/>
                </a:lnTo>
                <a:lnTo>
                  <a:pt x="609600" y="38099"/>
                </a:lnTo>
                <a:lnTo>
                  <a:pt x="596900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717292" y="4998720"/>
            <a:ext cx="1143000" cy="76200"/>
          </a:xfrm>
          <a:custGeom>
            <a:avLst/>
            <a:gdLst/>
            <a:ahLst/>
            <a:cxnLst/>
            <a:rect l="l" t="t" r="r" b="b"/>
            <a:pathLst>
              <a:path w="1143000" h="76200">
                <a:moveTo>
                  <a:pt x="1066799" y="0"/>
                </a:moveTo>
                <a:lnTo>
                  <a:pt x="1066799" y="76199"/>
                </a:lnTo>
                <a:lnTo>
                  <a:pt x="1130299" y="44449"/>
                </a:lnTo>
                <a:lnTo>
                  <a:pt x="1079499" y="44449"/>
                </a:lnTo>
                <a:lnTo>
                  <a:pt x="1079499" y="31749"/>
                </a:lnTo>
                <a:lnTo>
                  <a:pt x="1130299" y="31749"/>
                </a:lnTo>
                <a:lnTo>
                  <a:pt x="1066799" y="0"/>
                </a:lnTo>
                <a:close/>
              </a:path>
              <a:path w="1143000" h="76200">
                <a:moveTo>
                  <a:pt x="1066799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1066799" y="44449"/>
                </a:lnTo>
                <a:lnTo>
                  <a:pt x="1066799" y="31749"/>
                </a:lnTo>
                <a:close/>
              </a:path>
              <a:path w="1143000" h="76200">
                <a:moveTo>
                  <a:pt x="1130299" y="31749"/>
                </a:moveTo>
                <a:lnTo>
                  <a:pt x="1079499" y="31749"/>
                </a:lnTo>
                <a:lnTo>
                  <a:pt x="1079499" y="44449"/>
                </a:lnTo>
                <a:lnTo>
                  <a:pt x="1130299" y="44449"/>
                </a:lnTo>
                <a:lnTo>
                  <a:pt x="1142999" y="38099"/>
                </a:lnTo>
                <a:lnTo>
                  <a:pt x="1130299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860291" y="4879085"/>
            <a:ext cx="1143000" cy="44577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168910" marR="662305">
              <a:lnSpc>
                <a:spcPts val="1380"/>
              </a:lnSpc>
              <a:spcBef>
                <a:spcPts val="545"/>
              </a:spcBef>
            </a:pPr>
            <a:r>
              <a:rPr sz="1200" dirty="0">
                <a:latin typeface="宋体"/>
                <a:cs typeface="宋体"/>
              </a:rPr>
              <a:t>产品 实现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003291" y="5036820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778507" y="2674620"/>
            <a:ext cx="939165" cy="2707005"/>
          </a:xfrm>
          <a:custGeom>
            <a:avLst/>
            <a:gdLst/>
            <a:ahLst/>
            <a:cxnLst/>
            <a:rect l="l" t="t" r="r" b="b"/>
            <a:pathLst>
              <a:path w="939164" h="2707004">
                <a:moveTo>
                  <a:pt x="0" y="2706623"/>
                </a:moveTo>
                <a:lnTo>
                  <a:pt x="938783" y="2706623"/>
                </a:lnTo>
                <a:lnTo>
                  <a:pt x="938783" y="0"/>
                </a:lnTo>
                <a:lnTo>
                  <a:pt x="0" y="0"/>
                </a:lnTo>
                <a:lnTo>
                  <a:pt x="0" y="2706623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024889" y="2273045"/>
            <a:ext cx="2159635" cy="3663950"/>
          </a:xfrm>
          <a:custGeom>
            <a:avLst/>
            <a:gdLst/>
            <a:ahLst/>
            <a:cxnLst/>
            <a:rect l="l" t="t" r="r" b="b"/>
            <a:pathLst>
              <a:path w="2159635" h="3663950">
                <a:moveTo>
                  <a:pt x="0" y="1831847"/>
                </a:moveTo>
                <a:lnTo>
                  <a:pt x="577" y="1771381"/>
                </a:lnTo>
                <a:lnTo>
                  <a:pt x="2296" y="1711405"/>
                </a:lnTo>
                <a:lnTo>
                  <a:pt x="5140" y="1651949"/>
                </a:lnTo>
                <a:lnTo>
                  <a:pt x="9090" y="1593043"/>
                </a:lnTo>
                <a:lnTo>
                  <a:pt x="14130" y="1534717"/>
                </a:lnTo>
                <a:lnTo>
                  <a:pt x="20241" y="1477002"/>
                </a:lnTo>
                <a:lnTo>
                  <a:pt x="27405" y="1419927"/>
                </a:lnTo>
                <a:lnTo>
                  <a:pt x="35605" y="1363524"/>
                </a:lnTo>
                <a:lnTo>
                  <a:pt x="44823" y="1307821"/>
                </a:lnTo>
                <a:lnTo>
                  <a:pt x="55040" y="1252849"/>
                </a:lnTo>
                <a:lnTo>
                  <a:pt x="66240" y="1198639"/>
                </a:lnTo>
                <a:lnTo>
                  <a:pt x="78405" y="1145221"/>
                </a:lnTo>
                <a:lnTo>
                  <a:pt x="91516" y="1092624"/>
                </a:lnTo>
                <a:lnTo>
                  <a:pt x="105557" y="1040879"/>
                </a:lnTo>
                <a:lnTo>
                  <a:pt x="120508" y="990017"/>
                </a:lnTo>
                <a:lnTo>
                  <a:pt x="136353" y="940066"/>
                </a:lnTo>
                <a:lnTo>
                  <a:pt x="153074" y="891058"/>
                </a:lnTo>
                <a:lnTo>
                  <a:pt x="170652" y="843023"/>
                </a:lnTo>
                <a:lnTo>
                  <a:pt x="189071" y="795990"/>
                </a:lnTo>
                <a:lnTo>
                  <a:pt x="208312" y="749990"/>
                </a:lnTo>
                <a:lnTo>
                  <a:pt x="228358" y="705054"/>
                </a:lnTo>
                <a:lnTo>
                  <a:pt x="249190" y="661211"/>
                </a:lnTo>
                <a:lnTo>
                  <a:pt x="270791" y="618491"/>
                </a:lnTo>
                <a:lnTo>
                  <a:pt x="293144" y="576925"/>
                </a:lnTo>
                <a:lnTo>
                  <a:pt x="316230" y="536543"/>
                </a:lnTo>
                <a:lnTo>
                  <a:pt x="340031" y="497375"/>
                </a:lnTo>
                <a:lnTo>
                  <a:pt x="364531" y="459451"/>
                </a:lnTo>
                <a:lnTo>
                  <a:pt x="389710" y="422801"/>
                </a:lnTo>
                <a:lnTo>
                  <a:pt x="415552" y="387456"/>
                </a:lnTo>
                <a:lnTo>
                  <a:pt x="442039" y="353446"/>
                </a:lnTo>
                <a:lnTo>
                  <a:pt x="469152" y="320800"/>
                </a:lnTo>
                <a:lnTo>
                  <a:pt x="496874" y="289550"/>
                </a:lnTo>
                <a:lnTo>
                  <a:pt x="525188" y="259725"/>
                </a:lnTo>
                <a:lnTo>
                  <a:pt x="554075" y="231355"/>
                </a:lnTo>
                <a:lnTo>
                  <a:pt x="583518" y="204471"/>
                </a:lnTo>
                <a:lnTo>
                  <a:pt x="613498" y="179102"/>
                </a:lnTo>
                <a:lnTo>
                  <a:pt x="643999" y="155280"/>
                </a:lnTo>
                <a:lnTo>
                  <a:pt x="675002" y="133034"/>
                </a:lnTo>
                <a:lnTo>
                  <a:pt x="738445" y="93390"/>
                </a:lnTo>
                <a:lnTo>
                  <a:pt x="803683" y="60413"/>
                </a:lnTo>
                <a:lnTo>
                  <a:pt x="870575" y="34344"/>
                </a:lnTo>
                <a:lnTo>
                  <a:pt x="938979" y="15425"/>
                </a:lnTo>
                <a:lnTo>
                  <a:pt x="1008753" y="3896"/>
                </a:lnTo>
                <a:lnTo>
                  <a:pt x="1079754" y="0"/>
                </a:lnTo>
                <a:lnTo>
                  <a:pt x="1115398" y="979"/>
                </a:lnTo>
                <a:lnTo>
                  <a:pt x="1185803" y="8722"/>
                </a:lnTo>
                <a:lnTo>
                  <a:pt x="1254910" y="23976"/>
                </a:lnTo>
                <a:lnTo>
                  <a:pt x="1322576" y="46500"/>
                </a:lnTo>
                <a:lnTo>
                  <a:pt x="1388659" y="76053"/>
                </a:lnTo>
                <a:lnTo>
                  <a:pt x="1453017" y="112394"/>
                </a:lnTo>
                <a:lnTo>
                  <a:pt x="1515508" y="155280"/>
                </a:lnTo>
                <a:lnTo>
                  <a:pt x="1546009" y="179102"/>
                </a:lnTo>
                <a:lnTo>
                  <a:pt x="1575989" y="204471"/>
                </a:lnTo>
                <a:lnTo>
                  <a:pt x="1605432" y="231355"/>
                </a:lnTo>
                <a:lnTo>
                  <a:pt x="1634319" y="259725"/>
                </a:lnTo>
                <a:lnTo>
                  <a:pt x="1662633" y="289550"/>
                </a:lnTo>
                <a:lnTo>
                  <a:pt x="1690355" y="320800"/>
                </a:lnTo>
                <a:lnTo>
                  <a:pt x="1717468" y="353446"/>
                </a:lnTo>
                <a:lnTo>
                  <a:pt x="1743955" y="387456"/>
                </a:lnTo>
                <a:lnTo>
                  <a:pt x="1769797" y="422801"/>
                </a:lnTo>
                <a:lnTo>
                  <a:pt x="1794976" y="459451"/>
                </a:lnTo>
                <a:lnTo>
                  <a:pt x="1819476" y="497375"/>
                </a:lnTo>
                <a:lnTo>
                  <a:pt x="1843278" y="536543"/>
                </a:lnTo>
                <a:lnTo>
                  <a:pt x="1866363" y="576925"/>
                </a:lnTo>
                <a:lnTo>
                  <a:pt x="1888716" y="618491"/>
                </a:lnTo>
                <a:lnTo>
                  <a:pt x="1910317" y="661211"/>
                </a:lnTo>
                <a:lnTo>
                  <a:pt x="1931149" y="705054"/>
                </a:lnTo>
                <a:lnTo>
                  <a:pt x="1951195" y="749990"/>
                </a:lnTo>
                <a:lnTo>
                  <a:pt x="1970436" y="795990"/>
                </a:lnTo>
                <a:lnTo>
                  <a:pt x="1988855" y="843023"/>
                </a:lnTo>
                <a:lnTo>
                  <a:pt x="2006433" y="891058"/>
                </a:lnTo>
                <a:lnTo>
                  <a:pt x="2023154" y="940066"/>
                </a:lnTo>
                <a:lnTo>
                  <a:pt x="2038999" y="990017"/>
                </a:lnTo>
                <a:lnTo>
                  <a:pt x="2053950" y="1040879"/>
                </a:lnTo>
                <a:lnTo>
                  <a:pt x="2067991" y="1092624"/>
                </a:lnTo>
                <a:lnTo>
                  <a:pt x="2081102" y="1145221"/>
                </a:lnTo>
                <a:lnTo>
                  <a:pt x="2093267" y="1198639"/>
                </a:lnTo>
                <a:lnTo>
                  <a:pt x="2104467" y="1252849"/>
                </a:lnTo>
                <a:lnTo>
                  <a:pt x="2114684" y="1307821"/>
                </a:lnTo>
                <a:lnTo>
                  <a:pt x="2123902" y="1363524"/>
                </a:lnTo>
                <a:lnTo>
                  <a:pt x="2132102" y="1419927"/>
                </a:lnTo>
                <a:lnTo>
                  <a:pt x="2139266" y="1477002"/>
                </a:lnTo>
                <a:lnTo>
                  <a:pt x="2145377" y="1534717"/>
                </a:lnTo>
                <a:lnTo>
                  <a:pt x="2150417" y="1593043"/>
                </a:lnTo>
                <a:lnTo>
                  <a:pt x="2154367" y="1651949"/>
                </a:lnTo>
                <a:lnTo>
                  <a:pt x="2157211" y="1711405"/>
                </a:lnTo>
                <a:lnTo>
                  <a:pt x="2158930" y="1771381"/>
                </a:lnTo>
                <a:lnTo>
                  <a:pt x="2159508" y="1831847"/>
                </a:lnTo>
                <a:lnTo>
                  <a:pt x="2158930" y="1892314"/>
                </a:lnTo>
                <a:lnTo>
                  <a:pt x="2157211" y="1952290"/>
                </a:lnTo>
                <a:lnTo>
                  <a:pt x="2154367" y="2011746"/>
                </a:lnTo>
                <a:lnTo>
                  <a:pt x="2150417" y="2070652"/>
                </a:lnTo>
                <a:lnTo>
                  <a:pt x="2145377" y="2128978"/>
                </a:lnTo>
                <a:lnTo>
                  <a:pt x="2139266" y="2186693"/>
                </a:lnTo>
                <a:lnTo>
                  <a:pt x="2132102" y="2243768"/>
                </a:lnTo>
                <a:lnTo>
                  <a:pt x="2123902" y="2300171"/>
                </a:lnTo>
                <a:lnTo>
                  <a:pt x="2114684" y="2355874"/>
                </a:lnTo>
                <a:lnTo>
                  <a:pt x="2104467" y="2410846"/>
                </a:lnTo>
                <a:lnTo>
                  <a:pt x="2093267" y="2465056"/>
                </a:lnTo>
                <a:lnTo>
                  <a:pt x="2081102" y="2518474"/>
                </a:lnTo>
                <a:lnTo>
                  <a:pt x="2067991" y="2571071"/>
                </a:lnTo>
                <a:lnTo>
                  <a:pt x="2053950" y="2622816"/>
                </a:lnTo>
                <a:lnTo>
                  <a:pt x="2038999" y="2673678"/>
                </a:lnTo>
                <a:lnTo>
                  <a:pt x="2023154" y="2723629"/>
                </a:lnTo>
                <a:lnTo>
                  <a:pt x="2006433" y="2772637"/>
                </a:lnTo>
                <a:lnTo>
                  <a:pt x="1988855" y="2820672"/>
                </a:lnTo>
                <a:lnTo>
                  <a:pt x="1970436" y="2867705"/>
                </a:lnTo>
                <a:lnTo>
                  <a:pt x="1951195" y="2913705"/>
                </a:lnTo>
                <a:lnTo>
                  <a:pt x="1931149" y="2958641"/>
                </a:lnTo>
                <a:lnTo>
                  <a:pt x="1910317" y="3002484"/>
                </a:lnTo>
                <a:lnTo>
                  <a:pt x="1888716" y="3045204"/>
                </a:lnTo>
                <a:lnTo>
                  <a:pt x="1866363" y="3086770"/>
                </a:lnTo>
                <a:lnTo>
                  <a:pt x="1843278" y="3127152"/>
                </a:lnTo>
                <a:lnTo>
                  <a:pt x="1819476" y="3166320"/>
                </a:lnTo>
                <a:lnTo>
                  <a:pt x="1794976" y="3204244"/>
                </a:lnTo>
                <a:lnTo>
                  <a:pt x="1769797" y="3240894"/>
                </a:lnTo>
                <a:lnTo>
                  <a:pt x="1743955" y="3276239"/>
                </a:lnTo>
                <a:lnTo>
                  <a:pt x="1717468" y="3310249"/>
                </a:lnTo>
                <a:lnTo>
                  <a:pt x="1690355" y="3342895"/>
                </a:lnTo>
                <a:lnTo>
                  <a:pt x="1662633" y="3374145"/>
                </a:lnTo>
                <a:lnTo>
                  <a:pt x="1634319" y="3403970"/>
                </a:lnTo>
                <a:lnTo>
                  <a:pt x="1605432" y="3432340"/>
                </a:lnTo>
                <a:lnTo>
                  <a:pt x="1575989" y="3459224"/>
                </a:lnTo>
                <a:lnTo>
                  <a:pt x="1546009" y="3484593"/>
                </a:lnTo>
                <a:lnTo>
                  <a:pt x="1515508" y="3508415"/>
                </a:lnTo>
                <a:lnTo>
                  <a:pt x="1484505" y="3530661"/>
                </a:lnTo>
                <a:lnTo>
                  <a:pt x="1421062" y="3570305"/>
                </a:lnTo>
                <a:lnTo>
                  <a:pt x="1355824" y="3603282"/>
                </a:lnTo>
                <a:lnTo>
                  <a:pt x="1288932" y="3629351"/>
                </a:lnTo>
                <a:lnTo>
                  <a:pt x="1220528" y="3648270"/>
                </a:lnTo>
                <a:lnTo>
                  <a:pt x="1150754" y="3659799"/>
                </a:lnTo>
                <a:lnTo>
                  <a:pt x="1079754" y="3663695"/>
                </a:lnTo>
                <a:lnTo>
                  <a:pt x="1044109" y="3662716"/>
                </a:lnTo>
                <a:lnTo>
                  <a:pt x="973704" y="3654973"/>
                </a:lnTo>
                <a:lnTo>
                  <a:pt x="904597" y="3639719"/>
                </a:lnTo>
                <a:lnTo>
                  <a:pt x="836931" y="3617195"/>
                </a:lnTo>
                <a:lnTo>
                  <a:pt x="770848" y="3587642"/>
                </a:lnTo>
                <a:lnTo>
                  <a:pt x="706490" y="3551301"/>
                </a:lnTo>
                <a:lnTo>
                  <a:pt x="643999" y="3508415"/>
                </a:lnTo>
                <a:lnTo>
                  <a:pt x="613498" y="3484593"/>
                </a:lnTo>
                <a:lnTo>
                  <a:pt x="583518" y="3459224"/>
                </a:lnTo>
                <a:lnTo>
                  <a:pt x="554075" y="3432340"/>
                </a:lnTo>
                <a:lnTo>
                  <a:pt x="525188" y="3403970"/>
                </a:lnTo>
                <a:lnTo>
                  <a:pt x="496874" y="3374145"/>
                </a:lnTo>
                <a:lnTo>
                  <a:pt x="469152" y="3342895"/>
                </a:lnTo>
                <a:lnTo>
                  <a:pt x="442039" y="3310249"/>
                </a:lnTo>
                <a:lnTo>
                  <a:pt x="415552" y="3276239"/>
                </a:lnTo>
                <a:lnTo>
                  <a:pt x="389710" y="3240894"/>
                </a:lnTo>
                <a:lnTo>
                  <a:pt x="364531" y="3204244"/>
                </a:lnTo>
                <a:lnTo>
                  <a:pt x="340031" y="3166320"/>
                </a:lnTo>
                <a:lnTo>
                  <a:pt x="316229" y="3127152"/>
                </a:lnTo>
                <a:lnTo>
                  <a:pt x="293144" y="3086770"/>
                </a:lnTo>
                <a:lnTo>
                  <a:pt x="270791" y="3045204"/>
                </a:lnTo>
                <a:lnTo>
                  <a:pt x="249190" y="3002484"/>
                </a:lnTo>
                <a:lnTo>
                  <a:pt x="228358" y="2958641"/>
                </a:lnTo>
                <a:lnTo>
                  <a:pt x="208312" y="2913705"/>
                </a:lnTo>
                <a:lnTo>
                  <a:pt x="189071" y="2867705"/>
                </a:lnTo>
                <a:lnTo>
                  <a:pt x="170652" y="2820672"/>
                </a:lnTo>
                <a:lnTo>
                  <a:pt x="153074" y="2772637"/>
                </a:lnTo>
                <a:lnTo>
                  <a:pt x="136353" y="2723629"/>
                </a:lnTo>
                <a:lnTo>
                  <a:pt x="120508" y="2673678"/>
                </a:lnTo>
                <a:lnTo>
                  <a:pt x="105557" y="2622816"/>
                </a:lnTo>
                <a:lnTo>
                  <a:pt x="91516" y="2571071"/>
                </a:lnTo>
                <a:lnTo>
                  <a:pt x="78405" y="2518474"/>
                </a:lnTo>
                <a:lnTo>
                  <a:pt x="66240" y="2465056"/>
                </a:lnTo>
                <a:lnTo>
                  <a:pt x="55040" y="2410846"/>
                </a:lnTo>
                <a:lnTo>
                  <a:pt x="44823" y="2355874"/>
                </a:lnTo>
                <a:lnTo>
                  <a:pt x="35605" y="2300171"/>
                </a:lnTo>
                <a:lnTo>
                  <a:pt x="27405" y="2243768"/>
                </a:lnTo>
                <a:lnTo>
                  <a:pt x="20241" y="2186693"/>
                </a:lnTo>
                <a:lnTo>
                  <a:pt x="14130" y="2128978"/>
                </a:lnTo>
                <a:lnTo>
                  <a:pt x="9090" y="2070652"/>
                </a:lnTo>
                <a:lnTo>
                  <a:pt x="5140" y="2011746"/>
                </a:lnTo>
                <a:lnTo>
                  <a:pt x="2296" y="1952290"/>
                </a:lnTo>
                <a:lnTo>
                  <a:pt x="577" y="1892314"/>
                </a:lnTo>
                <a:lnTo>
                  <a:pt x="0" y="1831847"/>
                </a:lnTo>
                <a:close/>
              </a:path>
            </a:pathLst>
          </a:custGeom>
          <a:ln w="5029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1419225" y="3566286"/>
            <a:ext cx="12446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FF66FF"/>
                </a:solidFill>
                <a:latin typeface="宋体"/>
                <a:cs typeface="宋体"/>
              </a:rPr>
              <a:t>甲方</a:t>
            </a:r>
            <a:endParaRPr sz="4800">
              <a:latin typeface="宋体"/>
              <a:cs typeface="宋体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496180" y="6237439"/>
            <a:ext cx="754380" cy="2311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23266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立项流程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01667" y="6321766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7532" y="1629155"/>
            <a:ext cx="7129272" cy="50398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708653" y="2134361"/>
            <a:ext cx="45720" cy="1655445"/>
          </a:xfrm>
          <a:custGeom>
            <a:avLst/>
            <a:gdLst/>
            <a:ahLst/>
            <a:cxnLst/>
            <a:rect l="l" t="t" r="r" b="b"/>
            <a:pathLst>
              <a:path w="45720" h="1655445">
                <a:moveTo>
                  <a:pt x="45720" y="1632204"/>
                </a:moveTo>
                <a:lnTo>
                  <a:pt x="0" y="1632204"/>
                </a:lnTo>
                <a:lnTo>
                  <a:pt x="22860" y="1655064"/>
                </a:lnTo>
                <a:lnTo>
                  <a:pt x="45720" y="1632204"/>
                </a:lnTo>
                <a:close/>
              </a:path>
              <a:path w="45720" h="1655445">
                <a:moveTo>
                  <a:pt x="34290" y="0"/>
                </a:moveTo>
                <a:lnTo>
                  <a:pt x="11430" y="0"/>
                </a:lnTo>
                <a:lnTo>
                  <a:pt x="11430" y="1632204"/>
                </a:lnTo>
                <a:lnTo>
                  <a:pt x="34290" y="1632204"/>
                </a:lnTo>
                <a:lnTo>
                  <a:pt x="34290" y="0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08653" y="2134361"/>
            <a:ext cx="45720" cy="1655445"/>
          </a:xfrm>
          <a:custGeom>
            <a:avLst/>
            <a:gdLst/>
            <a:ahLst/>
            <a:cxnLst/>
            <a:rect l="l" t="t" r="r" b="b"/>
            <a:pathLst>
              <a:path w="45720" h="1655445">
                <a:moveTo>
                  <a:pt x="0" y="1632204"/>
                </a:moveTo>
                <a:lnTo>
                  <a:pt x="11430" y="1632204"/>
                </a:lnTo>
                <a:lnTo>
                  <a:pt x="11430" y="0"/>
                </a:lnTo>
                <a:lnTo>
                  <a:pt x="34290" y="0"/>
                </a:lnTo>
                <a:lnTo>
                  <a:pt x="34290" y="1632204"/>
                </a:lnTo>
                <a:lnTo>
                  <a:pt x="45720" y="1632204"/>
                </a:lnTo>
                <a:lnTo>
                  <a:pt x="22860" y="1655064"/>
                </a:lnTo>
                <a:lnTo>
                  <a:pt x="0" y="1632204"/>
                </a:lnTo>
                <a:close/>
              </a:path>
            </a:pathLst>
          </a:custGeom>
          <a:ln w="19812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08653" y="4077461"/>
            <a:ext cx="45720" cy="504825"/>
          </a:xfrm>
          <a:custGeom>
            <a:avLst/>
            <a:gdLst/>
            <a:ahLst/>
            <a:cxnLst/>
            <a:rect l="l" t="t" r="r" b="b"/>
            <a:pathLst>
              <a:path w="45720" h="504825">
                <a:moveTo>
                  <a:pt x="45720" y="481583"/>
                </a:moveTo>
                <a:lnTo>
                  <a:pt x="0" y="481583"/>
                </a:lnTo>
                <a:lnTo>
                  <a:pt x="22860" y="504444"/>
                </a:lnTo>
                <a:lnTo>
                  <a:pt x="45720" y="481583"/>
                </a:lnTo>
                <a:close/>
              </a:path>
              <a:path w="45720" h="504825">
                <a:moveTo>
                  <a:pt x="34290" y="0"/>
                </a:moveTo>
                <a:lnTo>
                  <a:pt x="11430" y="0"/>
                </a:lnTo>
                <a:lnTo>
                  <a:pt x="11430" y="481583"/>
                </a:lnTo>
                <a:lnTo>
                  <a:pt x="34290" y="481583"/>
                </a:lnTo>
                <a:lnTo>
                  <a:pt x="34290" y="0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08653" y="4077461"/>
            <a:ext cx="45720" cy="504825"/>
          </a:xfrm>
          <a:custGeom>
            <a:avLst/>
            <a:gdLst/>
            <a:ahLst/>
            <a:cxnLst/>
            <a:rect l="l" t="t" r="r" b="b"/>
            <a:pathLst>
              <a:path w="45720" h="504825">
                <a:moveTo>
                  <a:pt x="0" y="481583"/>
                </a:moveTo>
                <a:lnTo>
                  <a:pt x="11430" y="481583"/>
                </a:lnTo>
                <a:lnTo>
                  <a:pt x="11430" y="0"/>
                </a:lnTo>
                <a:lnTo>
                  <a:pt x="34290" y="0"/>
                </a:lnTo>
                <a:lnTo>
                  <a:pt x="34290" y="481583"/>
                </a:lnTo>
                <a:lnTo>
                  <a:pt x="45720" y="481583"/>
                </a:lnTo>
                <a:lnTo>
                  <a:pt x="22860" y="504444"/>
                </a:lnTo>
                <a:lnTo>
                  <a:pt x="0" y="481583"/>
                </a:lnTo>
                <a:close/>
              </a:path>
            </a:pathLst>
          </a:custGeom>
          <a:ln w="19811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44390" y="4847082"/>
            <a:ext cx="1513840" cy="0"/>
          </a:xfrm>
          <a:custGeom>
            <a:avLst/>
            <a:gdLst/>
            <a:ahLst/>
            <a:cxnLst/>
            <a:rect l="l" t="t" r="r" b="b"/>
            <a:pathLst>
              <a:path w="1513839">
                <a:moveTo>
                  <a:pt x="0" y="0"/>
                </a:moveTo>
                <a:lnTo>
                  <a:pt x="1513332" y="0"/>
                </a:lnTo>
              </a:path>
            </a:pathLst>
          </a:custGeom>
          <a:ln w="45719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644390" y="4824221"/>
            <a:ext cx="1513840" cy="45720"/>
          </a:xfrm>
          <a:custGeom>
            <a:avLst/>
            <a:gdLst/>
            <a:ahLst/>
            <a:cxnLst/>
            <a:rect l="l" t="t" r="r" b="b"/>
            <a:pathLst>
              <a:path w="1513839" h="45720">
                <a:moveTo>
                  <a:pt x="0" y="11429"/>
                </a:moveTo>
                <a:lnTo>
                  <a:pt x="1490472" y="11429"/>
                </a:lnTo>
                <a:lnTo>
                  <a:pt x="1490472" y="0"/>
                </a:lnTo>
                <a:lnTo>
                  <a:pt x="1513332" y="22859"/>
                </a:lnTo>
                <a:lnTo>
                  <a:pt x="1490472" y="45719"/>
                </a:lnTo>
                <a:lnTo>
                  <a:pt x="1490472" y="34289"/>
                </a:lnTo>
                <a:lnTo>
                  <a:pt x="0" y="34289"/>
                </a:lnTo>
                <a:lnTo>
                  <a:pt x="0" y="11429"/>
                </a:lnTo>
                <a:close/>
              </a:path>
            </a:pathLst>
          </a:custGeom>
          <a:ln w="19812">
            <a:solidFill>
              <a:srgbClr val="FF9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03441" y="4770882"/>
            <a:ext cx="45720" cy="368935"/>
          </a:xfrm>
          <a:custGeom>
            <a:avLst/>
            <a:gdLst/>
            <a:ahLst/>
            <a:cxnLst/>
            <a:rect l="l" t="t" r="r" b="b"/>
            <a:pathLst>
              <a:path w="45720" h="368935">
                <a:moveTo>
                  <a:pt x="45720" y="345948"/>
                </a:moveTo>
                <a:lnTo>
                  <a:pt x="0" y="345948"/>
                </a:lnTo>
                <a:lnTo>
                  <a:pt x="22860" y="368808"/>
                </a:lnTo>
                <a:lnTo>
                  <a:pt x="45720" y="345948"/>
                </a:lnTo>
                <a:close/>
              </a:path>
              <a:path w="45720" h="368935">
                <a:moveTo>
                  <a:pt x="34290" y="0"/>
                </a:moveTo>
                <a:lnTo>
                  <a:pt x="11430" y="0"/>
                </a:lnTo>
                <a:lnTo>
                  <a:pt x="11430" y="345948"/>
                </a:lnTo>
                <a:lnTo>
                  <a:pt x="34290" y="345948"/>
                </a:lnTo>
                <a:lnTo>
                  <a:pt x="34290" y="0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03441" y="4770882"/>
            <a:ext cx="45720" cy="368935"/>
          </a:xfrm>
          <a:custGeom>
            <a:avLst/>
            <a:gdLst/>
            <a:ahLst/>
            <a:cxnLst/>
            <a:rect l="l" t="t" r="r" b="b"/>
            <a:pathLst>
              <a:path w="45720" h="368935">
                <a:moveTo>
                  <a:pt x="45720" y="345948"/>
                </a:moveTo>
                <a:lnTo>
                  <a:pt x="34290" y="345948"/>
                </a:lnTo>
                <a:lnTo>
                  <a:pt x="34290" y="0"/>
                </a:lnTo>
                <a:lnTo>
                  <a:pt x="11430" y="0"/>
                </a:lnTo>
                <a:lnTo>
                  <a:pt x="11430" y="345948"/>
                </a:lnTo>
                <a:lnTo>
                  <a:pt x="0" y="345948"/>
                </a:lnTo>
                <a:lnTo>
                  <a:pt x="22860" y="368808"/>
                </a:lnTo>
                <a:lnTo>
                  <a:pt x="45720" y="345948"/>
                </a:lnTo>
                <a:close/>
              </a:path>
            </a:pathLst>
          </a:custGeom>
          <a:ln w="19812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34561" y="5014721"/>
            <a:ext cx="45720" cy="367665"/>
          </a:xfrm>
          <a:custGeom>
            <a:avLst/>
            <a:gdLst/>
            <a:ahLst/>
            <a:cxnLst/>
            <a:rect l="l" t="t" r="r" b="b"/>
            <a:pathLst>
              <a:path w="45720" h="367664">
                <a:moveTo>
                  <a:pt x="45720" y="344423"/>
                </a:moveTo>
                <a:lnTo>
                  <a:pt x="0" y="344423"/>
                </a:lnTo>
                <a:lnTo>
                  <a:pt x="22860" y="367283"/>
                </a:lnTo>
                <a:lnTo>
                  <a:pt x="45720" y="344423"/>
                </a:lnTo>
                <a:close/>
              </a:path>
              <a:path w="45720" h="367664">
                <a:moveTo>
                  <a:pt x="34289" y="0"/>
                </a:moveTo>
                <a:lnTo>
                  <a:pt x="11429" y="0"/>
                </a:lnTo>
                <a:lnTo>
                  <a:pt x="11429" y="344423"/>
                </a:lnTo>
                <a:lnTo>
                  <a:pt x="34289" y="344423"/>
                </a:lnTo>
                <a:lnTo>
                  <a:pt x="34289" y="0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734561" y="5014721"/>
            <a:ext cx="45720" cy="367665"/>
          </a:xfrm>
          <a:custGeom>
            <a:avLst/>
            <a:gdLst/>
            <a:ahLst/>
            <a:cxnLst/>
            <a:rect l="l" t="t" r="r" b="b"/>
            <a:pathLst>
              <a:path w="45720" h="367664">
                <a:moveTo>
                  <a:pt x="45720" y="344423"/>
                </a:moveTo>
                <a:lnTo>
                  <a:pt x="34289" y="344423"/>
                </a:lnTo>
                <a:lnTo>
                  <a:pt x="34289" y="0"/>
                </a:lnTo>
                <a:lnTo>
                  <a:pt x="11429" y="0"/>
                </a:lnTo>
                <a:lnTo>
                  <a:pt x="11429" y="344423"/>
                </a:lnTo>
                <a:lnTo>
                  <a:pt x="0" y="344423"/>
                </a:lnTo>
                <a:lnTo>
                  <a:pt x="22860" y="367283"/>
                </a:lnTo>
                <a:lnTo>
                  <a:pt x="45720" y="344423"/>
                </a:lnTo>
                <a:close/>
              </a:path>
            </a:pathLst>
          </a:custGeom>
          <a:ln w="19812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987801" y="5525261"/>
            <a:ext cx="1442085" cy="280670"/>
          </a:xfrm>
          <a:custGeom>
            <a:avLst/>
            <a:gdLst/>
            <a:ahLst/>
            <a:cxnLst/>
            <a:rect l="l" t="t" r="r" b="b"/>
            <a:pathLst>
              <a:path w="1442085" h="280670">
                <a:moveTo>
                  <a:pt x="0" y="280416"/>
                </a:moveTo>
                <a:lnTo>
                  <a:pt x="1441703" y="280416"/>
                </a:lnTo>
                <a:lnTo>
                  <a:pt x="1441703" y="0"/>
                </a:lnTo>
                <a:lnTo>
                  <a:pt x="0" y="0"/>
                </a:lnTo>
                <a:lnTo>
                  <a:pt x="0" y="280416"/>
                </a:lnTo>
                <a:close/>
              </a:path>
            </a:pathLst>
          </a:custGeom>
          <a:ln w="19812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03291" y="548640"/>
            <a:ext cx="4075175" cy="25923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05421" y="2961894"/>
            <a:ext cx="1369060" cy="1115695"/>
          </a:xfrm>
          <a:custGeom>
            <a:avLst/>
            <a:gdLst/>
            <a:ahLst/>
            <a:cxnLst/>
            <a:rect l="l" t="t" r="r" b="b"/>
            <a:pathLst>
              <a:path w="1369059" h="1115695">
                <a:moveTo>
                  <a:pt x="1229105" y="278891"/>
                </a:moveTo>
                <a:lnTo>
                  <a:pt x="950213" y="278891"/>
                </a:lnTo>
                <a:lnTo>
                  <a:pt x="950213" y="836675"/>
                </a:lnTo>
                <a:lnTo>
                  <a:pt x="0" y="836675"/>
                </a:lnTo>
                <a:lnTo>
                  <a:pt x="0" y="1115567"/>
                </a:lnTo>
                <a:lnTo>
                  <a:pt x="1229105" y="1115567"/>
                </a:lnTo>
                <a:lnTo>
                  <a:pt x="1229105" y="278891"/>
                </a:lnTo>
                <a:close/>
              </a:path>
              <a:path w="1369059" h="1115695">
                <a:moveTo>
                  <a:pt x="1089659" y="0"/>
                </a:moveTo>
                <a:lnTo>
                  <a:pt x="810768" y="278891"/>
                </a:lnTo>
                <a:lnTo>
                  <a:pt x="1368552" y="278891"/>
                </a:lnTo>
                <a:lnTo>
                  <a:pt x="1089659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805421" y="2961894"/>
            <a:ext cx="1369060" cy="1115695"/>
          </a:xfrm>
          <a:custGeom>
            <a:avLst/>
            <a:gdLst/>
            <a:ahLst/>
            <a:cxnLst/>
            <a:rect l="l" t="t" r="r" b="b"/>
            <a:pathLst>
              <a:path w="1369059" h="1115695">
                <a:moveTo>
                  <a:pt x="0" y="836675"/>
                </a:moveTo>
                <a:lnTo>
                  <a:pt x="950213" y="836675"/>
                </a:lnTo>
                <a:lnTo>
                  <a:pt x="950213" y="278891"/>
                </a:lnTo>
                <a:lnTo>
                  <a:pt x="810768" y="278891"/>
                </a:lnTo>
                <a:lnTo>
                  <a:pt x="1089659" y="0"/>
                </a:lnTo>
                <a:lnTo>
                  <a:pt x="1368552" y="278891"/>
                </a:lnTo>
                <a:lnTo>
                  <a:pt x="1229105" y="278891"/>
                </a:lnTo>
                <a:lnTo>
                  <a:pt x="1229105" y="1115567"/>
                </a:lnTo>
                <a:lnTo>
                  <a:pt x="0" y="1115567"/>
                </a:lnTo>
                <a:lnTo>
                  <a:pt x="0" y="836675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228600"/>
                </a:moveTo>
                <a:lnTo>
                  <a:pt x="8552688" y="228600"/>
                </a:lnTo>
                <a:lnTo>
                  <a:pt x="855268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4065" y="23266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项目立项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26458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200" y="1661160"/>
            <a:ext cx="8153400" cy="1972310"/>
          </a:xfrm>
          <a:prstGeom prst="rect">
            <a:avLst/>
          </a:prstGeom>
          <a:solidFill>
            <a:srgbClr val="BED2E3"/>
          </a:solidFill>
        </p:spPr>
        <p:txBody>
          <a:bodyPr vert="horz" wrap="square" lIns="0" tIns="13970" rIns="0" bIns="0" rtlCol="0">
            <a:spAutoFit/>
          </a:bodyPr>
          <a:lstStyle/>
          <a:p>
            <a:pPr marL="411480" marR="119380" indent="-118110">
              <a:lnSpc>
                <a:spcPct val="100000"/>
              </a:lnSpc>
              <a:spcBef>
                <a:spcPts val="110"/>
              </a:spcBef>
            </a:pPr>
            <a:r>
              <a:rPr sz="3200" dirty="0">
                <a:latin typeface="华文新魏"/>
                <a:cs typeface="华文新魏"/>
              </a:rPr>
              <a:t>明确项目的目标、时间表</a:t>
            </a:r>
            <a:r>
              <a:rPr sz="3200" spc="-15" dirty="0">
                <a:latin typeface="华文新魏"/>
                <a:cs typeface="华文新魏"/>
              </a:rPr>
              <a:t>、</a:t>
            </a:r>
            <a:r>
              <a:rPr sz="3200" dirty="0">
                <a:latin typeface="华文新魏"/>
                <a:cs typeface="华文新魏"/>
              </a:rPr>
              <a:t>项目</a:t>
            </a:r>
            <a:r>
              <a:rPr sz="3200" spc="-15" dirty="0">
                <a:latin typeface="华文新魏"/>
                <a:cs typeface="华文新魏"/>
              </a:rPr>
              <a:t>使</a:t>
            </a:r>
            <a:r>
              <a:rPr sz="3200" dirty="0">
                <a:latin typeface="华文新魏"/>
                <a:cs typeface="华文新魏"/>
              </a:rPr>
              <a:t>用的</a:t>
            </a:r>
            <a:r>
              <a:rPr sz="3200" spc="-15" dirty="0">
                <a:latin typeface="华文新魏"/>
                <a:cs typeface="华文新魏"/>
              </a:rPr>
              <a:t>资</a:t>
            </a:r>
            <a:r>
              <a:rPr sz="3200" dirty="0">
                <a:latin typeface="华文新魏"/>
                <a:cs typeface="华文新魏"/>
              </a:rPr>
              <a:t>源 和经费，而且得到执行</a:t>
            </a:r>
            <a:r>
              <a:rPr sz="3200" spc="-15" dirty="0">
                <a:latin typeface="华文新魏"/>
                <a:cs typeface="华文新魏"/>
              </a:rPr>
              <a:t>该</a:t>
            </a:r>
            <a:r>
              <a:rPr sz="3200" dirty="0">
                <a:latin typeface="华文新魏"/>
                <a:cs typeface="华文新魏"/>
              </a:rPr>
              <a:t>项目</a:t>
            </a:r>
            <a:r>
              <a:rPr sz="3200" spc="-15" dirty="0">
                <a:latin typeface="华文新魏"/>
                <a:cs typeface="华文新魏"/>
              </a:rPr>
              <a:t>的</a:t>
            </a:r>
            <a:r>
              <a:rPr sz="3200" dirty="0">
                <a:latin typeface="华文新魏"/>
                <a:cs typeface="华文新魏"/>
              </a:rPr>
              <a:t>项目</a:t>
            </a:r>
            <a:r>
              <a:rPr sz="3200" spc="-15" dirty="0">
                <a:latin typeface="华文新魏"/>
                <a:cs typeface="华文新魏"/>
              </a:rPr>
              <a:t>经</a:t>
            </a:r>
            <a:r>
              <a:rPr sz="3200" dirty="0">
                <a:latin typeface="华文新魏"/>
                <a:cs typeface="华文新魏"/>
              </a:rPr>
              <a:t>理 和项目发起人的认</a:t>
            </a:r>
            <a:r>
              <a:rPr sz="3200" spc="5" dirty="0">
                <a:latin typeface="华文新魏"/>
                <a:cs typeface="华文新魏"/>
              </a:rPr>
              <a:t>可</a:t>
            </a:r>
            <a:r>
              <a:rPr sz="3200" spc="-40" dirty="0">
                <a:latin typeface="华文新魏"/>
                <a:cs typeface="华文新魏"/>
              </a:rPr>
              <a:t> </a:t>
            </a:r>
            <a:r>
              <a:rPr sz="3200" dirty="0">
                <a:latin typeface="华文新魏"/>
                <a:cs typeface="华文新魏"/>
              </a:rPr>
              <a:t>.</a:t>
            </a:r>
            <a:endParaRPr sz="3200">
              <a:latin typeface="华文新魏"/>
              <a:cs typeface="华文新魏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27170" y="5161026"/>
            <a:ext cx="891540" cy="890269"/>
          </a:xfrm>
          <a:custGeom>
            <a:avLst/>
            <a:gdLst/>
            <a:ahLst/>
            <a:cxnLst/>
            <a:rect l="l" t="t" r="r" b="b"/>
            <a:pathLst>
              <a:path w="891539" h="890270">
                <a:moveTo>
                  <a:pt x="743203" y="0"/>
                </a:moveTo>
                <a:lnTo>
                  <a:pt x="148335" y="0"/>
                </a:lnTo>
                <a:lnTo>
                  <a:pt x="101453" y="7563"/>
                </a:lnTo>
                <a:lnTo>
                  <a:pt x="60734" y="28622"/>
                </a:lnTo>
                <a:lnTo>
                  <a:pt x="28622" y="60734"/>
                </a:lnTo>
                <a:lnTo>
                  <a:pt x="7563" y="101453"/>
                </a:lnTo>
                <a:lnTo>
                  <a:pt x="0" y="148336"/>
                </a:lnTo>
                <a:lnTo>
                  <a:pt x="0" y="741680"/>
                </a:lnTo>
                <a:lnTo>
                  <a:pt x="7563" y="788567"/>
                </a:lnTo>
                <a:lnTo>
                  <a:pt x="28622" y="829287"/>
                </a:lnTo>
                <a:lnTo>
                  <a:pt x="60734" y="861396"/>
                </a:lnTo>
                <a:lnTo>
                  <a:pt x="101453" y="882454"/>
                </a:lnTo>
                <a:lnTo>
                  <a:pt x="148335" y="890016"/>
                </a:lnTo>
                <a:lnTo>
                  <a:pt x="743203" y="890016"/>
                </a:lnTo>
                <a:lnTo>
                  <a:pt x="790086" y="882454"/>
                </a:lnTo>
                <a:lnTo>
                  <a:pt x="830805" y="861396"/>
                </a:lnTo>
                <a:lnTo>
                  <a:pt x="862917" y="829287"/>
                </a:lnTo>
                <a:lnTo>
                  <a:pt x="883976" y="788567"/>
                </a:lnTo>
                <a:lnTo>
                  <a:pt x="891539" y="741680"/>
                </a:lnTo>
                <a:lnTo>
                  <a:pt x="891539" y="148336"/>
                </a:lnTo>
                <a:lnTo>
                  <a:pt x="883976" y="101453"/>
                </a:lnTo>
                <a:lnTo>
                  <a:pt x="862917" y="60734"/>
                </a:lnTo>
                <a:lnTo>
                  <a:pt x="830805" y="28622"/>
                </a:lnTo>
                <a:lnTo>
                  <a:pt x="790086" y="7563"/>
                </a:lnTo>
                <a:lnTo>
                  <a:pt x="743203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28896" y="5350255"/>
            <a:ext cx="68707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FFFFFF"/>
                </a:solidFill>
                <a:latin typeface="华文仿宋"/>
                <a:cs typeface="华文仿宋"/>
              </a:rPr>
              <a:t>立项</a:t>
            </a:r>
            <a:endParaRPr sz="2600">
              <a:latin typeface="华文仿宋"/>
              <a:cs typeface="华文仿宋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72178" y="4536440"/>
            <a:ext cx="0" cy="624840"/>
          </a:xfrm>
          <a:custGeom>
            <a:avLst/>
            <a:gdLst/>
            <a:ahLst/>
            <a:cxnLst/>
            <a:rect l="l" t="t" r="r" b="b"/>
            <a:pathLst>
              <a:path h="624839">
                <a:moveTo>
                  <a:pt x="0" y="624586"/>
                </a:moveTo>
                <a:lnTo>
                  <a:pt x="0" y="0"/>
                </a:lnTo>
              </a:path>
            </a:pathLst>
          </a:custGeom>
          <a:ln w="19812">
            <a:solidFill>
              <a:srgbClr val="DD80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74997" y="3940302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496569" y="0"/>
                </a:moveTo>
                <a:lnTo>
                  <a:pt x="99313" y="0"/>
                </a:lnTo>
                <a:lnTo>
                  <a:pt x="60650" y="7802"/>
                </a:lnTo>
                <a:lnTo>
                  <a:pt x="29083" y="29083"/>
                </a:lnTo>
                <a:lnTo>
                  <a:pt x="7802" y="60650"/>
                </a:lnTo>
                <a:lnTo>
                  <a:pt x="0" y="99314"/>
                </a:lnTo>
                <a:lnTo>
                  <a:pt x="0" y="496570"/>
                </a:lnTo>
                <a:lnTo>
                  <a:pt x="7802" y="535233"/>
                </a:lnTo>
                <a:lnTo>
                  <a:pt x="29083" y="566801"/>
                </a:lnTo>
                <a:lnTo>
                  <a:pt x="60650" y="588081"/>
                </a:lnTo>
                <a:lnTo>
                  <a:pt x="99313" y="595884"/>
                </a:lnTo>
                <a:lnTo>
                  <a:pt x="496569" y="595884"/>
                </a:lnTo>
                <a:lnTo>
                  <a:pt x="535233" y="588081"/>
                </a:lnTo>
                <a:lnTo>
                  <a:pt x="566801" y="566801"/>
                </a:lnTo>
                <a:lnTo>
                  <a:pt x="588081" y="535233"/>
                </a:lnTo>
                <a:lnTo>
                  <a:pt x="595884" y="496570"/>
                </a:lnTo>
                <a:lnTo>
                  <a:pt x="595884" y="99314"/>
                </a:lnTo>
                <a:lnTo>
                  <a:pt x="588081" y="60650"/>
                </a:lnTo>
                <a:lnTo>
                  <a:pt x="566801" y="29083"/>
                </a:lnTo>
                <a:lnTo>
                  <a:pt x="535233" y="7802"/>
                </a:lnTo>
                <a:lnTo>
                  <a:pt x="496569" y="0"/>
                </a:lnTo>
                <a:close/>
              </a:path>
            </a:pathLst>
          </a:custGeom>
          <a:solidFill>
            <a:srgbClr val="A4AB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74997" y="3940302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99314"/>
                </a:moveTo>
                <a:lnTo>
                  <a:pt x="7802" y="60650"/>
                </a:lnTo>
                <a:lnTo>
                  <a:pt x="29083" y="29083"/>
                </a:lnTo>
                <a:lnTo>
                  <a:pt x="60650" y="7802"/>
                </a:lnTo>
                <a:lnTo>
                  <a:pt x="99313" y="0"/>
                </a:lnTo>
                <a:lnTo>
                  <a:pt x="496569" y="0"/>
                </a:lnTo>
                <a:lnTo>
                  <a:pt x="535233" y="7802"/>
                </a:lnTo>
                <a:lnTo>
                  <a:pt x="566801" y="29082"/>
                </a:lnTo>
                <a:lnTo>
                  <a:pt x="588081" y="60650"/>
                </a:lnTo>
                <a:lnTo>
                  <a:pt x="595884" y="99314"/>
                </a:lnTo>
                <a:lnTo>
                  <a:pt x="595884" y="496570"/>
                </a:lnTo>
                <a:lnTo>
                  <a:pt x="588081" y="535233"/>
                </a:lnTo>
                <a:lnTo>
                  <a:pt x="566801" y="566801"/>
                </a:lnTo>
                <a:lnTo>
                  <a:pt x="535233" y="588081"/>
                </a:lnTo>
                <a:lnTo>
                  <a:pt x="496569" y="595884"/>
                </a:lnTo>
                <a:lnTo>
                  <a:pt x="99313" y="595884"/>
                </a:lnTo>
                <a:lnTo>
                  <a:pt x="60650" y="588081"/>
                </a:lnTo>
                <a:lnTo>
                  <a:pt x="29083" y="566801"/>
                </a:lnTo>
                <a:lnTo>
                  <a:pt x="7802" y="535233"/>
                </a:lnTo>
                <a:lnTo>
                  <a:pt x="0" y="496570"/>
                </a:lnTo>
                <a:lnTo>
                  <a:pt x="0" y="99314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243196" y="4065777"/>
            <a:ext cx="4584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华文仿宋"/>
                <a:cs typeface="华文仿宋"/>
              </a:rPr>
              <a:t>目标</a:t>
            </a:r>
            <a:endParaRPr sz="1700">
              <a:latin typeface="华文仿宋"/>
              <a:cs typeface="华文仿宋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917185" y="5862421"/>
            <a:ext cx="441325" cy="255270"/>
          </a:xfrm>
          <a:custGeom>
            <a:avLst/>
            <a:gdLst/>
            <a:ahLst/>
            <a:cxnLst/>
            <a:rect l="l" t="t" r="r" b="b"/>
            <a:pathLst>
              <a:path w="441325" h="255270">
                <a:moveTo>
                  <a:pt x="0" y="0"/>
                </a:moveTo>
                <a:lnTo>
                  <a:pt x="441325" y="254787"/>
                </a:lnTo>
              </a:path>
            </a:pathLst>
          </a:custGeom>
          <a:ln w="19050">
            <a:solidFill>
              <a:srgbClr val="DD80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59146" y="5991605"/>
            <a:ext cx="597535" cy="597535"/>
          </a:xfrm>
          <a:custGeom>
            <a:avLst/>
            <a:gdLst/>
            <a:ahLst/>
            <a:cxnLst/>
            <a:rect l="l" t="t" r="r" b="b"/>
            <a:pathLst>
              <a:path w="597535" h="597534">
                <a:moveTo>
                  <a:pt x="497839" y="0"/>
                </a:moveTo>
                <a:lnTo>
                  <a:pt x="99567" y="0"/>
                </a:lnTo>
                <a:lnTo>
                  <a:pt x="60811" y="7824"/>
                </a:lnTo>
                <a:lnTo>
                  <a:pt x="29162" y="29162"/>
                </a:lnTo>
                <a:lnTo>
                  <a:pt x="7824" y="60811"/>
                </a:lnTo>
                <a:lnTo>
                  <a:pt x="0" y="99568"/>
                </a:lnTo>
                <a:lnTo>
                  <a:pt x="0" y="497840"/>
                </a:lnTo>
                <a:lnTo>
                  <a:pt x="7824" y="536596"/>
                </a:lnTo>
                <a:lnTo>
                  <a:pt x="29162" y="568245"/>
                </a:lnTo>
                <a:lnTo>
                  <a:pt x="60811" y="589583"/>
                </a:lnTo>
                <a:lnTo>
                  <a:pt x="99567" y="597408"/>
                </a:lnTo>
                <a:lnTo>
                  <a:pt x="497839" y="597408"/>
                </a:lnTo>
                <a:lnTo>
                  <a:pt x="536596" y="589583"/>
                </a:lnTo>
                <a:lnTo>
                  <a:pt x="568245" y="568245"/>
                </a:lnTo>
                <a:lnTo>
                  <a:pt x="589583" y="536596"/>
                </a:lnTo>
                <a:lnTo>
                  <a:pt x="597407" y="497840"/>
                </a:lnTo>
                <a:lnTo>
                  <a:pt x="597407" y="99568"/>
                </a:lnTo>
                <a:lnTo>
                  <a:pt x="589583" y="60811"/>
                </a:lnTo>
                <a:lnTo>
                  <a:pt x="568245" y="29162"/>
                </a:lnTo>
                <a:lnTo>
                  <a:pt x="536596" y="7824"/>
                </a:lnTo>
                <a:lnTo>
                  <a:pt x="497839" y="0"/>
                </a:lnTo>
                <a:close/>
              </a:path>
            </a:pathLst>
          </a:custGeom>
          <a:solidFill>
            <a:srgbClr val="D7B1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59146" y="5991605"/>
            <a:ext cx="597535" cy="597535"/>
          </a:xfrm>
          <a:custGeom>
            <a:avLst/>
            <a:gdLst/>
            <a:ahLst/>
            <a:cxnLst/>
            <a:rect l="l" t="t" r="r" b="b"/>
            <a:pathLst>
              <a:path w="597535" h="597534">
                <a:moveTo>
                  <a:pt x="0" y="99568"/>
                </a:moveTo>
                <a:lnTo>
                  <a:pt x="7824" y="60811"/>
                </a:lnTo>
                <a:lnTo>
                  <a:pt x="29162" y="29162"/>
                </a:lnTo>
                <a:lnTo>
                  <a:pt x="60811" y="7824"/>
                </a:lnTo>
                <a:lnTo>
                  <a:pt x="99567" y="0"/>
                </a:lnTo>
                <a:lnTo>
                  <a:pt x="497839" y="0"/>
                </a:lnTo>
                <a:lnTo>
                  <a:pt x="536596" y="7824"/>
                </a:lnTo>
                <a:lnTo>
                  <a:pt x="568245" y="29162"/>
                </a:lnTo>
                <a:lnTo>
                  <a:pt x="589583" y="60811"/>
                </a:lnTo>
                <a:lnTo>
                  <a:pt x="597407" y="99568"/>
                </a:lnTo>
                <a:lnTo>
                  <a:pt x="597407" y="497840"/>
                </a:lnTo>
                <a:lnTo>
                  <a:pt x="589583" y="536596"/>
                </a:lnTo>
                <a:lnTo>
                  <a:pt x="568245" y="568245"/>
                </a:lnTo>
                <a:lnTo>
                  <a:pt x="536596" y="589583"/>
                </a:lnTo>
                <a:lnTo>
                  <a:pt x="497839" y="597408"/>
                </a:lnTo>
                <a:lnTo>
                  <a:pt x="99567" y="597408"/>
                </a:lnTo>
                <a:lnTo>
                  <a:pt x="60811" y="589583"/>
                </a:lnTo>
                <a:lnTo>
                  <a:pt x="29162" y="568245"/>
                </a:lnTo>
                <a:lnTo>
                  <a:pt x="7824" y="536596"/>
                </a:lnTo>
                <a:lnTo>
                  <a:pt x="0" y="497840"/>
                </a:lnTo>
                <a:lnTo>
                  <a:pt x="0" y="99568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428234" y="6118656"/>
            <a:ext cx="4584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华文仿宋"/>
                <a:cs typeface="华文仿宋"/>
              </a:rPr>
              <a:t>时间</a:t>
            </a:r>
            <a:endParaRPr sz="1700">
              <a:latin typeface="华文仿宋"/>
              <a:cs typeface="华文仿宋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585464" y="5862421"/>
            <a:ext cx="441325" cy="255270"/>
          </a:xfrm>
          <a:custGeom>
            <a:avLst/>
            <a:gdLst/>
            <a:ahLst/>
            <a:cxnLst/>
            <a:rect l="l" t="t" r="r" b="b"/>
            <a:pathLst>
              <a:path w="441325" h="255270">
                <a:moveTo>
                  <a:pt x="441325" y="0"/>
                </a:moveTo>
                <a:lnTo>
                  <a:pt x="0" y="254787"/>
                </a:lnTo>
              </a:path>
            </a:pathLst>
          </a:custGeom>
          <a:ln w="19050">
            <a:solidFill>
              <a:srgbClr val="DD80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89326" y="5991605"/>
            <a:ext cx="597535" cy="597535"/>
          </a:xfrm>
          <a:custGeom>
            <a:avLst/>
            <a:gdLst/>
            <a:ahLst/>
            <a:cxnLst/>
            <a:rect l="l" t="t" r="r" b="b"/>
            <a:pathLst>
              <a:path w="597535" h="597534">
                <a:moveTo>
                  <a:pt x="497839" y="0"/>
                </a:moveTo>
                <a:lnTo>
                  <a:pt x="99568" y="0"/>
                </a:lnTo>
                <a:lnTo>
                  <a:pt x="60811" y="7824"/>
                </a:lnTo>
                <a:lnTo>
                  <a:pt x="29162" y="29162"/>
                </a:lnTo>
                <a:lnTo>
                  <a:pt x="7824" y="60811"/>
                </a:lnTo>
                <a:lnTo>
                  <a:pt x="0" y="99568"/>
                </a:lnTo>
                <a:lnTo>
                  <a:pt x="0" y="497840"/>
                </a:lnTo>
                <a:lnTo>
                  <a:pt x="7824" y="536596"/>
                </a:lnTo>
                <a:lnTo>
                  <a:pt x="29162" y="568245"/>
                </a:lnTo>
                <a:lnTo>
                  <a:pt x="60811" y="589583"/>
                </a:lnTo>
                <a:lnTo>
                  <a:pt x="99568" y="597408"/>
                </a:lnTo>
                <a:lnTo>
                  <a:pt x="497839" y="597408"/>
                </a:lnTo>
                <a:lnTo>
                  <a:pt x="536596" y="589583"/>
                </a:lnTo>
                <a:lnTo>
                  <a:pt x="568245" y="568245"/>
                </a:lnTo>
                <a:lnTo>
                  <a:pt x="589583" y="536596"/>
                </a:lnTo>
                <a:lnTo>
                  <a:pt x="597408" y="497840"/>
                </a:lnTo>
                <a:lnTo>
                  <a:pt x="597408" y="99568"/>
                </a:lnTo>
                <a:lnTo>
                  <a:pt x="589583" y="60811"/>
                </a:lnTo>
                <a:lnTo>
                  <a:pt x="568245" y="29162"/>
                </a:lnTo>
                <a:lnTo>
                  <a:pt x="536596" y="7824"/>
                </a:lnTo>
                <a:lnTo>
                  <a:pt x="497839" y="0"/>
                </a:lnTo>
                <a:close/>
              </a:path>
            </a:pathLst>
          </a:custGeom>
          <a:solidFill>
            <a:srgbClr val="7AA7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989326" y="5991605"/>
            <a:ext cx="597535" cy="597535"/>
          </a:xfrm>
          <a:custGeom>
            <a:avLst/>
            <a:gdLst/>
            <a:ahLst/>
            <a:cxnLst/>
            <a:rect l="l" t="t" r="r" b="b"/>
            <a:pathLst>
              <a:path w="597535" h="597534">
                <a:moveTo>
                  <a:pt x="0" y="99568"/>
                </a:moveTo>
                <a:lnTo>
                  <a:pt x="7824" y="60811"/>
                </a:lnTo>
                <a:lnTo>
                  <a:pt x="29162" y="29162"/>
                </a:lnTo>
                <a:lnTo>
                  <a:pt x="60811" y="7824"/>
                </a:lnTo>
                <a:lnTo>
                  <a:pt x="99568" y="0"/>
                </a:lnTo>
                <a:lnTo>
                  <a:pt x="497839" y="0"/>
                </a:lnTo>
                <a:lnTo>
                  <a:pt x="536596" y="7824"/>
                </a:lnTo>
                <a:lnTo>
                  <a:pt x="568245" y="29162"/>
                </a:lnTo>
                <a:lnTo>
                  <a:pt x="589583" y="60811"/>
                </a:lnTo>
                <a:lnTo>
                  <a:pt x="597408" y="99568"/>
                </a:lnTo>
                <a:lnTo>
                  <a:pt x="597408" y="497840"/>
                </a:lnTo>
                <a:lnTo>
                  <a:pt x="589583" y="536596"/>
                </a:lnTo>
                <a:lnTo>
                  <a:pt x="568245" y="568245"/>
                </a:lnTo>
                <a:lnTo>
                  <a:pt x="536596" y="589583"/>
                </a:lnTo>
                <a:lnTo>
                  <a:pt x="497839" y="597408"/>
                </a:lnTo>
                <a:lnTo>
                  <a:pt x="99568" y="597408"/>
                </a:lnTo>
                <a:lnTo>
                  <a:pt x="60811" y="589583"/>
                </a:lnTo>
                <a:lnTo>
                  <a:pt x="29162" y="568245"/>
                </a:lnTo>
                <a:lnTo>
                  <a:pt x="7824" y="536596"/>
                </a:lnTo>
                <a:lnTo>
                  <a:pt x="0" y="497840"/>
                </a:lnTo>
                <a:lnTo>
                  <a:pt x="0" y="99568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058160" y="6118656"/>
            <a:ext cx="4584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华文仿宋"/>
                <a:cs typeface="华文仿宋"/>
              </a:rPr>
              <a:t>费用</a:t>
            </a:r>
            <a:endParaRPr sz="1700">
              <a:latin typeface="华文仿宋"/>
              <a:cs typeface="华文仿宋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335026"/>
            <a:ext cx="17037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仿宋"/>
                <a:cs typeface="华文仿宋"/>
              </a:rPr>
              <a:t>立项书</a:t>
            </a:r>
            <a:endParaRPr sz="4400">
              <a:latin typeface="华文仿宋"/>
              <a:cs typeface="华文仿宋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43583" y="1551432"/>
            <a:ext cx="6545580" cy="4696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267" y="160731"/>
            <a:ext cx="39039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1" spc="-5" dirty="0">
                <a:solidFill>
                  <a:srgbClr val="775F54"/>
                </a:solidFill>
                <a:latin typeface="华文隶书"/>
                <a:cs typeface="华文隶书"/>
              </a:rPr>
              <a:t>Make</a:t>
            </a:r>
            <a:r>
              <a:rPr sz="4400" i="1" spc="-15" dirty="0">
                <a:solidFill>
                  <a:srgbClr val="775F54"/>
                </a:solidFill>
                <a:latin typeface="华文隶书"/>
                <a:cs typeface="华文隶书"/>
              </a:rPr>
              <a:t> 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or</a:t>
            </a:r>
            <a:r>
              <a:rPr sz="4400" i="1" spc="-20" dirty="0">
                <a:solidFill>
                  <a:srgbClr val="775F54"/>
                </a:solidFill>
                <a:latin typeface="华文隶书"/>
                <a:cs typeface="华文隶书"/>
              </a:rPr>
              <a:t> 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Buy</a:t>
            </a:r>
            <a:r>
              <a:rPr sz="4400" i="1" spc="-30" dirty="0">
                <a:solidFill>
                  <a:srgbClr val="775F54"/>
                </a:solidFill>
                <a:latin typeface="华文隶书"/>
                <a:cs typeface="华文隶书"/>
              </a:rPr>
              <a:t> </a:t>
            </a:r>
            <a:r>
              <a:rPr sz="4400" spc="5" dirty="0">
                <a:solidFill>
                  <a:srgbClr val="775F54"/>
                </a:solidFill>
                <a:latin typeface="华文隶书"/>
                <a:cs typeface="华文隶书"/>
              </a:rPr>
              <a:t>决策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05121" y="615309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7868" y="1915667"/>
            <a:ext cx="8353044" cy="37459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228600"/>
                </a:moveTo>
                <a:lnTo>
                  <a:pt x="8552688" y="228600"/>
                </a:lnTo>
                <a:lnTo>
                  <a:pt x="855268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9791" y="283209"/>
            <a:ext cx="50228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华文隶书"/>
                <a:cs typeface="华文隶书"/>
              </a:rPr>
              <a:t>Make</a:t>
            </a:r>
            <a:r>
              <a:rPr i="1" spc="-25" dirty="0">
                <a:latin typeface="华文隶书"/>
                <a:cs typeface="华文隶书"/>
              </a:rPr>
              <a:t> </a:t>
            </a:r>
            <a:r>
              <a:rPr i="1" dirty="0">
                <a:latin typeface="华文隶书"/>
                <a:cs typeface="华文隶书"/>
              </a:rPr>
              <a:t>or</a:t>
            </a:r>
            <a:r>
              <a:rPr i="1" spc="-20" dirty="0">
                <a:latin typeface="华文隶书"/>
                <a:cs typeface="华文隶书"/>
              </a:rPr>
              <a:t> </a:t>
            </a:r>
            <a:r>
              <a:rPr i="1" dirty="0">
                <a:latin typeface="华文隶书"/>
                <a:cs typeface="华文隶书"/>
              </a:rPr>
              <a:t>Buy</a:t>
            </a:r>
            <a:r>
              <a:rPr i="1" spc="-20" dirty="0">
                <a:latin typeface="华文隶书"/>
                <a:cs typeface="华文隶书"/>
              </a:rPr>
              <a:t> </a:t>
            </a:r>
            <a:r>
              <a:rPr dirty="0"/>
              <a:t>决策实例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51197" y="636889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6029" y="1268729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solidFill>
                  <a:srgbClr val="FFFFFF"/>
                </a:solidFill>
                <a:latin typeface="Arial Narrow"/>
                <a:cs typeface="Arial Narrow"/>
              </a:rPr>
              <a:t>11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0258" y="2285238"/>
            <a:ext cx="7993380" cy="14828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0258" y="2285238"/>
            <a:ext cx="7816850" cy="177165"/>
          </a:xfrm>
          <a:custGeom>
            <a:avLst/>
            <a:gdLst/>
            <a:ahLst/>
            <a:cxnLst/>
            <a:rect l="l" t="t" r="r" b="b"/>
            <a:pathLst>
              <a:path w="7816850" h="177164">
                <a:moveTo>
                  <a:pt x="0" y="176784"/>
                </a:moveTo>
                <a:lnTo>
                  <a:pt x="6314" y="129778"/>
                </a:lnTo>
                <a:lnTo>
                  <a:pt x="24135" y="87545"/>
                </a:lnTo>
                <a:lnTo>
                  <a:pt x="51776" y="51768"/>
                </a:lnTo>
                <a:lnTo>
                  <a:pt x="87552" y="24129"/>
                </a:lnTo>
                <a:lnTo>
                  <a:pt x="129779" y="6312"/>
                </a:lnTo>
                <a:lnTo>
                  <a:pt x="176771" y="0"/>
                </a:lnTo>
                <a:lnTo>
                  <a:pt x="7816596" y="0"/>
                </a:lnTo>
              </a:path>
            </a:pathLst>
          </a:custGeom>
          <a:ln w="25907">
            <a:solidFill>
              <a:srgbClr val="FD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0258" y="2462022"/>
            <a:ext cx="177165" cy="1306195"/>
          </a:xfrm>
          <a:custGeom>
            <a:avLst/>
            <a:gdLst/>
            <a:ahLst/>
            <a:cxnLst/>
            <a:rect l="l" t="t" r="r" b="b"/>
            <a:pathLst>
              <a:path w="177165" h="1306195">
                <a:moveTo>
                  <a:pt x="176771" y="1306067"/>
                </a:moveTo>
                <a:lnTo>
                  <a:pt x="129779" y="1299755"/>
                </a:lnTo>
                <a:lnTo>
                  <a:pt x="87552" y="1281937"/>
                </a:lnTo>
                <a:lnTo>
                  <a:pt x="51776" y="1254299"/>
                </a:lnTo>
                <a:lnTo>
                  <a:pt x="24135" y="1218522"/>
                </a:lnTo>
                <a:lnTo>
                  <a:pt x="6314" y="1176289"/>
                </a:lnTo>
                <a:lnTo>
                  <a:pt x="0" y="1129283"/>
                </a:lnTo>
                <a:lnTo>
                  <a:pt x="0" y="0"/>
                </a:lnTo>
              </a:path>
            </a:pathLst>
          </a:custGeom>
          <a:ln w="25908">
            <a:solidFill>
              <a:srgbClr val="FD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356854" y="2285238"/>
            <a:ext cx="177165" cy="1483360"/>
          </a:xfrm>
          <a:custGeom>
            <a:avLst/>
            <a:gdLst/>
            <a:ahLst/>
            <a:cxnLst/>
            <a:rect l="l" t="t" r="r" b="b"/>
            <a:pathLst>
              <a:path w="177165" h="1483360">
                <a:moveTo>
                  <a:pt x="0" y="0"/>
                </a:moveTo>
                <a:lnTo>
                  <a:pt x="47005" y="6312"/>
                </a:lnTo>
                <a:lnTo>
                  <a:pt x="89238" y="24129"/>
                </a:lnTo>
                <a:lnTo>
                  <a:pt x="125015" y="51768"/>
                </a:lnTo>
                <a:lnTo>
                  <a:pt x="152654" y="87545"/>
                </a:lnTo>
                <a:lnTo>
                  <a:pt x="170471" y="129778"/>
                </a:lnTo>
                <a:lnTo>
                  <a:pt x="176784" y="176784"/>
                </a:lnTo>
                <a:lnTo>
                  <a:pt x="176784" y="1306067"/>
                </a:lnTo>
                <a:lnTo>
                  <a:pt x="170471" y="1353073"/>
                </a:lnTo>
                <a:lnTo>
                  <a:pt x="152654" y="1395306"/>
                </a:lnTo>
                <a:lnTo>
                  <a:pt x="125015" y="1431083"/>
                </a:lnTo>
                <a:lnTo>
                  <a:pt x="89238" y="1458721"/>
                </a:lnTo>
                <a:lnTo>
                  <a:pt x="47005" y="1476539"/>
                </a:lnTo>
                <a:lnTo>
                  <a:pt x="0" y="1482852"/>
                </a:lnTo>
              </a:path>
            </a:pathLst>
          </a:custGeom>
          <a:ln w="25908">
            <a:solidFill>
              <a:srgbClr val="FD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40258" y="2285238"/>
            <a:ext cx="7993380" cy="14828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0258" y="2285238"/>
            <a:ext cx="7993380" cy="1483360"/>
          </a:xfrm>
          <a:custGeom>
            <a:avLst/>
            <a:gdLst/>
            <a:ahLst/>
            <a:cxnLst/>
            <a:rect l="l" t="t" r="r" b="b"/>
            <a:pathLst>
              <a:path w="7993380" h="1483360">
                <a:moveTo>
                  <a:pt x="0" y="176784"/>
                </a:moveTo>
                <a:lnTo>
                  <a:pt x="6314" y="129778"/>
                </a:lnTo>
                <a:lnTo>
                  <a:pt x="24135" y="87545"/>
                </a:lnTo>
                <a:lnTo>
                  <a:pt x="51776" y="51768"/>
                </a:lnTo>
                <a:lnTo>
                  <a:pt x="87552" y="24129"/>
                </a:lnTo>
                <a:lnTo>
                  <a:pt x="129779" y="6312"/>
                </a:lnTo>
                <a:lnTo>
                  <a:pt x="176771" y="0"/>
                </a:lnTo>
                <a:lnTo>
                  <a:pt x="7816596" y="0"/>
                </a:lnTo>
                <a:lnTo>
                  <a:pt x="7863601" y="6312"/>
                </a:lnTo>
                <a:lnTo>
                  <a:pt x="7905834" y="24129"/>
                </a:lnTo>
                <a:lnTo>
                  <a:pt x="7941611" y="51768"/>
                </a:lnTo>
                <a:lnTo>
                  <a:pt x="7969250" y="87545"/>
                </a:lnTo>
                <a:lnTo>
                  <a:pt x="7987067" y="129778"/>
                </a:lnTo>
                <a:lnTo>
                  <a:pt x="7993380" y="176784"/>
                </a:lnTo>
                <a:lnTo>
                  <a:pt x="7993380" y="1306067"/>
                </a:lnTo>
                <a:lnTo>
                  <a:pt x="7987067" y="1353073"/>
                </a:lnTo>
                <a:lnTo>
                  <a:pt x="7969250" y="1395306"/>
                </a:lnTo>
                <a:lnTo>
                  <a:pt x="7941611" y="1431083"/>
                </a:lnTo>
                <a:lnTo>
                  <a:pt x="7905834" y="1458722"/>
                </a:lnTo>
                <a:lnTo>
                  <a:pt x="7863601" y="1476539"/>
                </a:lnTo>
                <a:lnTo>
                  <a:pt x="7816596" y="1482852"/>
                </a:lnTo>
                <a:lnTo>
                  <a:pt x="176771" y="1482852"/>
                </a:lnTo>
                <a:lnTo>
                  <a:pt x="129779" y="1476539"/>
                </a:lnTo>
                <a:lnTo>
                  <a:pt x="87552" y="1458721"/>
                </a:lnTo>
                <a:lnTo>
                  <a:pt x="51776" y="1431083"/>
                </a:lnTo>
                <a:lnTo>
                  <a:pt x="24135" y="1395306"/>
                </a:lnTo>
                <a:lnTo>
                  <a:pt x="6314" y="1353073"/>
                </a:lnTo>
                <a:lnTo>
                  <a:pt x="0" y="1306067"/>
                </a:lnTo>
                <a:lnTo>
                  <a:pt x="0" y="176784"/>
                </a:lnTo>
                <a:close/>
              </a:path>
            </a:pathLst>
          </a:custGeom>
          <a:ln w="25907">
            <a:solidFill>
              <a:srgbClr val="FD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0258" y="4676394"/>
            <a:ext cx="8136636" cy="14630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40258" y="4676394"/>
            <a:ext cx="7962265" cy="174625"/>
          </a:xfrm>
          <a:custGeom>
            <a:avLst/>
            <a:gdLst/>
            <a:ahLst/>
            <a:cxnLst/>
            <a:rect l="l" t="t" r="r" b="b"/>
            <a:pathLst>
              <a:path w="7962265" h="174625">
                <a:moveTo>
                  <a:pt x="0" y="174370"/>
                </a:moveTo>
                <a:lnTo>
                  <a:pt x="6229" y="128028"/>
                </a:lnTo>
                <a:lnTo>
                  <a:pt x="23810" y="86378"/>
                </a:lnTo>
                <a:lnTo>
                  <a:pt x="51080" y="51085"/>
                </a:lnTo>
                <a:lnTo>
                  <a:pt x="86378" y="23814"/>
                </a:lnTo>
                <a:lnTo>
                  <a:pt x="128042" y="6231"/>
                </a:lnTo>
                <a:lnTo>
                  <a:pt x="174409" y="0"/>
                </a:lnTo>
                <a:lnTo>
                  <a:pt x="7962265" y="0"/>
                </a:lnTo>
              </a:path>
            </a:pathLst>
          </a:custGeom>
          <a:ln w="25908">
            <a:solidFill>
              <a:srgbClr val="FD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40258" y="4850765"/>
            <a:ext cx="7962265" cy="1289050"/>
          </a:xfrm>
          <a:custGeom>
            <a:avLst/>
            <a:gdLst/>
            <a:ahLst/>
            <a:cxnLst/>
            <a:rect l="l" t="t" r="r" b="b"/>
            <a:pathLst>
              <a:path w="7962265" h="1289050">
                <a:moveTo>
                  <a:pt x="7962264" y="1288669"/>
                </a:moveTo>
                <a:lnTo>
                  <a:pt x="174409" y="1288669"/>
                </a:lnTo>
                <a:lnTo>
                  <a:pt x="128042" y="1282439"/>
                </a:lnTo>
                <a:lnTo>
                  <a:pt x="86378" y="1264858"/>
                </a:lnTo>
                <a:lnTo>
                  <a:pt x="51080" y="1237588"/>
                </a:lnTo>
                <a:lnTo>
                  <a:pt x="23810" y="1202290"/>
                </a:lnTo>
                <a:lnTo>
                  <a:pt x="6229" y="1160626"/>
                </a:lnTo>
                <a:lnTo>
                  <a:pt x="0" y="1114259"/>
                </a:lnTo>
                <a:lnTo>
                  <a:pt x="0" y="0"/>
                </a:lnTo>
              </a:path>
            </a:pathLst>
          </a:custGeom>
          <a:ln w="25908">
            <a:solidFill>
              <a:srgbClr val="FD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502522" y="4676394"/>
            <a:ext cx="174625" cy="1463040"/>
          </a:xfrm>
          <a:custGeom>
            <a:avLst/>
            <a:gdLst/>
            <a:ahLst/>
            <a:cxnLst/>
            <a:rect l="l" t="t" r="r" b="b"/>
            <a:pathLst>
              <a:path w="174625" h="1463039">
                <a:moveTo>
                  <a:pt x="0" y="0"/>
                </a:moveTo>
                <a:lnTo>
                  <a:pt x="46342" y="6231"/>
                </a:lnTo>
                <a:lnTo>
                  <a:pt x="87992" y="23814"/>
                </a:lnTo>
                <a:lnTo>
                  <a:pt x="123285" y="51085"/>
                </a:lnTo>
                <a:lnTo>
                  <a:pt x="150556" y="86378"/>
                </a:lnTo>
                <a:lnTo>
                  <a:pt x="168139" y="128028"/>
                </a:lnTo>
                <a:lnTo>
                  <a:pt x="174371" y="174370"/>
                </a:lnTo>
                <a:lnTo>
                  <a:pt x="174371" y="1288630"/>
                </a:lnTo>
                <a:lnTo>
                  <a:pt x="168139" y="1334997"/>
                </a:lnTo>
                <a:lnTo>
                  <a:pt x="150556" y="1376661"/>
                </a:lnTo>
                <a:lnTo>
                  <a:pt x="123285" y="1411959"/>
                </a:lnTo>
                <a:lnTo>
                  <a:pt x="87992" y="1439229"/>
                </a:lnTo>
                <a:lnTo>
                  <a:pt x="46342" y="1456810"/>
                </a:lnTo>
                <a:lnTo>
                  <a:pt x="0" y="1463039"/>
                </a:lnTo>
              </a:path>
            </a:pathLst>
          </a:custGeom>
          <a:ln w="25908">
            <a:solidFill>
              <a:srgbClr val="FD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40258" y="4676394"/>
            <a:ext cx="8136636" cy="14630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40258" y="4676394"/>
            <a:ext cx="8136890" cy="1463040"/>
          </a:xfrm>
          <a:custGeom>
            <a:avLst/>
            <a:gdLst/>
            <a:ahLst/>
            <a:cxnLst/>
            <a:rect l="l" t="t" r="r" b="b"/>
            <a:pathLst>
              <a:path w="8136890" h="1463039">
                <a:moveTo>
                  <a:pt x="0" y="174370"/>
                </a:moveTo>
                <a:lnTo>
                  <a:pt x="6229" y="128028"/>
                </a:lnTo>
                <a:lnTo>
                  <a:pt x="23810" y="86378"/>
                </a:lnTo>
                <a:lnTo>
                  <a:pt x="51080" y="51085"/>
                </a:lnTo>
                <a:lnTo>
                  <a:pt x="86378" y="23814"/>
                </a:lnTo>
                <a:lnTo>
                  <a:pt x="128042" y="6231"/>
                </a:lnTo>
                <a:lnTo>
                  <a:pt x="174409" y="0"/>
                </a:lnTo>
                <a:lnTo>
                  <a:pt x="7962265" y="0"/>
                </a:lnTo>
                <a:lnTo>
                  <a:pt x="8008607" y="6231"/>
                </a:lnTo>
                <a:lnTo>
                  <a:pt x="8050257" y="23814"/>
                </a:lnTo>
                <a:lnTo>
                  <a:pt x="8085550" y="51085"/>
                </a:lnTo>
                <a:lnTo>
                  <a:pt x="8112821" y="86378"/>
                </a:lnTo>
                <a:lnTo>
                  <a:pt x="8130404" y="128028"/>
                </a:lnTo>
                <a:lnTo>
                  <a:pt x="8136636" y="174370"/>
                </a:lnTo>
                <a:lnTo>
                  <a:pt x="8136636" y="1288630"/>
                </a:lnTo>
                <a:lnTo>
                  <a:pt x="8130404" y="1334997"/>
                </a:lnTo>
                <a:lnTo>
                  <a:pt x="8112821" y="1376661"/>
                </a:lnTo>
                <a:lnTo>
                  <a:pt x="8085550" y="1411959"/>
                </a:lnTo>
                <a:lnTo>
                  <a:pt x="8050257" y="1439229"/>
                </a:lnTo>
                <a:lnTo>
                  <a:pt x="8008607" y="1456810"/>
                </a:lnTo>
                <a:lnTo>
                  <a:pt x="7962265" y="1463039"/>
                </a:lnTo>
                <a:lnTo>
                  <a:pt x="174409" y="1463039"/>
                </a:lnTo>
                <a:lnTo>
                  <a:pt x="128042" y="1456810"/>
                </a:lnTo>
                <a:lnTo>
                  <a:pt x="86378" y="1439229"/>
                </a:lnTo>
                <a:lnTo>
                  <a:pt x="51080" y="1411959"/>
                </a:lnTo>
                <a:lnTo>
                  <a:pt x="23810" y="1376661"/>
                </a:lnTo>
                <a:lnTo>
                  <a:pt x="6229" y="1334997"/>
                </a:lnTo>
                <a:lnTo>
                  <a:pt x="0" y="1288630"/>
                </a:lnTo>
                <a:lnTo>
                  <a:pt x="0" y="174370"/>
                </a:lnTo>
                <a:close/>
              </a:path>
            </a:pathLst>
          </a:custGeom>
          <a:ln w="25908">
            <a:solidFill>
              <a:srgbClr val="FD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36091" y="4005071"/>
            <a:ext cx="7825739" cy="15089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33983" y="1612391"/>
            <a:ext cx="7810500" cy="143256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14805" y="2058161"/>
            <a:ext cx="6958965" cy="593090"/>
          </a:xfrm>
          <a:custGeom>
            <a:avLst/>
            <a:gdLst/>
            <a:ahLst/>
            <a:cxnLst/>
            <a:rect l="l" t="t" r="r" b="b"/>
            <a:pathLst>
              <a:path w="6958965" h="593089">
                <a:moveTo>
                  <a:pt x="6859778" y="0"/>
                </a:moveTo>
                <a:lnTo>
                  <a:pt x="98806" y="0"/>
                </a:lnTo>
                <a:lnTo>
                  <a:pt x="60345" y="7758"/>
                </a:lnTo>
                <a:lnTo>
                  <a:pt x="28938" y="28924"/>
                </a:lnTo>
                <a:lnTo>
                  <a:pt x="7764" y="60328"/>
                </a:lnTo>
                <a:lnTo>
                  <a:pt x="0" y="98805"/>
                </a:lnTo>
                <a:lnTo>
                  <a:pt x="0" y="494029"/>
                </a:lnTo>
                <a:lnTo>
                  <a:pt x="7764" y="532507"/>
                </a:lnTo>
                <a:lnTo>
                  <a:pt x="28938" y="563911"/>
                </a:lnTo>
                <a:lnTo>
                  <a:pt x="60345" y="585077"/>
                </a:lnTo>
                <a:lnTo>
                  <a:pt x="98806" y="592836"/>
                </a:lnTo>
                <a:lnTo>
                  <a:pt x="6859778" y="592836"/>
                </a:lnTo>
                <a:lnTo>
                  <a:pt x="6898255" y="585077"/>
                </a:lnTo>
                <a:lnTo>
                  <a:pt x="6929659" y="563911"/>
                </a:lnTo>
                <a:lnTo>
                  <a:pt x="6950825" y="532507"/>
                </a:lnTo>
                <a:lnTo>
                  <a:pt x="6958584" y="494029"/>
                </a:lnTo>
                <a:lnTo>
                  <a:pt x="6958584" y="98805"/>
                </a:lnTo>
                <a:lnTo>
                  <a:pt x="6950825" y="60328"/>
                </a:lnTo>
                <a:lnTo>
                  <a:pt x="6929659" y="28924"/>
                </a:lnTo>
                <a:lnTo>
                  <a:pt x="6898255" y="7758"/>
                </a:lnTo>
                <a:lnTo>
                  <a:pt x="6859778" y="0"/>
                </a:lnTo>
                <a:close/>
              </a:path>
            </a:pathLst>
          </a:custGeom>
          <a:solidFill>
            <a:srgbClr val="FD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14805" y="2058161"/>
            <a:ext cx="6958965" cy="593090"/>
          </a:xfrm>
          <a:custGeom>
            <a:avLst/>
            <a:gdLst/>
            <a:ahLst/>
            <a:cxnLst/>
            <a:rect l="l" t="t" r="r" b="b"/>
            <a:pathLst>
              <a:path w="6958965" h="593089">
                <a:moveTo>
                  <a:pt x="0" y="98805"/>
                </a:moveTo>
                <a:lnTo>
                  <a:pt x="7764" y="60328"/>
                </a:lnTo>
                <a:lnTo>
                  <a:pt x="28938" y="28924"/>
                </a:lnTo>
                <a:lnTo>
                  <a:pt x="60345" y="7758"/>
                </a:lnTo>
                <a:lnTo>
                  <a:pt x="98806" y="0"/>
                </a:lnTo>
                <a:lnTo>
                  <a:pt x="6859778" y="0"/>
                </a:lnTo>
                <a:lnTo>
                  <a:pt x="6898255" y="7758"/>
                </a:lnTo>
                <a:lnTo>
                  <a:pt x="6929659" y="28924"/>
                </a:lnTo>
                <a:lnTo>
                  <a:pt x="6950825" y="60328"/>
                </a:lnTo>
                <a:lnTo>
                  <a:pt x="6958584" y="98805"/>
                </a:lnTo>
                <a:lnTo>
                  <a:pt x="6958584" y="494029"/>
                </a:lnTo>
                <a:lnTo>
                  <a:pt x="6950825" y="532507"/>
                </a:lnTo>
                <a:lnTo>
                  <a:pt x="6929659" y="563911"/>
                </a:lnTo>
                <a:lnTo>
                  <a:pt x="6898255" y="585077"/>
                </a:lnTo>
                <a:lnTo>
                  <a:pt x="6859778" y="592836"/>
                </a:lnTo>
                <a:lnTo>
                  <a:pt x="98806" y="592836"/>
                </a:lnTo>
                <a:lnTo>
                  <a:pt x="60345" y="585077"/>
                </a:lnTo>
                <a:lnTo>
                  <a:pt x="28938" y="563911"/>
                </a:lnTo>
                <a:lnTo>
                  <a:pt x="7764" y="532507"/>
                </a:lnTo>
                <a:lnTo>
                  <a:pt x="0" y="494029"/>
                </a:lnTo>
                <a:lnTo>
                  <a:pt x="0" y="98805"/>
                </a:lnTo>
                <a:close/>
              </a:path>
            </a:pathLst>
          </a:custGeom>
          <a:ln w="28956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53489" y="4379214"/>
            <a:ext cx="7082155" cy="657225"/>
          </a:xfrm>
          <a:custGeom>
            <a:avLst/>
            <a:gdLst/>
            <a:ahLst/>
            <a:cxnLst/>
            <a:rect l="l" t="t" r="r" b="b"/>
            <a:pathLst>
              <a:path w="7082155" h="657225">
                <a:moveTo>
                  <a:pt x="6972554" y="0"/>
                </a:moveTo>
                <a:lnTo>
                  <a:pt x="109473" y="0"/>
                </a:lnTo>
                <a:lnTo>
                  <a:pt x="66865" y="8604"/>
                </a:lnTo>
                <a:lnTo>
                  <a:pt x="32067" y="32067"/>
                </a:lnTo>
                <a:lnTo>
                  <a:pt x="8604" y="66865"/>
                </a:lnTo>
                <a:lnTo>
                  <a:pt x="0" y="109474"/>
                </a:lnTo>
                <a:lnTo>
                  <a:pt x="0" y="547369"/>
                </a:lnTo>
                <a:lnTo>
                  <a:pt x="8604" y="589978"/>
                </a:lnTo>
                <a:lnTo>
                  <a:pt x="32067" y="624776"/>
                </a:lnTo>
                <a:lnTo>
                  <a:pt x="66865" y="648239"/>
                </a:lnTo>
                <a:lnTo>
                  <a:pt x="109473" y="656844"/>
                </a:lnTo>
                <a:lnTo>
                  <a:pt x="6972554" y="656844"/>
                </a:lnTo>
                <a:lnTo>
                  <a:pt x="7015162" y="648239"/>
                </a:lnTo>
                <a:lnTo>
                  <a:pt x="7049960" y="624776"/>
                </a:lnTo>
                <a:lnTo>
                  <a:pt x="7073423" y="589978"/>
                </a:lnTo>
                <a:lnTo>
                  <a:pt x="7082028" y="547369"/>
                </a:lnTo>
                <a:lnTo>
                  <a:pt x="7082028" y="109474"/>
                </a:lnTo>
                <a:lnTo>
                  <a:pt x="7073423" y="66865"/>
                </a:lnTo>
                <a:lnTo>
                  <a:pt x="7049960" y="32067"/>
                </a:lnTo>
                <a:lnTo>
                  <a:pt x="7015162" y="8604"/>
                </a:lnTo>
                <a:lnTo>
                  <a:pt x="6972554" y="0"/>
                </a:lnTo>
                <a:close/>
              </a:path>
            </a:pathLst>
          </a:custGeom>
          <a:solidFill>
            <a:srgbClr val="FD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53489" y="4379214"/>
            <a:ext cx="7082155" cy="657225"/>
          </a:xfrm>
          <a:custGeom>
            <a:avLst/>
            <a:gdLst/>
            <a:ahLst/>
            <a:cxnLst/>
            <a:rect l="l" t="t" r="r" b="b"/>
            <a:pathLst>
              <a:path w="7082155" h="657225">
                <a:moveTo>
                  <a:pt x="0" y="109474"/>
                </a:moveTo>
                <a:lnTo>
                  <a:pt x="8604" y="66865"/>
                </a:lnTo>
                <a:lnTo>
                  <a:pt x="32067" y="32067"/>
                </a:lnTo>
                <a:lnTo>
                  <a:pt x="66865" y="8604"/>
                </a:lnTo>
                <a:lnTo>
                  <a:pt x="109473" y="0"/>
                </a:lnTo>
                <a:lnTo>
                  <a:pt x="6972554" y="0"/>
                </a:lnTo>
                <a:lnTo>
                  <a:pt x="7015162" y="8604"/>
                </a:lnTo>
                <a:lnTo>
                  <a:pt x="7049960" y="32067"/>
                </a:lnTo>
                <a:lnTo>
                  <a:pt x="7073423" y="66865"/>
                </a:lnTo>
                <a:lnTo>
                  <a:pt x="7082028" y="109474"/>
                </a:lnTo>
                <a:lnTo>
                  <a:pt x="7082028" y="547369"/>
                </a:lnTo>
                <a:lnTo>
                  <a:pt x="7073423" y="589978"/>
                </a:lnTo>
                <a:lnTo>
                  <a:pt x="7049960" y="624776"/>
                </a:lnTo>
                <a:lnTo>
                  <a:pt x="7015162" y="648239"/>
                </a:lnTo>
                <a:lnTo>
                  <a:pt x="6972554" y="656844"/>
                </a:lnTo>
                <a:lnTo>
                  <a:pt x="109473" y="656844"/>
                </a:lnTo>
                <a:lnTo>
                  <a:pt x="66865" y="648239"/>
                </a:lnTo>
                <a:lnTo>
                  <a:pt x="32067" y="624776"/>
                </a:lnTo>
                <a:lnTo>
                  <a:pt x="8604" y="589978"/>
                </a:lnTo>
                <a:lnTo>
                  <a:pt x="0" y="547369"/>
                </a:lnTo>
                <a:lnTo>
                  <a:pt x="0" y="109474"/>
                </a:lnTo>
                <a:close/>
              </a:path>
            </a:pathLst>
          </a:custGeom>
          <a:ln w="28956">
            <a:solidFill>
              <a:srgbClr val="DD80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53592" y="2110867"/>
            <a:ext cx="7552690" cy="1587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0200"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548AB8"/>
                </a:solidFill>
                <a:latin typeface="华文琥珀"/>
                <a:cs typeface="华文琥珀"/>
              </a:rPr>
              <a:t>如果选择自己开发软件</a:t>
            </a:r>
            <a:r>
              <a:rPr sz="2000" spc="-15" dirty="0">
                <a:solidFill>
                  <a:srgbClr val="548AB8"/>
                </a:solidFill>
                <a:latin typeface="华文琥珀"/>
                <a:cs typeface="华文琥珀"/>
              </a:rPr>
              <a:t>的</a:t>
            </a:r>
            <a:r>
              <a:rPr sz="2000" dirty="0">
                <a:solidFill>
                  <a:srgbClr val="548AB8"/>
                </a:solidFill>
                <a:latin typeface="华文琥珀"/>
                <a:cs typeface="华文琥珀"/>
              </a:rPr>
              <a:t>策略</a:t>
            </a:r>
            <a:endParaRPr sz="2000">
              <a:latin typeface="华文琥珀"/>
              <a:cs typeface="华文琥珀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800" spc="-5" dirty="0">
                <a:latin typeface="华文新魏"/>
                <a:cs typeface="华文新魏"/>
              </a:rPr>
              <a:t>公司需要花费￥2</a:t>
            </a:r>
            <a:r>
              <a:rPr sz="2800" dirty="0">
                <a:latin typeface="华文新魏"/>
                <a:cs typeface="华文新魏"/>
              </a:rPr>
              <a:t>5</a:t>
            </a:r>
            <a:r>
              <a:rPr sz="2800" spc="-5" dirty="0">
                <a:latin typeface="华文新魏"/>
                <a:cs typeface="华文新魏"/>
              </a:rPr>
              <a:t>,00</a:t>
            </a:r>
            <a:r>
              <a:rPr sz="2800" spc="-10" dirty="0">
                <a:latin typeface="华文新魏"/>
                <a:cs typeface="华文新魏"/>
              </a:rPr>
              <a:t>0</a:t>
            </a:r>
            <a:r>
              <a:rPr sz="2800" spc="-5" dirty="0">
                <a:latin typeface="华文新魏"/>
                <a:cs typeface="华文新魏"/>
              </a:rPr>
              <a:t>，根据历史信</a:t>
            </a:r>
            <a:r>
              <a:rPr sz="2800" dirty="0">
                <a:latin typeface="华文新魏"/>
                <a:cs typeface="华文新魏"/>
              </a:rPr>
              <a:t>息</a:t>
            </a:r>
            <a:r>
              <a:rPr sz="2800" spc="-5" dirty="0">
                <a:latin typeface="华文新魏"/>
                <a:cs typeface="华文新魏"/>
              </a:rPr>
              <a:t>，维</a:t>
            </a:r>
            <a:r>
              <a:rPr sz="2800" dirty="0">
                <a:latin typeface="华文新魏"/>
                <a:cs typeface="华文新魏"/>
              </a:rPr>
              <a:t>护</a:t>
            </a:r>
            <a:r>
              <a:rPr sz="2800" spc="-5" dirty="0">
                <a:latin typeface="华文新魏"/>
                <a:cs typeface="华文新魏"/>
              </a:rPr>
              <a:t>这 个软件每个月需要的费用是￥2,500。</a:t>
            </a:r>
            <a:endParaRPr sz="2800">
              <a:latin typeface="华文新魏"/>
              <a:cs typeface="华文新魏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07516" y="4530293"/>
            <a:ext cx="7493000" cy="1529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6055" algn="ctr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solidFill>
                  <a:srgbClr val="DD8046"/>
                </a:solidFill>
                <a:latin typeface="华文琥珀"/>
                <a:cs typeface="华文琥珀"/>
              </a:rPr>
              <a:t>如果</a:t>
            </a:r>
            <a:r>
              <a:rPr sz="2000" b="1" dirty="0">
                <a:solidFill>
                  <a:srgbClr val="DD8046"/>
                </a:solidFill>
                <a:latin typeface="华文琥珀"/>
                <a:cs typeface="华文琥珀"/>
              </a:rPr>
              <a:t>选择</a:t>
            </a:r>
            <a:r>
              <a:rPr sz="2000" b="1" spc="-25" dirty="0">
                <a:solidFill>
                  <a:srgbClr val="DD8046"/>
                </a:solidFill>
                <a:latin typeface="华文琥珀"/>
                <a:cs typeface="华文琥珀"/>
              </a:rPr>
              <a:t>购</a:t>
            </a:r>
            <a:r>
              <a:rPr sz="2000" b="1" dirty="0">
                <a:solidFill>
                  <a:srgbClr val="DD8046"/>
                </a:solidFill>
                <a:latin typeface="华文琥珀"/>
                <a:cs typeface="华文琥珀"/>
              </a:rPr>
              <a:t>买软</a:t>
            </a:r>
            <a:r>
              <a:rPr sz="2000" b="1" spc="-25" dirty="0">
                <a:solidFill>
                  <a:srgbClr val="DD8046"/>
                </a:solidFill>
                <a:latin typeface="华文琥珀"/>
                <a:cs typeface="华文琥珀"/>
              </a:rPr>
              <a:t>件</a:t>
            </a:r>
            <a:r>
              <a:rPr sz="2000" b="1" dirty="0">
                <a:solidFill>
                  <a:srgbClr val="DD8046"/>
                </a:solidFill>
                <a:latin typeface="华文琥珀"/>
                <a:cs typeface="华文琥珀"/>
              </a:rPr>
              <a:t>公司</a:t>
            </a:r>
            <a:r>
              <a:rPr sz="2000" b="1" spc="-25" dirty="0">
                <a:solidFill>
                  <a:srgbClr val="DD8046"/>
                </a:solidFill>
                <a:latin typeface="华文琥珀"/>
                <a:cs typeface="华文琥珀"/>
              </a:rPr>
              <a:t>产</a:t>
            </a:r>
            <a:r>
              <a:rPr sz="2000" b="1" dirty="0">
                <a:solidFill>
                  <a:srgbClr val="DD8046"/>
                </a:solidFill>
                <a:latin typeface="华文琥珀"/>
                <a:cs typeface="华文琥珀"/>
              </a:rPr>
              <a:t>品的</a:t>
            </a:r>
            <a:r>
              <a:rPr sz="2000" b="1" spc="-25" dirty="0">
                <a:solidFill>
                  <a:srgbClr val="DD8046"/>
                </a:solidFill>
                <a:latin typeface="华文琥珀"/>
                <a:cs typeface="华文琥珀"/>
              </a:rPr>
              <a:t>策</a:t>
            </a:r>
            <a:r>
              <a:rPr sz="2000" b="1" dirty="0">
                <a:solidFill>
                  <a:srgbClr val="DD8046"/>
                </a:solidFill>
                <a:latin typeface="华文琥珀"/>
                <a:cs typeface="华文琥珀"/>
              </a:rPr>
              <a:t>略</a:t>
            </a:r>
            <a:endParaRPr sz="2000">
              <a:latin typeface="华文琥珀"/>
              <a:cs typeface="华文琥珀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3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800" spc="-10" dirty="0">
                <a:latin typeface="华文新魏"/>
                <a:cs typeface="华文新魏"/>
              </a:rPr>
              <a:t>需要花费</a:t>
            </a:r>
            <a:r>
              <a:rPr sz="2800" spc="-5" dirty="0">
                <a:latin typeface="华文新魏"/>
                <a:cs typeface="华文新魏"/>
              </a:rPr>
              <a:t>￥17,000购买费</a:t>
            </a:r>
            <a:r>
              <a:rPr sz="2800" spc="-15" dirty="0">
                <a:latin typeface="华文新魏"/>
                <a:cs typeface="华文新魏"/>
              </a:rPr>
              <a:t>，</a:t>
            </a:r>
            <a:r>
              <a:rPr sz="2800" spc="-5" dirty="0">
                <a:latin typeface="华文新魏"/>
                <a:cs typeface="华文新魏"/>
              </a:rPr>
              <a:t>同时软件公</a:t>
            </a:r>
            <a:r>
              <a:rPr sz="2800" dirty="0">
                <a:latin typeface="华文新魏"/>
                <a:cs typeface="华文新魏"/>
              </a:rPr>
              <a:t>司</a:t>
            </a:r>
            <a:r>
              <a:rPr sz="2800" spc="-5" dirty="0">
                <a:latin typeface="华文新魏"/>
                <a:cs typeface="华文新魏"/>
              </a:rPr>
              <a:t>为每个 安装的软件进行维护的费用是每月</a:t>
            </a:r>
            <a:r>
              <a:rPr sz="2800" dirty="0">
                <a:latin typeface="华文新魏"/>
                <a:cs typeface="华文新魏"/>
              </a:rPr>
              <a:t>￥2,700</a:t>
            </a:r>
            <a:r>
              <a:rPr sz="2800" spc="-5" dirty="0">
                <a:latin typeface="华文新魏"/>
                <a:cs typeface="华文新魏"/>
              </a:rPr>
              <a:t>。</a:t>
            </a:r>
            <a:endParaRPr sz="28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04404" y="1280160"/>
            <a:ext cx="1339850" cy="228600"/>
          </a:xfrm>
          <a:custGeom>
            <a:avLst/>
            <a:gdLst/>
            <a:ahLst/>
            <a:cxnLst/>
            <a:rect l="l" t="t" r="r" b="b"/>
            <a:pathLst>
              <a:path w="1339850" h="228600">
                <a:moveTo>
                  <a:pt x="0" y="228600"/>
                </a:moveTo>
                <a:lnTo>
                  <a:pt x="1339596" y="228600"/>
                </a:lnTo>
                <a:lnTo>
                  <a:pt x="1339596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971288" y="1280160"/>
            <a:ext cx="1323340" cy="228600"/>
          </a:xfrm>
          <a:custGeom>
            <a:avLst/>
            <a:gdLst/>
            <a:ahLst/>
            <a:cxnLst/>
            <a:rect l="l" t="t" r="r" b="b"/>
            <a:pathLst>
              <a:path w="1323339" h="228600">
                <a:moveTo>
                  <a:pt x="0" y="228600"/>
                </a:moveTo>
                <a:lnTo>
                  <a:pt x="1322832" y="228600"/>
                </a:lnTo>
                <a:lnTo>
                  <a:pt x="1322832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39695" y="1280160"/>
            <a:ext cx="1321435" cy="228600"/>
          </a:xfrm>
          <a:custGeom>
            <a:avLst/>
            <a:gdLst/>
            <a:ahLst/>
            <a:cxnLst/>
            <a:rect l="l" t="t" r="r" b="b"/>
            <a:pathLst>
              <a:path w="1321435" h="228600">
                <a:moveTo>
                  <a:pt x="0" y="228600"/>
                </a:moveTo>
                <a:lnTo>
                  <a:pt x="1321307" y="228600"/>
                </a:lnTo>
                <a:lnTo>
                  <a:pt x="1321307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1312" y="1280160"/>
            <a:ext cx="36830" cy="228600"/>
          </a:xfrm>
          <a:custGeom>
            <a:avLst/>
            <a:gdLst/>
            <a:ahLst/>
            <a:cxnLst/>
            <a:rect l="l" t="t" r="r" b="b"/>
            <a:pathLst>
              <a:path w="36829" h="228600">
                <a:moveTo>
                  <a:pt x="0" y="228600"/>
                </a:moveTo>
                <a:lnTo>
                  <a:pt x="36575" y="228600"/>
                </a:lnTo>
                <a:lnTo>
                  <a:pt x="3657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97840" y="249758"/>
            <a:ext cx="669988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1" dirty="0">
                <a:latin typeface="华文隶书"/>
                <a:cs typeface="华文隶书"/>
              </a:rPr>
              <a:t>Make</a:t>
            </a:r>
            <a:r>
              <a:rPr i="1" spc="-25" dirty="0">
                <a:latin typeface="华文隶书"/>
                <a:cs typeface="华文隶书"/>
              </a:rPr>
              <a:t> </a:t>
            </a:r>
            <a:r>
              <a:rPr i="1" dirty="0">
                <a:latin typeface="华文隶书"/>
                <a:cs typeface="华文隶书"/>
              </a:rPr>
              <a:t>or</a:t>
            </a:r>
            <a:r>
              <a:rPr i="1" spc="-20" dirty="0">
                <a:latin typeface="华文隶书"/>
                <a:cs typeface="华文隶书"/>
              </a:rPr>
              <a:t> </a:t>
            </a:r>
            <a:r>
              <a:rPr i="1" dirty="0">
                <a:latin typeface="华文隶书"/>
                <a:cs typeface="华文隶书"/>
              </a:rPr>
              <a:t>Buy</a:t>
            </a:r>
            <a:r>
              <a:rPr i="1" spc="-30" dirty="0">
                <a:latin typeface="华文隶书"/>
                <a:cs typeface="华文隶书"/>
              </a:rPr>
              <a:t> </a:t>
            </a:r>
            <a:r>
              <a:rPr dirty="0"/>
              <a:t>决策实例（续）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7887" y="1267967"/>
            <a:ext cx="1511935" cy="300355"/>
          </a:xfrm>
          <a:custGeom>
            <a:avLst/>
            <a:gdLst/>
            <a:ahLst/>
            <a:cxnLst/>
            <a:rect l="l" t="t" r="r" b="b"/>
            <a:pathLst>
              <a:path w="1511935" h="300355">
                <a:moveTo>
                  <a:pt x="0" y="300227"/>
                </a:moveTo>
                <a:lnTo>
                  <a:pt x="1511808" y="300227"/>
                </a:lnTo>
                <a:lnTo>
                  <a:pt x="1511808" y="0"/>
                </a:lnTo>
                <a:lnTo>
                  <a:pt x="0" y="0"/>
                </a:lnTo>
                <a:lnTo>
                  <a:pt x="0" y="30022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3127" y="1298828"/>
            <a:ext cx="71615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5"/>
              </a:spcBef>
              <a:tabLst>
                <a:tab pos="2909570" algn="l"/>
                <a:tab pos="5742940" algn="l"/>
              </a:tabLst>
            </a:pPr>
            <a:r>
              <a:rPr sz="1400" dirty="0">
                <a:latin typeface="宋体"/>
                <a:cs typeface="宋体"/>
              </a:rPr>
              <a:t>自制方案	购买方案	成本差异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2554" y="2366772"/>
            <a:ext cx="1517650" cy="5994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97155" marR="82550">
              <a:lnSpc>
                <a:spcPts val="1670"/>
              </a:lnSpc>
              <a:spcBef>
                <a:spcPts val="345"/>
              </a:spcBef>
            </a:pPr>
            <a:r>
              <a:rPr sz="1400" dirty="0">
                <a:latin typeface="宋体"/>
                <a:cs typeface="宋体"/>
              </a:rPr>
              <a:t>自制需</a:t>
            </a:r>
            <a:r>
              <a:rPr sz="1400" spc="-20" dirty="0">
                <a:latin typeface="宋体"/>
                <a:cs typeface="宋体"/>
              </a:rPr>
              <a:t>要</a:t>
            </a:r>
            <a:r>
              <a:rPr sz="1400" dirty="0">
                <a:latin typeface="华文新魏"/>
                <a:cs typeface="华文新魏"/>
              </a:rPr>
              <a:t>￥</a:t>
            </a:r>
            <a:r>
              <a:rPr sz="1400" spc="225" dirty="0">
                <a:latin typeface="华文新魏"/>
                <a:cs typeface="华文新魏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25</a:t>
            </a:r>
            <a:r>
              <a:rPr sz="1400" dirty="0">
                <a:latin typeface="宋体"/>
                <a:cs typeface="宋体"/>
              </a:rPr>
              <a:t>，  </a:t>
            </a:r>
            <a:r>
              <a:rPr sz="1400" spc="5" dirty="0">
                <a:latin typeface="Times New Roman"/>
                <a:cs typeface="Times New Roman"/>
              </a:rPr>
              <a:t>000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49979" y="2366772"/>
            <a:ext cx="1510665" cy="5994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2075" marR="81280">
              <a:lnSpc>
                <a:spcPct val="102099"/>
              </a:lnSpc>
              <a:spcBef>
                <a:spcPts val="245"/>
              </a:spcBef>
            </a:pPr>
            <a:r>
              <a:rPr sz="1400" dirty="0">
                <a:latin typeface="宋体"/>
                <a:cs typeface="宋体"/>
              </a:rPr>
              <a:t>购买需</a:t>
            </a:r>
            <a:r>
              <a:rPr sz="1400" spc="-10" dirty="0">
                <a:latin typeface="宋体"/>
                <a:cs typeface="宋体"/>
              </a:rPr>
              <a:t>要</a:t>
            </a:r>
            <a:r>
              <a:rPr sz="1400" dirty="0">
                <a:latin typeface="华文新魏"/>
                <a:cs typeface="华文新魏"/>
              </a:rPr>
              <a:t>￥</a:t>
            </a:r>
            <a:r>
              <a:rPr sz="1400" spc="225" dirty="0">
                <a:latin typeface="华文新魏"/>
                <a:cs typeface="华文新魏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17</a:t>
            </a:r>
            <a:r>
              <a:rPr sz="1400" dirty="0">
                <a:latin typeface="宋体"/>
                <a:cs typeface="宋体"/>
              </a:rPr>
              <a:t>，  </a:t>
            </a:r>
            <a:r>
              <a:rPr sz="1400" spc="5" dirty="0">
                <a:latin typeface="Times New Roman"/>
                <a:cs typeface="Times New Roman"/>
              </a:rPr>
              <a:t>000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90129" y="2389377"/>
            <a:ext cx="2038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宋体"/>
                <a:cs typeface="宋体"/>
              </a:rPr>
              <a:t>，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83096" y="2366772"/>
            <a:ext cx="1510665" cy="5994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80"/>
              </a:spcBef>
            </a:pPr>
            <a:r>
              <a:rPr sz="1400" spc="80" dirty="0">
                <a:latin typeface="宋体"/>
                <a:cs typeface="宋体"/>
              </a:rPr>
              <a:t>制</a:t>
            </a:r>
            <a:r>
              <a:rPr sz="1400" spc="70" dirty="0">
                <a:latin typeface="宋体"/>
                <a:cs typeface="宋体"/>
              </a:rPr>
              <a:t>造</a:t>
            </a:r>
            <a:r>
              <a:rPr sz="1400" spc="80" dirty="0">
                <a:latin typeface="宋体"/>
                <a:cs typeface="宋体"/>
              </a:rPr>
              <a:t>差</a:t>
            </a:r>
            <a:r>
              <a:rPr sz="1400" spc="70" dirty="0">
                <a:latin typeface="宋体"/>
                <a:cs typeface="宋体"/>
              </a:rPr>
              <a:t>异</a:t>
            </a:r>
            <a:r>
              <a:rPr sz="1400" spc="90" dirty="0">
                <a:latin typeface="宋体"/>
                <a:cs typeface="宋体"/>
              </a:rPr>
              <a:t>是</a:t>
            </a:r>
            <a:r>
              <a:rPr sz="1400" dirty="0">
                <a:latin typeface="华文新魏"/>
                <a:cs typeface="华文新魏"/>
              </a:rPr>
              <a:t>￥</a:t>
            </a:r>
            <a:r>
              <a:rPr sz="1400" spc="125" dirty="0">
                <a:latin typeface="华文新魏"/>
                <a:cs typeface="华文新魏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8</a:t>
            </a:r>
            <a:endParaRPr sz="14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35"/>
              </a:spcBef>
            </a:pPr>
            <a:r>
              <a:rPr sz="1400" spc="5" dirty="0">
                <a:latin typeface="Times New Roman"/>
                <a:cs typeface="Times New Roman"/>
              </a:rPr>
              <a:t>000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2554" y="3564635"/>
            <a:ext cx="1517650" cy="5994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270"/>
              </a:spcBef>
            </a:pPr>
            <a:r>
              <a:rPr sz="1600" spc="160" dirty="0">
                <a:latin typeface="宋体"/>
                <a:cs typeface="宋体"/>
              </a:rPr>
              <a:t>每月</a:t>
            </a:r>
            <a:r>
              <a:rPr sz="1600" spc="170" dirty="0">
                <a:latin typeface="宋体"/>
                <a:cs typeface="宋体"/>
              </a:rPr>
              <a:t>的</a:t>
            </a:r>
            <a:r>
              <a:rPr sz="1600" spc="160" dirty="0">
                <a:latin typeface="宋体"/>
                <a:cs typeface="宋体"/>
              </a:rPr>
              <a:t>费</a:t>
            </a:r>
            <a:r>
              <a:rPr sz="1600" spc="170" dirty="0">
                <a:latin typeface="宋体"/>
                <a:cs typeface="宋体"/>
              </a:rPr>
              <a:t>用</a:t>
            </a:r>
            <a:r>
              <a:rPr sz="1600" spc="-5" dirty="0">
                <a:latin typeface="华文新魏"/>
                <a:cs typeface="华文新魏"/>
              </a:rPr>
              <a:t>￥</a:t>
            </a:r>
            <a:endParaRPr sz="1600">
              <a:latin typeface="华文新魏"/>
              <a:cs typeface="华文新魏"/>
            </a:endParaRPr>
          </a:p>
          <a:p>
            <a:pPr marL="97155">
              <a:lnSpc>
                <a:spcPct val="100000"/>
              </a:lnSpc>
              <a:spcBef>
                <a:spcPts val="55"/>
              </a:spcBef>
            </a:pPr>
            <a:r>
              <a:rPr sz="1600" dirty="0">
                <a:latin typeface="Times New Roman"/>
                <a:cs typeface="Times New Roman"/>
              </a:rPr>
              <a:t>2</a:t>
            </a:r>
            <a:r>
              <a:rPr sz="1600" dirty="0">
                <a:latin typeface="宋体"/>
                <a:cs typeface="宋体"/>
              </a:rPr>
              <a:t>，</a:t>
            </a:r>
            <a:r>
              <a:rPr sz="1600" dirty="0">
                <a:latin typeface="Times New Roman"/>
                <a:cs typeface="Times New Roman"/>
              </a:rPr>
              <a:t>500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38955" y="3564635"/>
            <a:ext cx="1510665" cy="5994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70"/>
              </a:spcBef>
            </a:pPr>
            <a:r>
              <a:rPr sz="1600" spc="155" dirty="0">
                <a:latin typeface="宋体"/>
                <a:cs typeface="宋体"/>
              </a:rPr>
              <a:t>每月</a:t>
            </a:r>
            <a:r>
              <a:rPr sz="1600" spc="170" dirty="0">
                <a:latin typeface="宋体"/>
                <a:cs typeface="宋体"/>
              </a:rPr>
              <a:t>的</a:t>
            </a:r>
            <a:r>
              <a:rPr sz="1600" spc="155" dirty="0">
                <a:latin typeface="宋体"/>
                <a:cs typeface="宋体"/>
              </a:rPr>
              <a:t>费</a:t>
            </a:r>
            <a:r>
              <a:rPr sz="1600" spc="175" dirty="0">
                <a:latin typeface="宋体"/>
                <a:cs typeface="宋体"/>
              </a:rPr>
              <a:t>用</a:t>
            </a:r>
            <a:r>
              <a:rPr sz="1600" spc="-5" dirty="0">
                <a:latin typeface="华文新魏"/>
                <a:cs typeface="华文新魏"/>
              </a:rPr>
              <a:t>￥</a:t>
            </a:r>
            <a:endParaRPr sz="1600">
              <a:latin typeface="华文新魏"/>
              <a:cs typeface="华文新魏"/>
            </a:endParaRPr>
          </a:p>
          <a:p>
            <a:pPr marL="92075">
              <a:lnSpc>
                <a:spcPct val="100000"/>
              </a:lnSpc>
              <a:spcBef>
                <a:spcPts val="55"/>
              </a:spcBef>
            </a:pPr>
            <a:r>
              <a:rPr sz="1600" dirty="0">
                <a:latin typeface="Times New Roman"/>
                <a:cs typeface="Times New Roman"/>
              </a:rPr>
              <a:t>2</a:t>
            </a:r>
            <a:r>
              <a:rPr sz="1600" dirty="0">
                <a:latin typeface="宋体"/>
                <a:cs typeface="宋体"/>
              </a:rPr>
              <a:t>，</a:t>
            </a:r>
            <a:r>
              <a:rPr sz="1600" dirty="0">
                <a:latin typeface="Times New Roman"/>
                <a:cs typeface="Times New Roman"/>
              </a:rPr>
              <a:t>700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83096" y="3564635"/>
            <a:ext cx="1510665" cy="5994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70"/>
              </a:spcBef>
            </a:pPr>
            <a:r>
              <a:rPr sz="1600" spc="-5" dirty="0">
                <a:latin typeface="宋体"/>
                <a:cs typeface="宋体"/>
              </a:rPr>
              <a:t>服</a:t>
            </a:r>
            <a:r>
              <a:rPr sz="1600" spc="-210" dirty="0">
                <a:latin typeface="宋体"/>
                <a:cs typeface="宋体"/>
              </a:rPr>
              <a:t> </a:t>
            </a:r>
            <a:r>
              <a:rPr sz="1600" spc="-5" dirty="0">
                <a:latin typeface="宋体"/>
                <a:cs typeface="宋体"/>
              </a:rPr>
              <a:t>务</a:t>
            </a:r>
            <a:r>
              <a:rPr sz="1600" spc="-204" dirty="0">
                <a:latin typeface="宋体"/>
                <a:cs typeface="宋体"/>
              </a:rPr>
              <a:t> </a:t>
            </a:r>
            <a:r>
              <a:rPr sz="1600" spc="-5" dirty="0">
                <a:latin typeface="宋体"/>
                <a:cs typeface="宋体"/>
              </a:rPr>
              <a:t>差</a:t>
            </a:r>
            <a:r>
              <a:rPr sz="1600" spc="-204" dirty="0">
                <a:latin typeface="宋体"/>
                <a:cs typeface="宋体"/>
              </a:rPr>
              <a:t> </a:t>
            </a:r>
            <a:r>
              <a:rPr sz="1600" spc="-5" dirty="0">
                <a:latin typeface="宋体"/>
                <a:cs typeface="宋体"/>
              </a:rPr>
              <a:t>异</a:t>
            </a:r>
            <a:r>
              <a:rPr sz="1600" spc="-195" dirty="0">
                <a:latin typeface="宋体"/>
                <a:cs typeface="宋体"/>
              </a:rPr>
              <a:t> </a:t>
            </a:r>
            <a:r>
              <a:rPr sz="1600" spc="-5" dirty="0">
                <a:latin typeface="华文新魏"/>
                <a:cs typeface="华文新魏"/>
              </a:rPr>
              <a:t>￥</a:t>
            </a:r>
            <a:endParaRPr sz="1600">
              <a:latin typeface="华文新魏"/>
              <a:cs typeface="华文新魏"/>
            </a:endParaRPr>
          </a:p>
          <a:p>
            <a:pPr marL="92075">
              <a:lnSpc>
                <a:spcPct val="100000"/>
              </a:lnSpc>
              <a:spcBef>
                <a:spcPts val="40"/>
              </a:spcBef>
            </a:pPr>
            <a:r>
              <a:rPr sz="1600" dirty="0">
                <a:latin typeface="Times New Roman"/>
                <a:cs typeface="Times New Roman"/>
              </a:rPr>
              <a:t>200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51459" y="4562855"/>
            <a:ext cx="8308975" cy="0"/>
          </a:xfrm>
          <a:custGeom>
            <a:avLst/>
            <a:gdLst/>
            <a:ahLst/>
            <a:cxnLst/>
            <a:rect l="l" t="t" r="r" b="b"/>
            <a:pathLst>
              <a:path w="8308975">
                <a:moveTo>
                  <a:pt x="0" y="0"/>
                </a:moveTo>
                <a:lnTo>
                  <a:pt x="8308848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38912" y="4962144"/>
            <a:ext cx="1511935" cy="29908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sz="1600" spc="-5" dirty="0">
                <a:latin typeface="宋体"/>
                <a:cs typeface="宋体"/>
              </a:rPr>
              <a:t>解决方案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83051" y="4861559"/>
            <a:ext cx="5666740" cy="500380"/>
          </a:xfrm>
          <a:custGeom>
            <a:avLst/>
            <a:gdLst/>
            <a:ahLst/>
            <a:cxnLst/>
            <a:rect l="l" t="t" r="r" b="b"/>
            <a:pathLst>
              <a:path w="5666740" h="500379">
                <a:moveTo>
                  <a:pt x="0" y="499871"/>
                </a:moveTo>
                <a:lnTo>
                  <a:pt x="5666232" y="499871"/>
                </a:lnTo>
                <a:lnTo>
                  <a:pt x="5666232" y="0"/>
                </a:lnTo>
                <a:lnTo>
                  <a:pt x="0" y="0"/>
                </a:lnTo>
                <a:lnTo>
                  <a:pt x="0" y="499871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087623" y="4890008"/>
            <a:ext cx="47078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自制方案可以承受的月</a:t>
            </a:r>
            <a:r>
              <a:rPr sz="2000" spc="-15" dirty="0">
                <a:latin typeface="宋体"/>
                <a:cs typeface="宋体"/>
              </a:rPr>
              <a:t>份</a:t>
            </a:r>
            <a:r>
              <a:rPr sz="2000" spc="5" dirty="0">
                <a:latin typeface="宋体"/>
                <a:cs typeface="宋体"/>
              </a:rPr>
              <a:t>数</a:t>
            </a:r>
            <a:r>
              <a:rPr sz="2000" spc="-5" dirty="0">
                <a:latin typeface="Times New Roman"/>
                <a:cs typeface="Times New Roman"/>
              </a:rPr>
              <a:t>:8000/200=40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99160" y="6160008"/>
            <a:ext cx="2940050" cy="698500"/>
          </a:xfrm>
          <a:custGeom>
            <a:avLst/>
            <a:gdLst/>
            <a:ahLst/>
            <a:cxnLst/>
            <a:rect l="l" t="t" r="r" b="b"/>
            <a:pathLst>
              <a:path w="2940050" h="698500">
                <a:moveTo>
                  <a:pt x="0" y="697991"/>
                </a:moveTo>
                <a:lnTo>
                  <a:pt x="2939795" y="697991"/>
                </a:lnTo>
                <a:lnTo>
                  <a:pt x="2939795" y="0"/>
                </a:lnTo>
                <a:lnTo>
                  <a:pt x="0" y="0"/>
                </a:lnTo>
                <a:lnTo>
                  <a:pt x="0" y="697991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903732" y="6189370"/>
            <a:ext cx="29311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6995" marR="81915">
              <a:lnSpc>
                <a:spcPct val="100000"/>
              </a:lnSpc>
              <a:spcBef>
                <a:spcPts val="95"/>
              </a:spcBef>
            </a:pPr>
            <a:r>
              <a:rPr sz="1600" spc="65" dirty="0">
                <a:latin typeface="宋体"/>
                <a:cs typeface="宋体"/>
              </a:rPr>
              <a:t>如</a:t>
            </a:r>
            <a:r>
              <a:rPr sz="1600" spc="75" dirty="0">
                <a:latin typeface="宋体"/>
                <a:cs typeface="宋体"/>
              </a:rPr>
              <a:t>果</a:t>
            </a:r>
            <a:r>
              <a:rPr sz="1600" spc="65" dirty="0">
                <a:latin typeface="宋体"/>
                <a:cs typeface="宋体"/>
              </a:rPr>
              <a:t>软</a:t>
            </a:r>
            <a:r>
              <a:rPr sz="1600" spc="75" dirty="0">
                <a:latin typeface="宋体"/>
                <a:cs typeface="宋体"/>
              </a:rPr>
              <a:t>件</a:t>
            </a:r>
            <a:r>
              <a:rPr sz="1600" spc="65" dirty="0">
                <a:latin typeface="宋体"/>
                <a:cs typeface="宋体"/>
              </a:rPr>
              <a:t>的</a:t>
            </a:r>
            <a:r>
              <a:rPr sz="1600" spc="75" dirty="0">
                <a:latin typeface="宋体"/>
                <a:cs typeface="宋体"/>
              </a:rPr>
              <a:t>生存</a:t>
            </a:r>
            <a:r>
              <a:rPr sz="1600" spc="65" dirty="0">
                <a:latin typeface="宋体"/>
                <a:cs typeface="宋体"/>
              </a:rPr>
              <a:t>期</a:t>
            </a:r>
            <a:r>
              <a:rPr sz="1600" spc="80" dirty="0">
                <a:latin typeface="宋体"/>
                <a:cs typeface="宋体"/>
              </a:rPr>
              <a:t>在</a:t>
            </a:r>
            <a:r>
              <a:rPr sz="1600" dirty="0">
                <a:latin typeface="Times New Roman"/>
                <a:cs typeface="Times New Roman"/>
              </a:rPr>
              <a:t>4</a:t>
            </a:r>
            <a:r>
              <a:rPr sz="1600" spc="70" dirty="0">
                <a:latin typeface="Times New Roman"/>
                <a:cs typeface="Times New Roman"/>
              </a:rPr>
              <a:t>0</a:t>
            </a:r>
            <a:r>
              <a:rPr sz="1600" spc="75" dirty="0">
                <a:latin typeface="宋体"/>
                <a:cs typeface="宋体"/>
              </a:rPr>
              <a:t>个</a:t>
            </a:r>
            <a:r>
              <a:rPr sz="1600" spc="65" dirty="0">
                <a:latin typeface="宋体"/>
                <a:cs typeface="宋体"/>
              </a:rPr>
              <a:t>月</a:t>
            </a:r>
            <a:r>
              <a:rPr sz="1600" spc="-5" dirty="0">
                <a:latin typeface="宋体"/>
                <a:cs typeface="宋体"/>
              </a:rPr>
              <a:t>以 内</a:t>
            </a:r>
            <a:r>
              <a:rPr sz="1600" spc="-10" dirty="0">
                <a:latin typeface="Times New Roman"/>
                <a:cs typeface="Times New Roman"/>
              </a:rPr>
              <a:t>,</a:t>
            </a:r>
            <a:r>
              <a:rPr sz="1600" spc="-5" dirty="0">
                <a:latin typeface="宋体"/>
                <a:cs typeface="宋体"/>
              </a:rPr>
              <a:t>可以选择购买方案</a:t>
            </a:r>
            <a:r>
              <a:rPr sz="1600" spc="-5" dirty="0">
                <a:latin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538215" y="6160008"/>
            <a:ext cx="3022600" cy="698500"/>
          </a:xfrm>
          <a:custGeom>
            <a:avLst/>
            <a:gdLst/>
            <a:ahLst/>
            <a:cxnLst/>
            <a:rect l="l" t="t" r="r" b="b"/>
            <a:pathLst>
              <a:path w="3022600" h="698500">
                <a:moveTo>
                  <a:pt x="0" y="697991"/>
                </a:moveTo>
                <a:lnTo>
                  <a:pt x="3022091" y="697991"/>
                </a:lnTo>
                <a:lnTo>
                  <a:pt x="3022091" y="0"/>
                </a:lnTo>
                <a:lnTo>
                  <a:pt x="0" y="0"/>
                </a:lnTo>
                <a:lnTo>
                  <a:pt x="0" y="697991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542788" y="6189370"/>
            <a:ext cx="30308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30" marR="94615">
              <a:lnSpc>
                <a:spcPct val="100000"/>
              </a:lnSpc>
              <a:spcBef>
                <a:spcPts val="100"/>
              </a:spcBef>
            </a:pPr>
            <a:r>
              <a:rPr sz="1400" spc="55" dirty="0">
                <a:latin typeface="宋体"/>
                <a:cs typeface="宋体"/>
              </a:rPr>
              <a:t>如</a:t>
            </a:r>
            <a:r>
              <a:rPr sz="1400" spc="70" dirty="0">
                <a:latin typeface="宋体"/>
                <a:cs typeface="宋体"/>
              </a:rPr>
              <a:t>果</a:t>
            </a:r>
            <a:r>
              <a:rPr sz="1400" spc="55" dirty="0">
                <a:latin typeface="宋体"/>
                <a:cs typeface="宋体"/>
              </a:rPr>
              <a:t>软件的</a:t>
            </a:r>
            <a:r>
              <a:rPr sz="1400" spc="70" dirty="0">
                <a:latin typeface="宋体"/>
                <a:cs typeface="宋体"/>
              </a:rPr>
              <a:t>生</a:t>
            </a:r>
            <a:r>
              <a:rPr sz="1400" spc="55" dirty="0">
                <a:latin typeface="宋体"/>
                <a:cs typeface="宋体"/>
              </a:rPr>
              <a:t>存期不</a:t>
            </a:r>
            <a:r>
              <a:rPr sz="1400" spc="80" dirty="0">
                <a:latin typeface="宋体"/>
                <a:cs typeface="宋体"/>
              </a:rPr>
              <a:t>在</a:t>
            </a:r>
            <a:r>
              <a:rPr sz="1400" spc="25" dirty="0">
                <a:latin typeface="Times New Roman"/>
                <a:cs typeface="Times New Roman"/>
              </a:rPr>
              <a:t>40</a:t>
            </a:r>
            <a:r>
              <a:rPr sz="1400" spc="60" dirty="0">
                <a:latin typeface="宋体"/>
                <a:cs typeface="宋体"/>
              </a:rPr>
              <a:t>个月以</a:t>
            </a:r>
            <a:r>
              <a:rPr sz="1400" spc="70" dirty="0">
                <a:latin typeface="宋体"/>
                <a:cs typeface="宋体"/>
              </a:rPr>
              <a:t>内</a:t>
            </a:r>
            <a:r>
              <a:rPr sz="1400" dirty="0">
                <a:latin typeface="Times New Roman"/>
                <a:cs typeface="Times New Roman"/>
              </a:rPr>
              <a:t>,  </a:t>
            </a:r>
            <a:r>
              <a:rPr sz="1400" dirty="0">
                <a:latin typeface="宋体"/>
                <a:cs typeface="宋体"/>
              </a:rPr>
              <a:t>可以选择自制方案</a:t>
            </a:r>
            <a:r>
              <a:rPr sz="1400" dirty="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383791" y="1568196"/>
            <a:ext cx="0" cy="798830"/>
          </a:xfrm>
          <a:custGeom>
            <a:avLst/>
            <a:gdLst/>
            <a:ahLst/>
            <a:cxnLst/>
            <a:rect l="l" t="t" r="r" b="b"/>
            <a:pathLst>
              <a:path h="798830">
                <a:moveTo>
                  <a:pt x="0" y="0"/>
                </a:moveTo>
                <a:lnTo>
                  <a:pt x="0" y="79857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16908" y="1568196"/>
            <a:ext cx="0" cy="798830"/>
          </a:xfrm>
          <a:custGeom>
            <a:avLst/>
            <a:gdLst/>
            <a:ahLst/>
            <a:cxnLst/>
            <a:rect l="l" t="t" r="r" b="b"/>
            <a:pathLst>
              <a:path h="798830">
                <a:moveTo>
                  <a:pt x="0" y="0"/>
                </a:moveTo>
                <a:lnTo>
                  <a:pt x="0" y="79857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048500" y="1568196"/>
            <a:ext cx="0" cy="798830"/>
          </a:xfrm>
          <a:custGeom>
            <a:avLst/>
            <a:gdLst/>
            <a:ahLst/>
            <a:cxnLst/>
            <a:rect l="l" t="t" r="r" b="b"/>
            <a:pathLst>
              <a:path h="798830">
                <a:moveTo>
                  <a:pt x="0" y="0"/>
                </a:moveTo>
                <a:lnTo>
                  <a:pt x="0" y="79857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139695" y="2665476"/>
            <a:ext cx="1510665" cy="0"/>
          </a:xfrm>
          <a:custGeom>
            <a:avLst/>
            <a:gdLst/>
            <a:ahLst/>
            <a:cxnLst/>
            <a:rect l="l" t="t" r="r" b="b"/>
            <a:pathLst>
              <a:path w="1510664">
                <a:moveTo>
                  <a:pt x="0" y="0"/>
                </a:moveTo>
                <a:lnTo>
                  <a:pt x="1510283" y="0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160264" y="2665476"/>
            <a:ext cx="1323340" cy="0"/>
          </a:xfrm>
          <a:custGeom>
            <a:avLst/>
            <a:gdLst/>
            <a:ahLst/>
            <a:cxnLst/>
            <a:rect l="l" t="t" r="r" b="b"/>
            <a:pathLst>
              <a:path w="1323339">
                <a:moveTo>
                  <a:pt x="0" y="0"/>
                </a:moveTo>
                <a:lnTo>
                  <a:pt x="1322832" y="0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383791" y="2965704"/>
            <a:ext cx="0" cy="599440"/>
          </a:xfrm>
          <a:custGeom>
            <a:avLst/>
            <a:gdLst/>
            <a:ahLst/>
            <a:cxnLst/>
            <a:rect l="l" t="t" r="r" b="b"/>
            <a:pathLst>
              <a:path h="599439">
                <a:moveTo>
                  <a:pt x="0" y="0"/>
                </a:moveTo>
                <a:lnTo>
                  <a:pt x="0" y="598932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405884" y="2965704"/>
            <a:ext cx="0" cy="599440"/>
          </a:xfrm>
          <a:custGeom>
            <a:avLst/>
            <a:gdLst/>
            <a:ahLst/>
            <a:cxnLst/>
            <a:rect l="l" t="t" r="r" b="b"/>
            <a:pathLst>
              <a:path h="599439">
                <a:moveTo>
                  <a:pt x="0" y="0"/>
                </a:moveTo>
                <a:lnTo>
                  <a:pt x="0" y="598932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237476" y="2965704"/>
            <a:ext cx="0" cy="599440"/>
          </a:xfrm>
          <a:custGeom>
            <a:avLst/>
            <a:gdLst/>
            <a:ahLst/>
            <a:cxnLst/>
            <a:rect l="l" t="t" r="r" b="b"/>
            <a:pathLst>
              <a:path h="599439">
                <a:moveTo>
                  <a:pt x="0" y="0"/>
                </a:moveTo>
                <a:lnTo>
                  <a:pt x="0" y="598932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139695" y="3863340"/>
            <a:ext cx="1699260" cy="0"/>
          </a:xfrm>
          <a:custGeom>
            <a:avLst/>
            <a:gdLst/>
            <a:ahLst/>
            <a:cxnLst/>
            <a:rect l="l" t="t" r="r" b="b"/>
            <a:pathLst>
              <a:path w="1699260">
                <a:moveTo>
                  <a:pt x="0" y="0"/>
                </a:moveTo>
                <a:lnTo>
                  <a:pt x="1699259" y="0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349240" y="3863340"/>
            <a:ext cx="1134110" cy="0"/>
          </a:xfrm>
          <a:custGeom>
            <a:avLst/>
            <a:gdLst/>
            <a:ahLst/>
            <a:cxnLst/>
            <a:rect l="l" t="t" r="r" b="b"/>
            <a:pathLst>
              <a:path w="1134110">
                <a:moveTo>
                  <a:pt x="0" y="0"/>
                </a:moveTo>
                <a:lnTo>
                  <a:pt x="1133856" y="0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538215" y="5361432"/>
            <a:ext cx="0" cy="299085"/>
          </a:xfrm>
          <a:custGeom>
            <a:avLst/>
            <a:gdLst/>
            <a:ahLst/>
            <a:cxnLst/>
            <a:rect l="l" t="t" r="r" b="b"/>
            <a:pathLst>
              <a:path h="299085">
                <a:moveTo>
                  <a:pt x="0" y="0"/>
                </a:moveTo>
                <a:lnTo>
                  <a:pt x="0" y="29870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328672" y="5660135"/>
            <a:ext cx="4719955" cy="0"/>
          </a:xfrm>
          <a:custGeom>
            <a:avLst/>
            <a:gdLst/>
            <a:ahLst/>
            <a:cxnLst/>
            <a:rect l="l" t="t" r="r" b="b"/>
            <a:pathLst>
              <a:path w="4719955">
                <a:moveTo>
                  <a:pt x="0" y="0"/>
                </a:moveTo>
                <a:lnTo>
                  <a:pt x="4719828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328672" y="5660135"/>
            <a:ext cx="0" cy="500380"/>
          </a:xfrm>
          <a:custGeom>
            <a:avLst/>
            <a:gdLst/>
            <a:ahLst/>
            <a:cxnLst/>
            <a:rect l="l" t="t" r="r" b="b"/>
            <a:pathLst>
              <a:path h="500379">
                <a:moveTo>
                  <a:pt x="0" y="0"/>
                </a:moveTo>
                <a:lnTo>
                  <a:pt x="0" y="499871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048500" y="5660135"/>
            <a:ext cx="0" cy="500380"/>
          </a:xfrm>
          <a:custGeom>
            <a:avLst/>
            <a:gdLst/>
            <a:ahLst/>
            <a:cxnLst/>
            <a:rect l="l" t="t" r="r" b="b"/>
            <a:pathLst>
              <a:path h="500379">
                <a:moveTo>
                  <a:pt x="0" y="0"/>
                </a:moveTo>
                <a:lnTo>
                  <a:pt x="0" y="499871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294882" y="2134361"/>
            <a:ext cx="1879600" cy="1132840"/>
          </a:xfrm>
          <a:custGeom>
            <a:avLst/>
            <a:gdLst/>
            <a:ahLst/>
            <a:cxnLst/>
            <a:rect l="l" t="t" r="r" b="b"/>
            <a:pathLst>
              <a:path w="1879600" h="1132839">
                <a:moveTo>
                  <a:pt x="0" y="1132331"/>
                </a:moveTo>
                <a:lnTo>
                  <a:pt x="1879091" y="1132331"/>
                </a:lnTo>
                <a:lnTo>
                  <a:pt x="1879091" y="0"/>
                </a:lnTo>
                <a:lnTo>
                  <a:pt x="0" y="0"/>
                </a:lnTo>
                <a:lnTo>
                  <a:pt x="0" y="1132331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294882" y="3431285"/>
            <a:ext cx="1879600" cy="935990"/>
          </a:xfrm>
          <a:custGeom>
            <a:avLst/>
            <a:gdLst/>
            <a:ahLst/>
            <a:cxnLst/>
            <a:rect l="l" t="t" r="r" b="b"/>
            <a:pathLst>
              <a:path w="1879600" h="935989">
                <a:moveTo>
                  <a:pt x="0" y="935736"/>
                </a:moveTo>
                <a:lnTo>
                  <a:pt x="1879091" y="935736"/>
                </a:lnTo>
                <a:lnTo>
                  <a:pt x="1879091" y="0"/>
                </a:lnTo>
                <a:lnTo>
                  <a:pt x="0" y="0"/>
                </a:lnTo>
                <a:lnTo>
                  <a:pt x="0" y="935736"/>
                </a:lnTo>
                <a:close/>
              </a:path>
            </a:pathLst>
          </a:custGeom>
          <a:ln w="1981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927597" y="4725161"/>
            <a:ext cx="1877695" cy="637540"/>
          </a:xfrm>
          <a:custGeom>
            <a:avLst/>
            <a:gdLst/>
            <a:ahLst/>
            <a:cxnLst/>
            <a:rect l="l" t="t" r="r" b="b"/>
            <a:pathLst>
              <a:path w="1877695" h="637539">
                <a:moveTo>
                  <a:pt x="0" y="637032"/>
                </a:moveTo>
                <a:lnTo>
                  <a:pt x="1877568" y="637032"/>
                </a:lnTo>
                <a:lnTo>
                  <a:pt x="1877568" y="0"/>
                </a:lnTo>
                <a:lnTo>
                  <a:pt x="0" y="0"/>
                </a:lnTo>
                <a:lnTo>
                  <a:pt x="0" y="637032"/>
                </a:lnTo>
                <a:close/>
              </a:path>
            </a:pathLst>
          </a:custGeom>
          <a:ln w="1981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30173" y="6140958"/>
            <a:ext cx="3438525" cy="637540"/>
          </a:xfrm>
          <a:custGeom>
            <a:avLst/>
            <a:gdLst/>
            <a:ahLst/>
            <a:cxnLst/>
            <a:rect l="l" t="t" r="r" b="b"/>
            <a:pathLst>
              <a:path w="3438525" h="637540">
                <a:moveTo>
                  <a:pt x="0" y="637031"/>
                </a:moveTo>
                <a:lnTo>
                  <a:pt x="3438144" y="637031"/>
                </a:lnTo>
                <a:lnTo>
                  <a:pt x="3438144" y="0"/>
                </a:lnTo>
                <a:lnTo>
                  <a:pt x="0" y="0"/>
                </a:lnTo>
                <a:lnTo>
                  <a:pt x="0" y="637031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161026" y="6160770"/>
            <a:ext cx="3439795" cy="634365"/>
          </a:xfrm>
          <a:custGeom>
            <a:avLst/>
            <a:gdLst/>
            <a:ahLst/>
            <a:cxnLst/>
            <a:rect l="l" t="t" r="r" b="b"/>
            <a:pathLst>
              <a:path w="3439795" h="634365">
                <a:moveTo>
                  <a:pt x="0" y="633983"/>
                </a:moveTo>
                <a:lnTo>
                  <a:pt x="3439668" y="633983"/>
                </a:lnTo>
                <a:lnTo>
                  <a:pt x="3439668" y="0"/>
                </a:lnTo>
                <a:lnTo>
                  <a:pt x="0" y="0"/>
                </a:lnTo>
                <a:lnTo>
                  <a:pt x="0" y="633983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228600"/>
                </a:moveTo>
                <a:lnTo>
                  <a:pt x="8552688" y="228600"/>
                </a:lnTo>
                <a:lnTo>
                  <a:pt x="855268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6639" y="136982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本章要点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49526" y="2340426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58339" y="2058923"/>
            <a:ext cx="506095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65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3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9526" y="3299276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58339" y="3017520"/>
            <a:ext cx="483234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65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3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9526" y="4260031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58339" y="3977640"/>
            <a:ext cx="506095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49526" y="5221099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58339" y="4939284"/>
            <a:ext cx="485140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64307" y="2058923"/>
            <a:ext cx="4628515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745" rIns="0" bIns="0" rtlCol="0">
            <a:spAutoFit/>
          </a:bodyPr>
          <a:lstStyle/>
          <a:p>
            <a:pPr marR="229870" algn="ctr">
              <a:lnSpc>
                <a:spcPct val="100000"/>
              </a:lnSpc>
              <a:spcBef>
                <a:spcPts val="19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项目立项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41448" y="3017520"/>
            <a:ext cx="4630420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6379" rIns="0" bIns="0" rtlCol="0">
            <a:spAutoFit/>
          </a:bodyPr>
          <a:lstStyle/>
          <a:p>
            <a:pPr marL="26034" algn="ctr">
              <a:lnSpc>
                <a:spcPct val="100000"/>
              </a:lnSpc>
              <a:spcBef>
                <a:spcPts val="1939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项目招投标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64307" y="3977640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7015" rIns="0" bIns="0" rtlCol="0">
            <a:spAutoFit/>
          </a:bodyPr>
          <a:lstStyle/>
          <a:p>
            <a:pPr marR="160655" algn="ctr">
              <a:lnSpc>
                <a:spcPct val="100000"/>
              </a:lnSpc>
              <a:spcBef>
                <a:spcPts val="194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项目章程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42972" y="4939284"/>
            <a:ext cx="4630420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33045" rIns="0" bIns="0" rtlCol="0">
            <a:spAutoFit/>
          </a:bodyPr>
          <a:lstStyle/>
          <a:p>
            <a:pPr marR="46355" algn="ctr">
              <a:lnSpc>
                <a:spcPct val="100000"/>
              </a:lnSpc>
              <a:spcBef>
                <a:spcPts val="1835"/>
              </a:spcBef>
            </a:pPr>
            <a:r>
              <a:rPr sz="2000" b="1" spc="5" dirty="0">
                <a:solidFill>
                  <a:srgbClr val="003366"/>
                </a:solidFill>
                <a:latin typeface="微软雅黑"/>
                <a:cs typeface="微软雅黑"/>
              </a:rPr>
              <a:t>案例总结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228600"/>
                </a:moveTo>
                <a:lnTo>
                  <a:pt x="8552688" y="228600"/>
                </a:lnTo>
                <a:lnTo>
                  <a:pt x="855268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8863" y="160731"/>
            <a:ext cx="39427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项目招投标过程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40635" y="1502651"/>
            <a:ext cx="4338066" cy="7261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17776" y="2904731"/>
            <a:ext cx="4360926" cy="7246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29967" y="4282427"/>
            <a:ext cx="4360926" cy="7261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07107" y="5579364"/>
            <a:ext cx="4360926" cy="7261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416810" y="1540891"/>
            <a:ext cx="3590290" cy="5056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solidFill>
                  <a:srgbClr val="AFAC00"/>
                </a:solidFill>
                <a:latin typeface="宋体"/>
                <a:cs typeface="宋体"/>
              </a:rPr>
              <a:t>甲方招标书定义</a:t>
            </a:r>
            <a:endParaRPr sz="4000">
              <a:latin typeface="宋体"/>
              <a:cs typeface="宋体"/>
            </a:endParaRPr>
          </a:p>
          <a:p>
            <a:pPr marL="255270" marR="271145" algn="ctr">
              <a:lnSpc>
                <a:spcPct val="219400"/>
              </a:lnSpc>
              <a:spcBef>
                <a:spcPts val="500"/>
              </a:spcBef>
            </a:pPr>
            <a:r>
              <a:rPr sz="4000" b="1" spc="-10" dirty="0">
                <a:solidFill>
                  <a:srgbClr val="AFAC00"/>
                </a:solidFill>
                <a:latin typeface="宋体"/>
                <a:cs typeface="宋体"/>
              </a:rPr>
              <a:t>乙方项目分析 招标与竞标 合同签署</a:t>
            </a:r>
            <a:endParaRPr sz="4000">
              <a:latin typeface="宋体"/>
              <a:cs typeface="宋体"/>
            </a:endParaRPr>
          </a:p>
          <a:p>
            <a:pPr marL="274955" algn="ctr">
              <a:lnSpc>
                <a:spcPct val="100000"/>
              </a:lnSpc>
              <a:spcBef>
                <a:spcPts val="104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 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96690" y="2221229"/>
            <a:ext cx="311150" cy="695325"/>
          </a:xfrm>
          <a:custGeom>
            <a:avLst/>
            <a:gdLst/>
            <a:ahLst/>
            <a:cxnLst/>
            <a:rect l="l" t="t" r="r" b="b"/>
            <a:pathLst>
              <a:path w="311150" h="695325">
                <a:moveTo>
                  <a:pt x="310896" y="539496"/>
                </a:moveTo>
                <a:lnTo>
                  <a:pt x="0" y="539496"/>
                </a:lnTo>
                <a:lnTo>
                  <a:pt x="155448" y="694944"/>
                </a:lnTo>
                <a:lnTo>
                  <a:pt x="310896" y="539496"/>
                </a:lnTo>
                <a:close/>
              </a:path>
              <a:path w="311150" h="695325">
                <a:moveTo>
                  <a:pt x="233172" y="0"/>
                </a:moveTo>
                <a:lnTo>
                  <a:pt x="77724" y="0"/>
                </a:lnTo>
                <a:lnTo>
                  <a:pt x="77724" y="539496"/>
                </a:lnTo>
                <a:lnTo>
                  <a:pt x="233172" y="539496"/>
                </a:lnTo>
                <a:lnTo>
                  <a:pt x="233172" y="0"/>
                </a:lnTo>
                <a:close/>
              </a:path>
            </a:pathLst>
          </a:custGeom>
          <a:solidFill>
            <a:srgbClr val="F9F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96690" y="2221229"/>
            <a:ext cx="311150" cy="695325"/>
          </a:xfrm>
          <a:custGeom>
            <a:avLst/>
            <a:gdLst/>
            <a:ahLst/>
            <a:cxnLst/>
            <a:rect l="l" t="t" r="r" b="b"/>
            <a:pathLst>
              <a:path w="311150" h="695325">
                <a:moveTo>
                  <a:pt x="0" y="539496"/>
                </a:moveTo>
                <a:lnTo>
                  <a:pt x="77724" y="539496"/>
                </a:lnTo>
                <a:lnTo>
                  <a:pt x="77724" y="0"/>
                </a:lnTo>
                <a:lnTo>
                  <a:pt x="233172" y="0"/>
                </a:lnTo>
                <a:lnTo>
                  <a:pt x="233172" y="539496"/>
                </a:lnTo>
                <a:lnTo>
                  <a:pt x="310896" y="539496"/>
                </a:lnTo>
                <a:lnTo>
                  <a:pt x="155448" y="694944"/>
                </a:lnTo>
                <a:lnTo>
                  <a:pt x="0" y="539496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96690" y="3644646"/>
            <a:ext cx="311150" cy="692150"/>
          </a:xfrm>
          <a:custGeom>
            <a:avLst/>
            <a:gdLst/>
            <a:ahLst/>
            <a:cxnLst/>
            <a:rect l="l" t="t" r="r" b="b"/>
            <a:pathLst>
              <a:path w="311150" h="692150">
                <a:moveTo>
                  <a:pt x="310896" y="536447"/>
                </a:moveTo>
                <a:lnTo>
                  <a:pt x="0" y="536447"/>
                </a:lnTo>
                <a:lnTo>
                  <a:pt x="155448" y="691895"/>
                </a:lnTo>
                <a:lnTo>
                  <a:pt x="310896" y="536447"/>
                </a:lnTo>
                <a:close/>
              </a:path>
              <a:path w="311150" h="692150">
                <a:moveTo>
                  <a:pt x="233172" y="0"/>
                </a:moveTo>
                <a:lnTo>
                  <a:pt x="77724" y="0"/>
                </a:lnTo>
                <a:lnTo>
                  <a:pt x="77724" y="536447"/>
                </a:lnTo>
                <a:lnTo>
                  <a:pt x="233172" y="536447"/>
                </a:lnTo>
                <a:lnTo>
                  <a:pt x="233172" y="0"/>
                </a:lnTo>
                <a:close/>
              </a:path>
            </a:pathLst>
          </a:custGeom>
          <a:solidFill>
            <a:srgbClr val="F9F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996690" y="3644646"/>
            <a:ext cx="311150" cy="692150"/>
          </a:xfrm>
          <a:custGeom>
            <a:avLst/>
            <a:gdLst/>
            <a:ahLst/>
            <a:cxnLst/>
            <a:rect l="l" t="t" r="r" b="b"/>
            <a:pathLst>
              <a:path w="311150" h="692150">
                <a:moveTo>
                  <a:pt x="0" y="536447"/>
                </a:moveTo>
                <a:lnTo>
                  <a:pt x="77724" y="536447"/>
                </a:lnTo>
                <a:lnTo>
                  <a:pt x="77724" y="0"/>
                </a:lnTo>
                <a:lnTo>
                  <a:pt x="233172" y="0"/>
                </a:lnTo>
                <a:lnTo>
                  <a:pt x="233172" y="536447"/>
                </a:lnTo>
                <a:lnTo>
                  <a:pt x="310896" y="536447"/>
                </a:lnTo>
                <a:lnTo>
                  <a:pt x="155448" y="691895"/>
                </a:lnTo>
                <a:lnTo>
                  <a:pt x="0" y="536447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96690" y="5001005"/>
            <a:ext cx="311150" cy="693420"/>
          </a:xfrm>
          <a:custGeom>
            <a:avLst/>
            <a:gdLst/>
            <a:ahLst/>
            <a:cxnLst/>
            <a:rect l="l" t="t" r="r" b="b"/>
            <a:pathLst>
              <a:path w="311150" h="693420">
                <a:moveTo>
                  <a:pt x="310896" y="537972"/>
                </a:moveTo>
                <a:lnTo>
                  <a:pt x="0" y="537972"/>
                </a:lnTo>
                <a:lnTo>
                  <a:pt x="155448" y="693420"/>
                </a:lnTo>
                <a:lnTo>
                  <a:pt x="310896" y="537972"/>
                </a:lnTo>
                <a:close/>
              </a:path>
              <a:path w="311150" h="693420">
                <a:moveTo>
                  <a:pt x="233172" y="0"/>
                </a:moveTo>
                <a:lnTo>
                  <a:pt x="77724" y="0"/>
                </a:lnTo>
                <a:lnTo>
                  <a:pt x="77724" y="537972"/>
                </a:lnTo>
                <a:lnTo>
                  <a:pt x="233172" y="537972"/>
                </a:lnTo>
                <a:lnTo>
                  <a:pt x="233172" y="0"/>
                </a:lnTo>
                <a:close/>
              </a:path>
            </a:pathLst>
          </a:custGeom>
          <a:solidFill>
            <a:srgbClr val="F9F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96690" y="5001005"/>
            <a:ext cx="311150" cy="693420"/>
          </a:xfrm>
          <a:custGeom>
            <a:avLst/>
            <a:gdLst/>
            <a:ahLst/>
            <a:cxnLst/>
            <a:rect l="l" t="t" r="r" b="b"/>
            <a:pathLst>
              <a:path w="311150" h="693420">
                <a:moveTo>
                  <a:pt x="0" y="537972"/>
                </a:moveTo>
                <a:lnTo>
                  <a:pt x="77724" y="537972"/>
                </a:lnTo>
                <a:lnTo>
                  <a:pt x="77724" y="0"/>
                </a:lnTo>
                <a:lnTo>
                  <a:pt x="233172" y="0"/>
                </a:lnTo>
                <a:lnTo>
                  <a:pt x="233172" y="537972"/>
                </a:lnTo>
                <a:lnTo>
                  <a:pt x="310896" y="537972"/>
                </a:lnTo>
                <a:lnTo>
                  <a:pt x="155448" y="693420"/>
                </a:lnTo>
                <a:lnTo>
                  <a:pt x="0" y="537972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228600"/>
                </a:moveTo>
                <a:lnTo>
                  <a:pt x="8552688" y="228600"/>
                </a:lnTo>
                <a:lnTo>
                  <a:pt x="855268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4817" y="160731"/>
            <a:ext cx="45910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案例项目（</a:t>
            </a:r>
            <a:r>
              <a:rPr i="1" dirty="0">
                <a:latin typeface="华文隶书"/>
                <a:cs typeface="华文隶书"/>
              </a:rPr>
              <a:t>MED</a:t>
            </a:r>
            <a:r>
              <a:rPr dirty="0"/>
              <a:t>）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49521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24432" y="1418970"/>
            <a:ext cx="6293485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b="1" u="sng" spc="-725" dirty="0">
                <a:solidFill>
                  <a:srgbClr val="A07B36"/>
                </a:solidFill>
                <a:uFill>
                  <a:solidFill>
                    <a:srgbClr val="A07B3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900" b="1" u="sng" spc="10" dirty="0">
                <a:solidFill>
                  <a:srgbClr val="A07B36"/>
                </a:solidFill>
                <a:uFill>
                  <a:solidFill>
                    <a:srgbClr val="A07B36"/>
                  </a:solidFill>
                </a:uFill>
                <a:latin typeface="华文仿宋"/>
                <a:cs typeface="华文仿宋"/>
              </a:rPr>
              <a:t>北京</a:t>
            </a:r>
            <a:r>
              <a:rPr sz="2900" b="1" u="sng" dirty="0">
                <a:solidFill>
                  <a:srgbClr val="A07B36"/>
                </a:solidFill>
                <a:uFill>
                  <a:solidFill>
                    <a:srgbClr val="A07B36"/>
                  </a:solidFill>
                </a:uFill>
                <a:latin typeface="华文仿宋"/>
                <a:cs typeface="华文仿宋"/>
              </a:rPr>
              <a:t>某开</a:t>
            </a:r>
            <a:r>
              <a:rPr sz="2900" b="1" u="sng" spc="-15" dirty="0">
                <a:solidFill>
                  <a:srgbClr val="A07B36"/>
                </a:solidFill>
                <a:uFill>
                  <a:solidFill>
                    <a:srgbClr val="A07B36"/>
                  </a:solidFill>
                </a:uFill>
                <a:latin typeface="华文仿宋"/>
                <a:cs typeface="华文仿宋"/>
              </a:rPr>
              <a:t>发</a:t>
            </a:r>
            <a:r>
              <a:rPr sz="2900" b="1" u="sng" dirty="0">
                <a:solidFill>
                  <a:srgbClr val="A07B36"/>
                </a:solidFill>
                <a:uFill>
                  <a:solidFill>
                    <a:srgbClr val="A07B36"/>
                  </a:solidFill>
                </a:uFill>
                <a:latin typeface="华文仿宋"/>
                <a:cs typeface="华文仿宋"/>
              </a:rPr>
              <a:t>区立</a:t>
            </a:r>
            <a:r>
              <a:rPr sz="2900" b="1" u="sng" spc="-15" dirty="0">
                <a:solidFill>
                  <a:srgbClr val="A07B36"/>
                </a:solidFill>
                <a:uFill>
                  <a:solidFill>
                    <a:srgbClr val="A07B36"/>
                  </a:solidFill>
                </a:uFill>
                <a:latin typeface="华文仿宋"/>
                <a:cs typeface="华文仿宋"/>
              </a:rPr>
              <a:t>项</a:t>
            </a:r>
            <a:r>
              <a:rPr sz="2900" b="1" u="sng" dirty="0">
                <a:solidFill>
                  <a:srgbClr val="A07B36"/>
                </a:solidFill>
                <a:uFill>
                  <a:solidFill>
                    <a:srgbClr val="A07B36"/>
                  </a:solidFill>
                </a:uFill>
                <a:latin typeface="华文仿宋"/>
                <a:cs typeface="华文仿宋"/>
              </a:rPr>
              <a:t>：医</a:t>
            </a:r>
            <a:r>
              <a:rPr sz="2900" b="1" u="sng" spc="-10" dirty="0">
                <a:solidFill>
                  <a:srgbClr val="A07B36"/>
                </a:solidFill>
                <a:uFill>
                  <a:solidFill>
                    <a:srgbClr val="A07B36"/>
                  </a:solidFill>
                </a:uFill>
                <a:latin typeface="华文仿宋"/>
                <a:cs typeface="华文仿宋"/>
              </a:rPr>
              <a:t>疗</a:t>
            </a:r>
            <a:r>
              <a:rPr sz="2900" b="1" u="sng" dirty="0">
                <a:solidFill>
                  <a:srgbClr val="A07B36"/>
                </a:solidFill>
                <a:uFill>
                  <a:solidFill>
                    <a:srgbClr val="A07B36"/>
                  </a:solidFill>
                </a:uFill>
                <a:latin typeface="华文仿宋"/>
                <a:cs typeface="华文仿宋"/>
              </a:rPr>
              <a:t>信息</a:t>
            </a:r>
            <a:r>
              <a:rPr sz="2900" b="1" u="sng" spc="-15" dirty="0">
                <a:solidFill>
                  <a:srgbClr val="A07B36"/>
                </a:solidFill>
                <a:uFill>
                  <a:solidFill>
                    <a:srgbClr val="A07B36"/>
                  </a:solidFill>
                </a:uFill>
                <a:latin typeface="华文仿宋"/>
                <a:cs typeface="华文仿宋"/>
              </a:rPr>
              <a:t>商</a:t>
            </a:r>
            <a:r>
              <a:rPr sz="2900" b="1" u="sng" dirty="0">
                <a:solidFill>
                  <a:srgbClr val="A07B36"/>
                </a:solidFill>
                <a:uFill>
                  <a:solidFill>
                    <a:srgbClr val="A07B36"/>
                  </a:solidFill>
                </a:uFill>
                <a:latin typeface="华文仿宋"/>
                <a:cs typeface="华文仿宋"/>
              </a:rPr>
              <a:t>务平台</a:t>
            </a:r>
            <a:endParaRPr sz="2900">
              <a:latin typeface="华文仿宋"/>
              <a:cs typeface="华文仿宋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42416" y="1982723"/>
            <a:ext cx="7059168" cy="41102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742" y="346963"/>
            <a:ext cx="61785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立项：</a:t>
            </a:r>
            <a:r>
              <a:rPr sz="4400" dirty="0">
                <a:solidFill>
                  <a:srgbClr val="F7B615"/>
                </a:solidFill>
                <a:latin typeface="华文隶书"/>
                <a:cs typeface="华文隶书"/>
              </a:rPr>
              <a:t>医疗信息商务平台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93214" y="998727"/>
            <a:ext cx="4472940" cy="0"/>
          </a:xfrm>
          <a:custGeom>
            <a:avLst/>
            <a:gdLst/>
            <a:ahLst/>
            <a:cxnLst/>
            <a:rect l="l" t="t" r="r" b="b"/>
            <a:pathLst>
              <a:path w="4472940">
                <a:moveTo>
                  <a:pt x="0" y="0"/>
                </a:moveTo>
                <a:lnTo>
                  <a:pt x="4472940" y="0"/>
                </a:lnTo>
              </a:path>
            </a:pathLst>
          </a:custGeom>
          <a:ln w="10667">
            <a:solidFill>
              <a:srgbClr val="F7B6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79676" y="1423416"/>
            <a:ext cx="4873752" cy="48249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590" y="232663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sng" spc="-110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imes New Roman"/>
                <a:cs typeface="Times New Roman"/>
              </a:rPr>
              <a:t> </a:t>
            </a:r>
            <a:r>
              <a:rPr u="sng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</a:rPr>
              <a:t>甲方招标</a:t>
            </a:r>
            <a:r>
              <a:rPr u="sng" spc="-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</a:rPr>
              <a:t>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4715" y="1773936"/>
            <a:ext cx="8292083" cy="4393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49521" y="6380390"/>
            <a:ext cx="754380" cy="2311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515" y="322833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sng" spc="-110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imes New Roman"/>
                <a:cs typeface="Times New Roman"/>
              </a:rPr>
              <a:t> </a:t>
            </a:r>
            <a:r>
              <a:rPr u="sng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</a:rPr>
              <a:t>甲方招标</a:t>
            </a:r>
            <a:r>
              <a:rPr u="sng" spc="-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</a:rPr>
              <a:t>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1459" y="1557527"/>
            <a:ext cx="8712708" cy="44637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8506" y="1544574"/>
            <a:ext cx="8738870" cy="4490085"/>
          </a:xfrm>
          <a:custGeom>
            <a:avLst/>
            <a:gdLst/>
            <a:ahLst/>
            <a:cxnLst/>
            <a:rect l="l" t="t" r="r" b="b"/>
            <a:pathLst>
              <a:path w="8738870" h="4490085">
                <a:moveTo>
                  <a:pt x="0" y="4489704"/>
                </a:moveTo>
                <a:lnTo>
                  <a:pt x="8738616" y="4489704"/>
                </a:lnTo>
                <a:lnTo>
                  <a:pt x="8738616" y="0"/>
                </a:lnTo>
                <a:lnTo>
                  <a:pt x="0" y="0"/>
                </a:lnTo>
                <a:lnTo>
                  <a:pt x="0" y="4489704"/>
                </a:lnTo>
                <a:close/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32426" y="2565654"/>
            <a:ext cx="3241675" cy="1152525"/>
          </a:xfrm>
          <a:custGeom>
            <a:avLst/>
            <a:gdLst/>
            <a:ahLst/>
            <a:cxnLst/>
            <a:rect l="l" t="t" r="r" b="b"/>
            <a:pathLst>
              <a:path w="3241675" h="1152525">
                <a:moveTo>
                  <a:pt x="0" y="1152144"/>
                </a:moveTo>
                <a:lnTo>
                  <a:pt x="3241548" y="1152144"/>
                </a:lnTo>
                <a:lnTo>
                  <a:pt x="3241548" y="0"/>
                </a:lnTo>
                <a:lnTo>
                  <a:pt x="0" y="0"/>
                </a:lnTo>
                <a:lnTo>
                  <a:pt x="0" y="1152144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549521" y="6380390"/>
            <a:ext cx="754380" cy="2311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515" y="322833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sng" spc="-110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imes New Roman"/>
                <a:cs typeface="Times New Roman"/>
              </a:rPr>
              <a:t> </a:t>
            </a:r>
            <a:r>
              <a:rPr u="sng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</a:rPr>
              <a:t>甲方招标</a:t>
            </a:r>
            <a:r>
              <a:rPr u="sng" spc="-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</a:rPr>
              <a:t>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764" y="1563624"/>
            <a:ext cx="8947404" cy="46802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64429" y="3153917"/>
            <a:ext cx="3241675" cy="1499870"/>
          </a:xfrm>
          <a:custGeom>
            <a:avLst/>
            <a:gdLst/>
            <a:ahLst/>
            <a:cxnLst/>
            <a:rect l="l" t="t" r="r" b="b"/>
            <a:pathLst>
              <a:path w="3241675" h="1499870">
                <a:moveTo>
                  <a:pt x="0" y="1499616"/>
                </a:moveTo>
                <a:lnTo>
                  <a:pt x="3241548" y="1499616"/>
                </a:lnTo>
                <a:lnTo>
                  <a:pt x="3241548" y="0"/>
                </a:lnTo>
                <a:lnTo>
                  <a:pt x="0" y="0"/>
                </a:lnTo>
                <a:lnTo>
                  <a:pt x="0" y="1499616"/>
                </a:lnTo>
                <a:close/>
              </a:path>
            </a:pathLst>
          </a:custGeom>
          <a:ln w="1981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44390" y="5662421"/>
            <a:ext cx="3561715" cy="647700"/>
          </a:xfrm>
          <a:custGeom>
            <a:avLst/>
            <a:gdLst/>
            <a:ahLst/>
            <a:cxnLst/>
            <a:rect l="l" t="t" r="r" b="b"/>
            <a:pathLst>
              <a:path w="3561715" h="647700">
                <a:moveTo>
                  <a:pt x="0" y="647699"/>
                </a:moveTo>
                <a:lnTo>
                  <a:pt x="3561588" y="647699"/>
                </a:lnTo>
                <a:lnTo>
                  <a:pt x="3561588" y="0"/>
                </a:lnTo>
                <a:lnTo>
                  <a:pt x="0" y="0"/>
                </a:lnTo>
                <a:lnTo>
                  <a:pt x="0" y="647699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01821" y="6309066"/>
            <a:ext cx="754380" cy="2311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515" y="322833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sng" spc="-110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imes New Roman"/>
                <a:cs typeface="Times New Roman"/>
              </a:rPr>
              <a:t> </a:t>
            </a:r>
            <a:r>
              <a:rPr u="sng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</a:rPr>
              <a:t>甲方招标</a:t>
            </a:r>
            <a:r>
              <a:rPr u="sng" spc="-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</a:rPr>
              <a:t>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629155"/>
            <a:ext cx="9143999" cy="43205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0258" y="2061210"/>
            <a:ext cx="3240405" cy="1499870"/>
          </a:xfrm>
          <a:custGeom>
            <a:avLst/>
            <a:gdLst/>
            <a:ahLst/>
            <a:cxnLst/>
            <a:rect l="l" t="t" r="r" b="b"/>
            <a:pathLst>
              <a:path w="3240404" h="1499870">
                <a:moveTo>
                  <a:pt x="0" y="1499615"/>
                </a:moveTo>
                <a:lnTo>
                  <a:pt x="3240024" y="1499615"/>
                </a:lnTo>
                <a:lnTo>
                  <a:pt x="3240024" y="0"/>
                </a:lnTo>
                <a:lnTo>
                  <a:pt x="0" y="0"/>
                </a:lnTo>
                <a:lnTo>
                  <a:pt x="0" y="1499615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49521" y="6309066"/>
            <a:ext cx="754380" cy="2311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515" y="322833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sng" spc="-110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imes New Roman"/>
                <a:cs typeface="Times New Roman"/>
              </a:rPr>
              <a:t> </a:t>
            </a:r>
            <a:r>
              <a:rPr u="sng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</a:rPr>
              <a:t>甲方招标</a:t>
            </a:r>
            <a:r>
              <a:rPr u="sng" spc="-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</a:rPr>
              <a:t>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9831" y="1613916"/>
            <a:ext cx="8964167" cy="44790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49521" y="6309066"/>
            <a:ext cx="754380" cy="2311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515" y="322833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u="sng" spc="-110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sng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华文隶书"/>
                <a:cs typeface="华文隶书"/>
              </a:rPr>
              <a:t>甲方招标</a:t>
            </a:r>
            <a:r>
              <a:rPr sz="4400" u="sng" spc="-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华文隶书"/>
                <a:cs typeface="华文隶书"/>
              </a:rPr>
              <a:t>书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46346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1459" y="1700783"/>
            <a:ext cx="8641080" cy="43174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515" y="322833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u="sng" spc="-110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sng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华文隶书"/>
                <a:cs typeface="华文隶书"/>
              </a:rPr>
              <a:t>甲方招标</a:t>
            </a:r>
            <a:r>
              <a:rPr sz="4400" u="sng" spc="-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华文隶书"/>
                <a:cs typeface="华文隶书"/>
              </a:rPr>
              <a:t>书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33494" y="6225946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9831" y="1557527"/>
            <a:ext cx="8712708" cy="43601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515" y="322833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u="sng" spc="-110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sng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华文隶书"/>
                <a:cs typeface="华文隶书"/>
              </a:rPr>
              <a:t>甲方招标</a:t>
            </a:r>
            <a:r>
              <a:rPr sz="4400" u="sng" spc="-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华文隶书"/>
                <a:cs typeface="华文隶书"/>
              </a:rPr>
              <a:t>书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0192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528" y="1557527"/>
            <a:ext cx="9037320" cy="43921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515" y="322833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u="sng" spc="-110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sng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华文隶书"/>
                <a:cs typeface="华文隶书"/>
              </a:rPr>
              <a:t>甲方招标</a:t>
            </a:r>
            <a:r>
              <a:rPr sz="4400" u="sng" spc="-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华文隶书"/>
                <a:cs typeface="华文隶书"/>
              </a:rPr>
              <a:t>书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33494" y="6225946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1459" y="1557527"/>
            <a:ext cx="8676132" cy="43190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228600"/>
                </a:moveTo>
                <a:lnTo>
                  <a:pt x="8552688" y="228600"/>
                </a:lnTo>
                <a:lnTo>
                  <a:pt x="855268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3864" y="241757"/>
            <a:ext cx="33832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乙方项目分析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09921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4819" y="1629155"/>
            <a:ext cx="8281416" cy="50398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55035" y="2081783"/>
            <a:ext cx="1402080" cy="969644"/>
          </a:xfrm>
          <a:custGeom>
            <a:avLst/>
            <a:gdLst/>
            <a:ahLst/>
            <a:cxnLst/>
            <a:rect l="l" t="t" r="r" b="b"/>
            <a:pathLst>
              <a:path w="1402079" h="969644">
                <a:moveTo>
                  <a:pt x="1240536" y="0"/>
                </a:moveTo>
                <a:lnTo>
                  <a:pt x="161544" y="0"/>
                </a:lnTo>
                <a:lnTo>
                  <a:pt x="118621" y="5774"/>
                </a:lnTo>
                <a:lnTo>
                  <a:pt x="80038" y="22069"/>
                </a:lnTo>
                <a:lnTo>
                  <a:pt x="47339" y="47339"/>
                </a:lnTo>
                <a:lnTo>
                  <a:pt x="22069" y="80038"/>
                </a:lnTo>
                <a:lnTo>
                  <a:pt x="5774" y="118621"/>
                </a:lnTo>
                <a:lnTo>
                  <a:pt x="0" y="161543"/>
                </a:lnTo>
                <a:lnTo>
                  <a:pt x="0" y="807719"/>
                </a:lnTo>
                <a:lnTo>
                  <a:pt x="5774" y="850642"/>
                </a:lnTo>
                <a:lnTo>
                  <a:pt x="22069" y="889225"/>
                </a:lnTo>
                <a:lnTo>
                  <a:pt x="47339" y="921924"/>
                </a:lnTo>
                <a:lnTo>
                  <a:pt x="80038" y="947194"/>
                </a:lnTo>
                <a:lnTo>
                  <a:pt x="118621" y="963489"/>
                </a:lnTo>
                <a:lnTo>
                  <a:pt x="161544" y="969263"/>
                </a:lnTo>
                <a:lnTo>
                  <a:pt x="1240536" y="969263"/>
                </a:lnTo>
                <a:lnTo>
                  <a:pt x="1283458" y="963489"/>
                </a:lnTo>
                <a:lnTo>
                  <a:pt x="1322041" y="947194"/>
                </a:lnTo>
                <a:lnTo>
                  <a:pt x="1354740" y="921924"/>
                </a:lnTo>
                <a:lnTo>
                  <a:pt x="1380010" y="889225"/>
                </a:lnTo>
                <a:lnTo>
                  <a:pt x="1396305" y="850642"/>
                </a:lnTo>
                <a:lnTo>
                  <a:pt x="1402079" y="807719"/>
                </a:lnTo>
                <a:lnTo>
                  <a:pt x="1402079" y="161543"/>
                </a:lnTo>
                <a:lnTo>
                  <a:pt x="1396305" y="118621"/>
                </a:lnTo>
                <a:lnTo>
                  <a:pt x="1380010" y="80038"/>
                </a:lnTo>
                <a:lnTo>
                  <a:pt x="1354740" y="47339"/>
                </a:lnTo>
                <a:lnTo>
                  <a:pt x="1322041" y="22069"/>
                </a:lnTo>
                <a:lnTo>
                  <a:pt x="1283458" y="5774"/>
                </a:lnTo>
                <a:lnTo>
                  <a:pt x="1240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55035" y="2081783"/>
            <a:ext cx="1402080" cy="969644"/>
          </a:xfrm>
          <a:custGeom>
            <a:avLst/>
            <a:gdLst/>
            <a:ahLst/>
            <a:cxnLst/>
            <a:rect l="l" t="t" r="r" b="b"/>
            <a:pathLst>
              <a:path w="1402079" h="969644">
                <a:moveTo>
                  <a:pt x="0" y="161543"/>
                </a:moveTo>
                <a:lnTo>
                  <a:pt x="5774" y="118621"/>
                </a:lnTo>
                <a:lnTo>
                  <a:pt x="22069" y="80038"/>
                </a:lnTo>
                <a:lnTo>
                  <a:pt x="47339" y="47339"/>
                </a:lnTo>
                <a:lnTo>
                  <a:pt x="80038" y="22069"/>
                </a:lnTo>
                <a:lnTo>
                  <a:pt x="118621" y="5774"/>
                </a:lnTo>
                <a:lnTo>
                  <a:pt x="161544" y="0"/>
                </a:lnTo>
                <a:lnTo>
                  <a:pt x="1240536" y="0"/>
                </a:lnTo>
                <a:lnTo>
                  <a:pt x="1283458" y="5774"/>
                </a:lnTo>
                <a:lnTo>
                  <a:pt x="1322041" y="22069"/>
                </a:lnTo>
                <a:lnTo>
                  <a:pt x="1354740" y="47339"/>
                </a:lnTo>
                <a:lnTo>
                  <a:pt x="1380010" y="80038"/>
                </a:lnTo>
                <a:lnTo>
                  <a:pt x="1396305" y="118621"/>
                </a:lnTo>
                <a:lnTo>
                  <a:pt x="1402079" y="161543"/>
                </a:lnTo>
                <a:lnTo>
                  <a:pt x="1402079" y="807719"/>
                </a:lnTo>
                <a:lnTo>
                  <a:pt x="1396305" y="850642"/>
                </a:lnTo>
                <a:lnTo>
                  <a:pt x="1380010" y="889225"/>
                </a:lnTo>
                <a:lnTo>
                  <a:pt x="1354740" y="921924"/>
                </a:lnTo>
                <a:lnTo>
                  <a:pt x="1322041" y="947194"/>
                </a:lnTo>
                <a:lnTo>
                  <a:pt x="1283458" y="963489"/>
                </a:lnTo>
                <a:lnTo>
                  <a:pt x="1240536" y="969263"/>
                </a:lnTo>
                <a:lnTo>
                  <a:pt x="161544" y="969263"/>
                </a:lnTo>
                <a:lnTo>
                  <a:pt x="118621" y="963489"/>
                </a:lnTo>
                <a:lnTo>
                  <a:pt x="80038" y="947194"/>
                </a:lnTo>
                <a:lnTo>
                  <a:pt x="47339" y="921924"/>
                </a:lnTo>
                <a:lnTo>
                  <a:pt x="22069" y="889225"/>
                </a:lnTo>
                <a:lnTo>
                  <a:pt x="5774" y="850642"/>
                </a:lnTo>
                <a:lnTo>
                  <a:pt x="0" y="807719"/>
                </a:lnTo>
                <a:lnTo>
                  <a:pt x="0" y="161543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034029" y="2091639"/>
            <a:ext cx="12446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华文新魏"/>
                <a:cs typeface="华文新魏"/>
              </a:rPr>
              <a:t>需求分析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135123" y="2531364"/>
            <a:ext cx="820419" cy="76200"/>
          </a:xfrm>
          <a:custGeom>
            <a:avLst/>
            <a:gdLst/>
            <a:ahLst/>
            <a:cxnLst/>
            <a:rect l="l" t="t" r="r" b="b"/>
            <a:pathLst>
              <a:path w="820419" h="76200">
                <a:moveTo>
                  <a:pt x="743712" y="0"/>
                </a:moveTo>
                <a:lnTo>
                  <a:pt x="743712" y="76200"/>
                </a:lnTo>
                <a:lnTo>
                  <a:pt x="807212" y="44450"/>
                </a:lnTo>
                <a:lnTo>
                  <a:pt x="756412" y="44450"/>
                </a:lnTo>
                <a:lnTo>
                  <a:pt x="756412" y="31750"/>
                </a:lnTo>
                <a:lnTo>
                  <a:pt x="807212" y="31750"/>
                </a:lnTo>
                <a:lnTo>
                  <a:pt x="743712" y="0"/>
                </a:lnTo>
                <a:close/>
              </a:path>
              <a:path w="820419" h="76200">
                <a:moveTo>
                  <a:pt x="743712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743712" y="44450"/>
                </a:lnTo>
                <a:lnTo>
                  <a:pt x="743712" y="31750"/>
                </a:lnTo>
                <a:close/>
              </a:path>
              <a:path w="820419" h="76200">
                <a:moveTo>
                  <a:pt x="807212" y="31750"/>
                </a:moveTo>
                <a:lnTo>
                  <a:pt x="756412" y="31750"/>
                </a:lnTo>
                <a:lnTo>
                  <a:pt x="756412" y="44450"/>
                </a:lnTo>
                <a:lnTo>
                  <a:pt x="807212" y="44450"/>
                </a:lnTo>
                <a:lnTo>
                  <a:pt x="819912" y="38100"/>
                </a:lnTo>
                <a:lnTo>
                  <a:pt x="807212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57115" y="2531364"/>
            <a:ext cx="586740" cy="76200"/>
          </a:xfrm>
          <a:custGeom>
            <a:avLst/>
            <a:gdLst/>
            <a:ahLst/>
            <a:cxnLst/>
            <a:rect l="l" t="t" r="r" b="b"/>
            <a:pathLst>
              <a:path w="586739" h="76200">
                <a:moveTo>
                  <a:pt x="510539" y="0"/>
                </a:moveTo>
                <a:lnTo>
                  <a:pt x="510539" y="76200"/>
                </a:lnTo>
                <a:lnTo>
                  <a:pt x="574039" y="44450"/>
                </a:lnTo>
                <a:lnTo>
                  <a:pt x="523239" y="44450"/>
                </a:lnTo>
                <a:lnTo>
                  <a:pt x="523239" y="31750"/>
                </a:lnTo>
                <a:lnTo>
                  <a:pt x="574039" y="31750"/>
                </a:lnTo>
                <a:lnTo>
                  <a:pt x="510539" y="0"/>
                </a:lnTo>
                <a:close/>
              </a:path>
              <a:path w="586739" h="76200">
                <a:moveTo>
                  <a:pt x="510539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510539" y="44450"/>
                </a:lnTo>
                <a:lnTo>
                  <a:pt x="510539" y="31750"/>
                </a:lnTo>
                <a:close/>
              </a:path>
              <a:path w="586739" h="76200">
                <a:moveTo>
                  <a:pt x="574039" y="31750"/>
                </a:moveTo>
                <a:lnTo>
                  <a:pt x="523239" y="31750"/>
                </a:lnTo>
                <a:lnTo>
                  <a:pt x="523239" y="44450"/>
                </a:lnTo>
                <a:lnTo>
                  <a:pt x="574039" y="44450"/>
                </a:lnTo>
                <a:lnTo>
                  <a:pt x="586739" y="38100"/>
                </a:lnTo>
                <a:lnTo>
                  <a:pt x="574039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43855" y="2084832"/>
            <a:ext cx="1403985" cy="969644"/>
          </a:xfrm>
          <a:custGeom>
            <a:avLst/>
            <a:gdLst/>
            <a:ahLst/>
            <a:cxnLst/>
            <a:rect l="l" t="t" r="r" b="b"/>
            <a:pathLst>
              <a:path w="1403985" h="969644">
                <a:moveTo>
                  <a:pt x="1242060" y="0"/>
                </a:moveTo>
                <a:lnTo>
                  <a:pt x="161544" y="0"/>
                </a:lnTo>
                <a:lnTo>
                  <a:pt x="118621" y="5774"/>
                </a:lnTo>
                <a:lnTo>
                  <a:pt x="80038" y="22069"/>
                </a:lnTo>
                <a:lnTo>
                  <a:pt x="47339" y="47339"/>
                </a:lnTo>
                <a:lnTo>
                  <a:pt x="22069" y="80038"/>
                </a:lnTo>
                <a:lnTo>
                  <a:pt x="5774" y="118621"/>
                </a:lnTo>
                <a:lnTo>
                  <a:pt x="0" y="161543"/>
                </a:lnTo>
                <a:lnTo>
                  <a:pt x="0" y="807719"/>
                </a:lnTo>
                <a:lnTo>
                  <a:pt x="5774" y="850642"/>
                </a:lnTo>
                <a:lnTo>
                  <a:pt x="22069" y="889225"/>
                </a:lnTo>
                <a:lnTo>
                  <a:pt x="47339" y="921924"/>
                </a:lnTo>
                <a:lnTo>
                  <a:pt x="80038" y="947194"/>
                </a:lnTo>
                <a:lnTo>
                  <a:pt x="118621" y="963489"/>
                </a:lnTo>
                <a:lnTo>
                  <a:pt x="161544" y="969263"/>
                </a:lnTo>
                <a:lnTo>
                  <a:pt x="1242060" y="969263"/>
                </a:lnTo>
                <a:lnTo>
                  <a:pt x="1284982" y="963489"/>
                </a:lnTo>
                <a:lnTo>
                  <a:pt x="1323565" y="947194"/>
                </a:lnTo>
                <a:lnTo>
                  <a:pt x="1356264" y="921924"/>
                </a:lnTo>
                <a:lnTo>
                  <a:pt x="1381534" y="889225"/>
                </a:lnTo>
                <a:lnTo>
                  <a:pt x="1397829" y="850642"/>
                </a:lnTo>
                <a:lnTo>
                  <a:pt x="1403604" y="807719"/>
                </a:lnTo>
                <a:lnTo>
                  <a:pt x="1403604" y="161543"/>
                </a:lnTo>
                <a:lnTo>
                  <a:pt x="1397829" y="118621"/>
                </a:lnTo>
                <a:lnTo>
                  <a:pt x="1381534" y="80038"/>
                </a:lnTo>
                <a:lnTo>
                  <a:pt x="1356264" y="47339"/>
                </a:lnTo>
                <a:lnTo>
                  <a:pt x="1323565" y="22069"/>
                </a:lnTo>
                <a:lnTo>
                  <a:pt x="1284982" y="5774"/>
                </a:lnTo>
                <a:lnTo>
                  <a:pt x="12420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43855" y="2084832"/>
            <a:ext cx="1403985" cy="969644"/>
          </a:xfrm>
          <a:custGeom>
            <a:avLst/>
            <a:gdLst/>
            <a:ahLst/>
            <a:cxnLst/>
            <a:rect l="l" t="t" r="r" b="b"/>
            <a:pathLst>
              <a:path w="1403985" h="969644">
                <a:moveTo>
                  <a:pt x="0" y="161543"/>
                </a:moveTo>
                <a:lnTo>
                  <a:pt x="5774" y="118621"/>
                </a:lnTo>
                <a:lnTo>
                  <a:pt x="22069" y="80038"/>
                </a:lnTo>
                <a:lnTo>
                  <a:pt x="47339" y="47339"/>
                </a:lnTo>
                <a:lnTo>
                  <a:pt x="80038" y="22069"/>
                </a:lnTo>
                <a:lnTo>
                  <a:pt x="118621" y="5774"/>
                </a:lnTo>
                <a:lnTo>
                  <a:pt x="161544" y="0"/>
                </a:lnTo>
                <a:lnTo>
                  <a:pt x="1242060" y="0"/>
                </a:lnTo>
                <a:lnTo>
                  <a:pt x="1284982" y="5774"/>
                </a:lnTo>
                <a:lnTo>
                  <a:pt x="1323565" y="22069"/>
                </a:lnTo>
                <a:lnTo>
                  <a:pt x="1356264" y="47339"/>
                </a:lnTo>
                <a:lnTo>
                  <a:pt x="1381534" y="80038"/>
                </a:lnTo>
                <a:lnTo>
                  <a:pt x="1397829" y="118621"/>
                </a:lnTo>
                <a:lnTo>
                  <a:pt x="1403604" y="161543"/>
                </a:lnTo>
                <a:lnTo>
                  <a:pt x="1403604" y="807719"/>
                </a:lnTo>
                <a:lnTo>
                  <a:pt x="1397829" y="850642"/>
                </a:lnTo>
                <a:lnTo>
                  <a:pt x="1381534" y="889225"/>
                </a:lnTo>
                <a:lnTo>
                  <a:pt x="1356264" y="921924"/>
                </a:lnTo>
                <a:lnTo>
                  <a:pt x="1323565" y="947194"/>
                </a:lnTo>
                <a:lnTo>
                  <a:pt x="1284982" y="963489"/>
                </a:lnTo>
                <a:lnTo>
                  <a:pt x="1242060" y="969263"/>
                </a:lnTo>
                <a:lnTo>
                  <a:pt x="161544" y="969263"/>
                </a:lnTo>
                <a:lnTo>
                  <a:pt x="118621" y="963489"/>
                </a:lnTo>
                <a:lnTo>
                  <a:pt x="80038" y="947194"/>
                </a:lnTo>
                <a:lnTo>
                  <a:pt x="47339" y="921924"/>
                </a:lnTo>
                <a:lnTo>
                  <a:pt x="22069" y="889225"/>
                </a:lnTo>
                <a:lnTo>
                  <a:pt x="5774" y="850642"/>
                </a:lnTo>
                <a:lnTo>
                  <a:pt x="0" y="807719"/>
                </a:lnTo>
                <a:lnTo>
                  <a:pt x="0" y="161543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023484" y="2095246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华文新魏"/>
                <a:cs typeface="华文新魏"/>
              </a:rPr>
              <a:t>技术方案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932676" y="2087879"/>
            <a:ext cx="1403985" cy="969644"/>
          </a:xfrm>
          <a:custGeom>
            <a:avLst/>
            <a:gdLst/>
            <a:ahLst/>
            <a:cxnLst/>
            <a:rect l="l" t="t" r="r" b="b"/>
            <a:pathLst>
              <a:path w="1403984" h="969644">
                <a:moveTo>
                  <a:pt x="1242059" y="0"/>
                </a:moveTo>
                <a:lnTo>
                  <a:pt x="161544" y="0"/>
                </a:lnTo>
                <a:lnTo>
                  <a:pt x="118577" y="5774"/>
                </a:lnTo>
                <a:lnTo>
                  <a:pt x="79981" y="22069"/>
                </a:lnTo>
                <a:lnTo>
                  <a:pt x="47291" y="47339"/>
                </a:lnTo>
                <a:lnTo>
                  <a:pt x="22041" y="80038"/>
                </a:lnTo>
                <a:lnTo>
                  <a:pt x="5766" y="118621"/>
                </a:lnTo>
                <a:lnTo>
                  <a:pt x="0" y="161544"/>
                </a:lnTo>
                <a:lnTo>
                  <a:pt x="0" y="807720"/>
                </a:lnTo>
                <a:lnTo>
                  <a:pt x="5766" y="850642"/>
                </a:lnTo>
                <a:lnTo>
                  <a:pt x="22041" y="889225"/>
                </a:lnTo>
                <a:lnTo>
                  <a:pt x="47291" y="921924"/>
                </a:lnTo>
                <a:lnTo>
                  <a:pt x="79981" y="947194"/>
                </a:lnTo>
                <a:lnTo>
                  <a:pt x="118577" y="963489"/>
                </a:lnTo>
                <a:lnTo>
                  <a:pt x="161544" y="969264"/>
                </a:lnTo>
                <a:lnTo>
                  <a:pt x="1242059" y="969264"/>
                </a:lnTo>
                <a:lnTo>
                  <a:pt x="1284982" y="963489"/>
                </a:lnTo>
                <a:lnTo>
                  <a:pt x="1323565" y="947194"/>
                </a:lnTo>
                <a:lnTo>
                  <a:pt x="1356264" y="921924"/>
                </a:lnTo>
                <a:lnTo>
                  <a:pt x="1381534" y="889225"/>
                </a:lnTo>
                <a:lnTo>
                  <a:pt x="1397829" y="850642"/>
                </a:lnTo>
                <a:lnTo>
                  <a:pt x="1403603" y="807720"/>
                </a:lnTo>
                <a:lnTo>
                  <a:pt x="1403603" y="161544"/>
                </a:lnTo>
                <a:lnTo>
                  <a:pt x="1397829" y="118621"/>
                </a:lnTo>
                <a:lnTo>
                  <a:pt x="1381534" y="80038"/>
                </a:lnTo>
                <a:lnTo>
                  <a:pt x="1356264" y="47339"/>
                </a:lnTo>
                <a:lnTo>
                  <a:pt x="1323565" y="22069"/>
                </a:lnTo>
                <a:lnTo>
                  <a:pt x="1284982" y="5774"/>
                </a:lnTo>
                <a:lnTo>
                  <a:pt x="12420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32676" y="2087879"/>
            <a:ext cx="1403985" cy="969644"/>
          </a:xfrm>
          <a:custGeom>
            <a:avLst/>
            <a:gdLst/>
            <a:ahLst/>
            <a:cxnLst/>
            <a:rect l="l" t="t" r="r" b="b"/>
            <a:pathLst>
              <a:path w="1403984" h="969644">
                <a:moveTo>
                  <a:pt x="0" y="161544"/>
                </a:moveTo>
                <a:lnTo>
                  <a:pt x="5766" y="118621"/>
                </a:lnTo>
                <a:lnTo>
                  <a:pt x="22041" y="80038"/>
                </a:lnTo>
                <a:lnTo>
                  <a:pt x="47291" y="47339"/>
                </a:lnTo>
                <a:lnTo>
                  <a:pt x="79981" y="22069"/>
                </a:lnTo>
                <a:lnTo>
                  <a:pt x="118577" y="5774"/>
                </a:lnTo>
                <a:lnTo>
                  <a:pt x="161544" y="0"/>
                </a:lnTo>
                <a:lnTo>
                  <a:pt x="1242059" y="0"/>
                </a:lnTo>
                <a:lnTo>
                  <a:pt x="1284982" y="5774"/>
                </a:lnTo>
                <a:lnTo>
                  <a:pt x="1323565" y="22069"/>
                </a:lnTo>
                <a:lnTo>
                  <a:pt x="1356264" y="47339"/>
                </a:lnTo>
                <a:lnTo>
                  <a:pt x="1381534" y="80038"/>
                </a:lnTo>
                <a:lnTo>
                  <a:pt x="1397829" y="118621"/>
                </a:lnTo>
                <a:lnTo>
                  <a:pt x="1403603" y="161544"/>
                </a:lnTo>
                <a:lnTo>
                  <a:pt x="1403603" y="807720"/>
                </a:lnTo>
                <a:lnTo>
                  <a:pt x="1397829" y="850642"/>
                </a:lnTo>
                <a:lnTo>
                  <a:pt x="1381534" y="889225"/>
                </a:lnTo>
                <a:lnTo>
                  <a:pt x="1356264" y="921924"/>
                </a:lnTo>
                <a:lnTo>
                  <a:pt x="1323565" y="947194"/>
                </a:lnTo>
                <a:lnTo>
                  <a:pt x="1284982" y="963489"/>
                </a:lnTo>
                <a:lnTo>
                  <a:pt x="1242059" y="969264"/>
                </a:lnTo>
                <a:lnTo>
                  <a:pt x="161544" y="969264"/>
                </a:lnTo>
                <a:lnTo>
                  <a:pt x="118577" y="963489"/>
                </a:lnTo>
                <a:lnTo>
                  <a:pt x="79981" y="947194"/>
                </a:lnTo>
                <a:lnTo>
                  <a:pt x="47291" y="921924"/>
                </a:lnTo>
                <a:lnTo>
                  <a:pt x="22041" y="889225"/>
                </a:lnTo>
                <a:lnTo>
                  <a:pt x="5766" y="850642"/>
                </a:lnTo>
                <a:lnTo>
                  <a:pt x="0" y="807720"/>
                </a:lnTo>
                <a:lnTo>
                  <a:pt x="0" y="16154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012940" y="2097989"/>
            <a:ext cx="124460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华文新魏"/>
                <a:cs typeface="华文新魏"/>
              </a:rPr>
              <a:t>项目规模</a:t>
            </a:r>
            <a:endParaRPr sz="2400">
              <a:latin typeface="华文新魏"/>
              <a:cs typeface="华文新魏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华文新魏"/>
                <a:cs typeface="华文新魏"/>
              </a:rPr>
              <a:t>估算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347459" y="2531364"/>
            <a:ext cx="585470" cy="76200"/>
          </a:xfrm>
          <a:custGeom>
            <a:avLst/>
            <a:gdLst/>
            <a:ahLst/>
            <a:cxnLst/>
            <a:rect l="l" t="t" r="r" b="b"/>
            <a:pathLst>
              <a:path w="585470" h="76200">
                <a:moveTo>
                  <a:pt x="509015" y="0"/>
                </a:moveTo>
                <a:lnTo>
                  <a:pt x="509015" y="76200"/>
                </a:lnTo>
                <a:lnTo>
                  <a:pt x="572515" y="44450"/>
                </a:lnTo>
                <a:lnTo>
                  <a:pt x="521715" y="44450"/>
                </a:lnTo>
                <a:lnTo>
                  <a:pt x="521715" y="31750"/>
                </a:lnTo>
                <a:lnTo>
                  <a:pt x="572515" y="31750"/>
                </a:lnTo>
                <a:lnTo>
                  <a:pt x="509015" y="0"/>
                </a:lnTo>
                <a:close/>
              </a:path>
              <a:path w="585470" h="76200">
                <a:moveTo>
                  <a:pt x="509015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509015" y="44450"/>
                </a:lnTo>
                <a:lnTo>
                  <a:pt x="509015" y="31750"/>
                </a:lnTo>
                <a:close/>
              </a:path>
              <a:path w="585470" h="76200">
                <a:moveTo>
                  <a:pt x="572515" y="31750"/>
                </a:moveTo>
                <a:lnTo>
                  <a:pt x="521715" y="31750"/>
                </a:lnTo>
                <a:lnTo>
                  <a:pt x="521715" y="44450"/>
                </a:lnTo>
                <a:lnTo>
                  <a:pt x="572515" y="44450"/>
                </a:lnTo>
                <a:lnTo>
                  <a:pt x="585215" y="38100"/>
                </a:lnTo>
                <a:lnTo>
                  <a:pt x="572515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64691" y="3791711"/>
            <a:ext cx="1405255" cy="969644"/>
          </a:xfrm>
          <a:custGeom>
            <a:avLst/>
            <a:gdLst/>
            <a:ahLst/>
            <a:cxnLst/>
            <a:rect l="l" t="t" r="r" b="b"/>
            <a:pathLst>
              <a:path w="1405255" h="969645">
                <a:moveTo>
                  <a:pt x="1243584" y="0"/>
                </a:moveTo>
                <a:lnTo>
                  <a:pt x="161544" y="0"/>
                </a:lnTo>
                <a:lnTo>
                  <a:pt x="118599" y="5766"/>
                </a:lnTo>
                <a:lnTo>
                  <a:pt x="80009" y="22041"/>
                </a:lnTo>
                <a:lnTo>
                  <a:pt x="47315" y="47291"/>
                </a:lnTo>
                <a:lnTo>
                  <a:pt x="22055" y="79981"/>
                </a:lnTo>
                <a:lnTo>
                  <a:pt x="5770" y="118577"/>
                </a:lnTo>
                <a:lnTo>
                  <a:pt x="0" y="161544"/>
                </a:lnTo>
                <a:lnTo>
                  <a:pt x="0" y="807719"/>
                </a:lnTo>
                <a:lnTo>
                  <a:pt x="5770" y="850642"/>
                </a:lnTo>
                <a:lnTo>
                  <a:pt x="22055" y="889225"/>
                </a:lnTo>
                <a:lnTo>
                  <a:pt x="47315" y="921924"/>
                </a:lnTo>
                <a:lnTo>
                  <a:pt x="80009" y="947194"/>
                </a:lnTo>
                <a:lnTo>
                  <a:pt x="118599" y="963489"/>
                </a:lnTo>
                <a:lnTo>
                  <a:pt x="161544" y="969263"/>
                </a:lnTo>
                <a:lnTo>
                  <a:pt x="1243584" y="969263"/>
                </a:lnTo>
                <a:lnTo>
                  <a:pt x="1286506" y="963489"/>
                </a:lnTo>
                <a:lnTo>
                  <a:pt x="1325089" y="947194"/>
                </a:lnTo>
                <a:lnTo>
                  <a:pt x="1357788" y="921924"/>
                </a:lnTo>
                <a:lnTo>
                  <a:pt x="1383058" y="889225"/>
                </a:lnTo>
                <a:lnTo>
                  <a:pt x="1399353" y="850642"/>
                </a:lnTo>
                <a:lnTo>
                  <a:pt x="1405128" y="807719"/>
                </a:lnTo>
                <a:lnTo>
                  <a:pt x="1405128" y="161544"/>
                </a:lnTo>
                <a:lnTo>
                  <a:pt x="1399353" y="118577"/>
                </a:lnTo>
                <a:lnTo>
                  <a:pt x="1383058" y="79981"/>
                </a:lnTo>
                <a:lnTo>
                  <a:pt x="1357788" y="47291"/>
                </a:lnTo>
                <a:lnTo>
                  <a:pt x="1325089" y="22041"/>
                </a:lnTo>
                <a:lnTo>
                  <a:pt x="1286506" y="5766"/>
                </a:lnTo>
                <a:lnTo>
                  <a:pt x="12435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64691" y="3791711"/>
            <a:ext cx="1405255" cy="969644"/>
          </a:xfrm>
          <a:custGeom>
            <a:avLst/>
            <a:gdLst/>
            <a:ahLst/>
            <a:cxnLst/>
            <a:rect l="l" t="t" r="r" b="b"/>
            <a:pathLst>
              <a:path w="1405255" h="969645">
                <a:moveTo>
                  <a:pt x="0" y="161544"/>
                </a:moveTo>
                <a:lnTo>
                  <a:pt x="5770" y="118577"/>
                </a:lnTo>
                <a:lnTo>
                  <a:pt x="22055" y="79981"/>
                </a:lnTo>
                <a:lnTo>
                  <a:pt x="47315" y="47291"/>
                </a:lnTo>
                <a:lnTo>
                  <a:pt x="80009" y="22041"/>
                </a:lnTo>
                <a:lnTo>
                  <a:pt x="118599" y="5766"/>
                </a:lnTo>
                <a:lnTo>
                  <a:pt x="161544" y="0"/>
                </a:lnTo>
                <a:lnTo>
                  <a:pt x="1243584" y="0"/>
                </a:lnTo>
                <a:lnTo>
                  <a:pt x="1286506" y="5766"/>
                </a:lnTo>
                <a:lnTo>
                  <a:pt x="1325089" y="22041"/>
                </a:lnTo>
                <a:lnTo>
                  <a:pt x="1357788" y="47291"/>
                </a:lnTo>
                <a:lnTo>
                  <a:pt x="1383058" y="79981"/>
                </a:lnTo>
                <a:lnTo>
                  <a:pt x="1399353" y="118577"/>
                </a:lnTo>
                <a:lnTo>
                  <a:pt x="1405128" y="161544"/>
                </a:lnTo>
                <a:lnTo>
                  <a:pt x="1405128" y="807719"/>
                </a:lnTo>
                <a:lnTo>
                  <a:pt x="1399353" y="850642"/>
                </a:lnTo>
                <a:lnTo>
                  <a:pt x="1383058" y="889225"/>
                </a:lnTo>
                <a:lnTo>
                  <a:pt x="1357788" y="921924"/>
                </a:lnTo>
                <a:lnTo>
                  <a:pt x="1325089" y="947194"/>
                </a:lnTo>
                <a:lnTo>
                  <a:pt x="1286506" y="963489"/>
                </a:lnTo>
                <a:lnTo>
                  <a:pt x="1243584" y="969263"/>
                </a:lnTo>
                <a:lnTo>
                  <a:pt x="161544" y="969263"/>
                </a:lnTo>
                <a:lnTo>
                  <a:pt x="118599" y="963489"/>
                </a:lnTo>
                <a:lnTo>
                  <a:pt x="80009" y="947194"/>
                </a:lnTo>
                <a:lnTo>
                  <a:pt x="47315" y="921924"/>
                </a:lnTo>
                <a:lnTo>
                  <a:pt x="22055" y="889225"/>
                </a:lnTo>
                <a:lnTo>
                  <a:pt x="5770" y="850642"/>
                </a:lnTo>
                <a:lnTo>
                  <a:pt x="0" y="807719"/>
                </a:lnTo>
                <a:lnTo>
                  <a:pt x="0" y="16154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44651" y="3802126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华文新魏"/>
                <a:cs typeface="华文新魏"/>
              </a:rPr>
              <a:t>用户评估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943855" y="3787140"/>
            <a:ext cx="1403985" cy="972819"/>
          </a:xfrm>
          <a:custGeom>
            <a:avLst/>
            <a:gdLst/>
            <a:ahLst/>
            <a:cxnLst/>
            <a:rect l="l" t="t" r="r" b="b"/>
            <a:pathLst>
              <a:path w="1403985" h="972820">
                <a:moveTo>
                  <a:pt x="1241552" y="0"/>
                </a:moveTo>
                <a:lnTo>
                  <a:pt x="162052" y="0"/>
                </a:lnTo>
                <a:lnTo>
                  <a:pt x="118959" y="5786"/>
                </a:lnTo>
                <a:lnTo>
                  <a:pt x="80245" y="22116"/>
                </a:lnTo>
                <a:lnTo>
                  <a:pt x="47450" y="47450"/>
                </a:lnTo>
                <a:lnTo>
                  <a:pt x="22116" y="80245"/>
                </a:lnTo>
                <a:lnTo>
                  <a:pt x="5786" y="118959"/>
                </a:lnTo>
                <a:lnTo>
                  <a:pt x="0" y="162052"/>
                </a:lnTo>
                <a:lnTo>
                  <a:pt x="0" y="810260"/>
                </a:lnTo>
                <a:lnTo>
                  <a:pt x="5786" y="853352"/>
                </a:lnTo>
                <a:lnTo>
                  <a:pt x="22116" y="892066"/>
                </a:lnTo>
                <a:lnTo>
                  <a:pt x="47450" y="924861"/>
                </a:lnTo>
                <a:lnTo>
                  <a:pt x="80245" y="950195"/>
                </a:lnTo>
                <a:lnTo>
                  <a:pt x="118959" y="966525"/>
                </a:lnTo>
                <a:lnTo>
                  <a:pt x="162052" y="972312"/>
                </a:lnTo>
                <a:lnTo>
                  <a:pt x="1241552" y="972312"/>
                </a:lnTo>
                <a:lnTo>
                  <a:pt x="1284644" y="966525"/>
                </a:lnTo>
                <a:lnTo>
                  <a:pt x="1323358" y="950195"/>
                </a:lnTo>
                <a:lnTo>
                  <a:pt x="1356153" y="924861"/>
                </a:lnTo>
                <a:lnTo>
                  <a:pt x="1381487" y="892066"/>
                </a:lnTo>
                <a:lnTo>
                  <a:pt x="1397817" y="853352"/>
                </a:lnTo>
                <a:lnTo>
                  <a:pt x="1403604" y="810260"/>
                </a:lnTo>
                <a:lnTo>
                  <a:pt x="1403604" y="162052"/>
                </a:lnTo>
                <a:lnTo>
                  <a:pt x="1397817" y="118959"/>
                </a:lnTo>
                <a:lnTo>
                  <a:pt x="1381487" y="80245"/>
                </a:lnTo>
                <a:lnTo>
                  <a:pt x="1356153" y="47450"/>
                </a:lnTo>
                <a:lnTo>
                  <a:pt x="1323358" y="22116"/>
                </a:lnTo>
                <a:lnTo>
                  <a:pt x="1284644" y="5786"/>
                </a:lnTo>
                <a:lnTo>
                  <a:pt x="12415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943855" y="3787140"/>
            <a:ext cx="1403985" cy="972819"/>
          </a:xfrm>
          <a:custGeom>
            <a:avLst/>
            <a:gdLst/>
            <a:ahLst/>
            <a:cxnLst/>
            <a:rect l="l" t="t" r="r" b="b"/>
            <a:pathLst>
              <a:path w="1403985" h="972820">
                <a:moveTo>
                  <a:pt x="0" y="162052"/>
                </a:moveTo>
                <a:lnTo>
                  <a:pt x="5786" y="118959"/>
                </a:lnTo>
                <a:lnTo>
                  <a:pt x="22116" y="80245"/>
                </a:lnTo>
                <a:lnTo>
                  <a:pt x="47450" y="47450"/>
                </a:lnTo>
                <a:lnTo>
                  <a:pt x="80245" y="22116"/>
                </a:lnTo>
                <a:lnTo>
                  <a:pt x="118959" y="5786"/>
                </a:lnTo>
                <a:lnTo>
                  <a:pt x="162052" y="0"/>
                </a:lnTo>
                <a:lnTo>
                  <a:pt x="1241552" y="0"/>
                </a:lnTo>
                <a:lnTo>
                  <a:pt x="1284644" y="5786"/>
                </a:lnTo>
                <a:lnTo>
                  <a:pt x="1323358" y="22116"/>
                </a:lnTo>
                <a:lnTo>
                  <a:pt x="1356153" y="47450"/>
                </a:lnTo>
                <a:lnTo>
                  <a:pt x="1381487" y="80245"/>
                </a:lnTo>
                <a:lnTo>
                  <a:pt x="1397817" y="118959"/>
                </a:lnTo>
                <a:lnTo>
                  <a:pt x="1403604" y="162052"/>
                </a:lnTo>
                <a:lnTo>
                  <a:pt x="1403604" y="810260"/>
                </a:lnTo>
                <a:lnTo>
                  <a:pt x="1397817" y="853352"/>
                </a:lnTo>
                <a:lnTo>
                  <a:pt x="1381487" y="892066"/>
                </a:lnTo>
                <a:lnTo>
                  <a:pt x="1356153" y="924861"/>
                </a:lnTo>
                <a:lnTo>
                  <a:pt x="1323358" y="950195"/>
                </a:lnTo>
                <a:lnTo>
                  <a:pt x="1284644" y="966525"/>
                </a:lnTo>
                <a:lnTo>
                  <a:pt x="1241552" y="972312"/>
                </a:lnTo>
                <a:lnTo>
                  <a:pt x="162052" y="972312"/>
                </a:lnTo>
                <a:lnTo>
                  <a:pt x="118959" y="966525"/>
                </a:lnTo>
                <a:lnTo>
                  <a:pt x="80245" y="950195"/>
                </a:lnTo>
                <a:lnTo>
                  <a:pt x="47450" y="924861"/>
                </a:lnTo>
                <a:lnTo>
                  <a:pt x="22116" y="892066"/>
                </a:lnTo>
                <a:lnTo>
                  <a:pt x="5786" y="853352"/>
                </a:lnTo>
                <a:lnTo>
                  <a:pt x="0" y="810260"/>
                </a:lnTo>
                <a:lnTo>
                  <a:pt x="0" y="16205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023484" y="3799078"/>
            <a:ext cx="12446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048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华文新魏"/>
                <a:cs typeface="华文新魏"/>
              </a:rPr>
              <a:t>项目 </a:t>
            </a:r>
            <a:r>
              <a:rPr sz="2400" spc="-5" dirty="0">
                <a:latin typeface="华文新魏"/>
                <a:cs typeface="华文新魏"/>
              </a:rPr>
              <a:t>风险分析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932676" y="3787140"/>
            <a:ext cx="1403985" cy="972819"/>
          </a:xfrm>
          <a:custGeom>
            <a:avLst/>
            <a:gdLst/>
            <a:ahLst/>
            <a:cxnLst/>
            <a:rect l="l" t="t" r="r" b="b"/>
            <a:pathLst>
              <a:path w="1403984" h="972820">
                <a:moveTo>
                  <a:pt x="1241552" y="0"/>
                </a:moveTo>
                <a:lnTo>
                  <a:pt x="162051" y="0"/>
                </a:lnTo>
                <a:lnTo>
                  <a:pt x="118959" y="5786"/>
                </a:lnTo>
                <a:lnTo>
                  <a:pt x="80245" y="22116"/>
                </a:lnTo>
                <a:lnTo>
                  <a:pt x="47450" y="47450"/>
                </a:lnTo>
                <a:lnTo>
                  <a:pt x="22116" y="80245"/>
                </a:lnTo>
                <a:lnTo>
                  <a:pt x="5786" y="118959"/>
                </a:lnTo>
                <a:lnTo>
                  <a:pt x="0" y="162052"/>
                </a:lnTo>
                <a:lnTo>
                  <a:pt x="0" y="810260"/>
                </a:lnTo>
                <a:lnTo>
                  <a:pt x="5786" y="853352"/>
                </a:lnTo>
                <a:lnTo>
                  <a:pt x="22116" y="892066"/>
                </a:lnTo>
                <a:lnTo>
                  <a:pt x="47450" y="924861"/>
                </a:lnTo>
                <a:lnTo>
                  <a:pt x="80245" y="950195"/>
                </a:lnTo>
                <a:lnTo>
                  <a:pt x="118959" y="966525"/>
                </a:lnTo>
                <a:lnTo>
                  <a:pt x="162051" y="972312"/>
                </a:lnTo>
                <a:lnTo>
                  <a:pt x="1241552" y="972312"/>
                </a:lnTo>
                <a:lnTo>
                  <a:pt x="1284644" y="966525"/>
                </a:lnTo>
                <a:lnTo>
                  <a:pt x="1323358" y="950195"/>
                </a:lnTo>
                <a:lnTo>
                  <a:pt x="1356153" y="924861"/>
                </a:lnTo>
                <a:lnTo>
                  <a:pt x="1381487" y="892066"/>
                </a:lnTo>
                <a:lnTo>
                  <a:pt x="1397817" y="853352"/>
                </a:lnTo>
                <a:lnTo>
                  <a:pt x="1403603" y="810260"/>
                </a:lnTo>
                <a:lnTo>
                  <a:pt x="1403603" y="162052"/>
                </a:lnTo>
                <a:lnTo>
                  <a:pt x="1397817" y="118959"/>
                </a:lnTo>
                <a:lnTo>
                  <a:pt x="1381487" y="80245"/>
                </a:lnTo>
                <a:lnTo>
                  <a:pt x="1356153" y="47450"/>
                </a:lnTo>
                <a:lnTo>
                  <a:pt x="1323358" y="22116"/>
                </a:lnTo>
                <a:lnTo>
                  <a:pt x="1284644" y="5786"/>
                </a:lnTo>
                <a:lnTo>
                  <a:pt x="12415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932676" y="3787140"/>
            <a:ext cx="1403985" cy="972819"/>
          </a:xfrm>
          <a:custGeom>
            <a:avLst/>
            <a:gdLst/>
            <a:ahLst/>
            <a:cxnLst/>
            <a:rect l="l" t="t" r="r" b="b"/>
            <a:pathLst>
              <a:path w="1403984" h="972820">
                <a:moveTo>
                  <a:pt x="0" y="162052"/>
                </a:moveTo>
                <a:lnTo>
                  <a:pt x="5786" y="118959"/>
                </a:lnTo>
                <a:lnTo>
                  <a:pt x="22116" y="80245"/>
                </a:lnTo>
                <a:lnTo>
                  <a:pt x="47450" y="47450"/>
                </a:lnTo>
                <a:lnTo>
                  <a:pt x="80245" y="22116"/>
                </a:lnTo>
                <a:lnTo>
                  <a:pt x="118959" y="5786"/>
                </a:lnTo>
                <a:lnTo>
                  <a:pt x="162051" y="0"/>
                </a:lnTo>
                <a:lnTo>
                  <a:pt x="1241552" y="0"/>
                </a:lnTo>
                <a:lnTo>
                  <a:pt x="1284644" y="5786"/>
                </a:lnTo>
                <a:lnTo>
                  <a:pt x="1323358" y="22116"/>
                </a:lnTo>
                <a:lnTo>
                  <a:pt x="1356153" y="47450"/>
                </a:lnTo>
                <a:lnTo>
                  <a:pt x="1381487" y="80245"/>
                </a:lnTo>
                <a:lnTo>
                  <a:pt x="1397817" y="118959"/>
                </a:lnTo>
                <a:lnTo>
                  <a:pt x="1403603" y="162052"/>
                </a:lnTo>
                <a:lnTo>
                  <a:pt x="1403603" y="810260"/>
                </a:lnTo>
                <a:lnTo>
                  <a:pt x="1397817" y="853352"/>
                </a:lnTo>
                <a:lnTo>
                  <a:pt x="1381487" y="892066"/>
                </a:lnTo>
                <a:lnTo>
                  <a:pt x="1356153" y="924861"/>
                </a:lnTo>
                <a:lnTo>
                  <a:pt x="1323358" y="950195"/>
                </a:lnTo>
                <a:lnTo>
                  <a:pt x="1284644" y="966525"/>
                </a:lnTo>
                <a:lnTo>
                  <a:pt x="1241552" y="972312"/>
                </a:lnTo>
                <a:lnTo>
                  <a:pt x="162051" y="972312"/>
                </a:lnTo>
                <a:lnTo>
                  <a:pt x="118959" y="966525"/>
                </a:lnTo>
                <a:lnTo>
                  <a:pt x="80245" y="950195"/>
                </a:lnTo>
                <a:lnTo>
                  <a:pt x="47450" y="924861"/>
                </a:lnTo>
                <a:lnTo>
                  <a:pt x="22116" y="892066"/>
                </a:lnTo>
                <a:lnTo>
                  <a:pt x="5786" y="853352"/>
                </a:lnTo>
                <a:lnTo>
                  <a:pt x="0" y="810260"/>
                </a:lnTo>
                <a:lnTo>
                  <a:pt x="0" y="16205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012940" y="3799078"/>
            <a:ext cx="12446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华文新魏"/>
                <a:cs typeface="华文新魏"/>
              </a:rPr>
              <a:t>项目初步 </a:t>
            </a:r>
            <a:r>
              <a:rPr sz="2400" spc="-5" dirty="0">
                <a:latin typeface="华文新魏"/>
                <a:cs typeface="华文新魏"/>
              </a:rPr>
              <a:t>实施规划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357115" y="4223003"/>
            <a:ext cx="586740" cy="76200"/>
          </a:xfrm>
          <a:custGeom>
            <a:avLst/>
            <a:gdLst/>
            <a:ahLst/>
            <a:cxnLst/>
            <a:rect l="l" t="t" r="r" b="b"/>
            <a:pathLst>
              <a:path w="586739" h="76200">
                <a:moveTo>
                  <a:pt x="510539" y="0"/>
                </a:moveTo>
                <a:lnTo>
                  <a:pt x="510539" y="76200"/>
                </a:lnTo>
                <a:lnTo>
                  <a:pt x="574039" y="44450"/>
                </a:lnTo>
                <a:lnTo>
                  <a:pt x="523239" y="44450"/>
                </a:lnTo>
                <a:lnTo>
                  <a:pt x="523239" y="31750"/>
                </a:lnTo>
                <a:lnTo>
                  <a:pt x="574039" y="31750"/>
                </a:lnTo>
                <a:lnTo>
                  <a:pt x="510539" y="0"/>
                </a:lnTo>
                <a:close/>
              </a:path>
              <a:path w="586739" h="76200">
                <a:moveTo>
                  <a:pt x="510539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510539" y="44450"/>
                </a:lnTo>
                <a:lnTo>
                  <a:pt x="510539" y="31750"/>
                </a:lnTo>
                <a:close/>
              </a:path>
              <a:path w="586739" h="76200">
                <a:moveTo>
                  <a:pt x="574039" y="31750"/>
                </a:moveTo>
                <a:lnTo>
                  <a:pt x="523239" y="31750"/>
                </a:lnTo>
                <a:lnTo>
                  <a:pt x="523239" y="44450"/>
                </a:lnTo>
                <a:lnTo>
                  <a:pt x="574039" y="44450"/>
                </a:lnTo>
                <a:lnTo>
                  <a:pt x="586739" y="38100"/>
                </a:lnTo>
                <a:lnTo>
                  <a:pt x="574039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347459" y="4223003"/>
            <a:ext cx="585470" cy="76200"/>
          </a:xfrm>
          <a:custGeom>
            <a:avLst/>
            <a:gdLst/>
            <a:ahLst/>
            <a:cxnLst/>
            <a:rect l="l" t="t" r="r" b="b"/>
            <a:pathLst>
              <a:path w="585470" h="76200">
                <a:moveTo>
                  <a:pt x="509015" y="0"/>
                </a:moveTo>
                <a:lnTo>
                  <a:pt x="509015" y="76200"/>
                </a:lnTo>
                <a:lnTo>
                  <a:pt x="572515" y="44450"/>
                </a:lnTo>
                <a:lnTo>
                  <a:pt x="521715" y="44450"/>
                </a:lnTo>
                <a:lnTo>
                  <a:pt x="521715" y="31750"/>
                </a:lnTo>
                <a:lnTo>
                  <a:pt x="572515" y="31750"/>
                </a:lnTo>
                <a:lnTo>
                  <a:pt x="509015" y="0"/>
                </a:lnTo>
                <a:close/>
              </a:path>
              <a:path w="585470" h="76200">
                <a:moveTo>
                  <a:pt x="509015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509015" y="44450"/>
                </a:lnTo>
                <a:lnTo>
                  <a:pt x="509015" y="31750"/>
                </a:lnTo>
                <a:close/>
              </a:path>
              <a:path w="585470" h="76200">
                <a:moveTo>
                  <a:pt x="572515" y="31750"/>
                </a:moveTo>
                <a:lnTo>
                  <a:pt x="521715" y="31750"/>
                </a:lnTo>
                <a:lnTo>
                  <a:pt x="521715" y="44450"/>
                </a:lnTo>
                <a:lnTo>
                  <a:pt x="572515" y="44450"/>
                </a:lnTo>
                <a:lnTo>
                  <a:pt x="585215" y="38100"/>
                </a:lnTo>
                <a:lnTo>
                  <a:pt x="572515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200911" y="2328672"/>
            <a:ext cx="1051560" cy="727075"/>
          </a:xfrm>
          <a:custGeom>
            <a:avLst/>
            <a:gdLst/>
            <a:ahLst/>
            <a:cxnLst/>
            <a:rect l="l" t="t" r="r" b="b"/>
            <a:pathLst>
              <a:path w="1051560" h="727075">
                <a:moveTo>
                  <a:pt x="1051560" y="0"/>
                </a:moveTo>
                <a:lnTo>
                  <a:pt x="0" y="0"/>
                </a:lnTo>
                <a:lnTo>
                  <a:pt x="0" y="726948"/>
                </a:lnTo>
                <a:lnTo>
                  <a:pt x="960627" y="726948"/>
                </a:lnTo>
                <a:lnTo>
                  <a:pt x="1051560" y="636015"/>
                </a:lnTo>
                <a:lnTo>
                  <a:pt x="1051560" y="0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161539" y="2964688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39">
                <a:moveTo>
                  <a:pt x="90932" y="0"/>
                </a:moveTo>
                <a:lnTo>
                  <a:pt x="18287" y="18287"/>
                </a:lnTo>
                <a:lnTo>
                  <a:pt x="0" y="90932"/>
                </a:lnTo>
                <a:lnTo>
                  <a:pt x="90932" y="0"/>
                </a:lnTo>
                <a:close/>
              </a:path>
            </a:pathLst>
          </a:custGeom>
          <a:solidFill>
            <a:srgbClr val="00A3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200911" y="2328672"/>
            <a:ext cx="1051560" cy="727075"/>
          </a:xfrm>
          <a:custGeom>
            <a:avLst/>
            <a:gdLst/>
            <a:ahLst/>
            <a:cxnLst/>
            <a:rect l="l" t="t" r="r" b="b"/>
            <a:pathLst>
              <a:path w="1051560" h="727075">
                <a:moveTo>
                  <a:pt x="960627" y="726948"/>
                </a:moveTo>
                <a:lnTo>
                  <a:pt x="978915" y="654303"/>
                </a:lnTo>
                <a:lnTo>
                  <a:pt x="1051560" y="636015"/>
                </a:lnTo>
                <a:lnTo>
                  <a:pt x="960627" y="726948"/>
                </a:lnTo>
                <a:lnTo>
                  <a:pt x="0" y="726948"/>
                </a:lnTo>
                <a:lnTo>
                  <a:pt x="0" y="0"/>
                </a:lnTo>
                <a:lnTo>
                  <a:pt x="1051560" y="0"/>
                </a:lnTo>
                <a:lnTo>
                  <a:pt x="1051560" y="63601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256182" y="2338196"/>
            <a:ext cx="9410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华文新魏"/>
                <a:cs typeface="华文新魏"/>
              </a:rPr>
              <a:t>招标书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955035" y="3765803"/>
            <a:ext cx="1402080" cy="970915"/>
          </a:xfrm>
          <a:custGeom>
            <a:avLst/>
            <a:gdLst/>
            <a:ahLst/>
            <a:cxnLst/>
            <a:rect l="l" t="t" r="r" b="b"/>
            <a:pathLst>
              <a:path w="1402079" h="970914">
                <a:moveTo>
                  <a:pt x="1240281" y="0"/>
                </a:moveTo>
                <a:lnTo>
                  <a:pt x="161797" y="0"/>
                </a:lnTo>
                <a:lnTo>
                  <a:pt x="118768" y="5776"/>
                </a:lnTo>
                <a:lnTo>
                  <a:pt x="80113" y="22079"/>
                </a:lnTo>
                <a:lnTo>
                  <a:pt x="47371" y="47371"/>
                </a:lnTo>
                <a:lnTo>
                  <a:pt x="22079" y="80113"/>
                </a:lnTo>
                <a:lnTo>
                  <a:pt x="5776" y="118768"/>
                </a:lnTo>
                <a:lnTo>
                  <a:pt x="0" y="161798"/>
                </a:lnTo>
                <a:lnTo>
                  <a:pt x="0" y="808990"/>
                </a:lnTo>
                <a:lnTo>
                  <a:pt x="5776" y="852019"/>
                </a:lnTo>
                <a:lnTo>
                  <a:pt x="22079" y="890674"/>
                </a:lnTo>
                <a:lnTo>
                  <a:pt x="47371" y="923417"/>
                </a:lnTo>
                <a:lnTo>
                  <a:pt x="80113" y="948708"/>
                </a:lnTo>
                <a:lnTo>
                  <a:pt x="118768" y="965011"/>
                </a:lnTo>
                <a:lnTo>
                  <a:pt x="161797" y="970788"/>
                </a:lnTo>
                <a:lnTo>
                  <a:pt x="1240281" y="970788"/>
                </a:lnTo>
                <a:lnTo>
                  <a:pt x="1283311" y="965011"/>
                </a:lnTo>
                <a:lnTo>
                  <a:pt x="1321966" y="948708"/>
                </a:lnTo>
                <a:lnTo>
                  <a:pt x="1354709" y="923417"/>
                </a:lnTo>
                <a:lnTo>
                  <a:pt x="1380000" y="890674"/>
                </a:lnTo>
                <a:lnTo>
                  <a:pt x="1396303" y="852019"/>
                </a:lnTo>
                <a:lnTo>
                  <a:pt x="1402079" y="808990"/>
                </a:lnTo>
                <a:lnTo>
                  <a:pt x="1402079" y="161798"/>
                </a:lnTo>
                <a:lnTo>
                  <a:pt x="1396303" y="118768"/>
                </a:lnTo>
                <a:lnTo>
                  <a:pt x="1380000" y="80113"/>
                </a:lnTo>
                <a:lnTo>
                  <a:pt x="1354709" y="47371"/>
                </a:lnTo>
                <a:lnTo>
                  <a:pt x="1321966" y="22079"/>
                </a:lnTo>
                <a:lnTo>
                  <a:pt x="1283311" y="5776"/>
                </a:lnTo>
                <a:lnTo>
                  <a:pt x="12402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955035" y="3765803"/>
            <a:ext cx="1402080" cy="970915"/>
          </a:xfrm>
          <a:custGeom>
            <a:avLst/>
            <a:gdLst/>
            <a:ahLst/>
            <a:cxnLst/>
            <a:rect l="l" t="t" r="r" b="b"/>
            <a:pathLst>
              <a:path w="1402079" h="970914">
                <a:moveTo>
                  <a:pt x="0" y="161798"/>
                </a:moveTo>
                <a:lnTo>
                  <a:pt x="5776" y="118768"/>
                </a:lnTo>
                <a:lnTo>
                  <a:pt x="22079" y="80113"/>
                </a:lnTo>
                <a:lnTo>
                  <a:pt x="47371" y="47371"/>
                </a:lnTo>
                <a:lnTo>
                  <a:pt x="80113" y="22079"/>
                </a:lnTo>
                <a:lnTo>
                  <a:pt x="118768" y="5776"/>
                </a:lnTo>
                <a:lnTo>
                  <a:pt x="161797" y="0"/>
                </a:lnTo>
                <a:lnTo>
                  <a:pt x="1240281" y="0"/>
                </a:lnTo>
                <a:lnTo>
                  <a:pt x="1283311" y="5776"/>
                </a:lnTo>
                <a:lnTo>
                  <a:pt x="1321966" y="22079"/>
                </a:lnTo>
                <a:lnTo>
                  <a:pt x="1354709" y="47371"/>
                </a:lnTo>
                <a:lnTo>
                  <a:pt x="1380000" y="80113"/>
                </a:lnTo>
                <a:lnTo>
                  <a:pt x="1396303" y="118768"/>
                </a:lnTo>
                <a:lnTo>
                  <a:pt x="1402079" y="161798"/>
                </a:lnTo>
                <a:lnTo>
                  <a:pt x="1402079" y="808990"/>
                </a:lnTo>
                <a:lnTo>
                  <a:pt x="1396303" y="852019"/>
                </a:lnTo>
                <a:lnTo>
                  <a:pt x="1380000" y="890674"/>
                </a:lnTo>
                <a:lnTo>
                  <a:pt x="1354709" y="923417"/>
                </a:lnTo>
                <a:lnTo>
                  <a:pt x="1321966" y="948708"/>
                </a:lnTo>
                <a:lnTo>
                  <a:pt x="1283311" y="965011"/>
                </a:lnTo>
                <a:lnTo>
                  <a:pt x="1240281" y="970788"/>
                </a:lnTo>
                <a:lnTo>
                  <a:pt x="161797" y="970788"/>
                </a:lnTo>
                <a:lnTo>
                  <a:pt x="118768" y="965011"/>
                </a:lnTo>
                <a:lnTo>
                  <a:pt x="80113" y="948708"/>
                </a:lnTo>
                <a:lnTo>
                  <a:pt x="47371" y="923417"/>
                </a:lnTo>
                <a:lnTo>
                  <a:pt x="22079" y="890674"/>
                </a:lnTo>
                <a:lnTo>
                  <a:pt x="5776" y="852019"/>
                </a:lnTo>
                <a:lnTo>
                  <a:pt x="0" y="808990"/>
                </a:lnTo>
                <a:lnTo>
                  <a:pt x="0" y="16179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3034029" y="3776853"/>
            <a:ext cx="12446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华文新魏"/>
                <a:cs typeface="华文新魏"/>
              </a:rPr>
              <a:t>可行性分 析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369820" y="4191000"/>
            <a:ext cx="585470" cy="76200"/>
          </a:xfrm>
          <a:custGeom>
            <a:avLst/>
            <a:gdLst/>
            <a:ahLst/>
            <a:cxnLst/>
            <a:rect l="l" t="t" r="r" b="b"/>
            <a:pathLst>
              <a:path w="585469" h="76200">
                <a:moveTo>
                  <a:pt x="509016" y="0"/>
                </a:moveTo>
                <a:lnTo>
                  <a:pt x="509016" y="76200"/>
                </a:lnTo>
                <a:lnTo>
                  <a:pt x="572516" y="44450"/>
                </a:lnTo>
                <a:lnTo>
                  <a:pt x="521716" y="44450"/>
                </a:lnTo>
                <a:lnTo>
                  <a:pt x="521716" y="31750"/>
                </a:lnTo>
                <a:lnTo>
                  <a:pt x="572516" y="31750"/>
                </a:lnTo>
                <a:lnTo>
                  <a:pt x="509016" y="0"/>
                </a:lnTo>
                <a:close/>
              </a:path>
              <a:path w="585469" h="76200">
                <a:moveTo>
                  <a:pt x="509016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509016" y="44450"/>
                </a:lnTo>
                <a:lnTo>
                  <a:pt x="509016" y="31750"/>
                </a:lnTo>
                <a:close/>
              </a:path>
              <a:path w="585469" h="76200">
                <a:moveTo>
                  <a:pt x="572516" y="31750"/>
                </a:moveTo>
                <a:lnTo>
                  <a:pt x="521716" y="31750"/>
                </a:lnTo>
                <a:lnTo>
                  <a:pt x="521716" y="44450"/>
                </a:lnTo>
                <a:lnTo>
                  <a:pt x="572516" y="44450"/>
                </a:lnTo>
                <a:lnTo>
                  <a:pt x="585216" y="38100"/>
                </a:lnTo>
                <a:lnTo>
                  <a:pt x="572516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07822" y="2762757"/>
            <a:ext cx="8085455" cy="1499870"/>
          </a:xfrm>
          <a:custGeom>
            <a:avLst/>
            <a:gdLst/>
            <a:ahLst/>
            <a:cxnLst/>
            <a:rect l="l" t="t" r="r" b="b"/>
            <a:pathLst>
              <a:path w="8085455" h="1499870">
                <a:moveTo>
                  <a:pt x="281127" y="1423669"/>
                </a:moveTo>
                <a:lnTo>
                  <a:pt x="281127" y="1499869"/>
                </a:lnTo>
                <a:lnTo>
                  <a:pt x="344627" y="1468119"/>
                </a:lnTo>
                <a:lnTo>
                  <a:pt x="293839" y="1468119"/>
                </a:lnTo>
                <a:lnTo>
                  <a:pt x="293839" y="1455419"/>
                </a:lnTo>
                <a:lnTo>
                  <a:pt x="344627" y="1455419"/>
                </a:lnTo>
                <a:lnTo>
                  <a:pt x="281127" y="1423669"/>
                </a:lnTo>
                <a:close/>
              </a:path>
              <a:path w="8085455" h="1499870">
                <a:moveTo>
                  <a:pt x="8072628" y="623696"/>
                </a:moveTo>
                <a:lnTo>
                  <a:pt x="2844" y="623696"/>
                </a:lnTo>
                <a:lnTo>
                  <a:pt x="0" y="626617"/>
                </a:lnTo>
                <a:lnTo>
                  <a:pt x="0" y="1465325"/>
                </a:lnTo>
                <a:lnTo>
                  <a:pt x="2844" y="1468119"/>
                </a:lnTo>
                <a:lnTo>
                  <a:pt x="281127" y="1468119"/>
                </a:lnTo>
                <a:lnTo>
                  <a:pt x="281127" y="1461769"/>
                </a:lnTo>
                <a:lnTo>
                  <a:pt x="12700" y="1461769"/>
                </a:lnTo>
                <a:lnTo>
                  <a:pt x="6350" y="1455419"/>
                </a:lnTo>
                <a:lnTo>
                  <a:pt x="12700" y="1455419"/>
                </a:lnTo>
                <a:lnTo>
                  <a:pt x="12700" y="636396"/>
                </a:lnTo>
                <a:lnTo>
                  <a:pt x="6350" y="636396"/>
                </a:lnTo>
                <a:lnTo>
                  <a:pt x="12700" y="630046"/>
                </a:lnTo>
                <a:lnTo>
                  <a:pt x="8072628" y="630046"/>
                </a:lnTo>
                <a:lnTo>
                  <a:pt x="8072628" y="623696"/>
                </a:lnTo>
                <a:close/>
              </a:path>
              <a:path w="8085455" h="1499870">
                <a:moveTo>
                  <a:pt x="344627" y="1455419"/>
                </a:moveTo>
                <a:lnTo>
                  <a:pt x="293839" y="1455419"/>
                </a:lnTo>
                <a:lnTo>
                  <a:pt x="293839" y="1468119"/>
                </a:lnTo>
                <a:lnTo>
                  <a:pt x="344627" y="1468119"/>
                </a:lnTo>
                <a:lnTo>
                  <a:pt x="357327" y="1461769"/>
                </a:lnTo>
                <a:lnTo>
                  <a:pt x="344627" y="1455419"/>
                </a:lnTo>
                <a:close/>
              </a:path>
              <a:path w="8085455" h="1499870">
                <a:moveTo>
                  <a:pt x="12700" y="1455419"/>
                </a:moveTo>
                <a:lnTo>
                  <a:pt x="6350" y="1455419"/>
                </a:lnTo>
                <a:lnTo>
                  <a:pt x="12700" y="1461769"/>
                </a:lnTo>
                <a:lnTo>
                  <a:pt x="12700" y="1455419"/>
                </a:lnTo>
                <a:close/>
              </a:path>
              <a:path w="8085455" h="1499870">
                <a:moveTo>
                  <a:pt x="281127" y="1455419"/>
                </a:moveTo>
                <a:lnTo>
                  <a:pt x="12700" y="1455419"/>
                </a:lnTo>
                <a:lnTo>
                  <a:pt x="12700" y="1461769"/>
                </a:lnTo>
                <a:lnTo>
                  <a:pt x="281127" y="1461769"/>
                </a:lnTo>
                <a:lnTo>
                  <a:pt x="281127" y="1455419"/>
                </a:lnTo>
                <a:close/>
              </a:path>
              <a:path w="8085455" h="1499870">
                <a:moveTo>
                  <a:pt x="12700" y="630046"/>
                </a:moveTo>
                <a:lnTo>
                  <a:pt x="6350" y="636396"/>
                </a:lnTo>
                <a:lnTo>
                  <a:pt x="12700" y="636396"/>
                </a:lnTo>
                <a:lnTo>
                  <a:pt x="12700" y="630046"/>
                </a:lnTo>
                <a:close/>
              </a:path>
              <a:path w="8085455" h="1499870">
                <a:moveTo>
                  <a:pt x="8085328" y="623696"/>
                </a:moveTo>
                <a:lnTo>
                  <a:pt x="8078978" y="623696"/>
                </a:lnTo>
                <a:lnTo>
                  <a:pt x="8072628" y="630046"/>
                </a:lnTo>
                <a:lnTo>
                  <a:pt x="12700" y="630046"/>
                </a:lnTo>
                <a:lnTo>
                  <a:pt x="12700" y="636396"/>
                </a:lnTo>
                <a:lnTo>
                  <a:pt x="8082533" y="636396"/>
                </a:lnTo>
                <a:lnTo>
                  <a:pt x="8085328" y="633602"/>
                </a:lnTo>
                <a:lnTo>
                  <a:pt x="8085328" y="623696"/>
                </a:lnTo>
                <a:close/>
              </a:path>
              <a:path w="8085455" h="1499870">
                <a:moveTo>
                  <a:pt x="8072628" y="6350"/>
                </a:moveTo>
                <a:lnTo>
                  <a:pt x="8072628" y="630046"/>
                </a:lnTo>
                <a:lnTo>
                  <a:pt x="8078978" y="623696"/>
                </a:lnTo>
                <a:lnTo>
                  <a:pt x="8085328" y="623696"/>
                </a:lnTo>
                <a:lnTo>
                  <a:pt x="8085328" y="12700"/>
                </a:lnTo>
                <a:lnTo>
                  <a:pt x="8078978" y="12700"/>
                </a:lnTo>
                <a:lnTo>
                  <a:pt x="8072628" y="6350"/>
                </a:lnTo>
                <a:close/>
              </a:path>
              <a:path w="8085455" h="1499870">
                <a:moveTo>
                  <a:pt x="8082533" y="0"/>
                </a:moveTo>
                <a:lnTo>
                  <a:pt x="7727950" y="0"/>
                </a:lnTo>
                <a:lnTo>
                  <a:pt x="7727950" y="12700"/>
                </a:lnTo>
                <a:lnTo>
                  <a:pt x="8072628" y="12700"/>
                </a:lnTo>
                <a:lnTo>
                  <a:pt x="8072628" y="6350"/>
                </a:lnTo>
                <a:lnTo>
                  <a:pt x="8085328" y="6350"/>
                </a:lnTo>
                <a:lnTo>
                  <a:pt x="8085328" y="2793"/>
                </a:lnTo>
                <a:lnTo>
                  <a:pt x="8082533" y="0"/>
                </a:lnTo>
                <a:close/>
              </a:path>
              <a:path w="8085455" h="1499870">
                <a:moveTo>
                  <a:pt x="8085328" y="6350"/>
                </a:moveTo>
                <a:lnTo>
                  <a:pt x="8072628" y="6350"/>
                </a:lnTo>
                <a:lnTo>
                  <a:pt x="8078978" y="12700"/>
                </a:lnTo>
                <a:lnTo>
                  <a:pt x="8085328" y="12700"/>
                </a:lnTo>
                <a:lnTo>
                  <a:pt x="8085328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490" y="232663"/>
            <a:ext cx="50622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u="sng" spc="-110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sng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华文隶书"/>
                <a:cs typeface="华文隶书"/>
              </a:rPr>
              <a:t>乙方标书（建议书）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65778" y="6297574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95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5785" y="1291252"/>
            <a:ext cx="70485" cy="175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65"/>
              </a:lnSpc>
            </a:pPr>
            <a:r>
              <a:rPr sz="1200" b="1" dirty="0">
                <a:latin typeface="Arial Narrow"/>
                <a:cs typeface="Arial Narrow"/>
              </a:rPr>
              <a:t>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1459" y="1342644"/>
            <a:ext cx="8763000" cy="47533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31521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标书目录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7892" y="6225946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9831" y="1536191"/>
            <a:ext cx="8964167" cy="4413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315213"/>
            <a:ext cx="24199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标</a:t>
            </a:r>
            <a:r>
              <a:rPr sz="4400" spc="-5" dirty="0">
                <a:solidFill>
                  <a:srgbClr val="775F54"/>
                </a:solidFill>
                <a:latin typeface="华文隶书"/>
                <a:cs typeface="华文隶书"/>
              </a:rPr>
              <a:t>书</a:t>
            </a:r>
            <a:r>
              <a:rPr sz="4400" i="1" spc="5" dirty="0">
                <a:solidFill>
                  <a:srgbClr val="775F54"/>
                </a:solidFill>
                <a:latin typeface="华文隶书"/>
                <a:cs typeface="华文隶书"/>
              </a:rPr>
              <a:t>-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需求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17594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1459" y="1597152"/>
            <a:ext cx="8712708" cy="43083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61575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标</a:t>
            </a:r>
            <a:r>
              <a:rPr spc="-5" dirty="0"/>
              <a:t>书</a:t>
            </a:r>
            <a:r>
              <a:rPr i="1" spc="5" dirty="0">
                <a:latin typeface="华文隶书"/>
                <a:cs typeface="华文隶书"/>
              </a:rPr>
              <a:t>-</a:t>
            </a:r>
            <a:r>
              <a:rPr dirty="0"/>
              <a:t>基于</a:t>
            </a:r>
            <a:r>
              <a:rPr i="1" dirty="0">
                <a:latin typeface="华文隶书"/>
                <a:cs typeface="华文隶书"/>
              </a:rPr>
              <a:t>SOA</a:t>
            </a:r>
            <a:r>
              <a:rPr dirty="0"/>
              <a:t>的技术架构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537716"/>
            <a:ext cx="9143999" cy="43144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49521" y="6164591"/>
            <a:ext cx="754380" cy="2311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353885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标</a:t>
            </a:r>
            <a:r>
              <a:rPr spc="-5" dirty="0"/>
              <a:t>书</a:t>
            </a:r>
            <a:r>
              <a:rPr i="1" spc="5" dirty="0">
                <a:latin typeface="华文隶书"/>
                <a:cs typeface="华文隶书"/>
              </a:rPr>
              <a:t>-</a:t>
            </a:r>
            <a:r>
              <a:rPr dirty="0"/>
              <a:t>功能模块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1459" y="1578863"/>
            <a:ext cx="8784336" cy="43708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49521" y="6164591"/>
            <a:ext cx="754380" cy="2311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742" y="275589"/>
            <a:ext cx="29800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标</a:t>
            </a:r>
            <a:r>
              <a:rPr sz="4400" spc="-5" dirty="0">
                <a:solidFill>
                  <a:srgbClr val="775F54"/>
                </a:solidFill>
                <a:latin typeface="华文隶书"/>
                <a:cs typeface="华文隶书"/>
              </a:rPr>
              <a:t>书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-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数据库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46346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4715" y="1700783"/>
            <a:ext cx="8293608" cy="4166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275589"/>
            <a:ext cx="46577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标书</a:t>
            </a:r>
            <a:r>
              <a:rPr i="1" dirty="0">
                <a:latin typeface="华文隶书"/>
                <a:cs typeface="华文隶书"/>
              </a:rPr>
              <a:t>-</a:t>
            </a:r>
            <a:r>
              <a:rPr dirty="0"/>
              <a:t>安全保证方案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0372" y="1866900"/>
            <a:ext cx="7997952" cy="403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94046" y="6237439"/>
            <a:ext cx="754380" cy="2311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353885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标</a:t>
            </a:r>
            <a:r>
              <a:rPr spc="-5" dirty="0"/>
              <a:t>书</a:t>
            </a:r>
            <a:r>
              <a:rPr i="1" spc="5" dirty="0">
                <a:latin typeface="华文隶书"/>
                <a:cs typeface="华文隶书"/>
              </a:rPr>
              <a:t>-</a:t>
            </a:r>
            <a:r>
              <a:rPr dirty="0"/>
              <a:t>项目管理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4715" y="1600200"/>
            <a:ext cx="8569452" cy="4267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94046" y="6237439"/>
            <a:ext cx="754380" cy="2311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招标与竞标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9921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0683" y="1629155"/>
            <a:ext cx="7342632" cy="48950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65" y="160731"/>
            <a:ext cx="33813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sng" spc="-110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imes New Roman"/>
                <a:cs typeface="Times New Roman"/>
              </a:rPr>
              <a:t> </a:t>
            </a:r>
            <a:r>
              <a:rPr u="sng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</a:rPr>
              <a:t>双方签署合同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12747"/>
            <a:ext cx="9111996" cy="49789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05121" y="6380390"/>
            <a:ext cx="754380" cy="2311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228600"/>
                </a:moveTo>
                <a:lnTo>
                  <a:pt x="8552688" y="228600"/>
                </a:lnTo>
                <a:lnTo>
                  <a:pt x="855268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6639" y="136982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本章要点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49526" y="2340426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58339" y="2058923"/>
            <a:ext cx="506095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65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3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9526" y="3299276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58339" y="3017520"/>
            <a:ext cx="483234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65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3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9526" y="4260031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58339" y="3977640"/>
            <a:ext cx="506095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49526" y="5221099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58339" y="4939284"/>
            <a:ext cx="485140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64307" y="2058923"/>
            <a:ext cx="4628515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745" rIns="0" bIns="0" rtlCol="0">
            <a:spAutoFit/>
          </a:bodyPr>
          <a:lstStyle/>
          <a:p>
            <a:pPr marR="229870" algn="ctr">
              <a:lnSpc>
                <a:spcPct val="100000"/>
              </a:lnSpc>
              <a:spcBef>
                <a:spcPts val="19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项目立项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41448" y="3017520"/>
            <a:ext cx="4630420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6379" rIns="0" bIns="0" rtlCol="0">
            <a:spAutoFit/>
          </a:bodyPr>
          <a:lstStyle/>
          <a:p>
            <a:pPr marL="26034" algn="ctr">
              <a:lnSpc>
                <a:spcPct val="100000"/>
              </a:lnSpc>
              <a:spcBef>
                <a:spcPts val="1939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项目招投标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64307" y="3977640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7015" rIns="0" bIns="0" rtlCol="0">
            <a:spAutoFit/>
          </a:bodyPr>
          <a:lstStyle/>
          <a:p>
            <a:pPr marR="160655" algn="ctr">
              <a:lnSpc>
                <a:spcPct val="100000"/>
              </a:lnSpc>
              <a:spcBef>
                <a:spcPts val="194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项目章程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42972" y="4939284"/>
            <a:ext cx="4630420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33045" rIns="0" bIns="0" rtlCol="0">
            <a:spAutoFit/>
          </a:bodyPr>
          <a:lstStyle/>
          <a:p>
            <a:pPr marR="46355" algn="ctr">
              <a:lnSpc>
                <a:spcPct val="100000"/>
              </a:lnSpc>
              <a:spcBef>
                <a:spcPts val="1835"/>
              </a:spcBef>
            </a:pPr>
            <a:r>
              <a:rPr sz="2000" b="1" spc="5" dirty="0">
                <a:solidFill>
                  <a:srgbClr val="003366"/>
                </a:solidFill>
                <a:latin typeface="微软雅黑"/>
                <a:cs typeface="微软雅黑"/>
              </a:rPr>
              <a:t>案例总结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228600"/>
                </a:moveTo>
                <a:lnTo>
                  <a:pt x="8552688" y="228600"/>
                </a:lnTo>
                <a:lnTo>
                  <a:pt x="855268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9590" y="160731"/>
            <a:ext cx="49980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项目章</a:t>
            </a:r>
            <a:r>
              <a:rPr spc="5" dirty="0"/>
              <a:t>程</a:t>
            </a:r>
            <a:r>
              <a:rPr i="1" spc="-5" dirty="0">
                <a:latin typeface="华文隶书"/>
                <a:cs typeface="华文隶书"/>
              </a:rPr>
              <a:t>(</a:t>
            </a:r>
            <a:r>
              <a:rPr sz="3600" i="1" spc="-5" dirty="0">
                <a:latin typeface="华文隶书"/>
                <a:cs typeface="华文隶书"/>
              </a:rPr>
              <a:t>Project</a:t>
            </a:r>
            <a:r>
              <a:rPr sz="3600" i="1" spc="-45" dirty="0">
                <a:latin typeface="华文隶书"/>
                <a:cs typeface="华文隶书"/>
              </a:rPr>
              <a:t> </a:t>
            </a:r>
            <a:r>
              <a:rPr sz="3600" i="1" spc="-5" dirty="0">
                <a:latin typeface="华文隶书"/>
                <a:cs typeface="华文隶书"/>
              </a:rPr>
              <a:t>Charter</a:t>
            </a:r>
            <a:r>
              <a:rPr i="1" spc="-5" dirty="0">
                <a:latin typeface="华文隶书"/>
                <a:cs typeface="华文隶书"/>
              </a:rPr>
              <a:t>)</a:t>
            </a:r>
            <a:endParaRPr sz="3600">
              <a:latin typeface="华文隶书"/>
              <a:cs typeface="华文隶书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7639" y="1557527"/>
            <a:ext cx="8642604" cy="45354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5374" y="3141726"/>
            <a:ext cx="8425180" cy="1656714"/>
          </a:xfrm>
          <a:prstGeom prst="rect">
            <a:avLst/>
          </a:prstGeom>
          <a:solidFill>
            <a:srgbClr val="FFFF00"/>
          </a:solidFill>
          <a:ln w="28955">
            <a:solidFill>
              <a:srgbClr val="548AB8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409575" marR="127635" indent="-88900">
              <a:lnSpc>
                <a:spcPts val="3940"/>
              </a:lnSpc>
              <a:spcBef>
                <a:spcPts val="275"/>
              </a:spcBef>
            </a:pPr>
            <a:r>
              <a:rPr sz="3300" b="1" spc="-5" dirty="0">
                <a:latin typeface="华文新魏"/>
                <a:cs typeface="华文新魏"/>
              </a:rPr>
              <a:t>确</a:t>
            </a:r>
            <a:r>
              <a:rPr sz="3300" b="1" spc="10" dirty="0">
                <a:latin typeface="华文新魏"/>
                <a:cs typeface="华文新魏"/>
              </a:rPr>
              <a:t>认</a:t>
            </a:r>
            <a:r>
              <a:rPr sz="3300" b="1" spc="-5" dirty="0">
                <a:latin typeface="华文新魏"/>
                <a:cs typeface="华文新魏"/>
              </a:rPr>
              <a:t>项目存在的文件，包</a:t>
            </a:r>
            <a:r>
              <a:rPr sz="3300" b="1" spc="-20" dirty="0">
                <a:latin typeface="华文新魏"/>
                <a:cs typeface="华文新魏"/>
              </a:rPr>
              <a:t>括</a:t>
            </a:r>
            <a:r>
              <a:rPr sz="3300" b="1" dirty="0">
                <a:latin typeface="华文新魏"/>
                <a:cs typeface="华文新魏"/>
              </a:rPr>
              <a:t>对</a:t>
            </a:r>
            <a:r>
              <a:rPr sz="3300" b="1" spc="-10" dirty="0">
                <a:solidFill>
                  <a:srgbClr val="FF0000"/>
                </a:solidFill>
                <a:latin typeface="华文新魏"/>
                <a:cs typeface="华文新魏"/>
              </a:rPr>
              <a:t>项目的确认、 </a:t>
            </a:r>
            <a:r>
              <a:rPr sz="3300" b="1" dirty="0">
                <a:solidFill>
                  <a:srgbClr val="FF0000"/>
                </a:solidFill>
                <a:latin typeface="华文新魏"/>
                <a:cs typeface="华文新魏"/>
              </a:rPr>
              <a:t>对项目</a:t>
            </a:r>
            <a:r>
              <a:rPr sz="3300" b="1" spc="-5" dirty="0">
                <a:solidFill>
                  <a:srgbClr val="FF0000"/>
                </a:solidFill>
                <a:latin typeface="华文新魏"/>
                <a:cs typeface="华文新魏"/>
              </a:rPr>
              <a:t>经理的授</a:t>
            </a:r>
            <a:r>
              <a:rPr sz="3300" b="1" spc="5" dirty="0">
                <a:solidFill>
                  <a:srgbClr val="FF0000"/>
                </a:solidFill>
                <a:latin typeface="华文新魏"/>
                <a:cs typeface="华文新魏"/>
              </a:rPr>
              <a:t>权</a:t>
            </a:r>
            <a:r>
              <a:rPr sz="3300" b="1" spc="-5" dirty="0">
                <a:latin typeface="华文新魏"/>
                <a:cs typeface="华文新魏"/>
              </a:rPr>
              <a:t>和项目目标的概述等。</a:t>
            </a:r>
            <a:endParaRPr sz="330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99228" y="6309066"/>
            <a:ext cx="756920" cy="2311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228600"/>
                </a:moveTo>
                <a:lnTo>
                  <a:pt x="8552688" y="228600"/>
                </a:lnTo>
                <a:lnTo>
                  <a:pt x="855268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9590" y="317449"/>
            <a:ext cx="373252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dirty="0">
                <a:latin typeface="华文隶书"/>
                <a:cs typeface="华文隶书"/>
              </a:rPr>
              <a:t>Sample </a:t>
            </a:r>
            <a:r>
              <a:rPr sz="3600" i="1" spc="-5" dirty="0">
                <a:latin typeface="华文隶书"/>
                <a:cs typeface="华文隶书"/>
              </a:rPr>
              <a:t>Project</a:t>
            </a:r>
            <a:r>
              <a:rPr sz="3600" i="1" spc="-40" dirty="0">
                <a:latin typeface="华文隶书"/>
                <a:cs typeface="华文隶书"/>
              </a:rPr>
              <a:t> </a:t>
            </a:r>
            <a:r>
              <a:rPr sz="3600" i="1" spc="-5" dirty="0">
                <a:latin typeface="华文隶书"/>
                <a:cs typeface="华文隶书"/>
              </a:rPr>
              <a:t>Charter</a:t>
            </a:r>
            <a:endParaRPr sz="3600">
              <a:latin typeface="华文隶书"/>
              <a:cs typeface="华文隶书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99228" y="6309066"/>
            <a:ext cx="756920" cy="2311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1911" y="1947558"/>
            <a:ext cx="8642985" cy="28321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1835"/>
              </a:lnSpc>
              <a:spcBef>
                <a:spcPts val="120"/>
              </a:spcBef>
            </a:pPr>
            <a:r>
              <a:rPr sz="1550" b="1" spc="5" dirty="0">
                <a:latin typeface="Times New Roman"/>
                <a:cs typeface="Times New Roman"/>
              </a:rPr>
              <a:t>Project Title: </a:t>
            </a:r>
            <a:r>
              <a:rPr sz="1550" dirty="0">
                <a:latin typeface="Times New Roman"/>
                <a:cs typeface="Times New Roman"/>
              </a:rPr>
              <a:t>Information </a:t>
            </a:r>
            <a:r>
              <a:rPr sz="1550" spc="5" dirty="0">
                <a:latin typeface="Times New Roman"/>
                <a:cs typeface="Times New Roman"/>
              </a:rPr>
              <a:t>Technology </a:t>
            </a:r>
            <a:r>
              <a:rPr sz="1550" dirty="0">
                <a:latin typeface="Times New Roman"/>
                <a:cs typeface="Times New Roman"/>
              </a:rPr>
              <a:t>(IT) </a:t>
            </a:r>
            <a:r>
              <a:rPr sz="1550" spc="10" dirty="0">
                <a:latin typeface="Times New Roman"/>
                <a:cs typeface="Times New Roman"/>
              </a:rPr>
              <a:t>Upgrade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Project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ts val="1795"/>
              </a:lnSpc>
              <a:tabLst>
                <a:tab pos="3150235" algn="l"/>
              </a:tabLst>
            </a:pPr>
            <a:r>
              <a:rPr sz="1550" b="1" spc="5" dirty="0">
                <a:latin typeface="Times New Roman"/>
                <a:cs typeface="Times New Roman"/>
              </a:rPr>
              <a:t>Project </a:t>
            </a:r>
            <a:r>
              <a:rPr sz="1550" b="1" dirty="0">
                <a:latin typeface="Times New Roman"/>
                <a:cs typeface="Times New Roman"/>
              </a:rPr>
              <a:t>Start </a:t>
            </a:r>
            <a:r>
              <a:rPr sz="1550" b="1" spc="5" dirty="0">
                <a:latin typeface="Times New Roman"/>
                <a:cs typeface="Times New Roman"/>
              </a:rPr>
              <a:t>Date:  </a:t>
            </a:r>
            <a:r>
              <a:rPr sz="1550" spc="5" dirty="0">
                <a:latin typeface="Times New Roman"/>
                <a:cs typeface="Times New Roman"/>
              </a:rPr>
              <a:t>March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4, </a:t>
            </a:r>
            <a:r>
              <a:rPr sz="1550" spc="10" dirty="0">
                <a:latin typeface="Times New Roman"/>
                <a:cs typeface="Times New Roman"/>
              </a:rPr>
              <a:t>2002	</a:t>
            </a:r>
            <a:r>
              <a:rPr sz="1550" b="1" spc="5" dirty="0">
                <a:latin typeface="Times New Roman"/>
                <a:cs typeface="Times New Roman"/>
              </a:rPr>
              <a:t>Projected Finish Date: </a:t>
            </a:r>
            <a:r>
              <a:rPr sz="1550" spc="5" dirty="0">
                <a:latin typeface="Times New Roman"/>
                <a:cs typeface="Times New Roman"/>
              </a:rPr>
              <a:t>December </a:t>
            </a:r>
            <a:r>
              <a:rPr sz="1550" dirty="0">
                <a:latin typeface="Times New Roman"/>
                <a:cs typeface="Times New Roman"/>
              </a:rPr>
              <a:t>4,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2002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ts val="1795"/>
              </a:lnSpc>
            </a:pPr>
            <a:r>
              <a:rPr sz="1550" b="1" spc="5" dirty="0">
                <a:latin typeface="Times New Roman"/>
                <a:cs typeface="Times New Roman"/>
              </a:rPr>
              <a:t>Project Manager: </a:t>
            </a:r>
            <a:r>
              <a:rPr sz="1550" spc="5" dirty="0">
                <a:latin typeface="Times New Roman"/>
                <a:cs typeface="Times New Roman"/>
              </a:rPr>
              <a:t>Kim </a:t>
            </a:r>
            <a:r>
              <a:rPr sz="1550" dirty="0">
                <a:latin typeface="Times New Roman"/>
                <a:cs typeface="Times New Roman"/>
              </a:rPr>
              <a:t>Nguyen, </a:t>
            </a:r>
            <a:r>
              <a:rPr sz="1550" spc="5" dirty="0">
                <a:latin typeface="Times New Roman"/>
                <a:cs typeface="Times New Roman"/>
              </a:rPr>
              <a:t>691-2784,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knguyen@abc.com</a:t>
            </a:r>
            <a:endParaRPr sz="1550">
              <a:latin typeface="Times New Roman"/>
              <a:cs typeface="Times New Roman"/>
            </a:endParaRPr>
          </a:p>
          <a:p>
            <a:pPr marL="12700" marR="5080">
              <a:lnSpc>
                <a:spcPct val="96600"/>
              </a:lnSpc>
              <a:spcBef>
                <a:spcPts val="35"/>
              </a:spcBef>
            </a:pPr>
            <a:r>
              <a:rPr sz="1550" b="1" spc="5" dirty="0">
                <a:latin typeface="Times New Roman"/>
                <a:cs typeface="Times New Roman"/>
              </a:rPr>
              <a:t>Project Objectives: </a:t>
            </a:r>
            <a:r>
              <a:rPr sz="1550" spc="5" dirty="0">
                <a:latin typeface="Times New Roman"/>
                <a:cs typeface="Times New Roman"/>
              </a:rPr>
              <a:t>Upgrade hardware </a:t>
            </a:r>
            <a:r>
              <a:rPr sz="1550" spc="15" dirty="0">
                <a:latin typeface="Times New Roman"/>
                <a:cs typeface="Times New Roman"/>
              </a:rPr>
              <a:t>and </a:t>
            </a:r>
            <a:r>
              <a:rPr sz="1550" dirty="0">
                <a:latin typeface="Times New Roman"/>
                <a:cs typeface="Times New Roman"/>
              </a:rPr>
              <a:t>software for </a:t>
            </a:r>
            <a:r>
              <a:rPr sz="1550" spc="10" dirty="0">
                <a:latin typeface="Times New Roman"/>
                <a:cs typeface="Times New Roman"/>
              </a:rPr>
              <a:t>all </a:t>
            </a:r>
            <a:r>
              <a:rPr sz="1550" dirty="0">
                <a:latin typeface="Times New Roman"/>
                <a:cs typeface="Times New Roman"/>
              </a:rPr>
              <a:t>employees </a:t>
            </a:r>
            <a:r>
              <a:rPr sz="1550" spc="5" dirty="0">
                <a:latin typeface="Times New Roman"/>
                <a:cs typeface="Times New Roman"/>
              </a:rPr>
              <a:t>(approximately </a:t>
            </a:r>
            <a:r>
              <a:rPr sz="1550" spc="10" dirty="0">
                <a:latin typeface="Times New Roman"/>
                <a:cs typeface="Times New Roman"/>
              </a:rPr>
              <a:t>2,000) </a:t>
            </a:r>
            <a:r>
              <a:rPr sz="1550" dirty="0">
                <a:latin typeface="Times New Roman"/>
                <a:cs typeface="Times New Roman"/>
              </a:rPr>
              <a:t>within </a:t>
            </a:r>
            <a:r>
              <a:rPr sz="1550" spc="10" dirty="0">
                <a:latin typeface="Times New Roman"/>
                <a:cs typeface="Times New Roman"/>
              </a:rPr>
              <a:t>9  </a:t>
            </a:r>
            <a:r>
              <a:rPr sz="1550" spc="5" dirty="0">
                <a:latin typeface="Times New Roman"/>
                <a:cs typeface="Times New Roman"/>
              </a:rPr>
              <a:t>months based on new corporate standards. </a:t>
            </a:r>
            <a:r>
              <a:rPr sz="1550" dirty="0">
                <a:latin typeface="Times New Roman"/>
                <a:cs typeface="Times New Roman"/>
              </a:rPr>
              <a:t>See </a:t>
            </a:r>
            <a:r>
              <a:rPr sz="1550" spc="5" dirty="0">
                <a:latin typeface="Times New Roman"/>
                <a:cs typeface="Times New Roman"/>
              </a:rPr>
              <a:t>attached </a:t>
            </a:r>
            <a:r>
              <a:rPr sz="1550" spc="-5" dirty="0">
                <a:latin typeface="Times New Roman"/>
                <a:cs typeface="Times New Roman"/>
              </a:rPr>
              <a:t>sheet </a:t>
            </a:r>
            <a:r>
              <a:rPr sz="1550" spc="5" dirty="0">
                <a:latin typeface="Times New Roman"/>
                <a:cs typeface="Times New Roman"/>
              </a:rPr>
              <a:t>describing </a:t>
            </a:r>
            <a:r>
              <a:rPr sz="1550" dirty="0">
                <a:latin typeface="Times New Roman"/>
                <a:cs typeface="Times New Roman"/>
              </a:rPr>
              <a:t>the </a:t>
            </a:r>
            <a:r>
              <a:rPr sz="1550" spc="5" dirty="0">
                <a:latin typeface="Times New Roman"/>
                <a:cs typeface="Times New Roman"/>
              </a:rPr>
              <a:t>new standards. </a:t>
            </a:r>
            <a:r>
              <a:rPr sz="1550" dirty="0">
                <a:latin typeface="Times New Roman"/>
                <a:cs typeface="Times New Roman"/>
              </a:rPr>
              <a:t>Upgrades </a:t>
            </a:r>
            <a:r>
              <a:rPr sz="1550" spc="5" dirty="0">
                <a:latin typeface="Times New Roman"/>
                <a:cs typeface="Times New Roman"/>
              </a:rPr>
              <a:t>may  </a:t>
            </a:r>
            <a:r>
              <a:rPr sz="1550" dirty="0">
                <a:latin typeface="Times New Roman"/>
                <a:cs typeface="Times New Roman"/>
              </a:rPr>
              <a:t>affect </a:t>
            </a:r>
            <a:r>
              <a:rPr sz="1550" spc="-5" dirty="0">
                <a:latin typeface="Times New Roman"/>
                <a:cs typeface="Times New Roman"/>
              </a:rPr>
              <a:t>servers </a:t>
            </a:r>
            <a:r>
              <a:rPr sz="1550" spc="15" dirty="0">
                <a:latin typeface="Times New Roman"/>
                <a:cs typeface="Times New Roman"/>
              </a:rPr>
              <a:t>and </a:t>
            </a:r>
            <a:r>
              <a:rPr sz="1550" spc="5" dirty="0">
                <a:latin typeface="Times New Roman"/>
                <a:cs typeface="Times New Roman"/>
              </a:rPr>
              <a:t>midrange </a:t>
            </a:r>
            <a:r>
              <a:rPr sz="1550" dirty="0">
                <a:latin typeface="Times New Roman"/>
                <a:cs typeface="Times New Roman"/>
              </a:rPr>
              <a:t>computers </a:t>
            </a:r>
            <a:r>
              <a:rPr sz="1550" spc="10" dirty="0">
                <a:latin typeface="Times New Roman"/>
                <a:cs typeface="Times New Roman"/>
              </a:rPr>
              <a:t>as </a:t>
            </a:r>
            <a:r>
              <a:rPr sz="1550" dirty="0">
                <a:latin typeface="Times New Roman"/>
                <a:cs typeface="Times New Roman"/>
              </a:rPr>
              <a:t>well </a:t>
            </a:r>
            <a:r>
              <a:rPr sz="1550" spc="10" dirty="0">
                <a:latin typeface="Times New Roman"/>
                <a:cs typeface="Times New Roman"/>
              </a:rPr>
              <a:t>as </a:t>
            </a:r>
            <a:r>
              <a:rPr sz="1550" dirty="0">
                <a:latin typeface="Times New Roman"/>
                <a:cs typeface="Times New Roman"/>
              </a:rPr>
              <a:t>network </a:t>
            </a:r>
            <a:r>
              <a:rPr sz="1550" spc="5" dirty="0">
                <a:latin typeface="Times New Roman"/>
                <a:cs typeface="Times New Roman"/>
              </a:rPr>
              <a:t>hardware and software. Budgeted </a:t>
            </a:r>
            <a:r>
              <a:rPr sz="1550" dirty="0">
                <a:latin typeface="Times New Roman"/>
                <a:cs typeface="Times New Roman"/>
              </a:rPr>
              <a:t>$1,000,000 for  hardware </a:t>
            </a:r>
            <a:r>
              <a:rPr sz="1550" spc="15" dirty="0">
                <a:latin typeface="Times New Roman"/>
                <a:cs typeface="Times New Roman"/>
              </a:rPr>
              <a:t>and </a:t>
            </a:r>
            <a:r>
              <a:rPr sz="1550" dirty="0">
                <a:latin typeface="Times New Roman"/>
                <a:cs typeface="Times New Roman"/>
              </a:rPr>
              <a:t>software </a:t>
            </a:r>
            <a:r>
              <a:rPr sz="1550" spc="5" dirty="0">
                <a:latin typeface="Times New Roman"/>
                <a:cs typeface="Times New Roman"/>
              </a:rPr>
              <a:t>costs and $500,000 </a:t>
            </a:r>
            <a:r>
              <a:rPr sz="1550" dirty="0">
                <a:latin typeface="Times New Roman"/>
                <a:cs typeface="Times New Roman"/>
              </a:rPr>
              <a:t>for </a:t>
            </a:r>
            <a:r>
              <a:rPr sz="1550" spc="5" dirty="0">
                <a:latin typeface="Times New Roman"/>
                <a:cs typeface="Times New Roman"/>
              </a:rPr>
              <a:t>labor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costs.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ts val="1810"/>
              </a:lnSpc>
            </a:pPr>
            <a:r>
              <a:rPr sz="1550" b="1" spc="5" dirty="0">
                <a:latin typeface="Times New Roman"/>
                <a:cs typeface="Times New Roman"/>
              </a:rPr>
              <a:t>Approach:</a:t>
            </a:r>
            <a:endParaRPr sz="1550">
              <a:latin typeface="Times New Roman"/>
              <a:cs typeface="Times New Roman"/>
            </a:endParaRPr>
          </a:p>
          <a:p>
            <a:pPr marL="236220" indent="-224154">
              <a:lnSpc>
                <a:spcPct val="100000"/>
              </a:lnSpc>
              <a:spcBef>
                <a:spcPts val="40"/>
              </a:spcBef>
              <a:buFont typeface="Symbol"/>
              <a:buChar char=""/>
              <a:tabLst>
                <a:tab pos="236220" algn="l"/>
                <a:tab pos="236854" algn="l"/>
              </a:tabLst>
            </a:pPr>
            <a:r>
              <a:rPr sz="1550" spc="10" dirty="0">
                <a:latin typeface="Times New Roman"/>
                <a:cs typeface="Times New Roman"/>
              </a:rPr>
              <a:t>Update </a:t>
            </a:r>
            <a:r>
              <a:rPr sz="1550" spc="5" dirty="0">
                <a:latin typeface="Times New Roman"/>
                <a:cs typeface="Times New Roman"/>
              </a:rPr>
              <a:t>the </a:t>
            </a:r>
            <a:r>
              <a:rPr sz="1550" spc="-10" dirty="0">
                <a:latin typeface="Times New Roman"/>
                <a:cs typeface="Times New Roman"/>
              </a:rPr>
              <a:t>IT </a:t>
            </a:r>
            <a:r>
              <a:rPr sz="1550" spc="5" dirty="0">
                <a:latin typeface="Times New Roman"/>
                <a:cs typeface="Times New Roman"/>
              </a:rPr>
              <a:t>inventory </a:t>
            </a:r>
            <a:r>
              <a:rPr sz="1550" spc="10" dirty="0">
                <a:latin typeface="Times New Roman"/>
                <a:cs typeface="Times New Roman"/>
              </a:rPr>
              <a:t>database to </a:t>
            </a:r>
            <a:r>
              <a:rPr sz="1550" spc="5" dirty="0">
                <a:latin typeface="Times New Roman"/>
                <a:cs typeface="Times New Roman"/>
              </a:rPr>
              <a:t>determine upgrade</a:t>
            </a:r>
            <a:r>
              <a:rPr sz="1550" spc="-15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needs</a:t>
            </a:r>
            <a:endParaRPr sz="1550">
              <a:latin typeface="Times New Roman"/>
              <a:cs typeface="Times New Roman"/>
            </a:endParaRPr>
          </a:p>
          <a:p>
            <a:pPr marL="236220" indent="-224154">
              <a:lnSpc>
                <a:spcPct val="100000"/>
              </a:lnSpc>
              <a:spcBef>
                <a:spcPts val="40"/>
              </a:spcBef>
              <a:buFont typeface="Symbol"/>
              <a:buChar char=""/>
              <a:tabLst>
                <a:tab pos="236220" algn="l"/>
                <a:tab pos="236854" algn="l"/>
              </a:tabLst>
            </a:pPr>
            <a:r>
              <a:rPr sz="1550" dirty="0">
                <a:latin typeface="Times New Roman"/>
                <a:cs typeface="Times New Roman"/>
              </a:rPr>
              <a:t>Develop detailed </a:t>
            </a:r>
            <a:r>
              <a:rPr sz="1550" spc="5" dirty="0">
                <a:latin typeface="Times New Roman"/>
                <a:cs typeface="Times New Roman"/>
              </a:rPr>
              <a:t>cost estimate </a:t>
            </a:r>
            <a:r>
              <a:rPr sz="1550" dirty="0">
                <a:latin typeface="Times New Roman"/>
                <a:cs typeface="Times New Roman"/>
              </a:rPr>
              <a:t>for project and report </a:t>
            </a:r>
            <a:r>
              <a:rPr sz="1550" spc="10" dirty="0">
                <a:latin typeface="Times New Roman"/>
                <a:cs typeface="Times New Roman"/>
              </a:rPr>
              <a:t>to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CIO</a:t>
            </a:r>
            <a:endParaRPr sz="1550">
              <a:latin typeface="Times New Roman"/>
              <a:cs typeface="Times New Roman"/>
            </a:endParaRPr>
          </a:p>
          <a:p>
            <a:pPr marL="236220" indent="-224154">
              <a:lnSpc>
                <a:spcPct val="100000"/>
              </a:lnSpc>
              <a:spcBef>
                <a:spcPts val="60"/>
              </a:spcBef>
              <a:buFont typeface="Symbol"/>
              <a:buChar char=""/>
              <a:tabLst>
                <a:tab pos="236220" algn="l"/>
                <a:tab pos="236854" algn="l"/>
              </a:tabLst>
            </a:pPr>
            <a:r>
              <a:rPr sz="1550" dirty="0">
                <a:latin typeface="Times New Roman"/>
                <a:cs typeface="Times New Roman"/>
              </a:rPr>
              <a:t>Issue </a:t>
            </a:r>
            <a:r>
              <a:rPr sz="1550" spc="10" dirty="0">
                <a:latin typeface="Times New Roman"/>
                <a:cs typeface="Times New Roman"/>
              </a:rPr>
              <a:t>a </a:t>
            </a:r>
            <a:r>
              <a:rPr sz="1550" dirty="0">
                <a:latin typeface="Times New Roman"/>
                <a:cs typeface="Times New Roman"/>
              </a:rPr>
              <a:t>request for quotes </a:t>
            </a:r>
            <a:r>
              <a:rPr sz="1550" spc="15" dirty="0">
                <a:latin typeface="Times New Roman"/>
                <a:cs typeface="Times New Roman"/>
              </a:rPr>
              <a:t>to </a:t>
            </a:r>
            <a:r>
              <a:rPr sz="1550" dirty="0">
                <a:latin typeface="Times New Roman"/>
                <a:cs typeface="Times New Roman"/>
              </a:rPr>
              <a:t>obtain </a:t>
            </a:r>
            <a:r>
              <a:rPr sz="1550" spc="5" dirty="0">
                <a:latin typeface="Times New Roman"/>
                <a:cs typeface="Times New Roman"/>
              </a:rPr>
              <a:t>hardware </a:t>
            </a:r>
            <a:r>
              <a:rPr sz="1550" spc="15" dirty="0">
                <a:latin typeface="Times New Roman"/>
                <a:cs typeface="Times New Roman"/>
              </a:rPr>
              <a:t>and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software</a:t>
            </a:r>
            <a:endParaRPr sz="1550">
              <a:latin typeface="Times New Roman"/>
              <a:cs typeface="Times New Roman"/>
            </a:endParaRPr>
          </a:p>
          <a:p>
            <a:pPr marL="236220" indent="-224154">
              <a:lnSpc>
                <a:spcPct val="100000"/>
              </a:lnSpc>
              <a:spcBef>
                <a:spcPts val="40"/>
              </a:spcBef>
              <a:buFont typeface="Symbol"/>
              <a:buChar char=""/>
              <a:tabLst>
                <a:tab pos="236220" algn="l"/>
                <a:tab pos="236854" algn="l"/>
              </a:tabLst>
            </a:pPr>
            <a:r>
              <a:rPr sz="1550" spc="5" dirty="0">
                <a:latin typeface="Times New Roman"/>
                <a:cs typeface="Times New Roman"/>
              </a:rPr>
              <a:t>Use internal staff </a:t>
            </a:r>
            <a:r>
              <a:rPr sz="1550" spc="10" dirty="0">
                <a:latin typeface="Times New Roman"/>
                <a:cs typeface="Times New Roman"/>
              </a:rPr>
              <a:t>as </a:t>
            </a:r>
            <a:r>
              <a:rPr sz="1550" dirty="0">
                <a:latin typeface="Times New Roman"/>
                <a:cs typeface="Times New Roman"/>
              </a:rPr>
              <a:t>much </a:t>
            </a:r>
            <a:r>
              <a:rPr sz="1550" spc="10" dirty="0">
                <a:latin typeface="Times New Roman"/>
                <a:cs typeface="Times New Roman"/>
              </a:rPr>
              <a:t>as </a:t>
            </a:r>
            <a:r>
              <a:rPr sz="1550" dirty="0">
                <a:latin typeface="Times New Roman"/>
                <a:cs typeface="Times New Roman"/>
              </a:rPr>
              <a:t>possible </a:t>
            </a:r>
            <a:r>
              <a:rPr sz="1550" spc="10" dirty="0">
                <a:latin typeface="Times New Roman"/>
                <a:cs typeface="Times New Roman"/>
              </a:rPr>
              <a:t>to </a:t>
            </a:r>
            <a:r>
              <a:rPr sz="1550" spc="15" dirty="0">
                <a:latin typeface="Times New Roman"/>
                <a:cs typeface="Times New Roman"/>
              </a:rPr>
              <a:t>do </a:t>
            </a:r>
            <a:r>
              <a:rPr sz="1550" spc="10" dirty="0">
                <a:latin typeface="Times New Roman"/>
                <a:cs typeface="Times New Roman"/>
              </a:rPr>
              <a:t>the </a:t>
            </a:r>
            <a:r>
              <a:rPr sz="1550" spc="5" dirty="0">
                <a:latin typeface="Times New Roman"/>
                <a:cs typeface="Times New Roman"/>
              </a:rPr>
              <a:t>planning, </a:t>
            </a:r>
            <a:r>
              <a:rPr sz="1550" dirty="0">
                <a:latin typeface="Times New Roman"/>
                <a:cs typeface="Times New Roman"/>
              </a:rPr>
              <a:t>analysis,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-1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installation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228600"/>
                </a:moveTo>
                <a:lnTo>
                  <a:pt x="8552688" y="228600"/>
                </a:lnTo>
                <a:lnTo>
                  <a:pt x="855268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8267" y="195783"/>
            <a:ext cx="63500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sng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w Cen MT"/>
                <a:cs typeface="Tw Cen MT"/>
                <a:hlinkClick r:id="rId2" action="ppaction://hlinksldjump"/>
              </a:rPr>
              <a:t>Sample </a:t>
            </a:r>
            <a:r>
              <a:rPr sz="3600" u="sng" spc="-1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w Cen MT"/>
                <a:cs typeface="Tw Cen MT"/>
                <a:hlinkClick r:id="rId2" action="ppaction://hlinksldjump"/>
              </a:rPr>
              <a:t>Project </a:t>
            </a:r>
            <a:r>
              <a:rPr sz="3600" u="sng" spc="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w Cen MT"/>
                <a:cs typeface="Tw Cen MT"/>
                <a:hlinkClick r:id="rId2" action="ppaction://hlinksldjump"/>
              </a:rPr>
              <a:t>Charter</a:t>
            </a:r>
            <a:r>
              <a:rPr sz="3600" u="sng" spc="-7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w Cen MT"/>
                <a:cs typeface="Tw Cen MT"/>
                <a:hlinkClick r:id="rId2" action="ppaction://hlinksldjump"/>
              </a:rPr>
              <a:t> </a:t>
            </a:r>
            <a:r>
              <a:rPr sz="3600" spc="-5" dirty="0">
                <a:latin typeface="Tw Cen MT"/>
                <a:cs typeface="Tw Cen MT"/>
              </a:rPr>
              <a:t>(continued)</a:t>
            </a:r>
            <a:endParaRPr sz="3600">
              <a:latin typeface="Tw Cen MT"/>
              <a:cs typeface="Tw Cen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99228" y="6309066"/>
            <a:ext cx="756920" cy="2311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40</a:t>
            </a:r>
            <a:endParaRPr sz="1200">
              <a:latin typeface="Arial Narrow"/>
              <a:cs typeface="Arial Narro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58332" y="2133610"/>
          <a:ext cx="5520690" cy="17375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0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0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9049">
                <a:tc>
                  <a:txBody>
                    <a:bodyPr/>
                    <a:lstStyle/>
                    <a:p>
                      <a:pPr marL="66675">
                        <a:lnSpc>
                          <a:spcPts val="1150"/>
                        </a:lnSpc>
                      </a:pPr>
                      <a:r>
                        <a:rPr sz="1050" b="1" spc="7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50"/>
                        </a:lnSpc>
                      </a:pPr>
                      <a:r>
                        <a:rPr sz="1050" b="1" spc="50" dirty="0">
                          <a:latin typeface="Times New Roman"/>
                          <a:cs typeface="Times New Roman"/>
                        </a:rPr>
                        <a:t>Role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50"/>
                        </a:lnSpc>
                      </a:pPr>
                      <a:r>
                        <a:rPr sz="1050" b="1" spc="50" dirty="0">
                          <a:latin typeface="Times New Roman"/>
                          <a:cs typeface="Times New Roman"/>
                        </a:rPr>
                        <a:t>Responsibility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58">
                <a:tc>
                  <a:txBody>
                    <a:bodyPr/>
                    <a:lstStyle/>
                    <a:p>
                      <a:pPr marL="66675">
                        <a:lnSpc>
                          <a:spcPts val="1170"/>
                        </a:lnSpc>
                      </a:pPr>
                      <a:r>
                        <a:rPr sz="1050" spc="55" dirty="0">
                          <a:latin typeface="Times New Roman"/>
                          <a:cs typeface="Times New Roman"/>
                        </a:rPr>
                        <a:t>Walter </a:t>
                      </a:r>
                      <a:r>
                        <a:rPr sz="1050" spc="50" dirty="0">
                          <a:latin typeface="Times New Roman"/>
                          <a:cs typeface="Times New Roman"/>
                        </a:rPr>
                        <a:t>Schmidt,</a:t>
                      </a:r>
                      <a:r>
                        <a:rPr sz="10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85" dirty="0">
                          <a:latin typeface="Times New Roman"/>
                          <a:cs typeface="Times New Roman"/>
                        </a:rPr>
                        <a:t>CEO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70"/>
                        </a:lnSpc>
                      </a:pPr>
                      <a:r>
                        <a:rPr sz="1050" spc="50" dirty="0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sz="10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55" dirty="0">
                          <a:latin typeface="Times New Roman"/>
                          <a:cs typeface="Times New Roman"/>
                        </a:rPr>
                        <a:t>Sponsor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70"/>
                        </a:lnSpc>
                      </a:pPr>
                      <a:r>
                        <a:rPr sz="1050" spc="55" dirty="0">
                          <a:latin typeface="Times New Roman"/>
                          <a:cs typeface="Times New Roman"/>
                        </a:rPr>
                        <a:t>Monitor</a:t>
                      </a:r>
                      <a:r>
                        <a:rPr sz="10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45" dirty="0">
                          <a:latin typeface="Times New Roman"/>
                          <a:cs typeface="Times New Roman"/>
                        </a:rPr>
                        <a:t>project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431">
                <a:tc>
                  <a:txBody>
                    <a:bodyPr/>
                    <a:lstStyle/>
                    <a:p>
                      <a:pPr marL="66675">
                        <a:lnSpc>
                          <a:spcPts val="1215"/>
                        </a:lnSpc>
                      </a:pPr>
                      <a:r>
                        <a:rPr sz="1050" spc="65" dirty="0">
                          <a:latin typeface="Times New Roman"/>
                          <a:cs typeface="Times New Roman"/>
                        </a:rPr>
                        <a:t>Mike</a:t>
                      </a:r>
                      <a:r>
                        <a:rPr sz="10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65" dirty="0">
                          <a:latin typeface="Times New Roman"/>
                          <a:cs typeface="Times New Roman"/>
                        </a:rPr>
                        <a:t>Zwack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215"/>
                        </a:lnSpc>
                      </a:pPr>
                      <a:r>
                        <a:rPr sz="1050" spc="65" dirty="0">
                          <a:latin typeface="Times New Roman"/>
                          <a:cs typeface="Times New Roman"/>
                        </a:rPr>
                        <a:t>CIO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289560">
                        <a:lnSpc>
                          <a:spcPts val="1220"/>
                        </a:lnSpc>
                        <a:spcBef>
                          <a:spcPts val="25"/>
                        </a:spcBef>
                      </a:pPr>
                      <a:r>
                        <a:rPr sz="1050" spc="55" dirty="0">
                          <a:latin typeface="Times New Roman"/>
                          <a:cs typeface="Times New Roman"/>
                        </a:rPr>
                        <a:t>Monitor </a:t>
                      </a:r>
                      <a:r>
                        <a:rPr sz="1050" spc="45" dirty="0">
                          <a:latin typeface="Times New Roman"/>
                          <a:cs typeface="Times New Roman"/>
                        </a:rPr>
                        <a:t>project,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50" dirty="0">
                          <a:latin typeface="Times New Roman"/>
                          <a:cs typeface="Times New Roman"/>
                        </a:rPr>
                        <a:t>provide  </a:t>
                      </a:r>
                      <a:r>
                        <a:rPr sz="1050" spc="40" dirty="0">
                          <a:latin typeface="Times New Roman"/>
                          <a:cs typeface="Times New Roman"/>
                        </a:rPr>
                        <a:t>staff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258">
                <a:tc>
                  <a:txBody>
                    <a:bodyPr/>
                    <a:lstStyle/>
                    <a:p>
                      <a:pPr marL="66675">
                        <a:lnSpc>
                          <a:spcPts val="1170"/>
                        </a:lnSpc>
                      </a:pPr>
                      <a:r>
                        <a:rPr sz="1050" spc="65" dirty="0">
                          <a:latin typeface="Times New Roman"/>
                          <a:cs typeface="Times New Roman"/>
                        </a:rPr>
                        <a:t>Kim</a:t>
                      </a:r>
                      <a:r>
                        <a:rPr sz="10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60" dirty="0">
                          <a:latin typeface="Times New Roman"/>
                          <a:cs typeface="Times New Roman"/>
                        </a:rPr>
                        <a:t>Nguyen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70"/>
                        </a:lnSpc>
                      </a:pPr>
                      <a:r>
                        <a:rPr sz="1050" spc="50" dirty="0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sz="10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60" dirty="0">
                          <a:latin typeface="Times New Roman"/>
                          <a:cs typeface="Times New Roman"/>
                        </a:rPr>
                        <a:t>Manager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70"/>
                        </a:lnSpc>
                      </a:pPr>
                      <a:r>
                        <a:rPr sz="1050" spc="55" dirty="0">
                          <a:latin typeface="Times New Roman"/>
                          <a:cs typeface="Times New Roman"/>
                        </a:rPr>
                        <a:t>Plan </a:t>
                      </a:r>
                      <a:r>
                        <a:rPr sz="1050" spc="60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050" spc="50" dirty="0">
                          <a:latin typeface="Times New Roman"/>
                          <a:cs typeface="Times New Roman"/>
                        </a:rPr>
                        <a:t>execute</a:t>
                      </a:r>
                      <a:r>
                        <a:rPr sz="10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45" dirty="0">
                          <a:latin typeface="Times New Roman"/>
                          <a:cs typeface="Times New Roman"/>
                        </a:rPr>
                        <a:t>project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9049">
                <a:tc>
                  <a:txBody>
                    <a:bodyPr/>
                    <a:lstStyle/>
                    <a:p>
                      <a:pPr marL="66675">
                        <a:lnSpc>
                          <a:spcPts val="1150"/>
                        </a:lnSpc>
                      </a:pPr>
                      <a:r>
                        <a:rPr sz="1050" spc="50" dirty="0">
                          <a:latin typeface="Times New Roman"/>
                          <a:cs typeface="Times New Roman"/>
                        </a:rPr>
                        <a:t>Jeff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60" dirty="0">
                          <a:latin typeface="Times New Roman"/>
                          <a:cs typeface="Times New Roman"/>
                        </a:rPr>
                        <a:t>Johnson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50"/>
                        </a:lnSpc>
                      </a:pPr>
                      <a:r>
                        <a:rPr sz="1050" spc="50" dirty="0">
                          <a:latin typeface="Times New Roman"/>
                          <a:cs typeface="Times New Roman"/>
                        </a:rPr>
                        <a:t>Director of </a:t>
                      </a:r>
                      <a:r>
                        <a:rPr sz="1050" spc="45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50" dirty="0">
                          <a:latin typeface="Times New Roman"/>
                          <a:cs typeface="Times New Roman"/>
                        </a:rPr>
                        <a:t>Operations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150"/>
                        </a:lnSpc>
                      </a:pPr>
                      <a:r>
                        <a:rPr sz="1050" spc="60" dirty="0">
                          <a:latin typeface="Times New Roman"/>
                          <a:cs typeface="Times New Roman"/>
                        </a:rPr>
                        <a:t>Mentor</a:t>
                      </a:r>
                      <a:r>
                        <a:rPr sz="10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65" dirty="0">
                          <a:latin typeface="Times New Roman"/>
                          <a:cs typeface="Times New Roman"/>
                        </a:rPr>
                        <a:t>Kim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998">
                <a:tc>
                  <a:txBody>
                    <a:bodyPr/>
                    <a:lstStyle/>
                    <a:p>
                      <a:pPr marL="66675">
                        <a:lnSpc>
                          <a:spcPts val="1215"/>
                        </a:lnSpc>
                      </a:pPr>
                      <a:r>
                        <a:rPr sz="1050" spc="70" dirty="0">
                          <a:latin typeface="Times New Roman"/>
                          <a:cs typeface="Times New Roman"/>
                        </a:rPr>
                        <a:t>Nancy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55" dirty="0">
                          <a:latin typeface="Times New Roman"/>
                          <a:cs typeface="Times New Roman"/>
                        </a:rPr>
                        <a:t>Reynolds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215"/>
                        </a:lnSpc>
                      </a:pPr>
                      <a:r>
                        <a:rPr sz="1050" spc="55" dirty="0">
                          <a:latin typeface="Times New Roman"/>
                          <a:cs typeface="Times New Roman"/>
                        </a:rPr>
                        <a:t>VP, </a:t>
                      </a:r>
                      <a:r>
                        <a:rPr sz="1050" spc="70" dirty="0">
                          <a:latin typeface="Times New Roman"/>
                          <a:cs typeface="Times New Roman"/>
                        </a:rPr>
                        <a:t>Human</a:t>
                      </a:r>
                      <a:r>
                        <a:rPr sz="10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55" dirty="0">
                          <a:latin typeface="Times New Roman"/>
                          <a:cs typeface="Times New Roman"/>
                        </a:rPr>
                        <a:t>Resources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210185">
                        <a:lnSpc>
                          <a:spcPts val="1220"/>
                        </a:lnSpc>
                        <a:spcBef>
                          <a:spcPts val="25"/>
                        </a:spcBef>
                      </a:pPr>
                      <a:r>
                        <a:rPr sz="1050" spc="50" dirty="0">
                          <a:latin typeface="Times New Roman"/>
                          <a:cs typeface="Times New Roman"/>
                        </a:rPr>
                        <a:t>Provide </a:t>
                      </a:r>
                      <a:r>
                        <a:rPr sz="1050" spc="40" dirty="0">
                          <a:latin typeface="Times New Roman"/>
                          <a:cs typeface="Times New Roman"/>
                        </a:rPr>
                        <a:t>staff, </a:t>
                      </a:r>
                      <a:r>
                        <a:rPr sz="1050" spc="45" dirty="0">
                          <a:latin typeface="Times New Roman"/>
                          <a:cs typeface="Times New Roman"/>
                        </a:rPr>
                        <a:t>issue</a:t>
                      </a:r>
                      <a:r>
                        <a:rPr sz="10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80" dirty="0">
                          <a:latin typeface="Times New Roman"/>
                          <a:cs typeface="Times New Roman"/>
                        </a:rPr>
                        <a:t>memo  </a:t>
                      </a:r>
                      <a:r>
                        <a:rPr sz="1050" spc="50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050" spc="40" dirty="0">
                          <a:latin typeface="Times New Roman"/>
                          <a:cs typeface="Times New Roman"/>
                        </a:rPr>
                        <a:t>all </a:t>
                      </a:r>
                      <a:r>
                        <a:rPr sz="1050" spc="55" dirty="0">
                          <a:latin typeface="Times New Roman"/>
                          <a:cs typeface="Times New Roman"/>
                        </a:rPr>
                        <a:t>employees about  </a:t>
                      </a:r>
                      <a:r>
                        <a:rPr sz="1050" spc="50" dirty="0">
                          <a:latin typeface="Times New Roman"/>
                          <a:cs typeface="Times New Roman"/>
                        </a:rPr>
                        <a:t>project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543">
                <a:tc>
                  <a:txBody>
                    <a:bodyPr/>
                    <a:lstStyle/>
                    <a:p>
                      <a:pPr marL="66675">
                        <a:lnSpc>
                          <a:spcPts val="1215"/>
                        </a:lnSpc>
                      </a:pPr>
                      <a:r>
                        <a:rPr sz="1050" spc="50" dirty="0">
                          <a:latin typeface="Times New Roman"/>
                          <a:cs typeface="Times New Roman"/>
                        </a:rPr>
                        <a:t>Steve</a:t>
                      </a:r>
                      <a:r>
                        <a:rPr sz="10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70" dirty="0">
                          <a:latin typeface="Times New Roman"/>
                          <a:cs typeface="Times New Roman"/>
                        </a:rPr>
                        <a:t>McCann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215"/>
                        </a:lnSpc>
                      </a:pPr>
                      <a:r>
                        <a:rPr sz="1050" spc="50" dirty="0">
                          <a:latin typeface="Times New Roman"/>
                          <a:cs typeface="Times New Roman"/>
                        </a:rPr>
                        <a:t>Director of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50" dirty="0">
                          <a:latin typeface="Times New Roman"/>
                          <a:cs typeface="Times New Roman"/>
                        </a:rPr>
                        <a:t>Purchasing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402590">
                        <a:lnSpc>
                          <a:spcPts val="1220"/>
                        </a:lnSpc>
                        <a:spcBef>
                          <a:spcPts val="30"/>
                        </a:spcBef>
                      </a:pPr>
                      <a:r>
                        <a:rPr sz="1050" spc="45" dirty="0">
                          <a:latin typeface="Times New Roman"/>
                          <a:cs typeface="Times New Roman"/>
                        </a:rPr>
                        <a:t>Assist </a:t>
                      </a:r>
                      <a:r>
                        <a:rPr sz="1050" spc="50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050" spc="55" dirty="0">
                          <a:latin typeface="Times New Roman"/>
                          <a:cs typeface="Times New Roman"/>
                        </a:rPr>
                        <a:t>purchasing  hardware </a:t>
                      </a:r>
                      <a:r>
                        <a:rPr sz="1050" spc="6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0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50" dirty="0">
                          <a:latin typeface="Times New Roman"/>
                          <a:cs typeface="Times New Roman"/>
                        </a:rPr>
                        <a:t>software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815447" y="3853572"/>
            <a:ext cx="5229225" cy="1114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b="1" spc="45" dirty="0">
                <a:latin typeface="Times New Roman"/>
                <a:cs typeface="Times New Roman"/>
              </a:rPr>
              <a:t>Sign-off: </a:t>
            </a:r>
            <a:r>
              <a:rPr sz="1050" spc="50" dirty="0">
                <a:latin typeface="Times New Roman"/>
                <a:cs typeface="Times New Roman"/>
              </a:rPr>
              <a:t>(Signatures of </a:t>
            </a:r>
            <a:r>
              <a:rPr sz="1050" spc="40" dirty="0">
                <a:latin typeface="Times New Roman"/>
                <a:cs typeface="Times New Roman"/>
              </a:rPr>
              <a:t>all </a:t>
            </a:r>
            <a:r>
              <a:rPr sz="1050" spc="55" dirty="0">
                <a:latin typeface="Times New Roman"/>
                <a:cs typeface="Times New Roman"/>
              </a:rPr>
              <a:t>above</a:t>
            </a:r>
            <a:r>
              <a:rPr sz="1050" spc="-55" dirty="0">
                <a:latin typeface="Times New Roman"/>
                <a:cs typeface="Times New Roman"/>
              </a:rPr>
              <a:t> </a:t>
            </a:r>
            <a:r>
              <a:rPr sz="1050" spc="50" dirty="0">
                <a:latin typeface="Times New Roman"/>
                <a:cs typeface="Times New Roman"/>
              </a:rPr>
              <a:t>stakeholders)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240"/>
              </a:lnSpc>
            </a:pPr>
            <a:r>
              <a:rPr sz="1050" b="1" spc="65" dirty="0">
                <a:latin typeface="Times New Roman"/>
                <a:cs typeface="Times New Roman"/>
              </a:rPr>
              <a:t>Comments: </a:t>
            </a:r>
            <a:r>
              <a:rPr sz="1050" spc="55" dirty="0">
                <a:latin typeface="Times New Roman"/>
                <a:cs typeface="Times New Roman"/>
              </a:rPr>
              <a:t>(Handwritten </a:t>
            </a:r>
            <a:r>
              <a:rPr sz="1050" spc="60" dirty="0">
                <a:latin typeface="Times New Roman"/>
                <a:cs typeface="Times New Roman"/>
              </a:rPr>
              <a:t>comments from </a:t>
            </a:r>
            <a:r>
              <a:rPr sz="1050" spc="55" dirty="0">
                <a:latin typeface="Times New Roman"/>
                <a:cs typeface="Times New Roman"/>
              </a:rPr>
              <a:t>above </a:t>
            </a:r>
            <a:r>
              <a:rPr sz="1050" spc="50" dirty="0">
                <a:latin typeface="Times New Roman"/>
                <a:cs typeface="Times New Roman"/>
              </a:rPr>
              <a:t>stakeholders, </a:t>
            </a:r>
            <a:r>
              <a:rPr sz="1050" spc="35" dirty="0">
                <a:latin typeface="Times New Roman"/>
                <a:cs typeface="Times New Roman"/>
              </a:rPr>
              <a:t>if</a:t>
            </a:r>
            <a:r>
              <a:rPr sz="1050" spc="140" dirty="0">
                <a:latin typeface="Times New Roman"/>
                <a:cs typeface="Times New Roman"/>
              </a:rPr>
              <a:t> </a:t>
            </a:r>
            <a:r>
              <a:rPr sz="1050" spc="45" dirty="0">
                <a:latin typeface="Times New Roman"/>
                <a:cs typeface="Times New Roman"/>
              </a:rPr>
              <a:t>applicable)</a:t>
            </a:r>
            <a:endParaRPr sz="1050">
              <a:latin typeface="Times New Roman"/>
              <a:cs typeface="Times New Roman"/>
            </a:endParaRPr>
          </a:p>
          <a:p>
            <a:pPr marL="12700" marR="5080">
              <a:lnSpc>
                <a:spcPct val="96500"/>
              </a:lnSpc>
              <a:spcBef>
                <a:spcPts val="25"/>
              </a:spcBef>
            </a:pPr>
            <a:r>
              <a:rPr sz="1050" spc="55" dirty="0">
                <a:latin typeface="Times New Roman"/>
                <a:cs typeface="Times New Roman"/>
              </a:rPr>
              <a:t>This </a:t>
            </a:r>
            <a:r>
              <a:rPr sz="1050" spc="45" dirty="0">
                <a:latin typeface="Times New Roman"/>
                <a:cs typeface="Times New Roman"/>
              </a:rPr>
              <a:t>project </a:t>
            </a:r>
            <a:r>
              <a:rPr sz="1050" spc="60" dirty="0">
                <a:latin typeface="Times New Roman"/>
                <a:cs typeface="Times New Roman"/>
              </a:rPr>
              <a:t>must be </a:t>
            </a:r>
            <a:r>
              <a:rPr sz="1050" spc="55" dirty="0">
                <a:latin typeface="Times New Roman"/>
                <a:cs typeface="Times New Roman"/>
              </a:rPr>
              <a:t>done </a:t>
            </a:r>
            <a:r>
              <a:rPr sz="1050" spc="50" dirty="0">
                <a:latin typeface="Times New Roman"/>
                <a:cs typeface="Times New Roman"/>
              </a:rPr>
              <a:t>within ten </a:t>
            </a:r>
            <a:r>
              <a:rPr sz="1050" spc="60" dirty="0">
                <a:latin typeface="Times New Roman"/>
                <a:cs typeface="Times New Roman"/>
              </a:rPr>
              <a:t>months </a:t>
            </a:r>
            <a:r>
              <a:rPr sz="1050" spc="45" dirty="0">
                <a:latin typeface="Times New Roman"/>
                <a:cs typeface="Times New Roman"/>
              </a:rPr>
              <a:t>at </a:t>
            </a:r>
            <a:r>
              <a:rPr sz="1050" spc="40" dirty="0">
                <a:latin typeface="Times New Roman"/>
                <a:cs typeface="Times New Roman"/>
              </a:rPr>
              <a:t>the </a:t>
            </a:r>
            <a:r>
              <a:rPr sz="1050" spc="50" dirty="0">
                <a:latin typeface="Times New Roman"/>
                <a:cs typeface="Times New Roman"/>
              </a:rPr>
              <a:t>absolute </a:t>
            </a:r>
            <a:r>
              <a:rPr sz="1050" spc="35" dirty="0">
                <a:latin typeface="Times New Roman"/>
                <a:cs typeface="Times New Roman"/>
              </a:rPr>
              <a:t>latest. </a:t>
            </a:r>
            <a:r>
              <a:rPr sz="1050" i="1" spc="55" dirty="0">
                <a:latin typeface="Times New Roman"/>
                <a:cs typeface="Times New Roman"/>
              </a:rPr>
              <a:t>Mike Zwack, </a:t>
            </a:r>
            <a:r>
              <a:rPr sz="1050" i="1" spc="70" dirty="0">
                <a:latin typeface="Times New Roman"/>
                <a:cs typeface="Times New Roman"/>
              </a:rPr>
              <a:t>CIO  </a:t>
            </a:r>
            <a:r>
              <a:rPr sz="1050" spc="80" dirty="0">
                <a:latin typeface="Times New Roman"/>
                <a:cs typeface="Times New Roman"/>
              </a:rPr>
              <a:t>We </a:t>
            </a:r>
            <a:r>
              <a:rPr sz="1050" spc="50" dirty="0">
                <a:latin typeface="Times New Roman"/>
                <a:cs typeface="Times New Roman"/>
              </a:rPr>
              <a:t>are </a:t>
            </a:r>
            <a:r>
              <a:rPr sz="1050" spc="55" dirty="0">
                <a:latin typeface="Times New Roman"/>
                <a:cs typeface="Times New Roman"/>
              </a:rPr>
              <a:t>assuming </a:t>
            </a:r>
            <a:r>
              <a:rPr sz="1050" spc="45" dirty="0">
                <a:latin typeface="Times New Roman"/>
                <a:cs typeface="Times New Roman"/>
              </a:rPr>
              <a:t>that </a:t>
            </a:r>
            <a:r>
              <a:rPr sz="1050" spc="50" dirty="0">
                <a:latin typeface="Times New Roman"/>
                <a:cs typeface="Times New Roman"/>
              </a:rPr>
              <a:t>adequate </a:t>
            </a:r>
            <a:r>
              <a:rPr sz="1050" spc="40" dirty="0">
                <a:latin typeface="Times New Roman"/>
                <a:cs typeface="Times New Roman"/>
              </a:rPr>
              <a:t>staff will </a:t>
            </a:r>
            <a:r>
              <a:rPr sz="1050" spc="60" dirty="0">
                <a:latin typeface="Times New Roman"/>
                <a:cs typeface="Times New Roman"/>
              </a:rPr>
              <a:t>be </a:t>
            </a:r>
            <a:r>
              <a:rPr sz="1050" spc="45" dirty="0">
                <a:latin typeface="Times New Roman"/>
                <a:cs typeface="Times New Roman"/>
              </a:rPr>
              <a:t>available </a:t>
            </a:r>
            <a:r>
              <a:rPr sz="1050" spc="60" dirty="0">
                <a:latin typeface="Times New Roman"/>
                <a:cs typeface="Times New Roman"/>
              </a:rPr>
              <a:t>and </a:t>
            </a:r>
            <a:r>
              <a:rPr sz="1050" spc="55" dirty="0">
                <a:latin typeface="Times New Roman"/>
                <a:cs typeface="Times New Roman"/>
              </a:rPr>
              <a:t>committed </a:t>
            </a:r>
            <a:r>
              <a:rPr sz="1050" spc="50" dirty="0">
                <a:latin typeface="Times New Roman"/>
                <a:cs typeface="Times New Roman"/>
              </a:rPr>
              <a:t>to supporting</a:t>
            </a:r>
            <a:r>
              <a:rPr sz="1050" spc="-170" dirty="0">
                <a:latin typeface="Times New Roman"/>
                <a:cs typeface="Times New Roman"/>
              </a:rPr>
              <a:t> </a:t>
            </a:r>
            <a:r>
              <a:rPr sz="1050" spc="45" dirty="0">
                <a:latin typeface="Times New Roman"/>
                <a:cs typeface="Times New Roman"/>
              </a:rPr>
              <a:t>this  project. </a:t>
            </a:r>
            <a:r>
              <a:rPr sz="1050" spc="65" dirty="0">
                <a:latin typeface="Times New Roman"/>
                <a:cs typeface="Times New Roman"/>
              </a:rPr>
              <a:t>Some </a:t>
            </a:r>
            <a:r>
              <a:rPr sz="1050" spc="60" dirty="0">
                <a:latin typeface="Times New Roman"/>
                <a:cs typeface="Times New Roman"/>
              </a:rPr>
              <a:t>work must be done </a:t>
            </a:r>
            <a:r>
              <a:rPr sz="1050" spc="40" dirty="0">
                <a:latin typeface="Times New Roman"/>
                <a:cs typeface="Times New Roman"/>
              </a:rPr>
              <a:t>after </a:t>
            </a:r>
            <a:r>
              <a:rPr sz="1050" spc="55" dirty="0">
                <a:latin typeface="Times New Roman"/>
                <a:cs typeface="Times New Roman"/>
              </a:rPr>
              <a:t>hours </a:t>
            </a:r>
            <a:r>
              <a:rPr sz="1050" spc="50" dirty="0">
                <a:latin typeface="Times New Roman"/>
                <a:cs typeface="Times New Roman"/>
              </a:rPr>
              <a:t>to avoid </a:t>
            </a:r>
            <a:r>
              <a:rPr sz="1050" spc="60" dirty="0">
                <a:latin typeface="Times New Roman"/>
                <a:cs typeface="Times New Roman"/>
              </a:rPr>
              <a:t>work </a:t>
            </a:r>
            <a:r>
              <a:rPr sz="1050" spc="45" dirty="0">
                <a:latin typeface="Times New Roman"/>
                <a:cs typeface="Times New Roman"/>
              </a:rPr>
              <a:t>disruptions, </a:t>
            </a:r>
            <a:r>
              <a:rPr sz="1050" spc="60" dirty="0">
                <a:latin typeface="Times New Roman"/>
                <a:cs typeface="Times New Roman"/>
              </a:rPr>
              <a:t>and </a:t>
            </a:r>
            <a:r>
              <a:rPr sz="1050" spc="55" dirty="0">
                <a:latin typeface="Times New Roman"/>
                <a:cs typeface="Times New Roman"/>
              </a:rPr>
              <a:t>overtime  </a:t>
            </a:r>
            <a:r>
              <a:rPr sz="1050" spc="45" dirty="0">
                <a:latin typeface="Times New Roman"/>
                <a:cs typeface="Times New Roman"/>
              </a:rPr>
              <a:t>will </a:t>
            </a:r>
            <a:r>
              <a:rPr sz="1050" spc="60" dirty="0">
                <a:latin typeface="Times New Roman"/>
                <a:cs typeface="Times New Roman"/>
              </a:rPr>
              <a:t>be </a:t>
            </a:r>
            <a:r>
              <a:rPr sz="1050" spc="50" dirty="0">
                <a:latin typeface="Times New Roman"/>
                <a:cs typeface="Times New Roman"/>
              </a:rPr>
              <a:t>provided. </a:t>
            </a:r>
            <a:r>
              <a:rPr sz="1050" i="1" spc="40" dirty="0">
                <a:latin typeface="Times New Roman"/>
                <a:cs typeface="Times New Roman"/>
              </a:rPr>
              <a:t>Jeff </a:t>
            </a:r>
            <a:r>
              <a:rPr sz="1050" i="1" spc="60" dirty="0">
                <a:latin typeface="Times New Roman"/>
                <a:cs typeface="Times New Roman"/>
              </a:rPr>
              <a:t>Johnson </a:t>
            </a:r>
            <a:r>
              <a:rPr sz="1050" i="1" spc="65" dirty="0">
                <a:latin typeface="Times New Roman"/>
                <a:cs typeface="Times New Roman"/>
              </a:rPr>
              <a:t>and </a:t>
            </a:r>
            <a:r>
              <a:rPr sz="1050" i="1" spc="70" dirty="0">
                <a:latin typeface="Times New Roman"/>
                <a:cs typeface="Times New Roman"/>
              </a:rPr>
              <a:t>Kim </a:t>
            </a:r>
            <a:r>
              <a:rPr sz="1050" i="1" spc="60" dirty="0">
                <a:latin typeface="Times New Roman"/>
                <a:cs typeface="Times New Roman"/>
              </a:rPr>
              <a:t>Nguyen, </a:t>
            </a:r>
            <a:r>
              <a:rPr sz="1050" i="1" spc="55" dirty="0">
                <a:latin typeface="Times New Roman"/>
                <a:cs typeface="Times New Roman"/>
              </a:rPr>
              <a:t>Information Technology</a:t>
            </a:r>
            <a:r>
              <a:rPr sz="1050" i="1" spc="95" dirty="0">
                <a:latin typeface="Times New Roman"/>
                <a:cs typeface="Times New Roman"/>
              </a:rPr>
              <a:t> </a:t>
            </a:r>
            <a:r>
              <a:rPr sz="1050" i="1" spc="55" dirty="0">
                <a:latin typeface="Times New Roman"/>
                <a:cs typeface="Times New Roman"/>
              </a:rPr>
              <a:t>Department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5527" y="1564386"/>
            <a:ext cx="29317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Times New Roman"/>
                <a:cs typeface="Times New Roman"/>
              </a:rPr>
              <a:t>Roles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Responsibilities: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160731"/>
            <a:ext cx="73202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1" u="sng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华文隶书"/>
                <a:cs typeface="华文隶书"/>
              </a:rPr>
              <a:t>&lt;</a:t>
            </a:r>
            <a:r>
              <a:rPr u="sng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</a:rPr>
              <a:t>医疗信息商务平</a:t>
            </a:r>
            <a:r>
              <a:rPr u="sng" spc="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</a:rPr>
              <a:t>台</a:t>
            </a:r>
            <a:r>
              <a:rPr i="1" u="sng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华文隶书"/>
                <a:cs typeface="华文隶书"/>
              </a:rPr>
              <a:t>&gt;</a:t>
            </a:r>
            <a:r>
              <a:rPr u="sng" spc="-1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</a:rPr>
              <a:t>项</a:t>
            </a:r>
            <a:r>
              <a:rPr u="sng" spc="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</a:rPr>
              <a:t>目章程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9921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20011" y="1557526"/>
            <a:ext cx="6047232" cy="52821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228600"/>
                </a:moveTo>
                <a:lnTo>
                  <a:pt x="8552688" y="228600"/>
                </a:lnTo>
                <a:lnTo>
                  <a:pt x="855268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敏捷项目章程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88967" y="6318515"/>
            <a:ext cx="754380" cy="2311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5477" y="1600961"/>
            <a:ext cx="8371840" cy="3268979"/>
          </a:xfrm>
          <a:prstGeom prst="rect">
            <a:avLst/>
          </a:prstGeom>
          <a:ln w="38100">
            <a:solidFill>
              <a:srgbClr val="006FC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35"/>
              </a:spcBef>
            </a:pPr>
            <a:r>
              <a:rPr sz="2900" dirty="0">
                <a:latin typeface="华文新魏"/>
                <a:cs typeface="华文新魏"/>
              </a:rPr>
              <a:t>基本要素:</a:t>
            </a:r>
            <a:endParaRPr sz="29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411480" algn="l"/>
              </a:tabLst>
            </a:pPr>
            <a:r>
              <a:rPr sz="2900" dirty="0">
                <a:latin typeface="华文新魏"/>
                <a:cs typeface="华文新魏"/>
              </a:rPr>
              <a:t>项</a:t>
            </a:r>
            <a:r>
              <a:rPr sz="2900" spc="-5" dirty="0">
                <a:latin typeface="华文新魏"/>
                <a:cs typeface="华文新魏"/>
              </a:rPr>
              <a:t>目</a:t>
            </a:r>
            <a:r>
              <a:rPr sz="2900" dirty="0">
                <a:latin typeface="华文新魏"/>
                <a:cs typeface="华文新魏"/>
              </a:rPr>
              <a:t>目标</a:t>
            </a:r>
            <a:endParaRPr sz="29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411480" algn="l"/>
              </a:tabLst>
            </a:pPr>
            <a:r>
              <a:rPr sz="2900" spc="5" dirty="0">
                <a:latin typeface="华文新魏"/>
                <a:cs typeface="华文新魏"/>
              </a:rPr>
              <a:t>发</a:t>
            </a:r>
            <a:r>
              <a:rPr sz="2900" dirty="0">
                <a:latin typeface="华文新魏"/>
                <a:cs typeface="华文新魏"/>
              </a:rPr>
              <a:t>布标准</a:t>
            </a:r>
            <a:endParaRPr sz="29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411480" algn="l"/>
              </a:tabLst>
            </a:pPr>
            <a:r>
              <a:rPr sz="2900" dirty="0">
                <a:latin typeface="华文新魏"/>
                <a:cs typeface="华文新魏"/>
              </a:rPr>
              <a:t>预期的工作流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42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228600"/>
                </a:moveTo>
                <a:lnTo>
                  <a:pt x="8552688" y="228600"/>
                </a:lnTo>
                <a:lnTo>
                  <a:pt x="855268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4065" y="305257"/>
            <a:ext cx="39408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项目经理的职责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45336" y="2493264"/>
            <a:ext cx="6022975" cy="3107690"/>
          </a:xfrm>
          <a:custGeom>
            <a:avLst/>
            <a:gdLst/>
            <a:ahLst/>
            <a:cxnLst/>
            <a:rect l="l" t="t" r="r" b="b"/>
            <a:pathLst>
              <a:path w="6022975" h="3107690">
                <a:moveTo>
                  <a:pt x="4469130" y="0"/>
                </a:moveTo>
                <a:lnTo>
                  <a:pt x="4469130" y="776859"/>
                </a:lnTo>
                <a:lnTo>
                  <a:pt x="0" y="776859"/>
                </a:lnTo>
                <a:lnTo>
                  <a:pt x="0" y="2330577"/>
                </a:lnTo>
                <a:lnTo>
                  <a:pt x="4469130" y="2330577"/>
                </a:lnTo>
                <a:lnTo>
                  <a:pt x="4469130" y="3107436"/>
                </a:lnTo>
                <a:lnTo>
                  <a:pt x="6022847" y="1553718"/>
                </a:lnTo>
                <a:lnTo>
                  <a:pt x="4469130" y="0"/>
                </a:lnTo>
                <a:close/>
              </a:path>
            </a:pathLst>
          </a:custGeom>
          <a:solidFill>
            <a:srgbClr val="E0E1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0317" y="3426714"/>
            <a:ext cx="2226945" cy="1242060"/>
          </a:xfrm>
          <a:custGeom>
            <a:avLst/>
            <a:gdLst/>
            <a:ahLst/>
            <a:cxnLst/>
            <a:rect l="l" t="t" r="r" b="b"/>
            <a:pathLst>
              <a:path w="2226945" h="1242060">
                <a:moveTo>
                  <a:pt x="2019554" y="0"/>
                </a:moveTo>
                <a:lnTo>
                  <a:pt x="207009" y="0"/>
                </a:lnTo>
                <a:lnTo>
                  <a:pt x="159545" y="5468"/>
                </a:lnTo>
                <a:lnTo>
                  <a:pt x="115973" y="21045"/>
                </a:lnTo>
                <a:lnTo>
                  <a:pt x="77537" y="45486"/>
                </a:lnTo>
                <a:lnTo>
                  <a:pt x="45478" y="77547"/>
                </a:lnTo>
                <a:lnTo>
                  <a:pt x="21041" y="115984"/>
                </a:lnTo>
                <a:lnTo>
                  <a:pt x="5467" y="159553"/>
                </a:lnTo>
                <a:lnTo>
                  <a:pt x="0" y="207010"/>
                </a:lnTo>
                <a:lnTo>
                  <a:pt x="0" y="1035050"/>
                </a:lnTo>
                <a:lnTo>
                  <a:pt x="5467" y="1082506"/>
                </a:lnTo>
                <a:lnTo>
                  <a:pt x="21041" y="1126075"/>
                </a:lnTo>
                <a:lnTo>
                  <a:pt x="45478" y="1164512"/>
                </a:lnTo>
                <a:lnTo>
                  <a:pt x="77537" y="1196573"/>
                </a:lnTo>
                <a:lnTo>
                  <a:pt x="115973" y="1221014"/>
                </a:lnTo>
                <a:lnTo>
                  <a:pt x="159545" y="1236591"/>
                </a:lnTo>
                <a:lnTo>
                  <a:pt x="207009" y="1242060"/>
                </a:lnTo>
                <a:lnTo>
                  <a:pt x="2019554" y="1242060"/>
                </a:lnTo>
                <a:lnTo>
                  <a:pt x="2067010" y="1236591"/>
                </a:lnTo>
                <a:lnTo>
                  <a:pt x="2110579" y="1221014"/>
                </a:lnTo>
                <a:lnTo>
                  <a:pt x="2149016" y="1196573"/>
                </a:lnTo>
                <a:lnTo>
                  <a:pt x="2181077" y="1164512"/>
                </a:lnTo>
                <a:lnTo>
                  <a:pt x="2205518" y="1126075"/>
                </a:lnTo>
                <a:lnTo>
                  <a:pt x="2221095" y="1082506"/>
                </a:lnTo>
                <a:lnTo>
                  <a:pt x="2226564" y="1035050"/>
                </a:lnTo>
                <a:lnTo>
                  <a:pt x="2226564" y="207010"/>
                </a:lnTo>
                <a:lnTo>
                  <a:pt x="2221095" y="159553"/>
                </a:lnTo>
                <a:lnTo>
                  <a:pt x="2205518" y="115984"/>
                </a:lnTo>
                <a:lnTo>
                  <a:pt x="2181077" y="77547"/>
                </a:lnTo>
                <a:lnTo>
                  <a:pt x="2149016" y="45486"/>
                </a:lnTo>
                <a:lnTo>
                  <a:pt x="2110579" y="21045"/>
                </a:lnTo>
                <a:lnTo>
                  <a:pt x="2067010" y="5468"/>
                </a:lnTo>
                <a:lnTo>
                  <a:pt x="2019554" y="0"/>
                </a:lnTo>
                <a:close/>
              </a:path>
            </a:pathLst>
          </a:custGeom>
          <a:solidFill>
            <a:srgbClr val="A4AB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0317" y="3426714"/>
            <a:ext cx="2226945" cy="1242060"/>
          </a:xfrm>
          <a:custGeom>
            <a:avLst/>
            <a:gdLst/>
            <a:ahLst/>
            <a:cxnLst/>
            <a:rect l="l" t="t" r="r" b="b"/>
            <a:pathLst>
              <a:path w="2226945" h="1242060">
                <a:moveTo>
                  <a:pt x="0" y="207010"/>
                </a:moveTo>
                <a:lnTo>
                  <a:pt x="5467" y="159553"/>
                </a:lnTo>
                <a:lnTo>
                  <a:pt x="21041" y="115984"/>
                </a:lnTo>
                <a:lnTo>
                  <a:pt x="45478" y="77547"/>
                </a:lnTo>
                <a:lnTo>
                  <a:pt x="77537" y="45486"/>
                </a:lnTo>
                <a:lnTo>
                  <a:pt x="115973" y="21045"/>
                </a:lnTo>
                <a:lnTo>
                  <a:pt x="159545" y="5468"/>
                </a:lnTo>
                <a:lnTo>
                  <a:pt x="207009" y="0"/>
                </a:lnTo>
                <a:lnTo>
                  <a:pt x="2019554" y="0"/>
                </a:lnTo>
                <a:lnTo>
                  <a:pt x="2067010" y="5468"/>
                </a:lnTo>
                <a:lnTo>
                  <a:pt x="2110579" y="21045"/>
                </a:lnTo>
                <a:lnTo>
                  <a:pt x="2149016" y="45486"/>
                </a:lnTo>
                <a:lnTo>
                  <a:pt x="2181077" y="77547"/>
                </a:lnTo>
                <a:lnTo>
                  <a:pt x="2205518" y="115984"/>
                </a:lnTo>
                <a:lnTo>
                  <a:pt x="2221095" y="159553"/>
                </a:lnTo>
                <a:lnTo>
                  <a:pt x="2226564" y="207010"/>
                </a:lnTo>
                <a:lnTo>
                  <a:pt x="2226564" y="1035050"/>
                </a:lnTo>
                <a:lnTo>
                  <a:pt x="2221095" y="1082506"/>
                </a:lnTo>
                <a:lnTo>
                  <a:pt x="2205518" y="1126075"/>
                </a:lnTo>
                <a:lnTo>
                  <a:pt x="2181077" y="1164512"/>
                </a:lnTo>
                <a:lnTo>
                  <a:pt x="2149016" y="1196573"/>
                </a:lnTo>
                <a:lnTo>
                  <a:pt x="2110579" y="1221014"/>
                </a:lnTo>
                <a:lnTo>
                  <a:pt x="2067010" y="1236591"/>
                </a:lnTo>
                <a:lnTo>
                  <a:pt x="2019554" y="1242060"/>
                </a:lnTo>
                <a:lnTo>
                  <a:pt x="207009" y="1242060"/>
                </a:lnTo>
                <a:lnTo>
                  <a:pt x="159545" y="1236591"/>
                </a:lnTo>
                <a:lnTo>
                  <a:pt x="115973" y="1221014"/>
                </a:lnTo>
                <a:lnTo>
                  <a:pt x="77537" y="1196573"/>
                </a:lnTo>
                <a:lnTo>
                  <a:pt x="45478" y="1164512"/>
                </a:lnTo>
                <a:lnTo>
                  <a:pt x="21041" y="1126075"/>
                </a:lnTo>
                <a:lnTo>
                  <a:pt x="5467" y="1082506"/>
                </a:lnTo>
                <a:lnTo>
                  <a:pt x="0" y="1035050"/>
                </a:lnTo>
                <a:lnTo>
                  <a:pt x="0" y="207010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04366" y="3687317"/>
            <a:ext cx="1854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华文新魏"/>
                <a:cs typeface="华文新魏"/>
              </a:rPr>
              <a:t>开发计划</a:t>
            </a:r>
            <a:endParaRPr sz="3600">
              <a:latin typeface="华文新魏"/>
              <a:cs typeface="华文新魏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45002" y="3426714"/>
            <a:ext cx="2226945" cy="1242060"/>
          </a:xfrm>
          <a:custGeom>
            <a:avLst/>
            <a:gdLst/>
            <a:ahLst/>
            <a:cxnLst/>
            <a:rect l="l" t="t" r="r" b="b"/>
            <a:pathLst>
              <a:path w="2226945" h="1242060">
                <a:moveTo>
                  <a:pt x="2019553" y="0"/>
                </a:moveTo>
                <a:lnTo>
                  <a:pt x="207010" y="0"/>
                </a:lnTo>
                <a:lnTo>
                  <a:pt x="159553" y="5468"/>
                </a:lnTo>
                <a:lnTo>
                  <a:pt x="115984" y="21045"/>
                </a:lnTo>
                <a:lnTo>
                  <a:pt x="77547" y="45486"/>
                </a:lnTo>
                <a:lnTo>
                  <a:pt x="45486" y="77547"/>
                </a:lnTo>
                <a:lnTo>
                  <a:pt x="21045" y="115984"/>
                </a:lnTo>
                <a:lnTo>
                  <a:pt x="5468" y="159553"/>
                </a:lnTo>
                <a:lnTo>
                  <a:pt x="0" y="207010"/>
                </a:lnTo>
                <a:lnTo>
                  <a:pt x="0" y="1035050"/>
                </a:lnTo>
                <a:lnTo>
                  <a:pt x="5468" y="1082506"/>
                </a:lnTo>
                <a:lnTo>
                  <a:pt x="21045" y="1126075"/>
                </a:lnTo>
                <a:lnTo>
                  <a:pt x="45486" y="1164512"/>
                </a:lnTo>
                <a:lnTo>
                  <a:pt x="77547" y="1196573"/>
                </a:lnTo>
                <a:lnTo>
                  <a:pt x="115984" y="1221014"/>
                </a:lnTo>
                <a:lnTo>
                  <a:pt x="159553" y="1236591"/>
                </a:lnTo>
                <a:lnTo>
                  <a:pt x="207010" y="1242060"/>
                </a:lnTo>
                <a:lnTo>
                  <a:pt x="2019553" y="1242060"/>
                </a:lnTo>
                <a:lnTo>
                  <a:pt x="2067010" y="1236591"/>
                </a:lnTo>
                <a:lnTo>
                  <a:pt x="2110579" y="1221014"/>
                </a:lnTo>
                <a:lnTo>
                  <a:pt x="2149016" y="1196573"/>
                </a:lnTo>
                <a:lnTo>
                  <a:pt x="2181077" y="1164512"/>
                </a:lnTo>
                <a:lnTo>
                  <a:pt x="2205518" y="1126075"/>
                </a:lnTo>
                <a:lnTo>
                  <a:pt x="2221095" y="1082506"/>
                </a:lnTo>
                <a:lnTo>
                  <a:pt x="2226564" y="1035050"/>
                </a:lnTo>
                <a:lnTo>
                  <a:pt x="2226564" y="207010"/>
                </a:lnTo>
                <a:lnTo>
                  <a:pt x="2221095" y="159553"/>
                </a:lnTo>
                <a:lnTo>
                  <a:pt x="2205518" y="115984"/>
                </a:lnTo>
                <a:lnTo>
                  <a:pt x="2181077" y="77547"/>
                </a:lnTo>
                <a:lnTo>
                  <a:pt x="2149016" y="45486"/>
                </a:lnTo>
                <a:lnTo>
                  <a:pt x="2110579" y="21045"/>
                </a:lnTo>
                <a:lnTo>
                  <a:pt x="2067010" y="5468"/>
                </a:lnTo>
                <a:lnTo>
                  <a:pt x="2019553" y="0"/>
                </a:lnTo>
                <a:close/>
              </a:path>
            </a:pathLst>
          </a:custGeom>
          <a:solidFill>
            <a:srgbClr val="C2BA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45002" y="3426714"/>
            <a:ext cx="2226945" cy="1242060"/>
          </a:xfrm>
          <a:custGeom>
            <a:avLst/>
            <a:gdLst/>
            <a:ahLst/>
            <a:cxnLst/>
            <a:rect l="l" t="t" r="r" b="b"/>
            <a:pathLst>
              <a:path w="2226945" h="1242060">
                <a:moveTo>
                  <a:pt x="0" y="207010"/>
                </a:moveTo>
                <a:lnTo>
                  <a:pt x="5468" y="159553"/>
                </a:lnTo>
                <a:lnTo>
                  <a:pt x="21045" y="115984"/>
                </a:lnTo>
                <a:lnTo>
                  <a:pt x="45486" y="77547"/>
                </a:lnTo>
                <a:lnTo>
                  <a:pt x="77547" y="45486"/>
                </a:lnTo>
                <a:lnTo>
                  <a:pt x="115984" y="21045"/>
                </a:lnTo>
                <a:lnTo>
                  <a:pt x="159553" y="5468"/>
                </a:lnTo>
                <a:lnTo>
                  <a:pt x="207010" y="0"/>
                </a:lnTo>
                <a:lnTo>
                  <a:pt x="2019553" y="0"/>
                </a:lnTo>
                <a:lnTo>
                  <a:pt x="2067010" y="5468"/>
                </a:lnTo>
                <a:lnTo>
                  <a:pt x="2110579" y="21045"/>
                </a:lnTo>
                <a:lnTo>
                  <a:pt x="2149016" y="45486"/>
                </a:lnTo>
                <a:lnTo>
                  <a:pt x="2181077" y="77547"/>
                </a:lnTo>
                <a:lnTo>
                  <a:pt x="2205518" y="115984"/>
                </a:lnTo>
                <a:lnTo>
                  <a:pt x="2221095" y="159553"/>
                </a:lnTo>
                <a:lnTo>
                  <a:pt x="2226564" y="207010"/>
                </a:lnTo>
                <a:lnTo>
                  <a:pt x="2226564" y="1035050"/>
                </a:lnTo>
                <a:lnTo>
                  <a:pt x="2221095" y="1082506"/>
                </a:lnTo>
                <a:lnTo>
                  <a:pt x="2205518" y="1126075"/>
                </a:lnTo>
                <a:lnTo>
                  <a:pt x="2181077" y="1164512"/>
                </a:lnTo>
                <a:lnTo>
                  <a:pt x="2149016" y="1196573"/>
                </a:lnTo>
                <a:lnTo>
                  <a:pt x="2110579" y="1221014"/>
                </a:lnTo>
                <a:lnTo>
                  <a:pt x="2067010" y="1236591"/>
                </a:lnTo>
                <a:lnTo>
                  <a:pt x="2019553" y="1242060"/>
                </a:lnTo>
                <a:lnTo>
                  <a:pt x="207010" y="1242060"/>
                </a:lnTo>
                <a:lnTo>
                  <a:pt x="159553" y="1236591"/>
                </a:lnTo>
                <a:lnTo>
                  <a:pt x="115984" y="1221014"/>
                </a:lnTo>
                <a:lnTo>
                  <a:pt x="77547" y="1196573"/>
                </a:lnTo>
                <a:lnTo>
                  <a:pt x="45486" y="1164512"/>
                </a:lnTo>
                <a:lnTo>
                  <a:pt x="21045" y="1126075"/>
                </a:lnTo>
                <a:lnTo>
                  <a:pt x="5468" y="1082506"/>
                </a:lnTo>
                <a:lnTo>
                  <a:pt x="0" y="1035050"/>
                </a:lnTo>
                <a:lnTo>
                  <a:pt x="0" y="207010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629405" y="3687317"/>
            <a:ext cx="1854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华文新魏"/>
                <a:cs typeface="华文新魏"/>
              </a:rPr>
              <a:t>组织实施</a:t>
            </a:r>
            <a:endParaRPr sz="3600">
              <a:latin typeface="华文新魏"/>
              <a:cs typeface="华文新魏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869685" y="3426714"/>
            <a:ext cx="2226945" cy="1242060"/>
          </a:xfrm>
          <a:custGeom>
            <a:avLst/>
            <a:gdLst/>
            <a:ahLst/>
            <a:cxnLst/>
            <a:rect l="l" t="t" r="r" b="b"/>
            <a:pathLst>
              <a:path w="2226945" h="1242060">
                <a:moveTo>
                  <a:pt x="2019554" y="0"/>
                </a:moveTo>
                <a:lnTo>
                  <a:pt x="207010" y="0"/>
                </a:lnTo>
                <a:lnTo>
                  <a:pt x="159553" y="5468"/>
                </a:lnTo>
                <a:lnTo>
                  <a:pt x="115984" y="21045"/>
                </a:lnTo>
                <a:lnTo>
                  <a:pt x="77547" y="45486"/>
                </a:lnTo>
                <a:lnTo>
                  <a:pt x="45486" y="77547"/>
                </a:lnTo>
                <a:lnTo>
                  <a:pt x="21045" y="115984"/>
                </a:lnTo>
                <a:lnTo>
                  <a:pt x="5468" y="159553"/>
                </a:lnTo>
                <a:lnTo>
                  <a:pt x="0" y="207010"/>
                </a:lnTo>
                <a:lnTo>
                  <a:pt x="0" y="1035050"/>
                </a:lnTo>
                <a:lnTo>
                  <a:pt x="5468" y="1082506"/>
                </a:lnTo>
                <a:lnTo>
                  <a:pt x="21045" y="1126075"/>
                </a:lnTo>
                <a:lnTo>
                  <a:pt x="45486" y="1164512"/>
                </a:lnTo>
                <a:lnTo>
                  <a:pt x="77547" y="1196573"/>
                </a:lnTo>
                <a:lnTo>
                  <a:pt x="115984" y="1221014"/>
                </a:lnTo>
                <a:lnTo>
                  <a:pt x="159553" y="1236591"/>
                </a:lnTo>
                <a:lnTo>
                  <a:pt x="207010" y="1242060"/>
                </a:lnTo>
                <a:lnTo>
                  <a:pt x="2019554" y="1242060"/>
                </a:lnTo>
                <a:lnTo>
                  <a:pt x="2067010" y="1236591"/>
                </a:lnTo>
                <a:lnTo>
                  <a:pt x="2110579" y="1221014"/>
                </a:lnTo>
                <a:lnTo>
                  <a:pt x="2149016" y="1196573"/>
                </a:lnTo>
                <a:lnTo>
                  <a:pt x="2181077" y="1164512"/>
                </a:lnTo>
                <a:lnTo>
                  <a:pt x="2205518" y="1126075"/>
                </a:lnTo>
                <a:lnTo>
                  <a:pt x="2221095" y="1082506"/>
                </a:lnTo>
                <a:lnTo>
                  <a:pt x="2226564" y="1035050"/>
                </a:lnTo>
                <a:lnTo>
                  <a:pt x="2226564" y="207010"/>
                </a:lnTo>
                <a:lnTo>
                  <a:pt x="2221095" y="159553"/>
                </a:lnTo>
                <a:lnTo>
                  <a:pt x="2205518" y="115984"/>
                </a:lnTo>
                <a:lnTo>
                  <a:pt x="2181077" y="77547"/>
                </a:lnTo>
                <a:lnTo>
                  <a:pt x="2149016" y="45486"/>
                </a:lnTo>
                <a:lnTo>
                  <a:pt x="2110579" y="21045"/>
                </a:lnTo>
                <a:lnTo>
                  <a:pt x="2067010" y="5468"/>
                </a:lnTo>
                <a:lnTo>
                  <a:pt x="2019554" y="0"/>
                </a:lnTo>
                <a:close/>
              </a:path>
            </a:pathLst>
          </a:custGeom>
          <a:solidFill>
            <a:srgbClr val="D7B1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69685" y="3426714"/>
            <a:ext cx="2226945" cy="1242060"/>
          </a:xfrm>
          <a:custGeom>
            <a:avLst/>
            <a:gdLst/>
            <a:ahLst/>
            <a:cxnLst/>
            <a:rect l="l" t="t" r="r" b="b"/>
            <a:pathLst>
              <a:path w="2226945" h="1242060">
                <a:moveTo>
                  <a:pt x="0" y="207010"/>
                </a:moveTo>
                <a:lnTo>
                  <a:pt x="5468" y="159553"/>
                </a:lnTo>
                <a:lnTo>
                  <a:pt x="21045" y="115984"/>
                </a:lnTo>
                <a:lnTo>
                  <a:pt x="45486" y="77547"/>
                </a:lnTo>
                <a:lnTo>
                  <a:pt x="77547" y="45486"/>
                </a:lnTo>
                <a:lnTo>
                  <a:pt x="115984" y="21045"/>
                </a:lnTo>
                <a:lnTo>
                  <a:pt x="159553" y="5468"/>
                </a:lnTo>
                <a:lnTo>
                  <a:pt x="207010" y="0"/>
                </a:lnTo>
                <a:lnTo>
                  <a:pt x="2019554" y="0"/>
                </a:lnTo>
                <a:lnTo>
                  <a:pt x="2067010" y="5468"/>
                </a:lnTo>
                <a:lnTo>
                  <a:pt x="2110579" y="21045"/>
                </a:lnTo>
                <a:lnTo>
                  <a:pt x="2149016" y="45486"/>
                </a:lnTo>
                <a:lnTo>
                  <a:pt x="2181077" y="77547"/>
                </a:lnTo>
                <a:lnTo>
                  <a:pt x="2205518" y="115984"/>
                </a:lnTo>
                <a:lnTo>
                  <a:pt x="2221095" y="159553"/>
                </a:lnTo>
                <a:lnTo>
                  <a:pt x="2226564" y="207010"/>
                </a:lnTo>
                <a:lnTo>
                  <a:pt x="2226564" y="1035050"/>
                </a:lnTo>
                <a:lnTo>
                  <a:pt x="2221095" y="1082506"/>
                </a:lnTo>
                <a:lnTo>
                  <a:pt x="2205518" y="1126075"/>
                </a:lnTo>
                <a:lnTo>
                  <a:pt x="2181077" y="1164512"/>
                </a:lnTo>
                <a:lnTo>
                  <a:pt x="2149016" y="1196573"/>
                </a:lnTo>
                <a:lnTo>
                  <a:pt x="2110579" y="1221014"/>
                </a:lnTo>
                <a:lnTo>
                  <a:pt x="2067010" y="1236591"/>
                </a:lnTo>
                <a:lnTo>
                  <a:pt x="2019554" y="1242060"/>
                </a:lnTo>
                <a:lnTo>
                  <a:pt x="207010" y="1242060"/>
                </a:lnTo>
                <a:lnTo>
                  <a:pt x="159553" y="1236591"/>
                </a:lnTo>
                <a:lnTo>
                  <a:pt x="115984" y="1221014"/>
                </a:lnTo>
                <a:lnTo>
                  <a:pt x="77547" y="1196573"/>
                </a:lnTo>
                <a:lnTo>
                  <a:pt x="45486" y="1164512"/>
                </a:lnTo>
                <a:lnTo>
                  <a:pt x="21045" y="1126075"/>
                </a:lnTo>
                <a:lnTo>
                  <a:pt x="5468" y="1082506"/>
                </a:lnTo>
                <a:lnTo>
                  <a:pt x="0" y="1035050"/>
                </a:lnTo>
                <a:lnTo>
                  <a:pt x="0" y="207010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054597" y="3687317"/>
            <a:ext cx="1854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华文新魏"/>
                <a:cs typeface="华文新魏"/>
              </a:rPr>
              <a:t>项目控制</a:t>
            </a:r>
            <a:endParaRPr sz="3600">
              <a:latin typeface="华文新魏"/>
              <a:cs typeface="华文新魏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88967" y="6318515"/>
            <a:ext cx="754380" cy="2311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5186" y="1887473"/>
            <a:ext cx="8425180" cy="645160"/>
          </a:xfrm>
          <a:prstGeom prst="rect">
            <a:avLst/>
          </a:prstGeom>
          <a:ln w="28955">
            <a:solidFill>
              <a:srgbClr val="006FC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65"/>
              </a:spcBef>
            </a:pPr>
            <a:r>
              <a:rPr sz="3600" dirty="0">
                <a:latin typeface="华文新魏"/>
                <a:cs typeface="华文新魏"/>
              </a:rPr>
              <a:t>项目经理是领导团队实现项目目标的个人</a:t>
            </a:r>
            <a:endParaRPr sz="3600">
              <a:latin typeface="华文新魏"/>
              <a:cs typeface="华文新魏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0258" y="5596890"/>
            <a:ext cx="8425180" cy="646430"/>
          </a:xfrm>
          <a:prstGeom prst="rect">
            <a:avLst/>
          </a:prstGeom>
          <a:ln w="28955">
            <a:solidFill>
              <a:srgbClr val="006FC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75"/>
              </a:spcBef>
            </a:pPr>
            <a:r>
              <a:rPr sz="3600" spc="-5" dirty="0">
                <a:latin typeface="华文新魏"/>
                <a:cs typeface="华文新魏"/>
              </a:rPr>
              <a:t>敏捷强</a:t>
            </a:r>
            <a:r>
              <a:rPr sz="3600" dirty="0">
                <a:latin typeface="华文新魏"/>
                <a:cs typeface="华文新魏"/>
              </a:rPr>
              <a:t>调:</a:t>
            </a:r>
            <a:r>
              <a:rPr sz="3600" spc="-5" dirty="0">
                <a:latin typeface="华文新魏"/>
                <a:cs typeface="华文新魏"/>
              </a:rPr>
              <a:t> </a:t>
            </a:r>
            <a:r>
              <a:rPr sz="3600" dirty="0">
                <a:latin typeface="华文新魏"/>
                <a:cs typeface="华文新魏"/>
              </a:rPr>
              <a:t>仆人式领导方式</a:t>
            </a:r>
            <a:endParaRPr sz="36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39408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项目经理的能力</a:t>
            </a:r>
          </a:p>
        </p:txBody>
      </p:sp>
      <p:sp>
        <p:nvSpPr>
          <p:cNvPr id="3" name="object 3"/>
          <p:cNvSpPr/>
          <p:nvPr/>
        </p:nvSpPr>
        <p:spPr>
          <a:xfrm>
            <a:off x="1909177" y="1581637"/>
            <a:ext cx="5199717" cy="43043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44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88967" y="6318515"/>
            <a:ext cx="754380" cy="2311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228600"/>
                </a:moveTo>
                <a:lnTo>
                  <a:pt x="8552688" y="228600"/>
                </a:lnTo>
                <a:lnTo>
                  <a:pt x="855268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6639" y="136982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本章要点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76373" y="2195900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6711" y="1914144"/>
            <a:ext cx="504825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654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3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6373" y="3154877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86711" y="2872739"/>
            <a:ext cx="481965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76373" y="4115505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86711" y="3834384"/>
            <a:ext cx="504825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591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3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76373" y="5076573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86711" y="4794503"/>
            <a:ext cx="483234" cy="86741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  <a:spcBef>
                <a:spcPts val="5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91155" y="1914144"/>
            <a:ext cx="4628515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6379" rIns="0" bIns="0" rtlCol="0">
            <a:spAutoFit/>
          </a:bodyPr>
          <a:lstStyle/>
          <a:p>
            <a:pPr marR="229870" algn="ctr">
              <a:lnSpc>
                <a:spcPct val="100000"/>
              </a:lnSpc>
              <a:spcBef>
                <a:spcPts val="1939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项目立项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68295" y="2872739"/>
            <a:ext cx="4630420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6379" rIns="0" bIns="0" rtlCol="0">
            <a:spAutoFit/>
          </a:bodyPr>
          <a:lstStyle/>
          <a:p>
            <a:pPr marL="26034" algn="ctr">
              <a:lnSpc>
                <a:spcPct val="100000"/>
              </a:lnSpc>
              <a:spcBef>
                <a:spcPts val="1939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项目招投标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91155" y="3834384"/>
            <a:ext cx="4628515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745" rIns="0" bIns="0" rtlCol="0">
            <a:spAutoFit/>
          </a:bodyPr>
          <a:lstStyle/>
          <a:p>
            <a:pPr marR="160655" algn="ctr">
              <a:lnSpc>
                <a:spcPct val="100000"/>
              </a:lnSpc>
              <a:spcBef>
                <a:spcPts val="19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项目章程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69820" y="4794503"/>
            <a:ext cx="4630420" cy="86741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33680" rIns="0" bIns="0" rtlCol="0">
            <a:spAutoFit/>
          </a:bodyPr>
          <a:lstStyle/>
          <a:p>
            <a:pPr marR="46990" algn="ctr">
              <a:lnSpc>
                <a:spcPct val="100000"/>
              </a:lnSpc>
              <a:spcBef>
                <a:spcPts val="184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案例总结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742" y="346963"/>
            <a:ext cx="61785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立项：</a:t>
            </a:r>
            <a:r>
              <a:rPr sz="4400" dirty="0">
                <a:solidFill>
                  <a:srgbClr val="F7B615"/>
                </a:solidFill>
                <a:latin typeface="华文隶书"/>
                <a:cs typeface="华文隶书"/>
              </a:rPr>
              <a:t>医疗信息商务平台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93214" y="998727"/>
            <a:ext cx="4472940" cy="0"/>
          </a:xfrm>
          <a:custGeom>
            <a:avLst/>
            <a:gdLst/>
            <a:ahLst/>
            <a:cxnLst/>
            <a:rect l="l" t="t" r="r" b="b"/>
            <a:pathLst>
              <a:path w="4472940">
                <a:moveTo>
                  <a:pt x="0" y="0"/>
                </a:moveTo>
                <a:lnTo>
                  <a:pt x="4472940" y="0"/>
                </a:lnTo>
              </a:path>
            </a:pathLst>
          </a:custGeom>
          <a:ln w="10667">
            <a:solidFill>
              <a:srgbClr val="F7B6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43327" y="1600200"/>
            <a:ext cx="4657344" cy="47823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160731"/>
            <a:ext cx="28219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甲方招标书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7179" y="1773935"/>
            <a:ext cx="8156448" cy="43220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33494" y="6380390"/>
            <a:ext cx="756920" cy="2311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3266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乙方项目分析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15567" y="1350263"/>
            <a:ext cx="7127747" cy="47518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52900" y="1629155"/>
            <a:ext cx="2502407" cy="12664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333494" y="6380390"/>
            <a:ext cx="756920" cy="2311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3266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乙方标书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4611" y="1680972"/>
            <a:ext cx="8711184" cy="44119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33494" y="6380390"/>
            <a:ext cx="756920" cy="2311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3266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双方合同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4611" y="1557527"/>
            <a:ext cx="8639556" cy="46116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33494" y="6380390"/>
            <a:ext cx="756920" cy="2311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160731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项目章程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9921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91639" y="1578863"/>
            <a:ext cx="5138927" cy="50185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228600"/>
                </a:moveTo>
                <a:lnTo>
                  <a:pt x="8552688" y="228600"/>
                </a:lnTo>
                <a:lnTo>
                  <a:pt x="855268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7217" y="305257"/>
            <a:ext cx="11442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小结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33494" y="6081471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0258" y="2134361"/>
            <a:ext cx="7772400" cy="208788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410845" indent="-320675">
              <a:lnSpc>
                <a:spcPct val="100000"/>
              </a:lnSpc>
              <a:spcBef>
                <a:spcPts val="110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411480" algn="l"/>
              </a:tabLst>
            </a:pPr>
            <a:r>
              <a:rPr sz="3200" dirty="0">
                <a:latin typeface="华文新魏"/>
                <a:cs typeface="华文新魏"/>
              </a:rPr>
              <a:t>立项</a:t>
            </a:r>
            <a:endParaRPr sz="32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411480" algn="l"/>
              </a:tabLst>
            </a:pPr>
            <a:r>
              <a:rPr sz="3200" dirty="0">
                <a:latin typeface="华文新魏"/>
                <a:cs typeface="华文新魏"/>
              </a:rPr>
              <a:t>招投标</a:t>
            </a:r>
            <a:endParaRPr sz="32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411480" algn="l"/>
              </a:tabLst>
            </a:pPr>
            <a:r>
              <a:rPr sz="3200" dirty="0">
                <a:latin typeface="华文新魏"/>
                <a:cs typeface="华文新魏"/>
              </a:rPr>
              <a:t>项目章程</a:t>
            </a:r>
            <a:endParaRPr sz="32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Words>744</Words>
  <Application>Microsoft Macintosh PowerPoint</Application>
  <PresentationFormat>全屏显示(4:3)</PresentationFormat>
  <Paragraphs>304</Paragraphs>
  <Slides>52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5" baseType="lpstr">
      <vt:lpstr>华文仿宋</vt:lpstr>
      <vt:lpstr>华文琥珀</vt:lpstr>
      <vt:lpstr>华文隶书</vt:lpstr>
      <vt:lpstr>华文新魏</vt:lpstr>
      <vt:lpstr>宋体</vt:lpstr>
      <vt:lpstr>微软雅黑</vt:lpstr>
      <vt:lpstr>Arial Narrow</vt:lpstr>
      <vt:lpstr>Calibri</vt:lpstr>
      <vt:lpstr>Symbol</vt:lpstr>
      <vt:lpstr>Times New Roman</vt:lpstr>
      <vt:lpstr>Tw Cen MT</vt:lpstr>
      <vt:lpstr>Wingdings</vt:lpstr>
      <vt:lpstr>Office Theme</vt:lpstr>
      <vt:lpstr>软件项目管理过程</vt:lpstr>
      <vt:lpstr>项目初始</vt:lpstr>
      <vt:lpstr>PowerPoint 演示文稿</vt:lpstr>
      <vt:lpstr>本章要点</vt:lpstr>
      <vt:lpstr>项目启动背景</vt:lpstr>
      <vt:lpstr>软件项目启动</vt:lpstr>
      <vt:lpstr>立项流程</vt:lpstr>
      <vt:lpstr>项目立项</vt:lpstr>
      <vt:lpstr>PowerPoint 演示文稿</vt:lpstr>
      <vt:lpstr>PowerPoint 演示文稿</vt:lpstr>
      <vt:lpstr>Make or Buy 决策实例</vt:lpstr>
      <vt:lpstr>Make or Buy 决策实例（续）</vt:lpstr>
      <vt:lpstr>本章要点</vt:lpstr>
      <vt:lpstr>项目招投标过程</vt:lpstr>
      <vt:lpstr>案例项目（MED）</vt:lpstr>
      <vt:lpstr>PowerPoint 演示文稿</vt:lpstr>
      <vt:lpstr> 甲方招标书</vt:lpstr>
      <vt:lpstr> 甲方招标书</vt:lpstr>
      <vt:lpstr> 甲方招标书</vt:lpstr>
      <vt:lpstr> 甲方招标书</vt:lpstr>
      <vt:lpstr> 甲方招标书</vt:lpstr>
      <vt:lpstr>PowerPoint 演示文稿</vt:lpstr>
      <vt:lpstr>PowerPoint 演示文稿</vt:lpstr>
      <vt:lpstr>PowerPoint 演示文稿</vt:lpstr>
      <vt:lpstr>PowerPoint 演示文稿</vt:lpstr>
      <vt:lpstr>乙方项目分析</vt:lpstr>
      <vt:lpstr>PowerPoint 演示文稿</vt:lpstr>
      <vt:lpstr>PowerPoint 演示文稿</vt:lpstr>
      <vt:lpstr>PowerPoint 演示文稿</vt:lpstr>
      <vt:lpstr>标书-基于SOA的技术架构</vt:lpstr>
      <vt:lpstr>标书-功能模块</vt:lpstr>
      <vt:lpstr>PowerPoint 演示文稿</vt:lpstr>
      <vt:lpstr>标书-安全保证方案</vt:lpstr>
      <vt:lpstr>标书-项目管理</vt:lpstr>
      <vt:lpstr>招标与竞标</vt:lpstr>
      <vt:lpstr> 双方签署合同</vt:lpstr>
      <vt:lpstr>本章要点</vt:lpstr>
      <vt:lpstr>项目章程(Project Charter)</vt:lpstr>
      <vt:lpstr>Sample Project Charter</vt:lpstr>
      <vt:lpstr>Sample Project Charter (continued)</vt:lpstr>
      <vt:lpstr>&lt;医疗信息商务平台&gt;项目章程</vt:lpstr>
      <vt:lpstr>敏捷项目章程</vt:lpstr>
      <vt:lpstr>项目经理的职责</vt:lpstr>
      <vt:lpstr>项目经理的能力</vt:lpstr>
      <vt:lpstr>本章要点</vt:lpstr>
      <vt:lpstr>PowerPoint 演示文稿</vt:lpstr>
      <vt:lpstr>甲方招标书</vt:lpstr>
      <vt:lpstr>乙方项目分析</vt:lpstr>
      <vt:lpstr>乙方标书</vt:lpstr>
      <vt:lpstr>双方合同</vt:lpstr>
      <vt:lpstr>项目章程</vt:lpstr>
      <vt:lpstr>小结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软件开发项目管理</dc:title>
  <dc:subject>第二章</dc:subject>
  <dc:creator>Casey han</dc:creator>
  <cp:lastModifiedBy>Microsoft Office 用户</cp:lastModifiedBy>
  <cp:revision>1</cp:revision>
  <dcterms:created xsi:type="dcterms:W3CDTF">2020-06-12T01:10:20Z</dcterms:created>
  <dcterms:modified xsi:type="dcterms:W3CDTF">2024-10-15T03:40:27Z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2019-03-10T00:00:00Z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2020-06-12T00:00:00Z</vt:filetime>
  </property>
</Properties>
</file>