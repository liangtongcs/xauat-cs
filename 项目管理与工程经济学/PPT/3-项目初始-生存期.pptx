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820" r:id="rId5"/>
    <p:sldId id="766" r:id="rId6"/>
    <p:sldId id="767" r:id="rId7"/>
    <p:sldId id="770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16"/>
    <p:restoredTop sz="94357"/>
  </p:normalViewPr>
  <p:slideViewPr>
    <p:cSldViewPr>
      <p:cViewPr varScale="1">
        <p:scale>
          <a:sx n="104" d="100"/>
          <a:sy n="104" d="100"/>
        </p:scale>
        <p:origin x="1568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45665" y="315213"/>
            <a:ext cx="5852668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775F54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1">
                <a:solidFill>
                  <a:srgbClr val="775F54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w Cen MT"/>
                <a:cs typeface="Tw Cen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1">
                <a:solidFill>
                  <a:srgbClr val="775F54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1">
                <a:solidFill>
                  <a:srgbClr val="775F54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28016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0" y="228600"/>
                </a:moveTo>
                <a:lnTo>
                  <a:pt x="533400" y="228600"/>
                </a:lnTo>
                <a:lnTo>
                  <a:pt x="5334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0" y="228600"/>
                </a:moveTo>
                <a:lnTo>
                  <a:pt x="8552688" y="228600"/>
                </a:lnTo>
                <a:lnTo>
                  <a:pt x="855268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9590" y="-28244"/>
            <a:ext cx="7517130" cy="1367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1">
                <a:solidFill>
                  <a:srgbClr val="775F54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8772" y="1607947"/>
            <a:ext cx="8166455" cy="1822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w Cen MT"/>
                <a:cs typeface="Tw Cen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1.jpg"/><Relationship Id="rId4" Type="http://schemas.openxmlformats.org/officeDocument/2006/relationships/image" Target="../media/image50.jp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305257"/>
            <a:ext cx="39408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i="0" dirty="0">
                <a:latin typeface="华文隶书"/>
                <a:cs typeface="华文隶书"/>
              </a:rPr>
              <a:t>路线图：生存期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22277" y="2535920"/>
            <a:ext cx="7525094" cy="28108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42338" y="331165"/>
            <a:ext cx="49682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32810" algn="l"/>
              </a:tabLst>
            </a:pPr>
            <a:r>
              <a:rPr sz="4000" spc="-10" dirty="0">
                <a:solidFill>
                  <a:srgbClr val="775F54"/>
                </a:solidFill>
                <a:latin typeface="华文琥珀"/>
                <a:cs typeface="华文琥珀"/>
              </a:rPr>
              <a:t>软件项目管</a:t>
            </a:r>
            <a:r>
              <a:rPr sz="4000" spc="-5" dirty="0">
                <a:solidFill>
                  <a:srgbClr val="775F54"/>
                </a:solidFill>
                <a:latin typeface="华文琥珀"/>
                <a:cs typeface="华文琥珀"/>
              </a:rPr>
              <a:t>理</a:t>
            </a:r>
            <a:r>
              <a:rPr sz="4000" dirty="0">
                <a:solidFill>
                  <a:srgbClr val="775F54"/>
                </a:solidFill>
                <a:latin typeface="华文琥珀"/>
                <a:cs typeface="华文琥珀"/>
              </a:rPr>
              <a:t>	</a:t>
            </a:r>
            <a:r>
              <a:rPr sz="4000" spc="-10" dirty="0">
                <a:solidFill>
                  <a:srgbClr val="775F54"/>
                </a:solidFill>
                <a:latin typeface="华文琥珀"/>
                <a:cs typeface="华文琥珀"/>
              </a:rPr>
              <a:t>第一篇</a:t>
            </a:r>
            <a:endParaRPr sz="4000">
              <a:latin typeface="华文琥珀"/>
              <a:cs typeface="华文琥珀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49804" y="2590876"/>
            <a:ext cx="4297045" cy="2397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6000" b="1" spc="-5" dirty="0">
                <a:solidFill>
                  <a:srgbClr val="FF66FF"/>
                </a:solidFill>
                <a:latin typeface="华文隶书"/>
                <a:cs typeface="华文隶书"/>
              </a:rPr>
              <a:t>第 3 章</a:t>
            </a:r>
            <a:endParaRPr sz="6000">
              <a:latin typeface="华文隶书"/>
              <a:cs typeface="华文隶书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9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4800" b="1" spc="-5" dirty="0">
                <a:solidFill>
                  <a:srgbClr val="FF66FF"/>
                </a:solidFill>
                <a:latin typeface="华文隶书"/>
                <a:cs typeface="华文隶书"/>
              </a:rPr>
              <a:t>软</a:t>
            </a:r>
            <a:r>
              <a:rPr sz="4800" b="1" spc="5" dirty="0">
                <a:solidFill>
                  <a:srgbClr val="FF66FF"/>
                </a:solidFill>
                <a:latin typeface="华文隶书"/>
                <a:cs typeface="华文隶书"/>
              </a:rPr>
              <a:t>件</a:t>
            </a:r>
            <a:r>
              <a:rPr sz="4800" b="1" spc="-5" dirty="0">
                <a:solidFill>
                  <a:srgbClr val="FF66FF"/>
                </a:solidFill>
                <a:latin typeface="华文隶书"/>
                <a:cs typeface="华文隶书"/>
              </a:rPr>
              <a:t>生存期模型</a:t>
            </a:r>
            <a:endParaRPr sz="4800">
              <a:latin typeface="华文隶书"/>
              <a:cs typeface="华文隶书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0"/>
            <a:ext cx="2263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i="0" dirty="0">
                <a:latin typeface="华文隶书"/>
                <a:cs typeface="华文隶书"/>
              </a:rPr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5416" y="1932561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29967" y="1868423"/>
            <a:ext cx="506095" cy="4318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79375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625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85416" y="2557088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29967" y="2491739"/>
            <a:ext cx="483234" cy="43307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0645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6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86939" y="3229553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29967" y="3163823"/>
            <a:ext cx="483234" cy="43307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0645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6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86939" y="5053146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六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29967" y="4988052"/>
            <a:ext cx="485140" cy="4318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0010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63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六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35935" y="1868423"/>
            <a:ext cx="4628515" cy="4318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18110" rIns="0" bIns="0" rtlCol="0">
            <a:spAutoFit/>
          </a:bodyPr>
          <a:lstStyle/>
          <a:p>
            <a:pPr marL="1202055">
              <a:lnSpc>
                <a:spcPct val="100000"/>
              </a:lnSpc>
              <a:spcBef>
                <a:spcPts val="930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生存期模型选择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13076" y="2491739"/>
            <a:ext cx="4628515" cy="43307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57785" rIns="0" bIns="0" rtlCol="0">
            <a:spAutoFit/>
          </a:bodyPr>
          <a:lstStyle/>
          <a:p>
            <a:pPr marR="445770" algn="ctr">
              <a:lnSpc>
                <a:spcPct val="100000"/>
              </a:lnSpc>
              <a:spcBef>
                <a:spcPts val="455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预测模型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13076" y="3163823"/>
            <a:ext cx="4628515" cy="43307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58419" rIns="0" bIns="0" rtlCol="0">
            <a:spAutoFit/>
          </a:bodyPr>
          <a:lstStyle/>
          <a:p>
            <a:pPr marR="494665" algn="ctr">
              <a:lnSpc>
                <a:spcPct val="100000"/>
              </a:lnSpc>
              <a:spcBef>
                <a:spcPts val="459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迭代模型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14600" y="4988052"/>
            <a:ext cx="4630420" cy="4318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05410" rIns="0" bIns="0" rtlCol="0">
            <a:spAutoFit/>
          </a:bodyPr>
          <a:lstStyle/>
          <a:p>
            <a:pPr marR="407034" algn="ctr">
              <a:lnSpc>
                <a:spcPct val="100000"/>
              </a:lnSpc>
              <a:spcBef>
                <a:spcPts val="830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混合模型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64714" y="3853055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08632" y="3787140"/>
            <a:ext cx="504825" cy="4343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128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64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13076" y="3787140"/>
            <a:ext cx="4628515" cy="4343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07950" rIns="0" bIns="0" rtlCol="0">
            <a:spAutoFit/>
          </a:bodyPr>
          <a:lstStyle/>
          <a:p>
            <a:pPr marR="445134" algn="ctr">
              <a:lnSpc>
                <a:spcPct val="100000"/>
              </a:lnSpc>
              <a:spcBef>
                <a:spcPts val="850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增量模型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64714" y="4476693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08632" y="4411979"/>
            <a:ext cx="504825" cy="4318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001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63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13076" y="4411979"/>
            <a:ext cx="4628515" cy="4318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08585" rIns="0" bIns="0" rtlCol="0">
            <a:spAutoFit/>
          </a:bodyPr>
          <a:lstStyle/>
          <a:p>
            <a:pPr marR="445134" algn="ctr">
              <a:lnSpc>
                <a:spcPct val="100000"/>
              </a:lnSpc>
              <a:spcBef>
                <a:spcPts val="855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敏捷模型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85161" y="5726424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七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28444" y="5661659"/>
            <a:ext cx="485140" cy="4318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0010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63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七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13076" y="5661659"/>
            <a:ext cx="4628515" cy="4318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05410" rIns="0" bIns="0" rtlCol="0">
            <a:spAutoFit/>
          </a:bodyPr>
          <a:lstStyle/>
          <a:p>
            <a:pPr marR="404495" algn="ctr">
              <a:lnSpc>
                <a:spcPct val="100000"/>
              </a:lnSpc>
              <a:spcBef>
                <a:spcPts val="830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>
            <a:extLst>
              <a:ext uri="{FF2B5EF4-FFF2-40B4-BE49-F238E27FC236}">
                <a16:creationId xmlns:a16="http://schemas.microsoft.com/office/drawing/2014/main" id="{8CCA0F84-851C-7C49-8084-33CDA20A5A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 dirty="0"/>
              <a:t> chapter__1</a:t>
            </a:r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89B4C119-2AE3-1D4A-B02D-E35A217F1A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7AE6EF-5AFD-E345-A798-0FEA89D01B42}" type="slidenum">
              <a:rPr lang="en-US" altLang="zh-CN"/>
              <a:pPr/>
              <a:t>4</a:t>
            </a:fld>
            <a:endParaRPr lang="en-US" altLang="zh-CN" dirty="0"/>
          </a:p>
        </p:txBody>
      </p:sp>
      <p:sp>
        <p:nvSpPr>
          <p:cNvPr id="665602" name="Rectangle 2">
            <a:extLst>
              <a:ext uri="{FF2B5EF4-FFF2-40B4-BE49-F238E27FC236}">
                <a16:creationId xmlns:a16="http://schemas.microsoft.com/office/drawing/2014/main" id="{3D53D179-A005-3444-A0DD-30D5702AA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49439" y="464947"/>
            <a:ext cx="82296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z="4800"/>
              <a:t>选择项目策略</a:t>
            </a:r>
          </a:p>
        </p:txBody>
      </p:sp>
      <p:sp>
        <p:nvSpPr>
          <p:cNvPr id="665603" name="Rectangle 3">
            <a:extLst>
              <a:ext uri="{FF2B5EF4-FFF2-40B4-BE49-F238E27FC236}">
                <a16:creationId xmlns:a16="http://schemas.microsoft.com/office/drawing/2014/main" id="{50C82323-3F91-314C-BE6A-80893578F8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zh-CN" altLang="en-US" sz="3200"/>
              <a:t>商品采购路线</a:t>
            </a:r>
            <a:r>
              <a:rPr lang="en-US" altLang="zh-CN" sz="3200"/>
              <a:t>?</a:t>
            </a:r>
          </a:p>
          <a:p>
            <a:pPr>
              <a:buFont typeface="Wingdings" pitchFamily="2" charset="2"/>
              <a:buChar char="Ø"/>
            </a:pPr>
            <a:endParaRPr lang="en-US" altLang="zh-CN" sz="3200"/>
          </a:p>
        </p:txBody>
      </p:sp>
      <p:pic>
        <p:nvPicPr>
          <p:cNvPr id="665604" name="Picture 4" descr="规划-">
            <a:extLst>
              <a:ext uri="{FF2B5EF4-FFF2-40B4-BE49-F238E27FC236}">
                <a16:creationId xmlns:a16="http://schemas.microsoft.com/office/drawing/2014/main" id="{5ECD12AE-0358-C042-AD9B-A1563E5653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4338" y="2465388"/>
            <a:ext cx="3649662" cy="4392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2057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0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>
            <a:extLst>
              <a:ext uri="{FF2B5EF4-FFF2-40B4-BE49-F238E27FC236}">
                <a16:creationId xmlns:a16="http://schemas.microsoft.com/office/drawing/2014/main" id="{0462BC27-A7A4-6B42-B3AC-5FECF25BE3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/>
              <a:t> chapter__1</a:t>
            </a:r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EF06D1EC-5009-2442-BB4F-9F35F59A0A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10D825-63D5-9D41-8475-5BDB8CD0CD36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586754" name="Rectangle 2">
            <a:extLst>
              <a:ext uri="{FF2B5EF4-FFF2-40B4-BE49-F238E27FC236}">
                <a16:creationId xmlns:a16="http://schemas.microsoft.com/office/drawing/2014/main" id="{00CFE46E-213C-AD4A-80D5-E96B3D822D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建筑工程类项目典型生存期模型</a:t>
            </a:r>
          </a:p>
        </p:txBody>
      </p:sp>
      <p:sp>
        <p:nvSpPr>
          <p:cNvPr id="586755" name="Rectangle 3">
            <a:extLst>
              <a:ext uri="{FF2B5EF4-FFF2-40B4-BE49-F238E27FC236}">
                <a16:creationId xmlns:a16="http://schemas.microsoft.com/office/drawing/2014/main" id="{F795ED92-36C2-E049-9296-2DFE3CE86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0738" y="14668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pic>
        <p:nvPicPr>
          <p:cNvPr id="586756" name="Picture 4">
            <a:extLst>
              <a:ext uri="{FF2B5EF4-FFF2-40B4-BE49-F238E27FC236}">
                <a16:creationId xmlns:a16="http://schemas.microsoft.com/office/drawing/2014/main" id="{82CE1E1C-C830-FB4A-8A1F-A14511AD3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9200"/>
            <a:ext cx="9144000" cy="563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4830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>
            <a:extLst>
              <a:ext uri="{FF2B5EF4-FFF2-40B4-BE49-F238E27FC236}">
                <a16:creationId xmlns:a16="http://schemas.microsoft.com/office/drawing/2014/main" id="{D9E4E4EB-AF97-9845-934D-764D083299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/>
              <a:t> chapter__1</a:t>
            </a:r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25AE3AAC-302A-D44B-98FF-48DEE06BAF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F08300E-894A-1644-8BA1-900161C0430F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587778" name="Rectangle 2">
            <a:extLst>
              <a:ext uri="{FF2B5EF4-FFF2-40B4-BE49-F238E27FC236}">
                <a16:creationId xmlns:a16="http://schemas.microsoft.com/office/drawing/2014/main" id="{F98F8A8E-D885-2444-87E8-D0CE1389C1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制药项目典型生存期模型</a:t>
            </a:r>
          </a:p>
        </p:txBody>
      </p:sp>
      <p:sp>
        <p:nvSpPr>
          <p:cNvPr id="587779" name="Rectangle 3">
            <a:extLst>
              <a:ext uri="{FF2B5EF4-FFF2-40B4-BE49-F238E27FC236}">
                <a16:creationId xmlns:a16="http://schemas.microsoft.com/office/drawing/2014/main" id="{1E17857A-8F53-8842-9022-19EC88FFC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0" y="1785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pic>
        <p:nvPicPr>
          <p:cNvPr id="587780" name="Picture 4" descr="cas1">
            <a:extLst>
              <a:ext uri="{FF2B5EF4-FFF2-40B4-BE49-F238E27FC236}">
                <a16:creationId xmlns:a16="http://schemas.microsoft.com/office/drawing/2014/main" id="{43C6AF86-62B1-B94D-BB5B-D8565E493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25575"/>
            <a:ext cx="9144000" cy="543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4406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B56E499-A66E-1B40-A0B2-8F76BF653C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/>
              <a:t> chapter__1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F77D049-060B-D84A-846E-B0BC90BF22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CC64F91-6222-0748-934D-02F643C0D5BE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590850" name="Rectangle 2">
            <a:extLst>
              <a:ext uri="{FF2B5EF4-FFF2-40B4-BE49-F238E27FC236}">
                <a16:creationId xmlns:a16="http://schemas.microsoft.com/office/drawing/2014/main" id="{A920176D-57CA-134A-A411-B710D55EDD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软件生存期模型特征</a:t>
            </a:r>
          </a:p>
        </p:txBody>
      </p:sp>
      <p:sp>
        <p:nvSpPr>
          <p:cNvPr id="590851" name="Rectangle 3">
            <a:extLst>
              <a:ext uri="{FF2B5EF4-FFF2-40B4-BE49-F238E27FC236}">
                <a16:creationId xmlns:a16="http://schemas.microsoft.com/office/drawing/2014/main" id="{FF0846A4-28E9-6741-BD85-44E75AC56A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8772" y="1607946"/>
            <a:ext cx="8166455" cy="313066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zh-CN" altLang="en-US" dirty="0">
                <a:solidFill>
                  <a:srgbClr val="08080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描述了开发的主要阶段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zh-CN" altLang="en-US" dirty="0">
                <a:solidFill>
                  <a:srgbClr val="08080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定义了每一个阶段要完成的主要过程和活动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zh-CN" altLang="en-US" dirty="0">
                <a:solidFill>
                  <a:srgbClr val="08080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规范了每一个阶段的输入和输出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zh-CN" altLang="en-US" dirty="0">
                <a:solidFill>
                  <a:srgbClr val="08080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提供了一个框架，可以将必要的活动映射到该框架中。</a:t>
            </a:r>
          </a:p>
        </p:txBody>
      </p:sp>
    </p:spTree>
    <p:extLst>
      <p:ext uri="{BB962C8B-B14F-4D97-AF65-F5344CB8AC3E}">
        <p14:creationId xmlns:p14="http://schemas.microsoft.com/office/powerpoint/2010/main" val="3466208233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0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0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0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0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0851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839" y="283209"/>
            <a:ext cx="39427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dirty="0">
                <a:latin typeface="华文隶书"/>
                <a:cs typeface="华文隶书"/>
              </a:rPr>
              <a:t>生存期模型选择</a:t>
            </a:r>
          </a:p>
        </p:txBody>
      </p:sp>
      <p:sp>
        <p:nvSpPr>
          <p:cNvPr id="3" name="object 3"/>
          <p:cNvSpPr/>
          <p:nvPr/>
        </p:nvSpPr>
        <p:spPr>
          <a:xfrm>
            <a:off x="179831" y="1600200"/>
            <a:ext cx="8784590" cy="5069205"/>
          </a:xfrm>
          <a:custGeom>
            <a:avLst/>
            <a:gdLst/>
            <a:ahLst/>
            <a:cxnLst/>
            <a:rect l="l" t="t" r="r" b="b"/>
            <a:pathLst>
              <a:path w="8784590" h="5069205">
                <a:moveTo>
                  <a:pt x="0" y="5068824"/>
                </a:moveTo>
                <a:lnTo>
                  <a:pt x="8784336" y="5068824"/>
                </a:lnTo>
                <a:lnTo>
                  <a:pt x="8784336" y="0"/>
                </a:lnTo>
                <a:lnTo>
                  <a:pt x="0" y="0"/>
                </a:lnTo>
                <a:lnTo>
                  <a:pt x="0" y="5068824"/>
                </a:lnTo>
                <a:close/>
              </a:path>
            </a:pathLst>
          </a:custGeom>
          <a:solidFill>
            <a:srgbClr val="B19D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72283" y="2642616"/>
            <a:ext cx="4584192" cy="33329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22675" y="4979923"/>
            <a:ext cx="2819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宋体"/>
                <a:cs typeface="宋体"/>
              </a:rPr>
              <a:t>产品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33394" y="5149232"/>
            <a:ext cx="28194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i="1" spc="-50" dirty="0">
                <a:latin typeface="宋体"/>
                <a:cs typeface="宋体"/>
              </a:rPr>
              <a:t>实现</a:t>
            </a:r>
            <a:endParaRPr sz="105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21789" y="5132323"/>
            <a:ext cx="2819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宋体"/>
                <a:cs typeface="宋体"/>
              </a:rPr>
              <a:t>输入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8371" y="5092141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宋体"/>
                <a:cs typeface="宋体"/>
              </a:rPr>
              <a:t>输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19088" y="5122671"/>
            <a:ext cx="12827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00"/>
              </a:lnSpc>
            </a:pPr>
            <a:r>
              <a:rPr sz="1000" b="1" spc="-5" dirty="0">
                <a:latin typeface="宋体"/>
                <a:cs typeface="宋体"/>
              </a:rPr>
              <a:t>出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27928" y="5233796"/>
            <a:ext cx="2819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宋体"/>
                <a:cs typeface="宋体"/>
              </a:rPr>
              <a:t>产品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0025" y="2522982"/>
            <a:ext cx="975360" cy="3298190"/>
          </a:xfrm>
          <a:custGeom>
            <a:avLst/>
            <a:gdLst/>
            <a:ahLst/>
            <a:cxnLst/>
            <a:rect l="l" t="t" r="r" b="b"/>
            <a:pathLst>
              <a:path w="975360" h="3298190">
                <a:moveTo>
                  <a:pt x="0" y="3297936"/>
                </a:moveTo>
                <a:lnTo>
                  <a:pt x="975360" y="3297936"/>
                </a:lnTo>
                <a:lnTo>
                  <a:pt x="975360" y="0"/>
                </a:lnTo>
                <a:lnTo>
                  <a:pt x="0" y="0"/>
                </a:lnTo>
                <a:lnTo>
                  <a:pt x="0" y="3297936"/>
                </a:lnTo>
                <a:close/>
              </a:path>
            </a:pathLst>
          </a:custGeom>
          <a:solidFill>
            <a:srgbClr val="A9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70025" y="2522982"/>
            <a:ext cx="975360" cy="3298190"/>
          </a:xfrm>
          <a:custGeom>
            <a:avLst/>
            <a:gdLst/>
            <a:ahLst/>
            <a:cxnLst/>
            <a:rect l="l" t="t" r="r" b="b"/>
            <a:pathLst>
              <a:path w="975360" h="3298190">
                <a:moveTo>
                  <a:pt x="0" y="3297936"/>
                </a:moveTo>
                <a:lnTo>
                  <a:pt x="975360" y="3297936"/>
                </a:lnTo>
                <a:lnTo>
                  <a:pt x="975360" y="0"/>
                </a:lnTo>
                <a:lnTo>
                  <a:pt x="0" y="0"/>
                </a:lnTo>
                <a:lnTo>
                  <a:pt x="0" y="3297936"/>
                </a:lnTo>
                <a:close/>
              </a:path>
            </a:pathLst>
          </a:custGeom>
          <a:ln w="502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091285" y="2653106"/>
            <a:ext cx="29718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5" dirty="0">
                <a:latin typeface="宋体"/>
                <a:cs typeface="宋体"/>
              </a:rPr>
              <a:t>客户</a:t>
            </a:r>
            <a:endParaRPr sz="105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90422" y="5116829"/>
            <a:ext cx="746760" cy="407034"/>
          </a:xfrm>
          <a:prstGeom prst="rect">
            <a:avLst/>
          </a:prstGeom>
          <a:solidFill>
            <a:srgbClr val="A9FFFF"/>
          </a:solidFill>
          <a:ln w="25908">
            <a:solidFill>
              <a:srgbClr val="0000FF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620"/>
              </a:spcBef>
            </a:pPr>
            <a:r>
              <a:rPr sz="900" b="1" spc="5" dirty="0">
                <a:latin typeface="宋体"/>
                <a:cs typeface="宋体"/>
              </a:rPr>
              <a:t>需求</a:t>
            </a:r>
            <a:endParaRPr sz="9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026402" y="2475738"/>
            <a:ext cx="975360" cy="3298190"/>
          </a:xfrm>
          <a:custGeom>
            <a:avLst/>
            <a:gdLst/>
            <a:ahLst/>
            <a:cxnLst/>
            <a:rect l="l" t="t" r="r" b="b"/>
            <a:pathLst>
              <a:path w="975359" h="3298190">
                <a:moveTo>
                  <a:pt x="0" y="3297936"/>
                </a:moveTo>
                <a:lnTo>
                  <a:pt x="975359" y="3297936"/>
                </a:lnTo>
                <a:lnTo>
                  <a:pt x="975359" y="0"/>
                </a:lnTo>
                <a:lnTo>
                  <a:pt x="0" y="0"/>
                </a:lnTo>
                <a:lnTo>
                  <a:pt x="0" y="3297936"/>
                </a:lnTo>
                <a:close/>
              </a:path>
            </a:pathLst>
          </a:custGeom>
          <a:solidFill>
            <a:srgbClr val="A9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026402" y="2475738"/>
            <a:ext cx="975360" cy="3298190"/>
          </a:xfrm>
          <a:custGeom>
            <a:avLst/>
            <a:gdLst/>
            <a:ahLst/>
            <a:cxnLst/>
            <a:rect l="l" t="t" r="r" b="b"/>
            <a:pathLst>
              <a:path w="975359" h="3298190">
                <a:moveTo>
                  <a:pt x="0" y="3297936"/>
                </a:moveTo>
                <a:lnTo>
                  <a:pt x="975359" y="3297936"/>
                </a:lnTo>
                <a:lnTo>
                  <a:pt x="975359" y="0"/>
                </a:lnTo>
                <a:lnTo>
                  <a:pt x="0" y="0"/>
                </a:lnTo>
                <a:lnTo>
                  <a:pt x="0" y="3297936"/>
                </a:lnTo>
                <a:close/>
              </a:path>
            </a:pathLst>
          </a:custGeom>
          <a:ln w="502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169150" y="2639313"/>
            <a:ext cx="2692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宋体"/>
                <a:cs typeface="宋体"/>
              </a:rPr>
              <a:t>客户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36130" y="3745229"/>
            <a:ext cx="748665" cy="436245"/>
          </a:xfrm>
          <a:prstGeom prst="rect">
            <a:avLst/>
          </a:prstGeom>
          <a:solidFill>
            <a:srgbClr val="A9FFFF"/>
          </a:solidFill>
          <a:ln w="25907">
            <a:solidFill>
              <a:srgbClr val="0000FF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</a:pPr>
            <a:r>
              <a:rPr sz="800" b="1" spc="5" dirty="0">
                <a:latin typeface="宋体"/>
                <a:cs typeface="宋体"/>
              </a:rPr>
              <a:t>满意</a:t>
            </a:r>
            <a:endParaRPr sz="80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116835" y="3057905"/>
            <a:ext cx="94615" cy="0"/>
          </a:xfrm>
          <a:custGeom>
            <a:avLst/>
            <a:gdLst/>
            <a:ahLst/>
            <a:cxnLst/>
            <a:rect l="l" t="t" r="r" b="b"/>
            <a:pathLst>
              <a:path w="94614">
                <a:moveTo>
                  <a:pt x="0" y="0"/>
                </a:moveTo>
                <a:lnTo>
                  <a:pt x="94487" y="0"/>
                </a:lnTo>
              </a:path>
            </a:pathLst>
          </a:custGeom>
          <a:ln w="22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37944" y="5346191"/>
            <a:ext cx="1330960" cy="0"/>
          </a:xfrm>
          <a:custGeom>
            <a:avLst/>
            <a:gdLst/>
            <a:ahLst/>
            <a:cxnLst/>
            <a:rect l="l" t="t" r="r" b="b"/>
            <a:pathLst>
              <a:path w="1330960">
                <a:moveTo>
                  <a:pt x="0" y="0"/>
                </a:moveTo>
                <a:lnTo>
                  <a:pt x="1330452" y="0"/>
                </a:lnTo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979919" y="3913632"/>
            <a:ext cx="160020" cy="106680"/>
          </a:xfrm>
          <a:custGeom>
            <a:avLst/>
            <a:gdLst/>
            <a:ahLst/>
            <a:cxnLst/>
            <a:rect l="l" t="t" r="r" b="b"/>
            <a:pathLst>
              <a:path w="160020" h="106679">
                <a:moveTo>
                  <a:pt x="0" y="0"/>
                </a:moveTo>
                <a:lnTo>
                  <a:pt x="0" y="106680"/>
                </a:lnTo>
                <a:lnTo>
                  <a:pt x="160020" y="54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914388" y="3966209"/>
            <a:ext cx="96520" cy="0"/>
          </a:xfrm>
          <a:custGeom>
            <a:avLst/>
            <a:gdLst/>
            <a:ahLst/>
            <a:cxnLst/>
            <a:rect l="l" t="t" r="r" b="b"/>
            <a:pathLst>
              <a:path w="96520">
                <a:moveTo>
                  <a:pt x="0" y="0"/>
                </a:moveTo>
                <a:lnTo>
                  <a:pt x="96011" y="0"/>
                </a:lnTo>
              </a:path>
            </a:pathLst>
          </a:custGeom>
          <a:ln w="22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853428" y="5257800"/>
            <a:ext cx="160020" cy="109855"/>
          </a:xfrm>
          <a:custGeom>
            <a:avLst/>
            <a:gdLst/>
            <a:ahLst/>
            <a:cxnLst/>
            <a:rect l="l" t="t" r="r" b="b"/>
            <a:pathLst>
              <a:path w="160020" h="109854">
                <a:moveTo>
                  <a:pt x="0" y="0"/>
                </a:moveTo>
                <a:lnTo>
                  <a:pt x="0" y="109728"/>
                </a:lnTo>
                <a:lnTo>
                  <a:pt x="160020" y="5740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928359" y="3913632"/>
            <a:ext cx="160020" cy="108585"/>
          </a:xfrm>
          <a:custGeom>
            <a:avLst/>
            <a:gdLst/>
            <a:ahLst/>
            <a:cxnLst/>
            <a:rect l="l" t="t" r="r" b="b"/>
            <a:pathLst>
              <a:path w="160020" h="108585">
                <a:moveTo>
                  <a:pt x="160019" y="0"/>
                </a:moveTo>
                <a:lnTo>
                  <a:pt x="0" y="55753"/>
                </a:lnTo>
                <a:lnTo>
                  <a:pt x="160019" y="108204"/>
                </a:lnTo>
                <a:lnTo>
                  <a:pt x="1600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162300" y="5292852"/>
            <a:ext cx="163195" cy="108585"/>
          </a:xfrm>
          <a:custGeom>
            <a:avLst/>
            <a:gdLst/>
            <a:ahLst/>
            <a:cxnLst/>
            <a:rect l="l" t="t" r="r" b="b"/>
            <a:pathLst>
              <a:path w="163195" h="108585">
                <a:moveTo>
                  <a:pt x="0" y="0"/>
                </a:moveTo>
                <a:lnTo>
                  <a:pt x="0" y="108204"/>
                </a:lnTo>
                <a:lnTo>
                  <a:pt x="163067" y="5410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512820" y="3005327"/>
            <a:ext cx="160020" cy="108585"/>
          </a:xfrm>
          <a:custGeom>
            <a:avLst/>
            <a:gdLst/>
            <a:ahLst/>
            <a:cxnLst/>
            <a:rect l="l" t="t" r="r" b="b"/>
            <a:pathLst>
              <a:path w="160020" h="108585">
                <a:moveTo>
                  <a:pt x="0" y="0"/>
                </a:moveTo>
                <a:lnTo>
                  <a:pt x="0" y="108204"/>
                </a:lnTo>
                <a:lnTo>
                  <a:pt x="160019" y="5410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55292" y="3002279"/>
            <a:ext cx="160020" cy="109855"/>
          </a:xfrm>
          <a:custGeom>
            <a:avLst/>
            <a:gdLst/>
            <a:ahLst/>
            <a:cxnLst/>
            <a:rect l="l" t="t" r="r" b="b"/>
            <a:pathLst>
              <a:path w="160019" h="109855">
                <a:moveTo>
                  <a:pt x="160019" y="0"/>
                </a:moveTo>
                <a:lnTo>
                  <a:pt x="0" y="57404"/>
                </a:lnTo>
                <a:lnTo>
                  <a:pt x="160019" y="109728"/>
                </a:lnTo>
                <a:lnTo>
                  <a:pt x="1600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844545" y="1558289"/>
            <a:ext cx="3456940" cy="1595755"/>
          </a:xfrm>
          <a:custGeom>
            <a:avLst/>
            <a:gdLst/>
            <a:ahLst/>
            <a:cxnLst/>
            <a:rect l="l" t="t" r="r" b="b"/>
            <a:pathLst>
              <a:path w="3456940" h="1595755">
                <a:moveTo>
                  <a:pt x="1440180" y="934212"/>
                </a:moveTo>
                <a:lnTo>
                  <a:pt x="576071" y="934212"/>
                </a:lnTo>
                <a:lnTo>
                  <a:pt x="1150493" y="1595627"/>
                </a:lnTo>
                <a:lnTo>
                  <a:pt x="1440180" y="934212"/>
                </a:lnTo>
                <a:close/>
              </a:path>
              <a:path w="3456940" h="1595755">
                <a:moveTo>
                  <a:pt x="3300729" y="0"/>
                </a:moveTo>
                <a:lnTo>
                  <a:pt x="155702" y="0"/>
                </a:lnTo>
                <a:lnTo>
                  <a:pt x="106493" y="7939"/>
                </a:lnTo>
                <a:lnTo>
                  <a:pt x="63751" y="30045"/>
                </a:lnTo>
                <a:lnTo>
                  <a:pt x="30045" y="63751"/>
                </a:lnTo>
                <a:lnTo>
                  <a:pt x="7939" y="106493"/>
                </a:lnTo>
                <a:lnTo>
                  <a:pt x="0" y="155701"/>
                </a:lnTo>
                <a:lnTo>
                  <a:pt x="0" y="778510"/>
                </a:lnTo>
                <a:lnTo>
                  <a:pt x="7939" y="827718"/>
                </a:lnTo>
                <a:lnTo>
                  <a:pt x="30045" y="870460"/>
                </a:lnTo>
                <a:lnTo>
                  <a:pt x="63751" y="904166"/>
                </a:lnTo>
                <a:lnTo>
                  <a:pt x="106493" y="926272"/>
                </a:lnTo>
                <a:lnTo>
                  <a:pt x="155702" y="934212"/>
                </a:lnTo>
                <a:lnTo>
                  <a:pt x="3300729" y="934212"/>
                </a:lnTo>
                <a:lnTo>
                  <a:pt x="3349938" y="926272"/>
                </a:lnTo>
                <a:lnTo>
                  <a:pt x="3392680" y="904166"/>
                </a:lnTo>
                <a:lnTo>
                  <a:pt x="3426386" y="870460"/>
                </a:lnTo>
                <a:lnTo>
                  <a:pt x="3448492" y="827718"/>
                </a:lnTo>
                <a:lnTo>
                  <a:pt x="3456431" y="778510"/>
                </a:lnTo>
                <a:lnTo>
                  <a:pt x="3456431" y="155701"/>
                </a:lnTo>
                <a:lnTo>
                  <a:pt x="3448492" y="106493"/>
                </a:lnTo>
                <a:lnTo>
                  <a:pt x="3426386" y="63751"/>
                </a:lnTo>
                <a:lnTo>
                  <a:pt x="3392680" y="30045"/>
                </a:lnTo>
                <a:lnTo>
                  <a:pt x="3349938" y="7939"/>
                </a:lnTo>
                <a:lnTo>
                  <a:pt x="3300729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844545" y="1558289"/>
            <a:ext cx="3456940" cy="1595755"/>
          </a:xfrm>
          <a:custGeom>
            <a:avLst/>
            <a:gdLst/>
            <a:ahLst/>
            <a:cxnLst/>
            <a:rect l="l" t="t" r="r" b="b"/>
            <a:pathLst>
              <a:path w="3456940" h="1595755">
                <a:moveTo>
                  <a:pt x="0" y="155701"/>
                </a:moveTo>
                <a:lnTo>
                  <a:pt x="7939" y="106493"/>
                </a:lnTo>
                <a:lnTo>
                  <a:pt x="30045" y="63751"/>
                </a:lnTo>
                <a:lnTo>
                  <a:pt x="63751" y="30045"/>
                </a:lnTo>
                <a:lnTo>
                  <a:pt x="106493" y="7939"/>
                </a:lnTo>
                <a:lnTo>
                  <a:pt x="155702" y="0"/>
                </a:lnTo>
                <a:lnTo>
                  <a:pt x="576071" y="0"/>
                </a:lnTo>
                <a:lnTo>
                  <a:pt x="1440180" y="0"/>
                </a:lnTo>
                <a:lnTo>
                  <a:pt x="3300729" y="0"/>
                </a:lnTo>
                <a:lnTo>
                  <a:pt x="3349938" y="7939"/>
                </a:lnTo>
                <a:lnTo>
                  <a:pt x="3392680" y="30045"/>
                </a:lnTo>
                <a:lnTo>
                  <a:pt x="3426386" y="63751"/>
                </a:lnTo>
                <a:lnTo>
                  <a:pt x="3448492" y="106493"/>
                </a:lnTo>
                <a:lnTo>
                  <a:pt x="3456431" y="155701"/>
                </a:lnTo>
                <a:lnTo>
                  <a:pt x="3456431" y="544957"/>
                </a:lnTo>
                <a:lnTo>
                  <a:pt x="3456431" y="778510"/>
                </a:lnTo>
                <a:lnTo>
                  <a:pt x="3448492" y="827718"/>
                </a:lnTo>
                <a:lnTo>
                  <a:pt x="3426386" y="870460"/>
                </a:lnTo>
                <a:lnTo>
                  <a:pt x="3392680" y="904166"/>
                </a:lnTo>
                <a:lnTo>
                  <a:pt x="3349938" y="926272"/>
                </a:lnTo>
                <a:lnTo>
                  <a:pt x="3300729" y="934212"/>
                </a:lnTo>
                <a:lnTo>
                  <a:pt x="1440180" y="934212"/>
                </a:lnTo>
                <a:lnTo>
                  <a:pt x="1150493" y="1595627"/>
                </a:lnTo>
                <a:lnTo>
                  <a:pt x="576071" y="934212"/>
                </a:lnTo>
                <a:lnTo>
                  <a:pt x="155702" y="934212"/>
                </a:lnTo>
                <a:lnTo>
                  <a:pt x="106493" y="926272"/>
                </a:lnTo>
                <a:lnTo>
                  <a:pt x="63751" y="904166"/>
                </a:lnTo>
                <a:lnTo>
                  <a:pt x="30045" y="870460"/>
                </a:lnTo>
                <a:lnTo>
                  <a:pt x="7939" y="827718"/>
                </a:lnTo>
                <a:lnTo>
                  <a:pt x="0" y="778510"/>
                </a:lnTo>
                <a:lnTo>
                  <a:pt x="0" y="544957"/>
                </a:lnTo>
                <a:lnTo>
                  <a:pt x="0" y="155701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428746" y="1630425"/>
            <a:ext cx="22872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宋体"/>
                <a:cs typeface="宋体"/>
              </a:rPr>
              <a:t>实施策略</a:t>
            </a:r>
            <a:r>
              <a:rPr sz="4000" spc="-5" dirty="0">
                <a:latin typeface="Arial Narrow"/>
                <a:cs typeface="Arial Narrow"/>
              </a:rPr>
              <a:t>?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437376" y="4869179"/>
            <a:ext cx="2340864" cy="17510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31977"/>
            <a:ext cx="4500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dirty="0">
                <a:latin typeface="华文新魏"/>
                <a:cs typeface="华文新魏"/>
              </a:rPr>
              <a:t>软件开发模型变迁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49630" y="2865882"/>
            <a:ext cx="1522730" cy="913130"/>
          </a:xfrm>
          <a:custGeom>
            <a:avLst/>
            <a:gdLst/>
            <a:ahLst/>
            <a:cxnLst/>
            <a:rect l="l" t="t" r="r" b="b"/>
            <a:pathLst>
              <a:path w="1522730" h="913129">
                <a:moveTo>
                  <a:pt x="1431163" y="0"/>
                </a:moveTo>
                <a:lnTo>
                  <a:pt x="91287" y="0"/>
                </a:lnTo>
                <a:lnTo>
                  <a:pt x="55753" y="7177"/>
                </a:lnTo>
                <a:lnTo>
                  <a:pt x="26736" y="26749"/>
                </a:lnTo>
                <a:lnTo>
                  <a:pt x="7173" y="55774"/>
                </a:lnTo>
                <a:lnTo>
                  <a:pt x="0" y="91312"/>
                </a:lnTo>
                <a:lnTo>
                  <a:pt x="0" y="821562"/>
                </a:lnTo>
                <a:lnTo>
                  <a:pt x="7173" y="857101"/>
                </a:lnTo>
                <a:lnTo>
                  <a:pt x="26736" y="886126"/>
                </a:lnTo>
                <a:lnTo>
                  <a:pt x="55753" y="905698"/>
                </a:lnTo>
                <a:lnTo>
                  <a:pt x="91287" y="912875"/>
                </a:lnTo>
                <a:lnTo>
                  <a:pt x="1431163" y="912875"/>
                </a:lnTo>
                <a:lnTo>
                  <a:pt x="1466701" y="905698"/>
                </a:lnTo>
                <a:lnTo>
                  <a:pt x="1495726" y="886126"/>
                </a:lnTo>
                <a:lnTo>
                  <a:pt x="1515298" y="857101"/>
                </a:lnTo>
                <a:lnTo>
                  <a:pt x="1522476" y="821562"/>
                </a:lnTo>
                <a:lnTo>
                  <a:pt x="1522476" y="91312"/>
                </a:lnTo>
                <a:lnTo>
                  <a:pt x="1515298" y="55774"/>
                </a:lnTo>
                <a:lnTo>
                  <a:pt x="1495726" y="26749"/>
                </a:lnTo>
                <a:lnTo>
                  <a:pt x="1466701" y="7177"/>
                </a:lnTo>
                <a:lnTo>
                  <a:pt x="1431163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1460" y="3075177"/>
            <a:ext cx="97663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solidFill>
                  <a:srgbClr val="FFFFFF"/>
                </a:solidFill>
                <a:latin typeface="华文仿宋"/>
                <a:cs typeface="华文仿宋"/>
              </a:rPr>
              <a:t>作坊式</a:t>
            </a:r>
            <a:endParaRPr sz="2500">
              <a:latin typeface="华文仿宋"/>
              <a:cs typeface="华文仿宋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22220" y="3131820"/>
            <a:ext cx="323215" cy="378460"/>
          </a:xfrm>
          <a:custGeom>
            <a:avLst/>
            <a:gdLst/>
            <a:ahLst/>
            <a:cxnLst/>
            <a:rect l="l" t="t" r="r" b="b"/>
            <a:pathLst>
              <a:path w="323214" h="378460">
                <a:moveTo>
                  <a:pt x="161544" y="0"/>
                </a:moveTo>
                <a:lnTo>
                  <a:pt x="161544" y="75564"/>
                </a:lnTo>
                <a:lnTo>
                  <a:pt x="0" y="75564"/>
                </a:lnTo>
                <a:lnTo>
                  <a:pt x="0" y="302387"/>
                </a:lnTo>
                <a:lnTo>
                  <a:pt x="161544" y="302387"/>
                </a:lnTo>
                <a:lnTo>
                  <a:pt x="161544" y="377951"/>
                </a:lnTo>
                <a:lnTo>
                  <a:pt x="323088" y="188975"/>
                </a:lnTo>
                <a:lnTo>
                  <a:pt x="161544" y="0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80182" y="2865882"/>
            <a:ext cx="1522730" cy="913130"/>
          </a:xfrm>
          <a:custGeom>
            <a:avLst/>
            <a:gdLst/>
            <a:ahLst/>
            <a:cxnLst/>
            <a:rect l="l" t="t" r="r" b="b"/>
            <a:pathLst>
              <a:path w="1522729" h="913129">
                <a:moveTo>
                  <a:pt x="1431163" y="0"/>
                </a:moveTo>
                <a:lnTo>
                  <a:pt x="91312" y="0"/>
                </a:lnTo>
                <a:lnTo>
                  <a:pt x="55774" y="7177"/>
                </a:lnTo>
                <a:lnTo>
                  <a:pt x="26749" y="26749"/>
                </a:lnTo>
                <a:lnTo>
                  <a:pt x="7177" y="55774"/>
                </a:lnTo>
                <a:lnTo>
                  <a:pt x="0" y="91312"/>
                </a:lnTo>
                <a:lnTo>
                  <a:pt x="0" y="821562"/>
                </a:lnTo>
                <a:lnTo>
                  <a:pt x="7177" y="857101"/>
                </a:lnTo>
                <a:lnTo>
                  <a:pt x="26749" y="886126"/>
                </a:lnTo>
                <a:lnTo>
                  <a:pt x="55774" y="905698"/>
                </a:lnTo>
                <a:lnTo>
                  <a:pt x="91312" y="912875"/>
                </a:lnTo>
                <a:lnTo>
                  <a:pt x="1431163" y="912875"/>
                </a:lnTo>
                <a:lnTo>
                  <a:pt x="1466701" y="905698"/>
                </a:lnTo>
                <a:lnTo>
                  <a:pt x="1495726" y="886126"/>
                </a:lnTo>
                <a:lnTo>
                  <a:pt x="1515298" y="857101"/>
                </a:lnTo>
                <a:lnTo>
                  <a:pt x="1522476" y="821562"/>
                </a:lnTo>
                <a:lnTo>
                  <a:pt x="1522476" y="91312"/>
                </a:lnTo>
                <a:lnTo>
                  <a:pt x="1515298" y="55774"/>
                </a:lnTo>
                <a:lnTo>
                  <a:pt x="1495726" y="26749"/>
                </a:lnTo>
                <a:lnTo>
                  <a:pt x="1466701" y="7177"/>
                </a:lnTo>
                <a:lnTo>
                  <a:pt x="1431163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93847" y="3075177"/>
            <a:ext cx="129349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solidFill>
                  <a:srgbClr val="FFFFFF"/>
                </a:solidFill>
                <a:latin typeface="华文仿宋"/>
                <a:cs typeface="华文仿宋"/>
              </a:rPr>
              <a:t>过程控制</a:t>
            </a:r>
            <a:endParaRPr sz="2500">
              <a:latin typeface="华文仿宋"/>
              <a:cs typeface="华文仿宋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54296" y="3131820"/>
            <a:ext cx="321945" cy="378460"/>
          </a:xfrm>
          <a:custGeom>
            <a:avLst/>
            <a:gdLst/>
            <a:ahLst/>
            <a:cxnLst/>
            <a:rect l="l" t="t" r="r" b="b"/>
            <a:pathLst>
              <a:path w="321945" h="378460">
                <a:moveTo>
                  <a:pt x="160781" y="0"/>
                </a:moveTo>
                <a:lnTo>
                  <a:pt x="160781" y="75564"/>
                </a:lnTo>
                <a:lnTo>
                  <a:pt x="0" y="75564"/>
                </a:lnTo>
                <a:lnTo>
                  <a:pt x="0" y="302387"/>
                </a:lnTo>
                <a:lnTo>
                  <a:pt x="160781" y="302387"/>
                </a:lnTo>
                <a:lnTo>
                  <a:pt x="160781" y="377951"/>
                </a:lnTo>
                <a:lnTo>
                  <a:pt x="321563" y="188975"/>
                </a:lnTo>
                <a:lnTo>
                  <a:pt x="160781" y="0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110734" y="2865882"/>
            <a:ext cx="1522730" cy="913130"/>
          </a:xfrm>
          <a:custGeom>
            <a:avLst/>
            <a:gdLst/>
            <a:ahLst/>
            <a:cxnLst/>
            <a:rect l="l" t="t" r="r" b="b"/>
            <a:pathLst>
              <a:path w="1522729" h="913129">
                <a:moveTo>
                  <a:pt x="1431163" y="0"/>
                </a:moveTo>
                <a:lnTo>
                  <a:pt x="91312" y="0"/>
                </a:lnTo>
                <a:lnTo>
                  <a:pt x="55774" y="7177"/>
                </a:lnTo>
                <a:lnTo>
                  <a:pt x="26749" y="26749"/>
                </a:lnTo>
                <a:lnTo>
                  <a:pt x="7177" y="55774"/>
                </a:lnTo>
                <a:lnTo>
                  <a:pt x="0" y="91312"/>
                </a:lnTo>
                <a:lnTo>
                  <a:pt x="0" y="821562"/>
                </a:lnTo>
                <a:lnTo>
                  <a:pt x="7177" y="857101"/>
                </a:lnTo>
                <a:lnTo>
                  <a:pt x="26749" y="886126"/>
                </a:lnTo>
                <a:lnTo>
                  <a:pt x="55774" y="905698"/>
                </a:lnTo>
                <a:lnTo>
                  <a:pt x="91312" y="912875"/>
                </a:lnTo>
                <a:lnTo>
                  <a:pt x="1431163" y="912875"/>
                </a:lnTo>
                <a:lnTo>
                  <a:pt x="1466701" y="905698"/>
                </a:lnTo>
                <a:lnTo>
                  <a:pt x="1495726" y="886126"/>
                </a:lnTo>
                <a:lnTo>
                  <a:pt x="1515298" y="857101"/>
                </a:lnTo>
                <a:lnTo>
                  <a:pt x="1522475" y="821562"/>
                </a:lnTo>
                <a:lnTo>
                  <a:pt x="1522475" y="91312"/>
                </a:lnTo>
                <a:lnTo>
                  <a:pt x="1515298" y="55774"/>
                </a:lnTo>
                <a:lnTo>
                  <a:pt x="1495726" y="26749"/>
                </a:lnTo>
                <a:lnTo>
                  <a:pt x="1466701" y="7177"/>
                </a:lnTo>
                <a:lnTo>
                  <a:pt x="1431163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542026" y="3075177"/>
            <a:ext cx="65976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solidFill>
                  <a:srgbClr val="FFFFFF"/>
                </a:solidFill>
                <a:latin typeface="华文仿宋"/>
                <a:cs typeface="华文仿宋"/>
              </a:rPr>
              <a:t>敏捷</a:t>
            </a:r>
            <a:endParaRPr sz="2500">
              <a:latin typeface="华文仿宋"/>
              <a:cs typeface="华文仿宋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784847" y="3131820"/>
            <a:ext cx="321945" cy="378460"/>
          </a:xfrm>
          <a:custGeom>
            <a:avLst/>
            <a:gdLst/>
            <a:ahLst/>
            <a:cxnLst/>
            <a:rect l="l" t="t" r="r" b="b"/>
            <a:pathLst>
              <a:path w="321945" h="378460">
                <a:moveTo>
                  <a:pt x="160781" y="0"/>
                </a:moveTo>
                <a:lnTo>
                  <a:pt x="160781" y="75564"/>
                </a:lnTo>
                <a:lnTo>
                  <a:pt x="0" y="75564"/>
                </a:lnTo>
                <a:lnTo>
                  <a:pt x="0" y="302387"/>
                </a:lnTo>
                <a:lnTo>
                  <a:pt x="160781" y="302387"/>
                </a:lnTo>
                <a:lnTo>
                  <a:pt x="160781" y="377951"/>
                </a:lnTo>
                <a:lnTo>
                  <a:pt x="321563" y="188975"/>
                </a:lnTo>
                <a:lnTo>
                  <a:pt x="160781" y="0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241285" y="2865882"/>
            <a:ext cx="1522730" cy="913130"/>
          </a:xfrm>
          <a:custGeom>
            <a:avLst/>
            <a:gdLst/>
            <a:ahLst/>
            <a:cxnLst/>
            <a:rect l="l" t="t" r="r" b="b"/>
            <a:pathLst>
              <a:path w="1522729" h="913129">
                <a:moveTo>
                  <a:pt x="1431163" y="0"/>
                </a:moveTo>
                <a:lnTo>
                  <a:pt x="91313" y="0"/>
                </a:lnTo>
                <a:lnTo>
                  <a:pt x="55774" y="7177"/>
                </a:lnTo>
                <a:lnTo>
                  <a:pt x="26749" y="26749"/>
                </a:lnTo>
                <a:lnTo>
                  <a:pt x="7177" y="55774"/>
                </a:lnTo>
                <a:lnTo>
                  <a:pt x="0" y="91312"/>
                </a:lnTo>
                <a:lnTo>
                  <a:pt x="0" y="821562"/>
                </a:lnTo>
                <a:lnTo>
                  <a:pt x="7177" y="857101"/>
                </a:lnTo>
                <a:lnTo>
                  <a:pt x="26749" y="886126"/>
                </a:lnTo>
                <a:lnTo>
                  <a:pt x="55774" y="905698"/>
                </a:lnTo>
                <a:lnTo>
                  <a:pt x="91313" y="912875"/>
                </a:lnTo>
                <a:lnTo>
                  <a:pt x="1431163" y="912875"/>
                </a:lnTo>
                <a:lnTo>
                  <a:pt x="1466701" y="905698"/>
                </a:lnTo>
                <a:lnTo>
                  <a:pt x="1495726" y="886126"/>
                </a:lnTo>
                <a:lnTo>
                  <a:pt x="1515298" y="857101"/>
                </a:lnTo>
                <a:lnTo>
                  <a:pt x="1522476" y="821562"/>
                </a:lnTo>
                <a:lnTo>
                  <a:pt x="1522476" y="91312"/>
                </a:lnTo>
                <a:lnTo>
                  <a:pt x="1515298" y="55774"/>
                </a:lnTo>
                <a:lnTo>
                  <a:pt x="1495726" y="26749"/>
                </a:lnTo>
                <a:lnTo>
                  <a:pt x="1466701" y="7177"/>
                </a:lnTo>
                <a:lnTo>
                  <a:pt x="1431163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483856" y="3074288"/>
            <a:ext cx="1039494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solidFill>
                  <a:srgbClr val="FFFFFF"/>
                </a:solidFill>
                <a:latin typeface="Tw Cen MT"/>
                <a:cs typeface="Tw Cen MT"/>
              </a:rPr>
              <a:t>DevOps</a:t>
            </a:r>
            <a:endParaRPr sz="25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39408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dirty="0">
                <a:latin typeface="华文隶书"/>
                <a:cs typeface="华文隶书"/>
              </a:rPr>
              <a:t>项目生存期选择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34895" y="1533144"/>
            <a:ext cx="5474208" cy="44394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39408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dirty="0">
                <a:latin typeface="华文隶书"/>
                <a:cs typeface="华文隶书"/>
              </a:rPr>
              <a:t>项目生存期选择</a:t>
            </a:r>
          </a:p>
        </p:txBody>
      </p:sp>
      <p:sp>
        <p:nvSpPr>
          <p:cNvPr id="3" name="object 3"/>
          <p:cNvSpPr/>
          <p:nvPr/>
        </p:nvSpPr>
        <p:spPr>
          <a:xfrm>
            <a:off x="108965" y="1629917"/>
            <a:ext cx="8766175" cy="4495800"/>
          </a:xfrm>
          <a:custGeom>
            <a:avLst/>
            <a:gdLst/>
            <a:ahLst/>
            <a:cxnLst/>
            <a:rect l="l" t="t" r="r" b="b"/>
            <a:pathLst>
              <a:path w="8766175" h="4495800">
                <a:moveTo>
                  <a:pt x="0" y="4495800"/>
                </a:moveTo>
                <a:lnTo>
                  <a:pt x="8766048" y="4495800"/>
                </a:lnTo>
                <a:lnTo>
                  <a:pt x="8766048" y="0"/>
                </a:lnTo>
                <a:lnTo>
                  <a:pt x="0" y="0"/>
                </a:lnTo>
                <a:lnTo>
                  <a:pt x="0" y="4495800"/>
                </a:lnTo>
                <a:close/>
              </a:path>
            </a:pathLst>
          </a:custGeom>
          <a:ln w="28956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6639" y="1544689"/>
            <a:ext cx="8594725" cy="430276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05"/>
              </a:spcBef>
              <a:buClr>
                <a:srgbClr val="DD8046"/>
              </a:buClr>
              <a:buSzPct val="58928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800" spc="-5" dirty="0">
                <a:latin typeface="华文新魏"/>
                <a:cs typeface="华文新魏"/>
              </a:rPr>
              <a:t>预测</a:t>
            </a:r>
            <a:r>
              <a:rPr sz="2800" spc="-10" dirty="0">
                <a:latin typeface="华文新魏"/>
                <a:cs typeface="华文新魏"/>
              </a:rPr>
              <a:t>型</a:t>
            </a:r>
            <a:r>
              <a:rPr sz="2800" spc="-5" dirty="0">
                <a:latin typeface="华文新魏"/>
                <a:cs typeface="华文新魏"/>
              </a:rPr>
              <a:t>:</a:t>
            </a:r>
            <a:endParaRPr sz="2800">
              <a:latin typeface="华文新魏"/>
              <a:cs typeface="华文新魏"/>
            </a:endParaRPr>
          </a:p>
          <a:p>
            <a:pPr marL="652780" marR="5080" lvl="1" indent="-273050">
              <a:lnSpc>
                <a:spcPct val="100000"/>
              </a:lnSpc>
              <a:spcBef>
                <a:spcPts val="625"/>
              </a:spcBef>
              <a:buClr>
                <a:srgbClr val="93B6D2"/>
              </a:buClr>
              <a:buSzPct val="70000"/>
              <a:buFont typeface="Wingdings 2"/>
              <a:buChar char=""/>
              <a:tabLst>
                <a:tab pos="653415" algn="l"/>
              </a:tabLst>
            </a:pPr>
            <a:r>
              <a:rPr sz="2500" spc="-5" dirty="0">
                <a:latin typeface="华文新魏"/>
                <a:cs typeface="华文新魏"/>
              </a:rPr>
              <a:t>提前进行大量的计划工作，然后一</a:t>
            </a:r>
            <a:r>
              <a:rPr sz="2500" spc="5" dirty="0">
                <a:latin typeface="华文新魏"/>
                <a:cs typeface="华文新魏"/>
              </a:rPr>
              <a:t>次</a:t>
            </a:r>
            <a:r>
              <a:rPr sz="2500" spc="-5" dirty="0">
                <a:latin typeface="华文新魏"/>
                <a:cs typeface="华文新魏"/>
              </a:rPr>
              <a:t>性执</a:t>
            </a:r>
            <a:r>
              <a:rPr sz="2500" spc="5" dirty="0">
                <a:latin typeface="华文新魏"/>
                <a:cs typeface="华文新魏"/>
              </a:rPr>
              <a:t>行</a:t>
            </a:r>
            <a:r>
              <a:rPr sz="2500" spc="-5" dirty="0">
                <a:latin typeface="华文新魏"/>
                <a:cs typeface="华文新魏"/>
              </a:rPr>
              <a:t>；执</a:t>
            </a:r>
            <a:r>
              <a:rPr sz="2500" spc="5" dirty="0">
                <a:latin typeface="华文新魏"/>
                <a:cs typeface="华文新魏"/>
              </a:rPr>
              <a:t>行</a:t>
            </a:r>
            <a:r>
              <a:rPr sz="2500" spc="-5" dirty="0">
                <a:latin typeface="华文新魏"/>
                <a:cs typeface="华文新魏"/>
              </a:rPr>
              <a:t>是一个 连续的过程。</a:t>
            </a:r>
            <a:endParaRPr sz="25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670"/>
              </a:spcBef>
              <a:buClr>
                <a:srgbClr val="DD8046"/>
              </a:buClr>
              <a:buSzPct val="58928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800" spc="-5" dirty="0">
                <a:latin typeface="华文新魏"/>
                <a:cs typeface="华文新魏"/>
              </a:rPr>
              <a:t>迭代</a:t>
            </a:r>
            <a:r>
              <a:rPr sz="2800" spc="-10" dirty="0">
                <a:latin typeface="华文新魏"/>
                <a:cs typeface="华文新魏"/>
              </a:rPr>
              <a:t>型</a:t>
            </a:r>
            <a:r>
              <a:rPr sz="2800" spc="-5" dirty="0">
                <a:latin typeface="华文新魏"/>
                <a:cs typeface="华文新魏"/>
              </a:rPr>
              <a:t>:</a:t>
            </a:r>
            <a:endParaRPr sz="2800">
              <a:latin typeface="华文新魏"/>
              <a:cs typeface="华文新魏"/>
            </a:endParaRPr>
          </a:p>
          <a:p>
            <a:pPr marL="652780" lvl="1" indent="-273685">
              <a:lnSpc>
                <a:spcPct val="100000"/>
              </a:lnSpc>
              <a:spcBef>
                <a:spcPts val="630"/>
              </a:spcBef>
              <a:buClr>
                <a:srgbClr val="93B6D2"/>
              </a:buClr>
              <a:buSzPct val="70000"/>
              <a:buFont typeface="Wingdings 2"/>
              <a:buChar char=""/>
              <a:tabLst>
                <a:tab pos="653415" algn="l"/>
              </a:tabLst>
            </a:pPr>
            <a:r>
              <a:rPr sz="2500" spc="-5" dirty="0">
                <a:latin typeface="华文新魏"/>
                <a:cs typeface="华文新魏"/>
              </a:rPr>
              <a:t>允许对未完成的工作进行反馈，从</a:t>
            </a:r>
            <a:r>
              <a:rPr sz="2500" spc="5" dirty="0">
                <a:latin typeface="华文新魏"/>
                <a:cs typeface="华文新魏"/>
              </a:rPr>
              <a:t>而</a:t>
            </a:r>
            <a:r>
              <a:rPr sz="2500" spc="-5" dirty="0">
                <a:latin typeface="华文新魏"/>
                <a:cs typeface="华文新魏"/>
              </a:rPr>
              <a:t>改进</a:t>
            </a:r>
            <a:r>
              <a:rPr sz="2500" spc="5" dirty="0">
                <a:latin typeface="华文新魏"/>
                <a:cs typeface="华文新魏"/>
              </a:rPr>
              <a:t>和</a:t>
            </a:r>
            <a:r>
              <a:rPr sz="2500" spc="-5" dirty="0">
                <a:latin typeface="华文新魏"/>
                <a:cs typeface="华文新魏"/>
              </a:rPr>
              <a:t>修改</a:t>
            </a:r>
            <a:r>
              <a:rPr sz="2500" spc="5" dirty="0">
                <a:latin typeface="华文新魏"/>
                <a:cs typeface="华文新魏"/>
              </a:rPr>
              <a:t>该</a:t>
            </a:r>
            <a:r>
              <a:rPr sz="2500" spc="-5" dirty="0">
                <a:latin typeface="华文新魏"/>
                <a:cs typeface="华文新魏"/>
              </a:rPr>
              <a:t>工作。</a:t>
            </a:r>
            <a:endParaRPr sz="25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685"/>
              </a:spcBef>
              <a:buClr>
                <a:srgbClr val="DD8046"/>
              </a:buClr>
              <a:buSzPct val="58928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800" spc="-5" dirty="0">
                <a:latin typeface="华文新魏"/>
                <a:cs typeface="华文新魏"/>
              </a:rPr>
              <a:t>增量</a:t>
            </a:r>
            <a:r>
              <a:rPr sz="2800" spc="-10" dirty="0">
                <a:latin typeface="华文新魏"/>
                <a:cs typeface="华文新魏"/>
              </a:rPr>
              <a:t>型</a:t>
            </a:r>
            <a:r>
              <a:rPr sz="2800" spc="-5" dirty="0">
                <a:latin typeface="华文新魏"/>
                <a:cs typeface="华文新魏"/>
              </a:rPr>
              <a:t>:</a:t>
            </a:r>
            <a:endParaRPr sz="2800">
              <a:latin typeface="华文新魏"/>
              <a:cs typeface="华文新魏"/>
            </a:endParaRPr>
          </a:p>
          <a:p>
            <a:pPr marL="652780" lvl="1" indent="-273685">
              <a:lnSpc>
                <a:spcPct val="100000"/>
              </a:lnSpc>
              <a:spcBef>
                <a:spcPts val="625"/>
              </a:spcBef>
              <a:buClr>
                <a:srgbClr val="93B6D2"/>
              </a:buClr>
              <a:buSzPct val="70000"/>
              <a:buFont typeface="Wingdings 2"/>
              <a:buChar char=""/>
              <a:tabLst>
                <a:tab pos="653415" algn="l"/>
              </a:tabLst>
            </a:pPr>
            <a:r>
              <a:rPr sz="2500" spc="-5" dirty="0">
                <a:latin typeface="华文新魏"/>
                <a:cs typeface="华文新魏"/>
              </a:rPr>
              <a:t>向客户提供各个己完成的，可能立</a:t>
            </a:r>
            <a:r>
              <a:rPr sz="2500" spc="5" dirty="0">
                <a:latin typeface="华文新魏"/>
                <a:cs typeface="华文新魏"/>
              </a:rPr>
              <a:t>即</a:t>
            </a:r>
            <a:r>
              <a:rPr sz="2500" spc="-5" dirty="0">
                <a:latin typeface="华文新魏"/>
                <a:cs typeface="华文新魏"/>
              </a:rPr>
              <a:t>使用</a:t>
            </a:r>
            <a:r>
              <a:rPr sz="2500" spc="5" dirty="0">
                <a:latin typeface="华文新魏"/>
                <a:cs typeface="华文新魏"/>
              </a:rPr>
              <a:t>的</a:t>
            </a:r>
            <a:r>
              <a:rPr sz="2500" spc="-5" dirty="0">
                <a:latin typeface="华文新魏"/>
                <a:cs typeface="华文新魏"/>
              </a:rPr>
              <a:t>可交</a:t>
            </a:r>
            <a:r>
              <a:rPr sz="2500" spc="5" dirty="0">
                <a:latin typeface="华文新魏"/>
                <a:cs typeface="华文新魏"/>
              </a:rPr>
              <a:t>付</a:t>
            </a:r>
            <a:r>
              <a:rPr sz="2500" spc="-5" dirty="0">
                <a:latin typeface="华文新魏"/>
                <a:cs typeface="华文新魏"/>
              </a:rPr>
              <a:t>成果。</a:t>
            </a:r>
            <a:endParaRPr sz="25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670"/>
              </a:spcBef>
              <a:buClr>
                <a:srgbClr val="DD8046"/>
              </a:buClr>
              <a:buSzPct val="58928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800" spc="-5" dirty="0">
                <a:latin typeface="华文新魏"/>
                <a:cs typeface="华文新魏"/>
              </a:rPr>
              <a:t>敏捷</a:t>
            </a:r>
            <a:r>
              <a:rPr sz="2800" spc="-10" dirty="0">
                <a:latin typeface="华文新魏"/>
                <a:cs typeface="华文新魏"/>
              </a:rPr>
              <a:t>型</a:t>
            </a:r>
            <a:r>
              <a:rPr sz="2800" spc="-5" dirty="0">
                <a:latin typeface="华文新魏"/>
                <a:cs typeface="华文新魏"/>
              </a:rPr>
              <a:t>:</a:t>
            </a:r>
            <a:endParaRPr sz="2800">
              <a:latin typeface="华文新魏"/>
              <a:cs typeface="华文新魏"/>
            </a:endParaRPr>
          </a:p>
          <a:p>
            <a:pPr marL="652780" lvl="1" indent="-273685">
              <a:lnSpc>
                <a:spcPct val="100000"/>
              </a:lnSpc>
              <a:spcBef>
                <a:spcPts val="625"/>
              </a:spcBef>
              <a:buClr>
                <a:srgbClr val="93B6D2"/>
              </a:buClr>
              <a:buSzPct val="70000"/>
              <a:buFont typeface="Wingdings 2"/>
              <a:buChar char=""/>
              <a:tabLst>
                <a:tab pos="653415" algn="l"/>
              </a:tabLst>
            </a:pPr>
            <a:r>
              <a:rPr sz="2500" spc="-10" dirty="0">
                <a:latin typeface="华文新魏"/>
                <a:cs typeface="华文新魏"/>
              </a:rPr>
              <a:t>既有迭代，也有增量，便于完善工</a:t>
            </a:r>
            <a:r>
              <a:rPr sz="2500" dirty="0">
                <a:latin typeface="华文新魏"/>
                <a:cs typeface="华文新魏"/>
              </a:rPr>
              <a:t>作</a:t>
            </a:r>
            <a:r>
              <a:rPr sz="2500" spc="-10" dirty="0">
                <a:latin typeface="华文新魏"/>
                <a:cs typeface="华文新魏"/>
              </a:rPr>
              <a:t>，频</a:t>
            </a:r>
            <a:r>
              <a:rPr sz="2500" dirty="0">
                <a:latin typeface="华文新魏"/>
                <a:cs typeface="华文新魏"/>
              </a:rPr>
              <a:t>繁</a:t>
            </a:r>
            <a:r>
              <a:rPr sz="2500" spc="-10" dirty="0">
                <a:latin typeface="华文新魏"/>
                <a:cs typeface="华文新魏"/>
              </a:rPr>
              <a:t>交付。</a:t>
            </a:r>
            <a:endParaRPr sz="2500">
              <a:latin typeface="华文新魏"/>
              <a:cs typeface="华文新魏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31970" y="6354571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7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315213"/>
            <a:ext cx="4500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生存期的项目特征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9521" y="636889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5047" y="1853152"/>
            <a:ext cx="7822715" cy="38769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0"/>
            <a:ext cx="2263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i="0" dirty="0">
                <a:latin typeface="华文隶书"/>
                <a:cs typeface="华文隶书"/>
              </a:rPr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5416" y="1932561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29967" y="1868423"/>
            <a:ext cx="506095" cy="4318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79375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625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85416" y="2557088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29967" y="2491739"/>
            <a:ext cx="483234" cy="43307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0645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6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86939" y="3229553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29967" y="3163823"/>
            <a:ext cx="483234" cy="43307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0645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6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86939" y="5053146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六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29967" y="4988052"/>
            <a:ext cx="485140" cy="4318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0010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63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六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35935" y="1868423"/>
            <a:ext cx="4628515" cy="4318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18110" rIns="0" bIns="0" rtlCol="0">
            <a:spAutoFit/>
          </a:bodyPr>
          <a:lstStyle/>
          <a:p>
            <a:pPr marL="1202055">
              <a:lnSpc>
                <a:spcPct val="100000"/>
              </a:lnSpc>
              <a:spcBef>
                <a:spcPts val="930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生存期模型选择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13076" y="2491739"/>
            <a:ext cx="4628515" cy="43307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57785" rIns="0" bIns="0" rtlCol="0">
            <a:spAutoFit/>
          </a:bodyPr>
          <a:lstStyle/>
          <a:p>
            <a:pPr marR="445770" algn="ctr">
              <a:lnSpc>
                <a:spcPct val="100000"/>
              </a:lnSpc>
              <a:spcBef>
                <a:spcPts val="455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预测模型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13076" y="3163823"/>
            <a:ext cx="4628515" cy="43307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58419" rIns="0" bIns="0" rtlCol="0">
            <a:spAutoFit/>
          </a:bodyPr>
          <a:lstStyle/>
          <a:p>
            <a:pPr marR="494665" algn="ctr">
              <a:lnSpc>
                <a:spcPct val="100000"/>
              </a:lnSpc>
              <a:spcBef>
                <a:spcPts val="459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迭代模型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14600" y="4988052"/>
            <a:ext cx="4630420" cy="4318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05410" rIns="0" bIns="0" rtlCol="0">
            <a:spAutoFit/>
          </a:bodyPr>
          <a:lstStyle/>
          <a:p>
            <a:pPr marR="407034" algn="ctr">
              <a:lnSpc>
                <a:spcPct val="100000"/>
              </a:lnSpc>
              <a:spcBef>
                <a:spcPts val="830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混合模型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64714" y="3853055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08632" y="3787140"/>
            <a:ext cx="504825" cy="4343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128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64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13076" y="3787140"/>
            <a:ext cx="4628515" cy="4343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07950" rIns="0" bIns="0" rtlCol="0">
            <a:spAutoFit/>
          </a:bodyPr>
          <a:lstStyle/>
          <a:p>
            <a:pPr marR="445134" algn="ctr">
              <a:lnSpc>
                <a:spcPct val="100000"/>
              </a:lnSpc>
              <a:spcBef>
                <a:spcPts val="850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增量模型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64714" y="4476693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08632" y="4411979"/>
            <a:ext cx="504825" cy="4318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001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63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13076" y="4411979"/>
            <a:ext cx="4628515" cy="4318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08585" rIns="0" bIns="0" rtlCol="0">
            <a:spAutoFit/>
          </a:bodyPr>
          <a:lstStyle/>
          <a:p>
            <a:pPr marR="445134" algn="ctr">
              <a:lnSpc>
                <a:spcPct val="100000"/>
              </a:lnSpc>
              <a:spcBef>
                <a:spcPts val="855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敏捷模型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85161" y="5726424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七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28444" y="5661659"/>
            <a:ext cx="485140" cy="4318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0010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63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七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13076" y="5661659"/>
            <a:ext cx="4628515" cy="4318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05410" rIns="0" bIns="0" rtlCol="0">
            <a:spAutoFit/>
          </a:bodyPr>
          <a:lstStyle/>
          <a:p>
            <a:pPr marR="404495" algn="ctr">
              <a:lnSpc>
                <a:spcPct val="100000"/>
              </a:lnSpc>
              <a:spcBef>
                <a:spcPts val="830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322833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预测模型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3503" y="2636484"/>
            <a:ext cx="8144537" cy="1697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31970" y="60101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10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232663"/>
            <a:ext cx="29794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dirty="0">
                <a:latin typeface="华文隶书"/>
                <a:cs typeface="华文隶书"/>
              </a:rPr>
              <a:t>预测型</a:t>
            </a:r>
            <a:r>
              <a:rPr dirty="0"/>
              <a:t>-</a:t>
            </a:r>
            <a:r>
              <a:rPr i="0" dirty="0">
                <a:latin typeface="华文隶书"/>
                <a:cs typeface="华文隶书"/>
              </a:rPr>
              <a:t>模型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26458" y="6153099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6029" y="1268729"/>
            <a:ext cx="153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5" dirty="0">
                <a:latin typeface="Arial Narrow"/>
                <a:cs typeface="Arial Narrow"/>
              </a:rPr>
              <a:t>11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3409" y="1774698"/>
            <a:ext cx="8153400" cy="305308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410845" indent="-320675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59375"/>
              <a:buFont typeface="Wingdings"/>
              <a:buChar char=""/>
              <a:tabLst>
                <a:tab pos="411480" algn="l"/>
              </a:tabLst>
            </a:pPr>
            <a:r>
              <a:rPr sz="3200" dirty="0">
                <a:latin typeface="华文新魏"/>
                <a:cs typeface="华文新魏"/>
              </a:rPr>
              <a:t>瀑布模型</a:t>
            </a:r>
            <a:endParaRPr sz="3200">
              <a:latin typeface="华文新魏"/>
              <a:cs typeface="华文新魏"/>
            </a:endParaRPr>
          </a:p>
          <a:p>
            <a:pPr marL="410845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375"/>
              <a:buFont typeface="Wingdings"/>
              <a:buChar char=""/>
              <a:tabLst>
                <a:tab pos="411480" algn="l"/>
              </a:tabLst>
            </a:pPr>
            <a:r>
              <a:rPr sz="3200" spc="-10" dirty="0">
                <a:latin typeface="华文新魏"/>
                <a:cs typeface="华文新魏"/>
              </a:rPr>
              <a:t>V</a:t>
            </a:r>
            <a:r>
              <a:rPr sz="3200" dirty="0">
                <a:latin typeface="华文新魏"/>
                <a:cs typeface="华文新魏"/>
              </a:rPr>
              <a:t>模型</a:t>
            </a:r>
            <a:endParaRPr sz="32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4791" y="305257"/>
            <a:ext cx="2263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i="0" dirty="0">
                <a:latin typeface="华文隶书"/>
                <a:cs typeface="华文隶书"/>
              </a:rPr>
              <a:t>瀑布模型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34434" y="636889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5800" y="2595372"/>
            <a:ext cx="1359535" cy="8261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750">
              <a:latin typeface="Times New Roman"/>
              <a:cs typeface="Times New Roman"/>
            </a:endParaRPr>
          </a:p>
          <a:p>
            <a:pPr marL="16954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宋体"/>
                <a:cs typeface="宋体"/>
              </a:rPr>
              <a:t>需求分析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85060" y="3147060"/>
            <a:ext cx="1358265" cy="8261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750">
              <a:latin typeface="Times New Roman"/>
              <a:cs typeface="Times New Roman"/>
            </a:endParaRPr>
          </a:p>
          <a:p>
            <a:pPr marL="423545">
              <a:lnSpc>
                <a:spcPct val="100000"/>
              </a:lnSpc>
              <a:spcBef>
                <a:spcPts val="5"/>
              </a:spcBef>
            </a:pPr>
            <a:r>
              <a:rPr sz="2000" spc="5" dirty="0">
                <a:latin typeface="宋体"/>
                <a:cs typeface="宋体"/>
              </a:rPr>
              <a:t>设计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82796" y="3835908"/>
            <a:ext cx="1359535" cy="8261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7018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宋体"/>
                <a:cs typeface="宋体"/>
              </a:rPr>
              <a:t>编码实施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82055" y="4387596"/>
            <a:ext cx="1358265" cy="8261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42481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宋体"/>
                <a:cs typeface="宋体"/>
              </a:rPr>
              <a:t>测试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79792" y="5007864"/>
            <a:ext cx="1359535" cy="8261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426084">
              <a:lnSpc>
                <a:spcPct val="100000"/>
              </a:lnSpc>
            </a:pPr>
            <a:r>
              <a:rPr sz="2000" dirty="0">
                <a:latin typeface="宋体"/>
                <a:cs typeface="宋体"/>
              </a:rPr>
              <a:t>维护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69719" y="1905000"/>
            <a:ext cx="0" cy="690880"/>
          </a:xfrm>
          <a:custGeom>
            <a:avLst/>
            <a:gdLst/>
            <a:ahLst/>
            <a:cxnLst/>
            <a:rect l="l" t="t" r="r" b="b"/>
            <a:pathLst>
              <a:path h="690880">
                <a:moveTo>
                  <a:pt x="0" y="690372"/>
                </a:moveTo>
                <a:lnTo>
                  <a:pt x="0" y="0"/>
                </a:lnTo>
              </a:path>
            </a:pathLst>
          </a:custGeom>
          <a:ln w="57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569719" y="1905000"/>
            <a:ext cx="1358265" cy="0"/>
          </a:xfrm>
          <a:custGeom>
            <a:avLst/>
            <a:gdLst/>
            <a:ahLst/>
            <a:cxnLst/>
            <a:rect l="l" t="t" r="r" b="b"/>
            <a:pathLst>
              <a:path w="1358264">
                <a:moveTo>
                  <a:pt x="0" y="0"/>
                </a:moveTo>
                <a:lnTo>
                  <a:pt x="1357884" y="0"/>
                </a:lnTo>
              </a:path>
            </a:pathLst>
          </a:custGeom>
          <a:ln w="57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840735" y="1905000"/>
            <a:ext cx="173990" cy="1242060"/>
          </a:xfrm>
          <a:custGeom>
            <a:avLst/>
            <a:gdLst/>
            <a:ahLst/>
            <a:cxnLst/>
            <a:rect l="l" t="t" r="r" b="b"/>
            <a:pathLst>
              <a:path w="173989" h="1242060">
                <a:moveTo>
                  <a:pt x="57912" y="1068324"/>
                </a:moveTo>
                <a:lnTo>
                  <a:pt x="0" y="1068324"/>
                </a:lnTo>
                <a:lnTo>
                  <a:pt x="86868" y="1242060"/>
                </a:lnTo>
                <a:lnTo>
                  <a:pt x="159258" y="1097279"/>
                </a:lnTo>
                <a:lnTo>
                  <a:pt x="57912" y="1097279"/>
                </a:lnTo>
                <a:lnTo>
                  <a:pt x="57912" y="1068324"/>
                </a:lnTo>
                <a:close/>
              </a:path>
              <a:path w="173989" h="1242060">
                <a:moveTo>
                  <a:pt x="115824" y="0"/>
                </a:moveTo>
                <a:lnTo>
                  <a:pt x="57912" y="0"/>
                </a:lnTo>
                <a:lnTo>
                  <a:pt x="57912" y="1097279"/>
                </a:lnTo>
                <a:lnTo>
                  <a:pt x="115824" y="1097279"/>
                </a:lnTo>
                <a:lnTo>
                  <a:pt x="115824" y="0"/>
                </a:lnTo>
                <a:close/>
              </a:path>
              <a:path w="173989" h="1242060">
                <a:moveTo>
                  <a:pt x="173736" y="1068324"/>
                </a:moveTo>
                <a:lnTo>
                  <a:pt x="115824" y="1068324"/>
                </a:lnTo>
                <a:lnTo>
                  <a:pt x="115824" y="1097279"/>
                </a:lnTo>
                <a:lnTo>
                  <a:pt x="159258" y="1097279"/>
                </a:lnTo>
                <a:lnTo>
                  <a:pt x="173736" y="1068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336035" y="2456688"/>
            <a:ext cx="0" cy="690880"/>
          </a:xfrm>
          <a:custGeom>
            <a:avLst/>
            <a:gdLst/>
            <a:ahLst/>
            <a:cxnLst/>
            <a:rect l="l" t="t" r="r" b="b"/>
            <a:pathLst>
              <a:path h="690880">
                <a:moveTo>
                  <a:pt x="0" y="690372"/>
                </a:moveTo>
                <a:lnTo>
                  <a:pt x="0" y="0"/>
                </a:lnTo>
              </a:path>
            </a:pathLst>
          </a:custGeom>
          <a:ln w="57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336035" y="2456688"/>
            <a:ext cx="1224280" cy="0"/>
          </a:xfrm>
          <a:custGeom>
            <a:avLst/>
            <a:gdLst/>
            <a:ahLst/>
            <a:cxnLst/>
            <a:rect l="l" t="t" r="r" b="b"/>
            <a:pathLst>
              <a:path w="1224279">
                <a:moveTo>
                  <a:pt x="0" y="0"/>
                </a:moveTo>
                <a:lnTo>
                  <a:pt x="1223772" y="0"/>
                </a:lnTo>
              </a:path>
            </a:pathLst>
          </a:custGeom>
          <a:ln w="57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72940" y="2456688"/>
            <a:ext cx="173990" cy="1309370"/>
          </a:xfrm>
          <a:custGeom>
            <a:avLst/>
            <a:gdLst/>
            <a:ahLst/>
            <a:cxnLst/>
            <a:rect l="l" t="t" r="r" b="b"/>
            <a:pathLst>
              <a:path w="173989" h="1309370">
                <a:moveTo>
                  <a:pt x="57912" y="1135379"/>
                </a:moveTo>
                <a:lnTo>
                  <a:pt x="0" y="1135379"/>
                </a:lnTo>
                <a:lnTo>
                  <a:pt x="86868" y="1309116"/>
                </a:lnTo>
                <a:lnTo>
                  <a:pt x="159258" y="1164336"/>
                </a:lnTo>
                <a:lnTo>
                  <a:pt x="57912" y="1164336"/>
                </a:lnTo>
                <a:lnTo>
                  <a:pt x="57912" y="1135379"/>
                </a:lnTo>
                <a:close/>
              </a:path>
              <a:path w="173989" h="1309370">
                <a:moveTo>
                  <a:pt x="115824" y="0"/>
                </a:moveTo>
                <a:lnTo>
                  <a:pt x="57912" y="0"/>
                </a:lnTo>
                <a:lnTo>
                  <a:pt x="57912" y="1164336"/>
                </a:lnTo>
                <a:lnTo>
                  <a:pt x="115824" y="1164336"/>
                </a:lnTo>
                <a:lnTo>
                  <a:pt x="115824" y="0"/>
                </a:lnTo>
                <a:close/>
              </a:path>
              <a:path w="173989" h="1309370">
                <a:moveTo>
                  <a:pt x="173736" y="1135379"/>
                </a:moveTo>
                <a:lnTo>
                  <a:pt x="115824" y="1135379"/>
                </a:lnTo>
                <a:lnTo>
                  <a:pt x="115824" y="1164336"/>
                </a:lnTo>
                <a:lnTo>
                  <a:pt x="159258" y="1164336"/>
                </a:lnTo>
                <a:lnTo>
                  <a:pt x="173736" y="11353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33771" y="3145535"/>
            <a:ext cx="0" cy="688975"/>
          </a:xfrm>
          <a:custGeom>
            <a:avLst/>
            <a:gdLst/>
            <a:ahLst/>
            <a:cxnLst/>
            <a:rect l="l" t="t" r="r" b="b"/>
            <a:pathLst>
              <a:path h="688975">
                <a:moveTo>
                  <a:pt x="0" y="688847"/>
                </a:moveTo>
                <a:lnTo>
                  <a:pt x="0" y="0"/>
                </a:lnTo>
              </a:path>
            </a:pathLst>
          </a:custGeom>
          <a:ln w="57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033771" y="3145535"/>
            <a:ext cx="1224280" cy="0"/>
          </a:xfrm>
          <a:custGeom>
            <a:avLst/>
            <a:gdLst/>
            <a:ahLst/>
            <a:cxnLst/>
            <a:rect l="l" t="t" r="r" b="b"/>
            <a:pathLst>
              <a:path w="1224279">
                <a:moveTo>
                  <a:pt x="0" y="0"/>
                </a:moveTo>
                <a:lnTo>
                  <a:pt x="1223772" y="0"/>
                </a:lnTo>
              </a:path>
            </a:pathLst>
          </a:custGeom>
          <a:ln w="57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70676" y="3145535"/>
            <a:ext cx="173990" cy="1240790"/>
          </a:xfrm>
          <a:custGeom>
            <a:avLst/>
            <a:gdLst/>
            <a:ahLst/>
            <a:cxnLst/>
            <a:rect l="l" t="t" r="r" b="b"/>
            <a:pathLst>
              <a:path w="173989" h="1240789">
                <a:moveTo>
                  <a:pt x="57912" y="1066800"/>
                </a:moveTo>
                <a:lnTo>
                  <a:pt x="0" y="1066800"/>
                </a:lnTo>
                <a:lnTo>
                  <a:pt x="86868" y="1240536"/>
                </a:lnTo>
                <a:lnTo>
                  <a:pt x="159258" y="1095756"/>
                </a:lnTo>
                <a:lnTo>
                  <a:pt x="57912" y="1095756"/>
                </a:lnTo>
                <a:lnTo>
                  <a:pt x="57912" y="1066800"/>
                </a:lnTo>
                <a:close/>
              </a:path>
              <a:path w="173989" h="1240789">
                <a:moveTo>
                  <a:pt x="115824" y="0"/>
                </a:moveTo>
                <a:lnTo>
                  <a:pt x="57912" y="0"/>
                </a:lnTo>
                <a:lnTo>
                  <a:pt x="57912" y="1095756"/>
                </a:lnTo>
                <a:lnTo>
                  <a:pt x="115824" y="1095756"/>
                </a:lnTo>
                <a:lnTo>
                  <a:pt x="115824" y="0"/>
                </a:lnTo>
                <a:close/>
              </a:path>
              <a:path w="173989" h="1240789">
                <a:moveTo>
                  <a:pt x="173736" y="1066800"/>
                </a:moveTo>
                <a:lnTo>
                  <a:pt x="115824" y="1066800"/>
                </a:lnTo>
                <a:lnTo>
                  <a:pt x="115824" y="1095756"/>
                </a:lnTo>
                <a:lnTo>
                  <a:pt x="159258" y="1095756"/>
                </a:lnTo>
                <a:lnTo>
                  <a:pt x="173736" y="1066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665976" y="3695700"/>
            <a:ext cx="0" cy="690880"/>
          </a:xfrm>
          <a:custGeom>
            <a:avLst/>
            <a:gdLst/>
            <a:ahLst/>
            <a:cxnLst/>
            <a:rect l="l" t="t" r="r" b="b"/>
            <a:pathLst>
              <a:path h="690879">
                <a:moveTo>
                  <a:pt x="0" y="690372"/>
                </a:moveTo>
                <a:lnTo>
                  <a:pt x="0" y="0"/>
                </a:lnTo>
              </a:path>
            </a:pathLst>
          </a:custGeom>
          <a:ln w="57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665976" y="3695700"/>
            <a:ext cx="1224280" cy="0"/>
          </a:xfrm>
          <a:custGeom>
            <a:avLst/>
            <a:gdLst/>
            <a:ahLst/>
            <a:cxnLst/>
            <a:rect l="l" t="t" r="r" b="b"/>
            <a:pathLst>
              <a:path w="1224279">
                <a:moveTo>
                  <a:pt x="0" y="0"/>
                </a:moveTo>
                <a:lnTo>
                  <a:pt x="1223772" y="0"/>
                </a:lnTo>
              </a:path>
            </a:pathLst>
          </a:custGeom>
          <a:ln w="57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802880" y="3695700"/>
            <a:ext cx="173990" cy="1310640"/>
          </a:xfrm>
          <a:custGeom>
            <a:avLst/>
            <a:gdLst/>
            <a:ahLst/>
            <a:cxnLst/>
            <a:rect l="l" t="t" r="r" b="b"/>
            <a:pathLst>
              <a:path w="173990" h="1310639">
                <a:moveTo>
                  <a:pt x="57912" y="1136904"/>
                </a:moveTo>
                <a:lnTo>
                  <a:pt x="0" y="1136904"/>
                </a:lnTo>
                <a:lnTo>
                  <a:pt x="86868" y="1310639"/>
                </a:lnTo>
                <a:lnTo>
                  <a:pt x="159258" y="1165860"/>
                </a:lnTo>
                <a:lnTo>
                  <a:pt x="57912" y="1165860"/>
                </a:lnTo>
                <a:lnTo>
                  <a:pt x="57912" y="1136904"/>
                </a:lnTo>
                <a:close/>
              </a:path>
              <a:path w="173990" h="1310639">
                <a:moveTo>
                  <a:pt x="115824" y="0"/>
                </a:moveTo>
                <a:lnTo>
                  <a:pt x="57912" y="0"/>
                </a:lnTo>
                <a:lnTo>
                  <a:pt x="57912" y="1165860"/>
                </a:lnTo>
                <a:lnTo>
                  <a:pt x="115824" y="1165860"/>
                </a:lnTo>
                <a:lnTo>
                  <a:pt x="115824" y="0"/>
                </a:lnTo>
                <a:close/>
              </a:path>
              <a:path w="173990" h="1310639">
                <a:moveTo>
                  <a:pt x="173736" y="1136904"/>
                </a:moveTo>
                <a:lnTo>
                  <a:pt x="115824" y="1136904"/>
                </a:lnTo>
                <a:lnTo>
                  <a:pt x="115824" y="1165860"/>
                </a:lnTo>
                <a:lnTo>
                  <a:pt x="159258" y="1165860"/>
                </a:lnTo>
                <a:lnTo>
                  <a:pt x="173736" y="11369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283209"/>
            <a:ext cx="61779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dirty="0">
                <a:latin typeface="华文隶书"/>
                <a:cs typeface="华文隶书"/>
              </a:rPr>
              <a:t>适合瀑布模型的项目特征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69994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57883" y="3185160"/>
            <a:ext cx="7391400" cy="13045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37232" y="3630167"/>
            <a:ext cx="509270" cy="344805"/>
          </a:xfrm>
          <a:custGeom>
            <a:avLst/>
            <a:gdLst/>
            <a:ahLst/>
            <a:cxnLst/>
            <a:rect l="l" t="t" r="r" b="b"/>
            <a:pathLst>
              <a:path w="509269" h="344804">
                <a:moveTo>
                  <a:pt x="352298" y="0"/>
                </a:moveTo>
                <a:lnTo>
                  <a:pt x="352298" y="86105"/>
                </a:lnTo>
                <a:lnTo>
                  <a:pt x="0" y="86105"/>
                </a:lnTo>
                <a:lnTo>
                  <a:pt x="0" y="258317"/>
                </a:lnTo>
                <a:lnTo>
                  <a:pt x="352298" y="258317"/>
                </a:lnTo>
                <a:lnTo>
                  <a:pt x="352298" y="344423"/>
                </a:lnTo>
                <a:lnTo>
                  <a:pt x="509016" y="172211"/>
                </a:lnTo>
                <a:lnTo>
                  <a:pt x="352298" y="0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95983" y="4707635"/>
            <a:ext cx="7342632" cy="13136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09800" y="5172455"/>
            <a:ext cx="509270" cy="347980"/>
          </a:xfrm>
          <a:custGeom>
            <a:avLst/>
            <a:gdLst/>
            <a:ahLst/>
            <a:cxnLst/>
            <a:rect l="l" t="t" r="r" b="b"/>
            <a:pathLst>
              <a:path w="509269" h="347979">
                <a:moveTo>
                  <a:pt x="352298" y="0"/>
                </a:moveTo>
                <a:lnTo>
                  <a:pt x="352298" y="86868"/>
                </a:lnTo>
                <a:lnTo>
                  <a:pt x="0" y="86868"/>
                </a:lnTo>
                <a:lnTo>
                  <a:pt x="0" y="260604"/>
                </a:lnTo>
                <a:lnTo>
                  <a:pt x="352298" y="260604"/>
                </a:lnTo>
                <a:lnTo>
                  <a:pt x="352298" y="347472"/>
                </a:lnTo>
                <a:lnTo>
                  <a:pt x="509016" y="173736"/>
                </a:lnTo>
                <a:lnTo>
                  <a:pt x="352298" y="0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57883" y="1688592"/>
            <a:ext cx="7391400" cy="13060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17420" y="2135123"/>
            <a:ext cx="510540" cy="344805"/>
          </a:xfrm>
          <a:custGeom>
            <a:avLst/>
            <a:gdLst/>
            <a:ahLst/>
            <a:cxnLst/>
            <a:rect l="l" t="t" r="r" b="b"/>
            <a:pathLst>
              <a:path w="510539" h="344805">
                <a:moveTo>
                  <a:pt x="353822" y="0"/>
                </a:moveTo>
                <a:lnTo>
                  <a:pt x="353822" y="86105"/>
                </a:lnTo>
                <a:lnTo>
                  <a:pt x="0" y="86105"/>
                </a:lnTo>
                <a:lnTo>
                  <a:pt x="0" y="258317"/>
                </a:lnTo>
                <a:lnTo>
                  <a:pt x="353822" y="258317"/>
                </a:lnTo>
                <a:lnTo>
                  <a:pt x="353822" y="344424"/>
                </a:lnTo>
                <a:lnTo>
                  <a:pt x="510540" y="172212"/>
                </a:lnTo>
                <a:lnTo>
                  <a:pt x="353822" y="0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74954" y="1674114"/>
            <a:ext cx="1463039" cy="12984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74954" y="1674114"/>
            <a:ext cx="1308735" cy="154940"/>
          </a:xfrm>
          <a:custGeom>
            <a:avLst/>
            <a:gdLst/>
            <a:ahLst/>
            <a:cxnLst/>
            <a:rect l="l" t="t" r="r" b="b"/>
            <a:pathLst>
              <a:path w="1308735" h="154939">
                <a:moveTo>
                  <a:pt x="0" y="154812"/>
                </a:moveTo>
                <a:lnTo>
                  <a:pt x="7891" y="105891"/>
                </a:lnTo>
                <a:lnTo>
                  <a:pt x="29865" y="63395"/>
                </a:lnTo>
                <a:lnTo>
                  <a:pt x="63373" y="29878"/>
                </a:lnTo>
                <a:lnTo>
                  <a:pt x="105863" y="7895"/>
                </a:lnTo>
                <a:lnTo>
                  <a:pt x="154787" y="0"/>
                </a:lnTo>
                <a:lnTo>
                  <a:pt x="1308227" y="0"/>
                </a:lnTo>
              </a:path>
            </a:pathLst>
          </a:custGeom>
          <a:ln w="25907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74954" y="1828926"/>
            <a:ext cx="154940" cy="1143635"/>
          </a:xfrm>
          <a:custGeom>
            <a:avLst/>
            <a:gdLst/>
            <a:ahLst/>
            <a:cxnLst/>
            <a:rect l="l" t="t" r="r" b="b"/>
            <a:pathLst>
              <a:path w="154940" h="1143635">
                <a:moveTo>
                  <a:pt x="154787" y="1143635"/>
                </a:moveTo>
                <a:lnTo>
                  <a:pt x="105863" y="1135739"/>
                </a:lnTo>
                <a:lnTo>
                  <a:pt x="63373" y="1113756"/>
                </a:lnTo>
                <a:lnTo>
                  <a:pt x="29865" y="1080239"/>
                </a:lnTo>
                <a:lnTo>
                  <a:pt x="7891" y="1037743"/>
                </a:lnTo>
                <a:lnTo>
                  <a:pt x="0" y="988822"/>
                </a:lnTo>
                <a:lnTo>
                  <a:pt x="0" y="0"/>
                </a:lnTo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083180" y="1674114"/>
            <a:ext cx="154940" cy="1298575"/>
          </a:xfrm>
          <a:custGeom>
            <a:avLst/>
            <a:gdLst/>
            <a:ahLst/>
            <a:cxnLst/>
            <a:rect l="l" t="t" r="r" b="b"/>
            <a:pathLst>
              <a:path w="154939" h="1298575">
                <a:moveTo>
                  <a:pt x="0" y="0"/>
                </a:moveTo>
                <a:lnTo>
                  <a:pt x="48921" y="7895"/>
                </a:lnTo>
                <a:lnTo>
                  <a:pt x="91417" y="29878"/>
                </a:lnTo>
                <a:lnTo>
                  <a:pt x="124934" y="63395"/>
                </a:lnTo>
                <a:lnTo>
                  <a:pt x="146917" y="105891"/>
                </a:lnTo>
                <a:lnTo>
                  <a:pt x="154812" y="154812"/>
                </a:lnTo>
                <a:lnTo>
                  <a:pt x="154812" y="1143635"/>
                </a:lnTo>
                <a:lnTo>
                  <a:pt x="146917" y="1192556"/>
                </a:lnTo>
                <a:lnTo>
                  <a:pt x="124934" y="1235052"/>
                </a:lnTo>
                <a:lnTo>
                  <a:pt x="91417" y="1268569"/>
                </a:lnTo>
                <a:lnTo>
                  <a:pt x="48921" y="1290552"/>
                </a:lnTo>
                <a:lnTo>
                  <a:pt x="0" y="1298448"/>
                </a:lnTo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74954" y="1674114"/>
            <a:ext cx="1463039" cy="12984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74954" y="1674114"/>
            <a:ext cx="1463040" cy="1298575"/>
          </a:xfrm>
          <a:custGeom>
            <a:avLst/>
            <a:gdLst/>
            <a:ahLst/>
            <a:cxnLst/>
            <a:rect l="l" t="t" r="r" b="b"/>
            <a:pathLst>
              <a:path w="1463039" h="1298575">
                <a:moveTo>
                  <a:pt x="0" y="154812"/>
                </a:moveTo>
                <a:lnTo>
                  <a:pt x="7891" y="105891"/>
                </a:lnTo>
                <a:lnTo>
                  <a:pt x="29865" y="63395"/>
                </a:lnTo>
                <a:lnTo>
                  <a:pt x="63373" y="29878"/>
                </a:lnTo>
                <a:lnTo>
                  <a:pt x="105863" y="7895"/>
                </a:lnTo>
                <a:lnTo>
                  <a:pt x="154787" y="0"/>
                </a:lnTo>
                <a:lnTo>
                  <a:pt x="1308227" y="0"/>
                </a:lnTo>
                <a:lnTo>
                  <a:pt x="1357148" y="7895"/>
                </a:lnTo>
                <a:lnTo>
                  <a:pt x="1399644" y="29878"/>
                </a:lnTo>
                <a:lnTo>
                  <a:pt x="1433161" y="63395"/>
                </a:lnTo>
                <a:lnTo>
                  <a:pt x="1455144" y="105891"/>
                </a:lnTo>
                <a:lnTo>
                  <a:pt x="1463039" y="154812"/>
                </a:lnTo>
                <a:lnTo>
                  <a:pt x="1463039" y="1143635"/>
                </a:lnTo>
                <a:lnTo>
                  <a:pt x="1455144" y="1192556"/>
                </a:lnTo>
                <a:lnTo>
                  <a:pt x="1433161" y="1235052"/>
                </a:lnTo>
                <a:lnTo>
                  <a:pt x="1399644" y="1268569"/>
                </a:lnTo>
                <a:lnTo>
                  <a:pt x="1357148" y="1290552"/>
                </a:lnTo>
                <a:lnTo>
                  <a:pt x="1308227" y="1298448"/>
                </a:lnTo>
                <a:lnTo>
                  <a:pt x="154787" y="1298448"/>
                </a:lnTo>
                <a:lnTo>
                  <a:pt x="105863" y="1290552"/>
                </a:lnTo>
                <a:lnTo>
                  <a:pt x="63373" y="1268569"/>
                </a:lnTo>
                <a:lnTo>
                  <a:pt x="29865" y="1235052"/>
                </a:lnTo>
                <a:lnTo>
                  <a:pt x="7891" y="1192556"/>
                </a:lnTo>
                <a:lnTo>
                  <a:pt x="0" y="1143635"/>
                </a:lnTo>
                <a:lnTo>
                  <a:pt x="0" y="154812"/>
                </a:lnTo>
                <a:close/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38200" y="1738883"/>
            <a:ext cx="1085850" cy="6394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88669" y="3175254"/>
            <a:ext cx="1449324" cy="12984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88669" y="3175254"/>
            <a:ext cx="1294765" cy="154940"/>
          </a:xfrm>
          <a:custGeom>
            <a:avLst/>
            <a:gdLst/>
            <a:ahLst/>
            <a:cxnLst/>
            <a:rect l="l" t="t" r="r" b="b"/>
            <a:pathLst>
              <a:path w="1294764" h="154939">
                <a:moveTo>
                  <a:pt x="0" y="154812"/>
                </a:moveTo>
                <a:lnTo>
                  <a:pt x="7891" y="105891"/>
                </a:lnTo>
                <a:lnTo>
                  <a:pt x="29865" y="63395"/>
                </a:lnTo>
                <a:lnTo>
                  <a:pt x="63373" y="29878"/>
                </a:lnTo>
                <a:lnTo>
                  <a:pt x="105863" y="7895"/>
                </a:lnTo>
                <a:lnTo>
                  <a:pt x="154787" y="0"/>
                </a:lnTo>
                <a:lnTo>
                  <a:pt x="1294511" y="0"/>
                </a:lnTo>
              </a:path>
            </a:pathLst>
          </a:custGeom>
          <a:ln w="25907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88669" y="3330066"/>
            <a:ext cx="154940" cy="1143635"/>
          </a:xfrm>
          <a:custGeom>
            <a:avLst/>
            <a:gdLst/>
            <a:ahLst/>
            <a:cxnLst/>
            <a:rect l="l" t="t" r="r" b="b"/>
            <a:pathLst>
              <a:path w="154940" h="1143635">
                <a:moveTo>
                  <a:pt x="154787" y="1143635"/>
                </a:moveTo>
                <a:lnTo>
                  <a:pt x="105863" y="1135739"/>
                </a:lnTo>
                <a:lnTo>
                  <a:pt x="63373" y="1113756"/>
                </a:lnTo>
                <a:lnTo>
                  <a:pt x="29865" y="1080239"/>
                </a:lnTo>
                <a:lnTo>
                  <a:pt x="7891" y="1037743"/>
                </a:lnTo>
                <a:lnTo>
                  <a:pt x="0" y="988822"/>
                </a:lnTo>
                <a:lnTo>
                  <a:pt x="0" y="0"/>
                </a:lnTo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083180" y="3175254"/>
            <a:ext cx="154940" cy="1298575"/>
          </a:xfrm>
          <a:custGeom>
            <a:avLst/>
            <a:gdLst/>
            <a:ahLst/>
            <a:cxnLst/>
            <a:rect l="l" t="t" r="r" b="b"/>
            <a:pathLst>
              <a:path w="154939" h="1298575">
                <a:moveTo>
                  <a:pt x="0" y="0"/>
                </a:moveTo>
                <a:lnTo>
                  <a:pt x="48921" y="7895"/>
                </a:lnTo>
                <a:lnTo>
                  <a:pt x="91417" y="29878"/>
                </a:lnTo>
                <a:lnTo>
                  <a:pt x="124934" y="63395"/>
                </a:lnTo>
                <a:lnTo>
                  <a:pt x="146917" y="105891"/>
                </a:lnTo>
                <a:lnTo>
                  <a:pt x="154813" y="154812"/>
                </a:lnTo>
                <a:lnTo>
                  <a:pt x="154813" y="1143635"/>
                </a:lnTo>
                <a:lnTo>
                  <a:pt x="146917" y="1192556"/>
                </a:lnTo>
                <a:lnTo>
                  <a:pt x="124934" y="1235052"/>
                </a:lnTo>
                <a:lnTo>
                  <a:pt x="91417" y="1268569"/>
                </a:lnTo>
                <a:lnTo>
                  <a:pt x="48921" y="1290552"/>
                </a:lnTo>
                <a:lnTo>
                  <a:pt x="0" y="1298448"/>
                </a:lnTo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88669" y="3175254"/>
            <a:ext cx="1449324" cy="12984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88669" y="3175254"/>
            <a:ext cx="1449705" cy="1298575"/>
          </a:xfrm>
          <a:custGeom>
            <a:avLst/>
            <a:gdLst/>
            <a:ahLst/>
            <a:cxnLst/>
            <a:rect l="l" t="t" r="r" b="b"/>
            <a:pathLst>
              <a:path w="1449705" h="1298575">
                <a:moveTo>
                  <a:pt x="0" y="154812"/>
                </a:moveTo>
                <a:lnTo>
                  <a:pt x="7891" y="105891"/>
                </a:lnTo>
                <a:lnTo>
                  <a:pt x="29865" y="63395"/>
                </a:lnTo>
                <a:lnTo>
                  <a:pt x="63373" y="29878"/>
                </a:lnTo>
                <a:lnTo>
                  <a:pt x="105863" y="7895"/>
                </a:lnTo>
                <a:lnTo>
                  <a:pt x="154787" y="0"/>
                </a:lnTo>
                <a:lnTo>
                  <a:pt x="1294511" y="0"/>
                </a:lnTo>
                <a:lnTo>
                  <a:pt x="1343432" y="7895"/>
                </a:lnTo>
                <a:lnTo>
                  <a:pt x="1385928" y="29878"/>
                </a:lnTo>
                <a:lnTo>
                  <a:pt x="1419445" y="63395"/>
                </a:lnTo>
                <a:lnTo>
                  <a:pt x="1441428" y="105891"/>
                </a:lnTo>
                <a:lnTo>
                  <a:pt x="1449324" y="154812"/>
                </a:lnTo>
                <a:lnTo>
                  <a:pt x="1449324" y="1143635"/>
                </a:lnTo>
                <a:lnTo>
                  <a:pt x="1441428" y="1192556"/>
                </a:lnTo>
                <a:lnTo>
                  <a:pt x="1419445" y="1235052"/>
                </a:lnTo>
                <a:lnTo>
                  <a:pt x="1385928" y="1268569"/>
                </a:lnTo>
                <a:lnTo>
                  <a:pt x="1343432" y="1290552"/>
                </a:lnTo>
                <a:lnTo>
                  <a:pt x="1294511" y="1298448"/>
                </a:lnTo>
                <a:lnTo>
                  <a:pt x="154787" y="1298448"/>
                </a:lnTo>
                <a:lnTo>
                  <a:pt x="105863" y="1290552"/>
                </a:lnTo>
                <a:lnTo>
                  <a:pt x="63373" y="1268569"/>
                </a:lnTo>
                <a:lnTo>
                  <a:pt x="29865" y="1235052"/>
                </a:lnTo>
                <a:lnTo>
                  <a:pt x="7891" y="1192556"/>
                </a:lnTo>
                <a:lnTo>
                  <a:pt x="0" y="1143635"/>
                </a:lnTo>
                <a:lnTo>
                  <a:pt x="0" y="154812"/>
                </a:lnTo>
                <a:close/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41247" y="3240023"/>
            <a:ext cx="1085850" cy="63944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68858" y="4697729"/>
            <a:ext cx="1469136" cy="129844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68858" y="4697729"/>
            <a:ext cx="1314450" cy="154940"/>
          </a:xfrm>
          <a:custGeom>
            <a:avLst/>
            <a:gdLst/>
            <a:ahLst/>
            <a:cxnLst/>
            <a:rect l="l" t="t" r="r" b="b"/>
            <a:pathLst>
              <a:path w="1314450" h="154939">
                <a:moveTo>
                  <a:pt x="0" y="154813"/>
                </a:moveTo>
                <a:lnTo>
                  <a:pt x="7891" y="105891"/>
                </a:lnTo>
                <a:lnTo>
                  <a:pt x="29865" y="63395"/>
                </a:lnTo>
                <a:lnTo>
                  <a:pt x="63373" y="29878"/>
                </a:lnTo>
                <a:lnTo>
                  <a:pt x="105863" y="7895"/>
                </a:lnTo>
                <a:lnTo>
                  <a:pt x="154787" y="0"/>
                </a:lnTo>
                <a:lnTo>
                  <a:pt x="1314323" y="0"/>
                </a:lnTo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68858" y="4852542"/>
            <a:ext cx="154940" cy="1143635"/>
          </a:xfrm>
          <a:custGeom>
            <a:avLst/>
            <a:gdLst/>
            <a:ahLst/>
            <a:cxnLst/>
            <a:rect l="l" t="t" r="r" b="b"/>
            <a:pathLst>
              <a:path w="154940" h="1143635">
                <a:moveTo>
                  <a:pt x="154787" y="1143634"/>
                </a:moveTo>
                <a:lnTo>
                  <a:pt x="105863" y="1135743"/>
                </a:lnTo>
                <a:lnTo>
                  <a:pt x="63373" y="1113769"/>
                </a:lnTo>
                <a:lnTo>
                  <a:pt x="29865" y="1080261"/>
                </a:lnTo>
                <a:lnTo>
                  <a:pt x="7891" y="1037771"/>
                </a:lnTo>
                <a:lnTo>
                  <a:pt x="0" y="988847"/>
                </a:lnTo>
                <a:lnTo>
                  <a:pt x="0" y="0"/>
                </a:lnTo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083180" y="4697729"/>
            <a:ext cx="154940" cy="1298575"/>
          </a:xfrm>
          <a:custGeom>
            <a:avLst/>
            <a:gdLst/>
            <a:ahLst/>
            <a:cxnLst/>
            <a:rect l="l" t="t" r="r" b="b"/>
            <a:pathLst>
              <a:path w="154939" h="1298575">
                <a:moveTo>
                  <a:pt x="0" y="0"/>
                </a:moveTo>
                <a:lnTo>
                  <a:pt x="48921" y="7895"/>
                </a:lnTo>
                <a:lnTo>
                  <a:pt x="91417" y="29878"/>
                </a:lnTo>
                <a:lnTo>
                  <a:pt x="124934" y="63395"/>
                </a:lnTo>
                <a:lnTo>
                  <a:pt x="146917" y="105891"/>
                </a:lnTo>
                <a:lnTo>
                  <a:pt x="154812" y="154813"/>
                </a:lnTo>
                <a:lnTo>
                  <a:pt x="154812" y="1143660"/>
                </a:lnTo>
                <a:lnTo>
                  <a:pt x="146917" y="1192584"/>
                </a:lnTo>
                <a:lnTo>
                  <a:pt x="124934" y="1235074"/>
                </a:lnTo>
                <a:lnTo>
                  <a:pt x="91417" y="1268582"/>
                </a:lnTo>
                <a:lnTo>
                  <a:pt x="48921" y="1290556"/>
                </a:lnTo>
                <a:lnTo>
                  <a:pt x="0" y="1298448"/>
                </a:lnTo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68858" y="4697729"/>
            <a:ext cx="1469136" cy="129844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68858" y="4697729"/>
            <a:ext cx="1469390" cy="1298575"/>
          </a:xfrm>
          <a:custGeom>
            <a:avLst/>
            <a:gdLst/>
            <a:ahLst/>
            <a:cxnLst/>
            <a:rect l="l" t="t" r="r" b="b"/>
            <a:pathLst>
              <a:path w="1469389" h="1298575">
                <a:moveTo>
                  <a:pt x="0" y="154813"/>
                </a:moveTo>
                <a:lnTo>
                  <a:pt x="7891" y="105891"/>
                </a:lnTo>
                <a:lnTo>
                  <a:pt x="29865" y="63395"/>
                </a:lnTo>
                <a:lnTo>
                  <a:pt x="63373" y="29878"/>
                </a:lnTo>
                <a:lnTo>
                  <a:pt x="105863" y="7895"/>
                </a:lnTo>
                <a:lnTo>
                  <a:pt x="154787" y="0"/>
                </a:lnTo>
                <a:lnTo>
                  <a:pt x="1314323" y="0"/>
                </a:lnTo>
                <a:lnTo>
                  <a:pt x="1363244" y="7895"/>
                </a:lnTo>
                <a:lnTo>
                  <a:pt x="1405740" y="29878"/>
                </a:lnTo>
                <a:lnTo>
                  <a:pt x="1439257" y="63395"/>
                </a:lnTo>
                <a:lnTo>
                  <a:pt x="1461240" y="105891"/>
                </a:lnTo>
                <a:lnTo>
                  <a:pt x="1469136" y="154813"/>
                </a:lnTo>
                <a:lnTo>
                  <a:pt x="1469136" y="1143660"/>
                </a:lnTo>
                <a:lnTo>
                  <a:pt x="1461240" y="1192584"/>
                </a:lnTo>
                <a:lnTo>
                  <a:pt x="1439257" y="1235074"/>
                </a:lnTo>
                <a:lnTo>
                  <a:pt x="1405740" y="1268582"/>
                </a:lnTo>
                <a:lnTo>
                  <a:pt x="1363244" y="1290556"/>
                </a:lnTo>
                <a:lnTo>
                  <a:pt x="1314323" y="1298448"/>
                </a:lnTo>
                <a:lnTo>
                  <a:pt x="154787" y="1298448"/>
                </a:lnTo>
                <a:lnTo>
                  <a:pt x="105863" y="1290556"/>
                </a:lnTo>
                <a:lnTo>
                  <a:pt x="63373" y="1268582"/>
                </a:lnTo>
                <a:lnTo>
                  <a:pt x="29865" y="1235074"/>
                </a:lnTo>
                <a:lnTo>
                  <a:pt x="7891" y="1192584"/>
                </a:lnTo>
                <a:lnTo>
                  <a:pt x="0" y="1143660"/>
                </a:lnTo>
                <a:lnTo>
                  <a:pt x="0" y="154813"/>
                </a:lnTo>
                <a:close/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22960" y="4753355"/>
            <a:ext cx="1084453" cy="63944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2997200" y="2080005"/>
            <a:ext cx="1094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latin typeface="黑体"/>
                <a:cs typeface="黑体"/>
              </a:rPr>
              <a:t>很</a:t>
            </a:r>
            <a:r>
              <a:rPr sz="2800" b="1" spc="-10" dirty="0">
                <a:latin typeface="黑体"/>
                <a:cs typeface="黑体"/>
              </a:rPr>
              <a:t>明</a:t>
            </a:r>
            <a:r>
              <a:rPr sz="2800" b="1" spc="-15" dirty="0">
                <a:latin typeface="黑体"/>
                <a:cs typeface="黑体"/>
              </a:rPr>
              <a:t>确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113023" y="3581857"/>
            <a:ext cx="10953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黑体"/>
                <a:cs typeface="黑体"/>
              </a:rPr>
              <a:t>很</a:t>
            </a:r>
            <a:r>
              <a:rPr sz="2800" b="1" spc="-10" dirty="0">
                <a:latin typeface="黑体"/>
                <a:cs typeface="黑体"/>
              </a:rPr>
              <a:t>明</a:t>
            </a:r>
            <a:r>
              <a:rPr sz="2800" b="1" spc="-15" dirty="0">
                <a:latin typeface="黑体"/>
                <a:cs typeface="黑体"/>
              </a:rPr>
              <a:t>确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122422" y="5123433"/>
            <a:ext cx="18072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latin typeface="黑体"/>
                <a:cs typeface="黑体"/>
              </a:rPr>
              <a:t>短</a:t>
            </a:r>
            <a:r>
              <a:rPr sz="2800" b="1" spc="-10" dirty="0">
                <a:latin typeface="黑体"/>
                <a:cs typeface="黑体"/>
              </a:rPr>
              <a:t>期项目</a:t>
            </a:r>
            <a:r>
              <a:rPr sz="2800" b="1" spc="-15" dirty="0">
                <a:latin typeface="黑体"/>
                <a:cs typeface="黑体"/>
              </a:rPr>
              <a:t>等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91869" y="2165730"/>
            <a:ext cx="638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DFFFF"/>
                </a:solidFill>
                <a:latin typeface="宋体"/>
                <a:cs typeface="宋体"/>
              </a:rPr>
              <a:t>需求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62913" y="3582161"/>
            <a:ext cx="638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DFFFF"/>
                </a:solidFill>
                <a:latin typeface="宋体"/>
                <a:cs typeface="宋体"/>
              </a:rPr>
              <a:t>方案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56589" y="5203316"/>
            <a:ext cx="1252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DFFFF"/>
                </a:solidFill>
                <a:latin typeface="宋体"/>
                <a:cs typeface="宋体"/>
              </a:rPr>
              <a:t>类似项目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306146"/>
            <a:ext cx="14249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i="0" spc="5" dirty="0">
                <a:latin typeface="黑体"/>
                <a:cs typeface="黑体"/>
              </a:rPr>
              <a:t>V</a:t>
            </a:r>
            <a:r>
              <a:rPr i="0" dirty="0">
                <a:latin typeface="华文隶书"/>
                <a:cs typeface="华文隶书"/>
              </a:rPr>
              <a:t>模型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09921" y="6332739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dirty="0"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7200" y="1447798"/>
            <a:ext cx="7924800" cy="5288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096000" y="1828800"/>
            <a:ext cx="1752600" cy="520065"/>
          </a:xfrm>
          <a:prstGeom prst="rect">
            <a:avLst/>
          </a:prstGeom>
          <a:solidFill>
            <a:srgbClr val="775F54"/>
          </a:solidFill>
        </p:spPr>
        <p:txBody>
          <a:bodyPr vert="horz" wrap="square" lIns="0" tIns="412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5"/>
              </a:spcBef>
            </a:pPr>
            <a:r>
              <a:rPr sz="2800" spc="-5" dirty="0">
                <a:latin typeface="宋体"/>
                <a:cs typeface="宋体"/>
              </a:rPr>
              <a:t>接收测试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73928" y="3901709"/>
            <a:ext cx="142049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00"/>
              </a:lnSpc>
            </a:pPr>
            <a:r>
              <a:rPr sz="2800" spc="-10" dirty="0">
                <a:latin typeface="宋体"/>
                <a:cs typeface="宋体"/>
              </a:rPr>
              <a:t>集成测试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38800" y="2819400"/>
            <a:ext cx="1752600" cy="520065"/>
          </a:xfrm>
          <a:prstGeom prst="rect">
            <a:avLst/>
          </a:prstGeom>
          <a:solidFill>
            <a:srgbClr val="775F54"/>
          </a:solidFill>
        </p:spPr>
        <p:txBody>
          <a:bodyPr vert="horz" wrap="square" lIns="0" tIns="412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5"/>
              </a:spcBef>
            </a:pPr>
            <a:r>
              <a:rPr sz="2800" spc="-5" dirty="0">
                <a:latin typeface="宋体"/>
                <a:cs typeface="宋体"/>
              </a:rPr>
              <a:t>系统测试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86562" y="1753361"/>
            <a:ext cx="1905000" cy="605155"/>
          </a:xfrm>
          <a:custGeom>
            <a:avLst/>
            <a:gdLst/>
            <a:ahLst/>
            <a:cxnLst/>
            <a:rect l="l" t="t" r="r" b="b"/>
            <a:pathLst>
              <a:path w="1905000" h="605155">
                <a:moveTo>
                  <a:pt x="0" y="605027"/>
                </a:moveTo>
                <a:lnTo>
                  <a:pt x="1905000" y="605027"/>
                </a:lnTo>
                <a:lnTo>
                  <a:pt x="1905000" y="0"/>
                </a:lnTo>
                <a:lnTo>
                  <a:pt x="0" y="0"/>
                </a:lnTo>
                <a:lnTo>
                  <a:pt x="0" y="605027"/>
                </a:lnTo>
                <a:close/>
              </a:path>
            </a:pathLst>
          </a:custGeom>
          <a:solidFill>
            <a:srgbClr val="775F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86562" y="1753361"/>
            <a:ext cx="1905000" cy="605155"/>
          </a:xfrm>
          <a:prstGeom prst="rect">
            <a:avLst/>
          </a:prstGeom>
          <a:ln w="25908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15"/>
              </a:spcBef>
            </a:pPr>
            <a:r>
              <a:rPr sz="3200" dirty="0">
                <a:latin typeface="宋体"/>
                <a:cs typeface="宋体"/>
              </a:rPr>
              <a:t>用户需求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67561" y="2743961"/>
            <a:ext cx="1905000" cy="605155"/>
          </a:xfrm>
          <a:custGeom>
            <a:avLst/>
            <a:gdLst/>
            <a:ahLst/>
            <a:cxnLst/>
            <a:rect l="l" t="t" r="r" b="b"/>
            <a:pathLst>
              <a:path w="1905000" h="605154">
                <a:moveTo>
                  <a:pt x="0" y="605027"/>
                </a:moveTo>
                <a:lnTo>
                  <a:pt x="1905000" y="605027"/>
                </a:lnTo>
                <a:lnTo>
                  <a:pt x="1905000" y="0"/>
                </a:lnTo>
                <a:lnTo>
                  <a:pt x="0" y="0"/>
                </a:lnTo>
                <a:lnTo>
                  <a:pt x="0" y="605027"/>
                </a:lnTo>
                <a:close/>
              </a:path>
            </a:pathLst>
          </a:custGeom>
          <a:solidFill>
            <a:srgbClr val="775F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67561" y="2743961"/>
            <a:ext cx="1905000" cy="605155"/>
          </a:xfrm>
          <a:custGeom>
            <a:avLst/>
            <a:gdLst/>
            <a:ahLst/>
            <a:cxnLst/>
            <a:rect l="l" t="t" r="r" b="b"/>
            <a:pathLst>
              <a:path w="1905000" h="605154">
                <a:moveTo>
                  <a:pt x="0" y="605027"/>
                </a:moveTo>
                <a:lnTo>
                  <a:pt x="1905000" y="605027"/>
                </a:lnTo>
                <a:lnTo>
                  <a:pt x="1905000" y="0"/>
                </a:lnTo>
                <a:lnTo>
                  <a:pt x="0" y="0"/>
                </a:lnTo>
                <a:lnTo>
                  <a:pt x="0" y="605027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67561" y="2771013"/>
            <a:ext cx="19050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宋体"/>
                <a:cs typeface="宋体"/>
              </a:rPr>
              <a:t>需求分析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24761" y="3810761"/>
            <a:ext cx="1905000" cy="605155"/>
          </a:xfrm>
          <a:custGeom>
            <a:avLst/>
            <a:gdLst/>
            <a:ahLst/>
            <a:cxnLst/>
            <a:rect l="l" t="t" r="r" b="b"/>
            <a:pathLst>
              <a:path w="1905000" h="605154">
                <a:moveTo>
                  <a:pt x="0" y="605027"/>
                </a:moveTo>
                <a:lnTo>
                  <a:pt x="1905000" y="605027"/>
                </a:lnTo>
                <a:lnTo>
                  <a:pt x="1905000" y="0"/>
                </a:lnTo>
                <a:lnTo>
                  <a:pt x="0" y="0"/>
                </a:lnTo>
                <a:lnTo>
                  <a:pt x="0" y="605027"/>
                </a:lnTo>
                <a:close/>
              </a:path>
            </a:pathLst>
          </a:custGeom>
          <a:solidFill>
            <a:srgbClr val="775F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24761" y="3810761"/>
            <a:ext cx="1905000" cy="605155"/>
          </a:xfrm>
          <a:custGeom>
            <a:avLst/>
            <a:gdLst/>
            <a:ahLst/>
            <a:cxnLst/>
            <a:rect l="l" t="t" r="r" b="b"/>
            <a:pathLst>
              <a:path w="1905000" h="605154">
                <a:moveTo>
                  <a:pt x="0" y="605027"/>
                </a:moveTo>
                <a:lnTo>
                  <a:pt x="1905000" y="605027"/>
                </a:lnTo>
                <a:lnTo>
                  <a:pt x="1905000" y="0"/>
                </a:lnTo>
                <a:lnTo>
                  <a:pt x="0" y="0"/>
                </a:lnTo>
                <a:lnTo>
                  <a:pt x="0" y="605027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524761" y="3837508"/>
            <a:ext cx="19050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宋体"/>
                <a:cs typeface="宋体"/>
              </a:rPr>
              <a:t>总体设计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981961" y="4801361"/>
            <a:ext cx="1905000" cy="605155"/>
          </a:xfrm>
          <a:custGeom>
            <a:avLst/>
            <a:gdLst/>
            <a:ahLst/>
            <a:cxnLst/>
            <a:rect l="l" t="t" r="r" b="b"/>
            <a:pathLst>
              <a:path w="1905000" h="605154">
                <a:moveTo>
                  <a:pt x="0" y="605028"/>
                </a:moveTo>
                <a:lnTo>
                  <a:pt x="1905000" y="605028"/>
                </a:lnTo>
                <a:lnTo>
                  <a:pt x="1905000" y="0"/>
                </a:lnTo>
                <a:lnTo>
                  <a:pt x="0" y="0"/>
                </a:lnTo>
                <a:lnTo>
                  <a:pt x="0" y="605028"/>
                </a:lnTo>
                <a:close/>
              </a:path>
            </a:pathLst>
          </a:custGeom>
          <a:solidFill>
            <a:srgbClr val="775F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81961" y="4801361"/>
            <a:ext cx="1905000" cy="605155"/>
          </a:xfrm>
          <a:custGeom>
            <a:avLst/>
            <a:gdLst/>
            <a:ahLst/>
            <a:cxnLst/>
            <a:rect l="l" t="t" r="r" b="b"/>
            <a:pathLst>
              <a:path w="1905000" h="605154">
                <a:moveTo>
                  <a:pt x="0" y="605028"/>
                </a:moveTo>
                <a:lnTo>
                  <a:pt x="1905000" y="605028"/>
                </a:lnTo>
                <a:lnTo>
                  <a:pt x="1905000" y="0"/>
                </a:lnTo>
                <a:lnTo>
                  <a:pt x="0" y="0"/>
                </a:lnTo>
                <a:lnTo>
                  <a:pt x="0" y="605028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981961" y="4828489"/>
            <a:ext cx="19050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宋体"/>
                <a:cs typeface="宋体"/>
              </a:rPr>
              <a:t>详细设计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277361" y="5791961"/>
            <a:ext cx="2286000" cy="605155"/>
          </a:xfrm>
          <a:custGeom>
            <a:avLst/>
            <a:gdLst/>
            <a:ahLst/>
            <a:cxnLst/>
            <a:rect l="l" t="t" r="r" b="b"/>
            <a:pathLst>
              <a:path w="2286000" h="605154">
                <a:moveTo>
                  <a:pt x="0" y="605028"/>
                </a:moveTo>
                <a:lnTo>
                  <a:pt x="2286000" y="605028"/>
                </a:lnTo>
                <a:lnTo>
                  <a:pt x="2286000" y="0"/>
                </a:lnTo>
                <a:lnTo>
                  <a:pt x="0" y="0"/>
                </a:lnTo>
                <a:lnTo>
                  <a:pt x="0" y="605028"/>
                </a:lnTo>
                <a:close/>
              </a:path>
            </a:pathLst>
          </a:custGeom>
          <a:solidFill>
            <a:srgbClr val="775F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277361" y="5791961"/>
            <a:ext cx="2286000" cy="605155"/>
          </a:xfrm>
          <a:custGeom>
            <a:avLst/>
            <a:gdLst/>
            <a:ahLst/>
            <a:cxnLst/>
            <a:rect l="l" t="t" r="r" b="b"/>
            <a:pathLst>
              <a:path w="2286000" h="605154">
                <a:moveTo>
                  <a:pt x="0" y="605028"/>
                </a:moveTo>
                <a:lnTo>
                  <a:pt x="2286000" y="605028"/>
                </a:lnTo>
                <a:lnTo>
                  <a:pt x="2286000" y="0"/>
                </a:lnTo>
                <a:lnTo>
                  <a:pt x="0" y="0"/>
                </a:lnTo>
                <a:lnTo>
                  <a:pt x="0" y="605028"/>
                </a:lnTo>
                <a:close/>
              </a:path>
            </a:pathLst>
          </a:custGeom>
          <a:ln w="259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355975" y="5819647"/>
            <a:ext cx="205993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宋体"/>
                <a:cs typeface="宋体"/>
              </a:rPr>
              <a:t>编码和调试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81600" y="3810000"/>
            <a:ext cx="1752600" cy="520065"/>
          </a:xfrm>
          <a:prstGeom prst="rect">
            <a:avLst/>
          </a:prstGeom>
          <a:solidFill>
            <a:srgbClr val="775F54"/>
          </a:solidFill>
        </p:spPr>
        <p:txBody>
          <a:bodyPr vert="horz" wrap="square" lIns="0" tIns="412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5"/>
              </a:spcBef>
            </a:pPr>
            <a:r>
              <a:rPr sz="2800" spc="-10" dirty="0">
                <a:latin typeface="宋体"/>
                <a:cs typeface="宋体"/>
              </a:rPr>
              <a:t>集成测试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24400" y="4800600"/>
            <a:ext cx="1752600" cy="520065"/>
          </a:xfrm>
          <a:prstGeom prst="rect">
            <a:avLst/>
          </a:prstGeom>
          <a:solidFill>
            <a:srgbClr val="775F54"/>
          </a:solidFill>
        </p:spPr>
        <p:txBody>
          <a:bodyPr vert="horz" wrap="square" lIns="0" tIns="4191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30"/>
              </a:spcBef>
            </a:pPr>
            <a:r>
              <a:rPr sz="2800" spc="-10" dirty="0">
                <a:latin typeface="宋体"/>
                <a:cs typeface="宋体"/>
              </a:rPr>
              <a:t>单元测试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36218" y="2033142"/>
            <a:ext cx="3031490" cy="4062095"/>
          </a:xfrm>
          <a:custGeom>
            <a:avLst/>
            <a:gdLst/>
            <a:ahLst/>
            <a:cxnLst/>
            <a:rect l="l" t="t" r="r" b="b"/>
            <a:pathLst>
              <a:path w="3031490" h="4062095">
                <a:moveTo>
                  <a:pt x="2742743" y="3858690"/>
                </a:moveTo>
                <a:lnTo>
                  <a:pt x="2728426" y="3861439"/>
                </a:lnTo>
                <a:lnTo>
                  <a:pt x="2716181" y="3869367"/>
                </a:lnTo>
                <a:lnTo>
                  <a:pt x="2707614" y="3881831"/>
                </a:lnTo>
                <a:lnTo>
                  <a:pt x="2704481" y="3896646"/>
                </a:lnTo>
                <a:lnTo>
                  <a:pt x="2707217" y="3910988"/>
                </a:lnTo>
                <a:lnTo>
                  <a:pt x="2715169" y="3923252"/>
                </a:lnTo>
                <a:lnTo>
                  <a:pt x="2727680" y="3931831"/>
                </a:lnTo>
                <a:lnTo>
                  <a:pt x="3031083" y="4061472"/>
                </a:lnTo>
                <a:lnTo>
                  <a:pt x="3026846" y="4023487"/>
                </a:lnTo>
                <a:lnTo>
                  <a:pt x="2955391" y="4023487"/>
                </a:lnTo>
                <a:lnTo>
                  <a:pt x="2871362" y="3910381"/>
                </a:lnTo>
                <a:lnTo>
                  <a:pt x="2757525" y="3861765"/>
                </a:lnTo>
                <a:lnTo>
                  <a:pt x="2742743" y="3858690"/>
                </a:lnTo>
                <a:close/>
              </a:path>
              <a:path w="3031490" h="4062095">
                <a:moveTo>
                  <a:pt x="2871362" y="3910381"/>
                </a:moveTo>
                <a:lnTo>
                  <a:pt x="2955391" y="4023487"/>
                </a:lnTo>
                <a:lnTo>
                  <a:pt x="2980301" y="4004995"/>
                </a:lnTo>
                <a:lnTo>
                  <a:pt x="2948152" y="4004995"/>
                </a:lnTo>
                <a:lnTo>
                  <a:pt x="2940912" y="3940085"/>
                </a:lnTo>
                <a:lnTo>
                  <a:pt x="2871362" y="3910381"/>
                </a:lnTo>
                <a:close/>
              </a:path>
              <a:path w="3031490" h="4062095">
                <a:moveTo>
                  <a:pt x="2952470" y="3699878"/>
                </a:moveTo>
                <a:lnTo>
                  <a:pt x="2938050" y="3704498"/>
                </a:lnTo>
                <a:lnTo>
                  <a:pt x="2926927" y="3713954"/>
                </a:lnTo>
                <a:lnTo>
                  <a:pt x="2920162" y="3726894"/>
                </a:lnTo>
                <a:lnTo>
                  <a:pt x="2918815" y="3741966"/>
                </a:lnTo>
                <a:lnTo>
                  <a:pt x="2932523" y="3864871"/>
                </a:lnTo>
                <a:lnTo>
                  <a:pt x="3016605" y="3978046"/>
                </a:lnTo>
                <a:lnTo>
                  <a:pt x="2955391" y="4023487"/>
                </a:lnTo>
                <a:lnTo>
                  <a:pt x="3026846" y="4023487"/>
                </a:lnTo>
                <a:lnTo>
                  <a:pt x="2994507" y="3733533"/>
                </a:lnTo>
                <a:lnTo>
                  <a:pt x="2989921" y="3719123"/>
                </a:lnTo>
                <a:lnTo>
                  <a:pt x="2980489" y="3707990"/>
                </a:lnTo>
                <a:lnTo>
                  <a:pt x="2967557" y="3701214"/>
                </a:lnTo>
                <a:lnTo>
                  <a:pt x="2952470" y="3699878"/>
                </a:lnTo>
                <a:close/>
              </a:path>
              <a:path w="3031490" h="4062095">
                <a:moveTo>
                  <a:pt x="2940912" y="3940085"/>
                </a:moveTo>
                <a:lnTo>
                  <a:pt x="2948152" y="4004995"/>
                </a:lnTo>
                <a:lnTo>
                  <a:pt x="3000984" y="3965740"/>
                </a:lnTo>
                <a:lnTo>
                  <a:pt x="2940912" y="3940085"/>
                </a:lnTo>
                <a:close/>
              </a:path>
              <a:path w="3031490" h="4062095">
                <a:moveTo>
                  <a:pt x="2932523" y="3864871"/>
                </a:moveTo>
                <a:lnTo>
                  <a:pt x="2940912" y="3940085"/>
                </a:lnTo>
                <a:lnTo>
                  <a:pt x="3000984" y="3965740"/>
                </a:lnTo>
                <a:lnTo>
                  <a:pt x="2948152" y="4004995"/>
                </a:lnTo>
                <a:lnTo>
                  <a:pt x="2980301" y="4004995"/>
                </a:lnTo>
                <a:lnTo>
                  <a:pt x="3016605" y="3978046"/>
                </a:lnTo>
                <a:lnTo>
                  <a:pt x="2932523" y="3864871"/>
                </a:lnTo>
                <a:close/>
              </a:path>
              <a:path w="3031490" h="4062095">
                <a:moveTo>
                  <a:pt x="61163" y="0"/>
                </a:moveTo>
                <a:lnTo>
                  <a:pt x="0" y="45465"/>
                </a:lnTo>
                <a:lnTo>
                  <a:pt x="2871362" y="3910381"/>
                </a:lnTo>
                <a:lnTo>
                  <a:pt x="2940912" y="3940085"/>
                </a:lnTo>
                <a:lnTo>
                  <a:pt x="2932523" y="3864871"/>
                </a:lnTo>
                <a:lnTo>
                  <a:pt x="61163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693792" y="2348357"/>
            <a:ext cx="2698115" cy="3625215"/>
          </a:xfrm>
          <a:custGeom>
            <a:avLst/>
            <a:gdLst/>
            <a:ahLst/>
            <a:cxnLst/>
            <a:rect l="l" t="t" r="r" b="b"/>
            <a:pathLst>
              <a:path w="2698115" h="3625215">
                <a:moveTo>
                  <a:pt x="2607689" y="121543"/>
                </a:moveTo>
                <a:lnTo>
                  <a:pt x="2538344" y="151309"/>
                </a:lnTo>
                <a:lnTo>
                  <a:pt x="0" y="3579494"/>
                </a:lnTo>
                <a:lnTo>
                  <a:pt x="61214" y="3624833"/>
                </a:lnTo>
                <a:lnTo>
                  <a:pt x="2599439" y="196809"/>
                </a:lnTo>
                <a:lnTo>
                  <a:pt x="2607689" y="121543"/>
                </a:lnTo>
                <a:close/>
              </a:path>
              <a:path w="2698115" h="3625215">
                <a:moveTo>
                  <a:pt x="2693544" y="38100"/>
                </a:moveTo>
                <a:lnTo>
                  <a:pt x="2622168" y="38100"/>
                </a:lnTo>
                <a:lnTo>
                  <a:pt x="2683383" y="83438"/>
                </a:lnTo>
                <a:lnTo>
                  <a:pt x="2599439" y="196809"/>
                </a:lnTo>
                <a:lnTo>
                  <a:pt x="2585974" y="319658"/>
                </a:lnTo>
                <a:lnTo>
                  <a:pt x="2587341" y="334746"/>
                </a:lnTo>
                <a:lnTo>
                  <a:pt x="2594149" y="347678"/>
                </a:lnTo>
                <a:lnTo>
                  <a:pt x="2605315" y="357110"/>
                </a:lnTo>
                <a:lnTo>
                  <a:pt x="2619756" y="361695"/>
                </a:lnTo>
                <a:lnTo>
                  <a:pt x="2634769" y="360330"/>
                </a:lnTo>
                <a:lnTo>
                  <a:pt x="2647664" y="353536"/>
                </a:lnTo>
                <a:lnTo>
                  <a:pt x="2657082" y="342407"/>
                </a:lnTo>
                <a:lnTo>
                  <a:pt x="2661666" y="328040"/>
                </a:lnTo>
                <a:lnTo>
                  <a:pt x="2693544" y="38100"/>
                </a:lnTo>
                <a:close/>
              </a:path>
              <a:path w="2698115" h="3625215">
                <a:moveTo>
                  <a:pt x="2697734" y="0"/>
                </a:moveTo>
                <a:lnTo>
                  <a:pt x="2394458" y="130175"/>
                </a:lnTo>
                <a:lnTo>
                  <a:pt x="2382037" y="138743"/>
                </a:lnTo>
                <a:lnTo>
                  <a:pt x="2374153" y="151002"/>
                </a:lnTo>
                <a:lnTo>
                  <a:pt x="2371437" y="165357"/>
                </a:lnTo>
                <a:lnTo>
                  <a:pt x="2374518" y="180212"/>
                </a:lnTo>
                <a:lnTo>
                  <a:pt x="2383105" y="192633"/>
                </a:lnTo>
                <a:lnTo>
                  <a:pt x="2395394" y="200517"/>
                </a:lnTo>
                <a:lnTo>
                  <a:pt x="2409755" y="203233"/>
                </a:lnTo>
                <a:lnTo>
                  <a:pt x="2424557" y="200151"/>
                </a:lnTo>
                <a:lnTo>
                  <a:pt x="2538344" y="151309"/>
                </a:lnTo>
                <a:lnTo>
                  <a:pt x="2622168" y="38100"/>
                </a:lnTo>
                <a:lnTo>
                  <a:pt x="2693544" y="38100"/>
                </a:lnTo>
                <a:lnTo>
                  <a:pt x="2697734" y="0"/>
                </a:lnTo>
                <a:close/>
              </a:path>
              <a:path w="2698115" h="3625215">
                <a:moveTo>
                  <a:pt x="2647203" y="56641"/>
                </a:moveTo>
                <a:lnTo>
                  <a:pt x="2614803" y="56641"/>
                </a:lnTo>
                <a:lnTo>
                  <a:pt x="2667762" y="95757"/>
                </a:lnTo>
                <a:lnTo>
                  <a:pt x="2607689" y="121543"/>
                </a:lnTo>
                <a:lnTo>
                  <a:pt x="2599439" y="196809"/>
                </a:lnTo>
                <a:lnTo>
                  <a:pt x="2683383" y="83438"/>
                </a:lnTo>
                <a:lnTo>
                  <a:pt x="2647203" y="56641"/>
                </a:lnTo>
                <a:close/>
              </a:path>
              <a:path w="2698115" h="3625215">
                <a:moveTo>
                  <a:pt x="2622168" y="38100"/>
                </a:moveTo>
                <a:lnTo>
                  <a:pt x="2538344" y="151309"/>
                </a:lnTo>
                <a:lnTo>
                  <a:pt x="2607689" y="121543"/>
                </a:lnTo>
                <a:lnTo>
                  <a:pt x="2614803" y="56641"/>
                </a:lnTo>
                <a:lnTo>
                  <a:pt x="2647203" y="56641"/>
                </a:lnTo>
                <a:lnTo>
                  <a:pt x="2622168" y="38100"/>
                </a:lnTo>
                <a:close/>
              </a:path>
              <a:path w="2698115" h="3625215">
                <a:moveTo>
                  <a:pt x="2614803" y="56641"/>
                </a:moveTo>
                <a:lnTo>
                  <a:pt x="2607689" y="121543"/>
                </a:lnTo>
                <a:lnTo>
                  <a:pt x="2667762" y="95757"/>
                </a:lnTo>
                <a:lnTo>
                  <a:pt x="2614803" y="56641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283209"/>
            <a:ext cx="54178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dirty="0">
                <a:latin typeface="华文隶书"/>
                <a:cs typeface="华文隶书"/>
              </a:rPr>
              <a:t>适合</a:t>
            </a:r>
            <a:r>
              <a:rPr dirty="0"/>
              <a:t>V</a:t>
            </a:r>
            <a:r>
              <a:rPr i="0" dirty="0">
                <a:latin typeface="华文隶书"/>
                <a:cs typeface="华文隶书"/>
              </a:rPr>
              <a:t>模型的项目特征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69994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57883" y="3185160"/>
            <a:ext cx="7391400" cy="13045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37232" y="3630167"/>
            <a:ext cx="509270" cy="344805"/>
          </a:xfrm>
          <a:custGeom>
            <a:avLst/>
            <a:gdLst/>
            <a:ahLst/>
            <a:cxnLst/>
            <a:rect l="l" t="t" r="r" b="b"/>
            <a:pathLst>
              <a:path w="509269" h="344804">
                <a:moveTo>
                  <a:pt x="352298" y="0"/>
                </a:moveTo>
                <a:lnTo>
                  <a:pt x="352298" y="86105"/>
                </a:lnTo>
                <a:lnTo>
                  <a:pt x="0" y="86105"/>
                </a:lnTo>
                <a:lnTo>
                  <a:pt x="0" y="258317"/>
                </a:lnTo>
                <a:lnTo>
                  <a:pt x="352298" y="258317"/>
                </a:lnTo>
                <a:lnTo>
                  <a:pt x="352298" y="344423"/>
                </a:lnTo>
                <a:lnTo>
                  <a:pt x="509016" y="172211"/>
                </a:lnTo>
                <a:lnTo>
                  <a:pt x="352298" y="0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95983" y="4707635"/>
            <a:ext cx="7342632" cy="13136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09800" y="5172455"/>
            <a:ext cx="509270" cy="347980"/>
          </a:xfrm>
          <a:custGeom>
            <a:avLst/>
            <a:gdLst/>
            <a:ahLst/>
            <a:cxnLst/>
            <a:rect l="l" t="t" r="r" b="b"/>
            <a:pathLst>
              <a:path w="509269" h="347979">
                <a:moveTo>
                  <a:pt x="352298" y="0"/>
                </a:moveTo>
                <a:lnTo>
                  <a:pt x="352298" y="86868"/>
                </a:lnTo>
                <a:lnTo>
                  <a:pt x="0" y="86868"/>
                </a:lnTo>
                <a:lnTo>
                  <a:pt x="0" y="260604"/>
                </a:lnTo>
                <a:lnTo>
                  <a:pt x="352298" y="260604"/>
                </a:lnTo>
                <a:lnTo>
                  <a:pt x="352298" y="347472"/>
                </a:lnTo>
                <a:lnTo>
                  <a:pt x="509016" y="173736"/>
                </a:lnTo>
                <a:lnTo>
                  <a:pt x="352298" y="0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57883" y="1688592"/>
            <a:ext cx="7391400" cy="13060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17420" y="2135123"/>
            <a:ext cx="510540" cy="344805"/>
          </a:xfrm>
          <a:custGeom>
            <a:avLst/>
            <a:gdLst/>
            <a:ahLst/>
            <a:cxnLst/>
            <a:rect l="l" t="t" r="r" b="b"/>
            <a:pathLst>
              <a:path w="510539" h="344805">
                <a:moveTo>
                  <a:pt x="353822" y="0"/>
                </a:moveTo>
                <a:lnTo>
                  <a:pt x="353822" y="86105"/>
                </a:lnTo>
                <a:lnTo>
                  <a:pt x="0" y="86105"/>
                </a:lnTo>
                <a:lnTo>
                  <a:pt x="0" y="258317"/>
                </a:lnTo>
                <a:lnTo>
                  <a:pt x="353822" y="258317"/>
                </a:lnTo>
                <a:lnTo>
                  <a:pt x="353822" y="344424"/>
                </a:lnTo>
                <a:lnTo>
                  <a:pt x="510540" y="172212"/>
                </a:lnTo>
                <a:lnTo>
                  <a:pt x="353822" y="0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74954" y="1674114"/>
            <a:ext cx="1463039" cy="12984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74954" y="1674114"/>
            <a:ext cx="1308735" cy="154940"/>
          </a:xfrm>
          <a:custGeom>
            <a:avLst/>
            <a:gdLst/>
            <a:ahLst/>
            <a:cxnLst/>
            <a:rect l="l" t="t" r="r" b="b"/>
            <a:pathLst>
              <a:path w="1308735" h="154939">
                <a:moveTo>
                  <a:pt x="0" y="154812"/>
                </a:moveTo>
                <a:lnTo>
                  <a:pt x="7891" y="105891"/>
                </a:lnTo>
                <a:lnTo>
                  <a:pt x="29865" y="63395"/>
                </a:lnTo>
                <a:lnTo>
                  <a:pt x="63373" y="29878"/>
                </a:lnTo>
                <a:lnTo>
                  <a:pt x="105863" y="7895"/>
                </a:lnTo>
                <a:lnTo>
                  <a:pt x="154787" y="0"/>
                </a:lnTo>
                <a:lnTo>
                  <a:pt x="1308227" y="0"/>
                </a:lnTo>
              </a:path>
            </a:pathLst>
          </a:custGeom>
          <a:ln w="25907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74954" y="1828926"/>
            <a:ext cx="154940" cy="1143635"/>
          </a:xfrm>
          <a:custGeom>
            <a:avLst/>
            <a:gdLst/>
            <a:ahLst/>
            <a:cxnLst/>
            <a:rect l="l" t="t" r="r" b="b"/>
            <a:pathLst>
              <a:path w="154940" h="1143635">
                <a:moveTo>
                  <a:pt x="154787" y="1143635"/>
                </a:moveTo>
                <a:lnTo>
                  <a:pt x="105863" y="1135739"/>
                </a:lnTo>
                <a:lnTo>
                  <a:pt x="63373" y="1113756"/>
                </a:lnTo>
                <a:lnTo>
                  <a:pt x="29865" y="1080239"/>
                </a:lnTo>
                <a:lnTo>
                  <a:pt x="7891" y="1037743"/>
                </a:lnTo>
                <a:lnTo>
                  <a:pt x="0" y="988822"/>
                </a:lnTo>
                <a:lnTo>
                  <a:pt x="0" y="0"/>
                </a:lnTo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083180" y="1674114"/>
            <a:ext cx="154940" cy="1298575"/>
          </a:xfrm>
          <a:custGeom>
            <a:avLst/>
            <a:gdLst/>
            <a:ahLst/>
            <a:cxnLst/>
            <a:rect l="l" t="t" r="r" b="b"/>
            <a:pathLst>
              <a:path w="154939" h="1298575">
                <a:moveTo>
                  <a:pt x="0" y="0"/>
                </a:moveTo>
                <a:lnTo>
                  <a:pt x="48921" y="7895"/>
                </a:lnTo>
                <a:lnTo>
                  <a:pt x="91417" y="29878"/>
                </a:lnTo>
                <a:lnTo>
                  <a:pt x="124934" y="63395"/>
                </a:lnTo>
                <a:lnTo>
                  <a:pt x="146917" y="105891"/>
                </a:lnTo>
                <a:lnTo>
                  <a:pt x="154812" y="154812"/>
                </a:lnTo>
                <a:lnTo>
                  <a:pt x="154812" y="1143635"/>
                </a:lnTo>
                <a:lnTo>
                  <a:pt x="146917" y="1192556"/>
                </a:lnTo>
                <a:lnTo>
                  <a:pt x="124934" y="1235052"/>
                </a:lnTo>
                <a:lnTo>
                  <a:pt x="91417" y="1268569"/>
                </a:lnTo>
                <a:lnTo>
                  <a:pt x="48921" y="1290552"/>
                </a:lnTo>
                <a:lnTo>
                  <a:pt x="0" y="1298448"/>
                </a:lnTo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74954" y="1674114"/>
            <a:ext cx="1463039" cy="12984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74954" y="1674114"/>
            <a:ext cx="1463040" cy="1298575"/>
          </a:xfrm>
          <a:custGeom>
            <a:avLst/>
            <a:gdLst/>
            <a:ahLst/>
            <a:cxnLst/>
            <a:rect l="l" t="t" r="r" b="b"/>
            <a:pathLst>
              <a:path w="1463039" h="1298575">
                <a:moveTo>
                  <a:pt x="0" y="154812"/>
                </a:moveTo>
                <a:lnTo>
                  <a:pt x="7891" y="105891"/>
                </a:lnTo>
                <a:lnTo>
                  <a:pt x="29865" y="63395"/>
                </a:lnTo>
                <a:lnTo>
                  <a:pt x="63373" y="29878"/>
                </a:lnTo>
                <a:lnTo>
                  <a:pt x="105863" y="7895"/>
                </a:lnTo>
                <a:lnTo>
                  <a:pt x="154787" y="0"/>
                </a:lnTo>
                <a:lnTo>
                  <a:pt x="1308227" y="0"/>
                </a:lnTo>
                <a:lnTo>
                  <a:pt x="1357148" y="7895"/>
                </a:lnTo>
                <a:lnTo>
                  <a:pt x="1399644" y="29878"/>
                </a:lnTo>
                <a:lnTo>
                  <a:pt x="1433161" y="63395"/>
                </a:lnTo>
                <a:lnTo>
                  <a:pt x="1455144" y="105891"/>
                </a:lnTo>
                <a:lnTo>
                  <a:pt x="1463039" y="154812"/>
                </a:lnTo>
                <a:lnTo>
                  <a:pt x="1463039" y="1143635"/>
                </a:lnTo>
                <a:lnTo>
                  <a:pt x="1455144" y="1192556"/>
                </a:lnTo>
                <a:lnTo>
                  <a:pt x="1433161" y="1235052"/>
                </a:lnTo>
                <a:lnTo>
                  <a:pt x="1399644" y="1268569"/>
                </a:lnTo>
                <a:lnTo>
                  <a:pt x="1357148" y="1290552"/>
                </a:lnTo>
                <a:lnTo>
                  <a:pt x="1308227" y="1298448"/>
                </a:lnTo>
                <a:lnTo>
                  <a:pt x="154787" y="1298448"/>
                </a:lnTo>
                <a:lnTo>
                  <a:pt x="105863" y="1290552"/>
                </a:lnTo>
                <a:lnTo>
                  <a:pt x="63373" y="1268569"/>
                </a:lnTo>
                <a:lnTo>
                  <a:pt x="29865" y="1235052"/>
                </a:lnTo>
                <a:lnTo>
                  <a:pt x="7891" y="1192556"/>
                </a:lnTo>
                <a:lnTo>
                  <a:pt x="0" y="1143635"/>
                </a:lnTo>
                <a:lnTo>
                  <a:pt x="0" y="154812"/>
                </a:lnTo>
                <a:close/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38200" y="1738883"/>
            <a:ext cx="1085850" cy="6394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88669" y="3175254"/>
            <a:ext cx="1449324" cy="12984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88669" y="3175254"/>
            <a:ext cx="1294765" cy="154940"/>
          </a:xfrm>
          <a:custGeom>
            <a:avLst/>
            <a:gdLst/>
            <a:ahLst/>
            <a:cxnLst/>
            <a:rect l="l" t="t" r="r" b="b"/>
            <a:pathLst>
              <a:path w="1294764" h="154939">
                <a:moveTo>
                  <a:pt x="0" y="154812"/>
                </a:moveTo>
                <a:lnTo>
                  <a:pt x="7891" y="105891"/>
                </a:lnTo>
                <a:lnTo>
                  <a:pt x="29865" y="63395"/>
                </a:lnTo>
                <a:lnTo>
                  <a:pt x="63373" y="29878"/>
                </a:lnTo>
                <a:lnTo>
                  <a:pt x="105863" y="7895"/>
                </a:lnTo>
                <a:lnTo>
                  <a:pt x="154787" y="0"/>
                </a:lnTo>
                <a:lnTo>
                  <a:pt x="1294511" y="0"/>
                </a:lnTo>
              </a:path>
            </a:pathLst>
          </a:custGeom>
          <a:ln w="25907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88669" y="3330066"/>
            <a:ext cx="154940" cy="1143635"/>
          </a:xfrm>
          <a:custGeom>
            <a:avLst/>
            <a:gdLst/>
            <a:ahLst/>
            <a:cxnLst/>
            <a:rect l="l" t="t" r="r" b="b"/>
            <a:pathLst>
              <a:path w="154940" h="1143635">
                <a:moveTo>
                  <a:pt x="154787" y="1143635"/>
                </a:moveTo>
                <a:lnTo>
                  <a:pt x="105863" y="1135739"/>
                </a:lnTo>
                <a:lnTo>
                  <a:pt x="63373" y="1113756"/>
                </a:lnTo>
                <a:lnTo>
                  <a:pt x="29865" y="1080239"/>
                </a:lnTo>
                <a:lnTo>
                  <a:pt x="7891" y="1037743"/>
                </a:lnTo>
                <a:lnTo>
                  <a:pt x="0" y="988822"/>
                </a:lnTo>
                <a:lnTo>
                  <a:pt x="0" y="0"/>
                </a:lnTo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083180" y="3175254"/>
            <a:ext cx="154940" cy="1298575"/>
          </a:xfrm>
          <a:custGeom>
            <a:avLst/>
            <a:gdLst/>
            <a:ahLst/>
            <a:cxnLst/>
            <a:rect l="l" t="t" r="r" b="b"/>
            <a:pathLst>
              <a:path w="154939" h="1298575">
                <a:moveTo>
                  <a:pt x="0" y="0"/>
                </a:moveTo>
                <a:lnTo>
                  <a:pt x="48921" y="7895"/>
                </a:lnTo>
                <a:lnTo>
                  <a:pt x="91417" y="29878"/>
                </a:lnTo>
                <a:lnTo>
                  <a:pt x="124934" y="63395"/>
                </a:lnTo>
                <a:lnTo>
                  <a:pt x="146917" y="105891"/>
                </a:lnTo>
                <a:lnTo>
                  <a:pt x="154813" y="154812"/>
                </a:lnTo>
                <a:lnTo>
                  <a:pt x="154813" y="1143635"/>
                </a:lnTo>
                <a:lnTo>
                  <a:pt x="146917" y="1192556"/>
                </a:lnTo>
                <a:lnTo>
                  <a:pt x="124934" y="1235052"/>
                </a:lnTo>
                <a:lnTo>
                  <a:pt x="91417" y="1268569"/>
                </a:lnTo>
                <a:lnTo>
                  <a:pt x="48921" y="1290552"/>
                </a:lnTo>
                <a:lnTo>
                  <a:pt x="0" y="1298448"/>
                </a:lnTo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88669" y="3175254"/>
            <a:ext cx="1449324" cy="12984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88669" y="3175254"/>
            <a:ext cx="1449705" cy="1298575"/>
          </a:xfrm>
          <a:custGeom>
            <a:avLst/>
            <a:gdLst/>
            <a:ahLst/>
            <a:cxnLst/>
            <a:rect l="l" t="t" r="r" b="b"/>
            <a:pathLst>
              <a:path w="1449705" h="1298575">
                <a:moveTo>
                  <a:pt x="0" y="154812"/>
                </a:moveTo>
                <a:lnTo>
                  <a:pt x="7891" y="105891"/>
                </a:lnTo>
                <a:lnTo>
                  <a:pt x="29865" y="63395"/>
                </a:lnTo>
                <a:lnTo>
                  <a:pt x="63373" y="29878"/>
                </a:lnTo>
                <a:lnTo>
                  <a:pt x="105863" y="7895"/>
                </a:lnTo>
                <a:lnTo>
                  <a:pt x="154787" y="0"/>
                </a:lnTo>
                <a:lnTo>
                  <a:pt x="1294511" y="0"/>
                </a:lnTo>
                <a:lnTo>
                  <a:pt x="1343432" y="7895"/>
                </a:lnTo>
                <a:lnTo>
                  <a:pt x="1385928" y="29878"/>
                </a:lnTo>
                <a:lnTo>
                  <a:pt x="1419445" y="63395"/>
                </a:lnTo>
                <a:lnTo>
                  <a:pt x="1441428" y="105891"/>
                </a:lnTo>
                <a:lnTo>
                  <a:pt x="1449324" y="154812"/>
                </a:lnTo>
                <a:lnTo>
                  <a:pt x="1449324" y="1143635"/>
                </a:lnTo>
                <a:lnTo>
                  <a:pt x="1441428" y="1192556"/>
                </a:lnTo>
                <a:lnTo>
                  <a:pt x="1419445" y="1235052"/>
                </a:lnTo>
                <a:lnTo>
                  <a:pt x="1385928" y="1268569"/>
                </a:lnTo>
                <a:lnTo>
                  <a:pt x="1343432" y="1290552"/>
                </a:lnTo>
                <a:lnTo>
                  <a:pt x="1294511" y="1298448"/>
                </a:lnTo>
                <a:lnTo>
                  <a:pt x="154787" y="1298448"/>
                </a:lnTo>
                <a:lnTo>
                  <a:pt x="105863" y="1290552"/>
                </a:lnTo>
                <a:lnTo>
                  <a:pt x="63373" y="1268569"/>
                </a:lnTo>
                <a:lnTo>
                  <a:pt x="29865" y="1235052"/>
                </a:lnTo>
                <a:lnTo>
                  <a:pt x="7891" y="1192556"/>
                </a:lnTo>
                <a:lnTo>
                  <a:pt x="0" y="1143635"/>
                </a:lnTo>
                <a:lnTo>
                  <a:pt x="0" y="154812"/>
                </a:lnTo>
                <a:close/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41247" y="3240023"/>
            <a:ext cx="1085850" cy="63944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68858" y="4697729"/>
            <a:ext cx="1469136" cy="129844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68858" y="4697729"/>
            <a:ext cx="1314450" cy="154940"/>
          </a:xfrm>
          <a:custGeom>
            <a:avLst/>
            <a:gdLst/>
            <a:ahLst/>
            <a:cxnLst/>
            <a:rect l="l" t="t" r="r" b="b"/>
            <a:pathLst>
              <a:path w="1314450" h="154939">
                <a:moveTo>
                  <a:pt x="0" y="154813"/>
                </a:moveTo>
                <a:lnTo>
                  <a:pt x="7891" y="105891"/>
                </a:lnTo>
                <a:lnTo>
                  <a:pt x="29865" y="63395"/>
                </a:lnTo>
                <a:lnTo>
                  <a:pt x="63373" y="29878"/>
                </a:lnTo>
                <a:lnTo>
                  <a:pt x="105863" y="7895"/>
                </a:lnTo>
                <a:lnTo>
                  <a:pt x="154787" y="0"/>
                </a:lnTo>
                <a:lnTo>
                  <a:pt x="1314323" y="0"/>
                </a:lnTo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68858" y="4852542"/>
            <a:ext cx="154940" cy="1143635"/>
          </a:xfrm>
          <a:custGeom>
            <a:avLst/>
            <a:gdLst/>
            <a:ahLst/>
            <a:cxnLst/>
            <a:rect l="l" t="t" r="r" b="b"/>
            <a:pathLst>
              <a:path w="154940" h="1143635">
                <a:moveTo>
                  <a:pt x="154787" y="1143634"/>
                </a:moveTo>
                <a:lnTo>
                  <a:pt x="105863" y="1135743"/>
                </a:lnTo>
                <a:lnTo>
                  <a:pt x="63373" y="1113769"/>
                </a:lnTo>
                <a:lnTo>
                  <a:pt x="29865" y="1080261"/>
                </a:lnTo>
                <a:lnTo>
                  <a:pt x="7891" y="1037771"/>
                </a:lnTo>
                <a:lnTo>
                  <a:pt x="0" y="988847"/>
                </a:lnTo>
                <a:lnTo>
                  <a:pt x="0" y="0"/>
                </a:lnTo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083180" y="4697729"/>
            <a:ext cx="154940" cy="1298575"/>
          </a:xfrm>
          <a:custGeom>
            <a:avLst/>
            <a:gdLst/>
            <a:ahLst/>
            <a:cxnLst/>
            <a:rect l="l" t="t" r="r" b="b"/>
            <a:pathLst>
              <a:path w="154939" h="1298575">
                <a:moveTo>
                  <a:pt x="0" y="0"/>
                </a:moveTo>
                <a:lnTo>
                  <a:pt x="48921" y="7895"/>
                </a:lnTo>
                <a:lnTo>
                  <a:pt x="91417" y="29878"/>
                </a:lnTo>
                <a:lnTo>
                  <a:pt x="124934" y="63395"/>
                </a:lnTo>
                <a:lnTo>
                  <a:pt x="146917" y="105891"/>
                </a:lnTo>
                <a:lnTo>
                  <a:pt x="154812" y="154813"/>
                </a:lnTo>
                <a:lnTo>
                  <a:pt x="154812" y="1143660"/>
                </a:lnTo>
                <a:lnTo>
                  <a:pt x="146917" y="1192584"/>
                </a:lnTo>
                <a:lnTo>
                  <a:pt x="124934" y="1235074"/>
                </a:lnTo>
                <a:lnTo>
                  <a:pt x="91417" y="1268582"/>
                </a:lnTo>
                <a:lnTo>
                  <a:pt x="48921" y="1290556"/>
                </a:lnTo>
                <a:lnTo>
                  <a:pt x="0" y="1298448"/>
                </a:lnTo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68858" y="4697729"/>
            <a:ext cx="1469136" cy="129844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68858" y="4697729"/>
            <a:ext cx="1469390" cy="1298575"/>
          </a:xfrm>
          <a:custGeom>
            <a:avLst/>
            <a:gdLst/>
            <a:ahLst/>
            <a:cxnLst/>
            <a:rect l="l" t="t" r="r" b="b"/>
            <a:pathLst>
              <a:path w="1469389" h="1298575">
                <a:moveTo>
                  <a:pt x="0" y="154813"/>
                </a:moveTo>
                <a:lnTo>
                  <a:pt x="7891" y="105891"/>
                </a:lnTo>
                <a:lnTo>
                  <a:pt x="29865" y="63395"/>
                </a:lnTo>
                <a:lnTo>
                  <a:pt x="63373" y="29878"/>
                </a:lnTo>
                <a:lnTo>
                  <a:pt x="105863" y="7895"/>
                </a:lnTo>
                <a:lnTo>
                  <a:pt x="154787" y="0"/>
                </a:lnTo>
                <a:lnTo>
                  <a:pt x="1314323" y="0"/>
                </a:lnTo>
                <a:lnTo>
                  <a:pt x="1363244" y="7895"/>
                </a:lnTo>
                <a:lnTo>
                  <a:pt x="1405740" y="29878"/>
                </a:lnTo>
                <a:lnTo>
                  <a:pt x="1439257" y="63395"/>
                </a:lnTo>
                <a:lnTo>
                  <a:pt x="1461240" y="105891"/>
                </a:lnTo>
                <a:lnTo>
                  <a:pt x="1469136" y="154813"/>
                </a:lnTo>
                <a:lnTo>
                  <a:pt x="1469136" y="1143660"/>
                </a:lnTo>
                <a:lnTo>
                  <a:pt x="1461240" y="1192584"/>
                </a:lnTo>
                <a:lnTo>
                  <a:pt x="1439257" y="1235074"/>
                </a:lnTo>
                <a:lnTo>
                  <a:pt x="1405740" y="1268582"/>
                </a:lnTo>
                <a:lnTo>
                  <a:pt x="1363244" y="1290556"/>
                </a:lnTo>
                <a:lnTo>
                  <a:pt x="1314323" y="1298448"/>
                </a:lnTo>
                <a:lnTo>
                  <a:pt x="154787" y="1298448"/>
                </a:lnTo>
                <a:lnTo>
                  <a:pt x="105863" y="1290556"/>
                </a:lnTo>
                <a:lnTo>
                  <a:pt x="63373" y="1268582"/>
                </a:lnTo>
                <a:lnTo>
                  <a:pt x="29865" y="1235074"/>
                </a:lnTo>
                <a:lnTo>
                  <a:pt x="7891" y="1192584"/>
                </a:lnTo>
                <a:lnTo>
                  <a:pt x="0" y="1143660"/>
                </a:lnTo>
                <a:lnTo>
                  <a:pt x="0" y="154813"/>
                </a:lnTo>
                <a:close/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22960" y="4753355"/>
            <a:ext cx="1084453" cy="63944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2997200" y="2080005"/>
            <a:ext cx="1094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latin typeface="黑体"/>
                <a:cs typeface="黑体"/>
              </a:rPr>
              <a:t>很</a:t>
            </a:r>
            <a:r>
              <a:rPr sz="2800" b="1" spc="-10" dirty="0">
                <a:latin typeface="黑体"/>
                <a:cs typeface="黑体"/>
              </a:rPr>
              <a:t>明</a:t>
            </a:r>
            <a:r>
              <a:rPr sz="2800" b="1" spc="-15" dirty="0">
                <a:latin typeface="黑体"/>
                <a:cs typeface="黑体"/>
              </a:rPr>
              <a:t>确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090798" y="3563239"/>
            <a:ext cx="1094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latin typeface="黑体"/>
                <a:cs typeface="黑体"/>
              </a:rPr>
              <a:t>很</a:t>
            </a:r>
            <a:r>
              <a:rPr sz="2800" b="1" spc="-10" dirty="0">
                <a:latin typeface="黑体"/>
                <a:cs typeface="黑体"/>
              </a:rPr>
              <a:t>明</a:t>
            </a:r>
            <a:r>
              <a:rPr sz="2800" b="1" spc="-15" dirty="0">
                <a:latin typeface="黑体"/>
                <a:cs typeface="黑体"/>
              </a:rPr>
              <a:t>确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122422" y="5123433"/>
            <a:ext cx="50177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latin typeface="黑体"/>
                <a:cs typeface="黑体"/>
              </a:rPr>
              <a:t>系</a:t>
            </a:r>
            <a:r>
              <a:rPr sz="2800" b="1" spc="-10" dirty="0">
                <a:latin typeface="黑体"/>
                <a:cs typeface="黑体"/>
              </a:rPr>
              <a:t>统性能</a:t>
            </a:r>
            <a:r>
              <a:rPr sz="2800" b="1" spc="5" dirty="0">
                <a:latin typeface="黑体"/>
                <a:cs typeface="黑体"/>
              </a:rPr>
              <a:t>、</a:t>
            </a:r>
            <a:r>
              <a:rPr sz="2800" b="1" spc="-10" dirty="0">
                <a:latin typeface="黑体"/>
                <a:cs typeface="黑体"/>
              </a:rPr>
              <a:t>安全等</a:t>
            </a:r>
            <a:r>
              <a:rPr sz="2800" b="1" spc="5" dirty="0">
                <a:latin typeface="黑体"/>
                <a:cs typeface="黑体"/>
              </a:rPr>
              <a:t>有</a:t>
            </a:r>
            <a:r>
              <a:rPr sz="2800" b="1" spc="-10" dirty="0">
                <a:latin typeface="黑体"/>
                <a:cs typeface="黑体"/>
              </a:rPr>
              <a:t>严格要</a:t>
            </a:r>
            <a:r>
              <a:rPr sz="2800" b="1" spc="5" dirty="0">
                <a:latin typeface="黑体"/>
                <a:cs typeface="黑体"/>
              </a:rPr>
              <a:t>求</a:t>
            </a:r>
            <a:r>
              <a:rPr sz="2800" b="1" spc="-15" dirty="0">
                <a:latin typeface="黑体"/>
                <a:cs typeface="黑体"/>
              </a:rPr>
              <a:t>等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91869" y="2110232"/>
            <a:ext cx="638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DFFFF"/>
                </a:solidFill>
                <a:latin typeface="宋体"/>
                <a:cs typeface="宋体"/>
              </a:rPr>
              <a:t>需求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62913" y="3623564"/>
            <a:ext cx="638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DFFFF"/>
                </a:solidFill>
                <a:latin typeface="宋体"/>
                <a:cs typeface="宋体"/>
              </a:rPr>
              <a:t>方案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56589" y="5203316"/>
            <a:ext cx="1252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DFFFF"/>
                </a:solidFill>
                <a:latin typeface="宋体"/>
                <a:cs typeface="宋体"/>
              </a:rPr>
              <a:t>类似项目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200913"/>
            <a:ext cx="26212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</a:t>
            </a:r>
            <a:r>
              <a:rPr i="0" dirty="0">
                <a:latin typeface="华文隶书"/>
                <a:cs typeface="华文隶书"/>
              </a:rPr>
              <a:t>模型案例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09921" y="6332739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dirty="0"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91086" y="1618221"/>
            <a:ext cx="6649343" cy="51834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72639" y="1292349"/>
            <a:ext cx="7048500" cy="55443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507233"/>
            <a:ext cx="6332219" cy="53507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11886" y="1916429"/>
            <a:ext cx="5113020" cy="576580"/>
          </a:xfrm>
          <a:custGeom>
            <a:avLst/>
            <a:gdLst/>
            <a:ahLst/>
            <a:cxnLst/>
            <a:rect l="l" t="t" r="r" b="b"/>
            <a:pathLst>
              <a:path w="5113020" h="576580">
                <a:moveTo>
                  <a:pt x="0" y="576072"/>
                </a:moveTo>
                <a:lnTo>
                  <a:pt x="5113020" y="576072"/>
                </a:lnTo>
                <a:lnTo>
                  <a:pt x="5113020" y="0"/>
                </a:lnTo>
                <a:lnTo>
                  <a:pt x="0" y="0"/>
                </a:lnTo>
                <a:lnTo>
                  <a:pt x="0" y="576072"/>
                </a:lnTo>
                <a:close/>
              </a:path>
            </a:pathLst>
          </a:custGeom>
          <a:ln w="1981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8630" y="4118609"/>
            <a:ext cx="5544820" cy="2414270"/>
          </a:xfrm>
          <a:custGeom>
            <a:avLst/>
            <a:gdLst/>
            <a:ahLst/>
            <a:cxnLst/>
            <a:rect l="l" t="t" r="r" b="b"/>
            <a:pathLst>
              <a:path w="5544820" h="2414270">
                <a:moveTo>
                  <a:pt x="0" y="2414016"/>
                </a:moveTo>
                <a:lnTo>
                  <a:pt x="5544312" y="2414016"/>
                </a:lnTo>
                <a:lnTo>
                  <a:pt x="5544312" y="0"/>
                </a:lnTo>
                <a:lnTo>
                  <a:pt x="0" y="0"/>
                </a:lnTo>
                <a:lnTo>
                  <a:pt x="0" y="2414016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881122" y="1916429"/>
            <a:ext cx="5724525" cy="1153795"/>
          </a:xfrm>
          <a:custGeom>
            <a:avLst/>
            <a:gdLst/>
            <a:ahLst/>
            <a:cxnLst/>
            <a:rect l="l" t="t" r="r" b="b"/>
            <a:pathLst>
              <a:path w="5724525" h="1153795">
                <a:moveTo>
                  <a:pt x="0" y="1153668"/>
                </a:moveTo>
                <a:lnTo>
                  <a:pt x="5724144" y="1153668"/>
                </a:lnTo>
                <a:lnTo>
                  <a:pt x="5724144" y="0"/>
                </a:lnTo>
                <a:lnTo>
                  <a:pt x="0" y="0"/>
                </a:lnTo>
                <a:lnTo>
                  <a:pt x="0" y="1153668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40785" y="3861053"/>
            <a:ext cx="5546090" cy="2620010"/>
          </a:xfrm>
          <a:custGeom>
            <a:avLst/>
            <a:gdLst/>
            <a:ahLst/>
            <a:cxnLst/>
            <a:rect l="l" t="t" r="r" b="b"/>
            <a:pathLst>
              <a:path w="5546090" h="2620010">
                <a:moveTo>
                  <a:pt x="0" y="2619756"/>
                </a:moveTo>
                <a:lnTo>
                  <a:pt x="5545836" y="2619756"/>
                </a:lnTo>
                <a:lnTo>
                  <a:pt x="5545836" y="0"/>
                </a:lnTo>
                <a:lnTo>
                  <a:pt x="0" y="0"/>
                </a:lnTo>
                <a:lnTo>
                  <a:pt x="0" y="2619756"/>
                </a:lnTo>
                <a:close/>
              </a:path>
            </a:pathLst>
          </a:custGeom>
          <a:ln w="1981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0"/>
            <a:ext cx="2263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i="0" dirty="0">
                <a:latin typeface="华文隶书"/>
                <a:cs typeface="华文隶书"/>
              </a:rPr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5416" y="1932561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29967" y="1868423"/>
            <a:ext cx="506095" cy="4318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79375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625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85416" y="2557088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29967" y="2491739"/>
            <a:ext cx="483234" cy="43307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0645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6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86939" y="3229553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29967" y="3163823"/>
            <a:ext cx="483234" cy="43307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0645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6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86939" y="5053146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六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29967" y="4988052"/>
            <a:ext cx="485140" cy="4318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0010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63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六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35935" y="1868423"/>
            <a:ext cx="4628515" cy="4318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18110" rIns="0" bIns="0" rtlCol="0">
            <a:spAutoFit/>
          </a:bodyPr>
          <a:lstStyle/>
          <a:p>
            <a:pPr marL="1202055">
              <a:lnSpc>
                <a:spcPct val="100000"/>
              </a:lnSpc>
              <a:spcBef>
                <a:spcPts val="930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生存期模型选择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13076" y="2491739"/>
            <a:ext cx="4628515" cy="43307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57785" rIns="0" bIns="0" rtlCol="0">
            <a:spAutoFit/>
          </a:bodyPr>
          <a:lstStyle/>
          <a:p>
            <a:pPr marR="445770" algn="ctr">
              <a:lnSpc>
                <a:spcPct val="100000"/>
              </a:lnSpc>
              <a:spcBef>
                <a:spcPts val="455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预测模型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13076" y="3163823"/>
            <a:ext cx="4628515" cy="43307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58419" rIns="0" bIns="0" rtlCol="0">
            <a:spAutoFit/>
          </a:bodyPr>
          <a:lstStyle/>
          <a:p>
            <a:pPr marR="494665" algn="ctr">
              <a:lnSpc>
                <a:spcPct val="100000"/>
              </a:lnSpc>
              <a:spcBef>
                <a:spcPts val="459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迭代模型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14600" y="4988052"/>
            <a:ext cx="4630420" cy="4318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05410" rIns="0" bIns="0" rtlCol="0">
            <a:spAutoFit/>
          </a:bodyPr>
          <a:lstStyle/>
          <a:p>
            <a:pPr marR="407034" algn="ctr">
              <a:lnSpc>
                <a:spcPct val="100000"/>
              </a:lnSpc>
              <a:spcBef>
                <a:spcPts val="830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混合模型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64714" y="3853055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08632" y="3787140"/>
            <a:ext cx="504825" cy="4343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128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64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13076" y="3787140"/>
            <a:ext cx="4628515" cy="4343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07950" rIns="0" bIns="0" rtlCol="0">
            <a:spAutoFit/>
          </a:bodyPr>
          <a:lstStyle/>
          <a:p>
            <a:pPr marR="445134" algn="ctr">
              <a:lnSpc>
                <a:spcPct val="100000"/>
              </a:lnSpc>
              <a:spcBef>
                <a:spcPts val="850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增量模型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64714" y="4476693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08632" y="4411979"/>
            <a:ext cx="504825" cy="4318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001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63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13076" y="4411979"/>
            <a:ext cx="4628515" cy="4318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08585" rIns="0" bIns="0" rtlCol="0">
            <a:spAutoFit/>
          </a:bodyPr>
          <a:lstStyle/>
          <a:p>
            <a:pPr marR="445134" algn="ctr">
              <a:lnSpc>
                <a:spcPct val="100000"/>
              </a:lnSpc>
              <a:spcBef>
                <a:spcPts val="855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敏捷模型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85161" y="5726424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七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28444" y="5661659"/>
            <a:ext cx="485140" cy="4318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0010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63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七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13076" y="5661659"/>
            <a:ext cx="4628515" cy="4318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05410" rIns="0" bIns="0" rtlCol="0">
            <a:spAutoFit/>
          </a:bodyPr>
          <a:lstStyle/>
          <a:p>
            <a:pPr marR="404495" algn="ctr">
              <a:lnSpc>
                <a:spcPct val="100000"/>
              </a:lnSpc>
              <a:spcBef>
                <a:spcPts val="830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dirty="0">
                <a:latin typeface="华文隶书"/>
                <a:cs typeface="华文隶书"/>
              </a:rPr>
              <a:t>迭代模型</a:t>
            </a:r>
          </a:p>
        </p:txBody>
      </p:sp>
      <p:sp>
        <p:nvSpPr>
          <p:cNvPr id="3" name="object 3"/>
          <p:cNvSpPr/>
          <p:nvPr/>
        </p:nvSpPr>
        <p:spPr>
          <a:xfrm>
            <a:off x="579119" y="2133571"/>
            <a:ext cx="8133874" cy="26670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6666" y="5157978"/>
            <a:ext cx="5003800" cy="830580"/>
          </a:xfrm>
          <a:prstGeom prst="rect">
            <a:avLst/>
          </a:prstGeom>
          <a:ln w="28955">
            <a:solidFill>
              <a:srgbClr val="006FC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5615"/>
              </a:lnSpc>
            </a:pPr>
            <a:r>
              <a:rPr sz="4800" i="1" dirty="0">
                <a:latin typeface="华文隶书"/>
                <a:cs typeface="华文隶书"/>
              </a:rPr>
              <a:t>Or:</a:t>
            </a:r>
            <a:r>
              <a:rPr sz="4800" dirty="0">
                <a:latin typeface="华文隶书"/>
                <a:cs typeface="华文隶书"/>
              </a:rPr>
              <a:t>原型模型</a:t>
            </a:r>
            <a:endParaRPr sz="4800">
              <a:latin typeface="华文隶书"/>
              <a:cs typeface="华文隶书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065" y="160731"/>
            <a:ext cx="2263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原型模型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51197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1123" y="1629155"/>
            <a:ext cx="7993380" cy="44622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283209"/>
            <a:ext cx="61779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dirty="0">
                <a:latin typeface="华文隶书"/>
                <a:cs typeface="华文隶书"/>
              </a:rPr>
              <a:t>适合迭代模型的项目特征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69994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20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57883" y="3185160"/>
            <a:ext cx="7391400" cy="13045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37232" y="3630167"/>
            <a:ext cx="509270" cy="344805"/>
          </a:xfrm>
          <a:custGeom>
            <a:avLst/>
            <a:gdLst/>
            <a:ahLst/>
            <a:cxnLst/>
            <a:rect l="l" t="t" r="r" b="b"/>
            <a:pathLst>
              <a:path w="509269" h="344804">
                <a:moveTo>
                  <a:pt x="352298" y="0"/>
                </a:moveTo>
                <a:lnTo>
                  <a:pt x="352298" y="86105"/>
                </a:lnTo>
                <a:lnTo>
                  <a:pt x="0" y="86105"/>
                </a:lnTo>
                <a:lnTo>
                  <a:pt x="0" y="258317"/>
                </a:lnTo>
                <a:lnTo>
                  <a:pt x="352298" y="258317"/>
                </a:lnTo>
                <a:lnTo>
                  <a:pt x="352298" y="344423"/>
                </a:lnTo>
                <a:lnTo>
                  <a:pt x="509016" y="172211"/>
                </a:lnTo>
                <a:lnTo>
                  <a:pt x="352298" y="0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95983" y="4707635"/>
            <a:ext cx="7342632" cy="13136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09800" y="5172455"/>
            <a:ext cx="509270" cy="347980"/>
          </a:xfrm>
          <a:custGeom>
            <a:avLst/>
            <a:gdLst/>
            <a:ahLst/>
            <a:cxnLst/>
            <a:rect l="l" t="t" r="r" b="b"/>
            <a:pathLst>
              <a:path w="509269" h="347979">
                <a:moveTo>
                  <a:pt x="352298" y="0"/>
                </a:moveTo>
                <a:lnTo>
                  <a:pt x="352298" y="86868"/>
                </a:lnTo>
                <a:lnTo>
                  <a:pt x="0" y="86868"/>
                </a:lnTo>
                <a:lnTo>
                  <a:pt x="0" y="260604"/>
                </a:lnTo>
                <a:lnTo>
                  <a:pt x="352298" y="260604"/>
                </a:lnTo>
                <a:lnTo>
                  <a:pt x="352298" y="347472"/>
                </a:lnTo>
                <a:lnTo>
                  <a:pt x="509016" y="173736"/>
                </a:lnTo>
                <a:lnTo>
                  <a:pt x="352298" y="0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57883" y="1688592"/>
            <a:ext cx="7391400" cy="13060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17420" y="2135123"/>
            <a:ext cx="510540" cy="344805"/>
          </a:xfrm>
          <a:custGeom>
            <a:avLst/>
            <a:gdLst/>
            <a:ahLst/>
            <a:cxnLst/>
            <a:rect l="l" t="t" r="r" b="b"/>
            <a:pathLst>
              <a:path w="510539" h="344805">
                <a:moveTo>
                  <a:pt x="353822" y="0"/>
                </a:moveTo>
                <a:lnTo>
                  <a:pt x="353822" y="86105"/>
                </a:lnTo>
                <a:lnTo>
                  <a:pt x="0" y="86105"/>
                </a:lnTo>
                <a:lnTo>
                  <a:pt x="0" y="258317"/>
                </a:lnTo>
                <a:lnTo>
                  <a:pt x="353822" y="258317"/>
                </a:lnTo>
                <a:lnTo>
                  <a:pt x="353822" y="344424"/>
                </a:lnTo>
                <a:lnTo>
                  <a:pt x="510540" y="172212"/>
                </a:lnTo>
                <a:lnTo>
                  <a:pt x="353822" y="0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74954" y="1674114"/>
            <a:ext cx="1463039" cy="12984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74954" y="1674114"/>
            <a:ext cx="1308735" cy="154940"/>
          </a:xfrm>
          <a:custGeom>
            <a:avLst/>
            <a:gdLst/>
            <a:ahLst/>
            <a:cxnLst/>
            <a:rect l="l" t="t" r="r" b="b"/>
            <a:pathLst>
              <a:path w="1308735" h="154939">
                <a:moveTo>
                  <a:pt x="0" y="154812"/>
                </a:moveTo>
                <a:lnTo>
                  <a:pt x="7891" y="105891"/>
                </a:lnTo>
                <a:lnTo>
                  <a:pt x="29865" y="63395"/>
                </a:lnTo>
                <a:lnTo>
                  <a:pt x="63373" y="29878"/>
                </a:lnTo>
                <a:lnTo>
                  <a:pt x="105863" y="7895"/>
                </a:lnTo>
                <a:lnTo>
                  <a:pt x="154787" y="0"/>
                </a:lnTo>
                <a:lnTo>
                  <a:pt x="1308227" y="0"/>
                </a:lnTo>
              </a:path>
            </a:pathLst>
          </a:custGeom>
          <a:ln w="25907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74954" y="1828926"/>
            <a:ext cx="154940" cy="1143635"/>
          </a:xfrm>
          <a:custGeom>
            <a:avLst/>
            <a:gdLst/>
            <a:ahLst/>
            <a:cxnLst/>
            <a:rect l="l" t="t" r="r" b="b"/>
            <a:pathLst>
              <a:path w="154940" h="1143635">
                <a:moveTo>
                  <a:pt x="154787" y="1143635"/>
                </a:moveTo>
                <a:lnTo>
                  <a:pt x="105863" y="1135739"/>
                </a:lnTo>
                <a:lnTo>
                  <a:pt x="63373" y="1113756"/>
                </a:lnTo>
                <a:lnTo>
                  <a:pt x="29865" y="1080239"/>
                </a:lnTo>
                <a:lnTo>
                  <a:pt x="7891" y="1037743"/>
                </a:lnTo>
                <a:lnTo>
                  <a:pt x="0" y="988822"/>
                </a:lnTo>
                <a:lnTo>
                  <a:pt x="0" y="0"/>
                </a:lnTo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083180" y="1674114"/>
            <a:ext cx="154940" cy="1298575"/>
          </a:xfrm>
          <a:custGeom>
            <a:avLst/>
            <a:gdLst/>
            <a:ahLst/>
            <a:cxnLst/>
            <a:rect l="l" t="t" r="r" b="b"/>
            <a:pathLst>
              <a:path w="154939" h="1298575">
                <a:moveTo>
                  <a:pt x="0" y="0"/>
                </a:moveTo>
                <a:lnTo>
                  <a:pt x="48921" y="7895"/>
                </a:lnTo>
                <a:lnTo>
                  <a:pt x="91417" y="29878"/>
                </a:lnTo>
                <a:lnTo>
                  <a:pt x="124934" y="63395"/>
                </a:lnTo>
                <a:lnTo>
                  <a:pt x="146917" y="105891"/>
                </a:lnTo>
                <a:lnTo>
                  <a:pt x="154812" y="154812"/>
                </a:lnTo>
                <a:lnTo>
                  <a:pt x="154812" y="1143635"/>
                </a:lnTo>
                <a:lnTo>
                  <a:pt x="146917" y="1192556"/>
                </a:lnTo>
                <a:lnTo>
                  <a:pt x="124934" y="1235052"/>
                </a:lnTo>
                <a:lnTo>
                  <a:pt x="91417" y="1268569"/>
                </a:lnTo>
                <a:lnTo>
                  <a:pt x="48921" y="1290552"/>
                </a:lnTo>
                <a:lnTo>
                  <a:pt x="0" y="1298448"/>
                </a:lnTo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74954" y="1674114"/>
            <a:ext cx="1463039" cy="12984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74954" y="1674114"/>
            <a:ext cx="1463040" cy="1298575"/>
          </a:xfrm>
          <a:custGeom>
            <a:avLst/>
            <a:gdLst/>
            <a:ahLst/>
            <a:cxnLst/>
            <a:rect l="l" t="t" r="r" b="b"/>
            <a:pathLst>
              <a:path w="1463039" h="1298575">
                <a:moveTo>
                  <a:pt x="0" y="154812"/>
                </a:moveTo>
                <a:lnTo>
                  <a:pt x="7891" y="105891"/>
                </a:lnTo>
                <a:lnTo>
                  <a:pt x="29865" y="63395"/>
                </a:lnTo>
                <a:lnTo>
                  <a:pt x="63373" y="29878"/>
                </a:lnTo>
                <a:lnTo>
                  <a:pt x="105863" y="7895"/>
                </a:lnTo>
                <a:lnTo>
                  <a:pt x="154787" y="0"/>
                </a:lnTo>
                <a:lnTo>
                  <a:pt x="1308227" y="0"/>
                </a:lnTo>
                <a:lnTo>
                  <a:pt x="1357148" y="7895"/>
                </a:lnTo>
                <a:lnTo>
                  <a:pt x="1399644" y="29878"/>
                </a:lnTo>
                <a:lnTo>
                  <a:pt x="1433161" y="63395"/>
                </a:lnTo>
                <a:lnTo>
                  <a:pt x="1455144" y="105891"/>
                </a:lnTo>
                <a:lnTo>
                  <a:pt x="1463039" y="154812"/>
                </a:lnTo>
                <a:lnTo>
                  <a:pt x="1463039" y="1143635"/>
                </a:lnTo>
                <a:lnTo>
                  <a:pt x="1455144" y="1192556"/>
                </a:lnTo>
                <a:lnTo>
                  <a:pt x="1433161" y="1235052"/>
                </a:lnTo>
                <a:lnTo>
                  <a:pt x="1399644" y="1268569"/>
                </a:lnTo>
                <a:lnTo>
                  <a:pt x="1357148" y="1290552"/>
                </a:lnTo>
                <a:lnTo>
                  <a:pt x="1308227" y="1298448"/>
                </a:lnTo>
                <a:lnTo>
                  <a:pt x="154787" y="1298448"/>
                </a:lnTo>
                <a:lnTo>
                  <a:pt x="105863" y="1290552"/>
                </a:lnTo>
                <a:lnTo>
                  <a:pt x="63373" y="1268569"/>
                </a:lnTo>
                <a:lnTo>
                  <a:pt x="29865" y="1235052"/>
                </a:lnTo>
                <a:lnTo>
                  <a:pt x="7891" y="1192556"/>
                </a:lnTo>
                <a:lnTo>
                  <a:pt x="0" y="1143635"/>
                </a:lnTo>
                <a:lnTo>
                  <a:pt x="0" y="154812"/>
                </a:lnTo>
                <a:close/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38200" y="1738883"/>
            <a:ext cx="1085850" cy="6394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88669" y="3175254"/>
            <a:ext cx="1449324" cy="12984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88669" y="3175254"/>
            <a:ext cx="1294765" cy="154940"/>
          </a:xfrm>
          <a:custGeom>
            <a:avLst/>
            <a:gdLst/>
            <a:ahLst/>
            <a:cxnLst/>
            <a:rect l="l" t="t" r="r" b="b"/>
            <a:pathLst>
              <a:path w="1294764" h="154939">
                <a:moveTo>
                  <a:pt x="0" y="154812"/>
                </a:moveTo>
                <a:lnTo>
                  <a:pt x="7891" y="105891"/>
                </a:lnTo>
                <a:lnTo>
                  <a:pt x="29865" y="63395"/>
                </a:lnTo>
                <a:lnTo>
                  <a:pt x="63373" y="29878"/>
                </a:lnTo>
                <a:lnTo>
                  <a:pt x="105863" y="7895"/>
                </a:lnTo>
                <a:lnTo>
                  <a:pt x="154787" y="0"/>
                </a:lnTo>
                <a:lnTo>
                  <a:pt x="1294511" y="0"/>
                </a:lnTo>
              </a:path>
            </a:pathLst>
          </a:custGeom>
          <a:ln w="25907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88669" y="3330066"/>
            <a:ext cx="154940" cy="1143635"/>
          </a:xfrm>
          <a:custGeom>
            <a:avLst/>
            <a:gdLst/>
            <a:ahLst/>
            <a:cxnLst/>
            <a:rect l="l" t="t" r="r" b="b"/>
            <a:pathLst>
              <a:path w="154940" h="1143635">
                <a:moveTo>
                  <a:pt x="154787" y="1143635"/>
                </a:moveTo>
                <a:lnTo>
                  <a:pt x="105863" y="1135739"/>
                </a:lnTo>
                <a:lnTo>
                  <a:pt x="63373" y="1113756"/>
                </a:lnTo>
                <a:lnTo>
                  <a:pt x="29865" y="1080239"/>
                </a:lnTo>
                <a:lnTo>
                  <a:pt x="7891" y="1037743"/>
                </a:lnTo>
                <a:lnTo>
                  <a:pt x="0" y="988822"/>
                </a:lnTo>
                <a:lnTo>
                  <a:pt x="0" y="0"/>
                </a:lnTo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083180" y="3175254"/>
            <a:ext cx="154940" cy="1298575"/>
          </a:xfrm>
          <a:custGeom>
            <a:avLst/>
            <a:gdLst/>
            <a:ahLst/>
            <a:cxnLst/>
            <a:rect l="l" t="t" r="r" b="b"/>
            <a:pathLst>
              <a:path w="154939" h="1298575">
                <a:moveTo>
                  <a:pt x="0" y="0"/>
                </a:moveTo>
                <a:lnTo>
                  <a:pt x="48921" y="7895"/>
                </a:lnTo>
                <a:lnTo>
                  <a:pt x="91417" y="29878"/>
                </a:lnTo>
                <a:lnTo>
                  <a:pt x="124934" y="63395"/>
                </a:lnTo>
                <a:lnTo>
                  <a:pt x="146917" y="105891"/>
                </a:lnTo>
                <a:lnTo>
                  <a:pt x="154813" y="154812"/>
                </a:lnTo>
                <a:lnTo>
                  <a:pt x="154813" y="1143635"/>
                </a:lnTo>
                <a:lnTo>
                  <a:pt x="146917" y="1192556"/>
                </a:lnTo>
                <a:lnTo>
                  <a:pt x="124934" y="1235052"/>
                </a:lnTo>
                <a:lnTo>
                  <a:pt x="91417" y="1268569"/>
                </a:lnTo>
                <a:lnTo>
                  <a:pt x="48921" y="1290552"/>
                </a:lnTo>
                <a:lnTo>
                  <a:pt x="0" y="1298448"/>
                </a:lnTo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88669" y="3175254"/>
            <a:ext cx="1449324" cy="12984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88669" y="3175254"/>
            <a:ext cx="1449705" cy="1298575"/>
          </a:xfrm>
          <a:custGeom>
            <a:avLst/>
            <a:gdLst/>
            <a:ahLst/>
            <a:cxnLst/>
            <a:rect l="l" t="t" r="r" b="b"/>
            <a:pathLst>
              <a:path w="1449705" h="1298575">
                <a:moveTo>
                  <a:pt x="0" y="154812"/>
                </a:moveTo>
                <a:lnTo>
                  <a:pt x="7891" y="105891"/>
                </a:lnTo>
                <a:lnTo>
                  <a:pt x="29865" y="63395"/>
                </a:lnTo>
                <a:lnTo>
                  <a:pt x="63373" y="29878"/>
                </a:lnTo>
                <a:lnTo>
                  <a:pt x="105863" y="7895"/>
                </a:lnTo>
                <a:lnTo>
                  <a:pt x="154787" y="0"/>
                </a:lnTo>
                <a:lnTo>
                  <a:pt x="1294511" y="0"/>
                </a:lnTo>
                <a:lnTo>
                  <a:pt x="1343432" y="7895"/>
                </a:lnTo>
                <a:lnTo>
                  <a:pt x="1385928" y="29878"/>
                </a:lnTo>
                <a:lnTo>
                  <a:pt x="1419445" y="63395"/>
                </a:lnTo>
                <a:lnTo>
                  <a:pt x="1441428" y="105891"/>
                </a:lnTo>
                <a:lnTo>
                  <a:pt x="1449324" y="154812"/>
                </a:lnTo>
                <a:lnTo>
                  <a:pt x="1449324" y="1143635"/>
                </a:lnTo>
                <a:lnTo>
                  <a:pt x="1441428" y="1192556"/>
                </a:lnTo>
                <a:lnTo>
                  <a:pt x="1419445" y="1235052"/>
                </a:lnTo>
                <a:lnTo>
                  <a:pt x="1385928" y="1268569"/>
                </a:lnTo>
                <a:lnTo>
                  <a:pt x="1343432" y="1290552"/>
                </a:lnTo>
                <a:lnTo>
                  <a:pt x="1294511" y="1298448"/>
                </a:lnTo>
                <a:lnTo>
                  <a:pt x="154787" y="1298448"/>
                </a:lnTo>
                <a:lnTo>
                  <a:pt x="105863" y="1290552"/>
                </a:lnTo>
                <a:lnTo>
                  <a:pt x="63373" y="1268569"/>
                </a:lnTo>
                <a:lnTo>
                  <a:pt x="29865" y="1235052"/>
                </a:lnTo>
                <a:lnTo>
                  <a:pt x="7891" y="1192556"/>
                </a:lnTo>
                <a:lnTo>
                  <a:pt x="0" y="1143635"/>
                </a:lnTo>
                <a:lnTo>
                  <a:pt x="0" y="154812"/>
                </a:lnTo>
                <a:close/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41247" y="3240023"/>
            <a:ext cx="1085850" cy="63944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68858" y="4697729"/>
            <a:ext cx="1469136" cy="129844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68858" y="4697729"/>
            <a:ext cx="1314450" cy="154940"/>
          </a:xfrm>
          <a:custGeom>
            <a:avLst/>
            <a:gdLst/>
            <a:ahLst/>
            <a:cxnLst/>
            <a:rect l="l" t="t" r="r" b="b"/>
            <a:pathLst>
              <a:path w="1314450" h="154939">
                <a:moveTo>
                  <a:pt x="0" y="154813"/>
                </a:moveTo>
                <a:lnTo>
                  <a:pt x="7891" y="105891"/>
                </a:lnTo>
                <a:lnTo>
                  <a:pt x="29865" y="63395"/>
                </a:lnTo>
                <a:lnTo>
                  <a:pt x="63373" y="29878"/>
                </a:lnTo>
                <a:lnTo>
                  <a:pt x="105863" y="7895"/>
                </a:lnTo>
                <a:lnTo>
                  <a:pt x="154787" y="0"/>
                </a:lnTo>
                <a:lnTo>
                  <a:pt x="1314323" y="0"/>
                </a:lnTo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68858" y="4852542"/>
            <a:ext cx="154940" cy="1143635"/>
          </a:xfrm>
          <a:custGeom>
            <a:avLst/>
            <a:gdLst/>
            <a:ahLst/>
            <a:cxnLst/>
            <a:rect l="l" t="t" r="r" b="b"/>
            <a:pathLst>
              <a:path w="154940" h="1143635">
                <a:moveTo>
                  <a:pt x="154787" y="1143634"/>
                </a:moveTo>
                <a:lnTo>
                  <a:pt x="105863" y="1135743"/>
                </a:lnTo>
                <a:lnTo>
                  <a:pt x="63373" y="1113769"/>
                </a:lnTo>
                <a:lnTo>
                  <a:pt x="29865" y="1080261"/>
                </a:lnTo>
                <a:lnTo>
                  <a:pt x="7891" y="1037771"/>
                </a:lnTo>
                <a:lnTo>
                  <a:pt x="0" y="988847"/>
                </a:lnTo>
                <a:lnTo>
                  <a:pt x="0" y="0"/>
                </a:lnTo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083180" y="4697729"/>
            <a:ext cx="154940" cy="1298575"/>
          </a:xfrm>
          <a:custGeom>
            <a:avLst/>
            <a:gdLst/>
            <a:ahLst/>
            <a:cxnLst/>
            <a:rect l="l" t="t" r="r" b="b"/>
            <a:pathLst>
              <a:path w="154939" h="1298575">
                <a:moveTo>
                  <a:pt x="0" y="0"/>
                </a:moveTo>
                <a:lnTo>
                  <a:pt x="48921" y="7895"/>
                </a:lnTo>
                <a:lnTo>
                  <a:pt x="91417" y="29878"/>
                </a:lnTo>
                <a:lnTo>
                  <a:pt x="124934" y="63395"/>
                </a:lnTo>
                <a:lnTo>
                  <a:pt x="146917" y="105891"/>
                </a:lnTo>
                <a:lnTo>
                  <a:pt x="154812" y="154813"/>
                </a:lnTo>
                <a:lnTo>
                  <a:pt x="154812" y="1143660"/>
                </a:lnTo>
                <a:lnTo>
                  <a:pt x="146917" y="1192584"/>
                </a:lnTo>
                <a:lnTo>
                  <a:pt x="124934" y="1235074"/>
                </a:lnTo>
                <a:lnTo>
                  <a:pt x="91417" y="1268582"/>
                </a:lnTo>
                <a:lnTo>
                  <a:pt x="48921" y="1290556"/>
                </a:lnTo>
                <a:lnTo>
                  <a:pt x="0" y="1298448"/>
                </a:lnTo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68858" y="4697729"/>
            <a:ext cx="1469136" cy="129844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68858" y="4697729"/>
            <a:ext cx="1469390" cy="1298575"/>
          </a:xfrm>
          <a:custGeom>
            <a:avLst/>
            <a:gdLst/>
            <a:ahLst/>
            <a:cxnLst/>
            <a:rect l="l" t="t" r="r" b="b"/>
            <a:pathLst>
              <a:path w="1469389" h="1298575">
                <a:moveTo>
                  <a:pt x="0" y="154813"/>
                </a:moveTo>
                <a:lnTo>
                  <a:pt x="7891" y="105891"/>
                </a:lnTo>
                <a:lnTo>
                  <a:pt x="29865" y="63395"/>
                </a:lnTo>
                <a:lnTo>
                  <a:pt x="63373" y="29878"/>
                </a:lnTo>
                <a:lnTo>
                  <a:pt x="105863" y="7895"/>
                </a:lnTo>
                <a:lnTo>
                  <a:pt x="154787" y="0"/>
                </a:lnTo>
                <a:lnTo>
                  <a:pt x="1314323" y="0"/>
                </a:lnTo>
                <a:lnTo>
                  <a:pt x="1363244" y="7895"/>
                </a:lnTo>
                <a:lnTo>
                  <a:pt x="1405740" y="29878"/>
                </a:lnTo>
                <a:lnTo>
                  <a:pt x="1439257" y="63395"/>
                </a:lnTo>
                <a:lnTo>
                  <a:pt x="1461240" y="105891"/>
                </a:lnTo>
                <a:lnTo>
                  <a:pt x="1469136" y="154813"/>
                </a:lnTo>
                <a:lnTo>
                  <a:pt x="1469136" y="1143660"/>
                </a:lnTo>
                <a:lnTo>
                  <a:pt x="1461240" y="1192584"/>
                </a:lnTo>
                <a:lnTo>
                  <a:pt x="1439257" y="1235074"/>
                </a:lnTo>
                <a:lnTo>
                  <a:pt x="1405740" y="1268582"/>
                </a:lnTo>
                <a:lnTo>
                  <a:pt x="1363244" y="1290556"/>
                </a:lnTo>
                <a:lnTo>
                  <a:pt x="1314323" y="1298448"/>
                </a:lnTo>
                <a:lnTo>
                  <a:pt x="154787" y="1298448"/>
                </a:lnTo>
                <a:lnTo>
                  <a:pt x="105863" y="1290556"/>
                </a:lnTo>
                <a:lnTo>
                  <a:pt x="63373" y="1268582"/>
                </a:lnTo>
                <a:lnTo>
                  <a:pt x="29865" y="1235074"/>
                </a:lnTo>
                <a:lnTo>
                  <a:pt x="7891" y="1192584"/>
                </a:lnTo>
                <a:lnTo>
                  <a:pt x="0" y="1143660"/>
                </a:lnTo>
                <a:lnTo>
                  <a:pt x="0" y="154813"/>
                </a:lnTo>
                <a:close/>
              </a:path>
            </a:pathLst>
          </a:custGeom>
          <a:ln w="2590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22960" y="4753355"/>
            <a:ext cx="1084453" cy="63944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2997200" y="2080005"/>
            <a:ext cx="1094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latin typeface="黑体"/>
                <a:cs typeface="黑体"/>
              </a:rPr>
              <a:t>不</a:t>
            </a:r>
            <a:r>
              <a:rPr sz="2800" b="1" spc="-10" dirty="0">
                <a:latin typeface="黑体"/>
                <a:cs typeface="黑体"/>
              </a:rPr>
              <a:t>明</a:t>
            </a:r>
            <a:r>
              <a:rPr sz="2800" b="1" spc="-15" dirty="0">
                <a:latin typeface="黑体"/>
                <a:cs typeface="黑体"/>
              </a:rPr>
              <a:t>确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090798" y="3578478"/>
            <a:ext cx="14509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latin typeface="黑体"/>
                <a:cs typeface="黑体"/>
              </a:rPr>
              <a:t>复</a:t>
            </a:r>
            <a:r>
              <a:rPr sz="2800" b="1" spc="-10" dirty="0">
                <a:latin typeface="黑体"/>
                <a:cs typeface="黑体"/>
              </a:rPr>
              <a:t>杂性</a:t>
            </a:r>
            <a:r>
              <a:rPr sz="2800" b="1" spc="-15" dirty="0">
                <a:latin typeface="黑体"/>
                <a:cs typeface="黑体"/>
              </a:rPr>
              <a:t>高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122422" y="5123433"/>
            <a:ext cx="14509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latin typeface="黑体"/>
                <a:cs typeface="黑体"/>
              </a:rPr>
              <a:t>变</a:t>
            </a:r>
            <a:r>
              <a:rPr sz="2800" b="1" spc="-10" dirty="0">
                <a:latin typeface="黑体"/>
                <a:cs typeface="黑体"/>
              </a:rPr>
              <a:t>更频</a:t>
            </a:r>
            <a:r>
              <a:rPr sz="2800" b="1" spc="-15" dirty="0">
                <a:latin typeface="黑体"/>
                <a:cs typeface="黑体"/>
              </a:rPr>
              <a:t>繁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91869" y="2110232"/>
            <a:ext cx="638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DFFFF"/>
                </a:solidFill>
                <a:latin typeface="宋体"/>
                <a:cs typeface="宋体"/>
              </a:rPr>
              <a:t>需求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62913" y="3623564"/>
            <a:ext cx="638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DFFFF"/>
                </a:solidFill>
                <a:latin typeface="宋体"/>
                <a:cs typeface="宋体"/>
              </a:rPr>
              <a:t>项目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63218" y="5203316"/>
            <a:ext cx="638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DFFFF"/>
                </a:solidFill>
                <a:latin typeface="宋体"/>
                <a:cs typeface="宋体"/>
              </a:rPr>
              <a:t>项目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9831" y="1563624"/>
            <a:ext cx="8602980" cy="48889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1515" y="220726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u="sng" spc="-1100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Times New Roman"/>
                <a:cs typeface="Times New Roman"/>
              </a:rPr>
              <a:t> </a:t>
            </a:r>
            <a:r>
              <a:rPr i="0" u="sng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华文仿宋"/>
                <a:cs typeface="华文仿宋"/>
              </a:rPr>
              <a:t>原型模型案</a:t>
            </a:r>
            <a:r>
              <a:rPr i="0" u="sng" spc="-5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华文仿宋"/>
                <a:cs typeface="华文仿宋"/>
              </a:rPr>
              <a:t>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71727" y="1072896"/>
            <a:ext cx="7217664" cy="55031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2668" y="1915667"/>
            <a:ext cx="7417308" cy="47152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0"/>
            <a:ext cx="2263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i="0" dirty="0">
                <a:latin typeface="华文隶书"/>
                <a:cs typeface="华文隶书"/>
              </a:rPr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5416" y="1932561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29967" y="1868423"/>
            <a:ext cx="506095" cy="4318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79375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625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85416" y="2557088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29967" y="2491739"/>
            <a:ext cx="483234" cy="43307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0645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6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86939" y="3229553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29967" y="3163823"/>
            <a:ext cx="483234" cy="43307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0645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6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86939" y="5053146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六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29967" y="4988052"/>
            <a:ext cx="485140" cy="4318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0010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63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六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35935" y="1868423"/>
            <a:ext cx="4628515" cy="4318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18110" rIns="0" bIns="0" rtlCol="0">
            <a:spAutoFit/>
          </a:bodyPr>
          <a:lstStyle/>
          <a:p>
            <a:pPr marL="1202055">
              <a:lnSpc>
                <a:spcPct val="100000"/>
              </a:lnSpc>
              <a:spcBef>
                <a:spcPts val="930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生存期模型选择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13076" y="2491739"/>
            <a:ext cx="4628515" cy="43307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57785" rIns="0" bIns="0" rtlCol="0">
            <a:spAutoFit/>
          </a:bodyPr>
          <a:lstStyle/>
          <a:p>
            <a:pPr marR="445770" algn="ctr">
              <a:lnSpc>
                <a:spcPct val="100000"/>
              </a:lnSpc>
              <a:spcBef>
                <a:spcPts val="455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预测模型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13076" y="3163823"/>
            <a:ext cx="4628515" cy="43307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58419" rIns="0" bIns="0" rtlCol="0">
            <a:spAutoFit/>
          </a:bodyPr>
          <a:lstStyle/>
          <a:p>
            <a:pPr marR="494665" algn="ctr">
              <a:lnSpc>
                <a:spcPct val="100000"/>
              </a:lnSpc>
              <a:spcBef>
                <a:spcPts val="459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迭代模型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14600" y="4988052"/>
            <a:ext cx="4630420" cy="4318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05410" rIns="0" bIns="0" rtlCol="0">
            <a:spAutoFit/>
          </a:bodyPr>
          <a:lstStyle/>
          <a:p>
            <a:pPr marR="407034" algn="ctr">
              <a:lnSpc>
                <a:spcPct val="100000"/>
              </a:lnSpc>
              <a:spcBef>
                <a:spcPts val="830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混合模型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64714" y="3853055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08632" y="3787140"/>
            <a:ext cx="504825" cy="4343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128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64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13076" y="3787140"/>
            <a:ext cx="4628515" cy="4343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07950" rIns="0" bIns="0" rtlCol="0">
            <a:spAutoFit/>
          </a:bodyPr>
          <a:lstStyle/>
          <a:p>
            <a:pPr marR="445134" algn="ctr">
              <a:lnSpc>
                <a:spcPct val="100000"/>
              </a:lnSpc>
              <a:spcBef>
                <a:spcPts val="850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增量模型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64714" y="4476693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08632" y="4411979"/>
            <a:ext cx="504825" cy="4318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001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63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13076" y="4411979"/>
            <a:ext cx="4628515" cy="4318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08585" rIns="0" bIns="0" rtlCol="0">
            <a:spAutoFit/>
          </a:bodyPr>
          <a:lstStyle/>
          <a:p>
            <a:pPr marR="445134" algn="ctr">
              <a:lnSpc>
                <a:spcPct val="100000"/>
              </a:lnSpc>
              <a:spcBef>
                <a:spcPts val="855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敏捷模型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85161" y="5726424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七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28444" y="5661659"/>
            <a:ext cx="485140" cy="4318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0010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63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七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13076" y="5661659"/>
            <a:ext cx="4628515" cy="4318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05410" rIns="0" bIns="0" rtlCol="0">
            <a:spAutoFit/>
          </a:bodyPr>
          <a:lstStyle/>
          <a:p>
            <a:pPr marR="404495" algn="ctr">
              <a:lnSpc>
                <a:spcPct val="100000"/>
              </a:lnSpc>
              <a:spcBef>
                <a:spcPts val="830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22833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dirty="0">
                <a:latin typeface="华文隶书"/>
                <a:cs typeface="华文隶书"/>
              </a:rPr>
              <a:t>增量模型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62120" y="628629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23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12163" y="2316479"/>
            <a:ext cx="728980" cy="1181100"/>
          </a:xfrm>
          <a:custGeom>
            <a:avLst/>
            <a:gdLst/>
            <a:ahLst/>
            <a:cxnLst/>
            <a:rect l="l" t="t" r="r" b="b"/>
            <a:pathLst>
              <a:path w="728980" h="1181100">
                <a:moveTo>
                  <a:pt x="0" y="1181100"/>
                </a:moveTo>
                <a:lnTo>
                  <a:pt x="728472" y="1181100"/>
                </a:lnTo>
                <a:lnTo>
                  <a:pt x="728472" y="0"/>
                </a:lnTo>
                <a:lnTo>
                  <a:pt x="0" y="0"/>
                </a:lnTo>
                <a:lnTo>
                  <a:pt x="0" y="11811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744467" y="2316479"/>
            <a:ext cx="727075" cy="1181100"/>
          </a:xfrm>
          <a:custGeom>
            <a:avLst/>
            <a:gdLst/>
            <a:ahLst/>
            <a:cxnLst/>
            <a:rect l="l" t="t" r="r" b="b"/>
            <a:pathLst>
              <a:path w="727075" h="1181100">
                <a:moveTo>
                  <a:pt x="0" y="1181100"/>
                </a:moveTo>
                <a:lnTo>
                  <a:pt x="726948" y="1181100"/>
                </a:lnTo>
                <a:lnTo>
                  <a:pt x="726948" y="0"/>
                </a:lnTo>
                <a:lnTo>
                  <a:pt x="0" y="0"/>
                </a:lnTo>
                <a:lnTo>
                  <a:pt x="0" y="11811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173723" y="2316479"/>
            <a:ext cx="727075" cy="1181100"/>
          </a:xfrm>
          <a:custGeom>
            <a:avLst/>
            <a:gdLst/>
            <a:ahLst/>
            <a:cxnLst/>
            <a:rect l="l" t="t" r="r" b="b"/>
            <a:pathLst>
              <a:path w="727075" h="1181100">
                <a:moveTo>
                  <a:pt x="0" y="1181100"/>
                </a:moveTo>
                <a:lnTo>
                  <a:pt x="726948" y="1181100"/>
                </a:lnTo>
                <a:lnTo>
                  <a:pt x="726948" y="0"/>
                </a:lnTo>
                <a:lnTo>
                  <a:pt x="0" y="0"/>
                </a:lnTo>
                <a:lnTo>
                  <a:pt x="0" y="11811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256788" y="4588764"/>
            <a:ext cx="1216660" cy="54737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156210" rIns="0" bIns="0" rtlCol="0">
            <a:spAutoFit/>
          </a:bodyPr>
          <a:lstStyle/>
          <a:p>
            <a:pPr marL="252095">
              <a:lnSpc>
                <a:spcPct val="100000"/>
              </a:lnSpc>
              <a:spcBef>
                <a:spcPts val="1230"/>
              </a:spcBef>
            </a:pPr>
            <a:r>
              <a:rPr sz="1400" dirty="0">
                <a:latin typeface="Arial Unicode MS"/>
                <a:cs typeface="Arial Unicode MS"/>
              </a:rPr>
              <a:t>核心功能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84520" y="4588764"/>
            <a:ext cx="1216660" cy="54737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156210" rIns="0" bIns="0" rtlCol="0">
            <a:spAutoFit/>
          </a:bodyPr>
          <a:lstStyle/>
          <a:p>
            <a:pPr marL="252095">
              <a:lnSpc>
                <a:spcPct val="100000"/>
              </a:lnSpc>
              <a:spcBef>
                <a:spcPts val="1230"/>
              </a:spcBef>
            </a:pPr>
            <a:r>
              <a:rPr sz="1400" dirty="0">
                <a:latin typeface="Arial Unicode MS"/>
                <a:cs typeface="Arial Unicode MS"/>
              </a:rPr>
              <a:t>核心功能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56788" y="5315711"/>
            <a:ext cx="363220" cy="634365"/>
          </a:xfrm>
          <a:custGeom>
            <a:avLst/>
            <a:gdLst/>
            <a:ahLst/>
            <a:cxnLst/>
            <a:rect l="l" t="t" r="r" b="b"/>
            <a:pathLst>
              <a:path w="363220" h="634364">
                <a:moveTo>
                  <a:pt x="0" y="633984"/>
                </a:moveTo>
                <a:lnTo>
                  <a:pt x="362712" y="633984"/>
                </a:lnTo>
                <a:lnTo>
                  <a:pt x="362712" y="0"/>
                </a:lnTo>
                <a:lnTo>
                  <a:pt x="0" y="0"/>
                </a:lnTo>
                <a:lnTo>
                  <a:pt x="0" y="63398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619500" y="5315711"/>
            <a:ext cx="364490" cy="634365"/>
          </a:xfrm>
          <a:custGeom>
            <a:avLst/>
            <a:gdLst/>
            <a:ahLst/>
            <a:cxnLst/>
            <a:rect l="l" t="t" r="r" b="b"/>
            <a:pathLst>
              <a:path w="364489" h="634364">
                <a:moveTo>
                  <a:pt x="0" y="633984"/>
                </a:moveTo>
                <a:lnTo>
                  <a:pt x="364236" y="633984"/>
                </a:lnTo>
                <a:lnTo>
                  <a:pt x="364236" y="0"/>
                </a:lnTo>
                <a:lnTo>
                  <a:pt x="0" y="0"/>
                </a:lnTo>
                <a:lnTo>
                  <a:pt x="0" y="63398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436369" y="1799082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rial Unicode MS"/>
                <a:cs typeface="Arial Unicode MS"/>
              </a:rPr>
              <a:t>第一增量</a:t>
            </a:r>
            <a:endParaRPr sz="9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46372" y="1799082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rial Unicode MS"/>
                <a:cs typeface="Arial Unicode MS"/>
              </a:rPr>
              <a:t>第二增量</a:t>
            </a:r>
            <a:endParaRPr sz="9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31534" y="1799082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rial Unicode MS"/>
                <a:cs typeface="Arial Unicode MS"/>
              </a:rPr>
              <a:t>第三增量</a:t>
            </a:r>
            <a:endParaRPr sz="9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40001" y="2318004"/>
            <a:ext cx="1703705" cy="1185545"/>
          </a:xfrm>
          <a:custGeom>
            <a:avLst/>
            <a:gdLst/>
            <a:ahLst/>
            <a:cxnLst/>
            <a:rect l="l" t="t" r="r" b="b"/>
            <a:pathLst>
              <a:path w="1703704" h="1185545">
                <a:moveTo>
                  <a:pt x="1637423" y="38206"/>
                </a:moveTo>
                <a:lnTo>
                  <a:pt x="0" y="1174623"/>
                </a:lnTo>
                <a:lnTo>
                  <a:pt x="7366" y="1185037"/>
                </a:lnTo>
                <a:lnTo>
                  <a:pt x="1644653" y="48628"/>
                </a:lnTo>
                <a:lnTo>
                  <a:pt x="1637423" y="38206"/>
                </a:lnTo>
                <a:close/>
              </a:path>
              <a:path w="1703704" h="1185545">
                <a:moveTo>
                  <a:pt x="1686764" y="30987"/>
                </a:moveTo>
                <a:lnTo>
                  <a:pt x="1647825" y="30987"/>
                </a:lnTo>
                <a:lnTo>
                  <a:pt x="1655064" y="41401"/>
                </a:lnTo>
                <a:lnTo>
                  <a:pt x="1644653" y="48628"/>
                </a:lnTo>
                <a:lnTo>
                  <a:pt x="1662811" y="74803"/>
                </a:lnTo>
                <a:lnTo>
                  <a:pt x="1686764" y="30987"/>
                </a:lnTo>
                <a:close/>
              </a:path>
              <a:path w="1703704" h="1185545">
                <a:moveTo>
                  <a:pt x="1647825" y="30987"/>
                </a:moveTo>
                <a:lnTo>
                  <a:pt x="1637423" y="38206"/>
                </a:lnTo>
                <a:lnTo>
                  <a:pt x="1644653" y="48628"/>
                </a:lnTo>
                <a:lnTo>
                  <a:pt x="1655064" y="41401"/>
                </a:lnTo>
                <a:lnTo>
                  <a:pt x="1647825" y="30987"/>
                </a:lnTo>
                <a:close/>
              </a:path>
              <a:path w="1703704" h="1185545">
                <a:moveTo>
                  <a:pt x="1703704" y="0"/>
                </a:moveTo>
                <a:lnTo>
                  <a:pt x="1619377" y="12192"/>
                </a:lnTo>
                <a:lnTo>
                  <a:pt x="1637423" y="38206"/>
                </a:lnTo>
                <a:lnTo>
                  <a:pt x="1647825" y="30987"/>
                </a:lnTo>
                <a:lnTo>
                  <a:pt x="1686764" y="30987"/>
                </a:lnTo>
                <a:lnTo>
                  <a:pt x="1703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67859" y="2318004"/>
            <a:ext cx="1705610" cy="1185545"/>
          </a:xfrm>
          <a:custGeom>
            <a:avLst/>
            <a:gdLst/>
            <a:ahLst/>
            <a:cxnLst/>
            <a:rect l="l" t="t" r="r" b="b"/>
            <a:pathLst>
              <a:path w="1705610" h="1185545">
                <a:moveTo>
                  <a:pt x="1639221" y="38185"/>
                </a:moveTo>
                <a:lnTo>
                  <a:pt x="0" y="1174623"/>
                </a:lnTo>
                <a:lnTo>
                  <a:pt x="7112" y="1185037"/>
                </a:lnTo>
                <a:lnTo>
                  <a:pt x="1646436" y="48615"/>
                </a:lnTo>
                <a:lnTo>
                  <a:pt x="1639221" y="38185"/>
                </a:lnTo>
                <a:close/>
              </a:path>
              <a:path w="1705610" h="1185545">
                <a:moveTo>
                  <a:pt x="1688460" y="30987"/>
                </a:moveTo>
                <a:lnTo>
                  <a:pt x="1649602" y="30987"/>
                </a:lnTo>
                <a:lnTo>
                  <a:pt x="1656841" y="41401"/>
                </a:lnTo>
                <a:lnTo>
                  <a:pt x="1646436" y="48615"/>
                </a:lnTo>
                <a:lnTo>
                  <a:pt x="1664462" y="74675"/>
                </a:lnTo>
                <a:lnTo>
                  <a:pt x="1688460" y="30987"/>
                </a:lnTo>
                <a:close/>
              </a:path>
              <a:path w="1705610" h="1185545">
                <a:moveTo>
                  <a:pt x="1649602" y="30987"/>
                </a:moveTo>
                <a:lnTo>
                  <a:pt x="1639221" y="38185"/>
                </a:lnTo>
                <a:lnTo>
                  <a:pt x="1646436" y="48615"/>
                </a:lnTo>
                <a:lnTo>
                  <a:pt x="1656841" y="41401"/>
                </a:lnTo>
                <a:lnTo>
                  <a:pt x="1649602" y="30987"/>
                </a:lnTo>
                <a:close/>
              </a:path>
              <a:path w="1705610" h="1185545">
                <a:moveTo>
                  <a:pt x="1705482" y="0"/>
                </a:moveTo>
                <a:lnTo>
                  <a:pt x="1621154" y="12065"/>
                </a:lnTo>
                <a:lnTo>
                  <a:pt x="1639221" y="38185"/>
                </a:lnTo>
                <a:lnTo>
                  <a:pt x="1649602" y="30987"/>
                </a:lnTo>
                <a:lnTo>
                  <a:pt x="1688460" y="30987"/>
                </a:lnTo>
                <a:lnTo>
                  <a:pt x="17054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395983" y="3497579"/>
            <a:ext cx="76200" cy="1092200"/>
          </a:xfrm>
          <a:custGeom>
            <a:avLst/>
            <a:gdLst/>
            <a:ahLst/>
            <a:cxnLst/>
            <a:rect l="l" t="t" r="r" b="b"/>
            <a:pathLst>
              <a:path w="76200" h="1092200">
                <a:moveTo>
                  <a:pt x="31750" y="1015619"/>
                </a:moveTo>
                <a:lnTo>
                  <a:pt x="0" y="1015619"/>
                </a:lnTo>
                <a:lnTo>
                  <a:pt x="38100" y="1091819"/>
                </a:lnTo>
                <a:lnTo>
                  <a:pt x="69850" y="1028319"/>
                </a:lnTo>
                <a:lnTo>
                  <a:pt x="31750" y="1028319"/>
                </a:lnTo>
                <a:lnTo>
                  <a:pt x="31750" y="1015619"/>
                </a:lnTo>
                <a:close/>
              </a:path>
              <a:path w="76200" h="1092200">
                <a:moveTo>
                  <a:pt x="44450" y="0"/>
                </a:moveTo>
                <a:lnTo>
                  <a:pt x="31750" y="0"/>
                </a:lnTo>
                <a:lnTo>
                  <a:pt x="31750" y="1028319"/>
                </a:lnTo>
                <a:lnTo>
                  <a:pt x="44450" y="1028319"/>
                </a:lnTo>
                <a:lnTo>
                  <a:pt x="44450" y="0"/>
                </a:lnTo>
                <a:close/>
              </a:path>
              <a:path w="76200" h="1092200">
                <a:moveTo>
                  <a:pt x="76200" y="1015619"/>
                </a:moveTo>
                <a:lnTo>
                  <a:pt x="44450" y="1015619"/>
                </a:lnTo>
                <a:lnTo>
                  <a:pt x="44450" y="1028319"/>
                </a:lnTo>
                <a:lnTo>
                  <a:pt x="69850" y="1028319"/>
                </a:lnTo>
                <a:lnTo>
                  <a:pt x="76200" y="1015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826764" y="3497579"/>
            <a:ext cx="76200" cy="1092200"/>
          </a:xfrm>
          <a:custGeom>
            <a:avLst/>
            <a:gdLst/>
            <a:ahLst/>
            <a:cxnLst/>
            <a:rect l="l" t="t" r="r" b="b"/>
            <a:pathLst>
              <a:path w="76200" h="1092200">
                <a:moveTo>
                  <a:pt x="31750" y="1015619"/>
                </a:moveTo>
                <a:lnTo>
                  <a:pt x="0" y="1015619"/>
                </a:lnTo>
                <a:lnTo>
                  <a:pt x="38100" y="1091819"/>
                </a:lnTo>
                <a:lnTo>
                  <a:pt x="69850" y="1028319"/>
                </a:lnTo>
                <a:lnTo>
                  <a:pt x="31750" y="1028319"/>
                </a:lnTo>
                <a:lnTo>
                  <a:pt x="31750" y="1015619"/>
                </a:lnTo>
                <a:close/>
              </a:path>
              <a:path w="76200" h="1092200">
                <a:moveTo>
                  <a:pt x="44450" y="0"/>
                </a:moveTo>
                <a:lnTo>
                  <a:pt x="31750" y="0"/>
                </a:lnTo>
                <a:lnTo>
                  <a:pt x="31750" y="1028319"/>
                </a:lnTo>
                <a:lnTo>
                  <a:pt x="44450" y="1028319"/>
                </a:lnTo>
                <a:lnTo>
                  <a:pt x="44450" y="0"/>
                </a:lnTo>
                <a:close/>
              </a:path>
              <a:path w="76200" h="1092200">
                <a:moveTo>
                  <a:pt x="76200" y="1015619"/>
                </a:moveTo>
                <a:lnTo>
                  <a:pt x="44450" y="1015619"/>
                </a:lnTo>
                <a:lnTo>
                  <a:pt x="44450" y="1028319"/>
                </a:lnTo>
                <a:lnTo>
                  <a:pt x="69850" y="1028319"/>
                </a:lnTo>
                <a:lnTo>
                  <a:pt x="76200" y="1015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256020" y="3497579"/>
            <a:ext cx="76200" cy="1092200"/>
          </a:xfrm>
          <a:custGeom>
            <a:avLst/>
            <a:gdLst/>
            <a:ahLst/>
            <a:cxnLst/>
            <a:rect l="l" t="t" r="r" b="b"/>
            <a:pathLst>
              <a:path w="76200" h="1092200">
                <a:moveTo>
                  <a:pt x="31750" y="1015619"/>
                </a:moveTo>
                <a:lnTo>
                  <a:pt x="0" y="1015619"/>
                </a:lnTo>
                <a:lnTo>
                  <a:pt x="38100" y="1091819"/>
                </a:lnTo>
                <a:lnTo>
                  <a:pt x="69850" y="1028319"/>
                </a:lnTo>
                <a:lnTo>
                  <a:pt x="31750" y="1028319"/>
                </a:lnTo>
                <a:lnTo>
                  <a:pt x="31750" y="1015619"/>
                </a:lnTo>
                <a:close/>
              </a:path>
              <a:path w="76200" h="1092200">
                <a:moveTo>
                  <a:pt x="44450" y="0"/>
                </a:moveTo>
                <a:lnTo>
                  <a:pt x="31750" y="0"/>
                </a:lnTo>
                <a:lnTo>
                  <a:pt x="31750" y="1028319"/>
                </a:lnTo>
                <a:lnTo>
                  <a:pt x="44450" y="1028319"/>
                </a:lnTo>
                <a:lnTo>
                  <a:pt x="44450" y="0"/>
                </a:lnTo>
                <a:close/>
              </a:path>
              <a:path w="76200" h="1092200">
                <a:moveTo>
                  <a:pt x="76200" y="1015619"/>
                </a:moveTo>
                <a:lnTo>
                  <a:pt x="44450" y="1015619"/>
                </a:lnTo>
                <a:lnTo>
                  <a:pt x="44450" y="1028319"/>
                </a:lnTo>
                <a:lnTo>
                  <a:pt x="69850" y="1028319"/>
                </a:lnTo>
                <a:lnTo>
                  <a:pt x="76200" y="1015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312163" y="2316479"/>
            <a:ext cx="728980" cy="1181100"/>
          </a:xfrm>
          <a:custGeom>
            <a:avLst/>
            <a:gdLst/>
            <a:ahLst/>
            <a:cxnLst/>
            <a:rect l="l" t="t" r="r" b="b"/>
            <a:pathLst>
              <a:path w="728980" h="1181100">
                <a:moveTo>
                  <a:pt x="0" y="1181100"/>
                </a:moveTo>
                <a:lnTo>
                  <a:pt x="728472" y="1181100"/>
                </a:lnTo>
                <a:lnTo>
                  <a:pt x="728472" y="0"/>
                </a:lnTo>
                <a:lnTo>
                  <a:pt x="0" y="0"/>
                </a:lnTo>
                <a:lnTo>
                  <a:pt x="0" y="118110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312163" y="2316479"/>
            <a:ext cx="728980" cy="1181100"/>
          </a:xfrm>
          <a:custGeom>
            <a:avLst/>
            <a:gdLst/>
            <a:ahLst/>
            <a:cxnLst/>
            <a:rect l="l" t="t" r="r" b="b"/>
            <a:pathLst>
              <a:path w="728980" h="1181100">
                <a:moveTo>
                  <a:pt x="0" y="1181100"/>
                </a:moveTo>
                <a:lnTo>
                  <a:pt x="728472" y="1181100"/>
                </a:lnTo>
                <a:lnTo>
                  <a:pt x="728472" y="0"/>
                </a:lnTo>
                <a:lnTo>
                  <a:pt x="0" y="0"/>
                </a:lnTo>
                <a:lnTo>
                  <a:pt x="0" y="11811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397635" y="2354961"/>
            <a:ext cx="557530" cy="1093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w Cen MT Condensed Extra Bold"/>
                <a:cs typeface="Tw Cen MT Condensed Extra Bold"/>
              </a:rPr>
              <a:t>An</a:t>
            </a:r>
            <a:r>
              <a:rPr sz="1400" b="1" spc="-10" dirty="0">
                <a:latin typeface="Tw Cen MT Condensed Extra Bold"/>
                <a:cs typeface="Tw Cen MT Condensed Extra Bold"/>
              </a:rPr>
              <a:t>a</a:t>
            </a:r>
            <a:r>
              <a:rPr sz="1400" b="1" dirty="0">
                <a:latin typeface="Tw Cen MT Condensed Extra Bold"/>
                <a:cs typeface="Tw Cen MT Condensed Extra Bold"/>
              </a:rPr>
              <a:t>ly</a:t>
            </a:r>
            <a:r>
              <a:rPr sz="1400" b="1" spc="-10" dirty="0">
                <a:latin typeface="Tw Cen MT Condensed Extra Bold"/>
                <a:cs typeface="Tw Cen MT Condensed Extra Bold"/>
              </a:rPr>
              <a:t>z</a:t>
            </a:r>
            <a:r>
              <a:rPr sz="1400" b="1" dirty="0">
                <a:latin typeface="Tw Cen MT Condensed Extra Bold"/>
                <a:cs typeface="Tw Cen MT Condensed Extra Bold"/>
              </a:rPr>
              <a:t>e  Desgin  Build  </a:t>
            </a:r>
            <a:r>
              <a:rPr sz="1400" b="1" spc="-15" dirty="0">
                <a:latin typeface="Tw Cen MT Condensed Extra Bold"/>
                <a:cs typeface="Tw Cen MT Condensed Extra Bold"/>
              </a:rPr>
              <a:t>Test  </a:t>
            </a:r>
            <a:r>
              <a:rPr sz="1400" b="1" dirty="0">
                <a:latin typeface="Tw Cen MT Condensed Extra Bold"/>
                <a:cs typeface="Tw Cen MT Condensed Extra Bold"/>
              </a:rPr>
              <a:t>Dei</a:t>
            </a:r>
            <a:r>
              <a:rPr sz="1400" b="1" spc="-25" dirty="0">
                <a:latin typeface="Tw Cen MT Condensed Extra Bold"/>
                <a:cs typeface="Tw Cen MT Condensed Extra Bold"/>
              </a:rPr>
              <a:t>v</a:t>
            </a:r>
            <a:r>
              <a:rPr sz="1400" b="1" dirty="0">
                <a:latin typeface="Tw Cen MT Condensed Extra Bold"/>
                <a:cs typeface="Tw Cen MT Condensed Extra Bold"/>
              </a:rPr>
              <a:t>e</a:t>
            </a:r>
            <a:r>
              <a:rPr sz="1400" b="1" spc="20" dirty="0">
                <a:latin typeface="Tw Cen MT Condensed Extra Bold"/>
                <a:cs typeface="Tw Cen MT Condensed Extra Bold"/>
              </a:rPr>
              <a:t>r</a:t>
            </a:r>
            <a:r>
              <a:rPr sz="1400" b="1" dirty="0">
                <a:latin typeface="Tw Cen MT Condensed Extra Bold"/>
                <a:cs typeface="Tw Cen MT Condensed Extra Bold"/>
              </a:rPr>
              <a:t>y</a:t>
            </a:r>
            <a:endParaRPr sz="1400">
              <a:latin typeface="Tw Cen MT Condensed Extra Bold"/>
              <a:cs typeface="Tw Cen MT Condensed Extra Bold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744467" y="2316479"/>
            <a:ext cx="727075" cy="1181100"/>
          </a:xfrm>
          <a:custGeom>
            <a:avLst/>
            <a:gdLst/>
            <a:ahLst/>
            <a:cxnLst/>
            <a:rect l="l" t="t" r="r" b="b"/>
            <a:pathLst>
              <a:path w="727075" h="1181100">
                <a:moveTo>
                  <a:pt x="0" y="1181100"/>
                </a:moveTo>
                <a:lnTo>
                  <a:pt x="726948" y="1181100"/>
                </a:lnTo>
                <a:lnTo>
                  <a:pt x="726948" y="0"/>
                </a:lnTo>
                <a:lnTo>
                  <a:pt x="0" y="0"/>
                </a:lnTo>
                <a:lnTo>
                  <a:pt x="0" y="118110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744467" y="2316479"/>
            <a:ext cx="727075" cy="1181100"/>
          </a:xfrm>
          <a:custGeom>
            <a:avLst/>
            <a:gdLst/>
            <a:ahLst/>
            <a:cxnLst/>
            <a:rect l="l" t="t" r="r" b="b"/>
            <a:pathLst>
              <a:path w="727075" h="1181100">
                <a:moveTo>
                  <a:pt x="0" y="1181100"/>
                </a:moveTo>
                <a:lnTo>
                  <a:pt x="726948" y="1181100"/>
                </a:lnTo>
                <a:lnTo>
                  <a:pt x="726948" y="0"/>
                </a:lnTo>
                <a:lnTo>
                  <a:pt x="0" y="0"/>
                </a:lnTo>
                <a:lnTo>
                  <a:pt x="0" y="11811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866134" y="2371725"/>
            <a:ext cx="481965" cy="106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w Cen MT Condensed Extra Bold"/>
                <a:cs typeface="Tw Cen MT Condensed Extra Bold"/>
              </a:rPr>
              <a:t>A</a:t>
            </a:r>
            <a:r>
              <a:rPr sz="1200" b="1" spc="-10" dirty="0">
                <a:latin typeface="Tw Cen MT Condensed Extra Bold"/>
                <a:cs typeface="Tw Cen MT Condensed Extra Bold"/>
              </a:rPr>
              <a:t>naly</a:t>
            </a:r>
            <a:r>
              <a:rPr sz="1200" b="1" dirty="0">
                <a:latin typeface="Tw Cen MT Condensed Extra Bold"/>
                <a:cs typeface="Tw Cen MT Condensed Extra Bold"/>
              </a:rPr>
              <a:t>z</a:t>
            </a:r>
            <a:r>
              <a:rPr sz="1200" b="1" spc="-5" dirty="0">
                <a:latin typeface="Tw Cen MT Condensed Extra Bold"/>
                <a:cs typeface="Tw Cen MT Condensed Extra Bold"/>
              </a:rPr>
              <a:t>e  </a:t>
            </a:r>
            <a:r>
              <a:rPr sz="1400" b="1" dirty="0">
                <a:latin typeface="Tw Cen MT Condensed Extra Bold"/>
                <a:cs typeface="Tw Cen MT Condensed Extra Bold"/>
              </a:rPr>
              <a:t>Desgin  Build  </a:t>
            </a:r>
            <a:r>
              <a:rPr sz="1400" b="1" spc="-15" dirty="0">
                <a:latin typeface="Tw Cen MT Condensed Extra Bold"/>
                <a:cs typeface="Tw Cen MT Condensed Extra Bold"/>
              </a:rPr>
              <a:t>Test  </a:t>
            </a:r>
            <a:r>
              <a:rPr sz="1200" b="1" spc="-5" dirty="0">
                <a:latin typeface="Tw Cen MT Condensed Extra Bold"/>
                <a:cs typeface="Tw Cen MT Condensed Extra Bold"/>
              </a:rPr>
              <a:t>De</a:t>
            </a:r>
            <a:r>
              <a:rPr sz="1200" b="1" dirty="0">
                <a:latin typeface="Tw Cen MT Condensed Extra Bold"/>
                <a:cs typeface="Tw Cen MT Condensed Extra Bold"/>
              </a:rPr>
              <a:t>i</a:t>
            </a:r>
            <a:r>
              <a:rPr sz="1200" b="1" spc="-25" dirty="0">
                <a:latin typeface="Tw Cen MT Condensed Extra Bold"/>
                <a:cs typeface="Tw Cen MT Condensed Extra Bold"/>
              </a:rPr>
              <a:t>v</a:t>
            </a:r>
            <a:r>
              <a:rPr sz="1200" b="1" spc="-5" dirty="0">
                <a:latin typeface="Tw Cen MT Condensed Extra Bold"/>
                <a:cs typeface="Tw Cen MT Condensed Extra Bold"/>
              </a:rPr>
              <a:t>e</a:t>
            </a:r>
            <a:r>
              <a:rPr sz="1200" b="1" spc="-10" dirty="0">
                <a:latin typeface="Tw Cen MT Condensed Extra Bold"/>
                <a:cs typeface="Tw Cen MT Condensed Extra Bold"/>
              </a:rPr>
              <a:t>r</a:t>
            </a:r>
            <a:r>
              <a:rPr sz="1400" b="1" dirty="0">
                <a:latin typeface="Tw Cen MT Condensed Extra Bold"/>
                <a:cs typeface="Tw Cen MT Condensed Extra Bold"/>
              </a:rPr>
              <a:t>y</a:t>
            </a:r>
            <a:endParaRPr sz="1400">
              <a:latin typeface="Tw Cen MT Condensed Extra Bold"/>
              <a:cs typeface="Tw Cen MT Condensed Extra Bold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173723" y="2316479"/>
            <a:ext cx="727075" cy="1181100"/>
          </a:xfrm>
          <a:custGeom>
            <a:avLst/>
            <a:gdLst/>
            <a:ahLst/>
            <a:cxnLst/>
            <a:rect l="l" t="t" r="r" b="b"/>
            <a:pathLst>
              <a:path w="727075" h="1181100">
                <a:moveTo>
                  <a:pt x="0" y="1181100"/>
                </a:moveTo>
                <a:lnTo>
                  <a:pt x="726948" y="1181100"/>
                </a:lnTo>
                <a:lnTo>
                  <a:pt x="726948" y="0"/>
                </a:lnTo>
                <a:lnTo>
                  <a:pt x="0" y="0"/>
                </a:lnTo>
                <a:lnTo>
                  <a:pt x="0" y="118110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173723" y="2316479"/>
            <a:ext cx="727075" cy="1181100"/>
          </a:xfrm>
          <a:custGeom>
            <a:avLst/>
            <a:gdLst/>
            <a:ahLst/>
            <a:cxnLst/>
            <a:rect l="l" t="t" r="r" b="b"/>
            <a:pathLst>
              <a:path w="727075" h="1181100">
                <a:moveTo>
                  <a:pt x="0" y="1181100"/>
                </a:moveTo>
                <a:lnTo>
                  <a:pt x="726948" y="1181100"/>
                </a:lnTo>
                <a:lnTo>
                  <a:pt x="726948" y="0"/>
                </a:lnTo>
                <a:lnTo>
                  <a:pt x="0" y="0"/>
                </a:lnTo>
                <a:lnTo>
                  <a:pt x="0" y="11811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259448" y="2354961"/>
            <a:ext cx="557530" cy="1093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w Cen MT Condensed Extra Bold"/>
                <a:cs typeface="Tw Cen MT Condensed Extra Bold"/>
              </a:rPr>
              <a:t>An</a:t>
            </a:r>
            <a:r>
              <a:rPr sz="1400" b="1" spc="-10" dirty="0">
                <a:latin typeface="Tw Cen MT Condensed Extra Bold"/>
                <a:cs typeface="Tw Cen MT Condensed Extra Bold"/>
              </a:rPr>
              <a:t>a</a:t>
            </a:r>
            <a:r>
              <a:rPr sz="1400" b="1" dirty="0">
                <a:latin typeface="Tw Cen MT Condensed Extra Bold"/>
                <a:cs typeface="Tw Cen MT Condensed Extra Bold"/>
              </a:rPr>
              <a:t>ly</a:t>
            </a:r>
            <a:r>
              <a:rPr sz="1400" b="1" spc="-10" dirty="0">
                <a:latin typeface="Tw Cen MT Condensed Extra Bold"/>
                <a:cs typeface="Tw Cen MT Condensed Extra Bold"/>
              </a:rPr>
              <a:t>z</a:t>
            </a:r>
            <a:r>
              <a:rPr sz="1400" b="1" dirty="0">
                <a:latin typeface="Tw Cen MT Condensed Extra Bold"/>
                <a:cs typeface="Tw Cen MT Condensed Extra Bold"/>
              </a:rPr>
              <a:t>e  Desgin  Build  </a:t>
            </a:r>
            <a:r>
              <a:rPr sz="1400" b="1" spc="-15" dirty="0">
                <a:latin typeface="Tw Cen MT Condensed Extra Bold"/>
                <a:cs typeface="Tw Cen MT Condensed Extra Bold"/>
              </a:rPr>
              <a:t>Test  </a:t>
            </a:r>
            <a:r>
              <a:rPr sz="1400" b="1" dirty="0">
                <a:latin typeface="Tw Cen MT Condensed Extra Bold"/>
                <a:cs typeface="Tw Cen MT Condensed Extra Bold"/>
              </a:rPr>
              <a:t>Dei</a:t>
            </a:r>
            <a:r>
              <a:rPr sz="1400" b="1" spc="-25" dirty="0">
                <a:latin typeface="Tw Cen MT Condensed Extra Bold"/>
                <a:cs typeface="Tw Cen MT Condensed Extra Bold"/>
              </a:rPr>
              <a:t>v</a:t>
            </a:r>
            <a:r>
              <a:rPr sz="1400" b="1" dirty="0">
                <a:latin typeface="Tw Cen MT Condensed Extra Bold"/>
                <a:cs typeface="Tw Cen MT Condensed Extra Bold"/>
              </a:rPr>
              <a:t>e</a:t>
            </a:r>
            <a:r>
              <a:rPr sz="1400" b="1" spc="20" dirty="0">
                <a:latin typeface="Tw Cen MT Condensed Extra Bold"/>
                <a:cs typeface="Tw Cen MT Condensed Extra Bold"/>
              </a:rPr>
              <a:t>r</a:t>
            </a:r>
            <a:r>
              <a:rPr sz="1400" b="1" dirty="0">
                <a:latin typeface="Tw Cen MT Condensed Extra Bold"/>
                <a:cs typeface="Tw Cen MT Condensed Extra Bold"/>
              </a:rPr>
              <a:t>y</a:t>
            </a:r>
            <a:endParaRPr sz="1400">
              <a:latin typeface="Tw Cen MT Condensed Extra Bold"/>
              <a:cs typeface="Tw Cen MT Condensed Extra Bold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27532" y="4588764"/>
            <a:ext cx="1216660" cy="54737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marL="327025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Arial Unicode MS"/>
                <a:cs typeface="Arial Unicode MS"/>
              </a:rPr>
              <a:t>核心功能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27532" y="5315711"/>
            <a:ext cx="364490" cy="634365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9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800" spc="-25" dirty="0">
                <a:latin typeface="Arial Unicode MS"/>
                <a:cs typeface="Arial Unicode MS"/>
              </a:rPr>
              <a:t>1</a:t>
            </a:r>
            <a:endParaRPr sz="800">
              <a:latin typeface="Arial Unicode MS"/>
              <a:cs typeface="Arial Unicode M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256788" y="5315711"/>
            <a:ext cx="363220" cy="634365"/>
          </a:xfrm>
          <a:custGeom>
            <a:avLst/>
            <a:gdLst/>
            <a:ahLst/>
            <a:cxnLst/>
            <a:rect l="l" t="t" r="r" b="b"/>
            <a:pathLst>
              <a:path w="363220" h="634364">
                <a:moveTo>
                  <a:pt x="0" y="633984"/>
                </a:moveTo>
                <a:lnTo>
                  <a:pt x="362712" y="633984"/>
                </a:lnTo>
                <a:lnTo>
                  <a:pt x="362712" y="0"/>
                </a:lnTo>
                <a:lnTo>
                  <a:pt x="0" y="0"/>
                </a:lnTo>
                <a:lnTo>
                  <a:pt x="0" y="63398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348863" y="5553252"/>
            <a:ext cx="6667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latin typeface="Arial Unicode MS"/>
                <a:cs typeface="Arial Unicode MS"/>
              </a:rPr>
              <a:t>1</a:t>
            </a:r>
            <a:endParaRPr sz="800">
              <a:latin typeface="Arial Unicode MS"/>
              <a:cs typeface="Arial Unicode M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619500" y="5315711"/>
            <a:ext cx="364490" cy="634365"/>
          </a:xfrm>
          <a:custGeom>
            <a:avLst/>
            <a:gdLst/>
            <a:ahLst/>
            <a:cxnLst/>
            <a:rect l="l" t="t" r="r" b="b"/>
            <a:pathLst>
              <a:path w="364489" h="634364">
                <a:moveTo>
                  <a:pt x="0" y="633984"/>
                </a:moveTo>
                <a:lnTo>
                  <a:pt x="364236" y="633984"/>
                </a:lnTo>
                <a:lnTo>
                  <a:pt x="364236" y="0"/>
                </a:lnTo>
                <a:lnTo>
                  <a:pt x="0" y="0"/>
                </a:lnTo>
                <a:lnTo>
                  <a:pt x="0" y="63398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5679947" y="5311140"/>
          <a:ext cx="1093469" cy="6339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4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9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dirty="0">
                          <a:latin typeface="Arial Unicode MS"/>
                          <a:cs typeface="Arial Unicode MS"/>
                        </a:rPr>
                        <a:t>1</a:t>
                      </a:r>
                      <a:endParaRPr sz="800">
                        <a:latin typeface="Arial Unicode MS"/>
                        <a:cs typeface="Arial Unicode MS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dirty="0">
                          <a:latin typeface="Arial Unicode MS"/>
                          <a:cs typeface="Arial Unicode MS"/>
                        </a:rPr>
                        <a:t>2</a:t>
                      </a:r>
                      <a:endParaRPr sz="800">
                        <a:latin typeface="Arial Unicode MS"/>
                        <a:cs typeface="Arial Unicode MS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dirty="0">
                          <a:latin typeface="Arial Unicode MS"/>
                          <a:cs typeface="Arial Unicode MS"/>
                        </a:rPr>
                        <a:t>3</a:t>
                      </a:r>
                      <a:endParaRPr sz="800">
                        <a:latin typeface="Arial Unicode MS"/>
                        <a:cs typeface="Arial Unicode MS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" name="object 35"/>
          <p:cNvSpPr txBox="1"/>
          <p:nvPr/>
        </p:nvSpPr>
        <p:spPr>
          <a:xfrm>
            <a:off x="3711828" y="5553252"/>
            <a:ext cx="6667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latin typeface="Arial Unicode MS"/>
                <a:cs typeface="Arial Unicode MS"/>
              </a:rPr>
              <a:t>2</a:t>
            </a:r>
            <a:endParaRPr sz="800">
              <a:latin typeface="Arial Unicode MS"/>
              <a:cs typeface="Arial Unicode M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040001" y="2318004"/>
            <a:ext cx="1703705" cy="1185545"/>
          </a:xfrm>
          <a:custGeom>
            <a:avLst/>
            <a:gdLst/>
            <a:ahLst/>
            <a:cxnLst/>
            <a:rect l="l" t="t" r="r" b="b"/>
            <a:pathLst>
              <a:path w="1703704" h="1185545">
                <a:moveTo>
                  <a:pt x="1637423" y="38206"/>
                </a:moveTo>
                <a:lnTo>
                  <a:pt x="0" y="1174623"/>
                </a:lnTo>
                <a:lnTo>
                  <a:pt x="7366" y="1185037"/>
                </a:lnTo>
                <a:lnTo>
                  <a:pt x="1644653" y="48628"/>
                </a:lnTo>
                <a:lnTo>
                  <a:pt x="1637423" y="38206"/>
                </a:lnTo>
                <a:close/>
              </a:path>
              <a:path w="1703704" h="1185545">
                <a:moveTo>
                  <a:pt x="1686764" y="30987"/>
                </a:moveTo>
                <a:lnTo>
                  <a:pt x="1647825" y="30987"/>
                </a:lnTo>
                <a:lnTo>
                  <a:pt x="1655064" y="41401"/>
                </a:lnTo>
                <a:lnTo>
                  <a:pt x="1644653" y="48628"/>
                </a:lnTo>
                <a:lnTo>
                  <a:pt x="1662811" y="74803"/>
                </a:lnTo>
                <a:lnTo>
                  <a:pt x="1686764" y="30987"/>
                </a:lnTo>
                <a:close/>
              </a:path>
              <a:path w="1703704" h="1185545">
                <a:moveTo>
                  <a:pt x="1647825" y="30987"/>
                </a:moveTo>
                <a:lnTo>
                  <a:pt x="1637423" y="38206"/>
                </a:lnTo>
                <a:lnTo>
                  <a:pt x="1644653" y="48628"/>
                </a:lnTo>
                <a:lnTo>
                  <a:pt x="1655064" y="41401"/>
                </a:lnTo>
                <a:lnTo>
                  <a:pt x="1647825" y="30987"/>
                </a:lnTo>
                <a:close/>
              </a:path>
              <a:path w="1703704" h="1185545">
                <a:moveTo>
                  <a:pt x="1703704" y="0"/>
                </a:moveTo>
                <a:lnTo>
                  <a:pt x="1619377" y="12192"/>
                </a:lnTo>
                <a:lnTo>
                  <a:pt x="1637423" y="38206"/>
                </a:lnTo>
                <a:lnTo>
                  <a:pt x="1647825" y="30987"/>
                </a:lnTo>
                <a:lnTo>
                  <a:pt x="1686764" y="30987"/>
                </a:lnTo>
                <a:lnTo>
                  <a:pt x="1703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467859" y="2318004"/>
            <a:ext cx="1705610" cy="1185545"/>
          </a:xfrm>
          <a:custGeom>
            <a:avLst/>
            <a:gdLst/>
            <a:ahLst/>
            <a:cxnLst/>
            <a:rect l="l" t="t" r="r" b="b"/>
            <a:pathLst>
              <a:path w="1705610" h="1185545">
                <a:moveTo>
                  <a:pt x="1639221" y="38185"/>
                </a:moveTo>
                <a:lnTo>
                  <a:pt x="0" y="1174623"/>
                </a:lnTo>
                <a:lnTo>
                  <a:pt x="7112" y="1185037"/>
                </a:lnTo>
                <a:lnTo>
                  <a:pt x="1646436" y="48615"/>
                </a:lnTo>
                <a:lnTo>
                  <a:pt x="1639221" y="38185"/>
                </a:lnTo>
                <a:close/>
              </a:path>
              <a:path w="1705610" h="1185545">
                <a:moveTo>
                  <a:pt x="1688460" y="30987"/>
                </a:moveTo>
                <a:lnTo>
                  <a:pt x="1649602" y="30987"/>
                </a:lnTo>
                <a:lnTo>
                  <a:pt x="1656841" y="41401"/>
                </a:lnTo>
                <a:lnTo>
                  <a:pt x="1646436" y="48615"/>
                </a:lnTo>
                <a:lnTo>
                  <a:pt x="1664462" y="74675"/>
                </a:lnTo>
                <a:lnTo>
                  <a:pt x="1688460" y="30987"/>
                </a:lnTo>
                <a:close/>
              </a:path>
              <a:path w="1705610" h="1185545">
                <a:moveTo>
                  <a:pt x="1649602" y="30987"/>
                </a:moveTo>
                <a:lnTo>
                  <a:pt x="1639221" y="38185"/>
                </a:lnTo>
                <a:lnTo>
                  <a:pt x="1646436" y="48615"/>
                </a:lnTo>
                <a:lnTo>
                  <a:pt x="1656841" y="41401"/>
                </a:lnTo>
                <a:lnTo>
                  <a:pt x="1649602" y="30987"/>
                </a:lnTo>
                <a:close/>
              </a:path>
              <a:path w="1705610" h="1185545">
                <a:moveTo>
                  <a:pt x="1705482" y="0"/>
                </a:moveTo>
                <a:lnTo>
                  <a:pt x="1621154" y="12065"/>
                </a:lnTo>
                <a:lnTo>
                  <a:pt x="1639221" y="38185"/>
                </a:lnTo>
                <a:lnTo>
                  <a:pt x="1649602" y="30987"/>
                </a:lnTo>
                <a:lnTo>
                  <a:pt x="1688460" y="30987"/>
                </a:lnTo>
                <a:lnTo>
                  <a:pt x="17054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395983" y="3497579"/>
            <a:ext cx="76200" cy="1092200"/>
          </a:xfrm>
          <a:custGeom>
            <a:avLst/>
            <a:gdLst/>
            <a:ahLst/>
            <a:cxnLst/>
            <a:rect l="l" t="t" r="r" b="b"/>
            <a:pathLst>
              <a:path w="76200" h="1092200">
                <a:moveTo>
                  <a:pt x="31750" y="1015619"/>
                </a:moveTo>
                <a:lnTo>
                  <a:pt x="0" y="1015619"/>
                </a:lnTo>
                <a:lnTo>
                  <a:pt x="38100" y="1091819"/>
                </a:lnTo>
                <a:lnTo>
                  <a:pt x="69850" y="1028319"/>
                </a:lnTo>
                <a:lnTo>
                  <a:pt x="31750" y="1028319"/>
                </a:lnTo>
                <a:lnTo>
                  <a:pt x="31750" y="1015619"/>
                </a:lnTo>
                <a:close/>
              </a:path>
              <a:path w="76200" h="1092200">
                <a:moveTo>
                  <a:pt x="44450" y="0"/>
                </a:moveTo>
                <a:lnTo>
                  <a:pt x="31750" y="0"/>
                </a:lnTo>
                <a:lnTo>
                  <a:pt x="31750" y="1028319"/>
                </a:lnTo>
                <a:lnTo>
                  <a:pt x="44450" y="1028319"/>
                </a:lnTo>
                <a:lnTo>
                  <a:pt x="44450" y="0"/>
                </a:lnTo>
                <a:close/>
              </a:path>
              <a:path w="76200" h="1092200">
                <a:moveTo>
                  <a:pt x="76200" y="1015619"/>
                </a:moveTo>
                <a:lnTo>
                  <a:pt x="44450" y="1015619"/>
                </a:lnTo>
                <a:lnTo>
                  <a:pt x="44450" y="1028319"/>
                </a:lnTo>
                <a:lnTo>
                  <a:pt x="69850" y="1028319"/>
                </a:lnTo>
                <a:lnTo>
                  <a:pt x="76200" y="1015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826764" y="3497579"/>
            <a:ext cx="76200" cy="1092200"/>
          </a:xfrm>
          <a:custGeom>
            <a:avLst/>
            <a:gdLst/>
            <a:ahLst/>
            <a:cxnLst/>
            <a:rect l="l" t="t" r="r" b="b"/>
            <a:pathLst>
              <a:path w="76200" h="1092200">
                <a:moveTo>
                  <a:pt x="31750" y="1015619"/>
                </a:moveTo>
                <a:lnTo>
                  <a:pt x="0" y="1015619"/>
                </a:lnTo>
                <a:lnTo>
                  <a:pt x="38100" y="1091819"/>
                </a:lnTo>
                <a:lnTo>
                  <a:pt x="69850" y="1028319"/>
                </a:lnTo>
                <a:lnTo>
                  <a:pt x="31750" y="1028319"/>
                </a:lnTo>
                <a:lnTo>
                  <a:pt x="31750" y="1015619"/>
                </a:lnTo>
                <a:close/>
              </a:path>
              <a:path w="76200" h="1092200">
                <a:moveTo>
                  <a:pt x="44450" y="0"/>
                </a:moveTo>
                <a:lnTo>
                  <a:pt x="31750" y="0"/>
                </a:lnTo>
                <a:lnTo>
                  <a:pt x="31750" y="1028319"/>
                </a:lnTo>
                <a:lnTo>
                  <a:pt x="44450" y="1028319"/>
                </a:lnTo>
                <a:lnTo>
                  <a:pt x="44450" y="0"/>
                </a:lnTo>
                <a:close/>
              </a:path>
              <a:path w="76200" h="1092200">
                <a:moveTo>
                  <a:pt x="76200" y="1015619"/>
                </a:moveTo>
                <a:lnTo>
                  <a:pt x="44450" y="1015619"/>
                </a:lnTo>
                <a:lnTo>
                  <a:pt x="44450" y="1028319"/>
                </a:lnTo>
                <a:lnTo>
                  <a:pt x="69850" y="1028319"/>
                </a:lnTo>
                <a:lnTo>
                  <a:pt x="76200" y="1015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256020" y="3497579"/>
            <a:ext cx="76200" cy="1092200"/>
          </a:xfrm>
          <a:custGeom>
            <a:avLst/>
            <a:gdLst/>
            <a:ahLst/>
            <a:cxnLst/>
            <a:rect l="l" t="t" r="r" b="b"/>
            <a:pathLst>
              <a:path w="76200" h="1092200">
                <a:moveTo>
                  <a:pt x="31750" y="1015619"/>
                </a:moveTo>
                <a:lnTo>
                  <a:pt x="0" y="1015619"/>
                </a:lnTo>
                <a:lnTo>
                  <a:pt x="38100" y="1091819"/>
                </a:lnTo>
                <a:lnTo>
                  <a:pt x="69850" y="1028319"/>
                </a:lnTo>
                <a:lnTo>
                  <a:pt x="31750" y="1028319"/>
                </a:lnTo>
                <a:lnTo>
                  <a:pt x="31750" y="1015619"/>
                </a:lnTo>
                <a:close/>
              </a:path>
              <a:path w="76200" h="1092200">
                <a:moveTo>
                  <a:pt x="44450" y="0"/>
                </a:moveTo>
                <a:lnTo>
                  <a:pt x="31750" y="0"/>
                </a:lnTo>
                <a:lnTo>
                  <a:pt x="31750" y="1028319"/>
                </a:lnTo>
                <a:lnTo>
                  <a:pt x="44450" y="1028319"/>
                </a:lnTo>
                <a:lnTo>
                  <a:pt x="44450" y="0"/>
                </a:lnTo>
                <a:close/>
              </a:path>
              <a:path w="76200" h="1092200">
                <a:moveTo>
                  <a:pt x="76200" y="1015619"/>
                </a:moveTo>
                <a:lnTo>
                  <a:pt x="44450" y="1015619"/>
                </a:lnTo>
                <a:lnTo>
                  <a:pt x="44450" y="1028319"/>
                </a:lnTo>
                <a:lnTo>
                  <a:pt x="69850" y="1028319"/>
                </a:lnTo>
                <a:lnTo>
                  <a:pt x="76200" y="1015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7531354" y="2756357"/>
            <a:ext cx="4521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725" dirty="0">
                <a:latin typeface="Arial Unicode MS"/>
                <a:cs typeface="Arial Unicode MS"/>
              </a:rPr>
              <a:t>……</a:t>
            </a:r>
            <a:endParaRPr sz="2400">
              <a:latin typeface="Arial Unicode MS"/>
              <a:cs typeface="Arial Unicode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232663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dirty="0">
                <a:latin typeface="华文隶书"/>
                <a:cs typeface="华文隶书"/>
              </a:rPr>
              <a:t>增量模型实例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88967" y="636889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051" y="1557527"/>
            <a:ext cx="9031224" cy="47518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230367" y="3131820"/>
          <a:ext cx="3383279" cy="22966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83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2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11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39408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dirty="0">
                <a:latin typeface="华文隶书"/>
                <a:cs typeface="华文隶书"/>
              </a:rPr>
              <a:t>渐进式阶段模型</a:t>
            </a:r>
          </a:p>
        </p:txBody>
      </p:sp>
      <p:sp>
        <p:nvSpPr>
          <p:cNvPr id="3" name="object 3"/>
          <p:cNvSpPr/>
          <p:nvPr/>
        </p:nvSpPr>
        <p:spPr>
          <a:xfrm>
            <a:off x="1654115" y="1949830"/>
            <a:ext cx="4816657" cy="3455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25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170814"/>
            <a:ext cx="674115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u="sng" spc="-1105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Times New Roman"/>
                <a:cs typeface="Times New Roman"/>
              </a:rPr>
              <a:t> </a:t>
            </a:r>
            <a:r>
              <a:rPr i="0" u="sng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华文隶书"/>
                <a:cs typeface="华文隶书"/>
              </a:rPr>
              <a:t>银行业务系统的生存期实例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62400" y="3253740"/>
            <a:ext cx="1143000" cy="297180"/>
          </a:xfrm>
          <a:custGeom>
            <a:avLst/>
            <a:gdLst/>
            <a:ahLst/>
            <a:cxnLst/>
            <a:rect l="l" t="t" r="r" b="b"/>
            <a:pathLst>
              <a:path w="1143000" h="297179">
                <a:moveTo>
                  <a:pt x="1142999" y="0"/>
                </a:moveTo>
                <a:lnTo>
                  <a:pt x="0" y="0"/>
                </a:lnTo>
                <a:lnTo>
                  <a:pt x="0" y="297179"/>
                </a:lnTo>
                <a:lnTo>
                  <a:pt x="1142999" y="0"/>
                </a:ln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62400" y="3253740"/>
            <a:ext cx="1143000" cy="297180"/>
          </a:xfrm>
          <a:custGeom>
            <a:avLst/>
            <a:gdLst/>
            <a:ahLst/>
            <a:cxnLst/>
            <a:rect l="l" t="t" r="r" b="b"/>
            <a:pathLst>
              <a:path w="1143000" h="297179">
                <a:moveTo>
                  <a:pt x="1143000" y="0"/>
                </a:moveTo>
                <a:lnTo>
                  <a:pt x="0" y="0"/>
                </a:lnTo>
                <a:lnTo>
                  <a:pt x="0" y="29718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107685" y="3253740"/>
            <a:ext cx="0" cy="297180"/>
          </a:xfrm>
          <a:custGeom>
            <a:avLst/>
            <a:gdLst/>
            <a:ahLst/>
            <a:cxnLst/>
            <a:rect l="l" t="t" r="r" b="b"/>
            <a:pathLst>
              <a:path h="297179">
                <a:moveTo>
                  <a:pt x="0" y="0"/>
                </a:moveTo>
                <a:lnTo>
                  <a:pt x="0" y="29718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62400" y="3253740"/>
            <a:ext cx="1143000" cy="297180"/>
          </a:xfrm>
          <a:custGeom>
            <a:avLst/>
            <a:gdLst/>
            <a:ahLst/>
            <a:cxnLst/>
            <a:rect l="l" t="t" r="r" b="b"/>
            <a:pathLst>
              <a:path w="1143000" h="297179">
                <a:moveTo>
                  <a:pt x="0" y="297179"/>
                </a:moveTo>
                <a:lnTo>
                  <a:pt x="1143000" y="297179"/>
                </a:lnTo>
                <a:lnTo>
                  <a:pt x="1143000" y="0"/>
                </a:lnTo>
                <a:lnTo>
                  <a:pt x="0" y="0"/>
                </a:lnTo>
                <a:lnTo>
                  <a:pt x="0" y="297179"/>
                </a:ln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62400" y="3253740"/>
            <a:ext cx="1143000" cy="297180"/>
          </a:xfrm>
          <a:custGeom>
            <a:avLst/>
            <a:gdLst/>
            <a:ahLst/>
            <a:cxnLst/>
            <a:rect l="l" t="t" r="r" b="b"/>
            <a:pathLst>
              <a:path w="1143000" h="297179">
                <a:moveTo>
                  <a:pt x="0" y="297179"/>
                </a:moveTo>
                <a:lnTo>
                  <a:pt x="1143000" y="297179"/>
                </a:lnTo>
                <a:lnTo>
                  <a:pt x="1143000" y="0"/>
                </a:lnTo>
                <a:lnTo>
                  <a:pt x="0" y="0"/>
                </a:lnTo>
                <a:lnTo>
                  <a:pt x="0" y="297179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62100" y="3545585"/>
            <a:ext cx="1028700" cy="0"/>
          </a:xfrm>
          <a:custGeom>
            <a:avLst/>
            <a:gdLst/>
            <a:ahLst/>
            <a:cxnLst/>
            <a:rect l="l" t="t" r="r" b="b"/>
            <a:pathLst>
              <a:path w="1028700">
                <a:moveTo>
                  <a:pt x="0" y="0"/>
                </a:moveTo>
                <a:lnTo>
                  <a:pt x="1028700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62100" y="3253740"/>
            <a:ext cx="1028700" cy="289560"/>
          </a:xfrm>
          <a:custGeom>
            <a:avLst/>
            <a:gdLst/>
            <a:ahLst/>
            <a:cxnLst/>
            <a:rect l="l" t="t" r="r" b="b"/>
            <a:pathLst>
              <a:path w="1028700" h="289560">
                <a:moveTo>
                  <a:pt x="1028700" y="0"/>
                </a:moveTo>
                <a:lnTo>
                  <a:pt x="0" y="0"/>
                </a:lnTo>
                <a:lnTo>
                  <a:pt x="0" y="28956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593085" y="3253740"/>
            <a:ext cx="0" cy="289560"/>
          </a:xfrm>
          <a:custGeom>
            <a:avLst/>
            <a:gdLst/>
            <a:ahLst/>
            <a:cxnLst/>
            <a:rect l="l" t="t" r="r" b="b"/>
            <a:pathLst>
              <a:path h="289560">
                <a:moveTo>
                  <a:pt x="0" y="0"/>
                </a:moveTo>
                <a:lnTo>
                  <a:pt x="0" y="28956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62100" y="3253740"/>
            <a:ext cx="1028700" cy="289560"/>
          </a:xfrm>
          <a:custGeom>
            <a:avLst/>
            <a:gdLst/>
            <a:ahLst/>
            <a:cxnLst/>
            <a:rect l="l" t="t" r="r" b="b"/>
            <a:pathLst>
              <a:path w="1028700" h="289560">
                <a:moveTo>
                  <a:pt x="0" y="289560"/>
                </a:moveTo>
                <a:lnTo>
                  <a:pt x="1028700" y="289560"/>
                </a:lnTo>
                <a:lnTo>
                  <a:pt x="1028700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62100" y="3253740"/>
            <a:ext cx="1028700" cy="289560"/>
          </a:xfrm>
          <a:custGeom>
            <a:avLst/>
            <a:gdLst/>
            <a:ahLst/>
            <a:cxnLst/>
            <a:rect l="l" t="t" r="r" b="b"/>
            <a:pathLst>
              <a:path w="1028700" h="289560">
                <a:moveTo>
                  <a:pt x="0" y="289560"/>
                </a:moveTo>
                <a:lnTo>
                  <a:pt x="1028700" y="289560"/>
                </a:lnTo>
                <a:lnTo>
                  <a:pt x="1028700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-5334000" y="3947159"/>
            <a:ext cx="7239000" cy="289560"/>
          </a:xfrm>
          <a:custGeom>
            <a:avLst/>
            <a:gdLst/>
            <a:ahLst/>
            <a:cxnLst/>
            <a:rect l="l" t="t" r="r" b="b"/>
            <a:pathLst>
              <a:path w="7239000" h="289560">
                <a:moveTo>
                  <a:pt x="7238999" y="0"/>
                </a:moveTo>
                <a:lnTo>
                  <a:pt x="0" y="0"/>
                </a:lnTo>
                <a:lnTo>
                  <a:pt x="7238999" y="289559"/>
                </a:lnTo>
                <a:lnTo>
                  <a:pt x="7238999" y="0"/>
                </a:ln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05000" y="3944873"/>
            <a:ext cx="1028700" cy="0"/>
          </a:xfrm>
          <a:custGeom>
            <a:avLst/>
            <a:gdLst/>
            <a:ahLst/>
            <a:cxnLst/>
            <a:rect l="l" t="t" r="r" b="b"/>
            <a:pathLst>
              <a:path w="1028700">
                <a:moveTo>
                  <a:pt x="0" y="0"/>
                </a:moveTo>
                <a:lnTo>
                  <a:pt x="1028700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-5334000" y="3947159"/>
            <a:ext cx="7239000" cy="289560"/>
          </a:xfrm>
          <a:custGeom>
            <a:avLst/>
            <a:gdLst/>
            <a:ahLst/>
            <a:cxnLst/>
            <a:rect l="l" t="t" r="r" b="b"/>
            <a:pathLst>
              <a:path w="7239000" h="289560">
                <a:moveTo>
                  <a:pt x="0" y="0"/>
                </a:moveTo>
                <a:lnTo>
                  <a:pt x="7238999" y="0"/>
                </a:lnTo>
                <a:lnTo>
                  <a:pt x="7238999" y="28956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935985" y="3947159"/>
            <a:ext cx="0" cy="289560"/>
          </a:xfrm>
          <a:custGeom>
            <a:avLst/>
            <a:gdLst/>
            <a:ahLst/>
            <a:cxnLst/>
            <a:rect l="l" t="t" r="r" b="b"/>
            <a:pathLst>
              <a:path h="289560">
                <a:moveTo>
                  <a:pt x="0" y="0"/>
                </a:moveTo>
                <a:lnTo>
                  <a:pt x="0" y="289559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05000" y="3947159"/>
            <a:ext cx="1028700" cy="289560"/>
          </a:xfrm>
          <a:custGeom>
            <a:avLst/>
            <a:gdLst/>
            <a:ahLst/>
            <a:cxnLst/>
            <a:rect l="l" t="t" r="r" b="b"/>
            <a:pathLst>
              <a:path w="1028700" h="289560">
                <a:moveTo>
                  <a:pt x="0" y="289560"/>
                </a:moveTo>
                <a:lnTo>
                  <a:pt x="1028700" y="289560"/>
                </a:lnTo>
                <a:lnTo>
                  <a:pt x="1028700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05000" y="3947159"/>
            <a:ext cx="1028700" cy="289560"/>
          </a:xfrm>
          <a:custGeom>
            <a:avLst/>
            <a:gdLst/>
            <a:ahLst/>
            <a:cxnLst/>
            <a:rect l="l" t="t" r="r" b="b"/>
            <a:pathLst>
              <a:path w="1028700" h="289560">
                <a:moveTo>
                  <a:pt x="0" y="289560"/>
                </a:moveTo>
                <a:lnTo>
                  <a:pt x="1028700" y="289560"/>
                </a:lnTo>
                <a:lnTo>
                  <a:pt x="1028700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476500" y="4640579"/>
            <a:ext cx="1028700" cy="297180"/>
          </a:xfrm>
          <a:custGeom>
            <a:avLst/>
            <a:gdLst/>
            <a:ahLst/>
            <a:cxnLst/>
            <a:rect l="l" t="t" r="r" b="b"/>
            <a:pathLst>
              <a:path w="1028700" h="297179">
                <a:moveTo>
                  <a:pt x="1028700" y="0"/>
                </a:moveTo>
                <a:lnTo>
                  <a:pt x="0" y="0"/>
                </a:lnTo>
                <a:lnTo>
                  <a:pt x="0" y="297180"/>
                </a:lnTo>
                <a:lnTo>
                  <a:pt x="1028700" y="0"/>
                </a:ln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476500" y="4640579"/>
            <a:ext cx="1028700" cy="297180"/>
          </a:xfrm>
          <a:custGeom>
            <a:avLst/>
            <a:gdLst/>
            <a:ahLst/>
            <a:cxnLst/>
            <a:rect l="l" t="t" r="r" b="b"/>
            <a:pathLst>
              <a:path w="1028700" h="297179">
                <a:moveTo>
                  <a:pt x="1028700" y="0"/>
                </a:moveTo>
                <a:lnTo>
                  <a:pt x="0" y="0"/>
                </a:lnTo>
                <a:lnTo>
                  <a:pt x="0" y="29718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507485" y="4640579"/>
            <a:ext cx="0" cy="297180"/>
          </a:xfrm>
          <a:custGeom>
            <a:avLst/>
            <a:gdLst/>
            <a:ahLst/>
            <a:cxnLst/>
            <a:rect l="l" t="t" r="r" b="b"/>
            <a:pathLst>
              <a:path h="297179">
                <a:moveTo>
                  <a:pt x="0" y="0"/>
                </a:moveTo>
                <a:lnTo>
                  <a:pt x="0" y="29718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476500" y="4640579"/>
            <a:ext cx="1028700" cy="297180"/>
          </a:xfrm>
          <a:custGeom>
            <a:avLst/>
            <a:gdLst/>
            <a:ahLst/>
            <a:cxnLst/>
            <a:rect l="l" t="t" r="r" b="b"/>
            <a:pathLst>
              <a:path w="1028700" h="297179">
                <a:moveTo>
                  <a:pt x="0" y="297180"/>
                </a:moveTo>
                <a:lnTo>
                  <a:pt x="1028700" y="297180"/>
                </a:lnTo>
                <a:lnTo>
                  <a:pt x="1028700" y="0"/>
                </a:lnTo>
                <a:lnTo>
                  <a:pt x="0" y="0"/>
                </a:lnTo>
                <a:lnTo>
                  <a:pt x="0" y="297180"/>
                </a:ln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476500" y="4640579"/>
            <a:ext cx="1028700" cy="297180"/>
          </a:xfrm>
          <a:custGeom>
            <a:avLst/>
            <a:gdLst/>
            <a:ahLst/>
            <a:cxnLst/>
            <a:rect l="l" t="t" r="r" b="b"/>
            <a:pathLst>
              <a:path w="1028700" h="297179">
                <a:moveTo>
                  <a:pt x="0" y="297180"/>
                </a:moveTo>
                <a:lnTo>
                  <a:pt x="1028700" y="297180"/>
                </a:lnTo>
                <a:lnTo>
                  <a:pt x="1028700" y="0"/>
                </a:lnTo>
                <a:lnTo>
                  <a:pt x="0" y="0"/>
                </a:lnTo>
                <a:lnTo>
                  <a:pt x="0" y="29718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191000" y="4456176"/>
            <a:ext cx="2857500" cy="297180"/>
          </a:xfrm>
          <a:custGeom>
            <a:avLst/>
            <a:gdLst/>
            <a:ahLst/>
            <a:cxnLst/>
            <a:rect l="l" t="t" r="r" b="b"/>
            <a:pathLst>
              <a:path w="2857500" h="297179">
                <a:moveTo>
                  <a:pt x="2857500" y="0"/>
                </a:moveTo>
                <a:lnTo>
                  <a:pt x="0" y="0"/>
                </a:lnTo>
                <a:lnTo>
                  <a:pt x="0" y="297180"/>
                </a:lnTo>
                <a:lnTo>
                  <a:pt x="2857500" y="0"/>
                </a:ln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191000" y="4456176"/>
            <a:ext cx="2857500" cy="297180"/>
          </a:xfrm>
          <a:custGeom>
            <a:avLst/>
            <a:gdLst/>
            <a:ahLst/>
            <a:cxnLst/>
            <a:rect l="l" t="t" r="r" b="b"/>
            <a:pathLst>
              <a:path w="2857500" h="297179">
                <a:moveTo>
                  <a:pt x="2857500" y="0"/>
                </a:moveTo>
                <a:lnTo>
                  <a:pt x="0" y="0"/>
                </a:lnTo>
                <a:lnTo>
                  <a:pt x="0" y="29718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050785" y="4456176"/>
            <a:ext cx="0" cy="297180"/>
          </a:xfrm>
          <a:custGeom>
            <a:avLst/>
            <a:gdLst/>
            <a:ahLst/>
            <a:cxnLst/>
            <a:rect l="l" t="t" r="r" b="b"/>
            <a:pathLst>
              <a:path h="297179">
                <a:moveTo>
                  <a:pt x="0" y="0"/>
                </a:moveTo>
                <a:lnTo>
                  <a:pt x="0" y="29718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191000" y="4456176"/>
            <a:ext cx="2857500" cy="297180"/>
          </a:xfrm>
          <a:custGeom>
            <a:avLst/>
            <a:gdLst/>
            <a:ahLst/>
            <a:cxnLst/>
            <a:rect l="l" t="t" r="r" b="b"/>
            <a:pathLst>
              <a:path w="2857500" h="297179">
                <a:moveTo>
                  <a:pt x="0" y="297180"/>
                </a:moveTo>
                <a:lnTo>
                  <a:pt x="2857500" y="297180"/>
                </a:lnTo>
                <a:lnTo>
                  <a:pt x="2857500" y="0"/>
                </a:lnTo>
                <a:lnTo>
                  <a:pt x="0" y="0"/>
                </a:lnTo>
                <a:lnTo>
                  <a:pt x="0" y="297180"/>
                </a:ln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191000" y="4456176"/>
            <a:ext cx="2857500" cy="297180"/>
          </a:xfrm>
          <a:custGeom>
            <a:avLst/>
            <a:gdLst/>
            <a:ahLst/>
            <a:cxnLst/>
            <a:rect l="l" t="t" r="r" b="b"/>
            <a:pathLst>
              <a:path w="2857500" h="297179">
                <a:moveTo>
                  <a:pt x="0" y="297180"/>
                </a:moveTo>
                <a:lnTo>
                  <a:pt x="2857500" y="297180"/>
                </a:lnTo>
                <a:lnTo>
                  <a:pt x="2857500" y="0"/>
                </a:lnTo>
                <a:lnTo>
                  <a:pt x="0" y="0"/>
                </a:lnTo>
                <a:lnTo>
                  <a:pt x="0" y="29718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188714" y="3848100"/>
            <a:ext cx="0" cy="297180"/>
          </a:xfrm>
          <a:custGeom>
            <a:avLst/>
            <a:gdLst/>
            <a:ahLst/>
            <a:cxnLst/>
            <a:rect l="l" t="t" r="r" b="b"/>
            <a:pathLst>
              <a:path h="297179">
                <a:moveTo>
                  <a:pt x="0" y="0"/>
                </a:moveTo>
                <a:lnTo>
                  <a:pt x="0" y="29718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336285" y="3848100"/>
            <a:ext cx="0" cy="297180"/>
          </a:xfrm>
          <a:custGeom>
            <a:avLst/>
            <a:gdLst/>
            <a:ahLst/>
            <a:cxnLst/>
            <a:rect l="l" t="t" r="r" b="b"/>
            <a:pathLst>
              <a:path h="297179">
                <a:moveTo>
                  <a:pt x="0" y="0"/>
                </a:moveTo>
                <a:lnTo>
                  <a:pt x="0" y="29718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191000" y="3848100"/>
            <a:ext cx="1143000" cy="297180"/>
          </a:xfrm>
          <a:custGeom>
            <a:avLst/>
            <a:gdLst/>
            <a:ahLst/>
            <a:cxnLst/>
            <a:rect l="l" t="t" r="r" b="b"/>
            <a:pathLst>
              <a:path w="1143000" h="297179">
                <a:moveTo>
                  <a:pt x="0" y="297180"/>
                </a:moveTo>
                <a:lnTo>
                  <a:pt x="1143000" y="297180"/>
                </a:lnTo>
                <a:lnTo>
                  <a:pt x="1143000" y="0"/>
                </a:lnTo>
                <a:lnTo>
                  <a:pt x="0" y="0"/>
                </a:lnTo>
                <a:lnTo>
                  <a:pt x="0" y="297180"/>
                </a:ln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191000" y="3848100"/>
            <a:ext cx="1143000" cy="297180"/>
          </a:xfrm>
          <a:custGeom>
            <a:avLst/>
            <a:gdLst/>
            <a:ahLst/>
            <a:cxnLst/>
            <a:rect l="l" t="t" r="r" b="b"/>
            <a:pathLst>
              <a:path w="1143000" h="297179">
                <a:moveTo>
                  <a:pt x="0" y="297180"/>
                </a:moveTo>
                <a:lnTo>
                  <a:pt x="1143000" y="297180"/>
                </a:lnTo>
                <a:lnTo>
                  <a:pt x="1143000" y="0"/>
                </a:lnTo>
                <a:lnTo>
                  <a:pt x="0" y="0"/>
                </a:lnTo>
                <a:lnTo>
                  <a:pt x="0" y="29718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610861" y="3551682"/>
            <a:ext cx="76200" cy="297180"/>
          </a:xfrm>
          <a:custGeom>
            <a:avLst/>
            <a:gdLst/>
            <a:ahLst/>
            <a:cxnLst/>
            <a:rect l="l" t="t" r="r" b="b"/>
            <a:pathLst>
              <a:path w="76200" h="297179">
                <a:moveTo>
                  <a:pt x="28193" y="220979"/>
                </a:moveTo>
                <a:lnTo>
                  <a:pt x="0" y="220979"/>
                </a:lnTo>
                <a:lnTo>
                  <a:pt x="38100" y="297179"/>
                </a:lnTo>
                <a:lnTo>
                  <a:pt x="69850" y="233679"/>
                </a:lnTo>
                <a:lnTo>
                  <a:pt x="28193" y="233679"/>
                </a:lnTo>
                <a:lnTo>
                  <a:pt x="28193" y="220979"/>
                </a:lnTo>
                <a:close/>
              </a:path>
              <a:path w="76200" h="297179">
                <a:moveTo>
                  <a:pt x="48005" y="0"/>
                </a:moveTo>
                <a:lnTo>
                  <a:pt x="28193" y="0"/>
                </a:lnTo>
                <a:lnTo>
                  <a:pt x="28193" y="233679"/>
                </a:lnTo>
                <a:lnTo>
                  <a:pt x="48005" y="233679"/>
                </a:lnTo>
                <a:lnTo>
                  <a:pt x="48005" y="0"/>
                </a:lnTo>
                <a:close/>
              </a:path>
              <a:path w="76200" h="297179">
                <a:moveTo>
                  <a:pt x="76200" y="220979"/>
                </a:moveTo>
                <a:lnTo>
                  <a:pt x="48005" y="220979"/>
                </a:lnTo>
                <a:lnTo>
                  <a:pt x="48005" y="233679"/>
                </a:lnTo>
                <a:lnTo>
                  <a:pt x="69850" y="233679"/>
                </a:lnTo>
                <a:lnTo>
                  <a:pt x="76200" y="220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725161" y="4146041"/>
            <a:ext cx="76200" cy="297180"/>
          </a:xfrm>
          <a:custGeom>
            <a:avLst/>
            <a:gdLst/>
            <a:ahLst/>
            <a:cxnLst/>
            <a:rect l="l" t="t" r="r" b="b"/>
            <a:pathLst>
              <a:path w="76200" h="297179">
                <a:moveTo>
                  <a:pt x="28193" y="220979"/>
                </a:moveTo>
                <a:lnTo>
                  <a:pt x="0" y="220979"/>
                </a:lnTo>
                <a:lnTo>
                  <a:pt x="38100" y="297179"/>
                </a:lnTo>
                <a:lnTo>
                  <a:pt x="69850" y="233679"/>
                </a:lnTo>
                <a:lnTo>
                  <a:pt x="28193" y="233679"/>
                </a:lnTo>
                <a:lnTo>
                  <a:pt x="28193" y="220979"/>
                </a:lnTo>
                <a:close/>
              </a:path>
              <a:path w="76200" h="297179">
                <a:moveTo>
                  <a:pt x="48005" y="0"/>
                </a:moveTo>
                <a:lnTo>
                  <a:pt x="28193" y="0"/>
                </a:lnTo>
                <a:lnTo>
                  <a:pt x="28193" y="233679"/>
                </a:lnTo>
                <a:lnTo>
                  <a:pt x="48005" y="233679"/>
                </a:lnTo>
                <a:lnTo>
                  <a:pt x="48005" y="0"/>
                </a:lnTo>
                <a:close/>
              </a:path>
              <a:path w="76200" h="297179">
                <a:moveTo>
                  <a:pt x="76200" y="220979"/>
                </a:moveTo>
                <a:lnTo>
                  <a:pt x="48005" y="220979"/>
                </a:lnTo>
                <a:lnTo>
                  <a:pt x="48005" y="233679"/>
                </a:lnTo>
                <a:lnTo>
                  <a:pt x="69850" y="233679"/>
                </a:lnTo>
                <a:lnTo>
                  <a:pt x="76200" y="220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019800" y="3553205"/>
            <a:ext cx="1143000" cy="0"/>
          </a:xfrm>
          <a:custGeom>
            <a:avLst/>
            <a:gdLst/>
            <a:ahLst/>
            <a:cxnLst/>
            <a:rect l="l" t="t" r="r" b="b"/>
            <a:pathLst>
              <a:path w="1143000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019800" y="3253740"/>
            <a:ext cx="1143000" cy="297180"/>
          </a:xfrm>
          <a:custGeom>
            <a:avLst/>
            <a:gdLst/>
            <a:ahLst/>
            <a:cxnLst/>
            <a:rect l="l" t="t" r="r" b="b"/>
            <a:pathLst>
              <a:path w="1143000" h="297179">
                <a:moveTo>
                  <a:pt x="1143000" y="0"/>
                </a:moveTo>
                <a:lnTo>
                  <a:pt x="0" y="0"/>
                </a:lnTo>
                <a:lnTo>
                  <a:pt x="0" y="29718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165085" y="3253740"/>
            <a:ext cx="0" cy="297180"/>
          </a:xfrm>
          <a:custGeom>
            <a:avLst/>
            <a:gdLst/>
            <a:ahLst/>
            <a:cxnLst/>
            <a:rect l="l" t="t" r="r" b="b"/>
            <a:pathLst>
              <a:path h="297179">
                <a:moveTo>
                  <a:pt x="0" y="0"/>
                </a:moveTo>
                <a:lnTo>
                  <a:pt x="0" y="29718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019800" y="3253740"/>
            <a:ext cx="1143000" cy="297180"/>
          </a:xfrm>
          <a:custGeom>
            <a:avLst/>
            <a:gdLst/>
            <a:ahLst/>
            <a:cxnLst/>
            <a:rect l="l" t="t" r="r" b="b"/>
            <a:pathLst>
              <a:path w="1143000" h="297179">
                <a:moveTo>
                  <a:pt x="0" y="297179"/>
                </a:moveTo>
                <a:lnTo>
                  <a:pt x="1143000" y="297179"/>
                </a:lnTo>
                <a:lnTo>
                  <a:pt x="1143000" y="0"/>
                </a:lnTo>
                <a:lnTo>
                  <a:pt x="0" y="0"/>
                </a:lnTo>
                <a:lnTo>
                  <a:pt x="0" y="297179"/>
                </a:ln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019800" y="3253740"/>
            <a:ext cx="1143000" cy="297180"/>
          </a:xfrm>
          <a:custGeom>
            <a:avLst/>
            <a:gdLst/>
            <a:ahLst/>
            <a:cxnLst/>
            <a:rect l="l" t="t" r="r" b="b"/>
            <a:pathLst>
              <a:path w="1143000" h="297179">
                <a:moveTo>
                  <a:pt x="0" y="297179"/>
                </a:moveTo>
                <a:lnTo>
                  <a:pt x="1143000" y="297179"/>
                </a:lnTo>
                <a:lnTo>
                  <a:pt x="1143000" y="0"/>
                </a:lnTo>
                <a:lnTo>
                  <a:pt x="0" y="0"/>
                </a:lnTo>
                <a:lnTo>
                  <a:pt x="0" y="297179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248400" y="3848100"/>
            <a:ext cx="1143000" cy="297180"/>
          </a:xfrm>
          <a:custGeom>
            <a:avLst/>
            <a:gdLst/>
            <a:ahLst/>
            <a:cxnLst/>
            <a:rect l="l" t="t" r="r" b="b"/>
            <a:pathLst>
              <a:path w="1143000" h="297179">
                <a:moveTo>
                  <a:pt x="1142999" y="0"/>
                </a:moveTo>
                <a:lnTo>
                  <a:pt x="0" y="0"/>
                </a:lnTo>
                <a:lnTo>
                  <a:pt x="0" y="297180"/>
                </a:lnTo>
                <a:lnTo>
                  <a:pt x="1142999" y="0"/>
                </a:ln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248400" y="3848100"/>
            <a:ext cx="1143000" cy="297180"/>
          </a:xfrm>
          <a:custGeom>
            <a:avLst/>
            <a:gdLst/>
            <a:ahLst/>
            <a:cxnLst/>
            <a:rect l="l" t="t" r="r" b="b"/>
            <a:pathLst>
              <a:path w="1143000" h="297179">
                <a:moveTo>
                  <a:pt x="1143000" y="0"/>
                </a:moveTo>
                <a:lnTo>
                  <a:pt x="0" y="0"/>
                </a:lnTo>
                <a:lnTo>
                  <a:pt x="0" y="29718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393685" y="3848100"/>
            <a:ext cx="0" cy="297180"/>
          </a:xfrm>
          <a:custGeom>
            <a:avLst/>
            <a:gdLst/>
            <a:ahLst/>
            <a:cxnLst/>
            <a:rect l="l" t="t" r="r" b="b"/>
            <a:pathLst>
              <a:path h="297179">
                <a:moveTo>
                  <a:pt x="0" y="0"/>
                </a:moveTo>
                <a:lnTo>
                  <a:pt x="0" y="29718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248400" y="3848100"/>
            <a:ext cx="1143000" cy="297180"/>
          </a:xfrm>
          <a:custGeom>
            <a:avLst/>
            <a:gdLst/>
            <a:ahLst/>
            <a:cxnLst/>
            <a:rect l="l" t="t" r="r" b="b"/>
            <a:pathLst>
              <a:path w="1143000" h="297179">
                <a:moveTo>
                  <a:pt x="0" y="297180"/>
                </a:moveTo>
                <a:lnTo>
                  <a:pt x="1143000" y="297180"/>
                </a:lnTo>
                <a:lnTo>
                  <a:pt x="1143000" y="0"/>
                </a:lnTo>
                <a:lnTo>
                  <a:pt x="0" y="0"/>
                </a:lnTo>
                <a:lnTo>
                  <a:pt x="0" y="297180"/>
                </a:ln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248400" y="3848100"/>
            <a:ext cx="1143000" cy="297180"/>
          </a:xfrm>
          <a:custGeom>
            <a:avLst/>
            <a:gdLst/>
            <a:ahLst/>
            <a:cxnLst/>
            <a:rect l="l" t="t" r="r" b="b"/>
            <a:pathLst>
              <a:path w="1143000" h="297179">
                <a:moveTo>
                  <a:pt x="0" y="297180"/>
                </a:moveTo>
                <a:lnTo>
                  <a:pt x="1143000" y="297180"/>
                </a:lnTo>
                <a:lnTo>
                  <a:pt x="1143000" y="0"/>
                </a:lnTo>
                <a:lnTo>
                  <a:pt x="0" y="0"/>
                </a:lnTo>
                <a:lnTo>
                  <a:pt x="0" y="29718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439661" y="3551682"/>
            <a:ext cx="76200" cy="297180"/>
          </a:xfrm>
          <a:custGeom>
            <a:avLst/>
            <a:gdLst/>
            <a:ahLst/>
            <a:cxnLst/>
            <a:rect l="l" t="t" r="r" b="b"/>
            <a:pathLst>
              <a:path w="76200" h="297179">
                <a:moveTo>
                  <a:pt x="28193" y="220979"/>
                </a:moveTo>
                <a:lnTo>
                  <a:pt x="0" y="220979"/>
                </a:lnTo>
                <a:lnTo>
                  <a:pt x="38100" y="297179"/>
                </a:lnTo>
                <a:lnTo>
                  <a:pt x="69849" y="233679"/>
                </a:lnTo>
                <a:lnTo>
                  <a:pt x="28193" y="233679"/>
                </a:lnTo>
                <a:lnTo>
                  <a:pt x="28193" y="220979"/>
                </a:lnTo>
                <a:close/>
              </a:path>
              <a:path w="76200" h="297179">
                <a:moveTo>
                  <a:pt x="48005" y="0"/>
                </a:moveTo>
                <a:lnTo>
                  <a:pt x="28193" y="0"/>
                </a:lnTo>
                <a:lnTo>
                  <a:pt x="28193" y="233679"/>
                </a:lnTo>
                <a:lnTo>
                  <a:pt x="48005" y="233679"/>
                </a:lnTo>
                <a:lnTo>
                  <a:pt x="48005" y="0"/>
                </a:lnTo>
                <a:close/>
              </a:path>
              <a:path w="76200" h="297179">
                <a:moveTo>
                  <a:pt x="76199" y="220979"/>
                </a:moveTo>
                <a:lnTo>
                  <a:pt x="48005" y="220979"/>
                </a:lnTo>
                <a:lnTo>
                  <a:pt x="48005" y="233679"/>
                </a:lnTo>
                <a:lnTo>
                  <a:pt x="69849" y="233679"/>
                </a:lnTo>
                <a:lnTo>
                  <a:pt x="76199" y="220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553961" y="4146041"/>
            <a:ext cx="76200" cy="297180"/>
          </a:xfrm>
          <a:custGeom>
            <a:avLst/>
            <a:gdLst/>
            <a:ahLst/>
            <a:cxnLst/>
            <a:rect l="l" t="t" r="r" b="b"/>
            <a:pathLst>
              <a:path w="76200" h="297179">
                <a:moveTo>
                  <a:pt x="28194" y="220979"/>
                </a:moveTo>
                <a:lnTo>
                  <a:pt x="0" y="220979"/>
                </a:lnTo>
                <a:lnTo>
                  <a:pt x="38100" y="297179"/>
                </a:lnTo>
                <a:lnTo>
                  <a:pt x="69850" y="233679"/>
                </a:lnTo>
                <a:lnTo>
                  <a:pt x="28194" y="233679"/>
                </a:lnTo>
                <a:lnTo>
                  <a:pt x="28194" y="220979"/>
                </a:lnTo>
                <a:close/>
              </a:path>
              <a:path w="76200" h="297179">
                <a:moveTo>
                  <a:pt x="48006" y="0"/>
                </a:moveTo>
                <a:lnTo>
                  <a:pt x="28194" y="0"/>
                </a:lnTo>
                <a:lnTo>
                  <a:pt x="28194" y="233679"/>
                </a:lnTo>
                <a:lnTo>
                  <a:pt x="48006" y="233679"/>
                </a:lnTo>
                <a:lnTo>
                  <a:pt x="48006" y="0"/>
                </a:lnTo>
                <a:close/>
              </a:path>
              <a:path w="76200" h="297179">
                <a:moveTo>
                  <a:pt x="76200" y="220979"/>
                </a:moveTo>
                <a:lnTo>
                  <a:pt x="48006" y="220979"/>
                </a:lnTo>
                <a:lnTo>
                  <a:pt x="48006" y="233679"/>
                </a:lnTo>
                <a:lnTo>
                  <a:pt x="69850" y="233679"/>
                </a:lnTo>
                <a:lnTo>
                  <a:pt x="76200" y="220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334761" y="2721101"/>
            <a:ext cx="457200" cy="1336040"/>
          </a:xfrm>
          <a:custGeom>
            <a:avLst/>
            <a:gdLst/>
            <a:ahLst/>
            <a:cxnLst/>
            <a:rect l="l" t="t" r="r" b="b"/>
            <a:pathLst>
              <a:path w="457200" h="1336039">
                <a:moveTo>
                  <a:pt x="218693" y="1315974"/>
                </a:moveTo>
                <a:lnTo>
                  <a:pt x="0" y="1315974"/>
                </a:lnTo>
                <a:lnTo>
                  <a:pt x="0" y="1335786"/>
                </a:lnTo>
                <a:lnTo>
                  <a:pt x="234061" y="1335786"/>
                </a:lnTo>
                <a:lnTo>
                  <a:pt x="238505" y="1331341"/>
                </a:lnTo>
                <a:lnTo>
                  <a:pt x="238505" y="1325880"/>
                </a:lnTo>
                <a:lnTo>
                  <a:pt x="218693" y="1325880"/>
                </a:lnTo>
                <a:lnTo>
                  <a:pt x="218693" y="1315974"/>
                </a:lnTo>
                <a:close/>
              </a:path>
              <a:path w="457200" h="1336039">
                <a:moveTo>
                  <a:pt x="381000" y="28194"/>
                </a:moveTo>
                <a:lnTo>
                  <a:pt x="223138" y="28194"/>
                </a:lnTo>
                <a:lnTo>
                  <a:pt x="218693" y="32638"/>
                </a:lnTo>
                <a:lnTo>
                  <a:pt x="218693" y="1325880"/>
                </a:lnTo>
                <a:lnTo>
                  <a:pt x="228600" y="1315974"/>
                </a:lnTo>
                <a:lnTo>
                  <a:pt x="238505" y="1315974"/>
                </a:lnTo>
                <a:lnTo>
                  <a:pt x="238505" y="48006"/>
                </a:lnTo>
                <a:lnTo>
                  <a:pt x="228600" y="48006"/>
                </a:lnTo>
                <a:lnTo>
                  <a:pt x="238505" y="38100"/>
                </a:lnTo>
                <a:lnTo>
                  <a:pt x="381000" y="38100"/>
                </a:lnTo>
                <a:lnTo>
                  <a:pt x="381000" y="28194"/>
                </a:lnTo>
                <a:close/>
              </a:path>
              <a:path w="457200" h="1336039">
                <a:moveTo>
                  <a:pt x="238505" y="1315974"/>
                </a:moveTo>
                <a:lnTo>
                  <a:pt x="228600" y="1315974"/>
                </a:lnTo>
                <a:lnTo>
                  <a:pt x="218693" y="1325880"/>
                </a:lnTo>
                <a:lnTo>
                  <a:pt x="238505" y="1325880"/>
                </a:lnTo>
                <a:lnTo>
                  <a:pt x="238505" y="1315974"/>
                </a:lnTo>
                <a:close/>
              </a:path>
              <a:path w="457200" h="1336039">
                <a:moveTo>
                  <a:pt x="381000" y="0"/>
                </a:moveTo>
                <a:lnTo>
                  <a:pt x="381000" y="76200"/>
                </a:lnTo>
                <a:lnTo>
                  <a:pt x="437387" y="48006"/>
                </a:lnTo>
                <a:lnTo>
                  <a:pt x="393700" y="48006"/>
                </a:lnTo>
                <a:lnTo>
                  <a:pt x="393700" y="28194"/>
                </a:lnTo>
                <a:lnTo>
                  <a:pt x="437388" y="28194"/>
                </a:lnTo>
                <a:lnTo>
                  <a:pt x="381000" y="0"/>
                </a:lnTo>
                <a:close/>
              </a:path>
              <a:path w="457200" h="1336039">
                <a:moveTo>
                  <a:pt x="238505" y="38100"/>
                </a:moveTo>
                <a:lnTo>
                  <a:pt x="228600" y="48006"/>
                </a:lnTo>
                <a:lnTo>
                  <a:pt x="238505" y="48006"/>
                </a:lnTo>
                <a:lnTo>
                  <a:pt x="238505" y="38100"/>
                </a:lnTo>
                <a:close/>
              </a:path>
              <a:path w="457200" h="1336039">
                <a:moveTo>
                  <a:pt x="381000" y="38100"/>
                </a:moveTo>
                <a:lnTo>
                  <a:pt x="238505" y="38100"/>
                </a:lnTo>
                <a:lnTo>
                  <a:pt x="238505" y="48006"/>
                </a:lnTo>
                <a:lnTo>
                  <a:pt x="381000" y="48006"/>
                </a:lnTo>
                <a:lnTo>
                  <a:pt x="381000" y="38100"/>
                </a:lnTo>
                <a:close/>
              </a:path>
              <a:path w="457200" h="1336039">
                <a:moveTo>
                  <a:pt x="437388" y="28194"/>
                </a:moveTo>
                <a:lnTo>
                  <a:pt x="393700" y="28194"/>
                </a:lnTo>
                <a:lnTo>
                  <a:pt x="393700" y="48006"/>
                </a:lnTo>
                <a:lnTo>
                  <a:pt x="437387" y="48006"/>
                </a:lnTo>
                <a:lnTo>
                  <a:pt x="457200" y="38100"/>
                </a:lnTo>
                <a:lnTo>
                  <a:pt x="437388" y="281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645914" y="5036820"/>
            <a:ext cx="0" cy="297180"/>
          </a:xfrm>
          <a:custGeom>
            <a:avLst/>
            <a:gdLst/>
            <a:ahLst/>
            <a:cxnLst/>
            <a:rect l="l" t="t" r="r" b="b"/>
            <a:pathLst>
              <a:path h="297179">
                <a:moveTo>
                  <a:pt x="0" y="0"/>
                </a:moveTo>
                <a:lnTo>
                  <a:pt x="0" y="297179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679185" y="5036820"/>
            <a:ext cx="0" cy="297180"/>
          </a:xfrm>
          <a:custGeom>
            <a:avLst/>
            <a:gdLst/>
            <a:ahLst/>
            <a:cxnLst/>
            <a:rect l="l" t="t" r="r" b="b"/>
            <a:pathLst>
              <a:path h="297179">
                <a:moveTo>
                  <a:pt x="0" y="0"/>
                </a:moveTo>
                <a:lnTo>
                  <a:pt x="0" y="297179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648200" y="5036820"/>
            <a:ext cx="1028700" cy="297180"/>
          </a:xfrm>
          <a:custGeom>
            <a:avLst/>
            <a:gdLst/>
            <a:ahLst/>
            <a:cxnLst/>
            <a:rect l="l" t="t" r="r" b="b"/>
            <a:pathLst>
              <a:path w="1028700" h="297179">
                <a:moveTo>
                  <a:pt x="0" y="297179"/>
                </a:moveTo>
                <a:lnTo>
                  <a:pt x="1028700" y="297179"/>
                </a:lnTo>
                <a:lnTo>
                  <a:pt x="1028700" y="0"/>
                </a:lnTo>
                <a:lnTo>
                  <a:pt x="0" y="0"/>
                </a:lnTo>
                <a:lnTo>
                  <a:pt x="0" y="297179"/>
                </a:ln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648200" y="5036820"/>
            <a:ext cx="1028700" cy="297180"/>
          </a:xfrm>
          <a:custGeom>
            <a:avLst/>
            <a:gdLst/>
            <a:ahLst/>
            <a:cxnLst/>
            <a:rect l="l" t="t" r="r" b="b"/>
            <a:pathLst>
              <a:path w="1028700" h="297179">
                <a:moveTo>
                  <a:pt x="0" y="297179"/>
                </a:moveTo>
                <a:lnTo>
                  <a:pt x="1028700" y="297179"/>
                </a:lnTo>
                <a:lnTo>
                  <a:pt x="1028700" y="0"/>
                </a:lnTo>
                <a:lnTo>
                  <a:pt x="0" y="0"/>
                </a:lnTo>
                <a:lnTo>
                  <a:pt x="0" y="29717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134100" y="5336285"/>
            <a:ext cx="1028700" cy="0"/>
          </a:xfrm>
          <a:custGeom>
            <a:avLst/>
            <a:gdLst/>
            <a:ahLst/>
            <a:cxnLst/>
            <a:rect l="l" t="t" r="r" b="b"/>
            <a:pathLst>
              <a:path w="1028700">
                <a:moveTo>
                  <a:pt x="0" y="0"/>
                </a:moveTo>
                <a:lnTo>
                  <a:pt x="1028700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134100" y="5036820"/>
            <a:ext cx="1028700" cy="297180"/>
          </a:xfrm>
          <a:custGeom>
            <a:avLst/>
            <a:gdLst/>
            <a:ahLst/>
            <a:cxnLst/>
            <a:rect l="l" t="t" r="r" b="b"/>
            <a:pathLst>
              <a:path w="1028700" h="297179">
                <a:moveTo>
                  <a:pt x="1028700" y="0"/>
                </a:moveTo>
                <a:lnTo>
                  <a:pt x="0" y="0"/>
                </a:lnTo>
                <a:lnTo>
                  <a:pt x="0" y="297179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165085" y="5036820"/>
            <a:ext cx="0" cy="297180"/>
          </a:xfrm>
          <a:custGeom>
            <a:avLst/>
            <a:gdLst/>
            <a:ahLst/>
            <a:cxnLst/>
            <a:rect l="l" t="t" r="r" b="b"/>
            <a:pathLst>
              <a:path h="297179">
                <a:moveTo>
                  <a:pt x="0" y="0"/>
                </a:moveTo>
                <a:lnTo>
                  <a:pt x="0" y="297179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134100" y="5036820"/>
            <a:ext cx="1028700" cy="297180"/>
          </a:xfrm>
          <a:custGeom>
            <a:avLst/>
            <a:gdLst/>
            <a:ahLst/>
            <a:cxnLst/>
            <a:rect l="l" t="t" r="r" b="b"/>
            <a:pathLst>
              <a:path w="1028700" h="297179">
                <a:moveTo>
                  <a:pt x="0" y="297179"/>
                </a:moveTo>
                <a:lnTo>
                  <a:pt x="1028700" y="297179"/>
                </a:lnTo>
                <a:lnTo>
                  <a:pt x="1028700" y="0"/>
                </a:lnTo>
                <a:lnTo>
                  <a:pt x="0" y="0"/>
                </a:lnTo>
                <a:lnTo>
                  <a:pt x="0" y="297179"/>
                </a:ln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134100" y="5036820"/>
            <a:ext cx="1028700" cy="297180"/>
          </a:xfrm>
          <a:custGeom>
            <a:avLst/>
            <a:gdLst/>
            <a:ahLst/>
            <a:cxnLst/>
            <a:rect l="l" t="t" r="r" b="b"/>
            <a:pathLst>
              <a:path w="1028700" h="297179">
                <a:moveTo>
                  <a:pt x="0" y="297179"/>
                </a:moveTo>
                <a:lnTo>
                  <a:pt x="1028700" y="297179"/>
                </a:lnTo>
                <a:lnTo>
                  <a:pt x="1028700" y="0"/>
                </a:lnTo>
                <a:lnTo>
                  <a:pt x="0" y="0"/>
                </a:lnTo>
                <a:lnTo>
                  <a:pt x="0" y="29717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953761" y="4740402"/>
            <a:ext cx="76200" cy="297180"/>
          </a:xfrm>
          <a:custGeom>
            <a:avLst/>
            <a:gdLst/>
            <a:ahLst/>
            <a:cxnLst/>
            <a:rect l="l" t="t" r="r" b="b"/>
            <a:pathLst>
              <a:path w="76200" h="297179">
                <a:moveTo>
                  <a:pt x="28193" y="220980"/>
                </a:moveTo>
                <a:lnTo>
                  <a:pt x="0" y="220980"/>
                </a:lnTo>
                <a:lnTo>
                  <a:pt x="38100" y="297180"/>
                </a:lnTo>
                <a:lnTo>
                  <a:pt x="69850" y="233680"/>
                </a:lnTo>
                <a:lnTo>
                  <a:pt x="28193" y="233680"/>
                </a:lnTo>
                <a:lnTo>
                  <a:pt x="28193" y="220980"/>
                </a:lnTo>
                <a:close/>
              </a:path>
              <a:path w="76200" h="297179">
                <a:moveTo>
                  <a:pt x="48005" y="0"/>
                </a:moveTo>
                <a:lnTo>
                  <a:pt x="28193" y="0"/>
                </a:lnTo>
                <a:lnTo>
                  <a:pt x="28193" y="233680"/>
                </a:lnTo>
                <a:lnTo>
                  <a:pt x="48005" y="233680"/>
                </a:lnTo>
                <a:lnTo>
                  <a:pt x="48005" y="0"/>
                </a:lnTo>
                <a:close/>
              </a:path>
              <a:path w="76200" h="297179">
                <a:moveTo>
                  <a:pt x="76200" y="220980"/>
                </a:moveTo>
                <a:lnTo>
                  <a:pt x="48005" y="220980"/>
                </a:lnTo>
                <a:lnTo>
                  <a:pt x="48005" y="233680"/>
                </a:lnTo>
                <a:lnTo>
                  <a:pt x="69850" y="233680"/>
                </a:lnTo>
                <a:lnTo>
                  <a:pt x="76200" y="2209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648705" y="3986021"/>
            <a:ext cx="342900" cy="0"/>
          </a:xfrm>
          <a:custGeom>
            <a:avLst/>
            <a:gdLst/>
            <a:ahLst/>
            <a:cxnLst/>
            <a:rect l="l" t="t" r="r" b="b"/>
            <a:pathLst>
              <a:path w="342900">
                <a:moveTo>
                  <a:pt x="0" y="0"/>
                </a:moveTo>
                <a:lnTo>
                  <a:pt x="342900" y="0"/>
                </a:lnTo>
              </a:path>
            </a:pathLst>
          </a:custGeom>
          <a:ln w="28956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487161" y="3420617"/>
            <a:ext cx="419100" cy="0"/>
          </a:xfrm>
          <a:custGeom>
            <a:avLst/>
            <a:gdLst/>
            <a:ahLst/>
            <a:cxnLst/>
            <a:rect l="l" t="t" r="r" b="b"/>
            <a:pathLst>
              <a:path w="419100">
                <a:moveTo>
                  <a:pt x="0" y="0"/>
                </a:moveTo>
                <a:lnTo>
                  <a:pt x="419100" y="0"/>
                </a:lnTo>
              </a:path>
            </a:pathLst>
          </a:custGeom>
          <a:ln w="28956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2238755" y="4245102"/>
            <a:ext cx="238760" cy="632460"/>
          </a:xfrm>
          <a:custGeom>
            <a:avLst/>
            <a:gdLst/>
            <a:ahLst/>
            <a:cxnLst/>
            <a:rect l="l" t="t" r="r" b="b"/>
            <a:pathLst>
              <a:path w="238760" h="632460">
                <a:moveTo>
                  <a:pt x="162306" y="556260"/>
                </a:moveTo>
                <a:lnTo>
                  <a:pt x="162306" y="632460"/>
                </a:lnTo>
                <a:lnTo>
                  <a:pt x="218694" y="604266"/>
                </a:lnTo>
                <a:lnTo>
                  <a:pt x="175006" y="604266"/>
                </a:lnTo>
                <a:lnTo>
                  <a:pt x="175006" y="584454"/>
                </a:lnTo>
                <a:lnTo>
                  <a:pt x="218694" y="584454"/>
                </a:lnTo>
                <a:lnTo>
                  <a:pt x="162306" y="556260"/>
                </a:lnTo>
                <a:close/>
              </a:path>
              <a:path w="238760" h="632460">
                <a:moveTo>
                  <a:pt x="19812" y="0"/>
                </a:moveTo>
                <a:lnTo>
                  <a:pt x="0" y="0"/>
                </a:lnTo>
                <a:lnTo>
                  <a:pt x="0" y="599821"/>
                </a:lnTo>
                <a:lnTo>
                  <a:pt x="4444" y="604266"/>
                </a:lnTo>
                <a:lnTo>
                  <a:pt x="162306" y="604266"/>
                </a:lnTo>
                <a:lnTo>
                  <a:pt x="162306" y="594360"/>
                </a:lnTo>
                <a:lnTo>
                  <a:pt x="19812" y="594360"/>
                </a:lnTo>
                <a:lnTo>
                  <a:pt x="9906" y="584454"/>
                </a:lnTo>
                <a:lnTo>
                  <a:pt x="19812" y="584454"/>
                </a:lnTo>
                <a:lnTo>
                  <a:pt x="19812" y="0"/>
                </a:lnTo>
                <a:close/>
              </a:path>
              <a:path w="238760" h="632460">
                <a:moveTo>
                  <a:pt x="218694" y="584454"/>
                </a:moveTo>
                <a:lnTo>
                  <a:pt x="175006" y="584454"/>
                </a:lnTo>
                <a:lnTo>
                  <a:pt x="175006" y="604266"/>
                </a:lnTo>
                <a:lnTo>
                  <a:pt x="218694" y="604266"/>
                </a:lnTo>
                <a:lnTo>
                  <a:pt x="238506" y="594360"/>
                </a:lnTo>
                <a:lnTo>
                  <a:pt x="218694" y="584454"/>
                </a:lnTo>
                <a:close/>
              </a:path>
              <a:path w="238760" h="632460">
                <a:moveTo>
                  <a:pt x="19812" y="584454"/>
                </a:moveTo>
                <a:lnTo>
                  <a:pt x="9906" y="584454"/>
                </a:lnTo>
                <a:lnTo>
                  <a:pt x="19812" y="594360"/>
                </a:lnTo>
                <a:lnTo>
                  <a:pt x="19812" y="584454"/>
                </a:lnTo>
                <a:close/>
              </a:path>
              <a:path w="238760" h="632460">
                <a:moveTo>
                  <a:pt x="162306" y="584454"/>
                </a:moveTo>
                <a:lnTo>
                  <a:pt x="19812" y="584454"/>
                </a:lnTo>
                <a:lnTo>
                  <a:pt x="19812" y="594360"/>
                </a:lnTo>
                <a:lnTo>
                  <a:pt x="162306" y="594360"/>
                </a:lnTo>
                <a:lnTo>
                  <a:pt x="162306" y="5844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3505961" y="3046476"/>
            <a:ext cx="952500" cy="1803400"/>
          </a:xfrm>
          <a:custGeom>
            <a:avLst/>
            <a:gdLst/>
            <a:ahLst/>
            <a:cxnLst/>
            <a:rect l="l" t="t" r="r" b="b"/>
            <a:pathLst>
              <a:path w="952500" h="1803400">
                <a:moveTo>
                  <a:pt x="218693" y="1783080"/>
                </a:moveTo>
                <a:lnTo>
                  <a:pt x="0" y="1783080"/>
                </a:lnTo>
                <a:lnTo>
                  <a:pt x="0" y="1802892"/>
                </a:lnTo>
                <a:lnTo>
                  <a:pt x="234061" y="1802892"/>
                </a:lnTo>
                <a:lnTo>
                  <a:pt x="238505" y="1798447"/>
                </a:lnTo>
                <a:lnTo>
                  <a:pt x="238505" y="1792986"/>
                </a:lnTo>
                <a:lnTo>
                  <a:pt x="218693" y="1792986"/>
                </a:lnTo>
                <a:lnTo>
                  <a:pt x="218693" y="1783080"/>
                </a:lnTo>
                <a:close/>
              </a:path>
              <a:path w="952500" h="1803400">
                <a:moveTo>
                  <a:pt x="919861" y="0"/>
                </a:moveTo>
                <a:lnTo>
                  <a:pt x="223138" y="0"/>
                </a:lnTo>
                <a:lnTo>
                  <a:pt x="218693" y="4445"/>
                </a:lnTo>
                <a:lnTo>
                  <a:pt x="218693" y="1792986"/>
                </a:lnTo>
                <a:lnTo>
                  <a:pt x="228600" y="1783080"/>
                </a:lnTo>
                <a:lnTo>
                  <a:pt x="238505" y="1783080"/>
                </a:lnTo>
                <a:lnTo>
                  <a:pt x="238505" y="19812"/>
                </a:lnTo>
                <a:lnTo>
                  <a:pt x="228600" y="19812"/>
                </a:lnTo>
                <a:lnTo>
                  <a:pt x="238505" y="9906"/>
                </a:lnTo>
                <a:lnTo>
                  <a:pt x="924305" y="9906"/>
                </a:lnTo>
                <a:lnTo>
                  <a:pt x="924305" y="4445"/>
                </a:lnTo>
                <a:lnTo>
                  <a:pt x="919861" y="0"/>
                </a:lnTo>
                <a:close/>
              </a:path>
              <a:path w="952500" h="1803400">
                <a:moveTo>
                  <a:pt x="238505" y="1783080"/>
                </a:moveTo>
                <a:lnTo>
                  <a:pt x="228600" y="1783080"/>
                </a:lnTo>
                <a:lnTo>
                  <a:pt x="218693" y="1792986"/>
                </a:lnTo>
                <a:lnTo>
                  <a:pt x="238505" y="1792986"/>
                </a:lnTo>
                <a:lnTo>
                  <a:pt x="238505" y="1783080"/>
                </a:lnTo>
                <a:close/>
              </a:path>
              <a:path w="952500" h="1803400">
                <a:moveTo>
                  <a:pt x="904493" y="131825"/>
                </a:moveTo>
                <a:lnTo>
                  <a:pt x="876300" y="131825"/>
                </a:lnTo>
                <a:lnTo>
                  <a:pt x="914400" y="208025"/>
                </a:lnTo>
                <a:lnTo>
                  <a:pt x="946150" y="144525"/>
                </a:lnTo>
                <a:lnTo>
                  <a:pt x="904493" y="144525"/>
                </a:lnTo>
                <a:lnTo>
                  <a:pt x="904493" y="131825"/>
                </a:lnTo>
                <a:close/>
              </a:path>
              <a:path w="952500" h="1803400">
                <a:moveTo>
                  <a:pt x="904493" y="9906"/>
                </a:moveTo>
                <a:lnTo>
                  <a:pt x="904493" y="144525"/>
                </a:lnTo>
                <a:lnTo>
                  <a:pt x="924305" y="144525"/>
                </a:lnTo>
                <a:lnTo>
                  <a:pt x="924305" y="19812"/>
                </a:lnTo>
                <a:lnTo>
                  <a:pt x="914400" y="19812"/>
                </a:lnTo>
                <a:lnTo>
                  <a:pt x="904493" y="9906"/>
                </a:lnTo>
                <a:close/>
              </a:path>
              <a:path w="952500" h="1803400">
                <a:moveTo>
                  <a:pt x="952500" y="131825"/>
                </a:moveTo>
                <a:lnTo>
                  <a:pt x="924305" y="131825"/>
                </a:lnTo>
                <a:lnTo>
                  <a:pt x="924305" y="144525"/>
                </a:lnTo>
                <a:lnTo>
                  <a:pt x="946150" y="144525"/>
                </a:lnTo>
                <a:lnTo>
                  <a:pt x="952500" y="131825"/>
                </a:lnTo>
                <a:close/>
              </a:path>
              <a:path w="952500" h="1803400">
                <a:moveTo>
                  <a:pt x="238505" y="9906"/>
                </a:moveTo>
                <a:lnTo>
                  <a:pt x="228600" y="19812"/>
                </a:lnTo>
                <a:lnTo>
                  <a:pt x="238505" y="19812"/>
                </a:lnTo>
                <a:lnTo>
                  <a:pt x="238505" y="9906"/>
                </a:lnTo>
                <a:close/>
              </a:path>
              <a:path w="952500" h="1803400">
                <a:moveTo>
                  <a:pt x="904493" y="9906"/>
                </a:moveTo>
                <a:lnTo>
                  <a:pt x="238505" y="9906"/>
                </a:lnTo>
                <a:lnTo>
                  <a:pt x="238505" y="19812"/>
                </a:lnTo>
                <a:lnTo>
                  <a:pt x="904493" y="19812"/>
                </a:lnTo>
                <a:lnTo>
                  <a:pt x="904493" y="9906"/>
                </a:lnTo>
                <a:close/>
              </a:path>
              <a:path w="952500" h="1803400">
                <a:moveTo>
                  <a:pt x="924305" y="9906"/>
                </a:moveTo>
                <a:lnTo>
                  <a:pt x="904493" y="9906"/>
                </a:lnTo>
                <a:lnTo>
                  <a:pt x="914400" y="19812"/>
                </a:lnTo>
                <a:lnTo>
                  <a:pt x="924305" y="19812"/>
                </a:lnTo>
                <a:lnTo>
                  <a:pt x="924305" y="99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981961" y="2858261"/>
            <a:ext cx="76200" cy="396240"/>
          </a:xfrm>
          <a:custGeom>
            <a:avLst/>
            <a:gdLst/>
            <a:ahLst/>
            <a:cxnLst/>
            <a:rect l="l" t="t" r="r" b="b"/>
            <a:pathLst>
              <a:path w="76200" h="396239">
                <a:moveTo>
                  <a:pt x="28193" y="320039"/>
                </a:moveTo>
                <a:lnTo>
                  <a:pt x="0" y="320039"/>
                </a:lnTo>
                <a:lnTo>
                  <a:pt x="38100" y="396239"/>
                </a:lnTo>
                <a:lnTo>
                  <a:pt x="69850" y="332739"/>
                </a:lnTo>
                <a:lnTo>
                  <a:pt x="28193" y="332739"/>
                </a:lnTo>
                <a:lnTo>
                  <a:pt x="28193" y="320039"/>
                </a:lnTo>
                <a:close/>
              </a:path>
              <a:path w="76200" h="396239">
                <a:moveTo>
                  <a:pt x="48006" y="0"/>
                </a:moveTo>
                <a:lnTo>
                  <a:pt x="28193" y="0"/>
                </a:lnTo>
                <a:lnTo>
                  <a:pt x="28193" y="332739"/>
                </a:lnTo>
                <a:lnTo>
                  <a:pt x="48006" y="332739"/>
                </a:lnTo>
                <a:lnTo>
                  <a:pt x="48006" y="0"/>
                </a:lnTo>
                <a:close/>
              </a:path>
              <a:path w="76200" h="396239">
                <a:moveTo>
                  <a:pt x="76200" y="320039"/>
                </a:moveTo>
                <a:lnTo>
                  <a:pt x="48006" y="320039"/>
                </a:lnTo>
                <a:lnTo>
                  <a:pt x="48006" y="332739"/>
                </a:lnTo>
                <a:lnTo>
                  <a:pt x="69850" y="332739"/>
                </a:lnTo>
                <a:lnTo>
                  <a:pt x="76200" y="3200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677661" y="5197602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381000" y="0"/>
                </a:moveTo>
                <a:lnTo>
                  <a:pt x="381000" y="76200"/>
                </a:lnTo>
                <a:lnTo>
                  <a:pt x="437388" y="48006"/>
                </a:lnTo>
                <a:lnTo>
                  <a:pt x="393700" y="48006"/>
                </a:lnTo>
                <a:lnTo>
                  <a:pt x="393700" y="28193"/>
                </a:lnTo>
                <a:lnTo>
                  <a:pt x="437388" y="28193"/>
                </a:lnTo>
                <a:lnTo>
                  <a:pt x="381000" y="0"/>
                </a:lnTo>
                <a:close/>
              </a:path>
              <a:path w="457200" h="76200">
                <a:moveTo>
                  <a:pt x="381000" y="28193"/>
                </a:moveTo>
                <a:lnTo>
                  <a:pt x="0" y="28193"/>
                </a:lnTo>
                <a:lnTo>
                  <a:pt x="0" y="48006"/>
                </a:lnTo>
                <a:lnTo>
                  <a:pt x="381000" y="48006"/>
                </a:lnTo>
                <a:lnTo>
                  <a:pt x="381000" y="28193"/>
                </a:lnTo>
                <a:close/>
              </a:path>
              <a:path w="457200" h="76200">
                <a:moveTo>
                  <a:pt x="437388" y="28193"/>
                </a:moveTo>
                <a:lnTo>
                  <a:pt x="393700" y="28193"/>
                </a:lnTo>
                <a:lnTo>
                  <a:pt x="393700" y="48006"/>
                </a:lnTo>
                <a:lnTo>
                  <a:pt x="437388" y="48006"/>
                </a:lnTo>
                <a:lnTo>
                  <a:pt x="457200" y="38100"/>
                </a:lnTo>
                <a:lnTo>
                  <a:pt x="437388" y="281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981961" y="3551682"/>
            <a:ext cx="76200" cy="396240"/>
          </a:xfrm>
          <a:custGeom>
            <a:avLst/>
            <a:gdLst/>
            <a:ahLst/>
            <a:cxnLst/>
            <a:rect l="l" t="t" r="r" b="b"/>
            <a:pathLst>
              <a:path w="76200" h="396239">
                <a:moveTo>
                  <a:pt x="28193" y="320039"/>
                </a:moveTo>
                <a:lnTo>
                  <a:pt x="0" y="320039"/>
                </a:lnTo>
                <a:lnTo>
                  <a:pt x="38100" y="396239"/>
                </a:lnTo>
                <a:lnTo>
                  <a:pt x="69850" y="332739"/>
                </a:lnTo>
                <a:lnTo>
                  <a:pt x="28193" y="332739"/>
                </a:lnTo>
                <a:lnTo>
                  <a:pt x="28193" y="320039"/>
                </a:lnTo>
                <a:close/>
              </a:path>
              <a:path w="76200" h="396239">
                <a:moveTo>
                  <a:pt x="48006" y="63499"/>
                </a:moveTo>
                <a:lnTo>
                  <a:pt x="28193" y="63499"/>
                </a:lnTo>
                <a:lnTo>
                  <a:pt x="28193" y="332739"/>
                </a:lnTo>
                <a:lnTo>
                  <a:pt x="48006" y="332739"/>
                </a:lnTo>
                <a:lnTo>
                  <a:pt x="48006" y="63499"/>
                </a:lnTo>
                <a:close/>
              </a:path>
              <a:path w="76200" h="396239">
                <a:moveTo>
                  <a:pt x="76200" y="320039"/>
                </a:moveTo>
                <a:lnTo>
                  <a:pt x="48006" y="320039"/>
                </a:lnTo>
                <a:lnTo>
                  <a:pt x="48006" y="332739"/>
                </a:lnTo>
                <a:lnTo>
                  <a:pt x="69850" y="332739"/>
                </a:lnTo>
                <a:lnTo>
                  <a:pt x="76200" y="320039"/>
                </a:lnTo>
                <a:close/>
              </a:path>
              <a:path w="76200" h="396239">
                <a:moveTo>
                  <a:pt x="38100" y="0"/>
                </a:moveTo>
                <a:lnTo>
                  <a:pt x="0" y="76199"/>
                </a:lnTo>
                <a:lnTo>
                  <a:pt x="28193" y="76199"/>
                </a:lnTo>
                <a:lnTo>
                  <a:pt x="28193" y="63499"/>
                </a:lnTo>
                <a:lnTo>
                  <a:pt x="69850" y="63499"/>
                </a:lnTo>
                <a:lnTo>
                  <a:pt x="38100" y="0"/>
                </a:lnTo>
                <a:close/>
              </a:path>
              <a:path w="76200" h="396239">
                <a:moveTo>
                  <a:pt x="69850" y="63499"/>
                </a:moveTo>
                <a:lnTo>
                  <a:pt x="48006" y="63499"/>
                </a:lnTo>
                <a:lnTo>
                  <a:pt x="48006" y="76199"/>
                </a:lnTo>
                <a:lnTo>
                  <a:pt x="76200" y="76199"/>
                </a:lnTo>
                <a:lnTo>
                  <a:pt x="69850" y="6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791200" y="2958845"/>
            <a:ext cx="1028700" cy="0"/>
          </a:xfrm>
          <a:custGeom>
            <a:avLst/>
            <a:gdLst/>
            <a:ahLst/>
            <a:cxnLst/>
            <a:rect l="l" t="t" r="r" b="b"/>
            <a:pathLst>
              <a:path w="1028700">
                <a:moveTo>
                  <a:pt x="0" y="0"/>
                </a:moveTo>
                <a:lnTo>
                  <a:pt x="1028700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791200" y="2659379"/>
            <a:ext cx="1484630" cy="297180"/>
          </a:xfrm>
          <a:custGeom>
            <a:avLst/>
            <a:gdLst/>
            <a:ahLst/>
            <a:cxnLst/>
            <a:rect l="l" t="t" r="r" b="b"/>
            <a:pathLst>
              <a:path w="1484629" h="297180">
                <a:moveTo>
                  <a:pt x="1028700" y="0"/>
                </a:moveTo>
                <a:lnTo>
                  <a:pt x="1484026" y="0"/>
                </a:lnTo>
                <a:lnTo>
                  <a:pt x="0" y="0"/>
                </a:lnTo>
                <a:lnTo>
                  <a:pt x="0" y="29718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822185" y="2659379"/>
            <a:ext cx="0" cy="297180"/>
          </a:xfrm>
          <a:custGeom>
            <a:avLst/>
            <a:gdLst/>
            <a:ahLst/>
            <a:cxnLst/>
            <a:rect l="l" t="t" r="r" b="b"/>
            <a:pathLst>
              <a:path h="297180">
                <a:moveTo>
                  <a:pt x="0" y="0"/>
                </a:moveTo>
                <a:lnTo>
                  <a:pt x="0" y="29718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791200" y="2659379"/>
            <a:ext cx="1028700" cy="297180"/>
          </a:xfrm>
          <a:custGeom>
            <a:avLst/>
            <a:gdLst/>
            <a:ahLst/>
            <a:cxnLst/>
            <a:rect l="l" t="t" r="r" b="b"/>
            <a:pathLst>
              <a:path w="1028700" h="297180">
                <a:moveTo>
                  <a:pt x="0" y="297179"/>
                </a:moveTo>
                <a:lnTo>
                  <a:pt x="1028700" y="297179"/>
                </a:lnTo>
                <a:lnTo>
                  <a:pt x="1028700" y="0"/>
                </a:lnTo>
                <a:lnTo>
                  <a:pt x="0" y="0"/>
                </a:lnTo>
                <a:lnTo>
                  <a:pt x="0" y="297179"/>
                </a:ln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791200" y="2659379"/>
            <a:ext cx="1028700" cy="297180"/>
          </a:xfrm>
          <a:custGeom>
            <a:avLst/>
            <a:gdLst/>
            <a:ahLst/>
            <a:cxnLst/>
            <a:rect l="l" t="t" r="r" b="b"/>
            <a:pathLst>
              <a:path w="1028700" h="297180">
                <a:moveTo>
                  <a:pt x="0" y="297179"/>
                </a:moveTo>
                <a:lnTo>
                  <a:pt x="1028700" y="297179"/>
                </a:lnTo>
                <a:lnTo>
                  <a:pt x="1028700" y="0"/>
                </a:lnTo>
                <a:lnTo>
                  <a:pt x="0" y="0"/>
                </a:lnTo>
                <a:lnTo>
                  <a:pt x="0" y="29717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211061" y="2957322"/>
            <a:ext cx="76200" cy="297180"/>
          </a:xfrm>
          <a:custGeom>
            <a:avLst/>
            <a:gdLst/>
            <a:ahLst/>
            <a:cxnLst/>
            <a:rect l="l" t="t" r="r" b="b"/>
            <a:pathLst>
              <a:path w="76200" h="297179">
                <a:moveTo>
                  <a:pt x="28193" y="220979"/>
                </a:moveTo>
                <a:lnTo>
                  <a:pt x="0" y="220979"/>
                </a:lnTo>
                <a:lnTo>
                  <a:pt x="38100" y="297179"/>
                </a:lnTo>
                <a:lnTo>
                  <a:pt x="69850" y="233679"/>
                </a:lnTo>
                <a:lnTo>
                  <a:pt x="28193" y="233679"/>
                </a:lnTo>
                <a:lnTo>
                  <a:pt x="28193" y="220979"/>
                </a:lnTo>
                <a:close/>
              </a:path>
              <a:path w="76200" h="297179">
                <a:moveTo>
                  <a:pt x="48005" y="0"/>
                </a:moveTo>
                <a:lnTo>
                  <a:pt x="28193" y="0"/>
                </a:lnTo>
                <a:lnTo>
                  <a:pt x="28193" y="233679"/>
                </a:lnTo>
                <a:lnTo>
                  <a:pt x="48005" y="233679"/>
                </a:lnTo>
                <a:lnTo>
                  <a:pt x="48005" y="0"/>
                </a:lnTo>
                <a:close/>
              </a:path>
              <a:path w="76200" h="297179">
                <a:moveTo>
                  <a:pt x="76200" y="220979"/>
                </a:moveTo>
                <a:lnTo>
                  <a:pt x="48005" y="220979"/>
                </a:lnTo>
                <a:lnTo>
                  <a:pt x="48005" y="233679"/>
                </a:lnTo>
                <a:lnTo>
                  <a:pt x="69850" y="233679"/>
                </a:lnTo>
                <a:lnTo>
                  <a:pt x="76200" y="220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447800" y="2859785"/>
            <a:ext cx="1028700" cy="0"/>
          </a:xfrm>
          <a:custGeom>
            <a:avLst/>
            <a:gdLst/>
            <a:ahLst/>
            <a:cxnLst/>
            <a:rect l="l" t="t" r="r" b="b"/>
            <a:pathLst>
              <a:path w="1028700">
                <a:moveTo>
                  <a:pt x="0" y="0"/>
                </a:moveTo>
                <a:lnTo>
                  <a:pt x="1028700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447800" y="2560320"/>
            <a:ext cx="1028700" cy="297180"/>
          </a:xfrm>
          <a:custGeom>
            <a:avLst/>
            <a:gdLst/>
            <a:ahLst/>
            <a:cxnLst/>
            <a:rect l="l" t="t" r="r" b="b"/>
            <a:pathLst>
              <a:path w="1028700" h="297180">
                <a:moveTo>
                  <a:pt x="1028700" y="0"/>
                </a:moveTo>
                <a:lnTo>
                  <a:pt x="0" y="0"/>
                </a:lnTo>
                <a:lnTo>
                  <a:pt x="0" y="297179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2478785" y="2560320"/>
            <a:ext cx="0" cy="297180"/>
          </a:xfrm>
          <a:custGeom>
            <a:avLst/>
            <a:gdLst/>
            <a:ahLst/>
            <a:cxnLst/>
            <a:rect l="l" t="t" r="r" b="b"/>
            <a:pathLst>
              <a:path h="297180">
                <a:moveTo>
                  <a:pt x="0" y="0"/>
                </a:moveTo>
                <a:lnTo>
                  <a:pt x="0" y="297179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447800" y="2560320"/>
            <a:ext cx="1028700" cy="297180"/>
          </a:xfrm>
          <a:custGeom>
            <a:avLst/>
            <a:gdLst/>
            <a:ahLst/>
            <a:cxnLst/>
            <a:rect l="l" t="t" r="r" b="b"/>
            <a:pathLst>
              <a:path w="1028700" h="297180">
                <a:moveTo>
                  <a:pt x="0" y="297179"/>
                </a:moveTo>
                <a:lnTo>
                  <a:pt x="1028700" y="297179"/>
                </a:lnTo>
                <a:lnTo>
                  <a:pt x="1028700" y="0"/>
                </a:lnTo>
                <a:lnTo>
                  <a:pt x="0" y="0"/>
                </a:lnTo>
                <a:lnTo>
                  <a:pt x="0" y="297179"/>
                </a:ln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447800" y="2560320"/>
            <a:ext cx="1028700" cy="297180"/>
          </a:xfrm>
          <a:custGeom>
            <a:avLst/>
            <a:gdLst/>
            <a:ahLst/>
            <a:cxnLst/>
            <a:rect l="l" t="t" r="r" b="b"/>
            <a:pathLst>
              <a:path w="1028700" h="297180">
                <a:moveTo>
                  <a:pt x="0" y="297179"/>
                </a:moveTo>
                <a:lnTo>
                  <a:pt x="1028700" y="297179"/>
                </a:lnTo>
                <a:lnTo>
                  <a:pt x="1028700" y="0"/>
                </a:lnTo>
                <a:lnTo>
                  <a:pt x="0" y="0"/>
                </a:lnTo>
                <a:lnTo>
                  <a:pt x="0" y="29717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1618741" y="2625312"/>
            <a:ext cx="5702300" cy="3829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30"/>
              </a:lnSpc>
            </a:pPr>
            <a:r>
              <a:rPr sz="1200" dirty="0">
                <a:latin typeface="宋体"/>
                <a:cs typeface="宋体"/>
              </a:rPr>
              <a:t>项目规划</a:t>
            </a:r>
            <a:endParaRPr sz="1200">
              <a:latin typeface="宋体"/>
              <a:cs typeface="宋体"/>
            </a:endParaRPr>
          </a:p>
          <a:p>
            <a:pPr marR="210185" algn="ctr">
              <a:lnSpc>
                <a:spcPts val="1380"/>
              </a:lnSpc>
              <a:tabLst>
                <a:tab pos="3889375" algn="l"/>
              </a:tabLst>
            </a:pPr>
            <a:r>
              <a:rPr sz="1000" spc="-10" dirty="0">
                <a:latin typeface="宋体"/>
                <a:cs typeface="宋体"/>
              </a:rPr>
              <a:t>．银行业务需</a:t>
            </a:r>
            <a:r>
              <a:rPr sz="1000" spc="-5" dirty="0">
                <a:latin typeface="宋体"/>
                <a:cs typeface="宋体"/>
              </a:rPr>
              <a:t>求	</a:t>
            </a:r>
            <a:r>
              <a:rPr sz="1800" baseline="27777" dirty="0">
                <a:latin typeface="宋体"/>
                <a:cs typeface="宋体"/>
              </a:rPr>
              <a:t>项目规划</a:t>
            </a:r>
            <a:endParaRPr sz="1800" baseline="27777">
              <a:latin typeface="宋体"/>
              <a:cs typeface="宋体"/>
            </a:endParaRPr>
          </a:p>
          <a:p>
            <a:pPr marL="492125">
              <a:lnSpc>
                <a:spcPts val="1180"/>
              </a:lnSpc>
            </a:pPr>
            <a:r>
              <a:rPr sz="1000" spc="-5" dirty="0">
                <a:latin typeface="宋体"/>
                <a:cs typeface="宋体"/>
              </a:rPr>
              <a:t>．原形系统源代码</a:t>
            </a:r>
            <a:endParaRPr sz="1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00">
              <a:latin typeface="Times New Roman"/>
              <a:cs typeface="Times New Roman"/>
            </a:endParaRPr>
          </a:p>
          <a:p>
            <a:pPr marR="220979" algn="ctr">
              <a:lnSpc>
                <a:spcPct val="100000"/>
              </a:lnSpc>
              <a:spcBef>
                <a:spcPts val="5"/>
              </a:spcBef>
              <a:tabLst>
                <a:tab pos="2415540" algn="l"/>
                <a:tab pos="4473575" algn="l"/>
              </a:tabLst>
            </a:pPr>
            <a:r>
              <a:rPr sz="1800" baseline="16203" dirty="0">
                <a:latin typeface="宋体"/>
                <a:cs typeface="宋体"/>
              </a:rPr>
              <a:t>业务需求分析	</a:t>
            </a:r>
            <a:r>
              <a:rPr sz="1200" dirty="0">
                <a:latin typeface="宋体"/>
                <a:cs typeface="宋体"/>
              </a:rPr>
              <a:t>产品阶段</a:t>
            </a:r>
            <a:r>
              <a:rPr sz="1200" dirty="0">
                <a:latin typeface="Arial"/>
                <a:cs typeface="Arial"/>
              </a:rPr>
              <a:t>1</a:t>
            </a:r>
            <a:r>
              <a:rPr sz="1200" dirty="0">
                <a:latin typeface="宋体"/>
                <a:cs typeface="宋体"/>
              </a:rPr>
              <a:t>设计	产品阶段</a:t>
            </a:r>
            <a:r>
              <a:rPr sz="1200" dirty="0">
                <a:latin typeface="Arial"/>
                <a:cs typeface="Arial"/>
              </a:rPr>
              <a:t>n</a:t>
            </a:r>
            <a:r>
              <a:rPr sz="1200" dirty="0">
                <a:latin typeface="宋体"/>
                <a:cs typeface="宋体"/>
              </a:rPr>
              <a:t>设计</a:t>
            </a:r>
            <a:endParaRPr sz="1200">
              <a:latin typeface="宋体"/>
              <a:cs typeface="宋体"/>
            </a:endParaRPr>
          </a:p>
          <a:p>
            <a:pPr marL="3696335" indent="-3353435">
              <a:lnSpc>
                <a:spcPts val="4790"/>
              </a:lnSpc>
              <a:spcBef>
                <a:spcPts val="600"/>
              </a:spcBef>
              <a:tabLst>
                <a:tab pos="2644140" algn="l"/>
                <a:tab pos="4702175" algn="l"/>
              </a:tabLst>
            </a:pPr>
            <a:r>
              <a:rPr sz="1800" baseline="-18518" dirty="0">
                <a:latin typeface="宋体"/>
                <a:cs typeface="宋体"/>
              </a:rPr>
              <a:t>原形系统分析	</a:t>
            </a:r>
            <a:r>
              <a:rPr sz="1200" dirty="0">
                <a:latin typeface="宋体"/>
                <a:cs typeface="宋体"/>
              </a:rPr>
              <a:t>产品阶段</a:t>
            </a:r>
            <a:r>
              <a:rPr sz="1200" dirty="0">
                <a:latin typeface="Arial"/>
                <a:cs typeface="Arial"/>
              </a:rPr>
              <a:t>1</a:t>
            </a:r>
            <a:r>
              <a:rPr sz="1200" dirty="0">
                <a:latin typeface="宋体"/>
                <a:cs typeface="宋体"/>
              </a:rPr>
              <a:t>开发		产品阶段</a:t>
            </a:r>
            <a:r>
              <a:rPr sz="1200" dirty="0">
                <a:latin typeface="Arial"/>
                <a:cs typeface="Arial"/>
              </a:rPr>
              <a:t>n</a:t>
            </a:r>
            <a:r>
              <a:rPr sz="1200" dirty="0">
                <a:latin typeface="宋体"/>
                <a:cs typeface="宋体"/>
              </a:rPr>
              <a:t>开发 集成测试</a:t>
            </a:r>
            <a:endParaRPr sz="1200">
              <a:latin typeface="宋体"/>
              <a:cs typeface="宋体"/>
            </a:endParaRPr>
          </a:p>
          <a:p>
            <a:pPr marL="1066800">
              <a:lnSpc>
                <a:spcPts val="730"/>
              </a:lnSpc>
            </a:pPr>
            <a:r>
              <a:rPr sz="1200" dirty="0">
                <a:latin typeface="宋体"/>
                <a:cs typeface="宋体"/>
              </a:rPr>
              <a:t>项目规划</a:t>
            </a:r>
            <a:endParaRPr sz="1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50">
              <a:latin typeface="Times New Roman"/>
              <a:cs typeface="Times New Roman"/>
            </a:endParaRPr>
          </a:p>
          <a:p>
            <a:pPr marL="3239135">
              <a:lnSpc>
                <a:spcPct val="100000"/>
              </a:lnSpc>
              <a:spcBef>
                <a:spcPts val="5"/>
              </a:spcBef>
              <a:tabLst>
                <a:tab pos="4725035" algn="l"/>
              </a:tabLst>
            </a:pPr>
            <a:r>
              <a:rPr sz="1200" dirty="0">
                <a:latin typeface="宋体"/>
                <a:cs typeface="宋体"/>
              </a:rPr>
              <a:t>确认测试	产品提交</a:t>
            </a:r>
            <a:endParaRPr sz="12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R="968375" algn="ctr">
              <a:lnSpc>
                <a:spcPct val="100000"/>
              </a:lnSpc>
              <a:spcBef>
                <a:spcPts val="780"/>
              </a:spcBef>
            </a:pPr>
            <a:r>
              <a:rPr sz="1400" spc="-5" dirty="0">
                <a:latin typeface="Arial Narrow"/>
                <a:cs typeface="Arial Narrow"/>
              </a:rPr>
              <a:t>chapter__3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0" y="1551429"/>
            <a:ext cx="9143999" cy="53065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275589"/>
            <a:ext cx="39414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dirty="0">
                <a:latin typeface="华文隶书"/>
                <a:cs typeface="华文隶书"/>
              </a:rPr>
              <a:t>增量模型的优点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33494" y="6081471"/>
            <a:ext cx="756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27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01724" y="2001773"/>
            <a:ext cx="714375" cy="3375660"/>
          </a:xfrm>
          <a:custGeom>
            <a:avLst/>
            <a:gdLst/>
            <a:ahLst/>
            <a:cxnLst/>
            <a:rect l="l" t="t" r="r" b="b"/>
            <a:pathLst>
              <a:path w="714375" h="3375660">
                <a:moveTo>
                  <a:pt x="15239" y="0"/>
                </a:moveTo>
                <a:lnTo>
                  <a:pt x="48909" y="34364"/>
                </a:lnTo>
                <a:lnTo>
                  <a:pt x="81748" y="69233"/>
                </a:lnTo>
                <a:lnTo>
                  <a:pt x="113755" y="104593"/>
                </a:lnTo>
                <a:lnTo>
                  <a:pt x="144931" y="140432"/>
                </a:lnTo>
                <a:lnTo>
                  <a:pt x="175275" y="176736"/>
                </a:lnTo>
                <a:lnTo>
                  <a:pt x="204788" y="213494"/>
                </a:lnTo>
                <a:lnTo>
                  <a:pt x="233470" y="250693"/>
                </a:lnTo>
                <a:lnTo>
                  <a:pt x="261321" y="288321"/>
                </a:lnTo>
                <a:lnTo>
                  <a:pt x="288340" y="326363"/>
                </a:lnTo>
                <a:lnTo>
                  <a:pt x="314527" y="364809"/>
                </a:lnTo>
                <a:lnTo>
                  <a:pt x="339884" y="403646"/>
                </a:lnTo>
                <a:lnTo>
                  <a:pt x="364409" y="442860"/>
                </a:lnTo>
                <a:lnTo>
                  <a:pt x="388102" y="482439"/>
                </a:lnTo>
                <a:lnTo>
                  <a:pt x="410965" y="522372"/>
                </a:lnTo>
                <a:lnTo>
                  <a:pt x="432995" y="562644"/>
                </a:lnTo>
                <a:lnTo>
                  <a:pt x="454195" y="603244"/>
                </a:lnTo>
                <a:lnTo>
                  <a:pt x="474563" y="644158"/>
                </a:lnTo>
                <a:lnTo>
                  <a:pt x="494100" y="685375"/>
                </a:lnTo>
                <a:lnTo>
                  <a:pt x="512806" y="726882"/>
                </a:lnTo>
                <a:lnTo>
                  <a:pt x="530680" y="768666"/>
                </a:lnTo>
                <a:lnTo>
                  <a:pt x="547722" y="810714"/>
                </a:lnTo>
                <a:lnTo>
                  <a:pt x="563934" y="853014"/>
                </a:lnTo>
                <a:lnTo>
                  <a:pt x="579314" y="895554"/>
                </a:lnTo>
                <a:lnTo>
                  <a:pt x="593863" y="938320"/>
                </a:lnTo>
                <a:lnTo>
                  <a:pt x="607580" y="981300"/>
                </a:lnTo>
                <a:lnTo>
                  <a:pt x="620466" y="1024482"/>
                </a:lnTo>
                <a:lnTo>
                  <a:pt x="632521" y="1067853"/>
                </a:lnTo>
                <a:lnTo>
                  <a:pt x="643744" y="1111400"/>
                </a:lnTo>
                <a:lnTo>
                  <a:pt x="654136" y="1155111"/>
                </a:lnTo>
                <a:lnTo>
                  <a:pt x="663697" y="1198973"/>
                </a:lnTo>
                <a:lnTo>
                  <a:pt x="672426" y="1242974"/>
                </a:lnTo>
                <a:lnTo>
                  <a:pt x="680324" y="1287101"/>
                </a:lnTo>
                <a:lnTo>
                  <a:pt x="687390" y="1331340"/>
                </a:lnTo>
                <a:lnTo>
                  <a:pt x="693625" y="1375681"/>
                </a:lnTo>
                <a:lnTo>
                  <a:pt x="699029" y="1420110"/>
                </a:lnTo>
                <a:lnTo>
                  <a:pt x="703602" y="1464615"/>
                </a:lnTo>
                <a:lnTo>
                  <a:pt x="707343" y="1509182"/>
                </a:lnTo>
                <a:lnTo>
                  <a:pt x="710252" y="1553800"/>
                </a:lnTo>
                <a:lnTo>
                  <a:pt x="712331" y="1598455"/>
                </a:lnTo>
                <a:lnTo>
                  <a:pt x="713578" y="1643136"/>
                </a:lnTo>
                <a:lnTo>
                  <a:pt x="713994" y="1687829"/>
                </a:lnTo>
                <a:lnTo>
                  <a:pt x="713578" y="1732523"/>
                </a:lnTo>
                <a:lnTo>
                  <a:pt x="712331" y="1777204"/>
                </a:lnTo>
                <a:lnTo>
                  <a:pt x="710252" y="1821859"/>
                </a:lnTo>
                <a:lnTo>
                  <a:pt x="707343" y="1866477"/>
                </a:lnTo>
                <a:lnTo>
                  <a:pt x="703602" y="1911044"/>
                </a:lnTo>
                <a:lnTo>
                  <a:pt x="699029" y="1955549"/>
                </a:lnTo>
                <a:lnTo>
                  <a:pt x="693625" y="1999978"/>
                </a:lnTo>
                <a:lnTo>
                  <a:pt x="687390" y="2044319"/>
                </a:lnTo>
                <a:lnTo>
                  <a:pt x="680324" y="2088558"/>
                </a:lnTo>
                <a:lnTo>
                  <a:pt x="672426" y="2132685"/>
                </a:lnTo>
                <a:lnTo>
                  <a:pt x="663697" y="2176686"/>
                </a:lnTo>
                <a:lnTo>
                  <a:pt x="654136" y="2220548"/>
                </a:lnTo>
                <a:lnTo>
                  <a:pt x="643744" y="2264259"/>
                </a:lnTo>
                <a:lnTo>
                  <a:pt x="632521" y="2307806"/>
                </a:lnTo>
                <a:lnTo>
                  <a:pt x="620466" y="2351177"/>
                </a:lnTo>
                <a:lnTo>
                  <a:pt x="607580" y="2394359"/>
                </a:lnTo>
                <a:lnTo>
                  <a:pt x="593863" y="2437339"/>
                </a:lnTo>
                <a:lnTo>
                  <a:pt x="579314" y="2480105"/>
                </a:lnTo>
                <a:lnTo>
                  <a:pt x="563934" y="2522645"/>
                </a:lnTo>
                <a:lnTo>
                  <a:pt x="547722" y="2564945"/>
                </a:lnTo>
                <a:lnTo>
                  <a:pt x="530680" y="2606993"/>
                </a:lnTo>
                <a:lnTo>
                  <a:pt x="512806" y="2648777"/>
                </a:lnTo>
                <a:lnTo>
                  <a:pt x="494100" y="2690284"/>
                </a:lnTo>
                <a:lnTo>
                  <a:pt x="474563" y="2731501"/>
                </a:lnTo>
                <a:lnTo>
                  <a:pt x="454195" y="2772415"/>
                </a:lnTo>
                <a:lnTo>
                  <a:pt x="432995" y="2813015"/>
                </a:lnTo>
                <a:lnTo>
                  <a:pt x="410965" y="2853287"/>
                </a:lnTo>
                <a:lnTo>
                  <a:pt x="388102" y="2893220"/>
                </a:lnTo>
                <a:lnTo>
                  <a:pt x="364409" y="2932799"/>
                </a:lnTo>
                <a:lnTo>
                  <a:pt x="339884" y="2972013"/>
                </a:lnTo>
                <a:lnTo>
                  <a:pt x="314527" y="3010850"/>
                </a:lnTo>
                <a:lnTo>
                  <a:pt x="288340" y="3049296"/>
                </a:lnTo>
                <a:lnTo>
                  <a:pt x="261321" y="3087338"/>
                </a:lnTo>
                <a:lnTo>
                  <a:pt x="233470" y="3124966"/>
                </a:lnTo>
                <a:lnTo>
                  <a:pt x="204788" y="3162165"/>
                </a:lnTo>
                <a:lnTo>
                  <a:pt x="175275" y="3198923"/>
                </a:lnTo>
                <a:lnTo>
                  <a:pt x="144931" y="3235227"/>
                </a:lnTo>
                <a:lnTo>
                  <a:pt x="113755" y="3271066"/>
                </a:lnTo>
                <a:lnTo>
                  <a:pt x="81748" y="3306426"/>
                </a:lnTo>
                <a:lnTo>
                  <a:pt x="48909" y="3341295"/>
                </a:lnTo>
                <a:lnTo>
                  <a:pt x="15239" y="3375660"/>
                </a:lnTo>
                <a:lnTo>
                  <a:pt x="0" y="3360420"/>
                </a:lnTo>
                <a:lnTo>
                  <a:pt x="33773" y="3325945"/>
                </a:lnTo>
                <a:lnTo>
                  <a:pt x="66703" y="3290958"/>
                </a:lnTo>
                <a:lnTo>
                  <a:pt x="98788" y="3255472"/>
                </a:lnTo>
                <a:lnTo>
                  <a:pt x="130028" y="3219501"/>
                </a:lnTo>
                <a:lnTo>
                  <a:pt x="160425" y="3183057"/>
                </a:lnTo>
                <a:lnTo>
                  <a:pt x="189977" y="3146152"/>
                </a:lnTo>
                <a:lnTo>
                  <a:pt x="218685" y="3108801"/>
                </a:lnTo>
                <a:lnTo>
                  <a:pt x="246548" y="3071016"/>
                </a:lnTo>
                <a:lnTo>
                  <a:pt x="273567" y="3032810"/>
                </a:lnTo>
                <a:lnTo>
                  <a:pt x="299742" y="2994195"/>
                </a:lnTo>
                <a:lnTo>
                  <a:pt x="325072" y="2955186"/>
                </a:lnTo>
                <a:lnTo>
                  <a:pt x="349558" y="2915794"/>
                </a:lnTo>
                <a:lnTo>
                  <a:pt x="373199" y="2876033"/>
                </a:lnTo>
                <a:lnTo>
                  <a:pt x="395997" y="2835915"/>
                </a:lnTo>
                <a:lnTo>
                  <a:pt x="417950" y="2795455"/>
                </a:lnTo>
                <a:lnTo>
                  <a:pt x="439058" y="2754664"/>
                </a:lnTo>
                <a:lnTo>
                  <a:pt x="459323" y="2713555"/>
                </a:lnTo>
                <a:lnTo>
                  <a:pt x="478742" y="2672142"/>
                </a:lnTo>
                <a:lnTo>
                  <a:pt x="497318" y="2630438"/>
                </a:lnTo>
                <a:lnTo>
                  <a:pt x="515049" y="2588455"/>
                </a:lnTo>
                <a:lnTo>
                  <a:pt x="531936" y="2546206"/>
                </a:lnTo>
                <a:lnTo>
                  <a:pt x="547979" y="2503705"/>
                </a:lnTo>
                <a:lnTo>
                  <a:pt x="563177" y="2460964"/>
                </a:lnTo>
                <a:lnTo>
                  <a:pt x="577531" y="2417996"/>
                </a:lnTo>
                <a:lnTo>
                  <a:pt x="591040" y="2374815"/>
                </a:lnTo>
                <a:lnTo>
                  <a:pt x="603705" y="2331432"/>
                </a:lnTo>
                <a:lnTo>
                  <a:pt x="615526" y="2287862"/>
                </a:lnTo>
                <a:lnTo>
                  <a:pt x="626503" y="2244117"/>
                </a:lnTo>
                <a:lnTo>
                  <a:pt x="636635" y="2200210"/>
                </a:lnTo>
                <a:lnTo>
                  <a:pt x="645923" y="2156154"/>
                </a:lnTo>
                <a:lnTo>
                  <a:pt x="654366" y="2111962"/>
                </a:lnTo>
                <a:lnTo>
                  <a:pt x="661965" y="2067647"/>
                </a:lnTo>
                <a:lnTo>
                  <a:pt x="668720" y="2023222"/>
                </a:lnTo>
                <a:lnTo>
                  <a:pt x="674630" y="1978699"/>
                </a:lnTo>
                <a:lnTo>
                  <a:pt x="679696" y="1934092"/>
                </a:lnTo>
                <a:lnTo>
                  <a:pt x="683918" y="1889415"/>
                </a:lnTo>
                <a:lnTo>
                  <a:pt x="687295" y="1844678"/>
                </a:lnTo>
                <a:lnTo>
                  <a:pt x="689828" y="1799897"/>
                </a:lnTo>
                <a:lnTo>
                  <a:pt x="691517" y="1755083"/>
                </a:lnTo>
                <a:lnTo>
                  <a:pt x="692361" y="1710249"/>
                </a:lnTo>
                <a:lnTo>
                  <a:pt x="692361" y="1665410"/>
                </a:lnTo>
                <a:lnTo>
                  <a:pt x="691517" y="1620576"/>
                </a:lnTo>
                <a:lnTo>
                  <a:pt x="689828" y="1575762"/>
                </a:lnTo>
                <a:lnTo>
                  <a:pt x="687295" y="1530981"/>
                </a:lnTo>
                <a:lnTo>
                  <a:pt x="683918" y="1486244"/>
                </a:lnTo>
                <a:lnTo>
                  <a:pt x="679696" y="1441567"/>
                </a:lnTo>
                <a:lnTo>
                  <a:pt x="674630" y="1396960"/>
                </a:lnTo>
                <a:lnTo>
                  <a:pt x="668720" y="1352437"/>
                </a:lnTo>
                <a:lnTo>
                  <a:pt x="661965" y="1308012"/>
                </a:lnTo>
                <a:lnTo>
                  <a:pt x="654366" y="1263697"/>
                </a:lnTo>
                <a:lnTo>
                  <a:pt x="645923" y="1219505"/>
                </a:lnTo>
                <a:lnTo>
                  <a:pt x="636635" y="1175449"/>
                </a:lnTo>
                <a:lnTo>
                  <a:pt x="626503" y="1131542"/>
                </a:lnTo>
                <a:lnTo>
                  <a:pt x="615526" y="1087797"/>
                </a:lnTo>
                <a:lnTo>
                  <a:pt x="603705" y="1044227"/>
                </a:lnTo>
                <a:lnTo>
                  <a:pt x="591040" y="1000844"/>
                </a:lnTo>
                <a:lnTo>
                  <a:pt x="577531" y="957663"/>
                </a:lnTo>
                <a:lnTo>
                  <a:pt x="563177" y="914695"/>
                </a:lnTo>
                <a:lnTo>
                  <a:pt x="547979" y="871954"/>
                </a:lnTo>
                <a:lnTo>
                  <a:pt x="531936" y="829453"/>
                </a:lnTo>
                <a:lnTo>
                  <a:pt x="515049" y="787204"/>
                </a:lnTo>
                <a:lnTo>
                  <a:pt x="497318" y="745221"/>
                </a:lnTo>
                <a:lnTo>
                  <a:pt x="478742" y="703517"/>
                </a:lnTo>
                <a:lnTo>
                  <a:pt x="459323" y="662104"/>
                </a:lnTo>
                <a:lnTo>
                  <a:pt x="439058" y="620995"/>
                </a:lnTo>
                <a:lnTo>
                  <a:pt x="417950" y="580204"/>
                </a:lnTo>
                <a:lnTo>
                  <a:pt x="395997" y="539744"/>
                </a:lnTo>
                <a:lnTo>
                  <a:pt x="373199" y="499626"/>
                </a:lnTo>
                <a:lnTo>
                  <a:pt x="349558" y="459865"/>
                </a:lnTo>
                <a:lnTo>
                  <a:pt x="325072" y="420473"/>
                </a:lnTo>
                <a:lnTo>
                  <a:pt x="299742" y="381464"/>
                </a:lnTo>
                <a:lnTo>
                  <a:pt x="273567" y="342849"/>
                </a:lnTo>
                <a:lnTo>
                  <a:pt x="246548" y="304643"/>
                </a:lnTo>
                <a:lnTo>
                  <a:pt x="218685" y="266858"/>
                </a:lnTo>
                <a:lnTo>
                  <a:pt x="189977" y="229507"/>
                </a:lnTo>
                <a:lnTo>
                  <a:pt x="160425" y="192602"/>
                </a:lnTo>
                <a:lnTo>
                  <a:pt x="130028" y="156158"/>
                </a:lnTo>
                <a:lnTo>
                  <a:pt x="98788" y="120187"/>
                </a:lnTo>
                <a:lnTo>
                  <a:pt x="66703" y="84701"/>
                </a:lnTo>
                <a:lnTo>
                  <a:pt x="33773" y="49714"/>
                </a:lnTo>
                <a:lnTo>
                  <a:pt x="0" y="15239"/>
                </a:lnTo>
                <a:lnTo>
                  <a:pt x="15239" y="0"/>
                </a:lnTo>
                <a:close/>
              </a:path>
            </a:pathLst>
          </a:custGeom>
          <a:ln w="19812">
            <a:solidFill>
              <a:srgbClr val="95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51482" y="2190750"/>
            <a:ext cx="5694045" cy="544195"/>
          </a:xfrm>
          <a:custGeom>
            <a:avLst/>
            <a:gdLst/>
            <a:ahLst/>
            <a:cxnLst/>
            <a:rect l="l" t="t" r="r" b="b"/>
            <a:pathLst>
              <a:path w="5694045" h="544194">
                <a:moveTo>
                  <a:pt x="0" y="544067"/>
                </a:moveTo>
                <a:lnTo>
                  <a:pt x="5693664" y="544067"/>
                </a:lnTo>
                <a:lnTo>
                  <a:pt x="5693664" y="0"/>
                </a:lnTo>
                <a:lnTo>
                  <a:pt x="0" y="0"/>
                </a:lnTo>
                <a:lnTo>
                  <a:pt x="0" y="544067"/>
                </a:lnTo>
                <a:close/>
              </a:path>
            </a:pathLst>
          </a:custGeom>
          <a:solidFill>
            <a:srgbClr val="7AA7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51482" y="2190750"/>
            <a:ext cx="5694045" cy="544195"/>
          </a:xfrm>
          <a:custGeom>
            <a:avLst/>
            <a:gdLst/>
            <a:ahLst/>
            <a:cxnLst/>
            <a:rect l="l" t="t" r="r" b="b"/>
            <a:pathLst>
              <a:path w="5694045" h="544194">
                <a:moveTo>
                  <a:pt x="0" y="544067"/>
                </a:moveTo>
                <a:lnTo>
                  <a:pt x="5693664" y="544067"/>
                </a:lnTo>
                <a:lnTo>
                  <a:pt x="5693664" y="0"/>
                </a:lnTo>
                <a:lnTo>
                  <a:pt x="0" y="0"/>
                </a:lnTo>
                <a:lnTo>
                  <a:pt x="0" y="544067"/>
                </a:lnTo>
                <a:close/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10105" y="2122170"/>
            <a:ext cx="681355" cy="681355"/>
          </a:xfrm>
          <a:custGeom>
            <a:avLst/>
            <a:gdLst/>
            <a:ahLst/>
            <a:cxnLst/>
            <a:rect l="l" t="t" r="r" b="b"/>
            <a:pathLst>
              <a:path w="681355" h="681355">
                <a:moveTo>
                  <a:pt x="340613" y="0"/>
                </a:moveTo>
                <a:lnTo>
                  <a:pt x="294400" y="3109"/>
                </a:lnTo>
                <a:lnTo>
                  <a:pt x="250075" y="12169"/>
                </a:lnTo>
                <a:lnTo>
                  <a:pt x="208043" y="26771"/>
                </a:lnTo>
                <a:lnTo>
                  <a:pt x="168712" y="46510"/>
                </a:lnTo>
                <a:lnTo>
                  <a:pt x="132487" y="70979"/>
                </a:lnTo>
                <a:lnTo>
                  <a:pt x="99774" y="99774"/>
                </a:lnTo>
                <a:lnTo>
                  <a:pt x="70979" y="132487"/>
                </a:lnTo>
                <a:lnTo>
                  <a:pt x="46510" y="168712"/>
                </a:lnTo>
                <a:lnTo>
                  <a:pt x="26771" y="208043"/>
                </a:lnTo>
                <a:lnTo>
                  <a:pt x="12169" y="250075"/>
                </a:lnTo>
                <a:lnTo>
                  <a:pt x="3109" y="294400"/>
                </a:lnTo>
                <a:lnTo>
                  <a:pt x="0" y="340613"/>
                </a:lnTo>
                <a:lnTo>
                  <a:pt x="3109" y="386827"/>
                </a:lnTo>
                <a:lnTo>
                  <a:pt x="12169" y="431152"/>
                </a:lnTo>
                <a:lnTo>
                  <a:pt x="26771" y="473184"/>
                </a:lnTo>
                <a:lnTo>
                  <a:pt x="46510" y="512515"/>
                </a:lnTo>
                <a:lnTo>
                  <a:pt x="70979" y="548740"/>
                </a:lnTo>
                <a:lnTo>
                  <a:pt x="99774" y="581453"/>
                </a:lnTo>
                <a:lnTo>
                  <a:pt x="132487" y="610248"/>
                </a:lnTo>
                <a:lnTo>
                  <a:pt x="168712" y="634717"/>
                </a:lnTo>
                <a:lnTo>
                  <a:pt x="208043" y="654456"/>
                </a:lnTo>
                <a:lnTo>
                  <a:pt x="250075" y="669058"/>
                </a:lnTo>
                <a:lnTo>
                  <a:pt x="294400" y="678118"/>
                </a:lnTo>
                <a:lnTo>
                  <a:pt x="340613" y="681227"/>
                </a:lnTo>
                <a:lnTo>
                  <a:pt x="386827" y="678118"/>
                </a:lnTo>
                <a:lnTo>
                  <a:pt x="431152" y="669058"/>
                </a:lnTo>
                <a:lnTo>
                  <a:pt x="473184" y="654456"/>
                </a:lnTo>
                <a:lnTo>
                  <a:pt x="512515" y="634717"/>
                </a:lnTo>
                <a:lnTo>
                  <a:pt x="548740" y="610248"/>
                </a:lnTo>
                <a:lnTo>
                  <a:pt x="581453" y="581453"/>
                </a:lnTo>
                <a:lnTo>
                  <a:pt x="610248" y="548740"/>
                </a:lnTo>
                <a:lnTo>
                  <a:pt x="634717" y="512515"/>
                </a:lnTo>
                <a:lnTo>
                  <a:pt x="654456" y="473184"/>
                </a:lnTo>
                <a:lnTo>
                  <a:pt x="669058" y="431152"/>
                </a:lnTo>
                <a:lnTo>
                  <a:pt x="678118" y="386827"/>
                </a:lnTo>
                <a:lnTo>
                  <a:pt x="681227" y="340613"/>
                </a:lnTo>
                <a:lnTo>
                  <a:pt x="678118" y="294400"/>
                </a:lnTo>
                <a:lnTo>
                  <a:pt x="669058" y="250075"/>
                </a:lnTo>
                <a:lnTo>
                  <a:pt x="654456" y="208043"/>
                </a:lnTo>
                <a:lnTo>
                  <a:pt x="634717" y="168712"/>
                </a:lnTo>
                <a:lnTo>
                  <a:pt x="610248" y="132487"/>
                </a:lnTo>
                <a:lnTo>
                  <a:pt x="581453" y="99774"/>
                </a:lnTo>
                <a:lnTo>
                  <a:pt x="548740" y="70979"/>
                </a:lnTo>
                <a:lnTo>
                  <a:pt x="512515" y="46510"/>
                </a:lnTo>
                <a:lnTo>
                  <a:pt x="473184" y="26771"/>
                </a:lnTo>
                <a:lnTo>
                  <a:pt x="431152" y="12169"/>
                </a:lnTo>
                <a:lnTo>
                  <a:pt x="386827" y="3109"/>
                </a:lnTo>
                <a:lnTo>
                  <a:pt x="3406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10105" y="2122170"/>
            <a:ext cx="681355" cy="681355"/>
          </a:xfrm>
          <a:custGeom>
            <a:avLst/>
            <a:gdLst/>
            <a:ahLst/>
            <a:cxnLst/>
            <a:rect l="l" t="t" r="r" b="b"/>
            <a:pathLst>
              <a:path w="681355" h="681355">
                <a:moveTo>
                  <a:pt x="0" y="340613"/>
                </a:moveTo>
                <a:lnTo>
                  <a:pt x="3109" y="294400"/>
                </a:lnTo>
                <a:lnTo>
                  <a:pt x="12169" y="250075"/>
                </a:lnTo>
                <a:lnTo>
                  <a:pt x="26771" y="208043"/>
                </a:lnTo>
                <a:lnTo>
                  <a:pt x="46510" y="168712"/>
                </a:lnTo>
                <a:lnTo>
                  <a:pt x="70979" y="132487"/>
                </a:lnTo>
                <a:lnTo>
                  <a:pt x="99774" y="99774"/>
                </a:lnTo>
                <a:lnTo>
                  <a:pt x="132487" y="70979"/>
                </a:lnTo>
                <a:lnTo>
                  <a:pt x="168712" y="46510"/>
                </a:lnTo>
                <a:lnTo>
                  <a:pt x="208043" y="26771"/>
                </a:lnTo>
                <a:lnTo>
                  <a:pt x="250075" y="12169"/>
                </a:lnTo>
                <a:lnTo>
                  <a:pt x="294400" y="3109"/>
                </a:lnTo>
                <a:lnTo>
                  <a:pt x="340613" y="0"/>
                </a:lnTo>
                <a:lnTo>
                  <a:pt x="386827" y="3109"/>
                </a:lnTo>
                <a:lnTo>
                  <a:pt x="431152" y="12169"/>
                </a:lnTo>
                <a:lnTo>
                  <a:pt x="473184" y="26771"/>
                </a:lnTo>
                <a:lnTo>
                  <a:pt x="512515" y="46510"/>
                </a:lnTo>
                <a:lnTo>
                  <a:pt x="548740" y="70979"/>
                </a:lnTo>
                <a:lnTo>
                  <a:pt x="581453" y="99774"/>
                </a:lnTo>
                <a:lnTo>
                  <a:pt x="610248" y="132487"/>
                </a:lnTo>
                <a:lnTo>
                  <a:pt x="634717" y="168712"/>
                </a:lnTo>
                <a:lnTo>
                  <a:pt x="654456" y="208043"/>
                </a:lnTo>
                <a:lnTo>
                  <a:pt x="669058" y="250075"/>
                </a:lnTo>
                <a:lnTo>
                  <a:pt x="678118" y="294400"/>
                </a:lnTo>
                <a:lnTo>
                  <a:pt x="681227" y="340613"/>
                </a:lnTo>
                <a:lnTo>
                  <a:pt x="678118" y="386827"/>
                </a:lnTo>
                <a:lnTo>
                  <a:pt x="669058" y="431152"/>
                </a:lnTo>
                <a:lnTo>
                  <a:pt x="654456" y="473184"/>
                </a:lnTo>
                <a:lnTo>
                  <a:pt x="634717" y="512515"/>
                </a:lnTo>
                <a:lnTo>
                  <a:pt x="610248" y="548740"/>
                </a:lnTo>
                <a:lnTo>
                  <a:pt x="581453" y="581453"/>
                </a:lnTo>
                <a:lnTo>
                  <a:pt x="548740" y="610248"/>
                </a:lnTo>
                <a:lnTo>
                  <a:pt x="512515" y="634717"/>
                </a:lnTo>
                <a:lnTo>
                  <a:pt x="473184" y="654456"/>
                </a:lnTo>
                <a:lnTo>
                  <a:pt x="431152" y="669058"/>
                </a:lnTo>
                <a:lnTo>
                  <a:pt x="386827" y="678118"/>
                </a:lnTo>
                <a:lnTo>
                  <a:pt x="340613" y="681227"/>
                </a:lnTo>
                <a:lnTo>
                  <a:pt x="294400" y="678118"/>
                </a:lnTo>
                <a:lnTo>
                  <a:pt x="250075" y="669058"/>
                </a:lnTo>
                <a:lnTo>
                  <a:pt x="208043" y="654456"/>
                </a:lnTo>
                <a:lnTo>
                  <a:pt x="168712" y="634717"/>
                </a:lnTo>
                <a:lnTo>
                  <a:pt x="132487" y="610248"/>
                </a:lnTo>
                <a:lnTo>
                  <a:pt x="99774" y="581453"/>
                </a:lnTo>
                <a:lnTo>
                  <a:pt x="70979" y="548740"/>
                </a:lnTo>
                <a:lnTo>
                  <a:pt x="46510" y="512515"/>
                </a:lnTo>
                <a:lnTo>
                  <a:pt x="26771" y="473184"/>
                </a:lnTo>
                <a:lnTo>
                  <a:pt x="12169" y="431152"/>
                </a:lnTo>
                <a:lnTo>
                  <a:pt x="3109" y="386827"/>
                </a:lnTo>
                <a:lnTo>
                  <a:pt x="0" y="340613"/>
                </a:lnTo>
                <a:close/>
              </a:path>
            </a:pathLst>
          </a:custGeom>
          <a:ln w="19812">
            <a:solidFill>
              <a:srgbClr val="7AA79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63901" y="3007614"/>
            <a:ext cx="5381625" cy="546100"/>
          </a:xfrm>
          <a:custGeom>
            <a:avLst/>
            <a:gdLst/>
            <a:ahLst/>
            <a:cxnLst/>
            <a:rect l="l" t="t" r="r" b="b"/>
            <a:pathLst>
              <a:path w="5381625" h="546100">
                <a:moveTo>
                  <a:pt x="0" y="545591"/>
                </a:moveTo>
                <a:lnTo>
                  <a:pt x="5381244" y="545591"/>
                </a:lnTo>
                <a:lnTo>
                  <a:pt x="5381244" y="0"/>
                </a:lnTo>
                <a:lnTo>
                  <a:pt x="0" y="0"/>
                </a:lnTo>
                <a:lnTo>
                  <a:pt x="0" y="545591"/>
                </a:lnTo>
                <a:close/>
              </a:path>
            </a:pathLst>
          </a:custGeom>
          <a:solidFill>
            <a:srgbClr val="85A0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63901" y="3007614"/>
            <a:ext cx="5381625" cy="546100"/>
          </a:xfrm>
          <a:custGeom>
            <a:avLst/>
            <a:gdLst/>
            <a:ahLst/>
            <a:cxnLst/>
            <a:rect l="l" t="t" r="r" b="b"/>
            <a:pathLst>
              <a:path w="5381625" h="546100">
                <a:moveTo>
                  <a:pt x="0" y="545591"/>
                </a:moveTo>
                <a:lnTo>
                  <a:pt x="5381244" y="545591"/>
                </a:lnTo>
                <a:lnTo>
                  <a:pt x="5381244" y="0"/>
                </a:lnTo>
                <a:lnTo>
                  <a:pt x="0" y="0"/>
                </a:lnTo>
                <a:lnTo>
                  <a:pt x="0" y="545591"/>
                </a:lnTo>
                <a:close/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22526" y="2940557"/>
            <a:ext cx="681355" cy="681355"/>
          </a:xfrm>
          <a:custGeom>
            <a:avLst/>
            <a:gdLst/>
            <a:ahLst/>
            <a:cxnLst/>
            <a:rect l="l" t="t" r="r" b="b"/>
            <a:pathLst>
              <a:path w="681355" h="681354">
                <a:moveTo>
                  <a:pt x="340613" y="0"/>
                </a:moveTo>
                <a:lnTo>
                  <a:pt x="294400" y="3109"/>
                </a:lnTo>
                <a:lnTo>
                  <a:pt x="250075" y="12169"/>
                </a:lnTo>
                <a:lnTo>
                  <a:pt x="208043" y="26771"/>
                </a:lnTo>
                <a:lnTo>
                  <a:pt x="168712" y="46510"/>
                </a:lnTo>
                <a:lnTo>
                  <a:pt x="132487" y="70979"/>
                </a:lnTo>
                <a:lnTo>
                  <a:pt x="99774" y="99774"/>
                </a:lnTo>
                <a:lnTo>
                  <a:pt x="70979" y="132487"/>
                </a:lnTo>
                <a:lnTo>
                  <a:pt x="46510" y="168712"/>
                </a:lnTo>
                <a:lnTo>
                  <a:pt x="26771" y="208043"/>
                </a:lnTo>
                <a:lnTo>
                  <a:pt x="12169" y="250075"/>
                </a:lnTo>
                <a:lnTo>
                  <a:pt x="3109" y="294400"/>
                </a:lnTo>
                <a:lnTo>
                  <a:pt x="0" y="340613"/>
                </a:lnTo>
                <a:lnTo>
                  <a:pt x="3109" y="386827"/>
                </a:lnTo>
                <a:lnTo>
                  <a:pt x="12169" y="431152"/>
                </a:lnTo>
                <a:lnTo>
                  <a:pt x="26771" y="473184"/>
                </a:lnTo>
                <a:lnTo>
                  <a:pt x="46510" y="512515"/>
                </a:lnTo>
                <a:lnTo>
                  <a:pt x="70979" y="548740"/>
                </a:lnTo>
                <a:lnTo>
                  <a:pt x="99774" y="581453"/>
                </a:lnTo>
                <a:lnTo>
                  <a:pt x="132487" y="610248"/>
                </a:lnTo>
                <a:lnTo>
                  <a:pt x="168712" y="634717"/>
                </a:lnTo>
                <a:lnTo>
                  <a:pt x="208043" y="654456"/>
                </a:lnTo>
                <a:lnTo>
                  <a:pt x="250075" y="669058"/>
                </a:lnTo>
                <a:lnTo>
                  <a:pt x="294400" y="678118"/>
                </a:lnTo>
                <a:lnTo>
                  <a:pt x="340613" y="681227"/>
                </a:lnTo>
                <a:lnTo>
                  <a:pt x="386827" y="678118"/>
                </a:lnTo>
                <a:lnTo>
                  <a:pt x="431152" y="669058"/>
                </a:lnTo>
                <a:lnTo>
                  <a:pt x="473184" y="654456"/>
                </a:lnTo>
                <a:lnTo>
                  <a:pt x="512515" y="634717"/>
                </a:lnTo>
                <a:lnTo>
                  <a:pt x="548740" y="610248"/>
                </a:lnTo>
                <a:lnTo>
                  <a:pt x="581453" y="581453"/>
                </a:lnTo>
                <a:lnTo>
                  <a:pt x="610248" y="548740"/>
                </a:lnTo>
                <a:lnTo>
                  <a:pt x="634717" y="512515"/>
                </a:lnTo>
                <a:lnTo>
                  <a:pt x="654456" y="473184"/>
                </a:lnTo>
                <a:lnTo>
                  <a:pt x="669058" y="431152"/>
                </a:lnTo>
                <a:lnTo>
                  <a:pt x="678118" y="386827"/>
                </a:lnTo>
                <a:lnTo>
                  <a:pt x="681228" y="340613"/>
                </a:lnTo>
                <a:lnTo>
                  <a:pt x="678118" y="294400"/>
                </a:lnTo>
                <a:lnTo>
                  <a:pt x="669058" y="250075"/>
                </a:lnTo>
                <a:lnTo>
                  <a:pt x="654456" y="208043"/>
                </a:lnTo>
                <a:lnTo>
                  <a:pt x="634717" y="168712"/>
                </a:lnTo>
                <a:lnTo>
                  <a:pt x="610248" y="132487"/>
                </a:lnTo>
                <a:lnTo>
                  <a:pt x="581453" y="99774"/>
                </a:lnTo>
                <a:lnTo>
                  <a:pt x="548740" y="70979"/>
                </a:lnTo>
                <a:lnTo>
                  <a:pt x="512515" y="46510"/>
                </a:lnTo>
                <a:lnTo>
                  <a:pt x="473184" y="26771"/>
                </a:lnTo>
                <a:lnTo>
                  <a:pt x="431152" y="12169"/>
                </a:lnTo>
                <a:lnTo>
                  <a:pt x="386827" y="3109"/>
                </a:lnTo>
                <a:lnTo>
                  <a:pt x="3406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22526" y="2940557"/>
            <a:ext cx="681355" cy="681355"/>
          </a:xfrm>
          <a:custGeom>
            <a:avLst/>
            <a:gdLst/>
            <a:ahLst/>
            <a:cxnLst/>
            <a:rect l="l" t="t" r="r" b="b"/>
            <a:pathLst>
              <a:path w="681355" h="681354">
                <a:moveTo>
                  <a:pt x="0" y="340613"/>
                </a:moveTo>
                <a:lnTo>
                  <a:pt x="3109" y="294400"/>
                </a:lnTo>
                <a:lnTo>
                  <a:pt x="12169" y="250075"/>
                </a:lnTo>
                <a:lnTo>
                  <a:pt x="26771" y="208043"/>
                </a:lnTo>
                <a:lnTo>
                  <a:pt x="46510" y="168712"/>
                </a:lnTo>
                <a:lnTo>
                  <a:pt x="70979" y="132487"/>
                </a:lnTo>
                <a:lnTo>
                  <a:pt x="99774" y="99774"/>
                </a:lnTo>
                <a:lnTo>
                  <a:pt x="132487" y="70979"/>
                </a:lnTo>
                <a:lnTo>
                  <a:pt x="168712" y="46510"/>
                </a:lnTo>
                <a:lnTo>
                  <a:pt x="208043" y="26771"/>
                </a:lnTo>
                <a:lnTo>
                  <a:pt x="250075" y="12169"/>
                </a:lnTo>
                <a:lnTo>
                  <a:pt x="294400" y="3109"/>
                </a:lnTo>
                <a:lnTo>
                  <a:pt x="340613" y="0"/>
                </a:lnTo>
                <a:lnTo>
                  <a:pt x="386827" y="3109"/>
                </a:lnTo>
                <a:lnTo>
                  <a:pt x="431152" y="12169"/>
                </a:lnTo>
                <a:lnTo>
                  <a:pt x="473184" y="26771"/>
                </a:lnTo>
                <a:lnTo>
                  <a:pt x="512515" y="46510"/>
                </a:lnTo>
                <a:lnTo>
                  <a:pt x="548740" y="70979"/>
                </a:lnTo>
                <a:lnTo>
                  <a:pt x="581453" y="99774"/>
                </a:lnTo>
                <a:lnTo>
                  <a:pt x="610248" y="132487"/>
                </a:lnTo>
                <a:lnTo>
                  <a:pt x="634717" y="168712"/>
                </a:lnTo>
                <a:lnTo>
                  <a:pt x="654456" y="208043"/>
                </a:lnTo>
                <a:lnTo>
                  <a:pt x="669058" y="250075"/>
                </a:lnTo>
                <a:lnTo>
                  <a:pt x="678118" y="294400"/>
                </a:lnTo>
                <a:lnTo>
                  <a:pt x="681228" y="340613"/>
                </a:lnTo>
                <a:lnTo>
                  <a:pt x="678118" y="386827"/>
                </a:lnTo>
                <a:lnTo>
                  <a:pt x="669058" y="431152"/>
                </a:lnTo>
                <a:lnTo>
                  <a:pt x="654456" y="473184"/>
                </a:lnTo>
                <a:lnTo>
                  <a:pt x="634717" y="512515"/>
                </a:lnTo>
                <a:lnTo>
                  <a:pt x="610248" y="548740"/>
                </a:lnTo>
                <a:lnTo>
                  <a:pt x="581453" y="581453"/>
                </a:lnTo>
                <a:lnTo>
                  <a:pt x="548740" y="610248"/>
                </a:lnTo>
                <a:lnTo>
                  <a:pt x="512515" y="634717"/>
                </a:lnTo>
                <a:lnTo>
                  <a:pt x="473184" y="654456"/>
                </a:lnTo>
                <a:lnTo>
                  <a:pt x="431152" y="669058"/>
                </a:lnTo>
                <a:lnTo>
                  <a:pt x="386827" y="678118"/>
                </a:lnTo>
                <a:lnTo>
                  <a:pt x="340613" y="681227"/>
                </a:lnTo>
                <a:lnTo>
                  <a:pt x="294400" y="678118"/>
                </a:lnTo>
                <a:lnTo>
                  <a:pt x="250075" y="669058"/>
                </a:lnTo>
                <a:lnTo>
                  <a:pt x="208043" y="654456"/>
                </a:lnTo>
                <a:lnTo>
                  <a:pt x="168712" y="634717"/>
                </a:lnTo>
                <a:lnTo>
                  <a:pt x="132487" y="610248"/>
                </a:lnTo>
                <a:lnTo>
                  <a:pt x="99774" y="581453"/>
                </a:lnTo>
                <a:lnTo>
                  <a:pt x="70979" y="548740"/>
                </a:lnTo>
                <a:lnTo>
                  <a:pt x="46510" y="512515"/>
                </a:lnTo>
                <a:lnTo>
                  <a:pt x="26771" y="473184"/>
                </a:lnTo>
                <a:lnTo>
                  <a:pt x="12169" y="431152"/>
                </a:lnTo>
                <a:lnTo>
                  <a:pt x="3109" y="386827"/>
                </a:lnTo>
                <a:lnTo>
                  <a:pt x="0" y="340613"/>
                </a:lnTo>
                <a:close/>
              </a:path>
            </a:pathLst>
          </a:custGeom>
          <a:ln w="19812">
            <a:solidFill>
              <a:srgbClr val="85A08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263901" y="3826002"/>
            <a:ext cx="5381625" cy="546100"/>
          </a:xfrm>
          <a:custGeom>
            <a:avLst/>
            <a:gdLst/>
            <a:ahLst/>
            <a:cxnLst/>
            <a:rect l="l" t="t" r="r" b="b"/>
            <a:pathLst>
              <a:path w="5381625" h="546100">
                <a:moveTo>
                  <a:pt x="0" y="545592"/>
                </a:moveTo>
                <a:lnTo>
                  <a:pt x="5381244" y="545592"/>
                </a:lnTo>
                <a:lnTo>
                  <a:pt x="5381244" y="0"/>
                </a:lnTo>
                <a:lnTo>
                  <a:pt x="0" y="0"/>
                </a:lnTo>
                <a:lnTo>
                  <a:pt x="0" y="545592"/>
                </a:lnTo>
                <a:close/>
              </a:path>
            </a:pathLst>
          </a:custGeom>
          <a:solidFill>
            <a:srgbClr val="9C9A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263901" y="3826002"/>
            <a:ext cx="5381625" cy="546100"/>
          </a:xfrm>
          <a:custGeom>
            <a:avLst/>
            <a:gdLst/>
            <a:ahLst/>
            <a:cxnLst/>
            <a:rect l="l" t="t" r="r" b="b"/>
            <a:pathLst>
              <a:path w="5381625" h="546100">
                <a:moveTo>
                  <a:pt x="0" y="545592"/>
                </a:moveTo>
                <a:lnTo>
                  <a:pt x="5381244" y="545592"/>
                </a:lnTo>
                <a:lnTo>
                  <a:pt x="5381244" y="0"/>
                </a:lnTo>
                <a:lnTo>
                  <a:pt x="0" y="0"/>
                </a:lnTo>
                <a:lnTo>
                  <a:pt x="0" y="545592"/>
                </a:lnTo>
                <a:close/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22526" y="3757421"/>
            <a:ext cx="681355" cy="683260"/>
          </a:xfrm>
          <a:custGeom>
            <a:avLst/>
            <a:gdLst/>
            <a:ahLst/>
            <a:cxnLst/>
            <a:rect l="l" t="t" r="r" b="b"/>
            <a:pathLst>
              <a:path w="681355" h="683260">
                <a:moveTo>
                  <a:pt x="340613" y="0"/>
                </a:moveTo>
                <a:lnTo>
                  <a:pt x="294400" y="3115"/>
                </a:lnTo>
                <a:lnTo>
                  <a:pt x="250075" y="12190"/>
                </a:lnTo>
                <a:lnTo>
                  <a:pt x="208043" y="26818"/>
                </a:lnTo>
                <a:lnTo>
                  <a:pt x="168712" y="46594"/>
                </a:lnTo>
                <a:lnTo>
                  <a:pt x="132487" y="71112"/>
                </a:lnTo>
                <a:lnTo>
                  <a:pt x="99774" y="99964"/>
                </a:lnTo>
                <a:lnTo>
                  <a:pt x="70979" y="132746"/>
                </a:lnTo>
                <a:lnTo>
                  <a:pt x="46510" y="169051"/>
                </a:lnTo>
                <a:lnTo>
                  <a:pt x="26771" y="208472"/>
                </a:lnTo>
                <a:lnTo>
                  <a:pt x="12169" y="250604"/>
                </a:lnTo>
                <a:lnTo>
                  <a:pt x="3109" y="295041"/>
                </a:lnTo>
                <a:lnTo>
                  <a:pt x="0" y="341375"/>
                </a:lnTo>
                <a:lnTo>
                  <a:pt x="3109" y="387710"/>
                </a:lnTo>
                <a:lnTo>
                  <a:pt x="12169" y="432147"/>
                </a:lnTo>
                <a:lnTo>
                  <a:pt x="26771" y="474279"/>
                </a:lnTo>
                <a:lnTo>
                  <a:pt x="46510" y="513700"/>
                </a:lnTo>
                <a:lnTo>
                  <a:pt x="70979" y="550005"/>
                </a:lnTo>
                <a:lnTo>
                  <a:pt x="99774" y="582787"/>
                </a:lnTo>
                <a:lnTo>
                  <a:pt x="132487" y="611639"/>
                </a:lnTo>
                <a:lnTo>
                  <a:pt x="168712" y="636157"/>
                </a:lnTo>
                <a:lnTo>
                  <a:pt x="208043" y="655933"/>
                </a:lnTo>
                <a:lnTo>
                  <a:pt x="250075" y="670561"/>
                </a:lnTo>
                <a:lnTo>
                  <a:pt x="294400" y="679636"/>
                </a:lnTo>
                <a:lnTo>
                  <a:pt x="340613" y="682751"/>
                </a:lnTo>
                <a:lnTo>
                  <a:pt x="386827" y="679636"/>
                </a:lnTo>
                <a:lnTo>
                  <a:pt x="431152" y="670561"/>
                </a:lnTo>
                <a:lnTo>
                  <a:pt x="473184" y="655933"/>
                </a:lnTo>
                <a:lnTo>
                  <a:pt x="512515" y="636157"/>
                </a:lnTo>
                <a:lnTo>
                  <a:pt x="548740" y="611639"/>
                </a:lnTo>
                <a:lnTo>
                  <a:pt x="581453" y="582787"/>
                </a:lnTo>
                <a:lnTo>
                  <a:pt x="610248" y="550005"/>
                </a:lnTo>
                <a:lnTo>
                  <a:pt x="634717" y="513700"/>
                </a:lnTo>
                <a:lnTo>
                  <a:pt x="654456" y="474279"/>
                </a:lnTo>
                <a:lnTo>
                  <a:pt x="669058" y="432147"/>
                </a:lnTo>
                <a:lnTo>
                  <a:pt x="678118" y="387710"/>
                </a:lnTo>
                <a:lnTo>
                  <a:pt x="681228" y="341375"/>
                </a:lnTo>
                <a:lnTo>
                  <a:pt x="678118" y="295041"/>
                </a:lnTo>
                <a:lnTo>
                  <a:pt x="669058" y="250604"/>
                </a:lnTo>
                <a:lnTo>
                  <a:pt x="654456" y="208472"/>
                </a:lnTo>
                <a:lnTo>
                  <a:pt x="634717" y="169051"/>
                </a:lnTo>
                <a:lnTo>
                  <a:pt x="610248" y="132746"/>
                </a:lnTo>
                <a:lnTo>
                  <a:pt x="581453" y="99964"/>
                </a:lnTo>
                <a:lnTo>
                  <a:pt x="548740" y="71112"/>
                </a:lnTo>
                <a:lnTo>
                  <a:pt x="512515" y="46594"/>
                </a:lnTo>
                <a:lnTo>
                  <a:pt x="473184" y="26818"/>
                </a:lnTo>
                <a:lnTo>
                  <a:pt x="431152" y="12190"/>
                </a:lnTo>
                <a:lnTo>
                  <a:pt x="386827" y="3115"/>
                </a:lnTo>
                <a:lnTo>
                  <a:pt x="3406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22526" y="3757421"/>
            <a:ext cx="681355" cy="683260"/>
          </a:xfrm>
          <a:custGeom>
            <a:avLst/>
            <a:gdLst/>
            <a:ahLst/>
            <a:cxnLst/>
            <a:rect l="l" t="t" r="r" b="b"/>
            <a:pathLst>
              <a:path w="681355" h="683260">
                <a:moveTo>
                  <a:pt x="0" y="341375"/>
                </a:moveTo>
                <a:lnTo>
                  <a:pt x="3109" y="295041"/>
                </a:lnTo>
                <a:lnTo>
                  <a:pt x="12169" y="250604"/>
                </a:lnTo>
                <a:lnTo>
                  <a:pt x="26771" y="208472"/>
                </a:lnTo>
                <a:lnTo>
                  <a:pt x="46510" y="169051"/>
                </a:lnTo>
                <a:lnTo>
                  <a:pt x="70979" y="132746"/>
                </a:lnTo>
                <a:lnTo>
                  <a:pt x="99774" y="99964"/>
                </a:lnTo>
                <a:lnTo>
                  <a:pt x="132487" y="71112"/>
                </a:lnTo>
                <a:lnTo>
                  <a:pt x="168712" y="46594"/>
                </a:lnTo>
                <a:lnTo>
                  <a:pt x="208043" y="26818"/>
                </a:lnTo>
                <a:lnTo>
                  <a:pt x="250075" y="12190"/>
                </a:lnTo>
                <a:lnTo>
                  <a:pt x="294400" y="3115"/>
                </a:lnTo>
                <a:lnTo>
                  <a:pt x="340613" y="0"/>
                </a:lnTo>
                <a:lnTo>
                  <a:pt x="386827" y="3115"/>
                </a:lnTo>
                <a:lnTo>
                  <a:pt x="431152" y="12190"/>
                </a:lnTo>
                <a:lnTo>
                  <a:pt x="473184" y="26818"/>
                </a:lnTo>
                <a:lnTo>
                  <a:pt x="512515" y="46594"/>
                </a:lnTo>
                <a:lnTo>
                  <a:pt x="548740" y="71112"/>
                </a:lnTo>
                <a:lnTo>
                  <a:pt x="581453" y="99964"/>
                </a:lnTo>
                <a:lnTo>
                  <a:pt x="610248" y="132746"/>
                </a:lnTo>
                <a:lnTo>
                  <a:pt x="634717" y="169051"/>
                </a:lnTo>
                <a:lnTo>
                  <a:pt x="654456" y="208472"/>
                </a:lnTo>
                <a:lnTo>
                  <a:pt x="669058" y="250604"/>
                </a:lnTo>
                <a:lnTo>
                  <a:pt x="678118" y="295041"/>
                </a:lnTo>
                <a:lnTo>
                  <a:pt x="681228" y="341375"/>
                </a:lnTo>
                <a:lnTo>
                  <a:pt x="678118" y="387710"/>
                </a:lnTo>
                <a:lnTo>
                  <a:pt x="669058" y="432147"/>
                </a:lnTo>
                <a:lnTo>
                  <a:pt x="654456" y="474279"/>
                </a:lnTo>
                <a:lnTo>
                  <a:pt x="634717" y="513700"/>
                </a:lnTo>
                <a:lnTo>
                  <a:pt x="610248" y="550005"/>
                </a:lnTo>
                <a:lnTo>
                  <a:pt x="581453" y="582787"/>
                </a:lnTo>
                <a:lnTo>
                  <a:pt x="548740" y="611639"/>
                </a:lnTo>
                <a:lnTo>
                  <a:pt x="512515" y="636157"/>
                </a:lnTo>
                <a:lnTo>
                  <a:pt x="473184" y="655933"/>
                </a:lnTo>
                <a:lnTo>
                  <a:pt x="431152" y="670561"/>
                </a:lnTo>
                <a:lnTo>
                  <a:pt x="386827" y="679636"/>
                </a:lnTo>
                <a:lnTo>
                  <a:pt x="340613" y="682751"/>
                </a:lnTo>
                <a:lnTo>
                  <a:pt x="294400" y="679636"/>
                </a:lnTo>
                <a:lnTo>
                  <a:pt x="250075" y="670561"/>
                </a:lnTo>
                <a:lnTo>
                  <a:pt x="208043" y="655933"/>
                </a:lnTo>
                <a:lnTo>
                  <a:pt x="168712" y="636157"/>
                </a:lnTo>
                <a:lnTo>
                  <a:pt x="132487" y="611639"/>
                </a:lnTo>
                <a:lnTo>
                  <a:pt x="99774" y="582787"/>
                </a:lnTo>
                <a:lnTo>
                  <a:pt x="70979" y="550005"/>
                </a:lnTo>
                <a:lnTo>
                  <a:pt x="46510" y="513700"/>
                </a:lnTo>
                <a:lnTo>
                  <a:pt x="26771" y="474279"/>
                </a:lnTo>
                <a:lnTo>
                  <a:pt x="12169" y="432147"/>
                </a:lnTo>
                <a:lnTo>
                  <a:pt x="3109" y="387710"/>
                </a:lnTo>
                <a:lnTo>
                  <a:pt x="0" y="341375"/>
                </a:lnTo>
                <a:close/>
              </a:path>
            </a:pathLst>
          </a:custGeom>
          <a:ln w="19811">
            <a:solidFill>
              <a:srgbClr val="9C9A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51482" y="4644390"/>
            <a:ext cx="5694045" cy="546100"/>
          </a:xfrm>
          <a:custGeom>
            <a:avLst/>
            <a:gdLst/>
            <a:ahLst/>
            <a:cxnLst/>
            <a:rect l="l" t="t" r="r" b="b"/>
            <a:pathLst>
              <a:path w="5694045" h="546100">
                <a:moveTo>
                  <a:pt x="0" y="545592"/>
                </a:moveTo>
                <a:lnTo>
                  <a:pt x="5693664" y="545592"/>
                </a:lnTo>
                <a:lnTo>
                  <a:pt x="5693664" y="0"/>
                </a:lnTo>
                <a:lnTo>
                  <a:pt x="0" y="0"/>
                </a:lnTo>
                <a:lnTo>
                  <a:pt x="0" y="545592"/>
                </a:lnTo>
                <a:close/>
              </a:path>
            </a:pathLst>
          </a:custGeom>
          <a:solidFill>
            <a:srgbClr val="95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51482" y="4644390"/>
            <a:ext cx="5694045" cy="546100"/>
          </a:xfrm>
          <a:custGeom>
            <a:avLst/>
            <a:gdLst/>
            <a:ahLst/>
            <a:cxnLst/>
            <a:rect l="l" t="t" r="r" b="b"/>
            <a:pathLst>
              <a:path w="5694045" h="546100">
                <a:moveTo>
                  <a:pt x="0" y="545592"/>
                </a:moveTo>
                <a:lnTo>
                  <a:pt x="5693664" y="545592"/>
                </a:lnTo>
                <a:lnTo>
                  <a:pt x="5693664" y="0"/>
                </a:lnTo>
                <a:lnTo>
                  <a:pt x="0" y="0"/>
                </a:lnTo>
                <a:lnTo>
                  <a:pt x="0" y="545592"/>
                </a:lnTo>
                <a:close/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370582" y="2208021"/>
            <a:ext cx="4796155" cy="2891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solidFill>
                  <a:srgbClr val="FFFFFF"/>
                </a:solidFill>
                <a:latin typeface="黑体"/>
                <a:cs typeface="黑体"/>
              </a:rPr>
              <a:t>阶段式提交一个可运行的产品</a:t>
            </a:r>
            <a:endParaRPr sz="27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750">
              <a:latin typeface="Times New Roman"/>
              <a:cs typeface="Times New Roman"/>
            </a:endParaRPr>
          </a:p>
          <a:p>
            <a:pPr marL="325120">
              <a:lnSpc>
                <a:spcPct val="100000"/>
              </a:lnSpc>
            </a:pPr>
            <a:r>
              <a:rPr sz="2700" dirty="0">
                <a:solidFill>
                  <a:srgbClr val="FFFFFF"/>
                </a:solidFill>
                <a:latin typeface="黑体"/>
                <a:cs typeface="黑体"/>
              </a:rPr>
              <a:t>关键的功能更早出现</a:t>
            </a:r>
            <a:endParaRPr sz="2700">
              <a:latin typeface="黑体"/>
              <a:cs typeface="黑体"/>
            </a:endParaRPr>
          </a:p>
          <a:p>
            <a:pPr marL="12700" marR="5080" indent="312420">
              <a:lnSpc>
                <a:spcPct val="198800"/>
              </a:lnSpc>
            </a:pPr>
            <a:r>
              <a:rPr sz="2700" dirty="0">
                <a:solidFill>
                  <a:srgbClr val="FFFFFF"/>
                </a:solidFill>
                <a:latin typeface="黑体"/>
                <a:cs typeface="黑体"/>
              </a:rPr>
              <a:t>早期预警问题，避免缺陷蔓延 阶段性完成可以降低估计失误</a:t>
            </a:r>
            <a:endParaRPr sz="2700">
              <a:latin typeface="黑体"/>
              <a:cs typeface="黑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610105" y="4575809"/>
            <a:ext cx="681355" cy="681355"/>
          </a:xfrm>
          <a:custGeom>
            <a:avLst/>
            <a:gdLst/>
            <a:ahLst/>
            <a:cxnLst/>
            <a:rect l="l" t="t" r="r" b="b"/>
            <a:pathLst>
              <a:path w="681355" h="681354">
                <a:moveTo>
                  <a:pt x="340613" y="0"/>
                </a:moveTo>
                <a:lnTo>
                  <a:pt x="294400" y="3109"/>
                </a:lnTo>
                <a:lnTo>
                  <a:pt x="250075" y="12169"/>
                </a:lnTo>
                <a:lnTo>
                  <a:pt x="208043" y="26771"/>
                </a:lnTo>
                <a:lnTo>
                  <a:pt x="168712" y="46510"/>
                </a:lnTo>
                <a:lnTo>
                  <a:pt x="132487" y="70979"/>
                </a:lnTo>
                <a:lnTo>
                  <a:pt x="99774" y="99774"/>
                </a:lnTo>
                <a:lnTo>
                  <a:pt x="70979" y="132487"/>
                </a:lnTo>
                <a:lnTo>
                  <a:pt x="46510" y="168712"/>
                </a:lnTo>
                <a:lnTo>
                  <a:pt x="26771" y="208043"/>
                </a:lnTo>
                <a:lnTo>
                  <a:pt x="12169" y="250075"/>
                </a:lnTo>
                <a:lnTo>
                  <a:pt x="3109" y="294400"/>
                </a:lnTo>
                <a:lnTo>
                  <a:pt x="0" y="340613"/>
                </a:lnTo>
                <a:lnTo>
                  <a:pt x="3109" y="386827"/>
                </a:lnTo>
                <a:lnTo>
                  <a:pt x="12169" y="431152"/>
                </a:lnTo>
                <a:lnTo>
                  <a:pt x="26771" y="473184"/>
                </a:lnTo>
                <a:lnTo>
                  <a:pt x="46510" y="512515"/>
                </a:lnTo>
                <a:lnTo>
                  <a:pt x="70979" y="548740"/>
                </a:lnTo>
                <a:lnTo>
                  <a:pt x="99774" y="581453"/>
                </a:lnTo>
                <a:lnTo>
                  <a:pt x="132487" y="610248"/>
                </a:lnTo>
                <a:lnTo>
                  <a:pt x="168712" y="634717"/>
                </a:lnTo>
                <a:lnTo>
                  <a:pt x="208043" y="654456"/>
                </a:lnTo>
                <a:lnTo>
                  <a:pt x="250075" y="669058"/>
                </a:lnTo>
                <a:lnTo>
                  <a:pt x="294400" y="678118"/>
                </a:lnTo>
                <a:lnTo>
                  <a:pt x="340613" y="681227"/>
                </a:lnTo>
                <a:lnTo>
                  <a:pt x="386827" y="678118"/>
                </a:lnTo>
                <a:lnTo>
                  <a:pt x="431152" y="669058"/>
                </a:lnTo>
                <a:lnTo>
                  <a:pt x="473184" y="654456"/>
                </a:lnTo>
                <a:lnTo>
                  <a:pt x="512515" y="634717"/>
                </a:lnTo>
                <a:lnTo>
                  <a:pt x="548740" y="610248"/>
                </a:lnTo>
                <a:lnTo>
                  <a:pt x="581453" y="581453"/>
                </a:lnTo>
                <a:lnTo>
                  <a:pt x="610248" y="548740"/>
                </a:lnTo>
                <a:lnTo>
                  <a:pt x="634717" y="512515"/>
                </a:lnTo>
                <a:lnTo>
                  <a:pt x="654456" y="473184"/>
                </a:lnTo>
                <a:lnTo>
                  <a:pt x="669058" y="431152"/>
                </a:lnTo>
                <a:lnTo>
                  <a:pt x="678118" y="386827"/>
                </a:lnTo>
                <a:lnTo>
                  <a:pt x="681227" y="340613"/>
                </a:lnTo>
                <a:lnTo>
                  <a:pt x="678118" y="294400"/>
                </a:lnTo>
                <a:lnTo>
                  <a:pt x="669058" y="250075"/>
                </a:lnTo>
                <a:lnTo>
                  <a:pt x="654456" y="208043"/>
                </a:lnTo>
                <a:lnTo>
                  <a:pt x="634717" y="168712"/>
                </a:lnTo>
                <a:lnTo>
                  <a:pt x="610248" y="132487"/>
                </a:lnTo>
                <a:lnTo>
                  <a:pt x="581453" y="99774"/>
                </a:lnTo>
                <a:lnTo>
                  <a:pt x="548740" y="70979"/>
                </a:lnTo>
                <a:lnTo>
                  <a:pt x="512515" y="46510"/>
                </a:lnTo>
                <a:lnTo>
                  <a:pt x="473184" y="26771"/>
                </a:lnTo>
                <a:lnTo>
                  <a:pt x="431152" y="12169"/>
                </a:lnTo>
                <a:lnTo>
                  <a:pt x="386827" y="3109"/>
                </a:lnTo>
                <a:lnTo>
                  <a:pt x="3406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610105" y="4575809"/>
            <a:ext cx="681355" cy="681355"/>
          </a:xfrm>
          <a:custGeom>
            <a:avLst/>
            <a:gdLst/>
            <a:ahLst/>
            <a:cxnLst/>
            <a:rect l="l" t="t" r="r" b="b"/>
            <a:pathLst>
              <a:path w="681355" h="681354">
                <a:moveTo>
                  <a:pt x="0" y="340613"/>
                </a:moveTo>
                <a:lnTo>
                  <a:pt x="3109" y="294400"/>
                </a:lnTo>
                <a:lnTo>
                  <a:pt x="12169" y="250075"/>
                </a:lnTo>
                <a:lnTo>
                  <a:pt x="26771" y="208043"/>
                </a:lnTo>
                <a:lnTo>
                  <a:pt x="46510" y="168712"/>
                </a:lnTo>
                <a:lnTo>
                  <a:pt x="70979" y="132487"/>
                </a:lnTo>
                <a:lnTo>
                  <a:pt x="99774" y="99774"/>
                </a:lnTo>
                <a:lnTo>
                  <a:pt x="132487" y="70979"/>
                </a:lnTo>
                <a:lnTo>
                  <a:pt x="168712" y="46510"/>
                </a:lnTo>
                <a:lnTo>
                  <a:pt x="208043" y="26771"/>
                </a:lnTo>
                <a:lnTo>
                  <a:pt x="250075" y="12169"/>
                </a:lnTo>
                <a:lnTo>
                  <a:pt x="294400" y="3109"/>
                </a:lnTo>
                <a:lnTo>
                  <a:pt x="340613" y="0"/>
                </a:lnTo>
                <a:lnTo>
                  <a:pt x="386827" y="3109"/>
                </a:lnTo>
                <a:lnTo>
                  <a:pt x="431152" y="12169"/>
                </a:lnTo>
                <a:lnTo>
                  <a:pt x="473184" y="26771"/>
                </a:lnTo>
                <a:lnTo>
                  <a:pt x="512515" y="46510"/>
                </a:lnTo>
                <a:lnTo>
                  <a:pt x="548740" y="70979"/>
                </a:lnTo>
                <a:lnTo>
                  <a:pt x="581453" y="99774"/>
                </a:lnTo>
                <a:lnTo>
                  <a:pt x="610248" y="132487"/>
                </a:lnTo>
                <a:lnTo>
                  <a:pt x="634717" y="168712"/>
                </a:lnTo>
                <a:lnTo>
                  <a:pt x="654456" y="208043"/>
                </a:lnTo>
                <a:lnTo>
                  <a:pt x="669058" y="250075"/>
                </a:lnTo>
                <a:lnTo>
                  <a:pt x="678118" y="294400"/>
                </a:lnTo>
                <a:lnTo>
                  <a:pt x="681227" y="340613"/>
                </a:lnTo>
                <a:lnTo>
                  <a:pt x="678118" y="386827"/>
                </a:lnTo>
                <a:lnTo>
                  <a:pt x="669058" y="431152"/>
                </a:lnTo>
                <a:lnTo>
                  <a:pt x="654456" y="473184"/>
                </a:lnTo>
                <a:lnTo>
                  <a:pt x="634717" y="512515"/>
                </a:lnTo>
                <a:lnTo>
                  <a:pt x="610248" y="548740"/>
                </a:lnTo>
                <a:lnTo>
                  <a:pt x="581453" y="581453"/>
                </a:lnTo>
                <a:lnTo>
                  <a:pt x="548740" y="610248"/>
                </a:lnTo>
                <a:lnTo>
                  <a:pt x="512515" y="634717"/>
                </a:lnTo>
                <a:lnTo>
                  <a:pt x="473184" y="654456"/>
                </a:lnTo>
                <a:lnTo>
                  <a:pt x="431152" y="669058"/>
                </a:lnTo>
                <a:lnTo>
                  <a:pt x="386827" y="678118"/>
                </a:lnTo>
                <a:lnTo>
                  <a:pt x="340613" y="681227"/>
                </a:lnTo>
                <a:lnTo>
                  <a:pt x="294400" y="678118"/>
                </a:lnTo>
                <a:lnTo>
                  <a:pt x="250075" y="669058"/>
                </a:lnTo>
                <a:lnTo>
                  <a:pt x="208043" y="654456"/>
                </a:lnTo>
                <a:lnTo>
                  <a:pt x="168712" y="634717"/>
                </a:lnTo>
                <a:lnTo>
                  <a:pt x="132487" y="610248"/>
                </a:lnTo>
                <a:lnTo>
                  <a:pt x="99774" y="581453"/>
                </a:lnTo>
                <a:lnTo>
                  <a:pt x="70979" y="548740"/>
                </a:lnTo>
                <a:lnTo>
                  <a:pt x="46510" y="512515"/>
                </a:lnTo>
                <a:lnTo>
                  <a:pt x="26771" y="473184"/>
                </a:lnTo>
                <a:lnTo>
                  <a:pt x="12169" y="431152"/>
                </a:lnTo>
                <a:lnTo>
                  <a:pt x="3109" y="386827"/>
                </a:lnTo>
                <a:lnTo>
                  <a:pt x="0" y="340613"/>
                </a:lnTo>
                <a:close/>
              </a:path>
            </a:pathLst>
          </a:custGeom>
          <a:ln w="19812">
            <a:solidFill>
              <a:srgbClr val="95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0"/>
            <a:ext cx="2263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i="0" dirty="0">
                <a:latin typeface="华文隶书"/>
                <a:cs typeface="华文隶书"/>
              </a:rPr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5416" y="1932561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29967" y="1868423"/>
            <a:ext cx="506095" cy="4318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79375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625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85416" y="2557088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29967" y="2491739"/>
            <a:ext cx="483234" cy="43307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0645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6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86939" y="3229553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29967" y="3163823"/>
            <a:ext cx="483234" cy="43307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0645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6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86939" y="5053146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六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29967" y="4988052"/>
            <a:ext cx="485140" cy="4318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0010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63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六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35935" y="1868423"/>
            <a:ext cx="4628515" cy="4318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18110" rIns="0" bIns="0" rtlCol="0">
            <a:spAutoFit/>
          </a:bodyPr>
          <a:lstStyle/>
          <a:p>
            <a:pPr marL="1202055">
              <a:lnSpc>
                <a:spcPct val="100000"/>
              </a:lnSpc>
              <a:spcBef>
                <a:spcPts val="930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生存期模型选择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13076" y="2491739"/>
            <a:ext cx="4628515" cy="43307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57785" rIns="0" bIns="0" rtlCol="0">
            <a:spAutoFit/>
          </a:bodyPr>
          <a:lstStyle/>
          <a:p>
            <a:pPr marR="445770" algn="ctr">
              <a:lnSpc>
                <a:spcPct val="100000"/>
              </a:lnSpc>
              <a:spcBef>
                <a:spcPts val="455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预测模型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13076" y="3163823"/>
            <a:ext cx="4628515" cy="43307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58419" rIns="0" bIns="0" rtlCol="0">
            <a:spAutoFit/>
          </a:bodyPr>
          <a:lstStyle/>
          <a:p>
            <a:pPr marR="494665" algn="ctr">
              <a:lnSpc>
                <a:spcPct val="100000"/>
              </a:lnSpc>
              <a:spcBef>
                <a:spcPts val="459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迭代模型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14600" y="4988052"/>
            <a:ext cx="4630420" cy="4318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05410" rIns="0" bIns="0" rtlCol="0">
            <a:spAutoFit/>
          </a:bodyPr>
          <a:lstStyle/>
          <a:p>
            <a:pPr marR="407034" algn="ctr">
              <a:lnSpc>
                <a:spcPct val="100000"/>
              </a:lnSpc>
              <a:spcBef>
                <a:spcPts val="830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混合模型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64714" y="3853055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08632" y="3787140"/>
            <a:ext cx="504825" cy="4343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128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64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13076" y="3787140"/>
            <a:ext cx="4628515" cy="4343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07950" rIns="0" bIns="0" rtlCol="0">
            <a:spAutoFit/>
          </a:bodyPr>
          <a:lstStyle/>
          <a:p>
            <a:pPr marR="445134" algn="ctr">
              <a:lnSpc>
                <a:spcPct val="100000"/>
              </a:lnSpc>
              <a:spcBef>
                <a:spcPts val="850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增量模型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64714" y="4476693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08632" y="4411979"/>
            <a:ext cx="504825" cy="4318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001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63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13076" y="4411979"/>
            <a:ext cx="4628515" cy="4318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08585" rIns="0" bIns="0" rtlCol="0">
            <a:spAutoFit/>
          </a:bodyPr>
          <a:lstStyle/>
          <a:p>
            <a:pPr marR="445134" algn="ctr">
              <a:lnSpc>
                <a:spcPct val="100000"/>
              </a:lnSpc>
              <a:spcBef>
                <a:spcPts val="855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敏捷模型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85161" y="5726424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七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28444" y="5661659"/>
            <a:ext cx="485140" cy="4318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0010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63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七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13076" y="5661659"/>
            <a:ext cx="4628515" cy="4318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05410" rIns="0" bIns="0" rtlCol="0">
            <a:spAutoFit/>
          </a:bodyPr>
          <a:lstStyle/>
          <a:p>
            <a:pPr marR="404495" algn="ctr">
              <a:lnSpc>
                <a:spcPct val="100000"/>
              </a:lnSpc>
              <a:spcBef>
                <a:spcPts val="830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437133"/>
            <a:ext cx="89763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i="0" dirty="0">
                <a:latin typeface="华文仿宋"/>
                <a:cs typeface="华文仿宋"/>
              </a:rPr>
              <a:t>《敏捷宣</a:t>
            </a:r>
            <a:r>
              <a:rPr sz="3200" i="0" spc="-10" dirty="0">
                <a:latin typeface="华文仿宋"/>
                <a:cs typeface="华文仿宋"/>
              </a:rPr>
              <a:t>言</a:t>
            </a:r>
            <a:r>
              <a:rPr sz="3200" i="0" dirty="0">
                <a:latin typeface="华文仿宋"/>
                <a:cs typeface="华文仿宋"/>
              </a:rPr>
              <a:t>》价值观、原则和通用实践之间</a:t>
            </a:r>
            <a:r>
              <a:rPr sz="3200" i="0" spc="-15" dirty="0">
                <a:latin typeface="华文仿宋"/>
                <a:cs typeface="华文仿宋"/>
              </a:rPr>
              <a:t>的</a:t>
            </a:r>
            <a:r>
              <a:rPr sz="3200" i="0" dirty="0">
                <a:latin typeface="华文仿宋"/>
                <a:cs typeface="华文仿宋"/>
              </a:rPr>
              <a:t>关系</a:t>
            </a:r>
            <a:endParaRPr sz="3200">
              <a:latin typeface="华文仿宋"/>
              <a:cs typeface="华文仿宋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94715" y="1629088"/>
            <a:ext cx="8371329" cy="42718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29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6379">
              <a:lnSpc>
                <a:spcPct val="100000"/>
              </a:lnSpc>
              <a:spcBef>
                <a:spcPts val="100"/>
              </a:spcBef>
            </a:pPr>
            <a:r>
              <a:rPr dirty="0"/>
              <a:t>敏捷与传统模型的区别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05121" y="625459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30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95395" y="2065270"/>
            <a:ext cx="6892678" cy="33688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35026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dirty="0">
                <a:latin typeface="华文仿宋"/>
                <a:cs typeface="华文仿宋"/>
              </a:rPr>
              <a:t>敏捷方法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9831" y="1744979"/>
            <a:ext cx="8766175" cy="532130"/>
          </a:xfrm>
          <a:prstGeom prst="rect">
            <a:avLst/>
          </a:prstGeom>
          <a:solidFill>
            <a:srgbClr val="D7B15C"/>
          </a:solidFill>
        </p:spPr>
        <p:txBody>
          <a:bodyPr vert="horz" wrap="square" lIns="0" tIns="1968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55"/>
              </a:spcBef>
            </a:pPr>
            <a:r>
              <a:rPr sz="2800" spc="-5" dirty="0">
                <a:latin typeface="华文仿宋"/>
                <a:cs typeface="华文仿宋"/>
              </a:rPr>
              <a:t>敏捷方法是一个囊括了各种框架和</a:t>
            </a:r>
            <a:r>
              <a:rPr sz="2800" dirty="0">
                <a:latin typeface="华文仿宋"/>
                <a:cs typeface="华文仿宋"/>
              </a:rPr>
              <a:t>方</a:t>
            </a:r>
            <a:r>
              <a:rPr sz="2800" spc="-5" dirty="0">
                <a:latin typeface="华文仿宋"/>
                <a:cs typeface="华文仿宋"/>
              </a:rPr>
              <a:t>法的</a:t>
            </a:r>
            <a:r>
              <a:rPr sz="2800" dirty="0">
                <a:latin typeface="华文仿宋"/>
                <a:cs typeface="华文仿宋"/>
              </a:rPr>
              <a:t>涵</a:t>
            </a:r>
            <a:r>
              <a:rPr sz="2800" spc="-5" dirty="0">
                <a:latin typeface="华文仿宋"/>
                <a:cs typeface="华文仿宋"/>
              </a:rPr>
              <a:t>盖性</a:t>
            </a:r>
            <a:r>
              <a:rPr sz="2800" dirty="0">
                <a:latin typeface="华文仿宋"/>
                <a:cs typeface="华文仿宋"/>
              </a:rPr>
              <a:t>术</a:t>
            </a:r>
            <a:r>
              <a:rPr sz="2800" spc="-5" dirty="0">
                <a:latin typeface="华文仿宋"/>
                <a:cs typeface="华文仿宋"/>
              </a:rPr>
              <a:t>语。</a:t>
            </a:r>
            <a:endParaRPr sz="2800">
              <a:latin typeface="华文仿宋"/>
              <a:cs typeface="华文仿宋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31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0875" y="2505561"/>
            <a:ext cx="5623634" cy="38906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00978" y="3213354"/>
            <a:ext cx="2735580" cy="2087880"/>
          </a:xfrm>
          <a:custGeom>
            <a:avLst/>
            <a:gdLst/>
            <a:ahLst/>
            <a:cxnLst/>
            <a:rect l="l" t="t" r="r" b="b"/>
            <a:pathLst>
              <a:path w="2735579" h="2087879">
                <a:moveTo>
                  <a:pt x="1367790" y="0"/>
                </a:moveTo>
                <a:lnTo>
                  <a:pt x="1312779" y="828"/>
                </a:lnTo>
                <a:lnTo>
                  <a:pt x="1258319" y="3294"/>
                </a:lnTo>
                <a:lnTo>
                  <a:pt x="1204452" y="7366"/>
                </a:lnTo>
                <a:lnTo>
                  <a:pt x="1151217" y="13012"/>
                </a:lnTo>
                <a:lnTo>
                  <a:pt x="1098657" y="20202"/>
                </a:lnTo>
                <a:lnTo>
                  <a:pt x="1046811" y="28904"/>
                </a:lnTo>
                <a:lnTo>
                  <a:pt x="995721" y="39087"/>
                </a:lnTo>
                <a:lnTo>
                  <a:pt x="945427" y="50720"/>
                </a:lnTo>
                <a:lnTo>
                  <a:pt x="895970" y="63771"/>
                </a:lnTo>
                <a:lnTo>
                  <a:pt x="847392" y="78211"/>
                </a:lnTo>
                <a:lnTo>
                  <a:pt x="799733" y="94006"/>
                </a:lnTo>
                <a:lnTo>
                  <a:pt x="753034" y="111127"/>
                </a:lnTo>
                <a:lnTo>
                  <a:pt x="707335" y="129542"/>
                </a:lnTo>
                <a:lnTo>
                  <a:pt x="662678" y="149219"/>
                </a:lnTo>
                <a:lnTo>
                  <a:pt x="619104" y="170129"/>
                </a:lnTo>
                <a:lnTo>
                  <a:pt x="576653" y="192238"/>
                </a:lnTo>
                <a:lnTo>
                  <a:pt x="535366" y="215517"/>
                </a:lnTo>
                <a:lnTo>
                  <a:pt x="495285" y="239934"/>
                </a:lnTo>
                <a:lnTo>
                  <a:pt x="456449" y="265459"/>
                </a:lnTo>
                <a:lnTo>
                  <a:pt x="418900" y="292058"/>
                </a:lnTo>
                <a:lnTo>
                  <a:pt x="382679" y="319703"/>
                </a:lnTo>
                <a:lnTo>
                  <a:pt x="347826" y="348361"/>
                </a:lnTo>
                <a:lnTo>
                  <a:pt x="314383" y="378001"/>
                </a:lnTo>
                <a:lnTo>
                  <a:pt x="282390" y="408592"/>
                </a:lnTo>
                <a:lnTo>
                  <a:pt x="251888" y="440103"/>
                </a:lnTo>
                <a:lnTo>
                  <a:pt x="222919" y="472503"/>
                </a:lnTo>
                <a:lnTo>
                  <a:pt x="195522" y="505760"/>
                </a:lnTo>
                <a:lnTo>
                  <a:pt x="169738" y="539843"/>
                </a:lnTo>
                <a:lnTo>
                  <a:pt x="145610" y="574722"/>
                </a:lnTo>
                <a:lnTo>
                  <a:pt x="123177" y="610365"/>
                </a:lnTo>
                <a:lnTo>
                  <a:pt x="102480" y="646740"/>
                </a:lnTo>
                <a:lnTo>
                  <a:pt x="83560" y="683817"/>
                </a:lnTo>
                <a:lnTo>
                  <a:pt x="66459" y="721565"/>
                </a:lnTo>
                <a:lnTo>
                  <a:pt x="51216" y="759951"/>
                </a:lnTo>
                <a:lnTo>
                  <a:pt x="37873" y="798946"/>
                </a:lnTo>
                <a:lnTo>
                  <a:pt x="26471" y="838518"/>
                </a:lnTo>
                <a:lnTo>
                  <a:pt x="17050" y="878636"/>
                </a:lnTo>
                <a:lnTo>
                  <a:pt x="9652" y="919268"/>
                </a:lnTo>
                <a:lnTo>
                  <a:pt x="4317" y="960383"/>
                </a:lnTo>
                <a:lnTo>
                  <a:pt x="1086" y="1001951"/>
                </a:lnTo>
                <a:lnTo>
                  <a:pt x="0" y="1043940"/>
                </a:lnTo>
                <a:lnTo>
                  <a:pt x="1086" y="1085928"/>
                </a:lnTo>
                <a:lnTo>
                  <a:pt x="4317" y="1127496"/>
                </a:lnTo>
                <a:lnTo>
                  <a:pt x="9652" y="1168611"/>
                </a:lnTo>
                <a:lnTo>
                  <a:pt x="17050" y="1209243"/>
                </a:lnTo>
                <a:lnTo>
                  <a:pt x="26471" y="1249361"/>
                </a:lnTo>
                <a:lnTo>
                  <a:pt x="37873" y="1288933"/>
                </a:lnTo>
                <a:lnTo>
                  <a:pt x="51216" y="1327928"/>
                </a:lnTo>
                <a:lnTo>
                  <a:pt x="66459" y="1366314"/>
                </a:lnTo>
                <a:lnTo>
                  <a:pt x="83560" y="1404062"/>
                </a:lnTo>
                <a:lnTo>
                  <a:pt x="102480" y="1441139"/>
                </a:lnTo>
                <a:lnTo>
                  <a:pt x="123177" y="1477514"/>
                </a:lnTo>
                <a:lnTo>
                  <a:pt x="145610" y="1513157"/>
                </a:lnTo>
                <a:lnTo>
                  <a:pt x="169738" y="1548036"/>
                </a:lnTo>
                <a:lnTo>
                  <a:pt x="195522" y="1582119"/>
                </a:lnTo>
                <a:lnTo>
                  <a:pt x="222919" y="1615376"/>
                </a:lnTo>
                <a:lnTo>
                  <a:pt x="251888" y="1647776"/>
                </a:lnTo>
                <a:lnTo>
                  <a:pt x="282390" y="1679287"/>
                </a:lnTo>
                <a:lnTo>
                  <a:pt x="314383" y="1709878"/>
                </a:lnTo>
                <a:lnTo>
                  <a:pt x="347826" y="1739518"/>
                </a:lnTo>
                <a:lnTo>
                  <a:pt x="382679" y="1768176"/>
                </a:lnTo>
                <a:lnTo>
                  <a:pt x="418900" y="1795821"/>
                </a:lnTo>
                <a:lnTo>
                  <a:pt x="456449" y="1822420"/>
                </a:lnTo>
                <a:lnTo>
                  <a:pt x="495285" y="1847945"/>
                </a:lnTo>
                <a:lnTo>
                  <a:pt x="535366" y="1872362"/>
                </a:lnTo>
                <a:lnTo>
                  <a:pt x="576653" y="1895641"/>
                </a:lnTo>
                <a:lnTo>
                  <a:pt x="619104" y="1917750"/>
                </a:lnTo>
                <a:lnTo>
                  <a:pt x="662678" y="1938660"/>
                </a:lnTo>
                <a:lnTo>
                  <a:pt x="707335" y="1958337"/>
                </a:lnTo>
                <a:lnTo>
                  <a:pt x="753034" y="1976752"/>
                </a:lnTo>
                <a:lnTo>
                  <a:pt x="799733" y="1993873"/>
                </a:lnTo>
                <a:lnTo>
                  <a:pt x="847392" y="2009668"/>
                </a:lnTo>
                <a:lnTo>
                  <a:pt x="895970" y="2024108"/>
                </a:lnTo>
                <a:lnTo>
                  <a:pt x="945427" y="2037159"/>
                </a:lnTo>
                <a:lnTo>
                  <a:pt x="995721" y="2048792"/>
                </a:lnTo>
                <a:lnTo>
                  <a:pt x="1046811" y="2058975"/>
                </a:lnTo>
                <a:lnTo>
                  <a:pt x="1098657" y="2067677"/>
                </a:lnTo>
                <a:lnTo>
                  <a:pt x="1151217" y="2074867"/>
                </a:lnTo>
                <a:lnTo>
                  <a:pt x="1204452" y="2080513"/>
                </a:lnTo>
                <a:lnTo>
                  <a:pt x="1258319" y="2084585"/>
                </a:lnTo>
                <a:lnTo>
                  <a:pt x="1312779" y="2087051"/>
                </a:lnTo>
                <a:lnTo>
                  <a:pt x="1367790" y="2087880"/>
                </a:lnTo>
                <a:lnTo>
                  <a:pt x="1422800" y="2087051"/>
                </a:lnTo>
                <a:lnTo>
                  <a:pt x="1477260" y="2084585"/>
                </a:lnTo>
                <a:lnTo>
                  <a:pt x="1531127" y="2080513"/>
                </a:lnTo>
                <a:lnTo>
                  <a:pt x="1584362" y="2074867"/>
                </a:lnTo>
                <a:lnTo>
                  <a:pt x="1636922" y="2067677"/>
                </a:lnTo>
                <a:lnTo>
                  <a:pt x="1688768" y="2058975"/>
                </a:lnTo>
                <a:lnTo>
                  <a:pt x="1739858" y="2048792"/>
                </a:lnTo>
                <a:lnTo>
                  <a:pt x="1790152" y="2037159"/>
                </a:lnTo>
                <a:lnTo>
                  <a:pt x="1839609" y="2024108"/>
                </a:lnTo>
                <a:lnTo>
                  <a:pt x="1888187" y="2009668"/>
                </a:lnTo>
                <a:lnTo>
                  <a:pt x="1935846" y="1993873"/>
                </a:lnTo>
                <a:lnTo>
                  <a:pt x="1982545" y="1976752"/>
                </a:lnTo>
                <a:lnTo>
                  <a:pt x="2028244" y="1958337"/>
                </a:lnTo>
                <a:lnTo>
                  <a:pt x="2072901" y="1938660"/>
                </a:lnTo>
                <a:lnTo>
                  <a:pt x="2116475" y="1917750"/>
                </a:lnTo>
                <a:lnTo>
                  <a:pt x="2158926" y="1895641"/>
                </a:lnTo>
                <a:lnTo>
                  <a:pt x="2200213" y="1872362"/>
                </a:lnTo>
                <a:lnTo>
                  <a:pt x="2240294" y="1847945"/>
                </a:lnTo>
                <a:lnTo>
                  <a:pt x="2279130" y="1822420"/>
                </a:lnTo>
                <a:lnTo>
                  <a:pt x="2316679" y="1795821"/>
                </a:lnTo>
                <a:lnTo>
                  <a:pt x="2352900" y="1768176"/>
                </a:lnTo>
                <a:lnTo>
                  <a:pt x="2387753" y="1739518"/>
                </a:lnTo>
                <a:lnTo>
                  <a:pt x="2421196" y="1709878"/>
                </a:lnTo>
                <a:lnTo>
                  <a:pt x="2453189" y="1679287"/>
                </a:lnTo>
                <a:lnTo>
                  <a:pt x="2483691" y="1647776"/>
                </a:lnTo>
                <a:lnTo>
                  <a:pt x="2512660" y="1615376"/>
                </a:lnTo>
                <a:lnTo>
                  <a:pt x="2540057" y="1582119"/>
                </a:lnTo>
                <a:lnTo>
                  <a:pt x="2565841" y="1548036"/>
                </a:lnTo>
                <a:lnTo>
                  <a:pt x="2589969" y="1513157"/>
                </a:lnTo>
                <a:lnTo>
                  <a:pt x="2612402" y="1477514"/>
                </a:lnTo>
                <a:lnTo>
                  <a:pt x="2633099" y="1441139"/>
                </a:lnTo>
                <a:lnTo>
                  <a:pt x="2652019" y="1404062"/>
                </a:lnTo>
                <a:lnTo>
                  <a:pt x="2669120" y="1366314"/>
                </a:lnTo>
                <a:lnTo>
                  <a:pt x="2684363" y="1327928"/>
                </a:lnTo>
                <a:lnTo>
                  <a:pt x="2697706" y="1288933"/>
                </a:lnTo>
                <a:lnTo>
                  <a:pt x="2709108" y="1249361"/>
                </a:lnTo>
                <a:lnTo>
                  <a:pt x="2718529" y="1209243"/>
                </a:lnTo>
                <a:lnTo>
                  <a:pt x="2725927" y="1168611"/>
                </a:lnTo>
                <a:lnTo>
                  <a:pt x="2731262" y="1127496"/>
                </a:lnTo>
                <a:lnTo>
                  <a:pt x="2734493" y="1085928"/>
                </a:lnTo>
                <a:lnTo>
                  <a:pt x="2735579" y="1043940"/>
                </a:lnTo>
                <a:lnTo>
                  <a:pt x="2734493" y="1001951"/>
                </a:lnTo>
                <a:lnTo>
                  <a:pt x="2731262" y="960383"/>
                </a:lnTo>
                <a:lnTo>
                  <a:pt x="2725927" y="919268"/>
                </a:lnTo>
                <a:lnTo>
                  <a:pt x="2718529" y="878636"/>
                </a:lnTo>
                <a:lnTo>
                  <a:pt x="2709108" y="838518"/>
                </a:lnTo>
                <a:lnTo>
                  <a:pt x="2697706" y="798946"/>
                </a:lnTo>
                <a:lnTo>
                  <a:pt x="2684363" y="759951"/>
                </a:lnTo>
                <a:lnTo>
                  <a:pt x="2669120" y="721565"/>
                </a:lnTo>
                <a:lnTo>
                  <a:pt x="2652019" y="683817"/>
                </a:lnTo>
                <a:lnTo>
                  <a:pt x="2633099" y="646740"/>
                </a:lnTo>
                <a:lnTo>
                  <a:pt x="2612402" y="610365"/>
                </a:lnTo>
                <a:lnTo>
                  <a:pt x="2589969" y="574722"/>
                </a:lnTo>
                <a:lnTo>
                  <a:pt x="2565841" y="539843"/>
                </a:lnTo>
                <a:lnTo>
                  <a:pt x="2540057" y="505760"/>
                </a:lnTo>
                <a:lnTo>
                  <a:pt x="2512660" y="472503"/>
                </a:lnTo>
                <a:lnTo>
                  <a:pt x="2483691" y="440103"/>
                </a:lnTo>
                <a:lnTo>
                  <a:pt x="2453189" y="408592"/>
                </a:lnTo>
                <a:lnTo>
                  <a:pt x="2421196" y="378001"/>
                </a:lnTo>
                <a:lnTo>
                  <a:pt x="2387753" y="348361"/>
                </a:lnTo>
                <a:lnTo>
                  <a:pt x="2352900" y="319703"/>
                </a:lnTo>
                <a:lnTo>
                  <a:pt x="2316679" y="292058"/>
                </a:lnTo>
                <a:lnTo>
                  <a:pt x="2279130" y="265459"/>
                </a:lnTo>
                <a:lnTo>
                  <a:pt x="2240294" y="239934"/>
                </a:lnTo>
                <a:lnTo>
                  <a:pt x="2200213" y="215517"/>
                </a:lnTo>
                <a:lnTo>
                  <a:pt x="2158926" y="192238"/>
                </a:lnTo>
                <a:lnTo>
                  <a:pt x="2116475" y="170129"/>
                </a:lnTo>
                <a:lnTo>
                  <a:pt x="2072901" y="149219"/>
                </a:lnTo>
                <a:lnTo>
                  <a:pt x="2028244" y="129542"/>
                </a:lnTo>
                <a:lnTo>
                  <a:pt x="1982545" y="111127"/>
                </a:lnTo>
                <a:lnTo>
                  <a:pt x="1935846" y="94006"/>
                </a:lnTo>
                <a:lnTo>
                  <a:pt x="1888187" y="78211"/>
                </a:lnTo>
                <a:lnTo>
                  <a:pt x="1839609" y="63771"/>
                </a:lnTo>
                <a:lnTo>
                  <a:pt x="1790152" y="50720"/>
                </a:lnTo>
                <a:lnTo>
                  <a:pt x="1739858" y="39087"/>
                </a:lnTo>
                <a:lnTo>
                  <a:pt x="1688768" y="28904"/>
                </a:lnTo>
                <a:lnTo>
                  <a:pt x="1636922" y="20202"/>
                </a:lnTo>
                <a:lnTo>
                  <a:pt x="1584362" y="13012"/>
                </a:lnTo>
                <a:lnTo>
                  <a:pt x="1531127" y="7366"/>
                </a:lnTo>
                <a:lnTo>
                  <a:pt x="1477260" y="3294"/>
                </a:lnTo>
                <a:lnTo>
                  <a:pt x="1422800" y="828"/>
                </a:lnTo>
                <a:lnTo>
                  <a:pt x="1367790" y="0"/>
                </a:lnTo>
                <a:close/>
              </a:path>
            </a:pathLst>
          </a:custGeom>
          <a:solidFill>
            <a:srgbClr val="EAE8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00978" y="3213354"/>
            <a:ext cx="2735580" cy="2087880"/>
          </a:xfrm>
          <a:custGeom>
            <a:avLst/>
            <a:gdLst/>
            <a:ahLst/>
            <a:cxnLst/>
            <a:rect l="l" t="t" r="r" b="b"/>
            <a:pathLst>
              <a:path w="2735579" h="2087879">
                <a:moveTo>
                  <a:pt x="0" y="1043940"/>
                </a:moveTo>
                <a:lnTo>
                  <a:pt x="1086" y="1001951"/>
                </a:lnTo>
                <a:lnTo>
                  <a:pt x="4317" y="960383"/>
                </a:lnTo>
                <a:lnTo>
                  <a:pt x="9652" y="919268"/>
                </a:lnTo>
                <a:lnTo>
                  <a:pt x="17050" y="878636"/>
                </a:lnTo>
                <a:lnTo>
                  <a:pt x="26471" y="838518"/>
                </a:lnTo>
                <a:lnTo>
                  <a:pt x="37873" y="798946"/>
                </a:lnTo>
                <a:lnTo>
                  <a:pt x="51216" y="759951"/>
                </a:lnTo>
                <a:lnTo>
                  <a:pt x="66459" y="721565"/>
                </a:lnTo>
                <a:lnTo>
                  <a:pt x="83560" y="683817"/>
                </a:lnTo>
                <a:lnTo>
                  <a:pt x="102480" y="646740"/>
                </a:lnTo>
                <a:lnTo>
                  <a:pt x="123177" y="610365"/>
                </a:lnTo>
                <a:lnTo>
                  <a:pt x="145610" y="574722"/>
                </a:lnTo>
                <a:lnTo>
                  <a:pt x="169738" y="539843"/>
                </a:lnTo>
                <a:lnTo>
                  <a:pt x="195522" y="505760"/>
                </a:lnTo>
                <a:lnTo>
                  <a:pt x="222919" y="472503"/>
                </a:lnTo>
                <a:lnTo>
                  <a:pt x="251888" y="440103"/>
                </a:lnTo>
                <a:lnTo>
                  <a:pt x="282390" y="408592"/>
                </a:lnTo>
                <a:lnTo>
                  <a:pt x="314383" y="378001"/>
                </a:lnTo>
                <a:lnTo>
                  <a:pt x="347826" y="348361"/>
                </a:lnTo>
                <a:lnTo>
                  <a:pt x="382679" y="319703"/>
                </a:lnTo>
                <a:lnTo>
                  <a:pt x="418900" y="292058"/>
                </a:lnTo>
                <a:lnTo>
                  <a:pt x="456449" y="265459"/>
                </a:lnTo>
                <a:lnTo>
                  <a:pt x="495285" y="239934"/>
                </a:lnTo>
                <a:lnTo>
                  <a:pt x="535366" y="215517"/>
                </a:lnTo>
                <a:lnTo>
                  <a:pt x="576653" y="192238"/>
                </a:lnTo>
                <a:lnTo>
                  <a:pt x="619104" y="170129"/>
                </a:lnTo>
                <a:lnTo>
                  <a:pt x="662678" y="149219"/>
                </a:lnTo>
                <a:lnTo>
                  <a:pt x="707335" y="129542"/>
                </a:lnTo>
                <a:lnTo>
                  <a:pt x="753034" y="111127"/>
                </a:lnTo>
                <a:lnTo>
                  <a:pt x="799733" y="94006"/>
                </a:lnTo>
                <a:lnTo>
                  <a:pt x="847392" y="78211"/>
                </a:lnTo>
                <a:lnTo>
                  <a:pt x="895970" y="63771"/>
                </a:lnTo>
                <a:lnTo>
                  <a:pt x="945427" y="50720"/>
                </a:lnTo>
                <a:lnTo>
                  <a:pt x="995721" y="39087"/>
                </a:lnTo>
                <a:lnTo>
                  <a:pt x="1046811" y="28904"/>
                </a:lnTo>
                <a:lnTo>
                  <a:pt x="1098657" y="20202"/>
                </a:lnTo>
                <a:lnTo>
                  <a:pt x="1151217" y="13012"/>
                </a:lnTo>
                <a:lnTo>
                  <a:pt x="1204452" y="7366"/>
                </a:lnTo>
                <a:lnTo>
                  <a:pt x="1258319" y="3294"/>
                </a:lnTo>
                <a:lnTo>
                  <a:pt x="1312779" y="828"/>
                </a:lnTo>
                <a:lnTo>
                  <a:pt x="1367790" y="0"/>
                </a:lnTo>
                <a:lnTo>
                  <a:pt x="1422800" y="828"/>
                </a:lnTo>
                <a:lnTo>
                  <a:pt x="1477260" y="3294"/>
                </a:lnTo>
                <a:lnTo>
                  <a:pt x="1531127" y="7366"/>
                </a:lnTo>
                <a:lnTo>
                  <a:pt x="1584362" y="13012"/>
                </a:lnTo>
                <a:lnTo>
                  <a:pt x="1636922" y="20202"/>
                </a:lnTo>
                <a:lnTo>
                  <a:pt x="1688768" y="28904"/>
                </a:lnTo>
                <a:lnTo>
                  <a:pt x="1739858" y="39087"/>
                </a:lnTo>
                <a:lnTo>
                  <a:pt x="1790152" y="50720"/>
                </a:lnTo>
                <a:lnTo>
                  <a:pt x="1839609" y="63771"/>
                </a:lnTo>
                <a:lnTo>
                  <a:pt x="1888187" y="78211"/>
                </a:lnTo>
                <a:lnTo>
                  <a:pt x="1935846" y="94006"/>
                </a:lnTo>
                <a:lnTo>
                  <a:pt x="1982545" y="111127"/>
                </a:lnTo>
                <a:lnTo>
                  <a:pt x="2028244" y="129542"/>
                </a:lnTo>
                <a:lnTo>
                  <a:pt x="2072901" y="149219"/>
                </a:lnTo>
                <a:lnTo>
                  <a:pt x="2116475" y="170129"/>
                </a:lnTo>
                <a:lnTo>
                  <a:pt x="2158926" y="192238"/>
                </a:lnTo>
                <a:lnTo>
                  <a:pt x="2200213" y="215517"/>
                </a:lnTo>
                <a:lnTo>
                  <a:pt x="2240294" y="239934"/>
                </a:lnTo>
                <a:lnTo>
                  <a:pt x="2279130" y="265459"/>
                </a:lnTo>
                <a:lnTo>
                  <a:pt x="2316679" y="292058"/>
                </a:lnTo>
                <a:lnTo>
                  <a:pt x="2352900" y="319703"/>
                </a:lnTo>
                <a:lnTo>
                  <a:pt x="2387753" y="348361"/>
                </a:lnTo>
                <a:lnTo>
                  <a:pt x="2421196" y="378001"/>
                </a:lnTo>
                <a:lnTo>
                  <a:pt x="2453189" y="408592"/>
                </a:lnTo>
                <a:lnTo>
                  <a:pt x="2483691" y="440103"/>
                </a:lnTo>
                <a:lnTo>
                  <a:pt x="2512660" y="472503"/>
                </a:lnTo>
                <a:lnTo>
                  <a:pt x="2540057" y="505760"/>
                </a:lnTo>
                <a:lnTo>
                  <a:pt x="2565841" y="539843"/>
                </a:lnTo>
                <a:lnTo>
                  <a:pt x="2589969" y="574722"/>
                </a:lnTo>
                <a:lnTo>
                  <a:pt x="2612402" y="610365"/>
                </a:lnTo>
                <a:lnTo>
                  <a:pt x="2633099" y="646740"/>
                </a:lnTo>
                <a:lnTo>
                  <a:pt x="2652019" y="683817"/>
                </a:lnTo>
                <a:lnTo>
                  <a:pt x="2669120" y="721565"/>
                </a:lnTo>
                <a:lnTo>
                  <a:pt x="2684363" y="759951"/>
                </a:lnTo>
                <a:lnTo>
                  <a:pt x="2697706" y="798946"/>
                </a:lnTo>
                <a:lnTo>
                  <a:pt x="2709108" y="838518"/>
                </a:lnTo>
                <a:lnTo>
                  <a:pt x="2718529" y="878636"/>
                </a:lnTo>
                <a:lnTo>
                  <a:pt x="2725927" y="919268"/>
                </a:lnTo>
                <a:lnTo>
                  <a:pt x="2731262" y="960383"/>
                </a:lnTo>
                <a:lnTo>
                  <a:pt x="2734493" y="1001951"/>
                </a:lnTo>
                <a:lnTo>
                  <a:pt x="2735579" y="1043940"/>
                </a:lnTo>
                <a:lnTo>
                  <a:pt x="2734493" y="1085928"/>
                </a:lnTo>
                <a:lnTo>
                  <a:pt x="2731262" y="1127496"/>
                </a:lnTo>
                <a:lnTo>
                  <a:pt x="2725927" y="1168611"/>
                </a:lnTo>
                <a:lnTo>
                  <a:pt x="2718529" y="1209243"/>
                </a:lnTo>
                <a:lnTo>
                  <a:pt x="2709108" y="1249361"/>
                </a:lnTo>
                <a:lnTo>
                  <a:pt x="2697706" y="1288933"/>
                </a:lnTo>
                <a:lnTo>
                  <a:pt x="2684363" y="1327928"/>
                </a:lnTo>
                <a:lnTo>
                  <a:pt x="2669120" y="1366314"/>
                </a:lnTo>
                <a:lnTo>
                  <a:pt x="2652019" y="1404062"/>
                </a:lnTo>
                <a:lnTo>
                  <a:pt x="2633099" y="1441139"/>
                </a:lnTo>
                <a:lnTo>
                  <a:pt x="2612402" y="1477514"/>
                </a:lnTo>
                <a:lnTo>
                  <a:pt x="2589969" y="1513157"/>
                </a:lnTo>
                <a:lnTo>
                  <a:pt x="2565841" y="1548036"/>
                </a:lnTo>
                <a:lnTo>
                  <a:pt x="2540057" y="1582119"/>
                </a:lnTo>
                <a:lnTo>
                  <a:pt x="2512660" y="1615376"/>
                </a:lnTo>
                <a:lnTo>
                  <a:pt x="2483691" y="1647776"/>
                </a:lnTo>
                <a:lnTo>
                  <a:pt x="2453189" y="1679287"/>
                </a:lnTo>
                <a:lnTo>
                  <a:pt x="2421196" y="1709878"/>
                </a:lnTo>
                <a:lnTo>
                  <a:pt x="2387753" y="1739518"/>
                </a:lnTo>
                <a:lnTo>
                  <a:pt x="2352900" y="1768176"/>
                </a:lnTo>
                <a:lnTo>
                  <a:pt x="2316679" y="1795821"/>
                </a:lnTo>
                <a:lnTo>
                  <a:pt x="2279130" y="1822420"/>
                </a:lnTo>
                <a:lnTo>
                  <a:pt x="2240294" y="1847945"/>
                </a:lnTo>
                <a:lnTo>
                  <a:pt x="2200213" y="1872362"/>
                </a:lnTo>
                <a:lnTo>
                  <a:pt x="2158926" y="1895641"/>
                </a:lnTo>
                <a:lnTo>
                  <a:pt x="2116475" y="1917750"/>
                </a:lnTo>
                <a:lnTo>
                  <a:pt x="2072901" y="1938660"/>
                </a:lnTo>
                <a:lnTo>
                  <a:pt x="2028244" y="1958337"/>
                </a:lnTo>
                <a:lnTo>
                  <a:pt x="1982545" y="1976752"/>
                </a:lnTo>
                <a:lnTo>
                  <a:pt x="1935846" y="1993873"/>
                </a:lnTo>
                <a:lnTo>
                  <a:pt x="1888187" y="2009668"/>
                </a:lnTo>
                <a:lnTo>
                  <a:pt x="1839609" y="2024108"/>
                </a:lnTo>
                <a:lnTo>
                  <a:pt x="1790152" y="2037159"/>
                </a:lnTo>
                <a:lnTo>
                  <a:pt x="1739858" y="2048792"/>
                </a:lnTo>
                <a:lnTo>
                  <a:pt x="1688768" y="2058975"/>
                </a:lnTo>
                <a:lnTo>
                  <a:pt x="1636922" y="2067677"/>
                </a:lnTo>
                <a:lnTo>
                  <a:pt x="1584362" y="2074867"/>
                </a:lnTo>
                <a:lnTo>
                  <a:pt x="1531127" y="2080513"/>
                </a:lnTo>
                <a:lnTo>
                  <a:pt x="1477260" y="2084585"/>
                </a:lnTo>
                <a:lnTo>
                  <a:pt x="1422800" y="2087051"/>
                </a:lnTo>
                <a:lnTo>
                  <a:pt x="1367790" y="2087880"/>
                </a:lnTo>
                <a:lnTo>
                  <a:pt x="1312779" y="2087051"/>
                </a:lnTo>
                <a:lnTo>
                  <a:pt x="1258319" y="2084585"/>
                </a:lnTo>
                <a:lnTo>
                  <a:pt x="1204452" y="2080513"/>
                </a:lnTo>
                <a:lnTo>
                  <a:pt x="1151217" y="2074867"/>
                </a:lnTo>
                <a:lnTo>
                  <a:pt x="1098657" y="2067677"/>
                </a:lnTo>
                <a:lnTo>
                  <a:pt x="1046811" y="2058975"/>
                </a:lnTo>
                <a:lnTo>
                  <a:pt x="995721" y="2048792"/>
                </a:lnTo>
                <a:lnTo>
                  <a:pt x="945427" y="2037159"/>
                </a:lnTo>
                <a:lnTo>
                  <a:pt x="895970" y="2024108"/>
                </a:lnTo>
                <a:lnTo>
                  <a:pt x="847392" y="2009668"/>
                </a:lnTo>
                <a:lnTo>
                  <a:pt x="799733" y="1993873"/>
                </a:lnTo>
                <a:lnTo>
                  <a:pt x="753034" y="1976752"/>
                </a:lnTo>
                <a:lnTo>
                  <a:pt x="707335" y="1958337"/>
                </a:lnTo>
                <a:lnTo>
                  <a:pt x="662678" y="1938660"/>
                </a:lnTo>
                <a:lnTo>
                  <a:pt x="619104" y="1917750"/>
                </a:lnTo>
                <a:lnTo>
                  <a:pt x="576653" y="1895641"/>
                </a:lnTo>
                <a:lnTo>
                  <a:pt x="535366" y="1872362"/>
                </a:lnTo>
                <a:lnTo>
                  <a:pt x="495285" y="1847945"/>
                </a:lnTo>
                <a:lnTo>
                  <a:pt x="456449" y="1822420"/>
                </a:lnTo>
                <a:lnTo>
                  <a:pt x="418900" y="1795821"/>
                </a:lnTo>
                <a:lnTo>
                  <a:pt x="382679" y="1768176"/>
                </a:lnTo>
                <a:lnTo>
                  <a:pt x="347826" y="1739518"/>
                </a:lnTo>
                <a:lnTo>
                  <a:pt x="314383" y="1709878"/>
                </a:lnTo>
                <a:lnTo>
                  <a:pt x="282390" y="1679287"/>
                </a:lnTo>
                <a:lnTo>
                  <a:pt x="251888" y="1647776"/>
                </a:lnTo>
                <a:lnTo>
                  <a:pt x="222919" y="1615376"/>
                </a:lnTo>
                <a:lnTo>
                  <a:pt x="195522" y="1582119"/>
                </a:lnTo>
                <a:lnTo>
                  <a:pt x="169738" y="1548036"/>
                </a:lnTo>
                <a:lnTo>
                  <a:pt x="145610" y="1513157"/>
                </a:lnTo>
                <a:lnTo>
                  <a:pt x="123177" y="1477514"/>
                </a:lnTo>
                <a:lnTo>
                  <a:pt x="102480" y="1441139"/>
                </a:lnTo>
                <a:lnTo>
                  <a:pt x="83560" y="1404062"/>
                </a:lnTo>
                <a:lnTo>
                  <a:pt x="66459" y="1366314"/>
                </a:lnTo>
                <a:lnTo>
                  <a:pt x="51216" y="1327928"/>
                </a:lnTo>
                <a:lnTo>
                  <a:pt x="37873" y="1288933"/>
                </a:lnTo>
                <a:lnTo>
                  <a:pt x="26471" y="1249361"/>
                </a:lnTo>
                <a:lnTo>
                  <a:pt x="17050" y="1209243"/>
                </a:lnTo>
                <a:lnTo>
                  <a:pt x="9652" y="1168611"/>
                </a:lnTo>
                <a:lnTo>
                  <a:pt x="4317" y="1127496"/>
                </a:lnTo>
                <a:lnTo>
                  <a:pt x="1086" y="1085928"/>
                </a:lnTo>
                <a:lnTo>
                  <a:pt x="0" y="1043940"/>
                </a:lnTo>
                <a:close/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875526" y="4450841"/>
            <a:ext cx="1584960" cy="576580"/>
          </a:xfrm>
          <a:custGeom>
            <a:avLst/>
            <a:gdLst/>
            <a:ahLst/>
            <a:cxnLst/>
            <a:rect l="l" t="t" r="r" b="b"/>
            <a:pathLst>
              <a:path w="1584959" h="576579">
                <a:moveTo>
                  <a:pt x="792479" y="0"/>
                </a:moveTo>
                <a:lnTo>
                  <a:pt x="724106" y="1056"/>
                </a:lnTo>
                <a:lnTo>
                  <a:pt x="657347" y="4169"/>
                </a:lnTo>
                <a:lnTo>
                  <a:pt x="592439" y="9252"/>
                </a:lnTo>
                <a:lnTo>
                  <a:pt x="529622" y="16218"/>
                </a:lnTo>
                <a:lnTo>
                  <a:pt x="469133" y="24982"/>
                </a:lnTo>
                <a:lnTo>
                  <a:pt x="411210" y="35456"/>
                </a:lnTo>
                <a:lnTo>
                  <a:pt x="356092" y="47555"/>
                </a:lnTo>
                <a:lnTo>
                  <a:pt x="304015" y="61192"/>
                </a:lnTo>
                <a:lnTo>
                  <a:pt x="255218" y="76281"/>
                </a:lnTo>
                <a:lnTo>
                  <a:pt x="209939" y="92736"/>
                </a:lnTo>
                <a:lnTo>
                  <a:pt x="168416" y="110470"/>
                </a:lnTo>
                <a:lnTo>
                  <a:pt x="130887" y="129397"/>
                </a:lnTo>
                <a:lnTo>
                  <a:pt x="97589" y="149430"/>
                </a:lnTo>
                <a:lnTo>
                  <a:pt x="44642" y="192471"/>
                </a:lnTo>
                <a:lnTo>
                  <a:pt x="11477" y="238903"/>
                </a:lnTo>
                <a:lnTo>
                  <a:pt x="0" y="288035"/>
                </a:lnTo>
                <a:lnTo>
                  <a:pt x="2909" y="312896"/>
                </a:lnTo>
                <a:lnTo>
                  <a:pt x="25468" y="360764"/>
                </a:lnTo>
                <a:lnTo>
                  <a:pt x="68762" y="405587"/>
                </a:lnTo>
                <a:lnTo>
                  <a:pt x="130887" y="446674"/>
                </a:lnTo>
                <a:lnTo>
                  <a:pt x="168416" y="465601"/>
                </a:lnTo>
                <a:lnTo>
                  <a:pt x="209939" y="483335"/>
                </a:lnTo>
                <a:lnTo>
                  <a:pt x="255218" y="499790"/>
                </a:lnTo>
                <a:lnTo>
                  <a:pt x="304015" y="514879"/>
                </a:lnTo>
                <a:lnTo>
                  <a:pt x="356092" y="528516"/>
                </a:lnTo>
                <a:lnTo>
                  <a:pt x="411210" y="540615"/>
                </a:lnTo>
                <a:lnTo>
                  <a:pt x="469133" y="551089"/>
                </a:lnTo>
                <a:lnTo>
                  <a:pt x="529622" y="559853"/>
                </a:lnTo>
                <a:lnTo>
                  <a:pt x="592439" y="566819"/>
                </a:lnTo>
                <a:lnTo>
                  <a:pt x="657347" y="571902"/>
                </a:lnTo>
                <a:lnTo>
                  <a:pt x="724106" y="575015"/>
                </a:lnTo>
                <a:lnTo>
                  <a:pt x="792479" y="576071"/>
                </a:lnTo>
                <a:lnTo>
                  <a:pt x="860853" y="575015"/>
                </a:lnTo>
                <a:lnTo>
                  <a:pt x="927612" y="571902"/>
                </a:lnTo>
                <a:lnTo>
                  <a:pt x="992520" y="566819"/>
                </a:lnTo>
                <a:lnTo>
                  <a:pt x="1055337" y="559853"/>
                </a:lnTo>
                <a:lnTo>
                  <a:pt x="1115826" y="551089"/>
                </a:lnTo>
                <a:lnTo>
                  <a:pt x="1173749" y="540615"/>
                </a:lnTo>
                <a:lnTo>
                  <a:pt x="1228867" y="528516"/>
                </a:lnTo>
                <a:lnTo>
                  <a:pt x="1280944" y="514879"/>
                </a:lnTo>
                <a:lnTo>
                  <a:pt x="1329741" y="499790"/>
                </a:lnTo>
                <a:lnTo>
                  <a:pt x="1375020" y="483335"/>
                </a:lnTo>
                <a:lnTo>
                  <a:pt x="1416543" y="465601"/>
                </a:lnTo>
                <a:lnTo>
                  <a:pt x="1454072" y="446674"/>
                </a:lnTo>
                <a:lnTo>
                  <a:pt x="1487370" y="426641"/>
                </a:lnTo>
                <a:lnTo>
                  <a:pt x="1540317" y="383600"/>
                </a:lnTo>
                <a:lnTo>
                  <a:pt x="1573482" y="337168"/>
                </a:lnTo>
                <a:lnTo>
                  <a:pt x="1584959" y="288035"/>
                </a:lnTo>
                <a:lnTo>
                  <a:pt x="1582050" y="263175"/>
                </a:lnTo>
                <a:lnTo>
                  <a:pt x="1559491" y="215307"/>
                </a:lnTo>
                <a:lnTo>
                  <a:pt x="1516197" y="170484"/>
                </a:lnTo>
                <a:lnTo>
                  <a:pt x="1454072" y="129397"/>
                </a:lnTo>
                <a:lnTo>
                  <a:pt x="1416543" y="110470"/>
                </a:lnTo>
                <a:lnTo>
                  <a:pt x="1375020" y="92736"/>
                </a:lnTo>
                <a:lnTo>
                  <a:pt x="1329741" y="76281"/>
                </a:lnTo>
                <a:lnTo>
                  <a:pt x="1280944" y="61192"/>
                </a:lnTo>
                <a:lnTo>
                  <a:pt x="1228867" y="47555"/>
                </a:lnTo>
                <a:lnTo>
                  <a:pt x="1173749" y="35456"/>
                </a:lnTo>
                <a:lnTo>
                  <a:pt x="1115826" y="24982"/>
                </a:lnTo>
                <a:lnTo>
                  <a:pt x="1055337" y="16218"/>
                </a:lnTo>
                <a:lnTo>
                  <a:pt x="992520" y="9252"/>
                </a:lnTo>
                <a:lnTo>
                  <a:pt x="927612" y="4169"/>
                </a:lnTo>
                <a:lnTo>
                  <a:pt x="860853" y="1056"/>
                </a:lnTo>
                <a:lnTo>
                  <a:pt x="792479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875526" y="4450841"/>
            <a:ext cx="1584960" cy="576580"/>
          </a:xfrm>
          <a:custGeom>
            <a:avLst/>
            <a:gdLst/>
            <a:ahLst/>
            <a:cxnLst/>
            <a:rect l="l" t="t" r="r" b="b"/>
            <a:pathLst>
              <a:path w="1584959" h="576579">
                <a:moveTo>
                  <a:pt x="0" y="288035"/>
                </a:moveTo>
                <a:lnTo>
                  <a:pt x="11477" y="238903"/>
                </a:lnTo>
                <a:lnTo>
                  <a:pt x="44642" y="192471"/>
                </a:lnTo>
                <a:lnTo>
                  <a:pt x="97589" y="149430"/>
                </a:lnTo>
                <a:lnTo>
                  <a:pt x="130887" y="129397"/>
                </a:lnTo>
                <a:lnTo>
                  <a:pt x="168416" y="110470"/>
                </a:lnTo>
                <a:lnTo>
                  <a:pt x="209939" y="92736"/>
                </a:lnTo>
                <a:lnTo>
                  <a:pt x="255218" y="76281"/>
                </a:lnTo>
                <a:lnTo>
                  <a:pt x="304015" y="61192"/>
                </a:lnTo>
                <a:lnTo>
                  <a:pt x="356092" y="47555"/>
                </a:lnTo>
                <a:lnTo>
                  <a:pt x="411210" y="35456"/>
                </a:lnTo>
                <a:lnTo>
                  <a:pt x="469133" y="24982"/>
                </a:lnTo>
                <a:lnTo>
                  <a:pt x="529622" y="16218"/>
                </a:lnTo>
                <a:lnTo>
                  <a:pt x="592439" y="9252"/>
                </a:lnTo>
                <a:lnTo>
                  <a:pt x="657347" y="4169"/>
                </a:lnTo>
                <a:lnTo>
                  <a:pt x="724106" y="1056"/>
                </a:lnTo>
                <a:lnTo>
                  <a:pt x="792479" y="0"/>
                </a:lnTo>
                <a:lnTo>
                  <a:pt x="860853" y="1056"/>
                </a:lnTo>
                <a:lnTo>
                  <a:pt x="927612" y="4169"/>
                </a:lnTo>
                <a:lnTo>
                  <a:pt x="992520" y="9252"/>
                </a:lnTo>
                <a:lnTo>
                  <a:pt x="1055337" y="16218"/>
                </a:lnTo>
                <a:lnTo>
                  <a:pt x="1115826" y="24982"/>
                </a:lnTo>
                <a:lnTo>
                  <a:pt x="1173749" y="35456"/>
                </a:lnTo>
                <a:lnTo>
                  <a:pt x="1228867" y="47555"/>
                </a:lnTo>
                <a:lnTo>
                  <a:pt x="1280944" y="61192"/>
                </a:lnTo>
                <a:lnTo>
                  <a:pt x="1329741" y="76281"/>
                </a:lnTo>
                <a:lnTo>
                  <a:pt x="1375020" y="92736"/>
                </a:lnTo>
                <a:lnTo>
                  <a:pt x="1416543" y="110470"/>
                </a:lnTo>
                <a:lnTo>
                  <a:pt x="1454072" y="129397"/>
                </a:lnTo>
                <a:lnTo>
                  <a:pt x="1487370" y="149430"/>
                </a:lnTo>
                <a:lnTo>
                  <a:pt x="1540317" y="192471"/>
                </a:lnTo>
                <a:lnTo>
                  <a:pt x="1573482" y="238903"/>
                </a:lnTo>
                <a:lnTo>
                  <a:pt x="1584959" y="288035"/>
                </a:lnTo>
                <a:lnTo>
                  <a:pt x="1582050" y="312896"/>
                </a:lnTo>
                <a:lnTo>
                  <a:pt x="1559491" y="360764"/>
                </a:lnTo>
                <a:lnTo>
                  <a:pt x="1516197" y="405587"/>
                </a:lnTo>
                <a:lnTo>
                  <a:pt x="1454072" y="446674"/>
                </a:lnTo>
                <a:lnTo>
                  <a:pt x="1416543" y="465601"/>
                </a:lnTo>
                <a:lnTo>
                  <a:pt x="1375020" y="483335"/>
                </a:lnTo>
                <a:lnTo>
                  <a:pt x="1329741" y="499790"/>
                </a:lnTo>
                <a:lnTo>
                  <a:pt x="1280944" y="514879"/>
                </a:lnTo>
                <a:lnTo>
                  <a:pt x="1228867" y="528516"/>
                </a:lnTo>
                <a:lnTo>
                  <a:pt x="1173749" y="540615"/>
                </a:lnTo>
                <a:lnTo>
                  <a:pt x="1115826" y="551089"/>
                </a:lnTo>
                <a:lnTo>
                  <a:pt x="1055337" y="559853"/>
                </a:lnTo>
                <a:lnTo>
                  <a:pt x="992520" y="566819"/>
                </a:lnTo>
                <a:lnTo>
                  <a:pt x="927612" y="571902"/>
                </a:lnTo>
                <a:lnTo>
                  <a:pt x="860853" y="575015"/>
                </a:lnTo>
                <a:lnTo>
                  <a:pt x="792479" y="576071"/>
                </a:lnTo>
                <a:lnTo>
                  <a:pt x="724106" y="575015"/>
                </a:lnTo>
                <a:lnTo>
                  <a:pt x="657347" y="571902"/>
                </a:lnTo>
                <a:lnTo>
                  <a:pt x="592439" y="566819"/>
                </a:lnTo>
                <a:lnTo>
                  <a:pt x="529622" y="559853"/>
                </a:lnTo>
                <a:lnTo>
                  <a:pt x="469133" y="551089"/>
                </a:lnTo>
                <a:lnTo>
                  <a:pt x="411210" y="540615"/>
                </a:lnTo>
                <a:lnTo>
                  <a:pt x="356092" y="528516"/>
                </a:lnTo>
                <a:lnTo>
                  <a:pt x="304015" y="514879"/>
                </a:lnTo>
                <a:lnTo>
                  <a:pt x="255218" y="499790"/>
                </a:lnTo>
                <a:lnTo>
                  <a:pt x="209939" y="483335"/>
                </a:lnTo>
                <a:lnTo>
                  <a:pt x="168416" y="465601"/>
                </a:lnTo>
                <a:lnTo>
                  <a:pt x="130887" y="446674"/>
                </a:lnTo>
                <a:lnTo>
                  <a:pt x="97589" y="426641"/>
                </a:lnTo>
                <a:lnTo>
                  <a:pt x="44642" y="383600"/>
                </a:lnTo>
                <a:lnTo>
                  <a:pt x="11477" y="337168"/>
                </a:lnTo>
                <a:lnTo>
                  <a:pt x="0" y="288035"/>
                </a:lnTo>
                <a:close/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198614" y="4572380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华文仿宋"/>
                <a:cs typeface="华文仿宋"/>
              </a:rPr>
              <a:t>持续交付</a:t>
            </a:r>
            <a:endParaRPr sz="1800">
              <a:latin typeface="华文仿宋"/>
              <a:cs typeface="华文仿宋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875526" y="3483102"/>
            <a:ext cx="1584960" cy="577850"/>
          </a:xfrm>
          <a:custGeom>
            <a:avLst/>
            <a:gdLst/>
            <a:ahLst/>
            <a:cxnLst/>
            <a:rect l="l" t="t" r="r" b="b"/>
            <a:pathLst>
              <a:path w="1584959" h="577850">
                <a:moveTo>
                  <a:pt x="792479" y="0"/>
                </a:moveTo>
                <a:lnTo>
                  <a:pt x="724106" y="1059"/>
                </a:lnTo>
                <a:lnTo>
                  <a:pt x="657347" y="4182"/>
                </a:lnTo>
                <a:lnTo>
                  <a:pt x="592439" y="9279"/>
                </a:lnTo>
                <a:lnTo>
                  <a:pt x="529622" y="16266"/>
                </a:lnTo>
                <a:lnTo>
                  <a:pt x="469133" y="25054"/>
                </a:lnTo>
                <a:lnTo>
                  <a:pt x="411210" y="35558"/>
                </a:lnTo>
                <a:lnTo>
                  <a:pt x="356092" y="47691"/>
                </a:lnTo>
                <a:lnTo>
                  <a:pt x="304015" y="61367"/>
                </a:lnTo>
                <a:lnTo>
                  <a:pt x="255218" y="76497"/>
                </a:lnTo>
                <a:lnTo>
                  <a:pt x="209939" y="92997"/>
                </a:lnTo>
                <a:lnTo>
                  <a:pt x="168416" y="110779"/>
                </a:lnTo>
                <a:lnTo>
                  <a:pt x="130887" y="129757"/>
                </a:lnTo>
                <a:lnTo>
                  <a:pt x="97589" y="149843"/>
                </a:lnTo>
                <a:lnTo>
                  <a:pt x="44642" y="192996"/>
                </a:lnTo>
                <a:lnTo>
                  <a:pt x="11477" y="239546"/>
                </a:lnTo>
                <a:lnTo>
                  <a:pt x="0" y="288798"/>
                </a:lnTo>
                <a:lnTo>
                  <a:pt x="2909" y="313718"/>
                </a:lnTo>
                <a:lnTo>
                  <a:pt x="25468" y="361705"/>
                </a:lnTo>
                <a:lnTo>
                  <a:pt x="68762" y="406643"/>
                </a:lnTo>
                <a:lnTo>
                  <a:pt x="130887" y="447838"/>
                </a:lnTo>
                <a:lnTo>
                  <a:pt x="168416" y="466816"/>
                </a:lnTo>
                <a:lnTo>
                  <a:pt x="209939" y="484598"/>
                </a:lnTo>
                <a:lnTo>
                  <a:pt x="255218" y="501098"/>
                </a:lnTo>
                <a:lnTo>
                  <a:pt x="304015" y="516228"/>
                </a:lnTo>
                <a:lnTo>
                  <a:pt x="356092" y="529904"/>
                </a:lnTo>
                <a:lnTo>
                  <a:pt x="411210" y="542037"/>
                </a:lnTo>
                <a:lnTo>
                  <a:pt x="469133" y="552541"/>
                </a:lnTo>
                <a:lnTo>
                  <a:pt x="529622" y="561329"/>
                </a:lnTo>
                <a:lnTo>
                  <a:pt x="592439" y="568316"/>
                </a:lnTo>
                <a:lnTo>
                  <a:pt x="657347" y="573413"/>
                </a:lnTo>
                <a:lnTo>
                  <a:pt x="724106" y="576536"/>
                </a:lnTo>
                <a:lnTo>
                  <a:pt x="792479" y="577596"/>
                </a:lnTo>
                <a:lnTo>
                  <a:pt x="860853" y="576536"/>
                </a:lnTo>
                <a:lnTo>
                  <a:pt x="927612" y="573413"/>
                </a:lnTo>
                <a:lnTo>
                  <a:pt x="992520" y="568316"/>
                </a:lnTo>
                <a:lnTo>
                  <a:pt x="1055337" y="561329"/>
                </a:lnTo>
                <a:lnTo>
                  <a:pt x="1115826" y="552541"/>
                </a:lnTo>
                <a:lnTo>
                  <a:pt x="1173749" y="542037"/>
                </a:lnTo>
                <a:lnTo>
                  <a:pt x="1228867" y="529904"/>
                </a:lnTo>
                <a:lnTo>
                  <a:pt x="1280944" y="516228"/>
                </a:lnTo>
                <a:lnTo>
                  <a:pt x="1329741" y="501098"/>
                </a:lnTo>
                <a:lnTo>
                  <a:pt x="1375020" y="484598"/>
                </a:lnTo>
                <a:lnTo>
                  <a:pt x="1416543" y="466816"/>
                </a:lnTo>
                <a:lnTo>
                  <a:pt x="1454072" y="447838"/>
                </a:lnTo>
                <a:lnTo>
                  <a:pt x="1487370" y="427752"/>
                </a:lnTo>
                <a:lnTo>
                  <a:pt x="1540317" y="384599"/>
                </a:lnTo>
                <a:lnTo>
                  <a:pt x="1573482" y="338049"/>
                </a:lnTo>
                <a:lnTo>
                  <a:pt x="1584959" y="288798"/>
                </a:lnTo>
                <a:lnTo>
                  <a:pt x="1582050" y="263877"/>
                </a:lnTo>
                <a:lnTo>
                  <a:pt x="1559491" y="215890"/>
                </a:lnTo>
                <a:lnTo>
                  <a:pt x="1516197" y="170952"/>
                </a:lnTo>
                <a:lnTo>
                  <a:pt x="1454072" y="129757"/>
                </a:lnTo>
                <a:lnTo>
                  <a:pt x="1416543" y="110779"/>
                </a:lnTo>
                <a:lnTo>
                  <a:pt x="1375020" y="92997"/>
                </a:lnTo>
                <a:lnTo>
                  <a:pt x="1329741" y="76497"/>
                </a:lnTo>
                <a:lnTo>
                  <a:pt x="1280944" y="61367"/>
                </a:lnTo>
                <a:lnTo>
                  <a:pt x="1228867" y="47691"/>
                </a:lnTo>
                <a:lnTo>
                  <a:pt x="1173749" y="35558"/>
                </a:lnTo>
                <a:lnTo>
                  <a:pt x="1115826" y="25054"/>
                </a:lnTo>
                <a:lnTo>
                  <a:pt x="1055337" y="16266"/>
                </a:lnTo>
                <a:lnTo>
                  <a:pt x="992520" y="9279"/>
                </a:lnTo>
                <a:lnTo>
                  <a:pt x="927612" y="4182"/>
                </a:lnTo>
                <a:lnTo>
                  <a:pt x="860853" y="1059"/>
                </a:lnTo>
                <a:lnTo>
                  <a:pt x="792479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875526" y="3483102"/>
            <a:ext cx="1584960" cy="577850"/>
          </a:xfrm>
          <a:custGeom>
            <a:avLst/>
            <a:gdLst/>
            <a:ahLst/>
            <a:cxnLst/>
            <a:rect l="l" t="t" r="r" b="b"/>
            <a:pathLst>
              <a:path w="1584959" h="577850">
                <a:moveTo>
                  <a:pt x="0" y="288798"/>
                </a:moveTo>
                <a:lnTo>
                  <a:pt x="11477" y="239546"/>
                </a:lnTo>
                <a:lnTo>
                  <a:pt x="44642" y="192996"/>
                </a:lnTo>
                <a:lnTo>
                  <a:pt x="97589" y="149843"/>
                </a:lnTo>
                <a:lnTo>
                  <a:pt x="130887" y="129757"/>
                </a:lnTo>
                <a:lnTo>
                  <a:pt x="168416" y="110779"/>
                </a:lnTo>
                <a:lnTo>
                  <a:pt x="209939" y="92997"/>
                </a:lnTo>
                <a:lnTo>
                  <a:pt x="255218" y="76497"/>
                </a:lnTo>
                <a:lnTo>
                  <a:pt x="304015" y="61367"/>
                </a:lnTo>
                <a:lnTo>
                  <a:pt x="356092" y="47691"/>
                </a:lnTo>
                <a:lnTo>
                  <a:pt x="411210" y="35558"/>
                </a:lnTo>
                <a:lnTo>
                  <a:pt x="469133" y="25054"/>
                </a:lnTo>
                <a:lnTo>
                  <a:pt x="529622" y="16266"/>
                </a:lnTo>
                <a:lnTo>
                  <a:pt x="592439" y="9279"/>
                </a:lnTo>
                <a:lnTo>
                  <a:pt x="657347" y="4182"/>
                </a:lnTo>
                <a:lnTo>
                  <a:pt x="724106" y="1059"/>
                </a:lnTo>
                <a:lnTo>
                  <a:pt x="792479" y="0"/>
                </a:lnTo>
                <a:lnTo>
                  <a:pt x="860853" y="1059"/>
                </a:lnTo>
                <a:lnTo>
                  <a:pt x="927612" y="4182"/>
                </a:lnTo>
                <a:lnTo>
                  <a:pt x="992520" y="9279"/>
                </a:lnTo>
                <a:lnTo>
                  <a:pt x="1055337" y="16266"/>
                </a:lnTo>
                <a:lnTo>
                  <a:pt x="1115826" y="25054"/>
                </a:lnTo>
                <a:lnTo>
                  <a:pt x="1173749" y="35558"/>
                </a:lnTo>
                <a:lnTo>
                  <a:pt x="1228867" y="47691"/>
                </a:lnTo>
                <a:lnTo>
                  <a:pt x="1280944" y="61367"/>
                </a:lnTo>
                <a:lnTo>
                  <a:pt x="1329741" y="76497"/>
                </a:lnTo>
                <a:lnTo>
                  <a:pt x="1375020" y="92997"/>
                </a:lnTo>
                <a:lnTo>
                  <a:pt x="1416543" y="110779"/>
                </a:lnTo>
                <a:lnTo>
                  <a:pt x="1454072" y="129757"/>
                </a:lnTo>
                <a:lnTo>
                  <a:pt x="1487370" y="149843"/>
                </a:lnTo>
                <a:lnTo>
                  <a:pt x="1540317" y="192996"/>
                </a:lnTo>
                <a:lnTo>
                  <a:pt x="1573482" y="239546"/>
                </a:lnTo>
                <a:lnTo>
                  <a:pt x="1584959" y="288798"/>
                </a:lnTo>
                <a:lnTo>
                  <a:pt x="1582050" y="313718"/>
                </a:lnTo>
                <a:lnTo>
                  <a:pt x="1559491" y="361705"/>
                </a:lnTo>
                <a:lnTo>
                  <a:pt x="1516197" y="406643"/>
                </a:lnTo>
                <a:lnTo>
                  <a:pt x="1454072" y="447838"/>
                </a:lnTo>
                <a:lnTo>
                  <a:pt x="1416543" y="466816"/>
                </a:lnTo>
                <a:lnTo>
                  <a:pt x="1375020" y="484598"/>
                </a:lnTo>
                <a:lnTo>
                  <a:pt x="1329741" y="501098"/>
                </a:lnTo>
                <a:lnTo>
                  <a:pt x="1280944" y="516228"/>
                </a:lnTo>
                <a:lnTo>
                  <a:pt x="1228867" y="529904"/>
                </a:lnTo>
                <a:lnTo>
                  <a:pt x="1173749" y="542037"/>
                </a:lnTo>
                <a:lnTo>
                  <a:pt x="1115826" y="552541"/>
                </a:lnTo>
                <a:lnTo>
                  <a:pt x="1055337" y="561329"/>
                </a:lnTo>
                <a:lnTo>
                  <a:pt x="992520" y="568316"/>
                </a:lnTo>
                <a:lnTo>
                  <a:pt x="927612" y="573413"/>
                </a:lnTo>
                <a:lnTo>
                  <a:pt x="860853" y="576536"/>
                </a:lnTo>
                <a:lnTo>
                  <a:pt x="792479" y="577596"/>
                </a:lnTo>
                <a:lnTo>
                  <a:pt x="724106" y="576536"/>
                </a:lnTo>
                <a:lnTo>
                  <a:pt x="657347" y="573413"/>
                </a:lnTo>
                <a:lnTo>
                  <a:pt x="592439" y="568316"/>
                </a:lnTo>
                <a:lnTo>
                  <a:pt x="529622" y="561329"/>
                </a:lnTo>
                <a:lnTo>
                  <a:pt x="469133" y="552541"/>
                </a:lnTo>
                <a:lnTo>
                  <a:pt x="411210" y="542037"/>
                </a:lnTo>
                <a:lnTo>
                  <a:pt x="356092" y="529904"/>
                </a:lnTo>
                <a:lnTo>
                  <a:pt x="304015" y="516228"/>
                </a:lnTo>
                <a:lnTo>
                  <a:pt x="255218" y="501098"/>
                </a:lnTo>
                <a:lnTo>
                  <a:pt x="209939" y="484598"/>
                </a:lnTo>
                <a:lnTo>
                  <a:pt x="168416" y="466816"/>
                </a:lnTo>
                <a:lnTo>
                  <a:pt x="130887" y="447838"/>
                </a:lnTo>
                <a:lnTo>
                  <a:pt x="97589" y="427752"/>
                </a:lnTo>
                <a:lnTo>
                  <a:pt x="44642" y="384599"/>
                </a:lnTo>
                <a:lnTo>
                  <a:pt x="11477" y="338049"/>
                </a:lnTo>
                <a:lnTo>
                  <a:pt x="0" y="288798"/>
                </a:lnTo>
                <a:close/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323581" y="3610102"/>
            <a:ext cx="691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w Cen MT"/>
                <a:cs typeface="Tw Cen MT"/>
              </a:rPr>
              <a:t>De</a:t>
            </a:r>
            <a:r>
              <a:rPr sz="1800" spc="-30" dirty="0">
                <a:solidFill>
                  <a:srgbClr val="FFFFFF"/>
                </a:solidFill>
                <a:latin typeface="Tw Cen MT"/>
                <a:cs typeface="Tw Cen MT"/>
              </a:rPr>
              <a:t>v</a:t>
            </a:r>
            <a:r>
              <a:rPr sz="1800" dirty="0">
                <a:solidFill>
                  <a:srgbClr val="FFFFFF"/>
                </a:solidFill>
                <a:latin typeface="Tw Cen MT"/>
                <a:cs typeface="Tw Cen MT"/>
              </a:rPr>
              <a:t>ops</a:t>
            </a:r>
            <a:endParaRPr sz="18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22833"/>
            <a:ext cx="2365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Scru</a:t>
            </a:r>
            <a:r>
              <a:rPr spc="10" dirty="0"/>
              <a:t>m</a:t>
            </a:r>
            <a:r>
              <a:rPr i="0" dirty="0">
                <a:latin typeface="华文隶书"/>
                <a:cs typeface="华文隶书"/>
              </a:rPr>
              <a:t>模型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5305" marR="5080" indent="-320040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928"/>
              <a:buFont typeface="Wingdings"/>
              <a:buChar char=""/>
              <a:tabLst>
                <a:tab pos="535305" algn="l"/>
                <a:tab pos="535940" algn="l"/>
              </a:tabLst>
            </a:pPr>
            <a:r>
              <a:rPr dirty="0"/>
              <a:t>199</a:t>
            </a:r>
            <a:r>
              <a:rPr spc="-5" dirty="0"/>
              <a:t>0</a:t>
            </a:r>
            <a:r>
              <a:rPr spc="-5" dirty="0">
                <a:latin typeface="华文仿宋"/>
                <a:cs typeface="华文仿宋"/>
              </a:rPr>
              <a:t>年代初，</a:t>
            </a:r>
            <a:r>
              <a:rPr spc="-15" dirty="0">
                <a:latin typeface="华文仿宋"/>
                <a:cs typeface="华文仿宋"/>
              </a:rPr>
              <a:t>肯</a:t>
            </a:r>
            <a:r>
              <a:rPr spc="-10" dirty="0"/>
              <a:t>·</a:t>
            </a:r>
            <a:r>
              <a:rPr spc="-5" dirty="0">
                <a:latin typeface="华文仿宋"/>
                <a:cs typeface="华文仿宋"/>
              </a:rPr>
              <a:t>施瓦伯在其公司使</a:t>
            </a:r>
            <a:r>
              <a:rPr spc="5" dirty="0">
                <a:latin typeface="华文仿宋"/>
                <a:cs typeface="华文仿宋"/>
              </a:rPr>
              <a:t>用</a:t>
            </a:r>
            <a:r>
              <a:rPr spc="-5" dirty="0">
                <a:latin typeface="华文仿宋"/>
                <a:cs typeface="华文仿宋"/>
              </a:rPr>
              <a:t>了一</a:t>
            </a:r>
            <a:r>
              <a:rPr spc="5" dirty="0">
                <a:latin typeface="华文仿宋"/>
                <a:cs typeface="华文仿宋"/>
              </a:rPr>
              <a:t>种</a:t>
            </a:r>
            <a:r>
              <a:rPr spc="-5" dirty="0">
                <a:latin typeface="华文仿宋"/>
                <a:cs typeface="华文仿宋"/>
              </a:rPr>
              <a:t>方法  </a:t>
            </a:r>
            <a:r>
              <a:rPr spc="-10" dirty="0"/>
              <a:t>Advanced Development</a:t>
            </a:r>
            <a:r>
              <a:rPr spc="-5" dirty="0"/>
              <a:t> </a:t>
            </a:r>
            <a:r>
              <a:rPr dirty="0"/>
              <a:t>Methods</a:t>
            </a:r>
            <a:r>
              <a:rPr dirty="0">
                <a:latin typeface="华文仿宋"/>
                <a:cs typeface="华文仿宋"/>
              </a:rPr>
              <a:t>（</a:t>
            </a:r>
            <a:r>
              <a:rPr spc="-5" dirty="0">
                <a:latin typeface="华文仿宋"/>
                <a:cs typeface="华文仿宋"/>
              </a:rPr>
              <a:t>先进开发方法）</a:t>
            </a:r>
          </a:p>
          <a:p>
            <a:pPr marL="535305">
              <a:lnSpc>
                <a:spcPct val="100000"/>
              </a:lnSpc>
            </a:pPr>
            <a:r>
              <a:rPr spc="-10" dirty="0">
                <a:latin typeface="华文仿宋"/>
                <a:cs typeface="华文仿宋"/>
              </a:rPr>
              <a:t>，这种方法后来发展</a:t>
            </a:r>
            <a:r>
              <a:rPr spc="-5" dirty="0">
                <a:latin typeface="华文仿宋"/>
                <a:cs typeface="华文仿宋"/>
              </a:rPr>
              <a:t>为</a:t>
            </a:r>
            <a:r>
              <a:rPr spc="10" dirty="0"/>
              <a:t>Scrum.</a:t>
            </a:r>
          </a:p>
          <a:p>
            <a:pPr marL="535305" indent="-32004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58928"/>
              <a:buFont typeface="Wingdings"/>
              <a:buChar char=""/>
              <a:tabLst>
                <a:tab pos="535305" algn="l"/>
                <a:tab pos="535940" algn="l"/>
              </a:tabLst>
            </a:pPr>
            <a:r>
              <a:rPr spc="-5" dirty="0">
                <a:latin typeface="华文仿宋"/>
                <a:cs typeface="华文仿宋"/>
              </a:rPr>
              <a:t>敏捷模型的代表</a:t>
            </a:r>
            <a:r>
              <a:rPr spc="-5" dirty="0"/>
              <a:t>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22672" y="61497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32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232663"/>
            <a:ext cx="2365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Scru</a:t>
            </a:r>
            <a:r>
              <a:rPr spc="10" dirty="0"/>
              <a:t>m</a:t>
            </a:r>
            <a:r>
              <a:rPr i="0" dirty="0">
                <a:latin typeface="华文隶书"/>
                <a:cs typeface="华文隶书"/>
              </a:rPr>
              <a:t>模型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1821" y="636889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7639" y="1484375"/>
            <a:ext cx="8868156" cy="48112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87958" y="2853689"/>
            <a:ext cx="2880360" cy="1728470"/>
          </a:xfrm>
          <a:custGeom>
            <a:avLst/>
            <a:gdLst/>
            <a:ahLst/>
            <a:cxnLst/>
            <a:rect l="l" t="t" r="r" b="b"/>
            <a:pathLst>
              <a:path w="2880360" h="1728470">
                <a:moveTo>
                  <a:pt x="0" y="1728216"/>
                </a:moveTo>
                <a:lnTo>
                  <a:pt x="2880360" y="1728216"/>
                </a:lnTo>
                <a:lnTo>
                  <a:pt x="2880360" y="0"/>
                </a:lnTo>
                <a:lnTo>
                  <a:pt x="0" y="0"/>
                </a:lnTo>
                <a:lnTo>
                  <a:pt x="0" y="1728216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08653" y="1916429"/>
            <a:ext cx="2449195" cy="2089785"/>
          </a:xfrm>
          <a:custGeom>
            <a:avLst/>
            <a:gdLst/>
            <a:ahLst/>
            <a:cxnLst/>
            <a:rect l="l" t="t" r="r" b="b"/>
            <a:pathLst>
              <a:path w="2449195" h="2089785">
                <a:moveTo>
                  <a:pt x="0" y="2089404"/>
                </a:moveTo>
                <a:lnTo>
                  <a:pt x="2449068" y="2089404"/>
                </a:lnTo>
                <a:lnTo>
                  <a:pt x="2449068" y="0"/>
                </a:lnTo>
                <a:lnTo>
                  <a:pt x="0" y="0"/>
                </a:lnTo>
                <a:lnTo>
                  <a:pt x="0" y="2089404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96845" y="4356353"/>
            <a:ext cx="5615940" cy="1594485"/>
          </a:xfrm>
          <a:custGeom>
            <a:avLst/>
            <a:gdLst/>
            <a:ahLst/>
            <a:cxnLst/>
            <a:rect l="l" t="t" r="r" b="b"/>
            <a:pathLst>
              <a:path w="5615940" h="1594485">
                <a:moveTo>
                  <a:pt x="0" y="1594104"/>
                </a:moveTo>
                <a:lnTo>
                  <a:pt x="5615939" y="1594104"/>
                </a:lnTo>
                <a:lnTo>
                  <a:pt x="5615939" y="0"/>
                </a:lnTo>
                <a:lnTo>
                  <a:pt x="0" y="0"/>
                </a:lnTo>
                <a:lnTo>
                  <a:pt x="0" y="1594104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179058" y="3141726"/>
            <a:ext cx="1656714" cy="1009015"/>
          </a:xfrm>
          <a:custGeom>
            <a:avLst/>
            <a:gdLst/>
            <a:ahLst/>
            <a:cxnLst/>
            <a:rect l="l" t="t" r="r" b="b"/>
            <a:pathLst>
              <a:path w="1656715" h="1009014">
                <a:moveTo>
                  <a:pt x="0" y="1008888"/>
                </a:moveTo>
                <a:lnTo>
                  <a:pt x="1656588" y="1008888"/>
                </a:lnTo>
                <a:lnTo>
                  <a:pt x="1656588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65241" y="1629917"/>
            <a:ext cx="2447925" cy="1332230"/>
          </a:xfrm>
          <a:custGeom>
            <a:avLst/>
            <a:gdLst/>
            <a:ahLst/>
            <a:cxnLst/>
            <a:rect l="l" t="t" r="r" b="b"/>
            <a:pathLst>
              <a:path w="2447925" h="1332230">
                <a:moveTo>
                  <a:pt x="0" y="1331976"/>
                </a:moveTo>
                <a:lnTo>
                  <a:pt x="2447543" y="1331976"/>
                </a:lnTo>
                <a:lnTo>
                  <a:pt x="2447543" y="0"/>
                </a:lnTo>
                <a:lnTo>
                  <a:pt x="0" y="0"/>
                </a:lnTo>
                <a:lnTo>
                  <a:pt x="0" y="1331976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0466" y="522808"/>
            <a:ext cx="27686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5" dirty="0">
                <a:solidFill>
                  <a:srgbClr val="000000"/>
                </a:solidFill>
                <a:latin typeface="隶书"/>
                <a:cs typeface="隶书"/>
              </a:rPr>
              <a:t>迭代开发过程</a:t>
            </a:r>
            <a:endParaRPr sz="3600">
              <a:latin typeface="隶书"/>
              <a:cs typeface="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0442" y="1821891"/>
            <a:ext cx="3225800" cy="5111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069" algn="ctr">
              <a:lnSpc>
                <a:spcPts val="2385"/>
              </a:lnSpc>
              <a:spcBef>
                <a:spcPts val="105"/>
              </a:spcBef>
            </a:pPr>
            <a:r>
              <a:rPr sz="2000" b="1" dirty="0">
                <a:solidFill>
                  <a:srgbClr val="FF0000"/>
                </a:solidFill>
                <a:latin typeface="黑体"/>
                <a:cs typeface="黑体"/>
              </a:rPr>
              <a:t>迭代</a:t>
            </a:r>
            <a:endParaRPr sz="2000">
              <a:latin typeface="黑体"/>
              <a:cs typeface="黑体"/>
            </a:endParaRPr>
          </a:p>
          <a:p>
            <a:pPr algn="ctr">
              <a:lnSpc>
                <a:spcPts val="1425"/>
              </a:lnSpc>
            </a:pPr>
            <a:r>
              <a:rPr sz="1200" b="1" spc="-5" dirty="0">
                <a:latin typeface="黑体"/>
                <a:cs typeface="黑体"/>
              </a:rPr>
              <a:t>每天录入耗用时间，并观察是否与预期时间一致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18082" y="4737353"/>
            <a:ext cx="184785" cy="285115"/>
          </a:xfrm>
          <a:custGeom>
            <a:avLst/>
            <a:gdLst/>
            <a:ahLst/>
            <a:cxnLst/>
            <a:rect l="l" t="t" r="r" b="b"/>
            <a:pathLst>
              <a:path w="184784" h="285114">
                <a:moveTo>
                  <a:pt x="92202" y="0"/>
                </a:moveTo>
                <a:lnTo>
                  <a:pt x="56310" y="11191"/>
                </a:lnTo>
                <a:lnTo>
                  <a:pt x="27003" y="41719"/>
                </a:lnTo>
                <a:lnTo>
                  <a:pt x="7244" y="87010"/>
                </a:lnTo>
                <a:lnTo>
                  <a:pt x="0" y="142494"/>
                </a:lnTo>
                <a:lnTo>
                  <a:pt x="7244" y="197977"/>
                </a:lnTo>
                <a:lnTo>
                  <a:pt x="27003" y="243268"/>
                </a:lnTo>
                <a:lnTo>
                  <a:pt x="56310" y="273796"/>
                </a:lnTo>
                <a:lnTo>
                  <a:pt x="92202" y="284988"/>
                </a:lnTo>
                <a:lnTo>
                  <a:pt x="128093" y="273796"/>
                </a:lnTo>
                <a:lnTo>
                  <a:pt x="157400" y="243268"/>
                </a:lnTo>
                <a:lnTo>
                  <a:pt x="177159" y="197977"/>
                </a:lnTo>
                <a:lnTo>
                  <a:pt x="184404" y="142494"/>
                </a:lnTo>
                <a:lnTo>
                  <a:pt x="177159" y="87010"/>
                </a:lnTo>
                <a:lnTo>
                  <a:pt x="157400" y="41719"/>
                </a:lnTo>
                <a:lnTo>
                  <a:pt x="128093" y="11191"/>
                </a:lnTo>
                <a:lnTo>
                  <a:pt x="92202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18082" y="4737353"/>
            <a:ext cx="184785" cy="285115"/>
          </a:xfrm>
          <a:custGeom>
            <a:avLst/>
            <a:gdLst/>
            <a:ahLst/>
            <a:cxnLst/>
            <a:rect l="l" t="t" r="r" b="b"/>
            <a:pathLst>
              <a:path w="184784" h="285114">
                <a:moveTo>
                  <a:pt x="0" y="142494"/>
                </a:moveTo>
                <a:lnTo>
                  <a:pt x="7244" y="87010"/>
                </a:lnTo>
                <a:lnTo>
                  <a:pt x="27003" y="41719"/>
                </a:lnTo>
                <a:lnTo>
                  <a:pt x="56310" y="11191"/>
                </a:lnTo>
                <a:lnTo>
                  <a:pt x="92202" y="0"/>
                </a:lnTo>
                <a:lnTo>
                  <a:pt x="128093" y="11191"/>
                </a:lnTo>
                <a:lnTo>
                  <a:pt x="157400" y="41719"/>
                </a:lnTo>
                <a:lnTo>
                  <a:pt x="177159" y="87010"/>
                </a:lnTo>
                <a:lnTo>
                  <a:pt x="184404" y="142494"/>
                </a:lnTo>
                <a:lnTo>
                  <a:pt x="177159" y="197977"/>
                </a:lnTo>
                <a:lnTo>
                  <a:pt x="157400" y="243268"/>
                </a:lnTo>
                <a:lnTo>
                  <a:pt x="128093" y="273796"/>
                </a:lnTo>
                <a:lnTo>
                  <a:pt x="92202" y="284988"/>
                </a:lnTo>
                <a:lnTo>
                  <a:pt x="56310" y="273796"/>
                </a:lnTo>
                <a:lnTo>
                  <a:pt x="27003" y="243268"/>
                </a:lnTo>
                <a:lnTo>
                  <a:pt x="7244" y="197977"/>
                </a:lnTo>
                <a:lnTo>
                  <a:pt x="0" y="142494"/>
                </a:lnTo>
                <a:close/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74291" y="2529839"/>
            <a:ext cx="1358900" cy="2247900"/>
          </a:xfrm>
          <a:custGeom>
            <a:avLst/>
            <a:gdLst/>
            <a:ahLst/>
            <a:cxnLst/>
            <a:rect l="l" t="t" r="r" b="b"/>
            <a:pathLst>
              <a:path w="1358900" h="2247900">
                <a:moveTo>
                  <a:pt x="0" y="2247900"/>
                </a:moveTo>
                <a:lnTo>
                  <a:pt x="1358900" y="0"/>
                </a:lnTo>
              </a:path>
            </a:pathLst>
          </a:custGeom>
          <a:ln w="57912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7029" y="2288285"/>
            <a:ext cx="184785" cy="285115"/>
          </a:xfrm>
          <a:custGeom>
            <a:avLst/>
            <a:gdLst/>
            <a:ahLst/>
            <a:cxnLst/>
            <a:rect l="l" t="t" r="r" b="b"/>
            <a:pathLst>
              <a:path w="184785" h="285114">
                <a:moveTo>
                  <a:pt x="92201" y="0"/>
                </a:moveTo>
                <a:lnTo>
                  <a:pt x="56310" y="11191"/>
                </a:lnTo>
                <a:lnTo>
                  <a:pt x="27003" y="41719"/>
                </a:lnTo>
                <a:lnTo>
                  <a:pt x="7244" y="87010"/>
                </a:lnTo>
                <a:lnTo>
                  <a:pt x="0" y="142493"/>
                </a:lnTo>
                <a:lnTo>
                  <a:pt x="7244" y="197977"/>
                </a:lnTo>
                <a:lnTo>
                  <a:pt x="27003" y="243268"/>
                </a:lnTo>
                <a:lnTo>
                  <a:pt x="56310" y="273796"/>
                </a:lnTo>
                <a:lnTo>
                  <a:pt x="92201" y="284988"/>
                </a:lnTo>
                <a:lnTo>
                  <a:pt x="128093" y="273796"/>
                </a:lnTo>
                <a:lnTo>
                  <a:pt x="157400" y="243268"/>
                </a:lnTo>
                <a:lnTo>
                  <a:pt x="177159" y="197977"/>
                </a:lnTo>
                <a:lnTo>
                  <a:pt x="184403" y="142493"/>
                </a:lnTo>
                <a:lnTo>
                  <a:pt x="177159" y="87010"/>
                </a:lnTo>
                <a:lnTo>
                  <a:pt x="157400" y="41719"/>
                </a:lnTo>
                <a:lnTo>
                  <a:pt x="128093" y="11191"/>
                </a:lnTo>
                <a:lnTo>
                  <a:pt x="92201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07029" y="2288285"/>
            <a:ext cx="184785" cy="285115"/>
          </a:xfrm>
          <a:custGeom>
            <a:avLst/>
            <a:gdLst/>
            <a:ahLst/>
            <a:cxnLst/>
            <a:rect l="l" t="t" r="r" b="b"/>
            <a:pathLst>
              <a:path w="184785" h="285114">
                <a:moveTo>
                  <a:pt x="0" y="142493"/>
                </a:moveTo>
                <a:lnTo>
                  <a:pt x="7244" y="87010"/>
                </a:lnTo>
                <a:lnTo>
                  <a:pt x="27003" y="41719"/>
                </a:lnTo>
                <a:lnTo>
                  <a:pt x="56310" y="11191"/>
                </a:lnTo>
                <a:lnTo>
                  <a:pt x="92201" y="0"/>
                </a:lnTo>
                <a:lnTo>
                  <a:pt x="128093" y="11191"/>
                </a:lnTo>
                <a:lnTo>
                  <a:pt x="157400" y="41719"/>
                </a:lnTo>
                <a:lnTo>
                  <a:pt x="177159" y="87010"/>
                </a:lnTo>
                <a:lnTo>
                  <a:pt x="184403" y="142493"/>
                </a:lnTo>
                <a:lnTo>
                  <a:pt x="177159" y="197977"/>
                </a:lnTo>
                <a:lnTo>
                  <a:pt x="157400" y="243268"/>
                </a:lnTo>
                <a:lnTo>
                  <a:pt x="128093" y="273796"/>
                </a:lnTo>
                <a:lnTo>
                  <a:pt x="92201" y="284988"/>
                </a:lnTo>
                <a:lnTo>
                  <a:pt x="56310" y="273796"/>
                </a:lnTo>
                <a:lnTo>
                  <a:pt x="27003" y="243268"/>
                </a:lnTo>
                <a:lnTo>
                  <a:pt x="7244" y="197977"/>
                </a:lnTo>
                <a:lnTo>
                  <a:pt x="0" y="142493"/>
                </a:lnTo>
                <a:close/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48000" y="2430779"/>
            <a:ext cx="1597025" cy="1593850"/>
          </a:xfrm>
          <a:custGeom>
            <a:avLst/>
            <a:gdLst/>
            <a:ahLst/>
            <a:cxnLst/>
            <a:rect l="l" t="t" r="r" b="b"/>
            <a:pathLst>
              <a:path w="1597025" h="1593850">
                <a:moveTo>
                  <a:pt x="1597025" y="1593850"/>
                </a:moveTo>
                <a:lnTo>
                  <a:pt x="0" y="0"/>
                </a:lnTo>
              </a:path>
            </a:pathLst>
          </a:custGeom>
          <a:ln w="57912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04182" y="3858005"/>
            <a:ext cx="184785" cy="285115"/>
          </a:xfrm>
          <a:custGeom>
            <a:avLst/>
            <a:gdLst/>
            <a:ahLst/>
            <a:cxnLst/>
            <a:rect l="l" t="t" r="r" b="b"/>
            <a:pathLst>
              <a:path w="184785" h="285114">
                <a:moveTo>
                  <a:pt x="92201" y="0"/>
                </a:moveTo>
                <a:lnTo>
                  <a:pt x="56310" y="11191"/>
                </a:lnTo>
                <a:lnTo>
                  <a:pt x="27003" y="41719"/>
                </a:lnTo>
                <a:lnTo>
                  <a:pt x="7244" y="87010"/>
                </a:lnTo>
                <a:lnTo>
                  <a:pt x="0" y="142494"/>
                </a:lnTo>
                <a:lnTo>
                  <a:pt x="7244" y="197977"/>
                </a:lnTo>
                <a:lnTo>
                  <a:pt x="27003" y="243268"/>
                </a:lnTo>
                <a:lnTo>
                  <a:pt x="56310" y="273796"/>
                </a:lnTo>
                <a:lnTo>
                  <a:pt x="92201" y="284988"/>
                </a:lnTo>
                <a:lnTo>
                  <a:pt x="128093" y="273796"/>
                </a:lnTo>
                <a:lnTo>
                  <a:pt x="157400" y="243268"/>
                </a:lnTo>
                <a:lnTo>
                  <a:pt x="177159" y="197977"/>
                </a:lnTo>
                <a:lnTo>
                  <a:pt x="184403" y="142494"/>
                </a:lnTo>
                <a:lnTo>
                  <a:pt x="177159" y="87010"/>
                </a:lnTo>
                <a:lnTo>
                  <a:pt x="157400" y="41719"/>
                </a:lnTo>
                <a:lnTo>
                  <a:pt x="128093" y="11191"/>
                </a:lnTo>
                <a:lnTo>
                  <a:pt x="92201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04182" y="3858005"/>
            <a:ext cx="184785" cy="285115"/>
          </a:xfrm>
          <a:custGeom>
            <a:avLst/>
            <a:gdLst/>
            <a:ahLst/>
            <a:cxnLst/>
            <a:rect l="l" t="t" r="r" b="b"/>
            <a:pathLst>
              <a:path w="184785" h="285114">
                <a:moveTo>
                  <a:pt x="0" y="142494"/>
                </a:moveTo>
                <a:lnTo>
                  <a:pt x="7244" y="87010"/>
                </a:lnTo>
                <a:lnTo>
                  <a:pt x="27003" y="41719"/>
                </a:lnTo>
                <a:lnTo>
                  <a:pt x="56310" y="11191"/>
                </a:lnTo>
                <a:lnTo>
                  <a:pt x="92201" y="0"/>
                </a:lnTo>
                <a:lnTo>
                  <a:pt x="128093" y="11191"/>
                </a:lnTo>
                <a:lnTo>
                  <a:pt x="157400" y="41719"/>
                </a:lnTo>
                <a:lnTo>
                  <a:pt x="177159" y="87010"/>
                </a:lnTo>
                <a:lnTo>
                  <a:pt x="184403" y="142494"/>
                </a:lnTo>
                <a:lnTo>
                  <a:pt x="177159" y="197977"/>
                </a:lnTo>
                <a:lnTo>
                  <a:pt x="157400" y="243268"/>
                </a:lnTo>
                <a:lnTo>
                  <a:pt x="128093" y="273796"/>
                </a:lnTo>
                <a:lnTo>
                  <a:pt x="92201" y="284988"/>
                </a:lnTo>
                <a:lnTo>
                  <a:pt x="56310" y="273796"/>
                </a:lnTo>
                <a:lnTo>
                  <a:pt x="27003" y="243268"/>
                </a:lnTo>
                <a:lnTo>
                  <a:pt x="7244" y="197977"/>
                </a:lnTo>
                <a:lnTo>
                  <a:pt x="0" y="142494"/>
                </a:lnTo>
                <a:close/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645152" y="2430779"/>
            <a:ext cx="1827530" cy="1593850"/>
          </a:xfrm>
          <a:custGeom>
            <a:avLst/>
            <a:gdLst/>
            <a:ahLst/>
            <a:cxnLst/>
            <a:rect l="l" t="t" r="r" b="b"/>
            <a:pathLst>
              <a:path w="1827529" h="1593850">
                <a:moveTo>
                  <a:pt x="0" y="1593850"/>
                </a:moveTo>
                <a:lnTo>
                  <a:pt x="1827276" y="0"/>
                </a:lnTo>
              </a:path>
            </a:pathLst>
          </a:custGeom>
          <a:ln w="57912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331458" y="2308098"/>
            <a:ext cx="186055" cy="281940"/>
          </a:xfrm>
          <a:custGeom>
            <a:avLst/>
            <a:gdLst/>
            <a:ahLst/>
            <a:cxnLst/>
            <a:rect l="l" t="t" r="r" b="b"/>
            <a:pathLst>
              <a:path w="186054" h="281939">
                <a:moveTo>
                  <a:pt x="92963" y="0"/>
                </a:moveTo>
                <a:lnTo>
                  <a:pt x="56792" y="11078"/>
                </a:lnTo>
                <a:lnTo>
                  <a:pt x="27241" y="41290"/>
                </a:lnTo>
                <a:lnTo>
                  <a:pt x="7310" y="86100"/>
                </a:lnTo>
                <a:lnTo>
                  <a:pt x="0" y="140969"/>
                </a:lnTo>
                <a:lnTo>
                  <a:pt x="7310" y="195839"/>
                </a:lnTo>
                <a:lnTo>
                  <a:pt x="27241" y="240649"/>
                </a:lnTo>
                <a:lnTo>
                  <a:pt x="56792" y="270861"/>
                </a:lnTo>
                <a:lnTo>
                  <a:pt x="92963" y="281939"/>
                </a:lnTo>
                <a:lnTo>
                  <a:pt x="129135" y="270861"/>
                </a:lnTo>
                <a:lnTo>
                  <a:pt x="158686" y="240649"/>
                </a:lnTo>
                <a:lnTo>
                  <a:pt x="178617" y="195839"/>
                </a:lnTo>
                <a:lnTo>
                  <a:pt x="185927" y="140969"/>
                </a:lnTo>
                <a:lnTo>
                  <a:pt x="178617" y="86100"/>
                </a:lnTo>
                <a:lnTo>
                  <a:pt x="158686" y="41290"/>
                </a:lnTo>
                <a:lnTo>
                  <a:pt x="129135" y="11078"/>
                </a:lnTo>
                <a:lnTo>
                  <a:pt x="92963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331458" y="2308098"/>
            <a:ext cx="186055" cy="281940"/>
          </a:xfrm>
          <a:custGeom>
            <a:avLst/>
            <a:gdLst/>
            <a:ahLst/>
            <a:cxnLst/>
            <a:rect l="l" t="t" r="r" b="b"/>
            <a:pathLst>
              <a:path w="186054" h="281939">
                <a:moveTo>
                  <a:pt x="0" y="140969"/>
                </a:moveTo>
                <a:lnTo>
                  <a:pt x="7310" y="86100"/>
                </a:lnTo>
                <a:lnTo>
                  <a:pt x="27241" y="41290"/>
                </a:lnTo>
                <a:lnTo>
                  <a:pt x="56792" y="11078"/>
                </a:lnTo>
                <a:lnTo>
                  <a:pt x="92963" y="0"/>
                </a:lnTo>
                <a:lnTo>
                  <a:pt x="129135" y="11078"/>
                </a:lnTo>
                <a:lnTo>
                  <a:pt x="158686" y="41290"/>
                </a:lnTo>
                <a:lnTo>
                  <a:pt x="178617" y="86100"/>
                </a:lnTo>
                <a:lnTo>
                  <a:pt x="185927" y="140969"/>
                </a:lnTo>
                <a:lnTo>
                  <a:pt x="178617" y="195839"/>
                </a:lnTo>
                <a:lnTo>
                  <a:pt x="158686" y="240649"/>
                </a:lnTo>
                <a:lnTo>
                  <a:pt x="129135" y="270861"/>
                </a:lnTo>
                <a:lnTo>
                  <a:pt x="92963" y="281939"/>
                </a:lnTo>
                <a:lnTo>
                  <a:pt x="56792" y="270861"/>
                </a:lnTo>
                <a:lnTo>
                  <a:pt x="27241" y="240649"/>
                </a:lnTo>
                <a:lnTo>
                  <a:pt x="7310" y="195839"/>
                </a:lnTo>
                <a:lnTo>
                  <a:pt x="0" y="140969"/>
                </a:lnTo>
                <a:close/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493764" y="2529839"/>
            <a:ext cx="819150" cy="1371600"/>
          </a:xfrm>
          <a:custGeom>
            <a:avLst/>
            <a:gdLst/>
            <a:ahLst/>
            <a:cxnLst/>
            <a:rect l="l" t="t" r="r" b="b"/>
            <a:pathLst>
              <a:path w="819150" h="1371600">
                <a:moveTo>
                  <a:pt x="819150" y="1371600"/>
                </a:moveTo>
                <a:lnTo>
                  <a:pt x="0" y="0"/>
                </a:lnTo>
              </a:path>
            </a:pathLst>
          </a:custGeom>
          <a:ln w="57912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172706" y="3760470"/>
            <a:ext cx="186055" cy="283845"/>
          </a:xfrm>
          <a:custGeom>
            <a:avLst/>
            <a:gdLst/>
            <a:ahLst/>
            <a:cxnLst/>
            <a:rect l="l" t="t" r="r" b="b"/>
            <a:pathLst>
              <a:path w="186054" h="283845">
                <a:moveTo>
                  <a:pt x="92964" y="0"/>
                </a:moveTo>
                <a:lnTo>
                  <a:pt x="56792" y="11144"/>
                </a:lnTo>
                <a:lnTo>
                  <a:pt x="27241" y="41528"/>
                </a:lnTo>
                <a:lnTo>
                  <a:pt x="7310" y="86582"/>
                </a:lnTo>
                <a:lnTo>
                  <a:pt x="0" y="141731"/>
                </a:lnTo>
                <a:lnTo>
                  <a:pt x="7310" y="196881"/>
                </a:lnTo>
                <a:lnTo>
                  <a:pt x="27241" y="241934"/>
                </a:lnTo>
                <a:lnTo>
                  <a:pt x="56792" y="272319"/>
                </a:lnTo>
                <a:lnTo>
                  <a:pt x="92964" y="283463"/>
                </a:lnTo>
                <a:lnTo>
                  <a:pt x="129135" y="272319"/>
                </a:lnTo>
                <a:lnTo>
                  <a:pt x="158686" y="241934"/>
                </a:lnTo>
                <a:lnTo>
                  <a:pt x="178617" y="196881"/>
                </a:lnTo>
                <a:lnTo>
                  <a:pt x="185927" y="141731"/>
                </a:lnTo>
                <a:lnTo>
                  <a:pt x="178617" y="86582"/>
                </a:lnTo>
                <a:lnTo>
                  <a:pt x="158686" y="41528"/>
                </a:lnTo>
                <a:lnTo>
                  <a:pt x="129135" y="11144"/>
                </a:lnTo>
                <a:lnTo>
                  <a:pt x="92964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172706" y="3760470"/>
            <a:ext cx="186055" cy="283845"/>
          </a:xfrm>
          <a:custGeom>
            <a:avLst/>
            <a:gdLst/>
            <a:ahLst/>
            <a:cxnLst/>
            <a:rect l="l" t="t" r="r" b="b"/>
            <a:pathLst>
              <a:path w="186054" h="283845">
                <a:moveTo>
                  <a:pt x="0" y="141731"/>
                </a:moveTo>
                <a:lnTo>
                  <a:pt x="7310" y="86582"/>
                </a:lnTo>
                <a:lnTo>
                  <a:pt x="27241" y="41528"/>
                </a:lnTo>
                <a:lnTo>
                  <a:pt x="56792" y="11144"/>
                </a:lnTo>
                <a:lnTo>
                  <a:pt x="92964" y="0"/>
                </a:lnTo>
                <a:lnTo>
                  <a:pt x="129135" y="11144"/>
                </a:lnTo>
                <a:lnTo>
                  <a:pt x="158686" y="41528"/>
                </a:lnTo>
                <a:lnTo>
                  <a:pt x="178617" y="86582"/>
                </a:lnTo>
                <a:lnTo>
                  <a:pt x="185927" y="141731"/>
                </a:lnTo>
                <a:lnTo>
                  <a:pt x="178617" y="196881"/>
                </a:lnTo>
                <a:lnTo>
                  <a:pt x="158686" y="241934"/>
                </a:lnTo>
                <a:lnTo>
                  <a:pt x="129135" y="272319"/>
                </a:lnTo>
                <a:lnTo>
                  <a:pt x="92964" y="283463"/>
                </a:lnTo>
                <a:lnTo>
                  <a:pt x="56792" y="272319"/>
                </a:lnTo>
                <a:lnTo>
                  <a:pt x="27241" y="241934"/>
                </a:lnTo>
                <a:lnTo>
                  <a:pt x="7310" y="196881"/>
                </a:lnTo>
                <a:lnTo>
                  <a:pt x="0" y="141731"/>
                </a:lnTo>
                <a:close/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80466" y="4247134"/>
            <a:ext cx="4695190" cy="1445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19100" algn="r">
              <a:lnSpc>
                <a:spcPts val="2390"/>
              </a:lnSpc>
              <a:spcBef>
                <a:spcPts val="100"/>
              </a:spcBef>
            </a:pPr>
            <a:r>
              <a:rPr sz="2000" b="1" spc="5" dirty="0">
                <a:solidFill>
                  <a:srgbClr val="FF0000"/>
                </a:solidFill>
                <a:latin typeface="宋体"/>
                <a:cs typeface="宋体"/>
              </a:rPr>
              <a:t>每天站会</a:t>
            </a:r>
            <a:endParaRPr sz="2000">
              <a:latin typeface="宋体"/>
              <a:cs typeface="宋体"/>
            </a:endParaRPr>
          </a:p>
          <a:p>
            <a:pPr marL="2095500">
              <a:lnSpc>
                <a:spcPts val="1310"/>
              </a:lnSpc>
            </a:pPr>
            <a:r>
              <a:rPr sz="1100" b="1" spc="-5" dirty="0">
                <a:latin typeface="黑体"/>
                <a:cs typeface="黑体"/>
              </a:rPr>
              <a:t>组内成</a:t>
            </a:r>
            <a:r>
              <a:rPr sz="1100" b="1" spc="-20" dirty="0">
                <a:latin typeface="黑体"/>
                <a:cs typeface="黑体"/>
              </a:rPr>
              <a:t>员</a:t>
            </a:r>
            <a:r>
              <a:rPr sz="1100" b="1" spc="-5" dirty="0">
                <a:latin typeface="黑体"/>
                <a:cs typeface="黑体"/>
              </a:rPr>
              <a:t>轮流</a:t>
            </a:r>
            <a:r>
              <a:rPr sz="1100" b="1" spc="-20" dirty="0">
                <a:latin typeface="黑体"/>
                <a:cs typeface="黑体"/>
              </a:rPr>
              <a:t>发</a:t>
            </a:r>
            <a:r>
              <a:rPr sz="1100" b="1" spc="-5" dirty="0">
                <a:latin typeface="黑体"/>
                <a:cs typeface="黑体"/>
              </a:rPr>
              <a:t>言</a:t>
            </a:r>
            <a:r>
              <a:rPr sz="1100" b="1" spc="-10" dirty="0">
                <a:latin typeface="黑体"/>
                <a:cs typeface="黑体"/>
              </a:rPr>
              <a:t> ,3</a:t>
            </a:r>
            <a:r>
              <a:rPr sz="1100" b="1" spc="-20" dirty="0">
                <a:latin typeface="黑体"/>
                <a:cs typeface="黑体"/>
              </a:rPr>
              <a:t>句话</a:t>
            </a:r>
            <a:endParaRPr sz="1100">
              <a:latin typeface="黑体"/>
              <a:cs typeface="黑体"/>
            </a:endParaRPr>
          </a:p>
          <a:p>
            <a:pPr marL="2095500">
              <a:lnSpc>
                <a:spcPct val="100000"/>
              </a:lnSpc>
              <a:tabLst>
                <a:tab pos="3842385" algn="l"/>
              </a:tabLst>
            </a:pPr>
            <a:r>
              <a:rPr sz="1100" b="1" spc="-5" dirty="0">
                <a:latin typeface="黑体"/>
                <a:cs typeface="黑体"/>
              </a:rPr>
              <a:t>（昨天</a:t>
            </a:r>
            <a:r>
              <a:rPr sz="1100" b="1" spc="-20" dirty="0">
                <a:latin typeface="黑体"/>
                <a:cs typeface="黑体"/>
              </a:rPr>
              <a:t>做</a:t>
            </a:r>
            <a:r>
              <a:rPr sz="1100" b="1" spc="-5" dirty="0">
                <a:latin typeface="黑体"/>
                <a:cs typeface="黑体"/>
              </a:rPr>
              <a:t>**</a:t>
            </a:r>
            <a:r>
              <a:rPr sz="1100" b="1" spc="15" dirty="0">
                <a:latin typeface="黑体"/>
                <a:cs typeface="黑体"/>
              </a:rPr>
              <a:t> </a:t>
            </a:r>
            <a:r>
              <a:rPr sz="1100" b="1" spc="-20" dirty="0">
                <a:latin typeface="黑体"/>
                <a:cs typeface="黑体"/>
              </a:rPr>
              <a:t>今</a:t>
            </a:r>
            <a:r>
              <a:rPr sz="1100" b="1" spc="-5" dirty="0">
                <a:latin typeface="黑体"/>
                <a:cs typeface="黑体"/>
              </a:rPr>
              <a:t>天计</a:t>
            </a:r>
            <a:r>
              <a:rPr sz="1100" b="1" spc="-20" dirty="0">
                <a:latin typeface="黑体"/>
                <a:cs typeface="黑体"/>
              </a:rPr>
              <a:t>划</a:t>
            </a:r>
            <a:r>
              <a:rPr sz="1100" b="1" spc="-5" dirty="0">
                <a:latin typeface="黑体"/>
                <a:cs typeface="黑体"/>
              </a:rPr>
              <a:t>做</a:t>
            </a:r>
            <a:r>
              <a:rPr sz="1100" b="1" spc="-10" dirty="0">
                <a:latin typeface="黑体"/>
                <a:cs typeface="黑体"/>
              </a:rPr>
              <a:t>**	</a:t>
            </a:r>
            <a:r>
              <a:rPr sz="1100" b="1" spc="-5" dirty="0">
                <a:latin typeface="黑体"/>
                <a:cs typeface="黑体"/>
              </a:rPr>
              <a:t>有</a:t>
            </a:r>
            <a:r>
              <a:rPr sz="1100" b="1" spc="-15" dirty="0">
                <a:latin typeface="黑体"/>
                <a:cs typeface="黑体"/>
              </a:rPr>
              <a:t>没</a:t>
            </a:r>
            <a:r>
              <a:rPr sz="1100" b="1" spc="-5" dirty="0">
                <a:latin typeface="黑体"/>
                <a:cs typeface="黑体"/>
              </a:rPr>
              <a:t>有风</a:t>
            </a:r>
            <a:r>
              <a:rPr sz="1100" b="1" spc="-15" dirty="0">
                <a:latin typeface="黑体"/>
                <a:cs typeface="黑体"/>
              </a:rPr>
              <a:t>险</a:t>
            </a:r>
            <a:r>
              <a:rPr sz="1100" b="1" spc="-5" dirty="0">
                <a:latin typeface="黑体"/>
                <a:cs typeface="黑体"/>
              </a:rPr>
              <a:t>）</a:t>
            </a:r>
            <a:endParaRPr sz="11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5" dirty="0">
                <a:solidFill>
                  <a:srgbClr val="FF0000"/>
                </a:solidFill>
                <a:latin typeface="黑体"/>
                <a:cs typeface="黑体"/>
              </a:rPr>
              <a:t>迭代计划会</a:t>
            </a:r>
            <a:endParaRPr sz="20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200" b="1" spc="-5" dirty="0">
                <a:latin typeface="黑体"/>
                <a:cs typeface="黑体"/>
              </a:rPr>
              <a:t>（确定范围和承诺）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78982" y="1821891"/>
            <a:ext cx="1702435" cy="5111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3820">
              <a:lnSpc>
                <a:spcPts val="2385"/>
              </a:lnSpc>
              <a:spcBef>
                <a:spcPts val="105"/>
              </a:spcBef>
            </a:pPr>
            <a:r>
              <a:rPr sz="2000" b="1" dirty="0">
                <a:solidFill>
                  <a:srgbClr val="FF0000"/>
                </a:solidFill>
                <a:latin typeface="黑体"/>
                <a:cs typeface="黑体"/>
              </a:rPr>
              <a:t>迭代评审</a:t>
            </a:r>
            <a:r>
              <a:rPr sz="2000" b="1" spc="-5" dirty="0">
                <a:solidFill>
                  <a:srgbClr val="FF0000"/>
                </a:solidFill>
                <a:latin typeface="黑体"/>
                <a:cs typeface="黑体"/>
              </a:rPr>
              <a:t>会议</a:t>
            </a:r>
            <a:endParaRPr sz="2000">
              <a:latin typeface="黑体"/>
              <a:cs typeface="黑体"/>
            </a:endParaRPr>
          </a:p>
          <a:p>
            <a:pPr marL="12700">
              <a:lnSpc>
                <a:spcPts val="1425"/>
              </a:lnSpc>
            </a:pPr>
            <a:r>
              <a:rPr sz="1200" b="1" spc="-5" dirty="0">
                <a:latin typeface="黑体"/>
                <a:cs typeface="黑体"/>
              </a:rPr>
              <a:t>向干系人（PO）展示成果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63183" y="4183507"/>
            <a:ext cx="2476500" cy="495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90"/>
              </a:lnSpc>
              <a:spcBef>
                <a:spcPts val="100"/>
              </a:spcBef>
            </a:pPr>
            <a:r>
              <a:rPr sz="2000" b="1" spc="5" dirty="0">
                <a:solidFill>
                  <a:srgbClr val="FF0000"/>
                </a:solidFill>
                <a:latin typeface="宋体"/>
                <a:cs typeface="宋体"/>
              </a:rPr>
              <a:t>迭代回顾会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ts val="1310"/>
              </a:lnSpc>
            </a:pPr>
            <a:r>
              <a:rPr sz="1100" b="1" spc="5" dirty="0">
                <a:latin typeface="宋体"/>
                <a:cs typeface="宋体"/>
              </a:rPr>
              <a:t>全组</a:t>
            </a:r>
            <a:r>
              <a:rPr sz="1100" b="1" spc="-5" dirty="0">
                <a:latin typeface="宋体"/>
                <a:cs typeface="宋体"/>
              </a:rPr>
              <a:t>参加</a:t>
            </a:r>
            <a:r>
              <a:rPr sz="1100" b="1" spc="-20" dirty="0">
                <a:latin typeface="宋体"/>
                <a:cs typeface="宋体"/>
              </a:rPr>
              <a:t>。</a:t>
            </a:r>
            <a:r>
              <a:rPr sz="1100" b="1" spc="-5" dirty="0">
                <a:latin typeface="宋体"/>
                <a:cs typeface="宋体"/>
              </a:rPr>
              <a:t>总结</a:t>
            </a:r>
            <a:r>
              <a:rPr sz="1100" b="1" spc="-20" dirty="0">
                <a:latin typeface="宋体"/>
                <a:cs typeface="宋体"/>
              </a:rPr>
              <a:t>这</a:t>
            </a:r>
            <a:r>
              <a:rPr sz="1100" b="1" spc="-5" dirty="0">
                <a:latin typeface="宋体"/>
                <a:cs typeface="宋体"/>
              </a:rPr>
              <a:t>次迭</a:t>
            </a:r>
            <a:r>
              <a:rPr sz="1100" b="1" spc="-20" dirty="0">
                <a:latin typeface="宋体"/>
                <a:cs typeface="宋体"/>
              </a:rPr>
              <a:t>代</a:t>
            </a:r>
            <a:r>
              <a:rPr sz="1100" b="1" spc="-5" dirty="0">
                <a:latin typeface="宋体"/>
                <a:cs typeface="宋体"/>
              </a:rPr>
              <a:t>好与坏</a:t>
            </a:r>
            <a:r>
              <a:rPr sz="1100" b="1" spc="-70" dirty="0">
                <a:latin typeface="宋体"/>
                <a:cs typeface="宋体"/>
              </a:rPr>
              <a:t> </a:t>
            </a:r>
            <a:r>
              <a:rPr sz="1100" b="1" spc="5" dirty="0">
                <a:latin typeface="宋体"/>
                <a:cs typeface="宋体"/>
              </a:rPr>
              <a:t>并改进</a:t>
            </a:r>
            <a:endParaRPr sz="11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172923"/>
            <a:ext cx="70618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XP(eXtreme</a:t>
            </a:r>
            <a:r>
              <a:rPr sz="3600" spc="-45" dirty="0"/>
              <a:t> </a:t>
            </a:r>
            <a:r>
              <a:rPr sz="3600" spc="-5" dirty="0"/>
              <a:t>Programming)</a:t>
            </a:r>
            <a:r>
              <a:rPr sz="3600" i="0" spc="-5" dirty="0">
                <a:latin typeface="华文隶书"/>
                <a:cs typeface="华文隶书"/>
              </a:rPr>
              <a:t>极限编程模型</a:t>
            </a:r>
            <a:endParaRPr sz="36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38929" y="593699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5477" y="1916429"/>
            <a:ext cx="8354695" cy="175768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90805" marR="186055">
              <a:lnSpc>
                <a:spcPct val="100000"/>
              </a:lnSpc>
              <a:spcBef>
                <a:spcPts val="125"/>
              </a:spcBef>
            </a:pPr>
            <a:r>
              <a:rPr sz="3200" dirty="0">
                <a:latin typeface="Tw Cen MT"/>
                <a:cs typeface="Tw Cen MT"/>
              </a:rPr>
              <a:t>XP(eXtreme</a:t>
            </a:r>
            <a:r>
              <a:rPr sz="3200" spc="-55" dirty="0">
                <a:latin typeface="Tw Cen MT"/>
                <a:cs typeface="Tw Cen MT"/>
              </a:rPr>
              <a:t> </a:t>
            </a:r>
            <a:r>
              <a:rPr sz="3200" spc="-10" dirty="0">
                <a:latin typeface="Tw Cen MT"/>
                <a:cs typeface="Tw Cen MT"/>
              </a:rPr>
              <a:t>Programming)</a:t>
            </a:r>
            <a:r>
              <a:rPr sz="3200" spc="5" dirty="0">
                <a:latin typeface="华文仿宋"/>
                <a:cs typeface="华文仿宋"/>
              </a:rPr>
              <a:t>极</a:t>
            </a:r>
            <a:r>
              <a:rPr sz="3200" spc="-15" dirty="0">
                <a:latin typeface="华文仿宋"/>
                <a:cs typeface="华文仿宋"/>
              </a:rPr>
              <a:t>限</a:t>
            </a:r>
            <a:r>
              <a:rPr sz="3200" spc="5" dirty="0">
                <a:latin typeface="华文仿宋"/>
                <a:cs typeface="华文仿宋"/>
              </a:rPr>
              <a:t>编程</a:t>
            </a:r>
            <a:r>
              <a:rPr sz="3200" spc="-15" dirty="0">
                <a:latin typeface="华文仿宋"/>
                <a:cs typeface="华文仿宋"/>
              </a:rPr>
              <a:t>是</a:t>
            </a:r>
            <a:r>
              <a:rPr sz="3200" dirty="0">
                <a:latin typeface="华文仿宋"/>
                <a:cs typeface="华文仿宋"/>
              </a:rPr>
              <a:t>由</a:t>
            </a:r>
            <a:r>
              <a:rPr sz="3200" spc="-10" dirty="0">
                <a:latin typeface="Tw Cen MT"/>
                <a:cs typeface="Tw Cen MT"/>
              </a:rPr>
              <a:t>Kent  </a:t>
            </a:r>
            <a:r>
              <a:rPr sz="3200" spc="15" dirty="0">
                <a:latin typeface="Tw Cen MT"/>
                <a:cs typeface="Tw Cen MT"/>
              </a:rPr>
              <a:t>Beck</a:t>
            </a:r>
            <a:r>
              <a:rPr sz="3200" dirty="0">
                <a:latin typeface="华文仿宋"/>
                <a:cs typeface="华文仿宋"/>
              </a:rPr>
              <a:t>提出的一套针</a:t>
            </a:r>
            <a:r>
              <a:rPr sz="3200" spc="-15" dirty="0">
                <a:latin typeface="华文仿宋"/>
                <a:cs typeface="华文仿宋"/>
              </a:rPr>
              <a:t>对</a:t>
            </a:r>
            <a:r>
              <a:rPr sz="3200" dirty="0">
                <a:latin typeface="华文仿宋"/>
                <a:cs typeface="华文仿宋"/>
              </a:rPr>
              <a:t>业务</a:t>
            </a:r>
            <a:r>
              <a:rPr sz="3200" spc="-15" dirty="0">
                <a:latin typeface="华文仿宋"/>
                <a:cs typeface="华文仿宋"/>
              </a:rPr>
              <a:t>需</a:t>
            </a:r>
            <a:r>
              <a:rPr sz="3200" dirty="0">
                <a:latin typeface="华文仿宋"/>
                <a:cs typeface="华文仿宋"/>
              </a:rPr>
              <a:t>求和</a:t>
            </a:r>
            <a:r>
              <a:rPr sz="3200" spc="-15" dirty="0">
                <a:latin typeface="华文仿宋"/>
                <a:cs typeface="华文仿宋"/>
              </a:rPr>
              <a:t>软</a:t>
            </a:r>
            <a:r>
              <a:rPr sz="3200" dirty="0">
                <a:latin typeface="华文仿宋"/>
                <a:cs typeface="华文仿宋"/>
              </a:rPr>
              <a:t>件开</a:t>
            </a:r>
            <a:r>
              <a:rPr sz="3200" spc="-15" dirty="0">
                <a:latin typeface="华文仿宋"/>
                <a:cs typeface="华文仿宋"/>
              </a:rPr>
              <a:t>发</a:t>
            </a:r>
            <a:r>
              <a:rPr sz="3200" dirty="0">
                <a:latin typeface="华文仿宋"/>
                <a:cs typeface="华文仿宋"/>
              </a:rPr>
              <a:t>实践 的规则。</a:t>
            </a:r>
            <a:endParaRPr sz="3200">
              <a:latin typeface="华文仿宋"/>
              <a:cs typeface="华文仿宋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XP(eXtreme</a:t>
            </a:r>
            <a:r>
              <a:rPr spc="-35" dirty="0"/>
              <a:t> </a:t>
            </a:r>
            <a:r>
              <a:rPr dirty="0"/>
              <a:t>Programming)</a:t>
            </a:r>
            <a:r>
              <a:rPr i="0" dirty="0">
                <a:latin typeface="华文隶书"/>
                <a:cs typeface="华文隶书"/>
              </a:rPr>
              <a:t>极限编程</a:t>
            </a:r>
          </a:p>
          <a:p>
            <a:pPr marL="12700">
              <a:lnSpc>
                <a:spcPct val="100000"/>
              </a:lnSpc>
            </a:pPr>
            <a:r>
              <a:rPr dirty="0"/>
              <a:t>---</a:t>
            </a:r>
            <a:r>
              <a:rPr i="0" dirty="0">
                <a:latin typeface="华文隶书"/>
                <a:cs typeface="华文隶书"/>
              </a:rPr>
              <a:t>最佳实践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09921" y="6332739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dirty="0"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27532" y="1629155"/>
            <a:ext cx="7848600" cy="48630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01289" y="1916429"/>
            <a:ext cx="5473065" cy="4250690"/>
          </a:xfrm>
          <a:custGeom>
            <a:avLst/>
            <a:gdLst/>
            <a:ahLst/>
            <a:cxnLst/>
            <a:rect l="l" t="t" r="r" b="b"/>
            <a:pathLst>
              <a:path w="5473065" h="4250690">
                <a:moveTo>
                  <a:pt x="0" y="2125218"/>
                </a:moveTo>
                <a:lnTo>
                  <a:pt x="531" y="2082891"/>
                </a:lnTo>
                <a:lnTo>
                  <a:pt x="2120" y="2040767"/>
                </a:lnTo>
                <a:lnTo>
                  <a:pt x="4756" y="1998851"/>
                </a:lnTo>
                <a:lnTo>
                  <a:pt x="8430" y="1957151"/>
                </a:lnTo>
                <a:lnTo>
                  <a:pt x="13131" y="1915676"/>
                </a:lnTo>
                <a:lnTo>
                  <a:pt x="18850" y="1874433"/>
                </a:lnTo>
                <a:lnTo>
                  <a:pt x="25577" y="1833429"/>
                </a:lnTo>
                <a:lnTo>
                  <a:pt x="33301" y="1792672"/>
                </a:lnTo>
                <a:lnTo>
                  <a:pt x="42014" y="1752170"/>
                </a:lnTo>
                <a:lnTo>
                  <a:pt x="51705" y="1711930"/>
                </a:lnTo>
                <a:lnTo>
                  <a:pt x="62365" y="1671961"/>
                </a:lnTo>
                <a:lnTo>
                  <a:pt x="73983" y="1632269"/>
                </a:lnTo>
                <a:lnTo>
                  <a:pt x="86550" y="1592863"/>
                </a:lnTo>
                <a:lnTo>
                  <a:pt x="100056" y="1553749"/>
                </a:lnTo>
                <a:lnTo>
                  <a:pt x="114491" y="1514937"/>
                </a:lnTo>
                <a:lnTo>
                  <a:pt x="129845" y="1476432"/>
                </a:lnTo>
                <a:lnTo>
                  <a:pt x="146108" y="1438244"/>
                </a:lnTo>
                <a:lnTo>
                  <a:pt x="163271" y="1400379"/>
                </a:lnTo>
                <a:lnTo>
                  <a:pt x="181323" y="1362846"/>
                </a:lnTo>
                <a:lnTo>
                  <a:pt x="200256" y="1325652"/>
                </a:lnTo>
                <a:lnTo>
                  <a:pt x="220058" y="1288804"/>
                </a:lnTo>
                <a:lnTo>
                  <a:pt x="240720" y="1252311"/>
                </a:lnTo>
                <a:lnTo>
                  <a:pt x="262233" y="1216179"/>
                </a:lnTo>
                <a:lnTo>
                  <a:pt x="284586" y="1180417"/>
                </a:lnTo>
                <a:lnTo>
                  <a:pt x="307769" y="1145032"/>
                </a:lnTo>
                <a:lnTo>
                  <a:pt x="331773" y="1110033"/>
                </a:lnTo>
                <a:lnTo>
                  <a:pt x="356588" y="1075425"/>
                </a:lnTo>
                <a:lnTo>
                  <a:pt x="382204" y="1041218"/>
                </a:lnTo>
                <a:lnTo>
                  <a:pt x="408611" y="1007419"/>
                </a:lnTo>
                <a:lnTo>
                  <a:pt x="435799" y="974035"/>
                </a:lnTo>
                <a:lnTo>
                  <a:pt x="463759" y="941074"/>
                </a:lnTo>
                <a:lnTo>
                  <a:pt x="492481" y="908544"/>
                </a:lnTo>
                <a:lnTo>
                  <a:pt x="521954" y="876453"/>
                </a:lnTo>
                <a:lnTo>
                  <a:pt x="552168" y="844807"/>
                </a:lnTo>
                <a:lnTo>
                  <a:pt x="583115" y="813616"/>
                </a:lnTo>
                <a:lnTo>
                  <a:pt x="614784" y="782885"/>
                </a:lnTo>
                <a:lnTo>
                  <a:pt x="647166" y="752624"/>
                </a:lnTo>
                <a:lnTo>
                  <a:pt x="680250" y="722840"/>
                </a:lnTo>
                <a:lnTo>
                  <a:pt x="714026" y="693539"/>
                </a:lnTo>
                <a:lnTo>
                  <a:pt x="748485" y="664731"/>
                </a:lnTo>
                <a:lnTo>
                  <a:pt x="783618" y="636423"/>
                </a:lnTo>
                <a:lnTo>
                  <a:pt x="819413" y="608622"/>
                </a:lnTo>
                <a:lnTo>
                  <a:pt x="855861" y="581335"/>
                </a:lnTo>
                <a:lnTo>
                  <a:pt x="892953" y="554572"/>
                </a:lnTo>
                <a:lnTo>
                  <a:pt x="930678" y="528338"/>
                </a:lnTo>
                <a:lnTo>
                  <a:pt x="969027" y="502643"/>
                </a:lnTo>
                <a:lnTo>
                  <a:pt x="1007990" y="477493"/>
                </a:lnTo>
                <a:lnTo>
                  <a:pt x="1047557" y="452896"/>
                </a:lnTo>
                <a:lnTo>
                  <a:pt x="1087718" y="428861"/>
                </a:lnTo>
                <a:lnTo>
                  <a:pt x="1128463" y="405393"/>
                </a:lnTo>
                <a:lnTo>
                  <a:pt x="1169782" y="382502"/>
                </a:lnTo>
                <a:lnTo>
                  <a:pt x="1211666" y="360195"/>
                </a:lnTo>
                <a:lnTo>
                  <a:pt x="1254105" y="338479"/>
                </a:lnTo>
                <a:lnTo>
                  <a:pt x="1297089" y="317362"/>
                </a:lnTo>
                <a:lnTo>
                  <a:pt x="1340607" y="296853"/>
                </a:lnTo>
                <a:lnTo>
                  <a:pt x="1384651" y="276957"/>
                </a:lnTo>
                <a:lnTo>
                  <a:pt x="1429210" y="257684"/>
                </a:lnTo>
                <a:lnTo>
                  <a:pt x="1474274" y="239040"/>
                </a:lnTo>
                <a:lnTo>
                  <a:pt x="1519835" y="221034"/>
                </a:lnTo>
                <a:lnTo>
                  <a:pt x="1565880" y="203673"/>
                </a:lnTo>
                <a:lnTo>
                  <a:pt x="1612402" y="186965"/>
                </a:lnTo>
                <a:lnTo>
                  <a:pt x="1659390" y="170916"/>
                </a:lnTo>
                <a:lnTo>
                  <a:pt x="1706834" y="155536"/>
                </a:lnTo>
                <a:lnTo>
                  <a:pt x="1754724" y="140832"/>
                </a:lnTo>
                <a:lnTo>
                  <a:pt x="1803051" y="126811"/>
                </a:lnTo>
                <a:lnTo>
                  <a:pt x="1851804" y="113481"/>
                </a:lnTo>
                <a:lnTo>
                  <a:pt x="1900974" y="100849"/>
                </a:lnTo>
                <a:lnTo>
                  <a:pt x="1950551" y="88924"/>
                </a:lnTo>
                <a:lnTo>
                  <a:pt x="2000526" y="77712"/>
                </a:lnTo>
                <a:lnTo>
                  <a:pt x="2050887" y="67223"/>
                </a:lnTo>
                <a:lnTo>
                  <a:pt x="2101626" y="57462"/>
                </a:lnTo>
                <a:lnTo>
                  <a:pt x="2152732" y="48438"/>
                </a:lnTo>
                <a:lnTo>
                  <a:pt x="2204196" y="40159"/>
                </a:lnTo>
                <a:lnTo>
                  <a:pt x="2256008" y="32632"/>
                </a:lnTo>
                <a:lnTo>
                  <a:pt x="2308158" y="25865"/>
                </a:lnTo>
                <a:lnTo>
                  <a:pt x="2360636" y="19865"/>
                </a:lnTo>
                <a:lnTo>
                  <a:pt x="2413432" y="14641"/>
                </a:lnTo>
                <a:lnTo>
                  <a:pt x="2466537" y="10199"/>
                </a:lnTo>
                <a:lnTo>
                  <a:pt x="2519940" y="6547"/>
                </a:lnTo>
                <a:lnTo>
                  <a:pt x="2573632" y="3694"/>
                </a:lnTo>
                <a:lnTo>
                  <a:pt x="2627603" y="1647"/>
                </a:lnTo>
                <a:lnTo>
                  <a:pt x="2681842" y="413"/>
                </a:lnTo>
                <a:lnTo>
                  <a:pt x="2736342" y="0"/>
                </a:lnTo>
                <a:lnTo>
                  <a:pt x="2790841" y="413"/>
                </a:lnTo>
                <a:lnTo>
                  <a:pt x="2845080" y="1647"/>
                </a:lnTo>
                <a:lnTo>
                  <a:pt x="2899051" y="3694"/>
                </a:lnTo>
                <a:lnTo>
                  <a:pt x="2952743" y="6547"/>
                </a:lnTo>
                <a:lnTo>
                  <a:pt x="3006146" y="10199"/>
                </a:lnTo>
                <a:lnTo>
                  <a:pt x="3059251" y="14641"/>
                </a:lnTo>
                <a:lnTo>
                  <a:pt x="3112047" y="19865"/>
                </a:lnTo>
                <a:lnTo>
                  <a:pt x="3164525" y="25865"/>
                </a:lnTo>
                <a:lnTo>
                  <a:pt x="3216675" y="32632"/>
                </a:lnTo>
                <a:lnTo>
                  <a:pt x="3268487" y="40159"/>
                </a:lnTo>
                <a:lnTo>
                  <a:pt x="3319951" y="48438"/>
                </a:lnTo>
                <a:lnTo>
                  <a:pt x="3371057" y="57462"/>
                </a:lnTo>
                <a:lnTo>
                  <a:pt x="3421796" y="67223"/>
                </a:lnTo>
                <a:lnTo>
                  <a:pt x="3472157" y="77712"/>
                </a:lnTo>
                <a:lnTo>
                  <a:pt x="3522132" y="88924"/>
                </a:lnTo>
                <a:lnTo>
                  <a:pt x="3571709" y="100849"/>
                </a:lnTo>
                <a:lnTo>
                  <a:pt x="3620879" y="113481"/>
                </a:lnTo>
                <a:lnTo>
                  <a:pt x="3669632" y="126811"/>
                </a:lnTo>
                <a:lnTo>
                  <a:pt x="3717959" y="140832"/>
                </a:lnTo>
                <a:lnTo>
                  <a:pt x="3765849" y="155536"/>
                </a:lnTo>
                <a:lnTo>
                  <a:pt x="3813293" y="170916"/>
                </a:lnTo>
                <a:lnTo>
                  <a:pt x="3860281" y="186965"/>
                </a:lnTo>
                <a:lnTo>
                  <a:pt x="3906803" y="203673"/>
                </a:lnTo>
                <a:lnTo>
                  <a:pt x="3952848" y="221034"/>
                </a:lnTo>
                <a:lnTo>
                  <a:pt x="3998409" y="239040"/>
                </a:lnTo>
                <a:lnTo>
                  <a:pt x="4043473" y="257684"/>
                </a:lnTo>
                <a:lnTo>
                  <a:pt x="4088032" y="276957"/>
                </a:lnTo>
                <a:lnTo>
                  <a:pt x="4132076" y="296853"/>
                </a:lnTo>
                <a:lnTo>
                  <a:pt x="4175594" y="317362"/>
                </a:lnTo>
                <a:lnTo>
                  <a:pt x="4218578" y="338479"/>
                </a:lnTo>
                <a:lnTo>
                  <a:pt x="4261017" y="360195"/>
                </a:lnTo>
                <a:lnTo>
                  <a:pt x="4302901" y="382502"/>
                </a:lnTo>
                <a:lnTo>
                  <a:pt x="4344220" y="405393"/>
                </a:lnTo>
                <a:lnTo>
                  <a:pt x="4384965" y="428861"/>
                </a:lnTo>
                <a:lnTo>
                  <a:pt x="4425126" y="452896"/>
                </a:lnTo>
                <a:lnTo>
                  <a:pt x="4464693" y="477493"/>
                </a:lnTo>
                <a:lnTo>
                  <a:pt x="4503656" y="502643"/>
                </a:lnTo>
                <a:lnTo>
                  <a:pt x="4542005" y="528338"/>
                </a:lnTo>
                <a:lnTo>
                  <a:pt x="4579730" y="554572"/>
                </a:lnTo>
                <a:lnTo>
                  <a:pt x="4616822" y="581335"/>
                </a:lnTo>
                <a:lnTo>
                  <a:pt x="4653270" y="608622"/>
                </a:lnTo>
                <a:lnTo>
                  <a:pt x="4689065" y="636423"/>
                </a:lnTo>
                <a:lnTo>
                  <a:pt x="4724198" y="664731"/>
                </a:lnTo>
                <a:lnTo>
                  <a:pt x="4758657" y="693539"/>
                </a:lnTo>
                <a:lnTo>
                  <a:pt x="4792433" y="722840"/>
                </a:lnTo>
                <a:lnTo>
                  <a:pt x="4825517" y="752624"/>
                </a:lnTo>
                <a:lnTo>
                  <a:pt x="4857899" y="782885"/>
                </a:lnTo>
                <a:lnTo>
                  <a:pt x="4889568" y="813616"/>
                </a:lnTo>
                <a:lnTo>
                  <a:pt x="4920515" y="844807"/>
                </a:lnTo>
                <a:lnTo>
                  <a:pt x="4950729" y="876453"/>
                </a:lnTo>
                <a:lnTo>
                  <a:pt x="4980202" y="908544"/>
                </a:lnTo>
                <a:lnTo>
                  <a:pt x="5008924" y="941074"/>
                </a:lnTo>
                <a:lnTo>
                  <a:pt x="5036884" y="974035"/>
                </a:lnTo>
                <a:lnTo>
                  <a:pt x="5064072" y="1007419"/>
                </a:lnTo>
                <a:lnTo>
                  <a:pt x="5090479" y="1041218"/>
                </a:lnTo>
                <a:lnTo>
                  <a:pt x="5116095" y="1075425"/>
                </a:lnTo>
                <a:lnTo>
                  <a:pt x="5140910" y="1110033"/>
                </a:lnTo>
                <a:lnTo>
                  <a:pt x="5164914" y="1145032"/>
                </a:lnTo>
                <a:lnTo>
                  <a:pt x="5188097" y="1180417"/>
                </a:lnTo>
                <a:lnTo>
                  <a:pt x="5210450" y="1216179"/>
                </a:lnTo>
                <a:lnTo>
                  <a:pt x="5231963" y="1252311"/>
                </a:lnTo>
                <a:lnTo>
                  <a:pt x="5252625" y="1288804"/>
                </a:lnTo>
                <a:lnTo>
                  <a:pt x="5272427" y="1325652"/>
                </a:lnTo>
                <a:lnTo>
                  <a:pt x="5291360" y="1362846"/>
                </a:lnTo>
                <a:lnTo>
                  <a:pt x="5309412" y="1400379"/>
                </a:lnTo>
                <a:lnTo>
                  <a:pt x="5326575" y="1438244"/>
                </a:lnTo>
                <a:lnTo>
                  <a:pt x="5342838" y="1476432"/>
                </a:lnTo>
                <a:lnTo>
                  <a:pt x="5358192" y="1514937"/>
                </a:lnTo>
                <a:lnTo>
                  <a:pt x="5372627" y="1553749"/>
                </a:lnTo>
                <a:lnTo>
                  <a:pt x="5386133" y="1592863"/>
                </a:lnTo>
                <a:lnTo>
                  <a:pt x="5398700" y="1632269"/>
                </a:lnTo>
                <a:lnTo>
                  <a:pt x="5410318" y="1671961"/>
                </a:lnTo>
                <a:lnTo>
                  <a:pt x="5420978" y="1711930"/>
                </a:lnTo>
                <a:lnTo>
                  <a:pt x="5430669" y="1752170"/>
                </a:lnTo>
                <a:lnTo>
                  <a:pt x="5439382" y="1792672"/>
                </a:lnTo>
                <a:lnTo>
                  <a:pt x="5447106" y="1833429"/>
                </a:lnTo>
                <a:lnTo>
                  <a:pt x="5453833" y="1874433"/>
                </a:lnTo>
                <a:lnTo>
                  <a:pt x="5459552" y="1915676"/>
                </a:lnTo>
                <a:lnTo>
                  <a:pt x="5464253" y="1957151"/>
                </a:lnTo>
                <a:lnTo>
                  <a:pt x="5467927" y="1998851"/>
                </a:lnTo>
                <a:lnTo>
                  <a:pt x="5470563" y="2040767"/>
                </a:lnTo>
                <a:lnTo>
                  <a:pt x="5472152" y="2082891"/>
                </a:lnTo>
                <a:lnTo>
                  <a:pt x="5472684" y="2125218"/>
                </a:lnTo>
                <a:lnTo>
                  <a:pt x="5472152" y="2167544"/>
                </a:lnTo>
                <a:lnTo>
                  <a:pt x="5470563" y="2209668"/>
                </a:lnTo>
                <a:lnTo>
                  <a:pt x="5467927" y="2251584"/>
                </a:lnTo>
                <a:lnTo>
                  <a:pt x="5464253" y="2293284"/>
                </a:lnTo>
                <a:lnTo>
                  <a:pt x="5459552" y="2334759"/>
                </a:lnTo>
                <a:lnTo>
                  <a:pt x="5453833" y="2376002"/>
                </a:lnTo>
                <a:lnTo>
                  <a:pt x="5447106" y="2417006"/>
                </a:lnTo>
                <a:lnTo>
                  <a:pt x="5439382" y="2457763"/>
                </a:lnTo>
                <a:lnTo>
                  <a:pt x="5430669" y="2498265"/>
                </a:lnTo>
                <a:lnTo>
                  <a:pt x="5420978" y="2538505"/>
                </a:lnTo>
                <a:lnTo>
                  <a:pt x="5410318" y="2578474"/>
                </a:lnTo>
                <a:lnTo>
                  <a:pt x="5398700" y="2618166"/>
                </a:lnTo>
                <a:lnTo>
                  <a:pt x="5386133" y="2657572"/>
                </a:lnTo>
                <a:lnTo>
                  <a:pt x="5372627" y="2696686"/>
                </a:lnTo>
                <a:lnTo>
                  <a:pt x="5358192" y="2735498"/>
                </a:lnTo>
                <a:lnTo>
                  <a:pt x="5342838" y="2774003"/>
                </a:lnTo>
                <a:lnTo>
                  <a:pt x="5326575" y="2812191"/>
                </a:lnTo>
                <a:lnTo>
                  <a:pt x="5309412" y="2850056"/>
                </a:lnTo>
                <a:lnTo>
                  <a:pt x="5291360" y="2887589"/>
                </a:lnTo>
                <a:lnTo>
                  <a:pt x="5272427" y="2924783"/>
                </a:lnTo>
                <a:lnTo>
                  <a:pt x="5252625" y="2961631"/>
                </a:lnTo>
                <a:lnTo>
                  <a:pt x="5231963" y="2998124"/>
                </a:lnTo>
                <a:lnTo>
                  <a:pt x="5210450" y="3034256"/>
                </a:lnTo>
                <a:lnTo>
                  <a:pt x="5188097" y="3070018"/>
                </a:lnTo>
                <a:lnTo>
                  <a:pt x="5164914" y="3105403"/>
                </a:lnTo>
                <a:lnTo>
                  <a:pt x="5140910" y="3140402"/>
                </a:lnTo>
                <a:lnTo>
                  <a:pt x="5116095" y="3175010"/>
                </a:lnTo>
                <a:lnTo>
                  <a:pt x="5090479" y="3209217"/>
                </a:lnTo>
                <a:lnTo>
                  <a:pt x="5064072" y="3243016"/>
                </a:lnTo>
                <a:lnTo>
                  <a:pt x="5036884" y="3276400"/>
                </a:lnTo>
                <a:lnTo>
                  <a:pt x="5008924" y="3309361"/>
                </a:lnTo>
                <a:lnTo>
                  <a:pt x="4980202" y="3341891"/>
                </a:lnTo>
                <a:lnTo>
                  <a:pt x="4950729" y="3373982"/>
                </a:lnTo>
                <a:lnTo>
                  <a:pt x="4920515" y="3405628"/>
                </a:lnTo>
                <a:lnTo>
                  <a:pt x="4889568" y="3436819"/>
                </a:lnTo>
                <a:lnTo>
                  <a:pt x="4857899" y="3467550"/>
                </a:lnTo>
                <a:lnTo>
                  <a:pt x="4825517" y="3497811"/>
                </a:lnTo>
                <a:lnTo>
                  <a:pt x="4792433" y="3527595"/>
                </a:lnTo>
                <a:lnTo>
                  <a:pt x="4758657" y="3556896"/>
                </a:lnTo>
                <a:lnTo>
                  <a:pt x="4724198" y="3585704"/>
                </a:lnTo>
                <a:lnTo>
                  <a:pt x="4689065" y="3614012"/>
                </a:lnTo>
                <a:lnTo>
                  <a:pt x="4653270" y="3641813"/>
                </a:lnTo>
                <a:lnTo>
                  <a:pt x="4616822" y="3669100"/>
                </a:lnTo>
                <a:lnTo>
                  <a:pt x="4579730" y="3695863"/>
                </a:lnTo>
                <a:lnTo>
                  <a:pt x="4542005" y="3722097"/>
                </a:lnTo>
                <a:lnTo>
                  <a:pt x="4503656" y="3747792"/>
                </a:lnTo>
                <a:lnTo>
                  <a:pt x="4464693" y="3772942"/>
                </a:lnTo>
                <a:lnTo>
                  <a:pt x="4425126" y="3797539"/>
                </a:lnTo>
                <a:lnTo>
                  <a:pt x="4384965" y="3821574"/>
                </a:lnTo>
                <a:lnTo>
                  <a:pt x="4344220" y="3845042"/>
                </a:lnTo>
                <a:lnTo>
                  <a:pt x="4302901" y="3867933"/>
                </a:lnTo>
                <a:lnTo>
                  <a:pt x="4261017" y="3890240"/>
                </a:lnTo>
                <a:lnTo>
                  <a:pt x="4218578" y="3911956"/>
                </a:lnTo>
                <a:lnTo>
                  <a:pt x="4175594" y="3933073"/>
                </a:lnTo>
                <a:lnTo>
                  <a:pt x="4132076" y="3953582"/>
                </a:lnTo>
                <a:lnTo>
                  <a:pt x="4088032" y="3973478"/>
                </a:lnTo>
                <a:lnTo>
                  <a:pt x="4043473" y="3992751"/>
                </a:lnTo>
                <a:lnTo>
                  <a:pt x="3998409" y="4011395"/>
                </a:lnTo>
                <a:lnTo>
                  <a:pt x="3952848" y="4029401"/>
                </a:lnTo>
                <a:lnTo>
                  <a:pt x="3906803" y="4046762"/>
                </a:lnTo>
                <a:lnTo>
                  <a:pt x="3860281" y="4063470"/>
                </a:lnTo>
                <a:lnTo>
                  <a:pt x="3813293" y="4079519"/>
                </a:lnTo>
                <a:lnTo>
                  <a:pt x="3765849" y="4094899"/>
                </a:lnTo>
                <a:lnTo>
                  <a:pt x="3717959" y="4109603"/>
                </a:lnTo>
                <a:lnTo>
                  <a:pt x="3669632" y="4123624"/>
                </a:lnTo>
                <a:lnTo>
                  <a:pt x="3620879" y="4136954"/>
                </a:lnTo>
                <a:lnTo>
                  <a:pt x="3571709" y="4149586"/>
                </a:lnTo>
                <a:lnTo>
                  <a:pt x="3522132" y="4161511"/>
                </a:lnTo>
                <a:lnTo>
                  <a:pt x="3472157" y="4172723"/>
                </a:lnTo>
                <a:lnTo>
                  <a:pt x="3421796" y="4183212"/>
                </a:lnTo>
                <a:lnTo>
                  <a:pt x="3371057" y="4192973"/>
                </a:lnTo>
                <a:lnTo>
                  <a:pt x="3319951" y="4201997"/>
                </a:lnTo>
                <a:lnTo>
                  <a:pt x="3268487" y="4210276"/>
                </a:lnTo>
                <a:lnTo>
                  <a:pt x="3216675" y="4217803"/>
                </a:lnTo>
                <a:lnTo>
                  <a:pt x="3164525" y="4224570"/>
                </a:lnTo>
                <a:lnTo>
                  <a:pt x="3112047" y="4230570"/>
                </a:lnTo>
                <a:lnTo>
                  <a:pt x="3059251" y="4235794"/>
                </a:lnTo>
                <a:lnTo>
                  <a:pt x="3006146" y="4240236"/>
                </a:lnTo>
                <a:lnTo>
                  <a:pt x="2952743" y="4243888"/>
                </a:lnTo>
                <a:lnTo>
                  <a:pt x="2899051" y="4246741"/>
                </a:lnTo>
                <a:lnTo>
                  <a:pt x="2845080" y="4248788"/>
                </a:lnTo>
                <a:lnTo>
                  <a:pt x="2790841" y="4250022"/>
                </a:lnTo>
                <a:lnTo>
                  <a:pt x="2736342" y="4250436"/>
                </a:lnTo>
                <a:lnTo>
                  <a:pt x="2681842" y="4250022"/>
                </a:lnTo>
                <a:lnTo>
                  <a:pt x="2627603" y="4248788"/>
                </a:lnTo>
                <a:lnTo>
                  <a:pt x="2573632" y="4246741"/>
                </a:lnTo>
                <a:lnTo>
                  <a:pt x="2519940" y="4243888"/>
                </a:lnTo>
                <a:lnTo>
                  <a:pt x="2466537" y="4240236"/>
                </a:lnTo>
                <a:lnTo>
                  <a:pt x="2413432" y="4235794"/>
                </a:lnTo>
                <a:lnTo>
                  <a:pt x="2360636" y="4230570"/>
                </a:lnTo>
                <a:lnTo>
                  <a:pt x="2308158" y="4224570"/>
                </a:lnTo>
                <a:lnTo>
                  <a:pt x="2256008" y="4217803"/>
                </a:lnTo>
                <a:lnTo>
                  <a:pt x="2204196" y="4210276"/>
                </a:lnTo>
                <a:lnTo>
                  <a:pt x="2152732" y="4201997"/>
                </a:lnTo>
                <a:lnTo>
                  <a:pt x="2101626" y="4192973"/>
                </a:lnTo>
                <a:lnTo>
                  <a:pt x="2050887" y="4183212"/>
                </a:lnTo>
                <a:lnTo>
                  <a:pt x="2000526" y="4172723"/>
                </a:lnTo>
                <a:lnTo>
                  <a:pt x="1950551" y="4161511"/>
                </a:lnTo>
                <a:lnTo>
                  <a:pt x="1900974" y="4149586"/>
                </a:lnTo>
                <a:lnTo>
                  <a:pt x="1851804" y="4136954"/>
                </a:lnTo>
                <a:lnTo>
                  <a:pt x="1803051" y="4123624"/>
                </a:lnTo>
                <a:lnTo>
                  <a:pt x="1754724" y="4109603"/>
                </a:lnTo>
                <a:lnTo>
                  <a:pt x="1706834" y="4094899"/>
                </a:lnTo>
                <a:lnTo>
                  <a:pt x="1659390" y="4079519"/>
                </a:lnTo>
                <a:lnTo>
                  <a:pt x="1612402" y="4063470"/>
                </a:lnTo>
                <a:lnTo>
                  <a:pt x="1565880" y="4046762"/>
                </a:lnTo>
                <a:lnTo>
                  <a:pt x="1519835" y="4029401"/>
                </a:lnTo>
                <a:lnTo>
                  <a:pt x="1474274" y="4011395"/>
                </a:lnTo>
                <a:lnTo>
                  <a:pt x="1429210" y="3992751"/>
                </a:lnTo>
                <a:lnTo>
                  <a:pt x="1384651" y="3973478"/>
                </a:lnTo>
                <a:lnTo>
                  <a:pt x="1340607" y="3953582"/>
                </a:lnTo>
                <a:lnTo>
                  <a:pt x="1297089" y="3933073"/>
                </a:lnTo>
                <a:lnTo>
                  <a:pt x="1254105" y="3911956"/>
                </a:lnTo>
                <a:lnTo>
                  <a:pt x="1211666" y="3890240"/>
                </a:lnTo>
                <a:lnTo>
                  <a:pt x="1169782" y="3867933"/>
                </a:lnTo>
                <a:lnTo>
                  <a:pt x="1128463" y="3845042"/>
                </a:lnTo>
                <a:lnTo>
                  <a:pt x="1087718" y="3821574"/>
                </a:lnTo>
                <a:lnTo>
                  <a:pt x="1047557" y="3797539"/>
                </a:lnTo>
                <a:lnTo>
                  <a:pt x="1007990" y="3772942"/>
                </a:lnTo>
                <a:lnTo>
                  <a:pt x="969027" y="3747792"/>
                </a:lnTo>
                <a:lnTo>
                  <a:pt x="930678" y="3722097"/>
                </a:lnTo>
                <a:lnTo>
                  <a:pt x="892953" y="3695863"/>
                </a:lnTo>
                <a:lnTo>
                  <a:pt x="855861" y="3669100"/>
                </a:lnTo>
                <a:lnTo>
                  <a:pt x="819413" y="3641813"/>
                </a:lnTo>
                <a:lnTo>
                  <a:pt x="783618" y="3614012"/>
                </a:lnTo>
                <a:lnTo>
                  <a:pt x="748485" y="3585704"/>
                </a:lnTo>
                <a:lnTo>
                  <a:pt x="714026" y="3556896"/>
                </a:lnTo>
                <a:lnTo>
                  <a:pt x="680250" y="3527595"/>
                </a:lnTo>
                <a:lnTo>
                  <a:pt x="647166" y="3497811"/>
                </a:lnTo>
                <a:lnTo>
                  <a:pt x="614784" y="3467550"/>
                </a:lnTo>
                <a:lnTo>
                  <a:pt x="583115" y="3436819"/>
                </a:lnTo>
                <a:lnTo>
                  <a:pt x="552168" y="3405628"/>
                </a:lnTo>
                <a:lnTo>
                  <a:pt x="521954" y="3373982"/>
                </a:lnTo>
                <a:lnTo>
                  <a:pt x="492481" y="3341891"/>
                </a:lnTo>
                <a:lnTo>
                  <a:pt x="463759" y="3309361"/>
                </a:lnTo>
                <a:lnTo>
                  <a:pt x="435799" y="3276400"/>
                </a:lnTo>
                <a:lnTo>
                  <a:pt x="408611" y="3243016"/>
                </a:lnTo>
                <a:lnTo>
                  <a:pt x="382204" y="3209217"/>
                </a:lnTo>
                <a:lnTo>
                  <a:pt x="356588" y="3175010"/>
                </a:lnTo>
                <a:lnTo>
                  <a:pt x="331773" y="3140402"/>
                </a:lnTo>
                <a:lnTo>
                  <a:pt x="307769" y="3105403"/>
                </a:lnTo>
                <a:lnTo>
                  <a:pt x="284586" y="3070018"/>
                </a:lnTo>
                <a:lnTo>
                  <a:pt x="262233" y="3034256"/>
                </a:lnTo>
                <a:lnTo>
                  <a:pt x="240720" y="2998124"/>
                </a:lnTo>
                <a:lnTo>
                  <a:pt x="220058" y="2961631"/>
                </a:lnTo>
                <a:lnTo>
                  <a:pt x="200256" y="2924783"/>
                </a:lnTo>
                <a:lnTo>
                  <a:pt x="181323" y="2887589"/>
                </a:lnTo>
                <a:lnTo>
                  <a:pt x="163271" y="2850056"/>
                </a:lnTo>
                <a:lnTo>
                  <a:pt x="146108" y="2812191"/>
                </a:lnTo>
                <a:lnTo>
                  <a:pt x="129845" y="2774003"/>
                </a:lnTo>
                <a:lnTo>
                  <a:pt x="114491" y="2735498"/>
                </a:lnTo>
                <a:lnTo>
                  <a:pt x="100056" y="2696686"/>
                </a:lnTo>
                <a:lnTo>
                  <a:pt x="86550" y="2657572"/>
                </a:lnTo>
                <a:lnTo>
                  <a:pt x="73983" y="2618166"/>
                </a:lnTo>
                <a:lnTo>
                  <a:pt x="62365" y="2578474"/>
                </a:lnTo>
                <a:lnTo>
                  <a:pt x="51705" y="2538505"/>
                </a:lnTo>
                <a:lnTo>
                  <a:pt x="42014" y="2498265"/>
                </a:lnTo>
                <a:lnTo>
                  <a:pt x="33301" y="2457763"/>
                </a:lnTo>
                <a:lnTo>
                  <a:pt x="25577" y="2417006"/>
                </a:lnTo>
                <a:lnTo>
                  <a:pt x="18850" y="2376002"/>
                </a:lnTo>
                <a:lnTo>
                  <a:pt x="13131" y="2334759"/>
                </a:lnTo>
                <a:lnTo>
                  <a:pt x="8430" y="2293284"/>
                </a:lnTo>
                <a:lnTo>
                  <a:pt x="4756" y="2251584"/>
                </a:lnTo>
                <a:lnTo>
                  <a:pt x="2120" y="2209668"/>
                </a:lnTo>
                <a:lnTo>
                  <a:pt x="531" y="2167544"/>
                </a:lnTo>
                <a:lnTo>
                  <a:pt x="0" y="2125218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65397" y="2681477"/>
            <a:ext cx="3642360" cy="2764790"/>
          </a:xfrm>
          <a:custGeom>
            <a:avLst/>
            <a:gdLst/>
            <a:ahLst/>
            <a:cxnLst/>
            <a:rect l="l" t="t" r="r" b="b"/>
            <a:pathLst>
              <a:path w="3642359" h="2764790">
                <a:moveTo>
                  <a:pt x="0" y="1382268"/>
                </a:moveTo>
                <a:lnTo>
                  <a:pt x="804" y="1340774"/>
                </a:lnTo>
                <a:lnTo>
                  <a:pt x="3204" y="1299584"/>
                </a:lnTo>
                <a:lnTo>
                  <a:pt x="7176" y="1258715"/>
                </a:lnTo>
                <a:lnTo>
                  <a:pt x="12697" y="1218184"/>
                </a:lnTo>
                <a:lnTo>
                  <a:pt x="19745" y="1178008"/>
                </a:lnTo>
                <a:lnTo>
                  <a:pt x="28298" y="1138204"/>
                </a:lnTo>
                <a:lnTo>
                  <a:pt x="38333" y="1098790"/>
                </a:lnTo>
                <a:lnTo>
                  <a:pt x="49827" y="1059782"/>
                </a:lnTo>
                <a:lnTo>
                  <a:pt x="62758" y="1021197"/>
                </a:lnTo>
                <a:lnTo>
                  <a:pt x="77104" y="983053"/>
                </a:lnTo>
                <a:lnTo>
                  <a:pt x="92842" y="945367"/>
                </a:lnTo>
                <a:lnTo>
                  <a:pt x="109948" y="908156"/>
                </a:lnTo>
                <a:lnTo>
                  <a:pt x="128402" y="871436"/>
                </a:lnTo>
                <a:lnTo>
                  <a:pt x="148180" y="835226"/>
                </a:lnTo>
                <a:lnTo>
                  <a:pt x="169260" y="799542"/>
                </a:lnTo>
                <a:lnTo>
                  <a:pt x="191619" y="764401"/>
                </a:lnTo>
                <a:lnTo>
                  <a:pt x="215234" y="729820"/>
                </a:lnTo>
                <a:lnTo>
                  <a:pt x="240084" y="695817"/>
                </a:lnTo>
                <a:lnTo>
                  <a:pt x="266145" y="662409"/>
                </a:lnTo>
                <a:lnTo>
                  <a:pt x="293395" y="629612"/>
                </a:lnTo>
                <a:lnTo>
                  <a:pt x="321812" y="597444"/>
                </a:lnTo>
                <a:lnTo>
                  <a:pt x="351373" y="565922"/>
                </a:lnTo>
                <a:lnTo>
                  <a:pt x="382055" y="535063"/>
                </a:lnTo>
                <a:lnTo>
                  <a:pt x="413836" y="504883"/>
                </a:lnTo>
                <a:lnTo>
                  <a:pt x="446694" y="475402"/>
                </a:lnTo>
                <a:lnTo>
                  <a:pt x="480606" y="446634"/>
                </a:lnTo>
                <a:lnTo>
                  <a:pt x="515548" y="418598"/>
                </a:lnTo>
                <a:lnTo>
                  <a:pt x="551500" y="391310"/>
                </a:lnTo>
                <a:lnTo>
                  <a:pt x="588438" y="364789"/>
                </a:lnTo>
                <a:lnTo>
                  <a:pt x="626339" y="339049"/>
                </a:lnTo>
                <a:lnTo>
                  <a:pt x="665182" y="314110"/>
                </a:lnTo>
                <a:lnTo>
                  <a:pt x="704944" y="289988"/>
                </a:lnTo>
                <a:lnTo>
                  <a:pt x="745601" y="266700"/>
                </a:lnTo>
                <a:lnTo>
                  <a:pt x="787132" y="244262"/>
                </a:lnTo>
                <a:lnTo>
                  <a:pt x="829515" y="222694"/>
                </a:lnTo>
                <a:lnTo>
                  <a:pt x="872725" y="202010"/>
                </a:lnTo>
                <a:lnTo>
                  <a:pt x="916742" y="182229"/>
                </a:lnTo>
                <a:lnTo>
                  <a:pt x="961542" y="163368"/>
                </a:lnTo>
                <a:lnTo>
                  <a:pt x="1007103" y="145443"/>
                </a:lnTo>
                <a:lnTo>
                  <a:pt x="1053403" y="128472"/>
                </a:lnTo>
                <a:lnTo>
                  <a:pt x="1100418" y="112472"/>
                </a:lnTo>
                <a:lnTo>
                  <a:pt x="1148127" y="97461"/>
                </a:lnTo>
                <a:lnTo>
                  <a:pt x="1196506" y="83454"/>
                </a:lnTo>
                <a:lnTo>
                  <a:pt x="1245534" y="70469"/>
                </a:lnTo>
                <a:lnTo>
                  <a:pt x="1295188" y="58524"/>
                </a:lnTo>
                <a:lnTo>
                  <a:pt x="1345444" y="47635"/>
                </a:lnTo>
                <a:lnTo>
                  <a:pt x="1396282" y="37820"/>
                </a:lnTo>
                <a:lnTo>
                  <a:pt x="1447677" y="29096"/>
                </a:lnTo>
                <a:lnTo>
                  <a:pt x="1499608" y="21479"/>
                </a:lnTo>
                <a:lnTo>
                  <a:pt x="1552052" y="14987"/>
                </a:lnTo>
                <a:lnTo>
                  <a:pt x="1604987" y="9637"/>
                </a:lnTo>
                <a:lnTo>
                  <a:pt x="1658389" y="5446"/>
                </a:lnTo>
                <a:lnTo>
                  <a:pt x="1712237" y="2432"/>
                </a:lnTo>
                <a:lnTo>
                  <a:pt x="1766508" y="610"/>
                </a:lnTo>
                <a:lnTo>
                  <a:pt x="1821179" y="0"/>
                </a:lnTo>
                <a:lnTo>
                  <a:pt x="1875851" y="610"/>
                </a:lnTo>
                <a:lnTo>
                  <a:pt x="1930122" y="2432"/>
                </a:lnTo>
                <a:lnTo>
                  <a:pt x="1983970" y="5446"/>
                </a:lnTo>
                <a:lnTo>
                  <a:pt x="2037372" y="9637"/>
                </a:lnTo>
                <a:lnTo>
                  <a:pt x="2090307" y="14987"/>
                </a:lnTo>
                <a:lnTo>
                  <a:pt x="2142751" y="21479"/>
                </a:lnTo>
                <a:lnTo>
                  <a:pt x="2194682" y="29096"/>
                </a:lnTo>
                <a:lnTo>
                  <a:pt x="2246077" y="37820"/>
                </a:lnTo>
                <a:lnTo>
                  <a:pt x="2296915" y="47635"/>
                </a:lnTo>
                <a:lnTo>
                  <a:pt x="2347171" y="58524"/>
                </a:lnTo>
                <a:lnTo>
                  <a:pt x="2396825" y="70469"/>
                </a:lnTo>
                <a:lnTo>
                  <a:pt x="2445853" y="83454"/>
                </a:lnTo>
                <a:lnTo>
                  <a:pt x="2494232" y="97461"/>
                </a:lnTo>
                <a:lnTo>
                  <a:pt x="2541941" y="112472"/>
                </a:lnTo>
                <a:lnTo>
                  <a:pt x="2588956" y="128472"/>
                </a:lnTo>
                <a:lnTo>
                  <a:pt x="2635256" y="145443"/>
                </a:lnTo>
                <a:lnTo>
                  <a:pt x="2680817" y="163368"/>
                </a:lnTo>
                <a:lnTo>
                  <a:pt x="2725617" y="182229"/>
                </a:lnTo>
                <a:lnTo>
                  <a:pt x="2769634" y="202010"/>
                </a:lnTo>
                <a:lnTo>
                  <a:pt x="2812844" y="222694"/>
                </a:lnTo>
                <a:lnTo>
                  <a:pt x="2855227" y="244262"/>
                </a:lnTo>
                <a:lnTo>
                  <a:pt x="2896758" y="266700"/>
                </a:lnTo>
                <a:lnTo>
                  <a:pt x="2937415" y="289988"/>
                </a:lnTo>
                <a:lnTo>
                  <a:pt x="2977177" y="314110"/>
                </a:lnTo>
                <a:lnTo>
                  <a:pt x="3016020" y="339049"/>
                </a:lnTo>
                <a:lnTo>
                  <a:pt x="3053921" y="364789"/>
                </a:lnTo>
                <a:lnTo>
                  <a:pt x="3090859" y="391310"/>
                </a:lnTo>
                <a:lnTo>
                  <a:pt x="3126811" y="418598"/>
                </a:lnTo>
                <a:lnTo>
                  <a:pt x="3161753" y="446634"/>
                </a:lnTo>
                <a:lnTo>
                  <a:pt x="3195665" y="475402"/>
                </a:lnTo>
                <a:lnTo>
                  <a:pt x="3228523" y="504883"/>
                </a:lnTo>
                <a:lnTo>
                  <a:pt x="3260304" y="535063"/>
                </a:lnTo>
                <a:lnTo>
                  <a:pt x="3290986" y="565922"/>
                </a:lnTo>
                <a:lnTo>
                  <a:pt x="3320547" y="597444"/>
                </a:lnTo>
                <a:lnTo>
                  <a:pt x="3348964" y="629612"/>
                </a:lnTo>
                <a:lnTo>
                  <a:pt x="3376214" y="662409"/>
                </a:lnTo>
                <a:lnTo>
                  <a:pt x="3402275" y="695817"/>
                </a:lnTo>
                <a:lnTo>
                  <a:pt x="3427125" y="729820"/>
                </a:lnTo>
                <a:lnTo>
                  <a:pt x="3450740" y="764401"/>
                </a:lnTo>
                <a:lnTo>
                  <a:pt x="3473099" y="799542"/>
                </a:lnTo>
                <a:lnTo>
                  <a:pt x="3494179" y="835226"/>
                </a:lnTo>
                <a:lnTo>
                  <a:pt x="3513957" y="871436"/>
                </a:lnTo>
                <a:lnTo>
                  <a:pt x="3532411" y="908156"/>
                </a:lnTo>
                <a:lnTo>
                  <a:pt x="3549517" y="945367"/>
                </a:lnTo>
                <a:lnTo>
                  <a:pt x="3565255" y="983053"/>
                </a:lnTo>
                <a:lnTo>
                  <a:pt x="3579601" y="1021197"/>
                </a:lnTo>
                <a:lnTo>
                  <a:pt x="3592532" y="1059782"/>
                </a:lnTo>
                <a:lnTo>
                  <a:pt x="3604026" y="1098790"/>
                </a:lnTo>
                <a:lnTo>
                  <a:pt x="3614061" y="1138204"/>
                </a:lnTo>
                <a:lnTo>
                  <a:pt x="3622614" y="1178008"/>
                </a:lnTo>
                <a:lnTo>
                  <a:pt x="3629662" y="1218184"/>
                </a:lnTo>
                <a:lnTo>
                  <a:pt x="3635183" y="1258715"/>
                </a:lnTo>
                <a:lnTo>
                  <a:pt x="3639155" y="1299584"/>
                </a:lnTo>
                <a:lnTo>
                  <a:pt x="3641555" y="1340774"/>
                </a:lnTo>
                <a:lnTo>
                  <a:pt x="3642359" y="1382268"/>
                </a:lnTo>
                <a:lnTo>
                  <a:pt x="3641555" y="1423761"/>
                </a:lnTo>
                <a:lnTo>
                  <a:pt x="3639155" y="1464951"/>
                </a:lnTo>
                <a:lnTo>
                  <a:pt x="3635183" y="1505820"/>
                </a:lnTo>
                <a:lnTo>
                  <a:pt x="3629662" y="1546351"/>
                </a:lnTo>
                <a:lnTo>
                  <a:pt x="3622614" y="1586527"/>
                </a:lnTo>
                <a:lnTo>
                  <a:pt x="3614061" y="1626331"/>
                </a:lnTo>
                <a:lnTo>
                  <a:pt x="3604026" y="1665745"/>
                </a:lnTo>
                <a:lnTo>
                  <a:pt x="3592532" y="1704753"/>
                </a:lnTo>
                <a:lnTo>
                  <a:pt x="3579601" y="1743338"/>
                </a:lnTo>
                <a:lnTo>
                  <a:pt x="3565255" y="1781482"/>
                </a:lnTo>
                <a:lnTo>
                  <a:pt x="3549517" y="1819168"/>
                </a:lnTo>
                <a:lnTo>
                  <a:pt x="3532411" y="1856379"/>
                </a:lnTo>
                <a:lnTo>
                  <a:pt x="3513957" y="1893099"/>
                </a:lnTo>
                <a:lnTo>
                  <a:pt x="3494179" y="1929309"/>
                </a:lnTo>
                <a:lnTo>
                  <a:pt x="3473099" y="1964993"/>
                </a:lnTo>
                <a:lnTo>
                  <a:pt x="3450740" y="2000134"/>
                </a:lnTo>
                <a:lnTo>
                  <a:pt x="3427125" y="2034715"/>
                </a:lnTo>
                <a:lnTo>
                  <a:pt x="3402275" y="2068718"/>
                </a:lnTo>
                <a:lnTo>
                  <a:pt x="3376214" y="2102126"/>
                </a:lnTo>
                <a:lnTo>
                  <a:pt x="3348964" y="2134923"/>
                </a:lnTo>
                <a:lnTo>
                  <a:pt x="3320547" y="2167091"/>
                </a:lnTo>
                <a:lnTo>
                  <a:pt x="3290986" y="2198613"/>
                </a:lnTo>
                <a:lnTo>
                  <a:pt x="3260304" y="2229472"/>
                </a:lnTo>
                <a:lnTo>
                  <a:pt x="3228523" y="2259652"/>
                </a:lnTo>
                <a:lnTo>
                  <a:pt x="3195665" y="2289133"/>
                </a:lnTo>
                <a:lnTo>
                  <a:pt x="3161753" y="2317901"/>
                </a:lnTo>
                <a:lnTo>
                  <a:pt x="3126811" y="2345937"/>
                </a:lnTo>
                <a:lnTo>
                  <a:pt x="3090859" y="2373225"/>
                </a:lnTo>
                <a:lnTo>
                  <a:pt x="3053921" y="2399746"/>
                </a:lnTo>
                <a:lnTo>
                  <a:pt x="3016020" y="2425486"/>
                </a:lnTo>
                <a:lnTo>
                  <a:pt x="2977177" y="2450425"/>
                </a:lnTo>
                <a:lnTo>
                  <a:pt x="2937415" y="2474547"/>
                </a:lnTo>
                <a:lnTo>
                  <a:pt x="2896758" y="2497835"/>
                </a:lnTo>
                <a:lnTo>
                  <a:pt x="2855227" y="2520273"/>
                </a:lnTo>
                <a:lnTo>
                  <a:pt x="2812844" y="2541841"/>
                </a:lnTo>
                <a:lnTo>
                  <a:pt x="2769634" y="2562525"/>
                </a:lnTo>
                <a:lnTo>
                  <a:pt x="2725617" y="2582306"/>
                </a:lnTo>
                <a:lnTo>
                  <a:pt x="2680817" y="2601167"/>
                </a:lnTo>
                <a:lnTo>
                  <a:pt x="2635256" y="2619092"/>
                </a:lnTo>
                <a:lnTo>
                  <a:pt x="2588956" y="2636063"/>
                </a:lnTo>
                <a:lnTo>
                  <a:pt x="2541941" y="2652063"/>
                </a:lnTo>
                <a:lnTo>
                  <a:pt x="2494232" y="2667074"/>
                </a:lnTo>
                <a:lnTo>
                  <a:pt x="2445853" y="2681081"/>
                </a:lnTo>
                <a:lnTo>
                  <a:pt x="2396825" y="2694066"/>
                </a:lnTo>
                <a:lnTo>
                  <a:pt x="2347171" y="2706011"/>
                </a:lnTo>
                <a:lnTo>
                  <a:pt x="2296915" y="2716900"/>
                </a:lnTo>
                <a:lnTo>
                  <a:pt x="2246077" y="2726715"/>
                </a:lnTo>
                <a:lnTo>
                  <a:pt x="2194682" y="2735439"/>
                </a:lnTo>
                <a:lnTo>
                  <a:pt x="2142751" y="2743056"/>
                </a:lnTo>
                <a:lnTo>
                  <a:pt x="2090307" y="2749548"/>
                </a:lnTo>
                <a:lnTo>
                  <a:pt x="2037372" y="2754898"/>
                </a:lnTo>
                <a:lnTo>
                  <a:pt x="1983970" y="2759089"/>
                </a:lnTo>
                <a:lnTo>
                  <a:pt x="1930122" y="2762103"/>
                </a:lnTo>
                <a:lnTo>
                  <a:pt x="1875851" y="2763925"/>
                </a:lnTo>
                <a:lnTo>
                  <a:pt x="1821179" y="2764536"/>
                </a:lnTo>
                <a:lnTo>
                  <a:pt x="1766508" y="2763925"/>
                </a:lnTo>
                <a:lnTo>
                  <a:pt x="1712237" y="2762103"/>
                </a:lnTo>
                <a:lnTo>
                  <a:pt x="1658389" y="2759089"/>
                </a:lnTo>
                <a:lnTo>
                  <a:pt x="1604987" y="2754898"/>
                </a:lnTo>
                <a:lnTo>
                  <a:pt x="1552052" y="2749548"/>
                </a:lnTo>
                <a:lnTo>
                  <a:pt x="1499608" y="2743056"/>
                </a:lnTo>
                <a:lnTo>
                  <a:pt x="1447677" y="2735439"/>
                </a:lnTo>
                <a:lnTo>
                  <a:pt x="1396282" y="2726715"/>
                </a:lnTo>
                <a:lnTo>
                  <a:pt x="1345444" y="2716900"/>
                </a:lnTo>
                <a:lnTo>
                  <a:pt x="1295188" y="2706011"/>
                </a:lnTo>
                <a:lnTo>
                  <a:pt x="1245534" y="2694066"/>
                </a:lnTo>
                <a:lnTo>
                  <a:pt x="1196506" y="2681081"/>
                </a:lnTo>
                <a:lnTo>
                  <a:pt x="1148127" y="2667074"/>
                </a:lnTo>
                <a:lnTo>
                  <a:pt x="1100418" y="2652063"/>
                </a:lnTo>
                <a:lnTo>
                  <a:pt x="1053403" y="2636063"/>
                </a:lnTo>
                <a:lnTo>
                  <a:pt x="1007103" y="2619092"/>
                </a:lnTo>
                <a:lnTo>
                  <a:pt x="961542" y="2601167"/>
                </a:lnTo>
                <a:lnTo>
                  <a:pt x="916742" y="2582306"/>
                </a:lnTo>
                <a:lnTo>
                  <a:pt x="872725" y="2562525"/>
                </a:lnTo>
                <a:lnTo>
                  <a:pt x="829515" y="2541841"/>
                </a:lnTo>
                <a:lnTo>
                  <a:pt x="787132" y="2520273"/>
                </a:lnTo>
                <a:lnTo>
                  <a:pt x="745601" y="2497836"/>
                </a:lnTo>
                <a:lnTo>
                  <a:pt x="704944" y="2474547"/>
                </a:lnTo>
                <a:lnTo>
                  <a:pt x="665182" y="2450425"/>
                </a:lnTo>
                <a:lnTo>
                  <a:pt x="626339" y="2425486"/>
                </a:lnTo>
                <a:lnTo>
                  <a:pt x="588438" y="2399746"/>
                </a:lnTo>
                <a:lnTo>
                  <a:pt x="551500" y="2373225"/>
                </a:lnTo>
                <a:lnTo>
                  <a:pt x="515548" y="2345937"/>
                </a:lnTo>
                <a:lnTo>
                  <a:pt x="480606" y="2317901"/>
                </a:lnTo>
                <a:lnTo>
                  <a:pt x="446694" y="2289133"/>
                </a:lnTo>
                <a:lnTo>
                  <a:pt x="413836" y="2259652"/>
                </a:lnTo>
                <a:lnTo>
                  <a:pt x="382055" y="2229472"/>
                </a:lnTo>
                <a:lnTo>
                  <a:pt x="351373" y="2198613"/>
                </a:lnTo>
                <a:lnTo>
                  <a:pt x="321812" y="2167091"/>
                </a:lnTo>
                <a:lnTo>
                  <a:pt x="293395" y="2134923"/>
                </a:lnTo>
                <a:lnTo>
                  <a:pt x="266145" y="2102126"/>
                </a:lnTo>
                <a:lnTo>
                  <a:pt x="240084" y="2068718"/>
                </a:lnTo>
                <a:lnTo>
                  <a:pt x="215234" y="2034715"/>
                </a:lnTo>
                <a:lnTo>
                  <a:pt x="191619" y="2000134"/>
                </a:lnTo>
                <a:lnTo>
                  <a:pt x="169260" y="1964993"/>
                </a:lnTo>
                <a:lnTo>
                  <a:pt x="148180" y="1929309"/>
                </a:lnTo>
                <a:lnTo>
                  <a:pt x="128402" y="1893099"/>
                </a:lnTo>
                <a:lnTo>
                  <a:pt x="109948" y="1856379"/>
                </a:lnTo>
                <a:lnTo>
                  <a:pt x="92842" y="1819168"/>
                </a:lnTo>
                <a:lnTo>
                  <a:pt x="77104" y="1781482"/>
                </a:lnTo>
                <a:lnTo>
                  <a:pt x="62758" y="1743338"/>
                </a:lnTo>
                <a:lnTo>
                  <a:pt x="49827" y="1704753"/>
                </a:lnTo>
                <a:lnTo>
                  <a:pt x="38333" y="1665745"/>
                </a:lnTo>
                <a:lnTo>
                  <a:pt x="28298" y="1626331"/>
                </a:lnTo>
                <a:lnTo>
                  <a:pt x="19745" y="1586527"/>
                </a:lnTo>
                <a:lnTo>
                  <a:pt x="12697" y="1546351"/>
                </a:lnTo>
                <a:lnTo>
                  <a:pt x="7176" y="1505820"/>
                </a:lnTo>
                <a:lnTo>
                  <a:pt x="3204" y="1464951"/>
                </a:lnTo>
                <a:lnTo>
                  <a:pt x="804" y="1423761"/>
                </a:lnTo>
                <a:lnTo>
                  <a:pt x="0" y="1382268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572761" y="3358134"/>
            <a:ext cx="1728470" cy="1440180"/>
          </a:xfrm>
          <a:custGeom>
            <a:avLst/>
            <a:gdLst/>
            <a:ahLst/>
            <a:cxnLst/>
            <a:rect l="l" t="t" r="r" b="b"/>
            <a:pathLst>
              <a:path w="1728470" h="1440179">
                <a:moveTo>
                  <a:pt x="0" y="720089"/>
                </a:moveTo>
                <a:lnTo>
                  <a:pt x="1576" y="676230"/>
                </a:lnTo>
                <a:lnTo>
                  <a:pt x="6247" y="633064"/>
                </a:lnTo>
                <a:lnTo>
                  <a:pt x="13920" y="590668"/>
                </a:lnTo>
                <a:lnTo>
                  <a:pt x="24507" y="549116"/>
                </a:lnTo>
                <a:lnTo>
                  <a:pt x="37916" y="508485"/>
                </a:lnTo>
                <a:lnTo>
                  <a:pt x="54057" y="468850"/>
                </a:lnTo>
                <a:lnTo>
                  <a:pt x="72839" y="430286"/>
                </a:lnTo>
                <a:lnTo>
                  <a:pt x="94173" y="392868"/>
                </a:lnTo>
                <a:lnTo>
                  <a:pt x="117968" y="356672"/>
                </a:lnTo>
                <a:lnTo>
                  <a:pt x="144134" y="321773"/>
                </a:lnTo>
                <a:lnTo>
                  <a:pt x="172580" y="288247"/>
                </a:lnTo>
                <a:lnTo>
                  <a:pt x="203216" y="256168"/>
                </a:lnTo>
                <a:lnTo>
                  <a:pt x="235952" y="225613"/>
                </a:lnTo>
                <a:lnTo>
                  <a:pt x="270697" y="196657"/>
                </a:lnTo>
                <a:lnTo>
                  <a:pt x="307360" y="169375"/>
                </a:lnTo>
                <a:lnTo>
                  <a:pt x="345853" y="143842"/>
                </a:lnTo>
                <a:lnTo>
                  <a:pt x="386083" y="120134"/>
                </a:lnTo>
                <a:lnTo>
                  <a:pt x="427961" y="98326"/>
                </a:lnTo>
                <a:lnTo>
                  <a:pt x="471397" y="78493"/>
                </a:lnTo>
                <a:lnTo>
                  <a:pt x="516300" y="60712"/>
                </a:lnTo>
                <a:lnTo>
                  <a:pt x="562579" y="45057"/>
                </a:lnTo>
                <a:lnTo>
                  <a:pt x="610145" y="31603"/>
                </a:lnTo>
                <a:lnTo>
                  <a:pt x="658907" y="20427"/>
                </a:lnTo>
                <a:lnTo>
                  <a:pt x="708774" y="11603"/>
                </a:lnTo>
                <a:lnTo>
                  <a:pt x="759657" y="5207"/>
                </a:lnTo>
                <a:lnTo>
                  <a:pt x="811465" y="1314"/>
                </a:lnTo>
                <a:lnTo>
                  <a:pt x="864108" y="0"/>
                </a:lnTo>
                <a:lnTo>
                  <a:pt x="916750" y="1314"/>
                </a:lnTo>
                <a:lnTo>
                  <a:pt x="968558" y="5207"/>
                </a:lnTo>
                <a:lnTo>
                  <a:pt x="1019441" y="11603"/>
                </a:lnTo>
                <a:lnTo>
                  <a:pt x="1069308" y="20427"/>
                </a:lnTo>
                <a:lnTo>
                  <a:pt x="1118070" y="31603"/>
                </a:lnTo>
                <a:lnTo>
                  <a:pt x="1165636" y="45057"/>
                </a:lnTo>
                <a:lnTo>
                  <a:pt x="1211915" y="60712"/>
                </a:lnTo>
                <a:lnTo>
                  <a:pt x="1256818" y="78493"/>
                </a:lnTo>
                <a:lnTo>
                  <a:pt x="1300254" y="98326"/>
                </a:lnTo>
                <a:lnTo>
                  <a:pt x="1342132" y="120134"/>
                </a:lnTo>
                <a:lnTo>
                  <a:pt x="1382362" y="143842"/>
                </a:lnTo>
                <a:lnTo>
                  <a:pt x="1420855" y="169375"/>
                </a:lnTo>
                <a:lnTo>
                  <a:pt x="1457518" y="196657"/>
                </a:lnTo>
                <a:lnTo>
                  <a:pt x="1492263" y="225613"/>
                </a:lnTo>
                <a:lnTo>
                  <a:pt x="1524999" y="256168"/>
                </a:lnTo>
                <a:lnTo>
                  <a:pt x="1555635" y="288247"/>
                </a:lnTo>
                <a:lnTo>
                  <a:pt x="1584081" y="321773"/>
                </a:lnTo>
                <a:lnTo>
                  <a:pt x="1610247" y="356672"/>
                </a:lnTo>
                <a:lnTo>
                  <a:pt x="1634042" y="392868"/>
                </a:lnTo>
                <a:lnTo>
                  <a:pt x="1655376" y="430286"/>
                </a:lnTo>
                <a:lnTo>
                  <a:pt x="1674158" y="468850"/>
                </a:lnTo>
                <a:lnTo>
                  <a:pt x="1690299" y="508485"/>
                </a:lnTo>
                <a:lnTo>
                  <a:pt x="1703708" y="549116"/>
                </a:lnTo>
                <a:lnTo>
                  <a:pt x="1714295" y="590668"/>
                </a:lnTo>
                <a:lnTo>
                  <a:pt x="1721968" y="633064"/>
                </a:lnTo>
                <a:lnTo>
                  <a:pt x="1726639" y="676230"/>
                </a:lnTo>
                <a:lnTo>
                  <a:pt x="1728215" y="720089"/>
                </a:lnTo>
                <a:lnTo>
                  <a:pt x="1726639" y="763949"/>
                </a:lnTo>
                <a:lnTo>
                  <a:pt x="1721968" y="807115"/>
                </a:lnTo>
                <a:lnTo>
                  <a:pt x="1714295" y="849511"/>
                </a:lnTo>
                <a:lnTo>
                  <a:pt x="1703708" y="891063"/>
                </a:lnTo>
                <a:lnTo>
                  <a:pt x="1690299" y="931694"/>
                </a:lnTo>
                <a:lnTo>
                  <a:pt x="1674158" y="971329"/>
                </a:lnTo>
                <a:lnTo>
                  <a:pt x="1655376" y="1009893"/>
                </a:lnTo>
                <a:lnTo>
                  <a:pt x="1634042" y="1047311"/>
                </a:lnTo>
                <a:lnTo>
                  <a:pt x="1610247" y="1083507"/>
                </a:lnTo>
                <a:lnTo>
                  <a:pt x="1584081" y="1118406"/>
                </a:lnTo>
                <a:lnTo>
                  <a:pt x="1555635" y="1151932"/>
                </a:lnTo>
                <a:lnTo>
                  <a:pt x="1524999" y="1184011"/>
                </a:lnTo>
                <a:lnTo>
                  <a:pt x="1492263" y="1214566"/>
                </a:lnTo>
                <a:lnTo>
                  <a:pt x="1457518" y="1243522"/>
                </a:lnTo>
                <a:lnTo>
                  <a:pt x="1420855" y="1270804"/>
                </a:lnTo>
                <a:lnTo>
                  <a:pt x="1382362" y="1296337"/>
                </a:lnTo>
                <a:lnTo>
                  <a:pt x="1342132" y="1320045"/>
                </a:lnTo>
                <a:lnTo>
                  <a:pt x="1300254" y="1341853"/>
                </a:lnTo>
                <a:lnTo>
                  <a:pt x="1256818" y="1361686"/>
                </a:lnTo>
                <a:lnTo>
                  <a:pt x="1211915" y="1379467"/>
                </a:lnTo>
                <a:lnTo>
                  <a:pt x="1165636" y="1395122"/>
                </a:lnTo>
                <a:lnTo>
                  <a:pt x="1118070" y="1408576"/>
                </a:lnTo>
                <a:lnTo>
                  <a:pt x="1069308" y="1419752"/>
                </a:lnTo>
                <a:lnTo>
                  <a:pt x="1019441" y="1428576"/>
                </a:lnTo>
                <a:lnTo>
                  <a:pt x="968558" y="1434972"/>
                </a:lnTo>
                <a:lnTo>
                  <a:pt x="916750" y="1438865"/>
                </a:lnTo>
                <a:lnTo>
                  <a:pt x="864108" y="1440179"/>
                </a:lnTo>
                <a:lnTo>
                  <a:pt x="811465" y="1438865"/>
                </a:lnTo>
                <a:lnTo>
                  <a:pt x="759657" y="1434972"/>
                </a:lnTo>
                <a:lnTo>
                  <a:pt x="708774" y="1428576"/>
                </a:lnTo>
                <a:lnTo>
                  <a:pt x="658907" y="1419752"/>
                </a:lnTo>
                <a:lnTo>
                  <a:pt x="610145" y="1408576"/>
                </a:lnTo>
                <a:lnTo>
                  <a:pt x="562579" y="1395122"/>
                </a:lnTo>
                <a:lnTo>
                  <a:pt x="516300" y="1379467"/>
                </a:lnTo>
                <a:lnTo>
                  <a:pt x="471397" y="1361686"/>
                </a:lnTo>
                <a:lnTo>
                  <a:pt x="427961" y="1341853"/>
                </a:lnTo>
                <a:lnTo>
                  <a:pt x="386083" y="1320045"/>
                </a:lnTo>
                <a:lnTo>
                  <a:pt x="345853" y="1296337"/>
                </a:lnTo>
                <a:lnTo>
                  <a:pt x="307360" y="1270804"/>
                </a:lnTo>
                <a:lnTo>
                  <a:pt x="270697" y="1243522"/>
                </a:lnTo>
                <a:lnTo>
                  <a:pt x="235952" y="1214566"/>
                </a:lnTo>
                <a:lnTo>
                  <a:pt x="203216" y="1184011"/>
                </a:lnTo>
                <a:lnTo>
                  <a:pt x="172580" y="1151932"/>
                </a:lnTo>
                <a:lnTo>
                  <a:pt x="144134" y="1118406"/>
                </a:lnTo>
                <a:lnTo>
                  <a:pt x="117968" y="1083507"/>
                </a:lnTo>
                <a:lnTo>
                  <a:pt x="94173" y="1047311"/>
                </a:lnTo>
                <a:lnTo>
                  <a:pt x="72839" y="1009893"/>
                </a:lnTo>
                <a:lnTo>
                  <a:pt x="54057" y="971329"/>
                </a:lnTo>
                <a:lnTo>
                  <a:pt x="37916" y="931694"/>
                </a:lnTo>
                <a:lnTo>
                  <a:pt x="24507" y="891063"/>
                </a:lnTo>
                <a:lnTo>
                  <a:pt x="13920" y="849511"/>
                </a:lnTo>
                <a:lnTo>
                  <a:pt x="6247" y="807115"/>
                </a:lnTo>
                <a:lnTo>
                  <a:pt x="1576" y="763949"/>
                </a:lnTo>
                <a:lnTo>
                  <a:pt x="0" y="720089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70882" y="1527810"/>
            <a:ext cx="1332230" cy="721360"/>
          </a:xfrm>
          <a:custGeom>
            <a:avLst/>
            <a:gdLst/>
            <a:ahLst/>
            <a:cxnLst/>
            <a:rect l="l" t="t" r="r" b="b"/>
            <a:pathLst>
              <a:path w="1332229" h="721360">
                <a:moveTo>
                  <a:pt x="0" y="720851"/>
                </a:moveTo>
                <a:lnTo>
                  <a:pt x="1331976" y="720851"/>
                </a:lnTo>
                <a:lnTo>
                  <a:pt x="1331976" y="0"/>
                </a:lnTo>
                <a:lnTo>
                  <a:pt x="0" y="0"/>
                </a:lnTo>
                <a:lnTo>
                  <a:pt x="0" y="720851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668006" y="3717797"/>
            <a:ext cx="1333500" cy="719455"/>
          </a:xfrm>
          <a:custGeom>
            <a:avLst/>
            <a:gdLst/>
            <a:ahLst/>
            <a:cxnLst/>
            <a:rect l="l" t="t" r="r" b="b"/>
            <a:pathLst>
              <a:path w="1333500" h="719454">
                <a:moveTo>
                  <a:pt x="0" y="719327"/>
                </a:moveTo>
                <a:lnTo>
                  <a:pt x="1333500" y="719327"/>
                </a:lnTo>
                <a:lnTo>
                  <a:pt x="1333500" y="0"/>
                </a:lnTo>
                <a:lnTo>
                  <a:pt x="0" y="0"/>
                </a:lnTo>
                <a:lnTo>
                  <a:pt x="0" y="719327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770882" y="5950458"/>
            <a:ext cx="1332230" cy="719455"/>
          </a:xfrm>
          <a:custGeom>
            <a:avLst/>
            <a:gdLst/>
            <a:ahLst/>
            <a:cxnLst/>
            <a:rect l="l" t="t" r="r" b="b"/>
            <a:pathLst>
              <a:path w="1332229" h="719454">
                <a:moveTo>
                  <a:pt x="0" y="719328"/>
                </a:moveTo>
                <a:lnTo>
                  <a:pt x="1331976" y="719328"/>
                </a:lnTo>
                <a:lnTo>
                  <a:pt x="1331976" y="0"/>
                </a:lnTo>
                <a:lnTo>
                  <a:pt x="0" y="0"/>
                </a:lnTo>
                <a:lnTo>
                  <a:pt x="0" y="719328"/>
                </a:lnTo>
                <a:close/>
              </a:path>
            </a:pathLst>
          </a:custGeom>
          <a:ln w="1981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033777" y="3761994"/>
            <a:ext cx="1332230" cy="721360"/>
          </a:xfrm>
          <a:custGeom>
            <a:avLst/>
            <a:gdLst/>
            <a:ahLst/>
            <a:cxnLst/>
            <a:rect l="l" t="t" r="r" b="b"/>
            <a:pathLst>
              <a:path w="1332229" h="721360">
                <a:moveTo>
                  <a:pt x="0" y="720851"/>
                </a:moveTo>
                <a:lnTo>
                  <a:pt x="1331976" y="720851"/>
                </a:lnTo>
                <a:lnTo>
                  <a:pt x="1331976" y="0"/>
                </a:lnTo>
                <a:lnTo>
                  <a:pt x="0" y="0"/>
                </a:lnTo>
                <a:lnTo>
                  <a:pt x="0" y="720851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37382" y="2681477"/>
            <a:ext cx="1333500" cy="721360"/>
          </a:xfrm>
          <a:custGeom>
            <a:avLst/>
            <a:gdLst/>
            <a:ahLst/>
            <a:cxnLst/>
            <a:rect l="l" t="t" r="r" b="b"/>
            <a:pathLst>
              <a:path w="1333500" h="721360">
                <a:moveTo>
                  <a:pt x="0" y="720851"/>
                </a:moveTo>
                <a:lnTo>
                  <a:pt x="1333500" y="720851"/>
                </a:lnTo>
                <a:lnTo>
                  <a:pt x="1333500" y="0"/>
                </a:lnTo>
                <a:lnTo>
                  <a:pt x="0" y="0"/>
                </a:lnTo>
                <a:lnTo>
                  <a:pt x="0" y="720851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092190" y="2681477"/>
            <a:ext cx="1333500" cy="721360"/>
          </a:xfrm>
          <a:custGeom>
            <a:avLst/>
            <a:gdLst/>
            <a:ahLst/>
            <a:cxnLst/>
            <a:rect l="l" t="t" r="r" b="b"/>
            <a:pathLst>
              <a:path w="1333500" h="721360">
                <a:moveTo>
                  <a:pt x="0" y="720851"/>
                </a:moveTo>
                <a:lnTo>
                  <a:pt x="1333500" y="720851"/>
                </a:lnTo>
                <a:lnTo>
                  <a:pt x="1333500" y="0"/>
                </a:lnTo>
                <a:lnTo>
                  <a:pt x="0" y="0"/>
                </a:lnTo>
                <a:lnTo>
                  <a:pt x="0" y="720851"/>
                </a:lnTo>
                <a:close/>
              </a:path>
            </a:pathLst>
          </a:custGeom>
          <a:ln w="1981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441185" y="4414265"/>
            <a:ext cx="1333500" cy="721360"/>
          </a:xfrm>
          <a:custGeom>
            <a:avLst/>
            <a:gdLst/>
            <a:ahLst/>
            <a:cxnLst/>
            <a:rect l="l" t="t" r="r" b="b"/>
            <a:pathLst>
              <a:path w="1333500" h="721360">
                <a:moveTo>
                  <a:pt x="0" y="720851"/>
                </a:moveTo>
                <a:lnTo>
                  <a:pt x="1333500" y="720851"/>
                </a:lnTo>
                <a:lnTo>
                  <a:pt x="1333500" y="0"/>
                </a:lnTo>
                <a:lnTo>
                  <a:pt x="0" y="0"/>
                </a:lnTo>
                <a:lnTo>
                  <a:pt x="0" y="720851"/>
                </a:lnTo>
                <a:close/>
              </a:path>
            </a:pathLst>
          </a:custGeom>
          <a:ln w="1981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967478" y="5202173"/>
            <a:ext cx="1333500" cy="718185"/>
          </a:xfrm>
          <a:custGeom>
            <a:avLst/>
            <a:gdLst/>
            <a:ahLst/>
            <a:cxnLst/>
            <a:rect l="l" t="t" r="r" b="b"/>
            <a:pathLst>
              <a:path w="1333500" h="718185">
                <a:moveTo>
                  <a:pt x="0" y="717804"/>
                </a:moveTo>
                <a:lnTo>
                  <a:pt x="1333500" y="717804"/>
                </a:lnTo>
                <a:lnTo>
                  <a:pt x="1333500" y="0"/>
                </a:lnTo>
                <a:lnTo>
                  <a:pt x="0" y="0"/>
                </a:lnTo>
                <a:lnTo>
                  <a:pt x="0" y="717804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239261" y="4490465"/>
            <a:ext cx="1333500" cy="721360"/>
          </a:xfrm>
          <a:custGeom>
            <a:avLst/>
            <a:gdLst/>
            <a:ahLst/>
            <a:cxnLst/>
            <a:rect l="l" t="t" r="r" b="b"/>
            <a:pathLst>
              <a:path w="1333500" h="721360">
                <a:moveTo>
                  <a:pt x="0" y="720851"/>
                </a:moveTo>
                <a:lnTo>
                  <a:pt x="1333500" y="720851"/>
                </a:lnTo>
                <a:lnTo>
                  <a:pt x="1333500" y="0"/>
                </a:lnTo>
                <a:lnTo>
                  <a:pt x="0" y="0"/>
                </a:lnTo>
                <a:lnTo>
                  <a:pt x="0" y="720851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752594" y="4482846"/>
            <a:ext cx="1333500" cy="367665"/>
          </a:xfrm>
          <a:custGeom>
            <a:avLst/>
            <a:gdLst/>
            <a:ahLst/>
            <a:cxnLst/>
            <a:rect l="l" t="t" r="r" b="b"/>
            <a:pathLst>
              <a:path w="1333500" h="367664">
                <a:moveTo>
                  <a:pt x="0" y="367283"/>
                </a:moveTo>
                <a:lnTo>
                  <a:pt x="1333500" y="367283"/>
                </a:lnTo>
                <a:lnTo>
                  <a:pt x="1333500" y="0"/>
                </a:lnTo>
                <a:lnTo>
                  <a:pt x="0" y="0"/>
                </a:lnTo>
                <a:lnTo>
                  <a:pt x="0" y="367283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906773" y="3893058"/>
            <a:ext cx="1333500" cy="370840"/>
          </a:xfrm>
          <a:custGeom>
            <a:avLst/>
            <a:gdLst/>
            <a:ahLst/>
            <a:cxnLst/>
            <a:rect l="l" t="t" r="r" b="b"/>
            <a:pathLst>
              <a:path w="1333500" h="370839">
                <a:moveTo>
                  <a:pt x="0" y="370332"/>
                </a:moveTo>
                <a:lnTo>
                  <a:pt x="1333500" y="370332"/>
                </a:lnTo>
                <a:lnTo>
                  <a:pt x="1333500" y="0"/>
                </a:lnTo>
                <a:lnTo>
                  <a:pt x="0" y="0"/>
                </a:lnTo>
                <a:lnTo>
                  <a:pt x="0" y="370332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784597" y="3216401"/>
            <a:ext cx="1332230" cy="501650"/>
          </a:xfrm>
          <a:custGeom>
            <a:avLst/>
            <a:gdLst/>
            <a:ahLst/>
            <a:cxnLst/>
            <a:rect l="l" t="t" r="r" b="b"/>
            <a:pathLst>
              <a:path w="1332229" h="501650">
                <a:moveTo>
                  <a:pt x="0" y="501396"/>
                </a:moveTo>
                <a:lnTo>
                  <a:pt x="1331976" y="501396"/>
                </a:lnTo>
                <a:lnTo>
                  <a:pt x="1331976" y="0"/>
                </a:lnTo>
                <a:lnTo>
                  <a:pt x="0" y="0"/>
                </a:lnTo>
                <a:lnTo>
                  <a:pt x="0" y="501396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634990" y="3827526"/>
            <a:ext cx="1332230" cy="501650"/>
          </a:xfrm>
          <a:custGeom>
            <a:avLst/>
            <a:gdLst/>
            <a:ahLst/>
            <a:cxnLst/>
            <a:rect l="l" t="t" r="r" b="b"/>
            <a:pathLst>
              <a:path w="1332229" h="501650">
                <a:moveTo>
                  <a:pt x="0" y="501396"/>
                </a:moveTo>
                <a:lnTo>
                  <a:pt x="1331975" y="501396"/>
                </a:lnTo>
                <a:lnTo>
                  <a:pt x="1331975" y="0"/>
                </a:lnTo>
                <a:lnTo>
                  <a:pt x="0" y="0"/>
                </a:lnTo>
                <a:lnTo>
                  <a:pt x="0" y="501396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35026"/>
            <a:ext cx="331152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dirty="0">
                <a:latin typeface="华文仿宋"/>
                <a:cs typeface="华文仿宋"/>
              </a:rPr>
              <a:t>精益（</a:t>
            </a:r>
            <a:r>
              <a:rPr i="0" dirty="0">
                <a:latin typeface="Tw Cen MT"/>
                <a:cs typeface="Tw Cen MT"/>
              </a:rPr>
              <a:t>Lea</a:t>
            </a:r>
            <a:r>
              <a:rPr i="0" spc="-5" dirty="0">
                <a:latin typeface="Tw Cen MT"/>
                <a:cs typeface="Tw Cen MT"/>
              </a:rPr>
              <a:t>n</a:t>
            </a:r>
            <a:r>
              <a:rPr i="0" dirty="0">
                <a:latin typeface="华文仿宋"/>
                <a:cs typeface="华文仿宋"/>
              </a:rPr>
              <a:t>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692" y="1723770"/>
            <a:ext cx="7851140" cy="910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华文仿宋"/>
                <a:cs typeface="华文仿宋"/>
              </a:rPr>
              <a:t>精益（</a:t>
            </a:r>
            <a:r>
              <a:rPr sz="2900" dirty="0">
                <a:latin typeface="Tw Cen MT"/>
                <a:cs typeface="Tw Cen MT"/>
              </a:rPr>
              <a:t>Lean</a:t>
            </a:r>
            <a:r>
              <a:rPr sz="2900" dirty="0">
                <a:latin typeface="华文仿宋"/>
                <a:cs typeface="华文仿宋"/>
              </a:rPr>
              <a:t>）模式提</a:t>
            </a:r>
            <a:r>
              <a:rPr sz="2900" spc="-15" dirty="0">
                <a:latin typeface="华文仿宋"/>
                <a:cs typeface="华文仿宋"/>
              </a:rPr>
              <a:t>倡</a:t>
            </a:r>
            <a:r>
              <a:rPr sz="2900" dirty="0">
                <a:latin typeface="华文仿宋"/>
                <a:cs typeface="华文仿宋"/>
              </a:rPr>
              <a:t>持续</a:t>
            </a:r>
            <a:r>
              <a:rPr sz="2900" spc="-15" dirty="0">
                <a:latin typeface="华文仿宋"/>
                <a:cs typeface="华文仿宋"/>
              </a:rPr>
              <a:t>不</a:t>
            </a:r>
            <a:r>
              <a:rPr sz="2900" dirty="0">
                <a:latin typeface="华文仿宋"/>
                <a:cs typeface="华文仿宋"/>
              </a:rPr>
              <a:t>断地</a:t>
            </a:r>
            <a:r>
              <a:rPr sz="2900" spc="-15" dirty="0">
                <a:latin typeface="华文仿宋"/>
                <a:cs typeface="华文仿宋"/>
              </a:rPr>
              <a:t>改</a:t>
            </a:r>
            <a:r>
              <a:rPr sz="2900" spc="5" dirty="0">
                <a:latin typeface="华文仿宋"/>
                <a:cs typeface="华文仿宋"/>
              </a:rPr>
              <a:t>进</a:t>
            </a:r>
            <a:r>
              <a:rPr sz="2900" dirty="0">
                <a:latin typeface="Tw Cen MT"/>
                <a:cs typeface="Tw Cen MT"/>
              </a:rPr>
              <a:t>,</a:t>
            </a:r>
            <a:r>
              <a:rPr sz="2900" spc="-55" dirty="0">
                <a:latin typeface="Tw Cen MT"/>
                <a:cs typeface="Tw Cen MT"/>
              </a:rPr>
              <a:t> </a:t>
            </a:r>
            <a:r>
              <a:rPr sz="2900" dirty="0">
                <a:latin typeface="华文仿宋"/>
                <a:cs typeface="华文仿宋"/>
              </a:rPr>
              <a:t>减少流 程中的浪费。</a:t>
            </a:r>
            <a:endParaRPr sz="2900">
              <a:latin typeface="华文仿宋"/>
              <a:cs typeface="华文仿宋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37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2311" y="3212592"/>
            <a:ext cx="2790443" cy="18958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97452" y="2601467"/>
            <a:ext cx="2951988" cy="36118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dirty="0">
                <a:latin typeface="华文隶书"/>
                <a:cs typeface="华文隶书"/>
              </a:rPr>
              <a:t>持续交付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38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7209" y="3091433"/>
            <a:ext cx="3133725" cy="1252855"/>
          </a:xfrm>
          <a:custGeom>
            <a:avLst/>
            <a:gdLst/>
            <a:ahLst/>
            <a:cxnLst/>
            <a:rect l="l" t="t" r="r" b="b"/>
            <a:pathLst>
              <a:path w="3133725" h="1252854">
                <a:moveTo>
                  <a:pt x="2506979" y="0"/>
                </a:moveTo>
                <a:lnTo>
                  <a:pt x="0" y="0"/>
                </a:lnTo>
                <a:lnTo>
                  <a:pt x="0" y="1252727"/>
                </a:lnTo>
                <a:lnTo>
                  <a:pt x="2506979" y="1252727"/>
                </a:lnTo>
                <a:lnTo>
                  <a:pt x="3133343" y="626363"/>
                </a:lnTo>
                <a:lnTo>
                  <a:pt x="2506979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62303" y="3397122"/>
            <a:ext cx="170180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dirty="0">
                <a:solidFill>
                  <a:srgbClr val="FFFFFF"/>
                </a:solidFill>
                <a:latin typeface="华文仿宋"/>
                <a:cs typeface="华文仿宋"/>
              </a:rPr>
              <a:t>持续集成</a:t>
            </a:r>
            <a:endParaRPr sz="3300">
              <a:latin typeface="华文仿宋"/>
              <a:cs typeface="华文仿宋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4189" y="3091433"/>
            <a:ext cx="3133725" cy="1252855"/>
          </a:xfrm>
          <a:custGeom>
            <a:avLst/>
            <a:gdLst/>
            <a:ahLst/>
            <a:cxnLst/>
            <a:rect l="l" t="t" r="r" b="b"/>
            <a:pathLst>
              <a:path w="3133725" h="1252854">
                <a:moveTo>
                  <a:pt x="2506980" y="0"/>
                </a:moveTo>
                <a:lnTo>
                  <a:pt x="0" y="0"/>
                </a:lnTo>
                <a:lnTo>
                  <a:pt x="626363" y="626363"/>
                </a:lnTo>
                <a:lnTo>
                  <a:pt x="0" y="1252727"/>
                </a:lnTo>
                <a:lnTo>
                  <a:pt x="2506980" y="1252727"/>
                </a:lnTo>
                <a:lnTo>
                  <a:pt x="3133344" y="626363"/>
                </a:lnTo>
                <a:lnTo>
                  <a:pt x="2506980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44189" y="3091433"/>
            <a:ext cx="3133725" cy="1252855"/>
          </a:xfrm>
          <a:custGeom>
            <a:avLst/>
            <a:gdLst/>
            <a:ahLst/>
            <a:cxnLst/>
            <a:rect l="l" t="t" r="r" b="b"/>
            <a:pathLst>
              <a:path w="3133725" h="1252854">
                <a:moveTo>
                  <a:pt x="0" y="0"/>
                </a:moveTo>
                <a:lnTo>
                  <a:pt x="2506980" y="0"/>
                </a:lnTo>
                <a:lnTo>
                  <a:pt x="3133344" y="626363"/>
                </a:lnTo>
                <a:lnTo>
                  <a:pt x="2506980" y="1252727"/>
                </a:lnTo>
                <a:lnTo>
                  <a:pt x="0" y="1252727"/>
                </a:lnTo>
                <a:lnTo>
                  <a:pt x="626363" y="626363"/>
                </a:lnTo>
                <a:lnTo>
                  <a:pt x="0" y="0"/>
                </a:lnTo>
                <a:close/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04030" y="3397122"/>
            <a:ext cx="170180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dirty="0">
                <a:solidFill>
                  <a:srgbClr val="FFFFFF"/>
                </a:solidFill>
                <a:latin typeface="华文仿宋"/>
                <a:cs typeface="华文仿宋"/>
              </a:rPr>
              <a:t>持续部署</a:t>
            </a:r>
            <a:endParaRPr sz="3300">
              <a:latin typeface="华文仿宋"/>
              <a:cs typeface="华文仿宋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51170" y="3091433"/>
            <a:ext cx="3133725" cy="1252855"/>
          </a:xfrm>
          <a:custGeom>
            <a:avLst/>
            <a:gdLst/>
            <a:ahLst/>
            <a:cxnLst/>
            <a:rect l="l" t="t" r="r" b="b"/>
            <a:pathLst>
              <a:path w="3133725" h="1252854">
                <a:moveTo>
                  <a:pt x="2506979" y="0"/>
                </a:moveTo>
                <a:lnTo>
                  <a:pt x="0" y="0"/>
                </a:lnTo>
                <a:lnTo>
                  <a:pt x="626363" y="626363"/>
                </a:lnTo>
                <a:lnTo>
                  <a:pt x="0" y="1252727"/>
                </a:lnTo>
                <a:lnTo>
                  <a:pt x="2506979" y="1252727"/>
                </a:lnTo>
                <a:lnTo>
                  <a:pt x="3133344" y="626363"/>
                </a:lnTo>
                <a:lnTo>
                  <a:pt x="2506979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551170" y="3091433"/>
            <a:ext cx="3133725" cy="1252855"/>
          </a:xfrm>
          <a:custGeom>
            <a:avLst/>
            <a:gdLst/>
            <a:ahLst/>
            <a:cxnLst/>
            <a:rect l="l" t="t" r="r" b="b"/>
            <a:pathLst>
              <a:path w="3133725" h="1252854">
                <a:moveTo>
                  <a:pt x="0" y="0"/>
                </a:moveTo>
                <a:lnTo>
                  <a:pt x="2506979" y="0"/>
                </a:lnTo>
                <a:lnTo>
                  <a:pt x="3133344" y="626363"/>
                </a:lnTo>
                <a:lnTo>
                  <a:pt x="2506979" y="1252727"/>
                </a:lnTo>
                <a:lnTo>
                  <a:pt x="0" y="1252727"/>
                </a:lnTo>
                <a:lnTo>
                  <a:pt x="626363" y="626363"/>
                </a:lnTo>
                <a:lnTo>
                  <a:pt x="0" y="0"/>
                </a:lnTo>
                <a:close/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310629" y="3397122"/>
            <a:ext cx="170307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dirty="0">
                <a:solidFill>
                  <a:srgbClr val="FFFFFF"/>
                </a:solidFill>
                <a:latin typeface="华文仿宋"/>
                <a:cs typeface="华文仿宋"/>
              </a:rPr>
              <a:t>持续交付</a:t>
            </a:r>
            <a:endParaRPr sz="3300">
              <a:latin typeface="华文仿宋"/>
              <a:cs typeface="华文仿宋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335026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仿宋"/>
                <a:cs typeface="华文仿宋"/>
              </a:rPr>
              <a:t>持续集成</a:t>
            </a:r>
            <a:endParaRPr sz="4400">
              <a:latin typeface="华文仿宋"/>
              <a:cs typeface="华文仿宋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3556" y="2307107"/>
            <a:ext cx="7574508" cy="30167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31970" y="616559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39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335026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仿宋"/>
                <a:cs typeface="华文仿宋"/>
              </a:rPr>
              <a:t>持续部署</a:t>
            </a:r>
            <a:endParaRPr sz="4400">
              <a:latin typeface="华文仿宋"/>
              <a:cs typeface="华文仿宋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19512" y="1726723"/>
            <a:ext cx="5880612" cy="42005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31970" y="617199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40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335026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仿宋"/>
                <a:cs typeface="华文仿宋"/>
              </a:rPr>
              <a:t>持续交付</a:t>
            </a:r>
            <a:endParaRPr sz="4400">
              <a:latin typeface="华文仿宋"/>
              <a:cs typeface="华文仿宋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52016" y="1726723"/>
            <a:ext cx="6074663" cy="42005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31970" y="617199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41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456057"/>
            <a:ext cx="82410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spc="-15" dirty="0">
                <a:latin typeface="Tw Cen MT"/>
                <a:cs typeface="Tw Cen MT"/>
              </a:rPr>
              <a:t>DevOps:</a:t>
            </a:r>
            <a:r>
              <a:rPr sz="3600" b="1" i="0" spc="-25" dirty="0">
                <a:latin typeface="Tw Cen MT"/>
                <a:cs typeface="Tw Cen MT"/>
              </a:rPr>
              <a:t> </a:t>
            </a:r>
            <a:r>
              <a:rPr sz="3600" b="1" i="0" spc="-10" dirty="0">
                <a:latin typeface="Tw Cen MT"/>
                <a:cs typeface="Tw Cen MT"/>
              </a:rPr>
              <a:t>Development</a:t>
            </a:r>
            <a:r>
              <a:rPr sz="3600" b="1" i="0" spc="5" dirty="0">
                <a:latin typeface="华文仿宋"/>
                <a:cs typeface="华文仿宋"/>
              </a:rPr>
              <a:t>和</a:t>
            </a:r>
            <a:r>
              <a:rPr sz="3600" b="1" i="0" spc="5" dirty="0">
                <a:latin typeface="Tw Cen MT"/>
                <a:cs typeface="Tw Cen MT"/>
              </a:rPr>
              <a:t>Operations</a:t>
            </a:r>
            <a:r>
              <a:rPr sz="3600" b="1" i="0" spc="5" dirty="0">
                <a:latin typeface="华文仿宋"/>
                <a:cs typeface="华文仿宋"/>
              </a:rPr>
              <a:t>的组合</a:t>
            </a:r>
            <a:endParaRPr sz="3600">
              <a:latin typeface="华文仿宋"/>
              <a:cs typeface="华文仿宋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00452" y="2683001"/>
            <a:ext cx="4919980" cy="16681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latin typeface="黑体"/>
                <a:cs typeface="黑体"/>
              </a:rPr>
              <a:t>全程</a:t>
            </a:r>
            <a:r>
              <a:rPr sz="3200" b="1" spc="-10" dirty="0">
                <a:latin typeface="黑体"/>
                <a:cs typeface="黑体"/>
              </a:rPr>
              <a:t>敏</a:t>
            </a:r>
            <a:r>
              <a:rPr sz="3200" b="1" dirty="0">
                <a:latin typeface="黑体"/>
                <a:cs typeface="黑体"/>
              </a:rPr>
              <a:t>捷</a:t>
            </a:r>
            <a:r>
              <a:rPr sz="3200" b="1" spc="-5" dirty="0">
                <a:latin typeface="黑体"/>
                <a:cs typeface="黑体"/>
              </a:rPr>
              <a:t>思</a:t>
            </a:r>
            <a:r>
              <a:rPr sz="3200" b="1" spc="-10" dirty="0">
                <a:latin typeface="黑体"/>
                <a:cs typeface="黑体"/>
              </a:rPr>
              <a:t>维</a:t>
            </a:r>
            <a:endParaRPr sz="3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5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3200" b="1" spc="-5" dirty="0">
                <a:latin typeface="黑体"/>
                <a:cs typeface="黑体"/>
              </a:rPr>
              <a:t>开发</a:t>
            </a:r>
            <a:r>
              <a:rPr sz="3200" b="1" spc="-10" dirty="0">
                <a:latin typeface="黑体"/>
                <a:cs typeface="黑体"/>
              </a:rPr>
              <a:t>和</a:t>
            </a:r>
            <a:r>
              <a:rPr sz="3200" b="1" spc="5" dirty="0">
                <a:latin typeface="黑体"/>
                <a:cs typeface="黑体"/>
              </a:rPr>
              <a:t>运维</a:t>
            </a:r>
            <a:r>
              <a:rPr sz="3200" b="1" spc="-10" dirty="0">
                <a:latin typeface="黑体"/>
                <a:cs typeface="黑体"/>
              </a:rPr>
              <a:t>工</a:t>
            </a:r>
            <a:r>
              <a:rPr sz="3200" b="1" spc="-5" dirty="0">
                <a:latin typeface="黑体"/>
                <a:cs typeface="黑体"/>
              </a:rPr>
              <a:t>作紧</a:t>
            </a:r>
            <a:r>
              <a:rPr sz="3200" b="1" spc="-10" dirty="0">
                <a:latin typeface="黑体"/>
                <a:cs typeface="黑体"/>
              </a:rPr>
              <a:t>密</a:t>
            </a:r>
            <a:r>
              <a:rPr sz="3200" b="1" spc="-5" dirty="0">
                <a:latin typeface="黑体"/>
                <a:cs typeface="黑体"/>
              </a:rPr>
              <a:t>合作</a:t>
            </a:r>
            <a:r>
              <a:rPr sz="3200" b="1" spc="-10" dirty="0">
                <a:latin typeface="黑体"/>
                <a:cs typeface="黑体"/>
              </a:rPr>
              <a:t>。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73195" y="612749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42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40" y="403605"/>
            <a:ext cx="68897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spc="5" dirty="0">
                <a:latin typeface="华文仿宋"/>
                <a:cs typeface="华文仿宋"/>
              </a:rPr>
              <a:t>运维人</a:t>
            </a:r>
            <a:r>
              <a:rPr sz="3600" b="1" i="0" spc="-5" dirty="0">
                <a:latin typeface="华文仿宋"/>
                <a:cs typeface="华文仿宋"/>
              </a:rPr>
              <a:t>员和开发</a:t>
            </a:r>
            <a:r>
              <a:rPr sz="3600" b="1" i="0" dirty="0">
                <a:latin typeface="华文仿宋"/>
                <a:cs typeface="华文仿宋"/>
              </a:rPr>
              <a:t>者</a:t>
            </a:r>
            <a:r>
              <a:rPr sz="3600" b="1" i="0" spc="-5" dirty="0">
                <a:latin typeface="华文仿宋"/>
                <a:cs typeface="华文仿宋"/>
              </a:rPr>
              <a:t>之间</a:t>
            </a:r>
            <a:r>
              <a:rPr sz="3600" b="1" i="0" spc="-10" dirty="0">
                <a:latin typeface="华文仿宋"/>
                <a:cs typeface="华文仿宋"/>
              </a:rPr>
              <a:t>的</a:t>
            </a:r>
            <a:r>
              <a:rPr sz="3600" b="1" i="0" spc="-5" dirty="0">
                <a:latin typeface="华文仿宋"/>
                <a:cs typeface="华文仿宋"/>
              </a:rPr>
              <a:t>目标差异</a:t>
            </a:r>
            <a:endParaRPr sz="3600">
              <a:latin typeface="华文仿宋"/>
              <a:cs typeface="华文仿宋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38446" y="6354571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43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1500" y="1600200"/>
            <a:ext cx="8211311" cy="4678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363423"/>
            <a:ext cx="89839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spc="-15" dirty="0">
                <a:latin typeface="Tw Cen MT"/>
                <a:cs typeface="Tw Cen MT"/>
              </a:rPr>
              <a:t>DevOps:</a:t>
            </a:r>
            <a:r>
              <a:rPr sz="3600" b="1" i="0" spc="-5" dirty="0">
                <a:latin typeface="华文仿宋"/>
                <a:cs typeface="华文仿宋"/>
              </a:rPr>
              <a:t>融</a:t>
            </a:r>
            <a:r>
              <a:rPr sz="3600" b="1" i="0" spc="5" dirty="0">
                <a:latin typeface="华文仿宋"/>
                <a:cs typeface="华文仿宋"/>
              </a:rPr>
              <a:t>合</a:t>
            </a:r>
            <a:r>
              <a:rPr sz="3600" b="1" i="0" spc="-5" dirty="0">
                <a:latin typeface="华文仿宋"/>
                <a:cs typeface="华文仿宋"/>
              </a:rPr>
              <a:t>一</a:t>
            </a:r>
            <a:r>
              <a:rPr sz="3600" b="1" i="0" spc="5" dirty="0">
                <a:latin typeface="华文仿宋"/>
                <a:cs typeface="华文仿宋"/>
              </a:rPr>
              <a:t>系</a:t>
            </a:r>
            <a:r>
              <a:rPr sz="3600" b="1" i="0" spc="-5" dirty="0">
                <a:latin typeface="华文仿宋"/>
                <a:cs typeface="华文仿宋"/>
              </a:rPr>
              <a:t>列基本原</a:t>
            </a:r>
            <a:r>
              <a:rPr sz="3600" b="1" i="0" spc="-20" dirty="0">
                <a:latin typeface="华文仿宋"/>
                <a:cs typeface="华文仿宋"/>
              </a:rPr>
              <a:t>则</a:t>
            </a:r>
            <a:r>
              <a:rPr sz="3600" b="1" i="0" spc="-5" dirty="0">
                <a:latin typeface="华文仿宋"/>
                <a:cs typeface="华文仿宋"/>
              </a:rPr>
              <a:t>和实践的</a:t>
            </a:r>
            <a:r>
              <a:rPr sz="3600" b="1" i="0" spc="-20" dirty="0">
                <a:latin typeface="华文仿宋"/>
                <a:cs typeface="华文仿宋"/>
              </a:rPr>
              <a:t>方</a:t>
            </a:r>
            <a:r>
              <a:rPr sz="3600" b="1" i="0" spc="-5" dirty="0">
                <a:latin typeface="华文仿宋"/>
                <a:cs typeface="华文仿宋"/>
              </a:rPr>
              <a:t>法论</a:t>
            </a:r>
            <a:endParaRPr sz="3600">
              <a:latin typeface="华文仿宋"/>
              <a:cs typeface="华文仿宋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44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2396" y="1600200"/>
            <a:ext cx="7559009" cy="44354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403605"/>
            <a:ext cx="44094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spc="-15" dirty="0">
                <a:latin typeface="Tw Cen MT"/>
                <a:cs typeface="Tw Cen MT"/>
              </a:rPr>
              <a:t>DevOps:</a:t>
            </a:r>
            <a:r>
              <a:rPr sz="3600" b="1" i="0" dirty="0">
                <a:latin typeface="华文仿宋"/>
                <a:cs typeface="华文仿宋"/>
              </a:rPr>
              <a:t>是一种方</a:t>
            </a:r>
            <a:r>
              <a:rPr sz="3600" b="1" i="0" spc="-5" dirty="0">
                <a:latin typeface="华文仿宋"/>
                <a:cs typeface="华文仿宋"/>
              </a:rPr>
              <a:t>法论</a:t>
            </a:r>
            <a:endParaRPr sz="3600">
              <a:latin typeface="华文仿宋"/>
              <a:cs typeface="华文仿宋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45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48383" y="1551646"/>
            <a:ext cx="4601718" cy="35047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2138" y="5374385"/>
            <a:ext cx="8281670" cy="646430"/>
          </a:xfrm>
          <a:prstGeom prst="rect">
            <a:avLst/>
          </a:prstGeom>
          <a:ln w="28955">
            <a:solidFill>
              <a:srgbClr val="006FC0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0170" marR="102235">
              <a:lnSpc>
                <a:spcPct val="100000"/>
              </a:lnSpc>
              <a:spcBef>
                <a:spcPts val="340"/>
              </a:spcBef>
            </a:pPr>
            <a:r>
              <a:rPr sz="1800" b="1" spc="-5" dirty="0">
                <a:latin typeface="Arial Narrow"/>
                <a:cs typeface="Arial Narrow"/>
              </a:rPr>
              <a:t>DevOps</a:t>
            </a:r>
            <a:r>
              <a:rPr sz="1800" b="1" dirty="0">
                <a:latin typeface="宋体"/>
                <a:cs typeface="宋体"/>
              </a:rPr>
              <a:t>是一组过程、方法与系统的统称，用于促进开发、技术运营和质量保障（  </a:t>
            </a:r>
            <a:r>
              <a:rPr sz="1800" b="1" dirty="0">
                <a:latin typeface="Arial Narrow"/>
                <a:cs typeface="Arial Narrow"/>
              </a:rPr>
              <a:t>QA</a:t>
            </a:r>
            <a:r>
              <a:rPr sz="1800" b="1" dirty="0">
                <a:latin typeface="宋体"/>
                <a:cs typeface="宋体"/>
              </a:rPr>
              <a:t>）部门之间的沟通、协作与整合。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335026"/>
            <a:ext cx="704278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Tw Cen MT"/>
                <a:cs typeface="Tw Cen MT"/>
              </a:rPr>
              <a:t>DevCloud:</a:t>
            </a:r>
            <a:r>
              <a:rPr sz="4400" spc="-75" dirty="0">
                <a:solidFill>
                  <a:srgbClr val="775F54"/>
                </a:solidFill>
                <a:latin typeface="Tw Cen MT"/>
                <a:cs typeface="Tw Cen MT"/>
              </a:rPr>
              <a:t> </a:t>
            </a:r>
            <a:r>
              <a:rPr sz="4400" dirty="0">
                <a:solidFill>
                  <a:srgbClr val="775F54"/>
                </a:solidFill>
                <a:latin typeface="华文仿宋"/>
                <a:cs typeface="华文仿宋"/>
              </a:rPr>
              <a:t>一站式云</a:t>
            </a:r>
            <a:r>
              <a:rPr sz="4400" spc="-5" dirty="0">
                <a:solidFill>
                  <a:srgbClr val="775F54"/>
                </a:solidFill>
                <a:latin typeface="华文仿宋"/>
                <a:cs typeface="华文仿宋"/>
              </a:rPr>
              <a:t>端</a:t>
            </a:r>
            <a:r>
              <a:rPr sz="4400" dirty="0">
                <a:solidFill>
                  <a:srgbClr val="775F54"/>
                </a:solidFill>
                <a:latin typeface="Tw Cen MT"/>
                <a:cs typeface="Tw Cen MT"/>
              </a:rPr>
              <a:t>DevOps</a:t>
            </a:r>
            <a:endParaRPr sz="44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46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2648" y="1947672"/>
            <a:ext cx="8153400" cy="38008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0"/>
            <a:ext cx="2263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i="0" dirty="0">
                <a:latin typeface="华文隶书"/>
                <a:cs typeface="华文隶书"/>
              </a:rPr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5416" y="1932561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29967" y="1868423"/>
            <a:ext cx="506095" cy="4318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79375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625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85416" y="2557088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29967" y="2491739"/>
            <a:ext cx="483234" cy="43307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0645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6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86939" y="3229553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29967" y="3163823"/>
            <a:ext cx="483234" cy="43307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0645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6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86939" y="5053146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六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29967" y="4988052"/>
            <a:ext cx="485140" cy="4318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0010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63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六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35935" y="1868423"/>
            <a:ext cx="4628515" cy="4318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18110" rIns="0" bIns="0" rtlCol="0">
            <a:spAutoFit/>
          </a:bodyPr>
          <a:lstStyle/>
          <a:p>
            <a:pPr marL="1202055">
              <a:lnSpc>
                <a:spcPct val="100000"/>
              </a:lnSpc>
              <a:spcBef>
                <a:spcPts val="930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生存期模型选择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13076" y="2491739"/>
            <a:ext cx="4628515" cy="43307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57785" rIns="0" bIns="0" rtlCol="0">
            <a:spAutoFit/>
          </a:bodyPr>
          <a:lstStyle/>
          <a:p>
            <a:pPr marR="445770" algn="ctr">
              <a:lnSpc>
                <a:spcPct val="100000"/>
              </a:lnSpc>
              <a:spcBef>
                <a:spcPts val="455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预测模型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13076" y="3163823"/>
            <a:ext cx="4628515" cy="43307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58419" rIns="0" bIns="0" rtlCol="0">
            <a:spAutoFit/>
          </a:bodyPr>
          <a:lstStyle/>
          <a:p>
            <a:pPr marR="494665" algn="ctr">
              <a:lnSpc>
                <a:spcPct val="100000"/>
              </a:lnSpc>
              <a:spcBef>
                <a:spcPts val="459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迭代模型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14600" y="4988052"/>
            <a:ext cx="4630420" cy="4318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05410" rIns="0" bIns="0" rtlCol="0">
            <a:spAutoFit/>
          </a:bodyPr>
          <a:lstStyle/>
          <a:p>
            <a:pPr marR="407034" algn="ctr">
              <a:lnSpc>
                <a:spcPct val="100000"/>
              </a:lnSpc>
              <a:spcBef>
                <a:spcPts val="830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混合模型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64714" y="3853055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08632" y="3787140"/>
            <a:ext cx="504825" cy="4343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128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64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13076" y="3787140"/>
            <a:ext cx="4628515" cy="4343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07950" rIns="0" bIns="0" rtlCol="0">
            <a:spAutoFit/>
          </a:bodyPr>
          <a:lstStyle/>
          <a:p>
            <a:pPr marR="445134" algn="ctr">
              <a:lnSpc>
                <a:spcPct val="100000"/>
              </a:lnSpc>
              <a:spcBef>
                <a:spcPts val="850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增量模型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64714" y="4476693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08632" y="4411979"/>
            <a:ext cx="504825" cy="4318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001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63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13076" y="4411979"/>
            <a:ext cx="4628515" cy="4318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08585" rIns="0" bIns="0" rtlCol="0">
            <a:spAutoFit/>
          </a:bodyPr>
          <a:lstStyle/>
          <a:p>
            <a:pPr marR="445134" algn="ctr">
              <a:lnSpc>
                <a:spcPct val="100000"/>
              </a:lnSpc>
              <a:spcBef>
                <a:spcPts val="855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敏捷模型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85161" y="5726424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七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28444" y="5661659"/>
            <a:ext cx="485140" cy="4318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0010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63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七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13076" y="5661659"/>
            <a:ext cx="4628515" cy="4318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05410" rIns="0" bIns="0" rtlCol="0">
            <a:spAutoFit/>
          </a:bodyPr>
          <a:lstStyle/>
          <a:p>
            <a:pPr marR="404495" algn="ctr">
              <a:lnSpc>
                <a:spcPct val="100000"/>
              </a:lnSpc>
              <a:spcBef>
                <a:spcPts val="830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35026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dirty="0">
                <a:latin typeface="华文仿宋"/>
                <a:cs typeface="华文仿宋"/>
              </a:rPr>
              <a:t>混合模型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48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94006" y="1853568"/>
            <a:ext cx="6639300" cy="9814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95730" y="3184024"/>
            <a:ext cx="6600825" cy="9818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24305" y="4513333"/>
            <a:ext cx="6638925" cy="98144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60684" y="5819774"/>
            <a:ext cx="6639296" cy="98107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0"/>
            <a:ext cx="2263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i="0" dirty="0">
                <a:latin typeface="华文隶书"/>
                <a:cs typeface="华文隶书"/>
              </a:rPr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5416" y="1932561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29967" y="1868423"/>
            <a:ext cx="506095" cy="4318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79375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625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85416" y="2557088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29967" y="2491739"/>
            <a:ext cx="483234" cy="43307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0645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6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86939" y="3229553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29967" y="3163823"/>
            <a:ext cx="483234" cy="43307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0645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6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86939" y="5053146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六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29967" y="4988052"/>
            <a:ext cx="485140" cy="4318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0010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63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六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35935" y="1868423"/>
            <a:ext cx="4628515" cy="4318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18110" rIns="0" bIns="0" rtlCol="0">
            <a:spAutoFit/>
          </a:bodyPr>
          <a:lstStyle/>
          <a:p>
            <a:pPr marL="1202055">
              <a:lnSpc>
                <a:spcPct val="100000"/>
              </a:lnSpc>
              <a:spcBef>
                <a:spcPts val="930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生存期模型选择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13076" y="2491739"/>
            <a:ext cx="4628515" cy="43307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57785" rIns="0" bIns="0" rtlCol="0">
            <a:spAutoFit/>
          </a:bodyPr>
          <a:lstStyle/>
          <a:p>
            <a:pPr marR="445770" algn="ctr">
              <a:lnSpc>
                <a:spcPct val="100000"/>
              </a:lnSpc>
              <a:spcBef>
                <a:spcPts val="455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预测模型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13076" y="3163823"/>
            <a:ext cx="4628515" cy="43307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58419" rIns="0" bIns="0" rtlCol="0">
            <a:spAutoFit/>
          </a:bodyPr>
          <a:lstStyle/>
          <a:p>
            <a:pPr marR="494665" algn="ctr">
              <a:lnSpc>
                <a:spcPct val="100000"/>
              </a:lnSpc>
              <a:spcBef>
                <a:spcPts val="459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迭代模型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14600" y="4988052"/>
            <a:ext cx="4630420" cy="4318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05410" rIns="0" bIns="0" rtlCol="0">
            <a:spAutoFit/>
          </a:bodyPr>
          <a:lstStyle/>
          <a:p>
            <a:pPr marR="407034" algn="ctr">
              <a:lnSpc>
                <a:spcPct val="100000"/>
              </a:lnSpc>
              <a:spcBef>
                <a:spcPts val="830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混合模型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64714" y="3853055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08632" y="3787140"/>
            <a:ext cx="504825" cy="4343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128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64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13076" y="3787140"/>
            <a:ext cx="4628515" cy="4343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07950" rIns="0" bIns="0" rtlCol="0">
            <a:spAutoFit/>
          </a:bodyPr>
          <a:lstStyle/>
          <a:p>
            <a:pPr marR="445134" algn="ctr">
              <a:lnSpc>
                <a:spcPct val="100000"/>
              </a:lnSpc>
              <a:spcBef>
                <a:spcPts val="850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增量模型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64714" y="4476693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08632" y="4411979"/>
            <a:ext cx="504825" cy="4318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001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63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13076" y="4411979"/>
            <a:ext cx="4628515" cy="4318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08585" rIns="0" bIns="0" rtlCol="0">
            <a:spAutoFit/>
          </a:bodyPr>
          <a:lstStyle/>
          <a:p>
            <a:pPr marR="445134" algn="ctr">
              <a:lnSpc>
                <a:spcPct val="100000"/>
              </a:lnSpc>
              <a:spcBef>
                <a:spcPts val="855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敏捷模型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85161" y="5726424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七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28444" y="5661659"/>
            <a:ext cx="485140" cy="4318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80010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63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七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13076" y="5661659"/>
            <a:ext cx="4628515" cy="4318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05410" rIns="0" bIns="0" rtlCol="0">
            <a:spAutoFit/>
          </a:bodyPr>
          <a:lstStyle/>
          <a:p>
            <a:pPr marR="404495" algn="ctr">
              <a:lnSpc>
                <a:spcPct val="100000"/>
              </a:lnSpc>
              <a:spcBef>
                <a:spcPts val="830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315213"/>
            <a:ext cx="4500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医疗信息商务平台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01821" y="636889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50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4611" y="1700783"/>
            <a:ext cx="8284464" cy="43693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1543" y="200913"/>
            <a:ext cx="68281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MED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生存期模</a:t>
            </a:r>
            <a:r>
              <a:rPr sz="4400" spc="-10" dirty="0">
                <a:solidFill>
                  <a:srgbClr val="775F54"/>
                </a:solidFill>
                <a:latin typeface="华文隶书"/>
                <a:cs typeface="华文隶书"/>
              </a:rPr>
              <a:t>型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—敏捷模型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14621" y="6448450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51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4715" y="1604772"/>
            <a:ext cx="7490333" cy="44820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5374" y="1341882"/>
            <a:ext cx="2734310" cy="4968240"/>
          </a:xfrm>
          <a:custGeom>
            <a:avLst/>
            <a:gdLst/>
            <a:ahLst/>
            <a:cxnLst/>
            <a:rect l="l" t="t" r="r" b="b"/>
            <a:pathLst>
              <a:path w="2734310" h="4968240">
                <a:moveTo>
                  <a:pt x="0" y="2484119"/>
                </a:moveTo>
                <a:lnTo>
                  <a:pt x="407" y="2422864"/>
                </a:lnTo>
                <a:lnTo>
                  <a:pt x="1623" y="2361973"/>
                </a:lnTo>
                <a:lnTo>
                  <a:pt x="3639" y="2301463"/>
                </a:lnTo>
                <a:lnTo>
                  <a:pt x="6444" y="2241351"/>
                </a:lnTo>
                <a:lnTo>
                  <a:pt x="10030" y="2181655"/>
                </a:lnTo>
                <a:lnTo>
                  <a:pt x="14388" y="2122391"/>
                </a:lnTo>
                <a:lnTo>
                  <a:pt x="19507" y="2063577"/>
                </a:lnTo>
                <a:lnTo>
                  <a:pt x="25379" y="2005228"/>
                </a:lnTo>
                <a:lnTo>
                  <a:pt x="31994" y="1947363"/>
                </a:lnTo>
                <a:lnTo>
                  <a:pt x="39342" y="1889999"/>
                </a:lnTo>
                <a:lnTo>
                  <a:pt x="47416" y="1833151"/>
                </a:lnTo>
                <a:lnTo>
                  <a:pt x="56204" y="1776838"/>
                </a:lnTo>
                <a:lnTo>
                  <a:pt x="65698" y="1721077"/>
                </a:lnTo>
                <a:lnTo>
                  <a:pt x="75889" y="1665883"/>
                </a:lnTo>
                <a:lnTo>
                  <a:pt x="86766" y="1611276"/>
                </a:lnTo>
                <a:lnTo>
                  <a:pt x="98322" y="1557270"/>
                </a:lnTo>
                <a:lnTo>
                  <a:pt x="110545" y="1503884"/>
                </a:lnTo>
                <a:lnTo>
                  <a:pt x="123428" y="1451134"/>
                </a:lnTo>
                <a:lnTo>
                  <a:pt x="136960" y="1399037"/>
                </a:lnTo>
                <a:lnTo>
                  <a:pt x="151132" y="1347611"/>
                </a:lnTo>
                <a:lnTo>
                  <a:pt x="165936" y="1296872"/>
                </a:lnTo>
                <a:lnTo>
                  <a:pt x="181361" y="1246838"/>
                </a:lnTo>
                <a:lnTo>
                  <a:pt x="197398" y="1197525"/>
                </a:lnTo>
                <a:lnTo>
                  <a:pt x="214037" y="1148950"/>
                </a:lnTo>
                <a:lnTo>
                  <a:pt x="231271" y="1101131"/>
                </a:lnTo>
                <a:lnTo>
                  <a:pt x="249088" y="1054084"/>
                </a:lnTo>
                <a:lnTo>
                  <a:pt x="267480" y="1007826"/>
                </a:lnTo>
                <a:lnTo>
                  <a:pt x="286438" y="962375"/>
                </a:lnTo>
                <a:lnTo>
                  <a:pt x="305951" y="917747"/>
                </a:lnTo>
                <a:lnTo>
                  <a:pt x="326012" y="873959"/>
                </a:lnTo>
                <a:lnTo>
                  <a:pt x="346609" y="831029"/>
                </a:lnTo>
                <a:lnTo>
                  <a:pt x="367735" y="788974"/>
                </a:lnTo>
                <a:lnTo>
                  <a:pt x="389379" y="747809"/>
                </a:lnTo>
                <a:lnTo>
                  <a:pt x="411532" y="707553"/>
                </a:lnTo>
                <a:lnTo>
                  <a:pt x="434185" y="668223"/>
                </a:lnTo>
                <a:lnTo>
                  <a:pt x="457329" y="629835"/>
                </a:lnTo>
                <a:lnTo>
                  <a:pt x="480954" y="592406"/>
                </a:lnTo>
                <a:lnTo>
                  <a:pt x="505051" y="555954"/>
                </a:lnTo>
                <a:lnTo>
                  <a:pt x="529610" y="520495"/>
                </a:lnTo>
                <a:lnTo>
                  <a:pt x="554622" y="486046"/>
                </a:lnTo>
                <a:lnTo>
                  <a:pt x="580078" y="452625"/>
                </a:lnTo>
                <a:lnTo>
                  <a:pt x="605968" y="420248"/>
                </a:lnTo>
                <a:lnTo>
                  <a:pt x="632284" y="388933"/>
                </a:lnTo>
                <a:lnTo>
                  <a:pt x="659015" y="358696"/>
                </a:lnTo>
                <a:lnTo>
                  <a:pt x="686152" y="329555"/>
                </a:lnTo>
                <a:lnTo>
                  <a:pt x="713687" y="301526"/>
                </a:lnTo>
                <a:lnTo>
                  <a:pt x="741608" y="274626"/>
                </a:lnTo>
                <a:lnTo>
                  <a:pt x="769908" y="248873"/>
                </a:lnTo>
                <a:lnTo>
                  <a:pt x="827606" y="200874"/>
                </a:lnTo>
                <a:lnTo>
                  <a:pt x="886704" y="157665"/>
                </a:lnTo>
                <a:lnTo>
                  <a:pt x="947128" y="119382"/>
                </a:lnTo>
                <a:lnTo>
                  <a:pt x="1008803" y="86160"/>
                </a:lnTo>
                <a:lnTo>
                  <a:pt x="1071653" y="58136"/>
                </a:lnTo>
                <a:lnTo>
                  <a:pt x="1135605" y="35446"/>
                </a:lnTo>
                <a:lnTo>
                  <a:pt x="1200583" y="18226"/>
                </a:lnTo>
                <a:lnTo>
                  <a:pt x="1266513" y="6612"/>
                </a:lnTo>
                <a:lnTo>
                  <a:pt x="1333319" y="740"/>
                </a:lnTo>
                <a:lnTo>
                  <a:pt x="1367027" y="0"/>
                </a:lnTo>
                <a:lnTo>
                  <a:pt x="1400737" y="740"/>
                </a:lnTo>
                <a:lnTo>
                  <a:pt x="1467545" y="6612"/>
                </a:lnTo>
                <a:lnTo>
                  <a:pt x="1533477" y="18226"/>
                </a:lnTo>
                <a:lnTo>
                  <a:pt x="1598456" y="35446"/>
                </a:lnTo>
                <a:lnTo>
                  <a:pt x="1662409" y="58136"/>
                </a:lnTo>
                <a:lnTo>
                  <a:pt x="1725261" y="86160"/>
                </a:lnTo>
                <a:lnTo>
                  <a:pt x="1786937" y="119382"/>
                </a:lnTo>
                <a:lnTo>
                  <a:pt x="1847361" y="157665"/>
                </a:lnTo>
                <a:lnTo>
                  <a:pt x="1906460" y="200874"/>
                </a:lnTo>
                <a:lnTo>
                  <a:pt x="1964158" y="248873"/>
                </a:lnTo>
                <a:lnTo>
                  <a:pt x="1992458" y="274626"/>
                </a:lnTo>
                <a:lnTo>
                  <a:pt x="2020380" y="301526"/>
                </a:lnTo>
                <a:lnTo>
                  <a:pt x="2047914" y="329555"/>
                </a:lnTo>
                <a:lnTo>
                  <a:pt x="2075051" y="358696"/>
                </a:lnTo>
                <a:lnTo>
                  <a:pt x="2101782" y="388933"/>
                </a:lnTo>
                <a:lnTo>
                  <a:pt x="2128098" y="420248"/>
                </a:lnTo>
                <a:lnTo>
                  <a:pt x="2153988" y="452625"/>
                </a:lnTo>
                <a:lnTo>
                  <a:pt x="2179444" y="486046"/>
                </a:lnTo>
                <a:lnTo>
                  <a:pt x="2204456" y="520495"/>
                </a:lnTo>
                <a:lnTo>
                  <a:pt x="2229015" y="555954"/>
                </a:lnTo>
                <a:lnTo>
                  <a:pt x="2253111" y="592406"/>
                </a:lnTo>
                <a:lnTo>
                  <a:pt x="2276736" y="629835"/>
                </a:lnTo>
                <a:lnTo>
                  <a:pt x="2299880" y="668223"/>
                </a:lnTo>
                <a:lnTo>
                  <a:pt x="2322533" y="707553"/>
                </a:lnTo>
                <a:lnTo>
                  <a:pt x="2344686" y="747809"/>
                </a:lnTo>
                <a:lnTo>
                  <a:pt x="2366329" y="788974"/>
                </a:lnTo>
                <a:lnTo>
                  <a:pt x="2387455" y="831029"/>
                </a:lnTo>
                <a:lnTo>
                  <a:pt x="2408052" y="873959"/>
                </a:lnTo>
                <a:lnTo>
                  <a:pt x="2428112" y="917747"/>
                </a:lnTo>
                <a:lnTo>
                  <a:pt x="2447625" y="962375"/>
                </a:lnTo>
                <a:lnTo>
                  <a:pt x="2466582" y="1007826"/>
                </a:lnTo>
                <a:lnTo>
                  <a:pt x="2484974" y="1054084"/>
                </a:lnTo>
                <a:lnTo>
                  <a:pt x="2502791" y="1101131"/>
                </a:lnTo>
                <a:lnTo>
                  <a:pt x="2520024" y="1148950"/>
                </a:lnTo>
                <a:lnTo>
                  <a:pt x="2536663" y="1197525"/>
                </a:lnTo>
                <a:lnTo>
                  <a:pt x="2552700" y="1246838"/>
                </a:lnTo>
                <a:lnTo>
                  <a:pt x="2568124" y="1296872"/>
                </a:lnTo>
                <a:lnTo>
                  <a:pt x="2582927" y="1347611"/>
                </a:lnTo>
                <a:lnTo>
                  <a:pt x="2597099" y="1399037"/>
                </a:lnTo>
                <a:lnTo>
                  <a:pt x="2610631" y="1451134"/>
                </a:lnTo>
                <a:lnTo>
                  <a:pt x="2623513" y="1503884"/>
                </a:lnTo>
                <a:lnTo>
                  <a:pt x="2635737" y="1557270"/>
                </a:lnTo>
                <a:lnTo>
                  <a:pt x="2647292" y="1611276"/>
                </a:lnTo>
                <a:lnTo>
                  <a:pt x="2658169" y="1665883"/>
                </a:lnTo>
                <a:lnTo>
                  <a:pt x="2668359" y="1721077"/>
                </a:lnTo>
                <a:lnTo>
                  <a:pt x="2677853" y="1776838"/>
                </a:lnTo>
                <a:lnTo>
                  <a:pt x="2686641" y="1833151"/>
                </a:lnTo>
                <a:lnTo>
                  <a:pt x="2694714" y="1889999"/>
                </a:lnTo>
                <a:lnTo>
                  <a:pt x="2702063" y="1947363"/>
                </a:lnTo>
                <a:lnTo>
                  <a:pt x="2708677" y="2005228"/>
                </a:lnTo>
                <a:lnTo>
                  <a:pt x="2714549" y="2063577"/>
                </a:lnTo>
                <a:lnTo>
                  <a:pt x="2719668" y="2122391"/>
                </a:lnTo>
                <a:lnTo>
                  <a:pt x="2724025" y="2181655"/>
                </a:lnTo>
                <a:lnTo>
                  <a:pt x="2727611" y="2241351"/>
                </a:lnTo>
                <a:lnTo>
                  <a:pt x="2730417" y="2301463"/>
                </a:lnTo>
                <a:lnTo>
                  <a:pt x="2732432" y="2361973"/>
                </a:lnTo>
                <a:lnTo>
                  <a:pt x="2733648" y="2422864"/>
                </a:lnTo>
                <a:lnTo>
                  <a:pt x="2734056" y="2484119"/>
                </a:lnTo>
                <a:lnTo>
                  <a:pt x="2733648" y="2545375"/>
                </a:lnTo>
                <a:lnTo>
                  <a:pt x="2732432" y="2606266"/>
                </a:lnTo>
                <a:lnTo>
                  <a:pt x="2730417" y="2666776"/>
                </a:lnTo>
                <a:lnTo>
                  <a:pt x="2727611" y="2726888"/>
                </a:lnTo>
                <a:lnTo>
                  <a:pt x="2724025" y="2786584"/>
                </a:lnTo>
                <a:lnTo>
                  <a:pt x="2719668" y="2845848"/>
                </a:lnTo>
                <a:lnTo>
                  <a:pt x="2714549" y="2904662"/>
                </a:lnTo>
                <a:lnTo>
                  <a:pt x="2708677" y="2963011"/>
                </a:lnTo>
                <a:lnTo>
                  <a:pt x="2702063" y="3020876"/>
                </a:lnTo>
                <a:lnTo>
                  <a:pt x="2694714" y="3078240"/>
                </a:lnTo>
                <a:lnTo>
                  <a:pt x="2686641" y="3135088"/>
                </a:lnTo>
                <a:lnTo>
                  <a:pt x="2677853" y="3191401"/>
                </a:lnTo>
                <a:lnTo>
                  <a:pt x="2668359" y="3247162"/>
                </a:lnTo>
                <a:lnTo>
                  <a:pt x="2658169" y="3302356"/>
                </a:lnTo>
                <a:lnTo>
                  <a:pt x="2647292" y="3356963"/>
                </a:lnTo>
                <a:lnTo>
                  <a:pt x="2635737" y="3410969"/>
                </a:lnTo>
                <a:lnTo>
                  <a:pt x="2623513" y="3464355"/>
                </a:lnTo>
                <a:lnTo>
                  <a:pt x="2610631" y="3517105"/>
                </a:lnTo>
                <a:lnTo>
                  <a:pt x="2597099" y="3569202"/>
                </a:lnTo>
                <a:lnTo>
                  <a:pt x="2582927" y="3620628"/>
                </a:lnTo>
                <a:lnTo>
                  <a:pt x="2568124" y="3671367"/>
                </a:lnTo>
                <a:lnTo>
                  <a:pt x="2552700" y="3721401"/>
                </a:lnTo>
                <a:lnTo>
                  <a:pt x="2536663" y="3770714"/>
                </a:lnTo>
                <a:lnTo>
                  <a:pt x="2520024" y="3819289"/>
                </a:lnTo>
                <a:lnTo>
                  <a:pt x="2502791" y="3867108"/>
                </a:lnTo>
                <a:lnTo>
                  <a:pt x="2484974" y="3914155"/>
                </a:lnTo>
                <a:lnTo>
                  <a:pt x="2466582" y="3960413"/>
                </a:lnTo>
                <a:lnTo>
                  <a:pt x="2447625" y="4005864"/>
                </a:lnTo>
                <a:lnTo>
                  <a:pt x="2428112" y="4050492"/>
                </a:lnTo>
                <a:lnTo>
                  <a:pt x="2408052" y="4094280"/>
                </a:lnTo>
                <a:lnTo>
                  <a:pt x="2387455" y="4137210"/>
                </a:lnTo>
                <a:lnTo>
                  <a:pt x="2366329" y="4179265"/>
                </a:lnTo>
                <a:lnTo>
                  <a:pt x="2344686" y="4220430"/>
                </a:lnTo>
                <a:lnTo>
                  <a:pt x="2322533" y="4260686"/>
                </a:lnTo>
                <a:lnTo>
                  <a:pt x="2299880" y="4300016"/>
                </a:lnTo>
                <a:lnTo>
                  <a:pt x="2276736" y="4338404"/>
                </a:lnTo>
                <a:lnTo>
                  <a:pt x="2253111" y="4375833"/>
                </a:lnTo>
                <a:lnTo>
                  <a:pt x="2229015" y="4412285"/>
                </a:lnTo>
                <a:lnTo>
                  <a:pt x="2204456" y="4447744"/>
                </a:lnTo>
                <a:lnTo>
                  <a:pt x="2179444" y="4482193"/>
                </a:lnTo>
                <a:lnTo>
                  <a:pt x="2153988" y="4515614"/>
                </a:lnTo>
                <a:lnTo>
                  <a:pt x="2128098" y="4547991"/>
                </a:lnTo>
                <a:lnTo>
                  <a:pt x="2101782" y="4579306"/>
                </a:lnTo>
                <a:lnTo>
                  <a:pt x="2075051" y="4609543"/>
                </a:lnTo>
                <a:lnTo>
                  <a:pt x="2047914" y="4638684"/>
                </a:lnTo>
                <a:lnTo>
                  <a:pt x="2020380" y="4666713"/>
                </a:lnTo>
                <a:lnTo>
                  <a:pt x="1992458" y="4693613"/>
                </a:lnTo>
                <a:lnTo>
                  <a:pt x="1964158" y="4719366"/>
                </a:lnTo>
                <a:lnTo>
                  <a:pt x="1906460" y="4767365"/>
                </a:lnTo>
                <a:lnTo>
                  <a:pt x="1847361" y="4810574"/>
                </a:lnTo>
                <a:lnTo>
                  <a:pt x="1786937" y="4848857"/>
                </a:lnTo>
                <a:lnTo>
                  <a:pt x="1725261" y="4882079"/>
                </a:lnTo>
                <a:lnTo>
                  <a:pt x="1662409" y="4910103"/>
                </a:lnTo>
                <a:lnTo>
                  <a:pt x="1598456" y="4932793"/>
                </a:lnTo>
                <a:lnTo>
                  <a:pt x="1533477" y="4950013"/>
                </a:lnTo>
                <a:lnTo>
                  <a:pt x="1467545" y="4961627"/>
                </a:lnTo>
                <a:lnTo>
                  <a:pt x="1400737" y="4967499"/>
                </a:lnTo>
                <a:lnTo>
                  <a:pt x="1367027" y="4968240"/>
                </a:lnTo>
                <a:lnTo>
                  <a:pt x="1333319" y="4967499"/>
                </a:lnTo>
                <a:lnTo>
                  <a:pt x="1266513" y="4961627"/>
                </a:lnTo>
                <a:lnTo>
                  <a:pt x="1200583" y="4950013"/>
                </a:lnTo>
                <a:lnTo>
                  <a:pt x="1135605" y="4932793"/>
                </a:lnTo>
                <a:lnTo>
                  <a:pt x="1071653" y="4910103"/>
                </a:lnTo>
                <a:lnTo>
                  <a:pt x="1008803" y="4882079"/>
                </a:lnTo>
                <a:lnTo>
                  <a:pt x="947128" y="4848857"/>
                </a:lnTo>
                <a:lnTo>
                  <a:pt x="886704" y="4810574"/>
                </a:lnTo>
                <a:lnTo>
                  <a:pt x="827606" y="4767365"/>
                </a:lnTo>
                <a:lnTo>
                  <a:pt x="769908" y="4719366"/>
                </a:lnTo>
                <a:lnTo>
                  <a:pt x="741608" y="4693613"/>
                </a:lnTo>
                <a:lnTo>
                  <a:pt x="713687" y="4666713"/>
                </a:lnTo>
                <a:lnTo>
                  <a:pt x="686152" y="4638684"/>
                </a:lnTo>
                <a:lnTo>
                  <a:pt x="659015" y="4609543"/>
                </a:lnTo>
                <a:lnTo>
                  <a:pt x="632284" y="4579306"/>
                </a:lnTo>
                <a:lnTo>
                  <a:pt x="605968" y="4547991"/>
                </a:lnTo>
                <a:lnTo>
                  <a:pt x="580078" y="4515614"/>
                </a:lnTo>
                <a:lnTo>
                  <a:pt x="554622" y="4482193"/>
                </a:lnTo>
                <a:lnTo>
                  <a:pt x="529610" y="4447744"/>
                </a:lnTo>
                <a:lnTo>
                  <a:pt x="505051" y="4412285"/>
                </a:lnTo>
                <a:lnTo>
                  <a:pt x="480954" y="4375833"/>
                </a:lnTo>
                <a:lnTo>
                  <a:pt x="457329" y="4338404"/>
                </a:lnTo>
                <a:lnTo>
                  <a:pt x="434185" y="4300016"/>
                </a:lnTo>
                <a:lnTo>
                  <a:pt x="411532" y="4260686"/>
                </a:lnTo>
                <a:lnTo>
                  <a:pt x="389379" y="4220430"/>
                </a:lnTo>
                <a:lnTo>
                  <a:pt x="367735" y="4179265"/>
                </a:lnTo>
                <a:lnTo>
                  <a:pt x="346609" y="4137210"/>
                </a:lnTo>
                <a:lnTo>
                  <a:pt x="326012" y="4094280"/>
                </a:lnTo>
                <a:lnTo>
                  <a:pt x="305951" y="4050492"/>
                </a:lnTo>
                <a:lnTo>
                  <a:pt x="286438" y="4005864"/>
                </a:lnTo>
                <a:lnTo>
                  <a:pt x="267480" y="3960413"/>
                </a:lnTo>
                <a:lnTo>
                  <a:pt x="249088" y="3914155"/>
                </a:lnTo>
                <a:lnTo>
                  <a:pt x="231271" y="3867108"/>
                </a:lnTo>
                <a:lnTo>
                  <a:pt x="214037" y="3819289"/>
                </a:lnTo>
                <a:lnTo>
                  <a:pt x="197398" y="3770714"/>
                </a:lnTo>
                <a:lnTo>
                  <a:pt x="181361" y="3721401"/>
                </a:lnTo>
                <a:lnTo>
                  <a:pt x="165936" y="3671367"/>
                </a:lnTo>
                <a:lnTo>
                  <a:pt x="151132" y="3620628"/>
                </a:lnTo>
                <a:lnTo>
                  <a:pt x="136960" y="3569202"/>
                </a:lnTo>
                <a:lnTo>
                  <a:pt x="123428" y="3517105"/>
                </a:lnTo>
                <a:lnTo>
                  <a:pt x="110545" y="3464355"/>
                </a:lnTo>
                <a:lnTo>
                  <a:pt x="98322" y="3410969"/>
                </a:lnTo>
                <a:lnTo>
                  <a:pt x="86766" y="3356963"/>
                </a:lnTo>
                <a:lnTo>
                  <a:pt x="75889" y="3302356"/>
                </a:lnTo>
                <a:lnTo>
                  <a:pt x="65698" y="3247162"/>
                </a:lnTo>
                <a:lnTo>
                  <a:pt x="56204" y="3191401"/>
                </a:lnTo>
                <a:lnTo>
                  <a:pt x="47416" y="3135088"/>
                </a:lnTo>
                <a:lnTo>
                  <a:pt x="39342" y="3078240"/>
                </a:lnTo>
                <a:lnTo>
                  <a:pt x="31994" y="3020876"/>
                </a:lnTo>
                <a:lnTo>
                  <a:pt x="25379" y="2963011"/>
                </a:lnTo>
                <a:lnTo>
                  <a:pt x="19507" y="2904662"/>
                </a:lnTo>
                <a:lnTo>
                  <a:pt x="14388" y="2845848"/>
                </a:lnTo>
                <a:lnTo>
                  <a:pt x="10030" y="2786584"/>
                </a:lnTo>
                <a:lnTo>
                  <a:pt x="6444" y="2726888"/>
                </a:lnTo>
                <a:lnTo>
                  <a:pt x="3639" y="2666776"/>
                </a:lnTo>
                <a:lnTo>
                  <a:pt x="1623" y="2606266"/>
                </a:lnTo>
                <a:lnTo>
                  <a:pt x="407" y="2545375"/>
                </a:lnTo>
                <a:lnTo>
                  <a:pt x="0" y="2484119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148834" y="1774698"/>
            <a:ext cx="1511935" cy="1583690"/>
          </a:xfrm>
          <a:custGeom>
            <a:avLst/>
            <a:gdLst/>
            <a:ahLst/>
            <a:cxnLst/>
            <a:rect l="l" t="t" r="r" b="b"/>
            <a:pathLst>
              <a:path w="1511934" h="1583689">
                <a:moveTo>
                  <a:pt x="0" y="791717"/>
                </a:moveTo>
                <a:lnTo>
                  <a:pt x="1487" y="741647"/>
                </a:lnTo>
                <a:lnTo>
                  <a:pt x="5889" y="692405"/>
                </a:lnTo>
                <a:lnTo>
                  <a:pt x="13119" y="644082"/>
                </a:lnTo>
                <a:lnTo>
                  <a:pt x="23087" y="596773"/>
                </a:lnTo>
                <a:lnTo>
                  <a:pt x="35705" y="550570"/>
                </a:lnTo>
                <a:lnTo>
                  <a:pt x="50884" y="505566"/>
                </a:lnTo>
                <a:lnTo>
                  <a:pt x="68535" y="461853"/>
                </a:lnTo>
                <a:lnTo>
                  <a:pt x="88570" y="419524"/>
                </a:lnTo>
                <a:lnTo>
                  <a:pt x="110901" y="378671"/>
                </a:lnTo>
                <a:lnTo>
                  <a:pt x="135439" y="339389"/>
                </a:lnTo>
                <a:lnTo>
                  <a:pt x="162095" y="301768"/>
                </a:lnTo>
                <a:lnTo>
                  <a:pt x="190781" y="265903"/>
                </a:lnTo>
                <a:lnTo>
                  <a:pt x="221408" y="231886"/>
                </a:lnTo>
                <a:lnTo>
                  <a:pt x="253888" y="199809"/>
                </a:lnTo>
                <a:lnTo>
                  <a:pt x="288131" y="169765"/>
                </a:lnTo>
                <a:lnTo>
                  <a:pt x="324050" y="141847"/>
                </a:lnTo>
                <a:lnTo>
                  <a:pt x="361556" y="116148"/>
                </a:lnTo>
                <a:lnTo>
                  <a:pt x="400560" y="92760"/>
                </a:lnTo>
                <a:lnTo>
                  <a:pt x="440974" y="71777"/>
                </a:lnTo>
                <a:lnTo>
                  <a:pt x="482709" y="53290"/>
                </a:lnTo>
                <a:lnTo>
                  <a:pt x="525677" y="37393"/>
                </a:lnTo>
                <a:lnTo>
                  <a:pt x="569789" y="24179"/>
                </a:lnTo>
                <a:lnTo>
                  <a:pt x="614956" y="13739"/>
                </a:lnTo>
                <a:lnTo>
                  <a:pt x="661089" y="6168"/>
                </a:lnTo>
                <a:lnTo>
                  <a:pt x="708102" y="1557"/>
                </a:lnTo>
                <a:lnTo>
                  <a:pt x="755903" y="0"/>
                </a:lnTo>
                <a:lnTo>
                  <a:pt x="803705" y="1557"/>
                </a:lnTo>
                <a:lnTo>
                  <a:pt x="850718" y="6168"/>
                </a:lnTo>
                <a:lnTo>
                  <a:pt x="896851" y="13739"/>
                </a:lnTo>
                <a:lnTo>
                  <a:pt x="942018" y="24179"/>
                </a:lnTo>
                <a:lnTo>
                  <a:pt x="986130" y="37393"/>
                </a:lnTo>
                <a:lnTo>
                  <a:pt x="1029098" y="53290"/>
                </a:lnTo>
                <a:lnTo>
                  <a:pt x="1070833" y="71777"/>
                </a:lnTo>
                <a:lnTo>
                  <a:pt x="1111247" y="92760"/>
                </a:lnTo>
                <a:lnTo>
                  <a:pt x="1150251" y="116148"/>
                </a:lnTo>
                <a:lnTo>
                  <a:pt x="1187757" y="141847"/>
                </a:lnTo>
                <a:lnTo>
                  <a:pt x="1223676" y="169765"/>
                </a:lnTo>
                <a:lnTo>
                  <a:pt x="1257919" y="199809"/>
                </a:lnTo>
                <a:lnTo>
                  <a:pt x="1290399" y="231886"/>
                </a:lnTo>
                <a:lnTo>
                  <a:pt x="1321026" y="265903"/>
                </a:lnTo>
                <a:lnTo>
                  <a:pt x="1349712" y="301768"/>
                </a:lnTo>
                <a:lnTo>
                  <a:pt x="1376368" y="339389"/>
                </a:lnTo>
                <a:lnTo>
                  <a:pt x="1400906" y="378671"/>
                </a:lnTo>
                <a:lnTo>
                  <a:pt x="1423237" y="419524"/>
                </a:lnTo>
                <a:lnTo>
                  <a:pt x="1443272" y="461853"/>
                </a:lnTo>
                <a:lnTo>
                  <a:pt x="1460923" y="505566"/>
                </a:lnTo>
                <a:lnTo>
                  <a:pt x="1476102" y="550570"/>
                </a:lnTo>
                <a:lnTo>
                  <a:pt x="1488720" y="596773"/>
                </a:lnTo>
                <a:lnTo>
                  <a:pt x="1498688" y="644082"/>
                </a:lnTo>
                <a:lnTo>
                  <a:pt x="1505918" y="692405"/>
                </a:lnTo>
                <a:lnTo>
                  <a:pt x="1510320" y="741647"/>
                </a:lnTo>
                <a:lnTo>
                  <a:pt x="1511808" y="791717"/>
                </a:lnTo>
                <a:lnTo>
                  <a:pt x="1510320" y="841788"/>
                </a:lnTo>
                <a:lnTo>
                  <a:pt x="1505918" y="891030"/>
                </a:lnTo>
                <a:lnTo>
                  <a:pt x="1498688" y="939353"/>
                </a:lnTo>
                <a:lnTo>
                  <a:pt x="1488720" y="986662"/>
                </a:lnTo>
                <a:lnTo>
                  <a:pt x="1476102" y="1032865"/>
                </a:lnTo>
                <a:lnTo>
                  <a:pt x="1460923" y="1077869"/>
                </a:lnTo>
                <a:lnTo>
                  <a:pt x="1443272" y="1121582"/>
                </a:lnTo>
                <a:lnTo>
                  <a:pt x="1423237" y="1163911"/>
                </a:lnTo>
                <a:lnTo>
                  <a:pt x="1400906" y="1204764"/>
                </a:lnTo>
                <a:lnTo>
                  <a:pt x="1376368" y="1244046"/>
                </a:lnTo>
                <a:lnTo>
                  <a:pt x="1349712" y="1281667"/>
                </a:lnTo>
                <a:lnTo>
                  <a:pt x="1321026" y="1317532"/>
                </a:lnTo>
                <a:lnTo>
                  <a:pt x="1290399" y="1351549"/>
                </a:lnTo>
                <a:lnTo>
                  <a:pt x="1257919" y="1383626"/>
                </a:lnTo>
                <a:lnTo>
                  <a:pt x="1223676" y="1413670"/>
                </a:lnTo>
                <a:lnTo>
                  <a:pt x="1187757" y="1441588"/>
                </a:lnTo>
                <a:lnTo>
                  <a:pt x="1150251" y="1467287"/>
                </a:lnTo>
                <a:lnTo>
                  <a:pt x="1111247" y="1490675"/>
                </a:lnTo>
                <a:lnTo>
                  <a:pt x="1070833" y="1511658"/>
                </a:lnTo>
                <a:lnTo>
                  <a:pt x="1029098" y="1530145"/>
                </a:lnTo>
                <a:lnTo>
                  <a:pt x="986130" y="1546042"/>
                </a:lnTo>
                <a:lnTo>
                  <a:pt x="942018" y="1559256"/>
                </a:lnTo>
                <a:lnTo>
                  <a:pt x="896851" y="1569696"/>
                </a:lnTo>
                <a:lnTo>
                  <a:pt x="850718" y="1577267"/>
                </a:lnTo>
                <a:lnTo>
                  <a:pt x="803705" y="1581878"/>
                </a:lnTo>
                <a:lnTo>
                  <a:pt x="755903" y="1583436"/>
                </a:lnTo>
                <a:lnTo>
                  <a:pt x="708102" y="1581878"/>
                </a:lnTo>
                <a:lnTo>
                  <a:pt x="661089" y="1577267"/>
                </a:lnTo>
                <a:lnTo>
                  <a:pt x="614956" y="1569696"/>
                </a:lnTo>
                <a:lnTo>
                  <a:pt x="569789" y="1559256"/>
                </a:lnTo>
                <a:lnTo>
                  <a:pt x="525677" y="1546042"/>
                </a:lnTo>
                <a:lnTo>
                  <a:pt x="482709" y="1530145"/>
                </a:lnTo>
                <a:lnTo>
                  <a:pt x="440974" y="1511658"/>
                </a:lnTo>
                <a:lnTo>
                  <a:pt x="400560" y="1490675"/>
                </a:lnTo>
                <a:lnTo>
                  <a:pt x="361556" y="1467287"/>
                </a:lnTo>
                <a:lnTo>
                  <a:pt x="324050" y="1441588"/>
                </a:lnTo>
                <a:lnTo>
                  <a:pt x="288131" y="1413670"/>
                </a:lnTo>
                <a:lnTo>
                  <a:pt x="253888" y="1383626"/>
                </a:lnTo>
                <a:lnTo>
                  <a:pt x="221408" y="1351549"/>
                </a:lnTo>
                <a:lnTo>
                  <a:pt x="190781" y="1317532"/>
                </a:lnTo>
                <a:lnTo>
                  <a:pt x="162095" y="1281667"/>
                </a:lnTo>
                <a:lnTo>
                  <a:pt x="135439" y="1244046"/>
                </a:lnTo>
                <a:lnTo>
                  <a:pt x="110901" y="1204764"/>
                </a:lnTo>
                <a:lnTo>
                  <a:pt x="88570" y="1163911"/>
                </a:lnTo>
                <a:lnTo>
                  <a:pt x="68535" y="1121582"/>
                </a:lnTo>
                <a:lnTo>
                  <a:pt x="50884" y="1077869"/>
                </a:lnTo>
                <a:lnTo>
                  <a:pt x="35705" y="1032865"/>
                </a:lnTo>
                <a:lnTo>
                  <a:pt x="23087" y="986662"/>
                </a:lnTo>
                <a:lnTo>
                  <a:pt x="13119" y="939353"/>
                </a:lnTo>
                <a:lnTo>
                  <a:pt x="5889" y="891030"/>
                </a:lnTo>
                <a:lnTo>
                  <a:pt x="1487" y="841788"/>
                </a:lnTo>
                <a:lnTo>
                  <a:pt x="0" y="791717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733793" y="1821942"/>
            <a:ext cx="1152525" cy="1320165"/>
          </a:xfrm>
          <a:custGeom>
            <a:avLst/>
            <a:gdLst/>
            <a:ahLst/>
            <a:cxnLst/>
            <a:rect l="l" t="t" r="r" b="b"/>
            <a:pathLst>
              <a:path w="1152525" h="1320164">
                <a:moveTo>
                  <a:pt x="0" y="659892"/>
                </a:moveTo>
                <a:lnTo>
                  <a:pt x="1733" y="608316"/>
                </a:lnTo>
                <a:lnTo>
                  <a:pt x="6847" y="557827"/>
                </a:lnTo>
                <a:lnTo>
                  <a:pt x="15215" y="508571"/>
                </a:lnTo>
                <a:lnTo>
                  <a:pt x="26708" y="460695"/>
                </a:lnTo>
                <a:lnTo>
                  <a:pt x="41197" y="414346"/>
                </a:lnTo>
                <a:lnTo>
                  <a:pt x="58556" y="369669"/>
                </a:lnTo>
                <a:lnTo>
                  <a:pt x="78655" y="326813"/>
                </a:lnTo>
                <a:lnTo>
                  <a:pt x="101366" y="285923"/>
                </a:lnTo>
                <a:lnTo>
                  <a:pt x="126563" y="247145"/>
                </a:lnTo>
                <a:lnTo>
                  <a:pt x="154115" y="210627"/>
                </a:lnTo>
                <a:lnTo>
                  <a:pt x="183896" y="176516"/>
                </a:lnTo>
                <a:lnTo>
                  <a:pt x="215777" y="144957"/>
                </a:lnTo>
                <a:lnTo>
                  <a:pt x="249629" y="116098"/>
                </a:lnTo>
                <a:lnTo>
                  <a:pt x="285326" y="90085"/>
                </a:lnTo>
                <a:lnTo>
                  <a:pt x="322739" y="67064"/>
                </a:lnTo>
                <a:lnTo>
                  <a:pt x="361739" y="47183"/>
                </a:lnTo>
                <a:lnTo>
                  <a:pt x="402199" y="30588"/>
                </a:lnTo>
                <a:lnTo>
                  <a:pt x="443990" y="17426"/>
                </a:lnTo>
                <a:lnTo>
                  <a:pt x="486985" y="7842"/>
                </a:lnTo>
                <a:lnTo>
                  <a:pt x="531055" y="1985"/>
                </a:lnTo>
                <a:lnTo>
                  <a:pt x="576072" y="0"/>
                </a:lnTo>
                <a:lnTo>
                  <a:pt x="621088" y="1985"/>
                </a:lnTo>
                <a:lnTo>
                  <a:pt x="665158" y="7842"/>
                </a:lnTo>
                <a:lnTo>
                  <a:pt x="708153" y="17426"/>
                </a:lnTo>
                <a:lnTo>
                  <a:pt x="749944" y="30588"/>
                </a:lnTo>
                <a:lnTo>
                  <a:pt x="790404" y="47183"/>
                </a:lnTo>
                <a:lnTo>
                  <a:pt x="829404" y="67064"/>
                </a:lnTo>
                <a:lnTo>
                  <a:pt x="866817" y="90085"/>
                </a:lnTo>
                <a:lnTo>
                  <a:pt x="902514" y="116098"/>
                </a:lnTo>
                <a:lnTo>
                  <a:pt x="936366" y="144957"/>
                </a:lnTo>
                <a:lnTo>
                  <a:pt x="968247" y="176516"/>
                </a:lnTo>
                <a:lnTo>
                  <a:pt x="998028" y="210627"/>
                </a:lnTo>
                <a:lnTo>
                  <a:pt x="1025580" y="247145"/>
                </a:lnTo>
                <a:lnTo>
                  <a:pt x="1050777" y="285923"/>
                </a:lnTo>
                <a:lnTo>
                  <a:pt x="1073488" y="326813"/>
                </a:lnTo>
                <a:lnTo>
                  <a:pt x="1093587" y="369669"/>
                </a:lnTo>
                <a:lnTo>
                  <a:pt x="1110946" y="414346"/>
                </a:lnTo>
                <a:lnTo>
                  <a:pt x="1125435" y="460695"/>
                </a:lnTo>
                <a:lnTo>
                  <a:pt x="1136928" y="508571"/>
                </a:lnTo>
                <a:lnTo>
                  <a:pt x="1145296" y="557827"/>
                </a:lnTo>
                <a:lnTo>
                  <a:pt x="1150410" y="608316"/>
                </a:lnTo>
                <a:lnTo>
                  <a:pt x="1152144" y="659892"/>
                </a:lnTo>
                <a:lnTo>
                  <a:pt x="1150410" y="711467"/>
                </a:lnTo>
                <a:lnTo>
                  <a:pt x="1145296" y="761956"/>
                </a:lnTo>
                <a:lnTo>
                  <a:pt x="1136928" y="811212"/>
                </a:lnTo>
                <a:lnTo>
                  <a:pt x="1125435" y="859088"/>
                </a:lnTo>
                <a:lnTo>
                  <a:pt x="1110946" y="905437"/>
                </a:lnTo>
                <a:lnTo>
                  <a:pt x="1093587" y="950114"/>
                </a:lnTo>
                <a:lnTo>
                  <a:pt x="1073488" y="992970"/>
                </a:lnTo>
                <a:lnTo>
                  <a:pt x="1050777" y="1033860"/>
                </a:lnTo>
                <a:lnTo>
                  <a:pt x="1025580" y="1072638"/>
                </a:lnTo>
                <a:lnTo>
                  <a:pt x="998028" y="1109156"/>
                </a:lnTo>
                <a:lnTo>
                  <a:pt x="968247" y="1143267"/>
                </a:lnTo>
                <a:lnTo>
                  <a:pt x="936366" y="1174826"/>
                </a:lnTo>
                <a:lnTo>
                  <a:pt x="902514" y="1203685"/>
                </a:lnTo>
                <a:lnTo>
                  <a:pt x="866817" y="1229698"/>
                </a:lnTo>
                <a:lnTo>
                  <a:pt x="829404" y="1252719"/>
                </a:lnTo>
                <a:lnTo>
                  <a:pt x="790404" y="1272600"/>
                </a:lnTo>
                <a:lnTo>
                  <a:pt x="749944" y="1289195"/>
                </a:lnTo>
                <a:lnTo>
                  <a:pt x="708153" y="1302357"/>
                </a:lnTo>
                <a:lnTo>
                  <a:pt x="665158" y="1311941"/>
                </a:lnTo>
                <a:lnTo>
                  <a:pt x="621088" y="1317798"/>
                </a:lnTo>
                <a:lnTo>
                  <a:pt x="576072" y="1319784"/>
                </a:lnTo>
                <a:lnTo>
                  <a:pt x="531055" y="1317798"/>
                </a:lnTo>
                <a:lnTo>
                  <a:pt x="486985" y="1311941"/>
                </a:lnTo>
                <a:lnTo>
                  <a:pt x="443990" y="1302357"/>
                </a:lnTo>
                <a:lnTo>
                  <a:pt x="402199" y="1289195"/>
                </a:lnTo>
                <a:lnTo>
                  <a:pt x="361739" y="1272600"/>
                </a:lnTo>
                <a:lnTo>
                  <a:pt x="322739" y="1252719"/>
                </a:lnTo>
                <a:lnTo>
                  <a:pt x="285326" y="1229698"/>
                </a:lnTo>
                <a:lnTo>
                  <a:pt x="249629" y="1203685"/>
                </a:lnTo>
                <a:lnTo>
                  <a:pt x="215777" y="1174826"/>
                </a:lnTo>
                <a:lnTo>
                  <a:pt x="183896" y="1143267"/>
                </a:lnTo>
                <a:lnTo>
                  <a:pt x="154115" y="1109156"/>
                </a:lnTo>
                <a:lnTo>
                  <a:pt x="126563" y="1072638"/>
                </a:lnTo>
                <a:lnTo>
                  <a:pt x="101366" y="1033860"/>
                </a:lnTo>
                <a:lnTo>
                  <a:pt x="78655" y="992970"/>
                </a:lnTo>
                <a:lnTo>
                  <a:pt x="58556" y="950114"/>
                </a:lnTo>
                <a:lnTo>
                  <a:pt x="41197" y="905437"/>
                </a:lnTo>
                <a:lnTo>
                  <a:pt x="26708" y="859088"/>
                </a:lnTo>
                <a:lnTo>
                  <a:pt x="15215" y="811212"/>
                </a:lnTo>
                <a:lnTo>
                  <a:pt x="6847" y="761956"/>
                </a:lnTo>
                <a:lnTo>
                  <a:pt x="1733" y="711467"/>
                </a:lnTo>
                <a:lnTo>
                  <a:pt x="0" y="659892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200913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四个迭代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88967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52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92789" y="1727677"/>
            <a:ext cx="4355947" cy="41985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200913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迭代模型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54829" y="6297574"/>
            <a:ext cx="756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53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1975" y="1965960"/>
            <a:ext cx="7295755" cy="36133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88138"/>
            <a:ext cx="11442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dirty="0">
                <a:latin typeface="华文隶书"/>
                <a:cs typeface="华文隶书"/>
              </a:rPr>
              <a:t>小结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67683" y="636889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54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5477" y="1844801"/>
            <a:ext cx="7772400" cy="4322445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14"/>
              </a:spcBef>
            </a:pPr>
            <a:r>
              <a:rPr sz="3200" b="1" u="sng" spc="-80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sng" spc="5" dirty="0">
                <a:uFill>
                  <a:solidFill>
                    <a:srgbClr val="000000"/>
                  </a:solidFill>
                </a:uFill>
                <a:latin typeface="华文新魏"/>
                <a:cs typeface="华文新魏"/>
              </a:rPr>
              <a:t>生存</a:t>
            </a:r>
            <a:r>
              <a:rPr sz="3200" b="1" u="sng" dirty="0">
                <a:uFill>
                  <a:solidFill>
                    <a:srgbClr val="000000"/>
                  </a:solidFill>
                </a:uFill>
                <a:latin typeface="华文新魏"/>
                <a:cs typeface="华文新魏"/>
              </a:rPr>
              <a:t>期模</a:t>
            </a:r>
            <a:r>
              <a:rPr sz="3200" b="1" u="sng" spc="-10" dirty="0">
                <a:uFill>
                  <a:solidFill>
                    <a:srgbClr val="000000"/>
                  </a:solidFill>
                </a:uFill>
                <a:latin typeface="华文新魏"/>
                <a:cs typeface="华文新魏"/>
              </a:rPr>
              <a:t>型</a:t>
            </a:r>
            <a:endParaRPr sz="3200">
              <a:latin typeface="华文新魏"/>
              <a:cs typeface="华文新魏"/>
            </a:endParaRPr>
          </a:p>
          <a:p>
            <a:pPr marL="410845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375"/>
              <a:buFont typeface="Wingdings"/>
              <a:buChar char=""/>
              <a:tabLst>
                <a:tab pos="411480" algn="l"/>
              </a:tabLst>
            </a:pPr>
            <a:r>
              <a:rPr sz="3200" spc="5" dirty="0">
                <a:latin typeface="华文新魏"/>
                <a:cs typeface="华文新魏"/>
              </a:rPr>
              <a:t>预测型模型</a:t>
            </a:r>
            <a:endParaRPr sz="3200">
              <a:latin typeface="华文新魏"/>
              <a:cs typeface="华文新魏"/>
            </a:endParaRPr>
          </a:p>
          <a:p>
            <a:pPr marL="410845" indent="-32067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9375"/>
              <a:buFont typeface="Wingdings"/>
              <a:buChar char=""/>
              <a:tabLst>
                <a:tab pos="411480" algn="l"/>
              </a:tabLst>
            </a:pPr>
            <a:r>
              <a:rPr sz="3200" dirty="0">
                <a:latin typeface="华文新魏"/>
                <a:cs typeface="华文新魏"/>
              </a:rPr>
              <a:t>迭代模型</a:t>
            </a:r>
            <a:endParaRPr sz="3200">
              <a:latin typeface="华文新魏"/>
              <a:cs typeface="华文新魏"/>
            </a:endParaRPr>
          </a:p>
          <a:p>
            <a:pPr marL="410845" indent="-320675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59375"/>
              <a:buFont typeface="Wingdings"/>
              <a:buChar char=""/>
              <a:tabLst>
                <a:tab pos="411480" algn="l"/>
              </a:tabLst>
            </a:pPr>
            <a:r>
              <a:rPr sz="3200" spc="5" dirty="0">
                <a:latin typeface="华文新魏"/>
                <a:cs typeface="华文新魏"/>
              </a:rPr>
              <a:t>增量模型</a:t>
            </a:r>
            <a:endParaRPr sz="3200">
              <a:latin typeface="华文新魏"/>
              <a:cs typeface="华文新魏"/>
            </a:endParaRPr>
          </a:p>
          <a:p>
            <a:pPr marL="410845" indent="-32067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9375"/>
              <a:buFont typeface="Wingdings"/>
              <a:buChar char=""/>
              <a:tabLst>
                <a:tab pos="411480" algn="l"/>
              </a:tabLst>
            </a:pPr>
            <a:r>
              <a:rPr sz="3200" dirty="0">
                <a:latin typeface="华文新魏"/>
                <a:cs typeface="华文新魏"/>
              </a:rPr>
              <a:t>敏捷模型</a:t>
            </a:r>
            <a:endParaRPr sz="3200">
              <a:latin typeface="华文新魏"/>
              <a:cs typeface="华文新魏"/>
            </a:endParaRPr>
          </a:p>
          <a:p>
            <a:pPr marL="410845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375"/>
              <a:buFont typeface="Wingdings"/>
              <a:buChar char=""/>
              <a:tabLst>
                <a:tab pos="411480" algn="l"/>
              </a:tabLst>
            </a:pPr>
            <a:r>
              <a:rPr sz="3200" spc="5" dirty="0">
                <a:latin typeface="华文新魏"/>
                <a:cs typeface="华文新魏"/>
              </a:rPr>
              <a:t>混</a:t>
            </a:r>
            <a:r>
              <a:rPr sz="3200" dirty="0">
                <a:latin typeface="华文新魏"/>
                <a:cs typeface="华文新魏"/>
              </a:rPr>
              <a:t>合模型</a:t>
            </a:r>
            <a:endParaRPr sz="32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B98F2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593</TotalTime>
  <Words>719</Words>
  <Application>Microsoft Macintosh PowerPoint</Application>
  <PresentationFormat>全屏显示(4:3)</PresentationFormat>
  <Paragraphs>448</Paragraphs>
  <Slides>58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76" baseType="lpstr">
      <vt:lpstr>黑体</vt:lpstr>
      <vt:lpstr>华文仿宋</vt:lpstr>
      <vt:lpstr>华文琥珀</vt:lpstr>
      <vt:lpstr>华文隶书</vt:lpstr>
      <vt:lpstr>华文新魏</vt:lpstr>
      <vt:lpstr>隶书</vt:lpstr>
      <vt:lpstr>宋体</vt:lpstr>
      <vt:lpstr>微软雅黑</vt:lpstr>
      <vt:lpstr>Arial Unicode MS</vt:lpstr>
      <vt:lpstr>Arial</vt:lpstr>
      <vt:lpstr>Arial Narrow</vt:lpstr>
      <vt:lpstr>Calibri</vt:lpstr>
      <vt:lpstr>Times New Roman</vt:lpstr>
      <vt:lpstr>Tw Cen MT</vt:lpstr>
      <vt:lpstr>Tw Cen MT Condensed Extra Bold</vt:lpstr>
      <vt:lpstr>Wingdings</vt:lpstr>
      <vt:lpstr>Wingdings 2</vt:lpstr>
      <vt:lpstr>Office Theme</vt:lpstr>
      <vt:lpstr>路线图：生存期</vt:lpstr>
      <vt:lpstr>PowerPoint 演示文稿</vt:lpstr>
      <vt:lpstr>本章要点</vt:lpstr>
      <vt:lpstr>选择项目策略</vt:lpstr>
      <vt:lpstr>建筑工程类项目典型生存期模型</vt:lpstr>
      <vt:lpstr>制药项目典型生存期模型</vt:lpstr>
      <vt:lpstr>软件生存期模型特征</vt:lpstr>
      <vt:lpstr>生存期模型选择</vt:lpstr>
      <vt:lpstr>软件开发模型变迁</vt:lpstr>
      <vt:lpstr>项目生存期选择</vt:lpstr>
      <vt:lpstr>项目生存期选择</vt:lpstr>
      <vt:lpstr>PowerPoint 演示文稿</vt:lpstr>
      <vt:lpstr>本章要点</vt:lpstr>
      <vt:lpstr>PowerPoint 演示文稿</vt:lpstr>
      <vt:lpstr>预测型-模型</vt:lpstr>
      <vt:lpstr>瀑布模型</vt:lpstr>
      <vt:lpstr>适合瀑布模型的项目特征</vt:lpstr>
      <vt:lpstr>V模型</vt:lpstr>
      <vt:lpstr>适合V模型的项目特征</vt:lpstr>
      <vt:lpstr>V模型案例</vt:lpstr>
      <vt:lpstr>本章要点</vt:lpstr>
      <vt:lpstr>迭代模型</vt:lpstr>
      <vt:lpstr>PowerPoint 演示文稿</vt:lpstr>
      <vt:lpstr>适合迭代模型的项目特征</vt:lpstr>
      <vt:lpstr> 原型模型案例</vt:lpstr>
      <vt:lpstr>本章要点</vt:lpstr>
      <vt:lpstr>增量模型</vt:lpstr>
      <vt:lpstr>增量模型实例</vt:lpstr>
      <vt:lpstr>渐进式阶段模型</vt:lpstr>
      <vt:lpstr> 银行业务系统的生存期实例</vt:lpstr>
      <vt:lpstr>增量模型的优点</vt:lpstr>
      <vt:lpstr>本章要点</vt:lpstr>
      <vt:lpstr>《敏捷宣言》价值观、原则和通用实践之间的关系</vt:lpstr>
      <vt:lpstr>敏捷与传统模型的区别</vt:lpstr>
      <vt:lpstr>敏捷方法</vt:lpstr>
      <vt:lpstr>Scrum模型</vt:lpstr>
      <vt:lpstr>Scrum模型</vt:lpstr>
      <vt:lpstr>迭代开发过程</vt:lpstr>
      <vt:lpstr>XP(eXtreme Programming)极限编程模型</vt:lpstr>
      <vt:lpstr>XP(eXtreme Programming)极限编程 ---最佳实践</vt:lpstr>
      <vt:lpstr>精益（Lean）</vt:lpstr>
      <vt:lpstr>持续交付</vt:lpstr>
      <vt:lpstr>PowerPoint 演示文稿</vt:lpstr>
      <vt:lpstr>PowerPoint 演示文稿</vt:lpstr>
      <vt:lpstr>PowerPoint 演示文稿</vt:lpstr>
      <vt:lpstr>DevOps: Development和Operations的组合</vt:lpstr>
      <vt:lpstr>运维人员和开发者之间的目标差异</vt:lpstr>
      <vt:lpstr>DevOps:融合一系列基本原则和实践的方法论</vt:lpstr>
      <vt:lpstr>DevOps:是一种方法论</vt:lpstr>
      <vt:lpstr>PowerPoint 演示文稿</vt:lpstr>
      <vt:lpstr>本章要点</vt:lpstr>
      <vt:lpstr>混合模型</vt:lpstr>
      <vt:lpstr>本章要点</vt:lpstr>
      <vt:lpstr>PowerPoint 演示文稿</vt:lpstr>
      <vt:lpstr>PowerPoint 演示文稿</vt:lpstr>
      <vt:lpstr>PowerPoint 演示文稿</vt:lpstr>
      <vt:lpstr>PowerPoint 演示文稿</vt:lpstr>
      <vt:lpstr>小结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软件开发项目管理</dc:title>
  <dc:subject>第二章</dc:subject>
  <dc:creator>Casey han</dc:creator>
  <cp:lastModifiedBy>Microsoft Office 用户</cp:lastModifiedBy>
  <cp:revision>3</cp:revision>
  <dcterms:created xsi:type="dcterms:W3CDTF">2020-06-12T01:11:30Z</dcterms:created>
  <dcterms:modified xsi:type="dcterms:W3CDTF">2024-03-04T12:59:16Z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2019-03-10T00:00:00Z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2020-06-12T00:00:00Z</vt:filetime>
  </property>
</Properties>
</file>