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10"/>
    <p:restoredTop sz="93548"/>
  </p:normalViewPr>
  <p:slideViewPr>
    <p:cSldViewPr>
      <p:cViewPr varScale="1">
        <p:scale>
          <a:sx n="89" d="100"/>
          <a:sy n="89" d="100"/>
        </p:scale>
        <p:origin x="200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590" y="232663"/>
            <a:ext cx="848481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3671" y="2521153"/>
            <a:ext cx="2216657" cy="331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3565" y="1439763"/>
            <a:ext cx="6970395" cy="233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华文新魏"/>
                <a:cs typeface="华文新魏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承上启下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2781300"/>
            <a:ext cx="8567928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项目计划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2839211"/>
            <a:ext cx="8567928" cy="1542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范围计划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1" y="2491739"/>
            <a:ext cx="8117275" cy="23774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9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二篇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4751" y="2590876"/>
            <a:ext cx="4907280" cy="239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第 4</a:t>
            </a:r>
            <a:r>
              <a:rPr sz="6000" b="1" spc="10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700">
              <a:latin typeface="华文隶书"/>
              <a:cs typeface="华文隶书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软</a:t>
            </a:r>
            <a:r>
              <a:rPr sz="4800" b="1" spc="10" dirty="0">
                <a:solidFill>
                  <a:srgbClr val="FF66FF"/>
                </a:solidFill>
                <a:latin typeface="华文隶书"/>
                <a:cs typeface="华文隶书"/>
              </a:rPr>
              <a:t>件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项目需求管理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67" y="23266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需求管理中的问题举例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590" y="1629867"/>
            <a:ext cx="28740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spc="-8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需求的隐含错误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23" y="2205227"/>
            <a:ext cx="7848600" cy="40904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50951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需求管理中的问题举例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4629" y="6297574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515" y="1667967"/>
            <a:ext cx="53136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spc="-8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用户不断增加需求、变</a:t>
            </a:r>
            <a:r>
              <a:rPr sz="3200" u="sng" spc="-1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更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需求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2421635"/>
            <a:ext cx="7560564" cy="3576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216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  <a:latin typeface="华文隶书"/>
                <a:cs typeface="华文隶书"/>
              </a:rPr>
              <a:t>项目失败的原因分析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7794" y="1481200"/>
          <a:ext cx="7987665" cy="4652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4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351">
                <a:tc>
                  <a:txBody>
                    <a:bodyPr/>
                    <a:lstStyle/>
                    <a:p>
                      <a:pPr marR="4445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034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700" b="1" spc="-50" dirty="0">
                          <a:latin typeface="Times New Roman"/>
                          <a:cs typeface="Times New Roman"/>
                        </a:rPr>
                        <a:t>Top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7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Factors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700" b="1" dirty="0">
                          <a:latin typeface="新宋体"/>
                          <a:cs typeface="新宋体"/>
                        </a:rPr>
                        <a:t>平均值</a:t>
                      </a:r>
                      <a:endParaRPr sz="1700">
                        <a:latin typeface="新宋体"/>
                        <a:cs typeface="新宋体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82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635"/>
                        </a:spcBef>
                        <a:tabLst>
                          <a:tab pos="3829050" algn="l"/>
                        </a:tabLst>
                      </a:pPr>
                      <a:r>
                        <a:rPr sz="2250" b="1" baseline="185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Inadequate</a:t>
                      </a:r>
                      <a:r>
                        <a:rPr sz="2250" b="1" spc="-22" baseline="185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b="1" spc="-15" baseline="185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2250" b="1" spc="67" baseline="185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50" b="1" baseline="185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specification	</a:t>
                      </a:r>
                      <a:r>
                        <a:rPr sz="1500" b="1" spc="10" dirty="0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不充分</a:t>
                      </a:r>
                      <a:r>
                        <a:rPr sz="1500" b="1" dirty="0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的需求规范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806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4.5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35"/>
                        </a:spcBef>
                        <a:tabLst>
                          <a:tab pos="2574290" algn="l"/>
                        </a:tabLst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500" b="1" spc="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5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requirements	</a:t>
                      </a:r>
                      <a:r>
                        <a:rPr sz="1500" b="1" spc="10" dirty="0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需求的</a:t>
                      </a:r>
                      <a:r>
                        <a:rPr sz="1500" b="1" dirty="0">
                          <a:solidFill>
                            <a:srgbClr val="FF0000"/>
                          </a:solidFill>
                          <a:latin typeface="Microsoft JhengHei"/>
                          <a:cs typeface="Microsoft JhengHei"/>
                        </a:rPr>
                        <a:t>改变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679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4.3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79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3023870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Shortage of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5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engineers	</a:t>
                      </a:r>
                      <a:r>
                        <a:rPr sz="2250" b="1" spc="15" baseline="-7407" dirty="0">
                          <a:latin typeface="Microsoft JhengHei"/>
                          <a:cs typeface="Microsoft JhengHei"/>
                        </a:rPr>
                        <a:t>缺乏系</a:t>
                      </a:r>
                      <a:r>
                        <a:rPr sz="2250" b="1" baseline="-7407" dirty="0">
                          <a:latin typeface="Microsoft JhengHei"/>
                          <a:cs typeface="Microsoft JhengHei"/>
                        </a:rPr>
                        <a:t>统工程师</a:t>
                      </a:r>
                      <a:endParaRPr sz="2250" baseline="-7407">
                        <a:latin typeface="Microsoft JhengHei"/>
                        <a:cs typeface="Microsoft JhengHei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4.2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794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665"/>
                        </a:spcBef>
                        <a:tabLst>
                          <a:tab pos="3134995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Shortage of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5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managers	</a:t>
                      </a:r>
                      <a:r>
                        <a:rPr sz="2250" b="1" spc="15" baseline="5555" dirty="0">
                          <a:latin typeface="Microsoft JhengHei"/>
                          <a:cs typeface="Microsoft JhengHei"/>
                        </a:rPr>
                        <a:t>缺乏了</a:t>
                      </a:r>
                      <a:r>
                        <a:rPr sz="2250" b="1" baseline="5555" dirty="0">
                          <a:latin typeface="Microsoft JhengHei"/>
                          <a:cs typeface="Microsoft JhengHei"/>
                        </a:rPr>
                        <a:t>解软件特性的经理人</a:t>
                      </a:r>
                      <a:endParaRPr sz="2250" baseline="5555">
                        <a:latin typeface="Microsoft JhengHei"/>
                        <a:cs typeface="Microsoft JhengHei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4.1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901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3892550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Shortage of qualified</a:t>
                      </a:r>
                      <a:r>
                        <a:rPr sz="15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managers	</a:t>
                      </a:r>
                      <a:r>
                        <a:rPr sz="2250" b="1" spc="15" baseline="5555" dirty="0">
                          <a:latin typeface="Microsoft JhengHei"/>
                          <a:cs typeface="Microsoft JhengHei"/>
                        </a:rPr>
                        <a:t>缺乏合</a:t>
                      </a:r>
                      <a:r>
                        <a:rPr sz="2250" b="1" baseline="5555" dirty="0">
                          <a:latin typeface="Microsoft JhengHei"/>
                          <a:cs typeface="Microsoft JhengHei"/>
                        </a:rPr>
                        <a:t>格</a:t>
                      </a:r>
                      <a:r>
                        <a:rPr sz="2250" b="1" spc="120" baseline="5555" dirty="0"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sz="2250" b="1" spc="15" baseline="5555" dirty="0">
                          <a:latin typeface="Microsoft JhengHei"/>
                          <a:cs typeface="Microsoft JhengHei"/>
                        </a:rPr>
                        <a:t>项目经理</a:t>
                      </a:r>
                      <a:endParaRPr sz="2250" baseline="5555">
                        <a:latin typeface="Microsoft JhengHei"/>
                        <a:cs typeface="Microsoft JhengHei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4.1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393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30"/>
                        </a:spcBef>
                        <a:tabLst>
                          <a:tab pos="3107690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Shortage of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5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engineers	</a:t>
                      </a:r>
                      <a:r>
                        <a:rPr sz="2250" b="1" spc="15" baseline="5555" dirty="0">
                          <a:latin typeface="Microsoft JhengHei"/>
                          <a:cs typeface="Microsoft JhengHei"/>
                        </a:rPr>
                        <a:t>缺乏软</a:t>
                      </a:r>
                      <a:r>
                        <a:rPr sz="2250" b="1" baseline="5555" dirty="0">
                          <a:latin typeface="Microsoft JhengHei"/>
                          <a:cs typeface="Microsoft JhengHei"/>
                        </a:rPr>
                        <a:t>件工程师</a:t>
                      </a:r>
                      <a:endParaRPr sz="2250" baseline="5555">
                        <a:latin typeface="Microsoft JhengHei"/>
                        <a:cs typeface="Microsoft JhengHei"/>
                      </a:endParaRPr>
                    </a:p>
                  </a:txBody>
                  <a:tcPr marL="0" marR="0" marT="673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3.9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552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50"/>
                        </a:spcBef>
                        <a:tabLst>
                          <a:tab pos="2126615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Fixed  -</a:t>
                      </a:r>
                      <a:r>
                        <a:rPr sz="15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contract	</a:t>
                      </a:r>
                      <a:r>
                        <a:rPr sz="2250" b="1" spc="15" baseline="5555" dirty="0">
                          <a:latin typeface="Microsoft JhengHei"/>
                          <a:cs typeface="Microsoft JhengHei"/>
                        </a:rPr>
                        <a:t>固定价</a:t>
                      </a:r>
                      <a:r>
                        <a:rPr sz="2250" b="1" baseline="5555" dirty="0">
                          <a:latin typeface="Microsoft JhengHei"/>
                          <a:cs typeface="Microsoft JhengHei"/>
                        </a:rPr>
                        <a:t>合同</a:t>
                      </a:r>
                      <a:endParaRPr sz="2250" baseline="5555">
                        <a:latin typeface="Microsoft JhengHei"/>
                        <a:cs typeface="Microsoft JhengHei"/>
                      </a:endParaRPr>
                    </a:p>
                  </a:txBody>
                  <a:tcPr marL="0" marR="0" marT="698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3.8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98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13970" algn="ctr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Inadequate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communications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for system</a:t>
                      </a:r>
                      <a:r>
                        <a:rPr sz="15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72542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500" b="1" spc="10" dirty="0">
                          <a:latin typeface="Microsoft JhengHei"/>
                          <a:cs typeface="Microsoft JhengHei"/>
                        </a:rPr>
                        <a:t>系统集</a:t>
                      </a:r>
                      <a:r>
                        <a:rPr sz="1500" b="1" dirty="0">
                          <a:latin typeface="Microsoft JhengHei"/>
                          <a:cs typeface="Microsoft JhengHei"/>
                        </a:rPr>
                        <a:t>成阶</a:t>
                      </a:r>
                      <a:r>
                        <a:rPr sz="1500" b="1" spc="295" dirty="0">
                          <a:latin typeface="Microsoft JhengHei"/>
                          <a:cs typeface="Microsoft JhengHei"/>
                        </a:rPr>
                        <a:t>段</a:t>
                      </a:r>
                      <a:r>
                        <a:rPr sz="2250" b="1" baseline="-9259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500" b="1" spc="10" dirty="0">
                          <a:latin typeface="Microsoft JhengHei"/>
                          <a:cs typeface="Microsoft JhengHei"/>
                        </a:rPr>
                        <a:t>交流与</a:t>
                      </a:r>
                      <a:r>
                        <a:rPr sz="1500" b="1" dirty="0">
                          <a:latin typeface="Microsoft JhengHei"/>
                          <a:cs typeface="Microsoft JhengHei"/>
                        </a:rPr>
                        <a:t>沟通不充分</a:t>
                      </a:r>
                      <a:endParaRPr sz="1500">
                        <a:latin typeface="Microsoft JhengHei"/>
                        <a:cs typeface="Microsoft JhengHei"/>
                      </a:endParaRPr>
                    </a:p>
                  </a:txBody>
                  <a:tcPr marL="0" marR="0" marT="666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36830" algn="ctr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3.8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790"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9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45"/>
                        </a:spcBef>
                        <a:tabLst>
                          <a:tab pos="3106420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Insufficient experience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team	</a:t>
                      </a:r>
                      <a:r>
                        <a:rPr sz="2250" b="1" baseline="3703" dirty="0">
                          <a:latin typeface="Microsoft JhengHei"/>
                          <a:cs typeface="Microsoft JhengHei"/>
                        </a:rPr>
                        <a:t>团队缺乏经验</a:t>
                      </a:r>
                      <a:endParaRPr sz="2250" baseline="3703">
                        <a:latin typeface="Microsoft JhengHei"/>
                        <a:cs typeface="Microsoft JhengHei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3.6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500" b="1" spc="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555"/>
                        </a:spcBef>
                        <a:tabLst>
                          <a:tab pos="3909695" algn="l"/>
                        </a:tabLst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Shortage of application</a:t>
                      </a: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sz="15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experts	</a:t>
                      </a:r>
                      <a:r>
                        <a:rPr sz="2250" b="1" spc="15" baseline="3703" dirty="0">
                          <a:latin typeface="Microsoft JhengHei"/>
                          <a:cs typeface="Microsoft JhengHei"/>
                        </a:rPr>
                        <a:t>缺乏应</a:t>
                      </a:r>
                      <a:r>
                        <a:rPr sz="2250" b="1" baseline="3703" dirty="0">
                          <a:latin typeface="Microsoft JhengHei"/>
                          <a:cs typeface="Microsoft JhengHei"/>
                        </a:rPr>
                        <a:t>用领域专家</a:t>
                      </a:r>
                      <a:endParaRPr sz="2250" baseline="3703">
                        <a:latin typeface="Microsoft JhengHei"/>
                        <a:cs typeface="Microsoft JhengHei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500" b="1" dirty="0">
                          <a:latin typeface="Times New Roman"/>
                          <a:cs typeface="Times New Roman"/>
                        </a:rPr>
                        <a:t>3.6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 gridSpan="3"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484"/>
                        </a:spcBef>
                        <a:tabLst>
                          <a:tab pos="920750" algn="l"/>
                          <a:tab pos="2487930" algn="l"/>
                          <a:tab pos="3627120" algn="l"/>
                        </a:tabLst>
                      </a:pP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Scale:	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5 =</a:t>
                      </a:r>
                      <a:r>
                        <a:rPr sz="15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40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15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Serious	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5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 Serious	</a:t>
                      </a:r>
                      <a:r>
                        <a:rPr sz="1500" b="1" dirty="0">
                          <a:latin typeface="Times New Roman"/>
                          <a:cs typeface="Times New Roman"/>
                        </a:rPr>
                        <a:t>1 =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5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Serious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12140" y="6365849"/>
            <a:ext cx="5925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Source: </a:t>
            </a:r>
            <a:r>
              <a:rPr sz="1600" b="1" spc="-5" dirty="0">
                <a:latin typeface="Times New Roman"/>
                <a:cs typeface="Times New Roman"/>
              </a:rPr>
              <a:t>Carnegie-Mellon </a:t>
            </a:r>
            <a:r>
              <a:rPr sz="1600" b="1" spc="-15" dirty="0">
                <a:latin typeface="Times New Roman"/>
                <a:cs typeface="Times New Roman"/>
              </a:rPr>
              <a:t>University, </a:t>
            </a:r>
            <a:r>
              <a:rPr sz="1600" b="1" spc="-5" dirty="0">
                <a:latin typeface="Times New Roman"/>
                <a:cs typeface="Times New Roman"/>
              </a:rPr>
              <a:t>Software Engineering</a:t>
            </a:r>
            <a:r>
              <a:rPr sz="1600" b="1" spc="1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Institute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914" y="160731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软件需求定义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490" y="1365630"/>
            <a:ext cx="8714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需求是指用户对软件的功能和性能的要</a:t>
            </a:r>
            <a:r>
              <a:rPr sz="3600" u="sng" spc="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求</a:t>
            </a:r>
            <a:r>
              <a:rPr sz="3600" dirty="0">
                <a:latin typeface="黑体"/>
                <a:cs typeface="黑体"/>
              </a:rPr>
              <a:t>。</a:t>
            </a:r>
            <a:endParaRPr sz="3600">
              <a:latin typeface="黑体"/>
              <a:cs typeface="黑体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2133600"/>
            <a:ext cx="8791956" cy="45156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147" y="234042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1595" y="2058923"/>
            <a:ext cx="504825" cy="8642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2147" y="32992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595" y="3017520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2147" y="42600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1595" y="3977640"/>
            <a:ext cx="50482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2147" y="522109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1595" y="4939284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039" y="2058923"/>
            <a:ext cx="4630420" cy="8642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6035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205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软件需求管理过程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4704" y="3017520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6039" y="3977640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6227" y="4939284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939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软件需求管理的过程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92295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9961" y="2286761"/>
            <a:ext cx="1447800" cy="483234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2400" b="1" dirty="0">
                <a:latin typeface="宋体"/>
                <a:cs typeface="宋体"/>
              </a:rPr>
              <a:t>需求分析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9961" y="3658361"/>
            <a:ext cx="2133600" cy="4622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2400" b="1" spc="-5" dirty="0">
                <a:latin typeface="宋体"/>
                <a:cs typeface="宋体"/>
              </a:rPr>
              <a:t>需求规格编写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9161" y="3658361"/>
            <a:ext cx="1447800" cy="483234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2400" b="1" dirty="0">
                <a:latin typeface="宋体"/>
                <a:cs typeface="宋体"/>
              </a:rPr>
              <a:t>需求验证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2961" y="2286761"/>
            <a:ext cx="1600200" cy="483234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2400" b="1" dirty="0">
                <a:latin typeface="宋体"/>
                <a:cs typeface="宋体"/>
              </a:rPr>
              <a:t>需求获取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3161" y="5258561"/>
            <a:ext cx="1524000" cy="483234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2400" b="1" dirty="0">
                <a:latin typeface="宋体"/>
                <a:cs typeface="宋体"/>
              </a:rPr>
              <a:t>需求变更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63161" y="2476500"/>
            <a:ext cx="1066800" cy="78105"/>
          </a:xfrm>
          <a:custGeom>
            <a:avLst/>
            <a:gdLst/>
            <a:ahLst/>
            <a:cxnLst/>
            <a:rect l="l" t="t" r="r" b="b"/>
            <a:pathLst>
              <a:path w="1066800" h="78105">
                <a:moveTo>
                  <a:pt x="989076" y="38862"/>
                </a:moveTo>
                <a:lnTo>
                  <a:pt x="937260" y="77724"/>
                </a:lnTo>
                <a:lnTo>
                  <a:pt x="1023620" y="51815"/>
                </a:lnTo>
                <a:lnTo>
                  <a:pt x="989076" y="51815"/>
                </a:lnTo>
                <a:lnTo>
                  <a:pt x="989076" y="38862"/>
                </a:lnTo>
                <a:close/>
              </a:path>
              <a:path w="1066800" h="78105">
                <a:moveTo>
                  <a:pt x="971804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971804" y="51815"/>
                </a:lnTo>
                <a:lnTo>
                  <a:pt x="989076" y="38862"/>
                </a:lnTo>
                <a:lnTo>
                  <a:pt x="971804" y="25908"/>
                </a:lnTo>
                <a:close/>
              </a:path>
              <a:path w="1066800" h="78105">
                <a:moveTo>
                  <a:pt x="1023620" y="25908"/>
                </a:moveTo>
                <a:lnTo>
                  <a:pt x="989076" y="25908"/>
                </a:lnTo>
                <a:lnTo>
                  <a:pt x="989076" y="51815"/>
                </a:lnTo>
                <a:lnTo>
                  <a:pt x="1023620" y="51815"/>
                </a:lnTo>
                <a:lnTo>
                  <a:pt x="1066800" y="38862"/>
                </a:lnTo>
                <a:lnTo>
                  <a:pt x="1023620" y="25908"/>
                </a:lnTo>
                <a:close/>
              </a:path>
              <a:path w="1066800" h="78105">
                <a:moveTo>
                  <a:pt x="937260" y="0"/>
                </a:moveTo>
                <a:lnTo>
                  <a:pt x="989076" y="38862"/>
                </a:lnTo>
                <a:lnTo>
                  <a:pt x="989076" y="25908"/>
                </a:lnTo>
                <a:lnTo>
                  <a:pt x="1023620" y="25908"/>
                </a:lnTo>
                <a:lnTo>
                  <a:pt x="937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76900" y="2743961"/>
            <a:ext cx="78105" cy="914400"/>
          </a:xfrm>
          <a:custGeom>
            <a:avLst/>
            <a:gdLst/>
            <a:ahLst/>
            <a:cxnLst/>
            <a:rect l="l" t="t" r="r" b="b"/>
            <a:pathLst>
              <a:path w="78104" h="914400">
                <a:moveTo>
                  <a:pt x="0" y="784860"/>
                </a:moveTo>
                <a:lnTo>
                  <a:pt x="38862" y="914400"/>
                </a:lnTo>
                <a:lnTo>
                  <a:pt x="62179" y="836676"/>
                </a:lnTo>
                <a:lnTo>
                  <a:pt x="25908" y="836676"/>
                </a:lnTo>
                <a:lnTo>
                  <a:pt x="25908" y="819404"/>
                </a:lnTo>
                <a:lnTo>
                  <a:pt x="0" y="784860"/>
                </a:lnTo>
                <a:close/>
              </a:path>
              <a:path w="78104" h="914400">
                <a:moveTo>
                  <a:pt x="25908" y="819404"/>
                </a:moveTo>
                <a:lnTo>
                  <a:pt x="25908" y="836676"/>
                </a:lnTo>
                <a:lnTo>
                  <a:pt x="38862" y="836676"/>
                </a:lnTo>
                <a:lnTo>
                  <a:pt x="25908" y="819404"/>
                </a:lnTo>
                <a:close/>
              </a:path>
              <a:path w="78104" h="914400">
                <a:moveTo>
                  <a:pt x="51815" y="0"/>
                </a:moveTo>
                <a:lnTo>
                  <a:pt x="25908" y="0"/>
                </a:lnTo>
                <a:lnTo>
                  <a:pt x="25908" y="819404"/>
                </a:lnTo>
                <a:lnTo>
                  <a:pt x="38862" y="836676"/>
                </a:lnTo>
                <a:lnTo>
                  <a:pt x="51815" y="819404"/>
                </a:lnTo>
                <a:lnTo>
                  <a:pt x="51815" y="0"/>
                </a:lnTo>
                <a:close/>
              </a:path>
              <a:path w="78104" h="914400">
                <a:moveTo>
                  <a:pt x="51815" y="819404"/>
                </a:moveTo>
                <a:lnTo>
                  <a:pt x="38862" y="836676"/>
                </a:lnTo>
                <a:lnTo>
                  <a:pt x="51815" y="836676"/>
                </a:lnTo>
                <a:lnTo>
                  <a:pt x="51815" y="819404"/>
                </a:lnTo>
                <a:close/>
              </a:path>
              <a:path w="78104" h="914400">
                <a:moveTo>
                  <a:pt x="77724" y="784860"/>
                </a:moveTo>
                <a:lnTo>
                  <a:pt x="51815" y="819404"/>
                </a:lnTo>
                <a:lnTo>
                  <a:pt x="51815" y="836676"/>
                </a:lnTo>
                <a:lnTo>
                  <a:pt x="62179" y="836676"/>
                </a:lnTo>
                <a:lnTo>
                  <a:pt x="77724" y="784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6961" y="3848100"/>
            <a:ext cx="1143000" cy="78105"/>
          </a:xfrm>
          <a:custGeom>
            <a:avLst/>
            <a:gdLst/>
            <a:ahLst/>
            <a:cxnLst/>
            <a:rect l="l" t="t" r="r" b="b"/>
            <a:pathLst>
              <a:path w="1143000" h="78104">
                <a:moveTo>
                  <a:pt x="129539" y="0"/>
                </a:moveTo>
                <a:lnTo>
                  <a:pt x="0" y="38862"/>
                </a:lnTo>
                <a:lnTo>
                  <a:pt x="129539" y="77724"/>
                </a:lnTo>
                <a:lnTo>
                  <a:pt x="94996" y="51816"/>
                </a:lnTo>
                <a:lnTo>
                  <a:pt x="77724" y="51816"/>
                </a:lnTo>
                <a:lnTo>
                  <a:pt x="77724" y="25907"/>
                </a:lnTo>
                <a:lnTo>
                  <a:pt x="94996" y="25907"/>
                </a:lnTo>
                <a:lnTo>
                  <a:pt x="129539" y="0"/>
                </a:lnTo>
                <a:close/>
              </a:path>
              <a:path w="1143000" h="78104">
                <a:moveTo>
                  <a:pt x="77724" y="38862"/>
                </a:moveTo>
                <a:lnTo>
                  <a:pt x="77724" y="51816"/>
                </a:lnTo>
                <a:lnTo>
                  <a:pt x="94996" y="51816"/>
                </a:lnTo>
                <a:lnTo>
                  <a:pt x="77724" y="38862"/>
                </a:lnTo>
                <a:close/>
              </a:path>
              <a:path w="1143000" h="78104">
                <a:moveTo>
                  <a:pt x="1143000" y="25907"/>
                </a:moveTo>
                <a:lnTo>
                  <a:pt x="94996" y="25907"/>
                </a:lnTo>
                <a:lnTo>
                  <a:pt x="77724" y="38862"/>
                </a:lnTo>
                <a:lnTo>
                  <a:pt x="94996" y="51816"/>
                </a:lnTo>
                <a:lnTo>
                  <a:pt x="1143000" y="51816"/>
                </a:lnTo>
                <a:lnTo>
                  <a:pt x="1143000" y="25907"/>
                </a:lnTo>
                <a:close/>
              </a:path>
              <a:path w="1143000" h="78104">
                <a:moveTo>
                  <a:pt x="94996" y="25907"/>
                </a:moveTo>
                <a:lnTo>
                  <a:pt x="77724" y="25907"/>
                </a:lnTo>
                <a:lnTo>
                  <a:pt x="77724" y="38862"/>
                </a:lnTo>
                <a:lnTo>
                  <a:pt x="94996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1361" y="1677161"/>
            <a:ext cx="6629400" cy="2819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650240" marR="5615940" algn="just">
              <a:lnSpc>
                <a:spcPts val="2800"/>
              </a:lnSpc>
            </a:pPr>
            <a:r>
              <a:rPr sz="2800" spc="-5" dirty="0">
                <a:solidFill>
                  <a:srgbClr val="AFAC00"/>
                </a:solidFill>
                <a:latin typeface="宋体"/>
                <a:cs typeface="宋体"/>
              </a:rPr>
              <a:t>需 求 确 认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3761" y="4953761"/>
            <a:ext cx="6553200" cy="10668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Times New Roman"/>
              <a:cs typeface="Times New Roman"/>
            </a:endParaRPr>
          </a:p>
          <a:p>
            <a:pPr marL="243204">
              <a:lnSpc>
                <a:spcPct val="100000"/>
              </a:lnSpc>
            </a:pPr>
            <a:r>
              <a:rPr sz="2800" spc="-5" dirty="0">
                <a:solidFill>
                  <a:srgbClr val="AFAC00"/>
                </a:solidFill>
                <a:latin typeface="宋体"/>
                <a:cs typeface="宋体"/>
              </a:rPr>
              <a:t>需求变更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3715" y="88138"/>
            <a:ext cx="3068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1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、需求获取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29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629154"/>
            <a:ext cx="8382000" cy="5228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315" y="160731"/>
            <a:ext cx="3940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需求获取的方法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99223" y="636584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7072" y="3168395"/>
            <a:ext cx="2527300" cy="1066800"/>
          </a:xfrm>
          <a:custGeom>
            <a:avLst/>
            <a:gdLst/>
            <a:ahLst/>
            <a:cxnLst/>
            <a:rect l="l" t="t" r="r" b="b"/>
            <a:pathLst>
              <a:path w="2527300" h="1066800">
                <a:moveTo>
                  <a:pt x="0" y="266700"/>
                </a:moveTo>
                <a:lnTo>
                  <a:pt x="266700" y="266700"/>
                </a:lnTo>
                <a:lnTo>
                  <a:pt x="266700" y="0"/>
                </a:lnTo>
                <a:lnTo>
                  <a:pt x="2260091" y="0"/>
                </a:lnTo>
                <a:lnTo>
                  <a:pt x="2260091" y="266700"/>
                </a:lnTo>
                <a:lnTo>
                  <a:pt x="2526791" y="266700"/>
                </a:lnTo>
                <a:lnTo>
                  <a:pt x="2526791" y="800099"/>
                </a:lnTo>
                <a:lnTo>
                  <a:pt x="2260091" y="800099"/>
                </a:lnTo>
                <a:lnTo>
                  <a:pt x="2260091" y="1066799"/>
                </a:lnTo>
                <a:lnTo>
                  <a:pt x="266700" y="1066799"/>
                </a:lnTo>
                <a:lnTo>
                  <a:pt x="266700" y="800099"/>
                </a:lnTo>
                <a:lnTo>
                  <a:pt x="0" y="800099"/>
                </a:lnTo>
                <a:lnTo>
                  <a:pt x="0" y="266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57072" y="3435096"/>
            <a:ext cx="2527300" cy="5334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554355">
              <a:lnSpc>
                <a:spcPct val="100000"/>
              </a:lnSpc>
              <a:spcBef>
                <a:spcPts val="305"/>
              </a:spcBef>
            </a:pPr>
            <a:r>
              <a:rPr sz="2800" spc="-5" dirty="0">
                <a:latin typeface="宋体"/>
                <a:cs typeface="宋体"/>
              </a:rPr>
              <a:t>用户要求</a:t>
            </a:r>
            <a:endParaRPr sz="2800">
              <a:latin typeface="宋体"/>
              <a:cs typeface="宋体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83864" y="2631757"/>
            <a:ext cx="4764405" cy="1919605"/>
            <a:chOff x="3483864" y="2631757"/>
            <a:chExt cx="4764405" cy="1919605"/>
          </a:xfrm>
        </p:grpSpPr>
        <p:sp>
          <p:nvSpPr>
            <p:cNvPr id="8" name="object 8"/>
            <p:cNvSpPr/>
            <p:nvPr/>
          </p:nvSpPr>
          <p:spPr>
            <a:xfrm>
              <a:off x="3483864" y="3587496"/>
              <a:ext cx="1473835" cy="76200"/>
            </a:xfrm>
            <a:custGeom>
              <a:avLst/>
              <a:gdLst/>
              <a:ahLst/>
              <a:cxnLst/>
              <a:rect l="l" t="t" r="r" b="b"/>
              <a:pathLst>
                <a:path w="1473835" h="76200">
                  <a:moveTo>
                    <a:pt x="1397508" y="0"/>
                  </a:moveTo>
                  <a:lnTo>
                    <a:pt x="1397508" y="76199"/>
                  </a:lnTo>
                  <a:lnTo>
                    <a:pt x="1461008" y="44449"/>
                  </a:lnTo>
                  <a:lnTo>
                    <a:pt x="1410208" y="44449"/>
                  </a:lnTo>
                  <a:lnTo>
                    <a:pt x="1410208" y="31749"/>
                  </a:lnTo>
                  <a:lnTo>
                    <a:pt x="1461008" y="31749"/>
                  </a:lnTo>
                  <a:lnTo>
                    <a:pt x="1397508" y="0"/>
                  </a:lnTo>
                  <a:close/>
                </a:path>
                <a:path w="1473835" h="76200">
                  <a:moveTo>
                    <a:pt x="139750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1397508" y="44449"/>
                  </a:lnTo>
                  <a:lnTo>
                    <a:pt x="1397508" y="31749"/>
                  </a:lnTo>
                  <a:close/>
                </a:path>
                <a:path w="1473835" h="76200">
                  <a:moveTo>
                    <a:pt x="1461008" y="31749"/>
                  </a:moveTo>
                  <a:lnTo>
                    <a:pt x="1410208" y="31749"/>
                  </a:lnTo>
                  <a:lnTo>
                    <a:pt x="1410208" y="44449"/>
                  </a:lnTo>
                  <a:lnTo>
                    <a:pt x="1461008" y="44449"/>
                  </a:lnTo>
                  <a:lnTo>
                    <a:pt x="1473708" y="38099"/>
                  </a:lnTo>
                  <a:lnTo>
                    <a:pt x="1461008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57572" y="2636520"/>
              <a:ext cx="3286125" cy="1910080"/>
            </a:xfrm>
            <a:custGeom>
              <a:avLst/>
              <a:gdLst/>
              <a:ahLst/>
              <a:cxnLst/>
              <a:rect l="l" t="t" r="r" b="b"/>
              <a:pathLst>
                <a:path w="3286125" h="1910079">
                  <a:moveTo>
                    <a:pt x="0" y="954785"/>
                  </a:moveTo>
                  <a:lnTo>
                    <a:pt x="4309" y="885099"/>
                  </a:lnTo>
                  <a:lnTo>
                    <a:pt x="17040" y="816767"/>
                  </a:lnTo>
                  <a:lnTo>
                    <a:pt x="37894" y="749964"/>
                  </a:lnTo>
                  <a:lnTo>
                    <a:pt x="66576" y="684862"/>
                  </a:lnTo>
                  <a:lnTo>
                    <a:pt x="102787" y="621634"/>
                  </a:lnTo>
                  <a:lnTo>
                    <a:pt x="146231" y="560451"/>
                  </a:lnTo>
                  <a:lnTo>
                    <a:pt x="170573" y="530681"/>
                  </a:lnTo>
                  <a:lnTo>
                    <a:pt x="196611" y="501487"/>
                  </a:lnTo>
                  <a:lnTo>
                    <a:pt x="224310" y="472891"/>
                  </a:lnTo>
                  <a:lnTo>
                    <a:pt x="253631" y="444914"/>
                  </a:lnTo>
                  <a:lnTo>
                    <a:pt x="284537" y="417579"/>
                  </a:lnTo>
                  <a:lnTo>
                    <a:pt x="316991" y="390906"/>
                  </a:lnTo>
                  <a:lnTo>
                    <a:pt x="350957" y="364916"/>
                  </a:lnTo>
                  <a:lnTo>
                    <a:pt x="386397" y="339633"/>
                  </a:lnTo>
                  <a:lnTo>
                    <a:pt x="423274" y="315077"/>
                  </a:lnTo>
                  <a:lnTo>
                    <a:pt x="461551" y="291270"/>
                  </a:lnTo>
                  <a:lnTo>
                    <a:pt x="501190" y="268233"/>
                  </a:lnTo>
                  <a:lnTo>
                    <a:pt x="542155" y="245988"/>
                  </a:lnTo>
                  <a:lnTo>
                    <a:pt x="584409" y="224556"/>
                  </a:lnTo>
                  <a:lnTo>
                    <a:pt x="627913" y="203960"/>
                  </a:lnTo>
                  <a:lnTo>
                    <a:pt x="672632" y="184221"/>
                  </a:lnTo>
                  <a:lnTo>
                    <a:pt x="718528" y="165359"/>
                  </a:lnTo>
                  <a:lnTo>
                    <a:pt x="765564" y="147398"/>
                  </a:lnTo>
                  <a:lnTo>
                    <a:pt x="813703" y="130358"/>
                  </a:lnTo>
                  <a:lnTo>
                    <a:pt x="862907" y="114261"/>
                  </a:lnTo>
                  <a:lnTo>
                    <a:pt x="913140" y="99129"/>
                  </a:lnTo>
                  <a:lnTo>
                    <a:pt x="964364" y="84982"/>
                  </a:lnTo>
                  <a:lnTo>
                    <a:pt x="1016543" y="71844"/>
                  </a:lnTo>
                  <a:lnTo>
                    <a:pt x="1069638" y="59734"/>
                  </a:lnTo>
                  <a:lnTo>
                    <a:pt x="1123614" y="48676"/>
                  </a:lnTo>
                  <a:lnTo>
                    <a:pt x="1178433" y="38690"/>
                  </a:lnTo>
                  <a:lnTo>
                    <a:pt x="1234057" y="29798"/>
                  </a:lnTo>
                  <a:lnTo>
                    <a:pt x="1290450" y="22022"/>
                  </a:lnTo>
                  <a:lnTo>
                    <a:pt x="1347575" y="15383"/>
                  </a:lnTo>
                  <a:lnTo>
                    <a:pt x="1405394" y="9902"/>
                  </a:lnTo>
                  <a:lnTo>
                    <a:pt x="1463870" y="5602"/>
                  </a:lnTo>
                  <a:lnTo>
                    <a:pt x="1522967" y="2504"/>
                  </a:lnTo>
                  <a:lnTo>
                    <a:pt x="1582646" y="629"/>
                  </a:lnTo>
                  <a:lnTo>
                    <a:pt x="1642872" y="0"/>
                  </a:lnTo>
                  <a:lnTo>
                    <a:pt x="1703097" y="629"/>
                  </a:lnTo>
                  <a:lnTo>
                    <a:pt x="1762776" y="2504"/>
                  </a:lnTo>
                  <a:lnTo>
                    <a:pt x="1821873" y="5602"/>
                  </a:lnTo>
                  <a:lnTo>
                    <a:pt x="1880349" y="9902"/>
                  </a:lnTo>
                  <a:lnTo>
                    <a:pt x="1938168" y="15383"/>
                  </a:lnTo>
                  <a:lnTo>
                    <a:pt x="1995293" y="22022"/>
                  </a:lnTo>
                  <a:lnTo>
                    <a:pt x="2051686" y="29798"/>
                  </a:lnTo>
                  <a:lnTo>
                    <a:pt x="2107310" y="38690"/>
                  </a:lnTo>
                  <a:lnTo>
                    <a:pt x="2162129" y="48676"/>
                  </a:lnTo>
                  <a:lnTo>
                    <a:pt x="2216105" y="59734"/>
                  </a:lnTo>
                  <a:lnTo>
                    <a:pt x="2269200" y="71844"/>
                  </a:lnTo>
                  <a:lnTo>
                    <a:pt x="2321379" y="84982"/>
                  </a:lnTo>
                  <a:lnTo>
                    <a:pt x="2372603" y="99129"/>
                  </a:lnTo>
                  <a:lnTo>
                    <a:pt x="2422836" y="114261"/>
                  </a:lnTo>
                  <a:lnTo>
                    <a:pt x="2472040" y="130358"/>
                  </a:lnTo>
                  <a:lnTo>
                    <a:pt x="2520179" y="147398"/>
                  </a:lnTo>
                  <a:lnTo>
                    <a:pt x="2567215" y="165359"/>
                  </a:lnTo>
                  <a:lnTo>
                    <a:pt x="2613111" y="184221"/>
                  </a:lnTo>
                  <a:lnTo>
                    <a:pt x="2657830" y="203960"/>
                  </a:lnTo>
                  <a:lnTo>
                    <a:pt x="2701334" y="224556"/>
                  </a:lnTo>
                  <a:lnTo>
                    <a:pt x="2743588" y="245988"/>
                  </a:lnTo>
                  <a:lnTo>
                    <a:pt x="2784553" y="268233"/>
                  </a:lnTo>
                  <a:lnTo>
                    <a:pt x="2824192" y="291270"/>
                  </a:lnTo>
                  <a:lnTo>
                    <a:pt x="2862469" y="315077"/>
                  </a:lnTo>
                  <a:lnTo>
                    <a:pt x="2899346" y="339633"/>
                  </a:lnTo>
                  <a:lnTo>
                    <a:pt x="2934786" y="364916"/>
                  </a:lnTo>
                  <a:lnTo>
                    <a:pt x="2968751" y="390905"/>
                  </a:lnTo>
                  <a:lnTo>
                    <a:pt x="3001206" y="417579"/>
                  </a:lnTo>
                  <a:lnTo>
                    <a:pt x="3032112" y="444914"/>
                  </a:lnTo>
                  <a:lnTo>
                    <a:pt x="3061433" y="472891"/>
                  </a:lnTo>
                  <a:lnTo>
                    <a:pt x="3089132" y="501487"/>
                  </a:lnTo>
                  <a:lnTo>
                    <a:pt x="3115170" y="530681"/>
                  </a:lnTo>
                  <a:lnTo>
                    <a:pt x="3139512" y="560451"/>
                  </a:lnTo>
                  <a:lnTo>
                    <a:pt x="3182956" y="621634"/>
                  </a:lnTo>
                  <a:lnTo>
                    <a:pt x="3219167" y="684862"/>
                  </a:lnTo>
                  <a:lnTo>
                    <a:pt x="3247849" y="749964"/>
                  </a:lnTo>
                  <a:lnTo>
                    <a:pt x="3268703" y="816767"/>
                  </a:lnTo>
                  <a:lnTo>
                    <a:pt x="3281434" y="885099"/>
                  </a:lnTo>
                  <a:lnTo>
                    <a:pt x="3285744" y="954785"/>
                  </a:lnTo>
                  <a:lnTo>
                    <a:pt x="3284660" y="989788"/>
                  </a:lnTo>
                  <a:lnTo>
                    <a:pt x="3276103" y="1058818"/>
                  </a:lnTo>
                  <a:lnTo>
                    <a:pt x="3259273" y="1126407"/>
                  </a:lnTo>
                  <a:lnTo>
                    <a:pt x="3234468" y="1192381"/>
                  </a:lnTo>
                  <a:lnTo>
                    <a:pt x="3201984" y="1256568"/>
                  </a:lnTo>
                  <a:lnTo>
                    <a:pt x="3162119" y="1318795"/>
                  </a:lnTo>
                  <a:lnTo>
                    <a:pt x="3115170" y="1378890"/>
                  </a:lnTo>
                  <a:lnTo>
                    <a:pt x="3089132" y="1408084"/>
                  </a:lnTo>
                  <a:lnTo>
                    <a:pt x="3061433" y="1436680"/>
                  </a:lnTo>
                  <a:lnTo>
                    <a:pt x="3032112" y="1464657"/>
                  </a:lnTo>
                  <a:lnTo>
                    <a:pt x="3001206" y="1491992"/>
                  </a:lnTo>
                  <a:lnTo>
                    <a:pt x="2968752" y="1518666"/>
                  </a:lnTo>
                  <a:lnTo>
                    <a:pt x="2934786" y="1544655"/>
                  </a:lnTo>
                  <a:lnTo>
                    <a:pt x="2899346" y="1569938"/>
                  </a:lnTo>
                  <a:lnTo>
                    <a:pt x="2862469" y="1594494"/>
                  </a:lnTo>
                  <a:lnTo>
                    <a:pt x="2824192" y="1618301"/>
                  </a:lnTo>
                  <a:lnTo>
                    <a:pt x="2784553" y="1641338"/>
                  </a:lnTo>
                  <a:lnTo>
                    <a:pt x="2743588" y="1663583"/>
                  </a:lnTo>
                  <a:lnTo>
                    <a:pt x="2701334" y="1685015"/>
                  </a:lnTo>
                  <a:lnTo>
                    <a:pt x="2657830" y="1705611"/>
                  </a:lnTo>
                  <a:lnTo>
                    <a:pt x="2613111" y="1725350"/>
                  </a:lnTo>
                  <a:lnTo>
                    <a:pt x="2567215" y="1744212"/>
                  </a:lnTo>
                  <a:lnTo>
                    <a:pt x="2520179" y="1762173"/>
                  </a:lnTo>
                  <a:lnTo>
                    <a:pt x="2472040" y="1779213"/>
                  </a:lnTo>
                  <a:lnTo>
                    <a:pt x="2422836" y="1795310"/>
                  </a:lnTo>
                  <a:lnTo>
                    <a:pt x="2372603" y="1810442"/>
                  </a:lnTo>
                  <a:lnTo>
                    <a:pt x="2321379" y="1824589"/>
                  </a:lnTo>
                  <a:lnTo>
                    <a:pt x="2269200" y="1837727"/>
                  </a:lnTo>
                  <a:lnTo>
                    <a:pt x="2216105" y="1849837"/>
                  </a:lnTo>
                  <a:lnTo>
                    <a:pt x="2162129" y="1860895"/>
                  </a:lnTo>
                  <a:lnTo>
                    <a:pt x="2107310" y="1870881"/>
                  </a:lnTo>
                  <a:lnTo>
                    <a:pt x="2051686" y="1879773"/>
                  </a:lnTo>
                  <a:lnTo>
                    <a:pt x="1995293" y="1887549"/>
                  </a:lnTo>
                  <a:lnTo>
                    <a:pt x="1938168" y="1894188"/>
                  </a:lnTo>
                  <a:lnTo>
                    <a:pt x="1880349" y="1899669"/>
                  </a:lnTo>
                  <a:lnTo>
                    <a:pt x="1821873" y="1903969"/>
                  </a:lnTo>
                  <a:lnTo>
                    <a:pt x="1762776" y="1907067"/>
                  </a:lnTo>
                  <a:lnTo>
                    <a:pt x="1703097" y="1908942"/>
                  </a:lnTo>
                  <a:lnTo>
                    <a:pt x="1642872" y="1909571"/>
                  </a:lnTo>
                  <a:lnTo>
                    <a:pt x="1582646" y="1908942"/>
                  </a:lnTo>
                  <a:lnTo>
                    <a:pt x="1522967" y="1907067"/>
                  </a:lnTo>
                  <a:lnTo>
                    <a:pt x="1463870" y="1903969"/>
                  </a:lnTo>
                  <a:lnTo>
                    <a:pt x="1405394" y="1899669"/>
                  </a:lnTo>
                  <a:lnTo>
                    <a:pt x="1347575" y="1894188"/>
                  </a:lnTo>
                  <a:lnTo>
                    <a:pt x="1290450" y="1887549"/>
                  </a:lnTo>
                  <a:lnTo>
                    <a:pt x="1234057" y="1879773"/>
                  </a:lnTo>
                  <a:lnTo>
                    <a:pt x="1178433" y="1870881"/>
                  </a:lnTo>
                  <a:lnTo>
                    <a:pt x="1123614" y="1860895"/>
                  </a:lnTo>
                  <a:lnTo>
                    <a:pt x="1069638" y="1849837"/>
                  </a:lnTo>
                  <a:lnTo>
                    <a:pt x="1016543" y="1837727"/>
                  </a:lnTo>
                  <a:lnTo>
                    <a:pt x="964364" y="1824589"/>
                  </a:lnTo>
                  <a:lnTo>
                    <a:pt x="913140" y="1810442"/>
                  </a:lnTo>
                  <a:lnTo>
                    <a:pt x="862907" y="1795310"/>
                  </a:lnTo>
                  <a:lnTo>
                    <a:pt x="813703" y="1779213"/>
                  </a:lnTo>
                  <a:lnTo>
                    <a:pt x="765564" y="1762173"/>
                  </a:lnTo>
                  <a:lnTo>
                    <a:pt x="718528" y="1744212"/>
                  </a:lnTo>
                  <a:lnTo>
                    <a:pt x="672632" y="1725350"/>
                  </a:lnTo>
                  <a:lnTo>
                    <a:pt x="627913" y="1705611"/>
                  </a:lnTo>
                  <a:lnTo>
                    <a:pt x="584409" y="1685015"/>
                  </a:lnTo>
                  <a:lnTo>
                    <a:pt x="542155" y="1663583"/>
                  </a:lnTo>
                  <a:lnTo>
                    <a:pt x="501190" y="1641338"/>
                  </a:lnTo>
                  <a:lnTo>
                    <a:pt x="461551" y="1618301"/>
                  </a:lnTo>
                  <a:lnTo>
                    <a:pt x="423274" y="1594494"/>
                  </a:lnTo>
                  <a:lnTo>
                    <a:pt x="386397" y="1569938"/>
                  </a:lnTo>
                  <a:lnTo>
                    <a:pt x="350957" y="1544655"/>
                  </a:lnTo>
                  <a:lnTo>
                    <a:pt x="316991" y="1518665"/>
                  </a:lnTo>
                  <a:lnTo>
                    <a:pt x="284537" y="1491992"/>
                  </a:lnTo>
                  <a:lnTo>
                    <a:pt x="253631" y="1464657"/>
                  </a:lnTo>
                  <a:lnTo>
                    <a:pt x="224310" y="1436680"/>
                  </a:lnTo>
                  <a:lnTo>
                    <a:pt x="196611" y="1408084"/>
                  </a:lnTo>
                  <a:lnTo>
                    <a:pt x="170573" y="1378890"/>
                  </a:lnTo>
                  <a:lnTo>
                    <a:pt x="146231" y="1349120"/>
                  </a:lnTo>
                  <a:lnTo>
                    <a:pt x="102787" y="1287937"/>
                  </a:lnTo>
                  <a:lnTo>
                    <a:pt x="66576" y="1224709"/>
                  </a:lnTo>
                  <a:lnTo>
                    <a:pt x="37894" y="1159607"/>
                  </a:lnTo>
                  <a:lnTo>
                    <a:pt x="17040" y="1092804"/>
                  </a:lnTo>
                  <a:lnTo>
                    <a:pt x="4309" y="1024472"/>
                  </a:lnTo>
                  <a:lnTo>
                    <a:pt x="0" y="95478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18784" y="3381883"/>
            <a:ext cx="2055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宋体"/>
                <a:cs typeface="宋体"/>
              </a:rPr>
              <a:t>软件需求</a:t>
            </a:r>
            <a:endParaRPr sz="4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48960" y="1485108"/>
            <a:ext cx="1440815" cy="2070735"/>
          </a:xfrm>
          <a:custGeom>
            <a:avLst/>
            <a:gdLst/>
            <a:ahLst/>
            <a:cxnLst/>
            <a:rect l="l" t="t" r="r" b="b"/>
            <a:pathLst>
              <a:path w="1440814" h="2070735">
                <a:moveTo>
                  <a:pt x="795557" y="2070510"/>
                </a:moveTo>
                <a:lnTo>
                  <a:pt x="622329" y="1433478"/>
                </a:lnTo>
                <a:lnTo>
                  <a:pt x="575635" y="1425535"/>
                </a:lnTo>
                <a:lnTo>
                  <a:pt x="530158" y="1414731"/>
                </a:lnTo>
                <a:lnTo>
                  <a:pt x="485979" y="1401173"/>
                </a:lnTo>
                <a:lnTo>
                  <a:pt x="443178" y="1384969"/>
                </a:lnTo>
                <a:lnTo>
                  <a:pt x="401837" y="1366224"/>
                </a:lnTo>
                <a:lnTo>
                  <a:pt x="362038" y="1345045"/>
                </a:lnTo>
                <a:lnTo>
                  <a:pt x="323861" y="1321540"/>
                </a:lnTo>
                <a:lnTo>
                  <a:pt x="287388" y="1295814"/>
                </a:lnTo>
                <a:lnTo>
                  <a:pt x="252701" y="1267976"/>
                </a:lnTo>
                <a:lnTo>
                  <a:pt x="219879" y="1238131"/>
                </a:lnTo>
                <a:lnTo>
                  <a:pt x="189005" y="1206387"/>
                </a:lnTo>
                <a:lnTo>
                  <a:pt x="160160" y="1172850"/>
                </a:lnTo>
                <a:lnTo>
                  <a:pt x="133425" y="1137628"/>
                </a:lnTo>
                <a:lnTo>
                  <a:pt x="108881" y="1100826"/>
                </a:lnTo>
                <a:lnTo>
                  <a:pt x="86609" y="1062551"/>
                </a:lnTo>
                <a:lnTo>
                  <a:pt x="66692" y="1022912"/>
                </a:lnTo>
                <a:lnTo>
                  <a:pt x="49209" y="982013"/>
                </a:lnTo>
                <a:lnTo>
                  <a:pt x="34243" y="939963"/>
                </a:lnTo>
                <a:lnTo>
                  <a:pt x="21874" y="896868"/>
                </a:lnTo>
                <a:lnTo>
                  <a:pt x="12184" y="852834"/>
                </a:lnTo>
                <a:lnTo>
                  <a:pt x="5254" y="807969"/>
                </a:lnTo>
                <a:lnTo>
                  <a:pt x="1166" y="762379"/>
                </a:lnTo>
                <a:lnTo>
                  <a:pt x="0" y="716171"/>
                </a:lnTo>
                <a:lnTo>
                  <a:pt x="1837" y="669452"/>
                </a:lnTo>
                <a:lnTo>
                  <a:pt x="6760" y="622329"/>
                </a:lnTo>
                <a:lnTo>
                  <a:pt x="14703" y="575635"/>
                </a:lnTo>
                <a:lnTo>
                  <a:pt x="25506" y="530158"/>
                </a:lnTo>
                <a:lnTo>
                  <a:pt x="39064" y="485979"/>
                </a:lnTo>
                <a:lnTo>
                  <a:pt x="55269" y="443178"/>
                </a:lnTo>
                <a:lnTo>
                  <a:pt x="74014" y="401837"/>
                </a:lnTo>
                <a:lnTo>
                  <a:pt x="95193" y="362038"/>
                </a:lnTo>
                <a:lnTo>
                  <a:pt x="118698" y="323861"/>
                </a:lnTo>
                <a:lnTo>
                  <a:pt x="144423" y="287388"/>
                </a:lnTo>
                <a:lnTo>
                  <a:pt x="172261" y="252701"/>
                </a:lnTo>
                <a:lnTo>
                  <a:pt x="202106" y="219879"/>
                </a:lnTo>
                <a:lnTo>
                  <a:pt x="233850" y="189005"/>
                </a:lnTo>
                <a:lnTo>
                  <a:pt x="267387" y="160160"/>
                </a:lnTo>
                <a:lnTo>
                  <a:pt x="302610" y="133425"/>
                </a:lnTo>
                <a:lnTo>
                  <a:pt x="339412" y="108881"/>
                </a:lnTo>
                <a:lnTo>
                  <a:pt x="377686" y="86609"/>
                </a:lnTo>
                <a:lnTo>
                  <a:pt x="417326" y="66692"/>
                </a:lnTo>
                <a:lnTo>
                  <a:pt x="458224" y="49209"/>
                </a:lnTo>
                <a:lnTo>
                  <a:pt x="500275" y="34243"/>
                </a:lnTo>
                <a:lnTo>
                  <a:pt x="543370" y="21874"/>
                </a:lnTo>
                <a:lnTo>
                  <a:pt x="587404" y="12184"/>
                </a:lnTo>
                <a:lnTo>
                  <a:pt x="632269" y="5254"/>
                </a:lnTo>
                <a:lnTo>
                  <a:pt x="677859" y="1166"/>
                </a:lnTo>
                <a:lnTo>
                  <a:pt x="724067" y="0"/>
                </a:lnTo>
                <a:lnTo>
                  <a:pt x="770786" y="1837"/>
                </a:lnTo>
                <a:lnTo>
                  <a:pt x="817909" y="6760"/>
                </a:lnTo>
                <a:lnTo>
                  <a:pt x="864602" y="14703"/>
                </a:lnTo>
                <a:lnTo>
                  <a:pt x="910079" y="25506"/>
                </a:lnTo>
                <a:lnTo>
                  <a:pt x="954259" y="39064"/>
                </a:lnTo>
                <a:lnTo>
                  <a:pt x="997059" y="55269"/>
                </a:lnTo>
                <a:lnTo>
                  <a:pt x="1038400" y="74014"/>
                </a:lnTo>
                <a:lnTo>
                  <a:pt x="1078199" y="95193"/>
                </a:lnTo>
                <a:lnTo>
                  <a:pt x="1116376" y="118698"/>
                </a:lnTo>
                <a:lnTo>
                  <a:pt x="1152849" y="144423"/>
                </a:lnTo>
                <a:lnTo>
                  <a:pt x="1187537" y="172261"/>
                </a:lnTo>
                <a:lnTo>
                  <a:pt x="1220359" y="202106"/>
                </a:lnTo>
                <a:lnTo>
                  <a:pt x="1251233" y="233850"/>
                </a:lnTo>
                <a:lnTo>
                  <a:pt x="1280078" y="267387"/>
                </a:lnTo>
                <a:lnTo>
                  <a:pt x="1306813" y="302610"/>
                </a:lnTo>
                <a:lnTo>
                  <a:pt x="1331357" y="339412"/>
                </a:lnTo>
                <a:lnTo>
                  <a:pt x="1353628" y="377686"/>
                </a:lnTo>
                <a:lnTo>
                  <a:pt x="1373546" y="417326"/>
                </a:lnTo>
                <a:lnTo>
                  <a:pt x="1391028" y="458224"/>
                </a:lnTo>
                <a:lnTo>
                  <a:pt x="1405995" y="500275"/>
                </a:lnTo>
                <a:lnTo>
                  <a:pt x="1418363" y="543370"/>
                </a:lnTo>
                <a:lnTo>
                  <a:pt x="1428053" y="587404"/>
                </a:lnTo>
                <a:lnTo>
                  <a:pt x="1434983" y="632269"/>
                </a:lnTo>
                <a:lnTo>
                  <a:pt x="1439072" y="677859"/>
                </a:lnTo>
                <a:lnTo>
                  <a:pt x="1440238" y="724067"/>
                </a:lnTo>
                <a:lnTo>
                  <a:pt x="1438400" y="770786"/>
                </a:lnTo>
                <a:lnTo>
                  <a:pt x="1433478" y="817909"/>
                </a:lnTo>
                <a:lnTo>
                  <a:pt x="1425271" y="865867"/>
                </a:lnTo>
                <a:lnTo>
                  <a:pt x="1413969" y="912723"/>
                </a:lnTo>
                <a:lnTo>
                  <a:pt x="1399675" y="958360"/>
                </a:lnTo>
                <a:lnTo>
                  <a:pt x="1382494" y="1002663"/>
                </a:lnTo>
                <a:lnTo>
                  <a:pt x="1362529" y="1045516"/>
                </a:lnTo>
                <a:lnTo>
                  <a:pt x="1339883" y="1086805"/>
                </a:lnTo>
                <a:lnTo>
                  <a:pt x="1314661" y="1126414"/>
                </a:lnTo>
                <a:lnTo>
                  <a:pt x="1286965" y="1164228"/>
                </a:lnTo>
                <a:lnTo>
                  <a:pt x="1256900" y="1200131"/>
                </a:lnTo>
                <a:lnTo>
                  <a:pt x="1224569" y="1234008"/>
                </a:lnTo>
                <a:lnTo>
                  <a:pt x="1190075" y="1265743"/>
                </a:lnTo>
                <a:lnTo>
                  <a:pt x="1153523" y="1295222"/>
                </a:lnTo>
                <a:lnTo>
                  <a:pt x="1115015" y="1322328"/>
                </a:lnTo>
                <a:lnTo>
                  <a:pt x="1074656" y="1346947"/>
                </a:lnTo>
                <a:lnTo>
                  <a:pt x="1032549" y="1368962"/>
                </a:lnTo>
                <a:lnTo>
                  <a:pt x="988797" y="1388260"/>
                </a:lnTo>
                <a:lnTo>
                  <a:pt x="943505" y="1404723"/>
                </a:lnTo>
                <a:lnTo>
                  <a:pt x="896776" y="1418238"/>
                </a:lnTo>
                <a:lnTo>
                  <a:pt x="795557" y="207051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51326" y="1703908"/>
            <a:ext cx="63500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华文新魏"/>
                <a:cs typeface="华文新魏"/>
              </a:rPr>
              <a:t>获取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华文新魏"/>
                <a:cs typeface="华文新魏"/>
              </a:rPr>
              <a:t>需求</a:t>
            </a:r>
            <a:endParaRPr sz="2400">
              <a:latin typeface="华文新魏"/>
              <a:cs typeface="华文新魏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0796" y="4264152"/>
            <a:ext cx="2505455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77189"/>
            <a:ext cx="30676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2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、需求分析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5121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844801"/>
            <a:ext cx="8498205" cy="154241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0805" marR="168910">
              <a:lnSpc>
                <a:spcPct val="100000"/>
              </a:lnSpc>
              <a:spcBef>
                <a:spcPts val="75"/>
              </a:spcBef>
            </a:pPr>
            <a:r>
              <a:rPr sz="3600" dirty="0">
                <a:latin typeface="华文新魏"/>
                <a:cs typeface="华文新魏"/>
              </a:rPr>
              <a:t>需求分析是为最终用户所看到的系统建立 </a:t>
            </a:r>
            <a:r>
              <a:rPr sz="3600" spc="-5" dirty="0">
                <a:latin typeface="华文新魏"/>
                <a:cs typeface="华文新魏"/>
              </a:rPr>
              <a:t>一个概念模型，是对需求的抽象描述。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2419" y="63816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64" y="448132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需求分析模型</a:t>
            </a:r>
            <a:endParaRPr sz="4400">
              <a:latin typeface="华文隶书"/>
              <a:cs typeface="华文隶书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2460" y="1946148"/>
            <a:ext cx="8923020" cy="4175760"/>
            <a:chOff x="172460" y="1946148"/>
            <a:chExt cx="8923020" cy="41757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460" y="1968745"/>
              <a:ext cx="8732007" cy="411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0391" y="1946148"/>
              <a:ext cx="4434840" cy="41757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037" y="3861054"/>
              <a:ext cx="431800" cy="864235"/>
            </a:xfrm>
            <a:custGeom>
              <a:avLst/>
              <a:gdLst/>
              <a:ahLst/>
              <a:cxnLst/>
              <a:rect l="l" t="t" r="r" b="b"/>
              <a:pathLst>
                <a:path w="431800" h="864235">
                  <a:moveTo>
                    <a:pt x="323469" y="0"/>
                  </a:moveTo>
                  <a:lnTo>
                    <a:pt x="107823" y="0"/>
                  </a:lnTo>
                  <a:lnTo>
                    <a:pt x="107823" y="648462"/>
                  </a:lnTo>
                  <a:lnTo>
                    <a:pt x="0" y="648462"/>
                  </a:lnTo>
                  <a:lnTo>
                    <a:pt x="215646" y="864108"/>
                  </a:lnTo>
                  <a:lnTo>
                    <a:pt x="431292" y="648462"/>
                  </a:lnTo>
                  <a:lnTo>
                    <a:pt x="323469" y="648462"/>
                  </a:lnTo>
                  <a:lnTo>
                    <a:pt x="323469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037" y="3861054"/>
              <a:ext cx="431800" cy="864235"/>
            </a:xfrm>
            <a:custGeom>
              <a:avLst/>
              <a:gdLst/>
              <a:ahLst/>
              <a:cxnLst/>
              <a:rect l="l" t="t" r="r" b="b"/>
              <a:pathLst>
                <a:path w="431800" h="864235">
                  <a:moveTo>
                    <a:pt x="0" y="648462"/>
                  </a:moveTo>
                  <a:lnTo>
                    <a:pt x="107823" y="648462"/>
                  </a:lnTo>
                  <a:lnTo>
                    <a:pt x="107823" y="0"/>
                  </a:lnTo>
                  <a:lnTo>
                    <a:pt x="323469" y="0"/>
                  </a:lnTo>
                  <a:lnTo>
                    <a:pt x="323469" y="648462"/>
                  </a:lnTo>
                  <a:lnTo>
                    <a:pt x="431292" y="648462"/>
                  </a:lnTo>
                  <a:lnTo>
                    <a:pt x="215646" y="864108"/>
                  </a:lnTo>
                  <a:lnTo>
                    <a:pt x="0" y="648462"/>
                  </a:lnTo>
                  <a:close/>
                </a:path>
              </a:pathLst>
            </a:custGeom>
            <a:ln w="19812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41884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3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、需求规格编写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3195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46" y="1978914"/>
            <a:ext cx="6309360" cy="195262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9535" marR="111125" algn="just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新魏"/>
                <a:cs typeface="华文新魏"/>
              </a:rPr>
              <a:t>需求分析工作完成的一</a:t>
            </a:r>
            <a:r>
              <a:rPr sz="3200" spc="-15" dirty="0">
                <a:latin typeface="华文新魏"/>
                <a:cs typeface="华文新魏"/>
              </a:rPr>
              <a:t>个</a:t>
            </a:r>
            <a:r>
              <a:rPr sz="3200" dirty="0">
                <a:latin typeface="华文新魏"/>
                <a:cs typeface="华文新魏"/>
              </a:rPr>
              <a:t>基本</a:t>
            </a:r>
            <a:r>
              <a:rPr sz="3200" spc="-15" dirty="0">
                <a:latin typeface="华文新魏"/>
                <a:cs typeface="华文新魏"/>
              </a:rPr>
              <a:t>标</a:t>
            </a:r>
            <a:r>
              <a:rPr sz="3200" dirty="0">
                <a:latin typeface="华文新魏"/>
                <a:cs typeface="华文新魏"/>
              </a:rPr>
              <a:t>志 是形成了一份完整的、</a:t>
            </a:r>
            <a:r>
              <a:rPr sz="3200" spc="-15" dirty="0">
                <a:latin typeface="华文新魏"/>
                <a:cs typeface="华文新魏"/>
              </a:rPr>
              <a:t>规</a:t>
            </a:r>
            <a:r>
              <a:rPr sz="3200" dirty="0">
                <a:latin typeface="华文新魏"/>
                <a:cs typeface="华文新魏"/>
              </a:rPr>
              <a:t>范的</a:t>
            </a:r>
            <a:r>
              <a:rPr sz="3200" spc="-15" dirty="0">
                <a:latin typeface="华文新魏"/>
                <a:cs typeface="华文新魏"/>
              </a:rPr>
              <a:t>需</a:t>
            </a:r>
            <a:r>
              <a:rPr sz="3200" dirty="0">
                <a:latin typeface="华文新魏"/>
                <a:cs typeface="华文新魏"/>
              </a:rPr>
              <a:t>求 规格说明书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8252" y="1629152"/>
            <a:ext cx="2206752" cy="51342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27" y="291464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需求规格文档参考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692" y="1553082"/>
            <a:ext cx="1701800" cy="420814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20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引言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20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系统定义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黑体"/>
                <a:cs typeface="黑体"/>
              </a:rPr>
              <a:t>应用环境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功能规格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20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性能需求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黑体"/>
                <a:cs typeface="黑体"/>
              </a:rPr>
              <a:t>产品提交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实现约束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20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质量描述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黑体"/>
                <a:cs typeface="黑体"/>
              </a:rPr>
              <a:t>其它</a:t>
            </a:r>
            <a:endParaRPr sz="2400">
              <a:latin typeface="黑体"/>
              <a:cs typeface="黑体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60416"/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黑体"/>
                <a:cs typeface="黑体"/>
              </a:rPr>
              <a:t>签字认证</a:t>
            </a:r>
            <a:endParaRPr sz="2400">
              <a:latin typeface="黑体"/>
              <a:cs typeface="黑体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84373"/>
            <a:ext cx="9035795" cy="53736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3068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4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、需求验证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65953" y="1800605"/>
            <a:ext cx="3927475" cy="4427220"/>
          </a:xfrm>
          <a:custGeom>
            <a:avLst/>
            <a:gdLst/>
            <a:ahLst/>
            <a:cxnLst/>
            <a:rect l="l" t="t" r="r" b="b"/>
            <a:pathLst>
              <a:path w="3927475" h="4427220">
                <a:moveTo>
                  <a:pt x="0" y="4427220"/>
                </a:moveTo>
                <a:lnTo>
                  <a:pt x="3927348" y="4427220"/>
                </a:lnTo>
                <a:lnTo>
                  <a:pt x="3927348" y="0"/>
                </a:lnTo>
                <a:lnTo>
                  <a:pt x="0" y="0"/>
                </a:lnTo>
                <a:lnTo>
                  <a:pt x="0" y="442722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45455" y="1717391"/>
            <a:ext cx="4031615" cy="42722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需求是正确的吗？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需求是一致的吗？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需求是完全的吗？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需求是</a:t>
            </a:r>
            <a:r>
              <a:rPr sz="2900" spc="-20" dirty="0">
                <a:latin typeface="华文新魏"/>
                <a:cs typeface="华文新魏"/>
              </a:rPr>
              <a:t>实</a:t>
            </a:r>
            <a:r>
              <a:rPr sz="2900" spc="5" dirty="0">
                <a:latin typeface="华文新魏"/>
                <a:cs typeface="华文新魏"/>
              </a:rPr>
              <a:t>际可行</a:t>
            </a:r>
            <a:r>
              <a:rPr sz="2900" spc="-20" dirty="0">
                <a:latin typeface="华文新魏"/>
                <a:cs typeface="华文新魏"/>
              </a:rPr>
              <a:t>的</a:t>
            </a:r>
            <a:r>
              <a:rPr sz="2900" spc="5" dirty="0">
                <a:latin typeface="华文新魏"/>
                <a:cs typeface="华文新魏"/>
              </a:rPr>
              <a:t>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需求是必要的吗？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需求是可检验的吗？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需求是可跟踪的吗？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最后的签字</a:t>
            </a:r>
            <a:endParaRPr sz="2900">
              <a:latin typeface="华文新魏"/>
              <a:cs typeface="华文新魏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1773935"/>
            <a:ext cx="4608576" cy="44531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160731"/>
            <a:ext cx="4185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5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、需求总在变化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9946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" y="1597101"/>
            <a:ext cx="9130283" cy="46822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05257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需求变更管理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368897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701545"/>
            <a:ext cx="8498205" cy="4392295"/>
          </a:xfrm>
          <a:custGeom>
            <a:avLst/>
            <a:gdLst/>
            <a:ahLst/>
            <a:cxnLst/>
            <a:rect l="l" t="t" r="r" b="b"/>
            <a:pathLst>
              <a:path w="8498205" h="4392295">
                <a:moveTo>
                  <a:pt x="0" y="4392168"/>
                </a:moveTo>
                <a:lnTo>
                  <a:pt x="8497824" y="4392168"/>
                </a:lnTo>
                <a:lnTo>
                  <a:pt x="8497824" y="0"/>
                </a:lnTo>
                <a:lnTo>
                  <a:pt x="0" y="0"/>
                </a:lnTo>
                <a:lnTo>
                  <a:pt x="0" y="4392168"/>
                </a:lnTo>
                <a:close/>
              </a:path>
            </a:pathLst>
          </a:custGeom>
          <a:ln w="28955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065" y="1617399"/>
            <a:ext cx="7459345" cy="424751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①	</a:t>
            </a:r>
            <a:r>
              <a:rPr sz="3200" b="1" spc="5" dirty="0">
                <a:latin typeface="华文新魏"/>
                <a:cs typeface="华文新魏"/>
              </a:rPr>
              <a:t>确定</a:t>
            </a:r>
            <a:r>
              <a:rPr sz="3200" b="1" dirty="0">
                <a:latin typeface="华文新魏"/>
                <a:cs typeface="华文新魏"/>
              </a:rPr>
              <a:t>需求变更控制过程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②	</a:t>
            </a:r>
            <a:r>
              <a:rPr sz="3200" b="1" spc="5" dirty="0">
                <a:latin typeface="华文新魏"/>
                <a:cs typeface="华文新魏"/>
              </a:rPr>
              <a:t>建立</a:t>
            </a:r>
            <a:r>
              <a:rPr sz="3200" b="1" dirty="0">
                <a:latin typeface="华文新魏"/>
                <a:cs typeface="华文新魏"/>
              </a:rPr>
              <a:t>变更</a:t>
            </a:r>
            <a:r>
              <a:rPr sz="3200" b="1" spc="-15" dirty="0">
                <a:latin typeface="华文新魏"/>
                <a:cs typeface="华文新魏"/>
              </a:rPr>
              <a:t>控</a:t>
            </a:r>
            <a:r>
              <a:rPr sz="3200" b="1" dirty="0">
                <a:latin typeface="华文新魏"/>
                <a:cs typeface="华文新魏"/>
              </a:rPr>
              <a:t>制委</a:t>
            </a:r>
            <a:r>
              <a:rPr sz="3200" b="1" spc="-15" dirty="0">
                <a:latin typeface="华文新魏"/>
                <a:cs typeface="华文新魏"/>
              </a:rPr>
              <a:t>员</a:t>
            </a:r>
            <a:r>
              <a:rPr sz="3200" b="1" spc="-10" dirty="0">
                <a:latin typeface="华文新魏"/>
                <a:cs typeface="华文新魏"/>
              </a:rPr>
              <a:t>会</a:t>
            </a:r>
            <a:r>
              <a:rPr sz="3200" b="1" spc="-5" dirty="0">
                <a:latin typeface="华文新魏"/>
                <a:cs typeface="华文新魏"/>
              </a:rPr>
              <a:t>(SCCB)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③	</a:t>
            </a:r>
            <a:r>
              <a:rPr sz="3200" b="1" spc="5" dirty="0">
                <a:latin typeface="华文新魏"/>
                <a:cs typeface="华文新魏"/>
              </a:rPr>
              <a:t>进行</a:t>
            </a:r>
            <a:r>
              <a:rPr sz="3200" b="1" dirty="0">
                <a:latin typeface="华文新魏"/>
                <a:cs typeface="华文新魏"/>
              </a:rPr>
              <a:t>需求变更影响分析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④	</a:t>
            </a:r>
            <a:r>
              <a:rPr sz="3200" b="1" spc="5" dirty="0">
                <a:latin typeface="华文新魏"/>
                <a:cs typeface="华文新魏"/>
              </a:rPr>
              <a:t>跟踪</a:t>
            </a:r>
            <a:r>
              <a:rPr sz="3200" b="1" dirty="0">
                <a:latin typeface="华文新魏"/>
                <a:cs typeface="华文新魏"/>
              </a:rPr>
              <a:t>所有受需求变更影</a:t>
            </a:r>
            <a:r>
              <a:rPr sz="3200" b="1" spc="-15" dirty="0">
                <a:latin typeface="华文新魏"/>
                <a:cs typeface="华文新魏"/>
              </a:rPr>
              <a:t>响</a:t>
            </a:r>
            <a:r>
              <a:rPr sz="3200" b="1" dirty="0">
                <a:latin typeface="华文新魏"/>
                <a:cs typeface="华文新魏"/>
              </a:rPr>
              <a:t>的工作产品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⑤	</a:t>
            </a:r>
            <a:r>
              <a:rPr sz="3200" b="1" spc="5" dirty="0">
                <a:latin typeface="华文新魏"/>
                <a:cs typeface="华文新魏"/>
              </a:rPr>
              <a:t>建立</a:t>
            </a:r>
            <a:r>
              <a:rPr sz="3200" b="1" dirty="0">
                <a:latin typeface="华文新魏"/>
                <a:cs typeface="华文新魏"/>
              </a:rPr>
              <a:t>需求基准版本和需</a:t>
            </a:r>
            <a:r>
              <a:rPr sz="3200" b="1" spc="-15" dirty="0">
                <a:latin typeface="华文新魏"/>
                <a:cs typeface="华文新魏"/>
              </a:rPr>
              <a:t>求</a:t>
            </a:r>
            <a:r>
              <a:rPr sz="3200" b="1" dirty="0">
                <a:latin typeface="华文新魏"/>
                <a:cs typeface="华文新魏"/>
              </a:rPr>
              <a:t>控制版本文档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⑥	</a:t>
            </a:r>
            <a:r>
              <a:rPr sz="3200" b="1" spc="5" dirty="0">
                <a:latin typeface="华文新魏"/>
                <a:cs typeface="华文新魏"/>
              </a:rPr>
              <a:t>维护</a:t>
            </a:r>
            <a:r>
              <a:rPr sz="3200" b="1" dirty="0">
                <a:latin typeface="华文新魏"/>
                <a:cs typeface="华文新魏"/>
              </a:rPr>
              <a:t>需求变更的历史记录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527685" algn="l"/>
              </a:tabLst>
            </a:pPr>
            <a:r>
              <a:rPr sz="1900" b="1" spc="20" dirty="0">
                <a:solidFill>
                  <a:srgbClr val="DD8046"/>
                </a:solidFill>
                <a:latin typeface="华文新魏"/>
                <a:cs typeface="华文新魏"/>
              </a:rPr>
              <a:t>⑦	</a:t>
            </a:r>
            <a:r>
              <a:rPr sz="3200" b="1" spc="5" dirty="0">
                <a:latin typeface="华文新魏"/>
                <a:cs typeface="华文新魏"/>
              </a:rPr>
              <a:t>跟踪</a:t>
            </a:r>
            <a:r>
              <a:rPr sz="3200" b="1" dirty="0">
                <a:latin typeface="华文新魏"/>
                <a:cs typeface="华文新魏"/>
              </a:rPr>
              <a:t>每项</a:t>
            </a:r>
            <a:r>
              <a:rPr sz="3200" b="1" spc="-15" dirty="0">
                <a:latin typeface="华文新魏"/>
                <a:cs typeface="华文新魏"/>
              </a:rPr>
              <a:t>需</a:t>
            </a:r>
            <a:r>
              <a:rPr sz="3200" b="1" dirty="0">
                <a:latin typeface="华文新魏"/>
                <a:cs typeface="华文新魏"/>
              </a:rPr>
              <a:t>求的</a:t>
            </a:r>
            <a:r>
              <a:rPr sz="3200" b="1" spc="-15" dirty="0">
                <a:latin typeface="华文新魏"/>
                <a:cs typeface="华文新魏"/>
              </a:rPr>
              <a:t>状</a:t>
            </a:r>
            <a:r>
              <a:rPr sz="3200" b="1" dirty="0">
                <a:latin typeface="华文新魏"/>
                <a:cs typeface="华文新魏"/>
              </a:rPr>
              <a:t>态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527685" algn="l"/>
              </a:tabLst>
            </a:pPr>
            <a:r>
              <a:rPr sz="1900" b="1" spc="15" dirty="0">
                <a:solidFill>
                  <a:srgbClr val="DD8046"/>
                </a:solidFill>
                <a:latin typeface="华文新魏"/>
                <a:cs typeface="华文新魏"/>
              </a:rPr>
              <a:t>⑧	</a:t>
            </a:r>
            <a:r>
              <a:rPr sz="3200" b="1" spc="5" dirty="0">
                <a:latin typeface="华文新魏"/>
                <a:cs typeface="华文新魏"/>
              </a:rPr>
              <a:t>衡量</a:t>
            </a:r>
            <a:r>
              <a:rPr sz="3200" b="1" dirty="0">
                <a:latin typeface="华文新魏"/>
                <a:cs typeface="华文新魏"/>
              </a:rPr>
              <a:t>需求稳定性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043" y="0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需求变更控制流程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5428" y="2279904"/>
            <a:ext cx="103378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000" spc="-5" dirty="0">
                <a:latin typeface="宋体"/>
                <a:cs typeface="宋体"/>
              </a:rPr>
              <a:t>变更申请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2155" y="1520952"/>
            <a:ext cx="1181100" cy="379730"/>
          </a:xfrm>
          <a:custGeom>
            <a:avLst/>
            <a:gdLst/>
            <a:ahLst/>
            <a:cxnLst/>
            <a:rect l="l" t="t" r="r" b="b"/>
            <a:pathLst>
              <a:path w="1181100" h="379730">
                <a:moveTo>
                  <a:pt x="0" y="189737"/>
                </a:moveTo>
                <a:lnTo>
                  <a:pt x="15597" y="146237"/>
                </a:lnTo>
                <a:lnTo>
                  <a:pt x="60026" y="106302"/>
                </a:lnTo>
                <a:lnTo>
                  <a:pt x="129742" y="71072"/>
                </a:lnTo>
                <a:lnTo>
                  <a:pt x="172974" y="55578"/>
                </a:lnTo>
                <a:lnTo>
                  <a:pt x="221197" y="41687"/>
                </a:lnTo>
                <a:lnTo>
                  <a:pt x="273970" y="29543"/>
                </a:lnTo>
                <a:lnTo>
                  <a:pt x="330847" y="19287"/>
                </a:lnTo>
                <a:lnTo>
                  <a:pt x="391388" y="11063"/>
                </a:lnTo>
                <a:lnTo>
                  <a:pt x="455147" y="5011"/>
                </a:lnTo>
                <a:lnTo>
                  <a:pt x="521682" y="1276"/>
                </a:lnTo>
                <a:lnTo>
                  <a:pt x="590549" y="0"/>
                </a:lnTo>
                <a:lnTo>
                  <a:pt x="659417" y="1276"/>
                </a:lnTo>
                <a:lnTo>
                  <a:pt x="725952" y="5011"/>
                </a:lnTo>
                <a:lnTo>
                  <a:pt x="789711" y="11063"/>
                </a:lnTo>
                <a:lnTo>
                  <a:pt x="850252" y="19287"/>
                </a:lnTo>
                <a:lnTo>
                  <a:pt x="907129" y="29543"/>
                </a:lnTo>
                <a:lnTo>
                  <a:pt x="959902" y="41687"/>
                </a:lnTo>
                <a:lnTo>
                  <a:pt x="1008125" y="55578"/>
                </a:lnTo>
                <a:lnTo>
                  <a:pt x="1051357" y="71072"/>
                </a:lnTo>
                <a:lnTo>
                  <a:pt x="1089154" y="88028"/>
                </a:lnTo>
                <a:lnTo>
                  <a:pt x="1146670" y="125752"/>
                </a:lnTo>
                <a:lnTo>
                  <a:pt x="1177126" y="167613"/>
                </a:lnTo>
                <a:lnTo>
                  <a:pt x="1181099" y="189737"/>
                </a:lnTo>
                <a:lnTo>
                  <a:pt x="1177126" y="211862"/>
                </a:lnTo>
                <a:lnTo>
                  <a:pt x="1146670" y="253723"/>
                </a:lnTo>
                <a:lnTo>
                  <a:pt x="1089154" y="291447"/>
                </a:lnTo>
                <a:lnTo>
                  <a:pt x="1051357" y="308403"/>
                </a:lnTo>
                <a:lnTo>
                  <a:pt x="1008126" y="323897"/>
                </a:lnTo>
                <a:lnTo>
                  <a:pt x="959902" y="337788"/>
                </a:lnTo>
                <a:lnTo>
                  <a:pt x="907129" y="349932"/>
                </a:lnTo>
                <a:lnTo>
                  <a:pt x="850252" y="360188"/>
                </a:lnTo>
                <a:lnTo>
                  <a:pt x="789711" y="368412"/>
                </a:lnTo>
                <a:lnTo>
                  <a:pt x="725952" y="374464"/>
                </a:lnTo>
                <a:lnTo>
                  <a:pt x="659417" y="378199"/>
                </a:lnTo>
                <a:lnTo>
                  <a:pt x="590549" y="379475"/>
                </a:lnTo>
                <a:lnTo>
                  <a:pt x="521682" y="378199"/>
                </a:lnTo>
                <a:lnTo>
                  <a:pt x="455147" y="374464"/>
                </a:lnTo>
                <a:lnTo>
                  <a:pt x="391388" y="368412"/>
                </a:lnTo>
                <a:lnTo>
                  <a:pt x="330847" y="360188"/>
                </a:lnTo>
                <a:lnTo>
                  <a:pt x="273970" y="349932"/>
                </a:lnTo>
                <a:lnTo>
                  <a:pt x="221197" y="337788"/>
                </a:lnTo>
                <a:lnTo>
                  <a:pt x="172973" y="323897"/>
                </a:lnTo>
                <a:lnTo>
                  <a:pt x="129742" y="308403"/>
                </a:lnTo>
                <a:lnTo>
                  <a:pt x="91945" y="291447"/>
                </a:lnTo>
                <a:lnTo>
                  <a:pt x="34429" y="253723"/>
                </a:lnTo>
                <a:lnTo>
                  <a:pt x="3973" y="211862"/>
                </a:lnTo>
                <a:lnTo>
                  <a:pt x="0" y="18973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24885" y="1606677"/>
            <a:ext cx="405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宋体"/>
                <a:cs typeface="宋体"/>
              </a:rPr>
              <a:t>需求方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8488" y="1520952"/>
            <a:ext cx="1181100" cy="379730"/>
          </a:xfrm>
          <a:custGeom>
            <a:avLst/>
            <a:gdLst/>
            <a:ahLst/>
            <a:cxnLst/>
            <a:rect l="l" t="t" r="r" b="b"/>
            <a:pathLst>
              <a:path w="1181100" h="379730">
                <a:moveTo>
                  <a:pt x="0" y="189737"/>
                </a:moveTo>
                <a:lnTo>
                  <a:pt x="15597" y="146237"/>
                </a:lnTo>
                <a:lnTo>
                  <a:pt x="60026" y="106302"/>
                </a:lnTo>
                <a:lnTo>
                  <a:pt x="129742" y="71072"/>
                </a:lnTo>
                <a:lnTo>
                  <a:pt x="172973" y="55578"/>
                </a:lnTo>
                <a:lnTo>
                  <a:pt x="221197" y="41687"/>
                </a:lnTo>
                <a:lnTo>
                  <a:pt x="273970" y="29543"/>
                </a:lnTo>
                <a:lnTo>
                  <a:pt x="330847" y="19287"/>
                </a:lnTo>
                <a:lnTo>
                  <a:pt x="391388" y="11063"/>
                </a:lnTo>
                <a:lnTo>
                  <a:pt x="455147" y="5011"/>
                </a:lnTo>
                <a:lnTo>
                  <a:pt x="521682" y="1276"/>
                </a:lnTo>
                <a:lnTo>
                  <a:pt x="590550" y="0"/>
                </a:lnTo>
                <a:lnTo>
                  <a:pt x="659417" y="1276"/>
                </a:lnTo>
                <a:lnTo>
                  <a:pt x="725952" y="5011"/>
                </a:lnTo>
                <a:lnTo>
                  <a:pt x="789711" y="11063"/>
                </a:lnTo>
                <a:lnTo>
                  <a:pt x="850252" y="19287"/>
                </a:lnTo>
                <a:lnTo>
                  <a:pt x="907129" y="29543"/>
                </a:lnTo>
                <a:lnTo>
                  <a:pt x="959902" y="41687"/>
                </a:lnTo>
                <a:lnTo>
                  <a:pt x="1008126" y="55578"/>
                </a:lnTo>
                <a:lnTo>
                  <a:pt x="1051357" y="71072"/>
                </a:lnTo>
                <a:lnTo>
                  <a:pt x="1089154" y="88028"/>
                </a:lnTo>
                <a:lnTo>
                  <a:pt x="1146670" y="125752"/>
                </a:lnTo>
                <a:lnTo>
                  <a:pt x="1177126" y="167613"/>
                </a:lnTo>
                <a:lnTo>
                  <a:pt x="1181100" y="189737"/>
                </a:lnTo>
                <a:lnTo>
                  <a:pt x="1177126" y="211862"/>
                </a:lnTo>
                <a:lnTo>
                  <a:pt x="1146670" y="253723"/>
                </a:lnTo>
                <a:lnTo>
                  <a:pt x="1089154" y="291447"/>
                </a:lnTo>
                <a:lnTo>
                  <a:pt x="1051357" y="308403"/>
                </a:lnTo>
                <a:lnTo>
                  <a:pt x="1008125" y="323897"/>
                </a:lnTo>
                <a:lnTo>
                  <a:pt x="959902" y="337788"/>
                </a:lnTo>
                <a:lnTo>
                  <a:pt x="907129" y="349932"/>
                </a:lnTo>
                <a:lnTo>
                  <a:pt x="850252" y="360188"/>
                </a:lnTo>
                <a:lnTo>
                  <a:pt x="789711" y="368412"/>
                </a:lnTo>
                <a:lnTo>
                  <a:pt x="725952" y="374464"/>
                </a:lnTo>
                <a:lnTo>
                  <a:pt x="659417" y="378199"/>
                </a:lnTo>
                <a:lnTo>
                  <a:pt x="590550" y="379475"/>
                </a:lnTo>
                <a:lnTo>
                  <a:pt x="521682" y="378199"/>
                </a:lnTo>
                <a:lnTo>
                  <a:pt x="455147" y="374464"/>
                </a:lnTo>
                <a:lnTo>
                  <a:pt x="391388" y="368412"/>
                </a:lnTo>
                <a:lnTo>
                  <a:pt x="330847" y="360188"/>
                </a:lnTo>
                <a:lnTo>
                  <a:pt x="273970" y="349932"/>
                </a:lnTo>
                <a:lnTo>
                  <a:pt x="221197" y="337788"/>
                </a:lnTo>
                <a:lnTo>
                  <a:pt x="172974" y="323897"/>
                </a:lnTo>
                <a:lnTo>
                  <a:pt x="129742" y="308403"/>
                </a:lnTo>
                <a:lnTo>
                  <a:pt x="91945" y="291447"/>
                </a:lnTo>
                <a:lnTo>
                  <a:pt x="34429" y="253723"/>
                </a:lnTo>
                <a:lnTo>
                  <a:pt x="3973" y="211862"/>
                </a:lnTo>
                <a:lnTo>
                  <a:pt x="0" y="18973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81598" y="1606677"/>
            <a:ext cx="405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宋体"/>
                <a:cs typeface="宋体"/>
              </a:rPr>
              <a:t>开发方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60547" y="1894331"/>
            <a:ext cx="2513330" cy="401320"/>
          </a:xfrm>
          <a:custGeom>
            <a:avLst/>
            <a:gdLst/>
            <a:ahLst/>
            <a:cxnLst/>
            <a:rect l="l" t="t" r="r" b="b"/>
            <a:pathLst>
              <a:path w="2513329" h="401319">
                <a:moveTo>
                  <a:pt x="740537" y="385572"/>
                </a:moveTo>
                <a:lnTo>
                  <a:pt x="723430" y="362204"/>
                </a:lnTo>
                <a:lnTo>
                  <a:pt x="690245" y="316865"/>
                </a:lnTo>
                <a:lnTo>
                  <a:pt x="675665" y="345109"/>
                </a:lnTo>
                <a:lnTo>
                  <a:pt x="5842" y="508"/>
                </a:lnTo>
                <a:lnTo>
                  <a:pt x="0" y="11684"/>
                </a:lnTo>
                <a:lnTo>
                  <a:pt x="669861" y="356362"/>
                </a:lnTo>
                <a:lnTo>
                  <a:pt x="655320" y="384556"/>
                </a:lnTo>
                <a:lnTo>
                  <a:pt x="740537" y="385572"/>
                </a:lnTo>
                <a:close/>
              </a:path>
              <a:path w="2513329" h="401319">
                <a:moveTo>
                  <a:pt x="2513203" y="12192"/>
                </a:moveTo>
                <a:lnTo>
                  <a:pt x="2509647" y="0"/>
                </a:lnTo>
                <a:lnTo>
                  <a:pt x="1254036" y="358584"/>
                </a:lnTo>
                <a:lnTo>
                  <a:pt x="1245362" y="328041"/>
                </a:lnTo>
                <a:lnTo>
                  <a:pt x="1182497" y="385572"/>
                </a:lnTo>
                <a:lnTo>
                  <a:pt x="1266190" y="401320"/>
                </a:lnTo>
                <a:lnTo>
                  <a:pt x="1258493" y="374269"/>
                </a:lnTo>
                <a:lnTo>
                  <a:pt x="1257503" y="370801"/>
                </a:lnTo>
                <a:lnTo>
                  <a:pt x="2513203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7115" y="2506979"/>
            <a:ext cx="76200" cy="303530"/>
          </a:xfrm>
          <a:custGeom>
            <a:avLst/>
            <a:gdLst/>
            <a:ahLst/>
            <a:cxnLst/>
            <a:rect l="l" t="t" r="r" b="b"/>
            <a:pathLst>
              <a:path w="76200" h="303530">
                <a:moveTo>
                  <a:pt x="31750" y="227075"/>
                </a:moveTo>
                <a:lnTo>
                  <a:pt x="0" y="227075"/>
                </a:lnTo>
                <a:lnTo>
                  <a:pt x="38100" y="303275"/>
                </a:lnTo>
                <a:lnTo>
                  <a:pt x="69850" y="239775"/>
                </a:lnTo>
                <a:lnTo>
                  <a:pt x="31750" y="239775"/>
                </a:lnTo>
                <a:lnTo>
                  <a:pt x="31750" y="227075"/>
                </a:lnTo>
                <a:close/>
              </a:path>
              <a:path w="76200" h="303530">
                <a:moveTo>
                  <a:pt x="44450" y="0"/>
                </a:moveTo>
                <a:lnTo>
                  <a:pt x="31750" y="0"/>
                </a:lnTo>
                <a:lnTo>
                  <a:pt x="31750" y="239775"/>
                </a:lnTo>
                <a:lnTo>
                  <a:pt x="44450" y="239775"/>
                </a:lnTo>
                <a:lnTo>
                  <a:pt x="44450" y="0"/>
                </a:lnTo>
                <a:close/>
              </a:path>
              <a:path w="76200" h="303530">
                <a:moveTo>
                  <a:pt x="76200" y="227075"/>
                </a:moveTo>
                <a:lnTo>
                  <a:pt x="44450" y="227075"/>
                </a:lnTo>
                <a:lnTo>
                  <a:pt x="44450" y="239775"/>
                </a:lnTo>
                <a:lnTo>
                  <a:pt x="69850" y="239775"/>
                </a:lnTo>
                <a:lnTo>
                  <a:pt x="76200" y="227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92580" y="3947159"/>
            <a:ext cx="103378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000" spc="-5" dirty="0">
                <a:latin typeface="宋体"/>
                <a:cs typeface="宋体"/>
              </a:rPr>
              <a:t>忽略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19983" y="2810255"/>
            <a:ext cx="2952115" cy="454659"/>
          </a:xfrm>
          <a:custGeom>
            <a:avLst/>
            <a:gdLst/>
            <a:ahLst/>
            <a:cxnLst/>
            <a:rect l="l" t="t" r="r" b="b"/>
            <a:pathLst>
              <a:path w="2952115" h="454660">
                <a:moveTo>
                  <a:pt x="0" y="227076"/>
                </a:moveTo>
                <a:lnTo>
                  <a:pt x="1475994" y="0"/>
                </a:lnTo>
                <a:lnTo>
                  <a:pt x="2951988" y="227076"/>
                </a:lnTo>
                <a:lnTo>
                  <a:pt x="1475994" y="454152"/>
                </a:lnTo>
                <a:lnTo>
                  <a:pt x="0" y="22707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37609" y="2954527"/>
            <a:ext cx="784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宋体"/>
                <a:cs typeface="宋体"/>
              </a:rPr>
              <a:t>选择变更方式</a:t>
            </a:r>
            <a:endParaRPr sz="1000">
              <a:latin typeface="宋体"/>
              <a:cs typeface="宋体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96439" y="3264408"/>
            <a:ext cx="4766310" cy="683260"/>
            <a:chOff x="1996439" y="3264408"/>
            <a:chExt cx="4766310" cy="683260"/>
          </a:xfrm>
        </p:grpSpPr>
        <p:sp>
          <p:nvSpPr>
            <p:cNvPr id="15" name="object 15"/>
            <p:cNvSpPr/>
            <p:nvPr/>
          </p:nvSpPr>
          <p:spPr>
            <a:xfrm>
              <a:off x="4357116" y="3264408"/>
              <a:ext cx="76200" cy="303530"/>
            </a:xfrm>
            <a:custGeom>
              <a:avLst/>
              <a:gdLst/>
              <a:ahLst/>
              <a:cxnLst/>
              <a:rect l="l" t="t" r="r" b="b"/>
              <a:pathLst>
                <a:path w="76200" h="303529">
                  <a:moveTo>
                    <a:pt x="31750" y="227075"/>
                  </a:moveTo>
                  <a:lnTo>
                    <a:pt x="0" y="227075"/>
                  </a:lnTo>
                  <a:lnTo>
                    <a:pt x="38100" y="303275"/>
                  </a:lnTo>
                  <a:lnTo>
                    <a:pt x="69850" y="239775"/>
                  </a:lnTo>
                  <a:lnTo>
                    <a:pt x="31750" y="239775"/>
                  </a:lnTo>
                  <a:lnTo>
                    <a:pt x="31750" y="227075"/>
                  </a:lnTo>
                  <a:close/>
                </a:path>
                <a:path w="76200" h="303529">
                  <a:moveTo>
                    <a:pt x="44450" y="0"/>
                  </a:moveTo>
                  <a:lnTo>
                    <a:pt x="31750" y="0"/>
                  </a:lnTo>
                  <a:lnTo>
                    <a:pt x="31750" y="239775"/>
                  </a:lnTo>
                  <a:lnTo>
                    <a:pt x="44450" y="239775"/>
                  </a:lnTo>
                  <a:lnTo>
                    <a:pt x="44450" y="0"/>
                  </a:lnTo>
                  <a:close/>
                </a:path>
                <a:path w="76200" h="303529">
                  <a:moveTo>
                    <a:pt x="76200" y="227075"/>
                  </a:moveTo>
                  <a:lnTo>
                    <a:pt x="44450" y="227075"/>
                  </a:lnTo>
                  <a:lnTo>
                    <a:pt x="44450" y="239775"/>
                  </a:lnTo>
                  <a:lnTo>
                    <a:pt x="69850" y="239775"/>
                  </a:lnTo>
                  <a:lnTo>
                    <a:pt x="76200" y="227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34539" y="3567684"/>
              <a:ext cx="4723130" cy="0"/>
            </a:xfrm>
            <a:custGeom>
              <a:avLst/>
              <a:gdLst/>
              <a:ahLst/>
              <a:cxnLst/>
              <a:rect l="l" t="t" r="r" b="b"/>
              <a:pathLst>
                <a:path w="4723130">
                  <a:moveTo>
                    <a:pt x="0" y="0"/>
                  </a:moveTo>
                  <a:lnTo>
                    <a:pt x="4722876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96439" y="3567684"/>
              <a:ext cx="76200" cy="379730"/>
            </a:xfrm>
            <a:custGeom>
              <a:avLst/>
              <a:gdLst/>
              <a:ahLst/>
              <a:cxnLst/>
              <a:rect l="l" t="t" r="r" b="b"/>
              <a:pathLst>
                <a:path w="76200" h="379729">
                  <a:moveTo>
                    <a:pt x="31750" y="303275"/>
                  </a:moveTo>
                  <a:lnTo>
                    <a:pt x="0" y="303275"/>
                  </a:lnTo>
                  <a:lnTo>
                    <a:pt x="38100" y="379475"/>
                  </a:lnTo>
                  <a:lnTo>
                    <a:pt x="69850" y="315975"/>
                  </a:lnTo>
                  <a:lnTo>
                    <a:pt x="31750" y="315975"/>
                  </a:lnTo>
                  <a:lnTo>
                    <a:pt x="31750" y="303275"/>
                  </a:lnTo>
                  <a:close/>
                </a:path>
                <a:path w="76200" h="379729">
                  <a:moveTo>
                    <a:pt x="44450" y="0"/>
                  </a:moveTo>
                  <a:lnTo>
                    <a:pt x="31750" y="0"/>
                  </a:lnTo>
                  <a:lnTo>
                    <a:pt x="31750" y="315975"/>
                  </a:lnTo>
                  <a:lnTo>
                    <a:pt x="44450" y="315975"/>
                  </a:lnTo>
                  <a:lnTo>
                    <a:pt x="44450" y="0"/>
                  </a:lnTo>
                  <a:close/>
                </a:path>
                <a:path w="76200" h="379729">
                  <a:moveTo>
                    <a:pt x="76200" y="303275"/>
                  </a:moveTo>
                  <a:lnTo>
                    <a:pt x="44450" y="303275"/>
                  </a:lnTo>
                  <a:lnTo>
                    <a:pt x="44450" y="315975"/>
                  </a:lnTo>
                  <a:lnTo>
                    <a:pt x="69850" y="315975"/>
                  </a:lnTo>
                  <a:lnTo>
                    <a:pt x="76200" y="3032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53255" y="3947159"/>
            <a:ext cx="118110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000" spc="-10" dirty="0">
                <a:latin typeface="Times New Roman"/>
                <a:cs typeface="Times New Roman"/>
              </a:rPr>
              <a:t>SCCB</a:t>
            </a:r>
            <a:r>
              <a:rPr sz="1000" spc="-5" dirty="0">
                <a:latin typeface="宋体"/>
                <a:cs typeface="宋体"/>
              </a:rPr>
              <a:t>评估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19800" y="3947159"/>
            <a:ext cx="1771014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40"/>
              </a:spcBef>
            </a:pPr>
            <a:r>
              <a:rPr sz="1000" spc="-5" dirty="0">
                <a:latin typeface="宋体"/>
                <a:cs typeface="宋体"/>
              </a:rPr>
              <a:t>项目经理自行决定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57116" y="3567696"/>
            <a:ext cx="2438400" cy="379730"/>
          </a:xfrm>
          <a:custGeom>
            <a:avLst/>
            <a:gdLst/>
            <a:ahLst/>
            <a:cxnLst/>
            <a:rect l="l" t="t" r="r" b="b"/>
            <a:pathLst>
              <a:path w="2438400" h="379729">
                <a:moveTo>
                  <a:pt x="76200" y="303263"/>
                </a:moveTo>
                <a:lnTo>
                  <a:pt x="44450" y="303263"/>
                </a:lnTo>
                <a:lnTo>
                  <a:pt x="44450" y="0"/>
                </a:lnTo>
                <a:lnTo>
                  <a:pt x="31750" y="0"/>
                </a:lnTo>
                <a:lnTo>
                  <a:pt x="31750" y="303263"/>
                </a:lnTo>
                <a:lnTo>
                  <a:pt x="0" y="303263"/>
                </a:lnTo>
                <a:lnTo>
                  <a:pt x="38100" y="379463"/>
                </a:lnTo>
                <a:lnTo>
                  <a:pt x="69850" y="315963"/>
                </a:lnTo>
                <a:lnTo>
                  <a:pt x="76200" y="303263"/>
                </a:lnTo>
                <a:close/>
              </a:path>
              <a:path w="2438400" h="379729">
                <a:moveTo>
                  <a:pt x="2438400" y="303263"/>
                </a:moveTo>
                <a:lnTo>
                  <a:pt x="2406650" y="303263"/>
                </a:lnTo>
                <a:lnTo>
                  <a:pt x="2406650" y="0"/>
                </a:lnTo>
                <a:lnTo>
                  <a:pt x="2393950" y="0"/>
                </a:lnTo>
                <a:lnTo>
                  <a:pt x="2393950" y="303263"/>
                </a:lnTo>
                <a:lnTo>
                  <a:pt x="2362200" y="303263"/>
                </a:lnTo>
                <a:lnTo>
                  <a:pt x="2400300" y="379463"/>
                </a:lnTo>
                <a:lnTo>
                  <a:pt x="2432050" y="315963"/>
                </a:lnTo>
                <a:lnTo>
                  <a:pt x="2438400" y="303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919983" y="4477511"/>
            <a:ext cx="2952115" cy="455930"/>
          </a:xfrm>
          <a:custGeom>
            <a:avLst/>
            <a:gdLst/>
            <a:ahLst/>
            <a:cxnLst/>
            <a:rect l="l" t="t" r="r" b="b"/>
            <a:pathLst>
              <a:path w="2952115" h="455929">
                <a:moveTo>
                  <a:pt x="0" y="227837"/>
                </a:moveTo>
                <a:lnTo>
                  <a:pt x="1475994" y="0"/>
                </a:lnTo>
                <a:lnTo>
                  <a:pt x="2951988" y="227837"/>
                </a:lnTo>
                <a:lnTo>
                  <a:pt x="1475994" y="455675"/>
                </a:lnTo>
                <a:lnTo>
                  <a:pt x="0" y="22783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37609" y="4623308"/>
            <a:ext cx="7848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宋体"/>
                <a:cs typeface="宋体"/>
              </a:rPr>
              <a:t>根据评估结果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57115" y="4174235"/>
            <a:ext cx="76200" cy="303530"/>
          </a:xfrm>
          <a:custGeom>
            <a:avLst/>
            <a:gdLst/>
            <a:ahLst/>
            <a:cxnLst/>
            <a:rect l="l" t="t" r="r" b="b"/>
            <a:pathLst>
              <a:path w="76200" h="303529">
                <a:moveTo>
                  <a:pt x="31750" y="227075"/>
                </a:moveTo>
                <a:lnTo>
                  <a:pt x="0" y="227075"/>
                </a:lnTo>
                <a:lnTo>
                  <a:pt x="38100" y="303275"/>
                </a:lnTo>
                <a:lnTo>
                  <a:pt x="69850" y="239775"/>
                </a:lnTo>
                <a:lnTo>
                  <a:pt x="31750" y="239775"/>
                </a:lnTo>
                <a:lnTo>
                  <a:pt x="31750" y="227075"/>
                </a:lnTo>
                <a:close/>
              </a:path>
              <a:path w="76200" h="303529">
                <a:moveTo>
                  <a:pt x="44450" y="0"/>
                </a:moveTo>
                <a:lnTo>
                  <a:pt x="31750" y="0"/>
                </a:lnTo>
                <a:lnTo>
                  <a:pt x="31750" y="239775"/>
                </a:lnTo>
                <a:lnTo>
                  <a:pt x="44450" y="239775"/>
                </a:lnTo>
                <a:lnTo>
                  <a:pt x="44450" y="0"/>
                </a:lnTo>
                <a:close/>
              </a:path>
              <a:path w="76200" h="303529">
                <a:moveTo>
                  <a:pt x="76200" y="227075"/>
                </a:moveTo>
                <a:lnTo>
                  <a:pt x="44450" y="227075"/>
                </a:lnTo>
                <a:lnTo>
                  <a:pt x="44450" y="239775"/>
                </a:lnTo>
                <a:lnTo>
                  <a:pt x="69850" y="239775"/>
                </a:lnTo>
                <a:lnTo>
                  <a:pt x="76200" y="227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40407" y="5539740"/>
            <a:ext cx="1031875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0"/>
              </a:spcBef>
            </a:pPr>
            <a:r>
              <a:rPr sz="1000" spc="-5" dirty="0">
                <a:latin typeface="宋体"/>
                <a:cs typeface="宋体"/>
              </a:rPr>
              <a:t>拒绝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5428" y="5539740"/>
            <a:ext cx="147574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000" spc="-5" dirty="0">
                <a:latin typeface="宋体"/>
                <a:cs typeface="宋体"/>
              </a:rPr>
              <a:t>接受本次修改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13932" y="5539740"/>
            <a:ext cx="147701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latin typeface="宋体"/>
                <a:cs typeface="宋体"/>
              </a:rPr>
              <a:t>下个版本再修改</a:t>
            </a:r>
            <a:endParaRPr sz="900">
              <a:latin typeface="宋体"/>
              <a:cs typeface="宋体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96439" y="4933188"/>
            <a:ext cx="4947285" cy="607060"/>
            <a:chOff x="1996439" y="4933188"/>
            <a:chExt cx="4947285" cy="607060"/>
          </a:xfrm>
        </p:grpSpPr>
        <p:sp>
          <p:nvSpPr>
            <p:cNvPr id="28" name="object 28"/>
            <p:cNvSpPr/>
            <p:nvPr/>
          </p:nvSpPr>
          <p:spPr>
            <a:xfrm>
              <a:off x="4357116" y="4933188"/>
              <a:ext cx="76200" cy="303530"/>
            </a:xfrm>
            <a:custGeom>
              <a:avLst/>
              <a:gdLst/>
              <a:ahLst/>
              <a:cxnLst/>
              <a:rect l="l" t="t" r="r" b="b"/>
              <a:pathLst>
                <a:path w="76200" h="303529">
                  <a:moveTo>
                    <a:pt x="31750" y="227075"/>
                  </a:moveTo>
                  <a:lnTo>
                    <a:pt x="0" y="227075"/>
                  </a:lnTo>
                  <a:lnTo>
                    <a:pt x="38100" y="303275"/>
                  </a:lnTo>
                  <a:lnTo>
                    <a:pt x="69850" y="239775"/>
                  </a:lnTo>
                  <a:lnTo>
                    <a:pt x="31750" y="239775"/>
                  </a:lnTo>
                  <a:lnTo>
                    <a:pt x="31750" y="227075"/>
                  </a:lnTo>
                  <a:close/>
                </a:path>
                <a:path w="76200" h="303529">
                  <a:moveTo>
                    <a:pt x="44450" y="0"/>
                  </a:moveTo>
                  <a:lnTo>
                    <a:pt x="31750" y="0"/>
                  </a:lnTo>
                  <a:lnTo>
                    <a:pt x="31750" y="239775"/>
                  </a:lnTo>
                  <a:lnTo>
                    <a:pt x="44450" y="239775"/>
                  </a:lnTo>
                  <a:lnTo>
                    <a:pt x="44450" y="0"/>
                  </a:lnTo>
                  <a:close/>
                </a:path>
                <a:path w="76200" h="303529">
                  <a:moveTo>
                    <a:pt x="76200" y="227075"/>
                  </a:moveTo>
                  <a:lnTo>
                    <a:pt x="44450" y="227075"/>
                  </a:lnTo>
                  <a:lnTo>
                    <a:pt x="44450" y="239775"/>
                  </a:lnTo>
                  <a:lnTo>
                    <a:pt x="69850" y="239775"/>
                  </a:lnTo>
                  <a:lnTo>
                    <a:pt x="76200" y="227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34539" y="5236464"/>
              <a:ext cx="4871085" cy="0"/>
            </a:xfrm>
            <a:custGeom>
              <a:avLst/>
              <a:gdLst/>
              <a:ahLst/>
              <a:cxnLst/>
              <a:rect l="l" t="t" r="r" b="b"/>
              <a:pathLst>
                <a:path w="4871084">
                  <a:moveTo>
                    <a:pt x="0" y="0"/>
                  </a:moveTo>
                  <a:lnTo>
                    <a:pt x="4870704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96440" y="5236463"/>
              <a:ext cx="4947285" cy="303530"/>
            </a:xfrm>
            <a:custGeom>
              <a:avLst/>
              <a:gdLst/>
              <a:ahLst/>
              <a:cxnLst/>
              <a:rect l="l" t="t" r="r" b="b"/>
              <a:pathLst>
                <a:path w="4947284" h="303529">
                  <a:moveTo>
                    <a:pt x="76200" y="227076"/>
                  </a:moveTo>
                  <a:lnTo>
                    <a:pt x="44450" y="227076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227076"/>
                  </a:lnTo>
                  <a:lnTo>
                    <a:pt x="0" y="227076"/>
                  </a:lnTo>
                  <a:lnTo>
                    <a:pt x="38100" y="303276"/>
                  </a:lnTo>
                  <a:lnTo>
                    <a:pt x="69850" y="239776"/>
                  </a:lnTo>
                  <a:lnTo>
                    <a:pt x="76200" y="227076"/>
                  </a:lnTo>
                  <a:close/>
                </a:path>
                <a:path w="4947284" h="303529">
                  <a:moveTo>
                    <a:pt x="2436876" y="227076"/>
                  </a:moveTo>
                  <a:lnTo>
                    <a:pt x="2405126" y="227076"/>
                  </a:lnTo>
                  <a:lnTo>
                    <a:pt x="2405126" y="0"/>
                  </a:lnTo>
                  <a:lnTo>
                    <a:pt x="2392426" y="0"/>
                  </a:lnTo>
                  <a:lnTo>
                    <a:pt x="2392426" y="227076"/>
                  </a:lnTo>
                  <a:lnTo>
                    <a:pt x="2360676" y="227076"/>
                  </a:lnTo>
                  <a:lnTo>
                    <a:pt x="2398776" y="303276"/>
                  </a:lnTo>
                  <a:lnTo>
                    <a:pt x="2430526" y="239776"/>
                  </a:lnTo>
                  <a:lnTo>
                    <a:pt x="2436876" y="227076"/>
                  </a:lnTo>
                  <a:close/>
                </a:path>
                <a:path w="4947284" h="303529">
                  <a:moveTo>
                    <a:pt x="4946904" y="227076"/>
                  </a:moveTo>
                  <a:lnTo>
                    <a:pt x="4915154" y="227076"/>
                  </a:lnTo>
                  <a:lnTo>
                    <a:pt x="4915154" y="0"/>
                  </a:lnTo>
                  <a:lnTo>
                    <a:pt x="4902454" y="0"/>
                  </a:lnTo>
                  <a:lnTo>
                    <a:pt x="4902454" y="227076"/>
                  </a:lnTo>
                  <a:lnTo>
                    <a:pt x="4870704" y="227076"/>
                  </a:lnTo>
                  <a:lnTo>
                    <a:pt x="4908804" y="303276"/>
                  </a:lnTo>
                  <a:lnTo>
                    <a:pt x="4940554" y="239776"/>
                  </a:lnTo>
                  <a:lnTo>
                    <a:pt x="4946904" y="2270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592580" y="6525768"/>
            <a:ext cx="147574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latin typeface="宋体"/>
                <a:cs typeface="宋体"/>
              </a:rPr>
              <a:t>修改合同相关信息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53255" y="6525768"/>
            <a:ext cx="147574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000" spc="-5" dirty="0">
                <a:latin typeface="宋体"/>
                <a:cs typeface="宋体"/>
              </a:rPr>
              <a:t>修改相关需求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13932" y="6525768"/>
            <a:ext cx="1623060" cy="227329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latin typeface="宋体"/>
                <a:cs typeface="宋体"/>
              </a:rPr>
              <a:t>修改相应的项目计划</a:t>
            </a:r>
            <a:endParaRPr sz="900">
              <a:latin typeface="宋体"/>
              <a:cs typeface="宋体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96439" y="5766815"/>
            <a:ext cx="5093335" cy="759460"/>
            <a:chOff x="1996439" y="5766815"/>
            <a:chExt cx="5093335" cy="759460"/>
          </a:xfrm>
        </p:grpSpPr>
        <p:sp>
          <p:nvSpPr>
            <p:cNvPr id="35" name="object 35"/>
            <p:cNvSpPr/>
            <p:nvPr/>
          </p:nvSpPr>
          <p:spPr>
            <a:xfrm>
              <a:off x="4357116" y="5766815"/>
              <a:ext cx="76200" cy="379730"/>
            </a:xfrm>
            <a:custGeom>
              <a:avLst/>
              <a:gdLst/>
              <a:ahLst/>
              <a:cxnLst/>
              <a:rect l="l" t="t" r="r" b="b"/>
              <a:pathLst>
                <a:path w="76200" h="379729">
                  <a:moveTo>
                    <a:pt x="31750" y="303276"/>
                  </a:moveTo>
                  <a:lnTo>
                    <a:pt x="0" y="303276"/>
                  </a:lnTo>
                  <a:lnTo>
                    <a:pt x="38100" y="379476"/>
                  </a:lnTo>
                  <a:lnTo>
                    <a:pt x="69850" y="315976"/>
                  </a:lnTo>
                  <a:lnTo>
                    <a:pt x="31750" y="315976"/>
                  </a:lnTo>
                  <a:lnTo>
                    <a:pt x="31750" y="303276"/>
                  </a:lnTo>
                  <a:close/>
                </a:path>
                <a:path w="76200" h="379729">
                  <a:moveTo>
                    <a:pt x="44450" y="0"/>
                  </a:moveTo>
                  <a:lnTo>
                    <a:pt x="31750" y="0"/>
                  </a:lnTo>
                  <a:lnTo>
                    <a:pt x="31750" y="315976"/>
                  </a:lnTo>
                  <a:lnTo>
                    <a:pt x="44450" y="315976"/>
                  </a:lnTo>
                  <a:lnTo>
                    <a:pt x="44450" y="0"/>
                  </a:lnTo>
                  <a:close/>
                </a:path>
                <a:path w="76200" h="379729">
                  <a:moveTo>
                    <a:pt x="76200" y="303276"/>
                  </a:moveTo>
                  <a:lnTo>
                    <a:pt x="44450" y="303276"/>
                  </a:lnTo>
                  <a:lnTo>
                    <a:pt x="44450" y="315976"/>
                  </a:lnTo>
                  <a:lnTo>
                    <a:pt x="69850" y="315976"/>
                  </a:lnTo>
                  <a:lnTo>
                    <a:pt x="76200" y="303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34539" y="6146291"/>
              <a:ext cx="5017135" cy="0"/>
            </a:xfrm>
            <a:custGeom>
              <a:avLst/>
              <a:gdLst/>
              <a:ahLst/>
              <a:cxnLst/>
              <a:rect l="l" t="t" r="r" b="b"/>
              <a:pathLst>
                <a:path w="5017134">
                  <a:moveTo>
                    <a:pt x="0" y="0"/>
                  </a:moveTo>
                  <a:lnTo>
                    <a:pt x="5017008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96440" y="6146291"/>
              <a:ext cx="5093335" cy="379730"/>
            </a:xfrm>
            <a:custGeom>
              <a:avLst/>
              <a:gdLst/>
              <a:ahLst/>
              <a:cxnLst/>
              <a:rect l="l" t="t" r="r" b="b"/>
              <a:pathLst>
                <a:path w="5093334" h="379729">
                  <a:moveTo>
                    <a:pt x="76200" y="303288"/>
                  </a:moveTo>
                  <a:lnTo>
                    <a:pt x="44450" y="303288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303288"/>
                  </a:lnTo>
                  <a:lnTo>
                    <a:pt x="0" y="303288"/>
                  </a:lnTo>
                  <a:lnTo>
                    <a:pt x="38100" y="379476"/>
                  </a:lnTo>
                  <a:lnTo>
                    <a:pt x="69850" y="315976"/>
                  </a:lnTo>
                  <a:lnTo>
                    <a:pt x="76200" y="303288"/>
                  </a:lnTo>
                  <a:close/>
                </a:path>
                <a:path w="5093334" h="379729">
                  <a:moveTo>
                    <a:pt x="2436876" y="303288"/>
                  </a:moveTo>
                  <a:lnTo>
                    <a:pt x="2405126" y="303288"/>
                  </a:lnTo>
                  <a:lnTo>
                    <a:pt x="2405126" y="0"/>
                  </a:lnTo>
                  <a:lnTo>
                    <a:pt x="2392426" y="0"/>
                  </a:lnTo>
                  <a:lnTo>
                    <a:pt x="2392426" y="303288"/>
                  </a:lnTo>
                  <a:lnTo>
                    <a:pt x="2360676" y="303288"/>
                  </a:lnTo>
                  <a:lnTo>
                    <a:pt x="2398776" y="379476"/>
                  </a:lnTo>
                  <a:lnTo>
                    <a:pt x="2430526" y="315976"/>
                  </a:lnTo>
                  <a:lnTo>
                    <a:pt x="2436876" y="303288"/>
                  </a:lnTo>
                  <a:close/>
                </a:path>
                <a:path w="5093334" h="379729">
                  <a:moveTo>
                    <a:pt x="5093208" y="303288"/>
                  </a:moveTo>
                  <a:lnTo>
                    <a:pt x="5061458" y="303288"/>
                  </a:lnTo>
                  <a:lnTo>
                    <a:pt x="5061458" y="0"/>
                  </a:lnTo>
                  <a:lnTo>
                    <a:pt x="5048758" y="0"/>
                  </a:lnTo>
                  <a:lnTo>
                    <a:pt x="5048758" y="303288"/>
                  </a:lnTo>
                  <a:lnTo>
                    <a:pt x="5017008" y="303288"/>
                  </a:lnTo>
                  <a:lnTo>
                    <a:pt x="5055108" y="379476"/>
                  </a:lnTo>
                  <a:lnTo>
                    <a:pt x="5086858" y="315976"/>
                  </a:lnTo>
                  <a:lnTo>
                    <a:pt x="5093208" y="3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147" y="234042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1595" y="2058923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2147" y="32992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595" y="3017520"/>
            <a:ext cx="483234" cy="8661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2147" y="42600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1595" y="3977640"/>
            <a:ext cx="50482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2147" y="522109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1595" y="4939284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039" y="2058923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6035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205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软件需求管理过程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4704" y="3017520"/>
            <a:ext cx="4628515" cy="8661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6039" y="3977640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6227" y="4939284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需求建模的基本方法介绍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398" y="1690877"/>
            <a:ext cx="8153400" cy="2809240"/>
          </a:xfrm>
          <a:custGeom>
            <a:avLst/>
            <a:gdLst/>
            <a:ahLst/>
            <a:cxnLst/>
            <a:rect l="l" t="t" r="r" b="b"/>
            <a:pathLst>
              <a:path w="8153400" h="2809240">
                <a:moveTo>
                  <a:pt x="0" y="2808732"/>
                </a:moveTo>
                <a:lnTo>
                  <a:pt x="8153400" y="2808732"/>
                </a:lnTo>
                <a:lnTo>
                  <a:pt x="8153400" y="0"/>
                </a:lnTo>
                <a:lnTo>
                  <a:pt x="0" y="0"/>
                </a:lnTo>
                <a:lnTo>
                  <a:pt x="0" y="280873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7466" y="1604619"/>
            <a:ext cx="3396615" cy="23317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latin typeface="华文新魏"/>
                <a:cs typeface="华文新魏"/>
              </a:rPr>
              <a:t>传统方法:</a:t>
            </a:r>
            <a:endParaRPr sz="32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原型方法</a:t>
            </a:r>
            <a:endParaRPr sz="32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基于数据流建模</a:t>
            </a:r>
            <a:endParaRPr sz="32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基于UML建模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398" y="4676394"/>
            <a:ext cx="8153400" cy="76517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10"/>
              </a:spcBef>
              <a:tabLst>
                <a:tab pos="622935" algn="l"/>
              </a:tabLst>
            </a:pPr>
            <a:r>
              <a:rPr sz="1900" spc="5" dirty="0">
                <a:solidFill>
                  <a:srgbClr val="DD8046"/>
                </a:solidFill>
                <a:latin typeface="华文新魏"/>
                <a:cs typeface="华文新魏"/>
              </a:rPr>
              <a:t>1.	</a:t>
            </a:r>
            <a:r>
              <a:rPr sz="3200" dirty="0">
                <a:latin typeface="华文新魏"/>
                <a:cs typeface="华文新魏"/>
              </a:rPr>
              <a:t>敏捷方法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15000" cy="68579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9855" y="0"/>
              <a:ext cx="5724143" cy="68579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传统需求建模的基本方法介绍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361" y="2001773"/>
            <a:ext cx="7542530" cy="2807335"/>
          </a:xfrm>
          <a:custGeom>
            <a:avLst/>
            <a:gdLst/>
            <a:ahLst/>
            <a:cxnLst/>
            <a:rect l="l" t="t" r="r" b="b"/>
            <a:pathLst>
              <a:path w="7542530" h="2807335">
                <a:moveTo>
                  <a:pt x="0" y="2807208"/>
                </a:moveTo>
                <a:lnTo>
                  <a:pt x="7542276" y="2807208"/>
                </a:lnTo>
                <a:lnTo>
                  <a:pt x="7542276" y="0"/>
                </a:lnTo>
                <a:lnTo>
                  <a:pt x="0" y="0"/>
                </a:lnTo>
                <a:lnTo>
                  <a:pt x="0" y="2807208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2344" y="1913427"/>
            <a:ext cx="3395345" cy="17545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32765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原型方法</a:t>
            </a:r>
            <a:endParaRPr sz="3200">
              <a:latin typeface="华文新魏"/>
              <a:cs typeface="华文新魏"/>
            </a:endParaRPr>
          </a:p>
          <a:p>
            <a:pPr marL="532765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基于数据流建模</a:t>
            </a:r>
            <a:endParaRPr sz="3200">
              <a:latin typeface="华文新魏"/>
              <a:cs typeface="华文新魏"/>
            </a:endParaRPr>
          </a:p>
          <a:p>
            <a:pPr marL="532765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基于UML建模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55" y="1981200"/>
            <a:ext cx="57759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05257"/>
            <a:ext cx="3067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1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、原型方法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1009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761" y="1905761"/>
            <a:ext cx="1905000" cy="605155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3200" dirty="0">
                <a:latin typeface="宋体"/>
                <a:cs typeface="宋体"/>
              </a:rPr>
              <a:t>需求分析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34561" y="3201161"/>
            <a:ext cx="1905000" cy="605155"/>
          </a:xfrm>
          <a:custGeom>
            <a:avLst/>
            <a:gdLst/>
            <a:ahLst/>
            <a:cxnLst/>
            <a:rect l="l" t="t" r="r" b="b"/>
            <a:pathLst>
              <a:path w="1905000" h="605154">
                <a:moveTo>
                  <a:pt x="0" y="605027"/>
                </a:moveTo>
                <a:lnTo>
                  <a:pt x="1905000" y="605027"/>
                </a:lnTo>
                <a:lnTo>
                  <a:pt x="1905000" y="0"/>
                </a:lnTo>
                <a:lnTo>
                  <a:pt x="0" y="0"/>
                </a:lnTo>
                <a:lnTo>
                  <a:pt x="0" y="60502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3175" y="3228213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原型开发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3961" y="5029961"/>
            <a:ext cx="1905000" cy="60515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3200" dirty="0">
                <a:latin typeface="宋体"/>
                <a:cs typeface="宋体"/>
              </a:rPr>
              <a:t>原型评价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70354" y="2196083"/>
            <a:ext cx="5474970" cy="3175635"/>
          </a:xfrm>
          <a:custGeom>
            <a:avLst/>
            <a:gdLst/>
            <a:ahLst/>
            <a:cxnLst/>
            <a:rect l="l" t="t" r="r" b="b"/>
            <a:pathLst>
              <a:path w="5474970" h="3175635">
                <a:moveTo>
                  <a:pt x="38862" y="3099054"/>
                </a:moveTo>
                <a:lnTo>
                  <a:pt x="12954" y="3099054"/>
                </a:lnTo>
                <a:lnTo>
                  <a:pt x="12954" y="3124962"/>
                </a:lnTo>
                <a:lnTo>
                  <a:pt x="38862" y="3124962"/>
                </a:lnTo>
                <a:lnTo>
                  <a:pt x="38862" y="3099054"/>
                </a:lnTo>
                <a:close/>
              </a:path>
              <a:path w="5474970" h="3175635">
                <a:moveTo>
                  <a:pt x="38862" y="3047238"/>
                </a:moveTo>
                <a:lnTo>
                  <a:pt x="12954" y="3047238"/>
                </a:lnTo>
                <a:lnTo>
                  <a:pt x="12954" y="3073146"/>
                </a:lnTo>
                <a:lnTo>
                  <a:pt x="38862" y="3073146"/>
                </a:lnTo>
                <a:lnTo>
                  <a:pt x="38862" y="3047238"/>
                </a:lnTo>
                <a:close/>
              </a:path>
              <a:path w="5474970" h="3175635">
                <a:moveTo>
                  <a:pt x="38862" y="2995422"/>
                </a:moveTo>
                <a:lnTo>
                  <a:pt x="12954" y="2995422"/>
                </a:lnTo>
                <a:lnTo>
                  <a:pt x="12954" y="3021330"/>
                </a:lnTo>
                <a:lnTo>
                  <a:pt x="38862" y="3021330"/>
                </a:lnTo>
                <a:lnTo>
                  <a:pt x="38862" y="2995422"/>
                </a:lnTo>
                <a:close/>
              </a:path>
              <a:path w="5474970" h="3175635">
                <a:moveTo>
                  <a:pt x="38862" y="2943606"/>
                </a:moveTo>
                <a:lnTo>
                  <a:pt x="12954" y="2943606"/>
                </a:lnTo>
                <a:lnTo>
                  <a:pt x="12954" y="2969514"/>
                </a:lnTo>
                <a:lnTo>
                  <a:pt x="38862" y="2969514"/>
                </a:lnTo>
                <a:lnTo>
                  <a:pt x="38862" y="2943606"/>
                </a:lnTo>
                <a:close/>
              </a:path>
              <a:path w="5474970" h="3175635">
                <a:moveTo>
                  <a:pt x="38862" y="2891790"/>
                </a:moveTo>
                <a:lnTo>
                  <a:pt x="12954" y="2891790"/>
                </a:lnTo>
                <a:lnTo>
                  <a:pt x="12954" y="2917698"/>
                </a:lnTo>
                <a:lnTo>
                  <a:pt x="38862" y="2917698"/>
                </a:lnTo>
                <a:lnTo>
                  <a:pt x="38862" y="2891790"/>
                </a:lnTo>
                <a:close/>
              </a:path>
              <a:path w="5474970" h="3175635">
                <a:moveTo>
                  <a:pt x="38862" y="2839974"/>
                </a:moveTo>
                <a:lnTo>
                  <a:pt x="12954" y="2839974"/>
                </a:lnTo>
                <a:lnTo>
                  <a:pt x="12954" y="2865882"/>
                </a:lnTo>
                <a:lnTo>
                  <a:pt x="38862" y="2865882"/>
                </a:lnTo>
                <a:lnTo>
                  <a:pt x="38862" y="2839974"/>
                </a:lnTo>
                <a:close/>
              </a:path>
              <a:path w="5474970" h="3175635">
                <a:moveTo>
                  <a:pt x="38862" y="2788158"/>
                </a:moveTo>
                <a:lnTo>
                  <a:pt x="12954" y="2788158"/>
                </a:lnTo>
                <a:lnTo>
                  <a:pt x="12954" y="2814066"/>
                </a:lnTo>
                <a:lnTo>
                  <a:pt x="38862" y="2814066"/>
                </a:lnTo>
                <a:lnTo>
                  <a:pt x="38862" y="2788158"/>
                </a:lnTo>
                <a:close/>
              </a:path>
              <a:path w="5474970" h="3175635">
                <a:moveTo>
                  <a:pt x="38862" y="2736342"/>
                </a:moveTo>
                <a:lnTo>
                  <a:pt x="12954" y="2736342"/>
                </a:lnTo>
                <a:lnTo>
                  <a:pt x="12954" y="2762250"/>
                </a:lnTo>
                <a:lnTo>
                  <a:pt x="38862" y="2762250"/>
                </a:lnTo>
                <a:lnTo>
                  <a:pt x="38862" y="2736342"/>
                </a:lnTo>
                <a:close/>
              </a:path>
              <a:path w="5474970" h="3175635">
                <a:moveTo>
                  <a:pt x="38862" y="2684526"/>
                </a:moveTo>
                <a:lnTo>
                  <a:pt x="12954" y="2684526"/>
                </a:lnTo>
                <a:lnTo>
                  <a:pt x="12954" y="2710434"/>
                </a:lnTo>
                <a:lnTo>
                  <a:pt x="38862" y="2710434"/>
                </a:lnTo>
                <a:lnTo>
                  <a:pt x="38862" y="2684526"/>
                </a:lnTo>
                <a:close/>
              </a:path>
              <a:path w="5474970" h="3175635">
                <a:moveTo>
                  <a:pt x="38862" y="2632710"/>
                </a:moveTo>
                <a:lnTo>
                  <a:pt x="12954" y="2632710"/>
                </a:lnTo>
                <a:lnTo>
                  <a:pt x="12954" y="2658618"/>
                </a:lnTo>
                <a:lnTo>
                  <a:pt x="38862" y="2658618"/>
                </a:lnTo>
                <a:lnTo>
                  <a:pt x="38862" y="2632710"/>
                </a:lnTo>
                <a:close/>
              </a:path>
              <a:path w="5474970" h="3175635">
                <a:moveTo>
                  <a:pt x="38862" y="2580894"/>
                </a:moveTo>
                <a:lnTo>
                  <a:pt x="12954" y="2580894"/>
                </a:lnTo>
                <a:lnTo>
                  <a:pt x="12954" y="2606802"/>
                </a:lnTo>
                <a:lnTo>
                  <a:pt x="38862" y="2606802"/>
                </a:lnTo>
                <a:lnTo>
                  <a:pt x="38862" y="2580894"/>
                </a:lnTo>
                <a:close/>
              </a:path>
              <a:path w="5474970" h="3175635">
                <a:moveTo>
                  <a:pt x="38862" y="2529078"/>
                </a:moveTo>
                <a:lnTo>
                  <a:pt x="12954" y="2529078"/>
                </a:lnTo>
                <a:lnTo>
                  <a:pt x="12954" y="2554986"/>
                </a:lnTo>
                <a:lnTo>
                  <a:pt x="38862" y="2554986"/>
                </a:lnTo>
                <a:lnTo>
                  <a:pt x="38862" y="2529078"/>
                </a:lnTo>
                <a:close/>
              </a:path>
              <a:path w="5474970" h="3175635">
                <a:moveTo>
                  <a:pt x="38862" y="2477262"/>
                </a:moveTo>
                <a:lnTo>
                  <a:pt x="12954" y="2477262"/>
                </a:lnTo>
                <a:lnTo>
                  <a:pt x="12954" y="2503170"/>
                </a:lnTo>
                <a:lnTo>
                  <a:pt x="38862" y="2503170"/>
                </a:lnTo>
                <a:lnTo>
                  <a:pt x="38862" y="2477262"/>
                </a:lnTo>
                <a:close/>
              </a:path>
              <a:path w="5474970" h="3175635">
                <a:moveTo>
                  <a:pt x="38862" y="2425446"/>
                </a:moveTo>
                <a:lnTo>
                  <a:pt x="12954" y="2425446"/>
                </a:lnTo>
                <a:lnTo>
                  <a:pt x="12954" y="2451354"/>
                </a:lnTo>
                <a:lnTo>
                  <a:pt x="38862" y="2451354"/>
                </a:lnTo>
                <a:lnTo>
                  <a:pt x="38862" y="2425446"/>
                </a:lnTo>
                <a:close/>
              </a:path>
              <a:path w="5474970" h="3175635">
                <a:moveTo>
                  <a:pt x="38862" y="2373630"/>
                </a:moveTo>
                <a:lnTo>
                  <a:pt x="12954" y="2373630"/>
                </a:lnTo>
                <a:lnTo>
                  <a:pt x="12954" y="2399538"/>
                </a:lnTo>
                <a:lnTo>
                  <a:pt x="38862" y="2399538"/>
                </a:lnTo>
                <a:lnTo>
                  <a:pt x="38862" y="2373630"/>
                </a:lnTo>
                <a:close/>
              </a:path>
              <a:path w="5474970" h="3175635">
                <a:moveTo>
                  <a:pt x="38862" y="2321814"/>
                </a:moveTo>
                <a:lnTo>
                  <a:pt x="12954" y="2321814"/>
                </a:lnTo>
                <a:lnTo>
                  <a:pt x="12954" y="2347722"/>
                </a:lnTo>
                <a:lnTo>
                  <a:pt x="38862" y="2347722"/>
                </a:lnTo>
                <a:lnTo>
                  <a:pt x="38862" y="2321814"/>
                </a:lnTo>
                <a:close/>
              </a:path>
              <a:path w="5474970" h="3175635">
                <a:moveTo>
                  <a:pt x="38862" y="2269998"/>
                </a:moveTo>
                <a:lnTo>
                  <a:pt x="12954" y="2269998"/>
                </a:lnTo>
                <a:lnTo>
                  <a:pt x="12954" y="2295906"/>
                </a:lnTo>
                <a:lnTo>
                  <a:pt x="38862" y="2295906"/>
                </a:lnTo>
                <a:lnTo>
                  <a:pt x="38862" y="2269998"/>
                </a:lnTo>
                <a:close/>
              </a:path>
              <a:path w="5474970" h="3175635">
                <a:moveTo>
                  <a:pt x="38862" y="2218182"/>
                </a:moveTo>
                <a:lnTo>
                  <a:pt x="12954" y="2218182"/>
                </a:lnTo>
                <a:lnTo>
                  <a:pt x="12954" y="2244090"/>
                </a:lnTo>
                <a:lnTo>
                  <a:pt x="38862" y="2244090"/>
                </a:lnTo>
                <a:lnTo>
                  <a:pt x="38862" y="2218182"/>
                </a:lnTo>
                <a:close/>
              </a:path>
              <a:path w="5474970" h="3175635">
                <a:moveTo>
                  <a:pt x="38862" y="2166366"/>
                </a:moveTo>
                <a:lnTo>
                  <a:pt x="12954" y="2166366"/>
                </a:lnTo>
                <a:lnTo>
                  <a:pt x="12954" y="2192274"/>
                </a:lnTo>
                <a:lnTo>
                  <a:pt x="38862" y="2192274"/>
                </a:lnTo>
                <a:lnTo>
                  <a:pt x="38862" y="2166366"/>
                </a:lnTo>
                <a:close/>
              </a:path>
              <a:path w="5474970" h="3175635">
                <a:moveTo>
                  <a:pt x="38862" y="2114550"/>
                </a:moveTo>
                <a:lnTo>
                  <a:pt x="12954" y="2114550"/>
                </a:lnTo>
                <a:lnTo>
                  <a:pt x="12954" y="2140458"/>
                </a:lnTo>
                <a:lnTo>
                  <a:pt x="38862" y="2140458"/>
                </a:lnTo>
                <a:lnTo>
                  <a:pt x="38862" y="2114550"/>
                </a:lnTo>
                <a:close/>
              </a:path>
              <a:path w="5474970" h="3175635">
                <a:moveTo>
                  <a:pt x="38862" y="2062734"/>
                </a:moveTo>
                <a:lnTo>
                  <a:pt x="12954" y="2062734"/>
                </a:lnTo>
                <a:lnTo>
                  <a:pt x="12954" y="2088642"/>
                </a:lnTo>
                <a:lnTo>
                  <a:pt x="38862" y="2088642"/>
                </a:lnTo>
                <a:lnTo>
                  <a:pt x="38862" y="2062734"/>
                </a:lnTo>
                <a:close/>
              </a:path>
              <a:path w="5474970" h="3175635">
                <a:moveTo>
                  <a:pt x="38862" y="2010918"/>
                </a:moveTo>
                <a:lnTo>
                  <a:pt x="12954" y="2010918"/>
                </a:lnTo>
                <a:lnTo>
                  <a:pt x="12954" y="2036826"/>
                </a:lnTo>
                <a:lnTo>
                  <a:pt x="38862" y="2036826"/>
                </a:lnTo>
                <a:lnTo>
                  <a:pt x="38862" y="2010918"/>
                </a:lnTo>
                <a:close/>
              </a:path>
              <a:path w="5474970" h="3175635">
                <a:moveTo>
                  <a:pt x="38862" y="1959102"/>
                </a:moveTo>
                <a:lnTo>
                  <a:pt x="12954" y="1959102"/>
                </a:lnTo>
                <a:lnTo>
                  <a:pt x="12954" y="1985010"/>
                </a:lnTo>
                <a:lnTo>
                  <a:pt x="38862" y="1985010"/>
                </a:lnTo>
                <a:lnTo>
                  <a:pt x="38862" y="1959102"/>
                </a:lnTo>
                <a:close/>
              </a:path>
              <a:path w="5474970" h="3175635">
                <a:moveTo>
                  <a:pt x="38862" y="1907286"/>
                </a:moveTo>
                <a:lnTo>
                  <a:pt x="12954" y="1907286"/>
                </a:lnTo>
                <a:lnTo>
                  <a:pt x="12954" y="1933194"/>
                </a:lnTo>
                <a:lnTo>
                  <a:pt x="38862" y="1933194"/>
                </a:lnTo>
                <a:lnTo>
                  <a:pt x="38862" y="1907286"/>
                </a:lnTo>
                <a:close/>
              </a:path>
              <a:path w="5474970" h="3175635">
                <a:moveTo>
                  <a:pt x="38862" y="1855470"/>
                </a:moveTo>
                <a:lnTo>
                  <a:pt x="12954" y="1855470"/>
                </a:lnTo>
                <a:lnTo>
                  <a:pt x="12954" y="1881378"/>
                </a:lnTo>
                <a:lnTo>
                  <a:pt x="38862" y="1881378"/>
                </a:lnTo>
                <a:lnTo>
                  <a:pt x="38862" y="1855470"/>
                </a:lnTo>
                <a:close/>
              </a:path>
              <a:path w="5474970" h="3175635">
                <a:moveTo>
                  <a:pt x="38862" y="1803654"/>
                </a:moveTo>
                <a:lnTo>
                  <a:pt x="12954" y="1803654"/>
                </a:lnTo>
                <a:lnTo>
                  <a:pt x="12954" y="1829562"/>
                </a:lnTo>
                <a:lnTo>
                  <a:pt x="38862" y="1829562"/>
                </a:lnTo>
                <a:lnTo>
                  <a:pt x="38862" y="1803654"/>
                </a:lnTo>
                <a:close/>
              </a:path>
              <a:path w="5474970" h="3175635">
                <a:moveTo>
                  <a:pt x="38862" y="1751838"/>
                </a:moveTo>
                <a:lnTo>
                  <a:pt x="12954" y="1751838"/>
                </a:lnTo>
                <a:lnTo>
                  <a:pt x="12954" y="1777746"/>
                </a:lnTo>
                <a:lnTo>
                  <a:pt x="38862" y="1777746"/>
                </a:lnTo>
                <a:lnTo>
                  <a:pt x="38862" y="1751838"/>
                </a:lnTo>
                <a:close/>
              </a:path>
              <a:path w="5474970" h="3175635">
                <a:moveTo>
                  <a:pt x="38862" y="1700022"/>
                </a:moveTo>
                <a:lnTo>
                  <a:pt x="12954" y="1700022"/>
                </a:lnTo>
                <a:lnTo>
                  <a:pt x="12954" y="1725930"/>
                </a:lnTo>
                <a:lnTo>
                  <a:pt x="38862" y="1725930"/>
                </a:lnTo>
                <a:lnTo>
                  <a:pt x="38862" y="1700022"/>
                </a:lnTo>
                <a:close/>
              </a:path>
              <a:path w="5474970" h="3175635">
                <a:moveTo>
                  <a:pt x="38862" y="1648206"/>
                </a:moveTo>
                <a:lnTo>
                  <a:pt x="12954" y="1648206"/>
                </a:lnTo>
                <a:lnTo>
                  <a:pt x="12954" y="1674114"/>
                </a:lnTo>
                <a:lnTo>
                  <a:pt x="38862" y="1674114"/>
                </a:lnTo>
                <a:lnTo>
                  <a:pt x="38862" y="1648206"/>
                </a:lnTo>
                <a:close/>
              </a:path>
              <a:path w="5474970" h="3175635">
                <a:moveTo>
                  <a:pt x="38862" y="1596390"/>
                </a:moveTo>
                <a:lnTo>
                  <a:pt x="12954" y="1596390"/>
                </a:lnTo>
                <a:lnTo>
                  <a:pt x="12954" y="1622298"/>
                </a:lnTo>
                <a:lnTo>
                  <a:pt x="38862" y="1622298"/>
                </a:lnTo>
                <a:lnTo>
                  <a:pt x="38862" y="1596390"/>
                </a:lnTo>
                <a:close/>
              </a:path>
              <a:path w="5474970" h="3175635">
                <a:moveTo>
                  <a:pt x="38862" y="1544574"/>
                </a:moveTo>
                <a:lnTo>
                  <a:pt x="12954" y="1544574"/>
                </a:lnTo>
                <a:lnTo>
                  <a:pt x="12954" y="1570482"/>
                </a:lnTo>
                <a:lnTo>
                  <a:pt x="38862" y="1570482"/>
                </a:lnTo>
                <a:lnTo>
                  <a:pt x="38862" y="1544574"/>
                </a:lnTo>
                <a:close/>
              </a:path>
              <a:path w="5474970" h="3175635">
                <a:moveTo>
                  <a:pt x="38862" y="1492758"/>
                </a:moveTo>
                <a:lnTo>
                  <a:pt x="12954" y="1492758"/>
                </a:lnTo>
                <a:lnTo>
                  <a:pt x="12954" y="1518666"/>
                </a:lnTo>
                <a:lnTo>
                  <a:pt x="38862" y="1518666"/>
                </a:lnTo>
                <a:lnTo>
                  <a:pt x="38862" y="1492758"/>
                </a:lnTo>
                <a:close/>
              </a:path>
              <a:path w="5474970" h="3175635">
                <a:moveTo>
                  <a:pt x="38862" y="1440942"/>
                </a:moveTo>
                <a:lnTo>
                  <a:pt x="12954" y="1440942"/>
                </a:lnTo>
                <a:lnTo>
                  <a:pt x="12954" y="1466850"/>
                </a:lnTo>
                <a:lnTo>
                  <a:pt x="38862" y="1466850"/>
                </a:lnTo>
                <a:lnTo>
                  <a:pt x="38862" y="1440942"/>
                </a:lnTo>
                <a:close/>
              </a:path>
              <a:path w="5474970" h="3175635">
                <a:moveTo>
                  <a:pt x="38862" y="1389126"/>
                </a:moveTo>
                <a:lnTo>
                  <a:pt x="12954" y="1389126"/>
                </a:lnTo>
                <a:lnTo>
                  <a:pt x="12954" y="1415034"/>
                </a:lnTo>
                <a:lnTo>
                  <a:pt x="38862" y="1415034"/>
                </a:lnTo>
                <a:lnTo>
                  <a:pt x="38862" y="1389126"/>
                </a:lnTo>
                <a:close/>
              </a:path>
              <a:path w="5474970" h="3175635">
                <a:moveTo>
                  <a:pt x="38862" y="1337322"/>
                </a:moveTo>
                <a:lnTo>
                  <a:pt x="12954" y="1337322"/>
                </a:lnTo>
                <a:lnTo>
                  <a:pt x="12954" y="1363218"/>
                </a:lnTo>
                <a:lnTo>
                  <a:pt x="38862" y="1363218"/>
                </a:lnTo>
                <a:lnTo>
                  <a:pt x="38862" y="1337322"/>
                </a:lnTo>
                <a:close/>
              </a:path>
              <a:path w="5474970" h="3175635">
                <a:moveTo>
                  <a:pt x="38862" y="1285494"/>
                </a:moveTo>
                <a:lnTo>
                  <a:pt x="12954" y="1285494"/>
                </a:lnTo>
                <a:lnTo>
                  <a:pt x="12954" y="1311402"/>
                </a:lnTo>
                <a:lnTo>
                  <a:pt x="38862" y="1311402"/>
                </a:lnTo>
                <a:lnTo>
                  <a:pt x="38862" y="1285494"/>
                </a:lnTo>
                <a:close/>
              </a:path>
              <a:path w="5474970" h="3175635">
                <a:moveTo>
                  <a:pt x="38862" y="1233678"/>
                </a:moveTo>
                <a:lnTo>
                  <a:pt x="12954" y="1233678"/>
                </a:lnTo>
                <a:lnTo>
                  <a:pt x="12954" y="1259586"/>
                </a:lnTo>
                <a:lnTo>
                  <a:pt x="38862" y="1259586"/>
                </a:lnTo>
                <a:lnTo>
                  <a:pt x="38862" y="1233678"/>
                </a:lnTo>
                <a:close/>
              </a:path>
              <a:path w="5474970" h="3175635">
                <a:moveTo>
                  <a:pt x="38862" y="1181862"/>
                </a:moveTo>
                <a:lnTo>
                  <a:pt x="12954" y="1181862"/>
                </a:lnTo>
                <a:lnTo>
                  <a:pt x="12954" y="1207770"/>
                </a:lnTo>
                <a:lnTo>
                  <a:pt x="38862" y="1207770"/>
                </a:lnTo>
                <a:lnTo>
                  <a:pt x="38862" y="1181862"/>
                </a:lnTo>
                <a:close/>
              </a:path>
              <a:path w="5474970" h="3175635">
                <a:moveTo>
                  <a:pt x="38862" y="1130046"/>
                </a:moveTo>
                <a:lnTo>
                  <a:pt x="12954" y="1130046"/>
                </a:lnTo>
                <a:lnTo>
                  <a:pt x="12954" y="1155954"/>
                </a:lnTo>
                <a:lnTo>
                  <a:pt x="38862" y="1155954"/>
                </a:lnTo>
                <a:lnTo>
                  <a:pt x="38862" y="1130046"/>
                </a:lnTo>
                <a:close/>
              </a:path>
              <a:path w="5474970" h="3175635">
                <a:moveTo>
                  <a:pt x="38862" y="1078230"/>
                </a:moveTo>
                <a:lnTo>
                  <a:pt x="12954" y="1078230"/>
                </a:lnTo>
                <a:lnTo>
                  <a:pt x="12954" y="1104138"/>
                </a:lnTo>
                <a:lnTo>
                  <a:pt x="38862" y="1104138"/>
                </a:lnTo>
                <a:lnTo>
                  <a:pt x="38862" y="1078230"/>
                </a:lnTo>
                <a:close/>
              </a:path>
              <a:path w="5474970" h="3175635">
                <a:moveTo>
                  <a:pt x="38862" y="1026414"/>
                </a:moveTo>
                <a:lnTo>
                  <a:pt x="12954" y="1026414"/>
                </a:lnTo>
                <a:lnTo>
                  <a:pt x="12954" y="1052322"/>
                </a:lnTo>
                <a:lnTo>
                  <a:pt x="38862" y="1052322"/>
                </a:lnTo>
                <a:lnTo>
                  <a:pt x="38862" y="1026414"/>
                </a:lnTo>
                <a:close/>
              </a:path>
              <a:path w="5474970" h="3175635">
                <a:moveTo>
                  <a:pt x="38862" y="974598"/>
                </a:moveTo>
                <a:lnTo>
                  <a:pt x="12954" y="974598"/>
                </a:lnTo>
                <a:lnTo>
                  <a:pt x="12954" y="1000506"/>
                </a:lnTo>
                <a:lnTo>
                  <a:pt x="38862" y="1000506"/>
                </a:lnTo>
                <a:lnTo>
                  <a:pt x="38862" y="974598"/>
                </a:lnTo>
                <a:close/>
              </a:path>
              <a:path w="5474970" h="3175635">
                <a:moveTo>
                  <a:pt x="38862" y="922782"/>
                </a:moveTo>
                <a:lnTo>
                  <a:pt x="12954" y="922782"/>
                </a:lnTo>
                <a:lnTo>
                  <a:pt x="12954" y="948690"/>
                </a:lnTo>
                <a:lnTo>
                  <a:pt x="38862" y="948690"/>
                </a:lnTo>
                <a:lnTo>
                  <a:pt x="38862" y="922782"/>
                </a:lnTo>
                <a:close/>
              </a:path>
              <a:path w="5474970" h="3175635">
                <a:moveTo>
                  <a:pt x="38862" y="870966"/>
                </a:moveTo>
                <a:lnTo>
                  <a:pt x="12954" y="870966"/>
                </a:lnTo>
                <a:lnTo>
                  <a:pt x="12954" y="896874"/>
                </a:lnTo>
                <a:lnTo>
                  <a:pt x="38862" y="896874"/>
                </a:lnTo>
                <a:lnTo>
                  <a:pt x="38862" y="870966"/>
                </a:lnTo>
                <a:close/>
              </a:path>
              <a:path w="5474970" h="3175635">
                <a:moveTo>
                  <a:pt x="38862" y="819150"/>
                </a:moveTo>
                <a:lnTo>
                  <a:pt x="12954" y="819150"/>
                </a:lnTo>
                <a:lnTo>
                  <a:pt x="12954" y="845058"/>
                </a:lnTo>
                <a:lnTo>
                  <a:pt x="38862" y="845058"/>
                </a:lnTo>
                <a:lnTo>
                  <a:pt x="38862" y="819150"/>
                </a:lnTo>
                <a:close/>
              </a:path>
              <a:path w="5474970" h="3175635">
                <a:moveTo>
                  <a:pt x="38862" y="767334"/>
                </a:moveTo>
                <a:lnTo>
                  <a:pt x="12954" y="767334"/>
                </a:lnTo>
                <a:lnTo>
                  <a:pt x="12954" y="793242"/>
                </a:lnTo>
                <a:lnTo>
                  <a:pt x="38862" y="793242"/>
                </a:lnTo>
                <a:lnTo>
                  <a:pt x="38862" y="767334"/>
                </a:lnTo>
                <a:close/>
              </a:path>
              <a:path w="5474970" h="3175635">
                <a:moveTo>
                  <a:pt x="38862" y="715518"/>
                </a:moveTo>
                <a:lnTo>
                  <a:pt x="12954" y="715518"/>
                </a:lnTo>
                <a:lnTo>
                  <a:pt x="12954" y="741426"/>
                </a:lnTo>
                <a:lnTo>
                  <a:pt x="38862" y="741426"/>
                </a:lnTo>
                <a:lnTo>
                  <a:pt x="38862" y="715518"/>
                </a:lnTo>
                <a:close/>
              </a:path>
              <a:path w="5474970" h="3175635">
                <a:moveTo>
                  <a:pt x="38862" y="663702"/>
                </a:moveTo>
                <a:lnTo>
                  <a:pt x="12954" y="663702"/>
                </a:lnTo>
                <a:lnTo>
                  <a:pt x="12954" y="689610"/>
                </a:lnTo>
                <a:lnTo>
                  <a:pt x="38862" y="689610"/>
                </a:lnTo>
                <a:lnTo>
                  <a:pt x="38862" y="663702"/>
                </a:lnTo>
                <a:close/>
              </a:path>
              <a:path w="5474970" h="3175635">
                <a:moveTo>
                  <a:pt x="38862" y="611886"/>
                </a:moveTo>
                <a:lnTo>
                  <a:pt x="12954" y="611886"/>
                </a:lnTo>
                <a:lnTo>
                  <a:pt x="12954" y="637794"/>
                </a:lnTo>
                <a:lnTo>
                  <a:pt x="38862" y="637794"/>
                </a:lnTo>
                <a:lnTo>
                  <a:pt x="38862" y="611886"/>
                </a:lnTo>
                <a:close/>
              </a:path>
              <a:path w="5474970" h="3175635">
                <a:moveTo>
                  <a:pt x="38862" y="560070"/>
                </a:moveTo>
                <a:lnTo>
                  <a:pt x="12954" y="560070"/>
                </a:lnTo>
                <a:lnTo>
                  <a:pt x="12954" y="585978"/>
                </a:lnTo>
                <a:lnTo>
                  <a:pt x="38862" y="585978"/>
                </a:lnTo>
                <a:lnTo>
                  <a:pt x="38862" y="560070"/>
                </a:lnTo>
                <a:close/>
              </a:path>
              <a:path w="5474970" h="3175635">
                <a:moveTo>
                  <a:pt x="38862" y="508254"/>
                </a:moveTo>
                <a:lnTo>
                  <a:pt x="12954" y="508254"/>
                </a:lnTo>
                <a:lnTo>
                  <a:pt x="12954" y="534162"/>
                </a:lnTo>
                <a:lnTo>
                  <a:pt x="38862" y="534162"/>
                </a:lnTo>
                <a:lnTo>
                  <a:pt x="38862" y="508254"/>
                </a:lnTo>
                <a:close/>
              </a:path>
              <a:path w="5474970" h="3175635">
                <a:moveTo>
                  <a:pt x="38862" y="456438"/>
                </a:moveTo>
                <a:lnTo>
                  <a:pt x="12954" y="456438"/>
                </a:lnTo>
                <a:lnTo>
                  <a:pt x="12954" y="482346"/>
                </a:lnTo>
                <a:lnTo>
                  <a:pt x="38862" y="482346"/>
                </a:lnTo>
                <a:lnTo>
                  <a:pt x="38862" y="456438"/>
                </a:lnTo>
                <a:close/>
              </a:path>
              <a:path w="5474970" h="3175635">
                <a:moveTo>
                  <a:pt x="38862" y="404622"/>
                </a:moveTo>
                <a:lnTo>
                  <a:pt x="12954" y="404622"/>
                </a:lnTo>
                <a:lnTo>
                  <a:pt x="12954" y="430530"/>
                </a:lnTo>
                <a:lnTo>
                  <a:pt x="38862" y="430530"/>
                </a:lnTo>
                <a:lnTo>
                  <a:pt x="38862" y="404622"/>
                </a:lnTo>
                <a:close/>
              </a:path>
              <a:path w="5474970" h="3175635">
                <a:moveTo>
                  <a:pt x="51816" y="378714"/>
                </a:moveTo>
                <a:lnTo>
                  <a:pt x="38862" y="352818"/>
                </a:lnTo>
                <a:lnTo>
                  <a:pt x="25908" y="326898"/>
                </a:lnTo>
                <a:lnTo>
                  <a:pt x="12954" y="352818"/>
                </a:lnTo>
                <a:lnTo>
                  <a:pt x="0" y="378714"/>
                </a:lnTo>
                <a:lnTo>
                  <a:pt x="12954" y="365760"/>
                </a:lnTo>
                <a:lnTo>
                  <a:pt x="25895" y="352818"/>
                </a:lnTo>
                <a:lnTo>
                  <a:pt x="12954" y="365760"/>
                </a:lnTo>
                <a:lnTo>
                  <a:pt x="12954" y="378714"/>
                </a:lnTo>
                <a:lnTo>
                  <a:pt x="38862" y="378714"/>
                </a:lnTo>
                <a:lnTo>
                  <a:pt x="38862" y="365760"/>
                </a:lnTo>
                <a:lnTo>
                  <a:pt x="51816" y="378714"/>
                </a:lnTo>
                <a:close/>
              </a:path>
              <a:path w="5474970" h="3175635">
                <a:moveTo>
                  <a:pt x="65913" y="3123819"/>
                </a:moveTo>
                <a:lnTo>
                  <a:pt x="40005" y="3123819"/>
                </a:lnTo>
                <a:lnTo>
                  <a:pt x="40005" y="3149727"/>
                </a:lnTo>
                <a:lnTo>
                  <a:pt x="65913" y="3149727"/>
                </a:lnTo>
                <a:lnTo>
                  <a:pt x="65913" y="3123819"/>
                </a:lnTo>
                <a:close/>
              </a:path>
              <a:path w="5474970" h="3175635">
                <a:moveTo>
                  <a:pt x="117729" y="3123819"/>
                </a:moveTo>
                <a:lnTo>
                  <a:pt x="91821" y="3123819"/>
                </a:lnTo>
                <a:lnTo>
                  <a:pt x="91821" y="3149727"/>
                </a:lnTo>
                <a:lnTo>
                  <a:pt x="117729" y="3149727"/>
                </a:lnTo>
                <a:lnTo>
                  <a:pt x="117729" y="3123819"/>
                </a:lnTo>
                <a:close/>
              </a:path>
              <a:path w="5474970" h="3175635">
                <a:moveTo>
                  <a:pt x="169545" y="3123819"/>
                </a:moveTo>
                <a:lnTo>
                  <a:pt x="143637" y="3123819"/>
                </a:lnTo>
                <a:lnTo>
                  <a:pt x="143637" y="3149727"/>
                </a:lnTo>
                <a:lnTo>
                  <a:pt x="169545" y="3149727"/>
                </a:lnTo>
                <a:lnTo>
                  <a:pt x="169545" y="3123819"/>
                </a:lnTo>
                <a:close/>
              </a:path>
              <a:path w="5474970" h="3175635">
                <a:moveTo>
                  <a:pt x="221361" y="3123819"/>
                </a:moveTo>
                <a:lnTo>
                  <a:pt x="195453" y="3123819"/>
                </a:lnTo>
                <a:lnTo>
                  <a:pt x="195453" y="3149727"/>
                </a:lnTo>
                <a:lnTo>
                  <a:pt x="221361" y="3149727"/>
                </a:lnTo>
                <a:lnTo>
                  <a:pt x="221361" y="3123819"/>
                </a:lnTo>
                <a:close/>
              </a:path>
              <a:path w="5474970" h="3175635">
                <a:moveTo>
                  <a:pt x="273177" y="3123819"/>
                </a:moveTo>
                <a:lnTo>
                  <a:pt x="247269" y="3123819"/>
                </a:lnTo>
                <a:lnTo>
                  <a:pt x="247269" y="3149727"/>
                </a:lnTo>
                <a:lnTo>
                  <a:pt x="273177" y="3149727"/>
                </a:lnTo>
                <a:lnTo>
                  <a:pt x="273177" y="3123819"/>
                </a:lnTo>
                <a:close/>
              </a:path>
              <a:path w="5474970" h="3175635">
                <a:moveTo>
                  <a:pt x="324993" y="3123819"/>
                </a:moveTo>
                <a:lnTo>
                  <a:pt x="299085" y="3123819"/>
                </a:lnTo>
                <a:lnTo>
                  <a:pt x="299085" y="3149727"/>
                </a:lnTo>
                <a:lnTo>
                  <a:pt x="324993" y="3149727"/>
                </a:lnTo>
                <a:lnTo>
                  <a:pt x="324993" y="3123819"/>
                </a:lnTo>
                <a:close/>
              </a:path>
              <a:path w="5474970" h="3175635">
                <a:moveTo>
                  <a:pt x="376809" y="3123819"/>
                </a:moveTo>
                <a:lnTo>
                  <a:pt x="350901" y="3123819"/>
                </a:lnTo>
                <a:lnTo>
                  <a:pt x="350901" y="3149727"/>
                </a:lnTo>
                <a:lnTo>
                  <a:pt x="376809" y="3149727"/>
                </a:lnTo>
                <a:lnTo>
                  <a:pt x="376809" y="3123819"/>
                </a:lnTo>
                <a:close/>
              </a:path>
              <a:path w="5474970" h="3175635">
                <a:moveTo>
                  <a:pt x="428625" y="3123819"/>
                </a:moveTo>
                <a:lnTo>
                  <a:pt x="402717" y="3123819"/>
                </a:lnTo>
                <a:lnTo>
                  <a:pt x="402717" y="3149727"/>
                </a:lnTo>
                <a:lnTo>
                  <a:pt x="428625" y="3149727"/>
                </a:lnTo>
                <a:lnTo>
                  <a:pt x="428625" y="3123819"/>
                </a:lnTo>
                <a:close/>
              </a:path>
              <a:path w="5474970" h="3175635">
                <a:moveTo>
                  <a:pt x="480441" y="3123819"/>
                </a:moveTo>
                <a:lnTo>
                  <a:pt x="454533" y="3123819"/>
                </a:lnTo>
                <a:lnTo>
                  <a:pt x="454533" y="3149727"/>
                </a:lnTo>
                <a:lnTo>
                  <a:pt x="480441" y="3149727"/>
                </a:lnTo>
                <a:lnTo>
                  <a:pt x="480441" y="3123819"/>
                </a:lnTo>
                <a:close/>
              </a:path>
              <a:path w="5474970" h="3175635">
                <a:moveTo>
                  <a:pt x="532257" y="3123819"/>
                </a:moveTo>
                <a:lnTo>
                  <a:pt x="506349" y="3123819"/>
                </a:lnTo>
                <a:lnTo>
                  <a:pt x="506349" y="3149727"/>
                </a:lnTo>
                <a:lnTo>
                  <a:pt x="532257" y="3149727"/>
                </a:lnTo>
                <a:lnTo>
                  <a:pt x="532257" y="3123819"/>
                </a:lnTo>
                <a:close/>
              </a:path>
              <a:path w="5474970" h="3175635">
                <a:moveTo>
                  <a:pt x="584073" y="3123819"/>
                </a:moveTo>
                <a:lnTo>
                  <a:pt x="558165" y="3123819"/>
                </a:lnTo>
                <a:lnTo>
                  <a:pt x="558165" y="3149727"/>
                </a:lnTo>
                <a:lnTo>
                  <a:pt x="584073" y="3149727"/>
                </a:lnTo>
                <a:lnTo>
                  <a:pt x="584073" y="3123819"/>
                </a:lnTo>
                <a:close/>
              </a:path>
              <a:path w="5474970" h="3175635">
                <a:moveTo>
                  <a:pt x="635889" y="3123819"/>
                </a:moveTo>
                <a:lnTo>
                  <a:pt x="609981" y="3123819"/>
                </a:lnTo>
                <a:lnTo>
                  <a:pt x="609981" y="3149727"/>
                </a:lnTo>
                <a:lnTo>
                  <a:pt x="635889" y="3149727"/>
                </a:lnTo>
                <a:lnTo>
                  <a:pt x="635889" y="3123819"/>
                </a:lnTo>
                <a:close/>
              </a:path>
              <a:path w="5474970" h="3175635">
                <a:moveTo>
                  <a:pt x="687705" y="3123819"/>
                </a:moveTo>
                <a:lnTo>
                  <a:pt x="661797" y="3123819"/>
                </a:lnTo>
                <a:lnTo>
                  <a:pt x="661797" y="3149727"/>
                </a:lnTo>
                <a:lnTo>
                  <a:pt x="687705" y="3149727"/>
                </a:lnTo>
                <a:lnTo>
                  <a:pt x="687705" y="3123819"/>
                </a:lnTo>
                <a:close/>
              </a:path>
              <a:path w="5474970" h="3175635">
                <a:moveTo>
                  <a:pt x="739521" y="3123819"/>
                </a:moveTo>
                <a:lnTo>
                  <a:pt x="713613" y="3123819"/>
                </a:lnTo>
                <a:lnTo>
                  <a:pt x="713613" y="3149727"/>
                </a:lnTo>
                <a:lnTo>
                  <a:pt x="739521" y="3149727"/>
                </a:lnTo>
                <a:lnTo>
                  <a:pt x="739521" y="3123819"/>
                </a:lnTo>
                <a:close/>
              </a:path>
              <a:path w="5474970" h="3175635">
                <a:moveTo>
                  <a:pt x="791337" y="3123819"/>
                </a:moveTo>
                <a:lnTo>
                  <a:pt x="765429" y="3123819"/>
                </a:lnTo>
                <a:lnTo>
                  <a:pt x="765429" y="3149727"/>
                </a:lnTo>
                <a:lnTo>
                  <a:pt x="791337" y="3149727"/>
                </a:lnTo>
                <a:lnTo>
                  <a:pt x="791337" y="3123819"/>
                </a:lnTo>
                <a:close/>
              </a:path>
              <a:path w="5474970" h="3175635">
                <a:moveTo>
                  <a:pt x="843153" y="3123819"/>
                </a:moveTo>
                <a:lnTo>
                  <a:pt x="817245" y="3123819"/>
                </a:lnTo>
                <a:lnTo>
                  <a:pt x="817245" y="3149727"/>
                </a:lnTo>
                <a:lnTo>
                  <a:pt x="843153" y="3149727"/>
                </a:lnTo>
                <a:lnTo>
                  <a:pt x="843153" y="3123819"/>
                </a:lnTo>
                <a:close/>
              </a:path>
              <a:path w="5474970" h="3175635">
                <a:moveTo>
                  <a:pt x="894969" y="3123819"/>
                </a:moveTo>
                <a:lnTo>
                  <a:pt x="869061" y="3123819"/>
                </a:lnTo>
                <a:lnTo>
                  <a:pt x="869061" y="3149727"/>
                </a:lnTo>
                <a:lnTo>
                  <a:pt x="894969" y="3149727"/>
                </a:lnTo>
                <a:lnTo>
                  <a:pt x="894969" y="3123819"/>
                </a:lnTo>
                <a:close/>
              </a:path>
              <a:path w="5474970" h="3175635">
                <a:moveTo>
                  <a:pt x="946785" y="3123819"/>
                </a:moveTo>
                <a:lnTo>
                  <a:pt x="920877" y="3123819"/>
                </a:lnTo>
                <a:lnTo>
                  <a:pt x="920877" y="3149727"/>
                </a:lnTo>
                <a:lnTo>
                  <a:pt x="946785" y="3149727"/>
                </a:lnTo>
                <a:lnTo>
                  <a:pt x="946785" y="3123819"/>
                </a:lnTo>
                <a:close/>
              </a:path>
              <a:path w="5474970" h="3175635">
                <a:moveTo>
                  <a:pt x="998601" y="3123819"/>
                </a:moveTo>
                <a:lnTo>
                  <a:pt x="972693" y="3123819"/>
                </a:lnTo>
                <a:lnTo>
                  <a:pt x="972693" y="3149727"/>
                </a:lnTo>
                <a:lnTo>
                  <a:pt x="998601" y="3149727"/>
                </a:lnTo>
                <a:lnTo>
                  <a:pt x="998601" y="3123819"/>
                </a:lnTo>
                <a:close/>
              </a:path>
              <a:path w="5474970" h="3175635">
                <a:moveTo>
                  <a:pt x="1050417" y="3123819"/>
                </a:moveTo>
                <a:lnTo>
                  <a:pt x="1024509" y="3123819"/>
                </a:lnTo>
                <a:lnTo>
                  <a:pt x="1024509" y="3149727"/>
                </a:lnTo>
                <a:lnTo>
                  <a:pt x="1050417" y="3149727"/>
                </a:lnTo>
                <a:lnTo>
                  <a:pt x="1050417" y="3123819"/>
                </a:lnTo>
                <a:close/>
              </a:path>
              <a:path w="5474970" h="3175635">
                <a:moveTo>
                  <a:pt x="1102233" y="3123819"/>
                </a:moveTo>
                <a:lnTo>
                  <a:pt x="1076325" y="3123819"/>
                </a:lnTo>
                <a:lnTo>
                  <a:pt x="1076325" y="3149727"/>
                </a:lnTo>
                <a:lnTo>
                  <a:pt x="1102233" y="3149727"/>
                </a:lnTo>
                <a:lnTo>
                  <a:pt x="1102233" y="3123819"/>
                </a:lnTo>
                <a:close/>
              </a:path>
              <a:path w="5474970" h="3175635">
                <a:moveTo>
                  <a:pt x="1154049" y="3123819"/>
                </a:moveTo>
                <a:lnTo>
                  <a:pt x="1128141" y="3123819"/>
                </a:lnTo>
                <a:lnTo>
                  <a:pt x="1128141" y="3149727"/>
                </a:lnTo>
                <a:lnTo>
                  <a:pt x="1154049" y="3149727"/>
                </a:lnTo>
                <a:lnTo>
                  <a:pt x="1154049" y="3123819"/>
                </a:lnTo>
                <a:close/>
              </a:path>
              <a:path w="5474970" h="3175635">
                <a:moveTo>
                  <a:pt x="1205865" y="3123819"/>
                </a:moveTo>
                <a:lnTo>
                  <a:pt x="1179957" y="3123819"/>
                </a:lnTo>
                <a:lnTo>
                  <a:pt x="1179957" y="3149727"/>
                </a:lnTo>
                <a:lnTo>
                  <a:pt x="1205865" y="3149727"/>
                </a:lnTo>
                <a:lnTo>
                  <a:pt x="1205865" y="3123819"/>
                </a:lnTo>
                <a:close/>
              </a:path>
              <a:path w="5474970" h="3175635">
                <a:moveTo>
                  <a:pt x="1257681" y="3123819"/>
                </a:moveTo>
                <a:lnTo>
                  <a:pt x="1231773" y="3123819"/>
                </a:lnTo>
                <a:lnTo>
                  <a:pt x="1231773" y="3149727"/>
                </a:lnTo>
                <a:lnTo>
                  <a:pt x="1257681" y="3149727"/>
                </a:lnTo>
                <a:lnTo>
                  <a:pt x="1257681" y="3123819"/>
                </a:lnTo>
                <a:close/>
              </a:path>
              <a:path w="5474970" h="3175635">
                <a:moveTo>
                  <a:pt x="1309497" y="3123819"/>
                </a:moveTo>
                <a:lnTo>
                  <a:pt x="1283589" y="3123819"/>
                </a:lnTo>
                <a:lnTo>
                  <a:pt x="1283589" y="3149727"/>
                </a:lnTo>
                <a:lnTo>
                  <a:pt x="1309497" y="3149727"/>
                </a:lnTo>
                <a:lnTo>
                  <a:pt x="1309497" y="3123819"/>
                </a:lnTo>
                <a:close/>
              </a:path>
              <a:path w="5474970" h="3175635">
                <a:moveTo>
                  <a:pt x="1361313" y="3123819"/>
                </a:moveTo>
                <a:lnTo>
                  <a:pt x="1335405" y="3123819"/>
                </a:lnTo>
                <a:lnTo>
                  <a:pt x="1335405" y="3149727"/>
                </a:lnTo>
                <a:lnTo>
                  <a:pt x="1361313" y="3149727"/>
                </a:lnTo>
                <a:lnTo>
                  <a:pt x="1361313" y="3123819"/>
                </a:lnTo>
                <a:close/>
              </a:path>
              <a:path w="5474970" h="3175635">
                <a:moveTo>
                  <a:pt x="1413129" y="3123819"/>
                </a:moveTo>
                <a:lnTo>
                  <a:pt x="1387221" y="3123819"/>
                </a:lnTo>
                <a:lnTo>
                  <a:pt x="1387221" y="3149727"/>
                </a:lnTo>
                <a:lnTo>
                  <a:pt x="1413129" y="3149727"/>
                </a:lnTo>
                <a:lnTo>
                  <a:pt x="1413129" y="3123819"/>
                </a:lnTo>
                <a:close/>
              </a:path>
              <a:path w="5474970" h="3175635">
                <a:moveTo>
                  <a:pt x="1464945" y="3123819"/>
                </a:moveTo>
                <a:lnTo>
                  <a:pt x="1439037" y="3123819"/>
                </a:lnTo>
                <a:lnTo>
                  <a:pt x="1439037" y="3149727"/>
                </a:lnTo>
                <a:lnTo>
                  <a:pt x="1464945" y="3149727"/>
                </a:lnTo>
                <a:lnTo>
                  <a:pt x="1464945" y="3123819"/>
                </a:lnTo>
                <a:close/>
              </a:path>
              <a:path w="5474970" h="3175635">
                <a:moveTo>
                  <a:pt x="1516761" y="3123819"/>
                </a:moveTo>
                <a:lnTo>
                  <a:pt x="1490853" y="3123819"/>
                </a:lnTo>
                <a:lnTo>
                  <a:pt x="1490853" y="3149727"/>
                </a:lnTo>
                <a:lnTo>
                  <a:pt x="1516761" y="3149727"/>
                </a:lnTo>
                <a:lnTo>
                  <a:pt x="1516761" y="3123819"/>
                </a:lnTo>
                <a:close/>
              </a:path>
              <a:path w="5474970" h="3175635">
                <a:moveTo>
                  <a:pt x="1568577" y="3123819"/>
                </a:moveTo>
                <a:lnTo>
                  <a:pt x="1542669" y="3123819"/>
                </a:lnTo>
                <a:lnTo>
                  <a:pt x="1542669" y="3149727"/>
                </a:lnTo>
                <a:lnTo>
                  <a:pt x="1568577" y="3149727"/>
                </a:lnTo>
                <a:lnTo>
                  <a:pt x="1568577" y="3123819"/>
                </a:lnTo>
                <a:close/>
              </a:path>
              <a:path w="5474970" h="3175635">
                <a:moveTo>
                  <a:pt x="1620393" y="3123819"/>
                </a:moveTo>
                <a:lnTo>
                  <a:pt x="1594485" y="3123819"/>
                </a:lnTo>
                <a:lnTo>
                  <a:pt x="1594485" y="3149727"/>
                </a:lnTo>
                <a:lnTo>
                  <a:pt x="1620393" y="3149727"/>
                </a:lnTo>
                <a:lnTo>
                  <a:pt x="1620393" y="3123819"/>
                </a:lnTo>
                <a:close/>
              </a:path>
              <a:path w="5474970" h="3175635">
                <a:moveTo>
                  <a:pt x="1672209" y="3123819"/>
                </a:moveTo>
                <a:lnTo>
                  <a:pt x="1646301" y="3123819"/>
                </a:lnTo>
                <a:lnTo>
                  <a:pt x="1646301" y="3149727"/>
                </a:lnTo>
                <a:lnTo>
                  <a:pt x="1672209" y="3149727"/>
                </a:lnTo>
                <a:lnTo>
                  <a:pt x="1672209" y="3123819"/>
                </a:lnTo>
                <a:close/>
              </a:path>
              <a:path w="5474970" h="3175635">
                <a:moveTo>
                  <a:pt x="1724025" y="3123819"/>
                </a:moveTo>
                <a:lnTo>
                  <a:pt x="1698117" y="3123819"/>
                </a:lnTo>
                <a:lnTo>
                  <a:pt x="1698117" y="3149727"/>
                </a:lnTo>
                <a:lnTo>
                  <a:pt x="1724025" y="3149727"/>
                </a:lnTo>
                <a:lnTo>
                  <a:pt x="1724025" y="3123819"/>
                </a:lnTo>
                <a:close/>
              </a:path>
              <a:path w="5474970" h="3175635">
                <a:moveTo>
                  <a:pt x="1775841" y="3123819"/>
                </a:moveTo>
                <a:lnTo>
                  <a:pt x="1749933" y="3123819"/>
                </a:lnTo>
                <a:lnTo>
                  <a:pt x="1749933" y="3149727"/>
                </a:lnTo>
                <a:lnTo>
                  <a:pt x="1775841" y="3149727"/>
                </a:lnTo>
                <a:lnTo>
                  <a:pt x="1775841" y="3123819"/>
                </a:lnTo>
                <a:close/>
              </a:path>
              <a:path w="5474970" h="3175635">
                <a:moveTo>
                  <a:pt x="1827657" y="3123819"/>
                </a:moveTo>
                <a:lnTo>
                  <a:pt x="1801749" y="3123819"/>
                </a:lnTo>
                <a:lnTo>
                  <a:pt x="1801749" y="3149727"/>
                </a:lnTo>
                <a:lnTo>
                  <a:pt x="1827657" y="3149727"/>
                </a:lnTo>
                <a:lnTo>
                  <a:pt x="1827657" y="3123819"/>
                </a:lnTo>
                <a:close/>
              </a:path>
              <a:path w="5474970" h="3175635">
                <a:moveTo>
                  <a:pt x="1879473" y="3123819"/>
                </a:moveTo>
                <a:lnTo>
                  <a:pt x="1853565" y="3123819"/>
                </a:lnTo>
                <a:lnTo>
                  <a:pt x="1853565" y="3149727"/>
                </a:lnTo>
                <a:lnTo>
                  <a:pt x="1879473" y="3149727"/>
                </a:lnTo>
                <a:lnTo>
                  <a:pt x="1879473" y="3123819"/>
                </a:lnTo>
                <a:close/>
              </a:path>
              <a:path w="5474970" h="3175635">
                <a:moveTo>
                  <a:pt x="1931289" y="3123819"/>
                </a:moveTo>
                <a:lnTo>
                  <a:pt x="1905381" y="3123819"/>
                </a:lnTo>
                <a:lnTo>
                  <a:pt x="1905381" y="3149727"/>
                </a:lnTo>
                <a:lnTo>
                  <a:pt x="1931289" y="3149727"/>
                </a:lnTo>
                <a:lnTo>
                  <a:pt x="1931289" y="3123819"/>
                </a:lnTo>
                <a:close/>
              </a:path>
              <a:path w="5474970" h="3175635">
                <a:moveTo>
                  <a:pt x="1983105" y="3123819"/>
                </a:moveTo>
                <a:lnTo>
                  <a:pt x="1957197" y="3123819"/>
                </a:lnTo>
                <a:lnTo>
                  <a:pt x="1957197" y="3149727"/>
                </a:lnTo>
                <a:lnTo>
                  <a:pt x="1983105" y="3149727"/>
                </a:lnTo>
                <a:lnTo>
                  <a:pt x="1983105" y="3123819"/>
                </a:lnTo>
                <a:close/>
              </a:path>
              <a:path w="5474970" h="3175635">
                <a:moveTo>
                  <a:pt x="2034921" y="3123819"/>
                </a:moveTo>
                <a:lnTo>
                  <a:pt x="2009013" y="3123819"/>
                </a:lnTo>
                <a:lnTo>
                  <a:pt x="2009013" y="3149727"/>
                </a:lnTo>
                <a:lnTo>
                  <a:pt x="2034921" y="3149727"/>
                </a:lnTo>
                <a:lnTo>
                  <a:pt x="2034921" y="3123819"/>
                </a:lnTo>
                <a:close/>
              </a:path>
              <a:path w="5474970" h="3175635">
                <a:moveTo>
                  <a:pt x="2086737" y="3123819"/>
                </a:moveTo>
                <a:lnTo>
                  <a:pt x="2060829" y="3123819"/>
                </a:lnTo>
                <a:lnTo>
                  <a:pt x="2060829" y="3149727"/>
                </a:lnTo>
                <a:lnTo>
                  <a:pt x="2086737" y="3149727"/>
                </a:lnTo>
                <a:lnTo>
                  <a:pt x="2086737" y="3123819"/>
                </a:lnTo>
                <a:close/>
              </a:path>
              <a:path w="5474970" h="3175635">
                <a:moveTo>
                  <a:pt x="2138553" y="3123819"/>
                </a:moveTo>
                <a:lnTo>
                  <a:pt x="2112645" y="3123819"/>
                </a:lnTo>
                <a:lnTo>
                  <a:pt x="2112645" y="3149727"/>
                </a:lnTo>
                <a:lnTo>
                  <a:pt x="2138553" y="3149727"/>
                </a:lnTo>
                <a:lnTo>
                  <a:pt x="2138553" y="3123819"/>
                </a:lnTo>
                <a:close/>
              </a:path>
              <a:path w="5474970" h="3175635">
                <a:moveTo>
                  <a:pt x="2190369" y="3123819"/>
                </a:moveTo>
                <a:lnTo>
                  <a:pt x="2164461" y="3123819"/>
                </a:lnTo>
                <a:lnTo>
                  <a:pt x="2164461" y="3149727"/>
                </a:lnTo>
                <a:lnTo>
                  <a:pt x="2190369" y="3149727"/>
                </a:lnTo>
                <a:lnTo>
                  <a:pt x="2190369" y="3123819"/>
                </a:lnTo>
                <a:close/>
              </a:path>
              <a:path w="5474970" h="3175635">
                <a:moveTo>
                  <a:pt x="2242185" y="3123819"/>
                </a:moveTo>
                <a:lnTo>
                  <a:pt x="2216277" y="3123819"/>
                </a:lnTo>
                <a:lnTo>
                  <a:pt x="2216277" y="3149727"/>
                </a:lnTo>
                <a:lnTo>
                  <a:pt x="2242185" y="3149727"/>
                </a:lnTo>
                <a:lnTo>
                  <a:pt x="2242185" y="3123819"/>
                </a:lnTo>
                <a:close/>
              </a:path>
              <a:path w="5474970" h="3175635">
                <a:moveTo>
                  <a:pt x="2294001" y="3123819"/>
                </a:moveTo>
                <a:lnTo>
                  <a:pt x="2268093" y="3123819"/>
                </a:lnTo>
                <a:lnTo>
                  <a:pt x="2268093" y="3149727"/>
                </a:lnTo>
                <a:lnTo>
                  <a:pt x="2294001" y="3149727"/>
                </a:lnTo>
                <a:lnTo>
                  <a:pt x="2294001" y="3123819"/>
                </a:lnTo>
                <a:close/>
              </a:path>
              <a:path w="5474970" h="3175635">
                <a:moveTo>
                  <a:pt x="2345817" y="3123819"/>
                </a:moveTo>
                <a:lnTo>
                  <a:pt x="2319909" y="3123819"/>
                </a:lnTo>
                <a:lnTo>
                  <a:pt x="2319909" y="3149727"/>
                </a:lnTo>
                <a:lnTo>
                  <a:pt x="2345817" y="3149727"/>
                </a:lnTo>
                <a:lnTo>
                  <a:pt x="2345817" y="3123819"/>
                </a:lnTo>
                <a:close/>
              </a:path>
              <a:path w="5474970" h="3175635">
                <a:moveTo>
                  <a:pt x="2397633" y="3123819"/>
                </a:moveTo>
                <a:lnTo>
                  <a:pt x="2371725" y="3123819"/>
                </a:lnTo>
                <a:lnTo>
                  <a:pt x="2371725" y="3149727"/>
                </a:lnTo>
                <a:lnTo>
                  <a:pt x="2397633" y="3149727"/>
                </a:lnTo>
                <a:lnTo>
                  <a:pt x="2397633" y="3123819"/>
                </a:lnTo>
                <a:close/>
              </a:path>
              <a:path w="5474970" h="3175635">
                <a:moveTo>
                  <a:pt x="2449449" y="3123819"/>
                </a:moveTo>
                <a:lnTo>
                  <a:pt x="2423541" y="3123819"/>
                </a:lnTo>
                <a:lnTo>
                  <a:pt x="2423541" y="3149727"/>
                </a:lnTo>
                <a:lnTo>
                  <a:pt x="2449449" y="3149727"/>
                </a:lnTo>
                <a:lnTo>
                  <a:pt x="2449449" y="3123819"/>
                </a:lnTo>
                <a:close/>
              </a:path>
              <a:path w="5474970" h="3175635">
                <a:moveTo>
                  <a:pt x="2501265" y="3123819"/>
                </a:moveTo>
                <a:lnTo>
                  <a:pt x="2475357" y="3123819"/>
                </a:lnTo>
                <a:lnTo>
                  <a:pt x="2475357" y="3149727"/>
                </a:lnTo>
                <a:lnTo>
                  <a:pt x="2501265" y="3149727"/>
                </a:lnTo>
                <a:lnTo>
                  <a:pt x="2501265" y="3123819"/>
                </a:lnTo>
                <a:close/>
              </a:path>
              <a:path w="5474970" h="3175635">
                <a:moveTo>
                  <a:pt x="2553081" y="3123819"/>
                </a:moveTo>
                <a:lnTo>
                  <a:pt x="2527173" y="3123819"/>
                </a:lnTo>
                <a:lnTo>
                  <a:pt x="2527173" y="3149727"/>
                </a:lnTo>
                <a:lnTo>
                  <a:pt x="2553081" y="3149727"/>
                </a:lnTo>
                <a:lnTo>
                  <a:pt x="2553081" y="3123819"/>
                </a:lnTo>
                <a:close/>
              </a:path>
              <a:path w="5474970" h="3175635">
                <a:moveTo>
                  <a:pt x="2591562" y="3060954"/>
                </a:moveTo>
                <a:lnTo>
                  <a:pt x="2565654" y="3060954"/>
                </a:lnTo>
                <a:lnTo>
                  <a:pt x="2565654" y="3086862"/>
                </a:lnTo>
                <a:lnTo>
                  <a:pt x="2591562" y="3086862"/>
                </a:lnTo>
                <a:lnTo>
                  <a:pt x="2591562" y="3060954"/>
                </a:lnTo>
                <a:close/>
              </a:path>
              <a:path w="5474970" h="3175635">
                <a:moveTo>
                  <a:pt x="2591562" y="3009150"/>
                </a:moveTo>
                <a:lnTo>
                  <a:pt x="2565654" y="3009150"/>
                </a:lnTo>
                <a:lnTo>
                  <a:pt x="2565654" y="3035046"/>
                </a:lnTo>
                <a:lnTo>
                  <a:pt x="2591562" y="3035046"/>
                </a:lnTo>
                <a:lnTo>
                  <a:pt x="2591562" y="3009150"/>
                </a:lnTo>
                <a:close/>
              </a:path>
              <a:path w="5474970" h="3175635">
                <a:moveTo>
                  <a:pt x="2591562" y="2957322"/>
                </a:moveTo>
                <a:lnTo>
                  <a:pt x="2565654" y="2957322"/>
                </a:lnTo>
                <a:lnTo>
                  <a:pt x="2565654" y="2983230"/>
                </a:lnTo>
                <a:lnTo>
                  <a:pt x="2591562" y="2983230"/>
                </a:lnTo>
                <a:lnTo>
                  <a:pt x="2591562" y="2957322"/>
                </a:lnTo>
                <a:close/>
              </a:path>
              <a:path w="5474970" h="3175635">
                <a:moveTo>
                  <a:pt x="2591562" y="2905506"/>
                </a:moveTo>
                <a:lnTo>
                  <a:pt x="2565654" y="2905506"/>
                </a:lnTo>
                <a:lnTo>
                  <a:pt x="2565654" y="2931414"/>
                </a:lnTo>
                <a:lnTo>
                  <a:pt x="2591562" y="2931414"/>
                </a:lnTo>
                <a:lnTo>
                  <a:pt x="2591562" y="2905506"/>
                </a:lnTo>
                <a:close/>
              </a:path>
              <a:path w="5474970" h="3175635">
                <a:moveTo>
                  <a:pt x="2591562" y="2853690"/>
                </a:moveTo>
                <a:lnTo>
                  <a:pt x="2565654" y="2853690"/>
                </a:lnTo>
                <a:lnTo>
                  <a:pt x="2565654" y="2879598"/>
                </a:lnTo>
                <a:lnTo>
                  <a:pt x="2591562" y="2879598"/>
                </a:lnTo>
                <a:lnTo>
                  <a:pt x="2591562" y="2853690"/>
                </a:lnTo>
                <a:close/>
              </a:path>
              <a:path w="5474970" h="3175635">
                <a:moveTo>
                  <a:pt x="2591562" y="2801874"/>
                </a:moveTo>
                <a:lnTo>
                  <a:pt x="2565654" y="2801874"/>
                </a:lnTo>
                <a:lnTo>
                  <a:pt x="2565654" y="2827782"/>
                </a:lnTo>
                <a:lnTo>
                  <a:pt x="2591562" y="2827782"/>
                </a:lnTo>
                <a:lnTo>
                  <a:pt x="2591562" y="2801874"/>
                </a:lnTo>
                <a:close/>
              </a:path>
              <a:path w="5474970" h="3175635">
                <a:moveTo>
                  <a:pt x="2591562" y="2750058"/>
                </a:moveTo>
                <a:lnTo>
                  <a:pt x="2565654" y="2750058"/>
                </a:lnTo>
                <a:lnTo>
                  <a:pt x="2565654" y="2775966"/>
                </a:lnTo>
                <a:lnTo>
                  <a:pt x="2591562" y="2775966"/>
                </a:lnTo>
                <a:lnTo>
                  <a:pt x="2591562" y="2750058"/>
                </a:lnTo>
                <a:close/>
              </a:path>
              <a:path w="5474970" h="3175635">
                <a:moveTo>
                  <a:pt x="2591562" y="2698242"/>
                </a:moveTo>
                <a:lnTo>
                  <a:pt x="2565654" y="2698242"/>
                </a:lnTo>
                <a:lnTo>
                  <a:pt x="2565654" y="2724150"/>
                </a:lnTo>
                <a:lnTo>
                  <a:pt x="2591562" y="2724150"/>
                </a:lnTo>
                <a:lnTo>
                  <a:pt x="2591562" y="2698242"/>
                </a:lnTo>
                <a:close/>
              </a:path>
              <a:path w="5474970" h="3175635">
                <a:moveTo>
                  <a:pt x="2591562" y="2646426"/>
                </a:moveTo>
                <a:lnTo>
                  <a:pt x="2565654" y="2646426"/>
                </a:lnTo>
                <a:lnTo>
                  <a:pt x="2565654" y="2672334"/>
                </a:lnTo>
                <a:lnTo>
                  <a:pt x="2591562" y="2672334"/>
                </a:lnTo>
                <a:lnTo>
                  <a:pt x="2591562" y="2646426"/>
                </a:lnTo>
                <a:close/>
              </a:path>
              <a:path w="5474970" h="3175635">
                <a:moveTo>
                  <a:pt x="2591562" y="2594610"/>
                </a:moveTo>
                <a:lnTo>
                  <a:pt x="2565654" y="2594610"/>
                </a:lnTo>
                <a:lnTo>
                  <a:pt x="2565654" y="2620518"/>
                </a:lnTo>
                <a:lnTo>
                  <a:pt x="2591562" y="2620518"/>
                </a:lnTo>
                <a:lnTo>
                  <a:pt x="2591562" y="2594610"/>
                </a:lnTo>
                <a:close/>
              </a:path>
              <a:path w="5474970" h="3175635">
                <a:moveTo>
                  <a:pt x="2591562" y="2542794"/>
                </a:moveTo>
                <a:lnTo>
                  <a:pt x="2565654" y="2542794"/>
                </a:lnTo>
                <a:lnTo>
                  <a:pt x="2565654" y="2568702"/>
                </a:lnTo>
                <a:lnTo>
                  <a:pt x="2591562" y="2568702"/>
                </a:lnTo>
                <a:lnTo>
                  <a:pt x="2591562" y="2542794"/>
                </a:lnTo>
                <a:close/>
              </a:path>
              <a:path w="5474970" h="3175635">
                <a:moveTo>
                  <a:pt x="2591562" y="2490978"/>
                </a:moveTo>
                <a:lnTo>
                  <a:pt x="2565654" y="2490978"/>
                </a:lnTo>
                <a:lnTo>
                  <a:pt x="2565654" y="2516886"/>
                </a:lnTo>
                <a:lnTo>
                  <a:pt x="2591562" y="2516886"/>
                </a:lnTo>
                <a:lnTo>
                  <a:pt x="2591562" y="2490978"/>
                </a:lnTo>
                <a:close/>
              </a:path>
              <a:path w="5474970" h="3175635">
                <a:moveTo>
                  <a:pt x="2591562" y="2439162"/>
                </a:moveTo>
                <a:lnTo>
                  <a:pt x="2565654" y="2439162"/>
                </a:lnTo>
                <a:lnTo>
                  <a:pt x="2565654" y="2465070"/>
                </a:lnTo>
                <a:lnTo>
                  <a:pt x="2591562" y="2465070"/>
                </a:lnTo>
                <a:lnTo>
                  <a:pt x="2591562" y="2439162"/>
                </a:lnTo>
                <a:close/>
              </a:path>
              <a:path w="5474970" h="3175635">
                <a:moveTo>
                  <a:pt x="2591562" y="2387346"/>
                </a:moveTo>
                <a:lnTo>
                  <a:pt x="2565654" y="2387346"/>
                </a:lnTo>
                <a:lnTo>
                  <a:pt x="2565654" y="2413254"/>
                </a:lnTo>
                <a:lnTo>
                  <a:pt x="2591562" y="2413254"/>
                </a:lnTo>
                <a:lnTo>
                  <a:pt x="2591562" y="2387346"/>
                </a:lnTo>
                <a:close/>
              </a:path>
              <a:path w="5474970" h="3175635">
                <a:moveTo>
                  <a:pt x="2591562" y="2335530"/>
                </a:moveTo>
                <a:lnTo>
                  <a:pt x="2565654" y="2335530"/>
                </a:lnTo>
                <a:lnTo>
                  <a:pt x="2565654" y="2361438"/>
                </a:lnTo>
                <a:lnTo>
                  <a:pt x="2591562" y="2361438"/>
                </a:lnTo>
                <a:lnTo>
                  <a:pt x="2591562" y="2335530"/>
                </a:lnTo>
                <a:close/>
              </a:path>
              <a:path w="5474970" h="3175635">
                <a:moveTo>
                  <a:pt x="2591562" y="2283714"/>
                </a:moveTo>
                <a:lnTo>
                  <a:pt x="2565654" y="2283714"/>
                </a:lnTo>
                <a:lnTo>
                  <a:pt x="2565654" y="2309622"/>
                </a:lnTo>
                <a:lnTo>
                  <a:pt x="2591562" y="2309622"/>
                </a:lnTo>
                <a:lnTo>
                  <a:pt x="2591562" y="2283714"/>
                </a:lnTo>
                <a:close/>
              </a:path>
              <a:path w="5474970" h="3175635">
                <a:moveTo>
                  <a:pt x="2591562" y="2231898"/>
                </a:moveTo>
                <a:lnTo>
                  <a:pt x="2565654" y="2231898"/>
                </a:lnTo>
                <a:lnTo>
                  <a:pt x="2565654" y="2257806"/>
                </a:lnTo>
                <a:lnTo>
                  <a:pt x="2591562" y="2257806"/>
                </a:lnTo>
                <a:lnTo>
                  <a:pt x="2591562" y="2231898"/>
                </a:lnTo>
                <a:close/>
              </a:path>
              <a:path w="5474970" h="3175635">
                <a:moveTo>
                  <a:pt x="2591562" y="2180082"/>
                </a:moveTo>
                <a:lnTo>
                  <a:pt x="2565654" y="2180082"/>
                </a:lnTo>
                <a:lnTo>
                  <a:pt x="2565654" y="2205990"/>
                </a:lnTo>
                <a:lnTo>
                  <a:pt x="2591562" y="2205990"/>
                </a:lnTo>
                <a:lnTo>
                  <a:pt x="2591562" y="2180082"/>
                </a:lnTo>
                <a:close/>
              </a:path>
              <a:path w="5474970" h="3175635">
                <a:moveTo>
                  <a:pt x="2591562" y="2128266"/>
                </a:moveTo>
                <a:lnTo>
                  <a:pt x="2565654" y="2128266"/>
                </a:lnTo>
                <a:lnTo>
                  <a:pt x="2565654" y="2154174"/>
                </a:lnTo>
                <a:lnTo>
                  <a:pt x="2591562" y="2154174"/>
                </a:lnTo>
                <a:lnTo>
                  <a:pt x="2591562" y="2128266"/>
                </a:lnTo>
                <a:close/>
              </a:path>
              <a:path w="5474970" h="3175635">
                <a:moveTo>
                  <a:pt x="2591562" y="2076450"/>
                </a:moveTo>
                <a:lnTo>
                  <a:pt x="2565654" y="2076450"/>
                </a:lnTo>
                <a:lnTo>
                  <a:pt x="2565654" y="2102358"/>
                </a:lnTo>
                <a:lnTo>
                  <a:pt x="2591562" y="2102358"/>
                </a:lnTo>
                <a:lnTo>
                  <a:pt x="2591562" y="2076450"/>
                </a:lnTo>
                <a:close/>
              </a:path>
              <a:path w="5474970" h="3175635">
                <a:moveTo>
                  <a:pt x="2591562" y="2024634"/>
                </a:moveTo>
                <a:lnTo>
                  <a:pt x="2565654" y="2024634"/>
                </a:lnTo>
                <a:lnTo>
                  <a:pt x="2565654" y="2050542"/>
                </a:lnTo>
                <a:lnTo>
                  <a:pt x="2591562" y="2050542"/>
                </a:lnTo>
                <a:lnTo>
                  <a:pt x="2591562" y="2024634"/>
                </a:lnTo>
                <a:close/>
              </a:path>
              <a:path w="5474970" h="3175635">
                <a:moveTo>
                  <a:pt x="2591562" y="1972818"/>
                </a:moveTo>
                <a:lnTo>
                  <a:pt x="2565654" y="1972818"/>
                </a:lnTo>
                <a:lnTo>
                  <a:pt x="2565654" y="1998726"/>
                </a:lnTo>
                <a:lnTo>
                  <a:pt x="2591562" y="1998726"/>
                </a:lnTo>
                <a:lnTo>
                  <a:pt x="2591562" y="1972818"/>
                </a:lnTo>
                <a:close/>
              </a:path>
              <a:path w="5474970" h="3175635">
                <a:moveTo>
                  <a:pt x="2591562" y="1921002"/>
                </a:moveTo>
                <a:lnTo>
                  <a:pt x="2565654" y="1921002"/>
                </a:lnTo>
                <a:lnTo>
                  <a:pt x="2565654" y="1946910"/>
                </a:lnTo>
                <a:lnTo>
                  <a:pt x="2591562" y="1946910"/>
                </a:lnTo>
                <a:lnTo>
                  <a:pt x="2591562" y="1921002"/>
                </a:lnTo>
                <a:close/>
              </a:path>
              <a:path w="5474970" h="3175635">
                <a:moveTo>
                  <a:pt x="2591562" y="1869186"/>
                </a:moveTo>
                <a:lnTo>
                  <a:pt x="2565654" y="1869186"/>
                </a:lnTo>
                <a:lnTo>
                  <a:pt x="2565654" y="1895094"/>
                </a:lnTo>
                <a:lnTo>
                  <a:pt x="2591562" y="1895094"/>
                </a:lnTo>
                <a:lnTo>
                  <a:pt x="2591562" y="1869186"/>
                </a:lnTo>
                <a:close/>
              </a:path>
              <a:path w="5474970" h="3175635">
                <a:moveTo>
                  <a:pt x="2591562" y="1817370"/>
                </a:moveTo>
                <a:lnTo>
                  <a:pt x="2565654" y="1817370"/>
                </a:lnTo>
                <a:lnTo>
                  <a:pt x="2565654" y="1843278"/>
                </a:lnTo>
                <a:lnTo>
                  <a:pt x="2591562" y="1843278"/>
                </a:lnTo>
                <a:lnTo>
                  <a:pt x="2591562" y="1817370"/>
                </a:lnTo>
                <a:close/>
              </a:path>
              <a:path w="5474970" h="3175635">
                <a:moveTo>
                  <a:pt x="2591562" y="1765554"/>
                </a:moveTo>
                <a:lnTo>
                  <a:pt x="2565654" y="1765554"/>
                </a:lnTo>
                <a:lnTo>
                  <a:pt x="2565654" y="1791462"/>
                </a:lnTo>
                <a:lnTo>
                  <a:pt x="2591562" y="1791462"/>
                </a:lnTo>
                <a:lnTo>
                  <a:pt x="2591562" y="1765554"/>
                </a:lnTo>
                <a:close/>
              </a:path>
              <a:path w="5474970" h="3175635">
                <a:moveTo>
                  <a:pt x="2591562" y="1713738"/>
                </a:moveTo>
                <a:lnTo>
                  <a:pt x="2565654" y="1713738"/>
                </a:lnTo>
                <a:lnTo>
                  <a:pt x="2565654" y="1739646"/>
                </a:lnTo>
                <a:lnTo>
                  <a:pt x="2591562" y="1739646"/>
                </a:lnTo>
                <a:lnTo>
                  <a:pt x="2591562" y="1713738"/>
                </a:lnTo>
                <a:close/>
              </a:path>
              <a:path w="5474970" h="3175635">
                <a:moveTo>
                  <a:pt x="2604897" y="3123819"/>
                </a:moveTo>
                <a:lnTo>
                  <a:pt x="2591562" y="3123819"/>
                </a:lnTo>
                <a:lnTo>
                  <a:pt x="2591562" y="3112770"/>
                </a:lnTo>
                <a:lnTo>
                  <a:pt x="2565654" y="3112770"/>
                </a:lnTo>
                <a:lnTo>
                  <a:pt x="2565654" y="3138678"/>
                </a:lnTo>
                <a:lnTo>
                  <a:pt x="2578989" y="3138678"/>
                </a:lnTo>
                <a:lnTo>
                  <a:pt x="2578989" y="3149727"/>
                </a:lnTo>
                <a:lnTo>
                  <a:pt x="2604897" y="3149727"/>
                </a:lnTo>
                <a:lnTo>
                  <a:pt x="2604897" y="3123819"/>
                </a:lnTo>
                <a:close/>
              </a:path>
              <a:path w="5474970" h="3175635">
                <a:moveTo>
                  <a:pt x="2617470" y="1744218"/>
                </a:moveTo>
                <a:lnTo>
                  <a:pt x="2601925" y="1692402"/>
                </a:lnTo>
                <a:lnTo>
                  <a:pt x="2578608" y="1614678"/>
                </a:lnTo>
                <a:lnTo>
                  <a:pt x="2539746" y="1744218"/>
                </a:lnTo>
                <a:lnTo>
                  <a:pt x="2578608" y="1692402"/>
                </a:lnTo>
                <a:lnTo>
                  <a:pt x="2617470" y="1744218"/>
                </a:lnTo>
                <a:close/>
              </a:path>
              <a:path w="5474970" h="3175635">
                <a:moveTo>
                  <a:pt x="2655062" y="862838"/>
                </a:moveTo>
                <a:lnTo>
                  <a:pt x="2629154" y="897394"/>
                </a:lnTo>
                <a:lnTo>
                  <a:pt x="2616200" y="914654"/>
                </a:lnTo>
                <a:lnTo>
                  <a:pt x="2629141" y="897394"/>
                </a:lnTo>
                <a:lnTo>
                  <a:pt x="2629154" y="25908"/>
                </a:lnTo>
                <a:lnTo>
                  <a:pt x="2629154" y="12954"/>
                </a:lnTo>
                <a:lnTo>
                  <a:pt x="2629154" y="0"/>
                </a:lnTo>
                <a:lnTo>
                  <a:pt x="990600" y="0"/>
                </a:lnTo>
                <a:lnTo>
                  <a:pt x="990600" y="25908"/>
                </a:lnTo>
                <a:lnTo>
                  <a:pt x="2603246" y="25908"/>
                </a:lnTo>
                <a:lnTo>
                  <a:pt x="2603246" y="897394"/>
                </a:lnTo>
                <a:lnTo>
                  <a:pt x="2577338" y="862838"/>
                </a:lnTo>
                <a:lnTo>
                  <a:pt x="2616200" y="992378"/>
                </a:lnTo>
                <a:lnTo>
                  <a:pt x="2639517" y="914654"/>
                </a:lnTo>
                <a:lnTo>
                  <a:pt x="2655062" y="862838"/>
                </a:lnTo>
                <a:close/>
              </a:path>
              <a:path w="5474970" h="3175635">
                <a:moveTo>
                  <a:pt x="2656713" y="3123819"/>
                </a:moveTo>
                <a:lnTo>
                  <a:pt x="2630805" y="3123819"/>
                </a:lnTo>
                <a:lnTo>
                  <a:pt x="2630805" y="3149727"/>
                </a:lnTo>
                <a:lnTo>
                  <a:pt x="2656713" y="3149727"/>
                </a:lnTo>
                <a:lnTo>
                  <a:pt x="2656713" y="3123819"/>
                </a:lnTo>
                <a:close/>
              </a:path>
              <a:path w="5474970" h="3175635">
                <a:moveTo>
                  <a:pt x="2708529" y="3123819"/>
                </a:moveTo>
                <a:lnTo>
                  <a:pt x="2682621" y="3123819"/>
                </a:lnTo>
                <a:lnTo>
                  <a:pt x="2682621" y="3149727"/>
                </a:lnTo>
                <a:lnTo>
                  <a:pt x="2708529" y="3149727"/>
                </a:lnTo>
                <a:lnTo>
                  <a:pt x="2708529" y="3123819"/>
                </a:lnTo>
                <a:close/>
              </a:path>
              <a:path w="5474970" h="3175635">
                <a:moveTo>
                  <a:pt x="2760345" y="3123819"/>
                </a:moveTo>
                <a:lnTo>
                  <a:pt x="2734437" y="3123819"/>
                </a:lnTo>
                <a:lnTo>
                  <a:pt x="2734437" y="3149727"/>
                </a:lnTo>
                <a:lnTo>
                  <a:pt x="2760345" y="3149727"/>
                </a:lnTo>
                <a:lnTo>
                  <a:pt x="2760345" y="3123819"/>
                </a:lnTo>
                <a:close/>
              </a:path>
              <a:path w="5474970" h="3175635">
                <a:moveTo>
                  <a:pt x="2812161" y="3123819"/>
                </a:moveTo>
                <a:lnTo>
                  <a:pt x="2786253" y="3123819"/>
                </a:lnTo>
                <a:lnTo>
                  <a:pt x="2786253" y="3149727"/>
                </a:lnTo>
                <a:lnTo>
                  <a:pt x="2812161" y="3149727"/>
                </a:lnTo>
                <a:lnTo>
                  <a:pt x="2812161" y="3123819"/>
                </a:lnTo>
                <a:close/>
              </a:path>
              <a:path w="5474970" h="3175635">
                <a:moveTo>
                  <a:pt x="2863977" y="3123819"/>
                </a:moveTo>
                <a:lnTo>
                  <a:pt x="2838069" y="3123819"/>
                </a:lnTo>
                <a:lnTo>
                  <a:pt x="2838069" y="3149727"/>
                </a:lnTo>
                <a:lnTo>
                  <a:pt x="2863977" y="3149727"/>
                </a:lnTo>
                <a:lnTo>
                  <a:pt x="2863977" y="3123819"/>
                </a:lnTo>
                <a:close/>
              </a:path>
              <a:path w="5474970" h="3175635">
                <a:moveTo>
                  <a:pt x="2915793" y="3123819"/>
                </a:moveTo>
                <a:lnTo>
                  <a:pt x="2889885" y="3123819"/>
                </a:lnTo>
                <a:lnTo>
                  <a:pt x="2889885" y="3149727"/>
                </a:lnTo>
                <a:lnTo>
                  <a:pt x="2915793" y="3149727"/>
                </a:lnTo>
                <a:lnTo>
                  <a:pt x="2915793" y="3123819"/>
                </a:lnTo>
                <a:close/>
              </a:path>
              <a:path w="5474970" h="3175635">
                <a:moveTo>
                  <a:pt x="2967609" y="3123819"/>
                </a:moveTo>
                <a:lnTo>
                  <a:pt x="2941701" y="3123819"/>
                </a:lnTo>
                <a:lnTo>
                  <a:pt x="2941701" y="3149727"/>
                </a:lnTo>
                <a:lnTo>
                  <a:pt x="2967609" y="3149727"/>
                </a:lnTo>
                <a:lnTo>
                  <a:pt x="2967609" y="3123819"/>
                </a:lnTo>
                <a:close/>
              </a:path>
              <a:path w="5474970" h="3175635">
                <a:moveTo>
                  <a:pt x="3019425" y="3123819"/>
                </a:moveTo>
                <a:lnTo>
                  <a:pt x="2993517" y="3123819"/>
                </a:lnTo>
                <a:lnTo>
                  <a:pt x="2993517" y="3149727"/>
                </a:lnTo>
                <a:lnTo>
                  <a:pt x="3019425" y="3149727"/>
                </a:lnTo>
                <a:lnTo>
                  <a:pt x="3019425" y="3123819"/>
                </a:lnTo>
                <a:close/>
              </a:path>
              <a:path w="5474970" h="3175635">
                <a:moveTo>
                  <a:pt x="3071241" y="3123819"/>
                </a:moveTo>
                <a:lnTo>
                  <a:pt x="3045333" y="3123819"/>
                </a:lnTo>
                <a:lnTo>
                  <a:pt x="3045333" y="3149727"/>
                </a:lnTo>
                <a:lnTo>
                  <a:pt x="3071241" y="3149727"/>
                </a:lnTo>
                <a:lnTo>
                  <a:pt x="3071241" y="3123819"/>
                </a:lnTo>
                <a:close/>
              </a:path>
              <a:path w="5474970" h="3175635">
                <a:moveTo>
                  <a:pt x="3123057" y="3123819"/>
                </a:moveTo>
                <a:lnTo>
                  <a:pt x="3097149" y="3123819"/>
                </a:lnTo>
                <a:lnTo>
                  <a:pt x="3097149" y="3149727"/>
                </a:lnTo>
                <a:lnTo>
                  <a:pt x="3123057" y="3149727"/>
                </a:lnTo>
                <a:lnTo>
                  <a:pt x="3123057" y="3123819"/>
                </a:lnTo>
                <a:close/>
              </a:path>
              <a:path w="5474970" h="3175635">
                <a:moveTo>
                  <a:pt x="3174873" y="3123819"/>
                </a:moveTo>
                <a:lnTo>
                  <a:pt x="3148965" y="3123819"/>
                </a:lnTo>
                <a:lnTo>
                  <a:pt x="3148965" y="3149727"/>
                </a:lnTo>
                <a:lnTo>
                  <a:pt x="3174873" y="3149727"/>
                </a:lnTo>
                <a:lnTo>
                  <a:pt x="3174873" y="3123819"/>
                </a:lnTo>
                <a:close/>
              </a:path>
              <a:path w="5474970" h="3175635">
                <a:moveTo>
                  <a:pt x="3226689" y="3123819"/>
                </a:moveTo>
                <a:lnTo>
                  <a:pt x="3200781" y="3123819"/>
                </a:lnTo>
                <a:lnTo>
                  <a:pt x="3200781" y="3149727"/>
                </a:lnTo>
                <a:lnTo>
                  <a:pt x="3226689" y="3149727"/>
                </a:lnTo>
                <a:lnTo>
                  <a:pt x="3226689" y="3123819"/>
                </a:lnTo>
                <a:close/>
              </a:path>
              <a:path w="5474970" h="3175635">
                <a:moveTo>
                  <a:pt x="3278505" y="3123819"/>
                </a:moveTo>
                <a:lnTo>
                  <a:pt x="3252597" y="3123819"/>
                </a:lnTo>
                <a:lnTo>
                  <a:pt x="3252597" y="3149727"/>
                </a:lnTo>
                <a:lnTo>
                  <a:pt x="3278505" y="3149727"/>
                </a:lnTo>
                <a:lnTo>
                  <a:pt x="3278505" y="3123819"/>
                </a:lnTo>
                <a:close/>
              </a:path>
              <a:path w="5474970" h="3175635">
                <a:moveTo>
                  <a:pt x="3330321" y="3123819"/>
                </a:moveTo>
                <a:lnTo>
                  <a:pt x="3304413" y="3123819"/>
                </a:lnTo>
                <a:lnTo>
                  <a:pt x="3304413" y="3149727"/>
                </a:lnTo>
                <a:lnTo>
                  <a:pt x="3330321" y="3149727"/>
                </a:lnTo>
                <a:lnTo>
                  <a:pt x="3330321" y="3123819"/>
                </a:lnTo>
                <a:close/>
              </a:path>
              <a:path w="5474970" h="3175635">
                <a:moveTo>
                  <a:pt x="3382137" y="3123819"/>
                </a:moveTo>
                <a:lnTo>
                  <a:pt x="3356229" y="3123819"/>
                </a:lnTo>
                <a:lnTo>
                  <a:pt x="3356229" y="3149727"/>
                </a:lnTo>
                <a:lnTo>
                  <a:pt x="3382137" y="3149727"/>
                </a:lnTo>
                <a:lnTo>
                  <a:pt x="3382137" y="3123819"/>
                </a:lnTo>
                <a:close/>
              </a:path>
              <a:path w="5474970" h="3175635">
                <a:moveTo>
                  <a:pt x="3433953" y="3123819"/>
                </a:moveTo>
                <a:lnTo>
                  <a:pt x="3408045" y="3123819"/>
                </a:lnTo>
                <a:lnTo>
                  <a:pt x="3408045" y="3149727"/>
                </a:lnTo>
                <a:lnTo>
                  <a:pt x="3433953" y="3149727"/>
                </a:lnTo>
                <a:lnTo>
                  <a:pt x="3433953" y="3123819"/>
                </a:lnTo>
                <a:close/>
              </a:path>
              <a:path w="5474970" h="3175635">
                <a:moveTo>
                  <a:pt x="3485769" y="3123819"/>
                </a:moveTo>
                <a:lnTo>
                  <a:pt x="3459861" y="3123819"/>
                </a:lnTo>
                <a:lnTo>
                  <a:pt x="3459861" y="3149727"/>
                </a:lnTo>
                <a:lnTo>
                  <a:pt x="3485769" y="3149727"/>
                </a:lnTo>
                <a:lnTo>
                  <a:pt x="3485769" y="3123819"/>
                </a:lnTo>
                <a:close/>
              </a:path>
              <a:path w="5474970" h="3175635">
                <a:moveTo>
                  <a:pt x="3537585" y="3123819"/>
                </a:moveTo>
                <a:lnTo>
                  <a:pt x="3511677" y="3123819"/>
                </a:lnTo>
                <a:lnTo>
                  <a:pt x="3511677" y="3149727"/>
                </a:lnTo>
                <a:lnTo>
                  <a:pt x="3537585" y="3149727"/>
                </a:lnTo>
                <a:lnTo>
                  <a:pt x="3537585" y="3123819"/>
                </a:lnTo>
                <a:close/>
              </a:path>
              <a:path w="5474970" h="3175635">
                <a:moveTo>
                  <a:pt x="3589401" y="3123819"/>
                </a:moveTo>
                <a:lnTo>
                  <a:pt x="3563493" y="3123819"/>
                </a:lnTo>
                <a:lnTo>
                  <a:pt x="3563493" y="3149727"/>
                </a:lnTo>
                <a:lnTo>
                  <a:pt x="3589401" y="3149727"/>
                </a:lnTo>
                <a:lnTo>
                  <a:pt x="3589401" y="3123819"/>
                </a:lnTo>
                <a:close/>
              </a:path>
              <a:path w="5474970" h="3175635">
                <a:moveTo>
                  <a:pt x="3641217" y="3123819"/>
                </a:moveTo>
                <a:lnTo>
                  <a:pt x="3615309" y="3123819"/>
                </a:lnTo>
                <a:lnTo>
                  <a:pt x="3615309" y="3149727"/>
                </a:lnTo>
                <a:lnTo>
                  <a:pt x="3641217" y="3149727"/>
                </a:lnTo>
                <a:lnTo>
                  <a:pt x="3641217" y="3123819"/>
                </a:lnTo>
                <a:close/>
              </a:path>
              <a:path w="5474970" h="3175635">
                <a:moveTo>
                  <a:pt x="3693033" y="3123819"/>
                </a:moveTo>
                <a:lnTo>
                  <a:pt x="3667125" y="3123819"/>
                </a:lnTo>
                <a:lnTo>
                  <a:pt x="3667125" y="3149727"/>
                </a:lnTo>
                <a:lnTo>
                  <a:pt x="3693033" y="3149727"/>
                </a:lnTo>
                <a:lnTo>
                  <a:pt x="3693033" y="3123819"/>
                </a:lnTo>
                <a:close/>
              </a:path>
              <a:path w="5474970" h="3175635">
                <a:moveTo>
                  <a:pt x="3744849" y="3123819"/>
                </a:moveTo>
                <a:lnTo>
                  <a:pt x="3718941" y="3123819"/>
                </a:lnTo>
                <a:lnTo>
                  <a:pt x="3718941" y="3149727"/>
                </a:lnTo>
                <a:lnTo>
                  <a:pt x="3744849" y="3149727"/>
                </a:lnTo>
                <a:lnTo>
                  <a:pt x="3744849" y="3123819"/>
                </a:lnTo>
                <a:close/>
              </a:path>
              <a:path w="5474970" h="3175635">
                <a:moveTo>
                  <a:pt x="3796665" y="3123819"/>
                </a:moveTo>
                <a:lnTo>
                  <a:pt x="3770757" y="3123819"/>
                </a:lnTo>
                <a:lnTo>
                  <a:pt x="3770757" y="3149727"/>
                </a:lnTo>
                <a:lnTo>
                  <a:pt x="3796665" y="3149727"/>
                </a:lnTo>
                <a:lnTo>
                  <a:pt x="3796665" y="3123819"/>
                </a:lnTo>
                <a:close/>
              </a:path>
              <a:path w="5474970" h="3175635">
                <a:moveTo>
                  <a:pt x="3848481" y="3123819"/>
                </a:moveTo>
                <a:lnTo>
                  <a:pt x="3822573" y="3123819"/>
                </a:lnTo>
                <a:lnTo>
                  <a:pt x="3822573" y="3149727"/>
                </a:lnTo>
                <a:lnTo>
                  <a:pt x="3848481" y="3149727"/>
                </a:lnTo>
                <a:lnTo>
                  <a:pt x="3848481" y="3123819"/>
                </a:lnTo>
                <a:close/>
              </a:path>
              <a:path w="5474970" h="3175635">
                <a:moveTo>
                  <a:pt x="3900297" y="3123819"/>
                </a:moveTo>
                <a:lnTo>
                  <a:pt x="3874389" y="3123819"/>
                </a:lnTo>
                <a:lnTo>
                  <a:pt x="3874389" y="3149727"/>
                </a:lnTo>
                <a:lnTo>
                  <a:pt x="3900297" y="3149727"/>
                </a:lnTo>
                <a:lnTo>
                  <a:pt x="3900297" y="3123819"/>
                </a:lnTo>
                <a:close/>
              </a:path>
              <a:path w="5474970" h="3175635">
                <a:moveTo>
                  <a:pt x="3952113" y="3123819"/>
                </a:moveTo>
                <a:lnTo>
                  <a:pt x="3926205" y="3123819"/>
                </a:lnTo>
                <a:lnTo>
                  <a:pt x="3926205" y="3149727"/>
                </a:lnTo>
                <a:lnTo>
                  <a:pt x="3952113" y="3149727"/>
                </a:lnTo>
                <a:lnTo>
                  <a:pt x="3952113" y="3123819"/>
                </a:lnTo>
                <a:close/>
              </a:path>
              <a:path w="5474970" h="3175635">
                <a:moveTo>
                  <a:pt x="4003929" y="3123819"/>
                </a:moveTo>
                <a:lnTo>
                  <a:pt x="3978021" y="3123819"/>
                </a:lnTo>
                <a:lnTo>
                  <a:pt x="3978021" y="3149727"/>
                </a:lnTo>
                <a:lnTo>
                  <a:pt x="4003929" y="3149727"/>
                </a:lnTo>
                <a:lnTo>
                  <a:pt x="4003929" y="3123819"/>
                </a:lnTo>
                <a:close/>
              </a:path>
              <a:path w="5474970" h="3175635">
                <a:moveTo>
                  <a:pt x="4055745" y="3123819"/>
                </a:moveTo>
                <a:lnTo>
                  <a:pt x="4029837" y="3123819"/>
                </a:lnTo>
                <a:lnTo>
                  <a:pt x="4029837" y="3149727"/>
                </a:lnTo>
                <a:lnTo>
                  <a:pt x="4055745" y="3149727"/>
                </a:lnTo>
                <a:lnTo>
                  <a:pt x="4055745" y="3123819"/>
                </a:lnTo>
                <a:close/>
              </a:path>
              <a:path w="5474970" h="3175635">
                <a:moveTo>
                  <a:pt x="4107561" y="3123819"/>
                </a:moveTo>
                <a:lnTo>
                  <a:pt x="4081653" y="3123819"/>
                </a:lnTo>
                <a:lnTo>
                  <a:pt x="4081653" y="3149727"/>
                </a:lnTo>
                <a:lnTo>
                  <a:pt x="4107561" y="3149727"/>
                </a:lnTo>
                <a:lnTo>
                  <a:pt x="4107561" y="3123819"/>
                </a:lnTo>
                <a:close/>
              </a:path>
              <a:path w="5474970" h="3175635">
                <a:moveTo>
                  <a:pt x="4159377" y="3123819"/>
                </a:moveTo>
                <a:lnTo>
                  <a:pt x="4133469" y="3123819"/>
                </a:lnTo>
                <a:lnTo>
                  <a:pt x="4133469" y="3149727"/>
                </a:lnTo>
                <a:lnTo>
                  <a:pt x="4159377" y="3149727"/>
                </a:lnTo>
                <a:lnTo>
                  <a:pt x="4159377" y="3123819"/>
                </a:lnTo>
                <a:close/>
              </a:path>
              <a:path w="5474970" h="3175635">
                <a:moveTo>
                  <a:pt x="4211193" y="3123819"/>
                </a:moveTo>
                <a:lnTo>
                  <a:pt x="4185285" y="3123819"/>
                </a:lnTo>
                <a:lnTo>
                  <a:pt x="4185285" y="3149727"/>
                </a:lnTo>
                <a:lnTo>
                  <a:pt x="4211193" y="3149727"/>
                </a:lnTo>
                <a:lnTo>
                  <a:pt x="4211193" y="3123819"/>
                </a:lnTo>
                <a:close/>
              </a:path>
              <a:path w="5474970" h="3175635">
                <a:moveTo>
                  <a:pt x="4263009" y="3123819"/>
                </a:moveTo>
                <a:lnTo>
                  <a:pt x="4237101" y="3123819"/>
                </a:lnTo>
                <a:lnTo>
                  <a:pt x="4237101" y="3149727"/>
                </a:lnTo>
                <a:lnTo>
                  <a:pt x="4263009" y="3149727"/>
                </a:lnTo>
                <a:lnTo>
                  <a:pt x="4263009" y="3123819"/>
                </a:lnTo>
                <a:close/>
              </a:path>
              <a:path w="5474970" h="3175635">
                <a:moveTo>
                  <a:pt x="4314825" y="3123819"/>
                </a:moveTo>
                <a:lnTo>
                  <a:pt x="4288917" y="3123819"/>
                </a:lnTo>
                <a:lnTo>
                  <a:pt x="4288917" y="3149727"/>
                </a:lnTo>
                <a:lnTo>
                  <a:pt x="4314825" y="3149727"/>
                </a:lnTo>
                <a:lnTo>
                  <a:pt x="4314825" y="3123819"/>
                </a:lnTo>
                <a:close/>
              </a:path>
              <a:path w="5474970" h="3175635">
                <a:moveTo>
                  <a:pt x="4366641" y="3123819"/>
                </a:moveTo>
                <a:lnTo>
                  <a:pt x="4340733" y="3123819"/>
                </a:lnTo>
                <a:lnTo>
                  <a:pt x="4340733" y="3149727"/>
                </a:lnTo>
                <a:lnTo>
                  <a:pt x="4366641" y="3149727"/>
                </a:lnTo>
                <a:lnTo>
                  <a:pt x="4366641" y="3123819"/>
                </a:lnTo>
                <a:close/>
              </a:path>
              <a:path w="5474970" h="3175635">
                <a:moveTo>
                  <a:pt x="4470895" y="3136773"/>
                </a:moveTo>
                <a:lnTo>
                  <a:pt x="4427715" y="3123819"/>
                </a:lnTo>
                <a:lnTo>
                  <a:pt x="4341368" y="3097911"/>
                </a:lnTo>
                <a:lnTo>
                  <a:pt x="4392549" y="3136303"/>
                </a:lnTo>
                <a:lnTo>
                  <a:pt x="4392549" y="3137255"/>
                </a:lnTo>
                <a:lnTo>
                  <a:pt x="4341368" y="3175635"/>
                </a:lnTo>
                <a:lnTo>
                  <a:pt x="4427715" y="3149727"/>
                </a:lnTo>
                <a:lnTo>
                  <a:pt x="4470895" y="3136773"/>
                </a:lnTo>
                <a:close/>
              </a:path>
              <a:path w="5474970" h="3175635">
                <a:moveTo>
                  <a:pt x="5474462" y="2691638"/>
                </a:moveTo>
                <a:lnTo>
                  <a:pt x="5448554" y="2726194"/>
                </a:lnTo>
                <a:lnTo>
                  <a:pt x="5448554" y="1321308"/>
                </a:lnTo>
                <a:lnTo>
                  <a:pt x="5448554" y="1308354"/>
                </a:lnTo>
                <a:lnTo>
                  <a:pt x="5448554" y="1295400"/>
                </a:lnTo>
                <a:lnTo>
                  <a:pt x="3581400" y="1295400"/>
                </a:lnTo>
                <a:lnTo>
                  <a:pt x="3581400" y="1321308"/>
                </a:lnTo>
                <a:lnTo>
                  <a:pt x="5422646" y="1321308"/>
                </a:lnTo>
                <a:lnTo>
                  <a:pt x="5422646" y="2726194"/>
                </a:lnTo>
                <a:lnTo>
                  <a:pt x="5396738" y="2691638"/>
                </a:lnTo>
                <a:lnTo>
                  <a:pt x="5435600" y="2821178"/>
                </a:lnTo>
                <a:lnTo>
                  <a:pt x="5458917" y="2743454"/>
                </a:lnTo>
                <a:lnTo>
                  <a:pt x="5474462" y="2691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80160"/>
            <a:ext cx="9144000" cy="5485130"/>
            <a:chOff x="0" y="1280160"/>
            <a:chExt cx="9144000" cy="5485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715" y="1484374"/>
              <a:ext cx="8622792" cy="5257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597150"/>
              <a:ext cx="9017508" cy="516788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0377" y="303733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spc="-110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原型实例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传统需求建模的基本方法介绍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361" y="2001773"/>
            <a:ext cx="7542530" cy="2807335"/>
          </a:xfrm>
          <a:custGeom>
            <a:avLst/>
            <a:gdLst/>
            <a:ahLst/>
            <a:cxnLst/>
            <a:rect l="l" t="t" r="r" b="b"/>
            <a:pathLst>
              <a:path w="7542530" h="2807335">
                <a:moveTo>
                  <a:pt x="0" y="2807208"/>
                </a:moveTo>
                <a:lnTo>
                  <a:pt x="7542276" y="2807208"/>
                </a:lnTo>
                <a:lnTo>
                  <a:pt x="7542276" y="0"/>
                </a:lnTo>
                <a:lnTo>
                  <a:pt x="0" y="0"/>
                </a:lnTo>
                <a:lnTo>
                  <a:pt x="0" y="2807208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2344" y="1913427"/>
            <a:ext cx="3395345" cy="17545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32765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原型方法</a:t>
            </a:r>
            <a:endParaRPr sz="3200">
              <a:latin typeface="华文新魏"/>
              <a:cs typeface="华文新魏"/>
            </a:endParaRPr>
          </a:p>
          <a:p>
            <a:pPr marL="532765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基于数据流建模</a:t>
            </a:r>
            <a:endParaRPr sz="3200">
              <a:latin typeface="华文新魏"/>
              <a:cs typeface="华文新魏"/>
            </a:endParaRPr>
          </a:p>
          <a:p>
            <a:pPr marL="532765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基于UML建模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55" y="2535935"/>
            <a:ext cx="577595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7833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10" dirty="0">
                <a:solidFill>
                  <a:srgbClr val="775F54"/>
                </a:solidFill>
                <a:latin typeface="华文隶书"/>
                <a:cs typeface="华文隶书"/>
              </a:rPr>
              <a:t>2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、基于数据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流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i="1" spc="-9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结构化分析方法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9" y="1915667"/>
            <a:ext cx="8641080" cy="2451100"/>
          </a:xfrm>
          <a:custGeom>
            <a:avLst/>
            <a:gdLst/>
            <a:ahLst/>
            <a:cxnLst/>
            <a:rect l="l" t="t" r="r" b="b"/>
            <a:pathLst>
              <a:path w="8641080" h="2451100">
                <a:moveTo>
                  <a:pt x="8641080" y="0"/>
                </a:moveTo>
                <a:lnTo>
                  <a:pt x="0" y="0"/>
                </a:lnTo>
                <a:lnTo>
                  <a:pt x="0" y="2450591"/>
                </a:lnTo>
                <a:lnTo>
                  <a:pt x="8641080" y="2450591"/>
                </a:lnTo>
                <a:lnTo>
                  <a:pt x="8641080" y="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9590" y="1825442"/>
            <a:ext cx="8314690" cy="23069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59090"/>
              <a:buFont typeface="Wingdings"/>
              <a:buChar char=""/>
              <a:tabLst>
                <a:tab pos="332740" algn="l"/>
              </a:tabLst>
            </a:pPr>
            <a:r>
              <a:rPr sz="3300" spc="-5" dirty="0">
                <a:latin typeface="华文新魏"/>
                <a:cs typeface="华文新魏"/>
              </a:rPr>
              <a:t>20世纪70</a:t>
            </a:r>
            <a:r>
              <a:rPr sz="3300" dirty="0">
                <a:latin typeface="华文新魏"/>
                <a:cs typeface="华文新魏"/>
              </a:rPr>
              <a:t>年发展起来的面向数据流的方法</a:t>
            </a:r>
            <a:endParaRPr sz="33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59090"/>
              <a:buFont typeface="Wingdings"/>
              <a:buChar char=""/>
              <a:tabLst>
                <a:tab pos="332740" algn="l"/>
              </a:tabLst>
            </a:pPr>
            <a:r>
              <a:rPr sz="3300" dirty="0">
                <a:latin typeface="华文新魏"/>
                <a:cs typeface="华文新魏"/>
              </a:rPr>
              <a:t>是一种自顶向下逐步求精的分析方法</a:t>
            </a:r>
            <a:endParaRPr sz="3300">
              <a:latin typeface="华文新魏"/>
              <a:cs typeface="华文新魏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090"/>
              <a:buFont typeface="Wingdings"/>
              <a:buChar char=""/>
              <a:tabLst>
                <a:tab pos="332740" algn="l"/>
              </a:tabLst>
            </a:pPr>
            <a:r>
              <a:rPr sz="3300" dirty="0">
                <a:latin typeface="华文新魏"/>
                <a:cs typeface="华文新魏"/>
              </a:rPr>
              <a:t>根据软件内部数据传递、变换的关系进行分 析的</a:t>
            </a:r>
            <a:endParaRPr sz="33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5965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基于数据流的技术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5965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374" y="2205989"/>
            <a:ext cx="8153400" cy="18719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09575" indent="-320675">
              <a:lnSpc>
                <a:spcPct val="100000"/>
              </a:lnSpc>
              <a:spcBef>
                <a:spcPts val="13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09575" algn="l"/>
                <a:tab pos="410209" algn="l"/>
              </a:tabLst>
            </a:pPr>
            <a:r>
              <a:rPr sz="2900" dirty="0">
                <a:latin typeface="华文新魏"/>
                <a:cs typeface="华文新魏"/>
              </a:rPr>
              <a:t>数据流</a:t>
            </a:r>
            <a:r>
              <a:rPr sz="2900" spc="5" dirty="0">
                <a:latin typeface="华文新魏"/>
                <a:cs typeface="华文新魏"/>
              </a:rPr>
              <a:t>图</a:t>
            </a:r>
            <a:r>
              <a:rPr sz="2900" dirty="0">
                <a:latin typeface="华文新魏"/>
                <a:cs typeface="华文新魏"/>
              </a:rPr>
              <a:t>(DFD)</a:t>
            </a:r>
            <a:endParaRPr sz="2900">
              <a:latin typeface="华文新魏"/>
              <a:cs typeface="华文新魏"/>
            </a:endParaRPr>
          </a:p>
          <a:p>
            <a:pPr marL="40957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09575" algn="l"/>
                <a:tab pos="410209" algn="l"/>
              </a:tabLst>
            </a:pPr>
            <a:r>
              <a:rPr sz="2900" dirty="0">
                <a:latin typeface="华文新魏"/>
                <a:cs typeface="华文新魏"/>
              </a:rPr>
              <a:t>数据字典</a:t>
            </a:r>
            <a:r>
              <a:rPr sz="2900" spc="-5" dirty="0">
                <a:latin typeface="华文新魏"/>
                <a:cs typeface="华文新魏"/>
              </a:rPr>
              <a:t>(DD)</a:t>
            </a:r>
            <a:endParaRPr sz="2900">
              <a:latin typeface="华文新魏"/>
              <a:cs typeface="华文新魏"/>
            </a:endParaRPr>
          </a:p>
          <a:p>
            <a:pPr marL="40957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09575" algn="l"/>
                <a:tab pos="410209" algn="l"/>
              </a:tabLst>
            </a:pPr>
            <a:r>
              <a:rPr sz="2900" dirty="0">
                <a:latin typeface="华文新魏"/>
                <a:cs typeface="华文新魏"/>
              </a:rPr>
              <a:t>系统流程图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51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912" y="1616704"/>
            <a:ext cx="8035442" cy="39339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3118" y="346963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描述银行取款过程的数据流图</a:t>
            </a:r>
            <a:endParaRPr sz="44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00913"/>
            <a:ext cx="705230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学生管理系</a:t>
            </a:r>
            <a:r>
              <a:rPr sz="4400" spc="-10" dirty="0">
                <a:solidFill>
                  <a:srgbClr val="775F54"/>
                </a:solidFill>
                <a:latin typeface="华文隶书"/>
                <a:cs typeface="华文隶书"/>
              </a:rPr>
              <a:t>统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数据流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图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顶层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4017" y="6297574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761" y="2134361"/>
            <a:ext cx="1143000" cy="42227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sz="2000" b="1" spc="5" dirty="0">
                <a:latin typeface="宋体"/>
                <a:cs typeface="宋体"/>
              </a:rPr>
              <a:t>学管科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761" y="3810761"/>
            <a:ext cx="1143000" cy="42227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40"/>
              </a:spcBef>
            </a:pPr>
            <a:r>
              <a:rPr sz="2000" b="1" dirty="0">
                <a:latin typeface="宋体"/>
                <a:cs typeface="宋体"/>
              </a:rPr>
              <a:t>体检科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962" y="5563361"/>
            <a:ext cx="1143000" cy="42227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45"/>
              </a:spcBef>
            </a:pPr>
            <a:r>
              <a:rPr sz="2000" b="1" spc="5" dirty="0">
                <a:latin typeface="宋体"/>
                <a:cs typeface="宋体"/>
              </a:rPr>
              <a:t>学籍科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4561" y="3124961"/>
            <a:ext cx="1371600" cy="2057400"/>
          </a:xfrm>
          <a:custGeom>
            <a:avLst/>
            <a:gdLst/>
            <a:ahLst/>
            <a:cxnLst/>
            <a:rect l="l" t="t" r="r" b="b"/>
            <a:pathLst>
              <a:path w="1371600" h="2057400">
                <a:moveTo>
                  <a:pt x="0" y="1028700"/>
                </a:moveTo>
                <a:lnTo>
                  <a:pt x="1014" y="972252"/>
                </a:lnTo>
                <a:lnTo>
                  <a:pt x="4024" y="916600"/>
                </a:lnTo>
                <a:lnTo>
                  <a:pt x="8977" y="861824"/>
                </a:lnTo>
                <a:lnTo>
                  <a:pt x="15819" y="808000"/>
                </a:lnTo>
                <a:lnTo>
                  <a:pt x="24500" y="755209"/>
                </a:lnTo>
                <a:lnTo>
                  <a:pt x="34966" y="703527"/>
                </a:lnTo>
                <a:lnTo>
                  <a:pt x="47166" y="653033"/>
                </a:lnTo>
                <a:lnTo>
                  <a:pt x="61046" y="603806"/>
                </a:lnTo>
                <a:lnTo>
                  <a:pt x="76555" y="555925"/>
                </a:lnTo>
                <a:lnTo>
                  <a:pt x="93641" y="509467"/>
                </a:lnTo>
                <a:lnTo>
                  <a:pt x="112250" y="464511"/>
                </a:lnTo>
                <a:lnTo>
                  <a:pt x="132331" y="421136"/>
                </a:lnTo>
                <a:lnTo>
                  <a:pt x="153832" y="379419"/>
                </a:lnTo>
                <a:lnTo>
                  <a:pt x="176700" y="339439"/>
                </a:lnTo>
                <a:lnTo>
                  <a:pt x="200882" y="301275"/>
                </a:lnTo>
                <a:lnTo>
                  <a:pt x="226326" y="265005"/>
                </a:lnTo>
                <a:lnTo>
                  <a:pt x="252981" y="230708"/>
                </a:lnTo>
                <a:lnTo>
                  <a:pt x="280793" y="198461"/>
                </a:lnTo>
                <a:lnTo>
                  <a:pt x="309711" y="168343"/>
                </a:lnTo>
                <a:lnTo>
                  <a:pt x="339682" y="140433"/>
                </a:lnTo>
                <a:lnTo>
                  <a:pt x="370654" y="114809"/>
                </a:lnTo>
                <a:lnTo>
                  <a:pt x="402574" y="91550"/>
                </a:lnTo>
                <a:lnTo>
                  <a:pt x="435390" y="70733"/>
                </a:lnTo>
                <a:lnTo>
                  <a:pt x="469050" y="52437"/>
                </a:lnTo>
                <a:lnTo>
                  <a:pt x="538692" y="23723"/>
                </a:lnTo>
                <a:lnTo>
                  <a:pt x="611082" y="6035"/>
                </a:lnTo>
                <a:lnTo>
                  <a:pt x="685800" y="0"/>
                </a:lnTo>
                <a:lnTo>
                  <a:pt x="723423" y="1521"/>
                </a:lnTo>
                <a:lnTo>
                  <a:pt x="797029" y="13462"/>
                </a:lnTo>
                <a:lnTo>
                  <a:pt x="868097" y="36741"/>
                </a:lnTo>
                <a:lnTo>
                  <a:pt x="936209" y="70733"/>
                </a:lnTo>
                <a:lnTo>
                  <a:pt x="969025" y="91550"/>
                </a:lnTo>
                <a:lnTo>
                  <a:pt x="1000945" y="114809"/>
                </a:lnTo>
                <a:lnTo>
                  <a:pt x="1031917" y="140433"/>
                </a:lnTo>
                <a:lnTo>
                  <a:pt x="1061888" y="168343"/>
                </a:lnTo>
                <a:lnTo>
                  <a:pt x="1090806" y="198461"/>
                </a:lnTo>
                <a:lnTo>
                  <a:pt x="1118618" y="230708"/>
                </a:lnTo>
                <a:lnTo>
                  <a:pt x="1145273" y="265005"/>
                </a:lnTo>
                <a:lnTo>
                  <a:pt x="1170717" y="301275"/>
                </a:lnTo>
                <a:lnTo>
                  <a:pt x="1194899" y="339439"/>
                </a:lnTo>
                <a:lnTo>
                  <a:pt x="1217767" y="379419"/>
                </a:lnTo>
                <a:lnTo>
                  <a:pt x="1239268" y="421136"/>
                </a:lnTo>
                <a:lnTo>
                  <a:pt x="1259349" y="464511"/>
                </a:lnTo>
                <a:lnTo>
                  <a:pt x="1277958" y="509467"/>
                </a:lnTo>
                <a:lnTo>
                  <a:pt x="1295044" y="555925"/>
                </a:lnTo>
                <a:lnTo>
                  <a:pt x="1310553" y="603806"/>
                </a:lnTo>
                <a:lnTo>
                  <a:pt x="1324433" y="653033"/>
                </a:lnTo>
                <a:lnTo>
                  <a:pt x="1336633" y="703527"/>
                </a:lnTo>
                <a:lnTo>
                  <a:pt x="1347099" y="755209"/>
                </a:lnTo>
                <a:lnTo>
                  <a:pt x="1355780" y="808000"/>
                </a:lnTo>
                <a:lnTo>
                  <a:pt x="1362622" y="861824"/>
                </a:lnTo>
                <a:lnTo>
                  <a:pt x="1367575" y="916600"/>
                </a:lnTo>
                <a:lnTo>
                  <a:pt x="1370585" y="972252"/>
                </a:lnTo>
                <a:lnTo>
                  <a:pt x="1371600" y="1028700"/>
                </a:lnTo>
                <a:lnTo>
                  <a:pt x="1370585" y="1085147"/>
                </a:lnTo>
                <a:lnTo>
                  <a:pt x="1367575" y="1140799"/>
                </a:lnTo>
                <a:lnTo>
                  <a:pt x="1362622" y="1195575"/>
                </a:lnTo>
                <a:lnTo>
                  <a:pt x="1355780" y="1249399"/>
                </a:lnTo>
                <a:lnTo>
                  <a:pt x="1347099" y="1302190"/>
                </a:lnTo>
                <a:lnTo>
                  <a:pt x="1336633" y="1353872"/>
                </a:lnTo>
                <a:lnTo>
                  <a:pt x="1324433" y="1404366"/>
                </a:lnTo>
                <a:lnTo>
                  <a:pt x="1310553" y="1453593"/>
                </a:lnTo>
                <a:lnTo>
                  <a:pt x="1295044" y="1501474"/>
                </a:lnTo>
                <a:lnTo>
                  <a:pt x="1277958" y="1547932"/>
                </a:lnTo>
                <a:lnTo>
                  <a:pt x="1259349" y="1592888"/>
                </a:lnTo>
                <a:lnTo>
                  <a:pt x="1239268" y="1636263"/>
                </a:lnTo>
                <a:lnTo>
                  <a:pt x="1217767" y="1677980"/>
                </a:lnTo>
                <a:lnTo>
                  <a:pt x="1194899" y="1717960"/>
                </a:lnTo>
                <a:lnTo>
                  <a:pt x="1170717" y="1756124"/>
                </a:lnTo>
                <a:lnTo>
                  <a:pt x="1145273" y="1792394"/>
                </a:lnTo>
                <a:lnTo>
                  <a:pt x="1118618" y="1826691"/>
                </a:lnTo>
                <a:lnTo>
                  <a:pt x="1090806" y="1858938"/>
                </a:lnTo>
                <a:lnTo>
                  <a:pt x="1061888" y="1889056"/>
                </a:lnTo>
                <a:lnTo>
                  <a:pt x="1031917" y="1916966"/>
                </a:lnTo>
                <a:lnTo>
                  <a:pt x="1000945" y="1942590"/>
                </a:lnTo>
                <a:lnTo>
                  <a:pt x="969025" y="1965849"/>
                </a:lnTo>
                <a:lnTo>
                  <a:pt x="936209" y="1986666"/>
                </a:lnTo>
                <a:lnTo>
                  <a:pt x="902549" y="2004962"/>
                </a:lnTo>
                <a:lnTo>
                  <a:pt x="832907" y="2033676"/>
                </a:lnTo>
                <a:lnTo>
                  <a:pt x="760517" y="2051364"/>
                </a:lnTo>
                <a:lnTo>
                  <a:pt x="685800" y="2057400"/>
                </a:lnTo>
                <a:lnTo>
                  <a:pt x="648176" y="2055878"/>
                </a:lnTo>
                <a:lnTo>
                  <a:pt x="574570" y="2043937"/>
                </a:lnTo>
                <a:lnTo>
                  <a:pt x="503502" y="2020658"/>
                </a:lnTo>
                <a:lnTo>
                  <a:pt x="435390" y="1986666"/>
                </a:lnTo>
                <a:lnTo>
                  <a:pt x="402574" y="1965849"/>
                </a:lnTo>
                <a:lnTo>
                  <a:pt x="370654" y="1942590"/>
                </a:lnTo>
                <a:lnTo>
                  <a:pt x="339682" y="1916966"/>
                </a:lnTo>
                <a:lnTo>
                  <a:pt x="309711" y="1889056"/>
                </a:lnTo>
                <a:lnTo>
                  <a:pt x="280793" y="1858938"/>
                </a:lnTo>
                <a:lnTo>
                  <a:pt x="252981" y="1826691"/>
                </a:lnTo>
                <a:lnTo>
                  <a:pt x="226326" y="1792394"/>
                </a:lnTo>
                <a:lnTo>
                  <a:pt x="200882" y="1756124"/>
                </a:lnTo>
                <a:lnTo>
                  <a:pt x="176700" y="1717960"/>
                </a:lnTo>
                <a:lnTo>
                  <a:pt x="153832" y="1677980"/>
                </a:lnTo>
                <a:lnTo>
                  <a:pt x="132331" y="1636263"/>
                </a:lnTo>
                <a:lnTo>
                  <a:pt x="112250" y="1592888"/>
                </a:lnTo>
                <a:lnTo>
                  <a:pt x="93641" y="1547932"/>
                </a:lnTo>
                <a:lnTo>
                  <a:pt x="76555" y="1501474"/>
                </a:lnTo>
                <a:lnTo>
                  <a:pt x="61046" y="1453593"/>
                </a:lnTo>
                <a:lnTo>
                  <a:pt x="47166" y="1404366"/>
                </a:lnTo>
                <a:lnTo>
                  <a:pt x="34966" y="1353872"/>
                </a:lnTo>
                <a:lnTo>
                  <a:pt x="24500" y="1302190"/>
                </a:lnTo>
                <a:lnTo>
                  <a:pt x="15819" y="1249399"/>
                </a:lnTo>
                <a:lnTo>
                  <a:pt x="8977" y="1195575"/>
                </a:lnTo>
                <a:lnTo>
                  <a:pt x="4024" y="1140799"/>
                </a:lnTo>
                <a:lnTo>
                  <a:pt x="1014" y="1085147"/>
                </a:lnTo>
                <a:lnTo>
                  <a:pt x="0" y="1028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98772" y="3831412"/>
            <a:ext cx="104394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学生管理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宋体"/>
                <a:cs typeface="宋体"/>
              </a:rPr>
              <a:t>信息系统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26373" y="1372361"/>
            <a:ext cx="513715" cy="4343400"/>
          </a:xfrm>
          <a:custGeom>
            <a:avLst/>
            <a:gdLst/>
            <a:ahLst/>
            <a:cxnLst/>
            <a:rect l="l" t="t" r="r" b="b"/>
            <a:pathLst>
              <a:path w="513715" h="4343400">
                <a:moveTo>
                  <a:pt x="0" y="4343400"/>
                </a:moveTo>
                <a:lnTo>
                  <a:pt x="513587" y="4343400"/>
                </a:lnTo>
                <a:lnTo>
                  <a:pt x="513587" y="0"/>
                </a:lnTo>
                <a:lnTo>
                  <a:pt x="0" y="0"/>
                </a:lnTo>
                <a:lnTo>
                  <a:pt x="0" y="43434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50706" y="2858643"/>
            <a:ext cx="280035" cy="135064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algn="just">
              <a:lnSpc>
                <a:spcPts val="2010"/>
              </a:lnSpc>
              <a:spcBef>
                <a:spcPts val="495"/>
              </a:spcBef>
            </a:pPr>
            <a:r>
              <a:rPr sz="2000" dirty="0">
                <a:latin typeface="宋体"/>
                <a:cs typeface="宋体"/>
              </a:rPr>
              <a:t>学 生 处 领 导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19301" y="2275077"/>
            <a:ext cx="2367915" cy="3613150"/>
          </a:xfrm>
          <a:custGeom>
            <a:avLst/>
            <a:gdLst/>
            <a:ahLst/>
            <a:cxnLst/>
            <a:rect l="l" t="t" r="r" b="b"/>
            <a:pathLst>
              <a:path w="2367915" h="3613150">
                <a:moveTo>
                  <a:pt x="2291461" y="1688084"/>
                </a:moveTo>
                <a:lnTo>
                  <a:pt x="2248268" y="1675130"/>
                </a:lnTo>
                <a:lnTo>
                  <a:pt x="2161921" y="1649222"/>
                </a:lnTo>
                <a:lnTo>
                  <a:pt x="2196465" y="1675130"/>
                </a:lnTo>
                <a:lnTo>
                  <a:pt x="5461" y="1675130"/>
                </a:lnTo>
                <a:lnTo>
                  <a:pt x="5461" y="1701038"/>
                </a:lnTo>
                <a:lnTo>
                  <a:pt x="2196465" y="1701038"/>
                </a:lnTo>
                <a:lnTo>
                  <a:pt x="2161921" y="1726946"/>
                </a:lnTo>
                <a:lnTo>
                  <a:pt x="2248268" y="1701038"/>
                </a:lnTo>
                <a:lnTo>
                  <a:pt x="2291461" y="1688084"/>
                </a:lnTo>
                <a:close/>
              </a:path>
              <a:path w="2367915" h="3613150">
                <a:moveTo>
                  <a:pt x="2291461" y="1078484"/>
                </a:moveTo>
                <a:lnTo>
                  <a:pt x="2267813" y="1057402"/>
                </a:lnTo>
                <a:lnTo>
                  <a:pt x="2190496" y="988441"/>
                </a:lnTo>
                <a:lnTo>
                  <a:pt x="2210816" y="1026566"/>
                </a:lnTo>
                <a:lnTo>
                  <a:pt x="10922" y="0"/>
                </a:lnTo>
                <a:lnTo>
                  <a:pt x="0" y="23368"/>
                </a:lnTo>
                <a:lnTo>
                  <a:pt x="2199767" y="1050061"/>
                </a:lnTo>
                <a:lnTo>
                  <a:pt x="2157603" y="1058926"/>
                </a:lnTo>
                <a:lnTo>
                  <a:pt x="2291461" y="1078484"/>
                </a:lnTo>
                <a:close/>
              </a:path>
              <a:path w="2367915" h="3613150">
                <a:moveTo>
                  <a:pt x="2367661" y="2002028"/>
                </a:moveTo>
                <a:lnTo>
                  <a:pt x="2239264" y="2044446"/>
                </a:lnTo>
                <a:lnTo>
                  <a:pt x="2282329" y="2045893"/>
                </a:lnTo>
                <a:lnTo>
                  <a:pt x="74295" y="3591610"/>
                </a:lnTo>
                <a:lnTo>
                  <a:pt x="89027" y="3612845"/>
                </a:lnTo>
                <a:lnTo>
                  <a:pt x="2297290" y="2067153"/>
                </a:lnTo>
                <a:lnTo>
                  <a:pt x="2283841" y="2108200"/>
                </a:lnTo>
                <a:lnTo>
                  <a:pt x="2340889" y="2035937"/>
                </a:lnTo>
                <a:lnTo>
                  <a:pt x="2367661" y="20020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60194" y="2238882"/>
            <a:ext cx="155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学生基本信息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9194" y="3458336"/>
            <a:ext cx="1552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学生健康信息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5844" y="4754117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学生成绩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91990" y="1677161"/>
            <a:ext cx="3891279" cy="4064635"/>
          </a:xfrm>
          <a:custGeom>
            <a:avLst/>
            <a:gdLst/>
            <a:ahLst/>
            <a:cxnLst/>
            <a:rect l="l" t="t" r="r" b="b"/>
            <a:pathLst>
              <a:path w="3891279" h="4064635">
                <a:moveTo>
                  <a:pt x="3738372" y="3048000"/>
                </a:moveTo>
                <a:lnTo>
                  <a:pt x="3695192" y="3035046"/>
                </a:lnTo>
                <a:lnTo>
                  <a:pt x="3608832" y="3009138"/>
                </a:lnTo>
                <a:lnTo>
                  <a:pt x="3643376" y="3035046"/>
                </a:lnTo>
                <a:lnTo>
                  <a:pt x="461772" y="3035046"/>
                </a:lnTo>
                <a:lnTo>
                  <a:pt x="461772" y="3060954"/>
                </a:lnTo>
                <a:lnTo>
                  <a:pt x="3643376" y="3060954"/>
                </a:lnTo>
                <a:lnTo>
                  <a:pt x="3608832" y="3086862"/>
                </a:lnTo>
                <a:lnTo>
                  <a:pt x="3695192" y="3060954"/>
                </a:lnTo>
                <a:lnTo>
                  <a:pt x="3738372" y="3048000"/>
                </a:lnTo>
                <a:close/>
              </a:path>
              <a:path w="3891279" h="4064635">
                <a:moveTo>
                  <a:pt x="3814572" y="4038600"/>
                </a:moveTo>
                <a:lnTo>
                  <a:pt x="3744341" y="3987482"/>
                </a:lnTo>
                <a:lnTo>
                  <a:pt x="3740061" y="4013047"/>
                </a:lnTo>
                <a:lnTo>
                  <a:pt x="159131" y="3416173"/>
                </a:lnTo>
                <a:lnTo>
                  <a:pt x="154813" y="3441827"/>
                </a:lnTo>
                <a:lnTo>
                  <a:pt x="3735781" y="4038600"/>
                </a:lnTo>
                <a:lnTo>
                  <a:pt x="3731514" y="4064152"/>
                </a:lnTo>
                <a:lnTo>
                  <a:pt x="3807625" y="4040733"/>
                </a:lnTo>
                <a:lnTo>
                  <a:pt x="3814572" y="4038600"/>
                </a:lnTo>
                <a:close/>
              </a:path>
              <a:path w="3891279" h="4064635">
                <a:moveTo>
                  <a:pt x="3814572" y="2349246"/>
                </a:moveTo>
                <a:lnTo>
                  <a:pt x="632968" y="2349246"/>
                </a:lnTo>
                <a:lnTo>
                  <a:pt x="667512" y="2323338"/>
                </a:lnTo>
                <a:lnTo>
                  <a:pt x="537972" y="2362200"/>
                </a:lnTo>
                <a:lnTo>
                  <a:pt x="667512" y="2401062"/>
                </a:lnTo>
                <a:lnTo>
                  <a:pt x="632968" y="2375154"/>
                </a:lnTo>
                <a:lnTo>
                  <a:pt x="3814572" y="2375154"/>
                </a:lnTo>
                <a:lnTo>
                  <a:pt x="3814572" y="2349246"/>
                </a:lnTo>
                <a:close/>
              </a:path>
              <a:path w="3891279" h="4064635">
                <a:moveTo>
                  <a:pt x="3890772" y="1676400"/>
                </a:moveTo>
                <a:lnTo>
                  <a:pt x="3850208" y="1665224"/>
                </a:lnTo>
                <a:lnTo>
                  <a:pt x="3760343" y="1640459"/>
                </a:lnTo>
                <a:lnTo>
                  <a:pt x="3795484" y="1665617"/>
                </a:lnTo>
                <a:lnTo>
                  <a:pt x="537718" y="1739646"/>
                </a:lnTo>
                <a:lnTo>
                  <a:pt x="538226" y="1765554"/>
                </a:lnTo>
                <a:lnTo>
                  <a:pt x="3796042" y="1691538"/>
                </a:lnTo>
                <a:lnTo>
                  <a:pt x="3762121" y="1718183"/>
                </a:lnTo>
                <a:lnTo>
                  <a:pt x="3890772" y="1676400"/>
                </a:lnTo>
                <a:close/>
              </a:path>
              <a:path w="3891279" h="4064635">
                <a:moveTo>
                  <a:pt x="3890772" y="0"/>
                </a:moveTo>
                <a:lnTo>
                  <a:pt x="3755771" y="8763"/>
                </a:lnTo>
                <a:lnTo>
                  <a:pt x="3797173" y="21043"/>
                </a:lnTo>
                <a:lnTo>
                  <a:pt x="0" y="1435608"/>
                </a:lnTo>
                <a:lnTo>
                  <a:pt x="9144" y="1459992"/>
                </a:lnTo>
                <a:lnTo>
                  <a:pt x="3806266" y="45275"/>
                </a:lnTo>
                <a:lnTo>
                  <a:pt x="3782949" y="81661"/>
                </a:lnTo>
                <a:lnTo>
                  <a:pt x="3870972" y="14986"/>
                </a:lnTo>
                <a:lnTo>
                  <a:pt x="3890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80228" y="2010282"/>
            <a:ext cx="18072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学生健康情况表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4628" y="2771978"/>
            <a:ext cx="1297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学生成绩单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94628" y="3610736"/>
            <a:ext cx="1043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查询要求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42228" y="4296917"/>
            <a:ext cx="1297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不及格人数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37428" y="5592572"/>
            <a:ext cx="1297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人数统计表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0870"/>
            <a:ext cx="6922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学生管理系</a:t>
            </a:r>
            <a:r>
              <a:rPr sz="4400" spc="-10" dirty="0">
                <a:solidFill>
                  <a:srgbClr val="775F54"/>
                </a:solidFill>
                <a:latin typeface="华文仿宋"/>
                <a:cs typeface="华文仿宋"/>
              </a:rPr>
              <a:t>统</a:t>
            </a:r>
            <a:r>
              <a:rPr sz="4400" spc="-5" dirty="0">
                <a:solidFill>
                  <a:srgbClr val="775F54"/>
                </a:solidFill>
                <a:latin typeface="Arial"/>
                <a:cs typeface="Arial"/>
              </a:rPr>
              <a:t>-</a:t>
            </a: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数据流</a:t>
            </a:r>
            <a:r>
              <a:rPr sz="4400" spc="-5" dirty="0">
                <a:solidFill>
                  <a:srgbClr val="775F54"/>
                </a:solidFill>
                <a:latin typeface="黑体"/>
                <a:cs typeface="黑体"/>
              </a:rPr>
              <a:t>图</a:t>
            </a:r>
            <a:r>
              <a:rPr sz="4400" spc="-10" dirty="0">
                <a:solidFill>
                  <a:srgbClr val="775F54"/>
                </a:solidFill>
                <a:latin typeface="黑体"/>
                <a:cs typeface="黑体"/>
              </a:rPr>
              <a:t>-0</a:t>
            </a: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层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32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0870"/>
            <a:ext cx="6922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学生管理系</a:t>
            </a:r>
            <a:r>
              <a:rPr sz="4400" spc="-10" dirty="0">
                <a:solidFill>
                  <a:srgbClr val="775F54"/>
                </a:solidFill>
                <a:latin typeface="华文仿宋"/>
                <a:cs typeface="华文仿宋"/>
              </a:rPr>
              <a:t>统</a:t>
            </a:r>
            <a:r>
              <a:rPr sz="4400" spc="-5" dirty="0">
                <a:solidFill>
                  <a:srgbClr val="775F54"/>
                </a:solidFill>
                <a:latin typeface="Arial"/>
                <a:cs typeface="Arial"/>
              </a:rPr>
              <a:t>-</a:t>
            </a: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数据流</a:t>
            </a:r>
            <a:r>
              <a:rPr sz="4400" spc="-5" dirty="0">
                <a:solidFill>
                  <a:srgbClr val="775F54"/>
                </a:solidFill>
                <a:latin typeface="黑体"/>
                <a:cs typeface="黑体"/>
              </a:rPr>
              <a:t>图</a:t>
            </a:r>
            <a:r>
              <a:rPr sz="4400" spc="-10" dirty="0">
                <a:solidFill>
                  <a:srgbClr val="775F54"/>
                </a:solidFill>
                <a:latin typeface="黑体"/>
                <a:cs typeface="黑体"/>
              </a:rPr>
              <a:t>-1</a:t>
            </a: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层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610870"/>
            <a:ext cx="6922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学生管理系</a:t>
            </a:r>
            <a:r>
              <a:rPr sz="4400" spc="-10" dirty="0">
                <a:solidFill>
                  <a:srgbClr val="775F54"/>
                </a:solidFill>
                <a:latin typeface="华文仿宋"/>
                <a:cs typeface="华文仿宋"/>
              </a:rPr>
              <a:t>统</a:t>
            </a:r>
            <a:r>
              <a:rPr sz="4400" spc="-5" dirty="0">
                <a:solidFill>
                  <a:srgbClr val="775F54"/>
                </a:solidFill>
                <a:latin typeface="Arial"/>
                <a:cs typeface="Arial"/>
              </a:rPr>
              <a:t>-</a:t>
            </a: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数据流</a:t>
            </a:r>
            <a:r>
              <a:rPr sz="4400" spc="-5" dirty="0">
                <a:solidFill>
                  <a:srgbClr val="775F54"/>
                </a:solidFill>
                <a:latin typeface="黑体"/>
                <a:cs typeface="黑体"/>
              </a:rPr>
              <a:t>图</a:t>
            </a:r>
            <a:r>
              <a:rPr sz="4400" spc="-10" dirty="0">
                <a:solidFill>
                  <a:srgbClr val="775F54"/>
                </a:solidFill>
                <a:latin typeface="黑体"/>
                <a:cs typeface="黑体"/>
              </a:rPr>
              <a:t>-1</a:t>
            </a: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层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32663"/>
            <a:ext cx="76117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学生管理系统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数据字典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数据流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916429"/>
            <a:ext cx="8498205" cy="3746500"/>
          </a:xfrm>
          <a:custGeom>
            <a:avLst/>
            <a:gdLst/>
            <a:ahLst/>
            <a:cxnLst/>
            <a:rect l="l" t="t" r="r" b="b"/>
            <a:pathLst>
              <a:path w="8498205" h="3746500">
                <a:moveTo>
                  <a:pt x="0" y="3745991"/>
                </a:moveTo>
                <a:lnTo>
                  <a:pt x="8497824" y="3745991"/>
                </a:lnTo>
                <a:lnTo>
                  <a:pt x="8497824" y="0"/>
                </a:lnTo>
                <a:lnTo>
                  <a:pt x="0" y="0"/>
                </a:lnTo>
                <a:lnTo>
                  <a:pt x="0" y="3745991"/>
                </a:lnTo>
                <a:close/>
              </a:path>
            </a:pathLst>
          </a:custGeom>
          <a:ln w="28955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3417" y="1834561"/>
            <a:ext cx="7938770" cy="32105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810"/>
              </a:spcBef>
            </a:pPr>
            <a:r>
              <a:rPr sz="2400" spc="-5" dirty="0">
                <a:latin typeface="华文新魏"/>
                <a:cs typeface="华文新魏"/>
              </a:rPr>
              <a:t>学生基本信息：学号十姓名</a:t>
            </a:r>
            <a:endParaRPr sz="2400">
              <a:latin typeface="华文新魏"/>
              <a:cs typeface="华文新魏"/>
            </a:endParaRPr>
          </a:p>
          <a:p>
            <a:pPr marL="86995" marR="3460115">
              <a:lnSpc>
                <a:spcPct val="124200"/>
              </a:lnSpc>
              <a:spcBef>
                <a:spcPts val="15"/>
              </a:spcBef>
            </a:pPr>
            <a:r>
              <a:rPr sz="2400" dirty="0">
                <a:latin typeface="华文新魏"/>
                <a:cs typeface="华文新魏"/>
              </a:rPr>
              <a:t>学生健康信息：学号十健康情况 学生成绩：学号</a:t>
            </a:r>
            <a:r>
              <a:rPr sz="2400" spc="5" dirty="0">
                <a:latin typeface="华文新魏"/>
                <a:cs typeface="华文新魏"/>
              </a:rPr>
              <a:t>十</a:t>
            </a:r>
            <a:r>
              <a:rPr sz="2400" spc="-5" dirty="0">
                <a:latin typeface="华文新魏"/>
                <a:cs typeface="华文新魏"/>
              </a:rPr>
              <a:t>{</a:t>
            </a:r>
            <a:r>
              <a:rPr sz="2400" dirty="0">
                <a:latin typeface="华文新魏"/>
                <a:cs typeface="华文新魏"/>
              </a:rPr>
              <a:t>课程名+成</a:t>
            </a:r>
            <a:r>
              <a:rPr sz="2400" spc="-5" dirty="0">
                <a:latin typeface="华文新魏"/>
                <a:cs typeface="华文新魏"/>
              </a:rPr>
              <a:t>绩</a:t>
            </a:r>
            <a:r>
              <a:rPr sz="2400" dirty="0">
                <a:latin typeface="华文新魏"/>
                <a:cs typeface="华文新魏"/>
              </a:rPr>
              <a:t>}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400" spc="-5" dirty="0">
                <a:latin typeface="华文新魏"/>
                <a:cs typeface="华文新魏"/>
              </a:rPr>
              <a:t>查询要求</a:t>
            </a:r>
            <a:r>
              <a:rPr sz="2400" spc="-10" dirty="0">
                <a:latin typeface="华文新魏"/>
                <a:cs typeface="华文新魏"/>
              </a:rPr>
              <a:t>：[</a:t>
            </a:r>
            <a:r>
              <a:rPr sz="2400" spc="-5" dirty="0">
                <a:latin typeface="华文新魏"/>
                <a:cs typeface="华文新魏"/>
              </a:rPr>
              <a:t>健康查询</a:t>
            </a:r>
            <a:r>
              <a:rPr sz="2400" dirty="0">
                <a:latin typeface="华文新魏"/>
                <a:cs typeface="华文新魏"/>
              </a:rPr>
              <a:t>单</a:t>
            </a:r>
            <a:r>
              <a:rPr sz="2400" spc="-5" dirty="0">
                <a:latin typeface="华文新魏"/>
                <a:cs typeface="华文新魏"/>
              </a:rPr>
              <a:t> |平均成绩查询</a:t>
            </a:r>
            <a:r>
              <a:rPr sz="2400" dirty="0">
                <a:latin typeface="华文新魏"/>
                <a:cs typeface="华文新魏"/>
              </a:rPr>
              <a:t>单</a:t>
            </a:r>
            <a:r>
              <a:rPr sz="2400" spc="-10" dirty="0">
                <a:latin typeface="华文新魏"/>
                <a:cs typeface="华文新魏"/>
              </a:rPr>
              <a:t> </a:t>
            </a:r>
            <a:r>
              <a:rPr sz="2400" dirty="0">
                <a:latin typeface="华文新魏"/>
                <a:cs typeface="华文新魏"/>
              </a:rPr>
              <a:t>l不及格人数查</a:t>
            </a:r>
            <a:r>
              <a:rPr sz="2400" spc="-15" dirty="0">
                <a:latin typeface="华文新魏"/>
                <a:cs typeface="华文新魏"/>
              </a:rPr>
              <a:t>询</a:t>
            </a:r>
            <a:r>
              <a:rPr sz="2400" dirty="0">
                <a:latin typeface="华文新魏"/>
                <a:cs typeface="华文新魏"/>
              </a:rPr>
              <a:t>]</a:t>
            </a:r>
            <a:endParaRPr sz="2400">
              <a:latin typeface="华文新魏"/>
              <a:cs typeface="华文新魏"/>
            </a:endParaRPr>
          </a:p>
          <a:p>
            <a:pPr marL="86995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华文新魏"/>
                <a:cs typeface="华文新魏"/>
              </a:rPr>
              <a:t>学生健康情况表：优％十良％十一般％十差％</a:t>
            </a:r>
            <a:endParaRPr sz="2400">
              <a:latin typeface="华文新魏"/>
              <a:cs typeface="华文新魏"/>
            </a:endParaRPr>
          </a:p>
          <a:p>
            <a:pPr marL="86995" marR="1121410">
              <a:lnSpc>
                <a:spcPct val="124200"/>
              </a:lnSpc>
            </a:pPr>
            <a:r>
              <a:rPr sz="2400" dirty="0">
                <a:latin typeface="华文新魏"/>
                <a:cs typeface="华文新魏"/>
              </a:rPr>
              <a:t>学生成绩单：学号十姓名</a:t>
            </a:r>
            <a:r>
              <a:rPr sz="2400" spc="5" dirty="0">
                <a:latin typeface="华文新魏"/>
                <a:cs typeface="华文新魏"/>
              </a:rPr>
              <a:t>十</a:t>
            </a:r>
            <a:r>
              <a:rPr sz="2400" spc="-5" dirty="0">
                <a:latin typeface="华文新魏"/>
                <a:cs typeface="华文新魏"/>
              </a:rPr>
              <a:t>{</a:t>
            </a:r>
            <a:r>
              <a:rPr sz="2400" dirty="0">
                <a:latin typeface="华文新魏"/>
                <a:cs typeface="华文新魏"/>
              </a:rPr>
              <a:t>课程</a:t>
            </a:r>
            <a:r>
              <a:rPr sz="2400" spc="-5" dirty="0">
                <a:latin typeface="华文新魏"/>
                <a:cs typeface="华文新魏"/>
              </a:rPr>
              <a:t>名</a:t>
            </a:r>
            <a:r>
              <a:rPr sz="2400" dirty="0">
                <a:latin typeface="华文新魏"/>
                <a:cs typeface="华文新魏"/>
              </a:rPr>
              <a:t>+成绩</a:t>
            </a:r>
            <a:r>
              <a:rPr sz="2400" spc="-5" dirty="0">
                <a:latin typeface="华文新魏"/>
                <a:cs typeface="华文新魏"/>
              </a:rPr>
              <a:t>}</a:t>
            </a:r>
            <a:r>
              <a:rPr sz="2400" spc="5" dirty="0">
                <a:latin typeface="华文新魏"/>
                <a:cs typeface="华文新魏"/>
              </a:rPr>
              <a:t>+</a:t>
            </a:r>
            <a:r>
              <a:rPr sz="2400" dirty="0">
                <a:latin typeface="华文新魏"/>
                <a:cs typeface="华文新魏"/>
              </a:rPr>
              <a:t>总成绩 </a:t>
            </a:r>
            <a:r>
              <a:rPr sz="2400" spc="-5" dirty="0">
                <a:latin typeface="华文新魏"/>
                <a:cs typeface="华文新魏"/>
              </a:rPr>
              <a:t>不及格人数统计表：学号十成绩十不及格总人数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传统需求建模的基本方法介绍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361" y="2001773"/>
            <a:ext cx="7542530" cy="2807335"/>
          </a:xfrm>
          <a:custGeom>
            <a:avLst/>
            <a:gdLst/>
            <a:ahLst/>
            <a:cxnLst/>
            <a:rect l="l" t="t" r="r" b="b"/>
            <a:pathLst>
              <a:path w="7542530" h="2807335">
                <a:moveTo>
                  <a:pt x="0" y="2807208"/>
                </a:moveTo>
                <a:lnTo>
                  <a:pt x="7542276" y="2807208"/>
                </a:lnTo>
                <a:lnTo>
                  <a:pt x="7542276" y="0"/>
                </a:lnTo>
                <a:lnTo>
                  <a:pt x="0" y="0"/>
                </a:lnTo>
                <a:lnTo>
                  <a:pt x="0" y="2807208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2344" y="1913427"/>
            <a:ext cx="3395345" cy="17545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32765" indent="-53340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原型方法</a:t>
            </a:r>
            <a:endParaRPr sz="3200">
              <a:latin typeface="华文新魏"/>
              <a:cs typeface="华文新魏"/>
            </a:endParaRPr>
          </a:p>
          <a:p>
            <a:pPr marL="532765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基于数据流建模</a:t>
            </a:r>
            <a:endParaRPr sz="3200">
              <a:latin typeface="华文新魏"/>
              <a:cs typeface="华文新魏"/>
            </a:endParaRPr>
          </a:p>
          <a:p>
            <a:pPr marL="532765" indent="-53340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基于UML建模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227" y="3112007"/>
            <a:ext cx="577596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4721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基于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UML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方法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3494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1633727"/>
            <a:ext cx="8153400" cy="2331720"/>
          </a:xfrm>
          <a:custGeom>
            <a:avLst/>
            <a:gdLst/>
            <a:ahLst/>
            <a:cxnLst/>
            <a:rect l="l" t="t" r="r" b="b"/>
            <a:pathLst>
              <a:path w="8153400" h="2331720">
                <a:moveTo>
                  <a:pt x="8153400" y="0"/>
                </a:moveTo>
                <a:lnTo>
                  <a:pt x="0" y="0"/>
                </a:lnTo>
                <a:lnTo>
                  <a:pt x="0" y="2331720"/>
                </a:lnTo>
                <a:lnTo>
                  <a:pt x="8153400" y="2331720"/>
                </a:lnTo>
                <a:lnTo>
                  <a:pt x="8153400" y="0"/>
                </a:lnTo>
                <a:close/>
              </a:path>
            </a:pathLst>
          </a:custGeom>
          <a:solidFill>
            <a:srgbClr val="BED2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140" y="1546834"/>
            <a:ext cx="7665720" cy="22421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华文新魏"/>
                <a:cs typeface="华文新魏"/>
              </a:rPr>
              <a:t>基于面向对象的情景分</a:t>
            </a:r>
            <a:r>
              <a:rPr sz="3200" spc="-15" dirty="0">
                <a:latin typeface="华文新魏"/>
                <a:cs typeface="华文新魏"/>
              </a:rPr>
              <a:t>析</a:t>
            </a:r>
            <a:r>
              <a:rPr sz="3200" dirty="0">
                <a:latin typeface="华文新魏"/>
                <a:cs typeface="华文新魏"/>
              </a:rPr>
              <a:t>方法</a:t>
            </a:r>
            <a:endParaRPr sz="3200">
              <a:latin typeface="华文新魏"/>
              <a:cs typeface="华文新魏"/>
            </a:endParaRPr>
          </a:p>
          <a:p>
            <a:pPr marL="332740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华文新魏"/>
                <a:cs typeface="华文新魏"/>
              </a:rPr>
              <a:t>从用户角度出发考虑的</a:t>
            </a:r>
            <a:r>
              <a:rPr sz="3200" spc="-15" dirty="0">
                <a:latin typeface="华文新魏"/>
                <a:cs typeface="华文新魏"/>
              </a:rPr>
              <a:t>功</a:t>
            </a:r>
            <a:r>
              <a:rPr sz="3200" dirty="0">
                <a:latin typeface="华文新魏"/>
                <a:cs typeface="华文新魏"/>
              </a:rPr>
              <a:t>能需求</a:t>
            </a:r>
            <a:endParaRPr sz="3200">
              <a:latin typeface="华文新魏"/>
              <a:cs typeface="华文新魏"/>
            </a:endParaRPr>
          </a:p>
          <a:p>
            <a:pPr marL="332740" marR="508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华文新魏"/>
                <a:cs typeface="华文新魏"/>
              </a:rPr>
              <a:t>用例是系统向用户提供</a:t>
            </a:r>
            <a:r>
              <a:rPr sz="3200" spc="-15" dirty="0">
                <a:latin typeface="华文新魏"/>
                <a:cs typeface="华文新魏"/>
              </a:rPr>
              <a:t>一</a:t>
            </a:r>
            <a:r>
              <a:rPr sz="3200" dirty="0">
                <a:latin typeface="华文新魏"/>
                <a:cs typeface="华文新魏"/>
              </a:rPr>
              <a:t>个有</a:t>
            </a:r>
            <a:r>
              <a:rPr sz="3200" spc="-15" dirty="0">
                <a:latin typeface="华文新魏"/>
                <a:cs typeface="华文新魏"/>
              </a:rPr>
              <a:t>价</a:t>
            </a:r>
            <a:r>
              <a:rPr sz="3200" dirty="0">
                <a:latin typeface="华文新魏"/>
                <a:cs typeface="华文新魏"/>
              </a:rPr>
              <a:t>值的</a:t>
            </a:r>
            <a:r>
              <a:rPr sz="3200" spc="-15" dirty="0">
                <a:latin typeface="华文新魏"/>
                <a:cs typeface="华文新魏"/>
              </a:rPr>
              <a:t>结</a:t>
            </a:r>
            <a:r>
              <a:rPr sz="3200" dirty="0">
                <a:latin typeface="华文新魏"/>
                <a:cs typeface="华文新魏"/>
              </a:rPr>
              <a:t>果 的某项功能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4728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UML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需求视图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58080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258" y="1774698"/>
            <a:ext cx="8153400" cy="3124200"/>
          </a:xfrm>
          <a:custGeom>
            <a:avLst/>
            <a:gdLst/>
            <a:ahLst/>
            <a:cxnLst/>
            <a:rect l="l" t="t" r="r" b="b"/>
            <a:pathLst>
              <a:path w="8153400" h="3124200">
                <a:moveTo>
                  <a:pt x="0" y="3124200"/>
                </a:moveTo>
                <a:lnTo>
                  <a:pt x="8153400" y="3124200"/>
                </a:lnTo>
                <a:lnTo>
                  <a:pt x="8153400" y="0"/>
                </a:lnTo>
                <a:lnTo>
                  <a:pt x="0" y="0"/>
                </a:lnTo>
                <a:lnTo>
                  <a:pt x="0" y="312420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540" y="1680463"/>
            <a:ext cx="6526530" cy="257683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用例视图</a:t>
            </a:r>
            <a:r>
              <a:rPr sz="3600" spc="-5" dirty="0">
                <a:latin typeface="华文新魏"/>
                <a:cs typeface="华文新魏"/>
              </a:rPr>
              <a:t>（Use</a:t>
            </a:r>
            <a:r>
              <a:rPr sz="3600" spc="-45" dirty="0">
                <a:latin typeface="华文新魏"/>
                <a:cs typeface="华文新魏"/>
              </a:rPr>
              <a:t> </a:t>
            </a:r>
            <a:r>
              <a:rPr sz="3600" dirty="0">
                <a:latin typeface="华文新魏"/>
                <a:cs typeface="华文新魏"/>
              </a:rPr>
              <a:t>case</a:t>
            </a:r>
            <a:r>
              <a:rPr sz="3600" spc="-55" dirty="0">
                <a:latin typeface="华文新魏"/>
                <a:cs typeface="华文新魏"/>
              </a:rPr>
              <a:t> </a:t>
            </a:r>
            <a:r>
              <a:rPr sz="3600" dirty="0">
                <a:latin typeface="华文新魏"/>
                <a:cs typeface="华文新魏"/>
              </a:rPr>
              <a:t>Diagram）</a:t>
            </a:r>
            <a:endParaRPr sz="3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顺序图</a:t>
            </a:r>
            <a:r>
              <a:rPr sz="3600" spc="-5" dirty="0">
                <a:latin typeface="华文新魏"/>
                <a:cs typeface="华文新魏"/>
              </a:rPr>
              <a:t>（Sequence</a:t>
            </a:r>
            <a:r>
              <a:rPr sz="3600" spc="-45" dirty="0">
                <a:latin typeface="华文新魏"/>
                <a:cs typeface="华文新魏"/>
              </a:rPr>
              <a:t> </a:t>
            </a:r>
            <a:r>
              <a:rPr sz="3600" spc="-5" dirty="0">
                <a:latin typeface="华文新魏"/>
                <a:cs typeface="华文新魏"/>
              </a:rPr>
              <a:t>Diagram）</a:t>
            </a:r>
            <a:endParaRPr sz="3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状态图</a:t>
            </a:r>
            <a:r>
              <a:rPr sz="3600" spc="-5" dirty="0">
                <a:latin typeface="华文新魏"/>
                <a:cs typeface="华文新魏"/>
              </a:rPr>
              <a:t>（State</a:t>
            </a:r>
            <a:r>
              <a:rPr sz="3600" spc="-20" dirty="0">
                <a:latin typeface="华文新魏"/>
                <a:cs typeface="华文新魏"/>
              </a:rPr>
              <a:t> </a:t>
            </a:r>
            <a:r>
              <a:rPr sz="3600" spc="-5" dirty="0">
                <a:latin typeface="华文新魏"/>
                <a:cs typeface="华文新魏"/>
              </a:rPr>
              <a:t>Diagram）</a:t>
            </a:r>
            <a:endParaRPr sz="36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722"/>
              <a:buFont typeface="Wingdings"/>
              <a:buChar char="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活动图（Activity</a:t>
            </a:r>
            <a:r>
              <a:rPr sz="3600" spc="-15" dirty="0">
                <a:latin typeface="华文新魏"/>
                <a:cs typeface="华文新魏"/>
              </a:rPr>
              <a:t> </a:t>
            </a:r>
            <a:r>
              <a:rPr sz="3600" spc="-5" dirty="0">
                <a:latin typeface="华文新魏"/>
                <a:cs typeface="华文新魏"/>
              </a:rPr>
              <a:t>Diagram）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4591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基于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UML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方法综述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3494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977" y="1526286"/>
            <a:ext cx="8153400" cy="2621280"/>
          </a:xfrm>
          <a:custGeom>
            <a:avLst/>
            <a:gdLst/>
            <a:ahLst/>
            <a:cxnLst/>
            <a:rect l="l" t="t" r="r" b="b"/>
            <a:pathLst>
              <a:path w="8153400" h="2621279">
                <a:moveTo>
                  <a:pt x="0" y="2621280"/>
                </a:moveTo>
                <a:lnTo>
                  <a:pt x="8153400" y="2621280"/>
                </a:lnTo>
                <a:lnTo>
                  <a:pt x="8153400" y="0"/>
                </a:lnTo>
                <a:lnTo>
                  <a:pt x="0" y="0"/>
                </a:lnTo>
                <a:lnTo>
                  <a:pt x="0" y="2621280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dirty="0"/>
              <a:t>识别出系统</a:t>
            </a:r>
            <a:r>
              <a:rPr spc="-10" dirty="0"/>
              <a:t>的</a:t>
            </a:r>
            <a:r>
              <a:rPr dirty="0"/>
              <a:t>Actor</a:t>
            </a: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spc="5" dirty="0"/>
              <a:t>描述需要</a:t>
            </a:r>
            <a:r>
              <a:rPr spc="-5" dirty="0"/>
              <a:t>的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case</a:t>
            </a: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dirty="0"/>
              <a:t>实现用例视图</a:t>
            </a: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spc="5" dirty="0"/>
              <a:t>实现顺序视图，活动视</a:t>
            </a:r>
            <a:r>
              <a:rPr spc="-30" dirty="0"/>
              <a:t>图</a:t>
            </a:r>
            <a:r>
              <a:rPr spc="-5" dirty="0"/>
              <a:t>,</a:t>
            </a:r>
            <a:r>
              <a:rPr spc="5" dirty="0"/>
              <a:t>状态</a:t>
            </a:r>
            <a:r>
              <a:rPr spc="-15" dirty="0"/>
              <a:t>视</a:t>
            </a:r>
            <a:r>
              <a:rPr spc="5" dirty="0"/>
              <a:t>图等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6323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贸易链项目需求实</a:t>
            </a:r>
            <a:r>
              <a:rPr sz="4400" u="sng" spc="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例</a:t>
            </a: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角色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715" y="1557527"/>
            <a:ext cx="8371840" cy="954405"/>
          </a:xfrm>
          <a:prstGeom prst="rect">
            <a:avLst/>
          </a:prstGeom>
          <a:solidFill>
            <a:srgbClr val="AFC9C4"/>
          </a:solidFill>
        </p:spPr>
        <p:txBody>
          <a:bodyPr vert="horz" wrap="square" lIns="0" tIns="15875" rIns="0" bIns="0" rtlCol="0">
            <a:spAutoFit/>
          </a:bodyPr>
          <a:lstStyle/>
          <a:p>
            <a:pPr marL="91440" marR="163195">
              <a:lnSpc>
                <a:spcPct val="100299"/>
              </a:lnSpc>
              <a:spcBef>
                <a:spcPts val="125"/>
              </a:spcBef>
            </a:pPr>
            <a:r>
              <a:rPr sz="2900" dirty="0">
                <a:latin typeface="华文仿宋"/>
                <a:cs typeface="华文仿宋"/>
              </a:rPr>
              <a:t>保险、出口商、存储、</a:t>
            </a:r>
            <a:r>
              <a:rPr sz="2900" spc="-15" dirty="0">
                <a:latin typeface="华文仿宋"/>
                <a:cs typeface="华文仿宋"/>
              </a:rPr>
              <a:t>海</a:t>
            </a:r>
            <a:r>
              <a:rPr sz="2900" dirty="0">
                <a:latin typeface="华文仿宋"/>
                <a:cs typeface="华文仿宋"/>
              </a:rPr>
              <a:t>关、</a:t>
            </a:r>
            <a:r>
              <a:rPr sz="2900" spc="-15" dirty="0">
                <a:latin typeface="华文仿宋"/>
                <a:cs typeface="华文仿宋"/>
              </a:rPr>
              <a:t>检</a:t>
            </a:r>
            <a:r>
              <a:rPr sz="2900" dirty="0">
                <a:latin typeface="华文仿宋"/>
                <a:cs typeface="华文仿宋"/>
              </a:rPr>
              <a:t>查部</a:t>
            </a:r>
            <a:r>
              <a:rPr sz="2900" spc="-15" dirty="0">
                <a:latin typeface="华文仿宋"/>
                <a:cs typeface="华文仿宋"/>
              </a:rPr>
              <a:t>门</a:t>
            </a:r>
            <a:r>
              <a:rPr sz="2900" dirty="0">
                <a:latin typeface="华文仿宋"/>
                <a:cs typeface="华文仿宋"/>
              </a:rPr>
              <a:t>、进</a:t>
            </a:r>
            <a:r>
              <a:rPr sz="2900" spc="-15" dirty="0">
                <a:latin typeface="华文仿宋"/>
                <a:cs typeface="华文仿宋"/>
              </a:rPr>
              <a:t>口</a:t>
            </a:r>
            <a:r>
              <a:rPr sz="2900" dirty="0">
                <a:latin typeface="华文仿宋"/>
                <a:cs typeface="华文仿宋"/>
              </a:rPr>
              <a:t>商、 贸易管理部门、税务、</a:t>
            </a:r>
            <a:r>
              <a:rPr sz="2900" spc="-10" dirty="0">
                <a:latin typeface="华文仿宋"/>
                <a:cs typeface="华文仿宋"/>
              </a:rPr>
              <a:t>银</a:t>
            </a:r>
            <a:r>
              <a:rPr sz="2900" dirty="0">
                <a:latin typeface="华文仿宋"/>
                <a:cs typeface="华文仿宋"/>
              </a:rPr>
              <a:t>行、</a:t>
            </a:r>
            <a:r>
              <a:rPr sz="2900" spc="-10" dirty="0">
                <a:latin typeface="华文仿宋"/>
                <a:cs typeface="华文仿宋"/>
              </a:rPr>
              <a:t>运</a:t>
            </a:r>
            <a:r>
              <a:rPr sz="2900" spc="5" dirty="0">
                <a:latin typeface="华文仿宋"/>
                <a:cs typeface="华文仿宋"/>
              </a:rPr>
              <a:t>输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1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5071" y="2570609"/>
            <a:ext cx="8917305" cy="4126229"/>
            <a:chOff x="195071" y="2570609"/>
            <a:chExt cx="8917305" cy="412622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033" y="2570609"/>
              <a:ext cx="4147024" cy="214312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9307" y="2641092"/>
              <a:ext cx="4742688" cy="39044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071" y="4636008"/>
              <a:ext cx="4174236" cy="2060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715" y="1484376"/>
            <a:ext cx="8497824" cy="47259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63239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贸易链项目需求实</a:t>
            </a:r>
            <a:r>
              <a:rPr sz="4400" u="sng" spc="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例</a:t>
            </a: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角色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322833"/>
            <a:ext cx="78632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9270" algn="l"/>
              </a:tabLst>
            </a:pPr>
            <a:r>
              <a:rPr sz="4400" u="sng" spc="-110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贸易链项目需求实</a:t>
            </a:r>
            <a:r>
              <a:rPr sz="4400" u="sng" spc="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例</a:t>
            </a: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:</a:t>
            </a: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主</a:t>
            </a:r>
            <a:r>
              <a:rPr sz="4400" spc="-500" dirty="0">
                <a:solidFill>
                  <a:srgbClr val="775F54"/>
                </a:solidFill>
                <a:latin typeface="Arial"/>
                <a:cs typeface="Arial"/>
              </a:rPr>
              <a:t>Use</a:t>
            </a:r>
            <a:r>
              <a:rPr sz="4400" dirty="0">
                <a:solidFill>
                  <a:srgbClr val="775F54"/>
                </a:solidFill>
                <a:latin typeface="Arial"/>
                <a:cs typeface="Arial"/>
              </a:rPr>
              <a:t>	</a:t>
            </a:r>
            <a:r>
              <a:rPr sz="4400" spc="-380" dirty="0">
                <a:solidFill>
                  <a:srgbClr val="775F54"/>
                </a:solidFill>
                <a:latin typeface="Arial"/>
                <a:cs typeface="Arial"/>
              </a:rPr>
              <a:t>case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394" y="2104548"/>
            <a:ext cx="6731990" cy="34621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384810"/>
            <a:ext cx="5142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sng" spc="-100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贸易链需求实例</a:t>
            </a:r>
            <a:r>
              <a:rPr sz="4000" i="1" spc="-5" dirty="0">
                <a:solidFill>
                  <a:srgbClr val="775F54"/>
                </a:solidFill>
                <a:latin typeface="华文隶书"/>
                <a:cs typeface="华文隶书"/>
              </a:rPr>
              <a:t>:Usecase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4809" y="62673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695" y="1732488"/>
            <a:ext cx="7131948" cy="42537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981" y="232663"/>
            <a:ext cx="8961019" cy="67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ts val="5115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贸易链需求实</a:t>
            </a:r>
            <a:r>
              <a:rPr sz="4400" spc="-10" dirty="0">
                <a:solidFill>
                  <a:srgbClr val="775F54"/>
                </a:solidFill>
                <a:latin typeface="华文隶书"/>
                <a:cs typeface="华文隶书"/>
              </a:rPr>
              <a:t>例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：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 err="1">
                <a:solidFill>
                  <a:srgbClr val="775F54"/>
                </a:solidFill>
                <a:latin typeface="华文隶书"/>
                <a:cs typeface="华文隶书"/>
              </a:rPr>
              <a:t>合同执行阶</a:t>
            </a:r>
            <a:r>
              <a:rPr sz="6600" spc="7" baseline="-4419" dirty="0" err="1">
                <a:solidFill>
                  <a:srgbClr val="775F54"/>
                </a:solidFill>
                <a:latin typeface="华文隶书"/>
                <a:cs typeface="华文隶书"/>
              </a:rPr>
              <a:t>段</a:t>
            </a:r>
            <a:endParaRPr sz="6600" baseline="-4419" dirty="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7392" y="655330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416" y="1557527"/>
            <a:ext cx="6986016" cy="496671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23266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贸易链需求实例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342" y="1617599"/>
            <a:ext cx="5909829" cy="406486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65" y="23266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贸易链需求实例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583433"/>
            <a:ext cx="6697980" cy="525627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590" y="232663"/>
            <a:ext cx="42303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贸易链需求实例</a:t>
            </a:r>
            <a:r>
              <a:rPr sz="4400" spc="-9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383" y="1557527"/>
            <a:ext cx="5326379" cy="516178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147" y="234042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1595" y="2058923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2147" y="32992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595" y="3017520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2147" y="42600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1595" y="3977640"/>
            <a:ext cx="504825" cy="8661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2147" y="522109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1595" y="4939284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039" y="2058923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6035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205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软件需求管理过程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4704" y="3017520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6039" y="3977640"/>
            <a:ext cx="4630420" cy="8661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敏捷需求建模方法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6227" y="4939284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2663"/>
            <a:ext cx="61779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需求建模的基本方法介绍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398" y="1690877"/>
            <a:ext cx="8153400" cy="2809240"/>
          </a:xfrm>
          <a:custGeom>
            <a:avLst/>
            <a:gdLst/>
            <a:ahLst/>
            <a:cxnLst/>
            <a:rect l="l" t="t" r="r" b="b"/>
            <a:pathLst>
              <a:path w="8153400" h="2809240">
                <a:moveTo>
                  <a:pt x="0" y="2808732"/>
                </a:moveTo>
                <a:lnTo>
                  <a:pt x="8153400" y="2808732"/>
                </a:lnTo>
                <a:lnTo>
                  <a:pt x="8153400" y="0"/>
                </a:lnTo>
                <a:lnTo>
                  <a:pt x="0" y="0"/>
                </a:lnTo>
                <a:lnTo>
                  <a:pt x="0" y="280873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7466" y="1604619"/>
            <a:ext cx="3396615" cy="23317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r>
              <a:rPr sz="3200" dirty="0">
                <a:latin typeface="华文新魏"/>
                <a:cs typeface="华文新魏"/>
              </a:rPr>
              <a:t>传统方法:</a:t>
            </a:r>
            <a:endParaRPr sz="32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原型方法</a:t>
            </a:r>
            <a:endParaRPr sz="32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基于数据流建模</a:t>
            </a:r>
            <a:endParaRPr sz="3200">
              <a:latin typeface="华文新魏"/>
              <a:cs typeface="华文新魏"/>
            </a:endParaRPr>
          </a:p>
          <a:p>
            <a:pPr marL="532765" indent="-5327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AutoNum type="arabicPeriod"/>
              <a:tabLst>
                <a:tab pos="532765" algn="l"/>
                <a:tab pos="533400" algn="l"/>
              </a:tabLst>
            </a:pPr>
            <a:r>
              <a:rPr sz="3200" dirty="0">
                <a:latin typeface="华文新魏"/>
                <a:cs typeface="华文新魏"/>
              </a:rPr>
              <a:t>基于UML建模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398" y="4676394"/>
            <a:ext cx="8153400" cy="76517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10"/>
              </a:spcBef>
              <a:tabLst>
                <a:tab pos="622935" algn="l"/>
              </a:tabLst>
            </a:pPr>
            <a:r>
              <a:rPr sz="1900" spc="5" dirty="0">
                <a:solidFill>
                  <a:srgbClr val="DD8046"/>
                </a:solidFill>
                <a:latin typeface="华文新魏"/>
                <a:cs typeface="华文新魏"/>
              </a:rPr>
              <a:t>1.	</a:t>
            </a:r>
            <a:r>
              <a:rPr sz="3200" dirty="0">
                <a:latin typeface="华文新魏"/>
                <a:cs typeface="华文新魏"/>
              </a:rPr>
              <a:t>敏捷方法</a:t>
            </a:r>
            <a:endParaRPr sz="3200">
              <a:latin typeface="华文新魏"/>
              <a:cs typeface="华文新魏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" y="4907279"/>
            <a:ext cx="579119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69596"/>
            <a:ext cx="6404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90" dirty="0">
                <a:solidFill>
                  <a:srgbClr val="775F54"/>
                </a:solidFill>
                <a:latin typeface="Trebuchet MS"/>
                <a:cs typeface="Trebuchet MS"/>
              </a:rPr>
              <a:t>Requirements </a:t>
            </a:r>
            <a:r>
              <a:rPr sz="4000" b="1" spc="-200" dirty="0">
                <a:solidFill>
                  <a:srgbClr val="775F54"/>
                </a:solidFill>
                <a:latin typeface="Trebuchet MS"/>
                <a:cs typeface="Trebuchet MS"/>
              </a:rPr>
              <a:t>in </a:t>
            </a:r>
            <a:r>
              <a:rPr sz="4000" b="1" spc="-75" dirty="0">
                <a:solidFill>
                  <a:srgbClr val="775F54"/>
                </a:solidFill>
                <a:latin typeface="Trebuchet MS"/>
                <a:cs typeface="Trebuchet MS"/>
              </a:rPr>
              <a:t>Agile</a:t>
            </a:r>
            <a:r>
              <a:rPr sz="4000" b="1" spc="-10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4000" b="1" spc="-240" dirty="0">
                <a:solidFill>
                  <a:srgbClr val="775F54"/>
                </a:solidFill>
                <a:latin typeface="Trebuchet MS"/>
                <a:cs typeface="Trebuchet MS"/>
              </a:rPr>
              <a:t>process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86483"/>
            <a:ext cx="7458456" cy="451256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57365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50" dirty="0">
                <a:solidFill>
                  <a:srgbClr val="775F54"/>
                </a:solidFill>
                <a:latin typeface="Arial"/>
                <a:cs typeface="Arial"/>
              </a:rPr>
              <a:t>Backlog</a:t>
            </a:r>
            <a:r>
              <a:rPr sz="4400" spc="-55" dirty="0">
                <a:solidFill>
                  <a:srgbClr val="775F54"/>
                </a:solidFill>
                <a:latin typeface="Arial"/>
                <a:cs typeface="Arial"/>
              </a:rPr>
              <a:t> </a:t>
            </a:r>
            <a:r>
              <a:rPr sz="4400" spc="-250" dirty="0">
                <a:solidFill>
                  <a:srgbClr val="775F54"/>
                </a:solidFill>
                <a:latin typeface="Arial"/>
                <a:cs typeface="Arial"/>
              </a:rPr>
              <a:t>–</a:t>
            </a:r>
            <a:r>
              <a:rPr sz="4400" spc="-30" dirty="0">
                <a:solidFill>
                  <a:srgbClr val="775F54"/>
                </a:solidFill>
                <a:latin typeface="Arial"/>
                <a:cs typeface="Arial"/>
              </a:rPr>
              <a:t> </a:t>
            </a: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敏捷需求来源</a:t>
            </a:r>
            <a:endParaRPr sz="4400">
              <a:latin typeface="华文仿宋"/>
              <a:cs typeface="华文仿宋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60681" y="1751210"/>
            <a:ext cx="6818630" cy="4323715"/>
            <a:chOff x="1060681" y="1751210"/>
            <a:chExt cx="6818630" cy="4323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0681" y="1751210"/>
              <a:ext cx="6818508" cy="38512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2801" y="3213354"/>
              <a:ext cx="4497705" cy="2851785"/>
            </a:xfrm>
            <a:custGeom>
              <a:avLst/>
              <a:gdLst/>
              <a:ahLst/>
              <a:cxnLst/>
              <a:rect l="l" t="t" r="r" b="b"/>
              <a:pathLst>
                <a:path w="4497705" h="2851785">
                  <a:moveTo>
                    <a:pt x="0" y="2851404"/>
                  </a:moveTo>
                  <a:lnTo>
                    <a:pt x="4497324" y="2851404"/>
                  </a:lnTo>
                  <a:lnTo>
                    <a:pt x="4497324" y="1295400"/>
                  </a:lnTo>
                  <a:lnTo>
                    <a:pt x="0" y="1295400"/>
                  </a:lnTo>
                  <a:lnTo>
                    <a:pt x="0" y="2851404"/>
                  </a:lnTo>
                  <a:close/>
                </a:path>
                <a:path w="4497705" h="2851785">
                  <a:moveTo>
                    <a:pt x="0" y="1295400"/>
                  </a:moveTo>
                  <a:lnTo>
                    <a:pt x="2697480" y="1295400"/>
                  </a:lnTo>
                  <a:lnTo>
                    <a:pt x="269748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17594" y="61561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79375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Product</a:t>
            </a:r>
            <a:r>
              <a:rPr sz="4400" i="1" spc="-4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Backlog: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产品待办事项列表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517116"/>
            <a:ext cx="5139055" cy="26790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67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需求的来源</a:t>
            </a:r>
            <a:endParaRPr sz="2900">
              <a:latin typeface="华文新魏"/>
              <a:cs typeface="华文新魏"/>
            </a:endParaRPr>
          </a:p>
          <a:p>
            <a:pPr marL="33274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包含产品想法的一个有</a:t>
            </a:r>
            <a:r>
              <a:rPr sz="2900" spc="-15" dirty="0">
                <a:latin typeface="华文新魏"/>
                <a:cs typeface="华文新魏"/>
              </a:rPr>
              <a:t>序</a:t>
            </a:r>
            <a:r>
              <a:rPr sz="2900" dirty="0">
                <a:latin typeface="华文新魏"/>
                <a:cs typeface="华文新魏"/>
              </a:rPr>
              <a:t>列表</a:t>
            </a:r>
            <a:endParaRPr sz="2900">
              <a:latin typeface="华文新魏"/>
              <a:cs typeface="华文新魏"/>
            </a:endParaRPr>
          </a:p>
          <a:p>
            <a:pPr marL="33274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一个长短不定列表</a:t>
            </a:r>
            <a:endParaRPr sz="2900">
              <a:latin typeface="华文新魏"/>
              <a:cs typeface="华文新魏"/>
            </a:endParaRPr>
          </a:p>
          <a:p>
            <a:pPr marL="332740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可以是模糊的或是不具</a:t>
            </a:r>
            <a:r>
              <a:rPr sz="2900" spc="-15" dirty="0">
                <a:latin typeface="华文新魏"/>
                <a:cs typeface="华文新魏"/>
              </a:rPr>
              <a:t>体</a:t>
            </a:r>
            <a:r>
              <a:rPr sz="2900" dirty="0">
                <a:latin typeface="华文新魏"/>
                <a:cs typeface="华文新魏"/>
              </a:rPr>
              <a:t>的</a:t>
            </a:r>
            <a:endParaRPr sz="2900">
              <a:latin typeface="华文新魏"/>
              <a:cs typeface="华文新魏"/>
            </a:endParaRPr>
          </a:p>
          <a:p>
            <a:pPr marL="332740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3375" algn="l"/>
              </a:tabLst>
            </a:pPr>
            <a:r>
              <a:rPr sz="2900" dirty="0">
                <a:latin typeface="华文新魏"/>
                <a:cs typeface="华文新魏"/>
              </a:rPr>
              <a:t>逐渐完善</a:t>
            </a:r>
            <a:r>
              <a:rPr sz="2900" spc="5" dirty="0">
                <a:latin typeface="华文新魏"/>
                <a:cs typeface="华文新魏"/>
              </a:rPr>
              <a:t>，越来越明确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1970" y="6171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315213"/>
            <a:ext cx="81705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Sprint</a:t>
            </a:r>
            <a:r>
              <a:rPr sz="4400" i="1" spc="-5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Backlog: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待办事项列表的细化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065" y="1517116"/>
            <a:ext cx="8091170" cy="25908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按照迭代计</a:t>
            </a:r>
            <a:r>
              <a:rPr sz="2900" spc="-10" dirty="0">
                <a:latin typeface="华文新魏"/>
                <a:cs typeface="华文新魏"/>
              </a:rPr>
              <a:t>划</a:t>
            </a:r>
            <a:r>
              <a:rPr sz="2900" dirty="0">
                <a:latin typeface="华文新魏"/>
                <a:cs typeface="华文新魏"/>
              </a:rPr>
              <a:t>,逐步细</a:t>
            </a:r>
            <a:r>
              <a:rPr sz="2900" spc="-15" dirty="0">
                <a:latin typeface="华文新魏"/>
                <a:cs typeface="华文新魏"/>
              </a:rPr>
              <a:t>化</a:t>
            </a:r>
            <a:r>
              <a:rPr sz="2900" dirty="0">
                <a:latin typeface="华文新魏"/>
                <a:cs typeface="华文新魏"/>
              </a:rPr>
              <a:t>需求,</a:t>
            </a:r>
            <a:r>
              <a:rPr sz="2900" spc="-15" dirty="0">
                <a:latin typeface="华文新魏"/>
                <a:cs typeface="华文新魏"/>
              </a:rPr>
              <a:t>形</a:t>
            </a:r>
            <a:r>
              <a:rPr sz="2900" dirty="0">
                <a:latin typeface="华文新魏"/>
                <a:cs typeface="华文新魏"/>
              </a:rPr>
              <a:t>成</a:t>
            </a:r>
            <a:r>
              <a:rPr sz="2900" spc="-5" dirty="0">
                <a:latin typeface="华文新魏"/>
                <a:cs typeface="华文新魏"/>
              </a:rPr>
              <a:t>Story(</a:t>
            </a:r>
            <a:r>
              <a:rPr sz="2900" dirty="0">
                <a:latin typeface="华文新魏"/>
                <a:cs typeface="华文新魏"/>
              </a:rPr>
              <a:t>故事</a:t>
            </a:r>
            <a:r>
              <a:rPr sz="2900" spc="-5" dirty="0">
                <a:latin typeface="华文新魏"/>
                <a:cs typeface="华文新魏"/>
              </a:rPr>
              <a:t>),</a:t>
            </a:r>
            <a:endParaRPr sz="2900">
              <a:latin typeface="华文新魏"/>
              <a:cs typeface="华文新魏"/>
            </a:endParaRPr>
          </a:p>
          <a:p>
            <a:pPr marL="332105" marR="50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鼓励开发人员、测试人</a:t>
            </a:r>
            <a:r>
              <a:rPr sz="2900" spc="-10" dirty="0">
                <a:latin typeface="华文新魏"/>
                <a:cs typeface="华文新魏"/>
              </a:rPr>
              <a:t>员</a:t>
            </a:r>
            <a:r>
              <a:rPr sz="2900" dirty="0">
                <a:latin typeface="华文新魏"/>
                <a:cs typeface="华文新魏"/>
              </a:rPr>
              <a:t>、业</a:t>
            </a:r>
            <a:r>
              <a:rPr sz="2900" spc="-10" dirty="0">
                <a:latin typeface="华文新魏"/>
                <a:cs typeface="华文新魏"/>
              </a:rPr>
              <a:t>务</a:t>
            </a:r>
            <a:r>
              <a:rPr sz="2900" dirty="0">
                <a:latin typeface="华文新魏"/>
                <a:cs typeface="华文新魏"/>
              </a:rPr>
              <a:t>分析</a:t>
            </a:r>
            <a:r>
              <a:rPr sz="2900" spc="-10" dirty="0">
                <a:latin typeface="华文新魏"/>
                <a:cs typeface="华文新魏"/>
              </a:rPr>
              <a:t>人</a:t>
            </a:r>
            <a:r>
              <a:rPr sz="2900" dirty="0">
                <a:latin typeface="华文新魏"/>
                <a:cs typeface="华文新魏"/>
              </a:rPr>
              <a:t>员和</a:t>
            </a:r>
            <a:r>
              <a:rPr sz="2900" spc="-10" dirty="0">
                <a:latin typeface="华文新魏"/>
                <a:cs typeface="华文新魏"/>
              </a:rPr>
              <a:t>产</a:t>
            </a:r>
            <a:r>
              <a:rPr sz="2900" dirty="0">
                <a:latin typeface="华文新魏"/>
                <a:cs typeface="华文新魏"/>
              </a:rPr>
              <a:t>品 </a:t>
            </a:r>
            <a:r>
              <a:rPr sz="2900" spc="5" dirty="0">
                <a:latin typeface="华文新魏"/>
                <a:cs typeface="华文新魏"/>
              </a:rPr>
              <a:t>负责人合作编写故</a:t>
            </a:r>
            <a:r>
              <a:rPr sz="2900" spc="-15" dirty="0">
                <a:latin typeface="华文新魏"/>
                <a:cs typeface="华文新魏"/>
              </a:rPr>
              <a:t>事</a:t>
            </a:r>
            <a:r>
              <a:rPr sz="2900" dirty="0">
                <a:latin typeface="华文新魏"/>
                <a:cs typeface="华文新魏"/>
              </a:rPr>
              <a:t>,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确保所有的故事都足够</a:t>
            </a:r>
            <a:r>
              <a:rPr sz="2900" spc="-30" dirty="0">
                <a:latin typeface="华文新魏"/>
                <a:cs typeface="华文新魏"/>
              </a:rPr>
              <a:t>小</a:t>
            </a:r>
            <a:r>
              <a:rPr sz="2900" dirty="0">
                <a:latin typeface="华文新魏"/>
                <a:cs typeface="华文新魏"/>
              </a:rPr>
              <a:t>,可</a:t>
            </a:r>
            <a:r>
              <a:rPr sz="2900" spc="-15" dirty="0">
                <a:latin typeface="华文新魏"/>
                <a:cs typeface="华文新魏"/>
              </a:rPr>
              <a:t>以</a:t>
            </a:r>
            <a:r>
              <a:rPr sz="2900" dirty="0">
                <a:latin typeface="华文新魏"/>
                <a:cs typeface="华文新魏"/>
              </a:rPr>
              <a:t>持续</a:t>
            </a:r>
            <a:r>
              <a:rPr sz="2900" spc="-15" dirty="0">
                <a:latin typeface="华文新魏"/>
                <a:cs typeface="华文新魏"/>
              </a:rPr>
              <a:t>交</a:t>
            </a:r>
            <a:r>
              <a:rPr sz="2900" dirty="0">
                <a:latin typeface="华文新魏"/>
                <a:cs typeface="华文新魏"/>
              </a:rPr>
              <a:t>付工</a:t>
            </a:r>
            <a:r>
              <a:rPr sz="2900" spc="-15" dirty="0">
                <a:latin typeface="华文新魏"/>
                <a:cs typeface="华文新魏"/>
              </a:rPr>
              <a:t>作</a:t>
            </a:r>
            <a:r>
              <a:rPr sz="2900" dirty="0"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最好每天完成至少一个</a:t>
            </a:r>
            <a:r>
              <a:rPr sz="2900" spc="-10" dirty="0">
                <a:latin typeface="华文新魏"/>
                <a:cs typeface="华文新魏"/>
              </a:rPr>
              <a:t>故</a:t>
            </a:r>
            <a:r>
              <a:rPr sz="2900" spc="5" dirty="0">
                <a:latin typeface="华文新魏"/>
                <a:cs typeface="华文新魏"/>
              </a:rPr>
              <a:t>事。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2746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85" dirty="0">
                <a:solidFill>
                  <a:srgbClr val="775F54"/>
                </a:solidFill>
                <a:latin typeface="Trebuchet MS"/>
                <a:cs typeface="Trebuchet MS"/>
              </a:rPr>
              <a:t>User</a:t>
            </a:r>
            <a:r>
              <a:rPr sz="4400" b="1" spc="-200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4400" b="1" spc="-295" dirty="0">
                <a:solidFill>
                  <a:srgbClr val="775F54"/>
                </a:solidFill>
                <a:latin typeface="Trebuchet MS"/>
                <a:cs typeface="Trebuchet MS"/>
              </a:rPr>
              <a:t>Stories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065" y="2172970"/>
            <a:ext cx="7589520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60" dirty="0">
                <a:latin typeface="Arial"/>
                <a:cs typeface="Arial"/>
              </a:rPr>
              <a:t>In </a:t>
            </a:r>
            <a:r>
              <a:rPr sz="2900" spc="-75" dirty="0">
                <a:latin typeface="Arial"/>
                <a:cs typeface="Arial"/>
              </a:rPr>
              <a:t>Agile </a:t>
            </a:r>
            <a:r>
              <a:rPr sz="2900" spc="-240" dirty="0">
                <a:latin typeface="Arial"/>
                <a:cs typeface="Arial"/>
              </a:rPr>
              <a:t>process, </a:t>
            </a:r>
            <a:r>
              <a:rPr sz="2900" spc="-250" dirty="0">
                <a:latin typeface="Arial"/>
                <a:cs typeface="Arial"/>
              </a:rPr>
              <a:t>user </a:t>
            </a:r>
            <a:r>
              <a:rPr sz="2900" spc="-180" dirty="0">
                <a:latin typeface="Arial"/>
                <a:cs typeface="Arial"/>
              </a:rPr>
              <a:t>requirements </a:t>
            </a:r>
            <a:r>
              <a:rPr sz="2900" spc="-55" dirty="0">
                <a:latin typeface="Arial"/>
                <a:cs typeface="Arial"/>
              </a:rPr>
              <a:t>are </a:t>
            </a:r>
            <a:r>
              <a:rPr sz="2900" spc="-175" dirty="0">
                <a:latin typeface="Arial"/>
                <a:cs typeface="Arial"/>
              </a:rPr>
              <a:t>expressed  </a:t>
            </a:r>
            <a:r>
              <a:rPr sz="2900" spc="-245" dirty="0">
                <a:latin typeface="Arial"/>
                <a:cs typeface="Arial"/>
              </a:rPr>
              <a:t>as </a:t>
            </a:r>
            <a:r>
              <a:rPr sz="2900" b="1" spc="-200" dirty="0">
                <a:latin typeface="Trebuchet MS"/>
                <a:cs typeface="Trebuchet MS"/>
              </a:rPr>
              <a:t>user</a:t>
            </a:r>
            <a:r>
              <a:rPr sz="2900" b="1" spc="-434" dirty="0">
                <a:latin typeface="Trebuchet MS"/>
                <a:cs typeface="Trebuchet MS"/>
              </a:rPr>
              <a:t> </a:t>
            </a:r>
            <a:r>
              <a:rPr sz="2900" b="1" spc="-180" dirty="0">
                <a:latin typeface="Trebuchet MS"/>
                <a:cs typeface="Trebuchet MS"/>
              </a:rPr>
              <a:t>stories</a:t>
            </a:r>
            <a:r>
              <a:rPr sz="2900" spc="-180" dirty="0">
                <a:latin typeface="Arial"/>
                <a:cs typeface="Arial"/>
              </a:rPr>
              <a:t>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1970" y="6135115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54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2746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85" dirty="0">
                <a:solidFill>
                  <a:srgbClr val="775F54"/>
                </a:solidFill>
                <a:latin typeface="Trebuchet MS"/>
                <a:cs typeface="Trebuchet MS"/>
              </a:rPr>
              <a:t>User</a:t>
            </a:r>
            <a:r>
              <a:rPr sz="4400" b="1" spc="-200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4400" b="1" spc="-295" dirty="0">
                <a:solidFill>
                  <a:srgbClr val="775F54"/>
                </a:solidFill>
                <a:latin typeface="Trebuchet MS"/>
                <a:cs typeface="Trebuchet MS"/>
              </a:rPr>
              <a:t>Stories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692" y="1612519"/>
            <a:ext cx="7901305" cy="310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900" b="1" spc="-185" dirty="0">
                <a:latin typeface="Trebuchet MS"/>
                <a:cs typeface="Trebuchet MS"/>
              </a:rPr>
              <a:t>User </a:t>
            </a:r>
            <a:r>
              <a:rPr sz="2900" b="1" spc="-180" dirty="0">
                <a:latin typeface="Trebuchet MS"/>
                <a:cs typeface="Trebuchet MS"/>
              </a:rPr>
              <a:t>stories </a:t>
            </a:r>
            <a:r>
              <a:rPr sz="2900" spc="-55" dirty="0">
                <a:latin typeface="Arial"/>
                <a:cs typeface="Arial"/>
              </a:rPr>
              <a:t>are </a:t>
            </a:r>
            <a:r>
              <a:rPr sz="2900" spc="-185" dirty="0">
                <a:latin typeface="Arial"/>
                <a:cs typeface="Arial"/>
              </a:rPr>
              <a:t>short, </a:t>
            </a:r>
            <a:r>
              <a:rPr sz="2900" spc="-195" dirty="0">
                <a:latin typeface="Arial"/>
                <a:cs typeface="Arial"/>
              </a:rPr>
              <a:t>simple </a:t>
            </a:r>
            <a:r>
              <a:rPr sz="2900" spc="-140" dirty="0">
                <a:latin typeface="Arial"/>
                <a:cs typeface="Arial"/>
              </a:rPr>
              <a:t>description </a:t>
            </a:r>
            <a:r>
              <a:rPr sz="2900" dirty="0">
                <a:latin typeface="Arial"/>
                <a:cs typeface="Arial"/>
              </a:rPr>
              <a:t>of </a:t>
            </a:r>
            <a:r>
              <a:rPr sz="2900" spc="-15" dirty="0">
                <a:latin typeface="Arial"/>
                <a:cs typeface="Arial"/>
              </a:rPr>
              <a:t>a </a:t>
            </a:r>
            <a:r>
              <a:rPr sz="2900" spc="-75" dirty="0">
                <a:latin typeface="Arial"/>
                <a:cs typeface="Arial"/>
              </a:rPr>
              <a:t>feature  </a:t>
            </a:r>
            <a:r>
              <a:rPr sz="2900" spc="-280" dirty="0">
                <a:latin typeface="Arial"/>
                <a:cs typeface="Arial"/>
              </a:rPr>
              <a:t>They </a:t>
            </a:r>
            <a:r>
              <a:rPr sz="2900" spc="-50" dirty="0">
                <a:latin typeface="Arial"/>
                <a:cs typeface="Arial"/>
              </a:rPr>
              <a:t>typically </a:t>
            </a:r>
            <a:r>
              <a:rPr sz="2900" spc="-80" dirty="0">
                <a:latin typeface="Arial"/>
                <a:cs typeface="Arial"/>
              </a:rPr>
              <a:t>follow </a:t>
            </a:r>
            <a:r>
              <a:rPr sz="2900" spc="-15" dirty="0">
                <a:latin typeface="Arial"/>
                <a:cs typeface="Arial"/>
              </a:rPr>
              <a:t>a </a:t>
            </a:r>
            <a:r>
              <a:rPr sz="2900" spc="-195" dirty="0">
                <a:latin typeface="Arial"/>
                <a:cs typeface="Arial"/>
              </a:rPr>
              <a:t>simple</a:t>
            </a:r>
            <a:r>
              <a:rPr sz="2900" spc="-175" dirty="0">
                <a:latin typeface="Arial"/>
                <a:cs typeface="Arial"/>
              </a:rPr>
              <a:t> </a:t>
            </a:r>
            <a:r>
              <a:rPr sz="2900" spc="-114" dirty="0">
                <a:latin typeface="Arial"/>
                <a:cs typeface="Arial"/>
              </a:rPr>
              <a:t>template:</a:t>
            </a:r>
            <a:endParaRPr sz="2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950">
              <a:latin typeface="Arial"/>
              <a:cs typeface="Arial"/>
            </a:endParaRPr>
          </a:p>
          <a:p>
            <a:pPr marL="1390650" indent="-236220">
              <a:lnSpc>
                <a:spcPct val="100000"/>
              </a:lnSpc>
              <a:spcBef>
                <a:spcPts val="5"/>
              </a:spcBef>
              <a:buClr>
                <a:srgbClr val="A4AB81"/>
              </a:buClr>
              <a:buSzPct val="71212"/>
              <a:buFont typeface="Wingdings"/>
              <a:buChar char=""/>
              <a:tabLst>
                <a:tab pos="1391285" algn="l"/>
                <a:tab pos="3830954" algn="l"/>
              </a:tabLst>
            </a:pPr>
            <a:r>
              <a:rPr sz="3300" spc="-380" dirty="0">
                <a:latin typeface="Arial"/>
                <a:cs typeface="Arial"/>
              </a:rPr>
              <a:t>As  </a:t>
            </a:r>
            <a:r>
              <a:rPr sz="3300" spc="-15" dirty="0">
                <a:latin typeface="Arial"/>
                <a:cs typeface="Arial"/>
              </a:rPr>
              <a:t>a</a:t>
            </a:r>
            <a:r>
              <a:rPr sz="3300" spc="-170" dirty="0">
                <a:latin typeface="Arial"/>
                <a:cs typeface="Arial"/>
              </a:rPr>
              <a:t> </a:t>
            </a:r>
            <a:r>
              <a:rPr sz="3300" spc="114" dirty="0">
                <a:latin typeface="Arial"/>
                <a:cs typeface="Arial"/>
              </a:rPr>
              <a:t>&lt;</a:t>
            </a:r>
            <a:r>
              <a:rPr sz="3300" i="1" spc="114" dirty="0">
                <a:latin typeface="Arial Narrow"/>
                <a:cs typeface="Arial Narrow"/>
              </a:rPr>
              <a:t>type</a:t>
            </a:r>
            <a:r>
              <a:rPr sz="3300" i="1" spc="185" dirty="0">
                <a:latin typeface="Arial Narrow"/>
                <a:cs typeface="Arial Narrow"/>
              </a:rPr>
              <a:t> </a:t>
            </a:r>
            <a:r>
              <a:rPr sz="3300" i="1" spc="245" dirty="0">
                <a:latin typeface="Arial Narrow"/>
                <a:cs typeface="Arial Narrow"/>
              </a:rPr>
              <a:t>of	</a:t>
            </a:r>
            <a:r>
              <a:rPr sz="3300" i="1" spc="-15" dirty="0">
                <a:latin typeface="Arial Narrow"/>
                <a:cs typeface="Arial Narrow"/>
              </a:rPr>
              <a:t>user</a:t>
            </a:r>
            <a:r>
              <a:rPr sz="3300" spc="-15" dirty="0">
                <a:latin typeface="Arial"/>
                <a:cs typeface="Arial"/>
              </a:rPr>
              <a:t>&gt;,</a:t>
            </a:r>
            <a:endParaRPr sz="3300">
              <a:latin typeface="Arial"/>
              <a:cs typeface="Arial"/>
            </a:endParaRPr>
          </a:p>
          <a:p>
            <a:pPr marL="1390650" indent="-236220">
              <a:lnSpc>
                <a:spcPct val="100000"/>
              </a:lnSpc>
              <a:spcBef>
                <a:spcPts val="395"/>
              </a:spcBef>
              <a:buClr>
                <a:srgbClr val="A4AB81"/>
              </a:buClr>
              <a:buSzPct val="71212"/>
              <a:buFont typeface="Wingdings"/>
              <a:buChar char=""/>
              <a:tabLst>
                <a:tab pos="1391285" algn="l"/>
              </a:tabLst>
            </a:pPr>
            <a:r>
              <a:rPr sz="3300" spc="-195" dirty="0">
                <a:latin typeface="Arial"/>
                <a:cs typeface="Arial"/>
              </a:rPr>
              <a:t>I </a:t>
            </a:r>
            <a:r>
              <a:rPr sz="3300" spc="-190" dirty="0">
                <a:latin typeface="Arial"/>
                <a:cs typeface="Arial"/>
              </a:rPr>
              <a:t>want </a:t>
            </a:r>
            <a:r>
              <a:rPr sz="3300" spc="5" dirty="0">
                <a:latin typeface="Arial"/>
                <a:cs typeface="Arial"/>
              </a:rPr>
              <a:t>&lt;</a:t>
            </a:r>
            <a:r>
              <a:rPr sz="3300" i="1" spc="5" dirty="0">
                <a:latin typeface="Arial Narrow"/>
                <a:cs typeface="Arial Narrow"/>
              </a:rPr>
              <a:t>some</a:t>
            </a:r>
            <a:r>
              <a:rPr sz="3300" i="1" spc="535" dirty="0">
                <a:latin typeface="Arial Narrow"/>
                <a:cs typeface="Arial Narrow"/>
              </a:rPr>
              <a:t> </a:t>
            </a:r>
            <a:r>
              <a:rPr sz="3300" i="1" spc="200" dirty="0">
                <a:latin typeface="Arial Narrow"/>
                <a:cs typeface="Arial Narrow"/>
              </a:rPr>
              <a:t>goal</a:t>
            </a:r>
            <a:r>
              <a:rPr sz="3300" spc="200" dirty="0">
                <a:latin typeface="Arial"/>
                <a:cs typeface="Arial"/>
              </a:rPr>
              <a:t>&gt;</a:t>
            </a:r>
            <a:endParaRPr sz="3300">
              <a:latin typeface="Arial"/>
              <a:cs typeface="Arial"/>
            </a:endParaRPr>
          </a:p>
          <a:p>
            <a:pPr marL="1390650" indent="-236220">
              <a:lnSpc>
                <a:spcPct val="100000"/>
              </a:lnSpc>
              <a:spcBef>
                <a:spcPts val="409"/>
              </a:spcBef>
              <a:buClr>
                <a:srgbClr val="A4AB81"/>
              </a:buClr>
              <a:buSzPct val="71212"/>
              <a:buFont typeface="Wingdings"/>
              <a:buChar char=""/>
              <a:tabLst>
                <a:tab pos="1391285" algn="l"/>
              </a:tabLst>
            </a:pPr>
            <a:r>
              <a:rPr sz="3300" spc="-370" dirty="0">
                <a:latin typeface="Arial"/>
                <a:cs typeface="Arial"/>
              </a:rPr>
              <a:t>so </a:t>
            </a:r>
            <a:r>
              <a:rPr sz="3300" spc="-114" dirty="0">
                <a:latin typeface="Arial"/>
                <a:cs typeface="Arial"/>
              </a:rPr>
              <a:t>that </a:t>
            </a:r>
            <a:r>
              <a:rPr sz="3300" spc="10" dirty="0">
                <a:latin typeface="Arial"/>
                <a:cs typeface="Arial"/>
              </a:rPr>
              <a:t>&lt;</a:t>
            </a:r>
            <a:r>
              <a:rPr sz="3300" i="1" spc="10" dirty="0">
                <a:latin typeface="Arial Narrow"/>
                <a:cs typeface="Arial Narrow"/>
              </a:rPr>
              <a:t>some</a:t>
            </a:r>
            <a:r>
              <a:rPr sz="3300" i="1" spc="95" dirty="0">
                <a:latin typeface="Arial Narrow"/>
                <a:cs typeface="Arial Narrow"/>
              </a:rPr>
              <a:t> </a:t>
            </a:r>
            <a:r>
              <a:rPr sz="3300" i="1" spc="20" dirty="0">
                <a:latin typeface="Arial Narrow"/>
                <a:cs typeface="Arial Narrow"/>
              </a:rPr>
              <a:t>reason</a:t>
            </a:r>
            <a:r>
              <a:rPr sz="3300" spc="20" dirty="0">
                <a:latin typeface="Arial"/>
                <a:cs typeface="Arial"/>
              </a:rPr>
              <a:t>&gt;.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8967" y="61497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2746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85" dirty="0">
                <a:solidFill>
                  <a:srgbClr val="775F54"/>
                </a:solidFill>
                <a:latin typeface="Trebuchet MS"/>
                <a:cs typeface="Trebuchet MS"/>
              </a:rPr>
              <a:t>User</a:t>
            </a:r>
            <a:r>
              <a:rPr sz="4400" b="1" spc="-200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4400" b="1" spc="-295" dirty="0">
                <a:solidFill>
                  <a:srgbClr val="775F54"/>
                </a:solidFill>
                <a:latin typeface="Trebuchet MS"/>
                <a:cs typeface="Trebuchet MS"/>
              </a:rPr>
              <a:t>Stories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721" y="1902191"/>
            <a:ext cx="8339950" cy="2201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40093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114" dirty="0">
                <a:solidFill>
                  <a:srgbClr val="775F54"/>
                </a:solidFill>
                <a:latin typeface="Trebuchet MS"/>
                <a:cs typeface="Trebuchet MS"/>
              </a:rPr>
              <a:t>Good </a:t>
            </a:r>
            <a:r>
              <a:rPr sz="4400" b="1" spc="-300" dirty="0">
                <a:solidFill>
                  <a:srgbClr val="775F54"/>
                </a:solidFill>
                <a:latin typeface="Trebuchet MS"/>
                <a:cs typeface="Trebuchet MS"/>
              </a:rPr>
              <a:t>user</a:t>
            </a:r>
            <a:r>
              <a:rPr sz="4400" b="1" spc="-254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4400" b="1" spc="-175" dirty="0">
                <a:solidFill>
                  <a:srgbClr val="775F54"/>
                </a:solidFill>
                <a:latin typeface="Trebuchet MS"/>
                <a:cs typeface="Trebuchet MS"/>
              </a:rPr>
              <a:t>story?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692" y="1467586"/>
            <a:ext cx="2359660" cy="384492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3200" b="1" dirty="0">
                <a:latin typeface="Aharoni"/>
                <a:cs typeface="Aharoni"/>
              </a:rPr>
              <a:t>INVEST</a:t>
            </a:r>
            <a:endParaRPr sz="3200">
              <a:latin typeface="Aharoni"/>
              <a:cs typeface="Aharoni"/>
            </a:endParaRPr>
          </a:p>
          <a:p>
            <a:pPr marL="332740" indent="-320040">
              <a:lnSpc>
                <a:spcPct val="100000"/>
              </a:lnSpc>
              <a:spcBef>
                <a:spcPts val="87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65" dirty="0">
                <a:latin typeface="Arial"/>
                <a:cs typeface="Arial"/>
              </a:rPr>
              <a:t>–</a:t>
            </a:r>
            <a:r>
              <a:rPr sz="2900" spc="-140" dirty="0">
                <a:latin typeface="Arial"/>
                <a:cs typeface="Arial"/>
              </a:rPr>
              <a:t>Inde</a:t>
            </a:r>
            <a:r>
              <a:rPr sz="2900" spc="-150" dirty="0">
                <a:latin typeface="Arial"/>
                <a:cs typeface="Arial"/>
              </a:rPr>
              <a:t>p</a:t>
            </a:r>
            <a:r>
              <a:rPr sz="2900" spc="-175" dirty="0">
                <a:latin typeface="Arial"/>
                <a:cs typeface="Arial"/>
              </a:rPr>
              <a:t>endent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80" dirty="0">
                <a:latin typeface="Arial"/>
                <a:cs typeface="Arial"/>
              </a:rPr>
              <a:t>–Negotiable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25" dirty="0">
                <a:latin typeface="Arial"/>
                <a:cs typeface="Arial"/>
              </a:rPr>
              <a:t>–Valuable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0" dirty="0">
                <a:latin typeface="Arial"/>
                <a:cs typeface="Arial"/>
              </a:rPr>
              <a:t>–Estimatable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95" dirty="0">
                <a:latin typeface="Arial"/>
                <a:cs typeface="Arial"/>
              </a:rPr>
              <a:t>–Small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95" dirty="0">
                <a:latin typeface="Arial"/>
                <a:cs typeface="Arial"/>
              </a:rPr>
              <a:t>–Testable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57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65604"/>
            <a:ext cx="8980932" cy="431139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61226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75" dirty="0">
                <a:solidFill>
                  <a:srgbClr val="775F54"/>
                </a:solidFill>
                <a:latin typeface="Trebuchet MS"/>
                <a:cs typeface="Trebuchet MS"/>
              </a:rPr>
              <a:t>Story </a:t>
            </a:r>
            <a:r>
              <a:rPr sz="4400" b="1" spc="-250" dirty="0">
                <a:solidFill>
                  <a:srgbClr val="775F54"/>
                </a:solidFill>
                <a:latin typeface="Trebuchet MS"/>
                <a:cs typeface="Trebuchet MS"/>
              </a:rPr>
              <a:t>cards </a:t>
            </a:r>
            <a:r>
              <a:rPr sz="4400" b="1" spc="-170" dirty="0">
                <a:solidFill>
                  <a:srgbClr val="775F54"/>
                </a:solidFill>
                <a:latin typeface="Trebuchet MS"/>
                <a:cs typeface="Trebuchet MS"/>
              </a:rPr>
              <a:t>and </a:t>
            </a:r>
            <a:r>
              <a:rPr sz="4400" b="1" spc="-240" dirty="0">
                <a:solidFill>
                  <a:srgbClr val="775F54"/>
                </a:solidFill>
                <a:latin typeface="Trebuchet MS"/>
                <a:cs typeface="Trebuchet MS"/>
              </a:rPr>
              <a:t>story</a:t>
            </a:r>
            <a:r>
              <a:rPr sz="4400" b="1" spc="10" dirty="0">
                <a:solidFill>
                  <a:srgbClr val="775F54"/>
                </a:solidFill>
                <a:latin typeface="Trebuchet MS"/>
                <a:cs typeface="Trebuchet MS"/>
              </a:rPr>
              <a:t> </a:t>
            </a:r>
            <a:r>
              <a:rPr sz="4400" b="1" spc="-75" dirty="0">
                <a:solidFill>
                  <a:srgbClr val="775F54"/>
                </a:solidFill>
                <a:latin typeface="Trebuchet MS"/>
                <a:cs typeface="Trebuchet MS"/>
              </a:rPr>
              <a:t>wall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6392" y="1680718"/>
            <a:ext cx="8475345" cy="2767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301625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50" dirty="0">
                <a:latin typeface="Arial"/>
                <a:cs typeface="Arial"/>
              </a:rPr>
              <a:t>User </a:t>
            </a:r>
            <a:r>
              <a:rPr sz="2900" spc="-190" dirty="0">
                <a:latin typeface="Arial"/>
                <a:cs typeface="Arial"/>
              </a:rPr>
              <a:t>stories </a:t>
            </a:r>
            <a:r>
              <a:rPr sz="2900" spc="-55" dirty="0">
                <a:latin typeface="Arial"/>
                <a:cs typeface="Arial"/>
              </a:rPr>
              <a:t>are </a:t>
            </a:r>
            <a:r>
              <a:rPr sz="2900" spc="-105" dirty="0">
                <a:latin typeface="Arial"/>
                <a:cs typeface="Arial"/>
              </a:rPr>
              <a:t>often </a:t>
            </a:r>
            <a:r>
              <a:rPr sz="2900" spc="-100" dirty="0">
                <a:latin typeface="Arial"/>
                <a:cs typeface="Arial"/>
              </a:rPr>
              <a:t>written </a:t>
            </a:r>
            <a:r>
              <a:rPr sz="2900" spc="-254" dirty="0">
                <a:solidFill>
                  <a:srgbClr val="FF0000"/>
                </a:solidFill>
                <a:latin typeface="Arial"/>
                <a:cs typeface="Arial"/>
              </a:rPr>
              <a:t>on </a:t>
            </a:r>
            <a:r>
              <a:rPr sz="2900" spc="-125" dirty="0">
                <a:solidFill>
                  <a:srgbClr val="FF0000"/>
                </a:solidFill>
                <a:latin typeface="Arial"/>
                <a:cs typeface="Arial"/>
              </a:rPr>
              <a:t>index </a:t>
            </a:r>
            <a:r>
              <a:rPr sz="2900" spc="-170" dirty="0">
                <a:solidFill>
                  <a:srgbClr val="FF0000"/>
                </a:solidFill>
                <a:latin typeface="Arial"/>
                <a:cs typeface="Arial"/>
              </a:rPr>
              <a:t>cards </a:t>
            </a:r>
            <a:r>
              <a:rPr sz="2900" spc="-80" dirty="0">
                <a:latin typeface="Arial"/>
                <a:cs typeface="Arial"/>
              </a:rPr>
              <a:t>or </a:t>
            </a:r>
            <a:r>
              <a:rPr sz="2900" spc="-165" dirty="0">
                <a:solidFill>
                  <a:srgbClr val="FF0000"/>
                </a:solidFill>
                <a:latin typeface="Arial"/>
                <a:cs typeface="Arial"/>
              </a:rPr>
              <a:t>sticky  </a:t>
            </a:r>
            <a:r>
              <a:rPr sz="2900" spc="-235" dirty="0">
                <a:solidFill>
                  <a:srgbClr val="FF0000"/>
                </a:solidFill>
                <a:latin typeface="Arial"/>
                <a:cs typeface="Arial"/>
              </a:rPr>
              <a:t>notes</a:t>
            </a:r>
            <a:r>
              <a:rPr sz="2900" spc="-235" dirty="0">
                <a:latin typeface="Arial"/>
                <a:cs typeface="Arial"/>
              </a:rPr>
              <a:t>, </a:t>
            </a:r>
            <a:r>
              <a:rPr sz="2900" spc="-140" dirty="0">
                <a:latin typeface="Arial"/>
                <a:cs typeface="Arial"/>
              </a:rPr>
              <a:t>stored </a:t>
            </a:r>
            <a:r>
              <a:rPr sz="2900" spc="-180" dirty="0">
                <a:latin typeface="Arial"/>
                <a:cs typeface="Arial"/>
              </a:rPr>
              <a:t>in </a:t>
            </a:r>
            <a:r>
              <a:rPr sz="2900" spc="-15" dirty="0">
                <a:latin typeface="Arial"/>
                <a:cs typeface="Arial"/>
              </a:rPr>
              <a:t>a </a:t>
            </a:r>
            <a:r>
              <a:rPr sz="2900" spc="-290" dirty="0">
                <a:solidFill>
                  <a:srgbClr val="FF0000"/>
                </a:solidFill>
                <a:latin typeface="Arial"/>
                <a:cs typeface="Arial"/>
              </a:rPr>
              <a:t>shoe </a:t>
            </a:r>
            <a:r>
              <a:rPr sz="2900" spc="-110" dirty="0">
                <a:solidFill>
                  <a:srgbClr val="FF0000"/>
                </a:solidFill>
                <a:latin typeface="Arial"/>
                <a:cs typeface="Arial"/>
              </a:rPr>
              <a:t>box</a:t>
            </a:r>
            <a:r>
              <a:rPr sz="2900" spc="-110" dirty="0">
                <a:latin typeface="Arial"/>
                <a:cs typeface="Arial"/>
              </a:rPr>
              <a:t>, </a:t>
            </a:r>
            <a:r>
              <a:rPr sz="2900" spc="-125" dirty="0">
                <a:latin typeface="Arial"/>
                <a:cs typeface="Arial"/>
              </a:rPr>
              <a:t>and </a:t>
            </a:r>
            <a:r>
              <a:rPr sz="2900" spc="-80" dirty="0">
                <a:latin typeface="Arial"/>
                <a:cs typeface="Arial"/>
              </a:rPr>
              <a:t>arranged </a:t>
            </a:r>
            <a:r>
              <a:rPr sz="2900" spc="-254" dirty="0">
                <a:latin typeface="Arial"/>
                <a:cs typeface="Arial"/>
              </a:rPr>
              <a:t>on </a:t>
            </a:r>
            <a:r>
              <a:rPr sz="2900" spc="-160" dirty="0">
                <a:solidFill>
                  <a:srgbClr val="FF0000"/>
                </a:solidFill>
                <a:latin typeface="Arial"/>
                <a:cs typeface="Arial"/>
              </a:rPr>
              <a:t>walls </a:t>
            </a:r>
            <a:r>
              <a:rPr sz="2900" spc="-80" dirty="0">
                <a:solidFill>
                  <a:srgbClr val="FF0000"/>
                </a:solidFill>
                <a:latin typeface="Arial"/>
                <a:cs typeface="Arial"/>
              </a:rPr>
              <a:t>or  </a:t>
            </a:r>
            <a:r>
              <a:rPr sz="2900" spc="-120" dirty="0">
                <a:solidFill>
                  <a:srgbClr val="FF0000"/>
                </a:solidFill>
                <a:latin typeface="Arial"/>
                <a:cs typeface="Arial"/>
              </a:rPr>
              <a:t>tables </a:t>
            </a:r>
            <a:r>
              <a:rPr sz="2900" spc="-90" dirty="0">
                <a:latin typeface="Arial"/>
                <a:cs typeface="Arial"/>
              </a:rPr>
              <a:t>to </a:t>
            </a:r>
            <a:r>
              <a:rPr sz="2900" spc="-40" dirty="0">
                <a:latin typeface="Arial"/>
                <a:cs typeface="Arial"/>
              </a:rPr>
              <a:t>facilitate </a:t>
            </a:r>
            <a:r>
              <a:rPr sz="2900" spc="-135" dirty="0">
                <a:latin typeface="Arial"/>
                <a:cs typeface="Arial"/>
              </a:rPr>
              <a:t>planning </a:t>
            </a:r>
            <a:r>
              <a:rPr sz="2900" spc="-120" dirty="0">
                <a:latin typeface="Arial"/>
                <a:cs typeface="Arial"/>
              </a:rPr>
              <a:t>and</a:t>
            </a:r>
            <a:r>
              <a:rPr sz="2900" spc="270" dirty="0">
                <a:latin typeface="Arial"/>
                <a:cs typeface="Arial"/>
              </a:rPr>
              <a:t> </a:t>
            </a:r>
            <a:r>
              <a:rPr sz="2900" spc="-260" dirty="0">
                <a:latin typeface="Arial"/>
                <a:cs typeface="Arial"/>
              </a:rPr>
              <a:t>discussion.</a:t>
            </a:r>
            <a:endParaRPr sz="2900">
              <a:latin typeface="Arial"/>
              <a:cs typeface="Arial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35" dirty="0">
                <a:latin typeface="Arial"/>
                <a:cs typeface="Arial"/>
              </a:rPr>
              <a:t>As </a:t>
            </a:r>
            <a:r>
              <a:rPr sz="2900" spc="-315" dirty="0">
                <a:latin typeface="Arial"/>
                <a:cs typeface="Arial"/>
              </a:rPr>
              <a:t>such, </a:t>
            </a:r>
            <a:r>
              <a:rPr sz="2900" spc="-160" dirty="0">
                <a:latin typeface="Arial"/>
                <a:cs typeface="Arial"/>
              </a:rPr>
              <a:t>they </a:t>
            </a:r>
            <a:r>
              <a:rPr sz="2900" spc="-135" dirty="0">
                <a:latin typeface="Arial"/>
                <a:cs typeface="Arial"/>
              </a:rPr>
              <a:t>strongly </a:t>
            </a:r>
            <a:r>
              <a:rPr sz="2900" spc="-140" dirty="0">
                <a:latin typeface="Arial"/>
                <a:cs typeface="Arial"/>
              </a:rPr>
              <a:t>shift </a:t>
            </a:r>
            <a:r>
              <a:rPr sz="2900" spc="-175" dirty="0">
                <a:latin typeface="Arial"/>
                <a:cs typeface="Arial"/>
              </a:rPr>
              <a:t>the </a:t>
            </a:r>
            <a:r>
              <a:rPr sz="2900" spc="-245" dirty="0">
                <a:latin typeface="Arial"/>
                <a:cs typeface="Arial"/>
              </a:rPr>
              <a:t>focus </a:t>
            </a:r>
            <a:r>
              <a:rPr sz="2900" spc="-135" dirty="0">
                <a:latin typeface="Arial"/>
                <a:cs typeface="Arial"/>
              </a:rPr>
              <a:t>from </a:t>
            </a:r>
            <a:r>
              <a:rPr sz="2900" spc="-80" dirty="0">
                <a:latin typeface="Arial"/>
                <a:cs typeface="Arial"/>
              </a:rPr>
              <a:t>writing </a:t>
            </a:r>
            <a:r>
              <a:rPr sz="2900" spc="-110" dirty="0">
                <a:latin typeface="Arial"/>
                <a:cs typeface="Arial"/>
              </a:rPr>
              <a:t>about  </a:t>
            </a:r>
            <a:r>
              <a:rPr sz="2900" spc="-130" dirty="0">
                <a:latin typeface="Arial"/>
                <a:cs typeface="Arial"/>
              </a:rPr>
              <a:t>features </a:t>
            </a:r>
            <a:r>
              <a:rPr sz="2900" spc="-9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900" spc="-250" dirty="0">
                <a:solidFill>
                  <a:srgbClr val="FF0000"/>
                </a:solidFill>
                <a:latin typeface="Arial"/>
                <a:cs typeface="Arial"/>
              </a:rPr>
              <a:t>discussing </a:t>
            </a:r>
            <a:r>
              <a:rPr sz="2900" spc="-235" dirty="0">
                <a:latin typeface="Arial"/>
                <a:cs typeface="Arial"/>
              </a:rPr>
              <a:t>them. </a:t>
            </a:r>
            <a:r>
              <a:rPr sz="2900" spc="-260" dirty="0">
                <a:latin typeface="Arial"/>
                <a:cs typeface="Arial"/>
              </a:rPr>
              <a:t>In </a:t>
            </a:r>
            <a:r>
              <a:rPr sz="2900" spc="-75" dirty="0">
                <a:latin typeface="Arial"/>
                <a:cs typeface="Arial"/>
              </a:rPr>
              <a:t>fact, </a:t>
            </a:r>
            <a:r>
              <a:rPr sz="2900" spc="-235" dirty="0">
                <a:latin typeface="Arial"/>
                <a:cs typeface="Arial"/>
              </a:rPr>
              <a:t>these </a:t>
            </a:r>
            <a:r>
              <a:rPr sz="2900" spc="-285" dirty="0">
                <a:latin typeface="Arial"/>
                <a:cs typeface="Arial"/>
              </a:rPr>
              <a:t>discussions </a:t>
            </a:r>
            <a:r>
              <a:rPr sz="2900" spc="-55" dirty="0">
                <a:latin typeface="Arial"/>
                <a:cs typeface="Arial"/>
              </a:rPr>
              <a:t>are  </a:t>
            </a:r>
            <a:r>
              <a:rPr sz="2900" spc="-200" dirty="0">
                <a:latin typeface="Arial"/>
                <a:cs typeface="Arial"/>
              </a:rPr>
              <a:t>more </a:t>
            </a:r>
            <a:r>
              <a:rPr sz="2900" spc="-114" dirty="0">
                <a:latin typeface="Arial"/>
                <a:cs typeface="Arial"/>
              </a:rPr>
              <a:t>important </a:t>
            </a:r>
            <a:r>
              <a:rPr sz="2900" spc="-180" dirty="0">
                <a:latin typeface="Arial"/>
                <a:cs typeface="Arial"/>
              </a:rPr>
              <a:t>than </a:t>
            </a:r>
            <a:r>
              <a:rPr sz="2900" spc="-140" dirty="0">
                <a:latin typeface="Arial"/>
                <a:cs typeface="Arial"/>
              </a:rPr>
              <a:t>whatever </a:t>
            </a:r>
            <a:r>
              <a:rPr sz="2900" spc="-75" dirty="0">
                <a:latin typeface="Arial"/>
                <a:cs typeface="Arial"/>
              </a:rPr>
              <a:t>text </a:t>
            </a:r>
            <a:r>
              <a:rPr sz="2900" spc="-250" dirty="0">
                <a:latin typeface="Arial"/>
                <a:cs typeface="Arial"/>
              </a:rPr>
              <a:t>is</a:t>
            </a:r>
            <a:r>
              <a:rPr sz="2900" spc="50" dirty="0">
                <a:latin typeface="Arial"/>
                <a:cs typeface="Arial"/>
              </a:rPr>
              <a:t> </a:t>
            </a:r>
            <a:r>
              <a:rPr sz="2900" spc="-110" dirty="0">
                <a:latin typeface="Arial"/>
                <a:cs typeface="Arial"/>
              </a:rPr>
              <a:t>written.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58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455" y="4652766"/>
            <a:ext cx="2222891" cy="21364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6444" y="4599476"/>
            <a:ext cx="2539611" cy="225852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9036"/>
            <a:ext cx="9144000" cy="49270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94046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906" y="1531620"/>
            <a:ext cx="8538261" cy="51633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22593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4" dirty="0">
                <a:solidFill>
                  <a:srgbClr val="775F54"/>
                </a:solidFill>
                <a:latin typeface="Arial"/>
                <a:cs typeface="Arial"/>
              </a:rPr>
              <a:t>Story</a:t>
            </a:r>
            <a:r>
              <a:rPr sz="4400" spc="-80" dirty="0">
                <a:solidFill>
                  <a:srgbClr val="775F54"/>
                </a:solidFill>
                <a:latin typeface="Arial"/>
                <a:cs typeface="Arial"/>
              </a:rPr>
              <a:t> </a:t>
            </a:r>
            <a:r>
              <a:rPr sz="4400" spc="-120" dirty="0">
                <a:solidFill>
                  <a:srgbClr val="775F54"/>
                </a:solidFill>
                <a:latin typeface="Arial"/>
                <a:cs typeface="Arial"/>
              </a:rPr>
              <a:t>wall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0268"/>
            <a:ext cx="914400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1895"/>
            <a:ext cx="9144000" cy="540410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3378"/>
            <a:ext cx="9144000" cy="63611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05"/>
              </a:spcBef>
            </a:pPr>
            <a:r>
              <a:rPr dirty="0"/>
              <a:t>兼容性</a:t>
            </a:r>
            <a:r>
              <a:rPr dirty="0">
                <a:latin typeface="Arial Narrow"/>
                <a:cs typeface="Arial Narrow"/>
              </a:rPr>
              <a:t>---</a:t>
            </a:r>
            <a:r>
              <a:rPr dirty="0"/>
              <a:t>操作系统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1628" y="3467861"/>
            <a:ext cx="20173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兼容性</a:t>
            </a:r>
            <a:r>
              <a:rPr sz="2000" spc="5" dirty="0">
                <a:solidFill>
                  <a:srgbClr val="FF0000"/>
                </a:solidFill>
                <a:latin typeface="Arial Narrow"/>
                <a:cs typeface="Arial Narrow"/>
              </a:rPr>
              <a:t>---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运行环境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3675" y="4657090"/>
            <a:ext cx="1722755" cy="983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鲁棒性</a:t>
            </a:r>
            <a:r>
              <a:rPr sz="2000" spc="5" dirty="0">
                <a:solidFill>
                  <a:srgbClr val="FF0000"/>
                </a:solidFill>
                <a:latin typeface="Arial Narrow"/>
                <a:cs typeface="Arial Narrow"/>
              </a:rPr>
              <a:t>-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健壮性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宋体"/>
              <a:cs typeface="宋体"/>
            </a:endParaRPr>
          </a:p>
          <a:p>
            <a:pPr marL="2286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兼容性</a:t>
            </a:r>
            <a:r>
              <a:rPr sz="2000" dirty="0">
                <a:solidFill>
                  <a:srgbClr val="FF0000"/>
                </a:solidFill>
                <a:latin typeface="Arial Narrow"/>
                <a:cs typeface="Arial Narrow"/>
              </a:rPr>
              <a:t>—</a:t>
            </a:r>
            <a:r>
              <a:rPr sz="2000" dirty="0">
                <a:solidFill>
                  <a:srgbClr val="FF0000"/>
                </a:solidFill>
                <a:latin typeface="宋体"/>
                <a:cs typeface="宋体"/>
              </a:rPr>
              <a:t>语言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49460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90" dirty="0">
                <a:solidFill>
                  <a:srgbClr val="775F54"/>
                </a:solidFill>
                <a:latin typeface="Arial"/>
                <a:cs typeface="Arial"/>
              </a:rPr>
              <a:t>Prioritisation </a:t>
            </a:r>
            <a:r>
              <a:rPr sz="4400" spc="-5" dirty="0">
                <a:solidFill>
                  <a:srgbClr val="775F54"/>
                </a:solidFill>
                <a:latin typeface="Arial"/>
                <a:cs typeface="Arial"/>
              </a:rPr>
              <a:t>of</a:t>
            </a:r>
            <a:r>
              <a:rPr sz="4400" spc="240" dirty="0">
                <a:solidFill>
                  <a:srgbClr val="775F54"/>
                </a:solidFill>
                <a:latin typeface="Arial"/>
                <a:cs typeface="Arial"/>
              </a:rPr>
              <a:t> </a:t>
            </a:r>
            <a:r>
              <a:rPr sz="4400" spc="-290" dirty="0">
                <a:solidFill>
                  <a:srgbClr val="775F54"/>
                </a:solidFill>
                <a:latin typeface="Arial"/>
                <a:cs typeface="Arial"/>
              </a:rPr>
              <a:t>stories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523212"/>
            <a:ext cx="8799830" cy="432562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3200" spc="-275" dirty="0">
                <a:latin typeface="Arial"/>
                <a:cs typeface="Arial"/>
              </a:rPr>
              <a:t>User </a:t>
            </a:r>
            <a:r>
              <a:rPr sz="3200" spc="-210" dirty="0">
                <a:latin typeface="Arial"/>
                <a:cs typeface="Arial"/>
              </a:rPr>
              <a:t>stories </a:t>
            </a:r>
            <a:r>
              <a:rPr sz="3200" spc="-355" dirty="0">
                <a:latin typeface="Arial"/>
                <a:cs typeface="Arial"/>
              </a:rPr>
              <a:t>must </a:t>
            </a:r>
            <a:r>
              <a:rPr sz="3200" spc="-95" dirty="0">
                <a:latin typeface="Arial"/>
                <a:cs typeface="Arial"/>
              </a:rPr>
              <a:t>be</a:t>
            </a:r>
            <a:r>
              <a:rPr sz="3200" spc="-375" dirty="0">
                <a:latin typeface="Arial"/>
                <a:cs typeface="Arial"/>
              </a:rPr>
              <a:t> </a:t>
            </a:r>
            <a:r>
              <a:rPr sz="3200" spc="-100" dirty="0">
                <a:latin typeface="Arial"/>
                <a:cs typeface="Arial"/>
              </a:rPr>
              <a:t>prioritised.</a:t>
            </a:r>
            <a:endParaRPr sz="3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spc="-240" dirty="0">
                <a:latin typeface="Arial"/>
                <a:cs typeface="Arial"/>
              </a:rPr>
              <a:t>–Based </a:t>
            </a:r>
            <a:r>
              <a:rPr sz="3200" spc="-280" dirty="0">
                <a:latin typeface="Arial"/>
                <a:cs typeface="Arial"/>
              </a:rPr>
              <a:t>on </a:t>
            </a:r>
            <a:r>
              <a:rPr sz="3200" spc="-320" dirty="0">
                <a:latin typeface="Arial"/>
                <a:cs typeface="Arial"/>
              </a:rPr>
              <a:t>business</a:t>
            </a:r>
            <a:r>
              <a:rPr sz="3200" spc="-165" dirty="0">
                <a:latin typeface="Arial"/>
                <a:cs typeface="Arial"/>
              </a:rPr>
              <a:t> </a:t>
            </a:r>
            <a:r>
              <a:rPr sz="3200" spc="-170" dirty="0">
                <a:latin typeface="Arial"/>
                <a:cs typeface="Arial"/>
              </a:rPr>
              <a:t>value</a:t>
            </a:r>
            <a:endParaRPr sz="3200">
              <a:latin typeface="Arial"/>
              <a:cs typeface="Arial"/>
            </a:endParaRPr>
          </a:p>
          <a:p>
            <a:pPr marL="332740" marR="216535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spc="-200" dirty="0">
                <a:latin typeface="Arial"/>
                <a:cs typeface="Arial"/>
              </a:rPr>
              <a:t>–Value </a:t>
            </a:r>
            <a:r>
              <a:rPr sz="3200" spc="-355" dirty="0">
                <a:latin typeface="Arial"/>
                <a:cs typeface="Arial"/>
              </a:rPr>
              <a:t>must </a:t>
            </a:r>
            <a:r>
              <a:rPr sz="3200" spc="-185" dirty="0">
                <a:latin typeface="Arial"/>
                <a:cs typeface="Arial"/>
              </a:rPr>
              <a:t>also </a:t>
            </a:r>
            <a:r>
              <a:rPr sz="3200" spc="-95" dirty="0">
                <a:latin typeface="Arial"/>
                <a:cs typeface="Arial"/>
              </a:rPr>
              <a:t>be </a:t>
            </a:r>
            <a:r>
              <a:rPr sz="3200" spc="-145" dirty="0">
                <a:latin typeface="Arial"/>
                <a:cs typeface="Arial"/>
              </a:rPr>
              <a:t>supported </a:t>
            </a:r>
            <a:r>
              <a:rPr sz="3200" spc="-85" dirty="0">
                <a:latin typeface="Arial"/>
                <a:cs typeface="Arial"/>
              </a:rPr>
              <a:t>by </a:t>
            </a:r>
            <a:r>
              <a:rPr sz="3200" spc="-15" dirty="0">
                <a:latin typeface="Arial"/>
                <a:cs typeface="Arial"/>
              </a:rPr>
              <a:t>a </a:t>
            </a:r>
            <a:r>
              <a:rPr sz="3200" spc="-150" dirty="0">
                <a:latin typeface="Arial"/>
                <a:cs typeface="Arial"/>
              </a:rPr>
              <a:t>positive return  </a:t>
            </a:r>
            <a:r>
              <a:rPr sz="3200" spc="-280" dirty="0">
                <a:latin typeface="Arial"/>
                <a:cs typeface="Arial"/>
              </a:rPr>
              <a:t>on </a:t>
            </a:r>
            <a:r>
              <a:rPr sz="3200" spc="-250" dirty="0">
                <a:latin typeface="Arial"/>
                <a:cs typeface="Arial"/>
              </a:rPr>
              <a:t>investment</a:t>
            </a:r>
            <a:r>
              <a:rPr sz="3200" spc="-390" dirty="0">
                <a:latin typeface="Arial"/>
                <a:cs typeface="Arial"/>
              </a:rPr>
              <a:t> </a:t>
            </a:r>
            <a:r>
              <a:rPr sz="3200" spc="-265" dirty="0">
                <a:latin typeface="Arial"/>
                <a:cs typeface="Arial"/>
              </a:rPr>
              <a:t>(ROI)</a:t>
            </a:r>
            <a:endParaRPr sz="32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spc="-180" dirty="0">
                <a:latin typeface="Arial"/>
                <a:cs typeface="Arial"/>
              </a:rPr>
              <a:t>–Consideration </a:t>
            </a:r>
            <a:r>
              <a:rPr sz="3200" dirty="0">
                <a:latin typeface="Arial"/>
                <a:cs typeface="Arial"/>
              </a:rPr>
              <a:t>of </a:t>
            </a:r>
            <a:r>
              <a:rPr sz="3200" spc="-200" dirty="0">
                <a:latin typeface="Arial"/>
                <a:cs typeface="Arial"/>
              </a:rPr>
              <a:t>the</a:t>
            </a:r>
            <a:r>
              <a:rPr sz="3200" spc="210" dirty="0">
                <a:latin typeface="Arial"/>
                <a:cs typeface="Arial"/>
              </a:rPr>
              <a:t> </a:t>
            </a:r>
            <a:r>
              <a:rPr sz="3200" spc="-254" dirty="0">
                <a:latin typeface="Arial"/>
                <a:cs typeface="Arial"/>
              </a:rPr>
              <a:t>risks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2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900" spc="-340" dirty="0">
                <a:latin typeface="Arial"/>
                <a:cs typeface="Arial"/>
              </a:rPr>
              <a:t>The </a:t>
            </a:r>
            <a:r>
              <a:rPr sz="2900" b="1" spc="-225" dirty="0">
                <a:latin typeface="Trebuchet MS"/>
                <a:cs typeface="Trebuchet MS"/>
              </a:rPr>
              <a:t>customer </a:t>
            </a:r>
            <a:r>
              <a:rPr sz="2900" spc="-290" dirty="0">
                <a:latin typeface="Arial"/>
                <a:cs typeface="Arial"/>
              </a:rPr>
              <a:t>chooses </a:t>
            </a:r>
            <a:r>
              <a:rPr sz="2900" spc="-175" dirty="0">
                <a:latin typeface="Arial"/>
                <a:cs typeface="Arial"/>
              </a:rPr>
              <a:t>the </a:t>
            </a:r>
            <a:r>
              <a:rPr sz="2900" spc="-190" dirty="0">
                <a:latin typeface="Arial"/>
                <a:cs typeface="Arial"/>
              </a:rPr>
              <a:t>stories </a:t>
            </a:r>
            <a:r>
              <a:rPr sz="2900" spc="-20" dirty="0">
                <a:latin typeface="Arial"/>
                <a:cs typeface="Arial"/>
              </a:rPr>
              <a:t>for </a:t>
            </a:r>
            <a:r>
              <a:rPr sz="2900" spc="-229" dirty="0">
                <a:latin typeface="Arial"/>
                <a:cs typeface="Arial"/>
              </a:rPr>
              <a:t>inclusion </a:t>
            </a:r>
            <a:r>
              <a:rPr sz="2900" spc="-180" dirty="0">
                <a:latin typeface="Arial"/>
                <a:cs typeface="Arial"/>
              </a:rPr>
              <a:t>in </a:t>
            </a:r>
            <a:r>
              <a:rPr sz="2900" spc="-175" dirty="0">
                <a:latin typeface="Arial"/>
                <a:cs typeface="Arial"/>
              </a:rPr>
              <a:t>the </a:t>
            </a:r>
            <a:r>
              <a:rPr sz="2900" spc="-155" dirty="0">
                <a:latin typeface="Arial"/>
                <a:cs typeface="Arial"/>
              </a:rPr>
              <a:t>next  </a:t>
            </a:r>
            <a:r>
              <a:rPr sz="2900" spc="-140" dirty="0">
                <a:latin typeface="Arial"/>
                <a:cs typeface="Arial"/>
              </a:rPr>
              <a:t>release </a:t>
            </a:r>
            <a:r>
              <a:rPr sz="2900" spc="-135" dirty="0">
                <a:latin typeface="Arial"/>
                <a:cs typeface="Arial"/>
              </a:rPr>
              <a:t>based </a:t>
            </a:r>
            <a:r>
              <a:rPr sz="2900" spc="-254" dirty="0">
                <a:latin typeface="Arial"/>
                <a:cs typeface="Arial"/>
              </a:rPr>
              <a:t>on </a:t>
            </a:r>
            <a:r>
              <a:rPr sz="2900" spc="-110" dirty="0">
                <a:latin typeface="Arial"/>
                <a:cs typeface="Arial"/>
              </a:rPr>
              <a:t>their </a:t>
            </a:r>
            <a:r>
              <a:rPr sz="2900" spc="-90" dirty="0">
                <a:latin typeface="Arial"/>
                <a:cs typeface="Arial"/>
              </a:rPr>
              <a:t>priorities </a:t>
            </a:r>
            <a:r>
              <a:rPr sz="2900" spc="-125" dirty="0">
                <a:latin typeface="Arial"/>
                <a:cs typeface="Arial"/>
              </a:rPr>
              <a:t>and </a:t>
            </a:r>
            <a:r>
              <a:rPr sz="2900" spc="-175" dirty="0">
                <a:latin typeface="Arial"/>
                <a:cs typeface="Arial"/>
              </a:rPr>
              <a:t>the </a:t>
            </a:r>
            <a:r>
              <a:rPr sz="2900" spc="-220" dirty="0">
                <a:latin typeface="Arial"/>
                <a:cs typeface="Arial"/>
              </a:rPr>
              <a:t>schedule</a:t>
            </a:r>
            <a:r>
              <a:rPr sz="2900" spc="335" dirty="0">
                <a:latin typeface="Arial"/>
                <a:cs typeface="Arial"/>
              </a:rPr>
              <a:t> </a:t>
            </a:r>
            <a:r>
              <a:rPr sz="2900" spc="-204" dirty="0">
                <a:latin typeface="Arial"/>
                <a:cs typeface="Arial"/>
              </a:rPr>
              <a:t>estimates.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64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8600"/>
            <a:ext cx="8766048" cy="54757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4408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80615" algn="l"/>
              </a:tabLst>
            </a:pPr>
            <a:r>
              <a:rPr sz="4400" b="1" spc="-130" dirty="0">
                <a:solidFill>
                  <a:srgbClr val="775F54"/>
                </a:solidFill>
                <a:latin typeface="Trebuchet MS"/>
                <a:cs typeface="Trebuchet MS"/>
              </a:rPr>
              <a:t>MoSCoW	</a:t>
            </a:r>
            <a:r>
              <a:rPr sz="4400" b="1" spc="-180" dirty="0">
                <a:solidFill>
                  <a:srgbClr val="775F54"/>
                </a:solidFill>
                <a:latin typeface="Trebuchet MS"/>
                <a:cs typeface="Trebuchet MS"/>
              </a:rPr>
              <a:t>Exa</a:t>
            </a:r>
            <a:r>
              <a:rPr sz="4400" b="1" spc="-270" dirty="0">
                <a:solidFill>
                  <a:srgbClr val="775F54"/>
                </a:solidFill>
                <a:latin typeface="Trebuchet MS"/>
                <a:cs typeface="Trebuchet MS"/>
              </a:rPr>
              <a:t>mple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1692" y="2053942"/>
            <a:ext cx="7934959" cy="26822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900" spc="-245" dirty="0">
                <a:latin typeface="Arial"/>
                <a:cs typeface="Arial"/>
              </a:rPr>
              <a:t>Payment </a:t>
            </a:r>
            <a:r>
              <a:rPr sz="2900" spc="-204" dirty="0">
                <a:latin typeface="Arial"/>
                <a:cs typeface="Arial"/>
              </a:rPr>
              <a:t>processing</a:t>
            </a:r>
            <a:r>
              <a:rPr sz="2900" spc="-390" dirty="0">
                <a:latin typeface="Arial"/>
                <a:cs typeface="Arial"/>
              </a:rPr>
              <a:t> </a:t>
            </a:r>
            <a:r>
              <a:rPr sz="2900" spc="-140" dirty="0">
                <a:latin typeface="Arial"/>
                <a:cs typeface="Arial"/>
              </a:rPr>
              <a:t>story: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40" dirty="0">
                <a:solidFill>
                  <a:srgbClr val="FF0000"/>
                </a:solidFill>
                <a:latin typeface="Arial"/>
                <a:cs typeface="Arial"/>
              </a:rPr>
              <a:t>–Must </a:t>
            </a:r>
            <a:r>
              <a:rPr sz="2900" spc="-185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900" spc="-185" dirty="0">
                <a:latin typeface="Arial"/>
                <a:cs typeface="Arial"/>
              </a:rPr>
              <a:t>: </a:t>
            </a:r>
            <a:r>
              <a:rPr sz="2900" spc="-10" dirty="0">
                <a:latin typeface="Arial"/>
                <a:cs typeface="Arial"/>
              </a:rPr>
              <a:t>ability </a:t>
            </a:r>
            <a:r>
              <a:rPr sz="2900" spc="-90" dirty="0">
                <a:latin typeface="Arial"/>
                <a:cs typeface="Arial"/>
              </a:rPr>
              <a:t>to </a:t>
            </a:r>
            <a:r>
              <a:rPr sz="2900" spc="-145" dirty="0">
                <a:latin typeface="Arial"/>
                <a:cs typeface="Arial"/>
              </a:rPr>
              <a:t>accept </a:t>
            </a:r>
            <a:r>
              <a:rPr sz="2900" spc="-170" dirty="0">
                <a:latin typeface="Arial"/>
                <a:cs typeface="Arial"/>
              </a:rPr>
              <a:t>Visa </a:t>
            </a:r>
            <a:r>
              <a:rPr sz="2900" spc="-120" dirty="0">
                <a:latin typeface="Arial"/>
                <a:cs typeface="Arial"/>
              </a:rPr>
              <a:t>and</a:t>
            </a:r>
            <a:r>
              <a:rPr sz="2900" spc="150" dirty="0">
                <a:latin typeface="Arial"/>
                <a:cs typeface="Arial"/>
              </a:rPr>
              <a:t> </a:t>
            </a:r>
            <a:r>
              <a:rPr sz="2900" spc="-130" dirty="0">
                <a:latin typeface="Arial"/>
                <a:cs typeface="Arial"/>
              </a:rPr>
              <a:t>MasterCard.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15" dirty="0">
                <a:solidFill>
                  <a:srgbClr val="FF0000"/>
                </a:solidFill>
                <a:latin typeface="Arial"/>
                <a:cs typeface="Arial"/>
              </a:rPr>
              <a:t>–Should </a:t>
            </a:r>
            <a:r>
              <a:rPr sz="2900" spc="-185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900" spc="-185" dirty="0">
                <a:latin typeface="Arial"/>
                <a:cs typeface="Arial"/>
              </a:rPr>
              <a:t>: </a:t>
            </a:r>
            <a:r>
              <a:rPr sz="2900" spc="-10" dirty="0">
                <a:latin typeface="Arial"/>
                <a:cs typeface="Arial"/>
              </a:rPr>
              <a:t>add </a:t>
            </a:r>
            <a:r>
              <a:rPr sz="2900" spc="-190" dirty="0">
                <a:latin typeface="Arial"/>
                <a:cs typeface="Arial"/>
              </a:rPr>
              <a:t>American</a:t>
            </a:r>
            <a:r>
              <a:rPr sz="2900" spc="-250" dirty="0">
                <a:latin typeface="Arial"/>
                <a:cs typeface="Arial"/>
              </a:rPr>
              <a:t> Express.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70" dirty="0">
                <a:solidFill>
                  <a:srgbClr val="FF0000"/>
                </a:solidFill>
                <a:latin typeface="Arial"/>
                <a:cs typeface="Arial"/>
              </a:rPr>
              <a:t>–Could </a:t>
            </a:r>
            <a:r>
              <a:rPr sz="2900" spc="-185" dirty="0">
                <a:solidFill>
                  <a:srgbClr val="FF0000"/>
                </a:solidFill>
                <a:latin typeface="Arial"/>
                <a:cs typeface="Arial"/>
              </a:rPr>
              <a:t>have: </a:t>
            </a:r>
            <a:r>
              <a:rPr sz="2900" spc="-10" dirty="0">
                <a:latin typeface="Arial"/>
                <a:cs typeface="Arial"/>
              </a:rPr>
              <a:t>add</a:t>
            </a:r>
            <a:r>
              <a:rPr sz="2900" spc="295" dirty="0">
                <a:latin typeface="Arial"/>
                <a:cs typeface="Arial"/>
              </a:rPr>
              <a:t> </a:t>
            </a:r>
            <a:r>
              <a:rPr sz="2900" spc="-225" dirty="0">
                <a:latin typeface="Arial"/>
                <a:cs typeface="Arial"/>
              </a:rPr>
              <a:t>PayPal.</a:t>
            </a:r>
            <a:endParaRPr sz="29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14" dirty="0">
                <a:solidFill>
                  <a:srgbClr val="FF0000"/>
                </a:solidFill>
                <a:latin typeface="Arial"/>
                <a:cs typeface="Arial"/>
              </a:rPr>
              <a:t>–Want </a:t>
            </a:r>
            <a:r>
              <a:rPr sz="2900" spc="-9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900" spc="-185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900" spc="-185" dirty="0">
                <a:latin typeface="Arial"/>
                <a:cs typeface="Arial"/>
              </a:rPr>
              <a:t>: </a:t>
            </a:r>
            <a:r>
              <a:rPr sz="2900" spc="-10" dirty="0">
                <a:latin typeface="Arial"/>
                <a:cs typeface="Arial"/>
              </a:rPr>
              <a:t>add </a:t>
            </a:r>
            <a:r>
              <a:rPr sz="2900" spc="30" dirty="0">
                <a:latin typeface="Arial"/>
                <a:cs typeface="Arial"/>
              </a:rPr>
              <a:t>gift</a:t>
            </a:r>
            <a:r>
              <a:rPr sz="2900" spc="300" dirty="0">
                <a:latin typeface="Arial"/>
                <a:cs typeface="Arial"/>
              </a:rPr>
              <a:t> </a:t>
            </a:r>
            <a:r>
              <a:rPr sz="2900" spc="-175" dirty="0">
                <a:latin typeface="Arial"/>
                <a:cs typeface="Arial"/>
              </a:rPr>
              <a:t>cards.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2147" y="234042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1595" y="2058923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2147" y="32992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595" y="3017520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2147" y="42600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1595" y="3977640"/>
            <a:ext cx="504825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2147" y="522109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1595" y="4939284"/>
            <a:ext cx="485140" cy="8661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039" y="2058923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60350" rIns="0" bIns="0" rtlCol="0">
            <a:spAutoFit/>
          </a:bodyPr>
          <a:lstStyle/>
          <a:p>
            <a:pPr marR="36195" algn="ctr">
              <a:lnSpc>
                <a:spcPct val="100000"/>
              </a:lnSpc>
              <a:spcBef>
                <a:spcPts val="205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软件需求管理过程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84704" y="3017520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906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传统需求建模方法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6039" y="3977640"/>
            <a:ext cx="4630420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70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敏捷需求建模方法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86227" y="4939284"/>
            <a:ext cx="4628515" cy="8661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7625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案例分析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30421" y="636645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68</a:t>
            </a:r>
            <a:endParaRPr sz="1200">
              <a:latin typeface="Arial Narrow"/>
              <a:cs typeface="Arial Narro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6844" y="2133600"/>
            <a:ext cx="7876540" cy="3528060"/>
            <a:chOff x="656844" y="2133600"/>
            <a:chExt cx="7876540" cy="35280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6844" y="2133600"/>
              <a:ext cx="7876032" cy="35280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9536" y="3337559"/>
              <a:ext cx="7457440" cy="1963420"/>
            </a:xfrm>
            <a:custGeom>
              <a:avLst/>
              <a:gdLst/>
              <a:ahLst/>
              <a:cxnLst/>
              <a:rect l="l" t="t" r="r" b="b"/>
              <a:pathLst>
                <a:path w="7457440" h="1963420">
                  <a:moveTo>
                    <a:pt x="7456932" y="327152"/>
                  </a:moveTo>
                  <a:lnTo>
                    <a:pt x="7453376" y="278803"/>
                  </a:lnTo>
                  <a:lnTo>
                    <a:pt x="7443076" y="232664"/>
                  </a:lnTo>
                  <a:lnTo>
                    <a:pt x="7426528" y="189217"/>
                  </a:lnTo>
                  <a:lnTo>
                    <a:pt x="7404227" y="149009"/>
                  </a:lnTo>
                  <a:lnTo>
                    <a:pt x="7376693" y="112509"/>
                  </a:lnTo>
                  <a:lnTo>
                    <a:pt x="7344423" y="80238"/>
                  </a:lnTo>
                  <a:lnTo>
                    <a:pt x="7307923" y="52705"/>
                  </a:lnTo>
                  <a:lnTo>
                    <a:pt x="7267715" y="30403"/>
                  </a:lnTo>
                  <a:lnTo>
                    <a:pt x="7224268" y="13855"/>
                  </a:lnTo>
                  <a:lnTo>
                    <a:pt x="7178129" y="3556"/>
                  </a:lnTo>
                  <a:lnTo>
                    <a:pt x="7129780" y="0"/>
                  </a:lnTo>
                  <a:lnTo>
                    <a:pt x="327152" y="0"/>
                  </a:lnTo>
                  <a:lnTo>
                    <a:pt x="278803" y="3556"/>
                  </a:lnTo>
                  <a:lnTo>
                    <a:pt x="232664" y="13855"/>
                  </a:lnTo>
                  <a:lnTo>
                    <a:pt x="189230" y="30403"/>
                  </a:lnTo>
                  <a:lnTo>
                    <a:pt x="149009" y="52705"/>
                  </a:lnTo>
                  <a:lnTo>
                    <a:pt x="112509" y="80238"/>
                  </a:lnTo>
                  <a:lnTo>
                    <a:pt x="80238" y="112509"/>
                  </a:lnTo>
                  <a:lnTo>
                    <a:pt x="52705" y="149009"/>
                  </a:lnTo>
                  <a:lnTo>
                    <a:pt x="30403" y="189217"/>
                  </a:lnTo>
                  <a:lnTo>
                    <a:pt x="13843" y="232664"/>
                  </a:lnTo>
                  <a:lnTo>
                    <a:pt x="3543" y="278803"/>
                  </a:lnTo>
                  <a:lnTo>
                    <a:pt x="0" y="327152"/>
                  </a:lnTo>
                  <a:lnTo>
                    <a:pt x="0" y="1635760"/>
                  </a:lnTo>
                  <a:lnTo>
                    <a:pt x="3543" y="1684121"/>
                  </a:lnTo>
                  <a:lnTo>
                    <a:pt x="13843" y="1730260"/>
                  </a:lnTo>
                  <a:lnTo>
                    <a:pt x="30403" y="1773707"/>
                  </a:lnTo>
                  <a:lnTo>
                    <a:pt x="52705" y="1813915"/>
                  </a:lnTo>
                  <a:lnTo>
                    <a:pt x="80238" y="1850415"/>
                  </a:lnTo>
                  <a:lnTo>
                    <a:pt x="112509" y="1882686"/>
                  </a:lnTo>
                  <a:lnTo>
                    <a:pt x="149009" y="1910219"/>
                  </a:lnTo>
                  <a:lnTo>
                    <a:pt x="189230" y="1932520"/>
                  </a:lnTo>
                  <a:lnTo>
                    <a:pt x="232664" y="1949069"/>
                  </a:lnTo>
                  <a:lnTo>
                    <a:pt x="278803" y="1959368"/>
                  </a:lnTo>
                  <a:lnTo>
                    <a:pt x="327152" y="1962912"/>
                  </a:lnTo>
                  <a:lnTo>
                    <a:pt x="7129780" y="1962912"/>
                  </a:lnTo>
                  <a:lnTo>
                    <a:pt x="7178129" y="1959368"/>
                  </a:lnTo>
                  <a:lnTo>
                    <a:pt x="7224268" y="1949069"/>
                  </a:lnTo>
                  <a:lnTo>
                    <a:pt x="7267715" y="1932520"/>
                  </a:lnTo>
                  <a:lnTo>
                    <a:pt x="7307923" y="1910219"/>
                  </a:lnTo>
                  <a:lnTo>
                    <a:pt x="7344423" y="1882686"/>
                  </a:lnTo>
                  <a:lnTo>
                    <a:pt x="7376693" y="1850415"/>
                  </a:lnTo>
                  <a:lnTo>
                    <a:pt x="7404227" y="1813915"/>
                  </a:lnTo>
                  <a:lnTo>
                    <a:pt x="7426528" y="1773707"/>
                  </a:lnTo>
                  <a:lnTo>
                    <a:pt x="7443076" y="1730260"/>
                  </a:lnTo>
                  <a:lnTo>
                    <a:pt x="7453376" y="1684121"/>
                  </a:lnTo>
                  <a:lnTo>
                    <a:pt x="7456932" y="1635760"/>
                  </a:lnTo>
                  <a:lnTo>
                    <a:pt x="7456932" y="3271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6547" y="2427808"/>
            <a:ext cx="5628640" cy="2335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9539" algn="ctr">
              <a:lnSpc>
                <a:spcPct val="100000"/>
              </a:lnSpc>
              <a:spcBef>
                <a:spcPts val="95"/>
              </a:spcBef>
            </a:pPr>
            <a:r>
              <a:rPr sz="4000" b="1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MED</a:t>
            </a:r>
            <a:r>
              <a:rPr sz="4000" b="1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需求管理案</a:t>
            </a:r>
            <a:r>
              <a:rPr sz="4000" b="1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方正姚体"/>
                <a:cs typeface="方正姚体"/>
              </a:rPr>
              <a:t>例</a:t>
            </a:r>
            <a:endParaRPr sz="4000">
              <a:latin typeface="方正姚体"/>
              <a:cs typeface="方正姚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方正姚体"/>
              <a:cs typeface="方正姚体"/>
            </a:endParaRPr>
          </a:p>
          <a:p>
            <a:pPr marL="584200" indent="-571500">
              <a:lnSpc>
                <a:spcPct val="100000"/>
              </a:lnSpc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dirty="0">
                <a:latin typeface="楷体"/>
                <a:cs typeface="楷体"/>
              </a:rPr>
              <a:t>需求确认：</a:t>
            </a:r>
            <a:r>
              <a:rPr sz="3600" u="heavy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楷体"/>
                <a:cs typeface="楷体"/>
              </a:rPr>
              <a:t>软件需求规格</a:t>
            </a:r>
            <a:endParaRPr sz="3600">
              <a:latin typeface="楷体"/>
              <a:cs typeface="楷体"/>
            </a:endParaRPr>
          </a:p>
          <a:p>
            <a:pPr marL="584200" indent="-571500">
              <a:lnSpc>
                <a:spcPct val="100000"/>
              </a:lnSpc>
              <a:buFont typeface="Wingdings"/>
              <a:buChar char=""/>
              <a:tabLst>
                <a:tab pos="583565" algn="l"/>
                <a:tab pos="584200" algn="l"/>
              </a:tabLst>
            </a:pPr>
            <a:r>
              <a:rPr sz="3600" spc="-5" dirty="0">
                <a:latin typeface="楷体"/>
                <a:cs typeface="楷体"/>
              </a:rPr>
              <a:t>需求变更：变更控制流程</a:t>
            </a:r>
            <a:endParaRPr sz="36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590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变更控制流程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69</a:t>
            </a:r>
            <a:endParaRPr sz="1200">
              <a:latin typeface="Arial Narrow"/>
              <a:cs typeface="Arial Narro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412747"/>
            <a:ext cx="6626352" cy="516483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5257"/>
            <a:ext cx="3539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需求管理</a:t>
            </a:r>
            <a:r>
              <a:rPr sz="4400" i="1" spc="5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小结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1515" y="1534794"/>
            <a:ext cx="5765800" cy="4203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sng" spc="-7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软件需求管理过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程</a:t>
            </a:r>
            <a:endParaRPr sz="28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4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需求获取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2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需求分析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2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spc="-5" dirty="0">
                <a:latin typeface="华文新魏"/>
                <a:cs typeface="华文新魏"/>
              </a:rPr>
              <a:t>需求规格编写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2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需求验证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2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需求变更</a:t>
            </a:r>
            <a:endParaRPr sz="24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u="sng" spc="-7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需求建模的基本方法</a:t>
            </a:r>
            <a:endParaRPr sz="28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4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原型方法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2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基于数据流建模-结构化分析法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2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spc="-5" dirty="0">
                <a:latin typeface="华文新魏"/>
                <a:cs typeface="华文新魏"/>
              </a:rPr>
              <a:t>基</a:t>
            </a:r>
            <a:r>
              <a:rPr sz="2400" dirty="0">
                <a:latin typeface="华文新魏"/>
                <a:cs typeface="华文新魏"/>
              </a:rPr>
              <a:t>于</a:t>
            </a:r>
            <a:r>
              <a:rPr sz="2400" spc="-5" dirty="0">
                <a:latin typeface="华文新魏"/>
                <a:cs typeface="华文新魏"/>
              </a:rPr>
              <a:t>UML建模</a:t>
            </a:r>
            <a:r>
              <a:rPr sz="2400" dirty="0">
                <a:latin typeface="华文新魏"/>
                <a:cs typeface="华文新魏"/>
              </a:rPr>
              <a:t>-</a:t>
            </a:r>
            <a:r>
              <a:rPr sz="2400" spc="-50" dirty="0">
                <a:latin typeface="华文新魏"/>
                <a:cs typeface="华文新魏"/>
              </a:rPr>
              <a:t> </a:t>
            </a:r>
            <a:r>
              <a:rPr sz="2400" dirty="0">
                <a:latin typeface="华文新魏"/>
                <a:cs typeface="华文新魏"/>
              </a:rPr>
              <a:t>面向对象的用例分析法</a:t>
            </a:r>
            <a:endParaRPr sz="2400">
              <a:latin typeface="华文新魏"/>
              <a:cs typeface="华文新魏"/>
            </a:endParaRPr>
          </a:p>
          <a:p>
            <a:pPr marL="652780" indent="-274955">
              <a:lnSpc>
                <a:spcPct val="100000"/>
              </a:lnSpc>
              <a:spcBef>
                <a:spcPts val="3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653415" algn="l"/>
              </a:tabLst>
            </a:pPr>
            <a:r>
              <a:rPr sz="2400" dirty="0">
                <a:latin typeface="华文新魏"/>
                <a:cs typeface="华文新魏"/>
              </a:rPr>
              <a:t>敏捷需求分析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1028</Words>
  <Application>Microsoft Macintosh PowerPoint</Application>
  <PresentationFormat>全屏显示(4:3)</PresentationFormat>
  <Paragraphs>441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9" baseType="lpstr">
      <vt:lpstr>方正姚体</vt:lpstr>
      <vt:lpstr>黑体</vt:lpstr>
      <vt:lpstr>华文仿宋</vt:lpstr>
      <vt:lpstr>华文琥珀</vt:lpstr>
      <vt:lpstr>华文隶书</vt:lpstr>
      <vt:lpstr>华文新魏</vt:lpstr>
      <vt:lpstr>楷体</vt:lpstr>
      <vt:lpstr>宋体</vt:lpstr>
      <vt:lpstr>微软雅黑</vt:lpstr>
      <vt:lpstr>新宋体</vt:lpstr>
      <vt:lpstr>Aharoni</vt:lpstr>
      <vt:lpstr>Microsoft JhengHei</vt:lpstr>
      <vt:lpstr>Arial</vt:lpstr>
      <vt:lpstr>Arial Narrow</vt:lpstr>
      <vt:lpstr>Calibri</vt:lpstr>
      <vt:lpstr>Times New Roman</vt:lpstr>
      <vt:lpstr>Trebuchet MS</vt:lpstr>
      <vt:lpstr>Wingdings</vt:lpstr>
      <vt:lpstr>Office Theme</vt:lpstr>
      <vt:lpstr>承上启下</vt:lpstr>
      <vt:lpstr>项目计划</vt:lpstr>
      <vt:lpstr>范围计划</vt:lpstr>
      <vt:lpstr>PowerPoint 演示文稿</vt:lpstr>
      <vt:lpstr>需求管理中的问题举例</vt:lpstr>
      <vt:lpstr>需求管理中的问题举例</vt:lpstr>
      <vt:lpstr>项目失败的原因分析</vt:lpstr>
      <vt:lpstr>软件需求定义</vt:lpstr>
      <vt:lpstr>本章要点</vt:lpstr>
      <vt:lpstr>软件需求管理的过程</vt:lpstr>
      <vt:lpstr>PowerPoint 演示文稿</vt:lpstr>
      <vt:lpstr>需求获取的方法</vt:lpstr>
      <vt:lpstr>2、需求分析</vt:lpstr>
      <vt:lpstr>PowerPoint 演示文稿</vt:lpstr>
      <vt:lpstr>3、需求规格编写</vt:lpstr>
      <vt:lpstr> 需求规格文档参考</vt:lpstr>
      <vt:lpstr>4、需求验证</vt:lpstr>
      <vt:lpstr>PowerPoint 演示文稿</vt:lpstr>
      <vt:lpstr>需求变更管理</vt:lpstr>
      <vt:lpstr>需求变更控制流程</vt:lpstr>
      <vt:lpstr>本章要点</vt:lpstr>
      <vt:lpstr>需求建模的基本方法介绍</vt:lpstr>
      <vt:lpstr>PowerPoint 演示文稿</vt:lpstr>
      <vt:lpstr>传统需求建模的基本方法介绍</vt:lpstr>
      <vt:lpstr>1、原型方法</vt:lpstr>
      <vt:lpstr> 原型实例</vt:lpstr>
      <vt:lpstr>传统需求建模的基本方法介绍</vt:lpstr>
      <vt:lpstr>2、基于数据流- 结构化分析方法</vt:lpstr>
      <vt:lpstr>基于数据流的技术</vt:lpstr>
      <vt:lpstr>PowerPoint 演示文稿</vt:lpstr>
      <vt:lpstr>学生管理系统-数据流图-顶层</vt:lpstr>
      <vt:lpstr>学生管理系统-数据流图-0层</vt:lpstr>
      <vt:lpstr>学生管理系统-数据流图-1层</vt:lpstr>
      <vt:lpstr>学生管理系统-数据流图-1层</vt:lpstr>
      <vt:lpstr>学生管理系统-数据字典-数据流</vt:lpstr>
      <vt:lpstr>传统需求建模的基本方法介绍</vt:lpstr>
      <vt:lpstr>基于UML方法</vt:lpstr>
      <vt:lpstr>UML需求视图</vt:lpstr>
      <vt:lpstr>基于UML方法综述</vt:lpstr>
      <vt:lpstr> 贸易链项目需求实例:角色</vt:lpstr>
      <vt:lpstr> 贸易链项目需求实例:角色</vt:lpstr>
      <vt:lpstr> 贸易链项目需求实例:主Use case</vt:lpstr>
      <vt:lpstr> 贸易链需求实例:Usecase</vt:lpstr>
      <vt:lpstr>贸易链需求实例：-合同执行阶段</vt:lpstr>
      <vt:lpstr>PowerPoint 演示文稿</vt:lpstr>
      <vt:lpstr>PowerPoint 演示文稿</vt:lpstr>
      <vt:lpstr>PowerPoint 演示文稿</vt:lpstr>
      <vt:lpstr>本章要点</vt:lpstr>
      <vt:lpstr>需求建模的基本方法介绍</vt:lpstr>
      <vt:lpstr>Requirements in Agile process</vt:lpstr>
      <vt:lpstr>PowerPoint 演示文稿</vt:lpstr>
      <vt:lpstr>Product Backlog:产品待办事项列表</vt:lpstr>
      <vt:lpstr>Sprint Backlog:待办事项列表的细化</vt:lpstr>
      <vt:lpstr>User Stories</vt:lpstr>
      <vt:lpstr>User Stories</vt:lpstr>
      <vt:lpstr>User Stories</vt:lpstr>
      <vt:lpstr>Good user story?</vt:lpstr>
      <vt:lpstr>Story cards and story wall</vt:lpstr>
      <vt:lpstr>PowerPoint 演示文稿</vt:lpstr>
      <vt:lpstr>Story wall</vt:lpstr>
      <vt:lpstr>PowerPoint 演示文稿</vt:lpstr>
      <vt:lpstr>PowerPoint 演示文稿</vt:lpstr>
      <vt:lpstr>兼容性---操作系统</vt:lpstr>
      <vt:lpstr>Prioritisation of stories</vt:lpstr>
      <vt:lpstr>PowerPoint 演示文稿</vt:lpstr>
      <vt:lpstr>MoSCoW Example</vt:lpstr>
      <vt:lpstr>本章要点</vt:lpstr>
      <vt:lpstr>案例分析</vt:lpstr>
      <vt:lpstr>PowerPoint 演示文稿</vt:lpstr>
      <vt:lpstr>需求管理-小结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软件开发项目管理</dc:title>
  <dc:subject>第四章</dc:subject>
  <dc:creator>Casey han</dc:creator>
  <cp:lastModifiedBy>Microsoft Office 用户</cp:lastModifiedBy>
  <cp:revision>2</cp:revision>
  <dcterms:created xsi:type="dcterms:W3CDTF">2020-06-12T01:25:49Z</dcterms:created>
  <dcterms:modified xsi:type="dcterms:W3CDTF">2024-09-23T09:06:46Z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