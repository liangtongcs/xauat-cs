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/>
    <p:restoredTop sz="94279"/>
  </p:normalViewPr>
  <p:slideViewPr>
    <p:cSldViewPr>
      <p:cViewPr varScale="1">
        <p:scale>
          <a:sx n="103" d="100"/>
          <a:sy n="103" d="100"/>
        </p:scale>
        <p:origin x="32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7524" y="315213"/>
            <a:ext cx="810895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622" y="322833"/>
            <a:ext cx="777275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168" y="1689393"/>
            <a:ext cx="4228465" cy="4272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591" y="160731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情景引入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59" y="1583085"/>
            <a:ext cx="8497824" cy="50859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7958" y="1916429"/>
            <a:ext cx="2016760" cy="4608830"/>
          </a:xfrm>
          <a:custGeom>
            <a:avLst/>
            <a:gdLst/>
            <a:ahLst/>
            <a:cxnLst/>
            <a:rect l="l" t="t" r="r" b="b"/>
            <a:pathLst>
              <a:path w="2016760" h="4608830">
                <a:moveTo>
                  <a:pt x="0" y="4608576"/>
                </a:moveTo>
                <a:lnTo>
                  <a:pt x="2016252" y="4608576"/>
                </a:lnTo>
                <a:lnTo>
                  <a:pt x="2016252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3770" y="1870710"/>
            <a:ext cx="1152525" cy="4654550"/>
          </a:xfrm>
          <a:custGeom>
            <a:avLst/>
            <a:gdLst/>
            <a:ahLst/>
            <a:cxnLst/>
            <a:rect l="l" t="t" r="r" b="b"/>
            <a:pathLst>
              <a:path w="1152525" h="4654550">
                <a:moveTo>
                  <a:pt x="0" y="4654296"/>
                </a:moveTo>
                <a:lnTo>
                  <a:pt x="1152144" y="4654296"/>
                </a:lnTo>
                <a:lnTo>
                  <a:pt x="1152144" y="0"/>
                </a:lnTo>
                <a:lnTo>
                  <a:pt x="0" y="0"/>
                </a:lnTo>
                <a:lnTo>
                  <a:pt x="0" y="465429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66" y="23266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路线图：成本计划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495" y="2350007"/>
            <a:ext cx="8513003" cy="25107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338" y="331165"/>
            <a:ext cx="4969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软件项目管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二篇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7851" y="2556509"/>
            <a:ext cx="4906010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FF66FF"/>
                </a:solidFill>
                <a:latin typeface="华文隶书"/>
                <a:cs typeface="华文隶书"/>
              </a:rPr>
              <a:t>第 6</a:t>
            </a:r>
            <a:r>
              <a:rPr sz="6000" b="1" spc="10" dirty="0">
                <a:solidFill>
                  <a:srgbClr val="FF66FF"/>
                </a:solidFill>
                <a:latin typeface="华文隶书"/>
                <a:cs typeface="华文隶书"/>
              </a:rPr>
              <a:t> </a:t>
            </a:r>
            <a:r>
              <a:rPr sz="6000" b="1" spc="-10" dirty="0">
                <a:solidFill>
                  <a:srgbClr val="FF66FF"/>
                </a:solidFill>
                <a:latin typeface="华文隶书"/>
                <a:cs typeface="华文隶书"/>
              </a:rPr>
              <a:t>章</a:t>
            </a:r>
            <a:endParaRPr sz="60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dirty="0">
                <a:solidFill>
                  <a:srgbClr val="FF66FF"/>
                </a:solidFill>
                <a:latin typeface="华文隶书"/>
                <a:cs typeface="华文隶书"/>
              </a:rPr>
              <a:t>软件项</a:t>
            </a: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目成本计划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6373" y="190849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6711" y="1699260"/>
            <a:ext cx="504825" cy="72136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15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64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373" y="286734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6711" y="2657855"/>
            <a:ext cx="48196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7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6373" y="382810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6711" y="3617976"/>
            <a:ext cx="50482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6373" y="478885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6711" y="4578096"/>
            <a:ext cx="483234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60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1155" y="1699260"/>
            <a:ext cx="4628515" cy="72136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93675" rIns="0" bIns="0" rtlCol="0">
            <a:spAutoFit/>
          </a:bodyPr>
          <a:lstStyle/>
          <a:p>
            <a:pPr marR="231775" algn="ctr">
              <a:lnSpc>
                <a:spcPct val="100000"/>
              </a:lnSpc>
              <a:spcBef>
                <a:spcPts val="15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估算过程概念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8295" y="2657855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17804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714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1155" y="3617976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431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5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4578096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成本预算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8598" y="579713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8048" y="5586984"/>
            <a:ext cx="485140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2679" y="5586984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关于估算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4520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3843258"/>
            <a:ext cx="1609725" cy="1818639"/>
          </a:xfrm>
          <a:custGeom>
            <a:avLst/>
            <a:gdLst/>
            <a:ahLst/>
            <a:cxnLst/>
            <a:rect l="l" t="t" r="r" b="b"/>
            <a:pathLst>
              <a:path w="1609725" h="1818639">
                <a:moveTo>
                  <a:pt x="98551" y="0"/>
                </a:moveTo>
                <a:lnTo>
                  <a:pt x="51046" y="17915"/>
                </a:lnTo>
                <a:lnTo>
                  <a:pt x="12928" y="85163"/>
                </a:lnTo>
                <a:lnTo>
                  <a:pt x="0" y="137810"/>
                </a:lnTo>
                <a:lnTo>
                  <a:pt x="0" y="1345072"/>
                </a:lnTo>
                <a:lnTo>
                  <a:pt x="2553" y="1394827"/>
                </a:lnTo>
                <a:lnTo>
                  <a:pt x="8821" y="1440060"/>
                </a:lnTo>
                <a:lnTo>
                  <a:pt x="19085" y="1480876"/>
                </a:lnTo>
                <a:lnTo>
                  <a:pt x="33626" y="1517379"/>
                </a:lnTo>
                <a:lnTo>
                  <a:pt x="76674" y="1577864"/>
                </a:lnTo>
                <a:lnTo>
                  <a:pt x="140222" y="1622349"/>
                </a:lnTo>
                <a:lnTo>
                  <a:pt x="180390" y="1638854"/>
                </a:lnTo>
                <a:lnTo>
                  <a:pt x="226529" y="1651671"/>
                </a:lnTo>
                <a:lnTo>
                  <a:pt x="278924" y="1660907"/>
                </a:lnTo>
                <a:lnTo>
                  <a:pt x="337855" y="1666665"/>
                </a:lnTo>
                <a:lnTo>
                  <a:pt x="403606" y="1669049"/>
                </a:lnTo>
                <a:lnTo>
                  <a:pt x="1231645" y="1672224"/>
                </a:lnTo>
                <a:lnTo>
                  <a:pt x="1228089" y="1818401"/>
                </a:lnTo>
                <a:lnTo>
                  <a:pt x="1609344" y="1575323"/>
                </a:lnTo>
                <a:lnTo>
                  <a:pt x="1501478" y="1497472"/>
                </a:lnTo>
                <a:lnTo>
                  <a:pt x="1241933" y="1497472"/>
                </a:lnTo>
                <a:lnTo>
                  <a:pt x="455422" y="1484772"/>
                </a:lnTo>
                <a:lnTo>
                  <a:pt x="405144" y="1483197"/>
                </a:lnTo>
                <a:lnTo>
                  <a:pt x="360529" y="1479313"/>
                </a:lnTo>
                <a:lnTo>
                  <a:pt x="321735" y="1470813"/>
                </a:lnTo>
                <a:lnTo>
                  <a:pt x="262257" y="1430729"/>
                </a:lnTo>
                <a:lnTo>
                  <a:pt x="241895" y="1394529"/>
                </a:lnTo>
                <a:lnTo>
                  <a:pt x="227997" y="1344479"/>
                </a:lnTo>
                <a:lnTo>
                  <a:pt x="220725" y="1278270"/>
                </a:lnTo>
                <a:lnTo>
                  <a:pt x="203581" y="160035"/>
                </a:lnTo>
                <a:lnTo>
                  <a:pt x="188320" y="105458"/>
                </a:lnTo>
                <a:lnTo>
                  <a:pt x="169143" y="61956"/>
                </a:lnTo>
                <a:lnTo>
                  <a:pt x="147093" y="29739"/>
                </a:lnTo>
                <a:lnTo>
                  <a:pt x="123215" y="9017"/>
                </a:lnTo>
                <a:lnTo>
                  <a:pt x="98551" y="0"/>
                </a:lnTo>
                <a:close/>
              </a:path>
              <a:path w="1609725" h="1818639">
                <a:moveTo>
                  <a:pt x="1241933" y="1310147"/>
                </a:moveTo>
                <a:lnTo>
                  <a:pt x="1241933" y="1497472"/>
                </a:lnTo>
                <a:lnTo>
                  <a:pt x="1501478" y="1497472"/>
                </a:lnTo>
                <a:lnTo>
                  <a:pt x="1241933" y="1310147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6067" y="3570732"/>
            <a:ext cx="1914525" cy="477520"/>
          </a:xfrm>
          <a:custGeom>
            <a:avLst/>
            <a:gdLst/>
            <a:ahLst/>
            <a:cxnLst/>
            <a:rect l="l" t="t" r="r" b="b"/>
            <a:pathLst>
              <a:path w="1914525" h="477520">
                <a:moveTo>
                  <a:pt x="1759648" y="325881"/>
                </a:moveTo>
                <a:lnTo>
                  <a:pt x="1495806" y="325881"/>
                </a:lnTo>
                <a:lnTo>
                  <a:pt x="1502156" y="477011"/>
                </a:lnTo>
                <a:lnTo>
                  <a:pt x="1759648" y="325881"/>
                </a:lnTo>
                <a:close/>
              </a:path>
              <a:path w="1914525" h="477520">
                <a:moveTo>
                  <a:pt x="1502156" y="0"/>
                </a:moveTo>
                <a:lnTo>
                  <a:pt x="1502156" y="141096"/>
                </a:lnTo>
                <a:lnTo>
                  <a:pt x="0" y="144398"/>
                </a:lnTo>
                <a:lnTo>
                  <a:pt x="3175" y="352678"/>
                </a:lnTo>
                <a:lnTo>
                  <a:pt x="1495806" y="325881"/>
                </a:lnTo>
                <a:lnTo>
                  <a:pt x="1759648" y="325881"/>
                </a:lnTo>
                <a:lnTo>
                  <a:pt x="1914144" y="235203"/>
                </a:lnTo>
                <a:lnTo>
                  <a:pt x="150215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89532" y="2055876"/>
            <a:ext cx="1609725" cy="1817370"/>
          </a:xfrm>
          <a:custGeom>
            <a:avLst/>
            <a:gdLst/>
            <a:ahLst/>
            <a:cxnLst/>
            <a:rect l="l" t="t" r="r" b="b"/>
            <a:pathLst>
              <a:path w="1609725" h="1817370">
                <a:moveTo>
                  <a:pt x="1228090" y="0"/>
                </a:moveTo>
                <a:lnTo>
                  <a:pt x="1231645" y="146050"/>
                </a:lnTo>
                <a:lnTo>
                  <a:pt x="403606" y="149225"/>
                </a:lnTo>
                <a:lnTo>
                  <a:pt x="337855" y="151609"/>
                </a:lnTo>
                <a:lnTo>
                  <a:pt x="278924" y="157366"/>
                </a:lnTo>
                <a:lnTo>
                  <a:pt x="226529" y="166599"/>
                </a:lnTo>
                <a:lnTo>
                  <a:pt x="180390" y="179413"/>
                </a:lnTo>
                <a:lnTo>
                  <a:pt x="140222" y="195910"/>
                </a:lnTo>
                <a:lnTo>
                  <a:pt x="105744" y="216195"/>
                </a:lnTo>
                <a:lnTo>
                  <a:pt x="52728" y="268541"/>
                </a:lnTo>
                <a:lnTo>
                  <a:pt x="19085" y="337282"/>
                </a:lnTo>
                <a:lnTo>
                  <a:pt x="8821" y="378060"/>
                </a:lnTo>
                <a:lnTo>
                  <a:pt x="2553" y="423247"/>
                </a:lnTo>
                <a:lnTo>
                  <a:pt x="0" y="472948"/>
                </a:lnTo>
                <a:lnTo>
                  <a:pt x="0" y="1679194"/>
                </a:lnTo>
                <a:lnTo>
                  <a:pt x="12928" y="1731806"/>
                </a:lnTo>
                <a:lnTo>
                  <a:pt x="30292" y="1771675"/>
                </a:lnTo>
                <a:lnTo>
                  <a:pt x="74147" y="1814017"/>
                </a:lnTo>
                <a:lnTo>
                  <a:pt x="98551" y="1816909"/>
                </a:lnTo>
                <a:lnTo>
                  <a:pt x="123215" y="1807895"/>
                </a:lnTo>
                <a:lnTo>
                  <a:pt x="169143" y="1754987"/>
                </a:lnTo>
                <a:lnTo>
                  <a:pt x="188320" y="1711512"/>
                </a:lnTo>
                <a:lnTo>
                  <a:pt x="203581" y="1656969"/>
                </a:lnTo>
                <a:lnTo>
                  <a:pt x="220725" y="539623"/>
                </a:lnTo>
                <a:lnTo>
                  <a:pt x="227997" y="473456"/>
                </a:lnTo>
                <a:lnTo>
                  <a:pt x="241895" y="423437"/>
                </a:lnTo>
                <a:lnTo>
                  <a:pt x="262257" y="387260"/>
                </a:lnTo>
                <a:lnTo>
                  <a:pt x="321735" y="347200"/>
                </a:lnTo>
                <a:lnTo>
                  <a:pt x="360529" y="338705"/>
                </a:lnTo>
                <a:lnTo>
                  <a:pt x="405144" y="334823"/>
                </a:lnTo>
                <a:lnTo>
                  <a:pt x="455422" y="333248"/>
                </a:lnTo>
                <a:lnTo>
                  <a:pt x="1241933" y="320548"/>
                </a:lnTo>
                <a:lnTo>
                  <a:pt x="1501602" y="320548"/>
                </a:lnTo>
                <a:lnTo>
                  <a:pt x="1609344" y="242824"/>
                </a:lnTo>
                <a:lnTo>
                  <a:pt x="1228090" y="0"/>
                </a:lnTo>
                <a:close/>
              </a:path>
              <a:path w="1609725" h="1817370">
                <a:moveTo>
                  <a:pt x="1501602" y="320548"/>
                </a:moveTo>
                <a:lnTo>
                  <a:pt x="1241933" y="320548"/>
                </a:lnTo>
                <a:lnTo>
                  <a:pt x="1241933" y="507873"/>
                </a:lnTo>
                <a:lnTo>
                  <a:pt x="1501602" y="320548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71644" y="3656076"/>
            <a:ext cx="1163320" cy="344805"/>
          </a:xfrm>
          <a:custGeom>
            <a:avLst/>
            <a:gdLst/>
            <a:ahLst/>
            <a:cxnLst/>
            <a:rect l="l" t="t" r="r" b="b"/>
            <a:pathLst>
              <a:path w="1163320" h="344804">
                <a:moveTo>
                  <a:pt x="1006093" y="0"/>
                </a:moveTo>
                <a:lnTo>
                  <a:pt x="1006093" y="86106"/>
                </a:lnTo>
                <a:lnTo>
                  <a:pt x="0" y="86106"/>
                </a:lnTo>
                <a:lnTo>
                  <a:pt x="0" y="258318"/>
                </a:lnTo>
                <a:lnTo>
                  <a:pt x="1006093" y="258318"/>
                </a:lnTo>
                <a:lnTo>
                  <a:pt x="1006093" y="344424"/>
                </a:lnTo>
                <a:lnTo>
                  <a:pt x="1162811" y="172212"/>
                </a:lnTo>
                <a:lnTo>
                  <a:pt x="1006093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45735" y="5196840"/>
            <a:ext cx="1161415" cy="349250"/>
          </a:xfrm>
          <a:custGeom>
            <a:avLst/>
            <a:gdLst/>
            <a:ahLst/>
            <a:cxnLst/>
            <a:rect l="l" t="t" r="r" b="b"/>
            <a:pathLst>
              <a:path w="1161414" h="349250">
                <a:moveTo>
                  <a:pt x="1003935" y="0"/>
                </a:moveTo>
                <a:lnTo>
                  <a:pt x="1003935" y="87249"/>
                </a:lnTo>
                <a:lnTo>
                  <a:pt x="0" y="87249"/>
                </a:lnTo>
                <a:lnTo>
                  <a:pt x="0" y="261747"/>
                </a:lnTo>
                <a:lnTo>
                  <a:pt x="1003935" y="261747"/>
                </a:lnTo>
                <a:lnTo>
                  <a:pt x="1003935" y="348996"/>
                </a:lnTo>
                <a:lnTo>
                  <a:pt x="1161288" y="174498"/>
                </a:lnTo>
                <a:lnTo>
                  <a:pt x="1003935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53355" y="2161032"/>
            <a:ext cx="1161415" cy="344805"/>
          </a:xfrm>
          <a:custGeom>
            <a:avLst/>
            <a:gdLst/>
            <a:ahLst/>
            <a:cxnLst/>
            <a:rect l="l" t="t" r="r" b="b"/>
            <a:pathLst>
              <a:path w="1161414" h="344805">
                <a:moveTo>
                  <a:pt x="1004570" y="0"/>
                </a:moveTo>
                <a:lnTo>
                  <a:pt x="1004570" y="86105"/>
                </a:lnTo>
                <a:lnTo>
                  <a:pt x="0" y="86105"/>
                </a:lnTo>
                <a:lnTo>
                  <a:pt x="0" y="258317"/>
                </a:lnTo>
                <a:lnTo>
                  <a:pt x="1004570" y="258317"/>
                </a:lnTo>
                <a:lnTo>
                  <a:pt x="1004570" y="344423"/>
                </a:lnTo>
                <a:lnTo>
                  <a:pt x="1161288" y="172212"/>
                </a:lnTo>
                <a:lnTo>
                  <a:pt x="1004570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10890" y="1700022"/>
            <a:ext cx="5032248" cy="1298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10890" y="1700022"/>
            <a:ext cx="4877435" cy="154940"/>
          </a:xfrm>
          <a:custGeom>
            <a:avLst/>
            <a:gdLst/>
            <a:ahLst/>
            <a:cxnLst/>
            <a:rect l="l" t="t" r="r" b="b"/>
            <a:pathLst>
              <a:path w="4877434" h="154939">
                <a:moveTo>
                  <a:pt x="0" y="154812"/>
                </a:moveTo>
                <a:lnTo>
                  <a:pt x="7895" y="105891"/>
                </a:lnTo>
                <a:lnTo>
                  <a:pt x="29878" y="63395"/>
                </a:lnTo>
                <a:lnTo>
                  <a:pt x="63395" y="29878"/>
                </a:lnTo>
                <a:lnTo>
                  <a:pt x="105891" y="7895"/>
                </a:lnTo>
                <a:lnTo>
                  <a:pt x="154812" y="0"/>
                </a:lnTo>
                <a:lnTo>
                  <a:pt x="4877435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10890" y="1854835"/>
            <a:ext cx="4877435" cy="1143635"/>
          </a:xfrm>
          <a:custGeom>
            <a:avLst/>
            <a:gdLst/>
            <a:ahLst/>
            <a:cxnLst/>
            <a:rect l="l" t="t" r="r" b="b"/>
            <a:pathLst>
              <a:path w="4877434" h="1143635">
                <a:moveTo>
                  <a:pt x="4877435" y="1143635"/>
                </a:moveTo>
                <a:lnTo>
                  <a:pt x="154812" y="1143635"/>
                </a:lnTo>
                <a:lnTo>
                  <a:pt x="105891" y="1135739"/>
                </a:lnTo>
                <a:lnTo>
                  <a:pt x="63395" y="1113756"/>
                </a:lnTo>
                <a:lnTo>
                  <a:pt x="29878" y="1080239"/>
                </a:lnTo>
                <a:lnTo>
                  <a:pt x="7895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88325" y="1700022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40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3" y="154812"/>
                </a:lnTo>
                <a:lnTo>
                  <a:pt x="154813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10890" y="1700022"/>
            <a:ext cx="5032248" cy="1298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890" y="1700022"/>
            <a:ext cx="5032375" cy="1298575"/>
          </a:xfrm>
          <a:custGeom>
            <a:avLst/>
            <a:gdLst/>
            <a:ahLst/>
            <a:cxnLst/>
            <a:rect l="l" t="t" r="r" b="b"/>
            <a:pathLst>
              <a:path w="5032375" h="1298575">
                <a:moveTo>
                  <a:pt x="0" y="154812"/>
                </a:moveTo>
                <a:lnTo>
                  <a:pt x="7895" y="105891"/>
                </a:lnTo>
                <a:lnTo>
                  <a:pt x="29878" y="63395"/>
                </a:lnTo>
                <a:lnTo>
                  <a:pt x="63395" y="29878"/>
                </a:lnTo>
                <a:lnTo>
                  <a:pt x="105891" y="7895"/>
                </a:lnTo>
                <a:lnTo>
                  <a:pt x="154812" y="0"/>
                </a:lnTo>
                <a:lnTo>
                  <a:pt x="4877435" y="0"/>
                </a:lnTo>
                <a:lnTo>
                  <a:pt x="4926356" y="7895"/>
                </a:lnTo>
                <a:lnTo>
                  <a:pt x="4968852" y="29878"/>
                </a:lnTo>
                <a:lnTo>
                  <a:pt x="5002369" y="63395"/>
                </a:lnTo>
                <a:lnTo>
                  <a:pt x="5024352" y="105891"/>
                </a:lnTo>
                <a:lnTo>
                  <a:pt x="5032248" y="154812"/>
                </a:lnTo>
                <a:lnTo>
                  <a:pt x="5032248" y="1143635"/>
                </a:lnTo>
                <a:lnTo>
                  <a:pt x="5024352" y="1192556"/>
                </a:lnTo>
                <a:lnTo>
                  <a:pt x="5002369" y="1235052"/>
                </a:lnTo>
                <a:lnTo>
                  <a:pt x="4968852" y="1268569"/>
                </a:lnTo>
                <a:lnTo>
                  <a:pt x="4926356" y="1290552"/>
                </a:lnTo>
                <a:lnTo>
                  <a:pt x="4877435" y="1298448"/>
                </a:lnTo>
                <a:lnTo>
                  <a:pt x="154812" y="1298448"/>
                </a:lnTo>
                <a:lnTo>
                  <a:pt x="105891" y="1290552"/>
                </a:lnTo>
                <a:lnTo>
                  <a:pt x="63395" y="1268569"/>
                </a:lnTo>
                <a:lnTo>
                  <a:pt x="29878" y="1235052"/>
                </a:lnTo>
                <a:lnTo>
                  <a:pt x="7895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74135" y="1763267"/>
            <a:ext cx="2475991" cy="6394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23082" y="3201161"/>
            <a:ext cx="5032247" cy="129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23082" y="3201161"/>
            <a:ext cx="4877435" cy="154940"/>
          </a:xfrm>
          <a:custGeom>
            <a:avLst/>
            <a:gdLst/>
            <a:ahLst/>
            <a:cxnLst/>
            <a:rect l="l" t="t" r="r" b="b"/>
            <a:pathLst>
              <a:path w="4877434" h="154939">
                <a:moveTo>
                  <a:pt x="0" y="154812"/>
                </a:moveTo>
                <a:lnTo>
                  <a:pt x="7895" y="105891"/>
                </a:lnTo>
                <a:lnTo>
                  <a:pt x="29878" y="63395"/>
                </a:lnTo>
                <a:lnTo>
                  <a:pt x="63395" y="29878"/>
                </a:lnTo>
                <a:lnTo>
                  <a:pt x="105891" y="7895"/>
                </a:lnTo>
                <a:lnTo>
                  <a:pt x="154812" y="0"/>
                </a:lnTo>
                <a:lnTo>
                  <a:pt x="4877435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23082" y="3355975"/>
            <a:ext cx="4877435" cy="1143635"/>
          </a:xfrm>
          <a:custGeom>
            <a:avLst/>
            <a:gdLst/>
            <a:ahLst/>
            <a:cxnLst/>
            <a:rect l="l" t="t" r="r" b="b"/>
            <a:pathLst>
              <a:path w="4877434" h="1143635">
                <a:moveTo>
                  <a:pt x="4877435" y="1143635"/>
                </a:moveTo>
                <a:lnTo>
                  <a:pt x="154812" y="1143635"/>
                </a:lnTo>
                <a:lnTo>
                  <a:pt x="105891" y="1135739"/>
                </a:lnTo>
                <a:lnTo>
                  <a:pt x="63395" y="1113756"/>
                </a:lnTo>
                <a:lnTo>
                  <a:pt x="29878" y="1080239"/>
                </a:lnTo>
                <a:lnTo>
                  <a:pt x="7895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00517" y="3201161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40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2" y="154812"/>
                </a:lnTo>
                <a:lnTo>
                  <a:pt x="154812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23082" y="3201161"/>
            <a:ext cx="5032247" cy="129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23082" y="3201161"/>
            <a:ext cx="5032375" cy="1298575"/>
          </a:xfrm>
          <a:custGeom>
            <a:avLst/>
            <a:gdLst/>
            <a:ahLst/>
            <a:cxnLst/>
            <a:rect l="l" t="t" r="r" b="b"/>
            <a:pathLst>
              <a:path w="5032375" h="1298575">
                <a:moveTo>
                  <a:pt x="0" y="154812"/>
                </a:moveTo>
                <a:lnTo>
                  <a:pt x="7895" y="105891"/>
                </a:lnTo>
                <a:lnTo>
                  <a:pt x="29878" y="63395"/>
                </a:lnTo>
                <a:lnTo>
                  <a:pt x="63395" y="29878"/>
                </a:lnTo>
                <a:lnTo>
                  <a:pt x="105891" y="7895"/>
                </a:lnTo>
                <a:lnTo>
                  <a:pt x="154812" y="0"/>
                </a:lnTo>
                <a:lnTo>
                  <a:pt x="4877435" y="0"/>
                </a:lnTo>
                <a:lnTo>
                  <a:pt x="4926356" y="7895"/>
                </a:lnTo>
                <a:lnTo>
                  <a:pt x="4968852" y="29878"/>
                </a:lnTo>
                <a:lnTo>
                  <a:pt x="5002369" y="63395"/>
                </a:lnTo>
                <a:lnTo>
                  <a:pt x="5024352" y="105891"/>
                </a:lnTo>
                <a:lnTo>
                  <a:pt x="5032247" y="154812"/>
                </a:lnTo>
                <a:lnTo>
                  <a:pt x="5032247" y="1143635"/>
                </a:lnTo>
                <a:lnTo>
                  <a:pt x="5024352" y="1192556"/>
                </a:lnTo>
                <a:lnTo>
                  <a:pt x="5002369" y="1235052"/>
                </a:lnTo>
                <a:lnTo>
                  <a:pt x="4968852" y="1268569"/>
                </a:lnTo>
                <a:lnTo>
                  <a:pt x="4926356" y="1290552"/>
                </a:lnTo>
                <a:lnTo>
                  <a:pt x="4877435" y="1298448"/>
                </a:lnTo>
                <a:lnTo>
                  <a:pt x="154812" y="1298448"/>
                </a:lnTo>
                <a:lnTo>
                  <a:pt x="105891" y="1290552"/>
                </a:lnTo>
                <a:lnTo>
                  <a:pt x="63395" y="1268569"/>
                </a:lnTo>
                <a:lnTo>
                  <a:pt x="29878" y="1235052"/>
                </a:lnTo>
                <a:lnTo>
                  <a:pt x="7895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184" y="3265932"/>
            <a:ext cx="2475991" cy="639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04794" y="4723638"/>
            <a:ext cx="5032248" cy="1298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04794" y="4723638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154812"/>
                </a:moveTo>
                <a:lnTo>
                  <a:pt x="7895" y="105891"/>
                </a:lnTo>
                <a:lnTo>
                  <a:pt x="29878" y="63395"/>
                </a:lnTo>
                <a:lnTo>
                  <a:pt x="63395" y="29878"/>
                </a:lnTo>
                <a:lnTo>
                  <a:pt x="105891" y="7895"/>
                </a:lnTo>
                <a:lnTo>
                  <a:pt x="154812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04794" y="4878451"/>
            <a:ext cx="4877435" cy="1143635"/>
          </a:xfrm>
          <a:custGeom>
            <a:avLst/>
            <a:gdLst/>
            <a:ahLst/>
            <a:cxnLst/>
            <a:rect l="l" t="t" r="r" b="b"/>
            <a:pathLst>
              <a:path w="4877434" h="1143635">
                <a:moveTo>
                  <a:pt x="4877434" y="1143635"/>
                </a:moveTo>
                <a:lnTo>
                  <a:pt x="154812" y="1143635"/>
                </a:lnTo>
                <a:lnTo>
                  <a:pt x="105891" y="1135743"/>
                </a:lnTo>
                <a:lnTo>
                  <a:pt x="63395" y="1113769"/>
                </a:lnTo>
                <a:lnTo>
                  <a:pt x="29878" y="1080261"/>
                </a:lnTo>
                <a:lnTo>
                  <a:pt x="7895" y="1037771"/>
                </a:lnTo>
                <a:lnTo>
                  <a:pt x="0" y="988847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182229" y="4723638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40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3" y="154812"/>
                </a:lnTo>
                <a:lnTo>
                  <a:pt x="154813" y="1143660"/>
                </a:lnTo>
                <a:lnTo>
                  <a:pt x="146917" y="1192584"/>
                </a:lnTo>
                <a:lnTo>
                  <a:pt x="124934" y="1235074"/>
                </a:lnTo>
                <a:lnTo>
                  <a:pt x="91417" y="1268582"/>
                </a:lnTo>
                <a:lnTo>
                  <a:pt x="48921" y="1290556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04794" y="4723638"/>
            <a:ext cx="5032248" cy="12984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04794" y="4723638"/>
            <a:ext cx="5032375" cy="1298575"/>
          </a:xfrm>
          <a:custGeom>
            <a:avLst/>
            <a:gdLst/>
            <a:ahLst/>
            <a:cxnLst/>
            <a:rect l="l" t="t" r="r" b="b"/>
            <a:pathLst>
              <a:path w="5032375" h="1298575">
                <a:moveTo>
                  <a:pt x="0" y="154812"/>
                </a:moveTo>
                <a:lnTo>
                  <a:pt x="7895" y="105891"/>
                </a:lnTo>
                <a:lnTo>
                  <a:pt x="29878" y="63395"/>
                </a:lnTo>
                <a:lnTo>
                  <a:pt x="63395" y="29878"/>
                </a:lnTo>
                <a:lnTo>
                  <a:pt x="105891" y="7895"/>
                </a:lnTo>
                <a:lnTo>
                  <a:pt x="154812" y="0"/>
                </a:lnTo>
                <a:lnTo>
                  <a:pt x="4877434" y="0"/>
                </a:lnTo>
                <a:lnTo>
                  <a:pt x="4926356" y="7895"/>
                </a:lnTo>
                <a:lnTo>
                  <a:pt x="4968852" y="29878"/>
                </a:lnTo>
                <a:lnTo>
                  <a:pt x="5002369" y="63395"/>
                </a:lnTo>
                <a:lnTo>
                  <a:pt x="5024352" y="105891"/>
                </a:lnTo>
                <a:lnTo>
                  <a:pt x="5032248" y="154812"/>
                </a:lnTo>
                <a:lnTo>
                  <a:pt x="5032248" y="1143660"/>
                </a:lnTo>
                <a:lnTo>
                  <a:pt x="5024352" y="1192584"/>
                </a:lnTo>
                <a:lnTo>
                  <a:pt x="5002369" y="1235074"/>
                </a:lnTo>
                <a:lnTo>
                  <a:pt x="4968852" y="1268582"/>
                </a:lnTo>
                <a:lnTo>
                  <a:pt x="4926356" y="1290556"/>
                </a:lnTo>
                <a:lnTo>
                  <a:pt x="4877434" y="1298448"/>
                </a:lnTo>
                <a:lnTo>
                  <a:pt x="154812" y="1298448"/>
                </a:lnTo>
                <a:lnTo>
                  <a:pt x="105891" y="1290556"/>
                </a:lnTo>
                <a:lnTo>
                  <a:pt x="63395" y="1268582"/>
                </a:lnTo>
                <a:lnTo>
                  <a:pt x="29878" y="1235074"/>
                </a:lnTo>
                <a:lnTo>
                  <a:pt x="7895" y="1192584"/>
                </a:lnTo>
                <a:lnTo>
                  <a:pt x="0" y="1143660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57371" y="4777740"/>
            <a:ext cx="2477516" cy="6394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6948" y="2929127"/>
            <a:ext cx="1883664" cy="18790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73963" y="3701288"/>
            <a:ext cx="1452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宋体"/>
                <a:cs typeface="宋体"/>
              </a:rPr>
              <a:t>关于估算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49953" y="2169667"/>
            <a:ext cx="3935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方正姚体"/>
                <a:cs typeface="方正姚体"/>
              </a:rPr>
              <a:t>估算不是很准确，有误差</a:t>
            </a:r>
            <a:endParaRPr sz="2800">
              <a:latin typeface="方正姚体"/>
              <a:cs typeface="方正姚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64889" y="3550742"/>
            <a:ext cx="3579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方正姚体"/>
                <a:cs typeface="方正姚体"/>
              </a:rPr>
              <a:t>项目经验数据非常重要</a:t>
            </a:r>
            <a:endParaRPr sz="2800">
              <a:latin typeface="方正姚体"/>
              <a:cs typeface="方正姚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39083" y="5154929"/>
            <a:ext cx="3931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方正姚体"/>
                <a:cs typeface="方正姚体"/>
              </a:rPr>
              <a:t>不要太迷信某些数学模型</a:t>
            </a:r>
            <a:endParaRPr sz="2800">
              <a:latin typeface="方正姚体"/>
              <a:cs typeface="方正姚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68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软件项目规模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3027" y="6423265"/>
            <a:ext cx="73152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chapter__6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979" y="1583085"/>
            <a:ext cx="8923019" cy="50859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3177" y="1916429"/>
            <a:ext cx="2592705" cy="4537075"/>
          </a:xfrm>
          <a:custGeom>
            <a:avLst/>
            <a:gdLst/>
            <a:ahLst/>
            <a:cxnLst/>
            <a:rect l="l" t="t" r="r" b="b"/>
            <a:pathLst>
              <a:path w="2592704" h="4537075">
                <a:moveTo>
                  <a:pt x="0" y="4536948"/>
                </a:moveTo>
                <a:lnTo>
                  <a:pt x="2592324" y="4536948"/>
                </a:lnTo>
                <a:lnTo>
                  <a:pt x="2592324" y="0"/>
                </a:lnTo>
                <a:lnTo>
                  <a:pt x="0" y="0"/>
                </a:lnTo>
                <a:lnTo>
                  <a:pt x="0" y="453694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68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软件项目规模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0173" y="639907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886" y="1774698"/>
            <a:ext cx="7772400" cy="145097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sz="2900" dirty="0">
                <a:latin typeface="华文新魏"/>
                <a:cs typeface="华文新魏"/>
              </a:rPr>
              <a:t>软件项目规模即工作量</a:t>
            </a:r>
            <a:endParaRPr sz="2900">
              <a:latin typeface="华文新魏"/>
              <a:cs typeface="华文新魏"/>
            </a:endParaRPr>
          </a:p>
          <a:p>
            <a:pPr marL="90805" marR="301625">
              <a:lnSpc>
                <a:spcPct val="100000"/>
              </a:lnSpc>
              <a:spcBef>
                <a:spcPts val="700"/>
              </a:spcBef>
            </a:pPr>
            <a:r>
              <a:rPr sz="2900" dirty="0">
                <a:latin typeface="华文新魏"/>
                <a:cs typeface="华文新魏"/>
              </a:rPr>
              <a:t>例如：软件规划，软件</a:t>
            </a:r>
            <a:r>
              <a:rPr sz="2900" spc="-15" dirty="0">
                <a:latin typeface="华文新魏"/>
                <a:cs typeface="华文新魏"/>
              </a:rPr>
              <a:t>管</a:t>
            </a:r>
            <a:r>
              <a:rPr sz="2900" dirty="0">
                <a:latin typeface="华文新魏"/>
                <a:cs typeface="华文新魏"/>
              </a:rPr>
              <a:t>理，</a:t>
            </a:r>
            <a:r>
              <a:rPr sz="2900" spc="-15" dirty="0">
                <a:latin typeface="华文新魏"/>
                <a:cs typeface="华文新魏"/>
              </a:rPr>
              <a:t>需</a:t>
            </a:r>
            <a:r>
              <a:rPr sz="2900" dirty="0">
                <a:latin typeface="华文新魏"/>
                <a:cs typeface="华文新魏"/>
              </a:rPr>
              <a:t>求，</a:t>
            </a:r>
            <a:r>
              <a:rPr sz="2900" spc="-15" dirty="0">
                <a:latin typeface="华文新魏"/>
                <a:cs typeface="华文新魏"/>
              </a:rPr>
              <a:t>设</a:t>
            </a:r>
            <a:r>
              <a:rPr sz="2900" dirty="0">
                <a:latin typeface="华文新魏"/>
                <a:cs typeface="华文新魏"/>
              </a:rPr>
              <a:t>计，编 码，测试，以及后期的</a:t>
            </a:r>
            <a:r>
              <a:rPr sz="2900" spc="-10" dirty="0">
                <a:latin typeface="华文新魏"/>
                <a:cs typeface="华文新魏"/>
              </a:rPr>
              <a:t>维</a:t>
            </a:r>
            <a:r>
              <a:rPr sz="2900" dirty="0">
                <a:latin typeface="华文新魏"/>
                <a:cs typeface="华文新魏"/>
              </a:rPr>
              <a:t>护等</a:t>
            </a:r>
            <a:r>
              <a:rPr sz="2900" spc="-10" dirty="0">
                <a:latin typeface="华文新魏"/>
                <a:cs typeface="华文新魏"/>
              </a:rPr>
              <a:t>任</a:t>
            </a:r>
            <a:r>
              <a:rPr sz="2900" dirty="0">
                <a:latin typeface="华文新魏"/>
                <a:cs typeface="华文新魏"/>
              </a:rPr>
              <a:t>务。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0731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软件规模单位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258" y="1701545"/>
            <a:ext cx="8153400" cy="4349750"/>
          </a:xfrm>
          <a:custGeom>
            <a:avLst/>
            <a:gdLst/>
            <a:ahLst/>
            <a:cxnLst/>
            <a:rect l="l" t="t" r="r" b="b"/>
            <a:pathLst>
              <a:path w="8153400" h="4349750">
                <a:moveTo>
                  <a:pt x="0" y="4349496"/>
                </a:moveTo>
                <a:lnTo>
                  <a:pt x="8153400" y="4349496"/>
                </a:lnTo>
                <a:lnTo>
                  <a:pt x="8153400" y="0"/>
                </a:lnTo>
                <a:lnTo>
                  <a:pt x="0" y="0"/>
                </a:lnTo>
                <a:lnTo>
                  <a:pt x="0" y="4349496"/>
                </a:lnTo>
                <a:close/>
              </a:path>
            </a:pathLst>
          </a:custGeom>
          <a:ln w="28955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540" y="1617149"/>
            <a:ext cx="4304030" cy="362457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LOC(Loc of</a:t>
            </a:r>
            <a:r>
              <a:rPr sz="2900" spc="-4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Code)</a:t>
            </a:r>
            <a:endParaRPr sz="2900">
              <a:latin typeface="华文新魏"/>
              <a:cs typeface="华文新魏"/>
            </a:endParaRPr>
          </a:p>
          <a:p>
            <a:pPr marL="273685" marR="996950" lvl="1" indent="-273685" algn="r">
              <a:lnSpc>
                <a:spcPct val="100000"/>
              </a:lnSpc>
              <a:spcBef>
                <a:spcPts val="62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273685" algn="l"/>
              </a:tabLst>
            </a:pPr>
            <a:r>
              <a:rPr sz="2600" dirty="0">
                <a:latin typeface="华文新魏"/>
                <a:cs typeface="华文新魏"/>
              </a:rPr>
              <a:t>源代码长度的测量</a:t>
            </a:r>
            <a:endParaRPr sz="2600">
              <a:latin typeface="华文新魏"/>
              <a:cs typeface="华文新魏"/>
            </a:endParaRPr>
          </a:p>
          <a:p>
            <a:pPr marL="319405" marR="972185" indent="-319405" algn="r">
              <a:lnSpc>
                <a:spcPct val="100000"/>
              </a:lnSpc>
              <a:spcBef>
                <a:spcPts val="67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194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FP(Function</a:t>
            </a:r>
            <a:r>
              <a:rPr sz="2900" spc="-80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Point)</a:t>
            </a:r>
            <a:endParaRPr sz="2900">
              <a:latin typeface="华文新魏"/>
              <a:cs typeface="华文新魏"/>
            </a:endParaRPr>
          </a:p>
          <a:p>
            <a:pPr marL="652780" lvl="1" indent="-273685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华文新魏"/>
                <a:cs typeface="华文新魏"/>
              </a:rPr>
              <a:t>用系统的功能数量来测量</a:t>
            </a:r>
            <a:endParaRPr sz="26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5" dirty="0">
                <a:latin typeface="华文新魏"/>
                <a:cs typeface="华文新魏"/>
              </a:rPr>
              <a:t>人月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人天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5" dirty="0">
                <a:latin typeface="华文新魏"/>
                <a:cs typeface="华文新魏"/>
              </a:rPr>
              <a:t>人年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91" y="377189"/>
            <a:ext cx="33813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软件项目成本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667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19855" y="1557527"/>
            <a:ext cx="5547360" cy="4257040"/>
          </a:xfrm>
          <a:custGeom>
            <a:avLst/>
            <a:gdLst/>
            <a:ahLst/>
            <a:cxnLst/>
            <a:rect l="l" t="t" r="r" b="b"/>
            <a:pathLst>
              <a:path w="5547359" h="4257040">
                <a:moveTo>
                  <a:pt x="0" y="4256532"/>
                </a:moveTo>
                <a:lnTo>
                  <a:pt x="5547359" y="4256532"/>
                </a:lnTo>
                <a:lnTo>
                  <a:pt x="5547359" y="0"/>
                </a:lnTo>
                <a:lnTo>
                  <a:pt x="0" y="0"/>
                </a:lnTo>
                <a:lnTo>
                  <a:pt x="0" y="4256532"/>
                </a:lnTo>
                <a:close/>
              </a:path>
            </a:pathLst>
          </a:custGeom>
          <a:ln w="9144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98850" y="1561845"/>
            <a:ext cx="5504815" cy="409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完成软</a:t>
            </a:r>
            <a:r>
              <a:rPr sz="2900" spc="-15" dirty="0">
                <a:latin typeface="华文新魏"/>
                <a:cs typeface="华文新魏"/>
              </a:rPr>
              <a:t>件</a:t>
            </a:r>
            <a:r>
              <a:rPr sz="2900" dirty="0">
                <a:latin typeface="华文新魏"/>
                <a:cs typeface="华文新魏"/>
              </a:rPr>
              <a:t>规模相</a:t>
            </a:r>
            <a:r>
              <a:rPr sz="2900" spc="-15" dirty="0">
                <a:latin typeface="华文新魏"/>
                <a:cs typeface="华文新魏"/>
              </a:rPr>
              <a:t>应</a:t>
            </a:r>
            <a:r>
              <a:rPr sz="2900" dirty="0">
                <a:latin typeface="华文新魏"/>
                <a:cs typeface="华文新魏"/>
              </a:rPr>
              <a:t>付出的</a:t>
            </a:r>
            <a:r>
              <a:rPr sz="2900" spc="-15" dirty="0">
                <a:latin typeface="华文新魏"/>
                <a:cs typeface="华文新魏"/>
              </a:rPr>
              <a:t>代</a:t>
            </a:r>
            <a:r>
              <a:rPr sz="2900" dirty="0">
                <a:latin typeface="华文新魏"/>
                <a:cs typeface="华文新魏"/>
              </a:rPr>
              <a:t>价。</a:t>
            </a:r>
            <a:endParaRPr sz="29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DD8046"/>
              </a:buClr>
              <a:buFont typeface="Wingdings"/>
              <a:buChar char=""/>
            </a:pPr>
            <a:endParaRPr sz="4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solidFill>
                  <a:srgbClr val="080808"/>
                </a:solidFill>
                <a:latin typeface="华文新魏"/>
                <a:cs typeface="华文新魏"/>
              </a:rPr>
              <a:t>待开发</a:t>
            </a:r>
            <a:r>
              <a:rPr sz="2900" spc="-15" dirty="0">
                <a:solidFill>
                  <a:srgbClr val="080808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080808"/>
                </a:solidFill>
                <a:latin typeface="华文新魏"/>
                <a:cs typeface="华文新魏"/>
              </a:rPr>
              <a:t>软件项</a:t>
            </a:r>
            <a:r>
              <a:rPr sz="2900" spc="-15" dirty="0">
                <a:solidFill>
                  <a:srgbClr val="080808"/>
                </a:solidFill>
                <a:latin typeface="华文新魏"/>
                <a:cs typeface="华文新魏"/>
              </a:rPr>
              <a:t>目</a:t>
            </a:r>
            <a:r>
              <a:rPr sz="2900" dirty="0">
                <a:solidFill>
                  <a:srgbClr val="080808"/>
                </a:solidFill>
                <a:latin typeface="华文新魏"/>
                <a:cs typeface="华文新魏"/>
              </a:rPr>
              <a:t>需要的</a:t>
            </a:r>
            <a:r>
              <a:rPr sz="2900" spc="-15" dirty="0">
                <a:solidFill>
                  <a:srgbClr val="080808"/>
                </a:solidFill>
                <a:latin typeface="华文新魏"/>
                <a:cs typeface="华文新魏"/>
              </a:rPr>
              <a:t>资</a:t>
            </a:r>
            <a:r>
              <a:rPr sz="2900" dirty="0">
                <a:solidFill>
                  <a:srgbClr val="080808"/>
                </a:solidFill>
                <a:latin typeface="华文新魏"/>
                <a:cs typeface="华文新魏"/>
              </a:rPr>
              <a:t>金。</a:t>
            </a:r>
            <a:endParaRPr sz="29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DD8046"/>
              </a:buClr>
              <a:buFont typeface="Wingdings"/>
              <a:buChar char=""/>
            </a:pPr>
            <a:endParaRPr sz="4200">
              <a:latin typeface="Times New Roman"/>
              <a:cs typeface="Times New Roman"/>
            </a:endParaRPr>
          </a:p>
          <a:p>
            <a:pPr marL="332105" marR="370840" indent="-32004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人的劳动的消耗所需要</a:t>
            </a:r>
            <a:r>
              <a:rPr sz="2900" spc="-15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代价 是软件产品的主要成本</a:t>
            </a:r>
            <a:endParaRPr sz="29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buClr>
                <a:srgbClr val="DD8046"/>
              </a:buClr>
              <a:buFont typeface="Wingdings"/>
              <a:buChar char=""/>
            </a:pPr>
            <a:endParaRPr sz="4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货币单位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343" y="1781555"/>
            <a:ext cx="3334511" cy="3677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96690" y="2350770"/>
            <a:ext cx="4897755" cy="0"/>
          </a:xfrm>
          <a:custGeom>
            <a:avLst/>
            <a:gdLst/>
            <a:ahLst/>
            <a:cxnLst/>
            <a:rect l="l" t="t" r="r" b="b"/>
            <a:pathLst>
              <a:path w="4897755">
                <a:moveTo>
                  <a:pt x="0" y="0"/>
                </a:moveTo>
                <a:lnTo>
                  <a:pt x="4897374" y="0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96690" y="3213354"/>
            <a:ext cx="4897755" cy="0"/>
          </a:xfrm>
          <a:custGeom>
            <a:avLst/>
            <a:gdLst/>
            <a:ahLst/>
            <a:cxnLst/>
            <a:rect l="l" t="t" r="r" b="b"/>
            <a:pathLst>
              <a:path w="4897755">
                <a:moveTo>
                  <a:pt x="0" y="0"/>
                </a:moveTo>
                <a:lnTo>
                  <a:pt x="4897374" y="0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08653" y="4653534"/>
            <a:ext cx="4895850" cy="0"/>
          </a:xfrm>
          <a:custGeom>
            <a:avLst/>
            <a:gdLst/>
            <a:ahLst/>
            <a:cxnLst/>
            <a:rect l="l" t="t" r="r" b="b"/>
            <a:pathLst>
              <a:path w="4895850">
                <a:moveTo>
                  <a:pt x="0" y="0"/>
                </a:moveTo>
                <a:lnTo>
                  <a:pt x="4895850" y="0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51909" y="5732526"/>
            <a:ext cx="4897755" cy="0"/>
          </a:xfrm>
          <a:custGeom>
            <a:avLst/>
            <a:gdLst/>
            <a:ahLst/>
            <a:cxnLst/>
            <a:rect l="l" t="t" r="r" b="b"/>
            <a:pathLst>
              <a:path w="4897755">
                <a:moveTo>
                  <a:pt x="0" y="0"/>
                </a:moveTo>
                <a:lnTo>
                  <a:pt x="4897373" y="0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693" y="283209"/>
            <a:ext cx="6737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软件规模和软件成本的关系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0895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17612" y="2111248"/>
            <a:ext cx="4785360" cy="2887345"/>
          </a:xfrm>
          <a:custGeom>
            <a:avLst/>
            <a:gdLst/>
            <a:ahLst/>
            <a:cxnLst/>
            <a:rect l="l" t="t" r="r" b="b"/>
            <a:pathLst>
              <a:path w="4785360" h="2887345">
                <a:moveTo>
                  <a:pt x="215506" y="0"/>
                </a:moveTo>
                <a:lnTo>
                  <a:pt x="0" y="373252"/>
                </a:lnTo>
                <a:lnTo>
                  <a:pt x="3681260" y="2498725"/>
                </a:lnTo>
                <a:lnTo>
                  <a:pt x="3517557" y="2782189"/>
                </a:lnTo>
                <a:lnTo>
                  <a:pt x="4784890" y="2886964"/>
                </a:lnTo>
                <a:lnTo>
                  <a:pt x="4257055" y="2125472"/>
                </a:lnTo>
                <a:lnTo>
                  <a:pt x="3896779" y="2125472"/>
                </a:lnTo>
                <a:lnTo>
                  <a:pt x="215506" y="0"/>
                </a:lnTo>
                <a:close/>
              </a:path>
              <a:path w="4785360" h="2887345">
                <a:moveTo>
                  <a:pt x="4060482" y="1841881"/>
                </a:moveTo>
                <a:lnTo>
                  <a:pt x="3896779" y="2125472"/>
                </a:lnTo>
                <a:lnTo>
                  <a:pt x="4257055" y="2125472"/>
                </a:lnTo>
                <a:lnTo>
                  <a:pt x="4060482" y="1841881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5904" y="1633727"/>
            <a:ext cx="1007363" cy="929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4644" y="1946275"/>
            <a:ext cx="706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latin typeface="Gulim"/>
                <a:cs typeface="Gulim"/>
              </a:rPr>
              <a:t>工</a:t>
            </a:r>
            <a:r>
              <a:rPr sz="1800" b="1" spc="5" dirty="0">
                <a:latin typeface="Gulim"/>
                <a:cs typeface="Gulim"/>
              </a:rPr>
              <a:t>作</a:t>
            </a:r>
            <a:r>
              <a:rPr sz="1800" b="1" spc="30" dirty="0">
                <a:latin typeface="Gulim"/>
                <a:cs typeface="Gulim"/>
              </a:rPr>
              <a:t>量</a:t>
            </a:r>
            <a:endParaRPr sz="1800">
              <a:latin typeface="Gulim"/>
              <a:cs typeface="Gulim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03976" y="3361944"/>
            <a:ext cx="2737104" cy="2659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42913" y="4306646"/>
            <a:ext cx="12274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5" dirty="0">
                <a:latin typeface="Gulim"/>
                <a:cs typeface="Gulim"/>
              </a:rPr>
              <a:t>成本</a:t>
            </a:r>
            <a:endParaRPr sz="4800">
              <a:latin typeface="Gulim"/>
              <a:cs typeface="Gulim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69235" y="2426207"/>
            <a:ext cx="1731264" cy="1763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32126" y="3040837"/>
            <a:ext cx="840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微软雅黑"/>
                <a:cs typeface="微软雅黑"/>
              </a:rPr>
              <a:t>规</a:t>
            </a:r>
            <a:r>
              <a:rPr sz="3200" b="1" spc="65" dirty="0">
                <a:latin typeface="Gulim"/>
                <a:cs typeface="Gulim"/>
              </a:rPr>
              <a:t>模</a:t>
            </a:r>
            <a:endParaRPr sz="32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成本估算结果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1470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29" y="126872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4611" y="1842516"/>
            <a:ext cx="4174236" cy="361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611" y="1842516"/>
            <a:ext cx="4174490" cy="361315"/>
          </a:xfrm>
          <a:prstGeom prst="rect">
            <a:avLst/>
          </a:prstGeom>
          <a:ln w="12192">
            <a:solidFill>
              <a:srgbClr val="C0C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6385" algn="ctr">
              <a:lnSpc>
                <a:spcPts val="2845"/>
              </a:lnSpc>
            </a:pPr>
            <a:r>
              <a:rPr sz="3200" dirty="0">
                <a:latin typeface="黑体"/>
                <a:cs typeface="黑体"/>
              </a:rPr>
              <a:t>直接</a:t>
            </a:r>
            <a:r>
              <a:rPr sz="3200" spc="-15" dirty="0">
                <a:latin typeface="黑体"/>
                <a:cs typeface="黑体"/>
              </a:rPr>
              <a:t>成</a:t>
            </a:r>
            <a:r>
              <a:rPr sz="3200" dirty="0">
                <a:latin typeface="黑体"/>
                <a:cs typeface="黑体"/>
              </a:rPr>
              <a:t>本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4611" y="2203704"/>
            <a:ext cx="4174236" cy="3601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4611" y="2203704"/>
            <a:ext cx="4174490" cy="3601720"/>
          </a:xfrm>
          <a:prstGeom prst="rect">
            <a:avLst/>
          </a:prstGeom>
          <a:ln w="12192">
            <a:solidFill>
              <a:srgbClr val="C0C0C0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06680" marR="153035">
              <a:lnSpc>
                <a:spcPct val="100000"/>
              </a:lnSpc>
              <a:spcBef>
                <a:spcPts val="630"/>
              </a:spcBef>
            </a:pPr>
            <a:r>
              <a:rPr sz="2800" spc="-5" dirty="0">
                <a:latin typeface="华文新魏"/>
                <a:cs typeface="华文新魏"/>
              </a:rPr>
              <a:t>与具体项目相关的成</a:t>
            </a:r>
            <a:r>
              <a:rPr sz="2800" dirty="0">
                <a:latin typeface="华文新魏"/>
                <a:cs typeface="华文新魏"/>
              </a:rPr>
              <a:t>本</a:t>
            </a:r>
            <a:r>
              <a:rPr sz="2800" spc="-5" dirty="0">
                <a:latin typeface="华文新魏"/>
                <a:cs typeface="华文新魏"/>
              </a:rPr>
              <a:t>,  例如：参与项目的人员成 本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43628" y="1844039"/>
            <a:ext cx="4174235" cy="3611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52771" y="1758188"/>
            <a:ext cx="4163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13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黑体"/>
                <a:cs typeface="黑体"/>
              </a:rPr>
              <a:t>间接</a:t>
            </a:r>
            <a:r>
              <a:rPr sz="3200" spc="-15" dirty="0">
                <a:latin typeface="黑体"/>
                <a:cs typeface="黑体"/>
              </a:rPr>
              <a:t>成</a:t>
            </a:r>
            <a:r>
              <a:rPr sz="3200" dirty="0">
                <a:latin typeface="黑体"/>
                <a:cs typeface="黑体"/>
              </a:rPr>
              <a:t>本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46676" y="2209800"/>
            <a:ext cx="4175760" cy="35219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46676" y="2209800"/>
            <a:ext cx="4175760" cy="3522345"/>
          </a:xfrm>
          <a:custGeom>
            <a:avLst/>
            <a:gdLst/>
            <a:ahLst/>
            <a:cxnLst/>
            <a:rect l="l" t="t" r="r" b="b"/>
            <a:pathLst>
              <a:path w="4175759" h="3522345">
                <a:moveTo>
                  <a:pt x="0" y="3521964"/>
                </a:moveTo>
                <a:lnTo>
                  <a:pt x="4175760" y="3521964"/>
                </a:lnTo>
                <a:lnTo>
                  <a:pt x="4175760" y="0"/>
                </a:lnTo>
                <a:lnTo>
                  <a:pt x="0" y="0"/>
                </a:lnTo>
                <a:lnTo>
                  <a:pt x="0" y="3521964"/>
                </a:lnTo>
                <a:close/>
              </a:path>
            </a:pathLst>
          </a:custGeom>
          <a:ln w="12191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52771" y="2277821"/>
            <a:ext cx="4163695" cy="3440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marR="14668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华文新魏"/>
                <a:cs typeface="华文新魏"/>
              </a:rPr>
              <a:t>可以分摊到各个具体项目 </a:t>
            </a:r>
            <a:r>
              <a:rPr sz="2800" spc="-5" dirty="0">
                <a:latin typeface="华文新魏"/>
                <a:cs typeface="华文新魏"/>
              </a:rPr>
              <a:t>中的成本，例如：</a:t>
            </a:r>
            <a:endParaRPr sz="2800">
              <a:latin typeface="华文新魏"/>
              <a:cs typeface="华文新魏"/>
            </a:endParaRPr>
          </a:p>
          <a:p>
            <a:pPr marL="1016635" indent="-45783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016635" algn="l"/>
                <a:tab pos="1017269" algn="l"/>
              </a:tabLst>
            </a:pPr>
            <a:r>
              <a:rPr sz="2800" spc="-5" dirty="0">
                <a:latin typeface="华文新魏"/>
                <a:cs typeface="华文新魏"/>
              </a:rPr>
              <a:t>培训</a:t>
            </a:r>
            <a:endParaRPr sz="2800">
              <a:latin typeface="华文新魏"/>
              <a:cs typeface="华文新魏"/>
            </a:endParaRPr>
          </a:p>
          <a:p>
            <a:pPr marL="1016635" indent="-457834">
              <a:lnSpc>
                <a:spcPct val="100000"/>
              </a:lnSpc>
              <a:buFont typeface="Wingdings"/>
              <a:buChar char=""/>
              <a:tabLst>
                <a:tab pos="1016635" algn="l"/>
                <a:tab pos="1017269" algn="l"/>
              </a:tabLst>
            </a:pPr>
            <a:r>
              <a:rPr sz="2800" spc="-5" dirty="0">
                <a:latin typeface="华文新魏"/>
                <a:cs typeface="华文新魏"/>
              </a:rPr>
              <a:t>房租水电</a:t>
            </a:r>
            <a:endParaRPr sz="2800">
              <a:latin typeface="华文新魏"/>
              <a:cs typeface="华文新魏"/>
            </a:endParaRPr>
          </a:p>
          <a:p>
            <a:pPr marL="1016635" indent="-457834">
              <a:lnSpc>
                <a:spcPct val="100000"/>
              </a:lnSpc>
              <a:buFont typeface="Wingdings"/>
              <a:buChar char=""/>
              <a:tabLst>
                <a:tab pos="1016635" algn="l"/>
                <a:tab pos="1017269" algn="l"/>
              </a:tabLst>
            </a:pPr>
            <a:r>
              <a:rPr sz="2800" spc="-5" dirty="0">
                <a:latin typeface="华文新魏"/>
                <a:cs typeface="华文新魏"/>
              </a:rPr>
              <a:t>员工福利</a:t>
            </a:r>
            <a:endParaRPr sz="2800">
              <a:latin typeface="华文新魏"/>
              <a:cs typeface="华文新魏"/>
            </a:endParaRPr>
          </a:p>
          <a:p>
            <a:pPr marL="1016635" indent="-457834">
              <a:lnSpc>
                <a:spcPct val="100000"/>
              </a:lnSpc>
              <a:buFont typeface="Wingdings"/>
              <a:buChar char=""/>
              <a:tabLst>
                <a:tab pos="1016635" algn="l"/>
                <a:tab pos="1017269" algn="l"/>
              </a:tabLst>
            </a:pPr>
            <a:r>
              <a:rPr sz="2800" spc="-5" dirty="0">
                <a:latin typeface="华文新魏"/>
                <a:cs typeface="华文新魏"/>
              </a:rPr>
              <a:t>市场费用</a:t>
            </a:r>
            <a:endParaRPr sz="2800">
              <a:latin typeface="华文新魏"/>
              <a:cs typeface="华文新魏"/>
            </a:endParaRPr>
          </a:p>
          <a:p>
            <a:pPr marL="1016635" indent="-45783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016635" algn="l"/>
                <a:tab pos="1017269" algn="l"/>
              </a:tabLst>
            </a:pPr>
            <a:r>
              <a:rPr sz="2800" spc="-5" dirty="0">
                <a:latin typeface="华文新魏"/>
                <a:cs typeface="华文新魏"/>
              </a:rPr>
              <a:t>管理费</a:t>
            </a:r>
            <a:endParaRPr sz="2800">
              <a:latin typeface="华文新魏"/>
              <a:cs typeface="华文新魏"/>
            </a:endParaRPr>
          </a:p>
          <a:p>
            <a:pPr marL="1016635" indent="-457834">
              <a:lnSpc>
                <a:spcPct val="100000"/>
              </a:lnSpc>
              <a:buFont typeface="Wingdings"/>
              <a:buChar char=""/>
              <a:tabLst>
                <a:tab pos="1016635" algn="l"/>
                <a:tab pos="1017269" algn="l"/>
              </a:tabLst>
            </a:pPr>
            <a:r>
              <a:rPr sz="2800" spc="-5" dirty="0">
                <a:latin typeface="华文新魏"/>
                <a:cs typeface="华文新魏"/>
              </a:rPr>
              <a:t>其他等等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6373" y="190849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6711" y="1699260"/>
            <a:ext cx="504825" cy="72136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15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64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373" y="286734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6711" y="2657855"/>
            <a:ext cx="48196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7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6373" y="382810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6711" y="3617976"/>
            <a:ext cx="50482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6373" y="478885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6711" y="4578096"/>
            <a:ext cx="483234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60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1155" y="1699260"/>
            <a:ext cx="4628515" cy="72136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3675" rIns="0" bIns="0" rtlCol="0">
            <a:spAutoFit/>
          </a:bodyPr>
          <a:lstStyle/>
          <a:p>
            <a:pPr marR="231775" algn="ctr">
              <a:lnSpc>
                <a:spcPct val="100000"/>
              </a:lnSpc>
              <a:spcBef>
                <a:spcPts val="15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估算过程概念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8295" y="2657855"/>
            <a:ext cx="4630420" cy="7226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17804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714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传统估算方法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1155" y="3617976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431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5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4578096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成本预算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8598" y="579713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8048" y="5586984"/>
            <a:ext cx="485140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2679" y="5586984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774698"/>
            <a:ext cx="7772400" cy="4258310"/>
          </a:xfrm>
          <a:custGeom>
            <a:avLst/>
            <a:gdLst/>
            <a:ahLst/>
            <a:cxnLst/>
            <a:rect l="l" t="t" r="r" b="b"/>
            <a:pathLst>
              <a:path w="7772400" h="4258310">
                <a:moveTo>
                  <a:pt x="0" y="4258056"/>
                </a:moveTo>
                <a:lnTo>
                  <a:pt x="7772400" y="4258056"/>
                </a:lnTo>
                <a:lnTo>
                  <a:pt x="7772400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1982226"/>
            <a:ext cx="15240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45"/>
              </a:lnSpc>
            </a:pPr>
            <a:r>
              <a:rPr sz="1750" spc="-5" dirty="0">
                <a:solidFill>
                  <a:srgbClr val="DD8046"/>
                </a:solidFill>
                <a:latin typeface="华文新魏"/>
                <a:cs typeface="华文新魏"/>
              </a:rPr>
              <a:t>1.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800"/>
              </a:spcBef>
            </a:pPr>
            <a:r>
              <a:rPr dirty="0"/>
              <a:t>代码行估算法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2"/>
              <a:tabLst>
                <a:tab pos="545465" algn="l"/>
                <a:tab pos="546100" algn="l"/>
              </a:tabLst>
            </a:pPr>
            <a:r>
              <a:rPr dirty="0"/>
              <a:t>功能点估算法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2"/>
              <a:tabLst>
                <a:tab pos="545465" algn="l"/>
                <a:tab pos="546100" algn="l"/>
              </a:tabLst>
            </a:pPr>
            <a:r>
              <a:rPr dirty="0"/>
              <a:t>用例点估算法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2"/>
              <a:tabLst>
                <a:tab pos="545465" algn="l"/>
                <a:tab pos="546100" algn="l"/>
              </a:tabLst>
            </a:pPr>
            <a:r>
              <a:rPr dirty="0"/>
              <a:t>类</a:t>
            </a:r>
            <a:r>
              <a:rPr spc="705" dirty="0"/>
              <a:t>比</a:t>
            </a:r>
            <a:r>
              <a:rPr spc="-5" dirty="0"/>
              <a:t>(</a:t>
            </a:r>
            <a:r>
              <a:rPr dirty="0"/>
              <a:t>自顶向</a:t>
            </a:r>
            <a:r>
              <a:rPr spc="-5" dirty="0"/>
              <a:t>下)</a:t>
            </a:r>
            <a:r>
              <a:rPr dirty="0"/>
              <a:t>估算法</a:t>
            </a: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 startAt="2"/>
              <a:tabLst>
                <a:tab pos="545465" algn="l"/>
                <a:tab pos="546100" algn="l"/>
              </a:tabLst>
            </a:pPr>
            <a:r>
              <a:rPr dirty="0"/>
              <a:t>自下而上估算法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2"/>
              <a:tabLst>
                <a:tab pos="545465" algn="l"/>
                <a:tab pos="546100" algn="l"/>
              </a:tabLst>
            </a:pPr>
            <a:r>
              <a:rPr dirty="0"/>
              <a:t>三点估算法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2"/>
              <a:tabLst>
                <a:tab pos="545465" algn="l"/>
                <a:tab pos="546100" algn="l"/>
              </a:tabLst>
            </a:pPr>
            <a:r>
              <a:rPr dirty="0"/>
              <a:t>参数估算法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2"/>
              <a:tabLst>
                <a:tab pos="545465" algn="l"/>
                <a:tab pos="546100" algn="l"/>
              </a:tabLst>
            </a:pPr>
            <a:r>
              <a:rPr dirty="0"/>
              <a:t>专家估算法</a:t>
            </a:r>
          </a:p>
        </p:txBody>
      </p:sp>
      <p:sp>
        <p:nvSpPr>
          <p:cNvPr id="8" name="object 8"/>
          <p:cNvSpPr/>
          <p:nvPr/>
        </p:nvSpPr>
        <p:spPr>
          <a:xfrm>
            <a:off x="533400" y="1773935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68948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传统估算方法-代码行估算法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a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ter_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_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868" y="1552955"/>
            <a:ext cx="8353044" cy="4971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83209"/>
            <a:ext cx="68948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传统估算方法-代码行估算法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82795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9961" y="2573273"/>
            <a:ext cx="6653784" cy="3304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19961" y="2573273"/>
            <a:ext cx="6260465" cy="394335"/>
          </a:xfrm>
          <a:custGeom>
            <a:avLst/>
            <a:gdLst/>
            <a:ahLst/>
            <a:cxnLst/>
            <a:rect l="l" t="t" r="r" b="b"/>
            <a:pathLst>
              <a:path w="6260465" h="394335">
                <a:moveTo>
                  <a:pt x="0" y="393826"/>
                </a:moveTo>
                <a:lnTo>
                  <a:pt x="3069" y="344442"/>
                </a:lnTo>
                <a:lnTo>
                  <a:pt x="12032" y="296883"/>
                </a:lnTo>
                <a:lnTo>
                  <a:pt x="26518" y="251520"/>
                </a:lnTo>
                <a:lnTo>
                  <a:pt x="46158" y="208722"/>
                </a:lnTo>
                <a:lnTo>
                  <a:pt x="70582" y="168860"/>
                </a:lnTo>
                <a:lnTo>
                  <a:pt x="99420" y="132303"/>
                </a:lnTo>
                <a:lnTo>
                  <a:pt x="132303" y="99420"/>
                </a:lnTo>
                <a:lnTo>
                  <a:pt x="168860" y="70582"/>
                </a:lnTo>
                <a:lnTo>
                  <a:pt x="208722" y="46158"/>
                </a:lnTo>
                <a:lnTo>
                  <a:pt x="251520" y="26518"/>
                </a:lnTo>
                <a:lnTo>
                  <a:pt x="296883" y="12032"/>
                </a:lnTo>
                <a:lnTo>
                  <a:pt x="344442" y="3069"/>
                </a:lnTo>
                <a:lnTo>
                  <a:pt x="393826" y="0"/>
                </a:lnTo>
                <a:lnTo>
                  <a:pt x="6259957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961" y="2967101"/>
            <a:ext cx="394335" cy="2910205"/>
          </a:xfrm>
          <a:custGeom>
            <a:avLst/>
            <a:gdLst/>
            <a:ahLst/>
            <a:cxnLst/>
            <a:rect l="l" t="t" r="r" b="b"/>
            <a:pathLst>
              <a:path w="394334" h="2910204">
                <a:moveTo>
                  <a:pt x="393826" y="2910205"/>
                </a:moveTo>
                <a:lnTo>
                  <a:pt x="344442" y="2907136"/>
                </a:lnTo>
                <a:lnTo>
                  <a:pt x="296883" y="2898176"/>
                </a:lnTo>
                <a:lnTo>
                  <a:pt x="251520" y="2883693"/>
                </a:lnTo>
                <a:lnTo>
                  <a:pt x="208722" y="2864058"/>
                </a:lnTo>
                <a:lnTo>
                  <a:pt x="168860" y="2839639"/>
                </a:lnTo>
                <a:lnTo>
                  <a:pt x="132303" y="2810806"/>
                </a:lnTo>
                <a:lnTo>
                  <a:pt x="99420" y="2777927"/>
                </a:lnTo>
                <a:lnTo>
                  <a:pt x="70582" y="2741372"/>
                </a:lnTo>
                <a:lnTo>
                  <a:pt x="46158" y="2701510"/>
                </a:lnTo>
                <a:lnTo>
                  <a:pt x="26518" y="2658710"/>
                </a:lnTo>
                <a:lnTo>
                  <a:pt x="12032" y="2613342"/>
                </a:lnTo>
                <a:lnTo>
                  <a:pt x="3069" y="2565775"/>
                </a:lnTo>
                <a:lnTo>
                  <a:pt x="0" y="2516378"/>
                </a:lnTo>
                <a:lnTo>
                  <a:pt x="0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79918" y="2573273"/>
            <a:ext cx="394335" cy="3304540"/>
          </a:xfrm>
          <a:custGeom>
            <a:avLst/>
            <a:gdLst/>
            <a:ahLst/>
            <a:cxnLst/>
            <a:rect l="l" t="t" r="r" b="b"/>
            <a:pathLst>
              <a:path w="394334" h="3304540">
                <a:moveTo>
                  <a:pt x="0" y="0"/>
                </a:moveTo>
                <a:lnTo>
                  <a:pt x="49384" y="3069"/>
                </a:lnTo>
                <a:lnTo>
                  <a:pt x="96943" y="12032"/>
                </a:lnTo>
                <a:lnTo>
                  <a:pt x="142306" y="26518"/>
                </a:lnTo>
                <a:lnTo>
                  <a:pt x="185104" y="46158"/>
                </a:lnTo>
                <a:lnTo>
                  <a:pt x="224966" y="70582"/>
                </a:lnTo>
                <a:lnTo>
                  <a:pt x="261523" y="99420"/>
                </a:lnTo>
                <a:lnTo>
                  <a:pt x="294406" y="132303"/>
                </a:lnTo>
                <a:lnTo>
                  <a:pt x="323244" y="168860"/>
                </a:lnTo>
                <a:lnTo>
                  <a:pt x="347668" y="208722"/>
                </a:lnTo>
                <a:lnTo>
                  <a:pt x="367308" y="251520"/>
                </a:lnTo>
                <a:lnTo>
                  <a:pt x="381794" y="296883"/>
                </a:lnTo>
                <a:lnTo>
                  <a:pt x="390757" y="344442"/>
                </a:lnTo>
                <a:lnTo>
                  <a:pt x="393826" y="393826"/>
                </a:lnTo>
                <a:lnTo>
                  <a:pt x="393826" y="2910204"/>
                </a:lnTo>
                <a:lnTo>
                  <a:pt x="390757" y="2959602"/>
                </a:lnTo>
                <a:lnTo>
                  <a:pt x="381794" y="3007169"/>
                </a:lnTo>
                <a:lnTo>
                  <a:pt x="367308" y="3052537"/>
                </a:lnTo>
                <a:lnTo>
                  <a:pt x="347668" y="3095337"/>
                </a:lnTo>
                <a:lnTo>
                  <a:pt x="323244" y="3135199"/>
                </a:lnTo>
                <a:lnTo>
                  <a:pt x="294406" y="3171754"/>
                </a:lnTo>
                <a:lnTo>
                  <a:pt x="261523" y="3204633"/>
                </a:lnTo>
                <a:lnTo>
                  <a:pt x="224966" y="3233466"/>
                </a:lnTo>
                <a:lnTo>
                  <a:pt x="185104" y="3257885"/>
                </a:lnTo>
                <a:lnTo>
                  <a:pt x="142306" y="3277520"/>
                </a:lnTo>
                <a:lnTo>
                  <a:pt x="96943" y="3292003"/>
                </a:lnTo>
                <a:lnTo>
                  <a:pt x="49384" y="3300963"/>
                </a:lnTo>
                <a:lnTo>
                  <a:pt x="0" y="3304031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961" y="2573273"/>
            <a:ext cx="6653784" cy="3304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9961" y="2573273"/>
            <a:ext cx="6654165" cy="3304540"/>
          </a:xfrm>
          <a:custGeom>
            <a:avLst/>
            <a:gdLst/>
            <a:ahLst/>
            <a:cxnLst/>
            <a:rect l="l" t="t" r="r" b="b"/>
            <a:pathLst>
              <a:path w="6654165" h="3304540">
                <a:moveTo>
                  <a:pt x="0" y="393826"/>
                </a:moveTo>
                <a:lnTo>
                  <a:pt x="3069" y="344442"/>
                </a:lnTo>
                <a:lnTo>
                  <a:pt x="12032" y="296883"/>
                </a:lnTo>
                <a:lnTo>
                  <a:pt x="26518" y="251520"/>
                </a:lnTo>
                <a:lnTo>
                  <a:pt x="46158" y="208722"/>
                </a:lnTo>
                <a:lnTo>
                  <a:pt x="70582" y="168860"/>
                </a:lnTo>
                <a:lnTo>
                  <a:pt x="99420" y="132303"/>
                </a:lnTo>
                <a:lnTo>
                  <a:pt x="132303" y="99420"/>
                </a:lnTo>
                <a:lnTo>
                  <a:pt x="168860" y="70582"/>
                </a:lnTo>
                <a:lnTo>
                  <a:pt x="208722" y="46158"/>
                </a:lnTo>
                <a:lnTo>
                  <a:pt x="251520" y="26518"/>
                </a:lnTo>
                <a:lnTo>
                  <a:pt x="296883" y="12032"/>
                </a:lnTo>
                <a:lnTo>
                  <a:pt x="344442" y="3069"/>
                </a:lnTo>
                <a:lnTo>
                  <a:pt x="393826" y="0"/>
                </a:lnTo>
                <a:lnTo>
                  <a:pt x="6259957" y="0"/>
                </a:lnTo>
                <a:lnTo>
                  <a:pt x="6309341" y="3069"/>
                </a:lnTo>
                <a:lnTo>
                  <a:pt x="6356900" y="12032"/>
                </a:lnTo>
                <a:lnTo>
                  <a:pt x="6402263" y="26518"/>
                </a:lnTo>
                <a:lnTo>
                  <a:pt x="6445061" y="46158"/>
                </a:lnTo>
                <a:lnTo>
                  <a:pt x="6484923" y="70582"/>
                </a:lnTo>
                <a:lnTo>
                  <a:pt x="6521480" y="99420"/>
                </a:lnTo>
                <a:lnTo>
                  <a:pt x="6554363" y="132303"/>
                </a:lnTo>
                <a:lnTo>
                  <a:pt x="6583201" y="168860"/>
                </a:lnTo>
                <a:lnTo>
                  <a:pt x="6607625" y="208722"/>
                </a:lnTo>
                <a:lnTo>
                  <a:pt x="6627265" y="251520"/>
                </a:lnTo>
                <a:lnTo>
                  <a:pt x="6641751" y="296883"/>
                </a:lnTo>
                <a:lnTo>
                  <a:pt x="6650714" y="344442"/>
                </a:lnTo>
                <a:lnTo>
                  <a:pt x="6653784" y="393826"/>
                </a:lnTo>
                <a:lnTo>
                  <a:pt x="6653784" y="2910204"/>
                </a:lnTo>
                <a:lnTo>
                  <a:pt x="6650714" y="2959602"/>
                </a:lnTo>
                <a:lnTo>
                  <a:pt x="6641751" y="3007169"/>
                </a:lnTo>
                <a:lnTo>
                  <a:pt x="6627265" y="3052537"/>
                </a:lnTo>
                <a:lnTo>
                  <a:pt x="6607625" y="3095337"/>
                </a:lnTo>
                <a:lnTo>
                  <a:pt x="6583201" y="3135199"/>
                </a:lnTo>
                <a:lnTo>
                  <a:pt x="6554363" y="3171754"/>
                </a:lnTo>
                <a:lnTo>
                  <a:pt x="6521480" y="3204633"/>
                </a:lnTo>
                <a:lnTo>
                  <a:pt x="6484923" y="3233466"/>
                </a:lnTo>
                <a:lnTo>
                  <a:pt x="6445061" y="3257885"/>
                </a:lnTo>
                <a:lnTo>
                  <a:pt x="6402263" y="3277520"/>
                </a:lnTo>
                <a:lnTo>
                  <a:pt x="6356900" y="3292003"/>
                </a:lnTo>
                <a:lnTo>
                  <a:pt x="6309341" y="3300963"/>
                </a:lnTo>
                <a:lnTo>
                  <a:pt x="6259957" y="3304031"/>
                </a:lnTo>
                <a:lnTo>
                  <a:pt x="393826" y="3304031"/>
                </a:lnTo>
                <a:lnTo>
                  <a:pt x="344442" y="3300963"/>
                </a:lnTo>
                <a:lnTo>
                  <a:pt x="296883" y="3292003"/>
                </a:lnTo>
                <a:lnTo>
                  <a:pt x="251520" y="3277520"/>
                </a:lnTo>
                <a:lnTo>
                  <a:pt x="208722" y="3257885"/>
                </a:lnTo>
                <a:lnTo>
                  <a:pt x="168860" y="3233466"/>
                </a:lnTo>
                <a:lnTo>
                  <a:pt x="132303" y="3204633"/>
                </a:lnTo>
                <a:lnTo>
                  <a:pt x="99420" y="3171754"/>
                </a:lnTo>
                <a:lnTo>
                  <a:pt x="70582" y="3135199"/>
                </a:lnTo>
                <a:lnTo>
                  <a:pt x="46158" y="3095337"/>
                </a:lnTo>
                <a:lnTo>
                  <a:pt x="26518" y="3052537"/>
                </a:lnTo>
                <a:lnTo>
                  <a:pt x="12032" y="3007169"/>
                </a:lnTo>
                <a:lnTo>
                  <a:pt x="3069" y="2959602"/>
                </a:lnTo>
                <a:lnTo>
                  <a:pt x="0" y="2910204"/>
                </a:lnTo>
                <a:lnTo>
                  <a:pt x="0" y="393826"/>
                </a:lnTo>
                <a:close/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76204" y="1900427"/>
            <a:ext cx="6523627" cy="12681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07642" y="2346198"/>
            <a:ext cx="5791200" cy="634365"/>
          </a:xfrm>
          <a:custGeom>
            <a:avLst/>
            <a:gdLst/>
            <a:ahLst/>
            <a:cxnLst/>
            <a:rect l="l" t="t" r="r" b="b"/>
            <a:pathLst>
              <a:path w="5791200" h="634364">
                <a:moveTo>
                  <a:pt x="5685535" y="0"/>
                </a:moveTo>
                <a:lnTo>
                  <a:pt x="105663" y="0"/>
                </a:lnTo>
                <a:lnTo>
                  <a:pt x="64561" y="8312"/>
                </a:lnTo>
                <a:lnTo>
                  <a:pt x="30972" y="30972"/>
                </a:lnTo>
                <a:lnTo>
                  <a:pt x="8312" y="64561"/>
                </a:lnTo>
                <a:lnTo>
                  <a:pt x="0" y="105663"/>
                </a:lnTo>
                <a:lnTo>
                  <a:pt x="0" y="528319"/>
                </a:lnTo>
                <a:lnTo>
                  <a:pt x="8312" y="569422"/>
                </a:lnTo>
                <a:lnTo>
                  <a:pt x="30972" y="603011"/>
                </a:lnTo>
                <a:lnTo>
                  <a:pt x="64561" y="625671"/>
                </a:lnTo>
                <a:lnTo>
                  <a:pt x="105663" y="633984"/>
                </a:lnTo>
                <a:lnTo>
                  <a:pt x="5685535" y="633984"/>
                </a:lnTo>
                <a:lnTo>
                  <a:pt x="5726638" y="625671"/>
                </a:lnTo>
                <a:lnTo>
                  <a:pt x="5760227" y="603011"/>
                </a:lnTo>
                <a:lnTo>
                  <a:pt x="5782887" y="569422"/>
                </a:lnTo>
                <a:lnTo>
                  <a:pt x="5791200" y="528319"/>
                </a:lnTo>
                <a:lnTo>
                  <a:pt x="5791200" y="105663"/>
                </a:lnTo>
                <a:lnTo>
                  <a:pt x="5782887" y="64561"/>
                </a:lnTo>
                <a:lnTo>
                  <a:pt x="5760227" y="30972"/>
                </a:lnTo>
                <a:lnTo>
                  <a:pt x="5726638" y="8312"/>
                </a:lnTo>
                <a:lnTo>
                  <a:pt x="5685535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07642" y="2346198"/>
            <a:ext cx="5791200" cy="634365"/>
          </a:xfrm>
          <a:custGeom>
            <a:avLst/>
            <a:gdLst/>
            <a:ahLst/>
            <a:cxnLst/>
            <a:rect l="l" t="t" r="r" b="b"/>
            <a:pathLst>
              <a:path w="5791200" h="634364">
                <a:moveTo>
                  <a:pt x="0" y="105663"/>
                </a:moveTo>
                <a:lnTo>
                  <a:pt x="8312" y="64561"/>
                </a:lnTo>
                <a:lnTo>
                  <a:pt x="30972" y="30972"/>
                </a:lnTo>
                <a:lnTo>
                  <a:pt x="64561" y="8312"/>
                </a:lnTo>
                <a:lnTo>
                  <a:pt x="105663" y="0"/>
                </a:lnTo>
                <a:lnTo>
                  <a:pt x="5685535" y="0"/>
                </a:lnTo>
                <a:lnTo>
                  <a:pt x="5726638" y="8312"/>
                </a:lnTo>
                <a:lnTo>
                  <a:pt x="5760227" y="30972"/>
                </a:lnTo>
                <a:lnTo>
                  <a:pt x="5782887" y="64561"/>
                </a:lnTo>
                <a:lnTo>
                  <a:pt x="5791200" y="105663"/>
                </a:lnTo>
                <a:lnTo>
                  <a:pt x="5791200" y="528319"/>
                </a:lnTo>
                <a:lnTo>
                  <a:pt x="5782887" y="569422"/>
                </a:lnTo>
                <a:lnTo>
                  <a:pt x="5760227" y="603011"/>
                </a:lnTo>
                <a:lnTo>
                  <a:pt x="5726638" y="625671"/>
                </a:lnTo>
                <a:lnTo>
                  <a:pt x="5685535" y="633984"/>
                </a:lnTo>
                <a:lnTo>
                  <a:pt x="105663" y="633984"/>
                </a:lnTo>
                <a:lnTo>
                  <a:pt x="64561" y="625671"/>
                </a:lnTo>
                <a:lnTo>
                  <a:pt x="30972" y="603011"/>
                </a:lnTo>
                <a:lnTo>
                  <a:pt x="8312" y="569422"/>
                </a:lnTo>
                <a:lnTo>
                  <a:pt x="0" y="528319"/>
                </a:lnTo>
                <a:lnTo>
                  <a:pt x="0" y="105663"/>
                </a:lnTo>
                <a:close/>
              </a:path>
            </a:pathLst>
          </a:custGeom>
          <a:ln w="28956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09420" y="2407411"/>
            <a:ext cx="5645150" cy="266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95"/>
              </a:spcBef>
            </a:pPr>
            <a:r>
              <a:rPr sz="2800" u="sng" spc="-7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spc="-5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从软件程序量的角度定义项目规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模</a:t>
            </a:r>
            <a:endParaRPr sz="28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</a:pPr>
            <a:endParaRPr sz="5150">
              <a:latin typeface="Times New Roman"/>
              <a:cs typeface="Times New Roman"/>
            </a:endParaRPr>
          </a:p>
          <a:p>
            <a:pPr marL="336550" indent="-324485">
              <a:lnSpc>
                <a:spcPct val="100000"/>
              </a:lnSpc>
              <a:buSzPct val="96875"/>
              <a:buFont typeface="Wingdings"/>
              <a:buChar char=""/>
              <a:tabLst>
                <a:tab pos="337185" algn="l"/>
              </a:tabLst>
            </a:pPr>
            <a:r>
              <a:rPr sz="3200" dirty="0">
                <a:latin typeface="华文新魏"/>
                <a:cs typeface="华文新魏"/>
              </a:rPr>
              <a:t>与具体的编程语言有关</a:t>
            </a:r>
            <a:endParaRPr sz="3200">
              <a:latin typeface="华文新魏"/>
              <a:cs typeface="华文新魏"/>
            </a:endParaRPr>
          </a:p>
          <a:p>
            <a:pPr marL="336550" indent="-324485">
              <a:lnSpc>
                <a:spcPct val="100000"/>
              </a:lnSpc>
              <a:buSzPct val="96875"/>
              <a:buFont typeface="Wingdings"/>
              <a:buChar char=""/>
              <a:tabLst>
                <a:tab pos="337185" algn="l"/>
              </a:tabLst>
            </a:pPr>
            <a:r>
              <a:rPr sz="3200" dirty="0">
                <a:latin typeface="华文新魏"/>
                <a:cs typeface="华文新魏"/>
              </a:rPr>
              <a:t>分解足够详细</a:t>
            </a:r>
            <a:endParaRPr sz="3200">
              <a:latin typeface="华文新魏"/>
              <a:cs typeface="华文新魏"/>
            </a:endParaRPr>
          </a:p>
          <a:p>
            <a:pPr marL="336550" indent="-324485">
              <a:lnSpc>
                <a:spcPct val="100000"/>
              </a:lnSpc>
              <a:buSzPct val="96875"/>
              <a:buFont typeface="Wingdings"/>
              <a:buChar char=""/>
              <a:tabLst>
                <a:tab pos="337185" algn="l"/>
              </a:tabLst>
            </a:pPr>
            <a:r>
              <a:rPr sz="3200" dirty="0">
                <a:latin typeface="华文新魏"/>
                <a:cs typeface="华文新魏"/>
              </a:rPr>
              <a:t>有一定的经验数据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516" y="275589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代码行技术的主要优缺点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2694" y="6393090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a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ter_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_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2262" y="1986533"/>
            <a:ext cx="7929880" cy="1693545"/>
          </a:xfrm>
          <a:custGeom>
            <a:avLst/>
            <a:gdLst/>
            <a:ahLst/>
            <a:cxnLst/>
            <a:rect l="l" t="t" r="r" b="b"/>
            <a:pathLst>
              <a:path w="7929880" h="1693545">
                <a:moveTo>
                  <a:pt x="0" y="1693164"/>
                </a:moveTo>
                <a:lnTo>
                  <a:pt x="7929372" y="1693164"/>
                </a:lnTo>
                <a:lnTo>
                  <a:pt x="7929372" y="0"/>
                </a:lnTo>
                <a:lnTo>
                  <a:pt x="0" y="0"/>
                </a:lnTo>
                <a:lnTo>
                  <a:pt x="0" y="1693164"/>
                </a:lnTo>
                <a:close/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8640" y="1577339"/>
            <a:ext cx="1873250" cy="631190"/>
          </a:xfrm>
          <a:custGeom>
            <a:avLst/>
            <a:gdLst/>
            <a:ahLst/>
            <a:cxnLst/>
            <a:rect l="l" t="t" r="r" b="b"/>
            <a:pathLst>
              <a:path w="1873250" h="631189">
                <a:moveTo>
                  <a:pt x="1849374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607313"/>
                </a:lnTo>
                <a:lnTo>
                  <a:pt x="1856" y="616523"/>
                </a:lnTo>
                <a:lnTo>
                  <a:pt x="6919" y="624030"/>
                </a:lnTo>
                <a:lnTo>
                  <a:pt x="14428" y="629084"/>
                </a:lnTo>
                <a:lnTo>
                  <a:pt x="23621" y="630936"/>
                </a:lnTo>
                <a:lnTo>
                  <a:pt x="1849374" y="630936"/>
                </a:lnTo>
                <a:lnTo>
                  <a:pt x="1858583" y="629084"/>
                </a:lnTo>
                <a:lnTo>
                  <a:pt x="1866090" y="624030"/>
                </a:lnTo>
                <a:lnTo>
                  <a:pt x="1871144" y="616523"/>
                </a:lnTo>
                <a:lnTo>
                  <a:pt x="1871413" y="615188"/>
                </a:lnTo>
                <a:lnTo>
                  <a:pt x="19278" y="615188"/>
                </a:lnTo>
                <a:lnTo>
                  <a:pt x="15747" y="611632"/>
                </a:lnTo>
                <a:lnTo>
                  <a:pt x="15747" y="19304"/>
                </a:lnTo>
                <a:lnTo>
                  <a:pt x="19278" y="15748"/>
                </a:lnTo>
                <a:lnTo>
                  <a:pt x="1871413" y="15748"/>
                </a:lnTo>
                <a:lnTo>
                  <a:pt x="1871144" y="14412"/>
                </a:lnTo>
                <a:lnTo>
                  <a:pt x="1866090" y="6905"/>
                </a:lnTo>
                <a:lnTo>
                  <a:pt x="1858583" y="1851"/>
                </a:lnTo>
                <a:lnTo>
                  <a:pt x="1849374" y="0"/>
                </a:lnTo>
                <a:close/>
              </a:path>
              <a:path w="1873250" h="631189">
                <a:moveTo>
                  <a:pt x="1872996" y="607313"/>
                </a:moveTo>
                <a:lnTo>
                  <a:pt x="1857248" y="607313"/>
                </a:lnTo>
                <a:lnTo>
                  <a:pt x="1857248" y="611632"/>
                </a:lnTo>
                <a:lnTo>
                  <a:pt x="1853691" y="615188"/>
                </a:lnTo>
                <a:lnTo>
                  <a:pt x="1871413" y="615188"/>
                </a:lnTo>
                <a:lnTo>
                  <a:pt x="1872996" y="607313"/>
                </a:lnTo>
                <a:close/>
              </a:path>
              <a:path w="1873250" h="631189">
                <a:moveTo>
                  <a:pt x="1849374" y="23622"/>
                </a:moveTo>
                <a:lnTo>
                  <a:pt x="23621" y="23622"/>
                </a:lnTo>
                <a:lnTo>
                  <a:pt x="23621" y="607313"/>
                </a:lnTo>
                <a:lnTo>
                  <a:pt x="1849374" y="607313"/>
                </a:lnTo>
                <a:lnTo>
                  <a:pt x="1849374" y="23622"/>
                </a:lnTo>
                <a:close/>
              </a:path>
              <a:path w="1873250" h="631189">
                <a:moveTo>
                  <a:pt x="1857248" y="23622"/>
                </a:moveTo>
                <a:lnTo>
                  <a:pt x="1849374" y="23622"/>
                </a:lnTo>
                <a:lnTo>
                  <a:pt x="1849374" y="607313"/>
                </a:lnTo>
                <a:lnTo>
                  <a:pt x="1857248" y="607313"/>
                </a:lnTo>
                <a:lnTo>
                  <a:pt x="1857248" y="23622"/>
                </a:lnTo>
                <a:close/>
              </a:path>
              <a:path w="1873250" h="631189">
                <a:moveTo>
                  <a:pt x="1871413" y="15748"/>
                </a:moveTo>
                <a:lnTo>
                  <a:pt x="1853691" y="15748"/>
                </a:lnTo>
                <a:lnTo>
                  <a:pt x="1857248" y="19304"/>
                </a:lnTo>
                <a:lnTo>
                  <a:pt x="1857248" y="23622"/>
                </a:lnTo>
                <a:lnTo>
                  <a:pt x="1872996" y="23622"/>
                </a:lnTo>
                <a:lnTo>
                  <a:pt x="1871413" y="157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262" y="1600961"/>
            <a:ext cx="1826260" cy="584200"/>
          </a:xfrm>
          <a:custGeom>
            <a:avLst/>
            <a:gdLst/>
            <a:ahLst/>
            <a:cxnLst/>
            <a:rect l="l" t="t" r="r" b="b"/>
            <a:pathLst>
              <a:path w="1826260" h="584200">
                <a:moveTo>
                  <a:pt x="0" y="583691"/>
                </a:moveTo>
                <a:lnTo>
                  <a:pt x="1825752" y="583691"/>
                </a:lnTo>
                <a:lnTo>
                  <a:pt x="1825752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8640" y="1577339"/>
            <a:ext cx="1873250" cy="631190"/>
          </a:xfrm>
          <a:custGeom>
            <a:avLst/>
            <a:gdLst/>
            <a:ahLst/>
            <a:cxnLst/>
            <a:rect l="l" t="t" r="r" b="b"/>
            <a:pathLst>
              <a:path w="1873250" h="631189">
                <a:moveTo>
                  <a:pt x="1849374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607313"/>
                </a:lnTo>
                <a:lnTo>
                  <a:pt x="1856" y="616523"/>
                </a:lnTo>
                <a:lnTo>
                  <a:pt x="6919" y="624030"/>
                </a:lnTo>
                <a:lnTo>
                  <a:pt x="14428" y="629084"/>
                </a:lnTo>
                <a:lnTo>
                  <a:pt x="23621" y="630936"/>
                </a:lnTo>
                <a:lnTo>
                  <a:pt x="1849374" y="630936"/>
                </a:lnTo>
                <a:lnTo>
                  <a:pt x="1858583" y="629084"/>
                </a:lnTo>
                <a:lnTo>
                  <a:pt x="1866090" y="624030"/>
                </a:lnTo>
                <a:lnTo>
                  <a:pt x="1871144" y="616523"/>
                </a:lnTo>
                <a:lnTo>
                  <a:pt x="1871413" y="615188"/>
                </a:lnTo>
                <a:lnTo>
                  <a:pt x="19278" y="615188"/>
                </a:lnTo>
                <a:lnTo>
                  <a:pt x="15747" y="611632"/>
                </a:lnTo>
                <a:lnTo>
                  <a:pt x="15747" y="19304"/>
                </a:lnTo>
                <a:lnTo>
                  <a:pt x="19278" y="15748"/>
                </a:lnTo>
                <a:lnTo>
                  <a:pt x="1871413" y="15748"/>
                </a:lnTo>
                <a:lnTo>
                  <a:pt x="1871144" y="14412"/>
                </a:lnTo>
                <a:lnTo>
                  <a:pt x="1866090" y="6905"/>
                </a:lnTo>
                <a:lnTo>
                  <a:pt x="1858583" y="1851"/>
                </a:lnTo>
                <a:lnTo>
                  <a:pt x="1849374" y="0"/>
                </a:lnTo>
                <a:close/>
              </a:path>
              <a:path w="1873250" h="631189">
                <a:moveTo>
                  <a:pt x="1871413" y="15748"/>
                </a:moveTo>
                <a:lnTo>
                  <a:pt x="1853691" y="15748"/>
                </a:lnTo>
                <a:lnTo>
                  <a:pt x="1857248" y="19304"/>
                </a:lnTo>
                <a:lnTo>
                  <a:pt x="1857248" y="611632"/>
                </a:lnTo>
                <a:lnTo>
                  <a:pt x="1853691" y="615188"/>
                </a:lnTo>
                <a:lnTo>
                  <a:pt x="1871413" y="615188"/>
                </a:lnTo>
                <a:lnTo>
                  <a:pt x="1872996" y="607313"/>
                </a:lnTo>
                <a:lnTo>
                  <a:pt x="1872996" y="23622"/>
                </a:lnTo>
                <a:lnTo>
                  <a:pt x="1871413" y="15748"/>
                </a:lnTo>
                <a:close/>
              </a:path>
              <a:path w="1873250" h="631189">
                <a:moveTo>
                  <a:pt x="1841500" y="31496"/>
                </a:moveTo>
                <a:lnTo>
                  <a:pt x="31495" y="31496"/>
                </a:lnTo>
                <a:lnTo>
                  <a:pt x="31495" y="599439"/>
                </a:lnTo>
                <a:lnTo>
                  <a:pt x="1841500" y="599439"/>
                </a:lnTo>
                <a:lnTo>
                  <a:pt x="1841500" y="583692"/>
                </a:lnTo>
                <a:lnTo>
                  <a:pt x="47243" y="583692"/>
                </a:lnTo>
                <a:lnTo>
                  <a:pt x="47243" y="47244"/>
                </a:lnTo>
                <a:lnTo>
                  <a:pt x="1841500" y="47244"/>
                </a:lnTo>
                <a:lnTo>
                  <a:pt x="1841500" y="31496"/>
                </a:lnTo>
                <a:close/>
              </a:path>
              <a:path w="1873250" h="631189">
                <a:moveTo>
                  <a:pt x="1841500" y="47244"/>
                </a:moveTo>
                <a:lnTo>
                  <a:pt x="1825752" y="47244"/>
                </a:lnTo>
                <a:lnTo>
                  <a:pt x="1825752" y="583692"/>
                </a:lnTo>
                <a:lnTo>
                  <a:pt x="1841500" y="583692"/>
                </a:lnTo>
                <a:lnTo>
                  <a:pt x="1841500" y="47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2262" y="1600961"/>
            <a:ext cx="1826260" cy="375920"/>
          </a:xfrm>
          <a:prstGeom prst="rect">
            <a:avLst/>
          </a:prstGeom>
          <a:solidFill>
            <a:srgbClr val="93B6D2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ts val="2715"/>
              </a:lnSpc>
              <a:spcBef>
                <a:spcPts val="240"/>
              </a:spcBef>
            </a:pPr>
            <a:r>
              <a:rPr sz="3200" b="1" dirty="0">
                <a:solidFill>
                  <a:srgbClr val="FFFFFF"/>
                </a:solidFill>
                <a:latin typeface="微软雅黑"/>
                <a:cs typeface="微软雅黑"/>
              </a:rPr>
              <a:t>主要优点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2262" y="4219194"/>
            <a:ext cx="7929880" cy="2307590"/>
          </a:xfrm>
          <a:custGeom>
            <a:avLst/>
            <a:gdLst/>
            <a:ahLst/>
            <a:cxnLst/>
            <a:rect l="l" t="t" r="r" b="b"/>
            <a:pathLst>
              <a:path w="7929880" h="2307590">
                <a:moveTo>
                  <a:pt x="0" y="2307335"/>
                </a:moveTo>
                <a:lnTo>
                  <a:pt x="7929372" y="2307335"/>
                </a:lnTo>
                <a:lnTo>
                  <a:pt x="7929372" y="0"/>
                </a:lnTo>
                <a:lnTo>
                  <a:pt x="0" y="0"/>
                </a:lnTo>
                <a:lnTo>
                  <a:pt x="0" y="23073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262" y="4219194"/>
            <a:ext cx="7929880" cy="2307590"/>
          </a:xfrm>
          <a:custGeom>
            <a:avLst/>
            <a:gdLst/>
            <a:ahLst/>
            <a:cxnLst/>
            <a:rect l="l" t="t" r="r" b="b"/>
            <a:pathLst>
              <a:path w="7929880" h="2307590">
                <a:moveTo>
                  <a:pt x="0" y="2307335"/>
                </a:moveTo>
                <a:lnTo>
                  <a:pt x="7929372" y="2307335"/>
                </a:lnTo>
                <a:lnTo>
                  <a:pt x="7929372" y="0"/>
                </a:lnTo>
                <a:lnTo>
                  <a:pt x="0" y="0"/>
                </a:lnTo>
                <a:lnTo>
                  <a:pt x="0" y="2307335"/>
                </a:lnTo>
                <a:close/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262" y="3861053"/>
            <a:ext cx="1826260" cy="586740"/>
          </a:xfrm>
          <a:custGeom>
            <a:avLst/>
            <a:gdLst/>
            <a:ahLst/>
            <a:cxnLst/>
            <a:rect l="l" t="t" r="r" b="b"/>
            <a:pathLst>
              <a:path w="1826260" h="586739">
                <a:moveTo>
                  <a:pt x="1825752" y="0"/>
                </a:moveTo>
                <a:lnTo>
                  <a:pt x="0" y="0"/>
                </a:lnTo>
                <a:lnTo>
                  <a:pt x="0" y="586740"/>
                </a:lnTo>
                <a:lnTo>
                  <a:pt x="1825752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8640" y="3837432"/>
            <a:ext cx="1873250" cy="634365"/>
          </a:xfrm>
          <a:custGeom>
            <a:avLst/>
            <a:gdLst/>
            <a:ahLst/>
            <a:cxnLst/>
            <a:rect l="l" t="t" r="r" b="b"/>
            <a:pathLst>
              <a:path w="1873250" h="634364">
                <a:moveTo>
                  <a:pt x="1849374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610362"/>
                </a:lnTo>
                <a:lnTo>
                  <a:pt x="1856" y="619571"/>
                </a:lnTo>
                <a:lnTo>
                  <a:pt x="6919" y="627078"/>
                </a:lnTo>
                <a:lnTo>
                  <a:pt x="14428" y="632132"/>
                </a:lnTo>
                <a:lnTo>
                  <a:pt x="23621" y="633984"/>
                </a:lnTo>
                <a:lnTo>
                  <a:pt x="1849374" y="633984"/>
                </a:lnTo>
                <a:lnTo>
                  <a:pt x="1858583" y="632132"/>
                </a:lnTo>
                <a:lnTo>
                  <a:pt x="1866090" y="627078"/>
                </a:lnTo>
                <a:lnTo>
                  <a:pt x="1871144" y="619571"/>
                </a:lnTo>
                <a:lnTo>
                  <a:pt x="1871413" y="618236"/>
                </a:lnTo>
                <a:lnTo>
                  <a:pt x="19278" y="618236"/>
                </a:lnTo>
                <a:lnTo>
                  <a:pt x="15747" y="614680"/>
                </a:lnTo>
                <a:lnTo>
                  <a:pt x="15747" y="19304"/>
                </a:lnTo>
                <a:lnTo>
                  <a:pt x="19278" y="15748"/>
                </a:lnTo>
                <a:lnTo>
                  <a:pt x="1871413" y="15748"/>
                </a:lnTo>
                <a:lnTo>
                  <a:pt x="1871144" y="14412"/>
                </a:lnTo>
                <a:lnTo>
                  <a:pt x="1866090" y="6905"/>
                </a:lnTo>
                <a:lnTo>
                  <a:pt x="1858583" y="1851"/>
                </a:lnTo>
                <a:lnTo>
                  <a:pt x="1849374" y="0"/>
                </a:lnTo>
                <a:close/>
              </a:path>
              <a:path w="1873250" h="634364">
                <a:moveTo>
                  <a:pt x="1872996" y="610362"/>
                </a:moveTo>
                <a:lnTo>
                  <a:pt x="1857248" y="610362"/>
                </a:lnTo>
                <a:lnTo>
                  <a:pt x="1857248" y="614680"/>
                </a:lnTo>
                <a:lnTo>
                  <a:pt x="1853691" y="618236"/>
                </a:lnTo>
                <a:lnTo>
                  <a:pt x="1871413" y="618236"/>
                </a:lnTo>
                <a:lnTo>
                  <a:pt x="1872996" y="610362"/>
                </a:lnTo>
                <a:close/>
              </a:path>
              <a:path w="1873250" h="634364">
                <a:moveTo>
                  <a:pt x="1849374" y="23622"/>
                </a:moveTo>
                <a:lnTo>
                  <a:pt x="23621" y="23622"/>
                </a:lnTo>
                <a:lnTo>
                  <a:pt x="23621" y="610362"/>
                </a:lnTo>
                <a:lnTo>
                  <a:pt x="1849374" y="610362"/>
                </a:lnTo>
                <a:lnTo>
                  <a:pt x="1849374" y="23622"/>
                </a:lnTo>
                <a:close/>
              </a:path>
              <a:path w="1873250" h="634364">
                <a:moveTo>
                  <a:pt x="1857248" y="23622"/>
                </a:moveTo>
                <a:lnTo>
                  <a:pt x="1849374" y="23622"/>
                </a:lnTo>
                <a:lnTo>
                  <a:pt x="1849374" y="610362"/>
                </a:lnTo>
                <a:lnTo>
                  <a:pt x="1857248" y="610362"/>
                </a:lnTo>
                <a:lnTo>
                  <a:pt x="1857248" y="23622"/>
                </a:lnTo>
                <a:close/>
              </a:path>
              <a:path w="1873250" h="634364">
                <a:moveTo>
                  <a:pt x="1871413" y="15748"/>
                </a:moveTo>
                <a:lnTo>
                  <a:pt x="1853691" y="15748"/>
                </a:lnTo>
                <a:lnTo>
                  <a:pt x="1857248" y="19304"/>
                </a:lnTo>
                <a:lnTo>
                  <a:pt x="1857248" y="23622"/>
                </a:lnTo>
                <a:lnTo>
                  <a:pt x="1872996" y="23622"/>
                </a:lnTo>
                <a:lnTo>
                  <a:pt x="1871413" y="157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262" y="3861053"/>
            <a:ext cx="1826260" cy="586740"/>
          </a:xfrm>
          <a:custGeom>
            <a:avLst/>
            <a:gdLst/>
            <a:ahLst/>
            <a:cxnLst/>
            <a:rect l="l" t="t" r="r" b="b"/>
            <a:pathLst>
              <a:path w="1826260" h="586739">
                <a:moveTo>
                  <a:pt x="0" y="586740"/>
                </a:moveTo>
                <a:lnTo>
                  <a:pt x="1825752" y="586740"/>
                </a:lnTo>
                <a:lnTo>
                  <a:pt x="1825752" y="0"/>
                </a:lnTo>
                <a:lnTo>
                  <a:pt x="0" y="0"/>
                </a:lnTo>
                <a:lnTo>
                  <a:pt x="0" y="58674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8640" y="3837432"/>
            <a:ext cx="1873250" cy="634365"/>
          </a:xfrm>
          <a:custGeom>
            <a:avLst/>
            <a:gdLst/>
            <a:ahLst/>
            <a:cxnLst/>
            <a:rect l="l" t="t" r="r" b="b"/>
            <a:pathLst>
              <a:path w="1873250" h="634364">
                <a:moveTo>
                  <a:pt x="1849374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610362"/>
                </a:lnTo>
                <a:lnTo>
                  <a:pt x="1856" y="619571"/>
                </a:lnTo>
                <a:lnTo>
                  <a:pt x="6919" y="627078"/>
                </a:lnTo>
                <a:lnTo>
                  <a:pt x="14428" y="632132"/>
                </a:lnTo>
                <a:lnTo>
                  <a:pt x="23621" y="633984"/>
                </a:lnTo>
                <a:lnTo>
                  <a:pt x="1849374" y="633984"/>
                </a:lnTo>
                <a:lnTo>
                  <a:pt x="1858583" y="632132"/>
                </a:lnTo>
                <a:lnTo>
                  <a:pt x="1866090" y="627078"/>
                </a:lnTo>
                <a:lnTo>
                  <a:pt x="1871144" y="619571"/>
                </a:lnTo>
                <a:lnTo>
                  <a:pt x="1871413" y="618236"/>
                </a:lnTo>
                <a:lnTo>
                  <a:pt x="19278" y="618236"/>
                </a:lnTo>
                <a:lnTo>
                  <a:pt x="15747" y="614680"/>
                </a:lnTo>
                <a:lnTo>
                  <a:pt x="15747" y="19304"/>
                </a:lnTo>
                <a:lnTo>
                  <a:pt x="19278" y="15748"/>
                </a:lnTo>
                <a:lnTo>
                  <a:pt x="1871413" y="15748"/>
                </a:lnTo>
                <a:lnTo>
                  <a:pt x="1871144" y="14412"/>
                </a:lnTo>
                <a:lnTo>
                  <a:pt x="1866090" y="6905"/>
                </a:lnTo>
                <a:lnTo>
                  <a:pt x="1858583" y="1851"/>
                </a:lnTo>
                <a:lnTo>
                  <a:pt x="1849374" y="0"/>
                </a:lnTo>
                <a:close/>
              </a:path>
              <a:path w="1873250" h="634364">
                <a:moveTo>
                  <a:pt x="1871413" y="15748"/>
                </a:moveTo>
                <a:lnTo>
                  <a:pt x="1853691" y="15748"/>
                </a:lnTo>
                <a:lnTo>
                  <a:pt x="1857248" y="19304"/>
                </a:lnTo>
                <a:lnTo>
                  <a:pt x="1857248" y="614680"/>
                </a:lnTo>
                <a:lnTo>
                  <a:pt x="1853691" y="618236"/>
                </a:lnTo>
                <a:lnTo>
                  <a:pt x="1871413" y="618236"/>
                </a:lnTo>
                <a:lnTo>
                  <a:pt x="1872996" y="610362"/>
                </a:lnTo>
                <a:lnTo>
                  <a:pt x="1872996" y="23622"/>
                </a:lnTo>
                <a:lnTo>
                  <a:pt x="1871413" y="15748"/>
                </a:lnTo>
                <a:close/>
              </a:path>
              <a:path w="1873250" h="634364">
                <a:moveTo>
                  <a:pt x="1841500" y="31496"/>
                </a:moveTo>
                <a:lnTo>
                  <a:pt x="31495" y="31496"/>
                </a:lnTo>
                <a:lnTo>
                  <a:pt x="31495" y="602488"/>
                </a:lnTo>
                <a:lnTo>
                  <a:pt x="1841500" y="602488"/>
                </a:lnTo>
                <a:lnTo>
                  <a:pt x="1841500" y="586740"/>
                </a:lnTo>
                <a:lnTo>
                  <a:pt x="47243" y="586740"/>
                </a:lnTo>
                <a:lnTo>
                  <a:pt x="47243" y="47244"/>
                </a:lnTo>
                <a:lnTo>
                  <a:pt x="1841500" y="47244"/>
                </a:lnTo>
                <a:lnTo>
                  <a:pt x="1841500" y="31496"/>
                </a:lnTo>
                <a:close/>
              </a:path>
              <a:path w="1873250" h="634364">
                <a:moveTo>
                  <a:pt x="1841500" y="47244"/>
                </a:moveTo>
                <a:lnTo>
                  <a:pt x="1825752" y="47244"/>
                </a:lnTo>
                <a:lnTo>
                  <a:pt x="1825752" y="586740"/>
                </a:lnTo>
                <a:lnTo>
                  <a:pt x="1841500" y="586740"/>
                </a:lnTo>
                <a:lnTo>
                  <a:pt x="1841500" y="47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2262" y="2296927"/>
            <a:ext cx="7919720" cy="4151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70" marR="252095" indent="457200">
              <a:lnSpc>
                <a:spcPct val="150000"/>
              </a:lnSpc>
              <a:spcBef>
                <a:spcPts val="95"/>
              </a:spcBef>
            </a:pPr>
            <a:r>
              <a:rPr sz="2800" b="1" spc="-5" dirty="0">
                <a:latin typeface="华文新魏"/>
                <a:cs typeface="华文新魏"/>
              </a:rPr>
              <a:t>代码是所有</a:t>
            </a:r>
            <a:r>
              <a:rPr sz="2800" b="1" spc="-10" dirty="0">
                <a:latin typeface="华文新魏"/>
                <a:cs typeface="华文新魏"/>
              </a:rPr>
              <a:t>软件</a:t>
            </a:r>
            <a:r>
              <a:rPr sz="2800" b="1" spc="-5" dirty="0">
                <a:latin typeface="华文新魏"/>
                <a:cs typeface="华文新魏"/>
              </a:rPr>
              <a:t>开</a:t>
            </a:r>
            <a:r>
              <a:rPr sz="2800" b="1" spc="-10" dirty="0">
                <a:latin typeface="华文新魏"/>
                <a:cs typeface="华文新魏"/>
              </a:rPr>
              <a:t>发项</a:t>
            </a:r>
            <a:r>
              <a:rPr sz="2800" b="1" spc="-5" dirty="0">
                <a:latin typeface="华文新魏"/>
                <a:cs typeface="华文新魏"/>
              </a:rPr>
              <a:t>目</a:t>
            </a:r>
            <a:r>
              <a:rPr sz="2800" b="1" spc="-10" dirty="0">
                <a:latin typeface="华文新魏"/>
                <a:cs typeface="华文新魏"/>
              </a:rPr>
              <a:t>都有</a:t>
            </a:r>
            <a:r>
              <a:rPr sz="2800" b="1" spc="-5" dirty="0">
                <a:latin typeface="华文新魏"/>
                <a:cs typeface="华文新魏"/>
              </a:rPr>
              <a:t>的</a:t>
            </a:r>
            <a:r>
              <a:rPr sz="2800" b="1" spc="-10" dirty="0">
                <a:latin typeface="华文新魏"/>
                <a:cs typeface="华文新魏"/>
              </a:rPr>
              <a:t>“产</a:t>
            </a:r>
            <a:r>
              <a:rPr sz="2800" b="1" spc="-5" dirty="0">
                <a:latin typeface="华文新魏"/>
                <a:cs typeface="华文新魏"/>
              </a:rPr>
              <a:t>品</a:t>
            </a:r>
            <a:r>
              <a:rPr sz="2800" b="1" spc="-10" dirty="0">
                <a:latin typeface="华文新魏"/>
                <a:cs typeface="华文新魏"/>
              </a:rPr>
              <a:t>”，而 </a:t>
            </a:r>
            <a:r>
              <a:rPr sz="2800" b="1" dirty="0">
                <a:latin typeface="华文新魏"/>
                <a:cs typeface="华文新魏"/>
              </a:rPr>
              <a:t>且很容易计</a:t>
            </a:r>
            <a:r>
              <a:rPr sz="2800" b="1" spc="-5" dirty="0">
                <a:latin typeface="华文新魏"/>
                <a:cs typeface="华文新魏"/>
              </a:rPr>
              <a:t>算代</a:t>
            </a:r>
            <a:r>
              <a:rPr sz="2800" b="1" dirty="0">
                <a:latin typeface="华文新魏"/>
                <a:cs typeface="华文新魏"/>
              </a:rPr>
              <a:t>码</a:t>
            </a:r>
            <a:r>
              <a:rPr sz="2800" b="1" spc="-5" dirty="0">
                <a:latin typeface="华文新魏"/>
                <a:cs typeface="华文新魏"/>
              </a:rPr>
              <a:t>行数。</a:t>
            </a:r>
            <a:endParaRPr sz="2800">
              <a:latin typeface="华文新魏"/>
              <a:cs typeface="华文新魏"/>
            </a:endParaRPr>
          </a:p>
          <a:p>
            <a:pPr marL="90170">
              <a:lnSpc>
                <a:spcPct val="100000"/>
              </a:lnSpc>
              <a:spcBef>
                <a:spcPts val="2390"/>
              </a:spcBef>
            </a:pPr>
            <a:r>
              <a:rPr sz="3200" b="1" dirty="0">
                <a:solidFill>
                  <a:srgbClr val="FFFFFF"/>
                </a:solidFill>
                <a:latin typeface="微软雅黑"/>
                <a:cs typeface="微软雅黑"/>
              </a:rPr>
              <a:t>主要缺陷</a:t>
            </a:r>
            <a:endParaRPr sz="3200">
              <a:latin typeface="微软雅黑"/>
              <a:cs typeface="微软雅黑"/>
            </a:endParaRPr>
          </a:p>
          <a:p>
            <a:pPr marL="548005" indent="-458470">
              <a:lnSpc>
                <a:spcPct val="100000"/>
              </a:lnSpc>
              <a:spcBef>
                <a:spcPts val="1780"/>
              </a:spcBef>
              <a:buAutoNum type="arabicPeriod"/>
              <a:tabLst>
                <a:tab pos="548005" algn="l"/>
                <a:tab pos="548640" algn="l"/>
              </a:tabLst>
            </a:pPr>
            <a:r>
              <a:rPr sz="2400" b="1" dirty="0">
                <a:latin typeface="华文新魏"/>
                <a:cs typeface="华文新魏"/>
              </a:rPr>
              <a:t>对代码</a:t>
            </a:r>
            <a:r>
              <a:rPr sz="2400" b="1" spc="-5" dirty="0">
                <a:latin typeface="华文新魏"/>
                <a:cs typeface="华文新魏"/>
              </a:rPr>
              <a:t>行没有公认的可接受的标准定义</a:t>
            </a:r>
            <a:endParaRPr sz="2400">
              <a:latin typeface="华文新魏"/>
              <a:cs typeface="华文新魏"/>
            </a:endParaRPr>
          </a:p>
          <a:p>
            <a:pPr marL="548005" indent="-458470">
              <a:lnSpc>
                <a:spcPct val="100000"/>
              </a:lnSpc>
              <a:buAutoNum type="arabicPeriod"/>
              <a:tabLst>
                <a:tab pos="548005" algn="l"/>
                <a:tab pos="548640" algn="l"/>
              </a:tabLst>
            </a:pPr>
            <a:r>
              <a:rPr sz="2400" b="1" dirty="0">
                <a:latin typeface="华文新魏"/>
                <a:cs typeface="华文新魏"/>
              </a:rPr>
              <a:t>代码行</a:t>
            </a:r>
            <a:r>
              <a:rPr sz="2400" b="1" spc="-5" dirty="0">
                <a:latin typeface="华文新魏"/>
                <a:cs typeface="华文新魏"/>
              </a:rPr>
              <a:t>数量依赖于所用的编程语言和个人的编程风</a:t>
            </a:r>
            <a:r>
              <a:rPr sz="2400" b="1" spc="10" dirty="0">
                <a:latin typeface="华文新魏"/>
                <a:cs typeface="华文新魏"/>
              </a:rPr>
              <a:t>格</a:t>
            </a:r>
            <a:r>
              <a:rPr sz="2400" b="1" spc="-5" dirty="0">
                <a:latin typeface="华文新魏"/>
                <a:cs typeface="华文新魏"/>
              </a:rPr>
              <a:t>.</a:t>
            </a:r>
            <a:endParaRPr sz="2400">
              <a:latin typeface="华文新魏"/>
              <a:cs typeface="华文新魏"/>
            </a:endParaRPr>
          </a:p>
          <a:p>
            <a:pPr marL="548005" marR="260985" indent="-457834">
              <a:lnSpc>
                <a:spcPct val="100000"/>
              </a:lnSpc>
              <a:buAutoNum type="arabicPeriod"/>
              <a:tabLst>
                <a:tab pos="548005" algn="l"/>
                <a:tab pos="548640" algn="l"/>
              </a:tabLst>
            </a:pPr>
            <a:r>
              <a:rPr sz="2400" b="1" dirty="0">
                <a:latin typeface="华文新魏"/>
                <a:cs typeface="华文新魏"/>
              </a:rPr>
              <a:t>在项目</a:t>
            </a:r>
            <a:r>
              <a:rPr sz="2400" b="1" spc="-5" dirty="0">
                <a:latin typeface="华文新魏"/>
                <a:cs typeface="华文新魏"/>
              </a:rPr>
              <a:t>早</a:t>
            </a:r>
            <a:r>
              <a:rPr sz="2400" b="1" dirty="0">
                <a:latin typeface="华文新魏"/>
                <a:cs typeface="华文新魏"/>
              </a:rPr>
              <a:t>期</a:t>
            </a:r>
            <a:r>
              <a:rPr sz="2400" b="1" spc="-5" dirty="0">
                <a:latin typeface="华文新魏"/>
                <a:cs typeface="华文新魏"/>
              </a:rPr>
              <a:t>,需求不稳定、设计不成熟、实现不确定的 </a:t>
            </a:r>
            <a:r>
              <a:rPr sz="2400" b="1" spc="5" dirty="0">
                <a:latin typeface="华文新魏"/>
                <a:cs typeface="华文新魏"/>
              </a:rPr>
              <a:t>情况下</a:t>
            </a:r>
            <a:r>
              <a:rPr sz="2400" b="1" dirty="0">
                <a:latin typeface="华文新魏"/>
                <a:cs typeface="华文新魏"/>
              </a:rPr>
              <a:t>很难准</a:t>
            </a:r>
            <a:r>
              <a:rPr sz="2400" b="1" spc="-10" dirty="0">
                <a:latin typeface="华文新魏"/>
                <a:cs typeface="华文新魏"/>
              </a:rPr>
              <a:t>确</a:t>
            </a:r>
            <a:r>
              <a:rPr sz="2400" b="1" dirty="0">
                <a:latin typeface="华文新魏"/>
                <a:cs typeface="华文新魏"/>
              </a:rPr>
              <a:t>地估算</a:t>
            </a:r>
            <a:r>
              <a:rPr sz="2400" b="1" spc="-10" dirty="0">
                <a:latin typeface="华文新魏"/>
                <a:cs typeface="华文新魏"/>
              </a:rPr>
              <a:t>代</a:t>
            </a:r>
            <a:r>
              <a:rPr sz="2400" b="1" dirty="0">
                <a:latin typeface="华文新魏"/>
                <a:cs typeface="华文新魏"/>
              </a:rPr>
              <a:t>码</a:t>
            </a:r>
            <a:r>
              <a:rPr sz="2400" b="1" spc="5" dirty="0">
                <a:latin typeface="华文新魏"/>
                <a:cs typeface="华文新魏"/>
              </a:rPr>
              <a:t>量</a:t>
            </a:r>
            <a:r>
              <a:rPr sz="2400" b="1" spc="-5" dirty="0">
                <a:latin typeface="华文新魏"/>
                <a:cs typeface="华文新魏"/>
              </a:rPr>
              <a:t>.</a:t>
            </a:r>
            <a:endParaRPr sz="2400">
              <a:latin typeface="华文新魏"/>
              <a:cs typeface="华文新魏"/>
            </a:endParaRPr>
          </a:p>
          <a:p>
            <a:pPr marL="548005" indent="-458470">
              <a:lnSpc>
                <a:spcPct val="100000"/>
              </a:lnSpc>
              <a:buAutoNum type="arabicPeriod"/>
              <a:tabLst>
                <a:tab pos="548005" algn="l"/>
                <a:tab pos="548640" algn="l"/>
              </a:tabLst>
            </a:pPr>
            <a:r>
              <a:rPr sz="2400" b="1" dirty="0">
                <a:latin typeface="华文新魏"/>
                <a:cs typeface="华文新魏"/>
              </a:rPr>
              <a:t>代码行</a:t>
            </a:r>
            <a:r>
              <a:rPr sz="2400" b="1" spc="-5" dirty="0">
                <a:latin typeface="华文新魏"/>
                <a:cs typeface="华文新魏"/>
              </a:rPr>
              <a:t>强调编码的工作</a:t>
            </a:r>
            <a:r>
              <a:rPr sz="2400" b="1" spc="5" dirty="0">
                <a:latin typeface="华文新魏"/>
                <a:cs typeface="华文新魏"/>
              </a:rPr>
              <a:t>量</a:t>
            </a:r>
            <a:r>
              <a:rPr sz="2400" b="1" spc="-5" dirty="0">
                <a:latin typeface="华文新魏"/>
                <a:cs typeface="华文新魏"/>
              </a:rPr>
              <a:t>,只是项目实现阶段的一部分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774698"/>
            <a:ext cx="7772400" cy="4258310"/>
          </a:xfrm>
          <a:custGeom>
            <a:avLst/>
            <a:gdLst/>
            <a:ahLst/>
            <a:cxnLst/>
            <a:rect l="l" t="t" r="r" b="b"/>
            <a:pathLst>
              <a:path w="7772400" h="4258310">
                <a:moveTo>
                  <a:pt x="0" y="4258056"/>
                </a:moveTo>
                <a:lnTo>
                  <a:pt x="7772400" y="4258056"/>
                </a:lnTo>
                <a:lnTo>
                  <a:pt x="7772400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2513076"/>
            <a:ext cx="19050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750" dirty="0">
                <a:solidFill>
                  <a:srgbClr val="DD8046"/>
                </a:solidFill>
                <a:latin typeface="华文新魏"/>
                <a:cs typeface="华文新魏"/>
              </a:rPr>
              <a:t>2.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marR="1461135" indent="-533400">
              <a:lnSpc>
                <a:spcPct val="1201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750" spc="-5" dirty="0">
                <a:solidFill>
                  <a:srgbClr val="DD8046"/>
                </a:solidFill>
              </a:rPr>
              <a:t>1.	</a:t>
            </a:r>
            <a:r>
              <a:rPr dirty="0"/>
              <a:t>代码行估算法 功能点估算法</a:t>
            </a:r>
            <a:endParaRPr sz="1750"/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3"/>
              <a:tabLst>
                <a:tab pos="545465" algn="l"/>
                <a:tab pos="546100" algn="l"/>
              </a:tabLst>
            </a:pPr>
            <a:r>
              <a:rPr dirty="0"/>
              <a:t>用例点估算法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3"/>
              <a:tabLst>
                <a:tab pos="545465" algn="l"/>
                <a:tab pos="546100" algn="l"/>
              </a:tabLst>
            </a:pPr>
            <a:r>
              <a:rPr dirty="0"/>
              <a:t>类</a:t>
            </a:r>
            <a:r>
              <a:rPr spc="705" dirty="0"/>
              <a:t>比</a:t>
            </a:r>
            <a:r>
              <a:rPr spc="-5" dirty="0"/>
              <a:t>(</a:t>
            </a:r>
            <a:r>
              <a:rPr dirty="0"/>
              <a:t>自顶向</a:t>
            </a:r>
            <a:r>
              <a:rPr spc="-5" dirty="0"/>
              <a:t>下)</a:t>
            </a:r>
            <a:r>
              <a:rPr dirty="0"/>
              <a:t>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3"/>
              <a:tabLst>
                <a:tab pos="545465" algn="l"/>
                <a:tab pos="546100" algn="l"/>
              </a:tabLst>
            </a:pPr>
            <a:r>
              <a:rPr dirty="0"/>
              <a:t>自下而上估算法</a:t>
            </a: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 startAt="3"/>
              <a:tabLst>
                <a:tab pos="545465" algn="l"/>
                <a:tab pos="546100" algn="l"/>
              </a:tabLst>
            </a:pPr>
            <a:r>
              <a:rPr dirty="0"/>
              <a:t>三点估算法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3"/>
              <a:tabLst>
                <a:tab pos="545465" algn="l"/>
                <a:tab pos="546100" algn="l"/>
              </a:tabLst>
            </a:pPr>
            <a:r>
              <a:rPr dirty="0"/>
              <a:t>参数估算法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3"/>
              <a:tabLst>
                <a:tab pos="545465" algn="l"/>
                <a:tab pos="546100" algn="l"/>
              </a:tabLst>
            </a:pPr>
            <a:r>
              <a:rPr dirty="0"/>
              <a:t>专家估算法</a:t>
            </a:r>
          </a:p>
        </p:txBody>
      </p:sp>
      <p:sp>
        <p:nvSpPr>
          <p:cNvPr id="8" name="object 8"/>
          <p:cNvSpPr/>
          <p:nvPr/>
        </p:nvSpPr>
        <p:spPr>
          <a:xfrm>
            <a:off x="533400" y="2417064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788" y="275589"/>
            <a:ext cx="6337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-10" dirty="0"/>
              <a:t>法</a:t>
            </a:r>
            <a:r>
              <a:rPr dirty="0"/>
              <a:t>-功能点估算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4265" y="629025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6924" y="2019300"/>
            <a:ext cx="7595870" cy="1626235"/>
          </a:xfrm>
          <a:custGeom>
            <a:avLst/>
            <a:gdLst/>
            <a:ahLst/>
            <a:cxnLst/>
            <a:rect l="l" t="t" r="r" b="b"/>
            <a:pathLst>
              <a:path w="7595870" h="1626235">
                <a:moveTo>
                  <a:pt x="7388606" y="0"/>
                </a:moveTo>
                <a:lnTo>
                  <a:pt x="207009" y="0"/>
                </a:lnTo>
                <a:lnTo>
                  <a:pt x="159553" y="5468"/>
                </a:lnTo>
                <a:lnTo>
                  <a:pt x="115984" y="21045"/>
                </a:lnTo>
                <a:lnTo>
                  <a:pt x="77547" y="45486"/>
                </a:lnTo>
                <a:lnTo>
                  <a:pt x="45486" y="77547"/>
                </a:lnTo>
                <a:lnTo>
                  <a:pt x="21045" y="115984"/>
                </a:lnTo>
                <a:lnTo>
                  <a:pt x="5468" y="159553"/>
                </a:lnTo>
                <a:lnTo>
                  <a:pt x="0" y="207010"/>
                </a:lnTo>
                <a:lnTo>
                  <a:pt x="0" y="1419098"/>
                </a:lnTo>
                <a:lnTo>
                  <a:pt x="5468" y="1466554"/>
                </a:lnTo>
                <a:lnTo>
                  <a:pt x="21045" y="1510123"/>
                </a:lnTo>
                <a:lnTo>
                  <a:pt x="45486" y="1548560"/>
                </a:lnTo>
                <a:lnTo>
                  <a:pt x="77547" y="1580621"/>
                </a:lnTo>
                <a:lnTo>
                  <a:pt x="115984" y="1605062"/>
                </a:lnTo>
                <a:lnTo>
                  <a:pt x="159553" y="1620639"/>
                </a:lnTo>
                <a:lnTo>
                  <a:pt x="207009" y="1626108"/>
                </a:lnTo>
                <a:lnTo>
                  <a:pt x="7388606" y="1626108"/>
                </a:lnTo>
                <a:lnTo>
                  <a:pt x="7436062" y="1620639"/>
                </a:lnTo>
                <a:lnTo>
                  <a:pt x="7479631" y="1605062"/>
                </a:lnTo>
                <a:lnTo>
                  <a:pt x="7518068" y="1580621"/>
                </a:lnTo>
                <a:lnTo>
                  <a:pt x="7550129" y="1548560"/>
                </a:lnTo>
                <a:lnTo>
                  <a:pt x="7574570" y="1510123"/>
                </a:lnTo>
                <a:lnTo>
                  <a:pt x="7590147" y="1466554"/>
                </a:lnTo>
                <a:lnTo>
                  <a:pt x="7595616" y="1419098"/>
                </a:lnTo>
                <a:lnTo>
                  <a:pt x="7595616" y="207010"/>
                </a:lnTo>
                <a:lnTo>
                  <a:pt x="7590147" y="159553"/>
                </a:lnTo>
                <a:lnTo>
                  <a:pt x="7574570" y="115984"/>
                </a:lnTo>
                <a:lnTo>
                  <a:pt x="7550129" y="77547"/>
                </a:lnTo>
                <a:lnTo>
                  <a:pt x="7518068" y="45486"/>
                </a:lnTo>
                <a:lnTo>
                  <a:pt x="7479631" y="21045"/>
                </a:lnTo>
                <a:lnTo>
                  <a:pt x="7436062" y="5468"/>
                </a:lnTo>
                <a:lnTo>
                  <a:pt x="7388606" y="0"/>
                </a:lnTo>
                <a:close/>
              </a:path>
            </a:pathLst>
          </a:custGeom>
          <a:solidFill>
            <a:srgbClr val="CFD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704594"/>
            <a:ext cx="1916430" cy="2032000"/>
          </a:xfrm>
          <a:custGeom>
            <a:avLst/>
            <a:gdLst/>
            <a:ahLst/>
            <a:cxnLst/>
            <a:rect l="l" t="t" r="r" b="b"/>
            <a:pathLst>
              <a:path w="1916430" h="2032000">
                <a:moveTo>
                  <a:pt x="940308" y="0"/>
                </a:moveTo>
                <a:lnTo>
                  <a:pt x="893013" y="1171"/>
                </a:lnTo>
                <a:lnTo>
                  <a:pt x="846300" y="4650"/>
                </a:lnTo>
                <a:lnTo>
                  <a:pt x="800218" y="10382"/>
                </a:lnTo>
                <a:lnTo>
                  <a:pt x="754820" y="18316"/>
                </a:lnTo>
                <a:lnTo>
                  <a:pt x="710156" y="28397"/>
                </a:lnTo>
                <a:lnTo>
                  <a:pt x="666278" y="40572"/>
                </a:lnTo>
                <a:lnTo>
                  <a:pt x="623237" y="54789"/>
                </a:lnTo>
                <a:lnTo>
                  <a:pt x="581083" y="70994"/>
                </a:lnTo>
                <a:lnTo>
                  <a:pt x="539868" y="89133"/>
                </a:lnTo>
                <a:lnTo>
                  <a:pt x="499643" y="109154"/>
                </a:lnTo>
                <a:lnTo>
                  <a:pt x="460459" y="131003"/>
                </a:lnTo>
                <a:lnTo>
                  <a:pt x="422367" y="154628"/>
                </a:lnTo>
                <a:lnTo>
                  <a:pt x="385419" y="179974"/>
                </a:lnTo>
                <a:lnTo>
                  <a:pt x="349666" y="206989"/>
                </a:lnTo>
                <a:lnTo>
                  <a:pt x="315158" y="235619"/>
                </a:lnTo>
                <a:lnTo>
                  <a:pt x="281946" y="265811"/>
                </a:lnTo>
                <a:lnTo>
                  <a:pt x="250083" y="297513"/>
                </a:lnTo>
                <a:lnTo>
                  <a:pt x="219619" y="330670"/>
                </a:lnTo>
                <a:lnTo>
                  <a:pt x="190605" y="365230"/>
                </a:lnTo>
                <a:lnTo>
                  <a:pt x="163092" y="401139"/>
                </a:lnTo>
                <a:lnTo>
                  <a:pt x="137132" y="438344"/>
                </a:lnTo>
                <a:lnTo>
                  <a:pt x="112775" y="476793"/>
                </a:lnTo>
                <a:lnTo>
                  <a:pt x="90073" y="516430"/>
                </a:lnTo>
                <a:lnTo>
                  <a:pt x="69077" y="557205"/>
                </a:lnTo>
                <a:lnTo>
                  <a:pt x="49838" y="599062"/>
                </a:lnTo>
                <a:lnTo>
                  <a:pt x="32407" y="641950"/>
                </a:lnTo>
                <a:lnTo>
                  <a:pt x="16835" y="685814"/>
                </a:lnTo>
                <a:lnTo>
                  <a:pt x="3174" y="730602"/>
                </a:lnTo>
                <a:lnTo>
                  <a:pt x="0" y="742989"/>
                </a:lnTo>
                <a:lnTo>
                  <a:pt x="0" y="1288502"/>
                </a:lnTo>
                <a:lnTo>
                  <a:pt x="16835" y="1345677"/>
                </a:lnTo>
                <a:lnTo>
                  <a:pt x="32407" y="1389541"/>
                </a:lnTo>
                <a:lnTo>
                  <a:pt x="49838" y="1432429"/>
                </a:lnTo>
                <a:lnTo>
                  <a:pt x="69077" y="1474286"/>
                </a:lnTo>
                <a:lnTo>
                  <a:pt x="90073" y="1515061"/>
                </a:lnTo>
                <a:lnTo>
                  <a:pt x="112775" y="1554698"/>
                </a:lnTo>
                <a:lnTo>
                  <a:pt x="137132" y="1593147"/>
                </a:lnTo>
                <a:lnTo>
                  <a:pt x="163092" y="1630352"/>
                </a:lnTo>
                <a:lnTo>
                  <a:pt x="190605" y="1666261"/>
                </a:lnTo>
                <a:lnTo>
                  <a:pt x="219619" y="1700821"/>
                </a:lnTo>
                <a:lnTo>
                  <a:pt x="250083" y="1733978"/>
                </a:lnTo>
                <a:lnTo>
                  <a:pt x="281946" y="1765680"/>
                </a:lnTo>
                <a:lnTo>
                  <a:pt x="315158" y="1795872"/>
                </a:lnTo>
                <a:lnTo>
                  <a:pt x="349666" y="1824502"/>
                </a:lnTo>
                <a:lnTo>
                  <a:pt x="385419" y="1851517"/>
                </a:lnTo>
                <a:lnTo>
                  <a:pt x="422367" y="1876863"/>
                </a:lnTo>
                <a:lnTo>
                  <a:pt x="460459" y="1900488"/>
                </a:lnTo>
                <a:lnTo>
                  <a:pt x="499643" y="1922337"/>
                </a:lnTo>
                <a:lnTo>
                  <a:pt x="539868" y="1942358"/>
                </a:lnTo>
                <a:lnTo>
                  <a:pt x="581083" y="1960497"/>
                </a:lnTo>
                <a:lnTo>
                  <a:pt x="623237" y="1976702"/>
                </a:lnTo>
                <a:lnTo>
                  <a:pt x="666278" y="1990919"/>
                </a:lnTo>
                <a:lnTo>
                  <a:pt x="710156" y="2003094"/>
                </a:lnTo>
                <a:lnTo>
                  <a:pt x="754820" y="2013175"/>
                </a:lnTo>
                <a:lnTo>
                  <a:pt x="800218" y="2021109"/>
                </a:lnTo>
                <a:lnTo>
                  <a:pt x="846300" y="2026841"/>
                </a:lnTo>
                <a:lnTo>
                  <a:pt x="893013" y="2030320"/>
                </a:lnTo>
                <a:lnTo>
                  <a:pt x="940308" y="2031491"/>
                </a:lnTo>
                <a:lnTo>
                  <a:pt x="987603" y="2030320"/>
                </a:lnTo>
                <a:lnTo>
                  <a:pt x="1034317" y="2026841"/>
                </a:lnTo>
                <a:lnTo>
                  <a:pt x="1080399" y="2021109"/>
                </a:lnTo>
                <a:lnTo>
                  <a:pt x="1125798" y="2013175"/>
                </a:lnTo>
                <a:lnTo>
                  <a:pt x="1170463" y="2003094"/>
                </a:lnTo>
                <a:lnTo>
                  <a:pt x="1214341" y="1990919"/>
                </a:lnTo>
                <a:lnTo>
                  <a:pt x="1257383" y="1976702"/>
                </a:lnTo>
                <a:lnTo>
                  <a:pt x="1299538" y="1960497"/>
                </a:lnTo>
                <a:lnTo>
                  <a:pt x="1340753" y="1942358"/>
                </a:lnTo>
                <a:lnTo>
                  <a:pt x="1380978" y="1922337"/>
                </a:lnTo>
                <a:lnTo>
                  <a:pt x="1420162" y="1900488"/>
                </a:lnTo>
                <a:lnTo>
                  <a:pt x="1458253" y="1876863"/>
                </a:lnTo>
                <a:lnTo>
                  <a:pt x="1495201" y="1851517"/>
                </a:lnTo>
                <a:lnTo>
                  <a:pt x="1530955" y="1824502"/>
                </a:lnTo>
                <a:lnTo>
                  <a:pt x="1565463" y="1795872"/>
                </a:lnTo>
                <a:lnTo>
                  <a:pt x="1598674" y="1765680"/>
                </a:lnTo>
                <a:lnTo>
                  <a:pt x="1630537" y="1733978"/>
                </a:lnTo>
                <a:lnTo>
                  <a:pt x="1661001" y="1700821"/>
                </a:lnTo>
                <a:lnTo>
                  <a:pt x="1690014" y="1666261"/>
                </a:lnTo>
                <a:lnTo>
                  <a:pt x="1717527" y="1630352"/>
                </a:lnTo>
                <a:lnTo>
                  <a:pt x="1743486" y="1593147"/>
                </a:lnTo>
                <a:lnTo>
                  <a:pt x="1767843" y="1554698"/>
                </a:lnTo>
                <a:lnTo>
                  <a:pt x="1790544" y="1515061"/>
                </a:lnTo>
                <a:lnTo>
                  <a:pt x="1811540" y="1474286"/>
                </a:lnTo>
                <a:lnTo>
                  <a:pt x="1830779" y="1432429"/>
                </a:lnTo>
                <a:lnTo>
                  <a:pt x="1848210" y="1389541"/>
                </a:lnTo>
                <a:lnTo>
                  <a:pt x="1863781" y="1345677"/>
                </a:lnTo>
                <a:lnTo>
                  <a:pt x="1877442" y="1300889"/>
                </a:lnTo>
                <a:lnTo>
                  <a:pt x="1889142" y="1255230"/>
                </a:lnTo>
                <a:lnTo>
                  <a:pt x="1898829" y="1208755"/>
                </a:lnTo>
                <a:lnTo>
                  <a:pt x="1906453" y="1161515"/>
                </a:lnTo>
                <a:lnTo>
                  <a:pt x="1911961" y="1113565"/>
                </a:lnTo>
                <a:lnTo>
                  <a:pt x="1915304" y="1064957"/>
                </a:lnTo>
                <a:lnTo>
                  <a:pt x="1916430" y="1015745"/>
                </a:lnTo>
                <a:lnTo>
                  <a:pt x="1915304" y="966534"/>
                </a:lnTo>
                <a:lnTo>
                  <a:pt x="1911961" y="917926"/>
                </a:lnTo>
                <a:lnTo>
                  <a:pt x="1906453" y="869976"/>
                </a:lnTo>
                <a:lnTo>
                  <a:pt x="1898829" y="822736"/>
                </a:lnTo>
                <a:lnTo>
                  <a:pt x="1889142" y="776261"/>
                </a:lnTo>
                <a:lnTo>
                  <a:pt x="1877442" y="730602"/>
                </a:lnTo>
                <a:lnTo>
                  <a:pt x="1863781" y="685814"/>
                </a:lnTo>
                <a:lnTo>
                  <a:pt x="1848210" y="641950"/>
                </a:lnTo>
                <a:lnTo>
                  <a:pt x="1830779" y="599062"/>
                </a:lnTo>
                <a:lnTo>
                  <a:pt x="1811540" y="557205"/>
                </a:lnTo>
                <a:lnTo>
                  <a:pt x="1790544" y="516430"/>
                </a:lnTo>
                <a:lnTo>
                  <a:pt x="1767843" y="476793"/>
                </a:lnTo>
                <a:lnTo>
                  <a:pt x="1743486" y="438344"/>
                </a:lnTo>
                <a:lnTo>
                  <a:pt x="1717527" y="401139"/>
                </a:lnTo>
                <a:lnTo>
                  <a:pt x="1690014" y="365230"/>
                </a:lnTo>
                <a:lnTo>
                  <a:pt x="1661001" y="330670"/>
                </a:lnTo>
                <a:lnTo>
                  <a:pt x="1630537" y="297513"/>
                </a:lnTo>
                <a:lnTo>
                  <a:pt x="1598674" y="265811"/>
                </a:lnTo>
                <a:lnTo>
                  <a:pt x="1565463" y="235619"/>
                </a:lnTo>
                <a:lnTo>
                  <a:pt x="1530955" y="206989"/>
                </a:lnTo>
                <a:lnTo>
                  <a:pt x="1495201" y="179974"/>
                </a:lnTo>
                <a:lnTo>
                  <a:pt x="1458253" y="154628"/>
                </a:lnTo>
                <a:lnTo>
                  <a:pt x="1420162" y="131003"/>
                </a:lnTo>
                <a:lnTo>
                  <a:pt x="1380978" y="109154"/>
                </a:lnTo>
                <a:lnTo>
                  <a:pt x="1340753" y="89133"/>
                </a:lnTo>
                <a:lnTo>
                  <a:pt x="1299538" y="70994"/>
                </a:lnTo>
                <a:lnTo>
                  <a:pt x="1257383" y="54789"/>
                </a:lnTo>
                <a:lnTo>
                  <a:pt x="1214341" y="40572"/>
                </a:lnTo>
                <a:lnTo>
                  <a:pt x="1170463" y="28397"/>
                </a:lnTo>
                <a:lnTo>
                  <a:pt x="1125798" y="18316"/>
                </a:lnTo>
                <a:lnTo>
                  <a:pt x="1080399" y="10382"/>
                </a:lnTo>
                <a:lnTo>
                  <a:pt x="1034317" y="4650"/>
                </a:lnTo>
                <a:lnTo>
                  <a:pt x="987603" y="1171"/>
                </a:lnTo>
                <a:lnTo>
                  <a:pt x="940308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704594"/>
            <a:ext cx="1916430" cy="2032000"/>
          </a:xfrm>
          <a:custGeom>
            <a:avLst/>
            <a:gdLst/>
            <a:ahLst/>
            <a:cxnLst/>
            <a:rect l="l" t="t" r="r" b="b"/>
            <a:pathLst>
              <a:path w="1916430" h="2032000">
                <a:moveTo>
                  <a:pt x="0" y="742989"/>
                </a:moveTo>
                <a:lnTo>
                  <a:pt x="16835" y="685814"/>
                </a:lnTo>
                <a:lnTo>
                  <a:pt x="32407" y="641950"/>
                </a:lnTo>
                <a:lnTo>
                  <a:pt x="49838" y="599062"/>
                </a:lnTo>
                <a:lnTo>
                  <a:pt x="69077" y="557205"/>
                </a:lnTo>
                <a:lnTo>
                  <a:pt x="90073" y="516430"/>
                </a:lnTo>
                <a:lnTo>
                  <a:pt x="112775" y="476793"/>
                </a:lnTo>
                <a:lnTo>
                  <a:pt x="137132" y="438344"/>
                </a:lnTo>
                <a:lnTo>
                  <a:pt x="163092" y="401139"/>
                </a:lnTo>
                <a:lnTo>
                  <a:pt x="190605" y="365230"/>
                </a:lnTo>
                <a:lnTo>
                  <a:pt x="219619" y="330670"/>
                </a:lnTo>
                <a:lnTo>
                  <a:pt x="250083" y="297513"/>
                </a:lnTo>
                <a:lnTo>
                  <a:pt x="281946" y="265811"/>
                </a:lnTo>
                <a:lnTo>
                  <a:pt x="315158" y="235619"/>
                </a:lnTo>
                <a:lnTo>
                  <a:pt x="349666" y="206989"/>
                </a:lnTo>
                <a:lnTo>
                  <a:pt x="385419" y="179974"/>
                </a:lnTo>
                <a:lnTo>
                  <a:pt x="422367" y="154628"/>
                </a:lnTo>
                <a:lnTo>
                  <a:pt x="460459" y="131003"/>
                </a:lnTo>
                <a:lnTo>
                  <a:pt x="499643" y="109154"/>
                </a:lnTo>
                <a:lnTo>
                  <a:pt x="539868" y="89133"/>
                </a:lnTo>
                <a:lnTo>
                  <a:pt x="581083" y="70994"/>
                </a:lnTo>
                <a:lnTo>
                  <a:pt x="623237" y="54789"/>
                </a:lnTo>
                <a:lnTo>
                  <a:pt x="666278" y="40572"/>
                </a:lnTo>
                <a:lnTo>
                  <a:pt x="710156" y="28397"/>
                </a:lnTo>
                <a:lnTo>
                  <a:pt x="754820" y="18316"/>
                </a:lnTo>
                <a:lnTo>
                  <a:pt x="800218" y="10382"/>
                </a:lnTo>
                <a:lnTo>
                  <a:pt x="846300" y="4650"/>
                </a:lnTo>
                <a:lnTo>
                  <a:pt x="893013" y="1171"/>
                </a:lnTo>
                <a:lnTo>
                  <a:pt x="940308" y="0"/>
                </a:lnTo>
                <a:lnTo>
                  <a:pt x="987603" y="1171"/>
                </a:lnTo>
                <a:lnTo>
                  <a:pt x="1034317" y="4650"/>
                </a:lnTo>
                <a:lnTo>
                  <a:pt x="1080399" y="10382"/>
                </a:lnTo>
                <a:lnTo>
                  <a:pt x="1125798" y="18316"/>
                </a:lnTo>
                <a:lnTo>
                  <a:pt x="1170463" y="28397"/>
                </a:lnTo>
                <a:lnTo>
                  <a:pt x="1214341" y="40572"/>
                </a:lnTo>
                <a:lnTo>
                  <a:pt x="1257383" y="54789"/>
                </a:lnTo>
                <a:lnTo>
                  <a:pt x="1299538" y="70994"/>
                </a:lnTo>
                <a:lnTo>
                  <a:pt x="1340753" y="89133"/>
                </a:lnTo>
                <a:lnTo>
                  <a:pt x="1380978" y="109154"/>
                </a:lnTo>
                <a:lnTo>
                  <a:pt x="1420162" y="131003"/>
                </a:lnTo>
                <a:lnTo>
                  <a:pt x="1458253" y="154628"/>
                </a:lnTo>
                <a:lnTo>
                  <a:pt x="1495201" y="179974"/>
                </a:lnTo>
                <a:lnTo>
                  <a:pt x="1530955" y="206989"/>
                </a:lnTo>
                <a:lnTo>
                  <a:pt x="1565463" y="235619"/>
                </a:lnTo>
                <a:lnTo>
                  <a:pt x="1598674" y="265811"/>
                </a:lnTo>
                <a:lnTo>
                  <a:pt x="1630537" y="297513"/>
                </a:lnTo>
                <a:lnTo>
                  <a:pt x="1661001" y="330670"/>
                </a:lnTo>
                <a:lnTo>
                  <a:pt x="1690014" y="365230"/>
                </a:lnTo>
                <a:lnTo>
                  <a:pt x="1717527" y="401139"/>
                </a:lnTo>
                <a:lnTo>
                  <a:pt x="1743486" y="438344"/>
                </a:lnTo>
                <a:lnTo>
                  <a:pt x="1767843" y="476793"/>
                </a:lnTo>
                <a:lnTo>
                  <a:pt x="1790544" y="516430"/>
                </a:lnTo>
                <a:lnTo>
                  <a:pt x="1811540" y="557205"/>
                </a:lnTo>
                <a:lnTo>
                  <a:pt x="1830779" y="599062"/>
                </a:lnTo>
                <a:lnTo>
                  <a:pt x="1848210" y="641950"/>
                </a:lnTo>
                <a:lnTo>
                  <a:pt x="1863781" y="685814"/>
                </a:lnTo>
                <a:lnTo>
                  <a:pt x="1877442" y="730602"/>
                </a:lnTo>
                <a:lnTo>
                  <a:pt x="1889142" y="776261"/>
                </a:lnTo>
                <a:lnTo>
                  <a:pt x="1898829" y="822736"/>
                </a:lnTo>
                <a:lnTo>
                  <a:pt x="1906453" y="869976"/>
                </a:lnTo>
                <a:lnTo>
                  <a:pt x="1911961" y="917926"/>
                </a:lnTo>
                <a:lnTo>
                  <a:pt x="1915304" y="966534"/>
                </a:lnTo>
                <a:lnTo>
                  <a:pt x="1916430" y="1015745"/>
                </a:lnTo>
                <a:lnTo>
                  <a:pt x="1915304" y="1064957"/>
                </a:lnTo>
                <a:lnTo>
                  <a:pt x="1911961" y="1113565"/>
                </a:lnTo>
                <a:lnTo>
                  <a:pt x="1906453" y="1161515"/>
                </a:lnTo>
                <a:lnTo>
                  <a:pt x="1898829" y="1208755"/>
                </a:lnTo>
                <a:lnTo>
                  <a:pt x="1889142" y="1255230"/>
                </a:lnTo>
                <a:lnTo>
                  <a:pt x="1877442" y="1300889"/>
                </a:lnTo>
                <a:lnTo>
                  <a:pt x="1863781" y="1345677"/>
                </a:lnTo>
                <a:lnTo>
                  <a:pt x="1848210" y="1389541"/>
                </a:lnTo>
                <a:lnTo>
                  <a:pt x="1830779" y="1432429"/>
                </a:lnTo>
                <a:lnTo>
                  <a:pt x="1811540" y="1474286"/>
                </a:lnTo>
                <a:lnTo>
                  <a:pt x="1790544" y="1515061"/>
                </a:lnTo>
                <a:lnTo>
                  <a:pt x="1767843" y="1554698"/>
                </a:lnTo>
                <a:lnTo>
                  <a:pt x="1743486" y="1593147"/>
                </a:lnTo>
                <a:lnTo>
                  <a:pt x="1717527" y="1630352"/>
                </a:lnTo>
                <a:lnTo>
                  <a:pt x="1690014" y="1666261"/>
                </a:lnTo>
                <a:lnTo>
                  <a:pt x="1661001" y="1700821"/>
                </a:lnTo>
                <a:lnTo>
                  <a:pt x="1630537" y="1733978"/>
                </a:lnTo>
                <a:lnTo>
                  <a:pt x="1598674" y="1765680"/>
                </a:lnTo>
                <a:lnTo>
                  <a:pt x="1565463" y="1795872"/>
                </a:lnTo>
                <a:lnTo>
                  <a:pt x="1530955" y="1824502"/>
                </a:lnTo>
                <a:lnTo>
                  <a:pt x="1495201" y="1851517"/>
                </a:lnTo>
                <a:lnTo>
                  <a:pt x="1458253" y="1876863"/>
                </a:lnTo>
                <a:lnTo>
                  <a:pt x="1420162" y="1900488"/>
                </a:lnTo>
                <a:lnTo>
                  <a:pt x="1380978" y="1922337"/>
                </a:lnTo>
                <a:lnTo>
                  <a:pt x="1340753" y="1942358"/>
                </a:lnTo>
                <a:lnTo>
                  <a:pt x="1299538" y="1960497"/>
                </a:lnTo>
                <a:lnTo>
                  <a:pt x="1257383" y="1976702"/>
                </a:lnTo>
                <a:lnTo>
                  <a:pt x="1214341" y="1990919"/>
                </a:lnTo>
                <a:lnTo>
                  <a:pt x="1170463" y="2003094"/>
                </a:lnTo>
                <a:lnTo>
                  <a:pt x="1125798" y="2013175"/>
                </a:lnTo>
                <a:lnTo>
                  <a:pt x="1080399" y="2021109"/>
                </a:lnTo>
                <a:lnTo>
                  <a:pt x="1034317" y="2026841"/>
                </a:lnTo>
                <a:lnTo>
                  <a:pt x="987603" y="2030320"/>
                </a:lnTo>
                <a:lnTo>
                  <a:pt x="940308" y="2031491"/>
                </a:lnTo>
                <a:lnTo>
                  <a:pt x="893013" y="2030320"/>
                </a:lnTo>
                <a:lnTo>
                  <a:pt x="846300" y="2026841"/>
                </a:lnTo>
                <a:lnTo>
                  <a:pt x="800218" y="2021109"/>
                </a:lnTo>
                <a:lnTo>
                  <a:pt x="754820" y="2013175"/>
                </a:lnTo>
                <a:lnTo>
                  <a:pt x="710156" y="2003094"/>
                </a:lnTo>
                <a:lnTo>
                  <a:pt x="666278" y="1990919"/>
                </a:lnTo>
                <a:lnTo>
                  <a:pt x="623237" y="1976702"/>
                </a:lnTo>
                <a:lnTo>
                  <a:pt x="581083" y="1960497"/>
                </a:lnTo>
                <a:lnTo>
                  <a:pt x="539868" y="1942358"/>
                </a:lnTo>
                <a:lnTo>
                  <a:pt x="499643" y="1922337"/>
                </a:lnTo>
                <a:lnTo>
                  <a:pt x="460459" y="1900488"/>
                </a:lnTo>
                <a:lnTo>
                  <a:pt x="422367" y="1876863"/>
                </a:lnTo>
                <a:lnTo>
                  <a:pt x="385419" y="1851517"/>
                </a:lnTo>
                <a:lnTo>
                  <a:pt x="349666" y="1824502"/>
                </a:lnTo>
                <a:lnTo>
                  <a:pt x="315158" y="1795872"/>
                </a:lnTo>
                <a:lnTo>
                  <a:pt x="281946" y="1765680"/>
                </a:lnTo>
                <a:lnTo>
                  <a:pt x="250083" y="1733978"/>
                </a:lnTo>
                <a:lnTo>
                  <a:pt x="219619" y="1700821"/>
                </a:lnTo>
                <a:lnTo>
                  <a:pt x="190605" y="1666261"/>
                </a:lnTo>
                <a:lnTo>
                  <a:pt x="163092" y="1630352"/>
                </a:lnTo>
                <a:lnTo>
                  <a:pt x="137132" y="1593147"/>
                </a:lnTo>
                <a:lnTo>
                  <a:pt x="112775" y="1554698"/>
                </a:lnTo>
                <a:lnTo>
                  <a:pt x="90073" y="1515061"/>
                </a:lnTo>
                <a:lnTo>
                  <a:pt x="69077" y="1474286"/>
                </a:lnTo>
                <a:lnTo>
                  <a:pt x="49838" y="1432429"/>
                </a:lnTo>
                <a:lnTo>
                  <a:pt x="32407" y="1389541"/>
                </a:lnTo>
                <a:lnTo>
                  <a:pt x="16835" y="1345677"/>
                </a:lnTo>
                <a:lnTo>
                  <a:pt x="3174" y="1300889"/>
                </a:lnTo>
                <a:lnTo>
                  <a:pt x="0" y="1288502"/>
                </a:lnTo>
              </a:path>
            </a:pathLst>
          </a:custGeom>
          <a:ln w="38099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957" y="1788414"/>
            <a:ext cx="1789430" cy="1864360"/>
          </a:xfrm>
          <a:custGeom>
            <a:avLst/>
            <a:gdLst/>
            <a:ahLst/>
            <a:cxnLst/>
            <a:rect l="l" t="t" r="r" b="b"/>
            <a:pathLst>
              <a:path w="1789430" h="1864360">
                <a:moveTo>
                  <a:pt x="0" y="931926"/>
                </a:moveTo>
                <a:lnTo>
                  <a:pt x="1240" y="882428"/>
                </a:lnTo>
                <a:lnTo>
                  <a:pt x="4918" y="833604"/>
                </a:lnTo>
                <a:lnTo>
                  <a:pt x="10974" y="785518"/>
                </a:lnTo>
                <a:lnTo>
                  <a:pt x="19345" y="738233"/>
                </a:lnTo>
                <a:lnTo>
                  <a:pt x="29970" y="691815"/>
                </a:lnTo>
                <a:lnTo>
                  <a:pt x="42785" y="646329"/>
                </a:lnTo>
                <a:lnTo>
                  <a:pt x="57731" y="601837"/>
                </a:lnTo>
                <a:lnTo>
                  <a:pt x="74744" y="558405"/>
                </a:lnTo>
                <a:lnTo>
                  <a:pt x="93764" y="516097"/>
                </a:lnTo>
                <a:lnTo>
                  <a:pt x="114728" y="474977"/>
                </a:lnTo>
                <a:lnTo>
                  <a:pt x="137574" y="435110"/>
                </a:lnTo>
                <a:lnTo>
                  <a:pt x="162240" y="396560"/>
                </a:lnTo>
                <a:lnTo>
                  <a:pt x="188666" y="359392"/>
                </a:lnTo>
                <a:lnTo>
                  <a:pt x="216788" y="323670"/>
                </a:lnTo>
                <a:lnTo>
                  <a:pt x="246545" y="289458"/>
                </a:lnTo>
                <a:lnTo>
                  <a:pt x="277876" y="256821"/>
                </a:lnTo>
                <a:lnTo>
                  <a:pt x="310718" y="225822"/>
                </a:lnTo>
                <a:lnTo>
                  <a:pt x="345010" y="196527"/>
                </a:lnTo>
                <a:lnTo>
                  <a:pt x="380689" y="169000"/>
                </a:lnTo>
                <a:lnTo>
                  <a:pt x="417695" y="143306"/>
                </a:lnTo>
                <a:lnTo>
                  <a:pt x="455965" y="119507"/>
                </a:lnTo>
                <a:lnTo>
                  <a:pt x="495437" y="97670"/>
                </a:lnTo>
                <a:lnTo>
                  <a:pt x="536049" y="77858"/>
                </a:lnTo>
                <a:lnTo>
                  <a:pt x="577740" y="60136"/>
                </a:lnTo>
                <a:lnTo>
                  <a:pt x="620448" y="44567"/>
                </a:lnTo>
                <a:lnTo>
                  <a:pt x="664111" y="31218"/>
                </a:lnTo>
                <a:lnTo>
                  <a:pt x="708667" y="20151"/>
                </a:lnTo>
                <a:lnTo>
                  <a:pt x="754055" y="11431"/>
                </a:lnTo>
                <a:lnTo>
                  <a:pt x="800212" y="5123"/>
                </a:lnTo>
                <a:lnTo>
                  <a:pt x="847077" y="1291"/>
                </a:lnTo>
                <a:lnTo>
                  <a:pt x="894588" y="0"/>
                </a:lnTo>
                <a:lnTo>
                  <a:pt x="942095" y="1291"/>
                </a:lnTo>
                <a:lnTo>
                  <a:pt x="988957" y="5123"/>
                </a:lnTo>
                <a:lnTo>
                  <a:pt x="1035111" y="11431"/>
                </a:lnTo>
                <a:lnTo>
                  <a:pt x="1080496" y="20151"/>
                </a:lnTo>
                <a:lnTo>
                  <a:pt x="1125051" y="31218"/>
                </a:lnTo>
                <a:lnTo>
                  <a:pt x="1168712" y="44567"/>
                </a:lnTo>
                <a:lnTo>
                  <a:pt x="1211419" y="60136"/>
                </a:lnTo>
                <a:lnTo>
                  <a:pt x="1253110" y="77858"/>
                </a:lnTo>
                <a:lnTo>
                  <a:pt x="1293722" y="97670"/>
                </a:lnTo>
                <a:lnTo>
                  <a:pt x="1333193" y="119507"/>
                </a:lnTo>
                <a:lnTo>
                  <a:pt x="1371463" y="143306"/>
                </a:lnTo>
                <a:lnTo>
                  <a:pt x="1408469" y="169000"/>
                </a:lnTo>
                <a:lnTo>
                  <a:pt x="1444149" y="196527"/>
                </a:lnTo>
                <a:lnTo>
                  <a:pt x="1478441" y="225822"/>
                </a:lnTo>
                <a:lnTo>
                  <a:pt x="1511284" y="256821"/>
                </a:lnTo>
                <a:lnTo>
                  <a:pt x="1542616" y="289458"/>
                </a:lnTo>
                <a:lnTo>
                  <a:pt x="1572374" y="323670"/>
                </a:lnTo>
                <a:lnTo>
                  <a:pt x="1600498" y="359392"/>
                </a:lnTo>
                <a:lnTo>
                  <a:pt x="1626924" y="396560"/>
                </a:lnTo>
                <a:lnTo>
                  <a:pt x="1651592" y="435110"/>
                </a:lnTo>
                <a:lnTo>
                  <a:pt x="1674439" y="474977"/>
                </a:lnTo>
                <a:lnTo>
                  <a:pt x="1695404" y="516097"/>
                </a:lnTo>
                <a:lnTo>
                  <a:pt x="1714425" y="558405"/>
                </a:lnTo>
                <a:lnTo>
                  <a:pt x="1731440" y="601837"/>
                </a:lnTo>
                <a:lnTo>
                  <a:pt x="1746386" y="646329"/>
                </a:lnTo>
                <a:lnTo>
                  <a:pt x="1759203" y="691815"/>
                </a:lnTo>
                <a:lnTo>
                  <a:pt x="1769828" y="738233"/>
                </a:lnTo>
                <a:lnTo>
                  <a:pt x="1778200" y="785518"/>
                </a:lnTo>
                <a:lnTo>
                  <a:pt x="1784256" y="833604"/>
                </a:lnTo>
                <a:lnTo>
                  <a:pt x="1787935" y="882428"/>
                </a:lnTo>
                <a:lnTo>
                  <a:pt x="1789176" y="931926"/>
                </a:lnTo>
                <a:lnTo>
                  <a:pt x="1787935" y="981423"/>
                </a:lnTo>
                <a:lnTo>
                  <a:pt x="1784256" y="1030247"/>
                </a:lnTo>
                <a:lnTo>
                  <a:pt x="1778200" y="1078333"/>
                </a:lnTo>
                <a:lnTo>
                  <a:pt x="1769828" y="1125618"/>
                </a:lnTo>
                <a:lnTo>
                  <a:pt x="1759203" y="1172036"/>
                </a:lnTo>
                <a:lnTo>
                  <a:pt x="1746386" y="1217522"/>
                </a:lnTo>
                <a:lnTo>
                  <a:pt x="1731440" y="1262014"/>
                </a:lnTo>
                <a:lnTo>
                  <a:pt x="1714425" y="1305446"/>
                </a:lnTo>
                <a:lnTo>
                  <a:pt x="1695404" y="1347754"/>
                </a:lnTo>
                <a:lnTo>
                  <a:pt x="1674439" y="1388874"/>
                </a:lnTo>
                <a:lnTo>
                  <a:pt x="1651592" y="1428741"/>
                </a:lnTo>
                <a:lnTo>
                  <a:pt x="1626924" y="1467291"/>
                </a:lnTo>
                <a:lnTo>
                  <a:pt x="1600498" y="1504459"/>
                </a:lnTo>
                <a:lnTo>
                  <a:pt x="1572374" y="1540181"/>
                </a:lnTo>
                <a:lnTo>
                  <a:pt x="1542616" y="1574393"/>
                </a:lnTo>
                <a:lnTo>
                  <a:pt x="1511284" y="1607030"/>
                </a:lnTo>
                <a:lnTo>
                  <a:pt x="1478441" y="1638029"/>
                </a:lnTo>
                <a:lnTo>
                  <a:pt x="1444149" y="1667324"/>
                </a:lnTo>
                <a:lnTo>
                  <a:pt x="1408469" y="1694851"/>
                </a:lnTo>
                <a:lnTo>
                  <a:pt x="1371463" y="1720545"/>
                </a:lnTo>
                <a:lnTo>
                  <a:pt x="1333193" y="1744344"/>
                </a:lnTo>
                <a:lnTo>
                  <a:pt x="1293722" y="1766181"/>
                </a:lnTo>
                <a:lnTo>
                  <a:pt x="1253110" y="1785993"/>
                </a:lnTo>
                <a:lnTo>
                  <a:pt x="1211419" y="1803715"/>
                </a:lnTo>
                <a:lnTo>
                  <a:pt x="1168712" y="1819284"/>
                </a:lnTo>
                <a:lnTo>
                  <a:pt x="1125051" y="1832633"/>
                </a:lnTo>
                <a:lnTo>
                  <a:pt x="1080496" y="1843700"/>
                </a:lnTo>
                <a:lnTo>
                  <a:pt x="1035111" y="1852420"/>
                </a:lnTo>
                <a:lnTo>
                  <a:pt x="988957" y="1858728"/>
                </a:lnTo>
                <a:lnTo>
                  <a:pt x="942095" y="1862560"/>
                </a:lnTo>
                <a:lnTo>
                  <a:pt x="894588" y="1863852"/>
                </a:lnTo>
                <a:lnTo>
                  <a:pt x="847077" y="1862560"/>
                </a:lnTo>
                <a:lnTo>
                  <a:pt x="800212" y="1858728"/>
                </a:lnTo>
                <a:lnTo>
                  <a:pt x="754055" y="1852420"/>
                </a:lnTo>
                <a:lnTo>
                  <a:pt x="708667" y="1843700"/>
                </a:lnTo>
                <a:lnTo>
                  <a:pt x="664111" y="1832633"/>
                </a:lnTo>
                <a:lnTo>
                  <a:pt x="620448" y="1819284"/>
                </a:lnTo>
                <a:lnTo>
                  <a:pt x="577740" y="1803715"/>
                </a:lnTo>
                <a:lnTo>
                  <a:pt x="536049" y="1785993"/>
                </a:lnTo>
                <a:lnTo>
                  <a:pt x="495437" y="1766181"/>
                </a:lnTo>
                <a:lnTo>
                  <a:pt x="455965" y="1744344"/>
                </a:lnTo>
                <a:lnTo>
                  <a:pt x="417695" y="1720545"/>
                </a:lnTo>
                <a:lnTo>
                  <a:pt x="380689" y="1694851"/>
                </a:lnTo>
                <a:lnTo>
                  <a:pt x="345010" y="1667324"/>
                </a:lnTo>
                <a:lnTo>
                  <a:pt x="310718" y="1638029"/>
                </a:lnTo>
                <a:lnTo>
                  <a:pt x="277876" y="1607030"/>
                </a:lnTo>
                <a:lnTo>
                  <a:pt x="246545" y="1574393"/>
                </a:lnTo>
                <a:lnTo>
                  <a:pt x="216788" y="1540181"/>
                </a:lnTo>
                <a:lnTo>
                  <a:pt x="188666" y="1504459"/>
                </a:lnTo>
                <a:lnTo>
                  <a:pt x="162240" y="1467291"/>
                </a:lnTo>
                <a:lnTo>
                  <a:pt x="137574" y="1428741"/>
                </a:lnTo>
                <a:lnTo>
                  <a:pt x="114728" y="1388874"/>
                </a:lnTo>
                <a:lnTo>
                  <a:pt x="93764" y="1347754"/>
                </a:lnTo>
                <a:lnTo>
                  <a:pt x="74744" y="1305446"/>
                </a:lnTo>
                <a:lnTo>
                  <a:pt x="57731" y="1262014"/>
                </a:lnTo>
                <a:lnTo>
                  <a:pt x="42785" y="1217522"/>
                </a:lnTo>
                <a:lnTo>
                  <a:pt x="29970" y="1172036"/>
                </a:lnTo>
                <a:lnTo>
                  <a:pt x="19345" y="1125618"/>
                </a:lnTo>
                <a:lnTo>
                  <a:pt x="10974" y="1078333"/>
                </a:lnTo>
                <a:lnTo>
                  <a:pt x="4918" y="1030247"/>
                </a:lnTo>
                <a:lnTo>
                  <a:pt x="1240" y="981423"/>
                </a:lnTo>
                <a:lnTo>
                  <a:pt x="0" y="931926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205" y="1876805"/>
            <a:ext cx="1629410" cy="1697989"/>
          </a:xfrm>
          <a:custGeom>
            <a:avLst/>
            <a:gdLst/>
            <a:ahLst/>
            <a:cxnLst/>
            <a:rect l="l" t="t" r="r" b="b"/>
            <a:pathLst>
              <a:path w="1629410" h="1697989">
                <a:moveTo>
                  <a:pt x="0" y="848868"/>
                </a:moveTo>
                <a:lnTo>
                  <a:pt x="1382" y="798996"/>
                </a:lnTo>
                <a:lnTo>
                  <a:pt x="5480" y="749883"/>
                </a:lnTo>
                <a:lnTo>
                  <a:pt x="12215" y="701607"/>
                </a:lnTo>
                <a:lnTo>
                  <a:pt x="21513" y="654249"/>
                </a:lnTo>
                <a:lnTo>
                  <a:pt x="33296" y="607888"/>
                </a:lnTo>
                <a:lnTo>
                  <a:pt x="47488" y="562603"/>
                </a:lnTo>
                <a:lnTo>
                  <a:pt x="64012" y="518475"/>
                </a:lnTo>
                <a:lnTo>
                  <a:pt x="82793" y="475583"/>
                </a:lnTo>
                <a:lnTo>
                  <a:pt x="103754" y="434007"/>
                </a:lnTo>
                <a:lnTo>
                  <a:pt x="126818" y="393826"/>
                </a:lnTo>
                <a:lnTo>
                  <a:pt x="151909" y="355120"/>
                </a:lnTo>
                <a:lnTo>
                  <a:pt x="178951" y="317969"/>
                </a:lnTo>
                <a:lnTo>
                  <a:pt x="207868" y="282452"/>
                </a:lnTo>
                <a:lnTo>
                  <a:pt x="238582" y="248650"/>
                </a:lnTo>
                <a:lnTo>
                  <a:pt x="271017" y="216641"/>
                </a:lnTo>
                <a:lnTo>
                  <a:pt x="305098" y="186505"/>
                </a:lnTo>
                <a:lnTo>
                  <a:pt x="340748" y="158323"/>
                </a:lnTo>
                <a:lnTo>
                  <a:pt x="377889" y="132173"/>
                </a:lnTo>
                <a:lnTo>
                  <a:pt x="416447" y="108135"/>
                </a:lnTo>
                <a:lnTo>
                  <a:pt x="456344" y="86290"/>
                </a:lnTo>
                <a:lnTo>
                  <a:pt x="497505" y="66716"/>
                </a:lnTo>
                <a:lnTo>
                  <a:pt x="539852" y="49494"/>
                </a:lnTo>
                <a:lnTo>
                  <a:pt x="583309" y="34702"/>
                </a:lnTo>
                <a:lnTo>
                  <a:pt x="627800" y="22422"/>
                </a:lnTo>
                <a:lnTo>
                  <a:pt x="673249" y="12732"/>
                </a:lnTo>
                <a:lnTo>
                  <a:pt x="719579" y="5711"/>
                </a:lnTo>
                <a:lnTo>
                  <a:pt x="766714" y="1441"/>
                </a:lnTo>
                <a:lnTo>
                  <a:pt x="814578" y="0"/>
                </a:lnTo>
                <a:lnTo>
                  <a:pt x="862436" y="1441"/>
                </a:lnTo>
                <a:lnTo>
                  <a:pt x="909566" y="5711"/>
                </a:lnTo>
                <a:lnTo>
                  <a:pt x="955893" y="12732"/>
                </a:lnTo>
                <a:lnTo>
                  <a:pt x="1001339" y="22422"/>
                </a:lnTo>
                <a:lnTo>
                  <a:pt x="1045828" y="34702"/>
                </a:lnTo>
                <a:lnTo>
                  <a:pt x="1089283" y="49494"/>
                </a:lnTo>
                <a:lnTo>
                  <a:pt x="1131629" y="66716"/>
                </a:lnTo>
                <a:lnTo>
                  <a:pt x="1172789" y="86290"/>
                </a:lnTo>
                <a:lnTo>
                  <a:pt x="1212685" y="108135"/>
                </a:lnTo>
                <a:lnTo>
                  <a:pt x="1251243" y="132173"/>
                </a:lnTo>
                <a:lnTo>
                  <a:pt x="1288385" y="158323"/>
                </a:lnTo>
                <a:lnTo>
                  <a:pt x="1324036" y="186505"/>
                </a:lnTo>
                <a:lnTo>
                  <a:pt x="1358117" y="216641"/>
                </a:lnTo>
                <a:lnTo>
                  <a:pt x="1390554" y="248650"/>
                </a:lnTo>
                <a:lnTo>
                  <a:pt x="1421270" y="282452"/>
                </a:lnTo>
                <a:lnTo>
                  <a:pt x="1450188" y="317969"/>
                </a:lnTo>
                <a:lnTo>
                  <a:pt x="1477231" y="355120"/>
                </a:lnTo>
                <a:lnTo>
                  <a:pt x="1502324" y="393826"/>
                </a:lnTo>
                <a:lnTo>
                  <a:pt x="1525390" y="434007"/>
                </a:lnTo>
                <a:lnTo>
                  <a:pt x="1546353" y="475583"/>
                </a:lnTo>
                <a:lnTo>
                  <a:pt x="1565136" y="518475"/>
                </a:lnTo>
                <a:lnTo>
                  <a:pt x="1581662" y="562603"/>
                </a:lnTo>
                <a:lnTo>
                  <a:pt x="1595855" y="607888"/>
                </a:lnTo>
                <a:lnTo>
                  <a:pt x="1607640" y="654249"/>
                </a:lnTo>
                <a:lnTo>
                  <a:pt x="1616938" y="701607"/>
                </a:lnTo>
                <a:lnTo>
                  <a:pt x="1623675" y="749883"/>
                </a:lnTo>
                <a:lnTo>
                  <a:pt x="1627773" y="798996"/>
                </a:lnTo>
                <a:lnTo>
                  <a:pt x="1629156" y="848868"/>
                </a:lnTo>
                <a:lnTo>
                  <a:pt x="1627773" y="898739"/>
                </a:lnTo>
                <a:lnTo>
                  <a:pt x="1623675" y="947852"/>
                </a:lnTo>
                <a:lnTo>
                  <a:pt x="1616938" y="996128"/>
                </a:lnTo>
                <a:lnTo>
                  <a:pt x="1607640" y="1043486"/>
                </a:lnTo>
                <a:lnTo>
                  <a:pt x="1595855" y="1089847"/>
                </a:lnTo>
                <a:lnTo>
                  <a:pt x="1581662" y="1135132"/>
                </a:lnTo>
                <a:lnTo>
                  <a:pt x="1565136" y="1179260"/>
                </a:lnTo>
                <a:lnTo>
                  <a:pt x="1546353" y="1222152"/>
                </a:lnTo>
                <a:lnTo>
                  <a:pt x="1525390" y="1263728"/>
                </a:lnTo>
                <a:lnTo>
                  <a:pt x="1502324" y="1303909"/>
                </a:lnTo>
                <a:lnTo>
                  <a:pt x="1477231" y="1342615"/>
                </a:lnTo>
                <a:lnTo>
                  <a:pt x="1450188" y="1379766"/>
                </a:lnTo>
                <a:lnTo>
                  <a:pt x="1421270" y="1415283"/>
                </a:lnTo>
                <a:lnTo>
                  <a:pt x="1390554" y="1449085"/>
                </a:lnTo>
                <a:lnTo>
                  <a:pt x="1358117" y="1481094"/>
                </a:lnTo>
                <a:lnTo>
                  <a:pt x="1324036" y="1511230"/>
                </a:lnTo>
                <a:lnTo>
                  <a:pt x="1288385" y="1539412"/>
                </a:lnTo>
                <a:lnTo>
                  <a:pt x="1251243" y="1565562"/>
                </a:lnTo>
                <a:lnTo>
                  <a:pt x="1212685" y="1589600"/>
                </a:lnTo>
                <a:lnTo>
                  <a:pt x="1172789" y="1611445"/>
                </a:lnTo>
                <a:lnTo>
                  <a:pt x="1131629" y="1631019"/>
                </a:lnTo>
                <a:lnTo>
                  <a:pt x="1089283" y="1648241"/>
                </a:lnTo>
                <a:lnTo>
                  <a:pt x="1045828" y="1663033"/>
                </a:lnTo>
                <a:lnTo>
                  <a:pt x="1001339" y="1675313"/>
                </a:lnTo>
                <a:lnTo>
                  <a:pt x="955893" y="1685003"/>
                </a:lnTo>
                <a:lnTo>
                  <a:pt x="909566" y="1692024"/>
                </a:lnTo>
                <a:lnTo>
                  <a:pt x="862436" y="1696294"/>
                </a:lnTo>
                <a:lnTo>
                  <a:pt x="814578" y="1697736"/>
                </a:lnTo>
                <a:lnTo>
                  <a:pt x="766714" y="1696294"/>
                </a:lnTo>
                <a:lnTo>
                  <a:pt x="719579" y="1692024"/>
                </a:lnTo>
                <a:lnTo>
                  <a:pt x="673249" y="1685003"/>
                </a:lnTo>
                <a:lnTo>
                  <a:pt x="627800" y="1675313"/>
                </a:lnTo>
                <a:lnTo>
                  <a:pt x="583309" y="1663033"/>
                </a:lnTo>
                <a:lnTo>
                  <a:pt x="539852" y="1648241"/>
                </a:lnTo>
                <a:lnTo>
                  <a:pt x="497505" y="1631019"/>
                </a:lnTo>
                <a:lnTo>
                  <a:pt x="456344" y="1611445"/>
                </a:lnTo>
                <a:lnTo>
                  <a:pt x="416447" y="1589600"/>
                </a:lnTo>
                <a:lnTo>
                  <a:pt x="377889" y="1565562"/>
                </a:lnTo>
                <a:lnTo>
                  <a:pt x="340748" y="1539412"/>
                </a:lnTo>
                <a:lnTo>
                  <a:pt x="305098" y="1511230"/>
                </a:lnTo>
                <a:lnTo>
                  <a:pt x="271017" y="1481094"/>
                </a:lnTo>
                <a:lnTo>
                  <a:pt x="238582" y="1449085"/>
                </a:lnTo>
                <a:lnTo>
                  <a:pt x="207868" y="1415283"/>
                </a:lnTo>
                <a:lnTo>
                  <a:pt x="178951" y="1379766"/>
                </a:lnTo>
                <a:lnTo>
                  <a:pt x="151909" y="1342615"/>
                </a:lnTo>
                <a:lnTo>
                  <a:pt x="126818" y="1303909"/>
                </a:lnTo>
                <a:lnTo>
                  <a:pt x="103754" y="1263728"/>
                </a:lnTo>
                <a:lnTo>
                  <a:pt x="82793" y="1222152"/>
                </a:lnTo>
                <a:lnTo>
                  <a:pt x="64012" y="1179260"/>
                </a:lnTo>
                <a:lnTo>
                  <a:pt x="47488" y="1135132"/>
                </a:lnTo>
                <a:lnTo>
                  <a:pt x="33296" y="1089847"/>
                </a:lnTo>
                <a:lnTo>
                  <a:pt x="21513" y="1043486"/>
                </a:lnTo>
                <a:lnTo>
                  <a:pt x="12215" y="996128"/>
                </a:lnTo>
                <a:lnTo>
                  <a:pt x="5480" y="947852"/>
                </a:lnTo>
                <a:lnTo>
                  <a:pt x="1382" y="898739"/>
                </a:lnTo>
                <a:lnTo>
                  <a:pt x="0" y="848868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2303" y="2094357"/>
            <a:ext cx="7573645" cy="1374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3800"/>
              </a:lnSpc>
              <a:spcBef>
                <a:spcPts val="105"/>
              </a:spcBef>
              <a:tabLst>
                <a:tab pos="1750060" algn="l"/>
                <a:tab pos="2207260" algn="l"/>
              </a:tabLst>
            </a:pPr>
            <a:r>
              <a:rPr sz="4800" baseline="-17361" dirty="0">
                <a:latin typeface="方正姚体"/>
                <a:cs typeface="方正姚体"/>
              </a:rPr>
              <a:t>功能点	</a:t>
            </a:r>
            <a:r>
              <a:rPr sz="2800" spc="-5" dirty="0">
                <a:solidFill>
                  <a:srgbClr val="080808"/>
                </a:solidFill>
                <a:latin typeface="Wingdings"/>
                <a:cs typeface="Wingdings"/>
              </a:rPr>
              <a:t></a:t>
            </a:r>
            <a:r>
              <a:rPr sz="2800" spc="-5" dirty="0">
                <a:solidFill>
                  <a:srgbClr val="080808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080808"/>
                </a:solidFill>
                <a:latin typeface="华文新魏"/>
                <a:cs typeface="华文新魏"/>
              </a:rPr>
              <a:t>与实现的语言和技术没有关系</a:t>
            </a:r>
            <a:endParaRPr sz="2800">
              <a:latin typeface="华文新魏"/>
              <a:cs typeface="华文新魏"/>
            </a:endParaRPr>
          </a:p>
          <a:p>
            <a:pPr marL="2207260" indent="-457834">
              <a:lnSpc>
                <a:spcPts val="3150"/>
              </a:lnSpc>
              <a:buFont typeface="Wingdings"/>
              <a:buChar char=""/>
              <a:tabLst>
                <a:tab pos="2207260" algn="l"/>
                <a:tab pos="2207895" algn="l"/>
              </a:tabLst>
            </a:pPr>
            <a:r>
              <a:rPr sz="2800" spc="-5" dirty="0">
                <a:latin typeface="华文新魏"/>
                <a:cs typeface="华文新魏"/>
              </a:rPr>
              <a:t>用系统的功能数量来测量其规模</a:t>
            </a:r>
            <a:endParaRPr sz="2800">
              <a:latin typeface="华文新魏"/>
              <a:cs typeface="华文新魏"/>
            </a:endParaRPr>
          </a:p>
          <a:p>
            <a:pPr marL="240665">
              <a:lnSpc>
                <a:spcPts val="3670"/>
              </a:lnSpc>
              <a:tabLst>
                <a:tab pos="1750060" algn="l"/>
                <a:tab pos="2207260" algn="l"/>
              </a:tabLst>
            </a:pPr>
            <a:r>
              <a:rPr sz="3200" dirty="0">
                <a:latin typeface="方正姚体"/>
                <a:cs typeface="方正姚体"/>
              </a:rPr>
              <a:t>估算	</a:t>
            </a:r>
            <a:r>
              <a:rPr sz="2800" spc="-5" dirty="0">
                <a:solidFill>
                  <a:srgbClr val="080808"/>
                </a:solidFill>
                <a:latin typeface="Wingdings"/>
                <a:cs typeface="Wingdings"/>
              </a:rPr>
              <a:t></a:t>
            </a:r>
            <a:r>
              <a:rPr sz="2800" spc="-5" dirty="0">
                <a:solidFill>
                  <a:srgbClr val="080808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080808"/>
                </a:solidFill>
                <a:latin typeface="华文新魏"/>
                <a:cs typeface="华文新魏"/>
              </a:rPr>
              <a:t>通过评估、</a:t>
            </a:r>
            <a:r>
              <a:rPr sz="2800" spc="-15" dirty="0">
                <a:solidFill>
                  <a:srgbClr val="080808"/>
                </a:solidFill>
                <a:latin typeface="华文新魏"/>
                <a:cs typeface="华文新魏"/>
              </a:rPr>
              <a:t>加</a:t>
            </a:r>
            <a:r>
              <a:rPr sz="2800" spc="-5" dirty="0">
                <a:latin typeface="华文新魏"/>
                <a:cs typeface="华文新魏"/>
              </a:rPr>
              <a:t>权、量化得出</a:t>
            </a:r>
            <a:r>
              <a:rPr sz="2800" spc="-5" dirty="0">
                <a:solidFill>
                  <a:srgbClr val="080808"/>
                </a:solidFill>
                <a:latin typeface="华文新魏"/>
                <a:cs typeface="华文新魏"/>
              </a:rPr>
              <a:t>功能点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191" y="322833"/>
            <a:ext cx="83553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  <a:r>
              <a:rPr spc="85" dirty="0"/>
              <a:t> </a:t>
            </a:r>
            <a:r>
              <a:rPr i="0" spc="20" dirty="0">
                <a:latin typeface="Tw Cen MT"/>
                <a:cs typeface="Tw Cen MT"/>
              </a:rPr>
              <a:t>Albrecht</a:t>
            </a:r>
            <a:r>
              <a:rPr dirty="0"/>
              <a:t>功能点估算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213" y="1600961"/>
            <a:ext cx="8578850" cy="1762125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4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0845" algn="l"/>
              </a:tabLst>
            </a:pPr>
            <a:r>
              <a:rPr sz="2900" spc="5" dirty="0">
                <a:latin typeface="Tw Cen MT"/>
                <a:cs typeface="Tw Cen MT"/>
              </a:rPr>
              <a:t>1979</a:t>
            </a:r>
            <a:r>
              <a:rPr sz="2900" dirty="0">
                <a:latin typeface="华文仿宋"/>
                <a:cs typeface="华文仿宋"/>
              </a:rPr>
              <a:t>年</a:t>
            </a:r>
            <a:r>
              <a:rPr sz="2900" dirty="0">
                <a:latin typeface="Tw Cen MT"/>
                <a:cs typeface="Tw Cen MT"/>
              </a:rPr>
              <a:t>,</a:t>
            </a:r>
            <a:r>
              <a:rPr sz="2900" spc="-4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Alan </a:t>
            </a:r>
            <a:r>
              <a:rPr sz="2900" spc="15" dirty="0">
                <a:latin typeface="Tw Cen MT"/>
                <a:cs typeface="Tw Cen MT"/>
              </a:rPr>
              <a:t>Albrecht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提出</a:t>
            </a:r>
            <a:endParaRPr sz="2900">
              <a:latin typeface="华文仿宋"/>
              <a:cs typeface="华文仿宋"/>
            </a:endParaRPr>
          </a:p>
          <a:p>
            <a:pPr marL="410209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0845" algn="l"/>
              </a:tabLst>
            </a:pPr>
            <a:r>
              <a:rPr sz="2900" dirty="0">
                <a:latin typeface="华文仿宋"/>
                <a:cs typeface="华文仿宋"/>
              </a:rPr>
              <a:t>也称为</a:t>
            </a:r>
            <a:r>
              <a:rPr sz="2900" spc="-5" dirty="0">
                <a:latin typeface="Tw Cen MT"/>
                <a:cs typeface="Tw Cen MT"/>
              </a:rPr>
              <a:t>IFPUG(</a:t>
            </a:r>
            <a:r>
              <a:rPr sz="2900" dirty="0">
                <a:latin typeface="华文仿宋"/>
                <a:cs typeface="华文仿宋"/>
              </a:rPr>
              <a:t>国际功能</a:t>
            </a:r>
            <a:r>
              <a:rPr sz="2900" spc="-15" dirty="0">
                <a:latin typeface="华文仿宋"/>
                <a:cs typeface="华文仿宋"/>
              </a:rPr>
              <a:t>点</a:t>
            </a:r>
            <a:r>
              <a:rPr sz="2900" dirty="0">
                <a:latin typeface="华文仿宋"/>
                <a:cs typeface="华文仿宋"/>
              </a:rPr>
              <a:t>用户</a:t>
            </a:r>
            <a:r>
              <a:rPr sz="2900" spc="-15" dirty="0">
                <a:latin typeface="华文仿宋"/>
                <a:cs typeface="华文仿宋"/>
              </a:rPr>
              <a:t>组</a:t>
            </a:r>
            <a:r>
              <a:rPr sz="2900" dirty="0">
                <a:latin typeface="华文仿宋"/>
                <a:cs typeface="华文仿宋"/>
              </a:rPr>
              <a:t>织</a:t>
            </a:r>
            <a:r>
              <a:rPr sz="2900" spc="5" dirty="0">
                <a:latin typeface="Tw Cen MT"/>
                <a:cs typeface="Tw Cen MT"/>
              </a:rPr>
              <a:t>)</a:t>
            </a:r>
            <a:r>
              <a:rPr sz="2900" spc="-15" dirty="0">
                <a:latin typeface="华文仿宋"/>
                <a:cs typeface="华文仿宋"/>
              </a:rPr>
              <a:t>功</a:t>
            </a:r>
            <a:r>
              <a:rPr sz="2900" dirty="0">
                <a:latin typeface="华文仿宋"/>
                <a:cs typeface="华文仿宋"/>
              </a:rPr>
              <a:t>能点</a:t>
            </a:r>
            <a:endParaRPr sz="2900">
              <a:latin typeface="华文仿宋"/>
              <a:cs typeface="华文仿宋"/>
            </a:endParaRPr>
          </a:p>
          <a:p>
            <a:pPr marL="410209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0845" algn="l"/>
              </a:tabLst>
            </a:pPr>
            <a:r>
              <a:rPr sz="2900" dirty="0">
                <a:latin typeface="华文仿宋"/>
                <a:cs typeface="华文仿宋"/>
              </a:rPr>
              <a:t>适用于信息系统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84960" y="4043171"/>
            <a:ext cx="7559040" cy="1626235"/>
          </a:xfrm>
          <a:custGeom>
            <a:avLst/>
            <a:gdLst/>
            <a:ahLst/>
            <a:cxnLst/>
            <a:rect l="l" t="t" r="r" b="b"/>
            <a:pathLst>
              <a:path w="7559040" h="1626235">
                <a:moveTo>
                  <a:pt x="7388606" y="0"/>
                </a:moveTo>
                <a:lnTo>
                  <a:pt x="207009" y="0"/>
                </a:lnTo>
                <a:lnTo>
                  <a:pt x="159553" y="5468"/>
                </a:lnTo>
                <a:lnTo>
                  <a:pt x="115984" y="21045"/>
                </a:lnTo>
                <a:lnTo>
                  <a:pt x="77547" y="45486"/>
                </a:lnTo>
                <a:lnTo>
                  <a:pt x="45486" y="77547"/>
                </a:lnTo>
                <a:lnTo>
                  <a:pt x="21045" y="115984"/>
                </a:lnTo>
                <a:lnTo>
                  <a:pt x="5468" y="159553"/>
                </a:lnTo>
                <a:lnTo>
                  <a:pt x="0" y="207009"/>
                </a:lnTo>
                <a:lnTo>
                  <a:pt x="0" y="1419097"/>
                </a:lnTo>
                <a:lnTo>
                  <a:pt x="5468" y="1466554"/>
                </a:lnTo>
                <a:lnTo>
                  <a:pt x="21045" y="1510123"/>
                </a:lnTo>
                <a:lnTo>
                  <a:pt x="45486" y="1548560"/>
                </a:lnTo>
                <a:lnTo>
                  <a:pt x="77547" y="1580621"/>
                </a:lnTo>
                <a:lnTo>
                  <a:pt x="115984" y="1605062"/>
                </a:lnTo>
                <a:lnTo>
                  <a:pt x="159553" y="1620639"/>
                </a:lnTo>
                <a:lnTo>
                  <a:pt x="207009" y="1626108"/>
                </a:lnTo>
                <a:lnTo>
                  <a:pt x="7388606" y="1626108"/>
                </a:lnTo>
                <a:lnTo>
                  <a:pt x="7436062" y="1620639"/>
                </a:lnTo>
                <a:lnTo>
                  <a:pt x="7479631" y="1605062"/>
                </a:lnTo>
                <a:lnTo>
                  <a:pt x="7518068" y="1580621"/>
                </a:lnTo>
                <a:lnTo>
                  <a:pt x="7550129" y="1548560"/>
                </a:lnTo>
                <a:lnTo>
                  <a:pt x="7559040" y="1534546"/>
                </a:lnTo>
                <a:lnTo>
                  <a:pt x="7559040" y="91561"/>
                </a:lnTo>
                <a:lnTo>
                  <a:pt x="7518068" y="45486"/>
                </a:lnTo>
                <a:lnTo>
                  <a:pt x="7479631" y="21045"/>
                </a:lnTo>
                <a:lnTo>
                  <a:pt x="7436062" y="5468"/>
                </a:lnTo>
                <a:lnTo>
                  <a:pt x="7388606" y="0"/>
                </a:lnTo>
                <a:close/>
              </a:path>
            </a:pathLst>
          </a:custGeom>
          <a:solidFill>
            <a:srgbClr val="EB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442" y="3789426"/>
            <a:ext cx="1952625" cy="2033270"/>
          </a:xfrm>
          <a:custGeom>
            <a:avLst/>
            <a:gdLst/>
            <a:ahLst/>
            <a:cxnLst/>
            <a:rect l="l" t="t" r="r" b="b"/>
            <a:pathLst>
              <a:path w="1952625" h="2033270">
                <a:moveTo>
                  <a:pt x="976121" y="0"/>
                </a:moveTo>
                <a:lnTo>
                  <a:pt x="928827" y="1172"/>
                </a:lnTo>
                <a:lnTo>
                  <a:pt x="882114" y="4653"/>
                </a:lnTo>
                <a:lnTo>
                  <a:pt x="836032" y="10391"/>
                </a:lnTo>
                <a:lnTo>
                  <a:pt x="790634" y="18331"/>
                </a:lnTo>
                <a:lnTo>
                  <a:pt x="745970" y="28420"/>
                </a:lnTo>
                <a:lnTo>
                  <a:pt x="702092" y="40606"/>
                </a:lnTo>
                <a:lnTo>
                  <a:pt x="659051" y="54834"/>
                </a:lnTo>
                <a:lnTo>
                  <a:pt x="616897" y="71052"/>
                </a:lnTo>
                <a:lnTo>
                  <a:pt x="575682" y="89206"/>
                </a:lnTo>
                <a:lnTo>
                  <a:pt x="535457" y="109243"/>
                </a:lnTo>
                <a:lnTo>
                  <a:pt x="496273" y="131110"/>
                </a:lnTo>
                <a:lnTo>
                  <a:pt x="458181" y="154753"/>
                </a:lnTo>
                <a:lnTo>
                  <a:pt x="421233" y="180120"/>
                </a:lnTo>
                <a:lnTo>
                  <a:pt x="385480" y="207156"/>
                </a:lnTo>
                <a:lnTo>
                  <a:pt x="350972" y="235809"/>
                </a:lnTo>
                <a:lnTo>
                  <a:pt x="317760" y="266025"/>
                </a:lnTo>
                <a:lnTo>
                  <a:pt x="285897" y="297751"/>
                </a:lnTo>
                <a:lnTo>
                  <a:pt x="255433" y="330934"/>
                </a:lnTo>
                <a:lnTo>
                  <a:pt x="226419" y="365520"/>
                </a:lnTo>
                <a:lnTo>
                  <a:pt x="198906" y="401457"/>
                </a:lnTo>
                <a:lnTo>
                  <a:pt x="172946" y="438691"/>
                </a:lnTo>
                <a:lnTo>
                  <a:pt x="148589" y="477168"/>
                </a:lnTo>
                <a:lnTo>
                  <a:pt x="125887" y="516835"/>
                </a:lnTo>
                <a:lnTo>
                  <a:pt x="104891" y="557640"/>
                </a:lnTo>
                <a:lnTo>
                  <a:pt x="85652" y="599529"/>
                </a:lnTo>
                <a:lnTo>
                  <a:pt x="68221" y="642448"/>
                </a:lnTo>
                <a:lnTo>
                  <a:pt x="52649" y="686344"/>
                </a:lnTo>
                <a:lnTo>
                  <a:pt x="38988" y="731165"/>
                </a:lnTo>
                <a:lnTo>
                  <a:pt x="27288" y="776856"/>
                </a:lnTo>
                <a:lnTo>
                  <a:pt x="17600" y="823364"/>
                </a:lnTo>
                <a:lnTo>
                  <a:pt x="9977" y="870637"/>
                </a:lnTo>
                <a:lnTo>
                  <a:pt x="4468" y="918621"/>
                </a:lnTo>
                <a:lnTo>
                  <a:pt x="1125" y="967262"/>
                </a:lnTo>
                <a:lnTo>
                  <a:pt x="0" y="1016507"/>
                </a:lnTo>
                <a:lnTo>
                  <a:pt x="1125" y="1065753"/>
                </a:lnTo>
                <a:lnTo>
                  <a:pt x="4468" y="1114394"/>
                </a:lnTo>
                <a:lnTo>
                  <a:pt x="9977" y="1162378"/>
                </a:lnTo>
                <a:lnTo>
                  <a:pt x="17600" y="1209651"/>
                </a:lnTo>
                <a:lnTo>
                  <a:pt x="27288" y="1256159"/>
                </a:lnTo>
                <a:lnTo>
                  <a:pt x="38988" y="1301850"/>
                </a:lnTo>
                <a:lnTo>
                  <a:pt x="52649" y="1346671"/>
                </a:lnTo>
                <a:lnTo>
                  <a:pt x="68221" y="1390567"/>
                </a:lnTo>
                <a:lnTo>
                  <a:pt x="85652" y="1433486"/>
                </a:lnTo>
                <a:lnTo>
                  <a:pt x="104891" y="1475375"/>
                </a:lnTo>
                <a:lnTo>
                  <a:pt x="125887" y="1516180"/>
                </a:lnTo>
                <a:lnTo>
                  <a:pt x="148589" y="1555847"/>
                </a:lnTo>
                <a:lnTo>
                  <a:pt x="172946" y="1594324"/>
                </a:lnTo>
                <a:lnTo>
                  <a:pt x="198906" y="1631558"/>
                </a:lnTo>
                <a:lnTo>
                  <a:pt x="226419" y="1667495"/>
                </a:lnTo>
                <a:lnTo>
                  <a:pt x="255433" y="1702081"/>
                </a:lnTo>
                <a:lnTo>
                  <a:pt x="285897" y="1735264"/>
                </a:lnTo>
                <a:lnTo>
                  <a:pt x="317760" y="1766990"/>
                </a:lnTo>
                <a:lnTo>
                  <a:pt x="350972" y="1797206"/>
                </a:lnTo>
                <a:lnTo>
                  <a:pt x="385480" y="1825859"/>
                </a:lnTo>
                <a:lnTo>
                  <a:pt x="421233" y="1852895"/>
                </a:lnTo>
                <a:lnTo>
                  <a:pt x="458181" y="1878262"/>
                </a:lnTo>
                <a:lnTo>
                  <a:pt x="496273" y="1901905"/>
                </a:lnTo>
                <a:lnTo>
                  <a:pt x="535457" y="1923772"/>
                </a:lnTo>
                <a:lnTo>
                  <a:pt x="575682" y="1943809"/>
                </a:lnTo>
                <a:lnTo>
                  <a:pt x="616897" y="1961963"/>
                </a:lnTo>
                <a:lnTo>
                  <a:pt x="659051" y="1978181"/>
                </a:lnTo>
                <a:lnTo>
                  <a:pt x="702092" y="1992409"/>
                </a:lnTo>
                <a:lnTo>
                  <a:pt x="745970" y="2004595"/>
                </a:lnTo>
                <a:lnTo>
                  <a:pt x="790634" y="2014684"/>
                </a:lnTo>
                <a:lnTo>
                  <a:pt x="836032" y="2022624"/>
                </a:lnTo>
                <a:lnTo>
                  <a:pt x="882114" y="2028362"/>
                </a:lnTo>
                <a:lnTo>
                  <a:pt x="928827" y="2031843"/>
                </a:lnTo>
                <a:lnTo>
                  <a:pt x="976121" y="2033015"/>
                </a:lnTo>
                <a:lnTo>
                  <a:pt x="1023417" y="2031843"/>
                </a:lnTo>
                <a:lnTo>
                  <a:pt x="1070131" y="2028362"/>
                </a:lnTo>
                <a:lnTo>
                  <a:pt x="1116213" y="2022624"/>
                </a:lnTo>
                <a:lnTo>
                  <a:pt x="1161612" y="2014684"/>
                </a:lnTo>
                <a:lnTo>
                  <a:pt x="1206277" y="2004595"/>
                </a:lnTo>
                <a:lnTo>
                  <a:pt x="1250155" y="1992409"/>
                </a:lnTo>
                <a:lnTo>
                  <a:pt x="1293197" y="1978181"/>
                </a:lnTo>
                <a:lnTo>
                  <a:pt x="1335352" y="1961963"/>
                </a:lnTo>
                <a:lnTo>
                  <a:pt x="1376567" y="1943809"/>
                </a:lnTo>
                <a:lnTo>
                  <a:pt x="1416792" y="1923772"/>
                </a:lnTo>
                <a:lnTo>
                  <a:pt x="1455976" y="1901905"/>
                </a:lnTo>
                <a:lnTo>
                  <a:pt x="1494067" y="1878262"/>
                </a:lnTo>
                <a:lnTo>
                  <a:pt x="1531015" y="1852895"/>
                </a:lnTo>
                <a:lnTo>
                  <a:pt x="1566769" y="1825859"/>
                </a:lnTo>
                <a:lnTo>
                  <a:pt x="1601277" y="1797206"/>
                </a:lnTo>
                <a:lnTo>
                  <a:pt x="1634488" y="1766990"/>
                </a:lnTo>
                <a:lnTo>
                  <a:pt x="1666351" y="1735264"/>
                </a:lnTo>
                <a:lnTo>
                  <a:pt x="1696815" y="1702081"/>
                </a:lnTo>
                <a:lnTo>
                  <a:pt x="1725828" y="1667495"/>
                </a:lnTo>
                <a:lnTo>
                  <a:pt x="1753341" y="1631558"/>
                </a:lnTo>
                <a:lnTo>
                  <a:pt x="1779300" y="1594324"/>
                </a:lnTo>
                <a:lnTo>
                  <a:pt x="1803657" y="1555847"/>
                </a:lnTo>
                <a:lnTo>
                  <a:pt x="1826358" y="1516180"/>
                </a:lnTo>
                <a:lnTo>
                  <a:pt x="1847354" y="1475375"/>
                </a:lnTo>
                <a:lnTo>
                  <a:pt x="1866593" y="1433486"/>
                </a:lnTo>
                <a:lnTo>
                  <a:pt x="1884024" y="1390567"/>
                </a:lnTo>
                <a:lnTo>
                  <a:pt x="1899595" y="1346671"/>
                </a:lnTo>
                <a:lnTo>
                  <a:pt x="1913256" y="1301850"/>
                </a:lnTo>
                <a:lnTo>
                  <a:pt x="1924956" y="1256159"/>
                </a:lnTo>
                <a:lnTo>
                  <a:pt x="1934643" y="1209651"/>
                </a:lnTo>
                <a:lnTo>
                  <a:pt x="1942267" y="1162378"/>
                </a:lnTo>
                <a:lnTo>
                  <a:pt x="1947775" y="1114394"/>
                </a:lnTo>
                <a:lnTo>
                  <a:pt x="1951118" y="1065753"/>
                </a:lnTo>
                <a:lnTo>
                  <a:pt x="1952244" y="1016507"/>
                </a:lnTo>
                <a:lnTo>
                  <a:pt x="1951118" y="967262"/>
                </a:lnTo>
                <a:lnTo>
                  <a:pt x="1947775" y="918621"/>
                </a:lnTo>
                <a:lnTo>
                  <a:pt x="1942267" y="870637"/>
                </a:lnTo>
                <a:lnTo>
                  <a:pt x="1934643" y="823364"/>
                </a:lnTo>
                <a:lnTo>
                  <a:pt x="1924956" y="776856"/>
                </a:lnTo>
                <a:lnTo>
                  <a:pt x="1913256" y="731165"/>
                </a:lnTo>
                <a:lnTo>
                  <a:pt x="1899595" y="686344"/>
                </a:lnTo>
                <a:lnTo>
                  <a:pt x="1884024" y="642448"/>
                </a:lnTo>
                <a:lnTo>
                  <a:pt x="1866593" y="599529"/>
                </a:lnTo>
                <a:lnTo>
                  <a:pt x="1847354" y="557640"/>
                </a:lnTo>
                <a:lnTo>
                  <a:pt x="1826358" y="516835"/>
                </a:lnTo>
                <a:lnTo>
                  <a:pt x="1803657" y="477168"/>
                </a:lnTo>
                <a:lnTo>
                  <a:pt x="1779300" y="438691"/>
                </a:lnTo>
                <a:lnTo>
                  <a:pt x="1753341" y="401457"/>
                </a:lnTo>
                <a:lnTo>
                  <a:pt x="1725828" y="365520"/>
                </a:lnTo>
                <a:lnTo>
                  <a:pt x="1696815" y="330934"/>
                </a:lnTo>
                <a:lnTo>
                  <a:pt x="1666351" y="297751"/>
                </a:lnTo>
                <a:lnTo>
                  <a:pt x="1634488" y="266025"/>
                </a:lnTo>
                <a:lnTo>
                  <a:pt x="1601277" y="235809"/>
                </a:lnTo>
                <a:lnTo>
                  <a:pt x="1566769" y="207156"/>
                </a:lnTo>
                <a:lnTo>
                  <a:pt x="1531015" y="180120"/>
                </a:lnTo>
                <a:lnTo>
                  <a:pt x="1494067" y="154753"/>
                </a:lnTo>
                <a:lnTo>
                  <a:pt x="1455976" y="131110"/>
                </a:lnTo>
                <a:lnTo>
                  <a:pt x="1416792" y="109243"/>
                </a:lnTo>
                <a:lnTo>
                  <a:pt x="1376567" y="89206"/>
                </a:lnTo>
                <a:lnTo>
                  <a:pt x="1335352" y="71052"/>
                </a:lnTo>
                <a:lnTo>
                  <a:pt x="1293197" y="54834"/>
                </a:lnTo>
                <a:lnTo>
                  <a:pt x="1250155" y="40606"/>
                </a:lnTo>
                <a:lnTo>
                  <a:pt x="1206277" y="28420"/>
                </a:lnTo>
                <a:lnTo>
                  <a:pt x="1161612" y="18331"/>
                </a:lnTo>
                <a:lnTo>
                  <a:pt x="1116213" y="10391"/>
                </a:lnTo>
                <a:lnTo>
                  <a:pt x="1070131" y="4653"/>
                </a:lnTo>
                <a:lnTo>
                  <a:pt x="1023417" y="1172"/>
                </a:lnTo>
                <a:lnTo>
                  <a:pt x="976121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442" y="3789426"/>
            <a:ext cx="1952625" cy="2033270"/>
          </a:xfrm>
          <a:custGeom>
            <a:avLst/>
            <a:gdLst/>
            <a:ahLst/>
            <a:cxnLst/>
            <a:rect l="l" t="t" r="r" b="b"/>
            <a:pathLst>
              <a:path w="1952625" h="2033270">
                <a:moveTo>
                  <a:pt x="0" y="1016507"/>
                </a:moveTo>
                <a:lnTo>
                  <a:pt x="1125" y="967262"/>
                </a:lnTo>
                <a:lnTo>
                  <a:pt x="4468" y="918621"/>
                </a:lnTo>
                <a:lnTo>
                  <a:pt x="9977" y="870637"/>
                </a:lnTo>
                <a:lnTo>
                  <a:pt x="17600" y="823364"/>
                </a:lnTo>
                <a:lnTo>
                  <a:pt x="27288" y="776856"/>
                </a:lnTo>
                <a:lnTo>
                  <a:pt x="38988" y="731165"/>
                </a:lnTo>
                <a:lnTo>
                  <a:pt x="52649" y="686344"/>
                </a:lnTo>
                <a:lnTo>
                  <a:pt x="68221" y="642448"/>
                </a:lnTo>
                <a:lnTo>
                  <a:pt x="85652" y="599529"/>
                </a:lnTo>
                <a:lnTo>
                  <a:pt x="104891" y="557640"/>
                </a:lnTo>
                <a:lnTo>
                  <a:pt x="125887" y="516835"/>
                </a:lnTo>
                <a:lnTo>
                  <a:pt x="148589" y="477168"/>
                </a:lnTo>
                <a:lnTo>
                  <a:pt x="172946" y="438691"/>
                </a:lnTo>
                <a:lnTo>
                  <a:pt x="198906" y="401457"/>
                </a:lnTo>
                <a:lnTo>
                  <a:pt x="226419" y="365520"/>
                </a:lnTo>
                <a:lnTo>
                  <a:pt x="255433" y="330934"/>
                </a:lnTo>
                <a:lnTo>
                  <a:pt x="285897" y="297751"/>
                </a:lnTo>
                <a:lnTo>
                  <a:pt x="317760" y="266025"/>
                </a:lnTo>
                <a:lnTo>
                  <a:pt x="350972" y="235809"/>
                </a:lnTo>
                <a:lnTo>
                  <a:pt x="385480" y="207156"/>
                </a:lnTo>
                <a:lnTo>
                  <a:pt x="421233" y="180120"/>
                </a:lnTo>
                <a:lnTo>
                  <a:pt x="458181" y="154753"/>
                </a:lnTo>
                <a:lnTo>
                  <a:pt x="496273" y="131110"/>
                </a:lnTo>
                <a:lnTo>
                  <a:pt x="535457" y="109243"/>
                </a:lnTo>
                <a:lnTo>
                  <a:pt x="575682" y="89206"/>
                </a:lnTo>
                <a:lnTo>
                  <a:pt x="616897" y="71052"/>
                </a:lnTo>
                <a:lnTo>
                  <a:pt x="659051" y="54834"/>
                </a:lnTo>
                <a:lnTo>
                  <a:pt x="702092" y="40606"/>
                </a:lnTo>
                <a:lnTo>
                  <a:pt x="745970" y="28420"/>
                </a:lnTo>
                <a:lnTo>
                  <a:pt x="790634" y="18331"/>
                </a:lnTo>
                <a:lnTo>
                  <a:pt x="836032" y="10391"/>
                </a:lnTo>
                <a:lnTo>
                  <a:pt x="882114" y="4653"/>
                </a:lnTo>
                <a:lnTo>
                  <a:pt x="928827" y="1172"/>
                </a:lnTo>
                <a:lnTo>
                  <a:pt x="976121" y="0"/>
                </a:lnTo>
                <a:lnTo>
                  <a:pt x="1023417" y="1172"/>
                </a:lnTo>
                <a:lnTo>
                  <a:pt x="1070131" y="4653"/>
                </a:lnTo>
                <a:lnTo>
                  <a:pt x="1116213" y="10391"/>
                </a:lnTo>
                <a:lnTo>
                  <a:pt x="1161612" y="18331"/>
                </a:lnTo>
                <a:lnTo>
                  <a:pt x="1206277" y="28420"/>
                </a:lnTo>
                <a:lnTo>
                  <a:pt x="1250155" y="40606"/>
                </a:lnTo>
                <a:lnTo>
                  <a:pt x="1293197" y="54834"/>
                </a:lnTo>
                <a:lnTo>
                  <a:pt x="1335352" y="71052"/>
                </a:lnTo>
                <a:lnTo>
                  <a:pt x="1376567" y="89206"/>
                </a:lnTo>
                <a:lnTo>
                  <a:pt x="1416792" y="109243"/>
                </a:lnTo>
                <a:lnTo>
                  <a:pt x="1455976" y="131110"/>
                </a:lnTo>
                <a:lnTo>
                  <a:pt x="1494067" y="154753"/>
                </a:lnTo>
                <a:lnTo>
                  <a:pt x="1531015" y="180120"/>
                </a:lnTo>
                <a:lnTo>
                  <a:pt x="1566769" y="207156"/>
                </a:lnTo>
                <a:lnTo>
                  <a:pt x="1601277" y="235809"/>
                </a:lnTo>
                <a:lnTo>
                  <a:pt x="1634488" y="266025"/>
                </a:lnTo>
                <a:lnTo>
                  <a:pt x="1666351" y="297751"/>
                </a:lnTo>
                <a:lnTo>
                  <a:pt x="1696815" y="330934"/>
                </a:lnTo>
                <a:lnTo>
                  <a:pt x="1725828" y="365520"/>
                </a:lnTo>
                <a:lnTo>
                  <a:pt x="1753341" y="401457"/>
                </a:lnTo>
                <a:lnTo>
                  <a:pt x="1779300" y="438691"/>
                </a:lnTo>
                <a:lnTo>
                  <a:pt x="1803657" y="477168"/>
                </a:lnTo>
                <a:lnTo>
                  <a:pt x="1826358" y="516835"/>
                </a:lnTo>
                <a:lnTo>
                  <a:pt x="1847354" y="557640"/>
                </a:lnTo>
                <a:lnTo>
                  <a:pt x="1866593" y="599529"/>
                </a:lnTo>
                <a:lnTo>
                  <a:pt x="1884024" y="642448"/>
                </a:lnTo>
                <a:lnTo>
                  <a:pt x="1899595" y="686344"/>
                </a:lnTo>
                <a:lnTo>
                  <a:pt x="1913256" y="731165"/>
                </a:lnTo>
                <a:lnTo>
                  <a:pt x="1924956" y="776856"/>
                </a:lnTo>
                <a:lnTo>
                  <a:pt x="1934643" y="823364"/>
                </a:lnTo>
                <a:lnTo>
                  <a:pt x="1942267" y="870637"/>
                </a:lnTo>
                <a:lnTo>
                  <a:pt x="1947775" y="918621"/>
                </a:lnTo>
                <a:lnTo>
                  <a:pt x="1951118" y="967262"/>
                </a:lnTo>
                <a:lnTo>
                  <a:pt x="1952244" y="1016507"/>
                </a:lnTo>
                <a:lnTo>
                  <a:pt x="1951118" y="1065753"/>
                </a:lnTo>
                <a:lnTo>
                  <a:pt x="1947775" y="1114394"/>
                </a:lnTo>
                <a:lnTo>
                  <a:pt x="1942267" y="1162378"/>
                </a:lnTo>
                <a:lnTo>
                  <a:pt x="1934643" y="1209651"/>
                </a:lnTo>
                <a:lnTo>
                  <a:pt x="1924956" y="1256159"/>
                </a:lnTo>
                <a:lnTo>
                  <a:pt x="1913256" y="1301850"/>
                </a:lnTo>
                <a:lnTo>
                  <a:pt x="1899595" y="1346671"/>
                </a:lnTo>
                <a:lnTo>
                  <a:pt x="1884024" y="1390567"/>
                </a:lnTo>
                <a:lnTo>
                  <a:pt x="1866593" y="1433486"/>
                </a:lnTo>
                <a:lnTo>
                  <a:pt x="1847354" y="1475375"/>
                </a:lnTo>
                <a:lnTo>
                  <a:pt x="1826358" y="1516180"/>
                </a:lnTo>
                <a:lnTo>
                  <a:pt x="1803657" y="1555847"/>
                </a:lnTo>
                <a:lnTo>
                  <a:pt x="1779300" y="1594324"/>
                </a:lnTo>
                <a:lnTo>
                  <a:pt x="1753341" y="1631558"/>
                </a:lnTo>
                <a:lnTo>
                  <a:pt x="1725828" y="1667495"/>
                </a:lnTo>
                <a:lnTo>
                  <a:pt x="1696815" y="1702081"/>
                </a:lnTo>
                <a:lnTo>
                  <a:pt x="1666351" y="1735264"/>
                </a:lnTo>
                <a:lnTo>
                  <a:pt x="1634488" y="1766990"/>
                </a:lnTo>
                <a:lnTo>
                  <a:pt x="1601277" y="1797206"/>
                </a:lnTo>
                <a:lnTo>
                  <a:pt x="1566769" y="1825859"/>
                </a:lnTo>
                <a:lnTo>
                  <a:pt x="1531015" y="1852895"/>
                </a:lnTo>
                <a:lnTo>
                  <a:pt x="1494067" y="1878262"/>
                </a:lnTo>
                <a:lnTo>
                  <a:pt x="1455976" y="1901905"/>
                </a:lnTo>
                <a:lnTo>
                  <a:pt x="1416792" y="1923772"/>
                </a:lnTo>
                <a:lnTo>
                  <a:pt x="1376567" y="1943809"/>
                </a:lnTo>
                <a:lnTo>
                  <a:pt x="1335352" y="1961963"/>
                </a:lnTo>
                <a:lnTo>
                  <a:pt x="1293197" y="1978181"/>
                </a:lnTo>
                <a:lnTo>
                  <a:pt x="1250155" y="1992409"/>
                </a:lnTo>
                <a:lnTo>
                  <a:pt x="1206277" y="2004595"/>
                </a:lnTo>
                <a:lnTo>
                  <a:pt x="1161612" y="2014684"/>
                </a:lnTo>
                <a:lnTo>
                  <a:pt x="1116213" y="2022624"/>
                </a:lnTo>
                <a:lnTo>
                  <a:pt x="1070131" y="2028362"/>
                </a:lnTo>
                <a:lnTo>
                  <a:pt x="1023417" y="2031843"/>
                </a:lnTo>
                <a:lnTo>
                  <a:pt x="976121" y="2033015"/>
                </a:lnTo>
                <a:lnTo>
                  <a:pt x="928827" y="2031843"/>
                </a:lnTo>
                <a:lnTo>
                  <a:pt x="882114" y="2028362"/>
                </a:lnTo>
                <a:lnTo>
                  <a:pt x="836032" y="2022624"/>
                </a:lnTo>
                <a:lnTo>
                  <a:pt x="790634" y="2014684"/>
                </a:lnTo>
                <a:lnTo>
                  <a:pt x="745970" y="2004595"/>
                </a:lnTo>
                <a:lnTo>
                  <a:pt x="702092" y="1992409"/>
                </a:lnTo>
                <a:lnTo>
                  <a:pt x="659051" y="1978181"/>
                </a:lnTo>
                <a:lnTo>
                  <a:pt x="616897" y="1961963"/>
                </a:lnTo>
                <a:lnTo>
                  <a:pt x="575682" y="1943809"/>
                </a:lnTo>
                <a:lnTo>
                  <a:pt x="535457" y="1923772"/>
                </a:lnTo>
                <a:lnTo>
                  <a:pt x="496273" y="1901905"/>
                </a:lnTo>
                <a:lnTo>
                  <a:pt x="458181" y="1878262"/>
                </a:lnTo>
                <a:lnTo>
                  <a:pt x="421233" y="1852895"/>
                </a:lnTo>
                <a:lnTo>
                  <a:pt x="385480" y="1825859"/>
                </a:lnTo>
                <a:lnTo>
                  <a:pt x="350972" y="1797206"/>
                </a:lnTo>
                <a:lnTo>
                  <a:pt x="317760" y="1766990"/>
                </a:lnTo>
                <a:lnTo>
                  <a:pt x="285897" y="1735264"/>
                </a:lnTo>
                <a:lnTo>
                  <a:pt x="255433" y="1702081"/>
                </a:lnTo>
                <a:lnTo>
                  <a:pt x="226419" y="1667495"/>
                </a:lnTo>
                <a:lnTo>
                  <a:pt x="198906" y="1631558"/>
                </a:lnTo>
                <a:lnTo>
                  <a:pt x="172946" y="1594324"/>
                </a:lnTo>
                <a:lnTo>
                  <a:pt x="148589" y="1555847"/>
                </a:lnTo>
                <a:lnTo>
                  <a:pt x="125887" y="1516180"/>
                </a:lnTo>
                <a:lnTo>
                  <a:pt x="104891" y="1475375"/>
                </a:lnTo>
                <a:lnTo>
                  <a:pt x="85652" y="1433486"/>
                </a:lnTo>
                <a:lnTo>
                  <a:pt x="68221" y="1390567"/>
                </a:lnTo>
                <a:lnTo>
                  <a:pt x="52649" y="1346671"/>
                </a:lnTo>
                <a:lnTo>
                  <a:pt x="38988" y="1301850"/>
                </a:lnTo>
                <a:lnTo>
                  <a:pt x="27288" y="1256159"/>
                </a:lnTo>
                <a:lnTo>
                  <a:pt x="17600" y="1209651"/>
                </a:lnTo>
                <a:lnTo>
                  <a:pt x="9977" y="1162378"/>
                </a:lnTo>
                <a:lnTo>
                  <a:pt x="4468" y="1114394"/>
                </a:lnTo>
                <a:lnTo>
                  <a:pt x="1125" y="1065753"/>
                </a:lnTo>
                <a:lnTo>
                  <a:pt x="0" y="1016507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6689" y="3873246"/>
            <a:ext cx="1790700" cy="1865630"/>
          </a:xfrm>
          <a:custGeom>
            <a:avLst/>
            <a:gdLst/>
            <a:ahLst/>
            <a:cxnLst/>
            <a:rect l="l" t="t" r="r" b="b"/>
            <a:pathLst>
              <a:path w="1790700" h="1865629">
                <a:moveTo>
                  <a:pt x="0" y="932687"/>
                </a:moveTo>
                <a:lnTo>
                  <a:pt x="1241" y="883153"/>
                </a:lnTo>
                <a:lnTo>
                  <a:pt x="4923" y="834292"/>
                </a:lnTo>
                <a:lnTo>
                  <a:pt x="10984" y="786169"/>
                </a:lnTo>
                <a:lnTo>
                  <a:pt x="19362" y="738849"/>
                </a:lnTo>
                <a:lnTo>
                  <a:pt x="29995" y="692395"/>
                </a:lnTo>
                <a:lnTo>
                  <a:pt x="42822" y="646872"/>
                </a:lnTo>
                <a:lnTo>
                  <a:pt x="57780" y="602345"/>
                </a:lnTo>
                <a:lnTo>
                  <a:pt x="74808" y="558878"/>
                </a:lnTo>
                <a:lnTo>
                  <a:pt x="93844" y="516536"/>
                </a:lnTo>
                <a:lnTo>
                  <a:pt x="114826" y="475383"/>
                </a:lnTo>
                <a:lnTo>
                  <a:pt x="137691" y="435484"/>
                </a:lnTo>
                <a:lnTo>
                  <a:pt x="162379" y="396902"/>
                </a:lnTo>
                <a:lnTo>
                  <a:pt x="188827" y="359703"/>
                </a:lnTo>
                <a:lnTo>
                  <a:pt x="216973" y="323951"/>
                </a:lnTo>
                <a:lnTo>
                  <a:pt x="246756" y="289710"/>
                </a:lnTo>
                <a:lnTo>
                  <a:pt x="278113" y="257045"/>
                </a:lnTo>
                <a:lnTo>
                  <a:pt x="310984" y="226020"/>
                </a:lnTo>
                <a:lnTo>
                  <a:pt x="345305" y="196700"/>
                </a:lnTo>
                <a:lnTo>
                  <a:pt x="381015" y="169150"/>
                </a:lnTo>
                <a:lnTo>
                  <a:pt x="418052" y="143432"/>
                </a:lnTo>
                <a:lnTo>
                  <a:pt x="456354" y="119613"/>
                </a:lnTo>
                <a:lnTo>
                  <a:pt x="495859" y="97757"/>
                </a:lnTo>
                <a:lnTo>
                  <a:pt x="536506" y="77927"/>
                </a:lnTo>
                <a:lnTo>
                  <a:pt x="578233" y="60189"/>
                </a:lnTo>
                <a:lnTo>
                  <a:pt x="620977" y="44607"/>
                </a:lnTo>
                <a:lnTo>
                  <a:pt x="664677" y="31246"/>
                </a:lnTo>
                <a:lnTo>
                  <a:pt x="709271" y="20169"/>
                </a:lnTo>
                <a:lnTo>
                  <a:pt x="754698" y="11442"/>
                </a:lnTo>
                <a:lnTo>
                  <a:pt x="800894" y="5128"/>
                </a:lnTo>
                <a:lnTo>
                  <a:pt x="847798" y="1292"/>
                </a:lnTo>
                <a:lnTo>
                  <a:pt x="895350" y="0"/>
                </a:lnTo>
                <a:lnTo>
                  <a:pt x="942905" y="1292"/>
                </a:lnTo>
                <a:lnTo>
                  <a:pt x="989814" y="5128"/>
                </a:lnTo>
                <a:lnTo>
                  <a:pt x="1036013" y="11442"/>
                </a:lnTo>
                <a:lnTo>
                  <a:pt x="1081442" y="20169"/>
                </a:lnTo>
                <a:lnTo>
                  <a:pt x="1126039" y="31246"/>
                </a:lnTo>
                <a:lnTo>
                  <a:pt x="1169741" y="44607"/>
                </a:lnTo>
                <a:lnTo>
                  <a:pt x="1212487" y="60189"/>
                </a:lnTo>
                <a:lnTo>
                  <a:pt x="1254214" y="77927"/>
                </a:lnTo>
                <a:lnTo>
                  <a:pt x="1294862" y="97757"/>
                </a:lnTo>
                <a:lnTo>
                  <a:pt x="1334368" y="119613"/>
                </a:lnTo>
                <a:lnTo>
                  <a:pt x="1372670" y="143432"/>
                </a:lnTo>
                <a:lnTo>
                  <a:pt x="1409707" y="169150"/>
                </a:lnTo>
                <a:lnTo>
                  <a:pt x="1445416" y="196700"/>
                </a:lnTo>
                <a:lnTo>
                  <a:pt x="1479736" y="226020"/>
                </a:lnTo>
                <a:lnTo>
                  <a:pt x="1512605" y="257045"/>
                </a:lnTo>
                <a:lnTo>
                  <a:pt x="1543961" y="289710"/>
                </a:lnTo>
                <a:lnTo>
                  <a:pt x="1573743" y="323951"/>
                </a:lnTo>
                <a:lnTo>
                  <a:pt x="1601888" y="359703"/>
                </a:lnTo>
                <a:lnTo>
                  <a:pt x="1628334" y="396902"/>
                </a:lnTo>
                <a:lnTo>
                  <a:pt x="1653020" y="435484"/>
                </a:lnTo>
                <a:lnTo>
                  <a:pt x="1675884" y="475383"/>
                </a:lnTo>
                <a:lnTo>
                  <a:pt x="1696864" y="516536"/>
                </a:lnTo>
                <a:lnTo>
                  <a:pt x="1715898" y="558878"/>
                </a:lnTo>
                <a:lnTo>
                  <a:pt x="1732925" y="602345"/>
                </a:lnTo>
                <a:lnTo>
                  <a:pt x="1747882" y="646872"/>
                </a:lnTo>
                <a:lnTo>
                  <a:pt x="1760707" y="692395"/>
                </a:lnTo>
                <a:lnTo>
                  <a:pt x="1771339" y="738849"/>
                </a:lnTo>
                <a:lnTo>
                  <a:pt x="1779717" y="786169"/>
                </a:lnTo>
                <a:lnTo>
                  <a:pt x="1785777" y="834292"/>
                </a:lnTo>
                <a:lnTo>
                  <a:pt x="1789459" y="883153"/>
                </a:lnTo>
                <a:lnTo>
                  <a:pt x="1790700" y="932687"/>
                </a:lnTo>
                <a:lnTo>
                  <a:pt x="1789459" y="982222"/>
                </a:lnTo>
                <a:lnTo>
                  <a:pt x="1785777" y="1031083"/>
                </a:lnTo>
                <a:lnTo>
                  <a:pt x="1779717" y="1079206"/>
                </a:lnTo>
                <a:lnTo>
                  <a:pt x="1771339" y="1126526"/>
                </a:lnTo>
                <a:lnTo>
                  <a:pt x="1760707" y="1172980"/>
                </a:lnTo>
                <a:lnTo>
                  <a:pt x="1747882" y="1218503"/>
                </a:lnTo>
                <a:lnTo>
                  <a:pt x="1732925" y="1263030"/>
                </a:lnTo>
                <a:lnTo>
                  <a:pt x="1715898" y="1306497"/>
                </a:lnTo>
                <a:lnTo>
                  <a:pt x="1696864" y="1348839"/>
                </a:lnTo>
                <a:lnTo>
                  <a:pt x="1675884" y="1389992"/>
                </a:lnTo>
                <a:lnTo>
                  <a:pt x="1653020" y="1429891"/>
                </a:lnTo>
                <a:lnTo>
                  <a:pt x="1628334" y="1468473"/>
                </a:lnTo>
                <a:lnTo>
                  <a:pt x="1601888" y="1505672"/>
                </a:lnTo>
                <a:lnTo>
                  <a:pt x="1573743" y="1541424"/>
                </a:lnTo>
                <a:lnTo>
                  <a:pt x="1543961" y="1575665"/>
                </a:lnTo>
                <a:lnTo>
                  <a:pt x="1512605" y="1608330"/>
                </a:lnTo>
                <a:lnTo>
                  <a:pt x="1479736" y="1639355"/>
                </a:lnTo>
                <a:lnTo>
                  <a:pt x="1445416" y="1668675"/>
                </a:lnTo>
                <a:lnTo>
                  <a:pt x="1409707" y="1696225"/>
                </a:lnTo>
                <a:lnTo>
                  <a:pt x="1372670" y="1721943"/>
                </a:lnTo>
                <a:lnTo>
                  <a:pt x="1334368" y="1745762"/>
                </a:lnTo>
                <a:lnTo>
                  <a:pt x="1294862" y="1767618"/>
                </a:lnTo>
                <a:lnTo>
                  <a:pt x="1254214" y="1787448"/>
                </a:lnTo>
                <a:lnTo>
                  <a:pt x="1212487" y="1805186"/>
                </a:lnTo>
                <a:lnTo>
                  <a:pt x="1169741" y="1820768"/>
                </a:lnTo>
                <a:lnTo>
                  <a:pt x="1126039" y="1834129"/>
                </a:lnTo>
                <a:lnTo>
                  <a:pt x="1081442" y="1845206"/>
                </a:lnTo>
                <a:lnTo>
                  <a:pt x="1036013" y="1853933"/>
                </a:lnTo>
                <a:lnTo>
                  <a:pt x="989814" y="1860247"/>
                </a:lnTo>
                <a:lnTo>
                  <a:pt x="942905" y="1864083"/>
                </a:lnTo>
                <a:lnTo>
                  <a:pt x="895350" y="1865376"/>
                </a:lnTo>
                <a:lnTo>
                  <a:pt x="847798" y="1864083"/>
                </a:lnTo>
                <a:lnTo>
                  <a:pt x="800894" y="1860247"/>
                </a:lnTo>
                <a:lnTo>
                  <a:pt x="754698" y="1853933"/>
                </a:lnTo>
                <a:lnTo>
                  <a:pt x="709271" y="1845206"/>
                </a:lnTo>
                <a:lnTo>
                  <a:pt x="664677" y="1834129"/>
                </a:lnTo>
                <a:lnTo>
                  <a:pt x="620977" y="1820768"/>
                </a:lnTo>
                <a:lnTo>
                  <a:pt x="578233" y="1805186"/>
                </a:lnTo>
                <a:lnTo>
                  <a:pt x="536506" y="1787448"/>
                </a:lnTo>
                <a:lnTo>
                  <a:pt x="495859" y="1767618"/>
                </a:lnTo>
                <a:lnTo>
                  <a:pt x="456354" y="1745762"/>
                </a:lnTo>
                <a:lnTo>
                  <a:pt x="418052" y="1721943"/>
                </a:lnTo>
                <a:lnTo>
                  <a:pt x="381015" y="1696225"/>
                </a:lnTo>
                <a:lnTo>
                  <a:pt x="345305" y="1668675"/>
                </a:lnTo>
                <a:lnTo>
                  <a:pt x="310984" y="1639355"/>
                </a:lnTo>
                <a:lnTo>
                  <a:pt x="278113" y="1608330"/>
                </a:lnTo>
                <a:lnTo>
                  <a:pt x="246756" y="1575665"/>
                </a:lnTo>
                <a:lnTo>
                  <a:pt x="216973" y="1541424"/>
                </a:lnTo>
                <a:lnTo>
                  <a:pt x="188827" y="1505672"/>
                </a:lnTo>
                <a:lnTo>
                  <a:pt x="162379" y="1468473"/>
                </a:lnTo>
                <a:lnTo>
                  <a:pt x="137691" y="1429891"/>
                </a:lnTo>
                <a:lnTo>
                  <a:pt x="114826" y="1389992"/>
                </a:lnTo>
                <a:lnTo>
                  <a:pt x="93844" y="1348839"/>
                </a:lnTo>
                <a:lnTo>
                  <a:pt x="74808" y="1306497"/>
                </a:lnTo>
                <a:lnTo>
                  <a:pt x="57780" y="1263030"/>
                </a:lnTo>
                <a:lnTo>
                  <a:pt x="42822" y="1218503"/>
                </a:lnTo>
                <a:lnTo>
                  <a:pt x="29995" y="1172980"/>
                </a:lnTo>
                <a:lnTo>
                  <a:pt x="19362" y="1126526"/>
                </a:lnTo>
                <a:lnTo>
                  <a:pt x="10984" y="1079206"/>
                </a:lnTo>
                <a:lnTo>
                  <a:pt x="4923" y="1031083"/>
                </a:lnTo>
                <a:lnTo>
                  <a:pt x="1241" y="982222"/>
                </a:lnTo>
                <a:lnTo>
                  <a:pt x="0" y="932687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7461" y="3961638"/>
            <a:ext cx="1629410" cy="1697989"/>
          </a:xfrm>
          <a:custGeom>
            <a:avLst/>
            <a:gdLst/>
            <a:ahLst/>
            <a:cxnLst/>
            <a:rect l="l" t="t" r="r" b="b"/>
            <a:pathLst>
              <a:path w="1629410" h="1697989">
                <a:moveTo>
                  <a:pt x="0" y="848868"/>
                </a:moveTo>
                <a:lnTo>
                  <a:pt x="1382" y="798996"/>
                </a:lnTo>
                <a:lnTo>
                  <a:pt x="5480" y="749883"/>
                </a:lnTo>
                <a:lnTo>
                  <a:pt x="12215" y="701607"/>
                </a:lnTo>
                <a:lnTo>
                  <a:pt x="21513" y="654249"/>
                </a:lnTo>
                <a:lnTo>
                  <a:pt x="33296" y="607888"/>
                </a:lnTo>
                <a:lnTo>
                  <a:pt x="47488" y="562603"/>
                </a:lnTo>
                <a:lnTo>
                  <a:pt x="64012" y="518475"/>
                </a:lnTo>
                <a:lnTo>
                  <a:pt x="82793" y="475583"/>
                </a:lnTo>
                <a:lnTo>
                  <a:pt x="103754" y="434007"/>
                </a:lnTo>
                <a:lnTo>
                  <a:pt x="126818" y="393826"/>
                </a:lnTo>
                <a:lnTo>
                  <a:pt x="151909" y="355120"/>
                </a:lnTo>
                <a:lnTo>
                  <a:pt x="178951" y="317969"/>
                </a:lnTo>
                <a:lnTo>
                  <a:pt x="207868" y="282452"/>
                </a:lnTo>
                <a:lnTo>
                  <a:pt x="238582" y="248650"/>
                </a:lnTo>
                <a:lnTo>
                  <a:pt x="271017" y="216641"/>
                </a:lnTo>
                <a:lnTo>
                  <a:pt x="305098" y="186505"/>
                </a:lnTo>
                <a:lnTo>
                  <a:pt x="340748" y="158323"/>
                </a:lnTo>
                <a:lnTo>
                  <a:pt x="377889" y="132173"/>
                </a:lnTo>
                <a:lnTo>
                  <a:pt x="416447" y="108135"/>
                </a:lnTo>
                <a:lnTo>
                  <a:pt x="456344" y="86290"/>
                </a:lnTo>
                <a:lnTo>
                  <a:pt x="497505" y="66716"/>
                </a:lnTo>
                <a:lnTo>
                  <a:pt x="539852" y="49494"/>
                </a:lnTo>
                <a:lnTo>
                  <a:pt x="583309" y="34702"/>
                </a:lnTo>
                <a:lnTo>
                  <a:pt x="627800" y="22422"/>
                </a:lnTo>
                <a:lnTo>
                  <a:pt x="673249" y="12732"/>
                </a:lnTo>
                <a:lnTo>
                  <a:pt x="719579" y="5711"/>
                </a:lnTo>
                <a:lnTo>
                  <a:pt x="766714" y="1441"/>
                </a:lnTo>
                <a:lnTo>
                  <a:pt x="814578" y="0"/>
                </a:lnTo>
                <a:lnTo>
                  <a:pt x="862436" y="1441"/>
                </a:lnTo>
                <a:lnTo>
                  <a:pt x="909566" y="5711"/>
                </a:lnTo>
                <a:lnTo>
                  <a:pt x="955893" y="12732"/>
                </a:lnTo>
                <a:lnTo>
                  <a:pt x="1001339" y="22422"/>
                </a:lnTo>
                <a:lnTo>
                  <a:pt x="1045828" y="34702"/>
                </a:lnTo>
                <a:lnTo>
                  <a:pt x="1089283" y="49494"/>
                </a:lnTo>
                <a:lnTo>
                  <a:pt x="1131629" y="66716"/>
                </a:lnTo>
                <a:lnTo>
                  <a:pt x="1172789" y="86290"/>
                </a:lnTo>
                <a:lnTo>
                  <a:pt x="1212685" y="108135"/>
                </a:lnTo>
                <a:lnTo>
                  <a:pt x="1251243" y="132173"/>
                </a:lnTo>
                <a:lnTo>
                  <a:pt x="1288385" y="158323"/>
                </a:lnTo>
                <a:lnTo>
                  <a:pt x="1324036" y="186505"/>
                </a:lnTo>
                <a:lnTo>
                  <a:pt x="1358117" y="216641"/>
                </a:lnTo>
                <a:lnTo>
                  <a:pt x="1390554" y="248650"/>
                </a:lnTo>
                <a:lnTo>
                  <a:pt x="1421270" y="282452"/>
                </a:lnTo>
                <a:lnTo>
                  <a:pt x="1450188" y="317969"/>
                </a:lnTo>
                <a:lnTo>
                  <a:pt x="1477231" y="355120"/>
                </a:lnTo>
                <a:lnTo>
                  <a:pt x="1502324" y="393826"/>
                </a:lnTo>
                <a:lnTo>
                  <a:pt x="1525390" y="434007"/>
                </a:lnTo>
                <a:lnTo>
                  <a:pt x="1546353" y="475583"/>
                </a:lnTo>
                <a:lnTo>
                  <a:pt x="1565136" y="518475"/>
                </a:lnTo>
                <a:lnTo>
                  <a:pt x="1581662" y="562603"/>
                </a:lnTo>
                <a:lnTo>
                  <a:pt x="1595855" y="607888"/>
                </a:lnTo>
                <a:lnTo>
                  <a:pt x="1607640" y="654249"/>
                </a:lnTo>
                <a:lnTo>
                  <a:pt x="1616938" y="701607"/>
                </a:lnTo>
                <a:lnTo>
                  <a:pt x="1623675" y="749883"/>
                </a:lnTo>
                <a:lnTo>
                  <a:pt x="1627773" y="798996"/>
                </a:lnTo>
                <a:lnTo>
                  <a:pt x="1629156" y="848868"/>
                </a:lnTo>
                <a:lnTo>
                  <a:pt x="1627773" y="898739"/>
                </a:lnTo>
                <a:lnTo>
                  <a:pt x="1623675" y="947852"/>
                </a:lnTo>
                <a:lnTo>
                  <a:pt x="1616938" y="996128"/>
                </a:lnTo>
                <a:lnTo>
                  <a:pt x="1607640" y="1043486"/>
                </a:lnTo>
                <a:lnTo>
                  <a:pt x="1595855" y="1089847"/>
                </a:lnTo>
                <a:lnTo>
                  <a:pt x="1581662" y="1135132"/>
                </a:lnTo>
                <a:lnTo>
                  <a:pt x="1565136" y="1179260"/>
                </a:lnTo>
                <a:lnTo>
                  <a:pt x="1546353" y="1222152"/>
                </a:lnTo>
                <a:lnTo>
                  <a:pt x="1525390" y="1263728"/>
                </a:lnTo>
                <a:lnTo>
                  <a:pt x="1502324" y="1303909"/>
                </a:lnTo>
                <a:lnTo>
                  <a:pt x="1477231" y="1342615"/>
                </a:lnTo>
                <a:lnTo>
                  <a:pt x="1450188" y="1379766"/>
                </a:lnTo>
                <a:lnTo>
                  <a:pt x="1421270" y="1415283"/>
                </a:lnTo>
                <a:lnTo>
                  <a:pt x="1390554" y="1449085"/>
                </a:lnTo>
                <a:lnTo>
                  <a:pt x="1358117" y="1481094"/>
                </a:lnTo>
                <a:lnTo>
                  <a:pt x="1324036" y="1511230"/>
                </a:lnTo>
                <a:lnTo>
                  <a:pt x="1288385" y="1539412"/>
                </a:lnTo>
                <a:lnTo>
                  <a:pt x="1251243" y="1565562"/>
                </a:lnTo>
                <a:lnTo>
                  <a:pt x="1212685" y="1589600"/>
                </a:lnTo>
                <a:lnTo>
                  <a:pt x="1172789" y="1611445"/>
                </a:lnTo>
                <a:lnTo>
                  <a:pt x="1131629" y="1631019"/>
                </a:lnTo>
                <a:lnTo>
                  <a:pt x="1089283" y="1648241"/>
                </a:lnTo>
                <a:lnTo>
                  <a:pt x="1045828" y="1663033"/>
                </a:lnTo>
                <a:lnTo>
                  <a:pt x="1001339" y="1675313"/>
                </a:lnTo>
                <a:lnTo>
                  <a:pt x="955893" y="1685003"/>
                </a:lnTo>
                <a:lnTo>
                  <a:pt x="909566" y="1692024"/>
                </a:lnTo>
                <a:lnTo>
                  <a:pt x="862436" y="1696294"/>
                </a:lnTo>
                <a:lnTo>
                  <a:pt x="814578" y="1697736"/>
                </a:lnTo>
                <a:lnTo>
                  <a:pt x="766714" y="1696294"/>
                </a:lnTo>
                <a:lnTo>
                  <a:pt x="719579" y="1692024"/>
                </a:lnTo>
                <a:lnTo>
                  <a:pt x="673249" y="1685003"/>
                </a:lnTo>
                <a:lnTo>
                  <a:pt x="627800" y="1675313"/>
                </a:lnTo>
                <a:lnTo>
                  <a:pt x="583309" y="1663033"/>
                </a:lnTo>
                <a:lnTo>
                  <a:pt x="539852" y="1648241"/>
                </a:lnTo>
                <a:lnTo>
                  <a:pt x="497505" y="1631019"/>
                </a:lnTo>
                <a:lnTo>
                  <a:pt x="456344" y="1611445"/>
                </a:lnTo>
                <a:lnTo>
                  <a:pt x="416447" y="1589600"/>
                </a:lnTo>
                <a:lnTo>
                  <a:pt x="377889" y="1565562"/>
                </a:lnTo>
                <a:lnTo>
                  <a:pt x="340748" y="1539412"/>
                </a:lnTo>
                <a:lnTo>
                  <a:pt x="305098" y="1511230"/>
                </a:lnTo>
                <a:lnTo>
                  <a:pt x="271017" y="1481094"/>
                </a:lnTo>
                <a:lnTo>
                  <a:pt x="238582" y="1449085"/>
                </a:lnTo>
                <a:lnTo>
                  <a:pt x="207868" y="1415283"/>
                </a:lnTo>
                <a:lnTo>
                  <a:pt x="178951" y="1379766"/>
                </a:lnTo>
                <a:lnTo>
                  <a:pt x="151909" y="1342615"/>
                </a:lnTo>
                <a:lnTo>
                  <a:pt x="126818" y="1303909"/>
                </a:lnTo>
                <a:lnTo>
                  <a:pt x="103754" y="1263728"/>
                </a:lnTo>
                <a:lnTo>
                  <a:pt x="82793" y="1222152"/>
                </a:lnTo>
                <a:lnTo>
                  <a:pt x="64012" y="1179260"/>
                </a:lnTo>
                <a:lnTo>
                  <a:pt x="47488" y="1135132"/>
                </a:lnTo>
                <a:lnTo>
                  <a:pt x="33296" y="1089847"/>
                </a:lnTo>
                <a:lnTo>
                  <a:pt x="21513" y="1043486"/>
                </a:lnTo>
                <a:lnTo>
                  <a:pt x="12215" y="996128"/>
                </a:lnTo>
                <a:lnTo>
                  <a:pt x="5480" y="947852"/>
                </a:lnTo>
                <a:lnTo>
                  <a:pt x="1382" y="898739"/>
                </a:lnTo>
                <a:lnTo>
                  <a:pt x="0" y="848868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6925" y="4372102"/>
            <a:ext cx="124714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170" marR="5080" indent="-205104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方正姚体"/>
                <a:cs typeface="方正姚体"/>
              </a:rPr>
              <a:t>功能点 公式</a:t>
            </a:r>
            <a:endParaRPr sz="3200">
              <a:latin typeface="方正姚体"/>
              <a:cs typeface="方正姚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7917" y="4140834"/>
            <a:ext cx="4824730" cy="1626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华文新魏"/>
                <a:cs typeface="华文新魏"/>
              </a:rPr>
              <a:t>FP</a:t>
            </a:r>
            <a:r>
              <a:rPr sz="3200" spc="-5" dirty="0">
                <a:latin typeface="华文新魏"/>
                <a:cs typeface="华文新魏"/>
              </a:rPr>
              <a:t> </a:t>
            </a:r>
            <a:r>
              <a:rPr sz="3200" dirty="0">
                <a:latin typeface="华文新魏"/>
                <a:cs typeface="华文新魏"/>
              </a:rPr>
              <a:t>=UFC*TCF</a:t>
            </a:r>
            <a:endParaRPr sz="3200">
              <a:latin typeface="华文新魏"/>
              <a:cs typeface="华文新魏"/>
            </a:endParaRPr>
          </a:p>
          <a:p>
            <a:pPr marL="927100" indent="-457834">
              <a:lnSpc>
                <a:spcPct val="100000"/>
              </a:lnSpc>
              <a:spcBef>
                <a:spcPts val="30"/>
              </a:spcBef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800" spc="-10" dirty="0">
                <a:latin typeface="华文新魏"/>
                <a:cs typeface="华文新魏"/>
              </a:rPr>
              <a:t>UFC：</a:t>
            </a:r>
            <a:r>
              <a:rPr sz="2800" spc="-5" dirty="0">
                <a:latin typeface="华文新魏"/>
                <a:cs typeface="华文新魏"/>
              </a:rPr>
              <a:t>未调整功能点计数</a:t>
            </a:r>
            <a:endParaRPr sz="2800">
              <a:latin typeface="华文新魏"/>
              <a:cs typeface="华文新魏"/>
            </a:endParaRPr>
          </a:p>
          <a:p>
            <a:pPr marL="927100" indent="-45783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800" spc="-10" dirty="0">
                <a:latin typeface="华文新魏"/>
                <a:cs typeface="华文新魏"/>
              </a:rPr>
              <a:t>TCF：</a:t>
            </a:r>
            <a:r>
              <a:rPr sz="2800" spc="-5" dirty="0">
                <a:latin typeface="华文新魏"/>
                <a:cs typeface="华文新魏"/>
              </a:rPr>
              <a:t>技术复杂度因子</a:t>
            </a:r>
            <a:endParaRPr sz="2800">
              <a:latin typeface="华文新魏"/>
              <a:cs typeface="华文新魏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1400" b="1" dirty="0">
                <a:latin typeface="微软雅黑"/>
                <a:cs typeface="微软雅黑"/>
              </a:rPr>
              <a:t>。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616" y="346963"/>
            <a:ext cx="5687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UFC-未调整功能点计数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9103" y="2953511"/>
            <a:ext cx="1618615" cy="1618615"/>
          </a:xfrm>
          <a:custGeom>
            <a:avLst/>
            <a:gdLst/>
            <a:ahLst/>
            <a:cxnLst/>
            <a:rect l="l" t="t" r="r" b="b"/>
            <a:pathLst>
              <a:path w="1618614" h="1618614">
                <a:moveTo>
                  <a:pt x="809244" y="0"/>
                </a:moveTo>
                <a:lnTo>
                  <a:pt x="761696" y="1373"/>
                </a:lnTo>
                <a:lnTo>
                  <a:pt x="714872" y="5444"/>
                </a:lnTo>
                <a:lnTo>
                  <a:pt x="668847" y="12136"/>
                </a:lnTo>
                <a:lnTo>
                  <a:pt x="623698" y="21373"/>
                </a:lnTo>
                <a:lnTo>
                  <a:pt x="579499" y="33080"/>
                </a:lnTo>
                <a:lnTo>
                  <a:pt x="536327" y="47179"/>
                </a:lnTo>
                <a:lnTo>
                  <a:pt x="494258" y="63597"/>
                </a:lnTo>
                <a:lnTo>
                  <a:pt x="453367" y="82256"/>
                </a:lnTo>
                <a:lnTo>
                  <a:pt x="413731" y="103080"/>
                </a:lnTo>
                <a:lnTo>
                  <a:pt x="375426" y="125994"/>
                </a:lnTo>
                <a:lnTo>
                  <a:pt x="338527" y="150922"/>
                </a:lnTo>
                <a:lnTo>
                  <a:pt x="303111" y="177788"/>
                </a:lnTo>
                <a:lnTo>
                  <a:pt x="269253" y="206515"/>
                </a:lnTo>
                <a:lnTo>
                  <a:pt x="237029" y="237029"/>
                </a:lnTo>
                <a:lnTo>
                  <a:pt x="206515" y="269253"/>
                </a:lnTo>
                <a:lnTo>
                  <a:pt x="177788" y="303111"/>
                </a:lnTo>
                <a:lnTo>
                  <a:pt x="150922" y="338527"/>
                </a:lnTo>
                <a:lnTo>
                  <a:pt x="125994" y="375426"/>
                </a:lnTo>
                <a:lnTo>
                  <a:pt x="103080" y="413731"/>
                </a:lnTo>
                <a:lnTo>
                  <a:pt x="82256" y="453367"/>
                </a:lnTo>
                <a:lnTo>
                  <a:pt x="63597" y="494258"/>
                </a:lnTo>
                <a:lnTo>
                  <a:pt x="47179" y="536327"/>
                </a:lnTo>
                <a:lnTo>
                  <a:pt x="33080" y="579499"/>
                </a:lnTo>
                <a:lnTo>
                  <a:pt x="21373" y="623698"/>
                </a:lnTo>
                <a:lnTo>
                  <a:pt x="12136" y="668847"/>
                </a:lnTo>
                <a:lnTo>
                  <a:pt x="5444" y="714872"/>
                </a:lnTo>
                <a:lnTo>
                  <a:pt x="1373" y="761696"/>
                </a:lnTo>
                <a:lnTo>
                  <a:pt x="0" y="809244"/>
                </a:lnTo>
                <a:lnTo>
                  <a:pt x="1373" y="856791"/>
                </a:lnTo>
                <a:lnTo>
                  <a:pt x="5444" y="903615"/>
                </a:lnTo>
                <a:lnTo>
                  <a:pt x="12136" y="949640"/>
                </a:lnTo>
                <a:lnTo>
                  <a:pt x="21373" y="994789"/>
                </a:lnTo>
                <a:lnTo>
                  <a:pt x="33080" y="1038988"/>
                </a:lnTo>
                <a:lnTo>
                  <a:pt x="47179" y="1082160"/>
                </a:lnTo>
                <a:lnTo>
                  <a:pt x="63597" y="1124229"/>
                </a:lnTo>
                <a:lnTo>
                  <a:pt x="82256" y="1165120"/>
                </a:lnTo>
                <a:lnTo>
                  <a:pt x="103080" y="1204756"/>
                </a:lnTo>
                <a:lnTo>
                  <a:pt x="125994" y="1243061"/>
                </a:lnTo>
                <a:lnTo>
                  <a:pt x="150922" y="1279960"/>
                </a:lnTo>
                <a:lnTo>
                  <a:pt x="177788" y="1315376"/>
                </a:lnTo>
                <a:lnTo>
                  <a:pt x="206515" y="1349234"/>
                </a:lnTo>
                <a:lnTo>
                  <a:pt x="237029" y="1381458"/>
                </a:lnTo>
                <a:lnTo>
                  <a:pt x="269253" y="1411972"/>
                </a:lnTo>
                <a:lnTo>
                  <a:pt x="303111" y="1440699"/>
                </a:lnTo>
                <a:lnTo>
                  <a:pt x="338527" y="1467565"/>
                </a:lnTo>
                <a:lnTo>
                  <a:pt x="375426" y="1492493"/>
                </a:lnTo>
                <a:lnTo>
                  <a:pt x="413731" y="1515407"/>
                </a:lnTo>
                <a:lnTo>
                  <a:pt x="453367" y="1536231"/>
                </a:lnTo>
                <a:lnTo>
                  <a:pt x="494258" y="1554890"/>
                </a:lnTo>
                <a:lnTo>
                  <a:pt x="536327" y="1571308"/>
                </a:lnTo>
                <a:lnTo>
                  <a:pt x="579499" y="1585407"/>
                </a:lnTo>
                <a:lnTo>
                  <a:pt x="623698" y="1597114"/>
                </a:lnTo>
                <a:lnTo>
                  <a:pt x="668847" y="1606351"/>
                </a:lnTo>
                <a:lnTo>
                  <a:pt x="714872" y="1613043"/>
                </a:lnTo>
                <a:lnTo>
                  <a:pt x="761696" y="1617114"/>
                </a:lnTo>
                <a:lnTo>
                  <a:pt x="809244" y="1618488"/>
                </a:lnTo>
                <a:lnTo>
                  <a:pt x="856791" y="1617114"/>
                </a:lnTo>
                <a:lnTo>
                  <a:pt x="903615" y="1613043"/>
                </a:lnTo>
                <a:lnTo>
                  <a:pt x="949640" y="1606351"/>
                </a:lnTo>
                <a:lnTo>
                  <a:pt x="994789" y="1597114"/>
                </a:lnTo>
                <a:lnTo>
                  <a:pt x="1038988" y="1585407"/>
                </a:lnTo>
                <a:lnTo>
                  <a:pt x="1082160" y="1571308"/>
                </a:lnTo>
                <a:lnTo>
                  <a:pt x="1124229" y="1554890"/>
                </a:lnTo>
                <a:lnTo>
                  <a:pt x="1165120" y="1536231"/>
                </a:lnTo>
                <a:lnTo>
                  <a:pt x="1204756" y="1515407"/>
                </a:lnTo>
                <a:lnTo>
                  <a:pt x="1243061" y="1492493"/>
                </a:lnTo>
                <a:lnTo>
                  <a:pt x="1279960" y="1467565"/>
                </a:lnTo>
                <a:lnTo>
                  <a:pt x="1315376" y="1440699"/>
                </a:lnTo>
                <a:lnTo>
                  <a:pt x="1349234" y="1411972"/>
                </a:lnTo>
                <a:lnTo>
                  <a:pt x="1381458" y="1381458"/>
                </a:lnTo>
                <a:lnTo>
                  <a:pt x="1411972" y="1349234"/>
                </a:lnTo>
                <a:lnTo>
                  <a:pt x="1440699" y="1315376"/>
                </a:lnTo>
                <a:lnTo>
                  <a:pt x="1467565" y="1279960"/>
                </a:lnTo>
                <a:lnTo>
                  <a:pt x="1492493" y="1243061"/>
                </a:lnTo>
                <a:lnTo>
                  <a:pt x="1515407" y="1204756"/>
                </a:lnTo>
                <a:lnTo>
                  <a:pt x="1536231" y="1165120"/>
                </a:lnTo>
                <a:lnTo>
                  <a:pt x="1554890" y="1124229"/>
                </a:lnTo>
                <a:lnTo>
                  <a:pt x="1571308" y="1082160"/>
                </a:lnTo>
                <a:lnTo>
                  <a:pt x="1585407" y="1038988"/>
                </a:lnTo>
                <a:lnTo>
                  <a:pt x="1597114" y="994789"/>
                </a:lnTo>
                <a:lnTo>
                  <a:pt x="1606351" y="949640"/>
                </a:lnTo>
                <a:lnTo>
                  <a:pt x="1613043" y="903615"/>
                </a:lnTo>
                <a:lnTo>
                  <a:pt x="1617114" y="856791"/>
                </a:lnTo>
                <a:lnTo>
                  <a:pt x="1618488" y="809244"/>
                </a:lnTo>
                <a:lnTo>
                  <a:pt x="1617114" y="761696"/>
                </a:lnTo>
                <a:lnTo>
                  <a:pt x="1613043" y="714872"/>
                </a:lnTo>
                <a:lnTo>
                  <a:pt x="1606351" y="668847"/>
                </a:lnTo>
                <a:lnTo>
                  <a:pt x="1597114" y="623698"/>
                </a:lnTo>
                <a:lnTo>
                  <a:pt x="1585407" y="579499"/>
                </a:lnTo>
                <a:lnTo>
                  <a:pt x="1571308" y="536327"/>
                </a:lnTo>
                <a:lnTo>
                  <a:pt x="1554890" y="494258"/>
                </a:lnTo>
                <a:lnTo>
                  <a:pt x="1536231" y="453367"/>
                </a:lnTo>
                <a:lnTo>
                  <a:pt x="1515407" y="413731"/>
                </a:lnTo>
                <a:lnTo>
                  <a:pt x="1492493" y="375426"/>
                </a:lnTo>
                <a:lnTo>
                  <a:pt x="1467565" y="338527"/>
                </a:lnTo>
                <a:lnTo>
                  <a:pt x="1440699" y="303111"/>
                </a:lnTo>
                <a:lnTo>
                  <a:pt x="1411972" y="269253"/>
                </a:lnTo>
                <a:lnTo>
                  <a:pt x="1381458" y="237029"/>
                </a:lnTo>
                <a:lnTo>
                  <a:pt x="1349234" y="206515"/>
                </a:lnTo>
                <a:lnTo>
                  <a:pt x="1315376" y="177788"/>
                </a:lnTo>
                <a:lnTo>
                  <a:pt x="1279960" y="150922"/>
                </a:lnTo>
                <a:lnTo>
                  <a:pt x="1243061" y="125994"/>
                </a:lnTo>
                <a:lnTo>
                  <a:pt x="1204756" y="103080"/>
                </a:lnTo>
                <a:lnTo>
                  <a:pt x="1165120" y="82256"/>
                </a:lnTo>
                <a:lnTo>
                  <a:pt x="1124229" y="63597"/>
                </a:lnTo>
                <a:lnTo>
                  <a:pt x="1082160" y="47179"/>
                </a:lnTo>
                <a:lnTo>
                  <a:pt x="1038988" y="33080"/>
                </a:lnTo>
                <a:lnTo>
                  <a:pt x="994789" y="21373"/>
                </a:lnTo>
                <a:lnTo>
                  <a:pt x="949640" y="12136"/>
                </a:lnTo>
                <a:lnTo>
                  <a:pt x="903615" y="5444"/>
                </a:lnTo>
                <a:lnTo>
                  <a:pt x="856791" y="1373"/>
                </a:lnTo>
                <a:lnTo>
                  <a:pt x="809244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37104" y="37338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3999" y="762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75303" y="25908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9144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69791" y="4114800"/>
            <a:ext cx="820419" cy="1409700"/>
          </a:xfrm>
          <a:custGeom>
            <a:avLst/>
            <a:gdLst/>
            <a:ahLst/>
            <a:cxnLst/>
            <a:rect l="l" t="t" r="r" b="b"/>
            <a:pathLst>
              <a:path w="820420" h="1409700">
                <a:moveTo>
                  <a:pt x="819912" y="0"/>
                </a:moveTo>
                <a:lnTo>
                  <a:pt x="0" y="14097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70703" y="40386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0"/>
                </a:moveTo>
                <a:lnTo>
                  <a:pt x="228600" y="1524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0703" y="2743200"/>
            <a:ext cx="533400" cy="838200"/>
          </a:xfrm>
          <a:custGeom>
            <a:avLst/>
            <a:gdLst/>
            <a:ahLst/>
            <a:cxnLst/>
            <a:rect l="l" t="t" r="r" b="b"/>
            <a:pathLst>
              <a:path w="533400" h="838200">
                <a:moveTo>
                  <a:pt x="0" y="838200"/>
                </a:moveTo>
                <a:lnTo>
                  <a:pt x="5334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37659" y="3343655"/>
            <a:ext cx="894715" cy="894715"/>
          </a:xfrm>
          <a:custGeom>
            <a:avLst/>
            <a:gdLst/>
            <a:ahLst/>
            <a:cxnLst/>
            <a:rect l="l" t="t" r="r" b="b"/>
            <a:pathLst>
              <a:path w="894714" h="894714">
                <a:moveTo>
                  <a:pt x="447293" y="0"/>
                </a:moveTo>
                <a:lnTo>
                  <a:pt x="398559" y="2624"/>
                </a:lnTo>
                <a:lnTo>
                  <a:pt x="351344" y="10317"/>
                </a:lnTo>
                <a:lnTo>
                  <a:pt x="305921" y="22805"/>
                </a:lnTo>
                <a:lnTo>
                  <a:pt x="262563" y="39814"/>
                </a:lnTo>
                <a:lnTo>
                  <a:pt x="221544" y="61072"/>
                </a:lnTo>
                <a:lnTo>
                  <a:pt x="183136" y="86307"/>
                </a:lnTo>
                <a:lnTo>
                  <a:pt x="147611" y="115244"/>
                </a:lnTo>
                <a:lnTo>
                  <a:pt x="115244" y="147611"/>
                </a:lnTo>
                <a:lnTo>
                  <a:pt x="86307" y="183136"/>
                </a:lnTo>
                <a:lnTo>
                  <a:pt x="61072" y="221544"/>
                </a:lnTo>
                <a:lnTo>
                  <a:pt x="39814" y="262563"/>
                </a:lnTo>
                <a:lnTo>
                  <a:pt x="22805" y="305921"/>
                </a:lnTo>
                <a:lnTo>
                  <a:pt x="10317" y="351344"/>
                </a:lnTo>
                <a:lnTo>
                  <a:pt x="2624" y="398559"/>
                </a:lnTo>
                <a:lnTo>
                  <a:pt x="0" y="447294"/>
                </a:lnTo>
                <a:lnTo>
                  <a:pt x="2624" y="496028"/>
                </a:lnTo>
                <a:lnTo>
                  <a:pt x="10317" y="543243"/>
                </a:lnTo>
                <a:lnTo>
                  <a:pt x="22805" y="588666"/>
                </a:lnTo>
                <a:lnTo>
                  <a:pt x="39814" y="632024"/>
                </a:lnTo>
                <a:lnTo>
                  <a:pt x="61072" y="673043"/>
                </a:lnTo>
                <a:lnTo>
                  <a:pt x="86307" y="711451"/>
                </a:lnTo>
                <a:lnTo>
                  <a:pt x="115244" y="746976"/>
                </a:lnTo>
                <a:lnTo>
                  <a:pt x="147611" y="779343"/>
                </a:lnTo>
                <a:lnTo>
                  <a:pt x="183136" y="808280"/>
                </a:lnTo>
                <a:lnTo>
                  <a:pt x="221544" y="833515"/>
                </a:lnTo>
                <a:lnTo>
                  <a:pt x="262563" y="854773"/>
                </a:lnTo>
                <a:lnTo>
                  <a:pt x="305921" y="871782"/>
                </a:lnTo>
                <a:lnTo>
                  <a:pt x="351344" y="884270"/>
                </a:lnTo>
                <a:lnTo>
                  <a:pt x="398559" y="891963"/>
                </a:lnTo>
                <a:lnTo>
                  <a:pt x="447293" y="894588"/>
                </a:lnTo>
                <a:lnTo>
                  <a:pt x="496028" y="891963"/>
                </a:lnTo>
                <a:lnTo>
                  <a:pt x="543243" y="884270"/>
                </a:lnTo>
                <a:lnTo>
                  <a:pt x="588666" y="871782"/>
                </a:lnTo>
                <a:lnTo>
                  <a:pt x="632024" y="854773"/>
                </a:lnTo>
                <a:lnTo>
                  <a:pt x="673043" y="833515"/>
                </a:lnTo>
                <a:lnTo>
                  <a:pt x="711451" y="808280"/>
                </a:lnTo>
                <a:lnTo>
                  <a:pt x="746976" y="779343"/>
                </a:lnTo>
                <a:lnTo>
                  <a:pt x="779343" y="746976"/>
                </a:lnTo>
                <a:lnTo>
                  <a:pt x="808280" y="711451"/>
                </a:lnTo>
                <a:lnTo>
                  <a:pt x="833515" y="673043"/>
                </a:lnTo>
                <a:lnTo>
                  <a:pt x="854773" y="632024"/>
                </a:lnTo>
                <a:lnTo>
                  <a:pt x="871782" y="588666"/>
                </a:lnTo>
                <a:lnTo>
                  <a:pt x="884270" y="543243"/>
                </a:lnTo>
                <a:lnTo>
                  <a:pt x="891963" y="496028"/>
                </a:lnTo>
                <a:lnTo>
                  <a:pt x="894588" y="447294"/>
                </a:lnTo>
                <a:lnTo>
                  <a:pt x="891963" y="398559"/>
                </a:lnTo>
                <a:lnTo>
                  <a:pt x="884270" y="351344"/>
                </a:lnTo>
                <a:lnTo>
                  <a:pt x="871782" y="305921"/>
                </a:lnTo>
                <a:lnTo>
                  <a:pt x="854773" y="262563"/>
                </a:lnTo>
                <a:lnTo>
                  <a:pt x="833515" y="221544"/>
                </a:lnTo>
                <a:lnTo>
                  <a:pt x="808280" y="183136"/>
                </a:lnTo>
                <a:lnTo>
                  <a:pt x="779343" y="147611"/>
                </a:lnTo>
                <a:lnTo>
                  <a:pt x="746976" y="115244"/>
                </a:lnTo>
                <a:lnTo>
                  <a:pt x="711451" y="86307"/>
                </a:lnTo>
                <a:lnTo>
                  <a:pt x="673043" y="61072"/>
                </a:lnTo>
                <a:lnTo>
                  <a:pt x="632024" y="39814"/>
                </a:lnTo>
                <a:lnTo>
                  <a:pt x="588666" y="22805"/>
                </a:lnTo>
                <a:lnTo>
                  <a:pt x="543243" y="10317"/>
                </a:lnTo>
                <a:lnTo>
                  <a:pt x="496028" y="2624"/>
                </a:lnTo>
                <a:lnTo>
                  <a:pt x="447293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0904" y="1600200"/>
            <a:ext cx="1146175" cy="1153795"/>
          </a:xfrm>
          <a:custGeom>
            <a:avLst/>
            <a:gdLst/>
            <a:ahLst/>
            <a:cxnLst/>
            <a:rect l="l" t="t" r="r" b="b"/>
            <a:pathLst>
              <a:path w="1146175" h="1153795">
                <a:moveTo>
                  <a:pt x="573023" y="0"/>
                </a:moveTo>
                <a:lnTo>
                  <a:pt x="526025" y="1912"/>
                </a:lnTo>
                <a:lnTo>
                  <a:pt x="480073" y="7551"/>
                </a:lnTo>
                <a:lnTo>
                  <a:pt x="435315" y="16767"/>
                </a:lnTo>
                <a:lnTo>
                  <a:pt x="391899" y="29413"/>
                </a:lnTo>
                <a:lnTo>
                  <a:pt x="349972" y="45339"/>
                </a:lnTo>
                <a:lnTo>
                  <a:pt x="309681" y="64396"/>
                </a:lnTo>
                <a:lnTo>
                  <a:pt x="271174" y="86437"/>
                </a:lnTo>
                <a:lnTo>
                  <a:pt x="234598" y="111312"/>
                </a:lnTo>
                <a:lnTo>
                  <a:pt x="200101" y="138874"/>
                </a:lnTo>
                <a:lnTo>
                  <a:pt x="167830" y="168973"/>
                </a:lnTo>
                <a:lnTo>
                  <a:pt x="137933" y="201461"/>
                </a:lnTo>
                <a:lnTo>
                  <a:pt x="110557" y="236189"/>
                </a:lnTo>
                <a:lnTo>
                  <a:pt x="85849" y="273009"/>
                </a:lnTo>
                <a:lnTo>
                  <a:pt x="63957" y="311772"/>
                </a:lnTo>
                <a:lnTo>
                  <a:pt x="45029" y="352329"/>
                </a:lnTo>
                <a:lnTo>
                  <a:pt x="29212" y="394533"/>
                </a:lnTo>
                <a:lnTo>
                  <a:pt x="16652" y="438233"/>
                </a:lnTo>
                <a:lnTo>
                  <a:pt x="7499" y="483283"/>
                </a:lnTo>
                <a:lnTo>
                  <a:pt x="1899" y="529532"/>
                </a:lnTo>
                <a:lnTo>
                  <a:pt x="0" y="576834"/>
                </a:lnTo>
                <a:lnTo>
                  <a:pt x="1899" y="624135"/>
                </a:lnTo>
                <a:lnTo>
                  <a:pt x="7499" y="670384"/>
                </a:lnTo>
                <a:lnTo>
                  <a:pt x="16652" y="715434"/>
                </a:lnTo>
                <a:lnTo>
                  <a:pt x="29212" y="759134"/>
                </a:lnTo>
                <a:lnTo>
                  <a:pt x="45029" y="801338"/>
                </a:lnTo>
                <a:lnTo>
                  <a:pt x="63957" y="841895"/>
                </a:lnTo>
                <a:lnTo>
                  <a:pt x="85849" y="880658"/>
                </a:lnTo>
                <a:lnTo>
                  <a:pt x="110557" y="917478"/>
                </a:lnTo>
                <a:lnTo>
                  <a:pt x="137933" y="952206"/>
                </a:lnTo>
                <a:lnTo>
                  <a:pt x="167830" y="984694"/>
                </a:lnTo>
                <a:lnTo>
                  <a:pt x="200101" y="1014793"/>
                </a:lnTo>
                <a:lnTo>
                  <a:pt x="234598" y="1042355"/>
                </a:lnTo>
                <a:lnTo>
                  <a:pt x="271174" y="1067230"/>
                </a:lnTo>
                <a:lnTo>
                  <a:pt x="309681" y="1089271"/>
                </a:lnTo>
                <a:lnTo>
                  <a:pt x="349972" y="1108329"/>
                </a:lnTo>
                <a:lnTo>
                  <a:pt x="391899" y="1124254"/>
                </a:lnTo>
                <a:lnTo>
                  <a:pt x="435315" y="1136900"/>
                </a:lnTo>
                <a:lnTo>
                  <a:pt x="480073" y="1146116"/>
                </a:lnTo>
                <a:lnTo>
                  <a:pt x="526025" y="1151755"/>
                </a:lnTo>
                <a:lnTo>
                  <a:pt x="573023" y="1153667"/>
                </a:lnTo>
                <a:lnTo>
                  <a:pt x="620022" y="1151755"/>
                </a:lnTo>
                <a:lnTo>
                  <a:pt x="665974" y="1146116"/>
                </a:lnTo>
                <a:lnTo>
                  <a:pt x="710732" y="1136900"/>
                </a:lnTo>
                <a:lnTo>
                  <a:pt x="754148" y="1124254"/>
                </a:lnTo>
                <a:lnTo>
                  <a:pt x="796075" y="1108329"/>
                </a:lnTo>
                <a:lnTo>
                  <a:pt x="836366" y="1089271"/>
                </a:lnTo>
                <a:lnTo>
                  <a:pt x="874873" y="1067230"/>
                </a:lnTo>
                <a:lnTo>
                  <a:pt x="911449" y="1042355"/>
                </a:lnTo>
                <a:lnTo>
                  <a:pt x="945946" y="1014793"/>
                </a:lnTo>
                <a:lnTo>
                  <a:pt x="978217" y="984694"/>
                </a:lnTo>
                <a:lnTo>
                  <a:pt x="1008114" y="952206"/>
                </a:lnTo>
                <a:lnTo>
                  <a:pt x="1035490" y="917478"/>
                </a:lnTo>
                <a:lnTo>
                  <a:pt x="1060198" y="880658"/>
                </a:lnTo>
                <a:lnTo>
                  <a:pt x="1082090" y="841895"/>
                </a:lnTo>
                <a:lnTo>
                  <a:pt x="1101018" y="801338"/>
                </a:lnTo>
                <a:lnTo>
                  <a:pt x="1116835" y="759134"/>
                </a:lnTo>
                <a:lnTo>
                  <a:pt x="1129395" y="715434"/>
                </a:lnTo>
                <a:lnTo>
                  <a:pt x="1138548" y="670384"/>
                </a:lnTo>
                <a:lnTo>
                  <a:pt x="1144148" y="624135"/>
                </a:lnTo>
                <a:lnTo>
                  <a:pt x="1146047" y="576834"/>
                </a:lnTo>
                <a:lnTo>
                  <a:pt x="1144148" y="529532"/>
                </a:lnTo>
                <a:lnTo>
                  <a:pt x="1138548" y="483283"/>
                </a:lnTo>
                <a:lnTo>
                  <a:pt x="1129395" y="438233"/>
                </a:lnTo>
                <a:lnTo>
                  <a:pt x="1116835" y="394533"/>
                </a:lnTo>
                <a:lnTo>
                  <a:pt x="1101018" y="352329"/>
                </a:lnTo>
                <a:lnTo>
                  <a:pt x="1082090" y="311772"/>
                </a:lnTo>
                <a:lnTo>
                  <a:pt x="1060198" y="273009"/>
                </a:lnTo>
                <a:lnTo>
                  <a:pt x="1035490" y="236189"/>
                </a:lnTo>
                <a:lnTo>
                  <a:pt x="1008114" y="201461"/>
                </a:lnTo>
                <a:lnTo>
                  <a:pt x="978217" y="168973"/>
                </a:lnTo>
                <a:lnTo>
                  <a:pt x="945946" y="138874"/>
                </a:lnTo>
                <a:lnTo>
                  <a:pt x="911449" y="111312"/>
                </a:lnTo>
                <a:lnTo>
                  <a:pt x="874873" y="86437"/>
                </a:lnTo>
                <a:lnTo>
                  <a:pt x="836366" y="64396"/>
                </a:lnTo>
                <a:lnTo>
                  <a:pt x="796075" y="45339"/>
                </a:lnTo>
                <a:lnTo>
                  <a:pt x="754148" y="29413"/>
                </a:lnTo>
                <a:lnTo>
                  <a:pt x="710732" y="16767"/>
                </a:lnTo>
                <a:lnTo>
                  <a:pt x="665974" y="7551"/>
                </a:lnTo>
                <a:lnTo>
                  <a:pt x="620022" y="1912"/>
                </a:lnTo>
                <a:lnTo>
                  <a:pt x="573023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95955" y="1636776"/>
            <a:ext cx="1072895" cy="1083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95955" y="1636776"/>
            <a:ext cx="1079500" cy="1085215"/>
          </a:xfrm>
          <a:custGeom>
            <a:avLst/>
            <a:gdLst/>
            <a:ahLst/>
            <a:cxnLst/>
            <a:rect l="l" t="t" r="r" b="b"/>
            <a:pathLst>
              <a:path w="1079500" h="1085214">
                <a:moveTo>
                  <a:pt x="539495" y="0"/>
                </a:moveTo>
                <a:lnTo>
                  <a:pt x="492948" y="1991"/>
                </a:lnTo>
                <a:lnTo>
                  <a:pt x="447499" y="7858"/>
                </a:lnTo>
                <a:lnTo>
                  <a:pt x="403311" y="17437"/>
                </a:lnTo>
                <a:lnTo>
                  <a:pt x="360547" y="30565"/>
                </a:lnTo>
                <a:lnTo>
                  <a:pt x="319368" y="47079"/>
                </a:lnTo>
                <a:lnTo>
                  <a:pt x="279935" y="66816"/>
                </a:lnTo>
                <a:lnTo>
                  <a:pt x="242412" y="89613"/>
                </a:lnTo>
                <a:lnTo>
                  <a:pt x="206960" y="115307"/>
                </a:lnTo>
                <a:lnTo>
                  <a:pt x="173741" y="143736"/>
                </a:lnTo>
                <a:lnTo>
                  <a:pt x="142917" y="174735"/>
                </a:lnTo>
                <a:lnTo>
                  <a:pt x="114649" y="208143"/>
                </a:lnTo>
                <a:lnTo>
                  <a:pt x="89101" y="243796"/>
                </a:lnTo>
                <a:lnTo>
                  <a:pt x="66434" y="281531"/>
                </a:lnTo>
                <a:lnTo>
                  <a:pt x="46809" y="321186"/>
                </a:lnTo>
                <a:lnTo>
                  <a:pt x="30390" y="362597"/>
                </a:lnTo>
                <a:lnTo>
                  <a:pt x="17337" y="405601"/>
                </a:lnTo>
                <a:lnTo>
                  <a:pt x="7813" y="450035"/>
                </a:lnTo>
                <a:lnTo>
                  <a:pt x="1980" y="495737"/>
                </a:lnTo>
                <a:lnTo>
                  <a:pt x="0" y="542544"/>
                </a:lnTo>
                <a:lnTo>
                  <a:pt x="1980" y="589350"/>
                </a:lnTo>
                <a:lnTo>
                  <a:pt x="7813" y="635052"/>
                </a:lnTo>
                <a:lnTo>
                  <a:pt x="17337" y="679486"/>
                </a:lnTo>
                <a:lnTo>
                  <a:pt x="30390" y="722490"/>
                </a:lnTo>
                <a:lnTo>
                  <a:pt x="46809" y="763901"/>
                </a:lnTo>
                <a:lnTo>
                  <a:pt x="66434" y="803556"/>
                </a:lnTo>
                <a:lnTo>
                  <a:pt x="89101" y="841291"/>
                </a:lnTo>
                <a:lnTo>
                  <a:pt x="114649" y="876944"/>
                </a:lnTo>
                <a:lnTo>
                  <a:pt x="142917" y="910352"/>
                </a:lnTo>
                <a:lnTo>
                  <a:pt x="173741" y="941351"/>
                </a:lnTo>
                <a:lnTo>
                  <a:pt x="206960" y="969780"/>
                </a:lnTo>
                <a:lnTo>
                  <a:pt x="242412" y="995474"/>
                </a:lnTo>
                <a:lnTo>
                  <a:pt x="279935" y="1018271"/>
                </a:lnTo>
                <a:lnTo>
                  <a:pt x="319368" y="1038008"/>
                </a:lnTo>
                <a:lnTo>
                  <a:pt x="360547" y="1054522"/>
                </a:lnTo>
                <a:lnTo>
                  <a:pt x="403311" y="1067650"/>
                </a:lnTo>
                <a:lnTo>
                  <a:pt x="447499" y="1077229"/>
                </a:lnTo>
                <a:lnTo>
                  <a:pt x="492948" y="1083096"/>
                </a:lnTo>
                <a:lnTo>
                  <a:pt x="539495" y="1085088"/>
                </a:lnTo>
                <a:lnTo>
                  <a:pt x="586043" y="1083096"/>
                </a:lnTo>
                <a:lnTo>
                  <a:pt x="631492" y="1077229"/>
                </a:lnTo>
                <a:lnTo>
                  <a:pt x="675680" y="1067650"/>
                </a:lnTo>
                <a:lnTo>
                  <a:pt x="718444" y="1054522"/>
                </a:lnTo>
                <a:lnTo>
                  <a:pt x="759623" y="1038008"/>
                </a:lnTo>
                <a:lnTo>
                  <a:pt x="799056" y="1018271"/>
                </a:lnTo>
                <a:lnTo>
                  <a:pt x="836579" y="995474"/>
                </a:lnTo>
                <a:lnTo>
                  <a:pt x="872031" y="969780"/>
                </a:lnTo>
                <a:lnTo>
                  <a:pt x="905250" y="941351"/>
                </a:lnTo>
                <a:lnTo>
                  <a:pt x="936074" y="910352"/>
                </a:lnTo>
                <a:lnTo>
                  <a:pt x="964342" y="876944"/>
                </a:lnTo>
                <a:lnTo>
                  <a:pt x="989890" y="841291"/>
                </a:lnTo>
                <a:lnTo>
                  <a:pt x="1012557" y="803556"/>
                </a:lnTo>
                <a:lnTo>
                  <a:pt x="1032182" y="763901"/>
                </a:lnTo>
                <a:lnTo>
                  <a:pt x="1048601" y="722490"/>
                </a:lnTo>
                <a:lnTo>
                  <a:pt x="1061654" y="679486"/>
                </a:lnTo>
                <a:lnTo>
                  <a:pt x="1071178" y="635052"/>
                </a:lnTo>
                <a:lnTo>
                  <a:pt x="1077011" y="589350"/>
                </a:lnTo>
                <a:lnTo>
                  <a:pt x="1078992" y="542544"/>
                </a:lnTo>
                <a:lnTo>
                  <a:pt x="1077011" y="495737"/>
                </a:lnTo>
                <a:lnTo>
                  <a:pt x="1071178" y="450035"/>
                </a:lnTo>
                <a:lnTo>
                  <a:pt x="1061654" y="405601"/>
                </a:lnTo>
                <a:lnTo>
                  <a:pt x="1048601" y="362597"/>
                </a:lnTo>
                <a:lnTo>
                  <a:pt x="1032182" y="321186"/>
                </a:lnTo>
                <a:lnTo>
                  <a:pt x="1012557" y="281531"/>
                </a:lnTo>
                <a:lnTo>
                  <a:pt x="989890" y="243796"/>
                </a:lnTo>
                <a:lnTo>
                  <a:pt x="964342" y="208143"/>
                </a:lnTo>
                <a:lnTo>
                  <a:pt x="936074" y="174735"/>
                </a:lnTo>
                <a:lnTo>
                  <a:pt x="905250" y="143736"/>
                </a:lnTo>
                <a:lnTo>
                  <a:pt x="872031" y="115307"/>
                </a:lnTo>
                <a:lnTo>
                  <a:pt x="836579" y="89613"/>
                </a:lnTo>
                <a:lnTo>
                  <a:pt x="799056" y="66816"/>
                </a:lnTo>
                <a:lnTo>
                  <a:pt x="759623" y="47079"/>
                </a:lnTo>
                <a:lnTo>
                  <a:pt x="718444" y="30565"/>
                </a:lnTo>
                <a:lnTo>
                  <a:pt x="675680" y="17437"/>
                </a:lnTo>
                <a:lnTo>
                  <a:pt x="631492" y="7858"/>
                </a:lnTo>
                <a:lnTo>
                  <a:pt x="586043" y="1991"/>
                </a:lnTo>
                <a:lnTo>
                  <a:pt x="539495" y="0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06623" y="1682495"/>
            <a:ext cx="789431" cy="676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35477" y="2073910"/>
            <a:ext cx="300990" cy="528320"/>
          </a:xfrm>
          <a:custGeom>
            <a:avLst/>
            <a:gdLst/>
            <a:ahLst/>
            <a:cxnLst/>
            <a:rect l="l" t="t" r="r" b="b"/>
            <a:pathLst>
              <a:path w="300989" h="528319">
                <a:moveTo>
                  <a:pt x="248412" y="0"/>
                </a:moveTo>
                <a:lnTo>
                  <a:pt x="250315" y="19034"/>
                </a:lnTo>
                <a:lnTo>
                  <a:pt x="251063" y="39115"/>
                </a:lnTo>
                <a:lnTo>
                  <a:pt x="250644" y="60150"/>
                </a:lnTo>
                <a:lnTo>
                  <a:pt x="242253" y="128615"/>
                </a:lnTo>
                <a:lnTo>
                  <a:pt x="231134" y="175889"/>
                </a:lnTo>
                <a:lnTo>
                  <a:pt x="216075" y="223184"/>
                </a:lnTo>
                <a:lnTo>
                  <a:pt x="197461" y="269821"/>
                </a:lnTo>
                <a:lnTo>
                  <a:pt x="175678" y="315121"/>
                </a:lnTo>
                <a:lnTo>
                  <a:pt x="151111" y="358405"/>
                </a:lnTo>
                <a:lnTo>
                  <a:pt x="124145" y="398995"/>
                </a:lnTo>
                <a:lnTo>
                  <a:pt x="95166" y="436211"/>
                </a:lnTo>
                <a:lnTo>
                  <a:pt x="64558" y="469374"/>
                </a:lnTo>
                <a:lnTo>
                  <a:pt x="32708" y="497806"/>
                </a:lnTo>
                <a:lnTo>
                  <a:pt x="0" y="520826"/>
                </a:lnTo>
                <a:lnTo>
                  <a:pt x="32335" y="527815"/>
                </a:lnTo>
                <a:lnTo>
                  <a:pt x="106555" y="501439"/>
                </a:lnTo>
                <a:lnTo>
                  <a:pt x="145422" y="470478"/>
                </a:lnTo>
                <a:lnTo>
                  <a:pt x="183450" y="429272"/>
                </a:lnTo>
                <a:lnTo>
                  <a:pt x="219129" y="379021"/>
                </a:lnTo>
                <a:lnTo>
                  <a:pt x="250951" y="320928"/>
                </a:lnTo>
                <a:lnTo>
                  <a:pt x="276077" y="259597"/>
                </a:lnTo>
                <a:lnTo>
                  <a:pt x="292680" y="200221"/>
                </a:lnTo>
                <a:lnTo>
                  <a:pt x="300777" y="144723"/>
                </a:lnTo>
                <a:lnTo>
                  <a:pt x="300383" y="95028"/>
                </a:lnTo>
                <a:lnTo>
                  <a:pt x="291514" y="53060"/>
                </a:lnTo>
                <a:lnTo>
                  <a:pt x="274185" y="20743"/>
                </a:lnTo>
                <a:lnTo>
                  <a:pt x="2484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41878" y="2181351"/>
            <a:ext cx="393700" cy="464820"/>
          </a:xfrm>
          <a:custGeom>
            <a:avLst/>
            <a:gdLst/>
            <a:ahLst/>
            <a:cxnLst/>
            <a:rect l="l" t="t" r="r" b="b"/>
            <a:pathLst>
              <a:path w="393700" h="464819">
                <a:moveTo>
                  <a:pt x="363727" y="0"/>
                </a:moveTo>
                <a:lnTo>
                  <a:pt x="357155" y="38750"/>
                </a:lnTo>
                <a:lnTo>
                  <a:pt x="345059" y="79883"/>
                </a:lnTo>
                <a:lnTo>
                  <a:pt x="327527" y="123581"/>
                </a:lnTo>
                <a:lnTo>
                  <a:pt x="305629" y="166942"/>
                </a:lnTo>
                <a:lnTo>
                  <a:pt x="279897" y="209397"/>
                </a:lnTo>
                <a:lnTo>
                  <a:pt x="250865" y="250376"/>
                </a:lnTo>
                <a:lnTo>
                  <a:pt x="219066" y="289310"/>
                </a:lnTo>
                <a:lnTo>
                  <a:pt x="185032" y="325628"/>
                </a:lnTo>
                <a:lnTo>
                  <a:pt x="149296" y="358762"/>
                </a:lnTo>
                <a:lnTo>
                  <a:pt x="112392" y="388141"/>
                </a:lnTo>
                <a:lnTo>
                  <a:pt x="74853" y="413196"/>
                </a:lnTo>
                <a:lnTo>
                  <a:pt x="37211" y="433358"/>
                </a:lnTo>
                <a:lnTo>
                  <a:pt x="0" y="448056"/>
                </a:lnTo>
                <a:lnTo>
                  <a:pt x="29792" y="462436"/>
                </a:lnTo>
                <a:lnTo>
                  <a:pt x="108108" y="454197"/>
                </a:lnTo>
                <a:lnTo>
                  <a:pt x="153143" y="433208"/>
                </a:lnTo>
                <a:lnTo>
                  <a:pt x="199771" y="402060"/>
                </a:lnTo>
                <a:lnTo>
                  <a:pt x="246248" y="361567"/>
                </a:lnTo>
                <a:lnTo>
                  <a:pt x="290830" y="312547"/>
                </a:lnTo>
                <a:lnTo>
                  <a:pt x="329657" y="258851"/>
                </a:lnTo>
                <a:lnTo>
                  <a:pt x="359743" y="205042"/>
                </a:lnTo>
                <a:lnTo>
                  <a:pt x="380650" y="152996"/>
                </a:lnTo>
                <a:lnTo>
                  <a:pt x="391939" y="104592"/>
                </a:lnTo>
                <a:lnTo>
                  <a:pt x="393174" y="61707"/>
                </a:lnTo>
                <a:lnTo>
                  <a:pt x="383916" y="26217"/>
                </a:lnTo>
                <a:lnTo>
                  <a:pt x="3637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90189" y="2234564"/>
            <a:ext cx="425450" cy="436880"/>
          </a:xfrm>
          <a:custGeom>
            <a:avLst/>
            <a:gdLst/>
            <a:ahLst/>
            <a:cxnLst/>
            <a:rect l="l" t="t" r="r" b="b"/>
            <a:pathLst>
              <a:path w="425450" h="436880">
                <a:moveTo>
                  <a:pt x="400938" y="0"/>
                </a:moveTo>
                <a:lnTo>
                  <a:pt x="391001" y="37988"/>
                </a:lnTo>
                <a:lnTo>
                  <a:pt x="375538" y="77977"/>
                </a:lnTo>
                <a:lnTo>
                  <a:pt x="354306" y="119986"/>
                </a:lnTo>
                <a:lnTo>
                  <a:pt x="328748" y="161289"/>
                </a:lnTo>
                <a:lnTo>
                  <a:pt x="299447" y="201365"/>
                </a:lnTo>
                <a:lnTo>
                  <a:pt x="266983" y="239689"/>
                </a:lnTo>
                <a:lnTo>
                  <a:pt x="231938" y="275741"/>
                </a:lnTo>
                <a:lnTo>
                  <a:pt x="194893" y="308996"/>
                </a:lnTo>
                <a:lnTo>
                  <a:pt x="156428" y="338932"/>
                </a:lnTo>
                <a:lnTo>
                  <a:pt x="117126" y="365027"/>
                </a:lnTo>
                <a:lnTo>
                  <a:pt x="77566" y="386758"/>
                </a:lnTo>
                <a:lnTo>
                  <a:pt x="38330" y="403601"/>
                </a:lnTo>
                <a:lnTo>
                  <a:pt x="0" y="415036"/>
                </a:lnTo>
                <a:lnTo>
                  <a:pt x="28444" y="431917"/>
                </a:lnTo>
                <a:lnTo>
                  <a:pt x="107202" y="430464"/>
                </a:lnTo>
                <a:lnTo>
                  <a:pt x="153894" y="413442"/>
                </a:lnTo>
                <a:lnTo>
                  <a:pt x="203048" y="386429"/>
                </a:lnTo>
                <a:lnTo>
                  <a:pt x="252852" y="350081"/>
                </a:lnTo>
                <a:lnTo>
                  <a:pt x="301498" y="305054"/>
                </a:lnTo>
                <a:lnTo>
                  <a:pt x="344802" y="254912"/>
                </a:lnTo>
                <a:lnTo>
                  <a:pt x="379395" y="203899"/>
                </a:lnTo>
                <a:lnTo>
                  <a:pt x="404684" y="153851"/>
                </a:lnTo>
                <a:lnTo>
                  <a:pt x="420076" y="106602"/>
                </a:lnTo>
                <a:lnTo>
                  <a:pt x="424978" y="63987"/>
                </a:lnTo>
                <a:lnTo>
                  <a:pt x="418797" y="27841"/>
                </a:lnTo>
                <a:lnTo>
                  <a:pt x="4009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22625" y="2308351"/>
            <a:ext cx="474345" cy="380365"/>
          </a:xfrm>
          <a:custGeom>
            <a:avLst/>
            <a:gdLst/>
            <a:ahLst/>
            <a:cxnLst/>
            <a:rect l="l" t="t" r="r" b="b"/>
            <a:pathLst>
              <a:path w="474345" h="380364">
                <a:moveTo>
                  <a:pt x="460121" y="0"/>
                </a:moveTo>
                <a:lnTo>
                  <a:pt x="444484" y="36004"/>
                </a:lnTo>
                <a:lnTo>
                  <a:pt x="423037" y="73151"/>
                </a:lnTo>
                <a:lnTo>
                  <a:pt x="395559" y="111401"/>
                </a:lnTo>
                <a:lnTo>
                  <a:pt x="363924" y="148281"/>
                </a:lnTo>
                <a:lnTo>
                  <a:pt x="328786" y="183365"/>
                </a:lnTo>
                <a:lnTo>
                  <a:pt x="290797" y="216228"/>
                </a:lnTo>
                <a:lnTo>
                  <a:pt x="250613" y="246445"/>
                </a:lnTo>
                <a:lnTo>
                  <a:pt x="208886" y="273591"/>
                </a:lnTo>
                <a:lnTo>
                  <a:pt x="166270" y="297240"/>
                </a:lnTo>
                <a:lnTo>
                  <a:pt x="123420" y="316967"/>
                </a:lnTo>
                <a:lnTo>
                  <a:pt x="80989" y="332346"/>
                </a:lnTo>
                <a:lnTo>
                  <a:pt x="39631" y="342953"/>
                </a:lnTo>
                <a:lnTo>
                  <a:pt x="0" y="348361"/>
                </a:lnTo>
                <a:lnTo>
                  <a:pt x="25484" y="369440"/>
                </a:lnTo>
                <a:lnTo>
                  <a:pt x="60616" y="379911"/>
                </a:lnTo>
                <a:lnTo>
                  <a:pt x="103506" y="380145"/>
                </a:lnTo>
                <a:lnTo>
                  <a:pt x="152263" y="370513"/>
                </a:lnTo>
                <a:lnTo>
                  <a:pt x="204997" y="351386"/>
                </a:lnTo>
                <a:lnTo>
                  <a:pt x="259817" y="323135"/>
                </a:lnTo>
                <a:lnTo>
                  <a:pt x="314833" y="286131"/>
                </a:lnTo>
                <a:lnTo>
                  <a:pt x="365328" y="243255"/>
                </a:lnTo>
                <a:lnTo>
                  <a:pt x="407373" y="198181"/>
                </a:lnTo>
                <a:lnTo>
                  <a:pt x="440089" y="152626"/>
                </a:lnTo>
                <a:lnTo>
                  <a:pt x="462600" y="108311"/>
                </a:lnTo>
                <a:lnTo>
                  <a:pt x="474027" y="66956"/>
                </a:lnTo>
                <a:lnTo>
                  <a:pt x="473493" y="30278"/>
                </a:lnTo>
                <a:lnTo>
                  <a:pt x="4601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65678" y="2265298"/>
            <a:ext cx="449580" cy="412115"/>
          </a:xfrm>
          <a:custGeom>
            <a:avLst/>
            <a:gdLst/>
            <a:ahLst/>
            <a:cxnLst/>
            <a:rect l="l" t="t" r="r" b="b"/>
            <a:pathLst>
              <a:path w="449579" h="412114">
                <a:moveTo>
                  <a:pt x="429133" y="0"/>
                </a:moveTo>
                <a:lnTo>
                  <a:pt x="416671" y="37337"/>
                </a:lnTo>
                <a:lnTo>
                  <a:pt x="398399" y="76200"/>
                </a:lnTo>
                <a:lnTo>
                  <a:pt x="374335" y="116679"/>
                </a:lnTo>
                <a:lnTo>
                  <a:pt x="345988" y="156126"/>
                </a:lnTo>
                <a:lnTo>
                  <a:pt x="313977" y="194063"/>
                </a:lnTo>
                <a:lnTo>
                  <a:pt x="278918" y="230012"/>
                </a:lnTo>
                <a:lnTo>
                  <a:pt x="241428" y="263494"/>
                </a:lnTo>
                <a:lnTo>
                  <a:pt x="202124" y="294032"/>
                </a:lnTo>
                <a:lnTo>
                  <a:pt x="161623" y="321148"/>
                </a:lnTo>
                <a:lnTo>
                  <a:pt x="120543" y="344363"/>
                </a:lnTo>
                <a:lnTo>
                  <a:pt x="79501" y="363200"/>
                </a:lnTo>
                <a:lnTo>
                  <a:pt x="39114" y="377180"/>
                </a:lnTo>
                <a:lnTo>
                  <a:pt x="0" y="385825"/>
                </a:lnTo>
                <a:lnTo>
                  <a:pt x="23361" y="403083"/>
                </a:lnTo>
                <a:lnTo>
                  <a:pt x="53566" y="411563"/>
                </a:lnTo>
                <a:lnTo>
                  <a:pt x="89372" y="411619"/>
                </a:lnTo>
                <a:lnTo>
                  <a:pt x="129539" y="403606"/>
                </a:lnTo>
                <a:lnTo>
                  <a:pt x="172826" y="387877"/>
                </a:lnTo>
                <a:lnTo>
                  <a:pt x="217991" y="364787"/>
                </a:lnTo>
                <a:lnTo>
                  <a:pt x="263793" y="334691"/>
                </a:lnTo>
                <a:lnTo>
                  <a:pt x="308991" y="297941"/>
                </a:lnTo>
                <a:lnTo>
                  <a:pt x="350314" y="256927"/>
                </a:lnTo>
                <a:lnTo>
                  <a:pt x="385091" y="214598"/>
                </a:lnTo>
                <a:lnTo>
                  <a:pt x="412838" y="172149"/>
                </a:lnTo>
                <a:lnTo>
                  <a:pt x="433070" y="130778"/>
                </a:lnTo>
                <a:lnTo>
                  <a:pt x="445300" y="91681"/>
                </a:lnTo>
                <a:lnTo>
                  <a:pt x="449044" y="56054"/>
                </a:lnTo>
                <a:lnTo>
                  <a:pt x="443816" y="25095"/>
                </a:lnTo>
                <a:lnTo>
                  <a:pt x="4291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65982" y="2372995"/>
            <a:ext cx="516255" cy="321945"/>
          </a:xfrm>
          <a:custGeom>
            <a:avLst/>
            <a:gdLst/>
            <a:ahLst/>
            <a:cxnLst/>
            <a:rect l="l" t="t" r="r" b="b"/>
            <a:pathLst>
              <a:path w="516254" h="321944">
                <a:moveTo>
                  <a:pt x="0" y="274065"/>
                </a:moveTo>
                <a:lnTo>
                  <a:pt x="18649" y="296345"/>
                </a:lnTo>
                <a:lnTo>
                  <a:pt x="46019" y="311691"/>
                </a:lnTo>
                <a:lnTo>
                  <a:pt x="80815" y="320158"/>
                </a:lnTo>
                <a:lnTo>
                  <a:pt x="121745" y="321802"/>
                </a:lnTo>
                <a:lnTo>
                  <a:pt x="167514" y="316676"/>
                </a:lnTo>
                <a:lnTo>
                  <a:pt x="216830" y="304837"/>
                </a:lnTo>
                <a:lnTo>
                  <a:pt x="268399" y="286340"/>
                </a:lnTo>
                <a:lnTo>
                  <a:pt x="292399" y="274872"/>
                </a:lnTo>
                <a:lnTo>
                  <a:pt x="40034" y="274872"/>
                </a:lnTo>
                <a:lnTo>
                  <a:pt x="0" y="274065"/>
                </a:lnTo>
                <a:close/>
              </a:path>
              <a:path w="516254" h="321944">
                <a:moveTo>
                  <a:pt x="507745" y="0"/>
                </a:moveTo>
                <a:lnTo>
                  <a:pt x="486870" y="33258"/>
                </a:lnTo>
                <a:lnTo>
                  <a:pt x="459994" y="66801"/>
                </a:lnTo>
                <a:lnTo>
                  <a:pt x="427075" y="100474"/>
                </a:lnTo>
                <a:lnTo>
                  <a:pt x="390241" y="132145"/>
                </a:lnTo>
                <a:lnTo>
                  <a:pt x="350202" y="161491"/>
                </a:lnTo>
                <a:lnTo>
                  <a:pt x="307671" y="188193"/>
                </a:lnTo>
                <a:lnTo>
                  <a:pt x="263360" y="211928"/>
                </a:lnTo>
                <a:lnTo>
                  <a:pt x="217981" y="232376"/>
                </a:lnTo>
                <a:lnTo>
                  <a:pt x="172247" y="249215"/>
                </a:lnTo>
                <a:lnTo>
                  <a:pt x="126870" y="262125"/>
                </a:lnTo>
                <a:lnTo>
                  <a:pt x="82561" y="270784"/>
                </a:lnTo>
                <a:lnTo>
                  <a:pt x="40034" y="274872"/>
                </a:lnTo>
                <a:lnTo>
                  <a:pt x="292399" y="274872"/>
                </a:lnTo>
                <a:lnTo>
                  <a:pt x="370732" y="231094"/>
                </a:lnTo>
                <a:lnTo>
                  <a:pt x="414484" y="198131"/>
                </a:lnTo>
                <a:lnTo>
                  <a:pt x="451431" y="163400"/>
                </a:lnTo>
                <a:lnTo>
                  <a:pt x="480821" y="127952"/>
                </a:lnTo>
                <a:lnTo>
                  <a:pt x="501901" y="92837"/>
                </a:lnTo>
                <a:lnTo>
                  <a:pt x="516116" y="27810"/>
                </a:lnTo>
                <a:lnTo>
                  <a:pt x="5077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10483" y="2416429"/>
            <a:ext cx="535940" cy="287655"/>
          </a:xfrm>
          <a:custGeom>
            <a:avLst/>
            <a:gdLst/>
            <a:ahLst/>
            <a:cxnLst/>
            <a:rect l="l" t="t" r="r" b="b"/>
            <a:pathLst>
              <a:path w="535939" h="287655">
                <a:moveTo>
                  <a:pt x="0" y="229488"/>
                </a:moveTo>
                <a:lnTo>
                  <a:pt x="16686" y="253249"/>
                </a:lnTo>
                <a:lnTo>
                  <a:pt x="42644" y="270867"/>
                </a:lnTo>
                <a:lnTo>
                  <a:pt x="76585" y="282281"/>
                </a:lnTo>
                <a:lnTo>
                  <a:pt x="117221" y="287432"/>
                </a:lnTo>
                <a:lnTo>
                  <a:pt x="163261" y="286261"/>
                </a:lnTo>
                <a:lnTo>
                  <a:pt x="213419" y="278709"/>
                </a:lnTo>
                <a:lnTo>
                  <a:pt x="266404" y="264715"/>
                </a:lnTo>
                <a:lnTo>
                  <a:pt x="320929" y="244221"/>
                </a:lnTo>
                <a:lnTo>
                  <a:pt x="342205" y="233723"/>
                </a:lnTo>
                <a:lnTo>
                  <a:pt x="39831" y="233723"/>
                </a:lnTo>
                <a:lnTo>
                  <a:pt x="0" y="229488"/>
                </a:lnTo>
                <a:close/>
              </a:path>
              <a:path w="535939" h="287655">
                <a:moveTo>
                  <a:pt x="529463" y="0"/>
                </a:moveTo>
                <a:lnTo>
                  <a:pt x="505793" y="31321"/>
                </a:lnTo>
                <a:lnTo>
                  <a:pt x="476123" y="62357"/>
                </a:lnTo>
                <a:lnTo>
                  <a:pt x="440447" y="93105"/>
                </a:lnTo>
                <a:lnTo>
                  <a:pt x="401038" y="121518"/>
                </a:lnTo>
                <a:lnTo>
                  <a:pt x="358632" y="147335"/>
                </a:lnTo>
                <a:lnTo>
                  <a:pt x="313967" y="170300"/>
                </a:lnTo>
                <a:lnTo>
                  <a:pt x="267781" y="190154"/>
                </a:lnTo>
                <a:lnTo>
                  <a:pt x="220810" y="206639"/>
                </a:lnTo>
                <a:lnTo>
                  <a:pt x="173792" y="219496"/>
                </a:lnTo>
                <a:lnTo>
                  <a:pt x="127465" y="228468"/>
                </a:lnTo>
                <a:lnTo>
                  <a:pt x="82566" y="233296"/>
                </a:lnTo>
                <a:lnTo>
                  <a:pt x="39831" y="233723"/>
                </a:lnTo>
                <a:lnTo>
                  <a:pt x="342205" y="233723"/>
                </a:lnTo>
                <a:lnTo>
                  <a:pt x="419538" y="189380"/>
                </a:lnTo>
                <a:lnTo>
                  <a:pt x="459319" y="157951"/>
                </a:lnTo>
                <a:lnTo>
                  <a:pt x="491632" y="125158"/>
                </a:lnTo>
                <a:lnTo>
                  <a:pt x="515642" y="91984"/>
                </a:lnTo>
                <a:lnTo>
                  <a:pt x="535395" y="28423"/>
                </a:lnTo>
                <a:lnTo>
                  <a:pt x="5294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5332" y="2481326"/>
            <a:ext cx="560070" cy="226695"/>
          </a:xfrm>
          <a:custGeom>
            <a:avLst/>
            <a:gdLst/>
            <a:ahLst/>
            <a:cxnLst/>
            <a:rect l="l" t="t" r="r" b="b"/>
            <a:pathLst>
              <a:path w="560070" h="226694">
                <a:moveTo>
                  <a:pt x="0" y="145034"/>
                </a:moveTo>
                <a:lnTo>
                  <a:pt x="35744" y="192524"/>
                </a:lnTo>
                <a:lnTo>
                  <a:pt x="106886" y="220440"/>
                </a:lnTo>
                <a:lnTo>
                  <a:pt x="152564" y="226403"/>
                </a:lnTo>
                <a:lnTo>
                  <a:pt x="203293" y="226687"/>
                </a:lnTo>
                <a:lnTo>
                  <a:pt x="257804" y="221029"/>
                </a:lnTo>
                <a:lnTo>
                  <a:pt x="314832" y="209169"/>
                </a:lnTo>
                <a:lnTo>
                  <a:pt x="370378" y="191789"/>
                </a:lnTo>
                <a:lnTo>
                  <a:pt x="420725" y="170217"/>
                </a:lnTo>
                <a:lnTo>
                  <a:pt x="432232" y="163724"/>
                </a:lnTo>
                <a:lnTo>
                  <a:pt x="126086" y="163724"/>
                </a:lnTo>
                <a:lnTo>
                  <a:pt x="80981" y="161559"/>
                </a:lnTo>
                <a:lnTo>
                  <a:pt x="38696" y="155376"/>
                </a:lnTo>
                <a:lnTo>
                  <a:pt x="0" y="145034"/>
                </a:lnTo>
                <a:close/>
              </a:path>
              <a:path w="560070" h="226694">
                <a:moveTo>
                  <a:pt x="558545" y="0"/>
                </a:moveTo>
                <a:lnTo>
                  <a:pt x="530320" y="27304"/>
                </a:lnTo>
                <a:lnTo>
                  <a:pt x="496189" y="53466"/>
                </a:lnTo>
                <a:lnTo>
                  <a:pt x="456201" y="78327"/>
                </a:lnTo>
                <a:lnTo>
                  <a:pt x="412884" y="100307"/>
                </a:lnTo>
                <a:lnTo>
                  <a:pt x="367004" y="119263"/>
                </a:lnTo>
                <a:lnTo>
                  <a:pt x="319331" y="135054"/>
                </a:lnTo>
                <a:lnTo>
                  <a:pt x="270634" y="147538"/>
                </a:lnTo>
                <a:lnTo>
                  <a:pt x="221681" y="156572"/>
                </a:lnTo>
                <a:lnTo>
                  <a:pt x="173242" y="162015"/>
                </a:lnTo>
                <a:lnTo>
                  <a:pt x="126086" y="163724"/>
                </a:lnTo>
                <a:lnTo>
                  <a:pt x="432232" y="163724"/>
                </a:lnTo>
                <a:lnTo>
                  <a:pt x="501888" y="117871"/>
                </a:lnTo>
                <a:lnTo>
                  <a:pt x="530736" y="88785"/>
                </a:lnTo>
                <a:lnTo>
                  <a:pt x="560049" y="29005"/>
                </a:lnTo>
                <a:lnTo>
                  <a:pt x="558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97960" y="2107310"/>
            <a:ext cx="265430" cy="464820"/>
          </a:xfrm>
          <a:custGeom>
            <a:avLst/>
            <a:gdLst/>
            <a:ahLst/>
            <a:cxnLst/>
            <a:rect l="l" t="t" r="r" b="b"/>
            <a:pathLst>
              <a:path w="265429" h="464819">
                <a:moveTo>
                  <a:pt x="218693" y="0"/>
                </a:moveTo>
                <a:lnTo>
                  <a:pt x="220382" y="16847"/>
                </a:lnTo>
                <a:lnTo>
                  <a:pt x="221059" y="34575"/>
                </a:lnTo>
                <a:lnTo>
                  <a:pt x="220712" y="53113"/>
                </a:lnTo>
                <a:lnTo>
                  <a:pt x="211581" y="122641"/>
                </a:lnTo>
                <a:lnTo>
                  <a:pt x="198234" y="173606"/>
                </a:lnTo>
                <a:lnTo>
                  <a:pt x="179907" y="224192"/>
                </a:lnTo>
                <a:lnTo>
                  <a:pt x="157217" y="273308"/>
                </a:lnTo>
                <a:lnTo>
                  <a:pt x="130785" y="319861"/>
                </a:lnTo>
                <a:lnTo>
                  <a:pt x="101228" y="362759"/>
                </a:lnTo>
                <a:lnTo>
                  <a:pt x="69166" y="400909"/>
                </a:lnTo>
                <a:lnTo>
                  <a:pt x="35216" y="433219"/>
                </a:lnTo>
                <a:lnTo>
                  <a:pt x="0" y="458597"/>
                </a:lnTo>
                <a:lnTo>
                  <a:pt x="28617" y="464822"/>
                </a:lnTo>
                <a:lnTo>
                  <a:pt x="94199" y="441708"/>
                </a:lnTo>
                <a:lnTo>
                  <a:pt x="128501" y="414483"/>
                </a:lnTo>
                <a:lnTo>
                  <a:pt x="162037" y="378224"/>
                </a:lnTo>
                <a:lnTo>
                  <a:pt x="193476" y="333986"/>
                </a:lnTo>
                <a:lnTo>
                  <a:pt x="221487" y="282828"/>
                </a:lnTo>
                <a:lnTo>
                  <a:pt x="243620" y="228846"/>
                </a:lnTo>
                <a:lnTo>
                  <a:pt x="258212" y="176561"/>
                </a:lnTo>
                <a:lnTo>
                  <a:pt x="265281" y="127670"/>
                </a:lnTo>
                <a:lnTo>
                  <a:pt x="264847" y="83872"/>
                </a:lnTo>
                <a:lnTo>
                  <a:pt x="256925" y="46862"/>
                </a:lnTo>
                <a:lnTo>
                  <a:pt x="241535" y="18339"/>
                </a:lnTo>
                <a:lnTo>
                  <a:pt x="2186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15538" y="2201926"/>
            <a:ext cx="346710" cy="408940"/>
          </a:xfrm>
          <a:custGeom>
            <a:avLst/>
            <a:gdLst/>
            <a:ahLst/>
            <a:cxnLst/>
            <a:rect l="l" t="t" r="r" b="b"/>
            <a:pathLst>
              <a:path w="346710" h="408939">
                <a:moveTo>
                  <a:pt x="320294" y="0"/>
                </a:moveTo>
                <a:lnTo>
                  <a:pt x="309846" y="52042"/>
                </a:lnTo>
                <a:lnTo>
                  <a:pt x="284689" y="117510"/>
                </a:lnTo>
                <a:lnTo>
                  <a:pt x="259727" y="163913"/>
                </a:lnTo>
                <a:lnTo>
                  <a:pt x="230011" y="208778"/>
                </a:lnTo>
                <a:lnTo>
                  <a:pt x="196400" y="251191"/>
                </a:lnTo>
                <a:lnTo>
                  <a:pt x="159754" y="290237"/>
                </a:lnTo>
                <a:lnTo>
                  <a:pt x="120932" y="325002"/>
                </a:lnTo>
                <a:lnTo>
                  <a:pt x="80792" y="354571"/>
                </a:lnTo>
                <a:lnTo>
                  <a:pt x="40195" y="378029"/>
                </a:lnTo>
                <a:lnTo>
                  <a:pt x="0" y="394462"/>
                </a:lnTo>
                <a:lnTo>
                  <a:pt x="26367" y="407191"/>
                </a:lnTo>
                <a:lnTo>
                  <a:pt x="95542" y="400113"/>
                </a:lnTo>
                <a:lnTo>
                  <a:pt x="135279" y="381719"/>
                </a:lnTo>
                <a:lnTo>
                  <a:pt x="176402" y="354362"/>
                </a:lnTo>
                <a:lnTo>
                  <a:pt x="217376" y="318750"/>
                </a:lnTo>
                <a:lnTo>
                  <a:pt x="256666" y="275589"/>
                </a:lnTo>
                <a:lnTo>
                  <a:pt x="290815" y="228286"/>
                </a:lnTo>
                <a:lnTo>
                  <a:pt x="317244" y="180876"/>
                </a:lnTo>
                <a:lnTo>
                  <a:pt x="335573" y="135010"/>
                </a:lnTo>
                <a:lnTo>
                  <a:pt x="345423" y="92339"/>
                </a:lnTo>
                <a:lnTo>
                  <a:pt x="346413" y="54513"/>
                </a:lnTo>
                <a:lnTo>
                  <a:pt x="338163" y="23183"/>
                </a:lnTo>
                <a:lnTo>
                  <a:pt x="3202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70071" y="2248661"/>
            <a:ext cx="374650" cy="385445"/>
          </a:xfrm>
          <a:custGeom>
            <a:avLst/>
            <a:gdLst/>
            <a:ahLst/>
            <a:cxnLst/>
            <a:rect l="l" t="t" r="r" b="b"/>
            <a:pathLst>
              <a:path w="374650" h="385444">
                <a:moveTo>
                  <a:pt x="352932" y="0"/>
                </a:moveTo>
                <a:lnTo>
                  <a:pt x="338109" y="50988"/>
                </a:lnTo>
                <a:lnTo>
                  <a:pt x="307392" y="114028"/>
                </a:lnTo>
                <a:lnTo>
                  <a:pt x="278538" y="158120"/>
                </a:lnTo>
                <a:lnTo>
                  <a:pt x="245081" y="200269"/>
                </a:lnTo>
                <a:lnTo>
                  <a:pt x="207955" y="239637"/>
                </a:lnTo>
                <a:lnTo>
                  <a:pt x="168095" y="275384"/>
                </a:lnTo>
                <a:lnTo>
                  <a:pt x="126435" y="306672"/>
                </a:lnTo>
                <a:lnTo>
                  <a:pt x="83909" y="332659"/>
                </a:lnTo>
                <a:lnTo>
                  <a:pt x="41453" y="352508"/>
                </a:lnTo>
                <a:lnTo>
                  <a:pt x="0" y="365378"/>
                </a:lnTo>
                <a:lnTo>
                  <a:pt x="25127" y="380380"/>
                </a:lnTo>
                <a:lnTo>
                  <a:pt x="94635" y="379328"/>
                </a:lnTo>
                <a:lnTo>
                  <a:pt x="135812" y="364425"/>
                </a:lnTo>
                <a:lnTo>
                  <a:pt x="179134" y="340704"/>
                </a:lnTo>
                <a:lnTo>
                  <a:pt x="223001" y="308742"/>
                </a:lnTo>
                <a:lnTo>
                  <a:pt x="265811" y="269113"/>
                </a:lnTo>
                <a:lnTo>
                  <a:pt x="303940" y="224921"/>
                </a:lnTo>
                <a:lnTo>
                  <a:pt x="334379" y="179960"/>
                </a:lnTo>
                <a:lnTo>
                  <a:pt x="356604" y="135841"/>
                </a:lnTo>
                <a:lnTo>
                  <a:pt x="370094" y="94175"/>
                </a:lnTo>
                <a:lnTo>
                  <a:pt x="374327" y="56573"/>
                </a:lnTo>
                <a:lnTo>
                  <a:pt x="368780" y="24644"/>
                </a:lnTo>
                <a:lnTo>
                  <a:pt x="3529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10509" y="2313685"/>
            <a:ext cx="417830" cy="335280"/>
          </a:xfrm>
          <a:custGeom>
            <a:avLst/>
            <a:gdLst/>
            <a:ahLst/>
            <a:cxnLst/>
            <a:rect l="l" t="t" r="r" b="b"/>
            <a:pathLst>
              <a:path w="417829" h="335280">
                <a:moveTo>
                  <a:pt x="405129" y="0"/>
                </a:moveTo>
                <a:lnTo>
                  <a:pt x="382555" y="48023"/>
                </a:lnTo>
                <a:lnTo>
                  <a:pt x="342482" y="105559"/>
                </a:lnTo>
                <a:lnTo>
                  <a:pt x="307175" y="144665"/>
                </a:lnTo>
                <a:lnTo>
                  <a:pt x="267621" y="181149"/>
                </a:lnTo>
                <a:lnTo>
                  <a:pt x="224872" y="214324"/>
                </a:lnTo>
                <a:lnTo>
                  <a:pt x="179979" y="243505"/>
                </a:lnTo>
                <a:lnTo>
                  <a:pt x="133994" y="268007"/>
                </a:lnTo>
                <a:lnTo>
                  <a:pt x="87968" y="287144"/>
                </a:lnTo>
                <a:lnTo>
                  <a:pt x="42953" y="300229"/>
                </a:lnTo>
                <a:lnTo>
                  <a:pt x="0" y="306577"/>
                </a:lnTo>
                <a:lnTo>
                  <a:pt x="22543" y="325254"/>
                </a:lnTo>
                <a:lnTo>
                  <a:pt x="53572" y="334582"/>
                </a:lnTo>
                <a:lnTo>
                  <a:pt x="91420" y="334886"/>
                </a:lnTo>
                <a:lnTo>
                  <a:pt x="134417" y="326490"/>
                </a:lnTo>
                <a:lnTo>
                  <a:pt x="180895" y="309719"/>
                </a:lnTo>
                <a:lnTo>
                  <a:pt x="229186" y="284897"/>
                </a:lnTo>
                <a:lnTo>
                  <a:pt x="277621" y="252349"/>
                </a:lnTo>
                <a:lnTo>
                  <a:pt x="322047" y="214610"/>
                </a:lnTo>
                <a:lnTo>
                  <a:pt x="359017" y="174906"/>
                </a:lnTo>
                <a:lnTo>
                  <a:pt x="387763" y="134753"/>
                </a:lnTo>
                <a:lnTo>
                  <a:pt x="407515" y="95668"/>
                </a:lnTo>
                <a:lnTo>
                  <a:pt x="417507" y="59170"/>
                </a:lnTo>
                <a:lnTo>
                  <a:pt x="416968" y="26774"/>
                </a:lnTo>
                <a:lnTo>
                  <a:pt x="4051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48228" y="2275713"/>
            <a:ext cx="395605" cy="363220"/>
          </a:xfrm>
          <a:custGeom>
            <a:avLst/>
            <a:gdLst/>
            <a:ahLst/>
            <a:cxnLst/>
            <a:rect l="l" t="t" r="r" b="b"/>
            <a:pathLst>
              <a:path w="395604" h="363219">
                <a:moveTo>
                  <a:pt x="377825" y="0"/>
                </a:moveTo>
                <a:lnTo>
                  <a:pt x="359537" y="49881"/>
                </a:lnTo>
                <a:lnTo>
                  <a:pt x="324513" y="110671"/>
                </a:lnTo>
                <a:lnTo>
                  <a:pt x="292663" y="152655"/>
                </a:lnTo>
                <a:lnTo>
                  <a:pt x="256342" y="192362"/>
                </a:lnTo>
                <a:lnTo>
                  <a:pt x="216540" y="229021"/>
                </a:lnTo>
                <a:lnTo>
                  <a:pt x="174248" y="261861"/>
                </a:lnTo>
                <a:lnTo>
                  <a:pt x="130457" y="290110"/>
                </a:lnTo>
                <a:lnTo>
                  <a:pt x="86158" y="312996"/>
                </a:lnTo>
                <a:lnTo>
                  <a:pt x="42342" y="329750"/>
                </a:lnTo>
                <a:lnTo>
                  <a:pt x="0" y="339598"/>
                </a:lnTo>
                <a:lnTo>
                  <a:pt x="24134" y="356422"/>
                </a:lnTo>
                <a:lnTo>
                  <a:pt x="55931" y="363220"/>
                </a:lnTo>
                <a:lnTo>
                  <a:pt x="93752" y="360448"/>
                </a:lnTo>
                <a:lnTo>
                  <a:pt x="135961" y="348561"/>
                </a:lnTo>
                <a:lnTo>
                  <a:pt x="180921" y="328014"/>
                </a:lnTo>
                <a:lnTo>
                  <a:pt x="226993" y="299263"/>
                </a:lnTo>
                <a:lnTo>
                  <a:pt x="272542" y="262763"/>
                </a:lnTo>
                <a:lnTo>
                  <a:pt x="313630" y="221388"/>
                </a:lnTo>
                <a:lnTo>
                  <a:pt x="347098" y="178657"/>
                </a:lnTo>
                <a:lnTo>
                  <a:pt x="372309" y="136149"/>
                </a:lnTo>
                <a:lnTo>
                  <a:pt x="388625" y="95448"/>
                </a:lnTo>
                <a:lnTo>
                  <a:pt x="395408" y="58135"/>
                </a:lnTo>
                <a:lnTo>
                  <a:pt x="392020" y="25792"/>
                </a:lnTo>
                <a:lnTo>
                  <a:pt x="3778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60471" y="2370327"/>
            <a:ext cx="455295" cy="283845"/>
          </a:xfrm>
          <a:custGeom>
            <a:avLst/>
            <a:gdLst/>
            <a:ahLst/>
            <a:cxnLst/>
            <a:rect l="l" t="t" r="r" b="b"/>
            <a:pathLst>
              <a:path w="455295" h="283844">
                <a:moveTo>
                  <a:pt x="0" y="241426"/>
                </a:moveTo>
                <a:lnTo>
                  <a:pt x="19552" y="263449"/>
                </a:lnTo>
                <a:lnTo>
                  <a:pt x="48887" y="277523"/>
                </a:lnTo>
                <a:lnTo>
                  <a:pt x="86308" y="283708"/>
                </a:lnTo>
                <a:lnTo>
                  <a:pt x="130120" y="282064"/>
                </a:lnTo>
                <a:lnTo>
                  <a:pt x="178629" y="272651"/>
                </a:lnTo>
                <a:lnTo>
                  <a:pt x="230139" y="255529"/>
                </a:lnTo>
                <a:lnTo>
                  <a:pt x="259414" y="241799"/>
                </a:lnTo>
                <a:lnTo>
                  <a:pt x="43478" y="241799"/>
                </a:lnTo>
                <a:lnTo>
                  <a:pt x="0" y="241426"/>
                </a:lnTo>
                <a:close/>
              </a:path>
              <a:path w="455295" h="283844">
                <a:moveTo>
                  <a:pt x="447166" y="0"/>
                </a:moveTo>
                <a:lnTo>
                  <a:pt x="417627" y="44255"/>
                </a:lnTo>
                <a:lnTo>
                  <a:pt x="369252" y="95145"/>
                </a:lnTo>
                <a:lnTo>
                  <a:pt x="328422" y="128481"/>
                </a:lnTo>
                <a:lnTo>
                  <a:pt x="283783" y="158547"/>
                </a:lnTo>
                <a:lnTo>
                  <a:pt x="236479" y="184829"/>
                </a:lnTo>
                <a:lnTo>
                  <a:pt x="187653" y="206810"/>
                </a:lnTo>
                <a:lnTo>
                  <a:pt x="138448" y="223976"/>
                </a:lnTo>
                <a:lnTo>
                  <a:pt x="90009" y="235811"/>
                </a:lnTo>
                <a:lnTo>
                  <a:pt x="43478" y="241799"/>
                </a:lnTo>
                <a:lnTo>
                  <a:pt x="259414" y="241799"/>
                </a:lnTo>
                <a:lnTo>
                  <a:pt x="332640" y="200174"/>
                </a:lnTo>
                <a:lnTo>
                  <a:pt x="375226" y="166494"/>
                </a:lnTo>
                <a:lnTo>
                  <a:pt x="409729" y="131098"/>
                </a:lnTo>
                <a:lnTo>
                  <a:pt x="435160" y="95368"/>
                </a:lnTo>
                <a:lnTo>
                  <a:pt x="454865" y="28438"/>
                </a:lnTo>
                <a:lnTo>
                  <a:pt x="4471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11702" y="2408554"/>
            <a:ext cx="471805" cy="254000"/>
          </a:xfrm>
          <a:custGeom>
            <a:avLst/>
            <a:gdLst/>
            <a:ahLst/>
            <a:cxnLst/>
            <a:rect l="l" t="t" r="r" b="b"/>
            <a:pathLst>
              <a:path w="471804" h="254000">
                <a:moveTo>
                  <a:pt x="0" y="202057"/>
                </a:moveTo>
                <a:lnTo>
                  <a:pt x="17545" y="225696"/>
                </a:lnTo>
                <a:lnTo>
                  <a:pt x="45537" y="242243"/>
                </a:lnTo>
                <a:lnTo>
                  <a:pt x="82276" y="251615"/>
                </a:lnTo>
                <a:lnTo>
                  <a:pt x="126061" y="253735"/>
                </a:lnTo>
                <a:lnTo>
                  <a:pt x="175193" y="248521"/>
                </a:lnTo>
                <a:lnTo>
                  <a:pt x="227973" y="235893"/>
                </a:lnTo>
                <a:lnTo>
                  <a:pt x="282701" y="215773"/>
                </a:lnTo>
                <a:lnTo>
                  <a:pt x="301815" y="206161"/>
                </a:lnTo>
                <a:lnTo>
                  <a:pt x="43255" y="206161"/>
                </a:lnTo>
                <a:lnTo>
                  <a:pt x="0" y="202057"/>
                </a:lnTo>
                <a:close/>
              </a:path>
              <a:path w="471804" h="254000">
                <a:moveTo>
                  <a:pt x="466089" y="0"/>
                </a:moveTo>
                <a:lnTo>
                  <a:pt x="432889" y="41487"/>
                </a:lnTo>
                <a:lnTo>
                  <a:pt x="380374" y="88002"/>
                </a:lnTo>
                <a:lnTo>
                  <a:pt x="336826" y="117716"/>
                </a:lnTo>
                <a:lnTo>
                  <a:pt x="289766" y="143843"/>
                </a:lnTo>
                <a:lnTo>
                  <a:pt x="240381" y="165970"/>
                </a:lnTo>
                <a:lnTo>
                  <a:pt x="189852" y="183679"/>
                </a:lnTo>
                <a:lnTo>
                  <a:pt x="139366" y="196558"/>
                </a:lnTo>
                <a:lnTo>
                  <a:pt x="90105" y="204190"/>
                </a:lnTo>
                <a:lnTo>
                  <a:pt x="43255" y="206161"/>
                </a:lnTo>
                <a:lnTo>
                  <a:pt x="301815" y="206161"/>
                </a:lnTo>
                <a:lnTo>
                  <a:pt x="380174" y="159644"/>
                </a:lnTo>
                <a:lnTo>
                  <a:pt x="417582" y="127342"/>
                </a:lnTo>
                <a:lnTo>
                  <a:pt x="445975" y="93935"/>
                </a:lnTo>
                <a:lnTo>
                  <a:pt x="471326" y="28974"/>
                </a:lnTo>
                <a:lnTo>
                  <a:pt x="466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54298" y="2465577"/>
            <a:ext cx="492759" cy="201295"/>
          </a:xfrm>
          <a:custGeom>
            <a:avLst/>
            <a:gdLst/>
            <a:ahLst/>
            <a:cxnLst/>
            <a:rect l="l" t="t" r="r" b="b"/>
            <a:pathLst>
              <a:path w="492760" h="201294">
                <a:moveTo>
                  <a:pt x="0" y="127762"/>
                </a:moveTo>
                <a:lnTo>
                  <a:pt x="38848" y="174481"/>
                </a:lnTo>
                <a:lnTo>
                  <a:pt x="116681" y="198274"/>
                </a:lnTo>
                <a:lnTo>
                  <a:pt x="166051" y="200707"/>
                </a:lnTo>
                <a:lnTo>
                  <a:pt x="220169" y="196368"/>
                </a:lnTo>
                <a:lnTo>
                  <a:pt x="277367" y="184912"/>
                </a:lnTo>
                <a:lnTo>
                  <a:pt x="332903" y="167064"/>
                </a:lnTo>
                <a:lnTo>
                  <a:pt x="382283" y="144520"/>
                </a:lnTo>
                <a:lnTo>
                  <a:pt x="383339" y="143862"/>
                </a:lnTo>
                <a:lnTo>
                  <a:pt x="138641" y="143862"/>
                </a:lnTo>
                <a:lnTo>
                  <a:pt x="88771" y="143796"/>
                </a:lnTo>
                <a:lnTo>
                  <a:pt x="42146" y="138505"/>
                </a:lnTo>
                <a:lnTo>
                  <a:pt x="0" y="127762"/>
                </a:lnTo>
                <a:close/>
              </a:path>
              <a:path w="492760" h="201294">
                <a:moveTo>
                  <a:pt x="491743" y="0"/>
                </a:moveTo>
                <a:lnTo>
                  <a:pt x="452596" y="35950"/>
                </a:lnTo>
                <a:lnTo>
                  <a:pt x="393543" y="73842"/>
                </a:lnTo>
                <a:lnTo>
                  <a:pt x="345930" y="96464"/>
                </a:lnTo>
                <a:lnTo>
                  <a:pt x="295402" y="115005"/>
                </a:lnTo>
                <a:lnTo>
                  <a:pt x="243189" y="129238"/>
                </a:lnTo>
                <a:lnTo>
                  <a:pt x="190525" y="138933"/>
                </a:lnTo>
                <a:lnTo>
                  <a:pt x="138641" y="143862"/>
                </a:lnTo>
                <a:lnTo>
                  <a:pt x="383339" y="143862"/>
                </a:lnTo>
                <a:lnTo>
                  <a:pt x="424218" y="118384"/>
                </a:lnTo>
                <a:lnTo>
                  <a:pt x="457420" y="89760"/>
                </a:lnTo>
                <a:lnTo>
                  <a:pt x="480601" y="59752"/>
                </a:lnTo>
                <a:lnTo>
                  <a:pt x="492471" y="29463"/>
                </a:lnTo>
                <a:lnTo>
                  <a:pt x="4917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721355" y="2049907"/>
            <a:ext cx="1049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黑体"/>
                <a:cs typeface="黑体"/>
              </a:rPr>
              <a:t>外部输入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71827" y="2997707"/>
            <a:ext cx="1146175" cy="1153795"/>
          </a:xfrm>
          <a:custGeom>
            <a:avLst/>
            <a:gdLst/>
            <a:ahLst/>
            <a:cxnLst/>
            <a:rect l="l" t="t" r="r" b="b"/>
            <a:pathLst>
              <a:path w="1146175" h="1153795">
                <a:moveTo>
                  <a:pt x="573024" y="0"/>
                </a:moveTo>
                <a:lnTo>
                  <a:pt x="526025" y="1912"/>
                </a:lnTo>
                <a:lnTo>
                  <a:pt x="480073" y="7551"/>
                </a:lnTo>
                <a:lnTo>
                  <a:pt x="435315" y="16767"/>
                </a:lnTo>
                <a:lnTo>
                  <a:pt x="391899" y="29413"/>
                </a:lnTo>
                <a:lnTo>
                  <a:pt x="349972" y="45339"/>
                </a:lnTo>
                <a:lnTo>
                  <a:pt x="309681" y="64396"/>
                </a:lnTo>
                <a:lnTo>
                  <a:pt x="271174" y="86437"/>
                </a:lnTo>
                <a:lnTo>
                  <a:pt x="234598" y="111312"/>
                </a:lnTo>
                <a:lnTo>
                  <a:pt x="200101" y="138874"/>
                </a:lnTo>
                <a:lnTo>
                  <a:pt x="167830" y="168973"/>
                </a:lnTo>
                <a:lnTo>
                  <a:pt x="137933" y="201461"/>
                </a:lnTo>
                <a:lnTo>
                  <a:pt x="110557" y="236189"/>
                </a:lnTo>
                <a:lnTo>
                  <a:pt x="85849" y="273009"/>
                </a:lnTo>
                <a:lnTo>
                  <a:pt x="63957" y="311772"/>
                </a:lnTo>
                <a:lnTo>
                  <a:pt x="45029" y="352329"/>
                </a:lnTo>
                <a:lnTo>
                  <a:pt x="29212" y="394533"/>
                </a:lnTo>
                <a:lnTo>
                  <a:pt x="16652" y="438233"/>
                </a:lnTo>
                <a:lnTo>
                  <a:pt x="7499" y="483283"/>
                </a:lnTo>
                <a:lnTo>
                  <a:pt x="1899" y="529532"/>
                </a:lnTo>
                <a:lnTo>
                  <a:pt x="0" y="576833"/>
                </a:lnTo>
                <a:lnTo>
                  <a:pt x="1899" y="624135"/>
                </a:lnTo>
                <a:lnTo>
                  <a:pt x="7499" y="670384"/>
                </a:lnTo>
                <a:lnTo>
                  <a:pt x="16652" y="715434"/>
                </a:lnTo>
                <a:lnTo>
                  <a:pt x="29212" y="759134"/>
                </a:lnTo>
                <a:lnTo>
                  <a:pt x="45029" y="801338"/>
                </a:lnTo>
                <a:lnTo>
                  <a:pt x="63957" y="841895"/>
                </a:lnTo>
                <a:lnTo>
                  <a:pt x="85849" y="880658"/>
                </a:lnTo>
                <a:lnTo>
                  <a:pt x="110557" y="917478"/>
                </a:lnTo>
                <a:lnTo>
                  <a:pt x="137933" y="952206"/>
                </a:lnTo>
                <a:lnTo>
                  <a:pt x="167830" y="984694"/>
                </a:lnTo>
                <a:lnTo>
                  <a:pt x="200101" y="1014793"/>
                </a:lnTo>
                <a:lnTo>
                  <a:pt x="234598" y="1042355"/>
                </a:lnTo>
                <a:lnTo>
                  <a:pt x="271174" y="1067230"/>
                </a:lnTo>
                <a:lnTo>
                  <a:pt x="309681" y="1089271"/>
                </a:lnTo>
                <a:lnTo>
                  <a:pt x="349972" y="1108329"/>
                </a:lnTo>
                <a:lnTo>
                  <a:pt x="391899" y="1124254"/>
                </a:lnTo>
                <a:lnTo>
                  <a:pt x="435315" y="1136900"/>
                </a:lnTo>
                <a:lnTo>
                  <a:pt x="480073" y="1146116"/>
                </a:lnTo>
                <a:lnTo>
                  <a:pt x="526025" y="1151755"/>
                </a:lnTo>
                <a:lnTo>
                  <a:pt x="573024" y="1153667"/>
                </a:lnTo>
                <a:lnTo>
                  <a:pt x="620022" y="1151755"/>
                </a:lnTo>
                <a:lnTo>
                  <a:pt x="665974" y="1146116"/>
                </a:lnTo>
                <a:lnTo>
                  <a:pt x="710732" y="1136900"/>
                </a:lnTo>
                <a:lnTo>
                  <a:pt x="754148" y="1124254"/>
                </a:lnTo>
                <a:lnTo>
                  <a:pt x="796075" y="1108329"/>
                </a:lnTo>
                <a:lnTo>
                  <a:pt x="836366" y="1089271"/>
                </a:lnTo>
                <a:lnTo>
                  <a:pt x="874873" y="1067230"/>
                </a:lnTo>
                <a:lnTo>
                  <a:pt x="911449" y="1042355"/>
                </a:lnTo>
                <a:lnTo>
                  <a:pt x="945946" y="1014793"/>
                </a:lnTo>
                <a:lnTo>
                  <a:pt x="978217" y="984694"/>
                </a:lnTo>
                <a:lnTo>
                  <a:pt x="1008114" y="952206"/>
                </a:lnTo>
                <a:lnTo>
                  <a:pt x="1035490" y="917478"/>
                </a:lnTo>
                <a:lnTo>
                  <a:pt x="1060198" y="880658"/>
                </a:lnTo>
                <a:lnTo>
                  <a:pt x="1082090" y="841895"/>
                </a:lnTo>
                <a:lnTo>
                  <a:pt x="1101018" y="801338"/>
                </a:lnTo>
                <a:lnTo>
                  <a:pt x="1116835" y="759134"/>
                </a:lnTo>
                <a:lnTo>
                  <a:pt x="1129395" y="715434"/>
                </a:lnTo>
                <a:lnTo>
                  <a:pt x="1138548" y="670384"/>
                </a:lnTo>
                <a:lnTo>
                  <a:pt x="1144148" y="624135"/>
                </a:lnTo>
                <a:lnTo>
                  <a:pt x="1146048" y="576833"/>
                </a:lnTo>
                <a:lnTo>
                  <a:pt x="1144148" y="529532"/>
                </a:lnTo>
                <a:lnTo>
                  <a:pt x="1138548" y="483283"/>
                </a:lnTo>
                <a:lnTo>
                  <a:pt x="1129395" y="438233"/>
                </a:lnTo>
                <a:lnTo>
                  <a:pt x="1116835" y="394533"/>
                </a:lnTo>
                <a:lnTo>
                  <a:pt x="1101018" y="352329"/>
                </a:lnTo>
                <a:lnTo>
                  <a:pt x="1082090" y="311772"/>
                </a:lnTo>
                <a:lnTo>
                  <a:pt x="1060198" y="273009"/>
                </a:lnTo>
                <a:lnTo>
                  <a:pt x="1035490" y="236189"/>
                </a:lnTo>
                <a:lnTo>
                  <a:pt x="1008114" y="201461"/>
                </a:lnTo>
                <a:lnTo>
                  <a:pt x="978217" y="168973"/>
                </a:lnTo>
                <a:lnTo>
                  <a:pt x="945946" y="138874"/>
                </a:lnTo>
                <a:lnTo>
                  <a:pt x="911449" y="111312"/>
                </a:lnTo>
                <a:lnTo>
                  <a:pt x="874873" y="86437"/>
                </a:lnTo>
                <a:lnTo>
                  <a:pt x="836366" y="64396"/>
                </a:lnTo>
                <a:lnTo>
                  <a:pt x="796075" y="45339"/>
                </a:lnTo>
                <a:lnTo>
                  <a:pt x="754148" y="29413"/>
                </a:lnTo>
                <a:lnTo>
                  <a:pt x="710732" y="16767"/>
                </a:lnTo>
                <a:lnTo>
                  <a:pt x="665974" y="7551"/>
                </a:lnTo>
                <a:lnTo>
                  <a:pt x="620022" y="1912"/>
                </a:lnTo>
                <a:lnTo>
                  <a:pt x="57302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06879" y="3034283"/>
            <a:ext cx="1072895" cy="1083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06879" y="3034283"/>
            <a:ext cx="1079500" cy="1085215"/>
          </a:xfrm>
          <a:custGeom>
            <a:avLst/>
            <a:gdLst/>
            <a:ahLst/>
            <a:cxnLst/>
            <a:rect l="l" t="t" r="r" b="b"/>
            <a:pathLst>
              <a:path w="1079500" h="1085214">
                <a:moveTo>
                  <a:pt x="539495" y="0"/>
                </a:moveTo>
                <a:lnTo>
                  <a:pt x="492948" y="1991"/>
                </a:lnTo>
                <a:lnTo>
                  <a:pt x="447499" y="7858"/>
                </a:lnTo>
                <a:lnTo>
                  <a:pt x="403311" y="17437"/>
                </a:lnTo>
                <a:lnTo>
                  <a:pt x="360547" y="30565"/>
                </a:lnTo>
                <a:lnTo>
                  <a:pt x="319368" y="47079"/>
                </a:lnTo>
                <a:lnTo>
                  <a:pt x="279935" y="66816"/>
                </a:lnTo>
                <a:lnTo>
                  <a:pt x="242412" y="89613"/>
                </a:lnTo>
                <a:lnTo>
                  <a:pt x="206960" y="115307"/>
                </a:lnTo>
                <a:lnTo>
                  <a:pt x="173741" y="143736"/>
                </a:lnTo>
                <a:lnTo>
                  <a:pt x="142917" y="174735"/>
                </a:lnTo>
                <a:lnTo>
                  <a:pt x="114649" y="208143"/>
                </a:lnTo>
                <a:lnTo>
                  <a:pt x="89101" y="243796"/>
                </a:lnTo>
                <a:lnTo>
                  <a:pt x="66434" y="281531"/>
                </a:lnTo>
                <a:lnTo>
                  <a:pt x="46809" y="321186"/>
                </a:lnTo>
                <a:lnTo>
                  <a:pt x="30390" y="362597"/>
                </a:lnTo>
                <a:lnTo>
                  <a:pt x="17337" y="405601"/>
                </a:lnTo>
                <a:lnTo>
                  <a:pt x="7813" y="450035"/>
                </a:lnTo>
                <a:lnTo>
                  <a:pt x="1980" y="495737"/>
                </a:lnTo>
                <a:lnTo>
                  <a:pt x="0" y="542543"/>
                </a:lnTo>
                <a:lnTo>
                  <a:pt x="1980" y="589350"/>
                </a:lnTo>
                <a:lnTo>
                  <a:pt x="7813" y="635052"/>
                </a:lnTo>
                <a:lnTo>
                  <a:pt x="17337" y="679486"/>
                </a:lnTo>
                <a:lnTo>
                  <a:pt x="30390" y="722490"/>
                </a:lnTo>
                <a:lnTo>
                  <a:pt x="46809" y="763901"/>
                </a:lnTo>
                <a:lnTo>
                  <a:pt x="66434" y="803556"/>
                </a:lnTo>
                <a:lnTo>
                  <a:pt x="89101" y="841291"/>
                </a:lnTo>
                <a:lnTo>
                  <a:pt x="114649" y="876944"/>
                </a:lnTo>
                <a:lnTo>
                  <a:pt x="142917" y="910352"/>
                </a:lnTo>
                <a:lnTo>
                  <a:pt x="173741" y="941351"/>
                </a:lnTo>
                <a:lnTo>
                  <a:pt x="206960" y="969780"/>
                </a:lnTo>
                <a:lnTo>
                  <a:pt x="242412" y="995474"/>
                </a:lnTo>
                <a:lnTo>
                  <a:pt x="279935" y="1018271"/>
                </a:lnTo>
                <a:lnTo>
                  <a:pt x="319368" y="1038008"/>
                </a:lnTo>
                <a:lnTo>
                  <a:pt x="360547" y="1054522"/>
                </a:lnTo>
                <a:lnTo>
                  <a:pt x="403311" y="1067650"/>
                </a:lnTo>
                <a:lnTo>
                  <a:pt x="447499" y="1077229"/>
                </a:lnTo>
                <a:lnTo>
                  <a:pt x="492948" y="1083096"/>
                </a:lnTo>
                <a:lnTo>
                  <a:pt x="539495" y="1085088"/>
                </a:lnTo>
                <a:lnTo>
                  <a:pt x="586043" y="1083096"/>
                </a:lnTo>
                <a:lnTo>
                  <a:pt x="631492" y="1077229"/>
                </a:lnTo>
                <a:lnTo>
                  <a:pt x="675680" y="1067650"/>
                </a:lnTo>
                <a:lnTo>
                  <a:pt x="718444" y="1054522"/>
                </a:lnTo>
                <a:lnTo>
                  <a:pt x="759623" y="1038008"/>
                </a:lnTo>
                <a:lnTo>
                  <a:pt x="799056" y="1018271"/>
                </a:lnTo>
                <a:lnTo>
                  <a:pt x="836579" y="995474"/>
                </a:lnTo>
                <a:lnTo>
                  <a:pt x="872031" y="969780"/>
                </a:lnTo>
                <a:lnTo>
                  <a:pt x="905250" y="941351"/>
                </a:lnTo>
                <a:lnTo>
                  <a:pt x="936074" y="910352"/>
                </a:lnTo>
                <a:lnTo>
                  <a:pt x="964342" y="876944"/>
                </a:lnTo>
                <a:lnTo>
                  <a:pt x="989890" y="841291"/>
                </a:lnTo>
                <a:lnTo>
                  <a:pt x="1012557" y="803556"/>
                </a:lnTo>
                <a:lnTo>
                  <a:pt x="1032182" y="763901"/>
                </a:lnTo>
                <a:lnTo>
                  <a:pt x="1048601" y="722490"/>
                </a:lnTo>
                <a:lnTo>
                  <a:pt x="1061654" y="679486"/>
                </a:lnTo>
                <a:lnTo>
                  <a:pt x="1071178" y="635052"/>
                </a:lnTo>
                <a:lnTo>
                  <a:pt x="1077011" y="589350"/>
                </a:lnTo>
                <a:lnTo>
                  <a:pt x="1078992" y="542543"/>
                </a:lnTo>
                <a:lnTo>
                  <a:pt x="1077011" y="495737"/>
                </a:lnTo>
                <a:lnTo>
                  <a:pt x="1071178" y="450035"/>
                </a:lnTo>
                <a:lnTo>
                  <a:pt x="1061654" y="405601"/>
                </a:lnTo>
                <a:lnTo>
                  <a:pt x="1048601" y="362597"/>
                </a:lnTo>
                <a:lnTo>
                  <a:pt x="1032182" y="321186"/>
                </a:lnTo>
                <a:lnTo>
                  <a:pt x="1012557" y="281531"/>
                </a:lnTo>
                <a:lnTo>
                  <a:pt x="989890" y="243796"/>
                </a:lnTo>
                <a:lnTo>
                  <a:pt x="964342" y="208143"/>
                </a:lnTo>
                <a:lnTo>
                  <a:pt x="936074" y="174735"/>
                </a:lnTo>
                <a:lnTo>
                  <a:pt x="905250" y="143736"/>
                </a:lnTo>
                <a:lnTo>
                  <a:pt x="872031" y="115307"/>
                </a:lnTo>
                <a:lnTo>
                  <a:pt x="836579" y="89613"/>
                </a:lnTo>
                <a:lnTo>
                  <a:pt x="799056" y="66816"/>
                </a:lnTo>
                <a:lnTo>
                  <a:pt x="759623" y="47079"/>
                </a:lnTo>
                <a:lnTo>
                  <a:pt x="718444" y="30565"/>
                </a:lnTo>
                <a:lnTo>
                  <a:pt x="675680" y="17437"/>
                </a:lnTo>
                <a:lnTo>
                  <a:pt x="631492" y="7858"/>
                </a:lnTo>
                <a:lnTo>
                  <a:pt x="586043" y="1991"/>
                </a:lnTo>
                <a:lnTo>
                  <a:pt x="53949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17548" y="3078479"/>
            <a:ext cx="790956" cy="678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46401" y="3470909"/>
            <a:ext cx="300990" cy="528320"/>
          </a:xfrm>
          <a:custGeom>
            <a:avLst/>
            <a:gdLst/>
            <a:ahLst/>
            <a:cxnLst/>
            <a:rect l="l" t="t" r="r" b="b"/>
            <a:pathLst>
              <a:path w="300989" h="528320">
                <a:moveTo>
                  <a:pt x="248412" y="0"/>
                </a:moveTo>
                <a:lnTo>
                  <a:pt x="250368" y="19034"/>
                </a:lnTo>
                <a:lnTo>
                  <a:pt x="251110" y="39115"/>
                </a:lnTo>
                <a:lnTo>
                  <a:pt x="250662" y="60150"/>
                </a:lnTo>
                <a:lnTo>
                  <a:pt x="242284" y="128615"/>
                </a:lnTo>
                <a:lnTo>
                  <a:pt x="231190" y="175889"/>
                </a:lnTo>
                <a:lnTo>
                  <a:pt x="216150" y="223184"/>
                </a:lnTo>
                <a:lnTo>
                  <a:pt x="197549" y="269821"/>
                </a:lnTo>
                <a:lnTo>
                  <a:pt x="175772" y="315121"/>
                </a:lnTo>
                <a:lnTo>
                  <a:pt x="151205" y="358405"/>
                </a:lnTo>
                <a:lnTo>
                  <a:pt x="124233" y="398995"/>
                </a:lnTo>
                <a:lnTo>
                  <a:pt x="95241" y="436211"/>
                </a:lnTo>
                <a:lnTo>
                  <a:pt x="64615" y="469374"/>
                </a:lnTo>
                <a:lnTo>
                  <a:pt x="32739" y="497806"/>
                </a:lnTo>
                <a:lnTo>
                  <a:pt x="0" y="520826"/>
                </a:lnTo>
                <a:lnTo>
                  <a:pt x="32382" y="527815"/>
                </a:lnTo>
                <a:lnTo>
                  <a:pt x="106658" y="501439"/>
                </a:lnTo>
                <a:lnTo>
                  <a:pt x="145539" y="470478"/>
                </a:lnTo>
                <a:lnTo>
                  <a:pt x="183574" y="429272"/>
                </a:lnTo>
                <a:lnTo>
                  <a:pt x="219256" y="379021"/>
                </a:lnTo>
                <a:lnTo>
                  <a:pt x="251079" y="320928"/>
                </a:lnTo>
                <a:lnTo>
                  <a:pt x="276203" y="259597"/>
                </a:lnTo>
                <a:lnTo>
                  <a:pt x="292804" y="200221"/>
                </a:lnTo>
                <a:lnTo>
                  <a:pt x="300894" y="144723"/>
                </a:lnTo>
                <a:lnTo>
                  <a:pt x="300486" y="95028"/>
                </a:lnTo>
                <a:lnTo>
                  <a:pt x="291594" y="53060"/>
                </a:lnTo>
                <a:lnTo>
                  <a:pt x="274232" y="20743"/>
                </a:lnTo>
                <a:lnTo>
                  <a:pt x="2484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52801" y="3578352"/>
            <a:ext cx="393700" cy="464820"/>
          </a:xfrm>
          <a:custGeom>
            <a:avLst/>
            <a:gdLst/>
            <a:ahLst/>
            <a:cxnLst/>
            <a:rect l="l" t="t" r="r" b="b"/>
            <a:pathLst>
              <a:path w="393700" h="464820">
                <a:moveTo>
                  <a:pt x="363855" y="0"/>
                </a:moveTo>
                <a:lnTo>
                  <a:pt x="357187" y="38750"/>
                </a:lnTo>
                <a:lnTo>
                  <a:pt x="345186" y="79883"/>
                </a:lnTo>
                <a:lnTo>
                  <a:pt x="327651" y="123581"/>
                </a:lnTo>
                <a:lnTo>
                  <a:pt x="305745" y="166942"/>
                </a:lnTo>
                <a:lnTo>
                  <a:pt x="280001" y="209397"/>
                </a:lnTo>
                <a:lnTo>
                  <a:pt x="250954" y="250376"/>
                </a:lnTo>
                <a:lnTo>
                  <a:pt x="219138" y="289310"/>
                </a:lnTo>
                <a:lnTo>
                  <a:pt x="185086" y="325628"/>
                </a:lnTo>
                <a:lnTo>
                  <a:pt x="149334" y="358762"/>
                </a:lnTo>
                <a:lnTo>
                  <a:pt x="112415" y="388141"/>
                </a:lnTo>
                <a:lnTo>
                  <a:pt x="74864" y="413196"/>
                </a:lnTo>
                <a:lnTo>
                  <a:pt x="37214" y="433358"/>
                </a:lnTo>
                <a:lnTo>
                  <a:pt x="0" y="448056"/>
                </a:lnTo>
                <a:lnTo>
                  <a:pt x="29799" y="462436"/>
                </a:lnTo>
                <a:lnTo>
                  <a:pt x="108158" y="454197"/>
                </a:lnTo>
                <a:lnTo>
                  <a:pt x="153220" y="433208"/>
                </a:lnTo>
                <a:lnTo>
                  <a:pt x="199873" y="402060"/>
                </a:lnTo>
                <a:lnTo>
                  <a:pt x="246368" y="361567"/>
                </a:lnTo>
                <a:lnTo>
                  <a:pt x="290956" y="312547"/>
                </a:lnTo>
                <a:lnTo>
                  <a:pt x="329784" y="258851"/>
                </a:lnTo>
                <a:lnTo>
                  <a:pt x="359870" y="205042"/>
                </a:lnTo>
                <a:lnTo>
                  <a:pt x="380777" y="152996"/>
                </a:lnTo>
                <a:lnTo>
                  <a:pt x="392066" y="104592"/>
                </a:lnTo>
                <a:lnTo>
                  <a:pt x="393301" y="61707"/>
                </a:lnTo>
                <a:lnTo>
                  <a:pt x="384043" y="26217"/>
                </a:lnTo>
                <a:lnTo>
                  <a:pt x="3638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01113" y="3631565"/>
            <a:ext cx="425450" cy="436880"/>
          </a:xfrm>
          <a:custGeom>
            <a:avLst/>
            <a:gdLst/>
            <a:ahLst/>
            <a:cxnLst/>
            <a:rect l="l" t="t" r="r" b="b"/>
            <a:pathLst>
              <a:path w="425450" h="436879">
                <a:moveTo>
                  <a:pt x="400938" y="0"/>
                </a:moveTo>
                <a:lnTo>
                  <a:pt x="391048" y="37988"/>
                </a:lnTo>
                <a:lnTo>
                  <a:pt x="375538" y="77978"/>
                </a:lnTo>
                <a:lnTo>
                  <a:pt x="354309" y="119986"/>
                </a:lnTo>
                <a:lnTo>
                  <a:pt x="328758" y="161290"/>
                </a:lnTo>
                <a:lnTo>
                  <a:pt x="299468" y="201365"/>
                </a:lnTo>
                <a:lnTo>
                  <a:pt x="267015" y="239689"/>
                </a:lnTo>
                <a:lnTo>
                  <a:pt x="231981" y="275741"/>
                </a:lnTo>
                <a:lnTo>
                  <a:pt x="194945" y="308996"/>
                </a:lnTo>
                <a:lnTo>
                  <a:pt x="156484" y="338932"/>
                </a:lnTo>
                <a:lnTo>
                  <a:pt x="117181" y="365027"/>
                </a:lnTo>
                <a:lnTo>
                  <a:pt x="77612" y="386758"/>
                </a:lnTo>
                <a:lnTo>
                  <a:pt x="38359" y="403601"/>
                </a:lnTo>
                <a:lnTo>
                  <a:pt x="0" y="415036"/>
                </a:lnTo>
                <a:lnTo>
                  <a:pt x="28490" y="431917"/>
                </a:lnTo>
                <a:lnTo>
                  <a:pt x="107295" y="430464"/>
                </a:lnTo>
                <a:lnTo>
                  <a:pt x="153987" y="413442"/>
                </a:lnTo>
                <a:lnTo>
                  <a:pt x="203125" y="386429"/>
                </a:lnTo>
                <a:lnTo>
                  <a:pt x="252899" y="350081"/>
                </a:lnTo>
                <a:lnTo>
                  <a:pt x="301498" y="305054"/>
                </a:lnTo>
                <a:lnTo>
                  <a:pt x="344808" y="254912"/>
                </a:lnTo>
                <a:lnTo>
                  <a:pt x="379417" y="203899"/>
                </a:lnTo>
                <a:lnTo>
                  <a:pt x="404724" y="153851"/>
                </a:lnTo>
                <a:lnTo>
                  <a:pt x="420130" y="106602"/>
                </a:lnTo>
                <a:lnTo>
                  <a:pt x="425034" y="63987"/>
                </a:lnTo>
                <a:lnTo>
                  <a:pt x="418837" y="27841"/>
                </a:lnTo>
                <a:lnTo>
                  <a:pt x="4009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33548" y="3705352"/>
            <a:ext cx="474345" cy="380365"/>
          </a:xfrm>
          <a:custGeom>
            <a:avLst/>
            <a:gdLst/>
            <a:ahLst/>
            <a:cxnLst/>
            <a:rect l="l" t="t" r="r" b="b"/>
            <a:pathLst>
              <a:path w="474344" h="380364">
                <a:moveTo>
                  <a:pt x="460248" y="0"/>
                </a:moveTo>
                <a:lnTo>
                  <a:pt x="444547" y="36004"/>
                </a:lnTo>
                <a:lnTo>
                  <a:pt x="423037" y="73152"/>
                </a:lnTo>
                <a:lnTo>
                  <a:pt x="395591" y="111401"/>
                </a:lnTo>
                <a:lnTo>
                  <a:pt x="363981" y="148281"/>
                </a:lnTo>
                <a:lnTo>
                  <a:pt x="328861" y="183365"/>
                </a:lnTo>
                <a:lnTo>
                  <a:pt x="290886" y="216228"/>
                </a:lnTo>
                <a:lnTo>
                  <a:pt x="250707" y="246445"/>
                </a:lnTo>
                <a:lnTo>
                  <a:pt x="208980" y="273591"/>
                </a:lnTo>
                <a:lnTo>
                  <a:pt x="166359" y="297240"/>
                </a:lnTo>
                <a:lnTo>
                  <a:pt x="123496" y="316967"/>
                </a:lnTo>
                <a:lnTo>
                  <a:pt x="81046" y="332346"/>
                </a:lnTo>
                <a:lnTo>
                  <a:pt x="39663" y="342953"/>
                </a:lnTo>
                <a:lnTo>
                  <a:pt x="0" y="348361"/>
                </a:lnTo>
                <a:lnTo>
                  <a:pt x="25530" y="369440"/>
                </a:lnTo>
                <a:lnTo>
                  <a:pt x="60694" y="379911"/>
                </a:lnTo>
                <a:lnTo>
                  <a:pt x="103599" y="380145"/>
                </a:lnTo>
                <a:lnTo>
                  <a:pt x="152357" y="370513"/>
                </a:lnTo>
                <a:lnTo>
                  <a:pt x="205075" y="351386"/>
                </a:lnTo>
                <a:lnTo>
                  <a:pt x="259864" y="323135"/>
                </a:lnTo>
                <a:lnTo>
                  <a:pt x="314832" y="286131"/>
                </a:lnTo>
                <a:lnTo>
                  <a:pt x="365369" y="243255"/>
                </a:lnTo>
                <a:lnTo>
                  <a:pt x="407431" y="198181"/>
                </a:lnTo>
                <a:lnTo>
                  <a:pt x="440153" y="152626"/>
                </a:lnTo>
                <a:lnTo>
                  <a:pt x="462663" y="108311"/>
                </a:lnTo>
                <a:lnTo>
                  <a:pt x="474095" y="66956"/>
                </a:lnTo>
                <a:lnTo>
                  <a:pt x="473580" y="30278"/>
                </a:lnTo>
                <a:lnTo>
                  <a:pt x="4602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76601" y="3662298"/>
            <a:ext cx="449580" cy="412115"/>
          </a:xfrm>
          <a:custGeom>
            <a:avLst/>
            <a:gdLst/>
            <a:ahLst/>
            <a:cxnLst/>
            <a:rect l="l" t="t" r="r" b="b"/>
            <a:pathLst>
              <a:path w="449580" h="412114">
                <a:moveTo>
                  <a:pt x="429260" y="0"/>
                </a:moveTo>
                <a:lnTo>
                  <a:pt x="416750" y="37337"/>
                </a:lnTo>
                <a:lnTo>
                  <a:pt x="398525" y="76200"/>
                </a:lnTo>
                <a:lnTo>
                  <a:pt x="374430" y="116679"/>
                </a:lnTo>
                <a:lnTo>
                  <a:pt x="346058" y="156126"/>
                </a:lnTo>
                <a:lnTo>
                  <a:pt x="314026" y="194063"/>
                </a:lnTo>
                <a:lnTo>
                  <a:pt x="278950" y="230012"/>
                </a:lnTo>
                <a:lnTo>
                  <a:pt x="241448" y="263494"/>
                </a:lnTo>
                <a:lnTo>
                  <a:pt x="202136" y="294032"/>
                </a:lnTo>
                <a:lnTo>
                  <a:pt x="161629" y="321148"/>
                </a:lnTo>
                <a:lnTo>
                  <a:pt x="120546" y="344363"/>
                </a:lnTo>
                <a:lnTo>
                  <a:pt x="79502" y="363200"/>
                </a:lnTo>
                <a:lnTo>
                  <a:pt x="39115" y="377180"/>
                </a:lnTo>
                <a:lnTo>
                  <a:pt x="0" y="385825"/>
                </a:lnTo>
                <a:lnTo>
                  <a:pt x="23403" y="403083"/>
                </a:lnTo>
                <a:lnTo>
                  <a:pt x="53637" y="411563"/>
                </a:lnTo>
                <a:lnTo>
                  <a:pt x="89462" y="411619"/>
                </a:lnTo>
                <a:lnTo>
                  <a:pt x="129635" y="403606"/>
                </a:lnTo>
                <a:lnTo>
                  <a:pt x="172915" y="387877"/>
                </a:lnTo>
                <a:lnTo>
                  <a:pt x="218062" y="364787"/>
                </a:lnTo>
                <a:lnTo>
                  <a:pt x="263835" y="334691"/>
                </a:lnTo>
                <a:lnTo>
                  <a:pt x="308991" y="297942"/>
                </a:lnTo>
                <a:lnTo>
                  <a:pt x="350350" y="256927"/>
                </a:lnTo>
                <a:lnTo>
                  <a:pt x="385147" y="214598"/>
                </a:lnTo>
                <a:lnTo>
                  <a:pt x="412901" y="172149"/>
                </a:lnTo>
                <a:lnTo>
                  <a:pt x="433133" y="130778"/>
                </a:lnTo>
                <a:lnTo>
                  <a:pt x="445364" y="91681"/>
                </a:lnTo>
                <a:lnTo>
                  <a:pt x="449115" y="56054"/>
                </a:lnTo>
                <a:lnTo>
                  <a:pt x="443907" y="25095"/>
                </a:lnTo>
                <a:lnTo>
                  <a:pt x="4292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76907" y="3769995"/>
            <a:ext cx="516890" cy="321945"/>
          </a:xfrm>
          <a:custGeom>
            <a:avLst/>
            <a:gdLst/>
            <a:ahLst/>
            <a:cxnLst/>
            <a:rect l="l" t="t" r="r" b="b"/>
            <a:pathLst>
              <a:path w="516889" h="321945">
                <a:moveTo>
                  <a:pt x="0" y="274065"/>
                </a:moveTo>
                <a:lnTo>
                  <a:pt x="18691" y="296345"/>
                </a:lnTo>
                <a:lnTo>
                  <a:pt x="46093" y="311691"/>
                </a:lnTo>
                <a:lnTo>
                  <a:pt x="80911" y="320158"/>
                </a:lnTo>
                <a:lnTo>
                  <a:pt x="121856" y="321802"/>
                </a:lnTo>
                <a:lnTo>
                  <a:pt x="167635" y="316676"/>
                </a:lnTo>
                <a:lnTo>
                  <a:pt x="216955" y="304837"/>
                </a:lnTo>
                <a:lnTo>
                  <a:pt x="268526" y="286340"/>
                </a:lnTo>
                <a:lnTo>
                  <a:pt x="292525" y="274872"/>
                </a:lnTo>
                <a:lnTo>
                  <a:pt x="40065" y="274872"/>
                </a:lnTo>
                <a:lnTo>
                  <a:pt x="0" y="274065"/>
                </a:lnTo>
                <a:close/>
              </a:path>
              <a:path w="516889" h="321945">
                <a:moveTo>
                  <a:pt x="507873" y="0"/>
                </a:moveTo>
                <a:lnTo>
                  <a:pt x="486949" y="33258"/>
                </a:lnTo>
                <a:lnTo>
                  <a:pt x="460120" y="66801"/>
                </a:lnTo>
                <a:lnTo>
                  <a:pt x="427202" y="100474"/>
                </a:lnTo>
                <a:lnTo>
                  <a:pt x="390367" y="132145"/>
                </a:lnTo>
                <a:lnTo>
                  <a:pt x="350326" y="161491"/>
                </a:lnTo>
                <a:lnTo>
                  <a:pt x="307792" y="188193"/>
                </a:lnTo>
                <a:lnTo>
                  <a:pt x="263475" y="211928"/>
                </a:lnTo>
                <a:lnTo>
                  <a:pt x="218088" y="232376"/>
                </a:lnTo>
                <a:lnTo>
                  <a:pt x="172342" y="249215"/>
                </a:lnTo>
                <a:lnTo>
                  <a:pt x="126948" y="262125"/>
                </a:lnTo>
                <a:lnTo>
                  <a:pt x="82619" y="270784"/>
                </a:lnTo>
                <a:lnTo>
                  <a:pt x="40065" y="274872"/>
                </a:lnTo>
                <a:lnTo>
                  <a:pt x="292525" y="274872"/>
                </a:lnTo>
                <a:lnTo>
                  <a:pt x="377491" y="226533"/>
                </a:lnTo>
                <a:lnTo>
                  <a:pt x="425872" y="188343"/>
                </a:lnTo>
                <a:lnTo>
                  <a:pt x="465083" y="148235"/>
                </a:lnTo>
                <a:lnTo>
                  <a:pt x="494007" y="107778"/>
                </a:lnTo>
                <a:lnTo>
                  <a:pt x="511524" y="68541"/>
                </a:lnTo>
                <a:lnTo>
                  <a:pt x="516518" y="32092"/>
                </a:lnTo>
                <a:lnTo>
                  <a:pt x="507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21407" y="3813428"/>
            <a:ext cx="535940" cy="287655"/>
          </a:xfrm>
          <a:custGeom>
            <a:avLst/>
            <a:gdLst/>
            <a:ahLst/>
            <a:cxnLst/>
            <a:rect l="l" t="t" r="r" b="b"/>
            <a:pathLst>
              <a:path w="535939" h="287654">
                <a:moveTo>
                  <a:pt x="0" y="229489"/>
                </a:moveTo>
                <a:lnTo>
                  <a:pt x="16727" y="253249"/>
                </a:lnTo>
                <a:lnTo>
                  <a:pt x="42715" y="270867"/>
                </a:lnTo>
                <a:lnTo>
                  <a:pt x="76674" y="282281"/>
                </a:lnTo>
                <a:lnTo>
                  <a:pt x="117316" y="287432"/>
                </a:lnTo>
                <a:lnTo>
                  <a:pt x="163351" y="286261"/>
                </a:lnTo>
                <a:lnTo>
                  <a:pt x="213490" y="278709"/>
                </a:lnTo>
                <a:lnTo>
                  <a:pt x="266446" y="264715"/>
                </a:lnTo>
                <a:lnTo>
                  <a:pt x="320929" y="244221"/>
                </a:lnTo>
                <a:lnTo>
                  <a:pt x="342207" y="233723"/>
                </a:lnTo>
                <a:lnTo>
                  <a:pt x="39831" y="233723"/>
                </a:lnTo>
                <a:lnTo>
                  <a:pt x="0" y="229489"/>
                </a:lnTo>
                <a:close/>
              </a:path>
              <a:path w="535939" h="287654">
                <a:moveTo>
                  <a:pt x="529463" y="0"/>
                </a:moveTo>
                <a:lnTo>
                  <a:pt x="505856" y="31321"/>
                </a:lnTo>
                <a:lnTo>
                  <a:pt x="476250" y="62357"/>
                </a:lnTo>
                <a:lnTo>
                  <a:pt x="440543" y="93105"/>
                </a:lnTo>
                <a:lnTo>
                  <a:pt x="401107" y="121518"/>
                </a:lnTo>
                <a:lnTo>
                  <a:pt x="358681" y="147335"/>
                </a:lnTo>
                <a:lnTo>
                  <a:pt x="314000" y="170300"/>
                </a:lnTo>
                <a:lnTo>
                  <a:pt x="267802" y="190154"/>
                </a:lnTo>
                <a:lnTo>
                  <a:pt x="220822" y="206639"/>
                </a:lnTo>
                <a:lnTo>
                  <a:pt x="173798" y="219496"/>
                </a:lnTo>
                <a:lnTo>
                  <a:pt x="127468" y="228468"/>
                </a:lnTo>
                <a:lnTo>
                  <a:pt x="82566" y="233296"/>
                </a:lnTo>
                <a:lnTo>
                  <a:pt x="39831" y="233723"/>
                </a:lnTo>
                <a:lnTo>
                  <a:pt x="342207" y="233723"/>
                </a:lnTo>
                <a:lnTo>
                  <a:pt x="419556" y="189380"/>
                </a:lnTo>
                <a:lnTo>
                  <a:pt x="459352" y="157951"/>
                </a:lnTo>
                <a:lnTo>
                  <a:pt x="491680" y="125158"/>
                </a:lnTo>
                <a:lnTo>
                  <a:pt x="515697" y="91984"/>
                </a:lnTo>
                <a:lnTo>
                  <a:pt x="535431" y="28423"/>
                </a:lnTo>
                <a:lnTo>
                  <a:pt x="5294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056383" y="3878326"/>
            <a:ext cx="560070" cy="226695"/>
          </a:xfrm>
          <a:custGeom>
            <a:avLst/>
            <a:gdLst/>
            <a:ahLst/>
            <a:cxnLst/>
            <a:rect l="l" t="t" r="r" b="b"/>
            <a:pathLst>
              <a:path w="560069" h="226695">
                <a:moveTo>
                  <a:pt x="0" y="145034"/>
                </a:moveTo>
                <a:lnTo>
                  <a:pt x="35742" y="192524"/>
                </a:lnTo>
                <a:lnTo>
                  <a:pt x="106870" y="220440"/>
                </a:lnTo>
                <a:lnTo>
                  <a:pt x="152533" y="226403"/>
                </a:lnTo>
                <a:lnTo>
                  <a:pt x="203239" y="226687"/>
                </a:lnTo>
                <a:lnTo>
                  <a:pt x="257719" y="221029"/>
                </a:lnTo>
                <a:lnTo>
                  <a:pt x="314706" y="209169"/>
                </a:lnTo>
                <a:lnTo>
                  <a:pt x="370288" y="191789"/>
                </a:lnTo>
                <a:lnTo>
                  <a:pt x="420653" y="170217"/>
                </a:lnTo>
                <a:lnTo>
                  <a:pt x="432162" y="163724"/>
                </a:lnTo>
                <a:lnTo>
                  <a:pt x="126065" y="163724"/>
                </a:lnTo>
                <a:lnTo>
                  <a:pt x="80970" y="161559"/>
                </a:lnTo>
                <a:lnTo>
                  <a:pt x="38693" y="155376"/>
                </a:lnTo>
                <a:lnTo>
                  <a:pt x="0" y="145034"/>
                </a:lnTo>
                <a:close/>
              </a:path>
              <a:path w="560069" h="226695">
                <a:moveTo>
                  <a:pt x="558546" y="0"/>
                </a:moveTo>
                <a:lnTo>
                  <a:pt x="530272" y="27305"/>
                </a:lnTo>
                <a:lnTo>
                  <a:pt x="496189" y="53467"/>
                </a:lnTo>
                <a:lnTo>
                  <a:pt x="456173" y="78327"/>
                </a:lnTo>
                <a:lnTo>
                  <a:pt x="412837" y="100307"/>
                </a:lnTo>
                <a:lnTo>
                  <a:pt x="366949" y="119263"/>
                </a:lnTo>
                <a:lnTo>
                  <a:pt x="319275" y="135054"/>
                </a:lnTo>
                <a:lnTo>
                  <a:pt x="270582" y="147538"/>
                </a:lnTo>
                <a:lnTo>
                  <a:pt x="221638" y="156572"/>
                </a:lnTo>
                <a:lnTo>
                  <a:pt x="173210" y="162015"/>
                </a:lnTo>
                <a:lnTo>
                  <a:pt x="126065" y="163724"/>
                </a:lnTo>
                <a:lnTo>
                  <a:pt x="432162" y="163724"/>
                </a:lnTo>
                <a:lnTo>
                  <a:pt x="501824" y="117871"/>
                </a:lnTo>
                <a:lnTo>
                  <a:pt x="530674" y="88785"/>
                </a:lnTo>
                <a:lnTo>
                  <a:pt x="560012" y="29005"/>
                </a:lnTo>
                <a:lnTo>
                  <a:pt x="5585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508885" y="3504310"/>
            <a:ext cx="265430" cy="464820"/>
          </a:xfrm>
          <a:custGeom>
            <a:avLst/>
            <a:gdLst/>
            <a:ahLst/>
            <a:cxnLst/>
            <a:rect l="l" t="t" r="r" b="b"/>
            <a:pathLst>
              <a:path w="265430" h="464820">
                <a:moveTo>
                  <a:pt x="218694" y="0"/>
                </a:moveTo>
                <a:lnTo>
                  <a:pt x="220456" y="16847"/>
                </a:lnTo>
                <a:lnTo>
                  <a:pt x="221170" y="34575"/>
                </a:lnTo>
                <a:lnTo>
                  <a:pt x="220837" y="53113"/>
                </a:lnTo>
                <a:lnTo>
                  <a:pt x="211704" y="122641"/>
                </a:lnTo>
                <a:lnTo>
                  <a:pt x="198345" y="173606"/>
                </a:lnTo>
                <a:lnTo>
                  <a:pt x="180001" y="224192"/>
                </a:lnTo>
                <a:lnTo>
                  <a:pt x="157291" y="273308"/>
                </a:lnTo>
                <a:lnTo>
                  <a:pt x="130838" y="319861"/>
                </a:lnTo>
                <a:lnTo>
                  <a:pt x="101261" y="362759"/>
                </a:lnTo>
                <a:lnTo>
                  <a:pt x="69182" y="400909"/>
                </a:lnTo>
                <a:lnTo>
                  <a:pt x="35221" y="433219"/>
                </a:lnTo>
                <a:lnTo>
                  <a:pt x="0" y="458596"/>
                </a:lnTo>
                <a:lnTo>
                  <a:pt x="28617" y="464822"/>
                </a:lnTo>
                <a:lnTo>
                  <a:pt x="94209" y="441708"/>
                </a:lnTo>
                <a:lnTo>
                  <a:pt x="128525" y="414483"/>
                </a:lnTo>
                <a:lnTo>
                  <a:pt x="162084" y="378224"/>
                </a:lnTo>
                <a:lnTo>
                  <a:pt x="193556" y="333986"/>
                </a:lnTo>
                <a:lnTo>
                  <a:pt x="221614" y="282828"/>
                </a:lnTo>
                <a:lnTo>
                  <a:pt x="243700" y="228846"/>
                </a:lnTo>
                <a:lnTo>
                  <a:pt x="258258" y="176561"/>
                </a:lnTo>
                <a:lnTo>
                  <a:pt x="265305" y="127670"/>
                </a:lnTo>
                <a:lnTo>
                  <a:pt x="264857" y="83872"/>
                </a:lnTo>
                <a:lnTo>
                  <a:pt x="256928" y="46862"/>
                </a:lnTo>
                <a:lnTo>
                  <a:pt x="241535" y="18339"/>
                </a:lnTo>
                <a:lnTo>
                  <a:pt x="2186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426461" y="3598926"/>
            <a:ext cx="346710" cy="408940"/>
          </a:xfrm>
          <a:custGeom>
            <a:avLst/>
            <a:gdLst/>
            <a:ahLst/>
            <a:cxnLst/>
            <a:rect l="l" t="t" r="r" b="b"/>
            <a:pathLst>
              <a:path w="346710" h="408939">
                <a:moveTo>
                  <a:pt x="320294" y="0"/>
                </a:moveTo>
                <a:lnTo>
                  <a:pt x="309917" y="52042"/>
                </a:lnTo>
                <a:lnTo>
                  <a:pt x="284689" y="117510"/>
                </a:lnTo>
                <a:lnTo>
                  <a:pt x="259727" y="163913"/>
                </a:lnTo>
                <a:lnTo>
                  <a:pt x="230011" y="208778"/>
                </a:lnTo>
                <a:lnTo>
                  <a:pt x="196400" y="251191"/>
                </a:lnTo>
                <a:lnTo>
                  <a:pt x="159754" y="290237"/>
                </a:lnTo>
                <a:lnTo>
                  <a:pt x="120932" y="325002"/>
                </a:lnTo>
                <a:lnTo>
                  <a:pt x="80792" y="354571"/>
                </a:lnTo>
                <a:lnTo>
                  <a:pt x="40195" y="378029"/>
                </a:lnTo>
                <a:lnTo>
                  <a:pt x="0" y="394462"/>
                </a:lnTo>
                <a:lnTo>
                  <a:pt x="26374" y="407191"/>
                </a:lnTo>
                <a:lnTo>
                  <a:pt x="95582" y="400113"/>
                </a:lnTo>
                <a:lnTo>
                  <a:pt x="135332" y="381719"/>
                </a:lnTo>
                <a:lnTo>
                  <a:pt x="176457" y="354362"/>
                </a:lnTo>
                <a:lnTo>
                  <a:pt x="217416" y="318750"/>
                </a:lnTo>
                <a:lnTo>
                  <a:pt x="256667" y="275590"/>
                </a:lnTo>
                <a:lnTo>
                  <a:pt x="290862" y="228286"/>
                </a:lnTo>
                <a:lnTo>
                  <a:pt x="317322" y="180876"/>
                </a:lnTo>
                <a:lnTo>
                  <a:pt x="335667" y="135010"/>
                </a:lnTo>
                <a:lnTo>
                  <a:pt x="345516" y="92339"/>
                </a:lnTo>
                <a:lnTo>
                  <a:pt x="346490" y="54513"/>
                </a:lnTo>
                <a:lnTo>
                  <a:pt x="338209" y="23183"/>
                </a:lnTo>
                <a:lnTo>
                  <a:pt x="3202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80995" y="3645661"/>
            <a:ext cx="374650" cy="385445"/>
          </a:xfrm>
          <a:custGeom>
            <a:avLst/>
            <a:gdLst/>
            <a:ahLst/>
            <a:cxnLst/>
            <a:rect l="l" t="t" r="r" b="b"/>
            <a:pathLst>
              <a:path w="374650" h="385445">
                <a:moveTo>
                  <a:pt x="352933" y="0"/>
                </a:moveTo>
                <a:lnTo>
                  <a:pt x="338109" y="50988"/>
                </a:lnTo>
                <a:lnTo>
                  <a:pt x="307392" y="114028"/>
                </a:lnTo>
                <a:lnTo>
                  <a:pt x="278538" y="158120"/>
                </a:lnTo>
                <a:lnTo>
                  <a:pt x="245081" y="200269"/>
                </a:lnTo>
                <a:lnTo>
                  <a:pt x="207955" y="239637"/>
                </a:lnTo>
                <a:lnTo>
                  <a:pt x="168095" y="275384"/>
                </a:lnTo>
                <a:lnTo>
                  <a:pt x="126435" y="306672"/>
                </a:lnTo>
                <a:lnTo>
                  <a:pt x="83909" y="332659"/>
                </a:lnTo>
                <a:lnTo>
                  <a:pt x="41453" y="352508"/>
                </a:lnTo>
                <a:lnTo>
                  <a:pt x="0" y="365379"/>
                </a:lnTo>
                <a:lnTo>
                  <a:pt x="25168" y="380380"/>
                </a:lnTo>
                <a:lnTo>
                  <a:pt x="94699" y="379328"/>
                </a:lnTo>
                <a:lnTo>
                  <a:pt x="135875" y="364425"/>
                </a:lnTo>
                <a:lnTo>
                  <a:pt x="179203" y="340704"/>
                </a:lnTo>
                <a:lnTo>
                  <a:pt x="223088" y="308742"/>
                </a:lnTo>
                <a:lnTo>
                  <a:pt x="265938" y="269113"/>
                </a:lnTo>
                <a:lnTo>
                  <a:pt x="304020" y="224921"/>
                </a:lnTo>
                <a:lnTo>
                  <a:pt x="334425" y="179960"/>
                </a:lnTo>
                <a:lnTo>
                  <a:pt x="356628" y="135841"/>
                </a:lnTo>
                <a:lnTo>
                  <a:pt x="370104" y="94175"/>
                </a:lnTo>
                <a:lnTo>
                  <a:pt x="374330" y="56573"/>
                </a:lnTo>
                <a:lnTo>
                  <a:pt x="368781" y="24644"/>
                </a:lnTo>
                <a:lnTo>
                  <a:pt x="3529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21432" y="3710685"/>
            <a:ext cx="417830" cy="335280"/>
          </a:xfrm>
          <a:custGeom>
            <a:avLst/>
            <a:gdLst/>
            <a:ahLst/>
            <a:cxnLst/>
            <a:rect l="l" t="t" r="r" b="b"/>
            <a:pathLst>
              <a:path w="417830" h="335279">
                <a:moveTo>
                  <a:pt x="405130" y="0"/>
                </a:moveTo>
                <a:lnTo>
                  <a:pt x="382609" y="48023"/>
                </a:lnTo>
                <a:lnTo>
                  <a:pt x="342482" y="105559"/>
                </a:lnTo>
                <a:lnTo>
                  <a:pt x="307175" y="144665"/>
                </a:lnTo>
                <a:lnTo>
                  <a:pt x="267621" y="181149"/>
                </a:lnTo>
                <a:lnTo>
                  <a:pt x="224872" y="214324"/>
                </a:lnTo>
                <a:lnTo>
                  <a:pt x="179979" y="243505"/>
                </a:lnTo>
                <a:lnTo>
                  <a:pt x="133994" y="268007"/>
                </a:lnTo>
                <a:lnTo>
                  <a:pt x="87968" y="287144"/>
                </a:lnTo>
                <a:lnTo>
                  <a:pt x="42953" y="300229"/>
                </a:lnTo>
                <a:lnTo>
                  <a:pt x="0" y="306577"/>
                </a:lnTo>
                <a:lnTo>
                  <a:pt x="22583" y="325254"/>
                </a:lnTo>
                <a:lnTo>
                  <a:pt x="53628" y="334582"/>
                </a:lnTo>
                <a:lnTo>
                  <a:pt x="91473" y="334886"/>
                </a:lnTo>
                <a:lnTo>
                  <a:pt x="134457" y="326490"/>
                </a:lnTo>
                <a:lnTo>
                  <a:pt x="180917" y="309719"/>
                </a:lnTo>
                <a:lnTo>
                  <a:pt x="229193" y="284897"/>
                </a:lnTo>
                <a:lnTo>
                  <a:pt x="277622" y="252349"/>
                </a:lnTo>
                <a:lnTo>
                  <a:pt x="322087" y="214610"/>
                </a:lnTo>
                <a:lnTo>
                  <a:pt x="359073" y="174906"/>
                </a:lnTo>
                <a:lnTo>
                  <a:pt x="387816" y="134753"/>
                </a:lnTo>
                <a:lnTo>
                  <a:pt x="407555" y="95668"/>
                </a:lnTo>
                <a:lnTo>
                  <a:pt x="417529" y="59170"/>
                </a:lnTo>
                <a:lnTo>
                  <a:pt x="416974" y="26774"/>
                </a:lnTo>
                <a:lnTo>
                  <a:pt x="4051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59151" y="3672713"/>
            <a:ext cx="395605" cy="363220"/>
          </a:xfrm>
          <a:custGeom>
            <a:avLst/>
            <a:gdLst/>
            <a:ahLst/>
            <a:cxnLst/>
            <a:rect l="l" t="t" r="r" b="b"/>
            <a:pathLst>
              <a:path w="395605" h="363220">
                <a:moveTo>
                  <a:pt x="377952" y="0"/>
                </a:moveTo>
                <a:lnTo>
                  <a:pt x="359646" y="49881"/>
                </a:lnTo>
                <a:lnTo>
                  <a:pt x="324636" y="110671"/>
                </a:lnTo>
                <a:lnTo>
                  <a:pt x="292774" y="152655"/>
                </a:lnTo>
                <a:lnTo>
                  <a:pt x="256436" y="192362"/>
                </a:lnTo>
                <a:lnTo>
                  <a:pt x="216614" y="229021"/>
                </a:lnTo>
                <a:lnTo>
                  <a:pt x="174301" y="261861"/>
                </a:lnTo>
                <a:lnTo>
                  <a:pt x="130490" y="290110"/>
                </a:lnTo>
                <a:lnTo>
                  <a:pt x="86174" y="312996"/>
                </a:lnTo>
                <a:lnTo>
                  <a:pt x="42346" y="329750"/>
                </a:lnTo>
                <a:lnTo>
                  <a:pt x="0" y="339598"/>
                </a:lnTo>
                <a:lnTo>
                  <a:pt x="24174" y="356422"/>
                </a:lnTo>
                <a:lnTo>
                  <a:pt x="55986" y="363220"/>
                </a:lnTo>
                <a:lnTo>
                  <a:pt x="93805" y="360448"/>
                </a:lnTo>
                <a:lnTo>
                  <a:pt x="136001" y="348561"/>
                </a:lnTo>
                <a:lnTo>
                  <a:pt x="180943" y="328014"/>
                </a:lnTo>
                <a:lnTo>
                  <a:pt x="227000" y="299263"/>
                </a:lnTo>
                <a:lnTo>
                  <a:pt x="272542" y="262763"/>
                </a:lnTo>
                <a:lnTo>
                  <a:pt x="313670" y="221388"/>
                </a:lnTo>
                <a:lnTo>
                  <a:pt x="347157" y="178657"/>
                </a:lnTo>
                <a:lnTo>
                  <a:pt x="372372" y="136149"/>
                </a:lnTo>
                <a:lnTo>
                  <a:pt x="388688" y="95448"/>
                </a:lnTo>
                <a:lnTo>
                  <a:pt x="395476" y="58135"/>
                </a:lnTo>
                <a:lnTo>
                  <a:pt x="392107" y="25792"/>
                </a:lnTo>
                <a:lnTo>
                  <a:pt x="377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71522" y="3767328"/>
            <a:ext cx="455295" cy="283845"/>
          </a:xfrm>
          <a:custGeom>
            <a:avLst/>
            <a:gdLst/>
            <a:ahLst/>
            <a:cxnLst/>
            <a:rect l="l" t="t" r="r" b="b"/>
            <a:pathLst>
              <a:path w="455294" h="283845">
                <a:moveTo>
                  <a:pt x="0" y="241427"/>
                </a:moveTo>
                <a:lnTo>
                  <a:pt x="19512" y="263449"/>
                </a:lnTo>
                <a:lnTo>
                  <a:pt x="48831" y="277523"/>
                </a:lnTo>
                <a:lnTo>
                  <a:pt x="86254" y="283708"/>
                </a:lnTo>
                <a:lnTo>
                  <a:pt x="130080" y="282064"/>
                </a:lnTo>
                <a:lnTo>
                  <a:pt x="178607" y="272651"/>
                </a:lnTo>
                <a:lnTo>
                  <a:pt x="230132" y="255529"/>
                </a:lnTo>
                <a:lnTo>
                  <a:pt x="259411" y="241799"/>
                </a:lnTo>
                <a:lnTo>
                  <a:pt x="43478" y="241799"/>
                </a:lnTo>
                <a:lnTo>
                  <a:pt x="0" y="241427"/>
                </a:lnTo>
                <a:close/>
              </a:path>
              <a:path w="455294" h="283845">
                <a:moveTo>
                  <a:pt x="447039" y="0"/>
                </a:moveTo>
                <a:lnTo>
                  <a:pt x="417554" y="44255"/>
                </a:lnTo>
                <a:lnTo>
                  <a:pt x="369252" y="95145"/>
                </a:lnTo>
                <a:lnTo>
                  <a:pt x="328422" y="128481"/>
                </a:lnTo>
                <a:lnTo>
                  <a:pt x="283783" y="158547"/>
                </a:lnTo>
                <a:lnTo>
                  <a:pt x="236479" y="184829"/>
                </a:lnTo>
                <a:lnTo>
                  <a:pt x="187653" y="206810"/>
                </a:lnTo>
                <a:lnTo>
                  <a:pt x="138448" y="223976"/>
                </a:lnTo>
                <a:lnTo>
                  <a:pt x="90009" y="235811"/>
                </a:lnTo>
                <a:lnTo>
                  <a:pt x="43478" y="241799"/>
                </a:lnTo>
                <a:lnTo>
                  <a:pt x="259411" y="241799"/>
                </a:lnTo>
                <a:lnTo>
                  <a:pt x="332633" y="200174"/>
                </a:lnTo>
                <a:lnTo>
                  <a:pt x="375201" y="166494"/>
                </a:lnTo>
                <a:lnTo>
                  <a:pt x="409679" y="131098"/>
                </a:lnTo>
                <a:lnTo>
                  <a:pt x="435083" y="95368"/>
                </a:lnTo>
                <a:lnTo>
                  <a:pt x="454745" y="28438"/>
                </a:lnTo>
                <a:lnTo>
                  <a:pt x="4470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22626" y="3805554"/>
            <a:ext cx="471805" cy="254000"/>
          </a:xfrm>
          <a:custGeom>
            <a:avLst/>
            <a:gdLst/>
            <a:ahLst/>
            <a:cxnLst/>
            <a:rect l="l" t="t" r="r" b="b"/>
            <a:pathLst>
              <a:path w="471805" h="254000">
                <a:moveTo>
                  <a:pt x="0" y="202057"/>
                </a:moveTo>
                <a:lnTo>
                  <a:pt x="17546" y="225696"/>
                </a:lnTo>
                <a:lnTo>
                  <a:pt x="45540" y="242243"/>
                </a:lnTo>
                <a:lnTo>
                  <a:pt x="82286" y="251615"/>
                </a:lnTo>
                <a:lnTo>
                  <a:pt x="126084" y="253735"/>
                </a:lnTo>
                <a:lnTo>
                  <a:pt x="175239" y="248521"/>
                </a:lnTo>
                <a:lnTo>
                  <a:pt x="228053" y="235893"/>
                </a:lnTo>
                <a:lnTo>
                  <a:pt x="282829" y="215773"/>
                </a:lnTo>
                <a:lnTo>
                  <a:pt x="301927" y="206161"/>
                </a:lnTo>
                <a:lnTo>
                  <a:pt x="43293" y="206161"/>
                </a:lnTo>
                <a:lnTo>
                  <a:pt x="0" y="202057"/>
                </a:lnTo>
                <a:close/>
              </a:path>
              <a:path w="471805" h="254000">
                <a:moveTo>
                  <a:pt x="466217" y="0"/>
                </a:moveTo>
                <a:lnTo>
                  <a:pt x="433016" y="41487"/>
                </a:lnTo>
                <a:lnTo>
                  <a:pt x="380501" y="88002"/>
                </a:lnTo>
                <a:lnTo>
                  <a:pt x="336951" y="117716"/>
                </a:lnTo>
                <a:lnTo>
                  <a:pt x="289889" y="143843"/>
                </a:lnTo>
                <a:lnTo>
                  <a:pt x="240496" y="165970"/>
                </a:lnTo>
                <a:lnTo>
                  <a:pt x="189957" y="183679"/>
                </a:lnTo>
                <a:lnTo>
                  <a:pt x="139455" y="196558"/>
                </a:lnTo>
                <a:lnTo>
                  <a:pt x="90172" y="204190"/>
                </a:lnTo>
                <a:lnTo>
                  <a:pt x="43293" y="206161"/>
                </a:lnTo>
                <a:lnTo>
                  <a:pt x="301927" y="206161"/>
                </a:lnTo>
                <a:lnTo>
                  <a:pt x="380245" y="159644"/>
                </a:lnTo>
                <a:lnTo>
                  <a:pt x="417656" y="127342"/>
                </a:lnTo>
                <a:lnTo>
                  <a:pt x="446062" y="93935"/>
                </a:lnTo>
                <a:lnTo>
                  <a:pt x="471447" y="28974"/>
                </a:lnTo>
                <a:lnTo>
                  <a:pt x="4662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65350" y="3862578"/>
            <a:ext cx="492759" cy="201295"/>
          </a:xfrm>
          <a:custGeom>
            <a:avLst/>
            <a:gdLst/>
            <a:ahLst/>
            <a:cxnLst/>
            <a:rect l="l" t="t" r="r" b="b"/>
            <a:pathLst>
              <a:path w="492760" h="201295">
                <a:moveTo>
                  <a:pt x="0" y="127762"/>
                </a:moveTo>
                <a:lnTo>
                  <a:pt x="38767" y="174481"/>
                </a:lnTo>
                <a:lnTo>
                  <a:pt x="116564" y="198274"/>
                </a:lnTo>
                <a:lnTo>
                  <a:pt x="165927" y="200707"/>
                </a:lnTo>
                <a:lnTo>
                  <a:pt x="220042" y="196368"/>
                </a:lnTo>
                <a:lnTo>
                  <a:pt x="277241" y="184912"/>
                </a:lnTo>
                <a:lnTo>
                  <a:pt x="332777" y="167064"/>
                </a:lnTo>
                <a:lnTo>
                  <a:pt x="382159" y="144520"/>
                </a:lnTo>
                <a:lnTo>
                  <a:pt x="383215" y="143862"/>
                </a:lnTo>
                <a:lnTo>
                  <a:pt x="138580" y="143862"/>
                </a:lnTo>
                <a:lnTo>
                  <a:pt x="88718" y="143796"/>
                </a:lnTo>
                <a:lnTo>
                  <a:pt x="42113" y="138505"/>
                </a:lnTo>
                <a:lnTo>
                  <a:pt x="0" y="127762"/>
                </a:lnTo>
                <a:close/>
              </a:path>
              <a:path w="492760" h="201295">
                <a:moveTo>
                  <a:pt x="491744" y="0"/>
                </a:moveTo>
                <a:lnTo>
                  <a:pt x="452489" y="35950"/>
                </a:lnTo>
                <a:lnTo>
                  <a:pt x="393449" y="73842"/>
                </a:lnTo>
                <a:lnTo>
                  <a:pt x="345856" y="96464"/>
                </a:lnTo>
                <a:lnTo>
                  <a:pt x="295336" y="115005"/>
                </a:lnTo>
                <a:lnTo>
                  <a:pt x="243125" y="129238"/>
                </a:lnTo>
                <a:lnTo>
                  <a:pt x="190461" y="138933"/>
                </a:lnTo>
                <a:lnTo>
                  <a:pt x="138580" y="143862"/>
                </a:lnTo>
                <a:lnTo>
                  <a:pt x="383215" y="143862"/>
                </a:lnTo>
                <a:lnTo>
                  <a:pt x="424101" y="118384"/>
                </a:lnTo>
                <a:lnTo>
                  <a:pt x="457317" y="89760"/>
                </a:lnTo>
                <a:lnTo>
                  <a:pt x="480520" y="59752"/>
                </a:lnTo>
                <a:lnTo>
                  <a:pt x="492424" y="29463"/>
                </a:lnTo>
                <a:lnTo>
                  <a:pt x="4917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732279" y="3446729"/>
            <a:ext cx="10496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黑体"/>
                <a:cs typeface="黑体"/>
              </a:rPr>
              <a:t>外部查询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784348" y="5344667"/>
            <a:ext cx="1146175" cy="1155700"/>
          </a:xfrm>
          <a:custGeom>
            <a:avLst/>
            <a:gdLst/>
            <a:ahLst/>
            <a:cxnLst/>
            <a:rect l="l" t="t" r="r" b="b"/>
            <a:pathLst>
              <a:path w="1146175" h="1155700">
                <a:moveTo>
                  <a:pt x="573024" y="0"/>
                </a:moveTo>
                <a:lnTo>
                  <a:pt x="526025" y="1914"/>
                </a:lnTo>
                <a:lnTo>
                  <a:pt x="480073" y="7559"/>
                </a:lnTo>
                <a:lnTo>
                  <a:pt x="435315" y="16786"/>
                </a:lnTo>
                <a:lnTo>
                  <a:pt x="391899" y="29446"/>
                </a:lnTo>
                <a:lnTo>
                  <a:pt x="349972" y="45390"/>
                </a:lnTo>
                <a:lnTo>
                  <a:pt x="309681" y="64470"/>
                </a:lnTo>
                <a:lnTo>
                  <a:pt x="271174" y="86536"/>
                </a:lnTo>
                <a:lnTo>
                  <a:pt x="234598" y="111442"/>
                </a:lnTo>
                <a:lnTo>
                  <a:pt x="200101" y="139037"/>
                </a:lnTo>
                <a:lnTo>
                  <a:pt x="167830" y="169173"/>
                </a:lnTo>
                <a:lnTo>
                  <a:pt x="137933" y="201702"/>
                </a:lnTo>
                <a:lnTo>
                  <a:pt x="110557" y="236474"/>
                </a:lnTo>
                <a:lnTo>
                  <a:pt x="85849" y="273342"/>
                </a:lnTo>
                <a:lnTo>
                  <a:pt x="63957" y="312156"/>
                </a:lnTo>
                <a:lnTo>
                  <a:pt x="45029" y="352769"/>
                </a:lnTo>
                <a:lnTo>
                  <a:pt x="29212" y="395030"/>
                </a:lnTo>
                <a:lnTo>
                  <a:pt x="16652" y="438792"/>
                </a:lnTo>
                <a:lnTo>
                  <a:pt x="7499" y="483906"/>
                </a:lnTo>
                <a:lnTo>
                  <a:pt x="1899" y="530223"/>
                </a:lnTo>
                <a:lnTo>
                  <a:pt x="0" y="577595"/>
                </a:lnTo>
                <a:lnTo>
                  <a:pt x="1899" y="624968"/>
                </a:lnTo>
                <a:lnTo>
                  <a:pt x="7499" y="671285"/>
                </a:lnTo>
                <a:lnTo>
                  <a:pt x="16652" y="716399"/>
                </a:lnTo>
                <a:lnTo>
                  <a:pt x="29212" y="760161"/>
                </a:lnTo>
                <a:lnTo>
                  <a:pt x="45029" y="802422"/>
                </a:lnTo>
                <a:lnTo>
                  <a:pt x="63957" y="843035"/>
                </a:lnTo>
                <a:lnTo>
                  <a:pt x="85849" y="881849"/>
                </a:lnTo>
                <a:lnTo>
                  <a:pt x="110557" y="918717"/>
                </a:lnTo>
                <a:lnTo>
                  <a:pt x="137933" y="953489"/>
                </a:lnTo>
                <a:lnTo>
                  <a:pt x="167830" y="986018"/>
                </a:lnTo>
                <a:lnTo>
                  <a:pt x="200101" y="1016154"/>
                </a:lnTo>
                <a:lnTo>
                  <a:pt x="234598" y="1043749"/>
                </a:lnTo>
                <a:lnTo>
                  <a:pt x="271174" y="1068655"/>
                </a:lnTo>
                <a:lnTo>
                  <a:pt x="309681" y="1090721"/>
                </a:lnTo>
                <a:lnTo>
                  <a:pt x="349972" y="1109801"/>
                </a:lnTo>
                <a:lnTo>
                  <a:pt x="391899" y="1125745"/>
                </a:lnTo>
                <a:lnTo>
                  <a:pt x="435315" y="1138405"/>
                </a:lnTo>
                <a:lnTo>
                  <a:pt x="480073" y="1147632"/>
                </a:lnTo>
                <a:lnTo>
                  <a:pt x="526025" y="1153277"/>
                </a:lnTo>
                <a:lnTo>
                  <a:pt x="573024" y="1155191"/>
                </a:lnTo>
                <a:lnTo>
                  <a:pt x="620022" y="1153277"/>
                </a:lnTo>
                <a:lnTo>
                  <a:pt x="665974" y="1147632"/>
                </a:lnTo>
                <a:lnTo>
                  <a:pt x="710732" y="1138405"/>
                </a:lnTo>
                <a:lnTo>
                  <a:pt x="754148" y="1125745"/>
                </a:lnTo>
                <a:lnTo>
                  <a:pt x="796075" y="1109801"/>
                </a:lnTo>
                <a:lnTo>
                  <a:pt x="836366" y="1090721"/>
                </a:lnTo>
                <a:lnTo>
                  <a:pt x="874873" y="1068655"/>
                </a:lnTo>
                <a:lnTo>
                  <a:pt x="911449" y="1043749"/>
                </a:lnTo>
                <a:lnTo>
                  <a:pt x="945946" y="1016154"/>
                </a:lnTo>
                <a:lnTo>
                  <a:pt x="978217" y="986018"/>
                </a:lnTo>
                <a:lnTo>
                  <a:pt x="1008114" y="953489"/>
                </a:lnTo>
                <a:lnTo>
                  <a:pt x="1035490" y="918717"/>
                </a:lnTo>
                <a:lnTo>
                  <a:pt x="1060198" y="881849"/>
                </a:lnTo>
                <a:lnTo>
                  <a:pt x="1082090" y="843035"/>
                </a:lnTo>
                <a:lnTo>
                  <a:pt x="1101018" y="802422"/>
                </a:lnTo>
                <a:lnTo>
                  <a:pt x="1116835" y="760161"/>
                </a:lnTo>
                <a:lnTo>
                  <a:pt x="1129395" y="716399"/>
                </a:lnTo>
                <a:lnTo>
                  <a:pt x="1138548" y="671285"/>
                </a:lnTo>
                <a:lnTo>
                  <a:pt x="1144148" y="624968"/>
                </a:lnTo>
                <a:lnTo>
                  <a:pt x="1146048" y="577595"/>
                </a:lnTo>
                <a:lnTo>
                  <a:pt x="1144148" y="530223"/>
                </a:lnTo>
                <a:lnTo>
                  <a:pt x="1138548" y="483906"/>
                </a:lnTo>
                <a:lnTo>
                  <a:pt x="1129395" y="438792"/>
                </a:lnTo>
                <a:lnTo>
                  <a:pt x="1116835" y="395030"/>
                </a:lnTo>
                <a:lnTo>
                  <a:pt x="1101018" y="352769"/>
                </a:lnTo>
                <a:lnTo>
                  <a:pt x="1082090" y="312156"/>
                </a:lnTo>
                <a:lnTo>
                  <a:pt x="1060198" y="273342"/>
                </a:lnTo>
                <a:lnTo>
                  <a:pt x="1035490" y="236474"/>
                </a:lnTo>
                <a:lnTo>
                  <a:pt x="1008114" y="201702"/>
                </a:lnTo>
                <a:lnTo>
                  <a:pt x="978217" y="169173"/>
                </a:lnTo>
                <a:lnTo>
                  <a:pt x="945946" y="139037"/>
                </a:lnTo>
                <a:lnTo>
                  <a:pt x="911449" y="111442"/>
                </a:lnTo>
                <a:lnTo>
                  <a:pt x="874873" y="86536"/>
                </a:lnTo>
                <a:lnTo>
                  <a:pt x="836366" y="64470"/>
                </a:lnTo>
                <a:lnTo>
                  <a:pt x="796075" y="45390"/>
                </a:lnTo>
                <a:lnTo>
                  <a:pt x="754148" y="29446"/>
                </a:lnTo>
                <a:lnTo>
                  <a:pt x="710732" y="16786"/>
                </a:lnTo>
                <a:lnTo>
                  <a:pt x="665974" y="7559"/>
                </a:lnTo>
                <a:lnTo>
                  <a:pt x="620022" y="1914"/>
                </a:lnTo>
                <a:lnTo>
                  <a:pt x="57302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19400" y="5381244"/>
            <a:ext cx="1072896" cy="1083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19400" y="5381244"/>
            <a:ext cx="1079500" cy="1087120"/>
          </a:xfrm>
          <a:custGeom>
            <a:avLst/>
            <a:gdLst/>
            <a:ahLst/>
            <a:cxnLst/>
            <a:rect l="l" t="t" r="r" b="b"/>
            <a:pathLst>
              <a:path w="1079500" h="1087120">
                <a:moveTo>
                  <a:pt x="539496" y="0"/>
                </a:moveTo>
                <a:lnTo>
                  <a:pt x="492948" y="1994"/>
                </a:lnTo>
                <a:lnTo>
                  <a:pt x="447499" y="7868"/>
                </a:lnTo>
                <a:lnTo>
                  <a:pt x="403311" y="17458"/>
                </a:lnTo>
                <a:lnTo>
                  <a:pt x="360547" y="30603"/>
                </a:lnTo>
                <a:lnTo>
                  <a:pt x="319368" y="47137"/>
                </a:lnTo>
                <a:lnTo>
                  <a:pt x="279935" y="66900"/>
                </a:lnTo>
                <a:lnTo>
                  <a:pt x="242412" y="89726"/>
                </a:lnTo>
                <a:lnTo>
                  <a:pt x="206960" y="115454"/>
                </a:lnTo>
                <a:lnTo>
                  <a:pt x="173741" y="143920"/>
                </a:lnTo>
                <a:lnTo>
                  <a:pt x="142917" y="174961"/>
                </a:lnTo>
                <a:lnTo>
                  <a:pt x="114649" y="208414"/>
                </a:lnTo>
                <a:lnTo>
                  <a:pt x="89101" y="244117"/>
                </a:lnTo>
                <a:lnTo>
                  <a:pt x="66434" y="281905"/>
                </a:lnTo>
                <a:lnTo>
                  <a:pt x="46809" y="321616"/>
                </a:lnTo>
                <a:lnTo>
                  <a:pt x="30390" y="363087"/>
                </a:lnTo>
                <a:lnTo>
                  <a:pt x="17337" y="406154"/>
                </a:lnTo>
                <a:lnTo>
                  <a:pt x="7813" y="450655"/>
                </a:lnTo>
                <a:lnTo>
                  <a:pt x="1980" y="496427"/>
                </a:lnTo>
                <a:lnTo>
                  <a:pt x="0" y="543305"/>
                </a:lnTo>
                <a:lnTo>
                  <a:pt x="1980" y="590184"/>
                </a:lnTo>
                <a:lnTo>
                  <a:pt x="7813" y="635956"/>
                </a:lnTo>
                <a:lnTo>
                  <a:pt x="17337" y="680457"/>
                </a:lnTo>
                <a:lnTo>
                  <a:pt x="30390" y="723524"/>
                </a:lnTo>
                <a:lnTo>
                  <a:pt x="46809" y="764995"/>
                </a:lnTo>
                <a:lnTo>
                  <a:pt x="66434" y="804706"/>
                </a:lnTo>
                <a:lnTo>
                  <a:pt x="89101" y="842494"/>
                </a:lnTo>
                <a:lnTo>
                  <a:pt x="114649" y="878197"/>
                </a:lnTo>
                <a:lnTo>
                  <a:pt x="142917" y="911650"/>
                </a:lnTo>
                <a:lnTo>
                  <a:pt x="173741" y="942691"/>
                </a:lnTo>
                <a:lnTo>
                  <a:pt x="206960" y="971157"/>
                </a:lnTo>
                <a:lnTo>
                  <a:pt x="242412" y="996885"/>
                </a:lnTo>
                <a:lnTo>
                  <a:pt x="279935" y="1019711"/>
                </a:lnTo>
                <a:lnTo>
                  <a:pt x="319368" y="1039474"/>
                </a:lnTo>
                <a:lnTo>
                  <a:pt x="360547" y="1056008"/>
                </a:lnTo>
                <a:lnTo>
                  <a:pt x="403311" y="1069153"/>
                </a:lnTo>
                <a:lnTo>
                  <a:pt x="447499" y="1078743"/>
                </a:lnTo>
                <a:lnTo>
                  <a:pt x="492948" y="1084617"/>
                </a:lnTo>
                <a:lnTo>
                  <a:pt x="539496" y="1086611"/>
                </a:lnTo>
                <a:lnTo>
                  <a:pt x="586043" y="1084617"/>
                </a:lnTo>
                <a:lnTo>
                  <a:pt x="631492" y="1078743"/>
                </a:lnTo>
                <a:lnTo>
                  <a:pt x="675680" y="1069153"/>
                </a:lnTo>
                <a:lnTo>
                  <a:pt x="718444" y="1056008"/>
                </a:lnTo>
                <a:lnTo>
                  <a:pt x="759623" y="1039474"/>
                </a:lnTo>
                <a:lnTo>
                  <a:pt x="799056" y="1019711"/>
                </a:lnTo>
                <a:lnTo>
                  <a:pt x="836579" y="996885"/>
                </a:lnTo>
                <a:lnTo>
                  <a:pt x="872031" y="971157"/>
                </a:lnTo>
                <a:lnTo>
                  <a:pt x="905250" y="942691"/>
                </a:lnTo>
                <a:lnTo>
                  <a:pt x="936074" y="911650"/>
                </a:lnTo>
                <a:lnTo>
                  <a:pt x="964342" y="878197"/>
                </a:lnTo>
                <a:lnTo>
                  <a:pt x="989890" y="842494"/>
                </a:lnTo>
                <a:lnTo>
                  <a:pt x="1012557" y="804706"/>
                </a:lnTo>
                <a:lnTo>
                  <a:pt x="1032182" y="764995"/>
                </a:lnTo>
                <a:lnTo>
                  <a:pt x="1048601" y="723524"/>
                </a:lnTo>
                <a:lnTo>
                  <a:pt x="1061654" y="680457"/>
                </a:lnTo>
                <a:lnTo>
                  <a:pt x="1071178" y="635956"/>
                </a:lnTo>
                <a:lnTo>
                  <a:pt x="1077011" y="590184"/>
                </a:lnTo>
                <a:lnTo>
                  <a:pt x="1078991" y="543305"/>
                </a:lnTo>
                <a:lnTo>
                  <a:pt x="1077011" y="496427"/>
                </a:lnTo>
                <a:lnTo>
                  <a:pt x="1071178" y="450655"/>
                </a:lnTo>
                <a:lnTo>
                  <a:pt x="1061654" y="406154"/>
                </a:lnTo>
                <a:lnTo>
                  <a:pt x="1048601" y="363087"/>
                </a:lnTo>
                <a:lnTo>
                  <a:pt x="1032182" y="321616"/>
                </a:lnTo>
                <a:lnTo>
                  <a:pt x="1012557" y="281905"/>
                </a:lnTo>
                <a:lnTo>
                  <a:pt x="989890" y="244117"/>
                </a:lnTo>
                <a:lnTo>
                  <a:pt x="964342" y="208414"/>
                </a:lnTo>
                <a:lnTo>
                  <a:pt x="936074" y="174961"/>
                </a:lnTo>
                <a:lnTo>
                  <a:pt x="905250" y="143920"/>
                </a:lnTo>
                <a:lnTo>
                  <a:pt x="872031" y="115454"/>
                </a:lnTo>
                <a:lnTo>
                  <a:pt x="836579" y="89726"/>
                </a:lnTo>
                <a:lnTo>
                  <a:pt x="799056" y="66900"/>
                </a:lnTo>
                <a:lnTo>
                  <a:pt x="759623" y="47137"/>
                </a:lnTo>
                <a:lnTo>
                  <a:pt x="718444" y="30603"/>
                </a:lnTo>
                <a:lnTo>
                  <a:pt x="675680" y="17458"/>
                </a:lnTo>
                <a:lnTo>
                  <a:pt x="631492" y="7868"/>
                </a:lnTo>
                <a:lnTo>
                  <a:pt x="586043" y="1994"/>
                </a:lnTo>
                <a:lnTo>
                  <a:pt x="53949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30067" y="5426964"/>
            <a:ext cx="790956" cy="678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59302" y="5818797"/>
            <a:ext cx="300990" cy="528320"/>
          </a:xfrm>
          <a:custGeom>
            <a:avLst/>
            <a:gdLst/>
            <a:ahLst/>
            <a:cxnLst/>
            <a:rect l="l" t="t" r="r" b="b"/>
            <a:pathLst>
              <a:path w="300989" h="528320">
                <a:moveTo>
                  <a:pt x="248412" y="0"/>
                </a:moveTo>
                <a:lnTo>
                  <a:pt x="250315" y="19069"/>
                </a:lnTo>
                <a:lnTo>
                  <a:pt x="251063" y="39154"/>
                </a:lnTo>
                <a:lnTo>
                  <a:pt x="250644" y="60171"/>
                </a:lnTo>
                <a:lnTo>
                  <a:pt x="242253" y="128625"/>
                </a:lnTo>
                <a:lnTo>
                  <a:pt x="231134" y="175907"/>
                </a:lnTo>
                <a:lnTo>
                  <a:pt x="216075" y="223210"/>
                </a:lnTo>
                <a:lnTo>
                  <a:pt x="197461" y="269853"/>
                </a:lnTo>
                <a:lnTo>
                  <a:pt x="175678" y="315159"/>
                </a:lnTo>
                <a:lnTo>
                  <a:pt x="151111" y="358449"/>
                </a:lnTo>
                <a:lnTo>
                  <a:pt x="124145" y="399043"/>
                </a:lnTo>
                <a:lnTo>
                  <a:pt x="95166" y="436264"/>
                </a:lnTo>
                <a:lnTo>
                  <a:pt x="64558" y="469431"/>
                </a:lnTo>
                <a:lnTo>
                  <a:pt x="32708" y="497866"/>
                </a:lnTo>
                <a:lnTo>
                  <a:pt x="0" y="520890"/>
                </a:lnTo>
                <a:lnTo>
                  <a:pt x="32335" y="527873"/>
                </a:lnTo>
                <a:lnTo>
                  <a:pt x="106555" y="501486"/>
                </a:lnTo>
                <a:lnTo>
                  <a:pt x="145422" y="470516"/>
                </a:lnTo>
                <a:lnTo>
                  <a:pt x="183450" y="429295"/>
                </a:lnTo>
                <a:lnTo>
                  <a:pt x="219129" y="379024"/>
                </a:lnTo>
                <a:lnTo>
                  <a:pt x="250951" y="320903"/>
                </a:lnTo>
                <a:lnTo>
                  <a:pt x="276077" y="259588"/>
                </a:lnTo>
                <a:lnTo>
                  <a:pt x="292680" y="200220"/>
                </a:lnTo>
                <a:lnTo>
                  <a:pt x="300777" y="144725"/>
                </a:lnTo>
                <a:lnTo>
                  <a:pt x="300383" y="95029"/>
                </a:lnTo>
                <a:lnTo>
                  <a:pt x="291514" y="53059"/>
                </a:lnTo>
                <a:lnTo>
                  <a:pt x="274185" y="20740"/>
                </a:lnTo>
                <a:lnTo>
                  <a:pt x="2484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465703" y="5926302"/>
            <a:ext cx="393700" cy="464184"/>
          </a:xfrm>
          <a:custGeom>
            <a:avLst/>
            <a:gdLst/>
            <a:ahLst/>
            <a:cxnLst/>
            <a:rect l="l" t="t" r="r" b="b"/>
            <a:pathLst>
              <a:path w="393700" h="464185">
                <a:moveTo>
                  <a:pt x="363727" y="0"/>
                </a:moveTo>
                <a:lnTo>
                  <a:pt x="357155" y="38692"/>
                </a:lnTo>
                <a:lnTo>
                  <a:pt x="345059" y="79908"/>
                </a:lnTo>
                <a:lnTo>
                  <a:pt x="327527" y="123595"/>
                </a:lnTo>
                <a:lnTo>
                  <a:pt x="305629" y="166946"/>
                </a:lnTo>
                <a:lnTo>
                  <a:pt x="279897" y="209389"/>
                </a:lnTo>
                <a:lnTo>
                  <a:pt x="250865" y="250357"/>
                </a:lnTo>
                <a:lnTo>
                  <a:pt x="219066" y="289280"/>
                </a:lnTo>
                <a:lnTo>
                  <a:pt x="185032" y="325588"/>
                </a:lnTo>
                <a:lnTo>
                  <a:pt x="149296" y="358712"/>
                </a:lnTo>
                <a:lnTo>
                  <a:pt x="112392" y="388083"/>
                </a:lnTo>
                <a:lnTo>
                  <a:pt x="74853" y="413130"/>
                </a:lnTo>
                <a:lnTo>
                  <a:pt x="37211" y="433286"/>
                </a:lnTo>
                <a:lnTo>
                  <a:pt x="0" y="447979"/>
                </a:lnTo>
                <a:lnTo>
                  <a:pt x="29792" y="462369"/>
                </a:lnTo>
                <a:lnTo>
                  <a:pt x="108108" y="454160"/>
                </a:lnTo>
                <a:lnTo>
                  <a:pt x="153143" y="433187"/>
                </a:lnTo>
                <a:lnTo>
                  <a:pt x="199771" y="402052"/>
                </a:lnTo>
                <a:lnTo>
                  <a:pt x="246248" y="361568"/>
                </a:lnTo>
                <a:lnTo>
                  <a:pt x="290830" y="312546"/>
                </a:lnTo>
                <a:lnTo>
                  <a:pt x="329657" y="258847"/>
                </a:lnTo>
                <a:lnTo>
                  <a:pt x="359743" y="205038"/>
                </a:lnTo>
                <a:lnTo>
                  <a:pt x="380650" y="152995"/>
                </a:lnTo>
                <a:lnTo>
                  <a:pt x="391939" y="104594"/>
                </a:lnTo>
                <a:lnTo>
                  <a:pt x="393174" y="61710"/>
                </a:lnTo>
                <a:lnTo>
                  <a:pt x="383916" y="26220"/>
                </a:lnTo>
                <a:lnTo>
                  <a:pt x="3637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414014" y="5979452"/>
            <a:ext cx="425450" cy="437515"/>
          </a:xfrm>
          <a:custGeom>
            <a:avLst/>
            <a:gdLst/>
            <a:ahLst/>
            <a:cxnLst/>
            <a:rect l="l" t="t" r="r" b="b"/>
            <a:pathLst>
              <a:path w="425450" h="437514">
                <a:moveTo>
                  <a:pt x="400938" y="0"/>
                </a:moveTo>
                <a:lnTo>
                  <a:pt x="391001" y="37977"/>
                </a:lnTo>
                <a:lnTo>
                  <a:pt x="375538" y="78003"/>
                </a:lnTo>
                <a:lnTo>
                  <a:pt x="354306" y="120022"/>
                </a:lnTo>
                <a:lnTo>
                  <a:pt x="328748" y="161330"/>
                </a:lnTo>
                <a:lnTo>
                  <a:pt x="299447" y="201406"/>
                </a:lnTo>
                <a:lnTo>
                  <a:pt x="266983" y="239728"/>
                </a:lnTo>
                <a:lnTo>
                  <a:pt x="231938" y="275775"/>
                </a:lnTo>
                <a:lnTo>
                  <a:pt x="194893" y="309025"/>
                </a:lnTo>
                <a:lnTo>
                  <a:pt x="156428" y="338957"/>
                </a:lnTo>
                <a:lnTo>
                  <a:pt x="117126" y="365049"/>
                </a:lnTo>
                <a:lnTo>
                  <a:pt x="77566" y="386780"/>
                </a:lnTo>
                <a:lnTo>
                  <a:pt x="38330" y="403629"/>
                </a:lnTo>
                <a:lnTo>
                  <a:pt x="0" y="415074"/>
                </a:lnTo>
                <a:lnTo>
                  <a:pt x="28444" y="431969"/>
                </a:lnTo>
                <a:lnTo>
                  <a:pt x="107202" y="430519"/>
                </a:lnTo>
                <a:lnTo>
                  <a:pt x="153894" y="413492"/>
                </a:lnTo>
                <a:lnTo>
                  <a:pt x="203048" y="386479"/>
                </a:lnTo>
                <a:lnTo>
                  <a:pt x="252852" y="350138"/>
                </a:lnTo>
                <a:lnTo>
                  <a:pt x="301498" y="305130"/>
                </a:lnTo>
                <a:lnTo>
                  <a:pt x="344802" y="254966"/>
                </a:lnTo>
                <a:lnTo>
                  <a:pt x="379395" y="203942"/>
                </a:lnTo>
                <a:lnTo>
                  <a:pt x="404684" y="153886"/>
                </a:lnTo>
                <a:lnTo>
                  <a:pt x="420076" y="106633"/>
                </a:lnTo>
                <a:lnTo>
                  <a:pt x="424978" y="64013"/>
                </a:lnTo>
                <a:lnTo>
                  <a:pt x="418797" y="27858"/>
                </a:lnTo>
                <a:lnTo>
                  <a:pt x="4009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346450" y="6053315"/>
            <a:ext cx="474345" cy="380365"/>
          </a:xfrm>
          <a:custGeom>
            <a:avLst/>
            <a:gdLst/>
            <a:ahLst/>
            <a:cxnLst/>
            <a:rect l="l" t="t" r="r" b="b"/>
            <a:pathLst>
              <a:path w="474345" h="380364">
                <a:moveTo>
                  <a:pt x="460121" y="0"/>
                </a:moveTo>
                <a:lnTo>
                  <a:pt x="444484" y="35994"/>
                </a:lnTo>
                <a:lnTo>
                  <a:pt x="423037" y="73151"/>
                </a:lnTo>
                <a:lnTo>
                  <a:pt x="395559" y="111394"/>
                </a:lnTo>
                <a:lnTo>
                  <a:pt x="363924" y="148267"/>
                </a:lnTo>
                <a:lnTo>
                  <a:pt x="328786" y="183343"/>
                </a:lnTo>
                <a:lnTo>
                  <a:pt x="290797" y="216199"/>
                </a:lnTo>
                <a:lnTo>
                  <a:pt x="250613" y="246408"/>
                </a:lnTo>
                <a:lnTo>
                  <a:pt x="208886" y="273546"/>
                </a:lnTo>
                <a:lnTo>
                  <a:pt x="166270" y="297185"/>
                </a:lnTo>
                <a:lnTo>
                  <a:pt x="123420" y="316902"/>
                </a:lnTo>
                <a:lnTo>
                  <a:pt x="80989" y="332270"/>
                </a:lnTo>
                <a:lnTo>
                  <a:pt x="39631" y="342864"/>
                </a:lnTo>
                <a:lnTo>
                  <a:pt x="0" y="348259"/>
                </a:lnTo>
                <a:lnTo>
                  <a:pt x="25484" y="369343"/>
                </a:lnTo>
                <a:lnTo>
                  <a:pt x="60616" y="379819"/>
                </a:lnTo>
                <a:lnTo>
                  <a:pt x="103506" y="380061"/>
                </a:lnTo>
                <a:lnTo>
                  <a:pt x="152263" y="370442"/>
                </a:lnTo>
                <a:lnTo>
                  <a:pt x="204997" y="351333"/>
                </a:lnTo>
                <a:lnTo>
                  <a:pt x="259817" y="323110"/>
                </a:lnTo>
                <a:lnTo>
                  <a:pt x="314833" y="286143"/>
                </a:lnTo>
                <a:lnTo>
                  <a:pt x="365328" y="243256"/>
                </a:lnTo>
                <a:lnTo>
                  <a:pt x="407373" y="198176"/>
                </a:lnTo>
                <a:lnTo>
                  <a:pt x="440089" y="152622"/>
                </a:lnTo>
                <a:lnTo>
                  <a:pt x="462600" y="108310"/>
                </a:lnTo>
                <a:lnTo>
                  <a:pt x="474027" y="66957"/>
                </a:lnTo>
                <a:lnTo>
                  <a:pt x="473493" y="30281"/>
                </a:lnTo>
                <a:lnTo>
                  <a:pt x="4601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389503" y="6010262"/>
            <a:ext cx="449580" cy="412115"/>
          </a:xfrm>
          <a:custGeom>
            <a:avLst/>
            <a:gdLst/>
            <a:ahLst/>
            <a:cxnLst/>
            <a:rect l="l" t="t" r="r" b="b"/>
            <a:pathLst>
              <a:path w="449579" h="412114">
                <a:moveTo>
                  <a:pt x="429133" y="0"/>
                </a:moveTo>
                <a:lnTo>
                  <a:pt x="416671" y="37266"/>
                </a:lnTo>
                <a:lnTo>
                  <a:pt x="398399" y="76161"/>
                </a:lnTo>
                <a:lnTo>
                  <a:pt x="374335" y="116636"/>
                </a:lnTo>
                <a:lnTo>
                  <a:pt x="345988" y="156081"/>
                </a:lnTo>
                <a:lnTo>
                  <a:pt x="313977" y="194018"/>
                </a:lnTo>
                <a:lnTo>
                  <a:pt x="278918" y="229967"/>
                </a:lnTo>
                <a:lnTo>
                  <a:pt x="241428" y="263451"/>
                </a:lnTo>
                <a:lnTo>
                  <a:pt x="202124" y="293990"/>
                </a:lnTo>
                <a:lnTo>
                  <a:pt x="161623" y="321105"/>
                </a:lnTo>
                <a:lnTo>
                  <a:pt x="120543" y="344317"/>
                </a:lnTo>
                <a:lnTo>
                  <a:pt x="79501" y="363148"/>
                </a:lnTo>
                <a:lnTo>
                  <a:pt x="39114" y="377118"/>
                </a:lnTo>
                <a:lnTo>
                  <a:pt x="0" y="385749"/>
                </a:lnTo>
                <a:lnTo>
                  <a:pt x="23361" y="403001"/>
                </a:lnTo>
                <a:lnTo>
                  <a:pt x="53566" y="411480"/>
                </a:lnTo>
                <a:lnTo>
                  <a:pt x="89372" y="411541"/>
                </a:lnTo>
                <a:lnTo>
                  <a:pt x="129539" y="403536"/>
                </a:lnTo>
                <a:lnTo>
                  <a:pt x="172826" y="387818"/>
                </a:lnTo>
                <a:lnTo>
                  <a:pt x="217991" y="364740"/>
                </a:lnTo>
                <a:lnTo>
                  <a:pt x="263793" y="334655"/>
                </a:lnTo>
                <a:lnTo>
                  <a:pt x="308991" y="297916"/>
                </a:lnTo>
                <a:lnTo>
                  <a:pt x="350314" y="256913"/>
                </a:lnTo>
                <a:lnTo>
                  <a:pt x="385091" y="214589"/>
                </a:lnTo>
                <a:lnTo>
                  <a:pt x="412838" y="172142"/>
                </a:lnTo>
                <a:lnTo>
                  <a:pt x="433070" y="130770"/>
                </a:lnTo>
                <a:lnTo>
                  <a:pt x="445300" y="91671"/>
                </a:lnTo>
                <a:lnTo>
                  <a:pt x="449044" y="56045"/>
                </a:lnTo>
                <a:lnTo>
                  <a:pt x="443816" y="25088"/>
                </a:lnTo>
                <a:lnTo>
                  <a:pt x="4291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289808" y="6117844"/>
            <a:ext cx="516255" cy="321945"/>
          </a:xfrm>
          <a:custGeom>
            <a:avLst/>
            <a:gdLst/>
            <a:ahLst/>
            <a:cxnLst/>
            <a:rect l="l" t="t" r="r" b="b"/>
            <a:pathLst>
              <a:path w="516254" h="321945">
                <a:moveTo>
                  <a:pt x="0" y="274129"/>
                </a:moveTo>
                <a:lnTo>
                  <a:pt x="18649" y="296393"/>
                </a:lnTo>
                <a:lnTo>
                  <a:pt x="46019" y="311736"/>
                </a:lnTo>
                <a:lnTo>
                  <a:pt x="80815" y="320210"/>
                </a:lnTo>
                <a:lnTo>
                  <a:pt x="121745" y="321867"/>
                </a:lnTo>
                <a:lnTo>
                  <a:pt x="167514" y="316758"/>
                </a:lnTo>
                <a:lnTo>
                  <a:pt x="216830" y="304935"/>
                </a:lnTo>
                <a:lnTo>
                  <a:pt x="268399" y="286449"/>
                </a:lnTo>
                <a:lnTo>
                  <a:pt x="292511" y="274929"/>
                </a:lnTo>
                <a:lnTo>
                  <a:pt x="40034" y="274929"/>
                </a:lnTo>
                <a:lnTo>
                  <a:pt x="0" y="274129"/>
                </a:lnTo>
                <a:close/>
              </a:path>
              <a:path w="516254" h="321945">
                <a:moveTo>
                  <a:pt x="507745" y="0"/>
                </a:moveTo>
                <a:lnTo>
                  <a:pt x="486870" y="33288"/>
                </a:lnTo>
                <a:lnTo>
                  <a:pt x="459993" y="66814"/>
                </a:lnTo>
                <a:lnTo>
                  <a:pt x="427075" y="100499"/>
                </a:lnTo>
                <a:lnTo>
                  <a:pt x="390241" y="132178"/>
                </a:lnTo>
                <a:lnTo>
                  <a:pt x="350202" y="161531"/>
                </a:lnTo>
                <a:lnTo>
                  <a:pt x="307671" y="188237"/>
                </a:lnTo>
                <a:lnTo>
                  <a:pt x="263360" y="211975"/>
                </a:lnTo>
                <a:lnTo>
                  <a:pt x="217981" y="232424"/>
                </a:lnTo>
                <a:lnTo>
                  <a:pt x="172247" y="249265"/>
                </a:lnTo>
                <a:lnTo>
                  <a:pt x="126870" y="262177"/>
                </a:lnTo>
                <a:lnTo>
                  <a:pt x="82561" y="270838"/>
                </a:lnTo>
                <a:lnTo>
                  <a:pt x="40034" y="274929"/>
                </a:lnTo>
                <a:lnTo>
                  <a:pt x="292511" y="274929"/>
                </a:lnTo>
                <a:lnTo>
                  <a:pt x="370732" y="231203"/>
                </a:lnTo>
                <a:lnTo>
                  <a:pt x="414484" y="198231"/>
                </a:lnTo>
                <a:lnTo>
                  <a:pt x="451431" y="163490"/>
                </a:lnTo>
                <a:lnTo>
                  <a:pt x="480821" y="128028"/>
                </a:lnTo>
                <a:lnTo>
                  <a:pt x="501901" y="92898"/>
                </a:lnTo>
                <a:lnTo>
                  <a:pt x="516116" y="27833"/>
                </a:lnTo>
                <a:lnTo>
                  <a:pt x="5077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234308" y="6161278"/>
            <a:ext cx="535940" cy="287655"/>
          </a:xfrm>
          <a:custGeom>
            <a:avLst/>
            <a:gdLst/>
            <a:ahLst/>
            <a:cxnLst/>
            <a:rect l="l" t="t" r="r" b="b"/>
            <a:pathLst>
              <a:path w="535939" h="287654">
                <a:moveTo>
                  <a:pt x="0" y="229501"/>
                </a:moveTo>
                <a:lnTo>
                  <a:pt x="16686" y="253288"/>
                </a:lnTo>
                <a:lnTo>
                  <a:pt x="42644" y="270927"/>
                </a:lnTo>
                <a:lnTo>
                  <a:pt x="76585" y="282359"/>
                </a:lnTo>
                <a:lnTo>
                  <a:pt x="117220" y="287524"/>
                </a:lnTo>
                <a:lnTo>
                  <a:pt x="163261" y="286364"/>
                </a:lnTo>
                <a:lnTo>
                  <a:pt x="213419" y="278818"/>
                </a:lnTo>
                <a:lnTo>
                  <a:pt x="266404" y="264828"/>
                </a:lnTo>
                <a:lnTo>
                  <a:pt x="320929" y="244335"/>
                </a:lnTo>
                <a:lnTo>
                  <a:pt x="342401" y="233739"/>
                </a:lnTo>
                <a:lnTo>
                  <a:pt x="39831" y="233739"/>
                </a:lnTo>
                <a:lnTo>
                  <a:pt x="0" y="229501"/>
                </a:lnTo>
                <a:close/>
              </a:path>
              <a:path w="535939" h="287654">
                <a:moveTo>
                  <a:pt x="529463" y="0"/>
                </a:moveTo>
                <a:lnTo>
                  <a:pt x="505793" y="31378"/>
                </a:lnTo>
                <a:lnTo>
                  <a:pt x="476123" y="62471"/>
                </a:lnTo>
                <a:lnTo>
                  <a:pt x="440447" y="93203"/>
                </a:lnTo>
                <a:lnTo>
                  <a:pt x="401038" y="121601"/>
                </a:lnTo>
                <a:lnTo>
                  <a:pt x="358632" y="147406"/>
                </a:lnTo>
                <a:lnTo>
                  <a:pt x="313967" y="170359"/>
                </a:lnTo>
                <a:lnTo>
                  <a:pt x="267781" y="190203"/>
                </a:lnTo>
                <a:lnTo>
                  <a:pt x="220810" y="206679"/>
                </a:lnTo>
                <a:lnTo>
                  <a:pt x="173792" y="219529"/>
                </a:lnTo>
                <a:lnTo>
                  <a:pt x="127465" y="228495"/>
                </a:lnTo>
                <a:lnTo>
                  <a:pt x="82566" y="233317"/>
                </a:lnTo>
                <a:lnTo>
                  <a:pt x="39831" y="233739"/>
                </a:lnTo>
                <a:lnTo>
                  <a:pt x="342401" y="233739"/>
                </a:lnTo>
                <a:lnTo>
                  <a:pt x="419538" y="189486"/>
                </a:lnTo>
                <a:lnTo>
                  <a:pt x="459319" y="158046"/>
                </a:lnTo>
                <a:lnTo>
                  <a:pt x="491632" y="125239"/>
                </a:lnTo>
                <a:lnTo>
                  <a:pt x="515642" y="92048"/>
                </a:lnTo>
                <a:lnTo>
                  <a:pt x="535395" y="28446"/>
                </a:lnTo>
                <a:lnTo>
                  <a:pt x="5294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169157" y="6226187"/>
            <a:ext cx="560070" cy="227329"/>
          </a:xfrm>
          <a:custGeom>
            <a:avLst/>
            <a:gdLst/>
            <a:ahLst/>
            <a:cxnLst/>
            <a:rect l="l" t="t" r="r" b="b"/>
            <a:pathLst>
              <a:path w="560070" h="227329">
                <a:moveTo>
                  <a:pt x="0" y="145084"/>
                </a:moveTo>
                <a:lnTo>
                  <a:pt x="35744" y="192596"/>
                </a:lnTo>
                <a:lnTo>
                  <a:pt x="106886" y="220503"/>
                </a:lnTo>
                <a:lnTo>
                  <a:pt x="152564" y="226460"/>
                </a:lnTo>
                <a:lnTo>
                  <a:pt x="203293" y="226741"/>
                </a:lnTo>
                <a:lnTo>
                  <a:pt x="257804" y="221089"/>
                </a:lnTo>
                <a:lnTo>
                  <a:pt x="314832" y="209245"/>
                </a:lnTo>
                <a:lnTo>
                  <a:pt x="370378" y="191846"/>
                </a:lnTo>
                <a:lnTo>
                  <a:pt x="420725" y="170264"/>
                </a:lnTo>
                <a:lnTo>
                  <a:pt x="432258" y="163754"/>
                </a:lnTo>
                <a:lnTo>
                  <a:pt x="126086" y="163754"/>
                </a:lnTo>
                <a:lnTo>
                  <a:pt x="80981" y="161593"/>
                </a:lnTo>
                <a:lnTo>
                  <a:pt x="38696" y="155417"/>
                </a:lnTo>
                <a:lnTo>
                  <a:pt x="0" y="145084"/>
                </a:lnTo>
                <a:close/>
              </a:path>
              <a:path w="560070" h="227329">
                <a:moveTo>
                  <a:pt x="558545" y="0"/>
                </a:moveTo>
                <a:lnTo>
                  <a:pt x="530320" y="27352"/>
                </a:lnTo>
                <a:lnTo>
                  <a:pt x="496189" y="53505"/>
                </a:lnTo>
                <a:lnTo>
                  <a:pt x="456201" y="78362"/>
                </a:lnTo>
                <a:lnTo>
                  <a:pt x="412884" y="100339"/>
                </a:lnTo>
                <a:lnTo>
                  <a:pt x="367004" y="119292"/>
                </a:lnTo>
                <a:lnTo>
                  <a:pt x="319331" y="135081"/>
                </a:lnTo>
                <a:lnTo>
                  <a:pt x="270634" y="147563"/>
                </a:lnTo>
                <a:lnTo>
                  <a:pt x="221681" y="156597"/>
                </a:lnTo>
                <a:lnTo>
                  <a:pt x="173242" y="162042"/>
                </a:lnTo>
                <a:lnTo>
                  <a:pt x="126086" y="163754"/>
                </a:lnTo>
                <a:lnTo>
                  <a:pt x="432258" y="163754"/>
                </a:lnTo>
                <a:lnTo>
                  <a:pt x="501888" y="117909"/>
                </a:lnTo>
                <a:lnTo>
                  <a:pt x="530736" y="88820"/>
                </a:lnTo>
                <a:lnTo>
                  <a:pt x="560049" y="29024"/>
                </a:lnTo>
                <a:lnTo>
                  <a:pt x="558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621785" y="5852274"/>
            <a:ext cx="265430" cy="464820"/>
          </a:xfrm>
          <a:custGeom>
            <a:avLst/>
            <a:gdLst/>
            <a:ahLst/>
            <a:cxnLst/>
            <a:rect l="l" t="t" r="r" b="b"/>
            <a:pathLst>
              <a:path w="265429" h="464820">
                <a:moveTo>
                  <a:pt x="218693" y="0"/>
                </a:moveTo>
                <a:lnTo>
                  <a:pt x="220382" y="16806"/>
                </a:lnTo>
                <a:lnTo>
                  <a:pt x="221059" y="34507"/>
                </a:lnTo>
                <a:lnTo>
                  <a:pt x="220712" y="53029"/>
                </a:lnTo>
                <a:lnTo>
                  <a:pt x="211581" y="122562"/>
                </a:lnTo>
                <a:lnTo>
                  <a:pt x="198234" y="173534"/>
                </a:lnTo>
                <a:lnTo>
                  <a:pt x="179907" y="224126"/>
                </a:lnTo>
                <a:lnTo>
                  <a:pt x="157217" y="273246"/>
                </a:lnTo>
                <a:lnTo>
                  <a:pt x="130785" y="319803"/>
                </a:lnTo>
                <a:lnTo>
                  <a:pt x="101228" y="362706"/>
                </a:lnTo>
                <a:lnTo>
                  <a:pt x="69166" y="400865"/>
                </a:lnTo>
                <a:lnTo>
                  <a:pt x="35216" y="433188"/>
                </a:lnTo>
                <a:lnTo>
                  <a:pt x="0" y="458584"/>
                </a:lnTo>
                <a:lnTo>
                  <a:pt x="28617" y="464797"/>
                </a:lnTo>
                <a:lnTo>
                  <a:pt x="94199" y="441678"/>
                </a:lnTo>
                <a:lnTo>
                  <a:pt x="128501" y="414456"/>
                </a:lnTo>
                <a:lnTo>
                  <a:pt x="162037" y="378200"/>
                </a:lnTo>
                <a:lnTo>
                  <a:pt x="193476" y="333963"/>
                </a:lnTo>
                <a:lnTo>
                  <a:pt x="221487" y="282803"/>
                </a:lnTo>
                <a:lnTo>
                  <a:pt x="243620" y="228816"/>
                </a:lnTo>
                <a:lnTo>
                  <a:pt x="258212" y="176528"/>
                </a:lnTo>
                <a:lnTo>
                  <a:pt x="265281" y="127638"/>
                </a:lnTo>
                <a:lnTo>
                  <a:pt x="264847" y="83842"/>
                </a:lnTo>
                <a:lnTo>
                  <a:pt x="256925" y="46838"/>
                </a:lnTo>
                <a:lnTo>
                  <a:pt x="241535" y="18325"/>
                </a:lnTo>
                <a:lnTo>
                  <a:pt x="2186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539363" y="5946863"/>
            <a:ext cx="346710" cy="408940"/>
          </a:xfrm>
          <a:custGeom>
            <a:avLst/>
            <a:gdLst/>
            <a:ahLst/>
            <a:cxnLst/>
            <a:rect l="l" t="t" r="r" b="b"/>
            <a:pathLst>
              <a:path w="346710" h="408939">
                <a:moveTo>
                  <a:pt x="320294" y="0"/>
                </a:moveTo>
                <a:lnTo>
                  <a:pt x="309846" y="52036"/>
                </a:lnTo>
                <a:lnTo>
                  <a:pt x="284689" y="117480"/>
                </a:lnTo>
                <a:lnTo>
                  <a:pt x="259727" y="163888"/>
                </a:lnTo>
                <a:lnTo>
                  <a:pt x="230011" y="208756"/>
                </a:lnTo>
                <a:lnTo>
                  <a:pt x="196400" y="251168"/>
                </a:lnTo>
                <a:lnTo>
                  <a:pt x="159754" y="290211"/>
                </a:lnTo>
                <a:lnTo>
                  <a:pt x="120932" y="324969"/>
                </a:lnTo>
                <a:lnTo>
                  <a:pt x="80792" y="354528"/>
                </a:lnTo>
                <a:lnTo>
                  <a:pt x="40195" y="377971"/>
                </a:lnTo>
                <a:lnTo>
                  <a:pt x="0" y="394385"/>
                </a:lnTo>
                <a:lnTo>
                  <a:pt x="26367" y="407147"/>
                </a:lnTo>
                <a:lnTo>
                  <a:pt x="95542" y="400084"/>
                </a:lnTo>
                <a:lnTo>
                  <a:pt x="135279" y="381684"/>
                </a:lnTo>
                <a:lnTo>
                  <a:pt x="176402" y="354322"/>
                </a:lnTo>
                <a:lnTo>
                  <a:pt x="217376" y="318711"/>
                </a:lnTo>
                <a:lnTo>
                  <a:pt x="256666" y="275564"/>
                </a:lnTo>
                <a:lnTo>
                  <a:pt x="290815" y="228281"/>
                </a:lnTo>
                <a:lnTo>
                  <a:pt x="317244" y="180879"/>
                </a:lnTo>
                <a:lnTo>
                  <a:pt x="335573" y="135014"/>
                </a:lnTo>
                <a:lnTo>
                  <a:pt x="345423" y="92339"/>
                </a:lnTo>
                <a:lnTo>
                  <a:pt x="346413" y="54508"/>
                </a:lnTo>
                <a:lnTo>
                  <a:pt x="338163" y="23177"/>
                </a:lnTo>
                <a:lnTo>
                  <a:pt x="3202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493896" y="5993600"/>
            <a:ext cx="374650" cy="385445"/>
          </a:xfrm>
          <a:custGeom>
            <a:avLst/>
            <a:gdLst/>
            <a:ahLst/>
            <a:cxnLst/>
            <a:rect l="l" t="t" r="r" b="b"/>
            <a:pathLst>
              <a:path w="374650" h="385445">
                <a:moveTo>
                  <a:pt x="352932" y="0"/>
                </a:moveTo>
                <a:lnTo>
                  <a:pt x="338109" y="50947"/>
                </a:lnTo>
                <a:lnTo>
                  <a:pt x="307392" y="113983"/>
                </a:lnTo>
                <a:lnTo>
                  <a:pt x="278538" y="158079"/>
                </a:lnTo>
                <a:lnTo>
                  <a:pt x="245081" y="200230"/>
                </a:lnTo>
                <a:lnTo>
                  <a:pt x="207955" y="239600"/>
                </a:lnTo>
                <a:lnTo>
                  <a:pt x="168095" y="275352"/>
                </a:lnTo>
                <a:lnTo>
                  <a:pt x="126435" y="306647"/>
                </a:lnTo>
                <a:lnTo>
                  <a:pt x="83909" y="332648"/>
                </a:lnTo>
                <a:lnTo>
                  <a:pt x="41453" y="352517"/>
                </a:lnTo>
                <a:lnTo>
                  <a:pt x="0" y="365417"/>
                </a:lnTo>
                <a:lnTo>
                  <a:pt x="25127" y="380395"/>
                </a:lnTo>
                <a:lnTo>
                  <a:pt x="94635" y="379300"/>
                </a:lnTo>
                <a:lnTo>
                  <a:pt x="135812" y="364382"/>
                </a:lnTo>
                <a:lnTo>
                  <a:pt x="179134" y="340655"/>
                </a:lnTo>
                <a:lnTo>
                  <a:pt x="223001" y="308697"/>
                </a:lnTo>
                <a:lnTo>
                  <a:pt x="265811" y="269087"/>
                </a:lnTo>
                <a:lnTo>
                  <a:pt x="303940" y="224910"/>
                </a:lnTo>
                <a:lnTo>
                  <a:pt x="334379" y="179953"/>
                </a:lnTo>
                <a:lnTo>
                  <a:pt x="356604" y="135831"/>
                </a:lnTo>
                <a:lnTo>
                  <a:pt x="370094" y="94160"/>
                </a:lnTo>
                <a:lnTo>
                  <a:pt x="374327" y="56554"/>
                </a:lnTo>
                <a:lnTo>
                  <a:pt x="368780" y="24629"/>
                </a:lnTo>
                <a:lnTo>
                  <a:pt x="3529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434334" y="6058547"/>
            <a:ext cx="417830" cy="335280"/>
          </a:xfrm>
          <a:custGeom>
            <a:avLst/>
            <a:gdLst/>
            <a:ahLst/>
            <a:cxnLst/>
            <a:rect l="l" t="t" r="r" b="b"/>
            <a:pathLst>
              <a:path w="417829" h="335279">
                <a:moveTo>
                  <a:pt x="405129" y="0"/>
                </a:moveTo>
                <a:lnTo>
                  <a:pt x="382555" y="48054"/>
                </a:lnTo>
                <a:lnTo>
                  <a:pt x="342482" y="105591"/>
                </a:lnTo>
                <a:lnTo>
                  <a:pt x="307175" y="144708"/>
                </a:lnTo>
                <a:lnTo>
                  <a:pt x="267621" y="181196"/>
                </a:lnTo>
                <a:lnTo>
                  <a:pt x="224872" y="214369"/>
                </a:lnTo>
                <a:lnTo>
                  <a:pt x="179979" y="243545"/>
                </a:lnTo>
                <a:lnTo>
                  <a:pt x="133994" y="268041"/>
                </a:lnTo>
                <a:lnTo>
                  <a:pt x="87968" y="287171"/>
                </a:lnTo>
                <a:lnTo>
                  <a:pt x="42953" y="300253"/>
                </a:lnTo>
                <a:lnTo>
                  <a:pt x="0" y="306603"/>
                </a:lnTo>
                <a:lnTo>
                  <a:pt x="22543" y="325285"/>
                </a:lnTo>
                <a:lnTo>
                  <a:pt x="53572" y="334619"/>
                </a:lnTo>
                <a:lnTo>
                  <a:pt x="91420" y="334930"/>
                </a:lnTo>
                <a:lnTo>
                  <a:pt x="134417" y="326542"/>
                </a:lnTo>
                <a:lnTo>
                  <a:pt x="180895" y="309781"/>
                </a:lnTo>
                <a:lnTo>
                  <a:pt x="229186" y="284971"/>
                </a:lnTo>
                <a:lnTo>
                  <a:pt x="277621" y="252437"/>
                </a:lnTo>
                <a:lnTo>
                  <a:pt x="322047" y="214667"/>
                </a:lnTo>
                <a:lnTo>
                  <a:pt x="359017" y="174941"/>
                </a:lnTo>
                <a:lnTo>
                  <a:pt x="387763" y="134773"/>
                </a:lnTo>
                <a:lnTo>
                  <a:pt x="407515" y="95681"/>
                </a:lnTo>
                <a:lnTo>
                  <a:pt x="417507" y="59177"/>
                </a:lnTo>
                <a:lnTo>
                  <a:pt x="416968" y="26779"/>
                </a:lnTo>
                <a:lnTo>
                  <a:pt x="4051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472053" y="6020638"/>
            <a:ext cx="395605" cy="363855"/>
          </a:xfrm>
          <a:custGeom>
            <a:avLst/>
            <a:gdLst/>
            <a:ahLst/>
            <a:cxnLst/>
            <a:rect l="l" t="t" r="r" b="b"/>
            <a:pathLst>
              <a:path w="395604" h="363854">
                <a:moveTo>
                  <a:pt x="377825" y="0"/>
                </a:moveTo>
                <a:lnTo>
                  <a:pt x="359537" y="49872"/>
                </a:lnTo>
                <a:lnTo>
                  <a:pt x="324513" y="110671"/>
                </a:lnTo>
                <a:lnTo>
                  <a:pt x="292663" y="152660"/>
                </a:lnTo>
                <a:lnTo>
                  <a:pt x="256342" y="192367"/>
                </a:lnTo>
                <a:lnTo>
                  <a:pt x="216540" y="229022"/>
                </a:lnTo>
                <a:lnTo>
                  <a:pt x="174248" y="261857"/>
                </a:lnTo>
                <a:lnTo>
                  <a:pt x="130457" y="290101"/>
                </a:lnTo>
                <a:lnTo>
                  <a:pt x="86158" y="312985"/>
                </a:lnTo>
                <a:lnTo>
                  <a:pt x="42342" y="329741"/>
                </a:lnTo>
                <a:lnTo>
                  <a:pt x="0" y="339597"/>
                </a:lnTo>
                <a:lnTo>
                  <a:pt x="24134" y="356431"/>
                </a:lnTo>
                <a:lnTo>
                  <a:pt x="55931" y="363226"/>
                </a:lnTo>
                <a:lnTo>
                  <a:pt x="93752" y="360445"/>
                </a:lnTo>
                <a:lnTo>
                  <a:pt x="135961" y="348549"/>
                </a:lnTo>
                <a:lnTo>
                  <a:pt x="180921" y="327997"/>
                </a:lnTo>
                <a:lnTo>
                  <a:pt x="226993" y="299253"/>
                </a:lnTo>
                <a:lnTo>
                  <a:pt x="272542" y="262775"/>
                </a:lnTo>
                <a:lnTo>
                  <a:pt x="313630" y="221382"/>
                </a:lnTo>
                <a:lnTo>
                  <a:pt x="347098" y="178646"/>
                </a:lnTo>
                <a:lnTo>
                  <a:pt x="372309" y="136142"/>
                </a:lnTo>
                <a:lnTo>
                  <a:pt x="388625" y="95449"/>
                </a:lnTo>
                <a:lnTo>
                  <a:pt x="395408" y="58143"/>
                </a:lnTo>
                <a:lnTo>
                  <a:pt x="392020" y="25801"/>
                </a:lnTo>
                <a:lnTo>
                  <a:pt x="3778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384296" y="6115303"/>
            <a:ext cx="455295" cy="283845"/>
          </a:xfrm>
          <a:custGeom>
            <a:avLst/>
            <a:gdLst/>
            <a:ahLst/>
            <a:cxnLst/>
            <a:rect l="l" t="t" r="r" b="b"/>
            <a:pathLst>
              <a:path w="455295" h="283845">
                <a:moveTo>
                  <a:pt x="0" y="241338"/>
                </a:moveTo>
                <a:lnTo>
                  <a:pt x="19552" y="263374"/>
                </a:lnTo>
                <a:lnTo>
                  <a:pt x="48887" y="277449"/>
                </a:lnTo>
                <a:lnTo>
                  <a:pt x="86308" y="283628"/>
                </a:lnTo>
                <a:lnTo>
                  <a:pt x="130120" y="281975"/>
                </a:lnTo>
                <a:lnTo>
                  <a:pt x="178629" y="272554"/>
                </a:lnTo>
                <a:lnTo>
                  <a:pt x="230139" y="255431"/>
                </a:lnTo>
                <a:lnTo>
                  <a:pt x="259421" y="241703"/>
                </a:lnTo>
                <a:lnTo>
                  <a:pt x="43478" y="241703"/>
                </a:lnTo>
                <a:lnTo>
                  <a:pt x="0" y="241338"/>
                </a:lnTo>
                <a:close/>
              </a:path>
              <a:path w="455295" h="283845">
                <a:moveTo>
                  <a:pt x="447166" y="0"/>
                </a:moveTo>
                <a:lnTo>
                  <a:pt x="417627" y="44178"/>
                </a:lnTo>
                <a:lnTo>
                  <a:pt x="369252" y="95048"/>
                </a:lnTo>
                <a:lnTo>
                  <a:pt x="328422" y="128379"/>
                </a:lnTo>
                <a:lnTo>
                  <a:pt x="283783" y="158441"/>
                </a:lnTo>
                <a:lnTo>
                  <a:pt x="236479" y="184721"/>
                </a:lnTo>
                <a:lnTo>
                  <a:pt x="187653" y="206702"/>
                </a:lnTo>
                <a:lnTo>
                  <a:pt x="138448" y="223870"/>
                </a:lnTo>
                <a:lnTo>
                  <a:pt x="90009" y="235709"/>
                </a:lnTo>
                <a:lnTo>
                  <a:pt x="43478" y="241703"/>
                </a:lnTo>
                <a:lnTo>
                  <a:pt x="259421" y="241703"/>
                </a:lnTo>
                <a:lnTo>
                  <a:pt x="332640" y="200094"/>
                </a:lnTo>
                <a:lnTo>
                  <a:pt x="375226" y="166418"/>
                </a:lnTo>
                <a:lnTo>
                  <a:pt x="409729" y="131026"/>
                </a:lnTo>
                <a:lnTo>
                  <a:pt x="435160" y="95304"/>
                </a:lnTo>
                <a:lnTo>
                  <a:pt x="454865" y="28406"/>
                </a:lnTo>
                <a:lnTo>
                  <a:pt x="4471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335528" y="6153480"/>
            <a:ext cx="471805" cy="254000"/>
          </a:xfrm>
          <a:custGeom>
            <a:avLst/>
            <a:gdLst/>
            <a:ahLst/>
            <a:cxnLst/>
            <a:rect l="l" t="t" r="r" b="b"/>
            <a:pathLst>
              <a:path w="471804" h="254000">
                <a:moveTo>
                  <a:pt x="0" y="202044"/>
                </a:moveTo>
                <a:lnTo>
                  <a:pt x="17545" y="225675"/>
                </a:lnTo>
                <a:lnTo>
                  <a:pt x="45537" y="242218"/>
                </a:lnTo>
                <a:lnTo>
                  <a:pt x="82276" y="251589"/>
                </a:lnTo>
                <a:lnTo>
                  <a:pt x="126061" y="253707"/>
                </a:lnTo>
                <a:lnTo>
                  <a:pt x="175193" y="248490"/>
                </a:lnTo>
                <a:lnTo>
                  <a:pt x="227973" y="235855"/>
                </a:lnTo>
                <a:lnTo>
                  <a:pt x="282701" y="215722"/>
                </a:lnTo>
                <a:lnTo>
                  <a:pt x="301772" y="206142"/>
                </a:lnTo>
                <a:lnTo>
                  <a:pt x="43255" y="206142"/>
                </a:lnTo>
                <a:lnTo>
                  <a:pt x="0" y="202044"/>
                </a:lnTo>
                <a:close/>
              </a:path>
              <a:path w="471804" h="254000">
                <a:moveTo>
                  <a:pt x="466089" y="0"/>
                </a:moveTo>
                <a:lnTo>
                  <a:pt x="432889" y="41481"/>
                </a:lnTo>
                <a:lnTo>
                  <a:pt x="380374" y="88012"/>
                </a:lnTo>
                <a:lnTo>
                  <a:pt x="336826" y="117713"/>
                </a:lnTo>
                <a:lnTo>
                  <a:pt x="289766" y="143831"/>
                </a:lnTo>
                <a:lnTo>
                  <a:pt x="240381" y="165950"/>
                </a:lnTo>
                <a:lnTo>
                  <a:pt x="189852" y="183655"/>
                </a:lnTo>
                <a:lnTo>
                  <a:pt x="139366" y="196532"/>
                </a:lnTo>
                <a:lnTo>
                  <a:pt x="90105" y="204166"/>
                </a:lnTo>
                <a:lnTo>
                  <a:pt x="43255" y="206142"/>
                </a:lnTo>
                <a:lnTo>
                  <a:pt x="301772" y="206142"/>
                </a:lnTo>
                <a:lnTo>
                  <a:pt x="380174" y="159632"/>
                </a:lnTo>
                <a:lnTo>
                  <a:pt x="417582" y="127335"/>
                </a:lnTo>
                <a:lnTo>
                  <a:pt x="445975" y="93929"/>
                </a:lnTo>
                <a:lnTo>
                  <a:pt x="471326" y="28967"/>
                </a:lnTo>
                <a:lnTo>
                  <a:pt x="466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278123" y="6210541"/>
            <a:ext cx="492759" cy="200660"/>
          </a:xfrm>
          <a:custGeom>
            <a:avLst/>
            <a:gdLst/>
            <a:ahLst/>
            <a:cxnLst/>
            <a:rect l="l" t="t" r="r" b="b"/>
            <a:pathLst>
              <a:path w="492760" h="200660">
                <a:moveTo>
                  <a:pt x="0" y="127723"/>
                </a:moveTo>
                <a:lnTo>
                  <a:pt x="38848" y="174445"/>
                </a:lnTo>
                <a:lnTo>
                  <a:pt x="116681" y="198218"/>
                </a:lnTo>
                <a:lnTo>
                  <a:pt x="166051" y="200642"/>
                </a:lnTo>
                <a:lnTo>
                  <a:pt x="220169" y="196299"/>
                </a:lnTo>
                <a:lnTo>
                  <a:pt x="277367" y="184848"/>
                </a:lnTo>
                <a:lnTo>
                  <a:pt x="332903" y="167011"/>
                </a:lnTo>
                <a:lnTo>
                  <a:pt x="382283" y="144468"/>
                </a:lnTo>
                <a:lnTo>
                  <a:pt x="383375" y="143787"/>
                </a:lnTo>
                <a:lnTo>
                  <a:pt x="138641" y="143787"/>
                </a:lnTo>
                <a:lnTo>
                  <a:pt x="88771" y="143728"/>
                </a:lnTo>
                <a:lnTo>
                  <a:pt x="42146" y="138450"/>
                </a:lnTo>
                <a:lnTo>
                  <a:pt x="0" y="127723"/>
                </a:lnTo>
                <a:close/>
              </a:path>
              <a:path w="492760" h="200660">
                <a:moveTo>
                  <a:pt x="491743" y="0"/>
                </a:moveTo>
                <a:lnTo>
                  <a:pt x="452596" y="35865"/>
                </a:lnTo>
                <a:lnTo>
                  <a:pt x="393543" y="73742"/>
                </a:lnTo>
                <a:lnTo>
                  <a:pt x="345930" y="96372"/>
                </a:lnTo>
                <a:lnTo>
                  <a:pt x="295402" y="114919"/>
                </a:lnTo>
                <a:lnTo>
                  <a:pt x="243189" y="129155"/>
                </a:lnTo>
                <a:lnTo>
                  <a:pt x="190525" y="138854"/>
                </a:lnTo>
                <a:lnTo>
                  <a:pt x="138641" y="143787"/>
                </a:lnTo>
                <a:lnTo>
                  <a:pt x="383375" y="143787"/>
                </a:lnTo>
                <a:lnTo>
                  <a:pt x="424218" y="118330"/>
                </a:lnTo>
                <a:lnTo>
                  <a:pt x="457420" y="89704"/>
                </a:lnTo>
                <a:lnTo>
                  <a:pt x="480601" y="59701"/>
                </a:lnTo>
                <a:lnTo>
                  <a:pt x="492471" y="29430"/>
                </a:lnTo>
                <a:lnTo>
                  <a:pt x="4917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2591180" y="5795264"/>
            <a:ext cx="2560320" cy="699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黑体"/>
                <a:cs typeface="黑体"/>
              </a:rPr>
              <a:t>内部逻辑</a:t>
            </a:r>
            <a:r>
              <a:rPr sz="2000" b="1" spc="-5" dirty="0">
                <a:latin typeface="黑体"/>
                <a:cs typeface="黑体"/>
              </a:rPr>
              <a:t>文件</a:t>
            </a:r>
            <a:endParaRPr sz="2000">
              <a:latin typeface="黑体"/>
              <a:cs typeface="黑体"/>
            </a:endParaRPr>
          </a:p>
          <a:p>
            <a:pPr marR="5080" algn="r">
              <a:lnSpc>
                <a:spcPct val="100000"/>
              </a:lnSpc>
              <a:spcBef>
                <a:spcPts val="121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029200" y="3886200"/>
            <a:ext cx="1146175" cy="1153795"/>
          </a:xfrm>
          <a:custGeom>
            <a:avLst/>
            <a:gdLst/>
            <a:ahLst/>
            <a:cxnLst/>
            <a:rect l="l" t="t" r="r" b="b"/>
            <a:pathLst>
              <a:path w="1146175" h="1153795">
                <a:moveTo>
                  <a:pt x="573024" y="0"/>
                </a:moveTo>
                <a:lnTo>
                  <a:pt x="526025" y="1912"/>
                </a:lnTo>
                <a:lnTo>
                  <a:pt x="480073" y="7551"/>
                </a:lnTo>
                <a:lnTo>
                  <a:pt x="435315" y="16767"/>
                </a:lnTo>
                <a:lnTo>
                  <a:pt x="391899" y="29413"/>
                </a:lnTo>
                <a:lnTo>
                  <a:pt x="349972" y="45338"/>
                </a:lnTo>
                <a:lnTo>
                  <a:pt x="309681" y="64396"/>
                </a:lnTo>
                <a:lnTo>
                  <a:pt x="271174" y="86437"/>
                </a:lnTo>
                <a:lnTo>
                  <a:pt x="234598" y="111312"/>
                </a:lnTo>
                <a:lnTo>
                  <a:pt x="200101" y="138874"/>
                </a:lnTo>
                <a:lnTo>
                  <a:pt x="167830" y="168973"/>
                </a:lnTo>
                <a:lnTo>
                  <a:pt x="137933" y="201461"/>
                </a:lnTo>
                <a:lnTo>
                  <a:pt x="110557" y="236189"/>
                </a:lnTo>
                <a:lnTo>
                  <a:pt x="85849" y="273009"/>
                </a:lnTo>
                <a:lnTo>
                  <a:pt x="63957" y="311772"/>
                </a:lnTo>
                <a:lnTo>
                  <a:pt x="45029" y="352329"/>
                </a:lnTo>
                <a:lnTo>
                  <a:pt x="29212" y="394533"/>
                </a:lnTo>
                <a:lnTo>
                  <a:pt x="16652" y="438233"/>
                </a:lnTo>
                <a:lnTo>
                  <a:pt x="7499" y="483283"/>
                </a:lnTo>
                <a:lnTo>
                  <a:pt x="1899" y="529532"/>
                </a:lnTo>
                <a:lnTo>
                  <a:pt x="0" y="576833"/>
                </a:lnTo>
                <a:lnTo>
                  <a:pt x="1899" y="624135"/>
                </a:lnTo>
                <a:lnTo>
                  <a:pt x="7499" y="670384"/>
                </a:lnTo>
                <a:lnTo>
                  <a:pt x="16652" y="715434"/>
                </a:lnTo>
                <a:lnTo>
                  <a:pt x="29212" y="759134"/>
                </a:lnTo>
                <a:lnTo>
                  <a:pt x="45029" y="801338"/>
                </a:lnTo>
                <a:lnTo>
                  <a:pt x="63957" y="841895"/>
                </a:lnTo>
                <a:lnTo>
                  <a:pt x="85849" y="880658"/>
                </a:lnTo>
                <a:lnTo>
                  <a:pt x="110557" y="917478"/>
                </a:lnTo>
                <a:lnTo>
                  <a:pt x="137933" y="952206"/>
                </a:lnTo>
                <a:lnTo>
                  <a:pt x="167830" y="984694"/>
                </a:lnTo>
                <a:lnTo>
                  <a:pt x="200101" y="1014793"/>
                </a:lnTo>
                <a:lnTo>
                  <a:pt x="234598" y="1042355"/>
                </a:lnTo>
                <a:lnTo>
                  <a:pt x="271174" y="1067230"/>
                </a:lnTo>
                <a:lnTo>
                  <a:pt x="309681" y="1089271"/>
                </a:lnTo>
                <a:lnTo>
                  <a:pt x="349972" y="1108329"/>
                </a:lnTo>
                <a:lnTo>
                  <a:pt x="391899" y="1124254"/>
                </a:lnTo>
                <a:lnTo>
                  <a:pt x="435315" y="1136900"/>
                </a:lnTo>
                <a:lnTo>
                  <a:pt x="480073" y="1146116"/>
                </a:lnTo>
                <a:lnTo>
                  <a:pt x="526025" y="1151755"/>
                </a:lnTo>
                <a:lnTo>
                  <a:pt x="573024" y="1153668"/>
                </a:lnTo>
                <a:lnTo>
                  <a:pt x="620022" y="1151755"/>
                </a:lnTo>
                <a:lnTo>
                  <a:pt x="665974" y="1146116"/>
                </a:lnTo>
                <a:lnTo>
                  <a:pt x="710732" y="1136900"/>
                </a:lnTo>
                <a:lnTo>
                  <a:pt x="754148" y="1124254"/>
                </a:lnTo>
                <a:lnTo>
                  <a:pt x="796075" y="1108329"/>
                </a:lnTo>
                <a:lnTo>
                  <a:pt x="836366" y="1089271"/>
                </a:lnTo>
                <a:lnTo>
                  <a:pt x="874873" y="1067230"/>
                </a:lnTo>
                <a:lnTo>
                  <a:pt x="911449" y="1042355"/>
                </a:lnTo>
                <a:lnTo>
                  <a:pt x="945946" y="1014793"/>
                </a:lnTo>
                <a:lnTo>
                  <a:pt x="978217" y="984694"/>
                </a:lnTo>
                <a:lnTo>
                  <a:pt x="1008114" y="952206"/>
                </a:lnTo>
                <a:lnTo>
                  <a:pt x="1035490" y="917478"/>
                </a:lnTo>
                <a:lnTo>
                  <a:pt x="1060198" y="880658"/>
                </a:lnTo>
                <a:lnTo>
                  <a:pt x="1082090" y="841895"/>
                </a:lnTo>
                <a:lnTo>
                  <a:pt x="1101018" y="801338"/>
                </a:lnTo>
                <a:lnTo>
                  <a:pt x="1116835" y="759134"/>
                </a:lnTo>
                <a:lnTo>
                  <a:pt x="1129395" y="715434"/>
                </a:lnTo>
                <a:lnTo>
                  <a:pt x="1138548" y="670384"/>
                </a:lnTo>
                <a:lnTo>
                  <a:pt x="1144148" y="624135"/>
                </a:lnTo>
                <a:lnTo>
                  <a:pt x="1146048" y="576833"/>
                </a:lnTo>
                <a:lnTo>
                  <a:pt x="1144148" y="529532"/>
                </a:lnTo>
                <a:lnTo>
                  <a:pt x="1138548" y="483283"/>
                </a:lnTo>
                <a:lnTo>
                  <a:pt x="1129395" y="438233"/>
                </a:lnTo>
                <a:lnTo>
                  <a:pt x="1116835" y="394533"/>
                </a:lnTo>
                <a:lnTo>
                  <a:pt x="1101018" y="352329"/>
                </a:lnTo>
                <a:lnTo>
                  <a:pt x="1082090" y="311772"/>
                </a:lnTo>
                <a:lnTo>
                  <a:pt x="1060198" y="273009"/>
                </a:lnTo>
                <a:lnTo>
                  <a:pt x="1035490" y="236189"/>
                </a:lnTo>
                <a:lnTo>
                  <a:pt x="1008114" y="201461"/>
                </a:lnTo>
                <a:lnTo>
                  <a:pt x="978217" y="168973"/>
                </a:lnTo>
                <a:lnTo>
                  <a:pt x="945946" y="138874"/>
                </a:lnTo>
                <a:lnTo>
                  <a:pt x="911449" y="111312"/>
                </a:lnTo>
                <a:lnTo>
                  <a:pt x="874873" y="86437"/>
                </a:lnTo>
                <a:lnTo>
                  <a:pt x="836366" y="64396"/>
                </a:lnTo>
                <a:lnTo>
                  <a:pt x="796075" y="45338"/>
                </a:lnTo>
                <a:lnTo>
                  <a:pt x="754148" y="29413"/>
                </a:lnTo>
                <a:lnTo>
                  <a:pt x="710732" y="16767"/>
                </a:lnTo>
                <a:lnTo>
                  <a:pt x="665974" y="7551"/>
                </a:lnTo>
                <a:lnTo>
                  <a:pt x="620022" y="1912"/>
                </a:lnTo>
                <a:lnTo>
                  <a:pt x="57302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064252" y="3922776"/>
            <a:ext cx="1072896" cy="1083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064252" y="3922776"/>
            <a:ext cx="1079500" cy="1085215"/>
          </a:xfrm>
          <a:custGeom>
            <a:avLst/>
            <a:gdLst/>
            <a:ahLst/>
            <a:cxnLst/>
            <a:rect l="l" t="t" r="r" b="b"/>
            <a:pathLst>
              <a:path w="1079500" h="1085214">
                <a:moveTo>
                  <a:pt x="539496" y="0"/>
                </a:moveTo>
                <a:lnTo>
                  <a:pt x="492948" y="1991"/>
                </a:lnTo>
                <a:lnTo>
                  <a:pt x="447499" y="7858"/>
                </a:lnTo>
                <a:lnTo>
                  <a:pt x="403311" y="17437"/>
                </a:lnTo>
                <a:lnTo>
                  <a:pt x="360547" y="30565"/>
                </a:lnTo>
                <a:lnTo>
                  <a:pt x="319368" y="47079"/>
                </a:lnTo>
                <a:lnTo>
                  <a:pt x="279935" y="66816"/>
                </a:lnTo>
                <a:lnTo>
                  <a:pt x="242412" y="89613"/>
                </a:lnTo>
                <a:lnTo>
                  <a:pt x="206960" y="115307"/>
                </a:lnTo>
                <a:lnTo>
                  <a:pt x="173741" y="143736"/>
                </a:lnTo>
                <a:lnTo>
                  <a:pt x="142917" y="174735"/>
                </a:lnTo>
                <a:lnTo>
                  <a:pt x="114649" y="208143"/>
                </a:lnTo>
                <a:lnTo>
                  <a:pt x="89101" y="243796"/>
                </a:lnTo>
                <a:lnTo>
                  <a:pt x="66434" y="281531"/>
                </a:lnTo>
                <a:lnTo>
                  <a:pt x="46809" y="321186"/>
                </a:lnTo>
                <a:lnTo>
                  <a:pt x="30390" y="362597"/>
                </a:lnTo>
                <a:lnTo>
                  <a:pt x="17337" y="405601"/>
                </a:lnTo>
                <a:lnTo>
                  <a:pt x="7813" y="450035"/>
                </a:lnTo>
                <a:lnTo>
                  <a:pt x="1980" y="495737"/>
                </a:lnTo>
                <a:lnTo>
                  <a:pt x="0" y="542544"/>
                </a:lnTo>
                <a:lnTo>
                  <a:pt x="1980" y="589350"/>
                </a:lnTo>
                <a:lnTo>
                  <a:pt x="7813" y="635052"/>
                </a:lnTo>
                <a:lnTo>
                  <a:pt x="17337" y="679486"/>
                </a:lnTo>
                <a:lnTo>
                  <a:pt x="30390" y="722490"/>
                </a:lnTo>
                <a:lnTo>
                  <a:pt x="46809" y="763901"/>
                </a:lnTo>
                <a:lnTo>
                  <a:pt x="66434" y="803556"/>
                </a:lnTo>
                <a:lnTo>
                  <a:pt x="89101" y="841291"/>
                </a:lnTo>
                <a:lnTo>
                  <a:pt x="114649" y="876944"/>
                </a:lnTo>
                <a:lnTo>
                  <a:pt x="142917" y="910352"/>
                </a:lnTo>
                <a:lnTo>
                  <a:pt x="173741" y="941351"/>
                </a:lnTo>
                <a:lnTo>
                  <a:pt x="206960" y="969780"/>
                </a:lnTo>
                <a:lnTo>
                  <a:pt x="242412" y="995474"/>
                </a:lnTo>
                <a:lnTo>
                  <a:pt x="279935" y="1018271"/>
                </a:lnTo>
                <a:lnTo>
                  <a:pt x="319368" y="1038008"/>
                </a:lnTo>
                <a:lnTo>
                  <a:pt x="360547" y="1054522"/>
                </a:lnTo>
                <a:lnTo>
                  <a:pt x="403311" y="1067650"/>
                </a:lnTo>
                <a:lnTo>
                  <a:pt x="447499" y="1077229"/>
                </a:lnTo>
                <a:lnTo>
                  <a:pt x="492948" y="1083096"/>
                </a:lnTo>
                <a:lnTo>
                  <a:pt x="539496" y="1085088"/>
                </a:lnTo>
                <a:lnTo>
                  <a:pt x="586043" y="1083096"/>
                </a:lnTo>
                <a:lnTo>
                  <a:pt x="631492" y="1077229"/>
                </a:lnTo>
                <a:lnTo>
                  <a:pt x="675680" y="1067650"/>
                </a:lnTo>
                <a:lnTo>
                  <a:pt x="718444" y="1054522"/>
                </a:lnTo>
                <a:lnTo>
                  <a:pt x="759623" y="1038008"/>
                </a:lnTo>
                <a:lnTo>
                  <a:pt x="799056" y="1018271"/>
                </a:lnTo>
                <a:lnTo>
                  <a:pt x="836579" y="995474"/>
                </a:lnTo>
                <a:lnTo>
                  <a:pt x="872031" y="969780"/>
                </a:lnTo>
                <a:lnTo>
                  <a:pt x="905250" y="941351"/>
                </a:lnTo>
                <a:lnTo>
                  <a:pt x="936074" y="910352"/>
                </a:lnTo>
                <a:lnTo>
                  <a:pt x="964342" y="876944"/>
                </a:lnTo>
                <a:lnTo>
                  <a:pt x="989890" y="841291"/>
                </a:lnTo>
                <a:lnTo>
                  <a:pt x="1012557" y="803556"/>
                </a:lnTo>
                <a:lnTo>
                  <a:pt x="1032182" y="763901"/>
                </a:lnTo>
                <a:lnTo>
                  <a:pt x="1048601" y="722490"/>
                </a:lnTo>
                <a:lnTo>
                  <a:pt x="1061654" y="679486"/>
                </a:lnTo>
                <a:lnTo>
                  <a:pt x="1071178" y="635052"/>
                </a:lnTo>
                <a:lnTo>
                  <a:pt x="1077011" y="589350"/>
                </a:lnTo>
                <a:lnTo>
                  <a:pt x="1078992" y="542544"/>
                </a:lnTo>
                <a:lnTo>
                  <a:pt x="1077011" y="495737"/>
                </a:lnTo>
                <a:lnTo>
                  <a:pt x="1071178" y="450035"/>
                </a:lnTo>
                <a:lnTo>
                  <a:pt x="1061654" y="405601"/>
                </a:lnTo>
                <a:lnTo>
                  <a:pt x="1048601" y="362597"/>
                </a:lnTo>
                <a:lnTo>
                  <a:pt x="1032182" y="321186"/>
                </a:lnTo>
                <a:lnTo>
                  <a:pt x="1012557" y="281531"/>
                </a:lnTo>
                <a:lnTo>
                  <a:pt x="989890" y="243796"/>
                </a:lnTo>
                <a:lnTo>
                  <a:pt x="964342" y="208143"/>
                </a:lnTo>
                <a:lnTo>
                  <a:pt x="936074" y="174735"/>
                </a:lnTo>
                <a:lnTo>
                  <a:pt x="905250" y="143736"/>
                </a:lnTo>
                <a:lnTo>
                  <a:pt x="872031" y="115307"/>
                </a:lnTo>
                <a:lnTo>
                  <a:pt x="836579" y="89613"/>
                </a:lnTo>
                <a:lnTo>
                  <a:pt x="799056" y="66816"/>
                </a:lnTo>
                <a:lnTo>
                  <a:pt x="759623" y="47079"/>
                </a:lnTo>
                <a:lnTo>
                  <a:pt x="718444" y="30565"/>
                </a:lnTo>
                <a:lnTo>
                  <a:pt x="675680" y="17437"/>
                </a:lnTo>
                <a:lnTo>
                  <a:pt x="631492" y="7858"/>
                </a:lnTo>
                <a:lnTo>
                  <a:pt x="586043" y="1991"/>
                </a:lnTo>
                <a:lnTo>
                  <a:pt x="539496" y="0"/>
                </a:lnTo>
                <a:close/>
              </a:path>
            </a:pathLst>
          </a:custGeom>
          <a:solidFill>
            <a:srgbClr val="EBDD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074920" y="3968496"/>
            <a:ext cx="790955" cy="676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804027" y="4359909"/>
            <a:ext cx="300990" cy="528320"/>
          </a:xfrm>
          <a:custGeom>
            <a:avLst/>
            <a:gdLst/>
            <a:ahLst/>
            <a:cxnLst/>
            <a:rect l="l" t="t" r="r" b="b"/>
            <a:pathLst>
              <a:path w="300989" h="528320">
                <a:moveTo>
                  <a:pt x="248412" y="0"/>
                </a:moveTo>
                <a:lnTo>
                  <a:pt x="250315" y="19034"/>
                </a:lnTo>
                <a:lnTo>
                  <a:pt x="251063" y="39115"/>
                </a:lnTo>
                <a:lnTo>
                  <a:pt x="250644" y="60150"/>
                </a:lnTo>
                <a:lnTo>
                  <a:pt x="242253" y="128615"/>
                </a:lnTo>
                <a:lnTo>
                  <a:pt x="231134" y="175889"/>
                </a:lnTo>
                <a:lnTo>
                  <a:pt x="216075" y="223184"/>
                </a:lnTo>
                <a:lnTo>
                  <a:pt x="197461" y="269821"/>
                </a:lnTo>
                <a:lnTo>
                  <a:pt x="175678" y="315121"/>
                </a:lnTo>
                <a:lnTo>
                  <a:pt x="151111" y="358405"/>
                </a:lnTo>
                <a:lnTo>
                  <a:pt x="124145" y="398995"/>
                </a:lnTo>
                <a:lnTo>
                  <a:pt x="95166" y="436211"/>
                </a:lnTo>
                <a:lnTo>
                  <a:pt x="64558" y="469374"/>
                </a:lnTo>
                <a:lnTo>
                  <a:pt x="32708" y="497806"/>
                </a:lnTo>
                <a:lnTo>
                  <a:pt x="0" y="520826"/>
                </a:lnTo>
                <a:lnTo>
                  <a:pt x="32335" y="527815"/>
                </a:lnTo>
                <a:lnTo>
                  <a:pt x="106555" y="501439"/>
                </a:lnTo>
                <a:lnTo>
                  <a:pt x="145422" y="470478"/>
                </a:lnTo>
                <a:lnTo>
                  <a:pt x="183450" y="429272"/>
                </a:lnTo>
                <a:lnTo>
                  <a:pt x="219129" y="379021"/>
                </a:lnTo>
                <a:lnTo>
                  <a:pt x="250951" y="320928"/>
                </a:lnTo>
                <a:lnTo>
                  <a:pt x="276077" y="259597"/>
                </a:lnTo>
                <a:lnTo>
                  <a:pt x="292680" y="200221"/>
                </a:lnTo>
                <a:lnTo>
                  <a:pt x="300777" y="144723"/>
                </a:lnTo>
                <a:lnTo>
                  <a:pt x="300383" y="95028"/>
                </a:lnTo>
                <a:lnTo>
                  <a:pt x="291514" y="53060"/>
                </a:lnTo>
                <a:lnTo>
                  <a:pt x="274185" y="20743"/>
                </a:lnTo>
                <a:lnTo>
                  <a:pt x="2484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710428" y="4467352"/>
            <a:ext cx="393700" cy="464820"/>
          </a:xfrm>
          <a:custGeom>
            <a:avLst/>
            <a:gdLst/>
            <a:ahLst/>
            <a:cxnLst/>
            <a:rect l="l" t="t" r="r" b="b"/>
            <a:pathLst>
              <a:path w="393700" h="464820">
                <a:moveTo>
                  <a:pt x="363727" y="0"/>
                </a:moveTo>
                <a:lnTo>
                  <a:pt x="357155" y="38750"/>
                </a:lnTo>
                <a:lnTo>
                  <a:pt x="345059" y="79883"/>
                </a:lnTo>
                <a:lnTo>
                  <a:pt x="327527" y="123581"/>
                </a:lnTo>
                <a:lnTo>
                  <a:pt x="305629" y="166942"/>
                </a:lnTo>
                <a:lnTo>
                  <a:pt x="279897" y="209397"/>
                </a:lnTo>
                <a:lnTo>
                  <a:pt x="250865" y="250376"/>
                </a:lnTo>
                <a:lnTo>
                  <a:pt x="219066" y="289310"/>
                </a:lnTo>
                <a:lnTo>
                  <a:pt x="185032" y="325628"/>
                </a:lnTo>
                <a:lnTo>
                  <a:pt x="149296" y="358762"/>
                </a:lnTo>
                <a:lnTo>
                  <a:pt x="112392" y="388141"/>
                </a:lnTo>
                <a:lnTo>
                  <a:pt x="74853" y="413196"/>
                </a:lnTo>
                <a:lnTo>
                  <a:pt x="37211" y="433358"/>
                </a:lnTo>
                <a:lnTo>
                  <a:pt x="0" y="448056"/>
                </a:lnTo>
                <a:lnTo>
                  <a:pt x="29792" y="462436"/>
                </a:lnTo>
                <a:lnTo>
                  <a:pt x="108108" y="454197"/>
                </a:lnTo>
                <a:lnTo>
                  <a:pt x="153143" y="433208"/>
                </a:lnTo>
                <a:lnTo>
                  <a:pt x="199771" y="402060"/>
                </a:lnTo>
                <a:lnTo>
                  <a:pt x="246248" y="361567"/>
                </a:lnTo>
                <a:lnTo>
                  <a:pt x="290830" y="312547"/>
                </a:lnTo>
                <a:lnTo>
                  <a:pt x="329657" y="258851"/>
                </a:lnTo>
                <a:lnTo>
                  <a:pt x="359743" y="205042"/>
                </a:lnTo>
                <a:lnTo>
                  <a:pt x="380650" y="152996"/>
                </a:lnTo>
                <a:lnTo>
                  <a:pt x="391939" y="104592"/>
                </a:lnTo>
                <a:lnTo>
                  <a:pt x="393174" y="61707"/>
                </a:lnTo>
                <a:lnTo>
                  <a:pt x="383916" y="26217"/>
                </a:lnTo>
                <a:lnTo>
                  <a:pt x="3637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658739" y="4520565"/>
            <a:ext cx="425450" cy="436880"/>
          </a:xfrm>
          <a:custGeom>
            <a:avLst/>
            <a:gdLst/>
            <a:ahLst/>
            <a:cxnLst/>
            <a:rect l="l" t="t" r="r" b="b"/>
            <a:pathLst>
              <a:path w="425450" h="436879">
                <a:moveTo>
                  <a:pt x="400938" y="0"/>
                </a:moveTo>
                <a:lnTo>
                  <a:pt x="391001" y="37988"/>
                </a:lnTo>
                <a:lnTo>
                  <a:pt x="375538" y="77978"/>
                </a:lnTo>
                <a:lnTo>
                  <a:pt x="354306" y="119986"/>
                </a:lnTo>
                <a:lnTo>
                  <a:pt x="328748" y="161290"/>
                </a:lnTo>
                <a:lnTo>
                  <a:pt x="299447" y="201365"/>
                </a:lnTo>
                <a:lnTo>
                  <a:pt x="266983" y="239689"/>
                </a:lnTo>
                <a:lnTo>
                  <a:pt x="231938" y="275741"/>
                </a:lnTo>
                <a:lnTo>
                  <a:pt x="194893" y="308996"/>
                </a:lnTo>
                <a:lnTo>
                  <a:pt x="156428" y="338932"/>
                </a:lnTo>
                <a:lnTo>
                  <a:pt x="117126" y="365027"/>
                </a:lnTo>
                <a:lnTo>
                  <a:pt x="77566" y="386758"/>
                </a:lnTo>
                <a:lnTo>
                  <a:pt x="38330" y="403601"/>
                </a:lnTo>
                <a:lnTo>
                  <a:pt x="0" y="415036"/>
                </a:lnTo>
                <a:lnTo>
                  <a:pt x="28444" y="431917"/>
                </a:lnTo>
                <a:lnTo>
                  <a:pt x="107202" y="430464"/>
                </a:lnTo>
                <a:lnTo>
                  <a:pt x="153894" y="413442"/>
                </a:lnTo>
                <a:lnTo>
                  <a:pt x="203048" y="386429"/>
                </a:lnTo>
                <a:lnTo>
                  <a:pt x="252852" y="350081"/>
                </a:lnTo>
                <a:lnTo>
                  <a:pt x="301498" y="305054"/>
                </a:lnTo>
                <a:lnTo>
                  <a:pt x="344802" y="254912"/>
                </a:lnTo>
                <a:lnTo>
                  <a:pt x="379395" y="203899"/>
                </a:lnTo>
                <a:lnTo>
                  <a:pt x="404684" y="153851"/>
                </a:lnTo>
                <a:lnTo>
                  <a:pt x="420076" y="106602"/>
                </a:lnTo>
                <a:lnTo>
                  <a:pt x="424978" y="63987"/>
                </a:lnTo>
                <a:lnTo>
                  <a:pt x="418797" y="27841"/>
                </a:lnTo>
                <a:lnTo>
                  <a:pt x="4009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591175" y="4594352"/>
            <a:ext cx="474345" cy="380365"/>
          </a:xfrm>
          <a:custGeom>
            <a:avLst/>
            <a:gdLst/>
            <a:ahLst/>
            <a:cxnLst/>
            <a:rect l="l" t="t" r="r" b="b"/>
            <a:pathLst>
              <a:path w="474345" h="380364">
                <a:moveTo>
                  <a:pt x="460121" y="0"/>
                </a:moveTo>
                <a:lnTo>
                  <a:pt x="444484" y="36004"/>
                </a:lnTo>
                <a:lnTo>
                  <a:pt x="423037" y="73152"/>
                </a:lnTo>
                <a:lnTo>
                  <a:pt x="395559" y="111401"/>
                </a:lnTo>
                <a:lnTo>
                  <a:pt x="363924" y="148281"/>
                </a:lnTo>
                <a:lnTo>
                  <a:pt x="328786" y="183365"/>
                </a:lnTo>
                <a:lnTo>
                  <a:pt x="290797" y="216228"/>
                </a:lnTo>
                <a:lnTo>
                  <a:pt x="250613" y="246445"/>
                </a:lnTo>
                <a:lnTo>
                  <a:pt x="208886" y="273591"/>
                </a:lnTo>
                <a:lnTo>
                  <a:pt x="166270" y="297240"/>
                </a:lnTo>
                <a:lnTo>
                  <a:pt x="123420" y="316967"/>
                </a:lnTo>
                <a:lnTo>
                  <a:pt x="80989" y="332346"/>
                </a:lnTo>
                <a:lnTo>
                  <a:pt x="39631" y="342953"/>
                </a:lnTo>
                <a:lnTo>
                  <a:pt x="0" y="348361"/>
                </a:lnTo>
                <a:lnTo>
                  <a:pt x="25484" y="369440"/>
                </a:lnTo>
                <a:lnTo>
                  <a:pt x="60616" y="379911"/>
                </a:lnTo>
                <a:lnTo>
                  <a:pt x="103506" y="380145"/>
                </a:lnTo>
                <a:lnTo>
                  <a:pt x="152263" y="370513"/>
                </a:lnTo>
                <a:lnTo>
                  <a:pt x="204997" y="351386"/>
                </a:lnTo>
                <a:lnTo>
                  <a:pt x="259817" y="323135"/>
                </a:lnTo>
                <a:lnTo>
                  <a:pt x="314833" y="286131"/>
                </a:lnTo>
                <a:lnTo>
                  <a:pt x="365328" y="243255"/>
                </a:lnTo>
                <a:lnTo>
                  <a:pt x="407373" y="198181"/>
                </a:lnTo>
                <a:lnTo>
                  <a:pt x="440089" y="152626"/>
                </a:lnTo>
                <a:lnTo>
                  <a:pt x="462600" y="108311"/>
                </a:lnTo>
                <a:lnTo>
                  <a:pt x="474027" y="66956"/>
                </a:lnTo>
                <a:lnTo>
                  <a:pt x="473493" y="30278"/>
                </a:lnTo>
                <a:lnTo>
                  <a:pt x="4601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34228" y="4551298"/>
            <a:ext cx="449580" cy="412115"/>
          </a:xfrm>
          <a:custGeom>
            <a:avLst/>
            <a:gdLst/>
            <a:ahLst/>
            <a:cxnLst/>
            <a:rect l="l" t="t" r="r" b="b"/>
            <a:pathLst>
              <a:path w="449579" h="412114">
                <a:moveTo>
                  <a:pt x="429133" y="0"/>
                </a:moveTo>
                <a:lnTo>
                  <a:pt x="416671" y="37337"/>
                </a:lnTo>
                <a:lnTo>
                  <a:pt x="398399" y="76200"/>
                </a:lnTo>
                <a:lnTo>
                  <a:pt x="374335" y="116679"/>
                </a:lnTo>
                <a:lnTo>
                  <a:pt x="345988" y="156126"/>
                </a:lnTo>
                <a:lnTo>
                  <a:pt x="313977" y="194063"/>
                </a:lnTo>
                <a:lnTo>
                  <a:pt x="278918" y="230012"/>
                </a:lnTo>
                <a:lnTo>
                  <a:pt x="241428" y="263494"/>
                </a:lnTo>
                <a:lnTo>
                  <a:pt x="202124" y="294032"/>
                </a:lnTo>
                <a:lnTo>
                  <a:pt x="161623" y="321148"/>
                </a:lnTo>
                <a:lnTo>
                  <a:pt x="120543" y="344363"/>
                </a:lnTo>
                <a:lnTo>
                  <a:pt x="79501" y="363200"/>
                </a:lnTo>
                <a:lnTo>
                  <a:pt x="39114" y="377180"/>
                </a:lnTo>
                <a:lnTo>
                  <a:pt x="0" y="385825"/>
                </a:lnTo>
                <a:lnTo>
                  <a:pt x="23361" y="403083"/>
                </a:lnTo>
                <a:lnTo>
                  <a:pt x="53566" y="411563"/>
                </a:lnTo>
                <a:lnTo>
                  <a:pt x="89372" y="411619"/>
                </a:lnTo>
                <a:lnTo>
                  <a:pt x="129539" y="403606"/>
                </a:lnTo>
                <a:lnTo>
                  <a:pt x="172826" y="387877"/>
                </a:lnTo>
                <a:lnTo>
                  <a:pt x="217991" y="364787"/>
                </a:lnTo>
                <a:lnTo>
                  <a:pt x="263793" y="334691"/>
                </a:lnTo>
                <a:lnTo>
                  <a:pt x="308991" y="297942"/>
                </a:lnTo>
                <a:lnTo>
                  <a:pt x="350314" y="256927"/>
                </a:lnTo>
                <a:lnTo>
                  <a:pt x="385091" y="214598"/>
                </a:lnTo>
                <a:lnTo>
                  <a:pt x="412838" y="172149"/>
                </a:lnTo>
                <a:lnTo>
                  <a:pt x="433070" y="130778"/>
                </a:lnTo>
                <a:lnTo>
                  <a:pt x="445300" y="91681"/>
                </a:lnTo>
                <a:lnTo>
                  <a:pt x="449044" y="56054"/>
                </a:lnTo>
                <a:lnTo>
                  <a:pt x="443816" y="25095"/>
                </a:lnTo>
                <a:lnTo>
                  <a:pt x="4291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534533" y="4658995"/>
            <a:ext cx="516255" cy="321945"/>
          </a:xfrm>
          <a:custGeom>
            <a:avLst/>
            <a:gdLst/>
            <a:ahLst/>
            <a:cxnLst/>
            <a:rect l="l" t="t" r="r" b="b"/>
            <a:pathLst>
              <a:path w="516254" h="321945">
                <a:moveTo>
                  <a:pt x="0" y="274065"/>
                </a:moveTo>
                <a:lnTo>
                  <a:pt x="18649" y="296345"/>
                </a:lnTo>
                <a:lnTo>
                  <a:pt x="46019" y="311691"/>
                </a:lnTo>
                <a:lnTo>
                  <a:pt x="80815" y="320158"/>
                </a:lnTo>
                <a:lnTo>
                  <a:pt x="121745" y="321802"/>
                </a:lnTo>
                <a:lnTo>
                  <a:pt x="167514" y="316676"/>
                </a:lnTo>
                <a:lnTo>
                  <a:pt x="216830" y="304837"/>
                </a:lnTo>
                <a:lnTo>
                  <a:pt x="268399" y="286340"/>
                </a:lnTo>
                <a:lnTo>
                  <a:pt x="292399" y="274872"/>
                </a:lnTo>
                <a:lnTo>
                  <a:pt x="40034" y="274872"/>
                </a:lnTo>
                <a:lnTo>
                  <a:pt x="0" y="274065"/>
                </a:lnTo>
                <a:close/>
              </a:path>
              <a:path w="516254" h="321945">
                <a:moveTo>
                  <a:pt x="507745" y="0"/>
                </a:moveTo>
                <a:lnTo>
                  <a:pt x="486870" y="33258"/>
                </a:lnTo>
                <a:lnTo>
                  <a:pt x="459993" y="66801"/>
                </a:lnTo>
                <a:lnTo>
                  <a:pt x="427075" y="100474"/>
                </a:lnTo>
                <a:lnTo>
                  <a:pt x="390241" y="132145"/>
                </a:lnTo>
                <a:lnTo>
                  <a:pt x="350202" y="161491"/>
                </a:lnTo>
                <a:lnTo>
                  <a:pt x="307671" y="188193"/>
                </a:lnTo>
                <a:lnTo>
                  <a:pt x="263360" y="211928"/>
                </a:lnTo>
                <a:lnTo>
                  <a:pt x="217981" y="232376"/>
                </a:lnTo>
                <a:lnTo>
                  <a:pt x="172247" y="249215"/>
                </a:lnTo>
                <a:lnTo>
                  <a:pt x="126870" y="262125"/>
                </a:lnTo>
                <a:lnTo>
                  <a:pt x="82561" y="270784"/>
                </a:lnTo>
                <a:lnTo>
                  <a:pt x="40034" y="274872"/>
                </a:lnTo>
                <a:lnTo>
                  <a:pt x="292399" y="274872"/>
                </a:lnTo>
                <a:lnTo>
                  <a:pt x="370732" y="231094"/>
                </a:lnTo>
                <a:lnTo>
                  <a:pt x="414484" y="198131"/>
                </a:lnTo>
                <a:lnTo>
                  <a:pt x="451431" y="163400"/>
                </a:lnTo>
                <a:lnTo>
                  <a:pt x="480821" y="127952"/>
                </a:lnTo>
                <a:lnTo>
                  <a:pt x="501901" y="92837"/>
                </a:lnTo>
                <a:lnTo>
                  <a:pt x="516116" y="27810"/>
                </a:lnTo>
                <a:lnTo>
                  <a:pt x="5077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479034" y="4702428"/>
            <a:ext cx="535940" cy="287655"/>
          </a:xfrm>
          <a:custGeom>
            <a:avLst/>
            <a:gdLst/>
            <a:ahLst/>
            <a:cxnLst/>
            <a:rect l="l" t="t" r="r" b="b"/>
            <a:pathLst>
              <a:path w="535939" h="287654">
                <a:moveTo>
                  <a:pt x="0" y="229489"/>
                </a:moveTo>
                <a:lnTo>
                  <a:pt x="16686" y="253249"/>
                </a:lnTo>
                <a:lnTo>
                  <a:pt x="42644" y="270867"/>
                </a:lnTo>
                <a:lnTo>
                  <a:pt x="76585" y="282281"/>
                </a:lnTo>
                <a:lnTo>
                  <a:pt x="117220" y="287432"/>
                </a:lnTo>
                <a:lnTo>
                  <a:pt x="163261" y="286261"/>
                </a:lnTo>
                <a:lnTo>
                  <a:pt x="213419" y="278709"/>
                </a:lnTo>
                <a:lnTo>
                  <a:pt x="266404" y="264715"/>
                </a:lnTo>
                <a:lnTo>
                  <a:pt x="320928" y="244221"/>
                </a:lnTo>
                <a:lnTo>
                  <a:pt x="342205" y="233723"/>
                </a:lnTo>
                <a:lnTo>
                  <a:pt x="39831" y="233723"/>
                </a:lnTo>
                <a:lnTo>
                  <a:pt x="0" y="229489"/>
                </a:lnTo>
                <a:close/>
              </a:path>
              <a:path w="535939" h="287654">
                <a:moveTo>
                  <a:pt x="529463" y="0"/>
                </a:moveTo>
                <a:lnTo>
                  <a:pt x="505793" y="31321"/>
                </a:lnTo>
                <a:lnTo>
                  <a:pt x="476123" y="62357"/>
                </a:lnTo>
                <a:lnTo>
                  <a:pt x="440447" y="93105"/>
                </a:lnTo>
                <a:lnTo>
                  <a:pt x="401038" y="121518"/>
                </a:lnTo>
                <a:lnTo>
                  <a:pt x="358632" y="147335"/>
                </a:lnTo>
                <a:lnTo>
                  <a:pt x="313967" y="170300"/>
                </a:lnTo>
                <a:lnTo>
                  <a:pt x="267781" y="190154"/>
                </a:lnTo>
                <a:lnTo>
                  <a:pt x="220810" y="206639"/>
                </a:lnTo>
                <a:lnTo>
                  <a:pt x="173792" y="219496"/>
                </a:lnTo>
                <a:lnTo>
                  <a:pt x="127465" y="228468"/>
                </a:lnTo>
                <a:lnTo>
                  <a:pt x="82566" y="233296"/>
                </a:lnTo>
                <a:lnTo>
                  <a:pt x="39831" y="233723"/>
                </a:lnTo>
                <a:lnTo>
                  <a:pt x="342205" y="233723"/>
                </a:lnTo>
                <a:lnTo>
                  <a:pt x="419538" y="189380"/>
                </a:lnTo>
                <a:lnTo>
                  <a:pt x="459319" y="157951"/>
                </a:lnTo>
                <a:lnTo>
                  <a:pt x="491632" y="125158"/>
                </a:lnTo>
                <a:lnTo>
                  <a:pt x="515642" y="91984"/>
                </a:lnTo>
                <a:lnTo>
                  <a:pt x="535395" y="28423"/>
                </a:lnTo>
                <a:lnTo>
                  <a:pt x="5294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413883" y="4767326"/>
            <a:ext cx="560070" cy="226695"/>
          </a:xfrm>
          <a:custGeom>
            <a:avLst/>
            <a:gdLst/>
            <a:ahLst/>
            <a:cxnLst/>
            <a:rect l="l" t="t" r="r" b="b"/>
            <a:pathLst>
              <a:path w="560070" h="226695">
                <a:moveTo>
                  <a:pt x="0" y="145034"/>
                </a:moveTo>
                <a:lnTo>
                  <a:pt x="35744" y="192524"/>
                </a:lnTo>
                <a:lnTo>
                  <a:pt x="106886" y="220440"/>
                </a:lnTo>
                <a:lnTo>
                  <a:pt x="152564" y="226403"/>
                </a:lnTo>
                <a:lnTo>
                  <a:pt x="203293" y="226687"/>
                </a:lnTo>
                <a:lnTo>
                  <a:pt x="257804" y="221029"/>
                </a:lnTo>
                <a:lnTo>
                  <a:pt x="314832" y="209169"/>
                </a:lnTo>
                <a:lnTo>
                  <a:pt x="370378" y="191789"/>
                </a:lnTo>
                <a:lnTo>
                  <a:pt x="420725" y="170217"/>
                </a:lnTo>
                <a:lnTo>
                  <a:pt x="432232" y="163724"/>
                </a:lnTo>
                <a:lnTo>
                  <a:pt x="126086" y="163724"/>
                </a:lnTo>
                <a:lnTo>
                  <a:pt x="80981" y="161559"/>
                </a:lnTo>
                <a:lnTo>
                  <a:pt x="38696" y="155376"/>
                </a:lnTo>
                <a:lnTo>
                  <a:pt x="0" y="145034"/>
                </a:lnTo>
                <a:close/>
              </a:path>
              <a:path w="560070" h="226695">
                <a:moveTo>
                  <a:pt x="558545" y="0"/>
                </a:moveTo>
                <a:lnTo>
                  <a:pt x="530320" y="27305"/>
                </a:lnTo>
                <a:lnTo>
                  <a:pt x="496188" y="53467"/>
                </a:lnTo>
                <a:lnTo>
                  <a:pt x="456201" y="78327"/>
                </a:lnTo>
                <a:lnTo>
                  <a:pt x="412884" y="100307"/>
                </a:lnTo>
                <a:lnTo>
                  <a:pt x="367004" y="119263"/>
                </a:lnTo>
                <a:lnTo>
                  <a:pt x="319331" y="135054"/>
                </a:lnTo>
                <a:lnTo>
                  <a:pt x="270634" y="147538"/>
                </a:lnTo>
                <a:lnTo>
                  <a:pt x="221681" y="156572"/>
                </a:lnTo>
                <a:lnTo>
                  <a:pt x="173242" y="162015"/>
                </a:lnTo>
                <a:lnTo>
                  <a:pt x="126086" y="163724"/>
                </a:lnTo>
                <a:lnTo>
                  <a:pt x="432232" y="163724"/>
                </a:lnTo>
                <a:lnTo>
                  <a:pt x="501888" y="117871"/>
                </a:lnTo>
                <a:lnTo>
                  <a:pt x="530736" y="88785"/>
                </a:lnTo>
                <a:lnTo>
                  <a:pt x="560049" y="29005"/>
                </a:lnTo>
                <a:lnTo>
                  <a:pt x="558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866510" y="4393310"/>
            <a:ext cx="265430" cy="464820"/>
          </a:xfrm>
          <a:custGeom>
            <a:avLst/>
            <a:gdLst/>
            <a:ahLst/>
            <a:cxnLst/>
            <a:rect l="l" t="t" r="r" b="b"/>
            <a:pathLst>
              <a:path w="265429" h="464820">
                <a:moveTo>
                  <a:pt x="218693" y="0"/>
                </a:moveTo>
                <a:lnTo>
                  <a:pt x="220382" y="16847"/>
                </a:lnTo>
                <a:lnTo>
                  <a:pt x="221059" y="34575"/>
                </a:lnTo>
                <a:lnTo>
                  <a:pt x="220712" y="53113"/>
                </a:lnTo>
                <a:lnTo>
                  <a:pt x="211581" y="122641"/>
                </a:lnTo>
                <a:lnTo>
                  <a:pt x="198234" y="173606"/>
                </a:lnTo>
                <a:lnTo>
                  <a:pt x="179907" y="224192"/>
                </a:lnTo>
                <a:lnTo>
                  <a:pt x="157217" y="273308"/>
                </a:lnTo>
                <a:lnTo>
                  <a:pt x="130785" y="319861"/>
                </a:lnTo>
                <a:lnTo>
                  <a:pt x="101228" y="362759"/>
                </a:lnTo>
                <a:lnTo>
                  <a:pt x="69166" y="400909"/>
                </a:lnTo>
                <a:lnTo>
                  <a:pt x="35216" y="433219"/>
                </a:lnTo>
                <a:lnTo>
                  <a:pt x="0" y="458596"/>
                </a:lnTo>
                <a:lnTo>
                  <a:pt x="28617" y="464822"/>
                </a:lnTo>
                <a:lnTo>
                  <a:pt x="94199" y="441708"/>
                </a:lnTo>
                <a:lnTo>
                  <a:pt x="128501" y="414483"/>
                </a:lnTo>
                <a:lnTo>
                  <a:pt x="162037" y="378224"/>
                </a:lnTo>
                <a:lnTo>
                  <a:pt x="193476" y="333986"/>
                </a:lnTo>
                <a:lnTo>
                  <a:pt x="221487" y="282828"/>
                </a:lnTo>
                <a:lnTo>
                  <a:pt x="243620" y="228846"/>
                </a:lnTo>
                <a:lnTo>
                  <a:pt x="258212" y="176561"/>
                </a:lnTo>
                <a:lnTo>
                  <a:pt x="265281" y="127670"/>
                </a:lnTo>
                <a:lnTo>
                  <a:pt x="264847" y="83872"/>
                </a:lnTo>
                <a:lnTo>
                  <a:pt x="256925" y="46862"/>
                </a:lnTo>
                <a:lnTo>
                  <a:pt x="241535" y="18339"/>
                </a:lnTo>
                <a:lnTo>
                  <a:pt x="2186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784088" y="4487926"/>
            <a:ext cx="346710" cy="408940"/>
          </a:xfrm>
          <a:custGeom>
            <a:avLst/>
            <a:gdLst/>
            <a:ahLst/>
            <a:cxnLst/>
            <a:rect l="l" t="t" r="r" b="b"/>
            <a:pathLst>
              <a:path w="346710" h="408939">
                <a:moveTo>
                  <a:pt x="320294" y="0"/>
                </a:moveTo>
                <a:lnTo>
                  <a:pt x="309846" y="52042"/>
                </a:lnTo>
                <a:lnTo>
                  <a:pt x="284689" y="117510"/>
                </a:lnTo>
                <a:lnTo>
                  <a:pt x="259727" y="163913"/>
                </a:lnTo>
                <a:lnTo>
                  <a:pt x="230011" y="208778"/>
                </a:lnTo>
                <a:lnTo>
                  <a:pt x="196400" y="251191"/>
                </a:lnTo>
                <a:lnTo>
                  <a:pt x="159754" y="290237"/>
                </a:lnTo>
                <a:lnTo>
                  <a:pt x="120932" y="325002"/>
                </a:lnTo>
                <a:lnTo>
                  <a:pt x="80792" y="354571"/>
                </a:lnTo>
                <a:lnTo>
                  <a:pt x="40195" y="378029"/>
                </a:lnTo>
                <a:lnTo>
                  <a:pt x="0" y="394462"/>
                </a:lnTo>
                <a:lnTo>
                  <a:pt x="26367" y="407191"/>
                </a:lnTo>
                <a:lnTo>
                  <a:pt x="95542" y="400113"/>
                </a:lnTo>
                <a:lnTo>
                  <a:pt x="135279" y="381719"/>
                </a:lnTo>
                <a:lnTo>
                  <a:pt x="176402" y="354362"/>
                </a:lnTo>
                <a:lnTo>
                  <a:pt x="217376" y="318750"/>
                </a:lnTo>
                <a:lnTo>
                  <a:pt x="256666" y="275590"/>
                </a:lnTo>
                <a:lnTo>
                  <a:pt x="290815" y="228286"/>
                </a:lnTo>
                <a:lnTo>
                  <a:pt x="317244" y="180876"/>
                </a:lnTo>
                <a:lnTo>
                  <a:pt x="335573" y="135010"/>
                </a:lnTo>
                <a:lnTo>
                  <a:pt x="345423" y="92339"/>
                </a:lnTo>
                <a:lnTo>
                  <a:pt x="346413" y="54513"/>
                </a:lnTo>
                <a:lnTo>
                  <a:pt x="338163" y="23183"/>
                </a:lnTo>
                <a:lnTo>
                  <a:pt x="3202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738621" y="4534661"/>
            <a:ext cx="374650" cy="385445"/>
          </a:xfrm>
          <a:custGeom>
            <a:avLst/>
            <a:gdLst/>
            <a:ahLst/>
            <a:cxnLst/>
            <a:rect l="l" t="t" r="r" b="b"/>
            <a:pathLst>
              <a:path w="374650" h="385445">
                <a:moveTo>
                  <a:pt x="352932" y="0"/>
                </a:moveTo>
                <a:lnTo>
                  <a:pt x="338109" y="50988"/>
                </a:lnTo>
                <a:lnTo>
                  <a:pt x="307392" y="114028"/>
                </a:lnTo>
                <a:lnTo>
                  <a:pt x="278538" y="158120"/>
                </a:lnTo>
                <a:lnTo>
                  <a:pt x="245081" y="200269"/>
                </a:lnTo>
                <a:lnTo>
                  <a:pt x="207955" y="239637"/>
                </a:lnTo>
                <a:lnTo>
                  <a:pt x="168095" y="275384"/>
                </a:lnTo>
                <a:lnTo>
                  <a:pt x="126435" y="306672"/>
                </a:lnTo>
                <a:lnTo>
                  <a:pt x="83909" y="332659"/>
                </a:lnTo>
                <a:lnTo>
                  <a:pt x="41453" y="352508"/>
                </a:lnTo>
                <a:lnTo>
                  <a:pt x="0" y="365379"/>
                </a:lnTo>
                <a:lnTo>
                  <a:pt x="25127" y="380380"/>
                </a:lnTo>
                <a:lnTo>
                  <a:pt x="94635" y="379328"/>
                </a:lnTo>
                <a:lnTo>
                  <a:pt x="135812" y="364425"/>
                </a:lnTo>
                <a:lnTo>
                  <a:pt x="179134" y="340704"/>
                </a:lnTo>
                <a:lnTo>
                  <a:pt x="223001" y="308742"/>
                </a:lnTo>
                <a:lnTo>
                  <a:pt x="265811" y="269113"/>
                </a:lnTo>
                <a:lnTo>
                  <a:pt x="303940" y="224921"/>
                </a:lnTo>
                <a:lnTo>
                  <a:pt x="334379" y="179960"/>
                </a:lnTo>
                <a:lnTo>
                  <a:pt x="356604" y="135841"/>
                </a:lnTo>
                <a:lnTo>
                  <a:pt x="370094" y="94175"/>
                </a:lnTo>
                <a:lnTo>
                  <a:pt x="374327" y="56573"/>
                </a:lnTo>
                <a:lnTo>
                  <a:pt x="368780" y="24644"/>
                </a:lnTo>
                <a:lnTo>
                  <a:pt x="3529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679059" y="4599685"/>
            <a:ext cx="417830" cy="335280"/>
          </a:xfrm>
          <a:custGeom>
            <a:avLst/>
            <a:gdLst/>
            <a:ahLst/>
            <a:cxnLst/>
            <a:rect l="l" t="t" r="r" b="b"/>
            <a:pathLst>
              <a:path w="417829" h="335279">
                <a:moveTo>
                  <a:pt x="405129" y="0"/>
                </a:moveTo>
                <a:lnTo>
                  <a:pt x="382555" y="48023"/>
                </a:lnTo>
                <a:lnTo>
                  <a:pt x="342482" y="105559"/>
                </a:lnTo>
                <a:lnTo>
                  <a:pt x="307175" y="144665"/>
                </a:lnTo>
                <a:lnTo>
                  <a:pt x="267621" y="181149"/>
                </a:lnTo>
                <a:lnTo>
                  <a:pt x="224872" y="214324"/>
                </a:lnTo>
                <a:lnTo>
                  <a:pt x="179979" y="243505"/>
                </a:lnTo>
                <a:lnTo>
                  <a:pt x="133994" y="268007"/>
                </a:lnTo>
                <a:lnTo>
                  <a:pt x="87968" y="287144"/>
                </a:lnTo>
                <a:lnTo>
                  <a:pt x="42953" y="300229"/>
                </a:lnTo>
                <a:lnTo>
                  <a:pt x="0" y="306577"/>
                </a:lnTo>
                <a:lnTo>
                  <a:pt x="22543" y="325254"/>
                </a:lnTo>
                <a:lnTo>
                  <a:pt x="53572" y="334582"/>
                </a:lnTo>
                <a:lnTo>
                  <a:pt x="91420" y="334886"/>
                </a:lnTo>
                <a:lnTo>
                  <a:pt x="134417" y="326490"/>
                </a:lnTo>
                <a:lnTo>
                  <a:pt x="180895" y="309719"/>
                </a:lnTo>
                <a:lnTo>
                  <a:pt x="229186" y="284897"/>
                </a:lnTo>
                <a:lnTo>
                  <a:pt x="277621" y="252349"/>
                </a:lnTo>
                <a:lnTo>
                  <a:pt x="322047" y="214610"/>
                </a:lnTo>
                <a:lnTo>
                  <a:pt x="359017" y="174906"/>
                </a:lnTo>
                <a:lnTo>
                  <a:pt x="387763" y="134753"/>
                </a:lnTo>
                <a:lnTo>
                  <a:pt x="407515" y="95668"/>
                </a:lnTo>
                <a:lnTo>
                  <a:pt x="417507" y="59170"/>
                </a:lnTo>
                <a:lnTo>
                  <a:pt x="416968" y="26774"/>
                </a:lnTo>
                <a:lnTo>
                  <a:pt x="4051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716778" y="4561713"/>
            <a:ext cx="395605" cy="363220"/>
          </a:xfrm>
          <a:custGeom>
            <a:avLst/>
            <a:gdLst/>
            <a:ahLst/>
            <a:cxnLst/>
            <a:rect l="l" t="t" r="r" b="b"/>
            <a:pathLst>
              <a:path w="395604" h="363220">
                <a:moveTo>
                  <a:pt x="377825" y="0"/>
                </a:moveTo>
                <a:lnTo>
                  <a:pt x="359537" y="49881"/>
                </a:lnTo>
                <a:lnTo>
                  <a:pt x="324513" y="110671"/>
                </a:lnTo>
                <a:lnTo>
                  <a:pt x="292663" y="152655"/>
                </a:lnTo>
                <a:lnTo>
                  <a:pt x="256342" y="192362"/>
                </a:lnTo>
                <a:lnTo>
                  <a:pt x="216540" y="229021"/>
                </a:lnTo>
                <a:lnTo>
                  <a:pt x="174248" y="261861"/>
                </a:lnTo>
                <a:lnTo>
                  <a:pt x="130457" y="290110"/>
                </a:lnTo>
                <a:lnTo>
                  <a:pt x="86158" y="312996"/>
                </a:lnTo>
                <a:lnTo>
                  <a:pt x="42342" y="329750"/>
                </a:lnTo>
                <a:lnTo>
                  <a:pt x="0" y="339598"/>
                </a:lnTo>
                <a:lnTo>
                  <a:pt x="24134" y="356422"/>
                </a:lnTo>
                <a:lnTo>
                  <a:pt x="55931" y="363220"/>
                </a:lnTo>
                <a:lnTo>
                  <a:pt x="93752" y="360448"/>
                </a:lnTo>
                <a:lnTo>
                  <a:pt x="135961" y="348561"/>
                </a:lnTo>
                <a:lnTo>
                  <a:pt x="180921" y="328014"/>
                </a:lnTo>
                <a:lnTo>
                  <a:pt x="226993" y="299263"/>
                </a:lnTo>
                <a:lnTo>
                  <a:pt x="272542" y="262763"/>
                </a:lnTo>
                <a:lnTo>
                  <a:pt x="313630" y="221388"/>
                </a:lnTo>
                <a:lnTo>
                  <a:pt x="347098" y="178657"/>
                </a:lnTo>
                <a:lnTo>
                  <a:pt x="372309" y="136149"/>
                </a:lnTo>
                <a:lnTo>
                  <a:pt x="388625" y="95448"/>
                </a:lnTo>
                <a:lnTo>
                  <a:pt x="395408" y="58135"/>
                </a:lnTo>
                <a:lnTo>
                  <a:pt x="392020" y="25792"/>
                </a:lnTo>
                <a:lnTo>
                  <a:pt x="3778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629021" y="4656328"/>
            <a:ext cx="455295" cy="283845"/>
          </a:xfrm>
          <a:custGeom>
            <a:avLst/>
            <a:gdLst/>
            <a:ahLst/>
            <a:cxnLst/>
            <a:rect l="l" t="t" r="r" b="b"/>
            <a:pathLst>
              <a:path w="455295" h="283845">
                <a:moveTo>
                  <a:pt x="0" y="241427"/>
                </a:moveTo>
                <a:lnTo>
                  <a:pt x="19552" y="263449"/>
                </a:lnTo>
                <a:lnTo>
                  <a:pt x="48887" y="277523"/>
                </a:lnTo>
                <a:lnTo>
                  <a:pt x="86308" y="283708"/>
                </a:lnTo>
                <a:lnTo>
                  <a:pt x="130120" y="282064"/>
                </a:lnTo>
                <a:lnTo>
                  <a:pt x="178629" y="272651"/>
                </a:lnTo>
                <a:lnTo>
                  <a:pt x="230139" y="255529"/>
                </a:lnTo>
                <a:lnTo>
                  <a:pt x="259414" y="241799"/>
                </a:lnTo>
                <a:lnTo>
                  <a:pt x="43478" y="241799"/>
                </a:lnTo>
                <a:lnTo>
                  <a:pt x="0" y="241427"/>
                </a:lnTo>
                <a:close/>
              </a:path>
              <a:path w="455295" h="283845">
                <a:moveTo>
                  <a:pt x="447166" y="0"/>
                </a:moveTo>
                <a:lnTo>
                  <a:pt x="417627" y="44255"/>
                </a:lnTo>
                <a:lnTo>
                  <a:pt x="369252" y="95145"/>
                </a:lnTo>
                <a:lnTo>
                  <a:pt x="328422" y="128481"/>
                </a:lnTo>
                <a:lnTo>
                  <a:pt x="283783" y="158547"/>
                </a:lnTo>
                <a:lnTo>
                  <a:pt x="236479" y="184829"/>
                </a:lnTo>
                <a:lnTo>
                  <a:pt x="187653" y="206810"/>
                </a:lnTo>
                <a:lnTo>
                  <a:pt x="138448" y="223976"/>
                </a:lnTo>
                <a:lnTo>
                  <a:pt x="90009" y="235811"/>
                </a:lnTo>
                <a:lnTo>
                  <a:pt x="43478" y="241799"/>
                </a:lnTo>
                <a:lnTo>
                  <a:pt x="259414" y="241799"/>
                </a:lnTo>
                <a:lnTo>
                  <a:pt x="332640" y="200174"/>
                </a:lnTo>
                <a:lnTo>
                  <a:pt x="375226" y="166494"/>
                </a:lnTo>
                <a:lnTo>
                  <a:pt x="409729" y="131098"/>
                </a:lnTo>
                <a:lnTo>
                  <a:pt x="435160" y="95368"/>
                </a:lnTo>
                <a:lnTo>
                  <a:pt x="454865" y="28438"/>
                </a:lnTo>
                <a:lnTo>
                  <a:pt x="4471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580253" y="4694554"/>
            <a:ext cx="471805" cy="254000"/>
          </a:xfrm>
          <a:custGeom>
            <a:avLst/>
            <a:gdLst/>
            <a:ahLst/>
            <a:cxnLst/>
            <a:rect l="l" t="t" r="r" b="b"/>
            <a:pathLst>
              <a:path w="471804" h="254000">
                <a:moveTo>
                  <a:pt x="0" y="202057"/>
                </a:moveTo>
                <a:lnTo>
                  <a:pt x="17545" y="225696"/>
                </a:lnTo>
                <a:lnTo>
                  <a:pt x="45537" y="242243"/>
                </a:lnTo>
                <a:lnTo>
                  <a:pt x="82276" y="251615"/>
                </a:lnTo>
                <a:lnTo>
                  <a:pt x="126061" y="253735"/>
                </a:lnTo>
                <a:lnTo>
                  <a:pt x="175193" y="248521"/>
                </a:lnTo>
                <a:lnTo>
                  <a:pt x="227973" y="235893"/>
                </a:lnTo>
                <a:lnTo>
                  <a:pt x="282701" y="215773"/>
                </a:lnTo>
                <a:lnTo>
                  <a:pt x="301815" y="206161"/>
                </a:lnTo>
                <a:lnTo>
                  <a:pt x="43255" y="206161"/>
                </a:lnTo>
                <a:lnTo>
                  <a:pt x="0" y="202057"/>
                </a:lnTo>
                <a:close/>
              </a:path>
              <a:path w="471804" h="254000">
                <a:moveTo>
                  <a:pt x="466089" y="0"/>
                </a:moveTo>
                <a:lnTo>
                  <a:pt x="432889" y="41487"/>
                </a:lnTo>
                <a:lnTo>
                  <a:pt x="380374" y="88002"/>
                </a:lnTo>
                <a:lnTo>
                  <a:pt x="336826" y="117716"/>
                </a:lnTo>
                <a:lnTo>
                  <a:pt x="289766" y="143843"/>
                </a:lnTo>
                <a:lnTo>
                  <a:pt x="240381" y="165970"/>
                </a:lnTo>
                <a:lnTo>
                  <a:pt x="189852" y="183679"/>
                </a:lnTo>
                <a:lnTo>
                  <a:pt x="139366" y="196558"/>
                </a:lnTo>
                <a:lnTo>
                  <a:pt x="90105" y="204190"/>
                </a:lnTo>
                <a:lnTo>
                  <a:pt x="43255" y="206161"/>
                </a:lnTo>
                <a:lnTo>
                  <a:pt x="301815" y="206161"/>
                </a:lnTo>
                <a:lnTo>
                  <a:pt x="380174" y="159644"/>
                </a:lnTo>
                <a:lnTo>
                  <a:pt x="417582" y="127342"/>
                </a:lnTo>
                <a:lnTo>
                  <a:pt x="445975" y="93935"/>
                </a:lnTo>
                <a:lnTo>
                  <a:pt x="471326" y="28974"/>
                </a:lnTo>
                <a:lnTo>
                  <a:pt x="466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522848" y="4751578"/>
            <a:ext cx="492759" cy="201295"/>
          </a:xfrm>
          <a:custGeom>
            <a:avLst/>
            <a:gdLst/>
            <a:ahLst/>
            <a:cxnLst/>
            <a:rect l="l" t="t" r="r" b="b"/>
            <a:pathLst>
              <a:path w="492760" h="201295">
                <a:moveTo>
                  <a:pt x="0" y="127762"/>
                </a:moveTo>
                <a:lnTo>
                  <a:pt x="38848" y="174481"/>
                </a:lnTo>
                <a:lnTo>
                  <a:pt x="116681" y="198274"/>
                </a:lnTo>
                <a:lnTo>
                  <a:pt x="166051" y="200707"/>
                </a:lnTo>
                <a:lnTo>
                  <a:pt x="220169" y="196368"/>
                </a:lnTo>
                <a:lnTo>
                  <a:pt x="277367" y="184912"/>
                </a:lnTo>
                <a:lnTo>
                  <a:pt x="332903" y="167064"/>
                </a:lnTo>
                <a:lnTo>
                  <a:pt x="382283" y="144520"/>
                </a:lnTo>
                <a:lnTo>
                  <a:pt x="383339" y="143862"/>
                </a:lnTo>
                <a:lnTo>
                  <a:pt x="138641" y="143862"/>
                </a:lnTo>
                <a:lnTo>
                  <a:pt x="88771" y="143796"/>
                </a:lnTo>
                <a:lnTo>
                  <a:pt x="42146" y="138505"/>
                </a:lnTo>
                <a:lnTo>
                  <a:pt x="0" y="127762"/>
                </a:lnTo>
                <a:close/>
              </a:path>
              <a:path w="492760" h="201295">
                <a:moveTo>
                  <a:pt x="491743" y="0"/>
                </a:moveTo>
                <a:lnTo>
                  <a:pt x="452596" y="35950"/>
                </a:lnTo>
                <a:lnTo>
                  <a:pt x="393543" y="73842"/>
                </a:lnTo>
                <a:lnTo>
                  <a:pt x="345930" y="96464"/>
                </a:lnTo>
                <a:lnTo>
                  <a:pt x="295402" y="115005"/>
                </a:lnTo>
                <a:lnTo>
                  <a:pt x="243189" y="129238"/>
                </a:lnTo>
                <a:lnTo>
                  <a:pt x="190525" y="138933"/>
                </a:lnTo>
                <a:lnTo>
                  <a:pt x="138641" y="143862"/>
                </a:lnTo>
                <a:lnTo>
                  <a:pt x="383339" y="143862"/>
                </a:lnTo>
                <a:lnTo>
                  <a:pt x="424218" y="118384"/>
                </a:lnTo>
                <a:lnTo>
                  <a:pt x="457420" y="89760"/>
                </a:lnTo>
                <a:lnTo>
                  <a:pt x="480601" y="59752"/>
                </a:lnTo>
                <a:lnTo>
                  <a:pt x="492471" y="29463"/>
                </a:lnTo>
                <a:lnTo>
                  <a:pt x="4917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4836414" y="4336541"/>
            <a:ext cx="1557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黑体"/>
                <a:cs typeface="黑体"/>
              </a:rPr>
              <a:t>外部接口</a:t>
            </a:r>
            <a:r>
              <a:rPr sz="2000" b="1" spc="-5" dirty="0">
                <a:latin typeface="黑体"/>
                <a:cs typeface="黑体"/>
              </a:rPr>
              <a:t>文件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5023103" y="1723644"/>
            <a:ext cx="1146175" cy="1155700"/>
          </a:xfrm>
          <a:custGeom>
            <a:avLst/>
            <a:gdLst/>
            <a:ahLst/>
            <a:cxnLst/>
            <a:rect l="l" t="t" r="r" b="b"/>
            <a:pathLst>
              <a:path w="1146175" h="1155700">
                <a:moveTo>
                  <a:pt x="573024" y="0"/>
                </a:moveTo>
                <a:lnTo>
                  <a:pt x="526025" y="1914"/>
                </a:lnTo>
                <a:lnTo>
                  <a:pt x="480073" y="7559"/>
                </a:lnTo>
                <a:lnTo>
                  <a:pt x="435315" y="16784"/>
                </a:lnTo>
                <a:lnTo>
                  <a:pt x="391899" y="29443"/>
                </a:lnTo>
                <a:lnTo>
                  <a:pt x="349972" y="45386"/>
                </a:lnTo>
                <a:lnTo>
                  <a:pt x="309681" y="64465"/>
                </a:lnTo>
                <a:lnTo>
                  <a:pt x="271174" y="86530"/>
                </a:lnTo>
                <a:lnTo>
                  <a:pt x="234598" y="111434"/>
                </a:lnTo>
                <a:lnTo>
                  <a:pt x="200101" y="139028"/>
                </a:lnTo>
                <a:lnTo>
                  <a:pt x="167830" y="169164"/>
                </a:lnTo>
                <a:lnTo>
                  <a:pt x="137933" y="201691"/>
                </a:lnTo>
                <a:lnTo>
                  <a:pt x="110557" y="236463"/>
                </a:lnTo>
                <a:lnTo>
                  <a:pt x="85849" y="273331"/>
                </a:lnTo>
                <a:lnTo>
                  <a:pt x="63957" y="312145"/>
                </a:lnTo>
                <a:lnTo>
                  <a:pt x="45029" y="352758"/>
                </a:lnTo>
                <a:lnTo>
                  <a:pt x="29212" y="395020"/>
                </a:lnTo>
                <a:lnTo>
                  <a:pt x="16652" y="438784"/>
                </a:lnTo>
                <a:lnTo>
                  <a:pt x="7499" y="483900"/>
                </a:lnTo>
                <a:lnTo>
                  <a:pt x="1899" y="530220"/>
                </a:lnTo>
                <a:lnTo>
                  <a:pt x="0" y="577595"/>
                </a:lnTo>
                <a:lnTo>
                  <a:pt x="1899" y="624971"/>
                </a:lnTo>
                <a:lnTo>
                  <a:pt x="7499" y="671291"/>
                </a:lnTo>
                <a:lnTo>
                  <a:pt x="16652" y="716407"/>
                </a:lnTo>
                <a:lnTo>
                  <a:pt x="29212" y="760171"/>
                </a:lnTo>
                <a:lnTo>
                  <a:pt x="45029" y="802433"/>
                </a:lnTo>
                <a:lnTo>
                  <a:pt x="63957" y="843046"/>
                </a:lnTo>
                <a:lnTo>
                  <a:pt x="85849" y="881860"/>
                </a:lnTo>
                <a:lnTo>
                  <a:pt x="110557" y="918728"/>
                </a:lnTo>
                <a:lnTo>
                  <a:pt x="137933" y="953500"/>
                </a:lnTo>
                <a:lnTo>
                  <a:pt x="167830" y="986027"/>
                </a:lnTo>
                <a:lnTo>
                  <a:pt x="200101" y="1016163"/>
                </a:lnTo>
                <a:lnTo>
                  <a:pt x="234598" y="1043757"/>
                </a:lnTo>
                <a:lnTo>
                  <a:pt x="271174" y="1068661"/>
                </a:lnTo>
                <a:lnTo>
                  <a:pt x="309681" y="1090726"/>
                </a:lnTo>
                <a:lnTo>
                  <a:pt x="349972" y="1109805"/>
                </a:lnTo>
                <a:lnTo>
                  <a:pt x="391899" y="1125748"/>
                </a:lnTo>
                <a:lnTo>
                  <a:pt x="435315" y="1138407"/>
                </a:lnTo>
                <a:lnTo>
                  <a:pt x="480073" y="1147632"/>
                </a:lnTo>
                <a:lnTo>
                  <a:pt x="526025" y="1153277"/>
                </a:lnTo>
                <a:lnTo>
                  <a:pt x="573024" y="1155191"/>
                </a:lnTo>
                <a:lnTo>
                  <a:pt x="620022" y="1153277"/>
                </a:lnTo>
                <a:lnTo>
                  <a:pt x="665974" y="1147632"/>
                </a:lnTo>
                <a:lnTo>
                  <a:pt x="710732" y="1138407"/>
                </a:lnTo>
                <a:lnTo>
                  <a:pt x="754148" y="1125748"/>
                </a:lnTo>
                <a:lnTo>
                  <a:pt x="796075" y="1109805"/>
                </a:lnTo>
                <a:lnTo>
                  <a:pt x="836366" y="1090726"/>
                </a:lnTo>
                <a:lnTo>
                  <a:pt x="874873" y="1068661"/>
                </a:lnTo>
                <a:lnTo>
                  <a:pt x="911449" y="1043757"/>
                </a:lnTo>
                <a:lnTo>
                  <a:pt x="945946" y="1016163"/>
                </a:lnTo>
                <a:lnTo>
                  <a:pt x="978217" y="986027"/>
                </a:lnTo>
                <a:lnTo>
                  <a:pt x="1008114" y="953500"/>
                </a:lnTo>
                <a:lnTo>
                  <a:pt x="1035490" y="918728"/>
                </a:lnTo>
                <a:lnTo>
                  <a:pt x="1060198" y="881860"/>
                </a:lnTo>
                <a:lnTo>
                  <a:pt x="1082090" y="843046"/>
                </a:lnTo>
                <a:lnTo>
                  <a:pt x="1101018" y="802433"/>
                </a:lnTo>
                <a:lnTo>
                  <a:pt x="1116835" y="760171"/>
                </a:lnTo>
                <a:lnTo>
                  <a:pt x="1129395" y="716407"/>
                </a:lnTo>
                <a:lnTo>
                  <a:pt x="1138548" y="671291"/>
                </a:lnTo>
                <a:lnTo>
                  <a:pt x="1144148" y="624971"/>
                </a:lnTo>
                <a:lnTo>
                  <a:pt x="1146048" y="577595"/>
                </a:lnTo>
                <a:lnTo>
                  <a:pt x="1144148" y="530220"/>
                </a:lnTo>
                <a:lnTo>
                  <a:pt x="1138548" y="483900"/>
                </a:lnTo>
                <a:lnTo>
                  <a:pt x="1129395" y="438784"/>
                </a:lnTo>
                <a:lnTo>
                  <a:pt x="1116835" y="395020"/>
                </a:lnTo>
                <a:lnTo>
                  <a:pt x="1101018" y="352758"/>
                </a:lnTo>
                <a:lnTo>
                  <a:pt x="1082090" y="312145"/>
                </a:lnTo>
                <a:lnTo>
                  <a:pt x="1060198" y="273331"/>
                </a:lnTo>
                <a:lnTo>
                  <a:pt x="1035490" y="236463"/>
                </a:lnTo>
                <a:lnTo>
                  <a:pt x="1008114" y="201691"/>
                </a:lnTo>
                <a:lnTo>
                  <a:pt x="978217" y="169164"/>
                </a:lnTo>
                <a:lnTo>
                  <a:pt x="945946" y="139028"/>
                </a:lnTo>
                <a:lnTo>
                  <a:pt x="911449" y="111434"/>
                </a:lnTo>
                <a:lnTo>
                  <a:pt x="874873" y="86530"/>
                </a:lnTo>
                <a:lnTo>
                  <a:pt x="836366" y="64465"/>
                </a:lnTo>
                <a:lnTo>
                  <a:pt x="796075" y="45386"/>
                </a:lnTo>
                <a:lnTo>
                  <a:pt x="754148" y="29443"/>
                </a:lnTo>
                <a:lnTo>
                  <a:pt x="710732" y="16784"/>
                </a:lnTo>
                <a:lnTo>
                  <a:pt x="665974" y="7559"/>
                </a:lnTo>
                <a:lnTo>
                  <a:pt x="620022" y="1914"/>
                </a:lnTo>
                <a:lnTo>
                  <a:pt x="57302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058155" y="1760220"/>
            <a:ext cx="1072896" cy="1083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058155" y="1760220"/>
            <a:ext cx="1079500" cy="1087120"/>
          </a:xfrm>
          <a:custGeom>
            <a:avLst/>
            <a:gdLst/>
            <a:ahLst/>
            <a:cxnLst/>
            <a:rect l="l" t="t" r="r" b="b"/>
            <a:pathLst>
              <a:path w="1079500" h="1087120">
                <a:moveTo>
                  <a:pt x="539496" y="0"/>
                </a:moveTo>
                <a:lnTo>
                  <a:pt x="492948" y="1993"/>
                </a:lnTo>
                <a:lnTo>
                  <a:pt x="447499" y="7867"/>
                </a:lnTo>
                <a:lnTo>
                  <a:pt x="403311" y="17456"/>
                </a:lnTo>
                <a:lnTo>
                  <a:pt x="360547" y="30599"/>
                </a:lnTo>
                <a:lnTo>
                  <a:pt x="319368" y="47132"/>
                </a:lnTo>
                <a:lnTo>
                  <a:pt x="279935" y="66892"/>
                </a:lnTo>
                <a:lnTo>
                  <a:pt x="242412" y="89716"/>
                </a:lnTo>
                <a:lnTo>
                  <a:pt x="206960" y="115442"/>
                </a:lnTo>
                <a:lnTo>
                  <a:pt x="173741" y="143907"/>
                </a:lnTo>
                <a:lnTo>
                  <a:pt x="142917" y="174946"/>
                </a:lnTo>
                <a:lnTo>
                  <a:pt x="114649" y="208398"/>
                </a:lnTo>
                <a:lnTo>
                  <a:pt x="89101" y="244100"/>
                </a:lnTo>
                <a:lnTo>
                  <a:pt x="66434" y="281888"/>
                </a:lnTo>
                <a:lnTo>
                  <a:pt x="46809" y="321599"/>
                </a:lnTo>
                <a:lnTo>
                  <a:pt x="30390" y="363072"/>
                </a:lnTo>
                <a:lnTo>
                  <a:pt x="17337" y="406141"/>
                </a:lnTo>
                <a:lnTo>
                  <a:pt x="7813" y="450645"/>
                </a:lnTo>
                <a:lnTo>
                  <a:pt x="1980" y="496421"/>
                </a:lnTo>
                <a:lnTo>
                  <a:pt x="0" y="543305"/>
                </a:lnTo>
                <a:lnTo>
                  <a:pt x="1980" y="590190"/>
                </a:lnTo>
                <a:lnTo>
                  <a:pt x="7813" y="635966"/>
                </a:lnTo>
                <a:lnTo>
                  <a:pt x="17337" y="680470"/>
                </a:lnTo>
                <a:lnTo>
                  <a:pt x="30390" y="723539"/>
                </a:lnTo>
                <a:lnTo>
                  <a:pt x="46809" y="765012"/>
                </a:lnTo>
                <a:lnTo>
                  <a:pt x="66434" y="804723"/>
                </a:lnTo>
                <a:lnTo>
                  <a:pt x="89101" y="842511"/>
                </a:lnTo>
                <a:lnTo>
                  <a:pt x="114649" y="878213"/>
                </a:lnTo>
                <a:lnTo>
                  <a:pt x="142917" y="911665"/>
                </a:lnTo>
                <a:lnTo>
                  <a:pt x="173741" y="942704"/>
                </a:lnTo>
                <a:lnTo>
                  <a:pt x="206960" y="971169"/>
                </a:lnTo>
                <a:lnTo>
                  <a:pt x="242412" y="996895"/>
                </a:lnTo>
                <a:lnTo>
                  <a:pt x="279935" y="1019719"/>
                </a:lnTo>
                <a:lnTo>
                  <a:pt x="319368" y="1039479"/>
                </a:lnTo>
                <a:lnTo>
                  <a:pt x="360547" y="1056012"/>
                </a:lnTo>
                <a:lnTo>
                  <a:pt x="403311" y="1069155"/>
                </a:lnTo>
                <a:lnTo>
                  <a:pt x="447499" y="1078744"/>
                </a:lnTo>
                <a:lnTo>
                  <a:pt x="492948" y="1084618"/>
                </a:lnTo>
                <a:lnTo>
                  <a:pt x="539496" y="1086612"/>
                </a:lnTo>
                <a:lnTo>
                  <a:pt x="586043" y="1084618"/>
                </a:lnTo>
                <a:lnTo>
                  <a:pt x="631492" y="1078744"/>
                </a:lnTo>
                <a:lnTo>
                  <a:pt x="675680" y="1069155"/>
                </a:lnTo>
                <a:lnTo>
                  <a:pt x="718444" y="1056012"/>
                </a:lnTo>
                <a:lnTo>
                  <a:pt x="759623" y="1039479"/>
                </a:lnTo>
                <a:lnTo>
                  <a:pt x="799056" y="1019719"/>
                </a:lnTo>
                <a:lnTo>
                  <a:pt x="836579" y="996895"/>
                </a:lnTo>
                <a:lnTo>
                  <a:pt x="872031" y="971169"/>
                </a:lnTo>
                <a:lnTo>
                  <a:pt x="905250" y="942704"/>
                </a:lnTo>
                <a:lnTo>
                  <a:pt x="936074" y="911665"/>
                </a:lnTo>
                <a:lnTo>
                  <a:pt x="964342" y="878213"/>
                </a:lnTo>
                <a:lnTo>
                  <a:pt x="989890" y="842511"/>
                </a:lnTo>
                <a:lnTo>
                  <a:pt x="1012557" y="804723"/>
                </a:lnTo>
                <a:lnTo>
                  <a:pt x="1032182" y="765012"/>
                </a:lnTo>
                <a:lnTo>
                  <a:pt x="1048601" y="723539"/>
                </a:lnTo>
                <a:lnTo>
                  <a:pt x="1061654" y="680470"/>
                </a:lnTo>
                <a:lnTo>
                  <a:pt x="1071178" y="635966"/>
                </a:lnTo>
                <a:lnTo>
                  <a:pt x="1077011" y="590190"/>
                </a:lnTo>
                <a:lnTo>
                  <a:pt x="1078992" y="543305"/>
                </a:lnTo>
                <a:lnTo>
                  <a:pt x="1077011" y="496421"/>
                </a:lnTo>
                <a:lnTo>
                  <a:pt x="1071178" y="450645"/>
                </a:lnTo>
                <a:lnTo>
                  <a:pt x="1061654" y="406141"/>
                </a:lnTo>
                <a:lnTo>
                  <a:pt x="1048601" y="363072"/>
                </a:lnTo>
                <a:lnTo>
                  <a:pt x="1032182" y="321599"/>
                </a:lnTo>
                <a:lnTo>
                  <a:pt x="1012557" y="281888"/>
                </a:lnTo>
                <a:lnTo>
                  <a:pt x="989890" y="244100"/>
                </a:lnTo>
                <a:lnTo>
                  <a:pt x="964342" y="208398"/>
                </a:lnTo>
                <a:lnTo>
                  <a:pt x="936074" y="174946"/>
                </a:lnTo>
                <a:lnTo>
                  <a:pt x="905250" y="143907"/>
                </a:lnTo>
                <a:lnTo>
                  <a:pt x="872031" y="115442"/>
                </a:lnTo>
                <a:lnTo>
                  <a:pt x="836579" y="89716"/>
                </a:lnTo>
                <a:lnTo>
                  <a:pt x="799056" y="66892"/>
                </a:lnTo>
                <a:lnTo>
                  <a:pt x="759623" y="47132"/>
                </a:lnTo>
                <a:lnTo>
                  <a:pt x="718444" y="30599"/>
                </a:lnTo>
                <a:lnTo>
                  <a:pt x="675680" y="17456"/>
                </a:lnTo>
                <a:lnTo>
                  <a:pt x="631492" y="7867"/>
                </a:lnTo>
                <a:lnTo>
                  <a:pt x="586043" y="1993"/>
                </a:lnTo>
                <a:lnTo>
                  <a:pt x="539496" y="0"/>
                </a:lnTo>
                <a:close/>
              </a:path>
            </a:pathLst>
          </a:custGeom>
          <a:solidFill>
            <a:srgbClr val="6F4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068823" y="1805939"/>
            <a:ext cx="789431" cy="678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797677" y="2197735"/>
            <a:ext cx="300990" cy="528320"/>
          </a:xfrm>
          <a:custGeom>
            <a:avLst/>
            <a:gdLst/>
            <a:ahLst/>
            <a:cxnLst/>
            <a:rect l="l" t="t" r="r" b="b"/>
            <a:pathLst>
              <a:path w="300989" h="528319">
                <a:moveTo>
                  <a:pt x="248412" y="0"/>
                </a:moveTo>
                <a:lnTo>
                  <a:pt x="250315" y="19034"/>
                </a:lnTo>
                <a:lnTo>
                  <a:pt x="251063" y="39115"/>
                </a:lnTo>
                <a:lnTo>
                  <a:pt x="250644" y="60150"/>
                </a:lnTo>
                <a:lnTo>
                  <a:pt x="242253" y="128615"/>
                </a:lnTo>
                <a:lnTo>
                  <a:pt x="231134" y="175889"/>
                </a:lnTo>
                <a:lnTo>
                  <a:pt x="216075" y="223184"/>
                </a:lnTo>
                <a:lnTo>
                  <a:pt x="197461" y="269821"/>
                </a:lnTo>
                <a:lnTo>
                  <a:pt x="175678" y="315121"/>
                </a:lnTo>
                <a:lnTo>
                  <a:pt x="151111" y="358405"/>
                </a:lnTo>
                <a:lnTo>
                  <a:pt x="124145" y="398995"/>
                </a:lnTo>
                <a:lnTo>
                  <a:pt x="95166" y="436211"/>
                </a:lnTo>
                <a:lnTo>
                  <a:pt x="64558" y="469374"/>
                </a:lnTo>
                <a:lnTo>
                  <a:pt x="32708" y="497806"/>
                </a:lnTo>
                <a:lnTo>
                  <a:pt x="0" y="520826"/>
                </a:lnTo>
                <a:lnTo>
                  <a:pt x="32335" y="527815"/>
                </a:lnTo>
                <a:lnTo>
                  <a:pt x="106555" y="501439"/>
                </a:lnTo>
                <a:lnTo>
                  <a:pt x="145422" y="470478"/>
                </a:lnTo>
                <a:lnTo>
                  <a:pt x="183450" y="429272"/>
                </a:lnTo>
                <a:lnTo>
                  <a:pt x="219129" y="379021"/>
                </a:lnTo>
                <a:lnTo>
                  <a:pt x="250951" y="320928"/>
                </a:lnTo>
                <a:lnTo>
                  <a:pt x="276077" y="259597"/>
                </a:lnTo>
                <a:lnTo>
                  <a:pt x="292680" y="200221"/>
                </a:lnTo>
                <a:lnTo>
                  <a:pt x="300777" y="144723"/>
                </a:lnTo>
                <a:lnTo>
                  <a:pt x="300383" y="95028"/>
                </a:lnTo>
                <a:lnTo>
                  <a:pt x="291514" y="53060"/>
                </a:lnTo>
                <a:lnTo>
                  <a:pt x="274185" y="20743"/>
                </a:lnTo>
                <a:lnTo>
                  <a:pt x="2484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704078" y="2305176"/>
            <a:ext cx="393700" cy="464820"/>
          </a:xfrm>
          <a:custGeom>
            <a:avLst/>
            <a:gdLst/>
            <a:ahLst/>
            <a:cxnLst/>
            <a:rect l="l" t="t" r="r" b="b"/>
            <a:pathLst>
              <a:path w="393700" h="464819">
                <a:moveTo>
                  <a:pt x="363727" y="0"/>
                </a:moveTo>
                <a:lnTo>
                  <a:pt x="357155" y="38750"/>
                </a:lnTo>
                <a:lnTo>
                  <a:pt x="345059" y="79883"/>
                </a:lnTo>
                <a:lnTo>
                  <a:pt x="327527" y="123581"/>
                </a:lnTo>
                <a:lnTo>
                  <a:pt x="305629" y="166942"/>
                </a:lnTo>
                <a:lnTo>
                  <a:pt x="279897" y="209397"/>
                </a:lnTo>
                <a:lnTo>
                  <a:pt x="250865" y="250376"/>
                </a:lnTo>
                <a:lnTo>
                  <a:pt x="219066" y="289310"/>
                </a:lnTo>
                <a:lnTo>
                  <a:pt x="185032" y="325628"/>
                </a:lnTo>
                <a:lnTo>
                  <a:pt x="149296" y="358762"/>
                </a:lnTo>
                <a:lnTo>
                  <a:pt x="112392" y="388141"/>
                </a:lnTo>
                <a:lnTo>
                  <a:pt x="74853" y="413196"/>
                </a:lnTo>
                <a:lnTo>
                  <a:pt x="37211" y="433358"/>
                </a:lnTo>
                <a:lnTo>
                  <a:pt x="0" y="448056"/>
                </a:lnTo>
                <a:lnTo>
                  <a:pt x="29792" y="462436"/>
                </a:lnTo>
                <a:lnTo>
                  <a:pt x="108108" y="454197"/>
                </a:lnTo>
                <a:lnTo>
                  <a:pt x="153143" y="433208"/>
                </a:lnTo>
                <a:lnTo>
                  <a:pt x="199771" y="402060"/>
                </a:lnTo>
                <a:lnTo>
                  <a:pt x="246248" y="361567"/>
                </a:lnTo>
                <a:lnTo>
                  <a:pt x="290830" y="312547"/>
                </a:lnTo>
                <a:lnTo>
                  <a:pt x="329657" y="258851"/>
                </a:lnTo>
                <a:lnTo>
                  <a:pt x="359743" y="205042"/>
                </a:lnTo>
                <a:lnTo>
                  <a:pt x="380650" y="152996"/>
                </a:lnTo>
                <a:lnTo>
                  <a:pt x="391939" y="104592"/>
                </a:lnTo>
                <a:lnTo>
                  <a:pt x="393174" y="61707"/>
                </a:lnTo>
                <a:lnTo>
                  <a:pt x="383916" y="26217"/>
                </a:lnTo>
                <a:lnTo>
                  <a:pt x="3637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652389" y="2358389"/>
            <a:ext cx="425450" cy="436880"/>
          </a:xfrm>
          <a:custGeom>
            <a:avLst/>
            <a:gdLst/>
            <a:ahLst/>
            <a:cxnLst/>
            <a:rect l="l" t="t" r="r" b="b"/>
            <a:pathLst>
              <a:path w="425450" h="436880">
                <a:moveTo>
                  <a:pt x="400938" y="0"/>
                </a:moveTo>
                <a:lnTo>
                  <a:pt x="391001" y="37988"/>
                </a:lnTo>
                <a:lnTo>
                  <a:pt x="375538" y="77977"/>
                </a:lnTo>
                <a:lnTo>
                  <a:pt x="354306" y="119986"/>
                </a:lnTo>
                <a:lnTo>
                  <a:pt x="328748" y="161289"/>
                </a:lnTo>
                <a:lnTo>
                  <a:pt x="299447" y="201365"/>
                </a:lnTo>
                <a:lnTo>
                  <a:pt x="266983" y="239689"/>
                </a:lnTo>
                <a:lnTo>
                  <a:pt x="231938" y="275741"/>
                </a:lnTo>
                <a:lnTo>
                  <a:pt x="194893" y="308996"/>
                </a:lnTo>
                <a:lnTo>
                  <a:pt x="156428" y="338932"/>
                </a:lnTo>
                <a:lnTo>
                  <a:pt x="117126" y="365027"/>
                </a:lnTo>
                <a:lnTo>
                  <a:pt x="77566" y="386758"/>
                </a:lnTo>
                <a:lnTo>
                  <a:pt x="38330" y="403601"/>
                </a:lnTo>
                <a:lnTo>
                  <a:pt x="0" y="415036"/>
                </a:lnTo>
                <a:lnTo>
                  <a:pt x="28444" y="431917"/>
                </a:lnTo>
                <a:lnTo>
                  <a:pt x="107202" y="430464"/>
                </a:lnTo>
                <a:lnTo>
                  <a:pt x="153894" y="413442"/>
                </a:lnTo>
                <a:lnTo>
                  <a:pt x="203048" y="386429"/>
                </a:lnTo>
                <a:lnTo>
                  <a:pt x="252852" y="350081"/>
                </a:lnTo>
                <a:lnTo>
                  <a:pt x="301498" y="305054"/>
                </a:lnTo>
                <a:lnTo>
                  <a:pt x="344802" y="254912"/>
                </a:lnTo>
                <a:lnTo>
                  <a:pt x="379395" y="203899"/>
                </a:lnTo>
                <a:lnTo>
                  <a:pt x="404684" y="153851"/>
                </a:lnTo>
                <a:lnTo>
                  <a:pt x="420076" y="106602"/>
                </a:lnTo>
                <a:lnTo>
                  <a:pt x="424978" y="63987"/>
                </a:lnTo>
                <a:lnTo>
                  <a:pt x="418797" y="27841"/>
                </a:lnTo>
                <a:lnTo>
                  <a:pt x="4009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584825" y="2432176"/>
            <a:ext cx="474345" cy="380365"/>
          </a:xfrm>
          <a:custGeom>
            <a:avLst/>
            <a:gdLst/>
            <a:ahLst/>
            <a:cxnLst/>
            <a:rect l="l" t="t" r="r" b="b"/>
            <a:pathLst>
              <a:path w="474345" h="380364">
                <a:moveTo>
                  <a:pt x="460121" y="0"/>
                </a:moveTo>
                <a:lnTo>
                  <a:pt x="444484" y="36004"/>
                </a:lnTo>
                <a:lnTo>
                  <a:pt x="423037" y="73151"/>
                </a:lnTo>
                <a:lnTo>
                  <a:pt x="395559" y="111401"/>
                </a:lnTo>
                <a:lnTo>
                  <a:pt x="363924" y="148281"/>
                </a:lnTo>
                <a:lnTo>
                  <a:pt x="328786" y="183365"/>
                </a:lnTo>
                <a:lnTo>
                  <a:pt x="290797" y="216228"/>
                </a:lnTo>
                <a:lnTo>
                  <a:pt x="250613" y="246445"/>
                </a:lnTo>
                <a:lnTo>
                  <a:pt x="208886" y="273591"/>
                </a:lnTo>
                <a:lnTo>
                  <a:pt x="166270" y="297240"/>
                </a:lnTo>
                <a:lnTo>
                  <a:pt x="123420" y="316967"/>
                </a:lnTo>
                <a:lnTo>
                  <a:pt x="80989" y="332346"/>
                </a:lnTo>
                <a:lnTo>
                  <a:pt x="39631" y="342953"/>
                </a:lnTo>
                <a:lnTo>
                  <a:pt x="0" y="348361"/>
                </a:lnTo>
                <a:lnTo>
                  <a:pt x="25484" y="369440"/>
                </a:lnTo>
                <a:lnTo>
                  <a:pt x="60616" y="379911"/>
                </a:lnTo>
                <a:lnTo>
                  <a:pt x="103506" y="380145"/>
                </a:lnTo>
                <a:lnTo>
                  <a:pt x="152263" y="370513"/>
                </a:lnTo>
                <a:lnTo>
                  <a:pt x="204997" y="351386"/>
                </a:lnTo>
                <a:lnTo>
                  <a:pt x="259817" y="323135"/>
                </a:lnTo>
                <a:lnTo>
                  <a:pt x="314833" y="286131"/>
                </a:lnTo>
                <a:lnTo>
                  <a:pt x="365328" y="243255"/>
                </a:lnTo>
                <a:lnTo>
                  <a:pt x="407373" y="198181"/>
                </a:lnTo>
                <a:lnTo>
                  <a:pt x="440089" y="152626"/>
                </a:lnTo>
                <a:lnTo>
                  <a:pt x="462600" y="108311"/>
                </a:lnTo>
                <a:lnTo>
                  <a:pt x="474027" y="66956"/>
                </a:lnTo>
                <a:lnTo>
                  <a:pt x="473493" y="30278"/>
                </a:lnTo>
                <a:lnTo>
                  <a:pt x="4601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627878" y="2389123"/>
            <a:ext cx="449580" cy="412115"/>
          </a:xfrm>
          <a:custGeom>
            <a:avLst/>
            <a:gdLst/>
            <a:ahLst/>
            <a:cxnLst/>
            <a:rect l="l" t="t" r="r" b="b"/>
            <a:pathLst>
              <a:path w="449579" h="412114">
                <a:moveTo>
                  <a:pt x="429133" y="0"/>
                </a:moveTo>
                <a:lnTo>
                  <a:pt x="416671" y="37337"/>
                </a:lnTo>
                <a:lnTo>
                  <a:pt x="398399" y="76200"/>
                </a:lnTo>
                <a:lnTo>
                  <a:pt x="374335" y="116679"/>
                </a:lnTo>
                <a:lnTo>
                  <a:pt x="345988" y="156126"/>
                </a:lnTo>
                <a:lnTo>
                  <a:pt x="313977" y="194063"/>
                </a:lnTo>
                <a:lnTo>
                  <a:pt x="278918" y="230012"/>
                </a:lnTo>
                <a:lnTo>
                  <a:pt x="241428" y="263494"/>
                </a:lnTo>
                <a:lnTo>
                  <a:pt x="202124" y="294032"/>
                </a:lnTo>
                <a:lnTo>
                  <a:pt x="161623" y="321148"/>
                </a:lnTo>
                <a:lnTo>
                  <a:pt x="120543" y="344363"/>
                </a:lnTo>
                <a:lnTo>
                  <a:pt x="79501" y="363200"/>
                </a:lnTo>
                <a:lnTo>
                  <a:pt x="39114" y="377180"/>
                </a:lnTo>
                <a:lnTo>
                  <a:pt x="0" y="385825"/>
                </a:lnTo>
                <a:lnTo>
                  <a:pt x="23361" y="403083"/>
                </a:lnTo>
                <a:lnTo>
                  <a:pt x="53566" y="411563"/>
                </a:lnTo>
                <a:lnTo>
                  <a:pt x="89372" y="411619"/>
                </a:lnTo>
                <a:lnTo>
                  <a:pt x="129539" y="403606"/>
                </a:lnTo>
                <a:lnTo>
                  <a:pt x="172826" y="387877"/>
                </a:lnTo>
                <a:lnTo>
                  <a:pt x="217991" y="364787"/>
                </a:lnTo>
                <a:lnTo>
                  <a:pt x="263793" y="334691"/>
                </a:lnTo>
                <a:lnTo>
                  <a:pt x="308991" y="297941"/>
                </a:lnTo>
                <a:lnTo>
                  <a:pt x="350314" y="256927"/>
                </a:lnTo>
                <a:lnTo>
                  <a:pt x="385091" y="214598"/>
                </a:lnTo>
                <a:lnTo>
                  <a:pt x="412838" y="172149"/>
                </a:lnTo>
                <a:lnTo>
                  <a:pt x="433070" y="130778"/>
                </a:lnTo>
                <a:lnTo>
                  <a:pt x="445300" y="91681"/>
                </a:lnTo>
                <a:lnTo>
                  <a:pt x="449044" y="56054"/>
                </a:lnTo>
                <a:lnTo>
                  <a:pt x="443816" y="25095"/>
                </a:lnTo>
                <a:lnTo>
                  <a:pt x="4291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528183" y="2496820"/>
            <a:ext cx="516255" cy="321945"/>
          </a:xfrm>
          <a:custGeom>
            <a:avLst/>
            <a:gdLst/>
            <a:ahLst/>
            <a:cxnLst/>
            <a:rect l="l" t="t" r="r" b="b"/>
            <a:pathLst>
              <a:path w="516254" h="321944">
                <a:moveTo>
                  <a:pt x="0" y="274065"/>
                </a:moveTo>
                <a:lnTo>
                  <a:pt x="18649" y="296345"/>
                </a:lnTo>
                <a:lnTo>
                  <a:pt x="46019" y="311691"/>
                </a:lnTo>
                <a:lnTo>
                  <a:pt x="80815" y="320158"/>
                </a:lnTo>
                <a:lnTo>
                  <a:pt x="121745" y="321802"/>
                </a:lnTo>
                <a:lnTo>
                  <a:pt x="167514" y="316676"/>
                </a:lnTo>
                <a:lnTo>
                  <a:pt x="216830" y="304837"/>
                </a:lnTo>
                <a:lnTo>
                  <a:pt x="268399" y="286340"/>
                </a:lnTo>
                <a:lnTo>
                  <a:pt x="292399" y="274872"/>
                </a:lnTo>
                <a:lnTo>
                  <a:pt x="40034" y="274872"/>
                </a:lnTo>
                <a:lnTo>
                  <a:pt x="0" y="274065"/>
                </a:lnTo>
                <a:close/>
              </a:path>
              <a:path w="516254" h="321944">
                <a:moveTo>
                  <a:pt x="507745" y="0"/>
                </a:moveTo>
                <a:lnTo>
                  <a:pt x="486870" y="33258"/>
                </a:lnTo>
                <a:lnTo>
                  <a:pt x="459993" y="66801"/>
                </a:lnTo>
                <a:lnTo>
                  <a:pt x="427075" y="100474"/>
                </a:lnTo>
                <a:lnTo>
                  <a:pt x="390241" y="132145"/>
                </a:lnTo>
                <a:lnTo>
                  <a:pt x="350202" y="161491"/>
                </a:lnTo>
                <a:lnTo>
                  <a:pt x="307671" y="188193"/>
                </a:lnTo>
                <a:lnTo>
                  <a:pt x="263360" y="211928"/>
                </a:lnTo>
                <a:lnTo>
                  <a:pt x="217981" y="232376"/>
                </a:lnTo>
                <a:lnTo>
                  <a:pt x="172247" y="249215"/>
                </a:lnTo>
                <a:lnTo>
                  <a:pt x="126870" y="262125"/>
                </a:lnTo>
                <a:lnTo>
                  <a:pt x="82561" y="270784"/>
                </a:lnTo>
                <a:lnTo>
                  <a:pt x="40034" y="274872"/>
                </a:lnTo>
                <a:lnTo>
                  <a:pt x="292399" y="274872"/>
                </a:lnTo>
                <a:lnTo>
                  <a:pt x="370732" y="231094"/>
                </a:lnTo>
                <a:lnTo>
                  <a:pt x="414484" y="198131"/>
                </a:lnTo>
                <a:lnTo>
                  <a:pt x="451431" y="163400"/>
                </a:lnTo>
                <a:lnTo>
                  <a:pt x="480821" y="127952"/>
                </a:lnTo>
                <a:lnTo>
                  <a:pt x="501901" y="92837"/>
                </a:lnTo>
                <a:lnTo>
                  <a:pt x="516116" y="27810"/>
                </a:lnTo>
                <a:lnTo>
                  <a:pt x="5077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472684" y="2540254"/>
            <a:ext cx="535940" cy="287655"/>
          </a:xfrm>
          <a:custGeom>
            <a:avLst/>
            <a:gdLst/>
            <a:ahLst/>
            <a:cxnLst/>
            <a:rect l="l" t="t" r="r" b="b"/>
            <a:pathLst>
              <a:path w="535939" h="287655">
                <a:moveTo>
                  <a:pt x="0" y="229488"/>
                </a:moveTo>
                <a:lnTo>
                  <a:pt x="16686" y="253249"/>
                </a:lnTo>
                <a:lnTo>
                  <a:pt x="42644" y="270867"/>
                </a:lnTo>
                <a:lnTo>
                  <a:pt x="76585" y="282281"/>
                </a:lnTo>
                <a:lnTo>
                  <a:pt x="117220" y="287432"/>
                </a:lnTo>
                <a:lnTo>
                  <a:pt x="163261" y="286261"/>
                </a:lnTo>
                <a:lnTo>
                  <a:pt x="213419" y="278709"/>
                </a:lnTo>
                <a:lnTo>
                  <a:pt x="266404" y="264715"/>
                </a:lnTo>
                <a:lnTo>
                  <a:pt x="320928" y="244221"/>
                </a:lnTo>
                <a:lnTo>
                  <a:pt x="342205" y="233723"/>
                </a:lnTo>
                <a:lnTo>
                  <a:pt x="39831" y="233723"/>
                </a:lnTo>
                <a:lnTo>
                  <a:pt x="0" y="229488"/>
                </a:lnTo>
                <a:close/>
              </a:path>
              <a:path w="535939" h="287655">
                <a:moveTo>
                  <a:pt x="529463" y="0"/>
                </a:moveTo>
                <a:lnTo>
                  <a:pt x="505793" y="31321"/>
                </a:lnTo>
                <a:lnTo>
                  <a:pt x="476123" y="62357"/>
                </a:lnTo>
                <a:lnTo>
                  <a:pt x="440447" y="93105"/>
                </a:lnTo>
                <a:lnTo>
                  <a:pt x="401038" y="121518"/>
                </a:lnTo>
                <a:lnTo>
                  <a:pt x="358632" y="147335"/>
                </a:lnTo>
                <a:lnTo>
                  <a:pt x="313967" y="170300"/>
                </a:lnTo>
                <a:lnTo>
                  <a:pt x="267781" y="190154"/>
                </a:lnTo>
                <a:lnTo>
                  <a:pt x="220810" y="206639"/>
                </a:lnTo>
                <a:lnTo>
                  <a:pt x="173792" y="219496"/>
                </a:lnTo>
                <a:lnTo>
                  <a:pt x="127465" y="228468"/>
                </a:lnTo>
                <a:lnTo>
                  <a:pt x="82566" y="233296"/>
                </a:lnTo>
                <a:lnTo>
                  <a:pt x="39831" y="233723"/>
                </a:lnTo>
                <a:lnTo>
                  <a:pt x="342205" y="233723"/>
                </a:lnTo>
                <a:lnTo>
                  <a:pt x="419538" y="189380"/>
                </a:lnTo>
                <a:lnTo>
                  <a:pt x="459319" y="157951"/>
                </a:lnTo>
                <a:lnTo>
                  <a:pt x="491632" y="125158"/>
                </a:lnTo>
                <a:lnTo>
                  <a:pt x="515642" y="91984"/>
                </a:lnTo>
                <a:lnTo>
                  <a:pt x="535395" y="28423"/>
                </a:lnTo>
                <a:lnTo>
                  <a:pt x="5294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407533" y="2605151"/>
            <a:ext cx="560070" cy="226695"/>
          </a:xfrm>
          <a:custGeom>
            <a:avLst/>
            <a:gdLst/>
            <a:ahLst/>
            <a:cxnLst/>
            <a:rect l="l" t="t" r="r" b="b"/>
            <a:pathLst>
              <a:path w="560070" h="226694">
                <a:moveTo>
                  <a:pt x="0" y="145034"/>
                </a:moveTo>
                <a:lnTo>
                  <a:pt x="35744" y="192524"/>
                </a:lnTo>
                <a:lnTo>
                  <a:pt x="106886" y="220440"/>
                </a:lnTo>
                <a:lnTo>
                  <a:pt x="152564" y="226403"/>
                </a:lnTo>
                <a:lnTo>
                  <a:pt x="203293" y="226687"/>
                </a:lnTo>
                <a:lnTo>
                  <a:pt x="257804" y="221029"/>
                </a:lnTo>
                <a:lnTo>
                  <a:pt x="314832" y="209169"/>
                </a:lnTo>
                <a:lnTo>
                  <a:pt x="370378" y="191789"/>
                </a:lnTo>
                <a:lnTo>
                  <a:pt x="420725" y="170217"/>
                </a:lnTo>
                <a:lnTo>
                  <a:pt x="432232" y="163724"/>
                </a:lnTo>
                <a:lnTo>
                  <a:pt x="126086" y="163724"/>
                </a:lnTo>
                <a:lnTo>
                  <a:pt x="80981" y="161559"/>
                </a:lnTo>
                <a:lnTo>
                  <a:pt x="38696" y="155376"/>
                </a:lnTo>
                <a:lnTo>
                  <a:pt x="0" y="145034"/>
                </a:lnTo>
                <a:close/>
              </a:path>
              <a:path w="560070" h="226694">
                <a:moveTo>
                  <a:pt x="558545" y="0"/>
                </a:moveTo>
                <a:lnTo>
                  <a:pt x="530320" y="27304"/>
                </a:lnTo>
                <a:lnTo>
                  <a:pt x="496188" y="53466"/>
                </a:lnTo>
                <a:lnTo>
                  <a:pt x="456201" y="78327"/>
                </a:lnTo>
                <a:lnTo>
                  <a:pt x="412884" y="100307"/>
                </a:lnTo>
                <a:lnTo>
                  <a:pt x="367004" y="119263"/>
                </a:lnTo>
                <a:lnTo>
                  <a:pt x="319331" y="135054"/>
                </a:lnTo>
                <a:lnTo>
                  <a:pt x="270634" y="147538"/>
                </a:lnTo>
                <a:lnTo>
                  <a:pt x="221681" y="156572"/>
                </a:lnTo>
                <a:lnTo>
                  <a:pt x="173242" y="162015"/>
                </a:lnTo>
                <a:lnTo>
                  <a:pt x="126086" y="163724"/>
                </a:lnTo>
                <a:lnTo>
                  <a:pt x="432232" y="163724"/>
                </a:lnTo>
                <a:lnTo>
                  <a:pt x="501888" y="117871"/>
                </a:lnTo>
                <a:lnTo>
                  <a:pt x="530736" y="88785"/>
                </a:lnTo>
                <a:lnTo>
                  <a:pt x="560049" y="29005"/>
                </a:lnTo>
                <a:lnTo>
                  <a:pt x="558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860160" y="2231135"/>
            <a:ext cx="265430" cy="464820"/>
          </a:xfrm>
          <a:custGeom>
            <a:avLst/>
            <a:gdLst/>
            <a:ahLst/>
            <a:cxnLst/>
            <a:rect l="l" t="t" r="r" b="b"/>
            <a:pathLst>
              <a:path w="265429" h="464819">
                <a:moveTo>
                  <a:pt x="218693" y="0"/>
                </a:moveTo>
                <a:lnTo>
                  <a:pt x="220382" y="16847"/>
                </a:lnTo>
                <a:lnTo>
                  <a:pt x="221059" y="34575"/>
                </a:lnTo>
                <a:lnTo>
                  <a:pt x="220712" y="53113"/>
                </a:lnTo>
                <a:lnTo>
                  <a:pt x="211581" y="122641"/>
                </a:lnTo>
                <a:lnTo>
                  <a:pt x="198234" y="173606"/>
                </a:lnTo>
                <a:lnTo>
                  <a:pt x="179907" y="224192"/>
                </a:lnTo>
                <a:lnTo>
                  <a:pt x="157217" y="273308"/>
                </a:lnTo>
                <a:lnTo>
                  <a:pt x="130785" y="319861"/>
                </a:lnTo>
                <a:lnTo>
                  <a:pt x="101228" y="362759"/>
                </a:lnTo>
                <a:lnTo>
                  <a:pt x="69166" y="400909"/>
                </a:lnTo>
                <a:lnTo>
                  <a:pt x="35216" y="433219"/>
                </a:lnTo>
                <a:lnTo>
                  <a:pt x="0" y="458597"/>
                </a:lnTo>
                <a:lnTo>
                  <a:pt x="28617" y="464822"/>
                </a:lnTo>
                <a:lnTo>
                  <a:pt x="94199" y="441708"/>
                </a:lnTo>
                <a:lnTo>
                  <a:pt x="128501" y="414483"/>
                </a:lnTo>
                <a:lnTo>
                  <a:pt x="162037" y="378224"/>
                </a:lnTo>
                <a:lnTo>
                  <a:pt x="193476" y="333986"/>
                </a:lnTo>
                <a:lnTo>
                  <a:pt x="221487" y="282828"/>
                </a:lnTo>
                <a:lnTo>
                  <a:pt x="243620" y="228846"/>
                </a:lnTo>
                <a:lnTo>
                  <a:pt x="258212" y="176561"/>
                </a:lnTo>
                <a:lnTo>
                  <a:pt x="265281" y="127670"/>
                </a:lnTo>
                <a:lnTo>
                  <a:pt x="264847" y="83872"/>
                </a:lnTo>
                <a:lnTo>
                  <a:pt x="256925" y="46862"/>
                </a:lnTo>
                <a:lnTo>
                  <a:pt x="241535" y="18339"/>
                </a:lnTo>
                <a:lnTo>
                  <a:pt x="2186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77738" y="2325751"/>
            <a:ext cx="346710" cy="408940"/>
          </a:xfrm>
          <a:custGeom>
            <a:avLst/>
            <a:gdLst/>
            <a:ahLst/>
            <a:cxnLst/>
            <a:rect l="l" t="t" r="r" b="b"/>
            <a:pathLst>
              <a:path w="346710" h="408939">
                <a:moveTo>
                  <a:pt x="320294" y="0"/>
                </a:moveTo>
                <a:lnTo>
                  <a:pt x="309846" y="52042"/>
                </a:lnTo>
                <a:lnTo>
                  <a:pt x="284689" y="117510"/>
                </a:lnTo>
                <a:lnTo>
                  <a:pt x="259727" y="163913"/>
                </a:lnTo>
                <a:lnTo>
                  <a:pt x="230011" y="208778"/>
                </a:lnTo>
                <a:lnTo>
                  <a:pt x="196400" y="251191"/>
                </a:lnTo>
                <a:lnTo>
                  <a:pt x="159754" y="290237"/>
                </a:lnTo>
                <a:lnTo>
                  <a:pt x="120932" y="325002"/>
                </a:lnTo>
                <a:lnTo>
                  <a:pt x="80792" y="354571"/>
                </a:lnTo>
                <a:lnTo>
                  <a:pt x="40195" y="378029"/>
                </a:lnTo>
                <a:lnTo>
                  <a:pt x="0" y="394462"/>
                </a:lnTo>
                <a:lnTo>
                  <a:pt x="26367" y="407191"/>
                </a:lnTo>
                <a:lnTo>
                  <a:pt x="95542" y="400113"/>
                </a:lnTo>
                <a:lnTo>
                  <a:pt x="135279" y="381719"/>
                </a:lnTo>
                <a:lnTo>
                  <a:pt x="176402" y="354362"/>
                </a:lnTo>
                <a:lnTo>
                  <a:pt x="217376" y="318750"/>
                </a:lnTo>
                <a:lnTo>
                  <a:pt x="256666" y="275589"/>
                </a:lnTo>
                <a:lnTo>
                  <a:pt x="290815" y="228286"/>
                </a:lnTo>
                <a:lnTo>
                  <a:pt x="317244" y="180876"/>
                </a:lnTo>
                <a:lnTo>
                  <a:pt x="335573" y="135010"/>
                </a:lnTo>
                <a:lnTo>
                  <a:pt x="345423" y="92339"/>
                </a:lnTo>
                <a:lnTo>
                  <a:pt x="346413" y="54513"/>
                </a:lnTo>
                <a:lnTo>
                  <a:pt x="338163" y="23183"/>
                </a:lnTo>
                <a:lnTo>
                  <a:pt x="3202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32271" y="2372486"/>
            <a:ext cx="374650" cy="385445"/>
          </a:xfrm>
          <a:custGeom>
            <a:avLst/>
            <a:gdLst/>
            <a:ahLst/>
            <a:cxnLst/>
            <a:rect l="l" t="t" r="r" b="b"/>
            <a:pathLst>
              <a:path w="374650" h="385444">
                <a:moveTo>
                  <a:pt x="352932" y="0"/>
                </a:moveTo>
                <a:lnTo>
                  <a:pt x="338109" y="50988"/>
                </a:lnTo>
                <a:lnTo>
                  <a:pt x="307392" y="114028"/>
                </a:lnTo>
                <a:lnTo>
                  <a:pt x="278538" y="158120"/>
                </a:lnTo>
                <a:lnTo>
                  <a:pt x="245081" y="200269"/>
                </a:lnTo>
                <a:lnTo>
                  <a:pt x="207955" y="239637"/>
                </a:lnTo>
                <a:lnTo>
                  <a:pt x="168095" y="275384"/>
                </a:lnTo>
                <a:lnTo>
                  <a:pt x="126435" y="306672"/>
                </a:lnTo>
                <a:lnTo>
                  <a:pt x="83909" y="332659"/>
                </a:lnTo>
                <a:lnTo>
                  <a:pt x="41453" y="352508"/>
                </a:lnTo>
                <a:lnTo>
                  <a:pt x="0" y="365378"/>
                </a:lnTo>
                <a:lnTo>
                  <a:pt x="25127" y="380380"/>
                </a:lnTo>
                <a:lnTo>
                  <a:pt x="94635" y="379328"/>
                </a:lnTo>
                <a:lnTo>
                  <a:pt x="135812" y="364425"/>
                </a:lnTo>
                <a:lnTo>
                  <a:pt x="179134" y="340704"/>
                </a:lnTo>
                <a:lnTo>
                  <a:pt x="223001" y="308742"/>
                </a:lnTo>
                <a:lnTo>
                  <a:pt x="265811" y="269113"/>
                </a:lnTo>
                <a:lnTo>
                  <a:pt x="303940" y="224921"/>
                </a:lnTo>
                <a:lnTo>
                  <a:pt x="334379" y="179960"/>
                </a:lnTo>
                <a:lnTo>
                  <a:pt x="356604" y="135841"/>
                </a:lnTo>
                <a:lnTo>
                  <a:pt x="370094" y="94175"/>
                </a:lnTo>
                <a:lnTo>
                  <a:pt x="374327" y="56573"/>
                </a:lnTo>
                <a:lnTo>
                  <a:pt x="368780" y="24644"/>
                </a:lnTo>
                <a:lnTo>
                  <a:pt x="3529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672709" y="2437510"/>
            <a:ext cx="417830" cy="335280"/>
          </a:xfrm>
          <a:custGeom>
            <a:avLst/>
            <a:gdLst/>
            <a:ahLst/>
            <a:cxnLst/>
            <a:rect l="l" t="t" r="r" b="b"/>
            <a:pathLst>
              <a:path w="417829" h="335280">
                <a:moveTo>
                  <a:pt x="405129" y="0"/>
                </a:moveTo>
                <a:lnTo>
                  <a:pt x="382555" y="48023"/>
                </a:lnTo>
                <a:lnTo>
                  <a:pt x="342482" y="105559"/>
                </a:lnTo>
                <a:lnTo>
                  <a:pt x="307175" y="144665"/>
                </a:lnTo>
                <a:lnTo>
                  <a:pt x="267621" y="181149"/>
                </a:lnTo>
                <a:lnTo>
                  <a:pt x="224872" y="214324"/>
                </a:lnTo>
                <a:lnTo>
                  <a:pt x="179979" y="243505"/>
                </a:lnTo>
                <a:lnTo>
                  <a:pt x="133994" y="268007"/>
                </a:lnTo>
                <a:lnTo>
                  <a:pt x="87968" y="287144"/>
                </a:lnTo>
                <a:lnTo>
                  <a:pt x="42953" y="300229"/>
                </a:lnTo>
                <a:lnTo>
                  <a:pt x="0" y="306577"/>
                </a:lnTo>
                <a:lnTo>
                  <a:pt x="22543" y="325254"/>
                </a:lnTo>
                <a:lnTo>
                  <a:pt x="53572" y="334582"/>
                </a:lnTo>
                <a:lnTo>
                  <a:pt x="91420" y="334886"/>
                </a:lnTo>
                <a:lnTo>
                  <a:pt x="134417" y="326490"/>
                </a:lnTo>
                <a:lnTo>
                  <a:pt x="180895" y="309719"/>
                </a:lnTo>
                <a:lnTo>
                  <a:pt x="229186" y="284897"/>
                </a:lnTo>
                <a:lnTo>
                  <a:pt x="277621" y="252349"/>
                </a:lnTo>
                <a:lnTo>
                  <a:pt x="322047" y="214610"/>
                </a:lnTo>
                <a:lnTo>
                  <a:pt x="359017" y="174906"/>
                </a:lnTo>
                <a:lnTo>
                  <a:pt x="387763" y="134753"/>
                </a:lnTo>
                <a:lnTo>
                  <a:pt x="407515" y="95668"/>
                </a:lnTo>
                <a:lnTo>
                  <a:pt x="417507" y="59170"/>
                </a:lnTo>
                <a:lnTo>
                  <a:pt x="416968" y="26774"/>
                </a:lnTo>
                <a:lnTo>
                  <a:pt x="4051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710428" y="2399538"/>
            <a:ext cx="395605" cy="363220"/>
          </a:xfrm>
          <a:custGeom>
            <a:avLst/>
            <a:gdLst/>
            <a:ahLst/>
            <a:cxnLst/>
            <a:rect l="l" t="t" r="r" b="b"/>
            <a:pathLst>
              <a:path w="395604" h="363219">
                <a:moveTo>
                  <a:pt x="377825" y="0"/>
                </a:moveTo>
                <a:lnTo>
                  <a:pt x="359537" y="49881"/>
                </a:lnTo>
                <a:lnTo>
                  <a:pt x="324513" y="110671"/>
                </a:lnTo>
                <a:lnTo>
                  <a:pt x="292663" y="152655"/>
                </a:lnTo>
                <a:lnTo>
                  <a:pt x="256342" y="192362"/>
                </a:lnTo>
                <a:lnTo>
                  <a:pt x="216540" y="229021"/>
                </a:lnTo>
                <a:lnTo>
                  <a:pt x="174248" y="261861"/>
                </a:lnTo>
                <a:lnTo>
                  <a:pt x="130457" y="290110"/>
                </a:lnTo>
                <a:lnTo>
                  <a:pt x="86158" y="312996"/>
                </a:lnTo>
                <a:lnTo>
                  <a:pt x="42342" y="329750"/>
                </a:lnTo>
                <a:lnTo>
                  <a:pt x="0" y="339598"/>
                </a:lnTo>
                <a:lnTo>
                  <a:pt x="24134" y="356422"/>
                </a:lnTo>
                <a:lnTo>
                  <a:pt x="55931" y="363220"/>
                </a:lnTo>
                <a:lnTo>
                  <a:pt x="93752" y="360448"/>
                </a:lnTo>
                <a:lnTo>
                  <a:pt x="135961" y="348561"/>
                </a:lnTo>
                <a:lnTo>
                  <a:pt x="180921" y="328014"/>
                </a:lnTo>
                <a:lnTo>
                  <a:pt x="226993" y="299263"/>
                </a:lnTo>
                <a:lnTo>
                  <a:pt x="272542" y="262763"/>
                </a:lnTo>
                <a:lnTo>
                  <a:pt x="313630" y="221388"/>
                </a:lnTo>
                <a:lnTo>
                  <a:pt x="347098" y="178657"/>
                </a:lnTo>
                <a:lnTo>
                  <a:pt x="372309" y="136149"/>
                </a:lnTo>
                <a:lnTo>
                  <a:pt x="388625" y="95448"/>
                </a:lnTo>
                <a:lnTo>
                  <a:pt x="395408" y="58135"/>
                </a:lnTo>
                <a:lnTo>
                  <a:pt x="392020" y="25792"/>
                </a:lnTo>
                <a:lnTo>
                  <a:pt x="3778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22671" y="2494152"/>
            <a:ext cx="455295" cy="283845"/>
          </a:xfrm>
          <a:custGeom>
            <a:avLst/>
            <a:gdLst/>
            <a:ahLst/>
            <a:cxnLst/>
            <a:rect l="l" t="t" r="r" b="b"/>
            <a:pathLst>
              <a:path w="455295" h="283844">
                <a:moveTo>
                  <a:pt x="0" y="241426"/>
                </a:moveTo>
                <a:lnTo>
                  <a:pt x="19552" y="263449"/>
                </a:lnTo>
                <a:lnTo>
                  <a:pt x="48887" y="277523"/>
                </a:lnTo>
                <a:lnTo>
                  <a:pt x="86308" y="283708"/>
                </a:lnTo>
                <a:lnTo>
                  <a:pt x="130120" y="282064"/>
                </a:lnTo>
                <a:lnTo>
                  <a:pt x="178629" y="272651"/>
                </a:lnTo>
                <a:lnTo>
                  <a:pt x="230139" y="255529"/>
                </a:lnTo>
                <a:lnTo>
                  <a:pt x="259414" y="241799"/>
                </a:lnTo>
                <a:lnTo>
                  <a:pt x="43478" y="241799"/>
                </a:lnTo>
                <a:lnTo>
                  <a:pt x="0" y="241426"/>
                </a:lnTo>
                <a:close/>
              </a:path>
              <a:path w="455295" h="283844">
                <a:moveTo>
                  <a:pt x="447166" y="0"/>
                </a:moveTo>
                <a:lnTo>
                  <a:pt x="417627" y="44255"/>
                </a:lnTo>
                <a:lnTo>
                  <a:pt x="369252" y="95145"/>
                </a:lnTo>
                <a:lnTo>
                  <a:pt x="328422" y="128481"/>
                </a:lnTo>
                <a:lnTo>
                  <a:pt x="283783" y="158547"/>
                </a:lnTo>
                <a:lnTo>
                  <a:pt x="236479" y="184829"/>
                </a:lnTo>
                <a:lnTo>
                  <a:pt x="187653" y="206810"/>
                </a:lnTo>
                <a:lnTo>
                  <a:pt x="138448" y="223976"/>
                </a:lnTo>
                <a:lnTo>
                  <a:pt x="90009" y="235811"/>
                </a:lnTo>
                <a:lnTo>
                  <a:pt x="43478" y="241799"/>
                </a:lnTo>
                <a:lnTo>
                  <a:pt x="259414" y="241799"/>
                </a:lnTo>
                <a:lnTo>
                  <a:pt x="332640" y="200174"/>
                </a:lnTo>
                <a:lnTo>
                  <a:pt x="375226" y="166494"/>
                </a:lnTo>
                <a:lnTo>
                  <a:pt x="409729" y="131098"/>
                </a:lnTo>
                <a:lnTo>
                  <a:pt x="435160" y="95368"/>
                </a:lnTo>
                <a:lnTo>
                  <a:pt x="454865" y="28438"/>
                </a:lnTo>
                <a:lnTo>
                  <a:pt x="4471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573903" y="2532379"/>
            <a:ext cx="471805" cy="254000"/>
          </a:xfrm>
          <a:custGeom>
            <a:avLst/>
            <a:gdLst/>
            <a:ahLst/>
            <a:cxnLst/>
            <a:rect l="l" t="t" r="r" b="b"/>
            <a:pathLst>
              <a:path w="471804" h="254000">
                <a:moveTo>
                  <a:pt x="0" y="202057"/>
                </a:moveTo>
                <a:lnTo>
                  <a:pt x="17545" y="225696"/>
                </a:lnTo>
                <a:lnTo>
                  <a:pt x="45537" y="242243"/>
                </a:lnTo>
                <a:lnTo>
                  <a:pt x="82276" y="251615"/>
                </a:lnTo>
                <a:lnTo>
                  <a:pt x="126061" y="253735"/>
                </a:lnTo>
                <a:lnTo>
                  <a:pt x="175193" y="248521"/>
                </a:lnTo>
                <a:lnTo>
                  <a:pt x="227973" y="235893"/>
                </a:lnTo>
                <a:lnTo>
                  <a:pt x="282701" y="215773"/>
                </a:lnTo>
                <a:lnTo>
                  <a:pt x="301815" y="206161"/>
                </a:lnTo>
                <a:lnTo>
                  <a:pt x="43255" y="206161"/>
                </a:lnTo>
                <a:lnTo>
                  <a:pt x="0" y="202057"/>
                </a:lnTo>
                <a:close/>
              </a:path>
              <a:path w="471804" h="254000">
                <a:moveTo>
                  <a:pt x="466089" y="0"/>
                </a:moveTo>
                <a:lnTo>
                  <a:pt x="432889" y="41487"/>
                </a:lnTo>
                <a:lnTo>
                  <a:pt x="380374" y="88002"/>
                </a:lnTo>
                <a:lnTo>
                  <a:pt x="336826" y="117716"/>
                </a:lnTo>
                <a:lnTo>
                  <a:pt x="289766" y="143843"/>
                </a:lnTo>
                <a:lnTo>
                  <a:pt x="240381" y="165970"/>
                </a:lnTo>
                <a:lnTo>
                  <a:pt x="189852" y="183679"/>
                </a:lnTo>
                <a:lnTo>
                  <a:pt x="139366" y="196558"/>
                </a:lnTo>
                <a:lnTo>
                  <a:pt x="90105" y="204190"/>
                </a:lnTo>
                <a:lnTo>
                  <a:pt x="43255" y="206161"/>
                </a:lnTo>
                <a:lnTo>
                  <a:pt x="301815" y="206161"/>
                </a:lnTo>
                <a:lnTo>
                  <a:pt x="380174" y="159644"/>
                </a:lnTo>
                <a:lnTo>
                  <a:pt x="417582" y="127342"/>
                </a:lnTo>
                <a:lnTo>
                  <a:pt x="445975" y="93935"/>
                </a:lnTo>
                <a:lnTo>
                  <a:pt x="471326" y="28974"/>
                </a:lnTo>
                <a:lnTo>
                  <a:pt x="466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516498" y="2589402"/>
            <a:ext cx="492759" cy="201295"/>
          </a:xfrm>
          <a:custGeom>
            <a:avLst/>
            <a:gdLst/>
            <a:ahLst/>
            <a:cxnLst/>
            <a:rect l="l" t="t" r="r" b="b"/>
            <a:pathLst>
              <a:path w="492760" h="201294">
                <a:moveTo>
                  <a:pt x="0" y="127762"/>
                </a:moveTo>
                <a:lnTo>
                  <a:pt x="38848" y="174481"/>
                </a:lnTo>
                <a:lnTo>
                  <a:pt x="116681" y="198274"/>
                </a:lnTo>
                <a:lnTo>
                  <a:pt x="166051" y="200707"/>
                </a:lnTo>
                <a:lnTo>
                  <a:pt x="220169" y="196368"/>
                </a:lnTo>
                <a:lnTo>
                  <a:pt x="277367" y="184912"/>
                </a:lnTo>
                <a:lnTo>
                  <a:pt x="332903" y="167064"/>
                </a:lnTo>
                <a:lnTo>
                  <a:pt x="382283" y="144520"/>
                </a:lnTo>
                <a:lnTo>
                  <a:pt x="383339" y="143862"/>
                </a:lnTo>
                <a:lnTo>
                  <a:pt x="138641" y="143862"/>
                </a:lnTo>
                <a:lnTo>
                  <a:pt x="88771" y="143796"/>
                </a:lnTo>
                <a:lnTo>
                  <a:pt x="42146" y="138505"/>
                </a:lnTo>
                <a:lnTo>
                  <a:pt x="0" y="127762"/>
                </a:lnTo>
                <a:close/>
              </a:path>
              <a:path w="492760" h="201294">
                <a:moveTo>
                  <a:pt x="491743" y="0"/>
                </a:moveTo>
                <a:lnTo>
                  <a:pt x="452596" y="35950"/>
                </a:lnTo>
                <a:lnTo>
                  <a:pt x="393543" y="73842"/>
                </a:lnTo>
                <a:lnTo>
                  <a:pt x="345930" y="96464"/>
                </a:lnTo>
                <a:lnTo>
                  <a:pt x="295402" y="115005"/>
                </a:lnTo>
                <a:lnTo>
                  <a:pt x="243189" y="129238"/>
                </a:lnTo>
                <a:lnTo>
                  <a:pt x="190525" y="138933"/>
                </a:lnTo>
                <a:lnTo>
                  <a:pt x="138641" y="143862"/>
                </a:lnTo>
                <a:lnTo>
                  <a:pt x="383339" y="143862"/>
                </a:lnTo>
                <a:lnTo>
                  <a:pt x="424218" y="118384"/>
                </a:lnTo>
                <a:lnTo>
                  <a:pt x="457420" y="89760"/>
                </a:lnTo>
                <a:lnTo>
                  <a:pt x="480601" y="59752"/>
                </a:lnTo>
                <a:lnTo>
                  <a:pt x="492471" y="29463"/>
                </a:lnTo>
                <a:lnTo>
                  <a:pt x="4917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5128386" y="2116582"/>
            <a:ext cx="10509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黑体"/>
                <a:cs typeface="黑体"/>
              </a:rPr>
              <a:t>外部输出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609847" y="3536060"/>
            <a:ext cx="1558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黑体"/>
                <a:cs typeface="黑体"/>
              </a:rPr>
              <a:t>功能计数项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32663"/>
            <a:ext cx="70231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外部输入(External</a:t>
            </a:r>
            <a:r>
              <a:rPr spc="-25" dirty="0"/>
              <a:t> </a:t>
            </a:r>
            <a:r>
              <a:rPr spc="-5" dirty="0"/>
              <a:t>Inputs： </a:t>
            </a:r>
            <a:r>
              <a:rPr dirty="0"/>
              <a:t>EI)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4621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7531" y="3357363"/>
            <a:ext cx="6192229" cy="290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965" y="1629917"/>
            <a:ext cx="8964295" cy="13843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0170" marR="340360" algn="just">
              <a:lnSpc>
                <a:spcPct val="100000"/>
              </a:lnSpc>
              <a:spcBef>
                <a:spcPts val="130"/>
              </a:spcBef>
            </a:pPr>
            <a:r>
              <a:rPr sz="2800" spc="-10" dirty="0">
                <a:latin typeface="华文新魏"/>
                <a:cs typeface="华文新魏"/>
              </a:rPr>
              <a:t>给软件提供面向应用的数据的项（</a:t>
            </a:r>
            <a:r>
              <a:rPr sz="2800" dirty="0">
                <a:latin typeface="华文新魏"/>
                <a:cs typeface="华文新魏"/>
              </a:rPr>
              <a:t>如</a:t>
            </a:r>
            <a:r>
              <a:rPr sz="2800" spc="-10" dirty="0">
                <a:latin typeface="华文新魏"/>
                <a:cs typeface="华文新魏"/>
              </a:rPr>
              <a:t>屏幕</a:t>
            </a:r>
            <a:r>
              <a:rPr sz="2800" dirty="0">
                <a:latin typeface="华文新魏"/>
                <a:cs typeface="华文新魏"/>
              </a:rPr>
              <a:t>、</a:t>
            </a:r>
            <a:r>
              <a:rPr sz="2800" spc="-10" dirty="0">
                <a:latin typeface="华文新魏"/>
                <a:cs typeface="华文新魏"/>
              </a:rPr>
              <a:t>表单</a:t>
            </a:r>
            <a:r>
              <a:rPr sz="2800" dirty="0">
                <a:latin typeface="华文新魏"/>
                <a:cs typeface="华文新魏"/>
              </a:rPr>
              <a:t>、</a:t>
            </a:r>
            <a:r>
              <a:rPr sz="2800" spc="-10" dirty="0">
                <a:latin typeface="华文新魏"/>
                <a:cs typeface="华文新魏"/>
              </a:rPr>
              <a:t>对话 </a:t>
            </a:r>
            <a:r>
              <a:rPr sz="2800" spc="-5" dirty="0">
                <a:latin typeface="华文新魏"/>
                <a:cs typeface="华文新魏"/>
              </a:rPr>
              <a:t>框、控件，文件等）；在这个过程</a:t>
            </a:r>
            <a:r>
              <a:rPr sz="2800" dirty="0">
                <a:latin typeface="华文新魏"/>
                <a:cs typeface="华文新魏"/>
              </a:rPr>
              <a:t>中</a:t>
            </a:r>
            <a:r>
              <a:rPr sz="2800" spc="-5" dirty="0">
                <a:latin typeface="华文新魏"/>
                <a:cs typeface="华文新魏"/>
              </a:rPr>
              <a:t>，数</a:t>
            </a:r>
            <a:r>
              <a:rPr sz="2800" dirty="0">
                <a:latin typeface="华文新魏"/>
                <a:cs typeface="华文新魏"/>
              </a:rPr>
              <a:t>据</a:t>
            </a:r>
            <a:r>
              <a:rPr sz="2800" spc="-5" dirty="0">
                <a:latin typeface="华文新魏"/>
                <a:cs typeface="华文新魏"/>
              </a:rPr>
              <a:t>穿越</a:t>
            </a:r>
            <a:r>
              <a:rPr sz="2800" dirty="0">
                <a:latin typeface="华文新魏"/>
                <a:cs typeface="华文新魏"/>
              </a:rPr>
              <a:t>外</a:t>
            </a:r>
            <a:r>
              <a:rPr sz="2800" spc="-5" dirty="0">
                <a:latin typeface="华文新魏"/>
                <a:cs typeface="华文新魏"/>
              </a:rPr>
              <a:t>部边 界进入到系统内部。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8294" y="3861053"/>
            <a:ext cx="4032885" cy="1009015"/>
          </a:xfrm>
          <a:custGeom>
            <a:avLst/>
            <a:gdLst/>
            <a:ahLst/>
            <a:cxnLst/>
            <a:rect l="l" t="t" r="r" b="b"/>
            <a:pathLst>
              <a:path w="4032885" h="1009014">
                <a:moveTo>
                  <a:pt x="3528059" y="0"/>
                </a:moveTo>
                <a:lnTo>
                  <a:pt x="3528059" y="252222"/>
                </a:lnTo>
                <a:lnTo>
                  <a:pt x="0" y="252222"/>
                </a:lnTo>
                <a:lnTo>
                  <a:pt x="0" y="756666"/>
                </a:lnTo>
                <a:lnTo>
                  <a:pt x="3528059" y="756666"/>
                </a:lnTo>
                <a:lnTo>
                  <a:pt x="3528059" y="1008888"/>
                </a:lnTo>
                <a:lnTo>
                  <a:pt x="4032504" y="504444"/>
                </a:lnTo>
                <a:lnTo>
                  <a:pt x="352805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8294" y="3861053"/>
            <a:ext cx="4032885" cy="1009015"/>
          </a:xfrm>
          <a:custGeom>
            <a:avLst/>
            <a:gdLst/>
            <a:ahLst/>
            <a:cxnLst/>
            <a:rect l="l" t="t" r="r" b="b"/>
            <a:pathLst>
              <a:path w="4032885" h="1009014">
                <a:moveTo>
                  <a:pt x="0" y="252222"/>
                </a:moveTo>
                <a:lnTo>
                  <a:pt x="3528059" y="252222"/>
                </a:lnTo>
                <a:lnTo>
                  <a:pt x="3528059" y="0"/>
                </a:lnTo>
                <a:lnTo>
                  <a:pt x="4032504" y="504444"/>
                </a:lnTo>
                <a:lnTo>
                  <a:pt x="3528059" y="1008888"/>
                </a:lnTo>
                <a:lnTo>
                  <a:pt x="3528059" y="756666"/>
                </a:lnTo>
                <a:lnTo>
                  <a:pt x="0" y="756666"/>
                </a:lnTo>
                <a:lnTo>
                  <a:pt x="0" y="252222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77205" y="3772661"/>
            <a:ext cx="1656714" cy="1655445"/>
          </a:xfrm>
          <a:custGeom>
            <a:avLst/>
            <a:gdLst/>
            <a:ahLst/>
            <a:cxnLst/>
            <a:rect l="l" t="t" r="r" b="b"/>
            <a:pathLst>
              <a:path w="1656715" h="1655445">
                <a:moveTo>
                  <a:pt x="1380490" y="0"/>
                </a:moveTo>
                <a:lnTo>
                  <a:pt x="276098" y="0"/>
                </a:lnTo>
                <a:lnTo>
                  <a:pt x="253447" y="2742"/>
                </a:lnTo>
                <a:lnTo>
                  <a:pt x="209734" y="24048"/>
                </a:lnTo>
                <a:lnTo>
                  <a:pt x="168610" y="65025"/>
                </a:lnTo>
                <a:lnTo>
                  <a:pt x="130642" y="123973"/>
                </a:lnTo>
                <a:lnTo>
                  <a:pt x="113019" y="159654"/>
                </a:lnTo>
                <a:lnTo>
                  <a:pt x="96399" y="199188"/>
                </a:lnTo>
                <a:lnTo>
                  <a:pt x="80851" y="242363"/>
                </a:lnTo>
                <a:lnTo>
                  <a:pt x="66447" y="288966"/>
                </a:lnTo>
                <a:lnTo>
                  <a:pt x="53258" y="338785"/>
                </a:lnTo>
                <a:lnTo>
                  <a:pt x="41355" y="391605"/>
                </a:lnTo>
                <a:lnTo>
                  <a:pt x="30809" y="447215"/>
                </a:lnTo>
                <a:lnTo>
                  <a:pt x="21691" y="505402"/>
                </a:lnTo>
                <a:lnTo>
                  <a:pt x="14071" y="565952"/>
                </a:lnTo>
                <a:lnTo>
                  <a:pt x="8021" y="628653"/>
                </a:lnTo>
                <a:lnTo>
                  <a:pt x="3612" y="693292"/>
                </a:lnTo>
                <a:lnTo>
                  <a:pt x="914" y="759656"/>
                </a:lnTo>
                <a:lnTo>
                  <a:pt x="0" y="827532"/>
                </a:lnTo>
                <a:lnTo>
                  <a:pt x="914" y="895407"/>
                </a:lnTo>
                <a:lnTo>
                  <a:pt x="3612" y="961771"/>
                </a:lnTo>
                <a:lnTo>
                  <a:pt x="8021" y="1026410"/>
                </a:lnTo>
                <a:lnTo>
                  <a:pt x="14071" y="1089111"/>
                </a:lnTo>
                <a:lnTo>
                  <a:pt x="21691" y="1149661"/>
                </a:lnTo>
                <a:lnTo>
                  <a:pt x="30809" y="1207848"/>
                </a:lnTo>
                <a:lnTo>
                  <a:pt x="41355" y="1263458"/>
                </a:lnTo>
                <a:lnTo>
                  <a:pt x="53258" y="1316278"/>
                </a:lnTo>
                <a:lnTo>
                  <a:pt x="66447" y="1366097"/>
                </a:lnTo>
                <a:lnTo>
                  <a:pt x="80851" y="1412700"/>
                </a:lnTo>
                <a:lnTo>
                  <a:pt x="96399" y="1455875"/>
                </a:lnTo>
                <a:lnTo>
                  <a:pt x="113019" y="1495409"/>
                </a:lnTo>
                <a:lnTo>
                  <a:pt x="130642" y="1531090"/>
                </a:lnTo>
                <a:lnTo>
                  <a:pt x="168610" y="1590038"/>
                </a:lnTo>
                <a:lnTo>
                  <a:pt x="209734" y="1631015"/>
                </a:lnTo>
                <a:lnTo>
                  <a:pt x="253447" y="1652321"/>
                </a:lnTo>
                <a:lnTo>
                  <a:pt x="276098" y="1655064"/>
                </a:lnTo>
                <a:lnTo>
                  <a:pt x="1380490" y="1655064"/>
                </a:lnTo>
                <a:lnTo>
                  <a:pt x="1425284" y="1644234"/>
                </a:lnTo>
                <a:lnTo>
                  <a:pt x="1467774" y="1612879"/>
                </a:lnTo>
                <a:lnTo>
                  <a:pt x="1507391" y="1562703"/>
                </a:lnTo>
                <a:lnTo>
                  <a:pt x="1543568" y="1495409"/>
                </a:lnTo>
                <a:lnTo>
                  <a:pt x="1560188" y="1455875"/>
                </a:lnTo>
                <a:lnTo>
                  <a:pt x="1575736" y="1412700"/>
                </a:lnTo>
                <a:lnTo>
                  <a:pt x="1590140" y="1366097"/>
                </a:lnTo>
                <a:lnTo>
                  <a:pt x="1603329" y="1316278"/>
                </a:lnTo>
                <a:lnTo>
                  <a:pt x="1615232" y="1263458"/>
                </a:lnTo>
                <a:lnTo>
                  <a:pt x="1625778" y="1207848"/>
                </a:lnTo>
                <a:lnTo>
                  <a:pt x="1634896" y="1149661"/>
                </a:lnTo>
                <a:lnTo>
                  <a:pt x="1642516" y="1089111"/>
                </a:lnTo>
                <a:lnTo>
                  <a:pt x="1648566" y="1026410"/>
                </a:lnTo>
                <a:lnTo>
                  <a:pt x="1652975" y="961771"/>
                </a:lnTo>
                <a:lnTo>
                  <a:pt x="1655673" y="895407"/>
                </a:lnTo>
                <a:lnTo>
                  <a:pt x="1656588" y="827532"/>
                </a:lnTo>
                <a:lnTo>
                  <a:pt x="1655673" y="759656"/>
                </a:lnTo>
                <a:lnTo>
                  <a:pt x="1652975" y="693292"/>
                </a:lnTo>
                <a:lnTo>
                  <a:pt x="1648566" y="628653"/>
                </a:lnTo>
                <a:lnTo>
                  <a:pt x="1642516" y="565952"/>
                </a:lnTo>
                <a:lnTo>
                  <a:pt x="1634896" y="505402"/>
                </a:lnTo>
                <a:lnTo>
                  <a:pt x="1625778" y="447215"/>
                </a:lnTo>
                <a:lnTo>
                  <a:pt x="1615232" y="391605"/>
                </a:lnTo>
                <a:lnTo>
                  <a:pt x="1603329" y="338785"/>
                </a:lnTo>
                <a:lnTo>
                  <a:pt x="1590140" y="288966"/>
                </a:lnTo>
                <a:lnTo>
                  <a:pt x="1575736" y="242363"/>
                </a:lnTo>
                <a:lnTo>
                  <a:pt x="1560188" y="199188"/>
                </a:lnTo>
                <a:lnTo>
                  <a:pt x="1543568" y="159654"/>
                </a:lnTo>
                <a:lnTo>
                  <a:pt x="1525945" y="123973"/>
                </a:lnTo>
                <a:lnTo>
                  <a:pt x="1487977" y="65025"/>
                </a:lnTo>
                <a:lnTo>
                  <a:pt x="1446853" y="24048"/>
                </a:lnTo>
                <a:lnTo>
                  <a:pt x="1403140" y="2742"/>
                </a:lnTo>
                <a:lnTo>
                  <a:pt x="138049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81597" y="3772661"/>
            <a:ext cx="276225" cy="1655445"/>
          </a:xfrm>
          <a:custGeom>
            <a:avLst/>
            <a:gdLst/>
            <a:ahLst/>
            <a:cxnLst/>
            <a:rect l="l" t="t" r="r" b="b"/>
            <a:pathLst>
              <a:path w="276225" h="1655445">
                <a:moveTo>
                  <a:pt x="276098" y="1655064"/>
                </a:moveTo>
                <a:lnTo>
                  <a:pt x="231303" y="1644234"/>
                </a:lnTo>
                <a:lnTo>
                  <a:pt x="188813" y="1612879"/>
                </a:lnTo>
                <a:lnTo>
                  <a:pt x="149196" y="1562703"/>
                </a:lnTo>
                <a:lnTo>
                  <a:pt x="113019" y="1495409"/>
                </a:lnTo>
                <a:lnTo>
                  <a:pt x="96399" y="1455875"/>
                </a:lnTo>
                <a:lnTo>
                  <a:pt x="80851" y="1412700"/>
                </a:lnTo>
                <a:lnTo>
                  <a:pt x="66447" y="1366097"/>
                </a:lnTo>
                <a:lnTo>
                  <a:pt x="53258" y="1316278"/>
                </a:lnTo>
                <a:lnTo>
                  <a:pt x="41355" y="1263458"/>
                </a:lnTo>
                <a:lnTo>
                  <a:pt x="30809" y="1207848"/>
                </a:lnTo>
                <a:lnTo>
                  <a:pt x="21691" y="1149661"/>
                </a:lnTo>
                <a:lnTo>
                  <a:pt x="14071" y="1089111"/>
                </a:lnTo>
                <a:lnTo>
                  <a:pt x="8021" y="1026410"/>
                </a:lnTo>
                <a:lnTo>
                  <a:pt x="3612" y="961771"/>
                </a:lnTo>
                <a:lnTo>
                  <a:pt x="914" y="895407"/>
                </a:lnTo>
                <a:lnTo>
                  <a:pt x="0" y="827532"/>
                </a:lnTo>
                <a:lnTo>
                  <a:pt x="914" y="759656"/>
                </a:lnTo>
                <a:lnTo>
                  <a:pt x="3612" y="693292"/>
                </a:lnTo>
                <a:lnTo>
                  <a:pt x="8021" y="628653"/>
                </a:lnTo>
                <a:lnTo>
                  <a:pt x="14071" y="565952"/>
                </a:lnTo>
                <a:lnTo>
                  <a:pt x="21691" y="505402"/>
                </a:lnTo>
                <a:lnTo>
                  <a:pt x="30809" y="447215"/>
                </a:lnTo>
                <a:lnTo>
                  <a:pt x="41355" y="391605"/>
                </a:lnTo>
                <a:lnTo>
                  <a:pt x="53258" y="338785"/>
                </a:lnTo>
                <a:lnTo>
                  <a:pt x="66447" y="288966"/>
                </a:lnTo>
                <a:lnTo>
                  <a:pt x="80851" y="242363"/>
                </a:lnTo>
                <a:lnTo>
                  <a:pt x="96399" y="199188"/>
                </a:lnTo>
                <a:lnTo>
                  <a:pt x="113019" y="159654"/>
                </a:lnTo>
                <a:lnTo>
                  <a:pt x="130642" y="123973"/>
                </a:lnTo>
                <a:lnTo>
                  <a:pt x="168610" y="65025"/>
                </a:lnTo>
                <a:lnTo>
                  <a:pt x="209734" y="24048"/>
                </a:lnTo>
                <a:lnTo>
                  <a:pt x="253447" y="2742"/>
                </a:lnTo>
                <a:lnTo>
                  <a:pt x="276098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77205" y="3772661"/>
            <a:ext cx="1656714" cy="1655445"/>
          </a:xfrm>
          <a:custGeom>
            <a:avLst/>
            <a:gdLst/>
            <a:ahLst/>
            <a:cxnLst/>
            <a:rect l="l" t="t" r="r" b="b"/>
            <a:pathLst>
              <a:path w="1656715" h="1655445">
                <a:moveTo>
                  <a:pt x="276098" y="0"/>
                </a:moveTo>
                <a:lnTo>
                  <a:pt x="1380490" y="0"/>
                </a:lnTo>
                <a:lnTo>
                  <a:pt x="1403140" y="2742"/>
                </a:lnTo>
                <a:lnTo>
                  <a:pt x="1446853" y="24048"/>
                </a:lnTo>
                <a:lnTo>
                  <a:pt x="1487977" y="65025"/>
                </a:lnTo>
                <a:lnTo>
                  <a:pt x="1525945" y="123973"/>
                </a:lnTo>
                <a:lnTo>
                  <a:pt x="1543568" y="159654"/>
                </a:lnTo>
                <a:lnTo>
                  <a:pt x="1560188" y="199188"/>
                </a:lnTo>
                <a:lnTo>
                  <a:pt x="1575736" y="242363"/>
                </a:lnTo>
                <a:lnTo>
                  <a:pt x="1590140" y="288966"/>
                </a:lnTo>
                <a:lnTo>
                  <a:pt x="1603329" y="338785"/>
                </a:lnTo>
                <a:lnTo>
                  <a:pt x="1615232" y="391605"/>
                </a:lnTo>
                <a:lnTo>
                  <a:pt x="1625778" y="447215"/>
                </a:lnTo>
                <a:lnTo>
                  <a:pt x="1634896" y="505402"/>
                </a:lnTo>
                <a:lnTo>
                  <a:pt x="1642516" y="565952"/>
                </a:lnTo>
                <a:lnTo>
                  <a:pt x="1648566" y="628653"/>
                </a:lnTo>
                <a:lnTo>
                  <a:pt x="1652975" y="693292"/>
                </a:lnTo>
                <a:lnTo>
                  <a:pt x="1655673" y="759656"/>
                </a:lnTo>
                <a:lnTo>
                  <a:pt x="1656588" y="827532"/>
                </a:lnTo>
                <a:lnTo>
                  <a:pt x="1655673" y="895407"/>
                </a:lnTo>
                <a:lnTo>
                  <a:pt x="1652975" y="961771"/>
                </a:lnTo>
                <a:lnTo>
                  <a:pt x="1648566" y="1026410"/>
                </a:lnTo>
                <a:lnTo>
                  <a:pt x="1642516" y="1089111"/>
                </a:lnTo>
                <a:lnTo>
                  <a:pt x="1634896" y="1149661"/>
                </a:lnTo>
                <a:lnTo>
                  <a:pt x="1625778" y="1207848"/>
                </a:lnTo>
                <a:lnTo>
                  <a:pt x="1615232" y="1263458"/>
                </a:lnTo>
                <a:lnTo>
                  <a:pt x="1603329" y="1316278"/>
                </a:lnTo>
                <a:lnTo>
                  <a:pt x="1590140" y="1366097"/>
                </a:lnTo>
                <a:lnTo>
                  <a:pt x="1575736" y="1412700"/>
                </a:lnTo>
                <a:lnTo>
                  <a:pt x="1560188" y="1455875"/>
                </a:lnTo>
                <a:lnTo>
                  <a:pt x="1543568" y="1495409"/>
                </a:lnTo>
                <a:lnTo>
                  <a:pt x="1525945" y="1531090"/>
                </a:lnTo>
                <a:lnTo>
                  <a:pt x="1487977" y="1590038"/>
                </a:lnTo>
                <a:lnTo>
                  <a:pt x="1446853" y="1631015"/>
                </a:lnTo>
                <a:lnTo>
                  <a:pt x="1403140" y="1652321"/>
                </a:lnTo>
                <a:lnTo>
                  <a:pt x="1380490" y="1655064"/>
                </a:lnTo>
                <a:lnTo>
                  <a:pt x="276098" y="1655064"/>
                </a:lnTo>
                <a:lnTo>
                  <a:pt x="231303" y="1644234"/>
                </a:lnTo>
                <a:lnTo>
                  <a:pt x="188813" y="1612879"/>
                </a:lnTo>
                <a:lnTo>
                  <a:pt x="149196" y="1562703"/>
                </a:lnTo>
                <a:lnTo>
                  <a:pt x="113019" y="1495409"/>
                </a:lnTo>
                <a:lnTo>
                  <a:pt x="96399" y="1455875"/>
                </a:lnTo>
                <a:lnTo>
                  <a:pt x="80851" y="1412700"/>
                </a:lnTo>
                <a:lnTo>
                  <a:pt x="66447" y="1366097"/>
                </a:lnTo>
                <a:lnTo>
                  <a:pt x="53258" y="1316278"/>
                </a:lnTo>
                <a:lnTo>
                  <a:pt x="41355" y="1263458"/>
                </a:lnTo>
                <a:lnTo>
                  <a:pt x="30809" y="1207848"/>
                </a:lnTo>
                <a:lnTo>
                  <a:pt x="21691" y="1149661"/>
                </a:lnTo>
                <a:lnTo>
                  <a:pt x="14071" y="1089111"/>
                </a:lnTo>
                <a:lnTo>
                  <a:pt x="8021" y="1026410"/>
                </a:lnTo>
                <a:lnTo>
                  <a:pt x="3612" y="961771"/>
                </a:lnTo>
                <a:lnTo>
                  <a:pt x="914" y="895407"/>
                </a:lnTo>
                <a:lnTo>
                  <a:pt x="0" y="827532"/>
                </a:lnTo>
                <a:lnTo>
                  <a:pt x="914" y="759656"/>
                </a:lnTo>
                <a:lnTo>
                  <a:pt x="3612" y="693292"/>
                </a:lnTo>
                <a:lnTo>
                  <a:pt x="8021" y="628653"/>
                </a:lnTo>
                <a:lnTo>
                  <a:pt x="14071" y="565952"/>
                </a:lnTo>
                <a:lnTo>
                  <a:pt x="21691" y="505402"/>
                </a:lnTo>
                <a:lnTo>
                  <a:pt x="30809" y="447215"/>
                </a:lnTo>
                <a:lnTo>
                  <a:pt x="41355" y="391605"/>
                </a:lnTo>
                <a:lnTo>
                  <a:pt x="53258" y="338785"/>
                </a:lnTo>
                <a:lnTo>
                  <a:pt x="66447" y="288966"/>
                </a:lnTo>
                <a:lnTo>
                  <a:pt x="80851" y="242363"/>
                </a:lnTo>
                <a:lnTo>
                  <a:pt x="96399" y="199188"/>
                </a:lnTo>
                <a:lnTo>
                  <a:pt x="113019" y="159654"/>
                </a:lnTo>
                <a:lnTo>
                  <a:pt x="130642" y="123973"/>
                </a:lnTo>
                <a:lnTo>
                  <a:pt x="168610" y="65025"/>
                </a:lnTo>
                <a:lnTo>
                  <a:pt x="209734" y="24048"/>
                </a:lnTo>
                <a:lnTo>
                  <a:pt x="253447" y="2742"/>
                </a:lnTo>
                <a:lnTo>
                  <a:pt x="276098" y="0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外部输入例子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8964168" cy="4709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11729" y="2782061"/>
            <a:ext cx="4394200" cy="2735580"/>
          </a:xfrm>
          <a:custGeom>
            <a:avLst/>
            <a:gdLst/>
            <a:ahLst/>
            <a:cxnLst/>
            <a:rect l="l" t="t" r="r" b="b"/>
            <a:pathLst>
              <a:path w="4394200" h="2735579">
                <a:moveTo>
                  <a:pt x="0" y="1367789"/>
                </a:moveTo>
                <a:lnTo>
                  <a:pt x="3045" y="1295149"/>
                </a:lnTo>
                <a:lnTo>
                  <a:pt x="12079" y="1223496"/>
                </a:lnTo>
                <a:lnTo>
                  <a:pt x="26952" y="1152924"/>
                </a:lnTo>
                <a:lnTo>
                  <a:pt x="47509" y="1083529"/>
                </a:lnTo>
                <a:lnTo>
                  <a:pt x="73601" y="1015405"/>
                </a:lnTo>
                <a:lnTo>
                  <a:pt x="105074" y="948647"/>
                </a:lnTo>
                <a:lnTo>
                  <a:pt x="141778" y="883348"/>
                </a:lnTo>
                <a:lnTo>
                  <a:pt x="183559" y="819605"/>
                </a:lnTo>
                <a:lnTo>
                  <a:pt x="206307" y="788345"/>
                </a:lnTo>
                <a:lnTo>
                  <a:pt x="230267" y="757510"/>
                </a:lnTo>
                <a:lnTo>
                  <a:pt x="255421" y="727111"/>
                </a:lnTo>
                <a:lnTo>
                  <a:pt x="281750" y="697159"/>
                </a:lnTo>
                <a:lnTo>
                  <a:pt x="309234" y="667667"/>
                </a:lnTo>
                <a:lnTo>
                  <a:pt x="337855" y="638646"/>
                </a:lnTo>
                <a:lnTo>
                  <a:pt x="367593" y="610109"/>
                </a:lnTo>
                <a:lnTo>
                  <a:pt x="398431" y="582066"/>
                </a:lnTo>
                <a:lnTo>
                  <a:pt x="430348" y="554530"/>
                </a:lnTo>
                <a:lnTo>
                  <a:pt x="463325" y="527513"/>
                </a:lnTo>
                <a:lnTo>
                  <a:pt x="497345" y="501027"/>
                </a:lnTo>
                <a:lnTo>
                  <a:pt x="532387" y="475082"/>
                </a:lnTo>
                <a:lnTo>
                  <a:pt x="568433" y="449692"/>
                </a:lnTo>
                <a:lnTo>
                  <a:pt x="605464" y="424868"/>
                </a:lnTo>
                <a:lnTo>
                  <a:pt x="643461" y="400621"/>
                </a:lnTo>
                <a:lnTo>
                  <a:pt x="682404" y="376964"/>
                </a:lnTo>
                <a:lnTo>
                  <a:pt x="722276" y="353908"/>
                </a:lnTo>
                <a:lnTo>
                  <a:pt x="763056" y="331466"/>
                </a:lnTo>
                <a:lnTo>
                  <a:pt x="804726" y="309648"/>
                </a:lnTo>
                <a:lnTo>
                  <a:pt x="847268" y="288467"/>
                </a:lnTo>
                <a:lnTo>
                  <a:pt x="890661" y="267935"/>
                </a:lnTo>
                <a:lnTo>
                  <a:pt x="934887" y="248063"/>
                </a:lnTo>
                <a:lnTo>
                  <a:pt x="979927" y="228864"/>
                </a:lnTo>
                <a:lnTo>
                  <a:pt x="1025762" y="210349"/>
                </a:lnTo>
                <a:lnTo>
                  <a:pt x="1072373" y="192529"/>
                </a:lnTo>
                <a:lnTo>
                  <a:pt x="1119741" y="175417"/>
                </a:lnTo>
                <a:lnTo>
                  <a:pt x="1167847" y="159025"/>
                </a:lnTo>
                <a:lnTo>
                  <a:pt x="1216672" y="143364"/>
                </a:lnTo>
                <a:lnTo>
                  <a:pt x="1266197" y="128446"/>
                </a:lnTo>
                <a:lnTo>
                  <a:pt x="1316404" y="114284"/>
                </a:lnTo>
                <a:lnTo>
                  <a:pt x="1367272" y="100888"/>
                </a:lnTo>
                <a:lnTo>
                  <a:pt x="1418784" y="88270"/>
                </a:lnTo>
                <a:lnTo>
                  <a:pt x="1470920" y="76443"/>
                </a:lnTo>
                <a:lnTo>
                  <a:pt x="1523661" y="65419"/>
                </a:lnTo>
                <a:lnTo>
                  <a:pt x="1576988" y="55208"/>
                </a:lnTo>
                <a:lnTo>
                  <a:pt x="1630882" y="45823"/>
                </a:lnTo>
                <a:lnTo>
                  <a:pt x="1685325" y="37276"/>
                </a:lnTo>
                <a:lnTo>
                  <a:pt x="1740296" y="29579"/>
                </a:lnTo>
                <a:lnTo>
                  <a:pt x="1795778" y="22743"/>
                </a:lnTo>
                <a:lnTo>
                  <a:pt x="1851752" y="16780"/>
                </a:lnTo>
                <a:lnTo>
                  <a:pt x="1908197" y="11702"/>
                </a:lnTo>
                <a:lnTo>
                  <a:pt x="1965096" y="7520"/>
                </a:lnTo>
                <a:lnTo>
                  <a:pt x="2022430" y="4248"/>
                </a:lnTo>
                <a:lnTo>
                  <a:pt x="2080178" y="1895"/>
                </a:lnTo>
                <a:lnTo>
                  <a:pt x="2138323" y="475"/>
                </a:lnTo>
                <a:lnTo>
                  <a:pt x="2196846" y="0"/>
                </a:lnTo>
                <a:lnTo>
                  <a:pt x="2255368" y="475"/>
                </a:lnTo>
                <a:lnTo>
                  <a:pt x="2313513" y="1895"/>
                </a:lnTo>
                <a:lnTo>
                  <a:pt x="2371261" y="4248"/>
                </a:lnTo>
                <a:lnTo>
                  <a:pt x="2428595" y="7520"/>
                </a:lnTo>
                <a:lnTo>
                  <a:pt x="2485494" y="11702"/>
                </a:lnTo>
                <a:lnTo>
                  <a:pt x="2541939" y="16780"/>
                </a:lnTo>
                <a:lnTo>
                  <a:pt x="2597913" y="22743"/>
                </a:lnTo>
                <a:lnTo>
                  <a:pt x="2653395" y="29579"/>
                </a:lnTo>
                <a:lnTo>
                  <a:pt x="2708366" y="37276"/>
                </a:lnTo>
                <a:lnTo>
                  <a:pt x="2762809" y="45823"/>
                </a:lnTo>
                <a:lnTo>
                  <a:pt x="2816703" y="55208"/>
                </a:lnTo>
                <a:lnTo>
                  <a:pt x="2870030" y="65419"/>
                </a:lnTo>
                <a:lnTo>
                  <a:pt x="2922771" y="76443"/>
                </a:lnTo>
                <a:lnTo>
                  <a:pt x="2974907" y="88270"/>
                </a:lnTo>
                <a:lnTo>
                  <a:pt x="3026419" y="100888"/>
                </a:lnTo>
                <a:lnTo>
                  <a:pt x="3077287" y="114284"/>
                </a:lnTo>
                <a:lnTo>
                  <a:pt x="3127494" y="128446"/>
                </a:lnTo>
                <a:lnTo>
                  <a:pt x="3177019" y="143364"/>
                </a:lnTo>
                <a:lnTo>
                  <a:pt x="3225844" y="159025"/>
                </a:lnTo>
                <a:lnTo>
                  <a:pt x="3273950" y="175417"/>
                </a:lnTo>
                <a:lnTo>
                  <a:pt x="3321318" y="192529"/>
                </a:lnTo>
                <a:lnTo>
                  <a:pt x="3367929" y="210349"/>
                </a:lnTo>
                <a:lnTo>
                  <a:pt x="3413764" y="228864"/>
                </a:lnTo>
                <a:lnTo>
                  <a:pt x="3458804" y="248063"/>
                </a:lnTo>
                <a:lnTo>
                  <a:pt x="3503030" y="267935"/>
                </a:lnTo>
                <a:lnTo>
                  <a:pt x="3546423" y="288467"/>
                </a:lnTo>
                <a:lnTo>
                  <a:pt x="3588965" y="309648"/>
                </a:lnTo>
                <a:lnTo>
                  <a:pt x="3630635" y="331466"/>
                </a:lnTo>
                <a:lnTo>
                  <a:pt x="3671415" y="353908"/>
                </a:lnTo>
                <a:lnTo>
                  <a:pt x="3711287" y="376964"/>
                </a:lnTo>
                <a:lnTo>
                  <a:pt x="3750230" y="400621"/>
                </a:lnTo>
                <a:lnTo>
                  <a:pt x="3788227" y="424868"/>
                </a:lnTo>
                <a:lnTo>
                  <a:pt x="3825258" y="449692"/>
                </a:lnTo>
                <a:lnTo>
                  <a:pt x="3861304" y="475082"/>
                </a:lnTo>
                <a:lnTo>
                  <a:pt x="3896346" y="501027"/>
                </a:lnTo>
                <a:lnTo>
                  <a:pt x="3930366" y="527513"/>
                </a:lnTo>
                <a:lnTo>
                  <a:pt x="3963343" y="554530"/>
                </a:lnTo>
                <a:lnTo>
                  <a:pt x="3995260" y="582066"/>
                </a:lnTo>
                <a:lnTo>
                  <a:pt x="4026098" y="610109"/>
                </a:lnTo>
                <a:lnTo>
                  <a:pt x="4055836" y="638646"/>
                </a:lnTo>
                <a:lnTo>
                  <a:pt x="4084457" y="667667"/>
                </a:lnTo>
                <a:lnTo>
                  <a:pt x="4111941" y="697159"/>
                </a:lnTo>
                <a:lnTo>
                  <a:pt x="4138270" y="727111"/>
                </a:lnTo>
                <a:lnTo>
                  <a:pt x="4163424" y="757510"/>
                </a:lnTo>
                <a:lnTo>
                  <a:pt x="4187384" y="788345"/>
                </a:lnTo>
                <a:lnTo>
                  <a:pt x="4210132" y="819605"/>
                </a:lnTo>
                <a:lnTo>
                  <a:pt x="4231648" y="851276"/>
                </a:lnTo>
                <a:lnTo>
                  <a:pt x="4270909" y="915809"/>
                </a:lnTo>
                <a:lnTo>
                  <a:pt x="4305017" y="981849"/>
                </a:lnTo>
                <a:lnTo>
                  <a:pt x="4333818" y="1049302"/>
                </a:lnTo>
                <a:lnTo>
                  <a:pt x="4357162" y="1118074"/>
                </a:lnTo>
                <a:lnTo>
                  <a:pt x="4374896" y="1188069"/>
                </a:lnTo>
                <a:lnTo>
                  <a:pt x="4386868" y="1259193"/>
                </a:lnTo>
                <a:lnTo>
                  <a:pt x="4392927" y="1331352"/>
                </a:lnTo>
                <a:lnTo>
                  <a:pt x="4393692" y="1367789"/>
                </a:lnTo>
                <a:lnTo>
                  <a:pt x="4392927" y="1404227"/>
                </a:lnTo>
                <a:lnTo>
                  <a:pt x="4386868" y="1476386"/>
                </a:lnTo>
                <a:lnTo>
                  <a:pt x="4374896" y="1547510"/>
                </a:lnTo>
                <a:lnTo>
                  <a:pt x="4357162" y="1617505"/>
                </a:lnTo>
                <a:lnTo>
                  <a:pt x="4333818" y="1686277"/>
                </a:lnTo>
                <a:lnTo>
                  <a:pt x="4305017" y="1753730"/>
                </a:lnTo>
                <a:lnTo>
                  <a:pt x="4270909" y="1819770"/>
                </a:lnTo>
                <a:lnTo>
                  <a:pt x="4231648" y="1884303"/>
                </a:lnTo>
                <a:lnTo>
                  <a:pt x="4210132" y="1915974"/>
                </a:lnTo>
                <a:lnTo>
                  <a:pt x="4187384" y="1947234"/>
                </a:lnTo>
                <a:lnTo>
                  <a:pt x="4163424" y="1978069"/>
                </a:lnTo>
                <a:lnTo>
                  <a:pt x="4138270" y="2008468"/>
                </a:lnTo>
                <a:lnTo>
                  <a:pt x="4111941" y="2038420"/>
                </a:lnTo>
                <a:lnTo>
                  <a:pt x="4084457" y="2067912"/>
                </a:lnTo>
                <a:lnTo>
                  <a:pt x="4055836" y="2096933"/>
                </a:lnTo>
                <a:lnTo>
                  <a:pt x="4026098" y="2125470"/>
                </a:lnTo>
                <a:lnTo>
                  <a:pt x="3995260" y="2153513"/>
                </a:lnTo>
                <a:lnTo>
                  <a:pt x="3963343" y="2181049"/>
                </a:lnTo>
                <a:lnTo>
                  <a:pt x="3930366" y="2208066"/>
                </a:lnTo>
                <a:lnTo>
                  <a:pt x="3896346" y="2234552"/>
                </a:lnTo>
                <a:lnTo>
                  <a:pt x="3861304" y="2260497"/>
                </a:lnTo>
                <a:lnTo>
                  <a:pt x="3825258" y="2285887"/>
                </a:lnTo>
                <a:lnTo>
                  <a:pt x="3788227" y="2310711"/>
                </a:lnTo>
                <a:lnTo>
                  <a:pt x="3750230" y="2334958"/>
                </a:lnTo>
                <a:lnTo>
                  <a:pt x="3711287" y="2358615"/>
                </a:lnTo>
                <a:lnTo>
                  <a:pt x="3671415" y="2381671"/>
                </a:lnTo>
                <a:lnTo>
                  <a:pt x="3630635" y="2404113"/>
                </a:lnTo>
                <a:lnTo>
                  <a:pt x="3588965" y="2425931"/>
                </a:lnTo>
                <a:lnTo>
                  <a:pt x="3546423" y="2447112"/>
                </a:lnTo>
                <a:lnTo>
                  <a:pt x="3503030" y="2467644"/>
                </a:lnTo>
                <a:lnTo>
                  <a:pt x="3458804" y="2487516"/>
                </a:lnTo>
                <a:lnTo>
                  <a:pt x="3413764" y="2506715"/>
                </a:lnTo>
                <a:lnTo>
                  <a:pt x="3367929" y="2525230"/>
                </a:lnTo>
                <a:lnTo>
                  <a:pt x="3321318" y="2543050"/>
                </a:lnTo>
                <a:lnTo>
                  <a:pt x="3273950" y="2560162"/>
                </a:lnTo>
                <a:lnTo>
                  <a:pt x="3225844" y="2576554"/>
                </a:lnTo>
                <a:lnTo>
                  <a:pt x="3177019" y="2592215"/>
                </a:lnTo>
                <a:lnTo>
                  <a:pt x="3127494" y="2607133"/>
                </a:lnTo>
                <a:lnTo>
                  <a:pt x="3077287" y="2621295"/>
                </a:lnTo>
                <a:lnTo>
                  <a:pt x="3026419" y="2634691"/>
                </a:lnTo>
                <a:lnTo>
                  <a:pt x="2974907" y="2647309"/>
                </a:lnTo>
                <a:lnTo>
                  <a:pt x="2922771" y="2659136"/>
                </a:lnTo>
                <a:lnTo>
                  <a:pt x="2870030" y="2670160"/>
                </a:lnTo>
                <a:lnTo>
                  <a:pt x="2816703" y="2680371"/>
                </a:lnTo>
                <a:lnTo>
                  <a:pt x="2762809" y="2689756"/>
                </a:lnTo>
                <a:lnTo>
                  <a:pt x="2708366" y="2698303"/>
                </a:lnTo>
                <a:lnTo>
                  <a:pt x="2653395" y="2706000"/>
                </a:lnTo>
                <a:lnTo>
                  <a:pt x="2597913" y="2712836"/>
                </a:lnTo>
                <a:lnTo>
                  <a:pt x="2541939" y="2718799"/>
                </a:lnTo>
                <a:lnTo>
                  <a:pt x="2485494" y="2723877"/>
                </a:lnTo>
                <a:lnTo>
                  <a:pt x="2428595" y="2728059"/>
                </a:lnTo>
                <a:lnTo>
                  <a:pt x="2371261" y="2731331"/>
                </a:lnTo>
                <a:lnTo>
                  <a:pt x="2313513" y="2733684"/>
                </a:lnTo>
                <a:lnTo>
                  <a:pt x="2255368" y="2735104"/>
                </a:lnTo>
                <a:lnTo>
                  <a:pt x="2196846" y="2735579"/>
                </a:lnTo>
                <a:lnTo>
                  <a:pt x="2138323" y="2735104"/>
                </a:lnTo>
                <a:lnTo>
                  <a:pt x="2080178" y="2733684"/>
                </a:lnTo>
                <a:lnTo>
                  <a:pt x="2022430" y="2731331"/>
                </a:lnTo>
                <a:lnTo>
                  <a:pt x="1965096" y="2728059"/>
                </a:lnTo>
                <a:lnTo>
                  <a:pt x="1908197" y="2723877"/>
                </a:lnTo>
                <a:lnTo>
                  <a:pt x="1851752" y="2718799"/>
                </a:lnTo>
                <a:lnTo>
                  <a:pt x="1795778" y="2712836"/>
                </a:lnTo>
                <a:lnTo>
                  <a:pt x="1740296" y="2706000"/>
                </a:lnTo>
                <a:lnTo>
                  <a:pt x="1685325" y="2698303"/>
                </a:lnTo>
                <a:lnTo>
                  <a:pt x="1630882" y="2689756"/>
                </a:lnTo>
                <a:lnTo>
                  <a:pt x="1576988" y="2680371"/>
                </a:lnTo>
                <a:lnTo>
                  <a:pt x="1523661" y="2670160"/>
                </a:lnTo>
                <a:lnTo>
                  <a:pt x="1470920" y="2659136"/>
                </a:lnTo>
                <a:lnTo>
                  <a:pt x="1418784" y="2647309"/>
                </a:lnTo>
                <a:lnTo>
                  <a:pt x="1367272" y="2634691"/>
                </a:lnTo>
                <a:lnTo>
                  <a:pt x="1316404" y="2621295"/>
                </a:lnTo>
                <a:lnTo>
                  <a:pt x="1266197" y="2607133"/>
                </a:lnTo>
                <a:lnTo>
                  <a:pt x="1216672" y="2592215"/>
                </a:lnTo>
                <a:lnTo>
                  <a:pt x="1167847" y="2576554"/>
                </a:lnTo>
                <a:lnTo>
                  <a:pt x="1119741" y="2560162"/>
                </a:lnTo>
                <a:lnTo>
                  <a:pt x="1072373" y="2543050"/>
                </a:lnTo>
                <a:lnTo>
                  <a:pt x="1025762" y="2525230"/>
                </a:lnTo>
                <a:lnTo>
                  <a:pt x="979927" y="2506715"/>
                </a:lnTo>
                <a:lnTo>
                  <a:pt x="934887" y="2487516"/>
                </a:lnTo>
                <a:lnTo>
                  <a:pt x="890661" y="2467644"/>
                </a:lnTo>
                <a:lnTo>
                  <a:pt x="847268" y="2447112"/>
                </a:lnTo>
                <a:lnTo>
                  <a:pt x="804726" y="2425931"/>
                </a:lnTo>
                <a:lnTo>
                  <a:pt x="763056" y="2404113"/>
                </a:lnTo>
                <a:lnTo>
                  <a:pt x="722276" y="2381671"/>
                </a:lnTo>
                <a:lnTo>
                  <a:pt x="682404" y="2358615"/>
                </a:lnTo>
                <a:lnTo>
                  <a:pt x="643461" y="2334958"/>
                </a:lnTo>
                <a:lnTo>
                  <a:pt x="605464" y="2310711"/>
                </a:lnTo>
                <a:lnTo>
                  <a:pt x="568433" y="2285887"/>
                </a:lnTo>
                <a:lnTo>
                  <a:pt x="532387" y="2260497"/>
                </a:lnTo>
                <a:lnTo>
                  <a:pt x="497345" y="2234552"/>
                </a:lnTo>
                <a:lnTo>
                  <a:pt x="463325" y="2208066"/>
                </a:lnTo>
                <a:lnTo>
                  <a:pt x="430348" y="2181049"/>
                </a:lnTo>
                <a:lnTo>
                  <a:pt x="398431" y="2153513"/>
                </a:lnTo>
                <a:lnTo>
                  <a:pt x="367593" y="2125470"/>
                </a:lnTo>
                <a:lnTo>
                  <a:pt x="337855" y="2096933"/>
                </a:lnTo>
                <a:lnTo>
                  <a:pt x="309234" y="2067912"/>
                </a:lnTo>
                <a:lnTo>
                  <a:pt x="281750" y="2038420"/>
                </a:lnTo>
                <a:lnTo>
                  <a:pt x="255421" y="2008468"/>
                </a:lnTo>
                <a:lnTo>
                  <a:pt x="230267" y="1978069"/>
                </a:lnTo>
                <a:lnTo>
                  <a:pt x="206307" y="1947234"/>
                </a:lnTo>
                <a:lnTo>
                  <a:pt x="183559" y="1915974"/>
                </a:lnTo>
                <a:lnTo>
                  <a:pt x="162043" y="1884303"/>
                </a:lnTo>
                <a:lnTo>
                  <a:pt x="122782" y="1819770"/>
                </a:lnTo>
                <a:lnTo>
                  <a:pt x="88674" y="1753730"/>
                </a:lnTo>
                <a:lnTo>
                  <a:pt x="59873" y="1686277"/>
                </a:lnTo>
                <a:lnTo>
                  <a:pt x="36529" y="1617505"/>
                </a:lnTo>
                <a:lnTo>
                  <a:pt x="18795" y="1547510"/>
                </a:lnTo>
                <a:lnTo>
                  <a:pt x="6823" y="1476386"/>
                </a:lnTo>
                <a:lnTo>
                  <a:pt x="764" y="1404227"/>
                </a:lnTo>
                <a:lnTo>
                  <a:pt x="0" y="1367789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191" y="160731"/>
            <a:ext cx="6887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外部输</a:t>
            </a:r>
            <a:r>
              <a:rPr spc="5" dirty="0"/>
              <a:t>出</a:t>
            </a:r>
            <a:r>
              <a:rPr dirty="0"/>
              <a:t>(External</a:t>
            </a:r>
            <a:r>
              <a:rPr spc="-30" dirty="0"/>
              <a:t> </a:t>
            </a:r>
            <a:r>
              <a:rPr spc="-5" dirty="0"/>
              <a:t>Outputs</a:t>
            </a:r>
            <a:r>
              <a:rPr spc="-20" dirty="0"/>
              <a:t> </a:t>
            </a:r>
            <a:r>
              <a:rPr dirty="0"/>
              <a:t>EO)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8048" y="3084513"/>
            <a:ext cx="5369355" cy="29322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5542" y="1736598"/>
            <a:ext cx="8819515" cy="1077595"/>
          </a:xfrm>
          <a:custGeom>
            <a:avLst/>
            <a:gdLst/>
            <a:ahLst/>
            <a:cxnLst/>
            <a:rect l="l" t="t" r="r" b="b"/>
            <a:pathLst>
              <a:path w="8819515" h="1077595">
                <a:moveTo>
                  <a:pt x="0" y="1077467"/>
                </a:moveTo>
                <a:lnTo>
                  <a:pt x="8819388" y="1077467"/>
                </a:lnTo>
                <a:lnTo>
                  <a:pt x="8819388" y="0"/>
                </a:lnTo>
                <a:lnTo>
                  <a:pt x="0" y="0"/>
                </a:lnTo>
                <a:lnTo>
                  <a:pt x="0" y="107746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3215" y="1736293"/>
            <a:ext cx="884999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latin typeface="华文新魏"/>
                <a:cs typeface="华文新魏"/>
              </a:rPr>
              <a:t>向用</a:t>
            </a:r>
            <a:r>
              <a:rPr sz="3200" spc="-15" dirty="0">
                <a:latin typeface="华文新魏"/>
                <a:cs typeface="华文新魏"/>
              </a:rPr>
              <a:t>户</a:t>
            </a:r>
            <a:r>
              <a:rPr sz="3200" spc="5" dirty="0">
                <a:latin typeface="华文新魏"/>
                <a:cs typeface="华文新魏"/>
              </a:rPr>
              <a:t>提</a:t>
            </a:r>
            <a:r>
              <a:rPr sz="3200" spc="-5" dirty="0">
                <a:latin typeface="华文新魏"/>
                <a:cs typeface="华文新魏"/>
              </a:rPr>
              <a:t>供(</a:t>
            </a:r>
            <a:r>
              <a:rPr sz="3200" spc="-10" dirty="0">
                <a:latin typeface="华文新魏"/>
                <a:cs typeface="华文新魏"/>
              </a:rPr>
              <a:t>经</a:t>
            </a:r>
            <a:r>
              <a:rPr sz="3200" spc="5" dirty="0">
                <a:latin typeface="华文新魏"/>
                <a:cs typeface="华文新魏"/>
              </a:rPr>
              <a:t>过处</a:t>
            </a:r>
            <a:r>
              <a:rPr sz="3200" spc="-10" dirty="0">
                <a:latin typeface="华文新魏"/>
                <a:cs typeface="华文新魏"/>
              </a:rPr>
              <a:t>理</a:t>
            </a:r>
            <a:r>
              <a:rPr sz="3200" spc="-5" dirty="0">
                <a:latin typeface="华文新魏"/>
                <a:cs typeface="华文新魏"/>
              </a:rPr>
              <a:t>的</a:t>
            </a:r>
            <a:r>
              <a:rPr sz="3200" dirty="0">
                <a:latin typeface="华文新魏"/>
                <a:cs typeface="华文新魏"/>
              </a:rPr>
              <a:t>)面</a:t>
            </a:r>
            <a:r>
              <a:rPr sz="3200" spc="-15" dirty="0">
                <a:latin typeface="华文新魏"/>
                <a:cs typeface="华文新魏"/>
              </a:rPr>
              <a:t>向</a:t>
            </a:r>
            <a:r>
              <a:rPr sz="3200" spc="5" dirty="0">
                <a:latin typeface="华文新魏"/>
                <a:cs typeface="华文新魏"/>
              </a:rPr>
              <a:t>应用</a:t>
            </a:r>
            <a:r>
              <a:rPr sz="3200" spc="-15" dirty="0">
                <a:latin typeface="华文新魏"/>
                <a:cs typeface="华文新魏"/>
              </a:rPr>
              <a:t>的</a:t>
            </a:r>
            <a:r>
              <a:rPr sz="3200" spc="5" dirty="0">
                <a:latin typeface="华文新魏"/>
                <a:cs typeface="华文新魏"/>
              </a:rPr>
              <a:t>信息</a:t>
            </a:r>
            <a:r>
              <a:rPr sz="3200" spc="-15" dirty="0">
                <a:latin typeface="华文新魏"/>
                <a:cs typeface="华文新魏"/>
              </a:rPr>
              <a:t>，</a:t>
            </a:r>
            <a:r>
              <a:rPr sz="3200" spc="5" dirty="0">
                <a:latin typeface="华文新魏"/>
                <a:cs typeface="华文新魏"/>
              </a:rPr>
              <a:t>例如， </a:t>
            </a:r>
            <a:r>
              <a:rPr sz="3200" dirty="0">
                <a:latin typeface="华文新魏"/>
                <a:cs typeface="华文新魏"/>
              </a:rPr>
              <a:t>报表和出错信息等。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96105" y="4188714"/>
            <a:ext cx="2735580" cy="1007744"/>
          </a:xfrm>
          <a:custGeom>
            <a:avLst/>
            <a:gdLst/>
            <a:ahLst/>
            <a:cxnLst/>
            <a:rect l="l" t="t" r="r" b="b"/>
            <a:pathLst>
              <a:path w="2735579" h="1007745">
                <a:moveTo>
                  <a:pt x="2231898" y="0"/>
                </a:moveTo>
                <a:lnTo>
                  <a:pt x="2231898" y="251841"/>
                </a:lnTo>
                <a:lnTo>
                  <a:pt x="0" y="251841"/>
                </a:lnTo>
                <a:lnTo>
                  <a:pt x="0" y="755523"/>
                </a:lnTo>
                <a:lnTo>
                  <a:pt x="2231898" y="755523"/>
                </a:lnTo>
                <a:lnTo>
                  <a:pt x="2231898" y="1007363"/>
                </a:lnTo>
                <a:lnTo>
                  <a:pt x="2735579" y="503681"/>
                </a:lnTo>
                <a:lnTo>
                  <a:pt x="2231898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6105" y="4188714"/>
            <a:ext cx="2735580" cy="1007744"/>
          </a:xfrm>
          <a:custGeom>
            <a:avLst/>
            <a:gdLst/>
            <a:ahLst/>
            <a:cxnLst/>
            <a:rect l="l" t="t" r="r" b="b"/>
            <a:pathLst>
              <a:path w="2735579" h="1007745">
                <a:moveTo>
                  <a:pt x="0" y="251841"/>
                </a:moveTo>
                <a:lnTo>
                  <a:pt x="2231898" y="251841"/>
                </a:lnTo>
                <a:lnTo>
                  <a:pt x="2231898" y="0"/>
                </a:lnTo>
                <a:lnTo>
                  <a:pt x="2735579" y="503681"/>
                </a:lnTo>
                <a:lnTo>
                  <a:pt x="2231898" y="1007363"/>
                </a:lnTo>
                <a:lnTo>
                  <a:pt x="2231898" y="755523"/>
                </a:lnTo>
                <a:lnTo>
                  <a:pt x="0" y="755523"/>
                </a:lnTo>
                <a:lnTo>
                  <a:pt x="0" y="251841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31685" y="4046982"/>
            <a:ext cx="1325880" cy="1742439"/>
          </a:xfrm>
          <a:custGeom>
            <a:avLst/>
            <a:gdLst/>
            <a:ahLst/>
            <a:cxnLst/>
            <a:rect l="l" t="t" r="r" b="b"/>
            <a:pathLst>
              <a:path w="1325879" h="1742439">
                <a:moveTo>
                  <a:pt x="1104900" y="0"/>
                </a:moveTo>
                <a:lnTo>
                  <a:pt x="220980" y="0"/>
                </a:lnTo>
                <a:lnTo>
                  <a:pt x="0" y="870966"/>
                </a:lnTo>
                <a:lnTo>
                  <a:pt x="220980" y="1741932"/>
                </a:lnTo>
                <a:lnTo>
                  <a:pt x="1104900" y="1741932"/>
                </a:lnTo>
                <a:lnTo>
                  <a:pt x="1158005" y="1716622"/>
                </a:lnTo>
                <a:lnTo>
                  <a:pt x="1190916" y="1673494"/>
                </a:lnTo>
                <a:lnTo>
                  <a:pt x="1221304" y="1611454"/>
                </a:lnTo>
                <a:lnTo>
                  <a:pt x="1235409" y="1573901"/>
                </a:lnTo>
                <a:lnTo>
                  <a:pt x="1248712" y="1532293"/>
                </a:lnTo>
                <a:lnTo>
                  <a:pt x="1261157" y="1486852"/>
                </a:lnTo>
                <a:lnTo>
                  <a:pt x="1272687" y="1437803"/>
                </a:lnTo>
                <a:lnTo>
                  <a:pt x="1283244" y="1385370"/>
                </a:lnTo>
                <a:lnTo>
                  <a:pt x="1292772" y="1329778"/>
                </a:lnTo>
                <a:lnTo>
                  <a:pt x="1301215" y="1271249"/>
                </a:lnTo>
                <a:lnTo>
                  <a:pt x="1308514" y="1210008"/>
                </a:lnTo>
                <a:lnTo>
                  <a:pt x="1314614" y="1146279"/>
                </a:lnTo>
                <a:lnTo>
                  <a:pt x="1319457" y="1080287"/>
                </a:lnTo>
                <a:lnTo>
                  <a:pt x="1322987" y="1012254"/>
                </a:lnTo>
                <a:lnTo>
                  <a:pt x="1325147" y="942406"/>
                </a:lnTo>
                <a:lnTo>
                  <a:pt x="1325880" y="870966"/>
                </a:lnTo>
                <a:lnTo>
                  <a:pt x="1325147" y="799525"/>
                </a:lnTo>
                <a:lnTo>
                  <a:pt x="1322987" y="729677"/>
                </a:lnTo>
                <a:lnTo>
                  <a:pt x="1319457" y="661644"/>
                </a:lnTo>
                <a:lnTo>
                  <a:pt x="1314614" y="595652"/>
                </a:lnTo>
                <a:lnTo>
                  <a:pt x="1308514" y="531923"/>
                </a:lnTo>
                <a:lnTo>
                  <a:pt x="1301215" y="470682"/>
                </a:lnTo>
                <a:lnTo>
                  <a:pt x="1292772" y="412153"/>
                </a:lnTo>
                <a:lnTo>
                  <a:pt x="1283244" y="356561"/>
                </a:lnTo>
                <a:lnTo>
                  <a:pt x="1272687" y="304128"/>
                </a:lnTo>
                <a:lnTo>
                  <a:pt x="1261157" y="255079"/>
                </a:lnTo>
                <a:lnTo>
                  <a:pt x="1248712" y="209638"/>
                </a:lnTo>
                <a:lnTo>
                  <a:pt x="1235409" y="168030"/>
                </a:lnTo>
                <a:lnTo>
                  <a:pt x="1221304" y="130477"/>
                </a:lnTo>
                <a:lnTo>
                  <a:pt x="1190916" y="68437"/>
                </a:lnTo>
                <a:lnTo>
                  <a:pt x="1158005" y="25309"/>
                </a:lnTo>
                <a:lnTo>
                  <a:pt x="1123024" y="2886"/>
                </a:lnTo>
                <a:lnTo>
                  <a:pt x="110490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31685" y="4046982"/>
            <a:ext cx="1325880" cy="1742439"/>
          </a:xfrm>
          <a:custGeom>
            <a:avLst/>
            <a:gdLst/>
            <a:ahLst/>
            <a:cxnLst/>
            <a:rect l="l" t="t" r="r" b="b"/>
            <a:pathLst>
              <a:path w="1325879" h="1742439">
                <a:moveTo>
                  <a:pt x="0" y="870966"/>
                </a:moveTo>
                <a:lnTo>
                  <a:pt x="220980" y="0"/>
                </a:lnTo>
                <a:lnTo>
                  <a:pt x="1104900" y="0"/>
                </a:lnTo>
                <a:lnTo>
                  <a:pt x="1158005" y="25309"/>
                </a:lnTo>
                <a:lnTo>
                  <a:pt x="1190916" y="68437"/>
                </a:lnTo>
                <a:lnTo>
                  <a:pt x="1221304" y="130477"/>
                </a:lnTo>
                <a:lnTo>
                  <a:pt x="1235409" y="168030"/>
                </a:lnTo>
                <a:lnTo>
                  <a:pt x="1248712" y="209638"/>
                </a:lnTo>
                <a:lnTo>
                  <a:pt x="1261157" y="255079"/>
                </a:lnTo>
                <a:lnTo>
                  <a:pt x="1272687" y="304128"/>
                </a:lnTo>
                <a:lnTo>
                  <a:pt x="1283244" y="356561"/>
                </a:lnTo>
                <a:lnTo>
                  <a:pt x="1292772" y="412153"/>
                </a:lnTo>
                <a:lnTo>
                  <a:pt x="1301215" y="470682"/>
                </a:lnTo>
                <a:lnTo>
                  <a:pt x="1308514" y="531923"/>
                </a:lnTo>
                <a:lnTo>
                  <a:pt x="1314614" y="595652"/>
                </a:lnTo>
                <a:lnTo>
                  <a:pt x="1319457" y="661644"/>
                </a:lnTo>
                <a:lnTo>
                  <a:pt x="1322987" y="729677"/>
                </a:lnTo>
                <a:lnTo>
                  <a:pt x="1325147" y="799525"/>
                </a:lnTo>
                <a:lnTo>
                  <a:pt x="1325880" y="870966"/>
                </a:lnTo>
                <a:lnTo>
                  <a:pt x="1325147" y="942406"/>
                </a:lnTo>
                <a:lnTo>
                  <a:pt x="1322987" y="1012254"/>
                </a:lnTo>
                <a:lnTo>
                  <a:pt x="1319457" y="1080287"/>
                </a:lnTo>
                <a:lnTo>
                  <a:pt x="1314614" y="1146279"/>
                </a:lnTo>
                <a:lnTo>
                  <a:pt x="1308514" y="1210008"/>
                </a:lnTo>
                <a:lnTo>
                  <a:pt x="1301215" y="1271249"/>
                </a:lnTo>
                <a:lnTo>
                  <a:pt x="1292772" y="1329778"/>
                </a:lnTo>
                <a:lnTo>
                  <a:pt x="1283244" y="1385370"/>
                </a:lnTo>
                <a:lnTo>
                  <a:pt x="1272687" y="1437803"/>
                </a:lnTo>
                <a:lnTo>
                  <a:pt x="1261157" y="1486852"/>
                </a:lnTo>
                <a:lnTo>
                  <a:pt x="1248712" y="1532293"/>
                </a:lnTo>
                <a:lnTo>
                  <a:pt x="1235409" y="1573901"/>
                </a:lnTo>
                <a:lnTo>
                  <a:pt x="1221304" y="1611454"/>
                </a:lnTo>
                <a:lnTo>
                  <a:pt x="1190916" y="1673494"/>
                </a:lnTo>
                <a:lnTo>
                  <a:pt x="1158005" y="1716622"/>
                </a:lnTo>
                <a:lnTo>
                  <a:pt x="1123024" y="1739045"/>
                </a:lnTo>
                <a:lnTo>
                  <a:pt x="1104900" y="1741932"/>
                </a:lnTo>
                <a:lnTo>
                  <a:pt x="220980" y="1741932"/>
                </a:lnTo>
                <a:lnTo>
                  <a:pt x="0" y="870966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76364" y="4127119"/>
            <a:ext cx="635635" cy="1491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75"/>
              </a:spcBef>
            </a:pPr>
            <a:r>
              <a:rPr sz="4800" dirty="0">
                <a:solidFill>
                  <a:srgbClr val="FFFFFF"/>
                </a:solidFill>
                <a:latin typeface="华文仿宋"/>
                <a:cs typeface="华文仿宋"/>
              </a:rPr>
              <a:t>输 出</a:t>
            </a:r>
            <a:endParaRPr sz="48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外部输出例子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" y="1557527"/>
            <a:ext cx="9060180" cy="4535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00913"/>
            <a:ext cx="67310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外部查询(External</a:t>
            </a:r>
            <a:r>
              <a:rPr spc="-20" dirty="0"/>
              <a:t> </a:t>
            </a:r>
            <a:r>
              <a:rPr spc="-5" dirty="0"/>
              <a:t>Inquiry</a:t>
            </a:r>
            <a:r>
              <a:rPr spc="-20" dirty="0"/>
              <a:t> </a:t>
            </a:r>
            <a:r>
              <a:rPr dirty="0"/>
              <a:t>EQ)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222" y="1774698"/>
            <a:ext cx="8676640" cy="115062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09575" marR="37465" indent="-32004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华文新魏"/>
                <a:cs typeface="华文新魏"/>
              </a:rPr>
              <a:t>外部</a:t>
            </a:r>
            <a:r>
              <a:rPr sz="3200" spc="-15" dirty="0">
                <a:latin typeface="华文新魏"/>
                <a:cs typeface="华文新魏"/>
              </a:rPr>
              <a:t>查</a:t>
            </a:r>
            <a:r>
              <a:rPr sz="3200" dirty="0">
                <a:latin typeface="华文新魏"/>
                <a:cs typeface="华文新魏"/>
              </a:rPr>
              <a:t>询是一个输</a:t>
            </a:r>
            <a:r>
              <a:rPr sz="3200" spc="-15" dirty="0">
                <a:latin typeface="华文新魏"/>
                <a:cs typeface="华文新魏"/>
              </a:rPr>
              <a:t>入</a:t>
            </a:r>
            <a:r>
              <a:rPr sz="3200" dirty="0">
                <a:latin typeface="华文新魏"/>
                <a:cs typeface="华文新魏"/>
              </a:rPr>
              <a:t>引出一个即时的简</a:t>
            </a:r>
            <a:r>
              <a:rPr sz="3200" spc="-15" dirty="0">
                <a:latin typeface="华文新魏"/>
                <a:cs typeface="华文新魏"/>
              </a:rPr>
              <a:t>单</a:t>
            </a:r>
            <a:r>
              <a:rPr sz="3200" dirty="0">
                <a:latin typeface="华文新魏"/>
                <a:cs typeface="华文新魏"/>
              </a:rPr>
              <a:t>输出。 没有处理过程。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62883" y="3141014"/>
            <a:ext cx="4111611" cy="26639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77517" y="4187190"/>
            <a:ext cx="5615940" cy="574675"/>
          </a:xfrm>
          <a:custGeom>
            <a:avLst/>
            <a:gdLst/>
            <a:ahLst/>
            <a:cxnLst/>
            <a:rect l="l" t="t" r="r" b="b"/>
            <a:pathLst>
              <a:path w="5615940" h="574675">
                <a:moveTo>
                  <a:pt x="5328158" y="0"/>
                </a:moveTo>
                <a:lnTo>
                  <a:pt x="5328158" y="143637"/>
                </a:lnTo>
                <a:lnTo>
                  <a:pt x="0" y="143637"/>
                </a:lnTo>
                <a:lnTo>
                  <a:pt x="0" y="430911"/>
                </a:lnTo>
                <a:lnTo>
                  <a:pt x="5328158" y="430911"/>
                </a:lnTo>
                <a:lnTo>
                  <a:pt x="5328158" y="574548"/>
                </a:lnTo>
                <a:lnTo>
                  <a:pt x="5615939" y="287274"/>
                </a:lnTo>
                <a:lnTo>
                  <a:pt x="532815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77517" y="4187190"/>
            <a:ext cx="5615940" cy="574675"/>
          </a:xfrm>
          <a:custGeom>
            <a:avLst/>
            <a:gdLst/>
            <a:ahLst/>
            <a:cxnLst/>
            <a:rect l="l" t="t" r="r" b="b"/>
            <a:pathLst>
              <a:path w="5615940" h="574675">
                <a:moveTo>
                  <a:pt x="0" y="143637"/>
                </a:moveTo>
                <a:lnTo>
                  <a:pt x="5328158" y="143637"/>
                </a:lnTo>
                <a:lnTo>
                  <a:pt x="5328158" y="0"/>
                </a:lnTo>
                <a:lnTo>
                  <a:pt x="5615939" y="287274"/>
                </a:lnTo>
                <a:lnTo>
                  <a:pt x="5328158" y="574548"/>
                </a:lnTo>
                <a:lnTo>
                  <a:pt x="5328158" y="430911"/>
                </a:lnTo>
                <a:lnTo>
                  <a:pt x="0" y="430911"/>
                </a:lnTo>
                <a:lnTo>
                  <a:pt x="0" y="14363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外部查询例子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59" y="1700783"/>
            <a:ext cx="8497824" cy="3888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3284982"/>
            <a:ext cx="9144000" cy="1584960"/>
          </a:xfrm>
          <a:custGeom>
            <a:avLst/>
            <a:gdLst/>
            <a:ahLst/>
            <a:cxnLst/>
            <a:rect l="l" t="t" r="r" b="b"/>
            <a:pathLst>
              <a:path w="9144000" h="1584960">
                <a:moveTo>
                  <a:pt x="0" y="792479"/>
                </a:moveTo>
                <a:lnTo>
                  <a:pt x="5595" y="752930"/>
                </a:lnTo>
                <a:lnTo>
                  <a:pt x="22207" y="713881"/>
                </a:lnTo>
                <a:lnTo>
                  <a:pt x="49572" y="675380"/>
                </a:lnTo>
                <a:lnTo>
                  <a:pt x="87431" y="637471"/>
                </a:lnTo>
                <a:lnTo>
                  <a:pt x="118369" y="612550"/>
                </a:lnTo>
                <a:lnTo>
                  <a:pt x="153777" y="587926"/>
                </a:lnTo>
                <a:lnTo>
                  <a:pt x="193576" y="563613"/>
                </a:lnTo>
                <a:lnTo>
                  <a:pt x="237689" y="539623"/>
                </a:lnTo>
                <a:lnTo>
                  <a:pt x="286039" y="515971"/>
                </a:lnTo>
                <a:lnTo>
                  <a:pt x="338547" y="492669"/>
                </a:lnTo>
                <a:lnTo>
                  <a:pt x="395137" y="469732"/>
                </a:lnTo>
                <a:lnTo>
                  <a:pt x="455730" y="447172"/>
                </a:lnTo>
                <a:lnTo>
                  <a:pt x="520249" y="425004"/>
                </a:lnTo>
                <a:lnTo>
                  <a:pt x="588616" y="403240"/>
                </a:lnTo>
                <a:lnTo>
                  <a:pt x="660754" y="381894"/>
                </a:lnTo>
                <a:lnTo>
                  <a:pt x="698213" y="371383"/>
                </a:lnTo>
                <a:lnTo>
                  <a:pt x="736585" y="360980"/>
                </a:lnTo>
                <a:lnTo>
                  <a:pt x="775861" y="350689"/>
                </a:lnTo>
                <a:lnTo>
                  <a:pt x="816031" y="340511"/>
                </a:lnTo>
                <a:lnTo>
                  <a:pt x="857086" y="330448"/>
                </a:lnTo>
                <a:lnTo>
                  <a:pt x="899016" y="320500"/>
                </a:lnTo>
                <a:lnTo>
                  <a:pt x="941810" y="310671"/>
                </a:lnTo>
                <a:lnTo>
                  <a:pt x="985460" y="300962"/>
                </a:lnTo>
                <a:lnTo>
                  <a:pt x="1029956" y="291373"/>
                </a:lnTo>
                <a:lnTo>
                  <a:pt x="1075287" y="281908"/>
                </a:lnTo>
                <a:lnTo>
                  <a:pt x="1121445" y="272568"/>
                </a:lnTo>
                <a:lnTo>
                  <a:pt x="1168419" y="263354"/>
                </a:lnTo>
                <a:lnTo>
                  <a:pt x="1216200" y="254267"/>
                </a:lnTo>
                <a:lnTo>
                  <a:pt x="1264778" y="245311"/>
                </a:lnTo>
                <a:lnTo>
                  <a:pt x="1314144" y="236486"/>
                </a:lnTo>
                <a:lnTo>
                  <a:pt x="1364288" y="227795"/>
                </a:lnTo>
                <a:lnTo>
                  <a:pt x="1415199" y="219238"/>
                </a:lnTo>
                <a:lnTo>
                  <a:pt x="1466869" y="210817"/>
                </a:lnTo>
                <a:lnTo>
                  <a:pt x="1519287" y="202535"/>
                </a:lnTo>
                <a:lnTo>
                  <a:pt x="1572445" y="194393"/>
                </a:lnTo>
                <a:lnTo>
                  <a:pt x="1626331" y="186392"/>
                </a:lnTo>
                <a:lnTo>
                  <a:pt x="1680937" y="178534"/>
                </a:lnTo>
                <a:lnTo>
                  <a:pt x="1736253" y="170821"/>
                </a:lnTo>
                <a:lnTo>
                  <a:pt x="1792269" y="163255"/>
                </a:lnTo>
                <a:lnTo>
                  <a:pt x="1848976" y="155837"/>
                </a:lnTo>
                <a:lnTo>
                  <a:pt x="1906363" y="148569"/>
                </a:lnTo>
                <a:lnTo>
                  <a:pt x="1964421" y="141452"/>
                </a:lnTo>
                <a:lnTo>
                  <a:pt x="2023141" y="134489"/>
                </a:lnTo>
                <a:lnTo>
                  <a:pt x="2082512" y="127681"/>
                </a:lnTo>
                <a:lnTo>
                  <a:pt x="2142525" y="121030"/>
                </a:lnTo>
                <a:lnTo>
                  <a:pt x="2203170" y="114537"/>
                </a:lnTo>
                <a:lnTo>
                  <a:pt x="2264438" y="108203"/>
                </a:lnTo>
                <a:lnTo>
                  <a:pt x="2326318" y="102032"/>
                </a:lnTo>
                <a:lnTo>
                  <a:pt x="2388802" y="96024"/>
                </a:lnTo>
                <a:lnTo>
                  <a:pt x="2451879" y="90181"/>
                </a:lnTo>
                <a:lnTo>
                  <a:pt x="2515540" y="84505"/>
                </a:lnTo>
                <a:lnTo>
                  <a:pt x="2579774" y="78997"/>
                </a:lnTo>
                <a:lnTo>
                  <a:pt x="2644573" y="73660"/>
                </a:lnTo>
                <a:lnTo>
                  <a:pt x="2709927" y="68494"/>
                </a:lnTo>
                <a:lnTo>
                  <a:pt x="2775826" y="63502"/>
                </a:lnTo>
                <a:lnTo>
                  <a:pt x="2842259" y="58685"/>
                </a:lnTo>
                <a:lnTo>
                  <a:pt x="2909218" y="54045"/>
                </a:lnTo>
                <a:lnTo>
                  <a:pt x="2976693" y="49583"/>
                </a:lnTo>
                <a:lnTo>
                  <a:pt x="3044674" y="45301"/>
                </a:lnTo>
                <a:lnTo>
                  <a:pt x="3113152" y="41202"/>
                </a:lnTo>
                <a:lnTo>
                  <a:pt x="3182116" y="37286"/>
                </a:lnTo>
                <a:lnTo>
                  <a:pt x="3251557" y="33555"/>
                </a:lnTo>
                <a:lnTo>
                  <a:pt x="3321465" y="30011"/>
                </a:lnTo>
                <a:lnTo>
                  <a:pt x="3391831" y="26656"/>
                </a:lnTo>
                <a:lnTo>
                  <a:pt x="3462645" y="23491"/>
                </a:lnTo>
                <a:lnTo>
                  <a:pt x="3533897" y="20518"/>
                </a:lnTo>
                <a:lnTo>
                  <a:pt x="3605578" y="17739"/>
                </a:lnTo>
                <a:lnTo>
                  <a:pt x="3677677" y="15155"/>
                </a:lnTo>
                <a:lnTo>
                  <a:pt x="3750185" y="12768"/>
                </a:lnTo>
                <a:lnTo>
                  <a:pt x="3823093" y="10580"/>
                </a:lnTo>
                <a:lnTo>
                  <a:pt x="3896390" y="8593"/>
                </a:lnTo>
                <a:lnTo>
                  <a:pt x="3970067" y="6807"/>
                </a:lnTo>
                <a:lnTo>
                  <a:pt x="4044115" y="5225"/>
                </a:lnTo>
                <a:lnTo>
                  <a:pt x="4118523" y="3849"/>
                </a:lnTo>
                <a:lnTo>
                  <a:pt x="4193282" y="2680"/>
                </a:lnTo>
                <a:lnTo>
                  <a:pt x="4268382" y="1719"/>
                </a:lnTo>
                <a:lnTo>
                  <a:pt x="4343813" y="969"/>
                </a:lnTo>
                <a:lnTo>
                  <a:pt x="4419567" y="432"/>
                </a:lnTo>
                <a:lnTo>
                  <a:pt x="4495632" y="108"/>
                </a:lnTo>
                <a:lnTo>
                  <a:pt x="4572000" y="0"/>
                </a:lnTo>
                <a:lnTo>
                  <a:pt x="4648367" y="108"/>
                </a:lnTo>
                <a:lnTo>
                  <a:pt x="4724432" y="432"/>
                </a:lnTo>
                <a:lnTo>
                  <a:pt x="4800186" y="969"/>
                </a:lnTo>
                <a:lnTo>
                  <a:pt x="4875617" y="1719"/>
                </a:lnTo>
                <a:lnTo>
                  <a:pt x="4950717" y="2680"/>
                </a:lnTo>
                <a:lnTo>
                  <a:pt x="5025476" y="3849"/>
                </a:lnTo>
                <a:lnTo>
                  <a:pt x="5099884" y="5225"/>
                </a:lnTo>
                <a:lnTo>
                  <a:pt x="5173932" y="6807"/>
                </a:lnTo>
                <a:lnTo>
                  <a:pt x="5247609" y="8593"/>
                </a:lnTo>
                <a:lnTo>
                  <a:pt x="5320906" y="10580"/>
                </a:lnTo>
                <a:lnTo>
                  <a:pt x="5393814" y="12768"/>
                </a:lnTo>
                <a:lnTo>
                  <a:pt x="5466322" y="15155"/>
                </a:lnTo>
                <a:lnTo>
                  <a:pt x="5538421" y="17739"/>
                </a:lnTo>
                <a:lnTo>
                  <a:pt x="5610102" y="20518"/>
                </a:lnTo>
                <a:lnTo>
                  <a:pt x="5681354" y="23491"/>
                </a:lnTo>
                <a:lnTo>
                  <a:pt x="5752168" y="26656"/>
                </a:lnTo>
                <a:lnTo>
                  <a:pt x="5822534" y="30011"/>
                </a:lnTo>
                <a:lnTo>
                  <a:pt x="5892442" y="33555"/>
                </a:lnTo>
                <a:lnTo>
                  <a:pt x="5961883" y="37286"/>
                </a:lnTo>
                <a:lnTo>
                  <a:pt x="6030847" y="41202"/>
                </a:lnTo>
                <a:lnTo>
                  <a:pt x="6099325" y="45301"/>
                </a:lnTo>
                <a:lnTo>
                  <a:pt x="6167306" y="49583"/>
                </a:lnTo>
                <a:lnTo>
                  <a:pt x="6234781" y="54045"/>
                </a:lnTo>
                <a:lnTo>
                  <a:pt x="6301740" y="58685"/>
                </a:lnTo>
                <a:lnTo>
                  <a:pt x="6368173" y="63502"/>
                </a:lnTo>
                <a:lnTo>
                  <a:pt x="6434072" y="68494"/>
                </a:lnTo>
                <a:lnTo>
                  <a:pt x="6499426" y="73660"/>
                </a:lnTo>
                <a:lnTo>
                  <a:pt x="6564225" y="78997"/>
                </a:lnTo>
                <a:lnTo>
                  <a:pt x="6628459" y="84505"/>
                </a:lnTo>
                <a:lnTo>
                  <a:pt x="6692120" y="90181"/>
                </a:lnTo>
                <a:lnTo>
                  <a:pt x="6755197" y="96024"/>
                </a:lnTo>
                <a:lnTo>
                  <a:pt x="6817681" y="102032"/>
                </a:lnTo>
                <a:lnTo>
                  <a:pt x="6879561" y="108204"/>
                </a:lnTo>
                <a:lnTo>
                  <a:pt x="6940829" y="114537"/>
                </a:lnTo>
                <a:lnTo>
                  <a:pt x="7001474" y="121030"/>
                </a:lnTo>
                <a:lnTo>
                  <a:pt x="7061487" y="127681"/>
                </a:lnTo>
                <a:lnTo>
                  <a:pt x="7120858" y="134489"/>
                </a:lnTo>
                <a:lnTo>
                  <a:pt x="7179578" y="141452"/>
                </a:lnTo>
                <a:lnTo>
                  <a:pt x="7237636" y="148569"/>
                </a:lnTo>
                <a:lnTo>
                  <a:pt x="7295023" y="155837"/>
                </a:lnTo>
                <a:lnTo>
                  <a:pt x="7351730" y="163255"/>
                </a:lnTo>
                <a:lnTo>
                  <a:pt x="7407746" y="170821"/>
                </a:lnTo>
                <a:lnTo>
                  <a:pt x="7463062" y="178534"/>
                </a:lnTo>
                <a:lnTo>
                  <a:pt x="7517668" y="186392"/>
                </a:lnTo>
                <a:lnTo>
                  <a:pt x="7571554" y="194393"/>
                </a:lnTo>
                <a:lnTo>
                  <a:pt x="7624712" y="202535"/>
                </a:lnTo>
                <a:lnTo>
                  <a:pt x="7677130" y="210817"/>
                </a:lnTo>
                <a:lnTo>
                  <a:pt x="7728800" y="219238"/>
                </a:lnTo>
                <a:lnTo>
                  <a:pt x="7779711" y="227795"/>
                </a:lnTo>
                <a:lnTo>
                  <a:pt x="7829855" y="236486"/>
                </a:lnTo>
                <a:lnTo>
                  <a:pt x="7879221" y="245311"/>
                </a:lnTo>
                <a:lnTo>
                  <a:pt x="7927799" y="254267"/>
                </a:lnTo>
                <a:lnTo>
                  <a:pt x="7975580" y="263354"/>
                </a:lnTo>
                <a:lnTo>
                  <a:pt x="8022554" y="272568"/>
                </a:lnTo>
                <a:lnTo>
                  <a:pt x="8068712" y="281908"/>
                </a:lnTo>
                <a:lnTo>
                  <a:pt x="8114043" y="291373"/>
                </a:lnTo>
                <a:lnTo>
                  <a:pt x="8158539" y="300962"/>
                </a:lnTo>
                <a:lnTo>
                  <a:pt x="8202189" y="310671"/>
                </a:lnTo>
                <a:lnTo>
                  <a:pt x="8244983" y="320500"/>
                </a:lnTo>
                <a:lnTo>
                  <a:pt x="8286913" y="330448"/>
                </a:lnTo>
                <a:lnTo>
                  <a:pt x="8327968" y="340511"/>
                </a:lnTo>
                <a:lnTo>
                  <a:pt x="8368138" y="350689"/>
                </a:lnTo>
                <a:lnTo>
                  <a:pt x="8407414" y="360980"/>
                </a:lnTo>
                <a:lnTo>
                  <a:pt x="8445786" y="371383"/>
                </a:lnTo>
                <a:lnTo>
                  <a:pt x="8483245" y="381894"/>
                </a:lnTo>
                <a:lnTo>
                  <a:pt x="8555383" y="403240"/>
                </a:lnTo>
                <a:lnTo>
                  <a:pt x="8623750" y="425004"/>
                </a:lnTo>
                <a:lnTo>
                  <a:pt x="8688269" y="447172"/>
                </a:lnTo>
                <a:lnTo>
                  <a:pt x="8748862" y="469732"/>
                </a:lnTo>
                <a:lnTo>
                  <a:pt x="8805452" y="492669"/>
                </a:lnTo>
                <a:lnTo>
                  <a:pt x="8857960" y="515971"/>
                </a:lnTo>
                <a:lnTo>
                  <a:pt x="8906310" y="539623"/>
                </a:lnTo>
                <a:lnTo>
                  <a:pt x="8950423" y="563613"/>
                </a:lnTo>
                <a:lnTo>
                  <a:pt x="8990222" y="587926"/>
                </a:lnTo>
                <a:lnTo>
                  <a:pt x="9025630" y="612550"/>
                </a:lnTo>
                <a:lnTo>
                  <a:pt x="9056568" y="637471"/>
                </a:lnTo>
                <a:lnTo>
                  <a:pt x="9094427" y="675380"/>
                </a:lnTo>
                <a:lnTo>
                  <a:pt x="9121792" y="713881"/>
                </a:lnTo>
                <a:lnTo>
                  <a:pt x="9138404" y="752930"/>
                </a:lnTo>
                <a:lnTo>
                  <a:pt x="9144000" y="792479"/>
                </a:lnTo>
                <a:lnTo>
                  <a:pt x="9143375" y="805716"/>
                </a:lnTo>
                <a:lnTo>
                  <a:pt x="9134078" y="845104"/>
                </a:lnTo>
                <a:lnTo>
                  <a:pt x="9113852" y="883975"/>
                </a:lnTo>
                <a:lnTo>
                  <a:pt x="9082960" y="922283"/>
                </a:lnTo>
                <a:lnTo>
                  <a:pt x="9041663" y="959985"/>
                </a:lnTo>
                <a:lnTo>
                  <a:pt x="9008480" y="984759"/>
                </a:lnTo>
                <a:lnTo>
                  <a:pt x="8970867" y="1009229"/>
                </a:lnTo>
                <a:lnTo>
                  <a:pt x="8928901" y="1033382"/>
                </a:lnTo>
                <a:lnTo>
                  <a:pt x="8882659" y="1057205"/>
                </a:lnTo>
                <a:lnTo>
                  <a:pt x="8832221" y="1080684"/>
                </a:lnTo>
                <a:lnTo>
                  <a:pt x="8777662" y="1103805"/>
                </a:lnTo>
                <a:lnTo>
                  <a:pt x="8719061" y="1126555"/>
                </a:lnTo>
                <a:lnTo>
                  <a:pt x="8656495" y="1148921"/>
                </a:lnTo>
                <a:lnTo>
                  <a:pt x="8590043" y="1170888"/>
                </a:lnTo>
                <a:lnTo>
                  <a:pt x="8519780" y="1192445"/>
                </a:lnTo>
                <a:lnTo>
                  <a:pt x="8445786" y="1213576"/>
                </a:lnTo>
                <a:lnTo>
                  <a:pt x="8407414" y="1223979"/>
                </a:lnTo>
                <a:lnTo>
                  <a:pt x="8368138" y="1234270"/>
                </a:lnTo>
                <a:lnTo>
                  <a:pt x="8327968" y="1244448"/>
                </a:lnTo>
                <a:lnTo>
                  <a:pt x="8286913" y="1254511"/>
                </a:lnTo>
                <a:lnTo>
                  <a:pt x="8244983" y="1264459"/>
                </a:lnTo>
                <a:lnTo>
                  <a:pt x="8202189" y="1274288"/>
                </a:lnTo>
                <a:lnTo>
                  <a:pt x="8158539" y="1283997"/>
                </a:lnTo>
                <a:lnTo>
                  <a:pt x="8114043" y="1293586"/>
                </a:lnTo>
                <a:lnTo>
                  <a:pt x="8068712" y="1303051"/>
                </a:lnTo>
                <a:lnTo>
                  <a:pt x="8022554" y="1312391"/>
                </a:lnTo>
                <a:lnTo>
                  <a:pt x="7975580" y="1321605"/>
                </a:lnTo>
                <a:lnTo>
                  <a:pt x="7927799" y="1330692"/>
                </a:lnTo>
                <a:lnTo>
                  <a:pt x="7879221" y="1339648"/>
                </a:lnTo>
                <a:lnTo>
                  <a:pt x="7829855" y="1348473"/>
                </a:lnTo>
                <a:lnTo>
                  <a:pt x="7779711" y="1357164"/>
                </a:lnTo>
                <a:lnTo>
                  <a:pt x="7728800" y="1365721"/>
                </a:lnTo>
                <a:lnTo>
                  <a:pt x="7677130" y="1374142"/>
                </a:lnTo>
                <a:lnTo>
                  <a:pt x="7624712" y="1382424"/>
                </a:lnTo>
                <a:lnTo>
                  <a:pt x="7571554" y="1390566"/>
                </a:lnTo>
                <a:lnTo>
                  <a:pt x="7517668" y="1398567"/>
                </a:lnTo>
                <a:lnTo>
                  <a:pt x="7463062" y="1406425"/>
                </a:lnTo>
                <a:lnTo>
                  <a:pt x="7407746" y="1414138"/>
                </a:lnTo>
                <a:lnTo>
                  <a:pt x="7351730" y="1421704"/>
                </a:lnTo>
                <a:lnTo>
                  <a:pt x="7295023" y="1429122"/>
                </a:lnTo>
                <a:lnTo>
                  <a:pt x="7237636" y="1436390"/>
                </a:lnTo>
                <a:lnTo>
                  <a:pt x="7179578" y="1443507"/>
                </a:lnTo>
                <a:lnTo>
                  <a:pt x="7120858" y="1450470"/>
                </a:lnTo>
                <a:lnTo>
                  <a:pt x="7061487" y="1457278"/>
                </a:lnTo>
                <a:lnTo>
                  <a:pt x="7001474" y="1463929"/>
                </a:lnTo>
                <a:lnTo>
                  <a:pt x="6940829" y="1470422"/>
                </a:lnTo>
                <a:lnTo>
                  <a:pt x="6879561" y="1476756"/>
                </a:lnTo>
                <a:lnTo>
                  <a:pt x="6817681" y="1482927"/>
                </a:lnTo>
                <a:lnTo>
                  <a:pt x="6755197" y="1488935"/>
                </a:lnTo>
                <a:lnTo>
                  <a:pt x="6692120" y="1494778"/>
                </a:lnTo>
                <a:lnTo>
                  <a:pt x="6628459" y="1500454"/>
                </a:lnTo>
                <a:lnTo>
                  <a:pt x="6564225" y="1505962"/>
                </a:lnTo>
                <a:lnTo>
                  <a:pt x="6499426" y="1511299"/>
                </a:lnTo>
                <a:lnTo>
                  <a:pt x="6434072" y="1516465"/>
                </a:lnTo>
                <a:lnTo>
                  <a:pt x="6368173" y="1521457"/>
                </a:lnTo>
                <a:lnTo>
                  <a:pt x="6301740" y="1526274"/>
                </a:lnTo>
                <a:lnTo>
                  <a:pt x="6234781" y="1530914"/>
                </a:lnTo>
                <a:lnTo>
                  <a:pt x="6167306" y="1535376"/>
                </a:lnTo>
                <a:lnTo>
                  <a:pt x="6099325" y="1539658"/>
                </a:lnTo>
                <a:lnTo>
                  <a:pt x="6030847" y="1543757"/>
                </a:lnTo>
                <a:lnTo>
                  <a:pt x="5961883" y="1547673"/>
                </a:lnTo>
                <a:lnTo>
                  <a:pt x="5892442" y="1551404"/>
                </a:lnTo>
                <a:lnTo>
                  <a:pt x="5822534" y="1554948"/>
                </a:lnTo>
                <a:lnTo>
                  <a:pt x="5752168" y="1558303"/>
                </a:lnTo>
                <a:lnTo>
                  <a:pt x="5681354" y="1561468"/>
                </a:lnTo>
                <a:lnTo>
                  <a:pt x="5610102" y="1564441"/>
                </a:lnTo>
                <a:lnTo>
                  <a:pt x="5538421" y="1567220"/>
                </a:lnTo>
                <a:lnTo>
                  <a:pt x="5466322" y="1569804"/>
                </a:lnTo>
                <a:lnTo>
                  <a:pt x="5393814" y="1572191"/>
                </a:lnTo>
                <a:lnTo>
                  <a:pt x="5320906" y="1574379"/>
                </a:lnTo>
                <a:lnTo>
                  <a:pt x="5247609" y="1576366"/>
                </a:lnTo>
                <a:lnTo>
                  <a:pt x="5173932" y="1578152"/>
                </a:lnTo>
                <a:lnTo>
                  <a:pt x="5099884" y="1579734"/>
                </a:lnTo>
                <a:lnTo>
                  <a:pt x="5025476" y="1581110"/>
                </a:lnTo>
                <a:lnTo>
                  <a:pt x="4950717" y="1582279"/>
                </a:lnTo>
                <a:lnTo>
                  <a:pt x="4875617" y="1583240"/>
                </a:lnTo>
                <a:lnTo>
                  <a:pt x="4800186" y="1583990"/>
                </a:lnTo>
                <a:lnTo>
                  <a:pt x="4724432" y="1584527"/>
                </a:lnTo>
                <a:lnTo>
                  <a:pt x="4648367" y="1584851"/>
                </a:lnTo>
                <a:lnTo>
                  <a:pt x="4572000" y="1584959"/>
                </a:lnTo>
                <a:lnTo>
                  <a:pt x="4495632" y="1584851"/>
                </a:lnTo>
                <a:lnTo>
                  <a:pt x="4419567" y="1584527"/>
                </a:lnTo>
                <a:lnTo>
                  <a:pt x="4343813" y="1583990"/>
                </a:lnTo>
                <a:lnTo>
                  <a:pt x="4268382" y="1583240"/>
                </a:lnTo>
                <a:lnTo>
                  <a:pt x="4193282" y="1582279"/>
                </a:lnTo>
                <a:lnTo>
                  <a:pt x="4118523" y="1581110"/>
                </a:lnTo>
                <a:lnTo>
                  <a:pt x="4044115" y="1579734"/>
                </a:lnTo>
                <a:lnTo>
                  <a:pt x="3970067" y="1578152"/>
                </a:lnTo>
                <a:lnTo>
                  <a:pt x="3896390" y="1576366"/>
                </a:lnTo>
                <a:lnTo>
                  <a:pt x="3823093" y="1574379"/>
                </a:lnTo>
                <a:lnTo>
                  <a:pt x="3750185" y="1572191"/>
                </a:lnTo>
                <a:lnTo>
                  <a:pt x="3677677" y="1569804"/>
                </a:lnTo>
                <a:lnTo>
                  <a:pt x="3605578" y="1567220"/>
                </a:lnTo>
                <a:lnTo>
                  <a:pt x="3533897" y="1564441"/>
                </a:lnTo>
                <a:lnTo>
                  <a:pt x="3462645" y="1561468"/>
                </a:lnTo>
                <a:lnTo>
                  <a:pt x="3391831" y="1558303"/>
                </a:lnTo>
                <a:lnTo>
                  <a:pt x="3321465" y="1554948"/>
                </a:lnTo>
                <a:lnTo>
                  <a:pt x="3251557" y="1551404"/>
                </a:lnTo>
                <a:lnTo>
                  <a:pt x="3182116" y="1547673"/>
                </a:lnTo>
                <a:lnTo>
                  <a:pt x="3113152" y="1543757"/>
                </a:lnTo>
                <a:lnTo>
                  <a:pt x="3044674" y="1539658"/>
                </a:lnTo>
                <a:lnTo>
                  <a:pt x="2976693" y="1535376"/>
                </a:lnTo>
                <a:lnTo>
                  <a:pt x="2909218" y="1530914"/>
                </a:lnTo>
                <a:lnTo>
                  <a:pt x="2842259" y="1526274"/>
                </a:lnTo>
                <a:lnTo>
                  <a:pt x="2775826" y="1521457"/>
                </a:lnTo>
                <a:lnTo>
                  <a:pt x="2709927" y="1516465"/>
                </a:lnTo>
                <a:lnTo>
                  <a:pt x="2644573" y="1511299"/>
                </a:lnTo>
                <a:lnTo>
                  <a:pt x="2579774" y="1505962"/>
                </a:lnTo>
                <a:lnTo>
                  <a:pt x="2515540" y="1500454"/>
                </a:lnTo>
                <a:lnTo>
                  <a:pt x="2451879" y="1494778"/>
                </a:lnTo>
                <a:lnTo>
                  <a:pt x="2388802" y="1488935"/>
                </a:lnTo>
                <a:lnTo>
                  <a:pt x="2326318" y="1482927"/>
                </a:lnTo>
                <a:lnTo>
                  <a:pt x="2264438" y="1476755"/>
                </a:lnTo>
                <a:lnTo>
                  <a:pt x="2203170" y="1470422"/>
                </a:lnTo>
                <a:lnTo>
                  <a:pt x="2142525" y="1463929"/>
                </a:lnTo>
                <a:lnTo>
                  <a:pt x="2082512" y="1457278"/>
                </a:lnTo>
                <a:lnTo>
                  <a:pt x="2023141" y="1450470"/>
                </a:lnTo>
                <a:lnTo>
                  <a:pt x="1964421" y="1443507"/>
                </a:lnTo>
                <a:lnTo>
                  <a:pt x="1906363" y="1436390"/>
                </a:lnTo>
                <a:lnTo>
                  <a:pt x="1848976" y="1429122"/>
                </a:lnTo>
                <a:lnTo>
                  <a:pt x="1792269" y="1421704"/>
                </a:lnTo>
                <a:lnTo>
                  <a:pt x="1736253" y="1414138"/>
                </a:lnTo>
                <a:lnTo>
                  <a:pt x="1680937" y="1406425"/>
                </a:lnTo>
                <a:lnTo>
                  <a:pt x="1626331" y="1398567"/>
                </a:lnTo>
                <a:lnTo>
                  <a:pt x="1572445" y="1390566"/>
                </a:lnTo>
                <a:lnTo>
                  <a:pt x="1519287" y="1382424"/>
                </a:lnTo>
                <a:lnTo>
                  <a:pt x="1466869" y="1374142"/>
                </a:lnTo>
                <a:lnTo>
                  <a:pt x="1415199" y="1365721"/>
                </a:lnTo>
                <a:lnTo>
                  <a:pt x="1364288" y="1357164"/>
                </a:lnTo>
                <a:lnTo>
                  <a:pt x="1314144" y="1348473"/>
                </a:lnTo>
                <a:lnTo>
                  <a:pt x="1264778" y="1339648"/>
                </a:lnTo>
                <a:lnTo>
                  <a:pt x="1216200" y="1330692"/>
                </a:lnTo>
                <a:lnTo>
                  <a:pt x="1168419" y="1321605"/>
                </a:lnTo>
                <a:lnTo>
                  <a:pt x="1121445" y="1312391"/>
                </a:lnTo>
                <a:lnTo>
                  <a:pt x="1075287" y="1303051"/>
                </a:lnTo>
                <a:lnTo>
                  <a:pt x="1029956" y="1293586"/>
                </a:lnTo>
                <a:lnTo>
                  <a:pt x="985460" y="1283997"/>
                </a:lnTo>
                <a:lnTo>
                  <a:pt x="941810" y="1274288"/>
                </a:lnTo>
                <a:lnTo>
                  <a:pt x="899016" y="1264459"/>
                </a:lnTo>
                <a:lnTo>
                  <a:pt x="857086" y="1254511"/>
                </a:lnTo>
                <a:lnTo>
                  <a:pt x="816031" y="1244448"/>
                </a:lnTo>
                <a:lnTo>
                  <a:pt x="775861" y="1234270"/>
                </a:lnTo>
                <a:lnTo>
                  <a:pt x="736585" y="1223979"/>
                </a:lnTo>
                <a:lnTo>
                  <a:pt x="698213" y="1213576"/>
                </a:lnTo>
                <a:lnTo>
                  <a:pt x="660754" y="1203065"/>
                </a:lnTo>
                <a:lnTo>
                  <a:pt x="588616" y="1181719"/>
                </a:lnTo>
                <a:lnTo>
                  <a:pt x="520249" y="1159955"/>
                </a:lnTo>
                <a:lnTo>
                  <a:pt x="455730" y="1137787"/>
                </a:lnTo>
                <a:lnTo>
                  <a:pt x="395137" y="1115227"/>
                </a:lnTo>
                <a:lnTo>
                  <a:pt x="338547" y="1092290"/>
                </a:lnTo>
                <a:lnTo>
                  <a:pt x="286039" y="1068988"/>
                </a:lnTo>
                <a:lnTo>
                  <a:pt x="237689" y="1045336"/>
                </a:lnTo>
                <a:lnTo>
                  <a:pt x="193576" y="1021346"/>
                </a:lnTo>
                <a:lnTo>
                  <a:pt x="153777" y="997033"/>
                </a:lnTo>
                <a:lnTo>
                  <a:pt x="118369" y="972409"/>
                </a:lnTo>
                <a:lnTo>
                  <a:pt x="87431" y="947488"/>
                </a:lnTo>
                <a:lnTo>
                  <a:pt x="49572" y="909579"/>
                </a:lnTo>
                <a:lnTo>
                  <a:pt x="22207" y="871078"/>
                </a:lnTo>
                <a:lnTo>
                  <a:pt x="5595" y="832029"/>
                </a:lnTo>
                <a:lnTo>
                  <a:pt x="0" y="792479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44855"/>
            <a:ext cx="9026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外部接口文件（External</a:t>
            </a:r>
            <a:r>
              <a:rPr sz="3600" spc="-30" dirty="0"/>
              <a:t> </a:t>
            </a:r>
            <a:r>
              <a:rPr sz="3600" spc="-5" dirty="0"/>
              <a:t>Interface</a:t>
            </a:r>
            <a:r>
              <a:rPr sz="3600" spc="-25" dirty="0"/>
              <a:t> </a:t>
            </a:r>
            <a:r>
              <a:rPr sz="3600" dirty="0"/>
              <a:t>Files</a:t>
            </a:r>
            <a:r>
              <a:rPr sz="3600" spc="-30" dirty="0"/>
              <a:t> </a:t>
            </a:r>
            <a:r>
              <a:rPr sz="3600" dirty="0"/>
              <a:t>EIF’s）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9361" y="1628394"/>
            <a:ext cx="8891270" cy="1297305"/>
          </a:xfrm>
          <a:custGeom>
            <a:avLst/>
            <a:gdLst/>
            <a:ahLst/>
            <a:cxnLst/>
            <a:rect l="l" t="t" r="r" b="b"/>
            <a:pathLst>
              <a:path w="8891270" h="1297305">
                <a:moveTo>
                  <a:pt x="0" y="1296924"/>
                </a:moveTo>
                <a:lnTo>
                  <a:pt x="8891016" y="1296924"/>
                </a:lnTo>
                <a:lnTo>
                  <a:pt x="8891016" y="0"/>
                </a:lnTo>
                <a:lnTo>
                  <a:pt x="0" y="0"/>
                </a:lnTo>
                <a:lnTo>
                  <a:pt x="0" y="1296924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340" y="1631391"/>
            <a:ext cx="8502650" cy="1352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新魏"/>
                <a:cs typeface="华文新魏"/>
              </a:rPr>
              <a:t>外部接口文件是用户可</a:t>
            </a:r>
            <a:r>
              <a:rPr sz="2900" spc="-10" dirty="0">
                <a:latin typeface="华文新魏"/>
                <a:cs typeface="华文新魏"/>
              </a:rPr>
              <a:t>以</a:t>
            </a:r>
            <a:r>
              <a:rPr sz="2900" dirty="0">
                <a:latin typeface="华文新魏"/>
                <a:cs typeface="华文新魏"/>
              </a:rPr>
              <a:t>识别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一组</a:t>
            </a:r>
            <a:r>
              <a:rPr sz="2900" spc="-10" dirty="0">
                <a:latin typeface="华文新魏"/>
                <a:cs typeface="华文新魏"/>
              </a:rPr>
              <a:t>逻</a:t>
            </a:r>
            <a:r>
              <a:rPr sz="2900" dirty="0">
                <a:latin typeface="华文新魏"/>
                <a:cs typeface="华文新魏"/>
              </a:rPr>
              <a:t>辑相</a:t>
            </a:r>
            <a:r>
              <a:rPr sz="2900" spc="-10" dirty="0">
                <a:latin typeface="华文新魏"/>
                <a:cs typeface="华文新魏"/>
              </a:rPr>
              <a:t>关</a:t>
            </a:r>
            <a:r>
              <a:rPr sz="2900" dirty="0">
                <a:latin typeface="华文新魏"/>
                <a:cs typeface="华文新魏"/>
              </a:rPr>
              <a:t>数据， 这组数据只能被引用。</a:t>
            </a:r>
            <a:r>
              <a:rPr sz="2900" spc="-15" dirty="0">
                <a:latin typeface="华文新魏"/>
                <a:cs typeface="华文新魏"/>
              </a:rPr>
              <a:t>用</a:t>
            </a:r>
            <a:r>
              <a:rPr sz="2900" dirty="0">
                <a:latin typeface="华文新魏"/>
                <a:cs typeface="华文新魏"/>
              </a:rPr>
              <a:t>这些</a:t>
            </a:r>
            <a:r>
              <a:rPr sz="2900" spc="-15" dirty="0">
                <a:latin typeface="华文新魏"/>
                <a:cs typeface="华文新魏"/>
              </a:rPr>
              <a:t>接</a:t>
            </a:r>
            <a:r>
              <a:rPr sz="2900" dirty="0">
                <a:latin typeface="华文新魏"/>
                <a:cs typeface="华文新魏"/>
              </a:rPr>
              <a:t>口把</a:t>
            </a:r>
            <a:r>
              <a:rPr sz="2900" spc="-15" dirty="0">
                <a:latin typeface="华文新魏"/>
                <a:cs typeface="华文新魏"/>
              </a:rPr>
              <a:t>信</a:t>
            </a:r>
            <a:r>
              <a:rPr sz="2900" dirty="0">
                <a:latin typeface="华文新魏"/>
                <a:cs typeface="华文新魏"/>
              </a:rPr>
              <a:t>息传</a:t>
            </a:r>
            <a:r>
              <a:rPr sz="2900" spc="-15" dirty="0">
                <a:latin typeface="华文新魏"/>
                <a:cs typeface="华文新魏"/>
              </a:rPr>
              <a:t>送</a:t>
            </a:r>
            <a:r>
              <a:rPr sz="2900" dirty="0">
                <a:latin typeface="华文新魏"/>
                <a:cs typeface="华文新魏"/>
              </a:rPr>
              <a:t>给另一 个系统。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49908" y="2997707"/>
            <a:ext cx="6249923" cy="3371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17385" y="5446014"/>
            <a:ext cx="1440180" cy="792480"/>
          </a:xfrm>
          <a:custGeom>
            <a:avLst/>
            <a:gdLst/>
            <a:ahLst/>
            <a:cxnLst/>
            <a:rect l="l" t="t" r="r" b="b"/>
            <a:pathLst>
              <a:path w="1440179" h="792479">
                <a:moveTo>
                  <a:pt x="0" y="792480"/>
                </a:moveTo>
                <a:lnTo>
                  <a:pt x="1440179" y="792480"/>
                </a:lnTo>
                <a:lnTo>
                  <a:pt x="1440179" y="0"/>
                </a:lnTo>
                <a:lnTo>
                  <a:pt x="0" y="0"/>
                </a:lnTo>
                <a:lnTo>
                  <a:pt x="0" y="792480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868" y="250952"/>
            <a:ext cx="8488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内部逻辑文件</a:t>
            </a:r>
            <a:r>
              <a:rPr sz="3600" spc="-5" dirty="0"/>
              <a:t>(Internal</a:t>
            </a:r>
            <a:r>
              <a:rPr sz="3600" spc="-35" dirty="0"/>
              <a:t> </a:t>
            </a:r>
            <a:r>
              <a:rPr sz="3600" dirty="0"/>
              <a:t>Logical</a:t>
            </a:r>
            <a:r>
              <a:rPr sz="3600" spc="-35" dirty="0"/>
              <a:t> </a:t>
            </a:r>
            <a:r>
              <a:rPr sz="3600" dirty="0"/>
              <a:t>Files：</a:t>
            </a:r>
            <a:r>
              <a:rPr sz="3600" spc="-20" dirty="0"/>
              <a:t> </a:t>
            </a:r>
            <a:r>
              <a:rPr sz="3600" spc="-5" dirty="0"/>
              <a:t>ILF’S</a:t>
            </a:r>
            <a:r>
              <a:rPr sz="3600" i="0" spc="-5" dirty="0">
                <a:latin typeface="Tw Cen MT"/>
                <a:cs typeface="Tw Cen MT"/>
              </a:rPr>
              <a:t>)</a:t>
            </a:r>
            <a:endParaRPr sz="36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509" y="1701545"/>
            <a:ext cx="8676640" cy="13843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0805" marR="407034" algn="just">
              <a:lnSpc>
                <a:spcPct val="100000"/>
              </a:lnSpc>
              <a:spcBef>
                <a:spcPts val="135"/>
              </a:spcBef>
            </a:pPr>
            <a:r>
              <a:rPr sz="2800" spc="-5" dirty="0">
                <a:latin typeface="华文新魏"/>
                <a:cs typeface="华文新魏"/>
              </a:rPr>
              <a:t>用户可以识别的一组逻辑相关的数</a:t>
            </a:r>
            <a:r>
              <a:rPr sz="2800" dirty="0">
                <a:latin typeface="华文新魏"/>
                <a:cs typeface="华文新魏"/>
              </a:rPr>
              <a:t>据</a:t>
            </a:r>
            <a:r>
              <a:rPr sz="2800" spc="-5" dirty="0">
                <a:latin typeface="华文新魏"/>
                <a:cs typeface="华文新魏"/>
              </a:rPr>
              <a:t>，而</a:t>
            </a:r>
            <a:r>
              <a:rPr sz="2800" dirty="0">
                <a:latin typeface="华文新魏"/>
                <a:cs typeface="华文新魏"/>
              </a:rPr>
              <a:t>且</a:t>
            </a:r>
            <a:r>
              <a:rPr sz="2800" spc="-5" dirty="0">
                <a:latin typeface="华文新魏"/>
                <a:cs typeface="华文新魏"/>
              </a:rPr>
              <a:t>完全</a:t>
            </a:r>
            <a:r>
              <a:rPr sz="2800" dirty="0">
                <a:latin typeface="华文新魏"/>
                <a:cs typeface="华文新魏"/>
              </a:rPr>
              <a:t>存</a:t>
            </a:r>
            <a:r>
              <a:rPr sz="2800" spc="-5" dirty="0">
                <a:latin typeface="华文新魏"/>
                <a:cs typeface="华文新魏"/>
              </a:rPr>
              <a:t>在 于应用的边界之内，并且通过外部</a:t>
            </a:r>
            <a:r>
              <a:rPr sz="2800" dirty="0">
                <a:latin typeface="华文新魏"/>
                <a:cs typeface="华文新魏"/>
              </a:rPr>
              <a:t>输</a:t>
            </a:r>
            <a:r>
              <a:rPr sz="2800" spc="-5" dirty="0">
                <a:latin typeface="华文新魏"/>
                <a:cs typeface="华文新魏"/>
              </a:rPr>
              <a:t>入维</a:t>
            </a:r>
            <a:r>
              <a:rPr sz="2800" dirty="0">
                <a:latin typeface="华文新魏"/>
                <a:cs typeface="华文新魏"/>
              </a:rPr>
              <a:t>护</a:t>
            </a:r>
            <a:r>
              <a:rPr sz="2800" spc="-5" dirty="0">
                <a:latin typeface="华文新魏"/>
                <a:cs typeface="华文新魏"/>
              </a:rPr>
              <a:t>，是</a:t>
            </a:r>
            <a:r>
              <a:rPr sz="2800" dirty="0">
                <a:latin typeface="华文新魏"/>
                <a:cs typeface="华文新魏"/>
              </a:rPr>
              <a:t>逻</a:t>
            </a:r>
            <a:r>
              <a:rPr sz="2800" spc="-5" dirty="0">
                <a:latin typeface="华文新魏"/>
                <a:cs typeface="华文新魏"/>
              </a:rPr>
              <a:t>辑 主文件的数目。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34895" y="3212552"/>
            <a:ext cx="5546003" cy="3096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32426" y="3861053"/>
            <a:ext cx="2161540" cy="1945005"/>
          </a:xfrm>
          <a:custGeom>
            <a:avLst/>
            <a:gdLst/>
            <a:ahLst/>
            <a:cxnLst/>
            <a:rect l="l" t="t" r="r" b="b"/>
            <a:pathLst>
              <a:path w="2161540" h="1945004">
                <a:moveTo>
                  <a:pt x="1080515" y="0"/>
                </a:moveTo>
                <a:lnTo>
                  <a:pt x="1009469" y="689"/>
                </a:lnTo>
                <a:lnTo>
                  <a:pt x="939650" y="2730"/>
                </a:lnTo>
                <a:lnTo>
                  <a:pt x="871201" y="6078"/>
                </a:lnTo>
                <a:lnTo>
                  <a:pt x="804264" y="10692"/>
                </a:lnTo>
                <a:lnTo>
                  <a:pt x="738981" y="16528"/>
                </a:lnTo>
                <a:lnTo>
                  <a:pt x="675495" y="23544"/>
                </a:lnTo>
                <a:lnTo>
                  <a:pt x="613949" y="31696"/>
                </a:lnTo>
                <a:lnTo>
                  <a:pt x="554484" y="40943"/>
                </a:lnTo>
                <a:lnTo>
                  <a:pt x="497243" y="51242"/>
                </a:lnTo>
                <a:lnTo>
                  <a:pt x="442368" y="62549"/>
                </a:lnTo>
                <a:lnTo>
                  <a:pt x="390002" y="74821"/>
                </a:lnTo>
                <a:lnTo>
                  <a:pt x="340287" y="88017"/>
                </a:lnTo>
                <a:lnTo>
                  <a:pt x="293365" y="102093"/>
                </a:lnTo>
                <a:lnTo>
                  <a:pt x="249379" y="117007"/>
                </a:lnTo>
                <a:lnTo>
                  <a:pt x="208471" y="132716"/>
                </a:lnTo>
                <a:lnTo>
                  <a:pt x="170783" y="149176"/>
                </a:lnTo>
                <a:lnTo>
                  <a:pt x="136458" y="166346"/>
                </a:lnTo>
                <a:lnTo>
                  <a:pt x="78466" y="202642"/>
                </a:lnTo>
                <a:lnTo>
                  <a:pt x="35633" y="241262"/>
                </a:lnTo>
                <a:lnTo>
                  <a:pt x="9098" y="281863"/>
                </a:lnTo>
                <a:lnTo>
                  <a:pt x="0" y="324104"/>
                </a:lnTo>
                <a:lnTo>
                  <a:pt x="0" y="1620520"/>
                </a:lnTo>
                <a:lnTo>
                  <a:pt x="9098" y="1662770"/>
                </a:lnTo>
                <a:lnTo>
                  <a:pt x="35633" y="1703379"/>
                </a:lnTo>
                <a:lnTo>
                  <a:pt x="78466" y="1742002"/>
                </a:lnTo>
                <a:lnTo>
                  <a:pt x="136458" y="1778300"/>
                </a:lnTo>
                <a:lnTo>
                  <a:pt x="170783" y="1795469"/>
                </a:lnTo>
                <a:lnTo>
                  <a:pt x="208471" y="1811929"/>
                </a:lnTo>
                <a:lnTo>
                  <a:pt x="249379" y="1827637"/>
                </a:lnTo>
                <a:lnTo>
                  <a:pt x="293365" y="1842549"/>
                </a:lnTo>
                <a:lnTo>
                  <a:pt x="340287" y="1856624"/>
                </a:lnTo>
                <a:lnTo>
                  <a:pt x="390002" y="1869818"/>
                </a:lnTo>
                <a:lnTo>
                  <a:pt x="442368" y="1882089"/>
                </a:lnTo>
                <a:lnTo>
                  <a:pt x="497243" y="1893394"/>
                </a:lnTo>
                <a:lnTo>
                  <a:pt x="554484" y="1903690"/>
                </a:lnTo>
                <a:lnTo>
                  <a:pt x="613949" y="1912935"/>
                </a:lnTo>
                <a:lnTo>
                  <a:pt x="675495" y="1921086"/>
                </a:lnTo>
                <a:lnTo>
                  <a:pt x="738981" y="1928100"/>
                </a:lnTo>
                <a:lnTo>
                  <a:pt x="804264" y="1933935"/>
                </a:lnTo>
                <a:lnTo>
                  <a:pt x="871201" y="1938547"/>
                </a:lnTo>
                <a:lnTo>
                  <a:pt x="939650" y="1941894"/>
                </a:lnTo>
                <a:lnTo>
                  <a:pt x="1009469" y="1943934"/>
                </a:lnTo>
                <a:lnTo>
                  <a:pt x="1080515" y="1944624"/>
                </a:lnTo>
                <a:lnTo>
                  <a:pt x="1151562" y="1943934"/>
                </a:lnTo>
                <a:lnTo>
                  <a:pt x="1221381" y="1941894"/>
                </a:lnTo>
                <a:lnTo>
                  <a:pt x="1289830" y="1938547"/>
                </a:lnTo>
                <a:lnTo>
                  <a:pt x="1356767" y="1933935"/>
                </a:lnTo>
                <a:lnTo>
                  <a:pt x="1422050" y="1928100"/>
                </a:lnTo>
                <a:lnTo>
                  <a:pt x="1485536" y="1921086"/>
                </a:lnTo>
                <a:lnTo>
                  <a:pt x="1547082" y="1912935"/>
                </a:lnTo>
                <a:lnTo>
                  <a:pt x="1606547" y="1903690"/>
                </a:lnTo>
                <a:lnTo>
                  <a:pt x="1663788" y="1893394"/>
                </a:lnTo>
                <a:lnTo>
                  <a:pt x="1718663" y="1882089"/>
                </a:lnTo>
                <a:lnTo>
                  <a:pt x="1771029" y="1869818"/>
                </a:lnTo>
                <a:lnTo>
                  <a:pt x="1820744" y="1856624"/>
                </a:lnTo>
                <a:lnTo>
                  <a:pt x="1867666" y="1842549"/>
                </a:lnTo>
                <a:lnTo>
                  <a:pt x="1911652" y="1827637"/>
                </a:lnTo>
                <a:lnTo>
                  <a:pt x="1952560" y="1811929"/>
                </a:lnTo>
                <a:lnTo>
                  <a:pt x="1990248" y="1795469"/>
                </a:lnTo>
                <a:lnTo>
                  <a:pt x="2024573" y="1778300"/>
                </a:lnTo>
                <a:lnTo>
                  <a:pt x="2082565" y="1742002"/>
                </a:lnTo>
                <a:lnTo>
                  <a:pt x="2125398" y="1703379"/>
                </a:lnTo>
                <a:lnTo>
                  <a:pt x="2151933" y="1662770"/>
                </a:lnTo>
                <a:lnTo>
                  <a:pt x="2161031" y="1620520"/>
                </a:lnTo>
                <a:lnTo>
                  <a:pt x="2161031" y="324104"/>
                </a:lnTo>
                <a:lnTo>
                  <a:pt x="2151933" y="281863"/>
                </a:lnTo>
                <a:lnTo>
                  <a:pt x="2125398" y="241262"/>
                </a:lnTo>
                <a:lnTo>
                  <a:pt x="2082565" y="202642"/>
                </a:lnTo>
                <a:lnTo>
                  <a:pt x="2024573" y="166346"/>
                </a:lnTo>
                <a:lnTo>
                  <a:pt x="1990248" y="149176"/>
                </a:lnTo>
                <a:lnTo>
                  <a:pt x="1952560" y="132716"/>
                </a:lnTo>
                <a:lnTo>
                  <a:pt x="1911652" y="117007"/>
                </a:lnTo>
                <a:lnTo>
                  <a:pt x="1867666" y="102093"/>
                </a:lnTo>
                <a:lnTo>
                  <a:pt x="1820744" y="88017"/>
                </a:lnTo>
                <a:lnTo>
                  <a:pt x="1771029" y="74821"/>
                </a:lnTo>
                <a:lnTo>
                  <a:pt x="1718663" y="62549"/>
                </a:lnTo>
                <a:lnTo>
                  <a:pt x="1663788" y="51242"/>
                </a:lnTo>
                <a:lnTo>
                  <a:pt x="1606547" y="40943"/>
                </a:lnTo>
                <a:lnTo>
                  <a:pt x="1547082" y="31696"/>
                </a:lnTo>
                <a:lnTo>
                  <a:pt x="1485536" y="23544"/>
                </a:lnTo>
                <a:lnTo>
                  <a:pt x="1422050" y="16528"/>
                </a:lnTo>
                <a:lnTo>
                  <a:pt x="1356767" y="10692"/>
                </a:lnTo>
                <a:lnTo>
                  <a:pt x="1289830" y="6078"/>
                </a:lnTo>
                <a:lnTo>
                  <a:pt x="1221381" y="2730"/>
                </a:lnTo>
                <a:lnTo>
                  <a:pt x="1151562" y="689"/>
                </a:lnTo>
                <a:lnTo>
                  <a:pt x="108051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32426" y="4185158"/>
            <a:ext cx="2161540" cy="324485"/>
          </a:xfrm>
          <a:custGeom>
            <a:avLst/>
            <a:gdLst/>
            <a:ahLst/>
            <a:cxnLst/>
            <a:rect l="l" t="t" r="r" b="b"/>
            <a:pathLst>
              <a:path w="2161540" h="324485">
                <a:moveTo>
                  <a:pt x="2161031" y="0"/>
                </a:moveTo>
                <a:lnTo>
                  <a:pt x="2151933" y="42240"/>
                </a:lnTo>
                <a:lnTo>
                  <a:pt x="2125398" y="82841"/>
                </a:lnTo>
                <a:lnTo>
                  <a:pt x="2082565" y="121461"/>
                </a:lnTo>
                <a:lnTo>
                  <a:pt x="2024573" y="157757"/>
                </a:lnTo>
                <a:lnTo>
                  <a:pt x="1990248" y="174927"/>
                </a:lnTo>
                <a:lnTo>
                  <a:pt x="1952560" y="191387"/>
                </a:lnTo>
                <a:lnTo>
                  <a:pt x="1911652" y="207096"/>
                </a:lnTo>
                <a:lnTo>
                  <a:pt x="1867666" y="222010"/>
                </a:lnTo>
                <a:lnTo>
                  <a:pt x="1820744" y="236086"/>
                </a:lnTo>
                <a:lnTo>
                  <a:pt x="1771029" y="249282"/>
                </a:lnTo>
                <a:lnTo>
                  <a:pt x="1718663" y="261554"/>
                </a:lnTo>
                <a:lnTo>
                  <a:pt x="1663788" y="272861"/>
                </a:lnTo>
                <a:lnTo>
                  <a:pt x="1606547" y="283160"/>
                </a:lnTo>
                <a:lnTo>
                  <a:pt x="1547082" y="292407"/>
                </a:lnTo>
                <a:lnTo>
                  <a:pt x="1485536" y="300559"/>
                </a:lnTo>
                <a:lnTo>
                  <a:pt x="1422050" y="307575"/>
                </a:lnTo>
                <a:lnTo>
                  <a:pt x="1356767" y="313411"/>
                </a:lnTo>
                <a:lnTo>
                  <a:pt x="1289830" y="318025"/>
                </a:lnTo>
                <a:lnTo>
                  <a:pt x="1221381" y="321373"/>
                </a:lnTo>
                <a:lnTo>
                  <a:pt x="1151562" y="323414"/>
                </a:lnTo>
                <a:lnTo>
                  <a:pt x="1080515" y="324104"/>
                </a:lnTo>
                <a:lnTo>
                  <a:pt x="1009469" y="323414"/>
                </a:lnTo>
                <a:lnTo>
                  <a:pt x="939650" y="321373"/>
                </a:lnTo>
                <a:lnTo>
                  <a:pt x="871201" y="318025"/>
                </a:lnTo>
                <a:lnTo>
                  <a:pt x="804264" y="313411"/>
                </a:lnTo>
                <a:lnTo>
                  <a:pt x="738981" y="307575"/>
                </a:lnTo>
                <a:lnTo>
                  <a:pt x="675495" y="300559"/>
                </a:lnTo>
                <a:lnTo>
                  <a:pt x="613949" y="292407"/>
                </a:lnTo>
                <a:lnTo>
                  <a:pt x="554484" y="283160"/>
                </a:lnTo>
                <a:lnTo>
                  <a:pt x="497243" y="272861"/>
                </a:lnTo>
                <a:lnTo>
                  <a:pt x="442368" y="261554"/>
                </a:lnTo>
                <a:lnTo>
                  <a:pt x="390002" y="249282"/>
                </a:lnTo>
                <a:lnTo>
                  <a:pt x="340287" y="236086"/>
                </a:lnTo>
                <a:lnTo>
                  <a:pt x="293365" y="222010"/>
                </a:lnTo>
                <a:lnTo>
                  <a:pt x="249379" y="207096"/>
                </a:lnTo>
                <a:lnTo>
                  <a:pt x="208471" y="191387"/>
                </a:lnTo>
                <a:lnTo>
                  <a:pt x="170783" y="174927"/>
                </a:lnTo>
                <a:lnTo>
                  <a:pt x="136458" y="157757"/>
                </a:lnTo>
                <a:lnTo>
                  <a:pt x="78466" y="121461"/>
                </a:lnTo>
                <a:lnTo>
                  <a:pt x="35633" y="82841"/>
                </a:lnTo>
                <a:lnTo>
                  <a:pt x="9098" y="42240"/>
                </a:lnTo>
                <a:lnTo>
                  <a:pt x="2298" y="21303"/>
                </a:lnTo>
                <a:lnTo>
                  <a:pt x="0" y="0"/>
                </a:lnTo>
              </a:path>
            </a:pathLst>
          </a:custGeom>
          <a:ln w="19811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32426" y="3861053"/>
            <a:ext cx="2161540" cy="1945005"/>
          </a:xfrm>
          <a:custGeom>
            <a:avLst/>
            <a:gdLst/>
            <a:ahLst/>
            <a:cxnLst/>
            <a:rect l="l" t="t" r="r" b="b"/>
            <a:pathLst>
              <a:path w="2161540" h="1945004">
                <a:moveTo>
                  <a:pt x="0" y="324104"/>
                </a:moveTo>
                <a:lnTo>
                  <a:pt x="9098" y="281863"/>
                </a:lnTo>
                <a:lnTo>
                  <a:pt x="35633" y="241262"/>
                </a:lnTo>
                <a:lnTo>
                  <a:pt x="78466" y="202642"/>
                </a:lnTo>
                <a:lnTo>
                  <a:pt x="136458" y="166346"/>
                </a:lnTo>
                <a:lnTo>
                  <a:pt x="170783" y="149176"/>
                </a:lnTo>
                <a:lnTo>
                  <a:pt x="208471" y="132716"/>
                </a:lnTo>
                <a:lnTo>
                  <a:pt x="249379" y="117007"/>
                </a:lnTo>
                <a:lnTo>
                  <a:pt x="293365" y="102093"/>
                </a:lnTo>
                <a:lnTo>
                  <a:pt x="340287" y="88017"/>
                </a:lnTo>
                <a:lnTo>
                  <a:pt x="390002" y="74821"/>
                </a:lnTo>
                <a:lnTo>
                  <a:pt x="442368" y="62549"/>
                </a:lnTo>
                <a:lnTo>
                  <a:pt x="497243" y="51242"/>
                </a:lnTo>
                <a:lnTo>
                  <a:pt x="554484" y="40943"/>
                </a:lnTo>
                <a:lnTo>
                  <a:pt x="613949" y="31696"/>
                </a:lnTo>
                <a:lnTo>
                  <a:pt x="675495" y="23544"/>
                </a:lnTo>
                <a:lnTo>
                  <a:pt x="738981" y="16528"/>
                </a:lnTo>
                <a:lnTo>
                  <a:pt x="804264" y="10692"/>
                </a:lnTo>
                <a:lnTo>
                  <a:pt x="871201" y="6078"/>
                </a:lnTo>
                <a:lnTo>
                  <a:pt x="939650" y="2730"/>
                </a:lnTo>
                <a:lnTo>
                  <a:pt x="1009469" y="689"/>
                </a:lnTo>
                <a:lnTo>
                  <a:pt x="1080515" y="0"/>
                </a:lnTo>
                <a:lnTo>
                  <a:pt x="1151562" y="689"/>
                </a:lnTo>
                <a:lnTo>
                  <a:pt x="1221381" y="2730"/>
                </a:lnTo>
                <a:lnTo>
                  <a:pt x="1289830" y="6078"/>
                </a:lnTo>
                <a:lnTo>
                  <a:pt x="1356767" y="10692"/>
                </a:lnTo>
                <a:lnTo>
                  <a:pt x="1422050" y="16528"/>
                </a:lnTo>
                <a:lnTo>
                  <a:pt x="1485536" y="23544"/>
                </a:lnTo>
                <a:lnTo>
                  <a:pt x="1547082" y="31696"/>
                </a:lnTo>
                <a:lnTo>
                  <a:pt x="1606547" y="40943"/>
                </a:lnTo>
                <a:lnTo>
                  <a:pt x="1663788" y="51242"/>
                </a:lnTo>
                <a:lnTo>
                  <a:pt x="1718663" y="62549"/>
                </a:lnTo>
                <a:lnTo>
                  <a:pt x="1771029" y="74821"/>
                </a:lnTo>
                <a:lnTo>
                  <a:pt x="1820744" y="88017"/>
                </a:lnTo>
                <a:lnTo>
                  <a:pt x="1867666" y="102093"/>
                </a:lnTo>
                <a:lnTo>
                  <a:pt x="1911652" y="117007"/>
                </a:lnTo>
                <a:lnTo>
                  <a:pt x="1952560" y="132716"/>
                </a:lnTo>
                <a:lnTo>
                  <a:pt x="1990248" y="149176"/>
                </a:lnTo>
                <a:lnTo>
                  <a:pt x="2024573" y="166346"/>
                </a:lnTo>
                <a:lnTo>
                  <a:pt x="2082565" y="202642"/>
                </a:lnTo>
                <a:lnTo>
                  <a:pt x="2125398" y="241262"/>
                </a:lnTo>
                <a:lnTo>
                  <a:pt x="2151933" y="281863"/>
                </a:lnTo>
                <a:lnTo>
                  <a:pt x="2161031" y="324104"/>
                </a:lnTo>
                <a:lnTo>
                  <a:pt x="2161031" y="1620520"/>
                </a:lnTo>
                <a:lnTo>
                  <a:pt x="2151933" y="1662770"/>
                </a:lnTo>
                <a:lnTo>
                  <a:pt x="2125398" y="1703379"/>
                </a:lnTo>
                <a:lnTo>
                  <a:pt x="2082565" y="1742002"/>
                </a:lnTo>
                <a:lnTo>
                  <a:pt x="2024573" y="1778300"/>
                </a:lnTo>
                <a:lnTo>
                  <a:pt x="1990248" y="1795469"/>
                </a:lnTo>
                <a:lnTo>
                  <a:pt x="1952560" y="1811929"/>
                </a:lnTo>
                <a:lnTo>
                  <a:pt x="1911652" y="1827637"/>
                </a:lnTo>
                <a:lnTo>
                  <a:pt x="1867666" y="1842549"/>
                </a:lnTo>
                <a:lnTo>
                  <a:pt x="1820744" y="1856624"/>
                </a:lnTo>
                <a:lnTo>
                  <a:pt x="1771029" y="1869818"/>
                </a:lnTo>
                <a:lnTo>
                  <a:pt x="1718663" y="1882089"/>
                </a:lnTo>
                <a:lnTo>
                  <a:pt x="1663788" y="1893394"/>
                </a:lnTo>
                <a:lnTo>
                  <a:pt x="1606547" y="1903690"/>
                </a:lnTo>
                <a:lnTo>
                  <a:pt x="1547082" y="1912935"/>
                </a:lnTo>
                <a:lnTo>
                  <a:pt x="1485536" y="1921086"/>
                </a:lnTo>
                <a:lnTo>
                  <a:pt x="1422050" y="1928100"/>
                </a:lnTo>
                <a:lnTo>
                  <a:pt x="1356767" y="1933935"/>
                </a:lnTo>
                <a:lnTo>
                  <a:pt x="1289830" y="1938547"/>
                </a:lnTo>
                <a:lnTo>
                  <a:pt x="1221381" y="1941894"/>
                </a:lnTo>
                <a:lnTo>
                  <a:pt x="1151562" y="1943934"/>
                </a:lnTo>
                <a:lnTo>
                  <a:pt x="1080515" y="1944624"/>
                </a:lnTo>
                <a:lnTo>
                  <a:pt x="1009469" y="1943934"/>
                </a:lnTo>
                <a:lnTo>
                  <a:pt x="939650" y="1941894"/>
                </a:lnTo>
                <a:lnTo>
                  <a:pt x="871201" y="1938547"/>
                </a:lnTo>
                <a:lnTo>
                  <a:pt x="804264" y="1933935"/>
                </a:lnTo>
                <a:lnTo>
                  <a:pt x="738981" y="1928100"/>
                </a:lnTo>
                <a:lnTo>
                  <a:pt x="675495" y="1921086"/>
                </a:lnTo>
                <a:lnTo>
                  <a:pt x="613949" y="1912935"/>
                </a:lnTo>
                <a:lnTo>
                  <a:pt x="554484" y="1903690"/>
                </a:lnTo>
                <a:lnTo>
                  <a:pt x="497243" y="1893394"/>
                </a:lnTo>
                <a:lnTo>
                  <a:pt x="442368" y="1882089"/>
                </a:lnTo>
                <a:lnTo>
                  <a:pt x="390002" y="1869818"/>
                </a:lnTo>
                <a:lnTo>
                  <a:pt x="340287" y="1856624"/>
                </a:lnTo>
                <a:lnTo>
                  <a:pt x="293365" y="1842549"/>
                </a:lnTo>
                <a:lnTo>
                  <a:pt x="249379" y="1827637"/>
                </a:lnTo>
                <a:lnTo>
                  <a:pt x="208471" y="1811929"/>
                </a:lnTo>
                <a:lnTo>
                  <a:pt x="170783" y="1795469"/>
                </a:lnTo>
                <a:lnTo>
                  <a:pt x="136458" y="1778300"/>
                </a:lnTo>
                <a:lnTo>
                  <a:pt x="78466" y="1742002"/>
                </a:lnTo>
                <a:lnTo>
                  <a:pt x="35633" y="1703379"/>
                </a:lnTo>
                <a:lnTo>
                  <a:pt x="9098" y="1662770"/>
                </a:lnTo>
                <a:lnTo>
                  <a:pt x="0" y="1620520"/>
                </a:lnTo>
                <a:lnTo>
                  <a:pt x="0" y="324104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90769" y="4573904"/>
            <a:ext cx="1244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  <a:latin typeface="华文仿宋"/>
                <a:cs typeface="华文仿宋"/>
              </a:rPr>
              <a:t>文件</a:t>
            </a:r>
            <a:endParaRPr sz="48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内部逻辑文件例子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3926" y="1600200"/>
            <a:ext cx="5454305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4499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FP</a:t>
            </a:r>
            <a:r>
              <a:rPr dirty="0"/>
              <a:t>计数的规则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039" y="2122590"/>
            <a:ext cx="7941309" cy="10877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900" spc="5" dirty="0">
                <a:latin typeface="华文仿宋"/>
                <a:cs typeface="华文仿宋"/>
              </a:rPr>
              <a:t>国际功能点用户组织</a:t>
            </a:r>
            <a:r>
              <a:rPr sz="2900" spc="-5" dirty="0">
                <a:latin typeface="华文仿宋"/>
                <a:cs typeface="华文仿宋"/>
              </a:rPr>
              <a:t>（</a:t>
            </a:r>
            <a:r>
              <a:rPr sz="2900" spc="-5" dirty="0">
                <a:latin typeface="Tw Cen MT"/>
                <a:cs typeface="Tw Cen MT"/>
              </a:rPr>
              <a:t>IFPUG</a:t>
            </a:r>
            <a:r>
              <a:rPr sz="2900" spc="-5" dirty="0">
                <a:latin typeface="华文仿宋"/>
                <a:cs typeface="华文仿宋"/>
              </a:rPr>
              <a:t>）</a:t>
            </a:r>
            <a:r>
              <a:rPr sz="2900" dirty="0">
                <a:latin typeface="华文仿宋"/>
                <a:cs typeface="华文仿宋"/>
              </a:rPr>
              <a:t>发</a:t>
            </a:r>
            <a:r>
              <a:rPr sz="2900" spc="-10" dirty="0">
                <a:latin typeface="华文仿宋"/>
                <a:cs typeface="华文仿宋"/>
              </a:rPr>
              <a:t>布</a:t>
            </a:r>
            <a:r>
              <a:rPr sz="2900" spc="-5" dirty="0">
                <a:latin typeface="Tw Cen MT"/>
                <a:cs typeface="Tw Cen MT"/>
              </a:rPr>
              <a:t>FP</a:t>
            </a:r>
            <a:r>
              <a:rPr sz="2900" spc="5" dirty="0">
                <a:latin typeface="华文仿宋"/>
                <a:cs typeface="华文仿宋"/>
              </a:rPr>
              <a:t>计数</a:t>
            </a:r>
            <a:r>
              <a:rPr sz="2900" spc="-20" dirty="0">
                <a:latin typeface="华文仿宋"/>
                <a:cs typeface="华文仿宋"/>
              </a:rPr>
              <a:t>的</a:t>
            </a:r>
            <a:r>
              <a:rPr sz="2900" spc="5" dirty="0">
                <a:latin typeface="华文仿宋"/>
                <a:cs typeface="华文仿宋"/>
              </a:rPr>
              <a:t>规则</a:t>
            </a:r>
            <a:endParaRPr sz="2900">
              <a:latin typeface="华文仿宋"/>
              <a:cs typeface="华文仿宋"/>
            </a:endParaRPr>
          </a:p>
          <a:p>
            <a:pPr marL="504825">
              <a:lnSpc>
                <a:spcPct val="100000"/>
              </a:lnSpc>
              <a:spcBef>
                <a:spcPts val="700"/>
              </a:spcBef>
            </a:pPr>
            <a:r>
              <a:rPr sz="2900" b="1" spc="-5" dirty="0">
                <a:latin typeface="Tw Cen MT"/>
                <a:cs typeface="Tw Cen MT"/>
              </a:rPr>
              <a:t>&lt;IFPUG</a:t>
            </a:r>
            <a:r>
              <a:rPr sz="2900" b="1" spc="10" dirty="0">
                <a:latin typeface="华文仿宋"/>
                <a:cs typeface="华文仿宋"/>
              </a:rPr>
              <a:t>功</a:t>
            </a:r>
            <a:r>
              <a:rPr sz="2900" b="1" dirty="0">
                <a:latin typeface="华文仿宋"/>
                <a:cs typeface="华文仿宋"/>
              </a:rPr>
              <a:t>能点估</a:t>
            </a:r>
            <a:r>
              <a:rPr sz="2900" b="1" spc="5" dirty="0">
                <a:latin typeface="华文仿宋"/>
                <a:cs typeface="华文仿宋"/>
              </a:rPr>
              <a:t>算</a:t>
            </a:r>
            <a:r>
              <a:rPr sz="2900" b="1" spc="-10" dirty="0">
                <a:latin typeface="华文仿宋"/>
                <a:cs typeface="华文仿宋"/>
              </a:rPr>
              <a:t>方</a:t>
            </a:r>
            <a:r>
              <a:rPr sz="2900" b="1" dirty="0">
                <a:latin typeface="华文仿宋"/>
                <a:cs typeface="华文仿宋"/>
              </a:rPr>
              <a:t>法使用指</a:t>
            </a:r>
            <a:r>
              <a:rPr sz="2900" b="1" spc="-15" dirty="0">
                <a:latin typeface="华文仿宋"/>
                <a:cs typeface="华文仿宋"/>
              </a:rPr>
              <a:t>南</a:t>
            </a:r>
            <a:r>
              <a:rPr sz="2900" b="1" dirty="0">
                <a:latin typeface="Tw Cen MT"/>
                <a:cs typeface="Tw Cen MT"/>
              </a:rPr>
              <a:t>&gt;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事务组件进行定级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731" y="2556114"/>
            <a:ext cx="3789009" cy="186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2989" y="2559435"/>
            <a:ext cx="3754702" cy="1809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6021" y="4656852"/>
            <a:ext cx="3814613" cy="17853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84882" y="3501390"/>
            <a:ext cx="504825" cy="287020"/>
          </a:xfrm>
          <a:custGeom>
            <a:avLst/>
            <a:gdLst/>
            <a:ahLst/>
            <a:cxnLst/>
            <a:rect l="l" t="t" r="r" b="b"/>
            <a:pathLst>
              <a:path w="504825" h="287020">
                <a:moveTo>
                  <a:pt x="0" y="286512"/>
                </a:moveTo>
                <a:lnTo>
                  <a:pt x="504444" y="286512"/>
                </a:lnTo>
                <a:lnTo>
                  <a:pt x="504444" y="0"/>
                </a:lnTo>
                <a:lnTo>
                  <a:pt x="0" y="0"/>
                </a:lnTo>
                <a:lnTo>
                  <a:pt x="0" y="286512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36870" y="5446014"/>
            <a:ext cx="504825" cy="287020"/>
          </a:xfrm>
          <a:custGeom>
            <a:avLst/>
            <a:gdLst/>
            <a:ahLst/>
            <a:cxnLst/>
            <a:rect l="l" t="t" r="r" b="b"/>
            <a:pathLst>
              <a:path w="504825" h="287020">
                <a:moveTo>
                  <a:pt x="0" y="286512"/>
                </a:moveTo>
                <a:lnTo>
                  <a:pt x="504444" y="286512"/>
                </a:lnTo>
                <a:lnTo>
                  <a:pt x="504444" y="0"/>
                </a:lnTo>
                <a:lnTo>
                  <a:pt x="0" y="0"/>
                </a:lnTo>
                <a:lnTo>
                  <a:pt x="0" y="286512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7296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内部逻辑文件和外部接口文件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30193" y="2009775"/>
            <a:ext cx="3990095" cy="1638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422" y="4222212"/>
            <a:ext cx="4427758" cy="19207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5687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UFC-未调整功能点计数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168" y="1744472"/>
            <a:ext cx="40798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u="heavy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黑体"/>
                <a:cs typeface="黑体"/>
              </a:rPr>
              <a:t>功能计</a:t>
            </a:r>
            <a:r>
              <a:rPr sz="2900" u="heavy" spc="-1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黑体"/>
                <a:cs typeface="黑体"/>
              </a:rPr>
              <a:t>数</a:t>
            </a:r>
            <a:r>
              <a:rPr sz="2900" u="heavy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黑体"/>
                <a:cs typeface="黑体"/>
              </a:rPr>
              <a:t>项的复</a:t>
            </a:r>
            <a:r>
              <a:rPr sz="2900" u="heavy" spc="-1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黑体"/>
                <a:cs typeface="黑体"/>
              </a:rPr>
              <a:t>杂</a:t>
            </a:r>
            <a:r>
              <a:rPr sz="2900" u="heavy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黑体"/>
                <a:cs typeface="黑体"/>
              </a:rPr>
              <a:t>度等级</a:t>
            </a:r>
            <a:endParaRPr sz="29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55798" y="2406650"/>
            <a:ext cx="38100" cy="3721100"/>
          </a:xfrm>
          <a:custGeom>
            <a:avLst/>
            <a:gdLst/>
            <a:ahLst/>
            <a:cxnLst/>
            <a:rect l="l" t="t" r="r" b="b"/>
            <a:pathLst>
              <a:path w="38100" h="3721100">
                <a:moveTo>
                  <a:pt x="0" y="3657600"/>
                </a:moveTo>
                <a:lnTo>
                  <a:pt x="19050" y="3721100"/>
                </a:lnTo>
                <a:lnTo>
                  <a:pt x="30464" y="3683050"/>
                </a:lnTo>
                <a:lnTo>
                  <a:pt x="12700" y="3683050"/>
                </a:lnTo>
                <a:lnTo>
                  <a:pt x="12700" y="3674533"/>
                </a:lnTo>
                <a:lnTo>
                  <a:pt x="0" y="3657600"/>
                </a:lnTo>
                <a:close/>
              </a:path>
              <a:path w="38100" h="3721100">
                <a:moveTo>
                  <a:pt x="12700" y="3674533"/>
                </a:moveTo>
                <a:lnTo>
                  <a:pt x="12700" y="3683050"/>
                </a:lnTo>
                <a:lnTo>
                  <a:pt x="25400" y="3683050"/>
                </a:lnTo>
                <a:lnTo>
                  <a:pt x="19050" y="3683000"/>
                </a:lnTo>
                <a:lnTo>
                  <a:pt x="12700" y="3674533"/>
                </a:lnTo>
                <a:close/>
              </a:path>
              <a:path w="38100" h="3721100">
                <a:moveTo>
                  <a:pt x="38100" y="3657600"/>
                </a:moveTo>
                <a:lnTo>
                  <a:pt x="25400" y="3674533"/>
                </a:lnTo>
                <a:lnTo>
                  <a:pt x="25400" y="3683050"/>
                </a:lnTo>
                <a:lnTo>
                  <a:pt x="30464" y="3683050"/>
                </a:lnTo>
                <a:lnTo>
                  <a:pt x="38100" y="3657600"/>
                </a:lnTo>
                <a:close/>
              </a:path>
              <a:path w="38100" h="3721100">
                <a:moveTo>
                  <a:pt x="25400" y="0"/>
                </a:moveTo>
                <a:lnTo>
                  <a:pt x="12700" y="0"/>
                </a:lnTo>
                <a:lnTo>
                  <a:pt x="12700" y="3674533"/>
                </a:lnTo>
                <a:lnTo>
                  <a:pt x="19050" y="3683000"/>
                </a:lnTo>
                <a:lnTo>
                  <a:pt x="25400" y="3674533"/>
                </a:lnTo>
                <a:lnTo>
                  <a:pt x="25400" y="0"/>
                </a:lnTo>
                <a:close/>
              </a:path>
              <a:path w="38100" h="3721100">
                <a:moveTo>
                  <a:pt x="25400" y="3674533"/>
                </a:moveTo>
                <a:lnTo>
                  <a:pt x="19050" y="3683000"/>
                </a:lnTo>
                <a:lnTo>
                  <a:pt x="25400" y="3683000"/>
                </a:lnTo>
                <a:lnTo>
                  <a:pt x="25400" y="3674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5098" y="2871723"/>
            <a:ext cx="38100" cy="3256279"/>
          </a:xfrm>
          <a:custGeom>
            <a:avLst/>
            <a:gdLst/>
            <a:ahLst/>
            <a:cxnLst/>
            <a:rect l="l" t="t" r="r" b="b"/>
            <a:pathLst>
              <a:path w="38100" h="3256279">
                <a:moveTo>
                  <a:pt x="0" y="3192526"/>
                </a:moveTo>
                <a:lnTo>
                  <a:pt x="19050" y="3256026"/>
                </a:lnTo>
                <a:lnTo>
                  <a:pt x="30476" y="3217938"/>
                </a:lnTo>
                <a:lnTo>
                  <a:pt x="12700" y="3217938"/>
                </a:lnTo>
                <a:lnTo>
                  <a:pt x="12700" y="3209459"/>
                </a:lnTo>
                <a:lnTo>
                  <a:pt x="0" y="3192526"/>
                </a:lnTo>
                <a:close/>
              </a:path>
              <a:path w="38100" h="3256279">
                <a:moveTo>
                  <a:pt x="12700" y="3209459"/>
                </a:moveTo>
                <a:lnTo>
                  <a:pt x="12700" y="3217938"/>
                </a:lnTo>
                <a:lnTo>
                  <a:pt x="25400" y="3217938"/>
                </a:lnTo>
                <a:lnTo>
                  <a:pt x="19050" y="3217926"/>
                </a:lnTo>
                <a:lnTo>
                  <a:pt x="12700" y="3209459"/>
                </a:lnTo>
                <a:close/>
              </a:path>
              <a:path w="38100" h="3256279">
                <a:moveTo>
                  <a:pt x="38100" y="3192526"/>
                </a:moveTo>
                <a:lnTo>
                  <a:pt x="25400" y="3209459"/>
                </a:lnTo>
                <a:lnTo>
                  <a:pt x="25400" y="3217938"/>
                </a:lnTo>
                <a:lnTo>
                  <a:pt x="30479" y="3217926"/>
                </a:lnTo>
                <a:lnTo>
                  <a:pt x="38100" y="3192526"/>
                </a:lnTo>
                <a:close/>
              </a:path>
              <a:path w="38100" h="3256279">
                <a:moveTo>
                  <a:pt x="25400" y="0"/>
                </a:moveTo>
                <a:lnTo>
                  <a:pt x="12700" y="0"/>
                </a:lnTo>
                <a:lnTo>
                  <a:pt x="12700" y="3209459"/>
                </a:lnTo>
                <a:lnTo>
                  <a:pt x="19050" y="3217926"/>
                </a:lnTo>
                <a:lnTo>
                  <a:pt x="25400" y="3209459"/>
                </a:lnTo>
                <a:lnTo>
                  <a:pt x="25400" y="0"/>
                </a:lnTo>
                <a:close/>
              </a:path>
              <a:path w="38100" h="3256279">
                <a:moveTo>
                  <a:pt x="25400" y="3209459"/>
                </a:moveTo>
                <a:lnTo>
                  <a:pt x="19050" y="3217926"/>
                </a:lnTo>
                <a:lnTo>
                  <a:pt x="25400" y="3217926"/>
                </a:lnTo>
                <a:lnTo>
                  <a:pt x="25400" y="32094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94398" y="2871723"/>
            <a:ext cx="38100" cy="3256279"/>
          </a:xfrm>
          <a:custGeom>
            <a:avLst/>
            <a:gdLst/>
            <a:ahLst/>
            <a:cxnLst/>
            <a:rect l="l" t="t" r="r" b="b"/>
            <a:pathLst>
              <a:path w="38100" h="3256279">
                <a:moveTo>
                  <a:pt x="0" y="3192526"/>
                </a:moveTo>
                <a:lnTo>
                  <a:pt x="19050" y="3256026"/>
                </a:lnTo>
                <a:lnTo>
                  <a:pt x="30476" y="3217938"/>
                </a:lnTo>
                <a:lnTo>
                  <a:pt x="12700" y="3217938"/>
                </a:lnTo>
                <a:lnTo>
                  <a:pt x="12700" y="3209459"/>
                </a:lnTo>
                <a:lnTo>
                  <a:pt x="0" y="3192526"/>
                </a:lnTo>
                <a:close/>
              </a:path>
              <a:path w="38100" h="3256279">
                <a:moveTo>
                  <a:pt x="12700" y="3209459"/>
                </a:moveTo>
                <a:lnTo>
                  <a:pt x="12700" y="3217938"/>
                </a:lnTo>
                <a:lnTo>
                  <a:pt x="25400" y="3217938"/>
                </a:lnTo>
                <a:lnTo>
                  <a:pt x="19050" y="3217926"/>
                </a:lnTo>
                <a:lnTo>
                  <a:pt x="12700" y="3209459"/>
                </a:lnTo>
                <a:close/>
              </a:path>
              <a:path w="38100" h="3256279">
                <a:moveTo>
                  <a:pt x="38100" y="3192526"/>
                </a:moveTo>
                <a:lnTo>
                  <a:pt x="25400" y="3209459"/>
                </a:lnTo>
                <a:lnTo>
                  <a:pt x="25400" y="3217938"/>
                </a:lnTo>
                <a:lnTo>
                  <a:pt x="30479" y="3217926"/>
                </a:lnTo>
                <a:lnTo>
                  <a:pt x="38100" y="3192526"/>
                </a:lnTo>
                <a:close/>
              </a:path>
              <a:path w="38100" h="3256279">
                <a:moveTo>
                  <a:pt x="25400" y="0"/>
                </a:moveTo>
                <a:lnTo>
                  <a:pt x="12700" y="0"/>
                </a:lnTo>
                <a:lnTo>
                  <a:pt x="12700" y="3209459"/>
                </a:lnTo>
                <a:lnTo>
                  <a:pt x="19050" y="3217926"/>
                </a:lnTo>
                <a:lnTo>
                  <a:pt x="25400" y="3209459"/>
                </a:lnTo>
                <a:lnTo>
                  <a:pt x="25400" y="0"/>
                </a:lnTo>
                <a:close/>
              </a:path>
              <a:path w="38100" h="3256279">
                <a:moveTo>
                  <a:pt x="25400" y="3209459"/>
                </a:moveTo>
                <a:lnTo>
                  <a:pt x="19050" y="3217926"/>
                </a:lnTo>
                <a:lnTo>
                  <a:pt x="25400" y="3217926"/>
                </a:lnTo>
                <a:lnTo>
                  <a:pt x="25400" y="32094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1325" y="2859023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75" y="0"/>
                </a:moveTo>
                <a:lnTo>
                  <a:pt x="8067675" y="19050"/>
                </a:lnTo>
                <a:lnTo>
                  <a:pt x="8042275" y="38100"/>
                </a:lnTo>
                <a:lnTo>
                  <a:pt x="8084608" y="25400"/>
                </a:lnTo>
                <a:lnTo>
                  <a:pt x="8067802" y="25400"/>
                </a:lnTo>
                <a:lnTo>
                  <a:pt x="8067802" y="12700"/>
                </a:lnTo>
                <a:lnTo>
                  <a:pt x="8084608" y="12700"/>
                </a:lnTo>
                <a:lnTo>
                  <a:pt x="8042275" y="0"/>
                </a:lnTo>
                <a:close/>
              </a:path>
              <a:path w="8105775" h="38100">
                <a:moveTo>
                  <a:pt x="80592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208" y="25400"/>
                </a:lnTo>
                <a:lnTo>
                  <a:pt x="8067675" y="19050"/>
                </a:lnTo>
                <a:lnTo>
                  <a:pt x="8059208" y="12700"/>
                </a:lnTo>
                <a:close/>
              </a:path>
              <a:path w="8105775" h="38100">
                <a:moveTo>
                  <a:pt x="8084608" y="12700"/>
                </a:moveTo>
                <a:lnTo>
                  <a:pt x="8067802" y="12700"/>
                </a:lnTo>
                <a:lnTo>
                  <a:pt x="8067802" y="25400"/>
                </a:lnTo>
                <a:lnTo>
                  <a:pt x="8084608" y="25400"/>
                </a:lnTo>
                <a:lnTo>
                  <a:pt x="8105775" y="19050"/>
                </a:lnTo>
                <a:lnTo>
                  <a:pt x="80846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325" y="3440048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75" y="0"/>
                </a:moveTo>
                <a:lnTo>
                  <a:pt x="8067675" y="19050"/>
                </a:lnTo>
                <a:lnTo>
                  <a:pt x="8042275" y="38100"/>
                </a:lnTo>
                <a:lnTo>
                  <a:pt x="8084608" y="25400"/>
                </a:lnTo>
                <a:lnTo>
                  <a:pt x="8067802" y="25400"/>
                </a:lnTo>
                <a:lnTo>
                  <a:pt x="8067802" y="12700"/>
                </a:lnTo>
                <a:lnTo>
                  <a:pt x="8084608" y="12700"/>
                </a:lnTo>
                <a:lnTo>
                  <a:pt x="8042275" y="0"/>
                </a:lnTo>
                <a:close/>
              </a:path>
              <a:path w="8105775" h="38100">
                <a:moveTo>
                  <a:pt x="80592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208" y="25400"/>
                </a:lnTo>
                <a:lnTo>
                  <a:pt x="8067675" y="19050"/>
                </a:lnTo>
                <a:lnTo>
                  <a:pt x="8059208" y="12700"/>
                </a:lnTo>
                <a:close/>
              </a:path>
              <a:path w="8105775" h="38100">
                <a:moveTo>
                  <a:pt x="8084608" y="12700"/>
                </a:moveTo>
                <a:lnTo>
                  <a:pt x="8067802" y="12700"/>
                </a:lnTo>
                <a:lnTo>
                  <a:pt x="8067802" y="25400"/>
                </a:lnTo>
                <a:lnTo>
                  <a:pt x="8084608" y="25400"/>
                </a:lnTo>
                <a:lnTo>
                  <a:pt x="8105775" y="19050"/>
                </a:lnTo>
                <a:lnTo>
                  <a:pt x="80846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1325" y="4019550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75" y="0"/>
                </a:moveTo>
                <a:lnTo>
                  <a:pt x="8067675" y="19050"/>
                </a:lnTo>
                <a:lnTo>
                  <a:pt x="8042275" y="38100"/>
                </a:lnTo>
                <a:lnTo>
                  <a:pt x="8084608" y="25400"/>
                </a:lnTo>
                <a:lnTo>
                  <a:pt x="8067802" y="25400"/>
                </a:lnTo>
                <a:lnTo>
                  <a:pt x="8067802" y="12700"/>
                </a:lnTo>
                <a:lnTo>
                  <a:pt x="8084608" y="12700"/>
                </a:lnTo>
                <a:lnTo>
                  <a:pt x="8042275" y="0"/>
                </a:lnTo>
                <a:close/>
              </a:path>
              <a:path w="8105775" h="38100">
                <a:moveTo>
                  <a:pt x="80592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208" y="25400"/>
                </a:lnTo>
                <a:lnTo>
                  <a:pt x="8067675" y="19050"/>
                </a:lnTo>
                <a:lnTo>
                  <a:pt x="8059208" y="12700"/>
                </a:lnTo>
                <a:close/>
              </a:path>
              <a:path w="8105775" h="38100">
                <a:moveTo>
                  <a:pt x="8084608" y="12700"/>
                </a:moveTo>
                <a:lnTo>
                  <a:pt x="8067802" y="12700"/>
                </a:lnTo>
                <a:lnTo>
                  <a:pt x="8067802" y="25400"/>
                </a:lnTo>
                <a:lnTo>
                  <a:pt x="8084608" y="25400"/>
                </a:lnTo>
                <a:lnTo>
                  <a:pt x="8105775" y="19050"/>
                </a:lnTo>
                <a:lnTo>
                  <a:pt x="80846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1325" y="4600575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75" y="0"/>
                </a:moveTo>
                <a:lnTo>
                  <a:pt x="8067675" y="19050"/>
                </a:lnTo>
                <a:lnTo>
                  <a:pt x="8042275" y="38100"/>
                </a:lnTo>
                <a:lnTo>
                  <a:pt x="8084608" y="25400"/>
                </a:lnTo>
                <a:lnTo>
                  <a:pt x="8067802" y="25400"/>
                </a:lnTo>
                <a:lnTo>
                  <a:pt x="8067802" y="12700"/>
                </a:lnTo>
                <a:lnTo>
                  <a:pt x="8084608" y="12700"/>
                </a:lnTo>
                <a:lnTo>
                  <a:pt x="8042275" y="0"/>
                </a:lnTo>
                <a:close/>
              </a:path>
              <a:path w="8105775" h="38100">
                <a:moveTo>
                  <a:pt x="80592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208" y="25400"/>
                </a:lnTo>
                <a:lnTo>
                  <a:pt x="8067675" y="19050"/>
                </a:lnTo>
                <a:lnTo>
                  <a:pt x="8059208" y="12700"/>
                </a:lnTo>
                <a:close/>
              </a:path>
              <a:path w="8105775" h="38100">
                <a:moveTo>
                  <a:pt x="8084608" y="12700"/>
                </a:moveTo>
                <a:lnTo>
                  <a:pt x="8067802" y="12700"/>
                </a:lnTo>
                <a:lnTo>
                  <a:pt x="8067802" y="25400"/>
                </a:lnTo>
                <a:lnTo>
                  <a:pt x="8084608" y="25400"/>
                </a:lnTo>
                <a:lnTo>
                  <a:pt x="8105775" y="19050"/>
                </a:lnTo>
                <a:lnTo>
                  <a:pt x="80846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1325" y="5180076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75" y="0"/>
                </a:moveTo>
                <a:lnTo>
                  <a:pt x="8067675" y="19050"/>
                </a:lnTo>
                <a:lnTo>
                  <a:pt x="8042275" y="38100"/>
                </a:lnTo>
                <a:lnTo>
                  <a:pt x="8084608" y="25400"/>
                </a:lnTo>
                <a:lnTo>
                  <a:pt x="8067802" y="25400"/>
                </a:lnTo>
                <a:lnTo>
                  <a:pt x="8067802" y="12700"/>
                </a:lnTo>
                <a:lnTo>
                  <a:pt x="8084608" y="12700"/>
                </a:lnTo>
                <a:lnTo>
                  <a:pt x="8042275" y="0"/>
                </a:lnTo>
                <a:close/>
              </a:path>
              <a:path w="8105775" h="38100">
                <a:moveTo>
                  <a:pt x="80592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208" y="25400"/>
                </a:lnTo>
                <a:lnTo>
                  <a:pt x="8067675" y="19050"/>
                </a:lnTo>
                <a:lnTo>
                  <a:pt x="8059208" y="12700"/>
                </a:lnTo>
                <a:close/>
              </a:path>
              <a:path w="8105775" h="38100">
                <a:moveTo>
                  <a:pt x="8084608" y="12700"/>
                </a:moveTo>
                <a:lnTo>
                  <a:pt x="8067802" y="12700"/>
                </a:lnTo>
                <a:lnTo>
                  <a:pt x="8067802" y="25400"/>
                </a:lnTo>
                <a:lnTo>
                  <a:pt x="8084608" y="25400"/>
                </a:lnTo>
                <a:lnTo>
                  <a:pt x="8105775" y="19050"/>
                </a:lnTo>
                <a:lnTo>
                  <a:pt x="80846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1325" y="5637212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75" y="0"/>
                </a:moveTo>
                <a:lnTo>
                  <a:pt x="8067675" y="19050"/>
                </a:lnTo>
                <a:lnTo>
                  <a:pt x="8042275" y="38100"/>
                </a:lnTo>
                <a:lnTo>
                  <a:pt x="8084608" y="25400"/>
                </a:lnTo>
                <a:lnTo>
                  <a:pt x="8067802" y="25400"/>
                </a:lnTo>
                <a:lnTo>
                  <a:pt x="8067802" y="12700"/>
                </a:lnTo>
                <a:lnTo>
                  <a:pt x="8084608" y="12700"/>
                </a:lnTo>
                <a:lnTo>
                  <a:pt x="8042275" y="0"/>
                </a:lnTo>
                <a:close/>
              </a:path>
              <a:path w="8105775" h="38100">
                <a:moveTo>
                  <a:pt x="80592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208" y="25400"/>
                </a:lnTo>
                <a:lnTo>
                  <a:pt x="8067675" y="19050"/>
                </a:lnTo>
                <a:lnTo>
                  <a:pt x="8059208" y="12700"/>
                </a:lnTo>
                <a:close/>
              </a:path>
              <a:path w="8105775" h="38100">
                <a:moveTo>
                  <a:pt x="8084608" y="12700"/>
                </a:moveTo>
                <a:lnTo>
                  <a:pt x="8067802" y="12700"/>
                </a:lnTo>
                <a:lnTo>
                  <a:pt x="8067802" y="25400"/>
                </a:lnTo>
                <a:lnTo>
                  <a:pt x="8084608" y="25400"/>
                </a:lnTo>
                <a:lnTo>
                  <a:pt x="8105775" y="19050"/>
                </a:lnTo>
                <a:lnTo>
                  <a:pt x="80846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2750" y="2406650"/>
            <a:ext cx="85725" cy="3721100"/>
          </a:xfrm>
          <a:custGeom>
            <a:avLst/>
            <a:gdLst/>
            <a:ahLst/>
            <a:cxnLst/>
            <a:rect l="l" t="t" r="r" b="b"/>
            <a:pathLst>
              <a:path w="85725" h="3721100">
                <a:moveTo>
                  <a:pt x="0" y="3578225"/>
                </a:moveTo>
                <a:lnTo>
                  <a:pt x="42862" y="3721100"/>
                </a:lnTo>
                <a:lnTo>
                  <a:pt x="68576" y="3635387"/>
                </a:lnTo>
                <a:lnTo>
                  <a:pt x="28575" y="3635387"/>
                </a:lnTo>
                <a:lnTo>
                  <a:pt x="28575" y="3616325"/>
                </a:lnTo>
                <a:lnTo>
                  <a:pt x="0" y="3578225"/>
                </a:lnTo>
                <a:close/>
              </a:path>
              <a:path w="85725" h="3721100">
                <a:moveTo>
                  <a:pt x="28575" y="3616325"/>
                </a:moveTo>
                <a:lnTo>
                  <a:pt x="28575" y="3635387"/>
                </a:lnTo>
                <a:lnTo>
                  <a:pt x="57150" y="3635387"/>
                </a:lnTo>
                <a:lnTo>
                  <a:pt x="42862" y="3635375"/>
                </a:lnTo>
                <a:lnTo>
                  <a:pt x="28575" y="3616325"/>
                </a:lnTo>
                <a:close/>
              </a:path>
              <a:path w="85725" h="3721100">
                <a:moveTo>
                  <a:pt x="85725" y="3578225"/>
                </a:moveTo>
                <a:lnTo>
                  <a:pt x="57150" y="3616325"/>
                </a:lnTo>
                <a:lnTo>
                  <a:pt x="57150" y="3635387"/>
                </a:lnTo>
                <a:lnTo>
                  <a:pt x="68579" y="3635375"/>
                </a:lnTo>
                <a:lnTo>
                  <a:pt x="85725" y="3578225"/>
                </a:lnTo>
                <a:close/>
              </a:path>
              <a:path w="85725" h="3721100">
                <a:moveTo>
                  <a:pt x="57150" y="0"/>
                </a:moveTo>
                <a:lnTo>
                  <a:pt x="28575" y="0"/>
                </a:lnTo>
                <a:lnTo>
                  <a:pt x="28575" y="3616325"/>
                </a:lnTo>
                <a:lnTo>
                  <a:pt x="42862" y="3635375"/>
                </a:lnTo>
                <a:lnTo>
                  <a:pt x="57150" y="3616325"/>
                </a:lnTo>
                <a:lnTo>
                  <a:pt x="57150" y="0"/>
                </a:lnTo>
                <a:close/>
              </a:path>
              <a:path w="85725" h="3721100">
                <a:moveTo>
                  <a:pt x="57150" y="3616325"/>
                </a:moveTo>
                <a:lnTo>
                  <a:pt x="42862" y="3635375"/>
                </a:lnTo>
                <a:lnTo>
                  <a:pt x="57150" y="3635375"/>
                </a:lnTo>
                <a:lnTo>
                  <a:pt x="57150" y="3616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89950" y="2406650"/>
            <a:ext cx="85725" cy="3721100"/>
          </a:xfrm>
          <a:custGeom>
            <a:avLst/>
            <a:gdLst/>
            <a:ahLst/>
            <a:cxnLst/>
            <a:rect l="l" t="t" r="r" b="b"/>
            <a:pathLst>
              <a:path w="85725" h="3721100">
                <a:moveTo>
                  <a:pt x="0" y="3578225"/>
                </a:moveTo>
                <a:lnTo>
                  <a:pt x="42799" y="3721100"/>
                </a:lnTo>
                <a:lnTo>
                  <a:pt x="68550" y="3635387"/>
                </a:lnTo>
                <a:lnTo>
                  <a:pt x="28575" y="3635387"/>
                </a:lnTo>
                <a:lnTo>
                  <a:pt x="28490" y="3616268"/>
                </a:lnTo>
                <a:lnTo>
                  <a:pt x="0" y="3578225"/>
                </a:lnTo>
                <a:close/>
              </a:path>
              <a:path w="85725" h="3721100">
                <a:moveTo>
                  <a:pt x="28575" y="3616381"/>
                </a:moveTo>
                <a:lnTo>
                  <a:pt x="28575" y="3635387"/>
                </a:lnTo>
                <a:lnTo>
                  <a:pt x="57150" y="3635387"/>
                </a:lnTo>
                <a:lnTo>
                  <a:pt x="42799" y="3635375"/>
                </a:lnTo>
                <a:lnTo>
                  <a:pt x="28575" y="3616381"/>
                </a:lnTo>
                <a:close/>
              </a:path>
              <a:path w="85725" h="3721100">
                <a:moveTo>
                  <a:pt x="85725" y="3578225"/>
                </a:moveTo>
                <a:lnTo>
                  <a:pt x="57150" y="3616268"/>
                </a:lnTo>
                <a:lnTo>
                  <a:pt x="57150" y="3635387"/>
                </a:lnTo>
                <a:lnTo>
                  <a:pt x="68554" y="3635375"/>
                </a:lnTo>
                <a:lnTo>
                  <a:pt x="85725" y="3578225"/>
                </a:lnTo>
                <a:close/>
              </a:path>
              <a:path w="85725" h="3721100">
                <a:moveTo>
                  <a:pt x="57150" y="0"/>
                </a:moveTo>
                <a:lnTo>
                  <a:pt x="28575" y="0"/>
                </a:lnTo>
                <a:lnTo>
                  <a:pt x="28575" y="3616381"/>
                </a:lnTo>
                <a:lnTo>
                  <a:pt x="42799" y="3635375"/>
                </a:lnTo>
                <a:lnTo>
                  <a:pt x="57065" y="3616381"/>
                </a:lnTo>
                <a:lnTo>
                  <a:pt x="57150" y="0"/>
                </a:lnTo>
                <a:close/>
              </a:path>
              <a:path w="85725" h="3721100">
                <a:moveTo>
                  <a:pt x="57150" y="3616268"/>
                </a:moveTo>
                <a:lnTo>
                  <a:pt x="42799" y="3635375"/>
                </a:lnTo>
                <a:lnTo>
                  <a:pt x="57150" y="3635375"/>
                </a:lnTo>
                <a:lnTo>
                  <a:pt x="57150" y="3616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325" y="2378075"/>
            <a:ext cx="8105775" cy="85725"/>
          </a:xfrm>
          <a:custGeom>
            <a:avLst/>
            <a:gdLst/>
            <a:ahLst/>
            <a:cxnLst/>
            <a:rect l="l" t="t" r="r" b="b"/>
            <a:pathLst>
              <a:path w="8105775" h="85725">
                <a:moveTo>
                  <a:pt x="8020050" y="42799"/>
                </a:moveTo>
                <a:lnTo>
                  <a:pt x="7962900" y="85725"/>
                </a:lnTo>
                <a:lnTo>
                  <a:pt x="8058009" y="57150"/>
                </a:lnTo>
                <a:lnTo>
                  <a:pt x="8020050" y="57150"/>
                </a:lnTo>
                <a:lnTo>
                  <a:pt x="8020050" y="42799"/>
                </a:lnTo>
                <a:close/>
              </a:path>
              <a:path w="8105775" h="85725">
                <a:moveTo>
                  <a:pt x="8001056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000943" y="57150"/>
                </a:lnTo>
                <a:lnTo>
                  <a:pt x="8020050" y="42799"/>
                </a:lnTo>
                <a:lnTo>
                  <a:pt x="8001056" y="28575"/>
                </a:lnTo>
                <a:close/>
              </a:path>
              <a:path w="8105775" h="85725">
                <a:moveTo>
                  <a:pt x="8058291" y="28575"/>
                </a:moveTo>
                <a:lnTo>
                  <a:pt x="8020050" y="28575"/>
                </a:lnTo>
                <a:lnTo>
                  <a:pt x="8020050" y="57150"/>
                </a:lnTo>
                <a:lnTo>
                  <a:pt x="8058009" y="57150"/>
                </a:lnTo>
                <a:lnTo>
                  <a:pt x="8105775" y="42799"/>
                </a:lnTo>
                <a:lnTo>
                  <a:pt x="8058291" y="28575"/>
                </a:lnTo>
                <a:close/>
              </a:path>
              <a:path w="8105775" h="85725">
                <a:moveTo>
                  <a:pt x="7962900" y="0"/>
                </a:moveTo>
                <a:lnTo>
                  <a:pt x="8020050" y="42799"/>
                </a:lnTo>
                <a:lnTo>
                  <a:pt x="8020050" y="28575"/>
                </a:lnTo>
                <a:lnTo>
                  <a:pt x="8058291" y="28575"/>
                </a:lnTo>
                <a:lnTo>
                  <a:pt x="796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1325" y="6070600"/>
            <a:ext cx="8105775" cy="85725"/>
          </a:xfrm>
          <a:custGeom>
            <a:avLst/>
            <a:gdLst/>
            <a:ahLst/>
            <a:cxnLst/>
            <a:rect l="l" t="t" r="r" b="b"/>
            <a:pathLst>
              <a:path w="8105775" h="85725">
                <a:moveTo>
                  <a:pt x="8020050" y="42862"/>
                </a:moveTo>
                <a:lnTo>
                  <a:pt x="7962900" y="85725"/>
                </a:lnTo>
                <a:lnTo>
                  <a:pt x="8058150" y="57150"/>
                </a:lnTo>
                <a:lnTo>
                  <a:pt x="8020050" y="57150"/>
                </a:lnTo>
                <a:lnTo>
                  <a:pt x="8020050" y="42862"/>
                </a:lnTo>
                <a:close/>
              </a:path>
              <a:path w="8105775" h="85725">
                <a:moveTo>
                  <a:pt x="80010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001000" y="57150"/>
                </a:lnTo>
                <a:lnTo>
                  <a:pt x="8020050" y="42862"/>
                </a:lnTo>
                <a:lnTo>
                  <a:pt x="8001000" y="28575"/>
                </a:lnTo>
                <a:close/>
              </a:path>
              <a:path w="8105775" h="85725">
                <a:moveTo>
                  <a:pt x="8058150" y="28575"/>
                </a:moveTo>
                <a:lnTo>
                  <a:pt x="8020050" y="28575"/>
                </a:lnTo>
                <a:lnTo>
                  <a:pt x="8020050" y="57150"/>
                </a:lnTo>
                <a:lnTo>
                  <a:pt x="8058150" y="57150"/>
                </a:lnTo>
                <a:lnTo>
                  <a:pt x="8105775" y="42862"/>
                </a:lnTo>
                <a:lnTo>
                  <a:pt x="8058150" y="28575"/>
                </a:lnTo>
                <a:close/>
              </a:path>
              <a:path w="8105775" h="85725">
                <a:moveTo>
                  <a:pt x="7962900" y="0"/>
                </a:moveTo>
                <a:lnTo>
                  <a:pt x="8020050" y="42862"/>
                </a:lnTo>
                <a:lnTo>
                  <a:pt x="8020050" y="28575"/>
                </a:lnTo>
                <a:lnTo>
                  <a:pt x="8058150" y="28575"/>
                </a:lnTo>
                <a:lnTo>
                  <a:pt x="796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20116" y="2503932"/>
          <a:ext cx="7836533" cy="35518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364">
                <a:tc gridSpan="4">
                  <a:txBody>
                    <a:bodyPr/>
                    <a:lstStyle/>
                    <a:p>
                      <a:pPr marL="4017010">
                        <a:lnSpc>
                          <a:spcPts val="2400"/>
                        </a:lnSpc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复杂度权重因素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397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项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spc="-5" dirty="0">
                          <a:latin typeface="华文新魏"/>
                          <a:cs typeface="华文新魏"/>
                        </a:rPr>
                        <a:t>简</a:t>
                      </a:r>
                      <a:r>
                        <a:rPr sz="2400" dirty="0">
                          <a:latin typeface="华文新魏"/>
                          <a:cs typeface="华文新魏"/>
                        </a:rPr>
                        <a:t>单</a:t>
                      </a:r>
                      <a:r>
                        <a:rPr sz="2400" spc="-10" dirty="0">
                          <a:latin typeface="华文新魏"/>
                          <a:cs typeface="华文新魏"/>
                        </a:rPr>
                        <a:t>(</a:t>
                      </a:r>
                      <a:r>
                        <a:rPr sz="2400" spc="-5" dirty="0">
                          <a:latin typeface="华文新魏"/>
                          <a:cs typeface="华文新魏"/>
                        </a:rPr>
                        <a:t>低</a:t>
                      </a:r>
                      <a:r>
                        <a:rPr sz="2400" dirty="0">
                          <a:latin typeface="华文新魏"/>
                          <a:cs typeface="华文新魏"/>
                        </a:rPr>
                        <a:t>)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一般（中）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spc="-5" dirty="0">
                          <a:latin typeface="华文新魏"/>
                          <a:cs typeface="华文新魏"/>
                        </a:rPr>
                        <a:t>复杂（高）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48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外部输入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3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4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6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20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外部输出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4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7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48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spc="-5" dirty="0">
                          <a:latin typeface="华文新魏"/>
                          <a:cs typeface="华文新魏"/>
                        </a:rPr>
                        <a:t>外部查询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3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4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6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7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42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外部接口文件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7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10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7112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473">
                <a:tc>
                  <a:txBody>
                    <a:bodyPr/>
                    <a:lstStyle/>
                    <a:p>
                      <a:pPr marL="127000">
                        <a:lnSpc>
                          <a:spcPts val="2865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内部逻辑文件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865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7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ts val="2865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10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ts val="2865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15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功能点估算方法举例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532" y="1341119"/>
            <a:ext cx="7488935" cy="5324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360121"/>
            <a:ext cx="25812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spc="5" dirty="0">
                <a:latin typeface="黑体"/>
                <a:cs typeface="黑体"/>
              </a:rPr>
              <a:t>外</a:t>
            </a:r>
            <a:r>
              <a:rPr sz="3200" i="0" spc="20" dirty="0">
                <a:latin typeface="黑体"/>
                <a:cs typeface="黑体"/>
              </a:rPr>
              <a:t>贸</a:t>
            </a:r>
            <a:r>
              <a:rPr sz="3200" i="0" spc="5" dirty="0">
                <a:latin typeface="黑体"/>
                <a:cs typeface="黑体"/>
              </a:rPr>
              <a:t>订单</a:t>
            </a:r>
            <a:r>
              <a:rPr sz="3200" i="0" spc="-5" dirty="0">
                <a:latin typeface="Arial Narrow"/>
                <a:cs typeface="Arial Narrow"/>
              </a:rPr>
              <a:t>:--</a:t>
            </a:r>
            <a:r>
              <a:rPr sz="3200" i="0" spc="-5" dirty="0">
                <a:latin typeface="黑体"/>
                <a:cs typeface="黑体"/>
              </a:rPr>
              <a:t>UFC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8225" y="2822575"/>
            <a:ext cx="38100" cy="3863975"/>
          </a:xfrm>
          <a:custGeom>
            <a:avLst/>
            <a:gdLst/>
            <a:ahLst/>
            <a:cxnLst/>
            <a:rect l="l" t="t" r="r" b="b"/>
            <a:pathLst>
              <a:path w="38100" h="3863975">
                <a:moveTo>
                  <a:pt x="0" y="3800475"/>
                </a:moveTo>
                <a:lnTo>
                  <a:pt x="19050" y="3863975"/>
                </a:lnTo>
                <a:lnTo>
                  <a:pt x="30464" y="3825925"/>
                </a:lnTo>
                <a:lnTo>
                  <a:pt x="12700" y="3825925"/>
                </a:lnTo>
                <a:lnTo>
                  <a:pt x="12700" y="3817408"/>
                </a:lnTo>
                <a:lnTo>
                  <a:pt x="0" y="3800475"/>
                </a:lnTo>
                <a:close/>
              </a:path>
              <a:path w="38100" h="3863975">
                <a:moveTo>
                  <a:pt x="12700" y="3817408"/>
                </a:moveTo>
                <a:lnTo>
                  <a:pt x="12700" y="3825925"/>
                </a:lnTo>
                <a:lnTo>
                  <a:pt x="25400" y="3825925"/>
                </a:lnTo>
                <a:lnTo>
                  <a:pt x="19050" y="3825875"/>
                </a:lnTo>
                <a:lnTo>
                  <a:pt x="12700" y="3817408"/>
                </a:lnTo>
                <a:close/>
              </a:path>
              <a:path w="38100" h="3863975">
                <a:moveTo>
                  <a:pt x="38100" y="3800475"/>
                </a:moveTo>
                <a:lnTo>
                  <a:pt x="25400" y="3817408"/>
                </a:lnTo>
                <a:lnTo>
                  <a:pt x="25400" y="3825925"/>
                </a:lnTo>
                <a:lnTo>
                  <a:pt x="30464" y="3825925"/>
                </a:lnTo>
                <a:lnTo>
                  <a:pt x="38100" y="3800475"/>
                </a:lnTo>
                <a:close/>
              </a:path>
              <a:path w="38100" h="3863975">
                <a:moveTo>
                  <a:pt x="25400" y="0"/>
                </a:moveTo>
                <a:lnTo>
                  <a:pt x="12700" y="0"/>
                </a:lnTo>
                <a:lnTo>
                  <a:pt x="12700" y="3817408"/>
                </a:lnTo>
                <a:lnTo>
                  <a:pt x="19050" y="3825875"/>
                </a:lnTo>
                <a:lnTo>
                  <a:pt x="25400" y="3817408"/>
                </a:lnTo>
                <a:lnTo>
                  <a:pt x="25400" y="0"/>
                </a:lnTo>
                <a:close/>
              </a:path>
              <a:path w="38100" h="3863975">
                <a:moveTo>
                  <a:pt x="25400" y="3817408"/>
                </a:moveTo>
                <a:lnTo>
                  <a:pt x="19050" y="3825875"/>
                </a:lnTo>
                <a:lnTo>
                  <a:pt x="25400" y="3825875"/>
                </a:lnTo>
                <a:lnTo>
                  <a:pt x="25400" y="38174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27525" y="3256660"/>
            <a:ext cx="38100" cy="2995930"/>
          </a:xfrm>
          <a:custGeom>
            <a:avLst/>
            <a:gdLst/>
            <a:ahLst/>
            <a:cxnLst/>
            <a:rect l="l" t="t" r="r" b="b"/>
            <a:pathLst>
              <a:path w="38100" h="2995929">
                <a:moveTo>
                  <a:pt x="0" y="2932303"/>
                </a:moveTo>
                <a:lnTo>
                  <a:pt x="19050" y="2995803"/>
                </a:lnTo>
                <a:lnTo>
                  <a:pt x="30472" y="2957728"/>
                </a:lnTo>
                <a:lnTo>
                  <a:pt x="12700" y="2957728"/>
                </a:lnTo>
                <a:lnTo>
                  <a:pt x="12700" y="2949236"/>
                </a:lnTo>
                <a:lnTo>
                  <a:pt x="0" y="2932303"/>
                </a:lnTo>
                <a:close/>
              </a:path>
              <a:path w="38100" h="2995929">
                <a:moveTo>
                  <a:pt x="12700" y="2949236"/>
                </a:moveTo>
                <a:lnTo>
                  <a:pt x="12700" y="2957728"/>
                </a:lnTo>
                <a:lnTo>
                  <a:pt x="25400" y="2957728"/>
                </a:lnTo>
                <a:lnTo>
                  <a:pt x="19050" y="2957703"/>
                </a:lnTo>
                <a:lnTo>
                  <a:pt x="12700" y="2949236"/>
                </a:lnTo>
                <a:close/>
              </a:path>
              <a:path w="38100" h="2995929">
                <a:moveTo>
                  <a:pt x="38100" y="2932303"/>
                </a:moveTo>
                <a:lnTo>
                  <a:pt x="25400" y="2949236"/>
                </a:lnTo>
                <a:lnTo>
                  <a:pt x="25400" y="2957728"/>
                </a:lnTo>
                <a:lnTo>
                  <a:pt x="30472" y="2957728"/>
                </a:lnTo>
                <a:lnTo>
                  <a:pt x="38100" y="2932303"/>
                </a:lnTo>
                <a:close/>
              </a:path>
              <a:path w="38100" h="2995929">
                <a:moveTo>
                  <a:pt x="25400" y="0"/>
                </a:moveTo>
                <a:lnTo>
                  <a:pt x="12700" y="0"/>
                </a:lnTo>
                <a:lnTo>
                  <a:pt x="12700" y="2949236"/>
                </a:lnTo>
                <a:lnTo>
                  <a:pt x="19050" y="2957703"/>
                </a:lnTo>
                <a:lnTo>
                  <a:pt x="25400" y="2949236"/>
                </a:lnTo>
                <a:lnTo>
                  <a:pt x="25400" y="0"/>
                </a:lnTo>
                <a:close/>
              </a:path>
              <a:path w="38100" h="2995929">
                <a:moveTo>
                  <a:pt x="25400" y="2949236"/>
                </a:moveTo>
                <a:lnTo>
                  <a:pt x="19050" y="2957703"/>
                </a:lnTo>
                <a:lnTo>
                  <a:pt x="25400" y="2957703"/>
                </a:lnTo>
                <a:lnTo>
                  <a:pt x="25400" y="29492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46825" y="3256660"/>
            <a:ext cx="38100" cy="2995930"/>
          </a:xfrm>
          <a:custGeom>
            <a:avLst/>
            <a:gdLst/>
            <a:ahLst/>
            <a:cxnLst/>
            <a:rect l="l" t="t" r="r" b="b"/>
            <a:pathLst>
              <a:path w="38100" h="2995929">
                <a:moveTo>
                  <a:pt x="0" y="2932303"/>
                </a:moveTo>
                <a:lnTo>
                  <a:pt x="19050" y="2995803"/>
                </a:lnTo>
                <a:lnTo>
                  <a:pt x="30472" y="2957728"/>
                </a:lnTo>
                <a:lnTo>
                  <a:pt x="12700" y="2957728"/>
                </a:lnTo>
                <a:lnTo>
                  <a:pt x="12700" y="2949236"/>
                </a:lnTo>
                <a:lnTo>
                  <a:pt x="0" y="2932303"/>
                </a:lnTo>
                <a:close/>
              </a:path>
              <a:path w="38100" h="2995929">
                <a:moveTo>
                  <a:pt x="12700" y="2949236"/>
                </a:moveTo>
                <a:lnTo>
                  <a:pt x="12700" y="2957728"/>
                </a:lnTo>
                <a:lnTo>
                  <a:pt x="25400" y="2957728"/>
                </a:lnTo>
                <a:lnTo>
                  <a:pt x="19050" y="2957703"/>
                </a:lnTo>
                <a:lnTo>
                  <a:pt x="12700" y="2949236"/>
                </a:lnTo>
                <a:close/>
              </a:path>
              <a:path w="38100" h="2995929">
                <a:moveTo>
                  <a:pt x="38100" y="2932303"/>
                </a:moveTo>
                <a:lnTo>
                  <a:pt x="25400" y="2949236"/>
                </a:lnTo>
                <a:lnTo>
                  <a:pt x="25400" y="2957728"/>
                </a:lnTo>
                <a:lnTo>
                  <a:pt x="30472" y="2957728"/>
                </a:lnTo>
                <a:lnTo>
                  <a:pt x="38100" y="2932303"/>
                </a:lnTo>
                <a:close/>
              </a:path>
              <a:path w="38100" h="2995929">
                <a:moveTo>
                  <a:pt x="25400" y="0"/>
                </a:moveTo>
                <a:lnTo>
                  <a:pt x="12700" y="0"/>
                </a:lnTo>
                <a:lnTo>
                  <a:pt x="12700" y="2949236"/>
                </a:lnTo>
                <a:lnTo>
                  <a:pt x="19050" y="2957703"/>
                </a:lnTo>
                <a:lnTo>
                  <a:pt x="25400" y="2949236"/>
                </a:lnTo>
                <a:lnTo>
                  <a:pt x="25400" y="0"/>
                </a:lnTo>
                <a:close/>
              </a:path>
              <a:path w="38100" h="2995929">
                <a:moveTo>
                  <a:pt x="25400" y="2949236"/>
                </a:moveTo>
                <a:lnTo>
                  <a:pt x="19050" y="2957703"/>
                </a:lnTo>
                <a:lnTo>
                  <a:pt x="25400" y="2957703"/>
                </a:lnTo>
                <a:lnTo>
                  <a:pt x="25400" y="29492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3687" y="3243960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50"/>
                </a:lnTo>
                <a:lnTo>
                  <a:pt x="8042211" y="38100"/>
                </a:lnTo>
                <a:lnTo>
                  <a:pt x="8084544" y="25400"/>
                </a:lnTo>
                <a:lnTo>
                  <a:pt x="8067738" y="25400"/>
                </a:lnTo>
                <a:lnTo>
                  <a:pt x="8067738" y="12700"/>
                </a:lnTo>
                <a:lnTo>
                  <a:pt x="8084544" y="12700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144" y="25400"/>
                </a:lnTo>
                <a:lnTo>
                  <a:pt x="8067611" y="19050"/>
                </a:lnTo>
                <a:lnTo>
                  <a:pt x="8059144" y="12700"/>
                </a:lnTo>
                <a:close/>
              </a:path>
              <a:path w="8105775" h="38100">
                <a:moveTo>
                  <a:pt x="8084544" y="12700"/>
                </a:moveTo>
                <a:lnTo>
                  <a:pt x="8067738" y="12700"/>
                </a:lnTo>
                <a:lnTo>
                  <a:pt x="8067738" y="25400"/>
                </a:lnTo>
                <a:lnTo>
                  <a:pt x="8084544" y="25400"/>
                </a:lnTo>
                <a:lnTo>
                  <a:pt x="8105711" y="19050"/>
                </a:lnTo>
                <a:lnTo>
                  <a:pt x="808454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3687" y="3670172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50"/>
                </a:lnTo>
                <a:lnTo>
                  <a:pt x="8042211" y="38100"/>
                </a:lnTo>
                <a:lnTo>
                  <a:pt x="8084544" y="25400"/>
                </a:lnTo>
                <a:lnTo>
                  <a:pt x="8067738" y="25400"/>
                </a:lnTo>
                <a:lnTo>
                  <a:pt x="8067738" y="12700"/>
                </a:lnTo>
                <a:lnTo>
                  <a:pt x="8084544" y="12700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144" y="25400"/>
                </a:lnTo>
                <a:lnTo>
                  <a:pt x="8067611" y="19050"/>
                </a:lnTo>
                <a:lnTo>
                  <a:pt x="8059144" y="12700"/>
                </a:lnTo>
                <a:close/>
              </a:path>
              <a:path w="8105775" h="38100">
                <a:moveTo>
                  <a:pt x="8084544" y="12700"/>
                </a:moveTo>
                <a:lnTo>
                  <a:pt x="8067738" y="12700"/>
                </a:lnTo>
                <a:lnTo>
                  <a:pt x="8067738" y="25400"/>
                </a:lnTo>
                <a:lnTo>
                  <a:pt x="8084544" y="25400"/>
                </a:lnTo>
                <a:lnTo>
                  <a:pt x="8105711" y="19050"/>
                </a:lnTo>
                <a:lnTo>
                  <a:pt x="808454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687" y="4096258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50"/>
                </a:lnTo>
                <a:lnTo>
                  <a:pt x="8042211" y="38100"/>
                </a:lnTo>
                <a:lnTo>
                  <a:pt x="8084544" y="25400"/>
                </a:lnTo>
                <a:lnTo>
                  <a:pt x="8067738" y="25400"/>
                </a:lnTo>
                <a:lnTo>
                  <a:pt x="8067738" y="12700"/>
                </a:lnTo>
                <a:lnTo>
                  <a:pt x="8084544" y="12700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144" y="25400"/>
                </a:lnTo>
                <a:lnTo>
                  <a:pt x="8067611" y="19050"/>
                </a:lnTo>
                <a:lnTo>
                  <a:pt x="8059144" y="12700"/>
                </a:lnTo>
                <a:close/>
              </a:path>
              <a:path w="8105775" h="38100">
                <a:moveTo>
                  <a:pt x="8084544" y="12700"/>
                </a:moveTo>
                <a:lnTo>
                  <a:pt x="8067738" y="12700"/>
                </a:lnTo>
                <a:lnTo>
                  <a:pt x="8067738" y="25400"/>
                </a:lnTo>
                <a:lnTo>
                  <a:pt x="8084544" y="25400"/>
                </a:lnTo>
                <a:lnTo>
                  <a:pt x="8105711" y="19050"/>
                </a:lnTo>
                <a:lnTo>
                  <a:pt x="808454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3687" y="4522470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49"/>
                </a:lnTo>
                <a:lnTo>
                  <a:pt x="8042211" y="38099"/>
                </a:lnTo>
                <a:lnTo>
                  <a:pt x="8084544" y="25399"/>
                </a:lnTo>
                <a:lnTo>
                  <a:pt x="8067738" y="25399"/>
                </a:lnTo>
                <a:lnTo>
                  <a:pt x="8067738" y="12699"/>
                </a:lnTo>
                <a:lnTo>
                  <a:pt x="8084544" y="12699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8059144" y="25399"/>
                </a:lnTo>
                <a:lnTo>
                  <a:pt x="8067611" y="19049"/>
                </a:lnTo>
                <a:lnTo>
                  <a:pt x="8059144" y="12699"/>
                </a:lnTo>
                <a:close/>
              </a:path>
              <a:path w="8105775" h="38100">
                <a:moveTo>
                  <a:pt x="8084544" y="12699"/>
                </a:moveTo>
                <a:lnTo>
                  <a:pt x="8067738" y="12699"/>
                </a:lnTo>
                <a:lnTo>
                  <a:pt x="8067738" y="25399"/>
                </a:lnTo>
                <a:lnTo>
                  <a:pt x="8084544" y="25399"/>
                </a:lnTo>
                <a:lnTo>
                  <a:pt x="8105711" y="19049"/>
                </a:lnTo>
                <a:lnTo>
                  <a:pt x="8084544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3687" y="4948554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50"/>
                </a:lnTo>
                <a:lnTo>
                  <a:pt x="8042211" y="38100"/>
                </a:lnTo>
                <a:lnTo>
                  <a:pt x="8084544" y="25400"/>
                </a:lnTo>
                <a:lnTo>
                  <a:pt x="8067738" y="25400"/>
                </a:lnTo>
                <a:lnTo>
                  <a:pt x="8067738" y="12700"/>
                </a:lnTo>
                <a:lnTo>
                  <a:pt x="8084544" y="12700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144" y="25400"/>
                </a:lnTo>
                <a:lnTo>
                  <a:pt x="8067611" y="19050"/>
                </a:lnTo>
                <a:lnTo>
                  <a:pt x="8059144" y="12700"/>
                </a:lnTo>
                <a:close/>
              </a:path>
              <a:path w="8105775" h="38100">
                <a:moveTo>
                  <a:pt x="8084544" y="12700"/>
                </a:moveTo>
                <a:lnTo>
                  <a:pt x="8067738" y="12700"/>
                </a:lnTo>
                <a:lnTo>
                  <a:pt x="8067738" y="25400"/>
                </a:lnTo>
                <a:lnTo>
                  <a:pt x="8084544" y="25400"/>
                </a:lnTo>
                <a:lnTo>
                  <a:pt x="8105711" y="19050"/>
                </a:lnTo>
                <a:lnTo>
                  <a:pt x="808454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3687" y="5374766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50"/>
                </a:lnTo>
                <a:lnTo>
                  <a:pt x="8042211" y="38100"/>
                </a:lnTo>
                <a:lnTo>
                  <a:pt x="8084544" y="25400"/>
                </a:lnTo>
                <a:lnTo>
                  <a:pt x="8067738" y="25400"/>
                </a:lnTo>
                <a:lnTo>
                  <a:pt x="8067738" y="12700"/>
                </a:lnTo>
                <a:lnTo>
                  <a:pt x="8084544" y="12700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144" y="25400"/>
                </a:lnTo>
                <a:lnTo>
                  <a:pt x="8067611" y="19050"/>
                </a:lnTo>
                <a:lnTo>
                  <a:pt x="8059144" y="12700"/>
                </a:lnTo>
                <a:close/>
              </a:path>
              <a:path w="8105775" h="38100">
                <a:moveTo>
                  <a:pt x="8084544" y="12700"/>
                </a:moveTo>
                <a:lnTo>
                  <a:pt x="8067738" y="12700"/>
                </a:lnTo>
                <a:lnTo>
                  <a:pt x="8067738" y="25400"/>
                </a:lnTo>
                <a:lnTo>
                  <a:pt x="8084544" y="25400"/>
                </a:lnTo>
                <a:lnTo>
                  <a:pt x="8105711" y="19050"/>
                </a:lnTo>
                <a:lnTo>
                  <a:pt x="808454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687" y="5800902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49"/>
                </a:lnTo>
                <a:lnTo>
                  <a:pt x="8042211" y="38099"/>
                </a:lnTo>
                <a:lnTo>
                  <a:pt x="8084544" y="25399"/>
                </a:lnTo>
                <a:lnTo>
                  <a:pt x="8067738" y="25399"/>
                </a:lnTo>
                <a:lnTo>
                  <a:pt x="8067738" y="12699"/>
                </a:lnTo>
                <a:lnTo>
                  <a:pt x="8084544" y="12699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8059144" y="25399"/>
                </a:lnTo>
                <a:lnTo>
                  <a:pt x="8067611" y="19049"/>
                </a:lnTo>
                <a:lnTo>
                  <a:pt x="8059144" y="12699"/>
                </a:lnTo>
                <a:close/>
              </a:path>
              <a:path w="8105775" h="38100">
                <a:moveTo>
                  <a:pt x="8084544" y="12699"/>
                </a:moveTo>
                <a:lnTo>
                  <a:pt x="8067738" y="12699"/>
                </a:lnTo>
                <a:lnTo>
                  <a:pt x="8067738" y="25399"/>
                </a:lnTo>
                <a:lnTo>
                  <a:pt x="8084544" y="25399"/>
                </a:lnTo>
                <a:lnTo>
                  <a:pt x="8105711" y="19049"/>
                </a:lnTo>
                <a:lnTo>
                  <a:pt x="8084544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3687" y="6227064"/>
            <a:ext cx="8105775" cy="38100"/>
          </a:xfrm>
          <a:custGeom>
            <a:avLst/>
            <a:gdLst/>
            <a:ahLst/>
            <a:cxnLst/>
            <a:rect l="l" t="t" r="r" b="b"/>
            <a:pathLst>
              <a:path w="8105775" h="38100">
                <a:moveTo>
                  <a:pt x="8042211" y="0"/>
                </a:moveTo>
                <a:lnTo>
                  <a:pt x="8067611" y="19050"/>
                </a:lnTo>
                <a:lnTo>
                  <a:pt x="8042211" y="38100"/>
                </a:lnTo>
                <a:lnTo>
                  <a:pt x="8084544" y="25400"/>
                </a:lnTo>
                <a:lnTo>
                  <a:pt x="8067738" y="25400"/>
                </a:lnTo>
                <a:lnTo>
                  <a:pt x="8067738" y="12700"/>
                </a:lnTo>
                <a:lnTo>
                  <a:pt x="8084544" y="12700"/>
                </a:lnTo>
                <a:lnTo>
                  <a:pt x="8042211" y="0"/>
                </a:lnTo>
                <a:close/>
              </a:path>
              <a:path w="8105775" h="38100">
                <a:moveTo>
                  <a:pt x="805914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8059144" y="25400"/>
                </a:lnTo>
                <a:lnTo>
                  <a:pt x="8067611" y="19050"/>
                </a:lnTo>
                <a:lnTo>
                  <a:pt x="8059144" y="12700"/>
                </a:lnTo>
                <a:close/>
              </a:path>
              <a:path w="8105775" h="38100">
                <a:moveTo>
                  <a:pt x="8084544" y="12700"/>
                </a:moveTo>
                <a:lnTo>
                  <a:pt x="8067738" y="12700"/>
                </a:lnTo>
                <a:lnTo>
                  <a:pt x="8067738" y="25400"/>
                </a:lnTo>
                <a:lnTo>
                  <a:pt x="8084544" y="25400"/>
                </a:lnTo>
                <a:lnTo>
                  <a:pt x="8105711" y="19050"/>
                </a:lnTo>
                <a:lnTo>
                  <a:pt x="808454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5112" y="2822575"/>
            <a:ext cx="85725" cy="3863975"/>
          </a:xfrm>
          <a:custGeom>
            <a:avLst/>
            <a:gdLst/>
            <a:ahLst/>
            <a:cxnLst/>
            <a:rect l="l" t="t" r="r" b="b"/>
            <a:pathLst>
              <a:path w="85725" h="3863975">
                <a:moveTo>
                  <a:pt x="0" y="3721100"/>
                </a:moveTo>
                <a:lnTo>
                  <a:pt x="42862" y="3863975"/>
                </a:lnTo>
                <a:lnTo>
                  <a:pt x="68572" y="3778275"/>
                </a:lnTo>
                <a:lnTo>
                  <a:pt x="28575" y="3778275"/>
                </a:lnTo>
                <a:lnTo>
                  <a:pt x="28575" y="3759200"/>
                </a:lnTo>
                <a:lnTo>
                  <a:pt x="0" y="3721100"/>
                </a:lnTo>
                <a:close/>
              </a:path>
              <a:path w="85725" h="3863975">
                <a:moveTo>
                  <a:pt x="28575" y="3759200"/>
                </a:moveTo>
                <a:lnTo>
                  <a:pt x="28575" y="3778275"/>
                </a:lnTo>
                <a:lnTo>
                  <a:pt x="57150" y="3778275"/>
                </a:lnTo>
                <a:lnTo>
                  <a:pt x="42862" y="3778250"/>
                </a:lnTo>
                <a:lnTo>
                  <a:pt x="28575" y="3759200"/>
                </a:lnTo>
                <a:close/>
              </a:path>
              <a:path w="85725" h="3863975">
                <a:moveTo>
                  <a:pt x="85725" y="3721100"/>
                </a:moveTo>
                <a:lnTo>
                  <a:pt x="57150" y="3759200"/>
                </a:lnTo>
                <a:lnTo>
                  <a:pt x="57150" y="3778275"/>
                </a:lnTo>
                <a:lnTo>
                  <a:pt x="68572" y="3778275"/>
                </a:lnTo>
                <a:lnTo>
                  <a:pt x="85725" y="3721100"/>
                </a:lnTo>
                <a:close/>
              </a:path>
              <a:path w="85725" h="3863975">
                <a:moveTo>
                  <a:pt x="57150" y="0"/>
                </a:moveTo>
                <a:lnTo>
                  <a:pt x="28575" y="0"/>
                </a:lnTo>
                <a:lnTo>
                  <a:pt x="28575" y="3759200"/>
                </a:lnTo>
                <a:lnTo>
                  <a:pt x="42862" y="3778250"/>
                </a:lnTo>
                <a:lnTo>
                  <a:pt x="57150" y="3759200"/>
                </a:lnTo>
                <a:lnTo>
                  <a:pt x="57150" y="0"/>
                </a:lnTo>
                <a:close/>
              </a:path>
              <a:path w="85725" h="3863975">
                <a:moveTo>
                  <a:pt x="57150" y="3759200"/>
                </a:moveTo>
                <a:lnTo>
                  <a:pt x="42862" y="3778250"/>
                </a:lnTo>
                <a:lnTo>
                  <a:pt x="57150" y="3778250"/>
                </a:lnTo>
                <a:lnTo>
                  <a:pt x="57150" y="3759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42248" y="2822575"/>
            <a:ext cx="85725" cy="3863975"/>
          </a:xfrm>
          <a:custGeom>
            <a:avLst/>
            <a:gdLst/>
            <a:ahLst/>
            <a:cxnLst/>
            <a:rect l="l" t="t" r="r" b="b"/>
            <a:pathLst>
              <a:path w="85725" h="3863975">
                <a:moveTo>
                  <a:pt x="0" y="3721100"/>
                </a:moveTo>
                <a:lnTo>
                  <a:pt x="42925" y="3863975"/>
                </a:lnTo>
                <a:lnTo>
                  <a:pt x="68597" y="3778275"/>
                </a:lnTo>
                <a:lnTo>
                  <a:pt x="28575" y="3778275"/>
                </a:lnTo>
                <a:lnTo>
                  <a:pt x="28575" y="3759143"/>
                </a:lnTo>
                <a:lnTo>
                  <a:pt x="0" y="3721100"/>
                </a:lnTo>
                <a:close/>
              </a:path>
              <a:path w="85725" h="3863975">
                <a:moveTo>
                  <a:pt x="28575" y="3759143"/>
                </a:moveTo>
                <a:lnTo>
                  <a:pt x="28575" y="3778275"/>
                </a:lnTo>
                <a:lnTo>
                  <a:pt x="57150" y="3778275"/>
                </a:lnTo>
                <a:lnTo>
                  <a:pt x="42925" y="3778250"/>
                </a:lnTo>
                <a:lnTo>
                  <a:pt x="28575" y="3759143"/>
                </a:lnTo>
                <a:close/>
              </a:path>
              <a:path w="85725" h="3863975">
                <a:moveTo>
                  <a:pt x="85725" y="3721100"/>
                </a:moveTo>
                <a:lnTo>
                  <a:pt x="57234" y="3759143"/>
                </a:lnTo>
                <a:lnTo>
                  <a:pt x="57150" y="3778275"/>
                </a:lnTo>
                <a:lnTo>
                  <a:pt x="68597" y="3778275"/>
                </a:lnTo>
                <a:lnTo>
                  <a:pt x="85725" y="3721100"/>
                </a:lnTo>
                <a:close/>
              </a:path>
              <a:path w="85725" h="3863975">
                <a:moveTo>
                  <a:pt x="57150" y="0"/>
                </a:moveTo>
                <a:lnTo>
                  <a:pt x="28575" y="0"/>
                </a:lnTo>
                <a:lnTo>
                  <a:pt x="28659" y="3759256"/>
                </a:lnTo>
                <a:lnTo>
                  <a:pt x="42925" y="3778250"/>
                </a:lnTo>
                <a:lnTo>
                  <a:pt x="57150" y="3759256"/>
                </a:lnTo>
                <a:lnTo>
                  <a:pt x="57150" y="0"/>
                </a:lnTo>
                <a:close/>
              </a:path>
              <a:path w="85725" h="3863975">
                <a:moveTo>
                  <a:pt x="57150" y="3759256"/>
                </a:moveTo>
                <a:lnTo>
                  <a:pt x="42925" y="3778250"/>
                </a:lnTo>
                <a:lnTo>
                  <a:pt x="57150" y="3778250"/>
                </a:lnTo>
                <a:lnTo>
                  <a:pt x="57150" y="3759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3687" y="2794000"/>
            <a:ext cx="8105775" cy="85725"/>
          </a:xfrm>
          <a:custGeom>
            <a:avLst/>
            <a:gdLst/>
            <a:ahLst/>
            <a:cxnLst/>
            <a:rect l="l" t="t" r="r" b="b"/>
            <a:pathLst>
              <a:path w="8105775" h="85725">
                <a:moveTo>
                  <a:pt x="7962836" y="0"/>
                </a:moveTo>
                <a:lnTo>
                  <a:pt x="8019986" y="42799"/>
                </a:lnTo>
                <a:lnTo>
                  <a:pt x="7962836" y="85725"/>
                </a:lnTo>
                <a:lnTo>
                  <a:pt x="8057945" y="57150"/>
                </a:lnTo>
                <a:lnTo>
                  <a:pt x="8020113" y="57150"/>
                </a:lnTo>
                <a:lnTo>
                  <a:pt x="8020113" y="28575"/>
                </a:lnTo>
                <a:lnTo>
                  <a:pt x="8058227" y="28575"/>
                </a:lnTo>
                <a:lnTo>
                  <a:pt x="7962836" y="0"/>
                </a:lnTo>
                <a:close/>
              </a:path>
              <a:path w="8105775" h="85725">
                <a:moveTo>
                  <a:pt x="8000993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000880" y="57150"/>
                </a:lnTo>
                <a:lnTo>
                  <a:pt x="8019986" y="42799"/>
                </a:lnTo>
                <a:lnTo>
                  <a:pt x="8000993" y="28575"/>
                </a:lnTo>
                <a:close/>
              </a:path>
              <a:path w="8105775" h="85725">
                <a:moveTo>
                  <a:pt x="8058227" y="28575"/>
                </a:moveTo>
                <a:lnTo>
                  <a:pt x="8020113" y="28575"/>
                </a:lnTo>
                <a:lnTo>
                  <a:pt x="8020113" y="57150"/>
                </a:lnTo>
                <a:lnTo>
                  <a:pt x="8057945" y="57150"/>
                </a:lnTo>
                <a:lnTo>
                  <a:pt x="8105711" y="42799"/>
                </a:lnTo>
                <a:lnTo>
                  <a:pt x="805822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3687" y="6629400"/>
            <a:ext cx="8105775" cy="85725"/>
          </a:xfrm>
          <a:custGeom>
            <a:avLst/>
            <a:gdLst/>
            <a:ahLst/>
            <a:cxnLst/>
            <a:rect l="l" t="t" r="r" b="b"/>
            <a:pathLst>
              <a:path w="8105775" h="85725">
                <a:moveTo>
                  <a:pt x="7962836" y="0"/>
                </a:moveTo>
                <a:lnTo>
                  <a:pt x="8019986" y="42862"/>
                </a:lnTo>
                <a:lnTo>
                  <a:pt x="7962836" y="85725"/>
                </a:lnTo>
                <a:lnTo>
                  <a:pt x="8058086" y="57150"/>
                </a:lnTo>
                <a:lnTo>
                  <a:pt x="8020113" y="57150"/>
                </a:lnTo>
                <a:lnTo>
                  <a:pt x="8020113" y="28575"/>
                </a:lnTo>
                <a:lnTo>
                  <a:pt x="8058086" y="28575"/>
                </a:lnTo>
                <a:lnTo>
                  <a:pt x="7962836" y="0"/>
                </a:lnTo>
                <a:close/>
              </a:path>
              <a:path w="8105775" h="85725">
                <a:moveTo>
                  <a:pt x="8000936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000936" y="57150"/>
                </a:lnTo>
                <a:lnTo>
                  <a:pt x="8019986" y="42862"/>
                </a:lnTo>
                <a:lnTo>
                  <a:pt x="8000936" y="28575"/>
                </a:lnTo>
                <a:close/>
              </a:path>
              <a:path w="8105775" h="85725">
                <a:moveTo>
                  <a:pt x="8058086" y="28575"/>
                </a:moveTo>
                <a:lnTo>
                  <a:pt x="8020113" y="28575"/>
                </a:lnTo>
                <a:lnTo>
                  <a:pt x="8020113" y="57150"/>
                </a:lnTo>
                <a:lnTo>
                  <a:pt x="8058086" y="57150"/>
                </a:lnTo>
                <a:lnTo>
                  <a:pt x="8105711" y="42862"/>
                </a:lnTo>
                <a:lnTo>
                  <a:pt x="8058086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72592" y="2912506"/>
          <a:ext cx="7970520" cy="37527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7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8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68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72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9130">
                        <a:lnSpc>
                          <a:spcPts val="190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功能点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5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项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66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简单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6675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一般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6675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复杂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66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外部输入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6360" marB="0">
                    <a:lnR w="28575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2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3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85090" marB="0"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1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85090" marB="0"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6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85090" marB="0">
                    <a:lnL w="28575">
                      <a:solidFill>
                        <a:srgbClr val="FF0000"/>
                      </a:solidFill>
                      <a:prstDash val="solid"/>
                    </a:lnL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外部输出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6985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6985" marB="0"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1*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 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6985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14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外部查询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3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1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53975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6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7493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62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外部接口文件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7366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1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spc="-5" dirty="0">
                          <a:latin typeface="Arial Narrow"/>
                          <a:cs typeface="Arial Narrow"/>
                        </a:rPr>
                        <a:t>10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736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内部逻辑文件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97155" marB="0">
                    <a:lnR w="28575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1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95250" marB="0"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1 *</a:t>
                      </a:r>
                      <a:r>
                        <a:rPr sz="18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spc="-5" dirty="0">
                          <a:latin typeface="Arial Narrow"/>
                          <a:cs typeface="Arial Narrow"/>
                        </a:rPr>
                        <a:t>10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95250" marB="0"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0*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800" spc="-5" dirty="0">
                          <a:latin typeface="Arial Narrow"/>
                          <a:cs typeface="Arial Narrow"/>
                        </a:rPr>
                        <a:t>15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9525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127000">
                        <a:lnSpc>
                          <a:spcPts val="205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总计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711">
                <a:tc>
                  <a:txBody>
                    <a:bodyPr/>
                    <a:lstStyle/>
                    <a:p>
                      <a:pPr marL="127000">
                        <a:lnSpc>
                          <a:spcPts val="205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UFC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205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45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287274" y="1629917"/>
            <a:ext cx="8602980" cy="116903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sz="2800" spc="-10" dirty="0">
                <a:latin typeface="华文新魏"/>
                <a:cs typeface="华文新魏"/>
              </a:rPr>
              <a:t>外部输</a:t>
            </a:r>
            <a:r>
              <a:rPr sz="2800" spc="-5" dirty="0">
                <a:latin typeface="华文新魏"/>
                <a:cs typeface="华文新魏"/>
              </a:rPr>
              <a:t>入:3</a:t>
            </a:r>
            <a:r>
              <a:rPr sz="2800" spc="-10" dirty="0">
                <a:latin typeface="华文新魏"/>
                <a:cs typeface="华文新魏"/>
              </a:rPr>
              <a:t>项</a:t>
            </a:r>
            <a:r>
              <a:rPr sz="2800" spc="-5" dirty="0">
                <a:latin typeface="华文新魏"/>
                <a:cs typeface="华文新魏"/>
              </a:rPr>
              <a:t>;</a:t>
            </a:r>
            <a:r>
              <a:rPr sz="2800" spc="-10" dirty="0">
                <a:latin typeface="华文新魏"/>
                <a:cs typeface="华文新魏"/>
              </a:rPr>
              <a:t>外部输出</a:t>
            </a:r>
            <a:r>
              <a:rPr sz="2800" spc="-5" dirty="0">
                <a:latin typeface="华文新魏"/>
                <a:cs typeface="华文新魏"/>
              </a:rPr>
              <a:t>:1</a:t>
            </a:r>
            <a:r>
              <a:rPr sz="2800" spc="-10" dirty="0">
                <a:latin typeface="华文新魏"/>
                <a:cs typeface="华文新魏"/>
              </a:rPr>
              <a:t>项</a:t>
            </a:r>
            <a:r>
              <a:rPr sz="2800" spc="-5" dirty="0">
                <a:latin typeface="华文新魏"/>
                <a:cs typeface="华文新魏"/>
              </a:rPr>
              <a:t>;</a:t>
            </a:r>
            <a:r>
              <a:rPr sz="2800" spc="-10" dirty="0">
                <a:latin typeface="华文新魏"/>
                <a:cs typeface="华文新魏"/>
              </a:rPr>
              <a:t>外部查询</a:t>
            </a:r>
            <a:r>
              <a:rPr sz="2800" spc="-5" dirty="0">
                <a:latin typeface="华文新魏"/>
                <a:cs typeface="华文新魏"/>
              </a:rPr>
              <a:t>:1</a:t>
            </a:r>
            <a:r>
              <a:rPr sz="2800" spc="-10" dirty="0">
                <a:latin typeface="华文新魏"/>
                <a:cs typeface="华文新魏"/>
              </a:rPr>
              <a:t>项</a:t>
            </a:r>
            <a:r>
              <a:rPr sz="2800" spc="-5" dirty="0">
                <a:latin typeface="华文新魏"/>
                <a:cs typeface="华文新魏"/>
              </a:rPr>
              <a:t>;</a:t>
            </a:r>
            <a:endParaRPr sz="2800">
              <a:latin typeface="华文新魏"/>
              <a:cs typeface="华文新魏"/>
            </a:endParaRPr>
          </a:p>
          <a:p>
            <a:pPr marL="89535">
              <a:lnSpc>
                <a:spcPct val="100000"/>
              </a:lnSpc>
              <a:spcBef>
                <a:spcPts val="1685"/>
              </a:spcBef>
            </a:pPr>
            <a:r>
              <a:rPr sz="2800" spc="-5" dirty="0">
                <a:latin typeface="华文新魏"/>
                <a:cs typeface="华文新魏"/>
              </a:rPr>
              <a:t>外部接口文件:1项;内部逻辑文</a:t>
            </a:r>
            <a:r>
              <a:rPr sz="2800" spc="-15" dirty="0">
                <a:latin typeface="华文新魏"/>
                <a:cs typeface="华文新魏"/>
              </a:rPr>
              <a:t>件</a:t>
            </a:r>
            <a:r>
              <a:rPr sz="2800" dirty="0">
                <a:latin typeface="华文新魏"/>
                <a:cs typeface="华文新魏"/>
              </a:rPr>
              <a:t>:2</a:t>
            </a:r>
            <a:r>
              <a:rPr sz="2800" spc="-5" dirty="0">
                <a:latin typeface="华文新魏"/>
                <a:cs typeface="华文新魏"/>
              </a:rPr>
              <a:t>项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49942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TCF-技术复杂度因子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016" y="1671015"/>
            <a:ext cx="6951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黑体"/>
                <a:cs typeface="黑体"/>
              </a:rPr>
              <a:t>TCF=0.65+0.01(sum(Fi))：</a:t>
            </a:r>
            <a:r>
              <a:rPr sz="2400" b="1" spc="-15" dirty="0">
                <a:latin typeface="黑体"/>
                <a:cs typeface="黑体"/>
              </a:rPr>
              <a:t> </a:t>
            </a:r>
            <a:r>
              <a:rPr sz="2400" b="1" dirty="0">
                <a:latin typeface="黑体"/>
                <a:cs typeface="黑体"/>
              </a:rPr>
              <a:t>Fi:0-5,TCF:0.65-1.35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1533" y="2794000"/>
            <a:ext cx="38100" cy="3472179"/>
          </a:xfrm>
          <a:custGeom>
            <a:avLst/>
            <a:gdLst/>
            <a:ahLst/>
            <a:cxnLst/>
            <a:rect l="l" t="t" r="r" b="b"/>
            <a:pathLst>
              <a:path w="38100" h="3472179">
                <a:moveTo>
                  <a:pt x="0" y="3408362"/>
                </a:moveTo>
                <a:lnTo>
                  <a:pt x="19050" y="3471862"/>
                </a:lnTo>
                <a:lnTo>
                  <a:pt x="30468" y="3433800"/>
                </a:lnTo>
                <a:lnTo>
                  <a:pt x="12700" y="3433800"/>
                </a:lnTo>
                <a:lnTo>
                  <a:pt x="12700" y="3425295"/>
                </a:lnTo>
                <a:lnTo>
                  <a:pt x="0" y="3408362"/>
                </a:lnTo>
                <a:close/>
              </a:path>
              <a:path w="38100" h="3472179">
                <a:moveTo>
                  <a:pt x="12700" y="3425295"/>
                </a:moveTo>
                <a:lnTo>
                  <a:pt x="12700" y="3433800"/>
                </a:lnTo>
                <a:lnTo>
                  <a:pt x="25400" y="3433800"/>
                </a:lnTo>
                <a:lnTo>
                  <a:pt x="19050" y="3433762"/>
                </a:lnTo>
                <a:lnTo>
                  <a:pt x="12700" y="3425295"/>
                </a:lnTo>
                <a:close/>
              </a:path>
              <a:path w="38100" h="3472179">
                <a:moveTo>
                  <a:pt x="38100" y="3408362"/>
                </a:moveTo>
                <a:lnTo>
                  <a:pt x="25400" y="3425295"/>
                </a:lnTo>
                <a:lnTo>
                  <a:pt x="25400" y="3433800"/>
                </a:lnTo>
                <a:lnTo>
                  <a:pt x="30468" y="3433800"/>
                </a:lnTo>
                <a:lnTo>
                  <a:pt x="38100" y="3408362"/>
                </a:lnTo>
                <a:close/>
              </a:path>
              <a:path w="38100" h="3472179">
                <a:moveTo>
                  <a:pt x="25400" y="0"/>
                </a:moveTo>
                <a:lnTo>
                  <a:pt x="12700" y="0"/>
                </a:lnTo>
                <a:lnTo>
                  <a:pt x="12700" y="3425295"/>
                </a:lnTo>
                <a:lnTo>
                  <a:pt x="19050" y="3433762"/>
                </a:lnTo>
                <a:lnTo>
                  <a:pt x="25400" y="3425295"/>
                </a:lnTo>
                <a:lnTo>
                  <a:pt x="25400" y="0"/>
                </a:lnTo>
                <a:close/>
              </a:path>
              <a:path w="38100" h="3472179">
                <a:moveTo>
                  <a:pt x="25400" y="3425295"/>
                </a:moveTo>
                <a:lnTo>
                  <a:pt x="19050" y="3433762"/>
                </a:lnTo>
                <a:lnTo>
                  <a:pt x="25400" y="3433762"/>
                </a:lnTo>
                <a:lnTo>
                  <a:pt x="25400" y="34252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23613" y="2794000"/>
            <a:ext cx="38100" cy="3472179"/>
          </a:xfrm>
          <a:custGeom>
            <a:avLst/>
            <a:gdLst/>
            <a:ahLst/>
            <a:cxnLst/>
            <a:rect l="l" t="t" r="r" b="b"/>
            <a:pathLst>
              <a:path w="38100" h="3472179">
                <a:moveTo>
                  <a:pt x="0" y="3408362"/>
                </a:moveTo>
                <a:lnTo>
                  <a:pt x="19050" y="3471862"/>
                </a:lnTo>
                <a:lnTo>
                  <a:pt x="30468" y="3433800"/>
                </a:lnTo>
                <a:lnTo>
                  <a:pt x="12700" y="3433800"/>
                </a:lnTo>
                <a:lnTo>
                  <a:pt x="12700" y="3425295"/>
                </a:lnTo>
                <a:lnTo>
                  <a:pt x="0" y="3408362"/>
                </a:lnTo>
                <a:close/>
              </a:path>
              <a:path w="38100" h="3472179">
                <a:moveTo>
                  <a:pt x="12700" y="3425295"/>
                </a:moveTo>
                <a:lnTo>
                  <a:pt x="12700" y="3433800"/>
                </a:lnTo>
                <a:lnTo>
                  <a:pt x="25400" y="3433800"/>
                </a:lnTo>
                <a:lnTo>
                  <a:pt x="19050" y="3433762"/>
                </a:lnTo>
                <a:lnTo>
                  <a:pt x="12700" y="3425295"/>
                </a:lnTo>
                <a:close/>
              </a:path>
              <a:path w="38100" h="3472179">
                <a:moveTo>
                  <a:pt x="38100" y="3408362"/>
                </a:moveTo>
                <a:lnTo>
                  <a:pt x="25400" y="3425295"/>
                </a:lnTo>
                <a:lnTo>
                  <a:pt x="25400" y="3433800"/>
                </a:lnTo>
                <a:lnTo>
                  <a:pt x="30468" y="3433800"/>
                </a:lnTo>
                <a:lnTo>
                  <a:pt x="38100" y="3408362"/>
                </a:lnTo>
                <a:close/>
              </a:path>
              <a:path w="38100" h="3472179">
                <a:moveTo>
                  <a:pt x="25400" y="0"/>
                </a:moveTo>
                <a:lnTo>
                  <a:pt x="12700" y="0"/>
                </a:lnTo>
                <a:lnTo>
                  <a:pt x="12700" y="3425295"/>
                </a:lnTo>
                <a:lnTo>
                  <a:pt x="19050" y="3433762"/>
                </a:lnTo>
                <a:lnTo>
                  <a:pt x="25400" y="3425295"/>
                </a:lnTo>
                <a:lnTo>
                  <a:pt x="25400" y="0"/>
                </a:lnTo>
                <a:close/>
              </a:path>
              <a:path w="38100" h="3472179">
                <a:moveTo>
                  <a:pt x="25400" y="3425295"/>
                </a:moveTo>
                <a:lnTo>
                  <a:pt x="19050" y="3433762"/>
                </a:lnTo>
                <a:lnTo>
                  <a:pt x="25400" y="3433762"/>
                </a:lnTo>
                <a:lnTo>
                  <a:pt x="25400" y="34252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29884" y="2794000"/>
            <a:ext cx="38100" cy="3472179"/>
          </a:xfrm>
          <a:custGeom>
            <a:avLst/>
            <a:gdLst/>
            <a:ahLst/>
            <a:cxnLst/>
            <a:rect l="l" t="t" r="r" b="b"/>
            <a:pathLst>
              <a:path w="38100" h="3472179">
                <a:moveTo>
                  <a:pt x="0" y="3408362"/>
                </a:moveTo>
                <a:lnTo>
                  <a:pt x="19050" y="3471862"/>
                </a:lnTo>
                <a:lnTo>
                  <a:pt x="30468" y="3433800"/>
                </a:lnTo>
                <a:lnTo>
                  <a:pt x="12700" y="3433800"/>
                </a:lnTo>
                <a:lnTo>
                  <a:pt x="12700" y="3425295"/>
                </a:lnTo>
                <a:lnTo>
                  <a:pt x="0" y="3408362"/>
                </a:lnTo>
                <a:close/>
              </a:path>
              <a:path w="38100" h="3472179">
                <a:moveTo>
                  <a:pt x="12700" y="3425295"/>
                </a:moveTo>
                <a:lnTo>
                  <a:pt x="12700" y="3433800"/>
                </a:lnTo>
                <a:lnTo>
                  <a:pt x="25400" y="3433800"/>
                </a:lnTo>
                <a:lnTo>
                  <a:pt x="19050" y="3433762"/>
                </a:lnTo>
                <a:lnTo>
                  <a:pt x="12700" y="3425295"/>
                </a:lnTo>
                <a:close/>
              </a:path>
              <a:path w="38100" h="3472179">
                <a:moveTo>
                  <a:pt x="38100" y="3408362"/>
                </a:moveTo>
                <a:lnTo>
                  <a:pt x="25400" y="3425295"/>
                </a:lnTo>
                <a:lnTo>
                  <a:pt x="25400" y="3433800"/>
                </a:lnTo>
                <a:lnTo>
                  <a:pt x="30468" y="3433800"/>
                </a:lnTo>
                <a:lnTo>
                  <a:pt x="38100" y="3408362"/>
                </a:lnTo>
                <a:close/>
              </a:path>
              <a:path w="38100" h="3472179">
                <a:moveTo>
                  <a:pt x="25400" y="0"/>
                </a:moveTo>
                <a:lnTo>
                  <a:pt x="12700" y="0"/>
                </a:lnTo>
                <a:lnTo>
                  <a:pt x="12700" y="3425295"/>
                </a:lnTo>
                <a:lnTo>
                  <a:pt x="19050" y="3433762"/>
                </a:lnTo>
                <a:lnTo>
                  <a:pt x="25400" y="3425295"/>
                </a:lnTo>
                <a:lnTo>
                  <a:pt x="25400" y="0"/>
                </a:lnTo>
                <a:close/>
              </a:path>
              <a:path w="38100" h="3472179">
                <a:moveTo>
                  <a:pt x="25400" y="3425295"/>
                </a:moveTo>
                <a:lnTo>
                  <a:pt x="19050" y="3433762"/>
                </a:lnTo>
                <a:lnTo>
                  <a:pt x="25400" y="3433762"/>
                </a:lnTo>
                <a:lnTo>
                  <a:pt x="25400" y="34252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5462" y="2781300"/>
            <a:ext cx="8034655" cy="38100"/>
          </a:xfrm>
          <a:custGeom>
            <a:avLst/>
            <a:gdLst/>
            <a:ahLst/>
            <a:cxnLst/>
            <a:rect l="l" t="t" r="r" b="b"/>
            <a:pathLst>
              <a:path w="8034655" h="38100">
                <a:moveTo>
                  <a:pt x="7970837" y="0"/>
                </a:moveTo>
                <a:lnTo>
                  <a:pt x="7996237" y="19050"/>
                </a:lnTo>
                <a:lnTo>
                  <a:pt x="7970837" y="38100"/>
                </a:lnTo>
                <a:lnTo>
                  <a:pt x="8013170" y="25400"/>
                </a:lnTo>
                <a:lnTo>
                  <a:pt x="7996364" y="25400"/>
                </a:lnTo>
                <a:lnTo>
                  <a:pt x="7996364" y="12700"/>
                </a:lnTo>
                <a:lnTo>
                  <a:pt x="8013170" y="12700"/>
                </a:lnTo>
                <a:lnTo>
                  <a:pt x="7970837" y="0"/>
                </a:lnTo>
                <a:close/>
              </a:path>
              <a:path w="8034655" h="38100">
                <a:moveTo>
                  <a:pt x="7987770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7987770" y="25400"/>
                </a:lnTo>
                <a:lnTo>
                  <a:pt x="7996237" y="19050"/>
                </a:lnTo>
                <a:lnTo>
                  <a:pt x="7987770" y="12700"/>
                </a:lnTo>
                <a:close/>
              </a:path>
              <a:path w="8034655" h="38100">
                <a:moveTo>
                  <a:pt x="8013170" y="12700"/>
                </a:moveTo>
                <a:lnTo>
                  <a:pt x="7996364" y="12700"/>
                </a:lnTo>
                <a:lnTo>
                  <a:pt x="7996364" y="25400"/>
                </a:lnTo>
                <a:lnTo>
                  <a:pt x="8013170" y="25400"/>
                </a:lnTo>
                <a:lnTo>
                  <a:pt x="8034337" y="19050"/>
                </a:lnTo>
                <a:lnTo>
                  <a:pt x="801317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5462" y="3274314"/>
            <a:ext cx="8034655" cy="38100"/>
          </a:xfrm>
          <a:custGeom>
            <a:avLst/>
            <a:gdLst/>
            <a:ahLst/>
            <a:cxnLst/>
            <a:rect l="l" t="t" r="r" b="b"/>
            <a:pathLst>
              <a:path w="8034655" h="38100">
                <a:moveTo>
                  <a:pt x="7970837" y="0"/>
                </a:moveTo>
                <a:lnTo>
                  <a:pt x="7996237" y="19050"/>
                </a:lnTo>
                <a:lnTo>
                  <a:pt x="7970837" y="38100"/>
                </a:lnTo>
                <a:lnTo>
                  <a:pt x="8013170" y="25400"/>
                </a:lnTo>
                <a:lnTo>
                  <a:pt x="7996364" y="25400"/>
                </a:lnTo>
                <a:lnTo>
                  <a:pt x="7996364" y="12700"/>
                </a:lnTo>
                <a:lnTo>
                  <a:pt x="8013170" y="12700"/>
                </a:lnTo>
                <a:lnTo>
                  <a:pt x="7970837" y="0"/>
                </a:lnTo>
                <a:close/>
              </a:path>
              <a:path w="8034655" h="38100">
                <a:moveTo>
                  <a:pt x="7987770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7987770" y="25400"/>
                </a:lnTo>
                <a:lnTo>
                  <a:pt x="7996237" y="19050"/>
                </a:lnTo>
                <a:lnTo>
                  <a:pt x="7987770" y="12700"/>
                </a:lnTo>
                <a:close/>
              </a:path>
              <a:path w="8034655" h="38100">
                <a:moveTo>
                  <a:pt x="8013170" y="12700"/>
                </a:moveTo>
                <a:lnTo>
                  <a:pt x="7996364" y="12700"/>
                </a:lnTo>
                <a:lnTo>
                  <a:pt x="7996364" y="25400"/>
                </a:lnTo>
                <a:lnTo>
                  <a:pt x="8013170" y="25400"/>
                </a:lnTo>
                <a:lnTo>
                  <a:pt x="8034337" y="19050"/>
                </a:lnTo>
                <a:lnTo>
                  <a:pt x="801317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5462" y="3767328"/>
            <a:ext cx="8034655" cy="38100"/>
          </a:xfrm>
          <a:custGeom>
            <a:avLst/>
            <a:gdLst/>
            <a:ahLst/>
            <a:cxnLst/>
            <a:rect l="l" t="t" r="r" b="b"/>
            <a:pathLst>
              <a:path w="8034655" h="38100">
                <a:moveTo>
                  <a:pt x="7970837" y="0"/>
                </a:moveTo>
                <a:lnTo>
                  <a:pt x="7996237" y="19050"/>
                </a:lnTo>
                <a:lnTo>
                  <a:pt x="7970837" y="38100"/>
                </a:lnTo>
                <a:lnTo>
                  <a:pt x="8013170" y="25400"/>
                </a:lnTo>
                <a:lnTo>
                  <a:pt x="7996364" y="25400"/>
                </a:lnTo>
                <a:lnTo>
                  <a:pt x="7996364" y="12700"/>
                </a:lnTo>
                <a:lnTo>
                  <a:pt x="8013170" y="12700"/>
                </a:lnTo>
                <a:lnTo>
                  <a:pt x="7970837" y="0"/>
                </a:lnTo>
                <a:close/>
              </a:path>
              <a:path w="8034655" h="38100">
                <a:moveTo>
                  <a:pt x="7987770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7987770" y="25400"/>
                </a:lnTo>
                <a:lnTo>
                  <a:pt x="7996237" y="19050"/>
                </a:lnTo>
                <a:lnTo>
                  <a:pt x="7987770" y="12700"/>
                </a:lnTo>
                <a:close/>
              </a:path>
              <a:path w="8034655" h="38100">
                <a:moveTo>
                  <a:pt x="8013170" y="12700"/>
                </a:moveTo>
                <a:lnTo>
                  <a:pt x="7996364" y="12700"/>
                </a:lnTo>
                <a:lnTo>
                  <a:pt x="7996364" y="25400"/>
                </a:lnTo>
                <a:lnTo>
                  <a:pt x="8013170" y="25400"/>
                </a:lnTo>
                <a:lnTo>
                  <a:pt x="8034337" y="19050"/>
                </a:lnTo>
                <a:lnTo>
                  <a:pt x="801317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5462" y="4260341"/>
            <a:ext cx="8034655" cy="38100"/>
          </a:xfrm>
          <a:custGeom>
            <a:avLst/>
            <a:gdLst/>
            <a:ahLst/>
            <a:cxnLst/>
            <a:rect l="l" t="t" r="r" b="b"/>
            <a:pathLst>
              <a:path w="8034655" h="38100">
                <a:moveTo>
                  <a:pt x="7970837" y="0"/>
                </a:moveTo>
                <a:lnTo>
                  <a:pt x="7996237" y="19049"/>
                </a:lnTo>
                <a:lnTo>
                  <a:pt x="7970837" y="38099"/>
                </a:lnTo>
                <a:lnTo>
                  <a:pt x="8013170" y="25399"/>
                </a:lnTo>
                <a:lnTo>
                  <a:pt x="7996364" y="25399"/>
                </a:lnTo>
                <a:lnTo>
                  <a:pt x="7996364" y="12699"/>
                </a:lnTo>
                <a:lnTo>
                  <a:pt x="8013170" y="12699"/>
                </a:lnTo>
                <a:lnTo>
                  <a:pt x="7970837" y="0"/>
                </a:lnTo>
                <a:close/>
              </a:path>
              <a:path w="8034655" h="38100">
                <a:moveTo>
                  <a:pt x="7987770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7987770" y="25399"/>
                </a:lnTo>
                <a:lnTo>
                  <a:pt x="7996237" y="19049"/>
                </a:lnTo>
                <a:lnTo>
                  <a:pt x="7987770" y="12699"/>
                </a:lnTo>
                <a:close/>
              </a:path>
              <a:path w="8034655" h="38100">
                <a:moveTo>
                  <a:pt x="8013170" y="12699"/>
                </a:moveTo>
                <a:lnTo>
                  <a:pt x="7996364" y="12699"/>
                </a:lnTo>
                <a:lnTo>
                  <a:pt x="7996364" y="25399"/>
                </a:lnTo>
                <a:lnTo>
                  <a:pt x="8013170" y="25399"/>
                </a:lnTo>
                <a:lnTo>
                  <a:pt x="8034337" y="19049"/>
                </a:lnTo>
                <a:lnTo>
                  <a:pt x="8013170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5462" y="4753355"/>
            <a:ext cx="8034655" cy="38100"/>
          </a:xfrm>
          <a:custGeom>
            <a:avLst/>
            <a:gdLst/>
            <a:ahLst/>
            <a:cxnLst/>
            <a:rect l="l" t="t" r="r" b="b"/>
            <a:pathLst>
              <a:path w="8034655" h="38100">
                <a:moveTo>
                  <a:pt x="7970837" y="0"/>
                </a:moveTo>
                <a:lnTo>
                  <a:pt x="7996237" y="19050"/>
                </a:lnTo>
                <a:lnTo>
                  <a:pt x="7970837" y="38100"/>
                </a:lnTo>
                <a:lnTo>
                  <a:pt x="8013170" y="25400"/>
                </a:lnTo>
                <a:lnTo>
                  <a:pt x="7996364" y="25400"/>
                </a:lnTo>
                <a:lnTo>
                  <a:pt x="7996364" y="12700"/>
                </a:lnTo>
                <a:lnTo>
                  <a:pt x="8013170" y="12700"/>
                </a:lnTo>
                <a:lnTo>
                  <a:pt x="7970837" y="0"/>
                </a:lnTo>
                <a:close/>
              </a:path>
              <a:path w="8034655" h="38100">
                <a:moveTo>
                  <a:pt x="7987770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7987770" y="25400"/>
                </a:lnTo>
                <a:lnTo>
                  <a:pt x="7996237" y="19050"/>
                </a:lnTo>
                <a:lnTo>
                  <a:pt x="7987770" y="12700"/>
                </a:lnTo>
                <a:close/>
              </a:path>
              <a:path w="8034655" h="38100">
                <a:moveTo>
                  <a:pt x="8013170" y="12700"/>
                </a:moveTo>
                <a:lnTo>
                  <a:pt x="7996364" y="12700"/>
                </a:lnTo>
                <a:lnTo>
                  <a:pt x="7996364" y="25400"/>
                </a:lnTo>
                <a:lnTo>
                  <a:pt x="8013170" y="25400"/>
                </a:lnTo>
                <a:lnTo>
                  <a:pt x="8034337" y="19050"/>
                </a:lnTo>
                <a:lnTo>
                  <a:pt x="801317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5462" y="5246496"/>
            <a:ext cx="8034655" cy="38100"/>
          </a:xfrm>
          <a:custGeom>
            <a:avLst/>
            <a:gdLst/>
            <a:ahLst/>
            <a:cxnLst/>
            <a:rect l="l" t="t" r="r" b="b"/>
            <a:pathLst>
              <a:path w="8034655" h="38100">
                <a:moveTo>
                  <a:pt x="7970837" y="0"/>
                </a:moveTo>
                <a:lnTo>
                  <a:pt x="7996237" y="19049"/>
                </a:lnTo>
                <a:lnTo>
                  <a:pt x="7970837" y="38099"/>
                </a:lnTo>
                <a:lnTo>
                  <a:pt x="8013170" y="25399"/>
                </a:lnTo>
                <a:lnTo>
                  <a:pt x="7996364" y="25399"/>
                </a:lnTo>
                <a:lnTo>
                  <a:pt x="7996364" y="12699"/>
                </a:lnTo>
                <a:lnTo>
                  <a:pt x="8013170" y="12699"/>
                </a:lnTo>
                <a:lnTo>
                  <a:pt x="7970837" y="0"/>
                </a:lnTo>
                <a:close/>
              </a:path>
              <a:path w="8034655" h="38100">
                <a:moveTo>
                  <a:pt x="7987770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7987770" y="25399"/>
                </a:lnTo>
                <a:lnTo>
                  <a:pt x="7996237" y="19049"/>
                </a:lnTo>
                <a:lnTo>
                  <a:pt x="7987770" y="12699"/>
                </a:lnTo>
                <a:close/>
              </a:path>
              <a:path w="8034655" h="38100">
                <a:moveTo>
                  <a:pt x="8013170" y="12699"/>
                </a:moveTo>
                <a:lnTo>
                  <a:pt x="7996364" y="12699"/>
                </a:lnTo>
                <a:lnTo>
                  <a:pt x="7996364" y="25399"/>
                </a:lnTo>
                <a:lnTo>
                  <a:pt x="8013170" y="25399"/>
                </a:lnTo>
                <a:lnTo>
                  <a:pt x="8034337" y="19049"/>
                </a:lnTo>
                <a:lnTo>
                  <a:pt x="8013170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5462" y="5739485"/>
            <a:ext cx="8034655" cy="38100"/>
          </a:xfrm>
          <a:custGeom>
            <a:avLst/>
            <a:gdLst/>
            <a:ahLst/>
            <a:cxnLst/>
            <a:rect l="l" t="t" r="r" b="b"/>
            <a:pathLst>
              <a:path w="8034655" h="38100">
                <a:moveTo>
                  <a:pt x="7970837" y="0"/>
                </a:moveTo>
                <a:lnTo>
                  <a:pt x="7996237" y="19050"/>
                </a:lnTo>
                <a:lnTo>
                  <a:pt x="7970837" y="38100"/>
                </a:lnTo>
                <a:lnTo>
                  <a:pt x="8013170" y="25400"/>
                </a:lnTo>
                <a:lnTo>
                  <a:pt x="7996364" y="25400"/>
                </a:lnTo>
                <a:lnTo>
                  <a:pt x="7996364" y="12700"/>
                </a:lnTo>
                <a:lnTo>
                  <a:pt x="8013170" y="12700"/>
                </a:lnTo>
                <a:lnTo>
                  <a:pt x="7970837" y="0"/>
                </a:lnTo>
                <a:close/>
              </a:path>
              <a:path w="8034655" h="38100">
                <a:moveTo>
                  <a:pt x="7987770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7987770" y="25400"/>
                </a:lnTo>
                <a:lnTo>
                  <a:pt x="7996237" y="19050"/>
                </a:lnTo>
                <a:lnTo>
                  <a:pt x="7987770" y="12700"/>
                </a:lnTo>
                <a:close/>
              </a:path>
              <a:path w="8034655" h="38100">
                <a:moveTo>
                  <a:pt x="8013170" y="12700"/>
                </a:moveTo>
                <a:lnTo>
                  <a:pt x="7996364" y="12700"/>
                </a:lnTo>
                <a:lnTo>
                  <a:pt x="7996364" y="25400"/>
                </a:lnTo>
                <a:lnTo>
                  <a:pt x="8013170" y="25400"/>
                </a:lnTo>
                <a:lnTo>
                  <a:pt x="8034337" y="19050"/>
                </a:lnTo>
                <a:lnTo>
                  <a:pt x="801317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887" y="2262123"/>
            <a:ext cx="85725" cy="4004310"/>
          </a:xfrm>
          <a:custGeom>
            <a:avLst/>
            <a:gdLst/>
            <a:ahLst/>
            <a:cxnLst/>
            <a:rect l="l" t="t" r="r" b="b"/>
            <a:pathLst>
              <a:path w="85725" h="4004310">
                <a:moveTo>
                  <a:pt x="0" y="3860863"/>
                </a:moveTo>
                <a:lnTo>
                  <a:pt x="42862" y="4003738"/>
                </a:lnTo>
                <a:lnTo>
                  <a:pt x="68579" y="3918013"/>
                </a:lnTo>
                <a:lnTo>
                  <a:pt x="28575" y="3918013"/>
                </a:lnTo>
                <a:lnTo>
                  <a:pt x="28575" y="3898963"/>
                </a:lnTo>
                <a:lnTo>
                  <a:pt x="0" y="3860863"/>
                </a:lnTo>
                <a:close/>
              </a:path>
              <a:path w="85725" h="4004310">
                <a:moveTo>
                  <a:pt x="28575" y="3898963"/>
                </a:moveTo>
                <a:lnTo>
                  <a:pt x="28575" y="3918013"/>
                </a:lnTo>
                <a:lnTo>
                  <a:pt x="42862" y="3918013"/>
                </a:lnTo>
                <a:lnTo>
                  <a:pt x="28575" y="3898963"/>
                </a:lnTo>
                <a:close/>
              </a:path>
              <a:path w="85725" h="4004310">
                <a:moveTo>
                  <a:pt x="57150" y="0"/>
                </a:moveTo>
                <a:lnTo>
                  <a:pt x="28575" y="0"/>
                </a:lnTo>
                <a:lnTo>
                  <a:pt x="28575" y="3898963"/>
                </a:lnTo>
                <a:lnTo>
                  <a:pt x="42862" y="3918013"/>
                </a:lnTo>
                <a:lnTo>
                  <a:pt x="57150" y="3898963"/>
                </a:lnTo>
                <a:lnTo>
                  <a:pt x="57150" y="0"/>
                </a:lnTo>
                <a:close/>
              </a:path>
              <a:path w="85725" h="4004310">
                <a:moveTo>
                  <a:pt x="57150" y="3898963"/>
                </a:moveTo>
                <a:lnTo>
                  <a:pt x="42862" y="3918013"/>
                </a:lnTo>
                <a:lnTo>
                  <a:pt x="57150" y="3918013"/>
                </a:lnTo>
                <a:lnTo>
                  <a:pt x="57150" y="3898963"/>
                </a:lnTo>
                <a:close/>
              </a:path>
              <a:path w="85725" h="4004310">
                <a:moveTo>
                  <a:pt x="85725" y="3860863"/>
                </a:moveTo>
                <a:lnTo>
                  <a:pt x="57150" y="3898963"/>
                </a:lnTo>
                <a:lnTo>
                  <a:pt x="57150" y="3918013"/>
                </a:lnTo>
                <a:lnTo>
                  <a:pt x="68579" y="3918013"/>
                </a:lnTo>
                <a:lnTo>
                  <a:pt x="85725" y="3860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02650" y="2262123"/>
            <a:ext cx="85725" cy="4004310"/>
          </a:xfrm>
          <a:custGeom>
            <a:avLst/>
            <a:gdLst/>
            <a:ahLst/>
            <a:cxnLst/>
            <a:rect l="l" t="t" r="r" b="b"/>
            <a:pathLst>
              <a:path w="85725" h="4004310">
                <a:moveTo>
                  <a:pt x="0" y="3860863"/>
                </a:moveTo>
                <a:lnTo>
                  <a:pt x="42799" y="4003738"/>
                </a:lnTo>
                <a:lnTo>
                  <a:pt x="68554" y="3918013"/>
                </a:lnTo>
                <a:lnTo>
                  <a:pt x="28575" y="3918013"/>
                </a:lnTo>
                <a:lnTo>
                  <a:pt x="28490" y="3898907"/>
                </a:lnTo>
                <a:lnTo>
                  <a:pt x="0" y="3860863"/>
                </a:lnTo>
                <a:close/>
              </a:path>
              <a:path w="85725" h="4004310">
                <a:moveTo>
                  <a:pt x="28575" y="3899020"/>
                </a:moveTo>
                <a:lnTo>
                  <a:pt x="28575" y="3918013"/>
                </a:lnTo>
                <a:lnTo>
                  <a:pt x="42799" y="3918013"/>
                </a:lnTo>
                <a:lnTo>
                  <a:pt x="28575" y="3899020"/>
                </a:lnTo>
                <a:close/>
              </a:path>
              <a:path w="85725" h="4004310">
                <a:moveTo>
                  <a:pt x="57150" y="0"/>
                </a:moveTo>
                <a:lnTo>
                  <a:pt x="28575" y="0"/>
                </a:lnTo>
                <a:lnTo>
                  <a:pt x="28575" y="3899020"/>
                </a:lnTo>
                <a:lnTo>
                  <a:pt x="42799" y="3918013"/>
                </a:lnTo>
                <a:lnTo>
                  <a:pt x="57065" y="3899020"/>
                </a:lnTo>
                <a:lnTo>
                  <a:pt x="57150" y="0"/>
                </a:lnTo>
                <a:close/>
              </a:path>
              <a:path w="85725" h="4004310">
                <a:moveTo>
                  <a:pt x="57150" y="3898907"/>
                </a:moveTo>
                <a:lnTo>
                  <a:pt x="42799" y="3918013"/>
                </a:lnTo>
                <a:lnTo>
                  <a:pt x="57150" y="3918013"/>
                </a:lnTo>
                <a:lnTo>
                  <a:pt x="57150" y="3898907"/>
                </a:lnTo>
                <a:close/>
              </a:path>
              <a:path w="85725" h="4004310">
                <a:moveTo>
                  <a:pt x="85725" y="3860863"/>
                </a:moveTo>
                <a:lnTo>
                  <a:pt x="57150" y="3898907"/>
                </a:lnTo>
                <a:lnTo>
                  <a:pt x="57150" y="3918013"/>
                </a:lnTo>
                <a:lnTo>
                  <a:pt x="68554" y="3918013"/>
                </a:lnTo>
                <a:lnTo>
                  <a:pt x="85725" y="3860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5462" y="2233548"/>
            <a:ext cx="8034655" cy="85725"/>
          </a:xfrm>
          <a:custGeom>
            <a:avLst/>
            <a:gdLst/>
            <a:ahLst/>
            <a:cxnLst/>
            <a:rect l="l" t="t" r="r" b="b"/>
            <a:pathLst>
              <a:path w="8034655" h="85725">
                <a:moveTo>
                  <a:pt x="7891462" y="0"/>
                </a:moveTo>
                <a:lnTo>
                  <a:pt x="7948612" y="42925"/>
                </a:lnTo>
                <a:lnTo>
                  <a:pt x="7891462" y="85725"/>
                </a:lnTo>
                <a:lnTo>
                  <a:pt x="7986853" y="57150"/>
                </a:lnTo>
                <a:lnTo>
                  <a:pt x="7948739" y="57150"/>
                </a:lnTo>
                <a:lnTo>
                  <a:pt x="7948739" y="28575"/>
                </a:lnTo>
                <a:lnTo>
                  <a:pt x="7986571" y="28575"/>
                </a:lnTo>
                <a:lnTo>
                  <a:pt x="7891462" y="0"/>
                </a:lnTo>
                <a:close/>
              </a:path>
              <a:path w="8034655" h="85725">
                <a:moveTo>
                  <a:pt x="7929506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929619" y="57150"/>
                </a:lnTo>
                <a:lnTo>
                  <a:pt x="7948612" y="42925"/>
                </a:lnTo>
                <a:lnTo>
                  <a:pt x="7929506" y="28575"/>
                </a:lnTo>
                <a:close/>
              </a:path>
              <a:path w="8034655" h="85725">
                <a:moveTo>
                  <a:pt x="7986571" y="28575"/>
                </a:moveTo>
                <a:lnTo>
                  <a:pt x="7948739" y="28575"/>
                </a:lnTo>
                <a:lnTo>
                  <a:pt x="7948739" y="57150"/>
                </a:lnTo>
                <a:lnTo>
                  <a:pt x="7986853" y="57150"/>
                </a:lnTo>
                <a:lnTo>
                  <a:pt x="8034337" y="42925"/>
                </a:lnTo>
                <a:lnTo>
                  <a:pt x="798657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5462" y="6208712"/>
            <a:ext cx="8034655" cy="85725"/>
          </a:xfrm>
          <a:custGeom>
            <a:avLst/>
            <a:gdLst/>
            <a:ahLst/>
            <a:cxnLst/>
            <a:rect l="l" t="t" r="r" b="b"/>
            <a:pathLst>
              <a:path w="8034655" h="85725">
                <a:moveTo>
                  <a:pt x="7891462" y="0"/>
                </a:moveTo>
                <a:lnTo>
                  <a:pt x="7948612" y="42862"/>
                </a:lnTo>
                <a:lnTo>
                  <a:pt x="7891462" y="85725"/>
                </a:lnTo>
                <a:lnTo>
                  <a:pt x="7986712" y="57150"/>
                </a:lnTo>
                <a:lnTo>
                  <a:pt x="7948739" y="57150"/>
                </a:lnTo>
                <a:lnTo>
                  <a:pt x="7948739" y="28575"/>
                </a:lnTo>
                <a:lnTo>
                  <a:pt x="7986712" y="28575"/>
                </a:lnTo>
                <a:lnTo>
                  <a:pt x="7891462" y="0"/>
                </a:lnTo>
                <a:close/>
              </a:path>
              <a:path w="8034655" h="85725">
                <a:moveTo>
                  <a:pt x="792956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929562" y="57150"/>
                </a:lnTo>
                <a:lnTo>
                  <a:pt x="7948612" y="42862"/>
                </a:lnTo>
                <a:lnTo>
                  <a:pt x="7929562" y="28575"/>
                </a:lnTo>
                <a:close/>
              </a:path>
              <a:path w="8034655" h="85725">
                <a:moveTo>
                  <a:pt x="7986712" y="28575"/>
                </a:moveTo>
                <a:lnTo>
                  <a:pt x="7948739" y="28575"/>
                </a:lnTo>
                <a:lnTo>
                  <a:pt x="7948739" y="57150"/>
                </a:lnTo>
                <a:lnTo>
                  <a:pt x="7986712" y="57150"/>
                </a:lnTo>
                <a:lnTo>
                  <a:pt x="8034337" y="42862"/>
                </a:lnTo>
                <a:lnTo>
                  <a:pt x="798671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04240" y="2361120"/>
          <a:ext cx="6991983" cy="37970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543">
                <a:tc gridSpan="4">
                  <a:txBody>
                    <a:bodyPr/>
                    <a:lstStyle/>
                    <a:p>
                      <a:pPr marL="2971800">
                        <a:lnSpc>
                          <a:spcPts val="2545"/>
                        </a:lnSpc>
                      </a:pPr>
                      <a:r>
                        <a:rPr sz="2400" dirty="0">
                          <a:latin typeface="黑体"/>
                          <a:cs typeface="黑体"/>
                        </a:rPr>
                        <a:t>技术复杂度因子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2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F1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可靠的备份和恢复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F2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数据通信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1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F3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分布式函数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F4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性能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20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大量使用的配置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F6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联机数据输入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20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F7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操作简单性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F8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在线升级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1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F9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复杂界面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F10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复杂数据处理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15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F11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重复使用性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F12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安装简易性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469">
                <a:tc>
                  <a:txBody>
                    <a:bodyPr/>
                    <a:lstStyle/>
                    <a:p>
                      <a:pPr marL="127000">
                        <a:lnSpc>
                          <a:spcPts val="2865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F13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2865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多重站点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ts val="2865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F14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2865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易于修改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6737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技术复杂度因子的取值范围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894" y="65212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1791" y="1738883"/>
          <a:ext cx="7694294" cy="463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3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5924">
                <a:tc>
                  <a:txBody>
                    <a:bodyPr/>
                    <a:lstStyle/>
                    <a:p>
                      <a:pPr marL="683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调整系数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1270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800" b="1" spc="-5" dirty="0">
                          <a:latin typeface="宋体"/>
                          <a:cs typeface="宋体"/>
                        </a:rPr>
                        <a:t>描述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400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1270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416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dirty="0">
                          <a:latin typeface="Arial Unicode MS"/>
                          <a:cs typeface="Arial Unicode MS"/>
                        </a:rPr>
                        <a:t>0</a:t>
                      </a:r>
                      <a:endParaRPr sz="2800">
                        <a:latin typeface="Arial Unicode MS"/>
                        <a:cs typeface="Arial Unicode MS"/>
                      </a:endParaRPr>
                    </a:p>
                  </a:txBody>
                  <a:tcPr marL="0" marR="0" marT="29845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宋体"/>
                          <a:cs typeface="宋体"/>
                        </a:rPr>
                        <a:t>不存在或者没有影响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619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415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dirty="0">
                          <a:latin typeface="Arial Unicode MS"/>
                          <a:cs typeface="Arial Unicode MS"/>
                        </a:rPr>
                        <a:t>1</a:t>
                      </a:r>
                      <a:endParaRPr sz="2400">
                        <a:latin typeface="Arial Unicode MS"/>
                        <a:cs typeface="Arial Unicode MS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不显著的影响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619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415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 Unicode MS"/>
                          <a:cs typeface="Arial Unicode MS"/>
                        </a:rPr>
                        <a:t>2</a:t>
                      </a:r>
                      <a:endParaRPr sz="2000">
                        <a:latin typeface="Arial Unicode MS"/>
                        <a:cs typeface="Arial Unicode MS"/>
                      </a:endParaRPr>
                    </a:p>
                  </a:txBody>
                  <a:tcPr marL="0" marR="0" marT="3556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相当的影响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683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416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Arial Unicode MS"/>
                          <a:cs typeface="Arial Unicode MS"/>
                        </a:rPr>
                        <a:t>3</a:t>
                      </a:r>
                      <a:endParaRPr sz="2000">
                        <a:latin typeface="Arial Unicode MS"/>
                        <a:cs typeface="Arial Unicode MS"/>
                      </a:endParaRPr>
                    </a:p>
                  </a:txBody>
                  <a:tcPr marL="0" marR="0" marT="36195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平均的影响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746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415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Arial Unicode MS"/>
                          <a:cs typeface="Arial Unicode MS"/>
                        </a:rPr>
                        <a:t>4</a:t>
                      </a:r>
                      <a:endParaRPr sz="2000">
                        <a:latin typeface="Arial Unicode MS"/>
                        <a:cs typeface="Arial Unicode MS"/>
                      </a:endParaRPr>
                    </a:p>
                  </a:txBody>
                  <a:tcPr marL="0" marR="0" marT="36195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5" dirty="0">
                          <a:latin typeface="宋体"/>
                          <a:cs typeface="宋体"/>
                        </a:rPr>
                        <a:t>显著的影响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746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5924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latin typeface="Arial Unicode MS"/>
                          <a:cs typeface="Arial Unicode MS"/>
                        </a:rPr>
                        <a:t>5</a:t>
                      </a:r>
                      <a:endParaRPr sz="2400">
                        <a:latin typeface="Arial Unicode MS"/>
                        <a:cs typeface="Arial Unicode MS"/>
                      </a:endParaRPr>
                    </a:p>
                  </a:txBody>
                  <a:tcPr marL="0" marR="0" marT="3302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1270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强大的影响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746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12700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24103"/>
            <a:ext cx="6737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外贸订单项目：功能点计算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3417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1701545"/>
            <a:ext cx="8153400" cy="4495800"/>
          </a:xfrm>
          <a:custGeom>
            <a:avLst/>
            <a:gdLst/>
            <a:ahLst/>
            <a:cxnLst/>
            <a:rect l="l" t="t" r="r" b="b"/>
            <a:pathLst>
              <a:path w="8153400" h="4495800">
                <a:moveTo>
                  <a:pt x="0" y="4495800"/>
                </a:moveTo>
                <a:lnTo>
                  <a:pt x="8153400" y="4495800"/>
                </a:lnTo>
                <a:lnTo>
                  <a:pt x="8153400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1349" y="1667357"/>
            <a:ext cx="5001895" cy="15043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latin typeface="黑体"/>
                <a:cs typeface="黑体"/>
              </a:rPr>
              <a:t>因为</a:t>
            </a:r>
            <a:r>
              <a:rPr sz="2600" spc="-5" dirty="0">
                <a:latin typeface="黑体"/>
                <a:cs typeface="黑体"/>
              </a:rPr>
              <a:t>：UFC=45</a:t>
            </a:r>
            <a:endParaRPr sz="2600">
              <a:latin typeface="黑体"/>
              <a:cs typeface="黑体"/>
            </a:endParaRPr>
          </a:p>
          <a:p>
            <a:pPr marL="10033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黑体"/>
                <a:cs typeface="黑体"/>
              </a:rPr>
              <a:t>TCF=0.65+0.01(14*3)=1.07</a:t>
            </a:r>
            <a:endParaRPr sz="2600">
              <a:latin typeface="黑体"/>
              <a:cs typeface="黑体"/>
            </a:endParaRPr>
          </a:p>
          <a:p>
            <a:pPr marL="13970">
              <a:lnSpc>
                <a:spcPct val="100000"/>
              </a:lnSpc>
              <a:spcBef>
                <a:spcPts val="720"/>
              </a:spcBef>
            </a:pPr>
            <a:r>
              <a:rPr sz="2900" dirty="0">
                <a:latin typeface="黑体"/>
                <a:cs typeface="黑体"/>
              </a:rPr>
              <a:t>所</a:t>
            </a:r>
            <a:r>
              <a:rPr sz="2900" spc="-5" dirty="0">
                <a:latin typeface="黑体"/>
                <a:cs typeface="黑体"/>
              </a:rPr>
              <a:t>以</a:t>
            </a:r>
            <a:r>
              <a:rPr sz="2900" spc="-15" dirty="0">
                <a:latin typeface="黑体"/>
                <a:cs typeface="黑体"/>
              </a:rPr>
              <a:t>：</a:t>
            </a:r>
            <a:r>
              <a:rPr sz="2900" dirty="0">
                <a:latin typeface="黑体"/>
                <a:cs typeface="黑体"/>
              </a:rPr>
              <a:t>FP=UFC*</a:t>
            </a:r>
            <a:r>
              <a:rPr sz="2900" spc="-15" dirty="0">
                <a:latin typeface="黑体"/>
                <a:cs typeface="黑体"/>
              </a:rPr>
              <a:t>T</a:t>
            </a:r>
            <a:r>
              <a:rPr sz="2900" dirty="0">
                <a:latin typeface="黑体"/>
                <a:cs typeface="黑体"/>
              </a:rPr>
              <a:t>CF=45*1</a:t>
            </a:r>
            <a:r>
              <a:rPr sz="2900" spc="-15" dirty="0">
                <a:latin typeface="黑体"/>
                <a:cs typeface="黑体"/>
              </a:rPr>
              <a:t>.</a:t>
            </a:r>
            <a:r>
              <a:rPr sz="2900" dirty="0">
                <a:latin typeface="黑体"/>
                <a:cs typeface="黑体"/>
              </a:rPr>
              <a:t>07=48</a:t>
            </a:r>
            <a:endParaRPr sz="29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065" y="4208877"/>
            <a:ext cx="4448810" cy="1085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900" dirty="0">
                <a:latin typeface="黑体"/>
                <a:cs typeface="黑体"/>
              </a:rPr>
              <a:t>如果</a:t>
            </a:r>
            <a:r>
              <a:rPr sz="2900" spc="-5" dirty="0">
                <a:latin typeface="黑体"/>
                <a:cs typeface="黑体"/>
              </a:rPr>
              <a:t>：PF=15</a:t>
            </a:r>
            <a:r>
              <a:rPr sz="2900" dirty="0">
                <a:latin typeface="黑体"/>
                <a:cs typeface="黑体"/>
              </a:rPr>
              <a:t>工时</a:t>
            </a:r>
            <a:r>
              <a:rPr sz="2900" spc="-15" dirty="0">
                <a:latin typeface="黑体"/>
                <a:cs typeface="黑体"/>
              </a:rPr>
              <a:t>/</a:t>
            </a:r>
            <a:r>
              <a:rPr sz="2900" dirty="0">
                <a:latin typeface="黑体"/>
                <a:cs typeface="黑体"/>
              </a:rPr>
              <a:t>功能点 则：Eff</a:t>
            </a:r>
            <a:r>
              <a:rPr sz="2900" spc="-20" dirty="0">
                <a:latin typeface="黑体"/>
                <a:cs typeface="黑体"/>
              </a:rPr>
              <a:t>o</a:t>
            </a:r>
            <a:r>
              <a:rPr sz="2900" dirty="0">
                <a:latin typeface="黑体"/>
                <a:cs typeface="黑体"/>
              </a:rPr>
              <a:t>rt=4</a:t>
            </a:r>
            <a:r>
              <a:rPr sz="2900" spc="-5" dirty="0">
                <a:latin typeface="黑体"/>
                <a:cs typeface="黑体"/>
              </a:rPr>
              <a:t>8*</a:t>
            </a:r>
            <a:r>
              <a:rPr sz="2900" dirty="0">
                <a:latin typeface="黑体"/>
                <a:cs typeface="黑体"/>
              </a:rPr>
              <a:t>1</a:t>
            </a:r>
            <a:r>
              <a:rPr sz="2900" spc="-15" dirty="0">
                <a:latin typeface="黑体"/>
                <a:cs typeface="黑体"/>
              </a:rPr>
              <a:t>5</a:t>
            </a:r>
            <a:r>
              <a:rPr sz="2900" dirty="0">
                <a:latin typeface="黑体"/>
                <a:cs typeface="黑体"/>
              </a:rPr>
              <a:t>=720工时</a:t>
            </a:r>
            <a:endParaRPr sz="29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63353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传统估算方法-功能点估算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590" y="2136775"/>
            <a:ext cx="8169909" cy="1946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u="sng" spc="-7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sng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其他功能点方</a:t>
            </a:r>
            <a:r>
              <a:rPr sz="2900" u="sng" spc="-5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法</a:t>
            </a:r>
            <a:endParaRPr sz="2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50">
              <a:latin typeface="Times New Roman"/>
              <a:cs typeface="Times New Roman"/>
            </a:endParaRPr>
          </a:p>
          <a:p>
            <a:pPr marL="652780" indent="-273685">
              <a:lnSpc>
                <a:spcPct val="100000"/>
              </a:lnSpc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  <a:tab pos="1768475" algn="l"/>
              </a:tabLst>
            </a:pPr>
            <a:r>
              <a:rPr sz="2600" spc="10" dirty="0">
                <a:latin typeface="Tw Cen MT"/>
                <a:cs typeface="Tw Cen MT"/>
              </a:rPr>
              <a:t>Mark</a:t>
            </a:r>
            <a:r>
              <a:rPr sz="2600" spc="5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II	</a:t>
            </a:r>
            <a:r>
              <a:rPr sz="2600" dirty="0">
                <a:latin typeface="华文仿宋"/>
                <a:cs typeface="华文仿宋"/>
              </a:rPr>
              <a:t>功能点</a:t>
            </a:r>
            <a:r>
              <a:rPr sz="2600" dirty="0">
                <a:latin typeface="Tw Cen MT"/>
                <a:cs typeface="Tw Cen MT"/>
              </a:rPr>
              <a:t>(</a:t>
            </a:r>
            <a:r>
              <a:rPr sz="2600" dirty="0">
                <a:latin typeface="华文仿宋"/>
                <a:cs typeface="华文仿宋"/>
              </a:rPr>
              <a:t>主要应用在英</a:t>
            </a:r>
            <a:r>
              <a:rPr sz="2600" spc="-20" dirty="0">
                <a:latin typeface="华文仿宋"/>
                <a:cs typeface="华文仿宋"/>
              </a:rPr>
              <a:t>国</a:t>
            </a:r>
            <a:r>
              <a:rPr sz="2600" dirty="0">
                <a:latin typeface="Tw Cen MT"/>
                <a:cs typeface="Tw Cen MT"/>
              </a:rPr>
              <a:t>)</a:t>
            </a:r>
            <a:endParaRPr sz="2600">
              <a:latin typeface="Tw Cen MT"/>
              <a:cs typeface="Tw Cen MT"/>
            </a:endParaRPr>
          </a:p>
          <a:p>
            <a:pPr marL="652780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COSMIC</a:t>
            </a:r>
            <a:r>
              <a:rPr sz="2600" spc="-4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–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FFP</a:t>
            </a:r>
            <a:r>
              <a:rPr sz="2600" spc="-35" dirty="0">
                <a:latin typeface="Tw Cen MT"/>
                <a:cs typeface="Tw Cen MT"/>
              </a:rPr>
              <a:t> </a:t>
            </a:r>
            <a:r>
              <a:rPr sz="2600" dirty="0">
                <a:latin typeface="华文仿宋"/>
                <a:cs typeface="华文仿宋"/>
              </a:rPr>
              <a:t>功能点</a:t>
            </a:r>
            <a:r>
              <a:rPr sz="2600" dirty="0">
                <a:latin typeface="Tw Cen MT"/>
                <a:cs typeface="Tw Cen MT"/>
              </a:rPr>
              <a:t>(</a:t>
            </a:r>
            <a:r>
              <a:rPr sz="2600" spc="5" dirty="0">
                <a:latin typeface="华文仿宋"/>
                <a:cs typeface="华文仿宋"/>
              </a:rPr>
              <a:t>适用实</a:t>
            </a:r>
            <a:r>
              <a:rPr sz="2600" spc="-10" dirty="0">
                <a:latin typeface="华文仿宋"/>
                <a:cs typeface="华文仿宋"/>
              </a:rPr>
              <a:t>时</a:t>
            </a:r>
            <a:r>
              <a:rPr sz="2600" spc="5" dirty="0">
                <a:latin typeface="华文仿宋"/>
                <a:cs typeface="华文仿宋"/>
              </a:rPr>
              <a:t>系统</a:t>
            </a:r>
            <a:r>
              <a:rPr sz="2600" spc="-15" dirty="0">
                <a:latin typeface="华文仿宋"/>
                <a:cs typeface="华文仿宋"/>
              </a:rPr>
              <a:t>或</a:t>
            </a:r>
            <a:r>
              <a:rPr sz="2600" spc="5" dirty="0">
                <a:latin typeface="华文仿宋"/>
                <a:cs typeface="华文仿宋"/>
              </a:rPr>
              <a:t>者嵌</a:t>
            </a:r>
            <a:r>
              <a:rPr sz="2600" spc="-15" dirty="0">
                <a:latin typeface="华文仿宋"/>
                <a:cs typeface="华文仿宋"/>
              </a:rPr>
              <a:t>入</a:t>
            </a:r>
            <a:r>
              <a:rPr sz="2600" spc="5" dirty="0">
                <a:latin typeface="华文仿宋"/>
                <a:cs typeface="华文仿宋"/>
              </a:rPr>
              <a:t>式系</a:t>
            </a:r>
            <a:r>
              <a:rPr sz="2600" spc="-15" dirty="0">
                <a:latin typeface="华文仿宋"/>
                <a:cs typeface="华文仿宋"/>
              </a:rPr>
              <a:t>统</a:t>
            </a:r>
            <a:r>
              <a:rPr sz="2600" dirty="0">
                <a:latin typeface="Tw Cen MT"/>
                <a:cs typeface="Tw Cen MT"/>
              </a:rPr>
              <a:t>)</a:t>
            </a:r>
            <a:endParaRPr sz="26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0192" y="63545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5618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功能点与代码行的转换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5698" y="1543050"/>
            <a:ext cx="38100" cy="5099050"/>
          </a:xfrm>
          <a:custGeom>
            <a:avLst/>
            <a:gdLst/>
            <a:ahLst/>
            <a:cxnLst/>
            <a:rect l="l" t="t" r="r" b="b"/>
            <a:pathLst>
              <a:path w="38100" h="5099050">
                <a:moveTo>
                  <a:pt x="0" y="5035550"/>
                </a:moveTo>
                <a:lnTo>
                  <a:pt x="19050" y="5099050"/>
                </a:lnTo>
                <a:lnTo>
                  <a:pt x="30479" y="5060950"/>
                </a:lnTo>
                <a:lnTo>
                  <a:pt x="19040" y="5060937"/>
                </a:lnTo>
                <a:lnTo>
                  <a:pt x="12700" y="5060937"/>
                </a:lnTo>
                <a:lnTo>
                  <a:pt x="12700" y="5052483"/>
                </a:lnTo>
                <a:lnTo>
                  <a:pt x="0" y="5035550"/>
                </a:lnTo>
                <a:close/>
              </a:path>
              <a:path w="38100" h="5099050">
                <a:moveTo>
                  <a:pt x="38100" y="5035550"/>
                </a:moveTo>
                <a:lnTo>
                  <a:pt x="25400" y="5052483"/>
                </a:lnTo>
                <a:lnTo>
                  <a:pt x="25400" y="5060937"/>
                </a:lnTo>
                <a:lnTo>
                  <a:pt x="19050" y="5060950"/>
                </a:lnTo>
                <a:lnTo>
                  <a:pt x="30483" y="5060937"/>
                </a:lnTo>
                <a:lnTo>
                  <a:pt x="25400" y="5060937"/>
                </a:lnTo>
                <a:lnTo>
                  <a:pt x="25400" y="5052483"/>
                </a:lnTo>
                <a:lnTo>
                  <a:pt x="33020" y="5052483"/>
                </a:lnTo>
                <a:lnTo>
                  <a:pt x="38100" y="5035550"/>
                </a:lnTo>
                <a:close/>
              </a:path>
              <a:path w="38100" h="5099050">
                <a:moveTo>
                  <a:pt x="12700" y="5052483"/>
                </a:moveTo>
                <a:lnTo>
                  <a:pt x="12700" y="5060937"/>
                </a:lnTo>
                <a:lnTo>
                  <a:pt x="19040" y="5060937"/>
                </a:lnTo>
                <a:lnTo>
                  <a:pt x="12700" y="5052483"/>
                </a:lnTo>
                <a:close/>
              </a:path>
              <a:path w="38100" h="5099050">
                <a:moveTo>
                  <a:pt x="25400" y="0"/>
                </a:moveTo>
                <a:lnTo>
                  <a:pt x="12700" y="0"/>
                </a:lnTo>
                <a:lnTo>
                  <a:pt x="12700" y="5052483"/>
                </a:lnTo>
                <a:lnTo>
                  <a:pt x="19040" y="5060937"/>
                </a:lnTo>
                <a:lnTo>
                  <a:pt x="25400" y="5052483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5825" y="1995423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5825" y="2452623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5825" y="2909823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5825" y="3367023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5825" y="3824096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5825" y="4281296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5825" y="4770882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5825" y="5228082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50"/>
                </a:moveTo>
                <a:lnTo>
                  <a:pt x="6594475" y="38100"/>
                </a:lnTo>
                <a:lnTo>
                  <a:pt x="6636808" y="25400"/>
                </a:lnTo>
                <a:lnTo>
                  <a:pt x="6619875" y="25400"/>
                </a:lnTo>
                <a:lnTo>
                  <a:pt x="6619875" y="19050"/>
                </a:lnTo>
                <a:close/>
              </a:path>
              <a:path w="6657975" h="38100">
                <a:moveTo>
                  <a:pt x="66114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611408" y="25400"/>
                </a:lnTo>
                <a:lnTo>
                  <a:pt x="6619875" y="19050"/>
                </a:lnTo>
                <a:lnTo>
                  <a:pt x="6611408" y="12700"/>
                </a:lnTo>
                <a:close/>
              </a:path>
              <a:path w="6657975" h="38100">
                <a:moveTo>
                  <a:pt x="6636808" y="12700"/>
                </a:moveTo>
                <a:lnTo>
                  <a:pt x="6619875" y="12700"/>
                </a:lnTo>
                <a:lnTo>
                  <a:pt x="6619875" y="25400"/>
                </a:lnTo>
                <a:lnTo>
                  <a:pt x="6636808" y="25400"/>
                </a:lnTo>
                <a:lnTo>
                  <a:pt x="6657975" y="19050"/>
                </a:lnTo>
                <a:lnTo>
                  <a:pt x="6636808" y="12700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50"/>
                </a:lnTo>
                <a:lnTo>
                  <a:pt x="6619875" y="12700"/>
                </a:lnTo>
                <a:lnTo>
                  <a:pt x="6636808" y="12700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5825" y="5694413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49"/>
                </a:moveTo>
                <a:lnTo>
                  <a:pt x="6594475" y="38099"/>
                </a:lnTo>
                <a:lnTo>
                  <a:pt x="6636808" y="25399"/>
                </a:lnTo>
                <a:lnTo>
                  <a:pt x="6619875" y="25399"/>
                </a:lnTo>
                <a:lnTo>
                  <a:pt x="6619875" y="19049"/>
                </a:lnTo>
                <a:close/>
              </a:path>
              <a:path w="6657975" h="38100">
                <a:moveTo>
                  <a:pt x="6611408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6611408" y="25399"/>
                </a:lnTo>
                <a:lnTo>
                  <a:pt x="6619875" y="19049"/>
                </a:lnTo>
                <a:lnTo>
                  <a:pt x="6611408" y="12699"/>
                </a:lnTo>
                <a:close/>
              </a:path>
              <a:path w="6657975" h="38100">
                <a:moveTo>
                  <a:pt x="6636808" y="12699"/>
                </a:moveTo>
                <a:lnTo>
                  <a:pt x="6619875" y="12699"/>
                </a:lnTo>
                <a:lnTo>
                  <a:pt x="6619875" y="25399"/>
                </a:lnTo>
                <a:lnTo>
                  <a:pt x="6636808" y="25399"/>
                </a:lnTo>
                <a:lnTo>
                  <a:pt x="6657975" y="19049"/>
                </a:lnTo>
                <a:lnTo>
                  <a:pt x="6636808" y="12699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49"/>
                </a:lnTo>
                <a:lnTo>
                  <a:pt x="6619875" y="12699"/>
                </a:lnTo>
                <a:lnTo>
                  <a:pt x="6636808" y="12699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5825" y="6151588"/>
            <a:ext cx="6657975" cy="38100"/>
          </a:xfrm>
          <a:custGeom>
            <a:avLst/>
            <a:gdLst/>
            <a:ahLst/>
            <a:cxnLst/>
            <a:rect l="l" t="t" r="r" b="b"/>
            <a:pathLst>
              <a:path w="6657975" h="38100">
                <a:moveTo>
                  <a:pt x="6619875" y="19049"/>
                </a:moveTo>
                <a:lnTo>
                  <a:pt x="6594475" y="38099"/>
                </a:lnTo>
                <a:lnTo>
                  <a:pt x="6636808" y="25399"/>
                </a:lnTo>
                <a:lnTo>
                  <a:pt x="6619875" y="25399"/>
                </a:lnTo>
                <a:lnTo>
                  <a:pt x="6619875" y="19049"/>
                </a:lnTo>
                <a:close/>
              </a:path>
              <a:path w="6657975" h="38100">
                <a:moveTo>
                  <a:pt x="6611408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6611408" y="25399"/>
                </a:lnTo>
                <a:lnTo>
                  <a:pt x="6619875" y="19049"/>
                </a:lnTo>
                <a:lnTo>
                  <a:pt x="6611408" y="12699"/>
                </a:lnTo>
                <a:close/>
              </a:path>
              <a:path w="6657975" h="38100">
                <a:moveTo>
                  <a:pt x="6636808" y="12699"/>
                </a:moveTo>
                <a:lnTo>
                  <a:pt x="6619875" y="12699"/>
                </a:lnTo>
                <a:lnTo>
                  <a:pt x="6619875" y="25399"/>
                </a:lnTo>
                <a:lnTo>
                  <a:pt x="6636808" y="25399"/>
                </a:lnTo>
                <a:lnTo>
                  <a:pt x="6657975" y="19049"/>
                </a:lnTo>
                <a:lnTo>
                  <a:pt x="6636808" y="12699"/>
                </a:lnTo>
                <a:close/>
              </a:path>
              <a:path w="6657975" h="38100">
                <a:moveTo>
                  <a:pt x="6594475" y="0"/>
                </a:moveTo>
                <a:lnTo>
                  <a:pt x="6619875" y="19049"/>
                </a:lnTo>
                <a:lnTo>
                  <a:pt x="6619875" y="12699"/>
                </a:lnTo>
                <a:lnTo>
                  <a:pt x="6636808" y="12699"/>
                </a:lnTo>
                <a:lnTo>
                  <a:pt x="659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7250" y="1543050"/>
            <a:ext cx="85725" cy="5099050"/>
          </a:xfrm>
          <a:custGeom>
            <a:avLst/>
            <a:gdLst/>
            <a:ahLst/>
            <a:cxnLst/>
            <a:rect l="l" t="t" r="r" b="b"/>
            <a:pathLst>
              <a:path w="85725" h="5099050">
                <a:moveTo>
                  <a:pt x="0" y="4956175"/>
                </a:moveTo>
                <a:lnTo>
                  <a:pt x="42862" y="5099050"/>
                </a:lnTo>
                <a:lnTo>
                  <a:pt x="68580" y="5013325"/>
                </a:lnTo>
                <a:lnTo>
                  <a:pt x="28575" y="5013325"/>
                </a:lnTo>
                <a:lnTo>
                  <a:pt x="28575" y="4994275"/>
                </a:lnTo>
                <a:lnTo>
                  <a:pt x="0" y="4956175"/>
                </a:lnTo>
                <a:close/>
              </a:path>
              <a:path w="85725" h="5099050">
                <a:moveTo>
                  <a:pt x="28575" y="4994275"/>
                </a:moveTo>
                <a:lnTo>
                  <a:pt x="28575" y="5013325"/>
                </a:lnTo>
                <a:lnTo>
                  <a:pt x="42862" y="5013325"/>
                </a:lnTo>
                <a:lnTo>
                  <a:pt x="28575" y="4994275"/>
                </a:lnTo>
                <a:close/>
              </a:path>
              <a:path w="85725" h="5099050">
                <a:moveTo>
                  <a:pt x="57150" y="0"/>
                </a:moveTo>
                <a:lnTo>
                  <a:pt x="28575" y="0"/>
                </a:lnTo>
                <a:lnTo>
                  <a:pt x="28575" y="4994275"/>
                </a:lnTo>
                <a:lnTo>
                  <a:pt x="42862" y="5013325"/>
                </a:lnTo>
                <a:lnTo>
                  <a:pt x="57150" y="4994275"/>
                </a:lnTo>
                <a:lnTo>
                  <a:pt x="57150" y="0"/>
                </a:lnTo>
                <a:close/>
              </a:path>
              <a:path w="85725" h="5099050">
                <a:moveTo>
                  <a:pt x="57150" y="4994275"/>
                </a:moveTo>
                <a:lnTo>
                  <a:pt x="42862" y="5013325"/>
                </a:lnTo>
                <a:lnTo>
                  <a:pt x="57150" y="5013325"/>
                </a:lnTo>
                <a:lnTo>
                  <a:pt x="57150" y="4994275"/>
                </a:lnTo>
                <a:close/>
              </a:path>
              <a:path w="85725" h="5099050">
                <a:moveTo>
                  <a:pt x="85725" y="4956175"/>
                </a:moveTo>
                <a:lnTo>
                  <a:pt x="57150" y="4994275"/>
                </a:lnTo>
                <a:lnTo>
                  <a:pt x="57150" y="5013325"/>
                </a:lnTo>
                <a:lnTo>
                  <a:pt x="68580" y="5013325"/>
                </a:lnTo>
                <a:lnTo>
                  <a:pt x="85725" y="4956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86650" y="1543050"/>
            <a:ext cx="85725" cy="5099050"/>
          </a:xfrm>
          <a:custGeom>
            <a:avLst/>
            <a:gdLst/>
            <a:ahLst/>
            <a:cxnLst/>
            <a:rect l="l" t="t" r="r" b="b"/>
            <a:pathLst>
              <a:path w="85725" h="5099050">
                <a:moveTo>
                  <a:pt x="0" y="4956175"/>
                </a:moveTo>
                <a:lnTo>
                  <a:pt x="42799" y="5099050"/>
                </a:lnTo>
                <a:lnTo>
                  <a:pt x="68554" y="5013325"/>
                </a:lnTo>
                <a:lnTo>
                  <a:pt x="28575" y="5013325"/>
                </a:lnTo>
                <a:lnTo>
                  <a:pt x="28490" y="4994218"/>
                </a:lnTo>
                <a:lnTo>
                  <a:pt x="0" y="4956175"/>
                </a:lnTo>
                <a:close/>
              </a:path>
              <a:path w="85725" h="5099050">
                <a:moveTo>
                  <a:pt x="28575" y="4994331"/>
                </a:moveTo>
                <a:lnTo>
                  <a:pt x="28575" y="5013325"/>
                </a:lnTo>
                <a:lnTo>
                  <a:pt x="42799" y="5013325"/>
                </a:lnTo>
                <a:lnTo>
                  <a:pt x="28575" y="4994331"/>
                </a:lnTo>
                <a:close/>
              </a:path>
              <a:path w="85725" h="5099050">
                <a:moveTo>
                  <a:pt x="57150" y="0"/>
                </a:moveTo>
                <a:lnTo>
                  <a:pt x="28575" y="0"/>
                </a:lnTo>
                <a:lnTo>
                  <a:pt x="28575" y="4994331"/>
                </a:lnTo>
                <a:lnTo>
                  <a:pt x="42799" y="5013325"/>
                </a:lnTo>
                <a:lnTo>
                  <a:pt x="57065" y="4994331"/>
                </a:lnTo>
                <a:lnTo>
                  <a:pt x="57150" y="0"/>
                </a:lnTo>
                <a:close/>
              </a:path>
              <a:path w="85725" h="5099050">
                <a:moveTo>
                  <a:pt x="57150" y="4994218"/>
                </a:moveTo>
                <a:lnTo>
                  <a:pt x="42799" y="5013325"/>
                </a:lnTo>
                <a:lnTo>
                  <a:pt x="57150" y="5013325"/>
                </a:lnTo>
                <a:lnTo>
                  <a:pt x="57150" y="4994218"/>
                </a:lnTo>
                <a:close/>
              </a:path>
              <a:path w="85725" h="5099050">
                <a:moveTo>
                  <a:pt x="85725" y="4956175"/>
                </a:moveTo>
                <a:lnTo>
                  <a:pt x="57150" y="4994218"/>
                </a:lnTo>
                <a:lnTo>
                  <a:pt x="57150" y="5013325"/>
                </a:lnTo>
                <a:lnTo>
                  <a:pt x="68554" y="5013325"/>
                </a:lnTo>
                <a:lnTo>
                  <a:pt x="85725" y="4956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85825" y="1514475"/>
            <a:ext cx="6657975" cy="85725"/>
          </a:xfrm>
          <a:custGeom>
            <a:avLst/>
            <a:gdLst/>
            <a:ahLst/>
            <a:cxnLst/>
            <a:rect l="l" t="t" r="r" b="b"/>
            <a:pathLst>
              <a:path w="6657975" h="85725">
                <a:moveTo>
                  <a:pt x="6572250" y="42799"/>
                </a:moveTo>
                <a:lnTo>
                  <a:pt x="6515100" y="85725"/>
                </a:lnTo>
                <a:lnTo>
                  <a:pt x="6610209" y="57150"/>
                </a:lnTo>
                <a:lnTo>
                  <a:pt x="6572250" y="57150"/>
                </a:lnTo>
                <a:lnTo>
                  <a:pt x="6572250" y="42799"/>
                </a:lnTo>
                <a:close/>
              </a:path>
              <a:path w="6657975" h="85725">
                <a:moveTo>
                  <a:pt x="6553256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553143" y="57150"/>
                </a:lnTo>
                <a:lnTo>
                  <a:pt x="6572250" y="42799"/>
                </a:lnTo>
                <a:lnTo>
                  <a:pt x="6553256" y="28575"/>
                </a:lnTo>
                <a:close/>
              </a:path>
              <a:path w="6657975" h="85725">
                <a:moveTo>
                  <a:pt x="6610491" y="28575"/>
                </a:moveTo>
                <a:lnTo>
                  <a:pt x="6572250" y="28575"/>
                </a:lnTo>
                <a:lnTo>
                  <a:pt x="6572250" y="57150"/>
                </a:lnTo>
                <a:lnTo>
                  <a:pt x="6610209" y="57150"/>
                </a:lnTo>
                <a:lnTo>
                  <a:pt x="6657975" y="42799"/>
                </a:lnTo>
                <a:lnTo>
                  <a:pt x="6610491" y="28575"/>
                </a:lnTo>
                <a:close/>
              </a:path>
              <a:path w="6657975" h="85725">
                <a:moveTo>
                  <a:pt x="6515100" y="0"/>
                </a:moveTo>
                <a:lnTo>
                  <a:pt x="6572250" y="42799"/>
                </a:lnTo>
                <a:lnTo>
                  <a:pt x="6572250" y="28575"/>
                </a:lnTo>
                <a:lnTo>
                  <a:pt x="6610491" y="28575"/>
                </a:lnTo>
                <a:lnTo>
                  <a:pt x="6515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85825" y="6584950"/>
            <a:ext cx="6657975" cy="85725"/>
          </a:xfrm>
          <a:custGeom>
            <a:avLst/>
            <a:gdLst/>
            <a:ahLst/>
            <a:cxnLst/>
            <a:rect l="l" t="t" r="r" b="b"/>
            <a:pathLst>
              <a:path w="6657975" h="85725">
                <a:moveTo>
                  <a:pt x="6572250" y="42862"/>
                </a:moveTo>
                <a:lnTo>
                  <a:pt x="6515100" y="85725"/>
                </a:lnTo>
                <a:lnTo>
                  <a:pt x="6610350" y="57150"/>
                </a:lnTo>
                <a:lnTo>
                  <a:pt x="6572250" y="57150"/>
                </a:lnTo>
                <a:lnTo>
                  <a:pt x="6572250" y="42862"/>
                </a:lnTo>
                <a:close/>
              </a:path>
              <a:path w="6657975" h="85725">
                <a:moveTo>
                  <a:pt x="65532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553200" y="57150"/>
                </a:lnTo>
                <a:lnTo>
                  <a:pt x="6572250" y="42862"/>
                </a:lnTo>
                <a:lnTo>
                  <a:pt x="6553200" y="28575"/>
                </a:lnTo>
                <a:close/>
              </a:path>
              <a:path w="6657975" h="85725">
                <a:moveTo>
                  <a:pt x="6610350" y="28575"/>
                </a:moveTo>
                <a:lnTo>
                  <a:pt x="6572250" y="28575"/>
                </a:lnTo>
                <a:lnTo>
                  <a:pt x="6572250" y="57150"/>
                </a:lnTo>
                <a:lnTo>
                  <a:pt x="6610350" y="57150"/>
                </a:lnTo>
                <a:lnTo>
                  <a:pt x="6657975" y="42862"/>
                </a:lnTo>
                <a:lnTo>
                  <a:pt x="6610350" y="28575"/>
                </a:lnTo>
                <a:close/>
              </a:path>
              <a:path w="6657975" h="85725">
                <a:moveTo>
                  <a:pt x="6515100" y="0"/>
                </a:moveTo>
                <a:lnTo>
                  <a:pt x="6572250" y="42862"/>
                </a:lnTo>
                <a:lnTo>
                  <a:pt x="6572250" y="28575"/>
                </a:lnTo>
                <a:lnTo>
                  <a:pt x="6610350" y="28575"/>
                </a:lnTo>
                <a:lnTo>
                  <a:pt x="6515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864819" y="1640077"/>
          <a:ext cx="5814060" cy="4930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486">
                <a:tc>
                  <a:txBody>
                    <a:bodyPr/>
                    <a:lstStyle/>
                    <a:p>
                      <a:pPr marL="629285" algn="ctr">
                        <a:lnSpc>
                          <a:spcPts val="2400"/>
                        </a:lnSpc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语言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71625">
                        <a:lnSpc>
                          <a:spcPts val="2400"/>
                        </a:lnSpc>
                      </a:pPr>
                      <a:r>
                        <a:rPr sz="2400" b="1" spc="5" dirty="0">
                          <a:latin typeface="华文新魏"/>
                          <a:cs typeface="华文新魏"/>
                        </a:rPr>
                        <a:t>代码</a:t>
                      </a:r>
                      <a:r>
                        <a:rPr sz="2400" b="1" spc="10" dirty="0">
                          <a:latin typeface="华文新魏"/>
                          <a:cs typeface="华文新魏"/>
                        </a:rPr>
                        <a:t>行</a:t>
                      </a:r>
                      <a:r>
                        <a:rPr sz="2400" b="1" spc="-5" dirty="0">
                          <a:latin typeface="华文新魏"/>
                          <a:cs typeface="华文新魏"/>
                        </a:rPr>
                        <a:t>/FP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7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Assembly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320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4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C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150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COBOL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105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7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FORTRAN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105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48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spc="-5" dirty="0">
                          <a:latin typeface="华文新魏"/>
                          <a:cs typeface="华文新魏"/>
                        </a:rPr>
                        <a:t>PASCAL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91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48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ADA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71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27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PL/1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65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05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PROLOG/LISP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64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86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400" spc="-5" dirty="0">
                          <a:latin typeface="华文新魏"/>
                          <a:cs typeface="华文新魏"/>
                        </a:rPr>
                        <a:t>SMALLTALK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21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486">
                <a:tc>
                  <a:txBody>
                    <a:bodyPr/>
                    <a:lstStyle/>
                    <a:p>
                      <a:pPr marL="127000">
                        <a:lnSpc>
                          <a:spcPts val="2865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SPREADSHEET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ts val="2865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6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774698"/>
            <a:ext cx="7772400" cy="4258310"/>
          </a:xfrm>
          <a:custGeom>
            <a:avLst/>
            <a:gdLst/>
            <a:ahLst/>
            <a:cxnLst/>
            <a:rect l="l" t="t" r="r" b="b"/>
            <a:pathLst>
              <a:path w="7772400" h="4258310">
                <a:moveTo>
                  <a:pt x="0" y="4258056"/>
                </a:moveTo>
                <a:lnTo>
                  <a:pt x="7772400" y="4258056"/>
                </a:lnTo>
                <a:lnTo>
                  <a:pt x="7772400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3043184"/>
            <a:ext cx="19050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45"/>
              </a:lnSpc>
            </a:pPr>
            <a:r>
              <a:rPr sz="1750" spc="-5" dirty="0">
                <a:solidFill>
                  <a:srgbClr val="DD8046"/>
                </a:solidFill>
                <a:latin typeface="华文新魏"/>
                <a:cs typeface="华文新魏"/>
              </a:rPr>
              <a:t>3.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代码行估算法</a:t>
            </a:r>
          </a:p>
          <a:p>
            <a:pPr marL="545465" marR="1461135" indent="-533400">
              <a:lnSpc>
                <a:spcPct val="120000"/>
              </a:lnSpc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功能点估算法 用例点估算法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4"/>
              <a:tabLst>
                <a:tab pos="545465" algn="l"/>
                <a:tab pos="546100" algn="l"/>
              </a:tabLst>
            </a:pPr>
            <a:r>
              <a:rPr dirty="0"/>
              <a:t>类</a:t>
            </a:r>
            <a:r>
              <a:rPr spc="705" dirty="0"/>
              <a:t>比</a:t>
            </a:r>
            <a:r>
              <a:rPr spc="-5" dirty="0"/>
              <a:t>(</a:t>
            </a:r>
            <a:r>
              <a:rPr dirty="0"/>
              <a:t>自顶向</a:t>
            </a:r>
            <a:r>
              <a:rPr spc="-5" dirty="0"/>
              <a:t>下)</a:t>
            </a:r>
            <a:r>
              <a:rPr dirty="0"/>
              <a:t>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4"/>
              <a:tabLst>
                <a:tab pos="545465" algn="l"/>
                <a:tab pos="546100" algn="l"/>
              </a:tabLst>
            </a:pPr>
            <a:r>
              <a:rPr dirty="0"/>
              <a:t>自下而上估算法</a:t>
            </a: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 startAt="4"/>
              <a:tabLst>
                <a:tab pos="545465" algn="l"/>
                <a:tab pos="546100" algn="l"/>
              </a:tabLst>
            </a:pPr>
            <a:r>
              <a:rPr dirty="0"/>
              <a:t>三点估算法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4"/>
              <a:tabLst>
                <a:tab pos="545465" algn="l"/>
                <a:tab pos="546100" algn="l"/>
              </a:tabLst>
            </a:pPr>
            <a:r>
              <a:rPr dirty="0"/>
              <a:t>参数估算法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4"/>
              <a:tabLst>
                <a:tab pos="545465" algn="l"/>
                <a:tab pos="546100" algn="l"/>
              </a:tabLst>
            </a:pPr>
            <a:r>
              <a:rPr dirty="0"/>
              <a:t>专家估算法</a:t>
            </a:r>
          </a:p>
        </p:txBody>
      </p:sp>
      <p:sp>
        <p:nvSpPr>
          <p:cNvPr id="8" name="object 8"/>
          <p:cNvSpPr/>
          <p:nvPr/>
        </p:nvSpPr>
        <p:spPr>
          <a:xfrm>
            <a:off x="542544" y="2924555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57765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传统估算方法-用例模型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4914" y="1773935"/>
            <a:ext cx="5654189" cy="4895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7454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传统估算方法-用例点估算模型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9324" y="1557697"/>
            <a:ext cx="6133376" cy="5100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6737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用例点估算方法的基本步骤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892" y="6153099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1774698"/>
            <a:ext cx="8153400" cy="3599815"/>
          </a:xfrm>
          <a:custGeom>
            <a:avLst/>
            <a:gdLst/>
            <a:ahLst/>
            <a:cxnLst/>
            <a:rect l="l" t="t" r="r" b="b"/>
            <a:pathLst>
              <a:path w="8153400" h="3599815">
                <a:moveTo>
                  <a:pt x="0" y="3599688"/>
                </a:moveTo>
                <a:lnTo>
                  <a:pt x="8153400" y="3599688"/>
                </a:lnTo>
                <a:lnTo>
                  <a:pt x="8153400" y="0"/>
                </a:lnTo>
                <a:lnTo>
                  <a:pt x="0" y="0"/>
                </a:lnTo>
                <a:lnTo>
                  <a:pt x="0" y="3599688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065" y="1689393"/>
            <a:ext cx="5597525" cy="32105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spc="5" dirty="0">
                <a:latin typeface="华文新魏"/>
                <a:cs typeface="华文新魏"/>
              </a:rPr>
              <a:t>计</a:t>
            </a:r>
            <a:r>
              <a:rPr sz="2900" dirty="0">
                <a:latin typeface="华文新魏"/>
                <a:cs typeface="华文新魏"/>
              </a:rPr>
              <a:t>算未调整</a:t>
            </a:r>
            <a:r>
              <a:rPr sz="2900" spc="5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角色权值UAW;</a:t>
            </a:r>
            <a:endParaRPr sz="29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计算未调整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用例权值</a:t>
            </a:r>
            <a:r>
              <a:rPr sz="2900" spc="-5" dirty="0">
                <a:latin typeface="华文新魏"/>
                <a:cs typeface="华文新魏"/>
              </a:rPr>
              <a:t>UUCW</a:t>
            </a:r>
            <a:r>
              <a:rPr sz="2900" spc="-6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;</a:t>
            </a:r>
            <a:endParaRPr sz="29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spc="5" dirty="0">
                <a:latin typeface="华文新魏"/>
                <a:cs typeface="华文新魏"/>
              </a:rPr>
              <a:t>计算未调整的用例</a:t>
            </a:r>
            <a:r>
              <a:rPr sz="2900" spc="-15" dirty="0">
                <a:latin typeface="华文新魏"/>
                <a:cs typeface="华文新魏"/>
              </a:rPr>
              <a:t>点</a:t>
            </a:r>
            <a:r>
              <a:rPr sz="2900" spc="-5" dirty="0">
                <a:latin typeface="华文新魏"/>
                <a:cs typeface="华文新魏"/>
              </a:rPr>
              <a:t>UUCP;</a:t>
            </a:r>
            <a:endParaRPr sz="29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计算技术和环境因</a:t>
            </a:r>
            <a:r>
              <a:rPr sz="2900" spc="-15" dirty="0">
                <a:latin typeface="华文新魏"/>
                <a:cs typeface="华文新魏"/>
              </a:rPr>
              <a:t>子</a:t>
            </a:r>
            <a:r>
              <a:rPr sz="2900" dirty="0">
                <a:latin typeface="华文新魏"/>
                <a:cs typeface="华文新魏"/>
              </a:rPr>
              <a:t>TEF;</a:t>
            </a:r>
            <a:endParaRPr sz="29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spc="5" dirty="0">
                <a:latin typeface="华文新魏"/>
                <a:cs typeface="华文新魏"/>
              </a:rPr>
              <a:t>计算调整的用例</a:t>
            </a:r>
            <a:r>
              <a:rPr sz="2900" spc="-10" dirty="0">
                <a:latin typeface="华文新魏"/>
                <a:cs typeface="华文新魏"/>
              </a:rPr>
              <a:t>点</a:t>
            </a:r>
            <a:r>
              <a:rPr sz="2900" spc="-5" dirty="0">
                <a:latin typeface="华文新魏"/>
                <a:cs typeface="华文新魏"/>
              </a:rPr>
              <a:t>UCP</a:t>
            </a:r>
            <a:r>
              <a:rPr sz="2900" spc="-3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;</a:t>
            </a:r>
            <a:endParaRPr sz="29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计算工作</a:t>
            </a:r>
            <a:r>
              <a:rPr sz="2900" spc="-5" dirty="0">
                <a:latin typeface="华文新魏"/>
                <a:cs typeface="华文新魏"/>
              </a:rPr>
              <a:t>量</a:t>
            </a:r>
            <a:r>
              <a:rPr sz="2900" dirty="0">
                <a:latin typeface="华文新魏"/>
                <a:cs typeface="华文新魏"/>
              </a:rPr>
              <a:t>(</a:t>
            </a:r>
            <a:r>
              <a:rPr sz="2900" spc="-2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man－hours)</a:t>
            </a:r>
            <a:r>
              <a:rPr sz="2900" spc="-1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118" y="160731"/>
            <a:ext cx="76746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</a:t>
            </a:r>
            <a:r>
              <a:rPr dirty="0"/>
              <a:t>、计算未调整的角色权</a:t>
            </a:r>
            <a:r>
              <a:rPr spc="5" dirty="0"/>
              <a:t>值</a:t>
            </a:r>
            <a:r>
              <a:rPr spc="-10" dirty="0"/>
              <a:t>UAW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692" y="2142870"/>
            <a:ext cx="105664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Tw Cen MT"/>
                <a:cs typeface="Tw Cen MT"/>
              </a:rPr>
              <a:t>U</a:t>
            </a:r>
            <a:r>
              <a:rPr sz="2900" spc="-23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W=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3615" y="2111580"/>
            <a:ext cx="5063605" cy="497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298" y="3281715"/>
            <a:ext cx="8253655" cy="21675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2761" y="1989582"/>
            <a:ext cx="2161540" cy="719455"/>
          </a:xfrm>
          <a:custGeom>
            <a:avLst/>
            <a:gdLst/>
            <a:ahLst/>
            <a:cxnLst/>
            <a:rect l="l" t="t" r="r" b="b"/>
            <a:pathLst>
              <a:path w="2161540" h="719455">
                <a:moveTo>
                  <a:pt x="0" y="719327"/>
                </a:moveTo>
                <a:lnTo>
                  <a:pt x="2161032" y="719327"/>
                </a:lnTo>
                <a:lnTo>
                  <a:pt x="2161032" y="0"/>
                </a:lnTo>
                <a:lnTo>
                  <a:pt x="0" y="0"/>
                </a:lnTo>
                <a:lnTo>
                  <a:pt x="0" y="719327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11729" y="1899666"/>
            <a:ext cx="1801495" cy="721360"/>
          </a:xfrm>
          <a:custGeom>
            <a:avLst/>
            <a:gdLst/>
            <a:ahLst/>
            <a:cxnLst/>
            <a:rect l="l" t="t" r="r" b="b"/>
            <a:pathLst>
              <a:path w="1801495" h="721360">
                <a:moveTo>
                  <a:pt x="0" y="720851"/>
                </a:moveTo>
                <a:lnTo>
                  <a:pt x="1801368" y="720851"/>
                </a:lnTo>
                <a:lnTo>
                  <a:pt x="180136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418" y="240284"/>
            <a:ext cx="7294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2</a:t>
            </a:r>
            <a:r>
              <a:rPr sz="4000" spc="-5" dirty="0"/>
              <a:t>、计算未调整的用例权</a:t>
            </a:r>
            <a:r>
              <a:rPr sz="4000" dirty="0"/>
              <a:t>值</a:t>
            </a:r>
            <a:r>
              <a:rPr sz="4000" spc="-5" dirty="0"/>
              <a:t>UUCW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429505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886" y="1629917"/>
            <a:ext cx="8153400" cy="139446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37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900" dirty="0">
                <a:latin typeface="Tw Cen MT"/>
                <a:cs typeface="Tw Cen MT"/>
              </a:rPr>
              <a:t>UUCW=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5733" y="1963227"/>
            <a:ext cx="6206132" cy="595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3808" y="3528908"/>
            <a:ext cx="7038902" cy="26371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80126" y="1916429"/>
            <a:ext cx="2971800" cy="721360"/>
          </a:xfrm>
          <a:custGeom>
            <a:avLst/>
            <a:gdLst/>
            <a:ahLst/>
            <a:cxnLst/>
            <a:rect l="l" t="t" r="r" b="b"/>
            <a:pathLst>
              <a:path w="2971800" h="721360">
                <a:moveTo>
                  <a:pt x="0" y="720851"/>
                </a:moveTo>
                <a:lnTo>
                  <a:pt x="2971800" y="720851"/>
                </a:lnTo>
                <a:lnTo>
                  <a:pt x="2971800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59429" y="1910333"/>
            <a:ext cx="2161540" cy="719455"/>
          </a:xfrm>
          <a:custGeom>
            <a:avLst/>
            <a:gdLst/>
            <a:ahLst/>
            <a:cxnLst/>
            <a:rect l="l" t="t" r="r" b="b"/>
            <a:pathLst>
              <a:path w="2161540" h="719455">
                <a:moveTo>
                  <a:pt x="0" y="719327"/>
                </a:moveTo>
                <a:lnTo>
                  <a:pt x="2161032" y="719327"/>
                </a:lnTo>
                <a:lnTo>
                  <a:pt x="2161032" y="0"/>
                </a:lnTo>
                <a:lnTo>
                  <a:pt x="0" y="0"/>
                </a:lnTo>
                <a:lnTo>
                  <a:pt x="0" y="719327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2919" y="2036063"/>
            <a:ext cx="7563611" cy="445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841" y="232663"/>
            <a:ext cx="72834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3</a:t>
            </a:r>
            <a:r>
              <a:rPr dirty="0"/>
              <a:t>、计算未调整的用例</a:t>
            </a:r>
            <a:r>
              <a:rPr spc="-15" dirty="0"/>
              <a:t>点</a:t>
            </a:r>
            <a:r>
              <a:rPr spc="-5" dirty="0"/>
              <a:t>UUCP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2070" y="1550365"/>
            <a:ext cx="451421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80765" algn="l"/>
              </a:tabLst>
            </a:pPr>
            <a:r>
              <a:rPr sz="2900" dirty="0">
                <a:latin typeface="Tw Cen MT"/>
                <a:cs typeface="Tw Cen MT"/>
              </a:rPr>
              <a:t>UUCP </a:t>
            </a:r>
            <a:r>
              <a:rPr sz="2900" spc="-30" dirty="0">
                <a:latin typeface="Tw Cen MT"/>
                <a:cs typeface="Tw Cen MT"/>
              </a:rPr>
              <a:t>=UAW+UUCW	</a:t>
            </a:r>
            <a:r>
              <a:rPr sz="2900" dirty="0">
                <a:latin typeface="Tw Cen MT"/>
                <a:cs typeface="Tw Cen MT"/>
              </a:rPr>
              <a:t>:</a:t>
            </a:r>
            <a:r>
              <a:rPr sz="2900" spc="-85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例如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01134" y="2565654"/>
            <a:ext cx="1224280" cy="1009015"/>
          </a:xfrm>
          <a:custGeom>
            <a:avLst/>
            <a:gdLst/>
            <a:ahLst/>
            <a:cxnLst/>
            <a:rect l="l" t="t" r="r" b="b"/>
            <a:pathLst>
              <a:path w="1224279" h="1009014">
                <a:moveTo>
                  <a:pt x="0" y="1008888"/>
                </a:moveTo>
                <a:lnTo>
                  <a:pt x="1223772" y="1008888"/>
                </a:lnTo>
                <a:lnTo>
                  <a:pt x="1223772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17541" y="5446014"/>
            <a:ext cx="323215" cy="287020"/>
          </a:xfrm>
          <a:custGeom>
            <a:avLst/>
            <a:gdLst/>
            <a:ahLst/>
            <a:cxnLst/>
            <a:rect l="l" t="t" r="r" b="b"/>
            <a:pathLst>
              <a:path w="323214" h="287020">
                <a:moveTo>
                  <a:pt x="0" y="286512"/>
                </a:moveTo>
                <a:lnTo>
                  <a:pt x="323088" y="286512"/>
                </a:lnTo>
                <a:lnTo>
                  <a:pt x="323088" y="0"/>
                </a:lnTo>
                <a:lnTo>
                  <a:pt x="0" y="0"/>
                </a:lnTo>
                <a:lnTo>
                  <a:pt x="0" y="286512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4726" y="4266438"/>
            <a:ext cx="1225550" cy="963294"/>
          </a:xfrm>
          <a:custGeom>
            <a:avLst/>
            <a:gdLst/>
            <a:ahLst/>
            <a:cxnLst/>
            <a:rect l="l" t="t" r="r" b="b"/>
            <a:pathLst>
              <a:path w="1225550" h="963295">
                <a:moveTo>
                  <a:pt x="0" y="963168"/>
                </a:moveTo>
                <a:lnTo>
                  <a:pt x="1225296" y="963168"/>
                </a:lnTo>
                <a:lnTo>
                  <a:pt x="1225296" y="0"/>
                </a:lnTo>
                <a:lnTo>
                  <a:pt x="0" y="0"/>
                </a:lnTo>
                <a:lnTo>
                  <a:pt x="0" y="963168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6858" y="6022085"/>
            <a:ext cx="467995" cy="288290"/>
          </a:xfrm>
          <a:custGeom>
            <a:avLst/>
            <a:gdLst/>
            <a:ahLst/>
            <a:cxnLst/>
            <a:rect l="l" t="t" r="r" b="b"/>
            <a:pathLst>
              <a:path w="467995" h="288289">
                <a:moveTo>
                  <a:pt x="0" y="288035"/>
                </a:moveTo>
                <a:lnTo>
                  <a:pt x="467867" y="288035"/>
                </a:lnTo>
                <a:lnTo>
                  <a:pt x="467867" y="0"/>
                </a:lnTo>
                <a:lnTo>
                  <a:pt x="0" y="0"/>
                </a:lnTo>
                <a:lnTo>
                  <a:pt x="0" y="28803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93614" y="5732526"/>
            <a:ext cx="323215" cy="289560"/>
          </a:xfrm>
          <a:custGeom>
            <a:avLst/>
            <a:gdLst/>
            <a:ahLst/>
            <a:cxnLst/>
            <a:rect l="l" t="t" r="r" b="b"/>
            <a:pathLst>
              <a:path w="323214" h="289560">
                <a:moveTo>
                  <a:pt x="0" y="289560"/>
                </a:moveTo>
                <a:lnTo>
                  <a:pt x="323088" y="289560"/>
                </a:lnTo>
                <a:lnTo>
                  <a:pt x="32308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50819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4</a:t>
            </a:r>
            <a:r>
              <a:rPr dirty="0"/>
              <a:t>、计算技术因子TCF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919" y="1400555"/>
            <a:ext cx="7648956" cy="1004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3919" y="2305811"/>
            <a:ext cx="7376159" cy="3459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9495" y="5731764"/>
            <a:ext cx="8180832" cy="76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17541" y="1558289"/>
            <a:ext cx="2158365" cy="721360"/>
          </a:xfrm>
          <a:custGeom>
            <a:avLst/>
            <a:gdLst/>
            <a:ahLst/>
            <a:cxnLst/>
            <a:rect l="l" t="t" r="r" b="b"/>
            <a:pathLst>
              <a:path w="2158365" h="721360">
                <a:moveTo>
                  <a:pt x="0" y="720851"/>
                </a:moveTo>
                <a:lnTo>
                  <a:pt x="2157984" y="720851"/>
                </a:lnTo>
                <a:lnTo>
                  <a:pt x="2157984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80326" y="1585722"/>
            <a:ext cx="1541145" cy="721360"/>
          </a:xfrm>
          <a:custGeom>
            <a:avLst/>
            <a:gdLst/>
            <a:ahLst/>
            <a:cxnLst/>
            <a:rect l="l" t="t" r="r" b="b"/>
            <a:pathLst>
              <a:path w="1541145" h="721360">
                <a:moveTo>
                  <a:pt x="0" y="720851"/>
                </a:moveTo>
                <a:lnTo>
                  <a:pt x="1540764" y="720851"/>
                </a:lnTo>
                <a:lnTo>
                  <a:pt x="1540764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72917" y="5766053"/>
            <a:ext cx="721360" cy="317500"/>
          </a:xfrm>
          <a:custGeom>
            <a:avLst/>
            <a:gdLst/>
            <a:ahLst/>
            <a:cxnLst/>
            <a:rect l="l" t="t" r="r" b="b"/>
            <a:pathLst>
              <a:path w="721360" h="317500">
                <a:moveTo>
                  <a:pt x="0" y="316992"/>
                </a:moveTo>
                <a:lnTo>
                  <a:pt x="720852" y="316992"/>
                </a:lnTo>
                <a:lnTo>
                  <a:pt x="720852" y="0"/>
                </a:lnTo>
                <a:lnTo>
                  <a:pt x="0" y="0"/>
                </a:lnTo>
                <a:lnTo>
                  <a:pt x="0" y="316992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93770" y="5721858"/>
            <a:ext cx="719455" cy="315595"/>
          </a:xfrm>
          <a:custGeom>
            <a:avLst/>
            <a:gdLst/>
            <a:ahLst/>
            <a:cxnLst/>
            <a:rect l="l" t="t" r="r" b="b"/>
            <a:pathLst>
              <a:path w="719454" h="315595">
                <a:moveTo>
                  <a:pt x="0" y="315468"/>
                </a:moveTo>
                <a:lnTo>
                  <a:pt x="719327" y="315468"/>
                </a:lnTo>
                <a:lnTo>
                  <a:pt x="719327" y="0"/>
                </a:lnTo>
                <a:lnTo>
                  <a:pt x="0" y="0"/>
                </a:lnTo>
                <a:lnTo>
                  <a:pt x="0" y="31546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03953" y="6037326"/>
            <a:ext cx="719455" cy="315595"/>
          </a:xfrm>
          <a:custGeom>
            <a:avLst/>
            <a:gdLst/>
            <a:ahLst/>
            <a:cxnLst/>
            <a:rect l="l" t="t" r="r" b="b"/>
            <a:pathLst>
              <a:path w="719454" h="315595">
                <a:moveTo>
                  <a:pt x="0" y="315468"/>
                </a:moveTo>
                <a:lnTo>
                  <a:pt x="719327" y="315468"/>
                </a:lnTo>
                <a:lnTo>
                  <a:pt x="719327" y="0"/>
                </a:lnTo>
                <a:lnTo>
                  <a:pt x="0" y="0"/>
                </a:lnTo>
                <a:lnTo>
                  <a:pt x="0" y="31546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442" y="232663"/>
            <a:ext cx="52857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4</a:t>
            </a:r>
            <a:r>
              <a:rPr dirty="0"/>
              <a:t>、</a:t>
            </a:r>
            <a:r>
              <a:rPr spc="-55" dirty="0"/>
              <a:t> </a:t>
            </a:r>
            <a:r>
              <a:rPr dirty="0"/>
              <a:t>计算环境因</a:t>
            </a:r>
            <a:r>
              <a:rPr spc="-10" dirty="0"/>
              <a:t>子</a:t>
            </a:r>
            <a:r>
              <a:rPr dirty="0"/>
              <a:t>ECF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8596" y="2350007"/>
            <a:ext cx="7226807" cy="3550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35880" y="1589582"/>
            <a:ext cx="14287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245" dirty="0">
                <a:latin typeface="宋体"/>
                <a:cs typeface="宋体"/>
              </a:rPr>
              <a:t>8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1838" y="2156506"/>
            <a:ext cx="451484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i="1" spc="170" dirty="0">
                <a:latin typeface="宋体"/>
                <a:cs typeface="宋体"/>
              </a:rPr>
              <a:t>i</a:t>
            </a:r>
            <a:r>
              <a:rPr sz="1500" i="1" spc="-440" dirty="0">
                <a:latin typeface="宋体"/>
                <a:cs typeface="宋体"/>
              </a:rPr>
              <a:t> </a:t>
            </a:r>
            <a:r>
              <a:rPr sz="1350" spc="310" dirty="0">
                <a:latin typeface="Symbol"/>
                <a:cs typeface="Symbol"/>
              </a:rPr>
              <a:t></a:t>
            </a:r>
            <a:r>
              <a:rPr sz="1350" spc="310" dirty="0">
                <a:latin typeface="宋体"/>
                <a:cs typeface="宋体"/>
              </a:rPr>
              <a:t>1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6927" y="1737400"/>
            <a:ext cx="172910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spc="470" dirty="0">
                <a:latin typeface="Symbol"/>
                <a:cs typeface="Symbol"/>
              </a:rPr>
              <a:t></a:t>
            </a:r>
            <a:r>
              <a:rPr sz="2300" spc="-225" dirty="0">
                <a:latin typeface="Times New Roman"/>
                <a:cs typeface="Times New Roman"/>
              </a:rPr>
              <a:t> </a:t>
            </a:r>
            <a:r>
              <a:rPr sz="2550" i="1" spc="270" dirty="0">
                <a:latin typeface="宋体"/>
                <a:cs typeface="宋体"/>
              </a:rPr>
              <a:t>Value</a:t>
            </a:r>
            <a:r>
              <a:rPr sz="2250" i="1" spc="405" baseline="-22222" dirty="0">
                <a:latin typeface="宋体"/>
                <a:cs typeface="宋体"/>
              </a:rPr>
              <a:t>i</a:t>
            </a:r>
            <a:r>
              <a:rPr sz="2250" i="1" spc="-359" baseline="-22222" dirty="0">
                <a:latin typeface="宋体"/>
                <a:cs typeface="宋体"/>
              </a:rPr>
              <a:t> </a:t>
            </a:r>
            <a:r>
              <a:rPr sz="2300" spc="430" dirty="0">
                <a:latin typeface="宋体"/>
                <a:cs typeface="宋体"/>
              </a:rPr>
              <a:t>)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6669" y="1737400"/>
            <a:ext cx="1663064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spc="430" dirty="0">
                <a:latin typeface="宋体"/>
                <a:cs typeface="宋体"/>
              </a:rPr>
              <a:t>_</a:t>
            </a:r>
            <a:r>
              <a:rPr sz="2300" spc="-585" dirty="0">
                <a:latin typeface="宋体"/>
                <a:cs typeface="宋体"/>
              </a:rPr>
              <a:t> </a:t>
            </a:r>
            <a:r>
              <a:rPr sz="2550" i="1" spc="265" dirty="0">
                <a:latin typeface="宋体"/>
                <a:cs typeface="宋体"/>
              </a:rPr>
              <a:t>Weight</a:t>
            </a:r>
            <a:r>
              <a:rPr sz="2250" i="1" spc="397" baseline="-22222" dirty="0">
                <a:latin typeface="宋体"/>
                <a:cs typeface="宋体"/>
              </a:rPr>
              <a:t>i</a:t>
            </a:r>
            <a:endParaRPr sz="2250" baseline="-22222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306" y="1617812"/>
            <a:ext cx="515302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908050" algn="l"/>
                <a:tab pos="1288415" algn="l"/>
                <a:tab pos="3992879" algn="l"/>
              </a:tabLst>
            </a:pPr>
            <a:r>
              <a:rPr sz="2550" i="1" spc="275" dirty="0">
                <a:latin typeface="宋体"/>
                <a:cs typeface="宋体"/>
              </a:rPr>
              <a:t>ECF	</a:t>
            </a:r>
            <a:r>
              <a:rPr sz="2300" spc="470" dirty="0">
                <a:latin typeface="Symbol"/>
                <a:cs typeface="Symbol"/>
              </a:rPr>
              <a:t></a:t>
            </a:r>
            <a:r>
              <a:rPr sz="2300" spc="470" dirty="0">
                <a:latin typeface="Times New Roman"/>
                <a:cs typeface="Times New Roman"/>
              </a:rPr>
              <a:t>	</a:t>
            </a:r>
            <a:r>
              <a:rPr sz="2300" spc="400" dirty="0">
                <a:latin typeface="宋体"/>
                <a:cs typeface="宋体"/>
              </a:rPr>
              <a:t>1.4 </a:t>
            </a:r>
            <a:r>
              <a:rPr sz="2300" spc="470" dirty="0">
                <a:latin typeface="Symbol"/>
                <a:cs typeface="Symbol"/>
              </a:rPr>
              <a:t></a:t>
            </a:r>
            <a:r>
              <a:rPr sz="2300" spc="-375" dirty="0">
                <a:latin typeface="Times New Roman"/>
                <a:cs typeface="Times New Roman"/>
              </a:rPr>
              <a:t> </a:t>
            </a:r>
            <a:r>
              <a:rPr sz="2300" spc="409" dirty="0">
                <a:latin typeface="宋体"/>
                <a:cs typeface="宋体"/>
              </a:rPr>
              <a:t>(</a:t>
            </a:r>
            <a:r>
              <a:rPr sz="2300" spc="409" dirty="0">
                <a:latin typeface="Symbol"/>
                <a:cs typeface="Symbol"/>
              </a:rPr>
              <a:t></a:t>
            </a:r>
            <a:r>
              <a:rPr sz="2300" spc="409" dirty="0">
                <a:latin typeface="宋体"/>
                <a:cs typeface="宋体"/>
              </a:rPr>
              <a:t>0.03</a:t>
            </a:r>
            <a:r>
              <a:rPr sz="2300" spc="-260" dirty="0">
                <a:latin typeface="宋体"/>
                <a:cs typeface="宋体"/>
              </a:rPr>
              <a:t> </a:t>
            </a:r>
            <a:r>
              <a:rPr sz="2300" spc="470" dirty="0">
                <a:latin typeface="Symbol"/>
                <a:cs typeface="Symbol"/>
              </a:rPr>
              <a:t></a:t>
            </a:r>
            <a:r>
              <a:rPr sz="2300" spc="470" dirty="0">
                <a:latin typeface="Times New Roman"/>
                <a:cs typeface="Times New Roman"/>
              </a:rPr>
              <a:t>	</a:t>
            </a:r>
            <a:r>
              <a:rPr sz="5250" spc="1327" baseline="-8730" dirty="0">
                <a:latin typeface="Symbol"/>
                <a:cs typeface="Symbol"/>
              </a:rPr>
              <a:t></a:t>
            </a:r>
            <a:r>
              <a:rPr sz="5250" spc="-202" baseline="-8730" dirty="0">
                <a:latin typeface="Times New Roman"/>
                <a:cs typeface="Times New Roman"/>
              </a:rPr>
              <a:t> </a:t>
            </a:r>
            <a:r>
              <a:rPr sz="2550" i="1" spc="265" dirty="0">
                <a:latin typeface="宋体"/>
                <a:cs typeface="宋体"/>
              </a:rPr>
              <a:t>ECF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0311" y="5731764"/>
            <a:ext cx="8933688" cy="972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17541" y="1558289"/>
            <a:ext cx="2158365" cy="721360"/>
          </a:xfrm>
          <a:custGeom>
            <a:avLst/>
            <a:gdLst/>
            <a:ahLst/>
            <a:cxnLst/>
            <a:rect l="l" t="t" r="r" b="b"/>
            <a:pathLst>
              <a:path w="2158365" h="721360">
                <a:moveTo>
                  <a:pt x="0" y="720851"/>
                </a:moveTo>
                <a:lnTo>
                  <a:pt x="2157984" y="720851"/>
                </a:lnTo>
                <a:lnTo>
                  <a:pt x="2157984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36714" y="1590294"/>
            <a:ext cx="1656714" cy="721360"/>
          </a:xfrm>
          <a:custGeom>
            <a:avLst/>
            <a:gdLst/>
            <a:ahLst/>
            <a:cxnLst/>
            <a:rect l="l" t="t" r="r" b="b"/>
            <a:pathLst>
              <a:path w="1656715" h="721360">
                <a:moveTo>
                  <a:pt x="0" y="720851"/>
                </a:moveTo>
                <a:lnTo>
                  <a:pt x="1656587" y="720851"/>
                </a:lnTo>
                <a:lnTo>
                  <a:pt x="1656587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01289" y="5970270"/>
            <a:ext cx="829310" cy="268605"/>
          </a:xfrm>
          <a:custGeom>
            <a:avLst/>
            <a:gdLst/>
            <a:ahLst/>
            <a:cxnLst/>
            <a:rect l="l" t="t" r="r" b="b"/>
            <a:pathLst>
              <a:path w="829310" h="268604">
                <a:moveTo>
                  <a:pt x="0" y="268223"/>
                </a:moveTo>
                <a:lnTo>
                  <a:pt x="829056" y="268223"/>
                </a:lnTo>
                <a:lnTo>
                  <a:pt x="829056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30346" y="5970270"/>
            <a:ext cx="828040" cy="268605"/>
          </a:xfrm>
          <a:custGeom>
            <a:avLst/>
            <a:gdLst/>
            <a:ahLst/>
            <a:cxnLst/>
            <a:rect l="l" t="t" r="r" b="b"/>
            <a:pathLst>
              <a:path w="828039" h="268604">
                <a:moveTo>
                  <a:pt x="0" y="268223"/>
                </a:moveTo>
                <a:lnTo>
                  <a:pt x="827531" y="268223"/>
                </a:lnTo>
                <a:lnTo>
                  <a:pt x="82753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43177" y="6262878"/>
            <a:ext cx="829310" cy="268605"/>
          </a:xfrm>
          <a:custGeom>
            <a:avLst/>
            <a:gdLst/>
            <a:ahLst/>
            <a:cxnLst/>
            <a:rect l="l" t="t" r="r" b="b"/>
            <a:pathLst>
              <a:path w="829310" h="268604">
                <a:moveTo>
                  <a:pt x="0" y="268224"/>
                </a:moveTo>
                <a:lnTo>
                  <a:pt x="829056" y="268224"/>
                </a:lnTo>
                <a:lnTo>
                  <a:pt x="829056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63125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5</a:t>
            </a:r>
            <a:r>
              <a:rPr dirty="0"/>
              <a:t>、计算调整的用例点UCP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0889" y="2394524"/>
            <a:ext cx="6594238" cy="4164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3961892"/>
            <a:ext cx="9036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Narrow"/>
                <a:cs typeface="Arial Narrow"/>
              </a:rPr>
              <a:t>UCP =UUCP</a:t>
            </a:r>
            <a:r>
              <a:rPr sz="3600" dirty="0">
                <a:latin typeface="宋体"/>
                <a:cs typeface="宋体"/>
              </a:rPr>
              <a:t>×</a:t>
            </a:r>
            <a:r>
              <a:rPr sz="3600" dirty="0">
                <a:latin typeface="Arial Narrow"/>
                <a:cs typeface="Arial Narrow"/>
              </a:rPr>
              <a:t>TCF</a:t>
            </a:r>
            <a:r>
              <a:rPr sz="3600" dirty="0">
                <a:latin typeface="宋体"/>
                <a:cs typeface="宋体"/>
              </a:rPr>
              <a:t>×</a:t>
            </a:r>
            <a:r>
              <a:rPr sz="3600" dirty="0">
                <a:latin typeface="Arial Narrow"/>
                <a:cs typeface="Arial Narrow"/>
              </a:rPr>
              <a:t>ECF = </a:t>
            </a:r>
            <a:r>
              <a:rPr sz="3600" spc="-20" dirty="0">
                <a:latin typeface="Arial Narrow"/>
                <a:cs typeface="Arial Narrow"/>
              </a:rPr>
              <a:t>110</a:t>
            </a:r>
            <a:r>
              <a:rPr sz="3600" spc="-20" dirty="0">
                <a:latin typeface="宋体"/>
                <a:cs typeface="宋体"/>
              </a:rPr>
              <a:t>×</a:t>
            </a:r>
            <a:r>
              <a:rPr sz="3600" spc="-20" dirty="0">
                <a:latin typeface="Arial Narrow"/>
                <a:cs typeface="Arial Narrow"/>
              </a:rPr>
              <a:t>1.02</a:t>
            </a:r>
            <a:r>
              <a:rPr sz="3600" spc="-20" dirty="0">
                <a:latin typeface="宋体"/>
                <a:cs typeface="宋体"/>
              </a:rPr>
              <a:t>×</a:t>
            </a:r>
            <a:r>
              <a:rPr sz="3600" spc="-20" dirty="0">
                <a:latin typeface="Arial Narrow"/>
                <a:cs typeface="Arial Narrow"/>
              </a:rPr>
              <a:t>0.785 </a:t>
            </a:r>
            <a:r>
              <a:rPr sz="3600" dirty="0">
                <a:latin typeface="Arial Narrow"/>
                <a:cs typeface="Arial Narrow"/>
              </a:rPr>
              <a:t>=</a:t>
            </a:r>
            <a:r>
              <a:rPr sz="3600" spc="-175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88</a:t>
            </a:r>
            <a:endParaRPr sz="3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20726"/>
            <a:ext cx="36906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10" dirty="0">
                <a:latin typeface="Tw Cen MT"/>
                <a:cs typeface="Tw Cen MT"/>
              </a:rPr>
              <a:t>6</a:t>
            </a:r>
            <a:r>
              <a:rPr i="0" spc="-5" dirty="0">
                <a:latin typeface="华文仿宋"/>
                <a:cs typeface="华文仿宋"/>
              </a:rPr>
              <a:t>、</a:t>
            </a:r>
            <a:r>
              <a:rPr i="0" dirty="0">
                <a:latin typeface="华文仿宋"/>
                <a:cs typeface="华文仿宋"/>
              </a:rPr>
              <a:t>计算工作量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3648583"/>
            <a:ext cx="8736965" cy="166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0" dirty="0">
                <a:latin typeface="华文仿宋"/>
                <a:cs typeface="华文仿宋"/>
              </a:rPr>
              <a:t>如果</a:t>
            </a:r>
            <a:r>
              <a:rPr sz="3200" b="1" dirty="0">
                <a:latin typeface="华文仿宋"/>
                <a:cs typeface="华文仿宋"/>
              </a:rPr>
              <a:t>：</a:t>
            </a:r>
            <a:r>
              <a:rPr sz="3200" b="1" dirty="0">
                <a:latin typeface="Tw Cen MT"/>
                <a:cs typeface="Tw Cen MT"/>
              </a:rPr>
              <a:t>PF</a:t>
            </a:r>
            <a:r>
              <a:rPr sz="3200" b="1" spc="-35" dirty="0">
                <a:latin typeface="Tw Cen MT"/>
                <a:cs typeface="Tw Cen MT"/>
              </a:rPr>
              <a:t> </a:t>
            </a:r>
            <a:r>
              <a:rPr sz="3200" b="1" dirty="0">
                <a:latin typeface="Tw Cen MT"/>
                <a:cs typeface="Tw Cen MT"/>
              </a:rPr>
              <a:t>= 20</a:t>
            </a:r>
            <a:r>
              <a:rPr sz="3200" b="1" spc="10" dirty="0">
                <a:latin typeface="华文仿宋"/>
                <a:cs typeface="华文仿宋"/>
              </a:rPr>
              <a:t>工</a:t>
            </a:r>
            <a:r>
              <a:rPr sz="3200" b="1" dirty="0">
                <a:latin typeface="华文仿宋"/>
                <a:cs typeface="华文仿宋"/>
              </a:rPr>
              <a:t>时</a:t>
            </a:r>
            <a:r>
              <a:rPr sz="3200" b="1" spc="5" dirty="0">
                <a:latin typeface="Tw Cen MT"/>
                <a:cs typeface="Tw Cen MT"/>
              </a:rPr>
              <a:t>/</a:t>
            </a:r>
            <a:r>
              <a:rPr sz="3200" b="1" dirty="0">
                <a:latin typeface="华文仿宋"/>
                <a:cs typeface="华文仿宋"/>
              </a:rPr>
              <a:t>用例点</a:t>
            </a:r>
            <a:endParaRPr sz="32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spc="10" dirty="0">
                <a:latin typeface="华文仿宋"/>
                <a:cs typeface="华文仿宋"/>
              </a:rPr>
              <a:t>则</a:t>
            </a:r>
            <a:r>
              <a:rPr sz="3200" b="1" spc="30" dirty="0">
                <a:latin typeface="华文仿宋"/>
                <a:cs typeface="华文仿宋"/>
              </a:rPr>
              <a:t>：</a:t>
            </a:r>
            <a:r>
              <a:rPr sz="3200" b="1" spc="30" dirty="0">
                <a:latin typeface="Tw Cen MT"/>
                <a:cs typeface="Tw Cen MT"/>
              </a:rPr>
              <a:t>Effort</a:t>
            </a:r>
            <a:r>
              <a:rPr sz="3200" b="1" spc="-45" dirty="0">
                <a:latin typeface="Tw Cen MT"/>
                <a:cs typeface="Tw Cen MT"/>
              </a:rPr>
              <a:t> </a:t>
            </a:r>
            <a:r>
              <a:rPr sz="3200" b="1" dirty="0">
                <a:latin typeface="Tw Cen MT"/>
                <a:cs typeface="Tw Cen MT"/>
              </a:rPr>
              <a:t>=UCP</a:t>
            </a:r>
            <a:r>
              <a:rPr sz="3200" b="1" dirty="0">
                <a:latin typeface="华文仿宋"/>
                <a:cs typeface="华文仿宋"/>
              </a:rPr>
              <a:t>×</a:t>
            </a:r>
            <a:r>
              <a:rPr sz="3200" b="1" dirty="0">
                <a:latin typeface="Tw Cen MT"/>
                <a:cs typeface="Tw Cen MT"/>
              </a:rPr>
              <a:t>PF</a:t>
            </a:r>
            <a:r>
              <a:rPr sz="3200" b="1" spc="-25" dirty="0">
                <a:latin typeface="Tw Cen MT"/>
                <a:cs typeface="Tw Cen MT"/>
              </a:rPr>
              <a:t> </a:t>
            </a:r>
            <a:r>
              <a:rPr sz="3200" b="1" dirty="0">
                <a:latin typeface="Tw Cen MT"/>
                <a:cs typeface="Tw Cen MT"/>
              </a:rPr>
              <a:t>=</a:t>
            </a:r>
            <a:r>
              <a:rPr sz="3200" b="1" spc="-5" dirty="0">
                <a:latin typeface="Tw Cen MT"/>
                <a:cs typeface="Tw Cen MT"/>
              </a:rPr>
              <a:t> </a:t>
            </a:r>
            <a:r>
              <a:rPr sz="3200" b="1" dirty="0">
                <a:latin typeface="Tw Cen MT"/>
                <a:cs typeface="Tw Cen MT"/>
              </a:rPr>
              <a:t>88</a:t>
            </a:r>
            <a:r>
              <a:rPr sz="3200" b="1" dirty="0">
                <a:latin typeface="华文仿宋"/>
                <a:cs typeface="华文仿宋"/>
              </a:rPr>
              <a:t>×</a:t>
            </a:r>
            <a:r>
              <a:rPr sz="3200" b="1" dirty="0">
                <a:latin typeface="Tw Cen MT"/>
                <a:cs typeface="Tw Cen MT"/>
              </a:rPr>
              <a:t>20</a:t>
            </a:r>
            <a:r>
              <a:rPr sz="3200" b="1" spc="-25" dirty="0">
                <a:latin typeface="Tw Cen MT"/>
                <a:cs typeface="Tw Cen MT"/>
              </a:rPr>
              <a:t> </a:t>
            </a:r>
            <a:r>
              <a:rPr sz="3200" b="1" dirty="0">
                <a:latin typeface="Tw Cen MT"/>
                <a:cs typeface="Tw Cen MT"/>
              </a:rPr>
              <a:t>=</a:t>
            </a:r>
            <a:r>
              <a:rPr sz="3200" b="1" spc="-5" dirty="0">
                <a:latin typeface="Tw Cen MT"/>
                <a:cs typeface="Tw Cen MT"/>
              </a:rPr>
              <a:t> </a:t>
            </a:r>
            <a:r>
              <a:rPr sz="3200" b="1" spc="5" dirty="0">
                <a:latin typeface="Tw Cen MT"/>
                <a:cs typeface="Tw Cen MT"/>
              </a:rPr>
              <a:t>1760h=220</a:t>
            </a:r>
            <a:r>
              <a:rPr sz="3200" b="1" dirty="0">
                <a:latin typeface="华文仿宋"/>
                <a:cs typeface="华文仿宋"/>
              </a:rPr>
              <a:t>人天</a:t>
            </a:r>
            <a:endParaRPr sz="3200">
              <a:latin typeface="华文仿宋"/>
              <a:cs typeface="华文仿宋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137" y="2025057"/>
            <a:ext cx="7483019" cy="6016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774698"/>
            <a:ext cx="7772400" cy="4258310"/>
          </a:xfrm>
          <a:custGeom>
            <a:avLst/>
            <a:gdLst/>
            <a:ahLst/>
            <a:cxnLst/>
            <a:rect l="l" t="t" r="r" b="b"/>
            <a:pathLst>
              <a:path w="7772400" h="4258310">
                <a:moveTo>
                  <a:pt x="0" y="4258056"/>
                </a:moveTo>
                <a:lnTo>
                  <a:pt x="7772400" y="4258056"/>
                </a:lnTo>
                <a:lnTo>
                  <a:pt x="7772400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3575558"/>
            <a:ext cx="19050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750" dirty="0">
                <a:solidFill>
                  <a:srgbClr val="DD8046"/>
                </a:solidFill>
                <a:latin typeface="华文新魏"/>
                <a:cs typeface="华文新魏"/>
              </a:rPr>
              <a:t>4.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代码行估算法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功能点估算法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用例点估算法</a:t>
            </a:r>
          </a:p>
          <a:p>
            <a:pPr marL="545465">
              <a:lnSpc>
                <a:spcPct val="100000"/>
              </a:lnSpc>
              <a:spcBef>
                <a:spcPts val="710"/>
              </a:spcBef>
            </a:pPr>
            <a:r>
              <a:rPr dirty="0"/>
              <a:t>类</a:t>
            </a:r>
            <a:r>
              <a:rPr spc="705" dirty="0"/>
              <a:t>比</a:t>
            </a:r>
            <a:r>
              <a:rPr spc="-5" dirty="0"/>
              <a:t>(</a:t>
            </a:r>
            <a:r>
              <a:rPr dirty="0"/>
              <a:t>自顶向</a:t>
            </a:r>
            <a:r>
              <a:rPr spc="-5" dirty="0"/>
              <a:t>下)</a:t>
            </a:r>
            <a:r>
              <a:rPr dirty="0"/>
              <a:t>估算法</a:t>
            </a: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 startAt="5"/>
              <a:tabLst>
                <a:tab pos="545465" algn="l"/>
                <a:tab pos="546100" algn="l"/>
              </a:tabLst>
            </a:pPr>
            <a:r>
              <a:rPr dirty="0"/>
              <a:t>自下而上估算法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5"/>
              <a:tabLst>
                <a:tab pos="545465" algn="l"/>
                <a:tab pos="546100" algn="l"/>
              </a:tabLst>
            </a:pPr>
            <a:r>
              <a:rPr dirty="0"/>
              <a:t>三点估算法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5"/>
              <a:tabLst>
                <a:tab pos="545465" algn="l"/>
                <a:tab pos="546100" algn="l"/>
              </a:tabLst>
            </a:pPr>
            <a:r>
              <a:rPr dirty="0"/>
              <a:t>参数估算法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5"/>
              <a:tabLst>
                <a:tab pos="545465" algn="l"/>
                <a:tab pos="546100" algn="l"/>
              </a:tabLst>
            </a:pPr>
            <a:r>
              <a:rPr dirty="0"/>
              <a:t>专家估算法</a:t>
            </a:r>
          </a:p>
        </p:txBody>
      </p:sp>
      <p:sp>
        <p:nvSpPr>
          <p:cNvPr id="8" name="object 8"/>
          <p:cNvSpPr/>
          <p:nvPr/>
        </p:nvSpPr>
        <p:spPr>
          <a:xfrm>
            <a:off x="537972" y="3500628"/>
            <a:ext cx="577596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565" y="377189"/>
            <a:ext cx="70523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传统估算方</a:t>
            </a:r>
            <a:r>
              <a:rPr spc="-10" dirty="0"/>
              <a:t>法</a:t>
            </a:r>
            <a:r>
              <a:rPr dirty="0"/>
              <a:t>-类比估</a:t>
            </a:r>
            <a:r>
              <a:rPr spc="-5" dirty="0"/>
              <a:t>算</a:t>
            </a:r>
            <a:r>
              <a:rPr dirty="0"/>
              <a:t>-定义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204" y="1556003"/>
            <a:ext cx="9036050" cy="2018030"/>
          </a:xfrm>
          <a:prstGeom prst="rect">
            <a:avLst/>
          </a:prstGeom>
          <a:ln w="9144">
            <a:solidFill>
              <a:srgbClr val="555A3B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0805" marR="92710">
              <a:lnSpc>
                <a:spcPct val="100000"/>
              </a:lnSpc>
              <a:spcBef>
                <a:spcPts val="135"/>
              </a:spcBef>
            </a:pP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估算人员根据以往的完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成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类似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项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目所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消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耗的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总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成本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（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或 工作量），来推算将要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开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发的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软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件的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总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成本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（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或工作 量）。</a:t>
            </a:r>
            <a:endParaRPr sz="2900">
              <a:latin typeface="华文新魏"/>
              <a:cs typeface="华文新魏"/>
            </a:endParaRPr>
          </a:p>
          <a:p>
            <a:pPr marL="90805">
              <a:lnSpc>
                <a:spcPct val="100000"/>
              </a:lnSpc>
              <a:spcBef>
                <a:spcPts val="700"/>
              </a:spcBef>
            </a:pP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是一种自上而下的估算</a:t>
            </a:r>
            <a:r>
              <a:rPr sz="2900" spc="-15" dirty="0">
                <a:solidFill>
                  <a:srgbClr val="7A3C17"/>
                </a:solidFill>
                <a:latin typeface="华文新魏"/>
                <a:cs typeface="华文新魏"/>
              </a:rPr>
              <a:t>形</a:t>
            </a:r>
            <a:r>
              <a:rPr sz="2900" dirty="0">
                <a:solidFill>
                  <a:srgbClr val="7A3C17"/>
                </a:solidFill>
                <a:latin typeface="华文新魏"/>
                <a:cs typeface="华文新魏"/>
              </a:rPr>
              <a:t>式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16779" y="3717035"/>
            <a:ext cx="3332987" cy="2503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17541" y="3717797"/>
            <a:ext cx="3324225" cy="1251585"/>
          </a:xfrm>
          <a:custGeom>
            <a:avLst/>
            <a:gdLst/>
            <a:ahLst/>
            <a:cxnLst/>
            <a:rect l="l" t="t" r="r" b="b"/>
            <a:pathLst>
              <a:path w="3324225" h="1251585">
                <a:moveTo>
                  <a:pt x="0" y="1251203"/>
                </a:moveTo>
                <a:lnTo>
                  <a:pt x="3323844" y="1251203"/>
                </a:lnTo>
                <a:lnTo>
                  <a:pt x="3323844" y="0"/>
                </a:lnTo>
                <a:lnTo>
                  <a:pt x="0" y="0"/>
                </a:lnTo>
                <a:lnTo>
                  <a:pt x="0" y="1251203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25161" y="4969002"/>
            <a:ext cx="3325495" cy="1252855"/>
          </a:xfrm>
          <a:custGeom>
            <a:avLst/>
            <a:gdLst/>
            <a:ahLst/>
            <a:cxnLst/>
            <a:rect l="l" t="t" r="r" b="b"/>
            <a:pathLst>
              <a:path w="3325495" h="1252854">
                <a:moveTo>
                  <a:pt x="0" y="1252728"/>
                </a:moveTo>
                <a:lnTo>
                  <a:pt x="3325367" y="1252728"/>
                </a:lnTo>
                <a:lnTo>
                  <a:pt x="3325367" y="0"/>
                </a:lnTo>
                <a:lnTo>
                  <a:pt x="0" y="0"/>
                </a:lnTo>
                <a:lnTo>
                  <a:pt x="0" y="125272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77189"/>
            <a:ext cx="5060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类比估</a:t>
            </a:r>
            <a:r>
              <a:rPr spc="-5" dirty="0"/>
              <a:t>算</a:t>
            </a:r>
            <a:r>
              <a:rPr dirty="0"/>
              <a:t>—使用情况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2061210"/>
            <a:ext cx="7772400" cy="187960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1480" algn="l"/>
              </a:tabLst>
            </a:pPr>
            <a:r>
              <a:rPr sz="2900" spc="5" dirty="0">
                <a:latin typeface="华文新魏"/>
                <a:cs typeface="华文新魏"/>
              </a:rPr>
              <a:t>有类似的历史项目数据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信息不足（例如市场招</a:t>
            </a:r>
            <a:r>
              <a:rPr sz="2900" spc="-10" dirty="0">
                <a:latin typeface="华文新魏"/>
                <a:cs typeface="华文新魏"/>
              </a:rPr>
              <a:t>标</a:t>
            </a:r>
            <a:r>
              <a:rPr sz="2900" dirty="0">
                <a:latin typeface="华文新魏"/>
                <a:cs typeface="华文新魏"/>
              </a:rPr>
              <a:t>）的</a:t>
            </a:r>
            <a:r>
              <a:rPr sz="2900" spc="-10" dirty="0">
                <a:latin typeface="华文新魏"/>
                <a:cs typeface="华文新魏"/>
              </a:rPr>
              <a:t>时</a:t>
            </a:r>
            <a:r>
              <a:rPr sz="2900" dirty="0">
                <a:latin typeface="华文新魏"/>
                <a:cs typeface="华文新魏"/>
              </a:rPr>
              <a:t>候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1480" algn="l"/>
              </a:tabLst>
            </a:pPr>
            <a:r>
              <a:rPr sz="2900" spc="5" dirty="0">
                <a:latin typeface="华文新魏"/>
                <a:cs typeface="华文新魏"/>
              </a:rPr>
              <a:t>要求不是非常精确估算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spc="5" dirty="0">
                <a:latin typeface="华文新魏"/>
                <a:cs typeface="华文新魏"/>
              </a:rPr>
              <a:t>时候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5060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类比估算—理论举例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681" y="1291252"/>
            <a:ext cx="140335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b="1" dirty="0">
                <a:latin typeface="Arial Narrow"/>
                <a:cs typeface="Arial Narrow"/>
              </a:rPr>
              <a:t>55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543" y="1196294"/>
            <a:ext cx="8706338" cy="49181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6330" y="1774698"/>
            <a:ext cx="7200900" cy="1367155"/>
          </a:xfrm>
          <a:custGeom>
            <a:avLst/>
            <a:gdLst/>
            <a:ahLst/>
            <a:cxnLst/>
            <a:rect l="l" t="t" r="r" b="b"/>
            <a:pathLst>
              <a:path w="7200900" h="1367155">
                <a:moveTo>
                  <a:pt x="0" y="1367027"/>
                </a:moveTo>
                <a:lnTo>
                  <a:pt x="7200900" y="1367027"/>
                </a:lnTo>
                <a:lnTo>
                  <a:pt x="7200900" y="0"/>
                </a:lnTo>
                <a:lnTo>
                  <a:pt x="0" y="0"/>
                </a:lnTo>
                <a:lnTo>
                  <a:pt x="0" y="136702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0258" y="3501390"/>
            <a:ext cx="3888104" cy="2376170"/>
          </a:xfrm>
          <a:custGeom>
            <a:avLst/>
            <a:gdLst/>
            <a:ahLst/>
            <a:cxnLst/>
            <a:rect l="l" t="t" r="r" b="b"/>
            <a:pathLst>
              <a:path w="3888104" h="2376170">
                <a:moveTo>
                  <a:pt x="0" y="2375916"/>
                </a:moveTo>
                <a:lnTo>
                  <a:pt x="3887724" y="2375916"/>
                </a:lnTo>
                <a:lnTo>
                  <a:pt x="3887724" y="0"/>
                </a:lnTo>
                <a:lnTo>
                  <a:pt x="0" y="0"/>
                </a:lnTo>
                <a:lnTo>
                  <a:pt x="0" y="237591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27982" y="3536441"/>
            <a:ext cx="3889375" cy="2376170"/>
          </a:xfrm>
          <a:custGeom>
            <a:avLst/>
            <a:gdLst/>
            <a:ahLst/>
            <a:cxnLst/>
            <a:rect l="l" t="t" r="r" b="b"/>
            <a:pathLst>
              <a:path w="3889375" h="2376170">
                <a:moveTo>
                  <a:pt x="0" y="2375916"/>
                </a:moveTo>
                <a:lnTo>
                  <a:pt x="3889248" y="2375916"/>
                </a:lnTo>
                <a:lnTo>
                  <a:pt x="3889248" y="0"/>
                </a:lnTo>
                <a:lnTo>
                  <a:pt x="0" y="0"/>
                </a:lnTo>
                <a:lnTo>
                  <a:pt x="0" y="237591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75526" y="2411729"/>
            <a:ext cx="1010919" cy="208915"/>
          </a:xfrm>
          <a:custGeom>
            <a:avLst/>
            <a:gdLst/>
            <a:ahLst/>
            <a:cxnLst/>
            <a:rect l="l" t="t" r="r" b="b"/>
            <a:pathLst>
              <a:path w="1010920" h="208914">
                <a:moveTo>
                  <a:pt x="0" y="208787"/>
                </a:moveTo>
                <a:lnTo>
                  <a:pt x="1010412" y="208787"/>
                </a:lnTo>
                <a:lnTo>
                  <a:pt x="1010412" y="0"/>
                </a:lnTo>
                <a:lnTo>
                  <a:pt x="0" y="0"/>
                </a:lnTo>
                <a:lnTo>
                  <a:pt x="0" y="20878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83145" y="2718054"/>
            <a:ext cx="1007744" cy="207645"/>
          </a:xfrm>
          <a:custGeom>
            <a:avLst/>
            <a:gdLst/>
            <a:ahLst/>
            <a:cxnLst/>
            <a:rect l="l" t="t" r="r" b="b"/>
            <a:pathLst>
              <a:path w="1007745" h="207644">
                <a:moveTo>
                  <a:pt x="0" y="207263"/>
                </a:moveTo>
                <a:lnTo>
                  <a:pt x="1007363" y="207263"/>
                </a:lnTo>
                <a:lnTo>
                  <a:pt x="1007363" y="0"/>
                </a:lnTo>
                <a:lnTo>
                  <a:pt x="0" y="0"/>
                </a:lnTo>
                <a:lnTo>
                  <a:pt x="0" y="207263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83145" y="2411729"/>
            <a:ext cx="1007744" cy="513715"/>
          </a:xfrm>
          <a:custGeom>
            <a:avLst/>
            <a:gdLst/>
            <a:ahLst/>
            <a:cxnLst/>
            <a:rect l="l" t="t" r="r" b="b"/>
            <a:pathLst>
              <a:path w="1007745" h="513714">
                <a:moveTo>
                  <a:pt x="0" y="513588"/>
                </a:moveTo>
                <a:lnTo>
                  <a:pt x="1007363" y="513588"/>
                </a:lnTo>
                <a:lnTo>
                  <a:pt x="1007363" y="0"/>
                </a:lnTo>
                <a:lnTo>
                  <a:pt x="0" y="0"/>
                </a:lnTo>
                <a:lnTo>
                  <a:pt x="0" y="51358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05257"/>
            <a:ext cx="6178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类比估</a:t>
            </a:r>
            <a:r>
              <a:rPr dirty="0"/>
              <a:t>算—主观判断举例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692" y="1507727"/>
            <a:ext cx="3539490" cy="257683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3600" u="sng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证券交易网站</a:t>
            </a:r>
            <a:endParaRPr sz="36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332740" algn="l"/>
              </a:tabLst>
            </a:pPr>
            <a:r>
              <a:rPr sz="3600" spc="-5" dirty="0">
                <a:latin typeface="华文新魏"/>
                <a:cs typeface="华文新魏"/>
              </a:rPr>
              <a:t>需求类似</a:t>
            </a:r>
            <a:endParaRPr sz="36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332740" algn="l"/>
              </a:tabLst>
            </a:pPr>
            <a:r>
              <a:rPr sz="3600" dirty="0">
                <a:latin typeface="华文新魏"/>
                <a:cs typeface="华文新魏"/>
              </a:rPr>
              <a:t>历史数据：</a:t>
            </a:r>
            <a:r>
              <a:rPr sz="3600" spc="-5" dirty="0">
                <a:latin typeface="华文新魏"/>
                <a:cs typeface="华文新魏"/>
              </a:rPr>
              <a:t>10</a:t>
            </a:r>
            <a:r>
              <a:rPr sz="3600" dirty="0">
                <a:latin typeface="华文新魏"/>
                <a:cs typeface="华文新魏"/>
              </a:rPr>
              <a:t>万</a:t>
            </a:r>
            <a:endParaRPr sz="36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332740" algn="l"/>
              </a:tabLst>
            </a:pPr>
            <a:r>
              <a:rPr sz="3600" spc="-5" dirty="0">
                <a:latin typeface="华文新魏"/>
                <a:cs typeface="华文新魏"/>
              </a:rPr>
              <a:t>类比估算</a:t>
            </a:r>
            <a:r>
              <a:rPr sz="3600" dirty="0">
                <a:latin typeface="华文新魏"/>
                <a:cs typeface="华文新魏"/>
              </a:rPr>
              <a:t>：</a:t>
            </a:r>
            <a:r>
              <a:rPr sz="3600" spc="-10" dirty="0">
                <a:latin typeface="华文新魏"/>
                <a:cs typeface="华文新魏"/>
              </a:rPr>
              <a:t>1</a:t>
            </a:r>
            <a:r>
              <a:rPr sz="3600" spc="-5" dirty="0">
                <a:latin typeface="华文新魏"/>
                <a:cs typeface="华文新魏"/>
              </a:rPr>
              <a:t>0</a:t>
            </a:r>
            <a:r>
              <a:rPr sz="3600" dirty="0">
                <a:latin typeface="华文新魏"/>
                <a:cs typeface="华文新魏"/>
              </a:rPr>
              <a:t>万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774698"/>
            <a:ext cx="7772400" cy="4258310"/>
          </a:xfrm>
          <a:custGeom>
            <a:avLst/>
            <a:gdLst/>
            <a:ahLst/>
            <a:cxnLst/>
            <a:rect l="l" t="t" r="r" b="b"/>
            <a:pathLst>
              <a:path w="7772400" h="4258310">
                <a:moveTo>
                  <a:pt x="0" y="4258056"/>
                </a:moveTo>
                <a:lnTo>
                  <a:pt x="7772400" y="4258056"/>
                </a:lnTo>
                <a:lnTo>
                  <a:pt x="7772400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4105909"/>
            <a:ext cx="19050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750" dirty="0">
                <a:solidFill>
                  <a:srgbClr val="DD8046"/>
                </a:solidFill>
                <a:latin typeface="华文新魏"/>
                <a:cs typeface="华文新魏"/>
              </a:rPr>
              <a:t>5.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代码行估算法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功能点估算法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用例点估算法</a:t>
            </a:r>
          </a:p>
          <a:p>
            <a:pPr marL="545465" marR="5080" indent="-533400">
              <a:lnSpc>
                <a:spcPct val="120000"/>
              </a:lnSpc>
              <a:spcBef>
                <a:spcPts val="1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类</a:t>
            </a:r>
            <a:r>
              <a:rPr spc="705" dirty="0"/>
              <a:t>比</a:t>
            </a:r>
            <a:r>
              <a:rPr spc="-5" dirty="0"/>
              <a:t>(</a:t>
            </a:r>
            <a:r>
              <a:rPr dirty="0"/>
              <a:t>自顶向</a:t>
            </a:r>
            <a:r>
              <a:rPr spc="-5" dirty="0"/>
              <a:t>下)</a:t>
            </a:r>
            <a:r>
              <a:rPr dirty="0"/>
              <a:t>估算法 自下而上估算法</a:t>
            </a: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 startAt="6"/>
              <a:tabLst>
                <a:tab pos="545465" algn="l"/>
                <a:tab pos="546100" algn="l"/>
              </a:tabLst>
            </a:pPr>
            <a:r>
              <a:rPr dirty="0"/>
              <a:t>三点估算法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 startAt="6"/>
              <a:tabLst>
                <a:tab pos="545465" algn="l"/>
                <a:tab pos="546100" algn="l"/>
              </a:tabLst>
            </a:pPr>
            <a:r>
              <a:rPr dirty="0"/>
              <a:t>参数估算法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6"/>
              <a:tabLst>
                <a:tab pos="545465" algn="l"/>
                <a:tab pos="546100" algn="l"/>
              </a:tabLst>
            </a:pPr>
            <a:r>
              <a:rPr dirty="0"/>
              <a:t>专家估算法</a:t>
            </a:r>
          </a:p>
        </p:txBody>
      </p:sp>
      <p:sp>
        <p:nvSpPr>
          <p:cNvPr id="8" name="object 8"/>
          <p:cNvSpPr/>
          <p:nvPr/>
        </p:nvSpPr>
        <p:spPr>
          <a:xfrm>
            <a:off x="499872" y="4005071"/>
            <a:ext cx="577596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5817" y="457"/>
            <a:ext cx="4972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自下而上估</a:t>
            </a:r>
            <a:r>
              <a:rPr spc="5" dirty="0"/>
              <a:t>算</a:t>
            </a:r>
            <a:r>
              <a:rPr dirty="0"/>
              <a:t>---定义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381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5965" y="6332739"/>
            <a:ext cx="3733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dirty="0">
                <a:latin typeface="Arial Narrow"/>
                <a:cs typeface="Arial Narrow"/>
              </a:rPr>
              <a:t>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59935" y="2218944"/>
            <a:ext cx="1751330" cy="334010"/>
          </a:xfrm>
          <a:custGeom>
            <a:avLst/>
            <a:gdLst/>
            <a:ahLst/>
            <a:cxnLst/>
            <a:rect l="l" t="t" r="r" b="b"/>
            <a:pathLst>
              <a:path w="1751329" h="334010">
                <a:moveTo>
                  <a:pt x="0" y="333755"/>
                </a:moveTo>
                <a:lnTo>
                  <a:pt x="1751076" y="333755"/>
                </a:lnTo>
                <a:lnTo>
                  <a:pt x="1751076" y="0"/>
                </a:lnTo>
                <a:lnTo>
                  <a:pt x="0" y="0"/>
                </a:lnTo>
                <a:lnTo>
                  <a:pt x="0" y="333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-4572" y="1502663"/>
          <a:ext cx="8946515" cy="11528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708">
                <a:tc gridSpan="3">
                  <a:txBody>
                    <a:bodyPr/>
                    <a:lstStyle/>
                    <a:p>
                      <a:pPr marL="83185" marR="370840">
                        <a:lnSpc>
                          <a:spcPts val="3130"/>
                        </a:lnSpc>
                        <a:spcBef>
                          <a:spcPts val="204"/>
                        </a:spcBef>
                      </a:pPr>
                      <a:r>
                        <a:rPr sz="2900" spc="-5" dirty="0">
                          <a:latin typeface="华文新魏"/>
                          <a:cs typeface="华文新魏"/>
                        </a:rPr>
                        <a:t>利用任务分解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图(WBS)</a:t>
                      </a:r>
                      <a:r>
                        <a:rPr sz="2900" spc="-20" dirty="0">
                          <a:latin typeface="华文新魏"/>
                          <a:cs typeface="华文新魏"/>
                        </a:rPr>
                        <a:t>,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对各个</a:t>
                      </a:r>
                      <a:r>
                        <a:rPr sz="2900" spc="-10" dirty="0">
                          <a:latin typeface="华文新魏"/>
                          <a:cs typeface="华文新魏"/>
                        </a:rPr>
                        <a:t>具</a:t>
                      </a:r>
                      <a:r>
                        <a:rPr sz="2900" spc="-15" dirty="0">
                          <a:latin typeface="华文新魏"/>
                          <a:cs typeface="华文新魏"/>
                        </a:rPr>
                        <a:t>体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工作</a:t>
                      </a:r>
                      <a:r>
                        <a:rPr sz="2900" spc="-25" dirty="0">
                          <a:latin typeface="华文新魏"/>
                          <a:cs typeface="华文新魏"/>
                        </a:rPr>
                        <a:t>包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进行</a:t>
                      </a:r>
                      <a:r>
                        <a:rPr sz="2900" spc="-25" dirty="0">
                          <a:latin typeface="华文新魏"/>
                          <a:cs typeface="华文新魏"/>
                        </a:rPr>
                        <a:t>详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细的 成本估算,然后将结果</a:t>
                      </a:r>
                      <a:r>
                        <a:rPr sz="2900" spc="-15" dirty="0">
                          <a:latin typeface="华文新魏"/>
                          <a:cs typeface="华文新魏"/>
                        </a:rPr>
                        <a:t>累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加起</a:t>
                      </a:r>
                      <a:r>
                        <a:rPr sz="2900" spc="-15" dirty="0">
                          <a:latin typeface="华文新魏"/>
                          <a:cs typeface="华文新魏"/>
                        </a:rPr>
                        <a:t>来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得出</a:t>
                      </a:r>
                      <a:r>
                        <a:rPr sz="2900" spc="-15" dirty="0">
                          <a:latin typeface="华文新魏"/>
                          <a:cs typeface="华文新魏"/>
                        </a:rPr>
                        <a:t>项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目总</a:t>
                      </a:r>
                      <a:r>
                        <a:rPr sz="2900" spc="-15" dirty="0">
                          <a:latin typeface="华文新魏"/>
                          <a:cs typeface="华文新魏"/>
                        </a:rPr>
                        <a:t>成</a:t>
                      </a:r>
                      <a:r>
                        <a:rPr sz="2900" dirty="0">
                          <a:latin typeface="华文新魏"/>
                          <a:cs typeface="华文新魏"/>
                        </a:rPr>
                        <a:t>本。</a:t>
                      </a:r>
                      <a:endParaRPr sz="2900">
                        <a:latin typeface="华文新魏"/>
                        <a:cs typeface="华文新魏"/>
                      </a:endParaRPr>
                    </a:p>
                  </a:txBody>
                  <a:tcPr marL="0" marR="0" marT="26034" marB="0">
                    <a:lnR w="9525">
                      <a:solidFill>
                        <a:srgbClr val="555A3B"/>
                      </a:solidFill>
                      <a:prstDash val="solid"/>
                    </a:lnR>
                    <a:lnT w="9525">
                      <a:solidFill>
                        <a:srgbClr val="555A3B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555A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dirty="0">
                          <a:latin typeface="宋体"/>
                          <a:cs typeface="宋体"/>
                        </a:rPr>
                        <a:t>变化计数器”系统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555A3B"/>
                      </a:solidFill>
                      <a:prstDash val="solid"/>
                    </a:lnR>
                    <a:lnB w="9525">
                      <a:solidFill>
                        <a:srgbClr val="555A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607819" y="3108960"/>
            <a:ext cx="7181215" cy="0"/>
          </a:xfrm>
          <a:custGeom>
            <a:avLst/>
            <a:gdLst/>
            <a:ahLst/>
            <a:cxnLst/>
            <a:rect l="l" t="t" r="r" b="b"/>
            <a:pathLst>
              <a:path w="7181215">
                <a:moveTo>
                  <a:pt x="0" y="0"/>
                </a:moveTo>
                <a:lnTo>
                  <a:pt x="718108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8135" y="2552700"/>
            <a:ext cx="76200" cy="556260"/>
          </a:xfrm>
          <a:custGeom>
            <a:avLst/>
            <a:gdLst/>
            <a:ahLst/>
            <a:cxnLst/>
            <a:rect l="l" t="t" r="r" b="b"/>
            <a:pathLst>
              <a:path w="76200" h="556260">
                <a:moveTo>
                  <a:pt x="31750" y="480060"/>
                </a:moveTo>
                <a:lnTo>
                  <a:pt x="0" y="480060"/>
                </a:lnTo>
                <a:lnTo>
                  <a:pt x="38100" y="556260"/>
                </a:lnTo>
                <a:lnTo>
                  <a:pt x="69850" y="492760"/>
                </a:lnTo>
                <a:lnTo>
                  <a:pt x="31750" y="492760"/>
                </a:lnTo>
                <a:lnTo>
                  <a:pt x="31750" y="480060"/>
                </a:lnTo>
                <a:close/>
              </a:path>
              <a:path w="76200" h="556260">
                <a:moveTo>
                  <a:pt x="44450" y="0"/>
                </a:moveTo>
                <a:lnTo>
                  <a:pt x="31750" y="0"/>
                </a:lnTo>
                <a:lnTo>
                  <a:pt x="31750" y="492760"/>
                </a:lnTo>
                <a:lnTo>
                  <a:pt x="44450" y="492760"/>
                </a:lnTo>
                <a:lnTo>
                  <a:pt x="44450" y="0"/>
                </a:lnTo>
                <a:close/>
              </a:path>
              <a:path w="76200" h="556260">
                <a:moveTo>
                  <a:pt x="76200" y="480060"/>
                </a:moveTo>
                <a:lnTo>
                  <a:pt x="44450" y="480060"/>
                </a:lnTo>
                <a:lnTo>
                  <a:pt x="44450" y="492760"/>
                </a:lnTo>
                <a:lnTo>
                  <a:pt x="69850" y="492760"/>
                </a:lnTo>
                <a:lnTo>
                  <a:pt x="76200" y="480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45535" y="3108960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7"/>
                </a:moveTo>
                <a:lnTo>
                  <a:pt x="0" y="368807"/>
                </a:lnTo>
                <a:lnTo>
                  <a:pt x="38100" y="445007"/>
                </a:lnTo>
                <a:lnTo>
                  <a:pt x="69850" y="381507"/>
                </a:lnTo>
                <a:lnTo>
                  <a:pt x="31750" y="381507"/>
                </a:lnTo>
                <a:lnTo>
                  <a:pt x="31750" y="368807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7"/>
                </a:lnTo>
                <a:lnTo>
                  <a:pt x="44450" y="381507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7"/>
                </a:moveTo>
                <a:lnTo>
                  <a:pt x="44450" y="368807"/>
                </a:lnTo>
                <a:lnTo>
                  <a:pt x="44450" y="381507"/>
                </a:lnTo>
                <a:lnTo>
                  <a:pt x="69850" y="381507"/>
                </a:lnTo>
                <a:lnTo>
                  <a:pt x="76200" y="368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69719" y="3108960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7"/>
                </a:moveTo>
                <a:lnTo>
                  <a:pt x="0" y="368807"/>
                </a:lnTo>
                <a:lnTo>
                  <a:pt x="38100" y="445007"/>
                </a:lnTo>
                <a:lnTo>
                  <a:pt x="69850" y="381507"/>
                </a:lnTo>
                <a:lnTo>
                  <a:pt x="31750" y="381507"/>
                </a:lnTo>
                <a:lnTo>
                  <a:pt x="31750" y="368807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7"/>
                </a:lnTo>
                <a:lnTo>
                  <a:pt x="44450" y="381507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7"/>
                </a:moveTo>
                <a:lnTo>
                  <a:pt x="44450" y="368807"/>
                </a:lnTo>
                <a:lnTo>
                  <a:pt x="44450" y="381507"/>
                </a:lnTo>
                <a:lnTo>
                  <a:pt x="69850" y="381507"/>
                </a:lnTo>
                <a:lnTo>
                  <a:pt x="76200" y="368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97652" y="3108960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7"/>
                </a:moveTo>
                <a:lnTo>
                  <a:pt x="0" y="368807"/>
                </a:lnTo>
                <a:lnTo>
                  <a:pt x="38100" y="445007"/>
                </a:lnTo>
                <a:lnTo>
                  <a:pt x="69850" y="381507"/>
                </a:lnTo>
                <a:lnTo>
                  <a:pt x="31750" y="381507"/>
                </a:lnTo>
                <a:lnTo>
                  <a:pt x="31750" y="368807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7"/>
                </a:lnTo>
                <a:lnTo>
                  <a:pt x="44450" y="381507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7"/>
                </a:moveTo>
                <a:lnTo>
                  <a:pt x="44450" y="368807"/>
                </a:lnTo>
                <a:lnTo>
                  <a:pt x="44450" y="381507"/>
                </a:lnTo>
                <a:lnTo>
                  <a:pt x="69850" y="381507"/>
                </a:lnTo>
                <a:lnTo>
                  <a:pt x="76200" y="368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50807" y="3108960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7"/>
                </a:moveTo>
                <a:lnTo>
                  <a:pt x="0" y="368807"/>
                </a:lnTo>
                <a:lnTo>
                  <a:pt x="38100" y="445007"/>
                </a:lnTo>
                <a:lnTo>
                  <a:pt x="69850" y="381507"/>
                </a:lnTo>
                <a:lnTo>
                  <a:pt x="31750" y="381507"/>
                </a:lnTo>
                <a:lnTo>
                  <a:pt x="31750" y="368807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7"/>
                </a:lnTo>
                <a:lnTo>
                  <a:pt x="44450" y="381507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7"/>
                </a:moveTo>
                <a:lnTo>
                  <a:pt x="44450" y="368807"/>
                </a:lnTo>
                <a:lnTo>
                  <a:pt x="44450" y="381507"/>
                </a:lnTo>
                <a:lnTo>
                  <a:pt x="69850" y="381507"/>
                </a:lnTo>
                <a:lnTo>
                  <a:pt x="76200" y="368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57300" y="5701284"/>
            <a:ext cx="525780" cy="11125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0805" marR="223520" algn="just">
              <a:lnSpc>
                <a:spcPct val="98400"/>
              </a:lnSpc>
              <a:spcBef>
                <a:spcPts val="459"/>
              </a:spcBef>
            </a:pPr>
            <a:r>
              <a:rPr sz="1600" spc="-5" dirty="0">
                <a:latin typeface="宋体"/>
                <a:cs typeface="宋体"/>
              </a:rPr>
              <a:t>文 件 比 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1000" y="5701284"/>
            <a:ext cx="525780" cy="1112520"/>
          </a:xfrm>
          <a:custGeom>
            <a:avLst/>
            <a:gdLst/>
            <a:ahLst/>
            <a:cxnLst/>
            <a:rect l="l" t="t" r="r" b="b"/>
            <a:pathLst>
              <a:path w="525780" h="1112520">
                <a:moveTo>
                  <a:pt x="0" y="1112519"/>
                </a:moveTo>
                <a:lnTo>
                  <a:pt x="525780" y="1112519"/>
                </a:lnTo>
                <a:lnTo>
                  <a:pt x="525780" y="0"/>
                </a:lnTo>
                <a:lnTo>
                  <a:pt x="0" y="0"/>
                </a:lnTo>
                <a:lnTo>
                  <a:pt x="0" y="11125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9740" y="5744057"/>
            <a:ext cx="254635" cy="836294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97800"/>
              </a:lnSpc>
              <a:spcBef>
                <a:spcPts val="145"/>
              </a:spcBef>
            </a:pPr>
            <a:r>
              <a:rPr sz="1800" dirty="0">
                <a:latin typeface="宋体"/>
                <a:cs typeface="宋体"/>
              </a:rPr>
              <a:t>预 处 理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3116" y="5701284"/>
            <a:ext cx="525780" cy="11125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2075" marR="222250" algn="just">
              <a:lnSpc>
                <a:spcPct val="98400"/>
              </a:lnSpc>
              <a:spcBef>
                <a:spcPts val="459"/>
              </a:spcBef>
            </a:pPr>
            <a:r>
              <a:rPr sz="1600" spc="-5" dirty="0">
                <a:latin typeface="宋体"/>
                <a:cs typeface="宋体"/>
              </a:rPr>
              <a:t>增 加 代 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32076" y="5701284"/>
            <a:ext cx="525780" cy="11125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2710" marR="222250" algn="just">
              <a:lnSpc>
                <a:spcPct val="98400"/>
              </a:lnSpc>
              <a:spcBef>
                <a:spcPts val="459"/>
              </a:spcBef>
            </a:pPr>
            <a:r>
              <a:rPr sz="1600" spc="-5" dirty="0">
                <a:latin typeface="宋体"/>
                <a:cs typeface="宋体"/>
              </a:rPr>
              <a:t>结 果 处 理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6259" y="5256276"/>
            <a:ext cx="1926589" cy="0"/>
          </a:xfrm>
          <a:custGeom>
            <a:avLst/>
            <a:gdLst/>
            <a:ahLst/>
            <a:cxnLst/>
            <a:rect l="l" t="t" r="r" b="b"/>
            <a:pathLst>
              <a:path w="1926589">
                <a:moveTo>
                  <a:pt x="0" y="0"/>
                </a:moveTo>
                <a:lnTo>
                  <a:pt x="192633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69719" y="4590288"/>
            <a:ext cx="76200" cy="666115"/>
          </a:xfrm>
          <a:custGeom>
            <a:avLst/>
            <a:gdLst/>
            <a:ahLst/>
            <a:cxnLst/>
            <a:rect l="l" t="t" r="r" b="b"/>
            <a:pathLst>
              <a:path w="76200" h="666114">
                <a:moveTo>
                  <a:pt x="31750" y="589788"/>
                </a:moveTo>
                <a:lnTo>
                  <a:pt x="0" y="589788"/>
                </a:lnTo>
                <a:lnTo>
                  <a:pt x="38100" y="665988"/>
                </a:lnTo>
                <a:lnTo>
                  <a:pt x="69850" y="602488"/>
                </a:lnTo>
                <a:lnTo>
                  <a:pt x="31750" y="602488"/>
                </a:lnTo>
                <a:lnTo>
                  <a:pt x="31750" y="589788"/>
                </a:lnTo>
                <a:close/>
              </a:path>
              <a:path w="76200" h="666114">
                <a:moveTo>
                  <a:pt x="44450" y="0"/>
                </a:moveTo>
                <a:lnTo>
                  <a:pt x="31750" y="0"/>
                </a:lnTo>
                <a:lnTo>
                  <a:pt x="31750" y="602488"/>
                </a:lnTo>
                <a:lnTo>
                  <a:pt x="44450" y="602488"/>
                </a:lnTo>
                <a:lnTo>
                  <a:pt x="44450" y="0"/>
                </a:lnTo>
                <a:close/>
              </a:path>
              <a:path w="76200" h="666114">
                <a:moveTo>
                  <a:pt x="76200" y="589788"/>
                </a:moveTo>
                <a:lnTo>
                  <a:pt x="44450" y="589788"/>
                </a:lnTo>
                <a:lnTo>
                  <a:pt x="44450" y="602488"/>
                </a:lnTo>
                <a:lnTo>
                  <a:pt x="69850" y="602488"/>
                </a:lnTo>
                <a:lnTo>
                  <a:pt x="76200" y="589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69719" y="5256276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8"/>
                </a:moveTo>
                <a:lnTo>
                  <a:pt x="0" y="368808"/>
                </a:lnTo>
                <a:lnTo>
                  <a:pt x="38100" y="445008"/>
                </a:lnTo>
                <a:lnTo>
                  <a:pt x="69850" y="381508"/>
                </a:lnTo>
                <a:lnTo>
                  <a:pt x="31750" y="381508"/>
                </a:lnTo>
                <a:lnTo>
                  <a:pt x="31750" y="368808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8"/>
                </a:lnTo>
                <a:lnTo>
                  <a:pt x="44450" y="381508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8"/>
                </a:moveTo>
                <a:lnTo>
                  <a:pt x="44450" y="368808"/>
                </a:lnTo>
                <a:lnTo>
                  <a:pt x="44450" y="381508"/>
                </a:lnTo>
                <a:lnTo>
                  <a:pt x="69850" y="381508"/>
                </a:lnTo>
                <a:lnTo>
                  <a:pt x="76200" y="368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6259" y="5256276"/>
            <a:ext cx="1926589" cy="0"/>
          </a:xfrm>
          <a:custGeom>
            <a:avLst/>
            <a:gdLst/>
            <a:ahLst/>
            <a:cxnLst/>
            <a:rect l="l" t="t" r="r" b="b"/>
            <a:pathLst>
              <a:path w="1926589">
                <a:moveTo>
                  <a:pt x="0" y="0"/>
                </a:moveTo>
                <a:lnTo>
                  <a:pt x="192633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8159" y="5256276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8"/>
                </a:moveTo>
                <a:lnTo>
                  <a:pt x="0" y="368808"/>
                </a:lnTo>
                <a:lnTo>
                  <a:pt x="38100" y="445008"/>
                </a:lnTo>
                <a:lnTo>
                  <a:pt x="69850" y="381508"/>
                </a:lnTo>
                <a:lnTo>
                  <a:pt x="31750" y="381508"/>
                </a:lnTo>
                <a:lnTo>
                  <a:pt x="31750" y="368808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8"/>
                </a:lnTo>
                <a:lnTo>
                  <a:pt x="44450" y="381508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8"/>
                </a:moveTo>
                <a:lnTo>
                  <a:pt x="44450" y="368808"/>
                </a:lnTo>
                <a:lnTo>
                  <a:pt x="44450" y="381508"/>
                </a:lnTo>
                <a:lnTo>
                  <a:pt x="69850" y="381508"/>
                </a:lnTo>
                <a:lnTo>
                  <a:pt x="76200" y="368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44495" y="5256276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8"/>
                </a:moveTo>
                <a:lnTo>
                  <a:pt x="0" y="368808"/>
                </a:lnTo>
                <a:lnTo>
                  <a:pt x="38100" y="445008"/>
                </a:lnTo>
                <a:lnTo>
                  <a:pt x="69850" y="381508"/>
                </a:lnTo>
                <a:lnTo>
                  <a:pt x="31750" y="381508"/>
                </a:lnTo>
                <a:lnTo>
                  <a:pt x="31750" y="368808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8"/>
                </a:lnTo>
                <a:lnTo>
                  <a:pt x="44450" y="381508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8"/>
                </a:moveTo>
                <a:lnTo>
                  <a:pt x="44450" y="368808"/>
                </a:lnTo>
                <a:lnTo>
                  <a:pt x="44450" y="381508"/>
                </a:lnTo>
                <a:lnTo>
                  <a:pt x="69850" y="381508"/>
                </a:lnTo>
                <a:lnTo>
                  <a:pt x="76200" y="368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70276" y="5256276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8"/>
                </a:moveTo>
                <a:lnTo>
                  <a:pt x="0" y="368808"/>
                </a:lnTo>
                <a:lnTo>
                  <a:pt x="38100" y="445008"/>
                </a:lnTo>
                <a:lnTo>
                  <a:pt x="69850" y="381508"/>
                </a:lnTo>
                <a:lnTo>
                  <a:pt x="31750" y="381508"/>
                </a:lnTo>
                <a:lnTo>
                  <a:pt x="31750" y="368808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8"/>
                </a:lnTo>
                <a:lnTo>
                  <a:pt x="44450" y="381508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8"/>
                </a:moveTo>
                <a:lnTo>
                  <a:pt x="44450" y="368808"/>
                </a:lnTo>
                <a:lnTo>
                  <a:pt x="44450" y="381508"/>
                </a:lnTo>
                <a:lnTo>
                  <a:pt x="69850" y="381508"/>
                </a:lnTo>
                <a:lnTo>
                  <a:pt x="76200" y="368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21835" y="5256276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8"/>
                </a:moveTo>
                <a:lnTo>
                  <a:pt x="0" y="368808"/>
                </a:lnTo>
                <a:lnTo>
                  <a:pt x="38100" y="445008"/>
                </a:lnTo>
                <a:lnTo>
                  <a:pt x="69850" y="381508"/>
                </a:lnTo>
                <a:lnTo>
                  <a:pt x="31750" y="381508"/>
                </a:lnTo>
                <a:lnTo>
                  <a:pt x="31750" y="368808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8"/>
                </a:lnTo>
                <a:lnTo>
                  <a:pt x="44450" y="381508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8"/>
                </a:moveTo>
                <a:lnTo>
                  <a:pt x="44450" y="368808"/>
                </a:lnTo>
                <a:lnTo>
                  <a:pt x="44450" y="381508"/>
                </a:lnTo>
                <a:lnTo>
                  <a:pt x="69850" y="381508"/>
                </a:lnTo>
                <a:lnTo>
                  <a:pt x="76200" y="368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08376" y="5256276"/>
            <a:ext cx="1051560" cy="0"/>
          </a:xfrm>
          <a:custGeom>
            <a:avLst/>
            <a:gdLst/>
            <a:ahLst/>
            <a:cxnLst/>
            <a:rect l="l" t="t" r="r" b="b"/>
            <a:pathLst>
              <a:path w="1051560">
                <a:moveTo>
                  <a:pt x="0" y="0"/>
                </a:moveTo>
                <a:lnTo>
                  <a:pt x="105156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5455920" y="3589020"/>
          <a:ext cx="3503928" cy="1112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219">
                <a:tc>
                  <a:txBody>
                    <a:bodyPr/>
                    <a:lstStyle/>
                    <a:p>
                      <a:pPr marL="92710" marR="2222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统 计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 marR="2222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标 记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 marR="221615">
                        <a:lnSpc>
                          <a:spcPts val="1820"/>
                        </a:lnSpc>
                        <a:spcBef>
                          <a:spcPts val="57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记 录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723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300">
                <a:tc>
                  <a:txBody>
                    <a:bodyPr/>
                    <a:lstStyle/>
                    <a:p>
                      <a:pPr marL="92710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总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710">
                        <a:lnSpc>
                          <a:spcPts val="18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修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ts val="18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修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3345">
                        <a:lnSpc>
                          <a:spcPts val="18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4547615" y="3145535"/>
            <a:ext cx="76200" cy="443865"/>
          </a:xfrm>
          <a:custGeom>
            <a:avLst/>
            <a:gdLst/>
            <a:ahLst/>
            <a:cxnLst/>
            <a:rect l="l" t="t" r="r" b="b"/>
            <a:pathLst>
              <a:path w="76200" h="443864">
                <a:moveTo>
                  <a:pt x="31750" y="367284"/>
                </a:moveTo>
                <a:lnTo>
                  <a:pt x="0" y="367284"/>
                </a:lnTo>
                <a:lnTo>
                  <a:pt x="38100" y="443484"/>
                </a:lnTo>
                <a:lnTo>
                  <a:pt x="69850" y="379984"/>
                </a:lnTo>
                <a:lnTo>
                  <a:pt x="31750" y="379984"/>
                </a:lnTo>
                <a:lnTo>
                  <a:pt x="31750" y="367284"/>
                </a:lnTo>
                <a:close/>
              </a:path>
              <a:path w="76200" h="443864">
                <a:moveTo>
                  <a:pt x="44450" y="0"/>
                </a:moveTo>
                <a:lnTo>
                  <a:pt x="31750" y="0"/>
                </a:lnTo>
                <a:lnTo>
                  <a:pt x="31750" y="379984"/>
                </a:lnTo>
                <a:lnTo>
                  <a:pt x="44450" y="379984"/>
                </a:lnTo>
                <a:lnTo>
                  <a:pt x="44450" y="0"/>
                </a:lnTo>
                <a:close/>
              </a:path>
              <a:path w="76200" h="443864">
                <a:moveTo>
                  <a:pt x="76200" y="367284"/>
                </a:moveTo>
                <a:lnTo>
                  <a:pt x="44450" y="367284"/>
                </a:lnTo>
                <a:lnTo>
                  <a:pt x="44450" y="379984"/>
                </a:lnTo>
                <a:lnTo>
                  <a:pt x="69850" y="379984"/>
                </a:lnTo>
                <a:lnTo>
                  <a:pt x="76200" y="367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32560" y="3589020"/>
            <a:ext cx="525780" cy="1112520"/>
          </a:xfrm>
          <a:custGeom>
            <a:avLst/>
            <a:gdLst/>
            <a:ahLst/>
            <a:cxnLst/>
            <a:rect l="l" t="t" r="r" b="b"/>
            <a:pathLst>
              <a:path w="525780" h="1112520">
                <a:moveTo>
                  <a:pt x="0" y="1112519"/>
                </a:moveTo>
                <a:lnTo>
                  <a:pt x="525779" y="1112519"/>
                </a:lnTo>
                <a:lnTo>
                  <a:pt x="525779" y="0"/>
                </a:lnTo>
                <a:lnTo>
                  <a:pt x="0" y="0"/>
                </a:lnTo>
                <a:lnTo>
                  <a:pt x="0" y="11125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32560" y="3589020"/>
            <a:ext cx="525780" cy="1112520"/>
          </a:xfrm>
          <a:custGeom>
            <a:avLst/>
            <a:gdLst/>
            <a:ahLst/>
            <a:cxnLst/>
            <a:rect l="l" t="t" r="r" b="b"/>
            <a:pathLst>
              <a:path w="525780" h="1112520">
                <a:moveTo>
                  <a:pt x="0" y="1112519"/>
                </a:moveTo>
                <a:lnTo>
                  <a:pt x="525779" y="1112519"/>
                </a:lnTo>
                <a:lnTo>
                  <a:pt x="525779" y="0"/>
                </a:lnTo>
                <a:lnTo>
                  <a:pt x="0" y="0"/>
                </a:lnTo>
                <a:lnTo>
                  <a:pt x="0" y="111251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511046" y="3627882"/>
            <a:ext cx="203835" cy="870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8600"/>
              </a:lnSpc>
              <a:spcBef>
                <a:spcPts val="125"/>
              </a:spcBef>
            </a:pPr>
            <a:r>
              <a:rPr sz="1400" dirty="0">
                <a:latin typeface="宋体"/>
                <a:cs typeface="宋体"/>
              </a:rPr>
              <a:t>版 本 比 较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08376" y="3589020"/>
            <a:ext cx="525780" cy="1112520"/>
          </a:xfrm>
          <a:custGeom>
            <a:avLst/>
            <a:gdLst/>
            <a:ahLst/>
            <a:cxnLst/>
            <a:rect l="l" t="t" r="r" b="b"/>
            <a:pathLst>
              <a:path w="525779" h="1112520">
                <a:moveTo>
                  <a:pt x="0" y="1112519"/>
                </a:moveTo>
                <a:lnTo>
                  <a:pt x="525779" y="1112519"/>
                </a:lnTo>
                <a:lnTo>
                  <a:pt x="525779" y="0"/>
                </a:lnTo>
                <a:lnTo>
                  <a:pt x="0" y="0"/>
                </a:lnTo>
                <a:lnTo>
                  <a:pt x="0" y="11125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088004" y="3627882"/>
            <a:ext cx="204470" cy="10839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8900"/>
              </a:lnSpc>
              <a:spcBef>
                <a:spcPts val="120"/>
              </a:spcBef>
            </a:pPr>
            <a:r>
              <a:rPr sz="1400" dirty="0">
                <a:latin typeface="宋体"/>
                <a:cs typeface="宋体"/>
              </a:rPr>
              <a:t>找 出 增 删 </a:t>
            </a:r>
            <a:r>
              <a:rPr sz="1400" spc="5" dirty="0">
                <a:latin typeface="宋体"/>
                <a:cs typeface="宋体"/>
              </a:rPr>
              <a:t>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10455" y="3589020"/>
            <a:ext cx="525780" cy="1112520"/>
          </a:xfrm>
          <a:custGeom>
            <a:avLst/>
            <a:gdLst/>
            <a:ahLst/>
            <a:cxnLst/>
            <a:rect l="l" t="t" r="r" b="b"/>
            <a:pathLst>
              <a:path w="525779" h="1112520">
                <a:moveTo>
                  <a:pt x="0" y="1112519"/>
                </a:moveTo>
                <a:lnTo>
                  <a:pt x="525779" y="1112519"/>
                </a:lnTo>
                <a:lnTo>
                  <a:pt x="525779" y="0"/>
                </a:lnTo>
                <a:lnTo>
                  <a:pt x="0" y="0"/>
                </a:lnTo>
                <a:lnTo>
                  <a:pt x="0" y="11125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489450" y="3627882"/>
            <a:ext cx="204470" cy="10839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8900"/>
              </a:lnSpc>
              <a:spcBef>
                <a:spcPts val="120"/>
              </a:spcBef>
            </a:pPr>
            <a:r>
              <a:rPr sz="1400" dirty="0">
                <a:latin typeface="宋体"/>
                <a:cs typeface="宋体"/>
              </a:rPr>
              <a:t>统 计 增 删 </a:t>
            </a:r>
            <a:r>
              <a:rPr sz="1400" spc="5" dirty="0">
                <a:latin typeface="宋体"/>
                <a:cs typeface="宋体"/>
              </a:rPr>
              <a:t>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99731" y="3145535"/>
            <a:ext cx="76200" cy="443865"/>
          </a:xfrm>
          <a:custGeom>
            <a:avLst/>
            <a:gdLst/>
            <a:ahLst/>
            <a:cxnLst/>
            <a:rect l="l" t="t" r="r" b="b"/>
            <a:pathLst>
              <a:path w="76200" h="443864">
                <a:moveTo>
                  <a:pt x="31750" y="367284"/>
                </a:moveTo>
                <a:lnTo>
                  <a:pt x="0" y="367284"/>
                </a:lnTo>
                <a:lnTo>
                  <a:pt x="38100" y="443484"/>
                </a:lnTo>
                <a:lnTo>
                  <a:pt x="69850" y="379984"/>
                </a:lnTo>
                <a:lnTo>
                  <a:pt x="31750" y="379984"/>
                </a:lnTo>
                <a:lnTo>
                  <a:pt x="31750" y="367284"/>
                </a:lnTo>
                <a:close/>
              </a:path>
              <a:path w="76200" h="443864">
                <a:moveTo>
                  <a:pt x="44450" y="0"/>
                </a:moveTo>
                <a:lnTo>
                  <a:pt x="31750" y="0"/>
                </a:lnTo>
                <a:lnTo>
                  <a:pt x="31750" y="379984"/>
                </a:lnTo>
                <a:lnTo>
                  <a:pt x="44450" y="379984"/>
                </a:lnTo>
                <a:lnTo>
                  <a:pt x="44450" y="0"/>
                </a:lnTo>
                <a:close/>
              </a:path>
              <a:path w="76200" h="443864">
                <a:moveTo>
                  <a:pt x="76200" y="367284"/>
                </a:moveTo>
                <a:lnTo>
                  <a:pt x="44450" y="367284"/>
                </a:lnTo>
                <a:lnTo>
                  <a:pt x="44450" y="379984"/>
                </a:lnTo>
                <a:lnTo>
                  <a:pt x="69850" y="379984"/>
                </a:lnTo>
                <a:lnTo>
                  <a:pt x="76200" y="367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722876" y="4701540"/>
            <a:ext cx="76200" cy="554990"/>
          </a:xfrm>
          <a:custGeom>
            <a:avLst/>
            <a:gdLst/>
            <a:ahLst/>
            <a:cxnLst/>
            <a:rect l="l" t="t" r="r" b="b"/>
            <a:pathLst>
              <a:path w="76200" h="554989">
                <a:moveTo>
                  <a:pt x="31750" y="478536"/>
                </a:moveTo>
                <a:lnTo>
                  <a:pt x="0" y="478536"/>
                </a:lnTo>
                <a:lnTo>
                  <a:pt x="38100" y="554736"/>
                </a:lnTo>
                <a:lnTo>
                  <a:pt x="69850" y="491236"/>
                </a:lnTo>
                <a:lnTo>
                  <a:pt x="31750" y="491236"/>
                </a:lnTo>
                <a:lnTo>
                  <a:pt x="31750" y="478536"/>
                </a:lnTo>
                <a:close/>
              </a:path>
              <a:path w="76200" h="554989">
                <a:moveTo>
                  <a:pt x="44450" y="0"/>
                </a:moveTo>
                <a:lnTo>
                  <a:pt x="31750" y="0"/>
                </a:lnTo>
                <a:lnTo>
                  <a:pt x="31750" y="491236"/>
                </a:lnTo>
                <a:lnTo>
                  <a:pt x="44450" y="491236"/>
                </a:lnTo>
                <a:lnTo>
                  <a:pt x="44450" y="0"/>
                </a:lnTo>
                <a:close/>
              </a:path>
              <a:path w="76200" h="554989">
                <a:moveTo>
                  <a:pt x="76200" y="478536"/>
                </a:moveTo>
                <a:lnTo>
                  <a:pt x="44450" y="478536"/>
                </a:lnTo>
                <a:lnTo>
                  <a:pt x="44450" y="491236"/>
                </a:lnTo>
                <a:lnTo>
                  <a:pt x="69850" y="491236"/>
                </a:lnTo>
                <a:lnTo>
                  <a:pt x="76200" y="47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884676" y="5701284"/>
            <a:ext cx="525780" cy="11125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2075" marR="222885" algn="just">
              <a:lnSpc>
                <a:spcPct val="98400"/>
              </a:lnSpc>
              <a:spcBef>
                <a:spcPts val="459"/>
              </a:spcBef>
            </a:pPr>
            <a:r>
              <a:rPr sz="1600" spc="-5" dirty="0">
                <a:latin typeface="宋体"/>
                <a:cs typeface="宋体"/>
              </a:rPr>
              <a:t>删 除 代 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145535" y="4701540"/>
            <a:ext cx="76200" cy="554990"/>
          </a:xfrm>
          <a:custGeom>
            <a:avLst/>
            <a:gdLst/>
            <a:ahLst/>
            <a:cxnLst/>
            <a:rect l="l" t="t" r="r" b="b"/>
            <a:pathLst>
              <a:path w="76200" h="554989">
                <a:moveTo>
                  <a:pt x="31750" y="478536"/>
                </a:moveTo>
                <a:lnTo>
                  <a:pt x="0" y="478536"/>
                </a:lnTo>
                <a:lnTo>
                  <a:pt x="38100" y="554736"/>
                </a:lnTo>
                <a:lnTo>
                  <a:pt x="69850" y="491236"/>
                </a:lnTo>
                <a:lnTo>
                  <a:pt x="31750" y="491236"/>
                </a:lnTo>
                <a:lnTo>
                  <a:pt x="31750" y="478536"/>
                </a:lnTo>
                <a:close/>
              </a:path>
              <a:path w="76200" h="554989">
                <a:moveTo>
                  <a:pt x="44450" y="0"/>
                </a:moveTo>
                <a:lnTo>
                  <a:pt x="31750" y="0"/>
                </a:lnTo>
                <a:lnTo>
                  <a:pt x="31750" y="491236"/>
                </a:lnTo>
                <a:lnTo>
                  <a:pt x="44450" y="491236"/>
                </a:lnTo>
                <a:lnTo>
                  <a:pt x="44450" y="0"/>
                </a:lnTo>
                <a:close/>
              </a:path>
              <a:path w="76200" h="554989">
                <a:moveTo>
                  <a:pt x="76200" y="478536"/>
                </a:moveTo>
                <a:lnTo>
                  <a:pt x="44450" y="478536"/>
                </a:lnTo>
                <a:lnTo>
                  <a:pt x="44450" y="491236"/>
                </a:lnTo>
                <a:lnTo>
                  <a:pt x="69850" y="491236"/>
                </a:lnTo>
                <a:lnTo>
                  <a:pt x="76200" y="47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585715" y="5701284"/>
            <a:ext cx="525780" cy="11125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1440" marR="222885" algn="just">
              <a:lnSpc>
                <a:spcPct val="98400"/>
              </a:lnSpc>
              <a:spcBef>
                <a:spcPts val="459"/>
              </a:spcBef>
            </a:pPr>
            <a:r>
              <a:rPr sz="1600" spc="-5" dirty="0">
                <a:latin typeface="宋体"/>
                <a:cs typeface="宋体"/>
              </a:rPr>
              <a:t>增 加 行 数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722876" y="5256276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8"/>
                </a:moveTo>
                <a:lnTo>
                  <a:pt x="0" y="368808"/>
                </a:lnTo>
                <a:lnTo>
                  <a:pt x="38100" y="445008"/>
                </a:lnTo>
                <a:lnTo>
                  <a:pt x="69850" y="381508"/>
                </a:lnTo>
                <a:lnTo>
                  <a:pt x="31750" y="381508"/>
                </a:lnTo>
                <a:lnTo>
                  <a:pt x="31750" y="368808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8"/>
                </a:lnTo>
                <a:lnTo>
                  <a:pt x="44450" y="381508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8"/>
                </a:moveTo>
                <a:lnTo>
                  <a:pt x="44450" y="368808"/>
                </a:lnTo>
                <a:lnTo>
                  <a:pt x="44450" y="381508"/>
                </a:lnTo>
                <a:lnTo>
                  <a:pt x="69850" y="381508"/>
                </a:lnTo>
                <a:lnTo>
                  <a:pt x="76200" y="368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772911" y="5256276"/>
            <a:ext cx="76200" cy="445134"/>
          </a:xfrm>
          <a:custGeom>
            <a:avLst/>
            <a:gdLst/>
            <a:ahLst/>
            <a:cxnLst/>
            <a:rect l="l" t="t" r="r" b="b"/>
            <a:pathLst>
              <a:path w="76200" h="445135">
                <a:moveTo>
                  <a:pt x="31750" y="368808"/>
                </a:moveTo>
                <a:lnTo>
                  <a:pt x="0" y="368808"/>
                </a:lnTo>
                <a:lnTo>
                  <a:pt x="38100" y="445008"/>
                </a:lnTo>
                <a:lnTo>
                  <a:pt x="69850" y="381508"/>
                </a:lnTo>
                <a:lnTo>
                  <a:pt x="31750" y="381508"/>
                </a:lnTo>
                <a:lnTo>
                  <a:pt x="31750" y="368808"/>
                </a:lnTo>
                <a:close/>
              </a:path>
              <a:path w="76200" h="445135">
                <a:moveTo>
                  <a:pt x="44450" y="0"/>
                </a:moveTo>
                <a:lnTo>
                  <a:pt x="31750" y="0"/>
                </a:lnTo>
                <a:lnTo>
                  <a:pt x="31750" y="381508"/>
                </a:lnTo>
                <a:lnTo>
                  <a:pt x="44450" y="381508"/>
                </a:lnTo>
                <a:lnTo>
                  <a:pt x="44450" y="0"/>
                </a:lnTo>
                <a:close/>
              </a:path>
              <a:path w="76200" h="445135">
                <a:moveTo>
                  <a:pt x="76200" y="368808"/>
                </a:moveTo>
                <a:lnTo>
                  <a:pt x="44450" y="368808"/>
                </a:lnTo>
                <a:lnTo>
                  <a:pt x="44450" y="381508"/>
                </a:lnTo>
                <a:lnTo>
                  <a:pt x="69850" y="381508"/>
                </a:lnTo>
                <a:lnTo>
                  <a:pt x="76200" y="368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760976" y="5256276"/>
            <a:ext cx="1050290" cy="0"/>
          </a:xfrm>
          <a:custGeom>
            <a:avLst/>
            <a:gdLst/>
            <a:ahLst/>
            <a:cxnLst/>
            <a:rect l="l" t="t" r="r" b="b"/>
            <a:pathLst>
              <a:path w="1050289">
                <a:moveTo>
                  <a:pt x="0" y="0"/>
                </a:moveTo>
                <a:lnTo>
                  <a:pt x="105003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635752" y="5701284"/>
            <a:ext cx="525780" cy="1112520"/>
          </a:xfrm>
          <a:custGeom>
            <a:avLst/>
            <a:gdLst/>
            <a:ahLst/>
            <a:cxnLst/>
            <a:rect l="l" t="t" r="r" b="b"/>
            <a:pathLst>
              <a:path w="525779" h="1112520">
                <a:moveTo>
                  <a:pt x="0" y="1112519"/>
                </a:moveTo>
                <a:lnTo>
                  <a:pt x="525779" y="1112519"/>
                </a:lnTo>
                <a:lnTo>
                  <a:pt x="525779" y="0"/>
                </a:lnTo>
                <a:lnTo>
                  <a:pt x="0" y="0"/>
                </a:lnTo>
                <a:lnTo>
                  <a:pt x="0" y="11125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635752" y="5701284"/>
            <a:ext cx="525780" cy="1112520"/>
          </a:xfrm>
          <a:custGeom>
            <a:avLst/>
            <a:gdLst/>
            <a:ahLst/>
            <a:cxnLst/>
            <a:rect l="l" t="t" r="r" b="b"/>
            <a:pathLst>
              <a:path w="525779" h="1112520">
                <a:moveTo>
                  <a:pt x="0" y="1112519"/>
                </a:moveTo>
                <a:lnTo>
                  <a:pt x="525779" y="1112519"/>
                </a:lnTo>
                <a:lnTo>
                  <a:pt x="525779" y="0"/>
                </a:lnTo>
                <a:lnTo>
                  <a:pt x="0" y="0"/>
                </a:lnTo>
                <a:lnTo>
                  <a:pt x="0" y="11125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716015" y="5744057"/>
            <a:ext cx="228600" cy="988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8400"/>
              </a:lnSpc>
              <a:spcBef>
                <a:spcPts val="125"/>
              </a:spcBef>
            </a:pPr>
            <a:r>
              <a:rPr sz="1600" spc="-5" dirty="0">
                <a:latin typeface="宋体"/>
                <a:cs typeface="宋体"/>
              </a:rPr>
              <a:t>删 除 行 数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1" y="4367021"/>
            <a:ext cx="6445250" cy="2491105"/>
          </a:xfrm>
          <a:custGeom>
            <a:avLst/>
            <a:gdLst/>
            <a:ahLst/>
            <a:cxnLst/>
            <a:rect l="l" t="t" r="r" b="b"/>
            <a:pathLst>
              <a:path w="6445250" h="2491104">
                <a:moveTo>
                  <a:pt x="0" y="1511808"/>
                </a:moveTo>
                <a:lnTo>
                  <a:pt x="2497" y="1451736"/>
                </a:lnTo>
                <a:lnTo>
                  <a:pt x="9928" y="1392258"/>
                </a:lnTo>
                <a:lnTo>
                  <a:pt x="22200" y="1333418"/>
                </a:lnTo>
                <a:lnTo>
                  <a:pt x="39219" y="1275259"/>
                </a:lnTo>
                <a:lnTo>
                  <a:pt x="60893" y="1217825"/>
                </a:lnTo>
                <a:lnTo>
                  <a:pt x="87129" y="1161159"/>
                </a:lnTo>
                <a:lnTo>
                  <a:pt x="117835" y="1105304"/>
                </a:lnTo>
                <a:lnTo>
                  <a:pt x="152916" y="1050305"/>
                </a:lnTo>
                <a:lnTo>
                  <a:pt x="192282" y="996205"/>
                </a:lnTo>
                <a:lnTo>
                  <a:pt x="235838" y="943047"/>
                </a:lnTo>
                <a:lnTo>
                  <a:pt x="283493" y="890875"/>
                </a:lnTo>
                <a:lnTo>
                  <a:pt x="335152" y="839733"/>
                </a:lnTo>
                <a:lnTo>
                  <a:pt x="390724" y="789664"/>
                </a:lnTo>
                <a:lnTo>
                  <a:pt x="419948" y="765046"/>
                </a:lnTo>
                <a:lnTo>
                  <a:pt x="450116" y="740712"/>
                </a:lnTo>
                <a:lnTo>
                  <a:pt x="481215" y="716668"/>
                </a:lnTo>
                <a:lnTo>
                  <a:pt x="513234" y="692920"/>
                </a:lnTo>
                <a:lnTo>
                  <a:pt x="546161" y="669473"/>
                </a:lnTo>
                <a:lnTo>
                  <a:pt x="579986" y="646332"/>
                </a:lnTo>
                <a:lnTo>
                  <a:pt x="614696" y="623503"/>
                </a:lnTo>
                <a:lnTo>
                  <a:pt x="650279" y="600991"/>
                </a:lnTo>
                <a:lnTo>
                  <a:pt x="686724" y="578802"/>
                </a:lnTo>
                <a:lnTo>
                  <a:pt x="724020" y="556942"/>
                </a:lnTo>
                <a:lnTo>
                  <a:pt x="762155" y="535414"/>
                </a:lnTo>
                <a:lnTo>
                  <a:pt x="801117" y="514226"/>
                </a:lnTo>
                <a:lnTo>
                  <a:pt x="840895" y="493383"/>
                </a:lnTo>
                <a:lnTo>
                  <a:pt x="881477" y="472889"/>
                </a:lnTo>
                <a:lnTo>
                  <a:pt x="922851" y="452751"/>
                </a:lnTo>
                <a:lnTo>
                  <a:pt x="965006" y="432974"/>
                </a:lnTo>
                <a:lnTo>
                  <a:pt x="1007931" y="413562"/>
                </a:lnTo>
                <a:lnTo>
                  <a:pt x="1051613" y="394523"/>
                </a:lnTo>
                <a:lnTo>
                  <a:pt x="1096041" y="375861"/>
                </a:lnTo>
                <a:lnTo>
                  <a:pt x="1141203" y="357582"/>
                </a:lnTo>
                <a:lnTo>
                  <a:pt x="1187088" y="339690"/>
                </a:lnTo>
                <a:lnTo>
                  <a:pt x="1233685" y="322192"/>
                </a:lnTo>
                <a:lnTo>
                  <a:pt x="1280981" y="305093"/>
                </a:lnTo>
                <a:lnTo>
                  <a:pt x="1328965" y="288399"/>
                </a:lnTo>
                <a:lnTo>
                  <a:pt x="1377626" y="272114"/>
                </a:lnTo>
                <a:lnTo>
                  <a:pt x="1426952" y="256245"/>
                </a:lnTo>
                <a:lnTo>
                  <a:pt x="1476930" y="240797"/>
                </a:lnTo>
                <a:lnTo>
                  <a:pt x="1527551" y="225774"/>
                </a:lnTo>
                <a:lnTo>
                  <a:pt x="1578801" y="211184"/>
                </a:lnTo>
                <a:lnTo>
                  <a:pt x="1630670" y="197030"/>
                </a:lnTo>
                <a:lnTo>
                  <a:pt x="1683146" y="183319"/>
                </a:lnTo>
                <a:lnTo>
                  <a:pt x="1736216" y="170056"/>
                </a:lnTo>
                <a:lnTo>
                  <a:pt x="1789871" y="157246"/>
                </a:lnTo>
                <a:lnTo>
                  <a:pt x="1844097" y="144895"/>
                </a:lnTo>
                <a:lnTo>
                  <a:pt x="1898884" y="133009"/>
                </a:lnTo>
                <a:lnTo>
                  <a:pt x="1954220" y="121592"/>
                </a:lnTo>
                <a:lnTo>
                  <a:pt x="2010093" y="110651"/>
                </a:lnTo>
                <a:lnTo>
                  <a:pt x="2066491" y="100190"/>
                </a:lnTo>
                <a:lnTo>
                  <a:pt x="2123404" y="90215"/>
                </a:lnTo>
                <a:lnTo>
                  <a:pt x="2180819" y="80732"/>
                </a:lnTo>
                <a:lnTo>
                  <a:pt x="2238725" y="71746"/>
                </a:lnTo>
                <a:lnTo>
                  <a:pt x="2297110" y="63262"/>
                </a:lnTo>
                <a:lnTo>
                  <a:pt x="2355962" y="55286"/>
                </a:lnTo>
                <a:lnTo>
                  <a:pt x="2415271" y="47823"/>
                </a:lnTo>
                <a:lnTo>
                  <a:pt x="2475023" y="40879"/>
                </a:lnTo>
                <a:lnTo>
                  <a:pt x="2535209" y="34460"/>
                </a:lnTo>
                <a:lnTo>
                  <a:pt x="2595816" y="28570"/>
                </a:lnTo>
                <a:lnTo>
                  <a:pt x="2656832" y="23215"/>
                </a:lnTo>
                <a:lnTo>
                  <a:pt x="2718247" y="18401"/>
                </a:lnTo>
                <a:lnTo>
                  <a:pt x="2780048" y="14132"/>
                </a:lnTo>
                <a:lnTo>
                  <a:pt x="2842223" y="10416"/>
                </a:lnTo>
                <a:lnTo>
                  <a:pt x="2904762" y="7256"/>
                </a:lnTo>
                <a:lnTo>
                  <a:pt x="2967652" y="4658"/>
                </a:lnTo>
                <a:lnTo>
                  <a:pt x="3030883" y="2628"/>
                </a:lnTo>
                <a:lnTo>
                  <a:pt x="3094441" y="1171"/>
                </a:lnTo>
                <a:lnTo>
                  <a:pt x="3158317" y="293"/>
                </a:lnTo>
                <a:lnTo>
                  <a:pt x="3222498" y="0"/>
                </a:lnTo>
                <a:lnTo>
                  <a:pt x="3286678" y="293"/>
                </a:lnTo>
                <a:lnTo>
                  <a:pt x="3350554" y="1171"/>
                </a:lnTo>
                <a:lnTo>
                  <a:pt x="3414112" y="2628"/>
                </a:lnTo>
                <a:lnTo>
                  <a:pt x="3477343" y="4658"/>
                </a:lnTo>
                <a:lnTo>
                  <a:pt x="3540233" y="7256"/>
                </a:lnTo>
                <a:lnTo>
                  <a:pt x="3602772" y="10416"/>
                </a:lnTo>
                <a:lnTo>
                  <a:pt x="3664947" y="14132"/>
                </a:lnTo>
                <a:lnTo>
                  <a:pt x="3726748" y="18401"/>
                </a:lnTo>
                <a:lnTo>
                  <a:pt x="3788163" y="23215"/>
                </a:lnTo>
                <a:lnTo>
                  <a:pt x="3849179" y="28570"/>
                </a:lnTo>
                <a:lnTo>
                  <a:pt x="3909786" y="34460"/>
                </a:lnTo>
                <a:lnTo>
                  <a:pt x="3969972" y="40879"/>
                </a:lnTo>
                <a:lnTo>
                  <a:pt x="4029724" y="47823"/>
                </a:lnTo>
                <a:lnTo>
                  <a:pt x="4089033" y="55286"/>
                </a:lnTo>
                <a:lnTo>
                  <a:pt x="4147885" y="63262"/>
                </a:lnTo>
                <a:lnTo>
                  <a:pt x="4206270" y="71746"/>
                </a:lnTo>
                <a:lnTo>
                  <a:pt x="4264176" y="80732"/>
                </a:lnTo>
                <a:lnTo>
                  <a:pt x="4321591" y="90215"/>
                </a:lnTo>
                <a:lnTo>
                  <a:pt x="4378504" y="100190"/>
                </a:lnTo>
                <a:lnTo>
                  <a:pt x="4434902" y="110651"/>
                </a:lnTo>
                <a:lnTo>
                  <a:pt x="4490775" y="121592"/>
                </a:lnTo>
                <a:lnTo>
                  <a:pt x="4546111" y="133009"/>
                </a:lnTo>
                <a:lnTo>
                  <a:pt x="4600898" y="144895"/>
                </a:lnTo>
                <a:lnTo>
                  <a:pt x="4655124" y="157246"/>
                </a:lnTo>
                <a:lnTo>
                  <a:pt x="4708779" y="170056"/>
                </a:lnTo>
                <a:lnTo>
                  <a:pt x="4761849" y="183319"/>
                </a:lnTo>
                <a:lnTo>
                  <a:pt x="4814325" y="197030"/>
                </a:lnTo>
                <a:lnTo>
                  <a:pt x="4866194" y="211184"/>
                </a:lnTo>
                <a:lnTo>
                  <a:pt x="4917444" y="225774"/>
                </a:lnTo>
                <a:lnTo>
                  <a:pt x="4968065" y="240797"/>
                </a:lnTo>
                <a:lnTo>
                  <a:pt x="5018043" y="256245"/>
                </a:lnTo>
                <a:lnTo>
                  <a:pt x="5067369" y="272114"/>
                </a:lnTo>
                <a:lnTo>
                  <a:pt x="5116030" y="288399"/>
                </a:lnTo>
                <a:lnTo>
                  <a:pt x="5164014" y="305093"/>
                </a:lnTo>
                <a:lnTo>
                  <a:pt x="5211310" y="322192"/>
                </a:lnTo>
                <a:lnTo>
                  <a:pt x="5257907" y="339690"/>
                </a:lnTo>
                <a:lnTo>
                  <a:pt x="5303792" y="357582"/>
                </a:lnTo>
                <a:lnTo>
                  <a:pt x="5348954" y="375861"/>
                </a:lnTo>
                <a:lnTo>
                  <a:pt x="5393382" y="394523"/>
                </a:lnTo>
                <a:lnTo>
                  <a:pt x="5437064" y="413562"/>
                </a:lnTo>
                <a:lnTo>
                  <a:pt x="5479989" y="432974"/>
                </a:lnTo>
                <a:lnTo>
                  <a:pt x="5522144" y="452751"/>
                </a:lnTo>
                <a:lnTo>
                  <a:pt x="5563518" y="472889"/>
                </a:lnTo>
                <a:lnTo>
                  <a:pt x="5604100" y="493383"/>
                </a:lnTo>
                <a:lnTo>
                  <a:pt x="5643878" y="514226"/>
                </a:lnTo>
                <a:lnTo>
                  <a:pt x="5682840" y="535414"/>
                </a:lnTo>
                <a:lnTo>
                  <a:pt x="5720975" y="556942"/>
                </a:lnTo>
                <a:lnTo>
                  <a:pt x="5758271" y="578802"/>
                </a:lnTo>
                <a:lnTo>
                  <a:pt x="5794716" y="600991"/>
                </a:lnTo>
                <a:lnTo>
                  <a:pt x="5830299" y="623503"/>
                </a:lnTo>
                <a:lnTo>
                  <a:pt x="5865009" y="646332"/>
                </a:lnTo>
                <a:lnTo>
                  <a:pt x="5898834" y="669473"/>
                </a:lnTo>
                <a:lnTo>
                  <a:pt x="5931761" y="692920"/>
                </a:lnTo>
                <a:lnTo>
                  <a:pt x="5963780" y="716668"/>
                </a:lnTo>
                <a:lnTo>
                  <a:pt x="5994879" y="740712"/>
                </a:lnTo>
                <a:lnTo>
                  <a:pt x="6025047" y="765046"/>
                </a:lnTo>
                <a:lnTo>
                  <a:pt x="6054271" y="789664"/>
                </a:lnTo>
                <a:lnTo>
                  <a:pt x="6109843" y="839733"/>
                </a:lnTo>
                <a:lnTo>
                  <a:pt x="6161502" y="890875"/>
                </a:lnTo>
                <a:lnTo>
                  <a:pt x="6209157" y="943047"/>
                </a:lnTo>
                <a:lnTo>
                  <a:pt x="6252713" y="996205"/>
                </a:lnTo>
                <a:lnTo>
                  <a:pt x="6292079" y="1050305"/>
                </a:lnTo>
                <a:lnTo>
                  <a:pt x="6327160" y="1105304"/>
                </a:lnTo>
                <a:lnTo>
                  <a:pt x="6357866" y="1161159"/>
                </a:lnTo>
                <a:lnTo>
                  <a:pt x="6384102" y="1217825"/>
                </a:lnTo>
                <a:lnTo>
                  <a:pt x="6405776" y="1275259"/>
                </a:lnTo>
                <a:lnTo>
                  <a:pt x="6422795" y="1333418"/>
                </a:lnTo>
                <a:lnTo>
                  <a:pt x="6435067" y="1392258"/>
                </a:lnTo>
                <a:lnTo>
                  <a:pt x="6442498" y="1451736"/>
                </a:lnTo>
                <a:lnTo>
                  <a:pt x="6444996" y="1511808"/>
                </a:lnTo>
                <a:lnTo>
                  <a:pt x="6444369" y="1541917"/>
                </a:lnTo>
                <a:lnTo>
                  <a:pt x="6439393" y="1601700"/>
                </a:lnTo>
                <a:lnTo>
                  <a:pt x="6429530" y="1660867"/>
                </a:lnTo>
                <a:lnTo>
                  <a:pt x="6414873" y="1719375"/>
                </a:lnTo>
                <a:lnTo>
                  <a:pt x="6395515" y="1777180"/>
                </a:lnTo>
                <a:lnTo>
                  <a:pt x="6371548" y="1834237"/>
                </a:lnTo>
                <a:lnTo>
                  <a:pt x="6343066" y="1890505"/>
                </a:lnTo>
                <a:lnTo>
                  <a:pt x="6310161" y="1945939"/>
                </a:lnTo>
                <a:lnTo>
                  <a:pt x="6272925" y="2000495"/>
                </a:lnTo>
                <a:lnTo>
                  <a:pt x="6231453" y="2054130"/>
                </a:lnTo>
                <a:lnTo>
                  <a:pt x="6185836" y="2106801"/>
                </a:lnTo>
                <a:lnTo>
                  <a:pt x="6136167" y="2158464"/>
                </a:lnTo>
                <a:lnTo>
                  <a:pt x="6082540" y="2209075"/>
                </a:lnTo>
                <a:lnTo>
                  <a:pt x="6025047" y="2258592"/>
                </a:lnTo>
                <a:lnTo>
                  <a:pt x="5994879" y="2282925"/>
                </a:lnTo>
                <a:lnTo>
                  <a:pt x="5963780" y="2306969"/>
                </a:lnTo>
                <a:lnTo>
                  <a:pt x="5931761" y="2330717"/>
                </a:lnTo>
                <a:lnTo>
                  <a:pt x="5898834" y="2354164"/>
                </a:lnTo>
                <a:lnTo>
                  <a:pt x="5865009" y="2377305"/>
                </a:lnTo>
                <a:lnTo>
                  <a:pt x="5830299" y="2400134"/>
                </a:lnTo>
                <a:lnTo>
                  <a:pt x="5794716" y="2422645"/>
                </a:lnTo>
                <a:lnTo>
                  <a:pt x="5758271" y="2444834"/>
                </a:lnTo>
                <a:lnTo>
                  <a:pt x="5720975" y="2466695"/>
                </a:lnTo>
                <a:lnTo>
                  <a:pt x="5682840" y="2488222"/>
                </a:lnTo>
                <a:lnTo>
                  <a:pt x="5677775" y="2490976"/>
                </a:lnTo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61" y="5878829"/>
            <a:ext cx="767715" cy="979169"/>
          </a:xfrm>
          <a:custGeom>
            <a:avLst/>
            <a:gdLst/>
            <a:ahLst/>
            <a:cxnLst/>
            <a:rect l="l" t="t" r="r" b="b"/>
            <a:pathLst>
              <a:path w="767715" h="979170">
                <a:moveTo>
                  <a:pt x="767220" y="979168"/>
                </a:moveTo>
                <a:lnTo>
                  <a:pt x="724020" y="954887"/>
                </a:lnTo>
                <a:lnTo>
                  <a:pt x="686724" y="933026"/>
                </a:lnTo>
                <a:lnTo>
                  <a:pt x="650279" y="910837"/>
                </a:lnTo>
                <a:lnTo>
                  <a:pt x="614696" y="888326"/>
                </a:lnTo>
                <a:lnTo>
                  <a:pt x="579986" y="865497"/>
                </a:lnTo>
                <a:lnTo>
                  <a:pt x="546161" y="842356"/>
                </a:lnTo>
                <a:lnTo>
                  <a:pt x="513234" y="818909"/>
                </a:lnTo>
                <a:lnTo>
                  <a:pt x="481215" y="795161"/>
                </a:lnTo>
                <a:lnTo>
                  <a:pt x="450116" y="771117"/>
                </a:lnTo>
                <a:lnTo>
                  <a:pt x="419948" y="746784"/>
                </a:lnTo>
                <a:lnTo>
                  <a:pt x="390724" y="722165"/>
                </a:lnTo>
                <a:lnTo>
                  <a:pt x="335152" y="672096"/>
                </a:lnTo>
                <a:lnTo>
                  <a:pt x="283493" y="620953"/>
                </a:lnTo>
                <a:lnTo>
                  <a:pt x="235838" y="568781"/>
                </a:lnTo>
                <a:lnTo>
                  <a:pt x="192282" y="515622"/>
                </a:lnTo>
                <a:lnTo>
                  <a:pt x="152916" y="461521"/>
                </a:lnTo>
                <a:lnTo>
                  <a:pt x="117835" y="406521"/>
                </a:lnTo>
                <a:lnTo>
                  <a:pt x="87129" y="350665"/>
                </a:lnTo>
                <a:lnTo>
                  <a:pt x="60893" y="293997"/>
                </a:lnTo>
                <a:lnTo>
                  <a:pt x="39219" y="236560"/>
                </a:lnTo>
                <a:lnTo>
                  <a:pt x="22200" y="178398"/>
                </a:lnTo>
                <a:lnTo>
                  <a:pt x="9928" y="119555"/>
                </a:lnTo>
                <a:lnTo>
                  <a:pt x="2497" y="60075"/>
                </a:lnTo>
                <a:lnTo>
                  <a:pt x="626" y="30109"/>
                </a:lnTo>
                <a:lnTo>
                  <a:pt x="0" y="0"/>
                </a:lnTo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77205" y="2565654"/>
            <a:ext cx="4067810" cy="2519680"/>
          </a:xfrm>
          <a:custGeom>
            <a:avLst/>
            <a:gdLst/>
            <a:ahLst/>
            <a:cxnLst/>
            <a:rect l="l" t="t" r="r" b="b"/>
            <a:pathLst>
              <a:path w="4067809" h="2519679">
                <a:moveTo>
                  <a:pt x="0" y="1259586"/>
                </a:moveTo>
                <a:lnTo>
                  <a:pt x="3333" y="1186859"/>
                </a:lnTo>
                <a:lnTo>
                  <a:pt x="13211" y="1115218"/>
                </a:lnTo>
                <a:lnTo>
                  <a:pt x="29454" y="1044775"/>
                </a:lnTo>
                <a:lnTo>
                  <a:pt x="51881" y="975641"/>
                </a:lnTo>
                <a:lnTo>
                  <a:pt x="80311" y="907930"/>
                </a:lnTo>
                <a:lnTo>
                  <a:pt x="114562" y="841752"/>
                </a:lnTo>
                <a:lnTo>
                  <a:pt x="154455" y="777219"/>
                </a:lnTo>
                <a:lnTo>
                  <a:pt x="176460" y="745605"/>
                </a:lnTo>
                <a:lnTo>
                  <a:pt x="199807" y="714445"/>
                </a:lnTo>
                <a:lnTo>
                  <a:pt x="224475" y="683752"/>
                </a:lnTo>
                <a:lnTo>
                  <a:pt x="250439" y="653540"/>
                </a:lnTo>
                <a:lnTo>
                  <a:pt x="277678" y="623823"/>
                </a:lnTo>
                <a:lnTo>
                  <a:pt x="306169" y="594617"/>
                </a:lnTo>
                <a:lnTo>
                  <a:pt x="335889" y="565933"/>
                </a:lnTo>
                <a:lnTo>
                  <a:pt x="366816" y="537787"/>
                </a:lnTo>
                <a:lnTo>
                  <a:pt x="398927" y="510192"/>
                </a:lnTo>
                <a:lnTo>
                  <a:pt x="432200" y="483163"/>
                </a:lnTo>
                <a:lnTo>
                  <a:pt x="466611" y="456713"/>
                </a:lnTo>
                <a:lnTo>
                  <a:pt x="502139" y="430856"/>
                </a:lnTo>
                <a:lnTo>
                  <a:pt x="538760" y="405607"/>
                </a:lnTo>
                <a:lnTo>
                  <a:pt x="576452" y="380979"/>
                </a:lnTo>
                <a:lnTo>
                  <a:pt x="615193" y="356987"/>
                </a:lnTo>
                <a:lnTo>
                  <a:pt x="654960" y="333644"/>
                </a:lnTo>
                <a:lnTo>
                  <a:pt x="695729" y="310964"/>
                </a:lnTo>
                <a:lnTo>
                  <a:pt x="737480" y="288962"/>
                </a:lnTo>
                <a:lnTo>
                  <a:pt x="780188" y="267651"/>
                </a:lnTo>
                <a:lnTo>
                  <a:pt x="823831" y="247046"/>
                </a:lnTo>
                <a:lnTo>
                  <a:pt x="868388" y="227160"/>
                </a:lnTo>
                <a:lnTo>
                  <a:pt x="913834" y="208007"/>
                </a:lnTo>
                <a:lnTo>
                  <a:pt x="960148" y="189601"/>
                </a:lnTo>
                <a:lnTo>
                  <a:pt x="1007307" y="171957"/>
                </a:lnTo>
                <a:lnTo>
                  <a:pt x="1055288" y="155089"/>
                </a:lnTo>
                <a:lnTo>
                  <a:pt x="1104069" y="139010"/>
                </a:lnTo>
                <a:lnTo>
                  <a:pt x="1153627" y="123734"/>
                </a:lnTo>
                <a:lnTo>
                  <a:pt x="1203939" y="109275"/>
                </a:lnTo>
                <a:lnTo>
                  <a:pt x="1254983" y="95648"/>
                </a:lnTo>
                <a:lnTo>
                  <a:pt x="1306736" y="82866"/>
                </a:lnTo>
                <a:lnTo>
                  <a:pt x="1359176" y="70944"/>
                </a:lnTo>
                <a:lnTo>
                  <a:pt x="1412280" y="59895"/>
                </a:lnTo>
                <a:lnTo>
                  <a:pt x="1466025" y="49733"/>
                </a:lnTo>
                <a:lnTo>
                  <a:pt x="1520389" y="40473"/>
                </a:lnTo>
                <a:lnTo>
                  <a:pt x="1575349" y="32128"/>
                </a:lnTo>
                <a:lnTo>
                  <a:pt x="1630883" y="24712"/>
                </a:lnTo>
                <a:lnTo>
                  <a:pt x="1686968" y="18240"/>
                </a:lnTo>
                <a:lnTo>
                  <a:pt x="1743580" y="12724"/>
                </a:lnTo>
                <a:lnTo>
                  <a:pt x="1800699" y="8181"/>
                </a:lnTo>
                <a:lnTo>
                  <a:pt x="1858301" y="4622"/>
                </a:lnTo>
                <a:lnTo>
                  <a:pt x="1916363" y="2063"/>
                </a:lnTo>
                <a:lnTo>
                  <a:pt x="1974862" y="518"/>
                </a:lnTo>
                <a:lnTo>
                  <a:pt x="2033777" y="0"/>
                </a:lnTo>
                <a:lnTo>
                  <a:pt x="2092693" y="518"/>
                </a:lnTo>
                <a:lnTo>
                  <a:pt x="2151192" y="2063"/>
                </a:lnTo>
                <a:lnTo>
                  <a:pt x="2209254" y="4622"/>
                </a:lnTo>
                <a:lnTo>
                  <a:pt x="2266856" y="8181"/>
                </a:lnTo>
                <a:lnTo>
                  <a:pt x="2323975" y="12724"/>
                </a:lnTo>
                <a:lnTo>
                  <a:pt x="2380587" y="18240"/>
                </a:lnTo>
                <a:lnTo>
                  <a:pt x="2436672" y="24712"/>
                </a:lnTo>
                <a:lnTo>
                  <a:pt x="2492206" y="32128"/>
                </a:lnTo>
                <a:lnTo>
                  <a:pt x="2547166" y="40473"/>
                </a:lnTo>
                <a:lnTo>
                  <a:pt x="2601530" y="49733"/>
                </a:lnTo>
                <a:lnTo>
                  <a:pt x="2655275" y="59895"/>
                </a:lnTo>
                <a:lnTo>
                  <a:pt x="2708379" y="70944"/>
                </a:lnTo>
                <a:lnTo>
                  <a:pt x="2760819" y="82866"/>
                </a:lnTo>
                <a:lnTo>
                  <a:pt x="2812572" y="95648"/>
                </a:lnTo>
                <a:lnTo>
                  <a:pt x="2863616" y="109275"/>
                </a:lnTo>
                <a:lnTo>
                  <a:pt x="2913928" y="123734"/>
                </a:lnTo>
                <a:lnTo>
                  <a:pt x="2963486" y="139010"/>
                </a:lnTo>
                <a:lnTo>
                  <a:pt x="3012267" y="155089"/>
                </a:lnTo>
                <a:lnTo>
                  <a:pt x="3060248" y="171958"/>
                </a:lnTo>
                <a:lnTo>
                  <a:pt x="3107407" y="189601"/>
                </a:lnTo>
                <a:lnTo>
                  <a:pt x="3153721" y="208007"/>
                </a:lnTo>
                <a:lnTo>
                  <a:pt x="3199167" y="227160"/>
                </a:lnTo>
                <a:lnTo>
                  <a:pt x="3243724" y="247046"/>
                </a:lnTo>
                <a:lnTo>
                  <a:pt x="3287367" y="267651"/>
                </a:lnTo>
                <a:lnTo>
                  <a:pt x="3330075" y="288962"/>
                </a:lnTo>
                <a:lnTo>
                  <a:pt x="3371826" y="310964"/>
                </a:lnTo>
                <a:lnTo>
                  <a:pt x="3412595" y="333644"/>
                </a:lnTo>
                <a:lnTo>
                  <a:pt x="3452362" y="356987"/>
                </a:lnTo>
                <a:lnTo>
                  <a:pt x="3491103" y="380979"/>
                </a:lnTo>
                <a:lnTo>
                  <a:pt x="3528795" y="405607"/>
                </a:lnTo>
                <a:lnTo>
                  <a:pt x="3565416" y="430856"/>
                </a:lnTo>
                <a:lnTo>
                  <a:pt x="3600944" y="456713"/>
                </a:lnTo>
                <a:lnTo>
                  <a:pt x="3635355" y="483163"/>
                </a:lnTo>
                <a:lnTo>
                  <a:pt x="3668628" y="510192"/>
                </a:lnTo>
                <a:lnTo>
                  <a:pt x="3700739" y="537787"/>
                </a:lnTo>
                <a:lnTo>
                  <a:pt x="3731666" y="565933"/>
                </a:lnTo>
                <a:lnTo>
                  <a:pt x="3761386" y="594617"/>
                </a:lnTo>
                <a:lnTo>
                  <a:pt x="3789877" y="623824"/>
                </a:lnTo>
                <a:lnTo>
                  <a:pt x="3817116" y="653540"/>
                </a:lnTo>
                <a:lnTo>
                  <a:pt x="3843080" y="683752"/>
                </a:lnTo>
                <a:lnTo>
                  <a:pt x="3867748" y="714445"/>
                </a:lnTo>
                <a:lnTo>
                  <a:pt x="3891095" y="745605"/>
                </a:lnTo>
                <a:lnTo>
                  <a:pt x="3913100" y="777219"/>
                </a:lnTo>
                <a:lnTo>
                  <a:pt x="3933740" y="809273"/>
                </a:lnTo>
                <a:lnTo>
                  <a:pt x="3970835" y="874642"/>
                </a:lnTo>
                <a:lnTo>
                  <a:pt x="4002198" y="941601"/>
                </a:lnTo>
                <a:lnTo>
                  <a:pt x="4027649" y="1010037"/>
                </a:lnTo>
                <a:lnTo>
                  <a:pt x="4047007" y="1079840"/>
                </a:lnTo>
                <a:lnTo>
                  <a:pt x="4060090" y="1150896"/>
                </a:lnTo>
                <a:lnTo>
                  <a:pt x="4066718" y="1223093"/>
                </a:lnTo>
                <a:lnTo>
                  <a:pt x="4067555" y="1259586"/>
                </a:lnTo>
                <a:lnTo>
                  <a:pt x="4066718" y="1296078"/>
                </a:lnTo>
                <a:lnTo>
                  <a:pt x="4060090" y="1368275"/>
                </a:lnTo>
                <a:lnTo>
                  <a:pt x="4047007" y="1439331"/>
                </a:lnTo>
                <a:lnTo>
                  <a:pt x="4027649" y="1509134"/>
                </a:lnTo>
                <a:lnTo>
                  <a:pt x="4002198" y="1577570"/>
                </a:lnTo>
                <a:lnTo>
                  <a:pt x="3970835" y="1644529"/>
                </a:lnTo>
                <a:lnTo>
                  <a:pt x="3933740" y="1709898"/>
                </a:lnTo>
                <a:lnTo>
                  <a:pt x="3913100" y="1741952"/>
                </a:lnTo>
                <a:lnTo>
                  <a:pt x="3891095" y="1773566"/>
                </a:lnTo>
                <a:lnTo>
                  <a:pt x="3867748" y="1804726"/>
                </a:lnTo>
                <a:lnTo>
                  <a:pt x="3843080" y="1835419"/>
                </a:lnTo>
                <a:lnTo>
                  <a:pt x="3817116" y="1865631"/>
                </a:lnTo>
                <a:lnTo>
                  <a:pt x="3789877" y="1895347"/>
                </a:lnTo>
                <a:lnTo>
                  <a:pt x="3761386" y="1924554"/>
                </a:lnTo>
                <a:lnTo>
                  <a:pt x="3731666" y="1953238"/>
                </a:lnTo>
                <a:lnTo>
                  <a:pt x="3700739" y="1981384"/>
                </a:lnTo>
                <a:lnTo>
                  <a:pt x="3668628" y="2008979"/>
                </a:lnTo>
                <a:lnTo>
                  <a:pt x="3635355" y="2036008"/>
                </a:lnTo>
                <a:lnTo>
                  <a:pt x="3600944" y="2062458"/>
                </a:lnTo>
                <a:lnTo>
                  <a:pt x="3565416" y="2088315"/>
                </a:lnTo>
                <a:lnTo>
                  <a:pt x="3528795" y="2113564"/>
                </a:lnTo>
                <a:lnTo>
                  <a:pt x="3491103" y="2138192"/>
                </a:lnTo>
                <a:lnTo>
                  <a:pt x="3452362" y="2162184"/>
                </a:lnTo>
                <a:lnTo>
                  <a:pt x="3412595" y="2185527"/>
                </a:lnTo>
                <a:lnTo>
                  <a:pt x="3371826" y="2208207"/>
                </a:lnTo>
                <a:lnTo>
                  <a:pt x="3330075" y="2230209"/>
                </a:lnTo>
                <a:lnTo>
                  <a:pt x="3287367" y="2251520"/>
                </a:lnTo>
                <a:lnTo>
                  <a:pt x="3243724" y="2272125"/>
                </a:lnTo>
                <a:lnTo>
                  <a:pt x="3199167" y="2292011"/>
                </a:lnTo>
                <a:lnTo>
                  <a:pt x="3153721" y="2311164"/>
                </a:lnTo>
                <a:lnTo>
                  <a:pt x="3107407" y="2329570"/>
                </a:lnTo>
                <a:lnTo>
                  <a:pt x="3060248" y="2347214"/>
                </a:lnTo>
                <a:lnTo>
                  <a:pt x="3012267" y="2364082"/>
                </a:lnTo>
                <a:lnTo>
                  <a:pt x="2963486" y="2380161"/>
                </a:lnTo>
                <a:lnTo>
                  <a:pt x="2913928" y="2395437"/>
                </a:lnTo>
                <a:lnTo>
                  <a:pt x="2863616" y="2409896"/>
                </a:lnTo>
                <a:lnTo>
                  <a:pt x="2812572" y="2423523"/>
                </a:lnTo>
                <a:lnTo>
                  <a:pt x="2760819" y="2436305"/>
                </a:lnTo>
                <a:lnTo>
                  <a:pt x="2708379" y="2448227"/>
                </a:lnTo>
                <a:lnTo>
                  <a:pt x="2655275" y="2459276"/>
                </a:lnTo>
                <a:lnTo>
                  <a:pt x="2601530" y="2469438"/>
                </a:lnTo>
                <a:lnTo>
                  <a:pt x="2547166" y="2478698"/>
                </a:lnTo>
                <a:lnTo>
                  <a:pt x="2492206" y="2487043"/>
                </a:lnTo>
                <a:lnTo>
                  <a:pt x="2436672" y="2494459"/>
                </a:lnTo>
                <a:lnTo>
                  <a:pt x="2380587" y="2500931"/>
                </a:lnTo>
                <a:lnTo>
                  <a:pt x="2323975" y="2506447"/>
                </a:lnTo>
                <a:lnTo>
                  <a:pt x="2266856" y="2510990"/>
                </a:lnTo>
                <a:lnTo>
                  <a:pt x="2209254" y="2514549"/>
                </a:lnTo>
                <a:lnTo>
                  <a:pt x="2151192" y="2517108"/>
                </a:lnTo>
                <a:lnTo>
                  <a:pt x="2092693" y="2518653"/>
                </a:lnTo>
                <a:lnTo>
                  <a:pt x="2033777" y="2519172"/>
                </a:lnTo>
                <a:lnTo>
                  <a:pt x="1974862" y="2518653"/>
                </a:lnTo>
                <a:lnTo>
                  <a:pt x="1916363" y="2517108"/>
                </a:lnTo>
                <a:lnTo>
                  <a:pt x="1858301" y="2514549"/>
                </a:lnTo>
                <a:lnTo>
                  <a:pt x="1800699" y="2510990"/>
                </a:lnTo>
                <a:lnTo>
                  <a:pt x="1743580" y="2506447"/>
                </a:lnTo>
                <a:lnTo>
                  <a:pt x="1686968" y="2500931"/>
                </a:lnTo>
                <a:lnTo>
                  <a:pt x="1630883" y="2494459"/>
                </a:lnTo>
                <a:lnTo>
                  <a:pt x="1575349" y="2487043"/>
                </a:lnTo>
                <a:lnTo>
                  <a:pt x="1520389" y="2478698"/>
                </a:lnTo>
                <a:lnTo>
                  <a:pt x="1466025" y="2469438"/>
                </a:lnTo>
                <a:lnTo>
                  <a:pt x="1412280" y="2459276"/>
                </a:lnTo>
                <a:lnTo>
                  <a:pt x="1359176" y="2448227"/>
                </a:lnTo>
                <a:lnTo>
                  <a:pt x="1306736" y="2436305"/>
                </a:lnTo>
                <a:lnTo>
                  <a:pt x="1254983" y="2423523"/>
                </a:lnTo>
                <a:lnTo>
                  <a:pt x="1203939" y="2409896"/>
                </a:lnTo>
                <a:lnTo>
                  <a:pt x="1153627" y="2395437"/>
                </a:lnTo>
                <a:lnTo>
                  <a:pt x="1104069" y="2380161"/>
                </a:lnTo>
                <a:lnTo>
                  <a:pt x="1055288" y="2364082"/>
                </a:lnTo>
                <a:lnTo>
                  <a:pt x="1007307" y="2347214"/>
                </a:lnTo>
                <a:lnTo>
                  <a:pt x="960148" y="2329570"/>
                </a:lnTo>
                <a:lnTo>
                  <a:pt x="913834" y="2311164"/>
                </a:lnTo>
                <a:lnTo>
                  <a:pt x="868388" y="2292011"/>
                </a:lnTo>
                <a:lnTo>
                  <a:pt x="823831" y="2272125"/>
                </a:lnTo>
                <a:lnTo>
                  <a:pt x="780188" y="2251520"/>
                </a:lnTo>
                <a:lnTo>
                  <a:pt x="737480" y="2230209"/>
                </a:lnTo>
                <a:lnTo>
                  <a:pt x="695729" y="2208207"/>
                </a:lnTo>
                <a:lnTo>
                  <a:pt x="654960" y="2185527"/>
                </a:lnTo>
                <a:lnTo>
                  <a:pt x="615193" y="2162184"/>
                </a:lnTo>
                <a:lnTo>
                  <a:pt x="576452" y="2138192"/>
                </a:lnTo>
                <a:lnTo>
                  <a:pt x="538760" y="2113564"/>
                </a:lnTo>
                <a:lnTo>
                  <a:pt x="502139" y="2088315"/>
                </a:lnTo>
                <a:lnTo>
                  <a:pt x="466611" y="2062458"/>
                </a:lnTo>
                <a:lnTo>
                  <a:pt x="432200" y="2036008"/>
                </a:lnTo>
                <a:lnTo>
                  <a:pt x="398927" y="2008979"/>
                </a:lnTo>
                <a:lnTo>
                  <a:pt x="366816" y="1981384"/>
                </a:lnTo>
                <a:lnTo>
                  <a:pt x="335889" y="1953238"/>
                </a:lnTo>
                <a:lnTo>
                  <a:pt x="306169" y="1924554"/>
                </a:lnTo>
                <a:lnTo>
                  <a:pt x="277678" y="1895347"/>
                </a:lnTo>
                <a:lnTo>
                  <a:pt x="250439" y="1865631"/>
                </a:lnTo>
                <a:lnTo>
                  <a:pt x="224475" y="1835419"/>
                </a:lnTo>
                <a:lnTo>
                  <a:pt x="199807" y="1804726"/>
                </a:lnTo>
                <a:lnTo>
                  <a:pt x="176460" y="1773566"/>
                </a:lnTo>
                <a:lnTo>
                  <a:pt x="154455" y="1741952"/>
                </a:lnTo>
                <a:lnTo>
                  <a:pt x="133815" y="1709898"/>
                </a:lnTo>
                <a:lnTo>
                  <a:pt x="96720" y="1644529"/>
                </a:lnTo>
                <a:lnTo>
                  <a:pt x="65357" y="1577570"/>
                </a:lnTo>
                <a:lnTo>
                  <a:pt x="39906" y="1509134"/>
                </a:lnTo>
                <a:lnTo>
                  <a:pt x="20548" y="1439331"/>
                </a:lnTo>
                <a:lnTo>
                  <a:pt x="7465" y="1368275"/>
                </a:lnTo>
                <a:lnTo>
                  <a:pt x="837" y="1296078"/>
                </a:lnTo>
                <a:lnTo>
                  <a:pt x="0" y="1259586"/>
                </a:lnTo>
                <a:close/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57164" y="4943094"/>
            <a:ext cx="2397125" cy="864235"/>
          </a:xfrm>
          <a:custGeom>
            <a:avLst/>
            <a:gdLst/>
            <a:ahLst/>
            <a:cxnLst/>
            <a:rect l="l" t="t" r="r" b="b"/>
            <a:pathLst>
              <a:path w="2397125" h="864235">
                <a:moveTo>
                  <a:pt x="2397125" y="576071"/>
                </a:moveTo>
                <a:lnTo>
                  <a:pt x="1317370" y="576071"/>
                </a:lnTo>
                <a:lnTo>
                  <a:pt x="1857247" y="864107"/>
                </a:lnTo>
                <a:lnTo>
                  <a:pt x="2397125" y="576071"/>
                </a:lnTo>
                <a:close/>
              </a:path>
              <a:path w="2397125" h="864235">
                <a:moveTo>
                  <a:pt x="1982281" y="288035"/>
                </a:moveTo>
                <a:lnTo>
                  <a:pt x="1047495" y="288035"/>
                </a:lnTo>
                <a:lnTo>
                  <a:pt x="1110439" y="289973"/>
                </a:lnTo>
                <a:lnTo>
                  <a:pt x="1171254" y="295640"/>
                </a:lnTo>
                <a:lnTo>
                  <a:pt x="1229535" y="304822"/>
                </a:lnTo>
                <a:lnTo>
                  <a:pt x="1284877" y="317303"/>
                </a:lnTo>
                <a:lnTo>
                  <a:pt x="1336874" y="332866"/>
                </a:lnTo>
                <a:lnTo>
                  <a:pt x="1385120" y="351297"/>
                </a:lnTo>
                <a:lnTo>
                  <a:pt x="1429210" y="372379"/>
                </a:lnTo>
                <a:lnTo>
                  <a:pt x="1468737" y="395897"/>
                </a:lnTo>
                <a:lnTo>
                  <a:pt x="1503296" y="421635"/>
                </a:lnTo>
                <a:lnTo>
                  <a:pt x="1532482" y="449377"/>
                </a:lnTo>
                <a:lnTo>
                  <a:pt x="1573109" y="510011"/>
                </a:lnTo>
                <a:lnTo>
                  <a:pt x="1587372" y="576071"/>
                </a:lnTo>
                <a:lnTo>
                  <a:pt x="2127250" y="576071"/>
                </a:lnTo>
                <a:lnTo>
                  <a:pt x="2120450" y="511174"/>
                </a:lnTo>
                <a:lnTo>
                  <a:pt x="2100588" y="448384"/>
                </a:lnTo>
                <a:lnTo>
                  <a:pt x="2068394" y="388090"/>
                </a:lnTo>
                <a:lnTo>
                  <a:pt x="2024596" y="330682"/>
                </a:lnTo>
                <a:lnTo>
                  <a:pt x="1998574" y="303181"/>
                </a:lnTo>
                <a:lnTo>
                  <a:pt x="1982281" y="288035"/>
                </a:lnTo>
                <a:close/>
              </a:path>
              <a:path w="2397125" h="864235">
                <a:moveTo>
                  <a:pt x="1047495" y="0"/>
                </a:moveTo>
                <a:lnTo>
                  <a:pt x="988380" y="855"/>
                </a:lnTo>
                <a:lnTo>
                  <a:pt x="929970" y="3397"/>
                </a:lnTo>
                <a:lnTo>
                  <a:pt x="872359" y="7585"/>
                </a:lnTo>
                <a:lnTo>
                  <a:pt x="815644" y="13378"/>
                </a:lnTo>
                <a:lnTo>
                  <a:pt x="759919" y="20739"/>
                </a:lnTo>
                <a:lnTo>
                  <a:pt x="705279" y="29627"/>
                </a:lnTo>
                <a:lnTo>
                  <a:pt x="651821" y="40002"/>
                </a:lnTo>
                <a:lnTo>
                  <a:pt x="599638" y="51826"/>
                </a:lnTo>
                <a:lnTo>
                  <a:pt x="548827" y="65057"/>
                </a:lnTo>
                <a:lnTo>
                  <a:pt x="499481" y="79658"/>
                </a:lnTo>
                <a:lnTo>
                  <a:pt x="451698" y="95588"/>
                </a:lnTo>
                <a:lnTo>
                  <a:pt x="405571" y="112807"/>
                </a:lnTo>
                <a:lnTo>
                  <a:pt x="361196" y="131276"/>
                </a:lnTo>
                <a:lnTo>
                  <a:pt x="318668" y="150956"/>
                </a:lnTo>
                <a:lnTo>
                  <a:pt x="278083" y="171806"/>
                </a:lnTo>
                <a:lnTo>
                  <a:pt x="239535" y="193788"/>
                </a:lnTo>
                <a:lnTo>
                  <a:pt x="203120" y="216861"/>
                </a:lnTo>
                <a:lnTo>
                  <a:pt x="168932" y="240986"/>
                </a:lnTo>
                <a:lnTo>
                  <a:pt x="137068" y="266123"/>
                </a:lnTo>
                <a:lnTo>
                  <a:pt x="107622" y="292234"/>
                </a:lnTo>
                <a:lnTo>
                  <a:pt x="80690" y="319277"/>
                </a:lnTo>
                <a:lnTo>
                  <a:pt x="34747" y="376005"/>
                </a:lnTo>
                <a:lnTo>
                  <a:pt x="0" y="435990"/>
                </a:lnTo>
                <a:lnTo>
                  <a:pt x="523748" y="506094"/>
                </a:lnTo>
                <a:lnTo>
                  <a:pt x="541969" y="474858"/>
                </a:lnTo>
                <a:lnTo>
                  <a:pt x="566248" y="445404"/>
                </a:lnTo>
                <a:lnTo>
                  <a:pt x="596165" y="417901"/>
                </a:lnTo>
                <a:lnTo>
                  <a:pt x="631255" y="392552"/>
                </a:lnTo>
                <a:lnTo>
                  <a:pt x="671123" y="369511"/>
                </a:lnTo>
                <a:lnTo>
                  <a:pt x="715327" y="348964"/>
                </a:lnTo>
                <a:lnTo>
                  <a:pt x="763436" y="331089"/>
                </a:lnTo>
                <a:lnTo>
                  <a:pt x="815020" y="316065"/>
                </a:lnTo>
                <a:lnTo>
                  <a:pt x="869648" y="304069"/>
                </a:lnTo>
                <a:lnTo>
                  <a:pt x="926890" y="295280"/>
                </a:lnTo>
                <a:lnTo>
                  <a:pt x="986316" y="289876"/>
                </a:lnTo>
                <a:lnTo>
                  <a:pt x="1047495" y="288035"/>
                </a:lnTo>
                <a:lnTo>
                  <a:pt x="1982281" y="288035"/>
                </a:lnTo>
                <a:lnTo>
                  <a:pt x="1969924" y="276548"/>
                </a:lnTo>
                <a:lnTo>
                  <a:pt x="1938737" y="250830"/>
                </a:lnTo>
                <a:lnTo>
                  <a:pt x="1905105" y="226078"/>
                </a:lnTo>
                <a:lnTo>
                  <a:pt x="1869119" y="202338"/>
                </a:lnTo>
                <a:lnTo>
                  <a:pt x="1830869" y="179660"/>
                </a:lnTo>
                <a:lnTo>
                  <a:pt x="1790448" y="158093"/>
                </a:lnTo>
                <a:lnTo>
                  <a:pt x="1747945" y="137685"/>
                </a:lnTo>
                <a:lnTo>
                  <a:pt x="1703453" y="118485"/>
                </a:lnTo>
                <a:lnTo>
                  <a:pt x="1657061" y="100541"/>
                </a:lnTo>
                <a:lnTo>
                  <a:pt x="1608862" y="83903"/>
                </a:lnTo>
                <a:lnTo>
                  <a:pt x="1558947" y="68618"/>
                </a:lnTo>
                <a:lnTo>
                  <a:pt x="1507406" y="54735"/>
                </a:lnTo>
                <a:lnTo>
                  <a:pt x="1454331" y="42304"/>
                </a:lnTo>
                <a:lnTo>
                  <a:pt x="1399812" y="31372"/>
                </a:lnTo>
                <a:lnTo>
                  <a:pt x="1343942" y="21989"/>
                </a:lnTo>
                <a:lnTo>
                  <a:pt x="1286810" y="14202"/>
                </a:lnTo>
                <a:lnTo>
                  <a:pt x="1228509" y="8062"/>
                </a:lnTo>
                <a:lnTo>
                  <a:pt x="1169128" y="3615"/>
                </a:lnTo>
                <a:lnTo>
                  <a:pt x="1108760" y="912"/>
                </a:lnTo>
                <a:lnTo>
                  <a:pt x="104749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57164" y="4943094"/>
            <a:ext cx="2397125" cy="864235"/>
          </a:xfrm>
          <a:custGeom>
            <a:avLst/>
            <a:gdLst/>
            <a:ahLst/>
            <a:cxnLst/>
            <a:rect l="l" t="t" r="r" b="b"/>
            <a:pathLst>
              <a:path w="2397125" h="864235">
                <a:moveTo>
                  <a:pt x="1587372" y="576071"/>
                </a:moveTo>
                <a:lnTo>
                  <a:pt x="1573109" y="510011"/>
                </a:lnTo>
                <a:lnTo>
                  <a:pt x="1532482" y="449377"/>
                </a:lnTo>
                <a:lnTo>
                  <a:pt x="1503296" y="421635"/>
                </a:lnTo>
                <a:lnTo>
                  <a:pt x="1468737" y="395897"/>
                </a:lnTo>
                <a:lnTo>
                  <a:pt x="1429210" y="372379"/>
                </a:lnTo>
                <a:lnTo>
                  <a:pt x="1385120" y="351297"/>
                </a:lnTo>
                <a:lnTo>
                  <a:pt x="1336874" y="332866"/>
                </a:lnTo>
                <a:lnTo>
                  <a:pt x="1284877" y="317303"/>
                </a:lnTo>
                <a:lnTo>
                  <a:pt x="1229535" y="304822"/>
                </a:lnTo>
                <a:lnTo>
                  <a:pt x="1171254" y="295640"/>
                </a:lnTo>
                <a:lnTo>
                  <a:pt x="1110439" y="289973"/>
                </a:lnTo>
                <a:lnTo>
                  <a:pt x="1047495" y="288035"/>
                </a:lnTo>
                <a:lnTo>
                  <a:pt x="986316" y="289876"/>
                </a:lnTo>
                <a:lnTo>
                  <a:pt x="926890" y="295280"/>
                </a:lnTo>
                <a:lnTo>
                  <a:pt x="869648" y="304069"/>
                </a:lnTo>
                <a:lnTo>
                  <a:pt x="815020" y="316065"/>
                </a:lnTo>
                <a:lnTo>
                  <a:pt x="763436" y="331089"/>
                </a:lnTo>
                <a:lnTo>
                  <a:pt x="715327" y="348964"/>
                </a:lnTo>
                <a:lnTo>
                  <a:pt x="671123" y="369511"/>
                </a:lnTo>
                <a:lnTo>
                  <a:pt x="631255" y="392552"/>
                </a:lnTo>
                <a:lnTo>
                  <a:pt x="596153" y="417909"/>
                </a:lnTo>
                <a:lnTo>
                  <a:pt x="566248" y="445404"/>
                </a:lnTo>
                <a:lnTo>
                  <a:pt x="541969" y="474858"/>
                </a:lnTo>
                <a:lnTo>
                  <a:pt x="523748" y="506094"/>
                </a:lnTo>
                <a:lnTo>
                  <a:pt x="0" y="435990"/>
                </a:lnTo>
                <a:lnTo>
                  <a:pt x="34747" y="376005"/>
                </a:lnTo>
                <a:lnTo>
                  <a:pt x="80690" y="319277"/>
                </a:lnTo>
                <a:lnTo>
                  <a:pt x="107622" y="292234"/>
                </a:lnTo>
                <a:lnTo>
                  <a:pt x="137068" y="266123"/>
                </a:lnTo>
                <a:lnTo>
                  <a:pt x="168932" y="240986"/>
                </a:lnTo>
                <a:lnTo>
                  <a:pt x="203120" y="216861"/>
                </a:lnTo>
                <a:lnTo>
                  <a:pt x="239535" y="193788"/>
                </a:lnTo>
                <a:lnTo>
                  <a:pt x="278083" y="171806"/>
                </a:lnTo>
                <a:lnTo>
                  <a:pt x="318668" y="150956"/>
                </a:lnTo>
                <a:lnTo>
                  <a:pt x="361196" y="131276"/>
                </a:lnTo>
                <a:lnTo>
                  <a:pt x="405571" y="112807"/>
                </a:lnTo>
                <a:lnTo>
                  <a:pt x="451698" y="95588"/>
                </a:lnTo>
                <a:lnTo>
                  <a:pt x="499481" y="79658"/>
                </a:lnTo>
                <a:lnTo>
                  <a:pt x="548827" y="65057"/>
                </a:lnTo>
                <a:lnTo>
                  <a:pt x="599638" y="51826"/>
                </a:lnTo>
                <a:lnTo>
                  <a:pt x="651821" y="40002"/>
                </a:lnTo>
                <a:lnTo>
                  <a:pt x="705279" y="29627"/>
                </a:lnTo>
                <a:lnTo>
                  <a:pt x="759919" y="20739"/>
                </a:lnTo>
                <a:lnTo>
                  <a:pt x="815644" y="13378"/>
                </a:lnTo>
                <a:lnTo>
                  <a:pt x="872359" y="7585"/>
                </a:lnTo>
                <a:lnTo>
                  <a:pt x="929970" y="3397"/>
                </a:lnTo>
                <a:lnTo>
                  <a:pt x="988380" y="855"/>
                </a:lnTo>
                <a:lnTo>
                  <a:pt x="1047495" y="0"/>
                </a:lnTo>
                <a:lnTo>
                  <a:pt x="1108760" y="912"/>
                </a:lnTo>
                <a:lnTo>
                  <a:pt x="1169128" y="3615"/>
                </a:lnTo>
                <a:lnTo>
                  <a:pt x="1228509" y="8062"/>
                </a:lnTo>
                <a:lnTo>
                  <a:pt x="1286810" y="14202"/>
                </a:lnTo>
                <a:lnTo>
                  <a:pt x="1343942" y="21989"/>
                </a:lnTo>
                <a:lnTo>
                  <a:pt x="1399812" y="31372"/>
                </a:lnTo>
                <a:lnTo>
                  <a:pt x="1454331" y="42304"/>
                </a:lnTo>
                <a:lnTo>
                  <a:pt x="1507406" y="54735"/>
                </a:lnTo>
                <a:lnTo>
                  <a:pt x="1558947" y="68618"/>
                </a:lnTo>
                <a:lnTo>
                  <a:pt x="1608862" y="83903"/>
                </a:lnTo>
                <a:lnTo>
                  <a:pt x="1657061" y="100541"/>
                </a:lnTo>
                <a:lnTo>
                  <a:pt x="1703453" y="118485"/>
                </a:lnTo>
                <a:lnTo>
                  <a:pt x="1747945" y="137685"/>
                </a:lnTo>
                <a:lnTo>
                  <a:pt x="1790448" y="158093"/>
                </a:lnTo>
                <a:lnTo>
                  <a:pt x="1830869" y="179660"/>
                </a:lnTo>
                <a:lnTo>
                  <a:pt x="1869119" y="202338"/>
                </a:lnTo>
                <a:lnTo>
                  <a:pt x="1905105" y="226078"/>
                </a:lnTo>
                <a:lnTo>
                  <a:pt x="1938737" y="250830"/>
                </a:lnTo>
                <a:lnTo>
                  <a:pt x="1969924" y="276548"/>
                </a:lnTo>
                <a:lnTo>
                  <a:pt x="1998574" y="303181"/>
                </a:lnTo>
                <a:lnTo>
                  <a:pt x="2047900" y="359001"/>
                </a:lnTo>
                <a:lnTo>
                  <a:pt x="2085987" y="417901"/>
                </a:lnTo>
                <a:lnTo>
                  <a:pt x="2112106" y="479491"/>
                </a:lnTo>
                <a:lnTo>
                  <a:pt x="2125528" y="543384"/>
                </a:lnTo>
                <a:lnTo>
                  <a:pt x="2127250" y="576071"/>
                </a:lnTo>
                <a:lnTo>
                  <a:pt x="2397125" y="576071"/>
                </a:lnTo>
                <a:lnTo>
                  <a:pt x="1857247" y="864107"/>
                </a:lnTo>
                <a:lnTo>
                  <a:pt x="1317370" y="576071"/>
                </a:lnTo>
                <a:lnTo>
                  <a:pt x="1587372" y="57607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444234" y="5805678"/>
            <a:ext cx="2700655" cy="850900"/>
          </a:xfrm>
          <a:custGeom>
            <a:avLst/>
            <a:gdLst/>
            <a:ahLst/>
            <a:cxnLst/>
            <a:rect l="l" t="t" r="r" b="b"/>
            <a:pathLst>
              <a:path w="2700654" h="850900">
                <a:moveTo>
                  <a:pt x="0" y="850392"/>
                </a:moveTo>
                <a:lnTo>
                  <a:pt x="2700527" y="850392"/>
                </a:lnTo>
                <a:lnTo>
                  <a:pt x="2700527" y="0"/>
                </a:lnTo>
                <a:lnTo>
                  <a:pt x="0" y="0"/>
                </a:lnTo>
                <a:lnTo>
                  <a:pt x="0" y="850392"/>
                </a:lnTo>
                <a:close/>
              </a:path>
            </a:pathLst>
          </a:custGeom>
          <a:ln w="25907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523481" y="5832144"/>
            <a:ext cx="24650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宋体"/>
                <a:cs typeface="宋体"/>
              </a:rPr>
              <a:t>估算结果</a:t>
            </a:r>
            <a:endParaRPr sz="4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77189"/>
            <a:ext cx="49720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自下而上估</a:t>
            </a:r>
            <a:r>
              <a:rPr spc="-10" dirty="0"/>
              <a:t>算</a:t>
            </a:r>
            <a:r>
              <a:rPr dirty="0"/>
              <a:t>---特点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8446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1989582"/>
            <a:ext cx="7772400" cy="1736089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10845" marR="350520" indent="-320040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相对比较准确，它的准</a:t>
            </a:r>
            <a:r>
              <a:rPr sz="2900" spc="-15" dirty="0">
                <a:latin typeface="华文新魏"/>
                <a:cs typeface="华文新魏"/>
              </a:rPr>
              <a:t>确</a:t>
            </a:r>
            <a:r>
              <a:rPr sz="2900" dirty="0">
                <a:latin typeface="华文新魏"/>
                <a:cs typeface="华文新魏"/>
              </a:rPr>
              <a:t>度来</a:t>
            </a:r>
            <a:r>
              <a:rPr sz="2900" spc="-15" dirty="0">
                <a:latin typeface="华文新魏"/>
                <a:cs typeface="华文新魏"/>
              </a:rPr>
              <a:t>源</a:t>
            </a:r>
            <a:r>
              <a:rPr sz="2900" dirty="0">
                <a:latin typeface="华文新魏"/>
                <a:cs typeface="华文新魏"/>
              </a:rPr>
              <a:t>于每</a:t>
            </a:r>
            <a:r>
              <a:rPr sz="2900" spc="-15" dirty="0">
                <a:latin typeface="华文新魏"/>
                <a:cs typeface="华文新魏"/>
              </a:rPr>
              <a:t>个</a:t>
            </a:r>
            <a:r>
              <a:rPr sz="2900" dirty="0">
                <a:latin typeface="华文新魏"/>
                <a:cs typeface="华文新魏"/>
              </a:rPr>
              <a:t>任务 的估算情况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花费时间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0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自下而上估算举例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123" y="765046"/>
            <a:ext cx="7417308" cy="6092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1446" y="1197102"/>
            <a:ext cx="2592705" cy="5401310"/>
          </a:xfrm>
          <a:custGeom>
            <a:avLst/>
            <a:gdLst/>
            <a:ahLst/>
            <a:cxnLst/>
            <a:rect l="l" t="t" r="r" b="b"/>
            <a:pathLst>
              <a:path w="2592704" h="5401309">
                <a:moveTo>
                  <a:pt x="0" y="5401056"/>
                </a:moveTo>
                <a:lnTo>
                  <a:pt x="2592324" y="5401056"/>
                </a:lnTo>
                <a:lnTo>
                  <a:pt x="2592324" y="0"/>
                </a:lnTo>
                <a:lnTo>
                  <a:pt x="0" y="0"/>
                </a:lnTo>
                <a:lnTo>
                  <a:pt x="0" y="54010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1446" y="2960370"/>
            <a:ext cx="6118860" cy="338455"/>
          </a:xfrm>
          <a:custGeom>
            <a:avLst/>
            <a:gdLst/>
            <a:ahLst/>
            <a:cxnLst/>
            <a:rect l="l" t="t" r="r" b="b"/>
            <a:pathLst>
              <a:path w="6118859" h="338454">
                <a:moveTo>
                  <a:pt x="0" y="338327"/>
                </a:moveTo>
                <a:lnTo>
                  <a:pt x="6118859" y="338327"/>
                </a:lnTo>
                <a:lnTo>
                  <a:pt x="6118859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3177" y="3812285"/>
            <a:ext cx="6122035" cy="338455"/>
          </a:xfrm>
          <a:custGeom>
            <a:avLst/>
            <a:gdLst/>
            <a:ahLst/>
            <a:cxnLst/>
            <a:rect l="l" t="t" r="r" b="b"/>
            <a:pathLst>
              <a:path w="6122034" h="338454">
                <a:moveTo>
                  <a:pt x="0" y="338327"/>
                </a:moveTo>
                <a:lnTo>
                  <a:pt x="6121908" y="338327"/>
                </a:lnTo>
                <a:lnTo>
                  <a:pt x="6121908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05421" y="1474469"/>
            <a:ext cx="1042669" cy="5123815"/>
          </a:xfrm>
          <a:custGeom>
            <a:avLst/>
            <a:gdLst/>
            <a:ahLst/>
            <a:cxnLst/>
            <a:rect l="l" t="t" r="r" b="b"/>
            <a:pathLst>
              <a:path w="1042670" h="5123815">
                <a:moveTo>
                  <a:pt x="0" y="5123688"/>
                </a:moveTo>
                <a:lnTo>
                  <a:pt x="1042416" y="5123688"/>
                </a:lnTo>
                <a:lnTo>
                  <a:pt x="1042416" y="0"/>
                </a:lnTo>
                <a:lnTo>
                  <a:pt x="0" y="0"/>
                </a:lnTo>
                <a:lnTo>
                  <a:pt x="0" y="512368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22826" y="6383273"/>
            <a:ext cx="1042669" cy="287020"/>
          </a:xfrm>
          <a:custGeom>
            <a:avLst/>
            <a:gdLst/>
            <a:ahLst/>
            <a:cxnLst/>
            <a:rect l="l" t="t" r="r" b="b"/>
            <a:pathLst>
              <a:path w="1042670" h="287020">
                <a:moveTo>
                  <a:pt x="0" y="286511"/>
                </a:moveTo>
                <a:lnTo>
                  <a:pt x="1042415" y="286511"/>
                </a:lnTo>
                <a:lnTo>
                  <a:pt x="1042415" y="0"/>
                </a:lnTo>
                <a:lnTo>
                  <a:pt x="0" y="0"/>
                </a:lnTo>
                <a:lnTo>
                  <a:pt x="0" y="286511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774698"/>
            <a:ext cx="7772400" cy="4258310"/>
          </a:xfrm>
          <a:custGeom>
            <a:avLst/>
            <a:gdLst/>
            <a:ahLst/>
            <a:cxnLst/>
            <a:rect l="l" t="t" r="r" b="b"/>
            <a:pathLst>
              <a:path w="7772400" h="4258310">
                <a:moveTo>
                  <a:pt x="0" y="4258056"/>
                </a:moveTo>
                <a:lnTo>
                  <a:pt x="7772400" y="4258056"/>
                </a:lnTo>
                <a:lnTo>
                  <a:pt x="7772400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4636642"/>
            <a:ext cx="19050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750" dirty="0">
                <a:solidFill>
                  <a:srgbClr val="DD8046"/>
                </a:solidFill>
                <a:latin typeface="华文新魏"/>
                <a:cs typeface="华文新魏"/>
              </a:rPr>
              <a:t>6.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代码行估算法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功能点估算法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用例点估算法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类</a:t>
            </a:r>
            <a:r>
              <a:rPr spc="705" dirty="0"/>
              <a:t>比</a:t>
            </a:r>
            <a:r>
              <a:rPr spc="-5" dirty="0"/>
              <a:t>(</a:t>
            </a:r>
            <a:r>
              <a:rPr dirty="0"/>
              <a:t>自顶向</a:t>
            </a:r>
            <a:r>
              <a:rPr spc="-5" dirty="0"/>
              <a:t>下)</a:t>
            </a:r>
            <a:r>
              <a:rPr dirty="0"/>
              <a:t>估算法</a:t>
            </a:r>
          </a:p>
          <a:p>
            <a:pPr marL="545465" marR="1092835" indent="-533400">
              <a:lnSpc>
                <a:spcPts val="4180"/>
              </a:lnSpc>
              <a:spcBef>
                <a:spcPts val="254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自下而上估算法 三点估算法</a:t>
            </a:r>
          </a:p>
          <a:p>
            <a:pPr marL="546100" indent="-533400">
              <a:lnSpc>
                <a:spcPct val="100000"/>
              </a:lnSpc>
              <a:spcBef>
                <a:spcPts val="450"/>
              </a:spcBef>
              <a:buClr>
                <a:srgbClr val="DD8046"/>
              </a:buClr>
              <a:buSzPct val="60344"/>
              <a:buAutoNum type="arabicPeriod" startAt="7"/>
              <a:tabLst>
                <a:tab pos="545465" algn="l"/>
                <a:tab pos="546100" algn="l"/>
              </a:tabLst>
            </a:pPr>
            <a:r>
              <a:rPr dirty="0"/>
              <a:t>参数估算法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 startAt="7"/>
              <a:tabLst>
                <a:tab pos="545465" algn="l"/>
                <a:tab pos="546100" algn="l"/>
              </a:tabLst>
            </a:pPr>
            <a:r>
              <a:rPr dirty="0"/>
              <a:t>专家估算法</a:t>
            </a:r>
          </a:p>
        </p:txBody>
      </p:sp>
      <p:sp>
        <p:nvSpPr>
          <p:cNvPr id="8" name="object 8"/>
          <p:cNvSpPr/>
          <p:nvPr/>
        </p:nvSpPr>
        <p:spPr>
          <a:xfrm>
            <a:off x="684276" y="4581144"/>
            <a:ext cx="577596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三点估算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0" y="1757299"/>
            <a:ext cx="821563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楷体"/>
                <a:cs typeface="华文楷体"/>
              </a:rPr>
              <a:t>基于</a:t>
            </a:r>
            <a:r>
              <a:rPr sz="2900" dirty="0">
                <a:latin typeface="华文仿宋"/>
                <a:cs typeface="华文仿宋"/>
              </a:rPr>
              <a:t>任</a:t>
            </a:r>
            <a:r>
              <a:rPr sz="2900" spc="-5" dirty="0">
                <a:latin typeface="华文仿宋"/>
                <a:cs typeface="华文仿宋"/>
              </a:rPr>
              <a:t>务</a:t>
            </a:r>
            <a:r>
              <a:rPr sz="2900" dirty="0">
                <a:latin typeface="华文楷体"/>
                <a:cs typeface="华文楷体"/>
              </a:rPr>
              <a:t>成本的三种估</a:t>
            </a:r>
            <a:r>
              <a:rPr sz="2900" spc="-15" dirty="0">
                <a:latin typeface="华文楷体"/>
                <a:cs typeface="华文楷体"/>
              </a:rPr>
              <a:t>算</a:t>
            </a:r>
            <a:r>
              <a:rPr sz="2900" dirty="0">
                <a:latin typeface="华文楷体"/>
                <a:cs typeface="华文楷体"/>
              </a:rPr>
              <a:t>值来</a:t>
            </a:r>
            <a:r>
              <a:rPr sz="2900" spc="-15" dirty="0">
                <a:latin typeface="华文楷体"/>
                <a:cs typeface="华文楷体"/>
              </a:rPr>
              <a:t>计</a:t>
            </a:r>
            <a:r>
              <a:rPr sz="2900" dirty="0">
                <a:latin typeface="华文楷体"/>
                <a:cs typeface="华文楷体"/>
              </a:rPr>
              <a:t>算预</a:t>
            </a:r>
            <a:r>
              <a:rPr sz="2900" spc="-15" dirty="0">
                <a:latin typeface="华文楷体"/>
                <a:cs typeface="华文楷体"/>
              </a:rPr>
              <a:t>期</a:t>
            </a:r>
            <a:r>
              <a:rPr sz="2900" dirty="0">
                <a:latin typeface="华文楷体"/>
                <a:cs typeface="华文楷体"/>
              </a:rPr>
              <a:t>成本</a:t>
            </a:r>
            <a:r>
              <a:rPr sz="2900" spc="-15" dirty="0">
                <a:latin typeface="华文楷体"/>
                <a:cs typeface="华文楷体"/>
              </a:rPr>
              <a:t>的</a:t>
            </a:r>
            <a:r>
              <a:rPr sz="2900" dirty="0">
                <a:latin typeface="华文楷体"/>
                <a:cs typeface="华文楷体"/>
              </a:rPr>
              <a:t>方</a:t>
            </a:r>
            <a:r>
              <a:rPr sz="2900" spc="5" dirty="0">
                <a:latin typeface="华文楷体"/>
                <a:cs typeface="华文楷体"/>
              </a:rPr>
              <a:t>法</a:t>
            </a:r>
            <a:r>
              <a:rPr sz="2900" dirty="0">
                <a:latin typeface="华文楷体"/>
                <a:cs typeface="华文楷体"/>
              </a:rPr>
              <a:t>.</a:t>
            </a:r>
            <a:endParaRPr sz="29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56267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5590" algn="l"/>
              </a:tabLst>
            </a:pPr>
            <a:r>
              <a:rPr dirty="0"/>
              <a:t>三点估</a:t>
            </a:r>
            <a:r>
              <a:rPr spc="1055" dirty="0"/>
              <a:t>算</a:t>
            </a:r>
            <a:r>
              <a:rPr dirty="0"/>
              <a:t>-	三种估算值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0" y="2313305"/>
            <a:ext cx="6835775" cy="13887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b="1" spc="5" dirty="0">
                <a:latin typeface="华文仿宋"/>
                <a:cs typeface="华文仿宋"/>
              </a:rPr>
              <a:t>最可能</a:t>
            </a:r>
            <a:r>
              <a:rPr sz="2400" b="1" spc="-5" dirty="0">
                <a:latin typeface="华文仿宋"/>
                <a:cs typeface="华文仿宋"/>
              </a:rPr>
              <a:t>成本（</a:t>
            </a:r>
            <a:r>
              <a:rPr sz="2400" b="1" i="1" spc="-5" dirty="0">
                <a:latin typeface="Tw Cen MT"/>
                <a:cs typeface="Tw Cen MT"/>
              </a:rPr>
              <a:t>C</a:t>
            </a:r>
            <a:r>
              <a:rPr sz="1400" b="1" i="1" spc="-5" dirty="0">
                <a:latin typeface="Tw Cen MT"/>
                <a:cs typeface="Tw Cen MT"/>
              </a:rPr>
              <a:t>M</a:t>
            </a:r>
            <a:r>
              <a:rPr sz="2400" b="1" spc="-5" dirty="0">
                <a:latin typeface="华文仿宋"/>
                <a:cs typeface="华文仿宋"/>
              </a:rPr>
              <a:t>）</a:t>
            </a:r>
            <a:r>
              <a:rPr sz="2400" b="1" spc="-5" dirty="0">
                <a:latin typeface="Tw Cen MT"/>
                <a:cs typeface="Tw Cen MT"/>
              </a:rPr>
              <a:t>:</a:t>
            </a:r>
            <a:r>
              <a:rPr sz="2400" dirty="0">
                <a:latin typeface="华文仿宋"/>
                <a:cs typeface="华文仿宋"/>
              </a:rPr>
              <a:t>比较现实的估算成本。</a:t>
            </a:r>
            <a:endParaRPr sz="24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b="1" spc="5" dirty="0">
                <a:latin typeface="华文仿宋"/>
                <a:cs typeface="华文仿宋"/>
              </a:rPr>
              <a:t>最乐观</a:t>
            </a:r>
            <a:r>
              <a:rPr sz="2400" b="1" spc="-5" dirty="0">
                <a:latin typeface="华文仿宋"/>
                <a:cs typeface="华文仿宋"/>
              </a:rPr>
              <a:t>成本（</a:t>
            </a:r>
            <a:r>
              <a:rPr sz="2400" b="1" i="1" spc="-5" dirty="0">
                <a:latin typeface="Tw Cen MT"/>
                <a:cs typeface="Tw Cen MT"/>
              </a:rPr>
              <a:t>C</a:t>
            </a:r>
            <a:r>
              <a:rPr sz="1400" b="1" i="1" spc="-5" dirty="0">
                <a:latin typeface="Tw Cen MT"/>
                <a:cs typeface="Tw Cen MT"/>
              </a:rPr>
              <a:t>O</a:t>
            </a:r>
            <a:r>
              <a:rPr sz="2400" b="1" spc="-5" dirty="0">
                <a:latin typeface="华文仿宋"/>
                <a:cs typeface="华文仿宋"/>
              </a:rPr>
              <a:t>）</a:t>
            </a:r>
            <a:r>
              <a:rPr sz="2400" b="1" spc="-5" dirty="0">
                <a:latin typeface="Tw Cen MT"/>
                <a:cs typeface="Tw Cen MT"/>
              </a:rPr>
              <a:t>:</a:t>
            </a:r>
            <a:r>
              <a:rPr sz="2400" dirty="0">
                <a:latin typeface="华文仿宋"/>
                <a:cs typeface="华文仿宋"/>
              </a:rPr>
              <a:t>最好情况所得到的估算成本。</a:t>
            </a:r>
            <a:endParaRPr sz="24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b="1" spc="5" dirty="0">
                <a:latin typeface="华文仿宋"/>
                <a:cs typeface="华文仿宋"/>
              </a:rPr>
              <a:t>最悲观</a:t>
            </a:r>
            <a:r>
              <a:rPr sz="2400" b="1" spc="-5" dirty="0">
                <a:latin typeface="华文仿宋"/>
                <a:cs typeface="华文仿宋"/>
              </a:rPr>
              <a:t>成本（</a:t>
            </a:r>
            <a:r>
              <a:rPr sz="2400" b="1" i="1" spc="-5" dirty="0">
                <a:latin typeface="Tw Cen MT"/>
                <a:cs typeface="Tw Cen MT"/>
              </a:rPr>
              <a:t>C</a:t>
            </a:r>
            <a:r>
              <a:rPr sz="1400" b="1" i="1" spc="-5" dirty="0">
                <a:latin typeface="Tw Cen MT"/>
                <a:cs typeface="Tw Cen MT"/>
              </a:rPr>
              <a:t>P</a:t>
            </a:r>
            <a:r>
              <a:rPr sz="2400" b="1" spc="-5" dirty="0">
                <a:latin typeface="华文仿宋"/>
                <a:cs typeface="华文仿宋"/>
              </a:rPr>
              <a:t>）</a:t>
            </a:r>
            <a:r>
              <a:rPr sz="2400" b="1" spc="-5" dirty="0">
                <a:latin typeface="Tw Cen MT"/>
                <a:cs typeface="Tw Cen MT"/>
              </a:rPr>
              <a:t>:</a:t>
            </a:r>
            <a:r>
              <a:rPr sz="2400" dirty="0">
                <a:latin typeface="华文仿宋"/>
                <a:cs typeface="华文仿宋"/>
              </a:rPr>
              <a:t>最差情况所得到的估算成本。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仿宋"/>
                <a:cs typeface="华文仿宋"/>
              </a:rPr>
              <a:t>三点估算结果</a:t>
            </a:r>
          </a:p>
        </p:txBody>
      </p:sp>
      <p:sp>
        <p:nvSpPr>
          <p:cNvPr id="3" name="object 3"/>
          <p:cNvSpPr/>
          <p:nvPr/>
        </p:nvSpPr>
        <p:spPr>
          <a:xfrm>
            <a:off x="613409" y="1600961"/>
            <a:ext cx="8153400" cy="1469390"/>
          </a:xfrm>
          <a:custGeom>
            <a:avLst/>
            <a:gdLst/>
            <a:ahLst/>
            <a:cxnLst/>
            <a:rect l="l" t="t" r="r" b="b"/>
            <a:pathLst>
              <a:path w="8153400" h="1469389">
                <a:moveTo>
                  <a:pt x="0" y="1469136"/>
                </a:moveTo>
                <a:lnTo>
                  <a:pt x="8153400" y="1469136"/>
                </a:lnTo>
                <a:lnTo>
                  <a:pt x="8153400" y="0"/>
                </a:lnTo>
                <a:lnTo>
                  <a:pt x="0" y="0"/>
                </a:lnTo>
                <a:lnTo>
                  <a:pt x="0" y="1469136"/>
                </a:lnTo>
                <a:close/>
              </a:path>
            </a:pathLst>
          </a:custGeom>
          <a:ln w="28956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523212"/>
            <a:ext cx="6109335" cy="11779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  <a:tab pos="2978785" algn="l"/>
                <a:tab pos="4552950" algn="l"/>
              </a:tabLst>
            </a:pPr>
            <a:r>
              <a:rPr sz="2900" b="1" spc="5" dirty="0">
                <a:latin typeface="华文仿宋"/>
                <a:cs typeface="华文仿宋"/>
              </a:rPr>
              <a:t>三角</a:t>
            </a:r>
            <a:r>
              <a:rPr sz="2900" b="1" dirty="0">
                <a:latin typeface="华文仿宋"/>
                <a:cs typeface="华文仿宋"/>
              </a:rPr>
              <a:t>分</a:t>
            </a:r>
            <a:r>
              <a:rPr sz="2900" b="1" spc="5" dirty="0">
                <a:latin typeface="华文仿宋"/>
                <a:cs typeface="华文仿宋"/>
              </a:rPr>
              <a:t>布</a:t>
            </a:r>
            <a:r>
              <a:rPr sz="2900" b="1" dirty="0">
                <a:latin typeface="Tw Cen MT"/>
                <a:cs typeface="Tw Cen MT"/>
              </a:rPr>
              <a:t>:</a:t>
            </a:r>
            <a:r>
              <a:rPr sz="2900" b="1" spc="-15" dirty="0">
                <a:latin typeface="Tw Cen MT"/>
                <a:cs typeface="Tw Cen MT"/>
              </a:rPr>
              <a:t> </a:t>
            </a:r>
            <a:r>
              <a:rPr sz="2900" b="1" spc="-5" dirty="0">
                <a:latin typeface="Tw Cen MT"/>
                <a:cs typeface="Tw Cen MT"/>
              </a:rPr>
              <a:t>C</a:t>
            </a:r>
            <a:r>
              <a:rPr sz="1200" i="1" dirty="0">
                <a:latin typeface="Tw Cen MT"/>
                <a:cs typeface="Tw Cen MT"/>
              </a:rPr>
              <a:t>E</a:t>
            </a:r>
            <a:r>
              <a:rPr sz="1200" i="1" spc="-4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 (	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O </a:t>
            </a:r>
            <a:r>
              <a:rPr sz="1800" b="1" i="1" spc="-15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+</a:t>
            </a:r>
            <a:r>
              <a:rPr sz="2900" spc="45" dirty="0">
                <a:latin typeface="Tw Cen MT"/>
                <a:cs typeface="Tw Cen MT"/>
              </a:rPr>
              <a:t> 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M	</a:t>
            </a:r>
            <a:r>
              <a:rPr sz="2900" dirty="0">
                <a:latin typeface="Tw Cen MT"/>
                <a:cs typeface="Tw Cen MT"/>
              </a:rPr>
              <a:t>+</a:t>
            </a:r>
            <a:r>
              <a:rPr sz="2900" spc="50" dirty="0">
                <a:latin typeface="Tw Cen MT"/>
                <a:cs typeface="Tw Cen MT"/>
              </a:rPr>
              <a:t> 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)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/ 3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  <a:tab pos="3070225" algn="l"/>
              </a:tabLst>
            </a:pPr>
            <a:r>
              <a:rPr sz="2900" b="1" spc="5" dirty="0">
                <a:latin typeface="华文仿宋"/>
                <a:cs typeface="华文仿宋"/>
              </a:rPr>
              <a:t>贝塔</a:t>
            </a:r>
            <a:r>
              <a:rPr sz="2900" b="1" dirty="0">
                <a:latin typeface="华文仿宋"/>
                <a:cs typeface="华文仿宋"/>
              </a:rPr>
              <a:t>分</a:t>
            </a:r>
            <a:r>
              <a:rPr sz="2900" b="1" spc="5" dirty="0">
                <a:latin typeface="华文仿宋"/>
                <a:cs typeface="华文仿宋"/>
              </a:rPr>
              <a:t>布</a:t>
            </a:r>
            <a:r>
              <a:rPr sz="2900" b="1" dirty="0">
                <a:latin typeface="Tw Cen MT"/>
                <a:cs typeface="Tw Cen MT"/>
              </a:rPr>
              <a:t>:</a:t>
            </a:r>
            <a:r>
              <a:rPr sz="2900" b="1" spc="-15" dirty="0">
                <a:latin typeface="Tw Cen MT"/>
                <a:cs typeface="Tw Cen MT"/>
              </a:rPr>
              <a:t> </a:t>
            </a:r>
            <a:r>
              <a:rPr sz="2900" i="1" spc="-5" dirty="0">
                <a:latin typeface="Tw Cen MT"/>
                <a:cs typeface="Tw Cen MT"/>
              </a:rPr>
              <a:t>C</a:t>
            </a:r>
            <a:r>
              <a:rPr sz="1600" i="1" spc="-5" dirty="0">
                <a:latin typeface="Tw Cen MT"/>
                <a:cs typeface="Tw Cen MT"/>
              </a:rPr>
              <a:t>E</a:t>
            </a:r>
            <a:r>
              <a:rPr sz="1600" i="1" spc="3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</a:t>
            </a:r>
            <a:r>
              <a:rPr sz="2900" spc="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(	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O </a:t>
            </a:r>
            <a:r>
              <a:rPr sz="2900" dirty="0">
                <a:latin typeface="Tw Cen MT"/>
                <a:cs typeface="Tw Cen MT"/>
              </a:rPr>
              <a:t>+ 4 </a:t>
            </a:r>
            <a:r>
              <a:rPr sz="2800" b="1" i="1" spc="-5" dirty="0">
                <a:latin typeface="Tw Cen MT"/>
                <a:cs typeface="Tw Cen MT"/>
              </a:rPr>
              <a:t>C</a:t>
            </a:r>
            <a:r>
              <a:rPr sz="1600" b="1" i="1" spc="-5" dirty="0">
                <a:latin typeface="Tw Cen MT"/>
                <a:cs typeface="Tw Cen MT"/>
              </a:rPr>
              <a:t>M </a:t>
            </a:r>
            <a:r>
              <a:rPr sz="2900" dirty="0">
                <a:latin typeface="Tw Cen MT"/>
                <a:cs typeface="Tw Cen MT"/>
              </a:rPr>
              <a:t>+ 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P</a:t>
            </a:r>
            <a:r>
              <a:rPr sz="3200" b="1" i="1" dirty="0">
                <a:latin typeface="Tw Cen MT"/>
                <a:cs typeface="Tw Cen MT"/>
              </a:rPr>
              <a:t>) </a:t>
            </a:r>
            <a:r>
              <a:rPr sz="2900" dirty="0">
                <a:latin typeface="Tw Cen MT"/>
                <a:cs typeface="Tw Cen MT"/>
              </a:rPr>
              <a:t>/</a:t>
            </a:r>
            <a:r>
              <a:rPr sz="2900" spc="-409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6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64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46869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仿宋"/>
                <a:cs typeface="华文仿宋"/>
              </a:rPr>
              <a:t>三点估算结果</a:t>
            </a:r>
            <a:r>
              <a:rPr i="0" spc="-5" dirty="0">
                <a:latin typeface="Tw Cen MT"/>
                <a:cs typeface="Tw Cen MT"/>
              </a:rPr>
              <a:t>-</a:t>
            </a:r>
            <a:r>
              <a:rPr i="0" dirty="0">
                <a:latin typeface="华文仿宋"/>
                <a:cs typeface="华文仿宋"/>
              </a:rPr>
              <a:t>举例</a:t>
            </a:r>
          </a:p>
        </p:txBody>
      </p:sp>
      <p:sp>
        <p:nvSpPr>
          <p:cNvPr id="3" name="object 3"/>
          <p:cNvSpPr/>
          <p:nvPr/>
        </p:nvSpPr>
        <p:spPr>
          <a:xfrm>
            <a:off x="613409" y="1600961"/>
            <a:ext cx="8153400" cy="1469390"/>
          </a:xfrm>
          <a:custGeom>
            <a:avLst/>
            <a:gdLst/>
            <a:ahLst/>
            <a:cxnLst/>
            <a:rect l="l" t="t" r="r" b="b"/>
            <a:pathLst>
              <a:path w="8153400" h="1469389">
                <a:moveTo>
                  <a:pt x="0" y="1469136"/>
                </a:moveTo>
                <a:lnTo>
                  <a:pt x="8153400" y="1469136"/>
                </a:lnTo>
                <a:lnTo>
                  <a:pt x="8153400" y="0"/>
                </a:lnTo>
                <a:lnTo>
                  <a:pt x="0" y="0"/>
                </a:lnTo>
                <a:lnTo>
                  <a:pt x="0" y="1469136"/>
                </a:lnTo>
                <a:close/>
              </a:path>
            </a:pathLst>
          </a:custGeom>
          <a:ln w="28956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523212"/>
            <a:ext cx="6109335" cy="11779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  <a:tab pos="2978785" algn="l"/>
                <a:tab pos="4552950" algn="l"/>
              </a:tabLst>
            </a:pPr>
            <a:r>
              <a:rPr sz="2900" b="1" spc="5" dirty="0">
                <a:latin typeface="华文仿宋"/>
                <a:cs typeface="华文仿宋"/>
              </a:rPr>
              <a:t>三角</a:t>
            </a:r>
            <a:r>
              <a:rPr sz="2900" b="1" dirty="0">
                <a:latin typeface="华文仿宋"/>
                <a:cs typeface="华文仿宋"/>
              </a:rPr>
              <a:t>分</a:t>
            </a:r>
            <a:r>
              <a:rPr sz="2900" b="1" spc="5" dirty="0">
                <a:latin typeface="华文仿宋"/>
                <a:cs typeface="华文仿宋"/>
              </a:rPr>
              <a:t>布</a:t>
            </a:r>
            <a:r>
              <a:rPr sz="2900" b="1" dirty="0">
                <a:latin typeface="Tw Cen MT"/>
                <a:cs typeface="Tw Cen MT"/>
              </a:rPr>
              <a:t>:</a:t>
            </a:r>
            <a:r>
              <a:rPr sz="2900" b="1" spc="-15" dirty="0">
                <a:latin typeface="Tw Cen MT"/>
                <a:cs typeface="Tw Cen MT"/>
              </a:rPr>
              <a:t> </a:t>
            </a:r>
            <a:r>
              <a:rPr sz="2900" b="1" spc="-5" dirty="0">
                <a:latin typeface="Tw Cen MT"/>
                <a:cs typeface="Tw Cen MT"/>
              </a:rPr>
              <a:t>C</a:t>
            </a:r>
            <a:r>
              <a:rPr sz="1200" i="1" dirty="0">
                <a:latin typeface="Tw Cen MT"/>
                <a:cs typeface="Tw Cen MT"/>
              </a:rPr>
              <a:t>E</a:t>
            </a:r>
            <a:r>
              <a:rPr sz="1200" i="1" spc="-4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 (	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O </a:t>
            </a:r>
            <a:r>
              <a:rPr sz="1800" b="1" i="1" spc="-15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+</a:t>
            </a:r>
            <a:r>
              <a:rPr sz="2900" spc="45" dirty="0">
                <a:latin typeface="Tw Cen MT"/>
                <a:cs typeface="Tw Cen MT"/>
              </a:rPr>
              <a:t> 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M	</a:t>
            </a:r>
            <a:r>
              <a:rPr sz="2900" dirty="0">
                <a:latin typeface="Tw Cen MT"/>
                <a:cs typeface="Tw Cen MT"/>
              </a:rPr>
              <a:t>+</a:t>
            </a:r>
            <a:r>
              <a:rPr sz="2900" spc="50" dirty="0">
                <a:latin typeface="Tw Cen MT"/>
                <a:cs typeface="Tw Cen MT"/>
              </a:rPr>
              <a:t> 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)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/ 3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  <a:tab pos="3070225" algn="l"/>
              </a:tabLst>
            </a:pPr>
            <a:r>
              <a:rPr sz="2900" b="1" spc="5" dirty="0">
                <a:latin typeface="华文仿宋"/>
                <a:cs typeface="华文仿宋"/>
              </a:rPr>
              <a:t>贝塔</a:t>
            </a:r>
            <a:r>
              <a:rPr sz="2900" b="1" dirty="0">
                <a:latin typeface="华文仿宋"/>
                <a:cs typeface="华文仿宋"/>
              </a:rPr>
              <a:t>分</a:t>
            </a:r>
            <a:r>
              <a:rPr sz="2900" b="1" spc="5" dirty="0">
                <a:latin typeface="华文仿宋"/>
                <a:cs typeface="华文仿宋"/>
              </a:rPr>
              <a:t>布</a:t>
            </a:r>
            <a:r>
              <a:rPr sz="2900" b="1" dirty="0">
                <a:latin typeface="Tw Cen MT"/>
                <a:cs typeface="Tw Cen MT"/>
              </a:rPr>
              <a:t>:</a:t>
            </a:r>
            <a:r>
              <a:rPr sz="2900" b="1" spc="-15" dirty="0">
                <a:latin typeface="Tw Cen MT"/>
                <a:cs typeface="Tw Cen MT"/>
              </a:rPr>
              <a:t> </a:t>
            </a:r>
            <a:r>
              <a:rPr sz="2900" i="1" spc="-5" dirty="0">
                <a:latin typeface="Tw Cen MT"/>
                <a:cs typeface="Tw Cen MT"/>
              </a:rPr>
              <a:t>C</a:t>
            </a:r>
            <a:r>
              <a:rPr sz="1600" i="1" spc="-5" dirty="0">
                <a:latin typeface="Tw Cen MT"/>
                <a:cs typeface="Tw Cen MT"/>
              </a:rPr>
              <a:t>E</a:t>
            </a:r>
            <a:r>
              <a:rPr sz="1600" i="1" spc="3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</a:t>
            </a:r>
            <a:r>
              <a:rPr sz="2900" spc="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(	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O </a:t>
            </a:r>
            <a:r>
              <a:rPr sz="2900" dirty="0">
                <a:latin typeface="Tw Cen MT"/>
                <a:cs typeface="Tw Cen MT"/>
              </a:rPr>
              <a:t>+ 4 </a:t>
            </a:r>
            <a:r>
              <a:rPr sz="2800" b="1" i="1" spc="-5" dirty="0">
                <a:latin typeface="Tw Cen MT"/>
                <a:cs typeface="Tw Cen MT"/>
              </a:rPr>
              <a:t>C</a:t>
            </a:r>
            <a:r>
              <a:rPr sz="1600" b="1" i="1" spc="-5" dirty="0">
                <a:latin typeface="Tw Cen MT"/>
                <a:cs typeface="Tw Cen MT"/>
              </a:rPr>
              <a:t>M </a:t>
            </a:r>
            <a:r>
              <a:rPr sz="2900" dirty="0">
                <a:latin typeface="Tw Cen MT"/>
                <a:cs typeface="Tw Cen MT"/>
              </a:rPr>
              <a:t>+ </a:t>
            </a:r>
            <a:r>
              <a:rPr sz="3200" b="1" i="1" dirty="0">
                <a:latin typeface="Tw Cen MT"/>
                <a:cs typeface="Tw Cen MT"/>
              </a:rPr>
              <a:t>C</a:t>
            </a:r>
            <a:r>
              <a:rPr sz="1800" b="1" i="1" dirty="0">
                <a:latin typeface="Tw Cen MT"/>
                <a:cs typeface="Tw Cen MT"/>
              </a:rPr>
              <a:t>P</a:t>
            </a:r>
            <a:r>
              <a:rPr sz="3200" b="1" i="1" dirty="0">
                <a:latin typeface="Tw Cen MT"/>
                <a:cs typeface="Tw Cen MT"/>
              </a:rPr>
              <a:t>) </a:t>
            </a:r>
            <a:r>
              <a:rPr sz="2900" dirty="0">
                <a:latin typeface="Tw Cen MT"/>
                <a:cs typeface="Tw Cen MT"/>
              </a:rPr>
              <a:t>/</a:t>
            </a:r>
            <a:r>
              <a:rPr sz="2900" spc="-409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6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409" y="3574541"/>
            <a:ext cx="8153400" cy="2376170"/>
          </a:xfrm>
          <a:prstGeom prst="rect">
            <a:avLst/>
          </a:prstGeom>
          <a:ln w="28955">
            <a:solidFill>
              <a:srgbClr val="001F5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7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900" dirty="0">
                <a:latin typeface="华文仿宋"/>
                <a:cs typeface="华文仿宋"/>
              </a:rPr>
              <a:t>例</a:t>
            </a:r>
            <a:r>
              <a:rPr sz="2900" spc="-5" dirty="0">
                <a:latin typeface="华文仿宋"/>
                <a:cs typeface="华文仿宋"/>
              </a:rPr>
              <a:t>如</a:t>
            </a:r>
            <a:r>
              <a:rPr sz="2900" dirty="0">
                <a:latin typeface="Tw Cen MT"/>
                <a:cs typeface="Tw Cen MT"/>
              </a:rPr>
              <a:t>: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800" b="1" i="1" spc="-5" dirty="0">
                <a:latin typeface="Tw Cen MT"/>
                <a:cs typeface="Tw Cen MT"/>
              </a:rPr>
              <a:t>C</a:t>
            </a:r>
            <a:r>
              <a:rPr sz="1600" b="1" i="1" spc="-5" dirty="0">
                <a:latin typeface="Tw Cen MT"/>
                <a:cs typeface="Tw Cen MT"/>
              </a:rPr>
              <a:t>O</a:t>
            </a:r>
            <a:r>
              <a:rPr sz="1600" b="1" i="1" spc="385" dirty="0">
                <a:latin typeface="Tw Cen MT"/>
                <a:cs typeface="Tw Cen MT"/>
              </a:rPr>
              <a:t> </a:t>
            </a:r>
            <a:r>
              <a:rPr sz="2900" i="1" dirty="0">
                <a:latin typeface="Tw Cen MT"/>
                <a:cs typeface="Tw Cen MT"/>
              </a:rPr>
              <a:t>=7,</a:t>
            </a:r>
            <a:r>
              <a:rPr sz="2900" i="1" spc="-55" dirty="0">
                <a:latin typeface="Tw Cen MT"/>
                <a:cs typeface="Tw Cen MT"/>
              </a:rPr>
              <a:t> </a:t>
            </a:r>
            <a:r>
              <a:rPr sz="4000" b="1" i="1" spc="-5" dirty="0">
                <a:latin typeface="Tw Cen MT"/>
                <a:cs typeface="Tw Cen MT"/>
              </a:rPr>
              <a:t>C</a:t>
            </a:r>
            <a:r>
              <a:rPr sz="2400" b="1" i="1" spc="-5" dirty="0">
                <a:latin typeface="Tw Cen MT"/>
                <a:cs typeface="Tw Cen MT"/>
              </a:rPr>
              <a:t>P</a:t>
            </a:r>
            <a:r>
              <a:rPr sz="2400" b="1" i="1" spc="225" dirty="0">
                <a:latin typeface="Tw Cen MT"/>
                <a:cs typeface="Tw Cen MT"/>
              </a:rPr>
              <a:t> </a:t>
            </a:r>
            <a:r>
              <a:rPr sz="2900" i="1" dirty="0">
                <a:latin typeface="Tw Cen MT"/>
                <a:cs typeface="Tw Cen MT"/>
              </a:rPr>
              <a:t>=12,</a:t>
            </a:r>
            <a:r>
              <a:rPr sz="2900" i="1" spc="-15" dirty="0">
                <a:latin typeface="Tw Cen MT"/>
                <a:cs typeface="Tw Cen MT"/>
              </a:rPr>
              <a:t> </a:t>
            </a:r>
            <a:r>
              <a:rPr sz="2800" b="1" i="1" spc="-5" dirty="0">
                <a:latin typeface="Tw Cen MT"/>
                <a:cs typeface="Tw Cen MT"/>
              </a:rPr>
              <a:t>C</a:t>
            </a:r>
            <a:r>
              <a:rPr sz="1600" b="1" i="1" spc="-5" dirty="0">
                <a:latin typeface="Tw Cen MT"/>
                <a:cs typeface="Tw Cen MT"/>
              </a:rPr>
              <a:t>M</a:t>
            </a:r>
            <a:r>
              <a:rPr sz="1600" b="1" i="1" spc="20" dirty="0">
                <a:latin typeface="Tw Cen MT"/>
                <a:cs typeface="Tw Cen MT"/>
              </a:rPr>
              <a:t> </a:t>
            </a:r>
            <a:r>
              <a:rPr sz="2900" i="1" spc="-5" dirty="0">
                <a:latin typeface="Tw Cen MT"/>
                <a:cs typeface="Tw Cen MT"/>
              </a:rPr>
              <a:t>=9</a:t>
            </a:r>
            <a:endParaRPr sz="2900">
              <a:latin typeface="Tw Cen MT"/>
              <a:cs typeface="Tw Cen MT"/>
            </a:endParaRPr>
          </a:p>
          <a:p>
            <a:pPr marL="90805">
              <a:lnSpc>
                <a:spcPct val="100000"/>
              </a:lnSpc>
              <a:spcBef>
                <a:spcPts val="715"/>
              </a:spcBef>
            </a:pPr>
            <a:r>
              <a:rPr sz="2900" b="1" spc="5" dirty="0">
                <a:latin typeface="华文仿宋"/>
                <a:cs typeface="华文仿宋"/>
              </a:rPr>
              <a:t>三角</a:t>
            </a:r>
            <a:r>
              <a:rPr sz="2900" b="1" dirty="0">
                <a:latin typeface="华文仿宋"/>
                <a:cs typeface="华文仿宋"/>
              </a:rPr>
              <a:t>分</a:t>
            </a:r>
            <a:r>
              <a:rPr sz="2900" b="1" spc="5" dirty="0">
                <a:latin typeface="华文仿宋"/>
                <a:cs typeface="华文仿宋"/>
              </a:rPr>
              <a:t>布</a:t>
            </a:r>
            <a:r>
              <a:rPr sz="2900" b="1" dirty="0">
                <a:latin typeface="Tw Cen MT"/>
                <a:cs typeface="Tw Cen MT"/>
              </a:rPr>
              <a:t>:</a:t>
            </a:r>
            <a:r>
              <a:rPr sz="2900" b="1" spc="-15" dirty="0">
                <a:latin typeface="Tw Cen MT"/>
                <a:cs typeface="Tw Cen MT"/>
              </a:rPr>
              <a:t> </a:t>
            </a:r>
            <a:r>
              <a:rPr sz="2900" b="1" spc="-5" dirty="0">
                <a:latin typeface="Tw Cen MT"/>
                <a:cs typeface="Tw Cen MT"/>
              </a:rPr>
              <a:t>C</a:t>
            </a:r>
            <a:r>
              <a:rPr sz="1200" i="1" dirty="0">
                <a:latin typeface="Tw Cen MT"/>
                <a:cs typeface="Tw Cen MT"/>
              </a:rPr>
              <a:t>E</a:t>
            </a:r>
            <a:r>
              <a:rPr sz="1200" i="1" spc="-45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=</a:t>
            </a:r>
            <a:r>
              <a:rPr sz="2900" dirty="0">
                <a:latin typeface="Tw Cen MT"/>
                <a:cs typeface="Tw Cen MT"/>
              </a:rPr>
              <a:t>9.</a:t>
            </a:r>
            <a:r>
              <a:rPr sz="2900" spc="5" dirty="0">
                <a:latin typeface="Tw Cen MT"/>
                <a:cs typeface="Tw Cen MT"/>
              </a:rPr>
              <a:t>3</a:t>
            </a:r>
            <a:r>
              <a:rPr sz="2900" dirty="0">
                <a:latin typeface="Tw Cen MT"/>
                <a:cs typeface="Tw Cen MT"/>
              </a:rPr>
              <a:t>3</a:t>
            </a:r>
            <a:endParaRPr sz="2900">
              <a:latin typeface="Tw Cen MT"/>
              <a:cs typeface="Tw Cen MT"/>
            </a:endParaRPr>
          </a:p>
          <a:p>
            <a:pPr marL="90805">
              <a:lnSpc>
                <a:spcPct val="100000"/>
              </a:lnSpc>
              <a:spcBef>
                <a:spcPts val="700"/>
              </a:spcBef>
            </a:pPr>
            <a:r>
              <a:rPr sz="2900" b="1" spc="5" dirty="0">
                <a:latin typeface="华文仿宋"/>
                <a:cs typeface="华文仿宋"/>
              </a:rPr>
              <a:t>贝塔</a:t>
            </a:r>
            <a:r>
              <a:rPr sz="2900" b="1" dirty="0">
                <a:latin typeface="华文仿宋"/>
                <a:cs typeface="华文仿宋"/>
              </a:rPr>
              <a:t>分</a:t>
            </a:r>
            <a:r>
              <a:rPr sz="2900" b="1" spc="5" dirty="0">
                <a:latin typeface="华文仿宋"/>
                <a:cs typeface="华文仿宋"/>
              </a:rPr>
              <a:t>布</a:t>
            </a:r>
            <a:r>
              <a:rPr sz="2900" b="1" dirty="0">
                <a:latin typeface="Tw Cen MT"/>
                <a:cs typeface="Tw Cen MT"/>
              </a:rPr>
              <a:t>:</a:t>
            </a:r>
            <a:r>
              <a:rPr sz="2900" b="1" spc="-20" dirty="0">
                <a:latin typeface="Tw Cen MT"/>
                <a:cs typeface="Tw Cen MT"/>
              </a:rPr>
              <a:t> </a:t>
            </a:r>
            <a:r>
              <a:rPr sz="2900" i="1" spc="-5" dirty="0">
                <a:latin typeface="Tw Cen MT"/>
                <a:cs typeface="Tw Cen MT"/>
              </a:rPr>
              <a:t>C</a:t>
            </a:r>
            <a:r>
              <a:rPr sz="1600" i="1" spc="-5" dirty="0">
                <a:latin typeface="Tw Cen MT"/>
                <a:cs typeface="Tw Cen MT"/>
              </a:rPr>
              <a:t>E</a:t>
            </a:r>
            <a:r>
              <a:rPr sz="1600" i="1" spc="3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=10.67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917954"/>
            <a:ext cx="7772400" cy="4114800"/>
          </a:xfrm>
          <a:custGeom>
            <a:avLst/>
            <a:gdLst/>
            <a:ahLst/>
            <a:cxnLst/>
            <a:rect l="l" t="t" r="r" b="b"/>
            <a:pathLst>
              <a:path w="7772400" h="4114800">
                <a:moveTo>
                  <a:pt x="0" y="4114800"/>
                </a:moveTo>
                <a:lnTo>
                  <a:pt x="7772400" y="4114800"/>
                </a:lnTo>
                <a:lnTo>
                  <a:pt x="77724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5312917"/>
            <a:ext cx="19050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750" dirty="0">
                <a:solidFill>
                  <a:srgbClr val="DD8046"/>
                </a:solidFill>
                <a:latin typeface="华文新魏"/>
                <a:cs typeface="华文新魏"/>
              </a:rPr>
              <a:t>7.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168" y="1834744"/>
            <a:ext cx="4228465" cy="42722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sz="2900" dirty="0">
                <a:latin typeface="华文新魏"/>
                <a:cs typeface="华文新魏"/>
              </a:rPr>
              <a:t>代码行估算法</a:t>
            </a:r>
            <a:endParaRPr sz="2900">
              <a:latin typeface="华文新魏"/>
              <a:cs typeface="华文新魏"/>
            </a:endParaRP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sz="2900" dirty="0">
                <a:latin typeface="华文新魏"/>
                <a:cs typeface="华文新魏"/>
              </a:rPr>
              <a:t>功能点估算法</a:t>
            </a:r>
            <a:endParaRPr sz="2900">
              <a:latin typeface="华文新魏"/>
              <a:cs typeface="华文新魏"/>
            </a:endParaRP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sz="2900" dirty="0">
                <a:latin typeface="华文新魏"/>
                <a:cs typeface="华文新魏"/>
              </a:rPr>
              <a:t>用例点估算法</a:t>
            </a:r>
            <a:endParaRPr sz="2900">
              <a:latin typeface="华文新魏"/>
              <a:cs typeface="华文新魏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sz="2900" dirty="0">
                <a:latin typeface="华文新魏"/>
                <a:cs typeface="华文新魏"/>
              </a:rPr>
              <a:t>类</a:t>
            </a:r>
            <a:r>
              <a:rPr sz="2900" spc="705" dirty="0">
                <a:latin typeface="华文新魏"/>
                <a:cs typeface="华文新魏"/>
              </a:rPr>
              <a:t>比</a:t>
            </a:r>
            <a:r>
              <a:rPr sz="2900" spc="-5" dirty="0">
                <a:latin typeface="华文新魏"/>
                <a:cs typeface="华文新魏"/>
              </a:rPr>
              <a:t>(</a:t>
            </a:r>
            <a:r>
              <a:rPr sz="2900" dirty="0">
                <a:latin typeface="华文新魏"/>
                <a:cs typeface="华文新魏"/>
              </a:rPr>
              <a:t>自顶向</a:t>
            </a:r>
            <a:r>
              <a:rPr sz="2900" spc="-5" dirty="0">
                <a:latin typeface="华文新魏"/>
                <a:cs typeface="华文新魏"/>
              </a:rPr>
              <a:t>下)</a:t>
            </a:r>
            <a:r>
              <a:rPr sz="2900" dirty="0">
                <a:latin typeface="华文新魏"/>
                <a:cs typeface="华文新魏"/>
              </a:rPr>
              <a:t>估算法</a:t>
            </a:r>
            <a:endParaRPr sz="2900">
              <a:latin typeface="华文新魏"/>
              <a:cs typeface="华文新魏"/>
            </a:endParaRP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sz="2900" dirty="0">
                <a:latin typeface="华文新魏"/>
                <a:cs typeface="华文新魏"/>
              </a:rPr>
              <a:t>自下而上估算法</a:t>
            </a:r>
            <a:endParaRPr sz="2900">
              <a:latin typeface="华文新魏"/>
              <a:cs typeface="华文新魏"/>
            </a:endParaRPr>
          </a:p>
          <a:p>
            <a:pPr marL="545465" marR="1830070" indent="-533400">
              <a:lnSpc>
                <a:spcPts val="4190"/>
              </a:lnSpc>
              <a:spcBef>
                <a:spcPts val="25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sz="2900" dirty="0">
                <a:latin typeface="华文新魏"/>
                <a:cs typeface="华文新魏"/>
              </a:rPr>
              <a:t>三</a:t>
            </a:r>
            <a:r>
              <a:rPr sz="2900" spc="-5" dirty="0">
                <a:latin typeface="华文新魏"/>
                <a:cs typeface="华文新魏"/>
              </a:rPr>
              <a:t>点</a:t>
            </a:r>
            <a:r>
              <a:rPr sz="2900" dirty="0">
                <a:latin typeface="华文新魏"/>
                <a:cs typeface="华文新魏"/>
              </a:rPr>
              <a:t>估算 参数估算法</a:t>
            </a:r>
            <a:endParaRPr sz="29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545465" algn="l"/>
              </a:tabLst>
            </a:pPr>
            <a:r>
              <a:rPr sz="1750" spc="-5" dirty="0">
                <a:solidFill>
                  <a:srgbClr val="DD8046"/>
                </a:solidFill>
                <a:latin typeface="华文新魏"/>
                <a:cs typeface="华文新魏"/>
              </a:rPr>
              <a:t>8.	</a:t>
            </a:r>
            <a:r>
              <a:rPr sz="2900" dirty="0">
                <a:latin typeface="华文新魏"/>
                <a:cs typeface="华文新魏"/>
              </a:rPr>
              <a:t>专家估算法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7868" y="4983479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4500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参数估算</a:t>
            </a:r>
            <a:r>
              <a:rPr spc="5" dirty="0"/>
              <a:t>法</a:t>
            </a:r>
            <a:r>
              <a:rPr dirty="0"/>
              <a:t>—定义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24705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433" y="1774698"/>
            <a:ext cx="8153400" cy="125158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通过项目数据,进行回归</a:t>
            </a:r>
            <a:r>
              <a:rPr sz="3200" spc="-15" dirty="0">
                <a:latin typeface="华文新魏"/>
                <a:cs typeface="华文新魏"/>
              </a:rPr>
              <a:t>分</a:t>
            </a:r>
            <a:r>
              <a:rPr sz="3200" dirty="0">
                <a:latin typeface="华文新魏"/>
                <a:cs typeface="华文新魏"/>
              </a:rPr>
              <a:t>析</a:t>
            </a:r>
            <a:r>
              <a:rPr sz="3200" spc="-5" dirty="0">
                <a:latin typeface="华文新魏"/>
                <a:cs typeface="华文新魏"/>
              </a:rPr>
              <a:t>,</a:t>
            </a:r>
            <a:r>
              <a:rPr sz="3200" dirty="0">
                <a:latin typeface="华文新魏"/>
                <a:cs typeface="华文新魏"/>
              </a:rPr>
              <a:t>得</a:t>
            </a:r>
            <a:r>
              <a:rPr sz="3200" spc="-15" dirty="0">
                <a:latin typeface="华文新魏"/>
                <a:cs typeface="华文新魏"/>
              </a:rPr>
              <a:t>出</a:t>
            </a:r>
            <a:r>
              <a:rPr sz="3200" dirty="0">
                <a:latin typeface="华文新魏"/>
                <a:cs typeface="华文新魏"/>
              </a:rPr>
              <a:t>回归</a:t>
            </a:r>
            <a:r>
              <a:rPr sz="3200" spc="-15" dirty="0">
                <a:latin typeface="华文新魏"/>
                <a:cs typeface="华文新魏"/>
              </a:rPr>
              <a:t>模</a:t>
            </a:r>
            <a:r>
              <a:rPr sz="3200" dirty="0">
                <a:latin typeface="华文新魏"/>
                <a:cs typeface="华文新魏"/>
              </a:rPr>
              <a:t>型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通过参数模型估算(规</a:t>
            </a:r>
            <a:r>
              <a:rPr sz="3200" spc="-15" dirty="0">
                <a:latin typeface="华文新魏"/>
                <a:cs typeface="华文新魏"/>
              </a:rPr>
              <a:t>模</a:t>
            </a:r>
            <a:r>
              <a:rPr sz="3200" dirty="0">
                <a:latin typeface="华文新魏"/>
                <a:cs typeface="华文新魏"/>
              </a:rPr>
              <a:t>)成本</a:t>
            </a:r>
            <a:r>
              <a:rPr sz="3200" spc="-15" dirty="0">
                <a:latin typeface="华文新魏"/>
                <a:cs typeface="华文新魏"/>
              </a:rPr>
              <a:t>的</a:t>
            </a:r>
            <a:r>
              <a:rPr sz="3200" dirty="0">
                <a:latin typeface="华文新魏"/>
                <a:cs typeface="华文新魏"/>
              </a:rPr>
              <a:t>方法。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00371" y="3573779"/>
            <a:ext cx="3817038" cy="2332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3201" y="907161"/>
            <a:ext cx="3747770" cy="0"/>
          </a:xfrm>
          <a:custGeom>
            <a:avLst/>
            <a:gdLst/>
            <a:ahLst/>
            <a:cxnLst/>
            <a:rect l="l" t="t" r="r" b="b"/>
            <a:pathLst>
              <a:path w="3747770">
                <a:moveTo>
                  <a:pt x="0" y="0"/>
                </a:moveTo>
                <a:lnTo>
                  <a:pt x="3747516" y="0"/>
                </a:lnTo>
              </a:path>
            </a:pathLst>
          </a:custGeom>
          <a:ln w="10668">
            <a:solidFill>
              <a:srgbClr val="AFA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540" y="254965"/>
            <a:ext cx="6156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参数模</a:t>
            </a:r>
            <a:r>
              <a:rPr spc="-5" dirty="0"/>
              <a:t>型:</a:t>
            </a:r>
            <a:r>
              <a:rPr dirty="0">
                <a:solidFill>
                  <a:srgbClr val="AFAC00"/>
                </a:solidFill>
              </a:rPr>
              <a:t>面向LOC驱动的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44009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3409" y="1600961"/>
            <a:ext cx="8153400" cy="4276725"/>
          </a:xfrm>
          <a:custGeom>
            <a:avLst/>
            <a:gdLst/>
            <a:ahLst/>
            <a:cxnLst/>
            <a:rect l="l" t="t" r="r" b="b"/>
            <a:pathLst>
              <a:path w="8153400" h="4276725">
                <a:moveTo>
                  <a:pt x="0" y="4276344"/>
                </a:moveTo>
                <a:lnTo>
                  <a:pt x="8153400" y="4276344"/>
                </a:lnTo>
                <a:lnTo>
                  <a:pt x="8153400" y="0"/>
                </a:lnTo>
                <a:lnTo>
                  <a:pt x="0" y="0"/>
                </a:lnTo>
                <a:lnTo>
                  <a:pt x="0" y="4276344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1692" y="1561916"/>
            <a:ext cx="4298315" cy="36969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900" dirty="0">
                <a:latin typeface="黑体"/>
                <a:cs typeface="黑体"/>
              </a:rPr>
              <a:t>Walston-Felix(IBM)</a:t>
            </a:r>
            <a:endParaRPr sz="2900">
              <a:latin typeface="黑体"/>
              <a:cs typeface="黑体"/>
            </a:endParaRPr>
          </a:p>
          <a:p>
            <a:pPr marL="652145" indent="-273050">
              <a:lnSpc>
                <a:spcPct val="100000"/>
              </a:lnSpc>
              <a:spcBef>
                <a:spcPts val="27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2780" algn="l"/>
              </a:tabLst>
            </a:pPr>
            <a:r>
              <a:rPr sz="2600" dirty="0">
                <a:latin typeface="黑体"/>
                <a:cs typeface="黑体"/>
              </a:rPr>
              <a:t>E=</a:t>
            </a:r>
            <a:r>
              <a:rPr sz="2600" spc="-20" dirty="0">
                <a:latin typeface="黑体"/>
                <a:cs typeface="黑体"/>
              </a:rPr>
              <a:t> </a:t>
            </a:r>
            <a:r>
              <a:rPr sz="2600" dirty="0">
                <a:latin typeface="黑体"/>
                <a:cs typeface="黑体"/>
              </a:rPr>
              <a:t>5.2*(KLOC)^0.91</a:t>
            </a:r>
            <a:endParaRPr sz="2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900" spc="-5" dirty="0">
                <a:latin typeface="黑体"/>
                <a:cs typeface="黑体"/>
              </a:rPr>
              <a:t>Balley-Basili</a:t>
            </a:r>
            <a:endParaRPr sz="2900">
              <a:latin typeface="黑体"/>
              <a:cs typeface="黑体"/>
            </a:endParaRPr>
          </a:p>
          <a:p>
            <a:pPr marL="652145" indent="-273050">
              <a:lnSpc>
                <a:spcPct val="100000"/>
              </a:lnSpc>
              <a:spcBef>
                <a:spcPts val="27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2780" algn="l"/>
              </a:tabLst>
            </a:pPr>
            <a:r>
              <a:rPr sz="2600" dirty="0">
                <a:latin typeface="黑体"/>
                <a:cs typeface="黑体"/>
              </a:rPr>
              <a:t>E=5.5</a:t>
            </a:r>
            <a:r>
              <a:rPr sz="2600" spc="-15" dirty="0">
                <a:latin typeface="黑体"/>
                <a:cs typeface="黑体"/>
              </a:rPr>
              <a:t>+</a:t>
            </a:r>
            <a:r>
              <a:rPr sz="2600" dirty="0">
                <a:latin typeface="黑体"/>
                <a:cs typeface="黑体"/>
              </a:rPr>
              <a:t>0.73*</a:t>
            </a:r>
            <a:r>
              <a:rPr sz="2600" spc="-15" dirty="0">
                <a:latin typeface="黑体"/>
                <a:cs typeface="黑体"/>
              </a:rPr>
              <a:t>(</a:t>
            </a:r>
            <a:r>
              <a:rPr sz="2600" dirty="0">
                <a:latin typeface="黑体"/>
                <a:cs typeface="黑体"/>
              </a:rPr>
              <a:t>KLOC)</a:t>
            </a:r>
            <a:r>
              <a:rPr sz="2600" spc="-15" dirty="0">
                <a:latin typeface="黑体"/>
                <a:cs typeface="黑体"/>
              </a:rPr>
              <a:t>^</a:t>
            </a:r>
            <a:r>
              <a:rPr sz="2600" dirty="0">
                <a:latin typeface="黑体"/>
                <a:cs typeface="黑体"/>
              </a:rPr>
              <a:t>1.16</a:t>
            </a:r>
            <a:endParaRPr sz="2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900" dirty="0">
                <a:latin typeface="黑体"/>
                <a:cs typeface="黑体"/>
              </a:rPr>
              <a:t>COCOMO</a:t>
            </a:r>
            <a:endParaRPr sz="2900">
              <a:latin typeface="黑体"/>
              <a:cs typeface="黑体"/>
            </a:endParaRPr>
          </a:p>
          <a:p>
            <a:pPr marL="652145" indent="-273050">
              <a:lnSpc>
                <a:spcPct val="100000"/>
              </a:lnSpc>
              <a:spcBef>
                <a:spcPts val="27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2780" algn="l"/>
              </a:tabLst>
            </a:pPr>
            <a:r>
              <a:rPr sz="2600" spc="-5" dirty="0">
                <a:latin typeface="黑体"/>
                <a:cs typeface="黑体"/>
              </a:rPr>
              <a:t>E=3.2*(KLOC)^1.05</a:t>
            </a:r>
            <a:endParaRPr sz="2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900" dirty="0">
                <a:latin typeface="黑体"/>
                <a:cs typeface="黑体"/>
              </a:rPr>
              <a:t>Doty</a:t>
            </a:r>
            <a:endParaRPr sz="2900">
              <a:latin typeface="黑体"/>
              <a:cs typeface="黑体"/>
            </a:endParaRPr>
          </a:p>
          <a:p>
            <a:pPr marL="652145" indent="-273050">
              <a:lnSpc>
                <a:spcPct val="100000"/>
              </a:lnSpc>
              <a:spcBef>
                <a:spcPts val="27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2780" algn="l"/>
              </a:tabLst>
            </a:pPr>
            <a:r>
              <a:rPr sz="2600" spc="-5" dirty="0">
                <a:latin typeface="黑体"/>
                <a:cs typeface="黑体"/>
              </a:rPr>
              <a:t>E=5.288*(KLOC)^1.047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97301" y="884427"/>
            <a:ext cx="3423285" cy="0"/>
          </a:xfrm>
          <a:custGeom>
            <a:avLst/>
            <a:gdLst/>
            <a:ahLst/>
            <a:cxnLst/>
            <a:rect l="l" t="t" r="r" b="b"/>
            <a:pathLst>
              <a:path w="3423285">
                <a:moveTo>
                  <a:pt x="0" y="0"/>
                </a:moveTo>
                <a:lnTo>
                  <a:pt x="3422904" y="0"/>
                </a:lnTo>
              </a:path>
            </a:pathLst>
          </a:custGeom>
          <a:ln w="10667">
            <a:solidFill>
              <a:srgbClr val="AFA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58312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参数模型</a:t>
            </a:r>
            <a:r>
              <a:rPr spc="-5" dirty="0"/>
              <a:t>:</a:t>
            </a:r>
            <a:r>
              <a:rPr dirty="0">
                <a:solidFill>
                  <a:srgbClr val="AFAC00"/>
                </a:solidFill>
              </a:rPr>
              <a:t>面向</a:t>
            </a:r>
            <a:r>
              <a:rPr spc="-5" dirty="0">
                <a:solidFill>
                  <a:srgbClr val="AFAC00"/>
                </a:solidFill>
              </a:rPr>
              <a:t>FP</a:t>
            </a:r>
            <a:r>
              <a:rPr dirty="0">
                <a:solidFill>
                  <a:srgbClr val="AFAC00"/>
                </a:solidFill>
              </a:rPr>
              <a:t>驱动的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46346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886" y="1916429"/>
            <a:ext cx="8153400" cy="219011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50"/>
              </a:spcBef>
            </a:pPr>
            <a:r>
              <a:rPr sz="2900" spc="-5" dirty="0">
                <a:latin typeface="黑体"/>
                <a:cs typeface="黑体"/>
              </a:rPr>
              <a:t>Albrecht and</a:t>
            </a:r>
            <a:r>
              <a:rPr sz="2900" spc="-15" dirty="0">
                <a:latin typeface="黑体"/>
                <a:cs typeface="黑体"/>
              </a:rPr>
              <a:t> </a:t>
            </a:r>
            <a:r>
              <a:rPr sz="2900" spc="-5" dirty="0">
                <a:latin typeface="黑体"/>
                <a:cs typeface="黑体"/>
              </a:rPr>
              <a:t>Gaffney</a:t>
            </a:r>
            <a:endParaRPr sz="2900">
              <a:latin typeface="黑体"/>
              <a:cs typeface="黑体"/>
            </a:endParaRPr>
          </a:p>
          <a:p>
            <a:pPr marL="730885" indent="-273685">
              <a:lnSpc>
                <a:spcPct val="100000"/>
              </a:lnSpc>
              <a:spcBef>
                <a:spcPts val="59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731520" algn="l"/>
              </a:tabLst>
            </a:pPr>
            <a:r>
              <a:rPr sz="2600" spc="-5" dirty="0">
                <a:latin typeface="黑体"/>
                <a:cs typeface="黑体"/>
              </a:rPr>
              <a:t>E=-12.39+0.0545FP</a:t>
            </a:r>
            <a:endParaRPr sz="2600">
              <a:latin typeface="黑体"/>
              <a:cs typeface="黑体"/>
            </a:endParaRPr>
          </a:p>
          <a:p>
            <a:pPr marL="90805">
              <a:lnSpc>
                <a:spcPct val="100000"/>
              </a:lnSpc>
              <a:spcBef>
                <a:spcPts val="720"/>
              </a:spcBef>
            </a:pPr>
            <a:r>
              <a:rPr sz="2900" dirty="0">
                <a:latin typeface="黑体"/>
                <a:cs typeface="黑体"/>
              </a:rPr>
              <a:t>Matson,Barnett</a:t>
            </a:r>
            <a:endParaRPr sz="2900">
              <a:latin typeface="黑体"/>
              <a:cs typeface="黑体"/>
            </a:endParaRPr>
          </a:p>
          <a:p>
            <a:pPr marL="730885" indent="-273685">
              <a:lnSpc>
                <a:spcPct val="100000"/>
              </a:lnSpc>
              <a:spcBef>
                <a:spcPts val="59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731520" algn="l"/>
              </a:tabLst>
            </a:pPr>
            <a:r>
              <a:rPr sz="2600" dirty="0">
                <a:latin typeface="黑体"/>
                <a:cs typeface="黑体"/>
              </a:rPr>
              <a:t>E=585.7+15.12FP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05257"/>
            <a:ext cx="4645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参数模</a:t>
            </a:r>
            <a:r>
              <a:rPr spc="-5" dirty="0"/>
              <a:t>型</a:t>
            </a:r>
            <a:r>
              <a:rPr dirty="0"/>
              <a:t>:整体公式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7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1916429"/>
            <a:ext cx="8153400" cy="255016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5"/>
              </a:spcBef>
            </a:pPr>
            <a:r>
              <a:rPr sz="2900" dirty="0">
                <a:latin typeface="华文新魏"/>
                <a:cs typeface="华文新魏"/>
              </a:rPr>
              <a:t>E=a+b </a:t>
            </a:r>
            <a:r>
              <a:rPr sz="2900" spc="-5" dirty="0">
                <a:latin typeface="华文新魏"/>
                <a:cs typeface="华文新魏"/>
              </a:rPr>
              <a:t>*S</a:t>
            </a:r>
            <a:r>
              <a:rPr sz="2400" spc="-7" baseline="24305" dirty="0">
                <a:latin typeface="华文新魏"/>
                <a:cs typeface="华文新魏"/>
              </a:rPr>
              <a:t>C </a:t>
            </a:r>
            <a:r>
              <a:rPr sz="2400" dirty="0">
                <a:latin typeface="华文新魏"/>
                <a:cs typeface="华文新魏"/>
              </a:rPr>
              <a:t>*</a:t>
            </a:r>
            <a:r>
              <a:rPr sz="2400" spc="-210" dirty="0">
                <a:latin typeface="华文新魏"/>
                <a:cs typeface="华文新魏"/>
              </a:rPr>
              <a:t> </a:t>
            </a:r>
            <a:r>
              <a:rPr sz="2400" dirty="0">
                <a:latin typeface="华文新魏"/>
                <a:cs typeface="华文新魏"/>
              </a:rPr>
              <a:t>M</a:t>
            </a:r>
            <a:endParaRPr sz="2400">
              <a:latin typeface="华文新魏"/>
              <a:cs typeface="华文新魏"/>
            </a:endParaRPr>
          </a:p>
          <a:p>
            <a:pPr marL="730885" indent="-273050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1520" algn="l"/>
              </a:tabLst>
            </a:pPr>
            <a:r>
              <a:rPr sz="2600" spc="-5" dirty="0">
                <a:latin typeface="华文新魏"/>
                <a:cs typeface="华文新魏"/>
              </a:rPr>
              <a:t>E:</a:t>
            </a:r>
            <a:r>
              <a:rPr sz="2600" dirty="0">
                <a:latin typeface="华文新魏"/>
                <a:cs typeface="华文新魏"/>
              </a:rPr>
              <a:t>以人月表示的工作量</a:t>
            </a:r>
            <a:endParaRPr sz="2600">
              <a:latin typeface="华文新魏"/>
              <a:cs typeface="华文新魏"/>
            </a:endParaRPr>
          </a:p>
          <a:p>
            <a:pPr marL="730885" indent="-27305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1520" algn="l"/>
              </a:tabLst>
            </a:pPr>
            <a:r>
              <a:rPr sz="2600" dirty="0">
                <a:latin typeface="华文新魏"/>
                <a:cs typeface="华文新魏"/>
              </a:rPr>
              <a:t>a,b,c:经验导出的</a:t>
            </a:r>
            <a:r>
              <a:rPr sz="2600" spc="-15" dirty="0">
                <a:latin typeface="华文新魏"/>
                <a:cs typeface="华文新魏"/>
              </a:rPr>
              <a:t>系</a:t>
            </a:r>
            <a:r>
              <a:rPr sz="2600" dirty="0">
                <a:latin typeface="华文新魏"/>
                <a:cs typeface="华文新魏"/>
              </a:rPr>
              <a:t>数</a:t>
            </a:r>
            <a:endParaRPr sz="2600">
              <a:latin typeface="华文新魏"/>
              <a:cs typeface="华文新魏"/>
            </a:endParaRPr>
          </a:p>
          <a:p>
            <a:pPr marL="730885" indent="-273050">
              <a:lnSpc>
                <a:spcPct val="100000"/>
              </a:lnSpc>
              <a:spcBef>
                <a:spcPts val="580"/>
              </a:spcBef>
              <a:buClr>
                <a:srgbClr val="93B6D2"/>
              </a:buClr>
              <a:buSzPct val="69642"/>
              <a:buFont typeface="Wingdings"/>
              <a:buChar char=""/>
              <a:tabLst>
                <a:tab pos="731520" algn="l"/>
              </a:tabLst>
            </a:pPr>
            <a:r>
              <a:rPr sz="2800" dirty="0">
                <a:latin typeface="华文新魏"/>
                <a:cs typeface="华文新魏"/>
              </a:rPr>
              <a:t>M:</a:t>
            </a:r>
            <a:r>
              <a:rPr sz="2800" spc="-5" dirty="0">
                <a:latin typeface="华文新魏"/>
                <a:cs typeface="华文新魏"/>
              </a:rPr>
              <a:t> 调节因子</a:t>
            </a:r>
            <a:endParaRPr sz="2800">
              <a:latin typeface="华文新魏"/>
              <a:cs typeface="华文新魏"/>
            </a:endParaRPr>
          </a:p>
          <a:p>
            <a:pPr marL="730885" indent="-273050">
              <a:lnSpc>
                <a:spcPct val="100000"/>
              </a:lnSpc>
              <a:spcBef>
                <a:spcPts val="62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1520" algn="l"/>
              </a:tabLst>
            </a:pPr>
            <a:r>
              <a:rPr sz="2600" dirty="0">
                <a:latin typeface="华文新魏"/>
                <a:cs typeface="华文新魏"/>
              </a:rPr>
              <a:t>S:主要的输入参</a:t>
            </a:r>
            <a:r>
              <a:rPr sz="2600" spc="5" dirty="0">
                <a:latin typeface="华文新魏"/>
                <a:cs typeface="华文新魏"/>
              </a:rPr>
              <a:t>数</a:t>
            </a:r>
            <a:r>
              <a:rPr sz="2600" spc="-5" dirty="0">
                <a:latin typeface="华文新魏"/>
                <a:cs typeface="华文新魏"/>
              </a:rPr>
              <a:t>(</a:t>
            </a:r>
            <a:r>
              <a:rPr sz="2600" dirty="0">
                <a:latin typeface="华文新魏"/>
                <a:cs typeface="华文新魏"/>
              </a:rPr>
              <a:t>通</a:t>
            </a:r>
            <a:r>
              <a:rPr sz="2600" spc="-15" dirty="0">
                <a:latin typeface="华文新魏"/>
                <a:cs typeface="华文新魏"/>
              </a:rPr>
              <a:t>常</a:t>
            </a:r>
            <a:r>
              <a:rPr sz="2600" dirty="0">
                <a:latin typeface="华文新魏"/>
                <a:cs typeface="华文新魏"/>
              </a:rPr>
              <a:t>是</a:t>
            </a:r>
            <a:r>
              <a:rPr sz="2600" spc="-5" dirty="0">
                <a:latin typeface="华文新魏"/>
                <a:cs typeface="华文新魏"/>
              </a:rPr>
              <a:t>LOC,FP</a:t>
            </a:r>
            <a:r>
              <a:rPr sz="2600" dirty="0">
                <a:latin typeface="华文新魏"/>
                <a:cs typeface="华文新魏"/>
              </a:rPr>
              <a:t>等)</a:t>
            </a:r>
            <a:endParaRPr sz="2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建议掌握模型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3455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1916429"/>
            <a:ext cx="8153400" cy="1729739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3600" spc="-5" dirty="0">
                <a:latin typeface="黑体"/>
                <a:cs typeface="黑体"/>
              </a:rPr>
              <a:t>Walston-Felix</a:t>
            </a:r>
            <a:r>
              <a:rPr sz="3600" spc="-5" dirty="0">
                <a:latin typeface="华文仿宋"/>
                <a:cs typeface="华文仿宋"/>
              </a:rPr>
              <a:t>模型</a:t>
            </a:r>
            <a:endParaRPr sz="3600">
              <a:latin typeface="华文仿宋"/>
              <a:cs typeface="华文仿宋"/>
            </a:endParaRPr>
          </a:p>
          <a:p>
            <a:pPr marL="90805">
              <a:lnSpc>
                <a:spcPct val="100000"/>
              </a:lnSpc>
              <a:spcBef>
                <a:spcPts val="710"/>
              </a:spcBef>
            </a:pPr>
            <a:r>
              <a:rPr sz="3600" dirty="0">
                <a:latin typeface="黑体"/>
                <a:cs typeface="黑体"/>
              </a:rPr>
              <a:t>COCOMO</a:t>
            </a:r>
            <a:r>
              <a:rPr sz="3600" dirty="0">
                <a:latin typeface="华文仿宋"/>
                <a:cs typeface="华文仿宋"/>
              </a:rPr>
              <a:t>模型</a:t>
            </a:r>
            <a:endParaRPr sz="36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07950"/>
            <a:ext cx="41992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25" dirty="0">
                <a:latin typeface="Tw Cen MT"/>
                <a:cs typeface="Tw Cen MT"/>
              </a:rPr>
              <a:t>Walston-Felix</a:t>
            </a:r>
            <a:r>
              <a:rPr i="0" dirty="0">
                <a:latin typeface="华文仿宋"/>
                <a:cs typeface="华文仿宋"/>
              </a:rPr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4829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5374" y="1844801"/>
            <a:ext cx="8458200" cy="4114800"/>
          </a:xfrm>
          <a:custGeom>
            <a:avLst/>
            <a:gdLst/>
            <a:ahLst/>
            <a:cxnLst/>
            <a:rect l="l" t="t" r="r" b="b"/>
            <a:pathLst>
              <a:path w="8458200" h="4114800">
                <a:moveTo>
                  <a:pt x="0" y="4114800"/>
                </a:moveTo>
                <a:lnTo>
                  <a:pt x="8458200" y="4114800"/>
                </a:lnTo>
                <a:lnTo>
                  <a:pt x="84582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6542" y="1812797"/>
            <a:ext cx="8562975" cy="357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700" b="1" u="sng" spc="-10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Tw Cen MT"/>
                <a:cs typeface="Tw Cen MT"/>
              </a:rPr>
              <a:t>1977</a:t>
            </a:r>
            <a:r>
              <a:rPr sz="2700" b="1" u="sng" spc="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年</a:t>
            </a:r>
            <a:r>
              <a:rPr sz="2700" b="1" u="sng" spc="-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，</a:t>
            </a:r>
            <a:r>
              <a:rPr sz="2700" b="1" u="sng" spc="-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Tw Cen MT"/>
                <a:cs typeface="Tw Cen MT"/>
              </a:rPr>
              <a:t>IBM</a:t>
            </a:r>
            <a:r>
              <a:rPr sz="2700" b="1" u="sng" spc="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的</a:t>
            </a:r>
            <a:r>
              <a:rPr sz="2700" b="1" u="sng" spc="-1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Tw Cen MT"/>
                <a:cs typeface="Tw Cen MT"/>
              </a:rPr>
              <a:t>Walston</a:t>
            </a:r>
            <a:r>
              <a:rPr sz="2700" b="1" u="sng" spc="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和</a:t>
            </a:r>
            <a:r>
              <a:rPr sz="2700" b="1" u="sng" spc="-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Tw Cen MT"/>
                <a:cs typeface="Tw Cen MT"/>
              </a:rPr>
              <a:t>Felix</a:t>
            </a:r>
            <a:r>
              <a:rPr sz="2700" b="1" u="sng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提出了如</a:t>
            </a:r>
            <a:r>
              <a:rPr sz="2700" b="1" u="sng" spc="-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下的估算公</a:t>
            </a:r>
            <a:r>
              <a:rPr sz="2700" b="1" u="sng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式</a:t>
            </a:r>
            <a:endParaRPr sz="27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408940" indent="-320040">
              <a:lnSpc>
                <a:spcPct val="100000"/>
              </a:lnSpc>
              <a:buClr>
                <a:srgbClr val="DD8046"/>
              </a:buClr>
              <a:buSzPct val="59090"/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200" spc="-5" dirty="0">
                <a:latin typeface="Tw Cen MT"/>
                <a:cs typeface="Tw Cen MT"/>
              </a:rPr>
              <a:t>E</a:t>
            </a:r>
            <a:r>
              <a:rPr sz="2200" spc="-15" dirty="0">
                <a:latin typeface="Tw Cen MT"/>
                <a:cs typeface="Tw Cen MT"/>
              </a:rPr>
              <a:t> </a:t>
            </a:r>
            <a:r>
              <a:rPr sz="2200" spc="-5" dirty="0">
                <a:latin typeface="华文仿宋"/>
                <a:cs typeface="华文仿宋"/>
              </a:rPr>
              <a:t>＝</a:t>
            </a:r>
            <a:r>
              <a:rPr sz="2200" spc="50" dirty="0">
                <a:latin typeface="华文仿宋"/>
                <a:cs typeface="华文仿宋"/>
              </a:rPr>
              <a:t> </a:t>
            </a:r>
            <a:r>
              <a:rPr sz="2200" dirty="0">
                <a:latin typeface="Tw Cen MT"/>
                <a:cs typeface="Tw Cen MT"/>
              </a:rPr>
              <a:t>5.2</a:t>
            </a:r>
            <a:r>
              <a:rPr sz="2200" dirty="0">
                <a:latin typeface="华文仿宋"/>
                <a:cs typeface="华文仿宋"/>
              </a:rPr>
              <a:t>×</a:t>
            </a:r>
            <a:r>
              <a:rPr sz="2200" dirty="0">
                <a:latin typeface="黑体"/>
                <a:cs typeface="黑体"/>
              </a:rPr>
              <a:t>(KLOC)</a:t>
            </a:r>
            <a:r>
              <a:rPr sz="2175" baseline="24904" dirty="0">
                <a:latin typeface="Tw Cen MT"/>
                <a:cs typeface="Tw Cen MT"/>
              </a:rPr>
              <a:t>0.91</a:t>
            </a:r>
            <a:r>
              <a:rPr sz="2200" dirty="0">
                <a:latin typeface="华文仿宋"/>
                <a:cs typeface="华文仿宋"/>
              </a:rPr>
              <a:t>，</a:t>
            </a:r>
            <a:r>
              <a:rPr sz="2200" spc="50" dirty="0">
                <a:latin typeface="华文仿宋"/>
                <a:cs typeface="华文仿宋"/>
              </a:rPr>
              <a:t> </a:t>
            </a:r>
            <a:r>
              <a:rPr sz="2200" spc="-5" dirty="0">
                <a:latin typeface="Tw Cen MT"/>
                <a:cs typeface="Tw Cen MT"/>
              </a:rPr>
              <a:t>KLOC</a:t>
            </a:r>
            <a:r>
              <a:rPr sz="2200" spc="-5" dirty="0">
                <a:latin typeface="华文仿宋"/>
                <a:cs typeface="华文仿宋"/>
              </a:rPr>
              <a:t>是源代</a:t>
            </a:r>
            <a:r>
              <a:rPr sz="2200" dirty="0">
                <a:latin typeface="华文仿宋"/>
                <a:cs typeface="华文仿宋"/>
              </a:rPr>
              <a:t>码</a:t>
            </a:r>
            <a:r>
              <a:rPr sz="2200" spc="-5" dirty="0">
                <a:latin typeface="华文仿宋"/>
                <a:cs typeface="华文仿宋"/>
              </a:rPr>
              <a:t>行数</a:t>
            </a:r>
            <a:r>
              <a:rPr sz="2200" dirty="0">
                <a:latin typeface="华文仿宋"/>
                <a:cs typeface="华文仿宋"/>
              </a:rPr>
              <a:t>，</a:t>
            </a:r>
            <a:r>
              <a:rPr sz="2200" dirty="0">
                <a:latin typeface="Tw Cen MT"/>
                <a:cs typeface="Tw Cen MT"/>
              </a:rPr>
              <a:t>E</a:t>
            </a:r>
            <a:r>
              <a:rPr sz="2200" spc="-5" dirty="0">
                <a:latin typeface="华文仿宋"/>
                <a:cs typeface="华文仿宋"/>
              </a:rPr>
              <a:t>是</a:t>
            </a:r>
            <a:r>
              <a:rPr sz="2200" dirty="0">
                <a:latin typeface="华文仿宋"/>
                <a:cs typeface="华文仿宋"/>
              </a:rPr>
              <a:t>工</a:t>
            </a:r>
            <a:r>
              <a:rPr sz="2200" spc="-5" dirty="0">
                <a:latin typeface="华文仿宋"/>
                <a:cs typeface="华文仿宋"/>
              </a:rPr>
              <a:t>作量（</a:t>
            </a:r>
            <a:r>
              <a:rPr sz="2200" dirty="0">
                <a:latin typeface="华文仿宋"/>
                <a:cs typeface="华文仿宋"/>
              </a:rPr>
              <a:t>以</a:t>
            </a:r>
            <a:r>
              <a:rPr sz="2200" spc="10" dirty="0">
                <a:latin typeface="Tw Cen MT"/>
                <a:cs typeface="Tw Cen MT"/>
              </a:rPr>
              <a:t>PM</a:t>
            </a:r>
            <a:r>
              <a:rPr sz="2200" spc="-5" dirty="0">
                <a:latin typeface="华文仿宋"/>
                <a:cs typeface="华文仿宋"/>
              </a:rPr>
              <a:t>计）</a:t>
            </a:r>
            <a:endParaRPr sz="22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DD8046"/>
              </a:buClr>
              <a:buFont typeface="Wingdings"/>
              <a:buChar char=""/>
            </a:pPr>
            <a:endParaRPr sz="3050">
              <a:latin typeface="Times New Roman"/>
              <a:cs typeface="Times New Roman"/>
            </a:endParaRPr>
          </a:p>
          <a:p>
            <a:pPr marL="408940" indent="-320040">
              <a:lnSpc>
                <a:spcPct val="100000"/>
              </a:lnSpc>
              <a:buClr>
                <a:srgbClr val="DD8046"/>
              </a:buClr>
              <a:buSzPct val="59090"/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200" spc="-5" dirty="0">
                <a:latin typeface="Tw Cen MT"/>
                <a:cs typeface="Tw Cen MT"/>
              </a:rPr>
              <a:t>D</a:t>
            </a:r>
            <a:r>
              <a:rPr sz="2200" spc="-10" dirty="0">
                <a:latin typeface="Tw Cen MT"/>
                <a:cs typeface="Tw Cen MT"/>
              </a:rPr>
              <a:t> </a:t>
            </a:r>
            <a:r>
              <a:rPr sz="2200" spc="-5" dirty="0">
                <a:latin typeface="华文仿宋"/>
                <a:cs typeface="华文仿宋"/>
              </a:rPr>
              <a:t>＝</a:t>
            </a:r>
            <a:r>
              <a:rPr sz="2200" spc="70" dirty="0">
                <a:latin typeface="华文仿宋"/>
                <a:cs typeface="华文仿宋"/>
              </a:rPr>
              <a:t> </a:t>
            </a:r>
            <a:r>
              <a:rPr sz="2200" dirty="0">
                <a:latin typeface="Tw Cen MT"/>
                <a:cs typeface="Tw Cen MT"/>
              </a:rPr>
              <a:t>4.1</a:t>
            </a:r>
            <a:r>
              <a:rPr sz="2200" dirty="0">
                <a:latin typeface="华文仿宋"/>
                <a:cs typeface="华文仿宋"/>
              </a:rPr>
              <a:t>×</a:t>
            </a:r>
            <a:r>
              <a:rPr sz="2200" dirty="0">
                <a:latin typeface="黑体"/>
                <a:cs typeface="黑体"/>
              </a:rPr>
              <a:t>(KLOC)</a:t>
            </a:r>
            <a:r>
              <a:rPr sz="2175" baseline="24904" dirty="0">
                <a:latin typeface="Tw Cen MT"/>
                <a:cs typeface="Tw Cen MT"/>
              </a:rPr>
              <a:t>0.36</a:t>
            </a:r>
            <a:r>
              <a:rPr sz="2200" dirty="0">
                <a:latin typeface="华文仿宋"/>
                <a:cs typeface="华文仿宋"/>
              </a:rPr>
              <a:t>，</a:t>
            </a:r>
            <a:r>
              <a:rPr sz="2200" dirty="0">
                <a:latin typeface="Tw Cen MT"/>
                <a:cs typeface="Tw Cen MT"/>
              </a:rPr>
              <a:t>D</a:t>
            </a:r>
            <a:r>
              <a:rPr sz="2200" spc="-5" dirty="0">
                <a:latin typeface="华文仿宋"/>
                <a:cs typeface="华文仿宋"/>
              </a:rPr>
              <a:t>是项目持续时间</a:t>
            </a:r>
            <a:r>
              <a:rPr sz="2200" spc="-5" dirty="0">
                <a:latin typeface="Tw Cen MT"/>
                <a:cs typeface="Tw Cen MT"/>
              </a:rPr>
              <a:t>(</a:t>
            </a:r>
            <a:r>
              <a:rPr sz="2200" spc="-5" dirty="0">
                <a:latin typeface="华文仿宋"/>
                <a:cs typeface="华文仿宋"/>
              </a:rPr>
              <a:t>以月计</a:t>
            </a:r>
            <a:r>
              <a:rPr sz="2200" spc="-5" dirty="0">
                <a:latin typeface="Tw Cen MT"/>
                <a:cs typeface="Tw Cen MT"/>
              </a:rPr>
              <a:t>)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DD8046"/>
              </a:buClr>
              <a:buFont typeface="Wingdings"/>
              <a:buChar char=""/>
            </a:pPr>
            <a:endParaRPr sz="3000">
              <a:latin typeface="Times New Roman"/>
              <a:cs typeface="Times New Roman"/>
            </a:endParaRPr>
          </a:p>
          <a:p>
            <a:pPr marL="408940" indent="-320040">
              <a:lnSpc>
                <a:spcPct val="100000"/>
              </a:lnSpc>
              <a:buClr>
                <a:srgbClr val="DD8046"/>
              </a:buClr>
              <a:buSzPct val="59090"/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200" spc="-5" dirty="0">
                <a:latin typeface="Tw Cen MT"/>
                <a:cs typeface="Tw Cen MT"/>
              </a:rPr>
              <a:t>S</a:t>
            </a:r>
            <a:r>
              <a:rPr sz="2200" spc="5" dirty="0">
                <a:latin typeface="Tw Cen MT"/>
                <a:cs typeface="Tw Cen MT"/>
              </a:rPr>
              <a:t> </a:t>
            </a:r>
            <a:r>
              <a:rPr sz="2200" spc="-5" dirty="0">
                <a:latin typeface="华文仿宋"/>
                <a:cs typeface="华文仿宋"/>
              </a:rPr>
              <a:t>＝</a:t>
            </a:r>
            <a:r>
              <a:rPr sz="2200" spc="60" dirty="0">
                <a:latin typeface="华文仿宋"/>
                <a:cs typeface="华文仿宋"/>
              </a:rPr>
              <a:t> </a:t>
            </a:r>
            <a:r>
              <a:rPr sz="2200" spc="-5" dirty="0">
                <a:latin typeface="Tw Cen MT"/>
                <a:cs typeface="Tw Cen MT"/>
              </a:rPr>
              <a:t>0.54</a:t>
            </a:r>
            <a:r>
              <a:rPr sz="2200" spc="-5" dirty="0">
                <a:latin typeface="华文仿宋"/>
                <a:cs typeface="华文仿宋"/>
              </a:rPr>
              <a:t>×</a:t>
            </a:r>
            <a:r>
              <a:rPr sz="2200" spc="-5" dirty="0">
                <a:latin typeface="Tw Cen MT"/>
                <a:cs typeface="Tw Cen MT"/>
              </a:rPr>
              <a:t>E</a:t>
            </a:r>
            <a:r>
              <a:rPr sz="2200" spc="15" dirty="0">
                <a:latin typeface="Tw Cen MT"/>
                <a:cs typeface="Tw Cen MT"/>
              </a:rPr>
              <a:t> </a:t>
            </a:r>
            <a:r>
              <a:rPr sz="2175" baseline="24904" dirty="0">
                <a:latin typeface="Tw Cen MT"/>
                <a:cs typeface="Tw Cen MT"/>
              </a:rPr>
              <a:t>0.6</a:t>
            </a:r>
            <a:r>
              <a:rPr sz="2200" dirty="0">
                <a:latin typeface="华文仿宋"/>
                <a:cs typeface="华文仿宋"/>
              </a:rPr>
              <a:t>，</a:t>
            </a:r>
            <a:r>
              <a:rPr sz="2200" dirty="0">
                <a:latin typeface="Tw Cen MT"/>
                <a:cs typeface="Tw Cen MT"/>
              </a:rPr>
              <a:t>S</a:t>
            </a:r>
            <a:r>
              <a:rPr sz="2200" spc="-5" dirty="0">
                <a:latin typeface="华文仿宋"/>
                <a:cs typeface="华文仿宋"/>
              </a:rPr>
              <a:t>是人员需要量</a:t>
            </a:r>
            <a:r>
              <a:rPr sz="2200" spc="-5" dirty="0">
                <a:latin typeface="Tw Cen MT"/>
                <a:cs typeface="Tw Cen MT"/>
              </a:rPr>
              <a:t>(</a:t>
            </a:r>
            <a:r>
              <a:rPr sz="2200" spc="-5" dirty="0">
                <a:latin typeface="华文仿宋"/>
                <a:cs typeface="华文仿宋"/>
              </a:rPr>
              <a:t>以人计</a:t>
            </a:r>
            <a:r>
              <a:rPr sz="2200" spc="-5" dirty="0">
                <a:latin typeface="Tw Cen MT"/>
                <a:cs typeface="Tw Cen MT"/>
              </a:rPr>
              <a:t>)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DD8046"/>
              </a:buClr>
              <a:buFont typeface="Wingdings"/>
              <a:buChar char=""/>
            </a:pPr>
            <a:endParaRPr sz="3050">
              <a:latin typeface="Times New Roman"/>
              <a:cs typeface="Times New Roman"/>
            </a:endParaRPr>
          </a:p>
          <a:p>
            <a:pPr marL="408940" indent="-320040">
              <a:lnSpc>
                <a:spcPct val="100000"/>
              </a:lnSpc>
              <a:buClr>
                <a:srgbClr val="DD8046"/>
              </a:buClr>
              <a:buSzPct val="59090"/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200" spc="-5" dirty="0">
                <a:latin typeface="Tw Cen MT"/>
                <a:cs typeface="Tw Cen MT"/>
              </a:rPr>
              <a:t>DOC</a:t>
            </a:r>
            <a:r>
              <a:rPr sz="2200" spc="5" dirty="0">
                <a:latin typeface="Tw Cen MT"/>
                <a:cs typeface="Tw Cen MT"/>
              </a:rPr>
              <a:t> </a:t>
            </a:r>
            <a:r>
              <a:rPr sz="2200" spc="-5" dirty="0">
                <a:latin typeface="华文仿宋"/>
                <a:cs typeface="华文仿宋"/>
              </a:rPr>
              <a:t>＝</a:t>
            </a:r>
            <a:r>
              <a:rPr sz="2200" spc="55" dirty="0">
                <a:latin typeface="华文仿宋"/>
                <a:cs typeface="华文仿宋"/>
              </a:rPr>
              <a:t> </a:t>
            </a:r>
            <a:r>
              <a:rPr sz="2200" dirty="0">
                <a:latin typeface="Arial Unicode MS"/>
                <a:cs typeface="Arial Unicode MS"/>
              </a:rPr>
              <a:t>49</a:t>
            </a:r>
            <a:r>
              <a:rPr sz="2200" dirty="0">
                <a:latin typeface="华文仿宋"/>
                <a:cs typeface="华文仿宋"/>
              </a:rPr>
              <a:t>×</a:t>
            </a:r>
            <a:r>
              <a:rPr sz="2200" dirty="0">
                <a:latin typeface="黑体"/>
                <a:cs typeface="黑体"/>
              </a:rPr>
              <a:t>(KLOC)</a:t>
            </a:r>
            <a:r>
              <a:rPr sz="2175" baseline="24904" dirty="0">
                <a:latin typeface="Tw Cen MT"/>
                <a:cs typeface="Tw Cen MT"/>
              </a:rPr>
              <a:t>1.01</a:t>
            </a:r>
            <a:r>
              <a:rPr sz="2175" spc="330" baseline="24904" dirty="0">
                <a:latin typeface="Tw Cen MT"/>
                <a:cs typeface="Tw Cen MT"/>
              </a:rPr>
              <a:t> </a:t>
            </a:r>
            <a:r>
              <a:rPr sz="2200" spc="-5" dirty="0">
                <a:latin typeface="华文仿宋"/>
                <a:cs typeface="华文仿宋"/>
              </a:rPr>
              <a:t>，</a:t>
            </a:r>
            <a:r>
              <a:rPr sz="2200" spc="-5" dirty="0">
                <a:latin typeface="Tw Cen MT"/>
                <a:cs typeface="Tw Cen MT"/>
              </a:rPr>
              <a:t>DOC</a:t>
            </a:r>
            <a:r>
              <a:rPr sz="2200" spc="-10" dirty="0">
                <a:latin typeface="华文仿宋"/>
                <a:cs typeface="华文仿宋"/>
              </a:rPr>
              <a:t>是文档数量</a:t>
            </a:r>
            <a:r>
              <a:rPr sz="2200" spc="-5" dirty="0">
                <a:latin typeface="Tw Cen MT"/>
                <a:cs typeface="Tw Cen MT"/>
              </a:rPr>
              <a:t>(</a:t>
            </a:r>
            <a:r>
              <a:rPr sz="2200" spc="-10" dirty="0">
                <a:latin typeface="华文仿宋"/>
                <a:cs typeface="华文仿宋"/>
              </a:rPr>
              <a:t>以页计</a:t>
            </a:r>
            <a:r>
              <a:rPr sz="2200" spc="-5" dirty="0">
                <a:latin typeface="Tw Cen MT"/>
                <a:cs typeface="Tw Cen MT"/>
              </a:rPr>
              <a:t>)</a:t>
            </a:r>
            <a:endParaRPr sz="22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4" y="237236"/>
            <a:ext cx="57743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仿宋"/>
                <a:cs typeface="华文仿宋"/>
              </a:rPr>
              <a:t>Walston-Felix</a:t>
            </a:r>
            <a:r>
              <a:rPr dirty="0"/>
              <a:t>模型举例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3195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0594" y="1844801"/>
            <a:ext cx="8839200" cy="3456940"/>
          </a:xfrm>
          <a:custGeom>
            <a:avLst/>
            <a:gdLst/>
            <a:ahLst/>
            <a:cxnLst/>
            <a:rect l="l" t="t" r="r" b="b"/>
            <a:pathLst>
              <a:path w="8839200" h="3456940">
                <a:moveTo>
                  <a:pt x="0" y="3456432"/>
                </a:moveTo>
                <a:lnTo>
                  <a:pt x="8839200" y="3456432"/>
                </a:lnTo>
                <a:lnTo>
                  <a:pt x="8839200" y="0"/>
                </a:lnTo>
                <a:lnTo>
                  <a:pt x="0" y="0"/>
                </a:lnTo>
                <a:lnTo>
                  <a:pt x="0" y="345643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0167" y="1849374"/>
            <a:ext cx="8594725" cy="2692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5"/>
              </a:spcBef>
            </a:pPr>
            <a:r>
              <a:rPr sz="3200" u="sng" spc="-800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采用</a:t>
            </a:r>
            <a:r>
              <a:rPr sz="3200" u="sng" spc="-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Arial Unicode MS"/>
                <a:cs typeface="Arial Unicode MS"/>
              </a:rPr>
              <a:t>java</a:t>
            </a:r>
            <a:r>
              <a:rPr sz="3200" u="sng" spc="-2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Arial Unicode MS"/>
                <a:cs typeface="Arial Unicode MS"/>
              </a:rPr>
              <a:t> </a:t>
            </a:r>
            <a:r>
              <a:rPr sz="3200" u="sng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完成项目，估计有</a:t>
            </a:r>
            <a:r>
              <a:rPr sz="3200" u="sng" spc="-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Arial Unicode MS"/>
                <a:cs typeface="Arial Unicode MS"/>
              </a:rPr>
              <a:t>366</a:t>
            </a:r>
            <a:r>
              <a:rPr sz="3200" u="sng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功</a:t>
            </a:r>
            <a:r>
              <a:rPr sz="3200" u="sng" spc="-15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能</a:t>
            </a:r>
            <a:r>
              <a:rPr sz="3200" u="sng" dirty="0">
                <a:solidFill>
                  <a:srgbClr val="AFAC00"/>
                </a:solidFill>
                <a:uFill>
                  <a:solidFill>
                    <a:srgbClr val="AFAC00"/>
                  </a:solidFill>
                </a:uFill>
                <a:latin typeface="华文仿宋"/>
                <a:cs typeface="华文仿宋"/>
              </a:rPr>
              <a:t>点，则</a:t>
            </a:r>
            <a:endParaRPr sz="32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550">
              <a:latin typeface="Times New Roman"/>
              <a:cs typeface="Times New Roman"/>
            </a:endParaRPr>
          </a:p>
          <a:p>
            <a:pPr marL="370840" indent="-320040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70205" algn="l"/>
                <a:tab pos="370840" algn="l"/>
              </a:tabLst>
            </a:pPr>
            <a:r>
              <a:rPr sz="2900" dirty="0">
                <a:latin typeface="Arial Unicode MS"/>
                <a:cs typeface="Arial Unicode MS"/>
              </a:rPr>
              <a:t>L</a:t>
            </a:r>
            <a:r>
              <a:rPr sz="2900" spc="-15" dirty="0">
                <a:latin typeface="Arial Unicode MS"/>
                <a:cs typeface="Arial Unicode MS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=</a:t>
            </a:r>
            <a:r>
              <a:rPr sz="2900" spc="-20" dirty="0">
                <a:latin typeface="Arial Unicode MS"/>
                <a:cs typeface="Arial Unicode MS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366</a:t>
            </a:r>
            <a:r>
              <a:rPr sz="2900" dirty="0">
                <a:latin typeface="华文仿宋"/>
                <a:cs typeface="华文仿宋"/>
              </a:rPr>
              <a:t>×</a:t>
            </a:r>
            <a:r>
              <a:rPr sz="2900" dirty="0">
                <a:latin typeface="Arial Unicode MS"/>
                <a:cs typeface="Arial Unicode MS"/>
              </a:rPr>
              <a:t>46</a:t>
            </a:r>
            <a:r>
              <a:rPr sz="2900" spc="-40" dirty="0">
                <a:latin typeface="Arial Unicode MS"/>
                <a:cs typeface="Arial Unicode MS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=</a:t>
            </a:r>
            <a:r>
              <a:rPr sz="2900" spc="-20" dirty="0">
                <a:latin typeface="Arial Unicode MS"/>
                <a:cs typeface="Arial Unicode MS"/>
              </a:rPr>
              <a:t> </a:t>
            </a:r>
            <a:r>
              <a:rPr sz="2900" spc="5" dirty="0">
                <a:latin typeface="Arial Unicode MS"/>
                <a:cs typeface="Arial Unicode MS"/>
              </a:rPr>
              <a:t>16386</a:t>
            </a:r>
            <a:r>
              <a:rPr sz="2900" dirty="0">
                <a:latin typeface="华文仿宋"/>
                <a:cs typeface="华文仿宋"/>
              </a:rPr>
              <a:t>行</a:t>
            </a:r>
            <a:r>
              <a:rPr sz="2900" spc="25" dirty="0">
                <a:latin typeface="华文仿宋"/>
                <a:cs typeface="华文仿宋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=</a:t>
            </a:r>
            <a:r>
              <a:rPr sz="2900" spc="-20" dirty="0">
                <a:latin typeface="Arial Unicode MS"/>
                <a:cs typeface="Arial Unicode MS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16.386KLOC</a:t>
            </a:r>
            <a:endParaRPr sz="2900">
              <a:latin typeface="Arial Unicode MS"/>
              <a:cs typeface="Arial Unicode MS"/>
            </a:endParaRPr>
          </a:p>
          <a:p>
            <a:pPr marL="370840" indent="-320040">
              <a:lnSpc>
                <a:spcPct val="100000"/>
              </a:lnSpc>
              <a:spcBef>
                <a:spcPts val="74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70205" algn="l"/>
                <a:tab pos="370840" algn="l"/>
              </a:tabLst>
            </a:pPr>
            <a:r>
              <a:rPr sz="2900" dirty="0">
                <a:latin typeface="Arial Unicode MS"/>
                <a:cs typeface="Arial Unicode MS"/>
              </a:rPr>
              <a:t>E</a:t>
            </a:r>
            <a:r>
              <a:rPr sz="2900" spc="-10" dirty="0">
                <a:latin typeface="Arial Unicode MS"/>
                <a:cs typeface="Arial Unicode MS"/>
              </a:rPr>
              <a:t> </a:t>
            </a:r>
            <a:r>
              <a:rPr sz="2900" spc="5" dirty="0">
                <a:latin typeface="华文仿宋"/>
                <a:cs typeface="华文仿宋"/>
              </a:rPr>
              <a:t>＝</a:t>
            </a:r>
            <a:r>
              <a:rPr sz="2900" spc="70" dirty="0">
                <a:latin typeface="华文仿宋"/>
                <a:cs typeface="华文仿宋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5.2</a:t>
            </a:r>
            <a:r>
              <a:rPr sz="2900" dirty="0">
                <a:latin typeface="华文仿宋"/>
                <a:cs typeface="华文仿宋"/>
              </a:rPr>
              <a:t>×</a:t>
            </a:r>
            <a:r>
              <a:rPr sz="2900" dirty="0">
                <a:latin typeface="黑体"/>
                <a:cs typeface="黑体"/>
              </a:rPr>
              <a:t>(KLOC)</a:t>
            </a:r>
            <a:r>
              <a:rPr sz="2850" baseline="24853" dirty="0">
                <a:latin typeface="Tw Cen MT"/>
                <a:cs typeface="Tw Cen MT"/>
              </a:rPr>
              <a:t>0.91</a:t>
            </a:r>
            <a:r>
              <a:rPr sz="2850" spc="352" baseline="24853" dirty="0">
                <a:latin typeface="Tw Cen MT"/>
                <a:cs typeface="Tw Cen MT"/>
              </a:rPr>
              <a:t> </a:t>
            </a:r>
            <a:r>
              <a:rPr sz="2900" spc="5" dirty="0">
                <a:latin typeface="华文仿宋"/>
                <a:cs typeface="华文仿宋"/>
              </a:rPr>
              <a:t>＝</a:t>
            </a:r>
            <a:r>
              <a:rPr sz="2900" spc="80" dirty="0">
                <a:latin typeface="华文仿宋"/>
                <a:cs typeface="华文仿宋"/>
              </a:rPr>
              <a:t> </a:t>
            </a:r>
            <a:r>
              <a:rPr sz="2900" spc="-5" dirty="0">
                <a:latin typeface="Arial Unicode MS"/>
                <a:cs typeface="Arial Unicode MS"/>
              </a:rPr>
              <a:t>5.2</a:t>
            </a:r>
            <a:r>
              <a:rPr sz="2900" spc="-5" dirty="0">
                <a:latin typeface="华文仿宋"/>
                <a:cs typeface="华文仿宋"/>
              </a:rPr>
              <a:t>×</a:t>
            </a:r>
            <a:r>
              <a:rPr sz="2900" spc="-5" dirty="0">
                <a:latin typeface="Arial Unicode MS"/>
                <a:cs typeface="Arial Unicode MS"/>
              </a:rPr>
              <a:t>16.386</a:t>
            </a:r>
            <a:r>
              <a:rPr sz="2900" spc="-40" dirty="0">
                <a:latin typeface="Arial Unicode MS"/>
                <a:cs typeface="Arial Unicode MS"/>
              </a:rPr>
              <a:t> </a:t>
            </a:r>
            <a:r>
              <a:rPr sz="2850" spc="15" baseline="24853" dirty="0">
                <a:latin typeface="Tw Cen MT"/>
                <a:cs typeface="Tw Cen MT"/>
              </a:rPr>
              <a:t>0.91</a:t>
            </a:r>
            <a:r>
              <a:rPr sz="2900" spc="10" dirty="0">
                <a:latin typeface="华文仿宋"/>
                <a:cs typeface="华文仿宋"/>
              </a:rPr>
              <a:t>＝</a:t>
            </a:r>
            <a:r>
              <a:rPr sz="2900" spc="55" dirty="0">
                <a:latin typeface="华文仿宋"/>
                <a:cs typeface="华文仿宋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66</a:t>
            </a:r>
            <a:r>
              <a:rPr sz="2900" dirty="0">
                <a:latin typeface="华文仿宋"/>
                <a:cs typeface="华文仿宋"/>
              </a:rPr>
              <a:t>人月</a:t>
            </a:r>
            <a:endParaRPr sz="2900">
              <a:latin typeface="华文仿宋"/>
              <a:cs typeface="华文仿宋"/>
            </a:endParaRPr>
          </a:p>
          <a:p>
            <a:pPr marL="3708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70205" algn="l"/>
                <a:tab pos="370840" algn="l"/>
              </a:tabLst>
            </a:pPr>
            <a:r>
              <a:rPr sz="2900" spc="-5" dirty="0">
                <a:latin typeface="Arial Unicode MS"/>
                <a:cs typeface="Arial Unicode MS"/>
              </a:rPr>
              <a:t>DOC </a:t>
            </a:r>
            <a:r>
              <a:rPr sz="2900" spc="5" dirty="0">
                <a:latin typeface="Arial Unicode MS"/>
                <a:cs typeface="Arial Unicode MS"/>
              </a:rPr>
              <a:t>=49</a:t>
            </a:r>
            <a:r>
              <a:rPr sz="2900" spc="5" dirty="0">
                <a:latin typeface="华文仿宋"/>
                <a:cs typeface="华文仿宋"/>
              </a:rPr>
              <a:t>× </a:t>
            </a:r>
            <a:r>
              <a:rPr sz="2900" spc="5" dirty="0">
                <a:latin typeface="黑体"/>
                <a:cs typeface="黑体"/>
              </a:rPr>
              <a:t>(KLOC)</a:t>
            </a:r>
            <a:r>
              <a:rPr sz="2850" spc="7" baseline="24853" dirty="0">
                <a:latin typeface="Tw Cen MT"/>
                <a:cs typeface="Tw Cen MT"/>
              </a:rPr>
              <a:t>1.01 </a:t>
            </a:r>
            <a:r>
              <a:rPr sz="2900" dirty="0">
                <a:latin typeface="华文仿宋"/>
                <a:cs typeface="华文仿宋"/>
              </a:rPr>
              <a:t>＝ </a:t>
            </a:r>
            <a:r>
              <a:rPr sz="2900" dirty="0">
                <a:latin typeface="Arial Unicode MS"/>
                <a:cs typeface="Arial Unicode MS"/>
              </a:rPr>
              <a:t>49</a:t>
            </a:r>
            <a:r>
              <a:rPr sz="2900" dirty="0">
                <a:latin typeface="华文仿宋"/>
                <a:cs typeface="华文仿宋"/>
              </a:rPr>
              <a:t>×</a:t>
            </a:r>
            <a:r>
              <a:rPr sz="2900" dirty="0">
                <a:latin typeface="Arial Unicode MS"/>
                <a:cs typeface="Arial Unicode MS"/>
              </a:rPr>
              <a:t>16.386 </a:t>
            </a:r>
            <a:r>
              <a:rPr sz="2850" spc="22" baseline="24853" dirty="0">
                <a:latin typeface="Tw Cen MT"/>
                <a:cs typeface="Tw Cen MT"/>
              </a:rPr>
              <a:t>1.01 </a:t>
            </a:r>
            <a:r>
              <a:rPr sz="2900" dirty="0">
                <a:latin typeface="华文仿宋"/>
                <a:cs typeface="华文仿宋"/>
              </a:rPr>
              <a:t>＝</a:t>
            </a:r>
            <a:r>
              <a:rPr sz="2900" spc="-215" dirty="0">
                <a:latin typeface="华文仿宋"/>
                <a:cs typeface="华文仿宋"/>
              </a:rPr>
              <a:t> </a:t>
            </a:r>
            <a:r>
              <a:rPr sz="2900" dirty="0">
                <a:latin typeface="Arial Unicode MS"/>
                <a:cs typeface="Arial Unicode MS"/>
              </a:rPr>
              <a:t>826 </a:t>
            </a:r>
            <a:r>
              <a:rPr sz="2900" dirty="0">
                <a:latin typeface="华文仿宋"/>
                <a:cs typeface="华文仿宋"/>
              </a:rPr>
              <a:t>页</a:t>
            </a:r>
            <a:endParaRPr sz="29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19531"/>
            <a:ext cx="95250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方正姚体"/>
                <a:cs typeface="方正姚体"/>
              </a:rPr>
              <a:t>COCOMO（Constructive </a:t>
            </a:r>
            <a:r>
              <a:rPr sz="4000" i="0" dirty="0">
                <a:latin typeface="方正姚体"/>
                <a:cs typeface="方正姚体"/>
              </a:rPr>
              <a:t>Cost</a:t>
            </a:r>
            <a:r>
              <a:rPr sz="4000" i="0" spc="-25" dirty="0">
                <a:latin typeface="方正姚体"/>
                <a:cs typeface="方正姚体"/>
              </a:rPr>
              <a:t> </a:t>
            </a:r>
            <a:r>
              <a:rPr sz="4000" i="0" dirty="0">
                <a:latin typeface="方正姚体"/>
                <a:cs typeface="方正姚体"/>
              </a:rPr>
              <a:t>model）</a:t>
            </a:r>
            <a:endParaRPr sz="4000" dirty="0">
              <a:latin typeface="方正姚体"/>
              <a:cs typeface="方正姚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0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1989582"/>
            <a:ext cx="8063865" cy="216725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结构化成本模型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是目前应用最广泛的参</a:t>
            </a:r>
            <a:r>
              <a:rPr sz="2900" spc="-10" dirty="0">
                <a:latin typeface="华文新魏"/>
                <a:cs typeface="华文新魏"/>
              </a:rPr>
              <a:t>数</a:t>
            </a:r>
            <a:r>
              <a:rPr sz="2900" dirty="0">
                <a:latin typeface="华文新魏"/>
                <a:cs typeface="华文新魏"/>
              </a:rPr>
              <a:t>型软</a:t>
            </a:r>
            <a:r>
              <a:rPr sz="2900" spc="-10" dirty="0">
                <a:latin typeface="华文新魏"/>
                <a:cs typeface="华文新魏"/>
              </a:rPr>
              <a:t>件</a:t>
            </a:r>
            <a:r>
              <a:rPr sz="2900" dirty="0">
                <a:latin typeface="华文新魏"/>
                <a:cs typeface="华文新魏"/>
              </a:rPr>
              <a:t>成本</a:t>
            </a:r>
            <a:r>
              <a:rPr sz="2900" spc="-10" dirty="0">
                <a:latin typeface="华文新魏"/>
                <a:cs typeface="华文新魏"/>
              </a:rPr>
              <a:t>估</a:t>
            </a:r>
            <a:r>
              <a:rPr sz="2900" dirty="0">
                <a:latin typeface="华文新魏"/>
                <a:cs typeface="华文新魏"/>
              </a:rPr>
              <a:t>计模型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由Barry</a:t>
            </a:r>
            <a:r>
              <a:rPr sz="2900" spc="-10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Boehm团队开发的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32023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</a:t>
            </a:r>
            <a:r>
              <a:rPr spc="-5" dirty="0"/>
              <a:t>O</a:t>
            </a:r>
            <a:r>
              <a:rPr dirty="0"/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7683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1844801"/>
            <a:ext cx="8153400" cy="226187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75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411480" algn="l"/>
              </a:tabLst>
            </a:pPr>
            <a:r>
              <a:rPr sz="3600" dirty="0">
                <a:latin typeface="华文新魏"/>
                <a:cs typeface="华文新魏"/>
              </a:rPr>
              <a:t>COCOMO</a:t>
            </a:r>
            <a:r>
              <a:rPr sz="3600" spc="-100" dirty="0">
                <a:latin typeface="华文新魏"/>
                <a:cs typeface="华文新魏"/>
              </a:rPr>
              <a:t> </a:t>
            </a:r>
            <a:r>
              <a:rPr sz="3600" dirty="0">
                <a:latin typeface="华文新魏"/>
                <a:cs typeface="华文新魏"/>
              </a:rPr>
              <a:t>81</a:t>
            </a:r>
            <a:endParaRPr sz="36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411480" algn="l"/>
              </a:tabLst>
            </a:pPr>
            <a:r>
              <a:rPr sz="3600" spc="-5" dirty="0">
                <a:latin typeface="华文新魏"/>
                <a:cs typeface="华文新魏"/>
              </a:rPr>
              <a:t>COCOMO</a:t>
            </a:r>
            <a:r>
              <a:rPr sz="3600" spc="-75" dirty="0">
                <a:latin typeface="华文新魏"/>
                <a:cs typeface="华文新魏"/>
              </a:rPr>
              <a:t> </a:t>
            </a:r>
            <a:r>
              <a:rPr sz="3600" dirty="0">
                <a:latin typeface="华文新魏"/>
                <a:cs typeface="华文新魏"/>
              </a:rPr>
              <a:t>II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92353"/>
            <a:ext cx="5632908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i="0" dirty="0">
                <a:latin typeface="方正姚体"/>
                <a:cs typeface="方正姚体"/>
              </a:rPr>
              <a:t>COCOM</a:t>
            </a:r>
            <a:r>
              <a:rPr sz="4800" i="0" spc="5" dirty="0">
                <a:latin typeface="方正姚体"/>
                <a:cs typeface="方正姚体"/>
              </a:rPr>
              <a:t>O</a:t>
            </a:r>
            <a:r>
              <a:rPr sz="4800" i="0" dirty="0">
                <a:latin typeface="方正姚体"/>
                <a:cs typeface="方正姚体"/>
              </a:rPr>
              <a:t>基本原理</a:t>
            </a:r>
            <a:endParaRPr sz="4800" dirty="0">
              <a:latin typeface="方正姚体"/>
              <a:cs typeface="方正姚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40529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2222" y="1578102"/>
            <a:ext cx="8566785" cy="4608830"/>
          </a:xfrm>
          <a:custGeom>
            <a:avLst/>
            <a:gdLst/>
            <a:ahLst/>
            <a:cxnLst/>
            <a:rect l="l" t="t" r="r" b="b"/>
            <a:pathLst>
              <a:path w="8566785" h="4608830">
                <a:moveTo>
                  <a:pt x="0" y="4608576"/>
                </a:moveTo>
                <a:lnTo>
                  <a:pt x="8566404" y="4608576"/>
                </a:lnTo>
                <a:lnTo>
                  <a:pt x="8566404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9590" y="1533906"/>
            <a:ext cx="8379459" cy="40900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32740" marR="71120" indent="-320040">
              <a:lnSpc>
                <a:spcPts val="3460"/>
              </a:lnSpc>
              <a:spcBef>
                <a:spcPts val="535"/>
              </a:spcBef>
            </a:pPr>
            <a:r>
              <a:rPr sz="3200" b="1" spc="5" dirty="0">
                <a:latin typeface="华文仿宋"/>
                <a:cs typeface="华文仿宋"/>
              </a:rPr>
              <a:t>将开</a:t>
            </a:r>
            <a:r>
              <a:rPr sz="3200" b="1" dirty="0">
                <a:latin typeface="华文仿宋"/>
                <a:cs typeface="华文仿宋"/>
              </a:rPr>
              <a:t>发所</a:t>
            </a:r>
            <a:r>
              <a:rPr sz="3200" b="1" spc="-15" dirty="0">
                <a:latin typeface="华文仿宋"/>
                <a:cs typeface="华文仿宋"/>
              </a:rPr>
              <a:t>需</a:t>
            </a:r>
            <a:r>
              <a:rPr sz="3200" b="1" dirty="0">
                <a:latin typeface="华文仿宋"/>
                <a:cs typeface="华文仿宋"/>
              </a:rPr>
              <a:t>要的</a:t>
            </a:r>
            <a:r>
              <a:rPr sz="3200" b="1" spc="-15" dirty="0">
                <a:latin typeface="华文仿宋"/>
                <a:cs typeface="华文仿宋"/>
              </a:rPr>
              <a:t>工</a:t>
            </a:r>
            <a:r>
              <a:rPr sz="3200" b="1" dirty="0">
                <a:latin typeface="华文仿宋"/>
                <a:cs typeface="华文仿宋"/>
              </a:rPr>
              <a:t>作量</a:t>
            </a:r>
            <a:r>
              <a:rPr sz="3200" b="1" spc="-15" dirty="0">
                <a:latin typeface="华文仿宋"/>
                <a:cs typeface="华文仿宋"/>
              </a:rPr>
              <a:t>表</a:t>
            </a:r>
            <a:r>
              <a:rPr sz="3200" b="1" dirty="0">
                <a:latin typeface="华文仿宋"/>
                <a:cs typeface="华文仿宋"/>
              </a:rPr>
              <a:t>示</a:t>
            </a:r>
            <a:r>
              <a:rPr sz="3200" b="1" spc="10" dirty="0">
                <a:latin typeface="华文仿宋"/>
                <a:cs typeface="华文仿宋"/>
              </a:rPr>
              <a:t>为</a:t>
            </a:r>
            <a:r>
              <a:rPr sz="3200" b="1" dirty="0">
                <a:latin typeface="Tw Cen MT"/>
                <a:cs typeface="Tw Cen MT"/>
              </a:rPr>
              <a:t>K</a:t>
            </a:r>
            <a:r>
              <a:rPr sz="3200" b="1" spc="-45" dirty="0">
                <a:latin typeface="Tw Cen MT"/>
                <a:cs typeface="Tw Cen MT"/>
              </a:rPr>
              <a:t>L</a:t>
            </a:r>
            <a:r>
              <a:rPr sz="3200" b="1" spc="-5" dirty="0">
                <a:latin typeface="Tw Cen MT"/>
                <a:cs typeface="Tw Cen MT"/>
              </a:rPr>
              <a:t>OC</a:t>
            </a:r>
            <a:r>
              <a:rPr sz="3200" b="1" dirty="0">
                <a:latin typeface="华文仿宋"/>
                <a:cs typeface="华文仿宋"/>
              </a:rPr>
              <a:t>软件规</a:t>
            </a:r>
            <a:r>
              <a:rPr sz="3200" b="1" spc="-15" dirty="0">
                <a:latin typeface="华文仿宋"/>
                <a:cs typeface="华文仿宋"/>
              </a:rPr>
              <a:t>模</a:t>
            </a:r>
            <a:r>
              <a:rPr sz="3200" b="1" dirty="0">
                <a:latin typeface="华文仿宋"/>
                <a:cs typeface="华文仿宋"/>
              </a:rPr>
              <a:t>和 </a:t>
            </a:r>
            <a:r>
              <a:rPr sz="3200" b="1" spc="5" dirty="0">
                <a:latin typeface="华文仿宋"/>
                <a:cs typeface="华文仿宋"/>
              </a:rPr>
              <a:t>一系</a:t>
            </a:r>
            <a:r>
              <a:rPr sz="3200" b="1" dirty="0">
                <a:latin typeface="华文仿宋"/>
                <a:cs typeface="华文仿宋"/>
              </a:rPr>
              <a:t>列成本因子的函</a:t>
            </a:r>
            <a:r>
              <a:rPr sz="3200" b="1" spc="-15" dirty="0">
                <a:latin typeface="华文仿宋"/>
                <a:cs typeface="华文仿宋"/>
              </a:rPr>
              <a:t>数</a:t>
            </a:r>
            <a:r>
              <a:rPr sz="3200" b="1" spc="-5" dirty="0">
                <a:latin typeface="Tw Cen MT"/>
                <a:cs typeface="Tw Cen MT"/>
              </a:rPr>
              <a:t>,</a:t>
            </a:r>
            <a:r>
              <a:rPr sz="3200" b="1" dirty="0">
                <a:latin typeface="华文仿宋"/>
                <a:cs typeface="华文仿宋"/>
              </a:rPr>
              <a:t>基本</a:t>
            </a:r>
            <a:r>
              <a:rPr sz="3200" b="1" spc="-15" dirty="0">
                <a:latin typeface="华文仿宋"/>
                <a:cs typeface="华文仿宋"/>
              </a:rPr>
              <a:t>估</a:t>
            </a:r>
            <a:r>
              <a:rPr sz="3200" b="1" dirty="0">
                <a:latin typeface="华文仿宋"/>
                <a:cs typeface="华文仿宋"/>
              </a:rPr>
              <a:t>算公</a:t>
            </a:r>
            <a:r>
              <a:rPr sz="3200" b="1" spc="-10" dirty="0">
                <a:latin typeface="华文仿宋"/>
                <a:cs typeface="华文仿宋"/>
              </a:rPr>
              <a:t>式</a:t>
            </a:r>
            <a:r>
              <a:rPr sz="3200" b="1" dirty="0">
                <a:latin typeface="Tw Cen MT"/>
                <a:cs typeface="Tw Cen MT"/>
              </a:rPr>
              <a:t>:</a:t>
            </a:r>
            <a:endParaRPr sz="3200">
              <a:latin typeface="Tw Cen MT"/>
              <a:cs typeface="Tw Cen MT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90000"/>
              </a:lnSpc>
            </a:pPr>
            <a:r>
              <a:rPr sz="2900" b="1" spc="-5" dirty="0">
                <a:latin typeface="Tw Cen MT"/>
                <a:cs typeface="Tw Cen MT"/>
              </a:rPr>
              <a:t>A:</a:t>
            </a:r>
            <a:r>
              <a:rPr sz="2900" b="1" spc="5" dirty="0">
                <a:latin typeface="华文仿宋"/>
                <a:cs typeface="华文仿宋"/>
              </a:rPr>
              <a:t>可以</a:t>
            </a:r>
            <a:r>
              <a:rPr sz="2900" b="1" dirty="0">
                <a:latin typeface="华文仿宋"/>
                <a:cs typeface="华文仿宋"/>
              </a:rPr>
              <a:t>校准的</a:t>
            </a:r>
            <a:r>
              <a:rPr sz="2900" b="1" spc="-15" dirty="0">
                <a:latin typeface="华文仿宋"/>
                <a:cs typeface="华文仿宋"/>
              </a:rPr>
              <a:t>常</a:t>
            </a:r>
            <a:r>
              <a:rPr sz="2900" b="1" spc="-10" dirty="0">
                <a:latin typeface="华文仿宋"/>
                <a:cs typeface="华文仿宋"/>
              </a:rPr>
              <a:t>量</a:t>
            </a:r>
            <a:r>
              <a:rPr sz="2900" b="1" dirty="0">
                <a:latin typeface="Tw Cen MT"/>
                <a:cs typeface="Tw Cen MT"/>
              </a:rPr>
              <a:t>;</a:t>
            </a:r>
            <a:r>
              <a:rPr sz="2900" b="1" spc="-20" dirty="0">
                <a:latin typeface="Tw Cen MT"/>
                <a:cs typeface="Tw Cen MT"/>
              </a:rPr>
              <a:t> </a:t>
            </a:r>
            <a:r>
              <a:rPr sz="2900" b="1" spc="-10" dirty="0">
                <a:latin typeface="Tw Cen MT"/>
                <a:cs typeface="Tw Cen MT"/>
              </a:rPr>
              <a:t>S</a:t>
            </a:r>
            <a:r>
              <a:rPr sz="2900" b="1" spc="-5" dirty="0">
                <a:latin typeface="华文仿宋"/>
                <a:cs typeface="华文仿宋"/>
              </a:rPr>
              <a:t>为</a:t>
            </a:r>
            <a:r>
              <a:rPr sz="2900" b="1" spc="-10" dirty="0">
                <a:latin typeface="Tw Cen MT"/>
                <a:cs typeface="Tw Cen MT"/>
              </a:rPr>
              <a:t>KLOC</a:t>
            </a:r>
            <a:r>
              <a:rPr sz="2900" b="1" dirty="0">
                <a:latin typeface="华文仿宋"/>
                <a:cs typeface="华文仿宋"/>
              </a:rPr>
              <a:t>软</a:t>
            </a:r>
            <a:r>
              <a:rPr sz="2900" b="1" spc="-20" dirty="0">
                <a:latin typeface="华文仿宋"/>
                <a:cs typeface="华文仿宋"/>
              </a:rPr>
              <a:t>件</a:t>
            </a:r>
            <a:r>
              <a:rPr sz="2900" b="1" dirty="0">
                <a:latin typeface="华文仿宋"/>
                <a:cs typeface="华文仿宋"/>
              </a:rPr>
              <a:t>规</a:t>
            </a:r>
            <a:r>
              <a:rPr sz="2900" b="1" spc="-5" dirty="0">
                <a:latin typeface="华文仿宋"/>
                <a:cs typeface="华文仿宋"/>
              </a:rPr>
              <a:t>模</a:t>
            </a:r>
            <a:r>
              <a:rPr sz="2900" b="1" dirty="0">
                <a:latin typeface="Tw Cen MT"/>
                <a:cs typeface="Tw Cen MT"/>
              </a:rPr>
              <a:t>;</a:t>
            </a:r>
            <a:r>
              <a:rPr sz="2900" b="1" spc="-15" dirty="0">
                <a:latin typeface="Tw Cen MT"/>
                <a:cs typeface="Tw Cen MT"/>
              </a:rPr>
              <a:t> </a:t>
            </a:r>
            <a:r>
              <a:rPr sz="2900" b="1" spc="-10" dirty="0">
                <a:latin typeface="Tw Cen MT"/>
                <a:cs typeface="Tw Cen MT"/>
              </a:rPr>
              <a:t>E</a:t>
            </a:r>
            <a:r>
              <a:rPr sz="2900" b="1" dirty="0">
                <a:latin typeface="华文仿宋"/>
                <a:cs typeface="华文仿宋"/>
              </a:rPr>
              <a:t>为规</a:t>
            </a:r>
            <a:r>
              <a:rPr sz="2900" b="1" spc="-25" dirty="0">
                <a:latin typeface="华文仿宋"/>
                <a:cs typeface="华文仿宋"/>
              </a:rPr>
              <a:t>模</a:t>
            </a:r>
            <a:r>
              <a:rPr sz="2900" b="1" dirty="0">
                <a:latin typeface="华文仿宋"/>
                <a:cs typeface="华文仿宋"/>
              </a:rPr>
              <a:t>的指 </a:t>
            </a:r>
            <a:r>
              <a:rPr sz="2900" b="1" spc="10" dirty="0">
                <a:latin typeface="华文仿宋"/>
                <a:cs typeface="华文仿宋"/>
              </a:rPr>
              <a:t>数</a:t>
            </a:r>
            <a:r>
              <a:rPr sz="2900" b="1" dirty="0">
                <a:latin typeface="Tw Cen MT"/>
                <a:cs typeface="Tw Cen MT"/>
              </a:rPr>
              <a:t>,</a:t>
            </a:r>
            <a:r>
              <a:rPr sz="2900" b="1" dirty="0">
                <a:latin typeface="华文仿宋"/>
                <a:cs typeface="华文仿宋"/>
              </a:rPr>
              <a:t>说明不同规</a:t>
            </a:r>
            <a:r>
              <a:rPr sz="2900" b="1" spc="-15" dirty="0">
                <a:latin typeface="华文仿宋"/>
                <a:cs typeface="华文仿宋"/>
              </a:rPr>
              <a:t>模</a:t>
            </a:r>
            <a:r>
              <a:rPr sz="2900" b="1" dirty="0">
                <a:latin typeface="华文仿宋"/>
                <a:cs typeface="华文仿宋"/>
              </a:rPr>
              <a:t>软件</a:t>
            </a:r>
            <a:r>
              <a:rPr sz="2900" b="1" spc="-15" dirty="0">
                <a:latin typeface="华文仿宋"/>
                <a:cs typeface="华文仿宋"/>
              </a:rPr>
              <a:t>具</a:t>
            </a:r>
            <a:r>
              <a:rPr sz="2900" b="1" dirty="0">
                <a:latin typeface="华文仿宋"/>
                <a:cs typeface="华文仿宋"/>
              </a:rPr>
              <a:t>有的</a:t>
            </a:r>
            <a:r>
              <a:rPr sz="2900" b="1" spc="-15" dirty="0">
                <a:latin typeface="华文仿宋"/>
                <a:cs typeface="华文仿宋"/>
              </a:rPr>
              <a:t>相</a:t>
            </a:r>
            <a:r>
              <a:rPr sz="2900" b="1" dirty="0">
                <a:latin typeface="华文仿宋"/>
                <a:cs typeface="华文仿宋"/>
              </a:rPr>
              <a:t>对规</a:t>
            </a:r>
            <a:r>
              <a:rPr sz="2900" b="1" spc="-15" dirty="0">
                <a:latin typeface="华文仿宋"/>
                <a:cs typeface="华文仿宋"/>
              </a:rPr>
              <a:t>模</a:t>
            </a:r>
            <a:r>
              <a:rPr sz="2900" b="1" dirty="0">
                <a:latin typeface="华文仿宋"/>
                <a:cs typeface="华文仿宋"/>
              </a:rPr>
              <a:t>经济</a:t>
            </a:r>
            <a:r>
              <a:rPr sz="2900" b="1" spc="-15" dirty="0">
                <a:latin typeface="华文仿宋"/>
                <a:cs typeface="华文仿宋"/>
              </a:rPr>
              <a:t>和</a:t>
            </a:r>
            <a:r>
              <a:rPr sz="2900" b="1" dirty="0">
                <a:latin typeface="华文仿宋"/>
                <a:cs typeface="华文仿宋"/>
              </a:rPr>
              <a:t>不经 </a:t>
            </a:r>
            <a:r>
              <a:rPr sz="2900" b="1" spc="10" dirty="0">
                <a:latin typeface="华文仿宋"/>
                <a:cs typeface="华文仿宋"/>
              </a:rPr>
              <a:t>济性</a:t>
            </a:r>
            <a:r>
              <a:rPr sz="2900" b="1" dirty="0">
                <a:latin typeface="Tw Cen MT"/>
                <a:cs typeface="Tw Cen MT"/>
              </a:rPr>
              <a:t>;</a:t>
            </a:r>
            <a:r>
              <a:rPr sz="2900" b="1" spc="-10" dirty="0">
                <a:latin typeface="Tw Cen MT"/>
                <a:cs typeface="Tw Cen MT"/>
              </a:rPr>
              <a:t>E</a:t>
            </a:r>
            <a:r>
              <a:rPr sz="2900" b="1" dirty="0">
                <a:latin typeface="Tw Cen MT"/>
                <a:cs typeface="Tw Cen MT"/>
              </a:rPr>
              <a:t>M</a:t>
            </a:r>
            <a:r>
              <a:rPr sz="2900" b="1" dirty="0">
                <a:latin typeface="华文仿宋"/>
                <a:cs typeface="华文仿宋"/>
              </a:rPr>
              <a:t>为</a:t>
            </a:r>
            <a:r>
              <a:rPr sz="2900" b="1" spc="-15" dirty="0">
                <a:latin typeface="华文仿宋"/>
                <a:cs typeface="华文仿宋"/>
              </a:rPr>
              <a:t>工</a:t>
            </a:r>
            <a:r>
              <a:rPr sz="2900" b="1" dirty="0">
                <a:latin typeface="华文仿宋"/>
                <a:cs typeface="华文仿宋"/>
              </a:rPr>
              <a:t>作量</a:t>
            </a:r>
            <a:r>
              <a:rPr sz="2900" b="1" spc="-15" dirty="0">
                <a:latin typeface="华文仿宋"/>
                <a:cs typeface="华文仿宋"/>
              </a:rPr>
              <a:t>乘</a:t>
            </a:r>
            <a:r>
              <a:rPr sz="2900" b="1" dirty="0">
                <a:latin typeface="华文仿宋"/>
                <a:cs typeface="华文仿宋"/>
              </a:rPr>
              <a:t>数</a:t>
            </a:r>
            <a:r>
              <a:rPr sz="2900" b="1" spc="-15" dirty="0">
                <a:latin typeface="Tw Cen MT"/>
                <a:cs typeface="Tw Cen MT"/>
              </a:rPr>
              <a:t>,</a:t>
            </a:r>
            <a:r>
              <a:rPr sz="2900" b="1" dirty="0">
                <a:latin typeface="华文仿宋"/>
                <a:cs typeface="华文仿宋"/>
              </a:rPr>
              <a:t>反映某个项目特征对</a:t>
            </a:r>
            <a:r>
              <a:rPr sz="2900" b="1" spc="-15" dirty="0">
                <a:latin typeface="华文仿宋"/>
                <a:cs typeface="华文仿宋"/>
              </a:rPr>
              <a:t>完</a:t>
            </a:r>
            <a:r>
              <a:rPr sz="2900" b="1" dirty="0">
                <a:latin typeface="华文仿宋"/>
                <a:cs typeface="华文仿宋"/>
              </a:rPr>
              <a:t>成项 </a:t>
            </a:r>
            <a:r>
              <a:rPr sz="2900" b="1" spc="5" dirty="0">
                <a:latin typeface="华文仿宋"/>
                <a:cs typeface="华文仿宋"/>
              </a:rPr>
              <a:t>目开</a:t>
            </a:r>
            <a:r>
              <a:rPr sz="2900" b="1" dirty="0">
                <a:latin typeface="华文仿宋"/>
                <a:cs typeface="华文仿宋"/>
              </a:rPr>
              <a:t>发所</a:t>
            </a:r>
            <a:r>
              <a:rPr sz="2900" b="1" spc="-15" dirty="0">
                <a:latin typeface="华文仿宋"/>
                <a:cs typeface="华文仿宋"/>
              </a:rPr>
              <a:t>需</a:t>
            </a:r>
            <a:r>
              <a:rPr sz="2900" b="1" dirty="0">
                <a:latin typeface="华文仿宋"/>
                <a:cs typeface="华文仿宋"/>
              </a:rPr>
              <a:t>工作</a:t>
            </a:r>
            <a:r>
              <a:rPr sz="2900" b="1" spc="-15" dirty="0">
                <a:latin typeface="华文仿宋"/>
                <a:cs typeface="华文仿宋"/>
              </a:rPr>
              <a:t>量</a:t>
            </a:r>
            <a:r>
              <a:rPr sz="2900" b="1" dirty="0">
                <a:latin typeface="华文仿宋"/>
                <a:cs typeface="华文仿宋"/>
              </a:rPr>
              <a:t>的影</a:t>
            </a:r>
            <a:r>
              <a:rPr sz="2900" b="1" spc="-15" dirty="0">
                <a:latin typeface="华文仿宋"/>
                <a:cs typeface="华文仿宋"/>
              </a:rPr>
              <a:t>响</a:t>
            </a:r>
            <a:r>
              <a:rPr sz="2900" b="1" dirty="0">
                <a:latin typeface="华文仿宋"/>
                <a:cs typeface="华文仿宋"/>
              </a:rPr>
              <a:t>程</a:t>
            </a:r>
            <a:r>
              <a:rPr sz="2900" b="1" spc="-20" dirty="0">
                <a:latin typeface="华文仿宋"/>
                <a:cs typeface="华文仿宋"/>
              </a:rPr>
              <a:t>度</a:t>
            </a:r>
            <a:r>
              <a:rPr sz="2900" b="1" spc="-10" dirty="0">
                <a:latin typeface="Tw Cen MT"/>
                <a:cs typeface="Tw Cen MT"/>
              </a:rPr>
              <a:t>;n</a:t>
            </a:r>
            <a:r>
              <a:rPr sz="2900" b="1" dirty="0">
                <a:latin typeface="华文仿宋"/>
                <a:cs typeface="华文仿宋"/>
              </a:rPr>
              <a:t>为描</a:t>
            </a:r>
            <a:r>
              <a:rPr sz="2900" b="1" spc="-25" dirty="0">
                <a:latin typeface="华文仿宋"/>
                <a:cs typeface="华文仿宋"/>
              </a:rPr>
              <a:t>述</a:t>
            </a:r>
            <a:r>
              <a:rPr sz="2900" b="1" dirty="0">
                <a:latin typeface="华文仿宋"/>
                <a:cs typeface="华文仿宋"/>
              </a:rPr>
              <a:t>软件</a:t>
            </a:r>
            <a:r>
              <a:rPr sz="2900" b="1" spc="-25" dirty="0">
                <a:latin typeface="华文仿宋"/>
                <a:cs typeface="华文仿宋"/>
              </a:rPr>
              <a:t>项</a:t>
            </a:r>
            <a:r>
              <a:rPr sz="2900" b="1" dirty="0">
                <a:latin typeface="华文仿宋"/>
                <a:cs typeface="华文仿宋"/>
              </a:rPr>
              <a:t>目特 </a:t>
            </a:r>
            <a:r>
              <a:rPr sz="2900" b="1" spc="10" dirty="0">
                <a:latin typeface="华文仿宋"/>
                <a:cs typeface="华文仿宋"/>
              </a:rPr>
              <a:t>征的</a:t>
            </a:r>
            <a:r>
              <a:rPr sz="2900" b="1" dirty="0">
                <a:latin typeface="华文仿宋"/>
                <a:cs typeface="华文仿宋"/>
              </a:rPr>
              <a:t>成本驱动因</a:t>
            </a:r>
            <a:r>
              <a:rPr sz="2900" b="1" spc="-10" dirty="0">
                <a:latin typeface="华文仿宋"/>
                <a:cs typeface="华文仿宋"/>
              </a:rPr>
              <a:t>子</a:t>
            </a:r>
            <a:r>
              <a:rPr sz="2900" b="1" dirty="0">
                <a:latin typeface="华文仿宋"/>
                <a:cs typeface="华文仿宋"/>
              </a:rPr>
              <a:t>的个数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48383" y="2564892"/>
            <a:ext cx="5760720" cy="1030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418" y="397255"/>
            <a:ext cx="3942182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i="0" dirty="0">
                <a:latin typeface="方正姚体"/>
                <a:cs typeface="方正姚体"/>
              </a:rPr>
              <a:t>COCOMO</a:t>
            </a:r>
            <a:r>
              <a:rPr sz="4800" i="0" spc="-85" dirty="0">
                <a:latin typeface="方正姚体"/>
                <a:cs typeface="方正姚体"/>
              </a:rPr>
              <a:t> </a:t>
            </a:r>
            <a:r>
              <a:rPr sz="4800" i="0" dirty="0">
                <a:latin typeface="方正姚体"/>
                <a:cs typeface="方正姚体"/>
              </a:rPr>
              <a:t>81</a:t>
            </a:r>
            <a:endParaRPr sz="4800" dirty="0">
              <a:latin typeface="方正姚体"/>
              <a:cs typeface="方正姚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1528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13682" y="2077973"/>
            <a:ext cx="3962400" cy="246126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sz="2800" b="1" u="sng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新魏"/>
                <a:cs typeface="华文新魏"/>
              </a:rPr>
              <a:t>项目类型：</a:t>
            </a:r>
            <a:endParaRPr sz="2800">
              <a:latin typeface="华文新魏"/>
              <a:cs typeface="华文新魏"/>
            </a:endParaRPr>
          </a:p>
          <a:p>
            <a:pPr marL="269875" indent="-179070">
              <a:lnSpc>
                <a:spcPct val="100000"/>
              </a:lnSpc>
              <a:spcBef>
                <a:spcPts val="1680"/>
              </a:spcBef>
              <a:buSzPct val="96428"/>
              <a:buFont typeface=""/>
              <a:buChar char="•"/>
              <a:tabLst>
                <a:tab pos="270510" algn="l"/>
              </a:tabLst>
            </a:pP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有机:</a:t>
            </a:r>
            <a:r>
              <a:rPr sz="2800" spc="5" dirty="0">
                <a:solidFill>
                  <a:srgbClr val="A07B36"/>
                </a:solidFill>
                <a:latin typeface="华文新魏"/>
                <a:cs typeface="华文新魏"/>
              </a:rPr>
              <a:t> </a:t>
            </a: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Organic</a:t>
            </a:r>
            <a:endParaRPr sz="2800">
              <a:latin typeface="华文新魏"/>
              <a:cs typeface="华文新魏"/>
            </a:endParaRPr>
          </a:p>
          <a:p>
            <a:pPr marL="269875" indent="-179070">
              <a:lnSpc>
                <a:spcPct val="100000"/>
              </a:lnSpc>
              <a:spcBef>
                <a:spcPts val="1685"/>
              </a:spcBef>
              <a:buSzPct val="96428"/>
              <a:buFont typeface=""/>
              <a:buChar char="•"/>
              <a:tabLst>
                <a:tab pos="270510" algn="l"/>
              </a:tabLst>
            </a:pP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嵌入式:</a:t>
            </a:r>
            <a:r>
              <a:rPr sz="2800" dirty="0">
                <a:solidFill>
                  <a:srgbClr val="A07B36"/>
                </a:solidFill>
                <a:latin typeface="华文新魏"/>
                <a:cs typeface="华文新魏"/>
              </a:rPr>
              <a:t> </a:t>
            </a: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Embedded</a:t>
            </a:r>
            <a:endParaRPr sz="2800">
              <a:latin typeface="华文新魏"/>
              <a:cs typeface="华文新魏"/>
            </a:endParaRPr>
          </a:p>
          <a:p>
            <a:pPr marL="269875" indent="-179070">
              <a:lnSpc>
                <a:spcPct val="100000"/>
              </a:lnSpc>
              <a:spcBef>
                <a:spcPts val="1680"/>
              </a:spcBef>
              <a:buSzPct val="96428"/>
              <a:buFont typeface=""/>
              <a:buChar char="•"/>
              <a:tabLst>
                <a:tab pos="270510" algn="l"/>
              </a:tabLst>
            </a:pP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半嵌入:</a:t>
            </a:r>
            <a:r>
              <a:rPr sz="2800" spc="-10" dirty="0">
                <a:solidFill>
                  <a:srgbClr val="A07B36"/>
                </a:solidFill>
                <a:latin typeface="华文新魏"/>
                <a:cs typeface="华文新魏"/>
              </a:rPr>
              <a:t> </a:t>
            </a: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Semidetached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258" y="1989582"/>
            <a:ext cx="3200400" cy="263652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0"/>
              </a:spcBef>
            </a:pPr>
            <a:r>
              <a:rPr sz="2400" b="1" u="sng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新魏"/>
                <a:cs typeface="华文新魏"/>
              </a:rPr>
              <a:t>模型级</a:t>
            </a:r>
            <a:r>
              <a:rPr sz="2400" b="1" u="sng" spc="-5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新魏"/>
                <a:cs typeface="华文新魏"/>
              </a:rPr>
              <a:t>别：</a:t>
            </a:r>
            <a:endParaRPr sz="2400">
              <a:latin typeface="华文新魏"/>
              <a:cs typeface="华文新魏"/>
            </a:endParaRPr>
          </a:p>
          <a:p>
            <a:pPr marL="548005" indent="-457834">
              <a:lnSpc>
                <a:spcPct val="100000"/>
              </a:lnSpc>
              <a:spcBef>
                <a:spcPts val="640"/>
              </a:spcBef>
              <a:buClr>
                <a:srgbClr val="FF0000"/>
              </a:buClr>
              <a:buSzPct val="53571"/>
              <a:buFont typeface="Wingdings"/>
              <a:buChar char=""/>
              <a:tabLst>
                <a:tab pos="548005" algn="l"/>
                <a:tab pos="548640" algn="l"/>
              </a:tabLst>
            </a:pP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基</a:t>
            </a:r>
            <a:r>
              <a:rPr sz="2800" spc="-10" dirty="0">
                <a:solidFill>
                  <a:srgbClr val="A07B36"/>
                </a:solidFill>
                <a:latin typeface="华文新魏"/>
                <a:cs typeface="华文新魏"/>
              </a:rPr>
              <a:t>本</a:t>
            </a: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CO</a:t>
            </a:r>
            <a:r>
              <a:rPr sz="2800" spc="-20" dirty="0">
                <a:solidFill>
                  <a:srgbClr val="A07B36"/>
                </a:solidFill>
                <a:latin typeface="华文新魏"/>
                <a:cs typeface="华文新魏"/>
              </a:rPr>
              <a:t>C</a:t>
            </a: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OMO</a:t>
            </a:r>
            <a:endParaRPr sz="2800">
              <a:latin typeface="华文新魏"/>
              <a:cs typeface="华文新魏"/>
            </a:endParaRPr>
          </a:p>
          <a:p>
            <a:pPr marL="548005" indent="-457834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3571"/>
              <a:buFont typeface="Wingdings"/>
              <a:buChar char=""/>
              <a:tabLst>
                <a:tab pos="548005" algn="l"/>
                <a:tab pos="548640" algn="l"/>
              </a:tabLst>
            </a:pP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中等COCOMO</a:t>
            </a:r>
            <a:endParaRPr sz="2800">
              <a:latin typeface="华文新魏"/>
              <a:cs typeface="华文新魏"/>
            </a:endParaRPr>
          </a:p>
          <a:p>
            <a:pPr marL="548005" indent="-457834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3571"/>
              <a:buFont typeface="Wingdings"/>
              <a:buChar char=""/>
              <a:tabLst>
                <a:tab pos="548005" algn="l"/>
                <a:tab pos="548640" algn="l"/>
              </a:tabLst>
            </a:pPr>
            <a:r>
              <a:rPr sz="2800" spc="-5" dirty="0">
                <a:solidFill>
                  <a:srgbClr val="A07B36"/>
                </a:solidFill>
                <a:latin typeface="华文新魏"/>
                <a:cs typeface="华文新魏"/>
              </a:rPr>
              <a:t>高级COCOMO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54583"/>
            <a:ext cx="5506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spc="-75" dirty="0"/>
              <a:t> </a:t>
            </a:r>
            <a:r>
              <a:rPr spc="-5" dirty="0"/>
              <a:t>81</a:t>
            </a:r>
            <a:r>
              <a:rPr dirty="0"/>
              <a:t>模型的级别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0867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50991" y="2103119"/>
            <a:ext cx="3493007" cy="35128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17648" y="2578607"/>
            <a:ext cx="2741676" cy="2724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2997707"/>
            <a:ext cx="1979676" cy="2052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24980" y="3526358"/>
            <a:ext cx="2312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黑体"/>
                <a:cs typeface="黑体"/>
              </a:rPr>
              <a:t>高</a:t>
            </a:r>
            <a:r>
              <a:rPr sz="3600" spc="-5" dirty="0">
                <a:latin typeface="黑体"/>
                <a:cs typeface="黑体"/>
              </a:rPr>
              <a:t>级COCOMO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6785" y="3749497"/>
            <a:ext cx="18027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黑体"/>
                <a:cs typeface="黑体"/>
              </a:rPr>
              <a:t>中</a:t>
            </a:r>
            <a:r>
              <a:rPr sz="2800" spc="-5" dirty="0">
                <a:latin typeface="黑体"/>
                <a:cs typeface="黑体"/>
              </a:rPr>
              <a:t>等C</a:t>
            </a:r>
            <a:r>
              <a:rPr sz="2800" dirty="0">
                <a:latin typeface="黑体"/>
                <a:cs typeface="黑体"/>
              </a:rPr>
              <a:t>O</a:t>
            </a:r>
            <a:r>
              <a:rPr sz="2800" spc="-5" dirty="0">
                <a:latin typeface="黑体"/>
                <a:cs typeface="黑体"/>
              </a:rPr>
              <a:t>C</a:t>
            </a:r>
            <a:r>
              <a:rPr sz="2800" spc="-20" dirty="0">
                <a:latin typeface="黑体"/>
                <a:cs typeface="黑体"/>
              </a:rPr>
              <a:t>O</a:t>
            </a:r>
            <a:r>
              <a:rPr sz="2800" spc="-5" dirty="0">
                <a:latin typeface="黑体"/>
                <a:cs typeface="黑体"/>
              </a:rPr>
              <a:t>MO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037" y="379755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黑体"/>
                <a:cs typeface="黑体"/>
              </a:rPr>
              <a:t>基本COCOMO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96795" y="3558540"/>
            <a:ext cx="752856" cy="8519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4440" y="3515867"/>
            <a:ext cx="751332" cy="850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5037" y="1745742"/>
            <a:ext cx="4087495" cy="719455"/>
          </a:xfrm>
          <a:custGeom>
            <a:avLst/>
            <a:gdLst/>
            <a:ahLst/>
            <a:cxnLst/>
            <a:rect l="l" t="t" r="r" b="b"/>
            <a:pathLst>
              <a:path w="4087495" h="719455">
                <a:moveTo>
                  <a:pt x="0" y="719327"/>
                </a:moveTo>
                <a:lnTo>
                  <a:pt x="4087367" y="719327"/>
                </a:lnTo>
                <a:lnTo>
                  <a:pt x="4087367" y="0"/>
                </a:lnTo>
                <a:lnTo>
                  <a:pt x="0" y="0"/>
                </a:lnTo>
                <a:lnTo>
                  <a:pt x="0" y="719327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5037" y="1745742"/>
            <a:ext cx="4087495" cy="719455"/>
          </a:xfrm>
          <a:custGeom>
            <a:avLst/>
            <a:gdLst/>
            <a:ahLst/>
            <a:cxnLst/>
            <a:rect l="l" t="t" r="r" b="b"/>
            <a:pathLst>
              <a:path w="4087495" h="719455">
                <a:moveTo>
                  <a:pt x="0" y="719327"/>
                </a:moveTo>
                <a:lnTo>
                  <a:pt x="4087367" y="719327"/>
                </a:lnTo>
                <a:lnTo>
                  <a:pt x="4087367" y="0"/>
                </a:lnTo>
                <a:lnTo>
                  <a:pt x="0" y="0"/>
                </a:lnTo>
                <a:lnTo>
                  <a:pt x="0" y="719327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96" y="1880616"/>
            <a:ext cx="480059" cy="1240790"/>
          </a:xfrm>
          <a:custGeom>
            <a:avLst/>
            <a:gdLst/>
            <a:ahLst/>
            <a:cxnLst/>
            <a:rect l="l" t="t" r="r" b="b"/>
            <a:pathLst>
              <a:path w="480059" h="1240789">
                <a:moveTo>
                  <a:pt x="340640" y="0"/>
                </a:moveTo>
                <a:lnTo>
                  <a:pt x="0" y="0"/>
                </a:lnTo>
                <a:lnTo>
                  <a:pt x="479819" y="1240536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5037" y="1745742"/>
            <a:ext cx="2447925" cy="719455"/>
          </a:xfrm>
          <a:prstGeom prst="rect">
            <a:avLst/>
          </a:prstGeom>
          <a:ln w="19812">
            <a:solidFill>
              <a:srgbClr val="6B859A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798195">
              <a:lnSpc>
                <a:spcPct val="100000"/>
              </a:lnSpc>
              <a:spcBef>
                <a:spcPts val="1235"/>
              </a:spcBef>
            </a:pPr>
            <a:r>
              <a:rPr sz="2800" dirty="0">
                <a:latin typeface="仿宋"/>
                <a:cs typeface="仿宋"/>
              </a:rPr>
              <a:t>静</a:t>
            </a:r>
            <a:r>
              <a:rPr sz="2800" spc="-5" dirty="0">
                <a:latin typeface="仿宋"/>
                <a:cs typeface="仿宋"/>
              </a:rPr>
              <a:t>态单变</a:t>
            </a:r>
            <a:endParaRPr sz="2800">
              <a:latin typeface="仿宋"/>
              <a:cs typeface="仿宋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6039" y="1953148"/>
            <a:ext cx="106680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2800" spc="-5" dirty="0">
                <a:latin typeface="仿宋"/>
                <a:cs typeface="仿宋"/>
              </a:rPr>
              <a:t>量模</a:t>
            </a:r>
            <a:r>
              <a:rPr sz="2800" spc="-55" dirty="0">
                <a:latin typeface="仿宋"/>
                <a:cs typeface="仿宋"/>
              </a:rPr>
              <a:t>型</a:t>
            </a:r>
            <a:endParaRPr sz="2800">
              <a:latin typeface="仿宋"/>
              <a:cs typeface="仿宋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32582" y="1109345"/>
            <a:ext cx="5832475" cy="719455"/>
          </a:xfrm>
          <a:custGeom>
            <a:avLst/>
            <a:gdLst/>
            <a:ahLst/>
            <a:cxnLst/>
            <a:rect l="l" t="t" r="r" b="b"/>
            <a:pathLst>
              <a:path w="5832475" h="719455">
                <a:moveTo>
                  <a:pt x="0" y="719327"/>
                </a:moveTo>
                <a:lnTo>
                  <a:pt x="5832348" y="719327"/>
                </a:lnTo>
                <a:lnTo>
                  <a:pt x="5832348" y="0"/>
                </a:lnTo>
                <a:lnTo>
                  <a:pt x="0" y="0"/>
                </a:lnTo>
                <a:lnTo>
                  <a:pt x="0" y="719327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32582" y="1109345"/>
            <a:ext cx="5832475" cy="719455"/>
          </a:xfrm>
          <a:custGeom>
            <a:avLst/>
            <a:gdLst/>
            <a:ahLst/>
            <a:cxnLst/>
            <a:rect l="l" t="t" r="r" b="b"/>
            <a:pathLst>
              <a:path w="5832475" h="719455">
                <a:moveTo>
                  <a:pt x="0" y="719327"/>
                </a:moveTo>
                <a:lnTo>
                  <a:pt x="5832348" y="719327"/>
                </a:lnTo>
                <a:lnTo>
                  <a:pt x="5832348" y="0"/>
                </a:lnTo>
                <a:lnTo>
                  <a:pt x="0" y="0"/>
                </a:lnTo>
                <a:lnTo>
                  <a:pt x="0" y="719327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60523" y="1795272"/>
            <a:ext cx="685165" cy="1240790"/>
          </a:xfrm>
          <a:custGeom>
            <a:avLst/>
            <a:gdLst/>
            <a:ahLst/>
            <a:cxnLst/>
            <a:rect l="l" t="t" r="r" b="b"/>
            <a:pathLst>
              <a:path w="685164" h="1240789">
                <a:moveTo>
                  <a:pt x="486028" y="0"/>
                </a:moveTo>
                <a:lnTo>
                  <a:pt x="0" y="0"/>
                </a:lnTo>
                <a:lnTo>
                  <a:pt x="684657" y="1240536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32582" y="1130115"/>
            <a:ext cx="5832475" cy="634365"/>
          </a:xfrm>
          <a:prstGeom prst="rect">
            <a:avLst/>
          </a:prstGeom>
          <a:solidFill>
            <a:srgbClr val="93B6D2"/>
          </a:solidFill>
          <a:ln w="19811">
            <a:solidFill>
              <a:srgbClr val="6B859A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790"/>
              </a:spcBef>
            </a:pPr>
            <a:r>
              <a:rPr sz="2400" dirty="0">
                <a:latin typeface="仿宋"/>
                <a:cs typeface="仿宋"/>
              </a:rPr>
              <a:t>基本模型基础上考虑影响因素，调整模型</a:t>
            </a:r>
            <a:endParaRPr sz="2400">
              <a:latin typeface="仿宋"/>
              <a:cs typeface="仿宋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97550" y="5088001"/>
            <a:ext cx="659130" cy="473709"/>
          </a:xfrm>
          <a:custGeom>
            <a:avLst/>
            <a:gdLst/>
            <a:ahLst/>
            <a:cxnLst/>
            <a:rect l="l" t="t" r="r" b="b"/>
            <a:pathLst>
              <a:path w="659129" h="473710">
                <a:moveTo>
                  <a:pt x="0" y="473202"/>
                </a:moveTo>
                <a:lnTo>
                  <a:pt x="400050" y="225298"/>
                </a:lnTo>
                <a:lnTo>
                  <a:pt x="659002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5374" y="5616702"/>
            <a:ext cx="6263640" cy="721360"/>
          </a:xfrm>
          <a:prstGeom prst="rect">
            <a:avLst/>
          </a:prstGeom>
          <a:solidFill>
            <a:srgbClr val="93B6D2"/>
          </a:solidFill>
          <a:ln w="19811">
            <a:solidFill>
              <a:srgbClr val="6B859A"/>
            </a:solidFill>
          </a:ln>
        </p:spPr>
        <p:txBody>
          <a:bodyPr vert="horz" wrap="square" lIns="0" tIns="187960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1480"/>
              </a:spcBef>
            </a:pPr>
            <a:r>
              <a:rPr sz="2400" spc="-5" dirty="0">
                <a:latin typeface="仿宋"/>
                <a:cs typeface="仿宋"/>
              </a:rPr>
              <a:t>中等COCOMO模型基础上考虑各个步骤的影响</a:t>
            </a:r>
            <a:endParaRPr sz="2400">
              <a:latin typeface="仿宋"/>
              <a:cs typeface="仿宋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156159"/>
            <a:ext cx="51930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COCOMO</a:t>
            </a:r>
            <a:r>
              <a:rPr sz="4800" spc="-75" dirty="0"/>
              <a:t> </a:t>
            </a:r>
            <a:r>
              <a:rPr sz="4800" spc="-5" dirty="0"/>
              <a:t>81</a:t>
            </a:r>
            <a:r>
              <a:rPr dirty="0"/>
              <a:t>项目类型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8630" y="1677161"/>
            <a:ext cx="7990840" cy="4876800"/>
          </a:xfrm>
          <a:custGeom>
            <a:avLst/>
            <a:gdLst/>
            <a:ahLst/>
            <a:cxnLst/>
            <a:rect l="l" t="t" r="r" b="b"/>
            <a:pathLst>
              <a:path w="7990840" h="4876800">
                <a:moveTo>
                  <a:pt x="0" y="4876800"/>
                </a:moveTo>
                <a:lnTo>
                  <a:pt x="7990332" y="4876800"/>
                </a:lnTo>
                <a:lnTo>
                  <a:pt x="7990332" y="0"/>
                </a:lnTo>
                <a:lnTo>
                  <a:pt x="0" y="0"/>
                </a:lnTo>
                <a:lnTo>
                  <a:pt x="0" y="487680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217" y="1538452"/>
            <a:ext cx="7782559" cy="41414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00"/>
              </a:spcBef>
              <a:buFont typeface="Tw Cen MT"/>
              <a:buChar char="•"/>
              <a:tabLst>
                <a:tab pos="332105" algn="l"/>
                <a:tab pos="332740" algn="l"/>
              </a:tabLst>
            </a:pPr>
            <a:r>
              <a:rPr sz="2000" dirty="0">
                <a:latin typeface="华文仿宋"/>
                <a:cs typeface="华文仿宋"/>
              </a:rPr>
              <a:t>有机</a:t>
            </a:r>
            <a:r>
              <a:rPr sz="2000" dirty="0">
                <a:latin typeface="Tw Cen MT"/>
                <a:cs typeface="Tw Cen MT"/>
              </a:rPr>
              <a:t>:</a:t>
            </a:r>
            <a:r>
              <a:rPr sz="2000" spc="-15" dirty="0">
                <a:latin typeface="Tw Cen MT"/>
                <a:cs typeface="Tw Cen MT"/>
              </a:rPr>
              <a:t> </a:t>
            </a:r>
            <a:r>
              <a:rPr sz="2000" spc="-5" dirty="0">
                <a:latin typeface="Tw Cen MT"/>
                <a:cs typeface="Tw Cen MT"/>
              </a:rPr>
              <a:t>Organic</a:t>
            </a:r>
            <a:r>
              <a:rPr sz="2000" spc="-5" dirty="0">
                <a:latin typeface="华文仿宋"/>
                <a:cs typeface="华文仿宋"/>
              </a:rPr>
              <a:t>，</a:t>
            </a:r>
            <a:endParaRPr sz="2000">
              <a:latin typeface="华文仿宋"/>
              <a:cs typeface="华文仿宋"/>
            </a:endParaRPr>
          </a:p>
          <a:p>
            <a:pPr marL="652780" lvl="1" indent="-273050">
              <a:lnSpc>
                <a:spcPct val="100000"/>
              </a:lnSpc>
              <a:spcBef>
                <a:spcPts val="1200"/>
              </a:spcBef>
              <a:buFont typeface=""/>
              <a:buChar char="•"/>
              <a:tabLst>
                <a:tab pos="652780" algn="l"/>
              </a:tabLst>
            </a:pPr>
            <a:r>
              <a:rPr sz="2000" dirty="0">
                <a:latin typeface="华文仿宋"/>
                <a:cs typeface="华文仿宋"/>
              </a:rPr>
              <a:t>各类应用程序，例如数</a:t>
            </a:r>
            <a:r>
              <a:rPr sz="2000" spc="-15" dirty="0">
                <a:latin typeface="华文仿宋"/>
                <a:cs typeface="华文仿宋"/>
              </a:rPr>
              <a:t>据</a:t>
            </a:r>
            <a:r>
              <a:rPr sz="2000" dirty="0">
                <a:latin typeface="华文仿宋"/>
                <a:cs typeface="华文仿宋"/>
              </a:rPr>
              <a:t>处理</a:t>
            </a:r>
            <a:r>
              <a:rPr sz="2000" spc="-15" dirty="0">
                <a:latin typeface="华文仿宋"/>
                <a:cs typeface="华文仿宋"/>
              </a:rPr>
              <a:t>、</a:t>
            </a:r>
            <a:r>
              <a:rPr sz="2000" dirty="0">
                <a:latin typeface="华文仿宋"/>
                <a:cs typeface="华文仿宋"/>
              </a:rPr>
              <a:t>科学</a:t>
            </a:r>
            <a:r>
              <a:rPr sz="2000" spc="-15" dirty="0">
                <a:latin typeface="华文仿宋"/>
                <a:cs typeface="华文仿宋"/>
              </a:rPr>
              <a:t>计</a:t>
            </a:r>
            <a:r>
              <a:rPr sz="2000" dirty="0">
                <a:latin typeface="华文仿宋"/>
                <a:cs typeface="华文仿宋"/>
              </a:rPr>
              <a:t>算</a:t>
            </a:r>
            <a:r>
              <a:rPr sz="2000" spc="15" dirty="0">
                <a:latin typeface="华文仿宋"/>
                <a:cs typeface="华文仿宋"/>
              </a:rPr>
              <a:t> </a:t>
            </a:r>
            <a:r>
              <a:rPr sz="2000" dirty="0">
                <a:latin typeface="华文仿宋"/>
                <a:cs typeface="华文仿宋"/>
              </a:rPr>
              <a:t>等</a:t>
            </a:r>
            <a:endParaRPr sz="2000">
              <a:latin typeface="华文仿宋"/>
              <a:cs typeface="华文仿宋"/>
            </a:endParaRPr>
          </a:p>
          <a:p>
            <a:pPr marL="652780" lvl="1" indent="-273050">
              <a:lnSpc>
                <a:spcPct val="100000"/>
              </a:lnSpc>
              <a:spcBef>
                <a:spcPts val="1200"/>
              </a:spcBef>
              <a:buFont typeface=""/>
              <a:buChar char="•"/>
              <a:tabLst>
                <a:tab pos="652780" algn="l"/>
              </a:tabLst>
            </a:pPr>
            <a:r>
              <a:rPr sz="2000" dirty="0">
                <a:latin typeface="华文仿宋"/>
                <a:cs typeface="华文仿宋"/>
              </a:rPr>
              <a:t>受硬件的约束比较小，</a:t>
            </a:r>
            <a:r>
              <a:rPr sz="2000" spc="-10" dirty="0">
                <a:latin typeface="华文仿宋"/>
                <a:cs typeface="华文仿宋"/>
              </a:rPr>
              <a:t>程</a:t>
            </a:r>
            <a:r>
              <a:rPr sz="2000" dirty="0">
                <a:latin typeface="华文仿宋"/>
                <a:cs typeface="华文仿宋"/>
              </a:rPr>
              <a:t>序的</a:t>
            </a:r>
            <a:r>
              <a:rPr sz="2000" spc="-10" dirty="0">
                <a:latin typeface="华文仿宋"/>
                <a:cs typeface="华文仿宋"/>
              </a:rPr>
              <a:t>规</a:t>
            </a:r>
            <a:r>
              <a:rPr sz="2000" dirty="0">
                <a:latin typeface="华文仿宋"/>
                <a:cs typeface="华文仿宋"/>
              </a:rPr>
              <a:t>模不</a:t>
            </a:r>
            <a:r>
              <a:rPr sz="2000" spc="-10" dirty="0">
                <a:latin typeface="华文仿宋"/>
                <a:cs typeface="华文仿宋"/>
              </a:rPr>
              <a:t>是</a:t>
            </a:r>
            <a:r>
              <a:rPr sz="2000" dirty="0">
                <a:latin typeface="华文仿宋"/>
                <a:cs typeface="华文仿宋"/>
              </a:rPr>
              <a:t>很大</a:t>
            </a:r>
            <a:endParaRPr sz="20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1200"/>
              </a:spcBef>
              <a:buFont typeface="Tw Cen MT"/>
              <a:buChar char="•"/>
              <a:tabLst>
                <a:tab pos="332105" algn="l"/>
                <a:tab pos="332740" algn="l"/>
              </a:tabLst>
            </a:pPr>
            <a:r>
              <a:rPr sz="2000" dirty="0">
                <a:latin typeface="华文仿宋"/>
                <a:cs typeface="华文仿宋"/>
              </a:rPr>
              <a:t>嵌入式</a:t>
            </a:r>
            <a:r>
              <a:rPr sz="2000" dirty="0">
                <a:latin typeface="Tw Cen MT"/>
                <a:cs typeface="Tw Cen MT"/>
              </a:rPr>
              <a:t>:</a:t>
            </a:r>
            <a:r>
              <a:rPr sz="2000" spc="-25" dirty="0">
                <a:latin typeface="Tw Cen MT"/>
                <a:cs typeface="Tw Cen MT"/>
              </a:rPr>
              <a:t> </a:t>
            </a:r>
            <a:r>
              <a:rPr sz="2000" dirty="0">
                <a:latin typeface="Tw Cen MT"/>
                <a:cs typeface="Tw Cen MT"/>
              </a:rPr>
              <a:t>Embedded</a:t>
            </a:r>
            <a:endParaRPr sz="2000">
              <a:latin typeface="Tw Cen MT"/>
              <a:cs typeface="Tw Cen MT"/>
            </a:endParaRPr>
          </a:p>
          <a:p>
            <a:pPr marL="652780" lvl="1" indent="-273050">
              <a:lnSpc>
                <a:spcPct val="100000"/>
              </a:lnSpc>
              <a:spcBef>
                <a:spcPts val="1200"/>
              </a:spcBef>
              <a:buFont typeface=""/>
              <a:buChar char="•"/>
              <a:tabLst>
                <a:tab pos="652780" algn="l"/>
              </a:tabLst>
            </a:pPr>
            <a:r>
              <a:rPr sz="2000" dirty="0">
                <a:latin typeface="华文仿宋"/>
                <a:cs typeface="华文仿宋"/>
              </a:rPr>
              <a:t>系统程序，例如实时处</a:t>
            </a:r>
            <a:r>
              <a:rPr sz="2000" spc="-15" dirty="0">
                <a:latin typeface="华文仿宋"/>
                <a:cs typeface="华文仿宋"/>
              </a:rPr>
              <a:t>理</a:t>
            </a:r>
            <a:r>
              <a:rPr sz="2000" dirty="0">
                <a:latin typeface="华文仿宋"/>
                <a:cs typeface="华文仿宋"/>
              </a:rPr>
              <a:t>、控</a:t>
            </a:r>
            <a:r>
              <a:rPr sz="2000" spc="-15" dirty="0">
                <a:latin typeface="华文仿宋"/>
                <a:cs typeface="华文仿宋"/>
              </a:rPr>
              <a:t>制</a:t>
            </a:r>
            <a:r>
              <a:rPr sz="2000" dirty="0">
                <a:latin typeface="华文仿宋"/>
                <a:cs typeface="华文仿宋"/>
              </a:rPr>
              <a:t>程序等</a:t>
            </a:r>
            <a:endParaRPr sz="2000">
              <a:latin typeface="华文仿宋"/>
              <a:cs typeface="华文仿宋"/>
            </a:endParaRPr>
          </a:p>
          <a:p>
            <a:pPr marL="652780" lvl="1" indent="-273050">
              <a:lnSpc>
                <a:spcPct val="100000"/>
              </a:lnSpc>
              <a:spcBef>
                <a:spcPts val="1200"/>
              </a:spcBef>
              <a:buFont typeface=""/>
              <a:buChar char="•"/>
              <a:tabLst>
                <a:tab pos="652780" algn="l"/>
              </a:tabLst>
            </a:pPr>
            <a:r>
              <a:rPr sz="2000" dirty="0">
                <a:latin typeface="华文仿宋"/>
                <a:cs typeface="华文仿宋"/>
              </a:rPr>
              <a:t>紧密联系的硬件、软件</a:t>
            </a:r>
            <a:r>
              <a:rPr sz="2000" spc="-10" dirty="0">
                <a:latin typeface="华文仿宋"/>
                <a:cs typeface="华文仿宋"/>
              </a:rPr>
              <a:t>和</a:t>
            </a:r>
            <a:r>
              <a:rPr sz="2000" dirty="0">
                <a:latin typeface="华文仿宋"/>
                <a:cs typeface="华文仿宋"/>
              </a:rPr>
              <a:t>操作</a:t>
            </a:r>
            <a:r>
              <a:rPr sz="2000" spc="-10" dirty="0">
                <a:latin typeface="华文仿宋"/>
                <a:cs typeface="华文仿宋"/>
              </a:rPr>
              <a:t>的</a:t>
            </a:r>
            <a:r>
              <a:rPr sz="2000" dirty="0">
                <a:latin typeface="华文仿宋"/>
                <a:cs typeface="华文仿宋"/>
              </a:rPr>
              <a:t>限制</a:t>
            </a:r>
            <a:r>
              <a:rPr sz="2000" spc="-10" dirty="0">
                <a:latin typeface="华文仿宋"/>
                <a:cs typeface="华文仿宋"/>
              </a:rPr>
              <a:t>条</a:t>
            </a:r>
            <a:r>
              <a:rPr sz="2000" dirty="0">
                <a:latin typeface="华文仿宋"/>
                <a:cs typeface="华文仿宋"/>
              </a:rPr>
              <a:t>件下</a:t>
            </a:r>
            <a:r>
              <a:rPr sz="2000" spc="-10" dirty="0">
                <a:latin typeface="华文仿宋"/>
                <a:cs typeface="华文仿宋"/>
              </a:rPr>
              <a:t>运</a:t>
            </a:r>
            <a:r>
              <a:rPr sz="2000" dirty="0">
                <a:latin typeface="华文仿宋"/>
                <a:cs typeface="华文仿宋"/>
              </a:rPr>
              <a:t>行，</a:t>
            </a:r>
            <a:r>
              <a:rPr sz="2000" spc="-10" dirty="0">
                <a:latin typeface="华文仿宋"/>
                <a:cs typeface="华文仿宋"/>
              </a:rPr>
              <a:t>软</a:t>
            </a:r>
            <a:r>
              <a:rPr sz="2000" dirty="0">
                <a:latin typeface="华文仿宋"/>
                <a:cs typeface="华文仿宋"/>
              </a:rPr>
              <a:t>件规</a:t>
            </a:r>
            <a:r>
              <a:rPr sz="2000" spc="-10" dirty="0">
                <a:latin typeface="华文仿宋"/>
                <a:cs typeface="华文仿宋"/>
              </a:rPr>
              <a:t>模</a:t>
            </a:r>
            <a:r>
              <a:rPr sz="2000" dirty="0">
                <a:latin typeface="华文仿宋"/>
                <a:cs typeface="华文仿宋"/>
              </a:rPr>
              <a:t>任意</a:t>
            </a:r>
            <a:endParaRPr sz="20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1205"/>
              </a:spcBef>
              <a:buFont typeface="Tw Cen MT"/>
              <a:buChar char="•"/>
              <a:tabLst>
                <a:tab pos="332105" algn="l"/>
                <a:tab pos="332740" algn="l"/>
              </a:tabLst>
            </a:pPr>
            <a:r>
              <a:rPr sz="2000" dirty="0">
                <a:latin typeface="华文仿宋"/>
                <a:cs typeface="华文仿宋"/>
              </a:rPr>
              <a:t>半嵌入式</a:t>
            </a:r>
            <a:r>
              <a:rPr sz="2000" dirty="0">
                <a:latin typeface="Tw Cen MT"/>
                <a:cs typeface="Tw Cen MT"/>
              </a:rPr>
              <a:t>:</a:t>
            </a:r>
            <a:r>
              <a:rPr sz="2000" spc="-25" dirty="0">
                <a:latin typeface="Tw Cen MT"/>
                <a:cs typeface="Tw Cen MT"/>
              </a:rPr>
              <a:t> </a:t>
            </a:r>
            <a:r>
              <a:rPr sz="2000" spc="5" dirty="0">
                <a:latin typeface="Tw Cen MT"/>
                <a:cs typeface="Tw Cen MT"/>
              </a:rPr>
              <a:t>Semidetached</a:t>
            </a:r>
            <a:endParaRPr sz="2000">
              <a:latin typeface="Tw Cen MT"/>
              <a:cs typeface="Tw Cen MT"/>
            </a:endParaRPr>
          </a:p>
          <a:p>
            <a:pPr marL="652780" lvl="1" indent="-273050">
              <a:lnSpc>
                <a:spcPct val="100000"/>
              </a:lnSpc>
              <a:spcBef>
                <a:spcPts val="1235"/>
              </a:spcBef>
              <a:buFont typeface=""/>
              <a:buChar char="•"/>
              <a:tabLst>
                <a:tab pos="652780" algn="l"/>
              </a:tabLst>
            </a:pPr>
            <a:r>
              <a:rPr sz="2000" dirty="0">
                <a:latin typeface="华文仿宋"/>
                <a:cs typeface="华文仿宋"/>
              </a:rPr>
              <a:t>各类实用程序，介于上</a:t>
            </a:r>
            <a:r>
              <a:rPr sz="2000" spc="-15" dirty="0">
                <a:latin typeface="华文仿宋"/>
                <a:cs typeface="华文仿宋"/>
              </a:rPr>
              <a:t>述</a:t>
            </a:r>
            <a:r>
              <a:rPr sz="2000" dirty="0">
                <a:latin typeface="华文仿宋"/>
                <a:cs typeface="华文仿宋"/>
              </a:rPr>
              <a:t>两种</a:t>
            </a:r>
            <a:r>
              <a:rPr sz="2000" spc="-15" dirty="0">
                <a:latin typeface="华文仿宋"/>
                <a:cs typeface="华文仿宋"/>
              </a:rPr>
              <a:t>软</a:t>
            </a:r>
            <a:r>
              <a:rPr sz="2000" dirty="0">
                <a:latin typeface="华文仿宋"/>
                <a:cs typeface="华文仿宋"/>
              </a:rPr>
              <a:t>件之</a:t>
            </a:r>
            <a:r>
              <a:rPr sz="2000" spc="-15" dirty="0">
                <a:latin typeface="华文仿宋"/>
                <a:cs typeface="华文仿宋"/>
              </a:rPr>
              <a:t>间</a:t>
            </a:r>
            <a:r>
              <a:rPr sz="2000" spc="5" dirty="0">
                <a:latin typeface="华文仿宋"/>
                <a:cs typeface="华文仿宋"/>
              </a:rPr>
              <a:t>，</a:t>
            </a:r>
            <a:r>
              <a:rPr sz="2000" dirty="0">
                <a:latin typeface="华文仿宋"/>
                <a:cs typeface="华文仿宋"/>
              </a:rPr>
              <a:t>例</a:t>
            </a:r>
            <a:r>
              <a:rPr sz="2000" spc="-15" dirty="0">
                <a:latin typeface="华文仿宋"/>
                <a:cs typeface="华文仿宋"/>
              </a:rPr>
              <a:t>如</a:t>
            </a:r>
            <a:r>
              <a:rPr sz="2000" dirty="0">
                <a:latin typeface="华文仿宋"/>
                <a:cs typeface="华文仿宋"/>
              </a:rPr>
              <a:t>编译</a:t>
            </a:r>
            <a:r>
              <a:rPr sz="2000" spc="-15" dirty="0">
                <a:latin typeface="华文仿宋"/>
                <a:cs typeface="华文仿宋"/>
              </a:rPr>
              <a:t>器</a:t>
            </a:r>
            <a:r>
              <a:rPr sz="2000" dirty="0">
                <a:latin typeface="华文仿宋"/>
                <a:cs typeface="华文仿宋"/>
              </a:rPr>
              <a:t>（程</a:t>
            </a:r>
            <a:r>
              <a:rPr sz="2000" spc="-15" dirty="0">
                <a:latin typeface="华文仿宋"/>
                <a:cs typeface="华文仿宋"/>
              </a:rPr>
              <a:t>序</a:t>
            </a:r>
            <a:r>
              <a:rPr sz="2000" dirty="0">
                <a:latin typeface="华文仿宋"/>
                <a:cs typeface="华文仿宋"/>
              </a:rPr>
              <a:t>）</a:t>
            </a:r>
            <a:endParaRPr sz="2000">
              <a:latin typeface="华文仿宋"/>
              <a:cs typeface="华文仿宋"/>
            </a:endParaRPr>
          </a:p>
          <a:p>
            <a:pPr marL="652780" lvl="1" indent="-273050">
              <a:lnSpc>
                <a:spcPct val="100000"/>
              </a:lnSpc>
              <a:spcBef>
                <a:spcPts val="1165"/>
              </a:spcBef>
              <a:buFont typeface=""/>
              <a:buChar char="•"/>
              <a:tabLst>
                <a:tab pos="652780" algn="l"/>
              </a:tabLst>
            </a:pPr>
            <a:r>
              <a:rPr sz="2000" dirty="0">
                <a:latin typeface="华文仿宋"/>
                <a:cs typeface="华文仿宋"/>
              </a:rPr>
              <a:t>规模和复杂度都属于中</a:t>
            </a:r>
            <a:r>
              <a:rPr sz="2000" spc="-15" dirty="0">
                <a:latin typeface="华文仿宋"/>
                <a:cs typeface="华文仿宋"/>
              </a:rPr>
              <a:t>等</a:t>
            </a:r>
            <a:r>
              <a:rPr sz="2000" dirty="0">
                <a:latin typeface="华文仿宋"/>
                <a:cs typeface="华文仿宋"/>
              </a:rPr>
              <a:t>或者</a:t>
            </a:r>
            <a:r>
              <a:rPr sz="2000" spc="-15" dirty="0">
                <a:latin typeface="华文仿宋"/>
                <a:cs typeface="华文仿宋"/>
              </a:rPr>
              <a:t>更</a:t>
            </a:r>
            <a:r>
              <a:rPr sz="2000" dirty="0">
                <a:latin typeface="华文仿宋"/>
                <a:cs typeface="华文仿宋"/>
              </a:rPr>
              <a:t>高</a:t>
            </a:r>
            <a:endParaRPr sz="20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85000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基</a:t>
            </a:r>
            <a:r>
              <a:rPr spc="-5" dirty="0"/>
              <a:t>本COCOMO-81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5434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35657" y="1826514"/>
            <a:ext cx="6481572" cy="716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46370" y="1816607"/>
          <a:ext cx="7200265" cy="400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1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DDDDDD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DDDD"/>
                      </a:solidFill>
                      <a:prstDash val="solid"/>
                    </a:lnT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42620" algn="ctr">
                        <a:lnSpc>
                          <a:spcPts val="2425"/>
                        </a:lnSpc>
                        <a:tabLst>
                          <a:tab pos="685165" algn="l"/>
                        </a:tabLst>
                      </a:pPr>
                      <a:r>
                        <a:rPr sz="3600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E=	</a:t>
                      </a:r>
                      <a:r>
                        <a:rPr sz="360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a</a:t>
                      </a:r>
                      <a:r>
                        <a:rPr sz="3600" spc="-1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 </a:t>
                      </a:r>
                      <a:r>
                        <a:rPr sz="360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X</a:t>
                      </a:r>
                      <a:r>
                        <a:rPr sz="3600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(KLOC)</a:t>
                      </a:r>
                      <a:r>
                        <a:rPr sz="3600" baseline="25462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b</a:t>
                      </a:r>
                      <a:endParaRPr sz="3600" baseline="25462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  <a:lnB w="2857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8791">
                <a:tc gridSpan="3">
                  <a:txBody>
                    <a:bodyPr/>
                    <a:lstStyle/>
                    <a:p>
                      <a:pPr marL="450850" marR="2435860">
                        <a:lnSpc>
                          <a:spcPct val="200100"/>
                        </a:lnSpc>
                        <a:spcBef>
                          <a:spcPts val="380"/>
                        </a:spcBef>
                      </a:pPr>
                      <a:r>
                        <a:rPr sz="3200" dirty="0">
                          <a:latin typeface="华文新魏"/>
                          <a:cs typeface="华文新魏"/>
                        </a:rPr>
                        <a:t>E： 工 作 量 （ 人 月 ）  KLO</a:t>
                      </a:r>
                      <a:r>
                        <a:rPr sz="3200" spc="-10" dirty="0">
                          <a:latin typeface="华文新魏"/>
                          <a:cs typeface="华文新魏"/>
                        </a:rPr>
                        <a:t>C</a:t>
                      </a:r>
                      <a:r>
                        <a:rPr sz="3200" dirty="0">
                          <a:latin typeface="华文新魏"/>
                          <a:cs typeface="华文新魏"/>
                        </a:rPr>
                        <a:t>：是交付的代码行</a:t>
                      </a:r>
                      <a:endParaRPr sz="3200">
                        <a:latin typeface="华文新魏"/>
                        <a:cs typeface="华文新魏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3200" dirty="0">
                          <a:latin typeface="华文新魏"/>
                          <a:cs typeface="华文新魏"/>
                        </a:rPr>
                        <a:t>a</a:t>
                      </a:r>
                      <a:r>
                        <a:rPr sz="3200" spc="-20" dirty="0">
                          <a:latin typeface="华文新魏"/>
                          <a:cs typeface="华文新魏"/>
                        </a:rPr>
                        <a:t> </a:t>
                      </a:r>
                      <a:r>
                        <a:rPr sz="3200" dirty="0">
                          <a:latin typeface="华文新魏"/>
                          <a:cs typeface="华文新魏"/>
                        </a:rPr>
                        <a:t>，</a:t>
                      </a:r>
                      <a:r>
                        <a:rPr sz="3200" spc="-20" dirty="0">
                          <a:latin typeface="华文新魏"/>
                          <a:cs typeface="华文新魏"/>
                        </a:rPr>
                        <a:t> </a:t>
                      </a:r>
                      <a:r>
                        <a:rPr sz="3200" dirty="0">
                          <a:latin typeface="华文新魏"/>
                          <a:cs typeface="华文新魏"/>
                        </a:rPr>
                        <a:t>b：依赖于项目自然属性</a:t>
                      </a:r>
                      <a:r>
                        <a:rPr sz="3200" spc="-15" dirty="0">
                          <a:latin typeface="华文新魏"/>
                          <a:cs typeface="华文新魏"/>
                        </a:rPr>
                        <a:t>的</a:t>
                      </a:r>
                      <a:r>
                        <a:rPr sz="3200" dirty="0">
                          <a:latin typeface="华文新魏"/>
                          <a:cs typeface="华文新魏"/>
                        </a:rPr>
                        <a:t>系数</a:t>
                      </a:r>
                      <a:endParaRPr sz="3200">
                        <a:latin typeface="华文新魏"/>
                        <a:cs typeface="华文新魏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55289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基本</a:t>
            </a:r>
            <a:r>
              <a:rPr spc="-5" dirty="0"/>
              <a:t>COCOMO-81</a:t>
            </a:r>
            <a:r>
              <a:rPr dirty="0"/>
              <a:t>系数表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6346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35628" y="1830323"/>
            <a:ext cx="38100" cy="3557904"/>
          </a:xfrm>
          <a:custGeom>
            <a:avLst/>
            <a:gdLst/>
            <a:ahLst/>
            <a:cxnLst/>
            <a:rect l="l" t="t" r="r" b="b"/>
            <a:pathLst>
              <a:path w="38100" h="3557904">
                <a:moveTo>
                  <a:pt x="0" y="3494151"/>
                </a:moveTo>
                <a:lnTo>
                  <a:pt x="19050" y="3557651"/>
                </a:lnTo>
                <a:lnTo>
                  <a:pt x="30479" y="3519551"/>
                </a:lnTo>
                <a:lnTo>
                  <a:pt x="12700" y="3519551"/>
                </a:lnTo>
                <a:lnTo>
                  <a:pt x="12700" y="3511084"/>
                </a:lnTo>
                <a:lnTo>
                  <a:pt x="0" y="3494151"/>
                </a:lnTo>
                <a:close/>
              </a:path>
              <a:path w="38100" h="3557904">
                <a:moveTo>
                  <a:pt x="12700" y="3511084"/>
                </a:moveTo>
                <a:lnTo>
                  <a:pt x="12700" y="3519551"/>
                </a:lnTo>
                <a:lnTo>
                  <a:pt x="19050" y="3519551"/>
                </a:lnTo>
                <a:lnTo>
                  <a:pt x="12700" y="3511084"/>
                </a:lnTo>
                <a:close/>
              </a:path>
              <a:path w="38100" h="3557904">
                <a:moveTo>
                  <a:pt x="25400" y="0"/>
                </a:moveTo>
                <a:lnTo>
                  <a:pt x="12700" y="0"/>
                </a:lnTo>
                <a:lnTo>
                  <a:pt x="12700" y="3511084"/>
                </a:lnTo>
                <a:lnTo>
                  <a:pt x="19050" y="3519551"/>
                </a:lnTo>
                <a:lnTo>
                  <a:pt x="25400" y="3511084"/>
                </a:lnTo>
                <a:lnTo>
                  <a:pt x="25400" y="0"/>
                </a:lnTo>
                <a:close/>
              </a:path>
              <a:path w="38100" h="3557904">
                <a:moveTo>
                  <a:pt x="25400" y="3511084"/>
                </a:moveTo>
                <a:lnTo>
                  <a:pt x="19050" y="3519551"/>
                </a:lnTo>
                <a:lnTo>
                  <a:pt x="25400" y="3519551"/>
                </a:lnTo>
                <a:lnTo>
                  <a:pt x="25400" y="3511084"/>
                </a:lnTo>
                <a:close/>
              </a:path>
              <a:path w="38100" h="3557904">
                <a:moveTo>
                  <a:pt x="38100" y="3494151"/>
                </a:moveTo>
                <a:lnTo>
                  <a:pt x="25400" y="3511084"/>
                </a:lnTo>
                <a:lnTo>
                  <a:pt x="25400" y="3519551"/>
                </a:lnTo>
                <a:lnTo>
                  <a:pt x="30479" y="3519551"/>
                </a:lnTo>
                <a:lnTo>
                  <a:pt x="38100" y="3494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30697" y="1830323"/>
            <a:ext cx="38100" cy="3557904"/>
          </a:xfrm>
          <a:custGeom>
            <a:avLst/>
            <a:gdLst/>
            <a:ahLst/>
            <a:cxnLst/>
            <a:rect l="l" t="t" r="r" b="b"/>
            <a:pathLst>
              <a:path w="38100" h="3557904">
                <a:moveTo>
                  <a:pt x="0" y="3494151"/>
                </a:moveTo>
                <a:lnTo>
                  <a:pt x="19050" y="3557651"/>
                </a:lnTo>
                <a:lnTo>
                  <a:pt x="30479" y="3519551"/>
                </a:lnTo>
                <a:lnTo>
                  <a:pt x="12700" y="3519551"/>
                </a:lnTo>
                <a:lnTo>
                  <a:pt x="12700" y="3511084"/>
                </a:lnTo>
                <a:lnTo>
                  <a:pt x="0" y="3494151"/>
                </a:lnTo>
                <a:close/>
              </a:path>
              <a:path w="38100" h="3557904">
                <a:moveTo>
                  <a:pt x="12700" y="3511084"/>
                </a:moveTo>
                <a:lnTo>
                  <a:pt x="12700" y="3519551"/>
                </a:lnTo>
                <a:lnTo>
                  <a:pt x="19050" y="3519551"/>
                </a:lnTo>
                <a:lnTo>
                  <a:pt x="12700" y="3511084"/>
                </a:lnTo>
                <a:close/>
              </a:path>
              <a:path w="38100" h="3557904">
                <a:moveTo>
                  <a:pt x="25400" y="0"/>
                </a:moveTo>
                <a:lnTo>
                  <a:pt x="12700" y="0"/>
                </a:lnTo>
                <a:lnTo>
                  <a:pt x="12700" y="3511084"/>
                </a:lnTo>
                <a:lnTo>
                  <a:pt x="19050" y="3519551"/>
                </a:lnTo>
                <a:lnTo>
                  <a:pt x="25400" y="3511084"/>
                </a:lnTo>
                <a:lnTo>
                  <a:pt x="25400" y="0"/>
                </a:lnTo>
                <a:close/>
              </a:path>
              <a:path w="38100" h="3557904">
                <a:moveTo>
                  <a:pt x="25400" y="3511084"/>
                </a:moveTo>
                <a:lnTo>
                  <a:pt x="19050" y="3519551"/>
                </a:lnTo>
                <a:lnTo>
                  <a:pt x="25400" y="3519551"/>
                </a:lnTo>
                <a:lnTo>
                  <a:pt x="25400" y="3511084"/>
                </a:lnTo>
                <a:close/>
              </a:path>
              <a:path w="38100" h="3557904">
                <a:moveTo>
                  <a:pt x="38100" y="3494151"/>
                </a:moveTo>
                <a:lnTo>
                  <a:pt x="25400" y="3511084"/>
                </a:lnTo>
                <a:lnTo>
                  <a:pt x="25400" y="3519551"/>
                </a:lnTo>
                <a:lnTo>
                  <a:pt x="30479" y="3519551"/>
                </a:lnTo>
                <a:lnTo>
                  <a:pt x="38100" y="3494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44600" y="2685033"/>
            <a:ext cx="6165850" cy="38100"/>
          </a:xfrm>
          <a:custGeom>
            <a:avLst/>
            <a:gdLst/>
            <a:ahLst/>
            <a:cxnLst/>
            <a:rect l="l" t="t" r="r" b="b"/>
            <a:pathLst>
              <a:path w="6165850" h="38100">
                <a:moveTo>
                  <a:pt x="6102350" y="0"/>
                </a:moveTo>
                <a:lnTo>
                  <a:pt x="6127750" y="19050"/>
                </a:lnTo>
                <a:lnTo>
                  <a:pt x="6102350" y="38100"/>
                </a:lnTo>
                <a:lnTo>
                  <a:pt x="6144683" y="25400"/>
                </a:lnTo>
                <a:lnTo>
                  <a:pt x="6127877" y="25400"/>
                </a:lnTo>
                <a:lnTo>
                  <a:pt x="6127877" y="12700"/>
                </a:lnTo>
                <a:lnTo>
                  <a:pt x="6144683" y="12700"/>
                </a:lnTo>
                <a:lnTo>
                  <a:pt x="6102350" y="0"/>
                </a:lnTo>
                <a:close/>
              </a:path>
              <a:path w="6165850" h="38100">
                <a:moveTo>
                  <a:pt x="6119283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119283" y="25400"/>
                </a:lnTo>
                <a:lnTo>
                  <a:pt x="6127750" y="19050"/>
                </a:lnTo>
                <a:lnTo>
                  <a:pt x="6119283" y="12700"/>
                </a:lnTo>
                <a:close/>
              </a:path>
              <a:path w="6165850" h="38100">
                <a:moveTo>
                  <a:pt x="6144683" y="12700"/>
                </a:moveTo>
                <a:lnTo>
                  <a:pt x="6127877" y="12700"/>
                </a:lnTo>
                <a:lnTo>
                  <a:pt x="6127877" y="25400"/>
                </a:lnTo>
                <a:lnTo>
                  <a:pt x="6144683" y="25400"/>
                </a:lnTo>
                <a:lnTo>
                  <a:pt x="6165850" y="19050"/>
                </a:lnTo>
                <a:lnTo>
                  <a:pt x="6144683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44600" y="3681857"/>
            <a:ext cx="6165850" cy="38100"/>
          </a:xfrm>
          <a:custGeom>
            <a:avLst/>
            <a:gdLst/>
            <a:ahLst/>
            <a:cxnLst/>
            <a:rect l="l" t="t" r="r" b="b"/>
            <a:pathLst>
              <a:path w="6165850" h="38100">
                <a:moveTo>
                  <a:pt x="6102350" y="0"/>
                </a:moveTo>
                <a:lnTo>
                  <a:pt x="6127750" y="19050"/>
                </a:lnTo>
                <a:lnTo>
                  <a:pt x="6102350" y="38100"/>
                </a:lnTo>
                <a:lnTo>
                  <a:pt x="6144683" y="25400"/>
                </a:lnTo>
                <a:lnTo>
                  <a:pt x="6127877" y="25400"/>
                </a:lnTo>
                <a:lnTo>
                  <a:pt x="6127877" y="12700"/>
                </a:lnTo>
                <a:lnTo>
                  <a:pt x="6144683" y="12700"/>
                </a:lnTo>
                <a:lnTo>
                  <a:pt x="6102350" y="0"/>
                </a:lnTo>
                <a:close/>
              </a:path>
              <a:path w="6165850" h="38100">
                <a:moveTo>
                  <a:pt x="6119283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119283" y="25400"/>
                </a:lnTo>
                <a:lnTo>
                  <a:pt x="6127750" y="19050"/>
                </a:lnTo>
                <a:lnTo>
                  <a:pt x="6119283" y="12700"/>
                </a:lnTo>
                <a:close/>
              </a:path>
              <a:path w="6165850" h="38100">
                <a:moveTo>
                  <a:pt x="6144683" y="12700"/>
                </a:moveTo>
                <a:lnTo>
                  <a:pt x="6127877" y="12700"/>
                </a:lnTo>
                <a:lnTo>
                  <a:pt x="6127877" y="25400"/>
                </a:lnTo>
                <a:lnTo>
                  <a:pt x="6144683" y="25400"/>
                </a:lnTo>
                <a:lnTo>
                  <a:pt x="6165850" y="19050"/>
                </a:lnTo>
                <a:lnTo>
                  <a:pt x="6144683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4600" y="4678807"/>
            <a:ext cx="6165850" cy="38100"/>
          </a:xfrm>
          <a:custGeom>
            <a:avLst/>
            <a:gdLst/>
            <a:ahLst/>
            <a:cxnLst/>
            <a:rect l="l" t="t" r="r" b="b"/>
            <a:pathLst>
              <a:path w="6165850" h="38100">
                <a:moveTo>
                  <a:pt x="6102350" y="0"/>
                </a:moveTo>
                <a:lnTo>
                  <a:pt x="6127750" y="19050"/>
                </a:lnTo>
                <a:lnTo>
                  <a:pt x="6102350" y="38100"/>
                </a:lnTo>
                <a:lnTo>
                  <a:pt x="6144683" y="25400"/>
                </a:lnTo>
                <a:lnTo>
                  <a:pt x="6127877" y="25400"/>
                </a:lnTo>
                <a:lnTo>
                  <a:pt x="6127877" y="12700"/>
                </a:lnTo>
                <a:lnTo>
                  <a:pt x="6144683" y="12700"/>
                </a:lnTo>
                <a:lnTo>
                  <a:pt x="6102350" y="0"/>
                </a:lnTo>
                <a:close/>
              </a:path>
              <a:path w="6165850" h="38100">
                <a:moveTo>
                  <a:pt x="6119283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119283" y="25400"/>
                </a:lnTo>
                <a:lnTo>
                  <a:pt x="6127750" y="19050"/>
                </a:lnTo>
                <a:lnTo>
                  <a:pt x="6119283" y="12700"/>
                </a:lnTo>
                <a:close/>
              </a:path>
              <a:path w="6165850" h="38100">
                <a:moveTo>
                  <a:pt x="6144683" y="12700"/>
                </a:moveTo>
                <a:lnTo>
                  <a:pt x="6127877" y="12700"/>
                </a:lnTo>
                <a:lnTo>
                  <a:pt x="6127877" y="25400"/>
                </a:lnTo>
                <a:lnTo>
                  <a:pt x="6144683" y="25400"/>
                </a:lnTo>
                <a:lnTo>
                  <a:pt x="6165850" y="19050"/>
                </a:lnTo>
                <a:lnTo>
                  <a:pt x="6144683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6025" y="1830323"/>
            <a:ext cx="85725" cy="3557904"/>
          </a:xfrm>
          <a:custGeom>
            <a:avLst/>
            <a:gdLst/>
            <a:ahLst/>
            <a:cxnLst/>
            <a:rect l="l" t="t" r="r" b="b"/>
            <a:pathLst>
              <a:path w="85725" h="3557904">
                <a:moveTo>
                  <a:pt x="0" y="3414776"/>
                </a:moveTo>
                <a:lnTo>
                  <a:pt x="42862" y="3557651"/>
                </a:lnTo>
                <a:lnTo>
                  <a:pt x="68580" y="3471926"/>
                </a:lnTo>
                <a:lnTo>
                  <a:pt x="28575" y="3471926"/>
                </a:lnTo>
                <a:lnTo>
                  <a:pt x="28575" y="3452876"/>
                </a:lnTo>
                <a:lnTo>
                  <a:pt x="0" y="3414776"/>
                </a:lnTo>
                <a:close/>
              </a:path>
              <a:path w="85725" h="3557904">
                <a:moveTo>
                  <a:pt x="28575" y="3452876"/>
                </a:moveTo>
                <a:lnTo>
                  <a:pt x="28575" y="3471926"/>
                </a:lnTo>
                <a:lnTo>
                  <a:pt x="42862" y="3471926"/>
                </a:lnTo>
                <a:lnTo>
                  <a:pt x="28575" y="3452876"/>
                </a:lnTo>
                <a:close/>
              </a:path>
              <a:path w="85725" h="3557904">
                <a:moveTo>
                  <a:pt x="57150" y="0"/>
                </a:moveTo>
                <a:lnTo>
                  <a:pt x="28575" y="0"/>
                </a:lnTo>
                <a:lnTo>
                  <a:pt x="28575" y="3452876"/>
                </a:lnTo>
                <a:lnTo>
                  <a:pt x="42862" y="3471926"/>
                </a:lnTo>
                <a:lnTo>
                  <a:pt x="57150" y="3452876"/>
                </a:lnTo>
                <a:lnTo>
                  <a:pt x="57150" y="0"/>
                </a:lnTo>
                <a:close/>
              </a:path>
              <a:path w="85725" h="3557904">
                <a:moveTo>
                  <a:pt x="57150" y="3452876"/>
                </a:moveTo>
                <a:lnTo>
                  <a:pt x="42862" y="3471926"/>
                </a:lnTo>
                <a:lnTo>
                  <a:pt x="57150" y="3471926"/>
                </a:lnTo>
                <a:lnTo>
                  <a:pt x="57150" y="3452876"/>
                </a:lnTo>
                <a:close/>
              </a:path>
              <a:path w="85725" h="3557904">
                <a:moveTo>
                  <a:pt x="85725" y="3414776"/>
                </a:moveTo>
                <a:lnTo>
                  <a:pt x="57150" y="3452876"/>
                </a:lnTo>
                <a:lnTo>
                  <a:pt x="57150" y="3471926"/>
                </a:lnTo>
                <a:lnTo>
                  <a:pt x="68580" y="3471926"/>
                </a:lnTo>
                <a:lnTo>
                  <a:pt x="85725" y="3414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53300" y="1830323"/>
            <a:ext cx="85725" cy="3557904"/>
          </a:xfrm>
          <a:custGeom>
            <a:avLst/>
            <a:gdLst/>
            <a:ahLst/>
            <a:cxnLst/>
            <a:rect l="l" t="t" r="r" b="b"/>
            <a:pathLst>
              <a:path w="85725" h="3557904">
                <a:moveTo>
                  <a:pt x="0" y="3414776"/>
                </a:moveTo>
                <a:lnTo>
                  <a:pt x="42799" y="3557651"/>
                </a:lnTo>
                <a:lnTo>
                  <a:pt x="68554" y="3471926"/>
                </a:lnTo>
                <a:lnTo>
                  <a:pt x="28575" y="3471926"/>
                </a:lnTo>
                <a:lnTo>
                  <a:pt x="28490" y="3452819"/>
                </a:lnTo>
                <a:lnTo>
                  <a:pt x="0" y="3414776"/>
                </a:lnTo>
                <a:close/>
              </a:path>
              <a:path w="85725" h="3557904">
                <a:moveTo>
                  <a:pt x="28575" y="3452932"/>
                </a:moveTo>
                <a:lnTo>
                  <a:pt x="28575" y="3471926"/>
                </a:lnTo>
                <a:lnTo>
                  <a:pt x="42799" y="3471926"/>
                </a:lnTo>
                <a:lnTo>
                  <a:pt x="28575" y="3452932"/>
                </a:lnTo>
                <a:close/>
              </a:path>
              <a:path w="85725" h="3557904">
                <a:moveTo>
                  <a:pt x="57150" y="0"/>
                </a:moveTo>
                <a:lnTo>
                  <a:pt x="28575" y="0"/>
                </a:lnTo>
                <a:lnTo>
                  <a:pt x="28575" y="3452932"/>
                </a:lnTo>
                <a:lnTo>
                  <a:pt x="42799" y="3471926"/>
                </a:lnTo>
                <a:lnTo>
                  <a:pt x="57065" y="3452932"/>
                </a:lnTo>
                <a:lnTo>
                  <a:pt x="57150" y="0"/>
                </a:lnTo>
                <a:close/>
              </a:path>
              <a:path w="85725" h="3557904">
                <a:moveTo>
                  <a:pt x="57150" y="3452819"/>
                </a:moveTo>
                <a:lnTo>
                  <a:pt x="42799" y="3471926"/>
                </a:lnTo>
                <a:lnTo>
                  <a:pt x="57150" y="3471926"/>
                </a:lnTo>
                <a:lnTo>
                  <a:pt x="57150" y="3452819"/>
                </a:lnTo>
                <a:close/>
              </a:path>
              <a:path w="85725" h="3557904">
                <a:moveTo>
                  <a:pt x="85725" y="3414776"/>
                </a:moveTo>
                <a:lnTo>
                  <a:pt x="57150" y="3452819"/>
                </a:lnTo>
                <a:lnTo>
                  <a:pt x="57150" y="3471926"/>
                </a:lnTo>
                <a:lnTo>
                  <a:pt x="68554" y="3471926"/>
                </a:lnTo>
                <a:lnTo>
                  <a:pt x="85725" y="3414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4600" y="1801748"/>
            <a:ext cx="6165850" cy="85725"/>
          </a:xfrm>
          <a:custGeom>
            <a:avLst/>
            <a:gdLst/>
            <a:ahLst/>
            <a:cxnLst/>
            <a:rect l="l" t="t" r="r" b="b"/>
            <a:pathLst>
              <a:path w="6165850" h="85725">
                <a:moveTo>
                  <a:pt x="6022975" y="0"/>
                </a:moveTo>
                <a:lnTo>
                  <a:pt x="6080125" y="42925"/>
                </a:lnTo>
                <a:lnTo>
                  <a:pt x="6022975" y="85725"/>
                </a:lnTo>
                <a:lnTo>
                  <a:pt x="6118366" y="57150"/>
                </a:lnTo>
                <a:lnTo>
                  <a:pt x="6080252" y="57150"/>
                </a:lnTo>
                <a:lnTo>
                  <a:pt x="6080252" y="28575"/>
                </a:lnTo>
                <a:lnTo>
                  <a:pt x="6118084" y="28575"/>
                </a:lnTo>
                <a:lnTo>
                  <a:pt x="6022975" y="0"/>
                </a:lnTo>
                <a:close/>
              </a:path>
              <a:path w="6165850" h="85725">
                <a:moveTo>
                  <a:pt x="606101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061131" y="57150"/>
                </a:lnTo>
                <a:lnTo>
                  <a:pt x="6080125" y="42925"/>
                </a:lnTo>
                <a:lnTo>
                  <a:pt x="6061018" y="28575"/>
                </a:lnTo>
                <a:close/>
              </a:path>
              <a:path w="6165850" h="85725">
                <a:moveTo>
                  <a:pt x="6118084" y="28575"/>
                </a:moveTo>
                <a:lnTo>
                  <a:pt x="6080252" y="28575"/>
                </a:lnTo>
                <a:lnTo>
                  <a:pt x="6080252" y="57150"/>
                </a:lnTo>
                <a:lnTo>
                  <a:pt x="6118366" y="57150"/>
                </a:lnTo>
                <a:lnTo>
                  <a:pt x="6165850" y="42925"/>
                </a:lnTo>
                <a:lnTo>
                  <a:pt x="611808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44600" y="5330825"/>
            <a:ext cx="6165850" cy="85725"/>
          </a:xfrm>
          <a:custGeom>
            <a:avLst/>
            <a:gdLst/>
            <a:ahLst/>
            <a:cxnLst/>
            <a:rect l="l" t="t" r="r" b="b"/>
            <a:pathLst>
              <a:path w="6165850" h="85725">
                <a:moveTo>
                  <a:pt x="6022975" y="0"/>
                </a:moveTo>
                <a:lnTo>
                  <a:pt x="6080125" y="42799"/>
                </a:lnTo>
                <a:lnTo>
                  <a:pt x="6022975" y="85725"/>
                </a:lnTo>
                <a:lnTo>
                  <a:pt x="6118084" y="57150"/>
                </a:lnTo>
                <a:lnTo>
                  <a:pt x="6080252" y="57150"/>
                </a:lnTo>
                <a:lnTo>
                  <a:pt x="6080252" y="28575"/>
                </a:lnTo>
                <a:lnTo>
                  <a:pt x="6118366" y="28575"/>
                </a:lnTo>
                <a:lnTo>
                  <a:pt x="6022975" y="0"/>
                </a:lnTo>
                <a:close/>
              </a:path>
              <a:path w="6165850" h="85725">
                <a:moveTo>
                  <a:pt x="6061131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061018" y="57150"/>
                </a:lnTo>
                <a:lnTo>
                  <a:pt x="6080125" y="42799"/>
                </a:lnTo>
                <a:lnTo>
                  <a:pt x="6061131" y="28575"/>
                </a:lnTo>
                <a:close/>
              </a:path>
              <a:path w="6165850" h="85725">
                <a:moveTo>
                  <a:pt x="6118366" y="28575"/>
                </a:moveTo>
                <a:lnTo>
                  <a:pt x="6080252" y="28575"/>
                </a:lnTo>
                <a:lnTo>
                  <a:pt x="6080252" y="57150"/>
                </a:lnTo>
                <a:lnTo>
                  <a:pt x="6118084" y="57150"/>
                </a:lnTo>
                <a:lnTo>
                  <a:pt x="6165850" y="42799"/>
                </a:lnTo>
                <a:lnTo>
                  <a:pt x="6118366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223517" y="1927605"/>
          <a:ext cx="4998720" cy="32287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716">
                <a:tc>
                  <a:txBody>
                    <a:bodyPr/>
                    <a:lstStyle/>
                    <a:p>
                      <a:pPr marL="127000">
                        <a:lnSpc>
                          <a:spcPts val="2850"/>
                        </a:lnSpc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方式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5480">
                        <a:lnSpc>
                          <a:spcPts val="2400"/>
                        </a:lnSpc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a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1185">
                        <a:lnSpc>
                          <a:spcPts val="2400"/>
                        </a:lnSpc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b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37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有机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173990" marB="0"/>
                </a:tc>
                <a:tc>
                  <a:txBody>
                    <a:bodyPr/>
                    <a:lstStyle/>
                    <a:p>
                      <a:pPr marL="66548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2.4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173990" marB="0"/>
                </a:tc>
                <a:tc>
                  <a:txBody>
                    <a:bodyPr/>
                    <a:lstStyle/>
                    <a:p>
                      <a:pPr marL="59118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1.05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1739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1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915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半有机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243205" marB="0"/>
                </a:tc>
                <a:tc>
                  <a:txBody>
                    <a:bodyPr/>
                    <a:lstStyle/>
                    <a:p>
                      <a:pPr marL="665480">
                        <a:lnSpc>
                          <a:spcPct val="100000"/>
                        </a:lnSpc>
                        <a:spcBef>
                          <a:spcPts val="1915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3.0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243205" marB="0"/>
                </a:tc>
                <a:tc>
                  <a:txBody>
                    <a:bodyPr/>
                    <a:lstStyle/>
                    <a:p>
                      <a:pPr marL="591185">
                        <a:lnSpc>
                          <a:spcPct val="100000"/>
                        </a:lnSpc>
                        <a:spcBef>
                          <a:spcPts val="1915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1.12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2432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47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嵌入式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242570" marB="0"/>
                </a:tc>
                <a:tc>
                  <a:txBody>
                    <a:bodyPr/>
                    <a:lstStyle/>
                    <a:p>
                      <a:pPr marL="665480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3.6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242570" marB="0"/>
                </a:tc>
                <a:tc>
                  <a:txBody>
                    <a:bodyPr/>
                    <a:lstStyle/>
                    <a:p>
                      <a:pPr marL="591185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1.2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2425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11442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1197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873" y="1844801"/>
            <a:ext cx="8153400" cy="136906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409575" marR="15875" indent="-320040">
              <a:lnSpc>
                <a:spcPct val="100000"/>
              </a:lnSpc>
              <a:spcBef>
                <a:spcPts val="140"/>
              </a:spcBef>
            </a:pP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一</a:t>
            </a:r>
            <a:r>
              <a:rPr sz="2900" spc="-5" dirty="0">
                <a:solidFill>
                  <a:srgbClr val="666666"/>
                </a:solidFill>
                <a:latin typeface="华文新魏"/>
                <a:cs typeface="华文新魏"/>
              </a:rPr>
              <a:t>个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33.3</a:t>
            </a:r>
            <a:r>
              <a:rPr sz="2900" spc="-35" dirty="0">
                <a:solidFill>
                  <a:srgbClr val="666666"/>
                </a:solidFill>
                <a:latin typeface="华文新魏"/>
                <a:cs typeface="华文新魏"/>
              </a:rPr>
              <a:t> 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KLOC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软件开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发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项目，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属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于中等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规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模、 半有机型的项目，采用</a:t>
            </a:r>
            <a:r>
              <a:rPr sz="2900" spc="-10" dirty="0">
                <a:solidFill>
                  <a:srgbClr val="666666"/>
                </a:solidFill>
                <a:latin typeface="华文新魏"/>
                <a:cs typeface="华文新魏"/>
              </a:rPr>
              <a:t>基</a:t>
            </a:r>
            <a:r>
              <a:rPr sz="2900" spc="5" dirty="0">
                <a:solidFill>
                  <a:srgbClr val="666666"/>
                </a:solidFill>
                <a:latin typeface="华文新魏"/>
                <a:cs typeface="华文新魏"/>
              </a:rPr>
              <a:t>本</a:t>
            </a:r>
            <a:r>
              <a:rPr sz="2900" spc="-5" dirty="0">
                <a:latin typeface="华文新魏"/>
                <a:cs typeface="华文新魏"/>
              </a:rPr>
              <a:t>COCOMO，</a:t>
            </a:r>
            <a:r>
              <a:rPr sz="2900" spc="-10" dirty="0">
                <a:latin typeface="华文新魏"/>
                <a:cs typeface="华文新魏"/>
              </a:rPr>
              <a:t>计算 </a:t>
            </a:r>
            <a:r>
              <a:rPr sz="2900" dirty="0">
                <a:latin typeface="华文新魏"/>
                <a:cs typeface="华文新魏"/>
              </a:rPr>
              <a:t>项目规模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5477" y="3535171"/>
            <a:ext cx="306070" cy="2371090"/>
          </a:xfrm>
          <a:custGeom>
            <a:avLst/>
            <a:gdLst/>
            <a:ahLst/>
            <a:cxnLst/>
            <a:rect l="l" t="t" r="r" b="b"/>
            <a:pathLst>
              <a:path w="306070" h="2371090">
                <a:moveTo>
                  <a:pt x="305892" y="0"/>
                </a:moveTo>
                <a:lnTo>
                  <a:pt x="229412" y="0"/>
                </a:lnTo>
                <a:lnTo>
                  <a:pt x="214535" y="3008"/>
                </a:lnTo>
                <a:lnTo>
                  <a:pt x="202384" y="11207"/>
                </a:lnTo>
                <a:lnTo>
                  <a:pt x="194190" y="23360"/>
                </a:lnTo>
                <a:lnTo>
                  <a:pt x="191185" y="38226"/>
                </a:lnTo>
                <a:lnTo>
                  <a:pt x="194190" y="53147"/>
                </a:lnTo>
                <a:lnTo>
                  <a:pt x="202384" y="65293"/>
                </a:lnTo>
                <a:lnTo>
                  <a:pt x="214535" y="73463"/>
                </a:lnTo>
                <a:lnTo>
                  <a:pt x="229412" y="76453"/>
                </a:lnTo>
                <a:lnTo>
                  <a:pt x="259182" y="70455"/>
                </a:lnTo>
                <a:lnTo>
                  <a:pt x="283492" y="54086"/>
                </a:lnTo>
                <a:lnTo>
                  <a:pt x="299882" y="29787"/>
                </a:lnTo>
                <a:lnTo>
                  <a:pt x="305892" y="0"/>
                </a:lnTo>
                <a:close/>
              </a:path>
              <a:path w="306070" h="2371090">
                <a:moveTo>
                  <a:pt x="76479" y="2218143"/>
                </a:moveTo>
                <a:lnTo>
                  <a:pt x="46709" y="2224153"/>
                </a:lnTo>
                <a:lnTo>
                  <a:pt x="22399" y="2240541"/>
                </a:lnTo>
                <a:lnTo>
                  <a:pt x="6009" y="2264847"/>
                </a:lnTo>
                <a:lnTo>
                  <a:pt x="0" y="2294610"/>
                </a:lnTo>
                <a:lnTo>
                  <a:pt x="6009" y="2324380"/>
                </a:lnTo>
                <a:lnTo>
                  <a:pt x="22399" y="2348690"/>
                </a:lnTo>
                <a:lnTo>
                  <a:pt x="46709" y="2365080"/>
                </a:lnTo>
                <a:lnTo>
                  <a:pt x="76479" y="2371090"/>
                </a:lnTo>
                <a:lnTo>
                  <a:pt x="106242" y="2365080"/>
                </a:lnTo>
                <a:lnTo>
                  <a:pt x="130548" y="2348690"/>
                </a:lnTo>
                <a:lnTo>
                  <a:pt x="146936" y="2324380"/>
                </a:lnTo>
                <a:lnTo>
                  <a:pt x="152946" y="2294610"/>
                </a:lnTo>
                <a:lnTo>
                  <a:pt x="76479" y="2294610"/>
                </a:lnTo>
                <a:lnTo>
                  <a:pt x="91357" y="2291605"/>
                </a:lnTo>
                <a:lnTo>
                  <a:pt x="103508" y="2283410"/>
                </a:lnTo>
                <a:lnTo>
                  <a:pt x="111701" y="2271255"/>
                </a:lnTo>
                <a:lnTo>
                  <a:pt x="114706" y="2256370"/>
                </a:lnTo>
                <a:lnTo>
                  <a:pt x="111701" y="2241487"/>
                </a:lnTo>
                <a:lnTo>
                  <a:pt x="103508" y="2229337"/>
                </a:lnTo>
                <a:lnTo>
                  <a:pt x="91357" y="2221146"/>
                </a:lnTo>
                <a:lnTo>
                  <a:pt x="76479" y="221814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5477" y="3458717"/>
            <a:ext cx="8426450" cy="2447925"/>
          </a:xfrm>
          <a:custGeom>
            <a:avLst/>
            <a:gdLst/>
            <a:ahLst/>
            <a:cxnLst/>
            <a:rect l="l" t="t" r="r" b="b"/>
            <a:pathLst>
              <a:path w="8426450" h="2447925">
                <a:moveTo>
                  <a:pt x="152946" y="2294597"/>
                </a:moveTo>
                <a:lnTo>
                  <a:pt x="152946" y="76454"/>
                </a:lnTo>
                <a:lnTo>
                  <a:pt x="158955" y="46720"/>
                </a:lnTo>
                <a:lnTo>
                  <a:pt x="175345" y="22415"/>
                </a:lnTo>
                <a:lnTo>
                  <a:pt x="199655" y="6016"/>
                </a:lnTo>
                <a:lnTo>
                  <a:pt x="229425" y="0"/>
                </a:lnTo>
                <a:lnTo>
                  <a:pt x="8349742" y="0"/>
                </a:lnTo>
                <a:lnTo>
                  <a:pt x="8379475" y="6016"/>
                </a:lnTo>
                <a:lnTo>
                  <a:pt x="8403780" y="22415"/>
                </a:lnTo>
                <a:lnTo>
                  <a:pt x="8420179" y="46720"/>
                </a:lnTo>
                <a:lnTo>
                  <a:pt x="8426196" y="76454"/>
                </a:lnTo>
                <a:lnTo>
                  <a:pt x="8420179" y="106241"/>
                </a:lnTo>
                <a:lnTo>
                  <a:pt x="8403780" y="130540"/>
                </a:lnTo>
                <a:lnTo>
                  <a:pt x="8379475" y="146909"/>
                </a:lnTo>
                <a:lnTo>
                  <a:pt x="8349742" y="152908"/>
                </a:lnTo>
                <a:lnTo>
                  <a:pt x="8273288" y="152908"/>
                </a:lnTo>
                <a:lnTo>
                  <a:pt x="8273288" y="2371064"/>
                </a:lnTo>
                <a:lnTo>
                  <a:pt x="8267269" y="2400834"/>
                </a:lnTo>
                <a:lnTo>
                  <a:pt x="8250856" y="2425144"/>
                </a:lnTo>
                <a:lnTo>
                  <a:pt x="8226514" y="2441534"/>
                </a:lnTo>
                <a:lnTo>
                  <a:pt x="8196707" y="2447544"/>
                </a:lnTo>
                <a:lnTo>
                  <a:pt x="76479" y="2447544"/>
                </a:lnTo>
                <a:lnTo>
                  <a:pt x="46709" y="2441534"/>
                </a:lnTo>
                <a:lnTo>
                  <a:pt x="22399" y="2425144"/>
                </a:lnTo>
                <a:lnTo>
                  <a:pt x="6009" y="2400834"/>
                </a:lnTo>
                <a:lnTo>
                  <a:pt x="0" y="2371064"/>
                </a:lnTo>
                <a:lnTo>
                  <a:pt x="6009" y="2341301"/>
                </a:lnTo>
                <a:lnTo>
                  <a:pt x="22399" y="2316995"/>
                </a:lnTo>
                <a:lnTo>
                  <a:pt x="46709" y="2300607"/>
                </a:lnTo>
                <a:lnTo>
                  <a:pt x="76479" y="2294597"/>
                </a:lnTo>
                <a:lnTo>
                  <a:pt x="152946" y="2294597"/>
                </a:lnTo>
                <a:close/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6757" y="3448811"/>
            <a:ext cx="134518" cy="172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4890" y="3611626"/>
            <a:ext cx="8044180" cy="0"/>
          </a:xfrm>
          <a:custGeom>
            <a:avLst/>
            <a:gdLst/>
            <a:ahLst/>
            <a:cxnLst/>
            <a:rect l="l" t="t" r="r" b="b"/>
            <a:pathLst>
              <a:path w="8044180">
                <a:moveTo>
                  <a:pt x="8043875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2051" y="5743409"/>
            <a:ext cx="96278" cy="172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8540" y="3911368"/>
            <a:ext cx="769747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微软雅黑"/>
                <a:cs typeface="微软雅黑"/>
              </a:rPr>
              <a:t>a=3.0，b=1.12。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微软雅黑"/>
                <a:cs typeface="微软雅黑"/>
              </a:rPr>
              <a:t>E = 3.0＊L ^1.12 = 3.0＊33.3 ^1.12 = 152</a:t>
            </a:r>
            <a:r>
              <a:rPr sz="2800" spc="-70" dirty="0">
                <a:latin typeface="微软雅黑"/>
                <a:cs typeface="微软雅黑"/>
              </a:rPr>
              <a:t> </a:t>
            </a:r>
            <a:r>
              <a:rPr sz="2800" spc="-5" dirty="0">
                <a:latin typeface="微软雅黑"/>
                <a:cs typeface="微软雅黑"/>
              </a:rPr>
              <a:t>PM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540" y="5512104"/>
            <a:ext cx="1657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微软雅黑"/>
                <a:cs typeface="微软雅黑"/>
              </a:rPr>
              <a:t>5</a:t>
            </a:r>
            <a:r>
              <a:rPr sz="700" spc="-5" dirty="0">
                <a:latin typeface="微软雅黑"/>
                <a:cs typeface="微软雅黑"/>
              </a:rPr>
              <a:t>、</a:t>
            </a:r>
            <a:endParaRPr sz="7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89" y="88138"/>
            <a:ext cx="385000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中等</a:t>
            </a:r>
            <a:r>
              <a:rPr spc="-5" dirty="0"/>
              <a:t>COCOMO-81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3404" y="6440525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84593" y="3020948"/>
            <a:ext cx="38100" cy="2589530"/>
          </a:xfrm>
          <a:custGeom>
            <a:avLst/>
            <a:gdLst/>
            <a:ahLst/>
            <a:cxnLst/>
            <a:rect l="l" t="t" r="r" b="b"/>
            <a:pathLst>
              <a:path w="38100" h="2589529">
                <a:moveTo>
                  <a:pt x="0" y="2525776"/>
                </a:moveTo>
                <a:lnTo>
                  <a:pt x="19050" y="2589276"/>
                </a:lnTo>
                <a:lnTo>
                  <a:pt x="30479" y="2551176"/>
                </a:lnTo>
                <a:lnTo>
                  <a:pt x="12700" y="2551176"/>
                </a:lnTo>
                <a:lnTo>
                  <a:pt x="12700" y="2542709"/>
                </a:lnTo>
                <a:lnTo>
                  <a:pt x="0" y="2525776"/>
                </a:lnTo>
                <a:close/>
              </a:path>
              <a:path w="38100" h="2589529">
                <a:moveTo>
                  <a:pt x="12700" y="2542709"/>
                </a:moveTo>
                <a:lnTo>
                  <a:pt x="12700" y="2551176"/>
                </a:lnTo>
                <a:lnTo>
                  <a:pt x="19050" y="2551176"/>
                </a:lnTo>
                <a:lnTo>
                  <a:pt x="12700" y="2542709"/>
                </a:lnTo>
                <a:close/>
              </a:path>
              <a:path w="38100" h="2589529">
                <a:moveTo>
                  <a:pt x="25400" y="0"/>
                </a:moveTo>
                <a:lnTo>
                  <a:pt x="12700" y="0"/>
                </a:lnTo>
                <a:lnTo>
                  <a:pt x="12700" y="2542709"/>
                </a:lnTo>
                <a:lnTo>
                  <a:pt x="19050" y="2551176"/>
                </a:lnTo>
                <a:lnTo>
                  <a:pt x="25400" y="2542709"/>
                </a:lnTo>
                <a:lnTo>
                  <a:pt x="25400" y="0"/>
                </a:lnTo>
                <a:close/>
              </a:path>
              <a:path w="38100" h="2589529">
                <a:moveTo>
                  <a:pt x="25400" y="2542709"/>
                </a:moveTo>
                <a:lnTo>
                  <a:pt x="19050" y="2551176"/>
                </a:lnTo>
                <a:lnTo>
                  <a:pt x="25400" y="2551176"/>
                </a:lnTo>
                <a:lnTo>
                  <a:pt x="25400" y="2542709"/>
                </a:lnTo>
                <a:close/>
              </a:path>
              <a:path w="38100" h="2589529">
                <a:moveTo>
                  <a:pt x="38100" y="2525776"/>
                </a:moveTo>
                <a:lnTo>
                  <a:pt x="25400" y="2542709"/>
                </a:lnTo>
                <a:lnTo>
                  <a:pt x="25400" y="2551176"/>
                </a:lnTo>
                <a:lnTo>
                  <a:pt x="30479" y="2551176"/>
                </a:lnTo>
                <a:lnTo>
                  <a:pt x="38100" y="2525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20583" y="3020948"/>
            <a:ext cx="38100" cy="2589530"/>
          </a:xfrm>
          <a:custGeom>
            <a:avLst/>
            <a:gdLst/>
            <a:ahLst/>
            <a:cxnLst/>
            <a:rect l="l" t="t" r="r" b="b"/>
            <a:pathLst>
              <a:path w="38100" h="2589529">
                <a:moveTo>
                  <a:pt x="0" y="2525776"/>
                </a:moveTo>
                <a:lnTo>
                  <a:pt x="19050" y="2589276"/>
                </a:lnTo>
                <a:lnTo>
                  <a:pt x="30479" y="2551176"/>
                </a:lnTo>
                <a:lnTo>
                  <a:pt x="12700" y="2551176"/>
                </a:lnTo>
                <a:lnTo>
                  <a:pt x="12700" y="2542709"/>
                </a:lnTo>
                <a:lnTo>
                  <a:pt x="0" y="2525776"/>
                </a:lnTo>
                <a:close/>
              </a:path>
              <a:path w="38100" h="2589529">
                <a:moveTo>
                  <a:pt x="12700" y="2542709"/>
                </a:moveTo>
                <a:lnTo>
                  <a:pt x="12700" y="2551176"/>
                </a:lnTo>
                <a:lnTo>
                  <a:pt x="19050" y="2551176"/>
                </a:lnTo>
                <a:lnTo>
                  <a:pt x="12700" y="2542709"/>
                </a:lnTo>
                <a:close/>
              </a:path>
              <a:path w="38100" h="2589529">
                <a:moveTo>
                  <a:pt x="25400" y="0"/>
                </a:moveTo>
                <a:lnTo>
                  <a:pt x="12700" y="0"/>
                </a:lnTo>
                <a:lnTo>
                  <a:pt x="12700" y="2542709"/>
                </a:lnTo>
                <a:lnTo>
                  <a:pt x="19050" y="2551176"/>
                </a:lnTo>
                <a:lnTo>
                  <a:pt x="25400" y="2542709"/>
                </a:lnTo>
                <a:lnTo>
                  <a:pt x="25400" y="0"/>
                </a:lnTo>
                <a:close/>
              </a:path>
              <a:path w="38100" h="2589529">
                <a:moveTo>
                  <a:pt x="25400" y="2542709"/>
                </a:moveTo>
                <a:lnTo>
                  <a:pt x="19050" y="2551176"/>
                </a:lnTo>
                <a:lnTo>
                  <a:pt x="25400" y="2551176"/>
                </a:lnTo>
                <a:lnTo>
                  <a:pt x="25400" y="2542709"/>
                </a:lnTo>
                <a:close/>
              </a:path>
              <a:path w="38100" h="2589529">
                <a:moveTo>
                  <a:pt x="38100" y="2525776"/>
                </a:moveTo>
                <a:lnTo>
                  <a:pt x="25400" y="2542709"/>
                </a:lnTo>
                <a:lnTo>
                  <a:pt x="25400" y="2551176"/>
                </a:lnTo>
                <a:lnTo>
                  <a:pt x="30479" y="2551176"/>
                </a:lnTo>
                <a:lnTo>
                  <a:pt x="38100" y="2525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21376" y="3656457"/>
            <a:ext cx="3268979" cy="38100"/>
          </a:xfrm>
          <a:custGeom>
            <a:avLst/>
            <a:gdLst/>
            <a:ahLst/>
            <a:cxnLst/>
            <a:rect l="l" t="t" r="r" b="b"/>
            <a:pathLst>
              <a:path w="3268979" h="38100">
                <a:moveTo>
                  <a:pt x="3230499" y="19050"/>
                </a:moveTo>
                <a:lnTo>
                  <a:pt x="3205099" y="38100"/>
                </a:lnTo>
                <a:lnTo>
                  <a:pt x="3247432" y="25400"/>
                </a:lnTo>
                <a:lnTo>
                  <a:pt x="3230499" y="25400"/>
                </a:lnTo>
                <a:lnTo>
                  <a:pt x="3230499" y="19050"/>
                </a:lnTo>
                <a:close/>
              </a:path>
              <a:path w="3268979" h="38100">
                <a:moveTo>
                  <a:pt x="3222032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222032" y="25400"/>
                </a:lnTo>
                <a:lnTo>
                  <a:pt x="3230499" y="19050"/>
                </a:lnTo>
                <a:lnTo>
                  <a:pt x="3222032" y="12700"/>
                </a:lnTo>
                <a:close/>
              </a:path>
              <a:path w="3268979" h="38100">
                <a:moveTo>
                  <a:pt x="3247432" y="12700"/>
                </a:moveTo>
                <a:lnTo>
                  <a:pt x="3230499" y="12700"/>
                </a:lnTo>
                <a:lnTo>
                  <a:pt x="3230499" y="25400"/>
                </a:lnTo>
                <a:lnTo>
                  <a:pt x="3247432" y="25400"/>
                </a:lnTo>
                <a:lnTo>
                  <a:pt x="3268599" y="19050"/>
                </a:lnTo>
                <a:lnTo>
                  <a:pt x="3247432" y="12700"/>
                </a:lnTo>
                <a:close/>
              </a:path>
              <a:path w="3268979" h="38100">
                <a:moveTo>
                  <a:pt x="3205099" y="0"/>
                </a:moveTo>
                <a:lnTo>
                  <a:pt x="3230499" y="19050"/>
                </a:lnTo>
                <a:lnTo>
                  <a:pt x="3230499" y="12700"/>
                </a:lnTo>
                <a:lnTo>
                  <a:pt x="3247432" y="12700"/>
                </a:lnTo>
                <a:lnTo>
                  <a:pt x="3205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21376" y="4296536"/>
            <a:ext cx="3268979" cy="38100"/>
          </a:xfrm>
          <a:custGeom>
            <a:avLst/>
            <a:gdLst/>
            <a:ahLst/>
            <a:cxnLst/>
            <a:rect l="l" t="t" r="r" b="b"/>
            <a:pathLst>
              <a:path w="3268979" h="38100">
                <a:moveTo>
                  <a:pt x="3230499" y="19050"/>
                </a:moveTo>
                <a:lnTo>
                  <a:pt x="3205099" y="38100"/>
                </a:lnTo>
                <a:lnTo>
                  <a:pt x="3247432" y="25400"/>
                </a:lnTo>
                <a:lnTo>
                  <a:pt x="3230499" y="25400"/>
                </a:lnTo>
                <a:lnTo>
                  <a:pt x="3230499" y="19050"/>
                </a:lnTo>
                <a:close/>
              </a:path>
              <a:path w="3268979" h="38100">
                <a:moveTo>
                  <a:pt x="3222032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222032" y="25400"/>
                </a:lnTo>
                <a:lnTo>
                  <a:pt x="3230499" y="19050"/>
                </a:lnTo>
                <a:lnTo>
                  <a:pt x="3222032" y="12700"/>
                </a:lnTo>
                <a:close/>
              </a:path>
              <a:path w="3268979" h="38100">
                <a:moveTo>
                  <a:pt x="3247432" y="12700"/>
                </a:moveTo>
                <a:lnTo>
                  <a:pt x="3230499" y="12700"/>
                </a:lnTo>
                <a:lnTo>
                  <a:pt x="3230499" y="25400"/>
                </a:lnTo>
                <a:lnTo>
                  <a:pt x="3247432" y="25400"/>
                </a:lnTo>
                <a:lnTo>
                  <a:pt x="3268599" y="19050"/>
                </a:lnTo>
                <a:lnTo>
                  <a:pt x="3247432" y="12700"/>
                </a:lnTo>
                <a:close/>
              </a:path>
              <a:path w="3268979" h="38100">
                <a:moveTo>
                  <a:pt x="3205099" y="0"/>
                </a:moveTo>
                <a:lnTo>
                  <a:pt x="3230499" y="19050"/>
                </a:lnTo>
                <a:lnTo>
                  <a:pt x="3230499" y="12700"/>
                </a:lnTo>
                <a:lnTo>
                  <a:pt x="3247432" y="12700"/>
                </a:lnTo>
                <a:lnTo>
                  <a:pt x="3205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21376" y="4936744"/>
            <a:ext cx="3268979" cy="38100"/>
          </a:xfrm>
          <a:custGeom>
            <a:avLst/>
            <a:gdLst/>
            <a:ahLst/>
            <a:cxnLst/>
            <a:rect l="l" t="t" r="r" b="b"/>
            <a:pathLst>
              <a:path w="3268979" h="38100">
                <a:moveTo>
                  <a:pt x="3230499" y="19049"/>
                </a:moveTo>
                <a:lnTo>
                  <a:pt x="3205099" y="38099"/>
                </a:lnTo>
                <a:lnTo>
                  <a:pt x="3247432" y="25399"/>
                </a:lnTo>
                <a:lnTo>
                  <a:pt x="3230499" y="25399"/>
                </a:lnTo>
                <a:lnTo>
                  <a:pt x="3230499" y="19049"/>
                </a:lnTo>
                <a:close/>
              </a:path>
              <a:path w="3268979" h="38100">
                <a:moveTo>
                  <a:pt x="3222032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3222032" y="25399"/>
                </a:lnTo>
                <a:lnTo>
                  <a:pt x="3230499" y="19049"/>
                </a:lnTo>
                <a:lnTo>
                  <a:pt x="3222032" y="12699"/>
                </a:lnTo>
                <a:close/>
              </a:path>
              <a:path w="3268979" h="38100">
                <a:moveTo>
                  <a:pt x="3247432" y="12699"/>
                </a:moveTo>
                <a:lnTo>
                  <a:pt x="3230499" y="12699"/>
                </a:lnTo>
                <a:lnTo>
                  <a:pt x="3230499" y="25399"/>
                </a:lnTo>
                <a:lnTo>
                  <a:pt x="3247432" y="25399"/>
                </a:lnTo>
                <a:lnTo>
                  <a:pt x="3268599" y="19049"/>
                </a:lnTo>
                <a:lnTo>
                  <a:pt x="3247432" y="12699"/>
                </a:lnTo>
                <a:close/>
              </a:path>
              <a:path w="3268979" h="38100">
                <a:moveTo>
                  <a:pt x="3205099" y="0"/>
                </a:moveTo>
                <a:lnTo>
                  <a:pt x="3230499" y="19049"/>
                </a:lnTo>
                <a:lnTo>
                  <a:pt x="3230499" y="12699"/>
                </a:lnTo>
                <a:lnTo>
                  <a:pt x="3247432" y="12699"/>
                </a:lnTo>
                <a:lnTo>
                  <a:pt x="3205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92673" y="3020948"/>
            <a:ext cx="85725" cy="2589530"/>
          </a:xfrm>
          <a:custGeom>
            <a:avLst/>
            <a:gdLst/>
            <a:ahLst/>
            <a:cxnLst/>
            <a:rect l="l" t="t" r="r" b="b"/>
            <a:pathLst>
              <a:path w="85725" h="2589529">
                <a:moveTo>
                  <a:pt x="0" y="2446401"/>
                </a:moveTo>
                <a:lnTo>
                  <a:pt x="42925" y="2589276"/>
                </a:lnTo>
                <a:lnTo>
                  <a:pt x="68605" y="2503551"/>
                </a:lnTo>
                <a:lnTo>
                  <a:pt x="28575" y="2503551"/>
                </a:lnTo>
                <a:lnTo>
                  <a:pt x="28575" y="2484444"/>
                </a:lnTo>
                <a:lnTo>
                  <a:pt x="0" y="2446401"/>
                </a:lnTo>
                <a:close/>
              </a:path>
              <a:path w="85725" h="2589529">
                <a:moveTo>
                  <a:pt x="28575" y="2484444"/>
                </a:moveTo>
                <a:lnTo>
                  <a:pt x="28575" y="2503551"/>
                </a:lnTo>
                <a:lnTo>
                  <a:pt x="42925" y="2503551"/>
                </a:lnTo>
                <a:lnTo>
                  <a:pt x="28575" y="2484444"/>
                </a:lnTo>
                <a:close/>
              </a:path>
              <a:path w="85725" h="2589529">
                <a:moveTo>
                  <a:pt x="57150" y="0"/>
                </a:moveTo>
                <a:lnTo>
                  <a:pt x="28575" y="0"/>
                </a:lnTo>
                <a:lnTo>
                  <a:pt x="28659" y="2484557"/>
                </a:lnTo>
                <a:lnTo>
                  <a:pt x="42925" y="2503551"/>
                </a:lnTo>
                <a:lnTo>
                  <a:pt x="57150" y="2484557"/>
                </a:lnTo>
                <a:lnTo>
                  <a:pt x="57150" y="0"/>
                </a:lnTo>
                <a:close/>
              </a:path>
              <a:path w="85725" h="2589529">
                <a:moveTo>
                  <a:pt x="57150" y="2484557"/>
                </a:moveTo>
                <a:lnTo>
                  <a:pt x="42925" y="2503551"/>
                </a:lnTo>
                <a:lnTo>
                  <a:pt x="57150" y="2503551"/>
                </a:lnTo>
                <a:lnTo>
                  <a:pt x="57150" y="2484557"/>
                </a:lnTo>
                <a:close/>
              </a:path>
              <a:path w="85725" h="2589529">
                <a:moveTo>
                  <a:pt x="85725" y="2446401"/>
                </a:moveTo>
                <a:lnTo>
                  <a:pt x="57234" y="2484444"/>
                </a:lnTo>
                <a:lnTo>
                  <a:pt x="57150" y="2503551"/>
                </a:lnTo>
                <a:lnTo>
                  <a:pt x="68605" y="2503551"/>
                </a:lnTo>
                <a:lnTo>
                  <a:pt x="85725" y="24464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32825" y="3020948"/>
            <a:ext cx="85725" cy="2589530"/>
          </a:xfrm>
          <a:custGeom>
            <a:avLst/>
            <a:gdLst/>
            <a:ahLst/>
            <a:cxnLst/>
            <a:rect l="l" t="t" r="r" b="b"/>
            <a:pathLst>
              <a:path w="85725" h="2589529">
                <a:moveTo>
                  <a:pt x="0" y="2446401"/>
                </a:moveTo>
                <a:lnTo>
                  <a:pt x="42799" y="2589276"/>
                </a:lnTo>
                <a:lnTo>
                  <a:pt x="68554" y="2503551"/>
                </a:lnTo>
                <a:lnTo>
                  <a:pt x="28575" y="2503551"/>
                </a:lnTo>
                <a:lnTo>
                  <a:pt x="28490" y="2484444"/>
                </a:lnTo>
                <a:lnTo>
                  <a:pt x="0" y="2446401"/>
                </a:lnTo>
                <a:close/>
              </a:path>
              <a:path w="85725" h="2589529">
                <a:moveTo>
                  <a:pt x="28575" y="2484557"/>
                </a:moveTo>
                <a:lnTo>
                  <a:pt x="28575" y="2503551"/>
                </a:lnTo>
                <a:lnTo>
                  <a:pt x="42799" y="2503551"/>
                </a:lnTo>
                <a:lnTo>
                  <a:pt x="28575" y="2484557"/>
                </a:lnTo>
                <a:close/>
              </a:path>
              <a:path w="85725" h="2589529">
                <a:moveTo>
                  <a:pt x="57150" y="0"/>
                </a:moveTo>
                <a:lnTo>
                  <a:pt x="28575" y="0"/>
                </a:lnTo>
                <a:lnTo>
                  <a:pt x="28575" y="2484557"/>
                </a:lnTo>
                <a:lnTo>
                  <a:pt x="42799" y="2503551"/>
                </a:lnTo>
                <a:lnTo>
                  <a:pt x="57065" y="2484557"/>
                </a:lnTo>
                <a:lnTo>
                  <a:pt x="57150" y="0"/>
                </a:lnTo>
                <a:close/>
              </a:path>
              <a:path w="85725" h="2589529">
                <a:moveTo>
                  <a:pt x="57150" y="2484444"/>
                </a:moveTo>
                <a:lnTo>
                  <a:pt x="42799" y="2503551"/>
                </a:lnTo>
                <a:lnTo>
                  <a:pt x="57150" y="2503551"/>
                </a:lnTo>
                <a:lnTo>
                  <a:pt x="57150" y="2484444"/>
                </a:lnTo>
                <a:close/>
              </a:path>
              <a:path w="85725" h="2589529">
                <a:moveTo>
                  <a:pt x="85725" y="2446401"/>
                </a:moveTo>
                <a:lnTo>
                  <a:pt x="57150" y="2484444"/>
                </a:lnTo>
                <a:lnTo>
                  <a:pt x="57150" y="2503551"/>
                </a:lnTo>
                <a:lnTo>
                  <a:pt x="68554" y="2503551"/>
                </a:lnTo>
                <a:lnTo>
                  <a:pt x="85725" y="24464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21376" y="2992373"/>
            <a:ext cx="3268979" cy="85725"/>
          </a:xfrm>
          <a:custGeom>
            <a:avLst/>
            <a:gdLst/>
            <a:ahLst/>
            <a:cxnLst/>
            <a:rect l="l" t="t" r="r" b="b"/>
            <a:pathLst>
              <a:path w="3268979" h="85725">
                <a:moveTo>
                  <a:pt x="3182874" y="42925"/>
                </a:moveTo>
                <a:lnTo>
                  <a:pt x="3125724" y="85725"/>
                </a:lnTo>
                <a:lnTo>
                  <a:pt x="3221115" y="57150"/>
                </a:lnTo>
                <a:lnTo>
                  <a:pt x="3182874" y="57150"/>
                </a:lnTo>
                <a:lnTo>
                  <a:pt x="3182874" y="42925"/>
                </a:lnTo>
                <a:close/>
              </a:path>
              <a:path w="3268979" h="85725">
                <a:moveTo>
                  <a:pt x="3163767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3163880" y="57150"/>
                </a:lnTo>
                <a:lnTo>
                  <a:pt x="3182874" y="42925"/>
                </a:lnTo>
                <a:lnTo>
                  <a:pt x="3163767" y="28575"/>
                </a:lnTo>
                <a:close/>
              </a:path>
              <a:path w="3268979" h="85725">
                <a:moveTo>
                  <a:pt x="3220833" y="28575"/>
                </a:moveTo>
                <a:lnTo>
                  <a:pt x="3182874" y="28575"/>
                </a:lnTo>
                <a:lnTo>
                  <a:pt x="3182874" y="57150"/>
                </a:lnTo>
                <a:lnTo>
                  <a:pt x="3221115" y="57150"/>
                </a:lnTo>
                <a:lnTo>
                  <a:pt x="3268599" y="42925"/>
                </a:lnTo>
                <a:lnTo>
                  <a:pt x="3220833" y="28575"/>
                </a:lnTo>
                <a:close/>
              </a:path>
              <a:path w="3268979" h="85725">
                <a:moveTo>
                  <a:pt x="3125724" y="0"/>
                </a:moveTo>
                <a:lnTo>
                  <a:pt x="3182874" y="42925"/>
                </a:lnTo>
                <a:lnTo>
                  <a:pt x="3182874" y="28575"/>
                </a:lnTo>
                <a:lnTo>
                  <a:pt x="3220833" y="28575"/>
                </a:lnTo>
                <a:lnTo>
                  <a:pt x="3125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21376" y="5553075"/>
            <a:ext cx="3268979" cy="85725"/>
          </a:xfrm>
          <a:custGeom>
            <a:avLst/>
            <a:gdLst/>
            <a:ahLst/>
            <a:cxnLst/>
            <a:rect l="l" t="t" r="r" b="b"/>
            <a:pathLst>
              <a:path w="3268979" h="85725">
                <a:moveTo>
                  <a:pt x="3182874" y="42862"/>
                </a:moveTo>
                <a:lnTo>
                  <a:pt x="3125724" y="85725"/>
                </a:lnTo>
                <a:lnTo>
                  <a:pt x="3220974" y="57150"/>
                </a:lnTo>
                <a:lnTo>
                  <a:pt x="3182874" y="57150"/>
                </a:lnTo>
                <a:lnTo>
                  <a:pt x="3182874" y="42862"/>
                </a:lnTo>
                <a:close/>
              </a:path>
              <a:path w="3268979" h="85725">
                <a:moveTo>
                  <a:pt x="31638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3163824" y="57150"/>
                </a:lnTo>
                <a:lnTo>
                  <a:pt x="3182874" y="42862"/>
                </a:lnTo>
                <a:lnTo>
                  <a:pt x="3163824" y="28575"/>
                </a:lnTo>
                <a:close/>
              </a:path>
              <a:path w="3268979" h="85725">
                <a:moveTo>
                  <a:pt x="3220974" y="28575"/>
                </a:moveTo>
                <a:lnTo>
                  <a:pt x="3182874" y="28575"/>
                </a:lnTo>
                <a:lnTo>
                  <a:pt x="3182874" y="57150"/>
                </a:lnTo>
                <a:lnTo>
                  <a:pt x="3220974" y="57150"/>
                </a:lnTo>
                <a:lnTo>
                  <a:pt x="3268599" y="42862"/>
                </a:lnTo>
                <a:lnTo>
                  <a:pt x="3220974" y="28575"/>
                </a:lnTo>
                <a:close/>
              </a:path>
              <a:path w="3268979" h="85725">
                <a:moveTo>
                  <a:pt x="3125724" y="0"/>
                </a:moveTo>
                <a:lnTo>
                  <a:pt x="3182874" y="42862"/>
                </a:lnTo>
                <a:lnTo>
                  <a:pt x="3182874" y="28575"/>
                </a:lnTo>
                <a:lnTo>
                  <a:pt x="3220974" y="28575"/>
                </a:lnTo>
                <a:lnTo>
                  <a:pt x="3125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400802" y="3091944"/>
          <a:ext cx="2965450" cy="2213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085">
                <a:tc>
                  <a:txBody>
                    <a:bodyPr/>
                    <a:lstStyle/>
                    <a:p>
                      <a:pPr marL="127000">
                        <a:lnSpc>
                          <a:spcPts val="2290"/>
                        </a:lnSpc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方式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a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b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707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有机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68275" marB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2000" dirty="0">
                          <a:latin typeface="Arial Narrow"/>
                          <a:cs typeface="Arial Narrow"/>
                        </a:rPr>
                        <a:t>2.8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166370" marB="0"/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2000" spc="-5" dirty="0">
                          <a:latin typeface="Arial Narrow"/>
                          <a:cs typeface="Arial Narrow"/>
                        </a:rPr>
                        <a:t>1.05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1663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6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半有机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000" dirty="0">
                          <a:latin typeface="Arial Narrow"/>
                          <a:cs typeface="Arial Narrow"/>
                        </a:rPr>
                        <a:t>3.0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158115" marB="0"/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000" spc="-5" dirty="0">
                          <a:latin typeface="Arial Narrow"/>
                          <a:cs typeface="Arial Narrow"/>
                        </a:rPr>
                        <a:t>1.12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158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66">
                <a:tc>
                  <a:txBody>
                    <a:bodyPr/>
                    <a:lstStyle/>
                    <a:p>
                      <a:pPr marL="127000">
                        <a:lnSpc>
                          <a:spcPts val="2315"/>
                        </a:lnSpc>
                        <a:spcBef>
                          <a:spcPts val="12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嵌入式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ts val="2325"/>
                        </a:lnSpc>
                        <a:spcBef>
                          <a:spcPts val="1245"/>
                        </a:spcBef>
                      </a:pPr>
                      <a:r>
                        <a:rPr sz="2000" spc="-5" dirty="0">
                          <a:latin typeface="Arial Narrow"/>
                          <a:cs typeface="Arial Narrow"/>
                        </a:rPr>
                        <a:t>3.2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158115" marB="0"/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ts val="2325"/>
                        </a:lnSpc>
                        <a:spcBef>
                          <a:spcPts val="1245"/>
                        </a:spcBef>
                      </a:pPr>
                      <a:r>
                        <a:rPr sz="2000" spc="-5" dirty="0">
                          <a:latin typeface="Arial Narrow"/>
                          <a:cs typeface="Arial Narrow"/>
                        </a:rPr>
                        <a:t>1.2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1581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55498" y="1826514"/>
            <a:ext cx="3872484" cy="716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2344" y="1816607"/>
          <a:ext cx="4681219" cy="42915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DDDDDD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DDDD"/>
                      </a:solidFill>
                      <a:prstDash val="solid"/>
                    </a:lnT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1415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E=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a*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(KLOC)</a:t>
                      </a:r>
                      <a:r>
                        <a:rPr sz="1950" b="1" spc="7" baseline="2564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b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*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乘法因子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  <a:lnB w="2857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5304">
                <a:tc gridSpan="3">
                  <a:txBody>
                    <a:bodyPr/>
                    <a:lstStyle/>
                    <a:p>
                      <a:pPr marL="869950" indent="-457834">
                        <a:lnSpc>
                          <a:spcPct val="100000"/>
                        </a:lnSpc>
                        <a:spcBef>
                          <a:spcPts val="409"/>
                        </a:spcBef>
                        <a:buFont typeface="Wingdings"/>
                        <a:buChar char=""/>
                        <a:tabLst>
                          <a:tab pos="869950" algn="l"/>
                          <a:tab pos="870585" algn="l"/>
                        </a:tabLst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E：工作量（人月）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  <a:p>
                      <a:pPr marL="869950" marR="401320" indent="-457200">
                        <a:lnSpc>
                          <a:spcPct val="100000"/>
                        </a:lnSpc>
                        <a:buFont typeface="Wingdings"/>
                        <a:buChar char=""/>
                        <a:tabLst>
                          <a:tab pos="869950" algn="l"/>
                          <a:tab pos="870585" algn="l"/>
                        </a:tabLst>
                      </a:pPr>
                      <a:r>
                        <a:rPr sz="2800" dirty="0">
                          <a:latin typeface="华文新魏"/>
                          <a:cs typeface="华文新魏"/>
                        </a:rPr>
                        <a:t>KLOC：是交付的代码 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行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  <a:p>
                      <a:pPr marL="869950" marR="410845" indent="-45720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"/>
                        <a:tabLst>
                          <a:tab pos="869950" algn="l"/>
                          <a:tab pos="870585" algn="l"/>
                        </a:tabLst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a</a:t>
                      </a:r>
                      <a:r>
                        <a:rPr sz="2800" spc="-30" dirty="0">
                          <a:latin typeface="华文新魏"/>
                          <a:cs typeface="华文新魏"/>
                        </a:rPr>
                        <a:t> 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，</a:t>
                      </a:r>
                      <a:r>
                        <a:rPr sz="2800" spc="-30" dirty="0">
                          <a:latin typeface="华文新魏"/>
                          <a:cs typeface="华文新魏"/>
                        </a:rPr>
                        <a:t> </a:t>
                      </a:r>
                      <a:r>
                        <a:rPr sz="2800" spc="-10" dirty="0">
                          <a:latin typeface="华文新魏"/>
                          <a:cs typeface="华文新魏"/>
                        </a:rPr>
                        <a:t>b：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依赖于项目自 然属性的系数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  <a:p>
                      <a:pPr marL="869950" marR="249554" indent="-457200">
                        <a:lnSpc>
                          <a:spcPct val="100000"/>
                        </a:lnSpc>
                        <a:buFont typeface="Wingdings"/>
                        <a:buChar char=""/>
                        <a:tabLst>
                          <a:tab pos="869950" algn="l"/>
                          <a:tab pos="870585" algn="l"/>
                        </a:tabLst>
                      </a:pPr>
                      <a:r>
                        <a:rPr sz="2800" dirty="0">
                          <a:latin typeface="华文新魏"/>
                          <a:cs typeface="华文新魏"/>
                        </a:rPr>
                        <a:t>乘法因子是对公式的校 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正系数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5257"/>
            <a:ext cx="6177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乘法因子的成本驱动属性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0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2067" y="3092195"/>
            <a:ext cx="1883664" cy="1854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21582" y="3835653"/>
            <a:ext cx="10439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/>
                <a:cs typeface="微软雅黑"/>
              </a:rPr>
              <a:t>成本驱动 因子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92546" y="4533138"/>
            <a:ext cx="1226820" cy="1196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2546" y="4533138"/>
            <a:ext cx="1226820" cy="1196340"/>
          </a:xfrm>
          <a:custGeom>
            <a:avLst/>
            <a:gdLst/>
            <a:ahLst/>
            <a:cxnLst/>
            <a:rect l="l" t="t" r="r" b="b"/>
            <a:pathLst>
              <a:path w="1226820" h="1196339">
                <a:moveTo>
                  <a:pt x="0" y="598169"/>
                </a:moveTo>
                <a:lnTo>
                  <a:pt x="1845" y="551427"/>
                </a:lnTo>
                <a:lnTo>
                  <a:pt x="7289" y="505668"/>
                </a:lnTo>
                <a:lnTo>
                  <a:pt x="16197" y="461025"/>
                </a:lnTo>
                <a:lnTo>
                  <a:pt x="28432" y="417631"/>
                </a:lnTo>
                <a:lnTo>
                  <a:pt x="43857" y="375620"/>
                </a:lnTo>
                <a:lnTo>
                  <a:pt x="62337" y="335124"/>
                </a:lnTo>
                <a:lnTo>
                  <a:pt x="83735" y="296276"/>
                </a:lnTo>
                <a:lnTo>
                  <a:pt x="107915" y="259210"/>
                </a:lnTo>
                <a:lnTo>
                  <a:pt x="134740" y="224059"/>
                </a:lnTo>
                <a:lnTo>
                  <a:pt x="164075" y="190955"/>
                </a:lnTo>
                <a:lnTo>
                  <a:pt x="195783" y="160031"/>
                </a:lnTo>
                <a:lnTo>
                  <a:pt x="229728" y="131421"/>
                </a:lnTo>
                <a:lnTo>
                  <a:pt x="265774" y="105258"/>
                </a:lnTo>
                <a:lnTo>
                  <a:pt x="303784" y="81675"/>
                </a:lnTo>
                <a:lnTo>
                  <a:pt x="343622" y="60804"/>
                </a:lnTo>
                <a:lnTo>
                  <a:pt x="385151" y="42779"/>
                </a:lnTo>
                <a:lnTo>
                  <a:pt x="428237" y="27733"/>
                </a:lnTo>
                <a:lnTo>
                  <a:pt x="472742" y="15799"/>
                </a:lnTo>
                <a:lnTo>
                  <a:pt x="518530" y="7110"/>
                </a:lnTo>
                <a:lnTo>
                  <a:pt x="565464" y="1799"/>
                </a:lnTo>
                <a:lnTo>
                  <a:pt x="613409" y="0"/>
                </a:lnTo>
                <a:lnTo>
                  <a:pt x="661355" y="1799"/>
                </a:lnTo>
                <a:lnTo>
                  <a:pt x="708289" y="7110"/>
                </a:lnTo>
                <a:lnTo>
                  <a:pt x="754077" y="15799"/>
                </a:lnTo>
                <a:lnTo>
                  <a:pt x="798582" y="27733"/>
                </a:lnTo>
                <a:lnTo>
                  <a:pt x="841668" y="42779"/>
                </a:lnTo>
                <a:lnTo>
                  <a:pt x="883197" y="60804"/>
                </a:lnTo>
                <a:lnTo>
                  <a:pt x="923036" y="81675"/>
                </a:lnTo>
                <a:lnTo>
                  <a:pt x="961045" y="105258"/>
                </a:lnTo>
                <a:lnTo>
                  <a:pt x="997091" y="131421"/>
                </a:lnTo>
                <a:lnTo>
                  <a:pt x="1031036" y="160031"/>
                </a:lnTo>
                <a:lnTo>
                  <a:pt x="1062744" y="190955"/>
                </a:lnTo>
                <a:lnTo>
                  <a:pt x="1092079" y="224059"/>
                </a:lnTo>
                <a:lnTo>
                  <a:pt x="1118904" y="259210"/>
                </a:lnTo>
                <a:lnTo>
                  <a:pt x="1143084" y="296276"/>
                </a:lnTo>
                <a:lnTo>
                  <a:pt x="1164482" y="335124"/>
                </a:lnTo>
                <a:lnTo>
                  <a:pt x="1182962" y="375620"/>
                </a:lnTo>
                <a:lnTo>
                  <a:pt x="1198387" y="417631"/>
                </a:lnTo>
                <a:lnTo>
                  <a:pt x="1210622" y="461025"/>
                </a:lnTo>
                <a:lnTo>
                  <a:pt x="1219530" y="505668"/>
                </a:lnTo>
                <a:lnTo>
                  <a:pt x="1224974" y="551427"/>
                </a:lnTo>
                <a:lnTo>
                  <a:pt x="1226820" y="598169"/>
                </a:lnTo>
                <a:lnTo>
                  <a:pt x="1224974" y="644912"/>
                </a:lnTo>
                <a:lnTo>
                  <a:pt x="1219530" y="690671"/>
                </a:lnTo>
                <a:lnTo>
                  <a:pt x="1210622" y="735314"/>
                </a:lnTo>
                <a:lnTo>
                  <a:pt x="1198387" y="778708"/>
                </a:lnTo>
                <a:lnTo>
                  <a:pt x="1182962" y="820719"/>
                </a:lnTo>
                <a:lnTo>
                  <a:pt x="1164482" y="861215"/>
                </a:lnTo>
                <a:lnTo>
                  <a:pt x="1143084" y="900063"/>
                </a:lnTo>
                <a:lnTo>
                  <a:pt x="1118904" y="937129"/>
                </a:lnTo>
                <a:lnTo>
                  <a:pt x="1092079" y="972280"/>
                </a:lnTo>
                <a:lnTo>
                  <a:pt x="1062744" y="1005384"/>
                </a:lnTo>
                <a:lnTo>
                  <a:pt x="1031036" y="1036308"/>
                </a:lnTo>
                <a:lnTo>
                  <a:pt x="997091" y="1064918"/>
                </a:lnTo>
                <a:lnTo>
                  <a:pt x="961045" y="1091081"/>
                </a:lnTo>
                <a:lnTo>
                  <a:pt x="923036" y="1114664"/>
                </a:lnTo>
                <a:lnTo>
                  <a:pt x="883197" y="1135535"/>
                </a:lnTo>
                <a:lnTo>
                  <a:pt x="841668" y="1153560"/>
                </a:lnTo>
                <a:lnTo>
                  <a:pt x="798582" y="1168606"/>
                </a:lnTo>
                <a:lnTo>
                  <a:pt x="754077" y="1180540"/>
                </a:lnTo>
                <a:lnTo>
                  <a:pt x="708289" y="1189229"/>
                </a:lnTo>
                <a:lnTo>
                  <a:pt x="661355" y="1194540"/>
                </a:lnTo>
                <a:lnTo>
                  <a:pt x="613409" y="1196340"/>
                </a:lnTo>
                <a:lnTo>
                  <a:pt x="565464" y="1194540"/>
                </a:lnTo>
                <a:lnTo>
                  <a:pt x="518530" y="1189229"/>
                </a:lnTo>
                <a:lnTo>
                  <a:pt x="472742" y="1180540"/>
                </a:lnTo>
                <a:lnTo>
                  <a:pt x="428237" y="1168606"/>
                </a:lnTo>
                <a:lnTo>
                  <a:pt x="385151" y="1153560"/>
                </a:lnTo>
                <a:lnTo>
                  <a:pt x="343622" y="1135535"/>
                </a:lnTo>
                <a:lnTo>
                  <a:pt x="303783" y="1114664"/>
                </a:lnTo>
                <a:lnTo>
                  <a:pt x="265774" y="1091081"/>
                </a:lnTo>
                <a:lnTo>
                  <a:pt x="229728" y="1064918"/>
                </a:lnTo>
                <a:lnTo>
                  <a:pt x="195783" y="1036308"/>
                </a:lnTo>
                <a:lnTo>
                  <a:pt x="164075" y="1005384"/>
                </a:lnTo>
                <a:lnTo>
                  <a:pt x="134740" y="972280"/>
                </a:lnTo>
                <a:lnTo>
                  <a:pt x="107915" y="937129"/>
                </a:lnTo>
                <a:lnTo>
                  <a:pt x="83735" y="900063"/>
                </a:lnTo>
                <a:lnTo>
                  <a:pt x="62337" y="861215"/>
                </a:lnTo>
                <a:lnTo>
                  <a:pt x="43857" y="820719"/>
                </a:lnTo>
                <a:lnTo>
                  <a:pt x="28432" y="778708"/>
                </a:lnTo>
                <a:lnTo>
                  <a:pt x="16197" y="735314"/>
                </a:lnTo>
                <a:lnTo>
                  <a:pt x="7289" y="690671"/>
                </a:lnTo>
                <a:lnTo>
                  <a:pt x="1845" y="644912"/>
                </a:lnTo>
                <a:lnTo>
                  <a:pt x="0" y="598169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01003" y="4975047"/>
            <a:ext cx="10496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黑体"/>
                <a:cs typeface="黑体"/>
              </a:rPr>
              <a:t>过程属性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04153" y="4435602"/>
            <a:ext cx="1405255" cy="1382395"/>
          </a:xfrm>
          <a:custGeom>
            <a:avLst/>
            <a:gdLst/>
            <a:ahLst/>
            <a:cxnLst/>
            <a:rect l="l" t="t" r="r" b="b"/>
            <a:pathLst>
              <a:path w="1405254" h="1382395">
                <a:moveTo>
                  <a:pt x="0" y="691134"/>
                </a:moveTo>
                <a:lnTo>
                  <a:pt x="1620" y="643807"/>
                </a:lnTo>
                <a:lnTo>
                  <a:pt x="6414" y="597338"/>
                </a:lnTo>
                <a:lnTo>
                  <a:pt x="14274" y="551829"/>
                </a:lnTo>
                <a:lnTo>
                  <a:pt x="25098" y="507382"/>
                </a:lnTo>
                <a:lnTo>
                  <a:pt x="38780" y="464101"/>
                </a:lnTo>
                <a:lnTo>
                  <a:pt x="55215" y="422088"/>
                </a:lnTo>
                <a:lnTo>
                  <a:pt x="74299" y="381446"/>
                </a:lnTo>
                <a:lnTo>
                  <a:pt x="95927" y="342279"/>
                </a:lnTo>
                <a:lnTo>
                  <a:pt x="119994" y="304688"/>
                </a:lnTo>
                <a:lnTo>
                  <a:pt x="146397" y="268777"/>
                </a:lnTo>
                <a:lnTo>
                  <a:pt x="175029" y="234649"/>
                </a:lnTo>
                <a:lnTo>
                  <a:pt x="205787" y="202406"/>
                </a:lnTo>
                <a:lnTo>
                  <a:pt x="238566" y="172151"/>
                </a:lnTo>
                <a:lnTo>
                  <a:pt x="273261" y="143988"/>
                </a:lnTo>
                <a:lnTo>
                  <a:pt x="309767" y="118019"/>
                </a:lnTo>
                <a:lnTo>
                  <a:pt x="347980" y="94346"/>
                </a:lnTo>
                <a:lnTo>
                  <a:pt x="387794" y="73074"/>
                </a:lnTo>
                <a:lnTo>
                  <a:pt x="429107" y="54304"/>
                </a:lnTo>
                <a:lnTo>
                  <a:pt x="471812" y="38139"/>
                </a:lnTo>
                <a:lnTo>
                  <a:pt x="515805" y="24683"/>
                </a:lnTo>
                <a:lnTo>
                  <a:pt x="560981" y="14038"/>
                </a:lnTo>
                <a:lnTo>
                  <a:pt x="607236" y="6308"/>
                </a:lnTo>
                <a:lnTo>
                  <a:pt x="654465" y="1594"/>
                </a:lnTo>
                <a:lnTo>
                  <a:pt x="702564" y="0"/>
                </a:lnTo>
                <a:lnTo>
                  <a:pt x="750662" y="1594"/>
                </a:lnTo>
                <a:lnTo>
                  <a:pt x="797891" y="6308"/>
                </a:lnTo>
                <a:lnTo>
                  <a:pt x="844146" y="14038"/>
                </a:lnTo>
                <a:lnTo>
                  <a:pt x="889322" y="24683"/>
                </a:lnTo>
                <a:lnTo>
                  <a:pt x="933315" y="38139"/>
                </a:lnTo>
                <a:lnTo>
                  <a:pt x="976020" y="54304"/>
                </a:lnTo>
                <a:lnTo>
                  <a:pt x="1017333" y="73074"/>
                </a:lnTo>
                <a:lnTo>
                  <a:pt x="1057148" y="94346"/>
                </a:lnTo>
                <a:lnTo>
                  <a:pt x="1095360" y="118019"/>
                </a:lnTo>
                <a:lnTo>
                  <a:pt x="1131866" y="143988"/>
                </a:lnTo>
                <a:lnTo>
                  <a:pt x="1166561" y="172151"/>
                </a:lnTo>
                <a:lnTo>
                  <a:pt x="1199340" y="202406"/>
                </a:lnTo>
                <a:lnTo>
                  <a:pt x="1230098" y="234649"/>
                </a:lnTo>
                <a:lnTo>
                  <a:pt x="1258730" y="268777"/>
                </a:lnTo>
                <a:lnTo>
                  <a:pt x="1285133" y="304688"/>
                </a:lnTo>
                <a:lnTo>
                  <a:pt x="1309200" y="342279"/>
                </a:lnTo>
                <a:lnTo>
                  <a:pt x="1330828" y="381446"/>
                </a:lnTo>
                <a:lnTo>
                  <a:pt x="1349912" y="422088"/>
                </a:lnTo>
                <a:lnTo>
                  <a:pt x="1366347" y="464101"/>
                </a:lnTo>
                <a:lnTo>
                  <a:pt x="1380029" y="507382"/>
                </a:lnTo>
                <a:lnTo>
                  <a:pt x="1390853" y="551829"/>
                </a:lnTo>
                <a:lnTo>
                  <a:pt x="1398713" y="597338"/>
                </a:lnTo>
                <a:lnTo>
                  <a:pt x="1403507" y="643807"/>
                </a:lnTo>
                <a:lnTo>
                  <a:pt x="1405127" y="691134"/>
                </a:lnTo>
                <a:lnTo>
                  <a:pt x="1403507" y="738460"/>
                </a:lnTo>
                <a:lnTo>
                  <a:pt x="1398713" y="784929"/>
                </a:lnTo>
                <a:lnTo>
                  <a:pt x="1390853" y="830438"/>
                </a:lnTo>
                <a:lnTo>
                  <a:pt x="1380029" y="874885"/>
                </a:lnTo>
                <a:lnTo>
                  <a:pt x="1366347" y="918166"/>
                </a:lnTo>
                <a:lnTo>
                  <a:pt x="1349912" y="960179"/>
                </a:lnTo>
                <a:lnTo>
                  <a:pt x="1330828" y="1000821"/>
                </a:lnTo>
                <a:lnTo>
                  <a:pt x="1309200" y="1039988"/>
                </a:lnTo>
                <a:lnTo>
                  <a:pt x="1285133" y="1077579"/>
                </a:lnTo>
                <a:lnTo>
                  <a:pt x="1258730" y="1113490"/>
                </a:lnTo>
                <a:lnTo>
                  <a:pt x="1230098" y="1147618"/>
                </a:lnTo>
                <a:lnTo>
                  <a:pt x="1199340" y="1179861"/>
                </a:lnTo>
                <a:lnTo>
                  <a:pt x="1166561" y="1210116"/>
                </a:lnTo>
                <a:lnTo>
                  <a:pt x="1131866" y="1238279"/>
                </a:lnTo>
                <a:lnTo>
                  <a:pt x="1095360" y="1264248"/>
                </a:lnTo>
                <a:lnTo>
                  <a:pt x="1057148" y="1287921"/>
                </a:lnTo>
                <a:lnTo>
                  <a:pt x="1017333" y="1309193"/>
                </a:lnTo>
                <a:lnTo>
                  <a:pt x="976020" y="1327963"/>
                </a:lnTo>
                <a:lnTo>
                  <a:pt x="933315" y="1344128"/>
                </a:lnTo>
                <a:lnTo>
                  <a:pt x="889322" y="1357584"/>
                </a:lnTo>
                <a:lnTo>
                  <a:pt x="844146" y="1368229"/>
                </a:lnTo>
                <a:lnTo>
                  <a:pt x="797891" y="1375959"/>
                </a:lnTo>
                <a:lnTo>
                  <a:pt x="750662" y="1380673"/>
                </a:lnTo>
                <a:lnTo>
                  <a:pt x="702564" y="1382268"/>
                </a:lnTo>
                <a:lnTo>
                  <a:pt x="654465" y="1380673"/>
                </a:lnTo>
                <a:lnTo>
                  <a:pt x="607236" y="1375959"/>
                </a:lnTo>
                <a:lnTo>
                  <a:pt x="560981" y="1368229"/>
                </a:lnTo>
                <a:lnTo>
                  <a:pt x="515805" y="1357584"/>
                </a:lnTo>
                <a:lnTo>
                  <a:pt x="471812" y="1344128"/>
                </a:lnTo>
                <a:lnTo>
                  <a:pt x="429107" y="1327963"/>
                </a:lnTo>
                <a:lnTo>
                  <a:pt x="387794" y="1309193"/>
                </a:lnTo>
                <a:lnTo>
                  <a:pt x="347980" y="1287921"/>
                </a:lnTo>
                <a:lnTo>
                  <a:pt x="309767" y="1264248"/>
                </a:lnTo>
                <a:lnTo>
                  <a:pt x="273261" y="1238279"/>
                </a:lnTo>
                <a:lnTo>
                  <a:pt x="238566" y="1210116"/>
                </a:lnTo>
                <a:lnTo>
                  <a:pt x="205787" y="1179861"/>
                </a:lnTo>
                <a:lnTo>
                  <a:pt x="175029" y="1147618"/>
                </a:lnTo>
                <a:lnTo>
                  <a:pt x="146397" y="1113490"/>
                </a:lnTo>
                <a:lnTo>
                  <a:pt x="119994" y="1077579"/>
                </a:lnTo>
                <a:lnTo>
                  <a:pt x="95927" y="1039988"/>
                </a:lnTo>
                <a:lnTo>
                  <a:pt x="74299" y="1000821"/>
                </a:lnTo>
                <a:lnTo>
                  <a:pt x="55215" y="960179"/>
                </a:lnTo>
                <a:lnTo>
                  <a:pt x="38780" y="918166"/>
                </a:lnTo>
                <a:lnTo>
                  <a:pt x="25098" y="874885"/>
                </a:lnTo>
                <a:lnTo>
                  <a:pt x="14274" y="830438"/>
                </a:lnTo>
                <a:lnTo>
                  <a:pt x="6414" y="784929"/>
                </a:lnTo>
                <a:lnTo>
                  <a:pt x="1620" y="738460"/>
                </a:lnTo>
                <a:lnTo>
                  <a:pt x="0" y="691134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0909" y="2975610"/>
            <a:ext cx="2113915" cy="2083435"/>
          </a:xfrm>
          <a:custGeom>
            <a:avLst/>
            <a:gdLst/>
            <a:ahLst/>
            <a:cxnLst/>
            <a:rect l="l" t="t" r="r" b="b"/>
            <a:pathLst>
              <a:path w="2113915" h="2083435">
                <a:moveTo>
                  <a:pt x="0" y="1041653"/>
                </a:moveTo>
                <a:lnTo>
                  <a:pt x="1087" y="993971"/>
                </a:lnTo>
                <a:lnTo>
                  <a:pt x="4319" y="946839"/>
                </a:lnTo>
                <a:lnTo>
                  <a:pt x="9648" y="900303"/>
                </a:lnTo>
                <a:lnTo>
                  <a:pt x="17028" y="854410"/>
                </a:lnTo>
                <a:lnTo>
                  <a:pt x="26412" y="809204"/>
                </a:lnTo>
                <a:lnTo>
                  <a:pt x="37754" y="764734"/>
                </a:lnTo>
                <a:lnTo>
                  <a:pt x="51006" y="721043"/>
                </a:lnTo>
                <a:lnTo>
                  <a:pt x="66123" y="678178"/>
                </a:lnTo>
                <a:lnTo>
                  <a:pt x="83057" y="636186"/>
                </a:lnTo>
                <a:lnTo>
                  <a:pt x="101763" y="595112"/>
                </a:lnTo>
                <a:lnTo>
                  <a:pt x="122192" y="555002"/>
                </a:lnTo>
                <a:lnTo>
                  <a:pt x="144300" y="515902"/>
                </a:lnTo>
                <a:lnTo>
                  <a:pt x="168038" y="477858"/>
                </a:lnTo>
                <a:lnTo>
                  <a:pt x="193361" y="440915"/>
                </a:lnTo>
                <a:lnTo>
                  <a:pt x="220221" y="405121"/>
                </a:lnTo>
                <a:lnTo>
                  <a:pt x="248572" y="370521"/>
                </a:lnTo>
                <a:lnTo>
                  <a:pt x="278368" y="337160"/>
                </a:lnTo>
                <a:lnTo>
                  <a:pt x="309562" y="305085"/>
                </a:lnTo>
                <a:lnTo>
                  <a:pt x="342107" y="274342"/>
                </a:lnTo>
                <a:lnTo>
                  <a:pt x="375956" y="244977"/>
                </a:lnTo>
                <a:lnTo>
                  <a:pt x="411063" y="217035"/>
                </a:lnTo>
                <a:lnTo>
                  <a:pt x="447382" y="190563"/>
                </a:lnTo>
                <a:lnTo>
                  <a:pt x="484864" y="165606"/>
                </a:lnTo>
                <a:lnTo>
                  <a:pt x="523465" y="142211"/>
                </a:lnTo>
                <a:lnTo>
                  <a:pt x="563137" y="120424"/>
                </a:lnTo>
                <a:lnTo>
                  <a:pt x="603834" y="100290"/>
                </a:lnTo>
                <a:lnTo>
                  <a:pt x="645509" y="81855"/>
                </a:lnTo>
                <a:lnTo>
                  <a:pt x="688115" y="65166"/>
                </a:lnTo>
                <a:lnTo>
                  <a:pt x="731605" y="50268"/>
                </a:lnTo>
                <a:lnTo>
                  <a:pt x="775934" y="37207"/>
                </a:lnTo>
                <a:lnTo>
                  <a:pt x="821054" y="26030"/>
                </a:lnTo>
                <a:lnTo>
                  <a:pt x="866919" y="16781"/>
                </a:lnTo>
                <a:lnTo>
                  <a:pt x="913482" y="9508"/>
                </a:lnTo>
                <a:lnTo>
                  <a:pt x="960697" y="4256"/>
                </a:lnTo>
                <a:lnTo>
                  <a:pt x="1008516" y="1071"/>
                </a:lnTo>
                <a:lnTo>
                  <a:pt x="1056893" y="0"/>
                </a:lnTo>
                <a:lnTo>
                  <a:pt x="1105271" y="1071"/>
                </a:lnTo>
                <a:lnTo>
                  <a:pt x="1153090" y="4256"/>
                </a:lnTo>
                <a:lnTo>
                  <a:pt x="1200305" y="9508"/>
                </a:lnTo>
                <a:lnTo>
                  <a:pt x="1246868" y="16781"/>
                </a:lnTo>
                <a:lnTo>
                  <a:pt x="1292733" y="26030"/>
                </a:lnTo>
                <a:lnTo>
                  <a:pt x="1337853" y="37207"/>
                </a:lnTo>
                <a:lnTo>
                  <a:pt x="1382182" y="50268"/>
                </a:lnTo>
                <a:lnTo>
                  <a:pt x="1425672" y="65166"/>
                </a:lnTo>
                <a:lnTo>
                  <a:pt x="1468278" y="81855"/>
                </a:lnTo>
                <a:lnTo>
                  <a:pt x="1509953" y="100290"/>
                </a:lnTo>
                <a:lnTo>
                  <a:pt x="1550650" y="120424"/>
                </a:lnTo>
                <a:lnTo>
                  <a:pt x="1590322" y="142211"/>
                </a:lnTo>
                <a:lnTo>
                  <a:pt x="1628923" y="165606"/>
                </a:lnTo>
                <a:lnTo>
                  <a:pt x="1666405" y="190563"/>
                </a:lnTo>
                <a:lnTo>
                  <a:pt x="1702724" y="217035"/>
                </a:lnTo>
                <a:lnTo>
                  <a:pt x="1737831" y="244977"/>
                </a:lnTo>
                <a:lnTo>
                  <a:pt x="1771680" y="274342"/>
                </a:lnTo>
                <a:lnTo>
                  <a:pt x="1804225" y="305085"/>
                </a:lnTo>
                <a:lnTo>
                  <a:pt x="1835419" y="337160"/>
                </a:lnTo>
                <a:lnTo>
                  <a:pt x="1865215" y="370521"/>
                </a:lnTo>
                <a:lnTo>
                  <a:pt x="1893566" y="405121"/>
                </a:lnTo>
                <a:lnTo>
                  <a:pt x="1920426" y="440915"/>
                </a:lnTo>
                <a:lnTo>
                  <a:pt x="1945749" y="477858"/>
                </a:lnTo>
                <a:lnTo>
                  <a:pt x="1969487" y="515902"/>
                </a:lnTo>
                <a:lnTo>
                  <a:pt x="1991595" y="555002"/>
                </a:lnTo>
                <a:lnTo>
                  <a:pt x="2012024" y="595112"/>
                </a:lnTo>
                <a:lnTo>
                  <a:pt x="2030730" y="636186"/>
                </a:lnTo>
                <a:lnTo>
                  <a:pt x="2047664" y="678178"/>
                </a:lnTo>
                <a:lnTo>
                  <a:pt x="2062781" y="721043"/>
                </a:lnTo>
                <a:lnTo>
                  <a:pt x="2076033" y="764734"/>
                </a:lnTo>
                <a:lnTo>
                  <a:pt x="2087375" y="809204"/>
                </a:lnTo>
                <a:lnTo>
                  <a:pt x="2096759" y="854410"/>
                </a:lnTo>
                <a:lnTo>
                  <a:pt x="2104139" y="900303"/>
                </a:lnTo>
                <a:lnTo>
                  <a:pt x="2109468" y="946839"/>
                </a:lnTo>
                <a:lnTo>
                  <a:pt x="2112700" y="993971"/>
                </a:lnTo>
                <a:lnTo>
                  <a:pt x="2113788" y="1041653"/>
                </a:lnTo>
                <a:lnTo>
                  <a:pt x="2112700" y="1089336"/>
                </a:lnTo>
                <a:lnTo>
                  <a:pt x="2109468" y="1136468"/>
                </a:lnTo>
                <a:lnTo>
                  <a:pt x="2104139" y="1183004"/>
                </a:lnTo>
                <a:lnTo>
                  <a:pt x="2096759" y="1228897"/>
                </a:lnTo>
                <a:lnTo>
                  <a:pt x="2087375" y="1274103"/>
                </a:lnTo>
                <a:lnTo>
                  <a:pt x="2076033" y="1318573"/>
                </a:lnTo>
                <a:lnTo>
                  <a:pt x="2062781" y="1362264"/>
                </a:lnTo>
                <a:lnTo>
                  <a:pt x="2047664" y="1405129"/>
                </a:lnTo>
                <a:lnTo>
                  <a:pt x="2030730" y="1447121"/>
                </a:lnTo>
                <a:lnTo>
                  <a:pt x="2012024" y="1488195"/>
                </a:lnTo>
                <a:lnTo>
                  <a:pt x="1991595" y="1528305"/>
                </a:lnTo>
                <a:lnTo>
                  <a:pt x="1969487" y="1567405"/>
                </a:lnTo>
                <a:lnTo>
                  <a:pt x="1945749" y="1605449"/>
                </a:lnTo>
                <a:lnTo>
                  <a:pt x="1920426" y="1642392"/>
                </a:lnTo>
                <a:lnTo>
                  <a:pt x="1893566" y="1678186"/>
                </a:lnTo>
                <a:lnTo>
                  <a:pt x="1865215" y="1712786"/>
                </a:lnTo>
                <a:lnTo>
                  <a:pt x="1835419" y="1746147"/>
                </a:lnTo>
                <a:lnTo>
                  <a:pt x="1804225" y="1778222"/>
                </a:lnTo>
                <a:lnTo>
                  <a:pt x="1771680" y="1808965"/>
                </a:lnTo>
                <a:lnTo>
                  <a:pt x="1737831" y="1838330"/>
                </a:lnTo>
                <a:lnTo>
                  <a:pt x="1702724" y="1866272"/>
                </a:lnTo>
                <a:lnTo>
                  <a:pt x="1666405" y="1892744"/>
                </a:lnTo>
                <a:lnTo>
                  <a:pt x="1628923" y="1917701"/>
                </a:lnTo>
                <a:lnTo>
                  <a:pt x="1590322" y="1941096"/>
                </a:lnTo>
                <a:lnTo>
                  <a:pt x="1550650" y="1962883"/>
                </a:lnTo>
                <a:lnTo>
                  <a:pt x="1509953" y="1983017"/>
                </a:lnTo>
                <a:lnTo>
                  <a:pt x="1468278" y="2001452"/>
                </a:lnTo>
                <a:lnTo>
                  <a:pt x="1425672" y="2018141"/>
                </a:lnTo>
                <a:lnTo>
                  <a:pt x="1382182" y="2033039"/>
                </a:lnTo>
                <a:lnTo>
                  <a:pt x="1337853" y="2046100"/>
                </a:lnTo>
                <a:lnTo>
                  <a:pt x="1292733" y="2057277"/>
                </a:lnTo>
                <a:lnTo>
                  <a:pt x="1246868" y="2066526"/>
                </a:lnTo>
                <a:lnTo>
                  <a:pt x="1200305" y="2073799"/>
                </a:lnTo>
                <a:lnTo>
                  <a:pt x="1153090" y="2079051"/>
                </a:lnTo>
                <a:lnTo>
                  <a:pt x="1105271" y="2082236"/>
                </a:lnTo>
                <a:lnTo>
                  <a:pt x="1056893" y="2083308"/>
                </a:lnTo>
                <a:lnTo>
                  <a:pt x="1008516" y="2082236"/>
                </a:lnTo>
                <a:lnTo>
                  <a:pt x="960697" y="2079051"/>
                </a:lnTo>
                <a:lnTo>
                  <a:pt x="913482" y="2073799"/>
                </a:lnTo>
                <a:lnTo>
                  <a:pt x="866919" y="2066526"/>
                </a:lnTo>
                <a:lnTo>
                  <a:pt x="821054" y="2057277"/>
                </a:lnTo>
                <a:lnTo>
                  <a:pt x="775934" y="2046100"/>
                </a:lnTo>
                <a:lnTo>
                  <a:pt x="731605" y="2033039"/>
                </a:lnTo>
                <a:lnTo>
                  <a:pt x="688115" y="2018141"/>
                </a:lnTo>
                <a:lnTo>
                  <a:pt x="645509" y="2001452"/>
                </a:lnTo>
                <a:lnTo>
                  <a:pt x="603834" y="1983017"/>
                </a:lnTo>
                <a:lnTo>
                  <a:pt x="563137" y="1962883"/>
                </a:lnTo>
                <a:lnTo>
                  <a:pt x="523465" y="1941096"/>
                </a:lnTo>
                <a:lnTo>
                  <a:pt x="484864" y="1917701"/>
                </a:lnTo>
                <a:lnTo>
                  <a:pt x="447382" y="1892744"/>
                </a:lnTo>
                <a:lnTo>
                  <a:pt x="411063" y="1866272"/>
                </a:lnTo>
                <a:lnTo>
                  <a:pt x="375956" y="1838330"/>
                </a:lnTo>
                <a:lnTo>
                  <a:pt x="342107" y="1808965"/>
                </a:lnTo>
                <a:lnTo>
                  <a:pt x="309562" y="1778222"/>
                </a:lnTo>
                <a:lnTo>
                  <a:pt x="278368" y="1746147"/>
                </a:lnTo>
                <a:lnTo>
                  <a:pt x="248572" y="1712786"/>
                </a:lnTo>
                <a:lnTo>
                  <a:pt x="220221" y="1678186"/>
                </a:lnTo>
                <a:lnTo>
                  <a:pt x="193361" y="1642392"/>
                </a:lnTo>
                <a:lnTo>
                  <a:pt x="168038" y="1605449"/>
                </a:lnTo>
                <a:lnTo>
                  <a:pt x="144300" y="1567405"/>
                </a:lnTo>
                <a:lnTo>
                  <a:pt x="122192" y="1528305"/>
                </a:lnTo>
                <a:lnTo>
                  <a:pt x="101763" y="1488195"/>
                </a:lnTo>
                <a:lnTo>
                  <a:pt x="83057" y="1447121"/>
                </a:lnTo>
                <a:lnTo>
                  <a:pt x="66123" y="1405129"/>
                </a:lnTo>
                <a:lnTo>
                  <a:pt x="51006" y="1362264"/>
                </a:lnTo>
                <a:lnTo>
                  <a:pt x="37754" y="1318573"/>
                </a:lnTo>
                <a:lnTo>
                  <a:pt x="26412" y="1274103"/>
                </a:lnTo>
                <a:lnTo>
                  <a:pt x="17028" y="1228897"/>
                </a:lnTo>
                <a:lnTo>
                  <a:pt x="9648" y="1183004"/>
                </a:lnTo>
                <a:lnTo>
                  <a:pt x="4319" y="1136468"/>
                </a:lnTo>
                <a:lnTo>
                  <a:pt x="1087" y="1089336"/>
                </a:lnTo>
                <a:lnTo>
                  <a:pt x="0" y="1041653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54502" y="4626102"/>
            <a:ext cx="414655" cy="256540"/>
          </a:xfrm>
          <a:custGeom>
            <a:avLst/>
            <a:gdLst/>
            <a:ahLst/>
            <a:cxnLst/>
            <a:rect l="l" t="t" r="r" b="b"/>
            <a:pathLst>
              <a:path w="414654" h="256539">
                <a:moveTo>
                  <a:pt x="0" y="256031"/>
                </a:moveTo>
                <a:lnTo>
                  <a:pt x="414527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82873" y="4499609"/>
            <a:ext cx="413384" cy="254635"/>
          </a:xfrm>
          <a:custGeom>
            <a:avLst/>
            <a:gdLst/>
            <a:ahLst/>
            <a:cxnLst/>
            <a:rect l="l" t="t" r="r" b="b"/>
            <a:pathLst>
              <a:path w="413385" h="254635">
                <a:moveTo>
                  <a:pt x="0" y="254507"/>
                </a:moveTo>
                <a:lnTo>
                  <a:pt x="413003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41441" y="3249929"/>
            <a:ext cx="414655" cy="256540"/>
          </a:xfrm>
          <a:custGeom>
            <a:avLst/>
            <a:gdLst/>
            <a:ahLst/>
            <a:cxnLst/>
            <a:rect l="l" t="t" r="r" b="b"/>
            <a:pathLst>
              <a:path w="414654" h="256539">
                <a:moveTo>
                  <a:pt x="0" y="256032"/>
                </a:moveTo>
                <a:lnTo>
                  <a:pt x="414528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68290" y="3123438"/>
            <a:ext cx="416559" cy="254635"/>
          </a:xfrm>
          <a:custGeom>
            <a:avLst/>
            <a:gdLst/>
            <a:ahLst/>
            <a:cxnLst/>
            <a:rect l="l" t="t" r="r" b="b"/>
            <a:pathLst>
              <a:path w="416560" h="254635">
                <a:moveTo>
                  <a:pt x="0" y="254508"/>
                </a:moveTo>
                <a:lnTo>
                  <a:pt x="416051" y="0"/>
                </a:lnTo>
              </a:path>
            </a:pathLst>
          </a:custGeom>
          <a:ln w="126491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95677" y="4638294"/>
            <a:ext cx="1229868" cy="11948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95677" y="4638294"/>
            <a:ext cx="1229995" cy="1195070"/>
          </a:xfrm>
          <a:custGeom>
            <a:avLst/>
            <a:gdLst/>
            <a:ahLst/>
            <a:cxnLst/>
            <a:rect l="l" t="t" r="r" b="b"/>
            <a:pathLst>
              <a:path w="1229995" h="1195070">
                <a:moveTo>
                  <a:pt x="0" y="597407"/>
                </a:moveTo>
                <a:lnTo>
                  <a:pt x="1850" y="550720"/>
                </a:lnTo>
                <a:lnTo>
                  <a:pt x="7309" y="505015"/>
                </a:lnTo>
                <a:lnTo>
                  <a:pt x="16241" y="460425"/>
                </a:lnTo>
                <a:lnTo>
                  <a:pt x="28509" y="417084"/>
                </a:lnTo>
                <a:lnTo>
                  <a:pt x="43976" y="375125"/>
                </a:lnTo>
                <a:lnTo>
                  <a:pt x="62506" y="334680"/>
                </a:lnTo>
                <a:lnTo>
                  <a:pt x="83961" y="295881"/>
                </a:lnTo>
                <a:lnTo>
                  <a:pt x="108204" y="258863"/>
                </a:lnTo>
                <a:lnTo>
                  <a:pt x="135100" y="223756"/>
                </a:lnTo>
                <a:lnTo>
                  <a:pt x="164511" y="190696"/>
                </a:lnTo>
                <a:lnTo>
                  <a:pt x="196301" y="159813"/>
                </a:lnTo>
                <a:lnTo>
                  <a:pt x="230332" y="131241"/>
                </a:lnTo>
                <a:lnTo>
                  <a:pt x="266469" y="105113"/>
                </a:lnTo>
                <a:lnTo>
                  <a:pt x="304574" y="81562"/>
                </a:lnTo>
                <a:lnTo>
                  <a:pt x="344510" y="60720"/>
                </a:lnTo>
                <a:lnTo>
                  <a:pt x="386141" y="42720"/>
                </a:lnTo>
                <a:lnTo>
                  <a:pt x="429331" y="27694"/>
                </a:lnTo>
                <a:lnTo>
                  <a:pt x="473941" y="15777"/>
                </a:lnTo>
                <a:lnTo>
                  <a:pt x="519836" y="7100"/>
                </a:lnTo>
                <a:lnTo>
                  <a:pt x="566879" y="1797"/>
                </a:lnTo>
                <a:lnTo>
                  <a:pt x="614934" y="0"/>
                </a:lnTo>
                <a:lnTo>
                  <a:pt x="662988" y="1797"/>
                </a:lnTo>
                <a:lnTo>
                  <a:pt x="710031" y="7100"/>
                </a:lnTo>
                <a:lnTo>
                  <a:pt x="755926" y="15777"/>
                </a:lnTo>
                <a:lnTo>
                  <a:pt x="800536" y="27694"/>
                </a:lnTo>
                <a:lnTo>
                  <a:pt x="843726" y="42720"/>
                </a:lnTo>
                <a:lnTo>
                  <a:pt x="885357" y="60720"/>
                </a:lnTo>
                <a:lnTo>
                  <a:pt x="925293" y="81562"/>
                </a:lnTo>
                <a:lnTo>
                  <a:pt x="963398" y="105113"/>
                </a:lnTo>
                <a:lnTo>
                  <a:pt x="999535" y="131241"/>
                </a:lnTo>
                <a:lnTo>
                  <a:pt x="1033566" y="159813"/>
                </a:lnTo>
                <a:lnTo>
                  <a:pt x="1065356" y="190696"/>
                </a:lnTo>
                <a:lnTo>
                  <a:pt x="1094767" y="223756"/>
                </a:lnTo>
                <a:lnTo>
                  <a:pt x="1121663" y="258863"/>
                </a:lnTo>
                <a:lnTo>
                  <a:pt x="1145906" y="295881"/>
                </a:lnTo>
                <a:lnTo>
                  <a:pt x="1167361" y="334680"/>
                </a:lnTo>
                <a:lnTo>
                  <a:pt x="1185891" y="375125"/>
                </a:lnTo>
                <a:lnTo>
                  <a:pt x="1201358" y="417084"/>
                </a:lnTo>
                <a:lnTo>
                  <a:pt x="1213626" y="460425"/>
                </a:lnTo>
                <a:lnTo>
                  <a:pt x="1222558" y="505015"/>
                </a:lnTo>
                <a:lnTo>
                  <a:pt x="1228017" y="550720"/>
                </a:lnTo>
                <a:lnTo>
                  <a:pt x="1229868" y="597407"/>
                </a:lnTo>
                <a:lnTo>
                  <a:pt x="1228017" y="644095"/>
                </a:lnTo>
                <a:lnTo>
                  <a:pt x="1222558" y="689800"/>
                </a:lnTo>
                <a:lnTo>
                  <a:pt x="1213626" y="734390"/>
                </a:lnTo>
                <a:lnTo>
                  <a:pt x="1201358" y="777731"/>
                </a:lnTo>
                <a:lnTo>
                  <a:pt x="1185891" y="819690"/>
                </a:lnTo>
                <a:lnTo>
                  <a:pt x="1167361" y="860135"/>
                </a:lnTo>
                <a:lnTo>
                  <a:pt x="1145906" y="898934"/>
                </a:lnTo>
                <a:lnTo>
                  <a:pt x="1121663" y="935952"/>
                </a:lnTo>
                <a:lnTo>
                  <a:pt x="1094767" y="971059"/>
                </a:lnTo>
                <a:lnTo>
                  <a:pt x="1065356" y="1004119"/>
                </a:lnTo>
                <a:lnTo>
                  <a:pt x="1033566" y="1035002"/>
                </a:lnTo>
                <a:lnTo>
                  <a:pt x="999535" y="1063574"/>
                </a:lnTo>
                <a:lnTo>
                  <a:pt x="963398" y="1089702"/>
                </a:lnTo>
                <a:lnTo>
                  <a:pt x="925293" y="1113253"/>
                </a:lnTo>
                <a:lnTo>
                  <a:pt x="885357" y="1134095"/>
                </a:lnTo>
                <a:lnTo>
                  <a:pt x="843726" y="1152095"/>
                </a:lnTo>
                <a:lnTo>
                  <a:pt x="800536" y="1167121"/>
                </a:lnTo>
                <a:lnTo>
                  <a:pt x="755926" y="1179038"/>
                </a:lnTo>
                <a:lnTo>
                  <a:pt x="710031" y="1187715"/>
                </a:lnTo>
                <a:lnTo>
                  <a:pt x="662988" y="1193018"/>
                </a:lnTo>
                <a:lnTo>
                  <a:pt x="614934" y="1194815"/>
                </a:lnTo>
                <a:lnTo>
                  <a:pt x="566879" y="1193018"/>
                </a:lnTo>
                <a:lnTo>
                  <a:pt x="519836" y="1187715"/>
                </a:lnTo>
                <a:lnTo>
                  <a:pt x="473941" y="1179038"/>
                </a:lnTo>
                <a:lnTo>
                  <a:pt x="429331" y="1167121"/>
                </a:lnTo>
                <a:lnTo>
                  <a:pt x="386141" y="1152095"/>
                </a:lnTo>
                <a:lnTo>
                  <a:pt x="344510" y="1134095"/>
                </a:lnTo>
                <a:lnTo>
                  <a:pt x="304574" y="1113253"/>
                </a:lnTo>
                <a:lnTo>
                  <a:pt x="266469" y="1089702"/>
                </a:lnTo>
                <a:lnTo>
                  <a:pt x="230332" y="1063574"/>
                </a:lnTo>
                <a:lnTo>
                  <a:pt x="196301" y="1035002"/>
                </a:lnTo>
                <a:lnTo>
                  <a:pt x="164511" y="1004119"/>
                </a:lnTo>
                <a:lnTo>
                  <a:pt x="135100" y="971059"/>
                </a:lnTo>
                <a:lnTo>
                  <a:pt x="108204" y="935952"/>
                </a:lnTo>
                <a:lnTo>
                  <a:pt x="83961" y="898934"/>
                </a:lnTo>
                <a:lnTo>
                  <a:pt x="62506" y="860135"/>
                </a:lnTo>
                <a:lnTo>
                  <a:pt x="43976" y="819690"/>
                </a:lnTo>
                <a:lnTo>
                  <a:pt x="28509" y="777731"/>
                </a:lnTo>
                <a:lnTo>
                  <a:pt x="16241" y="734390"/>
                </a:lnTo>
                <a:lnTo>
                  <a:pt x="7309" y="689800"/>
                </a:lnTo>
                <a:lnTo>
                  <a:pt x="1850" y="644095"/>
                </a:lnTo>
                <a:lnTo>
                  <a:pt x="0" y="597407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87423" y="5063109"/>
            <a:ext cx="1049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FFFF"/>
                </a:solidFill>
                <a:latin typeface="黑体"/>
                <a:cs typeface="黑体"/>
              </a:rPr>
              <a:t>人员属性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0333" y="4539234"/>
            <a:ext cx="1403985" cy="1381125"/>
          </a:xfrm>
          <a:custGeom>
            <a:avLst/>
            <a:gdLst/>
            <a:ahLst/>
            <a:cxnLst/>
            <a:rect l="l" t="t" r="r" b="b"/>
            <a:pathLst>
              <a:path w="1403985" h="1381125">
                <a:moveTo>
                  <a:pt x="0" y="690372"/>
                </a:moveTo>
                <a:lnTo>
                  <a:pt x="1619" y="643108"/>
                </a:lnTo>
                <a:lnTo>
                  <a:pt x="6406" y="596698"/>
                </a:lnTo>
                <a:lnTo>
                  <a:pt x="14257" y="551245"/>
                </a:lnTo>
                <a:lnTo>
                  <a:pt x="25068" y="506853"/>
                </a:lnTo>
                <a:lnTo>
                  <a:pt x="38733" y="463623"/>
                </a:lnTo>
                <a:lnTo>
                  <a:pt x="55149" y="421659"/>
                </a:lnTo>
                <a:lnTo>
                  <a:pt x="74211" y="381064"/>
                </a:lnTo>
                <a:lnTo>
                  <a:pt x="95814" y="341940"/>
                </a:lnTo>
                <a:lnTo>
                  <a:pt x="119854" y="304390"/>
                </a:lnTo>
                <a:lnTo>
                  <a:pt x="146226" y="268518"/>
                </a:lnTo>
                <a:lnTo>
                  <a:pt x="174826" y="234425"/>
                </a:lnTo>
                <a:lnTo>
                  <a:pt x="205549" y="202215"/>
                </a:lnTo>
                <a:lnTo>
                  <a:pt x="238291" y="171991"/>
                </a:lnTo>
                <a:lnTo>
                  <a:pt x="272947" y="143856"/>
                </a:lnTo>
                <a:lnTo>
                  <a:pt x="309413" y="117912"/>
                </a:lnTo>
                <a:lnTo>
                  <a:pt x="347584" y="94262"/>
                </a:lnTo>
                <a:lnTo>
                  <a:pt x="387356" y="73009"/>
                </a:lnTo>
                <a:lnTo>
                  <a:pt x="428625" y="54256"/>
                </a:lnTo>
                <a:lnTo>
                  <a:pt x="471284" y="38106"/>
                </a:lnTo>
                <a:lnTo>
                  <a:pt x="515231" y="24662"/>
                </a:lnTo>
                <a:lnTo>
                  <a:pt x="560361" y="14027"/>
                </a:lnTo>
                <a:lnTo>
                  <a:pt x="606569" y="6302"/>
                </a:lnTo>
                <a:lnTo>
                  <a:pt x="653751" y="1592"/>
                </a:lnTo>
                <a:lnTo>
                  <a:pt x="701802" y="0"/>
                </a:lnTo>
                <a:lnTo>
                  <a:pt x="749852" y="1592"/>
                </a:lnTo>
                <a:lnTo>
                  <a:pt x="797034" y="6302"/>
                </a:lnTo>
                <a:lnTo>
                  <a:pt x="843242" y="14027"/>
                </a:lnTo>
                <a:lnTo>
                  <a:pt x="888372" y="24662"/>
                </a:lnTo>
                <a:lnTo>
                  <a:pt x="932319" y="38106"/>
                </a:lnTo>
                <a:lnTo>
                  <a:pt x="974978" y="54256"/>
                </a:lnTo>
                <a:lnTo>
                  <a:pt x="1016247" y="73009"/>
                </a:lnTo>
                <a:lnTo>
                  <a:pt x="1056019" y="94262"/>
                </a:lnTo>
                <a:lnTo>
                  <a:pt x="1094190" y="117912"/>
                </a:lnTo>
                <a:lnTo>
                  <a:pt x="1130656" y="143856"/>
                </a:lnTo>
                <a:lnTo>
                  <a:pt x="1165312" y="171991"/>
                </a:lnTo>
                <a:lnTo>
                  <a:pt x="1198054" y="202215"/>
                </a:lnTo>
                <a:lnTo>
                  <a:pt x="1228777" y="234425"/>
                </a:lnTo>
                <a:lnTo>
                  <a:pt x="1257377" y="268518"/>
                </a:lnTo>
                <a:lnTo>
                  <a:pt x="1283749" y="304390"/>
                </a:lnTo>
                <a:lnTo>
                  <a:pt x="1307789" y="341940"/>
                </a:lnTo>
                <a:lnTo>
                  <a:pt x="1329392" y="381064"/>
                </a:lnTo>
                <a:lnTo>
                  <a:pt x="1348454" y="421659"/>
                </a:lnTo>
                <a:lnTo>
                  <a:pt x="1364870" y="463623"/>
                </a:lnTo>
                <a:lnTo>
                  <a:pt x="1378535" y="506853"/>
                </a:lnTo>
                <a:lnTo>
                  <a:pt x="1389346" y="551245"/>
                </a:lnTo>
                <a:lnTo>
                  <a:pt x="1397197" y="596698"/>
                </a:lnTo>
                <a:lnTo>
                  <a:pt x="1401984" y="643108"/>
                </a:lnTo>
                <a:lnTo>
                  <a:pt x="1403604" y="690372"/>
                </a:lnTo>
                <a:lnTo>
                  <a:pt x="1401984" y="737638"/>
                </a:lnTo>
                <a:lnTo>
                  <a:pt x="1397197" y="784050"/>
                </a:lnTo>
                <a:lnTo>
                  <a:pt x="1389346" y="829505"/>
                </a:lnTo>
                <a:lnTo>
                  <a:pt x="1378535" y="873899"/>
                </a:lnTo>
                <a:lnTo>
                  <a:pt x="1364870" y="917130"/>
                </a:lnTo>
                <a:lnTo>
                  <a:pt x="1348454" y="959094"/>
                </a:lnTo>
                <a:lnTo>
                  <a:pt x="1329392" y="999690"/>
                </a:lnTo>
                <a:lnTo>
                  <a:pt x="1307789" y="1038814"/>
                </a:lnTo>
                <a:lnTo>
                  <a:pt x="1283749" y="1076364"/>
                </a:lnTo>
                <a:lnTo>
                  <a:pt x="1257377" y="1112236"/>
                </a:lnTo>
                <a:lnTo>
                  <a:pt x="1228777" y="1146328"/>
                </a:lnTo>
                <a:lnTo>
                  <a:pt x="1198054" y="1178537"/>
                </a:lnTo>
                <a:lnTo>
                  <a:pt x="1165312" y="1208760"/>
                </a:lnTo>
                <a:lnTo>
                  <a:pt x="1130656" y="1236895"/>
                </a:lnTo>
                <a:lnTo>
                  <a:pt x="1094190" y="1262838"/>
                </a:lnTo>
                <a:lnTo>
                  <a:pt x="1056019" y="1286487"/>
                </a:lnTo>
                <a:lnTo>
                  <a:pt x="1016247" y="1307739"/>
                </a:lnTo>
                <a:lnTo>
                  <a:pt x="974978" y="1326490"/>
                </a:lnTo>
                <a:lnTo>
                  <a:pt x="932319" y="1342639"/>
                </a:lnTo>
                <a:lnTo>
                  <a:pt x="888372" y="1356083"/>
                </a:lnTo>
                <a:lnTo>
                  <a:pt x="843242" y="1366717"/>
                </a:lnTo>
                <a:lnTo>
                  <a:pt x="797034" y="1374441"/>
                </a:lnTo>
                <a:lnTo>
                  <a:pt x="749852" y="1379151"/>
                </a:lnTo>
                <a:lnTo>
                  <a:pt x="701802" y="1380744"/>
                </a:lnTo>
                <a:lnTo>
                  <a:pt x="653751" y="1379151"/>
                </a:lnTo>
                <a:lnTo>
                  <a:pt x="606569" y="1374441"/>
                </a:lnTo>
                <a:lnTo>
                  <a:pt x="560361" y="1366717"/>
                </a:lnTo>
                <a:lnTo>
                  <a:pt x="515231" y="1356083"/>
                </a:lnTo>
                <a:lnTo>
                  <a:pt x="471284" y="1342639"/>
                </a:lnTo>
                <a:lnTo>
                  <a:pt x="428625" y="1326490"/>
                </a:lnTo>
                <a:lnTo>
                  <a:pt x="387356" y="1307739"/>
                </a:lnTo>
                <a:lnTo>
                  <a:pt x="347584" y="1286487"/>
                </a:lnTo>
                <a:lnTo>
                  <a:pt x="309413" y="1262838"/>
                </a:lnTo>
                <a:lnTo>
                  <a:pt x="272947" y="1236895"/>
                </a:lnTo>
                <a:lnTo>
                  <a:pt x="238291" y="1208760"/>
                </a:lnTo>
                <a:lnTo>
                  <a:pt x="205549" y="1178537"/>
                </a:lnTo>
                <a:lnTo>
                  <a:pt x="174826" y="1146328"/>
                </a:lnTo>
                <a:lnTo>
                  <a:pt x="146226" y="1112236"/>
                </a:lnTo>
                <a:lnTo>
                  <a:pt x="119854" y="1076364"/>
                </a:lnTo>
                <a:lnTo>
                  <a:pt x="95814" y="1038814"/>
                </a:lnTo>
                <a:lnTo>
                  <a:pt x="74211" y="999690"/>
                </a:lnTo>
                <a:lnTo>
                  <a:pt x="55149" y="959094"/>
                </a:lnTo>
                <a:lnTo>
                  <a:pt x="38733" y="917130"/>
                </a:lnTo>
                <a:lnTo>
                  <a:pt x="25068" y="873899"/>
                </a:lnTo>
                <a:lnTo>
                  <a:pt x="14257" y="829505"/>
                </a:lnTo>
                <a:lnTo>
                  <a:pt x="6406" y="784050"/>
                </a:lnTo>
                <a:lnTo>
                  <a:pt x="1619" y="737638"/>
                </a:lnTo>
                <a:lnTo>
                  <a:pt x="0" y="690372"/>
                </a:lnTo>
                <a:close/>
              </a:path>
            </a:pathLst>
          </a:custGeom>
          <a:ln w="126491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46910" y="2234945"/>
            <a:ext cx="1226820" cy="11948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46910" y="2234945"/>
            <a:ext cx="1226820" cy="1195070"/>
          </a:xfrm>
          <a:custGeom>
            <a:avLst/>
            <a:gdLst/>
            <a:ahLst/>
            <a:cxnLst/>
            <a:rect l="l" t="t" r="r" b="b"/>
            <a:pathLst>
              <a:path w="1226820" h="1195070">
                <a:moveTo>
                  <a:pt x="0" y="597407"/>
                </a:moveTo>
                <a:lnTo>
                  <a:pt x="1845" y="550720"/>
                </a:lnTo>
                <a:lnTo>
                  <a:pt x="7289" y="505015"/>
                </a:lnTo>
                <a:lnTo>
                  <a:pt x="16197" y="460425"/>
                </a:lnTo>
                <a:lnTo>
                  <a:pt x="28432" y="417084"/>
                </a:lnTo>
                <a:lnTo>
                  <a:pt x="43857" y="375125"/>
                </a:lnTo>
                <a:lnTo>
                  <a:pt x="62337" y="334680"/>
                </a:lnTo>
                <a:lnTo>
                  <a:pt x="83735" y="295881"/>
                </a:lnTo>
                <a:lnTo>
                  <a:pt x="107915" y="258863"/>
                </a:lnTo>
                <a:lnTo>
                  <a:pt x="134740" y="223756"/>
                </a:lnTo>
                <a:lnTo>
                  <a:pt x="164075" y="190696"/>
                </a:lnTo>
                <a:lnTo>
                  <a:pt x="195783" y="159813"/>
                </a:lnTo>
                <a:lnTo>
                  <a:pt x="229728" y="131241"/>
                </a:lnTo>
                <a:lnTo>
                  <a:pt x="265774" y="105113"/>
                </a:lnTo>
                <a:lnTo>
                  <a:pt x="303783" y="81562"/>
                </a:lnTo>
                <a:lnTo>
                  <a:pt x="343622" y="60720"/>
                </a:lnTo>
                <a:lnTo>
                  <a:pt x="385151" y="42720"/>
                </a:lnTo>
                <a:lnTo>
                  <a:pt x="428237" y="27694"/>
                </a:lnTo>
                <a:lnTo>
                  <a:pt x="472742" y="15777"/>
                </a:lnTo>
                <a:lnTo>
                  <a:pt x="518530" y="7100"/>
                </a:lnTo>
                <a:lnTo>
                  <a:pt x="565464" y="1797"/>
                </a:lnTo>
                <a:lnTo>
                  <a:pt x="613409" y="0"/>
                </a:lnTo>
                <a:lnTo>
                  <a:pt x="661355" y="1797"/>
                </a:lnTo>
                <a:lnTo>
                  <a:pt x="708289" y="7100"/>
                </a:lnTo>
                <a:lnTo>
                  <a:pt x="754077" y="15777"/>
                </a:lnTo>
                <a:lnTo>
                  <a:pt x="798582" y="27694"/>
                </a:lnTo>
                <a:lnTo>
                  <a:pt x="841668" y="42720"/>
                </a:lnTo>
                <a:lnTo>
                  <a:pt x="883197" y="60720"/>
                </a:lnTo>
                <a:lnTo>
                  <a:pt x="923036" y="81562"/>
                </a:lnTo>
                <a:lnTo>
                  <a:pt x="961045" y="105113"/>
                </a:lnTo>
                <a:lnTo>
                  <a:pt x="997091" y="131241"/>
                </a:lnTo>
                <a:lnTo>
                  <a:pt x="1031036" y="159813"/>
                </a:lnTo>
                <a:lnTo>
                  <a:pt x="1062744" y="190696"/>
                </a:lnTo>
                <a:lnTo>
                  <a:pt x="1092079" y="223756"/>
                </a:lnTo>
                <a:lnTo>
                  <a:pt x="1118904" y="258863"/>
                </a:lnTo>
                <a:lnTo>
                  <a:pt x="1143084" y="295881"/>
                </a:lnTo>
                <a:lnTo>
                  <a:pt x="1164482" y="334680"/>
                </a:lnTo>
                <a:lnTo>
                  <a:pt x="1182962" y="375125"/>
                </a:lnTo>
                <a:lnTo>
                  <a:pt x="1198387" y="417084"/>
                </a:lnTo>
                <a:lnTo>
                  <a:pt x="1210622" y="460425"/>
                </a:lnTo>
                <a:lnTo>
                  <a:pt x="1219530" y="505015"/>
                </a:lnTo>
                <a:lnTo>
                  <a:pt x="1224974" y="550720"/>
                </a:lnTo>
                <a:lnTo>
                  <a:pt x="1226820" y="597407"/>
                </a:lnTo>
                <a:lnTo>
                  <a:pt x="1224974" y="644095"/>
                </a:lnTo>
                <a:lnTo>
                  <a:pt x="1219530" y="689800"/>
                </a:lnTo>
                <a:lnTo>
                  <a:pt x="1210622" y="734390"/>
                </a:lnTo>
                <a:lnTo>
                  <a:pt x="1198387" y="777731"/>
                </a:lnTo>
                <a:lnTo>
                  <a:pt x="1182962" y="819690"/>
                </a:lnTo>
                <a:lnTo>
                  <a:pt x="1164482" y="860135"/>
                </a:lnTo>
                <a:lnTo>
                  <a:pt x="1143084" y="898934"/>
                </a:lnTo>
                <a:lnTo>
                  <a:pt x="1118904" y="935952"/>
                </a:lnTo>
                <a:lnTo>
                  <a:pt x="1092079" y="971059"/>
                </a:lnTo>
                <a:lnTo>
                  <a:pt x="1062744" y="1004119"/>
                </a:lnTo>
                <a:lnTo>
                  <a:pt x="1031036" y="1035002"/>
                </a:lnTo>
                <a:lnTo>
                  <a:pt x="997091" y="1063574"/>
                </a:lnTo>
                <a:lnTo>
                  <a:pt x="961045" y="1089702"/>
                </a:lnTo>
                <a:lnTo>
                  <a:pt x="923035" y="1113253"/>
                </a:lnTo>
                <a:lnTo>
                  <a:pt x="883197" y="1134095"/>
                </a:lnTo>
                <a:lnTo>
                  <a:pt x="841668" y="1152095"/>
                </a:lnTo>
                <a:lnTo>
                  <a:pt x="798582" y="1167121"/>
                </a:lnTo>
                <a:lnTo>
                  <a:pt x="754077" y="1179038"/>
                </a:lnTo>
                <a:lnTo>
                  <a:pt x="708289" y="1187715"/>
                </a:lnTo>
                <a:lnTo>
                  <a:pt x="661355" y="1193018"/>
                </a:lnTo>
                <a:lnTo>
                  <a:pt x="613409" y="1194815"/>
                </a:lnTo>
                <a:lnTo>
                  <a:pt x="565464" y="1193018"/>
                </a:lnTo>
                <a:lnTo>
                  <a:pt x="518530" y="1187715"/>
                </a:lnTo>
                <a:lnTo>
                  <a:pt x="472742" y="1179038"/>
                </a:lnTo>
                <a:lnTo>
                  <a:pt x="428237" y="1167121"/>
                </a:lnTo>
                <a:lnTo>
                  <a:pt x="385151" y="1152095"/>
                </a:lnTo>
                <a:lnTo>
                  <a:pt x="343622" y="1134095"/>
                </a:lnTo>
                <a:lnTo>
                  <a:pt x="303783" y="1113253"/>
                </a:lnTo>
                <a:lnTo>
                  <a:pt x="265774" y="1089702"/>
                </a:lnTo>
                <a:lnTo>
                  <a:pt x="229728" y="1063574"/>
                </a:lnTo>
                <a:lnTo>
                  <a:pt x="195783" y="1035002"/>
                </a:lnTo>
                <a:lnTo>
                  <a:pt x="164075" y="1004119"/>
                </a:lnTo>
                <a:lnTo>
                  <a:pt x="134740" y="971059"/>
                </a:lnTo>
                <a:lnTo>
                  <a:pt x="107915" y="935952"/>
                </a:lnTo>
                <a:lnTo>
                  <a:pt x="83735" y="898934"/>
                </a:lnTo>
                <a:lnTo>
                  <a:pt x="62337" y="860135"/>
                </a:lnTo>
                <a:lnTo>
                  <a:pt x="43857" y="819690"/>
                </a:lnTo>
                <a:lnTo>
                  <a:pt x="28432" y="777731"/>
                </a:lnTo>
                <a:lnTo>
                  <a:pt x="16197" y="734390"/>
                </a:lnTo>
                <a:lnTo>
                  <a:pt x="7289" y="689800"/>
                </a:lnTo>
                <a:lnTo>
                  <a:pt x="1845" y="644095"/>
                </a:lnTo>
                <a:lnTo>
                  <a:pt x="0" y="597407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063876" y="2603957"/>
            <a:ext cx="10496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黑体"/>
                <a:cs typeface="黑体"/>
              </a:rPr>
              <a:t>产品属性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60042" y="2134361"/>
            <a:ext cx="1405255" cy="1382395"/>
          </a:xfrm>
          <a:custGeom>
            <a:avLst/>
            <a:gdLst/>
            <a:ahLst/>
            <a:cxnLst/>
            <a:rect l="l" t="t" r="r" b="b"/>
            <a:pathLst>
              <a:path w="1405254" h="1382395">
                <a:moveTo>
                  <a:pt x="0" y="691134"/>
                </a:moveTo>
                <a:lnTo>
                  <a:pt x="1620" y="643807"/>
                </a:lnTo>
                <a:lnTo>
                  <a:pt x="6414" y="597338"/>
                </a:lnTo>
                <a:lnTo>
                  <a:pt x="14274" y="551829"/>
                </a:lnTo>
                <a:lnTo>
                  <a:pt x="25098" y="507382"/>
                </a:lnTo>
                <a:lnTo>
                  <a:pt x="38780" y="464101"/>
                </a:lnTo>
                <a:lnTo>
                  <a:pt x="55215" y="422088"/>
                </a:lnTo>
                <a:lnTo>
                  <a:pt x="74299" y="381446"/>
                </a:lnTo>
                <a:lnTo>
                  <a:pt x="95927" y="342279"/>
                </a:lnTo>
                <a:lnTo>
                  <a:pt x="119994" y="304688"/>
                </a:lnTo>
                <a:lnTo>
                  <a:pt x="146397" y="268777"/>
                </a:lnTo>
                <a:lnTo>
                  <a:pt x="175029" y="234649"/>
                </a:lnTo>
                <a:lnTo>
                  <a:pt x="205787" y="202406"/>
                </a:lnTo>
                <a:lnTo>
                  <a:pt x="238566" y="172151"/>
                </a:lnTo>
                <a:lnTo>
                  <a:pt x="273261" y="143988"/>
                </a:lnTo>
                <a:lnTo>
                  <a:pt x="309767" y="118019"/>
                </a:lnTo>
                <a:lnTo>
                  <a:pt x="347979" y="94346"/>
                </a:lnTo>
                <a:lnTo>
                  <a:pt x="387794" y="73074"/>
                </a:lnTo>
                <a:lnTo>
                  <a:pt x="429107" y="54304"/>
                </a:lnTo>
                <a:lnTo>
                  <a:pt x="471812" y="38139"/>
                </a:lnTo>
                <a:lnTo>
                  <a:pt x="515805" y="24683"/>
                </a:lnTo>
                <a:lnTo>
                  <a:pt x="560981" y="14038"/>
                </a:lnTo>
                <a:lnTo>
                  <a:pt x="607236" y="6308"/>
                </a:lnTo>
                <a:lnTo>
                  <a:pt x="654465" y="1594"/>
                </a:lnTo>
                <a:lnTo>
                  <a:pt x="702563" y="0"/>
                </a:lnTo>
                <a:lnTo>
                  <a:pt x="750662" y="1594"/>
                </a:lnTo>
                <a:lnTo>
                  <a:pt x="797891" y="6308"/>
                </a:lnTo>
                <a:lnTo>
                  <a:pt x="844146" y="14038"/>
                </a:lnTo>
                <a:lnTo>
                  <a:pt x="889322" y="24683"/>
                </a:lnTo>
                <a:lnTo>
                  <a:pt x="933315" y="38139"/>
                </a:lnTo>
                <a:lnTo>
                  <a:pt x="976020" y="54304"/>
                </a:lnTo>
                <a:lnTo>
                  <a:pt x="1017333" y="73074"/>
                </a:lnTo>
                <a:lnTo>
                  <a:pt x="1057148" y="94346"/>
                </a:lnTo>
                <a:lnTo>
                  <a:pt x="1095360" y="118019"/>
                </a:lnTo>
                <a:lnTo>
                  <a:pt x="1131866" y="143988"/>
                </a:lnTo>
                <a:lnTo>
                  <a:pt x="1166561" y="172151"/>
                </a:lnTo>
                <a:lnTo>
                  <a:pt x="1199340" y="202406"/>
                </a:lnTo>
                <a:lnTo>
                  <a:pt x="1230098" y="234649"/>
                </a:lnTo>
                <a:lnTo>
                  <a:pt x="1258730" y="268777"/>
                </a:lnTo>
                <a:lnTo>
                  <a:pt x="1285133" y="304688"/>
                </a:lnTo>
                <a:lnTo>
                  <a:pt x="1309200" y="342279"/>
                </a:lnTo>
                <a:lnTo>
                  <a:pt x="1330828" y="381446"/>
                </a:lnTo>
                <a:lnTo>
                  <a:pt x="1349912" y="422088"/>
                </a:lnTo>
                <a:lnTo>
                  <a:pt x="1366347" y="464101"/>
                </a:lnTo>
                <a:lnTo>
                  <a:pt x="1380029" y="507382"/>
                </a:lnTo>
                <a:lnTo>
                  <a:pt x="1390853" y="551829"/>
                </a:lnTo>
                <a:lnTo>
                  <a:pt x="1398713" y="597338"/>
                </a:lnTo>
                <a:lnTo>
                  <a:pt x="1403507" y="643807"/>
                </a:lnTo>
                <a:lnTo>
                  <a:pt x="1405128" y="691134"/>
                </a:lnTo>
                <a:lnTo>
                  <a:pt x="1403507" y="738460"/>
                </a:lnTo>
                <a:lnTo>
                  <a:pt x="1398713" y="784929"/>
                </a:lnTo>
                <a:lnTo>
                  <a:pt x="1390853" y="830438"/>
                </a:lnTo>
                <a:lnTo>
                  <a:pt x="1380029" y="874885"/>
                </a:lnTo>
                <a:lnTo>
                  <a:pt x="1366347" y="918166"/>
                </a:lnTo>
                <a:lnTo>
                  <a:pt x="1349912" y="960179"/>
                </a:lnTo>
                <a:lnTo>
                  <a:pt x="1330828" y="1000821"/>
                </a:lnTo>
                <a:lnTo>
                  <a:pt x="1309200" y="1039988"/>
                </a:lnTo>
                <a:lnTo>
                  <a:pt x="1285133" y="1077579"/>
                </a:lnTo>
                <a:lnTo>
                  <a:pt x="1258730" y="1113490"/>
                </a:lnTo>
                <a:lnTo>
                  <a:pt x="1230098" y="1147618"/>
                </a:lnTo>
                <a:lnTo>
                  <a:pt x="1199340" y="1179861"/>
                </a:lnTo>
                <a:lnTo>
                  <a:pt x="1166561" y="1210116"/>
                </a:lnTo>
                <a:lnTo>
                  <a:pt x="1131866" y="1238279"/>
                </a:lnTo>
                <a:lnTo>
                  <a:pt x="1095360" y="1264248"/>
                </a:lnTo>
                <a:lnTo>
                  <a:pt x="1057148" y="1287921"/>
                </a:lnTo>
                <a:lnTo>
                  <a:pt x="1017333" y="1309193"/>
                </a:lnTo>
                <a:lnTo>
                  <a:pt x="976020" y="1327963"/>
                </a:lnTo>
                <a:lnTo>
                  <a:pt x="933315" y="1344128"/>
                </a:lnTo>
                <a:lnTo>
                  <a:pt x="889322" y="1357584"/>
                </a:lnTo>
                <a:lnTo>
                  <a:pt x="844146" y="1368229"/>
                </a:lnTo>
                <a:lnTo>
                  <a:pt x="797891" y="1375959"/>
                </a:lnTo>
                <a:lnTo>
                  <a:pt x="750662" y="1380673"/>
                </a:lnTo>
                <a:lnTo>
                  <a:pt x="702563" y="1382267"/>
                </a:lnTo>
                <a:lnTo>
                  <a:pt x="654465" y="1380673"/>
                </a:lnTo>
                <a:lnTo>
                  <a:pt x="607236" y="1375959"/>
                </a:lnTo>
                <a:lnTo>
                  <a:pt x="560981" y="1368229"/>
                </a:lnTo>
                <a:lnTo>
                  <a:pt x="515805" y="1357584"/>
                </a:lnTo>
                <a:lnTo>
                  <a:pt x="471812" y="1344128"/>
                </a:lnTo>
                <a:lnTo>
                  <a:pt x="429107" y="1327963"/>
                </a:lnTo>
                <a:lnTo>
                  <a:pt x="387794" y="1309193"/>
                </a:lnTo>
                <a:lnTo>
                  <a:pt x="347980" y="1287921"/>
                </a:lnTo>
                <a:lnTo>
                  <a:pt x="309767" y="1264248"/>
                </a:lnTo>
                <a:lnTo>
                  <a:pt x="273261" y="1238279"/>
                </a:lnTo>
                <a:lnTo>
                  <a:pt x="238566" y="1210116"/>
                </a:lnTo>
                <a:lnTo>
                  <a:pt x="205787" y="1179861"/>
                </a:lnTo>
                <a:lnTo>
                  <a:pt x="175029" y="1147618"/>
                </a:lnTo>
                <a:lnTo>
                  <a:pt x="146397" y="1113490"/>
                </a:lnTo>
                <a:lnTo>
                  <a:pt x="119994" y="1077579"/>
                </a:lnTo>
                <a:lnTo>
                  <a:pt x="95927" y="1039988"/>
                </a:lnTo>
                <a:lnTo>
                  <a:pt x="74299" y="1000821"/>
                </a:lnTo>
                <a:lnTo>
                  <a:pt x="55215" y="960179"/>
                </a:lnTo>
                <a:lnTo>
                  <a:pt x="38780" y="918166"/>
                </a:lnTo>
                <a:lnTo>
                  <a:pt x="25098" y="874885"/>
                </a:lnTo>
                <a:lnTo>
                  <a:pt x="14274" y="830438"/>
                </a:lnTo>
                <a:lnTo>
                  <a:pt x="6414" y="784929"/>
                </a:lnTo>
                <a:lnTo>
                  <a:pt x="1620" y="738460"/>
                </a:lnTo>
                <a:lnTo>
                  <a:pt x="0" y="691134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58489" y="3158489"/>
            <a:ext cx="478790" cy="288290"/>
          </a:xfrm>
          <a:custGeom>
            <a:avLst/>
            <a:gdLst/>
            <a:ahLst/>
            <a:cxnLst/>
            <a:rect l="l" t="t" r="r" b="b"/>
            <a:pathLst>
              <a:path w="478789" h="288289">
                <a:moveTo>
                  <a:pt x="0" y="0"/>
                </a:moveTo>
                <a:lnTo>
                  <a:pt x="478536" y="288036"/>
                </a:lnTo>
              </a:path>
            </a:pathLst>
          </a:custGeom>
          <a:ln w="126491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85338" y="3280409"/>
            <a:ext cx="480059" cy="288290"/>
          </a:xfrm>
          <a:custGeom>
            <a:avLst/>
            <a:gdLst/>
            <a:ahLst/>
            <a:cxnLst/>
            <a:rect l="l" t="t" r="r" b="b"/>
            <a:pathLst>
              <a:path w="480060" h="288289">
                <a:moveTo>
                  <a:pt x="0" y="0"/>
                </a:moveTo>
                <a:lnTo>
                  <a:pt x="480060" y="288036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87390" y="2334005"/>
            <a:ext cx="1226819" cy="11963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87390" y="2334005"/>
            <a:ext cx="1226820" cy="1196340"/>
          </a:xfrm>
          <a:custGeom>
            <a:avLst/>
            <a:gdLst/>
            <a:ahLst/>
            <a:cxnLst/>
            <a:rect l="l" t="t" r="r" b="b"/>
            <a:pathLst>
              <a:path w="1226820" h="1196339">
                <a:moveTo>
                  <a:pt x="0" y="598170"/>
                </a:moveTo>
                <a:lnTo>
                  <a:pt x="1845" y="551427"/>
                </a:lnTo>
                <a:lnTo>
                  <a:pt x="7289" y="505668"/>
                </a:lnTo>
                <a:lnTo>
                  <a:pt x="16197" y="461025"/>
                </a:lnTo>
                <a:lnTo>
                  <a:pt x="28432" y="417631"/>
                </a:lnTo>
                <a:lnTo>
                  <a:pt x="43857" y="375620"/>
                </a:lnTo>
                <a:lnTo>
                  <a:pt x="62337" y="335124"/>
                </a:lnTo>
                <a:lnTo>
                  <a:pt x="83735" y="296276"/>
                </a:lnTo>
                <a:lnTo>
                  <a:pt x="107915" y="259210"/>
                </a:lnTo>
                <a:lnTo>
                  <a:pt x="134740" y="224059"/>
                </a:lnTo>
                <a:lnTo>
                  <a:pt x="164075" y="190955"/>
                </a:lnTo>
                <a:lnTo>
                  <a:pt x="195783" y="160031"/>
                </a:lnTo>
                <a:lnTo>
                  <a:pt x="229728" y="131421"/>
                </a:lnTo>
                <a:lnTo>
                  <a:pt x="265774" y="105258"/>
                </a:lnTo>
                <a:lnTo>
                  <a:pt x="303784" y="81675"/>
                </a:lnTo>
                <a:lnTo>
                  <a:pt x="343622" y="60804"/>
                </a:lnTo>
                <a:lnTo>
                  <a:pt x="385151" y="42779"/>
                </a:lnTo>
                <a:lnTo>
                  <a:pt x="428237" y="27733"/>
                </a:lnTo>
                <a:lnTo>
                  <a:pt x="472742" y="15799"/>
                </a:lnTo>
                <a:lnTo>
                  <a:pt x="518530" y="7110"/>
                </a:lnTo>
                <a:lnTo>
                  <a:pt x="565464" y="1799"/>
                </a:lnTo>
                <a:lnTo>
                  <a:pt x="613410" y="0"/>
                </a:lnTo>
                <a:lnTo>
                  <a:pt x="661355" y="1799"/>
                </a:lnTo>
                <a:lnTo>
                  <a:pt x="708289" y="7110"/>
                </a:lnTo>
                <a:lnTo>
                  <a:pt x="754077" y="15799"/>
                </a:lnTo>
                <a:lnTo>
                  <a:pt x="798582" y="27733"/>
                </a:lnTo>
                <a:lnTo>
                  <a:pt x="841668" y="42779"/>
                </a:lnTo>
                <a:lnTo>
                  <a:pt x="883197" y="60804"/>
                </a:lnTo>
                <a:lnTo>
                  <a:pt x="923036" y="81675"/>
                </a:lnTo>
                <a:lnTo>
                  <a:pt x="961045" y="105258"/>
                </a:lnTo>
                <a:lnTo>
                  <a:pt x="997091" y="131421"/>
                </a:lnTo>
                <a:lnTo>
                  <a:pt x="1031036" y="160031"/>
                </a:lnTo>
                <a:lnTo>
                  <a:pt x="1062744" y="190955"/>
                </a:lnTo>
                <a:lnTo>
                  <a:pt x="1092079" y="224059"/>
                </a:lnTo>
                <a:lnTo>
                  <a:pt x="1118904" y="259210"/>
                </a:lnTo>
                <a:lnTo>
                  <a:pt x="1143084" y="296276"/>
                </a:lnTo>
                <a:lnTo>
                  <a:pt x="1164482" y="335124"/>
                </a:lnTo>
                <a:lnTo>
                  <a:pt x="1182962" y="375620"/>
                </a:lnTo>
                <a:lnTo>
                  <a:pt x="1198387" y="417631"/>
                </a:lnTo>
                <a:lnTo>
                  <a:pt x="1210622" y="461025"/>
                </a:lnTo>
                <a:lnTo>
                  <a:pt x="1219530" y="505668"/>
                </a:lnTo>
                <a:lnTo>
                  <a:pt x="1224974" y="551427"/>
                </a:lnTo>
                <a:lnTo>
                  <a:pt x="1226819" y="598170"/>
                </a:lnTo>
                <a:lnTo>
                  <a:pt x="1224974" y="644912"/>
                </a:lnTo>
                <a:lnTo>
                  <a:pt x="1219530" y="690671"/>
                </a:lnTo>
                <a:lnTo>
                  <a:pt x="1210622" y="735314"/>
                </a:lnTo>
                <a:lnTo>
                  <a:pt x="1198387" y="778708"/>
                </a:lnTo>
                <a:lnTo>
                  <a:pt x="1182962" y="820719"/>
                </a:lnTo>
                <a:lnTo>
                  <a:pt x="1164482" y="861215"/>
                </a:lnTo>
                <a:lnTo>
                  <a:pt x="1143084" y="900063"/>
                </a:lnTo>
                <a:lnTo>
                  <a:pt x="1118904" y="937129"/>
                </a:lnTo>
                <a:lnTo>
                  <a:pt x="1092079" y="972280"/>
                </a:lnTo>
                <a:lnTo>
                  <a:pt x="1062744" y="1005384"/>
                </a:lnTo>
                <a:lnTo>
                  <a:pt x="1031036" y="1036308"/>
                </a:lnTo>
                <a:lnTo>
                  <a:pt x="997091" y="1064918"/>
                </a:lnTo>
                <a:lnTo>
                  <a:pt x="961045" y="1091081"/>
                </a:lnTo>
                <a:lnTo>
                  <a:pt x="923036" y="1114664"/>
                </a:lnTo>
                <a:lnTo>
                  <a:pt x="883197" y="1135535"/>
                </a:lnTo>
                <a:lnTo>
                  <a:pt x="841668" y="1153560"/>
                </a:lnTo>
                <a:lnTo>
                  <a:pt x="798582" y="1168606"/>
                </a:lnTo>
                <a:lnTo>
                  <a:pt x="754077" y="1180540"/>
                </a:lnTo>
                <a:lnTo>
                  <a:pt x="708289" y="1189229"/>
                </a:lnTo>
                <a:lnTo>
                  <a:pt x="661355" y="1194540"/>
                </a:lnTo>
                <a:lnTo>
                  <a:pt x="613410" y="1196340"/>
                </a:lnTo>
                <a:lnTo>
                  <a:pt x="565464" y="1194540"/>
                </a:lnTo>
                <a:lnTo>
                  <a:pt x="518530" y="1189229"/>
                </a:lnTo>
                <a:lnTo>
                  <a:pt x="472742" y="1180540"/>
                </a:lnTo>
                <a:lnTo>
                  <a:pt x="428237" y="1168606"/>
                </a:lnTo>
                <a:lnTo>
                  <a:pt x="385151" y="1153560"/>
                </a:lnTo>
                <a:lnTo>
                  <a:pt x="343622" y="1135535"/>
                </a:lnTo>
                <a:lnTo>
                  <a:pt x="303784" y="1114664"/>
                </a:lnTo>
                <a:lnTo>
                  <a:pt x="265774" y="1091081"/>
                </a:lnTo>
                <a:lnTo>
                  <a:pt x="229728" y="1064918"/>
                </a:lnTo>
                <a:lnTo>
                  <a:pt x="195783" y="1036308"/>
                </a:lnTo>
                <a:lnTo>
                  <a:pt x="164075" y="1005384"/>
                </a:lnTo>
                <a:lnTo>
                  <a:pt x="134740" y="972280"/>
                </a:lnTo>
                <a:lnTo>
                  <a:pt x="107915" y="937129"/>
                </a:lnTo>
                <a:lnTo>
                  <a:pt x="83735" y="900063"/>
                </a:lnTo>
                <a:lnTo>
                  <a:pt x="62337" y="861215"/>
                </a:lnTo>
                <a:lnTo>
                  <a:pt x="43857" y="820719"/>
                </a:lnTo>
                <a:lnTo>
                  <a:pt x="28432" y="778708"/>
                </a:lnTo>
                <a:lnTo>
                  <a:pt x="16197" y="735314"/>
                </a:lnTo>
                <a:lnTo>
                  <a:pt x="7289" y="690671"/>
                </a:lnTo>
                <a:lnTo>
                  <a:pt x="1845" y="644912"/>
                </a:lnTo>
                <a:lnTo>
                  <a:pt x="0" y="598170"/>
                </a:lnTo>
                <a:close/>
              </a:path>
            </a:pathLst>
          </a:custGeom>
          <a:ln w="38099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926582" y="2707894"/>
            <a:ext cx="1049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FFFF"/>
                </a:solidFill>
                <a:latin typeface="黑体"/>
                <a:cs typeface="黑体"/>
              </a:rPr>
              <a:t>平台属性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98997" y="2134361"/>
            <a:ext cx="1403985" cy="1382395"/>
          </a:xfrm>
          <a:custGeom>
            <a:avLst/>
            <a:gdLst/>
            <a:ahLst/>
            <a:cxnLst/>
            <a:rect l="l" t="t" r="r" b="b"/>
            <a:pathLst>
              <a:path w="1403984" h="1382395">
                <a:moveTo>
                  <a:pt x="0" y="691134"/>
                </a:moveTo>
                <a:lnTo>
                  <a:pt x="1619" y="643807"/>
                </a:lnTo>
                <a:lnTo>
                  <a:pt x="6406" y="597338"/>
                </a:lnTo>
                <a:lnTo>
                  <a:pt x="14257" y="551829"/>
                </a:lnTo>
                <a:lnTo>
                  <a:pt x="25068" y="507382"/>
                </a:lnTo>
                <a:lnTo>
                  <a:pt x="38733" y="464101"/>
                </a:lnTo>
                <a:lnTo>
                  <a:pt x="55149" y="422088"/>
                </a:lnTo>
                <a:lnTo>
                  <a:pt x="74211" y="381446"/>
                </a:lnTo>
                <a:lnTo>
                  <a:pt x="95814" y="342279"/>
                </a:lnTo>
                <a:lnTo>
                  <a:pt x="119854" y="304688"/>
                </a:lnTo>
                <a:lnTo>
                  <a:pt x="146226" y="268777"/>
                </a:lnTo>
                <a:lnTo>
                  <a:pt x="174826" y="234649"/>
                </a:lnTo>
                <a:lnTo>
                  <a:pt x="205549" y="202406"/>
                </a:lnTo>
                <a:lnTo>
                  <a:pt x="238291" y="172151"/>
                </a:lnTo>
                <a:lnTo>
                  <a:pt x="272947" y="143988"/>
                </a:lnTo>
                <a:lnTo>
                  <a:pt x="309413" y="118019"/>
                </a:lnTo>
                <a:lnTo>
                  <a:pt x="347584" y="94346"/>
                </a:lnTo>
                <a:lnTo>
                  <a:pt x="387356" y="73074"/>
                </a:lnTo>
                <a:lnTo>
                  <a:pt x="428624" y="54304"/>
                </a:lnTo>
                <a:lnTo>
                  <a:pt x="471284" y="38139"/>
                </a:lnTo>
                <a:lnTo>
                  <a:pt x="515231" y="24683"/>
                </a:lnTo>
                <a:lnTo>
                  <a:pt x="560361" y="14038"/>
                </a:lnTo>
                <a:lnTo>
                  <a:pt x="606569" y="6308"/>
                </a:lnTo>
                <a:lnTo>
                  <a:pt x="653751" y="1594"/>
                </a:lnTo>
                <a:lnTo>
                  <a:pt x="701801" y="0"/>
                </a:lnTo>
                <a:lnTo>
                  <a:pt x="749852" y="1594"/>
                </a:lnTo>
                <a:lnTo>
                  <a:pt x="797034" y="6308"/>
                </a:lnTo>
                <a:lnTo>
                  <a:pt x="843242" y="14038"/>
                </a:lnTo>
                <a:lnTo>
                  <a:pt x="888372" y="24683"/>
                </a:lnTo>
                <a:lnTo>
                  <a:pt x="932319" y="38139"/>
                </a:lnTo>
                <a:lnTo>
                  <a:pt x="974978" y="54304"/>
                </a:lnTo>
                <a:lnTo>
                  <a:pt x="1016247" y="73074"/>
                </a:lnTo>
                <a:lnTo>
                  <a:pt x="1056019" y="94346"/>
                </a:lnTo>
                <a:lnTo>
                  <a:pt x="1094190" y="118019"/>
                </a:lnTo>
                <a:lnTo>
                  <a:pt x="1130656" y="143988"/>
                </a:lnTo>
                <a:lnTo>
                  <a:pt x="1165312" y="172151"/>
                </a:lnTo>
                <a:lnTo>
                  <a:pt x="1198054" y="202406"/>
                </a:lnTo>
                <a:lnTo>
                  <a:pt x="1228777" y="234649"/>
                </a:lnTo>
                <a:lnTo>
                  <a:pt x="1257377" y="268777"/>
                </a:lnTo>
                <a:lnTo>
                  <a:pt x="1283749" y="304688"/>
                </a:lnTo>
                <a:lnTo>
                  <a:pt x="1307789" y="342279"/>
                </a:lnTo>
                <a:lnTo>
                  <a:pt x="1329392" y="381446"/>
                </a:lnTo>
                <a:lnTo>
                  <a:pt x="1348454" y="422088"/>
                </a:lnTo>
                <a:lnTo>
                  <a:pt x="1364870" y="464101"/>
                </a:lnTo>
                <a:lnTo>
                  <a:pt x="1378535" y="507382"/>
                </a:lnTo>
                <a:lnTo>
                  <a:pt x="1389346" y="551829"/>
                </a:lnTo>
                <a:lnTo>
                  <a:pt x="1397197" y="597338"/>
                </a:lnTo>
                <a:lnTo>
                  <a:pt x="1401984" y="643807"/>
                </a:lnTo>
                <a:lnTo>
                  <a:pt x="1403603" y="691134"/>
                </a:lnTo>
                <a:lnTo>
                  <a:pt x="1401984" y="738460"/>
                </a:lnTo>
                <a:lnTo>
                  <a:pt x="1397197" y="784929"/>
                </a:lnTo>
                <a:lnTo>
                  <a:pt x="1389346" y="830438"/>
                </a:lnTo>
                <a:lnTo>
                  <a:pt x="1378535" y="874885"/>
                </a:lnTo>
                <a:lnTo>
                  <a:pt x="1364870" y="918166"/>
                </a:lnTo>
                <a:lnTo>
                  <a:pt x="1348454" y="960179"/>
                </a:lnTo>
                <a:lnTo>
                  <a:pt x="1329392" y="1000821"/>
                </a:lnTo>
                <a:lnTo>
                  <a:pt x="1307789" y="1039988"/>
                </a:lnTo>
                <a:lnTo>
                  <a:pt x="1283749" y="1077579"/>
                </a:lnTo>
                <a:lnTo>
                  <a:pt x="1257377" y="1113490"/>
                </a:lnTo>
                <a:lnTo>
                  <a:pt x="1228777" y="1147618"/>
                </a:lnTo>
                <a:lnTo>
                  <a:pt x="1198054" y="1179861"/>
                </a:lnTo>
                <a:lnTo>
                  <a:pt x="1165312" y="1210116"/>
                </a:lnTo>
                <a:lnTo>
                  <a:pt x="1130656" y="1238279"/>
                </a:lnTo>
                <a:lnTo>
                  <a:pt x="1094190" y="1264248"/>
                </a:lnTo>
                <a:lnTo>
                  <a:pt x="1056019" y="1287921"/>
                </a:lnTo>
                <a:lnTo>
                  <a:pt x="1016247" y="1309193"/>
                </a:lnTo>
                <a:lnTo>
                  <a:pt x="974978" y="1327963"/>
                </a:lnTo>
                <a:lnTo>
                  <a:pt x="932319" y="1344128"/>
                </a:lnTo>
                <a:lnTo>
                  <a:pt x="888372" y="1357584"/>
                </a:lnTo>
                <a:lnTo>
                  <a:pt x="843242" y="1368229"/>
                </a:lnTo>
                <a:lnTo>
                  <a:pt x="797034" y="1375959"/>
                </a:lnTo>
                <a:lnTo>
                  <a:pt x="749852" y="1380673"/>
                </a:lnTo>
                <a:lnTo>
                  <a:pt x="701801" y="1382267"/>
                </a:lnTo>
                <a:lnTo>
                  <a:pt x="653751" y="1380673"/>
                </a:lnTo>
                <a:lnTo>
                  <a:pt x="606569" y="1375959"/>
                </a:lnTo>
                <a:lnTo>
                  <a:pt x="560361" y="1368229"/>
                </a:lnTo>
                <a:lnTo>
                  <a:pt x="515231" y="1357584"/>
                </a:lnTo>
                <a:lnTo>
                  <a:pt x="471284" y="1344128"/>
                </a:lnTo>
                <a:lnTo>
                  <a:pt x="428625" y="1327963"/>
                </a:lnTo>
                <a:lnTo>
                  <a:pt x="387356" y="1309193"/>
                </a:lnTo>
                <a:lnTo>
                  <a:pt x="347584" y="1287921"/>
                </a:lnTo>
                <a:lnTo>
                  <a:pt x="309413" y="1264248"/>
                </a:lnTo>
                <a:lnTo>
                  <a:pt x="272947" y="1238279"/>
                </a:lnTo>
                <a:lnTo>
                  <a:pt x="238291" y="1210116"/>
                </a:lnTo>
                <a:lnTo>
                  <a:pt x="205549" y="1179861"/>
                </a:lnTo>
                <a:lnTo>
                  <a:pt x="174826" y="1147618"/>
                </a:lnTo>
                <a:lnTo>
                  <a:pt x="146226" y="1113490"/>
                </a:lnTo>
                <a:lnTo>
                  <a:pt x="119854" y="1077579"/>
                </a:lnTo>
                <a:lnTo>
                  <a:pt x="95814" y="1039988"/>
                </a:lnTo>
                <a:lnTo>
                  <a:pt x="74211" y="1000821"/>
                </a:lnTo>
                <a:lnTo>
                  <a:pt x="55149" y="960179"/>
                </a:lnTo>
                <a:lnTo>
                  <a:pt x="38733" y="918166"/>
                </a:lnTo>
                <a:lnTo>
                  <a:pt x="25068" y="874885"/>
                </a:lnTo>
                <a:lnTo>
                  <a:pt x="14257" y="830438"/>
                </a:lnTo>
                <a:lnTo>
                  <a:pt x="6406" y="784929"/>
                </a:lnTo>
                <a:lnTo>
                  <a:pt x="1619" y="738460"/>
                </a:lnTo>
                <a:lnTo>
                  <a:pt x="0" y="691134"/>
                </a:lnTo>
                <a:close/>
              </a:path>
            </a:pathLst>
          </a:custGeom>
          <a:ln w="126491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13070" y="4385309"/>
            <a:ext cx="478790" cy="288290"/>
          </a:xfrm>
          <a:custGeom>
            <a:avLst/>
            <a:gdLst/>
            <a:ahLst/>
            <a:cxnLst/>
            <a:rect l="l" t="t" r="r" b="b"/>
            <a:pathLst>
              <a:path w="478789" h="288289">
                <a:moveTo>
                  <a:pt x="0" y="0"/>
                </a:moveTo>
                <a:lnTo>
                  <a:pt x="478535" y="288035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39917" y="4507229"/>
            <a:ext cx="480059" cy="289560"/>
          </a:xfrm>
          <a:custGeom>
            <a:avLst/>
            <a:gdLst/>
            <a:ahLst/>
            <a:cxnLst/>
            <a:rect l="l" t="t" r="r" b="b"/>
            <a:pathLst>
              <a:path w="480060" h="289560">
                <a:moveTo>
                  <a:pt x="0" y="0"/>
                </a:moveTo>
                <a:lnTo>
                  <a:pt x="480060" y="28956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468" y="88138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乘法因子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116" y="1412494"/>
            <a:ext cx="50450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仿宋"/>
                <a:cs typeface="华文仿宋"/>
              </a:rPr>
              <a:t>乘法因子＝</a:t>
            </a:r>
            <a:r>
              <a:rPr sz="2900" dirty="0">
                <a:latin typeface="Tw Cen MT"/>
                <a:cs typeface="Tw Cen MT"/>
              </a:rPr>
              <a:t>F</a:t>
            </a:r>
            <a:r>
              <a:rPr sz="2400" dirty="0">
                <a:latin typeface="Tw Cen MT"/>
                <a:cs typeface="Tw Cen MT"/>
              </a:rPr>
              <a:t>1</a:t>
            </a:r>
            <a:r>
              <a:rPr sz="2900" dirty="0">
                <a:latin typeface="Tw Cen MT"/>
                <a:cs typeface="Tw Cen MT"/>
              </a:rPr>
              <a:t>XF</a:t>
            </a:r>
            <a:r>
              <a:rPr sz="2400" dirty="0">
                <a:latin typeface="Tw Cen MT"/>
                <a:cs typeface="Tw Cen MT"/>
              </a:rPr>
              <a:t>2</a:t>
            </a:r>
            <a:r>
              <a:rPr sz="2400" spc="10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X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。。。</a:t>
            </a:r>
            <a:r>
              <a:rPr sz="2900" dirty="0">
                <a:latin typeface="Tw Cen MT"/>
                <a:cs typeface="Tw Cen MT"/>
              </a:rPr>
              <a:t>X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F</a:t>
            </a:r>
            <a:r>
              <a:rPr sz="2400" spc="-5" dirty="0">
                <a:latin typeface="Tw Cen MT"/>
                <a:cs typeface="Tw Cen MT"/>
              </a:rPr>
              <a:t>15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2512" y="2059232"/>
            <a:ext cx="8167137" cy="46310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11442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1197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873" y="1844801"/>
            <a:ext cx="8153400" cy="136906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409575" marR="15875" indent="-320040">
              <a:lnSpc>
                <a:spcPct val="100000"/>
              </a:lnSpc>
              <a:spcBef>
                <a:spcPts val="140"/>
              </a:spcBef>
            </a:pP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一</a:t>
            </a:r>
            <a:r>
              <a:rPr sz="2900" spc="-5" dirty="0">
                <a:solidFill>
                  <a:srgbClr val="666666"/>
                </a:solidFill>
                <a:latin typeface="华文新魏"/>
                <a:cs typeface="华文新魏"/>
              </a:rPr>
              <a:t>个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33.3</a:t>
            </a:r>
            <a:r>
              <a:rPr sz="2900" spc="-35" dirty="0">
                <a:solidFill>
                  <a:srgbClr val="666666"/>
                </a:solidFill>
                <a:latin typeface="华文新魏"/>
                <a:cs typeface="华文新魏"/>
              </a:rPr>
              <a:t> 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KLOC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软件开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发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项目，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属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于中等</a:t>
            </a:r>
            <a:r>
              <a:rPr sz="2900" spc="-15" dirty="0">
                <a:solidFill>
                  <a:srgbClr val="666666"/>
                </a:solidFill>
                <a:latin typeface="华文新魏"/>
                <a:cs typeface="华文新魏"/>
              </a:rPr>
              <a:t>规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模、 半有机型的项目，采用</a:t>
            </a:r>
            <a:r>
              <a:rPr sz="2900" spc="-10" dirty="0">
                <a:solidFill>
                  <a:srgbClr val="666666"/>
                </a:solidFill>
                <a:latin typeface="华文新魏"/>
                <a:cs typeface="华文新魏"/>
              </a:rPr>
              <a:t>中</a:t>
            </a:r>
            <a:r>
              <a:rPr sz="2900" spc="5" dirty="0">
                <a:solidFill>
                  <a:srgbClr val="666666"/>
                </a:solidFill>
                <a:latin typeface="华文新魏"/>
                <a:cs typeface="华文新魏"/>
              </a:rPr>
              <a:t>等</a:t>
            </a:r>
            <a:r>
              <a:rPr sz="2900" spc="-5" dirty="0">
                <a:latin typeface="华文新魏"/>
                <a:cs typeface="华文新魏"/>
              </a:rPr>
              <a:t>COCOMO，</a:t>
            </a:r>
            <a:r>
              <a:rPr sz="2900" spc="-10" dirty="0">
                <a:latin typeface="华文新魏"/>
                <a:cs typeface="华文新魏"/>
              </a:rPr>
              <a:t>计算 </a:t>
            </a:r>
            <a:r>
              <a:rPr sz="2900" dirty="0">
                <a:latin typeface="华文新魏"/>
                <a:cs typeface="华文新魏"/>
              </a:rPr>
              <a:t>项目规模</a:t>
            </a:r>
            <a:r>
              <a:rPr sz="2900" dirty="0">
                <a:solidFill>
                  <a:srgbClr val="666666"/>
                </a:solidFill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5477" y="3535171"/>
            <a:ext cx="306070" cy="2371090"/>
          </a:xfrm>
          <a:custGeom>
            <a:avLst/>
            <a:gdLst/>
            <a:ahLst/>
            <a:cxnLst/>
            <a:rect l="l" t="t" r="r" b="b"/>
            <a:pathLst>
              <a:path w="306070" h="2371090">
                <a:moveTo>
                  <a:pt x="305892" y="0"/>
                </a:moveTo>
                <a:lnTo>
                  <a:pt x="229412" y="0"/>
                </a:lnTo>
                <a:lnTo>
                  <a:pt x="214535" y="3008"/>
                </a:lnTo>
                <a:lnTo>
                  <a:pt x="202384" y="11207"/>
                </a:lnTo>
                <a:lnTo>
                  <a:pt x="194190" y="23360"/>
                </a:lnTo>
                <a:lnTo>
                  <a:pt x="191185" y="38226"/>
                </a:lnTo>
                <a:lnTo>
                  <a:pt x="194190" y="53147"/>
                </a:lnTo>
                <a:lnTo>
                  <a:pt x="202384" y="65293"/>
                </a:lnTo>
                <a:lnTo>
                  <a:pt x="214535" y="73463"/>
                </a:lnTo>
                <a:lnTo>
                  <a:pt x="229412" y="76453"/>
                </a:lnTo>
                <a:lnTo>
                  <a:pt x="259182" y="70455"/>
                </a:lnTo>
                <a:lnTo>
                  <a:pt x="283492" y="54086"/>
                </a:lnTo>
                <a:lnTo>
                  <a:pt x="299882" y="29787"/>
                </a:lnTo>
                <a:lnTo>
                  <a:pt x="305892" y="0"/>
                </a:lnTo>
                <a:close/>
              </a:path>
              <a:path w="306070" h="2371090">
                <a:moveTo>
                  <a:pt x="76479" y="2218143"/>
                </a:moveTo>
                <a:lnTo>
                  <a:pt x="46709" y="2224153"/>
                </a:lnTo>
                <a:lnTo>
                  <a:pt x="22399" y="2240541"/>
                </a:lnTo>
                <a:lnTo>
                  <a:pt x="6009" y="2264847"/>
                </a:lnTo>
                <a:lnTo>
                  <a:pt x="0" y="2294610"/>
                </a:lnTo>
                <a:lnTo>
                  <a:pt x="6009" y="2324380"/>
                </a:lnTo>
                <a:lnTo>
                  <a:pt x="22399" y="2348690"/>
                </a:lnTo>
                <a:lnTo>
                  <a:pt x="46709" y="2365080"/>
                </a:lnTo>
                <a:lnTo>
                  <a:pt x="76479" y="2371090"/>
                </a:lnTo>
                <a:lnTo>
                  <a:pt x="106242" y="2365080"/>
                </a:lnTo>
                <a:lnTo>
                  <a:pt x="130548" y="2348690"/>
                </a:lnTo>
                <a:lnTo>
                  <a:pt x="146936" y="2324380"/>
                </a:lnTo>
                <a:lnTo>
                  <a:pt x="152946" y="2294610"/>
                </a:lnTo>
                <a:lnTo>
                  <a:pt x="76479" y="2294610"/>
                </a:lnTo>
                <a:lnTo>
                  <a:pt x="91357" y="2291605"/>
                </a:lnTo>
                <a:lnTo>
                  <a:pt x="103508" y="2283410"/>
                </a:lnTo>
                <a:lnTo>
                  <a:pt x="111701" y="2271255"/>
                </a:lnTo>
                <a:lnTo>
                  <a:pt x="114706" y="2256370"/>
                </a:lnTo>
                <a:lnTo>
                  <a:pt x="111701" y="2241487"/>
                </a:lnTo>
                <a:lnTo>
                  <a:pt x="103508" y="2229337"/>
                </a:lnTo>
                <a:lnTo>
                  <a:pt x="91357" y="2221146"/>
                </a:lnTo>
                <a:lnTo>
                  <a:pt x="76479" y="221814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5477" y="3458717"/>
            <a:ext cx="8426450" cy="2447925"/>
          </a:xfrm>
          <a:custGeom>
            <a:avLst/>
            <a:gdLst/>
            <a:ahLst/>
            <a:cxnLst/>
            <a:rect l="l" t="t" r="r" b="b"/>
            <a:pathLst>
              <a:path w="8426450" h="2447925">
                <a:moveTo>
                  <a:pt x="152946" y="2294597"/>
                </a:moveTo>
                <a:lnTo>
                  <a:pt x="152946" y="76454"/>
                </a:lnTo>
                <a:lnTo>
                  <a:pt x="158955" y="46720"/>
                </a:lnTo>
                <a:lnTo>
                  <a:pt x="175345" y="22415"/>
                </a:lnTo>
                <a:lnTo>
                  <a:pt x="199655" y="6016"/>
                </a:lnTo>
                <a:lnTo>
                  <a:pt x="229425" y="0"/>
                </a:lnTo>
                <a:lnTo>
                  <a:pt x="8349742" y="0"/>
                </a:lnTo>
                <a:lnTo>
                  <a:pt x="8379475" y="6016"/>
                </a:lnTo>
                <a:lnTo>
                  <a:pt x="8403780" y="22415"/>
                </a:lnTo>
                <a:lnTo>
                  <a:pt x="8420179" y="46720"/>
                </a:lnTo>
                <a:lnTo>
                  <a:pt x="8426196" y="76454"/>
                </a:lnTo>
                <a:lnTo>
                  <a:pt x="8420179" y="106241"/>
                </a:lnTo>
                <a:lnTo>
                  <a:pt x="8403780" y="130540"/>
                </a:lnTo>
                <a:lnTo>
                  <a:pt x="8379475" y="146909"/>
                </a:lnTo>
                <a:lnTo>
                  <a:pt x="8349742" y="152908"/>
                </a:lnTo>
                <a:lnTo>
                  <a:pt x="8273288" y="152908"/>
                </a:lnTo>
                <a:lnTo>
                  <a:pt x="8273288" y="2371064"/>
                </a:lnTo>
                <a:lnTo>
                  <a:pt x="8267269" y="2400834"/>
                </a:lnTo>
                <a:lnTo>
                  <a:pt x="8250856" y="2425144"/>
                </a:lnTo>
                <a:lnTo>
                  <a:pt x="8226514" y="2441534"/>
                </a:lnTo>
                <a:lnTo>
                  <a:pt x="8196707" y="2447544"/>
                </a:lnTo>
                <a:lnTo>
                  <a:pt x="76479" y="2447544"/>
                </a:lnTo>
                <a:lnTo>
                  <a:pt x="46709" y="2441534"/>
                </a:lnTo>
                <a:lnTo>
                  <a:pt x="22399" y="2425144"/>
                </a:lnTo>
                <a:lnTo>
                  <a:pt x="6009" y="2400834"/>
                </a:lnTo>
                <a:lnTo>
                  <a:pt x="0" y="2371064"/>
                </a:lnTo>
                <a:lnTo>
                  <a:pt x="6009" y="2341301"/>
                </a:lnTo>
                <a:lnTo>
                  <a:pt x="22399" y="2316995"/>
                </a:lnTo>
                <a:lnTo>
                  <a:pt x="46709" y="2300607"/>
                </a:lnTo>
                <a:lnTo>
                  <a:pt x="76479" y="2294597"/>
                </a:lnTo>
                <a:lnTo>
                  <a:pt x="152946" y="2294597"/>
                </a:lnTo>
                <a:close/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6757" y="3448811"/>
            <a:ext cx="134518" cy="172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4890" y="3611626"/>
            <a:ext cx="8044180" cy="0"/>
          </a:xfrm>
          <a:custGeom>
            <a:avLst/>
            <a:gdLst/>
            <a:ahLst/>
            <a:cxnLst/>
            <a:rect l="l" t="t" r="r" b="b"/>
            <a:pathLst>
              <a:path w="8044180">
                <a:moveTo>
                  <a:pt x="8043875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2051" y="5743409"/>
            <a:ext cx="96278" cy="172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8619" y="3722392"/>
            <a:ext cx="7682230" cy="2073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华文新魏"/>
                <a:cs typeface="华文新魏"/>
              </a:rPr>
              <a:t>a=3.0，b=1.12。</a:t>
            </a:r>
            <a:endParaRPr sz="28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华文新魏"/>
                <a:cs typeface="华文新魏"/>
              </a:rPr>
              <a:t>乘法因子</a:t>
            </a:r>
            <a:r>
              <a:rPr sz="2800" spc="-5" dirty="0">
                <a:latin typeface="华文新魏"/>
                <a:cs typeface="华文新魏"/>
              </a:rPr>
              <a:t>＝0.70*0.85*1……*1.15=1.09</a:t>
            </a:r>
            <a:endParaRPr sz="28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68300" algn="l"/>
              </a:tabLst>
            </a:pPr>
            <a:r>
              <a:rPr sz="2800" spc="-5" dirty="0">
                <a:latin typeface="华文新魏"/>
                <a:cs typeface="华文新魏"/>
              </a:rPr>
              <a:t>E	=</a:t>
            </a:r>
            <a:r>
              <a:rPr sz="2800" spc="5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3.0＊L</a:t>
            </a:r>
            <a:r>
              <a:rPr sz="2800" spc="15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^1.12</a:t>
            </a:r>
            <a:r>
              <a:rPr sz="2800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＊乘法因</a:t>
            </a:r>
            <a:r>
              <a:rPr sz="2800" spc="-15" dirty="0">
                <a:latin typeface="华文新魏"/>
                <a:cs typeface="华文新魏"/>
              </a:rPr>
              <a:t>子</a:t>
            </a:r>
            <a:r>
              <a:rPr sz="2800" spc="-5" dirty="0">
                <a:latin typeface="华文新魏"/>
                <a:cs typeface="华文新魏"/>
              </a:rPr>
              <a:t>=</a:t>
            </a:r>
            <a:r>
              <a:rPr sz="2800" spc="30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3.0＊33.3</a:t>
            </a:r>
            <a:r>
              <a:rPr sz="2800" spc="-20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^1.12</a:t>
            </a:r>
            <a:endParaRPr sz="28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华文新魏"/>
                <a:cs typeface="华文新魏"/>
              </a:rPr>
              <a:t>×１.０９＝１６６</a:t>
            </a:r>
            <a:r>
              <a:rPr sz="2800" spc="45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PM、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305257"/>
            <a:ext cx="5441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高级</a:t>
            </a:r>
            <a:r>
              <a:rPr spc="5" dirty="0"/>
              <a:t>（</a:t>
            </a:r>
            <a:r>
              <a:rPr dirty="0">
                <a:solidFill>
                  <a:srgbClr val="666666"/>
                </a:solidFill>
              </a:rPr>
              <a:t>详细</a:t>
            </a:r>
            <a:r>
              <a:rPr dirty="0"/>
              <a:t>）COCOMO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6346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1989582"/>
            <a:ext cx="8153400" cy="175577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将项目分解为一系列的</a:t>
            </a:r>
            <a:r>
              <a:rPr sz="2900" spc="-15" dirty="0">
                <a:latin typeface="华文新魏"/>
                <a:cs typeface="华文新魏"/>
              </a:rPr>
              <a:t>子</a:t>
            </a:r>
            <a:r>
              <a:rPr sz="2900" dirty="0">
                <a:latin typeface="华文新魏"/>
                <a:cs typeface="华文新魏"/>
              </a:rPr>
              <a:t>系统</a:t>
            </a:r>
            <a:r>
              <a:rPr sz="2900" spc="-15" dirty="0">
                <a:latin typeface="华文新魏"/>
                <a:cs typeface="华文新魏"/>
              </a:rPr>
              <a:t>或</a:t>
            </a:r>
            <a:r>
              <a:rPr sz="2900" dirty="0">
                <a:latin typeface="华文新魏"/>
                <a:cs typeface="华文新魏"/>
              </a:rPr>
              <a:t>者子</a:t>
            </a:r>
            <a:r>
              <a:rPr sz="2900" spc="-15" dirty="0">
                <a:latin typeface="华文新魏"/>
                <a:cs typeface="华文新魏"/>
              </a:rPr>
              <a:t>模</a:t>
            </a:r>
            <a:r>
              <a:rPr sz="2900" dirty="0">
                <a:latin typeface="华文新魏"/>
                <a:cs typeface="华文新魏"/>
              </a:rPr>
              <a:t>型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更加精确地调整一个模</a:t>
            </a:r>
            <a:r>
              <a:rPr sz="2900" spc="-10" dirty="0">
                <a:latin typeface="华文新魏"/>
                <a:cs typeface="华文新魏"/>
              </a:rPr>
              <a:t>型</a:t>
            </a:r>
            <a:r>
              <a:rPr sz="2900" dirty="0">
                <a:latin typeface="华文新魏"/>
                <a:cs typeface="华文新魏"/>
              </a:rPr>
              <a:t>的属性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200913"/>
            <a:ext cx="5440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高级（</a:t>
            </a:r>
            <a:r>
              <a:rPr sz="4400" i="1" dirty="0">
                <a:solidFill>
                  <a:srgbClr val="666666"/>
                </a:solidFill>
                <a:latin typeface="华文隶书"/>
                <a:cs typeface="华文隶书"/>
              </a:rPr>
              <a:t>详细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）COCOMO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395" y="2193302"/>
            <a:ext cx="7983249" cy="3797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2644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spc="-90" dirty="0"/>
              <a:t> </a:t>
            </a:r>
            <a:r>
              <a:rPr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606422"/>
            <a:ext cx="7891780" cy="909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34340" algn="l"/>
                <a:tab pos="434975" algn="l"/>
              </a:tabLst>
            </a:pPr>
            <a:r>
              <a:rPr dirty="0"/>
              <a:t>	</a:t>
            </a:r>
            <a:r>
              <a:rPr sz="2900" b="1" dirty="0">
                <a:latin typeface="Tw Cen MT"/>
                <a:cs typeface="Tw Cen MT"/>
              </a:rPr>
              <a:t>COCOMO</a:t>
            </a:r>
            <a:r>
              <a:rPr sz="2900" b="1" spc="-30" dirty="0">
                <a:latin typeface="Tw Cen MT"/>
                <a:cs typeface="Tw Cen MT"/>
              </a:rPr>
              <a:t> </a:t>
            </a:r>
            <a:r>
              <a:rPr sz="2900" b="1" spc="-5" dirty="0">
                <a:latin typeface="Tw Cen MT"/>
                <a:cs typeface="Tw Cen MT"/>
              </a:rPr>
              <a:t>II</a:t>
            </a:r>
            <a:r>
              <a:rPr sz="2900" b="1" spc="10" dirty="0">
                <a:latin typeface="华文仿宋"/>
                <a:cs typeface="华文仿宋"/>
              </a:rPr>
              <a:t>是</a:t>
            </a:r>
            <a:r>
              <a:rPr sz="2900" b="1" spc="-10" dirty="0">
                <a:latin typeface="Tw Cen MT"/>
                <a:cs typeface="Tw Cen MT"/>
              </a:rPr>
              <a:t>95</a:t>
            </a:r>
            <a:r>
              <a:rPr sz="2900" b="1" dirty="0">
                <a:latin typeface="华文仿宋"/>
                <a:cs typeface="华文仿宋"/>
              </a:rPr>
              <a:t>年左右</a:t>
            </a:r>
            <a:r>
              <a:rPr sz="2900" b="1" spc="-5" dirty="0">
                <a:latin typeface="华文仿宋"/>
                <a:cs typeface="华文仿宋"/>
              </a:rPr>
              <a:t>，</a:t>
            </a:r>
            <a:r>
              <a:rPr sz="2900" spc="-5" dirty="0">
                <a:latin typeface="华文仿宋"/>
                <a:cs typeface="华文仿宋"/>
              </a:rPr>
              <a:t>Ｂ</a:t>
            </a:r>
            <a:r>
              <a:rPr sz="2900" spc="-5" dirty="0">
                <a:latin typeface="Tw Cen MT"/>
                <a:cs typeface="Tw Cen MT"/>
              </a:rPr>
              <a:t>oehm</a:t>
            </a:r>
            <a:r>
              <a:rPr sz="2900" b="1" dirty="0">
                <a:latin typeface="华文仿宋"/>
                <a:cs typeface="华文仿宋"/>
              </a:rPr>
              <a:t>在</a:t>
            </a:r>
            <a:r>
              <a:rPr sz="2900" b="1" spc="-10" dirty="0">
                <a:latin typeface="Tw Cen MT"/>
                <a:cs typeface="Tw Cen MT"/>
              </a:rPr>
              <a:t>81</a:t>
            </a:r>
            <a:r>
              <a:rPr sz="2900" b="1" dirty="0">
                <a:latin typeface="华文仿宋"/>
                <a:cs typeface="华文仿宋"/>
              </a:rPr>
              <a:t>模型的基 </a:t>
            </a:r>
            <a:r>
              <a:rPr sz="2900" b="1" spc="5" dirty="0">
                <a:latin typeface="华文仿宋"/>
                <a:cs typeface="华文仿宋"/>
              </a:rPr>
              <a:t>础上</a:t>
            </a:r>
            <a:r>
              <a:rPr sz="2900" b="1" dirty="0">
                <a:latin typeface="华文仿宋"/>
                <a:cs typeface="华文仿宋"/>
              </a:rPr>
              <a:t>，结</a:t>
            </a:r>
            <a:r>
              <a:rPr sz="2900" b="1" spc="-15" dirty="0">
                <a:latin typeface="华文仿宋"/>
                <a:cs typeface="华文仿宋"/>
              </a:rPr>
              <a:t>合</a:t>
            </a:r>
            <a:r>
              <a:rPr sz="2900" b="1" dirty="0">
                <a:latin typeface="华文仿宋"/>
                <a:cs typeface="华文仿宋"/>
              </a:rPr>
              <a:t>了软</a:t>
            </a:r>
            <a:r>
              <a:rPr sz="2900" b="1" spc="-15" dirty="0">
                <a:latin typeface="华文仿宋"/>
                <a:cs typeface="华文仿宋"/>
              </a:rPr>
              <a:t>件</a:t>
            </a:r>
            <a:r>
              <a:rPr sz="2900" b="1" dirty="0">
                <a:latin typeface="华文仿宋"/>
                <a:cs typeface="华文仿宋"/>
              </a:rPr>
              <a:t>工程</a:t>
            </a:r>
            <a:r>
              <a:rPr sz="2900" b="1" spc="-15" dirty="0">
                <a:latin typeface="华文仿宋"/>
                <a:cs typeface="华文仿宋"/>
              </a:rPr>
              <a:t>技</a:t>
            </a:r>
            <a:r>
              <a:rPr sz="2900" b="1" dirty="0">
                <a:latin typeface="华文仿宋"/>
                <a:cs typeface="华文仿宋"/>
              </a:rPr>
              <a:t>术的</a:t>
            </a:r>
            <a:r>
              <a:rPr sz="2900" b="1" spc="-15" dirty="0">
                <a:latin typeface="华文仿宋"/>
                <a:cs typeface="华文仿宋"/>
              </a:rPr>
              <a:t>发</a:t>
            </a:r>
            <a:r>
              <a:rPr sz="2900" b="1" dirty="0">
                <a:latin typeface="华文仿宋"/>
                <a:cs typeface="华文仿宋"/>
              </a:rPr>
              <a:t>展提</a:t>
            </a:r>
            <a:r>
              <a:rPr sz="2900" b="1" spc="-15" dirty="0">
                <a:latin typeface="华文仿宋"/>
                <a:cs typeface="华文仿宋"/>
              </a:rPr>
              <a:t>出</a:t>
            </a:r>
            <a:r>
              <a:rPr sz="2900" b="1" dirty="0">
                <a:latin typeface="华文仿宋"/>
                <a:cs typeface="华文仿宋"/>
              </a:rPr>
              <a:t>来的，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46963"/>
            <a:ext cx="37617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spc="-85" dirty="0"/>
              <a:t> </a:t>
            </a:r>
            <a:r>
              <a:rPr spc="-5" dirty="0"/>
              <a:t>II</a:t>
            </a:r>
            <a:r>
              <a:rPr dirty="0"/>
              <a:t>组成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82795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59964" y="2468879"/>
            <a:ext cx="3744467" cy="373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04386" y="4042613"/>
            <a:ext cx="2055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Narrow"/>
                <a:cs typeface="Arial Narrow"/>
              </a:rPr>
              <a:t>COCOMO</a:t>
            </a:r>
            <a:r>
              <a:rPr sz="3600" spc="-90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I</a:t>
            </a:r>
            <a:r>
              <a:rPr sz="3200" spc="-5" dirty="0">
                <a:latin typeface="Arial Narrow"/>
                <a:cs typeface="Arial Narrow"/>
              </a:rPr>
              <a:t>I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965" y="4976241"/>
            <a:ext cx="1049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设计阶段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97808" y="1933955"/>
            <a:ext cx="1632585" cy="1612900"/>
          </a:xfrm>
          <a:custGeom>
            <a:avLst/>
            <a:gdLst/>
            <a:ahLst/>
            <a:cxnLst/>
            <a:rect l="l" t="t" r="r" b="b"/>
            <a:pathLst>
              <a:path w="1632585" h="1612900">
                <a:moveTo>
                  <a:pt x="816101" y="0"/>
                </a:moveTo>
                <a:lnTo>
                  <a:pt x="768149" y="1368"/>
                </a:lnTo>
                <a:lnTo>
                  <a:pt x="720926" y="5423"/>
                </a:lnTo>
                <a:lnTo>
                  <a:pt x="674510" y="12089"/>
                </a:lnTo>
                <a:lnTo>
                  <a:pt x="628976" y="21291"/>
                </a:lnTo>
                <a:lnTo>
                  <a:pt x="584402" y="32953"/>
                </a:lnTo>
                <a:lnTo>
                  <a:pt x="540863" y="46998"/>
                </a:lnTo>
                <a:lnTo>
                  <a:pt x="498437" y="63353"/>
                </a:lnTo>
                <a:lnTo>
                  <a:pt x="457199" y="81940"/>
                </a:lnTo>
                <a:lnTo>
                  <a:pt x="417228" y="102685"/>
                </a:lnTo>
                <a:lnTo>
                  <a:pt x="378598" y="125512"/>
                </a:lnTo>
                <a:lnTo>
                  <a:pt x="341387" y="150344"/>
                </a:lnTo>
                <a:lnTo>
                  <a:pt x="305670" y="177108"/>
                </a:lnTo>
                <a:lnTo>
                  <a:pt x="271526" y="205726"/>
                </a:lnTo>
                <a:lnTo>
                  <a:pt x="239029" y="236124"/>
                </a:lnTo>
                <a:lnTo>
                  <a:pt x="208258" y="268226"/>
                </a:lnTo>
                <a:lnTo>
                  <a:pt x="179287" y="301956"/>
                </a:lnTo>
                <a:lnTo>
                  <a:pt x="152195" y="337238"/>
                </a:lnTo>
                <a:lnTo>
                  <a:pt x="127056" y="373998"/>
                </a:lnTo>
                <a:lnTo>
                  <a:pt x="103949" y="412159"/>
                </a:lnTo>
                <a:lnTo>
                  <a:pt x="82949" y="451646"/>
                </a:lnTo>
                <a:lnTo>
                  <a:pt x="64133" y="492382"/>
                </a:lnTo>
                <a:lnTo>
                  <a:pt x="47577" y="534294"/>
                </a:lnTo>
                <a:lnTo>
                  <a:pt x="33358" y="577304"/>
                </a:lnTo>
                <a:lnTo>
                  <a:pt x="21553" y="621338"/>
                </a:lnTo>
                <a:lnTo>
                  <a:pt x="12238" y="666320"/>
                </a:lnTo>
                <a:lnTo>
                  <a:pt x="5490" y="712174"/>
                </a:lnTo>
                <a:lnTo>
                  <a:pt x="1385" y="758824"/>
                </a:lnTo>
                <a:lnTo>
                  <a:pt x="0" y="806196"/>
                </a:lnTo>
                <a:lnTo>
                  <a:pt x="1385" y="853567"/>
                </a:lnTo>
                <a:lnTo>
                  <a:pt x="5490" y="900217"/>
                </a:lnTo>
                <a:lnTo>
                  <a:pt x="12238" y="946071"/>
                </a:lnTo>
                <a:lnTo>
                  <a:pt x="21553" y="991053"/>
                </a:lnTo>
                <a:lnTo>
                  <a:pt x="33358" y="1035087"/>
                </a:lnTo>
                <a:lnTo>
                  <a:pt x="47577" y="1078097"/>
                </a:lnTo>
                <a:lnTo>
                  <a:pt x="64133" y="1120009"/>
                </a:lnTo>
                <a:lnTo>
                  <a:pt x="82949" y="1160745"/>
                </a:lnTo>
                <a:lnTo>
                  <a:pt x="103949" y="1200232"/>
                </a:lnTo>
                <a:lnTo>
                  <a:pt x="127056" y="1238393"/>
                </a:lnTo>
                <a:lnTo>
                  <a:pt x="152195" y="1275153"/>
                </a:lnTo>
                <a:lnTo>
                  <a:pt x="179287" y="1310435"/>
                </a:lnTo>
                <a:lnTo>
                  <a:pt x="208258" y="1344165"/>
                </a:lnTo>
                <a:lnTo>
                  <a:pt x="239029" y="1376267"/>
                </a:lnTo>
                <a:lnTo>
                  <a:pt x="271526" y="1406665"/>
                </a:lnTo>
                <a:lnTo>
                  <a:pt x="305670" y="1435283"/>
                </a:lnTo>
                <a:lnTo>
                  <a:pt x="341387" y="1462047"/>
                </a:lnTo>
                <a:lnTo>
                  <a:pt x="378598" y="1486879"/>
                </a:lnTo>
                <a:lnTo>
                  <a:pt x="417228" y="1509706"/>
                </a:lnTo>
                <a:lnTo>
                  <a:pt x="457200" y="1530451"/>
                </a:lnTo>
                <a:lnTo>
                  <a:pt x="498437" y="1549038"/>
                </a:lnTo>
                <a:lnTo>
                  <a:pt x="540863" y="1565393"/>
                </a:lnTo>
                <a:lnTo>
                  <a:pt x="584402" y="1579438"/>
                </a:lnTo>
                <a:lnTo>
                  <a:pt x="628976" y="1591100"/>
                </a:lnTo>
                <a:lnTo>
                  <a:pt x="674510" y="1600302"/>
                </a:lnTo>
                <a:lnTo>
                  <a:pt x="720926" y="1606968"/>
                </a:lnTo>
                <a:lnTo>
                  <a:pt x="768149" y="1611023"/>
                </a:lnTo>
                <a:lnTo>
                  <a:pt x="816101" y="1612392"/>
                </a:lnTo>
                <a:lnTo>
                  <a:pt x="864054" y="1611023"/>
                </a:lnTo>
                <a:lnTo>
                  <a:pt x="911277" y="1606968"/>
                </a:lnTo>
                <a:lnTo>
                  <a:pt x="957693" y="1600302"/>
                </a:lnTo>
                <a:lnTo>
                  <a:pt x="1003227" y="1591100"/>
                </a:lnTo>
                <a:lnTo>
                  <a:pt x="1047801" y="1579438"/>
                </a:lnTo>
                <a:lnTo>
                  <a:pt x="1091340" y="1565393"/>
                </a:lnTo>
                <a:lnTo>
                  <a:pt x="1133766" y="1549038"/>
                </a:lnTo>
                <a:lnTo>
                  <a:pt x="1175004" y="1530451"/>
                </a:lnTo>
                <a:lnTo>
                  <a:pt x="1214975" y="1509706"/>
                </a:lnTo>
                <a:lnTo>
                  <a:pt x="1253605" y="1486879"/>
                </a:lnTo>
                <a:lnTo>
                  <a:pt x="1290816" y="1462047"/>
                </a:lnTo>
                <a:lnTo>
                  <a:pt x="1326533" y="1435283"/>
                </a:lnTo>
                <a:lnTo>
                  <a:pt x="1360677" y="1406665"/>
                </a:lnTo>
                <a:lnTo>
                  <a:pt x="1393174" y="1376267"/>
                </a:lnTo>
                <a:lnTo>
                  <a:pt x="1423945" y="1344165"/>
                </a:lnTo>
                <a:lnTo>
                  <a:pt x="1452916" y="1310435"/>
                </a:lnTo>
                <a:lnTo>
                  <a:pt x="1480008" y="1275153"/>
                </a:lnTo>
                <a:lnTo>
                  <a:pt x="1505147" y="1238393"/>
                </a:lnTo>
                <a:lnTo>
                  <a:pt x="1528254" y="1200232"/>
                </a:lnTo>
                <a:lnTo>
                  <a:pt x="1549254" y="1160745"/>
                </a:lnTo>
                <a:lnTo>
                  <a:pt x="1568070" y="1120009"/>
                </a:lnTo>
                <a:lnTo>
                  <a:pt x="1584626" y="1078097"/>
                </a:lnTo>
                <a:lnTo>
                  <a:pt x="1598845" y="1035087"/>
                </a:lnTo>
                <a:lnTo>
                  <a:pt x="1610650" y="991053"/>
                </a:lnTo>
                <a:lnTo>
                  <a:pt x="1619965" y="946071"/>
                </a:lnTo>
                <a:lnTo>
                  <a:pt x="1626713" y="900217"/>
                </a:lnTo>
                <a:lnTo>
                  <a:pt x="1630818" y="853567"/>
                </a:lnTo>
                <a:lnTo>
                  <a:pt x="1632203" y="806196"/>
                </a:lnTo>
                <a:lnTo>
                  <a:pt x="1630818" y="758824"/>
                </a:lnTo>
                <a:lnTo>
                  <a:pt x="1626713" y="712174"/>
                </a:lnTo>
                <a:lnTo>
                  <a:pt x="1619965" y="666320"/>
                </a:lnTo>
                <a:lnTo>
                  <a:pt x="1610650" y="621338"/>
                </a:lnTo>
                <a:lnTo>
                  <a:pt x="1598845" y="577304"/>
                </a:lnTo>
                <a:lnTo>
                  <a:pt x="1584626" y="534294"/>
                </a:lnTo>
                <a:lnTo>
                  <a:pt x="1568070" y="492382"/>
                </a:lnTo>
                <a:lnTo>
                  <a:pt x="1549254" y="451646"/>
                </a:lnTo>
                <a:lnTo>
                  <a:pt x="1528254" y="412159"/>
                </a:lnTo>
                <a:lnTo>
                  <a:pt x="1505147" y="373998"/>
                </a:lnTo>
                <a:lnTo>
                  <a:pt x="1480008" y="337238"/>
                </a:lnTo>
                <a:lnTo>
                  <a:pt x="1452916" y="301956"/>
                </a:lnTo>
                <a:lnTo>
                  <a:pt x="1423945" y="268226"/>
                </a:lnTo>
                <a:lnTo>
                  <a:pt x="1393174" y="236124"/>
                </a:lnTo>
                <a:lnTo>
                  <a:pt x="1360677" y="205726"/>
                </a:lnTo>
                <a:lnTo>
                  <a:pt x="1326533" y="177108"/>
                </a:lnTo>
                <a:lnTo>
                  <a:pt x="1290816" y="150344"/>
                </a:lnTo>
                <a:lnTo>
                  <a:pt x="1253605" y="125512"/>
                </a:lnTo>
                <a:lnTo>
                  <a:pt x="1214975" y="102685"/>
                </a:lnTo>
                <a:lnTo>
                  <a:pt x="1175003" y="81940"/>
                </a:lnTo>
                <a:lnTo>
                  <a:pt x="1133766" y="63353"/>
                </a:lnTo>
                <a:lnTo>
                  <a:pt x="1091340" y="46998"/>
                </a:lnTo>
                <a:lnTo>
                  <a:pt x="1047801" y="32953"/>
                </a:lnTo>
                <a:lnTo>
                  <a:pt x="1003227" y="21291"/>
                </a:lnTo>
                <a:lnTo>
                  <a:pt x="957693" y="12089"/>
                </a:lnTo>
                <a:lnTo>
                  <a:pt x="911277" y="5423"/>
                </a:lnTo>
                <a:lnTo>
                  <a:pt x="864054" y="1368"/>
                </a:lnTo>
                <a:lnTo>
                  <a:pt x="816101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34384" y="1970532"/>
            <a:ext cx="1560830" cy="1542415"/>
          </a:xfrm>
          <a:custGeom>
            <a:avLst/>
            <a:gdLst/>
            <a:ahLst/>
            <a:cxnLst/>
            <a:rect l="l" t="t" r="r" b="b"/>
            <a:pathLst>
              <a:path w="1560829" h="1542414">
                <a:moveTo>
                  <a:pt x="780288" y="0"/>
                </a:moveTo>
                <a:lnTo>
                  <a:pt x="732758" y="1407"/>
                </a:lnTo>
                <a:lnTo>
                  <a:pt x="685980" y="5576"/>
                </a:lnTo>
                <a:lnTo>
                  <a:pt x="640038" y="12426"/>
                </a:lnTo>
                <a:lnTo>
                  <a:pt x="595011" y="21875"/>
                </a:lnTo>
                <a:lnTo>
                  <a:pt x="550982" y="33844"/>
                </a:lnTo>
                <a:lnTo>
                  <a:pt x="508032" y="48251"/>
                </a:lnTo>
                <a:lnTo>
                  <a:pt x="466243" y="65016"/>
                </a:lnTo>
                <a:lnTo>
                  <a:pt x="425697" y="84058"/>
                </a:lnTo>
                <a:lnTo>
                  <a:pt x="386475" y="105297"/>
                </a:lnTo>
                <a:lnTo>
                  <a:pt x="348658" y="128651"/>
                </a:lnTo>
                <a:lnTo>
                  <a:pt x="312330" y="154040"/>
                </a:lnTo>
                <a:lnTo>
                  <a:pt x="277570" y="181383"/>
                </a:lnTo>
                <a:lnTo>
                  <a:pt x="244462" y="210599"/>
                </a:lnTo>
                <a:lnTo>
                  <a:pt x="213085" y="241609"/>
                </a:lnTo>
                <a:lnTo>
                  <a:pt x="183523" y="274330"/>
                </a:lnTo>
                <a:lnTo>
                  <a:pt x="155857" y="308683"/>
                </a:lnTo>
                <a:lnTo>
                  <a:pt x="130168" y="344586"/>
                </a:lnTo>
                <a:lnTo>
                  <a:pt x="106538" y="381959"/>
                </a:lnTo>
                <a:lnTo>
                  <a:pt x="85049" y="420721"/>
                </a:lnTo>
                <a:lnTo>
                  <a:pt x="65783" y="460792"/>
                </a:lnTo>
                <a:lnTo>
                  <a:pt x="48820" y="502091"/>
                </a:lnTo>
                <a:lnTo>
                  <a:pt x="34243" y="544536"/>
                </a:lnTo>
                <a:lnTo>
                  <a:pt x="22133" y="588048"/>
                </a:lnTo>
                <a:lnTo>
                  <a:pt x="12572" y="632545"/>
                </a:lnTo>
                <a:lnTo>
                  <a:pt x="5642" y="677947"/>
                </a:lnTo>
                <a:lnTo>
                  <a:pt x="1424" y="724174"/>
                </a:lnTo>
                <a:lnTo>
                  <a:pt x="0" y="771143"/>
                </a:lnTo>
                <a:lnTo>
                  <a:pt x="1424" y="818113"/>
                </a:lnTo>
                <a:lnTo>
                  <a:pt x="5642" y="864340"/>
                </a:lnTo>
                <a:lnTo>
                  <a:pt x="12572" y="909742"/>
                </a:lnTo>
                <a:lnTo>
                  <a:pt x="22133" y="954239"/>
                </a:lnTo>
                <a:lnTo>
                  <a:pt x="34243" y="997751"/>
                </a:lnTo>
                <a:lnTo>
                  <a:pt x="48820" y="1040196"/>
                </a:lnTo>
                <a:lnTo>
                  <a:pt x="65783" y="1081495"/>
                </a:lnTo>
                <a:lnTo>
                  <a:pt x="85049" y="1121566"/>
                </a:lnTo>
                <a:lnTo>
                  <a:pt x="106538" y="1160328"/>
                </a:lnTo>
                <a:lnTo>
                  <a:pt x="130168" y="1197701"/>
                </a:lnTo>
                <a:lnTo>
                  <a:pt x="155857" y="1233604"/>
                </a:lnTo>
                <a:lnTo>
                  <a:pt x="183523" y="1267957"/>
                </a:lnTo>
                <a:lnTo>
                  <a:pt x="213085" y="1300678"/>
                </a:lnTo>
                <a:lnTo>
                  <a:pt x="244462" y="1331688"/>
                </a:lnTo>
                <a:lnTo>
                  <a:pt x="277570" y="1360904"/>
                </a:lnTo>
                <a:lnTo>
                  <a:pt x="312330" y="1388247"/>
                </a:lnTo>
                <a:lnTo>
                  <a:pt x="348658" y="1413636"/>
                </a:lnTo>
                <a:lnTo>
                  <a:pt x="386475" y="1436990"/>
                </a:lnTo>
                <a:lnTo>
                  <a:pt x="425697" y="1458229"/>
                </a:lnTo>
                <a:lnTo>
                  <a:pt x="466243" y="1477271"/>
                </a:lnTo>
                <a:lnTo>
                  <a:pt x="508032" y="1494036"/>
                </a:lnTo>
                <a:lnTo>
                  <a:pt x="550982" y="1508443"/>
                </a:lnTo>
                <a:lnTo>
                  <a:pt x="595011" y="1520412"/>
                </a:lnTo>
                <a:lnTo>
                  <a:pt x="640038" y="1529861"/>
                </a:lnTo>
                <a:lnTo>
                  <a:pt x="685980" y="1536711"/>
                </a:lnTo>
                <a:lnTo>
                  <a:pt x="732758" y="1540880"/>
                </a:lnTo>
                <a:lnTo>
                  <a:pt x="780288" y="1542288"/>
                </a:lnTo>
                <a:lnTo>
                  <a:pt x="827817" y="1540880"/>
                </a:lnTo>
                <a:lnTo>
                  <a:pt x="874595" y="1536711"/>
                </a:lnTo>
                <a:lnTo>
                  <a:pt x="920537" y="1529861"/>
                </a:lnTo>
                <a:lnTo>
                  <a:pt x="965564" y="1520412"/>
                </a:lnTo>
                <a:lnTo>
                  <a:pt x="1009593" y="1508443"/>
                </a:lnTo>
                <a:lnTo>
                  <a:pt x="1052543" y="1494036"/>
                </a:lnTo>
                <a:lnTo>
                  <a:pt x="1094332" y="1477271"/>
                </a:lnTo>
                <a:lnTo>
                  <a:pt x="1134878" y="1458229"/>
                </a:lnTo>
                <a:lnTo>
                  <a:pt x="1174100" y="1436990"/>
                </a:lnTo>
                <a:lnTo>
                  <a:pt x="1211917" y="1413636"/>
                </a:lnTo>
                <a:lnTo>
                  <a:pt x="1248245" y="1388247"/>
                </a:lnTo>
                <a:lnTo>
                  <a:pt x="1283005" y="1360904"/>
                </a:lnTo>
                <a:lnTo>
                  <a:pt x="1316113" y="1331688"/>
                </a:lnTo>
                <a:lnTo>
                  <a:pt x="1347490" y="1300678"/>
                </a:lnTo>
                <a:lnTo>
                  <a:pt x="1377052" y="1267957"/>
                </a:lnTo>
                <a:lnTo>
                  <a:pt x="1404718" y="1233604"/>
                </a:lnTo>
                <a:lnTo>
                  <a:pt x="1430407" y="1197701"/>
                </a:lnTo>
                <a:lnTo>
                  <a:pt x="1454037" y="1160328"/>
                </a:lnTo>
                <a:lnTo>
                  <a:pt x="1475526" y="1121566"/>
                </a:lnTo>
                <a:lnTo>
                  <a:pt x="1494792" y="1081495"/>
                </a:lnTo>
                <a:lnTo>
                  <a:pt x="1511755" y="1040196"/>
                </a:lnTo>
                <a:lnTo>
                  <a:pt x="1526332" y="997751"/>
                </a:lnTo>
                <a:lnTo>
                  <a:pt x="1538442" y="954239"/>
                </a:lnTo>
                <a:lnTo>
                  <a:pt x="1548003" y="909742"/>
                </a:lnTo>
                <a:lnTo>
                  <a:pt x="1554933" y="864340"/>
                </a:lnTo>
                <a:lnTo>
                  <a:pt x="1559151" y="818113"/>
                </a:lnTo>
                <a:lnTo>
                  <a:pt x="1560576" y="771143"/>
                </a:lnTo>
                <a:lnTo>
                  <a:pt x="1559151" y="724174"/>
                </a:lnTo>
                <a:lnTo>
                  <a:pt x="1554933" y="677947"/>
                </a:lnTo>
                <a:lnTo>
                  <a:pt x="1548003" y="632545"/>
                </a:lnTo>
                <a:lnTo>
                  <a:pt x="1538442" y="588048"/>
                </a:lnTo>
                <a:lnTo>
                  <a:pt x="1526332" y="544536"/>
                </a:lnTo>
                <a:lnTo>
                  <a:pt x="1511755" y="502091"/>
                </a:lnTo>
                <a:lnTo>
                  <a:pt x="1494792" y="460792"/>
                </a:lnTo>
                <a:lnTo>
                  <a:pt x="1475526" y="420721"/>
                </a:lnTo>
                <a:lnTo>
                  <a:pt x="1454037" y="381959"/>
                </a:lnTo>
                <a:lnTo>
                  <a:pt x="1430407" y="344586"/>
                </a:lnTo>
                <a:lnTo>
                  <a:pt x="1404718" y="308683"/>
                </a:lnTo>
                <a:lnTo>
                  <a:pt x="1377052" y="274330"/>
                </a:lnTo>
                <a:lnTo>
                  <a:pt x="1347490" y="241609"/>
                </a:lnTo>
                <a:lnTo>
                  <a:pt x="1316113" y="210599"/>
                </a:lnTo>
                <a:lnTo>
                  <a:pt x="1283005" y="181383"/>
                </a:lnTo>
                <a:lnTo>
                  <a:pt x="1248245" y="154040"/>
                </a:lnTo>
                <a:lnTo>
                  <a:pt x="1211917" y="128651"/>
                </a:lnTo>
                <a:lnTo>
                  <a:pt x="1174100" y="105297"/>
                </a:lnTo>
                <a:lnTo>
                  <a:pt x="1134878" y="84058"/>
                </a:lnTo>
                <a:lnTo>
                  <a:pt x="1094332" y="65016"/>
                </a:lnTo>
                <a:lnTo>
                  <a:pt x="1052543" y="48251"/>
                </a:lnTo>
                <a:lnTo>
                  <a:pt x="1009593" y="33844"/>
                </a:lnTo>
                <a:lnTo>
                  <a:pt x="965564" y="21875"/>
                </a:lnTo>
                <a:lnTo>
                  <a:pt x="920537" y="12426"/>
                </a:lnTo>
                <a:lnTo>
                  <a:pt x="874595" y="5576"/>
                </a:lnTo>
                <a:lnTo>
                  <a:pt x="827817" y="1407"/>
                </a:lnTo>
                <a:lnTo>
                  <a:pt x="7802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69435" y="2004060"/>
            <a:ext cx="1508760" cy="1492250"/>
          </a:xfrm>
          <a:custGeom>
            <a:avLst/>
            <a:gdLst/>
            <a:ahLst/>
            <a:cxnLst/>
            <a:rect l="l" t="t" r="r" b="b"/>
            <a:pathLst>
              <a:path w="1508760" h="1492250">
                <a:moveTo>
                  <a:pt x="754379" y="0"/>
                </a:moveTo>
                <a:lnTo>
                  <a:pt x="706666" y="1467"/>
                </a:lnTo>
                <a:lnTo>
                  <a:pt x="659741" y="5812"/>
                </a:lnTo>
                <a:lnTo>
                  <a:pt x="613694" y="12947"/>
                </a:lnTo>
                <a:lnTo>
                  <a:pt x="568613" y="22784"/>
                </a:lnTo>
                <a:lnTo>
                  <a:pt x="524587" y="35236"/>
                </a:lnTo>
                <a:lnTo>
                  <a:pt x="481704" y="50216"/>
                </a:lnTo>
                <a:lnTo>
                  <a:pt x="440051" y="67635"/>
                </a:lnTo>
                <a:lnTo>
                  <a:pt x="399718" y="87408"/>
                </a:lnTo>
                <a:lnTo>
                  <a:pt x="360792" y="109446"/>
                </a:lnTo>
                <a:lnTo>
                  <a:pt x="323362" y="133662"/>
                </a:lnTo>
                <a:lnTo>
                  <a:pt x="287517" y="159968"/>
                </a:lnTo>
                <a:lnTo>
                  <a:pt x="253344" y="188278"/>
                </a:lnTo>
                <a:lnTo>
                  <a:pt x="220932" y="218503"/>
                </a:lnTo>
                <a:lnTo>
                  <a:pt x="190369" y="250557"/>
                </a:lnTo>
                <a:lnTo>
                  <a:pt x="161744" y="284351"/>
                </a:lnTo>
                <a:lnTo>
                  <a:pt x="135144" y="319799"/>
                </a:lnTo>
                <a:lnTo>
                  <a:pt x="110659" y="356814"/>
                </a:lnTo>
                <a:lnTo>
                  <a:pt x="88376" y="395307"/>
                </a:lnTo>
                <a:lnTo>
                  <a:pt x="68384" y="435191"/>
                </a:lnTo>
                <a:lnTo>
                  <a:pt x="50771" y="476380"/>
                </a:lnTo>
                <a:lnTo>
                  <a:pt x="35626" y="518784"/>
                </a:lnTo>
                <a:lnTo>
                  <a:pt x="23036" y="562318"/>
                </a:lnTo>
                <a:lnTo>
                  <a:pt x="13090" y="606894"/>
                </a:lnTo>
                <a:lnTo>
                  <a:pt x="5876" y="652424"/>
                </a:lnTo>
                <a:lnTo>
                  <a:pt x="1483" y="698821"/>
                </a:lnTo>
                <a:lnTo>
                  <a:pt x="0" y="745998"/>
                </a:lnTo>
                <a:lnTo>
                  <a:pt x="1483" y="793174"/>
                </a:lnTo>
                <a:lnTo>
                  <a:pt x="5876" y="839571"/>
                </a:lnTo>
                <a:lnTo>
                  <a:pt x="13090" y="885101"/>
                </a:lnTo>
                <a:lnTo>
                  <a:pt x="23036" y="929677"/>
                </a:lnTo>
                <a:lnTo>
                  <a:pt x="35626" y="973211"/>
                </a:lnTo>
                <a:lnTo>
                  <a:pt x="50771" y="1015615"/>
                </a:lnTo>
                <a:lnTo>
                  <a:pt x="68384" y="1056804"/>
                </a:lnTo>
                <a:lnTo>
                  <a:pt x="88376" y="1096688"/>
                </a:lnTo>
                <a:lnTo>
                  <a:pt x="110659" y="1135181"/>
                </a:lnTo>
                <a:lnTo>
                  <a:pt x="135144" y="1172196"/>
                </a:lnTo>
                <a:lnTo>
                  <a:pt x="161744" y="1207644"/>
                </a:lnTo>
                <a:lnTo>
                  <a:pt x="190369" y="1241438"/>
                </a:lnTo>
                <a:lnTo>
                  <a:pt x="220932" y="1273492"/>
                </a:lnTo>
                <a:lnTo>
                  <a:pt x="253344" y="1303717"/>
                </a:lnTo>
                <a:lnTo>
                  <a:pt x="287517" y="1332027"/>
                </a:lnTo>
                <a:lnTo>
                  <a:pt x="323362" y="1358333"/>
                </a:lnTo>
                <a:lnTo>
                  <a:pt x="360792" y="1382549"/>
                </a:lnTo>
                <a:lnTo>
                  <a:pt x="399718" y="1404587"/>
                </a:lnTo>
                <a:lnTo>
                  <a:pt x="440051" y="1424360"/>
                </a:lnTo>
                <a:lnTo>
                  <a:pt x="481704" y="1441779"/>
                </a:lnTo>
                <a:lnTo>
                  <a:pt x="524587" y="1456759"/>
                </a:lnTo>
                <a:lnTo>
                  <a:pt x="568613" y="1469211"/>
                </a:lnTo>
                <a:lnTo>
                  <a:pt x="613694" y="1479048"/>
                </a:lnTo>
                <a:lnTo>
                  <a:pt x="659741" y="1486183"/>
                </a:lnTo>
                <a:lnTo>
                  <a:pt x="706666" y="1490528"/>
                </a:lnTo>
                <a:lnTo>
                  <a:pt x="754379" y="1491995"/>
                </a:lnTo>
                <a:lnTo>
                  <a:pt x="802093" y="1490528"/>
                </a:lnTo>
                <a:lnTo>
                  <a:pt x="849018" y="1486183"/>
                </a:lnTo>
                <a:lnTo>
                  <a:pt x="895065" y="1479048"/>
                </a:lnTo>
                <a:lnTo>
                  <a:pt x="940146" y="1469211"/>
                </a:lnTo>
                <a:lnTo>
                  <a:pt x="984172" y="1456759"/>
                </a:lnTo>
                <a:lnTo>
                  <a:pt x="1027055" y="1441779"/>
                </a:lnTo>
                <a:lnTo>
                  <a:pt x="1068708" y="1424360"/>
                </a:lnTo>
                <a:lnTo>
                  <a:pt x="1109041" y="1404587"/>
                </a:lnTo>
                <a:lnTo>
                  <a:pt x="1147967" y="1382549"/>
                </a:lnTo>
                <a:lnTo>
                  <a:pt x="1185397" y="1358333"/>
                </a:lnTo>
                <a:lnTo>
                  <a:pt x="1221242" y="1332027"/>
                </a:lnTo>
                <a:lnTo>
                  <a:pt x="1255415" y="1303717"/>
                </a:lnTo>
                <a:lnTo>
                  <a:pt x="1287827" y="1273492"/>
                </a:lnTo>
                <a:lnTo>
                  <a:pt x="1318390" y="1241438"/>
                </a:lnTo>
                <a:lnTo>
                  <a:pt x="1347015" y="1207644"/>
                </a:lnTo>
                <a:lnTo>
                  <a:pt x="1373615" y="1172196"/>
                </a:lnTo>
                <a:lnTo>
                  <a:pt x="1398100" y="1135181"/>
                </a:lnTo>
                <a:lnTo>
                  <a:pt x="1420383" y="1096688"/>
                </a:lnTo>
                <a:lnTo>
                  <a:pt x="1440375" y="1056804"/>
                </a:lnTo>
                <a:lnTo>
                  <a:pt x="1457988" y="1015615"/>
                </a:lnTo>
                <a:lnTo>
                  <a:pt x="1473133" y="973211"/>
                </a:lnTo>
                <a:lnTo>
                  <a:pt x="1485723" y="929677"/>
                </a:lnTo>
                <a:lnTo>
                  <a:pt x="1495669" y="885101"/>
                </a:lnTo>
                <a:lnTo>
                  <a:pt x="1502883" y="839571"/>
                </a:lnTo>
                <a:lnTo>
                  <a:pt x="1507276" y="793174"/>
                </a:lnTo>
                <a:lnTo>
                  <a:pt x="1508760" y="745998"/>
                </a:lnTo>
                <a:lnTo>
                  <a:pt x="1507276" y="698821"/>
                </a:lnTo>
                <a:lnTo>
                  <a:pt x="1502883" y="652424"/>
                </a:lnTo>
                <a:lnTo>
                  <a:pt x="1495669" y="606894"/>
                </a:lnTo>
                <a:lnTo>
                  <a:pt x="1485723" y="562318"/>
                </a:lnTo>
                <a:lnTo>
                  <a:pt x="1473133" y="518784"/>
                </a:lnTo>
                <a:lnTo>
                  <a:pt x="1457988" y="476380"/>
                </a:lnTo>
                <a:lnTo>
                  <a:pt x="1440375" y="435191"/>
                </a:lnTo>
                <a:lnTo>
                  <a:pt x="1420383" y="395307"/>
                </a:lnTo>
                <a:lnTo>
                  <a:pt x="1398100" y="356814"/>
                </a:lnTo>
                <a:lnTo>
                  <a:pt x="1373615" y="319799"/>
                </a:lnTo>
                <a:lnTo>
                  <a:pt x="1347015" y="284351"/>
                </a:lnTo>
                <a:lnTo>
                  <a:pt x="1318390" y="250557"/>
                </a:lnTo>
                <a:lnTo>
                  <a:pt x="1287827" y="218503"/>
                </a:lnTo>
                <a:lnTo>
                  <a:pt x="1255415" y="188278"/>
                </a:lnTo>
                <a:lnTo>
                  <a:pt x="1221242" y="159968"/>
                </a:lnTo>
                <a:lnTo>
                  <a:pt x="1185397" y="133662"/>
                </a:lnTo>
                <a:lnTo>
                  <a:pt x="1147967" y="109446"/>
                </a:lnTo>
                <a:lnTo>
                  <a:pt x="1109041" y="87408"/>
                </a:lnTo>
                <a:lnTo>
                  <a:pt x="1068708" y="67635"/>
                </a:lnTo>
                <a:lnTo>
                  <a:pt x="1027055" y="50216"/>
                </a:lnTo>
                <a:lnTo>
                  <a:pt x="984172" y="35236"/>
                </a:lnTo>
                <a:lnTo>
                  <a:pt x="940146" y="22784"/>
                </a:lnTo>
                <a:lnTo>
                  <a:pt x="895065" y="12947"/>
                </a:lnTo>
                <a:lnTo>
                  <a:pt x="849018" y="5812"/>
                </a:lnTo>
                <a:lnTo>
                  <a:pt x="802093" y="1467"/>
                </a:lnTo>
                <a:lnTo>
                  <a:pt x="75437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02964" y="2037588"/>
            <a:ext cx="1443355" cy="1428115"/>
          </a:xfrm>
          <a:custGeom>
            <a:avLst/>
            <a:gdLst/>
            <a:ahLst/>
            <a:cxnLst/>
            <a:rect l="l" t="t" r="r" b="b"/>
            <a:pathLst>
              <a:path w="1443354" h="1428114">
                <a:moveTo>
                  <a:pt x="721613" y="0"/>
                </a:moveTo>
                <a:lnTo>
                  <a:pt x="674168" y="1518"/>
                </a:lnTo>
                <a:lnTo>
                  <a:pt x="627542" y="6012"/>
                </a:lnTo>
                <a:lnTo>
                  <a:pt x="581831" y="13385"/>
                </a:lnTo>
                <a:lnTo>
                  <a:pt x="537129" y="23546"/>
                </a:lnTo>
                <a:lnTo>
                  <a:pt x="493532" y="36399"/>
                </a:lnTo>
                <a:lnTo>
                  <a:pt x="451134" y="51850"/>
                </a:lnTo>
                <a:lnTo>
                  <a:pt x="410031" y="69805"/>
                </a:lnTo>
                <a:lnTo>
                  <a:pt x="370318" y="90171"/>
                </a:lnTo>
                <a:lnTo>
                  <a:pt x="332090" y="112853"/>
                </a:lnTo>
                <a:lnTo>
                  <a:pt x="295442" y="137757"/>
                </a:lnTo>
                <a:lnTo>
                  <a:pt x="260469" y="164789"/>
                </a:lnTo>
                <a:lnTo>
                  <a:pt x="227267" y="193855"/>
                </a:lnTo>
                <a:lnTo>
                  <a:pt x="195930" y="224860"/>
                </a:lnTo>
                <a:lnTo>
                  <a:pt x="166553" y="257712"/>
                </a:lnTo>
                <a:lnTo>
                  <a:pt x="139232" y="292315"/>
                </a:lnTo>
                <a:lnTo>
                  <a:pt x="114062" y="328576"/>
                </a:lnTo>
                <a:lnTo>
                  <a:pt x="91137" y="366400"/>
                </a:lnTo>
                <a:lnTo>
                  <a:pt x="70553" y="405694"/>
                </a:lnTo>
                <a:lnTo>
                  <a:pt x="52406" y="446363"/>
                </a:lnTo>
                <a:lnTo>
                  <a:pt x="36789" y="488313"/>
                </a:lnTo>
                <a:lnTo>
                  <a:pt x="23798" y="531451"/>
                </a:lnTo>
                <a:lnTo>
                  <a:pt x="13529" y="575682"/>
                </a:lnTo>
                <a:lnTo>
                  <a:pt x="6076" y="620912"/>
                </a:lnTo>
                <a:lnTo>
                  <a:pt x="1534" y="667047"/>
                </a:lnTo>
                <a:lnTo>
                  <a:pt x="0" y="713994"/>
                </a:lnTo>
                <a:lnTo>
                  <a:pt x="1534" y="760940"/>
                </a:lnTo>
                <a:lnTo>
                  <a:pt x="6076" y="807075"/>
                </a:lnTo>
                <a:lnTo>
                  <a:pt x="13529" y="852305"/>
                </a:lnTo>
                <a:lnTo>
                  <a:pt x="23798" y="896536"/>
                </a:lnTo>
                <a:lnTo>
                  <a:pt x="36789" y="939674"/>
                </a:lnTo>
                <a:lnTo>
                  <a:pt x="52406" y="981624"/>
                </a:lnTo>
                <a:lnTo>
                  <a:pt x="70553" y="1022293"/>
                </a:lnTo>
                <a:lnTo>
                  <a:pt x="91137" y="1061587"/>
                </a:lnTo>
                <a:lnTo>
                  <a:pt x="114062" y="1099411"/>
                </a:lnTo>
                <a:lnTo>
                  <a:pt x="139232" y="1135672"/>
                </a:lnTo>
                <a:lnTo>
                  <a:pt x="166553" y="1170275"/>
                </a:lnTo>
                <a:lnTo>
                  <a:pt x="195930" y="1203127"/>
                </a:lnTo>
                <a:lnTo>
                  <a:pt x="227267" y="1234132"/>
                </a:lnTo>
                <a:lnTo>
                  <a:pt x="260469" y="1263198"/>
                </a:lnTo>
                <a:lnTo>
                  <a:pt x="295442" y="1290230"/>
                </a:lnTo>
                <a:lnTo>
                  <a:pt x="332090" y="1315134"/>
                </a:lnTo>
                <a:lnTo>
                  <a:pt x="370318" y="1337816"/>
                </a:lnTo>
                <a:lnTo>
                  <a:pt x="410031" y="1358182"/>
                </a:lnTo>
                <a:lnTo>
                  <a:pt x="451134" y="1376137"/>
                </a:lnTo>
                <a:lnTo>
                  <a:pt x="493532" y="1391588"/>
                </a:lnTo>
                <a:lnTo>
                  <a:pt x="537129" y="1404441"/>
                </a:lnTo>
                <a:lnTo>
                  <a:pt x="581831" y="1414602"/>
                </a:lnTo>
                <a:lnTo>
                  <a:pt x="627542" y="1421975"/>
                </a:lnTo>
                <a:lnTo>
                  <a:pt x="674168" y="1426469"/>
                </a:lnTo>
                <a:lnTo>
                  <a:pt x="721613" y="1427988"/>
                </a:lnTo>
                <a:lnTo>
                  <a:pt x="769059" y="1426469"/>
                </a:lnTo>
                <a:lnTo>
                  <a:pt x="815685" y="1421975"/>
                </a:lnTo>
                <a:lnTo>
                  <a:pt x="861396" y="1414602"/>
                </a:lnTo>
                <a:lnTo>
                  <a:pt x="906098" y="1404441"/>
                </a:lnTo>
                <a:lnTo>
                  <a:pt x="949695" y="1391588"/>
                </a:lnTo>
                <a:lnTo>
                  <a:pt x="992093" y="1376137"/>
                </a:lnTo>
                <a:lnTo>
                  <a:pt x="1033196" y="1358182"/>
                </a:lnTo>
                <a:lnTo>
                  <a:pt x="1072909" y="1337816"/>
                </a:lnTo>
                <a:lnTo>
                  <a:pt x="1111137" y="1315134"/>
                </a:lnTo>
                <a:lnTo>
                  <a:pt x="1147785" y="1290230"/>
                </a:lnTo>
                <a:lnTo>
                  <a:pt x="1182758" y="1263198"/>
                </a:lnTo>
                <a:lnTo>
                  <a:pt x="1215960" y="1234132"/>
                </a:lnTo>
                <a:lnTo>
                  <a:pt x="1247297" y="1203127"/>
                </a:lnTo>
                <a:lnTo>
                  <a:pt x="1276674" y="1170275"/>
                </a:lnTo>
                <a:lnTo>
                  <a:pt x="1303995" y="1135672"/>
                </a:lnTo>
                <a:lnTo>
                  <a:pt x="1329165" y="1099411"/>
                </a:lnTo>
                <a:lnTo>
                  <a:pt x="1352090" y="1061587"/>
                </a:lnTo>
                <a:lnTo>
                  <a:pt x="1372674" y="1022293"/>
                </a:lnTo>
                <a:lnTo>
                  <a:pt x="1390821" y="981624"/>
                </a:lnTo>
                <a:lnTo>
                  <a:pt x="1406438" y="939674"/>
                </a:lnTo>
                <a:lnTo>
                  <a:pt x="1419429" y="896536"/>
                </a:lnTo>
                <a:lnTo>
                  <a:pt x="1429698" y="852305"/>
                </a:lnTo>
                <a:lnTo>
                  <a:pt x="1437151" y="807075"/>
                </a:lnTo>
                <a:lnTo>
                  <a:pt x="1441693" y="760940"/>
                </a:lnTo>
                <a:lnTo>
                  <a:pt x="1443227" y="713994"/>
                </a:lnTo>
                <a:lnTo>
                  <a:pt x="1441693" y="667047"/>
                </a:lnTo>
                <a:lnTo>
                  <a:pt x="1437151" y="620912"/>
                </a:lnTo>
                <a:lnTo>
                  <a:pt x="1429698" y="575682"/>
                </a:lnTo>
                <a:lnTo>
                  <a:pt x="1419429" y="531451"/>
                </a:lnTo>
                <a:lnTo>
                  <a:pt x="1406438" y="488313"/>
                </a:lnTo>
                <a:lnTo>
                  <a:pt x="1390821" y="446363"/>
                </a:lnTo>
                <a:lnTo>
                  <a:pt x="1372674" y="405694"/>
                </a:lnTo>
                <a:lnTo>
                  <a:pt x="1352090" y="366400"/>
                </a:lnTo>
                <a:lnTo>
                  <a:pt x="1329165" y="328576"/>
                </a:lnTo>
                <a:lnTo>
                  <a:pt x="1303995" y="292315"/>
                </a:lnTo>
                <a:lnTo>
                  <a:pt x="1276674" y="257712"/>
                </a:lnTo>
                <a:lnTo>
                  <a:pt x="1247297" y="224860"/>
                </a:lnTo>
                <a:lnTo>
                  <a:pt x="1215960" y="193855"/>
                </a:lnTo>
                <a:lnTo>
                  <a:pt x="1182758" y="164789"/>
                </a:lnTo>
                <a:lnTo>
                  <a:pt x="1147785" y="137757"/>
                </a:lnTo>
                <a:lnTo>
                  <a:pt x="1111137" y="112853"/>
                </a:lnTo>
                <a:lnTo>
                  <a:pt x="1072909" y="90171"/>
                </a:lnTo>
                <a:lnTo>
                  <a:pt x="1033196" y="69805"/>
                </a:lnTo>
                <a:lnTo>
                  <a:pt x="992093" y="51850"/>
                </a:lnTo>
                <a:lnTo>
                  <a:pt x="949695" y="36399"/>
                </a:lnTo>
                <a:lnTo>
                  <a:pt x="906098" y="23546"/>
                </a:lnTo>
                <a:lnTo>
                  <a:pt x="861396" y="13385"/>
                </a:lnTo>
                <a:lnTo>
                  <a:pt x="815685" y="6012"/>
                </a:lnTo>
                <a:lnTo>
                  <a:pt x="769059" y="1518"/>
                </a:lnTo>
                <a:lnTo>
                  <a:pt x="721613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88107" y="4337303"/>
            <a:ext cx="1632585" cy="1612900"/>
          </a:xfrm>
          <a:custGeom>
            <a:avLst/>
            <a:gdLst/>
            <a:ahLst/>
            <a:cxnLst/>
            <a:rect l="l" t="t" r="r" b="b"/>
            <a:pathLst>
              <a:path w="1632585" h="1612900">
                <a:moveTo>
                  <a:pt x="816102" y="0"/>
                </a:moveTo>
                <a:lnTo>
                  <a:pt x="768149" y="1368"/>
                </a:lnTo>
                <a:lnTo>
                  <a:pt x="720926" y="5423"/>
                </a:lnTo>
                <a:lnTo>
                  <a:pt x="674510" y="12089"/>
                </a:lnTo>
                <a:lnTo>
                  <a:pt x="628976" y="21291"/>
                </a:lnTo>
                <a:lnTo>
                  <a:pt x="584402" y="32953"/>
                </a:lnTo>
                <a:lnTo>
                  <a:pt x="540863" y="46998"/>
                </a:lnTo>
                <a:lnTo>
                  <a:pt x="498437" y="63353"/>
                </a:lnTo>
                <a:lnTo>
                  <a:pt x="457200" y="81940"/>
                </a:lnTo>
                <a:lnTo>
                  <a:pt x="417228" y="102685"/>
                </a:lnTo>
                <a:lnTo>
                  <a:pt x="378598" y="125512"/>
                </a:lnTo>
                <a:lnTo>
                  <a:pt x="341387" y="150344"/>
                </a:lnTo>
                <a:lnTo>
                  <a:pt x="305670" y="177108"/>
                </a:lnTo>
                <a:lnTo>
                  <a:pt x="271526" y="205726"/>
                </a:lnTo>
                <a:lnTo>
                  <a:pt x="239029" y="236124"/>
                </a:lnTo>
                <a:lnTo>
                  <a:pt x="208258" y="268226"/>
                </a:lnTo>
                <a:lnTo>
                  <a:pt x="179287" y="301956"/>
                </a:lnTo>
                <a:lnTo>
                  <a:pt x="152195" y="337238"/>
                </a:lnTo>
                <a:lnTo>
                  <a:pt x="127056" y="373998"/>
                </a:lnTo>
                <a:lnTo>
                  <a:pt x="103949" y="412159"/>
                </a:lnTo>
                <a:lnTo>
                  <a:pt x="82949" y="451646"/>
                </a:lnTo>
                <a:lnTo>
                  <a:pt x="64133" y="492382"/>
                </a:lnTo>
                <a:lnTo>
                  <a:pt x="47577" y="534294"/>
                </a:lnTo>
                <a:lnTo>
                  <a:pt x="33358" y="577304"/>
                </a:lnTo>
                <a:lnTo>
                  <a:pt x="21553" y="621338"/>
                </a:lnTo>
                <a:lnTo>
                  <a:pt x="12238" y="666320"/>
                </a:lnTo>
                <a:lnTo>
                  <a:pt x="5490" y="712174"/>
                </a:lnTo>
                <a:lnTo>
                  <a:pt x="1385" y="758824"/>
                </a:lnTo>
                <a:lnTo>
                  <a:pt x="0" y="806196"/>
                </a:lnTo>
                <a:lnTo>
                  <a:pt x="1385" y="853566"/>
                </a:lnTo>
                <a:lnTo>
                  <a:pt x="5490" y="900215"/>
                </a:lnTo>
                <a:lnTo>
                  <a:pt x="12238" y="946068"/>
                </a:lnTo>
                <a:lnTo>
                  <a:pt x="21553" y="991049"/>
                </a:lnTo>
                <a:lnTo>
                  <a:pt x="33358" y="1035082"/>
                </a:lnTo>
                <a:lnTo>
                  <a:pt x="47577" y="1078092"/>
                </a:lnTo>
                <a:lnTo>
                  <a:pt x="64133" y="1120003"/>
                </a:lnTo>
                <a:lnTo>
                  <a:pt x="82949" y="1160740"/>
                </a:lnTo>
                <a:lnTo>
                  <a:pt x="103949" y="1200227"/>
                </a:lnTo>
                <a:lnTo>
                  <a:pt x="127056" y="1238387"/>
                </a:lnTo>
                <a:lnTo>
                  <a:pt x="152195" y="1275147"/>
                </a:lnTo>
                <a:lnTo>
                  <a:pt x="179287" y="1310430"/>
                </a:lnTo>
                <a:lnTo>
                  <a:pt x="208258" y="1344160"/>
                </a:lnTo>
                <a:lnTo>
                  <a:pt x="239029" y="1376262"/>
                </a:lnTo>
                <a:lnTo>
                  <a:pt x="271526" y="1406660"/>
                </a:lnTo>
                <a:lnTo>
                  <a:pt x="305670" y="1435279"/>
                </a:lnTo>
                <a:lnTo>
                  <a:pt x="341387" y="1462043"/>
                </a:lnTo>
                <a:lnTo>
                  <a:pt x="378598" y="1486876"/>
                </a:lnTo>
                <a:lnTo>
                  <a:pt x="417228" y="1509703"/>
                </a:lnTo>
                <a:lnTo>
                  <a:pt x="457200" y="1530449"/>
                </a:lnTo>
                <a:lnTo>
                  <a:pt x="498437" y="1549037"/>
                </a:lnTo>
                <a:lnTo>
                  <a:pt x="540863" y="1565391"/>
                </a:lnTo>
                <a:lnTo>
                  <a:pt x="584402" y="1579437"/>
                </a:lnTo>
                <a:lnTo>
                  <a:pt x="628976" y="1591099"/>
                </a:lnTo>
                <a:lnTo>
                  <a:pt x="674510" y="1600301"/>
                </a:lnTo>
                <a:lnTo>
                  <a:pt x="720926" y="1606968"/>
                </a:lnTo>
                <a:lnTo>
                  <a:pt x="768149" y="1611023"/>
                </a:lnTo>
                <a:lnTo>
                  <a:pt x="816102" y="1612392"/>
                </a:lnTo>
                <a:lnTo>
                  <a:pt x="864054" y="1611023"/>
                </a:lnTo>
                <a:lnTo>
                  <a:pt x="911277" y="1606968"/>
                </a:lnTo>
                <a:lnTo>
                  <a:pt x="957693" y="1600301"/>
                </a:lnTo>
                <a:lnTo>
                  <a:pt x="1003227" y="1591099"/>
                </a:lnTo>
                <a:lnTo>
                  <a:pt x="1047801" y="1579437"/>
                </a:lnTo>
                <a:lnTo>
                  <a:pt x="1091340" y="1565391"/>
                </a:lnTo>
                <a:lnTo>
                  <a:pt x="1133766" y="1549037"/>
                </a:lnTo>
                <a:lnTo>
                  <a:pt x="1175004" y="1530449"/>
                </a:lnTo>
                <a:lnTo>
                  <a:pt x="1214975" y="1509703"/>
                </a:lnTo>
                <a:lnTo>
                  <a:pt x="1253605" y="1486876"/>
                </a:lnTo>
                <a:lnTo>
                  <a:pt x="1290816" y="1462043"/>
                </a:lnTo>
                <a:lnTo>
                  <a:pt x="1326533" y="1435279"/>
                </a:lnTo>
                <a:lnTo>
                  <a:pt x="1360677" y="1406660"/>
                </a:lnTo>
                <a:lnTo>
                  <a:pt x="1393174" y="1376262"/>
                </a:lnTo>
                <a:lnTo>
                  <a:pt x="1423945" y="1344160"/>
                </a:lnTo>
                <a:lnTo>
                  <a:pt x="1452916" y="1310430"/>
                </a:lnTo>
                <a:lnTo>
                  <a:pt x="1480008" y="1275147"/>
                </a:lnTo>
                <a:lnTo>
                  <a:pt x="1505147" y="1238387"/>
                </a:lnTo>
                <a:lnTo>
                  <a:pt x="1528254" y="1200227"/>
                </a:lnTo>
                <a:lnTo>
                  <a:pt x="1549254" y="1160740"/>
                </a:lnTo>
                <a:lnTo>
                  <a:pt x="1568070" y="1120003"/>
                </a:lnTo>
                <a:lnTo>
                  <a:pt x="1584626" y="1078092"/>
                </a:lnTo>
                <a:lnTo>
                  <a:pt x="1598845" y="1035082"/>
                </a:lnTo>
                <a:lnTo>
                  <a:pt x="1610650" y="991049"/>
                </a:lnTo>
                <a:lnTo>
                  <a:pt x="1619965" y="946068"/>
                </a:lnTo>
                <a:lnTo>
                  <a:pt x="1626713" y="900215"/>
                </a:lnTo>
                <a:lnTo>
                  <a:pt x="1630818" y="853566"/>
                </a:lnTo>
                <a:lnTo>
                  <a:pt x="1632204" y="806196"/>
                </a:lnTo>
                <a:lnTo>
                  <a:pt x="1630818" y="758824"/>
                </a:lnTo>
                <a:lnTo>
                  <a:pt x="1626713" y="712174"/>
                </a:lnTo>
                <a:lnTo>
                  <a:pt x="1619965" y="666320"/>
                </a:lnTo>
                <a:lnTo>
                  <a:pt x="1610650" y="621338"/>
                </a:lnTo>
                <a:lnTo>
                  <a:pt x="1598845" y="577304"/>
                </a:lnTo>
                <a:lnTo>
                  <a:pt x="1584626" y="534294"/>
                </a:lnTo>
                <a:lnTo>
                  <a:pt x="1568070" y="492382"/>
                </a:lnTo>
                <a:lnTo>
                  <a:pt x="1549254" y="451646"/>
                </a:lnTo>
                <a:lnTo>
                  <a:pt x="1528254" y="412159"/>
                </a:lnTo>
                <a:lnTo>
                  <a:pt x="1505147" y="373998"/>
                </a:lnTo>
                <a:lnTo>
                  <a:pt x="1480008" y="337238"/>
                </a:lnTo>
                <a:lnTo>
                  <a:pt x="1452916" y="301956"/>
                </a:lnTo>
                <a:lnTo>
                  <a:pt x="1423945" y="268226"/>
                </a:lnTo>
                <a:lnTo>
                  <a:pt x="1393174" y="236124"/>
                </a:lnTo>
                <a:lnTo>
                  <a:pt x="1360677" y="205726"/>
                </a:lnTo>
                <a:lnTo>
                  <a:pt x="1326533" y="177108"/>
                </a:lnTo>
                <a:lnTo>
                  <a:pt x="1290816" y="150344"/>
                </a:lnTo>
                <a:lnTo>
                  <a:pt x="1253605" y="125512"/>
                </a:lnTo>
                <a:lnTo>
                  <a:pt x="1214975" y="102685"/>
                </a:lnTo>
                <a:lnTo>
                  <a:pt x="1175004" y="81940"/>
                </a:lnTo>
                <a:lnTo>
                  <a:pt x="1133766" y="63353"/>
                </a:lnTo>
                <a:lnTo>
                  <a:pt x="1091340" y="46998"/>
                </a:lnTo>
                <a:lnTo>
                  <a:pt x="1047801" y="32953"/>
                </a:lnTo>
                <a:lnTo>
                  <a:pt x="1003227" y="21291"/>
                </a:lnTo>
                <a:lnTo>
                  <a:pt x="957693" y="12089"/>
                </a:lnTo>
                <a:lnTo>
                  <a:pt x="911277" y="5423"/>
                </a:lnTo>
                <a:lnTo>
                  <a:pt x="864054" y="1368"/>
                </a:lnTo>
                <a:lnTo>
                  <a:pt x="816102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24683" y="4373879"/>
            <a:ext cx="1560830" cy="1542415"/>
          </a:xfrm>
          <a:custGeom>
            <a:avLst/>
            <a:gdLst/>
            <a:ahLst/>
            <a:cxnLst/>
            <a:rect l="l" t="t" r="r" b="b"/>
            <a:pathLst>
              <a:path w="1560829" h="1542414">
                <a:moveTo>
                  <a:pt x="780288" y="0"/>
                </a:moveTo>
                <a:lnTo>
                  <a:pt x="732758" y="1407"/>
                </a:lnTo>
                <a:lnTo>
                  <a:pt x="685980" y="5576"/>
                </a:lnTo>
                <a:lnTo>
                  <a:pt x="640038" y="12426"/>
                </a:lnTo>
                <a:lnTo>
                  <a:pt x="595011" y="21875"/>
                </a:lnTo>
                <a:lnTo>
                  <a:pt x="550982" y="33844"/>
                </a:lnTo>
                <a:lnTo>
                  <a:pt x="508032" y="48251"/>
                </a:lnTo>
                <a:lnTo>
                  <a:pt x="466243" y="65016"/>
                </a:lnTo>
                <a:lnTo>
                  <a:pt x="425697" y="84058"/>
                </a:lnTo>
                <a:lnTo>
                  <a:pt x="386475" y="105297"/>
                </a:lnTo>
                <a:lnTo>
                  <a:pt x="348658" y="128651"/>
                </a:lnTo>
                <a:lnTo>
                  <a:pt x="312330" y="154040"/>
                </a:lnTo>
                <a:lnTo>
                  <a:pt x="277570" y="181383"/>
                </a:lnTo>
                <a:lnTo>
                  <a:pt x="244462" y="210599"/>
                </a:lnTo>
                <a:lnTo>
                  <a:pt x="213085" y="241609"/>
                </a:lnTo>
                <a:lnTo>
                  <a:pt x="183523" y="274330"/>
                </a:lnTo>
                <a:lnTo>
                  <a:pt x="155857" y="308683"/>
                </a:lnTo>
                <a:lnTo>
                  <a:pt x="130168" y="344586"/>
                </a:lnTo>
                <a:lnTo>
                  <a:pt x="106538" y="381959"/>
                </a:lnTo>
                <a:lnTo>
                  <a:pt x="85049" y="420721"/>
                </a:lnTo>
                <a:lnTo>
                  <a:pt x="65783" y="460792"/>
                </a:lnTo>
                <a:lnTo>
                  <a:pt x="48820" y="502091"/>
                </a:lnTo>
                <a:lnTo>
                  <a:pt x="34243" y="544536"/>
                </a:lnTo>
                <a:lnTo>
                  <a:pt x="22133" y="588048"/>
                </a:lnTo>
                <a:lnTo>
                  <a:pt x="12572" y="632545"/>
                </a:lnTo>
                <a:lnTo>
                  <a:pt x="5642" y="677947"/>
                </a:lnTo>
                <a:lnTo>
                  <a:pt x="1424" y="724174"/>
                </a:lnTo>
                <a:lnTo>
                  <a:pt x="0" y="771144"/>
                </a:lnTo>
                <a:lnTo>
                  <a:pt x="1424" y="818113"/>
                </a:lnTo>
                <a:lnTo>
                  <a:pt x="5642" y="864340"/>
                </a:lnTo>
                <a:lnTo>
                  <a:pt x="12572" y="909742"/>
                </a:lnTo>
                <a:lnTo>
                  <a:pt x="22133" y="954239"/>
                </a:lnTo>
                <a:lnTo>
                  <a:pt x="34243" y="997751"/>
                </a:lnTo>
                <a:lnTo>
                  <a:pt x="48820" y="1040196"/>
                </a:lnTo>
                <a:lnTo>
                  <a:pt x="65783" y="1081495"/>
                </a:lnTo>
                <a:lnTo>
                  <a:pt x="85049" y="1121566"/>
                </a:lnTo>
                <a:lnTo>
                  <a:pt x="106538" y="1160328"/>
                </a:lnTo>
                <a:lnTo>
                  <a:pt x="130168" y="1197701"/>
                </a:lnTo>
                <a:lnTo>
                  <a:pt x="155857" y="1233604"/>
                </a:lnTo>
                <a:lnTo>
                  <a:pt x="183523" y="1267957"/>
                </a:lnTo>
                <a:lnTo>
                  <a:pt x="213085" y="1300678"/>
                </a:lnTo>
                <a:lnTo>
                  <a:pt x="244462" y="1331688"/>
                </a:lnTo>
                <a:lnTo>
                  <a:pt x="277570" y="1360904"/>
                </a:lnTo>
                <a:lnTo>
                  <a:pt x="312330" y="1388247"/>
                </a:lnTo>
                <a:lnTo>
                  <a:pt x="348658" y="1413636"/>
                </a:lnTo>
                <a:lnTo>
                  <a:pt x="386475" y="1436990"/>
                </a:lnTo>
                <a:lnTo>
                  <a:pt x="425697" y="1458229"/>
                </a:lnTo>
                <a:lnTo>
                  <a:pt x="466243" y="1477271"/>
                </a:lnTo>
                <a:lnTo>
                  <a:pt x="508032" y="1494036"/>
                </a:lnTo>
                <a:lnTo>
                  <a:pt x="550982" y="1508443"/>
                </a:lnTo>
                <a:lnTo>
                  <a:pt x="595011" y="1520412"/>
                </a:lnTo>
                <a:lnTo>
                  <a:pt x="640038" y="1529861"/>
                </a:lnTo>
                <a:lnTo>
                  <a:pt x="685980" y="1536711"/>
                </a:lnTo>
                <a:lnTo>
                  <a:pt x="732758" y="1540880"/>
                </a:lnTo>
                <a:lnTo>
                  <a:pt x="780288" y="1542288"/>
                </a:lnTo>
                <a:lnTo>
                  <a:pt x="827817" y="1540880"/>
                </a:lnTo>
                <a:lnTo>
                  <a:pt x="874595" y="1536711"/>
                </a:lnTo>
                <a:lnTo>
                  <a:pt x="920537" y="1529861"/>
                </a:lnTo>
                <a:lnTo>
                  <a:pt x="965564" y="1520412"/>
                </a:lnTo>
                <a:lnTo>
                  <a:pt x="1009593" y="1508443"/>
                </a:lnTo>
                <a:lnTo>
                  <a:pt x="1052543" y="1494036"/>
                </a:lnTo>
                <a:lnTo>
                  <a:pt x="1094332" y="1477271"/>
                </a:lnTo>
                <a:lnTo>
                  <a:pt x="1134878" y="1458229"/>
                </a:lnTo>
                <a:lnTo>
                  <a:pt x="1174100" y="1436990"/>
                </a:lnTo>
                <a:lnTo>
                  <a:pt x="1211917" y="1413636"/>
                </a:lnTo>
                <a:lnTo>
                  <a:pt x="1248245" y="1388247"/>
                </a:lnTo>
                <a:lnTo>
                  <a:pt x="1283005" y="1360904"/>
                </a:lnTo>
                <a:lnTo>
                  <a:pt x="1316113" y="1331688"/>
                </a:lnTo>
                <a:lnTo>
                  <a:pt x="1347490" y="1300678"/>
                </a:lnTo>
                <a:lnTo>
                  <a:pt x="1377052" y="1267957"/>
                </a:lnTo>
                <a:lnTo>
                  <a:pt x="1404718" y="1233604"/>
                </a:lnTo>
                <a:lnTo>
                  <a:pt x="1430407" y="1197701"/>
                </a:lnTo>
                <a:lnTo>
                  <a:pt x="1454037" y="1160328"/>
                </a:lnTo>
                <a:lnTo>
                  <a:pt x="1475526" y="1121566"/>
                </a:lnTo>
                <a:lnTo>
                  <a:pt x="1494792" y="1081495"/>
                </a:lnTo>
                <a:lnTo>
                  <a:pt x="1511755" y="1040196"/>
                </a:lnTo>
                <a:lnTo>
                  <a:pt x="1526332" y="997751"/>
                </a:lnTo>
                <a:lnTo>
                  <a:pt x="1538442" y="954239"/>
                </a:lnTo>
                <a:lnTo>
                  <a:pt x="1548003" y="909742"/>
                </a:lnTo>
                <a:lnTo>
                  <a:pt x="1554933" y="864340"/>
                </a:lnTo>
                <a:lnTo>
                  <a:pt x="1559151" y="818113"/>
                </a:lnTo>
                <a:lnTo>
                  <a:pt x="1560576" y="771144"/>
                </a:lnTo>
                <a:lnTo>
                  <a:pt x="1559151" y="724174"/>
                </a:lnTo>
                <a:lnTo>
                  <a:pt x="1554933" y="677947"/>
                </a:lnTo>
                <a:lnTo>
                  <a:pt x="1548003" y="632545"/>
                </a:lnTo>
                <a:lnTo>
                  <a:pt x="1538442" y="588048"/>
                </a:lnTo>
                <a:lnTo>
                  <a:pt x="1526332" y="544536"/>
                </a:lnTo>
                <a:lnTo>
                  <a:pt x="1511755" y="502091"/>
                </a:lnTo>
                <a:lnTo>
                  <a:pt x="1494792" y="460792"/>
                </a:lnTo>
                <a:lnTo>
                  <a:pt x="1475526" y="420721"/>
                </a:lnTo>
                <a:lnTo>
                  <a:pt x="1454037" y="381959"/>
                </a:lnTo>
                <a:lnTo>
                  <a:pt x="1430407" y="344586"/>
                </a:lnTo>
                <a:lnTo>
                  <a:pt x="1404718" y="308683"/>
                </a:lnTo>
                <a:lnTo>
                  <a:pt x="1377052" y="274330"/>
                </a:lnTo>
                <a:lnTo>
                  <a:pt x="1347490" y="241609"/>
                </a:lnTo>
                <a:lnTo>
                  <a:pt x="1316113" y="210599"/>
                </a:lnTo>
                <a:lnTo>
                  <a:pt x="1283005" y="181383"/>
                </a:lnTo>
                <a:lnTo>
                  <a:pt x="1248245" y="154040"/>
                </a:lnTo>
                <a:lnTo>
                  <a:pt x="1211917" y="128651"/>
                </a:lnTo>
                <a:lnTo>
                  <a:pt x="1174100" y="105297"/>
                </a:lnTo>
                <a:lnTo>
                  <a:pt x="1134878" y="84058"/>
                </a:lnTo>
                <a:lnTo>
                  <a:pt x="1094332" y="65016"/>
                </a:lnTo>
                <a:lnTo>
                  <a:pt x="1052543" y="48251"/>
                </a:lnTo>
                <a:lnTo>
                  <a:pt x="1009593" y="33844"/>
                </a:lnTo>
                <a:lnTo>
                  <a:pt x="965564" y="21875"/>
                </a:lnTo>
                <a:lnTo>
                  <a:pt x="920537" y="12426"/>
                </a:lnTo>
                <a:lnTo>
                  <a:pt x="874595" y="5576"/>
                </a:lnTo>
                <a:lnTo>
                  <a:pt x="827817" y="1407"/>
                </a:lnTo>
                <a:lnTo>
                  <a:pt x="780288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59735" y="4407408"/>
            <a:ext cx="1508760" cy="1492250"/>
          </a:xfrm>
          <a:custGeom>
            <a:avLst/>
            <a:gdLst/>
            <a:ahLst/>
            <a:cxnLst/>
            <a:rect l="l" t="t" r="r" b="b"/>
            <a:pathLst>
              <a:path w="1508760" h="1492250">
                <a:moveTo>
                  <a:pt x="754380" y="0"/>
                </a:moveTo>
                <a:lnTo>
                  <a:pt x="706666" y="1467"/>
                </a:lnTo>
                <a:lnTo>
                  <a:pt x="659741" y="5812"/>
                </a:lnTo>
                <a:lnTo>
                  <a:pt x="613694" y="12947"/>
                </a:lnTo>
                <a:lnTo>
                  <a:pt x="568613" y="22784"/>
                </a:lnTo>
                <a:lnTo>
                  <a:pt x="524587" y="35236"/>
                </a:lnTo>
                <a:lnTo>
                  <a:pt x="481704" y="50216"/>
                </a:lnTo>
                <a:lnTo>
                  <a:pt x="440051" y="67635"/>
                </a:lnTo>
                <a:lnTo>
                  <a:pt x="399718" y="87408"/>
                </a:lnTo>
                <a:lnTo>
                  <a:pt x="360792" y="109446"/>
                </a:lnTo>
                <a:lnTo>
                  <a:pt x="323362" y="133662"/>
                </a:lnTo>
                <a:lnTo>
                  <a:pt x="287517" y="159968"/>
                </a:lnTo>
                <a:lnTo>
                  <a:pt x="253344" y="188278"/>
                </a:lnTo>
                <a:lnTo>
                  <a:pt x="220932" y="218503"/>
                </a:lnTo>
                <a:lnTo>
                  <a:pt x="190369" y="250557"/>
                </a:lnTo>
                <a:lnTo>
                  <a:pt x="161744" y="284351"/>
                </a:lnTo>
                <a:lnTo>
                  <a:pt x="135144" y="319799"/>
                </a:lnTo>
                <a:lnTo>
                  <a:pt x="110659" y="356814"/>
                </a:lnTo>
                <a:lnTo>
                  <a:pt x="88376" y="395307"/>
                </a:lnTo>
                <a:lnTo>
                  <a:pt x="68384" y="435191"/>
                </a:lnTo>
                <a:lnTo>
                  <a:pt x="50771" y="476380"/>
                </a:lnTo>
                <a:lnTo>
                  <a:pt x="35626" y="518784"/>
                </a:lnTo>
                <a:lnTo>
                  <a:pt x="23036" y="562318"/>
                </a:lnTo>
                <a:lnTo>
                  <a:pt x="13090" y="606894"/>
                </a:lnTo>
                <a:lnTo>
                  <a:pt x="5876" y="652424"/>
                </a:lnTo>
                <a:lnTo>
                  <a:pt x="1483" y="698821"/>
                </a:lnTo>
                <a:lnTo>
                  <a:pt x="0" y="745998"/>
                </a:lnTo>
                <a:lnTo>
                  <a:pt x="1483" y="793174"/>
                </a:lnTo>
                <a:lnTo>
                  <a:pt x="5876" y="839571"/>
                </a:lnTo>
                <a:lnTo>
                  <a:pt x="13090" y="885101"/>
                </a:lnTo>
                <a:lnTo>
                  <a:pt x="23036" y="929677"/>
                </a:lnTo>
                <a:lnTo>
                  <a:pt x="35626" y="973211"/>
                </a:lnTo>
                <a:lnTo>
                  <a:pt x="50771" y="1015615"/>
                </a:lnTo>
                <a:lnTo>
                  <a:pt x="68384" y="1056804"/>
                </a:lnTo>
                <a:lnTo>
                  <a:pt x="88376" y="1096688"/>
                </a:lnTo>
                <a:lnTo>
                  <a:pt x="110659" y="1135181"/>
                </a:lnTo>
                <a:lnTo>
                  <a:pt x="135144" y="1172196"/>
                </a:lnTo>
                <a:lnTo>
                  <a:pt x="161744" y="1207644"/>
                </a:lnTo>
                <a:lnTo>
                  <a:pt x="190369" y="1241438"/>
                </a:lnTo>
                <a:lnTo>
                  <a:pt x="220932" y="1273492"/>
                </a:lnTo>
                <a:lnTo>
                  <a:pt x="253344" y="1303717"/>
                </a:lnTo>
                <a:lnTo>
                  <a:pt x="287517" y="1332027"/>
                </a:lnTo>
                <a:lnTo>
                  <a:pt x="323362" y="1358333"/>
                </a:lnTo>
                <a:lnTo>
                  <a:pt x="360792" y="1382549"/>
                </a:lnTo>
                <a:lnTo>
                  <a:pt x="399718" y="1404587"/>
                </a:lnTo>
                <a:lnTo>
                  <a:pt x="440051" y="1424360"/>
                </a:lnTo>
                <a:lnTo>
                  <a:pt x="481704" y="1441779"/>
                </a:lnTo>
                <a:lnTo>
                  <a:pt x="524587" y="1456759"/>
                </a:lnTo>
                <a:lnTo>
                  <a:pt x="568613" y="1469211"/>
                </a:lnTo>
                <a:lnTo>
                  <a:pt x="613694" y="1479048"/>
                </a:lnTo>
                <a:lnTo>
                  <a:pt x="659741" y="1486183"/>
                </a:lnTo>
                <a:lnTo>
                  <a:pt x="706666" y="1490528"/>
                </a:lnTo>
                <a:lnTo>
                  <a:pt x="754380" y="1491996"/>
                </a:lnTo>
                <a:lnTo>
                  <a:pt x="802093" y="1490528"/>
                </a:lnTo>
                <a:lnTo>
                  <a:pt x="849018" y="1486183"/>
                </a:lnTo>
                <a:lnTo>
                  <a:pt x="895065" y="1479048"/>
                </a:lnTo>
                <a:lnTo>
                  <a:pt x="940146" y="1469211"/>
                </a:lnTo>
                <a:lnTo>
                  <a:pt x="984172" y="1456759"/>
                </a:lnTo>
                <a:lnTo>
                  <a:pt x="1027055" y="1441779"/>
                </a:lnTo>
                <a:lnTo>
                  <a:pt x="1068708" y="1424360"/>
                </a:lnTo>
                <a:lnTo>
                  <a:pt x="1109041" y="1404587"/>
                </a:lnTo>
                <a:lnTo>
                  <a:pt x="1147967" y="1382549"/>
                </a:lnTo>
                <a:lnTo>
                  <a:pt x="1185397" y="1358333"/>
                </a:lnTo>
                <a:lnTo>
                  <a:pt x="1221242" y="1332027"/>
                </a:lnTo>
                <a:lnTo>
                  <a:pt x="1255415" y="1303717"/>
                </a:lnTo>
                <a:lnTo>
                  <a:pt x="1287827" y="1273492"/>
                </a:lnTo>
                <a:lnTo>
                  <a:pt x="1318390" y="1241438"/>
                </a:lnTo>
                <a:lnTo>
                  <a:pt x="1347015" y="1207644"/>
                </a:lnTo>
                <a:lnTo>
                  <a:pt x="1373615" y="1172196"/>
                </a:lnTo>
                <a:lnTo>
                  <a:pt x="1398100" y="1135181"/>
                </a:lnTo>
                <a:lnTo>
                  <a:pt x="1420383" y="1096688"/>
                </a:lnTo>
                <a:lnTo>
                  <a:pt x="1440375" y="1056804"/>
                </a:lnTo>
                <a:lnTo>
                  <a:pt x="1457988" y="1015615"/>
                </a:lnTo>
                <a:lnTo>
                  <a:pt x="1473133" y="973211"/>
                </a:lnTo>
                <a:lnTo>
                  <a:pt x="1485723" y="929677"/>
                </a:lnTo>
                <a:lnTo>
                  <a:pt x="1495669" y="885101"/>
                </a:lnTo>
                <a:lnTo>
                  <a:pt x="1502883" y="839571"/>
                </a:lnTo>
                <a:lnTo>
                  <a:pt x="1507276" y="793174"/>
                </a:lnTo>
                <a:lnTo>
                  <a:pt x="1508760" y="745998"/>
                </a:lnTo>
                <a:lnTo>
                  <a:pt x="1507276" y="698821"/>
                </a:lnTo>
                <a:lnTo>
                  <a:pt x="1502883" y="652424"/>
                </a:lnTo>
                <a:lnTo>
                  <a:pt x="1495669" y="606894"/>
                </a:lnTo>
                <a:lnTo>
                  <a:pt x="1485723" y="562318"/>
                </a:lnTo>
                <a:lnTo>
                  <a:pt x="1473133" y="518784"/>
                </a:lnTo>
                <a:lnTo>
                  <a:pt x="1457988" y="476380"/>
                </a:lnTo>
                <a:lnTo>
                  <a:pt x="1440375" y="435191"/>
                </a:lnTo>
                <a:lnTo>
                  <a:pt x="1420383" y="395307"/>
                </a:lnTo>
                <a:lnTo>
                  <a:pt x="1398100" y="356814"/>
                </a:lnTo>
                <a:lnTo>
                  <a:pt x="1373615" y="319799"/>
                </a:lnTo>
                <a:lnTo>
                  <a:pt x="1347015" y="284351"/>
                </a:lnTo>
                <a:lnTo>
                  <a:pt x="1318390" y="250557"/>
                </a:lnTo>
                <a:lnTo>
                  <a:pt x="1287827" y="218503"/>
                </a:lnTo>
                <a:lnTo>
                  <a:pt x="1255415" y="188278"/>
                </a:lnTo>
                <a:lnTo>
                  <a:pt x="1221242" y="159968"/>
                </a:lnTo>
                <a:lnTo>
                  <a:pt x="1185397" y="133662"/>
                </a:lnTo>
                <a:lnTo>
                  <a:pt x="1147967" y="109446"/>
                </a:lnTo>
                <a:lnTo>
                  <a:pt x="1109041" y="87408"/>
                </a:lnTo>
                <a:lnTo>
                  <a:pt x="1068708" y="67635"/>
                </a:lnTo>
                <a:lnTo>
                  <a:pt x="1027055" y="50216"/>
                </a:lnTo>
                <a:lnTo>
                  <a:pt x="984172" y="35236"/>
                </a:lnTo>
                <a:lnTo>
                  <a:pt x="940146" y="22784"/>
                </a:lnTo>
                <a:lnTo>
                  <a:pt x="895065" y="12947"/>
                </a:lnTo>
                <a:lnTo>
                  <a:pt x="849018" y="5812"/>
                </a:lnTo>
                <a:lnTo>
                  <a:pt x="802093" y="1467"/>
                </a:lnTo>
                <a:lnTo>
                  <a:pt x="75438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93264" y="4442459"/>
            <a:ext cx="1443355" cy="1426845"/>
          </a:xfrm>
          <a:custGeom>
            <a:avLst/>
            <a:gdLst/>
            <a:ahLst/>
            <a:cxnLst/>
            <a:rect l="l" t="t" r="r" b="b"/>
            <a:pathLst>
              <a:path w="1443354" h="1426845">
                <a:moveTo>
                  <a:pt x="721613" y="0"/>
                </a:moveTo>
                <a:lnTo>
                  <a:pt x="674168" y="1516"/>
                </a:lnTo>
                <a:lnTo>
                  <a:pt x="627542" y="6004"/>
                </a:lnTo>
                <a:lnTo>
                  <a:pt x="581831" y="13370"/>
                </a:lnTo>
                <a:lnTo>
                  <a:pt x="537129" y="23518"/>
                </a:lnTo>
                <a:lnTo>
                  <a:pt x="493532" y="36356"/>
                </a:lnTo>
                <a:lnTo>
                  <a:pt x="451134" y="51789"/>
                </a:lnTo>
                <a:lnTo>
                  <a:pt x="410031" y="69724"/>
                </a:lnTo>
                <a:lnTo>
                  <a:pt x="370318" y="90067"/>
                </a:lnTo>
                <a:lnTo>
                  <a:pt x="332090" y="112723"/>
                </a:lnTo>
                <a:lnTo>
                  <a:pt x="295442" y="137598"/>
                </a:lnTo>
                <a:lnTo>
                  <a:pt x="260469" y="164600"/>
                </a:lnTo>
                <a:lnTo>
                  <a:pt x="227267" y="193633"/>
                </a:lnTo>
                <a:lnTo>
                  <a:pt x="195930" y="224605"/>
                </a:lnTo>
                <a:lnTo>
                  <a:pt x="166553" y="257420"/>
                </a:lnTo>
                <a:lnTo>
                  <a:pt x="139232" y="291986"/>
                </a:lnTo>
                <a:lnTo>
                  <a:pt x="114062" y="328207"/>
                </a:lnTo>
                <a:lnTo>
                  <a:pt x="91137" y="365991"/>
                </a:lnTo>
                <a:lnTo>
                  <a:pt x="70553" y="405243"/>
                </a:lnTo>
                <a:lnTo>
                  <a:pt x="52406" y="445870"/>
                </a:lnTo>
                <a:lnTo>
                  <a:pt x="36789" y="487777"/>
                </a:lnTo>
                <a:lnTo>
                  <a:pt x="23798" y="530871"/>
                </a:lnTo>
                <a:lnTo>
                  <a:pt x="13529" y="575057"/>
                </a:lnTo>
                <a:lnTo>
                  <a:pt x="6076" y="620242"/>
                </a:lnTo>
                <a:lnTo>
                  <a:pt x="1534" y="666331"/>
                </a:lnTo>
                <a:lnTo>
                  <a:pt x="0" y="713232"/>
                </a:lnTo>
                <a:lnTo>
                  <a:pt x="1534" y="760132"/>
                </a:lnTo>
                <a:lnTo>
                  <a:pt x="6076" y="806221"/>
                </a:lnTo>
                <a:lnTo>
                  <a:pt x="13529" y="851406"/>
                </a:lnTo>
                <a:lnTo>
                  <a:pt x="23798" y="895592"/>
                </a:lnTo>
                <a:lnTo>
                  <a:pt x="36789" y="938686"/>
                </a:lnTo>
                <a:lnTo>
                  <a:pt x="52406" y="980593"/>
                </a:lnTo>
                <a:lnTo>
                  <a:pt x="70553" y="1021220"/>
                </a:lnTo>
                <a:lnTo>
                  <a:pt x="91137" y="1060472"/>
                </a:lnTo>
                <a:lnTo>
                  <a:pt x="114062" y="1098256"/>
                </a:lnTo>
                <a:lnTo>
                  <a:pt x="139232" y="1134477"/>
                </a:lnTo>
                <a:lnTo>
                  <a:pt x="166553" y="1169043"/>
                </a:lnTo>
                <a:lnTo>
                  <a:pt x="195930" y="1201858"/>
                </a:lnTo>
                <a:lnTo>
                  <a:pt x="227267" y="1232830"/>
                </a:lnTo>
                <a:lnTo>
                  <a:pt x="260469" y="1261863"/>
                </a:lnTo>
                <a:lnTo>
                  <a:pt x="295442" y="1288865"/>
                </a:lnTo>
                <a:lnTo>
                  <a:pt x="332090" y="1313740"/>
                </a:lnTo>
                <a:lnTo>
                  <a:pt x="370318" y="1336396"/>
                </a:lnTo>
                <a:lnTo>
                  <a:pt x="410031" y="1356739"/>
                </a:lnTo>
                <a:lnTo>
                  <a:pt x="451134" y="1374674"/>
                </a:lnTo>
                <a:lnTo>
                  <a:pt x="493532" y="1390107"/>
                </a:lnTo>
                <a:lnTo>
                  <a:pt x="537129" y="1402945"/>
                </a:lnTo>
                <a:lnTo>
                  <a:pt x="581831" y="1413093"/>
                </a:lnTo>
                <a:lnTo>
                  <a:pt x="627542" y="1420459"/>
                </a:lnTo>
                <a:lnTo>
                  <a:pt x="674168" y="1424947"/>
                </a:lnTo>
                <a:lnTo>
                  <a:pt x="721613" y="1426464"/>
                </a:lnTo>
                <a:lnTo>
                  <a:pt x="769059" y="1424947"/>
                </a:lnTo>
                <a:lnTo>
                  <a:pt x="815685" y="1420459"/>
                </a:lnTo>
                <a:lnTo>
                  <a:pt x="861396" y="1413093"/>
                </a:lnTo>
                <a:lnTo>
                  <a:pt x="906098" y="1402945"/>
                </a:lnTo>
                <a:lnTo>
                  <a:pt x="949695" y="1390107"/>
                </a:lnTo>
                <a:lnTo>
                  <a:pt x="992093" y="1374674"/>
                </a:lnTo>
                <a:lnTo>
                  <a:pt x="1033196" y="1356739"/>
                </a:lnTo>
                <a:lnTo>
                  <a:pt x="1072909" y="1336396"/>
                </a:lnTo>
                <a:lnTo>
                  <a:pt x="1111137" y="1313740"/>
                </a:lnTo>
                <a:lnTo>
                  <a:pt x="1147785" y="1288865"/>
                </a:lnTo>
                <a:lnTo>
                  <a:pt x="1182758" y="1261863"/>
                </a:lnTo>
                <a:lnTo>
                  <a:pt x="1215960" y="1232830"/>
                </a:lnTo>
                <a:lnTo>
                  <a:pt x="1247297" y="1201858"/>
                </a:lnTo>
                <a:lnTo>
                  <a:pt x="1276674" y="1169043"/>
                </a:lnTo>
                <a:lnTo>
                  <a:pt x="1303995" y="1134477"/>
                </a:lnTo>
                <a:lnTo>
                  <a:pt x="1329165" y="1098256"/>
                </a:lnTo>
                <a:lnTo>
                  <a:pt x="1352090" y="1060472"/>
                </a:lnTo>
                <a:lnTo>
                  <a:pt x="1372674" y="1021220"/>
                </a:lnTo>
                <a:lnTo>
                  <a:pt x="1390821" y="980593"/>
                </a:lnTo>
                <a:lnTo>
                  <a:pt x="1406438" y="938686"/>
                </a:lnTo>
                <a:lnTo>
                  <a:pt x="1419429" y="895592"/>
                </a:lnTo>
                <a:lnTo>
                  <a:pt x="1429698" y="851406"/>
                </a:lnTo>
                <a:lnTo>
                  <a:pt x="1437151" y="806221"/>
                </a:lnTo>
                <a:lnTo>
                  <a:pt x="1441693" y="760132"/>
                </a:lnTo>
                <a:lnTo>
                  <a:pt x="1443227" y="713232"/>
                </a:lnTo>
                <a:lnTo>
                  <a:pt x="1441693" y="666331"/>
                </a:lnTo>
                <a:lnTo>
                  <a:pt x="1437151" y="620242"/>
                </a:lnTo>
                <a:lnTo>
                  <a:pt x="1429698" y="575057"/>
                </a:lnTo>
                <a:lnTo>
                  <a:pt x="1419429" y="530871"/>
                </a:lnTo>
                <a:lnTo>
                  <a:pt x="1406438" y="487777"/>
                </a:lnTo>
                <a:lnTo>
                  <a:pt x="1390821" y="445870"/>
                </a:lnTo>
                <a:lnTo>
                  <a:pt x="1372674" y="405243"/>
                </a:lnTo>
                <a:lnTo>
                  <a:pt x="1352090" y="365991"/>
                </a:lnTo>
                <a:lnTo>
                  <a:pt x="1329165" y="328207"/>
                </a:lnTo>
                <a:lnTo>
                  <a:pt x="1303995" y="291986"/>
                </a:lnTo>
                <a:lnTo>
                  <a:pt x="1276674" y="257420"/>
                </a:lnTo>
                <a:lnTo>
                  <a:pt x="1247297" y="224605"/>
                </a:lnTo>
                <a:lnTo>
                  <a:pt x="1215960" y="193633"/>
                </a:lnTo>
                <a:lnTo>
                  <a:pt x="1182758" y="164600"/>
                </a:lnTo>
                <a:lnTo>
                  <a:pt x="1147785" y="137598"/>
                </a:lnTo>
                <a:lnTo>
                  <a:pt x="1111137" y="112723"/>
                </a:lnTo>
                <a:lnTo>
                  <a:pt x="1072909" y="90067"/>
                </a:lnTo>
                <a:lnTo>
                  <a:pt x="1033196" y="69724"/>
                </a:lnTo>
                <a:lnTo>
                  <a:pt x="992093" y="51789"/>
                </a:lnTo>
                <a:lnTo>
                  <a:pt x="949695" y="36356"/>
                </a:lnTo>
                <a:lnTo>
                  <a:pt x="906098" y="23518"/>
                </a:lnTo>
                <a:lnTo>
                  <a:pt x="861396" y="13370"/>
                </a:lnTo>
                <a:lnTo>
                  <a:pt x="815685" y="6004"/>
                </a:lnTo>
                <a:lnTo>
                  <a:pt x="769059" y="1516"/>
                </a:lnTo>
                <a:lnTo>
                  <a:pt x="721613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7591" y="4337303"/>
            <a:ext cx="1632585" cy="1612900"/>
          </a:xfrm>
          <a:custGeom>
            <a:avLst/>
            <a:gdLst/>
            <a:ahLst/>
            <a:cxnLst/>
            <a:rect l="l" t="t" r="r" b="b"/>
            <a:pathLst>
              <a:path w="1632584" h="1612900">
                <a:moveTo>
                  <a:pt x="816102" y="0"/>
                </a:moveTo>
                <a:lnTo>
                  <a:pt x="768149" y="1368"/>
                </a:lnTo>
                <a:lnTo>
                  <a:pt x="720926" y="5423"/>
                </a:lnTo>
                <a:lnTo>
                  <a:pt x="674510" y="12089"/>
                </a:lnTo>
                <a:lnTo>
                  <a:pt x="628976" y="21291"/>
                </a:lnTo>
                <a:lnTo>
                  <a:pt x="584402" y="32953"/>
                </a:lnTo>
                <a:lnTo>
                  <a:pt x="540863" y="46998"/>
                </a:lnTo>
                <a:lnTo>
                  <a:pt x="498437" y="63353"/>
                </a:lnTo>
                <a:lnTo>
                  <a:pt x="457200" y="81940"/>
                </a:lnTo>
                <a:lnTo>
                  <a:pt x="417228" y="102685"/>
                </a:lnTo>
                <a:lnTo>
                  <a:pt x="378598" y="125512"/>
                </a:lnTo>
                <a:lnTo>
                  <a:pt x="341387" y="150344"/>
                </a:lnTo>
                <a:lnTo>
                  <a:pt x="305670" y="177108"/>
                </a:lnTo>
                <a:lnTo>
                  <a:pt x="271526" y="205726"/>
                </a:lnTo>
                <a:lnTo>
                  <a:pt x="239029" y="236124"/>
                </a:lnTo>
                <a:lnTo>
                  <a:pt x="208258" y="268226"/>
                </a:lnTo>
                <a:lnTo>
                  <a:pt x="179287" y="301956"/>
                </a:lnTo>
                <a:lnTo>
                  <a:pt x="152195" y="337238"/>
                </a:lnTo>
                <a:lnTo>
                  <a:pt x="127056" y="373998"/>
                </a:lnTo>
                <a:lnTo>
                  <a:pt x="103949" y="412159"/>
                </a:lnTo>
                <a:lnTo>
                  <a:pt x="82949" y="451646"/>
                </a:lnTo>
                <a:lnTo>
                  <a:pt x="64133" y="492382"/>
                </a:lnTo>
                <a:lnTo>
                  <a:pt x="47577" y="534294"/>
                </a:lnTo>
                <a:lnTo>
                  <a:pt x="33358" y="577304"/>
                </a:lnTo>
                <a:lnTo>
                  <a:pt x="21553" y="621338"/>
                </a:lnTo>
                <a:lnTo>
                  <a:pt x="12238" y="666320"/>
                </a:lnTo>
                <a:lnTo>
                  <a:pt x="5490" y="712174"/>
                </a:lnTo>
                <a:lnTo>
                  <a:pt x="1385" y="758824"/>
                </a:lnTo>
                <a:lnTo>
                  <a:pt x="0" y="806196"/>
                </a:lnTo>
                <a:lnTo>
                  <a:pt x="1385" y="853566"/>
                </a:lnTo>
                <a:lnTo>
                  <a:pt x="5490" y="900215"/>
                </a:lnTo>
                <a:lnTo>
                  <a:pt x="12238" y="946068"/>
                </a:lnTo>
                <a:lnTo>
                  <a:pt x="21553" y="991049"/>
                </a:lnTo>
                <a:lnTo>
                  <a:pt x="33358" y="1035082"/>
                </a:lnTo>
                <a:lnTo>
                  <a:pt x="47577" y="1078092"/>
                </a:lnTo>
                <a:lnTo>
                  <a:pt x="64133" y="1120003"/>
                </a:lnTo>
                <a:lnTo>
                  <a:pt x="82949" y="1160740"/>
                </a:lnTo>
                <a:lnTo>
                  <a:pt x="103949" y="1200227"/>
                </a:lnTo>
                <a:lnTo>
                  <a:pt x="127056" y="1238387"/>
                </a:lnTo>
                <a:lnTo>
                  <a:pt x="152195" y="1275147"/>
                </a:lnTo>
                <a:lnTo>
                  <a:pt x="179287" y="1310430"/>
                </a:lnTo>
                <a:lnTo>
                  <a:pt x="208258" y="1344160"/>
                </a:lnTo>
                <a:lnTo>
                  <a:pt x="239029" y="1376262"/>
                </a:lnTo>
                <a:lnTo>
                  <a:pt x="271526" y="1406660"/>
                </a:lnTo>
                <a:lnTo>
                  <a:pt x="305670" y="1435279"/>
                </a:lnTo>
                <a:lnTo>
                  <a:pt x="341387" y="1462043"/>
                </a:lnTo>
                <a:lnTo>
                  <a:pt x="378598" y="1486876"/>
                </a:lnTo>
                <a:lnTo>
                  <a:pt x="417228" y="1509703"/>
                </a:lnTo>
                <a:lnTo>
                  <a:pt x="457200" y="1530449"/>
                </a:lnTo>
                <a:lnTo>
                  <a:pt x="498437" y="1549037"/>
                </a:lnTo>
                <a:lnTo>
                  <a:pt x="540863" y="1565391"/>
                </a:lnTo>
                <a:lnTo>
                  <a:pt x="584402" y="1579437"/>
                </a:lnTo>
                <a:lnTo>
                  <a:pt x="628976" y="1591099"/>
                </a:lnTo>
                <a:lnTo>
                  <a:pt x="674510" y="1600301"/>
                </a:lnTo>
                <a:lnTo>
                  <a:pt x="720926" y="1606968"/>
                </a:lnTo>
                <a:lnTo>
                  <a:pt x="768149" y="1611023"/>
                </a:lnTo>
                <a:lnTo>
                  <a:pt x="816102" y="1612392"/>
                </a:lnTo>
                <a:lnTo>
                  <a:pt x="864054" y="1611023"/>
                </a:lnTo>
                <a:lnTo>
                  <a:pt x="911277" y="1606968"/>
                </a:lnTo>
                <a:lnTo>
                  <a:pt x="957693" y="1600301"/>
                </a:lnTo>
                <a:lnTo>
                  <a:pt x="1003227" y="1591099"/>
                </a:lnTo>
                <a:lnTo>
                  <a:pt x="1047801" y="1579437"/>
                </a:lnTo>
                <a:lnTo>
                  <a:pt x="1091340" y="1565391"/>
                </a:lnTo>
                <a:lnTo>
                  <a:pt x="1133766" y="1549037"/>
                </a:lnTo>
                <a:lnTo>
                  <a:pt x="1175004" y="1530449"/>
                </a:lnTo>
                <a:lnTo>
                  <a:pt x="1214975" y="1509703"/>
                </a:lnTo>
                <a:lnTo>
                  <a:pt x="1253605" y="1486876"/>
                </a:lnTo>
                <a:lnTo>
                  <a:pt x="1290816" y="1462043"/>
                </a:lnTo>
                <a:lnTo>
                  <a:pt x="1326533" y="1435279"/>
                </a:lnTo>
                <a:lnTo>
                  <a:pt x="1360677" y="1406660"/>
                </a:lnTo>
                <a:lnTo>
                  <a:pt x="1393174" y="1376262"/>
                </a:lnTo>
                <a:lnTo>
                  <a:pt x="1423945" y="1344160"/>
                </a:lnTo>
                <a:lnTo>
                  <a:pt x="1452916" y="1310430"/>
                </a:lnTo>
                <a:lnTo>
                  <a:pt x="1480008" y="1275147"/>
                </a:lnTo>
                <a:lnTo>
                  <a:pt x="1505147" y="1238387"/>
                </a:lnTo>
                <a:lnTo>
                  <a:pt x="1528254" y="1200227"/>
                </a:lnTo>
                <a:lnTo>
                  <a:pt x="1549254" y="1160740"/>
                </a:lnTo>
                <a:lnTo>
                  <a:pt x="1568070" y="1120003"/>
                </a:lnTo>
                <a:lnTo>
                  <a:pt x="1584626" y="1078092"/>
                </a:lnTo>
                <a:lnTo>
                  <a:pt x="1598845" y="1035082"/>
                </a:lnTo>
                <a:lnTo>
                  <a:pt x="1610650" y="991049"/>
                </a:lnTo>
                <a:lnTo>
                  <a:pt x="1619965" y="946068"/>
                </a:lnTo>
                <a:lnTo>
                  <a:pt x="1626713" y="900215"/>
                </a:lnTo>
                <a:lnTo>
                  <a:pt x="1630818" y="853566"/>
                </a:lnTo>
                <a:lnTo>
                  <a:pt x="1632204" y="806196"/>
                </a:lnTo>
                <a:lnTo>
                  <a:pt x="1630818" y="758824"/>
                </a:lnTo>
                <a:lnTo>
                  <a:pt x="1626713" y="712174"/>
                </a:lnTo>
                <a:lnTo>
                  <a:pt x="1619965" y="666320"/>
                </a:lnTo>
                <a:lnTo>
                  <a:pt x="1610650" y="621338"/>
                </a:lnTo>
                <a:lnTo>
                  <a:pt x="1598845" y="577304"/>
                </a:lnTo>
                <a:lnTo>
                  <a:pt x="1584626" y="534294"/>
                </a:lnTo>
                <a:lnTo>
                  <a:pt x="1568070" y="492382"/>
                </a:lnTo>
                <a:lnTo>
                  <a:pt x="1549254" y="451646"/>
                </a:lnTo>
                <a:lnTo>
                  <a:pt x="1528254" y="412159"/>
                </a:lnTo>
                <a:lnTo>
                  <a:pt x="1505147" y="373998"/>
                </a:lnTo>
                <a:lnTo>
                  <a:pt x="1480008" y="337238"/>
                </a:lnTo>
                <a:lnTo>
                  <a:pt x="1452916" y="301956"/>
                </a:lnTo>
                <a:lnTo>
                  <a:pt x="1423945" y="268226"/>
                </a:lnTo>
                <a:lnTo>
                  <a:pt x="1393174" y="236124"/>
                </a:lnTo>
                <a:lnTo>
                  <a:pt x="1360677" y="205726"/>
                </a:lnTo>
                <a:lnTo>
                  <a:pt x="1326533" y="177108"/>
                </a:lnTo>
                <a:lnTo>
                  <a:pt x="1290816" y="150344"/>
                </a:lnTo>
                <a:lnTo>
                  <a:pt x="1253605" y="125512"/>
                </a:lnTo>
                <a:lnTo>
                  <a:pt x="1214975" y="102685"/>
                </a:lnTo>
                <a:lnTo>
                  <a:pt x="1175004" y="81940"/>
                </a:lnTo>
                <a:lnTo>
                  <a:pt x="1133766" y="63353"/>
                </a:lnTo>
                <a:lnTo>
                  <a:pt x="1091340" y="46998"/>
                </a:lnTo>
                <a:lnTo>
                  <a:pt x="1047801" y="32953"/>
                </a:lnTo>
                <a:lnTo>
                  <a:pt x="1003227" y="21291"/>
                </a:lnTo>
                <a:lnTo>
                  <a:pt x="957693" y="12089"/>
                </a:lnTo>
                <a:lnTo>
                  <a:pt x="911277" y="5423"/>
                </a:lnTo>
                <a:lnTo>
                  <a:pt x="864054" y="1368"/>
                </a:lnTo>
                <a:lnTo>
                  <a:pt x="816102" y="0"/>
                </a:lnTo>
                <a:close/>
              </a:path>
            </a:pathLst>
          </a:custGeom>
          <a:solidFill>
            <a:srgbClr val="F7B6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54167" y="4373879"/>
            <a:ext cx="1562100" cy="1542415"/>
          </a:xfrm>
          <a:custGeom>
            <a:avLst/>
            <a:gdLst/>
            <a:ahLst/>
            <a:cxnLst/>
            <a:rect l="l" t="t" r="r" b="b"/>
            <a:pathLst>
              <a:path w="1562100" h="1542414">
                <a:moveTo>
                  <a:pt x="781050" y="0"/>
                </a:moveTo>
                <a:lnTo>
                  <a:pt x="733464" y="1407"/>
                </a:lnTo>
                <a:lnTo>
                  <a:pt x="686634" y="5576"/>
                </a:lnTo>
                <a:lnTo>
                  <a:pt x="640640" y="12426"/>
                </a:lnTo>
                <a:lnTo>
                  <a:pt x="595564" y="21875"/>
                </a:lnTo>
                <a:lnTo>
                  <a:pt x="551488" y="33844"/>
                </a:lnTo>
                <a:lnTo>
                  <a:pt x="508493" y="48251"/>
                </a:lnTo>
                <a:lnTo>
                  <a:pt x="466661" y="65016"/>
                </a:lnTo>
                <a:lnTo>
                  <a:pt x="426074" y="84058"/>
                </a:lnTo>
                <a:lnTo>
                  <a:pt x="386813" y="105297"/>
                </a:lnTo>
                <a:lnTo>
                  <a:pt x="348961" y="128651"/>
                </a:lnTo>
                <a:lnTo>
                  <a:pt x="312597" y="154040"/>
                </a:lnTo>
                <a:lnTo>
                  <a:pt x="277805" y="181383"/>
                </a:lnTo>
                <a:lnTo>
                  <a:pt x="244667" y="210599"/>
                </a:lnTo>
                <a:lnTo>
                  <a:pt x="213262" y="241609"/>
                </a:lnTo>
                <a:lnTo>
                  <a:pt x="183674" y="274330"/>
                </a:lnTo>
                <a:lnTo>
                  <a:pt x="155984" y="308683"/>
                </a:lnTo>
                <a:lnTo>
                  <a:pt x="130273" y="344586"/>
                </a:lnTo>
                <a:lnTo>
                  <a:pt x="106623" y="381959"/>
                </a:lnTo>
                <a:lnTo>
                  <a:pt x="85116" y="420721"/>
                </a:lnTo>
                <a:lnTo>
                  <a:pt x="65834" y="460792"/>
                </a:lnTo>
                <a:lnTo>
                  <a:pt x="48857" y="502091"/>
                </a:lnTo>
                <a:lnTo>
                  <a:pt x="34269" y="544536"/>
                </a:lnTo>
                <a:lnTo>
                  <a:pt x="22150" y="588048"/>
                </a:lnTo>
                <a:lnTo>
                  <a:pt x="12581" y="632545"/>
                </a:lnTo>
                <a:lnTo>
                  <a:pt x="5646" y="677947"/>
                </a:lnTo>
                <a:lnTo>
                  <a:pt x="1425" y="724174"/>
                </a:lnTo>
                <a:lnTo>
                  <a:pt x="0" y="771144"/>
                </a:lnTo>
                <a:lnTo>
                  <a:pt x="1425" y="818113"/>
                </a:lnTo>
                <a:lnTo>
                  <a:pt x="5646" y="864340"/>
                </a:lnTo>
                <a:lnTo>
                  <a:pt x="12581" y="909742"/>
                </a:lnTo>
                <a:lnTo>
                  <a:pt x="22150" y="954239"/>
                </a:lnTo>
                <a:lnTo>
                  <a:pt x="34269" y="997751"/>
                </a:lnTo>
                <a:lnTo>
                  <a:pt x="48857" y="1040196"/>
                </a:lnTo>
                <a:lnTo>
                  <a:pt x="65834" y="1081495"/>
                </a:lnTo>
                <a:lnTo>
                  <a:pt x="85116" y="1121566"/>
                </a:lnTo>
                <a:lnTo>
                  <a:pt x="106623" y="1160328"/>
                </a:lnTo>
                <a:lnTo>
                  <a:pt x="130273" y="1197701"/>
                </a:lnTo>
                <a:lnTo>
                  <a:pt x="155984" y="1233604"/>
                </a:lnTo>
                <a:lnTo>
                  <a:pt x="183674" y="1267957"/>
                </a:lnTo>
                <a:lnTo>
                  <a:pt x="213262" y="1300678"/>
                </a:lnTo>
                <a:lnTo>
                  <a:pt x="244667" y="1331688"/>
                </a:lnTo>
                <a:lnTo>
                  <a:pt x="277805" y="1360904"/>
                </a:lnTo>
                <a:lnTo>
                  <a:pt x="312597" y="1388247"/>
                </a:lnTo>
                <a:lnTo>
                  <a:pt x="348961" y="1413636"/>
                </a:lnTo>
                <a:lnTo>
                  <a:pt x="386813" y="1436990"/>
                </a:lnTo>
                <a:lnTo>
                  <a:pt x="426074" y="1458229"/>
                </a:lnTo>
                <a:lnTo>
                  <a:pt x="466661" y="1477271"/>
                </a:lnTo>
                <a:lnTo>
                  <a:pt x="508493" y="1494036"/>
                </a:lnTo>
                <a:lnTo>
                  <a:pt x="551488" y="1508443"/>
                </a:lnTo>
                <a:lnTo>
                  <a:pt x="595564" y="1520412"/>
                </a:lnTo>
                <a:lnTo>
                  <a:pt x="640640" y="1529861"/>
                </a:lnTo>
                <a:lnTo>
                  <a:pt x="686634" y="1536711"/>
                </a:lnTo>
                <a:lnTo>
                  <a:pt x="733464" y="1540880"/>
                </a:lnTo>
                <a:lnTo>
                  <a:pt x="781050" y="1542288"/>
                </a:lnTo>
                <a:lnTo>
                  <a:pt x="828635" y="1540880"/>
                </a:lnTo>
                <a:lnTo>
                  <a:pt x="875465" y="1536711"/>
                </a:lnTo>
                <a:lnTo>
                  <a:pt x="921459" y="1529861"/>
                </a:lnTo>
                <a:lnTo>
                  <a:pt x="966535" y="1520412"/>
                </a:lnTo>
                <a:lnTo>
                  <a:pt x="1010611" y="1508443"/>
                </a:lnTo>
                <a:lnTo>
                  <a:pt x="1053606" y="1494036"/>
                </a:lnTo>
                <a:lnTo>
                  <a:pt x="1095438" y="1477271"/>
                </a:lnTo>
                <a:lnTo>
                  <a:pt x="1136025" y="1458229"/>
                </a:lnTo>
                <a:lnTo>
                  <a:pt x="1175286" y="1436990"/>
                </a:lnTo>
                <a:lnTo>
                  <a:pt x="1213138" y="1413636"/>
                </a:lnTo>
                <a:lnTo>
                  <a:pt x="1249502" y="1388247"/>
                </a:lnTo>
                <a:lnTo>
                  <a:pt x="1284294" y="1360904"/>
                </a:lnTo>
                <a:lnTo>
                  <a:pt x="1317432" y="1331688"/>
                </a:lnTo>
                <a:lnTo>
                  <a:pt x="1348837" y="1300678"/>
                </a:lnTo>
                <a:lnTo>
                  <a:pt x="1378425" y="1267957"/>
                </a:lnTo>
                <a:lnTo>
                  <a:pt x="1406115" y="1233604"/>
                </a:lnTo>
                <a:lnTo>
                  <a:pt x="1431826" y="1197701"/>
                </a:lnTo>
                <a:lnTo>
                  <a:pt x="1455476" y="1160328"/>
                </a:lnTo>
                <a:lnTo>
                  <a:pt x="1476983" y="1121566"/>
                </a:lnTo>
                <a:lnTo>
                  <a:pt x="1496265" y="1081495"/>
                </a:lnTo>
                <a:lnTo>
                  <a:pt x="1513242" y="1040196"/>
                </a:lnTo>
                <a:lnTo>
                  <a:pt x="1527830" y="997751"/>
                </a:lnTo>
                <a:lnTo>
                  <a:pt x="1539949" y="954239"/>
                </a:lnTo>
                <a:lnTo>
                  <a:pt x="1549518" y="909742"/>
                </a:lnTo>
                <a:lnTo>
                  <a:pt x="1556453" y="864340"/>
                </a:lnTo>
                <a:lnTo>
                  <a:pt x="1560674" y="818113"/>
                </a:lnTo>
                <a:lnTo>
                  <a:pt x="1562100" y="771144"/>
                </a:lnTo>
                <a:lnTo>
                  <a:pt x="1560674" y="724174"/>
                </a:lnTo>
                <a:lnTo>
                  <a:pt x="1556453" y="677947"/>
                </a:lnTo>
                <a:lnTo>
                  <a:pt x="1549518" y="632545"/>
                </a:lnTo>
                <a:lnTo>
                  <a:pt x="1539949" y="588048"/>
                </a:lnTo>
                <a:lnTo>
                  <a:pt x="1527830" y="544536"/>
                </a:lnTo>
                <a:lnTo>
                  <a:pt x="1513242" y="502091"/>
                </a:lnTo>
                <a:lnTo>
                  <a:pt x="1496265" y="460792"/>
                </a:lnTo>
                <a:lnTo>
                  <a:pt x="1476983" y="420721"/>
                </a:lnTo>
                <a:lnTo>
                  <a:pt x="1455476" y="381959"/>
                </a:lnTo>
                <a:lnTo>
                  <a:pt x="1431826" y="344586"/>
                </a:lnTo>
                <a:lnTo>
                  <a:pt x="1406115" y="308683"/>
                </a:lnTo>
                <a:lnTo>
                  <a:pt x="1378425" y="274330"/>
                </a:lnTo>
                <a:lnTo>
                  <a:pt x="1348837" y="241609"/>
                </a:lnTo>
                <a:lnTo>
                  <a:pt x="1317432" y="210599"/>
                </a:lnTo>
                <a:lnTo>
                  <a:pt x="1284294" y="181383"/>
                </a:lnTo>
                <a:lnTo>
                  <a:pt x="1249502" y="154040"/>
                </a:lnTo>
                <a:lnTo>
                  <a:pt x="1213138" y="128651"/>
                </a:lnTo>
                <a:lnTo>
                  <a:pt x="1175286" y="105297"/>
                </a:lnTo>
                <a:lnTo>
                  <a:pt x="1136025" y="84058"/>
                </a:lnTo>
                <a:lnTo>
                  <a:pt x="1095438" y="65016"/>
                </a:lnTo>
                <a:lnTo>
                  <a:pt x="1053606" y="48251"/>
                </a:lnTo>
                <a:lnTo>
                  <a:pt x="1010611" y="33844"/>
                </a:lnTo>
                <a:lnTo>
                  <a:pt x="966535" y="21875"/>
                </a:lnTo>
                <a:lnTo>
                  <a:pt x="921459" y="12426"/>
                </a:lnTo>
                <a:lnTo>
                  <a:pt x="875465" y="5576"/>
                </a:lnTo>
                <a:lnTo>
                  <a:pt x="828635" y="1407"/>
                </a:lnTo>
                <a:lnTo>
                  <a:pt x="781050" y="0"/>
                </a:lnTo>
                <a:close/>
              </a:path>
            </a:pathLst>
          </a:custGeom>
          <a:solidFill>
            <a:srgbClr val="81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90744" y="4407408"/>
            <a:ext cx="1507490" cy="1492250"/>
          </a:xfrm>
          <a:custGeom>
            <a:avLst/>
            <a:gdLst/>
            <a:ahLst/>
            <a:cxnLst/>
            <a:rect l="l" t="t" r="r" b="b"/>
            <a:pathLst>
              <a:path w="1507490" h="1492250">
                <a:moveTo>
                  <a:pt x="753617" y="0"/>
                </a:moveTo>
                <a:lnTo>
                  <a:pt x="705961" y="1467"/>
                </a:lnTo>
                <a:lnTo>
                  <a:pt x="659092" y="5812"/>
                </a:lnTo>
                <a:lnTo>
                  <a:pt x="613098" y="12947"/>
                </a:lnTo>
                <a:lnTo>
                  <a:pt x="568068" y="22784"/>
                </a:lnTo>
                <a:lnTo>
                  <a:pt x="524090" y="35236"/>
                </a:lnTo>
                <a:lnTo>
                  <a:pt x="481253" y="50216"/>
                </a:lnTo>
                <a:lnTo>
                  <a:pt x="439644" y="67635"/>
                </a:lnTo>
                <a:lnTo>
                  <a:pt x="399352" y="87408"/>
                </a:lnTo>
                <a:lnTo>
                  <a:pt x="360466" y="109446"/>
                </a:lnTo>
                <a:lnTo>
                  <a:pt x="323074" y="133662"/>
                </a:lnTo>
                <a:lnTo>
                  <a:pt x="287263" y="159968"/>
                </a:lnTo>
                <a:lnTo>
                  <a:pt x="253123" y="188278"/>
                </a:lnTo>
                <a:lnTo>
                  <a:pt x="220741" y="218503"/>
                </a:lnTo>
                <a:lnTo>
                  <a:pt x="190207" y="250557"/>
                </a:lnTo>
                <a:lnTo>
                  <a:pt x="161607" y="284351"/>
                </a:lnTo>
                <a:lnTo>
                  <a:pt x="135032" y="319799"/>
                </a:lnTo>
                <a:lnTo>
                  <a:pt x="110568" y="356814"/>
                </a:lnTo>
                <a:lnTo>
                  <a:pt x="88304" y="395307"/>
                </a:lnTo>
                <a:lnTo>
                  <a:pt x="68329" y="435191"/>
                </a:lnTo>
                <a:lnTo>
                  <a:pt x="50731" y="476380"/>
                </a:lnTo>
                <a:lnTo>
                  <a:pt x="35597" y="518784"/>
                </a:lnTo>
                <a:lnTo>
                  <a:pt x="23018" y="562318"/>
                </a:lnTo>
                <a:lnTo>
                  <a:pt x="13080" y="606894"/>
                </a:lnTo>
                <a:lnTo>
                  <a:pt x="5872" y="652424"/>
                </a:lnTo>
                <a:lnTo>
                  <a:pt x="1482" y="698821"/>
                </a:lnTo>
                <a:lnTo>
                  <a:pt x="0" y="745998"/>
                </a:lnTo>
                <a:lnTo>
                  <a:pt x="1482" y="793174"/>
                </a:lnTo>
                <a:lnTo>
                  <a:pt x="5872" y="839571"/>
                </a:lnTo>
                <a:lnTo>
                  <a:pt x="13080" y="885101"/>
                </a:lnTo>
                <a:lnTo>
                  <a:pt x="23018" y="929677"/>
                </a:lnTo>
                <a:lnTo>
                  <a:pt x="35597" y="973211"/>
                </a:lnTo>
                <a:lnTo>
                  <a:pt x="50731" y="1015615"/>
                </a:lnTo>
                <a:lnTo>
                  <a:pt x="68329" y="1056804"/>
                </a:lnTo>
                <a:lnTo>
                  <a:pt x="88304" y="1096688"/>
                </a:lnTo>
                <a:lnTo>
                  <a:pt x="110568" y="1135181"/>
                </a:lnTo>
                <a:lnTo>
                  <a:pt x="135032" y="1172196"/>
                </a:lnTo>
                <a:lnTo>
                  <a:pt x="161607" y="1207644"/>
                </a:lnTo>
                <a:lnTo>
                  <a:pt x="190207" y="1241438"/>
                </a:lnTo>
                <a:lnTo>
                  <a:pt x="220741" y="1273492"/>
                </a:lnTo>
                <a:lnTo>
                  <a:pt x="253123" y="1303717"/>
                </a:lnTo>
                <a:lnTo>
                  <a:pt x="287263" y="1332027"/>
                </a:lnTo>
                <a:lnTo>
                  <a:pt x="323074" y="1358333"/>
                </a:lnTo>
                <a:lnTo>
                  <a:pt x="360466" y="1382549"/>
                </a:lnTo>
                <a:lnTo>
                  <a:pt x="399352" y="1404587"/>
                </a:lnTo>
                <a:lnTo>
                  <a:pt x="439644" y="1424360"/>
                </a:lnTo>
                <a:lnTo>
                  <a:pt x="481253" y="1441779"/>
                </a:lnTo>
                <a:lnTo>
                  <a:pt x="524090" y="1456759"/>
                </a:lnTo>
                <a:lnTo>
                  <a:pt x="568068" y="1469211"/>
                </a:lnTo>
                <a:lnTo>
                  <a:pt x="613098" y="1479048"/>
                </a:lnTo>
                <a:lnTo>
                  <a:pt x="659092" y="1486183"/>
                </a:lnTo>
                <a:lnTo>
                  <a:pt x="705961" y="1490528"/>
                </a:lnTo>
                <a:lnTo>
                  <a:pt x="753617" y="1491996"/>
                </a:lnTo>
                <a:lnTo>
                  <a:pt x="801274" y="1490528"/>
                </a:lnTo>
                <a:lnTo>
                  <a:pt x="848143" y="1486183"/>
                </a:lnTo>
                <a:lnTo>
                  <a:pt x="894137" y="1479048"/>
                </a:lnTo>
                <a:lnTo>
                  <a:pt x="939167" y="1469211"/>
                </a:lnTo>
                <a:lnTo>
                  <a:pt x="983145" y="1456759"/>
                </a:lnTo>
                <a:lnTo>
                  <a:pt x="1025982" y="1441779"/>
                </a:lnTo>
                <a:lnTo>
                  <a:pt x="1067591" y="1424360"/>
                </a:lnTo>
                <a:lnTo>
                  <a:pt x="1107883" y="1404587"/>
                </a:lnTo>
                <a:lnTo>
                  <a:pt x="1146769" y="1382549"/>
                </a:lnTo>
                <a:lnTo>
                  <a:pt x="1184161" y="1358333"/>
                </a:lnTo>
                <a:lnTo>
                  <a:pt x="1219972" y="1332027"/>
                </a:lnTo>
                <a:lnTo>
                  <a:pt x="1254112" y="1303717"/>
                </a:lnTo>
                <a:lnTo>
                  <a:pt x="1286494" y="1273492"/>
                </a:lnTo>
                <a:lnTo>
                  <a:pt x="1317028" y="1241438"/>
                </a:lnTo>
                <a:lnTo>
                  <a:pt x="1345628" y="1207644"/>
                </a:lnTo>
                <a:lnTo>
                  <a:pt x="1372203" y="1172196"/>
                </a:lnTo>
                <a:lnTo>
                  <a:pt x="1396667" y="1135181"/>
                </a:lnTo>
                <a:lnTo>
                  <a:pt x="1418931" y="1096688"/>
                </a:lnTo>
                <a:lnTo>
                  <a:pt x="1438906" y="1056804"/>
                </a:lnTo>
                <a:lnTo>
                  <a:pt x="1456504" y="1015615"/>
                </a:lnTo>
                <a:lnTo>
                  <a:pt x="1471638" y="973211"/>
                </a:lnTo>
                <a:lnTo>
                  <a:pt x="1484217" y="929677"/>
                </a:lnTo>
                <a:lnTo>
                  <a:pt x="1494155" y="885101"/>
                </a:lnTo>
                <a:lnTo>
                  <a:pt x="1501363" y="839571"/>
                </a:lnTo>
                <a:lnTo>
                  <a:pt x="1505753" y="793174"/>
                </a:lnTo>
                <a:lnTo>
                  <a:pt x="1507235" y="745998"/>
                </a:lnTo>
                <a:lnTo>
                  <a:pt x="1505753" y="698821"/>
                </a:lnTo>
                <a:lnTo>
                  <a:pt x="1501363" y="652424"/>
                </a:lnTo>
                <a:lnTo>
                  <a:pt x="1494155" y="606894"/>
                </a:lnTo>
                <a:lnTo>
                  <a:pt x="1484217" y="562318"/>
                </a:lnTo>
                <a:lnTo>
                  <a:pt x="1471638" y="518784"/>
                </a:lnTo>
                <a:lnTo>
                  <a:pt x="1456504" y="476380"/>
                </a:lnTo>
                <a:lnTo>
                  <a:pt x="1438906" y="435191"/>
                </a:lnTo>
                <a:lnTo>
                  <a:pt x="1418931" y="395307"/>
                </a:lnTo>
                <a:lnTo>
                  <a:pt x="1396667" y="356814"/>
                </a:lnTo>
                <a:lnTo>
                  <a:pt x="1372203" y="319799"/>
                </a:lnTo>
                <a:lnTo>
                  <a:pt x="1345628" y="284351"/>
                </a:lnTo>
                <a:lnTo>
                  <a:pt x="1317028" y="250557"/>
                </a:lnTo>
                <a:lnTo>
                  <a:pt x="1286494" y="218503"/>
                </a:lnTo>
                <a:lnTo>
                  <a:pt x="1254112" y="188278"/>
                </a:lnTo>
                <a:lnTo>
                  <a:pt x="1219972" y="159968"/>
                </a:lnTo>
                <a:lnTo>
                  <a:pt x="1184161" y="133662"/>
                </a:lnTo>
                <a:lnTo>
                  <a:pt x="1146769" y="109446"/>
                </a:lnTo>
                <a:lnTo>
                  <a:pt x="1107883" y="87408"/>
                </a:lnTo>
                <a:lnTo>
                  <a:pt x="1067591" y="67635"/>
                </a:lnTo>
                <a:lnTo>
                  <a:pt x="1025982" y="50216"/>
                </a:lnTo>
                <a:lnTo>
                  <a:pt x="983145" y="35236"/>
                </a:lnTo>
                <a:lnTo>
                  <a:pt x="939167" y="22784"/>
                </a:lnTo>
                <a:lnTo>
                  <a:pt x="894137" y="12947"/>
                </a:lnTo>
                <a:lnTo>
                  <a:pt x="848143" y="5812"/>
                </a:lnTo>
                <a:lnTo>
                  <a:pt x="801274" y="1467"/>
                </a:lnTo>
                <a:lnTo>
                  <a:pt x="753617" y="0"/>
                </a:lnTo>
                <a:close/>
              </a:path>
            </a:pathLst>
          </a:custGeom>
          <a:solidFill>
            <a:srgbClr val="81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24271" y="4442459"/>
            <a:ext cx="1443355" cy="1426845"/>
          </a:xfrm>
          <a:custGeom>
            <a:avLst/>
            <a:gdLst/>
            <a:ahLst/>
            <a:cxnLst/>
            <a:rect l="l" t="t" r="r" b="b"/>
            <a:pathLst>
              <a:path w="1443354" h="1426845">
                <a:moveTo>
                  <a:pt x="721613" y="0"/>
                </a:moveTo>
                <a:lnTo>
                  <a:pt x="674168" y="1516"/>
                </a:lnTo>
                <a:lnTo>
                  <a:pt x="627542" y="6004"/>
                </a:lnTo>
                <a:lnTo>
                  <a:pt x="581831" y="13370"/>
                </a:lnTo>
                <a:lnTo>
                  <a:pt x="537129" y="23518"/>
                </a:lnTo>
                <a:lnTo>
                  <a:pt x="493532" y="36356"/>
                </a:lnTo>
                <a:lnTo>
                  <a:pt x="451134" y="51789"/>
                </a:lnTo>
                <a:lnTo>
                  <a:pt x="410031" y="69724"/>
                </a:lnTo>
                <a:lnTo>
                  <a:pt x="370318" y="90067"/>
                </a:lnTo>
                <a:lnTo>
                  <a:pt x="332090" y="112723"/>
                </a:lnTo>
                <a:lnTo>
                  <a:pt x="295442" y="137598"/>
                </a:lnTo>
                <a:lnTo>
                  <a:pt x="260469" y="164600"/>
                </a:lnTo>
                <a:lnTo>
                  <a:pt x="227267" y="193633"/>
                </a:lnTo>
                <a:lnTo>
                  <a:pt x="195930" y="224605"/>
                </a:lnTo>
                <a:lnTo>
                  <a:pt x="166553" y="257420"/>
                </a:lnTo>
                <a:lnTo>
                  <a:pt x="139232" y="291986"/>
                </a:lnTo>
                <a:lnTo>
                  <a:pt x="114062" y="328207"/>
                </a:lnTo>
                <a:lnTo>
                  <a:pt x="91137" y="365991"/>
                </a:lnTo>
                <a:lnTo>
                  <a:pt x="70553" y="405243"/>
                </a:lnTo>
                <a:lnTo>
                  <a:pt x="52406" y="445870"/>
                </a:lnTo>
                <a:lnTo>
                  <a:pt x="36789" y="487777"/>
                </a:lnTo>
                <a:lnTo>
                  <a:pt x="23798" y="530871"/>
                </a:lnTo>
                <a:lnTo>
                  <a:pt x="13529" y="575057"/>
                </a:lnTo>
                <a:lnTo>
                  <a:pt x="6076" y="620242"/>
                </a:lnTo>
                <a:lnTo>
                  <a:pt x="1534" y="666331"/>
                </a:lnTo>
                <a:lnTo>
                  <a:pt x="0" y="713232"/>
                </a:lnTo>
                <a:lnTo>
                  <a:pt x="1534" y="760132"/>
                </a:lnTo>
                <a:lnTo>
                  <a:pt x="6076" y="806221"/>
                </a:lnTo>
                <a:lnTo>
                  <a:pt x="13529" y="851406"/>
                </a:lnTo>
                <a:lnTo>
                  <a:pt x="23798" y="895592"/>
                </a:lnTo>
                <a:lnTo>
                  <a:pt x="36789" y="938686"/>
                </a:lnTo>
                <a:lnTo>
                  <a:pt x="52406" y="980593"/>
                </a:lnTo>
                <a:lnTo>
                  <a:pt x="70553" y="1021220"/>
                </a:lnTo>
                <a:lnTo>
                  <a:pt x="91137" y="1060472"/>
                </a:lnTo>
                <a:lnTo>
                  <a:pt x="114062" y="1098256"/>
                </a:lnTo>
                <a:lnTo>
                  <a:pt x="139232" y="1134477"/>
                </a:lnTo>
                <a:lnTo>
                  <a:pt x="166553" y="1169043"/>
                </a:lnTo>
                <a:lnTo>
                  <a:pt x="195930" y="1201858"/>
                </a:lnTo>
                <a:lnTo>
                  <a:pt x="227267" y="1232830"/>
                </a:lnTo>
                <a:lnTo>
                  <a:pt x="260469" y="1261863"/>
                </a:lnTo>
                <a:lnTo>
                  <a:pt x="295442" y="1288865"/>
                </a:lnTo>
                <a:lnTo>
                  <a:pt x="332090" y="1313740"/>
                </a:lnTo>
                <a:lnTo>
                  <a:pt x="370318" y="1336396"/>
                </a:lnTo>
                <a:lnTo>
                  <a:pt x="410031" y="1356739"/>
                </a:lnTo>
                <a:lnTo>
                  <a:pt x="451134" y="1374674"/>
                </a:lnTo>
                <a:lnTo>
                  <a:pt x="493532" y="1390107"/>
                </a:lnTo>
                <a:lnTo>
                  <a:pt x="537129" y="1402945"/>
                </a:lnTo>
                <a:lnTo>
                  <a:pt x="581831" y="1413093"/>
                </a:lnTo>
                <a:lnTo>
                  <a:pt x="627542" y="1420459"/>
                </a:lnTo>
                <a:lnTo>
                  <a:pt x="674168" y="1424947"/>
                </a:lnTo>
                <a:lnTo>
                  <a:pt x="721613" y="1426464"/>
                </a:lnTo>
                <a:lnTo>
                  <a:pt x="769059" y="1424947"/>
                </a:lnTo>
                <a:lnTo>
                  <a:pt x="815685" y="1420459"/>
                </a:lnTo>
                <a:lnTo>
                  <a:pt x="861396" y="1413093"/>
                </a:lnTo>
                <a:lnTo>
                  <a:pt x="906098" y="1402945"/>
                </a:lnTo>
                <a:lnTo>
                  <a:pt x="949695" y="1390107"/>
                </a:lnTo>
                <a:lnTo>
                  <a:pt x="992093" y="1374674"/>
                </a:lnTo>
                <a:lnTo>
                  <a:pt x="1033196" y="1356739"/>
                </a:lnTo>
                <a:lnTo>
                  <a:pt x="1072909" y="1336396"/>
                </a:lnTo>
                <a:lnTo>
                  <a:pt x="1111137" y="1313740"/>
                </a:lnTo>
                <a:lnTo>
                  <a:pt x="1147785" y="1288865"/>
                </a:lnTo>
                <a:lnTo>
                  <a:pt x="1182758" y="1261863"/>
                </a:lnTo>
                <a:lnTo>
                  <a:pt x="1215960" y="1232830"/>
                </a:lnTo>
                <a:lnTo>
                  <a:pt x="1247297" y="1201858"/>
                </a:lnTo>
                <a:lnTo>
                  <a:pt x="1276674" y="1169043"/>
                </a:lnTo>
                <a:lnTo>
                  <a:pt x="1303995" y="1134477"/>
                </a:lnTo>
                <a:lnTo>
                  <a:pt x="1329165" y="1098256"/>
                </a:lnTo>
                <a:lnTo>
                  <a:pt x="1352090" y="1060472"/>
                </a:lnTo>
                <a:lnTo>
                  <a:pt x="1372674" y="1021220"/>
                </a:lnTo>
                <a:lnTo>
                  <a:pt x="1390821" y="980593"/>
                </a:lnTo>
                <a:lnTo>
                  <a:pt x="1406438" y="938686"/>
                </a:lnTo>
                <a:lnTo>
                  <a:pt x="1419429" y="895592"/>
                </a:lnTo>
                <a:lnTo>
                  <a:pt x="1429698" y="851406"/>
                </a:lnTo>
                <a:lnTo>
                  <a:pt x="1437151" y="806221"/>
                </a:lnTo>
                <a:lnTo>
                  <a:pt x="1441693" y="760132"/>
                </a:lnTo>
                <a:lnTo>
                  <a:pt x="1443227" y="713232"/>
                </a:lnTo>
                <a:lnTo>
                  <a:pt x="1441693" y="666331"/>
                </a:lnTo>
                <a:lnTo>
                  <a:pt x="1437151" y="620242"/>
                </a:lnTo>
                <a:lnTo>
                  <a:pt x="1429698" y="575057"/>
                </a:lnTo>
                <a:lnTo>
                  <a:pt x="1419429" y="530871"/>
                </a:lnTo>
                <a:lnTo>
                  <a:pt x="1406438" y="487777"/>
                </a:lnTo>
                <a:lnTo>
                  <a:pt x="1390821" y="445870"/>
                </a:lnTo>
                <a:lnTo>
                  <a:pt x="1372674" y="405243"/>
                </a:lnTo>
                <a:lnTo>
                  <a:pt x="1352090" y="365991"/>
                </a:lnTo>
                <a:lnTo>
                  <a:pt x="1329165" y="328207"/>
                </a:lnTo>
                <a:lnTo>
                  <a:pt x="1303995" y="291986"/>
                </a:lnTo>
                <a:lnTo>
                  <a:pt x="1276674" y="257420"/>
                </a:lnTo>
                <a:lnTo>
                  <a:pt x="1247297" y="224605"/>
                </a:lnTo>
                <a:lnTo>
                  <a:pt x="1215960" y="193633"/>
                </a:lnTo>
                <a:lnTo>
                  <a:pt x="1182758" y="164600"/>
                </a:lnTo>
                <a:lnTo>
                  <a:pt x="1147785" y="137598"/>
                </a:lnTo>
                <a:lnTo>
                  <a:pt x="1111137" y="112723"/>
                </a:lnTo>
                <a:lnTo>
                  <a:pt x="1072909" y="90067"/>
                </a:lnTo>
                <a:lnTo>
                  <a:pt x="1033196" y="69724"/>
                </a:lnTo>
                <a:lnTo>
                  <a:pt x="992093" y="51789"/>
                </a:lnTo>
                <a:lnTo>
                  <a:pt x="949695" y="36356"/>
                </a:lnTo>
                <a:lnTo>
                  <a:pt x="906098" y="23518"/>
                </a:lnTo>
                <a:lnTo>
                  <a:pt x="861396" y="13370"/>
                </a:lnTo>
                <a:lnTo>
                  <a:pt x="815685" y="6004"/>
                </a:lnTo>
                <a:lnTo>
                  <a:pt x="769059" y="1516"/>
                </a:lnTo>
                <a:lnTo>
                  <a:pt x="721613" y="0"/>
                </a:lnTo>
                <a:close/>
              </a:path>
            </a:pathLst>
          </a:custGeom>
          <a:solidFill>
            <a:srgbClr val="81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12870" y="2049017"/>
            <a:ext cx="1397507" cy="13837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12870" y="2049017"/>
            <a:ext cx="1397635" cy="1384300"/>
          </a:xfrm>
          <a:custGeom>
            <a:avLst/>
            <a:gdLst/>
            <a:ahLst/>
            <a:cxnLst/>
            <a:rect l="l" t="t" r="r" b="b"/>
            <a:pathLst>
              <a:path w="1397635" h="1384300">
                <a:moveTo>
                  <a:pt x="0" y="691896"/>
                </a:moveTo>
                <a:lnTo>
                  <a:pt x="1611" y="644522"/>
                </a:lnTo>
                <a:lnTo>
                  <a:pt x="6378" y="598005"/>
                </a:lnTo>
                <a:lnTo>
                  <a:pt x="14194" y="552449"/>
                </a:lnTo>
                <a:lnTo>
                  <a:pt x="24957" y="507955"/>
                </a:lnTo>
                <a:lnTo>
                  <a:pt x="38562" y="464628"/>
                </a:lnTo>
                <a:lnTo>
                  <a:pt x="54905" y="422570"/>
                </a:lnTo>
                <a:lnTo>
                  <a:pt x="73883" y="381884"/>
                </a:lnTo>
                <a:lnTo>
                  <a:pt x="95391" y="342674"/>
                </a:lnTo>
                <a:lnTo>
                  <a:pt x="119325" y="305041"/>
                </a:lnTo>
                <a:lnTo>
                  <a:pt x="145581" y="269090"/>
                </a:lnTo>
                <a:lnTo>
                  <a:pt x="174055" y="234923"/>
                </a:lnTo>
                <a:lnTo>
                  <a:pt x="204644" y="202644"/>
                </a:lnTo>
                <a:lnTo>
                  <a:pt x="237243" y="172355"/>
                </a:lnTo>
                <a:lnTo>
                  <a:pt x="271748" y="144159"/>
                </a:lnTo>
                <a:lnTo>
                  <a:pt x="308055" y="118159"/>
                </a:lnTo>
                <a:lnTo>
                  <a:pt x="346060" y="94459"/>
                </a:lnTo>
                <a:lnTo>
                  <a:pt x="385660" y="73162"/>
                </a:lnTo>
                <a:lnTo>
                  <a:pt x="426749" y="54369"/>
                </a:lnTo>
                <a:lnTo>
                  <a:pt x="469225" y="38186"/>
                </a:lnTo>
                <a:lnTo>
                  <a:pt x="512982" y="24713"/>
                </a:lnTo>
                <a:lnTo>
                  <a:pt x="557918" y="14056"/>
                </a:lnTo>
                <a:lnTo>
                  <a:pt x="603928" y="6315"/>
                </a:lnTo>
                <a:lnTo>
                  <a:pt x="650908" y="1596"/>
                </a:lnTo>
                <a:lnTo>
                  <a:pt x="698753" y="0"/>
                </a:lnTo>
                <a:lnTo>
                  <a:pt x="746599" y="1596"/>
                </a:lnTo>
                <a:lnTo>
                  <a:pt x="793579" y="6315"/>
                </a:lnTo>
                <a:lnTo>
                  <a:pt x="839589" y="14056"/>
                </a:lnTo>
                <a:lnTo>
                  <a:pt x="884525" y="24713"/>
                </a:lnTo>
                <a:lnTo>
                  <a:pt x="928282" y="38186"/>
                </a:lnTo>
                <a:lnTo>
                  <a:pt x="970758" y="54369"/>
                </a:lnTo>
                <a:lnTo>
                  <a:pt x="1011847" y="73162"/>
                </a:lnTo>
                <a:lnTo>
                  <a:pt x="1051447" y="94459"/>
                </a:lnTo>
                <a:lnTo>
                  <a:pt x="1089452" y="118159"/>
                </a:lnTo>
                <a:lnTo>
                  <a:pt x="1125759" y="144159"/>
                </a:lnTo>
                <a:lnTo>
                  <a:pt x="1160264" y="172355"/>
                </a:lnTo>
                <a:lnTo>
                  <a:pt x="1192863" y="202644"/>
                </a:lnTo>
                <a:lnTo>
                  <a:pt x="1223452" y="234923"/>
                </a:lnTo>
                <a:lnTo>
                  <a:pt x="1251926" y="269090"/>
                </a:lnTo>
                <a:lnTo>
                  <a:pt x="1278182" y="305041"/>
                </a:lnTo>
                <a:lnTo>
                  <a:pt x="1302116" y="342674"/>
                </a:lnTo>
                <a:lnTo>
                  <a:pt x="1323624" y="381884"/>
                </a:lnTo>
                <a:lnTo>
                  <a:pt x="1342602" y="422570"/>
                </a:lnTo>
                <a:lnTo>
                  <a:pt x="1358945" y="464628"/>
                </a:lnTo>
                <a:lnTo>
                  <a:pt x="1372550" y="507955"/>
                </a:lnTo>
                <a:lnTo>
                  <a:pt x="1383313" y="552449"/>
                </a:lnTo>
                <a:lnTo>
                  <a:pt x="1391129" y="598005"/>
                </a:lnTo>
                <a:lnTo>
                  <a:pt x="1395896" y="644522"/>
                </a:lnTo>
                <a:lnTo>
                  <a:pt x="1397507" y="691896"/>
                </a:lnTo>
                <a:lnTo>
                  <a:pt x="1395896" y="739269"/>
                </a:lnTo>
                <a:lnTo>
                  <a:pt x="1391129" y="785786"/>
                </a:lnTo>
                <a:lnTo>
                  <a:pt x="1383313" y="831342"/>
                </a:lnTo>
                <a:lnTo>
                  <a:pt x="1372550" y="875836"/>
                </a:lnTo>
                <a:lnTo>
                  <a:pt x="1358945" y="919163"/>
                </a:lnTo>
                <a:lnTo>
                  <a:pt x="1342602" y="961221"/>
                </a:lnTo>
                <a:lnTo>
                  <a:pt x="1323624" y="1001907"/>
                </a:lnTo>
                <a:lnTo>
                  <a:pt x="1302116" y="1041117"/>
                </a:lnTo>
                <a:lnTo>
                  <a:pt x="1278182" y="1078750"/>
                </a:lnTo>
                <a:lnTo>
                  <a:pt x="1251926" y="1114701"/>
                </a:lnTo>
                <a:lnTo>
                  <a:pt x="1223452" y="1148868"/>
                </a:lnTo>
                <a:lnTo>
                  <a:pt x="1192863" y="1181147"/>
                </a:lnTo>
                <a:lnTo>
                  <a:pt x="1160264" y="1211436"/>
                </a:lnTo>
                <a:lnTo>
                  <a:pt x="1125759" y="1239632"/>
                </a:lnTo>
                <a:lnTo>
                  <a:pt x="1089452" y="1265632"/>
                </a:lnTo>
                <a:lnTo>
                  <a:pt x="1051447" y="1289332"/>
                </a:lnTo>
                <a:lnTo>
                  <a:pt x="1011847" y="1310629"/>
                </a:lnTo>
                <a:lnTo>
                  <a:pt x="970758" y="1329422"/>
                </a:lnTo>
                <a:lnTo>
                  <a:pt x="928282" y="1345605"/>
                </a:lnTo>
                <a:lnTo>
                  <a:pt x="884525" y="1359078"/>
                </a:lnTo>
                <a:lnTo>
                  <a:pt x="839589" y="1369735"/>
                </a:lnTo>
                <a:lnTo>
                  <a:pt x="793579" y="1377476"/>
                </a:lnTo>
                <a:lnTo>
                  <a:pt x="746599" y="1382195"/>
                </a:lnTo>
                <a:lnTo>
                  <a:pt x="698753" y="1383792"/>
                </a:lnTo>
                <a:lnTo>
                  <a:pt x="650908" y="1382195"/>
                </a:lnTo>
                <a:lnTo>
                  <a:pt x="603928" y="1377476"/>
                </a:lnTo>
                <a:lnTo>
                  <a:pt x="557918" y="1369735"/>
                </a:lnTo>
                <a:lnTo>
                  <a:pt x="512982" y="1359078"/>
                </a:lnTo>
                <a:lnTo>
                  <a:pt x="469225" y="1345605"/>
                </a:lnTo>
                <a:lnTo>
                  <a:pt x="426749" y="1329422"/>
                </a:lnTo>
                <a:lnTo>
                  <a:pt x="385660" y="1310629"/>
                </a:lnTo>
                <a:lnTo>
                  <a:pt x="346060" y="1289332"/>
                </a:lnTo>
                <a:lnTo>
                  <a:pt x="308055" y="1265632"/>
                </a:lnTo>
                <a:lnTo>
                  <a:pt x="271748" y="1239632"/>
                </a:lnTo>
                <a:lnTo>
                  <a:pt x="237243" y="1211436"/>
                </a:lnTo>
                <a:lnTo>
                  <a:pt x="204644" y="1181147"/>
                </a:lnTo>
                <a:lnTo>
                  <a:pt x="174055" y="1148868"/>
                </a:lnTo>
                <a:lnTo>
                  <a:pt x="145581" y="1114701"/>
                </a:lnTo>
                <a:lnTo>
                  <a:pt x="119325" y="1078750"/>
                </a:lnTo>
                <a:lnTo>
                  <a:pt x="95391" y="1041117"/>
                </a:lnTo>
                <a:lnTo>
                  <a:pt x="73883" y="1001907"/>
                </a:lnTo>
                <a:lnTo>
                  <a:pt x="54905" y="961221"/>
                </a:lnTo>
                <a:lnTo>
                  <a:pt x="38562" y="919163"/>
                </a:lnTo>
                <a:lnTo>
                  <a:pt x="24957" y="875836"/>
                </a:lnTo>
                <a:lnTo>
                  <a:pt x="14194" y="831342"/>
                </a:lnTo>
                <a:lnTo>
                  <a:pt x="6378" y="785786"/>
                </a:lnTo>
                <a:lnTo>
                  <a:pt x="1611" y="739269"/>
                </a:lnTo>
                <a:lnTo>
                  <a:pt x="0" y="691896"/>
                </a:lnTo>
                <a:close/>
              </a:path>
            </a:pathLst>
          </a:custGeom>
          <a:ln w="38099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08098" y="1774352"/>
            <a:ext cx="2818765" cy="127508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2000" b="1" dirty="0">
                <a:latin typeface="宋体"/>
                <a:cs typeface="宋体"/>
              </a:rPr>
              <a:t>规划阶段</a:t>
            </a:r>
            <a:endParaRPr sz="2000">
              <a:latin typeface="宋体"/>
              <a:cs typeface="宋体"/>
            </a:endParaRPr>
          </a:p>
          <a:p>
            <a:pPr marL="1768475" algn="ctr">
              <a:lnSpc>
                <a:spcPts val="2345"/>
              </a:lnSpc>
              <a:spcBef>
                <a:spcPts val="1375"/>
              </a:spcBef>
            </a:pP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应用组装</a:t>
            </a:r>
            <a:endParaRPr sz="2000">
              <a:latin typeface="宋体"/>
              <a:cs typeface="宋体"/>
            </a:endParaRPr>
          </a:p>
          <a:p>
            <a:pPr marL="1768475" algn="ctr">
              <a:lnSpc>
                <a:spcPts val="2345"/>
              </a:lnSpc>
            </a:pPr>
            <a:r>
              <a:rPr sz="2000" b="1" spc="5" dirty="0">
                <a:solidFill>
                  <a:srgbClr val="FFFFFF"/>
                </a:solidFill>
                <a:latin typeface="宋体"/>
                <a:cs typeface="宋体"/>
              </a:rPr>
              <a:t>模型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00122" y="4463034"/>
            <a:ext cx="1397507" cy="1383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500122" y="4463034"/>
            <a:ext cx="1397635" cy="1384300"/>
          </a:xfrm>
          <a:custGeom>
            <a:avLst/>
            <a:gdLst/>
            <a:ahLst/>
            <a:cxnLst/>
            <a:rect l="l" t="t" r="r" b="b"/>
            <a:pathLst>
              <a:path w="1397635" h="1384300">
                <a:moveTo>
                  <a:pt x="0" y="691896"/>
                </a:moveTo>
                <a:lnTo>
                  <a:pt x="1611" y="644522"/>
                </a:lnTo>
                <a:lnTo>
                  <a:pt x="6378" y="598005"/>
                </a:lnTo>
                <a:lnTo>
                  <a:pt x="14194" y="552449"/>
                </a:lnTo>
                <a:lnTo>
                  <a:pt x="24957" y="507955"/>
                </a:lnTo>
                <a:lnTo>
                  <a:pt x="38562" y="464628"/>
                </a:lnTo>
                <a:lnTo>
                  <a:pt x="54905" y="422570"/>
                </a:lnTo>
                <a:lnTo>
                  <a:pt x="73883" y="381884"/>
                </a:lnTo>
                <a:lnTo>
                  <a:pt x="95391" y="342674"/>
                </a:lnTo>
                <a:lnTo>
                  <a:pt x="119325" y="305041"/>
                </a:lnTo>
                <a:lnTo>
                  <a:pt x="145581" y="269090"/>
                </a:lnTo>
                <a:lnTo>
                  <a:pt x="174055" y="234923"/>
                </a:lnTo>
                <a:lnTo>
                  <a:pt x="204644" y="202644"/>
                </a:lnTo>
                <a:lnTo>
                  <a:pt x="237243" y="172355"/>
                </a:lnTo>
                <a:lnTo>
                  <a:pt x="271748" y="144159"/>
                </a:lnTo>
                <a:lnTo>
                  <a:pt x="308055" y="118159"/>
                </a:lnTo>
                <a:lnTo>
                  <a:pt x="346060" y="94459"/>
                </a:lnTo>
                <a:lnTo>
                  <a:pt x="385660" y="73162"/>
                </a:lnTo>
                <a:lnTo>
                  <a:pt x="426749" y="54369"/>
                </a:lnTo>
                <a:lnTo>
                  <a:pt x="469225" y="38186"/>
                </a:lnTo>
                <a:lnTo>
                  <a:pt x="512982" y="24713"/>
                </a:lnTo>
                <a:lnTo>
                  <a:pt x="557918" y="14056"/>
                </a:lnTo>
                <a:lnTo>
                  <a:pt x="603928" y="6315"/>
                </a:lnTo>
                <a:lnTo>
                  <a:pt x="650908" y="1596"/>
                </a:lnTo>
                <a:lnTo>
                  <a:pt x="698753" y="0"/>
                </a:lnTo>
                <a:lnTo>
                  <a:pt x="746599" y="1596"/>
                </a:lnTo>
                <a:lnTo>
                  <a:pt x="793579" y="6315"/>
                </a:lnTo>
                <a:lnTo>
                  <a:pt x="839589" y="14056"/>
                </a:lnTo>
                <a:lnTo>
                  <a:pt x="884525" y="24713"/>
                </a:lnTo>
                <a:lnTo>
                  <a:pt x="928282" y="38186"/>
                </a:lnTo>
                <a:lnTo>
                  <a:pt x="970758" y="54369"/>
                </a:lnTo>
                <a:lnTo>
                  <a:pt x="1011847" y="73162"/>
                </a:lnTo>
                <a:lnTo>
                  <a:pt x="1051447" y="94459"/>
                </a:lnTo>
                <a:lnTo>
                  <a:pt x="1089452" y="118159"/>
                </a:lnTo>
                <a:lnTo>
                  <a:pt x="1125759" y="144159"/>
                </a:lnTo>
                <a:lnTo>
                  <a:pt x="1160264" y="172355"/>
                </a:lnTo>
                <a:lnTo>
                  <a:pt x="1192863" y="202644"/>
                </a:lnTo>
                <a:lnTo>
                  <a:pt x="1223452" y="234923"/>
                </a:lnTo>
                <a:lnTo>
                  <a:pt x="1251926" y="269090"/>
                </a:lnTo>
                <a:lnTo>
                  <a:pt x="1278182" y="305041"/>
                </a:lnTo>
                <a:lnTo>
                  <a:pt x="1302116" y="342674"/>
                </a:lnTo>
                <a:lnTo>
                  <a:pt x="1323624" y="381884"/>
                </a:lnTo>
                <a:lnTo>
                  <a:pt x="1342602" y="422570"/>
                </a:lnTo>
                <a:lnTo>
                  <a:pt x="1358945" y="464628"/>
                </a:lnTo>
                <a:lnTo>
                  <a:pt x="1372550" y="507955"/>
                </a:lnTo>
                <a:lnTo>
                  <a:pt x="1383313" y="552449"/>
                </a:lnTo>
                <a:lnTo>
                  <a:pt x="1391129" y="598005"/>
                </a:lnTo>
                <a:lnTo>
                  <a:pt x="1395896" y="644522"/>
                </a:lnTo>
                <a:lnTo>
                  <a:pt x="1397507" y="691896"/>
                </a:lnTo>
                <a:lnTo>
                  <a:pt x="1395896" y="739269"/>
                </a:lnTo>
                <a:lnTo>
                  <a:pt x="1391129" y="785786"/>
                </a:lnTo>
                <a:lnTo>
                  <a:pt x="1383313" y="831342"/>
                </a:lnTo>
                <a:lnTo>
                  <a:pt x="1372550" y="875836"/>
                </a:lnTo>
                <a:lnTo>
                  <a:pt x="1358945" y="919163"/>
                </a:lnTo>
                <a:lnTo>
                  <a:pt x="1342602" y="961221"/>
                </a:lnTo>
                <a:lnTo>
                  <a:pt x="1323624" y="1001907"/>
                </a:lnTo>
                <a:lnTo>
                  <a:pt x="1302116" y="1041117"/>
                </a:lnTo>
                <a:lnTo>
                  <a:pt x="1278182" y="1078750"/>
                </a:lnTo>
                <a:lnTo>
                  <a:pt x="1251926" y="1114701"/>
                </a:lnTo>
                <a:lnTo>
                  <a:pt x="1223452" y="1148868"/>
                </a:lnTo>
                <a:lnTo>
                  <a:pt x="1192863" y="1181147"/>
                </a:lnTo>
                <a:lnTo>
                  <a:pt x="1160264" y="1211436"/>
                </a:lnTo>
                <a:lnTo>
                  <a:pt x="1125759" y="1239632"/>
                </a:lnTo>
                <a:lnTo>
                  <a:pt x="1089452" y="1265632"/>
                </a:lnTo>
                <a:lnTo>
                  <a:pt x="1051447" y="1289332"/>
                </a:lnTo>
                <a:lnTo>
                  <a:pt x="1011847" y="1310629"/>
                </a:lnTo>
                <a:lnTo>
                  <a:pt x="970758" y="1329422"/>
                </a:lnTo>
                <a:lnTo>
                  <a:pt x="928282" y="1345605"/>
                </a:lnTo>
                <a:lnTo>
                  <a:pt x="884525" y="1359078"/>
                </a:lnTo>
                <a:lnTo>
                  <a:pt x="839589" y="1369735"/>
                </a:lnTo>
                <a:lnTo>
                  <a:pt x="793579" y="1377476"/>
                </a:lnTo>
                <a:lnTo>
                  <a:pt x="746599" y="1382195"/>
                </a:lnTo>
                <a:lnTo>
                  <a:pt x="698753" y="1383792"/>
                </a:lnTo>
                <a:lnTo>
                  <a:pt x="650908" y="1382195"/>
                </a:lnTo>
                <a:lnTo>
                  <a:pt x="603928" y="1377476"/>
                </a:lnTo>
                <a:lnTo>
                  <a:pt x="557918" y="1369735"/>
                </a:lnTo>
                <a:lnTo>
                  <a:pt x="512982" y="1359078"/>
                </a:lnTo>
                <a:lnTo>
                  <a:pt x="469225" y="1345605"/>
                </a:lnTo>
                <a:lnTo>
                  <a:pt x="426749" y="1329422"/>
                </a:lnTo>
                <a:lnTo>
                  <a:pt x="385660" y="1310629"/>
                </a:lnTo>
                <a:lnTo>
                  <a:pt x="346060" y="1289332"/>
                </a:lnTo>
                <a:lnTo>
                  <a:pt x="308055" y="1265632"/>
                </a:lnTo>
                <a:lnTo>
                  <a:pt x="271748" y="1239632"/>
                </a:lnTo>
                <a:lnTo>
                  <a:pt x="237243" y="1211436"/>
                </a:lnTo>
                <a:lnTo>
                  <a:pt x="204644" y="1181147"/>
                </a:lnTo>
                <a:lnTo>
                  <a:pt x="174055" y="1148868"/>
                </a:lnTo>
                <a:lnTo>
                  <a:pt x="145581" y="1114701"/>
                </a:lnTo>
                <a:lnTo>
                  <a:pt x="119325" y="1078750"/>
                </a:lnTo>
                <a:lnTo>
                  <a:pt x="95391" y="1041117"/>
                </a:lnTo>
                <a:lnTo>
                  <a:pt x="73883" y="1001907"/>
                </a:lnTo>
                <a:lnTo>
                  <a:pt x="54905" y="961221"/>
                </a:lnTo>
                <a:lnTo>
                  <a:pt x="38562" y="919163"/>
                </a:lnTo>
                <a:lnTo>
                  <a:pt x="24957" y="875836"/>
                </a:lnTo>
                <a:lnTo>
                  <a:pt x="14194" y="831342"/>
                </a:lnTo>
                <a:lnTo>
                  <a:pt x="6378" y="785786"/>
                </a:lnTo>
                <a:lnTo>
                  <a:pt x="1611" y="739269"/>
                </a:lnTo>
                <a:lnTo>
                  <a:pt x="0" y="691896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675001" y="4986909"/>
            <a:ext cx="1050925" cy="62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45"/>
              </a:lnSpc>
              <a:spcBef>
                <a:spcPts val="100"/>
              </a:spcBef>
            </a:pPr>
            <a:r>
              <a:rPr sz="2000" b="1" spc="5" dirty="0">
                <a:solidFill>
                  <a:srgbClr val="FFFFFF"/>
                </a:solidFill>
                <a:latin typeface="宋体"/>
                <a:cs typeface="宋体"/>
              </a:rPr>
              <a:t>早期设计</a:t>
            </a:r>
            <a:endParaRPr sz="2000">
              <a:latin typeface="宋体"/>
              <a:cs typeface="宋体"/>
            </a:endParaRPr>
          </a:p>
          <a:p>
            <a:pPr algn="ctr">
              <a:lnSpc>
                <a:spcPts val="2345"/>
              </a:lnSpc>
            </a:pP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模型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43321" y="4463034"/>
            <a:ext cx="1397507" cy="1383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43321" y="4463034"/>
            <a:ext cx="1397635" cy="1384300"/>
          </a:xfrm>
          <a:custGeom>
            <a:avLst/>
            <a:gdLst/>
            <a:ahLst/>
            <a:cxnLst/>
            <a:rect l="l" t="t" r="r" b="b"/>
            <a:pathLst>
              <a:path w="1397634" h="1384300">
                <a:moveTo>
                  <a:pt x="0" y="691896"/>
                </a:moveTo>
                <a:lnTo>
                  <a:pt x="1611" y="644522"/>
                </a:lnTo>
                <a:lnTo>
                  <a:pt x="6378" y="598005"/>
                </a:lnTo>
                <a:lnTo>
                  <a:pt x="14194" y="552449"/>
                </a:lnTo>
                <a:lnTo>
                  <a:pt x="24957" y="507955"/>
                </a:lnTo>
                <a:lnTo>
                  <a:pt x="38562" y="464628"/>
                </a:lnTo>
                <a:lnTo>
                  <a:pt x="54905" y="422570"/>
                </a:lnTo>
                <a:lnTo>
                  <a:pt x="73883" y="381884"/>
                </a:lnTo>
                <a:lnTo>
                  <a:pt x="95391" y="342674"/>
                </a:lnTo>
                <a:lnTo>
                  <a:pt x="119325" y="305041"/>
                </a:lnTo>
                <a:lnTo>
                  <a:pt x="145581" y="269090"/>
                </a:lnTo>
                <a:lnTo>
                  <a:pt x="174055" y="234923"/>
                </a:lnTo>
                <a:lnTo>
                  <a:pt x="204644" y="202644"/>
                </a:lnTo>
                <a:lnTo>
                  <a:pt x="237243" y="172355"/>
                </a:lnTo>
                <a:lnTo>
                  <a:pt x="271748" y="144159"/>
                </a:lnTo>
                <a:lnTo>
                  <a:pt x="308055" y="118159"/>
                </a:lnTo>
                <a:lnTo>
                  <a:pt x="346060" y="94459"/>
                </a:lnTo>
                <a:lnTo>
                  <a:pt x="385660" y="73162"/>
                </a:lnTo>
                <a:lnTo>
                  <a:pt x="426749" y="54369"/>
                </a:lnTo>
                <a:lnTo>
                  <a:pt x="469225" y="38186"/>
                </a:lnTo>
                <a:lnTo>
                  <a:pt x="512982" y="24713"/>
                </a:lnTo>
                <a:lnTo>
                  <a:pt x="557918" y="14056"/>
                </a:lnTo>
                <a:lnTo>
                  <a:pt x="603928" y="6315"/>
                </a:lnTo>
                <a:lnTo>
                  <a:pt x="650908" y="1596"/>
                </a:lnTo>
                <a:lnTo>
                  <a:pt x="698753" y="0"/>
                </a:lnTo>
                <a:lnTo>
                  <a:pt x="746599" y="1596"/>
                </a:lnTo>
                <a:lnTo>
                  <a:pt x="793579" y="6315"/>
                </a:lnTo>
                <a:lnTo>
                  <a:pt x="839589" y="14056"/>
                </a:lnTo>
                <a:lnTo>
                  <a:pt x="884525" y="24713"/>
                </a:lnTo>
                <a:lnTo>
                  <a:pt x="928282" y="38186"/>
                </a:lnTo>
                <a:lnTo>
                  <a:pt x="970758" y="54369"/>
                </a:lnTo>
                <a:lnTo>
                  <a:pt x="1011847" y="73162"/>
                </a:lnTo>
                <a:lnTo>
                  <a:pt x="1051447" y="94459"/>
                </a:lnTo>
                <a:lnTo>
                  <a:pt x="1089452" y="118159"/>
                </a:lnTo>
                <a:lnTo>
                  <a:pt x="1125759" y="144159"/>
                </a:lnTo>
                <a:lnTo>
                  <a:pt x="1160264" y="172355"/>
                </a:lnTo>
                <a:lnTo>
                  <a:pt x="1192863" y="202644"/>
                </a:lnTo>
                <a:lnTo>
                  <a:pt x="1223452" y="234923"/>
                </a:lnTo>
                <a:lnTo>
                  <a:pt x="1251926" y="269090"/>
                </a:lnTo>
                <a:lnTo>
                  <a:pt x="1278182" y="305041"/>
                </a:lnTo>
                <a:lnTo>
                  <a:pt x="1302116" y="342674"/>
                </a:lnTo>
                <a:lnTo>
                  <a:pt x="1323624" y="381884"/>
                </a:lnTo>
                <a:lnTo>
                  <a:pt x="1342602" y="422570"/>
                </a:lnTo>
                <a:lnTo>
                  <a:pt x="1358945" y="464628"/>
                </a:lnTo>
                <a:lnTo>
                  <a:pt x="1372550" y="507955"/>
                </a:lnTo>
                <a:lnTo>
                  <a:pt x="1383313" y="552449"/>
                </a:lnTo>
                <a:lnTo>
                  <a:pt x="1391129" y="598005"/>
                </a:lnTo>
                <a:lnTo>
                  <a:pt x="1395896" y="644522"/>
                </a:lnTo>
                <a:lnTo>
                  <a:pt x="1397507" y="691896"/>
                </a:lnTo>
                <a:lnTo>
                  <a:pt x="1395896" y="739269"/>
                </a:lnTo>
                <a:lnTo>
                  <a:pt x="1391129" y="785786"/>
                </a:lnTo>
                <a:lnTo>
                  <a:pt x="1383313" y="831342"/>
                </a:lnTo>
                <a:lnTo>
                  <a:pt x="1372550" y="875836"/>
                </a:lnTo>
                <a:lnTo>
                  <a:pt x="1358945" y="919163"/>
                </a:lnTo>
                <a:lnTo>
                  <a:pt x="1342602" y="961221"/>
                </a:lnTo>
                <a:lnTo>
                  <a:pt x="1323624" y="1001907"/>
                </a:lnTo>
                <a:lnTo>
                  <a:pt x="1302116" y="1041117"/>
                </a:lnTo>
                <a:lnTo>
                  <a:pt x="1278182" y="1078750"/>
                </a:lnTo>
                <a:lnTo>
                  <a:pt x="1251926" y="1114701"/>
                </a:lnTo>
                <a:lnTo>
                  <a:pt x="1223452" y="1148868"/>
                </a:lnTo>
                <a:lnTo>
                  <a:pt x="1192863" y="1181147"/>
                </a:lnTo>
                <a:lnTo>
                  <a:pt x="1160264" y="1211436"/>
                </a:lnTo>
                <a:lnTo>
                  <a:pt x="1125759" y="1239632"/>
                </a:lnTo>
                <a:lnTo>
                  <a:pt x="1089452" y="1265632"/>
                </a:lnTo>
                <a:lnTo>
                  <a:pt x="1051447" y="1289332"/>
                </a:lnTo>
                <a:lnTo>
                  <a:pt x="1011847" y="1310629"/>
                </a:lnTo>
                <a:lnTo>
                  <a:pt x="970758" y="1329422"/>
                </a:lnTo>
                <a:lnTo>
                  <a:pt x="928282" y="1345605"/>
                </a:lnTo>
                <a:lnTo>
                  <a:pt x="884525" y="1359078"/>
                </a:lnTo>
                <a:lnTo>
                  <a:pt x="839589" y="1369735"/>
                </a:lnTo>
                <a:lnTo>
                  <a:pt x="793579" y="1377476"/>
                </a:lnTo>
                <a:lnTo>
                  <a:pt x="746599" y="1382195"/>
                </a:lnTo>
                <a:lnTo>
                  <a:pt x="698753" y="1383792"/>
                </a:lnTo>
                <a:lnTo>
                  <a:pt x="650908" y="1382195"/>
                </a:lnTo>
                <a:lnTo>
                  <a:pt x="603928" y="1377476"/>
                </a:lnTo>
                <a:lnTo>
                  <a:pt x="557918" y="1369735"/>
                </a:lnTo>
                <a:lnTo>
                  <a:pt x="512982" y="1359078"/>
                </a:lnTo>
                <a:lnTo>
                  <a:pt x="469225" y="1345605"/>
                </a:lnTo>
                <a:lnTo>
                  <a:pt x="426749" y="1329422"/>
                </a:lnTo>
                <a:lnTo>
                  <a:pt x="385660" y="1310629"/>
                </a:lnTo>
                <a:lnTo>
                  <a:pt x="346060" y="1289332"/>
                </a:lnTo>
                <a:lnTo>
                  <a:pt x="308055" y="1265632"/>
                </a:lnTo>
                <a:lnTo>
                  <a:pt x="271748" y="1239632"/>
                </a:lnTo>
                <a:lnTo>
                  <a:pt x="237243" y="1211436"/>
                </a:lnTo>
                <a:lnTo>
                  <a:pt x="204644" y="1181147"/>
                </a:lnTo>
                <a:lnTo>
                  <a:pt x="174055" y="1148868"/>
                </a:lnTo>
                <a:lnTo>
                  <a:pt x="145581" y="1114701"/>
                </a:lnTo>
                <a:lnTo>
                  <a:pt x="119325" y="1078750"/>
                </a:lnTo>
                <a:lnTo>
                  <a:pt x="95391" y="1041117"/>
                </a:lnTo>
                <a:lnTo>
                  <a:pt x="73883" y="1001907"/>
                </a:lnTo>
                <a:lnTo>
                  <a:pt x="54905" y="961221"/>
                </a:lnTo>
                <a:lnTo>
                  <a:pt x="38562" y="919163"/>
                </a:lnTo>
                <a:lnTo>
                  <a:pt x="24957" y="875836"/>
                </a:lnTo>
                <a:lnTo>
                  <a:pt x="14194" y="831342"/>
                </a:lnTo>
                <a:lnTo>
                  <a:pt x="6378" y="785786"/>
                </a:lnTo>
                <a:lnTo>
                  <a:pt x="1611" y="739269"/>
                </a:lnTo>
                <a:lnTo>
                  <a:pt x="0" y="691896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425185" y="4945760"/>
            <a:ext cx="104965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40335" marR="5080" indent="-128270">
              <a:lnSpc>
                <a:spcPts val="2290"/>
              </a:lnSpc>
              <a:spcBef>
                <a:spcPts val="270"/>
              </a:spcBef>
            </a:pPr>
            <a:r>
              <a:rPr sz="2000" b="1" spc="5" dirty="0">
                <a:solidFill>
                  <a:srgbClr val="FFFFFF"/>
                </a:solidFill>
                <a:latin typeface="宋体"/>
                <a:cs typeface="宋体"/>
              </a:rPr>
              <a:t>后体系结 构模型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72959" y="4974716"/>
            <a:ext cx="1049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开发阶段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61575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spc="-65" dirty="0"/>
              <a:t> </a:t>
            </a:r>
            <a:r>
              <a:rPr spc="-5" dirty="0"/>
              <a:t>II-</a:t>
            </a:r>
            <a:r>
              <a:rPr dirty="0"/>
              <a:t>应用组装模型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18640"/>
            <a:ext cx="7921625" cy="351027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规划阶段</a:t>
            </a:r>
            <a:endParaRPr sz="29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原型构造或者复用构件</a:t>
            </a:r>
            <a:r>
              <a:rPr sz="2900" spc="-15" dirty="0">
                <a:latin typeface="华文仿宋"/>
                <a:cs typeface="华文仿宋"/>
              </a:rPr>
              <a:t>组</a:t>
            </a:r>
            <a:r>
              <a:rPr sz="2900" dirty="0">
                <a:latin typeface="华文仿宋"/>
                <a:cs typeface="华文仿宋"/>
              </a:rPr>
              <a:t>合项目</a:t>
            </a:r>
            <a:endParaRPr sz="29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  <a:tab pos="1642110" algn="l"/>
              </a:tabLst>
            </a:pPr>
            <a:r>
              <a:rPr sz="2900" dirty="0">
                <a:latin typeface="华文仿宋"/>
                <a:cs typeface="华文仿宋"/>
              </a:rPr>
              <a:t>公式</a:t>
            </a:r>
            <a:r>
              <a:rPr sz="2900" spc="5" dirty="0">
                <a:latin typeface="华文仿宋"/>
                <a:cs typeface="华文仿宋"/>
              </a:rPr>
              <a:t>：	</a:t>
            </a:r>
            <a:r>
              <a:rPr sz="2900" dirty="0">
                <a:latin typeface="Tw Cen MT"/>
                <a:cs typeface="Tw Cen MT"/>
              </a:rPr>
              <a:t>PM=</a:t>
            </a:r>
            <a:r>
              <a:rPr sz="2900" dirty="0">
                <a:latin typeface="华文仿宋"/>
                <a:cs typeface="华文仿宋"/>
              </a:rPr>
              <a:t>（</a:t>
            </a:r>
            <a:r>
              <a:rPr sz="2900" dirty="0">
                <a:latin typeface="Tw Cen MT"/>
                <a:cs typeface="Tw Cen MT"/>
              </a:rPr>
              <a:t>NAP*</a:t>
            </a:r>
            <a:r>
              <a:rPr sz="2900" dirty="0">
                <a:latin typeface="华文仿宋"/>
                <a:cs typeface="华文仿宋"/>
              </a:rPr>
              <a:t>（</a:t>
            </a:r>
            <a:r>
              <a:rPr sz="2900" dirty="0">
                <a:latin typeface="Tw Cen MT"/>
                <a:cs typeface="Tw Cen MT"/>
              </a:rPr>
              <a:t>1-%reuse/100</a:t>
            </a:r>
            <a:r>
              <a:rPr sz="2900" dirty="0">
                <a:latin typeface="华文仿宋"/>
                <a:cs typeface="华文仿宋"/>
              </a:rPr>
              <a:t>））</a:t>
            </a:r>
            <a:r>
              <a:rPr sz="2900" dirty="0">
                <a:latin typeface="Tw Cen MT"/>
                <a:cs typeface="Tw Cen MT"/>
              </a:rPr>
              <a:t>/PROD</a:t>
            </a:r>
            <a:endParaRPr sz="2900">
              <a:latin typeface="Tw Cen MT"/>
              <a:cs typeface="Tw Cen MT"/>
            </a:endParaRPr>
          </a:p>
          <a:p>
            <a:pPr marL="652145" lvl="1" indent="-273050">
              <a:lnSpc>
                <a:spcPct val="100000"/>
              </a:lnSpc>
              <a:spcBef>
                <a:spcPts val="61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2780" algn="l"/>
              </a:tabLst>
            </a:pPr>
            <a:r>
              <a:rPr sz="2600" dirty="0">
                <a:latin typeface="Tw Cen MT"/>
                <a:cs typeface="Tw Cen MT"/>
              </a:rPr>
              <a:t>PM</a:t>
            </a:r>
            <a:r>
              <a:rPr sz="2600" dirty="0">
                <a:latin typeface="华文仿宋"/>
                <a:cs typeface="华文仿宋"/>
              </a:rPr>
              <a:t>：以人月为单位</a:t>
            </a:r>
            <a:r>
              <a:rPr sz="2600" spc="-15" dirty="0">
                <a:latin typeface="华文仿宋"/>
                <a:cs typeface="华文仿宋"/>
              </a:rPr>
              <a:t>的</a:t>
            </a:r>
            <a:r>
              <a:rPr sz="2600" dirty="0">
                <a:latin typeface="华文仿宋"/>
                <a:cs typeface="华文仿宋"/>
              </a:rPr>
              <a:t>工作量</a:t>
            </a:r>
            <a:endParaRPr sz="2600">
              <a:latin typeface="华文仿宋"/>
              <a:cs typeface="华文仿宋"/>
            </a:endParaRPr>
          </a:p>
          <a:p>
            <a:pPr marL="652145" lvl="1" indent="-27305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2780" algn="l"/>
              </a:tabLst>
            </a:pPr>
            <a:r>
              <a:rPr sz="2600" dirty="0">
                <a:latin typeface="Tw Cen MT"/>
                <a:cs typeface="Tw Cen MT"/>
              </a:rPr>
              <a:t>NAP</a:t>
            </a:r>
            <a:r>
              <a:rPr sz="2600" dirty="0">
                <a:latin typeface="华文仿宋"/>
                <a:cs typeface="华文仿宋"/>
              </a:rPr>
              <a:t>：应用点总数</a:t>
            </a:r>
            <a:endParaRPr sz="2600">
              <a:latin typeface="华文仿宋"/>
              <a:cs typeface="华文仿宋"/>
            </a:endParaRPr>
          </a:p>
          <a:p>
            <a:pPr marL="652145" lvl="1" indent="-27305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2780" algn="l"/>
              </a:tabLst>
            </a:pPr>
            <a:r>
              <a:rPr sz="2600" dirty="0">
                <a:latin typeface="Tw Cen MT"/>
                <a:cs typeface="Tw Cen MT"/>
              </a:rPr>
              <a:t>%reuse</a:t>
            </a:r>
            <a:r>
              <a:rPr sz="2600" dirty="0">
                <a:latin typeface="华文仿宋"/>
                <a:cs typeface="华文仿宋"/>
              </a:rPr>
              <a:t>：重</a:t>
            </a:r>
            <a:r>
              <a:rPr sz="2600" spc="-15" dirty="0">
                <a:latin typeface="华文仿宋"/>
                <a:cs typeface="华文仿宋"/>
              </a:rPr>
              <a:t>用</a:t>
            </a:r>
            <a:r>
              <a:rPr sz="2600" dirty="0">
                <a:latin typeface="华文仿宋"/>
                <a:cs typeface="华文仿宋"/>
              </a:rPr>
              <a:t>代码</a:t>
            </a:r>
            <a:r>
              <a:rPr sz="2600" spc="-15" dirty="0">
                <a:latin typeface="华文仿宋"/>
                <a:cs typeface="华文仿宋"/>
              </a:rPr>
              <a:t>量</a:t>
            </a:r>
            <a:r>
              <a:rPr sz="2600" dirty="0">
                <a:latin typeface="华文仿宋"/>
                <a:cs typeface="华文仿宋"/>
              </a:rPr>
              <a:t>估计</a:t>
            </a:r>
            <a:endParaRPr sz="2600">
              <a:latin typeface="华文仿宋"/>
              <a:cs typeface="华文仿宋"/>
            </a:endParaRPr>
          </a:p>
          <a:p>
            <a:pPr marL="652145" lvl="1" indent="-27305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2780" algn="l"/>
              </a:tabLst>
            </a:pPr>
            <a:r>
              <a:rPr sz="2600" dirty="0">
                <a:latin typeface="Tw Cen MT"/>
                <a:cs typeface="Tw Cen MT"/>
              </a:rPr>
              <a:t>PROD</a:t>
            </a:r>
            <a:r>
              <a:rPr sz="2600" dirty="0">
                <a:latin typeface="华文仿宋"/>
                <a:cs typeface="华文仿宋"/>
              </a:rPr>
              <a:t>：生产率</a:t>
            </a:r>
            <a:endParaRPr sz="26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3168" y="5277611"/>
            <a:ext cx="8261815" cy="117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61575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spc="-65" dirty="0"/>
              <a:t> </a:t>
            </a:r>
            <a:r>
              <a:rPr spc="-5" dirty="0"/>
              <a:t>II-</a:t>
            </a:r>
            <a:r>
              <a:rPr dirty="0"/>
              <a:t>早期设计模型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671015"/>
            <a:ext cx="796734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900" spc="5" dirty="0">
                <a:latin typeface="华文仿宋"/>
                <a:cs typeface="华文仿宋"/>
              </a:rPr>
              <a:t>早期设</a:t>
            </a:r>
            <a:r>
              <a:rPr sz="2900" spc="-5" dirty="0">
                <a:latin typeface="华文仿宋"/>
                <a:cs typeface="华文仿宋"/>
              </a:rPr>
              <a:t>计</a:t>
            </a:r>
            <a:r>
              <a:rPr sz="2900" spc="10" dirty="0">
                <a:latin typeface="Tw Cen MT"/>
                <a:cs typeface="Tw Cen MT"/>
              </a:rPr>
              <a:t>(early</a:t>
            </a:r>
            <a:r>
              <a:rPr sz="2900" spc="-8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design)</a:t>
            </a:r>
            <a:r>
              <a:rPr sz="2900" spc="5" dirty="0">
                <a:latin typeface="华文仿宋"/>
                <a:cs typeface="华文仿宋"/>
              </a:rPr>
              <a:t>模型适用</a:t>
            </a:r>
            <a:r>
              <a:rPr sz="2900" spc="-10" dirty="0">
                <a:latin typeface="华文仿宋"/>
                <a:cs typeface="华文仿宋"/>
              </a:rPr>
              <a:t>于</a:t>
            </a:r>
            <a:r>
              <a:rPr sz="2900" spc="5" dirty="0">
                <a:latin typeface="华文仿宋"/>
                <a:cs typeface="华文仿宋"/>
              </a:rPr>
              <a:t>项目</a:t>
            </a:r>
            <a:r>
              <a:rPr sz="2900" spc="-10" dirty="0">
                <a:latin typeface="华文仿宋"/>
                <a:cs typeface="华文仿宋"/>
              </a:rPr>
              <a:t>初</a:t>
            </a:r>
            <a:r>
              <a:rPr sz="2900" spc="5" dirty="0">
                <a:latin typeface="华文仿宋"/>
                <a:cs typeface="华文仿宋"/>
              </a:rPr>
              <a:t>期，</a:t>
            </a:r>
            <a:r>
              <a:rPr sz="2900" spc="-10" dirty="0">
                <a:latin typeface="华文仿宋"/>
                <a:cs typeface="华文仿宋"/>
              </a:rPr>
              <a:t>需</a:t>
            </a:r>
            <a:r>
              <a:rPr sz="2900" spc="5" dirty="0">
                <a:latin typeface="华文仿宋"/>
                <a:cs typeface="华文仿宋"/>
              </a:rPr>
              <a:t>求 </a:t>
            </a:r>
            <a:r>
              <a:rPr sz="2900" dirty="0">
                <a:latin typeface="华文仿宋"/>
                <a:cs typeface="华文仿宋"/>
              </a:rPr>
              <a:t>已经确定，系统设计的</a:t>
            </a:r>
            <a:r>
              <a:rPr sz="2900" spc="-10" dirty="0">
                <a:latin typeface="华文仿宋"/>
                <a:cs typeface="华文仿宋"/>
              </a:rPr>
              <a:t>初</a:t>
            </a:r>
            <a:r>
              <a:rPr sz="2900" dirty="0">
                <a:latin typeface="华文仿宋"/>
                <a:cs typeface="华文仿宋"/>
              </a:rPr>
              <a:t>始阶段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6200" y="2901087"/>
            <a:ext cx="12382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20" dirty="0">
                <a:latin typeface="宋体"/>
                <a:cs typeface="宋体"/>
              </a:rPr>
              <a:t>7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6722" y="3552993"/>
            <a:ext cx="38417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i="1" spc="-30" dirty="0">
                <a:latin typeface="宋体"/>
                <a:cs typeface="宋体"/>
              </a:rPr>
              <a:t>i</a:t>
            </a:r>
            <a:r>
              <a:rPr sz="1600" i="1" spc="-540" dirty="0">
                <a:latin typeface="宋体"/>
                <a:cs typeface="宋体"/>
              </a:rPr>
              <a:t> </a:t>
            </a:r>
            <a:r>
              <a:rPr sz="1500" spc="65" dirty="0">
                <a:latin typeface="Symbol"/>
                <a:cs typeface="Symbol"/>
              </a:rPr>
              <a:t></a:t>
            </a:r>
            <a:r>
              <a:rPr sz="1500" spc="65" dirty="0">
                <a:latin typeface="宋体"/>
                <a:cs typeface="宋体"/>
              </a:rPr>
              <a:t>1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4066" y="3315274"/>
            <a:ext cx="12382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i="1" spc="-30" dirty="0">
                <a:latin typeface="宋体"/>
                <a:cs typeface="宋体"/>
              </a:rPr>
              <a:t>i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2384" y="2937334"/>
            <a:ext cx="3230245" cy="624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970280" algn="l"/>
                <a:tab pos="2072005" algn="l"/>
              </a:tabLst>
            </a:pPr>
            <a:r>
              <a:rPr sz="2750" i="1" spc="-70" dirty="0">
                <a:latin typeface="宋体"/>
                <a:cs typeface="宋体"/>
              </a:rPr>
              <a:t>PM</a:t>
            </a:r>
            <a:r>
              <a:rPr sz="2750" i="1" spc="630" dirty="0">
                <a:latin typeface="宋体"/>
                <a:cs typeface="宋体"/>
              </a:rPr>
              <a:t> </a:t>
            </a:r>
            <a:r>
              <a:rPr sz="2600" spc="25" dirty="0">
                <a:latin typeface="Symbol"/>
                <a:cs typeface="Symbol"/>
              </a:rPr>
              <a:t></a:t>
            </a:r>
            <a:r>
              <a:rPr sz="2600" spc="25" dirty="0">
                <a:latin typeface="Times New Roman"/>
                <a:cs typeface="Times New Roman"/>
              </a:rPr>
              <a:t>	</a:t>
            </a:r>
            <a:r>
              <a:rPr sz="2750" i="1" spc="-55" dirty="0">
                <a:latin typeface="宋体"/>
                <a:cs typeface="宋体"/>
              </a:rPr>
              <a:t>A </a:t>
            </a:r>
            <a:r>
              <a:rPr sz="2600" spc="25" dirty="0">
                <a:latin typeface="Symbol"/>
                <a:cs typeface="Symbol"/>
              </a:rPr>
              <a:t></a:t>
            </a:r>
            <a:r>
              <a:rPr sz="2600" spc="-240" dirty="0">
                <a:latin typeface="Times New Roman"/>
                <a:cs typeface="Times New Roman"/>
              </a:rPr>
              <a:t> </a:t>
            </a:r>
            <a:r>
              <a:rPr sz="2750" i="1" spc="-55" dirty="0">
                <a:latin typeface="宋体"/>
                <a:cs typeface="宋体"/>
              </a:rPr>
              <a:t>S</a:t>
            </a:r>
            <a:r>
              <a:rPr sz="2750" i="1" spc="-780" dirty="0">
                <a:latin typeface="宋体"/>
                <a:cs typeface="宋体"/>
              </a:rPr>
              <a:t> </a:t>
            </a:r>
            <a:r>
              <a:rPr sz="2400" i="1" spc="-44" baseline="39930" dirty="0">
                <a:latin typeface="宋体"/>
                <a:cs typeface="宋体"/>
              </a:rPr>
              <a:t>E	</a:t>
            </a:r>
            <a:r>
              <a:rPr sz="2600" spc="25" dirty="0">
                <a:latin typeface="Symbol"/>
                <a:cs typeface="Symbol"/>
              </a:rPr>
              <a:t>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5850" spc="82" baseline="-9259" dirty="0">
                <a:latin typeface="Symbol"/>
                <a:cs typeface="Symbol"/>
              </a:rPr>
              <a:t></a:t>
            </a:r>
            <a:r>
              <a:rPr sz="5850" spc="-337" baseline="-9259" dirty="0">
                <a:latin typeface="Times New Roman"/>
                <a:cs typeface="Times New Roman"/>
              </a:rPr>
              <a:t> </a:t>
            </a:r>
            <a:r>
              <a:rPr sz="2750" i="1" spc="-85" dirty="0">
                <a:latin typeface="宋体"/>
                <a:cs typeface="宋体"/>
              </a:rPr>
              <a:t>EM</a:t>
            </a:r>
            <a:endParaRPr sz="27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8138" y="3949654"/>
            <a:ext cx="1327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90" dirty="0">
                <a:latin typeface="宋体"/>
                <a:cs typeface="宋体"/>
              </a:rPr>
              <a:t>5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740" y="3981414"/>
            <a:ext cx="8025130" cy="16979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51890">
              <a:lnSpc>
                <a:spcPct val="100000"/>
              </a:lnSpc>
              <a:spcBef>
                <a:spcPts val="110"/>
              </a:spcBef>
              <a:tabLst>
                <a:tab pos="1964055" algn="l"/>
                <a:tab pos="2675255" algn="l"/>
                <a:tab pos="3816350" algn="l"/>
              </a:tabLst>
            </a:pPr>
            <a:r>
              <a:rPr sz="2750" i="1" spc="70" dirty="0">
                <a:latin typeface="宋体"/>
                <a:cs typeface="宋体"/>
              </a:rPr>
              <a:t>E</a:t>
            </a:r>
            <a:r>
              <a:rPr sz="2750" i="1" spc="600" dirty="0">
                <a:latin typeface="宋体"/>
                <a:cs typeface="宋体"/>
              </a:rPr>
              <a:t> </a:t>
            </a:r>
            <a:r>
              <a:rPr sz="2550" spc="185" dirty="0">
                <a:latin typeface="Symbol"/>
                <a:cs typeface="Symbol"/>
              </a:rPr>
              <a:t></a:t>
            </a:r>
            <a:r>
              <a:rPr sz="2550" spc="185" dirty="0">
                <a:latin typeface="Times New Roman"/>
                <a:cs typeface="Times New Roman"/>
              </a:rPr>
              <a:t>	</a:t>
            </a:r>
            <a:r>
              <a:rPr sz="2750" i="1" spc="70" dirty="0">
                <a:latin typeface="宋体"/>
                <a:cs typeface="宋体"/>
              </a:rPr>
              <a:t>B</a:t>
            </a:r>
            <a:r>
              <a:rPr sz="2750" i="1" spc="155" dirty="0">
                <a:latin typeface="宋体"/>
                <a:cs typeface="宋体"/>
              </a:rPr>
              <a:t> </a:t>
            </a:r>
            <a:r>
              <a:rPr sz="2550" spc="185" dirty="0">
                <a:latin typeface="Symbol"/>
                <a:cs typeface="Symbol"/>
              </a:rPr>
              <a:t></a:t>
            </a:r>
            <a:r>
              <a:rPr sz="2550" spc="185" dirty="0">
                <a:latin typeface="Times New Roman"/>
                <a:cs typeface="Times New Roman"/>
              </a:rPr>
              <a:t>	</a:t>
            </a:r>
            <a:r>
              <a:rPr sz="2550" spc="145" dirty="0">
                <a:latin typeface="宋体"/>
                <a:cs typeface="宋体"/>
              </a:rPr>
              <a:t>0.01</a:t>
            </a:r>
            <a:r>
              <a:rPr sz="2550" spc="-580" dirty="0">
                <a:latin typeface="宋体"/>
                <a:cs typeface="宋体"/>
              </a:rPr>
              <a:t> </a:t>
            </a:r>
            <a:r>
              <a:rPr sz="2550" spc="185" dirty="0">
                <a:latin typeface="Symbol"/>
                <a:cs typeface="Symbol"/>
              </a:rPr>
              <a:t></a:t>
            </a:r>
            <a:r>
              <a:rPr sz="2550" spc="185" dirty="0">
                <a:latin typeface="Times New Roman"/>
                <a:cs typeface="Times New Roman"/>
              </a:rPr>
              <a:t>	</a:t>
            </a:r>
            <a:r>
              <a:rPr sz="5775" spc="517" baseline="-8658" dirty="0">
                <a:latin typeface="Symbol"/>
                <a:cs typeface="Symbol"/>
              </a:rPr>
              <a:t></a:t>
            </a:r>
            <a:r>
              <a:rPr sz="5775" spc="-359" baseline="-8658" dirty="0">
                <a:latin typeface="Times New Roman"/>
                <a:cs typeface="Times New Roman"/>
              </a:rPr>
              <a:t> </a:t>
            </a:r>
            <a:r>
              <a:rPr sz="2750" i="1" spc="65" dirty="0">
                <a:latin typeface="宋体"/>
                <a:cs typeface="宋体"/>
              </a:rPr>
              <a:t>SF</a:t>
            </a:r>
            <a:r>
              <a:rPr sz="2400" i="1" spc="97" baseline="-22569" dirty="0">
                <a:latin typeface="宋体"/>
                <a:cs typeface="宋体"/>
              </a:rPr>
              <a:t>j</a:t>
            </a:r>
            <a:endParaRPr sz="2400" baseline="-22569">
              <a:latin typeface="宋体"/>
              <a:cs typeface="宋体"/>
            </a:endParaRPr>
          </a:p>
          <a:p>
            <a:pPr marL="1270" algn="ctr">
              <a:lnSpc>
                <a:spcPts val="1705"/>
              </a:lnSpc>
              <a:spcBef>
                <a:spcPts val="90"/>
              </a:spcBef>
            </a:pPr>
            <a:r>
              <a:rPr sz="1600" i="1" spc="40" dirty="0">
                <a:latin typeface="宋体"/>
                <a:cs typeface="宋体"/>
              </a:rPr>
              <a:t>j</a:t>
            </a:r>
            <a:r>
              <a:rPr sz="1600" i="1" spc="-285" dirty="0">
                <a:latin typeface="宋体"/>
                <a:cs typeface="宋体"/>
              </a:rPr>
              <a:t> </a:t>
            </a:r>
            <a:r>
              <a:rPr sz="1500" spc="145" dirty="0">
                <a:latin typeface="Symbol"/>
                <a:cs typeface="Symbol"/>
              </a:rPr>
              <a:t></a:t>
            </a:r>
            <a:r>
              <a:rPr sz="1500" spc="145" dirty="0">
                <a:latin typeface="宋体"/>
                <a:cs typeface="宋体"/>
              </a:rPr>
              <a:t>1</a:t>
            </a:r>
            <a:endParaRPr sz="1500">
              <a:latin typeface="宋体"/>
              <a:cs typeface="宋体"/>
            </a:endParaRPr>
          </a:p>
          <a:p>
            <a:pPr marL="38100">
              <a:lnSpc>
                <a:spcPts val="3265"/>
              </a:lnSpc>
            </a:pPr>
            <a:r>
              <a:rPr sz="2900" spc="5" dirty="0">
                <a:latin typeface="Tw Cen MT"/>
                <a:cs typeface="Tw Cen MT"/>
              </a:rPr>
              <a:t>PM</a:t>
            </a:r>
            <a:r>
              <a:rPr sz="2900" dirty="0">
                <a:latin typeface="华文仿宋"/>
                <a:cs typeface="华文仿宋"/>
              </a:rPr>
              <a:t>是工作量；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dirty="0">
                <a:latin typeface="华文仿宋"/>
                <a:cs typeface="华文仿宋"/>
              </a:rPr>
              <a:t>是常</a:t>
            </a:r>
            <a:r>
              <a:rPr sz="2900" spc="-15" dirty="0">
                <a:latin typeface="华文仿宋"/>
                <a:cs typeface="华文仿宋"/>
              </a:rPr>
              <a:t>数</a:t>
            </a:r>
            <a:r>
              <a:rPr sz="2900" dirty="0">
                <a:latin typeface="华文仿宋"/>
                <a:cs typeface="华文仿宋"/>
              </a:rPr>
              <a:t>，；</a:t>
            </a:r>
            <a:r>
              <a:rPr sz="2900" dirty="0">
                <a:latin typeface="Tw Cen MT"/>
                <a:cs typeface="Tw Cen MT"/>
              </a:rPr>
              <a:t>S</a:t>
            </a:r>
            <a:r>
              <a:rPr sz="2900" spc="-15" dirty="0">
                <a:latin typeface="华文仿宋"/>
                <a:cs typeface="华文仿宋"/>
              </a:rPr>
              <a:t>是</a:t>
            </a:r>
            <a:r>
              <a:rPr sz="2900" spc="-15" dirty="0">
                <a:latin typeface="Tw Cen MT"/>
                <a:cs typeface="Tw Cen MT"/>
              </a:rPr>
              <a:t>LOC</a:t>
            </a:r>
            <a:r>
              <a:rPr sz="2900" dirty="0">
                <a:latin typeface="华文仿宋"/>
                <a:cs typeface="华文仿宋"/>
              </a:rPr>
              <a:t>规</a:t>
            </a:r>
            <a:r>
              <a:rPr sz="2900" spc="-15" dirty="0">
                <a:latin typeface="华文仿宋"/>
                <a:cs typeface="华文仿宋"/>
              </a:rPr>
              <a:t>模</a:t>
            </a:r>
            <a:r>
              <a:rPr sz="2900" dirty="0">
                <a:latin typeface="华文仿宋"/>
                <a:cs typeface="华文仿宋"/>
              </a:rPr>
              <a:t>；</a:t>
            </a:r>
            <a:r>
              <a:rPr sz="2900" dirty="0">
                <a:latin typeface="Tw Cen MT"/>
                <a:cs typeface="Tw Cen MT"/>
              </a:rPr>
              <a:t>E</a:t>
            </a:r>
            <a:r>
              <a:rPr sz="2900" dirty="0">
                <a:latin typeface="华文仿宋"/>
                <a:cs typeface="华文仿宋"/>
              </a:rPr>
              <a:t>是指数</a:t>
            </a:r>
            <a:endParaRPr sz="2900">
              <a:latin typeface="华文仿宋"/>
              <a:cs typeface="华文仿宋"/>
            </a:endParaRPr>
          </a:p>
          <a:p>
            <a:pPr marL="38100">
              <a:lnSpc>
                <a:spcPct val="100000"/>
              </a:lnSpc>
            </a:pPr>
            <a:r>
              <a:rPr sz="2900" dirty="0">
                <a:latin typeface="华文仿宋"/>
                <a:cs typeface="华文仿宋"/>
              </a:rPr>
              <a:t>比例因子</a:t>
            </a:r>
            <a:r>
              <a:rPr sz="2900" spc="-5" dirty="0">
                <a:latin typeface="华文仿宋"/>
                <a:cs typeface="华文仿宋"/>
              </a:rPr>
              <a:t>，</a:t>
            </a:r>
            <a:r>
              <a:rPr sz="2900" spc="-5" dirty="0">
                <a:latin typeface="Tw Cen MT"/>
                <a:cs typeface="Tw Cen MT"/>
              </a:rPr>
              <a:t>B</a:t>
            </a:r>
            <a:r>
              <a:rPr sz="2900" dirty="0">
                <a:latin typeface="华文仿宋"/>
                <a:cs typeface="华文仿宋"/>
              </a:rPr>
              <a:t>可以校准</a:t>
            </a:r>
            <a:r>
              <a:rPr sz="2900" dirty="0">
                <a:latin typeface="Tw Cen MT"/>
                <a:cs typeface="Tw Cen MT"/>
              </a:rPr>
              <a:t>,</a:t>
            </a:r>
            <a:r>
              <a:rPr sz="2900" spc="-40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SF</a:t>
            </a:r>
            <a:r>
              <a:rPr sz="2900" dirty="0">
                <a:latin typeface="华文仿宋"/>
                <a:cs typeface="华文仿宋"/>
              </a:rPr>
              <a:t>是指数驱动因子，</a:t>
            </a:r>
            <a:endParaRPr sz="29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0"/>
            <a:ext cx="6155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COCOMO</a:t>
            </a:r>
            <a:r>
              <a:rPr spc="-60" dirty="0"/>
              <a:t> </a:t>
            </a:r>
            <a:r>
              <a:rPr spc="-10" dirty="0"/>
              <a:t>II-</a:t>
            </a:r>
            <a:r>
              <a:rPr dirty="0"/>
              <a:t>早期设计模型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898" y="650494"/>
            <a:ext cx="2980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-因子和系数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5506" y="1697884"/>
            <a:ext cx="6403224" cy="190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3419" y="3841482"/>
            <a:ext cx="6369892" cy="2470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0731"/>
            <a:ext cx="6717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COCOMO</a:t>
            </a:r>
            <a:r>
              <a:rPr spc="-80" dirty="0"/>
              <a:t> </a:t>
            </a:r>
            <a:r>
              <a:rPr spc="-5" dirty="0"/>
              <a:t>II-</a:t>
            </a:r>
            <a:r>
              <a:rPr spc="5" dirty="0"/>
              <a:t>后体系结构模型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013" y="3574541"/>
            <a:ext cx="3296920" cy="244792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209" algn="l"/>
                <a:tab pos="410845" algn="l"/>
              </a:tabLst>
            </a:pPr>
            <a:r>
              <a:rPr sz="2900" spc="-5" dirty="0">
                <a:latin typeface="华文新魏"/>
                <a:cs typeface="华文新魏"/>
              </a:rPr>
              <a:t>A</a:t>
            </a:r>
            <a:r>
              <a:rPr sz="2900" dirty="0">
                <a:latin typeface="华文新魏"/>
                <a:cs typeface="华文新魏"/>
              </a:rPr>
              <a:t>是可以校</a:t>
            </a:r>
            <a:r>
              <a:rPr sz="2900" spc="695" dirty="0">
                <a:latin typeface="华文新魏"/>
                <a:cs typeface="华文新魏"/>
              </a:rPr>
              <a:t>准</a:t>
            </a:r>
            <a:r>
              <a:rPr sz="2900" dirty="0">
                <a:latin typeface="华文新魏"/>
                <a:cs typeface="华文新魏"/>
              </a:rPr>
              <a:t>,</a:t>
            </a:r>
            <a:endParaRPr sz="2900">
              <a:latin typeface="华文新魏"/>
              <a:cs typeface="华文新魏"/>
            </a:endParaRPr>
          </a:p>
          <a:p>
            <a:pPr marL="90170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华文新魏"/>
                <a:cs typeface="华文新魏"/>
              </a:rPr>
              <a:t>目前设定A=2.94</a:t>
            </a:r>
            <a:endParaRPr sz="2900">
              <a:latin typeface="华文新魏"/>
              <a:cs typeface="华文新魏"/>
            </a:endParaRPr>
          </a:p>
          <a:p>
            <a:pPr marL="90170" marR="520700">
              <a:lnSpc>
                <a:spcPts val="4190"/>
              </a:lnSpc>
              <a:spcBef>
                <a:spcPts val="24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209" algn="l"/>
                <a:tab pos="410845" algn="l"/>
              </a:tabLst>
            </a:pPr>
            <a:r>
              <a:rPr sz="2900" spc="-5" dirty="0">
                <a:latin typeface="华文新魏"/>
                <a:cs typeface="华文新魏"/>
              </a:rPr>
              <a:t>B</a:t>
            </a:r>
            <a:r>
              <a:rPr sz="2900" dirty="0">
                <a:latin typeface="华文新魏"/>
                <a:cs typeface="华文新魏"/>
              </a:rPr>
              <a:t>是可以校</a:t>
            </a:r>
            <a:r>
              <a:rPr sz="2900" spc="685" dirty="0">
                <a:latin typeface="华文新魏"/>
                <a:cs typeface="华文新魏"/>
              </a:rPr>
              <a:t>准</a:t>
            </a:r>
            <a:r>
              <a:rPr sz="2900" dirty="0">
                <a:latin typeface="华文新魏"/>
                <a:cs typeface="华文新魏"/>
              </a:rPr>
              <a:t>,  目前设定B=0.</a:t>
            </a:r>
            <a:r>
              <a:rPr sz="2900" spc="-20" dirty="0">
                <a:latin typeface="华文新魏"/>
                <a:cs typeface="华文新魏"/>
              </a:rPr>
              <a:t>9</a:t>
            </a:r>
            <a:r>
              <a:rPr sz="2900" dirty="0">
                <a:latin typeface="华文新魏"/>
                <a:cs typeface="华文新魏"/>
              </a:rPr>
              <a:t>1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3714" y="2028770"/>
            <a:ext cx="2649772" cy="1341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41875" y="2079224"/>
            <a:ext cx="4555800" cy="37974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复用模型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65" y="1518724"/>
            <a:ext cx="7929245" cy="28454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900" spc="-10" dirty="0">
                <a:latin typeface="Tw Cen MT"/>
                <a:cs typeface="Tw Cen MT"/>
              </a:rPr>
              <a:t>ESLOC=</a:t>
            </a:r>
            <a:r>
              <a:rPr sz="2900" spc="-10" dirty="0">
                <a:latin typeface="华文仿宋"/>
                <a:cs typeface="华文仿宋"/>
              </a:rPr>
              <a:t>（</a:t>
            </a:r>
            <a:r>
              <a:rPr sz="2900" spc="-10" dirty="0">
                <a:latin typeface="Tw Cen MT"/>
                <a:cs typeface="Tw Cen MT"/>
              </a:rPr>
              <a:t>ASLOC*</a:t>
            </a:r>
            <a:r>
              <a:rPr sz="2900" spc="-10" dirty="0">
                <a:latin typeface="华文仿宋"/>
                <a:cs typeface="华文仿宋"/>
              </a:rPr>
              <a:t>（</a:t>
            </a:r>
            <a:r>
              <a:rPr sz="2900" spc="-10" dirty="0">
                <a:latin typeface="Tw Cen MT"/>
                <a:cs typeface="Tw Cen MT"/>
              </a:rPr>
              <a:t>1-AT/100</a:t>
            </a:r>
            <a:r>
              <a:rPr sz="2900" spc="-10" dirty="0">
                <a:latin typeface="华文仿宋"/>
                <a:cs typeface="华文仿宋"/>
              </a:rPr>
              <a:t>）</a:t>
            </a:r>
            <a:r>
              <a:rPr sz="2900" spc="-10" dirty="0">
                <a:latin typeface="Tw Cen MT"/>
                <a:cs typeface="Tw Cen MT"/>
              </a:rPr>
              <a:t>*AAM</a:t>
            </a:r>
            <a:r>
              <a:rPr sz="2900" spc="-10" dirty="0">
                <a:latin typeface="华文仿宋"/>
                <a:cs typeface="华文仿宋"/>
              </a:rPr>
              <a:t>）</a:t>
            </a:r>
            <a:endParaRPr sz="2900">
              <a:latin typeface="华文仿宋"/>
              <a:cs typeface="华文仿宋"/>
            </a:endParaRPr>
          </a:p>
          <a:p>
            <a:pPr marL="652780" indent="-273685">
              <a:lnSpc>
                <a:spcPct val="100000"/>
              </a:lnSpc>
              <a:spcBef>
                <a:spcPts val="62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ESLOC</a:t>
            </a:r>
            <a:r>
              <a:rPr sz="2600" spc="-5" dirty="0">
                <a:latin typeface="华文仿宋"/>
                <a:cs typeface="华文仿宋"/>
              </a:rPr>
              <a:t>：</a:t>
            </a:r>
            <a:r>
              <a:rPr sz="2600" dirty="0">
                <a:latin typeface="华文仿宋"/>
                <a:cs typeface="华文仿宋"/>
              </a:rPr>
              <a:t>新源代码的等价</a:t>
            </a:r>
            <a:r>
              <a:rPr sz="2600" spc="-15" dirty="0">
                <a:latin typeface="华文仿宋"/>
                <a:cs typeface="华文仿宋"/>
              </a:rPr>
              <a:t>行</a:t>
            </a:r>
            <a:r>
              <a:rPr sz="2600" dirty="0">
                <a:latin typeface="华文仿宋"/>
                <a:cs typeface="华文仿宋"/>
              </a:rPr>
              <a:t>数</a:t>
            </a:r>
            <a:endParaRPr sz="2600">
              <a:latin typeface="华文仿宋"/>
              <a:cs typeface="华文仿宋"/>
            </a:endParaRPr>
          </a:p>
          <a:p>
            <a:pPr marL="652780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ASLOC</a:t>
            </a:r>
            <a:r>
              <a:rPr sz="2600" spc="-5" dirty="0">
                <a:latin typeface="华文仿宋"/>
                <a:cs typeface="华文仿宋"/>
              </a:rPr>
              <a:t>：</a:t>
            </a:r>
            <a:r>
              <a:rPr sz="2600" dirty="0">
                <a:latin typeface="华文仿宋"/>
                <a:cs typeface="华文仿宋"/>
              </a:rPr>
              <a:t>必须修改的复用构</a:t>
            </a:r>
            <a:r>
              <a:rPr sz="2600" spc="-15" dirty="0">
                <a:latin typeface="华文仿宋"/>
                <a:cs typeface="华文仿宋"/>
              </a:rPr>
              <a:t>件</a:t>
            </a:r>
            <a:r>
              <a:rPr sz="2600" dirty="0">
                <a:latin typeface="华文仿宋"/>
                <a:cs typeface="华文仿宋"/>
              </a:rPr>
              <a:t>的代</a:t>
            </a:r>
            <a:r>
              <a:rPr sz="2600" spc="-15" dirty="0">
                <a:latin typeface="华文仿宋"/>
                <a:cs typeface="华文仿宋"/>
              </a:rPr>
              <a:t>码</a:t>
            </a:r>
            <a:r>
              <a:rPr sz="2600" dirty="0">
                <a:latin typeface="华文仿宋"/>
                <a:cs typeface="华文仿宋"/>
              </a:rPr>
              <a:t>行数</a:t>
            </a:r>
            <a:endParaRPr sz="2600">
              <a:latin typeface="华文仿宋"/>
              <a:cs typeface="华文仿宋"/>
            </a:endParaRPr>
          </a:p>
          <a:p>
            <a:pPr marL="652780" indent="-27368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spc="-20" dirty="0">
                <a:latin typeface="Tw Cen MT"/>
                <a:cs typeface="Tw Cen MT"/>
              </a:rPr>
              <a:t>AT/100</a:t>
            </a:r>
            <a:r>
              <a:rPr sz="2600" spc="-20" dirty="0">
                <a:latin typeface="华文仿宋"/>
                <a:cs typeface="华文仿宋"/>
              </a:rPr>
              <a:t>：</a:t>
            </a:r>
            <a:r>
              <a:rPr sz="2600" dirty="0">
                <a:latin typeface="华文仿宋"/>
                <a:cs typeface="华文仿宋"/>
              </a:rPr>
              <a:t>可以自动修改</a:t>
            </a:r>
            <a:r>
              <a:rPr sz="2600" spc="-15" dirty="0">
                <a:latin typeface="华文仿宋"/>
                <a:cs typeface="华文仿宋"/>
              </a:rPr>
              <a:t>的</a:t>
            </a:r>
            <a:r>
              <a:rPr sz="2600" dirty="0">
                <a:latin typeface="华文仿宋"/>
                <a:cs typeface="华文仿宋"/>
              </a:rPr>
              <a:t>复用</a:t>
            </a:r>
            <a:r>
              <a:rPr sz="2600" spc="-15" dirty="0">
                <a:latin typeface="华文仿宋"/>
                <a:cs typeface="华文仿宋"/>
              </a:rPr>
              <a:t>代</a:t>
            </a:r>
            <a:r>
              <a:rPr sz="2600" dirty="0">
                <a:latin typeface="华文仿宋"/>
                <a:cs typeface="华文仿宋"/>
              </a:rPr>
              <a:t>码所</a:t>
            </a:r>
            <a:r>
              <a:rPr sz="2600" spc="-15" dirty="0">
                <a:latin typeface="华文仿宋"/>
                <a:cs typeface="华文仿宋"/>
              </a:rPr>
              <a:t>占</a:t>
            </a:r>
            <a:r>
              <a:rPr sz="2600" dirty="0">
                <a:latin typeface="华文仿宋"/>
                <a:cs typeface="华文仿宋"/>
              </a:rPr>
              <a:t>百分比</a:t>
            </a:r>
            <a:endParaRPr sz="2600">
              <a:latin typeface="华文仿宋"/>
              <a:cs typeface="华文仿宋"/>
            </a:endParaRPr>
          </a:p>
          <a:p>
            <a:pPr marL="652780" marR="5080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AAM</a:t>
            </a:r>
            <a:r>
              <a:rPr sz="2600" spc="-5" dirty="0">
                <a:latin typeface="华文仿宋"/>
                <a:cs typeface="华文仿宋"/>
              </a:rPr>
              <a:t>：</a:t>
            </a:r>
            <a:r>
              <a:rPr sz="2600" dirty="0">
                <a:latin typeface="华文仿宋"/>
                <a:cs typeface="华文仿宋"/>
              </a:rPr>
              <a:t>改写调整因子，反映了</a:t>
            </a:r>
            <a:r>
              <a:rPr sz="2600" spc="-15" dirty="0">
                <a:latin typeface="华文仿宋"/>
                <a:cs typeface="华文仿宋"/>
              </a:rPr>
              <a:t>构</a:t>
            </a:r>
            <a:r>
              <a:rPr sz="2600" dirty="0">
                <a:latin typeface="华文仿宋"/>
                <a:cs typeface="华文仿宋"/>
              </a:rPr>
              <a:t>件复</a:t>
            </a:r>
            <a:r>
              <a:rPr sz="2600" spc="-15" dirty="0">
                <a:latin typeface="华文仿宋"/>
                <a:cs typeface="华文仿宋"/>
              </a:rPr>
              <a:t>用</a:t>
            </a:r>
            <a:r>
              <a:rPr sz="2600" dirty="0">
                <a:latin typeface="华文仿宋"/>
                <a:cs typeface="华文仿宋"/>
              </a:rPr>
              <a:t>时所</a:t>
            </a:r>
            <a:r>
              <a:rPr sz="2600" spc="-15" dirty="0">
                <a:latin typeface="华文仿宋"/>
                <a:cs typeface="华文仿宋"/>
              </a:rPr>
              <a:t>需</a:t>
            </a:r>
            <a:r>
              <a:rPr sz="2600" dirty="0">
                <a:latin typeface="华文仿宋"/>
                <a:cs typeface="华文仿宋"/>
              </a:rPr>
              <a:t>的额 外工作量</a:t>
            </a:r>
            <a:endParaRPr sz="26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5009" y="4900420"/>
            <a:ext cx="14414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204" dirty="0">
                <a:latin typeface="宋体"/>
                <a:cs typeface="宋体"/>
              </a:rPr>
              <a:t>7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6351" y="5293995"/>
            <a:ext cx="1441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130" dirty="0">
                <a:latin typeface="宋体"/>
                <a:cs typeface="宋体"/>
              </a:rPr>
              <a:t>i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78" y="4935358"/>
            <a:ext cx="3886200" cy="857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747395" algn="l"/>
                <a:tab pos="1163955" algn="l"/>
                <a:tab pos="2494915" algn="l"/>
              </a:tabLst>
            </a:pPr>
            <a:r>
              <a:rPr sz="2750" i="1" spc="204" dirty="0">
                <a:latin typeface="宋体"/>
                <a:cs typeface="宋体"/>
              </a:rPr>
              <a:t>PM	</a:t>
            </a:r>
            <a:r>
              <a:rPr sz="2500" spc="380" dirty="0">
                <a:latin typeface="Symbol"/>
                <a:cs typeface="Symbol"/>
              </a:rPr>
              <a:t></a:t>
            </a:r>
            <a:r>
              <a:rPr sz="2500" spc="380" dirty="0">
                <a:latin typeface="Times New Roman"/>
                <a:cs typeface="Times New Roman"/>
              </a:rPr>
              <a:t>	</a:t>
            </a:r>
            <a:r>
              <a:rPr sz="2750" i="1" spc="220" dirty="0">
                <a:latin typeface="宋体"/>
                <a:cs typeface="宋体"/>
              </a:rPr>
              <a:t>A </a:t>
            </a:r>
            <a:r>
              <a:rPr sz="2500" spc="380" dirty="0">
                <a:latin typeface="Symbol"/>
                <a:cs typeface="Symbol"/>
              </a:rPr>
              <a:t></a:t>
            </a:r>
            <a:r>
              <a:rPr sz="2500" spc="-140" dirty="0">
                <a:latin typeface="Times New Roman"/>
                <a:cs typeface="Times New Roman"/>
              </a:rPr>
              <a:t> </a:t>
            </a:r>
            <a:r>
              <a:rPr sz="2750" i="1" spc="220" dirty="0">
                <a:latin typeface="宋体"/>
                <a:cs typeface="宋体"/>
              </a:rPr>
              <a:t>S</a:t>
            </a:r>
            <a:r>
              <a:rPr sz="2750" i="1" spc="-650" dirty="0">
                <a:latin typeface="宋体"/>
                <a:cs typeface="宋体"/>
              </a:rPr>
              <a:t> </a:t>
            </a:r>
            <a:r>
              <a:rPr sz="2400" i="1" spc="195" baseline="39930" dirty="0">
                <a:latin typeface="宋体"/>
                <a:cs typeface="宋体"/>
              </a:rPr>
              <a:t>E	</a:t>
            </a:r>
            <a:r>
              <a:rPr sz="2500" spc="380" dirty="0">
                <a:latin typeface="Symbol"/>
                <a:cs typeface="Symbol"/>
              </a:rPr>
              <a:t></a:t>
            </a:r>
            <a:r>
              <a:rPr sz="2500" spc="380" dirty="0">
                <a:latin typeface="Times New Roman"/>
                <a:cs typeface="Times New Roman"/>
              </a:rPr>
              <a:t> </a:t>
            </a:r>
            <a:r>
              <a:rPr sz="5625" spc="1282" baseline="-8888" dirty="0">
                <a:latin typeface="Symbol"/>
                <a:cs typeface="Symbol"/>
              </a:rPr>
              <a:t></a:t>
            </a:r>
            <a:r>
              <a:rPr sz="5625" spc="-307" baseline="-8888" dirty="0">
                <a:latin typeface="Times New Roman"/>
                <a:cs typeface="Times New Roman"/>
              </a:rPr>
              <a:t> </a:t>
            </a:r>
            <a:r>
              <a:rPr sz="2750" i="1" spc="185" dirty="0">
                <a:latin typeface="宋体"/>
                <a:cs typeface="宋体"/>
              </a:rPr>
              <a:t>EM</a:t>
            </a:r>
            <a:endParaRPr sz="2750">
              <a:latin typeface="宋体"/>
              <a:cs typeface="宋体"/>
            </a:endParaRPr>
          </a:p>
          <a:p>
            <a:pPr marR="569595" algn="r">
              <a:lnSpc>
                <a:spcPct val="100000"/>
              </a:lnSpc>
              <a:spcBef>
                <a:spcPts val="85"/>
              </a:spcBef>
            </a:pPr>
            <a:r>
              <a:rPr sz="1600" i="1" spc="130" dirty="0">
                <a:latin typeface="宋体"/>
                <a:cs typeface="宋体"/>
              </a:rPr>
              <a:t>i</a:t>
            </a:r>
            <a:r>
              <a:rPr sz="1600" i="1" spc="-490" dirty="0">
                <a:latin typeface="宋体"/>
                <a:cs typeface="宋体"/>
              </a:rPr>
              <a:t> </a:t>
            </a:r>
            <a:r>
              <a:rPr sz="1450" spc="270" dirty="0">
                <a:latin typeface="Symbol"/>
                <a:cs typeface="Symbol"/>
              </a:rPr>
              <a:t></a:t>
            </a:r>
            <a:r>
              <a:rPr sz="1450" spc="270" dirty="0">
                <a:latin typeface="宋体"/>
                <a:cs typeface="宋体"/>
              </a:rPr>
              <a:t>1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24044" y="4919798"/>
            <a:ext cx="2650918" cy="1341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参数模型综述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162" y="1839722"/>
            <a:ext cx="553085" cy="4283075"/>
          </a:xfrm>
          <a:custGeom>
            <a:avLst/>
            <a:gdLst/>
            <a:ahLst/>
            <a:cxnLst/>
            <a:rect l="l" t="t" r="r" b="b"/>
            <a:pathLst>
              <a:path w="553085" h="4283075">
                <a:moveTo>
                  <a:pt x="552551" y="0"/>
                </a:moveTo>
                <a:lnTo>
                  <a:pt x="414413" y="0"/>
                </a:lnTo>
                <a:lnTo>
                  <a:pt x="387525" y="5419"/>
                </a:lnTo>
                <a:lnTo>
                  <a:pt x="365569" y="20208"/>
                </a:lnTo>
                <a:lnTo>
                  <a:pt x="350766" y="42165"/>
                </a:lnTo>
                <a:lnTo>
                  <a:pt x="345338" y="69087"/>
                </a:lnTo>
                <a:lnTo>
                  <a:pt x="350766" y="95936"/>
                </a:lnTo>
                <a:lnTo>
                  <a:pt x="365569" y="117856"/>
                </a:lnTo>
                <a:lnTo>
                  <a:pt x="387525" y="132631"/>
                </a:lnTo>
                <a:lnTo>
                  <a:pt x="414413" y="138049"/>
                </a:lnTo>
                <a:lnTo>
                  <a:pt x="458074" y="131007"/>
                </a:lnTo>
                <a:lnTo>
                  <a:pt x="495995" y="111401"/>
                </a:lnTo>
                <a:lnTo>
                  <a:pt x="525898" y="81511"/>
                </a:lnTo>
                <a:lnTo>
                  <a:pt x="545508" y="43617"/>
                </a:lnTo>
                <a:lnTo>
                  <a:pt x="552551" y="0"/>
                </a:lnTo>
                <a:close/>
              </a:path>
              <a:path w="553085" h="4283075">
                <a:moveTo>
                  <a:pt x="138137" y="4006672"/>
                </a:moveTo>
                <a:lnTo>
                  <a:pt x="94476" y="4013714"/>
                </a:lnTo>
                <a:lnTo>
                  <a:pt x="56556" y="4033325"/>
                </a:lnTo>
                <a:lnTo>
                  <a:pt x="26653" y="4063228"/>
                </a:lnTo>
                <a:lnTo>
                  <a:pt x="7042" y="4101148"/>
                </a:lnTo>
                <a:lnTo>
                  <a:pt x="0" y="4144810"/>
                </a:lnTo>
                <a:lnTo>
                  <a:pt x="7042" y="4188471"/>
                </a:lnTo>
                <a:lnTo>
                  <a:pt x="26653" y="4226391"/>
                </a:lnTo>
                <a:lnTo>
                  <a:pt x="56556" y="4256294"/>
                </a:lnTo>
                <a:lnTo>
                  <a:pt x="94476" y="4275905"/>
                </a:lnTo>
                <a:lnTo>
                  <a:pt x="138137" y="4282948"/>
                </a:lnTo>
                <a:lnTo>
                  <a:pt x="181799" y="4275905"/>
                </a:lnTo>
                <a:lnTo>
                  <a:pt x="219719" y="4256294"/>
                </a:lnTo>
                <a:lnTo>
                  <a:pt x="249622" y="4226391"/>
                </a:lnTo>
                <a:lnTo>
                  <a:pt x="269233" y="4188471"/>
                </a:lnTo>
                <a:lnTo>
                  <a:pt x="276275" y="4144810"/>
                </a:lnTo>
                <a:lnTo>
                  <a:pt x="138137" y="4144810"/>
                </a:lnTo>
                <a:lnTo>
                  <a:pt x="165023" y="4139382"/>
                </a:lnTo>
                <a:lnTo>
                  <a:pt x="186975" y="4124580"/>
                </a:lnTo>
                <a:lnTo>
                  <a:pt x="201774" y="4102628"/>
                </a:lnTo>
                <a:lnTo>
                  <a:pt x="207200" y="4075747"/>
                </a:lnTo>
                <a:lnTo>
                  <a:pt x="201774" y="4048859"/>
                </a:lnTo>
                <a:lnTo>
                  <a:pt x="186975" y="4026903"/>
                </a:lnTo>
                <a:lnTo>
                  <a:pt x="165023" y="4012100"/>
                </a:lnTo>
                <a:lnTo>
                  <a:pt x="138137" y="4006672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4162" y="1701545"/>
            <a:ext cx="8153400" cy="4421505"/>
          </a:xfrm>
          <a:custGeom>
            <a:avLst/>
            <a:gdLst/>
            <a:ahLst/>
            <a:cxnLst/>
            <a:rect l="l" t="t" r="r" b="b"/>
            <a:pathLst>
              <a:path w="8153400" h="4421505">
                <a:moveTo>
                  <a:pt x="276275" y="4144848"/>
                </a:moveTo>
                <a:lnTo>
                  <a:pt x="276275" y="138175"/>
                </a:lnTo>
                <a:lnTo>
                  <a:pt x="283318" y="94496"/>
                </a:lnTo>
                <a:lnTo>
                  <a:pt x="302929" y="56564"/>
                </a:lnTo>
                <a:lnTo>
                  <a:pt x="332832" y="26655"/>
                </a:lnTo>
                <a:lnTo>
                  <a:pt x="370752" y="7042"/>
                </a:lnTo>
                <a:lnTo>
                  <a:pt x="414413" y="0"/>
                </a:lnTo>
                <a:lnTo>
                  <a:pt x="8015223" y="0"/>
                </a:lnTo>
                <a:lnTo>
                  <a:pt x="8058903" y="7042"/>
                </a:lnTo>
                <a:lnTo>
                  <a:pt x="8096835" y="26655"/>
                </a:lnTo>
                <a:lnTo>
                  <a:pt x="8126744" y="56564"/>
                </a:lnTo>
                <a:lnTo>
                  <a:pt x="8146357" y="94496"/>
                </a:lnTo>
                <a:lnTo>
                  <a:pt x="8153400" y="138175"/>
                </a:lnTo>
                <a:lnTo>
                  <a:pt x="8146357" y="181793"/>
                </a:lnTo>
                <a:lnTo>
                  <a:pt x="8126744" y="219687"/>
                </a:lnTo>
                <a:lnTo>
                  <a:pt x="8096835" y="249577"/>
                </a:lnTo>
                <a:lnTo>
                  <a:pt x="8058903" y="269183"/>
                </a:lnTo>
                <a:lnTo>
                  <a:pt x="8015223" y="276225"/>
                </a:lnTo>
                <a:lnTo>
                  <a:pt x="7877175" y="276225"/>
                </a:lnTo>
                <a:lnTo>
                  <a:pt x="7877175" y="4282986"/>
                </a:lnTo>
                <a:lnTo>
                  <a:pt x="7870132" y="4326647"/>
                </a:lnTo>
                <a:lnTo>
                  <a:pt x="7850519" y="4364567"/>
                </a:lnTo>
                <a:lnTo>
                  <a:pt x="7820610" y="4394470"/>
                </a:lnTo>
                <a:lnTo>
                  <a:pt x="7782678" y="4414081"/>
                </a:lnTo>
                <a:lnTo>
                  <a:pt x="7738998" y="4421124"/>
                </a:lnTo>
                <a:lnTo>
                  <a:pt x="138137" y="4421124"/>
                </a:lnTo>
                <a:lnTo>
                  <a:pt x="94476" y="4414081"/>
                </a:lnTo>
                <a:lnTo>
                  <a:pt x="56556" y="4394470"/>
                </a:lnTo>
                <a:lnTo>
                  <a:pt x="26653" y="4364567"/>
                </a:lnTo>
                <a:lnTo>
                  <a:pt x="7042" y="4326647"/>
                </a:lnTo>
                <a:lnTo>
                  <a:pt x="0" y="4282986"/>
                </a:lnTo>
                <a:lnTo>
                  <a:pt x="7042" y="4239324"/>
                </a:lnTo>
                <a:lnTo>
                  <a:pt x="26653" y="4201404"/>
                </a:lnTo>
                <a:lnTo>
                  <a:pt x="56556" y="4171501"/>
                </a:lnTo>
                <a:lnTo>
                  <a:pt x="94476" y="4151890"/>
                </a:lnTo>
                <a:lnTo>
                  <a:pt x="138137" y="4144848"/>
                </a:lnTo>
                <a:lnTo>
                  <a:pt x="276275" y="4144848"/>
                </a:lnTo>
                <a:close/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9500" y="1701545"/>
            <a:ext cx="207645" cy="276225"/>
          </a:xfrm>
          <a:custGeom>
            <a:avLst/>
            <a:gdLst/>
            <a:ahLst/>
            <a:cxnLst/>
            <a:rect l="l" t="t" r="r" b="b"/>
            <a:pathLst>
              <a:path w="207644" h="276225">
                <a:moveTo>
                  <a:pt x="69075" y="0"/>
                </a:moveTo>
                <a:lnTo>
                  <a:pt x="112736" y="7042"/>
                </a:lnTo>
                <a:lnTo>
                  <a:pt x="150656" y="26655"/>
                </a:lnTo>
                <a:lnTo>
                  <a:pt x="180559" y="56564"/>
                </a:lnTo>
                <a:lnTo>
                  <a:pt x="200170" y="94496"/>
                </a:lnTo>
                <a:lnTo>
                  <a:pt x="207213" y="138175"/>
                </a:lnTo>
                <a:lnTo>
                  <a:pt x="200170" y="181793"/>
                </a:lnTo>
                <a:lnTo>
                  <a:pt x="180559" y="219687"/>
                </a:lnTo>
                <a:lnTo>
                  <a:pt x="150656" y="249577"/>
                </a:lnTo>
                <a:lnTo>
                  <a:pt x="112736" y="269183"/>
                </a:lnTo>
                <a:lnTo>
                  <a:pt x="69075" y="276225"/>
                </a:lnTo>
                <a:lnTo>
                  <a:pt x="42187" y="270807"/>
                </a:lnTo>
                <a:lnTo>
                  <a:pt x="20231" y="256032"/>
                </a:lnTo>
                <a:lnTo>
                  <a:pt x="5428" y="234112"/>
                </a:lnTo>
                <a:lnTo>
                  <a:pt x="0" y="207263"/>
                </a:lnTo>
                <a:lnTo>
                  <a:pt x="5428" y="180341"/>
                </a:lnTo>
                <a:lnTo>
                  <a:pt x="20231" y="158384"/>
                </a:lnTo>
                <a:lnTo>
                  <a:pt x="42187" y="143595"/>
                </a:lnTo>
                <a:lnTo>
                  <a:pt x="69075" y="138175"/>
                </a:lnTo>
                <a:lnTo>
                  <a:pt x="207213" y="138175"/>
                </a:lnTo>
              </a:path>
            </a:pathLst>
          </a:custGeom>
          <a:ln w="19811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8575" y="1977770"/>
            <a:ext cx="7463155" cy="0"/>
          </a:xfrm>
          <a:custGeom>
            <a:avLst/>
            <a:gdLst/>
            <a:ahLst/>
            <a:cxnLst/>
            <a:rect l="l" t="t" r="r" b="b"/>
            <a:pathLst>
              <a:path w="7463155">
                <a:moveTo>
                  <a:pt x="7462761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393" y="5836488"/>
            <a:ext cx="157949" cy="157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2299" y="5846394"/>
            <a:ext cx="138430" cy="276860"/>
          </a:xfrm>
          <a:custGeom>
            <a:avLst/>
            <a:gdLst/>
            <a:ahLst/>
            <a:cxnLst/>
            <a:rect l="l" t="t" r="r" b="b"/>
            <a:pathLst>
              <a:path w="138429" h="276860">
                <a:moveTo>
                  <a:pt x="0" y="276275"/>
                </a:moveTo>
                <a:lnTo>
                  <a:pt x="43661" y="269233"/>
                </a:lnTo>
                <a:lnTo>
                  <a:pt x="81581" y="249622"/>
                </a:lnTo>
                <a:lnTo>
                  <a:pt x="111484" y="219719"/>
                </a:lnTo>
                <a:lnTo>
                  <a:pt x="131095" y="181799"/>
                </a:lnTo>
                <a:lnTo>
                  <a:pt x="138137" y="138137"/>
                </a:lnTo>
                <a:lnTo>
                  <a:pt x="138137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8593" y="2744800"/>
            <a:ext cx="7350125" cy="2413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根据项目数据进行回归</a:t>
            </a:r>
            <a:r>
              <a:rPr sz="2900" spc="-10" dirty="0">
                <a:latin typeface="华文新魏"/>
                <a:cs typeface="华文新魏"/>
              </a:rPr>
              <a:t>分</a:t>
            </a:r>
            <a:r>
              <a:rPr sz="2900" spc="5" dirty="0">
                <a:latin typeface="华文新魏"/>
                <a:cs typeface="华文新魏"/>
              </a:rPr>
              <a:t>析</a:t>
            </a:r>
            <a:r>
              <a:rPr sz="2900" dirty="0">
                <a:latin typeface="华文新魏"/>
                <a:cs typeface="华文新魏"/>
              </a:rPr>
              <a:t>，</a:t>
            </a:r>
            <a:r>
              <a:rPr sz="2900" spc="-10" dirty="0">
                <a:latin typeface="华文新魏"/>
                <a:cs typeface="华文新魏"/>
              </a:rPr>
              <a:t>得</a:t>
            </a:r>
            <a:r>
              <a:rPr sz="2900" spc="5" dirty="0">
                <a:latin typeface="华文新魏"/>
                <a:cs typeface="华文新魏"/>
              </a:rPr>
              <a:t>出回</a:t>
            </a:r>
            <a:r>
              <a:rPr sz="2900" spc="-20" dirty="0">
                <a:latin typeface="华文新魏"/>
                <a:cs typeface="华文新魏"/>
              </a:rPr>
              <a:t>归</a:t>
            </a:r>
            <a:r>
              <a:rPr sz="2900" dirty="0">
                <a:latin typeface="华文新魏"/>
                <a:cs typeface="华文新魏"/>
              </a:rPr>
              <a:t>模型 作为参数模型。</a:t>
            </a:r>
            <a:endParaRPr sz="2900">
              <a:latin typeface="华文新魏"/>
              <a:cs typeface="华文新魏"/>
            </a:endParaRPr>
          </a:p>
          <a:p>
            <a:pPr marL="332740" marR="508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回归分析方法：线性回</a:t>
            </a:r>
            <a:r>
              <a:rPr sz="2900" spc="-15" dirty="0">
                <a:latin typeface="华文新魏"/>
                <a:cs typeface="华文新魏"/>
              </a:rPr>
              <a:t>归</a:t>
            </a:r>
            <a:r>
              <a:rPr sz="2900" dirty="0">
                <a:latin typeface="华文新魏"/>
                <a:cs typeface="华文新魏"/>
              </a:rPr>
              <a:t>，多</a:t>
            </a:r>
            <a:r>
              <a:rPr sz="2900" spc="-15" dirty="0">
                <a:latin typeface="华文新魏"/>
                <a:cs typeface="华文新魏"/>
              </a:rPr>
              <a:t>项</a:t>
            </a:r>
            <a:r>
              <a:rPr sz="2900" dirty="0">
                <a:latin typeface="华文新魏"/>
                <a:cs typeface="华文新魏"/>
              </a:rPr>
              <a:t>式回</a:t>
            </a:r>
            <a:r>
              <a:rPr sz="2900" spc="-15" dirty="0">
                <a:latin typeface="华文新魏"/>
                <a:cs typeface="华文新魏"/>
              </a:rPr>
              <a:t>归</a:t>
            </a:r>
            <a:r>
              <a:rPr sz="2900" dirty="0">
                <a:latin typeface="华文新魏"/>
                <a:cs typeface="华文新魏"/>
              </a:rPr>
              <a:t>，逻 辑回归，神经网络，集</a:t>
            </a:r>
            <a:r>
              <a:rPr sz="2900" spc="-10" dirty="0">
                <a:latin typeface="华文新魏"/>
                <a:cs typeface="华文新魏"/>
              </a:rPr>
              <a:t>成</a:t>
            </a:r>
            <a:r>
              <a:rPr sz="2900" dirty="0">
                <a:latin typeface="华文新魏"/>
                <a:cs typeface="华文新魏"/>
              </a:rPr>
              <a:t>方法</a:t>
            </a:r>
            <a:r>
              <a:rPr sz="2900" spc="-5" dirty="0">
                <a:latin typeface="华文新魏"/>
                <a:cs typeface="华文新魏"/>
              </a:rPr>
              <a:t>等</a:t>
            </a:r>
            <a:r>
              <a:rPr sz="2900" spc="5" dirty="0"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参数模型可以是线性也</a:t>
            </a:r>
            <a:r>
              <a:rPr sz="2900" spc="-15" dirty="0">
                <a:latin typeface="华文新魏"/>
                <a:cs typeface="华文新魏"/>
              </a:rPr>
              <a:t>可</a:t>
            </a:r>
            <a:r>
              <a:rPr sz="2900" dirty="0">
                <a:latin typeface="华文新魏"/>
                <a:cs typeface="华文新魏"/>
              </a:rPr>
              <a:t>以是</a:t>
            </a:r>
            <a:r>
              <a:rPr sz="2900" spc="-15" dirty="0">
                <a:latin typeface="华文新魏"/>
                <a:cs typeface="华文新魏"/>
              </a:rPr>
              <a:t>非</a:t>
            </a:r>
            <a:r>
              <a:rPr sz="2900" dirty="0">
                <a:latin typeface="华文新魏"/>
                <a:cs typeface="华文新魏"/>
              </a:rPr>
              <a:t>线性</a:t>
            </a:r>
            <a:r>
              <a:rPr sz="2900" spc="-15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160731"/>
            <a:ext cx="6179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模型研究例</a:t>
            </a:r>
            <a:r>
              <a:rPr spc="5" dirty="0"/>
              <a:t>子</a:t>
            </a:r>
            <a:r>
              <a:rPr dirty="0"/>
              <a:t>—</a:t>
            </a:r>
            <a:r>
              <a:rPr spc="5" dirty="0"/>
              <a:t>项目数据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3195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1989582"/>
            <a:ext cx="8153400" cy="14401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150"/>
              </a:spcBef>
            </a:pPr>
            <a:r>
              <a:rPr sz="2800" spc="-5" dirty="0">
                <a:latin typeface="华文仿宋"/>
                <a:cs typeface="华文仿宋"/>
              </a:rPr>
              <a:t>步骤</a:t>
            </a:r>
            <a:r>
              <a:rPr sz="2800" spc="-5" dirty="0">
                <a:latin typeface="Tw Cen MT"/>
                <a:cs typeface="Tw Cen MT"/>
              </a:rPr>
              <a:t>:</a:t>
            </a:r>
            <a:r>
              <a:rPr sz="2800" spc="-10" dirty="0">
                <a:latin typeface="Tw Cen MT"/>
                <a:cs typeface="Tw Cen MT"/>
              </a:rPr>
              <a:t> </a:t>
            </a:r>
            <a:r>
              <a:rPr sz="2800" dirty="0">
                <a:latin typeface="Tw Cen MT"/>
                <a:cs typeface="Tw Cen MT"/>
              </a:rPr>
              <a:t>xx=[41 132</a:t>
            </a:r>
            <a:r>
              <a:rPr sz="2800" spc="20" dirty="0">
                <a:latin typeface="Tw Cen MT"/>
                <a:cs typeface="Tw Cen MT"/>
              </a:rPr>
              <a:t> </a:t>
            </a:r>
            <a:r>
              <a:rPr sz="2800" dirty="0">
                <a:latin typeface="Tw Cen MT"/>
                <a:cs typeface="Tw Cen MT"/>
              </a:rPr>
              <a:t>144</a:t>
            </a:r>
            <a:r>
              <a:rPr sz="2800" spc="5" dirty="0">
                <a:latin typeface="Tw Cen MT"/>
                <a:cs typeface="Tw Cen MT"/>
              </a:rPr>
              <a:t> </a:t>
            </a:r>
            <a:r>
              <a:rPr sz="2800" spc="-5" dirty="0">
                <a:latin typeface="Tw Cen MT"/>
                <a:cs typeface="Tw Cen MT"/>
              </a:rPr>
              <a:t>194</a:t>
            </a:r>
            <a:r>
              <a:rPr sz="2800" spc="15" dirty="0">
                <a:latin typeface="Tw Cen MT"/>
                <a:cs typeface="Tw Cen MT"/>
              </a:rPr>
              <a:t> </a:t>
            </a:r>
            <a:r>
              <a:rPr sz="2800" dirty="0">
                <a:latin typeface="Tw Cen MT"/>
                <a:cs typeface="Tw Cen MT"/>
              </a:rPr>
              <a:t>194</a:t>
            </a:r>
            <a:r>
              <a:rPr sz="2800" spc="5" dirty="0">
                <a:latin typeface="Tw Cen MT"/>
                <a:cs typeface="Tw Cen MT"/>
              </a:rPr>
              <a:t> </a:t>
            </a:r>
            <a:r>
              <a:rPr sz="2800" spc="-5" dirty="0">
                <a:latin typeface="Tw Cen MT"/>
                <a:cs typeface="Tw Cen MT"/>
              </a:rPr>
              <a:t>291</a:t>
            </a:r>
            <a:r>
              <a:rPr sz="2800" spc="15" dirty="0">
                <a:latin typeface="Tw Cen MT"/>
                <a:cs typeface="Tw Cen MT"/>
              </a:rPr>
              <a:t> </a:t>
            </a:r>
            <a:r>
              <a:rPr sz="2800" dirty="0">
                <a:latin typeface="Tw Cen MT"/>
                <a:cs typeface="Tw Cen MT"/>
              </a:rPr>
              <a:t>255</a:t>
            </a:r>
            <a:r>
              <a:rPr sz="2800" spc="5" dirty="0">
                <a:latin typeface="Tw Cen MT"/>
                <a:cs typeface="Tw Cen MT"/>
              </a:rPr>
              <a:t> </a:t>
            </a:r>
            <a:r>
              <a:rPr sz="2800" spc="-5" dirty="0">
                <a:latin typeface="Tw Cen MT"/>
                <a:cs typeface="Tw Cen MT"/>
              </a:rPr>
              <a:t>378</a:t>
            </a:r>
            <a:r>
              <a:rPr sz="2800" spc="10" dirty="0">
                <a:latin typeface="Tw Cen MT"/>
                <a:cs typeface="Tw Cen MT"/>
              </a:rPr>
              <a:t> </a:t>
            </a:r>
            <a:r>
              <a:rPr sz="2800" dirty="0">
                <a:latin typeface="Tw Cen MT"/>
                <a:cs typeface="Tw Cen MT"/>
              </a:rPr>
              <a:t>591];</a:t>
            </a:r>
            <a:endParaRPr sz="2800">
              <a:latin typeface="Tw Cen MT"/>
              <a:cs typeface="Tw Cen MT"/>
            </a:endParaRPr>
          </a:p>
          <a:p>
            <a:pPr marL="458470">
              <a:lnSpc>
                <a:spcPct val="100000"/>
              </a:lnSpc>
              <a:spcBef>
                <a:spcPts val="600"/>
              </a:spcBef>
            </a:pPr>
            <a:r>
              <a:rPr sz="2800" spc="-10" dirty="0">
                <a:latin typeface="华文仿宋"/>
                <a:cs typeface="华文仿宋"/>
              </a:rPr>
              <a:t>时间</a:t>
            </a:r>
            <a:r>
              <a:rPr sz="2800" spc="-5" dirty="0">
                <a:latin typeface="Tw Cen MT"/>
                <a:cs typeface="Tw Cen MT"/>
              </a:rPr>
              <a:t>:yy=[6,10,11,16,22,32,30,35,42];</a:t>
            </a:r>
            <a:endParaRPr sz="28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65" y="354583"/>
            <a:ext cx="72974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模型研究例</a:t>
            </a:r>
            <a:r>
              <a:rPr sz="4400" i="1" spc="5" dirty="0">
                <a:solidFill>
                  <a:srgbClr val="775F54"/>
                </a:solidFill>
                <a:latin typeface="华文隶书"/>
                <a:cs typeface="华文隶书"/>
              </a:rPr>
              <a:t>子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—项目数据图式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3494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123" y="1844039"/>
            <a:ext cx="7705344" cy="4098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80" y="354583"/>
            <a:ext cx="78555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模型研究例子—</a:t>
            </a:r>
            <a:r>
              <a:rPr b="1" i="0" spc="-5" dirty="0">
                <a:latin typeface="华文仿宋"/>
                <a:cs typeface="华文仿宋"/>
              </a:rPr>
              <a:t>多项式回</a:t>
            </a:r>
            <a:r>
              <a:rPr b="1" i="0" spc="-15" dirty="0">
                <a:latin typeface="华文仿宋"/>
                <a:cs typeface="华文仿宋"/>
              </a:rPr>
              <a:t>归</a:t>
            </a:r>
            <a:r>
              <a:rPr dirty="0"/>
              <a:t>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0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1989582"/>
            <a:ext cx="7772400" cy="3961129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995"/>
              </a:lnSpc>
            </a:pPr>
            <a:r>
              <a:rPr sz="2600" dirty="0">
                <a:latin typeface="华文仿宋"/>
                <a:cs typeface="华文仿宋"/>
              </a:rPr>
              <a:t>算法：</a:t>
            </a:r>
            <a:endParaRPr sz="2600">
              <a:latin typeface="华文仿宋"/>
              <a:cs typeface="华文仿宋"/>
            </a:endParaRPr>
          </a:p>
          <a:p>
            <a:pPr marL="90805">
              <a:lnSpc>
                <a:spcPct val="100000"/>
              </a:lnSpc>
              <a:spcBef>
                <a:spcPts val="420"/>
              </a:spcBef>
            </a:pPr>
            <a:r>
              <a:rPr sz="2600" dirty="0">
                <a:latin typeface="Tw Cen MT"/>
                <a:cs typeface="Tw Cen MT"/>
              </a:rPr>
              <a:t>function n =</a:t>
            </a:r>
            <a:r>
              <a:rPr sz="2600" spc="-4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cocomo(m)</a:t>
            </a:r>
            <a:endParaRPr sz="2600">
              <a:latin typeface="Tw Cen MT"/>
              <a:cs typeface="Tw Cen MT"/>
            </a:endParaRPr>
          </a:p>
          <a:p>
            <a:pPr marL="1005205" marR="956944">
              <a:lnSpc>
                <a:spcPct val="110800"/>
              </a:lnSpc>
              <a:spcBef>
                <a:spcPts val="10"/>
              </a:spcBef>
            </a:pPr>
            <a:r>
              <a:rPr sz="2400" spc="-5" dirty="0">
                <a:latin typeface="Tw Cen MT"/>
                <a:cs typeface="Tw Cen MT"/>
              </a:rPr>
              <a:t>xx=[41 132 </a:t>
            </a:r>
            <a:r>
              <a:rPr sz="2400" dirty="0">
                <a:latin typeface="Tw Cen MT"/>
                <a:cs typeface="Tw Cen MT"/>
              </a:rPr>
              <a:t>144 </a:t>
            </a:r>
            <a:r>
              <a:rPr sz="2400" spc="-5" dirty="0">
                <a:latin typeface="Tw Cen MT"/>
                <a:cs typeface="Tw Cen MT"/>
              </a:rPr>
              <a:t>194 194 </a:t>
            </a:r>
            <a:r>
              <a:rPr sz="2400" dirty="0">
                <a:latin typeface="Tw Cen MT"/>
                <a:cs typeface="Tw Cen MT"/>
              </a:rPr>
              <a:t>291 </a:t>
            </a:r>
            <a:r>
              <a:rPr sz="2400" spc="-5" dirty="0">
                <a:latin typeface="Tw Cen MT"/>
                <a:cs typeface="Tw Cen MT"/>
              </a:rPr>
              <a:t>255 </a:t>
            </a:r>
            <a:r>
              <a:rPr sz="2400" dirty="0">
                <a:latin typeface="Tw Cen MT"/>
                <a:cs typeface="Tw Cen MT"/>
              </a:rPr>
              <a:t>378 </a:t>
            </a:r>
            <a:r>
              <a:rPr sz="2400" spc="-5" dirty="0">
                <a:latin typeface="Tw Cen MT"/>
                <a:cs typeface="Tw Cen MT"/>
              </a:rPr>
              <a:t>591];  yy=[6,10,11,16,22,32,30,35,42];</a:t>
            </a:r>
            <a:endParaRPr sz="2400">
              <a:latin typeface="Tw Cen MT"/>
              <a:cs typeface="Tw Cen MT"/>
            </a:endParaRPr>
          </a:p>
          <a:p>
            <a:pPr marL="1005205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Tw Cen MT"/>
                <a:cs typeface="Tw Cen MT"/>
              </a:rPr>
              <a:t>fun=@(c,x)[c(1) *</a:t>
            </a:r>
            <a:r>
              <a:rPr sz="2400" spc="-25" dirty="0">
                <a:latin typeface="Tw Cen MT"/>
                <a:cs typeface="Tw Cen MT"/>
              </a:rPr>
              <a:t> </a:t>
            </a:r>
            <a:r>
              <a:rPr sz="2400" spc="-5" dirty="0">
                <a:latin typeface="Tw Cen MT"/>
                <a:cs typeface="Tw Cen MT"/>
              </a:rPr>
              <a:t>x.^c(2)];</a:t>
            </a:r>
            <a:endParaRPr sz="2400">
              <a:latin typeface="Tw Cen MT"/>
              <a:cs typeface="Tw Cen MT"/>
            </a:endParaRPr>
          </a:p>
          <a:p>
            <a:pPr marL="1005205">
              <a:lnSpc>
                <a:spcPct val="100000"/>
              </a:lnSpc>
              <a:spcBef>
                <a:spcPts val="380"/>
              </a:spcBef>
            </a:pPr>
            <a:r>
              <a:rPr sz="2600" dirty="0">
                <a:latin typeface="Tw Cen MT"/>
                <a:cs typeface="Tw Cen MT"/>
              </a:rPr>
              <a:t>abc0=[1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1];</a:t>
            </a:r>
            <a:endParaRPr sz="2600">
              <a:latin typeface="Tw Cen MT"/>
              <a:cs typeface="Tw Cen MT"/>
            </a:endParaRPr>
          </a:p>
          <a:p>
            <a:pPr marL="1005205" marR="2762250">
              <a:lnSpc>
                <a:spcPts val="3520"/>
              </a:lnSpc>
              <a:spcBef>
                <a:spcPts val="170"/>
              </a:spcBef>
            </a:pPr>
            <a:r>
              <a:rPr sz="2600" dirty="0">
                <a:latin typeface="Tw Cen MT"/>
                <a:cs typeface="Tw Cen MT"/>
              </a:rPr>
              <a:t>c=</a:t>
            </a:r>
            <a:r>
              <a:rPr sz="2600" spc="-5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lsqcurvefit(fun,abc0,xx,yy);  n=fun(c,m);</a:t>
            </a:r>
            <a:endParaRPr sz="2600">
              <a:latin typeface="Tw Cen MT"/>
              <a:cs typeface="Tw Cen MT"/>
            </a:endParaRPr>
          </a:p>
          <a:p>
            <a:pPr marL="90805">
              <a:lnSpc>
                <a:spcPct val="100000"/>
              </a:lnSpc>
              <a:spcBef>
                <a:spcPts val="195"/>
              </a:spcBef>
            </a:pPr>
            <a:r>
              <a:rPr sz="2600" dirty="0">
                <a:latin typeface="Tw Cen MT"/>
                <a:cs typeface="Tw Cen MT"/>
              </a:rPr>
              <a:t>end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351536"/>
            <a:ext cx="76117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i="0" spc="-5" dirty="0">
                <a:latin typeface="华文仿宋"/>
                <a:cs typeface="华文仿宋"/>
              </a:rPr>
              <a:t>多</a:t>
            </a:r>
            <a:r>
              <a:rPr b="1" i="0" spc="10" dirty="0">
                <a:latin typeface="华文仿宋"/>
                <a:cs typeface="华文仿宋"/>
              </a:rPr>
              <a:t>项</a:t>
            </a:r>
            <a:r>
              <a:rPr b="1" i="0" spc="-5" dirty="0">
                <a:latin typeface="华文仿宋"/>
                <a:cs typeface="华文仿宋"/>
              </a:rPr>
              <a:t>式回</a:t>
            </a:r>
            <a:r>
              <a:rPr b="1" i="0" spc="-10" dirty="0">
                <a:latin typeface="华文仿宋"/>
                <a:cs typeface="华文仿宋"/>
              </a:rPr>
              <a:t>归</a:t>
            </a:r>
            <a:r>
              <a:rPr dirty="0"/>
              <a:t>模型例</a:t>
            </a:r>
            <a:r>
              <a:rPr spc="-10" dirty="0"/>
              <a:t>子</a:t>
            </a:r>
            <a:r>
              <a:rPr dirty="0"/>
              <a:t>--结果输出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3494" y="6297574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79520" y="1726692"/>
            <a:ext cx="4230624" cy="133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5873" y="1844801"/>
            <a:ext cx="2185670" cy="64643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5"/>
              </a:spcBef>
            </a:pPr>
            <a:r>
              <a:rPr sz="3600" dirty="0">
                <a:latin typeface="宋体"/>
                <a:cs typeface="宋体"/>
              </a:rPr>
              <a:t>模型输出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79520" y="3140964"/>
            <a:ext cx="4393691" cy="2939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6354" y="4287773"/>
            <a:ext cx="2155190" cy="64770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3600" spc="-5" dirty="0">
                <a:latin typeface="宋体"/>
                <a:cs typeface="宋体"/>
              </a:rPr>
              <a:t>图形输出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51536"/>
            <a:ext cx="87306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模型研究例</a:t>
            </a:r>
            <a:r>
              <a:rPr sz="4400" i="1" spc="5" dirty="0">
                <a:solidFill>
                  <a:srgbClr val="775F54"/>
                </a:solidFill>
                <a:latin typeface="华文隶书"/>
                <a:cs typeface="华文隶书"/>
              </a:rPr>
              <a:t>子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--</a:t>
            </a:r>
            <a:r>
              <a:rPr sz="4400" b="1" spc="-5" dirty="0">
                <a:solidFill>
                  <a:srgbClr val="775F54"/>
                </a:solidFill>
                <a:latin typeface="华文仿宋"/>
                <a:cs typeface="华文仿宋"/>
              </a:rPr>
              <a:t>多项式回</a:t>
            </a:r>
            <a:r>
              <a:rPr sz="4400" b="1" dirty="0">
                <a:solidFill>
                  <a:srgbClr val="775F54"/>
                </a:solidFill>
                <a:latin typeface="华文仿宋"/>
                <a:cs typeface="华文仿宋"/>
              </a:rPr>
              <a:t>归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模型应用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0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532" y="1773935"/>
            <a:ext cx="7345680" cy="4247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/>
              <a:t>基</a:t>
            </a:r>
            <a:r>
              <a:rPr spc="-5" dirty="0"/>
              <a:t>于</a:t>
            </a:r>
            <a:r>
              <a:rPr dirty="0"/>
              <a:t>神经网络估</a:t>
            </a:r>
            <a:r>
              <a:rPr spc="5" dirty="0"/>
              <a:t>算</a:t>
            </a:r>
            <a:r>
              <a:rPr dirty="0"/>
              <a:t>模型-项目数据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8" y="1949195"/>
            <a:ext cx="8153400" cy="3797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6178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项目进行数字化和归一化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2272" y="2377439"/>
            <a:ext cx="8113776" cy="2837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6812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采用三层的</a:t>
            </a:r>
            <a:r>
              <a:rPr spc="-5" dirty="0"/>
              <a:t>BP</a:t>
            </a:r>
            <a:r>
              <a:rPr dirty="0"/>
              <a:t>神经网络</a:t>
            </a:r>
            <a:r>
              <a:rPr spc="-1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4598" y="2621868"/>
            <a:ext cx="3262413" cy="23427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4682" y="2205227"/>
            <a:ext cx="4206857" cy="33116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模型建立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4540" y="1957197"/>
            <a:ext cx="4502785" cy="3546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7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spc="-5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分析结果</a:t>
            </a:r>
            <a:r>
              <a:rPr sz="2800" u="sng" spc="-5" dirty="0">
                <a:uFill>
                  <a:solidFill>
                    <a:srgbClr val="000000"/>
                  </a:solidFill>
                </a:uFill>
                <a:latin typeface="Tw Cen MT"/>
                <a:cs typeface="Tw Cen MT"/>
              </a:rPr>
              <a:t>:</a:t>
            </a:r>
            <a:endParaRPr sz="28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00">
              <a:latin typeface="Times New Roman"/>
              <a:cs typeface="Times New Roman"/>
            </a:endParaRPr>
          </a:p>
          <a:p>
            <a:pPr marL="333375" indent="-320675">
              <a:lnSpc>
                <a:spcPct val="100000"/>
              </a:lnSpc>
              <a:buClr>
                <a:srgbClr val="DD8046"/>
              </a:buClr>
              <a:buSzPct val="58928"/>
              <a:buFont typeface="Wingdings"/>
              <a:buChar char=""/>
              <a:tabLst>
                <a:tab pos="333375" algn="l"/>
                <a:tab pos="334010" algn="l"/>
              </a:tabLst>
            </a:pPr>
            <a:r>
              <a:rPr sz="2800" spc="-5" dirty="0">
                <a:latin typeface="华文仿宋"/>
                <a:cs typeface="华文仿宋"/>
              </a:rPr>
              <a:t>隐层节点数目为</a:t>
            </a:r>
            <a:r>
              <a:rPr sz="2800" spc="-5" dirty="0">
                <a:latin typeface="Tw Cen MT"/>
                <a:cs typeface="Tw Cen MT"/>
              </a:rPr>
              <a:t>4</a:t>
            </a:r>
            <a:r>
              <a:rPr sz="2800" spc="-5" dirty="0">
                <a:latin typeface="华文仿宋"/>
                <a:cs typeface="华文仿宋"/>
              </a:rPr>
              <a:t>，</a:t>
            </a:r>
            <a:endParaRPr sz="2800">
              <a:latin typeface="华文仿宋"/>
              <a:cs typeface="华文仿宋"/>
            </a:endParaRPr>
          </a:p>
          <a:p>
            <a:pPr marL="33337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3375" algn="l"/>
                <a:tab pos="334010" algn="l"/>
              </a:tabLst>
            </a:pPr>
            <a:r>
              <a:rPr sz="2800" spc="-5" dirty="0">
                <a:latin typeface="华文仿宋"/>
                <a:cs typeface="华文仿宋"/>
              </a:rPr>
              <a:t>网络学习率为</a:t>
            </a:r>
            <a:r>
              <a:rPr sz="2800" spc="-5" dirty="0">
                <a:latin typeface="Tw Cen MT"/>
                <a:cs typeface="Tw Cen MT"/>
              </a:rPr>
              <a:t>0.54</a:t>
            </a:r>
            <a:r>
              <a:rPr sz="2800" spc="-5" dirty="0">
                <a:latin typeface="华文仿宋"/>
                <a:cs typeface="华文仿宋"/>
              </a:rPr>
              <a:t>，</a:t>
            </a:r>
            <a:endParaRPr sz="2800">
              <a:latin typeface="华文仿宋"/>
              <a:cs typeface="华文仿宋"/>
            </a:endParaRPr>
          </a:p>
          <a:p>
            <a:pPr marL="333375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3375" algn="l"/>
                <a:tab pos="334010" algn="l"/>
              </a:tabLst>
            </a:pPr>
            <a:r>
              <a:rPr sz="2800" spc="-10" dirty="0">
                <a:latin typeface="华文仿宋"/>
                <a:cs typeface="华文仿宋"/>
              </a:rPr>
              <a:t>隐层激活函数为</a:t>
            </a:r>
            <a:r>
              <a:rPr sz="2800" spc="-5" dirty="0">
                <a:latin typeface="Tw Cen MT"/>
                <a:cs typeface="Tw Cen MT"/>
              </a:rPr>
              <a:t>logsig</a:t>
            </a:r>
            <a:r>
              <a:rPr sz="2800" spc="-5" dirty="0">
                <a:latin typeface="华文仿宋"/>
                <a:cs typeface="华文仿宋"/>
              </a:rPr>
              <a:t>，</a:t>
            </a:r>
            <a:endParaRPr sz="2800">
              <a:latin typeface="华文仿宋"/>
              <a:cs typeface="华文仿宋"/>
            </a:endParaRPr>
          </a:p>
          <a:p>
            <a:pPr marL="33337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3375" algn="l"/>
                <a:tab pos="334010" algn="l"/>
              </a:tabLst>
            </a:pPr>
            <a:r>
              <a:rPr sz="2800" spc="-5" dirty="0">
                <a:latin typeface="华文仿宋"/>
                <a:cs typeface="华文仿宋"/>
              </a:rPr>
              <a:t>输出层激活函数</a:t>
            </a:r>
            <a:r>
              <a:rPr sz="2800" spc="-15" dirty="0">
                <a:latin typeface="华文仿宋"/>
                <a:cs typeface="华文仿宋"/>
              </a:rPr>
              <a:t>为</a:t>
            </a:r>
            <a:r>
              <a:rPr sz="2800" spc="-5" dirty="0">
                <a:latin typeface="Tw Cen MT"/>
                <a:cs typeface="Tw Cen MT"/>
              </a:rPr>
              <a:t>purelin</a:t>
            </a:r>
            <a:r>
              <a:rPr sz="2800" spc="-5" dirty="0">
                <a:latin typeface="华文仿宋"/>
                <a:cs typeface="华文仿宋"/>
              </a:rPr>
              <a:t>。</a:t>
            </a:r>
            <a:endParaRPr sz="2800">
              <a:latin typeface="华文仿宋"/>
              <a:cs typeface="华文仿宋"/>
            </a:endParaRPr>
          </a:p>
          <a:p>
            <a:pPr marL="33337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3375" algn="l"/>
                <a:tab pos="334010" algn="l"/>
              </a:tabLst>
            </a:pPr>
            <a:r>
              <a:rPr sz="2800" spc="-10" dirty="0">
                <a:latin typeface="华文仿宋"/>
                <a:cs typeface="华文仿宋"/>
              </a:rPr>
              <a:t>确定动量因子</a:t>
            </a:r>
            <a:r>
              <a:rPr sz="2800" spc="-10" dirty="0">
                <a:latin typeface="Tw Cen MT"/>
                <a:cs typeface="Tw Cen MT"/>
              </a:rPr>
              <a:t>mc</a:t>
            </a:r>
            <a:r>
              <a:rPr sz="2800" spc="-10" dirty="0">
                <a:latin typeface="华文仿宋"/>
                <a:cs typeface="华文仿宋"/>
              </a:rPr>
              <a:t>为</a:t>
            </a:r>
            <a:r>
              <a:rPr sz="2800" spc="-5" dirty="0">
                <a:latin typeface="Tw Cen MT"/>
                <a:cs typeface="Tw Cen MT"/>
              </a:rPr>
              <a:t>0.9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9537" y="2247619"/>
            <a:ext cx="2589817" cy="30251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940" y="374141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模型应用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1915667"/>
            <a:ext cx="5344668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参数估算法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59273" y="1850898"/>
            <a:ext cx="3685031" cy="714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704326" y="1840992"/>
          <a:ext cx="3969384" cy="40050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DDDDDD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DDDD"/>
                      </a:solidFill>
                      <a:prstDash val="solid"/>
                    </a:lnT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3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325" algn="ctr">
                        <a:lnSpc>
                          <a:spcPts val="2695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方正姚体"/>
                          <a:cs typeface="方正姚体"/>
                        </a:rPr>
                        <a:t>特点</a:t>
                      </a:r>
                      <a:endParaRPr sz="3200">
                        <a:latin typeface="方正姚体"/>
                        <a:cs typeface="方正姚体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  <a:lnB w="2857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0316">
                <a:tc gridSpan="3">
                  <a:txBody>
                    <a:bodyPr/>
                    <a:lstStyle/>
                    <a:p>
                      <a:pPr marL="724535" marR="273050" indent="-457200" algn="just">
                        <a:lnSpc>
                          <a:spcPct val="100000"/>
                        </a:lnSpc>
                        <a:spcBef>
                          <a:spcPts val="114"/>
                        </a:spcBef>
                        <a:buFont typeface="Wingdings"/>
                        <a:buChar char=""/>
                        <a:tabLst>
                          <a:tab pos="725170" algn="l"/>
                        </a:tabLst>
                      </a:pPr>
                      <a:r>
                        <a:rPr sz="3200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比较简单</a:t>
                      </a:r>
                      <a:r>
                        <a:rPr sz="3200" spc="-5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,</a:t>
                      </a:r>
                      <a:r>
                        <a:rPr sz="3200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而且也 比较准确</a:t>
                      </a:r>
                      <a:endParaRPr sz="3200">
                        <a:latin typeface="华文新魏"/>
                        <a:cs typeface="华文新魏"/>
                      </a:endParaRPr>
                    </a:p>
                    <a:p>
                      <a:pPr marL="724535" marR="272415" indent="-457200" algn="just">
                        <a:lnSpc>
                          <a:spcPct val="100000"/>
                        </a:lnSpc>
                        <a:buFont typeface="Wingdings"/>
                        <a:buChar char=""/>
                        <a:tabLst>
                          <a:tab pos="725170" algn="l"/>
                        </a:tabLst>
                      </a:pPr>
                      <a:r>
                        <a:rPr sz="3200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如果模型选择不 </a:t>
                      </a:r>
                      <a:r>
                        <a:rPr sz="3200" spc="-5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当或者数据不</a:t>
                      </a:r>
                      <a:r>
                        <a:rPr sz="3200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准, 也会导致偏差</a:t>
                      </a:r>
                      <a:endParaRPr sz="3200">
                        <a:latin typeface="华文新魏"/>
                        <a:cs typeface="华文新魏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56437" y="1826514"/>
            <a:ext cx="3686555" cy="7162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01490" y="1816607"/>
          <a:ext cx="3969384" cy="400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DDDDDD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DDDD"/>
                      </a:solidFill>
                      <a:prstDash val="solid"/>
                    </a:lnT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1235">
                        <a:lnSpc>
                          <a:spcPts val="2250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方正姚体"/>
                          <a:cs typeface="方正姚体"/>
                        </a:rPr>
                        <a:t>使用条件</a:t>
                      </a:r>
                      <a:endParaRPr sz="3200">
                        <a:latin typeface="方正姚体"/>
                        <a:cs typeface="方正姚体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  <a:lnB w="2857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8791">
                <a:tc gridSpan="3">
                  <a:txBody>
                    <a:bodyPr/>
                    <a:lstStyle/>
                    <a:p>
                      <a:pPr marL="575310" marR="536575" indent="-342900">
                        <a:lnSpc>
                          <a:spcPct val="100000"/>
                        </a:lnSpc>
                        <a:spcBef>
                          <a:spcPts val="380"/>
                        </a:spcBef>
                        <a:buFont typeface="Wingdings"/>
                        <a:buChar char=""/>
                        <a:tabLst>
                          <a:tab pos="575310" algn="l"/>
                        </a:tabLst>
                      </a:pPr>
                      <a:r>
                        <a:rPr sz="3200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具有良好的项目 数据为基础</a:t>
                      </a:r>
                      <a:endParaRPr sz="3200">
                        <a:latin typeface="华文新魏"/>
                        <a:cs typeface="华文新魏"/>
                      </a:endParaRPr>
                    </a:p>
                    <a:p>
                      <a:pPr marL="575310" marR="536575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"/>
                        <a:tabLst>
                          <a:tab pos="575310" algn="l"/>
                        </a:tabLst>
                      </a:pPr>
                      <a:r>
                        <a:rPr sz="3200" dirty="0">
                          <a:solidFill>
                            <a:srgbClr val="A07B36"/>
                          </a:solidFill>
                          <a:latin typeface="华文新魏"/>
                          <a:cs typeface="华文新魏"/>
                        </a:rPr>
                        <a:t>存在成熟的项目 估算模型</a:t>
                      </a:r>
                      <a:endParaRPr sz="3200">
                        <a:latin typeface="华文新魏"/>
                        <a:cs typeface="华文新魏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传统估算方</a:t>
            </a:r>
            <a:r>
              <a:rPr spc="5" dirty="0"/>
              <a:t>法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774698"/>
            <a:ext cx="7772400" cy="4258310"/>
          </a:xfrm>
          <a:custGeom>
            <a:avLst/>
            <a:gdLst/>
            <a:ahLst/>
            <a:cxnLst/>
            <a:rect l="l" t="t" r="r" b="b"/>
            <a:pathLst>
              <a:path w="7772400" h="4258310">
                <a:moveTo>
                  <a:pt x="0" y="4258056"/>
                </a:moveTo>
                <a:lnTo>
                  <a:pt x="7772400" y="4258056"/>
                </a:lnTo>
                <a:lnTo>
                  <a:pt x="7772400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868" y="5698601"/>
            <a:ext cx="19050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45"/>
              </a:lnSpc>
            </a:pPr>
            <a:r>
              <a:rPr sz="1750" spc="-5" dirty="0">
                <a:solidFill>
                  <a:srgbClr val="DD8046"/>
                </a:solidFill>
                <a:latin typeface="华文新魏"/>
                <a:cs typeface="华文新魏"/>
              </a:rPr>
              <a:t>8.</a:t>
            </a:r>
            <a:endParaRPr sz="175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代码行估算法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功能点估算法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用例点估算法</a:t>
            </a: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类</a:t>
            </a:r>
            <a:r>
              <a:rPr spc="705" dirty="0"/>
              <a:t>比</a:t>
            </a:r>
            <a:r>
              <a:rPr spc="-5" dirty="0"/>
              <a:t>(</a:t>
            </a:r>
            <a:r>
              <a:rPr dirty="0"/>
              <a:t>自顶向</a:t>
            </a:r>
            <a:r>
              <a:rPr spc="-5" dirty="0"/>
              <a:t>下)</a:t>
            </a:r>
            <a:r>
              <a:rPr dirty="0"/>
              <a:t>估算法</a:t>
            </a: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自下而上估算法</a:t>
            </a:r>
          </a:p>
          <a:p>
            <a:pPr marL="546100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三点估算法</a:t>
            </a:r>
          </a:p>
          <a:p>
            <a:pPr marL="545465" marR="1830070" indent="-533400">
              <a:lnSpc>
                <a:spcPct val="120000"/>
              </a:lnSpc>
              <a:spcBef>
                <a:spcPts val="15"/>
              </a:spcBef>
              <a:buClr>
                <a:srgbClr val="DD8046"/>
              </a:buClr>
              <a:buSzPct val="60344"/>
              <a:buAutoNum type="arabicPeriod"/>
              <a:tabLst>
                <a:tab pos="545465" algn="l"/>
                <a:tab pos="546100" algn="l"/>
              </a:tabLst>
            </a:pPr>
            <a:r>
              <a:rPr dirty="0"/>
              <a:t>参数估算法 专家估算法</a:t>
            </a:r>
          </a:p>
        </p:txBody>
      </p:sp>
      <p:sp>
        <p:nvSpPr>
          <p:cNvPr id="8" name="object 8"/>
          <p:cNvSpPr/>
          <p:nvPr/>
        </p:nvSpPr>
        <p:spPr>
          <a:xfrm>
            <a:off x="533400" y="5565647"/>
            <a:ext cx="577595" cy="533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专家估算法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0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2205989"/>
            <a:ext cx="8153400" cy="14401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0805" marR="208915" algn="just">
              <a:lnSpc>
                <a:spcPct val="100000"/>
              </a:lnSpc>
              <a:spcBef>
                <a:spcPts val="130"/>
              </a:spcBef>
            </a:pP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由多位专家进行成本估</a:t>
            </a:r>
            <a:r>
              <a:rPr sz="2900" spc="-10" dirty="0">
                <a:solidFill>
                  <a:srgbClr val="513D1B"/>
                </a:solidFill>
                <a:latin typeface="华文新魏"/>
                <a:cs typeface="华文新魏"/>
              </a:rPr>
              <a:t>算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，一</a:t>
            </a:r>
            <a:r>
              <a:rPr sz="2900" spc="-10" dirty="0">
                <a:solidFill>
                  <a:srgbClr val="513D1B"/>
                </a:solidFill>
                <a:latin typeface="华文新魏"/>
                <a:cs typeface="华文新魏"/>
              </a:rPr>
              <a:t>个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专家</a:t>
            </a:r>
            <a:r>
              <a:rPr sz="2900" spc="-10" dirty="0">
                <a:solidFill>
                  <a:srgbClr val="513D1B"/>
                </a:solidFill>
                <a:latin typeface="华文新魏"/>
                <a:cs typeface="华文新魏"/>
              </a:rPr>
              <a:t>可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能会</a:t>
            </a:r>
            <a:r>
              <a:rPr sz="2900" spc="-10" dirty="0">
                <a:solidFill>
                  <a:srgbClr val="513D1B"/>
                </a:solidFill>
                <a:latin typeface="华文新魏"/>
                <a:cs typeface="华文新魏"/>
              </a:rPr>
              <a:t>有</a:t>
            </a:r>
            <a:r>
              <a:rPr sz="2900" spc="5" dirty="0">
                <a:solidFill>
                  <a:srgbClr val="513D1B"/>
                </a:solidFill>
                <a:latin typeface="华文新魏"/>
                <a:cs typeface="华文新魏"/>
              </a:rPr>
              <a:t>偏 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见，最好由多位专家进</a:t>
            </a:r>
            <a:r>
              <a:rPr sz="2900" spc="-15" dirty="0">
                <a:solidFill>
                  <a:srgbClr val="513D1B"/>
                </a:solidFill>
                <a:latin typeface="华文新魏"/>
                <a:cs typeface="华文新魏"/>
              </a:rPr>
              <a:t>行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估算</a:t>
            </a:r>
            <a:r>
              <a:rPr sz="2900" spc="-15" dirty="0">
                <a:solidFill>
                  <a:srgbClr val="513D1B"/>
                </a:solidFill>
                <a:latin typeface="华文新魏"/>
                <a:cs typeface="华文新魏"/>
              </a:rPr>
              <a:t>，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取得</a:t>
            </a:r>
            <a:r>
              <a:rPr sz="2900" spc="-15" dirty="0">
                <a:solidFill>
                  <a:srgbClr val="513D1B"/>
                </a:solidFill>
                <a:latin typeface="华文新魏"/>
                <a:cs typeface="华文新魏"/>
              </a:rPr>
              <a:t>多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个估</a:t>
            </a:r>
            <a:r>
              <a:rPr sz="2900" spc="-15" dirty="0">
                <a:solidFill>
                  <a:srgbClr val="513D1B"/>
                </a:solidFill>
                <a:latin typeface="华文新魏"/>
                <a:cs typeface="华文新魏"/>
              </a:rPr>
              <a:t>算</a:t>
            </a:r>
            <a:r>
              <a:rPr sz="2900" spc="5" dirty="0">
                <a:solidFill>
                  <a:srgbClr val="513D1B"/>
                </a:solidFill>
                <a:latin typeface="华文新魏"/>
                <a:cs typeface="华文新魏"/>
              </a:rPr>
              <a:t>值</a:t>
            </a:r>
            <a:r>
              <a:rPr sz="2900" dirty="0">
                <a:solidFill>
                  <a:srgbClr val="513D1B"/>
                </a:solidFill>
                <a:latin typeface="华文新魏"/>
                <a:cs typeface="华文新魏"/>
              </a:rPr>
              <a:t>,  最后得出综合的估算值。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60731"/>
            <a:ext cx="4321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专家估算</a:t>
            </a:r>
            <a:r>
              <a:rPr spc="-5" dirty="0"/>
              <a:t>法</a:t>
            </a:r>
            <a:r>
              <a:rPr dirty="0"/>
              <a:t>-Deip</a:t>
            </a:r>
            <a:r>
              <a:rPr spc="-15" dirty="0"/>
              <a:t>h</a:t>
            </a:r>
            <a:r>
              <a:rPr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</a:t>
            </a:r>
            <a:r>
              <a:rPr sz="1200" b="1" dirty="0"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0594" y="1558289"/>
            <a:ext cx="8712835" cy="5111750"/>
          </a:xfrm>
          <a:custGeom>
            <a:avLst/>
            <a:gdLst/>
            <a:ahLst/>
            <a:cxnLst/>
            <a:rect l="l" t="t" r="r" b="b"/>
            <a:pathLst>
              <a:path w="8712835" h="5111750">
                <a:moveTo>
                  <a:pt x="0" y="5111496"/>
                </a:moveTo>
                <a:lnTo>
                  <a:pt x="8712708" y="5111496"/>
                </a:lnTo>
                <a:lnTo>
                  <a:pt x="8712708" y="0"/>
                </a:lnTo>
                <a:lnTo>
                  <a:pt x="0" y="0"/>
                </a:lnTo>
                <a:lnTo>
                  <a:pt x="0" y="511149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8267" y="1477452"/>
            <a:ext cx="8648700" cy="50393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445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组织者确定专家，这些</a:t>
            </a:r>
            <a:r>
              <a:rPr sz="2900" spc="-15" dirty="0">
                <a:latin typeface="华文新魏"/>
                <a:cs typeface="华文新魏"/>
              </a:rPr>
              <a:t>专</a:t>
            </a:r>
            <a:r>
              <a:rPr sz="2900" dirty="0">
                <a:latin typeface="华文新魏"/>
                <a:cs typeface="华文新魏"/>
              </a:rPr>
              <a:t>家互</a:t>
            </a:r>
            <a:r>
              <a:rPr sz="2900" spc="-15" dirty="0">
                <a:latin typeface="华文新魏"/>
                <a:cs typeface="华文新魏"/>
              </a:rPr>
              <a:t>相</a:t>
            </a:r>
            <a:r>
              <a:rPr sz="2900" dirty="0">
                <a:latin typeface="华文新魏"/>
                <a:cs typeface="华文新魏"/>
              </a:rPr>
              <a:t>不见面</a:t>
            </a:r>
            <a:endParaRPr sz="29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345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组织者发给每位专家一</a:t>
            </a:r>
            <a:r>
              <a:rPr sz="2900" spc="-10" dirty="0">
                <a:latin typeface="华文新魏"/>
                <a:cs typeface="华文新魏"/>
              </a:rPr>
              <a:t>份</a:t>
            </a:r>
            <a:r>
              <a:rPr sz="2900" dirty="0">
                <a:latin typeface="华文新魏"/>
                <a:cs typeface="华文新魏"/>
              </a:rPr>
              <a:t>软件</a:t>
            </a:r>
            <a:r>
              <a:rPr sz="2900" spc="-10" dirty="0">
                <a:latin typeface="华文新魏"/>
                <a:cs typeface="华文新魏"/>
              </a:rPr>
              <a:t>规</a:t>
            </a:r>
            <a:r>
              <a:rPr sz="2900" dirty="0">
                <a:latin typeface="华文新魏"/>
                <a:cs typeface="华文新魏"/>
              </a:rPr>
              <a:t>格说明</a:t>
            </a:r>
            <a:endParaRPr sz="29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350"/>
              </a:spcBef>
              <a:buClr>
                <a:srgbClr val="DD8046"/>
              </a:buClr>
              <a:buSzPct val="60344"/>
              <a:buAutoNum type="arabicPeriod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专家以无记名对该软件</a:t>
            </a:r>
            <a:r>
              <a:rPr sz="2900" spc="-15" dirty="0">
                <a:latin typeface="华文新魏"/>
                <a:cs typeface="华文新魏"/>
              </a:rPr>
              <a:t>给</a:t>
            </a:r>
            <a:r>
              <a:rPr sz="2900" dirty="0">
                <a:latin typeface="华文新魏"/>
                <a:cs typeface="华文新魏"/>
              </a:rPr>
              <a:t>出</a:t>
            </a:r>
            <a:r>
              <a:rPr sz="2900" spc="5" dirty="0">
                <a:latin typeface="华文新魏"/>
                <a:cs typeface="华文新魏"/>
              </a:rPr>
              <a:t>3</a:t>
            </a:r>
            <a:r>
              <a:rPr sz="2900" spc="-15" dirty="0">
                <a:latin typeface="华文新魏"/>
                <a:cs typeface="华文新魏"/>
              </a:rPr>
              <a:t>个</a:t>
            </a:r>
            <a:r>
              <a:rPr sz="2900" dirty="0">
                <a:latin typeface="华文新魏"/>
                <a:cs typeface="华文新魏"/>
              </a:rPr>
              <a:t>规模</a:t>
            </a:r>
            <a:r>
              <a:rPr sz="2900" spc="-15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估算值</a:t>
            </a:r>
            <a:endParaRPr sz="2900">
              <a:latin typeface="华文新魏"/>
              <a:cs typeface="华文新魏"/>
            </a:endParaRPr>
          </a:p>
          <a:p>
            <a:pPr marL="379730">
              <a:lnSpc>
                <a:spcPct val="100000"/>
              </a:lnSpc>
              <a:spcBef>
                <a:spcPts val="315"/>
              </a:spcBef>
              <a:tabLst>
                <a:tab pos="893444" algn="l"/>
              </a:tabLst>
            </a:pPr>
            <a:r>
              <a:rPr sz="1800" spc="20" dirty="0">
                <a:solidFill>
                  <a:srgbClr val="93B6D2"/>
                </a:solidFill>
                <a:latin typeface="华文新魏"/>
                <a:cs typeface="华文新魏"/>
              </a:rPr>
              <a:t>①	</a:t>
            </a:r>
            <a:r>
              <a:rPr sz="2600" dirty="0">
                <a:latin typeface="华文新魏"/>
                <a:cs typeface="华文新魏"/>
              </a:rPr>
              <a:t>最小</a:t>
            </a:r>
            <a:r>
              <a:rPr sz="2600" spc="-5" dirty="0">
                <a:latin typeface="华文新魏"/>
                <a:cs typeface="华文新魏"/>
              </a:rPr>
              <a:t>ai</a:t>
            </a:r>
            <a:endParaRPr sz="2600">
              <a:latin typeface="华文新魏"/>
              <a:cs typeface="华文新魏"/>
            </a:endParaRPr>
          </a:p>
          <a:p>
            <a:pPr marL="379730">
              <a:lnSpc>
                <a:spcPct val="100000"/>
              </a:lnSpc>
              <a:spcBef>
                <a:spcPts val="285"/>
              </a:spcBef>
              <a:tabLst>
                <a:tab pos="893444" algn="l"/>
              </a:tabLst>
            </a:pPr>
            <a:r>
              <a:rPr sz="1800" spc="25" dirty="0">
                <a:solidFill>
                  <a:srgbClr val="93B6D2"/>
                </a:solidFill>
                <a:latin typeface="华文新魏"/>
                <a:cs typeface="华文新魏"/>
              </a:rPr>
              <a:t>②	</a:t>
            </a:r>
            <a:r>
              <a:rPr sz="2600" dirty="0">
                <a:latin typeface="华文新魏"/>
                <a:cs typeface="华文新魏"/>
              </a:rPr>
              <a:t>最可能</a:t>
            </a:r>
            <a:r>
              <a:rPr sz="2600" spc="5" dirty="0">
                <a:latin typeface="华文新魏"/>
                <a:cs typeface="华文新魏"/>
              </a:rPr>
              <a:t>的</a:t>
            </a:r>
            <a:r>
              <a:rPr sz="2600" dirty="0">
                <a:latin typeface="华文新魏"/>
                <a:cs typeface="华文新魏"/>
              </a:rPr>
              <a:t>mi</a:t>
            </a:r>
            <a:endParaRPr sz="2600">
              <a:latin typeface="华文新魏"/>
              <a:cs typeface="华文新魏"/>
            </a:endParaRPr>
          </a:p>
          <a:p>
            <a:pPr marL="379730">
              <a:lnSpc>
                <a:spcPct val="100000"/>
              </a:lnSpc>
              <a:spcBef>
                <a:spcPts val="290"/>
              </a:spcBef>
              <a:tabLst>
                <a:tab pos="893444" algn="l"/>
              </a:tabLst>
            </a:pPr>
            <a:r>
              <a:rPr sz="1800" spc="20" dirty="0">
                <a:solidFill>
                  <a:srgbClr val="93B6D2"/>
                </a:solidFill>
                <a:latin typeface="华文新魏"/>
                <a:cs typeface="华文新魏"/>
              </a:rPr>
              <a:t>③	</a:t>
            </a:r>
            <a:r>
              <a:rPr sz="2600" dirty="0">
                <a:latin typeface="华文新魏"/>
                <a:cs typeface="华文新魏"/>
              </a:rPr>
              <a:t>最大</a:t>
            </a:r>
            <a:r>
              <a:rPr sz="2600" spc="-5" dirty="0">
                <a:latin typeface="华文新魏"/>
                <a:cs typeface="华文新魏"/>
              </a:rPr>
              <a:t>bi</a:t>
            </a:r>
            <a:endParaRPr sz="26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340"/>
              </a:spcBef>
              <a:buClr>
                <a:srgbClr val="DD8046"/>
              </a:buClr>
              <a:buSzPct val="60344"/>
              <a:buAutoNum type="arabicPeriod" startAt="4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组织者计算每位专家的</a:t>
            </a:r>
            <a:r>
              <a:rPr sz="2900" spc="-5" dirty="0">
                <a:latin typeface="华文新魏"/>
                <a:cs typeface="华文新魏"/>
              </a:rPr>
              <a:t>Ei=(ai+4mi+bi)/6</a:t>
            </a:r>
            <a:endParaRPr sz="2900">
              <a:latin typeface="华文新魏"/>
              <a:cs typeface="华文新魏"/>
            </a:endParaRPr>
          </a:p>
          <a:p>
            <a:pPr marL="527685" marR="740410" indent="-515620">
              <a:lnSpc>
                <a:spcPts val="3130"/>
              </a:lnSpc>
              <a:spcBef>
                <a:spcPts val="745"/>
              </a:spcBef>
              <a:buClr>
                <a:srgbClr val="DD8046"/>
              </a:buClr>
              <a:buSzPct val="60344"/>
              <a:buAutoNum type="arabicPeriod" startAt="4"/>
              <a:tabLst>
                <a:tab pos="527685" algn="l"/>
                <a:tab pos="528320" algn="l"/>
              </a:tabLst>
            </a:pPr>
            <a:r>
              <a:rPr sz="2900" dirty="0">
                <a:latin typeface="华文新魏"/>
                <a:cs typeface="华文新魏"/>
              </a:rPr>
              <a:t>最终可以获得一个多数</a:t>
            </a:r>
            <a:r>
              <a:rPr sz="2900" spc="-15" dirty="0">
                <a:latin typeface="华文新魏"/>
                <a:cs typeface="华文新魏"/>
              </a:rPr>
              <a:t>专</a:t>
            </a:r>
            <a:r>
              <a:rPr sz="2900" dirty="0">
                <a:latin typeface="华文新魏"/>
                <a:cs typeface="华文新魏"/>
              </a:rPr>
              <a:t>家共</a:t>
            </a:r>
            <a:r>
              <a:rPr sz="2900" spc="-15" dirty="0">
                <a:latin typeface="华文新魏"/>
                <a:cs typeface="华文新魏"/>
              </a:rPr>
              <a:t>识</a:t>
            </a:r>
            <a:r>
              <a:rPr sz="2900" dirty="0">
                <a:latin typeface="华文新魏"/>
                <a:cs typeface="华文新魏"/>
              </a:rPr>
              <a:t>的软</a:t>
            </a:r>
            <a:r>
              <a:rPr sz="2900" spc="-15" dirty="0">
                <a:latin typeface="华文新魏"/>
                <a:cs typeface="华文新魏"/>
              </a:rPr>
              <a:t>件</a:t>
            </a:r>
            <a:r>
              <a:rPr sz="2900" dirty="0">
                <a:latin typeface="华文新魏"/>
                <a:cs typeface="华文新魏"/>
              </a:rPr>
              <a:t>规模：  </a:t>
            </a:r>
            <a:r>
              <a:rPr sz="2900" spc="-5" dirty="0">
                <a:latin typeface="华文新魏"/>
                <a:cs typeface="华文新魏"/>
              </a:rPr>
              <a:t>E=E1+E2+…En/n（n:</a:t>
            </a:r>
            <a:r>
              <a:rPr sz="2900" dirty="0">
                <a:latin typeface="华文新魏"/>
                <a:cs typeface="华文新魏"/>
              </a:rPr>
              <a:t>表示n</a:t>
            </a:r>
            <a:r>
              <a:rPr sz="2900" spc="-4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个专家）</a:t>
            </a:r>
            <a:endParaRPr sz="2900">
              <a:latin typeface="华文新魏"/>
              <a:cs typeface="华文新魏"/>
            </a:endParaRPr>
          </a:p>
          <a:p>
            <a:pPr marL="527685" marR="5080" indent="-515620">
              <a:lnSpc>
                <a:spcPts val="3130"/>
              </a:lnSpc>
              <a:spcBef>
                <a:spcPts val="700"/>
              </a:spcBef>
              <a:buClr>
                <a:srgbClr val="DD8046"/>
              </a:buClr>
              <a:buSzPct val="60344"/>
              <a:buAutoNum type="arabicPeriod" startAt="4"/>
              <a:tabLst>
                <a:tab pos="527685" algn="l"/>
                <a:tab pos="528320" algn="l"/>
              </a:tabLst>
            </a:pPr>
            <a:r>
              <a:rPr sz="2900" spc="5" dirty="0">
                <a:latin typeface="华文新魏"/>
                <a:cs typeface="华文新魏"/>
              </a:rPr>
              <a:t>如果各</a:t>
            </a:r>
            <a:r>
              <a:rPr sz="2900" spc="-20" dirty="0">
                <a:latin typeface="华文新魏"/>
                <a:cs typeface="华文新魏"/>
              </a:rPr>
              <a:t>个</a:t>
            </a:r>
            <a:r>
              <a:rPr sz="2900" spc="5" dirty="0">
                <a:latin typeface="华文新魏"/>
                <a:cs typeface="华文新魏"/>
              </a:rPr>
              <a:t>专家的</a:t>
            </a:r>
            <a:r>
              <a:rPr sz="2900" spc="-20" dirty="0">
                <a:latin typeface="华文新魏"/>
                <a:cs typeface="华文新魏"/>
              </a:rPr>
              <a:t>估</a:t>
            </a:r>
            <a:r>
              <a:rPr sz="2900" spc="5" dirty="0">
                <a:latin typeface="华文新魏"/>
                <a:cs typeface="华文新魏"/>
              </a:rPr>
              <a:t>算差异</a:t>
            </a:r>
            <a:r>
              <a:rPr sz="2900" spc="-20" dirty="0">
                <a:latin typeface="华文新魏"/>
                <a:cs typeface="华文新魏"/>
              </a:rPr>
              <a:t>超</a:t>
            </a:r>
            <a:r>
              <a:rPr sz="2900" spc="5" dirty="0">
                <a:latin typeface="华文新魏"/>
                <a:cs typeface="华文新魏"/>
              </a:rPr>
              <a:t>出规定</a:t>
            </a:r>
            <a:r>
              <a:rPr sz="2900" spc="-20" dirty="0">
                <a:latin typeface="华文新魏"/>
                <a:cs typeface="华文新魏"/>
              </a:rPr>
              <a:t>的</a:t>
            </a:r>
            <a:r>
              <a:rPr sz="2900" spc="5" dirty="0">
                <a:latin typeface="华文新魏"/>
                <a:cs typeface="华文新魏"/>
              </a:rPr>
              <a:t>范围（</a:t>
            </a:r>
            <a:r>
              <a:rPr sz="2900" spc="-20" dirty="0">
                <a:latin typeface="华文新魏"/>
                <a:cs typeface="华文新魏"/>
              </a:rPr>
              <a:t>例</a:t>
            </a:r>
            <a:r>
              <a:rPr sz="2900" dirty="0">
                <a:latin typeface="华文新魏"/>
                <a:cs typeface="华文新魏"/>
              </a:rPr>
              <a:t>如：  15%），则需重复上</a:t>
            </a:r>
            <a:r>
              <a:rPr sz="2900" spc="-10" dirty="0">
                <a:latin typeface="华文新魏"/>
                <a:cs typeface="华文新魏"/>
              </a:rPr>
              <a:t>述</a:t>
            </a:r>
            <a:r>
              <a:rPr sz="2900" dirty="0">
                <a:latin typeface="华文新魏"/>
                <a:cs typeface="华文新魏"/>
              </a:rPr>
              <a:t>过程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54583"/>
            <a:ext cx="54400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Deiphi</a:t>
            </a:r>
            <a:r>
              <a:rPr dirty="0"/>
              <a:t>专家估算</a:t>
            </a:r>
            <a:r>
              <a:rPr spc="5" dirty="0"/>
              <a:t>法</a:t>
            </a:r>
            <a:r>
              <a:rPr dirty="0"/>
              <a:t>-举例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545" y="1558289"/>
            <a:ext cx="8153400" cy="749935"/>
          </a:xfrm>
          <a:prstGeom prst="rect">
            <a:avLst/>
          </a:prstGeom>
          <a:ln w="19811">
            <a:solidFill>
              <a:srgbClr val="548AB8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0"/>
              </a:spcBef>
            </a:pPr>
            <a:r>
              <a:rPr sz="2900" dirty="0">
                <a:latin typeface="华文新魏"/>
                <a:cs typeface="华文新魏"/>
              </a:rPr>
              <a:t>某多媒体信息查询系统</a:t>
            </a:r>
            <a:r>
              <a:rPr sz="2900" spc="-15" dirty="0">
                <a:latin typeface="华文新魏"/>
                <a:cs typeface="华文新魏"/>
              </a:rPr>
              <a:t>，</a:t>
            </a:r>
            <a:r>
              <a:rPr sz="2900" dirty="0">
                <a:latin typeface="华文新魏"/>
                <a:cs typeface="华文新魏"/>
              </a:rPr>
              <a:t>采用</a:t>
            </a:r>
            <a:r>
              <a:rPr sz="2900" spc="-15" dirty="0">
                <a:latin typeface="华文新魏"/>
                <a:cs typeface="华文新魏"/>
              </a:rPr>
              <a:t>专</a:t>
            </a:r>
            <a:r>
              <a:rPr sz="2900" dirty="0">
                <a:latin typeface="华文新魏"/>
                <a:cs typeface="华文新魏"/>
              </a:rPr>
              <a:t>家估</a:t>
            </a:r>
            <a:r>
              <a:rPr sz="2900" spc="-15" dirty="0">
                <a:latin typeface="华文新魏"/>
                <a:cs typeface="华文新魏"/>
              </a:rPr>
              <a:t>算</a:t>
            </a:r>
            <a:r>
              <a:rPr sz="2900" dirty="0">
                <a:latin typeface="华文新魏"/>
                <a:cs typeface="华文新魏"/>
              </a:rPr>
              <a:t>方法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8594" y="644204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25" y="1268729"/>
            <a:ext cx="2178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740" y="2517648"/>
            <a:ext cx="3980815" cy="2077720"/>
          </a:xfrm>
          <a:custGeom>
            <a:avLst/>
            <a:gdLst/>
            <a:ahLst/>
            <a:cxnLst/>
            <a:rect l="l" t="t" r="r" b="b"/>
            <a:pathLst>
              <a:path w="3980815" h="2077720">
                <a:moveTo>
                  <a:pt x="3634486" y="0"/>
                </a:moveTo>
                <a:lnTo>
                  <a:pt x="346202" y="0"/>
                </a:lnTo>
                <a:lnTo>
                  <a:pt x="299225" y="3159"/>
                </a:lnTo>
                <a:lnTo>
                  <a:pt x="254169" y="12362"/>
                </a:lnTo>
                <a:lnTo>
                  <a:pt x="211446" y="27197"/>
                </a:lnTo>
                <a:lnTo>
                  <a:pt x="171468" y="47253"/>
                </a:lnTo>
                <a:lnTo>
                  <a:pt x="134649" y="72117"/>
                </a:lnTo>
                <a:lnTo>
                  <a:pt x="101401" y="101377"/>
                </a:lnTo>
                <a:lnTo>
                  <a:pt x="72136" y="134622"/>
                </a:lnTo>
                <a:lnTo>
                  <a:pt x="47267" y="171440"/>
                </a:lnTo>
                <a:lnTo>
                  <a:pt x="27206" y="211419"/>
                </a:lnTo>
                <a:lnTo>
                  <a:pt x="12366" y="254146"/>
                </a:lnTo>
                <a:lnTo>
                  <a:pt x="3160" y="299211"/>
                </a:lnTo>
                <a:lnTo>
                  <a:pt x="0" y="346201"/>
                </a:lnTo>
                <a:lnTo>
                  <a:pt x="0" y="1731009"/>
                </a:lnTo>
                <a:lnTo>
                  <a:pt x="3160" y="1778000"/>
                </a:lnTo>
                <a:lnTo>
                  <a:pt x="12366" y="1823065"/>
                </a:lnTo>
                <a:lnTo>
                  <a:pt x="27206" y="1865792"/>
                </a:lnTo>
                <a:lnTo>
                  <a:pt x="47267" y="1905771"/>
                </a:lnTo>
                <a:lnTo>
                  <a:pt x="72136" y="1942589"/>
                </a:lnTo>
                <a:lnTo>
                  <a:pt x="101401" y="1975834"/>
                </a:lnTo>
                <a:lnTo>
                  <a:pt x="134649" y="2005094"/>
                </a:lnTo>
                <a:lnTo>
                  <a:pt x="171468" y="2029958"/>
                </a:lnTo>
                <a:lnTo>
                  <a:pt x="211446" y="2050014"/>
                </a:lnTo>
                <a:lnTo>
                  <a:pt x="254169" y="2064849"/>
                </a:lnTo>
                <a:lnTo>
                  <a:pt x="299225" y="2074052"/>
                </a:lnTo>
                <a:lnTo>
                  <a:pt x="346202" y="2077212"/>
                </a:lnTo>
                <a:lnTo>
                  <a:pt x="3634486" y="2077212"/>
                </a:lnTo>
                <a:lnTo>
                  <a:pt x="3681476" y="2074052"/>
                </a:lnTo>
                <a:lnTo>
                  <a:pt x="3726541" y="2064849"/>
                </a:lnTo>
                <a:lnTo>
                  <a:pt x="3769268" y="2050014"/>
                </a:lnTo>
                <a:lnTo>
                  <a:pt x="3809247" y="2029958"/>
                </a:lnTo>
                <a:lnTo>
                  <a:pt x="3846065" y="2005094"/>
                </a:lnTo>
                <a:lnTo>
                  <a:pt x="3879310" y="1975834"/>
                </a:lnTo>
                <a:lnTo>
                  <a:pt x="3908570" y="1942589"/>
                </a:lnTo>
                <a:lnTo>
                  <a:pt x="3933434" y="1905771"/>
                </a:lnTo>
                <a:lnTo>
                  <a:pt x="3953490" y="1865792"/>
                </a:lnTo>
                <a:lnTo>
                  <a:pt x="3968325" y="1823065"/>
                </a:lnTo>
                <a:lnTo>
                  <a:pt x="3977528" y="1778000"/>
                </a:lnTo>
                <a:lnTo>
                  <a:pt x="3980688" y="1731009"/>
                </a:lnTo>
                <a:lnTo>
                  <a:pt x="3980688" y="346201"/>
                </a:lnTo>
                <a:lnTo>
                  <a:pt x="3977528" y="299211"/>
                </a:lnTo>
                <a:lnTo>
                  <a:pt x="3968325" y="254146"/>
                </a:lnTo>
                <a:lnTo>
                  <a:pt x="3953490" y="211419"/>
                </a:lnTo>
                <a:lnTo>
                  <a:pt x="3933434" y="171440"/>
                </a:lnTo>
                <a:lnTo>
                  <a:pt x="3908570" y="134622"/>
                </a:lnTo>
                <a:lnTo>
                  <a:pt x="3879310" y="101377"/>
                </a:lnTo>
                <a:lnTo>
                  <a:pt x="3846065" y="72117"/>
                </a:lnTo>
                <a:lnTo>
                  <a:pt x="3809247" y="47253"/>
                </a:lnTo>
                <a:lnTo>
                  <a:pt x="3769268" y="27197"/>
                </a:lnTo>
                <a:lnTo>
                  <a:pt x="3726541" y="12362"/>
                </a:lnTo>
                <a:lnTo>
                  <a:pt x="3681476" y="3159"/>
                </a:lnTo>
                <a:lnTo>
                  <a:pt x="3634486" y="0"/>
                </a:lnTo>
                <a:close/>
              </a:path>
            </a:pathLst>
          </a:custGeom>
          <a:solidFill>
            <a:srgbClr val="F7B6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268" y="2584704"/>
            <a:ext cx="3915410" cy="897890"/>
          </a:xfrm>
          <a:custGeom>
            <a:avLst/>
            <a:gdLst/>
            <a:ahLst/>
            <a:cxnLst/>
            <a:rect l="l" t="t" r="r" b="b"/>
            <a:pathLst>
              <a:path w="3915410" h="897889">
                <a:moveTo>
                  <a:pt x="0" y="897636"/>
                </a:moveTo>
                <a:lnTo>
                  <a:pt x="3915155" y="897636"/>
                </a:lnTo>
                <a:lnTo>
                  <a:pt x="3915155" y="0"/>
                </a:lnTo>
                <a:lnTo>
                  <a:pt x="0" y="0"/>
                </a:lnTo>
                <a:lnTo>
                  <a:pt x="0" y="897636"/>
                </a:lnTo>
                <a:close/>
              </a:path>
            </a:pathLst>
          </a:custGeom>
          <a:solidFill>
            <a:srgbClr val="F7B6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0601" y="2587694"/>
            <a:ext cx="3896043" cy="8375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57392" y="3201472"/>
            <a:ext cx="1835150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30"/>
              </a:lnSpc>
            </a:pPr>
            <a:r>
              <a:rPr sz="2400" spc="-5" dirty="0">
                <a:solidFill>
                  <a:srgbClr val="FDFFFF"/>
                </a:solidFill>
                <a:latin typeface="Arial Narrow"/>
                <a:cs typeface="Arial Narrow"/>
              </a:rPr>
              <a:t>Click to add</a:t>
            </a:r>
            <a:r>
              <a:rPr sz="2400" spc="-60" dirty="0">
                <a:solidFill>
                  <a:srgbClr val="FDFFFF"/>
                </a:solidFill>
                <a:latin typeface="Arial Narrow"/>
                <a:cs typeface="Arial Narrow"/>
              </a:rPr>
              <a:t> Text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0996" y="2788920"/>
            <a:ext cx="2927985" cy="462280"/>
          </a:xfrm>
          <a:custGeom>
            <a:avLst/>
            <a:gdLst/>
            <a:ahLst/>
            <a:cxnLst/>
            <a:rect l="l" t="t" r="r" b="b"/>
            <a:pathLst>
              <a:path w="2927985" h="462279">
                <a:moveTo>
                  <a:pt x="0" y="461772"/>
                </a:moveTo>
                <a:lnTo>
                  <a:pt x="2927604" y="461772"/>
                </a:lnTo>
                <a:lnTo>
                  <a:pt x="2927604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59735" y="5221223"/>
            <a:ext cx="4692650" cy="944880"/>
          </a:xfrm>
          <a:custGeom>
            <a:avLst/>
            <a:gdLst/>
            <a:ahLst/>
            <a:cxnLst/>
            <a:rect l="l" t="t" r="r" b="b"/>
            <a:pathLst>
              <a:path w="4692650" h="944879">
                <a:moveTo>
                  <a:pt x="4415663" y="0"/>
                </a:moveTo>
                <a:lnTo>
                  <a:pt x="276732" y="0"/>
                </a:lnTo>
                <a:lnTo>
                  <a:pt x="0" y="276732"/>
                </a:lnTo>
                <a:lnTo>
                  <a:pt x="0" y="668159"/>
                </a:lnTo>
                <a:lnTo>
                  <a:pt x="276732" y="944880"/>
                </a:lnTo>
                <a:lnTo>
                  <a:pt x="4415663" y="944880"/>
                </a:lnTo>
                <a:lnTo>
                  <a:pt x="4692395" y="668159"/>
                </a:lnTo>
                <a:lnTo>
                  <a:pt x="4692395" y="276732"/>
                </a:lnTo>
                <a:lnTo>
                  <a:pt x="441566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66770" y="5445048"/>
            <a:ext cx="3937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黑体"/>
                <a:cs typeface="黑体"/>
              </a:rPr>
              <a:t>估</a:t>
            </a:r>
            <a:r>
              <a:rPr sz="2800" spc="-5" dirty="0">
                <a:latin typeface="黑体"/>
                <a:cs typeface="黑体"/>
              </a:rPr>
              <a:t>算结</a:t>
            </a:r>
            <a:r>
              <a:rPr sz="2800" spc="-10" dirty="0">
                <a:latin typeface="黑体"/>
                <a:cs typeface="黑体"/>
              </a:rPr>
              <a:t>果</a:t>
            </a:r>
            <a:r>
              <a:rPr sz="2800" spc="-5" dirty="0">
                <a:latin typeface="黑体"/>
                <a:cs typeface="黑体"/>
              </a:rPr>
              <a:t>=（6+7）/2=6.5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824" y="3860291"/>
            <a:ext cx="2927985" cy="4622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  <a:tabLst>
                <a:tab pos="1311275" algn="l"/>
                <a:tab pos="1616075" algn="l"/>
              </a:tabLst>
            </a:pPr>
            <a:r>
              <a:rPr sz="2400" dirty="0">
                <a:latin typeface="黑体"/>
                <a:cs typeface="黑体"/>
              </a:rPr>
              <a:t>（1+9+4	*	8</a:t>
            </a:r>
            <a:r>
              <a:rPr sz="2400" spc="-65" dirty="0">
                <a:latin typeface="黑体"/>
                <a:cs typeface="黑体"/>
              </a:rPr>
              <a:t> </a:t>
            </a:r>
            <a:r>
              <a:rPr sz="2400" dirty="0">
                <a:latin typeface="黑体"/>
                <a:cs typeface="黑体"/>
              </a:rPr>
              <a:t>）/6=7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76322" y="3251453"/>
            <a:ext cx="563880" cy="609600"/>
          </a:xfrm>
          <a:custGeom>
            <a:avLst/>
            <a:gdLst/>
            <a:ahLst/>
            <a:cxnLst/>
            <a:rect l="l" t="t" r="r" b="b"/>
            <a:pathLst>
              <a:path w="563880" h="609600">
                <a:moveTo>
                  <a:pt x="563879" y="327660"/>
                </a:moveTo>
                <a:lnTo>
                  <a:pt x="0" y="327660"/>
                </a:lnTo>
                <a:lnTo>
                  <a:pt x="281939" y="609600"/>
                </a:lnTo>
                <a:lnTo>
                  <a:pt x="563879" y="327660"/>
                </a:lnTo>
                <a:close/>
              </a:path>
              <a:path w="563880" h="609600">
                <a:moveTo>
                  <a:pt x="422909" y="0"/>
                </a:moveTo>
                <a:lnTo>
                  <a:pt x="140969" y="0"/>
                </a:lnTo>
                <a:lnTo>
                  <a:pt x="140969" y="327660"/>
                </a:lnTo>
                <a:lnTo>
                  <a:pt x="422909" y="327660"/>
                </a:lnTo>
                <a:lnTo>
                  <a:pt x="42290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6322" y="3251453"/>
            <a:ext cx="563880" cy="609600"/>
          </a:xfrm>
          <a:custGeom>
            <a:avLst/>
            <a:gdLst/>
            <a:ahLst/>
            <a:cxnLst/>
            <a:rect l="l" t="t" r="r" b="b"/>
            <a:pathLst>
              <a:path w="563880" h="609600">
                <a:moveTo>
                  <a:pt x="0" y="327660"/>
                </a:moveTo>
                <a:lnTo>
                  <a:pt x="140969" y="327660"/>
                </a:lnTo>
                <a:lnTo>
                  <a:pt x="140969" y="0"/>
                </a:lnTo>
                <a:lnTo>
                  <a:pt x="422909" y="0"/>
                </a:lnTo>
                <a:lnTo>
                  <a:pt x="422909" y="327660"/>
                </a:lnTo>
                <a:lnTo>
                  <a:pt x="563879" y="327660"/>
                </a:lnTo>
                <a:lnTo>
                  <a:pt x="281939" y="609600"/>
                </a:lnTo>
                <a:lnTo>
                  <a:pt x="0" y="327660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62500" y="2505455"/>
            <a:ext cx="3979545" cy="2075814"/>
          </a:xfrm>
          <a:custGeom>
            <a:avLst/>
            <a:gdLst/>
            <a:ahLst/>
            <a:cxnLst/>
            <a:rect l="l" t="t" r="r" b="b"/>
            <a:pathLst>
              <a:path w="3979545" h="2075814">
                <a:moveTo>
                  <a:pt x="3633216" y="0"/>
                </a:moveTo>
                <a:lnTo>
                  <a:pt x="345948" y="0"/>
                </a:lnTo>
                <a:lnTo>
                  <a:pt x="299016" y="3159"/>
                </a:lnTo>
                <a:lnTo>
                  <a:pt x="253999" y="12361"/>
                </a:lnTo>
                <a:lnTo>
                  <a:pt x="211312" y="27193"/>
                </a:lnTo>
                <a:lnTo>
                  <a:pt x="171365" y="47244"/>
                </a:lnTo>
                <a:lnTo>
                  <a:pt x="134572" y="72098"/>
                </a:lnTo>
                <a:lnTo>
                  <a:pt x="101345" y="101346"/>
                </a:lnTo>
                <a:lnTo>
                  <a:pt x="72098" y="134572"/>
                </a:lnTo>
                <a:lnTo>
                  <a:pt x="47243" y="171365"/>
                </a:lnTo>
                <a:lnTo>
                  <a:pt x="27193" y="211312"/>
                </a:lnTo>
                <a:lnTo>
                  <a:pt x="12361" y="254000"/>
                </a:lnTo>
                <a:lnTo>
                  <a:pt x="3159" y="299016"/>
                </a:lnTo>
                <a:lnTo>
                  <a:pt x="0" y="345948"/>
                </a:lnTo>
                <a:lnTo>
                  <a:pt x="0" y="1729740"/>
                </a:lnTo>
                <a:lnTo>
                  <a:pt x="3159" y="1776671"/>
                </a:lnTo>
                <a:lnTo>
                  <a:pt x="12361" y="1821688"/>
                </a:lnTo>
                <a:lnTo>
                  <a:pt x="27193" y="1864375"/>
                </a:lnTo>
                <a:lnTo>
                  <a:pt x="47244" y="1904322"/>
                </a:lnTo>
                <a:lnTo>
                  <a:pt x="72098" y="1941115"/>
                </a:lnTo>
                <a:lnTo>
                  <a:pt x="101346" y="1974342"/>
                </a:lnTo>
                <a:lnTo>
                  <a:pt x="134572" y="2003589"/>
                </a:lnTo>
                <a:lnTo>
                  <a:pt x="171365" y="2028444"/>
                </a:lnTo>
                <a:lnTo>
                  <a:pt x="211312" y="2048494"/>
                </a:lnTo>
                <a:lnTo>
                  <a:pt x="254000" y="2063326"/>
                </a:lnTo>
                <a:lnTo>
                  <a:pt x="299016" y="2072528"/>
                </a:lnTo>
                <a:lnTo>
                  <a:pt x="345948" y="2075688"/>
                </a:lnTo>
                <a:lnTo>
                  <a:pt x="3633216" y="2075688"/>
                </a:lnTo>
                <a:lnTo>
                  <a:pt x="3680147" y="2072528"/>
                </a:lnTo>
                <a:lnTo>
                  <a:pt x="3725164" y="2063326"/>
                </a:lnTo>
                <a:lnTo>
                  <a:pt x="3767851" y="2048494"/>
                </a:lnTo>
                <a:lnTo>
                  <a:pt x="3807798" y="2028444"/>
                </a:lnTo>
                <a:lnTo>
                  <a:pt x="3844591" y="2003589"/>
                </a:lnTo>
                <a:lnTo>
                  <a:pt x="3877818" y="1974342"/>
                </a:lnTo>
                <a:lnTo>
                  <a:pt x="3907065" y="1941115"/>
                </a:lnTo>
                <a:lnTo>
                  <a:pt x="3931920" y="1904322"/>
                </a:lnTo>
                <a:lnTo>
                  <a:pt x="3951970" y="1864375"/>
                </a:lnTo>
                <a:lnTo>
                  <a:pt x="3966802" y="1821688"/>
                </a:lnTo>
                <a:lnTo>
                  <a:pt x="3976004" y="1776671"/>
                </a:lnTo>
                <a:lnTo>
                  <a:pt x="3979164" y="1729740"/>
                </a:lnTo>
                <a:lnTo>
                  <a:pt x="3979164" y="345948"/>
                </a:lnTo>
                <a:lnTo>
                  <a:pt x="3976004" y="299016"/>
                </a:lnTo>
                <a:lnTo>
                  <a:pt x="3966802" y="254000"/>
                </a:lnTo>
                <a:lnTo>
                  <a:pt x="3951970" y="211312"/>
                </a:lnTo>
                <a:lnTo>
                  <a:pt x="3931920" y="171365"/>
                </a:lnTo>
                <a:lnTo>
                  <a:pt x="3907065" y="134572"/>
                </a:lnTo>
                <a:lnTo>
                  <a:pt x="3877818" y="101346"/>
                </a:lnTo>
                <a:lnTo>
                  <a:pt x="3844591" y="72098"/>
                </a:lnTo>
                <a:lnTo>
                  <a:pt x="3807798" y="47244"/>
                </a:lnTo>
                <a:lnTo>
                  <a:pt x="3767851" y="27193"/>
                </a:lnTo>
                <a:lnTo>
                  <a:pt x="3725164" y="12361"/>
                </a:lnTo>
                <a:lnTo>
                  <a:pt x="3680147" y="3159"/>
                </a:lnTo>
                <a:lnTo>
                  <a:pt x="3633216" y="0"/>
                </a:lnTo>
                <a:close/>
              </a:path>
            </a:pathLst>
          </a:custGeom>
          <a:solidFill>
            <a:srgbClr val="F7B6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96028" y="2572511"/>
            <a:ext cx="3915410" cy="897890"/>
          </a:xfrm>
          <a:custGeom>
            <a:avLst/>
            <a:gdLst/>
            <a:ahLst/>
            <a:cxnLst/>
            <a:rect l="l" t="t" r="r" b="b"/>
            <a:pathLst>
              <a:path w="3915409" h="897889">
                <a:moveTo>
                  <a:pt x="0" y="897636"/>
                </a:moveTo>
                <a:lnTo>
                  <a:pt x="3915155" y="897636"/>
                </a:lnTo>
                <a:lnTo>
                  <a:pt x="3915155" y="0"/>
                </a:lnTo>
                <a:lnTo>
                  <a:pt x="0" y="0"/>
                </a:lnTo>
                <a:lnTo>
                  <a:pt x="0" y="897636"/>
                </a:lnTo>
                <a:close/>
              </a:path>
            </a:pathLst>
          </a:custGeom>
          <a:solidFill>
            <a:srgbClr val="F7B6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97360" y="2575503"/>
            <a:ext cx="3896043" cy="8375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05628" y="2788920"/>
            <a:ext cx="2927985" cy="462280"/>
          </a:xfrm>
          <a:custGeom>
            <a:avLst/>
            <a:gdLst/>
            <a:ahLst/>
            <a:cxnLst/>
            <a:rect l="l" t="t" r="r" b="b"/>
            <a:pathLst>
              <a:path w="2927984" h="462279">
                <a:moveTo>
                  <a:pt x="0" y="461772"/>
                </a:moveTo>
                <a:lnTo>
                  <a:pt x="2927604" y="461772"/>
                </a:lnTo>
                <a:lnTo>
                  <a:pt x="2927604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554979" y="3860291"/>
            <a:ext cx="2927985" cy="4622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335"/>
              </a:spcBef>
            </a:pPr>
            <a:r>
              <a:rPr sz="2400" dirty="0">
                <a:latin typeface="黑体"/>
                <a:cs typeface="黑体"/>
              </a:rPr>
              <a:t>（4+8+4*6）/6=6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69430" y="3251453"/>
            <a:ext cx="565785" cy="609600"/>
          </a:xfrm>
          <a:custGeom>
            <a:avLst/>
            <a:gdLst/>
            <a:ahLst/>
            <a:cxnLst/>
            <a:rect l="l" t="t" r="r" b="b"/>
            <a:pathLst>
              <a:path w="565784" h="609600">
                <a:moveTo>
                  <a:pt x="565403" y="326898"/>
                </a:moveTo>
                <a:lnTo>
                  <a:pt x="0" y="326898"/>
                </a:lnTo>
                <a:lnTo>
                  <a:pt x="282701" y="609600"/>
                </a:lnTo>
                <a:lnTo>
                  <a:pt x="565403" y="326898"/>
                </a:lnTo>
                <a:close/>
              </a:path>
              <a:path w="565784" h="609600">
                <a:moveTo>
                  <a:pt x="424052" y="0"/>
                </a:moveTo>
                <a:lnTo>
                  <a:pt x="141350" y="0"/>
                </a:lnTo>
                <a:lnTo>
                  <a:pt x="141350" y="326898"/>
                </a:lnTo>
                <a:lnTo>
                  <a:pt x="424052" y="326898"/>
                </a:lnTo>
                <a:lnTo>
                  <a:pt x="424052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69430" y="3251453"/>
            <a:ext cx="565785" cy="609600"/>
          </a:xfrm>
          <a:custGeom>
            <a:avLst/>
            <a:gdLst/>
            <a:ahLst/>
            <a:cxnLst/>
            <a:rect l="l" t="t" r="r" b="b"/>
            <a:pathLst>
              <a:path w="565784" h="609600">
                <a:moveTo>
                  <a:pt x="0" y="326898"/>
                </a:moveTo>
                <a:lnTo>
                  <a:pt x="141350" y="326898"/>
                </a:lnTo>
                <a:lnTo>
                  <a:pt x="141350" y="0"/>
                </a:lnTo>
                <a:lnTo>
                  <a:pt x="424052" y="0"/>
                </a:lnTo>
                <a:lnTo>
                  <a:pt x="424052" y="326898"/>
                </a:lnTo>
                <a:lnTo>
                  <a:pt x="565403" y="326898"/>
                </a:lnTo>
                <a:lnTo>
                  <a:pt x="282701" y="609600"/>
                </a:lnTo>
                <a:lnTo>
                  <a:pt x="0" y="326898"/>
                </a:lnTo>
                <a:close/>
              </a:path>
            </a:pathLst>
          </a:custGeom>
          <a:ln w="19811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88157" y="4791328"/>
            <a:ext cx="777240" cy="426720"/>
          </a:xfrm>
          <a:custGeom>
            <a:avLst/>
            <a:gdLst/>
            <a:ahLst/>
            <a:cxnLst/>
            <a:rect l="l" t="t" r="r" b="b"/>
            <a:pathLst>
              <a:path w="777239" h="426720">
                <a:moveTo>
                  <a:pt x="0" y="0"/>
                </a:moveTo>
                <a:lnTo>
                  <a:pt x="0" y="156591"/>
                </a:lnTo>
                <a:lnTo>
                  <a:pt x="3912" y="176297"/>
                </a:lnTo>
                <a:lnTo>
                  <a:pt x="34176" y="214107"/>
                </a:lnTo>
                <a:lnTo>
                  <a:pt x="92066" y="249071"/>
                </a:lnTo>
                <a:lnTo>
                  <a:pt x="130511" y="265219"/>
                </a:lnTo>
                <a:lnTo>
                  <a:pt x="174831" y="280336"/>
                </a:lnTo>
                <a:lnTo>
                  <a:pt x="224681" y="294316"/>
                </a:lnTo>
                <a:lnTo>
                  <a:pt x="279717" y="307053"/>
                </a:lnTo>
                <a:lnTo>
                  <a:pt x="339595" y="318440"/>
                </a:lnTo>
                <a:lnTo>
                  <a:pt x="403971" y="328370"/>
                </a:lnTo>
                <a:lnTo>
                  <a:pt x="472502" y="336738"/>
                </a:lnTo>
                <a:lnTo>
                  <a:pt x="544842" y="343437"/>
                </a:lnTo>
                <a:lnTo>
                  <a:pt x="620649" y="348361"/>
                </a:lnTo>
                <a:lnTo>
                  <a:pt x="620649" y="426593"/>
                </a:lnTo>
                <a:lnTo>
                  <a:pt x="777240" y="274066"/>
                </a:lnTo>
                <a:lnTo>
                  <a:pt x="697025" y="191770"/>
                </a:lnTo>
                <a:lnTo>
                  <a:pt x="620649" y="191770"/>
                </a:lnTo>
                <a:lnTo>
                  <a:pt x="544842" y="186846"/>
                </a:lnTo>
                <a:lnTo>
                  <a:pt x="472502" y="180147"/>
                </a:lnTo>
                <a:lnTo>
                  <a:pt x="403971" y="171779"/>
                </a:lnTo>
                <a:lnTo>
                  <a:pt x="339595" y="161849"/>
                </a:lnTo>
                <a:lnTo>
                  <a:pt x="279717" y="150462"/>
                </a:lnTo>
                <a:lnTo>
                  <a:pt x="224681" y="137725"/>
                </a:lnTo>
                <a:lnTo>
                  <a:pt x="174831" y="123745"/>
                </a:lnTo>
                <a:lnTo>
                  <a:pt x="130511" y="108628"/>
                </a:lnTo>
                <a:lnTo>
                  <a:pt x="92066" y="92480"/>
                </a:lnTo>
                <a:lnTo>
                  <a:pt x="34176" y="57516"/>
                </a:lnTo>
                <a:lnTo>
                  <a:pt x="3912" y="19706"/>
                </a:lnTo>
                <a:lnTo>
                  <a:pt x="0" y="0"/>
                </a:lnTo>
                <a:close/>
              </a:path>
              <a:path w="777239" h="426720">
                <a:moveTo>
                  <a:pt x="620649" y="113411"/>
                </a:moveTo>
                <a:lnTo>
                  <a:pt x="620649" y="191770"/>
                </a:lnTo>
                <a:lnTo>
                  <a:pt x="697025" y="191770"/>
                </a:lnTo>
                <a:lnTo>
                  <a:pt x="620649" y="113411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88015" y="4595621"/>
            <a:ext cx="777875" cy="274320"/>
          </a:xfrm>
          <a:custGeom>
            <a:avLst/>
            <a:gdLst/>
            <a:ahLst/>
            <a:cxnLst/>
            <a:rect l="l" t="t" r="r" b="b"/>
            <a:pathLst>
              <a:path w="777875" h="274320">
                <a:moveTo>
                  <a:pt x="777382" y="0"/>
                </a:moveTo>
                <a:lnTo>
                  <a:pt x="724032" y="463"/>
                </a:lnTo>
                <a:lnTo>
                  <a:pt x="671041" y="1848"/>
                </a:lnTo>
                <a:lnTo>
                  <a:pt x="618601" y="4143"/>
                </a:lnTo>
                <a:lnTo>
                  <a:pt x="566901" y="7337"/>
                </a:lnTo>
                <a:lnTo>
                  <a:pt x="516133" y="11421"/>
                </a:lnTo>
                <a:lnTo>
                  <a:pt x="466486" y="16382"/>
                </a:lnTo>
                <a:lnTo>
                  <a:pt x="395254" y="25304"/>
                </a:lnTo>
                <a:lnTo>
                  <a:pt x="329232" y="35789"/>
                </a:lnTo>
                <a:lnTo>
                  <a:pt x="268623" y="47708"/>
                </a:lnTo>
                <a:lnTo>
                  <a:pt x="213629" y="60932"/>
                </a:lnTo>
                <a:lnTo>
                  <a:pt x="164451" y="75329"/>
                </a:lnTo>
                <a:lnTo>
                  <a:pt x="121291" y="90771"/>
                </a:lnTo>
                <a:lnTo>
                  <a:pt x="84351" y="107128"/>
                </a:lnTo>
                <a:lnTo>
                  <a:pt x="29935" y="142065"/>
                </a:lnTo>
                <a:lnTo>
                  <a:pt x="2817" y="179102"/>
                </a:lnTo>
                <a:lnTo>
                  <a:pt x="0" y="198084"/>
                </a:lnTo>
                <a:lnTo>
                  <a:pt x="4611" y="217201"/>
                </a:lnTo>
                <a:lnTo>
                  <a:pt x="16854" y="236323"/>
                </a:lnTo>
                <a:lnTo>
                  <a:pt x="36929" y="255321"/>
                </a:lnTo>
                <a:lnTo>
                  <a:pt x="65039" y="274065"/>
                </a:lnTo>
                <a:lnTo>
                  <a:pt x="93864" y="259165"/>
                </a:lnTo>
                <a:lnTo>
                  <a:pt x="127192" y="245085"/>
                </a:lnTo>
                <a:lnTo>
                  <a:pt x="164747" y="231869"/>
                </a:lnTo>
                <a:lnTo>
                  <a:pt x="206251" y="219563"/>
                </a:lnTo>
                <a:lnTo>
                  <a:pt x="251426" y="208213"/>
                </a:lnTo>
                <a:lnTo>
                  <a:pt x="299994" y="197864"/>
                </a:lnTo>
                <a:lnTo>
                  <a:pt x="351678" y="188563"/>
                </a:lnTo>
                <a:lnTo>
                  <a:pt x="406201" y="180354"/>
                </a:lnTo>
                <a:lnTo>
                  <a:pt x="463283" y="173282"/>
                </a:lnTo>
                <a:lnTo>
                  <a:pt x="522649" y="167395"/>
                </a:lnTo>
                <a:lnTo>
                  <a:pt x="584019" y="162736"/>
                </a:lnTo>
                <a:lnTo>
                  <a:pt x="647116" y="159352"/>
                </a:lnTo>
                <a:lnTo>
                  <a:pt x="711663" y="157289"/>
                </a:lnTo>
                <a:lnTo>
                  <a:pt x="777382" y="156590"/>
                </a:lnTo>
                <a:lnTo>
                  <a:pt x="777382" y="0"/>
                </a:lnTo>
                <a:close/>
              </a:path>
            </a:pathLst>
          </a:custGeom>
          <a:solidFill>
            <a:srgbClr val="7792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88157" y="4595621"/>
            <a:ext cx="777240" cy="622300"/>
          </a:xfrm>
          <a:custGeom>
            <a:avLst/>
            <a:gdLst/>
            <a:ahLst/>
            <a:cxnLst/>
            <a:rect l="l" t="t" r="r" b="b"/>
            <a:pathLst>
              <a:path w="777239" h="622300">
                <a:moveTo>
                  <a:pt x="0" y="195706"/>
                </a:moveTo>
                <a:lnTo>
                  <a:pt x="15418" y="234621"/>
                </a:lnTo>
                <a:lnTo>
                  <a:pt x="59840" y="271114"/>
                </a:lnTo>
                <a:lnTo>
                  <a:pt x="130511" y="304335"/>
                </a:lnTo>
                <a:lnTo>
                  <a:pt x="174831" y="319452"/>
                </a:lnTo>
                <a:lnTo>
                  <a:pt x="224681" y="333432"/>
                </a:lnTo>
                <a:lnTo>
                  <a:pt x="279717" y="346169"/>
                </a:lnTo>
                <a:lnTo>
                  <a:pt x="339595" y="357556"/>
                </a:lnTo>
                <a:lnTo>
                  <a:pt x="403971" y="367486"/>
                </a:lnTo>
                <a:lnTo>
                  <a:pt x="472502" y="375854"/>
                </a:lnTo>
                <a:lnTo>
                  <a:pt x="544842" y="382553"/>
                </a:lnTo>
                <a:lnTo>
                  <a:pt x="620649" y="387476"/>
                </a:lnTo>
                <a:lnTo>
                  <a:pt x="620649" y="309117"/>
                </a:lnTo>
                <a:lnTo>
                  <a:pt x="777240" y="469772"/>
                </a:lnTo>
                <a:lnTo>
                  <a:pt x="620649" y="622300"/>
                </a:lnTo>
                <a:lnTo>
                  <a:pt x="620649" y="544067"/>
                </a:lnTo>
                <a:lnTo>
                  <a:pt x="544842" y="539144"/>
                </a:lnTo>
                <a:lnTo>
                  <a:pt x="472502" y="532445"/>
                </a:lnTo>
                <a:lnTo>
                  <a:pt x="403971" y="524077"/>
                </a:lnTo>
                <a:lnTo>
                  <a:pt x="339595" y="514147"/>
                </a:lnTo>
                <a:lnTo>
                  <a:pt x="279717" y="502760"/>
                </a:lnTo>
                <a:lnTo>
                  <a:pt x="224681" y="490023"/>
                </a:lnTo>
                <a:lnTo>
                  <a:pt x="174831" y="476043"/>
                </a:lnTo>
                <a:lnTo>
                  <a:pt x="130511" y="460926"/>
                </a:lnTo>
                <a:lnTo>
                  <a:pt x="92066" y="444778"/>
                </a:lnTo>
                <a:lnTo>
                  <a:pt x="34176" y="409814"/>
                </a:lnTo>
                <a:lnTo>
                  <a:pt x="3912" y="372004"/>
                </a:lnTo>
                <a:lnTo>
                  <a:pt x="0" y="352297"/>
                </a:lnTo>
                <a:lnTo>
                  <a:pt x="0" y="195706"/>
                </a:lnTo>
                <a:lnTo>
                  <a:pt x="27763" y="143683"/>
                </a:lnTo>
                <a:lnTo>
                  <a:pt x="74834" y="111815"/>
                </a:lnTo>
                <a:lnTo>
                  <a:pt x="142194" y="82845"/>
                </a:lnTo>
                <a:lnTo>
                  <a:pt x="182796" y="69619"/>
                </a:lnTo>
                <a:lnTo>
                  <a:pt x="227647" y="57324"/>
                </a:lnTo>
                <a:lnTo>
                  <a:pt x="276473" y="46030"/>
                </a:lnTo>
                <a:lnTo>
                  <a:pt x="328999" y="35806"/>
                </a:lnTo>
                <a:lnTo>
                  <a:pt x="384951" y="26721"/>
                </a:lnTo>
                <a:lnTo>
                  <a:pt x="444054" y="18844"/>
                </a:lnTo>
                <a:lnTo>
                  <a:pt x="506034" y="12244"/>
                </a:lnTo>
                <a:lnTo>
                  <a:pt x="570618" y="6991"/>
                </a:lnTo>
                <a:lnTo>
                  <a:pt x="637529" y="3153"/>
                </a:lnTo>
                <a:lnTo>
                  <a:pt x="706494" y="799"/>
                </a:lnTo>
                <a:lnTo>
                  <a:pt x="777240" y="0"/>
                </a:lnTo>
                <a:lnTo>
                  <a:pt x="777240" y="156590"/>
                </a:lnTo>
                <a:lnTo>
                  <a:pt x="711521" y="157289"/>
                </a:lnTo>
                <a:lnTo>
                  <a:pt x="646973" y="159352"/>
                </a:lnTo>
                <a:lnTo>
                  <a:pt x="583876" y="162736"/>
                </a:lnTo>
                <a:lnTo>
                  <a:pt x="522506" y="167395"/>
                </a:lnTo>
                <a:lnTo>
                  <a:pt x="463140" y="173282"/>
                </a:lnTo>
                <a:lnTo>
                  <a:pt x="406058" y="180354"/>
                </a:lnTo>
                <a:lnTo>
                  <a:pt x="351536" y="188563"/>
                </a:lnTo>
                <a:lnTo>
                  <a:pt x="299851" y="197864"/>
                </a:lnTo>
                <a:lnTo>
                  <a:pt x="251283" y="208213"/>
                </a:lnTo>
                <a:lnTo>
                  <a:pt x="206108" y="219563"/>
                </a:lnTo>
                <a:lnTo>
                  <a:pt x="164604" y="231869"/>
                </a:lnTo>
                <a:lnTo>
                  <a:pt x="127049" y="245085"/>
                </a:lnTo>
                <a:lnTo>
                  <a:pt x="93721" y="259165"/>
                </a:lnTo>
                <a:lnTo>
                  <a:pt x="64897" y="274065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24094" y="4905247"/>
            <a:ext cx="543560" cy="342265"/>
          </a:xfrm>
          <a:custGeom>
            <a:avLst/>
            <a:gdLst/>
            <a:ahLst/>
            <a:cxnLst/>
            <a:rect l="l" t="t" r="r" b="b"/>
            <a:pathLst>
              <a:path w="543560" h="342264">
                <a:moveTo>
                  <a:pt x="136016" y="69976"/>
                </a:moveTo>
                <a:lnTo>
                  <a:pt x="0" y="212725"/>
                </a:lnTo>
                <a:lnTo>
                  <a:pt x="136016" y="342010"/>
                </a:lnTo>
                <a:lnTo>
                  <a:pt x="136016" y="273938"/>
                </a:lnTo>
                <a:lnTo>
                  <a:pt x="155098" y="271922"/>
                </a:lnTo>
                <a:lnTo>
                  <a:pt x="242359" y="258546"/>
                </a:lnTo>
                <a:lnTo>
                  <a:pt x="304828" y="244330"/>
                </a:lnTo>
                <a:lnTo>
                  <a:pt x="360991" y="227296"/>
                </a:lnTo>
                <a:lnTo>
                  <a:pt x="410440" y="207762"/>
                </a:lnTo>
                <a:lnTo>
                  <a:pt x="452768" y="186050"/>
                </a:lnTo>
                <a:lnTo>
                  <a:pt x="487568" y="162480"/>
                </a:lnTo>
                <a:lnTo>
                  <a:pt x="513847" y="137921"/>
                </a:lnTo>
                <a:lnTo>
                  <a:pt x="136016" y="137921"/>
                </a:lnTo>
                <a:lnTo>
                  <a:pt x="136016" y="69976"/>
                </a:lnTo>
                <a:close/>
              </a:path>
              <a:path w="543560" h="342264">
                <a:moveTo>
                  <a:pt x="515492" y="0"/>
                </a:moveTo>
                <a:lnTo>
                  <a:pt x="456414" y="47750"/>
                </a:lnTo>
                <a:lnTo>
                  <a:pt x="416498" y="68832"/>
                </a:lnTo>
                <a:lnTo>
                  <a:pt x="370427" y="87772"/>
                </a:lnTo>
                <a:lnTo>
                  <a:pt x="318771" y="104362"/>
                </a:lnTo>
                <a:lnTo>
                  <a:pt x="262104" y="118389"/>
                </a:lnTo>
                <a:lnTo>
                  <a:pt x="200995" y="129646"/>
                </a:lnTo>
                <a:lnTo>
                  <a:pt x="136016" y="137921"/>
                </a:lnTo>
                <a:lnTo>
                  <a:pt x="513847" y="137921"/>
                </a:lnTo>
                <a:lnTo>
                  <a:pt x="514434" y="137373"/>
                </a:lnTo>
                <a:lnTo>
                  <a:pt x="532957" y="111049"/>
                </a:lnTo>
                <a:lnTo>
                  <a:pt x="542732" y="83829"/>
                </a:lnTo>
                <a:lnTo>
                  <a:pt x="543351" y="56034"/>
                </a:lnTo>
                <a:lnTo>
                  <a:pt x="534407" y="27984"/>
                </a:lnTo>
                <a:lnTo>
                  <a:pt x="515492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24094" y="4624578"/>
            <a:ext cx="544195" cy="349250"/>
          </a:xfrm>
          <a:custGeom>
            <a:avLst/>
            <a:gdLst/>
            <a:ahLst/>
            <a:cxnLst/>
            <a:rect l="l" t="t" r="r" b="b"/>
            <a:pathLst>
              <a:path w="544195" h="349250">
                <a:moveTo>
                  <a:pt x="0" y="0"/>
                </a:moveTo>
                <a:lnTo>
                  <a:pt x="0" y="136017"/>
                </a:lnTo>
                <a:lnTo>
                  <a:pt x="68247" y="137674"/>
                </a:lnTo>
                <a:lnTo>
                  <a:pt x="133964" y="142514"/>
                </a:lnTo>
                <a:lnTo>
                  <a:pt x="196641" y="150337"/>
                </a:lnTo>
                <a:lnTo>
                  <a:pt x="255769" y="160942"/>
                </a:lnTo>
                <a:lnTo>
                  <a:pt x="310838" y="174132"/>
                </a:lnTo>
                <a:lnTo>
                  <a:pt x="361337" y="189707"/>
                </a:lnTo>
                <a:lnTo>
                  <a:pt x="406758" y="207466"/>
                </a:lnTo>
                <a:lnTo>
                  <a:pt x="446589" y="227211"/>
                </a:lnTo>
                <a:lnTo>
                  <a:pt x="480322" y="248743"/>
                </a:lnTo>
                <a:lnTo>
                  <a:pt x="527451" y="296366"/>
                </a:lnTo>
                <a:lnTo>
                  <a:pt x="544067" y="348742"/>
                </a:lnTo>
                <a:lnTo>
                  <a:pt x="544067" y="212725"/>
                </a:lnTo>
                <a:lnTo>
                  <a:pt x="527451" y="160349"/>
                </a:lnTo>
                <a:lnTo>
                  <a:pt x="480322" y="112726"/>
                </a:lnTo>
                <a:lnTo>
                  <a:pt x="446589" y="91194"/>
                </a:lnTo>
                <a:lnTo>
                  <a:pt x="406758" y="71449"/>
                </a:lnTo>
                <a:lnTo>
                  <a:pt x="361337" y="53690"/>
                </a:lnTo>
                <a:lnTo>
                  <a:pt x="310838" y="38115"/>
                </a:lnTo>
                <a:lnTo>
                  <a:pt x="255769" y="24925"/>
                </a:lnTo>
                <a:lnTo>
                  <a:pt x="196641" y="14320"/>
                </a:lnTo>
                <a:lnTo>
                  <a:pt x="133964" y="6497"/>
                </a:lnTo>
                <a:lnTo>
                  <a:pt x="68247" y="1657"/>
                </a:lnTo>
                <a:lnTo>
                  <a:pt x="0" y="0"/>
                </a:lnTo>
                <a:close/>
              </a:path>
            </a:pathLst>
          </a:custGeom>
          <a:solidFill>
            <a:srgbClr val="7792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24094" y="4624578"/>
            <a:ext cx="544195" cy="622935"/>
          </a:xfrm>
          <a:custGeom>
            <a:avLst/>
            <a:gdLst/>
            <a:ahLst/>
            <a:cxnLst/>
            <a:rect l="l" t="t" r="r" b="b"/>
            <a:pathLst>
              <a:path w="544195" h="622935">
                <a:moveTo>
                  <a:pt x="544067" y="348742"/>
                </a:moveTo>
                <a:lnTo>
                  <a:pt x="527451" y="296366"/>
                </a:lnTo>
                <a:lnTo>
                  <a:pt x="480322" y="248743"/>
                </a:lnTo>
                <a:lnTo>
                  <a:pt x="446589" y="227211"/>
                </a:lnTo>
                <a:lnTo>
                  <a:pt x="406758" y="207466"/>
                </a:lnTo>
                <a:lnTo>
                  <a:pt x="361337" y="189707"/>
                </a:lnTo>
                <a:lnTo>
                  <a:pt x="310838" y="174132"/>
                </a:lnTo>
                <a:lnTo>
                  <a:pt x="255769" y="160942"/>
                </a:lnTo>
                <a:lnTo>
                  <a:pt x="196641" y="150337"/>
                </a:lnTo>
                <a:lnTo>
                  <a:pt x="133964" y="142514"/>
                </a:lnTo>
                <a:lnTo>
                  <a:pt x="68247" y="137674"/>
                </a:lnTo>
                <a:lnTo>
                  <a:pt x="0" y="136017"/>
                </a:lnTo>
                <a:lnTo>
                  <a:pt x="0" y="0"/>
                </a:lnTo>
                <a:lnTo>
                  <a:pt x="68247" y="1657"/>
                </a:lnTo>
                <a:lnTo>
                  <a:pt x="133964" y="6497"/>
                </a:lnTo>
                <a:lnTo>
                  <a:pt x="196641" y="14320"/>
                </a:lnTo>
                <a:lnTo>
                  <a:pt x="255769" y="24925"/>
                </a:lnTo>
                <a:lnTo>
                  <a:pt x="310838" y="38115"/>
                </a:lnTo>
                <a:lnTo>
                  <a:pt x="361337" y="53690"/>
                </a:lnTo>
                <a:lnTo>
                  <a:pt x="406758" y="71449"/>
                </a:lnTo>
                <a:lnTo>
                  <a:pt x="446589" y="91194"/>
                </a:lnTo>
                <a:lnTo>
                  <a:pt x="480322" y="112726"/>
                </a:lnTo>
                <a:lnTo>
                  <a:pt x="527451" y="160349"/>
                </a:lnTo>
                <a:lnTo>
                  <a:pt x="544067" y="212725"/>
                </a:lnTo>
                <a:lnTo>
                  <a:pt x="544067" y="348742"/>
                </a:lnTo>
                <a:lnTo>
                  <a:pt x="524685" y="405033"/>
                </a:lnTo>
                <a:lnTo>
                  <a:pt x="469599" y="456082"/>
                </a:lnTo>
                <a:lnTo>
                  <a:pt x="430101" y="478917"/>
                </a:lnTo>
                <a:lnTo>
                  <a:pt x="383398" y="499572"/>
                </a:lnTo>
                <a:lnTo>
                  <a:pt x="330065" y="517758"/>
                </a:lnTo>
                <a:lnTo>
                  <a:pt x="270674" y="533186"/>
                </a:lnTo>
                <a:lnTo>
                  <a:pt x="205800" y="545566"/>
                </a:lnTo>
                <a:lnTo>
                  <a:pt x="136016" y="554609"/>
                </a:lnTo>
                <a:lnTo>
                  <a:pt x="136016" y="622681"/>
                </a:lnTo>
                <a:lnTo>
                  <a:pt x="0" y="493395"/>
                </a:lnTo>
                <a:lnTo>
                  <a:pt x="136016" y="350647"/>
                </a:lnTo>
                <a:lnTo>
                  <a:pt x="136016" y="418592"/>
                </a:lnTo>
                <a:lnTo>
                  <a:pt x="200995" y="410316"/>
                </a:lnTo>
                <a:lnTo>
                  <a:pt x="262104" y="399059"/>
                </a:lnTo>
                <a:lnTo>
                  <a:pt x="318771" y="385032"/>
                </a:lnTo>
                <a:lnTo>
                  <a:pt x="370427" y="368442"/>
                </a:lnTo>
                <a:lnTo>
                  <a:pt x="416498" y="349502"/>
                </a:lnTo>
                <a:lnTo>
                  <a:pt x="456414" y="328420"/>
                </a:lnTo>
                <a:lnTo>
                  <a:pt x="489602" y="305405"/>
                </a:lnTo>
                <a:lnTo>
                  <a:pt x="515492" y="28067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</a:t>
            </a: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6373" y="190849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6711" y="1699260"/>
            <a:ext cx="504825" cy="72136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15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64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373" y="286734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6711" y="2657855"/>
            <a:ext cx="48196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7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6373" y="382810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6711" y="3617976"/>
            <a:ext cx="50482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6373" y="478885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6711" y="4578096"/>
            <a:ext cx="483234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60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1155" y="1699260"/>
            <a:ext cx="4628515" cy="72136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3675" rIns="0" bIns="0" rtlCol="0">
            <a:spAutoFit/>
          </a:bodyPr>
          <a:lstStyle/>
          <a:p>
            <a:pPr marR="231775" algn="ctr">
              <a:lnSpc>
                <a:spcPct val="100000"/>
              </a:lnSpc>
              <a:spcBef>
                <a:spcPts val="15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估算过程概念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8295" y="2657855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17804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714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1155" y="3617976"/>
            <a:ext cx="4628515" cy="7226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9431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5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敏捷估算方法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4578096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成本预算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8598" y="579713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8048" y="5586984"/>
            <a:ext cx="485140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2679" y="5586984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新魏"/>
                <a:cs typeface="华文新魏"/>
              </a:rPr>
              <a:t>敏捷估算思维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162" y="1701545"/>
            <a:ext cx="8153400" cy="201676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10845" indent="-321310">
              <a:lnSpc>
                <a:spcPct val="100000"/>
              </a:lnSpc>
              <a:spcBef>
                <a:spcPts val="13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采用轻量级估算方法快</a:t>
            </a:r>
            <a:r>
              <a:rPr sz="2900" spc="-15" dirty="0">
                <a:latin typeface="华文新魏"/>
                <a:cs typeface="华文新魏"/>
              </a:rPr>
              <a:t>速</a:t>
            </a:r>
            <a:r>
              <a:rPr sz="2900" dirty="0">
                <a:latin typeface="华文新魏"/>
                <a:cs typeface="华文新魏"/>
              </a:rPr>
              <a:t>生成</a:t>
            </a:r>
            <a:r>
              <a:rPr sz="2900" spc="-15" dirty="0">
                <a:latin typeface="华文新魏"/>
                <a:cs typeface="华文新魏"/>
              </a:rPr>
              <a:t>高</a:t>
            </a:r>
            <a:r>
              <a:rPr sz="2900" dirty="0">
                <a:latin typeface="华文新魏"/>
                <a:cs typeface="华文新魏"/>
              </a:rPr>
              <a:t>层</a:t>
            </a:r>
            <a:r>
              <a:rPr sz="2900" spc="5" dirty="0">
                <a:latin typeface="华文新魏"/>
                <a:cs typeface="华文新魏"/>
              </a:rPr>
              <a:t>级</a:t>
            </a:r>
            <a:r>
              <a:rPr sz="2900" spc="-15" dirty="0">
                <a:latin typeface="华文新魏"/>
                <a:cs typeface="华文新魏"/>
              </a:rPr>
              <a:t>估算</a:t>
            </a:r>
            <a:endParaRPr sz="2900">
              <a:latin typeface="华文新魏"/>
              <a:cs typeface="华文新魏"/>
            </a:endParaRPr>
          </a:p>
          <a:p>
            <a:pPr marL="410845" indent="-32131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短期规划</a:t>
            </a:r>
            <a:r>
              <a:rPr sz="2900" spc="5" dirty="0">
                <a:latin typeface="华文新魏"/>
                <a:cs typeface="华文新魏"/>
              </a:rPr>
              <a:t>可以进</a:t>
            </a:r>
            <a:r>
              <a:rPr sz="2900" spc="-5" dirty="0">
                <a:latin typeface="华文新魏"/>
                <a:cs typeface="华文新魏"/>
              </a:rPr>
              <a:t>行</a:t>
            </a:r>
            <a:r>
              <a:rPr sz="2900" spc="5" dirty="0">
                <a:latin typeface="华文新魏"/>
                <a:cs typeface="华文新魏"/>
              </a:rPr>
              <a:t>详细</a:t>
            </a:r>
            <a:r>
              <a:rPr sz="2900" spc="-20" dirty="0">
                <a:latin typeface="华文新魏"/>
                <a:cs typeface="华文新魏"/>
              </a:rPr>
              <a:t>的</a:t>
            </a:r>
            <a:r>
              <a:rPr sz="2900" spc="5" dirty="0">
                <a:latin typeface="华文新魏"/>
                <a:cs typeface="华文新魏"/>
              </a:rPr>
              <a:t>估算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1970" y="620552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46996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Tw Cen MT"/>
                <a:cs typeface="Tw Cen MT"/>
              </a:rPr>
              <a:t>Story</a:t>
            </a:r>
            <a:r>
              <a:rPr i="0" spc="-70" dirty="0">
                <a:latin typeface="Tw Cen MT"/>
                <a:cs typeface="Tw Cen MT"/>
              </a:rPr>
              <a:t> </a:t>
            </a:r>
            <a:r>
              <a:rPr i="0" spc="-5" dirty="0">
                <a:latin typeface="Tw Cen MT"/>
                <a:cs typeface="Tw Cen MT"/>
              </a:rPr>
              <a:t>point</a:t>
            </a:r>
            <a:r>
              <a:rPr dirty="0"/>
              <a:t>估算方法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461" y="1600961"/>
            <a:ext cx="8569960" cy="168402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0170" marR="92075">
              <a:lnSpc>
                <a:spcPct val="100000"/>
              </a:lnSpc>
              <a:spcBef>
                <a:spcPts val="145"/>
              </a:spcBef>
            </a:pPr>
            <a:r>
              <a:rPr sz="2900" dirty="0">
                <a:latin typeface="Tw Cen MT"/>
                <a:cs typeface="Tw Cen MT"/>
              </a:rPr>
              <a:t>Story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point</a:t>
            </a:r>
            <a:r>
              <a:rPr sz="2900" dirty="0">
                <a:latin typeface="华文仿宋"/>
                <a:cs typeface="华文仿宋"/>
              </a:rPr>
              <a:t>（故事</a:t>
            </a:r>
            <a:r>
              <a:rPr sz="2900" spc="-5" dirty="0">
                <a:latin typeface="华文仿宋"/>
                <a:cs typeface="华文仿宋"/>
              </a:rPr>
              <a:t>点</a:t>
            </a:r>
            <a:r>
              <a:rPr sz="2900" dirty="0">
                <a:latin typeface="华文仿宋"/>
                <a:cs typeface="华文仿宋"/>
              </a:rPr>
              <a:t>）用来度</a:t>
            </a:r>
            <a:r>
              <a:rPr sz="2900" spc="-15" dirty="0">
                <a:latin typeface="华文仿宋"/>
                <a:cs typeface="华文仿宋"/>
              </a:rPr>
              <a:t>量</a:t>
            </a:r>
            <a:r>
              <a:rPr sz="2900" dirty="0">
                <a:latin typeface="华文仿宋"/>
                <a:cs typeface="华文仿宋"/>
              </a:rPr>
              <a:t>实现</a:t>
            </a:r>
            <a:r>
              <a:rPr sz="2900" spc="-15" dirty="0">
                <a:latin typeface="华文仿宋"/>
                <a:cs typeface="华文仿宋"/>
              </a:rPr>
              <a:t>一</a:t>
            </a:r>
            <a:r>
              <a:rPr sz="2900" dirty="0">
                <a:latin typeface="华文仿宋"/>
                <a:cs typeface="华文仿宋"/>
              </a:rPr>
              <a:t>个</a:t>
            </a:r>
            <a:r>
              <a:rPr sz="2900" spc="-5" dirty="0">
                <a:latin typeface="Tw Cen MT"/>
                <a:cs typeface="Tw Cen MT"/>
              </a:rPr>
              <a:t>Story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需要付 出的工作量的相对估算。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6577" y="3667505"/>
            <a:ext cx="2246630" cy="1022985"/>
          </a:xfrm>
          <a:custGeom>
            <a:avLst/>
            <a:gdLst/>
            <a:ahLst/>
            <a:cxnLst/>
            <a:rect l="l" t="t" r="r" b="b"/>
            <a:pathLst>
              <a:path w="2246629" h="1022985">
                <a:moveTo>
                  <a:pt x="1123188" y="0"/>
                </a:moveTo>
                <a:lnTo>
                  <a:pt x="1059456" y="809"/>
                </a:lnTo>
                <a:lnTo>
                  <a:pt x="996657" y="3207"/>
                </a:lnTo>
                <a:lnTo>
                  <a:pt x="934885" y="7153"/>
                </a:lnTo>
                <a:lnTo>
                  <a:pt x="874234" y="12601"/>
                </a:lnTo>
                <a:lnTo>
                  <a:pt x="814800" y="19510"/>
                </a:lnTo>
                <a:lnTo>
                  <a:pt x="756678" y="27836"/>
                </a:lnTo>
                <a:lnTo>
                  <a:pt x="699962" y="37537"/>
                </a:lnTo>
                <a:lnTo>
                  <a:pt x="644747" y="48568"/>
                </a:lnTo>
                <a:lnTo>
                  <a:pt x="591128" y="60886"/>
                </a:lnTo>
                <a:lnTo>
                  <a:pt x="539200" y="74450"/>
                </a:lnTo>
                <a:lnTo>
                  <a:pt x="489058" y="89215"/>
                </a:lnTo>
                <a:lnTo>
                  <a:pt x="440797" y="105138"/>
                </a:lnTo>
                <a:lnTo>
                  <a:pt x="394511" y="122177"/>
                </a:lnTo>
                <a:lnTo>
                  <a:pt x="350295" y="140288"/>
                </a:lnTo>
                <a:lnTo>
                  <a:pt x="308244" y="159429"/>
                </a:lnTo>
                <a:lnTo>
                  <a:pt x="268454" y="179555"/>
                </a:lnTo>
                <a:lnTo>
                  <a:pt x="231018" y="200624"/>
                </a:lnTo>
                <a:lnTo>
                  <a:pt x="196032" y="222592"/>
                </a:lnTo>
                <a:lnTo>
                  <a:pt x="163591" y="245418"/>
                </a:lnTo>
                <a:lnTo>
                  <a:pt x="106722" y="293466"/>
                </a:lnTo>
                <a:lnTo>
                  <a:pt x="61169" y="344424"/>
                </a:lnTo>
                <a:lnTo>
                  <a:pt x="27692" y="397945"/>
                </a:lnTo>
                <a:lnTo>
                  <a:pt x="7049" y="453686"/>
                </a:lnTo>
                <a:lnTo>
                  <a:pt x="0" y="511302"/>
                </a:lnTo>
                <a:lnTo>
                  <a:pt x="1778" y="540310"/>
                </a:lnTo>
                <a:lnTo>
                  <a:pt x="15719" y="597011"/>
                </a:lnTo>
                <a:lnTo>
                  <a:pt x="42874" y="651673"/>
                </a:lnTo>
                <a:lnTo>
                  <a:pt x="82483" y="703947"/>
                </a:lnTo>
                <a:lnTo>
                  <a:pt x="133789" y="753490"/>
                </a:lnTo>
                <a:lnTo>
                  <a:pt x="196032" y="799955"/>
                </a:lnTo>
                <a:lnTo>
                  <a:pt x="231018" y="821925"/>
                </a:lnTo>
                <a:lnTo>
                  <a:pt x="268454" y="842996"/>
                </a:lnTo>
                <a:lnTo>
                  <a:pt x="308244" y="863125"/>
                </a:lnTo>
                <a:lnTo>
                  <a:pt x="350295" y="882269"/>
                </a:lnTo>
                <a:lnTo>
                  <a:pt x="394511" y="900383"/>
                </a:lnTo>
                <a:lnTo>
                  <a:pt x="440797" y="917426"/>
                </a:lnTo>
                <a:lnTo>
                  <a:pt x="489058" y="933354"/>
                </a:lnTo>
                <a:lnTo>
                  <a:pt x="539200" y="948123"/>
                </a:lnTo>
                <a:lnTo>
                  <a:pt x="591128" y="961691"/>
                </a:lnTo>
                <a:lnTo>
                  <a:pt x="644747" y="974014"/>
                </a:lnTo>
                <a:lnTo>
                  <a:pt x="699962" y="985050"/>
                </a:lnTo>
                <a:lnTo>
                  <a:pt x="756678" y="994754"/>
                </a:lnTo>
                <a:lnTo>
                  <a:pt x="814800" y="1003083"/>
                </a:lnTo>
                <a:lnTo>
                  <a:pt x="874234" y="1009995"/>
                </a:lnTo>
                <a:lnTo>
                  <a:pt x="934885" y="1015447"/>
                </a:lnTo>
                <a:lnTo>
                  <a:pt x="996657" y="1019394"/>
                </a:lnTo>
                <a:lnTo>
                  <a:pt x="1059456" y="1021794"/>
                </a:lnTo>
                <a:lnTo>
                  <a:pt x="1123188" y="1022604"/>
                </a:lnTo>
                <a:lnTo>
                  <a:pt x="1186919" y="1021794"/>
                </a:lnTo>
                <a:lnTo>
                  <a:pt x="1249718" y="1019394"/>
                </a:lnTo>
                <a:lnTo>
                  <a:pt x="1311490" y="1015447"/>
                </a:lnTo>
                <a:lnTo>
                  <a:pt x="1372141" y="1009995"/>
                </a:lnTo>
                <a:lnTo>
                  <a:pt x="1431575" y="1003083"/>
                </a:lnTo>
                <a:lnTo>
                  <a:pt x="1489697" y="994754"/>
                </a:lnTo>
                <a:lnTo>
                  <a:pt x="1546413" y="985050"/>
                </a:lnTo>
                <a:lnTo>
                  <a:pt x="1601628" y="974014"/>
                </a:lnTo>
                <a:lnTo>
                  <a:pt x="1655247" y="961691"/>
                </a:lnTo>
                <a:lnTo>
                  <a:pt x="1707175" y="948123"/>
                </a:lnTo>
                <a:lnTo>
                  <a:pt x="1757317" y="933354"/>
                </a:lnTo>
                <a:lnTo>
                  <a:pt x="1805578" y="917426"/>
                </a:lnTo>
                <a:lnTo>
                  <a:pt x="1851864" y="900383"/>
                </a:lnTo>
                <a:lnTo>
                  <a:pt x="1896080" y="882269"/>
                </a:lnTo>
                <a:lnTo>
                  <a:pt x="1938131" y="863125"/>
                </a:lnTo>
                <a:lnTo>
                  <a:pt x="1977921" y="842996"/>
                </a:lnTo>
                <a:lnTo>
                  <a:pt x="2015357" y="821925"/>
                </a:lnTo>
                <a:lnTo>
                  <a:pt x="2050343" y="799955"/>
                </a:lnTo>
                <a:lnTo>
                  <a:pt x="2082784" y="777129"/>
                </a:lnTo>
                <a:lnTo>
                  <a:pt x="2139653" y="729082"/>
                </a:lnTo>
                <a:lnTo>
                  <a:pt x="2185206" y="678130"/>
                </a:lnTo>
                <a:lnTo>
                  <a:pt x="2218683" y="624619"/>
                </a:lnTo>
                <a:lnTo>
                  <a:pt x="2239326" y="568894"/>
                </a:lnTo>
                <a:lnTo>
                  <a:pt x="2246376" y="511302"/>
                </a:lnTo>
                <a:lnTo>
                  <a:pt x="2244597" y="482281"/>
                </a:lnTo>
                <a:lnTo>
                  <a:pt x="2230656" y="425560"/>
                </a:lnTo>
                <a:lnTo>
                  <a:pt x="2203501" y="370885"/>
                </a:lnTo>
                <a:lnTo>
                  <a:pt x="2163892" y="318603"/>
                </a:lnTo>
                <a:lnTo>
                  <a:pt x="2112586" y="269057"/>
                </a:lnTo>
                <a:lnTo>
                  <a:pt x="2050343" y="222592"/>
                </a:lnTo>
                <a:lnTo>
                  <a:pt x="2015357" y="200624"/>
                </a:lnTo>
                <a:lnTo>
                  <a:pt x="1977921" y="179555"/>
                </a:lnTo>
                <a:lnTo>
                  <a:pt x="1938131" y="159429"/>
                </a:lnTo>
                <a:lnTo>
                  <a:pt x="1896080" y="140288"/>
                </a:lnTo>
                <a:lnTo>
                  <a:pt x="1851864" y="122177"/>
                </a:lnTo>
                <a:lnTo>
                  <a:pt x="1805578" y="105138"/>
                </a:lnTo>
                <a:lnTo>
                  <a:pt x="1757317" y="89215"/>
                </a:lnTo>
                <a:lnTo>
                  <a:pt x="1707175" y="74450"/>
                </a:lnTo>
                <a:lnTo>
                  <a:pt x="1655247" y="60886"/>
                </a:lnTo>
                <a:lnTo>
                  <a:pt x="1601628" y="48568"/>
                </a:lnTo>
                <a:lnTo>
                  <a:pt x="1546413" y="37537"/>
                </a:lnTo>
                <a:lnTo>
                  <a:pt x="1489697" y="27836"/>
                </a:lnTo>
                <a:lnTo>
                  <a:pt x="1431575" y="19510"/>
                </a:lnTo>
                <a:lnTo>
                  <a:pt x="1372141" y="12601"/>
                </a:lnTo>
                <a:lnTo>
                  <a:pt x="1311490" y="7153"/>
                </a:lnTo>
                <a:lnTo>
                  <a:pt x="1249718" y="3207"/>
                </a:lnTo>
                <a:lnTo>
                  <a:pt x="1186919" y="809"/>
                </a:lnTo>
                <a:lnTo>
                  <a:pt x="11231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03882" y="3803903"/>
            <a:ext cx="1189355" cy="6483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A:</a:t>
            </a:r>
            <a:endParaRPr sz="1800">
              <a:latin typeface="Tw Cen MT"/>
              <a:cs typeface="Tw Cen MT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1 Story</a:t>
            </a:r>
            <a:r>
              <a:rPr sz="1800" spc="-8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w Cen MT"/>
                <a:cs typeface="Tw Cen MT"/>
              </a:rPr>
              <a:t>Point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29154" y="5140197"/>
            <a:ext cx="139700" cy="148590"/>
          </a:xfrm>
          <a:custGeom>
            <a:avLst/>
            <a:gdLst/>
            <a:ahLst/>
            <a:cxnLst/>
            <a:rect l="l" t="t" r="r" b="b"/>
            <a:pathLst>
              <a:path w="139700" h="148589">
                <a:moveTo>
                  <a:pt x="139700" y="0"/>
                </a:moveTo>
                <a:lnTo>
                  <a:pt x="0" y="0"/>
                </a:lnTo>
                <a:lnTo>
                  <a:pt x="0" y="148589"/>
                </a:lnTo>
                <a:lnTo>
                  <a:pt x="139700" y="148589"/>
                </a:lnTo>
                <a:lnTo>
                  <a:pt x="139700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0564" y="5000497"/>
            <a:ext cx="436880" cy="139700"/>
          </a:xfrm>
          <a:custGeom>
            <a:avLst/>
            <a:gdLst/>
            <a:ahLst/>
            <a:cxnLst/>
            <a:rect l="l" t="t" r="r" b="b"/>
            <a:pathLst>
              <a:path w="436880" h="139700">
                <a:moveTo>
                  <a:pt x="436880" y="0"/>
                </a:moveTo>
                <a:lnTo>
                  <a:pt x="0" y="0"/>
                </a:lnTo>
                <a:lnTo>
                  <a:pt x="0" y="139700"/>
                </a:lnTo>
                <a:lnTo>
                  <a:pt x="436880" y="139700"/>
                </a:lnTo>
                <a:lnTo>
                  <a:pt x="436880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29154" y="4851908"/>
            <a:ext cx="139700" cy="148590"/>
          </a:xfrm>
          <a:custGeom>
            <a:avLst/>
            <a:gdLst/>
            <a:ahLst/>
            <a:cxnLst/>
            <a:rect l="l" t="t" r="r" b="b"/>
            <a:pathLst>
              <a:path w="139700" h="148589">
                <a:moveTo>
                  <a:pt x="139700" y="0"/>
                </a:moveTo>
                <a:lnTo>
                  <a:pt x="0" y="0"/>
                </a:lnTo>
                <a:lnTo>
                  <a:pt x="0" y="148590"/>
                </a:lnTo>
                <a:lnTo>
                  <a:pt x="139700" y="148590"/>
                </a:lnTo>
                <a:lnTo>
                  <a:pt x="139700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6577" y="5450585"/>
            <a:ext cx="2246630" cy="1024255"/>
          </a:xfrm>
          <a:custGeom>
            <a:avLst/>
            <a:gdLst/>
            <a:ahLst/>
            <a:cxnLst/>
            <a:rect l="l" t="t" r="r" b="b"/>
            <a:pathLst>
              <a:path w="2246629" h="1024254">
                <a:moveTo>
                  <a:pt x="1123188" y="0"/>
                </a:moveTo>
                <a:lnTo>
                  <a:pt x="1059456" y="810"/>
                </a:lnTo>
                <a:lnTo>
                  <a:pt x="996657" y="3213"/>
                </a:lnTo>
                <a:lnTo>
                  <a:pt x="934885" y="7165"/>
                </a:lnTo>
                <a:lnTo>
                  <a:pt x="874234" y="12623"/>
                </a:lnTo>
                <a:lnTo>
                  <a:pt x="814800" y="19544"/>
                </a:lnTo>
                <a:lnTo>
                  <a:pt x="756678" y="27885"/>
                </a:lnTo>
                <a:lnTo>
                  <a:pt x="699962" y="37601"/>
                </a:lnTo>
                <a:lnTo>
                  <a:pt x="644747" y="48651"/>
                </a:lnTo>
                <a:lnTo>
                  <a:pt x="591128" y="60990"/>
                </a:lnTo>
                <a:lnTo>
                  <a:pt x="539200" y="74576"/>
                </a:lnTo>
                <a:lnTo>
                  <a:pt x="489058" y="89365"/>
                </a:lnTo>
                <a:lnTo>
                  <a:pt x="440797" y="105315"/>
                </a:lnTo>
                <a:lnTo>
                  <a:pt x="394511" y="122381"/>
                </a:lnTo>
                <a:lnTo>
                  <a:pt x="350295" y="140521"/>
                </a:lnTo>
                <a:lnTo>
                  <a:pt x="308244" y="159691"/>
                </a:lnTo>
                <a:lnTo>
                  <a:pt x="268454" y="179849"/>
                </a:lnTo>
                <a:lnTo>
                  <a:pt x="231018" y="200951"/>
                </a:lnTo>
                <a:lnTo>
                  <a:pt x="196032" y="222953"/>
                </a:lnTo>
                <a:lnTo>
                  <a:pt x="163591" y="245813"/>
                </a:lnTo>
                <a:lnTo>
                  <a:pt x="106722" y="293932"/>
                </a:lnTo>
                <a:lnTo>
                  <a:pt x="61169" y="344962"/>
                </a:lnTo>
                <a:lnTo>
                  <a:pt x="27692" y="398558"/>
                </a:lnTo>
                <a:lnTo>
                  <a:pt x="7049" y="454374"/>
                </a:lnTo>
                <a:lnTo>
                  <a:pt x="0" y="512063"/>
                </a:lnTo>
                <a:lnTo>
                  <a:pt x="1778" y="541121"/>
                </a:lnTo>
                <a:lnTo>
                  <a:pt x="15719" y="597917"/>
                </a:lnTo>
                <a:lnTo>
                  <a:pt x="42874" y="652666"/>
                </a:lnTo>
                <a:lnTo>
                  <a:pt x="82483" y="705022"/>
                </a:lnTo>
                <a:lnTo>
                  <a:pt x="133789" y="754640"/>
                </a:lnTo>
                <a:lnTo>
                  <a:pt x="196032" y="801174"/>
                </a:lnTo>
                <a:lnTo>
                  <a:pt x="231018" y="823176"/>
                </a:lnTo>
                <a:lnTo>
                  <a:pt x="268454" y="844278"/>
                </a:lnTo>
                <a:lnTo>
                  <a:pt x="308244" y="864436"/>
                </a:lnTo>
                <a:lnTo>
                  <a:pt x="350295" y="883606"/>
                </a:lnTo>
                <a:lnTo>
                  <a:pt x="394511" y="901746"/>
                </a:lnTo>
                <a:lnTo>
                  <a:pt x="440797" y="918812"/>
                </a:lnTo>
                <a:lnTo>
                  <a:pt x="489058" y="934762"/>
                </a:lnTo>
                <a:lnTo>
                  <a:pt x="539200" y="949551"/>
                </a:lnTo>
                <a:lnTo>
                  <a:pt x="591128" y="963137"/>
                </a:lnTo>
                <a:lnTo>
                  <a:pt x="644747" y="975476"/>
                </a:lnTo>
                <a:lnTo>
                  <a:pt x="699962" y="986526"/>
                </a:lnTo>
                <a:lnTo>
                  <a:pt x="756678" y="996242"/>
                </a:lnTo>
                <a:lnTo>
                  <a:pt x="814800" y="1004583"/>
                </a:lnTo>
                <a:lnTo>
                  <a:pt x="874234" y="1011504"/>
                </a:lnTo>
                <a:lnTo>
                  <a:pt x="934885" y="1016962"/>
                </a:lnTo>
                <a:lnTo>
                  <a:pt x="996657" y="1020914"/>
                </a:lnTo>
                <a:lnTo>
                  <a:pt x="1059456" y="1023317"/>
                </a:lnTo>
                <a:lnTo>
                  <a:pt x="1123188" y="1024127"/>
                </a:lnTo>
                <a:lnTo>
                  <a:pt x="1186919" y="1023317"/>
                </a:lnTo>
                <a:lnTo>
                  <a:pt x="1249718" y="1020914"/>
                </a:lnTo>
                <a:lnTo>
                  <a:pt x="1311490" y="1016962"/>
                </a:lnTo>
                <a:lnTo>
                  <a:pt x="1372141" y="1011504"/>
                </a:lnTo>
                <a:lnTo>
                  <a:pt x="1431575" y="1004583"/>
                </a:lnTo>
                <a:lnTo>
                  <a:pt x="1489697" y="996242"/>
                </a:lnTo>
                <a:lnTo>
                  <a:pt x="1546413" y="986526"/>
                </a:lnTo>
                <a:lnTo>
                  <a:pt x="1601628" y="975476"/>
                </a:lnTo>
                <a:lnTo>
                  <a:pt x="1655247" y="963137"/>
                </a:lnTo>
                <a:lnTo>
                  <a:pt x="1707175" y="949551"/>
                </a:lnTo>
                <a:lnTo>
                  <a:pt x="1757317" y="934762"/>
                </a:lnTo>
                <a:lnTo>
                  <a:pt x="1805578" y="918812"/>
                </a:lnTo>
                <a:lnTo>
                  <a:pt x="1851864" y="901746"/>
                </a:lnTo>
                <a:lnTo>
                  <a:pt x="1896080" y="883606"/>
                </a:lnTo>
                <a:lnTo>
                  <a:pt x="1938131" y="864436"/>
                </a:lnTo>
                <a:lnTo>
                  <a:pt x="1977921" y="844278"/>
                </a:lnTo>
                <a:lnTo>
                  <a:pt x="2015357" y="823176"/>
                </a:lnTo>
                <a:lnTo>
                  <a:pt x="2050343" y="801174"/>
                </a:lnTo>
                <a:lnTo>
                  <a:pt x="2082784" y="778314"/>
                </a:lnTo>
                <a:lnTo>
                  <a:pt x="2139653" y="730195"/>
                </a:lnTo>
                <a:lnTo>
                  <a:pt x="2185206" y="679165"/>
                </a:lnTo>
                <a:lnTo>
                  <a:pt x="2218683" y="625569"/>
                </a:lnTo>
                <a:lnTo>
                  <a:pt x="2239326" y="569753"/>
                </a:lnTo>
                <a:lnTo>
                  <a:pt x="2246376" y="512063"/>
                </a:lnTo>
                <a:lnTo>
                  <a:pt x="2244597" y="483006"/>
                </a:lnTo>
                <a:lnTo>
                  <a:pt x="2230656" y="426210"/>
                </a:lnTo>
                <a:lnTo>
                  <a:pt x="2203501" y="371461"/>
                </a:lnTo>
                <a:lnTo>
                  <a:pt x="2163892" y="319105"/>
                </a:lnTo>
                <a:lnTo>
                  <a:pt x="2112586" y="269487"/>
                </a:lnTo>
                <a:lnTo>
                  <a:pt x="2050343" y="222953"/>
                </a:lnTo>
                <a:lnTo>
                  <a:pt x="2015357" y="200951"/>
                </a:lnTo>
                <a:lnTo>
                  <a:pt x="1977921" y="179849"/>
                </a:lnTo>
                <a:lnTo>
                  <a:pt x="1938131" y="159691"/>
                </a:lnTo>
                <a:lnTo>
                  <a:pt x="1896080" y="140521"/>
                </a:lnTo>
                <a:lnTo>
                  <a:pt x="1851864" y="122381"/>
                </a:lnTo>
                <a:lnTo>
                  <a:pt x="1805578" y="105315"/>
                </a:lnTo>
                <a:lnTo>
                  <a:pt x="1757317" y="89365"/>
                </a:lnTo>
                <a:lnTo>
                  <a:pt x="1707175" y="74576"/>
                </a:lnTo>
                <a:lnTo>
                  <a:pt x="1655247" y="60990"/>
                </a:lnTo>
                <a:lnTo>
                  <a:pt x="1601628" y="48651"/>
                </a:lnTo>
                <a:lnTo>
                  <a:pt x="1546413" y="37601"/>
                </a:lnTo>
                <a:lnTo>
                  <a:pt x="1489697" y="27885"/>
                </a:lnTo>
                <a:lnTo>
                  <a:pt x="1431575" y="19544"/>
                </a:lnTo>
                <a:lnTo>
                  <a:pt x="1372141" y="12623"/>
                </a:lnTo>
                <a:lnTo>
                  <a:pt x="1311490" y="7165"/>
                </a:lnTo>
                <a:lnTo>
                  <a:pt x="1249718" y="3213"/>
                </a:lnTo>
                <a:lnTo>
                  <a:pt x="1186919" y="810"/>
                </a:lnTo>
                <a:lnTo>
                  <a:pt x="11231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87676" y="5483681"/>
            <a:ext cx="1425575" cy="82232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900" spc="-5" dirty="0">
                <a:solidFill>
                  <a:srgbClr val="FFFFFF"/>
                </a:solidFill>
                <a:latin typeface="Tw Cen MT"/>
                <a:cs typeface="Tw Cen MT"/>
              </a:rPr>
              <a:t>B</a:t>
            </a:r>
            <a:r>
              <a:rPr sz="1900" spc="-1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华文仿宋"/>
                <a:cs typeface="华文仿宋"/>
              </a:rPr>
              <a:t>：</a:t>
            </a:r>
            <a:endParaRPr sz="19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278765" algn="l"/>
              </a:tabLst>
            </a:pPr>
            <a:r>
              <a:rPr sz="1900" spc="-5" dirty="0">
                <a:solidFill>
                  <a:srgbClr val="FFFFFF"/>
                </a:solidFill>
                <a:latin typeface="Tw Cen MT"/>
                <a:cs typeface="Tw Cen MT"/>
              </a:rPr>
              <a:t>2	</a:t>
            </a:r>
            <a:r>
              <a:rPr sz="1900" dirty="0">
                <a:solidFill>
                  <a:srgbClr val="FFFFFF"/>
                </a:solidFill>
                <a:latin typeface="Tw Cen MT"/>
                <a:cs typeface="Tw Cen MT"/>
              </a:rPr>
              <a:t>Story</a:t>
            </a:r>
            <a:r>
              <a:rPr sz="1900" spc="-6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Tw Cen MT"/>
                <a:cs typeface="Tw Cen MT"/>
              </a:rPr>
              <a:t>points</a:t>
            </a:r>
            <a:endParaRPr sz="1900">
              <a:latin typeface="Tw Cen MT"/>
              <a:cs typeface="Tw Cen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76115" y="4879847"/>
            <a:ext cx="326390" cy="381000"/>
          </a:xfrm>
          <a:custGeom>
            <a:avLst/>
            <a:gdLst/>
            <a:ahLst/>
            <a:cxnLst/>
            <a:rect l="l" t="t" r="r" b="b"/>
            <a:pathLst>
              <a:path w="326389" h="381000">
                <a:moveTo>
                  <a:pt x="163068" y="0"/>
                </a:moveTo>
                <a:lnTo>
                  <a:pt x="163068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3068" y="304800"/>
                </a:lnTo>
                <a:lnTo>
                  <a:pt x="163068" y="380999"/>
                </a:lnTo>
                <a:lnTo>
                  <a:pt x="326136" y="190500"/>
                </a:lnTo>
                <a:lnTo>
                  <a:pt x="163068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38650" y="4046982"/>
            <a:ext cx="3366770" cy="2048510"/>
          </a:xfrm>
          <a:custGeom>
            <a:avLst/>
            <a:gdLst/>
            <a:ahLst/>
            <a:cxnLst/>
            <a:rect l="l" t="t" r="r" b="b"/>
            <a:pathLst>
              <a:path w="3366770" h="2048510">
                <a:moveTo>
                  <a:pt x="1683258" y="0"/>
                </a:moveTo>
                <a:lnTo>
                  <a:pt x="1624163" y="619"/>
                </a:lnTo>
                <a:lnTo>
                  <a:pt x="1565581" y="2463"/>
                </a:lnTo>
                <a:lnTo>
                  <a:pt x="1507543" y="5512"/>
                </a:lnTo>
                <a:lnTo>
                  <a:pt x="1450083" y="9745"/>
                </a:lnTo>
                <a:lnTo>
                  <a:pt x="1393236" y="15143"/>
                </a:lnTo>
                <a:lnTo>
                  <a:pt x="1337033" y="21684"/>
                </a:lnTo>
                <a:lnTo>
                  <a:pt x="1281508" y="29348"/>
                </a:lnTo>
                <a:lnTo>
                  <a:pt x="1226695" y="38116"/>
                </a:lnTo>
                <a:lnTo>
                  <a:pt x="1172628" y="47967"/>
                </a:lnTo>
                <a:lnTo>
                  <a:pt x="1119339" y="58880"/>
                </a:lnTo>
                <a:lnTo>
                  <a:pt x="1066862" y="70835"/>
                </a:lnTo>
                <a:lnTo>
                  <a:pt x="1015230" y="83813"/>
                </a:lnTo>
                <a:lnTo>
                  <a:pt x="964476" y="97792"/>
                </a:lnTo>
                <a:lnTo>
                  <a:pt x="914635" y="112753"/>
                </a:lnTo>
                <a:lnTo>
                  <a:pt x="865739" y="128674"/>
                </a:lnTo>
                <a:lnTo>
                  <a:pt x="817822" y="145536"/>
                </a:lnTo>
                <a:lnTo>
                  <a:pt x="770918" y="163319"/>
                </a:lnTo>
                <a:lnTo>
                  <a:pt x="725058" y="182002"/>
                </a:lnTo>
                <a:lnTo>
                  <a:pt x="680278" y="201565"/>
                </a:lnTo>
                <a:lnTo>
                  <a:pt x="636610" y="221987"/>
                </a:lnTo>
                <a:lnTo>
                  <a:pt x="594088" y="243249"/>
                </a:lnTo>
                <a:lnTo>
                  <a:pt x="552745" y="265330"/>
                </a:lnTo>
                <a:lnTo>
                  <a:pt x="512614" y="288209"/>
                </a:lnTo>
                <a:lnTo>
                  <a:pt x="473729" y="311867"/>
                </a:lnTo>
                <a:lnTo>
                  <a:pt x="436123" y="336282"/>
                </a:lnTo>
                <a:lnTo>
                  <a:pt x="399830" y="361436"/>
                </a:lnTo>
                <a:lnTo>
                  <a:pt x="364883" y="387307"/>
                </a:lnTo>
                <a:lnTo>
                  <a:pt x="331315" y="413875"/>
                </a:lnTo>
                <a:lnTo>
                  <a:pt x="299160" y="441120"/>
                </a:lnTo>
                <a:lnTo>
                  <a:pt x="268451" y="469021"/>
                </a:lnTo>
                <a:lnTo>
                  <a:pt x="239222" y="497559"/>
                </a:lnTo>
                <a:lnTo>
                  <a:pt x="211505" y="526713"/>
                </a:lnTo>
                <a:lnTo>
                  <a:pt x="185335" y="556462"/>
                </a:lnTo>
                <a:lnTo>
                  <a:pt x="160744" y="586787"/>
                </a:lnTo>
                <a:lnTo>
                  <a:pt x="137766" y="617666"/>
                </a:lnTo>
                <a:lnTo>
                  <a:pt x="96784" y="681010"/>
                </a:lnTo>
                <a:lnTo>
                  <a:pt x="62653" y="746330"/>
                </a:lnTo>
                <a:lnTo>
                  <a:pt x="35643" y="813464"/>
                </a:lnTo>
                <a:lnTo>
                  <a:pt x="16019" y="882250"/>
                </a:lnTo>
                <a:lnTo>
                  <a:pt x="4049" y="952525"/>
                </a:lnTo>
                <a:lnTo>
                  <a:pt x="0" y="1024128"/>
                </a:lnTo>
                <a:lnTo>
                  <a:pt x="1017" y="1060081"/>
                </a:lnTo>
                <a:lnTo>
                  <a:pt x="9061" y="1131035"/>
                </a:lnTo>
                <a:lnTo>
                  <a:pt x="24891" y="1200582"/>
                </a:lnTo>
                <a:lnTo>
                  <a:pt x="48242" y="1268558"/>
                </a:lnTo>
                <a:lnTo>
                  <a:pt x="78845" y="1334803"/>
                </a:lnTo>
                <a:lnTo>
                  <a:pt x="116435" y="1399153"/>
                </a:lnTo>
                <a:lnTo>
                  <a:pt x="160744" y="1461446"/>
                </a:lnTo>
                <a:lnTo>
                  <a:pt x="185335" y="1491771"/>
                </a:lnTo>
                <a:lnTo>
                  <a:pt x="211505" y="1521520"/>
                </a:lnTo>
                <a:lnTo>
                  <a:pt x="239222" y="1550674"/>
                </a:lnTo>
                <a:lnTo>
                  <a:pt x="268451" y="1579211"/>
                </a:lnTo>
                <a:lnTo>
                  <a:pt x="299160" y="1607113"/>
                </a:lnTo>
                <a:lnTo>
                  <a:pt x="331315" y="1634358"/>
                </a:lnTo>
                <a:lnTo>
                  <a:pt x="364883" y="1660927"/>
                </a:lnTo>
                <a:lnTo>
                  <a:pt x="399830" y="1686798"/>
                </a:lnTo>
                <a:lnTo>
                  <a:pt x="436123" y="1711953"/>
                </a:lnTo>
                <a:lnTo>
                  <a:pt x="473729" y="1736369"/>
                </a:lnTo>
                <a:lnTo>
                  <a:pt x="512614" y="1760027"/>
                </a:lnTo>
                <a:lnTo>
                  <a:pt x="552745" y="1782908"/>
                </a:lnTo>
                <a:lnTo>
                  <a:pt x="594088" y="1804989"/>
                </a:lnTo>
                <a:lnTo>
                  <a:pt x="636610" y="1826252"/>
                </a:lnTo>
                <a:lnTo>
                  <a:pt x="680278" y="1846675"/>
                </a:lnTo>
                <a:lnTo>
                  <a:pt x="725058" y="1866239"/>
                </a:lnTo>
                <a:lnTo>
                  <a:pt x="770918" y="1884923"/>
                </a:lnTo>
                <a:lnTo>
                  <a:pt x="817822" y="1902707"/>
                </a:lnTo>
                <a:lnTo>
                  <a:pt x="865739" y="1919570"/>
                </a:lnTo>
                <a:lnTo>
                  <a:pt x="914635" y="1935493"/>
                </a:lnTo>
                <a:lnTo>
                  <a:pt x="964476" y="1950455"/>
                </a:lnTo>
                <a:lnTo>
                  <a:pt x="1015230" y="1964435"/>
                </a:lnTo>
                <a:lnTo>
                  <a:pt x="1066862" y="1977413"/>
                </a:lnTo>
                <a:lnTo>
                  <a:pt x="1119339" y="1989370"/>
                </a:lnTo>
                <a:lnTo>
                  <a:pt x="1172628" y="2000284"/>
                </a:lnTo>
                <a:lnTo>
                  <a:pt x="1226695" y="2010135"/>
                </a:lnTo>
                <a:lnTo>
                  <a:pt x="1281508" y="2018904"/>
                </a:lnTo>
                <a:lnTo>
                  <a:pt x="1337033" y="2026569"/>
                </a:lnTo>
                <a:lnTo>
                  <a:pt x="1393236" y="2033111"/>
                </a:lnTo>
                <a:lnTo>
                  <a:pt x="1450083" y="2038509"/>
                </a:lnTo>
                <a:lnTo>
                  <a:pt x="1507543" y="2042743"/>
                </a:lnTo>
                <a:lnTo>
                  <a:pt x="1565581" y="2045792"/>
                </a:lnTo>
                <a:lnTo>
                  <a:pt x="1624163" y="2047636"/>
                </a:lnTo>
                <a:lnTo>
                  <a:pt x="1683258" y="2048256"/>
                </a:lnTo>
                <a:lnTo>
                  <a:pt x="1742352" y="2047636"/>
                </a:lnTo>
                <a:lnTo>
                  <a:pt x="1800934" y="2045792"/>
                </a:lnTo>
                <a:lnTo>
                  <a:pt x="1858972" y="2042743"/>
                </a:lnTo>
                <a:lnTo>
                  <a:pt x="1916432" y="2038509"/>
                </a:lnTo>
                <a:lnTo>
                  <a:pt x="1973279" y="2033111"/>
                </a:lnTo>
                <a:lnTo>
                  <a:pt x="2029482" y="2026569"/>
                </a:lnTo>
                <a:lnTo>
                  <a:pt x="2085007" y="2018904"/>
                </a:lnTo>
                <a:lnTo>
                  <a:pt x="2139820" y="2010135"/>
                </a:lnTo>
                <a:lnTo>
                  <a:pt x="2193887" y="2000284"/>
                </a:lnTo>
                <a:lnTo>
                  <a:pt x="2247176" y="1989370"/>
                </a:lnTo>
                <a:lnTo>
                  <a:pt x="2299653" y="1977413"/>
                </a:lnTo>
                <a:lnTo>
                  <a:pt x="2351285" y="1964435"/>
                </a:lnTo>
                <a:lnTo>
                  <a:pt x="2402039" y="1950455"/>
                </a:lnTo>
                <a:lnTo>
                  <a:pt x="2451880" y="1935493"/>
                </a:lnTo>
                <a:lnTo>
                  <a:pt x="2500776" y="1919570"/>
                </a:lnTo>
                <a:lnTo>
                  <a:pt x="2548693" y="1902707"/>
                </a:lnTo>
                <a:lnTo>
                  <a:pt x="2595597" y="1884923"/>
                </a:lnTo>
                <a:lnTo>
                  <a:pt x="2641457" y="1866239"/>
                </a:lnTo>
                <a:lnTo>
                  <a:pt x="2686237" y="1846675"/>
                </a:lnTo>
                <a:lnTo>
                  <a:pt x="2729905" y="1826252"/>
                </a:lnTo>
                <a:lnTo>
                  <a:pt x="2772427" y="1804989"/>
                </a:lnTo>
                <a:lnTo>
                  <a:pt x="2813770" y="1782908"/>
                </a:lnTo>
                <a:lnTo>
                  <a:pt x="2853901" y="1760027"/>
                </a:lnTo>
                <a:lnTo>
                  <a:pt x="2892786" y="1736369"/>
                </a:lnTo>
                <a:lnTo>
                  <a:pt x="2930392" y="1711953"/>
                </a:lnTo>
                <a:lnTo>
                  <a:pt x="2966685" y="1686798"/>
                </a:lnTo>
                <a:lnTo>
                  <a:pt x="3001632" y="1660927"/>
                </a:lnTo>
                <a:lnTo>
                  <a:pt x="3035200" y="1634358"/>
                </a:lnTo>
                <a:lnTo>
                  <a:pt x="3067355" y="1607113"/>
                </a:lnTo>
                <a:lnTo>
                  <a:pt x="3098064" y="1579211"/>
                </a:lnTo>
                <a:lnTo>
                  <a:pt x="3127293" y="1550674"/>
                </a:lnTo>
                <a:lnTo>
                  <a:pt x="3155010" y="1521520"/>
                </a:lnTo>
                <a:lnTo>
                  <a:pt x="3181180" y="1491771"/>
                </a:lnTo>
                <a:lnTo>
                  <a:pt x="3205771" y="1461446"/>
                </a:lnTo>
                <a:lnTo>
                  <a:pt x="3228749" y="1430567"/>
                </a:lnTo>
                <a:lnTo>
                  <a:pt x="3269731" y="1367225"/>
                </a:lnTo>
                <a:lnTo>
                  <a:pt x="3303862" y="1301907"/>
                </a:lnTo>
                <a:lnTo>
                  <a:pt x="3330872" y="1234776"/>
                </a:lnTo>
                <a:lnTo>
                  <a:pt x="3350496" y="1165994"/>
                </a:lnTo>
                <a:lnTo>
                  <a:pt x="3362466" y="1095724"/>
                </a:lnTo>
                <a:lnTo>
                  <a:pt x="3366516" y="1024128"/>
                </a:lnTo>
                <a:lnTo>
                  <a:pt x="3365498" y="988171"/>
                </a:lnTo>
                <a:lnTo>
                  <a:pt x="3357454" y="917211"/>
                </a:lnTo>
                <a:lnTo>
                  <a:pt x="3341624" y="847661"/>
                </a:lnTo>
                <a:lnTo>
                  <a:pt x="3318273" y="779680"/>
                </a:lnTo>
                <a:lnTo>
                  <a:pt x="3287670" y="713433"/>
                </a:lnTo>
                <a:lnTo>
                  <a:pt x="3250080" y="649081"/>
                </a:lnTo>
                <a:lnTo>
                  <a:pt x="3205771" y="586787"/>
                </a:lnTo>
                <a:lnTo>
                  <a:pt x="3181180" y="556462"/>
                </a:lnTo>
                <a:lnTo>
                  <a:pt x="3155010" y="526713"/>
                </a:lnTo>
                <a:lnTo>
                  <a:pt x="3127293" y="497559"/>
                </a:lnTo>
                <a:lnTo>
                  <a:pt x="3098064" y="469021"/>
                </a:lnTo>
                <a:lnTo>
                  <a:pt x="3067355" y="441120"/>
                </a:lnTo>
                <a:lnTo>
                  <a:pt x="3035200" y="413875"/>
                </a:lnTo>
                <a:lnTo>
                  <a:pt x="3001632" y="387307"/>
                </a:lnTo>
                <a:lnTo>
                  <a:pt x="2966685" y="361436"/>
                </a:lnTo>
                <a:lnTo>
                  <a:pt x="2930392" y="336282"/>
                </a:lnTo>
                <a:lnTo>
                  <a:pt x="2892786" y="311867"/>
                </a:lnTo>
                <a:lnTo>
                  <a:pt x="2853901" y="288209"/>
                </a:lnTo>
                <a:lnTo>
                  <a:pt x="2813770" y="265330"/>
                </a:lnTo>
                <a:lnTo>
                  <a:pt x="2772427" y="243249"/>
                </a:lnTo>
                <a:lnTo>
                  <a:pt x="2729905" y="221987"/>
                </a:lnTo>
                <a:lnTo>
                  <a:pt x="2686237" y="201565"/>
                </a:lnTo>
                <a:lnTo>
                  <a:pt x="2641457" y="182002"/>
                </a:lnTo>
                <a:lnTo>
                  <a:pt x="2595597" y="163319"/>
                </a:lnTo>
                <a:lnTo>
                  <a:pt x="2548693" y="145536"/>
                </a:lnTo>
                <a:lnTo>
                  <a:pt x="2500776" y="128674"/>
                </a:lnTo>
                <a:lnTo>
                  <a:pt x="2451880" y="112753"/>
                </a:lnTo>
                <a:lnTo>
                  <a:pt x="2402039" y="97792"/>
                </a:lnTo>
                <a:lnTo>
                  <a:pt x="2351285" y="83813"/>
                </a:lnTo>
                <a:lnTo>
                  <a:pt x="2299653" y="70835"/>
                </a:lnTo>
                <a:lnTo>
                  <a:pt x="2247176" y="58880"/>
                </a:lnTo>
                <a:lnTo>
                  <a:pt x="2193887" y="47967"/>
                </a:lnTo>
                <a:lnTo>
                  <a:pt x="2139820" y="38116"/>
                </a:lnTo>
                <a:lnTo>
                  <a:pt x="2085007" y="29348"/>
                </a:lnTo>
                <a:lnTo>
                  <a:pt x="2029482" y="21684"/>
                </a:lnTo>
                <a:lnTo>
                  <a:pt x="1973279" y="15143"/>
                </a:lnTo>
                <a:lnTo>
                  <a:pt x="1916432" y="9745"/>
                </a:lnTo>
                <a:lnTo>
                  <a:pt x="1858972" y="5512"/>
                </a:lnTo>
                <a:lnTo>
                  <a:pt x="1800934" y="2463"/>
                </a:lnTo>
                <a:lnTo>
                  <a:pt x="1742352" y="619"/>
                </a:lnTo>
                <a:lnTo>
                  <a:pt x="168325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42408" y="4622113"/>
            <a:ext cx="2156460" cy="85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75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华文仿宋"/>
                <a:cs typeface="华文仿宋"/>
              </a:rPr>
              <a:t>工作量关系：</a:t>
            </a:r>
            <a:endParaRPr sz="2800">
              <a:latin typeface="华文仿宋"/>
              <a:cs typeface="华文仿宋"/>
            </a:endParaRPr>
          </a:p>
          <a:p>
            <a:pPr marL="1270" algn="ctr">
              <a:lnSpc>
                <a:spcPts val="3275"/>
              </a:lnSpc>
            </a:pPr>
            <a:r>
              <a:rPr sz="2800" dirty="0">
                <a:solidFill>
                  <a:srgbClr val="FFFFFF"/>
                </a:solidFill>
                <a:latin typeface="Tw Cen MT"/>
                <a:cs typeface="Tw Cen MT"/>
              </a:rPr>
              <a:t>B=</a:t>
            </a:r>
            <a:r>
              <a:rPr sz="2800" spc="-2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800" dirty="0">
                <a:solidFill>
                  <a:srgbClr val="FFFFFF"/>
                </a:solidFill>
                <a:latin typeface="Tw Cen MT"/>
                <a:cs typeface="Tw Cen MT"/>
              </a:rPr>
              <a:t>2A</a:t>
            </a:r>
            <a:endParaRPr sz="28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15213"/>
            <a:ext cx="7445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Story</a:t>
            </a:r>
            <a:r>
              <a:rPr spc="-45" dirty="0"/>
              <a:t> </a:t>
            </a:r>
            <a:r>
              <a:rPr dirty="0"/>
              <a:t>point估算-常用的两个标准</a:t>
            </a:r>
          </a:p>
        </p:txBody>
      </p:sp>
      <p:sp>
        <p:nvSpPr>
          <p:cNvPr id="3" name="object 3"/>
          <p:cNvSpPr/>
          <p:nvPr/>
        </p:nvSpPr>
        <p:spPr>
          <a:xfrm>
            <a:off x="395477" y="1600961"/>
            <a:ext cx="8371840" cy="2045335"/>
          </a:xfrm>
          <a:custGeom>
            <a:avLst/>
            <a:gdLst/>
            <a:ahLst/>
            <a:cxnLst/>
            <a:rect l="l" t="t" r="r" b="b"/>
            <a:pathLst>
              <a:path w="8371840" h="2045335">
                <a:moveTo>
                  <a:pt x="0" y="2045208"/>
                </a:moveTo>
                <a:lnTo>
                  <a:pt x="8371332" y="2045208"/>
                </a:lnTo>
                <a:lnTo>
                  <a:pt x="8371332" y="0"/>
                </a:lnTo>
                <a:lnTo>
                  <a:pt x="0" y="0"/>
                </a:lnTo>
                <a:lnTo>
                  <a:pt x="0" y="2045208"/>
                </a:lnTo>
                <a:close/>
              </a:path>
            </a:pathLst>
          </a:custGeom>
          <a:ln w="28955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6765" y="1524736"/>
            <a:ext cx="6937375" cy="10864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200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20040" algn="l"/>
              </a:tabLst>
            </a:pPr>
            <a:r>
              <a:rPr sz="2900" b="1" dirty="0">
                <a:latin typeface="Tw Cen MT"/>
                <a:cs typeface="Tw Cen MT"/>
              </a:rPr>
              <a:t>Fibonacci: 0, 1, 2, 3, </a:t>
            </a:r>
            <a:r>
              <a:rPr sz="2900" b="1" spc="-10" dirty="0">
                <a:latin typeface="Tw Cen MT"/>
                <a:cs typeface="Tw Cen MT"/>
              </a:rPr>
              <a:t>5, </a:t>
            </a:r>
            <a:r>
              <a:rPr sz="2900" b="1" spc="-5" dirty="0">
                <a:latin typeface="Tw Cen MT"/>
                <a:cs typeface="Tw Cen MT"/>
              </a:rPr>
              <a:t>8, 13, 21,34, 55,</a:t>
            </a:r>
            <a:r>
              <a:rPr sz="2900" b="1" spc="-60" dirty="0">
                <a:latin typeface="Tw Cen MT"/>
                <a:cs typeface="Tw Cen MT"/>
              </a:rPr>
              <a:t> </a:t>
            </a:r>
            <a:r>
              <a:rPr sz="2900" b="1" dirty="0">
                <a:latin typeface="Tw Cen MT"/>
                <a:cs typeface="Tw Cen MT"/>
              </a:rPr>
              <a:t>89</a:t>
            </a:r>
            <a:endParaRPr sz="2900">
              <a:latin typeface="Tw Cen MT"/>
              <a:cs typeface="Tw Cen MT"/>
            </a:endParaRPr>
          </a:p>
          <a:p>
            <a:pPr marL="3200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20040" algn="l"/>
              </a:tabLst>
            </a:pPr>
            <a:r>
              <a:rPr sz="2900" b="1" spc="-50" dirty="0">
                <a:latin typeface="Tw Cen MT"/>
                <a:cs typeface="Tw Cen MT"/>
              </a:rPr>
              <a:t>Power </a:t>
            </a:r>
            <a:r>
              <a:rPr sz="2900" b="1" spc="-10" dirty="0">
                <a:latin typeface="Tw Cen MT"/>
                <a:cs typeface="Tw Cen MT"/>
              </a:rPr>
              <a:t>of 2: </a:t>
            </a:r>
            <a:r>
              <a:rPr sz="2900" b="1" dirty="0">
                <a:latin typeface="Tw Cen MT"/>
                <a:cs typeface="Tw Cen MT"/>
              </a:rPr>
              <a:t>0, 1, 2, 4, 8, </a:t>
            </a:r>
            <a:r>
              <a:rPr sz="2900" b="1" spc="-5" dirty="0">
                <a:latin typeface="Tw Cen MT"/>
                <a:cs typeface="Tw Cen MT"/>
              </a:rPr>
              <a:t>16, 32,</a:t>
            </a:r>
            <a:r>
              <a:rPr sz="2900" b="1" spc="229" dirty="0">
                <a:latin typeface="Tw Cen MT"/>
                <a:cs typeface="Tw Cen MT"/>
              </a:rPr>
              <a:t> </a:t>
            </a:r>
            <a:r>
              <a:rPr sz="2900" b="1" spc="-5" dirty="0">
                <a:latin typeface="Tw Cen MT"/>
                <a:cs typeface="Tw Cen MT"/>
              </a:rPr>
              <a:t>64,128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293" y="322833"/>
            <a:ext cx="7826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Story</a:t>
            </a:r>
            <a:r>
              <a:rPr spc="-20" dirty="0"/>
              <a:t> </a:t>
            </a:r>
            <a:r>
              <a:rPr dirty="0"/>
              <a:t>point估算-Fibonacci</a:t>
            </a:r>
            <a:r>
              <a:rPr spc="-35" dirty="0"/>
              <a:t> </a:t>
            </a:r>
            <a:r>
              <a:rPr dirty="0"/>
              <a:t>七个等级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1946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69" y="2007870"/>
            <a:ext cx="9118600" cy="4555490"/>
          </a:xfrm>
          <a:custGeom>
            <a:avLst/>
            <a:gdLst/>
            <a:ahLst/>
            <a:cxnLst/>
            <a:rect l="l" t="t" r="r" b="b"/>
            <a:pathLst>
              <a:path w="9118600" h="4555490">
                <a:moveTo>
                  <a:pt x="0" y="4555235"/>
                </a:moveTo>
                <a:lnTo>
                  <a:pt x="9118092" y="4555235"/>
                </a:lnTo>
                <a:lnTo>
                  <a:pt x="9118092" y="0"/>
                </a:lnTo>
                <a:lnTo>
                  <a:pt x="0" y="0"/>
                </a:lnTo>
                <a:lnTo>
                  <a:pt x="0" y="4555235"/>
                </a:lnTo>
                <a:close/>
              </a:path>
            </a:pathLst>
          </a:custGeom>
          <a:ln w="28955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038" y="1268729"/>
            <a:ext cx="8940800" cy="480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ts val="13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FFFFFF"/>
                </a:solidFill>
                <a:latin typeface="Arial Narrow"/>
                <a:cs typeface="Arial Narrow"/>
              </a:rPr>
              <a:t>116</a:t>
            </a:r>
            <a:endParaRPr sz="1200">
              <a:latin typeface="Arial Narrow"/>
              <a:cs typeface="Arial Narrow"/>
            </a:endParaRPr>
          </a:p>
          <a:p>
            <a:pPr marL="330200">
              <a:lnSpc>
                <a:spcPts val="3700"/>
              </a:lnSpc>
            </a:pPr>
            <a:r>
              <a:rPr sz="3200" u="sng" spc="-5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0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、</a:t>
            </a:r>
            <a:r>
              <a:rPr sz="3200" u="sng" spc="-5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1、2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、</a:t>
            </a:r>
            <a:r>
              <a:rPr sz="3200" u="sng" spc="-5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3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、</a:t>
            </a:r>
            <a:r>
              <a:rPr sz="3200" u="sng" spc="-5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5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、</a:t>
            </a:r>
            <a:r>
              <a:rPr sz="3200" u="sng" spc="-5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8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、</a:t>
            </a:r>
            <a:r>
              <a:rPr sz="3200" u="sng" spc="-5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13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七个等级</a:t>
            </a:r>
            <a:endParaRPr sz="3200">
              <a:latin typeface="华文楷体"/>
              <a:cs typeface="华文楷体"/>
            </a:endParaRPr>
          </a:p>
          <a:p>
            <a:pPr marL="257175" indent="-245110">
              <a:lnSpc>
                <a:spcPct val="100000"/>
              </a:lnSpc>
              <a:spcBef>
                <a:spcPts val="850"/>
              </a:spcBef>
              <a:buSzPct val="96428"/>
              <a:buAutoNum type="arabicPeriod"/>
              <a:tabLst>
                <a:tab pos="257810" algn="l"/>
              </a:tabLst>
            </a:pPr>
            <a:r>
              <a:rPr sz="2800" spc="-10" dirty="0">
                <a:latin typeface="华文楷体"/>
                <a:cs typeface="华文楷体"/>
              </a:rPr>
              <a:t>选取预估</a:t>
            </a:r>
            <a:r>
              <a:rPr sz="2800" spc="-5" dirty="0">
                <a:latin typeface="华文楷体"/>
                <a:cs typeface="华文楷体"/>
              </a:rPr>
              <a:t>为3</a:t>
            </a:r>
            <a:r>
              <a:rPr sz="2800" spc="15" dirty="0">
                <a:latin typeface="华文楷体"/>
                <a:cs typeface="华文楷体"/>
              </a:rPr>
              <a:t> </a:t>
            </a:r>
            <a:r>
              <a:rPr sz="2800" spc="-5" dirty="0">
                <a:latin typeface="华文楷体"/>
                <a:cs typeface="华文楷体"/>
              </a:rPr>
              <a:t>story points</a:t>
            </a:r>
            <a:r>
              <a:rPr sz="2800" spc="-10" dirty="0">
                <a:latin typeface="华文楷体"/>
                <a:cs typeface="华文楷体"/>
              </a:rPr>
              <a:t> 的</a:t>
            </a:r>
            <a:r>
              <a:rPr sz="2800" spc="-5" dirty="0">
                <a:latin typeface="华文楷体"/>
                <a:cs typeface="华文楷体"/>
              </a:rPr>
              <a:t>Story</a:t>
            </a:r>
            <a:endParaRPr sz="2800">
              <a:latin typeface="华文楷体"/>
              <a:cs typeface="华文楷体"/>
            </a:endParaRPr>
          </a:p>
          <a:p>
            <a:pPr marL="257175" indent="-245110">
              <a:lnSpc>
                <a:spcPct val="100000"/>
              </a:lnSpc>
              <a:spcBef>
                <a:spcPts val="695"/>
              </a:spcBef>
              <a:buSzPct val="96428"/>
              <a:buAutoNum type="arabicPeriod"/>
              <a:tabLst>
                <a:tab pos="257810" algn="l"/>
                <a:tab pos="5393055" algn="l"/>
              </a:tabLst>
            </a:pPr>
            <a:r>
              <a:rPr sz="2800" spc="-5" dirty="0">
                <a:latin typeface="华文楷体"/>
                <a:cs typeface="华文楷体"/>
              </a:rPr>
              <a:t>将需要预估的story与选</a:t>
            </a:r>
            <a:r>
              <a:rPr sz="2800" spc="-10" dirty="0">
                <a:latin typeface="华文楷体"/>
                <a:cs typeface="华文楷体"/>
              </a:rPr>
              <a:t>取</a:t>
            </a:r>
            <a:r>
              <a:rPr sz="2800" spc="-5" dirty="0">
                <a:latin typeface="华文楷体"/>
                <a:cs typeface="华文楷体"/>
              </a:rPr>
              <a:t>的Story	进行比较，</a:t>
            </a:r>
            <a:endParaRPr sz="2800">
              <a:latin typeface="华文楷体"/>
              <a:cs typeface="华文楷体"/>
            </a:endParaRPr>
          </a:p>
          <a:p>
            <a:pPr marL="12700" marR="5080" lvl="1">
              <a:lnSpc>
                <a:spcPct val="120800"/>
              </a:lnSpc>
              <a:spcBef>
                <a:spcPts val="10"/>
              </a:spcBef>
              <a:buSzPct val="85714"/>
              <a:buAutoNum type="arabicPeriod"/>
              <a:tabLst>
                <a:tab pos="449580" algn="l"/>
              </a:tabLst>
            </a:pPr>
            <a:r>
              <a:rPr sz="2800" spc="-5" dirty="0">
                <a:latin typeface="华文楷体"/>
                <a:cs typeface="华文楷体"/>
              </a:rPr>
              <a:t>如果两个工作量差不多，设置该</a:t>
            </a:r>
            <a:r>
              <a:rPr sz="2800" dirty="0">
                <a:latin typeface="华文楷体"/>
                <a:cs typeface="华文楷体"/>
              </a:rPr>
              <a:t>story</a:t>
            </a:r>
            <a:r>
              <a:rPr sz="2800" spc="15" dirty="0">
                <a:latin typeface="华文楷体"/>
                <a:cs typeface="华文楷体"/>
              </a:rPr>
              <a:t> </a:t>
            </a:r>
            <a:r>
              <a:rPr sz="2800" spc="-5" dirty="0">
                <a:latin typeface="华文楷体"/>
                <a:cs typeface="华文楷体"/>
              </a:rPr>
              <a:t>的story point为</a:t>
            </a:r>
            <a:r>
              <a:rPr sz="2800" spc="-10" dirty="0">
                <a:latin typeface="华文楷体"/>
                <a:cs typeface="华文楷体"/>
              </a:rPr>
              <a:t>3，  </a:t>
            </a:r>
            <a:r>
              <a:rPr sz="2800" spc="-5" dirty="0">
                <a:latin typeface="华文楷体"/>
                <a:cs typeface="华文楷体"/>
              </a:rPr>
              <a:t>2.2.如果工作量略少，则为</a:t>
            </a:r>
            <a:r>
              <a:rPr sz="2800" spc="-10" dirty="0">
                <a:latin typeface="华文楷体"/>
                <a:cs typeface="华文楷体"/>
              </a:rPr>
              <a:t>2，</a:t>
            </a:r>
            <a:endParaRPr sz="2800">
              <a:latin typeface="华文楷体"/>
              <a:cs typeface="华文楷体"/>
            </a:endParaRPr>
          </a:p>
          <a:p>
            <a:pPr marL="501650" lvl="1" indent="-489584">
              <a:lnSpc>
                <a:spcPct val="100000"/>
              </a:lnSpc>
              <a:spcBef>
                <a:spcPts val="700"/>
              </a:spcBef>
              <a:buSzPct val="96428"/>
              <a:buAutoNum type="arabicPeriod" startAt="3"/>
              <a:tabLst>
                <a:tab pos="502284" algn="l"/>
              </a:tabLst>
            </a:pPr>
            <a:r>
              <a:rPr sz="2800" spc="-5" dirty="0">
                <a:latin typeface="华文楷体"/>
                <a:cs typeface="华文楷体"/>
              </a:rPr>
              <a:t>如果工作量更少，则为</a:t>
            </a:r>
            <a:r>
              <a:rPr sz="2800" spc="-10" dirty="0">
                <a:latin typeface="华文楷体"/>
                <a:cs typeface="华文楷体"/>
              </a:rPr>
              <a:t>1，</a:t>
            </a:r>
            <a:endParaRPr sz="2800">
              <a:latin typeface="华文楷体"/>
              <a:cs typeface="华文楷体"/>
            </a:endParaRPr>
          </a:p>
          <a:p>
            <a:pPr marL="501015" lvl="1" indent="-488950">
              <a:lnSpc>
                <a:spcPct val="100000"/>
              </a:lnSpc>
              <a:spcBef>
                <a:spcPts val="705"/>
              </a:spcBef>
              <a:buSzPct val="96428"/>
              <a:buAutoNum type="arabicPeriod" startAt="3"/>
              <a:tabLst>
                <a:tab pos="501650" algn="l"/>
              </a:tabLst>
            </a:pPr>
            <a:r>
              <a:rPr sz="2800" spc="-10" dirty="0">
                <a:latin typeface="华文楷体"/>
                <a:cs typeface="华文楷体"/>
              </a:rPr>
              <a:t>如果该</a:t>
            </a:r>
            <a:r>
              <a:rPr sz="2800" spc="-5" dirty="0">
                <a:latin typeface="华文楷体"/>
                <a:cs typeface="华文楷体"/>
              </a:rPr>
              <a:t>story</a:t>
            </a:r>
            <a:r>
              <a:rPr sz="2800" spc="15" dirty="0">
                <a:latin typeface="华文楷体"/>
                <a:cs typeface="华文楷体"/>
              </a:rPr>
              <a:t> </a:t>
            </a:r>
            <a:r>
              <a:rPr sz="2800" spc="-10" dirty="0">
                <a:latin typeface="华文楷体"/>
                <a:cs typeface="华文楷体"/>
              </a:rPr>
              <a:t>不需要完成</a:t>
            </a:r>
            <a:r>
              <a:rPr sz="2800" spc="-5" dirty="0">
                <a:latin typeface="华文楷体"/>
                <a:cs typeface="华文楷体"/>
              </a:rPr>
              <a:t>,</a:t>
            </a:r>
            <a:r>
              <a:rPr sz="2800" spc="15" dirty="0">
                <a:latin typeface="华文楷体"/>
                <a:cs typeface="华文楷体"/>
              </a:rPr>
              <a:t> </a:t>
            </a:r>
            <a:r>
              <a:rPr sz="2800" spc="-10" dirty="0">
                <a:latin typeface="华文楷体"/>
                <a:cs typeface="华文楷体"/>
              </a:rPr>
              <a:t>则设置</a:t>
            </a:r>
            <a:r>
              <a:rPr sz="2800" spc="-5" dirty="0">
                <a:latin typeface="华文楷体"/>
                <a:cs typeface="华文楷体"/>
              </a:rPr>
              <a:t>为</a:t>
            </a:r>
            <a:r>
              <a:rPr sz="2800" spc="-10" dirty="0">
                <a:latin typeface="华文楷体"/>
                <a:cs typeface="华文楷体"/>
              </a:rPr>
              <a:t>0</a:t>
            </a:r>
            <a:r>
              <a:rPr sz="2800" spc="-5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147955" lvl="1">
              <a:lnSpc>
                <a:spcPct val="120700"/>
              </a:lnSpc>
              <a:spcBef>
                <a:spcPts val="5"/>
              </a:spcBef>
              <a:buSzPct val="96428"/>
              <a:buAutoNum type="arabicPeriod" startAt="3"/>
              <a:tabLst>
                <a:tab pos="502284" algn="l"/>
              </a:tabLst>
            </a:pPr>
            <a:r>
              <a:rPr sz="2800" spc="-5" dirty="0">
                <a:latin typeface="华文楷体"/>
                <a:cs typeface="华文楷体"/>
              </a:rPr>
              <a:t>同理</a:t>
            </a:r>
            <a:r>
              <a:rPr sz="2800" spc="-10" dirty="0">
                <a:latin typeface="华文楷体"/>
                <a:cs typeface="华文楷体"/>
              </a:rPr>
              <a:t>,</a:t>
            </a:r>
            <a:r>
              <a:rPr sz="2800" spc="-5" dirty="0">
                <a:latin typeface="华文楷体"/>
                <a:cs typeface="华文楷体"/>
              </a:rPr>
              <a:t>如果略多</a:t>
            </a:r>
            <a:r>
              <a:rPr sz="2800" dirty="0">
                <a:latin typeface="华文楷体"/>
                <a:cs typeface="华文楷体"/>
              </a:rPr>
              <a:t>/</a:t>
            </a:r>
            <a:r>
              <a:rPr sz="2800" spc="-5" dirty="0">
                <a:latin typeface="华文楷体"/>
                <a:cs typeface="华文楷体"/>
              </a:rPr>
              <a:t>更多</a:t>
            </a:r>
            <a:r>
              <a:rPr sz="2800" dirty="0">
                <a:latin typeface="华文楷体"/>
                <a:cs typeface="华文楷体"/>
              </a:rPr>
              <a:t>/</a:t>
            </a:r>
            <a:r>
              <a:rPr sz="2800" spc="-5" dirty="0">
                <a:latin typeface="华文楷体"/>
                <a:cs typeface="华文楷体"/>
              </a:rPr>
              <a:t>再多</a:t>
            </a:r>
            <a:r>
              <a:rPr sz="2800" spc="-10" dirty="0">
                <a:latin typeface="华文楷体"/>
                <a:cs typeface="华文楷体"/>
              </a:rPr>
              <a:t>,</a:t>
            </a:r>
            <a:r>
              <a:rPr sz="2800" spc="-5" dirty="0">
                <a:latin typeface="华文楷体"/>
                <a:cs typeface="华文楷体"/>
              </a:rPr>
              <a:t>可以相应</a:t>
            </a:r>
            <a:r>
              <a:rPr sz="2800" spc="10" dirty="0">
                <a:latin typeface="华文楷体"/>
                <a:cs typeface="华文楷体"/>
              </a:rPr>
              <a:t>的</a:t>
            </a:r>
            <a:r>
              <a:rPr sz="2800" spc="-5" dirty="0">
                <a:latin typeface="华文楷体"/>
                <a:cs typeface="华文楷体"/>
              </a:rPr>
              <a:t>设置</a:t>
            </a:r>
            <a:r>
              <a:rPr sz="2800" spc="5" dirty="0">
                <a:latin typeface="华文楷体"/>
                <a:cs typeface="华文楷体"/>
              </a:rPr>
              <a:t>为</a:t>
            </a:r>
            <a:r>
              <a:rPr sz="2800" spc="-5" dirty="0">
                <a:latin typeface="华文楷体"/>
                <a:cs typeface="华文楷体"/>
              </a:rPr>
              <a:t>5/8/1</a:t>
            </a:r>
            <a:r>
              <a:rPr sz="2800" spc="-10" dirty="0">
                <a:latin typeface="华文楷体"/>
                <a:cs typeface="华文楷体"/>
              </a:rPr>
              <a:t>3</a:t>
            </a:r>
            <a:r>
              <a:rPr sz="2800" spc="-5" dirty="0">
                <a:latin typeface="华文楷体"/>
                <a:cs typeface="华文楷体"/>
              </a:rPr>
              <a:t>。  2.6.</a:t>
            </a:r>
            <a:r>
              <a:rPr sz="2800" spc="-10" dirty="0">
                <a:latin typeface="华文楷体"/>
                <a:cs typeface="华文楷体"/>
              </a:rPr>
              <a:t>如果该</a:t>
            </a:r>
            <a:r>
              <a:rPr sz="2800" spc="-5" dirty="0">
                <a:latin typeface="华文楷体"/>
                <a:cs typeface="华文楷体"/>
              </a:rPr>
              <a:t>story</a:t>
            </a:r>
            <a:r>
              <a:rPr sz="2800" spc="25" dirty="0">
                <a:latin typeface="华文楷体"/>
                <a:cs typeface="华文楷体"/>
              </a:rPr>
              <a:t> </a:t>
            </a:r>
            <a:r>
              <a:rPr sz="2800" spc="-10" dirty="0">
                <a:latin typeface="华文楷体"/>
                <a:cs typeface="华文楷体"/>
              </a:rPr>
              <a:t>超过</a:t>
            </a:r>
            <a:r>
              <a:rPr sz="2800" spc="-5" dirty="0">
                <a:latin typeface="华文楷体"/>
                <a:cs typeface="华文楷体"/>
              </a:rPr>
              <a:t>13</a:t>
            </a:r>
            <a:r>
              <a:rPr sz="2800" spc="15" dirty="0">
                <a:latin typeface="华文楷体"/>
                <a:cs typeface="华文楷体"/>
              </a:rPr>
              <a:t> </a:t>
            </a:r>
            <a:r>
              <a:rPr sz="2800" spc="-5" dirty="0">
                <a:latin typeface="华文楷体"/>
                <a:cs typeface="华文楷体"/>
              </a:rPr>
              <a:t>story</a:t>
            </a:r>
            <a:r>
              <a:rPr sz="2800" dirty="0">
                <a:latin typeface="华文楷体"/>
                <a:cs typeface="华文楷体"/>
              </a:rPr>
              <a:t> </a:t>
            </a:r>
            <a:r>
              <a:rPr sz="2800" spc="-5" dirty="0">
                <a:latin typeface="华文楷体"/>
                <a:cs typeface="华文楷体"/>
              </a:rPr>
              <a:t>point,</a:t>
            </a:r>
            <a:r>
              <a:rPr sz="2800" spc="-10" dirty="0">
                <a:latin typeface="华文楷体"/>
                <a:cs typeface="华文楷体"/>
              </a:rPr>
              <a:t>可以认为</a:t>
            </a:r>
            <a:r>
              <a:rPr sz="2800" spc="-5" dirty="0">
                <a:latin typeface="华文楷体"/>
                <a:cs typeface="华文楷体"/>
              </a:rPr>
              <a:t>是Epic,</a:t>
            </a:r>
            <a:r>
              <a:rPr sz="2800" spc="-10" dirty="0">
                <a:latin typeface="华文楷体"/>
                <a:cs typeface="华文楷体"/>
              </a:rPr>
              <a:t>可以再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038" y="6052515"/>
            <a:ext cx="736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华文楷体"/>
                <a:cs typeface="华文楷体"/>
              </a:rPr>
              <a:t>分解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367664"/>
            <a:ext cx="47859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Story</a:t>
            </a:r>
            <a:r>
              <a:rPr spc="-35" dirty="0"/>
              <a:t> </a:t>
            </a:r>
            <a:r>
              <a:rPr dirty="0"/>
              <a:t>point估算-</a:t>
            </a:r>
            <a:r>
              <a:rPr spc="-25" dirty="0"/>
              <a:t> </a:t>
            </a:r>
            <a:r>
              <a:rPr dirty="0"/>
              <a:t>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409" y="1600961"/>
            <a:ext cx="8153400" cy="384556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45"/>
              </a:spcBef>
            </a:pPr>
            <a:r>
              <a:rPr sz="2900" dirty="0">
                <a:latin typeface="华文仿宋"/>
                <a:cs typeface="华文仿宋"/>
              </a:rPr>
              <a:t>针</a:t>
            </a:r>
            <a:r>
              <a:rPr sz="2900" spc="-5" dirty="0">
                <a:latin typeface="华文仿宋"/>
                <a:cs typeface="华文仿宋"/>
              </a:rPr>
              <a:t>对</a:t>
            </a:r>
            <a:r>
              <a:rPr sz="2900" dirty="0">
                <a:latin typeface="华文仿宋"/>
                <a:cs typeface="华文仿宋"/>
              </a:rPr>
              <a:t>《</a:t>
            </a:r>
            <a:r>
              <a:rPr sz="2900" dirty="0">
                <a:latin typeface="Tw Cen MT"/>
                <a:cs typeface="Tw Cen MT"/>
              </a:rPr>
              <a:t>SPM</a:t>
            </a:r>
            <a:r>
              <a:rPr sz="2900" dirty="0">
                <a:latin typeface="华文仿宋"/>
                <a:cs typeface="华文仿宋"/>
              </a:rPr>
              <a:t>需求规格</a:t>
            </a:r>
            <a:r>
              <a:rPr sz="2900" spc="-15" dirty="0">
                <a:latin typeface="华文仿宋"/>
                <a:cs typeface="华文仿宋"/>
              </a:rPr>
              <a:t>》</a:t>
            </a:r>
            <a:r>
              <a:rPr sz="2900" dirty="0">
                <a:latin typeface="华文仿宋"/>
                <a:cs typeface="华文仿宋"/>
              </a:rPr>
              <a:t>：</a:t>
            </a:r>
            <a:endParaRPr sz="2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200">
              <a:latin typeface="Times New Roman"/>
              <a:cs typeface="Times New Roman"/>
            </a:endParaRPr>
          </a:p>
          <a:p>
            <a:pPr marL="410845" indent="-320675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仿宋"/>
                <a:cs typeface="华文仿宋"/>
              </a:rPr>
              <a:t>预估</a:t>
            </a:r>
            <a:r>
              <a:rPr sz="2900" dirty="0">
                <a:latin typeface="Tw Cen MT"/>
                <a:cs typeface="Tw Cen MT"/>
              </a:rPr>
              <a:t>:</a:t>
            </a:r>
            <a:endParaRPr sz="2900">
              <a:latin typeface="Tw Cen MT"/>
              <a:cs typeface="Tw Cen MT"/>
            </a:endParaRPr>
          </a:p>
          <a:p>
            <a:pPr marL="730885" lvl="1" indent="-273685">
              <a:lnSpc>
                <a:spcPct val="100000"/>
              </a:lnSpc>
              <a:spcBef>
                <a:spcPts val="61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731520" algn="l"/>
              </a:tabLst>
            </a:pPr>
            <a:r>
              <a:rPr sz="2600" dirty="0">
                <a:latin typeface="华文仿宋"/>
                <a:cs typeface="华文仿宋"/>
              </a:rPr>
              <a:t>注册功能为</a:t>
            </a:r>
            <a:r>
              <a:rPr sz="2600" dirty="0">
                <a:latin typeface="Tw Cen MT"/>
                <a:cs typeface="Tw Cen MT"/>
              </a:rPr>
              <a:t>3</a:t>
            </a:r>
            <a:r>
              <a:rPr sz="2600" dirty="0">
                <a:latin typeface="华文仿宋"/>
                <a:cs typeface="华文仿宋"/>
              </a:rPr>
              <a:t>个</a:t>
            </a:r>
            <a:r>
              <a:rPr sz="2600" spc="-5" dirty="0">
                <a:latin typeface="Tw Cen MT"/>
                <a:cs typeface="Tw Cen MT"/>
              </a:rPr>
              <a:t>story</a:t>
            </a:r>
            <a:r>
              <a:rPr sz="2600" spc="-50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points</a:t>
            </a:r>
            <a:endParaRPr sz="2600">
              <a:latin typeface="Tw Cen MT"/>
              <a:cs typeface="Tw Cen MT"/>
            </a:endParaRPr>
          </a:p>
          <a:p>
            <a:pPr marL="410845" indent="-320675">
              <a:lnSpc>
                <a:spcPct val="100000"/>
              </a:lnSpc>
              <a:spcBef>
                <a:spcPts val="68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仿宋"/>
                <a:cs typeface="华文仿宋"/>
              </a:rPr>
              <a:t>则估</a:t>
            </a:r>
            <a:r>
              <a:rPr sz="2900" spc="5" dirty="0">
                <a:latin typeface="华文仿宋"/>
                <a:cs typeface="华文仿宋"/>
              </a:rPr>
              <a:t>算</a:t>
            </a:r>
            <a:r>
              <a:rPr sz="2900" dirty="0">
                <a:latin typeface="Tw Cen MT"/>
                <a:cs typeface="Tw Cen MT"/>
              </a:rPr>
              <a:t>:</a:t>
            </a:r>
            <a:endParaRPr sz="2900">
              <a:latin typeface="Tw Cen MT"/>
              <a:cs typeface="Tw Cen MT"/>
            </a:endParaRPr>
          </a:p>
          <a:p>
            <a:pPr marL="730885" lvl="1" indent="-273685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731520" algn="l"/>
              </a:tabLst>
            </a:pPr>
            <a:r>
              <a:rPr sz="2600" dirty="0">
                <a:latin typeface="华文仿宋"/>
                <a:cs typeface="华文仿宋"/>
              </a:rPr>
              <a:t>登录功能为</a:t>
            </a:r>
            <a:r>
              <a:rPr sz="2600" dirty="0">
                <a:latin typeface="Tw Cen MT"/>
                <a:cs typeface="Tw Cen MT"/>
              </a:rPr>
              <a:t>2</a:t>
            </a:r>
            <a:r>
              <a:rPr sz="2600" dirty="0">
                <a:latin typeface="华文仿宋"/>
                <a:cs typeface="华文仿宋"/>
              </a:rPr>
              <a:t>个</a:t>
            </a:r>
            <a:r>
              <a:rPr sz="2600" spc="-5" dirty="0">
                <a:latin typeface="Tw Cen MT"/>
                <a:cs typeface="Tw Cen MT"/>
              </a:rPr>
              <a:t>story</a:t>
            </a:r>
            <a:r>
              <a:rPr sz="2600" spc="-50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points</a:t>
            </a:r>
            <a:endParaRPr sz="2600">
              <a:latin typeface="Tw Cen MT"/>
              <a:cs typeface="Tw Cen MT"/>
            </a:endParaRPr>
          </a:p>
          <a:p>
            <a:pPr marL="730885" lvl="1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731520" algn="l"/>
              </a:tabLst>
            </a:pPr>
            <a:r>
              <a:rPr sz="2600" dirty="0">
                <a:latin typeface="华文仿宋"/>
                <a:cs typeface="华文仿宋"/>
              </a:rPr>
              <a:t>人员管理功能为</a:t>
            </a:r>
            <a:r>
              <a:rPr sz="2600" spc="5" dirty="0">
                <a:latin typeface="Tw Cen MT"/>
                <a:cs typeface="Tw Cen MT"/>
              </a:rPr>
              <a:t>5</a:t>
            </a:r>
            <a:r>
              <a:rPr sz="2600" dirty="0">
                <a:latin typeface="华文仿宋"/>
                <a:cs typeface="华文仿宋"/>
              </a:rPr>
              <a:t>个</a:t>
            </a:r>
            <a:r>
              <a:rPr sz="2600" spc="-5" dirty="0">
                <a:latin typeface="Tw Cen MT"/>
                <a:cs typeface="Tw Cen MT"/>
              </a:rPr>
              <a:t>story</a:t>
            </a:r>
            <a:r>
              <a:rPr sz="2600" spc="-55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points.</a:t>
            </a:r>
            <a:endParaRPr sz="26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/>
              <a:t>A Fast Story Point Estimation</a:t>
            </a:r>
            <a:r>
              <a:rPr spc="-50" dirty="0"/>
              <a:t> </a:t>
            </a:r>
            <a:r>
              <a:rPr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5374" y="1562861"/>
            <a:ext cx="8639810" cy="71501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45"/>
              </a:spcBef>
            </a:pPr>
            <a:r>
              <a:rPr sz="2900" dirty="0">
                <a:latin typeface="华文仿宋"/>
                <a:cs typeface="华文仿宋"/>
              </a:rPr>
              <a:t>每个用户故事被独立打</a:t>
            </a:r>
            <a:r>
              <a:rPr sz="2900" spc="-15" dirty="0">
                <a:latin typeface="华文仿宋"/>
                <a:cs typeface="华文仿宋"/>
              </a:rPr>
              <a:t>印</a:t>
            </a:r>
            <a:r>
              <a:rPr sz="2900" dirty="0">
                <a:latin typeface="华文仿宋"/>
                <a:cs typeface="华文仿宋"/>
              </a:rPr>
              <a:t>，贴</a:t>
            </a:r>
            <a:r>
              <a:rPr sz="2900" spc="-15" dirty="0">
                <a:latin typeface="华文仿宋"/>
                <a:cs typeface="华文仿宋"/>
              </a:rPr>
              <a:t>在</a:t>
            </a:r>
            <a:r>
              <a:rPr sz="2900" dirty="0">
                <a:latin typeface="华文仿宋"/>
                <a:cs typeface="华文仿宋"/>
              </a:rPr>
              <a:t>墙上。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7892" y="6354571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6779" y="2599119"/>
            <a:ext cx="5855792" cy="3197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/>
              <a:t>A Fast Story Point Estimation</a:t>
            </a:r>
            <a:r>
              <a:rPr spc="-50" dirty="0"/>
              <a:t> </a:t>
            </a:r>
            <a:r>
              <a:rPr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761" y="1578102"/>
            <a:ext cx="9145905" cy="1038225"/>
          </a:xfrm>
          <a:custGeom>
            <a:avLst/>
            <a:gdLst/>
            <a:ahLst/>
            <a:cxnLst/>
            <a:rect l="l" t="t" r="r" b="b"/>
            <a:pathLst>
              <a:path w="9145905" h="1038225">
                <a:moveTo>
                  <a:pt x="0" y="1037844"/>
                </a:moveTo>
                <a:lnTo>
                  <a:pt x="9145524" y="1037844"/>
                </a:lnTo>
                <a:lnTo>
                  <a:pt x="9145524" y="0"/>
                </a:lnTo>
                <a:lnTo>
                  <a:pt x="0" y="0"/>
                </a:lnTo>
                <a:lnTo>
                  <a:pt x="0" y="1037844"/>
                </a:lnTo>
                <a:close/>
              </a:path>
            </a:pathLst>
          </a:custGeom>
          <a:ln w="19812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588770"/>
            <a:ext cx="8174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仿宋"/>
                <a:cs typeface="华文仿宋"/>
              </a:rPr>
              <a:t>在墙上写下斐波那契数列</a:t>
            </a:r>
            <a:r>
              <a:rPr sz="2400" spc="-5" dirty="0">
                <a:latin typeface="华文仿宋"/>
                <a:cs typeface="华文仿宋"/>
              </a:rPr>
              <a:t>：</a:t>
            </a:r>
            <a:r>
              <a:rPr sz="2400" spc="-5" dirty="0">
                <a:latin typeface="Tw Cen MT"/>
                <a:cs typeface="Tw Cen MT"/>
              </a:rPr>
              <a:t>1-2-3-5-8-13-21</a:t>
            </a:r>
            <a:r>
              <a:rPr sz="2400" dirty="0">
                <a:latin typeface="华文仿宋"/>
                <a:cs typeface="华文仿宋"/>
              </a:rPr>
              <a:t>并且加上一</a:t>
            </a:r>
            <a:r>
              <a:rPr sz="2400" spc="-10" dirty="0">
                <a:latin typeface="华文仿宋"/>
                <a:cs typeface="华文仿宋"/>
              </a:rPr>
              <a:t>列</a:t>
            </a:r>
            <a:r>
              <a:rPr sz="2400" dirty="0">
                <a:latin typeface="Tw Cen MT"/>
                <a:cs typeface="Tw Cen MT"/>
              </a:rPr>
              <a:t>“</a:t>
            </a:r>
            <a:r>
              <a:rPr sz="2400" dirty="0">
                <a:latin typeface="华文仿宋"/>
                <a:cs typeface="华文仿宋"/>
              </a:rPr>
              <a:t>？</a:t>
            </a:r>
            <a:r>
              <a:rPr sz="2400" dirty="0">
                <a:latin typeface="Tw Cen MT"/>
                <a:cs typeface="Tw Cen MT"/>
              </a:rPr>
              <a:t>”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1970" y="63307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977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1918" y="2932237"/>
            <a:ext cx="5583018" cy="30204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/>
              <a:t>A Fast Story Point Estimation</a:t>
            </a:r>
            <a:r>
              <a:rPr spc="-50" dirty="0"/>
              <a:t> </a:t>
            </a:r>
            <a:r>
              <a:rPr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215" y="1581743"/>
            <a:ext cx="8710930" cy="38842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527685" algn="l"/>
              </a:tabLst>
            </a:pPr>
            <a:r>
              <a:rPr sz="1650" spc="30" dirty="0">
                <a:solidFill>
                  <a:srgbClr val="DD8046"/>
                </a:solidFill>
                <a:latin typeface="华文新魏"/>
                <a:cs typeface="华文新魏"/>
              </a:rPr>
              <a:t>①	</a:t>
            </a:r>
            <a:r>
              <a:rPr sz="2800" spc="-10" dirty="0">
                <a:latin typeface="华文新魏"/>
                <a:cs typeface="华文新魏"/>
              </a:rPr>
              <a:t>团队人员排成一排</a:t>
            </a:r>
            <a:endParaRPr sz="2800">
              <a:latin typeface="华文新魏"/>
              <a:cs typeface="华文新魏"/>
            </a:endParaRPr>
          </a:p>
          <a:p>
            <a:pPr marL="527685" marR="5080" indent="-515620">
              <a:lnSpc>
                <a:spcPct val="100000"/>
              </a:lnSpc>
              <a:spcBef>
                <a:spcPts val="700"/>
              </a:spcBef>
              <a:tabLst>
                <a:tab pos="527685" algn="l"/>
              </a:tabLst>
            </a:pPr>
            <a:r>
              <a:rPr sz="1650" spc="30" dirty="0">
                <a:solidFill>
                  <a:srgbClr val="DD8046"/>
                </a:solidFill>
                <a:latin typeface="华文新魏"/>
                <a:cs typeface="华文新魏"/>
              </a:rPr>
              <a:t>②	</a:t>
            </a:r>
            <a:r>
              <a:rPr sz="2800" spc="-5" dirty="0">
                <a:latin typeface="华文新魏"/>
                <a:cs typeface="华文新魏"/>
              </a:rPr>
              <a:t>要求第一名成员把一个用户故事放</a:t>
            </a:r>
            <a:r>
              <a:rPr sz="2800" dirty="0">
                <a:latin typeface="华文新魏"/>
                <a:cs typeface="华文新魏"/>
              </a:rPr>
              <a:t>到</a:t>
            </a:r>
            <a:r>
              <a:rPr sz="2800" spc="-5" dirty="0">
                <a:latin typeface="华文新魏"/>
                <a:cs typeface="华文新魏"/>
              </a:rPr>
              <a:t>他认</a:t>
            </a:r>
            <a:r>
              <a:rPr sz="2800" dirty="0">
                <a:latin typeface="华文新魏"/>
                <a:cs typeface="华文新魏"/>
              </a:rPr>
              <a:t>为</a:t>
            </a:r>
            <a:r>
              <a:rPr sz="2800" spc="-5" dirty="0">
                <a:latin typeface="华文新魏"/>
                <a:cs typeface="华文新魏"/>
              </a:rPr>
              <a:t>可以</a:t>
            </a:r>
            <a:r>
              <a:rPr sz="2800" dirty="0">
                <a:latin typeface="华文新魏"/>
                <a:cs typeface="华文新魏"/>
              </a:rPr>
              <a:t>正</a:t>
            </a:r>
            <a:r>
              <a:rPr sz="2800" spc="-5" dirty="0">
                <a:latin typeface="华文新魏"/>
                <a:cs typeface="华文新魏"/>
              </a:rPr>
              <a:t>确 反应故事点值的那一列上</a:t>
            </a:r>
            <a:endParaRPr sz="28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527685" algn="l"/>
              </a:tabLst>
            </a:pPr>
            <a:r>
              <a:rPr sz="1650" spc="30" dirty="0">
                <a:solidFill>
                  <a:srgbClr val="DD8046"/>
                </a:solidFill>
                <a:latin typeface="华文新魏"/>
                <a:cs typeface="华文新魏"/>
              </a:rPr>
              <a:t>③	</a:t>
            </a:r>
            <a:r>
              <a:rPr sz="2800" spc="-10" dirty="0">
                <a:latin typeface="华文新魏"/>
                <a:cs typeface="华文新魏"/>
              </a:rPr>
              <a:t>第一名成员做完后排团队成员的最</a:t>
            </a:r>
            <a:r>
              <a:rPr sz="2800" dirty="0">
                <a:latin typeface="华文新魏"/>
                <a:cs typeface="华文新魏"/>
              </a:rPr>
              <a:t>后</a:t>
            </a:r>
            <a:r>
              <a:rPr sz="2800" spc="-10" dirty="0">
                <a:latin typeface="华文新魏"/>
                <a:cs typeface="华文新魏"/>
              </a:rPr>
              <a:t>一个</a:t>
            </a:r>
            <a:r>
              <a:rPr sz="2800" dirty="0">
                <a:latin typeface="华文新魏"/>
                <a:cs typeface="华文新魏"/>
              </a:rPr>
              <a:t>位</a:t>
            </a:r>
            <a:r>
              <a:rPr sz="2800" spc="-5" dirty="0">
                <a:latin typeface="华文新魏"/>
                <a:cs typeface="华文新魏"/>
              </a:rPr>
              <a:t>置</a:t>
            </a:r>
            <a:endParaRPr sz="2800">
              <a:latin typeface="华文新魏"/>
              <a:cs typeface="华文新魏"/>
            </a:endParaRPr>
          </a:p>
          <a:p>
            <a:pPr marL="527685" marR="5080" indent="-515620" algn="just">
              <a:lnSpc>
                <a:spcPct val="100000"/>
              </a:lnSpc>
              <a:spcBef>
                <a:spcPts val="700"/>
              </a:spcBef>
            </a:pPr>
            <a:r>
              <a:rPr sz="1650" spc="30" dirty="0">
                <a:solidFill>
                  <a:srgbClr val="DD8046"/>
                </a:solidFill>
                <a:latin typeface="华文新魏"/>
                <a:cs typeface="华文新魏"/>
              </a:rPr>
              <a:t>④</a:t>
            </a:r>
            <a:r>
              <a:rPr sz="1650" spc="165" dirty="0">
                <a:solidFill>
                  <a:srgbClr val="DD8046"/>
                </a:solidFill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下一个团队成员可以挪动已经摆好</a:t>
            </a:r>
            <a:r>
              <a:rPr sz="2800" dirty="0">
                <a:latin typeface="华文新魏"/>
                <a:cs typeface="华文新魏"/>
              </a:rPr>
              <a:t>的</a:t>
            </a:r>
            <a:r>
              <a:rPr sz="2800" spc="-5" dirty="0">
                <a:latin typeface="华文新魏"/>
                <a:cs typeface="华文新魏"/>
              </a:rPr>
              <a:t>用户</a:t>
            </a:r>
            <a:r>
              <a:rPr sz="2800" dirty="0">
                <a:latin typeface="华文新魏"/>
                <a:cs typeface="华文新魏"/>
              </a:rPr>
              <a:t>故</a:t>
            </a:r>
            <a:r>
              <a:rPr sz="2800" spc="-5" dirty="0">
                <a:latin typeface="华文新魏"/>
                <a:cs typeface="华文新魏"/>
              </a:rPr>
              <a:t>事，</a:t>
            </a:r>
            <a:r>
              <a:rPr sz="2800" dirty="0">
                <a:latin typeface="华文新魏"/>
                <a:cs typeface="华文新魏"/>
              </a:rPr>
              <a:t>也</a:t>
            </a:r>
            <a:r>
              <a:rPr sz="2800" spc="-5" dirty="0">
                <a:latin typeface="华文新魏"/>
                <a:cs typeface="华文新魏"/>
              </a:rPr>
              <a:t>可 以选择另外的用户故事，把它挪到</a:t>
            </a:r>
            <a:r>
              <a:rPr sz="2800" dirty="0">
                <a:latin typeface="华文新魏"/>
                <a:cs typeface="华文新魏"/>
              </a:rPr>
              <a:t>他</a:t>
            </a:r>
            <a:r>
              <a:rPr sz="2800" spc="-5" dirty="0">
                <a:latin typeface="华文新魏"/>
                <a:cs typeface="华文新魏"/>
              </a:rPr>
              <a:t>认为</a:t>
            </a:r>
            <a:r>
              <a:rPr sz="2800" dirty="0">
                <a:latin typeface="华文新魏"/>
                <a:cs typeface="华文新魏"/>
              </a:rPr>
              <a:t>可</a:t>
            </a:r>
            <a:r>
              <a:rPr sz="2800" spc="-5" dirty="0">
                <a:latin typeface="华文新魏"/>
                <a:cs typeface="华文新魏"/>
              </a:rPr>
              <a:t>以正</a:t>
            </a:r>
            <a:r>
              <a:rPr sz="2800" dirty="0">
                <a:latin typeface="华文新魏"/>
                <a:cs typeface="华文新魏"/>
              </a:rPr>
              <a:t>确</a:t>
            </a:r>
            <a:r>
              <a:rPr sz="2800" spc="-5" dirty="0">
                <a:latin typeface="华文新魏"/>
                <a:cs typeface="华文新魏"/>
              </a:rPr>
              <a:t>反 </a:t>
            </a:r>
            <a:r>
              <a:rPr sz="2800" spc="-10" dirty="0">
                <a:latin typeface="华文新魏"/>
                <a:cs typeface="华文新魏"/>
              </a:rPr>
              <a:t>应故事点值的那一列</a:t>
            </a:r>
            <a:endParaRPr sz="2800">
              <a:latin typeface="华文新魏"/>
              <a:cs typeface="华文新魏"/>
            </a:endParaRPr>
          </a:p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1650" spc="30" dirty="0">
                <a:solidFill>
                  <a:srgbClr val="DD8046"/>
                </a:solidFill>
                <a:latin typeface="华文新魏"/>
                <a:cs typeface="华文新魏"/>
              </a:rPr>
              <a:t>⑤</a:t>
            </a:r>
            <a:r>
              <a:rPr sz="1650" spc="215" dirty="0">
                <a:solidFill>
                  <a:srgbClr val="DD8046"/>
                </a:solidFill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继续这个过程，直到所有用户故事</a:t>
            </a:r>
            <a:r>
              <a:rPr sz="2800" dirty="0">
                <a:latin typeface="华文新魏"/>
                <a:cs typeface="华文新魏"/>
              </a:rPr>
              <a:t>都</a:t>
            </a:r>
            <a:r>
              <a:rPr sz="2800" spc="-5" dirty="0">
                <a:latin typeface="华文新魏"/>
                <a:cs typeface="华文新魏"/>
              </a:rPr>
              <a:t>摆放</a:t>
            </a:r>
            <a:r>
              <a:rPr sz="2800" dirty="0">
                <a:latin typeface="华文新魏"/>
                <a:cs typeface="华文新魏"/>
              </a:rPr>
              <a:t>完</a:t>
            </a:r>
            <a:r>
              <a:rPr sz="2800" spc="-5" dirty="0">
                <a:latin typeface="华文新魏"/>
                <a:cs typeface="华文新魏"/>
              </a:rPr>
              <a:t>毕。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120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/>
              <a:t>A Fast Story Point Estimation</a:t>
            </a:r>
            <a:r>
              <a:rPr spc="-50" dirty="0"/>
              <a:t> </a:t>
            </a:r>
            <a:r>
              <a:rPr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5560" y="1752675"/>
            <a:ext cx="6946268" cy="3940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965" y="4222241"/>
            <a:ext cx="8903335" cy="1964689"/>
          </a:xfrm>
          <a:prstGeom prst="rect">
            <a:avLst/>
          </a:prstGeom>
          <a:solidFill>
            <a:srgbClr val="93B6D2"/>
          </a:solidFill>
          <a:ln w="28955">
            <a:solidFill>
              <a:srgbClr val="006FC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6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410209" algn="l"/>
                <a:tab pos="410845" algn="l"/>
              </a:tabLst>
            </a:pPr>
            <a:r>
              <a:rPr sz="2400" dirty="0">
                <a:latin typeface="华文新魏"/>
                <a:cs typeface="华文新魏"/>
              </a:rPr>
              <a:t>在此循环过程中，会有用户故事在不同的估值点列中来回挪动</a:t>
            </a:r>
            <a:endParaRPr sz="2400">
              <a:latin typeface="华文新魏"/>
              <a:cs typeface="华文新魏"/>
            </a:endParaRPr>
          </a:p>
          <a:p>
            <a:pPr marL="410209" marR="247015">
              <a:lnSpc>
                <a:spcPct val="100000"/>
              </a:lnSpc>
            </a:pPr>
            <a:r>
              <a:rPr sz="2400" dirty="0">
                <a:latin typeface="华文新魏"/>
                <a:cs typeface="华文新魏"/>
              </a:rPr>
              <a:t>，引导师可以把这些用户故事挪到列表的上方，用于最后的时 候讨论。</a:t>
            </a:r>
            <a:endParaRPr sz="2400">
              <a:latin typeface="华文新魏"/>
              <a:cs typeface="华文新魏"/>
            </a:endParaRPr>
          </a:p>
          <a:p>
            <a:pPr marL="410209" indent="-320675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410209" algn="l"/>
                <a:tab pos="410845" algn="l"/>
              </a:tabLst>
            </a:pPr>
            <a:r>
              <a:rPr sz="2400" dirty="0">
                <a:latin typeface="华文新魏"/>
                <a:cs typeface="华文新魏"/>
              </a:rPr>
              <a:t>也会有一些故事需要更多的信息，把他们放</a:t>
            </a:r>
            <a:r>
              <a:rPr sz="2400" spc="-40" dirty="0">
                <a:latin typeface="华文新魏"/>
                <a:cs typeface="华文新魏"/>
              </a:rPr>
              <a:t>到</a:t>
            </a:r>
            <a:r>
              <a:rPr sz="2400" dirty="0">
                <a:latin typeface="华文新魏"/>
                <a:cs typeface="华文新魏"/>
              </a:rPr>
              <a:t>“？”一列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/>
              <a:t>A Fast Story Point Estimation</a:t>
            </a:r>
            <a:r>
              <a:rPr spc="-50" dirty="0"/>
              <a:t> </a:t>
            </a:r>
            <a:r>
              <a:rPr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65" y="1724405"/>
            <a:ext cx="8928100" cy="1129665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10209" marR="271145" indent="-320040">
              <a:lnSpc>
                <a:spcPct val="100000"/>
              </a:lnSpc>
              <a:spcBef>
                <a:spcPts val="170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410209" algn="l"/>
                <a:tab pos="410845" algn="l"/>
              </a:tabLst>
            </a:pPr>
            <a:r>
              <a:rPr sz="2400" dirty="0">
                <a:latin typeface="华文新魏"/>
                <a:cs typeface="华文新魏"/>
              </a:rPr>
              <a:t>一旦团队成员对放置的故事都满意，计算每一列故事的个数， 并且乘以故事点，从而得到所有的故事点。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47358" y="3453384"/>
            <a:ext cx="6570821" cy="2613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49155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总估算成本（BAC）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6161" y="6210300"/>
            <a:ext cx="7162800" cy="78105"/>
          </a:xfrm>
          <a:custGeom>
            <a:avLst/>
            <a:gdLst/>
            <a:ahLst/>
            <a:cxnLst/>
            <a:rect l="l" t="t" r="r" b="b"/>
            <a:pathLst>
              <a:path w="7162800" h="78104">
                <a:moveTo>
                  <a:pt x="7033259" y="0"/>
                </a:moveTo>
                <a:lnTo>
                  <a:pt x="7033259" y="77723"/>
                </a:lnTo>
                <a:lnTo>
                  <a:pt x="7119619" y="51815"/>
                </a:lnTo>
                <a:lnTo>
                  <a:pt x="7046213" y="51815"/>
                </a:lnTo>
                <a:lnTo>
                  <a:pt x="7046213" y="25907"/>
                </a:lnTo>
                <a:lnTo>
                  <a:pt x="7119619" y="25907"/>
                </a:lnTo>
                <a:lnTo>
                  <a:pt x="7033259" y="0"/>
                </a:lnTo>
                <a:close/>
              </a:path>
              <a:path w="7162800" h="78104">
                <a:moveTo>
                  <a:pt x="7033259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7033259" y="51815"/>
                </a:lnTo>
                <a:lnTo>
                  <a:pt x="7033259" y="25907"/>
                </a:lnTo>
                <a:close/>
              </a:path>
              <a:path w="7162800" h="78104">
                <a:moveTo>
                  <a:pt x="7119619" y="25907"/>
                </a:moveTo>
                <a:lnTo>
                  <a:pt x="7046213" y="25907"/>
                </a:lnTo>
                <a:lnTo>
                  <a:pt x="7046213" y="51815"/>
                </a:lnTo>
                <a:lnTo>
                  <a:pt x="7119619" y="51815"/>
                </a:lnTo>
                <a:lnTo>
                  <a:pt x="7162800" y="38862"/>
                </a:lnTo>
                <a:lnTo>
                  <a:pt x="71196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57300" y="2134361"/>
            <a:ext cx="78105" cy="4114800"/>
          </a:xfrm>
          <a:custGeom>
            <a:avLst/>
            <a:gdLst/>
            <a:ahLst/>
            <a:cxnLst/>
            <a:rect l="l" t="t" r="r" b="b"/>
            <a:pathLst>
              <a:path w="78105" h="4114800">
                <a:moveTo>
                  <a:pt x="51815" y="116586"/>
                </a:moveTo>
                <a:lnTo>
                  <a:pt x="25908" y="116586"/>
                </a:lnTo>
                <a:lnTo>
                  <a:pt x="25908" y="4114800"/>
                </a:lnTo>
                <a:lnTo>
                  <a:pt x="51815" y="4114800"/>
                </a:lnTo>
                <a:lnTo>
                  <a:pt x="51815" y="116586"/>
                </a:lnTo>
                <a:close/>
              </a:path>
              <a:path w="78105" h="4114800">
                <a:moveTo>
                  <a:pt x="38862" y="0"/>
                </a:moveTo>
                <a:lnTo>
                  <a:pt x="0" y="129539"/>
                </a:lnTo>
                <a:lnTo>
                  <a:pt x="25908" y="129539"/>
                </a:lnTo>
                <a:lnTo>
                  <a:pt x="25908" y="116586"/>
                </a:lnTo>
                <a:lnTo>
                  <a:pt x="73837" y="116586"/>
                </a:lnTo>
                <a:lnTo>
                  <a:pt x="38862" y="0"/>
                </a:lnTo>
                <a:close/>
              </a:path>
              <a:path w="78105" h="4114800">
                <a:moveTo>
                  <a:pt x="73837" y="116586"/>
                </a:moveTo>
                <a:lnTo>
                  <a:pt x="51815" y="116586"/>
                </a:lnTo>
                <a:lnTo>
                  <a:pt x="51815" y="129539"/>
                </a:lnTo>
                <a:lnTo>
                  <a:pt x="77724" y="129539"/>
                </a:lnTo>
                <a:lnTo>
                  <a:pt x="73837" y="1165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3094" y="2914776"/>
            <a:ext cx="432434" cy="92138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 marR="5080">
              <a:lnSpc>
                <a:spcPts val="3210"/>
              </a:lnSpc>
              <a:spcBef>
                <a:spcPts val="735"/>
              </a:spcBef>
            </a:pPr>
            <a:r>
              <a:rPr sz="3200" dirty="0">
                <a:latin typeface="宋体"/>
                <a:cs typeface="宋体"/>
              </a:rPr>
              <a:t>费 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35161" y="2439161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48700" y="2439161"/>
            <a:ext cx="78105" cy="3810000"/>
          </a:xfrm>
          <a:custGeom>
            <a:avLst/>
            <a:gdLst/>
            <a:ahLst/>
            <a:cxnLst/>
            <a:rect l="l" t="t" r="r" b="b"/>
            <a:pathLst>
              <a:path w="78104" h="3810000">
                <a:moveTo>
                  <a:pt x="25907" y="3732276"/>
                </a:moveTo>
                <a:lnTo>
                  <a:pt x="0" y="3732276"/>
                </a:lnTo>
                <a:lnTo>
                  <a:pt x="38861" y="3810000"/>
                </a:lnTo>
                <a:lnTo>
                  <a:pt x="71247" y="3745229"/>
                </a:lnTo>
                <a:lnTo>
                  <a:pt x="25907" y="3745229"/>
                </a:lnTo>
                <a:lnTo>
                  <a:pt x="25907" y="3732276"/>
                </a:lnTo>
                <a:close/>
              </a:path>
              <a:path w="78104" h="3810000">
                <a:moveTo>
                  <a:pt x="51816" y="64770"/>
                </a:moveTo>
                <a:lnTo>
                  <a:pt x="25907" y="64770"/>
                </a:lnTo>
                <a:lnTo>
                  <a:pt x="25907" y="3745229"/>
                </a:lnTo>
                <a:lnTo>
                  <a:pt x="51816" y="3745229"/>
                </a:lnTo>
                <a:lnTo>
                  <a:pt x="51816" y="64770"/>
                </a:lnTo>
                <a:close/>
              </a:path>
              <a:path w="78104" h="3810000">
                <a:moveTo>
                  <a:pt x="77724" y="3732276"/>
                </a:moveTo>
                <a:lnTo>
                  <a:pt x="51816" y="3732276"/>
                </a:lnTo>
                <a:lnTo>
                  <a:pt x="51816" y="3745229"/>
                </a:lnTo>
                <a:lnTo>
                  <a:pt x="71247" y="3745229"/>
                </a:lnTo>
                <a:lnTo>
                  <a:pt x="77724" y="3732276"/>
                </a:lnTo>
                <a:close/>
              </a:path>
              <a:path w="78104" h="3810000">
                <a:moveTo>
                  <a:pt x="38861" y="0"/>
                </a:moveTo>
                <a:lnTo>
                  <a:pt x="0" y="77724"/>
                </a:lnTo>
                <a:lnTo>
                  <a:pt x="25907" y="77724"/>
                </a:lnTo>
                <a:lnTo>
                  <a:pt x="25907" y="64770"/>
                </a:lnTo>
                <a:lnTo>
                  <a:pt x="71247" y="64770"/>
                </a:lnTo>
                <a:lnTo>
                  <a:pt x="38861" y="0"/>
                </a:lnTo>
                <a:close/>
              </a:path>
              <a:path w="78104" h="3810000">
                <a:moveTo>
                  <a:pt x="71247" y="64770"/>
                </a:moveTo>
                <a:lnTo>
                  <a:pt x="51816" y="64770"/>
                </a:lnTo>
                <a:lnTo>
                  <a:pt x="51816" y="77724"/>
                </a:lnTo>
                <a:lnTo>
                  <a:pt x="77724" y="77724"/>
                </a:lnTo>
                <a:lnTo>
                  <a:pt x="71247" y="64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739037" y="3659885"/>
            <a:ext cx="317500" cy="4533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375"/>
              </a:lnSpc>
            </a:pPr>
            <a:r>
              <a:rPr sz="2000" spc="-5" dirty="0">
                <a:latin typeface="Arial Narrow"/>
                <a:cs typeface="Arial Narrow"/>
              </a:rPr>
              <a:t>BAC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4628" y="6306718"/>
            <a:ext cx="840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latin typeface="宋体"/>
                <a:cs typeface="宋体"/>
              </a:rPr>
              <a:t>时间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19600" y="2971800"/>
            <a:ext cx="1066800" cy="1600200"/>
          </a:xfrm>
          <a:custGeom>
            <a:avLst/>
            <a:gdLst/>
            <a:ahLst/>
            <a:cxnLst/>
            <a:rect l="l" t="t" r="r" b="b"/>
            <a:pathLst>
              <a:path w="1066800" h="1600200">
                <a:moveTo>
                  <a:pt x="680465" y="1296543"/>
                </a:moveTo>
                <a:lnTo>
                  <a:pt x="395477" y="1296543"/>
                </a:lnTo>
                <a:lnTo>
                  <a:pt x="395477" y="1600200"/>
                </a:lnTo>
                <a:lnTo>
                  <a:pt x="680465" y="1600200"/>
                </a:lnTo>
                <a:lnTo>
                  <a:pt x="680465" y="1296543"/>
                </a:lnTo>
                <a:close/>
              </a:path>
              <a:path w="1066800" h="1600200">
                <a:moveTo>
                  <a:pt x="1000607" y="231266"/>
                </a:moveTo>
                <a:lnTo>
                  <a:pt x="543560" y="231266"/>
                </a:lnTo>
                <a:lnTo>
                  <a:pt x="596951" y="235217"/>
                </a:lnTo>
                <a:lnTo>
                  <a:pt x="644556" y="247062"/>
                </a:lnTo>
                <a:lnTo>
                  <a:pt x="686399" y="266789"/>
                </a:lnTo>
                <a:lnTo>
                  <a:pt x="722502" y="294386"/>
                </a:lnTo>
                <a:lnTo>
                  <a:pt x="751580" y="327602"/>
                </a:lnTo>
                <a:lnTo>
                  <a:pt x="772334" y="363997"/>
                </a:lnTo>
                <a:lnTo>
                  <a:pt x="784778" y="403560"/>
                </a:lnTo>
                <a:lnTo>
                  <a:pt x="788924" y="446277"/>
                </a:lnTo>
                <a:lnTo>
                  <a:pt x="786588" y="477444"/>
                </a:lnTo>
                <a:lnTo>
                  <a:pt x="767867" y="535824"/>
                </a:lnTo>
                <a:lnTo>
                  <a:pt x="733002" y="584346"/>
                </a:lnTo>
                <a:lnTo>
                  <a:pt x="702008" y="615061"/>
                </a:lnTo>
                <a:lnTo>
                  <a:pt x="658465" y="655109"/>
                </a:lnTo>
                <a:lnTo>
                  <a:pt x="602361" y="704469"/>
                </a:lnTo>
                <a:lnTo>
                  <a:pt x="555785" y="746818"/>
                </a:lnTo>
                <a:lnTo>
                  <a:pt x="515872" y="787449"/>
                </a:lnTo>
                <a:lnTo>
                  <a:pt x="482611" y="826349"/>
                </a:lnTo>
                <a:lnTo>
                  <a:pt x="455987" y="863505"/>
                </a:lnTo>
                <a:lnTo>
                  <a:pt x="435990" y="898906"/>
                </a:lnTo>
                <a:lnTo>
                  <a:pt x="417822" y="945124"/>
                </a:lnTo>
                <a:lnTo>
                  <a:pt x="404844" y="997283"/>
                </a:lnTo>
                <a:lnTo>
                  <a:pt x="397057" y="1055371"/>
                </a:lnTo>
                <a:lnTo>
                  <a:pt x="394462" y="1119377"/>
                </a:lnTo>
                <a:lnTo>
                  <a:pt x="394531" y="1128760"/>
                </a:lnTo>
                <a:lnTo>
                  <a:pt x="394731" y="1143952"/>
                </a:lnTo>
                <a:lnTo>
                  <a:pt x="395477" y="1191768"/>
                </a:lnTo>
                <a:lnTo>
                  <a:pt x="654050" y="1191768"/>
                </a:lnTo>
                <a:lnTo>
                  <a:pt x="654556" y="1133899"/>
                </a:lnTo>
                <a:lnTo>
                  <a:pt x="658002" y="1085627"/>
                </a:lnTo>
                <a:lnTo>
                  <a:pt x="664426" y="1046928"/>
                </a:lnTo>
                <a:lnTo>
                  <a:pt x="689006" y="991534"/>
                </a:lnTo>
                <a:lnTo>
                  <a:pt x="712723" y="961374"/>
                </a:lnTo>
                <a:lnTo>
                  <a:pt x="745013" y="927284"/>
                </a:lnTo>
                <a:lnTo>
                  <a:pt x="785876" y="889254"/>
                </a:lnTo>
                <a:lnTo>
                  <a:pt x="833252" y="846434"/>
                </a:lnTo>
                <a:lnTo>
                  <a:pt x="875673" y="806258"/>
                </a:lnTo>
                <a:lnTo>
                  <a:pt x="913142" y="768725"/>
                </a:lnTo>
                <a:lnTo>
                  <a:pt x="945663" y="733837"/>
                </a:lnTo>
                <a:lnTo>
                  <a:pt x="973241" y="701592"/>
                </a:lnTo>
                <a:lnTo>
                  <a:pt x="1013587" y="645032"/>
                </a:lnTo>
                <a:lnTo>
                  <a:pt x="1036849" y="599503"/>
                </a:lnTo>
                <a:lnTo>
                  <a:pt x="1053480" y="552640"/>
                </a:lnTo>
                <a:lnTo>
                  <a:pt x="1063468" y="504443"/>
                </a:lnTo>
                <a:lnTo>
                  <a:pt x="1066800" y="454913"/>
                </a:lnTo>
                <a:lnTo>
                  <a:pt x="1063837" y="403960"/>
                </a:lnTo>
                <a:lnTo>
                  <a:pt x="1054953" y="354840"/>
                </a:lnTo>
                <a:lnTo>
                  <a:pt x="1040147" y="307550"/>
                </a:lnTo>
                <a:lnTo>
                  <a:pt x="1019424" y="262088"/>
                </a:lnTo>
                <a:lnTo>
                  <a:pt x="1000607" y="231266"/>
                </a:lnTo>
                <a:close/>
              </a:path>
              <a:path w="1066800" h="1600200">
                <a:moveTo>
                  <a:pt x="531367" y="0"/>
                </a:moveTo>
                <a:lnTo>
                  <a:pt x="474474" y="2107"/>
                </a:lnTo>
                <a:lnTo>
                  <a:pt x="420379" y="8431"/>
                </a:lnTo>
                <a:lnTo>
                  <a:pt x="369086" y="18973"/>
                </a:lnTo>
                <a:lnTo>
                  <a:pt x="320595" y="33734"/>
                </a:lnTo>
                <a:lnTo>
                  <a:pt x="274908" y="52716"/>
                </a:lnTo>
                <a:lnTo>
                  <a:pt x="232027" y="75920"/>
                </a:lnTo>
                <a:lnTo>
                  <a:pt x="191952" y="103347"/>
                </a:lnTo>
                <a:lnTo>
                  <a:pt x="154686" y="135000"/>
                </a:lnTo>
                <a:lnTo>
                  <a:pt x="120853" y="169683"/>
                </a:lnTo>
                <a:lnTo>
                  <a:pt x="91172" y="206196"/>
                </a:lnTo>
                <a:lnTo>
                  <a:pt x="65636" y="244537"/>
                </a:lnTo>
                <a:lnTo>
                  <a:pt x="44243" y="284702"/>
                </a:lnTo>
                <a:lnTo>
                  <a:pt x="26987" y="326689"/>
                </a:lnTo>
                <a:lnTo>
                  <a:pt x="13864" y="370494"/>
                </a:lnTo>
                <a:lnTo>
                  <a:pt x="4870" y="416115"/>
                </a:lnTo>
                <a:lnTo>
                  <a:pt x="0" y="463550"/>
                </a:lnTo>
                <a:lnTo>
                  <a:pt x="261620" y="498094"/>
                </a:lnTo>
                <a:lnTo>
                  <a:pt x="274408" y="446840"/>
                </a:lnTo>
                <a:lnTo>
                  <a:pt x="290836" y="401128"/>
                </a:lnTo>
                <a:lnTo>
                  <a:pt x="310915" y="360952"/>
                </a:lnTo>
                <a:lnTo>
                  <a:pt x="334658" y="326304"/>
                </a:lnTo>
                <a:lnTo>
                  <a:pt x="362076" y="297179"/>
                </a:lnTo>
                <a:lnTo>
                  <a:pt x="400774" y="268343"/>
                </a:lnTo>
                <a:lnTo>
                  <a:pt x="443912" y="247745"/>
                </a:lnTo>
                <a:lnTo>
                  <a:pt x="491503" y="235386"/>
                </a:lnTo>
                <a:lnTo>
                  <a:pt x="543560" y="231266"/>
                </a:lnTo>
                <a:lnTo>
                  <a:pt x="1000607" y="231266"/>
                </a:lnTo>
                <a:lnTo>
                  <a:pt x="992784" y="218453"/>
                </a:lnTo>
                <a:lnTo>
                  <a:pt x="960231" y="176641"/>
                </a:lnTo>
                <a:lnTo>
                  <a:pt x="921765" y="136651"/>
                </a:lnTo>
                <a:lnTo>
                  <a:pt x="888308" y="107983"/>
                </a:lnTo>
                <a:lnTo>
                  <a:pt x="852368" y="82683"/>
                </a:lnTo>
                <a:lnTo>
                  <a:pt x="813947" y="60753"/>
                </a:lnTo>
                <a:lnTo>
                  <a:pt x="773046" y="42193"/>
                </a:lnTo>
                <a:lnTo>
                  <a:pt x="729664" y="27006"/>
                </a:lnTo>
                <a:lnTo>
                  <a:pt x="683805" y="15192"/>
                </a:lnTo>
                <a:lnTo>
                  <a:pt x="635468" y="6753"/>
                </a:lnTo>
                <a:lnTo>
                  <a:pt x="584656" y="1688"/>
                </a:lnTo>
                <a:lnTo>
                  <a:pt x="531367" y="0"/>
                </a:lnTo>
                <a:close/>
              </a:path>
            </a:pathLst>
          </a:custGeom>
          <a:solidFill>
            <a:srgbClr val="8E5E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15078" y="4268342"/>
            <a:ext cx="285115" cy="304165"/>
          </a:xfrm>
          <a:custGeom>
            <a:avLst/>
            <a:gdLst/>
            <a:ahLst/>
            <a:cxnLst/>
            <a:rect l="l" t="t" r="r" b="b"/>
            <a:pathLst>
              <a:path w="285114" h="304164">
                <a:moveTo>
                  <a:pt x="0" y="0"/>
                </a:moveTo>
                <a:lnTo>
                  <a:pt x="0" y="0"/>
                </a:lnTo>
                <a:lnTo>
                  <a:pt x="284988" y="0"/>
                </a:lnTo>
                <a:lnTo>
                  <a:pt x="284988" y="50609"/>
                </a:lnTo>
                <a:lnTo>
                  <a:pt x="284988" y="303656"/>
                </a:lnTo>
                <a:lnTo>
                  <a:pt x="237489" y="303656"/>
                </a:lnTo>
                <a:lnTo>
                  <a:pt x="0" y="303656"/>
                </a:lnTo>
                <a:lnTo>
                  <a:pt x="0" y="253047"/>
                </a:lnTo>
                <a:lnTo>
                  <a:pt x="0" y="202437"/>
                </a:lnTo>
                <a:lnTo>
                  <a:pt x="0" y="151828"/>
                </a:lnTo>
                <a:lnTo>
                  <a:pt x="0" y="101218"/>
                </a:lnTo>
                <a:lnTo>
                  <a:pt x="0" y="50609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19600" y="2971800"/>
            <a:ext cx="1066800" cy="1191895"/>
          </a:xfrm>
          <a:custGeom>
            <a:avLst/>
            <a:gdLst/>
            <a:ahLst/>
            <a:cxnLst/>
            <a:rect l="l" t="t" r="r" b="b"/>
            <a:pathLst>
              <a:path w="1066800" h="1191895">
                <a:moveTo>
                  <a:pt x="531367" y="0"/>
                </a:moveTo>
                <a:lnTo>
                  <a:pt x="584656" y="1688"/>
                </a:lnTo>
                <a:lnTo>
                  <a:pt x="635468" y="6753"/>
                </a:lnTo>
                <a:lnTo>
                  <a:pt x="683805" y="15192"/>
                </a:lnTo>
                <a:lnTo>
                  <a:pt x="729664" y="27006"/>
                </a:lnTo>
                <a:lnTo>
                  <a:pt x="773046" y="42193"/>
                </a:lnTo>
                <a:lnTo>
                  <a:pt x="813947" y="60753"/>
                </a:lnTo>
                <a:lnTo>
                  <a:pt x="852368" y="82683"/>
                </a:lnTo>
                <a:lnTo>
                  <a:pt x="888308" y="107983"/>
                </a:lnTo>
                <a:lnTo>
                  <a:pt x="921765" y="136651"/>
                </a:lnTo>
                <a:lnTo>
                  <a:pt x="960231" y="176641"/>
                </a:lnTo>
                <a:lnTo>
                  <a:pt x="992784" y="218453"/>
                </a:lnTo>
                <a:lnTo>
                  <a:pt x="1019424" y="262088"/>
                </a:lnTo>
                <a:lnTo>
                  <a:pt x="1040147" y="307550"/>
                </a:lnTo>
                <a:lnTo>
                  <a:pt x="1054953" y="354840"/>
                </a:lnTo>
                <a:lnTo>
                  <a:pt x="1063837" y="403960"/>
                </a:lnTo>
                <a:lnTo>
                  <a:pt x="1066800" y="454913"/>
                </a:lnTo>
                <a:lnTo>
                  <a:pt x="1063468" y="504443"/>
                </a:lnTo>
                <a:lnTo>
                  <a:pt x="1053480" y="552640"/>
                </a:lnTo>
                <a:lnTo>
                  <a:pt x="1036849" y="599503"/>
                </a:lnTo>
                <a:lnTo>
                  <a:pt x="1013587" y="645032"/>
                </a:lnTo>
                <a:lnTo>
                  <a:pt x="973241" y="701592"/>
                </a:lnTo>
                <a:lnTo>
                  <a:pt x="945663" y="733837"/>
                </a:lnTo>
                <a:lnTo>
                  <a:pt x="913142" y="768725"/>
                </a:lnTo>
                <a:lnTo>
                  <a:pt x="875673" y="806258"/>
                </a:lnTo>
                <a:lnTo>
                  <a:pt x="833252" y="846434"/>
                </a:lnTo>
                <a:lnTo>
                  <a:pt x="785876" y="889254"/>
                </a:lnTo>
                <a:lnTo>
                  <a:pt x="745013" y="927284"/>
                </a:lnTo>
                <a:lnTo>
                  <a:pt x="712723" y="961374"/>
                </a:lnTo>
                <a:lnTo>
                  <a:pt x="689006" y="991534"/>
                </a:lnTo>
                <a:lnTo>
                  <a:pt x="664426" y="1046928"/>
                </a:lnTo>
                <a:lnTo>
                  <a:pt x="658002" y="1085627"/>
                </a:lnTo>
                <a:lnTo>
                  <a:pt x="654556" y="1133899"/>
                </a:lnTo>
                <a:lnTo>
                  <a:pt x="654050" y="1191768"/>
                </a:lnTo>
                <a:lnTo>
                  <a:pt x="602323" y="1191768"/>
                </a:lnTo>
                <a:lnTo>
                  <a:pt x="550615" y="1191768"/>
                </a:lnTo>
                <a:lnTo>
                  <a:pt x="498912" y="1191768"/>
                </a:lnTo>
                <a:lnTo>
                  <a:pt x="447204" y="1191768"/>
                </a:lnTo>
                <a:lnTo>
                  <a:pt x="395477" y="1191768"/>
                </a:lnTo>
                <a:lnTo>
                  <a:pt x="395051" y="1164955"/>
                </a:lnTo>
                <a:lnTo>
                  <a:pt x="394731" y="1143952"/>
                </a:lnTo>
                <a:lnTo>
                  <a:pt x="394531" y="1128760"/>
                </a:lnTo>
                <a:lnTo>
                  <a:pt x="394462" y="1119377"/>
                </a:lnTo>
                <a:lnTo>
                  <a:pt x="397057" y="1055371"/>
                </a:lnTo>
                <a:lnTo>
                  <a:pt x="404844" y="997283"/>
                </a:lnTo>
                <a:lnTo>
                  <a:pt x="417822" y="945124"/>
                </a:lnTo>
                <a:lnTo>
                  <a:pt x="435990" y="898906"/>
                </a:lnTo>
                <a:lnTo>
                  <a:pt x="455987" y="863505"/>
                </a:lnTo>
                <a:lnTo>
                  <a:pt x="482611" y="826349"/>
                </a:lnTo>
                <a:lnTo>
                  <a:pt x="515872" y="787449"/>
                </a:lnTo>
                <a:lnTo>
                  <a:pt x="555785" y="746818"/>
                </a:lnTo>
                <a:lnTo>
                  <a:pt x="602361" y="704469"/>
                </a:lnTo>
                <a:lnTo>
                  <a:pt x="658465" y="655109"/>
                </a:lnTo>
                <a:lnTo>
                  <a:pt x="702008" y="615061"/>
                </a:lnTo>
                <a:lnTo>
                  <a:pt x="733002" y="584346"/>
                </a:lnTo>
                <a:lnTo>
                  <a:pt x="767867" y="535824"/>
                </a:lnTo>
                <a:lnTo>
                  <a:pt x="786588" y="477444"/>
                </a:lnTo>
                <a:lnTo>
                  <a:pt x="788924" y="446277"/>
                </a:lnTo>
                <a:lnTo>
                  <a:pt x="784778" y="403560"/>
                </a:lnTo>
                <a:lnTo>
                  <a:pt x="772334" y="363997"/>
                </a:lnTo>
                <a:lnTo>
                  <a:pt x="751580" y="327602"/>
                </a:lnTo>
                <a:lnTo>
                  <a:pt x="722502" y="294386"/>
                </a:lnTo>
                <a:lnTo>
                  <a:pt x="686399" y="266789"/>
                </a:lnTo>
                <a:lnTo>
                  <a:pt x="644556" y="247062"/>
                </a:lnTo>
                <a:lnTo>
                  <a:pt x="596951" y="235217"/>
                </a:lnTo>
                <a:lnTo>
                  <a:pt x="543560" y="231266"/>
                </a:lnTo>
                <a:lnTo>
                  <a:pt x="491503" y="235386"/>
                </a:lnTo>
                <a:lnTo>
                  <a:pt x="443912" y="247745"/>
                </a:lnTo>
                <a:lnTo>
                  <a:pt x="400774" y="268343"/>
                </a:lnTo>
                <a:lnTo>
                  <a:pt x="362076" y="297179"/>
                </a:lnTo>
                <a:lnTo>
                  <a:pt x="334658" y="326304"/>
                </a:lnTo>
                <a:lnTo>
                  <a:pt x="310915" y="360952"/>
                </a:lnTo>
                <a:lnTo>
                  <a:pt x="290836" y="401128"/>
                </a:lnTo>
                <a:lnTo>
                  <a:pt x="274408" y="446840"/>
                </a:lnTo>
                <a:lnTo>
                  <a:pt x="261620" y="498094"/>
                </a:lnTo>
                <a:lnTo>
                  <a:pt x="209283" y="491173"/>
                </a:lnTo>
                <a:lnTo>
                  <a:pt x="156965" y="484270"/>
                </a:lnTo>
                <a:lnTo>
                  <a:pt x="104654" y="477373"/>
                </a:lnTo>
                <a:lnTo>
                  <a:pt x="52336" y="470470"/>
                </a:lnTo>
                <a:lnTo>
                  <a:pt x="0" y="463550"/>
                </a:lnTo>
                <a:lnTo>
                  <a:pt x="4870" y="416115"/>
                </a:lnTo>
                <a:lnTo>
                  <a:pt x="13864" y="370494"/>
                </a:lnTo>
                <a:lnTo>
                  <a:pt x="26987" y="326689"/>
                </a:lnTo>
                <a:lnTo>
                  <a:pt x="44243" y="284702"/>
                </a:lnTo>
                <a:lnTo>
                  <a:pt x="65636" y="244537"/>
                </a:lnTo>
                <a:lnTo>
                  <a:pt x="91172" y="206196"/>
                </a:lnTo>
                <a:lnTo>
                  <a:pt x="120853" y="169683"/>
                </a:lnTo>
                <a:lnTo>
                  <a:pt x="154686" y="135000"/>
                </a:lnTo>
                <a:lnTo>
                  <a:pt x="191952" y="103347"/>
                </a:lnTo>
                <a:lnTo>
                  <a:pt x="232027" y="75920"/>
                </a:lnTo>
                <a:lnTo>
                  <a:pt x="274908" y="52716"/>
                </a:lnTo>
                <a:lnTo>
                  <a:pt x="320595" y="33734"/>
                </a:lnTo>
                <a:lnTo>
                  <a:pt x="369086" y="18973"/>
                </a:lnTo>
                <a:lnTo>
                  <a:pt x="420379" y="8431"/>
                </a:lnTo>
                <a:lnTo>
                  <a:pt x="474474" y="2107"/>
                </a:lnTo>
                <a:lnTo>
                  <a:pt x="531367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97479" y="2820161"/>
            <a:ext cx="3661410" cy="1917700"/>
          </a:xfrm>
          <a:custGeom>
            <a:avLst/>
            <a:gdLst/>
            <a:ahLst/>
            <a:cxnLst/>
            <a:rect l="l" t="t" r="r" b="b"/>
            <a:pathLst>
              <a:path w="3661409" h="1917700">
                <a:moveTo>
                  <a:pt x="3565152" y="24794"/>
                </a:moveTo>
                <a:lnTo>
                  <a:pt x="3429380" y="63626"/>
                </a:lnTo>
                <a:lnTo>
                  <a:pt x="3382772" y="75184"/>
                </a:lnTo>
                <a:lnTo>
                  <a:pt x="3328162" y="86487"/>
                </a:lnTo>
                <a:lnTo>
                  <a:pt x="2968879" y="148209"/>
                </a:lnTo>
                <a:lnTo>
                  <a:pt x="2887091" y="163575"/>
                </a:lnTo>
                <a:lnTo>
                  <a:pt x="2804413" y="180593"/>
                </a:lnTo>
                <a:lnTo>
                  <a:pt x="2721863" y="199516"/>
                </a:lnTo>
                <a:lnTo>
                  <a:pt x="2680843" y="209676"/>
                </a:lnTo>
                <a:lnTo>
                  <a:pt x="2640203" y="220599"/>
                </a:lnTo>
                <a:lnTo>
                  <a:pt x="2600071" y="232155"/>
                </a:lnTo>
                <a:lnTo>
                  <a:pt x="2560700" y="244348"/>
                </a:lnTo>
                <a:lnTo>
                  <a:pt x="2521838" y="257175"/>
                </a:lnTo>
                <a:lnTo>
                  <a:pt x="2484120" y="270763"/>
                </a:lnTo>
                <a:lnTo>
                  <a:pt x="2447162" y="285114"/>
                </a:lnTo>
                <a:lnTo>
                  <a:pt x="2411475" y="300354"/>
                </a:lnTo>
                <a:lnTo>
                  <a:pt x="2376932" y="316484"/>
                </a:lnTo>
                <a:lnTo>
                  <a:pt x="2312161" y="351409"/>
                </a:lnTo>
                <a:lnTo>
                  <a:pt x="2253742" y="390778"/>
                </a:lnTo>
                <a:lnTo>
                  <a:pt x="2202053" y="435483"/>
                </a:lnTo>
                <a:lnTo>
                  <a:pt x="2156333" y="485013"/>
                </a:lnTo>
                <a:lnTo>
                  <a:pt x="2115438" y="538861"/>
                </a:lnTo>
                <a:lnTo>
                  <a:pt x="2078355" y="596011"/>
                </a:lnTo>
                <a:lnTo>
                  <a:pt x="2044192" y="655954"/>
                </a:lnTo>
                <a:lnTo>
                  <a:pt x="1995678" y="749553"/>
                </a:lnTo>
                <a:lnTo>
                  <a:pt x="1963800" y="813307"/>
                </a:lnTo>
                <a:lnTo>
                  <a:pt x="1931161" y="877569"/>
                </a:lnTo>
                <a:lnTo>
                  <a:pt x="1896745" y="941705"/>
                </a:lnTo>
                <a:lnTo>
                  <a:pt x="1859533" y="1004696"/>
                </a:lnTo>
                <a:lnTo>
                  <a:pt x="1818512" y="1066164"/>
                </a:lnTo>
                <a:lnTo>
                  <a:pt x="1772793" y="1125601"/>
                </a:lnTo>
                <a:lnTo>
                  <a:pt x="1721358" y="1182243"/>
                </a:lnTo>
                <a:lnTo>
                  <a:pt x="1693036" y="1209167"/>
                </a:lnTo>
                <a:lnTo>
                  <a:pt x="1663065" y="1235329"/>
                </a:lnTo>
                <a:lnTo>
                  <a:pt x="1631060" y="1260475"/>
                </a:lnTo>
                <a:lnTo>
                  <a:pt x="1597024" y="1284477"/>
                </a:lnTo>
                <a:lnTo>
                  <a:pt x="1523365" y="1330960"/>
                </a:lnTo>
                <a:lnTo>
                  <a:pt x="1444751" y="1375664"/>
                </a:lnTo>
                <a:lnTo>
                  <a:pt x="1361440" y="1419098"/>
                </a:lnTo>
                <a:lnTo>
                  <a:pt x="1273683" y="1461008"/>
                </a:lnTo>
                <a:lnTo>
                  <a:pt x="1181734" y="1501520"/>
                </a:lnTo>
                <a:lnTo>
                  <a:pt x="1086231" y="1541018"/>
                </a:lnTo>
                <a:lnTo>
                  <a:pt x="987297" y="1579245"/>
                </a:lnTo>
                <a:lnTo>
                  <a:pt x="885190" y="1616583"/>
                </a:lnTo>
                <a:lnTo>
                  <a:pt x="780542" y="1652905"/>
                </a:lnTo>
                <a:lnTo>
                  <a:pt x="673481" y="1688592"/>
                </a:lnTo>
                <a:lnTo>
                  <a:pt x="564387" y="1723644"/>
                </a:lnTo>
                <a:lnTo>
                  <a:pt x="453644" y="1758061"/>
                </a:lnTo>
                <a:lnTo>
                  <a:pt x="0" y="1892554"/>
                </a:lnTo>
                <a:lnTo>
                  <a:pt x="7365" y="1917445"/>
                </a:lnTo>
                <a:lnTo>
                  <a:pt x="461136" y="1782952"/>
                </a:lnTo>
                <a:lnTo>
                  <a:pt x="681355" y="1713357"/>
                </a:lnTo>
                <a:lnTo>
                  <a:pt x="788669" y="1677543"/>
                </a:lnTo>
                <a:lnTo>
                  <a:pt x="893825" y="1640967"/>
                </a:lnTo>
                <a:lnTo>
                  <a:pt x="996187" y="1603629"/>
                </a:lnTo>
                <a:lnTo>
                  <a:pt x="1095501" y="1565148"/>
                </a:lnTo>
                <a:lnTo>
                  <a:pt x="1191641" y="1525524"/>
                </a:lnTo>
                <a:lnTo>
                  <a:pt x="1284096" y="1484757"/>
                </a:lnTo>
                <a:lnTo>
                  <a:pt x="1372616" y="1442465"/>
                </a:lnTo>
                <a:lnTo>
                  <a:pt x="1456690" y="1398651"/>
                </a:lnTo>
                <a:lnTo>
                  <a:pt x="1536192" y="1353439"/>
                </a:lnTo>
                <a:lnTo>
                  <a:pt x="1610741" y="1306321"/>
                </a:lnTo>
                <a:lnTo>
                  <a:pt x="1646046" y="1281557"/>
                </a:lnTo>
                <a:lnTo>
                  <a:pt x="1679067" y="1255649"/>
                </a:lnTo>
                <a:lnTo>
                  <a:pt x="1710055" y="1228725"/>
                </a:lnTo>
                <a:lnTo>
                  <a:pt x="1739265" y="1200912"/>
                </a:lnTo>
                <a:lnTo>
                  <a:pt x="1766570" y="1172083"/>
                </a:lnTo>
                <a:lnTo>
                  <a:pt x="1792350" y="1142619"/>
                </a:lnTo>
                <a:lnTo>
                  <a:pt x="1816481" y="1112393"/>
                </a:lnTo>
                <a:lnTo>
                  <a:pt x="1839341" y="1081658"/>
                </a:lnTo>
                <a:lnTo>
                  <a:pt x="1881250" y="1018794"/>
                </a:lnTo>
                <a:lnTo>
                  <a:pt x="1919096" y="954532"/>
                </a:lnTo>
                <a:lnTo>
                  <a:pt x="1954021" y="889635"/>
                </a:lnTo>
                <a:lnTo>
                  <a:pt x="1986915" y="825119"/>
                </a:lnTo>
                <a:lnTo>
                  <a:pt x="2018919" y="761111"/>
                </a:lnTo>
                <a:lnTo>
                  <a:pt x="2050669" y="698500"/>
                </a:lnTo>
                <a:lnTo>
                  <a:pt x="2083688" y="638301"/>
                </a:lnTo>
                <a:lnTo>
                  <a:pt x="2118486" y="580771"/>
                </a:lnTo>
                <a:lnTo>
                  <a:pt x="2156333" y="526796"/>
                </a:lnTo>
                <a:lnTo>
                  <a:pt x="2198116" y="476758"/>
                </a:lnTo>
                <a:lnTo>
                  <a:pt x="2244724" y="431546"/>
                </a:lnTo>
                <a:lnTo>
                  <a:pt x="2297175" y="391540"/>
                </a:lnTo>
                <a:lnTo>
                  <a:pt x="2356611" y="356108"/>
                </a:lnTo>
                <a:lnTo>
                  <a:pt x="2422397" y="323850"/>
                </a:lnTo>
                <a:lnTo>
                  <a:pt x="2493391" y="295021"/>
                </a:lnTo>
                <a:lnTo>
                  <a:pt x="2530729" y="281559"/>
                </a:lnTo>
                <a:lnTo>
                  <a:pt x="2568829" y="268859"/>
                </a:lnTo>
                <a:lnTo>
                  <a:pt x="2607691" y="256921"/>
                </a:lnTo>
                <a:lnTo>
                  <a:pt x="2647442" y="245490"/>
                </a:lnTo>
                <a:lnTo>
                  <a:pt x="2687573" y="234696"/>
                </a:lnTo>
                <a:lnTo>
                  <a:pt x="2728086" y="224536"/>
                </a:lnTo>
                <a:lnTo>
                  <a:pt x="2810256" y="205739"/>
                </a:lnTo>
                <a:lnTo>
                  <a:pt x="2892424" y="188849"/>
                </a:lnTo>
                <a:lnTo>
                  <a:pt x="3053080" y="159765"/>
                </a:lnTo>
                <a:lnTo>
                  <a:pt x="3270630" y="123316"/>
                </a:lnTo>
                <a:lnTo>
                  <a:pt x="3332861" y="112013"/>
                </a:lnTo>
                <a:lnTo>
                  <a:pt x="3388232" y="100457"/>
                </a:lnTo>
                <a:lnTo>
                  <a:pt x="3413125" y="94741"/>
                </a:lnTo>
                <a:lnTo>
                  <a:pt x="3435985" y="88773"/>
                </a:lnTo>
                <a:lnTo>
                  <a:pt x="3456940" y="82803"/>
                </a:lnTo>
                <a:lnTo>
                  <a:pt x="3542284" y="58674"/>
                </a:lnTo>
                <a:lnTo>
                  <a:pt x="3580467" y="47266"/>
                </a:lnTo>
                <a:lnTo>
                  <a:pt x="3589909" y="30734"/>
                </a:lnTo>
                <a:lnTo>
                  <a:pt x="3565152" y="24794"/>
                </a:lnTo>
                <a:close/>
              </a:path>
              <a:path w="3661409" h="1917700">
                <a:moveTo>
                  <a:pt x="3639373" y="18414"/>
                </a:moveTo>
                <a:lnTo>
                  <a:pt x="3586099" y="18414"/>
                </a:lnTo>
                <a:lnTo>
                  <a:pt x="3593846" y="43179"/>
                </a:lnTo>
                <a:lnTo>
                  <a:pt x="3590798" y="44068"/>
                </a:lnTo>
                <a:lnTo>
                  <a:pt x="3580467" y="47266"/>
                </a:lnTo>
                <a:lnTo>
                  <a:pt x="3557778" y="86995"/>
                </a:lnTo>
                <a:lnTo>
                  <a:pt x="3639373" y="18414"/>
                </a:lnTo>
                <a:close/>
              </a:path>
              <a:path w="3661409" h="1917700">
                <a:moveTo>
                  <a:pt x="3586099" y="18414"/>
                </a:moveTo>
                <a:lnTo>
                  <a:pt x="3565152" y="24794"/>
                </a:lnTo>
                <a:lnTo>
                  <a:pt x="3589909" y="30734"/>
                </a:lnTo>
                <a:lnTo>
                  <a:pt x="3580467" y="47266"/>
                </a:lnTo>
                <a:lnTo>
                  <a:pt x="3590798" y="44068"/>
                </a:lnTo>
                <a:lnTo>
                  <a:pt x="3593846" y="43179"/>
                </a:lnTo>
                <a:lnTo>
                  <a:pt x="3586099" y="18414"/>
                </a:lnTo>
                <a:close/>
              </a:path>
              <a:path w="3661409" h="1917700">
                <a:moveTo>
                  <a:pt x="3661282" y="0"/>
                </a:moveTo>
                <a:lnTo>
                  <a:pt x="3526917" y="15621"/>
                </a:lnTo>
                <a:lnTo>
                  <a:pt x="3565152" y="24794"/>
                </a:lnTo>
                <a:lnTo>
                  <a:pt x="3586099" y="18414"/>
                </a:lnTo>
                <a:lnTo>
                  <a:pt x="3639373" y="18414"/>
                </a:lnTo>
                <a:lnTo>
                  <a:pt x="366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6373" y="190849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6711" y="1699260"/>
            <a:ext cx="504825" cy="72136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15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64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373" y="286734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6711" y="2657855"/>
            <a:ext cx="48196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7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6373" y="382810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6711" y="3617976"/>
            <a:ext cx="50482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6373" y="478885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6711" y="4578096"/>
            <a:ext cx="483234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60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1155" y="1699260"/>
            <a:ext cx="4628515" cy="72136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3675" rIns="0" bIns="0" rtlCol="0">
            <a:spAutoFit/>
          </a:bodyPr>
          <a:lstStyle/>
          <a:p>
            <a:pPr marR="231775" algn="ctr">
              <a:lnSpc>
                <a:spcPct val="100000"/>
              </a:lnSpc>
              <a:spcBef>
                <a:spcPts val="15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估算过程概念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8295" y="2657855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17804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714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1155" y="3617976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431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5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4578096"/>
            <a:ext cx="4630420" cy="7226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成本预算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8598" y="579713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8048" y="5586984"/>
            <a:ext cx="485140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2679" y="5586984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成本预算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2205989"/>
            <a:ext cx="8153400" cy="17576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410845" marR="409575" indent="-320040">
              <a:lnSpc>
                <a:spcPct val="100000"/>
              </a:lnSpc>
              <a:spcBef>
                <a:spcPts val="11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成本预算是将项目的总</a:t>
            </a:r>
            <a:r>
              <a:rPr sz="3200" spc="-15" dirty="0">
                <a:latin typeface="华文新魏"/>
                <a:cs typeface="华文新魏"/>
              </a:rPr>
              <a:t>成</a:t>
            </a:r>
            <a:r>
              <a:rPr sz="3200" dirty="0">
                <a:latin typeface="华文新魏"/>
                <a:cs typeface="华文新魏"/>
              </a:rPr>
              <a:t>本按</a:t>
            </a:r>
            <a:r>
              <a:rPr sz="3200" spc="-15" dirty="0">
                <a:latin typeface="华文新魏"/>
                <a:cs typeface="华文新魏"/>
              </a:rPr>
              <a:t>照</a:t>
            </a:r>
            <a:r>
              <a:rPr sz="3200" dirty="0">
                <a:latin typeface="华文新魏"/>
                <a:cs typeface="华文新魏"/>
              </a:rPr>
              <a:t>项目</a:t>
            </a:r>
            <a:r>
              <a:rPr sz="3200" spc="-15" dirty="0">
                <a:latin typeface="华文新魏"/>
                <a:cs typeface="华文新魏"/>
              </a:rPr>
              <a:t>的</a:t>
            </a:r>
            <a:r>
              <a:rPr sz="3200" dirty="0">
                <a:latin typeface="华文新魏"/>
                <a:cs typeface="华文新魏"/>
              </a:rPr>
              <a:t>进 度分摊到各个工作单元</a:t>
            </a:r>
            <a:r>
              <a:rPr sz="3200" spc="-15" dirty="0">
                <a:latin typeface="华文新魏"/>
                <a:cs typeface="华文新魏"/>
              </a:rPr>
              <a:t>中</a:t>
            </a:r>
            <a:r>
              <a:rPr sz="3200" dirty="0">
                <a:latin typeface="华文新魏"/>
                <a:cs typeface="华文新魏"/>
              </a:rPr>
              <a:t>去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spc="5" dirty="0">
                <a:latin typeface="华文新魏"/>
                <a:cs typeface="华文新魏"/>
              </a:rPr>
              <a:t>成本预算的目的是产生</a:t>
            </a:r>
            <a:r>
              <a:rPr sz="3200" spc="-10" dirty="0">
                <a:latin typeface="华文新魏"/>
                <a:cs typeface="华文新魏"/>
              </a:rPr>
              <a:t>成</a:t>
            </a:r>
            <a:r>
              <a:rPr sz="3200" spc="5" dirty="0">
                <a:latin typeface="华文新魏"/>
                <a:cs typeface="华文新魏"/>
              </a:rPr>
              <a:t>本基线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74079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估算（BAC）与预算</a:t>
            </a:r>
            <a:r>
              <a:rPr spc="-5" dirty="0"/>
              <a:t>（BCWS）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6161" y="6210300"/>
            <a:ext cx="7162800" cy="78105"/>
          </a:xfrm>
          <a:custGeom>
            <a:avLst/>
            <a:gdLst/>
            <a:ahLst/>
            <a:cxnLst/>
            <a:rect l="l" t="t" r="r" b="b"/>
            <a:pathLst>
              <a:path w="7162800" h="78104">
                <a:moveTo>
                  <a:pt x="7033259" y="0"/>
                </a:moveTo>
                <a:lnTo>
                  <a:pt x="7033259" y="77723"/>
                </a:lnTo>
                <a:lnTo>
                  <a:pt x="7119619" y="51815"/>
                </a:lnTo>
                <a:lnTo>
                  <a:pt x="7046213" y="51815"/>
                </a:lnTo>
                <a:lnTo>
                  <a:pt x="7046213" y="25907"/>
                </a:lnTo>
                <a:lnTo>
                  <a:pt x="7119619" y="25907"/>
                </a:lnTo>
                <a:lnTo>
                  <a:pt x="7033259" y="0"/>
                </a:lnTo>
                <a:close/>
              </a:path>
              <a:path w="7162800" h="78104">
                <a:moveTo>
                  <a:pt x="7033259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7033259" y="51815"/>
                </a:lnTo>
                <a:lnTo>
                  <a:pt x="7033259" y="25907"/>
                </a:lnTo>
                <a:close/>
              </a:path>
              <a:path w="7162800" h="78104">
                <a:moveTo>
                  <a:pt x="7119619" y="25907"/>
                </a:moveTo>
                <a:lnTo>
                  <a:pt x="7046213" y="25907"/>
                </a:lnTo>
                <a:lnTo>
                  <a:pt x="7046213" y="51815"/>
                </a:lnTo>
                <a:lnTo>
                  <a:pt x="7119619" y="51815"/>
                </a:lnTo>
                <a:lnTo>
                  <a:pt x="7162800" y="38862"/>
                </a:lnTo>
                <a:lnTo>
                  <a:pt x="71196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57300" y="2134361"/>
            <a:ext cx="78105" cy="4114800"/>
          </a:xfrm>
          <a:custGeom>
            <a:avLst/>
            <a:gdLst/>
            <a:ahLst/>
            <a:cxnLst/>
            <a:rect l="l" t="t" r="r" b="b"/>
            <a:pathLst>
              <a:path w="78105" h="4114800">
                <a:moveTo>
                  <a:pt x="51815" y="116586"/>
                </a:moveTo>
                <a:lnTo>
                  <a:pt x="25908" y="116586"/>
                </a:lnTo>
                <a:lnTo>
                  <a:pt x="25908" y="4114800"/>
                </a:lnTo>
                <a:lnTo>
                  <a:pt x="51815" y="4114800"/>
                </a:lnTo>
                <a:lnTo>
                  <a:pt x="51815" y="116586"/>
                </a:lnTo>
                <a:close/>
              </a:path>
              <a:path w="78105" h="4114800">
                <a:moveTo>
                  <a:pt x="38862" y="0"/>
                </a:moveTo>
                <a:lnTo>
                  <a:pt x="0" y="129539"/>
                </a:lnTo>
                <a:lnTo>
                  <a:pt x="25908" y="129539"/>
                </a:lnTo>
                <a:lnTo>
                  <a:pt x="25908" y="116586"/>
                </a:lnTo>
                <a:lnTo>
                  <a:pt x="73837" y="116586"/>
                </a:lnTo>
                <a:lnTo>
                  <a:pt x="38862" y="0"/>
                </a:lnTo>
                <a:close/>
              </a:path>
              <a:path w="78105" h="4114800">
                <a:moveTo>
                  <a:pt x="73837" y="116586"/>
                </a:moveTo>
                <a:lnTo>
                  <a:pt x="51815" y="116586"/>
                </a:lnTo>
                <a:lnTo>
                  <a:pt x="51815" y="129539"/>
                </a:lnTo>
                <a:lnTo>
                  <a:pt x="77724" y="129539"/>
                </a:lnTo>
                <a:lnTo>
                  <a:pt x="73837" y="1165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3094" y="3334258"/>
            <a:ext cx="432434" cy="9207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sz="3200" dirty="0">
                <a:latin typeface="宋体"/>
                <a:cs typeface="宋体"/>
              </a:rPr>
              <a:t>费 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35161" y="2439161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49995" y="2439161"/>
            <a:ext cx="78105" cy="3810000"/>
          </a:xfrm>
          <a:custGeom>
            <a:avLst/>
            <a:gdLst/>
            <a:ahLst/>
            <a:cxnLst/>
            <a:rect l="l" t="t" r="r" b="b"/>
            <a:pathLst>
              <a:path w="78104" h="3810000">
                <a:moveTo>
                  <a:pt x="25907" y="3732276"/>
                </a:moveTo>
                <a:lnTo>
                  <a:pt x="0" y="3732276"/>
                </a:lnTo>
                <a:lnTo>
                  <a:pt x="38861" y="3810000"/>
                </a:lnTo>
                <a:lnTo>
                  <a:pt x="71247" y="3745229"/>
                </a:lnTo>
                <a:lnTo>
                  <a:pt x="25907" y="3745229"/>
                </a:lnTo>
                <a:lnTo>
                  <a:pt x="25907" y="3732276"/>
                </a:lnTo>
                <a:close/>
              </a:path>
              <a:path w="78104" h="3810000">
                <a:moveTo>
                  <a:pt x="51815" y="64770"/>
                </a:moveTo>
                <a:lnTo>
                  <a:pt x="25907" y="64770"/>
                </a:lnTo>
                <a:lnTo>
                  <a:pt x="25907" y="3745229"/>
                </a:lnTo>
                <a:lnTo>
                  <a:pt x="51815" y="3745229"/>
                </a:lnTo>
                <a:lnTo>
                  <a:pt x="51815" y="64770"/>
                </a:lnTo>
                <a:close/>
              </a:path>
              <a:path w="78104" h="3810000">
                <a:moveTo>
                  <a:pt x="77724" y="3732276"/>
                </a:moveTo>
                <a:lnTo>
                  <a:pt x="51815" y="3732276"/>
                </a:lnTo>
                <a:lnTo>
                  <a:pt x="51815" y="3745229"/>
                </a:lnTo>
                <a:lnTo>
                  <a:pt x="71247" y="3745229"/>
                </a:lnTo>
                <a:lnTo>
                  <a:pt x="77724" y="3732276"/>
                </a:lnTo>
                <a:close/>
              </a:path>
              <a:path w="78104" h="3810000">
                <a:moveTo>
                  <a:pt x="38861" y="0"/>
                </a:moveTo>
                <a:lnTo>
                  <a:pt x="0" y="77724"/>
                </a:lnTo>
                <a:lnTo>
                  <a:pt x="25907" y="77724"/>
                </a:lnTo>
                <a:lnTo>
                  <a:pt x="25907" y="64770"/>
                </a:lnTo>
                <a:lnTo>
                  <a:pt x="71247" y="64770"/>
                </a:lnTo>
                <a:lnTo>
                  <a:pt x="38861" y="0"/>
                </a:lnTo>
                <a:close/>
              </a:path>
              <a:path w="78104" h="3810000">
                <a:moveTo>
                  <a:pt x="71247" y="64770"/>
                </a:moveTo>
                <a:lnTo>
                  <a:pt x="51815" y="64770"/>
                </a:lnTo>
                <a:lnTo>
                  <a:pt x="51815" y="77724"/>
                </a:lnTo>
                <a:lnTo>
                  <a:pt x="77724" y="77724"/>
                </a:lnTo>
                <a:lnTo>
                  <a:pt x="71247" y="64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4638" y="2427985"/>
            <a:ext cx="7239000" cy="3810635"/>
          </a:xfrm>
          <a:custGeom>
            <a:avLst/>
            <a:gdLst/>
            <a:ahLst/>
            <a:cxnLst/>
            <a:rect l="l" t="t" r="r" b="b"/>
            <a:pathLst>
              <a:path w="7239000" h="3810635">
                <a:moveTo>
                  <a:pt x="0" y="3810507"/>
                </a:moveTo>
                <a:lnTo>
                  <a:pt x="50334" y="3779219"/>
                </a:lnTo>
                <a:lnTo>
                  <a:pt x="100667" y="3747933"/>
                </a:lnTo>
                <a:lnTo>
                  <a:pt x="150993" y="3716651"/>
                </a:lnTo>
                <a:lnTo>
                  <a:pt x="201311" y="3685376"/>
                </a:lnTo>
                <a:lnTo>
                  <a:pt x="251619" y="3654108"/>
                </a:lnTo>
                <a:lnTo>
                  <a:pt x="301912" y="3622851"/>
                </a:lnTo>
                <a:lnTo>
                  <a:pt x="352189" y="3591606"/>
                </a:lnTo>
                <a:lnTo>
                  <a:pt x="402447" y="3560376"/>
                </a:lnTo>
                <a:lnTo>
                  <a:pt x="452682" y="3529163"/>
                </a:lnTo>
                <a:lnTo>
                  <a:pt x="502892" y="3497969"/>
                </a:lnTo>
                <a:lnTo>
                  <a:pt x="553075" y="3466795"/>
                </a:lnTo>
                <a:lnTo>
                  <a:pt x="603228" y="3435644"/>
                </a:lnTo>
                <a:lnTo>
                  <a:pt x="653347" y="3404518"/>
                </a:lnTo>
                <a:lnTo>
                  <a:pt x="703431" y="3373420"/>
                </a:lnTo>
                <a:lnTo>
                  <a:pt x="753475" y="3342350"/>
                </a:lnTo>
                <a:lnTo>
                  <a:pt x="803478" y="3311312"/>
                </a:lnTo>
                <a:lnTo>
                  <a:pt x="853437" y="3280307"/>
                </a:lnTo>
                <a:lnTo>
                  <a:pt x="903349" y="3249338"/>
                </a:lnTo>
                <a:lnTo>
                  <a:pt x="953212" y="3218406"/>
                </a:lnTo>
                <a:lnTo>
                  <a:pt x="1003021" y="3187514"/>
                </a:lnTo>
                <a:lnTo>
                  <a:pt x="1052776" y="3156664"/>
                </a:lnTo>
                <a:lnTo>
                  <a:pt x="1102472" y="3125857"/>
                </a:lnTo>
                <a:lnTo>
                  <a:pt x="1152108" y="3095097"/>
                </a:lnTo>
                <a:lnTo>
                  <a:pt x="1201680" y="3064384"/>
                </a:lnTo>
                <a:lnTo>
                  <a:pt x="1251186" y="3033722"/>
                </a:lnTo>
                <a:lnTo>
                  <a:pt x="1300622" y="3003112"/>
                </a:lnTo>
                <a:lnTo>
                  <a:pt x="1349987" y="2972556"/>
                </a:lnTo>
                <a:lnTo>
                  <a:pt x="1399277" y="2942056"/>
                </a:lnTo>
                <a:lnTo>
                  <a:pt x="1448490" y="2911615"/>
                </a:lnTo>
                <a:lnTo>
                  <a:pt x="1497622" y="2881234"/>
                </a:lnTo>
                <a:lnTo>
                  <a:pt x="1546672" y="2850916"/>
                </a:lnTo>
                <a:lnTo>
                  <a:pt x="1595636" y="2820663"/>
                </a:lnTo>
                <a:lnTo>
                  <a:pt x="1644511" y="2790477"/>
                </a:lnTo>
                <a:lnTo>
                  <a:pt x="1693296" y="2760359"/>
                </a:lnTo>
                <a:lnTo>
                  <a:pt x="1741986" y="2730312"/>
                </a:lnTo>
                <a:lnTo>
                  <a:pt x="1790580" y="2700339"/>
                </a:lnTo>
                <a:lnTo>
                  <a:pt x="1839074" y="2670441"/>
                </a:lnTo>
                <a:lnTo>
                  <a:pt x="1887465" y="2640620"/>
                </a:lnTo>
                <a:lnTo>
                  <a:pt x="1935752" y="2610878"/>
                </a:lnTo>
                <a:lnTo>
                  <a:pt x="1983931" y="2581218"/>
                </a:lnTo>
                <a:lnTo>
                  <a:pt x="2032000" y="2551641"/>
                </a:lnTo>
                <a:lnTo>
                  <a:pt x="2079955" y="2522150"/>
                </a:lnTo>
                <a:lnTo>
                  <a:pt x="2127794" y="2492747"/>
                </a:lnTo>
                <a:lnTo>
                  <a:pt x="2175514" y="2463433"/>
                </a:lnTo>
                <a:lnTo>
                  <a:pt x="2223112" y="2434212"/>
                </a:lnTo>
                <a:lnTo>
                  <a:pt x="2270586" y="2405084"/>
                </a:lnTo>
                <a:lnTo>
                  <a:pt x="2317933" y="2376052"/>
                </a:lnTo>
                <a:lnTo>
                  <a:pt x="2365150" y="2347119"/>
                </a:lnTo>
                <a:lnTo>
                  <a:pt x="2412235" y="2318286"/>
                </a:lnTo>
                <a:lnTo>
                  <a:pt x="2459184" y="2289555"/>
                </a:lnTo>
                <a:lnTo>
                  <a:pt x="2505995" y="2260929"/>
                </a:lnTo>
                <a:lnTo>
                  <a:pt x="2552664" y="2232409"/>
                </a:lnTo>
                <a:lnTo>
                  <a:pt x="2599190" y="2203997"/>
                </a:lnTo>
                <a:lnTo>
                  <a:pt x="2645570" y="2175697"/>
                </a:lnTo>
                <a:lnTo>
                  <a:pt x="2691800" y="2147509"/>
                </a:lnTo>
                <a:lnTo>
                  <a:pt x="2737879" y="2119436"/>
                </a:lnTo>
                <a:lnTo>
                  <a:pt x="2783802" y="2091480"/>
                </a:lnTo>
                <a:lnTo>
                  <a:pt x="2829568" y="2063643"/>
                </a:lnTo>
                <a:lnTo>
                  <a:pt x="2875174" y="2035927"/>
                </a:lnTo>
                <a:lnTo>
                  <a:pt x="2920616" y="2008335"/>
                </a:lnTo>
                <a:lnTo>
                  <a:pt x="2965893" y="1980868"/>
                </a:lnTo>
                <a:lnTo>
                  <a:pt x="3011001" y="1953528"/>
                </a:lnTo>
                <a:lnTo>
                  <a:pt x="3055938" y="1926318"/>
                </a:lnTo>
                <a:lnTo>
                  <a:pt x="3100700" y="1899239"/>
                </a:lnTo>
                <a:lnTo>
                  <a:pt x="3145286" y="1872294"/>
                </a:lnTo>
                <a:lnTo>
                  <a:pt x="3189692" y="1845485"/>
                </a:lnTo>
                <a:lnTo>
                  <a:pt x="3233916" y="1818814"/>
                </a:lnTo>
                <a:lnTo>
                  <a:pt x="3277954" y="1792282"/>
                </a:lnTo>
                <a:lnTo>
                  <a:pt x="3321805" y="1765893"/>
                </a:lnTo>
                <a:lnTo>
                  <a:pt x="3365464" y="1739648"/>
                </a:lnTo>
                <a:lnTo>
                  <a:pt x="3408931" y="1713549"/>
                </a:lnTo>
                <a:lnTo>
                  <a:pt x="3452201" y="1687598"/>
                </a:lnTo>
                <a:lnTo>
                  <a:pt x="3495272" y="1661798"/>
                </a:lnTo>
                <a:lnTo>
                  <a:pt x="3538141" y="1636150"/>
                </a:lnTo>
                <a:lnTo>
                  <a:pt x="3580806" y="1610657"/>
                </a:lnTo>
                <a:lnTo>
                  <a:pt x="3623263" y="1585320"/>
                </a:lnTo>
                <a:lnTo>
                  <a:pt x="3665511" y="1560142"/>
                </a:lnTo>
                <a:lnTo>
                  <a:pt x="3707545" y="1535126"/>
                </a:lnTo>
                <a:lnTo>
                  <a:pt x="3749364" y="1510272"/>
                </a:lnTo>
                <a:lnTo>
                  <a:pt x="3790965" y="1485583"/>
                </a:lnTo>
                <a:lnTo>
                  <a:pt x="3832344" y="1461061"/>
                </a:lnTo>
                <a:lnTo>
                  <a:pt x="3873500" y="1436708"/>
                </a:lnTo>
                <a:lnTo>
                  <a:pt x="3914428" y="1412527"/>
                </a:lnTo>
                <a:lnTo>
                  <a:pt x="3955128" y="1388519"/>
                </a:lnTo>
                <a:lnTo>
                  <a:pt x="3995595" y="1364686"/>
                </a:lnTo>
                <a:lnTo>
                  <a:pt x="4035828" y="1341032"/>
                </a:lnTo>
                <a:lnTo>
                  <a:pt x="4075822" y="1317556"/>
                </a:lnTo>
                <a:lnTo>
                  <a:pt x="4115576" y="1294263"/>
                </a:lnTo>
                <a:lnTo>
                  <a:pt x="4155087" y="1271153"/>
                </a:lnTo>
                <a:lnTo>
                  <a:pt x="4194352" y="1248229"/>
                </a:lnTo>
                <a:lnTo>
                  <a:pt x="4233368" y="1225494"/>
                </a:lnTo>
                <a:lnTo>
                  <a:pt x="4272133" y="1202948"/>
                </a:lnTo>
                <a:lnTo>
                  <a:pt x="4310643" y="1180595"/>
                </a:lnTo>
                <a:lnTo>
                  <a:pt x="4348897" y="1158436"/>
                </a:lnTo>
                <a:lnTo>
                  <a:pt x="4386890" y="1136473"/>
                </a:lnTo>
                <a:lnTo>
                  <a:pt x="4424621" y="1114708"/>
                </a:lnTo>
                <a:lnTo>
                  <a:pt x="4462087" y="1093145"/>
                </a:lnTo>
                <a:lnTo>
                  <a:pt x="4499284" y="1071784"/>
                </a:lnTo>
                <a:lnTo>
                  <a:pt x="4536211" y="1050627"/>
                </a:lnTo>
                <a:lnTo>
                  <a:pt x="4572864" y="1029678"/>
                </a:lnTo>
                <a:lnTo>
                  <a:pt x="4609240" y="1008937"/>
                </a:lnTo>
                <a:lnTo>
                  <a:pt x="4645338" y="988407"/>
                </a:lnTo>
                <a:lnTo>
                  <a:pt x="4681153" y="968091"/>
                </a:lnTo>
                <a:lnTo>
                  <a:pt x="4716684" y="947989"/>
                </a:lnTo>
                <a:lnTo>
                  <a:pt x="4751927" y="928105"/>
                </a:lnTo>
                <a:lnTo>
                  <a:pt x="4786880" y="908441"/>
                </a:lnTo>
                <a:lnTo>
                  <a:pt x="4821540" y="888997"/>
                </a:lnTo>
                <a:lnTo>
                  <a:pt x="4855905" y="869777"/>
                </a:lnTo>
                <a:lnTo>
                  <a:pt x="4889970" y="850783"/>
                </a:lnTo>
                <a:lnTo>
                  <a:pt x="4923735" y="832017"/>
                </a:lnTo>
                <a:lnTo>
                  <a:pt x="4957195" y="813480"/>
                </a:lnTo>
                <a:lnTo>
                  <a:pt x="5023193" y="777105"/>
                </a:lnTo>
                <a:lnTo>
                  <a:pt x="5087941" y="741674"/>
                </a:lnTo>
                <a:lnTo>
                  <a:pt x="5151418" y="707204"/>
                </a:lnTo>
                <a:lnTo>
                  <a:pt x="5213602" y="673711"/>
                </a:lnTo>
                <a:lnTo>
                  <a:pt x="5274470" y="641213"/>
                </a:lnTo>
                <a:lnTo>
                  <a:pt x="5334000" y="609726"/>
                </a:lnTo>
                <a:lnTo>
                  <a:pt x="5420818" y="564600"/>
                </a:lnTo>
                <a:lnTo>
                  <a:pt x="5504756" y="522107"/>
                </a:lnTo>
                <a:lnTo>
                  <a:pt x="5585880" y="482161"/>
                </a:lnTo>
                <a:lnTo>
                  <a:pt x="5664257" y="444678"/>
                </a:lnTo>
                <a:lnTo>
                  <a:pt x="5739953" y="409569"/>
                </a:lnTo>
                <a:lnTo>
                  <a:pt x="5813034" y="376750"/>
                </a:lnTo>
                <a:lnTo>
                  <a:pt x="5883567" y="346133"/>
                </a:lnTo>
                <a:lnTo>
                  <a:pt x="5951617" y="317633"/>
                </a:lnTo>
                <a:lnTo>
                  <a:pt x="6017252" y="291164"/>
                </a:lnTo>
                <a:lnTo>
                  <a:pt x="6080537" y="266638"/>
                </a:lnTo>
                <a:lnTo>
                  <a:pt x="6141540" y="243970"/>
                </a:lnTo>
                <a:lnTo>
                  <a:pt x="6200325" y="223073"/>
                </a:lnTo>
                <a:lnTo>
                  <a:pt x="6256960" y="203862"/>
                </a:lnTo>
                <a:lnTo>
                  <a:pt x="6311511" y="186250"/>
                </a:lnTo>
                <a:lnTo>
                  <a:pt x="6364044" y="170150"/>
                </a:lnTo>
                <a:lnTo>
                  <a:pt x="6414626" y="155478"/>
                </a:lnTo>
                <a:lnTo>
                  <a:pt x="6463323" y="142145"/>
                </a:lnTo>
                <a:lnTo>
                  <a:pt x="6510201" y="130066"/>
                </a:lnTo>
                <a:lnTo>
                  <a:pt x="6555327" y="119156"/>
                </a:lnTo>
                <a:lnTo>
                  <a:pt x="6598766" y="109326"/>
                </a:lnTo>
                <a:lnTo>
                  <a:pt x="6640586" y="100492"/>
                </a:lnTo>
                <a:lnTo>
                  <a:pt x="6680853" y="92567"/>
                </a:lnTo>
                <a:lnTo>
                  <a:pt x="6719632" y="85465"/>
                </a:lnTo>
                <a:lnTo>
                  <a:pt x="6792995" y="73384"/>
                </a:lnTo>
                <a:lnTo>
                  <a:pt x="6861206" y="63560"/>
                </a:lnTo>
                <a:lnTo>
                  <a:pt x="6924795" y="55301"/>
                </a:lnTo>
                <a:lnTo>
                  <a:pt x="6984294" y="47919"/>
                </a:lnTo>
                <a:lnTo>
                  <a:pt x="7012675" y="44340"/>
                </a:lnTo>
                <a:lnTo>
                  <a:pt x="7067032" y="36978"/>
                </a:lnTo>
                <a:lnTo>
                  <a:pt x="7118626" y="28768"/>
                </a:lnTo>
                <a:lnTo>
                  <a:pt x="7167986" y="19018"/>
                </a:lnTo>
                <a:lnTo>
                  <a:pt x="7215643" y="7040"/>
                </a:lnTo>
                <a:lnTo>
                  <a:pt x="72390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6830" y="2400300"/>
            <a:ext cx="7162800" cy="78105"/>
          </a:xfrm>
          <a:custGeom>
            <a:avLst/>
            <a:gdLst/>
            <a:ahLst/>
            <a:cxnLst/>
            <a:rect l="l" t="t" r="r" b="b"/>
            <a:pathLst>
              <a:path w="7162800" h="78105">
                <a:moveTo>
                  <a:pt x="77723" y="25908"/>
                </a:moveTo>
                <a:lnTo>
                  <a:pt x="0" y="25908"/>
                </a:lnTo>
                <a:lnTo>
                  <a:pt x="0" y="51815"/>
                </a:lnTo>
                <a:lnTo>
                  <a:pt x="77723" y="51815"/>
                </a:lnTo>
                <a:lnTo>
                  <a:pt x="77723" y="25908"/>
                </a:lnTo>
                <a:close/>
              </a:path>
              <a:path w="7162800" h="78105">
                <a:moveTo>
                  <a:pt x="181356" y="25908"/>
                </a:moveTo>
                <a:lnTo>
                  <a:pt x="103631" y="25908"/>
                </a:lnTo>
                <a:lnTo>
                  <a:pt x="103631" y="51815"/>
                </a:lnTo>
                <a:lnTo>
                  <a:pt x="181356" y="51815"/>
                </a:lnTo>
                <a:lnTo>
                  <a:pt x="181356" y="25908"/>
                </a:lnTo>
                <a:close/>
              </a:path>
              <a:path w="7162800" h="78105">
                <a:moveTo>
                  <a:pt x="284988" y="25908"/>
                </a:moveTo>
                <a:lnTo>
                  <a:pt x="207263" y="25908"/>
                </a:lnTo>
                <a:lnTo>
                  <a:pt x="207263" y="51815"/>
                </a:lnTo>
                <a:lnTo>
                  <a:pt x="284988" y="51815"/>
                </a:lnTo>
                <a:lnTo>
                  <a:pt x="284988" y="25908"/>
                </a:lnTo>
                <a:close/>
              </a:path>
              <a:path w="7162800" h="78105">
                <a:moveTo>
                  <a:pt x="388619" y="25908"/>
                </a:moveTo>
                <a:lnTo>
                  <a:pt x="310895" y="25908"/>
                </a:lnTo>
                <a:lnTo>
                  <a:pt x="310895" y="51815"/>
                </a:lnTo>
                <a:lnTo>
                  <a:pt x="388619" y="51815"/>
                </a:lnTo>
                <a:lnTo>
                  <a:pt x="388619" y="25908"/>
                </a:lnTo>
                <a:close/>
              </a:path>
              <a:path w="7162800" h="78105">
                <a:moveTo>
                  <a:pt x="492251" y="25908"/>
                </a:moveTo>
                <a:lnTo>
                  <a:pt x="414527" y="25908"/>
                </a:lnTo>
                <a:lnTo>
                  <a:pt x="414527" y="51815"/>
                </a:lnTo>
                <a:lnTo>
                  <a:pt x="492251" y="51815"/>
                </a:lnTo>
                <a:lnTo>
                  <a:pt x="492251" y="25908"/>
                </a:lnTo>
                <a:close/>
              </a:path>
              <a:path w="7162800" h="78105">
                <a:moveTo>
                  <a:pt x="595883" y="25908"/>
                </a:moveTo>
                <a:lnTo>
                  <a:pt x="518159" y="25908"/>
                </a:lnTo>
                <a:lnTo>
                  <a:pt x="518159" y="51815"/>
                </a:lnTo>
                <a:lnTo>
                  <a:pt x="595883" y="51815"/>
                </a:lnTo>
                <a:lnTo>
                  <a:pt x="595883" y="25908"/>
                </a:lnTo>
                <a:close/>
              </a:path>
              <a:path w="7162800" h="78105">
                <a:moveTo>
                  <a:pt x="699515" y="25908"/>
                </a:moveTo>
                <a:lnTo>
                  <a:pt x="621792" y="25908"/>
                </a:lnTo>
                <a:lnTo>
                  <a:pt x="621792" y="51815"/>
                </a:lnTo>
                <a:lnTo>
                  <a:pt x="699515" y="51815"/>
                </a:lnTo>
                <a:lnTo>
                  <a:pt x="699515" y="25908"/>
                </a:lnTo>
                <a:close/>
              </a:path>
              <a:path w="7162800" h="78105">
                <a:moveTo>
                  <a:pt x="803147" y="25908"/>
                </a:moveTo>
                <a:lnTo>
                  <a:pt x="725424" y="25908"/>
                </a:lnTo>
                <a:lnTo>
                  <a:pt x="725424" y="51815"/>
                </a:lnTo>
                <a:lnTo>
                  <a:pt x="803147" y="51815"/>
                </a:lnTo>
                <a:lnTo>
                  <a:pt x="803147" y="25908"/>
                </a:lnTo>
                <a:close/>
              </a:path>
              <a:path w="7162800" h="78105">
                <a:moveTo>
                  <a:pt x="906780" y="25908"/>
                </a:moveTo>
                <a:lnTo>
                  <a:pt x="829056" y="25908"/>
                </a:lnTo>
                <a:lnTo>
                  <a:pt x="829056" y="51815"/>
                </a:lnTo>
                <a:lnTo>
                  <a:pt x="906780" y="51815"/>
                </a:lnTo>
                <a:lnTo>
                  <a:pt x="906780" y="25908"/>
                </a:lnTo>
                <a:close/>
              </a:path>
              <a:path w="7162800" h="78105">
                <a:moveTo>
                  <a:pt x="1010412" y="25908"/>
                </a:moveTo>
                <a:lnTo>
                  <a:pt x="932688" y="25908"/>
                </a:lnTo>
                <a:lnTo>
                  <a:pt x="932688" y="51815"/>
                </a:lnTo>
                <a:lnTo>
                  <a:pt x="1010412" y="51815"/>
                </a:lnTo>
                <a:lnTo>
                  <a:pt x="1010412" y="25908"/>
                </a:lnTo>
                <a:close/>
              </a:path>
              <a:path w="7162800" h="78105">
                <a:moveTo>
                  <a:pt x="1114044" y="25908"/>
                </a:moveTo>
                <a:lnTo>
                  <a:pt x="1036319" y="25908"/>
                </a:lnTo>
                <a:lnTo>
                  <a:pt x="1036319" y="51815"/>
                </a:lnTo>
                <a:lnTo>
                  <a:pt x="1114044" y="51815"/>
                </a:lnTo>
                <a:lnTo>
                  <a:pt x="1114044" y="25908"/>
                </a:lnTo>
                <a:close/>
              </a:path>
              <a:path w="7162800" h="78105">
                <a:moveTo>
                  <a:pt x="1217676" y="25908"/>
                </a:moveTo>
                <a:lnTo>
                  <a:pt x="1139952" y="25908"/>
                </a:lnTo>
                <a:lnTo>
                  <a:pt x="1139952" y="51815"/>
                </a:lnTo>
                <a:lnTo>
                  <a:pt x="1217676" y="51815"/>
                </a:lnTo>
                <a:lnTo>
                  <a:pt x="1217676" y="25908"/>
                </a:lnTo>
                <a:close/>
              </a:path>
              <a:path w="7162800" h="78105">
                <a:moveTo>
                  <a:pt x="1321308" y="25908"/>
                </a:moveTo>
                <a:lnTo>
                  <a:pt x="1243583" y="25908"/>
                </a:lnTo>
                <a:lnTo>
                  <a:pt x="1243583" y="51815"/>
                </a:lnTo>
                <a:lnTo>
                  <a:pt x="1321308" y="51815"/>
                </a:lnTo>
                <a:lnTo>
                  <a:pt x="1321308" y="25908"/>
                </a:lnTo>
                <a:close/>
              </a:path>
              <a:path w="7162800" h="78105">
                <a:moveTo>
                  <a:pt x="1424939" y="25908"/>
                </a:moveTo>
                <a:lnTo>
                  <a:pt x="1347215" y="25908"/>
                </a:lnTo>
                <a:lnTo>
                  <a:pt x="1347215" y="51815"/>
                </a:lnTo>
                <a:lnTo>
                  <a:pt x="1424939" y="51815"/>
                </a:lnTo>
                <a:lnTo>
                  <a:pt x="1424939" y="25908"/>
                </a:lnTo>
                <a:close/>
              </a:path>
              <a:path w="7162800" h="78105">
                <a:moveTo>
                  <a:pt x="1528571" y="25908"/>
                </a:moveTo>
                <a:lnTo>
                  <a:pt x="1450847" y="25908"/>
                </a:lnTo>
                <a:lnTo>
                  <a:pt x="1450847" y="51815"/>
                </a:lnTo>
                <a:lnTo>
                  <a:pt x="1528571" y="51815"/>
                </a:lnTo>
                <a:lnTo>
                  <a:pt x="1528571" y="25908"/>
                </a:lnTo>
                <a:close/>
              </a:path>
              <a:path w="7162800" h="78105">
                <a:moveTo>
                  <a:pt x="1632203" y="25908"/>
                </a:moveTo>
                <a:lnTo>
                  <a:pt x="1554480" y="25908"/>
                </a:lnTo>
                <a:lnTo>
                  <a:pt x="1554480" y="51815"/>
                </a:lnTo>
                <a:lnTo>
                  <a:pt x="1632203" y="51815"/>
                </a:lnTo>
                <a:lnTo>
                  <a:pt x="1632203" y="25908"/>
                </a:lnTo>
                <a:close/>
              </a:path>
              <a:path w="7162800" h="78105">
                <a:moveTo>
                  <a:pt x="1735836" y="25908"/>
                </a:moveTo>
                <a:lnTo>
                  <a:pt x="1658112" y="25908"/>
                </a:lnTo>
                <a:lnTo>
                  <a:pt x="1658112" y="51815"/>
                </a:lnTo>
                <a:lnTo>
                  <a:pt x="1735836" y="51815"/>
                </a:lnTo>
                <a:lnTo>
                  <a:pt x="1735836" y="25908"/>
                </a:lnTo>
                <a:close/>
              </a:path>
              <a:path w="7162800" h="78105">
                <a:moveTo>
                  <a:pt x="1839468" y="25908"/>
                </a:moveTo>
                <a:lnTo>
                  <a:pt x="1761744" y="25908"/>
                </a:lnTo>
                <a:lnTo>
                  <a:pt x="1761744" y="51815"/>
                </a:lnTo>
                <a:lnTo>
                  <a:pt x="1839468" y="51815"/>
                </a:lnTo>
                <a:lnTo>
                  <a:pt x="1839468" y="25908"/>
                </a:lnTo>
                <a:close/>
              </a:path>
              <a:path w="7162800" h="78105">
                <a:moveTo>
                  <a:pt x="1943100" y="25908"/>
                </a:moveTo>
                <a:lnTo>
                  <a:pt x="1865376" y="25908"/>
                </a:lnTo>
                <a:lnTo>
                  <a:pt x="1865376" y="51815"/>
                </a:lnTo>
                <a:lnTo>
                  <a:pt x="1943100" y="51815"/>
                </a:lnTo>
                <a:lnTo>
                  <a:pt x="1943100" y="25908"/>
                </a:lnTo>
                <a:close/>
              </a:path>
              <a:path w="7162800" h="78105">
                <a:moveTo>
                  <a:pt x="2046732" y="25908"/>
                </a:moveTo>
                <a:lnTo>
                  <a:pt x="1969008" y="25908"/>
                </a:lnTo>
                <a:lnTo>
                  <a:pt x="1969008" y="51815"/>
                </a:lnTo>
                <a:lnTo>
                  <a:pt x="2046732" y="51815"/>
                </a:lnTo>
                <a:lnTo>
                  <a:pt x="2046732" y="25908"/>
                </a:lnTo>
                <a:close/>
              </a:path>
              <a:path w="7162800" h="78105">
                <a:moveTo>
                  <a:pt x="2150364" y="25908"/>
                </a:moveTo>
                <a:lnTo>
                  <a:pt x="2072640" y="25908"/>
                </a:lnTo>
                <a:lnTo>
                  <a:pt x="2072640" y="51815"/>
                </a:lnTo>
                <a:lnTo>
                  <a:pt x="2150364" y="51815"/>
                </a:lnTo>
                <a:lnTo>
                  <a:pt x="2150364" y="25908"/>
                </a:lnTo>
                <a:close/>
              </a:path>
              <a:path w="7162800" h="78105">
                <a:moveTo>
                  <a:pt x="2253996" y="25908"/>
                </a:moveTo>
                <a:lnTo>
                  <a:pt x="2176272" y="25908"/>
                </a:lnTo>
                <a:lnTo>
                  <a:pt x="2176272" y="51815"/>
                </a:lnTo>
                <a:lnTo>
                  <a:pt x="2253996" y="51815"/>
                </a:lnTo>
                <a:lnTo>
                  <a:pt x="2253996" y="25908"/>
                </a:lnTo>
                <a:close/>
              </a:path>
              <a:path w="7162800" h="78105">
                <a:moveTo>
                  <a:pt x="2357628" y="25908"/>
                </a:moveTo>
                <a:lnTo>
                  <a:pt x="2279904" y="25908"/>
                </a:lnTo>
                <a:lnTo>
                  <a:pt x="2279904" y="51815"/>
                </a:lnTo>
                <a:lnTo>
                  <a:pt x="2357628" y="51815"/>
                </a:lnTo>
                <a:lnTo>
                  <a:pt x="2357628" y="25908"/>
                </a:lnTo>
                <a:close/>
              </a:path>
              <a:path w="7162800" h="78105">
                <a:moveTo>
                  <a:pt x="2461260" y="25908"/>
                </a:moveTo>
                <a:lnTo>
                  <a:pt x="2383535" y="25908"/>
                </a:lnTo>
                <a:lnTo>
                  <a:pt x="2383535" y="51815"/>
                </a:lnTo>
                <a:lnTo>
                  <a:pt x="2461260" y="51815"/>
                </a:lnTo>
                <a:lnTo>
                  <a:pt x="2461260" y="25908"/>
                </a:lnTo>
                <a:close/>
              </a:path>
              <a:path w="7162800" h="78105">
                <a:moveTo>
                  <a:pt x="2564892" y="25908"/>
                </a:moveTo>
                <a:lnTo>
                  <a:pt x="2487168" y="25908"/>
                </a:lnTo>
                <a:lnTo>
                  <a:pt x="2487168" y="51815"/>
                </a:lnTo>
                <a:lnTo>
                  <a:pt x="2564892" y="51815"/>
                </a:lnTo>
                <a:lnTo>
                  <a:pt x="2564892" y="25908"/>
                </a:lnTo>
                <a:close/>
              </a:path>
              <a:path w="7162800" h="78105">
                <a:moveTo>
                  <a:pt x="2668523" y="25908"/>
                </a:moveTo>
                <a:lnTo>
                  <a:pt x="2590799" y="25908"/>
                </a:lnTo>
                <a:lnTo>
                  <a:pt x="2590799" y="51815"/>
                </a:lnTo>
                <a:lnTo>
                  <a:pt x="2668523" y="51815"/>
                </a:lnTo>
                <a:lnTo>
                  <a:pt x="2668523" y="25908"/>
                </a:lnTo>
                <a:close/>
              </a:path>
              <a:path w="7162800" h="78105">
                <a:moveTo>
                  <a:pt x="2772156" y="25908"/>
                </a:moveTo>
                <a:lnTo>
                  <a:pt x="2694432" y="25908"/>
                </a:lnTo>
                <a:lnTo>
                  <a:pt x="2694432" y="51815"/>
                </a:lnTo>
                <a:lnTo>
                  <a:pt x="2772156" y="51815"/>
                </a:lnTo>
                <a:lnTo>
                  <a:pt x="2772156" y="25908"/>
                </a:lnTo>
                <a:close/>
              </a:path>
              <a:path w="7162800" h="78105">
                <a:moveTo>
                  <a:pt x="2875787" y="25908"/>
                </a:moveTo>
                <a:lnTo>
                  <a:pt x="2798064" y="25908"/>
                </a:lnTo>
                <a:lnTo>
                  <a:pt x="2798064" y="51815"/>
                </a:lnTo>
                <a:lnTo>
                  <a:pt x="2875787" y="51815"/>
                </a:lnTo>
                <a:lnTo>
                  <a:pt x="2875787" y="25908"/>
                </a:lnTo>
                <a:close/>
              </a:path>
              <a:path w="7162800" h="78105">
                <a:moveTo>
                  <a:pt x="2979420" y="25908"/>
                </a:moveTo>
                <a:lnTo>
                  <a:pt x="2901696" y="25908"/>
                </a:lnTo>
                <a:lnTo>
                  <a:pt x="2901696" y="51815"/>
                </a:lnTo>
                <a:lnTo>
                  <a:pt x="2979420" y="51815"/>
                </a:lnTo>
                <a:lnTo>
                  <a:pt x="2979420" y="25908"/>
                </a:lnTo>
                <a:close/>
              </a:path>
              <a:path w="7162800" h="78105">
                <a:moveTo>
                  <a:pt x="3083052" y="25908"/>
                </a:moveTo>
                <a:lnTo>
                  <a:pt x="3005328" y="25908"/>
                </a:lnTo>
                <a:lnTo>
                  <a:pt x="3005328" y="51815"/>
                </a:lnTo>
                <a:lnTo>
                  <a:pt x="3083052" y="51815"/>
                </a:lnTo>
                <a:lnTo>
                  <a:pt x="3083052" y="25908"/>
                </a:lnTo>
                <a:close/>
              </a:path>
              <a:path w="7162800" h="78105">
                <a:moveTo>
                  <a:pt x="3186684" y="25908"/>
                </a:moveTo>
                <a:lnTo>
                  <a:pt x="3108960" y="25908"/>
                </a:lnTo>
                <a:lnTo>
                  <a:pt x="3108960" y="51815"/>
                </a:lnTo>
                <a:lnTo>
                  <a:pt x="3186684" y="51815"/>
                </a:lnTo>
                <a:lnTo>
                  <a:pt x="3186684" y="25908"/>
                </a:lnTo>
                <a:close/>
              </a:path>
              <a:path w="7162800" h="78105">
                <a:moveTo>
                  <a:pt x="3290316" y="25908"/>
                </a:moveTo>
                <a:lnTo>
                  <a:pt x="3212592" y="25908"/>
                </a:lnTo>
                <a:lnTo>
                  <a:pt x="3212592" y="51815"/>
                </a:lnTo>
                <a:lnTo>
                  <a:pt x="3290316" y="51815"/>
                </a:lnTo>
                <a:lnTo>
                  <a:pt x="3290316" y="25908"/>
                </a:lnTo>
                <a:close/>
              </a:path>
              <a:path w="7162800" h="78105">
                <a:moveTo>
                  <a:pt x="3393948" y="25908"/>
                </a:moveTo>
                <a:lnTo>
                  <a:pt x="3316224" y="25908"/>
                </a:lnTo>
                <a:lnTo>
                  <a:pt x="3316224" y="51815"/>
                </a:lnTo>
                <a:lnTo>
                  <a:pt x="3393948" y="51815"/>
                </a:lnTo>
                <a:lnTo>
                  <a:pt x="3393948" y="25908"/>
                </a:lnTo>
                <a:close/>
              </a:path>
              <a:path w="7162800" h="78105">
                <a:moveTo>
                  <a:pt x="3497579" y="25908"/>
                </a:moveTo>
                <a:lnTo>
                  <a:pt x="3419855" y="25908"/>
                </a:lnTo>
                <a:lnTo>
                  <a:pt x="3419855" y="51815"/>
                </a:lnTo>
                <a:lnTo>
                  <a:pt x="3497579" y="51815"/>
                </a:lnTo>
                <a:lnTo>
                  <a:pt x="3497579" y="25908"/>
                </a:lnTo>
                <a:close/>
              </a:path>
              <a:path w="7162800" h="78105">
                <a:moveTo>
                  <a:pt x="3601211" y="25908"/>
                </a:moveTo>
                <a:lnTo>
                  <a:pt x="3523487" y="25908"/>
                </a:lnTo>
                <a:lnTo>
                  <a:pt x="3523487" y="51815"/>
                </a:lnTo>
                <a:lnTo>
                  <a:pt x="3601211" y="51815"/>
                </a:lnTo>
                <a:lnTo>
                  <a:pt x="3601211" y="25908"/>
                </a:lnTo>
                <a:close/>
              </a:path>
              <a:path w="7162800" h="78105">
                <a:moveTo>
                  <a:pt x="3704844" y="25908"/>
                </a:moveTo>
                <a:lnTo>
                  <a:pt x="3627120" y="25908"/>
                </a:lnTo>
                <a:lnTo>
                  <a:pt x="3627120" y="51815"/>
                </a:lnTo>
                <a:lnTo>
                  <a:pt x="3704844" y="51815"/>
                </a:lnTo>
                <a:lnTo>
                  <a:pt x="3704844" y="25908"/>
                </a:lnTo>
                <a:close/>
              </a:path>
              <a:path w="7162800" h="78105">
                <a:moveTo>
                  <a:pt x="3808476" y="25908"/>
                </a:moveTo>
                <a:lnTo>
                  <a:pt x="3730752" y="25908"/>
                </a:lnTo>
                <a:lnTo>
                  <a:pt x="3730752" y="51815"/>
                </a:lnTo>
                <a:lnTo>
                  <a:pt x="3808476" y="51815"/>
                </a:lnTo>
                <a:lnTo>
                  <a:pt x="3808476" y="25908"/>
                </a:lnTo>
                <a:close/>
              </a:path>
              <a:path w="7162800" h="78105">
                <a:moveTo>
                  <a:pt x="3912107" y="25908"/>
                </a:moveTo>
                <a:lnTo>
                  <a:pt x="3834383" y="25908"/>
                </a:lnTo>
                <a:lnTo>
                  <a:pt x="3834383" y="51815"/>
                </a:lnTo>
                <a:lnTo>
                  <a:pt x="3912107" y="51815"/>
                </a:lnTo>
                <a:lnTo>
                  <a:pt x="3912107" y="25908"/>
                </a:lnTo>
                <a:close/>
              </a:path>
              <a:path w="7162800" h="78105">
                <a:moveTo>
                  <a:pt x="4015740" y="25908"/>
                </a:moveTo>
                <a:lnTo>
                  <a:pt x="3938016" y="25908"/>
                </a:lnTo>
                <a:lnTo>
                  <a:pt x="3938016" y="51815"/>
                </a:lnTo>
                <a:lnTo>
                  <a:pt x="4015740" y="51815"/>
                </a:lnTo>
                <a:lnTo>
                  <a:pt x="4015740" y="25908"/>
                </a:lnTo>
                <a:close/>
              </a:path>
              <a:path w="7162800" h="78105">
                <a:moveTo>
                  <a:pt x="4119372" y="25908"/>
                </a:moveTo>
                <a:lnTo>
                  <a:pt x="4041648" y="25908"/>
                </a:lnTo>
                <a:lnTo>
                  <a:pt x="4041648" y="51815"/>
                </a:lnTo>
                <a:lnTo>
                  <a:pt x="4119372" y="51815"/>
                </a:lnTo>
                <a:lnTo>
                  <a:pt x="4119372" y="25908"/>
                </a:lnTo>
                <a:close/>
              </a:path>
              <a:path w="7162800" h="78105">
                <a:moveTo>
                  <a:pt x="4223004" y="25908"/>
                </a:moveTo>
                <a:lnTo>
                  <a:pt x="4145279" y="25908"/>
                </a:lnTo>
                <a:lnTo>
                  <a:pt x="4145279" y="51815"/>
                </a:lnTo>
                <a:lnTo>
                  <a:pt x="4223004" y="51815"/>
                </a:lnTo>
                <a:lnTo>
                  <a:pt x="4223004" y="25908"/>
                </a:lnTo>
                <a:close/>
              </a:path>
              <a:path w="7162800" h="78105">
                <a:moveTo>
                  <a:pt x="4326635" y="25908"/>
                </a:moveTo>
                <a:lnTo>
                  <a:pt x="4248911" y="25908"/>
                </a:lnTo>
                <a:lnTo>
                  <a:pt x="4248911" y="51815"/>
                </a:lnTo>
                <a:lnTo>
                  <a:pt x="4326635" y="51815"/>
                </a:lnTo>
                <a:lnTo>
                  <a:pt x="4326635" y="25908"/>
                </a:lnTo>
                <a:close/>
              </a:path>
              <a:path w="7162800" h="78105">
                <a:moveTo>
                  <a:pt x="4430268" y="25908"/>
                </a:moveTo>
                <a:lnTo>
                  <a:pt x="4352544" y="25908"/>
                </a:lnTo>
                <a:lnTo>
                  <a:pt x="4352544" y="51815"/>
                </a:lnTo>
                <a:lnTo>
                  <a:pt x="4430268" y="51815"/>
                </a:lnTo>
                <a:lnTo>
                  <a:pt x="4430268" y="25908"/>
                </a:lnTo>
                <a:close/>
              </a:path>
              <a:path w="7162800" h="78105">
                <a:moveTo>
                  <a:pt x="4533900" y="25908"/>
                </a:moveTo>
                <a:lnTo>
                  <a:pt x="4456176" y="25908"/>
                </a:lnTo>
                <a:lnTo>
                  <a:pt x="4456176" y="51815"/>
                </a:lnTo>
                <a:lnTo>
                  <a:pt x="4533900" y="51815"/>
                </a:lnTo>
                <a:lnTo>
                  <a:pt x="4533900" y="25908"/>
                </a:lnTo>
                <a:close/>
              </a:path>
              <a:path w="7162800" h="78105">
                <a:moveTo>
                  <a:pt x="4637532" y="25908"/>
                </a:moveTo>
                <a:lnTo>
                  <a:pt x="4559808" y="25908"/>
                </a:lnTo>
                <a:lnTo>
                  <a:pt x="4559808" y="51815"/>
                </a:lnTo>
                <a:lnTo>
                  <a:pt x="4637532" y="51815"/>
                </a:lnTo>
                <a:lnTo>
                  <a:pt x="4637532" y="25908"/>
                </a:lnTo>
                <a:close/>
              </a:path>
              <a:path w="7162800" h="78105">
                <a:moveTo>
                  <a:pt x="4741164" y="25908"/>
                </a:moveTo>
                <a:lnTo>
                  <a:pt x="4663440" y="25908"/>
                </a:lnTo>
                <a:lnTo>
                  <a:pt x="4663440" y="51815"/>
                </a:lnTo>
                <a:lnTo>
                  <a:pt x="4741164" y="51815"/>
                </a:lnTo>
                <a:lnTo>
                  <a:pt x="4741164" y="25908"/>
                </a:lnTo>
                <a:close/>
              </a:path>
              <a:path w="7162800" h="78105">
                <a:moveTo>
                  <a:pt x="4844796" y="25908"/>
                </a:moveTo>
                <a:lnTo>
                  <a:pt x="4767072" y="25908"/>
                </a:lnTo>
                <a:lnTo>
                  <a:pt x="4767072" y="51815"/>
                </a:lnTo>
                <a:lnTo>
                  <a:pt x="4844796" y="51815"/>
                </a:lnTo>
                <a:lnTo>
                  <a:pt x="4844796" y="25908"/>
                </a:lnTo>
                <a:close/>
              </a:path>
              <a:path w="7162800" h="78105">
                <a:moveTo>
                  <a:pt x="4948428" y="25908"/>
                </a:moveTo>
                <a:lnTo>
                  <a:pt x="4870704" y="25908"/>
                </a:lnTo>
                <a:lnTo>
                  <a:pt x="4870704" y="51815"/>
                </a:lnTo>
                <a:lnTo>
                  <a:pt x="4948428" y="51815"/>
                </a:lnTo>
                <a:lnTo>
                  <a:pt x="4948428" y="25908"/>
                </a:lnTo>
                <a:close/>
              </a:path>
              <a:path w="7162800" h="78105">
                <a:moveTo>
                  <a:pt x="5052059" y="25908"/>
                </a:moveTo>
                <a:lnTo>
                  <a:pt x="4974335" y="25908"/>
                </a:lnTo>
                <a:lnTo>
                  <a:pt x="4974335" y="51815"/>
                </a:lnTo>
                <a:lnTo>
                  <a:pt x="5052059" y="51815"/>
                </a:lnTo>
                <a:lnTo>
                  <a:pt x="5052059" y="25908"/>
                </a:lnTo>
                <a:close/>
              </a:path>
              <a:path w="7162800" h="78105">
                <a:moveTo>
                  <a:pt x="5155692" y="25908"/>
                </a:moveTo>
                <a:lnTo>
                  <a:pt x="5077968" y="25908"/>
                </a:lnTo>
                <a:lnTo>
                  <a:pt x="5077968" y="51815"/>
                </a:lnTo>
                <a:lnTo>
                  <a:pt x="5155692" y="51815"/>
                </a:lnTo>
                <a:lnTo>
                  <a:pt x="5155692" y="25908"/>
                </a:lnTo>
                <a:close/>
              </a:path>
              <a:path w="7162800" h="78105">
                <a:moveTo>
                  <a:pt x="5259324" y="25908"/>
                </a:moveTo>
                <a:lnTo>
                  <a:pt x="5181600" y="25908"/>
                </a:lnTo>
                <a:lnTo>
                  <a:pt x="5181600" y="51815"/>
                </a:lnTo>
                <a:lnTo>
                  <a:pt x="5259324" y="51815"/>
                </a:lnTo>
                <a:lnTo>
                  <a:pt x="5259324" y="25908"/>
                </a:lnTo>
                <a:close/>
              </a:path>
              <a:path w="7162800" h="78105">
                <a:moveTo>
                  <a:pt x="5362956" y="25908"/>
                </a:moveTo>
                <a:lnTo>
                  <a:pt x="5285232" y="25908"/>
                </a:lnTo>
                <a:lnTo>
                  <a:pt x="5285232" y="51815"/>
                </a:lnTo>
                <a:lnTo>
                  <a:pt x="5362956" y="51815"/>
                </a:lnTo>
                <a:lnTo>
                  <a:pt x="5362956" y="25908"/>
                </a:lnTo>
                <a:close/>
              </a:path>
              <a:path w="7162800" h="78105">
                <a:moveTo>
                  <a:pt x="5466588" y="25908"/>
                </a:moveTo>
                <a:lnTo>
                  <a:pt x="5388864" y="25908"/>
                </a:lnTo>
                <a:lnTo>
                  <a:pt x="5388864" y="51815"/>
                </a:lnTo>
                <a:lnTo>
                  <a:pt x="5466588" y="51815"/>
                </a:lnTo>
                <a:lnTo>
                  <a:pt x="5466588" y="25908"/>
                </a:lnTo>
                <a:close/>
              </a:path>
              <a:path w="7162800" h="78105">
                <a:moveTo>
                  <a:pt x="5570220" y="25908"/>
                </a:moveTo>
                <a:lnTo>
                  <a:pt x="5492496" y="25908"/>
                </a:lnTo>
                <a:lnTo>
                  <a:pt x="5492496" y="51815"/>
                </a:lnTo>
                <a:lnTo>
                  <a:pt x="5570220" y="51815"/>
                </a:lnTo>
                <a:lnTo>
                  <a:pt x="5570220" y="25908"/>
                </a:lnTo>
                <a:close/>
              </a:path>
              <a:path w="7162800" h="78105">
                <a:moveTo>
                  <a:pt x="5673852" y="25908"/>
                </a:moveTo>
                <a:lnTo>
                  <a:pt x="5596128" y="25908"/>
                </a:lnTo>
                <a:lnTo>
                  <a:pt x="5596128" y="51815"/>
                </a:lnTo>
                <a:lnTo>
                  <a:pt x="5673852" y="51815"/>
                </a:lnTo>
                <a:lnTo>
                  <a:pt x="5673852" y="25908"/>
                </a:lnTo>
                <a:close/>
              </a:path>
              <a:path w="7162800" h="78105">
                <a:moveTo>
                  <a:pt x="5777484" y="25908"/>
                </a:moveTo>
                <a:lnTo>
                  <a:pt x="5699760" y="25908"/>
                </a:lnTo>
                <a:lnTo>
                  <a:pt x="5699760" y="51815"/>
                </a:lnTo>
                <a:lnTo>
                  <a:pt x="5777484" y="51815"/>
                </a:lnTo>
                <a:lnTo>
                  <a:pt x="5777484" y="25908"/>
                </a:lnTo>
                <a:close/>
              </a:path>
              <a:path w="7162800" h="78105">
                <a:moveTo>
                  <a:pt x="5881116" y="25908"/>
                </a:moveTo>
                <a:lnTo>
                  <a:pt x="5803392" y="25908"/>
                </a:lnTo>
                <a:lnTo>
                  <a:pt x="5803392" y="51815"/>
                </a:lnTo>
                <a:lnTo>
                  <a:pt x="5881116" y="51815"/>
                </a:lnTo>
                <a:lnTo>
                  <a:pt x="5881116" y="25908"/>
                </a:lnTo>
                <a:close/>
              </a:path>
              <a:path w="7162800" h="78105">
                <a:moveTo>
                  <a:pt x="5984748" y="25908"/>
                </a:moveTo>
                <a:lnTo>
                  <a:pt x="5907024" y="25908"/>
                </a:lnTo>
                <a:lnTo>
                  <a:pt x="5907024" y="51815"/>
                </a:lnTo>
                <a:lnTo>
                  <a:pt x="5984748" y="51815"/>
                </a:lnTo>
                <a:lnTo>
                  <a:pt x="5984748" y="25908"/>
                </a:lnTo>
                <a:close/>
              </a:path>
              <a:path w="7162800" h="78105">
                <a:moveTo>
                  <a:pt x="6088380" y="25908"/>
                </a:moveTo>
                <a:lnTo>
                  <a:pt x="6010656" y="25908"/>
                </a:lnTo>
                <a:lnTo>
                  <a:pt x="6010656" y="51815"/>
                </a:lnTo>
                <a:lnTo>
                  <a:pt x="6088380" y="51815"/>
                </a:lnTo>
                <a:lnTo>
                  <a:pt x="6088380" y="25908"/>
                </a:lnTo>
                <a:close/>
              </a:path>
              <a:path w="7162800" h="78105">
                <a:moveTo>
                  <a:pt x="6192012" y="25908"/>
                </a:moveTo>
                <a:lnTo>
                  <a:pt x="6114288" y="25908"/>
                </a:lnTo>
                <a:lnTo>
                  <a:pt x="6114288" y="51815"/>
                </a:lnTo>
                <a:lnTo>
                  <a:pt x="6192012" y="51815"/>
                </a:lnTo>
                <a:lnTo>
                  <a:pt x="6192012" y="25908"/>
                </a:lnTo>
                <a:close/>
              </a:path>
              <a:path w="7162800" h="78105">
                <a:moveTo>
                  <a:pt x="6295644" y="25908"/>
                </a:moveTo>
                <a:lnTo>
                  <a:pt x="6217920" y="25908"/>
                </a:lnTo>
                <a:lnTo>
                  <a:pt x="6217920" y="51815"/>
                </a:lnTo>
                <a:lnTo>
                  <a:pt x="6295644" y="51815"/>
                </a:lnTo>
                <a:lnTo>
                  <a:pt x="6295644" y="25908"/>
                </a:lnTo>
                <a:close/>
              </a:path>
              <a:path w="7162800" h="78105">
                <a:moveTo>
                  <a:pt x="6399276" y="25908"/>
                </a:moveTo>
                <a:lnTo>
                  <a:pt x="6321552" y="25908"/>
                </a:lnTo>
                <a:lnTo>
                  <a:pt x="6321552" y="51815"/>
                </a:lnTo>
                <a:lnTo>
                  <a:pt x="6399276" y="51815"/>
                </a:lnTo>
                <a:lnTo>
                  <a:pt x="6399276" y="25908"/>
                </a:lnTo>
                <a:close/>
              </a:path>
              <a:path w="7162800" h="78105">
                <a:moveTo>
                  <a:pt x="6502908" y="25908"/>
                </a:moveTo>
                <a:lnTo>
                  <a:pt x="6425184" y="25908"/>
                </a:lnTo>
                <a:lnTo>
                  <a:pt x="6425184" y="51815"/>
                </a:lnTo>
                <a:lnTo>
                  <a:pt x="6502908" y="51815"/>
                </a:lnTo>
                <a:lnTo>
                  <a:pt x="6502908" y="25908"/>
                </a:lnTo>
                <a:close/>
              </a:path>
              <a:path w="7162800" h="78105">
                <a:moveTo>
                  <a:pt x="6606540" y="25908"/>
                </a:moveTo>
                <a:lnTo>
                  <a:pt x="6528816" y="25908"/>
                </a:lnTo>
                <a:lnTo>
                  <a:pt x="6528816" y="51815"/>
                </a:lnTo>
                <a:lnTo>
                  <a:pt x="6606540" y="51815"/>
                </a:lnTo>
                <a:lnTo>
                  <a:pt x="6606540" y="25908"/>
                </a:lnTo>
                <a:close/>
              </a:path>
              <a:path w="7162800" h="78105">
                <a:moveTo>
                  <a:pt x="6710172" y="25908"/>
                </a:moveTo>
                <a:lnTo>
                  <a:pt x="6632448" y="25908"/>
                </a:lnTo>
                <a:lnTo>
                  <a:pt x="6632448" y="51815"/>
                </a:lnTo>
                <a:lnTo>
                  <a:pt x="6710172" y="51815"/>
                </a:lnTo>
                <a:lnTo>
                  <a:pt x="6710172" y="25908"/>
                </a:lnTo>
                <a:close/>
              </a:path>
              <a:path w="7162800" h="78105">
                <a:moveTo>
                  <a:pt x="6813804" y="25908"/>
                </a:moveTo>
                <a:lnTo>
                  <a:pt x="6736080" y="25908"/>
                </a:lnTo>
                <a:lnTo>
                  <a:pt x="6736080" y="51815"/>
                </a:lnTo>
                <a:lnTo>
                  <a:pt x="6813804" y="51815"/>
                </a:lnTo>
                <a:lnTo>
                  <a:pt x="6813804" y="25908"/>
                </a:lnTo>
                <a:close/>
              </a:path>
              <a:path w="7162800" h="78105">
                <a:moveTo>
                  <a:pt x="6917436" y="25908"/>
                </a:moveTo>
                <a:lnTo>
                  <a:pt x="6839712" y="25908"/>
                </a:lnTo>
                <a:lnTo>
                  <a:pt x="6839712" y="51815"/>
                </a:lnTo>
                <a:lnTo>
                  <a:pt x="6917436" y="51815"/>
                </a:lnTo>
                <a:lnTo>
                  <a:pt x="6917436" y="25908"/>
                </a:lnTo>
                <a:close/>
              </a:path>
              <a:path w="7162800" h="78105">
                <a:moveTo>
                  <a:pt x="7021068" y="25908"/>
                </a:moveTo>
                <a:lnTo>
                  <a:pt x="6943344" y="25908"/>
                </a:lnTo>
                <a:lnTo>
                  <a:pt x="6943344" y="51815"/>
                </a:lnTo>
                <a:lnTo>
                  <a:pt x="7021068" y="51815"/>
                </a:lnTo>
                <a:lnTo>
                  <a:pt x="7021068" y="25908"/>
                </a:lnTo>
                <a:close/>
              </a:path>
              <a:path w="7162800" h="78105">
                <a:moveTo>
                  <a:pt x="7033260" y="0"/>
                </a:moveTo>
                <a:lnTo>
                  <a:pt x="7033260" y="77724"/>
                </a:lnTo>
                <a:lnTo>
                  <a:pt x="7162800" y="38862"/>
                </a:lnTo>
                <a:lnTo>
                  <a:pt x="70332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51628" y="6306718"/>
            <a:ext cx="83946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时间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75626" y="6485026"/>
            <a:ext cx="939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项目结束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58945" y="4315459"/>
            <a:ext cx="3051175" cy="1635125"/>
          </a:xfrm>
          <a:custGeom>
            <a:avLst/>
            <a:gdLst/>
            <a:ahLst/>
            <a:cxnLst/>
            <a:rect l="l" t="t" r="r" b="b"/>
            <a:pathLst>
              <a:path w="3051175" h="1635125">
                <a:moveTo>
                  <a:pt x="818260" y="855217"/>
                </a:moveTo>
                <a:lnTo>
                  <a:pt x="826214" y="805933"/>
                </a:lnTo>
                <a:lnTo>
                  <a:pt x="848358" y="763123"/>
                </a:lnTo>
                <a:lnTo>
                  <a:pt x="882122" y="729359"/>
                </a:lnTo>
                <a:lnTo>
                  <a:pt x="924932" y="707215"/>
                </a:lnTo>
                <a:lnTo>
                  <a:pt x="974216" y="699262"/>
                </a:lnTo>
                <a:lnTo>
                  <a:pt x="1190370" y="699262"/>
                </a:lnTo>
                <a:lnTo>
                  <a:pt x="0" y="0"/>
                </a:lnTo>
                <a:lnTo>
                  <a:pt x="1748535" y="699262"/>
                </a:lnTo>
                <a:lnTo>
                  <a:pt x="2894964" y="699262"/>
                </a:lnTo>
                <a:lnTo>
                  <a:pt x="2944249" y="707215"/>
                </a:lnTo>
                <a:lnTo>
                  <a:pt x="2987059" y="729359"/>
                </a:lnTo>
                <a:lnTo>
                  <a:pt x="3020823" y="763123"/>
                </a:lnTo>
                <a:lnTo>
                  <a:pt x="3042967" y="805933"/>
                </a:lnTo>
                <a:lnTo>
                  <a:pt x="3050921" y="855217"/>
                </a:lnTo>
                <a:lnTo>
                  <a:pt x="3050921" y="1089152"/>
                </a:lnTo>
                <a:lnTo>
                  <a:pt x="3050921" y="1479042"/>
                </a:lnTo>
                <a:lnTo>
                  <a:pt x="3042967" y="1528335"/>
                </a:lnTo>
                <a:lnTo>
                  <a:pt x="3020823" y="1571147"/>
                </a:lnTo>
                <a:lnTo>
                  <a:pt x="2987059" y="1604907"/>
                </a:lnTo>
                <a:lnTo>
                  <a:pt x="2944249" y="1627047"/>
                </a:lnTo>
                <a:lnTo>
                  <a:pt x="2894964" y="1634998"/>
                </a:lnTo>
                <a:lnTo>
                  <a:pt x="1748535" y="1634998"/>
                </a:lnTo>
                <a:lnTo>
                  <a:pt x="1190370" y="1634998"/>
                </a:lnTo>
                <a:lnTo>
                  <a:pt x="974216" y="1634998"/>
                </a:lnTo>
                <a:lnTo>
                  <a:pt x="924932" y="1627047"/>
                </a:lnTo>
                <a:lnTo>
                  <a:pt x="882122" y="1604907"/>
                </a:lnTo>
                <a:lnTo>
                  <a:pt x="848358" y="1571147"/>
                </a:lnTo>
                <a:lnTo>
                  <a:pt x="826214" y="1528335"/>
                </a:lnTo>
                <a:lnTo>
                  <a:pt x="818260" y="1479042"/>
                </a:lnTo>
                <a:lnTo>
                  <a:pt x="818260" y="1089152"/>
                </a:lnTo>
                <a:lnTo>
                  <a:pt x="818260" y="855217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74741" y="5264658"/>
            <a:ext cx="2038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仿宋"/>
                <a:cs typeface="华文仿宋"/>
              </a:rPr>
              <a:t>预算（</a:t>
            </a:r>
            <a:r>
              <a:rPr sz="2400" dirty="0">
                <a:latin typeface="Tw Cen MT"/>
                <a:cs typeface="Tw Cen MT"/>
              </a:rPr>
              <a:t>BCWS</a:t>
            </a:r>
            <a:r>
              <a:rPr sz="2400" dirty="0">
                <a:latin typeface="华文仿宋"/>
                <a:cs typeface="华文仿宋"/>
              </a:rPr>
              <a:t>）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40103" y="1629917"/>
            <a:ext cx="4745990" cy="828675"/>
          </a:xfrm>
          <a:custGeom>
            <a:avLst/>
            <a:gdLst/>
            <a:ahLst/>
            <a:cxnLst/>
            <a:rect l="l" t="t" r="r" b="b"/>
            <a:pathLst>
              <a:path w="4745990" h="828675">
                <a:moveTo>
                  <a:pt x="2368550" y="0"/>
                </a:moveTo>
                <a:lnTo>
                  <a:pt x="2764790" y="0"/>
                </a:lnTo>
                <a:lnTo>
                  <a:pt x="3359150" y="0"/>
                </a:lnTo>
                <a:lnTo>
                  <a:pt x="4745990" y="0"/>
                </a:lnTo>
                <a:lnTo>
                  <a:pt x="4745990" y="330708"/>
                </a:lnTo>
                <a:lnTo>
                  <a:pt x="4745990" y="472440"/>
                </a:lnTo>
                <a:lnTo>
                  <a:pt x="4745990" y="566928"/>
                </a:lnTo>
                <a:lnTo>
                  <a:pt x="3359150" y="566928"/>
                </a:lnTo>
                <a:lnTo>
                  <a:pt x="2764790" y="566928"/>
                </a:lnTo>
                <a:lnTo>
                  <a:pt x="2368550" y="566928"/>
                </a:lnTo>
                <a:lnTo>
                  <a:pt x="2368550" y="472440"/>
                </a:lnTo>
                <a:lnTo>
                  <a:pt x="0" y="828294"/>
                </a:lnTo>
                <a:lnTo>
                  <a:pt x="2368550" y="330708"/>
                </a:lnTo>
                <a:lnTo>
                  <a:pt x="2368550" y="0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32250" y="1625600"/>
            <a:ext cx="17310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华文仿宋"/>
                <a:cs typeface="华文仿宋"/>
              </a:rPr>
              <a:t>估算</a:t>
            </a:r>
            <a:r>
              <a:rPr sz="3200" dirty="0">
                <a:latin typeface="Tw Cen MT"/>
                <a:cs typeface="Tw Cen MT"/>
              </a:rPr>
              <a:t>(</a:t>
            </a:r>
            <a:r>
              <a:rPr sz="3200" spc="-60" dirty="0">
                <a:latin typeface="Tw Cen MT"/>
                <a:cs typeface="Tw Cen MT"/>
              </a:rPr>
              <a:t>B</a:t>
            </a:r>
            <a:r>
              <a:rPr sz="3200" spc="-135" dirty="0">
                <a:latin typeface="Tw Cen MT"/>
                <a:cs typeface="Tw Cen MT"/>
              </a:rPr>
              <a:t>A</a:t>
            </a:r>
            <a:r>
              <a:rPr sz="3200" dirty="0">
                <a:latin typeface="Tw Cen MT"/>
                <a:cs typeface="Tw Cen MT"/>
              </a:rPr>
              <a:t>C)</a:t>
            </a:r>
            <a:endParaRPr sz="32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77189"/>
            <a:ext cx="33832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项目成本预算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3195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630" y="2492501"/>
            <a:ext cx="8153400" cy="2016760"/>
          </a:xfrm>
          <a:custGeom>
            <a:avLst/>
            <a:gdLst/>
            <a:ahLst/>
            <a:cxnLst/>
            <a:rect l="l" t="t" r="r" b="b"/>
            <a:pathLst>
              <a:path w="8153400" h="2016760">
                <a:moveTo>
                  <a:pt x="0" y="2016252"/>
                </a:moveTo>
                <a:lnTo>
                  <a:pt x="8153400" y="2016252"/>
                </a:lnTo>
                <a:lnTo>
                  <a:pt x="8153400" y="0"/>
                </a:lnTo>
                <a:lnTo>
                  <a:pt x="0" y="0"/>
                </a:lnTo>
                <a:lnTo>
                  <a:pt x="0" y="201625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917" y="2408721"/>
            <a:ext cx="4603115" cy="16173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32765" indent="-532765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AutoNum type="arabicPeriod"/>
              <a:tabLst>
                <a:tab pos="532765" algn="l"/>
                <a:tab pos="533400" algn="l"/>
              </a:tabLst>
            </a:pPr>
            <a:r>
              <a:rPr sz="2900" dirty="0">
                <a:latin typeface="华文新魏"/>
                <a:cs typeface="华文新魏"/>
              </a:rPr>
              <a:t>给任务分配资源成本</a:t>
            </a:r>
            <a:endParaRPr sz="29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32765" algn="l"/>
                <a:tab pos="533400" algn="l"/>
              </a:tabLst>
            </a:pPr>
            <a:r>
              <a:rPr sz="2900" dirty="0">
                <a:latin typeface="华文新魏"/>
                <a:cs typeface="华文新魏"/>
              </a:rPr>
              <a:t>给任务分配固定资源成本</a:t>
            </a:r>
            <a:endParaRPr sz="29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532765" algn="l"/>
                <a:tab pos="533400" algn="l"/>
              </a:tabLst>
            </a:pPr>
            <a:r>
              <a:rPr sz="2900" dirty="0">
                <a:latin typeface="华文新魏"/>
                <a:cs typeface="华文新魏"/>
              </a:rPr>
              <a:t>给任务分配固定成本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217" y="1628901"/>
            <a:ext cx="76460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分配项目成</a:t>
            </a:r>
            <a:r>
              <a:rPr sz="4000" b="1" u="sng" spc="-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本预</a:t>
            </a:r>
            <a:r>
              <a:rPr sz="4000" b="1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算</a:t>
            </a:r>
            <a:r>
              <a:rPr sz="4000" b="1" u="sng" spc="-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包括</a:t>
            </a:r>
            <a:r>
              <a:rPr sz="4000" b="1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三</a:t>
            </a:r>
            <a:r>
              <a:rPr sz="4000" b="1" u="sng" spc="-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种情</a:t>
            </a:r>
            <a:r>
              <a:rPr sz="4000" b="1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况</a:t>
            </a:r>
            <a:r>
              <a:rPr sz="4000" b="1" u="sng" spc="-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：</a:t>
            </a:r>
            <a:endParaRPr sz="4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7442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给任务分配资源成</a:t>
            </a:r>
            <a:r>
              <a:rPr spc="5" dirty="0"/>
              <a:t>本</a:t>
            </a:r>
            <a:r>
              <a:rPr spc="-10" dirty="0"/>
              <a:t>:</a:t>
            </a:r>
            <a:r>
              <a:rPr dirty="0"/>
              <a:t>常规方法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2107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2492501"/>
            <a:ext cx="8153400" cy="208978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731520" indent="-273685">
              <a:lnSpc>
                <a:spcPct val="100000"/>
              </a:lnSpc>
              <a:spcBef>
                <a:spcPts val="44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2155" algn="l"/>
              </a:tabLst>
            </a:pPr>
            <a:r>
              <a:rPr sz="2600" dirty="0">
                <a:latin typeface="黑体"/>
                <a:cs typeface="黑体"/>
              </a:rPr>
              <a:t>标准费率</a:t>
            </a:r>
            <a:endParaRPr sz="2600">
              <a:latin typeface="黑体"/>
              <a:cs typeface="黑体"/>
            </a:endParaRPr>
          </a:p>
          <a:p>
            <a:pPr marL="731520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2155" algn="l"/>
              </a:tabLst>
            </a:pPr>
            <a:r>
              <a:rPr sz="2600" dirty="0">
                <a:latin typeface="黑体"/>
                <a:cs typeface="黑体"/>
              </a:rPr>
              <a:t>加班费率</a:t>
            </a:r>
            <a:endParaRPr sz="2600">
              <a:latin typeface="黑体"/>
              <a:cs typeface="黑体"/>
            </a:endParaRPr>
          </a:p>
          <a:p>
            <a:pPr marL="731520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2155" algn="l"/>
              </a:tabLst>
            </a:pPr>
            <a:r>
              <a:rPr sz="2600" dirty="0">
                <a:latin typeface="黑体"/>
                <a:cs typeface="黑体"/>
              </a:rPr>
              <a:t>每次使</a:t>
            </a:r>
            <a:r>
              <a:rPr sz="2600" spc="-15" dirty="0">
                <a:latin typeface="黑体"/>
                <a:cs typeface="黑体"/>
              </a:rPr>
              <a:t>用</a:t>
            </a:r>
            <a:r>
              <a:rPr sz="2600" dirty="0">
                <a:latin typeface="黑体"/>
                <a:cs typeface="黑体"/>
              </a:rPr>
              <a:t>费率</a:t>
            </a:r>
            <a:endParaRPr sz="2600">
              <a:latin typeface="黑体"/>
              <a:cs typeface="黑体"/>
            </a:endParaRPr>
          </a:p>
          <a:p>
            <a:pPr marL="731520" indent="-27368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2155" algn="l"/>
              </a:tabLst>
            </a:pPr>
            <a:r>
              <a:rPr sz="2600" dirty="0">
                <a:latin typeface="黑体"/>
                <a:cs typeface="黑体"/>
              </a:rPr>
              <a:t>。。。</a:t>
            </a:r>
            <a:r>
              <a:rPr sz="2600" spc="-15" dirty="0">
                <a:latin typeface="黑体"/>
                <a:cs typeface="黑体"/>
              </a:rPr>
              <a:t>。</a:t>
            </a:r>
            <a:r>
              <a:rPr sz="2600" dirty="0">
                <a:latin typeface="黑体"/>
                <a:cs typeface="黑体"/>
              </a:rPr>
              <a:t>。。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590" y="1745995"/>
            <a:ext cx="32778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与资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源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的费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率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相关</a:t>
            </a:r>
            <a:endParaRPr sz="3200">
              <a:latin typeface="仿宋"/>
              <a:cs typeface="仿宋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591" y="160731"/>
            <a:ext cx="6737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给任务分配资源成本：例子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276" y="1555653"/>
            <a:ext cx="3240024" cy="50859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074" y="3861053"/>
            <a:ext cx="2807335" cy="216535"/>
          </a:xfrm>
          <a:custGeom>
            <a:avLst/>
            <a:gdLst/>
            <a:ahLst/>
            <a:cxnLst/>
            <a:rect l="l" t="t" r="r" b="b"/>
            <a:pathLst>
              <a:path w="2807335" h="216535">
                <a:moveTo>
                  <a:pt x="0" y="216408"/>
                </a:moveTo>
                <a:lnTo>
                  <a:pt x="2807207" y="216408"/>
                </a:lnTo>
                <a:lnTo>
                  <a:pt x="2807207" y="0"/>
                </a:lnTo>
                <a:lnTo>
                  <a:pt x="0" y="0"/>
                </a:lnTo>
                <a:lnTo>
                  <a:pt x="0" y="21640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68317" y="3717797"/>
            <a:ext cx="4032885" cy="370840"/>
          </a:xfrm>
          <a:custGeom>
            <a:avLst/>
            <a:gdLst/>
            <a:ahLst/>
            <a:cxnLst/>
            <a:rect l="l" t="t" r="r" b="b"/>
            <a:pathLst>
              <a:path w="4032884" h="370839">
                <a:moveTo>
                  <a:pt x="0" y="370331"/>
                </a:moveTo>
                <a:lnTo>
                  <a:pt x="4032503" y="370331"/>
                </a:lnTo>
                <a:lnTo>
                  <a:pt x="4032503" y="0"/>
                </a:lnTo>
                <a:lnTo>
                  <a:pt x="0" y="0"/>
                </a:lnTo>
                <a:lnTo>
                  <a:pt x="0" y="370331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18813" y="3755644"/>
            <a:ext cx="902588" cy="2908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41086" y="3755644"/>
            <a:ext cx="1643634" cy="3129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04152" y="3772408"/>
            <a:ext cx="1128268" cy="2749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分配固定资源成本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892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2061210"/>
            <a:ext cx="8442960" cy="168402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0805" marR="21018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华文新魏"/>
                <a:cs typeface="华文新魏"/>
              </a:rPr>
              <a:t>当一个项目的资源需要</a:t>
            </a:r>
            <a:r>
              <a:rPr sz="3200" spc="-15" dirty="0">
                <a:latin typeface="华文新魏"/>
                <a:cs typeface="华文新魏"/>
              </a:rPr>
              <a:t>固</a:t>
            </a:r>
            <a:r>
              <a:rPr sz="3200" dirty="0">
                <a:latin typeface="华文新魏"/>
                <a:cs typeface="华文新魏"/>
              </a:rPr>
              <a:t>定数</a:t>
            </a:r>
            <a:r>
              <a:rPr sz="3200" spc="-15" dirty="0">
                <a:latin typeface="华文新魏"/>
                <a:cs typeface="华文新魏"/>
              </a:rPr>
              <a:t>量</a:t>
            </a:r>
            <a:r>
              <a:rPr sz="3200" dirty="0">
                <a:latin typeface="华文新魏"/>
                <a:cs typeface="华文新魏"/>
              </a:rPr>
              <a:t>的资</a:t>
            </a:r>
            <a:r>
              <a:rPr sz="3200" spc="-15" dirty="0">
                <a:latin typeface="华文新魏"/>
                <a:cs typeface="华文新魏"/>
              </a:rPr>
              <a:t>金</a:t>
            </a:r>
            <a:r>
              <a:rPr sz="3200" dirty="0">
                <a:latin typeface="华文新魏"/>
                <a:cs typeface="华文新魏"/>
              </a:rPr>
              <a:t>时，可 以向任务分配固定资源</a:t>
            </a:r>
            <a:r>
              <a:rPr sz="3200" spc="-15" dirty="0">
                <a:latin typeface="华文新魏"/>
                <a:cs typeface="华文新魏"/>
              </a:rPr>
              <a:t>成</a:t>
            </a:r>
            <a:r>
              <a:rPr sz="3200" dirty="0">
                <a:latin typeface="华文新魏"/>
                <a:cs typeface="华文新魏"/>
              </a:rPr>
              <a:t>本。</a:t>
            </a:r>
            <a:endParaRPr sz="3200">
              <a:latin typeface="华文新魏"/>
              <a:cs typeface="华文新魏"/>
            </a:endParaRPr>
          </a:p>
          <a:p>
            <a:pPr marL="90805">
              <a:lnSpc>
                <a:spcPct val="100000"/>
              </a:lnSpc>
              <a:spcBef>
                <a:spcPts val="700"/>
              </a:spcBef>
            </a:pPr>
            <a:r>
              <a:rPr sz="3200" dirty="0">
                <a:latin typeface="华文新魏"/>
                <a:cs typeface="华文新魏"/>
              </a:rPr>
              <a:t>例如：项目中的一个兼</a:t>
            </a:r>
            <a:r>
              <a:rPr sz="3200" spc="-15" dirty="0">
                <a:latin typeface="华文新魏"/>
                <a:cs typeface="华文新魏"/>
              </a:rPr>
              <a:t>职</a:t>
            </a:r>
            <a:r>
              <a:rPr sz="3200" dirty="0">
                <a:latin typeface="华文新魏"/>
                <a:cs typeface="华文新魏"/>
              </a:rPr>
              <a:t>人员</a:t>
            </a:r>
            <a:r>
              <a:rPr sz="3200" spc="-15" dirty="0">
                <a:latin typeface="华文新魏"/>
                <a:cs typeface="华文新魏"/>
              </a:rPr>
              <a:t>成</a:t>
            </a:r>
            <a:r>
              <a:rPr sz="3200" spc="5" dirty="0">
                <a:latin typeface="华文新魏"/>
                <a:cs typeface="华文新魏"/>
              </a:rPr>
              <a:t>本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分配固定成本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7782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2061210"/>
            <a:ext cx="8281670" cy="2837815"/>
          </a:xfrm>
          <a:custGeom>
            <a:avLst/>
            <a:gdLst/>
            <a:ahLst/>
            <a:cxnLst/>
            <a:rect l="l" t="t" r="r" b="b"/>
            <a:pathLst>
              <a:path w="8281670" h="2837815">
                <a:moveTo>
                  <a:pt x="0" y="2837688"/>
                </a:moveTo>
                <a:lnTo>
                  <a:pt x="8281416" y="2837688"/>
                </a:lnTo>
                <a:lnTo>
                  <a:pt x="8281416" y="0"/>
                </a:lnTo>
                <a:lnTo>
                  <a:pt x="0" y="0"/>
                </a:lnTo>
                <a:lnTo>
                  <a:pt x="0" y="2837688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065" y="2064842"/>
            <a:ext cx="7764780" cy="2325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新魏"/>
                <a:cs typeface="华文新魏"/>
              </a:rPr>
              <a:t>有些任务是固定成本的</a:t>
            </a:r>
            <a:r>
              <a:rPr sz="2900" spc="-10" dirty="0">
                <a:latin typeface="华文新魏"/>
                <a:cs typeface="华文新魏"/>
              </a:rPr>
              <a:t>类</a:t>
            </a:r>
            <a:r>
              <a:rPr sz="2900" dirty="0">
                <a:latin typeface="华文新魏"/>
                <a:cs typeface="华文新魏"/>
              </a:rPr>
              <a:t>型的</a:t>
            </a:r>
            <a:r>
              <a:rPr sz="2900" spc="-10" dirty="0">
                <a:latin typeface="华文新魏"/>
                <a:cs typeface="华文新魏"/>
              </a:rPr>
              <a:t>任</a:t>
            </a:r>
            <a:r>
              <a:rPr sz="2900" dirty="0">
                <a:latin typeface="华文新魏"/>
                <a:cs typeface="华文新魏"/>
              </a:rPr>
              <a:t>务，</a:t>
            </a:r>
            <a:r>
              <a:rPr sz="2900" spc="-10" dirty="0">
                <a:latin typeface="华文新魏"/>
                <a:cs typeface="华文新魏"/>
              </a:rPr>
              <a:t>也</a:t>
            </a:r>
            <a:r>
              <a:rPr sz="2900" dirty="0">
                <a:latin typeface="华文新魏"/>
                <a:cs typeface="华文新魏"/>
              </a:rPr>
              <a:t>就是</a:t>
            </a:r>
            <a:r>
              <a:rPr sz="2900" spc="-10" dirty="0">
                <a:latin typeface="华文新魏"/>
                <a:cs typeface="华文新魏"/>
              </a:rPr>
              <a:t>说</a:t>
            </a:r>
            <a:r>
              <a:rPr sz="2900" dirty="0">
                <a:latin typeface="华文新魏"/>
                <a:cs typeface="华文新魏"/>
              </a:rPr>
              <a:t>， 管理者知道某项任务的</a:t>
            </a:r>
            <a:r>
              <a:rPr sz="2900" spc="-15" dirty="0">
                <a:latin typeface="华文新魏"/>
                <a:cs typeface="华文新魏"/>
              </a:rPr>
              <a:t>成</a:t>
            </a:r>
            <a:r>
              <a:rPr sz="2900" dirty="0">
                <a:latin typeface="华文新魏"/>
                <a:cs typeface="华文新魏"/>
              </a:rPr>
              <a:t>本不</a:t>
            </a:r>
            <a:r>
              <a:rPr sz="2900" spc="-15" dirty="0">
                <a:latin typeface="华文新魏"/>
                <a:cs typeface="华文新魏"/>
              </a:rPr>
              <a:t>变</a:t>
            </a:r>
            <a:r>
              <a:rPr sz="2900" dirty="0">
                <a:latin typeface="华文新魏"/>
                <a:cs typeface="华文新魏"/>
              </a:rPr>
              <a:t>，不</a:t>
            </a:r>
            <a:r>
              <a:rPr sz="2900" spc="-15" dirty="0">
                <a:latin typeface="华文新魏"/>
                <a:cs typeface="华文新魏"/>
              </a:rPr>
              <a:t>管</a:t>
            </a:r>
            <a:r>
              <a:rPr sz="2900" dirty="0">
                <a:latin typeface="华文新魏"/>
                <a:cs typeface="华文新魏"/>
              </a:rPr>
              <a:t>任务</a:t>
            </a:r>
            <a:r>
              <a:rPr sz="2900" spc="-15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工 期有多长，或不管任务</a:t>
            </a:r>
            <a:r>
              <a:rPr sz="2900" spc="-15" dirty="0">
                <a:latin typeface="华文新魏"/>
                <a:cs typeface="华文新魏"/>
              </a:rPr>
              <a:t>使</a:t>
            </a:r>
            <a:r>
              <a:rPr sz="2900" dirty="0">
                <a:latin typeface="华文新魏"/>
                <a:cs typeface="华文新魏"/>
              </a:rPr>
              <a:t>用了</a:t>
            </a:r>
            <a:r>
              <a:rPr sz="2900" spc="-15" dirty="0">
                <a:latin typeface="华文新魏"/>
                <a:cs typeface="华文新魏"/>
              </a:rPr>
              <a:t>那</a:t>
            </a:r>
            <a:r>
              <a:rPr sz="2900" dirty="0">
                <a:latin typeface="华文新魏"/>
                <a:cs typeface="华文新魏"/>
              </a:rPr>
              <a:t>些资</a:t>
            </a:r>
            <a:r>
              <a:rPr sz="2900" spc="-15" dirty="0">
                <a:latin typeface="华文新魏"/>
                <a:cs typeface="华文新魏"/>
              </a:rPr>
              <a:t>源</a:t>
            </a:r>
            <a:r>
              <a:rPr sz="2900" dirty="0">
                <a:latin typeface="华文新魏"/>
                <a:cs typeface="华文新魏"/>
              </a:rPr>
              <a:t>。在</a:t>
            </a:r>
            <a:r>
              <a:rPr sz="2900" spc="-15" dirty="0">
                <a:latin typeface="华文新魏"/>
                <a:cs typeface="华文新魏"/>
              </a:rPr>
              <a:t>这</a:t>
            </a:r>
            <a:r>
              <a:rPr sz="2900" dirty="0">
                <a:latin typeface="华文新魏"/>
                <a:cs typeface="华文新魏"/>
              </a:rPr>
              <a:t>种 情况下，管理者向任务</a:t>
            </a:r>
            <a:r>
              <a:rPr sz="2900" spc="-10" dirty="0">
                <a:latin typeface="华文新魏"/>
                <a:cs typeface="华文新魏"/>
              </a:rPr>
              <a:t>直</a:t>
            </a:r>
            <a:r>
              <a:rPr sz="2900" dirty="0">
                <a:latin typeface="华文新魏"/>
                <a:cs typeface="华文新魏"/>
              </a:rPr>
              <a:t>接分</a:t>
            </a:r>
            <a:r>
              <a:rPr sz="2900" spc="-10" dirty="0">
                <a:latin typeface="华文新魏"/>
                <a:cs typeface="华文新魏"/>
              </a:rPr>
              <a:t>配</a:t>
            </a:r>
            <a:r>
              <a:rPr sz="2900" dirty="0">
                <a:latin typeface="华文新魏"/>
                <a:cs typeface="华文新魏"/>
              </a:rPr>
              <a:t>成本。</a:t>
            </a:r>
            <a:endParaRPr sz="29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900" dirty="0">
                <a:latin typeface="华文新魏"/>
                <a:cs typeface="华文新魏"/>
              </a:rPr>
              <a:t>例如：某外包任务、培</a:t>
            </a:r>
            <a:r>
              <a:rPr sz="2900" spc="-15" dirty="0">
                <a:latin typeface="华文新魏"/>
                <a:cs typeface="华文新魏"/>
              </a:rPr>
              <a:t>训</a:t>
            </a:r>
            <a:r>
              <a:rPr sz="2900" dirty="0">
                <a:latin typeface="华文新魏"/>
                <a:cs typeface="华文新魏"/>
              </a:rPr>
              <a:t>任务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成本基线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83108" y="1916812"/>
            <a:ext cx="5947410" cy="4151629"/>
          </a:xfrm>
          <a:custGeom>
            <a:avLst/>
            <a:gdLst/>
            <a:ahLst/>
            <a:cxnLst/>
            <a:rect l="l" t="t" r="r" b="b"/>
            <a:pathLst>
              <a:path w="5947409" h="4151629">
                <a:moveTo>
                  <a:pt x="0" y="4151059"/>
                </a:moveTo>
                <a:lnTo>
                  <a:pt x="5946980" y="4151059"/>
                </a:lnTo>
                <a:lnTo>
                  <a:pt x="5946980" y="0"/>
                </a:lnTo>
                <a:lnTo>
                  <a:pt x="0" y="0"/>
                </a:lnTo>
                <a:lnTo>
                  <a:pt x="0" y="4151059"/>
                </a:lnTo>
                <a:close/>
              </a:path>
            </a:pathLst>
          </a:custGeom>
          <a:ln w="149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03424" y="2714892"/>
            <a:ext cx="3029585" cy="1785620"/>
          </a:xfrm>
          <a:custGeom>
            <a:avLst/>
            <a:gdLst/>
            <a:ahLst/>
            <a:cxnLst/>
            <a:rect l="l" t="t" r="r" b="b"/>
            <a:pathLst>
              <a:path w="3029585" h="1785620">
                <a:moveTo>
                  <a:pt x="0" y="1785458"/>
                </a:moveTo>
                <a:lnTo>
                  <a:pt x="3029249" y="1785458"/>
                </a:lnTo>
                <a:lnTo>
                  <a:pt x="3029249" y="0"/>
                </a:lnTo>
                <a:lnTo>
                  <a:pt x="0" y="0"/>
                </a:lnTo>
                <a:lnTo>
                  <a:pt x="0" y="178545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11374" y="4050008"/>
            <a:ext cx="3013710" cy="14604"/>
          </a:xfrm>
          <a:custGeom>
            <a:avLst/>
            <a:gdLst/>
            <a:ahLst/>
            <a:cxnLst/>
            <a:rect l="l" t="t" r="r" b="b"/>
            <a:pathLst>
              <a:path w="3013710" h="14604">
                <a:moveTo>
                  <a:pt x="0" y="14464"/>
                </a:moveTo>
                <a:lnTo>
                  <a:pt x="3013348" y="14464"/>
                </a:lnTo>
                <a:lnTo>
                  <a:pt x="3013348" y="0"/>
                </a:lnTo>
                <a:lnTo>
                  <a:pt x="0" y="0"/>
                </a:lnTo>
                <a:lnTo>
                  <a:pt x="0" y="14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11374" y="3614709"/>
            <a:ext cx="3013710" cy="14604"/>
          </a:xfrm>
          <a:custGeom>
            <a:avLst/>
            <a:gdLst/>
            <a:ahLst/>
            <a:cxnLst/>
            <a:rect l="l" t="t" r="r" b="b"/>
            <a:pathLst>
              <a:path w="3013710" h="14604">
                <a:moveTo>
                  <a:pt x="0" y="14464"/>
                </a:moveTo>
                <a:lnTo>
                  <a:pt x="3013348" y="14464"/>
                </a:lnTo>
                <a:lnTo>
                  <a:pt x="3013348" y="0"/>
                </a:lnTo>
                <a:lnTo>
                  <a:pt x="0" y="0"/>
                </a:lnTo>
                <a:lnTo>
                  <a:pt x="0" y="14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11374" y="3164752"/>
            <a:ext cx="3013710" cy="14604"/>
          </a:xfrm>
          <a:custGeom>
            <a:avLst/>
            <a:gdLst/>
            <a:ahLst/>
            <a:cxnLst/>
            <a:rect l="l" t="t" r="r" b="b"/>
            <a:pathLst>
              <a:path w="3013710" h="14605">
                <a:moveTo>
                  <a:pt x="0" y="14464"/>
                </a:moveTo>
                <a:lnTo>
                  <a:pt x="3013348" y="14464"/>
                </a:lnTo>
                <a:lnTo>
                  <a:pt x="3013348" y="0"/>
                </a:lnTo>
                <a:lnTo>
                  <a:pt x="0" y="0"/>
                </a:lnTo>
                <a:lnTo>
                  <a:pt x="0" y="14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1374" y="2714988"/>
            <a:ext cx="3013710" cy="14604"/>
          </a:xfrm>
          <a:custGeom>
            <a:avLst/>
            <a:gdLst/>
            <a:ahLst/>
            <a:cxnLst/>
            <a:rect l="l" t="t" r="r" b="b"/>
            <a:pathLst>
              <a:path w="3013710" h="14605">
                <a:moveTo>
                  <a:pt x="0" y="14464"/>
                </a:moveTo>
                <a:lnTo>
                  <a:pt x="3013348" y="14464"/>
                </a:lnTo>
                <a:lnTo>
                  <a:pt x="3013348" y="0"/>
                </a:lnTo>
                <a:lnTo>
                  <a:pt x="0" y="0"/>
                </a:lnTo>
                <a:lnTo>
                  <a:pt x="0" y="14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11374" y="2714988"/>
            <a:ext cx="3013710" cy="14604"/>
          </a:xfrm>
          <a:custGeom>
            <a:avLst/>
            <a:gdLst/>
            <a:ahLst/>
            <a:cxnLst/>
            <a:rect l="l" t="t" r="r" b="b"/>
            <a:pathLst>
              <a:path w="3013710" h="14605">
                <a:moveTo>
                  <a:pt x="0" y="14464"/>
                </a:moveTo>
                <a:lnTo>
                  <a:pt x="3013348" y="14464"/>
                </a:lnTo>
                <a:lnTo>
                  <a:pt x="3013348" y="0"/>
                </a:lnTo>
                <a:lnTo>
                  <a:pt x="0" y="0"/>
                </a:lnTo>
                <a:lnTo>
                  <a:pt x="0" y="1446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40624" y="2722221"/>
            <a:ext cx="0" cy="1771014"/>
          </a:xfrm>
          <a:custGeom>
            <a:avLst/>
            <a:gdLst/>
            <a:ahLst/>
            <a:cxnLst/>
            <a:rect l="l" t="t" r="r" b="b"/>
            <a:pathLst>
              <a:path h="1771014">
                <a:moveTo>
                  <a:pt x="0" y="0"/>
                </a:moveTo>
                <a:lnTo>
                  <a:pt x="0" y="1770415"/>
                </a:lnTo>
              </a:path>
            </a:pathLst>
          </a:custGeom>
          <a:ln w="15901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27805" y="4507583"/>
            <a:ext cx="3013075" cy="0"/>
          </a:xfrm>
          <a:custGeom>
            <a:avLst/>
            <a:gdLst/>
            <a:ahLst/>
            <a:cxnLst/>
            <a:rect l="l" t="t" r="r" b="b"/>
            <a:pathLst>
              <a:path w="3013075">
                <a:moveTo>
                  <a:pt x="0" y="0"/>
                </a:moveTo>
                <a:lnTo>
                  <a:pt x="3012818" y="0"/>
                </a:lnTo>
              </a:path>
            </a:pathLst>
          </a:custGeom>
          <a:ln w="14464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11374" y="2736686"/>
            <a:ext cx="0" cy="1771014"/>
          </a:xfrm>
          <a:custGeom>
            <a:avLst/>
            <a:gdLst/>
            <a:ahLst/>
            <a:cxnLst/>
            <a:rect l="l" t="t" r="r" b="b"/>
            <a:pathLst>
              <a:path h="1771014">
                <a:moveTo>
                  <a:pt x="0" y="0"/>
                </a:moveTo>
                <a:lnTo>
                  <a:pt x="0" y="1770897"/>
                </a:lnTo>
              </a:path>
            </a:pathLst>
          </a:custGeom>
          <a:ln w="15901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11374" y="2722221"/>
            <a:ext cx="0" cy="1771014"/>
          </a:xfrm>
          <a:custGeom>
            <a:avLst/>
            <a:gdLst/>
            <a:ahLst/>
            <a:cxnLst/>
            <a:rect l="l" t="t" r="r" b="b"/>
            <a:pathLst>
              <a:path h="1771014">
                <a:moveTo>
                  <a:pt x="0" y="0"/>
                </a:moveTo>
                <a:lnTo>
                  <a:pt x="0" y="1770415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11374" y="4507583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>
                <a:moveTo>
                  <a:pt x="0" y="0"/>
                </a:moveTo>
                <a:lnTo>
                  <a:pt x="64134" y="0"/>
                </a:lnTo>
              </a:path>
            </a:pathLst>
          </a:custGeom>
          <a:ln w="14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11374" y="4057241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>
                <a:moveTo>
                  <a:pt x="0" y="0"/>
                </a:moveTo>
                <a:lnTo>
                  <a:pt x="64134" y="0"/>
                </a:lnTo>
              </a:path>
            </a:pathLst>
          </a:custGeom>
          <a:ln w="14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11374" y="3621942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>
                <a:moveTo>
                  <a:pt x="0" y="0"/>
                </a:moveTo>
                <a:lnTo>
                  <a:pt x="64134" y="0"/>
                </a:lnTo>
              </a:path>
            </a:pathLst>
          </a:custGeom>
          <a:ln w="14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11374" y="3171985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>
                <a:moveTo>
                  <a:pt x="0" y="0"/>
                </a:moveTo>
                <a:lnTo>
                  <a:pt x="64134" y="0"/>
                </a:lnTo>
              </a:path>
            </a:pathLst>
          </a:custGeom>
          <a:ln w="14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11374" y="2722221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>
                <a:moveTo>
                  <a:pt x="0" y="0"/>
                </a:moveTo>
                <a:lnTo>
                  <a:pt x="64134" y="0"/>
                </a:lnTo>
              </a:path>
            </a:pathLst>
          </a:custGeom>
          <a:ln w="14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11374" y="4507583"/>
            <a:ext cx="3013710" cy="0"/>
          </a:xfrm>
          <a:custGeom>
            <a:avLst/>
            <a:gdLst/>
            <a:ahLst/>
            <a:cxnLst/>
            <a:rect l="l" t="t" r="r" b="b"/>
            <a:pathLst>
              <a:path w="3013710">
                <a:moveTo>
                  <a:pt x="0" y="0"/>
                </a:moveTo>
                <a:lnTo>
                  <a:pt x="3013348" y="0"/>
                </a:lnTo>
              </a:path>
            </a:pathLst>
          </a:custGeom>
          <a:ln w="14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11374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42292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72680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03173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49461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79849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10237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40624" y="4449241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58342"/>
                </a:moveTo>
                <a:lnTo>
                  <a:pt x="0" y="0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35049" y="4246250"/>
            <a:ext cx="414655" cy="174625"/>
          </a:xfrm>
          <a:custGeom>
            <a:avLst/>
            <a:gdLst/>
            <a:ahLst/>
            <a:cxnLst/>
            <a:rect l="l" t="t" r="r" b="b"/>
            <a:pathLst>
              <a:path w="414655" h="174625">
                <a:moveTo>
                  <a:pt x="0" y="174061"/>
                </a:moveTo>
                <a:lnTo>
                  <a:pt x="414486" y="0"/>
                </a:lnTo>
              </a:path>
            </a:pathLst>
          </a:custGeom>
          <a:ln w="1468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65436" y="4057241"/>
            <a:ext cx="414655" cy="189230"/>
          </a:xfrm>
          <a:custGeom>
            <a:avLst/>
            <a:gdLst/>
            <a:ahLst/>
            <a:cxnLst/>
            <a:rect l="l" t="t" r="r" b="b"/>
            <a:pathLst>
              <a:path w="414654" h="189229">
                <a:moveTo>
                  <a:pt x="0" y="189008"/>
                </a:moveTo>
                <a:lnTo>
                  <a:pt x="414486" y="0"/>
                </a:lnTo>
              </a:path>
            </a:pathLst>
          </a:custGeom>
          <a:ln w="14712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95824" y="3796486"/>
            <a:ext cx="414655" cy="260985"/>
          </a:xfrm>
          <a:custGeom>
            <a:avLst/>
            <a:gdLst/>
            <a:ahLst/>
            <a:cxnLst/>
            <a:rect l="l" t="t" r="r" b="b"/>
            <a:pathLst>
              <a:path w="414654" h="260985">
                <a:moveTo>
                  <a:pt x="0" y="260755"/>
                </a:moveTo>
                <a:lnTo>
                  <a:pt x="414486" y="0"/>
                </a:lnTo>
              </a:path>
            </a:pathLst>
          </a:custGeom>
          <a:ln w="14872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26211" y="3447783"/>
            <a:ext cx="414655" cy="349250"/>
          </a:xfrm>
          <a:custGeom>
            <a:avLst/>
            <a:gdLst/>
            <a:ahLst/>
            <a:cxnLst/>
            <a:rect l="l" t="t" r="r" b="b"/>
            <a:pathLst>
              <a:path w="414654" h="349250">
                <a:moveTo>
                  <a:pt x="0" y="348702"/>
                </a:moveTo>
                <a:lnTo>
                  <a:pt x="414486" y="0"/>
                </a:lnTo>
              </a:path>
            </a:pathLst>
          </a:custGeom>
          <a:ln w="150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56599" y="3259353"/>
            <a:ext cx="414655" cy="173990"/>
          </a:xfrm>
          <a:custGeom>
            <a:avLst/>
            <a:gdLst/>
            <a:ahLst/>
            <a:cxnLst/>
            <a:rect l="l" t="t" r="r" b="b"/>
            <a:pathLst>
              <a:path w="414654" h="173989">
                <a:moveTo>
                  <a:pt x="0" y="173965"/>
                </a:moveTo>
                <a:lnTo>
                  <a:pt x="414486" y="0"/>
                </a:lnTo>
              </a:path>
            </a:pathLst>
          </a:custGeom>
          <a:ln w="1468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86986" y="3085195"/>
            <a:ext cx="414655" cy="174625"/>
          </a:xfrm>
          <a:custGeom>
            <a:avLst/>
            <a:gdLst/>
            <a:ahLst/>
            <a:cxnLst/>
            <a:rect l="l" t="t" r="r" b="b"/>
            <a:pathLst>
              <a:path w="414654" h="174625">
                <a:moveTo>
                  <a:pt x="0" y="174158"/>
                </a:moveTo>
                <a:lnTo>
                  <a:pt x="414486" y="0"/>
                </a:lnTo>
              </a:path>
            </a:pathLst>
          </a:custGeom>
          <a:ln w="1468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679226" y="4369327"/>
            <a:ext cx="111115" cy="101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09612" y="4194878"/>
            <a:ext cx="111118" cy="1023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40527" y="4006252"/>
            <a:ext cx="110593" cy="1025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70914" y="3744918"/>
            <a:ext cx="110593" cy="1025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01304" y="3382332"/>
            <a:ext cx="110589" cy="1019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31692" y="3208367"/>
            <a:ext cx="110589" cy="1019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62078" y="3033821"/>
            <a:ext cx="110592" cy="1023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954763" y="2020024"/>
            <a:ext cx="103251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800" spc="204" dirty="0">
                <a:latin typeface="宋体"/>
                <a:cs typeface="宋体"/>
              </a:rPr>
              <a:t>成本基线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57135" y="2571621"/>
            <a:ext cx="268605" cy="20897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0"/>
              </a:spcBef>
            </a:pPr>
            <a:r>
              <a:rPr sz="1800" spc="105" dirty="0">
                <a:latin typeface="宋体"/>
                <a:cs typeface="宋体"/>
              </a:rPr>
              <a:t>20</a:t>
            </a:r>
            <a:endParaRPr sz="180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1380"/>
              </a:spcBef>
            </a:pPr>
            <a:r>
              <a:rPr sz="1800" spc="105" dirty="0">
                <a:latin typeface="宋体"/>
                <a:cs typeface="宋体"/>
              </a:rPr>
              <a:t>15</a:t>
            </a:r>
            <a:endParaRPr sz="180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1385"/>
              </a:spcBef>
            </a:pPr>
            <a:r>
              <a:rPr sz="1800" spc="105" dirty="0">
                <a:latin typeface="宋体"/>
                <a:cs typeface="宋体"/>
              </a:rPr>
              <a:t>10</a:t>
            </a:r>
            <a:endParaRPr sz="180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1265"/>
              </a:spcBef>
            </a:pPr>
            <a:r>
              <a:rPr sz="1800" spc="105" dirty="0">
                <a:latin typeface="宋体"/>
                <a:cs typeface="宋体"/>
              </a:rPr>
              <a:t>5</a:t>
            </a:r>
            <a:endParaRPr sz="180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1385"/>
              </a:spcBef>
            </a:pPr>
            <a:r>
              <a:rPr sz="1800" spc="105" dirty="0">
                <a:latin typeface="宋体"/>
                <a:cs typeface="宋体"/>
              </a:rPr>
              <a:t>0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74353" y="4662194"/>
            <a:ext cx="1412875" cy="48958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30"/>
              </a:lnSpc>
            </a:pPr>
            <a:r>
              <a:rPr sz="2000" spc="-5" dirty="0">
                <a:latin typeface="宋体"/>
                <a:cs typeface="宋体"/>
              </a:rPr>
              <a:t>规划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spc="-5" dirty="0">
                <a:latin typeface="宋体"/>
                <a:cs typeface="宋体"/>
              </a:rPr>
              <a:t>需求</a:t>
            </a:r>
            <a:endParaRPr sz="2000">
              <a:latin typeface="宋体"/>
              <a:cs typeface="宋体"/>
            </a:endParaRPr>
          </a:p>
          <a:p>
            <a:pPr marL="12700" marR="5080">
              <a:lnSpc>
                <a:spcPts val="2130"/>
              </a:lnSpc>
              <a:spcBef>
                <a:spcPts val="1285"/>
              </a:spcBef>
            </a:pPr>
            <a:r>
              <a:rPr sz="2000" spc="-5" dirty="0">
                <a:latin typeface="宋体"/>
                <a:cs typeface="宋体"/>
              </a:rPr>
              <a:t>设计 开发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09155" y="4777432"/>
            <a:ext cx="281305" cy="2578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10"/>
              </a:lnSpc>
            </a:pPr>
            <a:r>
              <a:rPr sz="2000" dirty="0">
                <a:latin typeface="宋体"/>
                <a:cs typeface="宋体"/>
              </a:rPr>
              <a:t>-1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36999" y="4662194"/>
            <a:ext cx="1301115" cy="48958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20"/>
              </a:lnSpc>
            </a:pPr>
            <a:r>
              <a:rPr sz="2000" spc="-5" dirty="0">
                <a:latin typeface="宋体"/>
                <a:cs typeface="宋体"/>
              </a:rPr>
              <a:t>开发</a:t>
            </a:r>
            <a:endParaRPr sz="2000">
              <a:latin typeface="宋体"/>
              <a:cs typeface="宋体"/>
            </a:endParaRPr>
          </a:p>
          <a:p>
            <a:pPr marL="128270">
              <a:lnSpc>
                <a:spcPts val="2320"/>
              </a:lnSpc>
            </a:pPr>
            <a:r>
              <a:rPr sz="2000" spc="-85" dirty="0">
                <a:latin typeface="宋体"/>
                <a:cs typeface="宋体"/>
              </a:rPr>
              <a:t>-2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ts val="2330"/>
              </a:lnSpc>
            </a:pPr>
            <a:r>
              <a:rPr sz="2000" spc="-5" dirty="0">
                <a:latin typeface="宋体"/>
                <a:cs typeface="宋体"/>
              </a:rPr>
              <a:t>测试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ts val="2385"/>
              </a:lnSpc>
              <a:spcBef>
                <a:spcPts val="990"/>
              </a:spcBef>
            </a:pPr>
            <a:r>
              <a:rPr sz="2000" spc="-5" dirty="0">
                <a:latin typeface="宋体"/>
                <a:cs typeface="宋体"/>
              </a:rPr>
              <a:t>验收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511374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40624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942292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372680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03173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49461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679849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110237" y="4507583"/>
            <a:ext cx="0" cy="1030605"/>
          </a:xfrm>
          <a:custGeom>
            <a:avLst/>
            <a:gdLst/>
            <a:ahLst/>
            <a:cxnLst/>
            <a:rect l="l" t="t" r="r" b="b"/>
            <a:pathLst>
              <a:path h="1030604">
                <a:moveTo>
                  <a:pt x="0" y="0"/>
                </a:moveTo>
                <a:lnTo>
                  <a:pt x="0" y="1030387"/>
                </a:lnTo>
              </a:path>
            </a:pathLst>
          </a:custGeom>
          <a:ln w="15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662964" y="5201930"/>
            <a:ext cx="2723515" cy="1263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560"/>
              </a:spcBef>
              <a:tabLst>
                <a:tab pos="429895" algn="l"/>
                <a:tab pos="860425" algn="l"/>
                <a:tab pos="1291590" algn="l"/>
                <a:tab pos="1722120" algn="l"/>
                <a:tab pos="2152015" algn="l"/>
                <a:tab pos="2582545" algn="l"/>
              </a:tabLst>
            </a:pPr>
            <a:r>
              <a:rPr sz="1800" spc="105" dirty="0">
                <a:latin typeface="宋体"/>
                <a:cs typeface="宋体"/>
              </a:rPr>
              <a:t>1	2	3	4	5	6	7</a:t>
            </a:r>
            <a:endParaRPr sz="1800">
              <a:latin typeface="宋体"/>
              <a:cs typeface="宋体"/>
            </a:endParaRPr>
          </a:p>
          <a:p>
            <a:pPr marR="4445" algn="ctr">
              <a:lnSpc>
                <a:spcPct val="100000"/>
              </a:lnSpc>
              <a:spcBef>
                <a:spcPts val="465"/>
              </a:spcBef>
            </a:pPr>
            <a:r>
              <a:rPr sz="1800" spc="210" dirty="0">
                <a:latin typeface="宋体"/>
                <a:cs typeface="宋体"/>
              </a:rPr>
              <a:t>时</a:t>
            </a:r>
            <a:r>
              <a:rPr sz="1800" spc="200" dirty="0">
                <a:latin typeface="宋体"/>
                <a:cs typeface="宋体"/>
              </a:rPr>
              <a:t>间</a:t>
            </a:r>
            <a:r>
              <a:rPr sz="1800" spc="105" dirty="0">
                <a:latin typeface="宋体"/>
                <a:cs typeface="宋体"/>
              </a:rPr>
              <a:t>(</a:t>
            </a:r>
            <a:r>
              <a:rPr sz="1800" spc="210" dirty="0">
                <a:latin typeface="宋体"/>
                <a:cs typeface="宋体"/>
              </a:rPr>
              <a:t>周</a:t>
            </a:r>
            <a:r>
              <a:rPr sz="1800" spc="105" dirty="0">
                <a:latin typeface="宋体"/>
                <a:cs typeface="宋体"/>
              </a:rPr>
              <a:t>)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 marL="13760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30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81776" y="3123570"/>
            <a:ext cx="281305" cy="9544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10"/>
              </a:lnSpc>
            </a:pPr>
            <a:r>
              <a:rPr sz="2000" dirty="0">
                <a:latin typeface="宋体"/>
                <a:cs typeface="宋体"/>
              </a:rPr>
              <a:t>成</a:t>
            </a:r>
            <a:r>
              <a:rPr sz="2000" spc="-10" dirty="0">
                <a:latin typeface="宋体"/>
                <a:cs typeface="宋体"/>
              </a:rPr>
              <a:t>本</a:t>
            </a:r>
            <a:r>
              <a:rPr sz="2000" dirty="0">
                <a:latin typeface="宋体"/>
                <a:cs typeface="宋体"/>
              </a:rPr>
              <a:t>(万)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812002" y="3651257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4">
                <a:moveTo>
                  <a:pt x="0" y="0"/>
                </a:moveTo>
                <a:lnTo>
                  <a:pt x="414486" y="0"/>
                </a:lnTo>
              </a:path>
            </a:pathLst>
          </a:custGeom>
          <a:ln w="1446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63420" y="3599885"/>
            <a:ext cx="111013" cy="10235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708115" y="3455112"/>
            <a:ext cx="1657985" cy="304800"/>
          </a:xfrm>
          <a:prstGeom prst="rect">
            <a:avLst/>
          </a:prstGeom>
          <a:ln w="14521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589280">
              <a:lnSpc>
                <a:spcPts val="2140"/>
              </a:lnSpc>
              <a:spcBef>
                <a:spcPts val="254"/>
              </a:spcBef>
            </a:pPr>
            <a:r>
              <a:rPr sz="1800" spc="204" dirty="0">
                <a:latin typeface="宋体"/>
                <a:cs typeface="宋体"/>
              </a:rPr>
              <a:t>成本基线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483108" y="1916812"/>
            <a:ext cx="5947410" cy="4151629"/>
          </a:xfrm>
          <a:custGeom>
            <a:avLst/>
            <a:gdLst/>
            <a:ahLst/>
            <a:cxnLst/>
            <a:rect l="l" t="t" r="r" b="b"/>
            <a:pathLst>
              <a:path w="5947409" h="4151629">
                <a:moveTo>
                  <a:pt x="0" y="4151059"/>
                </a:moveTo>
                <a:lnTo>
                  <a:pt x="5946980" y="4151059"/>
                </a:lnTo>
                <a:lnTo>
                  <a:pt x="5946980" y="0"/>
                </a:lnTo>
                <a:lnTo>
                  <a:pt x="0" y="0"/>
                </a:lnTo>
                <a:lnTo>
                  <a:pt x="0" y="4151059"/>
                </a:lnTo>
                <a:close/>
              </a:path>
            </a:pathLst>
          </a:custGeom>
          <a:ln w="149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6373" y="190849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6711" y="1699260"/>
            <a:ext cx="504825" cy="72136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15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64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373" y="286734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6711" y="2657855"/>
            <a:ext cx="48196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47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6373" y="382810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6711" y="3617976"/>
            <a:ext cx="504825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6373" y="478885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6711" y="4578096"/>
            <a:ext cx="483234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60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7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1155" y="1699260"/>
            <a:ext cx="4628515" cy="72136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3675" rIns="0" bIns="0" rtlCol="0">
            <a:spAutoFit/>
          </a:bodyPr>
          <a:lstStyle/>
          <a:p>
            <a:pPr marR="231775" algn="ctr">
              <a:lnSpc>
                <a:spcPct val="100000"/>
              </a:lnSpc>
              <a:spcBef>
                <a:spcPts val="15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估算过程概念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8295" y="2657855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17804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714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1155" y="3617976"/>
            <a:ext cx="4628515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431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5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敏捷估算方法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4578096"/>
            <a:ext cx="4630420" cy="72263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成本预算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8598" y="579713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8048" y="5586984"/>
            <a:ext cx="485140" cy="72263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254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2679" y="5586984"/>
            <a:ext cx="4628515" cy="7226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82245" rIns="0" bIns="0" rtlCol="0">
            <a:spAutoFit/>
          </a:bodyPr>
          <a:lstStyle/>
          <a:p>
            <a:pPr marL="74930" algn="ctr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160731"/>
            <a:ext cx="6737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医疗信息商务平台成本估算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6844" y="2133600"/>
            <a:ext cx="7876032" cy="3959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36547" y="2427808"/>
            <a:ext cx="5208905" cy="283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0870">
              <a:lnSpc>
                <a:spcPct val="100000"/>
              </a:lnSpc>
              <a:spcBef>
                <a:spcPts val="95"/>
              </a:spcBef>
            </a:pPr>
            <a:r>
              <a:rPr sz="4000" b="1" u="heavy" spc="-10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工作量成本估算案例</a:t>
            </a:r>
            <a:endParaRPr sz="4000">
              <a:latin typeface="方正姚体"/>
              <a:cs typeface="方正姚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50">
              <a:latin typeface="Times New Roman"/>
              <a:cs typeface="Times New Roman"/>
            </a:endParaRPr>
          </a:p>
          <a:p>
            <a:pPr marL="376555" indent="-364490">
              <a:lnSpc>
                <a:spcPct val="100000"/>
              </a:lnSpc>
              <a:spcBef>
                <a:spcPts val="5"/>
              </a:spcBef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dirty="0">
                <a:solidFill>
                  <a:srgbClr val="B85B21"/>
                </a:solidFill>
                <a:latin typeface="华文新魏"/>
                <a:cs typeface="华文新魏"/>
              </a:rPr>
              <a:t>自下而上的估算</a:t>
            </a:r>
            <a:endParaRPr sz="36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B85B21"/>
              </a:buClr>
              <a:buFont typeface="Wingdings"/>
              <a:buChar char=""/>
            </a:pPr>
            <a:endParaRPr sz="3750">
              <a:latin typeface="Times New Roman"/>
              <a:cs typeface="Times New Roman"/>
            </a:endParaRPr>
          </a:p>
          <a:p>
            <a:pPr marL="376555" indent="-364490">
              <a:lnSpc>
                <a:spcPct val="100000"/>
              </a:lnSpc>
              <a:spcBef>
                <a:spcPts val="5"/>
              </a:spcBef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dirty="0">
                <a:solidFill>
                  <a:srgbClr val="B85B21"/>
                </a:solidFill>
                <a:latin typeface="华文新魏"/>
                <a:cs typeface="华文新魏"/>
              </a:rPr>
              <a:t>用例点估算</a:t>
            </a:r>
            <a:endParaRPr sz="36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8810" y="4469129"/>
            <a:ext cx="3889375" cy="0"/>
          </a:xfrm>
          <a:custGeom>
            <a:avLst/>
            <a:gdLst/>
            <a:ahLst/>
            <a:cxnLst/>
            <a:rect l="l" t="t" r="r" b="b"/>
            <a:pathLst>
              <a:path w="3889375">
                <a:moveTo>
                  <a:pt x="0" y="0"/>
                </a:moveTo>
                <a:lnTo>
                  <a:pt x="3889375" y="0"/>
                </a:lnTo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160731"/>
            <a:ext cx="5149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MED自下而上的估算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831" y="1557527"/>
            <a:ext cx="8766048" cy="5123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计算开发成本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3195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258" y="1701545"/>
            <a:ext cx="8153400" cy="3340735"/>
          </a:xfrm>
          <a:custGeom>
            <a:avLst/>
            <a:gdLst/>
            <a:ahLst/>
            <a:cxnLst/>
            <a:rect l="l" t="t" r="r" b="b"/>
            <a:pathLst>
              <a:path w="8153400" h="3340735">
                <a:moveTo>
                  <a:pt x="0" y="3340607"/>
                </a:moveTo>
                <a:lnTo>
                  <a:pt x="8153400" y="3340607"/>
                </a:lnTo>
                <a:lnTo>
                  <a:pt x="8153400" y="0"/>
                </a:lnTo>
                <a:lnTo>
                  <a:pt x="0" y="0"/>
                </a:lnTo>
                <a:lnTo>
                  <a:pt x="0" y="3340607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540" y="1703323"/>
            <a:ext cx="7941309" cy="285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15875" indent="-51562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000"/>
              <a:buAutoNum type="arabicPeriod"/>
              <a:tabLst>
                <a:tab pos="527685" algn="l"/>
                <a:tab pos="528320" algn="l"/>
              </a:tabLst>
            </a:pPr>
            <a:r>
              <a:rPr sz="3000" dirty="0">
                <a:latin typeface="华文新魏"/>
                <a:cs typeface="华文新魏"/>
              </a:rPr>
              <a:t>通过自下而上的计算，得知项目开发规模是 </a:t>
            </a:r>
            <a:r>
              <a:rPr sz="3000" spc="-5" dirty="0">
                <a:latin typeface="华文新魏"/>
                <a:cs typeface="华文新魏"/>
              </a:rPr>
              <a:t>396人天，开发人员成本参</a:t>
            </a:r>
            <a:r>
              <a:rPr sz="3000" dirty="0">
                <a:latin typeface="华文新魏"/>
                <a:cs typeface="华文新魏"/>
              </a:rPr>
              <a:t>数=1000</a:t>
            </a:r>
            <a:r>
              <a:rPr sz="3000" spc="-5" dirty="0">
                <a:latin typeface="华文新魏"/>
                <a:cs typeface="华文新魏"/>
              </a:rPr>
              <a:t>元</a:t>
            </a:r>
            <a:r>
              <a:rPr sz="3000" spc="5" dirty="0">
                <a:latin typeface="华文新魏"/>
                <a:cs typeface="华文新魏"/>
              </a:rPr>
              <a:t>/</a:t>
            </a:r>
            <a:r>
              <a:rPr sz="3000" spc="-5" dirty="0">
                <a:latin typeface="华文新魏"/>
                <a:cs typeface="华文新魏"/>
              </a:rPr>
              <a:t>天，  </a:t>
            </a:r>
            <a:r>
              <a:rPr sz="3000" dirty="0">
                <a:latin typeface="华文新魏"/>
                <a:cs typeface="华文新魏"/>
              </a:rPr>
              <a:t>则内部的开发成本=100</a:t>
            </a:r>
            <a:r>
              <a:rPr sz="3000" spc="5" dirty="0">
                <a:latin typeface="华文新魏"/>
                <a:cs typeface="华文新魏"/>
              </a:rPr>
              <a:t>0</a:t>
            </a:r>
            <a:r>
              <a:rPr sz="3000" dirty="0">
                <a:latin typeface="华文新魏"/>
                <a:cs typeface="华文新魏"/>
              </a:rPr>
              <a:t>元</a:t>
            </a:r>
            <a:r>
              <a:rPr sz="3000" spc="5" dirty="0">
                <a:latin typeface="华文新魏"/>
                <a:cs typeface="华文新魏"/>
              </a:rPr>
              <a:t>/</a:t>
            </a:r>
            <a:r>
              <a:rPr sz="3000" dirty="0">
                <a:latin typeface="华文新魏"/>
                <a:cs typeface="华文新魏"/>
              </a:rPr>
              <a:t>天*39</a:t>
            </a:r>
            <a:r>
              <a:rPr sz="3000" spc="-10" dirty="0">
                <a:latin typeface="华文新魏"/>
                <a:cs typeface="华文新魏"/>
              </a:rPr>
              <a:t>6</a:t>
            </a:r>
            <a:r>
              <a:rPr sz="3000" dirty="0">
                <a:latin typeface="华文新魏"/>
                <a:cs typeface="华文新魏"/>
              </a:rPr>
              <a:t>天</a:t>
            </a:r>
            <a:r>
              <a:rPr sz="3000" spc="-5" dirty="0">
                <a:latin typeface="华文新魏"/>
                <a:cs typeface="华文新魏"/>
              </a:rPr>
              <a:t>=39.6 </a:t>
            </a:r>
            <a:r>
              <a:rPr sz="3000" dirty="0">
                <a:latin typeface="华文新魏"/>
                <a:cs typeface="华文新魏"/>
              </a:rPr>
              <a:t>万元</a:t>
            </a:r>
            <a:endParaRPr sz="30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000"/>
              <a:buAutoNum type="arabicPeriod"/>
              <a:tabLst>
                <a:tab pos="527685" algn="l"/>
                <a:tab pos="528320" algn="l"/>
              </a:tabLst>
            </a:pPr>
            <a:r>
              <a:rPr sz="3000" spc="-5" dirty="0">
                <a:latin typeface="华文新魏"/>
                <a:cs typeface="华文新魏"/>
              </a:rPr>
              <a:t>加上外包部分软件成</a:t>
            </a:r>
            <a:r>
              <a:rPr sz="3000" dirty="0">
                <a:latin typeface="华文新魏"/>
                <a:cs typeface="华文新魏"/>
              </a:rPr>
              <a:t>本</a:t>
            </a:r>
            <a:r>
              <a:rPr sz="3000" spc="-5" dirty="0">
                <a:latin typeface="华文新魏"/>
                <a:cs typeface="华文新魏"/>
              </a:rPr>
              <a:t>2.4万元，则开发成</a:t>
            </a:r>
            <a:r>
              <a:rPr sz="3000" dirty="0">
                <a:latin typeface="华文新魏"/>
                <a:cs typeface="华文新魏"/>
              </a:rPr>
              <a:t>本</a:t>
            </a:r>
            <a:endParaRPr sz="3000">
              <a:latin typeface="华文新魏"/>
              <a:cs typeface="华文新魏"/>
            </a:endParaRPr>
          </a:p>
          <a:p>
            <a:pPr marL="527685">
              <a:lnSpc>
                <a:spcPct val="100000"/>
              </a:lnSpc>
            </a:pPr>
            <a:r>
              <a:rPr sz="3000" spc="-5" dirty="0">
                <a:latin typeface="华文新魏"/>
                <a:cs typeface="华文新魏"/>
              </a:rPr>
              <a:t>=39.6</a:t>
            </a:r>
            <a:r>
              <a:rPr sz="3000" dirty="0">
                <a:latin typeface="华文新魏"/>
                <a:cs typeface="华文新魏"/>
              </a:rPr>
              <a:t>万</a:t>
            </a:r>
            <a:r>
              <a:rPr sz="3000" spc="-5" dirty="0">
                <a:latin typeface="华文新魏"/>
                <a:cs typeface="华文新魏"/>
              </a:rPr>
              <a:t>+2.4</a:t>
            </a:r>
            <a:r>
              <a:rPr sz="3000" dirty="0">
                <a:latin typeface="华文新魏"/>
                <a:cs typeface="华文新魏"/>
              </a:rPr>
              <a:t>万=42万元</a:t>
            </a:r>
            <a:endParaRPr sz="3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768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计算直接、间接成本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6346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77" y="3141726"/>
            <a:ext cx="8982710" cy="115252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sz="3000" dirty="0">
                <a:latin typeface="华文新魏"/>
                <a:cs typeface="华文新魏"/>
              </a:rPr>
              <a:t>直接成</a:t>
            </a:r>
            <a:r>
              <a:rPr sz="3000" spc="-5" dirty="0">
                <a:latin typeface="华文新魏"/>
                <a:cs typeface="华文新魏"/>
              </a:rPr>
              <a:t>本=</a:t>
            </a:r>
            <a:r>
              <a:rPr sz="3000" dirty="0">
                <a:latin typeface="华文新魏"/>
                <a:cs typeface="华文新魏"/>
              </a:rPr>
              <a:t>开发成本</a:t>
            </a:r>
            <a:r>
              <a:rPr sz="3000" spc="-5" dirty="0">
                <a:latin typeface="华文新魏"/>
                <a:cs typeface="华文新魏"/>
              </a:rPr>
              <a:t>+</a:t>
            </a:r>
            <a:r>
              <a:rPr sz="3000" dirty="0">
                <a:latin typeface="华文新魏"/>
                <a:cs typeface="华文新魏"/>
              </a:rPr>
              <a:t>管理成</a:t>
            </a:r>
            <a:r>
              <a:rPr sz="3000" spc="-5" dirty="0">
                <a:latin typeface="华文新魏"/>
                <a:cs typeface="华文新魏"/>
              </a:rPr>
              <a:t>本=42</a:t>
            </a:r>
            <a:r>
              <a:rPr sz="3000" dirty="0">
                <a:latin typeface="华文新魏"/>
                <a:cs typeface="华文新魏"/>
              </a:rPr>
              <a:t>万元+4.2=46.2</a:t>
            </a:r>
            <a:endParaRPr sz="3000">
              <a:latin typeface="华文新魏"/>
              <a:cs typeface="华文新魏"/>
            </a:endParaRPr>
          </a:p>
          <a:p>
            <a:pPr marL="90805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华文新魏"/>
                <a:cs typeface="华文新魏"/>
              </a:rPr>
              <a:t>万元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8965" y="1844801"/>
            <a:ext cx="8964295" cy="937260"/>
          </a:xfrm>
          <a:custGeom>
            <a:avLst/>
            <a:gdLst/>
            <a:ahLst/>
            <a:cxnLst/>
            <a:rect l="l" t="t" r="r" b="b"/>
            <a:pathLst>
              <a:path w="8964295" h="937260">
                <a:moveTo>
                  <a:pt x="0" y="937260"/>
                </a:moveTo>
                <a:lnTo>
                  <a:pt x="8964168" y="937260"/>
                </a:lnTo>
                <a:lnTo>
                  <a:pt x="8964168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6639" y="1847850"/>
            <a:ext cx="9117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华文新魏"/>
                <a:cs typeface="华文新魏"/>
              </a:rPr>
              <a:t>管理成本</a:t>
            </a:r>
            <a:r>
              <a:rPr sz="3000" spc="-5" dirty="0">
                <a:latin typeface="华文新魏"/>
                <a:cs typeface="华文新魏"/>
              </a:rPr>
              <a:t>=</a:t>
            </a:r>
            <a:r>
              <a:rPr sz="3000" dirty="0">
                <a:latin typeface="华文新魏"/>
                <a:cs typeface="华文新魏"/>
              </a:rPr>
              <a:t>开发成</a:t>
            </a:r>
            <a:r>
              <a:rPr sz="3000" spc="-10" dirty="0">
                <a:latin typeface="华文新魏"/>
                <a:cs typeface="华文新魏"/>
              </a:rPr>
              <a:t>本</a:t>
            </a:r>
            <a:r>
              <a:rPr sz="3000" dirty="0">
                <a:latin typeface="华文新魏"/>
                <a:cs typeface="华文新魏"/>
              </a:rPr>
              <a:t>*10%==4</a:t>
            </a:r>
            <a:r>
              <a:rPr sz="3000" spc="5" dirty="0">
                <a:latin typeface="华文新魏"/>
                <a:cs typeface="华文新魏"/>
              </a:rPr>
              <a:t>2</a:t>
            </a:r>
            <a:r>
              <a:rPr sz="3000" spc="10" dirty="0">
                <a:latin typeface="华文新魏"/>
                <a:cs typeface="华文新魏"/>
              </a:rPr>
              <a:t>万</a:t>
            </a:r>
            <a:r>
              <a:rPr sz="3000" spc="-5" dirty="0">
                <a:latin typeface="华文新魏"/>
                <a:cs typeface="华文新魏"/>
              </a:rPr>
              <a:t>元</a:t>
            </a:r>
            <a:r>
              <a:rPr sz="3000" dirty="0">
                <a:latin typeface="华文新魏"/>
                <a:cs typeface="华文新魏"/>
              </a:rPr>
              <a:t>*10%=4.</a:t>
            </a:r>
            <a:r>
              <a:rPr sz="3000" spc="5" dirty="0">
                <a:latin typeface="华文新魏"/>
                <a:cs typeface="华文新魏"/>
              </a:rPr>
              <a:t>2万</a:t>
            </a:r>
            <a:r>
              <a:rPr sz="3000" dirty="0">
                <a:latin typeface="华文新魏"/>
                <a:cs typeface="华文新魏"/>
              </a:rPr>
              <a:t>元。</a:t>
            </a:r>
            <a:endParaRPr sz="300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965" y="4624578"/>
            <a:ext cx="8784590" cy="118110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0170" marR="389890">
              <a:lnSpc>
                <a:spcPct val="100000"/>
              </a:lnSpc>
              <a:spcBef>
                <a:spcPts val="125"/>
              </a:spcBef>
            </a:pPr>
            <a:r>
              <a:rPr sz="3000" dirty="0">
                <a:latin typeface="华文新魏"/>
                <a:cs typeface="华文新魏"/>
              </a:rPr>
              <a:t>间接成本</a:t>
            </a:r>
            <a:r>
              <a:rPr sz="3000" spc="-5" dirty="0">
                <a:latin typeface="华文新魏"/>
                <a:cs typeface="华文新魏"/>
              </a:rPr>
              <a:t>=</a:t>
            </a:r>
            <a:r>
              <a:rPr sz="3000" dirty="0">
                <a:latin typeface="华文新魏"/>
                <a:cs typeface="华文新魏"/>
              </a:rPr>
              <a:t>直接成</a:t>
            </a:r>
            <a:r>
              <a:rPr sz="3000" spc="-10" dirty="0">
                <a:latin typeface="华文新魏"/>
                <a:cs typeface="华文新魏"/>
              </a:rPr>
              <a:t>本</a:t>
            </a:r>
            <a:r>
              <a:rPr sz="3000" dirty="0">
                <a:latin typeface="华文新魏"/>
                <a:cs typeface="华文新魏"/>
              </a:rPr>
              <a:t>*20%</a:t>
            </a:r>
            <a:r>
              <a:rPr sz="3000" spc="-10" dirty="0">
                <a:latin typeface="华文新魏"/>
                <a:cs typeface="华文新魏"/>
              </a:rPr>
              <a:t>=</a:t>
            </a:r>
            <a:r>
              <a:rPr sz="3000" dirty="0">
                <a:latin typeface="华文新魏"/>
                <a:cs typeface="华文新魏"/>
              </a:rPr>
              <a:t>46</a:t>
            </a:r>
            <a:r>
              <a:rPr sz="3000" spc="-10" dirty="0">
                <a:latin typeface="华文新魏"/>
                <a:cs typeface="华文新魏"/>
              </a:rPr>
              <a:t>.</a:t>
            </a:r>
            <a:r>
              <a:rPr sz="3000" dirty="0">
                <a:latin typeface="华文新魏"/>
                <a:cs typeface="华文新魏"/>
              </a:rPr>
              <a:t>2万</a:t>
            </a:r>
            <a:r>
              <a:rPr sz="3000" spc="-5" dirty="0">
                <a:latin typeface="华文新魏"/>
                <a:cs typeface="华文新魏"/>
              </a:rPr>
              <a:t>元</a:t>
            </a:r>
            <a:r>
              <a:rPr sz="3000" dirty="0">
                <a:latin typeface="华文新魏"/>
                <a:cs typeface="华文新魏"/>
              </a:rPr>
              <a:t>*20%</a:t>
            </a:r>
            <a:r>
              <a:rPr sz="3000" spc="-10" dirty="0">
                <a:latin typeface="华文新魏"/>
                <a:cs typeface="华文新魏"/>
              </a:rPr>
              <a:t>=</a:t>
            </a:r>
            <a:r>
              <a:rPr sz="3000" dirty="0">
                <a:latin typeface="华文新魏"/>
                <a:cs typeface="华文新魏"/>
              </a:rPr>
              <a:t>9.24 </a:t>
            </a:r>
            <a:r>
              <a:rPr sz="3000" spc="-5" dirty="0">
                <a:latin typeface="华文新魏"/>
                <a:cs typeface="华文新魏"/>
              </a:rPr>
              <a:t>万元</a:t>
            </a:r>
            <a:endParaRPr sz="3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计算总估算成本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51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1989582"/>
            <a:ext cx="8569960" cy="14401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45"/>
              </a:spcBef>
            </a:pPr>
            <a:r>
              <a:rPr sz="2900" dirty="0">
                <a:latin typeface="华文仿宋"/>
                <a:cs typeface="华文仿宋"/>
              </a:rPr>
              <a:t>项目总估算成</a:t>
            </a:r>
            <a:r>
              <a:rPr sz="2900" spc="5" dirty="0">
                <a:latin typeface="华文仿宋"/>
                <a:cs typeface="华文仿宋"/>
              </a:rPr>
              <a:t>本</a:t>
            </a:r>
            <a:r>
              <a:rPr sz="2900" spc="-5" dirty="0">
                <a:latin typeface="Tw Cen MT"/>
                <a:cs typeface="Tw Cen MT"/>
              </a:rPr>
              <a:t>=</a:t>
            </a:r>
            <a:r>
              <a:rPr sz="2900" dirty="0">
                <a:latin typeface="华文仿宋"/>
                <a:cs typeface="华文仿宋"/>
              </a:rPr>
              <a:t>直接成本</a:t>
            </a:r>
            <a:r>
              <a:rPr sz="2900" spc="-5" dirty="0">
                <a:latin typeface="Tw Cen MT"/>
                <a:cs typeface="Tw Cen MT"/>
              </a:rPr>
              <a:t>+</a:t>
            </a:r>
            <a:r>
              <a:rPr sz="2900" dirty="0">
                <a:latin typeface="华文仿宋"/>
                <a:cs typeface="华文仿宋"/>
              </a:rPr>
              <a:t>间接</a:t>
            </a:r>
            <a:r>
              <a:rPr sz="2900" spc="-15" dirty="0">
                <a:latin typeface="华文仿宋"/>
                <a:cs typeface="华文仿宋"/>
              </a:rPr>
              <a:t>成</a:t>
            </a:r>
            <a:r>
              <a:rPr sz="2900" dirty="0">
                <a:latin typeface="华文仿宋"/>
                <a:cs typeface="华文仿宋"/>
              </a:rPr>
              <a:t>本</a:t>
            </a:r>
            <a:r>
              <a:rPr sz="2900" dirty="0">
                <a:latin typeface="Tw Cen MT"/>
                <a:cs typeface="Tw Cen MT"/>
              </a:rPr>
              <a:t>=</a:t>
            </a:r>
            <a:endParaRPr sz="2900">
              <a:latin typeface="Tw Cen MT"/>
              <a:cs typeface="Tw Cen MT"/>
            </a:endParaRPr>
          </a:p>
          <a:p>
            <a:pPr marL="90805">
              <a:lnSpc>
                <a:spcPct val="100000"/>
              </a:lnSpc>
              <a:spcBef>
                <a:spcPts val="700"/>
              </a:spcBef>
            </a:pPr>
            <a:r>
              <a:rPr sz="2900" spc="5" dirty="0">
                <a:latin typeface="Tw Cen MT"/>
                <a:cs typeface="Tw Cen MT"/>
              </a:rPr>
              <a:t>46.2</a:t>
            </a:r>
            <a:r>
              <a:rPr sz="2900" dirty="0">
                <a:latin typeface="华文仿宋"/>
                <a:cs typeface="华文仿宋"/>
              </a:rPr>
              <a:t>万元</a:t>
            </a:r>
            <a:r>
              <a:rPr sz="2900" dirty="0">
                <a:latin typeface="Tw Cen MT"/>
                <a:cs typeface="Tw Cen MT"/>
              </a:rPr>
              <a:t>+9.24</a:t>
            </a:r>
            <a:r>
              <a:rPr sz="2900" dirty="0">
                <a:latin typeface="华文仿宋"/>
                <a:cs typeface="华文仿宋"/>
              </a:rPr>
              <a:t>万</a:t>
            </a:r>
            <a:r>
              <a:rPr sz="2900" spc="-10" dirty="0">
                <a:latin typeface="华文仿宋"/>
                <a:cs typeface="华文仿宋"/>
              </a:rPr>
              <a:t>元</a:t>
            </a:r>
            <a:r>
              <a:rPr sz="2900" dirty="0">
                <a:latin typeface="Tw Cen MT"/>
                <a:cs typeface="Tw Cen MT"/>
              </a:rPr>
              <a:t>=55.44</a:t>
            </a:r>
            <a:r>
              <a:rPr sz="2900" dirty="0">
                <a:latin typeface="华文仿宋"/>
                <a:cs typeface="华文仿宋"/>
              </a:rPr>
              <a:t>万元。</a:t>
            </a:r>
            <a:endParaRPr sz="29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160731"/>
            <a:ext cx="6737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医疗信息商务平台成本估算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2770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2083" y="1946148"/>
            <a:ext cx="7874508" cy="3959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9536" y="3221735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9536" y="3221735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28622" y="2427808"/>
            <a:ext cx="5116830" cy="280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8795">
              <a:lnSpc>
                <a:spcPct val="100000"/>
              </a:lnSpc>
              <a:spcBef>
                <a:spcPts val="95"/>
              </a:spcBef>
            </a:pPr>
            <a:r>
              <a:rPr sz="4000" b="1" u="heavy" spc="-10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工作量成本估算案例</a:t>
            </a:r>
            <a:endParaRPr sz="4000">
              <a:latin typeface="方正姚体"/>
              <a:cs typeface="方正姚体"/>
            </a:endParaRPr>
          </a:p>
          <a:p>
            <a:pPr marL="376555" indent="-364490">
              <a:lnSpc>
                <a:spcPct val="100000"/>
              </a:lnSpc>
              <a:spcBef>
                <a:spcPts val="4155"/>
              </a:spcBef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spc="-5" dirty="0">
                <a:solidFill>
                  <a:srgbClr val="B85B21"/>
                </a:solidFill>
                <a:latin typeface="华文新魏"/>
                <a:cs typeface="华文新魏"/>
              </a:rPr>
              <a:t>自下而上的估算</a:t>
            </a:r>
            <a:endParaRPr sz="36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B85B21"/>
              </a:buClr>
              <a:buFont typeface="Wingdings"/>
              <a:buChar char=""/>
            </a:pPr>
            <a:endParaRPr sz="3750">
              <a:latin typeface="Times New Roman"/>
              <a:cs typeface="Times New Roman"/>
            </a:endParaRPr>
          </a:p>
          <a:p>
            <a:pPr marL="376555" indent="-364490">
              <a:lnSpc>
                <a:spcPct val="100000"/>
              </a:lnSpc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spc="-5" dirty="0">
                <a:solidFill>
                  <a:srgbClr val="B85B21"/>
                </a:solidFill>
                <a:latin typeface="华文新魏"/>
                <a:cs typeface="华文新魏"/>
              </a:rPr>
              <a:t>用例点估算</a:t>
            </a:r>
            <a:endParaRPr sz="36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50898" y="5517641"/>
            <a:ext cx="3889375" cy="0"/>
          </a:xfrm>
          <a:custGeom>
            <a:avLst/>
            <a:gdLst/>
            <a:ahLst/>
            <a:cxnLst/>
            <a:rect l="l" t="t" r="r" b="b"/>
            <a:pathLst>
              <a:path w="3889375">
                <a:moveTo>
                  <a:pt x="0" y="0"/>
                </a:moveTo>
                <a:lnTo>
                  <a:pt x="3889375" y="0"/>
                </a:lnTo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40309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MED用例点估算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521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3560" y="1516380"/>
            <a:ext cx="5827776" cy="4681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26549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角色：User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683" y="1516377"/>
            <a:ext cx="7210023" cy="5297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942" y="200913"/>
            <a:ext cx="7987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计算未调整的角色的权</a:t>
            </a:r>
            <a:r>
              <a:rPr spc="-10" dirty="0"/>
              <a:t>值</a:t>
            </a:r>
            <a:r>
              <a:rPr spc="-5" dirty="0"/>
              <a:t>：UAW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1831085"/>
            <a:ext cx="7772400" cy="73469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3600" spc="-50" dirty="0">
                <a:latin typeface="Tw Cen MT"/>
                <a:cs typeface="Tw Cen MT"/>
              </a:rPr>
              <a:t>UAW=18</a:t>
            </a:r>
            <a:endParaRPr sz="3600"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0811" y="2705100"/>
            <a:ext cx="8215726" cy="3240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77882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计算未调整的用例权</a:t>
            </a:r>
            <a:r>
              <a:rPr spc="5" dirty="0"/>
              <a:t>值</a:t>
            </a:r>
            <a:r>
              <a:rPr dirty="0"/>
              <a:t>：UUCW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8080" y="6153099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081" y="1879854"/>
            <a:ext cx="8281670" cy="75755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60"/>
              </a:spcBef>
            </a:pPr>
            <a:r>
              <a:rPr sz="3600" dirty="0">
                <a:latin typeface="Tw Cen MT"/>
                <a:cs typeface="Tw Cen MT"/>
              </a:rPr>
              <a:t>UUCW=240</a:t>
            </a:r>
            <a:endParaRPr sz="3600"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9831" y="2819400"/>
            <a:ext cx="8628901" cy="2915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70370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计算未调整的用例点</a:t>
            </a:r>
            <a:r>
              <a:rPr spc="-5" dirty="0"/>
              <a:t>：UUCP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2158" y="60101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2061210"/>
            <a:ext cx="8153400" cy="67691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3600" spc="-15" dirty="0">
                <a:latin typeface="Tw Cen MT"/>
                <a:cs typeface="Tw Cen MT"/>
              </a:rPr>
              <a:t>UUCP=UAW+UUCW=18+240=258</a:t>
            </a:r>
            <a:endParaRPr sz="3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48361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技术复杂度因子TCF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8285" y="1617696"/>
            <a:ext cx="5781112" cy="5054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232663"/>
            <a:ext cx="32251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环境因子ECF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0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2311" y="1700783"/>
            <a:ext cx="6606911" cy="4567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829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计算用例</a:t>
            </a:r>
            <a:r>
              <a:rPr spc="5" dirty="0"/>
              <a:t>点</a:t>
            </a:r>
            <a:r>
              <a:rPr dirty="0"/>
              <a:t>UCP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7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2061210"/>
            <a:ext cx="8496300" cy="1036319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45"/>
              </a:spcBef>
            </a:pPr>
            <a:r>
              <a:rPr sz="2900" dirty="0">
                <a:latin typeface="Tw Cen MT"/>
                <a:cs typeface="Tw Cen MT"/>
              </a:rPr>
              <a:t>UCP </a:t>
            </a:r>
            <a:r>
              <a:rPr sz="2900" spc="-10" dirty="0">
                <a:latin typeface="Tw Cen MT"/>
                <a:cs typeface="Tw Cen MT"/>
              </a:rPr>
              <a:t>=UUCP</a:t>
            </a:r>
            <a:r>
              <a:rPr sz="2900" spc="-10" dirty="0">
                <a:latin typeface="华文仿宋"/>
                <a:cs typeface="华文仿宋"/>
              </a:rPr>
              <a:t>×</a:t>
            </a:r>
            <a:r>
              <a:rPr sz="2900" spc="-10" dirty="0">
                <a:latin typeface="Tw Cen MT"/>
                <a:cs typeface="Tw Cen MT"/>
              </a:rPr>
              <a:t>TCF</a:t>
            </a:r>
            <a:r>
              <a:rPr sz="2900" spc="-10" dirty="0">
                <a:latin typeface="华文仿宋"/>
                <a:cs typeface="华文仿宋"/>
              </a:rPr>
              <a:t>×</a:t>
            </a:r>
            <a:r>
              <a:rPr sz="2900" spc="-10" dirty="0">
                <a:latin typeface="Tw Cen MT"/>
                <a:cs typeface="Tw Cen MT"/>
              </a:rPr>
              <a:t>ECF </a:t>
            </a:r>
            <a:r>
              <a:rPr sz="2900" dirty="0">
                <a:latin typeface="Tw Cen MT"/>
                <a:cs typeface="Tw Cen MT"/>
              </a:rPr>
              <a:t>=258</a:t>
            </a:r>
            <a:r>
              <a:rPr sz="2900" dirty="0">
                <a:latin typeface="华文仿宋"/>
                <a:cs typeface="华文仿宋"/>
              </a:rPr>
              <a:t>×</a:t>
            </a:r>
            <a:r>
              <a:rPr sz="2900" dirty="0">
                <a:latin typeface="Tw Cen MT"/>
                <a:cs typeface="Tw Cen MT"/>
              </a:rPr>
              <a:t>1.08</a:t>
            </a:r>
            <a:r>
              <a:rPr sz="2900" dirty="0">
                <a:latin typeface="华文仿宋"/>
                <a:cs typeface="华文仿宋"/>
              </a:rPr>
              <a:t>×</a:t>
            </a:r>
            <a:r>
              <a:rPr sz="2900" dirty="0">
                <a:latin typeface="Tw Cen MT"/>
                <a:cs typeface="Tw Cen MT"/>
              </a:rPr>
              <a:t>0.785</a:t>
            </a:r>
            <a:r>
              <a:rPr sz="2900" spc="-6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=218.7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31146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规模：</a:t>
            </a:r>
            <a:r>
              <a:rPr spc="-80" dirty="0"/>
              <a:t> </a:t>
            </a:r>
            <a:r>
              <a:rPr dirty="0"/>
              <a:t>Effort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6346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0594" y="1774698"/>
            <a:ext cx="8641080" cy="3023870"/>
          </a:xfrm>
          <a:custGeom>
            <a:avLst/>
            <a:gdLst/>
            <a:ahLst/>
            <a:cxnLst/>
            <a:rect l="l" t="t" r="r" b="b"/>
            <a:pathLst>
              <a:path w="8641080" h="3023870">
                <a:moveTo>
                  <a:pt x="0" y="3023616"/>
                </a:moveTo>
                <a:lnTo>
                  <a:pt x="8641080" y="3023616"/>
                </a:lnTo>
                <a:lnTo>
                  <a:pt x="8641080" y="0"/>
                </a:lnTo>
                <a:lnTo>
                  <a:pt x="0" y="0"/>
                </a:lnTo>
                <a:lnTo>
                  <a:pt x="0" y="302361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267" y="1689393"/>
            <a:ext cx="8428990" cy="26803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900" dirty="0">
                <a:latin typeface="华文新魏"/>
                <a:cs typeface="华文新魏"/>
              </a:rPr>
              <a:t>如果：PF=20工时/</a:t>
            </a:r>
            <a:r>
              <a:rPr sz="2900" spc="-10" dirty="0">
                <a:latin typeface="华文新魏"/>
                <a:cs typeface="华文新魏"/>
              </a:rPr>
              <a:t>用</a:t>
            </a:r>
            <a:r>
              <a:rPr sz="2900" spc="5" dirty="0">
                <a:latin typeface="华文新魏"/>
                <a:cs typeface="华文新魏"/>
              </a:rPr>
              <a:t>例点</a:t>
            </a:r>
            <a:endParaRPr sz="2900">
              <a:latin typeface="华文新魏"/>
              <a:cs typeface="华文新魏"/>
            </a:endParaRPr>
          </a:p>
          <a:p>
            <a:pPr marL="12700" marR="5080">
              <a:lnSpc>
                <a:spcPct val="120000"/>
              </a:lnSpc>
            </a:pPr>
            <a:r>
              <a:rPr sz="2900" dirty="0">
                <a:latin typeface="华文新魏"/>
                <a:cs typeface="华文新魏"/>
              </a:rPr>
              <a:t>则：Effort</a:t>
            </a:r>
            <a:r>
              <a:rPr sz="2900" spc="-10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=UCP×PF</a:t>
            </a:r>
            <a:r>
              <a:rPr sz="2900" spc="-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=</a:t>
            </a:r>
            <a:r>
              <a:rPr sz="2900" spc="-20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218.7×20</a:t>
            </a:r>
            <a:r>
              <a:rPr sz="2900" spc="-40" dirty="0">
                <a:latin typeface="华文新魏"/>
                <a:cs typeface="华文新魏"/>
              </a:rPr>
              <a:t> </a:t>
            </a:r>
            <a:r>
              <a:rPr sz="2900" spc="5" dirty="0">
                <a:latin typeface="华文新魏"/>
                <a:cs typeface="华文新魏"/>
              </a:rPr>
              <a:t>=4374</a:t>
            </a:r>
            <a:r>
              <a:rPr sz="2900" dirty="0">
                <a:latin typeface="华文新魏"/>
                <a:cs typeface="华文新魏"/>
              </a:rPr>
              <a:t>工时。 因为</a:t>
            </a:r>
            <a:r>
              <a:rPr sz="2900" spc="-5" dirty="0">
                <a:latin typeface="华文新魏"/>
                <a:cs typeface="华文新魏"/>
              </a:rPr>
              <a:t>1</a:t>
            </a:r>
            <a:r>
              <a:rPr sz="2900" dirty="0">
                <a:latin typeface="华文新魏"/>
                <a:cs typeface="华文新魏"/>
              </a:rPr>
              <a:t>人</a:t>
            </a:r>
            <a:r>
              <a:rPr sz="2900" spc="5" dirty="0">
                <a:latin typeface="华文新魏"/>
                <a:cs typeface="华文新魏"/>
              </a:rPr>
              <a:t>天</a:t>
            </a:r>
            <a:r>
              <a:rPr sz="2900" dirty="0">
                <a:latin typeface="华文新魏"/>
                <a:cs typeface="华文新魏"/>
              </a:rPr>
              <a:t>=8</a:t>
            </a:r>
            <a:r>
              <a:rPr sz="2900" spc="5" dirty="0">
                <a:latin typeface="华文新魏"/>
                <a:cs typeface="华文新魏"/>
              </a:rPr>
              <a:t>工</a:t>
            </a:r>
            <a:r>
              <a:rPr sz="2900" spc="-15" dirty="0">
                <a:latin typeface="华文新魏"/>
                <a:cs typeface="华文新魏"/>
              </a:rPr>
              <a:t>时</a:t>
            </a:r>
            <a:r>
              <a:rPr sz="2900" spc="5" dirty="0">
                <a:latin typeface="华文新魏"/>
                <a:cs typeface="华文新魏"/>
              </a:rPr>
              <a:t>，则</a:t>
            </a:r>
            <a:r>
              <a:rPr sz="2900" spc="-20" dirty="0">
                <a:latin typeface="华文新魏"/>
                <a:cs typeface="华文新魏"/>
              </a:rPr>
              <a:t>项</a:t>
            </a:r>
            <a:r>
              <a:rPr sz="2900" spc="5" dirty="0">
                <a:latin typeface="华文新魏"/>
                <a:cs typeface="华文新魏"/>
              </a:rPr>
              <a:t>目规</a:t>
            </a:r>
            <a:r>
              <a:rPr sz="2900" spc="-10" dirty="0">
                <a:latin typeface="华文新魏"/>
                <a:cs typeface="华文新魏"/>
              </a:rPr>
              <a:t>模</a:t>
            </a:r>
            <a:r>
              <a:rPr sz="2900" dirty="0">
                <a:latin typeface="华文新魏"/>
                <a:cs typeface="华文新魏"/>
              </a:rPr>
              <a:t>：4374/8</a:t>
            </a:r>
            <a:r>
              <a:rPr sz="2900" spc="-50" dirty="0">
                <a:latin typeface="华文新魏"/>
                <a:cs typeface="华文新魏"/>
              </a:rPr>
              <a:t> </a:t>
            </a:r>
            <a:r>
              <a:rPr sz="2900" spc="-5" dirty="0">
                <a:latin typeface="华文新魏"/>
                <a:cs typeface="华文新魏"/>
              </a:rPr>
              <a:t>=547</a:t>
            </a:r>
            <a:r>
              <a:rPr sz="2900" dirty="0">
                <a:latin typeface="华文新魏"/>
                <a:cs typeface="华文新魏"/>
              </a:rPr>
              <a:t>人天</a:t>
            </a:r>
            <a:endParaRPr sz="29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</a:pPr>
            <a:endParaRPr sz="4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latin typeface="华文新魏"/>
                <a:cs typeface="华文新魏"/>
              </a:rPr>
              <a:t>如果</a:t>
            </a:r>
            <a:r>
              <a:rPr sz="2900" spc="-5" dirty="0">
                <a:latin typeface="华文新魏"/>
                <a:cs typeface="华文新魏"/>
              </a:rPr>
              <a:t>1000</a:t>
            </a:r>
            <a:r>
              <a:rPr sz="2900" dirty="0">
                <a:latin typeface="华文新魏"/>
                <a:cs typeface="华文新魏"/>
              </a:rPr>
              <a:t>元/</a:t>
            </a:r>
            <a:r>
              <a:rPr sz="2900" spc="5" dirty="0">
                <a:latin typeface="华文新魏"/>
                <a:cs typeface="华文新魏"/>
              </a:rPr>
              <a:t>人天</a:t>
            </a:r>
            <a:r>
              <a:rPr sz="2900" spc="-20" dirty="0">
                <a:latin typeface="华文新魏"/>
                <a:cs typeface="华文新魏"/>
              </a:rPr>
              <a:t>，</a:t>
            </a:r>
            <a:r>
              <a:rPr sz="2900" spc="5" dirty="0">
                <a:latin typeface="华文新魏"/>
                <a:cs typeface="华文新魏"/>
              </a:rPr>
              <a:t>则成</a:t>
            </a:r>
            <a:r>
              <a:rPr sz="2900" spc="-15" dirty="0">
                <a:latin typeface="华文新魏"/>
                <a:cs typeface="华文新魏"/>
              </a:rPr>
              <a:t>本</a:t>
            </a:r>
            <a:r>
              <a:rPr sz="2900" dirty="0">
                <a:latin typeface="华文新魏"/>
                <a:cs typeface="华文新魏"/>
              </a:rPr>
              <a:t>54.7</a:t>
            </a:r>
            <a:r>
              <a:rPr sz="2900" spc="5" dirty="0">
                <a:latin typeface="华文新魏"/>
                <a:cs typeface="华文新魏"/>
              </a:rPr>
              <a:t>万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441" y="287858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本章小结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7858" y="1523236"/>
            <a:ext cx="7772400" cy="5219700"/>
          </a:xfrm>
          <a:custGeom>
            <a:avLst/>
            <a:gdLst/>
            <a:ahLst/>
            <a:cxnLst/>
            <a:rect l="l" t="t" r="r" b="b"/>
            <a:pathLst>
              <a:path w="7772400" h="5219700">
                <a:moveTo>
                  <a:pt x="0" y="5219700"/>
                </a:moveTo>
                <a:lnTo>
                  <a:pt x="7772400" y="5219700"/>
                </a:lnTo>
                <a:lnTo>
                  <a:pt x="7772400" y="0"/>
                </a:lnTo>
                <a:lnTo>
                  <a:pt x="0" y="0"/>
                </a:lnTo>
                <a:lnTo>
                  <a:pt x="0" y="521970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6140" y="1438361"/>
            <a:ext cx="4304030" cy="534035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900" dirty="0">
                <a:latin typeface="华文新魏"/>
                <a:cs typeface="华文新魏"/>
              </a:rPr>
              <a:t>成本估算</a:t>
            </a:r>
            <a:endParaRPr sz="29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代码行估算法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功能点估算法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用例点估算法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类</a:t>
            </a:r>
            <a:r>
              <a:rPr sz="2600" spc="620" dirty="0">
                <a:latin typeface="华文新魏"/>
                <a:cs typeface="华文新魏"/>
              </a:rPr>
              <a:t>比</a:t>
            </a:r>
            <a:r>
              <a:rPr sz="2600" spc="-5" dirty="0">
                <a:latin typeface="华文新魏"/>
                <a:cs typeface="华文新魏"/>
              </a:rPr>
              <a:t>(</a:t>
            </a:r>
            <a:r>
              <a:rPr sz="2600" dirty="0">
                <a:latin typeface="华文新魏"/>
                <a:cs typeface="华文新魏"/>
              </a:rPr>
              <a:t>自顶向下</a:t>
            </a:r>
            <a:r>
              <a:rPr sz="2600" spc="-5" dirty="0">
                <a:latin typeface="华文新魏"/>
                <a:cs typeface="华文新魏"/>
              </a:rPr>
              <a:t>)</a:t>
            </a:r>
            <a:r>
              <a:rPr sz="2600" dirty="0">
                <a:latin typeface="华文新魏"/>
                <a:cs typeface="华文新魏"/>
              </a:rPr>
              <a:t>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自下而上估算法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参数估算法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专家估算法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三点估算法</a:t>
            </a:r>
            <a:endParaRPr sz="2600">
              <a:latin typeface="华文新魏"/>
              <a:cs typeface="华文新魏"/>
            </a:endParaRPr>
          </a:p>
          <a:p>
            <a:pPr marL="1003300" indent="-53467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AutoNum type="arabicPeriod"/>
              <a:tabLst>
                <a:tab pos="1003300" algn="l"/>
                <a:tab pos="1003935" algn="l"/>
              </a:tabLst>
            </a:pPr>
            <a:r>
              <a:rPr sz="2600" dirty="0">
                <a:latin typeface="华文新魏"/>
                <a:cs typeface="华文新魏"/>
              </a:rPr>
              <a:t>敏捷方法</a:t>
            </a:r>
            <a:endParaRPr sz="26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900" dirty="0">
                <a:latin typeface="华文新魏"/>
                <a:cs typeface="华文新魏"/>
              </a:rPr>
              <a:t>成本预算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</TotalTime>
  <Words>3110</Words>
  <Application>Microsoft Macintosh PowerPoint</Application>
  <PresentationFormat>全屏显示(4:3)</PresentationFormat>
  <Paragraphs>1125</Paragraphs>
  <Slides>149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149</vt:i4>
      </vt:variant>
    </vt:vector>
  </HeadingPairs>
  <TitlesOfParts>
    <vt:vector size="169" baseType="lpstr">
      <vt:lpstr>方正姚体</vt:lpstr>
      <vt:lpstr>仿宋</vt:lpstr>
      <vt:lpstr>黑体</vt:lpstr>
      <vt:lpstr>华文仿宋</vt:lpstr>
      <vt:lpstr>华文琥珀</vt:lpstr>
      <vt:lpstr>华文楷体</vt:lpstr>
      <vt:lpstr>华文隶书</vt:lpstr>
      <vt:lpstr>华文新魏</vt:lpstr>
      <vt:lpstr>宋体</vt:lpstr>
      <vt:lpstr>微软雅黑</vt:lpstr>
      <vt:lpstr>Arial Unicode MS</vt:lpstr>
      <vt:lpstr>Gulim</vt:lpstr>
      <vt:lpstr>Arial Narrow</vt:lpstr>
      <vt:lpstr>Calibri</vt:lpstr>
      <vt:lpstr>Symbol</vt:lpstr>
      <vt:lpstr>Times New Roman</vt:lpstr>
      <vt:lpstr>Tw Cen MT</vt:lpstr>
      <vt:lpstr>Wingdings</vt:lpstr>
      <vt:lpstr>Wingdings 2</vt:lpstr>
      <vt:lpstr>Office Theme</vt:lpstr>
      <vt:lpstr>情景引入</vt:lpstr>
      <vt:lpstr>路线图：成本计划</vt:lpstr>
      <vt:lpstr>PowerPoint 演示文稿</vt:lpstr>
      <vt:lpstr>本章要点</vt:lpstr>
      <vt:lpstr>关于估算</vt:lpstr>
      <vt:lpstr>软件项目规模</vt:lpstr>
      <vt:lpstr>软件项目规模</vt:lpstr>
      <vt:lpstr>软件规模单位</vt:lpstr>
      <vt:lpstr>软件项目成本</vt:lpstr>
      <vt:lpstr>软件规模和软件成本的关系</vt:lpstr>
      <vt:lpstr>成本估算结果</vt:lpstr>
      <vt:lpstr>本章要点</vt:lpstr>
      <vt:lpstr>传统估算方法-</vt:lpstr>
      <vt:lpstr>传统估算方法-代码行估算法</vt:lpstr>
      <vt:lpstr>传统估算方法-代码行估算法</vt:lpstr>
      <vt:lpstr>代码行技术的主要优缺点</vt:lpstr>
      <vt:lpstr>传统估算方法-</vt:lpstr>
      <vt:lpstr>传统估算方法-功能点估算</vt:lpstr>
      <vt:lpstr>传统估算方法- Albrecht功能点估算</vt:lpstr>
      <vt:lpstr>UFC-未调整功能点计数</vt:lpstr>
      <vt:lpstr>外部输入(External Inputs： EI)</vt:lpstr>
      <vt:lpstr>外部输入例子</vt:lpstr>
      <vt:lpstr>外部输出(External Outputs EO)</vt:lpstr>
      <vt:lpstr>外部输出例子</vt:lpstr>
      <vt:lpstr>外部查询(External Inquiry EQ)</vt:lpstr>
      <vt:lpstr>外部查询例子</vt:lpstr>
      <vt:lpstr>外部接口文件（External Interface Files EIF’s）</vt:lpstr>
      <vt:lpstr>内部逻辑文件(Internal Logical Files： ILF’S)</vt:lpstr>
      <vt:lpstr>内部逻辑文件例子</vt:lpstr>
      <vt:lpstr>FP计数的规则</vt:lpstr>
      <vt:lpstr>事务组件进行定级</vt:lpstr>
      <vt:lpstr>内部逻辑文件和外部接口文件</vt:lpstr>
      <vt:lpstr>UFC-未调整功能点计数</vt:lpstr>
      <vt:lpstr>功能点估算方法举例</vt:lpstr>
      <vt:lpstr>外贸订单:--UFC</vt:lpstr>
      <vt:lpstr>TCF-技术复杂度因子</vt:lpstr>
      <vt:lpstr>技术复杂度因子的取值范围</vt:lpstr>
      <vt:lpstr>外贸订单项目：功能点计算</vt:lpstr>
      <vt:lpstr>传统估算方法-功能点估算</vt:lpstr>
      <vt:lpstr>功能点与代码行的转换</vt:lpstr>
      <vt:lpstr>传统估算方法-</vt:lpstr>
      <vt:lpstr>传统估算方法-用例模型</vt:lpstr>
      <vt:lpstr>传统估算方法-用例点估算模型</vt:lpstr>
      <vt:lpstr>用例点估算方法的基本步骤</vt:lpstr>
      <vt:lpstr>1、计算未调整的角色权值UAW</vt:lpstr>
      <vt:lpstr>2、计算未调整的用例权值UUCW</vt:lpstr>
      <vt:lpstr>3、计算未调整的用例点UUCP</vt:lpstr>
      <vt:lpstr>4、计算技术因子TCF</vt:lpstr>
      <vt:lpstr>4、 计算环境因子ECF</vt:lpstr>
      <vt:lpstr>5、计算调整的用例点UCP</vt:lpstr>
      <vt:lpstr>6、计算工作量</vt:lpstr>
      <vt:lpstr>传统估算方法-</vt:lpstr>
      <vt:lpstr>传统估算方法-类比估算-定义</vt:lpstr>
      <vt:lpstr>类比估算—使用情况</vt:lpstr>
      <vt:lpstr>类比估算—理论举例</vt:lpstr>
      <vt:lpstr>类比估算—主观判断举例</vt:lpstr>
      <vt:lpstr>传统估算方法-</vt:lpstr>
      <vt:lpstr>自下而上估算---定义</vt:lpstr>
      <vt:lpstr>自下而上估算---特点</vt:lpstr>
      <vt:lpstr>自下而上估算举例</vt:lpstr>
      <vt:lpstr>传统估算方法-</vt:lpstr>
      <vt:lpstr>三点估算</vt:lpstr>
      <vt:lpstr>三点估算- 三种估算值</vt:lpstr>
      <vt:lpstr>三点估算结果</vt:lpstr>
      <vt:lpstr>三点估算结果-举例</vt:lpstr>
      <vt:lpstr>传统估算方法-</vt:lpstr>
      <vt:lpstr>参数估算法—定义</vt:lpstr>
      <vt:lpstr>参数模型:面向LOC驱动的</vt:lpstr>
      <vt:lpstr>参数模型:面向FP驱动的</vt:lpstr>
      <vt:lpstr>参数模型:整体公式</vt:lpstr>
      <vt:lpstr>建议掌握模型</vt:lpstr>
      <vt:lpstr>Walston-Felix模型</vt:lpstr>
      <vt:lpstr>Walston-Felix模型举例</vt:lpstr>
      <vt:lpstr>COCOMO（Constructive Cost model）</vt:lpstr>
      <vt:lpstr>COCOMO模型</vt:lpstr>
      <vt:lpstr>COCOMO基本原理</vt:lpstr>
      <vt:lpstr>COCOMO 81</vt:lpstr>
      <vt:lpstr>COCOMO 81模型的级别</vt:lpstr>
      <vt:lpstr>COCOMO 81项目类型</vt:lpstr>
      <vt:lpstr>基本COCOMO-81</vt:lpstr>
      <vt:lpstr>基本COCOMO-81系数表</vt:lpstr>
      <vt:lpstr>举例</vt:lpstr>
      <vt:lpstr>中等COCOMO-81</vt:lpstr>
      <vt:lpstr>乘法因子的成本驱动属性</vt:lpstr>
      <vt:lpstr>乘法因子</vt:lpstr>
      <vt:lpstr>举例</vt:lpstr>
      <vt:lpstr>高级（详细）COCOMO</vt:lpstr>
      <vt:lpstr>PowerPoint 演示文稿</vt:lpstr>
      <vt:lpstr>COCOMO II</vt:lpstr>
      <vt:lpstr>COCOMO II组成</vt:lpstr>
      <vt:lpstr>COCOMO II-应用组装模型</vt:lpstr>
      <vt:lpstr>COCOMO II-早期设计模型</vt:lpstr>
      <vt:lpstr>COCOMO II-早期设计模型</vt:lpstr>
      <vt:lpstr>COCOMO II-后体系结构模型</vt:lpstr>
      <vt:lpstr>复用模型</vt:lpstr>
      <vt:lpstr>参数模型综述</vt:lpstr>
      <vt:lpstr>模型研究例子—项目数据</vt:lpstr>
      <vt:lpstr>PowerPoint 演示文稿</vt:lpstr>
      <vt:lpstr>模型研究例子—多项式回归算法</vt:lpstr>
      <vt:lpstr>多项式回归模型例子--结果输出</vt:lpstr>
      <vt:lpstr>PowerPoint 演示文稿</vt:lpstr>
      <vt:lpstr>基于神经网络估算模型-项目数据</vt:lpstr>
      <vt:lpstr>项目进行数字化和归一化</vt:lpstr>
      <vt:lpstr>采用三层的BP神经网络建模</vt:lpstr>
      <vt:lpstr>模型建立</vt:lpstr>
      <vt:lpstr>模型应用</vt:lpstr>
      <vt:lpstr>参数估算法</vt:lpstr>
      <vt:lpstr>传统估算方法-</vt:lpstr>
      <vt:lpstr>专家估算法</vt:lpstr>
      <vt:lpstr>专家估算法-Deiphi</vt:lpstr>
      <vt:lpstr>Deiphi专家估算法-举例</vt:lpstr>
      <vt:lpstr>本章要点</vt:lpstr>
      <vt:lpstr>敏捷估算思维</vt:lpstr>
      <vt:lpstr>Story point估算方法</vt:lpstr>
      <vt:lpstr>Story point估算-常用的两个标准</vt:lpstr>
      <vt:lpstr>Story point估算-Fibonacci 七个等级</vt:lpstr>
      <vt:lpstr>Story point估算- 举例</vt:lpstr>
      <vt:lpstr>A Fast Story Point Estimation Process</vt:lpstr>
      <vt:lpstr>A Fast Story Point Estimation Process</vt:lpstr>
      <vt:lpstr>A Fast Story Point Estimation Process</vt:lpstr>
      <vt:lpstr>A Fast Story Point Estimation Process</vt:lpstr>
      <vt:lpstr>A Fast Story Point Estimation Process</vt:lpstr>
      <vt:lpstr>总估算成本（BAC）</vt:lpstr>
      <vt:lpstr>本章要点</vt:lpstr>
      <vt:lpstr>成本预算</vt:lpstr>
      <vt:lpstr>估算（BAC）与预算（BCWS）</vt:lpstr>
      <vt:lpstr>项目成本预算</vt:lpstr>
      <vt:lpstr>给任务分配资源成本:常规方法</vt:lpstr>
      <vt:lpstr>给任务分配资源成本：例子</vt:lpstr>
      <vt:lpstr>分配固定资源成本</vt:lpstr>
      <vt:lpstr>分配固定成本</vt:lpstr>
      <vt:lpstr>成本基线</vt:lpstr>
      <vt:lpstr>本章要点</vt:lpstr>
      <vt:lpstr>医疗信息商务平台成本估算</vt:lpstr>
      <vt:lpstr>MED自下而上的估算</vt:lpstr>
      <vt:lpstr>计算开发成本</vt:lpstr>
      <vt:lpstr>计算直接、间接成本</vt:lpstr>
      <vt:lpstr>计算总估算成本</vt:lpstr>
      <vt:lpstr>医疗信息商务平台成本估算</vt:lpstr>
      <vt:lpstr>PowerPoint 演示文稿</vt:lpstr>
      <vt:lpstr>角色：User</vt:lpstr>
      <vt:lpstr>计算未调整的角色的权值：UAW</vt:lpstr>
      <vt:lpstr>计算未调整的用例权值：UUCW</vt:lpstr>
      <vt:lpstr>计算未调整的用例点：UUCP</vt:lpstr>
      <vt:lpstr>技术复杂度因子TCF</vt:lpstr>
      <vt:lpstr>PowerPoint 演示文稿</vt:lpstr>
      <vt:lpstr>计算用例点UCP</vt:lpstr>
      <vt:lpstr>规模： Effort</vt:lpstr>
      <vt:lpstr>本章小结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</dc:title>
  <dc:creator>hanwanjiang</dc:creator>
  <cp:lastModifiedBy>Microsoft Office 用户</cp:lastModifiedBy>
  <cp:revision>6</cp:revision>
  <dcterms:created xsi:type="dcterms:W3CDTF">2020-06-12T01:18:29Z</dcterms:created>
  <dcterms:modified xsi:type="dcterms:W3CDTF">2024-03-24T12:57:02Z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