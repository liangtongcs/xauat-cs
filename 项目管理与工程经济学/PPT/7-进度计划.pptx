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4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1" r:id="rId106"/>
    <p:sldId id="362" r:id="rId107"/>
    <p:sldId id="363" r:id="rId108"/>
    <p:sldId id="364" r:id="rId109"/>
    <p:sldId id="365" r:id="rId110"/>
    <p:sldId id="366" r:id="rId111"/>
    <p:sldId id="367" r:id="rId112"/>
    <p:sldId id="368" r:id="rId113"/>
    <p:sldId id="369" r:id="rId114"/>
    <p:sldId id="370" r:id="rId115"/>
    <p:sldId id="371" r:id="rId116"/>
    <p:sldId id="372" r:id="rId117"/>
    <p:sldId id="373" r:id="rId118"/>
    <p:sldId id="374" r:id="rId119"/>
    <p:sldId id="375" r:id="rId120"/>
    <p:sldId id="376" r:id="rId121"/>
    <p:sldId id="377" r:id="rId122"/>
    <p:sldId id="378" r:id="rId123"/>
    <p:sldId id="379" r:id="rId124"/>
    <p:sldId id="380" r:id="rId125"/>
    <p:sldId id="381" r:id="rId126"/>
    <p:sldId id="382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6" r:id="rId151"/>
    <p:sldId id="407" r:id="rId152"/>
    <p:sldId id="408" r:id="rId153"/>
    <p:sldId id="409" r:id="rId154"/>
    <p:sldId id="410" r:id="rId155"/>
    <p:sldId id="411" r:id="rId156"/>
    <p:sldId id="412" r:id="rId157"/>
    <p:sldId id="413" r:id="rId158"/>
    <p:sldId id="414" r:id="rId159"/>
    <p:sldId id="415" r:id="rId160"/>
    <p:sldId id="416" r:id="rId161"/>
    <p:sldId id="417" r:id="rId162"/>
    <p:sldId id="418" r:id="rId163"/>
    <p:sldId id="419" r:id="rId164"/>
    <p:sldId id="420" r:id="rId165"/>
    <p:sldId id="421" r:id="rId166"/>
    <p:sldId id="422" r:id="rId167"/>
    <p:sldId id="423" r:id="rId168"/>
    <p:sldId id="424" r:id="rId169"/>
    <p:sldId id="425" r:id="rId170"/>
    <p:sldId id="426" r:id="rId171"/>
    <p:sldId id="427" r:id="rId172"/>
    <p:sldId id="428" r:id="rId17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21"/>
    <p:restoredTop sz="93515"/>
  </p:normalViewPr>
  <p:slideViewPr>
    <p:cSldViewPr>
      <p:cViewPr varScale="1">
        <p:scale>
          <a:sx n="75" d="100"/>
          <a:sy n="75" d="100"/>
        </p:scale>
        <p:origin x="1528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theme" Target="theme/theme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viewProps" Target="viewProp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A20A6-B1A3-8447-97D5-D7DF30F92A09}" type="datetimeFigureOut">
              <a:rPr kumimoji="1" lang="zh-CN" altLang="en-US" smtClean="0"/>
              <a:t>24/10/14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93C2C-3B4B-B04D-87F3-54CC02BB1EC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7548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93C2C-3B4B-B04D-87F3-54CC02BB1ECC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72938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58666" y="200913"/>
            <a:ext cx="5854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华文隶书"/>
                <a:cs typeface="华文隶书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00" b="0" i="0">
                <a:solidFill>
                  <a:schemeClr val="tx1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7217" y="1772869"/>
            <a:ext cx="2052955" cy="3651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513D1B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42245" y="1772869"/>
            <a:ext cx="2237740" cy="3651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513D1B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4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0" y="228600"/>
                </a:moveTo>
                <a:lnTo>
                  <a:pt x="533400" y="228600"/>
                </a:lnTo>
                <a:lnTo>
                  <a:pt x="5334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0" y="228600"/>
                </a:moveTo>
                <a:lnTo>
                  <a:pt x="8552688" y="228600"/>
                </a:lnTo>
                <a:lnTo>
                  <a:pt x="8552688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0852" y="344170"/>
            <a:ext cx="79022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4"/>
                </a:solidFill>
                <a:latin typeface="Tw Cen MT"/>
                <a:cs typeface="Tw Cen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3016" y="1728437"/>
            <a:ext cx="4117340" cy="44030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tx1"/>
                </a:solidFill>
                <a:latin typeface="隶书"/>
                <a:cs typeface="隶书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4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4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4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716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情景引入：进度安排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631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3152" y="1568194"/>
            <a:ext cx="8854440" cy="52395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0258" y="1834133"/>
            <a:ext cx="2447925" cy="4980940"/>
          </a:xfrm>
          <a:custGeom>
            <a:avLst/>
            <a:gdLst/>
            <a:ahLst/>
            <a:cxnLst/>
            <a:rect l="l" t="t" r="r" b="b"/>
            <a:pathLst>
              <a:path w="2447925" h="4980940">
                <a:moveTo>
                  <a:pt x="0" y="4980432"/>
                </a:moveTo>
                <a:lnTo>
                  <a:pt x="2447544" y="4980432"/>
                </a:lnTo>
                <a:lnTo>
                  <a:pt x="2447544" y="0"/>
                </a:lnTo>
                <a:lnTo>
                  <a:pt x="0" y="0"/>
                </a:lnTo>
                <a:lnTo>
                  <a:pt x="0" y="4980432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31998" y="1834133"/>
            <a:ext cx="1252855" cy="5024755"/>
          </a:xfrm>
          <a:custGeom>
            <a:avLst/>
            <a:gdLst/>
            <a:ahLst/>
            <a:cxnLst/>
            <a:rect l="l" t="t" r="r" b="b"/>
            <a:pathLst>
              <a:path w="1252854" h="5024755">
                <a:moveTo>
                  <a:pt x="0" y="5024628"/>
                </a:moveTo>
                <a:lnTo>
                  <a:pt x="1252727" y="5024628"/>
                </a:lnTo>
                <a:lnTo>
                  <a:pt x="1252727" y="0"/>
                </a:lnTo>
                <a:lnTo>
                  <a:pt x="0" y="0"/>
                </a:lnTo>
                <a:lnTo>
                  <a:pt x="0" y="502462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74970" y="1808226"/>
            <a:ext cx="3496310" cy="5024755"/>
          </a:xfrm>
          <a:custGeom>
            <a:avLst/>
            <a:gdLst/>
            <a:ahLst/>
            <a:cxnLst/>
            <a:rect l="l" t="t" r="r" b="b"/>
            <a:pathLst>
              <a:path w="3496309" h="5024755">
                <a:moveTo>
                  <a:pt x="0" y="5024628"/>
                </a:moveTo>
                <a:lnTo>
                  <a:pt x="3496055" y="5024628"/>
                </a:lnTo>
                <a:lnTo>
                  <a:pt x="3496055" y="0"/>
                </a:lnTo>
                <a:lnTo>
                  <a:pt x="0" y="0"/>
                </a:lnTo>
                <a:lnTo>
                  <a:pt x="0" y="5024628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2716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情景引入：进度安排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631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92708" y="1620010"/>
            <a:ext cx="7272528" cy="52379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47003" y="2071116"/>
            <a:ext cx="2618231" cy="21747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路线图：进度计划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7631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4611" y="2410967"/>
            <a:ext cx="8232265" cy="2670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2338" y="331165"/>
            <a:ext cx="49695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32810" algn="l"/>
              </a:tabLst>
            </a:pP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软件项目管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理</a:t>
            </a:r>
            <a:r>
              <a:rPr sz="4000" dirty="0">
                <a:solidFill>
                  <a:srgbClr val="775F54"/>
                </a:solidFill>
                <a:latin typeface="华文琥珀"/>
                <a:cs typeface="华文琥珀"/>
              </a:rPr>
              <a:t>	</a:t>
            </a:r>
            <a:r>
              <a:rPr sz="4000" spc="-10" dirty="0">
                <a:solidFill>
                  <a:srgbClr val="775F54"/>
                </a:solidFill>
                <a:latin typeface="华文琥珀"/>
                <a:cs typeface="华文琥珀"/>
              </a:rPr>
              <a:t>第</a:t>
            </a:r>
            <a:r>
              <a:rPr sz="4000" spc="-5" dirty="0">
                <a:solidFill>
                  <a:srgbClr val="775F54"/>
                </a:solidFill>
                <a:latin typeface="华文琥珀"/>
                <a:cs typeface="华文琥珀"/>
              </a:rPr>
              <a:t>二篇</a:t>
            </a:r>
            <a:endParaRPr sz="4000">
              <a:latin typeface="华文琥珀"/>
              <a:cs typeface="华文琥珀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7851" y="2556509"/>
            <a:ext cx="4906010" cy="2397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第 7</a:t>
            </a:r>
            <a:r>
              <a:rPr sz="6000" b="1" spc="10" dirty="0">
                <a:solidFill>
                  <a:srgbClr val="FF66FF"/>
                </a:solidFill>
                <a:latin typeface="华文隶书"/>
                <a:cs typeface="华文隶书"/>
              </a:rPr>
              <a:t> </a:t>
            </a:r>
            <a:r>
              <a:rPr sz="6000" b="1" spc="-10" dirty="0">
                <a:solidFill>
                  <a:srgbClr val="FF66FF"/>
                </a:solidFill>
                <a:latin typeface="华文隶书"/>
                <a:cs typeface="华文隶书"/>
              </a:rPr>
              <a:t>章</a:t>
            </a:r>
            <a:endParaRPr sz="60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49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4800" b="1" dirty="0">
                <a:solidFill>
                  <a:srgbClr val="FF66FF"/>
                </a:solidFill>
                <a:latin typeface="华文隶书"/>
                <a:cs typeface="华文隶书"/>
              </a:rPr>
              <a:t>软件项</a:t>
            </a:r>
            <a:r>
              <a:rPr sz="4800" b="1" spc="-5" dirty="0">
                <a:solidFill>
                  <a:srgbClr val="FF66FF"/>
                </a:solidFill>
                <a:latin typeface="华文隶书"/>
                <a:cs typeface="华文隶书"/>
              </a:rPr>
              <a:t>目进度计划</a:t>
            </a:r>
            <a:endParaRPr sz="48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进度计划的重要性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631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8561" y="3175952"/>
            <a:ext cx="8378825" cy="3412490"/>
          </a:xfrm>
          <a:custGeom>
            <a:avLst/>
            <a:gdLst/>
            <a:ahLst/>
            <a:cxnLst/>
            <a:rect l="l" t="t" r="r" b="b"/>
            <a:pathLst>
              <a:path w="8378825" h="3412490">
                <a:moveTo>
                  <a:pt x="0" y="3412427"/>
                </a:moveTo>
                <a:lnTo>
                  <a:pt x="8378317" y="3412427"/>
                </a:lnTo>
                <a:lnTo>
                  <a:pt x="8378317" y="0"/>
                </a:lnTo>
                <a:lnTo>
                  <a:pt x="0" y="0"/>
                </a:lnTo>
                <a:lnTo>
                  <a:pt x="0" y="34124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79923" y="3407678"/>
            <a:ext cx="4938395" cy="2717800"/>
          </a:xfrm>
          <a:custGeom>
            <a:avLst/>
            <a:gdLst/>
            <a:ahLst/>
            <a:cxnLst/>
            <a:rect l="l" t="t" r="r" b="b"/>
            <a:pathLst>
              <a:path w="4938395" h="2717800">
                <a:moveTo>
                  <a:pt x="0" y="2717298"/>
                </a:moveTo>
                <a:lnTo>
                  <a:pt x="4938321" y="2717298"/>
                </a:lnTo>
                <a:lnTo>
                  <a:pt x="4938321" y="0"/>
                </a:lnTo>
                <a:lnTo>
                  <a:pt x="0" y="0"/>
                </a:lnTo>
                <a:lnTo>
                  <a:pt x="0" y="2717298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85254" y="3411194"/>
            <a:ext cx="4928235" cy="0"/>
          </a:xfrm>
          <a:custGeom>
            <a:avLst/>
            <a:gdLst/>
            <a:ahLst/>
            <a:cxnLst/>
            <a:rect l="l" t="t" r="r" b="b"/>
            <a:pathLst>
              <a:path w="4928234">
                <a:moveTo>
                  <a:pt x="0" y="0"/>
                </a:moveTo>
                <a:lnTo>
                  <a:pt x="4927659" y="0"/>
                </a:lnTo>
              </a:path>
            </a:pathLst>
          </a:custGeom>
          <a:ln w="6989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923576" y="3411194"/>
            <a:ext cx="0" cy="2710815"/>
          </a:xfrm>
          <a:custGeom>
            <a:avLst/>
            <a:gdLst/>
            <a:ahLst/>
            <a:cxnLst/>
            <a:rect l="l" t="t" r="r" b="b"/>
            <a:pathLst>
              <a:path h="2710815">
                <a:moveTo>
                  <a:pt x="0" y="0"/>
                </a:moveTo>
                <a:lnTo>
                  <a:pt x="0" y="2710284"/>
                </a:lnTo>
              </a:path>
            </a:pathLst>
          </a:custGeom>
          <a:ln w="10769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996061" y="6128483"/>
            <a:ext cx="4927600" cy="0"/>
          </a:xfrm>
          <a:custGeom>
            <a:avLst/>
            <a:gdLst/>
            <a:ahLst/>
            <a:cxnLst/>
            <a:rect l="l" t="t" r="r" b="b"/>
            <a:pathLst>
              <a:path w="4927600">
                <a:moveTo>
                  <a:pt x="0" y="0"/>
                </a:moveTo>
                <a:lnTo>
                  <a:pt x="4927515" y="0"/>
                </a:lnTo>
              </a:path>
            </a:pathLst>
          </a:custGeom>
          <a:ln w="6989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85254" y="3418115"/>
            <a:ext cx="0" cy="2710815"/>
          </a:xfrm>
          <a:custGeom>
            <a:avLst/>
            <a:gdLst/>
            <a:ahLst/>
            <a:cxnLst/>
            <a:rect l="l" t="t" r="r" b="b"/>
            <a:pathLst>
              <a:path h="2710815">
                <a:moveTo>
                  <a:pt x="0" y="0"/>
                </a:moveTo>
                <a:lnTo>
                  <a:pt x="0" y="2710368"/>
                </a:lnTo>
              </a:path>
            </a:pathLst>
          </a:custGeom>
          <a:ln w="10769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093029" y="4562595"/>
            <a:ext cx="151130" cy="1562735"/>
          </a:xfrm>
          <a:custGeom>
            <a:avLst/>
            <a:gdLst/>
            <a:ahLst/>
            <a:cxnLst/>
            <a:rect l="l" t="t" r="r" b="b"/>
            <a:pathLst>
              <a:path w="151130" h="1562735">
                <a:moveTo>
                  <a:pt x="151129" y="1562381"/>
                </a:moveTo>
                <a:lnTo>
                  <a:pt x="151129" y="0"/>
                </a:lnTo>
                <a:lnTo>
                  <a:pt x="0" y="0"/>
                </a:lnTo>
                <a:lnTo>
                  <a:pt x="0" y="1562381"/>
                </a:lnTo>
                <a:lnTo>
                  <a:pt x="151129" y="1562381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093029" y="4562595"/>
            <a:ext cx="151130" cy="1562735"/>
          </a:xfrm>
          <a:custGeom>
            <a:avLst/>
            <a:gdLst/>
            <a:ahLst/>
            <a:cxnLst/>
            <a:rect l="l" t="t" r="r" b="b"/>
            <a:pathLst>
              <a:path w="151130" h="1562735">
                <a:moveTo>
                  <a:pt x="151129" y="1562381"/>
                </a:moveTo>
                <a:lnTo>
                  <a:pt x="151129" y="0"/>
                </a:lnTo>
                <a:lnTo>
                  <a:pt x="0" y="0"/>
                </a:lnTo>
                <a:lnTo>
                  <a:pt x="0" y="1562381"/>
                </a:lnTo>
                <a:lnTo>
                  <a:pt x="151129" y="1562381"/>
                </a:lnTo>
              </a:path>
            </a:pathLst>
          </a:custGeom>
          <a:ln w="1073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333301" y="4092193"/>
            <a:ext cx="140335" cy="2033270"/>
          </a:xfrm>
          <a:custGeom>
            <a:avLst/>
            <a:gdLst/>
            <a:ahLst/>
            <a:cxnLst/>
            <a:rect l="l" t="t" r="r" b="b"/>
            <a:pathLst>
              <a:path w="140335" h="2033270">
                <a:moveTo>
                  <a:pt x="139997" y="2032783"/>
                </a:moveTo>
                <a:lnTo>
                  <a:pt x="139997" y="0"/>
                </a:lnTo>
                <a:lnTo>
                  <a:pt x="0" y="0"/>
                </a:lnTo>
                <a:lnTo>
                  <a:pt x="0" y="2032783"/>
                </a:lnTo>
                <a:lnTo>
                  <a:pt x="139997" y="2032783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33301" y="4092193"/>
            <a:ext cx="140335" cy="2033270"/>
          </a:xfrm>
          <a:custGeom>
            <a:avLst/>
            <a:gdLst/>
            <a:ahLst/>
            <a:cxnLst/>
            <a:rect l="l" t="t" r="r" b="b"/>
            <a:pathLst>
              <a:path w="140335" h="2033270">
                <a:moveTo>
                  <a:pt x="139997" y="2032783"/>
                </a:moveTo>
                <a:lnTo>
                  <a:pt x="139997" y="0"/>
                </a:lnTo>
                <a:lnTo>
                  <a:pt x="0" y="0"/>
                </a:lnTo>
                <a:lnTo>
                  <a:pt x="0" y="2032783"/>
                </a:lnTo>
                <a:lnTo>
                  <a:pt x="139997" y="2032783"/>
                </a:lnTo>
              </a:path>
            </a:pathLst>
          </a:custGeom>
          <a:ln w="10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62334" y="3614777"/>
            <a:ext cx="151130" cy="2510790"/>
          </a:xfrm>
          <a:custGeom>
            <a:avLst/>
            <a:gdLst/>
            <a:ahLst/>
            <a:cxnLst/>
            <a:rect l="l" t="t" r="r" b="b"/>
            <a:pathLst>
              <a:path w="151129" h="2510790">
                <a:moveTo>
                  <a:pt x="150769" y="2510199"/>
                </a:moveTo>
                <a:lnTo>
                  <a:pt x="150769" y="0"/>
                </a:lnTo>
                <a:lnTo>
                  <a:pt x="0" y="0"/>
                </a:lnTo>
                <a:lnTo>
                  <a:pt x="0" y="2510199"/>
                </a:lnTo>
                <a:lnTo>
                  <a:pt x="150769" y="2510199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562334" y="3614777"/>
            <a:ext cx="151130" cy="2510790"/>
          </a:xfrm>
          <a:custGeom>
            <a:avLst/>
            <a:gdLst/>
            <a:ahLst/>
            <a:cxnLst/>
            <a:rect l="l" t="t" r="r" b="b"/>
            <a:pathLst>
              <a:path w="151129" h="2510790">
                <a:moveTo>
                  <a:pt x="150769" y="2510199"/>
                </a:moveTo>
                <a:lnTo>
                  <a:pt x="150769" y="0"/>
                </a:lnTo>
                <a:lnTo>
                  <a:pt x="0" y="0"/>
                </a:lnTo>
                <a:lnTo>
                  <a:pt x="0" y="2510199"/>
                </a:lnTo>
                <a:lnTo>
                  <a:pt x="150769" y="2510199"/>
                </a:lnTo>
              </a:path>
            </a:pathLst>
          </a:custGeom>
          <a:ln w="107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802173" y="4092193"/>
            <a:ext cx="140970" cy="2033270"/>
          </a:xfrm>
          <a:custGeom>
            <a:avLst/>
            <a:gdLst/>
            <a:ahLst/>
            <a:cxnLst/>
            <a:rect l="l" t="t" r="r" b="b"/>
            <a:pathLst>
              <a:path w="140970" h="2033270">
                <a:moveTo>
                  <a:pt x="140356" y="2032783"/>
                </a:moveTo>
                <a:lnTo>
                  <a:pt x="140356" y="0"/>
                </a:lnTo>
                <a:lnTo>
                  <a:pt x="0" y="0"/>
                </a:lnTo>
                <a:lnTo>
                  <a:pt x="0" y="2032783"/>
                </a:lnTo>
                <a:lnTo>
                  <a:pt x="140356" y="2032783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02173" y="4092193"/>
            <a:ext cx="140970" cy="2033270"/>
          </a:xfrm>
          <a:custGeom>
            <a:avLst/>
            <a:gdLst/>
            <a:ahLst/>
            <a:cxnLst/>
            <a:rect l="l" t="t" r="r" b="b"/>
            <a:pathLst>
              <a:path w="140970" h="2033270">
                <a:moveTo>
                  <a:pt x="140356" y="2032783"/>
                </a:moveTo>
                <a:lnTo>
                  <a:pt x="140356" y="0"/>
                </a:lnTo>
                <a:lnTo>
                  <a:pt x="0" y="0"/>
                </a:lnTo>
                <a:lnTo>
                  <a:pt x="0" y="2032783"/>
                </a:lnTo>
                <a:lnTo>
                  <a:pt x="140356" y="2032783"/>
                </a:lnTo>
              </a:path>
            </a:pathLst>
          </a:custGeom>
          <a:ln w="10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44173" y="4295878"/>
            <a:ext cx="140335" cy="1829435"/>
          </a:xfrm>
          <a:custGeom>
            <a:avLst/>
            <a:gdLst/>
            <a:ahLst/>
            <a:cxnLst/>
            <a:rect l="l" t="t" r="r" b="b"/>
            <a:pathLst>
              <a:path w="140335" h="1829435">
                <a:moveTo>
                  <a:pt x="139997" y="1829098"/>
                </a:moveTo>
                <a:lnTo>
                  <a:pt x="139997" y="0"/>
                </a:lnTo>
                <a:lnTo>
                  <a:pt x="0" y="0"/>
                </a:lnTo>
                <a:lnTo>
                  <a:pt x="0" y="1829098"/>
                </a:lnTo>
                <a:lnTo>
                  <a:pt x="139997" y="1829098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244173" y="4295878"/>
            <a:ext cx="140335" cy="1829435"/>
          </a:xfrm>
          <a:custGeom>
            <a:avLst/>
            <a:gdLst/>
            <a:ahLst/>
            <a:cxnLst/>
            <a:rect l="l" t="t" r="r" b="b"/>
            <a:pathLst>
              <a:path w="140335" h="1829435">
                <a:moveTo>
                  <a:pt x="139997" y="1829098"/>
                </a:moveTo>
                <a:lnTo>
                  <a:pt x="139997" y="0"/>
                </a:lnTo>
                <a:lnTo>
                  <a:pt x="0" y="0"/>
                </a:lnTo>
                <a:lnTo>
                  <a:pt x="0" y="1829098"/>
                </a:lnTo>
                <a:lnTo>
                  <a:pt x="139997" y="1829098"/>
                </a:lnTo>
              </a:path>
            </a:pathLst>
          </a:custGeom>
          <a:ln w="10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473206" y="3748228"/>
            <a:ext cx="151130" cy="2376805"/>
          </a:xfrm>
          <a:custGeom>
            <a:avLst/>
            <a:gdLst/>
            <a:ahLst/>
            <a:cxnLst/>
            <a:rect l="l" t="t" r="r" b="b"/>
            <a:pathLst>
              <a:path w="151129" h="2376804">
                <a:moveTo>
                  <a:pt x="151129" y="2376747"/>
                </a:moveTo>
                <a:lnTo>
                  <a:pt x="151129" y="0"/>
                </a:lnTo>
                <a:lnTo>
                  <a:pt x="0" y="0"/>
                </a:lnTo>
                <a:lnTo>
                  <a:pt x="0" y="2376747"/>
                </a:lnTo>
                <a:lnTo>
                  <a:pt x="151129" y="2376747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473206" y="3748228"/>
            <a:ext cx="151130" cy="2376805"/>
          </a:xfrm>
          <a:custGeom>
            <a:avLst/>
            <a:gdLst/>
            <a:ahLst/>
            <a:cxnLst/>
            <a:rect l="l" t="t" r="r" b="b"/>
            <a:pathLst>
              <a:path w="151129" h="2376804">
                <a:moveTo>
                  <a:pt x="151129" y="2376747"/>
                </a:moveTo>
                <a:lnTo>
                  <a:pt x="151129" y="0"/>
                </a:lnTo>
                <a:lnTo>
                  <a:pt x="0" y="0"/>
                </a:lnTo>
                <a:lnTo>
                  <a:pt x="0" y="2376747"/>
                </a:lnTo>
                <a:lnTo>
                  <a:pt x="151129" y="2376747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713045" y="4499563"/>
            <a:ext cx="140970" cy="1625600"/>
          </a:xfrm>
          <a:custGeom>
            <a:avLst/>
            <a:gdLst/>
            <a:ahLst/>
            <a:cxnLst/>
            <a:rect l="l" t="t" r="r" b="b"/>
            <a:pathLst>
              <a:path w="140970" h="1625600">
                <a:moveTo>
                  <a:pt x="140356" y="1625413"/>
                </a:moveTo>
                <a:lnTo>
                  <a:pt x="140356" y="0"/>
                </a:lnTo>
                <a:lnTo>
                  <a:pt x="0" y="0"/>
                </a:lnTo>
                <a:lnTo>
                  <a:pt x="0" y="1625413"/>
                </a:lnTo>
                <a:lnTo>
                  <a:pt x="140356" y="1625413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713045" y="4499563"/>
            <a:ext cx="140970" cy="1625600"/>
          </a:xfrm>
          <a:custGeom>
            <a:avLst/>
            <a:gdLst/>
            <a:ahLst/>
            <a:cxnLst/>
            <a:rect l="l" t="t" r="r" b="b"/>
            <a:pathLst>
              <a:path w="140970" h="1625600">
                <a:moveTo>
                  <a:pt x="140356" y="1625413"/>
                </a:moveTo>
                <a:lnTo>
                  <a:pt x="140356" y="0"/>
                </a:lnTo>
                <a:lnTo>
                  <a:pt x="0" y="0"/>
                </a:lnTo>
                <a:lnTo>
                  <a:pt x="0" y="1625413"/>
                </a:lnTo>
                <a:lnTo>
                  <a:pt x="140356" y="1625413"/>
                </a:lnTo>
              </a:path>
            </a:pathLst>
          </a:custGeom>
          <a:ln w="1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942510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29" h="1014729">
                <a:moveTo>
                  <a:pt x="150769" y="1014638"/>
                </a:moveTo>
                <a:lnTo>
                  <a:pt x="150769" y="0"/>
                </a:lnTo>
                <a:lnTo>
                  <a:pt x="0" y="0"/>
                </a:lnTo>
                <a:lnTo>
                  <a:pt x="0" y="1014638"/>
                </a:lnTo>
                <a:lnTo>
                  <a:pt x="150769" y="1014638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42511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29" h="1014729">
                <a:moveTo>
                  <a:pt x="150769" y="1014638"/>
                </a:moveTo>
                <a:lnTo>
                  <a:pt x="150769" y="0"/>
                </a:lnTo>
                <a:lnTo>
                  <a:pt x="0" y="0"/>
                </a:lnTo>
                <a:lnTo>
                  <a:pt x="0" y="1014638"/>
                </a:lnTo>
                <a:lnTo>
                  <a:pt x="150769" y="1014638"/>
                </a:lnTo>
              </a:path>
            </a:pathLst>
          </a:custGeom>
          <a:ln w="106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84078" y="4703248"/>
            <a:ext cx="151130" cy="1421765"/>
          </a:xfrm>
          <a:custGeom>
            <a:avLst/>
            <a:gdLst/>
            <a:ahLst/>
            <a:cxnLst/>
            <a:rect l="l" t="t" r="r" b="b"/>
            <a:pathLst>
              <a:path w="151130" h="1421764">
                <a:moveTo>
                  <a:pt x="151129" y="1421728"/>
                </a:moveTo>
                <a:lnTo>
                  <a:pt x="151129" y="0"/>
                </a:lnTo>
                <a:lnTo>
                  <a:pt x="0" y="0"/>
                </a:lnTo>
                <a:lnTo>
                  <a:pt x="0" y="1421728"/>
                </a:lnTo>
                <a:lnTo>
                  <a:pt x="151129" y="1421728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384078" y="4703248"/>
            <a:ext cx="151130" cy="1421765"/>
          </a:xfrm>
          <a:custGeom>
            <a:avLst/>
            <a:gdLst/>
            <a:ahLst/>
            <a:cxnLst/>
            <a:rect l="l" t="t" r="r" b="b"/>
            <a:pathLst>
              <a:path w="151130" h="1421764">
                <a:moveTo>
                  <a:pt x="151129" y="1421728"/>
                </a:moveTo>
                <a:lnTo>
                  <a:pt x="151129" y="0"/>
                </a:lnTo>
                <a:lnTo>
                  <a:pt x="0" y="0"/>
                </a:lnTo>
                <a:lnTo>
                  <a:pt x="0" y="1421728"/>
                </a:lnTo>
                <a:lnTo>
                  <a:pt x="151129" y="1421728"/>
                </a:lnTo>
              </a:path>
            </a:pathLst>
          </a:custGeom>
          <a:ln w="107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624350" y="4499563"/>
            <a:ext cx="140335" cy="1625600"/>
          </a:xfrm>
          <a:custGeom>
            <a:avLst/>
            <a:gdLst/>
            <a:ahLst/>
            <a:cxnLst/>
            <a:rect l="l" t="t" r="r" b="b"/>
            <a:pathLst>
              <a:path w="140335" h="1625600">
                <a:moveTo>
                  <a:pt x="139997" y="1625413"/>
                </a:moveTo>
                <a:lnTo>
                  <a:pt x="139997" y="0"/>
                </a:lnTo>
                <a:lnTo>
                  <a:pt x="0" y="0"/>
                </a:lnTo>
                <a:lnTo>
                  <a:pt x="0" y="1625413"/>
                </a:lnTo>
                <a:lnTo>
                  <a:pt x="139997" y="1625413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624350" y="4499563"/>
            <a:ext cx="140335" cy="1625600"/>
          </a:xfrm>
          <a:custGeom>
            <a:avLst/>
            <a:gdLst/>
            <a:ahLst/>
            <a:cxnLst/>
            <a:rect l="l" t="t" r="r" b="b"/>
            <a:pathLst>
              <a:path w="140335" h="1625600">
                <a:moveTo>
                  <a:pt x="139997" y="1625413"/>
                </a:moveTo>
                <a:lnTo>
                  <a:pt x="139997" y="0"/>
                </a:lnTo>
                <a:lnTo>
                  <a:pt x="0" y="0"/>
                </a:lnTo>
                <a:lnTo>
                  <a:pt x="0" y="1625413"/>
                </a:lnTo>
                <a:lnTo>
                  <a:pt x="139997" y="1625413"/>
                </a:lnTo>
              </a:path>
            </a:pathLst>
          </a:custGeom>
          <a:ln w="1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853527" y="4429237"/>
            <a:ext cx="151130" cy="1696085"/>
          </a:xfrm>
          <a:custGeom>
            <a:avLst/>
            <a:gdLst/>
            <a:ahLst/>
            <a:cxnLst/>
            <a:rect l="l" t="t" r="r" b="b"/>
            <a:pathLst>
              <a:path w="151129" h="1696085">
                <a:moveTo>
                  <a:pt x="151129" y="1695739"/>
                </a:moveTo>
                <a:lnTo>
                  <a:pt x="151129" y="0"/>
                </a:lnTo>
                <a:lnTo>
                  <a:pt x="0" y="0"/>
                </a:lnTo>
                <a:lnTo>
                  <a:pt x="0" y="1695739"/>
                </a:lnTo>
                <a:lnTo>
                  <a:pt x="151129" y="1695739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853527" y="4429237"/>
            <a:ext cx="151130" cy="1696085"/>
          </a:xfrm>
          <a:custGeom>
            <a:avLst/>
            <a:gdLst/>
            <a:ahLst/>
            <a:cxnLst/>
            <a:rect l="l" t="t" r="r" b="b"/>
            <a:pathLst>
              <a:path w="151129" h="1696085">
                <a:moveTo>
                  <a:pt x="151129" y="1695739"/>
                </a:moveTo>
                <a:lnTo>
                  <a:pt x="151129" y="0"/>
                </a:lnTo>
                <a:lnTo>
                  <a:pt x="0" y="0"/>
                </a:lnTo>
                <a:lnTo>
                  <a:pt x="0" y="1695739"/>
                </a:lnTo>
                <a:lnTo>
                  <a:pt x="151129" y="1695739"/>
                </a:lnTo>
              </a:path>
            </a:pathLst>
          </a:custGeom>
          <a:ln w="107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93366" y="5040292"/>
            <a:ext cx="140970" cy="1085215"/>
          </a:xfrm>
          <a:custGeom>
            <a:avLst/>
            <a:gdLst/>
            <a:ahLst/>
            <a:cxnLst/>
            <a:rect l="l" t="t" r="r" b="b"/>
            <a:pathLst>
              <a:path w="140970" h="1085214">
                <a:moveTo>
                  <a:pt x="140356" y="1084684"/>
                </a:moveTo>
                <a:lnTo>
                  <a:pt x="140356" y="0"/>
                </a:lnTo>
                <a:lnTo>
                  <a:pt x="0" y="0"/>
                </a:lnTo>
                <a:lnTo>
                  <a:pt x="0" y="1084684"/>
                </a:lnTo>
                <a:lnTo>
                  <a:pt x="140356" y="1084684"/>
                </a:lnTo>
                <a:close/>
              </a:path>
            </a:pathLst>
          </a:custGeom>
          <a:solidFill>
            <a:srgbClr val="FFFF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93366" y="5040292"/>
            <a:ext cx="140970" cy="1085215"/>
          </a:xfrm>
          <a:custGeom>
            <a:avLst/>
            <a:gdLst/>
            <a:ahLst/>
            <a:cxnLst/>
            <a:rect l="l" t="t" r="r" b="b"/>
            <a:pathLst>
              <a:path w="140970" h="1085214">
                <a:moveTo>
                  <a:pt x="140356" y="1084684"/>
                </a:moveTo>
                <a:lnTo>
                  <a:pt x="140356" y="0"/>
                </a:lnTo>
                <a:lnTo>
                  <a:pt x="0" y="0"/>
                </a:lnTo>
                <a:lnTo>
                  <a:pt x="0" y="1084684"/>
                </a:lnTo>
                <a:lnTo>
                  <a:pt x="140356" y="1084684"/>
                </a:lnTo>
              </a:path>
            </a:pathLst>
          </a:custGeom>
          <a:ln w="10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535221" y="4906653"/>
            <a:ext cx="140335" cy="1218565"/>
          </a:xfrm>
          <a:custGeom>
            <a:avLst/>
            <a:gdLst/>
            <a:ahLst/>
            <a:cxnLst/>
            <a:rect l="l" t="t" r="r" b="b"/>
            <a:pathLst>
              <a:path w="140335" h="1218564">
                <a:moveTo>
                  <a:pt x="139997" y="1218323"/>
                </a:moveTo>
                <a:lnTo>
                  <a:pt x="139997" y="0"/>
                </a:lnTo>
                <a:lnTo>
                  <a:pt x="0" y="0"/>
                </a:lnTo>
                <a:lnTo>
                  <a:pt x="0" y="1218323"/>
                </a:lnTo>
                <a:lnTo>
                  <a:pt x="139997" y="1218323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535221" y="4906653"/>
            <a:ext cx="140335" cy="1218565"/>
          </a:xfrm>
          <a:custGeom>
            <a:avLst/>
            <a:gdLst/>
            <a:ahLst/>
            <a:cxnLst/>
            <a:rect l="l" t="t" r="r" b="b"/>
            <a:pathLst>
              <a:path w="140335" h="1218564">
                <a:moveTo>
                  <a:pt x="139997" y="1218323"/>
                </a:moveTo>
                <a:lnTo>
                  <a:pt x="139997" y="0"/>
                </a:lnTo>
                <a:lnTo>
                  <a:pt x="0" y="0"/>
                </a:lnTo>
                <a:lnTo>
                  <a:pt x="0" y="1218323"/>
                </a:lnTo>
                <a:lnTo>
                  <a:pt x="139997" y="1218323"/>
                </a:lnTo>
              </a:path>
            </a:pathLst>
          </a:custGeom>
          <a:ln w="107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764399" y="4359190"/>
            <a:ext cx="151130" cy="1765935"/>
          </a:xfrm>
          <a:custGeom>
            <a:avLst/>
            <a:gdLst/>
            <a:ahLst/>
            <a:cxnLst/>
            <a:rect l="l" t="t" r="r" b="b"/>
            <a:pathLst>
              <a:path w="151129" h="1765935">
                <a:moveTo>
                  <a:pt x="151129" y="1765785"/>
                </a:moveTo>
                <a:lnTo>
                  <a:pt x="151129" y="0"/>
                </a:lnTo>
                <a:lnTo>
                  <a:pt x="0" y="0"/>
                </a:lnTo>
                <a:lnTo>
                  <a:pt x="0" y="1765785"/>
                </a:lnTo>
                <a:lnTo>
                  <a:pt x="151129" y="1765785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764399" y="4359190"/>
            <a:ext cx="151130" cy="1765935"/>
          </a:xfrm>
          <a:custGeom>
            <a:avLst/>
            <a:gdLst/>
            <a:ahLst/>
            <a:cxnLst/>
            <a:rect l="l" t="t" r="r" b="b"/>
            <a:pathLst>
              <a:path w="151129" h="1765935">
                <a:moveTo>
                  <a:pt x="151129" y="1765785"/>
                </a:moveTo>
                <a:lnTo>
                  <a:pt x="151129" y="0"/>
                </a:lnTo>
                <a:lnTo>
                  <a:pt x="0" y="0"/>
                </a:lnTo>
                <a:lnTo>
                  <a:pt x="0" y="1765785"/>
                </a:lnTo>
                <a:lnTo>
                  <a:pt x="151129" y="1765785"/>
                </a:lnTo>
              </a:path>
            </a:pathLst>
          </a:custGeom>
          <a:ln w="1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004526" y="3951820"/>
            <a:ext cx="140335" cy="2173605"/>
          </a:xfrm>
          <a:custGeom>
            <a:avLst/>
            <a:gdLst/>
            <a:ahLst/>
            <a:cxnLst/>
            <a:rect l="l" t="t" r="r" b="b"/>
            <a:pathLst>
              <a:path w="140335" h="2173604">
                <a:moveTo>
                  <a:pt x="139997" y="2173156"/>
                </a:moveTo>
                <a:lnTo>
                  <a:pt x="139997" y="0"/>
                </a:lnTo>
                <a:lnTo>
                  <a:pt x="0" y="0"/>
                </a:lnTo>
                <a:lnTo>
                  <a:pt x="0" y="2173156"/>
                </a:lnTo>
                <a:lnTo>
                  <a:pt x="139997" y="2173156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04527" y="3951820"/>
            <a:ext cx="140335" cy="2173605"/>
          </a:xfrm>
          <a:custGeom>
            <a:avLst/>
            <a:gdLst/>
            <a:ahLst/>
            <a:cxnLst/>
            <a:rect l="l" t="t" r="r" b="b"/>
            <a:pathLst>
              <a:path w="140335" h="2173604">
                <a:moveTo>
                  <a:pt x="139997" y="2173156"/>
                </a:moveTo>
                <a:lnTo>
                  <a:pt x="139997" y="0"/>
                </a:lnTo>
                <a:lnTo>
                  <a:pt x="0" y="0"/>
                </a:lnTo>
                <a:lnTo>
                  <a:pt x="0" y="2173156"/>
                </a:lnTo>
                <a:lnTo>
                  <a:pt x="139997" y="2173156"/>
                </a:lnTo>
              </a:path>
            </a:pathLst>
          </a:custGeom>
          <a:ln w="107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233703" y="5314033"/>
            <a:ext cx="151130" cy="811530"/>
          </a:xfrm>
          <a:custGeom>
            <a:avLst/>
            <a:gdLst/>
            <a:ahLst/>
            <a:cxnLst/>
            <a:rect l="l" t="t" r="r" b="b"/>
            <a:pathLst>
              <a:path w="151129" h="811529">
                <a:moveTo>
                  <a:pt x="150769" y="810943"/>
                </a:moveTo>
                <a:lnTo>
                  <a:pt x="150769" y="0"/>
                </a:lnTo>
                <a:lnTo>
                  <a:pt x="0" y="0"/>
                </a:lnTo>
                <a:lnTo>
                  <a:pt x="0" y="810943"/>
                </a:lnTo>
                <a:lnTo>
                  <a:pt x="150769" y="810943"/>
                </a:lnTo>
                <a:close/>
              </a:path>
            </a:pathLst>
          </a:custGeom>
          <a:solidFill>
            <a:srgbClr val="CC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33703" y="5314033"/>
            <a:ext cx="151130" cy="811530"/>
          </a:xfrm>
          <a:custGeom>
            <a:avLst/>
            <a:gdLst/>
            <a:ahLst/>
            <a:cxnLst/>
            <a:rect l="l" t="t" r="r" b="b"/>
            <a:pathLst>
              <a:path w="151129" h="811529">
                <a:moveTo>
                  <a:pt x="150769" y="810943"/>
                </a:moveTo>
                <a:lnTo>
                  <a:pt x="150769" y="0"/>
                </a:lnTo>
                <a:lnTo>
                  <a:pt x="0" y="0"/>
                </a:lnTo>
                <a:lnTo>
                  <a:pt x="0" y="810943"/>
                </a:lnTo>
                <a:lnTo>
                  <a:pt x="150769" y="810943"/>
                </a:lnTo>
              </a:path>
            </a:pathLst>
          </a:custGeom>
          <a:ln w="106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675271" y="4359190"/>
            <a:ext cx="151130" cy="1765935"/>
          </a:xfrm>
          <a:custGeom>
            <a:avLst/>
            <a:gdLst/>
            <a:ahLst/>
            <a:cxnLst/>
            <a:rect l="l" t="t" r="r" b="b"/>
            <a:pathLst>
              <a:path w="151130" h="1765935">
                <a:moveTo>
                  <a:pt x="151129" y="1765785"/>
                </a:moveTo>
                <a:lnTo>
                  <a:pt x="151129" y="0"/>
                </a:lnTo>
                <a:lnTo>
                  <a:pt x="0" y="0"/>
                </a:lnTo>
                <a:lnTo>
                  <a:pt x="0" y="1765785"/>
                </a:lnTo>
                <a:lnTo>
                  <a:pt x="151129" y="1765785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675271" y="4359190"/>
            <a:ext cx="151130" cy="1765935"/>
          </a:xfrm>
          <a:custGeom>
            <a:avLst/>
            <a:gdLst/>
            <a:ahLst/>
            <a:cxnLst/>
            <a:rect l="l" t="t" r="r" b="b"/>
            <a:pathLst>
              <a:path w="151130" h="1765935">
                <a:moveTo>
                  <a:pt x="151129" y="1765785"/>
                </a:moveTo>
                <a:lnTo>
                  <a:pt x="151129" y="0"/>
                </a:lnTo>
                <a:lnTo>
                  <a:pt x="0" y="0"/>
                </a:lnTo>
                <a:lnTo>
                  <a:pt x="0" y="1765785"/>
                </a:lnTo>
                <a:lnTo>
                  <a:pt x="151129" y="1765785"/>
                </a:lnTo>
              </a:path>
            </a:pathLst>
          </a:custGeom>
          <a:ln w="107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915542" y="4295878"/>
            <a:ext cx="140335" cy="1829435"/>
          </a:xfrm>
          <a:custGeom>
            <a:avLst/>
            <a:gdLst/>
            <a:ahLst/>
            <a:cxnLst/>
            <a:rect l="l" t="t" r="r" b="b"/>
            <a:pathLst>
              <a:path w="140335" h="1829435">
                <a:moveTo>
                  <a:pt x="139997" y="1829098"/>
                </a:moveTo>
                <a:lnTo>
                  <a:pt x="139997" y="0"/>
                </a:lnTo>
                <a:lnTo>
                  <a:pt x="0" y="0"/>
                </a:lnTo>
                <a:lnTo>
                  <a:pt x="0" y="1829098"/>
                </a:lnTo>
                <a:lnTo>
                  <a:pt x="139997" y="1829098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915543" y="4295878"/>
            <a:ext cx="140335" cy="1829435"/>
          </a:xfrm>
          <a:custGeom>
            <a:avLst/>
            <a:gdLst/>
            <a:ahLst/>
            <a:cxnLst/>
            <a:rect l="l" t="t" r="r" b="b"/>
            <a:pathLst>
              <a:path w="140335" h="1829435">
                <a:moveTo>
                  <a:pt x="139997" y="1829098"/>
                </a:moveTo>
                <a:lnTo>
                  <a:pt x="139997" y="0"/>
                </a:lnTo>
                <a:lnTo>
                  <a:pt x="0" y="0"/>
                </a:lnTo>
                <a:lnTo>
                  <a:pt x="0" y="1829098"/>
                </a:lnTo>
                <a:lnTo>
                  <a:pt x="139997" y="1829098"/>
                </a:lnTo>
              </a:path>
            </a:pathLst>
          </a:custGeom>
          <a:ln w="107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44575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29" h="1014729">
                <a:moveTo>
                  <a:pt x="151129" y="1014638"/>
                </a:moveTo>
                <a:lnTo>
                  <a:pt x="151129" y="0"/>
                </a:lnTo>
                <a:lnTo>
                  <a:pt x="0" y="0"/>
                </a:lnTo>
                <a:lnTo>
                  <a:pt x="0" y="1014638"/>
                </a:lnTo>
                <a:lnTo>
                  <a:pt x="151129" y="1014638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144576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29" h="1014729">
                <a:moveTo>
                  <a:pt x="151129" y="1014638"/>
                </a:moveTo>
                <a:lnTo>
                  <a:pt x="151129" y="0"/>
                </a:lnTo>
                <a:lnTo>
                  <a:pt x="0" y="0"/>
                </a:lnTo>
                <a:lnTo>
                  <a:pt x="0" y="1014638"/>
                </a:lnTo>
                <a:lnTo>
                  <a:pt x="151129" y="1014638"/>
                </a:lnTo>
              </a:path>
            </a:pathLst>
          </a:custGeom>
          <a:ln w="106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6384415" y="5587773"/>
            <a:ext cx="140970" cy="537210"/>
          </a:xfrm>
          <a:custGeom>
            <a:avLst/>
            <a:gdLst/>
            <a:ahLst/>
            <a:cxnLst/>
            <a:rect l="l" t="t" r="r" b="b"/>
            <a:pathLst>
              <a:path w="140970" h="537210">
                <a:moveTo>
                  <a:pt x="140356" y="537203"/>
                </a:moveTo>
                <a:lnTo>
                  <a:pt x="140356" y="0"/>
                </a:lnTo>
                <a:lnTo>
                  <a:pt x="0" y="0"/>
                </a:lnTo>
                <a:lnTo>
                  <a:pt x="0" y="537203"/>
                </a:lnTo>
                <a:lnTo>
                  <a:pt x="140356" y="537203"/>
                </a:lnTo>
                <a:close/>
              </a:path>
            </a:pathLst>
          </a:custGeom>
          <a:solidFill>
            <a:srgbClr val="6600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384415" y="5587773"/>
            <a:ext cx="140970" cy="537210"/>
          </a:xfrm>
          <a:custGeom>
            <a:avLst/>
            <a:gdLst/>
            <a:ahLst/>
            <a:cxnLst/>
            <a:rect l="l" t="t" r="r" b="b"/>
            <a:pathLst>
              <a:path w="140970" h="537210">
                <a:moveTo>
                  <a:pt x="140356" y="537203"/>
                </a:moveTo>
                <a:lnTo>
                  <a:pt x="140356" y="0"/>
                </a:lnTo>
                <a:lnTo>
                  <a:pt x="0" y="0"/>
                </a:lnTo>
                <a:lnTo>
                  <a:pt x="0" y="537203"/>
                </a:lnTo>
                <a:lnTo>
                  <a:pt x="140356" y="537203"/>
                </a:lnTo>
              </a:path>
            </a:pathLst>
          </a:custGeom>
          <a:ln w="1052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826414" y="4773294"/>
            <a:ext cx="140335" cy="1351915"/>
          </a:xfrm>
          <a:custGeom>
            <a:avLst/>
            <a:gdLst/>
            <a:ahLst/>
            <a:cxnLst/>
            <a:rect l="l" t="t" r="r" b="b"/>
            <a:pathLst>
              <a:path w="140335" h="1351914">
                <a:moveTo>
                  <a:pt x="139997" y="1351682"/>
                </a:moveTo>
                <a:lnTo>
                  <a:pt x="139997" y="0"/>
                </a:lnTo>
                <a:lnTo>
                  <a:pt x="0" y="0"/>
                </a:lnTo>
                <a:lnTo>
                  <a:pt x="0" y="1351682"/>
                </a:lnTo>
                <a:lnTo>
                  <a:pt x="139997" y="1351682"/>
                </a:lnTo>
                <a:close/>
              </a:path>
            </a:pathLst>
          </a:custGeom>
          <a:solidFill>
            <a:srgbClr val="FF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26415" y="4773294"/>
            <a:ext cx="140335" cy="1351915"/>
          </a:xfrm>
          <a:custGeom>
            <a:avLst/>
            <a:gdLst/>
            <a:ahLst/>
            <a:cxnLst/>
            <a:rect l="l" t="t" r="r" b="b"/>
            <a:pathLst>
              <a:path w="140335" h="1351914">
                <a:moveTo>
                  <a:pt x="139997" y="1351682"/>
                </a:moveTo>
                <a:lnTo>
                  <a:pt x="139997" y="0"/>
                </a:lnTo>
                <a:lnTo>
                  <a:pt x="0" y="0"/>
                </a:lnTo>
                <a:lnTo>
                  <a:pt x="0" y="1351682"/>
                </a:lnTo>
                <a:lnTo>
                  <a:pt x="139997" y="1351682"/>
                </a:lnTo>
              </a:path>
            </a:pathLst>
          </a:custGeom>
          <a:ln w="107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55448" y="5243725"/>
            <a:ext cx="151130" cy="881380"/>
          </a:xfrm>
          <a:custGeom>
            <a:avLst/>
            <a:gdLst/>
            <a:ahLst/>
            <a:cxnLst/>
            <a:rect l="l" t="t" r="r" b="b"/>
            <a:pathLst>
              <a:path w="151129" h="881379">
                <a:moveTo>
                  <a:pt x="151129" y="881251"/>
                </a:moveTo>
                <a:lnTo>
                  <a:pt x="151129" y="0"/>
                </a:lnTo>
                <a:lnTo>
                  <a:pt x="0" y="0"/>
                </a:lnTo>
                <a:lnTo>
                  <a:pt x="0" y="881251"/>
                </a:lnTo>
                <a:lnTo>
                  <a:pt x="151129" y="881251"/>
                </a:lnTo>
                <a:close/>
              </a:path>
            </a:pathLst>
          </a:custGeom>
          <a:solidFill>
            <a:srgbClr val="FF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055448" y="5243725"/>
            <a:ext cx="151130" cy="881380"/>
          </a:xfrm>
          <a:custGeom>
            <a:avLst/>
            <a:gdLst/>
            <a:ahLst/>
            <a:cxnLst/>
            <a:rect l="l" t="t" r="r" b="b"/>
            <a:pathLst>
              <a:path w="151129" h="881379">
                <a:moveTo>
                  <a:pt x="151129" y="881251"/>
                </a:moveTo>
                <a:lnTo>
                  <a:pt x="151129" y="0"/>
                </a:lnTo>
                <a:lnTo>
                  <a:pt x="0" y="0"/>
                </a:lnTo>
                <a:lnTo>
                  <a:pt x="0" y="881251"/>
                </a:lnTo>
                <a:lnTo>
                  <a:pt x="151129" y="881251"/>
                </a:lnTo>
              </a:path>
            </a:pathLst>
          </a:custGeom>
          <a:ln w="10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295719" y="5110338"/>
            <a:ext cx="140335" cy="1014730"/>
          </a:xfrm>
          <a:custGeom>
            <a:avLst/>
            <a:gdLst/>
            <a:ahLst/>
            <a:cxnLst/>
            <a:rect l="l" t="t" r="r" b="b"/>
            <a:pathLst>
              <a:path w="140335" h="1014729">
                <a:moveTo>
                  <a:pt x="139997" y="1014638"/>
                </a:moveTo>
                <a:lnTo>
                  <a:pt x="139997" y="0"/>
                </a:lnTo>
                <a:lnTo>
                  <a:pt x="0" y="0"/>
                </a:lnTo>
                <a:lnTo>
                  <a:pt x="0" y="1014638"/>
                </a:lnTo>
                <a:lnTo>
                  <a:pt x="139997" y="1014638"/>
                </a:lnTo>
                <a:close/>
              </a:path>
            </a:pathLst>
          </a:custGeom>
          <a:solidFill>
            <a:srgbClr val="FF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295719" y="5110338"/>
            <a:ext cx="140335" cy="1014730"/>
          </a:xfrm>
          <a:custGeom>
            <a:avLst/>
            <a:gdLst/>
            <a:ahLst/>
            <a:cxnLst/>
            <a:rect l="l" t="t" r="r" b="b"/>
            <a:pathLst>
              <a:path w="140335" h="1014729">
                <a:moveTo>
                  <a:pt x="139997" y="1014638"/>
                </a:moveTo>
                <a:lnTo>
                  <a:pt x="139997" y="0"/>
                </a:lnTo>
                <a:lnTo>
                  <a:pt x="0" y="0"/>
                </a:lnTo>
                <a:lnTo>
                  <a:pt x="0" y="1014638"/>
                </a:lnTo>
                <a:lnTo>
                  <a:pt x="139997" y="1014638"/>
                </a:lnTo>
              </a:path>
            </a:pathLst>
          </a:custGeom>
          <a:ln w="106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524752" y="5243725"/>
            <a:ext cx="151130" cy="881380"/>
          </a:xfrm>
          <a:custGeom>
            <a:avLst/>
            <a:gdLst/>
            <a:ahLst/>
            <a:cxnLst/>
            <a:rect l="l" t="t" r="r" b="b"/>
            <a:pathLst>
              <a:path w="151129" h="881379">
                <a:moveTo>
                  <a:pt x="150769" y="881251"/>
                </a:moveTo>
                <a:lnTo>
                  <a:pt x="150769" y="0"/>
                </a:lnTo>
                <a:lnTo>
                  <a:pt x="0" y="0"/>
                </a:lnTo>
                <a:lnTo>
                  <a:pt x="0" y="881251"/>
                </a:lnTo>
                <a:lnTo>
                  <a:pt x="150769" y="881251"/>
                </a:lnTo>
                <a:close/>
              </a:path>
            </a:pathLst>
          </a:custGeom>
          <a:solidFill>
            <a:srgbClr val="FF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524752" y="5243725"/>
            <a:ext cx="151130" cy="881380"/>
          </a:xfrm>
          <a:custGeom>
            <a:avLst/>
            <a:gdLst/>
            <a:ahLst/>
            <a:cxnLst/>
            <a:rect l="l" t="t" r="r" b="b"/>
            <a:pathLst>
              <a:path w="151129" h="881379">
                <a:moveTo>
                  <a:pt x="150769" y="881251"/>
                </a:moveTo>
                <a:lnTo>
                  <a:pt x="150769" y="0"/>
                </a:lnTo>
                <a:lnTo>
                  <a:pt x="0" y="0"/>
                </a:lnTo>
                <a:lnTo>
                  <a:pt x="0" y="881251"/>
                </a:lnTo>
                <a:lnTo>
                  <a:pt x="150769" y="881251"/>
                </a:lnTo>
              </a:path>
            </a:pathLst>
          </a:custGeom>
          <a:ln w="1066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966320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30" h="1014729">
                <a:moveTo>
                  <a:pt x="151129" y="1014638"/>
                </a:moveTo>
                <a:lnTo>
                  <a:pt x="151129" y="0"/>
                </a:lnTo>
                <a:lnTo>
                  <a:pt x="0" y="0"/>
                </a:lnTo>
                <a:lnTo>
                  <a:pt x="0" y="1014638"/>
                </a:lnTo>
                <a:lnTo>
                  <a:pt x="151129" y="1014638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966320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30" h="1014729">
                <a:moveTo>
                  <a:pt x="151129" y="1014638"/>
                </a:moveTo>
                <a:lnTo>
                  <a:pt x="151129" y="0"/>
                </a:lnTo>
                <a:lnTo>
                  <a:pt x="0" y="0"/>
                </a:lnTo>
                <a:lnTo>
                  <a:pt x="0" y="1014638"/>
                </a:lnTo>
                <a:lnTo>
                  <a:pt x="151129" y="1014638"/>
                </a:lnTo>
              </a:path>
            </a:pathLst>
          </a:custGeom>
          <a:ln w="106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206591" y="4836607"/>
            <a:ext cx="140335" cy="1288415"/>
          </a:xfrm>
          <a:custGeom>
            <a:avLst/>
            <a:gdLst/>
            <a:ahLst/>
            <a:cxnLst/>
            <a:rect l="l" t="t" r="r" b="b"/>
            <a:pathLst>
              <a:path w="140335" h="1288414">
                <a:moveTo>
                  <a:pt x="139997" y="1288369"/>
                </a:moveTo>
                <a:lnTo>
                  <a:pt x="139997" y="0"/>
                </a:lnTo>
                <a:lnTo>
                  <a:pt x="0" y="0"/>
                </a:lnTo>
                <a:lnTo>
                  <a:pt x="0" y="1288369"/>
                </a:lnTo>
                <a:lnTo>
                  <a:pt x="139997" y="1288369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206592" y="4836607"/>
            <a:ext cx="140335" cy="1288415"/>
          </a:xfrm>
          <a:custGeom>
            <a:avLst/>
            <a:gdLst/>
            <a:ahLst/>
            <a:cxnLst/>
            <a:rect l="l" t="t" r="r" b="b"/>
            <a:pathLst>
              <a:path w="140335" h="1288414">
                <a:moveTo>
                  <a:pt x="139997" y="1288369"/>
                </a:moveTo>
                <a:lnTo>
                  <a:pt x="139997" y="0"/>
                </a:lnTo>
                <a:lnTo>
                  <a:pt x="0" y="0"/>
                </a:lnTo>
                <a:lnTo>
                  <a:pt x="0" y="1288369"/>
                </a:lnTo>
                <a:lnTo>
                  <a:pt x="139997" y="1288369"/>
                </a:lnTo>
              </a:path>
            </a:pathLst>
          </a:custGeom>
          <a:ln w="107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435768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29" h="1014729">
                <a:moveTo>
                  <a:pt x="151129" y="1014638"/>
                </a:moveTo>
                <a:lnTo>
                  <a:pt x="151129" y="0"/>
                </a:lnTo>
                <a:lnTo>
                  <a:pt x="0" y="0"/>
                </a:lnTo>
                <a:lnTo>
                  <a:pt x="0" y="1014638"/>
                </a:lnTo>
                <a:lnTo>
                  <a:pt x="151129" y="1014638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435768" y="5110338"/>
            <a:ext cx="151130" cy="1014730"/>
          </a:xfrm>
          <a:custGeom>
            <a:avLst/>
            <a:gdLst/>
            <a:ahLst/>
            <a:cxnLst/>
            <a:rect l="l" t="t" r="r" b="b"/>
            <a:pathLst>
              <a:path w="151129" h="1014729">
                <a:moveTo>
                  <a:pt x="151129" y="1014638"/>
                </a:moveTo>
                <a:lnTo>
                  <a:pt x="151129" y="0"/>
                </a:lnTo>
                <a:lnTo>
                  <a:pt x="0" y="0"/>
                </a:lnTo>
                <a:lnTo>
                  <a:pt x="0" y="1014638"/>
                </a:lnTo>
                <a:lnTo>
                  <a:pt x="151129" y="1014638"/>
                </a:lnTo>
              </a:path>
            </a:pathLst>
          </a:custGeom>
          <a:ln w="106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675608" y="5040292"/>
            <a:ext cx="140970" cy="1085215"/>
          </a:xfrm>
          <a:custGeom>
            <a:avLst/>
            <a:gdLst/>
            <a:ahLst/>
            <a:cxnLst/>
            <a:rect l="l" t="t" r="r" b="b"/>
            <a:pathLst>
              <a:path w="140970" h="1085214">
                <a:moveTo>
                  <a:pt x="140356" y="1084684"/>
                </a:moveTo>
                <a:lnTo>
                  <a:pt x="140356" y="0"/>
                </a:lnTo>
                <a:lnTo>
                  <a:pt x="0" y="0"/>
                </a:lnTo>
                <a:lnTo>
                  <a:pt x="0" y="1084684"/>
                </a:lnTo>
                <a:lnTo>
                  <a:pt x="140356" y="1084684"/>
                </a:lnTo>
                <a:close/>
              </a:path>
            </a:pathLst>
          </a:custGeom>
          <a:solidFill>
            <a:srgbClr val="0066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675608" y="5040292"/>
            <a:ext cx="140970" cy="1085215"/>
          </a:xfrm>
          <a:custGeom>
            <a:avLst/>
            <a:gdLst/>
            <a:ahLst/>
            <a:cxnLst/>
            <a:rect l="l" t="t" r="r" b="b"/>
            <a:pathLst>
              <a:path w="140970" h="1085214">
                <a:moveTo>
                  <a:pt x="140356" y="1084684"/>
                </a:moveTo>
                <a:lnTo>
                  <a:pt x="140356" y="0"/>
                </a:lnTo>
                <a:lnTo>
                  <a:pt x="0" y="0"/>
                </a:lnTo>
                <a:lnTo>
                  <a:pt x="0" y="1084684"/>
                </a:lnTo>
                <a:lnTo>
                  <a:pt x="140356" y="1084684"/>
                </a:lnTo>
              </a:path>
            </a:pathLst>
          </a:custGeom>
          <a:ln w="107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985254" y="3411194"/>
            <a:ext cx="0" cy="2710815"/>
          </a:xfrm>
          <a:custGeom>
            <a:avLst/>
            <a:gdLst/>
            <a:ahLst/>
            <a:cxnLst/>
            <a:rect l="l" t="t" r="r" b="b"/>
            <a:pathLst>
              <a:path h="2710815">
                <a:moveTo>
                  <a:pt x="0" y="0"/>
                </a:moveTo>
                <a:lnTo>
                  <a:pt x="0" y="2710284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887998" y="6128483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887998" y="5791439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887998" y="5447391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887998" y="5110347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887998" y="4773303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887998" y="4429246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887998" y="4092202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887998" y="3748144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887998" y="3411194"/>
            <a:ext cx="86995" cy="0"/>
          </a:xfrm>
          <a:custGeom>
            <a:avLst/>
            <a:gdLst/>
            <a:ahLst/>
            <a:cxnLst/>
            <a:rect l="l" t="t" r="r" b="b"/>
            <a:pathLst>
              <a:path w="86994">
                <a:moveTo>
                  <a:pt x="0" y="0"/>
                </a:moveTo>
                <a:lnTo>
                  <a:pt x="86594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985254" y="6128483"/>
            <a:ext cx="4928235" cy="0"/>
          </a:xfrm>
          <a:custGeom>
            <a:avLst/>
            <a:gdLst/>
            <a:ahLst/>
            <a:cxnLst/>
            <a:rect l="l" t="t" r="r" b="b"/>
            <a:pathLst>
              <a:path w="4928234">
                <a:moveTo>
                  <a:pt x="0" y="0"/>
                </a:moveTo>
                <a:lnTo>
                  <a:pt x="4927659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1985254" y="6135488"/>
            <a:ext cx="0" cy="28575"/>
          </a:xfrm>
          <a:custGeom>
            <a:avLst/>
            <a:gdLst/>
            <a:ahLst/>
            <a:cxnLst/>
            <a:rect l="l" t="t" r="r" b="b"/>
            <a:pathLst>
              <a:path h="28575">
                <a:moveTo>
                  <a:pt x="0" y="28027"/>
                </a:moveTo>
                <a:lnTo>
                  <a:pt x="0" y="0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225238" y="6135488"/>
            <a:ext cx="0" cy="28575"/>
          </a:xfrm>
          <a:custGeom>
            <a:avLst/>
            <a:gdLst/>
            <a:ahLst/>
            <a:cxnLst/>
            <a:rect l="l" t="t" r="r" b="b"/>
            <a:pathLst>
              <a:path h="28575">
                <a:moveTo>
                  <a:pt x="0" y="28027"/>
                </a:moveTo>
                <a:lnTo>
                  <a:pt x="0" y="0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454704" y="6135488"/>
            <a:ext cx="0" cy="28575"/>
          </a:xfrm>
          <a:custGeom>
            <a:avLst/>
            <a:gdLst/>
            <a:ahLst/>
            <a:cxnLst/>
            <a:rect l="l" t="t" r="r" b="b"/>
            <a:pathLst>
              <a:path h="28575">
                <a:moveTo>
                  <a:pt x="0" y="28027"/>
                </a:moveTo>
                <a:lnTo>
                  <a:pt x="0" y="0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694543" y="6135488"/>
            <a:ext cx="0" cy="28575"/>
          </a:xfrm>
          <a:custGeom>
            <a:avLst/>
            <a:gdLst/>
            <a:ahLst/>
            <a:cxnLst/>
            <a:rect l="l" t="t" r="r" b="b"/>
            <a:pathLst>
              <a:path h="28575">
                <a:moveTo>
                  <a:pt x="0" y="28027"/>
                </a:moveTo>
                <a:lnTo>
                  <a:pt x="0" y="0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6923576" y="6135488"/>
            <a:ext cx="0" cy="28575"/>
          </a:xfrm>
          <a:custGeom>
            <a:avLst/>
            <a:gdLst/>
            <a:ahLst/>
            <a:cxnLst/>
            <a:rect l="l" t="t" r="r" b="b"/>
            <a:pathLst>
              <a:path h="28575">
                <a:moveTo>
                  <a:pt x="0" y="28027"/>
                </a:moveTo>
                <a:lnTo>
                  <a:pt x="0" y="0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635780" y="3970767"/>
            <a:ext cx="351155" cy="15913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spc="-365" dirty="0">
                <a:latin typeface="Arial"/>
                <a:cs typeface="Arial"/>
              </a:rPr>
              <a:t>Conflict</a:t>
            </a:r>
            <a:r>
              <a:rPr sz="2300" b="1" spc="-240" dirty="0">
                <a:latin typeface="Arial"/>
                <a:cs typeface="Arial"/>
              </a:rPr>
              <a:t> </a:t>
            </a:r>
            <a:r>
              <a:rPr sz="2300" b="1" spc="-365" dirty="0">
                <a:latin typeface="Arial"/>
                <a:cs typeface="Arial"/>
              </a:rPr>
              <a:t>Intensity</a:t>
            </a:r>
            <a:endParaRPr sz="23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7037113" y="4173003"/>
            <a:ext cx="1746885" cy="1179830"/>
          </a:xfrm>
          <a:custGeom>
            <a:avLst/>
            <a:gdLst/>
            <a:ahLst/>
            <a:cxnLst/>
            <a:rect l="l" t="t" r="r" b="b"/>
            <a:pathLst>
              <a:path w="1746884" h="1179829">
                <a:moveTo>
                  <a:pt x="0" y="1179559"/>
                </a:moveTo>
                <a:lnTo>
                  <a:pt x="1746725" y="1179559"/>
                </a:lnTo>
                <a:lnTo>
                  <a:pt x="1746725" y="0"/>
                </a:lnTo>
                <a:lnTo>
                  <a:pt x="0" y="0"/>
                </a:lnTo>
                <a:lnTo>
                  <a:pt x="0" y="1179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037114" y="4173003"/>
            <a:ext cx="1746885" cy="1179830"/>
          </a:xfrm>
          <a:custGeom>
            <a:avLst/>
            <a:gdLst/>
            <a:ahLst/>
            <a:cxnLst/>
            <a:rect l="l" t="t" r="r" b="b"/>
            <a:pathLst>
              <a:path w="1746884" h="1179829">
                <a:moveTo>
                  <a:pt x="0" y="1179559"/>
                </a:moveTo>
                <a:lnTo>
                  <a:pt x="1746725" y="1179559"/>
                </a:lnTo>
                <a:lnTo>
                  <a:pt x="1746725" y="0"/>
                </a:lnTo>
                <a:lnTo>
                  <a:pt x="0" y="0"/>
                </a:lnTo>
                <a:lnTo>
                  <a:pt x="0" y="1179559"/>
                </a:lnTo>
                <a:close/>
              </a:path>
            </a:pathLst>
          </a:custGeom>
          <a:ln w="81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7101663" y="4267909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063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101664" y="4236377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063"/>
                </a:moveTo>
                <a:lnTo>
                  <a:pt x="96920" y="63063"/>
                </a:lnTo>
                <a:lnTo>
                  <a:pt x="96920" y="0"/>
                </a:lnTo>
                <a:lnTo>
                  <a:pt x="0" y="0"/>
                </a:lnTo>
                <a:lnTo>
                  <a:pt x="0" y="6306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101663" y="4436408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296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101664" y="4404760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296"/>
                </a:moveTo>
                <a:lnTo>
                  <a:pt x="96920" y="63296"/>
                </a:lnTo>
                <a:lnTo>
                  <a:pt x="96920" y="0"/>
                </a:lnTo>
                <a:lnTo>
                  <a:pt x="0" y="0"/>
                </a:lnTo>
                <a:lnTo>
                  <a:pt x="0" y="63296"/>
                </a:lnTo>
                <a:close/>
              </a:path>
            </a:pathLst>
          </a:custGeom>
          <a:ln w="81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101663" y="4604953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062">
            <a:solidFill>
              <a:srgbClr val="FFFF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101664" y="4573422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062"/>
                </a:moveTo>
                <a:lnTo>
                  <a:pt x="96920" y="63062"/>
                </a:lnTo>
                <a:lnTo>
                  <a:pt x="96920" y="0"/>
                </a:lnTo>
                <a:lnTo>
                  <a:pt x="0" y="0"/>
                </a:lnTo>
                <a:lnTo>
                  <a:pt x="0" y="63062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7101663" y="4773452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296">
            <a:solidFill>
              <a:srgbClr val="CC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101664" y="4741803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296"/>
                </a:moveTo>
                <a:lnTo>
                  <a:pt x="96920" y="63296"/>
                </a:lnTo>
                <a:lnTo>
                  <a:pt x="96920" y="0"/>
                </a:lnTo>
                <a:lnTo>
                  <a:pt x="0" y="0"/>
                </a:lnTo>
                <a:lnTo>
                  <a:pt x="0" y="63296"/>
                </a:lnTo>
                <a:close/>
              </a:path>
            </a:pathLst>
          </a:custGeom>
          <a:ln w="81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101663" y="4941997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063">
            <a:solidFill>
              <a:srgbClr val="6600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101664" y="4910464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063"/>
                </a:moveTo>
                <a:lnTo>
                  <a:pt x="96920" y="63063"/>
                </a:lnTo>
                <a:lnTo>
                  <a:pt x="96920" y="0"/>
                </a:lnTo>
                <a:lnTo>
                  <a:pt x="0" y="0"/>
                </a:lnTo>
                <a:lnTo>
                  <a:pt x="0" y="6306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7101663" y="5110496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296">
            <a:solidFill>
              <a:srgbClr val="FF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7101664" y="5078847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296"/>
                </a:moveTo>
                <a:lnTo>
                  <a:pt x="96920" y="63296"/>
                </a:lnTo>
                <a:lnTo>
                  <a:pt x="96920" y="0"/>
                </a:lnTo>
                <a:lnTo>
                  <a:pt x="0" y="0"/>
                </a:lnTo>
                <a:lnTo>
                  <a:pt x="0" y="63296"/>
                </a:lnTo>
                <a:close/>
              </a:path>
            </a:pathLst>
          </a:custGeom>
          <a:ln w="81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7101663" y="5278924"/>
            <a:ext cx="97155" cy="0"/>
          </a:xfrm>
          <a:custGeom>
            <a:avLst/>
            <a:gdLst/>
            <a:ahLst/>
            <a:cxnLst/>
            <a:rect l="l" t="t" r="r" b="b"/>
            <a:pathLst>
              <a:path w="97154">
                <a:moveTo>
                  <a:pt x="0" y="0"/>
                </a:moveTo>
                <a:lnTo>
                  <a:pt x="96920" y="0"/>
                </a:lnTo>
              </a:path>
            </a:pathLst>
          </a:custGeom>
          <a:ln w="63296">
            <a:solidFill>
              <a:srgbClr val="0066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7101664" y="5247276"/>
            <a:ext cx="97155" cy="63500"/>
          </a:xfrm>
          <a:custGeom>
            <a:avLst/>
            <a:gdLst/>
            <a:ahLst/>
            <a:cxnLst/>
            <a:rect l="l" t="t" r="r" b="b"/>
            <a:pathLst>
              <a:path w="97154" h="63500">
                <a:moveTo>
                  <a:pt x="0" y="63296"/>
                </a:moveTo>
                <a:lnTo>
                  <a:pt x="96920" y="63296"/>
                </a:lnTo>
                <a:lnTo>
                  <a:pt x="96920" y="0"/>
                </a:lnTo>
                <a:lnTo>
                  <a:pt x="0" y="0"/>
                </a:lnTo>
                <a:lnTo>
                  <a:pt x="0" y="63296"/>
                </a:lnTo>
                <a:close/>
              </a:path>
            </a:pathLst>
          </a:custGeom>
          <a:ln w="811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2028335" y="4660987"/>
            <a:ext cx="1164590" cy="0"/>
          </a:xfrm>
          <a:custGeom>
            <a:avLst/>
            <a:gdLst/>
            <a:ahLst/>
            <a:cxnLst/>
            <a:rect l="l" t="t" r="r" b="b"/>
            <a:pathLst>
              <a:path w="1164589">
                <a:moveTo>
                  <a:pt x="0" y="0"/>
                </a:moveTo>
                <a:lnTo>
                  <a:pt x="1164483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3192819" y="4415218"/>
            <a:ext cx="151765" cy="246379"/>
          </a:xfrm>
          <a:custGeom>
            <a:avLst/>
            <a:gdLst/>
            <a:ahLst/>
            <a:cxnLst/>
            <a:rect l="l" t="t" r="r" b="b"/>
            <a:pathLst>
              <a:path w="151764" h="246379">
                <a:moveTo>
                  <a:pt x="0" y="245768"/>
                </a:moveTo>
                <a:lnTo>
                  <a:pt x="151143" y="0"/>
                </a:lnTo>
              </a:path>
            </a:pathLst>
          </a:custGeom>
          <a:ln w="97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3343963" y="4415218"/>
            <a:ext cx="1111250" cy="0"/>
          </a:xfrm>
          <a:custGeom>
            <a:avLst/>
            <a:gdLst/>
            <a:ahLst/>
            <a:cxnLst/>
            <a:rect l="l" t="t" r="r" b="b"/>
            <a:pathLst>
              <a:path w="1111250">
                <a:moveTo>
                  <a:pt x="0" y="0"/>
                </a:moveTo>
                <a:lnTo>
                  <a:pt x="1110740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4454704" y="4415218"/>
            <a:ext cx="107950" cy="140970"/>
          </a:xfrm>
          <a:custGeom>
            <a:avLst/>
            <a:gdLst/>
            <a:ahLst/>
            <a:cxnLst/>
            <a:rect l="l" t="t" r="r" b="b"/>
            <a:pathLst>
              <a:path w="107950" h="140970">
                <a:moveTo>
                  <a:pt x="0" y="0"/>
                </a:moveTo>
                <a:lnTo>
                  <a:pt x="107630" y="140372"/>
                </a:lnTo>
              </a:path>
            </a:pathLst>
          </a:custGeom>
          <a:ln w="93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4562334" y="4555590"/>
            <a:ext cx="1143635" cy="0"/>
          </a:xfrm>
          <a:custGeom>
            <a:avLst/>
            <a:gdLst/>
            <a:ahLst/>
            <a:cxnLst/>
            <a:rect l="l" t="t" r="r" b="b"/>
            <a:pathLst>
              <a:path w="1143635">
                <a:moveTo>
                  <a:pt x="0" y="0"/>
                </a:moveTo>
                <a:lnTo>
                  <a:pt x="1143015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716011" y="4562604"/>
            <a:ext cx="86360" cy="456565"/>
          </a:xfrm>
          <a:custGeom>
            <a:avLst/>
            <a:gdLst/>
            <a:ahLst/>
            <a:cxnLst/>
            <a:rect l="l" t="t" r="r" b="b"/>
            <a:pathLst>
              <a:path w="86360" h="456564">
                <a:moveTo>
                  <a:pt x="0" y="0"/>
                </a:moveTo>
                <a:lnTo>
                  <a:pt x="86162" y="456467"/>
                </a:lnTo>
              </a:path>
            </a:pathLst>
          </a:custGeom>
          <a:ln w="106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5802173" y="5026087"/>
            <a:ext cx="1165225" cy="0"/>
          </a:xfrm>
          <a:custGeom>
            <a:avLst/>
            <a:gdLst/>
            <a:ahLst/>
            <a:cxnLst/>
            <a:rect l="l" t="t" r="r" b="b"/>
            <a:pathLst>
              <a:path w="1165225">
                <a:moveTo>
                  <a:pt x="0" y="0"/>
                </a:moveTo>
                <a:lnTo>
                  <a:pt x="1164915" y="0"/>
                </a:lnTo>
              </a:path>
            </a:pathLst>
          </a:custGeom>
          <a:ln w="69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7" name="object 107"/>
          <p:cNvGraphicFramePr>
            <a:graphicFrameLocks noGrp="1"/>
          </p:cNvGraphicFramePr>
          <p:nvPr/>
        </p:nvGraphicFramePr>
        <p:xfrm>
          <a:off x="434083" y="1543811"/>
          <a:ext cx="8377554" cy="505012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5530">
                <a:tc gridSpan="6">
                  <a:txBody>
                    <a:bodyPr/>
                    <a:lstStyle/>
                    <a:p>
                      <a:pPr marL="431165" indent="-320675">
                        <a:lnSpc>
                          <a:spcPts val="3265"/>
                        </a:lnSpc>
                        <a:buClr>
                          <a:srgbClr val="DD8046"/>
                        </a:buClr>
                        <a:buSzPct val="60344"/>
                        <a:buFont typeface="Wingdings"/>
                        <a:buChar char=""/>
                        <a:tabLst>
                          <a:tab pos="431165" algn="l"/>
                          <a:tab pos="431800" algn="l"/>
                        </a:tabLst>
                      </a:pPr>
                      <a:r>
                        <a:rPr sz="2900" dirty="0">
                          <a:latin typeface="华文隶书"/>
                          <a:cs typeface="华文隶书"/>
                        </a:rPr>
                        <a:t>按时完成项目是项目经</a:t>
                      </a:r>
                      <a:r>
                        <a:rPr sz="2900" spc="-15" dirty="0">
                          <a:latin typeface="华文隶书"/>
                          <a:cs typeface="华文隶书"/>
                        </a:rPr>
                        <a:t>理</a:t>
                      </a:r>
                      <a:r>
                        <a:rPr sz="2900" dirty="0">
                          <a:latin typeface="华文隶书"/>
                          <a:cs typeface="华文隶书"/>
                        </a:rPr>
                        <a:t>最大</a:t>
                      </a:r>
                      <a:r>
                        <a:rPr sz="2900" spc="-15" dirty="0">
                          <a:latin typeface="华文隶书"/>
                          <a:cs typeface="华文隶书"/>
                        </a:rPr>
                        <a:t>的</a:t>
                      </a:r>
                      <a:r>
                        <a:rPr sz="2900" dirty="0">
                          <a:latin typeface="华文隶书"/>
                          <a:cs typeface="华文隶书"/>
                        </a:rPr>
                        <a:t>挑战</a:t>
                      </a:r>
                      <a:r>
                        <a:rPr sz="2900" spc="-15" dirty="0">
                          <a:latin typeface="华文隶书"/>
                          <a:cs typeface="华文隶书"/>
                        </a:rPr>
                        <a:t>之</a:t>
                      </a:r>
                      <a:r>
                        <a:rPr sz="2900" dirty="0">
                          <a:latin typeface="华文隶书"/>
                          <a:cs typeface="华文隶书"/>
                        </a:rPr>
                        <a:t>一</a:t>
                      </a:r>
                      <a:endParaRPr sz="2900">
                        <a:latin typeface="华文隶书"/>
                        <a:cs typeface="华文隶书"/>
                      </a:endParaRPr>
                    </a:p>
                    <a:p>
                      <a:pPr marL="431165" indent="-320675">
                        <a:lnSpc>
                          <a:spcPct val="100000"/>
                        </a:lnSpc>
                        <a:spcBef>
                          <a:spcPts val="345"/>
                        </a:spcBef>
                        <a:buClr>
                          <a:srgbClr val="DD8046"/>
                        </a:buClr>
                        <a:buSzPct val="60344"/>
                        <a:buFont typeface="Wingdings"/>
                        <a:buChar char=""/>
                        <a:tabLst>
                          <a:tab pos="431165" algn="l"/>
                          <a:tab pos="431800" algn="l"/>
                        </a:tabLst>
                      </a:pPr>
                      <a:r>
                        <a:rPr sz="2900" dirty="0">
                          <a:latin typeface="华文隶书"/>
                          <a:cs typeface="华文隶书"/>
                        </a:rPr>
                        <a:t>时间是项目规划中灵活</a:t>
                      </a:r>
                      <a:r>
                        <a:rPr sz="2900" spc="-10" dirty="0">
                          <a:latin typeface="华文隶书"/>
                          <a:cs typeface="华文隶书"/>
                        </a:rPr>
                        <a:t>性</a:t>
                      </a:r>
                      <a:r>
                        <a:rPr sz="2900" dirty="0">
                          <a:latin typeface="华文隶书"/>
                          <a:cs typeface="华文隶书"/>
                        </a:rPr>
                        <a:t>最小</a:t>
                      </a:r>
                      <a:r>
                        <a:rPr sz="2900" spc="-10" dirty="0">
                          <a:latin typeface="华文隶书"/>
                          <a:cs typeface="华文隶书"/>
                        </a:rPr>
                        <a:t>的</a:t>
                      </a:r>
                      <a:r>
                        <a:rPr sz="2900" dirty="0">
                          <a:latin typeface="华文隶书"/>
                          <a:cs typeface="华文隶书"/>
                        </a:rPr>
                        <a:t>因素</a:t>
                      </a:r>
                      <a:endParaRPr sz="2900">
                        <a:latin typeface="华文隶书"/>
                        <a:cs typeface="华文隶书"/>
                      </a:endParaRPr>
                    </a:p>
                    <a:p>
                      <a:pPr marL="431165" indent="-320675">
                        <a:lnSpc>
                          <a:spcPct val="100000"/>
                        </a:lnSpc>
                        <a:spcBef>
                          <a:spcPts val="365"/>
                        </a:spcBef>
                        <a:buClr>
                          <a:srgbClr val="DD8046"/>
                        </a:buClr>
                        <a:buSzPct val="60344"/>
                        <a:buFont typeface="Wingdings"/>
                        <a:buChar char=""/>
                        <a:tabLst>
                          <a:tab pos="431165" algn="l"/>
                          <a:tab pos="431800" algn="l"/>
                        </a:tabLst>
                      </a:pPr>
                      <a:r>
                        <a:rPr sz="2900" dirty="0">
                          <a:latin typeface="华文隶书"/>
                          <a:cs typeface="华文隶书"/>
                        </a:rPr>
                        <a:t>进度问题是项目冲突的</a:t>
                      </a:r>
                      <a:r>
                        <a:rPr sz="2900" spc="-15" dirty="0">
                          <a:latin typeface="华文隶书"/>
                          <a:cs typeface="华文隶书"/>
                        </a:rPr>
                        <a:t>主</a:t>
                      </a:r>
                      <a:r>
                        <a:rPr sz="2900" dirty="0">
                          <a:latin typeface="华文隶书"/>
                          <a:cs typeface="华文隶书"/>
                        </a:rPr>
                        <a:t>要原因</a:t>
                      </a:r>
                      <a:endParaRPr sz="2900">
                        <a:latin typeface="华文隶书"/>
                        <a:cs typeface="华文隶书"/>
                      </a:endParaRPr>
                    </a:p>
                  </a:txBody>
                  <a:tcPr marL="0" marR="0" marT="0" marB="0">
                    <a:lnL w="38100">
                      <a:solidFill>
                        <a:srgbClr val="548AB8"/>
                      </a:solidFill>
                      <a:prstDash val="solid"/>
                    </a:lnL>
                    <a:lnR w="38100">
                      <a:solidFill>
                        <a:srgbClr val="548AB8"/>
                      </a:solidFill>
                      <a:prstDash val="solid"/>
                    </a:lnR>
                    <a:lnT w="38100">
                      <a:solidFill>
                        <a:srgbClr val="548AB8"/>
                      </a:solidFill>
                      <a:prstDash val="solid"/>
                    </a:lnT>
                    <a:lnB w="38100">
                      <a:solidFill>
                        <a:srgbClr val="548AB8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4560"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0.40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0.35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0.30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0.25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0.20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0.15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0.10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0.05</a:t>
                      </a:r>
                      <a:endParaRPr sz="1550">
                        <a:latin typeface="Arial"/>
                        <a:cs typeface="Arial"/>
                      </a:endParaRPr>
                    </a:p>
                    <a:p>
                      <a:pPr marL="690245">
                        <a:lnSpc>
                          <a:spcPct val="100000"/>
                        </a:lnSpc>
                        <a:spcBef>
                          <a:spcPts val="790"/>
                        </a:spcBef>
                      </a:pPr>
                      <a:r>
                        <a:rPr sz="1550" spc="420" dirty="0">
                          <a:latin typeface="Arial"/>
                          <a:cs typeface="Arial"/>
                        </a:rPr>
                        <a:t>0.00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33985" marB="0">
                    <a:lnL w="9525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548AB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39395" marR="165735" indent="118110">
                        <a:lnSpc>
                          <a:spcPct val="108400"/>
                        </a:lnSpc>
                      </a:pPr>
                      <a:r>
                        <a:rPr sz="850" spc="215" dirty="0">
                          <a:latin typeface="Arial"/>
                          <a:cs typeface="Arial"/>
                        </a:rPr>
                        <a:t>Project  </a:t>
                      </a:r>
                      <a:r>
                        <a:rPr sz="850" spc="15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50" spc="-30" dirty="0">
                          <a:latin typeface="Arial"/>
                          <a:cs typeface="Arial"/>
                        </a:rPr>
                        <a:t>rm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50" spc="-40" dirty="0">
                          <a:latin typeface="Arial"/>
                          <a:cs typeface="Arial"/>
                        </a:rPr>
                        <a:t>t</a:t>
                      </a:r>
                      <a:r>
                        <a:rPr sz="850" spc="35" dirty="0">
                          <a:latin typeface="Arial"/>
                          <a:cs typeface="Arial"/>
                        </a:rPr>
                        <a:t>i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850" dirty="0">
                          <a:latin typeface="Arial"/>
                          <a:cs typeface="Arial"/>
                        </a:rPr>
                        <a:t>n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548AB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73355">
                        <a:lnSpc>
                          <a:spcPct val="100000"/>
                        </a:lnSpc>
                      </a:pPr>
                      <a:r>
                        <a:rPr sz="850" spc="220" dirty="0">
                          <a:latin typeface="Arial"/>
                          <a:cs typeface="Arial"/>
                        </a:rPr>
                        <a:t>Early</a:t>
                      </a:r>
                      <a:r>
                        <a:rPr sz="85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270" dirty="0">
                          <a:latin typeface="Arial"/>
                          <a:cs typeface="Arial"/>
                        </a:rPr>
                        <a:t>Phases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548AB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86995">
                        <a:lnSpc>
                          <a:spcPct val="100000"/>
                        </a:lnSpc>
                      </a:pPr>
                      <a:r>
                        <a:rPr sz="850" spc="240" dirty="0">
                          <a:latin typeface="Arial"/>
                          <a:cs typeface="Arial"/>
                        </a:rPr>
                        <a:t>Middle</a:t>
                      </a:r>
                      <a:r>
                        <a:rPr sz="850" spc="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270" dirty="0">
                          <a:latin typeface="Arial"/>
                          <a:cs typeface="Arial"/>
                        </a:rPr>
                        <a:t>Phases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548AB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07975" marR="142240" indent="172720">
                        <a:lnSpc>
                          <a:spcPct val="111900"/>
                        </a:lnSpc>
                      </a:pPr>
                      <a:r>
                        <a:rPr sz="700" b="1" spc="235" dirty="0">
                          <a:latin typeface="Arial"/>
                          <a:cs typeface="Arial"/>
                        </a:rPr>
                        <a:t>Average  </a:t>
                      </a:r>
                      <a:r>
                        <a:rPr sz="700" b="1" spc="200" dirty="0">
                          <a:latin typeface="Arial"/>
                          <a:cs typeface="Arial"/>
                        </a:rPr>
                        <a:t>Total</a:t>
                      </a:r>
                      <a:r>
                        <a:rPr sz="700" b="1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700" b="1" spc="185" dirty="0">
                          <a:latin typeface="Arial"/>
                          <a:cs typeface="Arial"/>
                        </a:rPr>
                        <a:t>Conflict</a:t>
                      </a:r>
                      <a:endParaRPr sz="7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850" spc="280" dirty="0">
                          <a:latin typeface="Arial"/>
                          <a:cs typeface="Arial"/>
                        </a:rPr>
                        <a:t>End</a:t>
                      </a:r>
                      <a:r>
                        <a:rPr sz="850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270" dirty="0">
                          <a:latin typeface="Arial"/>
                          <a:cs typeface="Arial"/>
                        </a:rPr>
                        <a:t>Phases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38100">
                      <a:solidFill>
                        <a:srgbClr val="548AB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49860" marR="178435">
                        <a:lnSpc>
                          <a:spcPct val="130100"/>
                        </a:lnSpc>
                      </a:pPr>
                      <a:r>
                        <a:rPr sz="850" spc="245" dirty="0">
                          <a:latin typeface="Arial"/>
                          <a:cs typeface="Arial"/>
                        </a:rPr>
                        <a:t>Schedules  </a:t>
                      </a:r>
                      <a:r>
                        <a:rPr sz="850" spc="200" dirty="0">
                          <a:latin typeface="Arial"/>
                          <a:cs typeface="Arial"/>
                        </a:rPr>
                        <a:t>Priorities  </a:t>
                      </a:r>
                      <a:r>
                        <a:rPr sz="850" spc="275" dirty="0">
                          <a:latin typeface="Arial"/>
                          <a:cs typeface="Arial"/>
                        </a:rPr>
                        <a:t>Manpower  </a:t>
                      </a:r>
                      <a:r>
                        <a:rPr sz="850" spc="220" dirty="0">
                          <a:latin typeface="Arial"/>
                          <a:cs typeface="Arial"/>
                        </a:rPr>
                        <a:t>Technical</a:t>
                      </a:r>
                      <a:r>
                        <a:rPr sz="85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225" dirty="0">
                          <a:latin typeface="Arial"/>
                          <a:cs typeface="Arial"/>
                        </a:rPr>
                        <a:t>opinions  </a:t>
                      </a:r>
                      <a:r>
                        <a:rPr sz="850" spc="250" dirty="0">
                          <a:latin typeface="Arial"/>
                          <a:cs typeface="Arial"/>
                        </a:rPr>
                        <a:t>Procedures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50" spc="270" dirty="0">
                          <a:latin typeface="Arial"/>
                          <a:cs typeface="Arial"/>
                        </a:rPr>
                        <a:t>Cost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 marL="14986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850" spc="215" dirty="0">
                          <a:latin typeface="Arial"/>
                          <a:cs typeface="Arial"/>
                        </a:rPr>
                        <a:t>Personality</a:t>
                      </a:r>
                      <a:r>
                        <a:rPr sz="85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50" spc="180" dirty="0">
                          <a:latin typeface="Arial"/>
                          <a:cs typeface="Arial"/>
                        </a:rPr>
                        <a:t>conflicts</a:t>
                      </a:r>
                      <a:endParaRPr sz="8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548AB8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8" name="object 108"/>
          <p:cNvSpPr/>
          <p:nvPr/>
        </p:nvSpPr>
        <p:spPr>
          <a:xfrm>
            <a:off x="6362947" y="4611889"/>
            <a:ext cx="0" cy="351155"/>
          </a:xfrm>
          <a:custGeom>
            <a:avLst/>
            <a:gdLst/>
            <a:ahLst/>
            <a:cxnLst/>
            <a:rect l="l" t="t" r="r" b="b"/>
            <a:pathLst>
              <a:path h="351154">
                <a:moveTo>
                  <a:pt x="0" y="0"/>
                </a:moveTo>
                <a:lnTo>
                  <a:pt x="0" y="351071"/>
                </a:lnTo>
              </a:path>
            </a:pathLst>
          </a:custGeom>
          <a:ln w="107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292922" y="4945473"/>
            <a:ext cx="119380" cy="70485"/>
          </a:xfrm>
          <a:custGeom>
            <a:avLst/>
            <a:gdLst/>
            <a:ahLst/>
            <a:cxnLst/>
            <a:rect l="l" t="t" r="r" b="b"/>
            <a:pathLst>
              <a:path w="119379" h="70485">
                <a:moveTo>
                  <a:pt x="118868" y="0"/>
                </a:moveTo>
                <a:lnTo>
                  <a:pt x="0" y="0"/>
                </a:lnTo>
                <a:lnTo>
                  <a:pt x="64549" y="70046"/>
                </a:lnTo>
                <a:lnTo>
                  <a:pt x="118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6073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进度的定义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631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42" y="1429258"/>
            <a:ext cx="7322184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进度是对执行的活动和里程碑制定</a:t>
            </a:r>
            <a:r>
              <a:rPr sz="2500" u="sng" spc="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的</a:t>
            </a:r>
            <a:r>
              <a:rPr sz="25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工作</a:t>
            </a:r>
            <a:r>
              <a:rPr sz="2500" u="sng" spc="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计</a:t>
            </a:r>
            <a:r>
              <a:rPr sz="25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划日</a:t>
            </a:r>
            <a:r>
              <a:rPr sz="2500" u="sng" spc="20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期</a:t>
            </a:r>
            <a:r>
              <a:rPr sz="2500" u="sng" spc="-5" dirty="0">
                <a:uFill>
                  <a:solidFill>
                    <a:srgbClr val="000000"/>
                  </a:solidFill>
                </a:uFill>
                <a:latin typeface="华文新魏"/>
                <a:cs typeface="华文新魏"/>
              </a:rPr>
              <a:t>表</a:t>
            </a:r>
            <a:endParaRPr sz="25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932430"/>
            <a:ext cx="9144000" cy="4881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项目进度计划过程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465581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92" y="0"/>
                </a:lnTo>
                <a:lnTo>
                  <a:pt x="79209" y="10187"/>
                </a:lnTo>
                <a:lnTo>
                  <a:pt x="37985" y="37973"/>
                </a:lnTo>
                <a:lnTo>
                  <a:pt x="10191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91" y="1217735"/>
                </a:lnTo>
                <a:lnTo>
                  <a:pt x="37985" y="1258951"/>
                </a:lnTo>
                <a:lnTo>
                  <a:pt x="79209" y="1286736"/>
                </a:lnTo>
                <a:lnTo>
                  <a:pt x="129692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9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147" y="258851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华文仿宋"/>
                <a:cs typeface="华文仿宋"/>
              </a:rPr>
              <a:t>任务定义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6351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246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2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2" y="1258951"/>
                </a:lnTo>
                <a:lnTo>
                  <a:pt x="79188" y="1286736"/>
                </a:lnTo>
                <a:lnTo>
                  <a:pt x="129666" y="1296924"/>
                </a:lnTo>
                <a:lnTo>
                  <a:pt x="2031364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9953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任务关系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3015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8909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67" y="0"/>
                </a:lnTo>
                <a:lnTo>
                  <a:pt x="79188" y="10187"/>
                </a:lnTo>
                <a:lnTo>
                  <a:pt x="37973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3" y="1258951"/>
                </a:lnTo>
                <a:lnTo>
                  <a:pt x="79188" y="1286736"/>
                </a:lnTo>
                <a:lnTo>
                  <a:pt x="129667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6998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历时估算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4122" y="3698366"/>
            <a:ext cx="536575" cy="453390"/>
          </a:xfrm>
          <a:custGeom>
            <a:avLst/>
            <a:gdLst/>
            <a:ahLst/>
            <a:cxnLst/>
            <a:rect l="l" t="t" r="r" b="b"/>
            <a:pathLst>
              <a:path w="536575" h="453389">
                <a:moveTo>
                  <a:pt x="428117" y="0"/>
                </a:moveTo>
                <a:lnTo>
                  <a:pt x="106425" y="1015"/>
                </a:lnTo>
                <a:lnTo>
                  <a:pt x="107315" y="227456"/>
                </a:lnTo>
                <a:lnTo>
                  <a:pt x="0" y="227710"/>
                </a:lnTo>
                <a:lnTo>
                  <a:pt x="268858" y="453262"/>
                </a:lnTo>
                <a:lnTo>
                  <a:pt x="535745" y="226313"/>
                </a:lnTo>
                <a:lnTo>
                  <a:pt x="428878" y="226313"/>
                </a:lnTo>
                <a:lnTo>
                  <a:pt x="428117" y="0"/>
                </a:lnTo>
                <a:close/>
              </a:path>
              <a:path w="536575" h="453389">
                <a:moveTo>
                  <a:pt x="536194" y="225932"/>
                </a:moveTo>
                <a:lnTo>
                  <a:pt x="428878" y="226313"/>
                </a:lnTo>
                <a:lnTo>
                  <a:pt x="535745" y="226313"/>
                </a:lnTo>
                <a:lnTo>
                  <a:pt x="536194" y="225932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5006" y="4365497"/>
            <a:ext cx="2162810" cy="1277620"/>
          </a:xfrm>
          <a:custGeom>
            <a:avLst/>
            <a:gdLst/>
            <a:ahLst/>
            <a:cxnLst/>
            <a:rect l="l" t="t" r="r" b="b"/>
            <a:pathLst>
              <a:path w="2162809" h="1277620">
                <a:moveTo>
                  <a:pt x="2034794" y="0"/>
                </a:moveTo>
                <a:lnTo>
                  <a:pt x="127762" y="0"/>
                </a:lnTo>
                <a:lnTo>
                  <a:pt x="78009" y="10033"/>
                </a:lnTo>
                <a:lnTo>
                  <a:pt x="37401" y="37401"/>
                </a:lnTo>
                <a:lnTo>
                  <a:pt x="10032" y="78009"/>
                </a:lnTo>
                <a:lnTo>
                  <a:pt x="0" y="127762"/>
                </a:lnTo>
                <a:lnTo>
                  <a:pt x="0" y="1149349"/>
                </a:lnTo>
                <a:lnTo>
                  <a:pt x="10033" y="1199102"/>
                </a:lnTo>
                <a:lnTo>
                  <a:pt x="37401" y="1239710"/>
                </a:lnTo>
                <a:lnTo>
                  <a:pt x="78009" y="1267079"/>
                </a:lnTo>
                <a:lnTo>
                  <a:pt x="127762" y="1277111"/>
                </a:lnTo>
                <a:lnTo>
                  <a:pt x="2034794" y="1277111"/>
                </a:lnTo>
                <a:lnTo>
                  <a:pt x="2084546" y="1267079"/>
                </a:lnTo>
                <a:lnTo>
                  <a:pt x="2125154" y="1239710"/>
                </a:lnTo>
                <a:lnTo>
                  <a:pt x="2152523" y="1199102"/>
                </a:lnTo>
                <a:lnTo>
                  <a:pt x="2162555" y="1149349"/>
                </a:lnTo>
                <a:lnTo>
                  <a:pt x="2162555" y="127762"/>
                </a:lnTo>
                <a:lnTo>
                  <a:pt x="2152523" y="78009"/>
                </a:lnTo>
                <a:lnTo>
                  <a:pt x="2125154" y="37401"/>
                </a:lnTo>
                <a:lnTo>
                  <a:pt x="2084546" y="10033"/>
                </a:lnTo>
                <a:lnTo>
                  <a:pt x="203479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80454" y="4767148"/>
            <a:ext cx="185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项目进度编排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955" y="4745609"/>
            <a:ext cx="463550" cy="536575"/>
          </a:xfrm>
          <a:custGeom>
            <a:avLst/>
            <a:gdLst/>
            <a:ahLst/>
            <a:cxnLst/>
            <a:rect l="l" t="t" r="r" b="b"/>
            <a:pathLst>
              <a:path w="463550" h="536575">
                <a:moveTo>
                  <a:pt x="229235" y="0"/>
                </a:moveTo>
                <a:lnTo>
                  <a:pt x="0" y="269621"/>
                </a:lnTo>
                <a:lnTo>
                  <a:pt x="232918" y="536067"/>
                </a:lnTo>
                <a:lnTo>
                  <a:pt x="232156" y="428879"/>
                </a:lnTo>
                <a:lnTo>
                  <a:pt x="463296" y="427228"/>
                </a:lnTo>
                <a:lnTo>
                  <a:pt x="461021" y="107188"/>
                </a:lnTo>
                <a:lnTo>
                  <a:pt x="229870" y="107188"/>
                </a:lnTo>
                <a:lnTo>
                  <a:pt x="229235" y="0"/>
                </a:lnTo>
                <a:close/>
              </a:path>
              <a:path w="463550" h="536575">
                <a:moveTo>
                  <a:pt x="461010" y="105537"/>
                </a:moveTo>
                <a:lnTo>
                  <a:pt x="229870" y="107188"/>
                </a:lnTo>
                <a:lnTo>
                  <a:pt x="461021" y="107188"/>
                </a:lnTo>
                <a:lnTo>
                  <a:pt x="461010" y="105537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2246" y="4376165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3" y="37972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24"/>
                </a:lnTo>
                <a:lnTo>
                  <a:pt x="37972" y="1258941"/>
                </a:lnTo>
                <a:lnTo>
                  <a:pt x="79188" y="1286732"/>
                </a:lnTo>
                <a:lnTo>
                  <a:pt x="129666" y="1296923"/>
                </a:lnTo>
                <a:lnTo>
                  <a:pt x="2031364" y="1296923"/>
                </a:lnTo>
                <a:lnTo>
                  <a:pt x="2081843" y="1286732"/>
                </a:lnTo>
                <a:lnTo>
                  <a:pt x="2123058" y="1258941"/>
                </a:lnTo>
                <a:lnTo>
                  <a:pt x="2150844" y="1217724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2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900" y="4788789"/>
            <a:ext cx="1856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华文仿宋"/>
                <a:cs typeface="华文仿宋"/>
              </a:rPr>
              <a:t>项目进度确定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8033" y="1268729"/>
            <a:ext cx="95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7386" y="522777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1304" y="5096255"/>
            <a:ext cx="485140" cy="56578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4668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5935" y="5096255"/>
            <a:ext cx="4628515" cy="56578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1135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150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85161" y="44886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8444" y="4338828"/>
            <a:ext cx="50609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34411" y="4338828"/>
            <a:ext cx="4628515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L="1172845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项目进度规划模型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9286" y="3721805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13204" y="3572255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9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7648" y="3572255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3830" rIns="0" bIns="0" rtlCol="0">
            <a:spAutoFit/>
          </a:bodyPr>
          <a:lstStyle/>
          <a:p>
            <a:pPr marR="379730" algn="ctr">
              <a:lnSpc>
                <a:spcPct val="100000"/>
              </a:lnSpc>
              <a:spcBef>
                <a:spcPts val="129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进度计划编排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69286" y="2929003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13204" y="2779776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9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70703" y="2929003"/>
            <a:ext cx="11176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006699"/>
                </a:solidFill>
                <a:latin typeface="微软雅黑"/>
                <a:cs typeface="微软雅黑"/>
              </a:rPr>
              <a:t>-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7648" y="2779776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28369">
              <a:lnSpc>
                <a:spcPct val="100000"/>
              </a:lnSpc>
              <a:spcBef>
                <a:spcPts val="1115"/>
              </a:spcBef>
            </a:pP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历时估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算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 传</a:t>
            </a:r>
            <a:r>
              <a:rPr sz="1800" b="1" spc="-1645" dirty="0">
                <a:solidFill>
                  <a:srgbClr val="003366"/>
                </a:solidFill>
                <a:latin typeface="微软雅黑"/>
                <a:cs typeface="微软雅黑"/>
              </a:rPr>
              <a:t>统</a:t>
            </a:r>
            <a:r>
              <a:rPr sz="3000" b="1" baseline="-5555" dirty="0">
                <a:solidFill>
                  <a:srgbClr val="006699"/>
                </a:solidFill>
                <a:latin typeface="微软雅黑"/>
                <a:cs typeface="微软雅黑"/>
              </a:rPr>
              <a:t>-</a:t>
            </a:r>
            <a:r>
              <a:rPr sz="3000" b="1" spc="240" baseline="-5555" dirty="0">
                <a:solidFill>
                  <a:srgbClr val="006699"/>
                </a:solidFill>
                <a:latin typeface="微软雅黑"/>
                <a:cs typeface="微软雅黑"/>
              </a:rPr>
              <a:t> 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63191" y="21370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07107" y="1987295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11551" y="1987295"/>
            <a:ext cx="4628515" cy="60198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7005" rIns="0" bIns="0" rtlCol="0">
            <a:spAutoFit/>
          </a:bodyPr>
          <a:lstStyle/>
          <a:p>
            <a:pPr marL="1173480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进度管理基本概念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项目进度计划过程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465581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92" y="0"/>
                </a:lnTo>
                <a:lnTo>
                  <a:pt x="79209" y="10187"/>
                </a:lnTo>
                <a:lnTo>
                  <a:pt x="37985" y="37973"/>
                </a:lnTo>
                <a:lnTo>
                  <a:pt x="10191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91" y="1217735"/>
                </a:lnTo>
                <a:lnTo>
                  <a:pt x="37985" y="1258951"/>
                </a:lnTo>
                <a:lnTo>
                  <a:pt x="79209" y="1286736"/>
                </a:lnTo>
                <a:lnTo>
                  <a:pt x="129692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9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2222" y="1916429"/>
            <a:ext cx="2665730" cy="1873250"/>
          </a:xfrm>
          <a:prstGeom prst="rect">
            <a:avLst/>
          </a:prstGeom>
          <a:ln w="19812">
            <a:solidFill>
              <a:srgbClr val="FF0000"/>
            </a:solidFill>
          </a:ln>
        </p:spPr>
        <p:txBody>
          <a:bodyPr vert="horz" wrap="square" lIns="0" tIns="50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4650">
              <a:latin typeface="Times New Roman"/>
              <a:cs typeface="Times New Roman"/>
            </a:endParaRPr>
          </a:p>
          <a:p>
            <a:pPr marL="58229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华文仿宋"/>
                <a:cs typeface="华文仿宋"/>
              </a:rPr>
              <a:t>任务定义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6351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246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2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2" y="1258951"/>
                </a:lnTo>
                <a:lnTo>
                  <a:pt x="79188" y="1286736"/>
                </a:lnTo>
                <a:lnTo>
                  <a:pt x="129666" y="1296924"/>
                </a:lnTo>
                <a:lnTo>
                  <a:pt x="2031364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9953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任务关系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3015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8909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67" y="0"/>
                </a:lnTo>
                <a:lnTo>
                  <a:pt x="79188" y="10187"/>
                </a:lnTo>
                <a:lnTo>
                  <a:pt x="37973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3" y="1258951"/>
                </a:lnTo>
                <a:lnTo>
                  <a:pt x="79188" y="1286736"/>
                </a:lnTo>
                <a:lnTo>
                  <a:pt x="129667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6998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历时估算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4122" y="3698366"/>
            <a:ext cx="536575" cy="453390"/>
          </a:xfrm>
          <a:custGeom>
            <a:avLst/>
            <a:gdLst/>
            <a:ahLst/>
            <a:cxnLst/>
            <a:rect l="l" t="t" r="r" b="b"/>
            <a:pathLst>
              <a:path w="536575" h="453389">
                <a:moveTo>
                  <a:pt x="428117" y="0"/>
                </a:moveTo>
                <a:lnTo>
                  <a:pt x="106425" y="1015"/>
                </a:lnTo>
                <a:lnTo>
                  <a:pt x="107315" y="227456"/>
                </a:lnTo>
                <a:lnTo>
                  <a:pt x="0" y="227710"/>
                </a:lnTo>
                <a:lnTo>
                  <a:pt x="268858" y="453262"/>
                </a:lnTo>
                <a:lnTo>
                  <a:pt x="535745" y="226313"/>
                </a:lnTo>
                <a:lnTo>
                  <a:pt x="428878" y="226313"/>
                </a:lnTo>
                <a:lnTo>
                  <a:pt x="428117" y="0"/>
                </a:lnTo>
                <a:close/>
              </a:path>
              <a:path w="536575" h="453389">
                <a:moveTo>
                  <a:pt x="536194" y="225932"/>
                </a:moveTo>
                <a:lnTo>
                  <a:pt x="428878" y="226313"/>
                </a:lnTo>
                <a:lnTo>
                  <a:pt x="535745" y="226313"/>
                </a:lnTo>
                <a:lnTo>
                  <a:pt x="536194" y="225932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5006" y="4365497"/>
            <a:ext cx="2162810" cy="1277620"/>
          </a:xfrm>
          <a:custGeom>
            <a:avLst/>
            <a:gdLst/>
            <a:ahLst/>
            <a:cxnLst/>
            <a:rect l="l" t="t" r="r" b="b"/>
            <a:pathLst>
              <a:path w="2162809" h="1277620">
                <a:moveTo>
                  <a:pt x="2034794" y="0"/>
                </a:moveTo>
                <a:lnTo>
                  <a:pt x="127762" y="0"/>
                </a:lnTo>
                <a:lnTo>
                  <a:pt x="78009" y="10033"/>
                </a:lnTo>
                <a:lnTo>
                  <a:pt x="37401" y="37401"/>
                </a:lnTo>
                <a:lnTo>
                  <a:pt x="10032" y="78009"/>
                </a:lnTo>
                <a:lnTo>
                  <a:pt x="0" y="127762"/>
                </a:lnTo>
                <a:lnTo>
                  <a:pt x="0" y="1149349"/>
                </a:lnTo>
                <a:lnTo>
                  <a:pt x="10033" y="1199102"/>
                </a:lnTo>
                <a:lnTo>
                  <a:pt x="37401" y="1239710"/>
                </a:lnTo>
                <a:lnTo>
                  <a:pt x="78009" y="1267079"/>
                </a:lnTo>
                <a:lnTo>
                  <a:pt x="127762" y="1277111"/>
                </a:lnTo>
                <a:lnTo>
                  <a:pt x="2034794" y="1277111"/>
                </a:lnTo>
                <a:lnTo>
                  <a:pt x="2084546" y="1267079"/>
                </a:lnTo>
                <a:lnTo>
                  <a:pt x="2125154" y="1239710"/>
                </a:lnTo>
                <a:lnTo>
                  <a:pt x="2152523" y="1199102"/>
                </a:lnTo>
                <a:lnTo>
                  <a:pt x="2162555" y="1149349"/>
                </a:lnTo>
                <a:lnTo>
                  <a:pt x="2162555" y="127762"/>
                </a:lnTo>
                <a:lnTo>
                  <a:pt x="2152523" y="78009"/>
                </a:lnTo>
                <a:lnTo>
                  <a:pt x="2125154" y="37401"/>
                </a:lnTo>
                <a:lnTo>
                  <a:pt x="2084546" y="10033"/>
                </a:lnTo>
                <a:lnTo>
                  <a:pt x="203479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80454" y="4767148"/>
            <a:ext cx="185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项目进度编排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955" y="4745609"/>
            <a:ext cx="463550" cy="536575"/>
          </a:xfrm>
          <a:custGeom>
            <a:avLst/>
            <a:gdLst/>
            <a:ahLst/>
            <a:cxnLst/>
            <a:rect l="l" t="t" r="r" b="b"/>
            <a:pathLst>
              <a:path w="463550" h="536575">
                <a:moveTo>
                  <a:pt x="229235" y="0"/>
                </a:moveTo>
                <a:lnTo>
                  <a:pt x="0" y="269621"/>
                </a:lnTo>
                <a:lnTo>
                  <a:pt x="232918" y="536067"/>
                </a:lnTo>
                <a:lnTo>
                  <a:pt x="232156" y="428879"/>
                </a:lnTo>
                <a:lnTo>
                  <a:pt x="463296" y="427228"/>
                </a:lnTo>
                <a:lnTo>
                  <a:pt x="461021" y="107188"/>
                </a:lnTo>
                <a:lnTo>
                  <a:pt x="229870" y="107188"/>
                </a:lnTo>
                <a:lnTo>
                  <a:pt x="229235" y="0"/>
                </a:lnTo>
                <a:close/>
              </a:path>
              <a:path w="463550" h="536575">
                <a:moveTo>
                  <a:pt x="461010" y="105537"/>
                </a:moveTo>
                <a:lnTo>
                  <a:pt x="229870" y="107188"/>
                </a:lnTo>
                <a:lnTo>
                  <a:pt x="461021" y="107188"/>
                </a:lnTo>
                <a:lnTo>
                  <a:pt x="461010" y="105537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2246" y="4376165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3" y="37972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24"/>
                </a:lnTo>
                <a:lnTo>
                  <a:pt x="37972" y="1258941"/>
                </a:lnTo>
                <a:lnTo>
                  <a:pt x="79188" y="1286732"/>
                </a:lnTo>
                <a:lnTo>
                  <a:pt x="129666" y="1296923"/>
                </a:lnTo>
                <a:lnTo>
                  <a:pt x="2031364" y="1296923"/>
                </a:lnTo>
                <a:lnTo>
                  <a:pt x="2081843" y="1286732"/>
                </a:lnTo>
                <a:lnTo>
                  <a:pt x="2123058" y="1258941"/>
                </a:lnTo>
                <a:lnTo>
                  <a:pt x="2150844" y="1217724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2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900" y="4788789"/>
            <a:ext cx="1856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华文仿宋"/>
                <a:cs typeface="华文仿宋"/>
              </a:rPr>
              <a:t>项目进度确定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71926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任务定义（</a:t>
            </a:r>
            <a:r>
              <a:rPr i="1" dirty="0">
                <a:latin typeface="华文隶书"/>
                <a:cs typeface="华文隶书"/>
              </a:rPr>
              <a:t>Defining</a:t>
            </a:r>
            <a:r>
              <a:rPr i="1" spc="-10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Activities</a:t>
            </a:r>
            <a:r>
              <a:rPr dirty="0">
                <a:latin typeface="华文隶书"/>
                <a:cs typeface="华文隶书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2205989"/>
            <a:ext cx="7992109" cy="137033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90805" marR="166370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华文新魏"/>
                <a:cs typeface="华文新魏"/>
              </a:rPr>
              <a:t>确定为完成项目的各个</a:t>
            </a:r>
            <a:r>
              <a:rPr sz="3200" spc="-15" dirty="0">
                <a:latin typeface="华文新魏"/>
                <a:cs typeface="华文新魏"/>
              </a:rPr>
              <a:t>交</a:t>
            </a:r>
            <a:r>
              <a:rPr sz="3200" dirty="0">
                <a:latin typeface="华文新魏"/>
                <a:cs typeface="华文新魏"/>
              </a:rPr>
              <a:t>付成</a:t>
            </a:r>
            <a:r>
              <a:rPr sz="3200" spc="-15" dirty="0">
                <a:latin typeface="华文新魏"/>
                <a:cs typeface="华文新魏"/>
              </a:rPr>
              <a:t>果</a:t>
            </a:r>
            <a:r>
              <a:rPr sz="3200" dirty="0">
                <a:latin typeface="华文新魏"/>
                <a:cs typeface="华文新魏"/>
              </a:rPr>
              <a:t>所必</a:t>
            </a:r>
            <a:r>
              <a:rPr sz="3200" spc="-15" dirty="0">
                <a:latin typeface="华文新魏"/>
                <a:cs typeface="华文新魏"/>
              </a:rPr>
              <a:t>须</a:t>
            </a:r>
            <a:r>
              <a:rPr sz="3200" dirty="0">
                <a:latin typeface="华文新魏"/>
                <a:cs typeface="华文新魏"/>
              </a:rPr>
              <a:t>进行 的诸项具体活动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208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任务定义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24" y="1268729"/>
            <a:ext cx="1536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8858" y="2721101"/>
            <a:ext cx="2153920" cy="52324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320"/>
              </a:spcBef>
            </a:pPr>
            <a:r>
              <a:rPr sz="2800" spc="-5" dirty="0">
                <a:latin typeface="宋体"/>
                <a:cs typeface="宋体"/>
              </a:rPr>
              <a:t>子系统</a:t>
            </a:r>
            <a:r>
              <a:rPr sz="2800" spc="-5" dirty="0">
                <a:latin typeface="Arial Narrow"/>
                <a:cs typeface="Arial Narrow"/>
              </a:rPr>
              <a:t>1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02914" y="1034033"/>
            <a:ext cx="2220595" cy="523240"/>
          </a:xfrm>
          <a:custGeom>
            <a:avLst/>
            <a:gdLst/>
            <a:ahLst/>
            <a:cxnLst/>
            <a:rect l="l" t="t" r="r" b="b"/>
            <a:pathLst>
              <a:path w="2220595" h="523240">
                <a:moveTo>
                  <a:pt x="0" y="522732"/>
                </a:moveTo>
                <a:lnTo>
                  <a:pt x="2220467" y="522732"/>
                </a:lnTo>
                <a:lnTo>
                  <a:pt x="2220467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153729"/>
              </p:ext>
            </p:extLst>
          </p:nvPr>
        </p:nvGraphicFramePr>
        <p:xfrm>
          <a:off x="3147251" y="4719447"/>
          <a:ext cx="3273422" cy="1726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1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99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gridSpan="5">
                  <a:txBody>
                    <a:bodyPr/>
                    <a:lstStyle/>
                    <a:p>
                      <a:pPr marR="13970"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600" spc="-5" dirty="0">
                          <a:latin typeface="宋体"/>
                          <a:cs typeface="宋体"/>
                        </a:rPr>
                        <a:t>设计</a:t>
                      </a:r>
                      <a:endParaRPr sz="1600" dirty="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907"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1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740">
                <a:tc gridSpan="3"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3200" dirty="0">
                          <a:solidFill>
                            <a:srgbClr val="AFAC00"/>
                          </a:solidFill>
                          <a:latin typeface="宋体"/>
                          <a:cs typeface="宋体"/>
                        </a:rPr>
                        <a:t>任务</a:t>
                      </a:r>
                      <a:r>
                        <a:rPr sz="3200" dirty="0">
                          <a:solidFill>
                            <a:srgbClr val="AFAC00"/>
                          </a:solidFill>
                          <a:latin typeface="Arial Narrow"/>
                          <a:cs typeface="Arial Narrow"/>
                        </a:rPr>
                        <a:t>1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3200" dirty="0">
                          <a:solidFill>
                            <a:srgbClr val="AFAC00"/>
                          </a:solidFill>
                          <a:latin typeface="宋体"/>
                          <a:cs typeface="宋体"/>
                        </a:rPr>
                        <a:t>任务</a:t>
                      </a:r>
                      <a:r>
                        <a:rPr sz="3200" dirty="0">
                          <a:solidFill>
                            <a:srgbClr val="AFAC00"/>
                          </a:solidFill>
                          <a:latin typeface="Arial Narrow"/>
                          <a:cs typeface="Arial Narrow"/>
                        </a:rPr>
                        <a:t>2</a:t>
                      </a:r>
                      <a:endParaRPr sz="3200" dirty="0">
                        <a:latin typeface="Arial Narrow"/>
                        <a:cs typeface="Arial Narrow"/>
                      </a:endParaRPr>
                    </a:p>
                  </a:txBody>
                  <a:tcPr marL="0" marR="0" marT="4127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515867" y="1062354"/>
            <a:ext cx="22040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324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某系统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91917" y="2094738"/>
            <a:ext cx="4784090" cy="0"/>
          </a:xfrm>
          <a:custGeom>
            <a:avLst/>
            <a:gdLst/>
            <a:ahLst/>
            <a:cxnLst/>
            <a:rect l="l" t="t" r="r" b="b"/>
            <a:pathLst>
              <a:path w="4784090">
                <a:moveTo>
                  <a:pt x="0" y="0"/>
                </a:moveTo>
                <a:lnTo>
                  <a:pt x="4783835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91917" y="2094738"/>
            <a:ext cx="0" cy="640080"/>
          </a:xfrm>
          <a:custGeom>
            <a:avLst/>
            <a:gdLst/>
            <a:ahLst/>
            <a:cxnLst/>
            <a:rect l="l" t="t" r="r" b="b"/>
            <a:pathLst>
              <a:path h="640080">
                <a:moveTo>
                  <a:pt x="0" y="0"/>
                </a:moveTo>
                <a:lnTo>
                  <a:pt x="0" y="64007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175754" y="2094738"/>
            <a:ext cx="0" cy="640080"/>
          </a:xfrm>
          <a:custGeom>
            <a:avLst/>
            <a:gdLst/>
            <a:ahLst/>
            <a:cxnLst/>
            <a:rect l="l" t="t" r="r" b="b"/>
            <a:pathLst>
              <a:path h="640080">
                <a:moveTo>
                  <a:pt x="0" y="0"/>
                </a:moveTo>
                <a:lnTo>
                  <a:pt x="0" y="640079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12385" y="1547622"/>
            <a:ext cx="0" cy="1187450"/>
          </a:xfrm>
          <a:custGeom>
            <a:avLst/>
            <a:gdLst/>
            <a:ahLst/>
            <a:cxnLst/>
            <a:rect l="l" t="t" r="r" b="b"/>
            <a:pathLst>
              <a:path h="1187450">
                <a:moveTo>
                  <a:pt x="0" y="0"/>
                </a:moveTo>
                <a:lnTo>
                  <a:pt x="0" y="118719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77261" y="3920490"/>
            <a:ext cx="4784090" cy="0"/>
          </a:xfrm>
          <a:custGeom>
            <a:avLst/>
            <a:gdLst/>
            <a:ahLst/>
            <a:cxnLst/>
            <a:rect l="l" t="t" r="r" b="b"/>
            <a:pathLst>
              <a:path w="4784090">
                <a:moveTo>
                  <a:pt x="0" y="0"/>
                </a:moveTo>
                <a:lnTo>
                  <a:pt x="4783836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477261" y="4011929"/>
            <a:ext cx="0" cy="638810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0"/>
                </a:moveTo>
                <a:lnTo>
                  <a:pt x="0" y="638556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46442" y="3920490"/>
            <a:ext cx="0" cy="638810"/>
          </a:xfrm>
          <a:custGeom>
            <a:avLst/>
            <a:gdLst/>
            <a:ahLst/>
            <a:cxnLst/>
            <a:rect l="l" t="t" r="r" b="b"/>
            <a:pathLst>
              <a:path h="638810">
                <a:moveTo>
                  <a:pt x="0" y="0"/>
                </a:moveTo>
                <a:lnTo>
                  <a:pt x="0" y="638556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697729" y="3373373"/>
            <a:ext cx="0" cy="1277620"/>
          </a:xfrm>
          <a:custGeom>
            <a:avLst/>
            <a:gdLst/>
            <a:ahLst/>
            <a:cxnLst/>
            <a:rect l="l" t="t" r="r" b="b"/>
            <a:pathLst>
              <a:path h="1277620">
                <a:moveTo>
                  <a:pt x="0" y="0"/>
                </a:moveTo>
                <a:lnTo>
                  <a:pt x="0" y="127711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88258" y="2643377"/>
            <a:ext cx="2153920" cy="523240"/>
          </a:xfrm>
          <a:custGeom>
            <a:avLst/>
            <a:gdLst/>
            <a:ahLst/>
            <a:cxnLst/>
            <a:rect l="l" t="t" r="r" b="b"/>
            <a:pathLst>
              <a:path w="2153920" h="523239">
                <a:moveTo>
                  <a:pt x="0" y="522732"/>
                </a:moveTo>
                <a:lnTo>
                  <a:pt x="2153412" y="522732"/>
                </a:lnTo>
                <a:lnTo>
                  <a:pt x="2153412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4038727" y="2671317"/>
            <a:ext cx="12528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子系统</a:t>
            </a:r>
            <a:r>
              <a:rPr sz="2800" spc="-5" dirty="0">
                <a:latin typeface="Arial Narrow"/>
                <a:cs typeface="Arial Narrow"/>
              </a:rPr>
              <a:t>2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50102" y="2643377"/>
            <a:ext cx="2153920" cy="523240"/>
          </a:xfrm>
          <a:custGeom>
            <a:avLst/>
            <a:gdLst/>
            <a:ahLst/>
            <a:cxnLst/>
            <a:rect l="l" t="t" r="r" b="b"/>
            <a:pathLst>
              <a:path w="2153920" h="523239">
                <a:moveTo>
                  <a:pt x="0" y="522732"/>
                </a:moveTo>
                <a:lnTo>
                  <a:pt x="2153411" y="522732"/>
                </a:lnTo>
                <a:lnTo>
                  <a:pt x="2153411" y="0"/>
                </a:lnTo>
                <a:lnTo>
                  <a:pt x="0" y="0"/>
                </a:lnTo>
                <a:lnTo>
                  <a:pt x="0" y="52273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601459" y="2671317"/>
            <a:ext cx="12534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子系</a:t>
            </a:r>
            <a:r>
              <a:rPr sz="2800" spc="-10" dirty="0">
                <a:latin typeface="宋体"/>
                <a:cs typeface="宋体"/>
              </a:rPr>
              <a:t>统</a:t>
            </a:r>
            <a:r>
              <a:rPr sz="2800" spc="-5" dirty="0">
                <a:latin typeface="Arial Narrow"/>
                <a:cs typeface="Arial Narrow"/>
              </a:rPr>
              <a:t>3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4202" y="4741926"/>
            <a:ext cx="2068195" cy="338455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444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50"/>
              </a:spcBef>
            </a:pPr>
            <a:r>
              <a:rPr sz="1600" spc="-5" dirty="0">
                <a:latin typeface="宋体"/>
                <a:cs typeface="宋体"/>
              </a:rPr>
              <a:t>需求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320790" y="4741926"/>
            <a:ext cx="2068195" cy="338455"/>
          </a:xfrm>
          <a:custGeom>
            <a:avLst/>
            <a:gdLst/>
            <a:ahLst/>
            <a:cxnLst/>
            <a:rect l="l" t="t" r="r" b="b"/>
            <a:pathLst>
              <a:path w="2068195" h="338454">
                <a:moveTo>
                  <a:pt x="0" y="338328"/>
                </a:moveTo>
                <a:lnTo>
                  <a:pt x="2068067" y="338328"/>
                </a:lnTo>
                <a:lnTo>
                  <a:pt x="2068067" y="0"/>
                </a:lnTo>
                <a:lnTo>
                  <a:pt x="0" y="0"/>
                </a:lnTo>
                <a:lnTo>
                  <a:pt x="0" y="33832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140067" y="4774184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实施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341365" y="3284982"/>
            <a:ext cx="1895475" cy="1434465"/>
          </a:xfrm>
          <a:custGeom>
            <a:avLst/>
            <a:gdLst/>
            <a:ahLst/>
            <a:cxnLst/>
            <a:rect l="l" t="t" r="r" b="b"/>
            <a:pathLst>
              <a:path w="1895475" h="1434464">
                <a:moveTo>
                  <a:pt x="23875" y="84073"/>
                </a:moveTo>
                <a:lnTo>
                  <a:pt x="30476" y="51327"/>
                </a:lnTo>
                <a:lnTo>
                  <a:pt x="48482" y="24606"/>
                </a:lnTo>
                <a:lnTo>
                  <a:pt x="75203" y="6600"/>
                </a:lnTo>
                <a:lnTo>
                  <a:pt x="107950" y="0"/>
                </a:lnTo>
                <a:lnTo>
                  <a:pt x="335788" y="0"/>
                </a:lnTo>
                <a:lnTo>
                  <a:pt x="803656" y="0"/>
                </a:lnTo>
                <a:lnTo>
                  <a:pt x="1811274" y="0"/>
                </a:lnTo>
                <a:lnTo>
                  <a:pt x="1844020" y="6600"/>
                </a:lnTo>
                <a:lnTo>
                  <a:pt x="1870741" y="24606"/>
                </a:lnTo>
                <a:lnTo>
                  <a:pt x="1888747" y="51327"/>
                </a:lnTo>
                <a:lnTo>
                  <a:pt x="1895348" y="84073"/>
                </a:lnTo>
                <a:lnTo>
                  <a:pt x="1895348" y="294258"/>
                </a:lnTo>
                <a:lnTo>
                  <a:pt x="1895348" y="420369"/>
                </a:lnTo>
                <a:lnTo>
                  <a:pt x="1888747" y="453116"/>
                </a:lnTo>
                <a:lnTo>
                  <a:pt x="1870741" y="479837"/>
                </a:lnTo>
                <a:lnTo>
                  <a:pt x="1844020" y="497843"/>
                </a:lnTo>
                <a:lnTo>
                  <a:pt x="1811274" y="504443"/>
                </a:lnTo>
                <a:lnTo>
                  <a:pt x="803656" y="504443"/>
                </a:lnTo>
                <a:lnTo>
                  <a:pt x="0" y="1434083"/>
                </a:lnTo>
                <a:lnTo>
                  <a:pt x="335788" y="504443"/>
                </a:lnTo>
                <a:lnTo>
                  <a:pt x="107950" y="504443"/>
                </a:lnTo>
                <a:lnTo>
                  <a:pt x="75203" y="497843"/>
                </a:lnTo>
                <a:lnTo>
                  <a:pt x="48482" y="479837"/>
                </a:lnTo>
                <a:lnTo>
                  <a:pt x="30476" y="453116"/>
                </a:lnTo>
                <a:lnTo>
                  <a:pt x="23875" y="420369"/>
                </a:lnTo>
                <a:lnTo>
                  <a:pt x="23875" y="294258"/>
                </a:lnTo>
                <a:lnTo>
                  <a:pt x="23875" y="84073"/>
                </a:lnTo>
                <a:close/>
              </a:path>
            </a:pathLst>
          </a:custGeom>
          <a:ln w="25908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716015" y="3340100"/>
            <a:ext cx="1168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66FF"/>
                </a:solidFill>
                <a:latin typeface="宋体"/>
                <a:cs typeface="宋体"/>
              </a:rPr>
              <a:t>设计说明书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40258" y="5374385"/>
            <a:ext cx="2583180" cy="688975"/>
          </a:xfrm>
          <a:custGeom>
            <a:avLst/>
            <a:gdLst/>
            <a:ahLst/>
            <a:cxnLst/>
            <a:rect l="l" t="t" r="r" b="b"/>
            <a:pathLst>
              <a:path w="2583180" h="688975">
                <a:moveTo>
                  <a:pt x="0" y="71881"/>
                </a:moveTo>
                <a:lnTo>
                  <a:pt x="5648" y="43880"/>
                </a:lnTo>
                <a:lnTo>
                  <a:pt x="21053" y="21034"/>
                </a:lnTo>
                <a:lnTo>
                  <a:pt x="43901" y="5641"/>
                </a:lnTo>
                <a:lnTo>
                  <a:pt x="71882" y="0"/>
                </a:lnTo>
                <a:lnTo>
                  <a:pt x="1302385" y="0"/>
                </a:lnTo>
                <a:lnTo>
                  <a:pt x="1860550" y="0"/>
                </a:lnTo>
                <a:lnTo>
                  <a:pt x="2160778" y="0"/>
                </a:lnTo>
                <a:lnTo>
                  <a:pt x="2188779" y="5641"/>
                </a:lnTo>
                <a:lnTo>
                  <a:pt x="2211625" y="21034"/>
                </a:lnTo>
                <a:lnTo>
                  <a:pt x="2227018" y="43880"/>
                </a:lnTo>
                <a:lnTo>
                  <a:pt x="2232660" y="71881"/>
                </a:lnTo>
                <a:lnTo>
                  <a:pt x="2232660" y="251586"/>
                </a:lnTo>
                <a:lnTo>
                  <a:pt x="2232660" y="359409"/>
                </a:lnTo>
                <a:lnTo>
                  <a:pt x="2227018" y="387390"/>
                </a:lnTo>
                <a:lnTo>
                  <a:pt x="2211625" y="410238"/>
                </a:lnTo>
                <a:lnTo>
                  <a:pt x="2188779" y="425643"/>
                </a:lnTo>
                <a:lnTo>
                  <a:pt x="2160778" y="431291"/>
                </a:lnTo>
                <a:lnTo>
                  <a:pt x="1860550" y="431291"/>
                </a:lnTo>
                <a:lnTo>
                  <a:pt x="2582799" y="688809"/>
                </a:lnTo>
                <a:lnTo>
                  <a:pt x="1302385" y="431291"/>
                </a:lnTo>
                <a:lnTo>
                  <a:pt x="71882" y="431291"/>
                </a:lnTo>
                <a:lnTo>
                  <a:pt x="43901" y="425643"/>
                </a:lnTo>
                <a:lnTo>
                  <a:pt x="21053" y="410238"/>
                </a:lnTo>
                <a:lnTo>
                  <a:pt x="5648" y="387390"/>
                </a:lnTo>
                <a:lnTo>
                  <a:pt x="0" y="359409"/>
                </a:lnTo>
                <a:lnTo>
                  <a:pt x="0" y="251586"/>
                </a:lnTo>
                <a:lnTo>
                  <a:pt x="0" y="71881"/>
                </a:lnTo>
                <a:close/>
              </a:path>
            </a:pathLst>
          </a:custGeom>
          <a:ln w="25907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42568" y="5426150"/>
            <a:ext cx="162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宋体"/>
                <a:cs typeface="宋体"/>
              </a:rPr>
              <a:t>编写设计说明书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493383" y="5301234"/>
            <a:ext cx="2112010" cy="862330"/>
          </a:xfrm>
          <a:custGeom>
            <a:avLst/>
            <a:gdLst/>
            <a:ahLst/>
            <a:cxnLst/>
            <a:rect l="l" t="t" r="r" b="b"/>
            <a:pathLst>
              <a:path w="2112009" h="862329">
                <a:moveTo>
                  <a:pt x="167259" y="71881"/>
                </a:moveTo>
                <a:lnTo>
                  <a:pt x="172900" y="43880"/>
                </a:lnTo>
                <a:lnTo>
                  <a:pt x="188293" y="21034"/>
                </a:lnTo>
                <a:lnTo>
                  <a:pt x="211139" y="5641"/>
                </a:lnTo>
                <a:lnTo>
                  <a:pt x="239140" y="0"/>
                </a:lnTo>
                <a:lnTo>
                  <a:pt x="491363" y="0"/>
                </a:lnTo>
                <a:lnTo>
                  <a:pt x="977518" y="0"/>
                </a:lnTo>
                <a:lnTo>
                  <a:pt x="2040000" y="0"/>
                </a:lnTo>
                <a:lnTo>
                  <a:pt x="2068002" y="5641"/>
                </a:lnTo>
                <a:lnTo>
                  <a:pt x="2090848" y="21034"/>
                </a:lnTo>
                <a:lnTo>
                  <a:pt x="2106241" y="43880"/>
                </a:lnTo>
                <a:lnTo>
                  <a:pt x="2111883" y="71881"/>
                </a:lnTo>
                <a:lnTo>
                  <a:pt x="2111883" y="251586"/>
                </a:lnTo>
                <a:lnTo>
                  <a:pt x="2111883" y="359409"/>
                </a:lnTo>
                <a:lnTo>
                  <a:pt x="2106241" y="387390"/>
                </a:lnTo>
                <a:lnTo>
                  <a:pt x="2090848" y="410238"/>
                </a:lnTo>
                <a:lnTo>
                  <a:pt x="2068002" y="425643"/>
                </a:lnTo>
                <a:lnTo>
                  <a:pt x="2040000" y="431291"/>
                </a:lnTo>
                <a:lnTo>
                  <a:pt x="977518" y="431291"/>
                </a:lnTo>
                <a:lnTo>
                  <a:pt x="0" y="862228"/>
                </a:lnTo>
                <a:lnTo>
                  <a:pt x="491363" y="431291"/>
                </a:lnTo>
                <a:lnTo>
                  <a:pt x="239140" y="431291"/>
                </a:lnTo>
                <a:lnTo>
                  <a:pt x="211139" y="425643"/>
                </a:lnTo>
                <a:lnTo>
                  <a:pt x="188293" y="410238"/>
                </a:lnTo>
                <a:lnTo>
                  <a:pt x="172900" y="387390"/>
                </a:lnTo>
                <a:lnTo>
                  <a:pt x="167259" y="359409"/>
                </a:lnTo>
                <a:lnTo>
                  <a:pt x="167259" y="251586"/>
                </a:lnTo>
                <a:lnTo>
                  <a:pt x="167259" y="71881"/>
                </a:lnTo>
                <a:close/>
              </a:path>
            </a:pathLst>
          </a:custGeom>
          <a:ln w="25908">
            <a:solidFill>
              <a:srgbClr val="FF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7163181" y="5352694"/>
            <a:ext cx="939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宋体"/>
                <a:cs typeface="宋体"/>
              </a:rPr>
              <a:t>设计评审</a:t>
            </a:r>
            <a:endParaRPr sz="1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项目进度计划过程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465581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92" y="0"/>
                </a:lnTo>
                <a:lnTo>
                  <a:pt x="79209" y="10187"/>
                </a:lnTo>
                <a:lnTo>
                  <a:pt x="37985" y="37973"/>
                </a:lnTo>
                <a:lnTo>
                  <a:pt x="10191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91" y="1217735"/>
                </a:lnTo>
                <a:lnTo>
                  <a:pt x="37985" y="1258951"/>
                </a:lnTo>
                <a:lnTo>
                  <a:pt x="79209" y="1286736"/>
                </a:lnTo>
                <a:lnTo>
                  <a:pt x="129692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9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147" y="258851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华文仿宋"/>
                <a:cs typeface="华文仿宋"/>
              </a:rPr>
              <a:t>任务定义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6351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246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2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2" y="1258951"/>
                </a:lnTo>
                <a:lnTo>
                  <a:pt x="79188" y="1286736"/>
                </a:lnTo>
                <a:lnTo>
                  <a:pt x="129666" y="1296924"/>
                </a:lnTo>
                <a:lnTo>
                  <a:pt x="2031364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348990" y="1916429"/>
            <a:ext cx="2592705" cy="187325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 marL="613410">
              <a:lnSpc>
                <a:spcPct val="100000"/>
              </a:lnSpc>
              <a:spcBef>
                <a:spcPts val="2125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任务关系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3015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8909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67" y="0"/>
                </a:lnTo>
                <a:lnTo>
                  <a:pt x="79188" y="10187"/>
                </a:lnTo>
                <a:lnTo>
                  <a:pt x="37973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3" y="1258951"/>
                </a:lnTo>
                <a:lnTo>
                  <a:pt x="79188" y="1286736"/>
                </a:lnTo>
                <a:lnTo>
                  <a:pt x="129667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6998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历时估算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4122" y="3698366"/>
            <a:ext cx="536575" cy="453390"/>
          </a:xfrm>
          <a:custGeom>
            <a:avLst/>
            <a:gdLst/>
            <a:ahLst/>
            <a:cxnLst/>
            <a:rect l="l" t="t" r="r" b="b"/>
            <a:pathLst>
              <a:path w="536575" h="453389">
                <a:moveTo>
                  <a:pt x="428117" y="0"/>
                </a:moveTo>
                <a:lnTo>
                  <a:pt x="106425" y="1015"/>
                </a:lnTo>
                <a:lnTo>
                  <a:pt x="107315" y="227456"/>
                </a:lnTo>
                <a:lnTo>
                  <a:pt x="0" y="227710"/>
                </a:lnTo>
                <a:lnTo>
                  <a:pt x="268858" y="453262"/>
                </a:lnTo>
                <a:lnTo>
                  <a:pt x="535745" y="226313"/>
                </a:lnTo>
                <a:lnTo>
                  <a:pt x="428878" y="226313"/>
                </a:lnTo>
                <a:lnTo>
                  <a:pt x="428117" y="0"/>
                </a:lnTo>
                <a:close/>
              </a:path>
              <a:path w="536575" h="453389">
                <a:moveTo>
                  <a:pt x="536194" y="225932"/>
                </a:moveTo>
                <a:lnTo>
                  <a:pt x="428878" y="226313"/>
                </a:lnTo>
                <a:lnTo>
                  <a:pt x="535745" y="226313"/>
                </a:lnTo>
                <a:lnTo>
                  <a:pt x="536194" y="225932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5006" y="4365497"/>
            <a:ext cx="2162810" cy="1277620"/>
          </a:xfrm>
          <a:custGeom>
            <a:avLst/>
            <a:gdLst/>
            <a:ahLst/>
            <a:cxnLst/>
            <a:rect l="l" t="t" r="r" b="b"/>
            <a:pathLst>
              <a:path w="2162809" h="1277620">
                <a:moveTo>
                  <a:pt x="2034794" y="0"/>
                </a:moveTo>
                <a:lnTo>
                  <a:pt x="127762" y="0"/>
                </a:lnTo>
                <a:lnTo>
                  <a:pt x="78009" y="10033"/>
                </a:lnTo>
                <a:lnTo>
                  <a:pt x="37401" y="37401"/>
                </a:lnTo>
                <a:lnTo>
                  <a:pt x="10032" y="78009"/>
                </a:lnTo>
                <a:lnTo>
                  <a:pt x="0" y="127762"/>
                </a:lnTo>
                <a:lnTo>
                  <a:pt x="0" y="1149349"/>
                </a:lnTo>
                <a:lnTo>
                  <a:pt x="10033" y="1199102"/>
                </a:lnTo>
                <a:lnTo>
                  <a:pt x="37401" y="1239710"/>
                </a:lnTo>
                <a:lnTo>
                  <a:pt x="78009" y="1267079"/>
                </a:lnTo>
                <a:lnTo>
                  <a:pt x="127762" y="1277111"/>
                </a:lnTo>
                <a:lnTo>
                  <a:pt x="2034794" y="1277111"/>
                </a:lnTo>
                <a:lnTo>
                  <a:pt x="2084546" y="1267079"/>
                </a:lnTo>
                <a:lnTo>
                  <a:pt x="2125154" y="1239710"/>
                </a:lnTo>
                <a:lnTo>
                  <a:pt x="2152523" y="1199102"/>
                </a:lnTo>
                <a:lnTo>
                  <a:pt x="2162555" y="1149349"/>
                </a:lnTo>
                <a:lnTo>
                  <a:pt x="2162555" y="127762"/>
                </a:lnTo>
                <a:lnTo>
                  <a:pt x="2152523" y="78009"/>
                </a:lnTo>
                <a:lnTo>
                  <a:pt x="2125154" y="37401"/>
                </a:lnTo>
                <a:lnTo>
                  <a:pt x="2084546" y="10033"/>
                </a:lnTo>
                <a:lnTo>
                  <a:pt x="203479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80454" y="4767148"/>
            <a:ext cx="185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项目进度编排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955" y="4745609"/>
            <a:ext cx="463550" cy="536575"/>
          </a:xfrm>
          <a:custGeom>
            <a:avLst/>
            <a:gdLst/>
            <a:ahLst/>
            <a:cxnLst/>
            <a:rect l="l" t="t" r="r" b="b"/>
            <a:pathLst>
              <a:path w="463550" h="536575">
                <a:moveTo>
                  <a:pt x="229235" y="0"/>
                </a:moveTo>
                <a:lnTo>
                  <a:pt x="0" y="269621"/>
                </a:lnTo>
                <a:lnTo>
                  <a:pt x="232918" y="536067"/>
                </a:lnTo>
                <a:lnTo>
                  <a:pt x="232156" y="428879"/>
                </a:lnTo>
                <a:lnTo>
                  <a:pt x="463296" y="427228"/>
                </a:lnTo>
                <a:lnTo>
                  <a:pt x="461021" y="107188"/>
                </a:lnTo>
                <a:lnTo>
                  <a:pt x="229870" y="107188"/>
                </a:lnTo>
                <a:lnTo>
                  <a:pt x="229235" y="0"/>
                </a:lnTo>
                <a:close/>
              </a:path>
              <a:path w="463550" h="536575">
                <a:moveTo>
                  <a:pt x="461010" y="105537"/>
                </a:moveTo>
                <a:lnTo>
                  <a:pt x="229870" y="107188"/>
                </a:lnTo>
                <a:lnTo>
                  <a:pt x="461021" y="107188"/>
                </a:lnTo>
                <a:lnTo>
                  <a:pt x="461010" y="105537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2246" y="4376165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3" y="37972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24"/>
                </a:lnTo>
                <a:lnTo>
                  <a:pt x="37972" y="1258941"/>
                </a:lnTo>
                <a:lnTo>
                  <a:pt x="79188" y="1286732"/>
                </a:lnTo>
                <a:lnTo>
                  <a:pt x="129666" y="1296923"/>
                </a:lnTo>
                <a:lnTo>
                  <a:pt x="2031364" y="1296923"/>
                </a:lnTo>
                <a:lnTo>
                  <a:pt x="2081843" y="1286732"/>
                </a:lnTo>
                <a:lnTo>
                  <a:pt x="2123058" y="1258941"/>
                </a:lnTo>
                <a:lnTo>
                  <a:pt x="2150844" y="1217724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2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900" y="4788789"/>
            <a:ext cx="1856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华文仿宋"/>
                <a:cs typeface="华文仿宋"/>
              </a:rPr>
              <a:t>项目进度确定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项目任务的关联关系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62246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2134361"/>
            <a:ext cx="8153400" cy="12242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50"/>
              </a:spcBef>
            </a:pPr>
            <a:r>
              <a:rPr sz="2900" dirty="0">
                <a:latin typeface="华文隶书"/>
                <a:cs typeface="华文隶书"/>
              </a:rPr>
              <a:t>项目各项活动之间存在</a:t>
            </a:r>
            <a:r>
              <a:rPr sz="2900" spc="-15" dirty="0">
                <a:latin typeface="华文隶书"/>
                <a:cs typeface="华文隶书"/>
              </a:rPr>
              <a:t>一</a:t>
            </a:r>
            <a:r>
              <a:rPr sz="2900" dirty="0">
                <a:latin typeface="华文隶书"/>
                <a:cs typeface="华文隶书"/>
              </a:rPr>
              <a:t>定的</a:t>
            </a:r>
            <a:r>
              <a:rPr sz="2900" spc="-10" dirty="0">
                <a:latin typeface="华文隶书"/>
                <a:cs typeface="华文隶书"/>
              </a:rPr>
              <a:t>关</a:t>
            </a:r>
            <a:r>
              <a:rPr sz="2900" dirty="0">
                <a:latin typeface="华文隶书"/>
                <a:cs typeface="华文隶书"/>
              </a:rPr>
              <a:t>联关系</a:t>
            </a:r>
            <a:endParaRPr sz="2900">
              <a:latin typeface="华文隶书"/>
              <a:cs typeface="华文隶书"/>
            </a:endParaRPr>
          </a:p>
          <a:p>
            <a:pPr marL="90805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华文隶书"/>
                <a:cs typeface="华文隶书"/>
              </a:rPr>
              <a:t>根据这些关系安排任务</a:t>
            </a:r>
            <a:r>
              <a:rPr sz="2900" spc="-10" dirty="0">
                <a:latin typeface="华文隶书"/>
                <a:cs typeface="华文隶书"/>
              </a:rPr>
              <a:t>之</a:t>
            </a:r>
            <a:r>
              <a:rPr sz="2900" dirty="0">
                <a:latin typeface="华文隶书"/>
                <a:cs typeface="华文隶书"/>
              </a:rPr>
              <a:t>间的</a:t>
            </a:r>
            <a:r>
              <a:rPr sz="2900" spc="-10" dirty="0">
                <a:latin typeface="华文隶书"/>
                <a:cs typeface="华文隶书"/>
              </a:rPr>
              <a:t>顺</a:t>
            </a:r>
            <a:r>
              <a:rPr sz="2900" spc="5" dirty="0">
                <a:latin typeface="华文隶书"/>
                <a:cs typeface="华文隶书"/>
              </a:rPr>
              <a:t>序</a:t>
            </a:r>
            <a:endParaRPr sz="2900">
              <a:latin typeface="华文隶书"/>
              <a:cs typeface="华文隶书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723638" y="4126229"/>
            <a:ext cx="3253740" cy="11643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723638" y="4126229"/>
            <a:ext cx="2761615" cy="0"/>
          </a:xfrm>
          <a:custGeom>
            <a:avLst/>
            <a:gdLst/>
            <a:ahLst/>
            <a:cxnLst/>
            <a:rect l="l" t="t" r="r" b="b"/>
            <a:pathLst>
              <a:path w="2761615">
                <a:moveTo>
                  <a:pt x="0" y="0"/>
                </a:moveTo>
                <a:lnTo>
                  <a:pt x="2761361" y="0"/>
                </a:lnTo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723638" y="4126229"/>
            <a:ext cx="0" cy="1164590"/>
          </a:xfrm>
          <a:custGeom>
            <a:avLst/>
            <a:gdLst/>
            <a:ahLst/>
            <a:cxnLst/>
            <a:rect l="l" t="t" r="r" b="b"/>
            <a:pathLst>
              <a:path h="1164589">
                <a:moveTo>
                  <a:pt x="0" y="1164336"/>
                </a:moveTo>
                <a:lnTo>
                  <a:pt x="0" y="0"/>
                </a:lnTo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84998" y="4126229"/>
            <a:ext cx="492759" cy="1164590"/>
          </a:xfrm>
          <a:custGeom>
            <a:avLst/>
            <a:gdLst/>
            <a:ahLst/>
            <a:cxnLst/>
            <a:rect l="l" t="t" r="r" b="b"/>
            <a:pathLst>
              <a:path w="492759" h="1164589">
                <a:moveTo>
                  <a:pt x="0" y="0"/>
                </a:moveTo>
                <a:lnTo>
                  <a:pt x="492378" y="582168"/>
                </a:lnTo>
                <a:lnTo>
                  <a:pt x="0" y="1164336"/>
                </a:lnTo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23638" y="4126229"/>
            <a:ext cx="3253740" cy="11643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23638" y="4126229"/>
            <a:ext cx="3253740" cy="1164590"/>
          </a:xfrm>
          <a:custGeom>
            <a:avLst/>
            <a:gdLst/>
            <a:ahLst/>
            <a:cxnLst/>
            <a:rect l="l" t="t" r="r" b="b"/>
            <a:pathLst>
              <a:path w="3253740" h="1164589">
                <a:moveTo>
                  <a:pt x="0" y="0"/>
                </a:moveTo>
                <a:lnTo>
                  <a:pt x="2761361" y="0"/>
                </a:lnTo>
                <a:lnTo>
                  <a:pt x="3253740" y="582168"/>
                </a:lnTo>
                <a:lnTo>
                  <a:pt x="2761361" y="1164336"/>
                </a:lnTo>
                <a:lnTo>
                  <a:pt x="0" y="116433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8630" y="4117085"/>
            <a:ext cx="3880104" cy="11643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8630" y="4117085"/>
            <a:ext cx="3382010" cy="0"/>
          </a:xfrm>
          <a:custGeom>
            <a:avLst/>
            <a:gdLst/>
            <a:ahLst/>
            <a:cxnLst/>
            <a:rect l="l" t="t" r="r" b="b"/>
            <a:pathLst>
              <a:path w="3382010">
                <a:moveTo>
                  <a:pt x="0" y="0"/>
                </a:moveTo>
                <a:lnTo>
                  <a:pt x="3381756" y="0"/>
                </a:lnTo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68630" y="4117085"/>
            <a:ext cx="0" cy="1164590"/>
          </a:xfrm>
          <a:custGeom>
            <a:avLst/>
            <a:gdLst/>
            <a:ahLst/>
            <a:cxnLst/>
            <a:rect l="l" t="t" r="r" b="b"/>
            <a:pathLst>
              <a:path h="1164589">
                <a:moveTo>
                  <a:pt x="0" y="1164336"/>
                </a:moveTo>
                <a:lnTo>
                  <a:pt x="0" y="0"/>
                </a:lnTo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50385" y="4117085"/>
            <a:ext cx="498475" cy="1164590"/>
          </a:xfrm>
          <a:custGeom>
            <a:avLst/>
            <a:gdLst/>
            <a:ahLst/>
            <a:cxnLst/>
            <a:rect l="l" t="t" r="r" b="b"/>
            <a:pathLst>
              <a:path w="498475" h="1164589">
                <a:moveTo>
                  <a:pt x="0" y="0"/>
                </a:moveTo>
                <a:lnTo>
                  <a:pt x="498348" y="582168"/>
                </a:lnTo>
                <a:lnTo>
                  <a:pt x="0" y="1164336"/>
                </a:lnTo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8630" y="4117085"/>
            <a:ext cx="3880104" cy="11643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8630" y="4117085"/>
            <a:ext cx="3880485" cy="1164590"/>
          </a:xfrm>
          <a:custGeom>
            <a:avLst/>
            <a:gdLst/>
            <a:ahLst/>
            <a:cxnLst/>
            <a:rect l="l" t="t" r="r" b="b"/>
            <a:pathLst>
              <a:path w="3880485" h="1164589">
                <a:moveTo>
                  <a:pt x="0" y="0"/>
                </a:moveTo>
                <a:lnTo>
                  <a:pt x="3381756" y="0"/>
                </a:lnTo>
                <a:lnTo>
                  <a:pt x="3880104" y="582168"/>
                </a:lnTo>
                <a:lnTo>
                  <a:pt x="3381756" y="1164336"/>
                </a:lnTo>
                <a:lnTo>
                  <a:pt x="0" y="1164336"/>
                </a:lnTo>
                <a:lnTo>
                  <a:pt x="0" y="0"/>
                </a:lnTo>
                <a:close/>
              </a:path>
            </a:pathLst>
          </a:custGeom>
          <a:ln w="28956">
            <a:solidFill>
              <a:srgbClr val="F8F8F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062634" y="4507433"/>
            <a:ext cx="2476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AFAC00"/>
                </a:solidFill>
                <a:latin typeface="黑体"/>
                <a:cs typeface="黑体"/>
              </a:rPr>
              <a:t>前置活动（任务）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11877" y="4519625"/>
            <a:ext cx="24765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AFAC00"/>
                </a:solidFill>
                <a:latin typeface="黑体"/>
                <a:cs typeface="黑体"/>
              </a:rPr>
              <a:t>后置活动（任务）</a:t>
            </a:r>
            <a:endParaRPr sz="24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391" y="377189"/>
            <a:ext cx="39408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任务之间的关系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162" y="2362961"/>
            <a:ext cx="1295400" cy="8382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4800" dirty="0">
                <a:latin typeface="Arial Narrow"/>
                <a:cs typeface="Arial Narrow"/>
              </a:rPr>
              <a:t>A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3961" y="2362961"/>
            <a:ext cx="1295400" cy="8382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4800" dirty="0">
                <a:latin typeface="Arial Narrow"/>
                <a:cs typeface="Arial Narrow"/>
              </a:rPr>
              <a:t>B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3761" y="2362961"/>
            <a:ext cx="1295400" cy="8382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4800" dirty="0">
                <a:latin typeface="Arial Narrow"/>
                <a:cs typeface="Arial Narrow"/>
              </a:rPr>
              <a:t>A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63561" y="2362961"/>
            <a:ext cx="1295400" cy="8382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0"/>
              </a:spcBef>
            </a:pPr>
            <a:r>
              <a:rPr sz="4800" dirty="0">
                <a:latin typeface="Arial Narrow"/>
                <a:cs typeface="Arial Narrow"/>
              </a:rPr>
              <a:t>B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9644" y="3686936"/>
            <a:ext cx="1113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结</a:t>
            </a:r>
            <a:r>
              <a:rPr sz="2000" spc="-5" dirty="0">
                <a:latin typeface="宋体"/>
                <a:cs typeface="宋体"/>
              </a:rPr>
              <a:t>束</a:t>
            </a:r>
            <a:r>
              <a:rPr sz="2000" spc="5" dirty="0">
                <a:latin typeface="Arial Narrow"/>
                <a:cs typeface="Arial Narrow"/>
              </a:rPr>
              <a:t>-</a:t>
            </a:r>
            <a:r>
              <a:rPr sz="2000" dirty="0">
                <a:latin typeface="宋体"/>
                <a:cs typeface="宋体"/>
              </a:rPr>
              <a:t>开始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7428" y="3610736"/>
            <a:ext cx="1113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结束</a:t>
            </a:r>
            <a:r>
              <a:rPr sz="2000" spc="5" dirty="0">
                <a:latin typeface="Arial Narrow"/>
                <a:cs typeface="Arial Narrow"/>
              </a:rPr>
              <a:t>-</a:t>
            </a:r>
            <a:r>
              <a:rPr sz="2000" dirty="0">
                <a:latin typeface="宋体"/>
                <a:cs typeface="宋体"/>
              </a:rPr>
              <a:t>结束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7962" y="4725161"/>
            <a:ext cx="1295400" cy="8382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4800" dirty="0">
                <a:latin typeface="Arial Narrow"/>
                <a:cs typeface="Arial Narrow"/>
              </a:rPr>
              <a:t>A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7761" y="4725161"/>
            <a:ext cx="1295400" cy="8382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sz="4800" dirty="0">
                <a:latin typeface="Arial Narrow"/>
                <a:cs typeface="Arial Narrow"/>
              </a:rPr>
              <a:t>B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3444" y="6049772"/>
            <a:ext cx="11137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开</a:t>
            </a:r>
            <a:r>
              <a:rPr sz="2000" spc="-5" dirty="0">
                <a:latin typeface="宋体"/>
                <a:cs typeface="宋体"/>
              </a:rPr>
              <a:t>始</a:t>
            </a:r>
            <a:r>
              <a:rPr sz="2000" spc="5" dirty="0">
                <a:latin typeface="Arial Narrow"/>
                <a:cs typeface="Arial Narrow"/>
              </a:rPr>
              <a:t>-</a:t>
            </a:r>
            <a:r>
              <a:rPr sz="2000" dirty="0">
                <a:latin typeface="宋体"/>
                <a:cs typeface="宋体"/>
              </a:rPr>
              <a:t>开始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087361" y="4572761"/>
            <a:ext cx="1295400" cy="838200"/>
          </a:xfrm>
          <a:custGeom>
            <a:avLst/>
            <a:gdLst/>
            <a:ahLst/>
            <a:cxnLst/>
            <a:rect l="l" t="t" r="r" b="b"/>
            <a:pathLst>
              <a:path w="1295400" h="838200">
                <a:moveTo>
                  <a:pt x="0" y="838200"/>
                </a:moveTo>
                <a:lnTo>
                  <a:pt x="1295400" y="838200"/>
                </a:lnTo>
                <a:lnTo>
                  <a:pt x="1295400" y="0"/>
                </a:lnTo>
                <a:lnTo>
                  <a:pt x="0" y="0"/>
                </a:lnTo>
                <a:lnTo>
                  <a:pt x="0" y="838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413628" y="5897372"/>
            <a:ext cx="11144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开始</a:t>
            </a:r>
            <a:r>
              <a:rPr sz="2000" spc="5" dirty="0">
                <a:latin typeface="Arial Narrow"/>
                <a:cs typeface="Arial Narrow"/>
              </a:rPr>
              <a:t>-</a:t>
            </a:r>
            <a:r>
              <a:rPr sz="2000" dirty="0">
                <a:latin typeface="宋体"/>
                <a:cs typeface="宋体"/>
              </a:rPr>
              <a:t>结束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829561" y="2058161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18054" y="2058161"/>
            <a:ext cx="52069" cy="304800"/>
          </a:xfrm>
          <a:custGeom>
            <a:avLst/>
            <a:gdLst/>
            <a:ahLst/>
            <a:cxnLst/>
            <a:rect l="l" t="t" r="r" b="b"/>
            <a:pathLst>
              <a:path w="52069" h="304800">
                <a:moveTo>
                  <a:pt x="12953" y="252984"/>
                </a:moveTo>
                <a:lnTo>
                  <a:pt x="0" y="252984"/>
                </a:lnTo>
                <a:lnTo>
                  <a:pt x="25907" y="304800"/>
                </a:lnTo>
                <a:lnTo>
                  <a:pt x="45338" y="265938"/>
                </a:lnTo>
                <a:lnTo>
                  <a:pt x="12953" y="265938"/>
                </a:lnTo>
                <a:lnTo>
                  <a:pt x="12953" y="252984"/>
                </a:lnTo>
                <a:close/>
              </a:path>
              <a:path w="52069" h="304800">
                <a:moveTo>
                  <a:pt x="38862" y="0"/>
                </a:moveTo>
                <a:lnTo>
                  <a:pt x="12953" y="0"/>
                </a:lnTo>
                <a:lnTo>
                  <a:pt x="12953" y="265938"/>
                </a:lnTo>
                <a:lnTo>
                  <a:pt x="38862" y="265938"/>
                </a:lnTo>
                <a:lnTo>
                  <a:pt x="38862" y="0"/>
                </a:lnTo>
                <a:close/>
              </a:path>
              <a:path w="52069" h="304800">
                <a:moveTo>
                  <a:pt x="51815" y="252984"/>
                </a:moveTo>
                <a:lnTo>
                  <a:pt x="38862" y="252984"/>
                </a:lnTo>
                <a:lnTo>
                  <a:pt x="38862" y="265938"/>
                </a:lnTo>
                <a:lnTo>
                  <a:pt x="45338" y="265938"/>
                </a:lnTo>
                <a:lnTo>
                  <a:pt x="51815" y="252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49161" y="2058161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433054" y="2058161"/>
            <a:ext cx="52069" cy="304800"/>
          </a:xfrm>
          <a:custGeom>
            <a:avLst/>
            <a:gdLst/>
            <a:ahLst/>
            <a:cxnLst/>
            <a:rect l="l" t="t" r="r" b="b"/>
            <a:pathLst>
              <a:path w="52070" h="304800">
                <a:moveTo>
                  <a:pt x="12953" y="252984"/>
                </a:moveTo>
                <a:lnTo>
                  <a:pt x="0" y="252984"/>
                </a:lnTo>
                <a:lnTo>
                  <a:pt x="25907" y="304800"/>
                </a:lnTo>
                <a:lnTo>
                  <a:pt x="45339" y="265938"/>
                </a:lnTo>
                <a:lnTo>
                  <a:pt x="12953" y="265938"/>
                </a:lnTo>
                <a:lnTo>
                  <a:pt x="12953" y="252984"/>
                </a:lnTo>
                <a:close/>
              </a:path>
              <a:path w="52070" h="304800">
                <a:moveTo>
                  <a:pt x="38862" y="0"/>
                </a:moveTo>
                <a:lnTo>
                  <a:pt x="12953" y="0"/>
                </a:lnTo>
                <a:lnTo>
                  <a:pt x="12953" y="265938"/>
                </a:lnTo>
                <a:lnTo>
                  <a:pt x="38862" y="265938"/>
                </a:lnTo>
                <a:lnTo>
                  <a:pt x="38862" y="0"/>
                </a:lnTo>
                <a:close/>
              </a:path>
              <a:path w="52070" h="304800">
                <a:moveTo>
                  <a:pt x="51816" y="252984"/>
                </a:moveTo>
                <a:lnTo>
                  <a:pt x="38862" y="252984"/>
                </a:lnTo>
                <a:lnTo>
                  <a:pt x="38862" y="265938"/>
                </a:lnTo>
                <a:lnTo>
                  <a:pt x="45339" y="265938"/>
                </a:lnTo>
                <a:lnTo>
                  <a:pt x="51816" y="2529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57962" y="4420361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8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1854" y="4420361"/>
            <a:ext cx="52069" cy="304800"/>
          </a:xfrm>
          <a:custGeom>
            <a:avLst/>
            <a:gdLst/>
            <a:ahLst/>
            <a:cxnLst/>
            <a:rect l="l" t="t" r="r" b="b"/>
            <a:pathLst>
              <a:path w="52069" h="304800">
                <a:moveTo>
                  <a:pt x="12953" y="252983"/>
                </a:moveTo>
                <a:lnTo>
                  <a:pt x="0" y="252983"/>
                </a:lnTo>
                <a:lnTo>
                  <a:pt x="25907" y="304800"/>
                </a:lnTo>
                <a:lnTo>
                  <a:pt x="45338" y="265938"/>
                </a:lnTo>
                <a:lnTo>
                  <a:pt x="12953" y="265938"/>
                </a:lnTo>
                <a:lnTo>
                  <a:pt x="12953" y="252983"/>
                </a:lnTo>
                <a:close/>
              </a:path>
              <a:path w="52069" h="304800">
                <a:moveTo>
                  <a:pt x="38862" y="0"/>
                </a:moveTo>
                <a:lnTo>
                  <a:pt x="12953" y="0"/>
                </a:lnTo>
                <a:lnTo>
                  <a:pt x="12953" y="265938"/>
                </a:lnTo>
                <a:lnTo>
                  <a:pt x="38862" y="265938"/>
                </a:lnTo>
                <a:lnTo>
                  <a:pt x="38862" y="0"/>
                </a:lnTo>
                <a:close/>
              </a:path>
              <a:path w="52069" h="304800">
                <a:moveTo>
                  <a:pt x="51815" y="252983"/>
                </a:moveTo>
                <a:lnTo>
                  <a:pt x="38862" y="252983"/>
                </a:lnTo>
                <a:lnTo>
                  <a:pt x="38862" y="265938"/>
                </a:lnTo>
                <a:lnTo>
                  <a:pt x="45338" y="265938"/>
                </a:lnTo>
                <a:lnTo>
                  <a:pt x="51815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356854" y="4267961"/>
            <a:ext cx="52069" cy="304800"/>
          </a:xfrm>
          <a:custGeom>
            <a:avLst/>
            <a:gdLst/>
            <a:ahLst/>
            <a:cxnLst/>
            <a:rect l="l" t="t" r="r" b="b"/>
            <a:pathLst>
              <a:path w="52070" h="304800">
                <a:moveTo>
                  <a:pt x="12953" y="252983"/>
                </a:moveTo>
                <a:lnTo>
                  <a:pt x="0" y="252983"/>
                </a:lnTo>
                <a:lnTo>
                  <a:pt x="25907" y="304800"/>
                </a:lnTo>
                <a:lnTo>
                  <a:pt x="45339" y="265938"/>
                </a:lnTo>
                <a:lnTo>
                  <a:pt x="12953" y="265938"/>
                </a:lnTo>
                <a:lnTo>
                  <a:pt x="12953" y="252983"/>
                </a:lnTo>
                <a:close/>
              </a:path>
              <a:path w="52070" h="304800">
                <a:moveTo>
                  <a:pt x="38862" y="0"/>
                </a:moveTo>
                <a:lnTo>
                  <a:pt x="12953" y="0"/>
                </a:lnTo>
                <a:lnTo>
                  <a:pt x="12953" y="265938"/>
                </a:lnTo>
                <a:lnTo>
                  <a:pt x="38862" y="265938"/>
                </a:lnTo>
                <a:lnTo>
                  <a:pt x="38862" y="0"/>
                </a:lnTo>
                <a:close/>
              </a:path>
              <a:path w="52070" h="304800">
                <a:moveTo>
                  <a:pt x="51816" y="252983"/>
                </a:moveTo>
                <a:lnTo>
                  <a:pt x="38862" y="252983"/>
                </a:lnTo>
                <a:lnTo>
                  <a:pt x="38862" y="265938"/>
                </a:lnTo>
                <a:lnTo>
                  <a:pt x="45339" y="265938"/>
                </a:lnTo>
                <a:lnTo>
                  <a:pt x="51816" y="2529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9561" y="2058161"/>
            <a:ext cx="914400" cy="0"/>
          </a:xfrm>
          <a:custGeom>
            <a:avLst/>
            <a:gdLst/>
            <a:ahLst/>
            <a:cxnLst/>
            <a:rect l="l" t="t" r="r" b="b"/>
            <a:pathLst>
              <a:path w="914400">
                <a:moveTo>
                  <a:pt x="0" y="0"/>
                </a:moveTo>
                <a:lnTo>
                  <a:pt x="9144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49161" y="2058161"/>
            <a:ext cx="2209800" cy="0"/>
          </a:xfrm>
          <a:custGeom>
            <a:avLst/>
            <a:gdLst/>
            <a:ahLst/>
            <a:cxnLst/>
            <a:rect l="l" t="t" r="r" b="b"/>
            <a:pathLst>
              <a:path w="2209800">
                <a:moveTo>
                  <a:pt x="0" y="0"/>
                </a:moveTo>
                <a:lnTo>
                  <a:pt x="22097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7962" y="4420361"/>
            <a:ext cx="2209800" cy="0"/>
          </a:xfrm>
          <a:custGeom>
            <a:avLst/>
            <a:gdLst/>
            <a:ahLst/>
            <a:cxnLst/>
            <a:rect l="l" t="t" r="r" b="b"/>
            <a:pathLst>
              <a:path w="2209800">
                <a:moveTo>
                  <a:pt x="0" y="0"/>
                </a:moveTo>
                <a:lnTo>
                  <a:pt x="22098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5" name="object 25"/>
          <p:cNvGraphicFramePr>
            <a:graphicFrameLocks noGrp="1"/>
          </p:cNvGraphicFramePr>
          <p:nvPr/>
        </p:nvGraphicFramePr>
        <p:xfrm>
          <a:off x="4864608" y="4255008"/>
          <a:ext cx="3505200" cy="1143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4800" dirty="0">
                          <a:latin typeface="Arial Narrow"/>
                          <a:cs typeface="Arial Narrow"/>
                        </a:rPr>
                        <a:t>A</a:t>
                      </a:r>
                      <a:endParaRPr sz="4800">
                        <a:latin typeface="Arial Narrow"/>
                        <a:cs typeface="Arial Narrow"/>
                      </a:endParaRP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4800" dirty="0">
                          <a:latin typeface="Arial Narrow"/>
                          <a:cs typeface="Arial Narrow"/>
                        </a:rPr>
                        <a:t>B</a:t>
                      </a:r>
                    </a:p>
                  </a:txBody>
                  <a:tcPr marL="0" marR="0" marT="40005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05257"/>
            <a:ext cx="61779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任务之间关联关系的依据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58080" y="6081471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1989582"/>
            <a:ext cx="8153400" cy="2016760"/>
          </a:xfrm>
          <a:prstGeom prst="rect">
            <a:avLst/>
          </a:prstGeom>
          <a:ln w="28955">
            <a:solidFill>
              <a:srgbClr val="355D7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10845" indent="-320675">
              <a:lnSpc>
                <a:spcPts val="3295"/>
              </a:lnSpc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强制性依赖关系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34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spc="5" dirty="0">
                <a:latin typeface="华文新魏"/>
                <a:cs typeface="华文新魏"/>
              </a:rPr>
              <a:t>软逻辑关系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35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外部依赖关系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36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内</a:t>
            </a:r>
            <a:r>
              <a:rPr sz="2900" spc="-5" dirty="0">
                <a:latin typeface="华文新魏"/>
                <a:cs typeface="华文新魏"/>
              </a:rPr>
              <a:t>部</a:t>
            </a:r>
            <a:r>
              <a:rPr sz="2900" dirty="0">
                <a:latin typeface="华文新魏"/>
                <a:cs typeface="华文新魏"/>
              </a:rPr>
              <a:t>依赖关系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关系依赖矩阵</a:t>
            </a:r>
          </a:p>
        </p:txBody>
      </p:sp>
      <p:sp>
        <p:nvSpPr>
          <p:cNvPr id="3" name="object 3"/>
          <p:cNvSpPr/>
          <p:nvPr/>
        </p:nvSpPr>
        <p:spPr>
          <a:xfrm>
            <a:off x="1799844" y="1530034"/>
            <a:ext cx="4599394" cy="5052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17991" y="2463981"/>
            <a:ext cx="0" cy="3730625"/>
          </a:xfrm>
          <a:custGeom>
            <a:avLst/>
            <a:gdLst/>
            <a:ahLst/>
            <a:cxnLst/>
            <a:rect l="l" t="t" r="r" b="b"/>
            <a:pathLst>
              <a:path h="3730625">
                <a:moveTo>
                  <a:pt x="0" y="0"/>
                </a:moveTo>
                <a:lnTo>
                  <a:pt x="0" y="3730214"/>
                </a:lnTo>
              </a:path>
            </a:pathLst>
          </a:custGeom>
          <a:ln w="21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62194" y="2463981"/>
            <a:ext cx="0" cy="3730625"/>
          </a:xfrm>
          <a:custGeom>
            <a:avLst/>
            <a:gdLst/>
            <a:ahLst/>
            <a:cxnLst/>
            <a:rect l="l" t="t" r="r" b="b"/>
            <a:pathLst>
              <a:path h="3730625">
                <a:moveTo>
                  <a:pt x="0" y="0"/>
                </a:moveTo>
                <a:lnTo>
                  <a:pt x="0" y="3730214"/>
                </a:lnTo>
              </a:path>
            </a:pathLst>
          </a:custGeom>
          <a:ln w="211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04008" y="3546874"/>
            <a:ext cx="274955" cy="207391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4004" y="3184371"/>
            <a:ext cx="250825" cy="455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85"/>
              </a:lnSpc>
            </a:pPr>
            <a:r>
              <a:rPr sz="3550" spc="190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71304" y="2288436"/>
            <a:ext cx="777240" cy="3858895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10"/>
              </a:spcBef>
            </a:pPr>
            <a:r>
              <a:rPr sz="3550" spc="190" dirty="0">
                <a:latin typeface="宋体"/>
                <a:cs typeface="宋体"/>
              </a:rPr>
              <a:t>...</a:t>
            </a:r>
            <a:endParaRPr sz="355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1115"/>
              </a:spcBef>
            </a:pPr>
            <a:r>
              <a:rPr sz="3550" spc="190" dirty="0">
                <a:latin typeface="宋体"/>
                <a:cs typeface="宋体"/>
              </a:rPr>
              <a:t>..</a:t>
            </a:r>
            <a:endParaRPr sz="35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70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120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algn="ctr">
              <a:lnSpc>
                <a:spcPts val="42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algn="ctr">
              <a:lnSpc>
                <a:spcPts val="4200"/>
              </a:lnSpc>
            </a:pPr>
            <a:r>
              <a:rPr sz="3550" spc="190" dirty="0">
                <a:latin typeface="宋体"/>
                <a:cs typeface="宋体"/>
              </a:rPr>
              <a:t>...</a:t>
            </a:r>
            <a:endParaRPr sz="355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6796" y="2409845"/>
            <a:ext cx="736600" cy="385699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53975">
              <a:lnSpc>
                <a:spcPct val="100000"/>
              </a:lnSpc>
              <a:spcBef>
                <a:spcPts val="905"/>
              </a:spcBef>
            </a:pP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347" baseline="13157" dirty="0">
                <a:latin typeface="宋体"/>
                <a:cs typeface="宋体"/>
              </a:rPr>
              <a:t> </a:t>
            </a:r>
            <a:r>
              <a:rPr sz="2100" spc="40" dirty="0">
                <a:latin typeface="宋体"/>
                <a:cs typeface="宋体"/>
              </a:rPr>
              <a:t>1</a:t>
            </a:r>
            <a:r>
              <a:rPr sz="2200" i="1" spc="40" dirty="0">
                <a:latin typeface="宋体"/>
                <a:cs typeface="宋体"/>
              </a:rPr>
              <a:t>n</a:t>
            </a:r>
            <a:endParaRPr sz="2200">
              <a:latin typeface="宋体"/>
              <a:cs typeface="宋体"/>
            </a:endParaRPr>
          </a:p>
          <a:p>
            <a:pPr marL="38100">
              <a:lnSpc>
                <a:spcPts val="4225"/>
              </a:lnSpc>
              <a:spcBef>
                <a:spcPts val="810"/>
              </a:spcBef>
            </a:pP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129" baseline="13157" dirty="0">
                <a:latin typeface="宋体"/>
                <a:cs typeface="宋体"/>
              </a:rPr>
              <a:t> </a:t>
            </a:r>
            <a:r>
              <a:rPr sz="2100" spc="100" dirty="0">
                <a:latin typeface="宋体"/>
                <a:cs typeface="宋体"/>
              </a:rPr>
              <a:t>2</a:t>
            </a:r>
            <a:r>
              <a:rPr sz="2200" i="1" spc="100" dirty="0">
                <a:latin typeface="宋体"/>
                <a:cs typeface="宋体"/>
              </a:rPr>
              <a:t>n</a:t>
            </a:r>
            <a:endParaRPr sz="2200">
              <a:latin typeface="宋体"/>
              <a:cs typeface="宋体"/>
            </a:endParaRPr>
          </a:p>
          <a:p>
            <a:pPr marL="354330">
              <a:lnSpc>
                <a:spcPts val="3925"/>
              </a:lnSpc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L="354330">
              <a:lnSpc>
                <a:spcPct val="1000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L="354330">
              <a:lnSpc>
                <a:spcPct val="1000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L="41910">
              <a:lnSpc>
                <a:spcPct val="100000"/>
              </a:lnSpc>
              <a:spcBef>
                <a:spcPts val="530"/>
              </a:spcBef>
            </a:pP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129" baseline="13157" dirty="0">
                <a:latin typeface="宋体"/>
                <a:cs typeface="宋体"/>
              </a:rPr>
              <a:t> </a:t>
            </a:r>
            <a:r>
              <a:rPr sz="2200" i="1" spc="210" dirty="0">
                <a:latin typeface="宋体"/>
                <a:cs typeface="宋体"/>
              </a:rPr>
              <a:t>nn</a:t>
            </a:r>
            <a:endParaRPr sz="22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58892" y="2409845"/>
            <a:ext cx="1910714" cy="385699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05"/>
              </a:spcBef>
              <a:tabLst>
                <a:tab pos="1187450" algn="l"/>
              </a:tabLst>
            </a:pP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212" baseline="13157" dirty="0">
                <a:latin typeface="宋体"/>
                <a:cs typeface="宋体"/>
              </a:rPr>
              <a:t> </a:t>
            </a:r>
            <a:r>
              <a:rPr sz="2100" spc="180" dirty="0">
                <a:latin typeface="宋体"/>
                <a:cs typeface="宋体"/>
              </a:rPr>
              <a:t>11	</a:t>
            </a: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347" baseline="13157" dirty="0">
                <a:latin typeface="宋体"/>
                <a:cs typeface="宋体"/>
              </a:rPr>
              <a:t> </a:t>
            </a:r>
            <a:r>
              <a:rPr sz="2100" spc="260" dirty="0">
                <a:latin typeface="宋体"/>
                <a:cs typeface="宋体"/>
              </a:rPr>
              <a:t>12</a:t>
            </a:r>
            <a:endParaRPr sz="2100">
              <a:latin typeface="宋体"/>
              <a:cs typeface="宋体"/>
            </a:endParaRPr>
          </a:p>
          <a:p>
            <a:pPr marL="66675">
              <a:lnSpc>
                <a:spcPts val="4225"/>
              </a:lnSpc>
              <a:spcBef>
                <a:spcPts val="810"/>
              </a:spcBef>
              <a:tabLst>
                <a:tab pos="1177925" algn="l"/>
              </a:tabLst>
            </a:pP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1995" baseline="13157" dirty="0">
                <a:latin typeface="宋体"/>
                <a:cs typeface="宋体"/>
              </a:rPr>
              <a:t> </a:t>
            </a:r>
            <a:r>
              <a:rPr sz="2100" spc="180" dirty="0">
                <a:latin typeface="宋体"/>
                <a:cs typeface="宋体"/>
              </a:rPr>
              <a:t>21	</a:t>
            </a: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129" baseline="13157" dirty="0">
                <a:latin typeface="宋体"/>
                <a:cs typeface="宋体"/>
              </a:rPr>
              <a:t> </a:t>
            </a:r>
            <a:r>
              <a:rPr sz="2100" spc="260" dirty="0">
                <a:latin typeface="宋体"/>
                <a:cs typeface="宋体"/>
              </a:rPr>
              <a:t>22</a:t>
            </a:r>
            <a:endParaRPr sz="2100">
              <a:latin typeface="宋体"/>
              <a:cs typeface="宋体"/>
            </a:endParaRPr>
          </a:p>
          <a:p>
            <a:pPr marR="177800" algn="r">
              <a:lnSpc>
                <a:spcPts val="3925"/>
              </a:lnSpc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R="177800" algn="r">
              <a:lnSpc>
                <a:spcPct val="1000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R="177800" algn="r">
              <a:lnSpc>
                <a:spcPct val="100000"/>
              </a:lnSpc>
              <a:spcBef>
                <a:spcPts val="1115"/>
              </a:spcBef>
            </a:pPr>
            <a:r>
              <a:rPr sz="3550" spc="185" dirty="0">
                <a:latin typeface="宋体"/>
                <a:cs typeface="宋体"/>
              </a:rPr>
              <a:t>.</a:t>
            </a:r>
            <a:endParaRPr sz="3550">
              <a:latin typeface="宋体"/>
              <a:cs typeface="宋体"/>
            </a:endParaRPr>
          </a:p>
          <a:p>
            <a:pPr marL="56515">
              <a:lnSpc>
                <a:spcPct val="100000"/>
              </a:lnSpc>
              <a:spcBef>
                <a:spcPts val="530"/>
              </a:spcBef>
              <a:tabLst>
                <a:tab pos="1158240" algn="l"/>
              </a:tabLst>
            </a:pP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1995" baseline="13157" dirty="0">
                <a:latin typeface="宋体"/>
                <a:cs typeface="宋体"/>
              </a:rPr>
              <a:t> </a:t>
            </a:r>
            <a:r>
              <a:rPr sz="2200" i="1" spc="150" dirty="0">
                <a:latin typeface="宋体"/>
                <a:cs typeface="宋体"/>
              </a:rPr>
              <a:t>n</a:t>
            </a:r>
            <a:r>
              <a:rPr sz="2100" spc="150" dirty="0">
                <a:latin typeface="宋体"/>
                <a:cs typeface="宋体"/>
              </a:rPr>
              <a:t>1	</a:t>
            </a:r>
            <a:r>
              <a:rPr sz="5700" i="1" spc="89" baseline="13157" dirty="0">
                <a:latin typeface="宋体"/>
                <a:cs typeface="宋体"/>
              </a:rPr>
              <a:t>d</a:t>
            </a:r>
            <a:r>
              <a:rPr sz="5700" i="1" spc="-2085" baseline="13157" dirty="0">
                <a:latin typeface="宋体"/>
                <a:cs typeface="宋体"/>
              </a:rPr>
              <a:t> </a:t>
            </a:r>
            <a:r>
              <a:rPr sz="2200" i="1" spc="45" dirty="0">
                <a:latin typeface="宋体"/>
                <a:cs typeface="宋体"/>
              </a:rPr>
              <a:t>n</a:t>
            </a:r>
            <a:r>
              <a:rPr sz="2200" i="1" spc="-825" dirty="0">
                <a:latin typeface="宋体"/>
                <a:cs typeface="宋体"/>
              </a:rPr>
              <a:t> </a:t>
            </a:r>
            <a:r>
              <a:rPr sz="2100" spc="95" dirty="0">
                <a:latin typeface="宋体"/>
                <a:cs typeface="宋体"/>
              </a:rPr>
              <a:t>2</a:t>
            </a:r>
            <a:endParaRPr sz="21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-31612" y="0"/>
            <a:ext cx="21590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i="1" spc="60" dirty="0">
                <a:latin typeface="宋体"/>
                <a:cs typeface="宋体"/>
              </a:rPr>
              <a:t>d</a:t>
            </a:r>
            <a:r>
              <a:rPr sz="1050" i="1" spc="89" baseline="-23809" dirty="0">
                <a:latin typeface="宋体"/>
                <a:cs typeface="宋体"/>
              </a:rPr>
              <a:t>i</a:t>
            </a:r>
            <a:endParaRPr sz="1050" baseline="-23809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06086" y="3367186"/>
            <a:ext cx="133350" cy="142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6456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关系依赖矩阵</a:t>
            </a:r>
            <a:r>
              <a:rPr i="1" spc="-5" dirty="0">
                <a:latin typeface="华文隶书"/>
                <a:cs typeface="华文隶书"/>
              </a:rPr>
              <a:t>:</a:t>
            </a:r>
            <a:r>
              <a:rPr dirty="0">
                <a:latin typeface="华文隶书"/>
                <a:cs typeface="华文隶书"/>
              </a:rPr>
              <a:t>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952748" y="2376126"/>
            <a:ext cx="3660462" cy="2618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0138" y="2572767"/>
            <a:ext cx="4056733" cy="18501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10021" y="2233422"/>
            <a:ext cx="862965" cy="475615"/>
          </a:xfrm>
          <a:custGeom>
            <a:avLst/>
            <a:gdLst/>
            <a:ahLst/>
            <a:cxnLst/>
            <a:rect l="l" t="t" r="r" b="b"/>
            <a:pathLst>
              <a:path w="862964" h="475614">
                <a:moveTo>
                  <a:pt x="0" y="475488"/>
                </a:moveTo>
                <a:lnTo>
                  <a:pt x="862584" y="475488"/>
                </a:lnTo>
                <a:lnTo>
                  <a:pt x="862584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进度管理图示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85309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4433" y="1774698"/>
            <a:ext cx="8153400" cy="237617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2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网络图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甘特图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里程碑图</a:t>
            </a:r>
            <a:endParaRPr sz="29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资源图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0341" y="4226814"/>
            <a:ext cx="8153400" cy="11480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4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209" algn="l"/>
                <a:tab pos="410845" algn="l"/>
              </a:tabLst>
            </a:pPr>
            <a:r>
              <a:rPr sz="2900" spc="5" dirty="0">
                <a:latin typeface="华文新魏"/>
                <a:cs typeface="华文新魏"/>
              </a:rPr>
              <a:t>燃尽</a:t>
            </a:r>
            <a:r>
              <a:rPr sz="2900" dirty="0">
                <a:latin typeface="华文新魏"/>
                <a:cs typeface="华文新魏"/>
              </a:rPr>
              <a:t>图</a:t>
            </a:r>
            <a:r>
              <a:rPr sz="2900" spc="-5" dirty="0">
                <a:latin typeface="华文新魏"/>
                <a:cs typeface="华文新魏"/>
              </a:rPr>
              <a:t>(</a:t>
            </a:r>
            <a:r>
              <a:rPr sz="2900" spc="-5" dirty="0">
                <a:latin typeface="Tw Cen MT"/>
                <a:cs typeface="Tw Cen MT"/>
              </a:rPr>
              <a:t>Burndown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spc="10" dirty="0">
                <a:latin typeface="Tw Cen MT"/>
                <a:cs typeface="Tw Cen MT"/>
              </a:rPr>
              <a:t>Chart</a:t>
            </a:r>
            <a:r>
              <a:rPr sz="2900" spc="10" dirty="0">
                <a:latin typeface="华文新魏"/>
                <a:cs typeface="华文新魏"/>
              </a:rPr>
              <a:t>)</a:t>
            </a:r>
            <a:endParaRPr sz="2900">
              <a:latin typeface="华文新魏"/>
              <a:cs typeface="华文新魏"/>
            </a:endParaRPr>
          </a:p>
          <a:p>
            <a:pPr marL="410209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209" algn="l"/>
                <a:tab pos="410845" algn="l"/>
              </a:tabLst>
            </a:pPr>
            <a:r>
              <a:rPr sz="2900" dirty="0">
                <a:latin typeface="华文新魏"/>
                <a:cs typeface="华文新魏"/>
              </a:rPr>
              <a:t>燃起</a:t>
            </a:r>
            <a:r>
              <a:rPr sz="2900" spc="-5" dirty="0">
                <a:latin typeface="华文新魏"/>
                <a:cs typeface="华文新魏"/>
              </a:rPr>
              <a:t>图</a:t>
            </a:r>
            <a:r>
              <a:rPr sz="2900" spc="5" dirty="0">
                <a:latin typeface="华文新魏"/>
                <a:cs typeface="华文新魏"/>
              </a:rPr>
              <a:t>(</a:t>
            </a:r>
            <a:r>
              <a:rPr sz="2900" spc="5" dirty="0">
                <a:latin typeface="Tw Cen MT"/>
                <a:cs typeface="Tw Cen MT"/>
              </a:rPr>
              <a:t>Burnup</a:t>
            </a:r>
            <a:r>
              <a:rPr sz="2900" spc="-25" dirty="0">
                <a:latin typeface="Tw Cen MT"/>
                <a:cs typeface="Tw Cen MT"/>
              </a:rPr>
              <a:t> </a:t>
            </a:r>
            <a:r>
              <a:rPr sz="2900" spc="10" dirty="0">
                <a:latin typeface="Tw Cen MT"/>
                <a:cs typeface="Tw Cen MT"/>
              </a:rPr>
              <a:t>Chart)</a:t>
            </a:r>
            <a:endParaRPr sz="29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05257"/>
            <a:ext cx="1703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网络图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9155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5374" y="2061210"/>
            <a:ext cx="8153400" cy="125285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09575" indent="-320675">
              <a:lnSpc>
                <a:spcPct val="100000"/>
              </a:lnSpc>
              <a:spcBef>
                <a:spcPts val="5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209" algn="l"/>
              </a:tabLst>
            </a:pPr>
            <a:r>
              <a:rPr sz="2900" dirty="0">
                <a:latin typeface="华文隶书"/>
                <a:cs typeface="华文隶书"/>
              </a:rPr>
              <a:t>网络图是活动排序的一</a:t>
            </a:r>
            <a:r>
              <a:rPr sz="2900" spc="-10" dirty="0">
                <a:latin typeface="华文隶书"/>
                <a:cs typeface="华文隶书"/>
              </a:rPr>
              <a:t>个</a:t>
            </a:r>
            <a:r>
              <a:rPr sz="2900" dirty="0">
                <a:latin typeface="华文隶书"/>
                <a:cs typeface="华文隶书"/>
              </a:rPr>
              <a:t>输出</a:t>
            </a:r>
            <a:endParaRPr sz="2900">
              <a:latin typeface="华文隶书"/>
              <a:cs typeface="华文隶书"/>
            </a:endParaRPr>
          </a:p>
          <a:p>
            <a:pPr marL="409575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209" algn="l"/>
              </a:tabLst>
            </a:pPr>
            <a:r>
              <a:rPr sz="2900" dirty="0">
                <a:latin typeface="华文隶书"/>
                <a:cs typeface="华文隶书"/>
              </a:rPr>
              <a:t>展示项目中各个活动以</a:t>
            </a:r>
            <a:r>
              <a:rPr sz="2900" spc="-15" dirty="0">
                <a:latin typeface="华文隶书"/>
                <a:cs typeface="华文隶书"/>
              </a:rPr>
              <a:t>及</a:t>
            </a:r>
            <a:r>
              <a:rPr sz="2900" dirty="0">
                <a:latin typeface="华文隶书"/>
                <a:cs typeface="华文隶书"/>
              </a:rPr>
              <a:t>活动</a:t>
            </a:r>
            <a:r>
              <a:rPr sz="2900" spc="-15" dirty="0">
                <a:latin typeface="华文隶书"/>
                <a:cs typeface="华文隶书"/>
              </a:rPr>
              <a:t>之</a:t>
            </a:r>
            <a:r>
              <a:rPr sz="2900" dirty="0">
                <a:latin typeface="华文隶书"/>
                <a:cs typeface="华文隶书"/>
              </a:rPr>
              <a:t>间的</a:t>
            </a:r>
            <a:r>
              <a:rPr sz="2900" spc="-15" dirty="0">
                <a:latin typeface="华文隶书"/>
                <a:cs typeface="华文隶书"/>
              </a:rPr>
              <a:t>逻</a:t>
            </a:r>
            <a:r>
              <a:rPr sz="2900" dirty="0">
                <a:latin typeface="华文隶书"/>
                <a:cs typeface="华文隶书"/>
              </a:rPr>
              <a:t>辑关系</a:t>
            </a:r>
            <a:endParaRPr sz="29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283209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常用的网络图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7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9961" y="2116073"/>
            <a:ext cx="6653784" cy="13853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19961" y="2116073"/>
            <a:ext cx="6489065" cy="165100"/>
          </a:xfrm>
          <a:custGeom>
            <a:avLst/>
            <a:gdLst/>
            <a:ahLst/>
            <a:cxnLst/>
            <a:rect l="l" t="t" r="r" b="b"/>
            <a:pathLst>
              <a:path w="6489065" h="165100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6488684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961" y="2281173"/>
            <a:ext cx="165100" cy="1220470"/>
          </a:xfrm>
          <a:custGeom>
            <a:avLst/>
            <a:gdLst/>
            <a:ahLst/>
            <a:cxnLst/>
            <a:rect l="l" t="t" r="r" b="b"/>
            <a:pathLst>
              <a:path w="165100" h="1220470">
                <a:moveTo>
                  <a:pt x="165100" y="1220215"/>
                </a:moveTo>
                <a:lnTo>
                  <a:pt x="121208" y="1214318"/>
                </a:lnTo>
                <a:lnTo>
                  <a:pt x="81769" y="1197675"/>
                </a:lnTo>
                <a:lnTo>
                  <a:pt x="48355" y="1171860"/>
                </a:lnTo>
                <a:lnTo>
                  <a:pt x="22540" y="1138446"/>
                </a:lnTo>
                <a:lnTo>
                  <a:pt x="5897" y="1099007"/>
                </a:lnTo>
                <a:lnTo>
                  <a:pt x="0" y="1055115"/>
                </a:lnTo>
                <a:lnTo>
                  <a:pt x="0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08645" y="2116073"/>
            <a:ext cx="165100" cy="1385570"/>
          </a:xfrm>
          <a:custGeom>
            <a:avLst/>
            <a:gdLst/>
            <a:ahLst/>
            <a:cxnLst/>
            <a:rect l="l" t="t" r="r" b="b"/>
            <a:pathLst>
              <a:path w="165100" h="1385570">
                <a:moveTo>
                  <a:pt x="0" y="0"/>
                </a:moveTo>
                <a:lnTo>
                  <a:pt x="43891" y="5897"/>
                </a:lnTo>
                <a:lnTo>
                  <a:pt x="83330" y="22540"/>
                </a:lnTo>
                <a:lnTo>
                  <a:pt x="116744" y="48355"/>
                </a:lnTo>
                <a:lnTo>
                  <a:pt x="142559" y="81769"/>
                </a:lnTo>
                <a:lnTo>
                  <a:pt x="159202" y="121208"/>
                </a:lnTo>
                <a:lnTo>
                  <a:pt x="165100" y="165100"/>
                </a:lnTo>
                <a:lnTo>
                  <a:pt x="165100" y="1220215"/>
                </a:lnTo>
                <a:lnTo>
                  <a:pt x="159202" y="1264107"/>
                </a:lnTo>
                <a:lnTo>
                  <a:pt x="142559" y="1303546"/>
                </a:lnTo>
                <a:lnTo>
                  <a:pt x="116744" y="1336960"/>
                </a:lnTo>
                <a:lnTo>
                  <a:pt x="83330" y="1362775"/>
                </a:lnTo>
                <a:lnTo>
                  <a:pt x="43891" y="1379418"/>
                </a:lnTo>
                <a:lnTo>
                  <a:pt x="0" y="1385315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19961" y="2116073"/>
            <a:ext cx="6653784" cy="1385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19961" y="2116073"/>
            <a:ext cx="6654165" cy="1385570"/>
          </a:xfrm>
          <a:custGeom>
            <a:avLst/>
            <a:gdLst/>
            <a:ahLst/>
            <a:cxnLst/>
            <a:rect l="l" t="t" r="r" b="b"/>
            <a:pathLst>
              <a:path w="6654165" h="1385570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6488684" y="0"/>
                </a:lnTo>
                <a:lnTo>
                  <a:pt x="6532575" y="5897"/>
                </a:lnTo>
                <a:lnTo>
                  <a:pt x="6572014" y="22540"/>
                </a:lnTo>
                <a:lnTo>
                  <a:pt x="6605428" y="48355"/>
                </a:lnTo>
                <a:lnTo>
                  <a:pt x="6631243" y="81769"/>
                </a:lnTo>
                <a:lnTo>
                  <a:pt x="6647886" y="121208"/>
                </a:lnTo>
                <a:lnTo>
                  <a:pt x="6653784" y="165100"/>
                </a:lnTo>
                <a:lnTo>
                  <a:pt x="6653784" y="1220215"/>
                </a:lnTo>
                <a:lnTo>
                  <a:pt x="6647886" y="1264107"/>
                </a:lnTo>
                <a:lnTo>
                  <a:pt x="6631243" y="1303546"/>
                </a:lnTo>
                <a:lnTo>
                  <a:pt x="6605428" y="1336960"/>
                </a:lnTo>
                <a:lnTo>
                  <a:pt x="6572014" y="1362775"/>
                </a:lnTo>
                <a:lnTo>
                  <a:pt x="6532575" y="1379418"/>
                </a:lnTo>
                <a:lnTo>
                  <a:pt x="6488684" y="1385315"/>
                </a:lnTo>
                <a:lnTo>
                  <a:pt x="165100" y="1385315"/>
                </a:lnTo>
                <a:lnTo>
                  <a:pt x="121208" y="1379418"/>
                </a:lnTo>
                <a:lnTo>
                  <a:pt x="81769" y="1362775"/>
                </a:lnTo>
                <a:lnTo>
                  <a:pt x="48355" y="1336960"/>
                </a:lnTo>
                <a:lnTo>
                  <a:pt x="22540" y="1303546"/>
                </a:lnTo>
                <a:lnTo>
                  <a:pt x="5897" y="1264107"/>
                </a:lnTo>
                <a:lnTo>
                  <a:pt x="0" y="1220215"/>
                </a:lnTo>
                <a:lnTo>
                  <a:pt x="0" y="165100"/>
                </a:lnTo>
                <a:close/>
              </a:path>
            </a:pathLst>
          </a:custGeom>
          <a:ln w="25907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23010" y="4676394"/>
            <a:ext cx="6653784" cy="1274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23010" y="4676394"/>
            <a:ext cx="6502400" cy="152400"/>
          </a:xfrm>
          <a:custGeom>
            <a:avLst/>
            <a:gdLst/>
            <a:ahLst/>
            <a:cxnLst/>
            <a:rect l="l" t="t" r="r" b="b"/>
            <a:pathLst>
              <a:path w="6502400" h="152400">
                <a:moveTo>
                  <a:pt x="0" y="151891"/>
                </a:moveTo>
                <a:lnTo>
                  <a:pt x="7737" y="103859"/>
                </a:lnTo>
                <a:lnTo>
                  <a:pt x="29289" y="62160"/>
                </a:lnTo>
                <a:lnTo>
                  <a:pt x="62160" y="29289"/>
                </a:lnTo>
                <a:lnTo>
                  <a:pt x="103859" y="7737"/>
                </a:lnTo>
                <a:lnTo>
                  <a:pt x="151892" y="0"/>
                </a:lnTo>
                <a:lnTo>
                  <a:pt x="6501892" y="0"/>
                </a:lnTo>
              </a:path>
            </a:pathLst>
          </a:custGeom>
          <a:ln w="25907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23010" y="4828285"/>
            <a:ext cx="152400" cy="1122680"/>
          </a:xfrm>
          <a:custGeom>
            <a:avLst/>
            <a:gdLst/>
            <a:ahLst/>
            <a:cxnLst/>
            <a:rect l="l" t="t" r="r" b="b"/>
            <a:pathLst>
              <a:path w="152400" h="1122679">
                <a:moveTo>
                  <a:pt x="151891" y="1122172"/>
                </a:moveTo>
                <a:lnTo>
                  <a:pt x="103859" y="1114429"/>
                </a:lnTo>
                <a:lnTo>
                  <a:pt x="62160" y="1092868"/>
                </a:lnTo>
                <a:lnTo>
                  <a:pt x="29289" y="1059991"/>
                </a:lnTo>
                <a:lnTo>
                  <a:pt x="7737" y="1018299"/>
                </a:lnTo>
                <a:lnTo>
                  <a:pt x="0" y="970292"/>
                </a:lnTo>
                <a:lnTo>
                  <a:pt x="0" y="0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724902" y="4676394"/>
            <a:ext cx="152400" cy="1274445"/>
          </a:xfrm>
          <a:custGeom>
            <a:avLst/>
            <a:gdLst/>
            <a:ahLst/>
            <a:cxnLst/>
            <a:rect l="l" t="t" r="r" b="b"/>
            <a:pathLst>
              <a:path w="152400" h="1274445">
                <a:moveTo>
                  <a:pt x="0" y="0"/>
                </a:moveTo>
                <a:lnTo>
                  <a:pt x="48032" y="7737"/>
                </a:lnTo>
                <a:lnTo>
                  <a:pt x="89731" y="29289"/>
                </a:lnTo>
                <a:lnTo>
                  <a:pt x="122602" y="62160"/>
                </a:lnTo>
                <a:lnTo>
                  <a:pt x="144154" y="103859"/>
                </a:lnTo>
                <a:lnTo>
                  <a:pt x="151892" y="151891"/>
                </a:lnTo>
                <a:lnTo>
                  <a:pt x="151892" y="1122184"/>
                </a:lnTo>
                <a:lnTo>
                  <a:pt x="144154" y="1170191"/>
                </a:lnTo>
                <a:lnTo>
                  <a:pt x="122602" y="1211883"/>
                </a:lnTo>
                <a:lnTo>
                  <a:pt x="89731" y="1244760"/>
                </a:lnTo>
                <a:lnTo>
                  <a:pt x="48032" y="1266321"/>
                </a:lnTo>
                <a:lnTo>
                  <a:pt x="0" y="1274063"/>
                </a:lnTo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23010" y="4676394"/>
            <a:ext cx="6653784" cy="12740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23010" y="4676394"/>
            <a:ext cx="6654165" cy="1274445"/>
          </a:xfrm>
          <a:custGeom>
            <a:avLst/>
            <a:gdLst/>
            <a:ahLst/>
            <a:cxnLst/>
            <a:rect l="l" t="t" r="r" b="b"/>
            <a:pathLst>
              <a:path w="6654165" h="1274445">
                <a:moveTo>
                  <a:pt x="0" y="151891"/>
                </a:moveTo>
                <a:lnTo>
                  <a:pt x="7737" y="103859"/>
                </a:lnTo>
                <a:lnTo>
                  <a:pt x="29289" y="62160"/>
                </a:lnTo>
                <a:lnTo>
                  <a:pt x="62160" y="29289"/>
                </a:lnTo>
                <a:lnTo>
                  <a:pt x="103859" y="7737"/>
                </a:lnTo>
                <a:lnTo>
                  <a:pt x="151892" y="0"/>
                </a:lnTo>
                <a:lnTo>
                  <a:pt x="6501892" y="0"/>
                </a:lnTo>
                <a:lnTo>
                  <a:pt x="6549924" y="7737"/>
                </a:lnTo>
                <a:lnTo>
                  <a:pt x="6591623" y="29289"/>
                </a:lnTo>
                <a:lnTo>
                  <a:pt x="6624494" y="62160"/>
                </a:lnTo>
                <a:lnTo>
                  <a:pt x="6646046" y="103859"/>
                </a:lnTo>
                <a:lnTo>
                  <a:pt x="6653784" y="151891"/>
                </a:lnTo>
                <a:lnTo>
                  <a:pt x="6653784" y="1122184"/>
                </a:lnTo>
                <a:lnTo>
                  <a:pt x="6646046" y="1170191"/>
                </a:lnTo>
                <a:lnTo>
                  <a:pt x="6624494" y="1211883"/>
                </a:lnTo>
                <a:lnTo>
                  <a:pt x="6591623" y="1244760"/>
                </a:lnTo>
                <a:lnTo>
                  <a:pt x="6549924" y="1266321"/>
                </a:lnTo>
                <a:lnTo>
                  <a:pt x="6501892" y="1274063"/>
                </a:lnTo>
                <a:lnTo>
                  <a:pt x="151892" y="1274063"/>
                </a:lnTo>
                <a:lnTo>
                  <a:pt x="103859" y="1266321"/>
                </a:lnTo>
                <a:lnTo>
                  <a:pt x="62160" y="1244760"/>
                </a:lnTo>
                <a:lnTo>
                  <a:pt x="29289" y="1211883"/>
                </a:lnTo>
                <a:lnTo>
                  <a:pt x="7737" y="1170191"/>
                </a:lnTo>
                <a:lnTo>
                  <a:pt x="0" y="1122184"/>
                </a:lnTo>
                <a:lnTo>
                  <a:pt x="0" y="151891"/>
                </a:lnTo>
                <a:close/>
              </a:path>
            </a:pathLst>
          </a:custGeom>
          <a:ln w="25908">
            <a:solidFill>
              <a:srgbClr val="FD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94460" y="4005071"/>
            <a:ext cx="6397751" cy="6629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96924" y="1443227"/>
            <a:ext cx="6502908" cy="664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276204" y="2159066"/>
            <a:ext cx="648966" cy="55231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271628" y="4722425"/>
            <a:ext cx="651900" cy="5508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707642" y="1888998"/>
            <a:ext cx="5791200" cy="457200"/>
          </a:xfrm>
          <a:custGeom>
            <a:avLst/>
            <a:gdLst/>
            <a:ahLst/>
            <a:cxnLst/>
            <a:rect l="l" t="t" r="r" b="b"/>
            <a:pathLst>
              <a:path w="5791200" h="457200">
                <a:moveTo>
                  <a:pt x="5715000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381000"/>
                </a:lnTo>
                <a:lnTo>
                  <a:pt x="5994" y="410640"/>
                </a:lnTo>
                <a:lnTo>
                  <a:pt x="22336" y="434863"/>
                </a:lnTo>
                <a:lnTo>
                  <a:pt x="46559" y="451205"/>
                </a:lnTo>
                <a:lnTo>
                  <a:pt x="76200" y="457200"/>
                </a:lnTo>
                <a:lnTo>
                  <a:pt x="5715000" y="457200"/>
                </a:lnTo>
                <a:lnTo>
                  <a:pt x="5744640" y="451205"/>
                </a:lnTo>
                <a:lnTo>
                  <a:pt x="5768863" y="434863"/>
                </a:lnTo>
                <a:lnTo>
                  <a:pt x="5785205" y="410640"/>
                </a:lnTo>
                <a:lnTo>
                  <a:pt x="5791200" y="381000"/>
                </a:lnTo>
                <a:lnTo>
                  <a:pt x="5791200" y="76200"/>
                </a:lnTo>
                <a:lnTo>
                  <a:pt x="5785205" y="46559"/>
                </a:lnTo>
                <a:lnTo>
                  <a:pt x="5768863" y="22336"/>
                </a:lnTo>
                <a:lnTo>
                  <a:pt x="5744640" y="5994"/>
                </a:lnTo>
                <a:lnTo>
                  <a:pt x="5715000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707642" y="1888998"/>
            <a:ext cx="5791200" cy="457200"/>
          </a:xfrm>
          <a:custGeom>
            <a:avLst/>
            <a:gdLst/>
            <a:ahLst/>
            <a:cxnLst/>
            <a:rect l="l" t="t" r="r" b="b"/>
            <a:pathLst>
              <a:path w="57912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5715000" y="0"/>
                </a:lnTo>
                <a:lnTo>
                  <a:pt x="5744640" y="5994"/>
                </a:lnTo>
                <a:lnTo>
                  <a:pt x="5768863" y="22336"/>
                </a:lnTo>
                <a:lnTo>
                  <a:pt x="5785205" y="46559"/>
                </a:lnTo>
                <a:lnTo>
                  <a:pt x="5791200" y="76200"/>
                </a:lnTo>
                <a:lnTo>
                  <a:pt x="5791200" y="381000"/>
                </a:lnTo>
                <a:lnTo>
                  <a:pt x="5785205" y="410640"/>
                </a:lnTo>
                <a:lnTo>
                  <a:pt x="5768863" y="434863"/>
                </a:lnTo>
                <a:lnTo>
                  <a:pt x="5744640" y="451205"/>
                </a:lnTo>
                <a:lnTo>
                  <a:pt x="57150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8956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707642" y="4467605"/>
            <a:ext cx="5791200" cy="457200"/>
          </a:xfrm>
          <a:custGeom>
            <a:avLst/>
            <a:gdLst/>
            <a:ahLst/>
            <a:cxnLst/>
            <a:rect l="l" t="t" r="r" b="b"/>
            <a:pathLst>
              <a:path w="5791200" h="457200">
                <a:moveTo>
                  <a:pt x="5715000" y="0"/>
                </a:moveTo>
                <a:lnTo>
                  <a:pt x="76200" y="0"/>
                </a:lnTo>
                <a:lnTo>
                  <a:pt x="46559" y="5994"/>
                </a:lnTo>
                <a:lnTo>
                  <a:pt x="22336" y="22336"/>
                </a:lnTo>
                <a:lnTo>
                  <a:pt x="5994" y="46559"/>
                </a:lnTo>
                <a:lnTo>
                  <a:pt x="0" y="76200"/>
                </a:lnTo>
                <a:lnTo>
                  <a:pt x="0" y="381000"/>
                </a:lnTo>
                <a:lnTo>
                  <a:pt x="5994" y="410640"/>
                </a:lnTo>
                <a:lnTo>
                  <a:pt x="22336" y="434863"/>
                </a:lnTo>
                <a:lnTo>
                  <a:pt x="46559" y="451205"/>
                </a:lnTo>
                <a:lnTo>
                  <a:pt x="76200" y="457200"/>
                </a:lnTo>
                <a:lnTo>
                  <a:pt x="5715000" y="457200"/>
                </a:lnTo>
                <a:lnTo>
                  <a:pt x="5744640" y="451205"/>
                </a:lnTo>
                <a:lnTo>
                  <a:pt x="5768863" y="434863"/>
                </a:lnTo>
                <a:lnTo>
                  <a:pt x="5785205" y="410640"/>
                </a:lnTo>
                <a:lnTo>
                  <a:pt x="5791200" y="381000"/>
                </a:lnTo>
                <a:lnTo>
                  <a:pt x="5791200" y="76200"/>
                </a:lnTo>
                <a:lnTo>
                  <a:pt x="5785205" y="46559"/>
                </a:lnTo>
                <a:lnTo>
                  <a:pt x="5768863" y="22336"/>
                </a:lnTo>
                <a:lnTo>
                  <a:pt x="5744640" y="5994"/>
                </a:lnTo>
                <a:lnTo>
                  <a:pt x="5715000" y="0"/>
                </a:lnTo>
                <a:close/>
              </a:path>
            </a:pathLst>
          </a:custGeom>
          <a:solidFill>
            <a:srgbClr val="FD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07642" y="4467605"/>
            <a:ext cx="5791200" cy="457200"/>
          </a:xfrm>
          <a:custGeom>
            <a:avLst/>
            <a:gdLst/>
            <a:ahLst/>
            <a:cxnLst/>
            <a:rect l="l" t="t" r="r" b="b"/>
            <a:pathLst>
              <a:path w="5791200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5715000" y="0"/>
                </a:lnTo>
                <a:lnTo>
                  <a:pt x="5744640" y="5994"/>
                </a:lnTo>
                <a:lnTo>
                  <a:pt x="5768863" y="22336"/>
                </a:lnTo>
                <a:lnTo>
                  <a:pt x="5785205" y="46559"/>
                </a:lnTo>
                <a:lnTo>
                  <a:pt x="5791200" y="76200"/>
                </a:lnTo>
                <a:lnTo>
                  <a:pt x="5791200" y="381000"/>
                </a:lnTo>
                <a:lnTo>
                  <a:pt x="5785205" y="410640"/>
                </a:lnTo>
                <a:lnTo>
                  <a:pt x="5768863" y="434863"/>
                </a:lnTo>
                <a:lnTo>
                  <a:pt x="5744640" y="451205"/>
                </a:lnTo>
                <a:lnTo>
                  <a:pt x="5715000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8956">
            <a:solidFill>
              <a:srgbClr val="DD80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917319" y="1945640"/>
            <a:ext cx="5615305" cy="110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1665" algn="l"/>
                <a:tab pos="2450465" algn="l"/>
                <a:tab pos="4279265" algn="l"/>
              </a:tabLst>
            </a:pPr>
            <a:r>
              <a:rPr sz="2400" dirty="0">
                <a:latin typeface="黑体"/>
                <a:cs typeface="黑体"/>
              </a:rPr>
              <a:t>PDM	(Precedence	Diagramming	Method</a:t>
            </a:r>
            <a:r>
              <a:rPr sz="2400" spc="-85" dirty="0">
                <a:latin typeface="黑体"/>
                <a:cs typeface="黑体"/>
              </a:rPr>
              <a:t> </a:t>
            </a:r>
            <a:r>
              <a:rPr sz="2000" dirty="0">
                <a:latin typeface="黑体"/>
                <a:cs typeface="黑体"/>
              </a:rPr>
              <a:t>）</a:t>
            </a:r>
            <a:endParaRPr sz="20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/>
              <a:cs typeface="Times New Roman"/>
            </a:endParaRPr>
          </a:p>
          <a:p>
            <a:pPr marL="147955">
              <a:lnSpc>
                <a:spcPct val="100000"/>
              </a:lnSpc>
              <a:spcBef>
                <a:spcPts val="5"/>
              </a:spcBef>
            </a:pPr>
            <a:r>
              <a:rPr sz="2800" b="1" spc="-5" dirty="0">
                <a:solidFill>
                  <a:srgbClr val="FFFFFF"/>
                </a:solidFill>
                <a:latin typeface="方正姚体"/>
                <a:cs typeface="方正姚体"/>
              </a:rPr>
              <a:t>优先图</a:t>
            </a:r>
            <a:r>
              <a:rPr sz="2800" b="1" spc="-15" dirty="0">
                <a:solidFill>
                  <a:srgbClr val="FFFFFF"/>
                </a:solidFill>
                <a:latin typeface="方正姚体"/>
                <a:cs typeface="方正姚体"/>
              </a:rPr>
              <a:t>法</a:t>
            </a:r>
            <a:r>
              <a:rPr sz="2800" b="1" spc="15" dirty="0">
                <a:solidFill>
                  <a:srgbClr val="FFFFFF"/>
                </a:solidFill>
                <a:latin typeface="方正姚体"/>
                <a:cs typeface="方正姚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方正姚体"/>
                <a:cs typeface="方正姚体"/>
              </a:rPr>
              <a:t>,</a:t>
            </a:r>
            <a:r>
              <a:rPr sz="2800" b="1" spc="-5" dirty="0">
                <a:solidFill>
                  <a:srgbClr val="FFFFFF"/>
                </a:solidFill>
                <a:latin typeface="方正姚体"/>
                <a:cs typeface="方正姚体"/>
              </a:rPr>
              <a:t>节点</a:t>
            </a:r>
            <a:r>
              <a:rPr sz="2800" b="1" spc="-15" dirty="0">
                <a:solidFill>
                  <a:srgbClr val="FFFFFF"/>
                </a:solidFill>
                <a:latin typeface="方正姚体"/>
                <a:cs typeface="方正姚体"/>
              </a:rPr>
              <a:t>法</a:t>
            </a:r>
            <a:r>
              <a:rPr sz="2800" b="1" spc="20" dirty="0">
                <a:solidFill>
                  <a:srgbClr val="FFFFFF"/>
                </a:solidFill>
                <a:latin typeface="方正姚体"/>
                <a:cs typeface="方正姚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方正姚体"/>
                <a:cs typeface="方正姚体"/>
              </a:rPr>
              <a:t>(</a:t>
            </a:r>
            <a:r>
              <a:rPr sz="2800" b="1" spc="-5" dirty="0">
                <a:solidFill>
                  <a:srgbClr val="FFFFFF"/>
                </a:solidFill>
                <a:latin typeface="方正姚体"/>
                <a:cs typeface="方正姚体"/>
              </a:rPr>
              <a:t>单代号</a:t>
            </a:r>
            <a:r>
              <a:rPr sz="2800" b="1" spc="-10" dirty="0">
                <a:solidFill>
                  <a:srgbClr val="FFFFFF"/>
                </a:solidFill>
                <a:latin typeface="方正姚体"/>
                <a:cs typeface="方正姚体"/>
              </a:rPr>
              <a:t>)</a:t>
            </a:r>
            <a:r>
              <a:rPr sz="2800" b="1" spc="-5" dirty="0">
                <a:solidFill>
                  <a:srgbClr val="FFFFFF"/>
                </a:solidFill>
                <a:latin typeface="方正姚体"/>
                <a:cs typeface="方正姚体"/>
              </a:rPr>
              <a:t>网络图</a:t>
            </a:r>
            <a:endParaRPr sz="2800">
              <a:latin typeface="方正姚体"/>
              <a:cs typeface="方正姚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226691" y="4534865"/>
            <a:ext cx="4750435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黑体"/>
                <a:cs typeface="黑体"/>
              </a:rPr>
              <a:t>ADM (Arrow Diagramming Method</a:t>
            </a:r>
            <a:r>
              <a:rPr sz="2400" spc="-55" dirty="0">
                <a:latin typeface="黑体"/>
                <a:cs typeface="黑体"/>
              </a:rPr>
              <a:t> </a:t>
            </a:r>
            <a:r>
              <a:rPr sz="2400" dirty="0">
                <a:latin typeface="黑体"/>
                <a:cs typeface="黑体"/>
              </a:rPr>
              <a:t>)</a:t>
            </a:r>
            <a:endParaRPr sz="240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marL="38735" algn="ctr">
              <a:lnSpc>
                <a:spcPct val="100000"/>
              </a:lnSpc>
            </a:pPr>
            <a:r>
              <a:rPr sz="2800" b="1" spc="-10" dirty="0">
                <a:solidFill>
                  <a:srgbClr val="FFFFFF"/>
                </a:solidFill>
                <a:latin typeface="方正姚体"/>
                <a:cs typeface="方正姚体"/>
              </a:rPr>
              <a:t>箭线</a:t>
            </a:r>
            <a:r>
              <a:rPr sz="2800" b="1" spc="-15" dirty="0">
                <a:solidFill>
                  <a:srgbClr val="FFFFFF"/>
                </a:solidFill>
                <a:latin typeface="方正姚体"/>
                <a:cs typeface="方正姚体"/>
              </a:rPr>
              <a:t>法</a:t>
            </a:r>
            <a:r>
              <a:rPr sz="2800" b="1" spc="10" dirty="0">
                <a:solidFill>
                  <a:srgbClr val="FFFFFF"/>
                </a:solidFill>
                <a:latin typeface="方正姚体"/>
                <a:cs typeface="方正姚体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方正姚体"/>
                <a:cs typeface="方正姚体"/>
              </a:rPr>
              <a:t>(双代号)网络图</a:t>
            </a:r>
            <a:endParaRPr sz="2800">
              <a:latin typeface="方正姚体"/>
              <a:cs typeface="方正姚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216" y="305257"/>
            <a:ext cx="2307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PD</a:t>
            </a:r>
            <a:r>
              <a:rPr i="1" spc="-5" dirty="0">
                <a:latin typeface="华文隶书"/>
                <a:cs typeface="华文隶书"/>
              </a:rPr>
              <a:t>M</a:t>
            </a:r>
            <a:r>
              <a:rPr dirty="0">
                <a:latin typeface="华文隶书"/>
                <a:cs typeface="华文隶书"/>
              </a:rPr>
              <a:t>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78121" y="60814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3678935"/>
            <a:ext cx="993775" cy="6648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0503" y="2514600"/>
            <a:ext cx="1193800" cy="6648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宋体"/>
                <a:cs typeface="宋体"/>
              </a:rPr>
              <a:t>活动</a:t>
            </a: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57444" y="2514600"/>
            <a:ext cx="1195070" cy="6648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活</a:t>
            </a:r>
            <a:r>
              <a:rPr sz="2400" spc="-5" dirty="0">
                <a:latin typeface="宋体"/>
                <a:cs typeface="宋体"/>
              </a:rPr>
              <a:t>动</a:t>
            </a:r>
            <a:r>
              <a:rPr sz="2400" dirty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5676" y="4509515"/>
            <a:ext cx="1191895" cy="66611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2400" dirty="0">
                <a:latin typeface="宋体"/>
                <a:cs typeface="宋体"/>
              </a:rPr>
              <a:t>活动</a:t>
            </a:r>
            <a:r>
              <a:rPr sz="240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45552" y="3678935"/>
            <a:ext cx="993775" cy="66484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77923" y="4171188"/>
            <a:ext cx="2588260" cy="688975"/>
          </a:xfrm>
          <a:custGeom>
            <a:avLst/>
            <a:gdLst/>
            <a:ahLst/>
            <a:cxnLst/>
            <a:rect l="l" t="t" r="r" b="b"/>
            <a:pathLst>
              <a:path w="2588260" h="688975">
                <a:moveTo>
                  <a:pt x="2512368" y="657756"/>
                </a:moveTo>
                <a:lnTo>
                  <a:pt x="2504440" y="688467"/>
                </a:lnTo>
                <a:lnTo>
                  <a:pt x="2587752" y="670560"/>
                </a:lnTo>
                <a:lnTo>
                  <a:pt x="2576652" y="660907"/>
                </a:lnTo>
                <a:lnTo>
                  <a:pt x="2524633" y="660907"/>
                </a:lnTo>
                <a:lnTo>
                  <a:pt x="2512368" y="657756"/>
                </a:lnTo>
                <a:close/>
              </a:path>
              <a:path w="2588260" h="688975">
                <a:moveTo>
                  <a:pt x="2515548" y="645439"/>
                </a:moveTo>
                <a:lnTo>
                  <a:pt x="2512368" y="657756"/>
                </a:lnTo>
                <a:lnTo>
                  <a:pt x="2524633" y="660907"/>
                </a:lnTo>
                <a:lnTo>
                  <a:pt x="2527808" y="648588"/>
                </a:lnTo>
                <a:lnTo>
                  <a:pt x="2515548" y="645439"/>
                </a:lnTo>
                <a:close/>
              </a:path>
              <a:path w="2588260" h="688975">
                <a:moveTo>
                  <a:pt x="2523490" y="614680"/>
                </a:moveTo>
                <a:lnTo>
                  <a:pt x="2515548" y="645439"/>
                </a:lnTo>
                <a:lnTo>
                  <a:pt x="2527808" y="648588"/>
                </a:lnTo>
                <a:lnTo>
                  <a:pt x="2524633" y="660907"/>
                </a:lnTo>
                <a:lnTo>
                  <a:pt x="2576652" y="660907"/>
                </a:lnTo>
                <a:lnTo>
                  <a:pt x="2523490" y="614680"/>
                </a:lnTo>
                <a:close/>
              </a:path>
              <a:path w="2588260" h="688975">
                <a:moveTo>
                  <a:pt x="3048" y="0"/>
                </a:moveTo>
                <a:lnTo>
                  <a:pt x="0" y="12192"/>
                </a:lnTo>
                <a:lnTo>
                  <a:pt x="2512368" y="657756"/>
                </a:lnTo>
                <a:lnTo>
                  <a:pt x="2515548" y="645439"/>
                </a:lnTo>
                <a:lnTo>
                  <a:pt x="3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675638" y="2846832"/>
            <a:ext cx="1595120" cy="1169670"/>
          </a:xfrm>
          <a:custGeom>
            <a:avLst/>
            <a:gdLst/>
            <a:ahLst/>
            <a:cxnLst/>
            <a:rect l="l" t="t" r="r" b="b"/>
            <a:pathLst>
              <a:path w="1595120" h="1169670">
                <a:moveTo>
                  <a:pt x="1529666" y="39855"/>
                </a:moveTo>
                <a:lnTo>
                  <a:pt x="0" y="1159255"/>
                </a:lnTo>
                <a:lnTo>
                  <a:pt x="7619" y="1169415"/>
                </a:lnTo>
                <a:lnTo>
                  <a:pt x="1537179" y="50127"/>
                </a:lnTo>
                <a:lnTo>
                  <a:pt x="1529666" y="39855"/>
                </a:lnTo>
                <a:close/>
              </a:path>
              <a:path w="1595120" h="1169670">
                <a:moveTo>
                  <a:pt x="1578184" y="32384"/>
                </a:moveTo>
                <a:lnTo>
                  <a:pt x="1539875" y="32384"/>
                </a:lnTo>
                <a:lnTo>
                  <a:pt x="1547368" y="42671"/>
                </a:lnTo>
                <a:lnTo>
                  <a:pt x="1537179" y="50127"/>
                </a:lnTo>
                <a:lnTo>
                  <a:pt x="1555877" y="75691"/>
                </a:lnTo>
                <a:lnTo>
                  <a:pt x="1578184" y="32384"/>
                </a:lnTo>
                <a:close/>
              </a:path>
              <a:path w="1595120" h="1169670">
                <a:moveTo>
                  <a:pt x="1539875" y="32384"/>
                </a:moveTo>
                <a:lnTo>
                  <a:pt x="1529666" y="39855"/>
                </a:lnTo>
                <a:lnTo>
                  <a:pt x="1537179" y="50127"/>
                </a:lnTo>
                <a:lnTo>
                  <a:pt x="1547368" y="42671"/>
                </a:lnTo>
                <a:lnTo>
                  <a:pt x="1539875" y="32384"/>
                </a:lnTo>
                <a:close/>
              </a:path>
              <a:path w="1595120" h="1169670">
                <a:moveTo>
                  <a:pt x="1594865" y="0"/>
                </a:moveTo>
                <a:lnTo>
                  <a:pt x="1510919" y="14223"/>
                </a:lnTo>
                <a:lnTo>
                  <a:pt x="1529666" y="39855"/>
                </a:lnTo>
                <a:lnTo>
                  <a:pt x="1539875" y="32384"/>
                </a:lnTo>
                <a:lnTo>
                  <a:pt x="1578184" y="32384"/>
                </a:lnTo>
                <a:lnTo>
                  <a:pt x="1594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463796" y="2808732"/>
            <a:ext cx="993775" cy="76200"/>
          </a:xfrm>
          <a:custGeom>
            <a:avLst/>
            <a:gdLst/>
            <a:ahLst/>
            <a:cxnLst/>
            <a:rect l="l" t="t" r="r" b="b"/>
            <a:pathLst>
              <a:path w="993775" h="76200">
                <a:moveTo>
                  <a:pt x="917448" y="0"/>
                </a:moveTo>
                <a:lnTo>
                  <a:pt x="917448" y="76200"/>
                </a:lnTo>
                <a:lnTo>
                  <a:pt x="980948" y="44450"/>
                </a:lnTo>
                <a:lnTo>
                  <a:pt x="930148" y="44450"/>
                </a:lnTo>
                <a:lnTo>
                  <a:pt x="930148" y="31750"/>
                </a:lnTo>
                <a:lnTo>
                  <a:pt x="980948" y="31750"/>
                </a:lnTo>
                <a:lnTo>
                  <a:pt x="917448" y="0"/>
                </a:lnTo>
                <a:close/>
              </a:path>
              <a:path w="993775" h="76200">
                <a:moveTo>
                  <a:pt x="91744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917448" y="44450"/>
                </a:lnTo>
                <a:lnTo>
                  <a:pt x="917448" y="31750"/>
                </a:lnTo>
                <a:close/>
              </a:path>
              <a:path w="993775" h="76200">
                <a:moveTo>
                  <a:pt x="980948" y="31750"/>
                </a:moveTo>
                <a:lnTo>
                  <a:pt x="930148" y="31750"/>
                </a:lnTo>
                <a:lnTo>
                  <a:pt x="930148" y="44450"/>
                </a:lnTo>
                <a:lnTo>
                  <a:pt x="980948" y="44450"/>
                </a:lnTo>
                <a:lnTo>
                  <a:pt x="993648" y="38100"/>
                </a:lnTo>
                <a:lnTo>
                  <a:pt x="98094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55411" y="4000246"/>
            <a:ext cx="2390140" cy="847725"/>
          </a:xfrm>
          <a:custGeom>
            <a:avLst/>
            <a:gdLst/>
            <a:ahLst/>
            <a:cxnLst/>
            <a:rect l="l" t="t" r="r" b="b"/>
            <a:pathLst>
              <a:path w="2390140" h="847725">
                <a:moveTo>
                  <a:pt x="2316103" y="29931"/>
                </a:moveTo>
                <a:lnTo>
                  <a:pt x="0" y="835532"/>
                </a:lnTo>
                <a:lnTo>
                  <a:pt x="4063" y="847470"/>
                </a:lnTo>
                <a:lnTo>
                  <a:pt x="2320261" y="41880"/>
                </a:lnTo>
                <a:lnTo>
                  <a:pt x="2316103" y="29931"/>
                </a:lnTo>
                <a:close/>
              </a:path>
              <a:path w="2390140" h="847725">
                <a:moveTo>
                  <a:pt x="2375652" y="25780"/>
                </a:moveTo>
                <a:lnTo>
                  <a:pt x="2328037" y="25780"/>
                </a:lnTo>
                <a:lnTo>
                  <a:pt x="2332228" y="37718"/>
                </a:lnTo>
                <a:lnTo>
                  <a:pt x="2320261" y="41880"/>
                </a:lnTo>
                <a:lnTo>
                  <a:pt x="2330704" y="71881"/>
                </a:lnTo>
                <a:lnTo>
                  <a:pt x="2375652" y="25780"/>
                </a:lnTo>
                <a:close/>
              </a:path>
              <a:path w="2390140" h="847725">
                <a:moveTo>
                  <a:pt x="2328037" y="25780"/>
                </a:moveTo>
                <a:lnTo>
                  <a:pt x="2316103" y="29931"/>
                </a:lnTo>
                <a:lnTo>
                  <a:pt x="2320261" y="41880"/>
                </a:lnTo>
                <a:lnTo>
                  <a:pt x="2332228" y="37718"/>
                </a:lnTo>
                <a:lnTo>
                  <a:pt x="2328037" y="25780"/>
                </a:lnTo>
                <a:close/>
              </a:path>
              <a:path w="2390140" h="847725">
                <a:moveTo>
                  <a:pt x="2305685" y="0"/>
                </a:moveTo>
                <a:lnTo>
                  <a:pt x="2316103" y="29931"/>
                </a:lnTo>
                <a:lnTo>
                  <a:pt x="2328037" y="25780"/>
                </a:lnTo>
                <a:lnTo>
                  <a:pt x="2375652" y="25780"/>
                </a:lnTo>
                <a:lnTo>
                  <a:pt x="2390140" y="10921"/>
                </a:lnTo>
                <a:lnTo>
                  <a:pt x="23056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48195" y="2842005"/>
            <a:ext cx="1197610" cy="1003300"/>
          </a:xfrm>
          <a:custGeom>
            <a:avLst/>
            <a:gdLst/>
            <a:ahLst/>
            <a:cxnLst/>
            <a:rect l="l" t="t" r="r" b="b"/>
            <a:pathLst>
              <a:path w="1197609" h="1003300">
                <a:moveTo>
                  <a:pt x="1134760" y="959063"/>
                </a:moveTo>
                <a:lnTo>
                  <a:pt x="1114425" y="983361"/>
                </a:lnTo>
                <a:lnTo>
                  <a:pt x="1197355" y="1003046"/>
                </a:lnTo>
                <a:lnTo>
                  <a:pt x="1181749" y="967232"/>
                </a:lnTo>
                <a:lnTo>
                  <a:pt x="1144524" y="967232"/>
                </a:lnTo>
                <a:lnTo>
                  <a:pt x="1134760" y="959063"/>
                </a:lnTo>
                <a:close/>
              </a:path>
              <a:path w="1197609" h="1003300">
                <a:moveTo>
                  <a:pt x="1142973" y="949251"/>
                </a:moveTo>
                <a:lnTo>
                  <a:pt x="1134760" y="959063"/>
                </a:lnTo>
                <a:lnTo>
                  <a:pt x="1144524" y="967232"/>
                </a:lnTo>
                <a:lnTo>
                  <a:pt x="1152778" y="957453"/>
                </a:lnTo>
                <a:lnTo>
                  <a:pt x="1142973" y="949251"/>
                </a:lnTo>
                <a:close/>
              </a:path>
              <a:path w="1197609" h="1003300">
                <a:moveTo>
                  <a:pt x="1163320" y="924941"/>
                </a:moveTo>
                <a:lnTo>
                  <a:pt x="1142973" y="949251"/>
                </a:lnTo>
                <a:lnTo>
                  <a:pt x="1152778" y="957453"/>
                </a:lnTo>
                <a:lnTo>
                  <a:pt x="1144524" y="967232"/>
                </a:lnTo>
                <a:lnTo>
                  <a:pt x="1181749" y="967232"/>
                </a:lnTo>
                <a:lnTo>
                  <a:pt x="1163320" y="924941"/>
                </a:lnTo>
                <a:close/>
              </a:path>
              <a:path w="1197609" h="1003300">
                <a:moveTo>
                  <a:pt x="8127" y="0"/>
                </a:moveTo>
                <a:lnTo>
                  <a:pt x="0" y="9652"/>
                </a:lnTo>
                <a:lnTo>
                  <a:pt x="1134760" y="959063"/>
                </a:lnTo>
                <a:lnTo>
                  <a:pt x="1142973" y="949251"/>
                </a:lnTo>
                <a:lnTo>
                  <a:pt x="81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377189"/>
            <a:ext cx="811593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PDM(Precedence Diagramming</a:t>
            </a:r>
            <a:r>
              <a:rPr i="1" spc="-50" dirty="0">
                <a:latin typeface="华文隶书"/>
                <a:cs typeface="华文隶书"/>
              </a:rPr>
              <a:t> </a:t>
            </a:r>
            <a:r>
              <a:rPr i="1" spc="-5" dirty="0">
                <a:latin typeface="华文隶书"/>
                <a:cs typeface="华文隶书"/>
              </a:rPr>
              <a:t>Method)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423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68630" y="1989582"/>
            <a:ext cx="8153400" cy="2764790"/>
          </a:xfrm>
          <a:custGeom>
            <a:avLst/>
            <a:gdLst/>
            <a:ahLst/>
            <a:cxnLst/>
            <a:rect l="l" t="t" r="r" b="b"/>
            <a:pathLst>
              <a:path w="8153400" h="2764790">
                <a:moveTo>
                  <a:pt x="0" y="2764536"/>
                </a:moveTo>
                <a:lnTo>
                  <a:pt x="8153400" y="2764536"/>
                </a:lnTo>
                <a:lnTo>
                  <a:pt x="8153400" y="0"/>
                </a:lnTo>
                <a:lnTo>
                  <a:pt x="0" y="0"/>
                </a:lnTo>
                <a:lnTo>
                  <a:pt x="0" y="276453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7217" y="1903313"/>
            <a:ext cx="8031480" cy="233299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构成PDM网络图的</a:t>
            </a:r>
            <a:r>
              <a:rPr sz="3200" spc="-15" dirty="0">
                <a:latin typeface="华文新魏"/>
                <a:cs typeface="华文新魏"/>
              </a:rPr>
              <a:t>基</a:t>
            </a:r>
            <a:r>
              <a:rPr sz="3200" dirty="0">
                <a:latin typeface="华文新魏"/>
                <a:cs typeface="华文新魏"/>
              </a:rPr>
              <a:t>本特</a:t>
            </a:r>
            <a:r>
              <a:rPr sz="3200" spc="-15" dirty="0">
                <a:latin typeface="华文新魏"/>
                <a:cs typeface="华文新魏"/>
              </a:rPr>
              <a:t>点</a:t>
            </a:r>
            <a:r>
              <a:rPr sz="3200" dirty="0">
                <a:latin typeface="华文新魏"/>
                <a:cs typeface="华文新魏"/>
              </a:rPr>
              <a:t>是节</a:t>
            </a:r>
            <a:r>
              <a:rPr sz="3200" spc="-10" dirty="0">
                <a:latin typeface="华文新魏"/>
                <a:cs typeface="华文新魏"/>
              </a:rPr>
              <a:t>点</a:t>
            </a:r>
            <a:r>
              <a:rPr sz="3200" dirty="0">
                <a:latin typeface="华文新魏"/>
                <a:cs typeface="华文新魏"/>
              </a:rPr>
              <a:t>(Box)</a:t>
            </a:r>
            <a:endParaRPr sz="32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节点(Box)表示活动（任务）</a:t>
            </a:r>
            <a:endParaRPr sz="32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用箭线表示各活</a:t>
            </a:r>
            <a:r>
              <a:rPr sz="3200" spc="5" dirty="0">
                <a:latin typeface="华文新魏"/>
                <a:cs typeface="华文新魏"/>
              </a:rPr>
              <a:t>动</a:t>
            </a:r>
            <a:r>
              <a:rPr sz="3200" dirty="0">
                <a:latin typeface="华文新魏"/>
                <a:cs typeface="华文新魏"/>
              </a:rPr>
              <a:t>(任</a:t>
            </a:r>
            <a:r>
              <a:rPr sz="3200" spc="-15" dirty="0">
                <a:latin typeface="华文新魏"/>
                <a:cs typeface="华文新魏"/>
              </a:rPr>
              <a:t>务</a:t>
            </a:r>
            <a:r>
              <a:rPr sz="3200" dirty="0">
                <a:latin typeface="华文新魏"/>
                <a:cs typeface="华文新魏"/>
              </a:rPr>
              <a:t>)之间的逻辑关</a:t>
            </a:r>
            <a:r>
              <a:rPr sz="3200" spc="-20" dirty="0">
                <a:latin typeface="华文新魏"/>
                <a:cs typeface="华文新魏"/>
              </a:rPr>
              <a:t>系</a:t>
            </a:r>
            <a:r>
              <a:rPr sz="3200" dirty="0">
                <a:latin typeface="华文新魏"/>
                <a:cs typeface="华文新魏"/>
              </a:rPr>
              <a:t>.</a:t>
            </a:r>
            <a:endParaRPr sz="32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lr>
                <a:srgbClr val="DD8046"/>
              </a:buClr>
              <a:buSzPct val="59375"/>
              <a:buFont typeface="Wingdings"/>
              <a:buChar char=""/>
              <a:tabLst>
                <a:tab pos="332740" algn="l"/>
              </a:tabLst>
            </a:pPr>
            <a:r>
              <a:rPr sz="3200" spc="5" dirty="0">
                <a:latin typeface="华文新魏"/>
                <a:cs typeface="华文新魏"/>
              </a:rPr>
              <a:t>可以</a:t>
            </a:r>
            <a:r>
              <a:rPr sz="3200" spc="-15" dirty="0">
                <a:latin typeface="华文新魏"/>
                <a:cs typeface="华文新魏"/>
              </a:rPr>
              <a:t>方</a:t>
            </a:r>
            <a:r>
              <a:rPr sz="3200" spc="5" dirty="0">
                <a:latin typeface="华文新魏"/>
                <a:cs typeface="华文新魏"/>
              </a:rPr>
              <a:t>便的</a:t>
            </a:r>
            <a:r>
              <a:rPr sz="3200" spc="-15" dirty="0">
                <a:latin typeface="华文新魏"/>
                <a:cs typeface="华文新魏"/>
              </a:rPr>
              <a:t>表</a:t>
            </a:r>
            <a:r>
              <a:rPr sz="3200" spc="5" dirty="0">
                <a:latin typeface="华文新魏"/>
                <a:cs typeface="华文新魏"/>
              </a:rPr>
              <a:t>示活</a:t>
            </a:r>
            <a:r>
              <a:rPr sz="3200" spc="-15" dirty="0">
                <a:latin typeface="华文新魏"/>
                <a:cs typeface="华文新魏"/>
              </a:rPr>
              <a:t>动</a:t>
            </a:r>
            <a:r>
              <a:rPr sz="3200" spc="5" dirty="0">
                <a:latin typeface="华文新魏"/>
                <a:cs typeface="华文新魏"/>
              </a:rPr>
              <a:t>之间</a:t>
            </a:r>
            <a:r>
              <a:rPr sz="3200" spc="-15" dirty="0">
                <a:latin typeface="华文新魏"/>
                <a:cs typeface="华文新魏"/>
              </a:rPr>
              <a:t>的</a:t>
            </a:r>
            <a:r>
              <a:rPr sz="3200" spc="5" dirty="0">
                <a:latin typeface="华文新魏"/>
                <a:cs typeface="华文新魏"/>
              </a:rPr>
              <a:t>各种</a:t>
            </a:r>
            <a:r>
              <a:rPr sz="3200" spc="-15" dirty="0">
                <a:latin typeface="华文新魏"/>
                <a:cs typeface="华文新魏"/>
              </a:rPr>
              <a:t>逻</a:t>
            </a:r>
            <a:r>
              <a:rPr sz="3200" spc="5" dirty="0">
                <a:latin typeface="华文新魏"/>
                <a:cs typeface="华文新魏"/>
              </a:rPr>
              <a:t>辑关</a:t>
            </a:r>
            <a:r>
              <a:rPr sz="3200" spc="-5" dirty="0">
                <a:latin typeface="华文新魏"/>
                <a:cs typeface="华文新魏"/>
              </a:rPr>
              <a:t>系</a:t>
            </a:r>
            <a:r>
              <a:rPr sz="2900" spc="5" dirty="0">
                <a:latin typeface="黑体"/>
                <a:cs typeface="黑体"/>
              </a:rPr>
              <a:t>。</a:t>
            </a:r>
            <a:endParaRPr sz="2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160731"/>
            <a:ext cx="2442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PDM</a:t>
            </a:r>
            <a:r>
              <a:rPr i="1" spc="-95" dirty="0">
                <a:latin typeface="华文隶书"/>
                <a:cs typeface="华文隶书"/>
              </a:rPr>
              <a:t> </a:t>
            </a:r>
            <a:r>
              <a:rPr dirty="0">
                <a:latin typeface="华文隶书"/>
                <a:cs typeface="华文隶书"/>
              </a:rPr>
              <a:t>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45407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5676" y="3285744"/>
            <a:ext cx="528955" cy="1028700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60960" rIns="0" bIns="0" rtlCol="0">
            <a:spAutoFit/>
          </a:bodyPr>
          <a:lstStyle/>
          <a:p>
            <a:pPr marL="90805" marR="123825" algn="just">
              <a:lnSpc>
                <a:spcPct val="97600"/>
              </a:lnSpc>
              <a:spcBef>
                <a:spcPts val="480"/>
              </a:spcBef>
            </a:pPr>
            <a:r>
              <a:rPr sz="2000" dirty="0">
                <a:latin typeface="宋体"/>
                <a:cs typeface="宋体"/>
              </a:rPr>
              <a:t>开 始 </a:t>
            </a:r>
            <a:r>
              <a:rPr sz="2400" dirty="0">
                <a:latin typeface="Arial Narrow"/>
                <a:cs typeface="Arial Narrow"/>
              </a:rPr>
              <a:t>(</a:t>
            </a:r>
            <a:r>
              <a:rPr sz="2400" spc="-5" dirty="0">
                <a:latin typeface="Arial Narrow"/>
                <a:cs typeface="Arial Narrow"/>
              </a:rPr>
              <a:t>1</a:t>
            </a:r>
            <a:r>
              <a:rPr sz="2400" dirty="0">
                <a:latin typeface="Arial Narrow"/>
                <a:cs typeface="Arial Narrow"/>
              </a:rPr>
              <a:t>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14627" y="4418076"/>
            <a:ext cx="820419" cy="1028700"/>
          </a:xfrm>
          <a:custGeom>
            <a:avLst/>
            <a:gdLst/>
            <a:ahLst/>
            <a:cxnLst/>
            <a:rect l="l" t="t" r="r" b="b"/>
            <a:pathLst>
              <a:path w="820419" h="1028700">
                <a:moveTo>
                  <a:pt x="0" y="1028700"/>
                </a:moveTo>
                <a:lnTo>
                  <a:pt x="819911" y="1028700"/>
                </a:lnTo>
                <a:lnTo>
                  <a:pt x="819911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06702" y="4783658"/>
            <a:ext cx="3187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(</a:t>
            </a:r>
            <a:r>
              <a:rPr sz="2400" spc="-5" dirty="0">
                <a:latin typeface="Arial Narrow"/>
                <a:cs typeface="Arial Narrow"/>
              </a:rPr>
              <a:t>3</a:t>
            </a:r>
            <a:r>
              <a:rPr sz="2400" dirty="0">
                <a:latin typeface="Arial Narrow"/>
                <a:cs typeface="Arial Narrow"/>
              </a:rPr>
              <a:t>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6819" y="2107692"/>
            <a:ext cx="817244" cy="10306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2229" rIns="0" bIns="0" rtlCol="0">
            <a:spAutoFit/>
          </a:bodyPr>
          <a:lstStyle/>
          <a:p>
            <a:pPr marL="91440" marR="84455">
              <a:lnSpc>
                <a:spcPct val="69700"/>
              </a:lnSpc>
              <a:spcBef>
                <a:spcPts val="489"/>
              </a:spcBef>
            </a:pPr>
            <a:r>
              <a:rPr sz="2000" dirty="0">
                <a:latin typeface="宋体"/>
                <a:cs typeface="宋体"/>
              </a:rPr>
              <a:t>项</a:t>
            </a:r>
            <a:r>
              <a:rPr sz="2000" spc="-114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目 规划 </a:t>
            </a:r>
            <a:r>
              <a:rPr sz="2400" dirty="0">
                <a:latin typeface="Times New Roman"/>
                <a:cs typeface="Times New Roman"/>
              </a:rPr>
              <a:t>(2)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70760" y="4421123"/>
            <a:ext cx="817244" cy="1028700"/>
          </a:xfrm>
          <a:custGeom>
            <a:avLst/>
            <a:gdLst/>
            <a:ahLst/>
            <a:cxnLst/>
            <a:rect l="l" t="t" r="r" b="b"/>
            <a:pathLst>
              <a:path w="817244" h="1028700">
                <a:moveTo>
                  <a:pt x="0" y="1028700"/>
                </a:moveTo>
                <a:lnTo>
                  <a:pt x="816863" y="1028700"/>
                </a:lnTo>
                <a:lnTo>
                  <a:pt x="816863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06702" y="4376750"/>
            <a:ext cx="17030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1055370" algn="l"/>
              </a:tabLst>
            </a:pPr>
            <a:r>
              <a:rPr sz="2000" dirty="0">
                <a:latin typeface="宋体"/>
                <a:cs typeface="宋体"/>
              </a:rPr>
              <a:t>需</a:t>
            </a:r>
            <a:r>
              <a:rPr sz="2000" spc="-5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求	</a:t>
            </a:r>
            <a:r>
              <a:rPr sz="2000" spc="5" dirty="0">
                <a:latin typeface="宋体"/>
                <a:cs typeface="宋体"/>
              </a:rPr>
              <a:t>需</a:t>
            </a:r>
            <a:r>
              <a:rPr sz="2000" spc="-105" dirty="0">
                <a:latin typeface="宋体"/>
                <a:cs typeface="宋体"/>
              </a:rPr>
              <a:t> </a:t>
            </a:r>
            <a:r>
              <a:rPr sz="2000" spc="5" dirty="0">
                <a:latin typeface="宋体"/>
                <a:cs typeface="宋体"/>
              </a:rPr>
              <a:t>求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6702" y="4596765"/>
            <a:ext cx="17024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1055370" algn="l"/>
              </a:tabLst>
            </a:pPr>
            <a:r>
              <a:rPr sz="3000" baseline="1388" dirty="0">
                <a:latin typeface="宋体"/>
                <a:cs typeface="宋体"/>
              </a:rPr>
              <a:t>获</a:t>
            </a:r>
            <a:r>
              <a:rPr sz="3000" spc="-7" baseline="1388" dirty="0">
                <a:latin typeface="宋体"/>
                <a:cs typeface="宋体"/>
              </a:rPr>
              <a:t> </a:t>
            </a:r>
            <a:r>
              <a:rPr sz="3000" baseline="1388" dirty="0">
                <a:latin typeface="宋体"/>
                <a:cs typeface="宋体"/>
              </a:rPr>
              <a:t>取	</a:t>
            </a:r>
            <a:r>
              <a:rPr sz="2000" dirty="0">
                <a:latin typeface="宋体"/>
                <a:cs typeface="宋体"/>
              </a:rPr>
              <a:t>确</a:t>
            </a:r>
            <a:r>
              <a:rPr sz="2000" spc="-10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认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62454" y="4787265"/>
            <a:ext cx="318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(</a:t>
            </a:r>
            <a:r>
              <a:rPr sz="2400" spc="-5" dirty="0">
                <a:latin typeface="Arial Narrow"/>
                <a:cs typeface="Arial Narrow"/>
              </a:rPr>
              <a:t>4</a:t>
            </a:r>
            <a:r>
              <a:rPr sz="2400" dirty="0">
                <a:latin typeface="Arial Narrow"/>
                <a:cs typeface="Arial Narrow"/>
              </a:rPr>
              <a:t>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282696" y="3195827"/>
            <a:ext cx="820419" cy="1027430"/>
          </a:xfrm>
          <a:custGeom>
            <a:avLst/>
            <a:gdLst/>
            <a:ahLst/>
            <a:cxnLst/>
            <a:rect l="l" t="t" r="r" b="b"/>
            <a:pathLst>
              <a:path w="820420" h="1027429">
                <a:moveTo>
                  <a:pt x="0" y="1027176"/>
                </a:moveTo>
                <a:lnTo>
                  <a:pt x="819912" y="1027176"/>
                </a:lnTo>
                <a:lnTo>
                  <a:pt x="819912" y="0"/>
                </a:lnTo>
                <a:lnTo>
                  <a:pt x="0" y="0"/>
                </a:lnTo>
                <a:lnTo>
                  <a:pt x="0" y="102717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75405" y="3152394"/>
            <a:ext cx="648335" cy="55054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R="5080">
              <a:lnSpc>
                <a:spcPct val="72000"/>
              </a:lnSpc>
              <a:spcBef>
                <a:spcPts val="775"/>
              </a:spcBef>
            </a:pPr>
            <a:r>
              <a:rPr sz="2000" dirty="0">
                <a:latin typeface="宋体"/>
                <a:cs typeface="宋体"/>
              </a:rPr>
              <a:t>项</a:t>
            </a:r>
            <a:r>
              <a:rPr sz="2000" spc="-10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目 计</a:t>
            </a:r>
            <a:r>
              <a:rPr sz="2000" spc="-10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划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75405" y="3591305"/>
            <a:ext cx="6483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评</a:t>
            </a:r>
            <a:r>
              <a:rPr sz="2000" spc="-9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审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75405" y="3782059"/>
            <a:ext cx="3187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(</a:t>
            </a:r>
            <a:r>
              <a:rPr sz="2400" spc="-5" dirty="0">
                <a:latin typeface="Arial Narrow"/>
                <a:cs typeface="Arial Narrow"/>
              </a:rPr>
              <a:t>5</a:t>
            </a:r>
            <a:r>
              <a:rPr sz="2400" dirty="0">
                <a:latin typeface="Arial Narrow"/>
                <a:cs typeface="Arial Narrow"/>
              </a:rPr>
              <a:t>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77867" y="1988820"/>
            <a:ext cx="818515" cy="1027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775"/>
              </a:lnSpc>
            </a:pPr>
            <a:r>
              <a:rPr sz="2000" dirty="0">
                <a:latin typeface="宋体"/>
                <a:cs typeface="宋体"/>
              </a:rPr>
              <a:t>总</a:t>
            </a:r>
            <a:r>
              <a:rPr sz="2000" spc="-6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体</a:t>
            </a:r>
            <a:endParaRPr sz="2000">
              <a:latin typeface="宋体"/>
              <a:cs typeface="宋体"/>
            </a:endParaRPr>
          </a:p>
          <a:p>
            <a:pPr marL="92075">
              <a:lnSpc>
                <a:spcPts val="1610"/>
              </a:lnSpc>
            </a:pPr>
            <a:r>
              <a:rPr sz="2000" dirty="0">
                <a:latin typeface="宋体"/>
                <a:cs typeface="宋体"/>
              </a:rPr>
              <a:t>设计</a:t>
            </a:r>
            <a:endParaRPr sz="2000">
              <a:latin typeface="宋体"/>
              <a:cs typeface="宋体"/>
            </a:endParaRPr>
          </a:p>
          <a:p>
            <a:pPr marL="92075">
              <a:lnSpc>
                <a:spcPts val="2475"/>
              </a:lnSpc>
            </a:pPr>
            <a:r>
              <a:rPr sz="2400" spc="-5" dirty="0">
                <a:latin typeface="Arial Narrow"/>
                <a:cs typeface="Arial Narrow"/>
              </a:rPr>
              <a:t>(6)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90059" y="4463796"/>
            <a:ext cx="817244" cy="1027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1775"/>
              </a:lnSpc>
            </a:pPr>
            <a:r>
              <a:rPr sz="2000" dirty="0">
                <a:latin typeface="宋体"/>
                <a:cs typeface="宋体"/>
              </a:rPr>
              <a:t>详</a:t>
            </a:r>
            <a:r>
              <a:rPr sz="2000" spc="-75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细</a:t>
            </a:r>
            <a:endParaRPr sz="2000">
              <a:latin typeface="宋体"/>
              <a:cs typeface="宋体"/>
            </a:endParaRPr>
          </a:p>
          <a:p>
            <a:pPr marL="90805">
              <a:lnSpc>
                <a:spcPts val="1610"/>
              </a:lnSpc>
            </a:pPr>
            <a:r>
              <a:rPr sz="2000" dirty="0">
                <a:latin typeface="宋体"/>
                <a:cs typeface="宋体"/>
              </a:rPr>
              <a:t>设计</a:t>
            </a:r>
            <a:endParaRPr sz="2000">
              <a:latin typeface="宋体"/>
              <a:cs typeface="宋体"/>
            </a:endParaRPr>
          </a:p>
          <a:p>
            <a:pPr marL="90805">
              <a:lnSpc>
                <a:spcPts val="2475"/>
              </a:lnSpc>
            </a:pPr>
            <a:r>
              <a:rPr sz="2400" spc="-5" dirty="0">
                <a:latin typeface="Arial Narrow"/>
                <a:cs typeface="Arial Narrow"/>
              </a:rPr>
              <a:t>(7)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10628" y="3182111"/>
            <a:ext cx="818515" cy="1027430"/>
          </a:xfrm>
          <a:custGeom>
            <a:avLst/>
            <a:gdLst/>
            <a:ahLst/>
            <a:cxnLst/>
            <a:rect l="l" t="t" r="r" b="b"/>
            <a:pathLst>
              <a:path w="818515" h="1027429">
                <a:moveTo>
                  <a:pt x="0" y="1027176"/>
                </a:moveTo>
                <a:lnTo>
                  <a:pt x="818387" y="1027176"/>
                </a:lnTo>
                <a:lnTo>
                  <a:pt x="818387" y="0"/>
                </a:lnTo>
                <a:lnTo>
                  <a:pt x="0" y="0"/>
                </a:lnTo>
                <a:lnTo>
                  <a:pt x="0" y="1027176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03592" y="3138043"/>
            <a:ext cx="648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系</a:t>
            </a:r>
            <a:r>
              <a:rPr sz="2000" spc="-9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统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03592" y="3357498"/>
            <a:ext cx="6489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宋体"/>
                <a:cs typeface="宋体"/>
              </a:rPr>
              <a:t>测</a:t>
            </a:r>
            <a:r>
              <a:rPr sz="2000" spc="-9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试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03592" y="3547694"/>
            <a:ext cx="45783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(</a:t>
            </a:r>
            <a:r>
              <a:rPr sz="2400" spc="-5" dirty="0">
                <a:latin typeface="Arial Narrow"/>
                <a:cs typeface="Arial Narrow"/>
              </a:rPr>
              <a:t>10</a:t>
            </a:r>
            <a:r>
              <a:rPr sz="2400" dirty="0">
                <a:latin typeface="Arial Narrow"/>
                <a:cs typeface="Arial Narrow"/>
              </a:rPr>
              <a:t>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98691" y="3179064"/>
            <a:ext cx="818515" cy="1027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2075">
              <a:lnSpc>
                <a:spcPts val="1775"/>
              </a:lnSpc>
            </a:pPr>
            <a:r>
              <a:rPr sz="2000" dirty="0">
                <a:latin typeface="宋体"/>
                <a:cs typeface="宋体"/>
              </a:rPr>
              <a:t>集</a:t>
            </a:r>
            <a:r>
              <a:rPr sz="2000" spc="-60" dirty="0">
                <a:latin typeface="宋体"/>
                <a:cs typeface="宋体"/>
              </a:rPr>
              <a:t> </a:t>
            </a:r>
            <a:r>
              <a:rPr sz="2000" dirty="0">
                <a:latin typeface="宋体"/>
                <a:cs typeface="宋体"/>
              </a:rPr>
              <a:t>成</a:t>
            </a:r>
            <a:endParaRPr sz="2000">
              <a:latin typeface="宋体"/>
              <a:cs typeface="宋体"/>
            </a:endParaRPr>
          </a:p>
          <a:p>
            <a:pPr marL="92075">
              <a:lnSpc>
                <a:spcPts val="1610"/>
              </a:lnSpc>
            </a:pPr>
            <a:r>
              <a:rPr sz="2000" dirty="0">
                <a:latin typeface="宋体"/>
                <a:cs typeface="宋体"/>
              </a:rPr>
              <a:t>测试</a:t>
            </a:r>
            <a:endParaRPr sz="2000">
              <a:latin typeface="宋体"/>
              <a:cs typeface="宋体"/>
            </a:endParaRPr>
          </a:p>
          <a:p>
            <a:pPr marL="92075">
              <a:lnSpc>
                <a:spcPts val="2475"/>
              </a:lnSpc>
            </a:pPr>
            <a:r>
              <a:rPr sz="2400" spc="-5" dirty="0">
                <a:latin typeface="Arial Narrow"/>
                <a:cs typeface="Arial Narrow"/>
              </a:rPr>
              <a:t>(9)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71515" y="3185160"/>
            <a:ext cx="818515" cy="102616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2055"/>
              </a:lnSpc>
            </a:pPr>
            <a:r>
              <a:rPr sz="2400" spc="200" dirty="0">
                <a:latin typeface="宋体"/>
                <a:cs typeface="宋体"/>
              </a:rPr>
              <a:t>编码</a:t>
            </a:r>
            <a:endParaRPr sz="2400">
              <a:latin typeface="宋体"/>
              <a:cs typeface="宋体"/>
            </a:endParaRPr>
          </a:p>
          <a:p>
            <a:pPr marL="91440">
              <a:lnSpc>
                <a:spcPts val="2420"/>
              </a:lnSpc>
            </a:pPr>
            <a:r>
              <a:rPr sz="2400" spc="-5" dirty="0">
                <a:latin typeface="Arial Narrow"/>
                <a:cs typeface="Arial Narrow"/>
              </a:rPr>
              <a:t>(8)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22564" y="3179064"/>
            <a:ext cx="498475" cy="102743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92075" marR="114300" algn="just">
              <a:lnSpc>
                <a:spcPct val="97600"/>
              </a:lnSpc>
              <a:spcBef>
                <a:spcPts val="475"/>
              </a:spcBef>
            </a:pPr>
            <a:r>
              <a:rPr sz="1800" dirty="0">
                <a:latin typeface="宋体"/>
                <a:cs typeface="宋体"/>
              </a:rPr>
              <a:t>结 束 </a:t>
            </a:r>
            <a:r>
              <a:rPr sz="1600" spc="-10" dirty="0">
                <a:latin typeface="Arial Narrow"/>
                <a:cs typeface="Arial Narrow"/>
              </a:rPr>
              <a:t>(</a:t>
            </a:r>
            <a:r>
              <a:rPr sz="1600" spc="-100" dirty="0">
                <a:latin typeface="Arial Narrow"/>
                <a:cs typeface="Arial Narrow"/>
              </a:rPr>
              <a:t>1</a:t>
            </a:r>
            <a:r>
              <a:rPr sz="1600" spc="-5" dirty="0">
                <a:latin typeface="Arial Narrow"/>
                <a:cs typeface="Arial Narrow"/>
              </a:rPr>
              <a:t>1)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85266" y="2580132"/>
            <a:ext cx="241935" cy="1235075"/>
          </a:xfrm>
          <a:custGeom>
            <a:avLst/>
            <a:gdLst/>
            <a:ahLst/>
            <a:cxnLst/>
            <a:rect l="l" t="t" r="r" b="b"/>
            <a:pathLst>
              <a:path w="241934" h="1235075">
                <a:moveTo>
                  <a:pt x="106349" y="1205864"/>
                </a:moveTo>
                <a:lnTo>
                  <a:pt x="0" y="1205864"/>
                </a:lnTo>
                <a:lnTo>
                  <a:pt x="0" y="1234820"/>
                </a:lnTo>
                <a:lnTo>
                  <a:pt x="135305" y="1234820"/>
                </a:lnTo>
                <a:lnTo>
                  <a:pt x="135305" y="1220342"/>
                </a:lnTo>
                <a:lnTo>
                  <a:pt x="106349" y="1220342"/>
                </a:lnTo>
                <a:lnTo>
                  <a:pt x="106349" y="1205864"/>
                </a:lnTo>
                <a:close/>
              </a:path>
              <a:path w="241934" h="1235075">
                <a:moveTo>
                  <a:pt x="154800" y="28955"/>
                </a:moveTo>
                <a:lnTo>
                  <a:pt x="106349" y="28955"/>
                </a:lnTo>
                <a:lnTo>
                  <a:pt x="106349" y="1220342"/>
                </a:lnTo>
                <a:lnTo>
                  <a:pt x="120827" y="1205864"/>
                </a:lnTo>
                <a:lnTo>
                  <a:pt x="135305" y="1205864"/>
                </a:lnTo>
                <a:lnTo>
                  <a:pt x="135305" y="57912"/>
                </a:lnTo>
                <a:lnTo>
                  <a:pt x="120827" y="57912"/>
                </a:lnTo>
                <a:lnTo>
                  <a:pt x="135305" y="43433"/>
                </a:lnTo>
                <a:lnTo>
                  <a:pt x="154800" y="43433"/>
                </a:lnTo>
                <a:lnTo>
                  <a:pt x="154800" y="28955"/>
                </a:lnTo>
                <a:close/>
              </a:path>
              <a:path w="241934" h="1235075">
                <a:moveTo>
                  <a:pt x="135305" y="1205864"/>
                </a:moveTo>
                <a:lnTo>
                  <a:pt x="120827" y="1205864"/>
                </a:lnTo>
                <a:lnTo>
                  <a:pt x="106349" y="1220342"/>
                </a:lnTo>
                <a:lnTo>
                  <a:pt x="135305" y="1220342"/>
                </a:lnTo>
                <a:lnTo>
                  <a:pt x="135305" y="1205864"/>
                </a:lnTo>
                <a:close/>
              </a:path>
              <a:path w="241934" h="1235075">
                <a:moveTo>
                  <a:pt x="154800" y="0"/>
                </a:moveTo>
                <a:lnTo>
                  <a:pt x="154800" y="86867"/>
                </a:lnTo>
                <a:lnTo>
                  <a:pt x="212712" y="57912"/>
                </a:lnTo>
                <a:lnTo>
                  <a:pt x="169278" y="57912"/>
                </a:lnTo>
                <a:lnTo>
                  <a:pt x="169278" y="28955"/>
                </a:lnTo>
                <a:lnTo>
                  <a:pt x="212712" y="28955"/>
                </a:lnTo>
                <a:lnTo>
                  <a:pt x="154800" y="0"/>
                </a:lnTo>
                <a:close/>
              </a:path>
              <a:path w="241934" h="1235075">
                <a:moveTo>
                  <a:pt x="135305" y="43433"/>
                </a:moveTo>
                <a:lnTo>
                  <a:pt x="120827" y="57912"/>
                </a:lnTo>
                <a:lnTo>
                  <a:pt x="135305" y="57912"/>
                </a:lnTo>
                <a:lnTo>
                  <a:pt x="135305" y="43433"/>
                </a:lnTo>
                <a:close/>
              </a:path>
              <a:path w="241934" h="1235075">
                <a:moveTo>
                  <a:pt x="154800" y="43433"/>
                </a:moveTo>
                <a:lnTo>
                  <a:pt x="135305" y="43433"/>
                </a:lnTo>
                <a:lnTo>
                  <a:pt x="135305" y="57912"/>
                </a:lnTo>
                <a:lnTo>
                  <a:pt x="154800" y="57912"/>
                </a:lnTo>
                <a:lnTo>
                  <a:pt x="154800" y="43433"/>
                </a:lnTo>
                <a:close/>
              </a:path>
              <a:path w="241934" h="1235075">
                <a:moveTo>
                  <a:pt x="212712" y="28955"/>
                </a:moveTo>
                <a:lnTo>
                  <a:pt x="169278" y="28955"/>
                </a:lnTo>
                <a:lnTo>
                  <a:pt x="169278" y="57912"/>
                </a:lnTo>
                <a:lnTo>
                  <a:pt x="212712" y="57912"/>
                </a:lnTo>
                <a:lnTo>
                  <a:pt x="241668" y="43433"/>
                </a:lnTo>
                <a:lnTo>
                  <a:pt x="212712" y="289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044445" y="2609088"/>
            <a:ext cx="1239520" cy="1146175"/>
          </a:xfrm>
          <a:custGeom>
            <a:avLst/>
            <a:gdLst/>
            <a:ahLst/>
            <a:cxnLst/>
            <a:rect l="l" t="t" r="r" b="b"/>
            <a:pathLst>
              <a:path w="1239520" h="1146175">
                <a:moveTo>
                  <a:pt x="1152652" y="1058926"/>
                </a:moveTo>
                <a:lnTo>
                  <a:pt x="1152652" y="1145794"/>
                </a:lnTo>
                <a:lnTo>
                  <a:pt x="1210564" y="1116838"/>
                </a:lnTo>
                <a:lnTo>
                  <a:pt x="1167130" y="1116838"/>
                </a:lnTo>
                <a:lnTo>
                  <a:pt x="1167130" y="1087882"/>
                </a:lnTo>
                <a:lnTo>
                  <a:pt x="1210563" y="1087882"/>
                </a:lnTo>
                <a:lnTo>
                  <a:pt x="1152652" y="1058926"/>
                </a:lnTo>
                <a:close/>
              </a:path>
              <a:path w="1239520" h="1146175">
                <a:moveTo>
                  <a:pt x="605282" y="14477"/>
                </a:moveTo>
                <a:lnTo>
                  <a:pt x="605282" y="1116838"/>
                </a:lnTo>
                <a:lnTo>
                  <a:pt x="1152652" y="1116838"/>
                </a:lnTo>
                <a:lnTo>
                  <a:pt x="1152652" y="1102360"/>
                </a:lnTo>
                <a:lnTo>
                  <a:pt x="634238" y="1102360"/>
                </a:lnTo>
                <a:lnTo>
                  <a:pt x="619760" y="1087882"/>
                </a:lnTo>
                <a:lnTo>
                  <a:pt x="634238" y="1087882"/>
                </a:lnTo>
                <a:lnTo>
                  <a:pt x="634238" y="28956"/>
                </a:lnTo>
                <a:lnTo>
                  <a:pt x="619760" y="28956"/>
                </a:lnTo>
                <a:lnTo>
                  <a:pt x="605282" y="14477"/>
                </a:lnTo>
                <a:close/>
              </a:path>
              <a:path w="1239520" h="1146175">
                <a:moveTo>
                  <a:pt x="1210563" y="1087882"/>
                </a:moveTo>
                <a:lnTo>
                  <a:pt x="1167130" y="1087882"/>
                </a:lnTo>
                <a:lnTo>
                  <a:pt x="1167130" y="1116838"/>
                </a:lnTo>
                <a:lnTo>
                  <a:pt x="1210564" y="1116838"/>
                </a:lnTo>
                <a:lnTo>
                  <a:pt x="1239520" y="1102360"/>
                </a:lnTo>
                <a:lnTo>
                  <a:pt x="1210563" y="1087882"/>
                </a:lnTo>
                <a:close/>
              </a:path>
              <a:path w="1239520" h="1146175">
                <a:moveTo>
                  <a:pt x="634238" y="1087882"/>
                </a:moveTo>
                <a:lnTo>
                  <a:pt x="619760" y="1087882"/>
                </a:lnTo>
                <a:lnTo>
                  <a:pt x="634238" y="1102360"/>
                </a:lnTo>
                <a:lnTo>
                  <a:pt x="634238" y="1087882"/>
                </a:lnTo>
                <a:close/>
              </a:path>
              <a:path w="1239520" h="1146175">
                <a:moveTo>
                  <a:pt x="1152652" y="1087882"/>
                </a:moveTo>
                <a:lnTo>
                  <a:pt x="634238" y="1087882"/>
                </a:lnTo>
                <a:lnTo>
                  <a:pt x="634238" y="1102360"/>
                </a:lnTo>
                <a:lnTo>
                  <a:pt x="1152652" y="1102360"/>
                </a:lnTo>
                <a:lnTo>
                  <a:pt x="1152652" y="1087882"/>
                </a:lnTo>
                <a:close/>
              </a:path>
              <a:path w="1239520" h="1146175">
                <a:moveTo>
                  <a:pt x="634238" y="0"/>
                </a:moveTo>
                <a:lnTo>
                  <a:pt x="0" y="0"/>
                </a:lnTo>
                <a:lnTo>
                  <a:pt x="0" y="28956"/>
                </a:lnTo>
                <a:lnTo>
                  <a:pt x="605282" y="28956"/>
                </a:lnTo>
                <a:lnTo>
                  <a:pt x="605282" y="14477"/>
                </a:lnTo>
                <a:lnTo>
                  <a:pt x="634238" y="14477"/>
                </a:lnTo>
                <a:lnTo>
                  <a:pt x="634238" y="0"/>
                </a:lnTo>
                <a:close/>
              </a:path>
              <a:path w="1239520" h="1146175">
                <a:moveTo>
                  <a:pt x="634238" y="14477"/>
                </a:moveTo>
                <a:lnTo>
                  <a:pt x="605282" y="14477"/>
                </a:lnTo>
                <a:lnTo>
                  <a:pt x="619760" y="28956"/>
                </a:lnTo>
                <a:lnTo>
                  <a:pt x="634238" y="28956"/>
                </a:lnTo>
                <a:lnTo>
                  <a:pt x="634238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84503" y="3792982"/>
            <a:ext cx="230504" cy="1177290"/>
          </a:xfrm>
          <a:custGeom>
            <a:avLst/>
            <a:gdLst/>
            <a:ahLst/>
            <a:cxnLst/>
            <a:rect l="l" t="t" r="r" b="b"/>
            <a:pathLst>
              <a:path w="230505" h="1177289">
                <a:moveTo>
                  <a:pt x="153949" y="1100709"/>
                </a:moveTo>
                <a:lnTo>
                  <a:pt x="153949" y="1176909"/>
                </a:lnTo>
                <a:lnTo>
                  <a:pt x="217449" y="1145159"/>
                </a:lnTo>
                <a:lnTo>
                  <a:pt x="166649" y="1145159"/>
                </a:lnTo>
                <a:lnTo>
                  <a:pt x="166649" y="1132459"/>
                </a:lnTo>
                <a:lnTo>
                  <a:pt x="217449" y="1132459"/>
                </a:lnTo>
                <a:lnTo>
                  <a:pt x="153949" y="1100709"/>
                </a:lnTo>
                <a:close/>
              </a:path>
              <a:path w="230505" h="1177289">
                <a:moveTo>
                  <a:pt x="108191" y="6350"/>
                </a:moveTo>
                <a:lnTo>
                  <a:pt x="108191" y="1145159"/>
                </a:lnTo>
                <a:lnTo>
                  <a:pt x="153949" y="1145159"/>
                </a:lnTo>
                <a:lnTo>
                  <a:pt x="153949" y="1138809"/>
                </a:lnTo>
                <a:lnTo>
                  <a:pt x="120891" y="1138809"/>
                </a:lnTo>
                <a:lnTo>
                  <a:pt x="114541" y="1132459"/>
                </a:lnTo>
                <a:lnTo>
                  <a:pt x="120891" y="1132459"/>
                </a:lnTo>
                <a:lnTo>
                  <a:pt x="120891" y="12700"/>
                </a:lnTo>
                <a:lnTo>
                  <a:pt x="114541" y="12700"/>
                </a:lnTo>
                <a:lnTo>
                  <a:pt x="108191" y="6350"/>
                </a:lnTo>
                <a:close/>
              </a:path>
              <a:path w="230505" h="1177289">
                <a:moveTo>
                  <a:pt x="217449" y="1132459"/>
                </a:moveTo>
                <a:lnTo>
                  <a:pt x="166649" y="1132459"/>
                </a:lnTo>
                <a:lnTo>
                  <a:pt x="166649" y="1145159"/>
                </a:lnTo>
                <a:lnTo>
                  <a:pt x="217449" y="1145159"/>
                </a:lnTo>
                <a:lnTo>
                  <a:pt x="230149" y="1138809"/>
                </a:lnTo>
                <a:lnTo>
                  <a:pt x="217449" y="1132459"/>
                </a:lnTo>
                <a:close/>
              </a:path>
              <a:path w="230505" h="1177289">
                <a:moveTo>
                  <a:pt x="120891" y="1132459"/>
                </a:moveTo>
                <a:lnTo>
                  <a:pt x="114541" y="1132459"/>
                </a:lnTo>
                <a:lnTo>
                  <a:pt x="120891" y="1138809"/>
                </a:lnTo>
                <a:lnTo>
                  <a:pt x="120891" y="1132459"/>
                </a:lnTo>
                <a:close/>
              </a:path>
              <a:path w="230505" h="1177289">
                <a:moveTo>
                  <a:pt x="153949" y="1132459"/>
                </a:moveTo>
                <a:lnTo>
                  <a:pt x="120891" y="1132459"/>
                </a:lnTo>
                <a:lnTo>
                  <a:pt x="120891" y="1138809"/>
                </a:lnTo>
                <a:lnTo>
                  <a:pt x="153949" y="1138809"/>
                </a:lnTo>
                <a:lnTo>
                  <a:pt x="153949" y="1132459"/>
                </a:lnTo>
                <a:close/>
              </a:path>
              <a:path w="230505" h="1177289">
                <a:moveTo>
                  <a:pt x="120891" y="0"/>
                </a:moveTo>
                <a:lnTo>
                  <a:pt x="0" y="0"/>
                </a:lnTo>
                <a:lnTo>
                  <a:pt x="0" y="12700"/>
                </a:lnTo>
                <a:lnTo>
                  <a:pt x="108191" y="12700"/>
                </a:lnTo>
                <a:lnTo>
                  <a:pt x="108191" y="6350"/>
                </a:lnTo>
                <a:lnTo>
                  <a:pt x="120891" y="6350"/>
                </a:lnTo>
                <a:lnTo>
                  <a:pt x="120891" y="0"/>
                </a:lnTo>
                <a:close/>
              </a:path>
              <a:path w="230505" h="1177289">
                <a:moveTo>
                  <a:pt x="120891" y="6350"/>
                </a:moveTo>
                <a:lnTo>
                  <a:pt x="108191" y="6350"/>
                </a:lnTo>
                <a:lnTo>
                  <a:pt x="114541" y="12700"/>
                </a:lnTo>
                <a:lnTo>
                  <a:pt x="120891" y="12700"/>
                </a:lnTo>
                <a:lnTo>
                  <a:pt x="120891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034413" y="4895722"/>
            <a:ext cx="236855" cy="76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87623" y="3672840"/>
            <a:ext cx="195580" cy="1269365"/>
          </a:xfrm>
          <a:custGeom>
            <a:avLst/>
            <a:gdLst/>
            <a:ahLst/>
            <a:cxnLst/>
            <a:rect l="l" t="t" r="r" b="b"/>
            <a:pathLst>
              <a:path w="195579" h="1269364">
                <a:moveTo>
                  <a:pt x="90931" y="1256284"/>
                </a:moveTo>
                <a:lnTo>
                  <a:pt x="0" y="1256284"/>
                </a:lnTo>
                <a:lnTo>
                  <a:pt x="0" y="1268984"/>
                </a:lnTo>
                <a:lnTo>
                  <a:pt x="103631" y="1268984"/>
                </a:lnTo>
                <a:lnTo>
                  <a:pt x="103631" y="1262634"/>
                </a:lnTo>
                <a:lnTo>
                  <a:pt x="90931" y="1262634"/>
                </a:lnTo>
                <a:lnTo>
                  <a:pt x="90931" y="1256284"/>
                </a:lnTo>
                <a:close/>
              </a:path>
              <a:path w="195579" h="1269364">
                <a:moveTo>
                  <a:pt x="119380" y="31750"/>
                </a:moveTo>
                <a:lnTo>
                  <a:pt x="90931" y="31750"/>
                </a:lnTo>
                <a:lnTo>
                  <a:pt x="90931" y="1262634"/>
                </a:lnTo>
                <a:lnTo>
                  <a:pt x="97281" y="1256284"/>
                </a:lnTo>
                <a:lnTo>
                  <a:pt x="103631" y="1256284"/>
                </a:lnTo>
                <a:lnTo>
                  <a:pt x="103631" y="44450"/>
                </a:lnTo>
                <a:lnTo>
                  <a:pt x="97281" y="44450"/>
                </a:lnTo>
                <a:lnTo>
                  <a:pt x="103631" y="38100"/>
                </a:lnTo>
                <a:lnTo>
                  <a:pt x="119380" y="38100"/>
                </a:lnTo>
                <a:lnTo>
                  <a:pt x="119380" y="31750"/>
                </a:lnTo>
                <a:close/>
              </a:path>
              <a:path w="195579" h="1269364">
                <a:moveTo>
                  <a:pt x="103631" y="1256284"/>
                </a:moveTo>
                <a:lnTo>
                  <a:pt x="97281" y="1256284"/>
                </a:lnTo>
                <a:lnTo>
                  <a:pt x="90931" y="1262634"/>
                </a:lnTo>
                <a:lnTo>
                  <a:pt x="103631" y="1262634"/>
                </a:lnTo>
                <a:lnTo>
                  <a:pt x="103631" y="1256284"/>
                </a:lnTo>
                <a:close/>
              </a:path>
              <a:path w="195579" h="1269364">
                <a:moveTo>
                  <a:pt x="119380" y="0"/>
                </a:moveTo>
                <a:lnTo>
                  <a:pt x="119380" y="76200"/>
                </a:lnTo>
                <a:lnTo>
                  <a:pt x="182879" y="44450"/>
                </a:lnTo>
                <a:lnTo>
                  <a:pt x="132080" y="44450"/>
                </a:lnTo>
                <a:lnTo>
                  <a:pt x="132080" y="31750"/>
                </a:lnTo>
                <a:lnTo>
                  <a:pt x="182879" y="31750"/>
                </a:lnTo>
                <a:lnTo>
                  <a:pt x="119380" y="0"/>
                </a:lnTo>
                <a:close/>
              </a:path>
              <a:path w="195579" h="1269364">
                <a:moveTo>
                  <a:pt x="103631" y="38100"/>
                </a:moveTo>
                <a:lnTo>
                  <a:pt x="97281" y="44450"/>
                </a:lnTo>
                <a:lnTo>
                  <a:pt x="103631" y="44450"/>
                </a:lnTo>
                <a:lnTo>
                  <a:pt x="103631" y="38100"/>
                </a:lnTo>
                <a:close/>
              </a:path>
              <a:path w="195579" h="1269364">
                <a:moveTo>
                  <a:pt x="119380" y="38100"/>
                </a:moveTo>
                <a:lnTo>
                  <a:pt x="103631" y="38100"/>
                </a:lnTo>
                <a:lnTo>
                  <a:pt x="103631" y="44450"/>
                </a:lnTo>
                <a:lnTo>
                  <a:pt x="119380" y="44450"/>
                </a:lnTo>
                <a:lnTo>
                  <a:pt x="119380" y="38100"/>
                </a:lnTo>
                <a:close/>
              </a:path>
              <a:path w="195579" h="1269364">
                <a:moveTo>
                  <a:pt x="182879" y="31750"/>
                </a:moveTo>
                <a:lnTo>
                  <a:pt x="132080" y="31750"/>
                </a:lnTo>
                <a:lnTo>
                  <a:pt x="132080" y="44450"/>
                </a:lnTo>
                <a:lnTo>
                  <a:pt x="182879" y="44450"/>
                </a:lnTo>
                <a:lnTo>
                  <a:pt x="195579" y="38100"/>
                </a:lnTo>
                <a:lnTo>
                  <a:pt x="18287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102608" y="2465832"/>
            <a:ext cx="175895" cy="1251585"/>
          </a:xfrm>
          <a:custGeom>
            <a:avLst/>
            <a:gdLst/>
            <a:ahLst/>
            <a:cxnLst/>
            <a:rect l="l" t="t" r="r" b="b"/>
            <a:pathLst>
              <a:path w="175895" h="1251585">
                <a:moveTo>
                  <a:pt x="81025" y="1238757"/>
                </a:moveTo>
                <a:lnTo>
                  <a:pt x="0" y="1238757"/>
                </a:lnTo>
                <a:lnTo>
                  <a:pt x="0" y="1251457"/>
                </a:lnTo>
                <a:lnTo>
                  <a:pt x="93725" y="1251457"/>
                </a:lnTo>
                <a:lnTo>
                  <a:pt x="93725" y="1245107"/>
                </a:lnTo>
                <a:lnTo>
                  <a:pt x="81025" y="1245107"/>
                </a:lnTo>
                <a:lnTo>
                  <a:pt x="81025" y="1238757"/>
                </a:lnTo>
                <a:close/>
              </a:path>
              <a:path w="175895" h="1251585">
                <a:moveTo>
                  <a:pt x="99694" y="31750"/>
                </a:moveTo>
                <a:lnTo>
                  <a:pt x="81025" y="31750"/>
                </a:lnTo>
                <a:lnTo>
                  <a:pt x="81025" y="1245107"/>
                </a:lnTo>
                <a:lnTo>
                  <a:pt x="87375" y="1238757"/>
                </a:lnTo>
                <a:lnTo>
                  <a:pt x="93725" y="1238757"/>
                </a:lnTo>
                <a:lnTo>
                  <a:pt x="93725" y="44450"/>
                </a:lnTo>
                <a:lnTo>
                  <a:pt x="87375" y="44450"/>
                </a:lnTo>
                <a:lnTo>
                  <a:pt x="93725" y="38100"/>
                </a:lnTo>
                <a:lnTo>
                  <a:pt x="99694" y="38100"/>
                </a:lnTo>
                <a:lnTo>
                  <a:pt x="99694" y="31750"/>
                </a:lnTo>
                <a:close/>
              </a:path>
              <a:path w="175895" h="1251585">
                <a:moveTo>
                  <a:pt x="93725" y="1238757"/>
                </a:moveTo>
                <a:lnTo>
                  <a:pt x="87375" y="1238757"/>
                </a:lnTo>
                <a:lnTo>
                  <a:pt x="81025" y="1245107"/>
                </a:lnTo>
                <a:lnTo>
                  <a:pt x="93725" y="1245107"/>
                </a:lnTo>
                <a:lnTo>
                  <a:pt x="93725" y="1238757"/>
                </a:lnTo>
                <a:close/>
              </a:path>
              <a:path w="175895" h="1251585">
                <a:moveTo>
                  <a:pt x="99694" y="0"/>
                </a:moveTo>
                <a:lnTo>
                  <a:pt x="99694" y="76200"/>
                </a:lnTo>
                <a:lnTo>
                  <a:pt x="163194" y="44450"/>
                </a:lnTo>
                <a:lnTo>
                  <a:pt x="112394" y="44450"/>
                </a:lnTo>
                <a:lnTo>
                  <a:pt x="112394" y="31750"/>
                </a:lnTo>
                <a:lnTo>
                  <a:pt x="163194" y="31750"/>
                </a:lnTo>
                <a:lnTo>
                  <a:pt x="99694" y="0"/>
                </a:lnTo>
                <a:close/>
              </a:path>
              <a:path w="175895" h="1251585">
                <a:moveTo>
                  <a:pt x="93725" y="38100"/>
                </a:moveTo>
                <a:lnTo>
                  <a:pt x="87375" y="44450"/>
                </a:lnTo>
                <a:lnTo>
                  <a:pt x="93725" y="44450"/>
                </a:lnTo>
                <a:lnTo>
                  <a:pt x="93725" y="38100"/>
                </a:lnTo>
                <a:close/>
              </a:path>
              <a:path w="175895" h="1251585">
                <a:moveTo>
                  <a:pt x="99694" y="38100"/>
                </a:moveTo>
                <a:lnTo>
                  <a:pt x="93725" y="38100"/>
                </a:lnTo>
                <a:lnTo>
                  <a:pt x="93725" y="44450"/>
                </a:lnTo>
                <a:lnTo>
                  <a:pt x="99694" y="44450"/>
                </a:lnTo>
                <a:lnTo>
                  <a:pt x="99694" y="38100"/>
                </a:lnTo>
                <a:close/>
              </a:path>
              <a:path w="175895" h="1251585">
                <a:moveTo>
                  <a:pt x="163194" y="31750"/>
                </a:moveTo>
                <a:lnTo>
                  <a:pt x="112394" y="31750"/>
                </a:lnTo>
                <a:lnTo>
                  <a:pt x="112394" y="44450"/>
                </a:lnTo>
                <a:lnTo>
                  <a:pt x="163194" y="44450"/>
                </a:lnTo>
                <a:lnTo>
                  <a:pt x="175894" y="38100"/>
                </a:lnTo>
                <a:lnTo>
                  <a:pt x="16319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3370" y="3697223"/>
            <a:ext cx="187960" cy="1325880"/>
          </a:xfrm>
          <a:custGeom>
            <a:avLst/>
            <a:gdLst/>
            <a:ahLst/>
            <a:cxnLst/>
            <a:rect l="l" t="t" r="r" b="b"/>
            <a:pathLst>
              <a:path w="187960" h="1325879">
                <a:moveTo>
                  <a:pt x="100583" y="1274826"/>
                </a:moveTo>
                <a:lnTo>
                  <a:pt x="100583" y="1325371"/>
                </a:lnTo>
                <a:lnTo>
                  <a:pt x="158496" y="1296415"/>
                </a:lnTo>
                <a:lnTo>
                  <a:pt x="115062" y="1296415"/>
                </a:lnTo>
                <a:lnTo>
                  <a:pt x="115062" y="1281938"/>
                </a:lnTo>
                <a:lnTo>
                  <a:pt x="107695" y="1281938"/>
                </a:lnTo>
                <a:lnTo>
                  <a:pt x="100583" y="1274826"/>
                </a:lnTo>
                <a:close/>
              </a:path>
              <a:path w="187960" h="1325879">
                <a:moveTo>
                  <a:pt x="78739" y="14477"/>
                </a:moveTo>
                <a:lnTo>
                  <a:pt x="78739" y="1296415"/>
                </a:lnTo>
                <a:lnTo>
                  <a:pt x="100583" y="1296415"/>
                </a:lnTo>
                <a:lnTo>
                  <a:pt x="100583" y="1274826"/>
                </a:lnTo>
                <a:lnTo>
                  <a:pt x="93217" y="1267460"/>
                </a:lnTo>
                <a:lnTo>
                  <a:pt x="100583" y="1267460"/>
                </a:lnTo>
                <a:lnTo>
                  <a:pt x="100583" y="1238503"/>
                </a:lnTo>
                <a:lnTo>
                  <a:pt x="107695" y="1238503"/>
                </a:lnTo>
                <a:lnTo>
                  <a:pt x="107695" y="28956"/>
                </a:lnTo>
                <a:lnTo>
                  <a:pt x="93217" y="28956"/>
                </a:lnTo>
                <a:lnTo>
                  <a:pt x="78739" y="14477"/>
                </a:lnTo>
                <a:close/>
              </a:path>
              <a:path w="187960" h="1325879">
                <a:moveTo>
                  <a:pt x="158496" y="1267460"/>
                </a:moveTo>
                <a:lnTo>
                  <a:pt x="115062" y="1267460"/>
                </a:lnTo>
                <a:lnTo>
                  <a:pt x="115062" y="1296415"/>
                </a:lnTo>
                <a:lnTo>
                  <a:pt x="158496" y="1296415"/>
                </a:lnTo>
                <a:lnTo>
                  <a:pt x="187451" y="1281938"/>
                </a:lnTo>
                <a:lnTo>
                  <a:pt x="158496" y="1267460"/>
                </a:lnTo>
                <a:close/>
              </a:path>
              <a:path w="187960" h="1325879">
                <a:moveTo>
                  <a:pt x="100583" y="1238503"/>
                </a:moveTo>
                <a:lnTo>
                  <a:pt x="100583" y="1274826"/>
                </a:lnTo>
                <a:lnTo>
                  <a:pt x="107695" y="1281938"/>
                </a:lnTo>
                <a:lnTo>
                  <a:pt x="107695" y="1242059"/>
                </a:lnTo>
                <a:lnTo>
                  <a:pt x="100583" y="1238503"/>
                </a:lnTo>
                <a:close/>
              </a:path>
              <a:path w="187960" h="1325879">
                <a:moveTo>
                  <a:pt x="107695" y="1242059"/>
                </a:moveTo>
                <a:lnTo>
                  <a:pt x="107695" y="1281938"/>
                </a:lnTo>
                <a:lnTo>
                  <a:pt x="115062" y="1281938"/>
                </a:lnTo>
                <a:lnTo>
                  <a:pt x="115062" y="1267460"/>
                </a:lnTo>
                <a:lnTo>
                  <a:pt x="158496" y="1267460"/>
                </a:lnTo>
                <a:lnTo>
                  <a:pt x="107695" y="1242059"/>
                </a:lnTo>
                <a:close/>
              </a:path>
              <a:path w="187960" h="1325879">
                <a:moveTo>
                  <a:pt x="100583" y="1267460"/>
                </a:moveTo>
                <a:lnTo>
                  <a:pt x="93217" y="1267460"/>
                </a:lnTo>
                <a:lnTo>
                  <a:pt x="100583" y="1274826"/>
                </a:lnTo>
                <a:lnTo>
                  <a:pt x="100583" y="1267460"/>
                </a:lnTo>
                <a:close/>
              </a:path>
              <a:path w="187960" h="1325879">
                <a:moveTo>
                  <a:pt x="107695" y="1238503"/>
                </a:moveTo>
                <a:lnTo>
                  <a:pt x="100583" y="1238503"/>
                </a:lnTo>
                <a:lnTo>
                  <a:pt x="107695" y="1242059"/>
                </a:lnTo>
                <a:lnTo>
                  <a:pt x="107695" y="1238503"/>
                </a:lnTo>
                <a:close/>
              </a:path>
              <a:path w="187960" h="1325879">
                <a:moveTo>
                  <a:pt x="107695" y="0"/>
                </a:moveTo>
                <a:lnTo>
                  <a:pt x="0" y="0"/>
                </a:lnTo>
                <a:lnTo>
                  <a:pt x="0" y="28956"/>
                </a:lnTo>
                <a:lnTo>
                  <a:pt x="78739" y="28956"/>
                </a:lnTo>
                <a:lnTo>
                  <a:pt x="78739" y="14477"/>
                </a:lnTo>
                <a:lnTo>
                  <a:pt x="107695" y="14477"/>
                </a:lnTo>
                <a:lnTo>
                  <a:pt x="107695" y="0"/>
                </a:lnTo>
                <a:close/>
              </a:path>
              <a:path w="187960" h="1325879">
                <a:moveTo>
                  <a:pt x="107695" y="14477"/>
                </a:moveTo>
                <a:lnTo>
                  <a:pt x="78739" y="14477"/>
                </a:lnTo>
                <a:lnTo>
                  <a:pt x="93217" y="28956"/>
                </a:lnTo>
                <a:lnTo>
                  <a:pt x="107695" y="28956"/>
                </a:lnTo>
                <a:lnTo>
                  <a:pt x="107695" y="144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96255" y="2497582"/>
            <a:ext cx="174625" cy="1238885"/>
          </a:xfrm>
          <a:custGeom>
            <a:avLst/>
            <a:gdLst/>
            <a:ahLst/>
            <a:cxnLst/>
            <a:rect l="l" t="t" r="r" b="b"/>
            <a:pathLst>
              <a:path w="174625" h="1238885">
                <a:moveTo>
                  <a:pt x="98044" y="1162557"/>
                </a:moveTo>
                <a:lnTo>
                  <a:pt x="98044" y="1238757"/>
                </a:lnTo>
                <a:lnTo>
                  <a:pt x="161544" y="1207007"/>
                </a:lnTo>
                <a:lnTo>
                  <a:pt x="110744" y="1207007"/>
                </a:lnTo>
                <a:lnTo>
                  <a:pt x="110744" y="1194307"/>
                </a:lnTo>
                <a:lnTo>
                  <a:pt x="161544" y="1194307"/>
                </a:lnTo>
                <a:lnTo>
                  <a:pt x="98044" y="1162557"/>
                </a:lnTo>
                <a:close/>
              </a:path>
              <a:path w="174625" h="1238885">
                <a:moveTo>
                  <a:pt x="80772" y="6350"/>
                </a:moveTo>
                <a:lnTo>
                  <a:pt x="80772" y="1207007"/>
                </a:lnTo>
                <a:lnTo>
                  <a:pt x="98044" y="1207007"/>
                </a:lnTo>
                <a:lnTo>
                  <a:pt x="98044" y="1200657"/>
                </a:lnTo>
                <a:lnTo>
                  <a:pt x="93472" y="1200657"/>
                </a:lnTo>
                <a:lnTo>
                  <a:pt x="87122" y="1194307"/>
                </a:lnTo>
                <a:lnTo>
                  <a:pt x="93472" y="1194307"/>
                </a:lnTo>
                <a:lnTo>
                  <a:pt x="93472" y="12700"/>
                </a:lnTo>
                <a:lnTo>
                  <a:pt x="87122" y="12700"/>
                </a:lnTo>
                <a:lnTo>
                  <a:pt x="80772" y="6350"/>
                </a:lnTo>
                <a:close/>
              </a:path>
              <a:path w="174625" h="1238885">
                <a:moveTo>
                  <a:pt x="161544" y="1194307"/>
                </a:moveTo>
                <a:lnTo>
                  <a:pt x="110744" y="1194307"/>
                </a:lnTo>
                <a:lnTo>
                  <a:pt x="110744" y="1207007"/>
                </a:lnTo>
                <a:lnTo>
                  <a:pt x="161544" y="1207007"/>
                </a:lnTo>
                <a:lnTo>
                  <a:pt x="174244" y="1200657"/>
                </a:lnTo>
                <a:lnTo>
                  <a:pt x="161544" y="1194307"/>
                </a:lnTo>
                <a:close/>
              </a:path>
              <a:path w="174625" h="1238885">
                <a:moveTo>
                  <a:pt x="93472" y="1194307"/>
                </a:moveTo>
                <a:lnTo>
                  <a:pt x="87122" y="1194307"/>
                </a:lnTo>
                <a:lnTo>
                  <a:pt x="93472" y="1200657"/>
                </a:lnTo>
                <a:lnTo>
                  <a:pt x="93472" y="1194307"/>
                </a:lnTo>
                <a:close/>
              </a:path>
              <a:path w="174625" h="1238885">
                <a:moveTo>
                  <a:pt x="98044" y="1194307"/>
                </a:moveTo>
                <a:lnTo>
                  <a:pt x="93472" y="1194307"/>
                </a:lnTo>
                <a:lnTo>
                  <a:pt x="93472" y="1200657"/>
                </a:lnTo>
                <a:lnTo>
                  <a:pt x="98044" y="1200657"/>
                </a:lnTo>
                <a:lnTo>
                  <a:pt x="98044" y="1194307"/>
                </a:lnTo>
                <a:close/>
              </a:path>
              <a:path w="174625" h="1238885">
                <a:moveTo>
                  <a:pt x="93472" y="0"/>
                </a:moveTo>
                <a:lnTo>
                  <a:pt x="0" y="0"/>
                </a:lnTo>
                <a:lnTo>
                  <a:pt x="0" y="12700"/>
                </a:lnTo>
                <a:lnTo>
                  <a:pt x="80772" y="12700"/>
                </a:lnTo>
                <a:lnTo>
                  <a:pt x="80772" y="6350"/>
                </a:lnTo>
                <a:lnTo>
                  <a:pt x="93472" y="6350"/>
                </a:lnTo>
                <a:lnTo>
                  <a:pt x="93472" y="0"/>
                </a:lnTo>
                <a:close/>
              </a:path>
              <a:path w="174625" h="1238885">
                <a:moveTo>
                  <a:pt x="93472" y="6350"/>
                </a:moveTo>
                <a:lnTo>
                  <a:pt x="80772" y="6350"/>
                </a:lnTo>
                <a:lnTo>
                  <a:pt x="87122" y="12700"/>
                </a:lnTo>
                <a:lnTo>
                  <a:pt x="93472" y="12700"/>
                </a:lnTo>
                <a:lnTo>
                  <a:pt x="93472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07685" y="3686555"/>
            <a:ext cx="164465" cy="1308100"/>
          </a:xfrm>
          <a:custGeom>
            <a:avLst/>
            <a:gdLst/>
            <a:ahLst/>
            <a:cxnLst/>
            <a:rect l="l" t="t" r="r" b="b"/>
            <a:pathLst>
              <a:path w="164464" h="1308100">
                <a:moveTo>
                  <a:pt x="67846" y="1278636"/>
                </a:moveTo>
                <a:lnTo>
                  <a:pt x="0" y="1278636"/>
                </a:lnTo>
                <a:lnTo>
                  <a:pt x="0" y="1307592"/>
                </a:lnTo>
                <a:lnTo>
                  <a:pt x="96519" y="1307592"/>
                </a:lnTo>
                <a:lnTo>
                  <a:pt x="96680" y="1292860"/>
                </a:lnTo>
                <a:lnTo>
                  <a:pt x="67690" y="1292860"/>
                </a:lnTo>
                <a:lnTo>
                  <a:pt x="67846" y="1278636"/>
                </a:lnTo>
                <a:close/>
              </a:path>
              <a:path w="164464" h="1308100">
                <a:moveTo>
                  <a:pt x="81380" y="38591"/>
                </a:moveTo>
                <a:lnTo>
                  <a:pt x="67690" y="1292860"/>
                </a:lnTo>
                <a:lnTo>
                  <a:pt x="82168" y="1278636"/>
                </a:lnTo>
                <a:lnTo>
                  <a:pt x="96835" y="1278636"/>
                </a:lnTo>
                <a:lnTo>
                  <a:pt x="109866" y="82169"/>
                </a:lnTo>
                <a:lnTo>
                  <a:pt x="96265" y="82169"/>
                </a:lnTo>
                <a:lnTo>
                  <a:pt x="81380" y="38591"/>
                </a:lnTo>
                <a:close/>
              </a:path>
              <a:path w="164464" h="1308100">
                <a:moveTo>
                  <a:pt x="96835" y="1278636"/>
                </a:moveTo>
                <a:lnTo>
                  <a:pt x="82168" y="1278636"/>
                </a:lnTo>
                <a:lnTo>
                  <a:pt x="67690" y="1292860"/>
                </a:lnTo>
                <a:lnTo>
                  <a:pt x="96680" y="1292860"/>
                </a:lnTo>
                <a:lnTo>
                  <a:pt x="96835" y="1278636"/>
                </a:lnTo>
                <a:close/>
              </a:path>
              <a:path w="164464" h="1308100">
                <a:moveTo>
                  <a:pt x="81406" y="36195"/>
                </a:moveTo>
                <a:lnTo>
                  <a:pt x="81380" y="38591"/>
                </a:lnTo>
                <a:lnTo>
                  <a:pt x="96265" y="82169"/>
                </a:lnTo>
                <a:lnTo>
                  <a:pt x="110018" y="68185"/>
                </a:lnTo>
                <a:lnTo>
                  <a:pt x="110362" y="36576"/>
                </a:lnTo>
                <a:lnTo>
                  <a:pt x="81406" y="36195"/>
                </a:lnTo>
                <a:close/>
              </a:path>
              <a:path w="164464" h="1308100">
                <a:moveTo>
                  <a:pt x="110018" y="68185"/>
                </a:moveTo>
                <a:lnTo>
                  <a:pt x="96265" y="82169"/>
                </a:lnTo>
                <a:lnTo>
                  <a:pt x="109866" y="82169"/>
                </a:lnTo>
                <a:lnTo>
                  <a:pt x="110018" y="68185"/>
                </a:lnTo>
                <a:close/>
              </a:path>
              <a:path w="164464" h="1308100">
                <a:moveTo>
                  <a:pt x="141480" y="36195"/>
                </a:moveTo>
                <a:lnTo>
                  <a:pt x="81406" y="36195"/>
                </a:lnTo>
                <a:lnTo>
                  <a:pt x="110362" y="36576"/>
                </a:lnTo>
                <a:lnTo>
                  <a:pt x="110018" y="68185"/>
                </a:lnTo>
                <a:lnTo>
                  <a:pt x="141480" y="36195"/>
                </a:lnTo>
                <a:close/>
              </a:path>
              <a:path w="164464" h="1308100">
                <a:moveTo>
                  <a:pt x="68199" y="0"/>
                </a:moveTo>
                <a:lnTo>
                  <a:pt x="81380" y="38591"/>
                </a:lnTo>
                <a:lnTo>
                  <a:pt x="81406" y="36195"/>
                </a:lnTo>
                <a:lnTo>
                  <a:pt x="141480" y="36195"/>
                </a:lnTo>
                <a:lnTo>
                  <a:pt x="164337" y="12954"/>
                </a:lnTo>
                <a:lnTo>
                  <a:pt x="681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90284" y="3652011"/>
            <a:ext cx="209168" cy="868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117588" y="3651758"/>
            <a:ext cx="194182" cy="868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8129523" y="3651377"/>
            <a:ext cx="192658" cy="868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214" y="305257"/>
            <a:ext cx="2353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ADM</a:t>
            </a:r>
            <a:r>
              <a:rPr dirty="0">
                <a:latin typeface="华文隶书"/>
                <a:cs typeface="华文隶书"/>
              </a:rPr>
              <a:t>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96409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9425" y="2691764"/>
            <a:ext cx="7391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总体设计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8272" y="4447159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需求确认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4404105"/>
            <a:ext cx="7391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需求获取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42884" y="2861259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宋体"/>
                <a:cs typeface="宋体"/>
              </a:rPr>
              <a:t>系统测试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9280" y="2839034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宋体"/>
                <a:cs typeface="宋体"/>
              </a:rPr>
              <a:t>集成测试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83529" y="3017266"/>
            <a:ext cx="38227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编码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20997" y="4100271"/>
            <a:ext cx="74041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宋体"/>
                <a:cs typeface="宋体"/>
              </a:rPr>
              <a:t>详细设计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5822" y="4013453"/>
            <a:ext cx="8362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宋体"/>
                <a:cs typeface="宋体"/>
              </a:rPr>
              <a:t>计划评审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2867" y="3060319"/>
            <a:ext cx="7391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宋体"/>
                <a:cs typeface="宋体"/>
              </a:rPr>
              <a:t>项目规划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0214" y="349707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6261" y="518566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68144" y="3501644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3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15765" y="2065782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98483" y="3454145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9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0436" y="1900427"/>
            <a:ext cx="8708136" cy="40584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543927" y="3455670"/>
            <a:ext cx="1270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Times New Roman"/>
                <a:cs typeface="Times New Roman"/>
              </a:rPr>
              <a:t>8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9040" y="349707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31155" y="3452621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9932" y="339801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668" y="290393"/>
            <a:ext cx="964773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latin typeface="方正姚体"/>
                <a:cs typeface="方正姚体"/>
              </a:rPr>
              <a:t>ADM（ Arrow </a:t>
            </a:r>
            <a:r>
              <a:rPr sz="4000" spc="-5" dirty="0">
                <a:latin typeface="方正姚体"/>
                <a:cs typeface="方正姚体"/>
              </a:rPr>
              <a:t>Diagramming </a:t>
            </a:r>
            <a:r>
              <a:rPr sz="4000" dirty="0">
                <a:latin typeface="方正姚体"/>
                <a:cs typeface="方正姚体"/>
              </a:rPr>
              <a:t>Method</a:t>
            </a:r>
            <a:r>
              <a:rPr sz="4000" spc="-70" dirty="0">
                <a:latin typeface="方正姚体"/>
                <a:cs typeface="方正姚体"/>
              </a:rPr>
              <a:t> </a:t>
            </a:r>
            <a:r>
              <a:rPr sz="4000" dirty="0">
                <a:latin typeface="黑体"/>
                <a:cs typeface="黑体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9155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844801"/>
            <a:ext cx="8153400" cy="2909570"/>
          </a:xfrm>
          <a:custGeom>
            <a:avLst/>
            <a:gdLst/>
            <a:ahLst/>
            <a:cxnLst/>
            <a:rect l="l" t="t" r="r" b="b"/>
            <a:pathLst>
              <a:path w="8153400" h="2909570">
                <a:moveTo>
                  <a:pt x="0" y="2909316"/>
                </a:moveTo>
                <a:lnTo>
                  <a:pt x="8153400" y="2909316"/>
                </a:lnTo>
                <a:lnTo>
                  <a:pt x="8153400" y="0"/>
                </a:lnTo>
                <a:lnTo>
                  <a:pt x="0" y="0"/>
                </a:lnTo>
                <a:lnTo>
                  <a:pt x="0" y="2909316"/>
                </a:lnTo>
                <a:close/>
              </a:path>
            </a:pathLst>
          </a:custGeom>
          <a:ln w="28955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065" y="1761968"/>
            <a:ext cx="7821930" cy="259080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-5" dirty="0">
                <a:latin typeface="华文新魏"/>
                <a:cs typeface="华文新魏"/>
              </a:rPr>
              <a:t>ADM</a:t>
            </a:r>
            <a:r>
              <a:rPr sz="2900" dirty="0">
                <a:latin typeface="华文新魏"/>
                <a:cs typeface="华文新魏"/>
              </a:rPr>
              <a:t>也称为双代号项目网络图，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在</a:t>
            </a:r>
            <a:r>
              <a:rPr sz="2900" spc="-5" dirty="0">
                <a:latin typeface="华文新魏"/>
                <a:cs typeface="华文新魏"/>
              </a:rPr>
              <a:t>ADM</a:t>
            </a:r>
            <a:r>
              <a:rPr sz="2900" dirty="0">
                <a:latin typeface="华文新魏"/>
                <a:cs typeface="华文新魏"/>
              </a:rPr>
              <a:t>网络图</a:t>
            </a:r>
            <a:r>
              <a:rPr sz="2900" spc="5" dirty="0">
                <a:latin typeface="华文新魏"/>
                <a:cs typeface="华文新魏"/>
              </a:rPr>
              <a:t>中</a:t>
            </a:r>
            <a:r>
              <a:rPr sz="2900" spc="-5" dirty="0">
                <a:latin typeface="华文新魏"/>
                <a:cs typeface="华文新魏"/>
              </a:rPr>
              <a:t>,</a:t>
            </a:r>
            <a:r>
              <a:rPr sz="2900" dirty="0">
                <a:latin typeface="华文新魏"/>
                <a:cs typeface="华文新魏"/>
              </a:rPr>
              <a:t>箭线表示活动</a:t>
            </a:r>
            <a:r>
              <a:rPr sz="2900" spc="-5" dirty="0">
                <a:latin typeface="华文新魏"/>
                <a:cs typeface="华文新魏"/>
              </a:rPr>
              <a:t>(</a:t>
            </a:r>
            <a:r>
              <a:rPr sz="2900" dirty="0">
                <a:latin typeface="华文新魏"/>
                <a:cs typeface="华文新魏"/>
              </a:rPr>
              <a:t>任务)</a:t>
            </a:r>
            <a:endParaRPr sz="29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两个代号唯一确定一个</a:t>
            </a:r>
            <a:r>
              <a:rPr sz="2900" spc="-10" dirty="0">
                <a:latin typeface="华文新魏"/>
                <a:cs typeface="华文新魏"/>
              </a:rPr>
              <a:t>任</a:t>
            </a:r>
            <a:r>
              <a:rPr sz="2900" dirty="0">
                <a:latin typeface="华文新魏"/>
                <a:cs typeface="华文新魏"/>
              </a:rPr>
              <a:t>务</a:t>
            </a:r>
            <a:endParaRPr sz="2900">
              <a:latin typeface="华文新魏"/>
              <a:cs typeface="华文新魏"/>
            </a:endParaRPr>
          </a:p>
          <a:p>
            <a:pPr marL="332105" marR="508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latin typeface="华文新魏"/>
                <a:cs typeface="华文新魏"/>
              </a:rPr>
              <a:t>代</a:t>
            </a:r>
            <a:r>
              <a:rPr sz="2900" dirty="0">
                <a:latin typeface="华文新魏"/>
                <a:cs typeface="华文新魏"/>
              </a:rPr>
              <a:t>号表示前一任务的结</a:t>
            </a:r>
            <a:r>
              <a:rPr sz="2900" spc="-5" dirty="0">
                <a:latin typeface="华文新魏"/>
                <a:cs typeface="华文新魏"/>
              </a:rPr>
              <a:t>束,</a:t>
            </a:r>
            <a:r>
              <a:rPr sz="2900" spc="5" dirty="0">
                <a:latin typeface="华文新魏"/>
                <a:cs typeface="华文新魏"/>
              </a:rPr>
              <a:t>同</a:t>
            </a:r>
            <a:r>
              <a:rPr sz="2900" spc="-15" dirty="0">
                <a:latin typeface="华文新魏"/>
                <a:cs typeface="华文新魏"/>
              </a:rPr>
              <a:t>时</a:t>
            </a:r>
            <a:r>
              <a:rPr sz="2900" spc="5" dirty="0">
                <a:latin typeface="华文新魏"/>
                <a:cs typeface="华文新魏"/>
              </a:rPr>
              <a:t>也表</a:t>
            </a:r>
            <a:r>
              <a:rPr sz="2900" spc="-20" dirty="0">
                <a:latin typeface="华文新魏"/>
                <a:cs typeface="华文新魏"/>
              </a:rPr>
              <a:t>示</a:t>
            </a:r>
            <a:r>
              <a:rPr sz="2900" spc="5" dirty="0">
                <a:latin typeface="华文新魏"/>
                <a:cs typeface="华文新魏"/>
              </a:rPr>
              <a:t>后一</a:t>
            </a:r>
            <a:r>
              <a:rPr sz="2900" spc="-20" dirty="0">
                <a:latin typeface="华文新魏"/>
                <a:cs typeface="华文新魏"/>
              </a:rPr>
              <a:t>任</a:t>
            </a:r>
            <a:r>
              <a:rPr sz="2900" dirty="0">
                <a:latin typeface="华文新魏"/>
                <a:cs typeface="华文新魏"/>
              </a:rPr>
              <a:t>务 的开</a:t>
            </a:r>
            <a:r>
              <a:rPr sz="2900" spc="-5" dirty="0">
                <a:latin typeface="华文新魏"/>
                <a:cs typeface="华文新魏"/>
              </a:rPr>
              <a:t>始</a:t>
            </a:r>
            <a:r>
              <a:rPr sz="2900" dirty="0">
                <a:latin typeface="华文新魏"/>
                <a:cs typeface="华文新魏"/>
              </a:rPr>
              <a:t>.</a:t>
            </a:r>
            <a:endParaRPr sz="29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305257"/>
            <a:ext cx="4188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ADM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图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例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虚活动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6957" y="6279591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7145" y="1715261"/>
            <a:ext cx="6148070" cy="14478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2565"/>
              </a:lnSpc>
            </a:pPr>
            <a:r>
              <a:rPr sz="2400" dirty="0">
                <a:latin typeface="华文新魏"/>
                <a:cs typeface="华文新魏"/>
              </a:rPr>
              <a:t>虚活动</a:t>
            </a:r>
            <a:endParaRPr sz="2400">
              <a:latin typeface="华文新魏"/>
              <a:cs typeface="华文新魏"/>
            </a:endParaRPr>
          </a:p>
          <a:p>
            <a:pPr marL="798830" indent="-343535">
              <a:lnSpc>
                <a:spcPct val="100000"/>
              </a:lnSpc>
              <a:spcBef>
                <a:spcPts val="80"/>
              </a:spcBef>
              <a:buClr>
                <a:srgbClr val="93B6D2"/>
              </a:buClr>
              <a:buSzPct val="68181"/>
              <a:buFont typeface="Wingdings"/>
              <a:buChar char=""/>
              <a:tabLst>
                <a:tab pos="798830" algn="l"/>
                <a:tab pos="799465" algn="l"/>
              </a:tabLst>
            </a:pPr>
            <a:r>
              <a:rPr sz="2200" spc="-5" dirty="0">
                <a:latin typeface="华文新魏"/>
                <a:cs typeface="华文新魏"/>
              </a:rPr>
              <a:t>为了定义活动</a:t>
            </a:r>
            <a:endParaRPr sz="2200">
              <a:latin typeface="华文新魏"/>
              <a:cs typeface="华文新魏"/>
            </a:endParaRPr>
          </a:p>
          <a:p>
            <a:pPr marL="798830" indent="-343535">
              <a:lnSpc>
                <a:spcPct val="100000"/>
              </a:lnSpc>
              <a:spcBef>
                <a:spcPts val="70"/>
              </a:spcBef>
              <a:buClr>
                <a:srgbClr val="93B6D2"/>
              </a:buClr>
              <a:buSzPct val="68181"/>
              <a:buFont typeface="Wingdings"/>
              <a:buChar char=""/>
              <a:tabLst>
                <a:tab pos="798830" algn="l"/>
                <a:tab pos="799465" algn="l"/>
              </a:tabLst>
            </a:pPr>
            <a:r>
              <a:rPr sz="2200" spc="-5" dirty="0">
                <a:latin typeface="华文新魏"/>
                <a:cs typeface="华文新魏"/>
              </a:rPr>
              <a:t>为了表示逻辑关系</a:t>
            </a:r>
            <a:endParaRPr sz="2200">
              <a:latin typeface="华文新魏"/>
              <a:cs typeface="华文新魏"/>
            </a:endParaRPr>
          </a:p>
          <a:p>
            <a:pPr marL="798830" indent="-343535">
              <a:lnSpc>
                <a:spcPct val="100000"/>
              </a:lnSpc>
              <a:spcBef>
                <a:spcPts val="70"/>
              </a:spcBef>
              <a:buClr>
                <a:srgbClr val="93B6D2"/>
              </a:buClr>
              <a:buSzPct val="68181"/>
              <a:buFont typeface="Wingdings"/>
              <a:buChar char=""/>
              <a:tabLst>
                <a:tab pos="798830" algn="l"/>
                <a:tab pos="799465" algn="l"/>
              </a:tabLst>
            </a:pPr>
            <a:r>
              <a:rPr sz="2200" spc="-10" dirty="0">
                <a:latin typeface="华文新魏"/>
                <a:cs typeface="华文新魏"/>
              </a:rPr>
              <a:t>不消耗资源的</a:t>
            </a:r>
            <a:endParaRPr sz="22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4162" y="49537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4" y="139624"/>
                </a:lnTo>
                <a:lnTo>
                  <a:pt x="39041" y="100793"/>
                </a:lnTo>
                <a:lnTo>
                  <a:pt x="66955" y="66960"/>
                </a:lnTo>
                <a:lnTo>
                  <a:pt x="100788" y="39045"/>
                </a:lnTo>
                <a:lnTo>
                  <a:pt x="139619" y="17966"/>
                </a:lnTo>
                <a:lnTo>
                  <a:pt x="182529" y="4644"/>
                </a:lnTo>
                <a:lnTo>
                  <a:pt x="228600" y="0"/>
                </a:lnTo>
                <a:lnTo>
                  <a:pt x="274670" y="4644"/>
                </a:lnTo>
                <a:lnTo>
                  <a:pt x="317580" y="17966"/>
                </a:lnTo>
                <a:lnTo>
                  <a:pt x="356411" y="39045"/>
                </a:lnTo>
                <a:lnTo>
                  <a:pt x="390244" y="66960"/>
                </a:lnTo>
                <a:lnTo>
                  <a:pt x="418158" y="100793"/>
                </a:lnTo>
                <a:lnTo>
                  <a:pt x="439235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5" y="317575"/>
                </a:lnTo>
                <a:lnTo>
                  <a:pt x="418158" y="356406"/>
                </a:lnTo>
                <a:lnTo>
                  <a:pt x="390244" y="390239"/>
                </a:lnTo>
                <a:lnTo>
                  <a:pt x="356411" y="418154"/>
                </a:lnTo>
                <a:lnTo>
                  <a:pt x="317580" y="439233"/>
                </a:lnTo>
                <a:lnTo>
                  <a:pt x="274670" y="452555"/>
                </a:lnTo>
                <a:lnTo>
                  <a:pt x="228600" y="457200"/>
                </a:lnTo>
                <a:lnTo>
                  <a:pt x="182529" y="452555"/>
                </a:lnTo>
                <a:lnTo>
                  <a:pt x="139619" y="439233"/>
                </a:lnTo>
                <a:lnTo>
                  <a:pt x="100788" y="418154"/>
                </a:lnTo>
                <a:lnTo>
                  <a:pt x="66955" y="390239"/>
                </a:lnTo>
                <a:lnTo>
                  <a:pt x="39041" y="356406"/>
                </a:lnTo>
                <a:lnTo>
                  <a:pt x="17964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0920" y="4790389"/>
            <a:ext cx="304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1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961" y="487756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228600"/>
                </a:moveTo>
                <a:lnTo>
                  <a:pt x="4644" y="182533"/>
                </a:lnTo>
                <a:lnTo>
                  <a:pt x="17966" y="139624"/>
                </a:lnTo>
                <a:lnTo>
                  <a:pt x="39045" y="100793"/>
                </a:lnTo>
                <a:lnTo>
                  <a:pt x="66960" y="66960"/>
                </a:lnTo>
                <a:lnTo>
                  <a:pt x="100793" y="39045"/>
                </a:lnTo>
                <a:lnTo>
                  <a:pt x="139624" y="17966"/>
                </a:lnTo>
                <a:lnTo>
                  <a:pt x="182533" y="4644"/>
                </a:lnTo>
                <a:lnTo>
                  <a:pt x="228600" y="0"/>
                </a:lnTo>
                <a:lnTo>
                  <a:pt x="274666" y="4644"/>
                </a:lnTo>
                <a:lnTo>
                  <a:pt x="317575" y="17966"/>
                </a:lnTo>
                <a:lnTo>
                  <a:pt x="356406" y="39045"/>
                </a:lnTo>
                <a:lnTo>
                  <a:pt x="390239" y="66960"/>
                </a:lnTo>
                <a:lnTo>
                  <a:pt x="418154" y="100793"/>
                </a:lnTo>
                <a:lnTo>
                  <a:pt x="439233" y="139624"/>
                </a:lnTo>
                <a:lnTo>
                  <a:pt x="452555" y="182533"/>
                </a:lnTo>
                <a:lnTo>
                  <a:pt x="457200" y="228600"/>
                </a:lnTo>
                <a:lnTo>
                  <a:pt x="452555" y="274666"/>
                </a:lnTo>
                <a:lnTo>
                  <a:pt x="439233" y="317575"/>
                </a:lnTo>
                <a:lnTo>
                  <a:pt x="418154" y="356406"/>
                </a:lnTo>
                <a:lnTo>
                  <a:pt x="390239" y="390239"/>
                </a:lnTo>
                <a:lnTo>
                  <a:pt x="356406" y="418154"/>
                </a:lnTo>
                <a:lnTo>
                  <a:pt x="317575" y="439233"/>
                </a:lnTo>
                <a:lnTo>
                  <a:pt x="274666" y="452555"/>
                </a:lnTo>
                <a:lnTo>
                  <a:pt x="228600" y="457200"/>
                </a:lnTo>
                <a:lnTo>
                  <a:pt x="182533" y="452555"/>
                </a:lnTo>
                <a:lnTo>
                  <a:pt x="139624" y="439233"/>
                </a:lnTo>
                <a:lnTo>
                  <a:pt x="100793" y="418154"/>
                </a:lnTo>
                <a:lnTo>
                  <a:pt x="66960" y="390239"/>
                </a:lnTo>
                <a:lnTo>
                  <a:pt x="39045" y="356406"/>
                </a:lnTo>
                <a:lnTo>
                  <a:pt x="17966" y="317575"/>
                </a:lnTo>
                <a:lnTo>
                  <a:pt x="4644" y="274666"/>
                </a:lnTo>
                <a:lnTo>
                  <a:pt x="0" y="2286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821051" y="4714189"/>
            <a:ext cx="304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2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9551" y="4255389"/>
            <a:ext cx="2143125" cy="707390"/>
          </a:xfrm>
          <a:custGeom>
            <a:avLst/>
            <a:gdLst/>
            <a:ahLst/>
            <a:cxnLst/>
            <a:rect l="l" t="t" r="r" b="b"/>
            <a:pathLst>
              <a:path w="2143125" h="707389">
                <a:moveTo>
                  <a:pt x="1016774" y="0"/>
                </a:moveTo>
                <a:lnTo>
                  <a:pt x="965212" y="2412"/>
                </a:lnTo>
                <a:lnTo>
                  <a:pt x="898029" y="12318"/>
                </a:lnTo>
                <a:lnTo>
                  <a:pt x="831862" y="29210"/>
                </a:lnTo>
                <a:lnTo>
                  <a:pt x="766584" y="52578"/>
                </a:lnTo>
                <a:lnTo>
                  <a:pt x="702195" y="81915"/>
                </a:lnTo>
                <a:lnTo>
                  <a:pt x="638568" y="116712"/>
                </a:lnTo>
                <a:lnTo>
                  <a:pt x="575703" y="156463"/>
                </a:lnTo>
                <a:lnTo>
                  <a:pt x="513346" y="200660"/>
                </a:lnTo>
                <a:lnTo>
                  <a:pt x="482358" y="224281"/>
                </a:lnTo>
                <a:lnTo>
                  <a:pt x="451624" y="248793"/>
                </a:lnTo>
                <a:lnTo>
                  <a:pt x="420928" y="274319"/>
                </a:lnTo>
                <a:lnTo>
                  <a:pt x="390385" y="300481"/>
                </a:lnTo>
                <a:lnTo>
                  <a:pt x="359867" y="327660"/>
                </a:lnTo>
                <a:lnTo>
                  <a:pt x="329526" y="355219"/>
                </a:lnTo>
                <a:lnTo>
                  <a:pt x="299338" y="383667"/>
                </a:lnTo>
                <a:lnTo>
                  <a:pt x="269151" y="412623"/>
                </a:lnTo>
                <a:lnTo>
                  <a:pt x="239026" y="442087"/>
                </a:lnTo>
                <a:lnTo>
                  <a:pt x="178993" y="502412"/>
                </a:lnTo>
                <a:lnTo>
                  <a:pt x="119202" y="564007"/>
                </a:lnTo>
                <a:lnTo>
                  <a:pt x="59524" y="626491"/>
                </a:lnTo>
                <a:lnTo>
                  <a:pt x="0" y="689483"/>
                </a:lnTo>
                <a:lnTo>
                  <a:pt x="18821" y="707263"/>
                </a:lnTo>
                <a:lnTo>
                  <a:pt x="78359" y="644271"/>
                </a:lnTo>
                <a:lnTo>
                  <a:pt x="137934" y="581913"/>
                </a:lnTo>
                <a:lnTo>
                  <a:pt x="197586" y="520446"/>
                </a:lnTo>
                <a:lnTo>
                  <a:pt x="257378" y="460375"/>
                </a:lnTo>
                <a:lnTo>
                  <a:pt x="287261" y="431165"/>
                </a:lnTo>
                <a:lnTo>
                  <a:pt x="317271" y="402336"/>
                </a:lnTo>
                <a:lnTo>
                  <a:pt x="347281" y="374142"/>
                </a:lnTo>
                <a:lnTo>
                  <a:pt x="377329" y="346710"/>
                </a:lnTo>
                <a:lnTo>
                  <a:pt x="407581" y="319913"/>
                </a:lnTo>
                <a:lnTo>
                  <a:pt x="437807" y="294005"/>
                </a:lnTo>
                <a:lnTo>
                  <a:pt x="468134" y="268731"/>
                </a:lnTo>
                <a:lnTo>
                  <a:pt x="498487" y="244475"/>
                </a:lnTo>
                <a:lnTo>
                  <a:pt x="529094" y="221234"/>
                </a:lnTo>
                <a:lnTo>
                  <a:pt x="590308" y="177800"/>
                </a:lnTo>
                <a:lnTo>
                  <a:pt x="652030" y="138937"/>
                </a:lnTo>
                <a:lnTo>
                  <a:pt x="714133" y="104902"/>
                </a:lnTo>
                <a:lnTo>
                  <a:pt x="776871" y="76327"/>
                </a:lnTo>
                <a:lnTo>
                  <a:pt x="840117" y="53848"/>
                </a:lnTo>
                <a:lnTo>
                  <a:pt x="903871" y="37592"/>
                </a:lnTo>
                <a:lnTo>
                  <a:pt x="968387" y="28067"/>
                </a:lnTo>
                <a:lnTo>
                  <a:pt x="1172233" y="25908"/>
                </a:lnTo>
                <a:lnTo>
                  <a:pt x="1166634" y="24256"/>
                </a:lnTo>
                <a:lnTo>
                  <a:pt x="1127645" y="14224"/>
                </a:lnTo>
                <a:lnTo>
                  <a:pt x="1089672" y="6604"/>
                </a:lnTo>
                <a:lnTo>
                  <a:pt x="1034554" y="635"/>
                </a:lnTo>
                <a:lnTo>
                  <a:pt x="1016774" y="0"/>
                </a:lnTo>
                <a:close/>
              </a:path>
              <a:path w="2143125" h="707389">
                <a:moveTo>
                  <a:pt x="2070772" y="590862"/>
                </a:moveTo>
                <a:lnTo>
                  <a:pt x="2056650" y="612902"/>
                </a:lnTo>
                <a:lnTo>
                  <a:pt x="2143010" y="622173"/>
                </a:lnTo>
                <a:lnTo>
                  <a:pt x="2128572" y="597916"/>
                </a:lnTo>
                <a:lnTo>
                  <a:pt x="2081288" y="597916"/>
                </a:lnTo>
                <a:lnTo>
                  <a:pt x="2070772" y="590862"/>
                </a:lnTo>
                <a:close/>
              </a:path>
              <a:path w="2143125" h="707389">
                <a:moveTo>
                  <a:pt x="2084744" y="569059"/>
                </a:moveTo>
                <a:lnTo>
                  <a:pt x="2070772" y="590862"/>
                </a:lnTo>
                <a:lnTo>
                  <a:pt x="2081288" y="597916"/>
                </a:lnTo>
                <a:lnTo>
                  <a:pt x="2095766" y="576453"/>
                </a:lnTo>
                <a:lnTo>
                  <a:pt x="2084744" y="569059"/>
                </a:lnTo>
                <a:close/>
              </a:path>
              <a:path w="2143125" h="707389">
                <a:moveTo>
                  <a:pt x="2098560" y="547497"/>
                </a:moveTo>
                <a:lnTo>
                  <a:pt x="2084744" y="569059"/>
                </a:lnTo>
                <a:lnTo>
                  <a:pt x="2095766" y="576453"/>
                </a:lnTo>
                <a:lnTo>
                  <a:pt x="2081288" y="597916"/>
                </a:lnTo>
                <a:lnTo>
                  <a:pt x="2128572" y="597916"/>
                </a:lnTo>
                <a:lnTo>
                  <a:pt x="2098560" y="547497"/>
                </a:lnTo>
                <a:close/>
              </a:path>
              <a:path w="2143125" h="707389">
                <a:moveTo>
                  <a:pt x="1172233" y="25908"/>
                </a:moveTo>
                <a:lnTo>
                  <a:pt x="1017028" y="25908"/>
                </a:lnTo>
                <a:lnTo>
                  <a:pt x="1033665" y="26416"/>
                </a:lnTo>
                <a:lnTo>
                  <a:pt x="1050683" y="27686"/>
                </a:lnTo>
                <a:lnTo>
                  <a:pt x="1103896" y="35560"/>
                </a:lnTo>
                <a:lnTo>
                  <a:pt x="1159776" y="49275"/>
                </a:lnTo>
                <a:lnTo>
                  <a:pt x="1218196" y="68199"/>
                </a:lnTo>
                <a:lnTo>
                  <a:pt x="1258074" y="83438"/>
                </a:lnTo>
                <a:lnTo>
                  <a:pt x="1298587" y="100584"/>
                </a:lnTo>
                <a:lnTo>
                  <a:pt x="1339735" y="119506"/>
                </a:lnTo>
                <a:lnTo>
                  <a:pt x="1381137" y="139954"/>
                </a:lnTo>
                <a:lnTo>
                  <a:pt x="1422920" y="161798"/>
                </a:lnTo>
                <a:lnTo>
                  <a:pt x="1464830" y="184785"/>
                </a:lnTo>
                <a:lnTo>
                  <a:pt x="1506740" y="208915"/>
                </a:lnTo>
                <a:lnTo>
                  <a:pt x="1548650" y="233934"/>
                </a:lnTo>
                <a:lnTo>
                  <a:pt x="1590179" y="259587"/>
                </a:lnTo>
                <a:lnTo>
                  <a:pt x="1631200" y="285750"/>
                </a:lnTo>
                <a:lnTo>
                  <a:pt x="1671967" y="312293"/>
                </a:lnTo>
                <a:lnTo>
                  <a:pt x="1711972" y="338963"/>
                </a:lnTo>
                <a:lnTo>
                  <a:pt x="1789696" y="392175"/>
                </a:lnTo>
                <a:lnTo>
                  <a:pt x="1827034" y="418338"/>
                </a:lnTo>
                <a:lnTo>
                  <a:pt x="2023249" y="558165"/>
                </a:lnTo>
                <a:lnTo>
                  <a:pt x="2050046" y="576961"/>
                </a:lnTo>
                <a:lnTo>
                  <a:pt x="2070772" y="590862"/>
                </a:lnTo>
                <a:lnTo>
                  <a:pt x="2084744" y="569059"/>
                </a:lnTo>
                <a:lnTo>
                  <a:pt x="2064905" y="555752"/>
                </a:lnTo>
                <a:lnTo>
                  <a:pt x="2038235" y="537083"/>
                </a:lnTo>
                <a:lnTo>
                  <a:pt x="1841893" y="397129"/>
                </a:lnTo>
                <a:lnTo>
                  <a:pt x="1765820" y="344297"/>
                </a:lnTo>
                <a:lnTo>
                  <a:pt x="1686064" y="290575"/>
                </a:lnTo>
                <a:lnTo>
                  <a:pt x="1645170" y="263906"/>
                </a:lnTo>
                <a:lnTo>
                  <a:pt x="1603768" y="237617"/>
                </a:lnTo>
                <a:lnTo>
                  <a:pt x="1561858" y="211709"/>
                </a:lnTo>
                <a:lnTo>
                  <a:pt x="1519694" y="186562"/>
                </a:lnTo>
                <a:lnTo>
                  <a:pt x="1477403" y="162052"/>
                </a:lnTo>
                <a:lnTo>
                  <a:pt x="1434985" y="138811"/>
                </a:lnTo>
                <a:lnTo>
                  <a:pt x="1392694" y="116712"/>
                </a:lnTo>
                <a:lnTo>
                  <a:pt x="1350530" y="96012"/>
                </a:lnTo>
                <a:lnTo>
                  <a:pt x="1308747" y="76708"/>
                </a:lnTo>
                <a:lnTo>
                  <a:pt x="1267345" y="59181"/>
                </a:lnTo>
                <a:lnTo>
                  <a:pt x="1226451" y="43687"/>
                </a:lnTo>
                <a:lnTo>
                  <a:pt x="1186446" y="30099"/>
                </a:lnTo>
                <a:lnTo>
                  <a:pt x="1172233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29805" y="5325617"/>
            <a:ext cx="2143125" cy="645160"/>
          </a:xfrm>
          <a:custGeom>
            <a:avLst/>
            <a:gdLst/>
            <a:ahLst/>
            <a:cxnLst/>
            <a:rect l="l" t="t" r="r" b="b"/>
            <a:pathLst>
              <a:path w="2143125" h="645160">
                <a:moveTo>
                  <a:pt x="18313" y="0"/>
                </a:moveTo>
                <a:lnTo>
                  <a:pt x="102514" y="120395"/>
                </a:lnTo>
                <a:lnTo>
                  <a:pt x="153822" y="170687"/>
                </a:lnTo>
                <a:lnTo>
                  <a:pt x="205257" y="220090"/>
                </a:lnTo>
                <a:lnTo>
                  <a:pt x="256921" y="268363"/>
                </a:lnTo>
                <a:lnTo>
                  <a:pt x="308698" y="315175"/>
                </a:lnTo>
                <a:lnTo>
                  <a:pt x="360743" y="360044"/>
                </a:lnTo>
                <a:lnTo>
                  <a:pt x="413092" y="402983"/>
                </a:lnTo>
                <a:lnTo>
                  <a:pt x="465467" y="443318"/>
                </a:lnTo>
                <a:lnTo>
                  <a:pt x="518426" y="480961"/>
                </a:lnTo>
                <a:lnTo>
                  <a:pt x="571639" y="515569"/>
                </a:lnTo>
                <a:lnTo>
                  <a:pt x="625233" y="546785"/>
                </a:lnTo>
                <a:lnTo>
                  <a:pt x="679208" y="574357"/>
                </a:lnTo>
                <a:lnTo>
                  <a:pt x="733691" y="597941"/>
                </a:lnTo>
                <a:lnTo>
                  <a:pt x="788682" y="617232"/>
                </a:lnTo>
                <a:lnTo>
                  <a:pt x="844308" y="631812"/>
                </a:lnTo>
                <a:lnTo>
                  <a:pt x="901585" y="641108"/>
                </a:lnTo>
                <a:lnTo>
                  <a:pt x="961148" y="644740"/>
                </a:lnTo>
                <a:lnTo>
                  <a:pt x="991501" y="644651"/>
                </a:lnTo>
                <a:lnTo>
                  <a:pt x="1053350" y="640892"/>
                </a:lnTo>
                <a:lnTo>
                  <a:pt x="1115961" y="632993"/>
                </a:lnTo>
                <a:lnTo>
                  <a:pt x="1179334" y="621258"/>
                </a:lnTo>
                <a:lnTo>
                  <a:pt x="1190219" y="618845"/>
                </a:lnTo>
                <a:lnTo>
                  <a:pt x="962164" y="618845"/>
                </a:lnTo>
                <a:lnTo>
                  <a:pt x="933335" y="617740"/>
                </a:lnTo>
                <a:lnTo>
                  <a:pt x="877455" y="611733"/>
                </a:lnTo>
                <a:lnTo>
                  <a:pt x="823607" y="600189"/>
                </a:lnTo>
                <a:lnTo>
                  <a:pt x="770267" y="583831"/>
                </a:lnTo>
                <a:lnTo>
                  <a:pt x="717181" y="563016"/>
                </a:lnTo>
                <a:lnTo>
                  <a:pt x="664222" y="538149"/>
                </a:lnTo>
                <a:lnTo>
                  <a:pt x="611771" y="509435"/>
                </a:lnTo>
                <a:lnTo>
                  <a:pt x="559320" y="477075"/>
                </a:lnTo>
                <a:lnTo>
                  <a:pt x="507123" y="441464"/>
                </a:lnTo>
                <a:lnTo>
                  <a:pt x="455066" y="402894"/>
                </a:lnTo>
                <a:lnTo>
                  <a:pt x="403415" y="361911"/>
                </a:lnTo>
                <a:lnTo>
                  <a:pt x="326072" y="295948"/>
                </a:lnTo>
                <a:lnTo>
                  <a:pt x="274599" y="249427"/>
                </a:lnTo>
                <a:lnTo>
                  <a:pt x="223202" y="201421"/>
                </a:lnTo>
                <a:lnTo>
                  <a:pt x="171958" y="152145"/>
                </a:lnTo>
                <a:lnTo>
                  <a:pt x="120777" y="102107"/>
                </a:lnTo>
                <a:lnTo>
                  <a:pt x="18313" y="0"/>
                </a:lnTo>
                <a:close/>
              </a:path>
              <a:path w="2143125" h="645160">
                <a:moveTo>
                  <a:pt x="2086620" y="64395"/>
                </a:moveTo>
                <a:lnTo>
                  <a:pt x="2076208" y="79120"/>
                </a:lnTo>
                <a:lnTo>
                  <a:pt x="2059317" y="103250"/>
                </a:lnTo>
                <a:lnTo>
                  <a:pt x="2040902" y="128650"/>
                </a:lnTo>
                <a:lnTo>
                  <a:pt x="1999627" y="181863"/>
                </a:lnTo>
                <a:lnTo>
                  <a:pt x="1951367" y="236092"/>
                </a:lnTo>
                <a:lnTo>
                  <a:pt x="1895233" y="288696"/>
                </a:lnTo>
                <a:lnTo>
                  <a:pt x="1864118" y="313562"/>
                </a:lnTo>
                <a:lnTo>
                  <a:pt x="1830590" y="337096"/>
                </a:lnTo>
                <a:lnTo>
                  <a:pt x="1794776" y="358838"/>
                </a:lnTo>
                <a:lnTo>
                  <a:pt x="1756295" y="378688"/>
                </a:lnTo>
                <a:lnTo>
                  <a:pt x="1713623" y="398691"/>
                </a:lnTo>
                <a:lnTo>
                  <a:pt x="1642503" y="431469"/>
                </a:lnTo>
                <a:lnTo>
                  <a:pt x="1563890" y="466115"/>
                </a:lnTo>
                <a:lnTo>
                  <a:pt x="1508137" y="489330"/>
                </a:lnTo>
                <a:lnTo>
                  <a:pt x="1450098" y="512089"/>
                </a:lnTo>
                <a:lnTo>
                  <a:pt x="1390408" y="533971"/>
                </a:lnTo>
                <a:lnTo>
                  <a:pt x="1329321" y="554443"/>
                </a:lnTo>
                <a:lnTo>
                  <a:pt x="1267472" y="572896"/>
                </a:lnTo>
                <a:lnTo>
                  <a:pt x="1205369" y="588949"/>
                </a:lnTo>
                <a:lnTo>
                  <a:pt x="1143266" y="602068"/>
                </a:lnTo>
                <a:lnTo>
                  <a:pt x="1081671" y="611682"/>
                </a:lnTo>
                <a:lnTo>
                  <a:pt x="1021219" y="617512"/>
                </a:lnTo>
                <a:lnTo>
                  <a:pt x="962164" y="618845"/>
                </a:lnTo>
                <a:lnTo>
                  <a:pt x="1190219" y="618845"/>
                </a:lnTo>
                <a:lnTo>
                  <a:pt x="1242580" y="606361"/>
                </a:lnTo>
                <a:lnTo>
                  <a:pt x="1305699" y="588797"/>
                </a:lnTo>
                <a:lnTo>
                  <a:pt x="1398663" y="558545"/>
                </a:lnTo>
                <a:lnTo>
                  <a:pt x="1458988" y="536422"/>
                </a:lnTo>
                <a:lnTo>
                  <a:pt x="1517535" y="513460"/>
                </a:lnTo>
                <a:lnTo>
                  <a:pt x="1573923" y="490004"/>
                </a:lnTo>
                <a:lnTo>
                  <a:pt x="1653044" y="455117"/>
                </a:lnTo>
                <a:lnTo>
                  <a:pt x="1701685" y="432866"/>
                </a:lnTo>
                <a:lnTo>
                  <a:pt x="1767217" y="402170"/>
                </a:lnTo>
                <a:lnTo>
                  <a:pt x="1807095" y="381634"/>
                </a:lnTo>
                <a:lnTo>
                  <a:pt x="1844433" y="358990"/>
                </a:lnTo>
                <a:lnTo>
                  <a:pt x="1879231" y="334517"/>
                </a:lnTo>
                <a:lnTo>
                  <a:pt x="1911743" y="308698"/>
                </a:lnTo>
                <a:lnTo>
                  <a:pt x="1941588" y="281978"/>
                </a:lnTo>
                <a:lnTo>
                  <a:pt x="1969528" y="254507"/>
                </a:lnTo>
                <a:lnTo>
                  <a:pt x="1995436" y="226567"/>
                </a:lnTo>
                <a:lnTo>
                  <a:pt x="2041283" y="171195"/>
                </a:lnTo>
                <a:lnTo>
                  <a:pt x="2080272" y="118490"/>
                </a:lnTo>
                <a:lnTo>
                  <a:pt x="2097417" y="93979"/>
                </a:lnTo>
                <a:lnTo>
                  <a:pt x="2107579" y="79680"/>
                </a:lnTo>
                <a:lnTo>
                  <a:pt x="2086620" y="64395"/>
                </a:lnTo>
                <a:close/>
              </a:path>
              <a:path w="2143125" h="645160">
                <a:moveTo>
                  <a:pt x="2135251" y="53974"/>
                </a:moveTo>
                <a:lnTo>
                  <a:pt x="2093988" y="53974"/>
                </a:lnTo>
                <a:lnTo>
                  <a:pt x="2115197" y="68960"/>
                </a:lnTo>
                <a:lnTo>
                  <a:pt x="2107579" y="79680"/>
                </a:lnTo>
                <a:lnTo>
                  <a:pt x="2128405" y="94868"/>
                </a:lnTo>
                <a:lnTo>
                  <a:pt x="2135251" y="53974"/>
                </a:lnTo>
                <a:close/>
              </a:path>
              <a:path w="2143125" h="645160">
                <a:moveTo>
                  <a:pt x="2093988" y="53974"/>
                </a:moveTo>
                <a:lnTo>
                  <a:pt x="2086620" y="64395"/>
                </a:lnTo>
                <a:lnTo>
                  <a:pt x="2107579" y="79680"/>
                </a:lnTo>
                <a:lnTo>
                  <a:pt x="2115197" y="68960"/>
                </a:lnTo>
                <a:lnTo>
                  <a:pt x="2093988" y="53974"/>
                </a:lnTo>
                <a:close/>
              </a:path>
              <a:path w="2143125" h="645160">
                <a:moveTo>
                  <a:pt x="2142756" y="9143"/>
                </a:moveTo>
                <a:lnTo>
                  <a:pt x="2065540" y="49021"/>
                </a:lnTo>
                <a:lnTo>
                  <a:pt x="2086620" y="64395"/>
                </a:lnTo>
                <a:lnTo>
                  <a:pt x="2093988" y="53974"/>
                </a:lnTo>
                <a:lnTo>
                  <a:pt x="2135251" y="53974"/>
                </a:lnTo>
                <a:lnTo>
                  <a:pt x="2142756" y="91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29761" y="5029961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857250" y="0"/>
                </a:moveTo>
                <a:lnTo>
                  <a:pt x="857250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857250" y="342900"/>
                </a:lnTo>
                <a:lnTo>
                  <a:pt x="857250" y="457200"/>
                </a:lnTo>
                <a:lnTo>
                  <a:pt x="1143000" y="228600"/>
                </a:lnTo>
                <a:lnTo>
                  <a:pt x="8572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429761" y="5029961"/>
            <a:ext cx="1143000" cy="457200"/>
          </a:xfrm>
          <a:custGeom>
            <a:avLst/>
            <a:gdLst/>
            <a:ahLst/>
            <a:cxnLst/>
            <a:rect l="l" t="t" r="r" b="b"/>
            <a:pathLst>
              <a:path w="1143000" h="457200">
                <a:moveTo>
                  <a:pt x="0" y="114300"/>
                </a:moveTo>
                <a:lnTo>
                  <a:pt x="857250" y="114300"/>
                </a:lnTo>
                <a:lnTo>
                  <a:pt x="857250" y="0"/>
                </a:lnTo>
                <a:lnTo>
                  <a:pt x="1143000" y="228600"/>
                </a:lnTo>
                <a:lnTo>
                  <a:pt x="857250" y="457200"/>
                </a:lnTo>
                <a:lnTo>
                  <a:pt x="857250" y="342900"/>
                </a:lnTo>
                <a:lnTo>
                  <a:pt x="0" y="342900"/>
                </a:lnTo>
                <a:lnTo>
                  <a:pt x="0" y="1143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18869" y="3988384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A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47469" y="6122923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B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68361" y="3163061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0" y="342900"/>
                </a:moveTo>
                <a:lnTo>
                  <a:pt x="3477" y="296375"/>
                </a:lnTo>
                <a:lnTo>
                  <a:pt x="13608" y="251751"/>
                </a:lnTo>
                <a:lnTo>
                  <a:pt x="29938" y="209436"/>
                </a:lnTo>
                <a:lnTo>
                  <a:pt x="52013" y="169841"/>
                </a:lnTo>
                <a:lnTo>
                  <a:pt x="79380" y="133373"/>
                </a:lnTo>
                <a:lnTo>
                  <a:pt x="111585" y="100441"/>
                </a:lnTo>
                <a:lnTo>
                  <a:pt x="148174" y="71454"/>
                </a:lnTo>
                <a:lnTo>
                  <a:pt x="188693" y="46820"/>
                </a:lnTo>
                <a:lnTo>
                  <a:pt x="232689" y="26949"/>
                </a:lnTo>
                <a:lnTo>
                  <a:pt x="279708" y="12250"/>
                </a:lnTo>
                <a:lnTo>
                  <a:pt x="329296" y="3130"/>
                </a:lnTo>
                <a:lnTo>
                  <a:pt x="381000" y="0"/>
                </a:lnTo>
                <a:lnTo>
                  <a:pt x="432703" y="3130"/>
                </a:lnTo>
                <a:lnTo>
                  <a:pt x="482291" y="12250"/>
                </a:lnTo>
                <a:lnTo>
                  <a:pt x="529310" y="26949"/>
                </a:lnTo>
                <a:lnTo>
                  <a:pt x="573306" y="46820"/>
                </a:lnTo>
                <a:lnTo>
                  <a:pt x="613825" y="71454"/>
                </a:lnTo>
                <a:lnTo>
                  <a:pt x="650414" y="100441"/>
                </a:lnTo>
                <a:lnTo>
                  <a:pt x="682619" y="133373"/>
                </a:lnTo>
                <a:lnTo>
                  <a:pt x="709986" y="169841"/>
                </a:lnTo>
                <a:lnTo>
                  <a:pt x="732061" y="209436"/>
                </a:lnTo>
                <a:lnTo>
                  <a:pt x="748391" y="251751"/>
                </a:lnTo>
                <a:lnTo>
                  <a:pt x="758522" y="296375"/>
                </a:lnTo>
                <a:lnTo>
                  <a:pt x="762000" y="342900"/>
                </a:lnTo>
                <a:lnTo>
                  <a:pt x="758522" y="389424"/>
                </a:lnTo>
                <a:lnTo>
                  <a:pt x="748391" y="434048"/>
                </a:lnTo>
                <a:lnTo>
                  <a:pt x="732061" y="476363"/>
                </a:lnTo>
                <a:lnTo>
                  <a:pt x="709986" y="515958"/>
                </a:lnTo>
                <a:lnTo>
                  <a:pt x="682619" y="552426"/>
                </a:lnTo>
                <a:lnTo>
                  <a:pt x="650414" y="585358"/>
                </a:lnTo>
                <a:lnTo>
                  <a:pt x="613825" y="614345"/>
                </a:lnTo>
                <a:lnTo>
                  <a:pt x="573306" y="638979"/>
                </a:lnTo>
                <a:lnTo>
                  <a:pt x="529310" y="658850"/>
                </a:lnTo>
                <a:lnTo>
                  <a:pt x="482291" y="673549"/>
                </a:lnTo>
                <a:lnTo>
                  <a:pt x="432703" y="682669"/>
                </a:lnTo>
                <a:lnTo>
                  <a:pt x="381000" y="685800"/>
                </a:lnTo>
                <a:lnTo>
                  <a:pt x="329296" y="682669"/>
                </a:lnTo>
                <a:lnTo>
                  <a:pt x="279708" y="673549"/>
                </a:lnTo>
                <a:lnTo>
                  <a:pt x="232689" y="658850"/>
                </a:lnTo>
                <a:lnTo>
                  <a:pt x="188693" y="638979"/>
                </a:lnTo>
                <a:lnTo>
                  <a:pt x="148174" y="614345"/>
                </a:lnTo>
                <a:lnTo>
                  <a:pt x="111585" y="585358"/>
                </a:lnTo>
                <a:lnTo>
                  <a:pt x="79380" y="552426"/>
                </a:lnTo>
                <a:lnTo>
                  <a:pt x="52013" y="515958"/>
                </a:lnTo>
                <a:lnTo>
                  <a:pt x="29938" y="476363"/>
                </a:lnTo>
                <a:lnTo>
                  <a:pt x="13608" y="434048"/>
                </a:lnTo>
                <a:lnTo>
                  <a:pt x="3477" y="389424"/>
                </a:lnTo>
                <a:lnTo>
                  <a:pt x="0" y="3429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697469" y="3113608"/>
            <a:ext cx="304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2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34961" y="5563361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0" y="342900"/>
                </a:moveTo>
                <a:lnTo>
                  <a:pt x="3477" y="296369"/>
                </a:lnTo>
                <a:lnTo>
                  <a:pt x="13608" y="251742"/>
                </a:lnTo>
                <a:lnTo>
                  <a:pt x="29938" y="209426"/>
                </a:lnTo>
                <a:lnTo>
                  <a:pt x="52013" y="169830"/>
                </a:lnTo>
                <a:lnTo>
                  <a:pt x="79380" y="133362"/>
                </a:lnTo>
                <a:lnTo>
                  <a:pt x="111585" y="100431"/>
                </a:lnTo>
                <a:lnTo>
                  <a:pt x="148174" y="71446"/>
                </a:lnTo>
                <a:lnTo>
                  <a:pt x="188693" y="46815"/>
                </a:lnTo>
                <a:lnTo>
                  <a:pt x="232689" y="26946"/>
                </a:lnTo>
                <a:lnTo>
                  <a:pt x="279708" y="12248"/>
                </a:lnTo>
                <a:lnTo>
                  <a:pt x="329296" y="3130"/>
                </a:lnTo>
                <a:lnTo>
                  <a:pt x="381000" y="0"/>
                </a:lnTo>
                <a:lnTo>
                  <a:pt x="432703" y="3130"/>
                </a:lnTo>
                <a:lnTo>
                  <a:pt x="482291" y="12248"/>
                </a:lnTo>
                <a:lnTo>
                  <a:pt x="529310" y="26946"/>
                </a:lnTo>
                <a:lnTo>
                  <a:pt x="573306" y="46815"/>
                </a:lnTo>
                <a:lnTo>
                  <a:pt x="613825" y="71446"/>
                </a:lnTo>
                <a:lnTo>
                  <a:pt x="650414" y="100431"/>
                </a:lnTo>
                <a:lnTo>
                  <a:pt x="682619" y="133362"/>
                </a:lnTo>
                <a:lnTo>
                  <a:pt x="709986" y="169830"/>
                </a:lnTo>
                <a:lnTo>
                  <a:pt x="732061" y="209426"/>
                </a:lnTo>
                <a:lnTo>
                  <a:pt x="748391" y="251742"/>
                </a:lnTo>
                <a:lnTo>
                  <a:pt x="758522" y="296369"/>
                </a:lnTo>
                <a:lnTo>
                  <a:pt x="762000" y="342900"/>
                </a:lnTo>
                <a:lnTo>
                  <a:pt x="758522" y="389430"/>
                </a:lnTo>
                <a:lnTo>
                  <a:pt x="748391" y="434057"/>
                </a:lnTo>
                <a:lnTo>
                  <a:pt x="732061" y="476373"/>
                </a:lnTo>
                <a:lnTo>
                  <a:pt x="709986" y="515969"/>
                </a:lnTo>
                <a:lnTo>
                  <a:pt x="682619" y="552437"/>
                </a:lnTo>
                <a:lnTo>
                  <a:pt x="650414" y="585368"/>
                </a:lnTo>
                <a:lnTo>
                  <a:pt x="613825" y="614353"/>
                </a:lnTo>
                <a:lnTo>
                  <a:pt x="573306" y="638984"/>
                </a:lnTo>
                <a:lnTo>
                  <a:pt x="529310" y="658853"/>
                </a:lnTo>
                <a:lnTo>
                  <a:pt x="482291" y="673551"/>
                </a:lnTo>
                <a:lnTo>
                  <a:pt x="432703" y="682669"/>
                </a:lnTo>
                <a:lnTo>
                  <a:pt x="381000" y="685800"/>
                </a:lnTo>
                <a:lnTo>
                  <a:pt x="329296" y="682669"/>
                </a:lnTo>
                <a:lnTo>
                  <a:pt x="279708" y="673551"/>
                </a:lnTo>
                <a:lnTo>
                  <a:pt x="232689" y="658853"/>
                </a:lnTo>
                <a:lnTo>
                  <a:pt x="188693" y="638984"/>
                </a:lnTo>
                <a:lnTo>
                  <a:pt x="148174" y="614353"/>
                </a:lnTo>
                <a:lnTo>
                  <a:pt x="111585" y="585368"/>
                </a:lnTo>
                <a:lnTo>
                  <a:pt x="79380" y="552437"/>
                </a:lnTo>
                <a:lnTo>
                  <a:pt x="52013" y="515969"/>
                </a:lnTo>
                <a:lnTo>
                  <a:pt x="29938" y="476373"/>
                </a:lnTo>
                <a:lnTo>
                  <a:pt x="13608" y="434057"/>
                </a:lnTo>
                <a:lnTo>
                  <a:pt x="3477" y="389430"/>
                </a:lnTo>
                <a:lnTo>
                  <a:pt x="0" y="3429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164069" y="5514847"/>
            <a:ext cx="30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3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801361" y="4725161"/>
            <a:ext cx="762000" cy="685800"/>
          </a:xfrm>
          <a:custGeom>
            <a:avLst/>
            <a:gdLst/>
            <a:ahLst/>
            <a:cxnLst/>
            <a:rect l="l" t="t" r="r" b="b"/>
            <a:pathLst>
              <a:path w="762000" h="685800">
                <a:moveTo>
                  <a:pt x="0" y="342900"/>
                </a:moveTo>
                <a:lnTo>
                  <a:pt x="3477" y="296375"/>
                </a:lnTo>
                <a:lnTo>
                  <a:pt x="13608" y="251751"/>
                </a:lnTo>
                <a:lnTo>
                  <a:pt x="29938" y="209436"/>
                </a:lnTo>
                <a:lnTo>
                  <a:pt x="52013" y="169841"/>
                </a:lnTo>
                <a:lnTo>
                  <a:pt x="79380" y="133373"/>
                </a:lnTo>
                <a:lnTo>
                  <a:pt x="111585" y="100441"/>
                </a:lnTo>
                <a:lnTo>
                  <a:pt x="148174" y="71454"/>
                </a:lnTo>
                <a:lnTo>
                  <a:pt x="188693" y="46820"/>
                </a:lnTo>
                <a:lnTo>
                  <a:pt x="232689" y="26949"/>
                </a:lnTo>
                <a:lnTo>
                  <a:pt x="279708" y="12250"/>
                </a:lnTo>
                <a:lnTo>
                  <a:pt x="329296" y="3130"/>
                </a:lnTo>
                <a:lnTo>
                  <a:pt x="381000" y="0"/>
                </a:lnTo>
                <a:lnTo>
                  <a:pt x="432703" y="3130"/>
                </a:lnTo>
                <a:lnTo>
                  <a:pt x="482291" y="12250"/>
                </a:lnTo>
                <a:lnTo>
                  <a:pt x="529310" y="26949"/>
                </a:lnTo>
                <a:lnTo>
                  <a:pt x="573306" y="46820"/>
                </a:lnTo>
                <a:lnTo>
                  <a:pt x="613825" y="71454"/>
                </a:lnTo>
                <a:lnTo>
                  <a:pt x="650414" y="100441"/>
                </a:lnTo>
                <a:lnTo>
                  <a:pt x="682619" y="133373"/>
                </a:lnTo>
                <a:lnTo>
                  <a:pt x="709986" y="169841"/>
                </a:lnTo>
                <a:lnTo>
                  <a:pt x="732061" y="209436"/>
                </a:lnTo>
                <a:lnTo>
                  <a:pt x="748391" y="251751"/>
                </a:lnTo>
                <a:lnTo>
                  <a:pt x="758522" y="296375"/>
                </a:lnTo>
                <a:lnTo>
                  <a:pt x="762000" y="342900"/>
                </a:lnTo>
                <a:lnTo>
                  <a:pt x="758522" y="389424"/>
                </a:lnTo>
                <a:lnTo>
                  <a:pt x="748391" y="434048"/>
                </a:lnTo>
                <a:lnTo>
                  <a:pt x="732061" y="476363"/>
                </a:lnTo>
                <a:lnTo>
                  <a:pt x="709986" y="515958"/>
                </a:lnTo>
                <a:lnTo>
                  <a:pt x="682619" y="552426"/>
                </a:lnTo>
                <a:lnTo>
                  <a:pt x="650414" y="585358"/>
                </a:lnTo>
                <a:lnTo>
                  <a:pt x="613825" y="614345"/>
                </a:lnTo>
                <a:lnTo>
                  <a:pt x="573306" y="638979"/>
                </a:lnTo>
                <a:lnTo>
                  <a:pt x="529310" y="658850"/>
                </a:lnTo>
                <a:lnTo>
                  <a:pt x="482291" y="673549"/>
                </a:lnTo>
                <a:lnTo>
                  <a:pt x="432703" y="682669"/>
                </a:lnTo>
                <a:lnTo>
                  <a:pt x="381000" y="685800"/>
                </a:lnTo>
                <a:lnTo>
                  <a:pt x="329296" y="682669"/>
                </a:lnTo>
                <a:lnTo>
                  <a:pt x="279708" y="673549"/>
                </a:lnTo>
                <a:lnTo>
                  <a:pt x="232689" y="658850"/>
                </a:lnTo>
                <a:lnTo>
                  <a:pt x="188693" y="638979"/>
                </a:lnTo>
                <a:lnTo>
                  <a:pt x="148174" y="614345"/>
                </a:lnTo>
                <a:lnTo>
                  <a:pt x="111585" y="585358"/>
                </a:lnTo>
                <a:lnTo>
                  <a:pt x="79380" y="552426"/>
                </a:lnTo>
                <a:lnTo>
                  <a:pt x="52013" y="515958"/>
                </a:lnTo>
                <a:lnTo>
                  <a:pt x="29938" y="476363"/>
                </a:lnTo>
                <a:lnTo>
                  <a:pt x="13608" y="434048"/>
                </a:lnTo>
                <a:lnTo>
                  <a:pt x="3477" y="389424"/>
                </a:lnTo>
                <a:lnTo>
                  <a:pt x="0" y="3429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30215" y="4676089"/>
            <a:ext cx="304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1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405120" y="3734561"/>
            <a:ext cx="2139950" cy="1078865"/>
          </a:xfrm>
          <a:custGeom>
            <a:avLst/>
            <a:gdLst/>
            <a:ahLst/>
            <a:cxnLst/>
            <a:rect l="l" t="t" r="r" b="b"/>
            <a:pathLst>
              <a:path w="2139950" h="1078864">
                <a:moveTo>
                  <a:pt x="2017801" y="46279"/>
                </a:moveTo>
                <a:lnTo>
                  <a:pt x="0" y="1055243"/>
                </a:lnTo>
                <a:lnTo>
                  <a:pt x="11683" y="1078357"/>
                </a:lnTo>
                <a:lnTo>
                  <a:pt x="2029434" y="69544"/>
                </a:lnTo>
                <a:lnTo>
                  <a:pt x="2017801" y="46279"/>
                </a:lnTo>
                <a:close/>
              </a:path>
              <a:path w="2139950" h="1078864">
                <a:moveTo>
                  <a:pt x="2096431" y="40512"/>
                </a:moveTo>
                <a:lnTo>
                  <a:pt x="2029332" y="40512"/>
                </a:lnTo>
                <a:lnTo>
                  <a:pt x="2041016" y="63754"/>
                </a:lnTo>
                <a:lnTo>
                  <a:pt x="2029434" y="69544"/>
                </a:lnTo>
                <a:lnTo>
                  <a:pt x="2041016" y="92710"/>
                </a:lnTo>
                <a:lnTo>
                  <a:pt x="2096431" y="40512"/>
                </a:lnTo>
                <a:close/>
              </a:path>
              <a:path w="2139950" h="1078864">
                <a:moveTo>
                  <a:pt x="2029332" y="40512"/>
                </a:moveTo>
                <a:lnTo>
                  <a:pt x="2017801" y="46279"/>
                </a:lnTo>
                <a:lnTo>
                  <a:pt x="2029434" y="69544"/>
                </a:lnTo>
                <a:lnTo>
                  <a:pt x="2041016" y="63754"/>
                </a:lnTo>
                <a:lnTo>
                  <a:pt x="2029332" y="40512"/>
                </a:lnTo>
                <a:close/>
              </a:path>
              <a:path w="2139950" h="1078864">
                <a:moveTo>
                  <a:pt x="2139441" y="0"/>
                </a:moveTo>
                <a:lnTo>
                  <a:pt x="2006219" y="23113"/>
                </a:lnTo>
                <a:lnTo>
                  <a:pt x="2017801" y="46279"/>
                </a:lnTo>
                <a:lnTo>
                  <a:pt x="2029332" y="40512"/>
                </a:lnTo>
                <a:lnTo>
                  <a:pt x="2096431" y="40512"/>
                </a:lnTo>
                <a:lnTo>
                  <a:pt x="21394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82082" y="5322823"/>
            <a:ext cx="1452880" cy="621665"/>
          </a:xfrm>
          <a:custGeom>
            <a:avLst/>
            <a:gdLst/>
            <a:ahLst/>
            <a:cxnLst/>
            <a:rect l="l" t="t" r="r" b="b"/>
            <a:pathLst>
              <a:path w="1452879" h="621664">
                <a:moveTo>
                  <a:pt x="1328453" y="583226"/>
                </a:moveTo>
                <a:lnTo>
                  <a:pt x="1318387" y="607085"/>
                </a:lnTo>
                <a:lnTo>
                  <a:pt x="1452879" y="621538"/>
                </a:lnTo>
                <a:lnTo>
                  <a:pt x="1412551" y="588238"/>
                </a:lnTo>
                <a:lnTo>
                  <a:pt x="1340358" y="588238"/>
                </a:lnTo>
                <a:lnTo>
                  <a:pt x="1328453" y="583226"/>
                </a:lnTo>
                <a:close/>
              </a:path>
              <a:path w="1452879" h="621664">
                <a:moveTo>
                  <a:pt x="1338544" y="559308"/>
                </a:moveTo>
                <a:lnTo>
                  <a:pt x="1328453" y="583226"/>
                </a:lnTo>
                <a:lnTo>
                  <a:pt x="1340358" y="588238"/>
                </a:lnTo>
                <a:lnTo>
                  <a:pt x="1350517" y="564349"/>
                </a:lnTo>
                <a:lnTo>
                  <a:pt x="1338544" y="559308"/>
                </a:lnTo>
                <a:close/>
              </a:path>
              <a:path w="1452879" h="621664">
                <a:moveTo>
                  <a:pt x="1348613" y="535444"/>
                </a:moveTo>
                <a:lnTo>
                  <a:pt x="1338544" y="559308"/>
                </a:lnTo>
                <a:lnTo>
                  <a:pt x="1350517" y="564349"/>
                </a:lnTo>
                <a:lnTo>
                  <a:pt x="1340358" y="588238"/>
                </a:lnTo>
                <a:lnTo>
                  <a:pt x="1412551" y="588238"/>
                </a:lnTo>
                <a:lnTo>
                  <a:pt x="1348613" y="535444"/>
                </a:lnTo>
                <a:close/>
              </a:path>
              <a:path w="1452879" h="621664">
                <a:moveTo>
                  <a:pt x="10159" y="0"/>
                </a:moveTo>
                <a:lnTo>
                  <a:pt x="0" y="23875"/>
                </a:lnTo>
                <a:lnTo>
                  <a:pt x="1328453" y="583226"/>
                </a:lnTo>
                <a:lnTo>
                  <a:pt x="1338544" y="559308"/>
                </a:lnTo>
                <a:lnTo>
                  <a:pt x="101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531861" y="3810761"/>
            <a:ext cx="405765" cy="1831975"/>
          </a:xfrm>
          <a:custGeom>
            <a:avLst/>
            <a:gdLst/>
            <a:ahLst/>
            <a:cxnLst/>
            <a:rect l="l" t="t" r="r" b="b"/>
            <a:pathLst>
              <a:path w="405765" h="1831975">
                <a:moveTo>
                  <a:pt x="5334" y="1800796"/>
                </a:moveTo>
                <a:lnTo>
                  <a:pt x="0" y="1826158"/>
                </a:lnTo>
                <a:lnTo>
                  <a:pt x="25400" y="1831441"/>
                </a:lnTo>
                <a:lnTo>
                  <a:pt x="30607" y="1806079"/>
                </a:lnTo>
                <a:lnTo>
                  <a:pt x="5334" y="1800796"/>
                </a:lnTo>
                <a:close/>
              </a:path>
              <a:path w="405765" h="1831975">
                <a:moveTo>
                  <a:pt x="15875" y="1750060"/>
                </a:moveTo>
                <a:lnTo>
                  <a:pt x="10541" y="1775460"/>
                </a:lnTo>
                <a:lnTo>
                  <a:pt x="35941" y="1780717"/>
                </a:lnTo>
                <a:lnTo>
                  <a:pt x="41275" y="1755394"/>
                </a:lnTo>
                <a:lnTo>
                  <a:pt x="15875" y="1750060"/>
                </a:lnTo>
                <a:close/>
              </a:path>
              <a:path w="405765" h="1831975">
                <a:moveTo>
                  <a:pt x="26416" y="1699387"/>
                </a:moveTo>
                <a:lnTo>
                  <a:pt x="21209" y="1724660"/>
                </a:lnTo>
                <a:lnTo>
                  <a:pt x="46482" y="1729994"/>
                </a:lnTo>
                <a:lnTo>
                  <a:pt x="51816" y="1704594"/>
                </a:lnTo>
                <a:lnTo>
                  <a:pt x="26416" y="1699387"/>
                </a:lnTo>
                <a:close/>
              </a:path>
              <a:path w="405765" h="1831975">
                <a:moveTo>
                  <a:pt x="36957" y="1648587"/>
                </a:moveTo>
                <a:lnTo>
                  <a:pt x="31750" y="1673987"/>
                </a:lnTo>
                <a:lnTo>
                  <a:pt x="57023" y="1679321"/>
                </a:lnTo>
                <a:lnTo>
                  <a:pt x="62357" y="1653921"/>
                </a:lnTo>
                <a:lnTo>
                  <a:pt x="36957" y="1648587"/>
                </a:lnTo>
                <a:close/>
              </a:path>
              <a:path w="405765" h="1831975">
                <a:moveTo>
                  <a:pt x="47625" y="1597914"/>
                </a:moveTo>
                <a:lnTo>
                  <a:pt x="42291" y="1623314"/>
                </a:lnTo>
                <a:lnTo>
                  <a:pt x="67691" y="1628521"/>
                </a:lnTo>
                <a:lnTo>
                  <a:pt x="72898" y="1603121"/>
                </a:lnTo>
                <a:lnTo>
                  <a:pt x="47625" y="1597914"/>
                </a:lnTo>
                <a:close/>
              </a:path>
              <a:path w="405765" h="1831975">
                <a:moveTo>
                  <a:pt x="58166" y="1547114"/>
                </a:moveTo>
                <a:lnTo>
                  <a:pt x="52832" y="1572514"/>
                </a:lnTo>
                <a:lnTo>
                  <a:pt x="78232" y="1577848"/>
                </a:lnTo>
                <a:lnTo>
                  <a:pt x="83566" y="1552448"/>
                </a:lnTo>
                <a:lnTo>
                  <a:pt x="58166" y="1547114"/>
                </a:lnTo>
                <a:close/>
              </a:path>
              <a:path w="405765" h="1831975">
                <a:moveTo>
                  <a:pt x="68707" y="1496441"/>
                </a:moveTo>
                <a:lnTo>
                  <a:pt x="63373" y="1521841"/>
                </a:lnTo>
                <a:lnTo>
                  <a:pt x="88773" y="1527048"/>
                </a:lnTo>
                <a:lnTo>
                  <a:pt x="94107" y="1501775"/>
                </a:lnTo>
                <a:lnTo>
                  <a:pt x="68707" y="1496441"/>
                </a:lnTo>
                <a:close/>
              </a:path>
              <a:path w="405765" h="1831975">
                <a:moveTo>
                  <a:pt x="79248" y="1445768"/>
                </a:moveTo>
                <a:lnTo>
                  <a:pt x="74041" y="1471041"/>
                </a:lnTo>
                <a:lnTo>
                  <a:pt x="99314" y="1476375"/>
                </a:lnTo>
                <a:lnTo>
                  <a:pt x="104648" y="1450975"/>
                </a:lnTo>
                <a:lnTo>
                  <a:pt x="79248" y="1445768"/>
                </a:lnTo>
                <a:close/>
              </a:path>
              <a:path w="405765" h="1831975">
                <a:moveTo>
                  <a:pt x="89789" y="1394968"/>
                </a:moveTo>
                <a:lnTo>
                  <a:pt x="84582" y="1420368"/>
                </a:lnTo>
                <a:lnTo>
                  <a:pt x="109982" y="1425575"/>
                </a:lnTo>
                <a:lnTo>
                  <a:pt x="115189" y="1400302"/>
                </a:lnTo>
                <a:lnTo>
                  <a:pt x="89789" y="1394968"/>
                </a:lnTo>
                <a:close/>
              </a:path>
              <a:path w="405765" h="1831975">
                <a:moveTo>
                  <a:pt x="100457" y="1344295"/>
                </a:moveTo>
                <a:lnTo>
                  <a:pt x="95123" y="1369568"/>
                </a:lnTo>
                <a:lnTo>
                  <a:pt x="120523" y="1374902"/>
                </a:lnTo>
                <a:lnTo>
                  <a:pt x="125730" y="1349502"/>
                </a:lnTo>
                <a:lnTo>
                  <a:pt x="100457" y="1344295"/>
                </a:lnTo>
                <a:close/>
              </a:path>
              <a:path w="405765" h="1831975">
                <a:moveTo>
                  <a:pt x="110998" y="1293495"/>
                </a:moveTo>
                <a:lnTo>
                  <a:pt x="105664" y="1318895"/>
                </a:lnTo>
                <a:lnTo>
                  <a:pt x="131064" y="1324229"/>
                </a:lnTo>
                <a:lnTo>
                  <a:pt x="136398" y="1298829"/>
                </a:lnTo>
                <a:lnTo>
                  <a:pt x="110998" y="1293495"/>
                </a:lnTo>
                <a:close/>
              </a:path>
              <a:path w="405765" h="1831975">
                <a:moveTo>
                  <a:pt x="121539" y="1242821"/>
                </a:moveTo>
                <a:lnTo>
                  <a:pt x="116205" y="1268221"/>
                </a:lnTo>
                <a:lnTo>
                  <a:pt x="141605" y="1273429"/>
                </a:lnTo>
                <a:lnTo>
                  <a:pt x="146939" y="1248029"/>
                </a:lnTo>
                <a:lnTo>
                  <a:pt x="121539" y="1242821"/>
                </a:lnTo>
                <a:close/>
              </a:path>
              <a:path w="405765" h="1831975">
                <a:moveTo>
                  <a:pt x="132080" y="1192021"/>
                </a:moveTo>
                <a:lnTo>
                  <a:pt x="126873" y="1217421"/>
                </a:lnTo>
                <a:lnTo>
                  <a:pt x="152146" y="1222756"/>
                </a:lnTo>
                <a:lnTo>
                  <a:pt x="157480" y="1197356"/>
                </a:lnTo>
                <a:lnTo>
                  <a:pt x="132080" y="1192021"/>
                </a:lnTo>
                <a:close/>
              </a:path>
              <a:path w="405765" h="1831975">
                <a:moveTo>
                  <a:pt x="142621" y="1141349"/>
                </a:moveTo>
                <a:lnTo>
                  <a:pt x="137414" y="1166749"/>
                </a:lnTo>
                <a:lnTo>
                  <a:pt x="162814" y="1171956"/>
                </a:lnTo>
                <a:lnTo>
                  <a:pt x="168021" y="1146683"/>
                </a:lnTo>
                <a:lnTo>
                  <a:pt x="142621" y="1141349"/>
                </a:lnTo>
                <a:close/>
              </a:path>
              <a:path w="405765" h="1831975">
                <a:moveTo>
                  <a:pt x="153289" y="1090676"/>
                </a:moveTo>
                <a:lnTo>
                  <a:pt x="147955" y="1115949"/>
                </a:lnTo>
                <a:lnTo>
                  <a:pt x="173355" y="1121283"/>
                </a:lnTo>
                <a:lnTo>
                  <a:pt x="178562" y="1095883"/>
                </a:lnTo>
                <a:lnTo>
                  <a:pt x="153289" y="1090676"/>
                </a:lnTo>
                <a:close/>
              </a:path>
              <a:path w="405765" h="1831975">
                <a:moveTo>
                  <a:pt x="163830" y="1039876"/>
                </a:moveTo>
                <a:lnTo>
                  <a:pt x="158496" y="1065276"/>
                </a:lnTo>
                <a:lnTo>
                  <a:pt x="183896" y="1070483"/>
                </a:lnTo>
                <a:lnTo>
                  <a:pt x="189230" y="1045210"/>
                </a:lnTo>
                <a:lnTo>
                  <a:pt x="163830" y="1039876"/>
                </a:lnTo>
                <a:close/>
              </a:path>
              <a:path w="405765" h="1831975">
                <a:moveTo>
                  <a:pt x="174371" y="989202"/>
                </a:moveTo>
                <a:lnTo>
                  <a:pt x="169164" y="1014476"/>
                </a:lnTo>
                <a:lnTo>
                  <a:pt x="194437" y="1019810"/>
                </a:lnTo>
                <a:lnTo>
                  <a:pt x="199771" y="994410"/>
                </a:lnTo>
                <a:lnTo>
                  <a:pt x="174371" y="989202"/>
                </a:lnTo>
                <a:close/>
              </a:path>
              <a:path w="405765" h="1831975">
                <a:moveTo>
                  <a:pt x="184912" y="938402"/>
                </a:moveTo>
                <a:lnTo>
                  <a:pt x="179705" y="963802"/>
                </a:lnTo>
                <a:lnTo>
                  <a:pt x="204978" y="969137"/>
                </a:lnTo>
                <a:lnTo>
                  <a:pt x="210312" y="943737"/>
                </a:lnTo>
                <a:lnTo>
                  <a:pt x="184912" y="938402"/>
                </a:lnTo>
                <a:close/>
              </a:path>
              <a:path w="405765" h="1831975">
                <a:moveTo>
                  <a:pt x="195580" y="887730"/>
                </a:moveTo>
                <a:lnTo>
                  <a:pt x="190246" y="913130"/>
                </a:lnTo>
                <a:lnTo>
                  <a:pt x="215646" y="918337"/>
                </a:lnTo>
                <a:lnTo>
                  <a:pt x="220853" y="892937"/>
                </a:lnTo>
                <a:lnTo>
                  <a:pt x="195580" y="887730"/>
                </a:lnTo>
                <a:close/>
              </a:path>
              <a:path w="405765" h="1831975">
                <a:moveTo>
                  <a:pt x="206121" y="836930"/>
                </a:moveTo>
                <a:lnTo>
                  <a:pt x="200787" y="862330"/>
                </a:lnTo>
                <a:lnTo>
                  <a:pt x="226187" y="867663"/>
                </a:lnTo>
                <a:lnTo>
                  <a:pt x="231394" y="842263"/>
                </a:lnTo>
                <a:lnTo>
                  <a:pt x="206121" y="836930"/>
                </a:lnTo>
                <a:close/>
              </a:path>
              <a:path w="405765" h="1831975">
                <a:moveTo>
                  <a:pt x="216662" y="786257"/>
                </a:moveTo>
                <a:lnTo>
                  <a:pt x="211328" y="811657"/>
                </a:lnTo>
                <a:lnTo>
                  <a:pt x="236728" y="816863"/>
                </a:lnTo>
                <a:lnTo>
                  <a:pt x="242062" y="791590"/>
                </a:lnTo>
                <a:lnTo>
                  <a:pt x="216662" y="786257"/>
                </a:lnTo>
                <a:close/>
              </a:path>
              <a:path w="405765" h="1831975">
                <a:moveTo>
                  <a:pt x="227203" y="735583"/>
                </a:moveTo>
                <a:lnTo>
                  <a:pt x="221996" y="760857"/>
                </a:lnTo>
                <a:lnTo>
                  <a:pt x="247269" y="766190"/>
                </a:lnTo>
                <a:lnTo>
                  <a:pt x="252603" y="740790"/>
                </a:lnTo>
                <a:lnTo>
                  <a:pt x="227203" y="735583"/>
                </a:lnTo>
                <a:close/>
              </a:path>
              <a:path w="405765" h="1831975">
                <a:moveTo>
                  <a:pt x="237744" y="684783"/>
                </a:moveTo>
                <a:lnTo>
                  <a:pt x="232537" y="710183"/>
                </a:lnTo>
                <a:lnTo>
                  <a:pt x="257937" y="715390"/>
                </a:lnTo>
                <a:lnTo>
                  <a:pt x="263144" y="690118"/>
                </a:lnTo>
                <a:lnTo>
                  <a:pt x="237744" y="684783"/>
                </a:lnTo>
                <a:close/>
              </a:path>
              <a:path w="405765" h="1831975">
                <a:moveTo>
                  <a:pt x="248412" y="634111"/>
                </a:moveTo>
                <a:lnTo>
                  <a:pt x="243078" y="659383"/>
                </a:lnTo>
                <a:lnTo>
                  <a:pt x="268478" y="664718"/>
                </a:lnTo>
                <a:lnTo>
                  <a:pt x="273685" y="639318"/>
                </a:lnTo>
                <a:lnTo>
                  <a:pt x="248412" y="634111"/>
                </a:lnTo>
                <a:close/>
              </a:path>
              <a:path w="405765" h="1831975">
                <a:moveTo>
                  <a:pt x="258953" y="583311"/>
                </a:moveTo>
                <a:lnTo>
                  <a:pt x="253619" y="608711"/>
                </a:lnTo>
                <a:lnTo>
                  <a:pt x="279019" y="614044"/>
                </a:lnTo>
                <a:lnTo>
                  <a:pt x="284353" y="588644"/>
                </a:lnTo>
                <a:lnTo>
                  <a:pt x="258953" y="583311"/>
                </a:lnTo>
                <a:close/>
              </a:path>
              <a:path w="405765" h="1831975">
                <a:moveTo>
                  <a:pt x="269494" y="532638"/>
                </a:moveTo>
                <a:lnTo>
                  <a:pt x="264160" y="558038"/>
                </a:lnTo>
                <a:lnTo>
                  <a:pt x="289560" y="563244"/>
                </a:lnTo>
                <a:lnTo>
                  <a:pt x="294894" y="537971"/>
                </a:lnTo>
                <a:lnTo>
                  <a:pt x="269494" y="532638"/>
                </a:lnTo>
                <a:close/>
              </a:path>
              <a:path w="405765" h="1831975">
                <a:moveTo>
                  <a:pt x="280035" y="481838"/>
                </a:moveTo>
                <a:lnTo>
                  <a:pt x="274828" y="507238"/>
                </a:lnTo>
                <a:lnTo>
                  <a:pt x="300101" y="512571"/>
                </a:lnTo>
                <a:lnTo>
                  <a:pt x="305435" y="487171"/>
                </a:lnTo>
                <a:lnTo>
                  <a:pt x="280035" y="481838"/>
                </a:lnTo>
                <a:close/>
              </a:path>
              <a:path w="405765" h="1831975">
                <a:moveTo>
                  <a:pt x="290576" y="431164"/>
                </a:moveTo>
                <a:lnTo>
                  <a:pt x="285369" y="456564"/>
                </a:lnTo>
                <a:lnTo>
                  <a:pt x="310769" y="461771"/>
                </a:lnTo>
                <a:lnTo>
                  <a:pt x="315976" y="436499"/>
                </a:lnTo>
                <a:lnTo>
                  <a:pt x="290576" y="431164"/>
                </a:lnTo>
                <a:close/>
              </a:path>
              <a:path w="405765" h="1831975">
                <a:moveTo>
                  <a:pt x="301244" y="380492"/>
                </a:moveTo>
                <a:lnTo>
                  <a:pt x="295910" y="405764"/>
                </a:lnTo>
                <a:lnTo>
                  <a:pt x="321310" y="411099"/>
                </a:lnTo>
                <a:lnTo>
                  <a:pt x="326517" y="385699"/>
                </a:lnTo>
                <a:lnTo>
                  <a:pt x="301244" y="380492"/>
                </a:lnTo>
                <a:close/>
              </a:path>
              <a:path w="405765" h="1831975">
                <a:moveTo>
                  <a:pt x="311785" y="329692"/>
                </a:moveTo>
                <a:lnTo>
                  <a:pt x="306451" y="355092"/>
                </a:lnTo>
                <a:lnTo>
                  <a:pt x="331851" y="360425"/>
                </a:lnTo>
                <a:lnTo>
                  <a:pt x="337185" y="335025"/>
                </a:lnTo>
                <a:lnTo>
                  <a:pt x="311785" y="329692"/>
                </a:lnTo>
                <a:close/>
              </a:path>
              <a:path w="405765" h="1831975">
                <a:moveTo>
                  <a:pt x="322326" y="279019"/>
                </a:moveTo>
                <a:lnTo>
                  <a:pt x="317119" y="304292"/>
                </a:lnTo>
                <a:lnTo>
                  <a:pt x="342392" y="309625"/>
                </a:lnTo>
                <a:lnTo>
                  <a:pt x="347726" y="284225"/>
                </a:lnTo>
                <a:lnTo>
                  <a:pt x="322326" y="279019"/>
                </a:lnTo>
                <a:close/>
              </a:path>
              <a:path w="405765" h="1831975">
                <a:moveTo>
                  <a:pt x="332867" y="228219"/>
                </a:moveTo>
                <a:lnTo>
                  <a:pt x="327660" y="253619"/>
                </a:lnTo>
                <a:lnTo>
                  <a:pt x="352933" y="258952"/>
                </a:lnTo>
                <a:lnTo>
                  <a:pt x="358267" y="233552"/>
                </a:lnTo>
                <a:lnTo>
                  <a:pt x="332867" y="228219"/>
                </a:lnTo>
                <a:close/>
              </a:path>
              <a:path w="405765" h="1831975">
                <a:moveTo>
                  <a:pt x="343535" y="177545"/>
                </a:moveTo>
                <a:lnTo>
                  <a:pt x="338201" y="202945"/>
                </a:lnTo>
                <a:lnTo>
                  <a:pt x="363601" y="208152"/>
                </a:lnTo>
                <a:lnTo>
                  <a:pt x="368808" y="182880"/>
                </a:lnTo>
                <a:lnTo>
                  <a:pt x="343535" y="177545"/>
                </a:lnTo>
                <a:close/>
              </a:path>
              <a:path w="405765" h="1831975">
                <a:moveTo>
                  <a:pt x="354076" y="126745"/>
                </a:moveTo>
                <a:lnTo>
                  <a:pt x="348742" y="152145"/>
                </a:lnTo>
                <a:lnTo>
                  <a:pt x="374142" y="157480"/>
                </a:lnTo>
                <a:lnTo>
                  <a:pt x="379349" y="132080"/>
                </a:lnTo>
                <a:lnTo>
                  <a:pt x="354076" y="126745"/>
                </a:lnTo>
                <a:close/>
              </a:path>
              <a:path w="405765" h="1831975">
                <a:moveTo>
                  <a:pt x="393700" y="0"/>
                </a:moveTo>
                <a:lnTo>
                  <a:pt x="329184" y="118871"/>
                </a:lnTo>
                <a:lnTo>
                  <a:pt x="405384" y="134746"/>
                </a:lnTo>
                <a:lnTo>
                  <a:pt x="3937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772403" y="3835984"/>
            <a:ext cx="1924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A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72403" y="5818123"/>
            <a:ext cx="1924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Narrow"/>
                <a:cs typeface="Arial Narrow"/>
              </a:rPr>
              <a:t>B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6491" y="277113"/>
            <a:ext cx="29794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甘特图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dirty="0">
                <a:latin typeface="华文隶书"/>
                <a:cs typeface="华文隶书"/>
              </a:rPr>
              <a:t>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7532" y="1844039"/>
            <a:ext cx="6912864" cy="436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1114" y="232663"/>
            <a:ext cx="2823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里程碑图示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8961" y="6307023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5201" y="1545336"/>
            <a:ext cx="8448040" cy="4735195"/>
          </a:xfrm>
          <a:custGeom>
            <a:avLst/>
            <a:gdLst/>
            <a:ahLst/>
            <a:cxnLst/>
            <a:rect l="l" t="t" r="r" b="b"/>
            <a:pathLst>
              <a:path w="8448040" h="4735195">
                <a:moveTo>
                  <a:pt x="8229619" y="78117"/>
                </a:moveTo>
                <a:lnTo>
                  <a:pt x="0" y="4668266"/>
                </a:lnTo>
                <a:lnTo>
                  <a:pt x="37109" y="4734814"/>
                </a:lnTo>
                <a:lnTo>
                  <a:pt x="8266703" y="144665"/>
                </a:lnTo>
                <a:lnTo>
                  <a:pt x="8229619" y="78117"/>
                </a:lnTo>
                <a:close/>
              </a:path>
              <a:path w="8448040" h="4735195">
                <a:moveTo>
                  <a:pt x="8407182" y="59562"/>
                </a:moveTo>
                <a:lnTo>
                  <a:pt x="8262886" y="59562"/>
                </a:lnTo>
                <a:lnTo>
                  <a:pt x="8299970" y="126111"/>
                </a:lnTo>
                <a:lnTo>
                  <a:pt x="8266703" y="144665"/>
                </a:lnTo>
                <a:lnTo>
                  <a:pt x="8303780" y="211200"/>
                </a:lnTo>
                <a:lnTo>
                  <a:pt x="8407182" y="59562"/>
                </a:lnTo>
                <a:close/>
              </a:path>
              <a:path w="8448040" h="4735195">
                <a:moveTo>
                  <a:pt x="8262886" y="59562"/>
                </a:moveTo>
                <a:lnTo>
                  <a:pt x="8229619" y="78117"/>
                </a:lnTo>
                <a:lnTo>
                  <a:pt x="8266703" y="144665"/>
                </a:lnTo>
                <a:lnTo>
                  <a:pt x="8299970" y="126111"/>
                </a:lnTo>
                <a:lnTo>
                  <a:pt x="8262886" y="59562"/>
                </a:lnTo>
                <a:close/>
              </a:path>
              <a:path w="8448040" h="4735195">
                <a:moveTo>
                  <a:pt x="8447798" y="0"/>
                </a:moveTo>
                <a:lnTo>
                  <a:pt x="8192528" y="11556"/>
                </a:lnTo>
                <a:lnTo>
                  <a:pt x="8229619" y="78117"/>
                </a:lnTo>
                <a:lnTo>
                  <a:pt x="8262886" y="59562"/>
                </a:lnTo>
                <a:lnTo>
                  <a:pt x="8407182" y="59562"/>
                </a:lnTo>
                <a:lnTo>
                  <a:pt x="8447798" y="0"/>
                </a:lnTo>
                <a:close/>
              </a:path>
            </a:pathLst>
          </a:custGeom>
          <a:solidFill>
            <a:srgbClr val="4000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80922" y="5593841"/>
            <a:ext cx="189230" cy="207645"/>
          </a:xfrm>
          <a:custGeom>
            <a:avLst/>
            <a:gdLst/>
            <a:ahLst/>
            <a:cxnLst/>
            <a:rect l="l" t="t" r="r" b="b"/>
            <a:pathLst>
              <a:path w="189230" h="207645">
                <a:moveTo>
                  <a:pt x="0" y="207263"/>
                </a:moveTo>
                <a:lnTo>
                  <a:pt x="188975" y="207263"/>
                </a:lnTo>
                <a:lnTo>
                  <a:pt x="188975" y="0"/>
                </a:lnTo>
                <a:lnTo>
                  <a:pt x="0" y="0"/>
                </a:lnTo>
                <a:lnTo>
                  <a:pt x="0" y="2072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80922" y="5593841"/>
            <a:ext cx="189230" cy="207645"/>
          </a:xfrm>
          <a:custGeom>
            <a:avLst/>
            <a:gdLst/>
            <a:ahLst/>
            <a:cxnLst/>
            <a:rect l="l" t="t" r="r" b="b"/>
            <a:pathLst>
              <a:path w="189230" h="207645">
                <a:moveTo>
                  <a:pt x="0" y="207263"/>
                </a:moveTo>
                <a:lnTo>
                  <a:pt x="188975" y="207263"/>
                </a:lnTo>
                <a:lnTo>
                  <a:pt x="188975" y="0"/>
                </a:lnTo>
                <a:lnTo>
                  <a:pt x="0" y="0"/>
                </a:lnTo>
                <a:lnTo>
                  <a:pt x="0" y="207263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63396" y="5748528"/>
            <a:ext cx="187452" cy="320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64158" y="5569458"/>
            <a:ext cx="187960" cy="212090"/>
          </a:xfrm>
          <a:custGeom>
            <a:avLst/>
            <a:gdLst/>
            <a:ahLst/>
            <a:cxnLst/>
            <a:rect l="l" t="t" r="r" b="b"/>
            <a:pathLst>
              <a:path w="187959" h="212089">
                <a:moveTo>
                  <a:pt x="187451" y="0"/>
                </a:moveTo>
                <a:lnTo>
                  <a:pt x="0" y="0"/>
                </a:lnTo>
                <a:lnTo>
                  <a:pt x="0" y="211835"/>
                </a:lnTo>
                <a:lnTo>
                  <a:pt x="187451" y="0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64158" y="5569458"/>
            <a:ext cx="187960" cy="212090"/>
          </a:xfrm>
          <a:custGeom>
            <a:avLst/>
            <a:gdLst/>
            <a:ahLst/>
            <a:cxnLst/>
            <a:rect l="l" t="t" r="r" b="b"/>
            <a:pathLst>
              <a:path w="187959" h="212089">
                <a:moveTo>
                  <a:pt x="187451" y="0"/>
                </a:moveTo>
                <a:lnTo>
                  <a:pt x="0" y="0"/>
                </a:lnTo>
                <a:lnTo>
                  <a:pt x="0" y="211835"/>
                </a:lnTo>
                <a:lnTo>
                  <a:pt x="187451" y="0"/>
                </a:lnTo>
                <a:close/>
              </a:path>
            </a:pathLst>
          </a:custGeom>
          <a:ln w="25908">
            <a:solidFill>
              <a:srgbClr val="4000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86255" y="5596128"/>
            <a:ext cx="142240" cy="157480"/>
          </a:xfrm>
          <a:custGeom>
            <a:avLst/>
            <a:gdLst/>
            <a:ahLst/>
            <a:cxnLst/>
            <a:rect l="l" t="t" r="r" b="b"/>
            <a:pathLst>
              <a:path w="142240" h="157479">
                <a:moveTo>
                  <a:pt x="0" y="156972"/>
                </a:moveTo>
                <a:lnTo>
                  <a:pt x="141731" y="156972"/>
                </a:lnTo>
                <a:lnTo>
                  <a:pt x="141731" y="0"/>
                </a:lnTo>
                <a:lnTo>
                  <a:pt x="0" y="0"/>
                </a:lnTo>
                <a:lnTo>
                  <a:pt x="0" y="156972"/>
                </a:lnTo>
                <a:close/>
              </a:path>
            </a:pathLst>
          </a:custGeom>
          <a:solidFill>
            <a:srgbClr val="38A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64919" y="5568696"/>
            <a:ext cx="19812" cy="2087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287017" y="5595365"/>
            <a:ext cx="140335" cy="157480"/>
          </a:xfrm>
          <a:custGeom>
            <a:avLst/>
            <a:gdLst/>
            <a:ahLst/>
            <a:cxnLst/>
            <a:rect l="l" t="t" r="r" b="b"/>
            <a:pathLst>
              <a:path w="140334" h="157479">
                <a:moveTo>
                  <a:pt x="0" y="156972"/>
                </a:moveTo>
                <a:lnTo>
                  <a:pt x="0" y="0"/>
                </a:lnTo>
                <a:lnTo>
                  <a:pt x="140207" y="0"/>
                </a:lnTo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61872" y="5777484"/>
            <a:ext cx="189230" cy="0"/>
          </a:xfrm>
          <a:custGeom>
            <a:avLst/>
            <a:gdLst/>
            <a:ahLst/>
            <a:cxnLst/>
            <a:rect l="l" t="t" r="r" b="b"/>
            <a:pathLst>
              <a:path w="189230">
                <a:moveTo>
                  <a:pt x="0" y="0"/>
                </a:moveTo>
                <a:lnTo>
                  <a:pt x="188975" y="0"/>
                </a:lnTo>
              </a:path>
            </a:pathLst>
          </a:custGeom>
          <a:ln w="9143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426463" y="5567171"/>
            <a:ext cx="24765" cy="213360"/>
          </a:xfrm>
          <a:custGeom>
            <a:avLst/>
            <a:gdLst/>
            <a:ahLst/>
            <a:cxnLst/>
            <a:rect l="l" t="t" r="r" b="b"/>
            <a:pathLst>
              <a:path w="24765" h="213360">
                <a:moveTo>
                  <a:pt x="24384" y="0"/>
                </a:moveTo>
                <a:lnTo>
                  <a:pt x="0" y="28663"/>
                </a:lnTo>
                <a:lnTo>
                  <a:pt x="0" y="186296"/>
                </a:lnTo>
                <a:lnTo>
                  <a:pt x="24384" y="213359"/>
                </a:lnTo>
                <a:lnTo>
                  <a:pt x="2438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287017" y="5739384"/>
            <a:ext cx="140335" cy="26034"/>
          </a:xfrm>
          <a:custGeom>
            <a:avLst/>
            <a:gdLst/>
            <a:ahLst/>
            <a:cxnLst/>
            <a:rect l="l" t="t" r="r" b="b"/>
            <a:pathLst>
              <a:path w="140334" h="26035">
                <a:moveTo>
                  <a:pt x="0" y="25907"/>
                </a:moveTo>
                <a:lnTo>
                  <a:pt x="140207" y="25907"/>
                </a:lnTo>
                <a:lnTo>
                  <a:pt x="140207" y="0"/>
                </a:lnTo>
                <a:lnTo>
                  <a:pt x="0" y="0"/>
                </a:lnTo>
                <a:lnTo>
                  <a:pt x="0" y="25907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25702" y="5593079"/>
            <a:ext cx="0" cy="160020"/>
          </a:xfrm>
          <a:custGeom>
            <a:avLst/>
            <a:gdLst/>
            <a:ahLst/>
            <a:cxnLst/>
            <a:rect l="l" t="t" r="r" b="b"/>
            <a:pathLst>
              <a:path h="160020">
                <a:moveTo>
                  <a:pt x="0" y="0"/>
                </a:moveTo>
                <a:lnTo>
                  <a:pt x="0" y="160020"/>
                </a:lnTo>
              </a:path>
            </a:pathLst>
          </a:custGeom>
          <a:ln w="3175">
            <a:solidFill>
              <a:srgbClr val="00D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27988" y="5570220"/>
            <a:ext cx="21590" cy="47625"/>
          </a:xfrm>
          <a:custGeom>
            <a:avLst/>
            <a:gdLst/>
            <a:ahLst/>
            <a:cxnLst/>
            <a:rect l="l" t="t" r="r" b="b"/>
            <a:pathLst>
              <a:path w="21590" h="47625">
                <a:moveTo>
                  <a:pt x="21336" y="18897"/>
                </a:moveTo>
                <a:lnTo>
                  <a:pt x="16002" y="18897"/>
                </a:lnTo>
                <a:lnTo>
                  <a:pt x="17371" y="23991"/>
                </a:lnTo>
                <a:lnTo>
                  <a:pt x="19145" y="33661"/>
                </a:lnTo>
                <a:lnTo>
                  <a:pt x="20681" y="43036"/>
                </a:lnTo>
                <a:lnTo>
                  <a:pt x="21336" y="47243"/>
                </a:lnTo>
                <a:lnTo>
                  <a:pt x="21336" y="18897"/>
                </a:lnTo>
                <a:close/>
              </a:path>
              <a:path w="21590" h="47625">
                <a:moveTo>
                  <a:pt x="21336" y="0"/>
                </a:moveTo>
                <a:lnTo>
                  <a:pt x="0" y="25196"/>
                </a:lnTo>
                <a:lnTo>
                  <a:pt x="0" y="42519"/>
                </a:lnTo>
                <a:lnTo>
                  <a:pt x="5089" y="29963"/>
                </a:lnTo>
                <a:lnTo>
                  <a:pt x="9953" y="22421"/>
                </a:lnTo>
                <a:lnTo>
                  <a:pt x="13841" y="19023"/>
                </a:lnTo>
                <a:lnTo>
                  <a:pt x="16002" y="18897"/>
                </a:lnTo>
                <a:lnTo>
                  <a:pt x="21336" y="18897"/>
                </a:lnTo>
                <a:lnTo>
                  <a:pt x="21336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27988" y="5702808"/>
            <a:ext cx="21590" cy="70485"/>
          </a:xfrm>
          <a:custGeom>
            <a:avLst/>
            <a:gdLst/>
            <a:ahLst/>
            <a:cxnLst/>
            <a:rect l="l" t="t" r="r" b="b"/>
            <a:pathLst>
              <a:path w="21590" h="70485">
                <a:moveTo>
                  <a:pt x="1270" y="32715"/>
                </a:moveTo>
                <a:lnTo>
                  <a:pt x="0" y="48298"/>
                </a:lnTo>
                <a:lnTo>
                  <a:pt x="21336" y="70103"/>
                </a:lnTo>
                <a:lnTo>
                  <a:pt x="21336" y="56083"/>
                </a:lnTo>
                <a:lnTo>
                  <a:pt x="13334" y="56083"/>
                </a:lnTo>
                <a:lnTo>
                  <a:pt x="6603" y="51409"/>
                </a:lnTo>
                <a:lnTo>
                  <a:pt x="6603" y="45173"/>
                </a:lnTo>
                <a:lnTo>
                  <a:pt x="1270" y="32715"/>
                </a:lnTo>
                <a:close/>
              </a:path>
              <a:path w="21590" h="70485">
                <a:moveTo>
                  <a:pt x="21336" y="0"/>
                </a:moveTo>
                <a:lnTo>
                  <a:pt x="17907" y="38120"/>
                </a:lnTo>
                <a:lnTo>
                  <a:pt x="13334" y="56083"/>
                </a:lnTo>
                <a:lnTo>
                  <a:pt x="21336" y="56083"/>
                </a:lnTo>
                <a:lnTo>
                  <a:pt x="21336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15900" y="5260085"/>
            <a:ext cx="1318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Specification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87169" y="4742179"/>
            <a:ext cx="734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si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g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15644" y="5838240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0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8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/</a:t>
            </a:r>
            <a:r>
              <a:rPr sz="1800" spc="-135" dirty="0">
                <a:solidFill>
                  <a:srgbClr val="400096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95880" y="5287136"/>
            <a:ext cx="5626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400096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1/</a:t>
            </a:r>
            <a:r>
              <a:rPr sz="1800" spc="-140" dirty="0">
                <a:solidFill>
                  <a:srgbClr val="400096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583051" y="3585413"/>
            <a:ext cx="750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90" dirty="0">
                <a:solidFill>
                  <a:srgbClr val="400096"/>
                </a:solidFill>
                <a:latin typeface="Arial"/>
                <a:cs typeface="Arial"/>
              </a:rPr>
              <a:t>T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sti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095625" y="4765624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02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/12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3897" y="4251452"/>
            <a:ext cx="469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5/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95976" y="2324861"/>
            <a:ext cx="945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9F004B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9F004B"/>
                </a:solidFill>
                <a:latin typeface="Arial"/>
                <a:cs typeface="Arial"/>
              </a:rPr>
              <a:t>va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9F004B"/>
                </a:solidFill>
                <a:latin typeface="Arial"/>
                <a:cs typeface="Arial"/>
              </a:rPr>
              <a:t>l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9F004B"/>
                </a:solidFill>
                <a:latin typeface="Arial"/>
                <a:cs typeface="Arial"/>
              </a:rPr>
              <a:t>b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l</a:t>
            </a:r>
            <a:r>
              <a:rPr sz="1800" dirty="0">
                <a:solidFill>
                  <a:srgbClr val="9F004B"/>
                </a:solid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302001" y="4270070"/>
            <a:ext cx="7473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C</a:t>
            </a:r>
            <a:r>
              <a:rPr sz="1800" spc="-15" dirty="0">
                <a:solidFill>
                  <a:srgbClr val="400096"/>
                </a:solidFill>
                <a:latin typeface="Arial"/>
                <a:cs typeface="Arial"/>
              </a:rPr>
              <a:t>o</a:t>
            </a:r>
            <a:r>
              <a:rPr sz="1800" spc="-10" dirty="0">
                <a:solidFill>
                  <a:srgbClr val="400096"/>
                </a:solidFill>
                <a:latin typeface="Arial"/>
                <a:cs typeface="Arial"/>
              </a:rPr>
              <a:t>d</a:t>
            </a:r>
            <a:r>
              <a:rPr sz="1800" spc="-5" dirty="0">
                <a:solidFill>
                  <a:srgbClr val="400096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400096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400096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35904" y="3663822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9F004B"/>
                </a:solidFill>
                <a:latin typeface="Arial"/>
                <a:cs typeface="Arial"/>
              </a:rPr>
              <a:t>9/12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426453" y="3139566"/>
            <a:ext cx="5797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40" dirty="0">
                <a:solidFill>
                  <a:srgbClr val="9F004B"/>
                </a:solidFill>
                <a:latin typeface="Arial"/>
                <a:cs typeface="Arial"/>
              </a:rPr>
              <a:t>1</a:t>
            </a:r>
            <a:r>
              <a:rPr sz="1800" spc="-5" dirty="0">
                <a:solidFill>
                  <a:srgbClr val="9F004B"/>
                </a:solidFill>
                <a:latin typeface="Arial"/>
                <a:cs typeface="Arial"/>
              </a:rPr>
              <a:t>1/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1</a:t>
            </a:r>
            <a:r>
              <a:rPr sz="1800" dirty="0">
                <a:solidFill>
                  <a:srgbClr val="9F004B"/>
                </a:solidFill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55108" y="3474720"/>
            <a:ext cx="228599" cy="2545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173979" y="3429000"/>
            <a:ext cx="81280" cy="274320"/>
          </a:xfrm>
          <a:custGeom>
            <a:avLst/>
            <a:gdLst/>
            <a:ahLst/>
            <a:cxnLst/>
            <a:rect l="l" t="t" r="r" b="b"/>
            <a:pathLst>
              <a:path w="81279" h="274320">
                <a:moveTo>
                  <a:pt x="80772" y="0"/>
                </a:moveTo>
                <a:lnTo>
                  <a:pt x="0" y="34289"/>
                </a:lnTo>
                <a:lnTo>
                  <a:pt x="0" y="238125"/>
                </a:lnTo>
                <a:lnTo>
                  <a:pt x="80772" y="274319"/>
                </a:lnTo>
                <a:lnTo>
                  <a:pt x="80772" y="0"/>
                </a:lnTo>
                <a:close/>
              </a:path>
            </a:pathLst>
          </a:custGeom>
          <a:solidFill>
            <a:srgbClr val="DA00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81778" y="3672078"/>
            <a:ext cx="147955" cy="0"/>
          </a:xfrm>
          <a:custGeom>
            <a:avLst/>
            <a:gdLst/>
            <a:ahLst/>
            <a:cxnLst/>
            <a:rect l="l" t="t" r="r" b="b"/>
            <a:pathLst>
              <a:path w="147954">
                <a:moveTo>
                  <a:pt x="0" y="0"/>
                </a:moveTo>
                <a:lnTo>
                  <a:pt x="147827" y="0"/>
                </a:lnTo>
              </a:path>
            </a:pathLst>
          </a:custGeom>
          <a:ln w="25908">
            <a:solidFill>
              <a:srgbClr val="BB00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471161" y="2995040"/>
            <a:ext cx="1052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9F004B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rgbClr val="9F004B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rgbClr val="9F004B"/>
                </a:solidFill>
                <a:latin typeface="Arial"/>
                <a:cs typeface="Arial"/>
              </a:rPr>
              <a:t>u</a:t>
            </a:r>
            <a:r>
              <a:rPr sz="1800" spc="-10" dirty="0">
                <a:solidFill>
                  <a:srgbClr val="9F004B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rgbClr val="9F004B"/>
                </a:solidFill>
                <a:latin typeface="Arial"/>
                <a:cs typeface="Arial"/>
              </a:rPr>
              <a:t>ce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99894" y="5078729"/>
            <a:ext cx="189230" cy="205740"/>
          </a:xfrm>
          <a:custGeom>
            <a:avLst/>
            <a:gdLst/>
            <a:ahLst/>
            <a:cxnLst/>
            <a:rect l="l" t="t" r="r" b="b"/>
            <a:pathLst>
              <a:path w="189230" h="205739">
                <a:moveTo>
                  <a:pt x="0" y="205740"/>
                </a:moveTo>
                <a:lnTo>
                  <a:pt x="188975" y="205740"/>
                </a:lnTo>
                <a:lnTo>
                  <a:pt x="188975" y="0"/>
                </a:lnTo>
                <a:lnTo>
                  <a:pt x="0" y="0"/>
                </a:lnTo>
                <a:lnTo>
                  <a:pt x="0" y="20574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2199894" y="5078729"/>
            <a:ext cx="189230" cy="205740"/>
          </a:xfrm>
          <a:custGeom>
            <a:avLst/>
            <a:gdLst/>
            <a:ahLst/>
            <a:cxnLst/>
            <a:rect l="l" t="t" r="r" b="b"/>
            <a:pathLst>
              <a:path w="189230" h="205739">
                <a:moveTo>
                  <a:pt x="0" y="205740"/>
                </a:moveTo>
                <a:lnTo>
                  <a:pt x="188975" y="205740"/>
                </a:lnTo>
                <a:lnTo>
                  <a:pt x="188975" y="0"/>
                </a:lnTo>
                <a:lnTo>
                  <a:pt x="0" y="0"/>
                </a:lnTo>
                <a:lnTo>
                  <a:pt x="0" y="20574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182367" y="5233415"/>
            <a:ext cx="187451" cy="304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183129" y="5054346"/>
            <a:ext cx="187960" cy="210820"/>
          </a:xfrm>
          <a:custGeom>
            <a:avLst/>
            <a:gdLst/>
            <a:ahLst/>
            <a:cxnLst/>
            <a:rect l="l" t="t" r="r" b="b"/>
            <a:pathLst>
              <a:path w="187960" h="210820">
                <a:moveTo>
                  <a:pt x="187451" y="0"/>
                </a:moveTo>
                <a:lnTo>
                  <a:pt x="0" y="0"/>
                </a:lnTo>
                <a:lnTo>
                  <a:pt x="0" y="210311"/>
                </a:lnTo>
                <a:lnTo>
                  <a:pt x="187451" y="0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183129" y="5054346"/>
            <a:ext cx="187960" cy="210820"/>
          </a:xfrm>
          <a:custGeom>
            <a:avLst/>
            <a:gdLst/>
            <a:ahLst/>
            <a:cxnLst/>
            <a:rect l="l" t="t" r="r" b="b"/>
            <a:pathLst>
              <a:path w="187960" h="210820">
                <a:moveTo>
                  <a:pt x="187451" y="0"/>
                </a:moveTo>
                <a:lnTo>
                  <a:pt x="0" y="0"/>
                </a:lnTo>
                <a:lnTo>
                  <a:pt x="0" y="210311"/>
                </a:lnTo>
                <a:lnTo>
                  <a:pt x="187451" y="0"/>
                </a:lnTo>
                <a:close/>
              </a:path>
            </a:pathLst>
          </a:custGeom>
          <a:ln w="25908">
            <a:solidFill>
              <a:srgbClr val="4000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05227" y="5079491"/>
            <a:ext cx="142240" cy="157480"/>
          </a:xfrm>
          <a:custGeom>
            <a:avLst/>
            <a:gdLst/>
            <a:ahLst/>
            <a:cxnLst/>
            <a:rect l="l" t="t" r="r" b="b"/>
            <a:pathLst>
              <a:path w="142239" h="157479">
                <a:moveTo>
                  <a:pt x="0" y="156972"/>
                </a:moveTo>
                <a:lnTo>
                  <a:pt x="141731" y="156972"/>
                </a:lnTo>
                <a:lnTo>
                  <a:pt x="141731" y="0"/>
                </a:lnTo>
                <a:lnTo>
                  <a:pt x="0" y="0"/>
                </a:lnTo>
                <a:lnTo>
                  <a:pt x="0" y="156972"/>
                </a:lnTo>
                <a:close/>
              </a:path>
            </a:pathLst>
          </a:custGeom>
          <a:solidFill>
            <a:srgbClr val="38A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185416" y="5053584"/>
            <a:ext cx="19811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205989" y="5078729"/>
            <a:ext cx="140335" cy="158750"/>
          </a:xfrm>
          <a:custGeom>
            <a:avLst/>
            <a:gdLst/>
            <a:ahLst/>
            <a:cxnLst/>
            <a:rect l="l" t="t" r="r" b="b"/>
            <a:pathLst>
              <a:path w="140335" h="158750">
                <a:moveTo>
                  <a:pt x="0" y="158496"/>
                </a:moveTo>
                <a:lnTo>
                  <a:pt x="0" y="0"/>
                </a:lnTo>
                <a:lnTo>
                  <a:pt x="140208" y="0"/>
                </a:lnTo>
              </a:path>
            </a:pathLst>
          </a:custGeom>
          <a:ln w="25908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182367" y="5262371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>
                <a:moveTo>
                  <a:pt x="0" y="0"/>
                </a:moveTo>
                <a:lnTo>
                  <a:pt x="187451" y="0"/>
                </a:lnTo>
              </a:path>
            </a:pathLst>
          </a:custGeom>
          <a:ln w="6095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345435" y="5050535"/>
            <a:ext cx="24765" cy="213360"/>
          </a:xfrm>
          <a:custGeom>
            <a:avLst/>
            <a:gdLst/>
            <a:ahLst/>
            <a:cxnLst/>
            <a:rect l="l" t="t" r="r" b="b"/>
            <a:pathLst>
              <a:path w="24764" h="213360">
                <a:moveTo>
                  <a:pt x="24383" y="0"/>
                </a:moveTo>
                <a:lnTo>
                  <a:pt x="0" y="28701"/>
                </a:lnTo>
                <a:lnTo>
                  <a:pt x="0" y="186308"/>
                </a:lnTo>
                <a:lnTo>
                  <a:pt x="24383" y="213359"/>
                </a:lnTo>
                <a:lnTo>
                  <a:pt x="243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205989" y="5224271"/>
            <a:ext cx="140335" cy="26034"/>
          </a:xfrm>
          <a:custGeom>
            <a:avLst/>
            <a:gdLst/>
            <a:ahLst/>
            <a:cxnLst/>
            <a:rect l="l" t="t" r="r" b="b"/>
            <a:pathLst>
              <a:path w="140335" h="26035">
                <a:moveTo>
                  <a:pt x="0" y="25907"/>
                </a:moveTo>
                <a:lnTo>
                  <a:pt x="140208" y="25907"/>
                </a:lnTo>
                <a:lnTo>
                  <a:pt x="140208" y="0"/>
                </a:lnTo>
                <a:lnTo>
                  <a:pt x="0" y="0"/>
                </a:lnTo>
                <a:lnTo>
                  <a:pt x="0" y="25907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346960" y="5053584"/>
            <a:ext cx="21590" cy="48895"/>
          </a:xfrm>
          <a:custGeom>
            <a:avLst/>
            <a:gdLst/>
            <a:ahLst/>
            <a:cxnLst/>
            <a:rect l="l" t="t" r="r" b="b"/>
            <a:pathLst>
              <a:path w="21589" h="48895">
                <a:moveTo>
                  <a:pt x="21335" y="19558"/>
                </a:moveTo>
                <a:lnTo>
                  <a:pt x="17017" y="19558"/>
                </a:lnTo>
                <a:lnTo>
                  <a:pt x="18335" y="25461"/>
                </a:lnTo>
                <a:lnTo>
                  <a:pt x="19748" y="35353"/>
                </a:lnTo>
                <a:lnTo>
                  <a:pt x="20966" y="45466"/>
                </a:lnTo>
                <a:lnTo>
                  <a:pt x="21335" y="48768"/>
                </a:lnTo>
                <a:lnTo>
                  <a:pt x="21335" y="19558"/>
                </a:lnTo>
                <a:close/>
              </a:path>
              <a:path w="21589" h="48895">
                <a:moveTo>
                  <a:pt x="21335" y="0"/>
                </a:moveTo>
                <a:lnTo>
                  <a:pt x="0" y="27686"/>
                </a:lnTo>
                <a:lnTo>
                  <a:pt x="0" y="43942"/>
                </a:lnTo>
                <a:lnTo>
                  <a:pt x="4873" y="31184"/>
                </a:lnTo>
                <a:lnTo>
                  <a:pt x="10128" y="23796"/>
                </a:lnTo>
                <a:lnTo>
                  <a:pt x="14573" y="20385"/>
                </a:lnTo>
                <a:lnTo>
                  <a:pt x="17017" y="19558"/>
                </a:lnTo>
                <a:lnTo>
                  <a:pt x="21335" y="19558"/>
                </a:lnTo>
                <a:lnTo>
                  <a:pt x="21335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346960" y="5186171"/>
            <a:ext cx="21590" cy="73660"/>
          </a:xfrm>
          <a:custGeom>
            <a:avLst/>
            <a:gdLst/>
            <a:ahLst/>
            <a:cxnLst/>
            <a:rect l="l" t="t" r="r" b="b"/>
            <a:pathLst>
              <a:path w="21589" h="73660">
                <a:moveTo>
                  <a:pt x="1396" y="34925"/>
                </a:moveTo>
                <a:lnTo>
                  <a:pt x="0" y="49275"/>
                </a:lnTo>
                <a:lnTo>
                  <a:pt x="21335" y="73151"/>
                </a:lnTo>
                <a:lnTo>
                  <a:pt x="21335" y="57276"/>
                </a:lnTo>
                <a:lnTo>
                  <a:pt x="14223" y="57276"/>
                </a:lnTo>
                <a:lnTo>
                  <a:pt x="7112" y="54101"/>
                </a:lnTo>
                <a:lnTo>
                  <a:pt x="5714" y="47751"/>
                </a:lnTo>
                <a:lnTo>
                  <a:pt x="1396" y="34925"/>
                </a:lnTo>
                <a:close/>
              </a:path>
              <a:path w="21589" h="73660">
                <a:moveTo>
                  <a:pt x="21335" y="0"/>
                </a:moveTo>
                <a:lnTo>
                  <a:pt x="18335" y="39594"/>
                </a:lnTo>
                <a:lnTo>
                  <a:pt x="14223" y="57276"/>
                </a:lnTo>
                <a:lnTo>
                  <a:pt x="21335" y="57276"/>
                </a:lnTo>
                <a:lnTo>
                  <a:pt x="21335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150870" y="4571238"/>
            <a:ext cx="189230" cy="205740"/>
          </a:xfrm>
          <a:custGeom>
            <a:avLst/>
            <a:gdLst/>
            <a:ahLst/>
            <a:cxnLst/>
            <a:rect l="l" t="t" r="r" b="b"/>
            <a:pathLst>
              <a:path w="189229" h="205739">
                <a:moveTo>
                  <a:pt x="0" y="205739"/>
                </a:moveTo>
                <a:lnTo>
                  <a:pt x="188976" y="205739"/>
                </a:lnTo>
                <a:lnTo>
                  <a:pt x="188976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150870" y="4571238"/>
            <a:ext cx="189230" cy="205740"/>
          </a:xfrm>
          <a:custGeom>
            <a:avLst/>
            <a:gdLst/>
            <a:ahLst/>
            <a:cxnLst/>
            <a:rect l="l" t="t" r="r" b="b"/>
            <a:pathLst>
              <a:path w="189229" h="205739">
                <a:moveTo>
                  <a:pt x="0" y="205739"/>
                </a:moveTo>
                <a:lnTo>
                  <a:pt x="188976" y="205739"/>
                </a:lnTo>
                <a:lnTo>
                  <a:pt x="188976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133344" y="4725923"/>
            <a:ext cx="187452" cy="304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134105" y="4545329"/>
            <a:ext cx="187960" cy="212090"/>
          </a:xfrm>
          <a:custGeom>
            <a:avLst/>
            <a:gdLst/>
            <a:ahLst/>
            <a:cxnLst/>
            <a:rect l="l" t="t" r="r" b="b"/>
            <a:pathLst>
              <a:path w="187960" h="212089">
                <a:moveTo>
                  <a:pt x="187452" y="0"/>
                </a:moveTo>
                <a:lnTo>
                  <a:pt x="0" y="0"/>
                </a:lnTo>
                <a:lnTo>
                  <a:pt x="0" y="211836"/>
                </a:lnTo>
                <a:lnTo>
                  <a:pt x="187452" y="0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134105" y="4545329"/>
            <a:ext cx="187960" cy="212090"/>
          </a:xfrm>
          <a:custGeom>
            <a:avLst/>
            <a:gdLst/>
            <a:ahLst/>
            <a:cxnLst/>
            <a:rect l="l" t="t" r="r" b="b"/>
            <a:pathLst>
              <a:path w="187960" h="212089">
                <a:moveTo>
                  <a:pt x="187452" y="0"/>
                </a:moveTo>
                <a:lnTo>
                  <a:pt x="0" y="0"/>
                </a:lnTo>
                <a:lnTo>
                  <a:pt x="0" y="211836"/>
                </a:lnTo>
                <a:lnTo>
                  <a:pt x="187452" y="0"/>
                </a:lnTo>
                <a:close/>
              </a:path>
            </a:pathLst>
          </a:custGeom>
          <a:ln w="25908">
            <a:solidFill>
              <a:srgbClr val="4000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156204" y="4572000"/>
            <a:ext cx="140335" cy="157480"/>
          </a:xfrm>
          <a:custGeom>
            <a:avLst/>
            <a:gdLst/>
            <a:ahLst/>
            <a:cxnLst/>
            <a:rect l="l" t="t" r="r" b="b"/>
            <a:pathLst>
              <a:path w="140335" h="157479">
                <a:moveTo>
                  <a:pt x="0" y="156972"/>
                </a:moveTo>
                <a:lnTo>
                  <a:pt x="140207" y="156972"/>
                </a:lnTo>
                <a:lnTo>
                  <a:pt x="140207" y="0"/>
                </a:lnTo>
                <a:lnTo>
                  <a:pt x="0" y="0"/>
                </a:lnTo>
                <a:lnTo>
                  <a:pt x="0" y="156972"/>
                </a:lnTo>
                <a:close/>
              </a:path>
            </a:pathLst>
          </a:custGeom>
          <a:solidFill>
            <a:srgbClr val="38A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134867" y="4544567"/>
            <a:ext cx="19812" cy="2072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156966" y="4571238"/>
            <a:ext cx="140335" cy="158750"/>
          </a:xfrm>
          <a:custGeom>
            <a:avLst/>
            <a:gdLst/>
            <a:ahLst/>
            <a:cxnLst/>
            <a:rect l="l" t="t" r="r" b="b"/>
            <a:pathLst>
              <a:path w="140335" h="158750">
                <a:moveTo>
                  <a:pt x="0" y="158495"/>
                </a:moveTo>
                <a:lnTo>
                  <a:pt x="0" y="0"/>
                </a:lnTo>
                <a:lnTo>
                  <a:pt x="140207" y="0"/>
                </a:lnTo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3131820" y="4754117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>
                <a:moveTo>
                  <a:pt x="0" y="0"/>
                </a:moveTo>
                <a:lnTo>
                  <a:pt x="188976" y="0"/>
                </a:lnTo>
              </a:path>
            </a:pathLst>
          </a:custGeom>
          <a:ln w="7619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296411" y="4543044"/>
            <a:ext cx="24765" cy="213360"/>
          </a:xfrm>
          <a:custGeom>
            <a:avLst/>
            <a:gdLst/>
            <a:ahLst/>
            <a:cxnLst/>
            <a:rect l="l" t="t" r="r" b="b"/>
            <a:pathLst>
              <a:path w="24764" h="213360">
                <a:moveTo>
                  <a:pt x="24384" y="0"/>
                </a:moveTo>
                <a:lnTo>
                  <a:pt x="0" y="28701"/>
                </a:lnTo>
                <a:lnTo>
                  <a:pt x="0" y="186308"/>
                </a:lnTo>
                <a:lnTo>
                  <a:pt x="24384" y="213359"/>
                </a:lnTo>
                <a:lnTo>
                  <a:pt x="2438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56966" y="4716779"/>
            <a:ext cx="140335" cy="26034"/>
          </a:xfrm>
          <a:custGeom>
            <a:avLst/>
            <a:gdLst/>
            <a:ahLst/>
            <a:cxnLst/>
            <a:rect l="l" t="t" r="r" b="b"/>
            <a:pathLst>
              <a:path w="140335" h="26035">
                <a:moveTo>
                  <a:pt x="0" y="25908"/>
                </a:moveTo>
                <a:lnTo>
                  <a:pt x="140207" y="25908"/>
                </a:lnTo>
                <a:lnTo>
                  <a:pt x="140207" y="0"/>
                </a:lnTo>
                <a:lnTo>
                  <a:pt x="0" y="0"/>
                </a:lnTo>
                <a:lnTo>
                  <a:pt x="0" y="25908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295650" y="4570476"/>
            <a:ext cx="0" cy="158750"/>
          </a:xfrm>
          <a:custGeom>
            <a:avLst/>
            <a:gdLst/>
            <a:ahLst/>
            <a:cxnLst/>
            <a:rect l="l" t="t" r="r" b="b"/>
            <a:pathLst>
              <a:path h="158750">
                <a:moveTo>
                  <a:pt x="0" y="0"/>
                </a:moveTo>
                <a:lnTo>
                  <a:pt x="0" y="158496"/>
                </a:lnTo>
              </a:path>
            </a:pathLst>
          </a:custGeom>
          <a:ln w="3175">
            <a:solidFill>
              <a:srgbClr val="00D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296411" y="4546091"/>
            <a:ext cx="22860" cy="47625"/>
          </a:xfrm>
          <a:custGeom>
            <a:avLst/>
            <a:gdLst/>
            <a:ahLst/>
            <a:cxnLst/>
            <a:rect l="l" t="t" r="r" b="b"/>
            <a:pathLst>
              <a:path w="22860" h="47625">
                <a:moveTo>
                  <a:pt x="22860" y="18922"/>
                </a:moveTo>
                <a:lnTo>
                  <a:pt x="17145" y="18922"/>
                </a:lnTo>
                <a:lnTo>
                  <a:pt x="18627" y="23991"/>
                </a:lnTo>
                <a:lnTo>
                  <a:pt x="20526" y="33654"/>
                </a:lnTo>
                <a:lnTo>
                  <a:pt x="22163" y="43033"/>
                </a:lnTo>
                <a:lnTo>
                  <a:pt x="22860" y="47243"/>
                </a:lnTo>
                <a:lnTo>
                  <a:pt x="22860" y="18922"/>
                </a:lnTo>
                <a:close/>
              </a:path>
              <a:path w="22860" h="47625">
                <a:moveTo>
                  <a:pt x="22860" y="0"/>
                </a:moveTo>
                <a:lnTo>
                  <a:pt x="0" y="26796"/>
                </a:lnTo>
                <a:lnTo>
                  <a:pt x="0" y="42544"/>
                </a:lnTo>
                <a:lnTo>
                  <a:pt x="5679" y="30227"/>
                </a:lnTo>
                <a:lnTo>
                  <a:pt x="11239" y="23066"/>
                </a:lnTo>
                <a:lnTo>
                  <a:pt x="15466" y="19738"/>
                </a:lnTo>
                <a:lnTo>
                  <a:pt x="17145" y="18922"/>
                </a:lnTo>
                <a:lnTo>
                  <a:pt x="22860" y="18922"/>
                </a:lnTo>
                <a:lnTo>
                  <a:pt x="22860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296411" y="4677155"/>
            <a:ext cx="22860" cy="73660"/>
          </a:xfrm>
          <a:custGeom>
            <a:avLst/>
            <a:gdLst/>
            <a:ahLst/>
            <a:cxnLst/>
            <a:rect l="l" t="t" r="r" b="b"/>
            <a:pathLst>
              <a:path w="22860" h="73660">
                <a:moveTo>
                  <a:pt x="1397" y="34925"/>
                </a:moveTo>
                <a:lnTo>
                  <a:pt x="0" y="49276"/>
                </a:lnTo>
                <a:lnTo>
                  <a:pt x="22860" y="73152"/>
                </a:lnTo>
                <a:lnTo>
                  <a:pt x="22860" y="57277"/>
                </a:lnTo>
                <a:lnTo>
                  <a:pt x="14224" y="57277"/>
                </a:lnTo>
                <a:lnTo>
                  <a:pt x="7112" y="54102"/>
                </a:lnTo>
                <a:lnTo>
                  <a:pt x="7112" y="47752"/>
                </a:lnTo>
                <a:lnTo>
                  <a:pt x="1397" y="34925"/>
                </a:lnTo>
                <a:close/>
              </a:path>
              <a:path w="22860" h="73660">
                <a:moveTo>
                  <a:pt x="22860" y="0"/>
                </a:moveTo>
                <a:lnTo>
                  <a:pt x="19859" y="39594"/>
                </a:lnTo>
                <a:lnTo>
                  <a:pt x="14224" y="57277"/>
                </a:lnTo>
                <a:lnTo>
                  <a:pt x="22860" y="57277"/>
                </a:lnTo>
                <a:lnTo>
                  <a:pt x="22860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063746" y="4004309"/>
            <a:ext cx="189230" cy="205740"/>
          </a:xfrm>
          <a:custGeom>
            <a:avLst/>
            <a:gdLst/>
            <a:ahLst/>
            <a:cxnLst/>
            <a:rect l="l" t="t" r="r" b="b"/>
            <a:pathLst>
              <a:path w="189229" h="205739">
                <a:moveTo>
                  <a:pt x="0" y="205739"/>
                </a:moveTo>
                <a:lnTo>
                  <a:pt x="188975" y="205739"/>
                </a:lnTo>
                <a:lnTo>
                  <a:pt x="188975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063746" y="4004309"/>
            <a:ext cx="189230" cy="205740"/>
          </a:xfrm>
          <a:custGeom>
            <a:avLst/>
            <a:gdLst/>
            <a:ahLst/>
            <a:cxnLst/>
            <a:rect l="l" t="t" r="r" b="b"/>
            <a:pathLst>
              <a:path w="189229" h="205739">
                <a:moveTo>
                  <a:pt x="0" y="205739"/>
                </a:moveTo>
                <a:lnTo>
                  <a:pt x="188975" y="205739"/>
                </a:lnTo>
                <a:lnTo>
                  <a:pt x="188975" y="0"/>
                </a:lnTo>
                <a:lnTo>
                  <a:pt x="0" y="0"/>
                </a:lnTo>
                <a:lnTo>
                  <a:pt x="0" y="20573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046220" y="4158996"/>
            <a:ext cx="187451" cy="3200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046982" y="3979926"/>
            <a:ext cx="187960" cy="212090"/>
          </a:xfrm>
          <a:custGeom>
            <a:avLst/>
            <a:gdLst/>
            <a:ahLst/>
            <a:cxnLst/>
            <a:rect l="l" t="t" r="r" b="b"/>
            <a:pathLst>
              <a:path w="187960" h="212089">
                <a:moveTo>
                  <a:pt x="187451" y="0"/>
                </a:moveTo>
                <a:lnTo>
                  <a:pt x="0" y="0"/>
                </a:lnTo>
                <a:lnTo>
                  <a:pt x="0" y="211836"/>
                </a:lnTo>
                <a:lnTo>
                  <a:pt x="187451" y="0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046982" y="3979926"/>
            <a:ext cx="187960" cy="212090"/>
          </a:xfrm>
          <a:custGeom>
            <a:avLst/>
            <a:gdLst/>
            <a:ahLst/>
            <a:cxnLst/>
            <a:rect l="l" t="t" r="r" b="b"/>
            <a:pathLst>
              <a:path w="187960" h="212089">
                <a:moveTo>
                  <a:pt x="187451" y="0"/>
                </a:moveTo>
                <a:lnTo>
                  <a:pt x="0" y="0"/>
                </a:lnTo>
                <a:lnTo>
                  <a:pt x="0" y="211836"/>
                </a:lnTo>
                <a:lnTo>
                  <a:pt x="187451" y="0"/>
                </a:lnTo>
                <a:close/>
              </a:path>
            </a:pathLst>
          </a:custGeom>
          <a:ln w="25908">
            <a:solidFill>
              <a:srgbClr val="4000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069079" y="4005071"/>
            <a:ext cx="142240" cy="157480"/>
          </a:xfrm>
          <a:custGeom>
            <a:avLst/>
            <a:gdLst/>
            <a:ahLst/>
            <a:cxnLst/>
            <a:rect l="l" t="t" r="r" b="b"/>
            <a:pathLst>
              <a:path w="142239" h="157479">
                <a:moveTo>
                  <a:pt x="0" y="156971"/>
                </a:moveTo>
                <a:lnTo>
                  <a:pt x="141732" y="156971"/>
                </a:lnTo>
                <a:lnTo>
                  <a:pt x="141732" y="0"/>
                </a:lnTo>
                <a:lnTo>
                  <a:pt x="0" y="0"/>
                </a:lnTo>
                <a:lnTo>
                  <a:pt x="0" y="156971"/>
                </a:lnTo>
                <a:close/>
              </a:path>
            </a:pathLst>
          </a:custGeom>
          <a:solidFill>
            <a:srgbClr val="38A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047744" y="3979164"/>
            <a:ext cx="21335" cy="2072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069841" y="4005834"/>
            <a:ext cx="140335" cy="157480"/>
          </a:xfrm>
          <a:custGeom>
            <a:avLst/>
            <a:gdLst/>
            <a:ahLst/>
            <a:cxnLst/>
            <a:rect l="l" t="t" r="r" b="b"/>
            <a:pathLst>
              <a:path w="140335" h="157479">
                <a:moveTo>
                  <a:pt x="0" y="156972"/>
                </a:moveTo>
                <a:lnTo>
                  <a:pt x="0" y="0"/>
                </a:lnTo>
                <a:lnTo>
                  <a:pt x="140208" y="0"/>
                </a:lnTo>
              </a:path>
            </a:pathLst>
          </a:custGeom>
          <a:ln w="25907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09288" y="3976115"/>
            <a:ext cx="24765" cy="215265"/>
          </a:xfrm>
          <a:custGeom>
            <a:avLst/>
            <a:gdLst/>
            <a:ahLst/>
            <a:cxnLst/>
            <a:rect l="l" t="t" r="r" b="b"/>
            <a:pathLst>
              <a:path w="24764" h="215264">
                <a:moveTo>
                  <a:pt x="24384" y="0"/>
                </a:moveTo>
                <a:lnTo>
                  <a:pt x="0" y="28701"/>
                </a:lnTo>
                <a:lnTo>
                  <a:pt x="0" y="186181"/>
                </a:lnTo>
                <a:lnTo>
                  <a:pt x="24384" y="214883"/>
                </a:lnTo>
                <a:lnTo>
                  <a:pt x="2438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069841" y="4149852"/>
            <a:ext cx="142240" cy="26034"/>
          </a:xfrm>
          <a:custGeom>
            <a:avLst/>
            <a:gdLst/>
            <a:ahLst/>
            <a:cxnLst/>
            <a:rect l="l" t="t" r="r" b="b"/>
            <a:pathLst>
              <a:path w="142239" h="26035">
                <a:moveTo>
                  <a:pt x="0" y="25908"/>
                </a:moveTo>
                <a:lnTo>
                  <a:pt x="141732" y="25908"/>
                </a:lnTo>
                <a:lnTo>
                  <a:pt x="141732" y="0"/>
                </a:lnTo>
                <a:lnTo>
                  <a:pt x="0" y="0"/>
                </a:lnTo>
                <a:lnTo>
                  <a:pt x="0" y="25908"/>
                </a:lnTo>
                <a:close/>
              </a:path>
            </a:pathLst>
          </a:custGeom>
          <a:solidFill>
            <a:srgbClr val="00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208526" y="4003547"/>
            <a:ext cx="0" cy="158750"/>
          </a:xfrm>
          <a:custGeom>
            <a:avLst/>
            <a:gdLst/>
            <a:ahLst/>
            <a:cxnLst/>
            <a:rect l="l" t="t" r="r" b="b"/>
            <a:pathLst>
              <a:path h="158750">
                <a:moveTo>
                  <a:pt x="0" y="0"/>
                </a:moveTo>
                <a:lnTo>
                  <a:pt x="0" y="158495"/>
                </a:lnTo>
              </a:path>
            </a:pathLst>
          </a:custGeom>
          <a:ln w="3175">
            <a:solidFill>
              <a:srgbClr val="00DC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210811" y="3979164"/>
            <a:ext cx="21590" cy="47625"/>
          </a:xfrm>
          <a:custGeom>
            <a:avLst/>
            <a:gdLst/>
            <a:ahLst/>
            <a:cxnLst/>
            <a:rect l="l" t="t" r="r" b="b"/>
            <a:pathLst>
              <a:path w="21589" h="47625">
                <a:moveTo>
                  <a:pt x="21336" y="18923"/>
                </a:moveTo>
                <a:lnTo>
                  <a:pt x="16001" y="18923"/>
                </a:lnTo>
                <a:lnTo>
                  <a:pt x="17960" y="24687"/>
                </a:lnTo>
                <a:lnTo>
                  <a:pt x="19669" y="34274"/>
                </a:lnTo>
                <a:lnTo>
                  <a:pt x="20877" y="43265"/>
                </a:lnTo>
                <a:lnTo>
                  <a:pt x="21336" y="47243"/>
                </a:lnTo>
                <a:lnTo>
                  <a:pt x="21336" y="18923"/>
                </a:lnTo>
                <a:close/>
              </a:path>
              <a:path w="21589" h="47625">
                <a:moveTo>
                  <a:pt x="21336" y="0"/>
                </a:moveTo>
                <a:lnTo>
                  <a:pt x="0" y="26797"/>
                </a:lnTo>
                <a:lnTo>
                  <a:pt x="0" y="44068"/>
                </a:lnTo>
                <a:lnTo>
                  <a:pt x="5286" y="30870"/>
                </a:lnTo>
                <a:lnTo>
                  <a:pt x="10477" y="23256"/>
                </a:lnTo>
                <a:lnTo>
                  <a:pt x="14430" y="19762"/>
                </a:lnTo>
                <a:lnTo>
                  <a:pt x="16001" y="18923"/>
                </a:lnTo>
                <a:lnTo>
                  <a:pt x="21336" y="18923"/>
                </a:lnTo>
                <a:lnTo>
                  <a:pt x="21336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210811" y="4110228"/>
            <a:ext cx="21590" cy="73660"/>
          </a:xfrm>
          <a:custGeom>
            <a:avLst/>
            <a:gdLst/>
            <a:ahLst/>
            <a:cxnLst/>
            <a:rect l="l" t="t" r="r" b="b"/>
            <a:pathLst>
              <a:path w="21589" h="73660">
                <a:moveTo>
                  <a:pt x="1270" y="34925"/>
                </a:moveTo>
                <a:lnTo>
                  <a:pt x="0" y="49276"/>
                </a:lnTo>
                <a:lnTo>
                  <a:pt x="21336" y="73152"/>
                </a:lnTo>
                <a:lnTo>
                  <a:pt x="21336" y="57277"/>
                </a:lnTo>
                <a:lnTo>
                  <a:pt x="13335" y="57277"/>
                </a:lnTo>
                <a:lnTo>
                  <a:pt x="6603" y="54102"/>
                </a:lnTo>
                <a:lnTo>
                  <a:pt x="6603" y="47752"/>
                </a:lnTo>
                <a:lnTo>
                  <a:pt x="1270" y="34925"/>
                </a:lnTo>
                <a:close/>
              </a:path>
              <a:path w="21589" h="73660">
                <a:moveTo>
                  <a:pt x="21336" y="0"/>
                </a:moveTo>
                <a:lnTo>
                  <a:pt x="18496" y="40290"/>
                </a:lnTo>
                <a:lnTo>
                  <a:pt x="13335" y="57277"/>
                </a:lnTo>
                <a:lnTo>
                  <a:pt x="21336" y="57277"/>
                </a:lnTo>
                <a:lnTo>
                  <a:pt x="21336" y="0"/>
                </a:lnTo>
                <a:close/>
              </a:path>
            </a:pathLst>
          </a:custGeom>
          <a:solidFill>
            <a:srgbClr val="2800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211823" y="2862072"/>
            <a:ext cx="228599" cy="2560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160731"/>
            <a:ext cx="17037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资源图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2971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29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24865" y="1868769"/>
            <a:ext cx="7658734" cy="4062095"/>
          </a:xfrm>
          <a:custGeom>
            <a:avLst/>
            <a:gdLst/>
            <a:ahLst/>
            <a:cxnLst/>
            <a:rect l="l" t="t" r="r" b="b"/>
            <a:pathLst>
              <a:path w="7658734" h="4062095">
                <a:moveTo>
                  <a:pt x="0" y="4061555"/>
                </a:moveTo>
                <a:lnTo>
                  <a:pt x="7658578" y="4061555"/>
                </a:lnTo>
                <a:lnTo>
                  <a:pt x="7658578" y="0"/>
                </a:lnTo>
                <a:lnTo>
                  <a:pt x="0" y="0"/>
                </a:lnTo>
                <a:lnTo>
                  <a:pt x="0" y="4061555"/>
                </a:lnTo>
              </a:path>
            </a:pathLst>
          </a:custGeom>
          <a:ln w="198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22703" y="2855723"/>
            <a:ext cx="6060440" cy="1993264"/>
          </a:xfrm>
          <a:custGeom>
            <a:avLst/>
            <a:gdLst/>
            <a:ahLst/>
            <a:cxnLst/>
            <a:rect l="l" t="t" r="r" b="b"/>
            <a:pathLst>
              <a:path w="6060440" h="1993264">
                <a:moveTo>
                  <a:pt x="0" y="1992794"/>
                </a:moveTo>
                <a:lnTo>
                  <a:pt x="6060062" y="1992794"/>
                </a:lnTo>
                <a:lnTo>
                  <a:pt x="6060062" y="0"/>
                </a:lnTo>
                <a:lnTo>
                  <a:pt x="0" y="0"/>
                </a:lnTo>
                <a:lnTo>
                  <a:pt x="0" y="1992794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84794" y="4462510"/>
            <a:ext cx="90170" cy="0"/>
          </a:xfrm>
          <a:custGeom>
            <a:avLst/>
            <a:gdLst/>
            <a:ahLst/>
            <a:cxnLst/>
            <a:rect l="l" t="t" r="r" b="b"/>
            <a:pathLst>
              <a:path w="90170">
                <a:moveTo>
                  <a:pt x="0" y="0"/>
                </a:moveTo>
                <a:lnTo>
                  <a:pt x="9004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98741" y="4462510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520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435322" y="446251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5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049610" y="446251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91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664125" y="4462510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89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00875" y="4462510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1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14559" y="446251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28940" y="446251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822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65521" y="446251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780112" y="4462510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1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93795" y="446251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008177" y="446251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822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44818" y="446251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46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259288" y="446251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735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873004" y="446251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488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510372" y="446251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30">
                <a:moveTo>
                  <a:pt x="0" y="0"/>
                </a:moveTo>
                <a:lnTo>
                  <a:pt x="226735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2237829" y="4462510"/>
            <a:ext cx="114300" cy="0"/>
          </a:xfrm>
          <a:custGeom>
            <a:avLst/>
            <a:gdLst/>
            <a:ahLst/>
            <a:cxnLst/>
            <a:rect l="l" t="t" r="r" b="b"/>
            <a:pathLst>
              <a:path w="114300">
                <a:moveTo>
                  <a:pt x="0" y="0"/>
                </a:moveTo>
                <a:lnTo>
                  <a:pt x="113747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798741" y="4063966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>
                <a:moveTo>
                  <a:pt x="0" y="0"/>
                </a:moveTo>
                <a:lnTo>
                  <a:pt x="476098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35322" y="406396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5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049610" y="4063966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91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664125" y="4063966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89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300875" y="4063966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1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914559" y="406396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528940" y="4063966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822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165521" y="406396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780112" y="4063966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1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93795" y="406396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008177" y="4063966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822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644818" y="406396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46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259288" y="4063966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735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873004" y="406396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488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237829" y="4063966"/>
            <a:ext cx="499745" cy="0"/>
          </a:xfrm>
          <a:custGeom>
            <a:avLst/>
            <a:gdLst/>
            <a:ahLst/>
            <a:cxnLst/>
            <a:rect l="l" t="t" r="r" b="b"/>
            <a:pathLst>
              <a:path w="499744">
                <a:moveTo>
                  <a:pt x="0" y="0"/>
                </a:moveTo>
                <a:lnTo>
                  <a:pt x="499277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49610" y="3665397"/>
            <a:ext cx="1225550" cy="0"/>
          </a:xfrm>
          <a:custGeom>
            <a:avLst/>
            <a:gdLst/>
            <a:ahLst/>
            <a:cxnLst/>
            <a:rect l="l" t="t" r="r" b="b"/>
            <a:pathLst>
              <a:path w="1225550">
                <a:moveTo>
                  <a:pt x="0" y="0"/>
                </a:moveTo>
                <a:lnTo>
                  <a:pt x="1225229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64125" y="3665397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89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00875" y="3665397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1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914559" y="3665397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528940" y="3665397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822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165521" y="3665397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780112" y="3665397"/>
            <a:ext cx="226695" cy="0"/>
          </a:xfrm>
          <a:custGeom>
            <a:avLst/>
            <a:gdLst/>
            <a:ahLst/>
            <a:cxnLst/>
            <a:rect l="l" t="t" r="r" b="b"/>
            <a:pathLst>
              <a:path w="226695">
                <a:moveTo>
                  <a:pt x="0" y="0"/>
                </a:moveTo>
                <a:lnTo>
                  <a:pt x="226614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393795" y="3665397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521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2237829" y="3665397"/>
            <a:ext cx="1997710" cy="0"/>
          </a:xfrm>
          <a:custGeom>
            <a:avLst/>
            <a:gdLst/>
            <a:ahLst/>
            <a:cxnLst/>
            <a:rect l="l" t="t" r="r" b="b"/>
            <a:pathLst>
              <a:path w="1997710">
                <a:moveTo>
                  <a:pt x="0" y="0"/>
                </a:moveTo>
                <a:lnTo>
                  <a:pt x="1997170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5914559" y="3266778"/>
            <a:ext cx="2360295" cy="0"/>
          </a:xfrm>
          <a:custGeom>
            <a:avLst/>
            <a:gdLst/>
            <a:ahLst/>
            <a:cxnLst/>
            <a:rect l="l" t="t" r="r" b="b"/>
            <a:pathLst>
              <a:path w="2360295">
                <a:moveTo>
                  <a:pt x="0" y="0"/>
                </a:moveTo>
                <a:lnTo>
                  <a:pt x="2360280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5528940" y="3266778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6822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237829" y="3266778"/>
            <a:ext cx="3155315" cy="0"/>
          </a:xfrm>
          <a:custGeom>
            <a:avLst/>
            <a:gdLst/>
            <a:ahLst/>
            <a:cxnLst/>
            <a:rect l="l" t="t" r="r" b="b"/>
            <a:pathLst>
              <a:path w="3155315">
                <a:moveTo>
                  <a:pt x="0" y="0"/>
                </a:moveTo>
                <a:lnTo>
                  <a:pt x="3155213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237829" y="2858853"/>
            <a:ext cx="6037580" cy="19050"/>
          </a:xfrm>
          <a:custGeom>
            <a:avLst/>
            <a:gdLst/>
            <a:ahLst/>
            <a:cxnLst/>
            <a:rect l="l" t="t" r="r" b="b"/>
            <a:pathLst>
              <a:path w="6037580" h="19050">
                <a:moveTo>
                  <a:pt x="0" y="19012"/>
                </a:moveTo>
                <a:lnTo>
                  <a:pt x="6037010" y="19012"/>
                </a:lnTo>
                <a:lnTo>
                  <a:pt x="6037010" y="0"/>
                </a:lnTo>
                <a:lnTo>
                  <a:pt x="0" y="0"/>
                </a:lnTo>
                <a:lnTo>
                  <a:pt x="0" y="190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237829" y="2858853"/>
            <a:ext cx="6037580" cy="19050"/>
          </a:xfrm>
          <a:custGeom>
            <a:avLst/>
            <a:gdLst/>
            <a:ahLst/>
            <a:cxnLst/>
            <a:rect l="l" t="t" r="r" b="b"/>
            <a:pathLst>
              <a:path w="6037580" h="19050">
                <a:moveTo>
                  <a:pt x="0" y="19012"/>
                </a:moveTo>
                <a:lnTo>
                  <a:pt x="6037010" y="19012"/>
                </a:lnTo>
                <a:lnTo>
                  <a:pt x="6037010" y="0"/>
                </a:lnTo>
                <a:lnTo>
                  <a:pt x="0" y="0"/>
                </a:lnTo>
                <a:lnTo>
                  <a:pt x="0" y="1901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8297831" y="2868359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4">
                <a:moveTo>
                  <a:pt x="0" y="0"/>
                </a:moveTo>
                <a:lnTo>
                  <a:pt x="0" y="1973727"/>
                </a:lnTo>
              </a:path>
            </a:pathLst>
          </a:custGeom>
          <a:ln w="2289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260730" y="4861079"/>
            <a:ext cx="6037580" cy="0"/>
          </a:xfrm>
          <a:custGeom>
            <a:avLst/>
            <a:gdLst/>
            <a:ahLst/>
            <a:cxnLst/>
            <a:rect l="l" t="t" r="r" b="b"/>
            <a:pathLst>
              <a:path w="6037580">
                <a:moveTo>
                  <a:pt x="6037101" y="0"/>
                </a:moveTo>
                <a:lnTo>
                  <a:pt x="0" y="0"/>
                </a:lnTo>
              </a:path>
            </a:pathLst>
          </a:custGeom>
          <a:ln w="19012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237829" y="2887200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4">
                <a:moveTo>
                  <a:pt x="0" y="1973878"/>
                </a:moveTo>
                <a:lnTo>
                  <a:pt x="0" y="0"/>
                </a:lnTo>
              </a:path>
            </a:pathLst>
          </a:custGeom>
          <a:ln w="2289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737107" y="48453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5897" y="0"/>
                </a:lnTo>
              </a:path>
            </a:pathLst>
          </a:custGeom>
          <a:ln w="6418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725659" y="4832593"/>
            <a:ext cx="159385" cy="26034"/>
          </a:xfrm>
          <a:custGeom>
            <a:avLst/>
            <a:gdLst/>
            <a:ahLst/>
            <a:cxnLst/>
            <a:rect l="l" t="t" r="r" b="b"/>
            <a:pathLst>
              <a:path w="159385" h="26035">
                <a:moveTo>
                  <a:pt x="0" y="25431"/>
                </a:moveTo>
                <a:lnTo>
                  <a:pt x="158793" y="25431"/>
                </a:lnTo>
                <a:lnTo>
                  <a:pt x="158793" y="0"/>
                </a:lnTo>
                <a:lnTo>
                  <a:pt x="0" y="0"/>
                </a:lnTo>
                <a:lnTo>
                  <a:pt x="0" y="25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3100493" y="4845309"/>
            <a:ext cx="159385" cy="0"/>
          </a:xfrm>
          <a:custGeom>
            <a:avLst/>
            <a:gdLst/>
            <a:ahLst/>
            <a:cxnLst/>
            <a:rect l="l" t="t" r="r" b="b"/>
            <a:pathLst>
              <a:path w="159385">
                <a:moveTo>
                  <a:pt x="0" y="0"/>
                </a:moveTo>
                <a:lnTo>
                  <a:pt x="158795" y="0"/>
                </a:lnTo>
              </a:path>
            </a:pathLst>
          </a:custGeom>
          <a:ln w="6418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3089045" y="4832593"/>
            <a:ext cx="182245" cy="26034"/>
          </a:xfrm>
          <a:custGeom>
            <a:avLst/>
            <a:gdLst/>
            <a:ahLst/>
            <a:cxnLst/>
            <a:rect l="l" t="t" r="r" b="b"/>
            <a:pathLst>
              <a:path w="182245" h="26035">
                <a:moveTo>
                  <a:pt x="0" y="25431"/>
                </a:moveTo>
                <a:lnTo>
                  <a:pt x="181691" y="25431"/>
                </a:lnTo>
                <a:lnTo>
                  <a:pt x="181691" y="0"/>
                </a:lnTo>
                <a:lnTo>
                  <a:pt x="0" y="0"/>
                </a:lnTo>
                <a:lnTo>
                  <a:pt x="0" y="254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3486023" y="4823121"/>
            <a:ext cx="159385" cy="25400"/>
          </a:xfrm>
          <a:custGeom>
            <a:avLst/>
            <a:gdLst/>
            <a:ahLst/>
            <a:cxnLst/>
            <a:rect l="l" t="t" r="r" b="b"/>
            <a:pathLst>
              <a:path w="159385" h="25400">
                <a:moveTo>
                  <a:pt x="0" y="25397"/>
                </a:moveTo>
                <a:lnTo>
                  <a:pt x="158795" y="25397"/>
                </a:lnTo>
                <a:lnTo>
                  <a:pt x="158795" y="0"/>
                </a:lnTo>
                <a:lnTo>
                  <a:pt x="0" y="0"/>
                </a:lnTo>
                <a:lnTo>
                  <a:pt x="0" y="25397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474575" y="4813615"/>
            <a:ext cx="182245" cy="44450"/>
          </a:xfrm>
          <a:custGeom>
            <a:avLst/>
            <a:gdLst/>
            <a:ahLst/>
            <a:cxnLst/>
            <a:rect l="l" t="t" r="r" b="b"/>
            <a:pathLst>
              <a:path w="182245" h="44450">
                <a:moveTo>
                  <a:pt x="0" y="44409"/>
                </a:moveTo>
                <a:lnTo>
                  <a:pt x="181691" y="44409"/>
                </a:lnTo>
                <a:lnTo>
                  <a:pt x="181691" y="0"/>
                </a:lnTo>
                <a:lnTo>
                  <a:pt x="0" y="0"/>
                </a:lnTo>
                <a:lnTo>
                  <a:pt x="0" y="444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872279" y="4823121"/>
            <a:ext cx="136525" cy="25400"/>
          </a:xfrm>
          <a:custGeom>
            <a:avLst/>
            <a:gdLst/>
            <a:ahLst/>
            <a:cxnLst/>
            <a:rect l="l" t="t" r="r" b="b"/>
            <a:pathLst>
              <a:path w="136525" h="25400">
                <a:moveTo>
                  <a:pt x="0" y="25397"/>
                </a:moveTo>
                <a:lnTo>
                  <a:pt x="135897" y="25397"/>
                </a:lnTo>
                <a:lnTo>
                  <a:pt x="135897" y="0"/>
                </a:lnTo>
                <a:lnTo>
                  <a:pt x="0" y="0"/>
                </a:lnTo>
                <a:lnTo>
                  <a:pt x="0" y="25397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860831" y="4813615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0" y="44409"/>
                </a:moveTo>
                <a:lnTo>
                  <a:pt x="158793" y="44409"/>
                </a:lnTo>
                <a:lnTo>
                  <a:pt x="158793" y="0"/>
                </a:lnTo>
                <a:lnTo>
                  <a:pt x="0" y="0"/>
                </a:lnTo>
                <a:lnTo>
                  <a:pt x="0" y="444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235000" y="4804142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0" y="44376"/>
                </a:moveTo>
                <a:lnTo>
                  <a:pt x="158795" y="44376"/>
                </a:lnTo>
                <a:lnTo>
                  <a:pt x="158795" y="0"/>
                </a:lnTo>
                <a:lnTo>
                  <a:pt x="0" y="0"/>
                </a:lnTo>
                <a:lnTo>
                  <a:pt x="0" y="44376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235000" y="4804142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158795" y="44376"/>
                </a:moveTo>
                <a:lnTo>
                  <a:pt x="158795" y="0"/>
                </a:lnTo>
                <a:lnTo>
                  <a:pt x="0" y="0"/>
                </a:lnTo>
                <a:lnTo>
                  <a:pt x="0" y="44376"/>
                </a:lnTo>
                <a:lnTo>
                  <a:pt x="158795" y="44376"/>
                </a:lnTo>
              </a:path>
            </a:pathLst>
          </a:custGeom>
          <a:ln w="19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621317" y="4804142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0" y="44376"/>
                </a:moveTo>
                <a:lnTo>
                  <a:pt x="158795" y="44376"/>
                </a:lnTo>
                <a:lnTo>
                  <a:pt x="158795" y="0"/>
                </a:lnTo>
                <a:lnTo>
                  <a:pt x="0" y="0"/>
                </a:lnTo>
                <a:lnTo>
                  <a:pt x="0" y="44376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621317" y="4804142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158795" y="44376"/>
                </a:moveTo>
                <a:lnTo>
                  <a:pt x="158795" y="0"/>
                </a:lnTo>
                <a:lnTo>
                  <a:pt x="0" y="0"/>
                </a:lnTo>
                <a:lnTo>
                  <a:pt x="0" y="44376"/>
                </a:lnTo>
                <a:lnTo>
                  <a:pt x="158795" y="44376"/>
                </a:lnTo>
              </a:path>
            </a:pathLst>
          </a:custGeom>
          <a:ln w="19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5006726" y="4804142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0" y="44376"/>
                </a:moveTo>
                <a:lnTo>
                  <a:pt x="158795" y="44376"/>
                </a:lnTo>
                <a:lnTo>
                  <a:pt x="158795" y="0"/>
                </a:lnTo>
                <a:lnTo>
                  <a:pt x="0" y="0"/>
                </a:lnTo>
                <a:lnTo>
                  <a:pt x="0" y="44376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006726" y="4804142"/>
            <a:ext cx="159385" cy="44450"/>
          </a:xfrm>
          <a:custGeom>
            <a:avLst/>
            <a:gdLst/>
            <a:ahLst/>
            <a:cxnLst/>
            <a:rect l="l" t="t" r="r" b="b"/>
            <a:pathLst>
              <a:path w="159385" h="44450">
                <a:moveTo>
                  <a:pt x="158795" y="44376"/>
                </a:moveTo>
                <a:lnTo>
                  <a:pt x="158795" y="0"/>
                </a:lnTo>
                <a:lnTo>
                  <a:pt x="0" y="0"/>
                </a:lnTo>
                <a:lnTo>
                  <a:pt x="0" y="44376"/>
                </a:lnTo>
                <a:lnTo>
                  <a:pt x="158795" y="44376"/>
                </a:lnTo>
              </a:path>
            </a:pathLst>
          </a:custGeom>
          <a:ln w="1929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393043" y="4785163"/>
            <a:ext cx="136525" cy="63500"/>
          </a:xfrm>
          <a:custGeom>
            <a:avLst/>
            <a:gdLst/>
            <a:ahLst/>
            <a:cxnLst/>
            <a:rect l="l" t="t" r="r" b="b"/>
            <a:pathLst>
              <a:path w="136525" h="63500">
                <a:moveTo>
                  <a:pt x="0" y="63354"/>
                </a:moveTo>
                <a:lnTo>
                  <a:pt x="135897" y="63354"/>
                </a:lnTo>
                <a:lnTo>
                  <a:pt x="135897" y="0"/>
                </a:lnTo>
                <a:lnTo>
                  <a:pt x="0" y="0"/>
                </a:lnTo>
                <a:lnTo>
                  <a:pt x="0" y="63354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393043" y="4785163"/>
            <a:ext cx="136525" cy="63500"/>
          </a:xfrm>
          <a:custGeom>
            <a:avLst/>
            <a:gdLst/>
            <a:ahLst/>
            <a:cxnLst/>
            <a:rect l="l" t="t" r="r" b="b"/>
            <a:pathLst>
              <a:path w="136525" h="63500">
                <a:moveTo>
                  <a:pt x="135897" y="63354"/>
                </a:moveTo>
                <a:lnTo>
                  <a:pt x="135897" y="0"/>
                </a:lnTo>
                <a:lnTo>
                  <a:pt x="0" y="0"/>
                </a:lnTo>
                <a:lnTo>
                  <a:pt x="0" y="63354"/>
                </a:lnTo>
                <a:lnTo>
                  <a:pt x="135897" y="63354"/>
                </a:lnTo>
              </a:path>
            </a:pathLst>
          </a:custGeom>
          <a:ln w="197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755763" y="4785163"/>
            <a:ext cx="159385" cy="63500"/>
          </a:xfrm>
          <a:custGeom>
            <a:avLst/>
            <a:gdLst/>
            <a:ahLst/>
            <a:cxnLst/>
            <a:rect l="l" t="t" r="r" b="b"/>
            <a:pathLst>
              <a:path w="159385" h="63500">
                <a:moveTo>
                  <a:pt x="0" y="63354"/>
                </a:moveTo>
                <a:lnTo>
                  <a:pt x="158795" y="63354"/>
                </a:lnTo>
                <a:lnTo>
                  <a:pt x="158795" y="0"/>
                </a:lnTo>
                <a:lnTo>
                  <a:pt x="0" y="0"/>
                </a:lnTo>
                <a:lnTo>
                  <a:pt x="0" y="63354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755763" y="4785163"/>
            <a:ext cx="159385" cy="63500"/>
          </a:xfrm>
          <a:custGeom>
            <a:avLst/>
            <a:gdLst/>
            <a:ahLst/>
            <a:cxnLst/>
            <a:rect l="l" t="t" r="r" b="b"/>
            <a:pathLst>
              <a:path w="159385" h="63500">
                <a:moveTo>
                  <a:pt x="158795" y="63354"/>
                </a:moveTo>
                <a:lnTo>
                  <a:pt x="158795" y="0"/>
                </a:lnTo>
                <a:lnTo>
                  <a:pt x="0" y="0"/>
                </a:lnTo>
                <a:lnTo>
                  <a:pt x="0" y="63354"/>
                </a:lnTo>
                <a:lnTo>
                  <a:pt x="158795" y="63354"/>
                </a:lnTo>
              </a:path>
            </a:pathLst>
          </a:custGeom>
          <a:ln w="195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6142080" y="4766185"/>
            <a:ext cx="159385" cy="82550"/>
          </a:xfrm>
          <a:custGeom>
            <a:avLst/>
            <a:gdLst/>
            <a:ahLst/>
            <a:cxnLst/>
            <a:rect l="l" t="t" r="r" b="b"/>
            <a:pathLst>
              <a:path w="159385" h="82550">
                <a:moveTo>
                  <a:pt x="0" y="82333"/>
                </a:moveTo>
                <a:lnTo>
                  <a:pt x="158795" y="82333"/>
                </a:lnTo>
                <a:lnTo>
                  <a:pt x="158795" y="0"/>
                </a:lnTo>
                <a:lnTo>
                  <a:pt x="0" y="0"/>
                </a:lnTo>
                <a:lnTo>
                  <a:pt x="0" y="82333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142080" y="4766185"/>
            <a:ext cx="159385" cy="82550"/>
          </a:xfrm>
          <a:custGeom>
            <a:avLst/>
            <a:gdLst/>
            <a:ahLst/>
            <a:cxnLst/>
            <a:rect l="l" t="t" r="r" b="b"/>
            <a:pathLst>
              <a:path w="159385" h="82550">
                <a:moveTo>
                  <a:pt x="158795" y="82333"/>
                </a:moveTo>
                <a:lnTo>
                  <a:pt x="158795" y="0"/>
                </a:lnTo>
                <a:lnTo>
                  <a:pt x="0" y="0"/>
                </a:lnTo>
                <a:lnTo>
                  <a:pt x="0" y="82333"/>
                </a:lnTo>
                <a:lnTo>
                  <a:pt x="158795" y="82333"/>
                </a:lnTo>
              </a:path>
            </a:pathLst>
          </a:custGeom>
          <a:ln w="19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6527489" y="4766185"/>
            <a:ext cx="137160" cy="82550"/>
          </a:xfrm>
          <a:custGeom>
            <a:avLst/>
            <a:gdLst/>
            <a:ahLst/>
            <a:cxnLst/>
            <a:rect l="l" t="t" r="r" b="b"/>
            <a:pathLst>
              <a:path w="137159" h="82550">
                <a:moveTo>
                  <a:pt x="0" y="82333"/>
                </a:moveTo>
                <a:lnTo>
                  <a:pt x="136635" y="82333"/>
                </a:lnTo>
                <a:lnTo>
                  <a:pt x="136635" y="0"/>
                </a:lnTo>
                <a:lnTo>
                  <a:pt x="0" y="0"/>
                </a:lnTo>
                <a:lnTo>
                  <a:pt x="0" y="82333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6527489" y="4766185"/>
            <a:ext cx="137160" cy="82550"/>
          </a:xfrm>
          <a:custGeom>
            <a:avLst/>
            <a:gdLst/>
            <a:ahLst/>
            <a:cxnLst/>
            <a:rect l="l" t="t" r="r" b="b"/>
            <a:pathLst>
              <a:path w="137159" h="82550">
                <a:moveTo>
                  <a:pt x="136635" y="82333"/>
                </a:moveTo>
                <a:lnTo>
                  <a:pt x="136635" y="0"/>
                </a:lnTo>
                <a:lnTo>
                  <a:pt x="0" y="0"/>
                </a:lnTo>
                <a:lnTo>
                  <a:pt x="0" y="82333"/>
                </a:lnTo>
                <a:lnTo>
                  <a:pt x="136635" y="82333"/>
                </a:lnTo>
              </a:path>
            </a:pathLst>
          </a:custGeom>
          <a:ln w="200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6890815" y="4766185"/>
            <a:ext cx="159385" cy="82550"/>
          </a:xfrm>
          <a:custGeom>
            <a:avLst/>
            <a:gdLst/>
            <a:ahLst/>
            <a:cxnLst/>
            <a:rect l="l" t="t" r="r" b="b"/>
            <a:pathLst>
              <a:path w="159384" h="82550">
                <a:moveTo>
                  <a:pt x="0" y="82333"/>
                </a:moveTo>
                <a:lnTo>
                  <a:pt x="158795" y="82333"/>
                </a:lnTo>
                <a:lnTo>
                  <a:pt x="158795" y="0"/>
                </a:lnTo>
                <a:lnTo>
                  <a:pt x="0" y="0"/>
                </a:lnTo>
                <a:lnTo>
                  <a:pt x="0" y="82333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890815" y="4766185"/>
            <a:ext cx="159385" cy="82550"/>
          </a:xfrm>
          <a:custGeom>
            <a:avLst/>
            <a:gdLst/>
            <a:ahLst/>
            <a:cxnLst/>
            <a:rect l="l" t="t" r="r" b="b"/>
            <a:pathLst>
              <a:path w="159384" h="82550">
                <a:moveTo>
                  <a:pt x="158795" y="82333"/>
                </a:moveTo>
                <a:lnTo>
                  <a:pt x="158795" y="0"/>
                </a:lnTo>
                <a:lnTo>
                  <a:pt x="0" y="0"/>
                </a:lnTo>
                <a:lnTo>
                  <a:pt x="0" y="82333"/>
                </a:lnTo>
                <a:lnTo>
                  <a:pt x="158795" y="82333"/>
                </a:lnTo>
              </a:path>
            </a:pathLst>
          </a:custGeom>
          <a:ln w="198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7276527" y="4747205"/>
            <a:ext cx="159385" cy="101600"/>
          </a:xfrm>
          <a:custGeom>
            <a:avLst/>
            <a:gdLst/>
            <a:ahLst/>
            <a:cxnLst/>
            <a:rect l="l" t="t" r="r" b="b"/>
            <a:pathLst>
              <a:path w="159384" h="101600">
                <a:moveTo>
                  <a:pt x="158795" y="101312"/>
                </a:moveTo>
                <a:lnTo>
                  <a:pt x="158795" y="0"/>
                </a:lnTo>
                <a:lnTo>
                  <a:pt x="0" y="0"/>
                </a:lnTo>
                <a:lnTo>
                  <a:pt x="0" y="101312"/>
                </a:lnTo>
                <a:lnTo>
                  <a:pt x="158795" y="101312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7276527" y="4747205"/>
            <a:ext cx="159385" cy="101600"/>
          </a:xfrm>
          <a:custGeom>
            <a:avLst/>
            <a:gdLst/>
            <a:ahLst/>
            <a:cxnLst/>
            <a:rect l="l" t="t" r="r" b="b"/>
            <a:pathLst>
              <a:path w="159384" h="101600">
                <a:moveTo>
                  <a:pt x="158795" y="101312"/>
                </a:moveTo>
                <a:lnTo>
                  <a:pt x="158795" y="0"/>
                </a:lnTo>
                <a:lnTo>
                  <a:pt x="0" y="0"/>
                </a:lnTo>
                <a:lnTo>
                  <a:pt x="0" y="101312"/>
                </a:lnTo>
                <a:lnTo>
                  <a:pt x="158795" y="101312"/>
                </a:lnTo>
              </a:path>
            </a:pathLst>
          </a:custGeom>
          <a:ln w="2013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7662843" y="4747205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135897" y="101312"/>
                </a:moveTo>
                <a:lnTo>
                  <a:pt x="135897" y="0"/>
                </a:lnTo>
                <a:lnTo>
                  <a:pt x="0" y="0"/>
                </a:lnTo>
                <a:lnTo>
                  <a:pt x="0" y="101312"/>
                </a:lnTo>
                <a:lnTo>
                  <a:pt x="135897" y="101312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7662843" y="4747205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135897" y="101312"/>
                </a:moveTo>
                <a:lnTo>
                  <a:pt x="135897" y="0"/>
                </a:lnTo>
                <a:lnTo>
                  <a:pt x="0" y="0"/>
                </a:lnTo>
                <a:lnTo>
                  <a:pt x="0" y="101312"/>
                </a:lnTo>
                <a:lnTo>
                  <a:pt x="135897" y="101312"/>
                </a:lnTo>
              </a:path>
            </a:pathLst>
          </a:custGeom>
          <a:ln w="203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8025262" y="4728227"/>
            <a:ext cx="160020" cy="120650"/>
          </a:xfrm>
          <a:custGeom>
            <a:avLst/>
            <a:gdLst/>
            <a:ahLst/>
            <a:cxnLst/>
            <a:rect l="l" t="t" r="r" b="b"/>
            <a:pathLst>
              <a:path w="160020" h="120650">
                <a:moveTo>
                  <a:pt x="159533" y="120291"/>
                </a:moveTo>
                <a:lnTo>
                  <a:pt x="159533" y="0"/>
                </a:lnTo>
                <a:lnTo>
                  <a:pt x="0" y="0"/>
                </a:lnTo>
                <a:lnTo>
                  <a:pt x="0" y="120291"/>
                </a:lnTo>
                <a:lnTo>
                  <a:pt x="159533" y="120291"/>
                </a:lnTo>
                <a:close/>
              </a:path>
            </a:pathLst>
          </a:custGeom>
          <a:solidFill>
            <a:srgbClr val="999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8025261" y="4728227"/>
            <a:ext cx="160020" cy="120650"/>
          </a:xfrm>
          <a:custGeom>
            <a:avLst/>
            <a:gdLst/>
            <a:ahLst/>
            <a:cxnLst/>
            <a:rect l="l" t="t" r="r" b="b"/>
            <a:pathLst>
              <a:path w="160020" h="120650">
                <a:moveTo>
                  <a:pt x="159533" y="120291"/>
                </a:moveTo>
                <a:lnTo>
                  <a:pt x="159533" y="0"/>
                </a:lnTo>
                <a:lnTo>
                  <a:pt x="0" y="0"/>
                </a:lnTo>
                <a:lnTo>
                  <a:pt x="0" y="120291"/>
                </a:lnTo>
                <a:lnTo>
                  <a:pt x="159533" y="120291"/>
                </a:lnTo>
              </a:path>
            </a:pathLst>
          </a:custGeom>
          <a:ln w="2042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2351576" y="4215797"/>
            <a:ext cx="159385" cy="633095"/>
          </a:xfrm>
          <a:custGeom>
            <a:avLst/>
            <a:gdLst/>
            <a:ahLst/>
            <a:cxnLst/>
            <a:rect l="l" t="t" r="r" b="b"/>
            <a:pathLst>
              <a:path w="159385" h="633095">
                <a:moveTo>
                  <a:pt x="158795" y="632721"/>
                </a:moveTo>
                <a:lnTo>
                  <a:pt x="158795" y="0"/>
                </a:lnTo>
                <a:lnTo>
                  <a:pt x="0" y="0"/>
                </a:lnTo>
                <a:lnTo>
                  <a:pt x="0" y="632721"/>
                </a:lnTo>
                <a:lnTo>
                  <a:pt x="158795" y="632721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2351576" y="4215797"/>
            <a:ext cx="159385" cy="633095"/>
          </a:xfrm>
          <a:custGeom>
            <a:avLst/>
            <a:gdLst/>
            <a:ahLst/>
            <a:cxnLst/>
            <a:rect l="l" t="t" r="r" b="b"/>
            <a:pathLst>
              <a:path w="159385" h="633095">
                <a:moveTo>
                  <a:pt x="158795" y="632721"/>
                </a:moveTo>
                <a:lnTo>
                  <a:pt x="158795" y="0"/>
                </a:lnTo>
                <a:lnTo>
                  <a:pt x="0" y="0"/>
                </a:lnTo>
                <a:lnTo>
                  <a:pt x="0" y="632721"/>
                </a:lnTo>
                <a:lnTo>
                  <a:pt x="158795" y="632721"/>
                </a:lnTo>
              </a:path>
            </a:pathLst>
          </a:custGeom>
          <a:ln w="226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737107" y="4044974"/>
            <a:ext cx="136525" cy="797560"/>
          </a:xfrm>
          <a:custGeom>
            <a:avLst/>
            <a:gdLst/>
            <a:ahLst/>
            <a:cxnLst/>
            <a:rect l="l" t="t" r="r" b="b"/>
            <a:pathLst>
              <a:path w="136525" h="797560">
                <a:moveTo>
                  <a:pt x="0" y="797112"/>
                </a:moveTo>
                <a:lnTo>
                  <a:pt x="135897" y="797112"/>
                </a:lnTo>
                <a:lnTo>
                  <a:pt x="135897" y="0"/>
                </a:lnTo>
                <a:lnTo>
                  <a:pt x="0" y="0"/>
                </a:lnTo>
                <a:lnTo>
                  <a:pt x="0" y="797112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2737107" y="4044975"/>
            <a:ext cx="136525" cy="797560"/>
          </a:xfrm>
          <a:custGeom>
            <a:avLst/>
            <a:gdLst/>
            <a:ahLst/>
            <a:cxnLst/>
            <a:rect l="l" t="t" r="r" b="b"/>
            <a:pathLst>
              <a:path w="136525" h="797560">
                <a:moveTo>
                  <a:pt x="0" y="797112"/>
                </a:moveTo>
                <a:lnTo>
                  <a:pt x="135897" y="797112"/>
                </a:lnTo>
                <a:lnTo>
                  <a:pt x="135897" y="0"/>
                </a:lnTo>
                <a:lnTo>
                  <a:pt x="0" y="0"/>
                </a:lnTo>
                <a:lnTo>
                  <a:pt x="0" y="797112"/>
                </a:lnTo>
                <a:close/>
              </a:path>
            </a:pathLst>
          </a:custGeom>
          <a:ln w="22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3100493" y="3874152"/>
            <a:ext cx="159385" cy="968375"/>
          </a:xfrm>
          <a:custGeom>
            <a:avLst/>
            <a:gdLst/>
            <a:ahLst/>
            <a:cxnLst/>
            <a:rect l="l" t="t" r="r" b="b"/>
            <a:pathLst>
              <a:path w="159385" h="968375">
                <a:moveTo>
                  <a:pt x="0" y="967935"/>
                </a:moveTo>
                <a:lnTo>
                  <a:pt x="158795" y="967935"/>
                </a:lnTo>
                <a:lnTo>
                  <a:pt x="158795" y="0"/>
                </a:lnTo>
                <a:lnTo>
                  <a:pt x="0" y="0"/>
                </a:lnTo>
                <a:lnTo>
                  <a:pt x="0" y="967935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3100493" y="3874152"/>
            <a:ext cx="159385" cy="968375"/>
          </a:xfrm>
          <a:custGeom>
            <a:avLst/>
            <a:gdLst/>
            <a:ahLst/>
            <a:cxnLst/>
            <a:rect l="l" t="t" r="r" b="b"/>
            <a:pathLst>
              <a:path w="159385" h="968375">
                <a:moveTo>
                  <a:pt x="0" y="967935"/>
                </a:moveTo>
                <a:lnTo>
                  <a:pt x="158795" y="967935"/>
                </a:lnTo>
                <a:lnTo>
                  <a:pt x="158795" y="0"/>
                </a:lnTo>
                <a:lnTo>
                  <a:pt x="0" y="0"/>
                </a:lnTo>
                <a:lnTo>
                  <a:pt x="0" y="967935"/>
                </a:lnTo>
                <a:close/>
              </a:path>
            </a:pathLst>
          </a:custGeom>
          <a:ln w="2279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3486023" y="3874177"/>
            <a:ext cx="159385" cy="949325"/>
          </a:xfrm>
          <a:custGeom>
            <a:avLst/>
            <a:gdLst/>
            <a:ahLst/>
            <a:cxnLst/>
            <a:rect l="l" t="t" r="r" b="b"/>
            <a:pathLst>
              <a:path w="159385" h="949325">
                <a:moveTo>
                  <a:pt x="0" y="948943"/>
                </a:moveTo>
                <a:lnTo>
                  <a:pt x="158795" y="948943"/>
                </a:lnTo>
                <a:lnTo>
                  <a:pt x="158795" y="0"/>
                </a:lnTo>
                <a:lnTo>
                  <a:pt x="0" y="0"/>
                </a:lnTo>
                <a:lnTo>
                  <a:pt x="0" y="948943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486023" y="3874177"/>
            <a:ext cx="159385" cy="949325"/>
          </a:xfrm>
          <a:custGeom>
            <a:avLst/>
            <a:gdLst/>
            <a:ahLst/>
            <a:cxnLst/>
            <a:rect l="l" t="t" r="r" b="b"/>
            <a:pathLst>
              <a:path w="159385" h="949325">
                <a:moveTo>
                  <a:pt x="0" y="948943"/>
                </a:moveTo>
                <a:lnTo>
                  <a:pt x="158795" y="948943"/>
                </a:lnTo>
                <a:lnTo>
                  <a:pt x="158795" y="0"/>
                </a:lnTo>
                <a:lnTo>
                  <a:pt x="0" y="0"/>
                </a:lnTo>
                <a:lnTo>
                  <a:pt x="0" y="948943"/>
                </a:lnTo>
                <a:close/>
              </a:path>
            </a:pathLst>
          </a:custGeom>
          <a:ln w="22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3872279" y="3779270"/>
            <a:ext cx="136525" cy="1043940"/>
          </a:xfrm>
          <a:custGeom>
            <a:avLst/>
            <a:gdLst/>
            <a:ahLst/>
            <a:cxnLst/>
            <a:rect l="l" t="t" r="r" b="b"/>
            <a:pathLst>
              <a:path w="136525" h="1043939">
                <a:moveTo>
                  <a:pt x="0" y="1043850"/>
                </a:moveTo>
                <a:lnTo>
                  <a:pt x="135897" y="1043850"/>
                </a:lnTo>
                <a:lnTo>
                  <a:pt x="135897" y="0"/>
                </a:lnTo>
                <a:lnTo>
                  <a:pt x="0" y="0"/>
                </a:lnTo>
                <a:lnTo>
                  <a:pt x="0" y="1043850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872279" y="3779270"/>
            <a:ext cx="136525" cy="1043940"/>
          </a:xfrm>
          <a:custGeom>
            <a:avLst/>
            <a:gdLst/>
            <a:ahLst/>
            <a:cxnLst/>
            <a:rect l="l" t="t" r="r" b="b"/>
            <a:pathLst>
              <a:path w="136525" h="1043939">
                <a:moveTo>
                  <a:pt x="0" y="1043850"/>
                </a:moveTo>
                <a:lnTo>
                  <a:pt x="135897" y="1043850"/>
                </a:lnTo>
                <a:lnTo>
                  <a:pt x="135897" y="0"/>
                </a:lnTo>
                <a:lnTo>
                  <a:pt x="0" y="0"/>
                </a:lnTo>
                <a:lnTo>
                  <a:pt x="0" y="1043850"/>
                </a:lnTo>
                <a:close/>
              </a:path>
            </a:pathLst>
          </a:custGeom>
          <a:ln w="2283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4235000" y="3608448"/>
            <a:ext cx="159385" cy="1195705"/>
          </a:xfrm>
          <a:custGeom>
            <a:avLst/>
            <a:gdLst/>
            <a:ahLst/>
            <a:cxnLst/>
            <a:rect l="l" t="t" r="r" b="b"/>
            <a:pathLst>
              <a:path w="159385" h="1195704">
                <a:moveTo>
                  <a:pt x="0" y="1195681"/>
                </a:moveTo>
                <a:lnTo>
                  <a:pt x="158795" y="1195681"/>
                </a:lnTo>
                <a:lnTo>
                  <a:pt x="158795" y="0"/>
                </a:lnTo>
                <a:lnTo>
                  <a:pt x="0" y="0"/>
                </a:lnTo>
                <a:lnTo>
                  <a:pt x="0" y="1195681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235000" y="3608448"/>
            <a:ext cx="159385" cy="1195705"/>
          </a:xfrm>
          <a:custGeom>
            <a:avLst/>
            <a:gdLst/>
            <a:ahLst/>
            <a:cxnLst/>
            <a:rect l="l" t="t" r="r" b="b"/>
            <a:pathLst>
              <a:path w="159385" h="1195704">
                <a:moveTo>
                  <a:pt x="0" y="1195681"/>
                </a:moveTo>
                <a:lnTo>
                  <a:pt x="158795" y="1195681"/>
                </a:lnTo>
                <a:lnTo>
                  <a:pt x="158795" y="0"/>
                </a:lnTo>
                <a:lnTo>
                  <a:pt x="0" y="0"/>
                </a:lnTo>
                <a:lnTo>
                  <a:pt x="0" y="1195681"/>
                </a:lnTo>
                <a:close/>
              </a:path>
            </a:pathLst>
          </a:custGeom>
          <a:ln w="228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4621317" y="3532532"/>
            <a:ext cx="159385" cy="1271905"/>
          </a:xfrm>
          <a:custGeom>
            <a:avLst/>
            <a:gdLst/>
            <a:ahLst/>
            <a:cxnLst/>
            <a:rect l="l" t="t" r="r" b="b"/>
            <a:pathLst>
              <a:path w="159385" h="1271904">
                <a:moveTo>
                  <a:pt x="0" y="1271597"/>
                </a:moveTo>
                <a:lnTo>
                  <a:pt x="158795" y="1271597"/>
                </a:lnTo>
                <a:lnTo>
                  <a:pt x="158795" y="0"/>
                </a:lnTo>
                <a:lnTo>
                  <a:pt x="0" y="0"/>
                </a:lnTo>
                <a:lnTo>
                  <a:pt x="0" y="1271597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621317" y="3532532"/>
            <a:ext cx="159385" cy="1271905"/>
          </a:xfrm>
          <a:custGeom>
            <a:avLst/>
            <a:gdLst/>
            <a:ahLst/>
            <a:cxnLst/>
            <a:rect l="l" t="t" r="r" b="b"/>
            <a:pathLst>
              <a:path w="159385" h="1271904">
                <a:moveTo>
                  <a:pt x="0" y="1271597"/>
                </a:moveTo>
                <a:lnTo>
                  <a:pt x="158795" y="1271597"/>
                </a:lnTo>
                <a:lnTo>
                  <a:pt x="158795" y="0"/>
                </a:lnTo>
                <a:lnTo>
                  <a:pt x="0" y="0"/>
                </a:lnTo>
                <a:lnTo>
                  <a:pt x="0" y="1271597"/>
                </a:lnTo>
                <a:close/>
              </a:path>
            </a:pathLst>
          </a:custGeom>
          <a:ln w="228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5006726" y="3285819"/>
            <a:ext cx="159385" cy="1518920"/>
          </a:xfrm>
          <a:custGeom>
            <a:avLst/>
            <a:gdLst/>
            <a:ahLst/>
            <a:cxnLst/>
            <a:rect l="l" t="t" r="r" b="b"/>
            <a:pathLst>
              <a:path w="159385" h="1518920">
                <a:moveTo>
                  <a:pt x="0" y="1518310"/>
                </a:moveTo>
                <a:lnTo>
                  <a:pt x="158795" y="1518310"/>
                </a:lnTo>
                <a:lnTo>
                  <a:pt x="158795" y="0"/>
                </a:lnTo>
                <a:lnTo>
                  <a:pt x="0" y="0"/>
                </a:lnTo>
                <a:lnTo>
                  <a:pt x="0" y="1518310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5006726" y="3285819"/>
            <a:ext cx="159385" cy="1518920"/>
          </a:xfrm>
          <a:custGeom>
            <a:avLst/>
            <a:gdLst/>
            <a:ahLst/>
            <a:cxnLst/>
            <a:rect l="l" t="t" r="r" b="b"/>
            <a:pathLst>
              <a:path w="159385" h="1518920">
                <a:moveTo>
                  <a:pt x="0" y="1518310"/>
                </a:moveTo>
                <a:lnTo>
                  <a:pt x="158795" y="1518310"/>
                </a:lnTo>
                <a:lnTo>
                  <a:pt x="158795" y="0"/>
                </a:lnTo>
                <a:lnTo>
                  <a:pt x="0" y="0"/>
                </a:lnTo>
                <a:lnTo>
                  <a:pt x="0" y="1518310"/>
                </a:lnTo>
                <a:close/>
              </a:path>
            </a:pathLst>
          </a:custGeom>
          <a:ln w="2285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5393043" y="3115022"/>
            <a:ext cx="136525" cy="1670685"/>
          </a:xfrm>
          <a:custGeom>
            <a:avLst/>
            <a:gdLst/>
            <a:ahLst/>
            <a:cxnLst/>
            <a:rect l="l" t="t" r="r" b="b"/>
            <a:pathLst>
              <a:path w="136525" h="1670685">
                <a:moveTo>
                  <a:pt x="0" y="1670141"/>
                </a:moveTo>
                <a:lnTo>
                  <a:pt x="135897" y="1670141"/>
                </a:lnTo>
                <a:lnTo>
                  <a:pt x="135897" y="0"/>
                </a:lnTo>
                <a:lnTo>
                  <a:pt x="0" y="0"/>
                </a:lnTo>
                <a:lnTo>
                  <a:pt x="0" y="1670141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5393043" y="3115022"/>
            <a:ext cx="136525" cy="1670685"/>
          </a:xfrm>
          <a:custGeom>
            <a:avLst/>
            <a:gdLst/>
            <a:ahLst/>
            <a:cxnLst/>
            <a:rect l="l" t="t" r="r" b="b"/>
            <a:pathLst>
              <a:path w="136525" h="1670685">
                <a:moveTo>
                  <a:pt x="0" y="1670141"/>
                </a:moveTo>
                <a:lnTo>
                  <a:pt x="135897" y="1670141"/>
                </a:lnTo>
                <a:lnTo>
                  <a:pt x="135897" y="0"/>
                </a:lnTo>
                <a:lnTo>
                  <a:pt x="0" y="0"/>
                </a:lnTo>
                <a:lnTo>
                  <a:pt x="0" y="1670141"/>
                </a:lnTo>
                <a:close/>
              </a:path>
            </a:pathLst>
          </a:custGeom>
          <a:ln w="228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5755763" y="3190937"/>
            <a:ext cx="159385" cy="1594485"/>
          </a:xfrm>
          <a:custGeom>
            <a:avLst/>
            <a:gdLst/>
            <a:ahLst/>
            <a:cxnLst/>
            <a:rect l="l" t="t" r="r" b="b"/>
            <a:pathLst>
              <a:path w="159385" h="1594485">
                <a:moveTo>
                  <a:pt x="0" y="1594225"/>
                </a:moveTo>
                <a:lnTo>
                  <a:pt x="158795" y="1594225"/>
                </a:lnTo>
                <a:lnTo>
                  <a:pt x="158795" y="0"/>
                </a:lnTo>
                <a:lnTo>
                  <a:pt x="0" y="0"/>
                </a:lnTo>
                <a:lnTo>
                  <a:pt x="0" y="1594225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5755763" y="3190938"/>
            <a:ext cx="159385" cy="1594485"/>
          </a:xfrm>
          <a:custGeom>
            <a:avLst/>
            <a:gdLst/>
            <a:ahLst/>
            <a:cxnLst/>
            <a:rect l="l" t="t" r="r" b="b"/>
            <a:pathLst>
              <a:path w="159385" h="1594485">
                <a:moveTo>
                  <a:pt x="0" y="1594225"/>
                </a:moveTo>
                <a:lnTo>
                  <a:pt x="158795" y="1594225"/>
                </a:lnTo>
                <a:lnTo>
                  <a:pt x="158795" y="0"/>
                </a:lnTo>
                <a:lnTo>
                  <a:pt x="0" y="0"/>
                </a:lnTo>
                <a:lnTo>
                  <a:pt x="0" y="1594225"/>
                </a:lnTo>
                <a:close/>
              </a:path>
            </a:pathLst>
          </a:custGeom>
          <a:ln w="228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142080" y="3342744"/>
            <a:ext cx="159385" cy="1423670"/>
          </a:xfrm>
          <a:custGeom>
            <a:avLst/>
            <a:gdLst/>
            <a:ahLst/>
            <a:cxnLst/>
            <a:rect l="l" t="t" r="r" b="b"/>
            <a:pathLst>
              <a:path w="159385" h="1423670">
                <a:moveTo>
                  <a:pt x="0" y="1423428"/>
                </a:moveTo>
                <a:lnTo>
                  <a:pt x="158795" y="1423428"/>
                </a:lnTo>
                <a:lnTo>
                  <a:pt x="158795" y="0"/>
                </a:lnTo>
                <a:lnTo>
                  <a:pt x="0" y="0"/>
                </a:lnTo>
                <a:lnTo>
                  <a:pt x="0" y="1423428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142080" y="3342744"/>
            <a:ext cx="159385" cy="1423670"/>
          </a:xfrm>
          <a:custGeom>
            <a:avLst/>
            <a:gdLst/>
            <a:ahLst/>
            <a:cxnLst/>
            <a:rect l="l" t="t" r="r" b="b"/>
            <a:pathLst>
              <a:path w="159385" h="1423670">
                <a:moveTo>
                  <a:pt x="0" y="1423428"/>
                </a:moveTo>
                <a:lnTo>
                  <a:pt x="158795" y="1423428"/>
                </a:lnTo>
                <a:lnTo>
                  <a:pt x="158795" y="0"/>
                </a:lnTo>
                <a:lnTo>
                  <a:pt x="0" y="0"/>
                </a:lnTo>
                <a:lnTo>
                  <a:pt x="0" y="1423428"/>
                </a:lnTo>
                <a:close/>
              </a:path>
            </a:pathLst>
          </a:custGeom>
          <a:ln w="228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527489" y="3494575"/>
            <a:ext cx="137160" cy="1271905"/>
          </a:xfrm>
          <a:custGeom>
            <a:avLst/>
            <a:gdLst/>
            <a:ahLst/>
            <a:cxnLst/>
            <a:rect l="l" t="t" r="r" b="b"/>
            <a:pathLst>
              <a:path w="137159" h="1271904">
                <a:moveTo>
                  <a:pt x="0" y="1271597"/>
                </a:moveTo>
                <a:lnTo>
                  <a:pt x="136635" y="1271597"/>
                </a:lnTo>
                <a:lnTo>
                  <a:pt x="136635" y="0"/>
                </a:lnTo>
                <a:lnTo>
                  <a:pt x="0" y="0"/>
                </a:lnTo>
                <a:lnTo>
                  <a:pt x="0" y="1271597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527489" y="3494575"/>
            <a:ext cx="137160" cy="1271905"/>
          </a:xfrm>
          <a:custGeom>
            <a:avLst/>
            <a:gdLst/>
            <a:ahLst/>
            <a:cxnLst/>
            <a:rect l="l" t="t" r="r" b="b"/>
            <a:pathLst>
              <a:path w="137159" h="1271904">
                <a:moveTo>
                  <a:pt x="0" y="1271597"/>
                </a:moveTo>
                <a:lnTo>
                  <a:pt x="136635" y="1271597"/>
                </a:lnTo>
                <a:lnTo>
                  <a:pt x="136635" y="0"/>
                </a:lnTo>
                <a:lnTo>
                  <a:pt x="0" y="0"/>
                </a:lnTo>
                <a:lnTo>
                  <a:pt x="0" y="1271597"/>
                </a:lnTo>
                <a:close/>
              </a:path>
            </a:pathLst>
          </a:custGeom>
          <a:ln w="228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890815" y="3570490"/>
            <a:ext cx="159385" cy="1195705"/>
          </a:xfrm>
          <a:custGeom>
            <a:avLst/>
            <a:gdLst/>
            <a:ahLst/>
            <a:cxnLst/>
            <a:rect l="l" t="t" r="r" b="b"/>
            <a:pathLst>
              <a:path w="159384" h="1195704">
                <a:moveTo>
                  <a:pt x="0" y="1195681"/>
                </a:moveTo>
                <a:lnTo>
                  <a:pt x="158795" y="1195681"/>
                </a:lnTo>
                <a:lnTo>
                  <a:pt x="158795" y="0"/>
                </a:lnTo>
                <a:lnTo>
                  <a:pt x="0" y="0"/>
                </a:lnTo>
                <a:lnTo>
                  <a:pt x="0" y="1195681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890815" y="3570490"/>
            <a:ext cx="159385" cy="1195705"/>
          </a:xfrm>
          <a:custGeom>
            <a:avLst/>
            <a:gdLst/>
            <a:ahLst/>
            <a:cxnLst/>
            <a:rect l="l" t="t" r="r" b="b"/>
            <a:pathLst>
              <a:path w="159384" h="1195704">
                <a:moveTo>
                  <a:pt x="0" y="1195681"/>
                </a:moveTo>
                <a:lnTo>
                  <a:pt x="158795" y="1195681"/>
                </a:lnTo>
                <a:lnTo>
                  <a:pt x="158795" y="0"/>
                </a:lnTo>
                <a:lnTo>
                  <a:pt x="0" y="0"/>
                </a:lnTo>
                <a:lnTo>
                  <a:pt x="0" y="1195681"/>
                </a:lnTo>
                <a:close/>
              </a:path>
            </a:pathLst>
          </a:custGeom>
          <a:ln w="2282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7276527" y="3722346"/>
            <a:ext cx="159385" cy="1024890"/>
          </a:xfrm>
          <a:custGeom>
            <a:avLst/>
            <a:gdLst/>
            <a:ahLst/>
            <a:cxnLst/>
            <a:rect l="l" t="t" r="r" b="b"/>
            <a:pathLst>
              <a:path w="159384" h="1024889">
                <a:moveTo>
                  <a:pt x="0" y="1024859"/>
                </a:moveTo>
                <a:lnTo>
                  <a:pt x="158795" y="1024859"/>
                </a:lnTo>
                <a:lnTo>
                  <a:pt x="158795" y="0"/>
                </a:lnTo>
                <a:lnTo>
                  <a:pt x="0" y="0"/>
                </a:lnTo>
                <a:lnTo>
                  <a:pt x="0" y="1024859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7276527" y="3722346"/>
            <a:ext cx="159385" cy="1024890"/>
          </a:xfrm>
          <a:custGeom>
            <a:avLst/>
            <a:gdLst/>
            <a:ahLst/>
            <a:cxnLst/>
            <a:rect l="l" t="t" r="r" b="b"/>
            <a:pathLst>
              <a:path w="159384" h="1024889">
                <a:moveTo>
                  <a:pt x="0" y="1024859"/>
                </a:moveTo>
                <a:lnTo>
                  <a:pt x="158795" y="1024859"/>
                </a:lnTo>
                <a:lnTo>
                  <a:pt x="158795" y="0"/>
                </a:lnTo>
                <a:lnTo>
                  <a:pt x="0" y="0"/>
                </a:lnTo>
                <a:lnTo>
                  <a:pt x="0" y="1024859"/>
                </a:lnTo>
                <a:close/>
              </a:path>
            </a:pathLst>
          </a:custGeom>
          <a:ln w="228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7662843" y="3950092"/>
            <a:ext cx="136525" cy="797560"/>
          </a:xfrm>
          <a:custGeom>
            <a:avLst/>
            <a:gdLst/>
            <a:ahLst/>
            <a:cxnLst/>
            <a:rect l="l" t="t" r="r" b="b"/>
            <a:pathLst>
              <a:path w="136525" h="797560">
                <a:moveTo>
                  <a:pt x="0" y="797112"/>
                </a:moveTo>
                <a:lnTo>
                  <a:pt x="135897" y="797112"/>
                </a:lnTo>
                <a:lnTo>
                  <a:pt x="135897" y="0"/>
                </a:lnTo>
                <a:lnTo>
                  <a:pt x="0" y="0"/>
                </a:lnTo>
                <a:lnTo>
                  <a:pt x="0" y="797112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7662843" y="3950093"/>
            <a:ext cx="136525" cy="797560"/>
          </a:xfrm>
          <a:custGeom>
            <a:avLst/>
            <a:gdLst/>
            <a:ahLst/>
            <a:cxnLst/>
            <a:rect l="l" t="t" r="r" b="b"/>
            <a:pathLst>
              <a:path w="136525" h="797560">
                <a:moveTo>
                  <a:pt x="0" y="797112"/>
                </a:moveTo>
                <a:lnTo>
                  <a:pt x="135897" y="797112"/>
                </a:lnTo>
                <a:lnTo>
                  <a:pt x="135897" y="0"/>
                </a:lnTo>
                <a:lnTo>
                  <a:pt x="0" y="0"/>
                </a:lnTo>
                <a:lnTo>
                  <a:pt x="0" y="797112"/>
                </a:lnTo>
                <a:close/>
              </a:path>
            </a:pathLst>
          </a:custGeom>
          <a:ln w="2278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8025262" y="4253730"/>
            <a:ext cx="160020" cy="474980"/>
          </a:xfrm>
          <a:custGeom>
            <a:avLst/>
            <a:gdLst/>
            <a:ahLst/>
            <a:cxnLst/>
            <a:rect l="l" t="t" r="r" b="b"/>
            <a:pathLst>
              <a:path w="160020" h="474979">
                <a:moveTo>
                  <a:pt x="0" y="474484"/>
                </a:moveTo>
                <a:lnTo>
                  <a:pt x="159533" y="474484"/>
                </a:lnTo>
                <a:lnTo>
                  <a:pt x="159533" y="0"/>
                </a:lnTo>
                <a:lnTo>
                  <a:pt x="0" y="0"/>
                </a:lnTo>
                <a:lnTo>
                  <a:pt x="0" y="474484"/>
                </a:lnTo>
                <a:close/>
              </a:path>
            </a:pathLst>
          </a:custGeom>
          <a:solidFill>
            <a:srgbClr val="9933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8025261" y="4253730"/>
            <a:ext cx="160020" cy="474980"/>
          </a:xfrm>
          <a:custGeom>
            <a:avLst/>
            <a:gdLst/>
            <a:ahLst/>
            <a:cxnLst/>
            <a:rect l="l" t="t" r="r" b="b"/>
            <a:pathLst>
              <a:path w="160020" h="474979">
                <a:moveTo>
                  <a:pt x="0" y="474484"/>
                </a:moveTo>
                <a:lnTo>
                  <a:pt x="159533" y="474484"/>
                </a:lnTo>
                <a:lnTo>
                  <a:pt x="159533" y="0"/>
                </a:lnTo>
                <a:lnTo>
                  <a:pt x="0" y="0"/>
                </a:lnTo>
                <a:lnTo>
                  <a:pt x="0" y="474484"/>
                </a:lnTo>
                <a:close/>
              </a:path>
            </a:pathLst>
          </a:custGeom>
          <a:ln w="225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2237829" y="2868359"/>
            <a:ext cx="0" cy="1974214"/>
          </a:xfrm>
          <a:custGeom>
            <a:avLst/>
            <a:gdLst/>
            <a:ahLst/>
            <a:cxnLst/>
            <a:rect l="l" t="t" r="r" b="b"/>
            <a:pathLst>
              <a:path h="1974214">
                <a:moveTo>
                  <a:pt x="0" y="0"/>
                </a:moveTo>
                <a:lnTo>
                  <a:pt x="0" y="1973727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2237829" y="4861079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797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2237829" y="4462510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797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2237829" y="4063966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797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2237829" y="3665397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797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2237829" y="3266778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797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2237829" y="2868359"/>
            <a:ext cx="68580" cy="0"/>
          </a:xfrm>
          <a:custGeom>
            <a:avLst/>
            <a:gdLst/>
            <a:ahLst/>
            <a:cxnLst/>
            <a:rect l="l" t="t" r="r" b="b"/>
            <a:pathLst>
              <a:path w="68580">
                <a:moveTo>
                  <a:pt x="0" y="0"/>
                </a:moveTo>
                <a:lnTo>
                  <a:pt x="67976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2237829" y="4861079"/>
            <a:ext cx="6037580" cy="0"/>
          </a:xfrm>
          <a:custGeom>
            <a:avLst/>
            <a:gdLst/>
            <a:ahLst/>
            <a:cxnLst/>
            <a:rect l="l" t="t" r="r" b="b"/>
            <a:pathLst>
              <a:path w="6037580">
                <a:moveTo>
                  <a:pt x="0" y="0"/>
                </a:moveTo>
                <a:lnTo>
                  <a:pt x="6037010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2237829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2623390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2986745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3373032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3758532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4121858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4507569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4893886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5279295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5642621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028333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414347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777067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7163384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7549096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7912421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297831" y="4804130"/>
            <a:ext cx="0" cy="57150"/>
          </a:xfrm>
          <a:custGeom>
            <a:avLst/>
            <a:gdLst/>
            <a:ahLst/>
            <a:cxnLst/>
            <a:rect l="l" t="t" r="r" b="b"/>
            <a:pathLst>
              <a:path h="57150">
                <a:moveTo>
                  <a:pt x="0" y="56949"/>
                </a:moveTo>
                <a:lnTo>
                  <a:pt x="0" y="0"/>
                </a:lnTo>
              </a:path>
            </a:pathLst>
          </a:custGeom>
          <a:ln w="2289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 txBox="1"/>
          <p:nvPr/>
        </p:nvSpPr>
        <p:spPr>
          <a:xfrm>
            <a:off x="4810088" y="1969672"/>
            <a:ext cx="89916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370" dirty="0">
                <a:latin typeface="宋体"/>
                <a:cs typeface="宋体"/>
              </a:rPr>
              <a:t>资源图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1518832" y="2588568"/>
            <a:ext cx="489584" cy="241744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0"/>
              </a:spcBef>
            </a:pPr>
            <a:r>
              <a:rPr sz="1950" spc="270" dirty="0">
                <a:latin typeface="宋体"/>
                <a:cs typeface="宋体"/>
              </a:rPr>
              <a:t>250</a:t>
            </a:r>
            <a:endParaRPr sz="195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800"/>
              </a:spcBef>
            </a:pPr>
            <a:r>
              <a:rPr sz="1950" spc="270" dirty="0">
                <a:latin typeface="宋体"/>
                <a:cs typeface="宋体"/>
              </a:rPr>
              <a:t>200</a:t>
            </a:r>
            <a:endParaRPr sz="195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795"/>
              </a:spcBef>
            </a:pPr>
            <a:r>
              <a:rPr sz="1950" spc="270" dirty="0">
                <a:latin typeface="宋体"/>
                <a:cs typeface="宋体"/>
              </a:rPr>
              <a:t>150</a:t>
            </a:r>
            <a:endParaRPr sz="195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800"/>
              </a:spcBef>
            </a:pPr>
            <a:r>
              <a:rPr sz="1950" spc="270" dirty="0">
                <a:latin typeface="宋体"/>
                <a:cs typeface="宋体"/>
              </a:rPr>
              <a:t>100</a:t>
            </a:r>
            <a:endParaRPr sz="1950">
              <a:latin typeface="宋体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795"/>
              </a:spcBef>
            </a:pPr>
            <a:r>
              <a:rPr sz="1950" spc="270" dirty="0">
                <a:latin typeface="宋体"/>
                <a:cs typeface="宋体"/>
              </a:rPr>
              <a:t>50</a:t>
            </a:r>
            <a:endParaRPr sz="1950">
              <a:latin typeface="宋体"/>
              <a:cs typeface="宋体"/>
            </a:endParaRPr>
          </a:p>
          <a:p>
            <a:pPr marR="13970" algn="r">
              <a:lnSpc>
                <a:spcPct val="100000"/>
              </a:lnSpc>
              <a:spcBef>
                <a:spcPts val="800"/>
              </a:spcBef>
            </a:pPr>
            <a:r>
              <a:rPr sz="1950" spc="195" dirty="0">
                <a:latin typeface="宋体"/>
                <a:cs typeface="宋体"/>
              </a:rPr>
              <a:t>0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2336450" y="5025183"/>
            <a:ext cx="16192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195" dirty="0">
                <a:latin typeface="宋体"/>
                <a:cs typeface="宋体"/>
              </a:rPr>
              <a:t>1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107511" y="5025183"/>
            <a:ext cx="16192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195" dirty="0">
                <a:latin typeface="宋体"/>
                <a:cs typeface="宋体"/>
              </a:rPr>
              <a:t>3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3857153" y="5025183"/>
            <a:ext cx="16192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195" dirty="0">
                <a:latin typeface="宋体"/>
                <a:cs typeface="宋体"/>
              </a:rPr>
              <a:t>5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6035896" y="5025183"/>
            <a:ext cx="330835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950" spc="270" dirty="0">
                <a:latin typeface="宋体"/>
                <a:cs typeface="宋体"/>
              </a:rPr>
              <a:t>11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6807924" y="5025183"/>
            <a:ext cx="1079500" cy="322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748665" algn="l"/>
              </a:tabLst>
            </a:pPr>
            <a:r>
              <a:rPr sz="1950" spc="270" dirty="0">
                <a:latin typeface="宋体"/>
                <a:cs typeface="宋体"/>
              </a:rPr>
              <a:t>1</a:t>
            </a:r>
            <a:r>
              <a:rPr sz="1950" spc="195" dirty="0">
                <a:latin typeface="宋体"/>
                <a:cs typeface="宋体"/>
              </a:rPr>
              <a:t>3</a:t>
            </a:r>
            <a:r>
              <a:rPr sz="1950" dirty="0">
                <a:latin typeface="宋体"/>
                <a:cs typeface="宋体"/>
              </a:rPr>
              <a:t>	</a:t>
            </a:r>
            <a:r>
              <a:rPr sz="1950" spc="270" dirty="0">
                <a:latin typeface="宋体"/>
                <a:cs typeface="宋体"/>
              </a:rPr>
              <a:t>15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4515132" y="4942200"/>
            <a:ext cx="1490345" cy="78486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50"/>
              </a:spcBef>
              <a:tabLst>
                <a:tab pos="862330" algn="l"/>
              </a:tabLst>
            </a:pPr>
            <a:r>
              <a:rPr sz="1950" spc="195" dirty="0">
                <a:latin typeface="宋体"/>
                <a:cs typeface="宋体"/>
              </a:rPr>
              <a:t>7	9</a:t>
            </a:r>
            <a:endParaRPr sz="195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r>
              <a:rPr sz="1950" spc="370" dirty="0">
                <a:latin typeface="宋体"/>
                <a:cs typeface="宋体"/>
              </a:rPr>
              <a:t>时间（周）</a:t>
            </a:r>
            <a:endParaRPr sz="1950">
              <a:latin typeface="宋体"/>
              <a:cs typeface="宋体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068650" y="3098172"/>
            <a:ext cx="323215" cy="149796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2545"/>
              </a:lnSpc>
            </a:pPr>
            <a:r>
              <a:rPr sz="2350" spc="-15" dirty="0">
                <a:latin typeface="宋体"/>
                <a:cs typeface="宋体"/>
              </a:rPr>
              <a:t>资源（工时）</a:t>
            </a:r>
            <a:endParaRPr sz="2350">
              <a:latin typeface="宋体"/>
              <a:cs typeface="宋体"/>
            </a:endParaRPr>
          </a:p>
        </p:txBody>
      </p:sp>
      <p:sp>
        <p:nvSpPr>
          <p:cNvPr id="152" name="object 152"/>
          <p:cNvSpPr/>
          <p:nvPr/>
        </p:nvSpPr>
        <p:spPr>
          <a:xfrm>
            <a:off x="724865" y="5930324"/>
            <a:ext cx="7658734" cy="0"/>
          </a:xfrm>
          <a:custGeom>
            <a:avLst/>
            <a:gdLst/>
            <a:ahLst/>
            <a:cxnLst/>
            <a:rect l="l" t="t" r="r" b="b"/>
            <a:pathLst>
              <a:path w="7658734">
                <a:moveTo>
                  <a:pt x="0" y="0"/>
                </a:moveTo>
                <a:lnTo>
                  <a:pt x="7658578" y="0"/>
                </a:lnTo>
              </a:path>
            </a:pathLst>
          </a:custGeom>
          <a:ln w="190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724865" y="1868769"/>
            <a:ext cx="7658734" cy="4062095"/>
          </a:xfrm>
          <a:custGeom>
            <a:avLst/>
            <a:gdLst/>
            <a:ahLst/>
            <a:cxnLst/>
            <a:rect l="l" t="t" r="r" b="b"/>
            <a:pathLst>
              <a:path w="7658734" h="4062095">
                <a:moveTo>
                  <a:pt x="7658578" y="0"/>
                </a:moveTo>
                <a:lnTo>
                  <a:pt x="0" y="0"/>
                </a:lnTo>
                <a:lnTo>
                  <a:pt x="0" y="4061555"/>
                </a:lnTo>
              </a:path>
            </a:pathLst>
          </a:custGeom>
          <a:ln w="198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78168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燃尽图</a:t>
            </a:r>
            <a:r>
              <a:rPr sz="4400" spc="-5" dirty="0">
                <a:solidFill>
                  <a:srgbClr val="775F54"/>
                </a:solidFill>
                <a:latin typeface="Tw Cen MT"/>
                <a:cs typeface="Tw Cen MT"/>
              </a:rPr>
              <a:t>(Burndown</a:t>
            </a:r>
            <a:r>
              <a:rPr sz="4400" spc="-60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spc="10" dirty="0">
                <a:solidFill>
                  <a:srgbClr val="775F54"/>
                </a:solidFill>
                <a:latin typeface="Tw Cen MT"/>
                <a:cs typeface="Tw Cen MT"/>
              </a:rPr>
              <a:t>Chart)</a:t>
            </a:r>
            <a:r>
              <a:rPr sz="4400" spc="-20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775F54"/>
                </a:solidFill>
                <a:latin typeface="Tw Cen MT"/>
                <a:cs typeface="Tw Cen MT"/>
              </a:rPr>
              <a:t>–</a:t>
            </a:r>
            <a:r>
              <a:rPr sz="4400" spc="-25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进度图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0" y="61497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1700603"/>
            <a:ext cx="6759179" cy="40890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08810" y="2565654"/>
            <a:ext cx="3888104" cy="2519680"/>
          </a:xfrm>
          <a:custGeom>
            <a:avLst/>
            <a:gdLst/>
            <a:ahLst/>
            <a:cxnLst/>
            <a:rect l="l" t="t" r="r" b="b"/>
            <a:pathLst>
              <a:path w="3888104" h="2519679">
                <a:moveTo>
                  <a:pt x="0" y="0"/>
                </a:moveTo>
                <a:lnTo>
                  <a:pt x="3887851" y="2519426"/>
                </a:lnTo>
              </a:path>
            </a:pathLst>
          </a:custGeom>
          <a:ln w="3200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35026"/>
            <a:ext cx="71805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燃起图</a:t>
            </a:r>
            <a:r>
              <a:rPr sz="4400" spc="10" dirty="0">
                <a:solidFill>
                  <a:srgbClr val="775F54"/>
                </a:solidFill>
                <a:latin typeface="Tw Cen MT"/>
                <a:cs typeface="Tw Cen MT"/>
              </a:rPr>
              <a:t>(Burnup</a:t>
            </a:r>
            <a:r>
              <a:rPr sz="4400" spc="-55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spc="10" dirty="0">
                <a:solidFill>
                  <a:srgbClr val="775F54"/>
                </a:solidFill>
                <a:latin typeface="Tw Cen MT"/>
                <a:cs typeface="Tw Cen MT"/>
              </a:rPr>
              <a:t>Chart)</a:t>
            </a:r>
            <a:r>
              <a:rPr sz="4400" spc="-25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775F54"/>
                </a:solidFill>
                <a:latin typeface="Tw Cen MT"/>
                <a:cs typeface="Tw Cen MT"/>
              </a:rPr>
              <a:t>–</a:t>
            </a:r>
            <a:r>
              <a:rPr sz="4400" spc="-10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dirty="0">
                <a:solidFill>
                  <a:srgbClr val="775F54"/>
                </a:solidFill>
                <a:latin typeface="华文仿宋"/>
                <a:cs typeface="华文仿宋"/>
              </a:rPr>
              <a:t>进度图</a:t>
            </a:r>
            <a:endParaRPr sz="4400">
              <a:latin typeface="华文仿宋"/>
              <a:cs typeface="华文仿宋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1970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00683" y="1490472"/>
            <a:ext cx="7254240" cy="42245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25217" y="2205989"/>
            <a:ext cx="4104004" cy="2519680"/>
          </a:xfrm>
          <a:custGeom>
            <a:avLst/>
            <a:gdLst/>
            <a:ahLst/>
            <a:cxnLst/>
            <a:rect l="l" t="t" r="r" b="b"/>
            <a:pathLst>
              <a:path w="4104004" h="2519679">
                <a:moveTo>
                  <a:pt x="0" y="2519299"/>
                </a:moveTo>
                <a:lnTo>
                  <a:pt x="4103624" y="0"/>
                </a:lnTo>
              </a:path>
            </a:pathLst>
          </a:custGeom>
          <a:ln w="3505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项目进度计划过程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465581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92" y="0"/>
                </a:lnTo>
                <a:lnTo>
                  <a:pt x="79209" y="10187"/>
                </a:lnTo>
                <a:lnTo>
                  <a:pt x="37985" y="37973"/>
                </a:lnTo>
                <a:lnTo>
                  <a:pt x="10191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91" y="1217735"/>
                </a:lnTo>
                <a:lnTo>
                  <a:pt x="37985" y="1258951"/>
                </a:lnTo>
                <a:lnTo>
                  <a:pt x="79209" y="1286736"/>
                </a:lnTo>
                <a:lnTo>
                  <a:pt x="129692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9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147" y="258851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华文仿宋"/>
                <a:cs typeface="华文仿宋"/>
              </a:rPr>
              <a:t>任务定义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6351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246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2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2" y="1258951"/>
                </a:lnTo>
                <a:lnTo>
                  <a:pt x="79188" y="1286736"/>
                </a:lnTo>
                <a:lnTo>
                  <a:pt x="129666" y="1296924"/>
                </a:lnTo>
                <a:lnTo>
                  <a:pt x="2031364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9953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任务关系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3015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8909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67" y="0"/>
                </a:lnTo>
                <a:lnTo>
                  <a:pt x="79188" y="10187"/>
                </a:lnTo>
                <a:lnTo>
                  <a:pt x="37973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3" y="1258951"/>
                </a:lnTo>
                <a:lnTo>
                  <a:pt x="79188" y="1286736"/>
                </a:lnTo>
                <a:lnTo>
                  <a:pt x="129667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227826" y="1989582"/>
            <a:ext cx="2665730" cy="187198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endParaRPr sz="4400">
              <a:latin typeface="Times New Roman"/>
              <a:cs typeface="Times New Roman"/>
            </a:endParaRPr>
          </a:p>
          <a:p>
            <a:pPr marL="761365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历时估算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4122" y="3698366"/>
            <a:ext cx="536575" cy="453390"/>
          </a:xfrm>
          <a:custGeom>
            <a:avLst/>
            <a:gdLst/>
            <a:ahLst/>
            <a:cxnLst/>
            <a:rect l="l" t="t" r="r" b="b"/>
            <a:pathLst>
              <a:path w="536575" h="453389">
                <a:moveTo>
                  <a:pt x="428117" y="0"/>
                </a:moveTo>
                <a:lnTo>
                  <a:pt x="106425" y="1015"/>
                </a:lnTo>
                <a:lnTo>
                  <a:pt x="107315" y="227456"/>
                </a:lnTo>
                <a:lnTo>
                  <a:pt x="0" y="227710"/>
                </a:lnTo>
                <a:lnTo>
                  <a:pt x="268858" y="453262"/>
                </a:lnTo>
                <a:lnTo>
                  <a:pt x="535745" y="226313"/>
                </a:lnTo>
                <a:lnTo>
                  <a:pt x="428878" y="226313"/>
                </a:lnTo>
                <a:lnTo>
                  <a:pt x="428117" y="0"/>
                </a:lnTo>
                <a:close/>
              </a:path>
              <a:path w="536575" h="453389">
                <a:moveTo>
                  <a:pt x="536194" y="225932"/>
                </a:moveTo>
                <a:lnTo>
                  <a:pt x="428878" y="226313"/>
                </a:lnTo>
                <a:lnTo>
                  <a:pt x="535745" y="226313"/>
                </a:lnTo>
                <a:lnTo>
                  <a:pt x="536194" y="225932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5006" y="4365497"/>
            <a:ext cx="2162810" cy="1277620"/>
          </a:xfrm>
          <a:custGeom>
            <a:avLst/>
            <a:gdLst/>
            <a:ahLst/>
            <a:cxnLst/>
            <a:rect l="l" t="t" r="r" b="b"/>
            <a:pathLst>
              <a:path w="2162809" h="1277620">
                <a:moveTo>
                  <a:pt x="2034794" y="0"/>
                </a:moveTo>
                <a:lnTo>
                  <a:pt x="127762" y="0"/>
                </a:lnTo>
                <a:lnTo>
                  <a:pt x="78009" y="10033"/>
                </a:lnTo>
                <a:lnTo>
                  <a:pt x="37401" y="37401"/>
                </a:lnTo>
                <a:lnTo>
                  <a:pt x="10032" y="78009"/>
                </a:lnTo>
                <a:lnTo>
                  <a:pt x="0" y="127762"/>
                </a:lnTo>
                <a:lnTo>
                  <a:pt x="0" y="1149349"/>
                </a:lnTo>
                <a:lnTo>
                  <a:pt x="10033" y="1199102"/>
                </a:lnTo>
                <a:lnTo>
                  <a:pt x="37401" y="1239710"/>
                </a:lnTo>
                <a:lnTo>
                  <a:pt x="78009" y="1267079"/>
                </a:lnTo>
                <a:lnTo>
                  <a:pt x="127762" y="1277111"/>
                </a:lnTo>
                <a:lnTo>
                  <a:pt x="2034794" y="1277111"/>
                </a:lnTo>
                <a:lnTo>
                  <a:pt x="2084546" y="1267079"/>
                </a:lnTo>
                <a:lnTo>
                  <a:pt x="2125154" y="1239710"/>
                </a:lnTo>
                <a:lnTo>
                  <a:pt x="2152523" y="1199102"/>
                </a:lnTo>
                <a:lnTo>
                  <a:pt x="2162555" y="1149349"/>
                </a:lnTo>
                <a:lnTo>
                  <a:pt x="2162555" y="127762"/>
                </a:lnTo>
                <a:lnTo>
                  <a:pt x="2152523" y="78009"/>
                </a:lnTo>
                <a:lnTo>
                  <a:pt x="2125154" y="37401"/>
                </a:lnTo>
                <a:lnTo>
                  <a:pt x="2084546" y="10033"/>
                </a:lnTo>
                <a:lnTo>
                  <a:pt x="203479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80454" y="4767148"/>
            <a:ext cx="185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项目进度编排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955" y="4745609"/>
            <a:ext cx="463550" cy="536575"/>
          </a:xfrm>
          <a:custGeom>
            <a:avLst/>
            <a:gdLst/>
            <a:ahLst/>
            <a:cxnLst/>
            <a:rect l="l" t="t" r="r" b="b"/>
            <a:pathLst>
              <a:path w="463550" h="536575">
                <a:moveTo>
                  <a:pt x="229235" y="0"/>
                </a:moveTo>
                <a:lnTo>
                  <a:pt x="0" y="269621"/>
                </a:lnTo>
                <a:lnTo>
                  <a:pt x="232918" y="536067"/>
                </a:lnTo>
                <a:lnTo>
                  <a:pt x="232156" y="428879"/>
                </a:lnTo>
                <a:lnTo>
                  <a:pt x="463296" y="427228"/>
                </a:lnTo>
                <a:lnTo>
                  <a:pt x="461021" y="107188"/>
                </a:lnTo>
                <a:lnTo>
                  <a:pt x="229870" y="107188"/>
                </a:lnTo>
                <a:lnTo>
                  <a:pt x="229235" y="0"/>
                </a:lnTo>
                <a:close/>
              </a:path>
              <a:path w="463550" h="536575">
                <a:moveTo>
                  <a:pt x="461010" y="105537"/>
                </a:moveTo>
                <a:lnTo>
                  <a:pt x="229870" y="107188"/>
                </a:lnTo>
                <a:lnTo>
                  <a:pt x="461021" y="107188"/>
                </a:lnTo>
                <a:lnTo>
                  <a:pt x="461010" y="105537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2246" y="4376165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3" y="37972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24"/>
                </a:lnTo>
                <a:lnTo>
                  <a:pt x="37972" y="1258941"/>
                </a:lnTo>
                <a:lnTo>
                  <a:pt x="79188" y="1286732"/>
                </a:lnTo>
                <a:lnTo>
                  <a:pt x="129666" y="1296923"/>
                </a:lnTo>
                <a:lnTo>
                  <a:pt x="2031364" y="1296923"/>
                </a:lnTo>
                <a:lnTo>
                  <a:pt x="2081843" y="1286732"/>
                </a:lnTo>
                <a:lnTo>
                  <a:pt x="2123058" y="1258941"/>
                </a:lnTo>
                <a:lnTo>
                  <a:pt x="2150844" y="1217724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2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900" y="4788789"/>
            <a:ext cx="1856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华文仿宋"/>
                <a:cs typeface="华文仿宋"/>
              </a:rPr>
              <a:t>项目进度确定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2860" y="51563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6523" y="5024628"/>
            <a:ext cx="485140" cy="56578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4668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1155" y="5024628"/>
            <a:ext cx="4628515" cy="56578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1135" rIns="0" bIns="0" rtlCol="0">
            <a:spAutoFit/>
          </a:bodyPr>
          <a:lstStyle/>
          <a:p>
            <a:pPr marR="403860" algn="ctr">
              <a:lnSpc>
                <a:spcPct val="100000"/>
              </a:lnSpc>
              <a:spcBef>
                <a:spcPts val="150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635" y="441725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3664" y="4267200"/>
            <a:ext cx="50609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9632" y="4267200"/>
            <a:ext cx="4628515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640" rIns="0" bIns="0" rtlCol="0">
            <a:spAutoFit/>
          </a:bodyPr>
          <a:lstStyle/>
          <a:p>
            <a:pPr marL="117348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项目进度规划模型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4760" y="36504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8423" y="3500628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2867" y="3500628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进度计划编排</a:t>
            </a:r>
            <a:r>
              <a:rPr sz="1800" b="1" spc="-2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4760" y="285795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8423" y="2708148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2867" y="2708148"/>
            <a:ext cx="4630420" cy="60198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任务历时估算</a:t>
            </a:r>
            <a:r>
              <a:rPr sz="1800" b="1" spc="-2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8664" y="206514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2327" y="1915667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6772" y="1915667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1315"/>
              </a:spcBef>
            </a:pP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进度管理基本概念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305257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历时估算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258" y="1916429"/>
            <a:ext cx="8153400" cy="710643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0805">
              <a:lnSpc>
                <a:spcPct val="150000"/>
              </a:lnSpc>
              <a:spcBef>
                <a:spcPts val="459"/>
              </a:spcBef>
            </a:pPr>
            <a:r>
              <a:rPr sz="3200" spc="5" dirty="0" err="1">
                <a:solidFill>
                  <a:srgbClr val="080808"/>
                </a:solidFill>
                <a:latin typeface="隶书"/>
                <a:cs typeface="隶书"/>
              </a:rPr>
              <a:t>估计</a:t>
            </a:r>
            <a:r>
              <a:rPr sz="3200" spc="-15" dirty="0" err="1">
                <a:solidFill>
                  <a:srgbClr val="080808"/>
                </a:solidFill>
                <a:latin typeface="隶书"/>
                <a:cs typeface="隶书"/>
              </a:rPr>
              <a:t>任</a:t>
            </a:r>
            <a:r>
              <a:rPr sz="3200" spc="5" dirty="0" err="1">
                <a:solidFill>
                  <a:srgbClr val="080808"/>
                </a:solidFill>
                <a:latin typeface="隶书"/>
                <a:cs typeface="隶书"/>
              </a:rPr>
              <a:t>务</a:t>
            </a:r>
            <a:r>
              <a:rPr lang="zh-CN" altLang="en-US" sz="3200" spc="5" dirty="0">
                <a:solidFill>
                  <a:srgbClr val="080808"/>
                </a:solidFill>
                <a:latin typeface="隶书"/>
                <a:cs typeface="隶书"/>
              </a:rPr>
              <a:t>、</a:t>
            </a:r>
            <a:r>
              <a:rPr sz="3200" spc="-15" dirty="0" err="1">
                <a:solidFill>
                  <a:srgbClr val="080808"/>
                </a:solidFill>
                <a:latin typeface="隶书"/>
                <a:cs typeface="隶书"/>
              </a:rPr>
              <a:t>路</a:t>
            </a:r>
            <a:r>
              <a:rPr sz="3200" spc="5" dirty="0" err="1">
                <a:solidFill>
                  <a:srgbClr val="080808"/>
                </a:solidFill>
                <a:latin typeface="隶书"/>
                <a:cs typeface="隶书"/>
              </a:rPr>
              <a:t>径、</a:t>
            </a:r>
            <a:r>
              <a:rPr sz="3200" spc="-15" dirty="0" err="1">
                <a:solidFill>
                  <a:srgbClr val="080808"/>
                </a:solidFill>
                <a:latin typeface="隶书"/>
                <a:cs typeface="隶书"/>
              </a:rPr>
              <a:t>项</a:t>
            </a:r>
            <a:r>
              <a:rPr sz="3200" spc="5" dirty="0" err="1">
                <a:solidFill>
                  <a:srgbClr val="080808"/>
                </a:solidFill>
                <a:latin typeface="隶书"/>
                <a:cs typeface="隶书"/>
              </a:rPr>
              <a:t>目的</a:t>
            </a:r>
            <a:r>
              <a:rPr sz="3200" spc="-15" dirty="0" err="1">
                <a:solidFill>
                  <a:srgbClr val="080808"/>
                </a:solidFill>
                <a:latin typeface="隶书"/>
                <a:cs typeface="隶书"/>
              </a:rPr>
              <a:t>持</a:t>
            </a:r>
            <a:r>
              <a:rPr sz="3200" spc="5" dirty="0" err="1">
                <a:solidFill>
                  <a:srgbClr val="080808"/>
                </a:solidFill>
                <a:latin typeface="隶书"/>
                <a:cs typeface="隶书"/>
              </a:rPr>
              <a:t>续时间</a:t>
            </a:r>
            <a:endParaRPr lang="en-US" altLang="zh-CN" sz="3200" spc="5" dirty="0">
              <a:solidFill>
                <a:srgbClr val="080808"/>
              </a:solidFill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716" y="1946603"/>
            <a:ext cx="184150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0"/>
              </a:lnSpc>
            </a:pPr>
            <a:r>
              <a:rPr sz="1600" spc="20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4647184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475"/>
              </a:spcBef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545591" y="1773935"/>
            <a:ext cx="57912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81913"/>
            <a:ext cx="28238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定额估算法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8967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886" y="1826514"/>
            <a:ext cx="3386328" cy="716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599" y="1816607"/>
          <a:ext cx="4968238" cy="400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6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DDDDDD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DDDD"/>
                      </a:solidFill>
                      <a:prstDash val="solid"/>
                    </a:lnT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32180">
                        <a:lnSpc>
                          <a:spcPts val="2240"/>
                        </a:lnSpc>
                      </a:pPr>
                      <a:r>
                        <a:rPr sz="3600" b="1" spc="-5" dirty="0">
                          <a:solidFill>
                            <a:srgbClr val="FFFFFF"/>
                          </a:solidFill>
                          <a:latin typeface="隶书"/>
                          <a:cs typeface="隶书"/>
                        </a:rPr>
                        <a:t>T=Q/(R*S)</a:t>
                      </a:r>
                      <a:endParaRPr sz="3600">
                        <a:latin typeface="隶书"/>
                        <a:cs typeface="隶书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  <a:lnB w="2857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8791">
                <a:tc gridSpan="3">
                  <a:txBody>
                    <a:bodyPr/>
                    <a:lstStyle/>
                    <a:p>
                      <a:pPr marL="692150" indent="-457834">
                        <a:lnSpc>
                          <a:spcPct val="100000"/>
                        </a:lnSpc>
                        <a:spcBef>
                          <a:spcPts val="795"/>
                        </a:spcBef>
                        <a:buClr>
                          <a:srgbClr val="DD8046"/>
                        </a:buClr>
                        <a:buSzPct val="59375"/>
                        <a:buFont typeface="Wingdings"/>
                        <a:buChar char=""/>
                        <a:tabLst>
                          <a:tab pos="692150" algn="l"/>
                          <a:tab pos="692785" algn="l"/>
                        </a:tabLst>
                      </a:pPr>
                      <a:r>
                        <a:rPr sz="3200" spc="-5" dirty="0">
                          <a:latin typeface="隶书"/>
                          <a:cs typeface="隶书"/>
                        </a:rPr>
                        <a:t>T: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活</a:t>
                      </a:r>
                      <a:r>
                        <a:rPr sz="3200" spc="-15" dirty="0">
                          <a:latin typeface="隶书"/>
                          <a:cs typeface="隶书"/>
                        </a:rPr>
                        <a:t>动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历时</a:t>
                      </a:r>
                    </a:p>
                    <a:p>
                      <a:pPr marL="692150" indent="-457834">
                        <a:lnSpc>
                          <a:spcPct val="100000"/>
                        </a:lnSpc>
                        <a:spcBef>
                          <a:spcPts val="695"/>
                        </a:spcBef>
                        <a:buClr>
                          <a:srgbClr val="DD8046"/>
                        </a:buClr>
                        <a:buSzPct val="59375"/>
                        <a:buFont typeface="Wingdings"/>
                        <a:buChar char=""/>
                        <a:tabLst>
                          <a:tab pos="692150" algn="l"/>
                          <a:tab pos="692785" algn="l"/>
                        </a:tabLst>
                      </a:pPr>
                      <a:r>
                        <a:rPr sz="3200" spc="-5" dirty="0">
                          <a:latin typeface="隶书"/>
                          <a:cs typeface="隶书"/>
                        </a:rPr>
                        <a:t>Q: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任</a:t>
                      </a:r>
                      <a:r>
                        <a:rPr sz="3200" spc="-15" dirty="0">
                          <a:latin typeface="隶书"/>
                          <a:cs typeface="隶书"/>
                        </a:rPr>
                        <a:t>务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工作量</a:t>
                      </a:r>
                    </a:p>
                    <a:p>
                      <a:pPr marL="692150" indent="-457834">
                        <a:lnSpc>
                          <a:spcPct val="100000"/>
                        </a:lnSpc>
                        <a:spcBef>
                          <a:spcPts val="710"/>
                        </a:spcBef>
                        <a:buClr>
                          <a:srgbClr val="DD8046"/>
                        </a:buClr>
                        <a:buSzPct val="59375"/>
                        <a:buFont typeface="Wingdings"/>
                        <a:buChar char=""/>
                        <a:tabLst>
                          <a:tab pos="692150" algn="l"/>
                          <a:tab pos="692785" algn="l"/>
                        </a:tabLst>
                      </a:pPr>
                      <a:r>
                        <a:rPr sz="3200" spc="-5" dirty="0">
                          <a:latin typeface="隶书"/>
                          <a:cs typeface="隶书"/>
                        </a:rPr>
                        <a:t>R: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人</a:t>
                      </a:r>
                      <a:r>
                        <a:rPr sz="3200" spc="-15" dirty="0">
                          <a:latin typeface="隶书"/>
                          <a:cs typeface="隶书"/>
                        </a:rPr>
                        <a:t>力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数量</a:t>
                      </a:r>
                    </a:p>
                    <a:p>
                      <a:pPr marL="692150" indent="-457834">
                        <a:lnSpc>
                          <a:spcPct val="100000"/>
                        </a:lnSpc>
                        <a:spcBef>
                          <a:spcPts val="420"/>
                        </a:spcBef>
                        <a:buClr>
                          <a:srgbClr val="DD8046"/>
                        </a:buClr>
                        <a:buSzPct val="59375"/>
                        <a:buFont typeface="Wingdings"/>
                        <a:buChar char=""/>
                        <a:tabLst>
                          <a:tab pos="692150" algn="l"/>
                          <a:tab pos="692785" algn="l"/>
                        </a:tabLst>
                      </a:pPr>
                      <a:r>
                        <a:rPr sz="3200" spc="-5" dirty="0">
                          <a:latin typeface="隶书"/>
                          <a:cs typeface="隶书"/>
                        </a:rPr>
                        <a:t>S: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工</a:t>
                      </a:r>
                      <a:r>
                        <a:rPr sz="3200" spc="-15" dirty="0">
                          <a:latin typeface="隶书"/>
                          <a:cs typeface="隶书"/>
                        </a:rPr>
                        <a:t>作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效率</a:t>
                      </a:r>
                      <a:r>
                        <a:rPr sz="3200" spc="-15" dirty="0">
                          <a:latin typeface="隶书"/>
                          <a:cs typeface="隶书"/>
                        </a:rPr>
                        <a:t>（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贡献</a:t>
                      </a:r>
                      <a:r>
                        <a:rPr sz="3200" spc="-15" dirty="0">
                          <a:latin typeface="隶书"/>
                          <a:cs typeface="隶书"/>
                        </a:rPr>
                        <a:t>率</a:t>
                      </a:r>
                      <a:r>
                        <a:rPr sz="3200" dirty="0">
                          <a:latin typeface="隶书"/>
                          <a:cs typeface="隶书"/>
                        </a:rPr>
                        <a:t>）</a:t>
                      </a:r>
                    </a:p>
                  </a:txBody>
                  <a:tcPr marL="0" marR="0" marT="100965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5148834" y="2259329"/>
            <a:ext cx="3601720" cy="14859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439"/>
              </a:spcBef>
            </a:pPr>
            <a:r>
              <a:rPr sz="2600" spc="-5" dirty="0">
                <a:latin typeface="隶书"/>
                <a:cs typeface="隶书"/>
              </a:rPr>
              <a:t>Q=6</a:t>
            </a:r>
            <a:r>
              <a:rPr sz="2600" dirty="0">
                <a:latin typeface="隶书"/>
                <a:cs typeface="隶书"/>
              </a:rPr>
              <a:t>人天</a:t>
            </a:r>
            <a:r>
              <a:rPr sz="2600" spc="-35" dirty="0">
                <a:latin typeface="隶书"/>
                <a:cs typeface="隶书"/>
              </a:rPr>
              <a:t> </a:t>
            </a:r>
            <a:r>
              <a:rPr sz="2600" spc="-5" dirty="0">
                <a:latin typeface="隶书"/>
                <a:cs typeface="隶书"/>
              </a:rPr>
              <a:t>,R=2</a:t>
            </a:r>
            <a:r>
              <a:rPr sz="2600" dirty="0">
                <a:latin typeface="隶书"/>
                <a:cs typeface="隶书"/>
              </a:rPr>
              <a:t>人,S=1</a:t>
            </a:r>
            <a:endParaRPr sz="2600">
              <a:latin typeface="隶书"/>
              <a:cs typeface="隶书"/>
            </a:endParaRPr>
          </a:p>
          <a:p>
            <a:pPr marL="459105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隶书"/>
                <a:cs typeface="隶书"/>
              </a:rPr>
              <a:t>则</a:t>
            </a:r>
            <a:r>
              <a:rPr sz="2600" spc="-5" dirty="0">
                <a:latin typeface="隶书"/>
                <a:cs typeface="隶书"/>
              </a:rPr>
              <a:t>：T=3</a:t>
            </a:r>
            <a:r>
              <a:rPr sz="2600" dirty="0">
                <a:latin typeface="隶书"/>
                <a:cs typeface="隶书"/>
              </a:rPr>
              <a:t>天</a:t>
            </a:r>
            <a:endParaRPr sz="2600">
              <a:latin typeface="隶书"/>
              <a:cs typeface="隶书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8834" y="4235958"/>
            <a:ext cx="3601720" cy="144018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59105">
              <a:lnSpc>
                <a:spcPct val="100000"/>
              </a:lnSpc>
              <a:spcBef>
                <a:spcPts val="440"/>
              </a:spcBef>
            </a:pPr>
            <a:r>
              <a:rPr sz="2600" spc="-5" dirty="0">
                <a:latin typeface="隶书"/>
                <a:cs typeface="隶书"/>
              </a:rPr>
              <a:t>Q=6</a:t>
            </a:r>
            <a:r>
              <a:rPr sz="2600" dirty="0">
                <a:latin typeface="隶书"/>
                <a:cs typeface="隶书"/>
              </a:rPr>
              <a:t>人天</a:t>
            </a:r>
            <a:r>
              <a:rPr sz="2600" spc="-45" dirty="0">
                <a:latin typeface="隶书"/>
                <a:cs typeface="隶书"/>
              </a:rPr>
              <a:t> </a:t>
            </a:r>
            <a:r>
              <a:rPr sz="2600" dirty="0">
                <a:latin typeface="隶书"/>
                <a:cs typeface="隶书"/>
              </a:rPr>
              <a:t>,R=2,S=0.5</a:t>
            </a:r>
            <a:endParaRPr sz="2600">
              <a:latin typeface="隶书"/>
              <a:cs typeface="隶书"/>
            </a:endParaRPr>
          </a:p>
          <a:p>
            <a:pPr marL="459105">
              <a:lnSpc>
                <a:spcPct val="100000"/>
              </a:lnSpc>
              <a:spcBef>
                <a:spcPts val="600"/>
              </a:spcBef>
            </a:pPr>
            <a:r>
              <a:rPr sz="2600" dirty="0">
                <a:latin typeface="隶书"/>
                <a:cs typeface="隶书"/>
              </a:rPr>
              <a:t>则</a:t>
            </a:r>
            <a:r>
              <a:rPr sz="2600" spc="-5" dirty="0">
                <a:latin typeface="隶书"/>
                <a:cs typeface="隶书"/>
              </a:rPr>
              <a:t>：T=6</a:t>
            </a:r>
            <a:r>
              <a:rPr sz="2600" dirty="0">
                <a:latin typeface="隶书"/>
                <a:cs typeface="隶书"/>
              </a:rPr>
              <a:t>天</a:t>
            </a:r>
            <a:endParaRPr sz="26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716" y="2405855"/>
            <a:ext cx="18351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600" spc="1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4647184" cy="4403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1717039" indent="-320040">
              <a:lnSpc>
                <a:spcPct val="111500"/>
              </a:lnSpc>
              <a:spcBef>
                <a:spcPts val="10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 经验导出模型</a:t>
            </a:r>
          </a:p>
          <a:p>
            <a:pPr marL="332740" indent="-320040">
              <a:lnSpc>
                <a:spcPct val="100000"/>
              </a:lnSpc>
              <a:spcBef>
                <a:spcPts val="38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533400" y="2260092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216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经验导出模型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55904" y="2708148"/>
            <a:ext cx="5760720" cy="39608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202814" y="1708784"/>
            <a:ext cx="24638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u="heavy" spc="-12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800" u="heavy" dirty="0">
                <a:uFill>
                  <a:solidFill>
                    <a:srgbClr val="000000"/>
                  </a:solidFill>
                </a:uFill>
                <a:latin typeface="方正姚体"/>
                <a:cs typeface="方正姚体"/>
              </a:rPr>
              <a:t>参数模</a:t>
            </a:r>
            <a:r>
              <a:rPr sz="4800" u="heavy" spc="-5" dirty="0">
                <a:uFill>
                  <a:solidFill>
                    <a:srgbClr val="000000"/>
                  </a:solidFill>
                </a:uFill>
                <a:latin typeface="方正姚体"/>
                <a:cs typeface="方正姚体"/>
              </a:rPr>
              <a:t>型</a:t>
            </a:r>
            <a:endParaRPr sz="4800">
              <a:latin typeface="方正姚体"/>
              <a:cs typeface="方正姚体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3216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经验导出模型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39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11729" y="1728977"/>
            <a:ext cx="3384804" cy="7147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822442" y="1719072"/>
          <a:ext cx="4752974" cy="40035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5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DDDDDD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DDDD"/>
                      </a:solidFill>
                      <a:prstDash val="solid"/>
                    </a:lnT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3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51890">
                        <a:lnSpc>
                          <a:spcPts val="2610"/>
                        </a:lnSpc>
                      </a:pPr>
                      <a:r>
                        <a:rPr sz="3600" dirty="0">
                          <a:solidFill>
                            <a:srgbClr val="FFFFFF"/>
                          </a:solidFill>
                          <a:latin typeface="隶书"/>
                          <a:cs typeface="隶书"/>
                        </a:rPr>
                        <a:t>D=a*E</a:t>
                      </a:r>
                      <a:r>
                        <a:rPr sz="3600" baseline="25462" dirty="0">
                          <a:solidFill>
                            <a:srgbClr val="FFFFFF"/>
                          </a:solidFill>
                          <a:latin typeface="隶书"/>
                          <a:cs typeface="隶书"/>
                        </a:rPr>
                        <a:t>b</a:t>
                      </a:r>
                      <a:endParaRPr sz="3600" baseline="25462">
                        <a:latin typeface="隶书"/>
                        <a:cs typeface="隶书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DDDD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  <a:lnB w="2857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DDDDDD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T w="28575">
                      <a:solidFill>
                        <a:srgbClr val="DD8046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8791">
                <a:tc gridSpan="3">
                  <a:txBody>
                    <a:bodyPr/>
                    <a:lstStyle/>
                    <a:p>
                      <a:pPr marL="692785" indent="-457834">
                        <a:lnSpc>
                          <a:spcPct val="100000"/>
                        </a:lnSpc>
                        <a:spcBef>
                          <a:spcPts val="490"/>
                        </a:spcBef>
                        <a:buClr>
                          <a:srgbClr val="DD8046"/>
                        </a:buClr>
                        <a:buSzPct val="58928"/>
                        <a:buFont typeface="Wingdings"/>
                        <a:buChar char=""/>
                        <a:tabLst>
                          <a:tab pos="692785" algn="l"/>
                          <a:tab pos="693420" algn="l"/>
                        </a:tabLst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D:进度</a:t>
                      </a:r>
                      <a:r>
                        <a:rPr sz="2800" spc="-10" dirty="0">
                          <a:latin typeface="华文新魏"/>
                          <a:cs typeface="华文新魏"/>
                        </a:rPr>
                        <a:t>(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以月单位)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  <a:p>
                      <a:pPr marL="692785" indent="-457834">
                        <a:lnSpc>
                          <a:spcPct val="100000"/>
                        </a:lnSpc>
                        <a:spcBef>
                          <a:spcPts val="695"/>
                        </a:spcBef>
                        <a:buClr>
                          <a:srgbClr val="DD8046"/>
                        </a:buClr>
                        <a:buSzPct val="58928"/>
                        <a:buFont typeface="Wingdings"/>
                        <a:buChar char=""/>
                        <a:tabLst>
                          <a:tab pos="692785" algn="l"/>
                          <a:tab pos="693420" algn="l"/>
                        </a:tabLst>
                      </a:pPr>
                      <a:r>
                        <a:rPr sz="2800" spc="-5" dirty="0">
                          <a:latin typeface="华文新魏"/>
                          <a:cs typeface="华文新魏"/>
                        </a:rPr>
                        <a:t>E：工作</a:t>
                      </a:r>
                      <a:r>
                        <a:rPr sz="2800" spc="-15" dirty="0">
                          <a:latin typeface="华文新魏"/>
                          <a:cs typeface="华文新魏"/>
                        </a:rPr>
                        <a:t>量</a:t>
                      </a:r>
                      <a:r>
                        <a:rPr sz="2800" spc="-10" dirty="0">
                          <a:latin typeface="华文新魏"/>
                          <a:cs typeface="华文新魏"/>
                        </a:rPr>
                        <a:t>(以人月单位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)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  <a:p>
                      <a:pPr marL="692785" indent="-457834">
                        <a:lnSpc>
                          <a:spcPct val="100000"/>
                        </a:lnSpc>
                        <a:spcBef>
                          <a:spcPts val="710"/>
                        </a:spcBef>
                        <a:buClr>
                          <a:srgbClr val="DD8046"/>
                        </a:buClr>
                        <a:buSzPct val="58928"/>
                        <a:buFont typeface="Wingdings"/>
                        <a:buChar char=""/>
                        <a:tabLst>
                          <a:tab pos="692785" algn="l"/>
                          <a:tab pos="693420" algn="l"/>
                        </a:tabLst>
                      </a:pPr>
                      <a:r>
                        <a:rPr sz="2800" dirty="0">
                          <a:latin typeface="华文新魏"/>
                          <a:cs typeface="华文新魏"/>
                        </a:rPr>
                        <a:t>a:2—4</a:t>
                      </a:r>
                      <a:r>
                        <a:rPr sz="2800" spc="-5" dirty="0">
                          <a:latin typeface="华文新魏"/>
                          <a:cs typeface="华文新魏"/>
                        </a:rPr>
                        <a:t>之间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  <a:p>
                      <a:pPr marL="314960" marR="318135" indent="-79375">
                        <a:lnSpc>
                          <a:spcPct val="100000"/>
                        </a:lnSpc>
                        <a:spcBef>
                          <a:spcPts val="700"/>
                        </a:spcBef>
                        <a:buClr>
                          <a:srgbClr val="DD8046"/>
                        </a:buClr>
                        <a:buSzPct val="58928"/>
                        <a:buFont typeface="Wingdings"/>
                        <a:buChar char=""/>
                        <a:tabLst>
                          <a:tab pos="692785" algn="l"/>
                          <a:tab pos="693420" algn="l"/>
                        </a:tabLst>
                      </a:pPr>
                      <a:r>
                        <a:rPr sz="2800" dirty="0">
                          <a:latin typeface="华文新魏"/>
                          <a:cs typeface="华文新魏"/>
                        </a:rPr>
                        <a:t>b:1/</a:t>
                      </a:r>
                      <a:r>
                        <a:rPr sz="2800" spc="10" dirty="0">
                          <a:latin typeface="华文新魏"/>
                          <a:cs typeface="华文新魏"/>
                        </a:rPr>
                        <a:t>3</a:t>
                      </a:r>
                      <a:r>
                        <a:rPr sz="2800" dirty="0">
                          <a:latin typeface="华文新魏"/>
                          <a:cs typeface="华文新魏"/>
                        </a:rPr>
                        <a:t>左右:依赖于项目的 </a:t>
                      </a:r>
                      <a:r>
                        <a:rPr sz="2800" spc="-10" dirty="0">
                          <a:latin typeface="华文新魏"/>
                          <a:cs typeface="华文新魏"/>
                        </a:rPr>
                        <a:t>自然属性</a:t>
                      </a:r>
                      <a:endParaRPr sz="2800">
                        <a:latin typeface="华文新魏"/>
                        <a:cs typeface="华文新魏"/>
                      </a:endParaRPr>
                    </a:p>
                  </a:txBody>
                  <a:tcPr marL="0" marR="0" marT="62230" marB="0">
                    <a:lnL w="28575">
                      <a:solidFill>
                        <a:srgbClr val="DD8046"/>
                      </a:solidFill>
                      <a:prstDash val="solid"/>
                    </a:lnL>
                    <a:lnR w="28575">
                      <a:solidFill>
                        <a:srgbClr val="DD8046"/>
                      </a:solidFill>
                      <a:prstDash val="solid"/>
                    </a:lnR>
                    <a:lnB w="28575">
                      <a:solidFill>
                        <a:srgbClr val="DD804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424383"/>
            <a:ext cx="33832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latin typeface="华文隶书"/>
                <a:cs typeface="华文隶书"/>
              </a:rPr>
              <a:t>建议掌握模型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0258" y="1774698"/>
            <a:ext cx="7772400" cy="862965"/>
          </a:xfrm>
          <a:custGeom>
            <a:avLst/>
            <a:gdLst/>
            <a:ahLst/>
            <a:cxnLst/>
            <a:rect l="l" t="t" r="r" b="b"/>
            <a:pathLst>
              <a:path w="7772400" h="862964">
                <a:moveTo>
                  <a:pt x="0" y="862584"/>
                </a:moveTo>
                <a:lnTo>
                  <a:pt x="7772400" y="862584"/>
                </a:lnTo>
                <a:lnTo>
                  <a:pt x="7772400" y="0"/>
                </a:lnTo>
                <a:lnTo>
                  <a:pt x="0" y="0"/>
                </a:lnTo>
                <a:lnTo>
                  <a:pt x="0" y="86258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1240" y="1817624"/>
            <a:ext cx="530923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0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20040" algn="l"/>
              </a:tabLst>
            </a:pPr>
            <a:r>
              <a:rPr sz="2900" spc="-5" dirty="0">
                <a:latin typeface="隶书"/>
                <a:cs typeface="隶书"/>
              </a:rPr>
              <a:t>Walston-Felix</a:t>
            </a:r>
            <a:r>
              <a:rPr sz="2900" spc="-15" dirty="0">
                <a:latin typeface="隶书"/>
                <a:cs typeface="隶书"/>
              </a:rPr>
              <a:t>模</a:t>
            </a:r>
            <a:r>
              <a:rPr sz="2900" dirty="0">
                <a:latin typeface="隶书"/>
                <a:cs typeface="隶书"/>
              </a:rPr>
              <a:t>型：</a:t>
            </a:r>
            <a:r>
              <a:rPr sz="2900" spc="-15" dirty="0">
                <a:latin typeface="隶书"/>
                <a:cs typeface="隶书"/>
              </a:rPr>
              <a:t> </a:t>
            </a:r>
            <a:r>
              <a:rPr sz="2900" dirty="0">
                <a:latin typeface="隶书"/>
                <a:cs typeface="隶书"/>
              </a:rPr>
              <a:t>D=2.4*E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09461" y="1830781"/>
            <a:ext cx="502920" cy="3206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900" spc="15" dirty="0">
                <a:latin typeface="隶书"/>
                <a:cs typeface="隶书"/>
              </a:rPr>
              <a:t>0.</a:t>
            </a:r>
            <a:r>
              <a:rPr sz="1900" spc="5" dirty="0">
                <a:latin typeface="隶书"/>
                <a:cs typeface="隶书"/>
              </a:rPr>
              <a:t>3</a:t>
            </a:r>
            <a:r>
              <a:rPr sz="1900" spc="15" dirty="0">
                <a:latin typeface="隶书"/>
                <a:cs typeface="隶书"/>
              </a:rPr>
              <a:t>5</a:t>
            </a:r>
            <a:endParaRPr sz="1900">
              <a:latin typeface="隶书"/>
              <a:cs typeface="隶书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19550" y="3490848"/>
            <a:ext cx="38100" cy="2167255"/>
          </a:xfrm>
          <a:custGeom>
            <a:avLst/>
            <a:gdLst/>
            <a:ahLst/>
            <a:cxnLst/>
            <a:rect l="l" t="t" r="r" b="b"/>
            <a:pathLst>
              <a:path w="38100" h="2167254">
                <a:moveTo>
                  <a:pt x="0" y="2103501"/>
                </a:moveTo>
                <a:lnTo>
                  <a:pt x="19050" y="2167001"/>
                </a:lnTo>
                <a:lnTo>
                  <a:pt x="30476" y="2128913"/>
                </a:lnTo>
                <a:lnTo>
                  <a:pt x="12700" y="2128913"/>
                </a:lnTo>
                <a:lnTo>
                  <a:pt x="12700" y="2120434"/>
                </a:lnTo>
                <a:lnTo>
                  <a:pt x="0" y="2103501"/>
                </a:lnTo>
                <a:close/>
              </a:path>
              <a:path w="38100" h="2167254">
                <a:moveTo>
                  <a:pt x="12700" y="2120434"/>
                </a:moveTo>
                <a:lnTo>
                  <a:pt x="12700" y="2128913"/>
                </a:lnTo>
                <a:lnTo>
                  <a:pt x="25400" y="2128913"/>
                </a:lnTo>
                <a:lnTo>
                  <a:pt x="19050" y="2128901"/>
                </a:lnTo>
                <a:lnTo>
                  <a:pt x="12700" y="2120434"/>
                </a:lnTo>
                <a:close/>
              </a:path>
              <a:path w="38100" h="2167254">
                <a:moveTo>
                  <a:pt x="38100" y="2103501"/>
                </a:moveTo>
                <a:lnTo>
                  <a:pt x="25400" y="2120434"/>
                </a:lnTo>
                <a:lnTo>
                  <a:pt x="25400" y="2128913"/>
                </a:lnTo>
                <a:lnTo>
                  <a:pt x="30479" y="2128901"/>
                </a:lnTo>
                <a:lnTo>
                  <a:pt x="38100" y="2103501"/>
                </a:lnTo>
                <a:close/>
              </a:path>
              <a:path w="38100" h="2167254">
                <a:moveTo>
                  <a:pt x="25400" y="0"/>
                </a:moveTo>
                <a:lnTo>
                  <a:pt x="12700" y="0"/>
                </a:lnTo>
                <a:lnTo>
                  <a:pt x="12700" y="2120434"/>
                </a:lnTo>
                <a:lnTo>
                  <a:pt x="19050" y="2128901"/>
                </a:lnTo>
                <a:lnTo>
                  <a:pt x="25400" y="2120434"/>
                </a:lnTo>
                <a:lnTo>
                  <a:pt x="25400" y="0"/>
                </a:lnTo>
                <a:close/>
              </a:path>
              <a:path w="38100" h="2167254">
                <a:moveTo>
                  <a:pt x="25400" y="2120434"/>
                </a:moveTo>
                <a:lnTo>
                  <a:pt x="19050" y="2128901"/>
                </a:lnTo>
                <a:lnTo>
                  <a:pt x="25400" y="2128901"/>
                </a:lnTo>
                <a:lnTo>
                  <a:pt x="25400" y="21204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690748" y="3943477"/>
            <a:ext cx="3114675" cy="38100"/>
          </a:xfrm>
          <a:custGeom>
            <a:avLst/>
            <a:gdLst/>
            <a:ahLst/>
            <a:cxnLst/>
            <a:rect l="l" t="t" r="r" b="b"/>
            <a:pathLst>
              <a:path w="3114675" h="38100">
                <a:moveTo>
                  <a:pt x="3051175" y="0"/>
                </a:moveTo>
                <a:lnTo>
                  <a:pt x="3076575" y="19050"/>
                </a:lnTo>
                <a:lnTo>
                  <a:pt x="3051175" y="38100"/>
                </a:lnTo>
                <a:lnTo>
                  <a:pt x="3093508" y="25400"/>
                </a:lnTo>
                <a:lnTo>
                  <a:pt x="3076702" y="25400"/>
                </a:lnTo>
                <a:lnTo>
                  <a:pt x="3076702" y="12700"/>
                </a:lnTo>
                <a:lnTo>
                  <a:pt x="3093508" y="12700"/>
                </a:lnTo>
                <a:lnTo>
                  <a:pt x="3051175" y="0"/>
                </a:lnTo>
                <a:close/>
              </a:path>
              <a:path w="3114675" h="38100">
                <a:moveTo>
                  <a:pt x="30681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068108" y="25400"/>
                </a:lnTo>
                <a:lnTo>
                  <a:pt x="3076575" y="19050"/>
                </a:lnTo>
                <a:lnTo>
                  <a:pt x="3068108" y="12700"/>
                </a:lnTo>
                <a:close/>
              </a:path>
              <a:path w="3114675" h="38100">
                <a:moveTo>
                  <a:pt x="3093508" y="12700"/>
                </a:moveTo>
                <a:lnTo>
                  <a:pt x="3076702" y="12700"/>
                </a:lnTo>
                <a:lnTo>
                  <a:pt x="3076702" y="25400"/>
                </a:lnTo>
                <a:lnTo>
                  <a:pt x="3093508" y="25400"/>
                </a:lnTo>
                <a:lnTo>
                  <a:pt x="3114675" y="19050"/>
                </a:lnTo>
                <a:lnTo>
                  <a:pt x="30935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90748" y="4557648"/>
            <a:ext cx="3114675" cy="38100"/>
          </a:xfrm>
          <a:custGeom>
            <a:avLst/>
            <a:gdLst/>
            <a:ahLst/>
            <a:cxnLst/>
            <a:rect l="l" t="t" r="r" b="b"/>
            <a:pathLst>
              <a:path w="3114675" h="38100">
                <a:moveTo>
                  <a:pt x="3051175" y="0"/>
                </a:moveTo>
                <a:lnTo>
                  <a:pt x="3076575" y="19050"/>
                </a:lnTo>
                <a:lnTo>
                  <a:pt x="3051175" y="38100"/>
                </a:lnTo>
                <a:lnTo>
                  <a:pt x="3093508" y="25400"/>
                </a:lnTo>
                <a:lnTo>
                  <a:pt x="3076702" y="25400"/>
                </a:lnTo>
                <a:lnTo>
                  <a:pt x="3076702" y="12700"/>
                </a:lnTo>
                <a:lnTo>
                  <a:pt x="3093508" y="12700"/>
                </a:lnTo>
                <a:lnTo>
                  <a:pt x="3051175" y="0"/>
                </a:lnTo>
                <a:close/>
              </a:path>
              <a:path w="3114675" h="38100">
                <a:moveTo>
                  <a:pt x="30681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068108" y="25400"/>
                </a:lnTo>
                <a:lnTo>
                  <a:pt x="3076575" y="19050"/>
                </a:lnTo>
                <a:lnTo>
                  <a:pt x="3068108" y="12700"/>
                </a:lnTo>
                <a:close/>
              </a:path>
              <a:path w="3114675" h="38100">
                <a:moveTo>
                  <a:pt x="3093508" y="12700"/>
                </a:moveTo>
                <a:lnTo>
                  <a:pt x="3076702" y="12700"/>
                </a:lnTo>
                <a:lnTo>
                  <a:pt x="3076702" y="25400"/>
                </a:lnTo>
                <a:lnTo>
                  <a:pt x="3093508" y="25400"/>
                </a:lnTo>
                <a:lnTo>
                  <a:pt x="3114675" y="19050"/>
                </a:lnTo>
                <a:lnTo>
                  <a:pt x="30935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690748" y="5167248"/>
            <a:ext cx="3114675" cy="38100"/>
          </a:xfrm>
          <a:custGeom>
            <a:avLst/>
            <a:gdLst/>
            <a:ahLst/>
            <a:cxnLst/>
            <a:rect l="l" t="t" r="r" b="b"/>
            <a:pathLst>
              <a:path w="3114675" h="38100">
                <a:moveTo>
                  <a:pt x="3051175" y="0"/>
                </a:moveTo>
                <a:lnTo>
                  <a:pt x="3076575" y="19050"/>
                </a:lnTo>
                <a:lnTo>
                  <a:pt x="3051175" y="38100"/>
                </a:lnTo>
                <a:lnTo>
                  <a:pt x="3093508" y="25400"/>
                </a:lnTo>
                <a:lnTo>
                  <a:pt x="3076702" y="25400"/>
                </a:lnTo>
                <a:lnTo>
                  <a:pt x="3076702" y="12700"/>
                </a:lnTo>
                <a:lnTo>
                  <a:pt x="3093508" y="12700"/>
                </a:lnTo>
                <a:lnTo>
                  <a:pt x="3051175" y="0"/>
                </a:lnTo>
                <a:close/>
              </a:path>
              <a:path w="3114675" h="38100">
                <a:moveTo>
                  <a:pt x="3068108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068108" y="25400"/>
                </a:lnTo>
                <a:lnTo>
                  <a:pt x="3076575" y="19050"/>
                </a:lnTo>
                <a:lnTo>
                  <a:pt x="3068108" y="12700"/>
                </a:lnTo>
                <a:close/>
              </a:path>
              <a:path w="3114675" h="38100">
                <a:moveTo>
                  <a:pt x="3093508" y="12700"/>
                </a:moveTo>
                <a:lnTo>
                  <a:pt x="3076702" y="12700"/>
                </a:lnTo>
                <a:lnTo>
                  <a:pt x="3076702" y="25400"/>
                </a:lnTo>
                <a:lnTo>
                  <a:pt x="3093508" y="25400"/>
                </a:lnTo>
                <a:lnTo>
                  <a:pt x="3114675" y="19050"/>
                </a:lnTo>
                <a:lnTo>
                  <a:pt x="3093508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62173" y="3490848"/>
            <a:ext cx="85725" cy="2167255"/>
          </a:xfrm>
          <a:custGeom>
            <a:avLst/>
            <a:gdLst/>
            <a:ahLst/>
            <a:cxnLst/>
            <a:rect l="l" t="t" r="r" b="b"/>
            <a:pathLst>
              <a:path w="85725" h="2167254">
                <a:moveTo>
                  <a:pt x="0" y="2024126"/>
                </a:moveTo>
                <a:lnTo>
                  <a:pt x="42925" y="2167001"/>
                </a:lnTo>
                <a:lnTo>
                  <a:pt x="68605" y="2081276"/>
                </a:lnTo>
                <a:lnTo>
                  <a:pt x="28575" y="2081276"/>
                </a:lnTo>
                <a:lnTo>
                  <a:pt x="28575" y="2062169"/>
                </a:lnTo>
                <a:lnTo>
                  <a:pt x="0" y="2024126"/>
                </a:lnTo>
                <a:close/>
              </a:path>
              <a:path w="85725" h="2167254">
                <a:moveTo>
                  <a:pt x="28575" y="2062169"/>
                </a:moveTo>
                <a:lnTo>
                  <a:pt x="28575" y="2081276"/>
                </a:lnTo>
                <a:lnTo>
                  <a:pt x="42925" y="2081276"/>
                </a:lnTo>
                <a:lnTo>
                  <a:pt x="28575" y="2062169"/>
                </a:lnTo>
                <a:close/>
              </a:path>
              <a:path w="85725" h="2167254">
                <a:moveTo>
                  <a:pt x="57150" y="0"/>
                </a:moveTo>
                <a:lnTo>
                  <a:pt x="28575" y="0"/>
                </a:lnTo>
                <a:lnTo>
                  <a:pt x="28659" y="2062282"/>
                </a:lnTo>
                <a:lnTo>
                  <a:pt x="42925" y="2081276"/>
                </a:lnTo>
                <a:lnTo>
                  <a:pt x="57150" y="2062282"/>
                </a:lnTo>
                <a:lnTo>
                  <a:pt x="57150" y="0"/>
                </a:lnTo>
                <a:close/>
              </a:path>
              <a:path w="85725" h="2167254">
                <a:moveTo>
                  <a:pt x="57150" y="2062282"/>
                </a:moveTo>
                <a:lnTo>
                  <a:pt x="42925" y="2081276"/>
                </a:lnTo>
                <a:lnTo>
                  <a:pt x="57150" y="2081276"/>
                </a:lnTo>
                <a:lnTo>
                  <a:pt x="57150" y="2062282"/>
                </a:lnTo>
                <a:close/>
              </a:path>
              <a:path w="85725" h="2167254">
                <a:moveTo>
                  <a:pt x="85725" y="2024126"/>
                </a:moveTo>
                <a:lnTo>
                  <a:pt x="57234" y="2062169"/>
                </a:lnTo>
                <a:lnTo>
                  <a:pt x="57150" y="2081276"/>
                </a:lnTo>
                <a:lnTo>
                  <a:pt x="68605" y="2081276"/>
                </a:lnTo>
                <a:lnTo>
                  <a:pt x="85725" y="2024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48273" y="3490848"/>
            <a:ext cx="85725" cy="2167255"/>
          </a:xfrm>
          <a:custGeom>
            <a:avLst/>
            <a:gdLst/>
            <a:ahLst/>
            <a:cxnLst/>
            <a:rect l="l" t="t" r="r" b="b"/>
            <a:pathLst>
              <a:path w="85725" h="2167254">
                <a:moveTo>
                  <a:pt x="0" y="2024126"/>
                </a:moveTo>
                <a:lnTo>
                  <a:pt x="42925" y="2167001"/>
                </a:lnTo>
                <a:lnTo>
                  <a:pt x="68605" y="2081276"/>
                </a:lnTo>
                <a:lnTo>
                  <a:pt x="28575" y="2081276"/>
                </a:lnTo>
                <a:lnTo>
                  <a:pt x="28575" y="2062169"/>
                </a:lnTo>
                <a:lnTo>
                  <a:pt x="0" y="2024126"/>
                </a:lnTo>
                <a:close/>
              </a:path>
              <a:path w="85725" h="2167254">
                <a:moveTo>
                  <a:pt x="28575" y="2062169"/>
                </a:moveTo>
                <a:lnTo>
                  <a:pt x="28575" y="2081276"/>
                </a:lnTo>
                <a:lnTo>
                  <a:pt x="42925" y="2081276"/>
                </a:lnTo>
                <a:lnTo>
                  <a:pt x="28575" y="2062169"/>
                </a:lnTo>
                <a:close/>
              </a:path>
              <a:path w="85725" h="2167254">
                <a:moveTo>
                  <a:pt x="57150" y="0"/>
                </a:moveTo>
                <a:lnTo>
                  <a:pt x="28575" y="0"/>
                </a:lnTo>
                <a:lnTo>
                  <a:pt x="28659" y="2062282"/>
                </a:lnTo>
                <a:lnTo>
                  <a:pt x="42925" y="2081276"/>
                </a:lnTo>
                <a:lnTo>
                  <a:pt x="57150" y="2062282"/>
                </a:lnTo>
                <a:lnTo>
                  <a:pt x="57150" y="0"/>
                </a:lnTo>
                <a:close/>
              </a:path>
              <a:path w="85725" h="2167254">
                <a:moveTo>
                  <a:pt x="57150" y="2062282"/>
                </a:moveTo>
                <a:lnTo>
                  <a:pt x="42925" y="2081276"/>
                </a:lnTo>
                <a:lnTo>
                  <a:pt x="57150" y="2081276"/>
                </a:lnTo>
                <a:lnTo>
                  <a:pt x="57150" y="2062282"/>
                </a:lnTo>
                <a:close/>
              </a:path>
              <a:path w="85725" h="2167254">
                <a:moveTo>
                  <a:pt x="85725" y="2024126"/>
                </a:moveTo>
                <a:lnTo>
                  <a:pt x="57234" y="2062169"/>
                </a:lnTo>
                <a:lnTo>
                  <a:pt x="57150" y="2081276"/>
                </a:lnTo>
                <a:lnTo>
                  <a:pt x="68605" y="2081276"/>
                </a:lnTo>
                <a:lnTo>
                  <a:pt x="85725" y="20241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690748" y="3462273"/>
            <a:ext cx="3114675" cy="85725"/>
          </a:xfrm>
          <a:custGeom>
            <a:avLst/>
            <a:gdLst/>
            <a:ahLst/>
            <a:cxnLst/>
            <a:rect l="l" t="t" r="r" b="b"/>
            <a:pathLst>
              <a:path w="3114675" h="85725">
                <a:moveTo>
                  <a:pt x="2971800" y="0"/>
                </a:moveTo>
                <a:lnTo>
                  <a:pt x="3028950" y="42925"/>
                </a:lnTo>
                <a:lnTo>
                  <a:pt x="2971800" y="85725"/>
                </a:lnTo>
                <a:lnTo>
                  <a:pt x="3067191" y="57150"/>
                </a:lnTo>
                <a:lnTo>
                  <a:pt x="3029077" y="57150"/>
                </a:lnTo>
                <a:lnTo>
                  <a:pt x="3029077" y="28575"/>
                </a:lnTo>
                <a:lnTo>
                  <a:pt x="3066909" y="28575"/>
                </a:lnTo>
                <a:lnTo>
                  <a:pt x="2971800" y="0"/>
                </a:lnTo>
                <a:close/>
              </a:path>
              <a:path w="3114675" h="85725">
                <a:moveTo>
                  <a:pt x="3009843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009956" y="57150"/>
                </a:lnTo>
                <a:lnTo>
                  <a:pt x="3028950" y="42925"/>
                </a:lnTo>
                <a:lnTo>
                  <a:pt x="3009843" y="28575"/>
                </a:lnTo>
                <a:close/>
              </a:path>
              <a:path w="3114675" h="85725">
                <a:moveTo>
                  <a:pt x="3066909" y="28575"/>
                </a:moveTo>
                <a:lnTo>
                  <a:pt x="3029077" y="28575"/>
                </a:lnTo>
                <a:lnTo>
                  <a:pt x="3029077" y="57150"/>
                </a:lnTo>
                <a:lnTo>
                  <a:pt x="3067191" y="57150"/>
                </a:lnTo>
                <a:lnTo>
                  <a:pt x="3114675" y="42925"/>
                </a:lnTo>
                <a:lnTo>
                  <a:pt x="3066909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690748" y="5600700"/>
            <a:ext cx="3114675" cy="85725"/>
          </a:xfrm>
          <a:custGeom>
            <a:avLst/>
            <a:gdLst/>
            <a:ahLst/>
            <a:cxnLst/>
            <a:rect l="l" t="t" r="r" b="b"/>
            <a:pathLst>
              <a:path w="3114675" h="85725">
                <a:moveTo>
                  <a:pt x="2971800" y="0"/>
                </a:moveTo>
                <a:lnTo>
                  <a:pt x="3028950" y="42862"/>
                </a:lnTo>
                <a:lnTo>
                  <a:pt x="2971800" y="85725"/>
                </a:lnTo>
                <a:lnTo>
                  <a:pt x="3067050" y="57150"/>
                </a:lnTo>
                <a:lnTo>
                  <a:pt x="3029077" y="57150"/>
                </a:lnTo>
                <a:lnTo>
                  <a:pt x="3029077" y="28575"/>
                </a:lnTo>
                <a:lnTo>
                  <a:pt x="3067050" y="28575"/>
                </a:lnTo>
                <a:lnTo>
                  <a:pt x="2971800" y="0"/>
                </a:lnTo>
                <a:close/>
              </a:path>
              <a:path w="3114675" h="85725">
                <a:moveTo>
                  <a:pt x="3009900" y="28575"/>
                </a:moveTo>
                <a:lnTo>
                  <a:pt x="0" y="28575"/>
                </a:lnTo>
                <a:lnTo>
                  <a:pt x="0" y="57150"/>
                </a:lnTo>
                <a:lnTo>
                  <a:pt x="3009900" y="57150"/>
                </a:lnTo>
                <a:lnTo>
                  <a:pt x="3028950" y="42862"/>
                </a:lnTo>
                <a:lnTo>
                  <a:pt x="3009900" y="28575"/>
                </a:lnTo>
                <a:close/>
              </a:path>
              <a:path w="3114675" h="85725">
                <a:moveTo>
                  <a:pt x="3067050" y="28575"/>
                </a:moveTo>
                <a:lnTo>
                  <a:pt x="3029077" y="28575"/>
                </a:lnTo>
                <a:lnTo>
                  <a:pt x="3029077" y="57150"/>
                </a:lnTo>
                <a:lnTo>
                  <a:pt x="3067050" y="57150"/>
                </a:lnTo>
                <a:lnTo>
                  <a:pt x="3114675" y="42862"/>
                </a:lnTo>
                <a:lnTo>
                  <a:pt x="3067050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70175" y="3588384"/>
          <a:ext cx="2456180" cy="19973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676">
                <a:tc>
                  <a:txBody>
                    <a:bodyPr/>
                    <a:lstStyle/>
                    <a:p>
                      <a:pPr marL="127000">
                        <a:lnSpc>
                          <a:spcPts val="2400"/>
                        </a:lnSpc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方式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9380" algn="r">
                        <a:lnSpc>
                          <a:spcPts val="2400"/>
                        </a:lnSpc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b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600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有机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0.38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01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半有机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88265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0.35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882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2686">
                <a:tc>
                  <a:txBody>
                    <a:bodyPr/>
                    <a:lstStyle/>
                    <a:p>
                      <a:pPr marL="127000">
                        <a:lnSpc>
                          <a:spcPts val="2865"/>
                        </a:lnSpc>
                        <a:spcBef>
                          <a:spcPts val="6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嵌入式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85725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2865"/>
                        </a:lnSpc>
                        <a:spcBef>
                          <a:spcPts val="675"/>
                        </a:spcBef>
                      </a:pPr>
                      <a:r>
                        <a:rPr sz="2400" dirty="0">
                          <a:latin typeface="华文新魏"/>
                          <a:cs typeface="华文新魏"/>
                        </a:rPr>
                        <a:t>0.32</a:t>
                      </a:r>
                      <a:endParaRPr sz="2400">
                        <a:latin typeface="华文新魏"/>
                        <a:cs typeface="华文新魏"/>
                      </a:endParaRPr>
                    </a:p>
                  </a:txBody>
                  <a:tcPr marL="0" marR="0" marT="857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540258" y="2917698"/>
            <a:ext cx="7772400" cy="3176270"/>
          </a:xfrm>
          <a:custGeom>
            <a:avLst/>
            <a:gdLst/>
            <a:ahLst/>
            <a:cxnLst/>
            <a:rect l="l" t="t" r="r" b="b"/>
            <a:pathLst>
              <a:path w="7772400" h="3176270">
                <a:moveTo>
                  <a:pt x="0" y="3176016"/>
                </a:moveTo>
                <a:lnTo>
                  <a:pt x="7772400" y="3176016"/>
                </a:lnTo>
                <a:lnTo>
                  <a:pt x="7772400" y="0"/>
                </a:lnTo>
                <a:lnTo>
                  <a:pt x="0" y="0"/>
                </a:lnTo>
                <a:lnTo>
                  <a:pt x="0" y="317601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93140" y="2960319"/>
            <a:ext cx="402082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1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58140" algn="l"/>
              </a:tabLst>
            </a:pPr>
            <a:r>
              <a:rPr sz="2900" spc="5" dirty="0">
                <a:latin typeface="隶书"/>
                <a:cs typeface="隶书"/>
              </a:rPr>
              <a:t>基</a:t>
            </a:r>
            <a:r>
              <a:rPr sz="2900" dirty="0">
                <a:latin typeface="隶书"/>
                <a:cs typeface="隶书"/>
              </a:rPr>
              <a:t>本COCOMO:</a:t>
            </a:r>
            <a:r>
              <a:rPr sz="2900" spc="-75" dirty="0">
                <a:latin typeface="隶书"/>
                <a:cs typeface="隶书"/>
              </a:rPr>
              <a:t> </a:t>
            </a:r>
            <a:r>
              <a:rPr sz="2900" dirty="0">
                <a:latin typeface="隶书"/>
                <a:cs typeface="隶书"/>
              </a:rPr>
              <a:t>D=2.5*E</a:t>
            </a:r>
            <a:r>
              <a:rPr sz="2850" baseline="24853" dirty="0">
                <a:latin typeface="隶书"/>
                <a:cs typeface="隶书"/>
              </a:rPr>
              <a:t>b</a:t>
            </a:r>
            <a:endParaRPr sz="2850" baseline="24853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29564"/>
            <a:ext cx="43211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基</a:t>
            </a:r>
            <a:r>
              <a:rPr spc="-5" dirty="0">
                <a:latin typeface="华文隶书"/>
                <a:cs typeface="华文隶书"/>
              </a:rPr>
              <a:t>本</a:t>
            </a:r>
            <a:r>
              <a:rPr i="1" dirty="0">
                <a:latin typeface="华文隶书"/>
                <a:cs typeface="华文隶书"/>
              </a:rPr>
              <a:t>COCOMO</a:t>
            </a:r>
            <a:r>
              <a:rPr dirty="0">
                <a:latin typeface="华文隶书"/>
                <a:cs typeface="华文隶书"/>
              </a:rPr>
              <a:t>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9045" y="1774698"/>
            <a:ext cx="7772400" cy="1391920"/>
          </a:xfrm>
          <a:custGeom>
            <a:avLst/>
            <a:gdLst/>
            <a:ahLst/>
            <a:cxnLst/>
            <a:rect l="l" t="t" r="r" b="b"/>
            <a:pathLst>
              <a:path w="7772400" h="1391920">
                <a:moveTo>
                  <a:pt x="0" y="1391412"/>
                </a:moveTo>
                <a:lnTo>
                  <a:pt x="7772400" y="1391412"/>
                </a:lnTo>
                <a:lnTo>
                  <a:pt x="7772400" y="0"/>
                </a:lnTo>
                <a:lnTo>
                  <a:pt x="0" y="0"/>
                </a:lnTo>
                <a:lnTo>
                  <a:pt x="0" y="139141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6719" y="1817624"/>
            <a:ext cx="7947659" cy="909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隶书"/>
                <a:cs typeface="隶书"/>
              </a:rPr>
              <a:t>一个33.3</a:t>
            </a:r>
            <a:r>
              <a:rPr sz="2900" spc="-30" dirty="0">
                <a:latin typeface="隶书"/>
                <a:cs typeface="隶书"/>
              </a:rPr>
              <a:t> </a:t>
            </a:r>
            <a:r>
              <a:rPr sz="2900" dirty="0">
                <a:latin typeface="隶书"/>
                <a:cs typeface="隶书"/>
              </a:rPr>
              <a:t>KLOC</a:t>
            </a:r>
            <a:r>
              <a:rPr sz="2900" spc="-15" dirty="0">
                <a:latin typeface="隶书"/>
                <a:cs typeface="隶书"/>
              </a:rPr>
              <a:t>的</a:t>
            </a:r>
            <a:r>
              <a:rPr sz="2900" dirty="0">
                <a:latin typeface="隶书"/>
                <a:cs typeface="隶书"/>
              </a:rPr>
              <a:t>软件开</a:t>
            </a:r>
            <a:r>
              <a:rPr sz="2900" spc="-15" dirty="0">
                <a:latin typeface="隶书"/>
                <a:cs typeface="隶书"/>
              </a:rPr>
              <a:t>发</a:t>
            </a:r>
            <a:r>
              <a:rPr sz="2900" dirty="0">
                <a:latin typeface="隶书"/>
                <a:cs typeface="隶书"/>
              </a:rPr>
              <a:t>项目，</a:t>
            </a:r>
            <a:r>
              <a:rPr sz="2900" spc="-15" dirty="0">
                <a:latin typeface="隶书"/>
                <a:cs typeface="隶书"/>
              </a:rPr>
              <a:t>属</a:t>
            </a:r>
            <a:r>
              <a:rPr sz="2900" dirty="0">
                <a:latin typeface="隶书"/>
                <a:cs typeface="隶书"/>
              </a:rPr>
              <a:t>于中等</a:t>
            </a:r>
            <a:r>
              <a:rPr sz="2900" spc="-15" dirty="0">
                <a:latin typeface="隶书"/>
                <a:cs typeface="隶书"/>
              </a:rPr>
              <a:t>规</a:t>
            </a:r>
            <a:r>
              <a:rPr sz="2900" dirty="0">
                <a:latin typeface="隶书"/>
                <a:cs typeface="隶书"/>
              </a:rPr>
              <a:t>模、 半有机</a:t>
            </a:r>
            <a:r>
              <a:rPr sz="2900" spc="-15" dirty="0">
                <a:latin typeface="隶书"/>
                <a:cs typeface="隶书"/>
              </a:rPr>
              <a:t>型</a:t>
            </a:r>
            <a:r>
              <a:rPr sz="2900" dirty="0">
                <a:latin typeface="隶书"/>
                <a:cs typeface="隶书"/>
              </a:rPr>
              <a:t>的项目</a:t>
            </a:r>
            <a:r>
              <a:rPr sz="2900" spc="-15" dirty="0">
                <a:latin typeface="隶书"/>
                <a:cs typeface="隶书"/>
              </a:rPr>
              <a:t>，</a:t>
            </a:r>
            <a:r>
              <a:rPr sz="2900" dirty="0">
                <a:latin typeface="隶书"/>
                <a:cs typeface="隶书"/>
              </a:rPr>
              <a:t>采用基</a:t>
            </a:r>
            <a:r>
              <a:rPr sz="2900" spc="-10" dirty="0">
                <a:latin typeface="隶书"/>
                <a:cs typeface="隶书"/>
              </a:rPr>
              <a:t>本</a:t>
            </a:r>
            <a:r>
              <a:rPr sz="2900" dirty="0">
                <a:latin typeface="隶书"/>
                <a:cs typeface="隶书"/>
              </a:rPr>
              <a:t>COCOMO</a:t>
            </a:r>
            <a:r>
              <a:rPr sz="2900" spc="-15" dirty="0">
                <a:latin typeface="隶书"/>
                <a:cs typeface="隶书"/>
              </a:rPr>
              <a:t>估</a:t>
            </a:r>
            <a:r>
              <a:rPr sz="2900" dirty="0">
                <a:latin typeface="隶书"/>
                <a:cs typeface="隶书"/>
              </a:rPr>
              <a:t>算进度？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6666" y="3789426"/>
            <a:ext cx="7772400" cy="213995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644525" indent="-554355">
              <a:lnSpc>
                <a:spcPct val="100000"/>
              </a:lnSpc>
              <a:spcBef>
                <a:spcPts val="455"/>
              </a:spcBef>
              <a:buSzPct val="96551"/>
              <a:buAutoNum type="arabicPlain"/>
              <a:tabLst>
                <a:tab pos="644525" algn="l"/>
              </a:tabLst>
            </a:pPr>
            <a:r>
              <a:rPr sz="2900" dirty="0">
                <a:latin typeface="隶书"/>
                <a:cs typeface="隶书"/>
              </a:rPr>
              <a:t>采</a:t>
            </a:r>
            <a:r>
              <a:rPr sz="2900" spc="-15" dirty="0">
                <a:latin typeface="隶书"/>
                <a:cs typeface="隶书"/>
              </a:rPr>
              <a:t>用</a:t>
            </a:r>
            <a:r>
              <a:rPr sz="2900" dirty="0">
                <a:latin typeface="隶书"/>
                <a:cs typeface="隶书"/>
              </a:rPr>
              <a:t>基本</a:t>
            </a:r>
            <a:r>
              <a:rPr sz="2900" spc="-5" dirty="0">
                <a:latin typeface="隶书"/>
                <a:cs typeface="隶书"/>
              </a:rPr>
              <a:t>COCOMO</a:t>
            </a:r>
            <a:r>
              <a:rPr sz="2900" dirty="0">
                <a:latin typeface="隶书"/>
                <a:cs typeface="隶书"/>
              </a:rPr>
              <a:t>模型估算的规</a:t>
            </a:r>
            <a:r>
              <a:rPr sz="2900" spc="-20" dirty="0">
                <a:latin typeface="隶书"/>
                <a:cs typeface="隶书"/>
              </a:rPr>
              <a:t>模</a:t>
            </a:r>
            <a:r>
              <a:rPr sz="2900" dirty="0">
                <a:latin typeface="隶书"/>
                <a:cs typeface="隶书"/>
              </a:rPr>
              <a:t>E＝152ＰM</a:t>
            </a:r>
            <a:endParaRPr sz="2900">
              <a:latin typeface="隶书"/>
              <a:cs typeface="隶书"/>
            </a:endParaRPr>
          </a:p>
          <a:p>
            <a:pPr marL="644525" indent="-554355">
              <a:lnSpc>
                <a:spcPct val="100000"/>
              </a:lnSpc>
              <a:spcBef>
                <a:spcPts val="480"/>
              </a:spcBef>
              <a:buSzPct val="96551"/>
              <a:buAutoNum type="arabicPlain"/>
              <a:tabLst>
                <a:tab pos="644525" algn="l"/>
              </a:tabLst>
            </a:pPr>
            <a:r>
              <a:rPr sz="2900" dirty="0">
                <a:latin typeface="隶书"/>
                <a:cs typeface="隶书"/>
              </a:rPr>
              <a:t>采用基本COCOMO模型估算的</a:t>
            </a:r>
            <a:r>
              <a:rPr sz="2900" spc="-10" dirty="0">
                <a:latin typeface="隶书"/>
                <a:cs typeface="隶书"/>
              </a:rPr>
              <a:t>进</a:t>
            </a:r>
            <a:r>
              <a:rPr sz="2900" dirty="0">
                <a:latin typeface="隶书"/>
                <a:cs typeface="隶书"/>
              </a:rPr>
              <a:t>度</a:t>
            </a:r>
            <a:endParaRPr sz="2900">
              <a:latin typeface="隶书"/>
              <a:cs typeface="隶书"/>
            </a:endParaRPr>
          </a:p>
          <a:p>
            <a:pPr marL="1461770">
              <a:lnSpc>
                <a:spcPts val="2325"/>
              </a:lnSpc>
              <a:spcBef>
                <a:spcPts val="600"/>
              </a:spcBef>
            </a:pPr>
            <a:r>
              <a:rPr sz="2000" dirty="0">
                <a:latin typeface="隶书"/>
                <a:cs typeface="隶书"/>
              </a:rPr>
              <a:t>D=2.5＊E</a:t>
            </a:r>
            <a:r>
              <a:rPr sz="1950" baseline="25641" dirty="0">
                <a:latin typeface="隶书"/>
                <a:cs typeface="隶书"/>
              </a:rPr>
              <a:t>0.35</a:t>
            </a:r>
            <a:endParaRPr sz="1950" baseline="25641">
              <a:latin typeface="隶书"/>
              <a:cs typeface="隶书"/>
            </a:endParaRPr>
          </a:p>
          <a:p>
            <a:pPr marL="1518285">
              <a:lnSpc>
                <a:spcPts val="2325"/>
              </a:lnSpc>
            </a:pPr>
            <a:r>
              <a:rPr sz="2000" dirty="0">
                <a:latin typeface="隶书"/>
                <a:cs typeface="隶书"/>
              </a:rPr>
              <a:t>=2.5*152</a:t>
            </a:r>
            <a:r>
              <a:rPr sz="1950" baseline="25641" dirty="0">
                <a:latin typeface="隶书"/>
                <a:cs typeface="隶书"/>
              </a:rPr>
              <a:t>0.35</a:t>
            </a:r>
            <a:r>
              <a:rPr sz="2000" dirty="0">
                <a:latin typeface="隶书"/>
                <a:cs typeface="隶书"/>
              </a:rPr>
              <a:t>＝14.5</a:t>
            </a:r>
            <a:endParaRPr sz="20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305257"/>
            <a:ext cx="4500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经验导出模型举例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258" y="1989582"/>
            <a:ext cx="8153400" cy="719455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45"/>
              </a:spcBef>
            </a:pPr>
            <a:r>
              <a:rPr sz="2900" dirty="0">
                <a:latin typeface="隶书"/>
                <a:cs typeface="隶书"/>
              </a:rPr>
              <a:t>假设：</a:t>
            </a:r>
            <a:r>
              <a:rPr sz="2900" spc="-15" dirty="0">
                <a:latin typeface="隶书"/>
                <a:cs typeface="隶书"/>
              </a:rPr>
              <a:t>导</a:t>
            </a:r>
            <a:r>
              <a:rPr sz="2900" dirty="0">
                <a:latin typeface="隶书"/>
                <a:cs typeface="隶书"/>
              </a:rPr>
              <a:t>出模型D=3*E</a:t>
            </a:r>
            <a:r>
              <a:rPr sz="2850" baseline="24853" dirty="0">
                <a:latin typeface="隶书"/>
                <a:cs typeface="隶书"/>
              </a:rPr>
              <a:t>1/3</a:t>
            </a:r>
            <a:endParaRPr sz="2850" baseline="24853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494" y="4005834"/>
            <a:ext cx="8153400" cy="93726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50"/>
              </a:spcBef>
              <a:tabLst>
                <a:tab pos="5617210" algn="l"/>
              </a:tabLst>
            </a:pPr>
            <a:r>
              <a:rPr sz="2900" dirty="0">
                <a:latin typeface="隶书"/>
                <a:cs typeface="隶书"/>
              </a:rPr>
              <a:t>则</a:t>
            </a:r>
            <a:r>
              <a:rPr sz="2900" spc="-5" dirty="0">
                <a:latin typeface="隶书"/>
                <a:cs typeface="隶书"/>
              </a:rPr>
              <a:t>：E=65</a:t>
            </a:r>
            <a:r>
              <a:rPr sz="2900" dirty="0">
                <a:latin typeface="隶书"/>
                <a:cs typeface="隶书"/>
              </a:rPr>
              <a:t>人月</a:t>
            </a:r>
            <a:r>
              <a:rPr sz="2900" spc="-10" dirty="0">
                <a:latin typeface="隶书"/>
                <a:cs typeface="隶书"/>
              </a:rPr>
              <a:t>===</a:t>
            </a:r>
            <a:r>
              <a:rPr sz="2900" spc="5" dirty="0">
                <a:latin typeface="隶书"/>
                <a:cs typeface="隶书"/>
              </a:rPr>
              <a:t>〉 </a:t>
            </a:r>
            <a:r>
              <a:rPr sz="2900" dirty="0">
                <a:latin typeface="隶书"/>
                <a:cs typeface="隶书"/>
              </a:rPr>
              <a:t>D=</a:t>
            </a:r>
            <a:r>
              <a:rPr sz="2900" spc="10" dirty="0">
                <a:latin typeface="隶书"/>
                <a:cs typeface="隶书"/>
              </a:rPr>
              <a:t> </a:t>
            </a:r>
            <a:r>
              <a:rPr sz="2900" dirty="0">
                <a:latin typeface="隶书"/>
                <a:cs typeface="隶书"/>
              </a:rPr>
              <a:t>3</a:t>
            </a:r>
            <a:r>
              <a:rPr sz="2900" spc="-5" dirty="0">
                <a:latin typeface="隶书"/>
                <a:cs typeface="隶书"/>
              </a:rPr>
              <a:t> </a:t>
            </a:r>
            <a:r>
              <a:rPr sz="2900" dirty="0">
                <a:latin typeface="隶书"/>
                <a:cs typeface="隶书"/>
              </a:rPr>
              <a:t>*</a:t>
            </a:r>
            <a:r>
              <a:rPr sz="2900" spc="10" dirty="0">
                <a:latin typeface="隶书"/>
                <a:cs typeface="隶书"/>
              </a:rPr>
              <a:t> </a:t>
            </a:r>
            <a:r>
              <a:rPr sz="2900" spc="5" dirty="0">
                <a:latin typeface="隶书"/>
                <a:cs typeface="隶书"/>
              </a:rPr>
              <a:t>65</a:t>
            </a:r>
            <a:r>
              <a:rPr sz="2850" spc="7" baseline="24853" dirty="0">
                <a:latin typeface="隶书"/>
                <a:cs typeface="隶书"/>
              </a:rPr>
              <a:t>1/3	</a:t>
            </a:r>
            <a:r>
              <a:rPr sz="2900" spc="-5" dirty="0">
                <a:latin typeface="隶书"/>
                <a:cs typeface="隶书"/>
              </a:rPr>
              <a:t>=12</a:t>
            </a:r>
            <a:r>
              <a:rPr sz="2900" spc="5" dirty="0">
                <a:latin typeface="隶书"/>
                <a:cs typeface="隶书"/>
              </a:rPr>
              <a:t>月</a:t>
            </a:r>
            <a:endParaRPr sz="29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716" y="2866102"/>
            <a:ext cx="18351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600" spc="1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52600"/>
            <a:ext cx="4647184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>
              <a:lnSpc>
                <a:spcPct val="100000"/>
              </a:lnSpc>
              <a:spcBef>
                <a:spcPts val="384"/>
              </a:spcBef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545591" y="2781300"/>
            <a:ext cx="579120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232663"/>
            <a:ext cx="394271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关键路径法估计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1886" y="1701544"/>
            <a:ext cx="8153400" cy="4013455"/>
          </a:xfrm>
          <a:custGeom>
            <a:avLst/>
            <a:gdLst/>
            <a:ahLst/>
            <a:cxnLst/>
            <a:rect l="l" t="t" r="r" b="b"/>
            <a:pathLst>
              <a:path w="8153400" h="3053079">
                <a:moveTo>
                  <a:pt x="0" y="3052572"/>
                </a:moveTo>
                <a:lnTo>
                  <a:pt x="8153400" y="3052572"/>
                </a:lnTo>
                <a:lnTo>
                  <a:pt x="8153400" y="0"/>
                </a:lnTo>
                <a:lnTo>
                  <a:pt x="0" y="0"/>
                </a:lnTo>
                <a:lnTo>
                  <a:pt x="0" y="305257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90168" y="1655543"/>
            <a:ext cx="5873750" cy="372570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50000"/>
              </a:lnSpc>
              <a:spcBef>
                <a:spcPts val="8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确定项</a:t>
            </a:r>
            <a:r>
              <a:rPr sz="2900" spc="-15" dirty="0">
                <a:latin typeface="隶书"/>
                <a:cs typeface="隶书"/>
              </a:rPr>
              <a:t>目</a:t>
            </a:r>
            <a:r>
              <a:rPr sz="2900" dirty="0">
                <a:latin typeface="隶书"/>
                <a:cs typeface="隶书"/>
              </a:rPr>
              <a:t>网络图</a:t>
            </a:r>
          </a:p>
          <a:p>
            <a:pPr marL="332740" indent="-320040">
              <a:lnSpc>
                <a:spcPct val="15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每个任</a:t>
            </a:r>
            <a:r>
              <a:rPr sz="2900" spc="-20" dirty="0">
                <a:latin typeface="隶书"/>
                <a:cs typeface="隶书"/>
              </a:rPr>
              <a:t>务</a:t>
            </a:r>
            <a:r>
              <a:rPr sz="2900" spc="5" dirty="0">
                <a:latin typeface="隶书"/>
                <a:cs typeface="隶书"/>
              </a:rPr>
              <a:t>有单一</a:t>
            </a:r>
            <a:r>
              <a:rPr sz="2900" spc="-20" dirty="0">
                <a:latin typeface="隶书"/>
                <a:cs typeface="隶书"/>
              </a:rPr>
              <a:t>的</a:t>
            </a:r>
            <a:r>
              <a:rPr sz="2900" spc="5" dirty="0">
                <a:latin typeface="隶书"/>
                <a:cs typeface="隶书"/>
              </a:rPr>
              <a:t>历时估算</a:t>
            </a:r>
            <a:endParaRPr sz="2900" dirty="0">
              <a:latin typeface="隶书"/>
              <a:cs typeface="隶书"/>
            </a:endParaRPr>
          </a:p>
          <a:p>
            <a:pPr marL="332740" indent="-320040">
              <a:lnSpc>
                <a:spcPct val="15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确定网</a:t>
            </a:r>
            <a:r>
              <a:rPr sz="2900" spc="-15" dirty="0">
                <a:latin typeface="隶书"/>
                <a:cs typeface="隶书"/>
              </a:rPr>
              <a:t>络</a:t>
            </a:r>
            <a:r>
              <a:rPr sz="2900" dirty="0">
                <a:latin typeface="隶书"/>
                <a:cs typeface="隶书"/>
              </a:rPr>
              <a:t>图中任</a:t>
            </a:r>
            <a:r>
              <a:rPr sz="2900" spc="-15" dirty="0">
                <a:latin typeface="隶书"/>
                <a:cs typeface="隶书"/>
              </a:rPr>
              <a:t>务</a:t>
            </a:r>
            <a:r>
              <a:rPr sz="2900" dirty="0">
                <a:latin typeface="隶书"/>
                <a:cs typeface="隶书"/>
              </a:rPr>
              <a:t>的逻辑</a:t>
            </a:r>
            <a:r>
              <a:rPr sz="2900" spc="-15" dirty="0">
                <a:latin typeface="隶书"/>
                <a:cs typeface="隶书"/>
              </a:rPr>
              <a:t>关</a:t>
            </a:r>
            <a:r>
              <a:rPr sz="2900" dirty="0">
                <a:latin typeface="隶书"/>
                <a:cs typeface="隶书"/>
              </a:rPr>
              <a:t>系</a:t>
            </a:r>
          </a:p>
          <a:p>
            <a:pPr marL="332740" indent="-320040">
              <a:lnSpc>
                <a:spcPct val="15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关键路</a:t>
            </a:r>
            <a:r>
              <a:rPr sz="2900" spc="-15" dirty="0">
                <a:latin typeface="隶书"/>
                <a:cs typeface="隶书"/>
              </a:rPr>
              <a:t>径</a:t>
            </a:r>
            <a:r>
              <a:rPr sz="2900" dirty="0">
                <a:latin typeface="隶书"/>
                <a:cs typeface="隶书"/>
              </a:rPr>
              <a:t>是网络</a:t>
            </a:r>
            <a:r>
              <a:rPr sz="2900" spc="-15" dirty="0">
                <a:latin typeface="隶书"/>
                <a:cs typeface="隶书"/>
              </a:rPr>
              <a:t>图</a:t>
            </a:r>
            <a:r>
              <a:rPr sz="2900" dirty="0">
                <a:latin typeface="隶书"/>
                <a:cs typeface="隶书"/>
              </a:rPr>
              <a:t>中最长</a:t>
            </a:r>
            <a:r>
              <a:rPr sz="2900" spc="-15" dirty="0">
                <a:latin typeface="隶书"/>
                <a:cs typeface="隶书"/>
              </a:rPr>
              <a:t>的</a:t>
            </a:r>
            <a:r>
              <a:rPr sz="2900" dirty="0">
                <a:latin typeface="隶书"/>
                <a:cs typeface="隶书"/>
              </a:rPr>
              <a:t>路径。</a:t>
            </a:r>
          </a:p>
          <a:p>
            <a:pPr marL="332740" indent="-320040">
              <a:lnSpc>
                <a:spcPct val="15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 err="1">
                <a:latin typeface="隶书"/>
                <a:cs typeface="隶书"/>
              </a:rPr>
              <a:t>关键路</a:t>
            </a:r>
            <a:r>
              <a:rPr sz="2900" spc="-15" dirty="0" err="1">
                <a:latin typeface="隶书"/>
                <a:cs typeface="隶书"/>
              </a:rPr>
              <a:t>径</a:t>
            </a:r>
            <a:r>
              <a:rPr sz="2900" dirty="0" err="1">
                <a:latin typeface="隶书"/>
                <a:cs typeface="隶书"/>
              </a:rPr>
              <a:t>可以确</a:t>
            </a:r>
            <a:r>
              <a:rPr sz="2900" spc="-15" dirty="0" err="1">
                <a:latin typeface="隶书"/>
                <a:cs typeface="隶书"/>
              </a:rPr>
              <a:t>定</a:t>
            </a:r>
            <a:r>
              <a:rPr sz="2900" dirty="0" err="1">
                <a:latin typeface="隶书"/>
                <a:cs typeface="隶书"/>
              </a:rPr>
              <a:t>项目完</a:t>
            </a:r>
            <a:r>
              <a:rPr sz="2900" spc="-15" dirty="0" err="1">
                <a:latin typeface="隶书"/>
                <a:cs typeface="隶书"/>
              </a:rPr>
              <a:t>成</a:t>
            </a:r>
            <a:r>
              <a:rPr sz="2900" dirty="0" err="1">
                <a:latin typeface="隶书"/>
                <a:cs typeface="隶书"/>
              </a:rPr>
              <a:t>时间</a:t>
            </a:r>
            <a:r>
              <a:rPr lang="zh-CN" altLang="en-US" sz="2900" dirty="0">
                <a:latin typeface="隶书"/>
                <a:cs typeface="隶书"/>
              </a:rPr>
              <a:t>。</a:t>
            </a:r>
            <a:endParaRPr sz="2900" dirty="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81913"/>
            <a:ext cx="50622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关键路径法估计实例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59" y="4236720"/>
            <a:ext cx="993775" cy="66611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4639" y="2756916"/>
            <a:ext cx="3251200" cy="98171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sz="3600" spc="-5" dirty="0">
                <a:latin typeface="Arial Narrow"/>
                <a:cs typeface="Arial Narrow"/>
              </a:rPr>
              <a:t>A:100</a:t>
            </a:r>
            <a:r>
              <a:rPr sz="3600" dirty="0">
                <a:latin typeface="宋体"/>
                <a:cs typeface="宋体"/>
              </a:rPr>
              <a:t>天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1335" y="4902708"/>
            <a:ext cx="1533525" cy="83248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3600" spc="-5" dirty="0">
                <a:latin typeface="Arial Narrow"/>
                <a:cs typeface="Arial Narrow"/>
              </a:rPr>
              <a:t>B:10</a:t>
            </a:r>
            <a:r>
              <a:rPr sz="3600" dirty="0">
                <a:latin typeface="宋体"/>
                <a:cs typeface="宋体"/>
              </a:rPr>
              <a:t>天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1211" y="4236720"/>
            <a:ext cx="993775" cy="66611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43520" y="4728971"/>
            <a:ext cx="2588260" cy="690245"/>
          </a:xfrm>
          <a:custGeom>
            <a:avLst/>
            <a:gdLst/>
            <a:ahLst/>
            <a:cxnLst/>
            <a:rect l="l" t="t" r="r" b="b"/>
            <a:pathLst>
              <a:path w="2588260" h="690245">
                <a:moveTo>
                  <a:pt x="2512433" y="659273"/>
                </a:moveTo>
                <a:lnTo>
                  <a:pt x="2504503" y="689990"/>
                </a:lnTo>
                <a:lnTo>
                  <a:pt x="2587815" y="672083"/>
                </a:lnTo>
                <a:lnTo>
                  <a:pt x="2576715" y="662431"/>
                </a:lnTo>
                <a:lnTo>
                  <a:pt x="2524696" y="662431"/>
                </a:lnTo>
                <a:lnTo>
                  <a:pt x="2512433" y="659273"/>
                </a:lnTo>
                <a:close/>
              </a:path>
              <a:path w="2588260" h="690245">
                <a:moveTo>
                  <a:pt x="2515613" y="646956"/>
                </a:moveTo>
                <a:lnTo>
                  <a:pt x="2512433" y="659273"/>
                </a:lnTo>
                <a:lnTo>
                  <a:pt x="2524696" y="662431"/>
                </a:lnTo>
                <a:lnTo>
                  <a:pt x="2527871" y="650112"/>
                </a:lnTo>
                <a:lnTo>
                  <a:pt x="2515613" y="646956"/>
                </a:lnTo>
                <a:close/>
              </a:path>
              <a:path w="2588260" h="690245">
                <a:moveTo>
                  <a:pt x="2523553" y="616203"/>
                </a:moveTo>
                <a:lnTo>
                  <a:pt x="2515613" y="646956"/>
                </a:lnTo>
                <a:lnTo>
                  <a:pt x="2527871" y="650112"/>
                </a:lnTo>
                <a:lnTo>
                  <a:pt x="2524696" y="662431"/>
                </a:lnTo>
                <a:lnTo>
                  <a:pt x="2576715" y="662431"/>
                </a:lnTo>
                <a:lnTo>
                  <a:pt x="2523553" y="616203"/>
                </a:lnTo>
                <a:close/>
              </a:path>
              <a:path w="2588260" h="690245">
                <a:moveTo>
                  <a:pt x="3174" y="0"/>
                </a:moveTo>
                <a:lnTo>
                  <a:pt x="0" y="12191"/>
                </a:lnTo>
                <a:lnTo>
                  <a:pt x="2512433" y="659273"/>
                </a:lnTo>
                <a:lnTo>
                  <a:pt x="2515613" y="646956"/>
                </a:lnTo>
                <a:lnTo>
                  <a:pt x="31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1348" y="3404615"/>
            <a:ext cx="1593850" cy="1170940"/>
          </a:xfrm>
          <a:custGeom>
            <a:avLst/>
            <a:gdLst/>
            <a:ahLst/>
            <a:cxnLst/>
            <a:rect l="l" t="t" r="r" b="b"/>
            <a:pathLst>
              <a:path w="1593850" h="1170939">
                <a:moveTo>
                  <a:pt x="1528073" y="39886"/>
                </a:moveTo>
                <a:lnTo>
                  <a:pt x="0" y="1160780"/>
                </a:lnTo>
                <a:lnTo>
                  <a:pt x="7518" y="1170940"/>
                </a:lnTo>
                <a:lnTo>
                  <a:pt x="1535600" y="50148"/>
                </a:lnTo>
                <a:lnTo>
                  <a:pt x="1528073" y="39886"/>
                </a:lnTo>
                <a:close/>
              </a:path>
              <a:path w="1593850" h="1170939">
                <a:moveTo>
                  <a:pt x="1576691" y="32385"/>
                </a:moveTo>
                <a:lnTo>
                  <a:pt x="1538300" y="32385"/>
                </a:lnTo>
                <a:lnTo>
                  <a:pt x="1545793" y="42672"/>
                </a:lnTo>
                <a:lnTo>
                  <a:pt x="1535600" y="50148"/>
                </a:lnTo>
                <a:lnTo>
                  <a:pt x="1554429" y="75819"/>
                </a:lnTo>
                <a:lnTo>
                  <a:pt x="1576691" y="32385"/>
                </a:lnTo>
                <a:close/>
              </a:path>
              <a:path w="1593850" h="1170939">
                <a:moveTo>
                  <a:pt x="1538300" y="32385"/>
                </a:moveTo>
                <a:lnTo>
                  <a:pt x="1528073" y="39886"/>
                </a:lnTo>
                <a:lnTo>
                  <a:pt x="1535600" y="50148"/>
                </a:lnTo>
                <a:lnTo>
                  <a:pt x="1545793" y="42672"/>
                </a:lnTo>
                <a:lnTo>
                  <a:pt x="1538300" y="32385"/>
                </a:lnTo>
                <a:close/>
              </a:path>
              <a:path w="1593850" h="1170939">
                <a:moveTo>
                  <a:pt x="1593291" y="0"/>
                </a:moveTo>
                <a:lnTo>
                  <a:pt x="1509344" y="14350"/>
                </a:lnTo>
                <a:lnTo>
                  <a:pt x="1528073" y="39886"/>
                </a:lnTo>
                <a:lnTo>
                  <a:pt x="1538300" y="32385"/>
                </a:lnTo>
                <a:lnTo>
                  <a:pt x="1576691" y="32385"/>
                </a:lnTo>
                <a:lnTo>
                  <a:pt x="1593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2321" y="4560823"/>
            <a:ext cx="2049145" cy="763905"/>
          </a:xfrm>
          <a:custGeom>
            <a:avLst/>
            <a:gdLst/>
            <a:ahLst/>
            <a:cxnLst/>
            <a:rect l="l" t="t" r="r" b="b"/>
            <a:pathLst>
              <a:path w="2049145" h="763904">
                <a:moveTo>
                  <a:pt x="1975100" y="29892"/>
                </a:moveTo>
                <a:lnTo>
                  <a:pt x="0" y="751966"/>
                </a:lnTo>
                <a:lnTo>
                  <a:pt x="4317" y="763904"/>
                </a:lnTo>
                <a:lnTo>
                  <a:pt x="1979470" y="41857"/>
                </a:lnTo>
                <a:lnTo>
                  <a:pt x="1975100" y="29892"/>
                </a:lnTo>
                <a:close/>
              </a:path>
              <a:path w="2049145" h="763904">
                <a:moveTo>
                  <a:pt x="2033894" y="25526"/>
                </a:moveTo>
                <a:lnTo>
                  <a:pt x="1987042" y="25526"/>
                </a:lnTo>
                <a:lnTo>
                  <a:pt x="1991486" y="37464"/>
                </a:lnTo>
                <a:lnTo>
                  <a:pt x="1979470" y="41857"/>
                </a:lnTo>
                <a:lnTo>
                  <a:pt x="1990344" y="71627"/>
                </a:lnTo>
                <a:lnTo>
                  <a:pt x="2033894" y="25526"/>
                </a:lnTo>
                <a:close/>
              </a:path>
              <a:path w="2049145" h="763904">
                <a:moveTo>
                  <a:pt x="1987042" y="25526"/>
                </a:moveTo>
                <a:lnTo>
                  <a:pt x="1975100" y="29892"/>
                </a:lnTo>
                <a:lnTo>
                  <a:pt x="1979470" y="41857"/>
                </a:lnTo>
                <a:lnTo>
                  <a:pt x="1991486" y="37464"/>
                </a:lnTo>
                <a:lnTo>
                  <a:pt x="1987042" y="25526"/>
                </a:lnTo>
                <a:close/>
              </a:path>
              <a:path w="2049145" h="763904">
                <a:moveTo>
                  <a:pt x="1964181" y="0"/>
                </a:moveTo>
                <a:lnTo>
                  <a:pt x="1975100" y="29892"/>
                </a:lnTo>
                <a:lnTo>
                  <a:pt x="1987042" y="25526"/>
                </a:lnTo>
                <a:lnTo>
                  <a:pt x="2033894" y="25526"/>
                </a:lnTo>
                <a:lnTo>
                  <a:pt x="2048890" y="9651"/>
                </a:lnTo>
                <a:lnTo>
                  <a:pt x="196418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81521" y="3399535"/>
            <a:ext cx="1329690" cy="1005205"/>
          </a:xfrm>
          <a:custGeom>
            <a:avLst/>
            <a:gdLst/>
            <a:ahLst/>
            <a:cxnLst/>
            <a:rect l="l" t="t" r="r" b="b"/>
            <a:pathLst>
              <a:path w="1329690" h="1005204">
                <a:moveTo>
                  <a:pt x="1265017" y="963993"/>
                </a:moveTo>
                <a:lnTo>
                  <a:pt x="1245870" y="989330"/>
                </a:lnTo>
                <a:lnTo>
                  <a:pt x="1329689" y="1004824"/>
                </a:lnTo>
                <a:lnTo>
                  <a:pt x="1313254" y="971676"/>
                </a:lnTo>
                <a:lnTo>
                  <a:pt x="1275206" y="971676"/>
                </a:lnTo>
                <a:lnTo>
                  <a:pt x="1265017" y="963993"/>
                </a:lnTo>
                <a:close/>
              </a:path>
              <a:path w="1329690" h="1005204">
                <a:moveTo>
                  <a:pt x="1272674" y="953862"/>
                </a:moveTo>
                <a:lnTo>
                  <a:pt x="1265017" y="963993"/>
                </a:lnTo>
                <a:lnTo>
                  <a:pt x="1275206" y="971676"/>
                </a:lnTo>
                <a:lnTo>
                  <a:pt x="1282827" y="961516"/>
                </a:lnTo>
                <a:lnTo>
                  <a:pt x="1272674" y="953862"/>
                </a:lnTo>
                <a:close/>
              </a:path>
              <a:path w="1329690" h="1005204">
                <a:moveTo>
                  <a:pt x="1291844" y="928496"/>
                </a:moveTo>
                <a:lnTo>
                  <a:pt x="1272674" y="953862"/>
                </a:lnTo>
                <a:lnTo>
                  <a:pt x="1282827" y="961516"/>
                </a:lnTo>
                <a:lnTo>
                  <a:pt x="1275206" y="971676"/>
                </a:lnTo>
                <a:lnTo>
                  <a:pt x="1313254" y="971676"/>
                </a:lnTo>
                <a:lnTo>
                  <a:pt x="1291844" y="928496"/>
                </a:lnTo>
                <a:close/>
              </a:path>
              <a:path w="1329690" h="1005204">
                <a:moveTo>
                  <a:pt x="7619" y="0"/>
                </a:moveTo>
                <a:lnTo>
                  <a:pt x="0" y="10160"/>
                </a:lnTo>
                <a:lnTo>
                  <a:pt x="1265017" y="963993"/>
                </a:lnTo>
                <a:lnTo>
                  <a:pt x="1272674" y="953862"/>
                </a:lnTo>
                <a:lnTo>
                  <a:pt x="76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716" y="3325081"/>
            <a:ext cx="18351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600" spc="1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4875784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marR="5080" indent="-320040">
              <a:lnSpc>
                <a:spcPct val="111500"/>
              </a:lnSpc>
              <a:spcBef>
                <a:spcPts val="1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  </a:t>
            </a: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533400" y="3069335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305257"/>
            <a:ext cx="6471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工程评估评审技术（</a:t>
            </a:r>
            <a:r>
              <a:rPr i="1" dirty="0">
                <a:latin typeface="华文隶书"/>
                <a:cs typeface="华文隶书"/>
              </a:rPr>
              <a:t>PERT)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893570"/>
            <a:ext cx="7772400" cy="4932421"/>
          </a:xfrm>
          <a:custGeom>
            <a:avLst/>
            <a:gdLst/>
            <a:ahLst/>
            <a:cxnLst/>
            <a:rect l="l" t="t" r="r" b="b"/>
            <a:pathLst>
              <a:path w="7772400" h="3552825">
                <a:moveTo>
                  <a:pt x="0" y="3552444"/>
                </a:moveTo>
                <a:lnTo>
                  <a:pt x="7772400" y="3552444"/>
                </a:lnTo>
                <a:lnTo>
                  <a:pt x="7772400" y="0"/>
                </a:lnTo>
                <a:lnTo>
                  <a:pt x="0" y="0"/>
                </a:lnTo>
                <a:lnTo>
                  <a:pt x="0" y="355244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85037" y="2057400"/>
            <a:ext cx="7614585" cy="42203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1112520" indent="-320040">
              <a:lnSpc>
                <a:spcPct val="15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(Program Evaluation and Review  </a:t>
            </a:r>
            <a:r>
              <a:rPr sz="2900" spc="-5" dirty="0">
                <a:latin typeface="隶书"/>
                <a:cs typeface="隶书"/>
              </a:rPr>
              <a:t>Technique)</a:t>
            </a:r>
            <a:r>
              <a:rPr sz="2900" dirty="0">
                <a:latin typeface="隶书"/>
                <a:cs typeface="隶书"/>
              </a:rPr>
              <a:t>利用网络顺序图逻辑关系</a:t>
            </a:r>
          </a:p>
          <a:p>
            <a:pPr marL="332740" marR="5715" indent="-320040">
              <a:lnSpc>
                <a:spcPct val="15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项目中某项单独的活动，存在很大</a:t>
            </a:r>
            <a:r>
              <a:rPr sz="2900" spc="-10" dirty="0">
                <a:latin typeface="隶书"/>
                <a:cs typeface="隶书"/>
              </a:rPr>
              <a:t>的</a:t>
            </a:r>
            <a:r>
              <a:rPr sz="2900" dirty="0">
                <a:latin typeface="隶书"/>
                <a:cs typeface="隶书"/>
              </a:rPr>
              <a:t>不确定 </a:t>
            </a:r>
            <a:r>
              <a:rPr sz="2900" spc="5" dirty="0">
                <a:latin typeface="隶书"/>
                <a:cs typeface="隶书"/>
              </a:rPr>
              <a:t>性。</a:t>
            </a:r>
            <a:endParaRPr sz="2900" dirty="0">
              <a:latin typeface="隶书"/>
              <a:cs typeface="隶书"/>
            </a:endParaRPr>
          </a:p>
          <a:p>
            <a:pPr marL="332740" indent="-320040">
              <a:lnSpc>
                <a:spcPct val="15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加权算法估算任务历时</a:t>
            </a:r>
          </a:p>
          <a:p>
            <a:pPr marL="332740" indent="-320040">
              <a:lnSpc>
                <a:spcPct val="15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332105" algn="l"/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利用网</a:t>
            </a:r>
            <a:r>
              <a:rPr sz="2900" spc="-10" dirty="0">
                <a:latin typeface="隶书"/>
                <a:cs typeface="隶书"/>
              </a:rPr>
              <a:t>络</a:t>
            </a:r>
            <a:r>
              <a:rPr sz="2900" spc="5" dirty="0">
                <a:latin typeface="隶书"/>
                <a:cs typeface="隶书"/>
              </a:rPr>
              <a:t>图逻辑</a:t>
            </a:r>
            <a:r>
              <a:rPr sz="2900" spc="-10" dirty="0">
                <a:latin typeface="隶书"/>
                <a:cs typeface="隶书"/>
              </a:rPr>
              <a:t>关</a:t>
            </a:r>
            <a:r>
              <a:rPr sz="2900" spc="5" dirty="0">
                <a:latin typeface="隶书"/>
                <a:cs typeface="隶书"/>
              </a:rPr>
              <a:t>系，确</a:t>
            </a:r>
            <a:r>
              <a:rPr sz="2900" spc="-10" dirty="0">
                <a:latin typeface="隶书"/>
                <a:cs typeface="隶书"/>
              </a:rPr>
              <a:t>定</a:t>
            </a:r>
            <a:r>
              <a:rPr sz="2900" spc="5" dirty="0">
                <a:latin typeface="隶书"/>
                <a:cs typeface="隶书"/>
              </a:rPr>
              <a:t>路径、</a:t>
            </a:r>
            <a:r>
              <a:rPr sz="2900" spc="-10" dirty="0">
                <a:latin typeface="隶书"/>
                <a:cs typeface="隶书"/>
              </a:rPr>
              <a:t>项</a:t>
            </a:r>
            <a:r>
              <a:rPr sz="2900" spc="5" dirty="0">
                <a:latin typeface="隶书"/>
                <a:cs typeface="隶书"/>
              </a:rPr>
              <a:t>目历时</a:t>
            </a:r>
            <a:endParaRPr sz="2900" dirty="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94105"/>
            <a:ext cx="7252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华文隶书"/>
                <a:cs typeface="华文隶书"/>
              </a:rPr>
              <a:t>工程评估评审技术</a:t>
            </a:r>
            <a:r>
              <a:rPr sz="3600" spc="-5" dirty="0">
                <a:latin typeface="华文隶书"/>
                <a:cs typeface="华文隶书"/>
              </a:rPr>
              <a:t>（</a:t>
            </a:r>
            <a:r>
              <a:rPr sz="3600" i="1" spc="-5" dirty="0">
                <a:latin typeface="华文隶书"/>
                <a:cs typeface="华文隶书"/>
              </a:rPr>
              <a:t>PERT)-</a:t>
            </a:r>
            <a:r>
              <a:rPr sz="3600" dirty="0">
                <a:latin typeface="华文隶书"/>
                <a:cs typeface="华文隶书"/>
              </a:rPr>
              <a:t>加权算法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28294" y="1703070"/>
            <a:ext cx="7772400" cy="3598545"/>
          </a:xfrm>
          <a:custGeom>
            <a:avLst/>
            <a:gdLst/>
            <a:ahLst/>
            <a:cxnLst/>
            <a:rect l="l" t="t" r="r" b="b"/>
            <a:pathLst>
              <a:path w="7772400" h="3598545">
                <a:moveTo>
                  <a:pt x="0" y="3598164"/>
                </a:moveTo>
                <a:lnTo>
                  <a:pt x="7772400" y="3598164"/>
                </a:lnTo>
                <a:lnTo>
                  <a:pt x="7772400" y="0"/>
                </a:lnTo>
                <a:lnTo>
                  <a:pt x="0" y="0"/>
                </a:lnTo>
                <a:lnTo>
                  <a:pt x="0" y="3598164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5966" y="1663811"/>
            <a:ext cx="7933233" cy="3477234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332740" indent="-320040">
              <a:lnSpc>
                <a:spcPct val="150000"/>
              </a:lnSpc>
              <a:spcBef>
                <a:spcPts val="75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选定3</a:t>
            </a:r>
            <a:r>
              <a:rPr sz="2900" spc="-15" dirty="0">
                <a:latin typeface="隶书"/>
                <a:cs typeface="隶书"/>
              </a:rPr>
              <a:t>个</a:t>
            </a:r>
            <a:r>
              <a:rPr sz="2900" dirty="0">
                <a:latin typeface="隶书"/>
                <a:cs typeface="隶书"/>
              </a:rPr>
              <a:t>估算值</a:t>
            </a:r>
          </a:p>
          <a:p>
            <a:pPr marL="652780" lvl="1" indent="-273685">
              <a:lnSpc>
                <a:spcPct val="150000"/>
              </a:lnSpc>
              <a:spcBef>
                <a:spcPts val="59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3415" algn="l"/>
              </a:tabLst>
            </a:pPr>
            <a:r>
              <a:rPr sz="2600" spc="-10" dirty="0">
                <a:latin typeface="隶书"/>
                <a:cs typeface="隶书"/>
              </a:rPr>
              <a:t>O</a:t>
            </a:r>
            <a:r>
              <a:rPr sz="2600" spc="5" dirty="0">
                <a:latin typeface="隶书"/>
                <a:cs typeface="隶书"/>
              </a:rPr>
              <a:t>是最小</a:t>
            </a:r>
            <a:r>
              <a:rPr sz="2600" spc="-20" dirty="0">
                <a:latin typeface="隶书"/>
                <a:cs typeface="隶书"/>
              </a:rPr>
              <a:t>估</a:t>
            </a:r>
            <a:r>
              <a:rPr sz="2600" spc="5" dirty="0">
                <a:latin typeface="隶书"/>
                <a:cs typeface="隶书"/>
              </a:rPr>
              <a:t>算</a:t>
            </a:r>
            <a:r>
              <a:rPr sz="2600" dirty="0">
                <a:latin typeface="隶书"/>
                <a:cs typeface="隶书"/>
              </a:rPr>
              <a:t>值</a:t>
            </a:r>
            <a:r>
              <a:rPr sz="2600" spc="-10" dirty="0">
                <a:latin typeface="隶书"/>
                <a:cs typeface="隶书"/>
              </a:rPr>
              <a:t>:</a:t>
            </a:r>
            <a:r>
              <a:rPr sz="2600" dirty="0">
                <a:latin typeface="隶书"/>
                <a:cs typeface="隶书"/>
              </a:rPr>
              <a:t>乐</a:t>
            </a:r>
            <a:r>
              <a:rPr sz="2600" spc="-10" dirty="0">
                <a:latin typeface="隶书"/>
                <a:cs typeface="隶书"/>
              </a:rPr>
              <a:t>观</a:t>
            </a:r>
            <a:r>
              <a:rPr sz="2600" spc="-5" dirty="0">
                <a:latin typeface="隶书"/>
                <a:cs typeface="隶书"/>
              </a:rPr>
              <a:t>(Optimistic)，</a:t>
            </a:r>
            <a:endParaRPr sz="2600" dirty="0">
              <a:latin typeface="隶书"/>
              <a:cs typeface="隶书"/>
            </a:endParaRPr>
          </a:p>
          <a:p>
            <a:pPr marL="652780" lvl="1" indent="-273685">
              <a:lnSpc>
                <a:spcPct val="15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3415" algn="l"/>
              </a:tabLst>
            </a:pPr>
            <a:r>
              <a:rPr sz="2600" spc="-5" dirty="0">
                <a:latin typeface="隶书"/>
                <a:cs typeface="隶书"/>
              </a:rPr>
              <a:t>P</a:t>
            </a:r>
            <a:r>
              <a:rPr sz="2600" dirty="0">
                <a:latin typeface="隶书"/>
                <a:cs typeface="隶书"/>
              </a:rPr>
              <a:t>是最大</a:t>
            </a:r>
            <a:r>
              <a:rPr sz="2600" spc="-15" dirty="0">
                <a:latin typeface="隶书"/>
                <a:cs typeface="隶书"/>
              </a:rPr>
              <a:t>估</a:t>
            </a:r>
            <a:r>
              <a:rPr sz="2600" dirty="0">
                <a:latin typeface="隶书"/>
                <a:cs typeface="隶书"/>
              </a:rPr>
              <a:t>算值</a:t>
            </a:r>
            <a:r>
              <a:rPr sz="2600" spc="-10" dirty="0">
                <a:latin typeface="隶书"/>
                <a:cs typeface="隶书"/>
              </a:rPr>
              <a:t>:</a:t>
            </a:r>
            <a:r>
              <a:rPr sz="2600" dirty="0">
                <a:latin typeface="隶书"/>
                <a:cs typeface="隶书"/>
              </a:rPr>
              <a:t>悲</a:t>
            </a:r>
            <a:r>
              <a:rPr sz="2600" spc="-15" dirty="0">
                <a:latin typeface="隶书"/>
                <a:cs typeface="隶书"/>
              </a:rPr>
              <a:t>观</a:t>
            </a:r>
            <a:r>
              <a:rPr sz="2600" spc="-5" dirty="0">
                <a:latin typeface="隶书"/>
                <a:cs typeface="隶书"/>
              </a:rPr>
              <a:t>(Pessimistic)，</a:t>
            </a:r>
            <a:endParaRPr sz="2600" dirty="0">
              <a:latin typeface="隶书"/>
              <a:cs typeface="隶书"/>
            </a:endParaRPr>
          </a:p>
          <a:p>
            <a:pPr marL="652780" lvl="1" indent="-273685">
              <a:lnSpc>
                <a:spcPct val="15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3415" algn="l"/>
              </a:tabLst>
            </a:pPr>
            <a:r>
              <a:rPr sz="2600" spc="-5" dirty="0">
                <a:latin typeface="隶书"/>
                <a:cs typeface="隶书"/>
              </a:rPr>
              <a:t>M</a:t>
            </a:r>
            <a:r>
              <a:rPr sz="2600" dirty="0">
                <a:latin typeface="隶书"/>
                <a:cs typeface="隶书"/>
              </a:rPr>
              <a:t>是最大</a:t>
            </a:r>
            <a:r>
              <a:rPr sz="2600" spc="-15" dirty="0">
                <a:latin typeface="隶书"/>
                <a:cs typeface="隶书"/>
              </a:rPr>
              <a:t>可</a:t>
            </a:r>
            <a:r>
              <a:rPr sz="2600" dirty="0">
                <a:latin typeface="隶书"/>
                <a:cs typeface="隶书"/>
              </a:rPr>
              <a:t>能估算</a:t>
            </a:r>
            <a:r>
              <a:rPr sz="2600" spc="-5" dirty="0">
                <a:latin typeface="隶书"/>
                <a:cs typeface="隶书"/>
              </a:rPr>
              <a:t>(Most</a:t>
            </a:r>
            <a:r>
              <a:rPr sz="2600" spc="-20" dirty="0">
                <a:latin typeface="隶书"/>
                <a:cs typeface="隶书"/>
              </a:rPr>
              <a:t> </a:t>
            </a:r>
            <a:r>
              <a:rPr sz="2600" spc="-5" dirty="0">
                <a:latin typeface="隶书"/>
                <a:cs typeface="隶书"/>
              </a:rPr>
              <a:t>Likely)</a:t>
            </a:r>
            <a:r>
              <a:rPr sz="2600" dirty="0">
                <a:latin typeface="隶书"/>
                <a:cs typeface="隶书"/>
              </a:rPr>
              <a:t>。</a:t>
            </a:r>
          </a:p>
          <a:p>
            <a:pPr marL="332740" indent="-320040">
              <a:lnSpc>
                <a:spcPct val="150000"/>
              </a:lnSpc>
              <a:spcBef>
                <a:spcPts val="72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采用加</a:t>
            </a:r>
            <a:r>
              <a:rPr sz="2900" spc="-15" dirty="0">
                <a:latin typeface="隶书"/>
                <a:cs typeface="隶书"/>
              </a:rPr>
              <a:t>权</a:t>
            </a:r>
            <a:r>
              <a:rPr sz="2900" dirty="0">
                <a:latin typeface="隶书"/>
                <a:cs typeface="隶书"/>
              </a:rPr>
              <a:t>平均得</a:t>
            </a:r>
            <a:r>
              <a:rPr sz="2900" spc="-15" dirty="0">
                <a:latin typeface="隶书"/>
                <a:cs typeface="隶书"/>
              </a:rPr>
              <a:t>到</a:t>
            </a:r>
            <a:r>
              <a:rPr sz="2900" dirty="0">
                <a:latin typeface="隶书"/>
                <a:cs typeface="隶书"/>
              </a:rPr>
              <a:t>期望</a:t>
            </a:r>
            <a:r>
              <a:rPr sz="2900" spc="5" dirty="0">
                <a:latin typeface="隶书"/>
                <a:cs typeface="隶书"/>
              </a:rPr>
              <a:t>值</a:t>
            </a:r>
            <a:r>
              <a:rPr sz="2900" dirty="0">
                <a:latin typeface="隶书"/>
                <a:cs typeface="隶书"/>
              </a:rPr>
              <a:t>E=（O+4m+P)/6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47852"/>
            <a:ext cx="46469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PERT</a:t>
            </a:r>
            <a:r>
              <a:rPr dirty="0">
                <a:latin typeface="华文隶书"/>
                <a:cs typeface="华文隶书"/>
              </a:rPr>
              <a:t>加权算法例子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886" y="1605533"/>
            <a:ext cx="8353425" cy="411480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905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65"/>
              </a:spcBef>
            </a:pPr>
            <a:r>
              <a:rPr sz="3600" spc="-5" dirty="0">
                <a:latin typeface="黑体"/>
                <a:cs typeface="黑体"/>
              </a:rPr>
              <a:t>Example:</a:t>
            </a:r>
            <a:endParaRPr sz="3600">
              <a:latin typeface="黑体"/>
              <a:cs typeface="黑体"/>
            </a:endParaRPr>
          </a:p>
          <a:p>
            <a:pPr marL="90805">
              <a:lnSpc>
                <a:spcPct val="100000"/>
              </a:lnSpc>
              <a:spcBef>
                <a:spcPts val="710"/>
              </a:spcBef>
              <a:tabLst>
                <a:tab pos="1233805" algn="l"/>
                <a:tab pos="3291204" algn="l"/>
                <a:tab pos="5120005" algn="l"/>
              </a:tabLst>
            </a:pPr>
            <a:r>
              <a:rPr sz="3600" dirty="0">
                <a:latin typeface="黑体"/>
                <a:cs typeface="黑体"/>
              </a:rPr>
              <a:t>PERT	weighted	average	=</a:t>
            </a:r>
            <a:endParaRPr sz="3600">
              <a:latin typeface="黑体"/>
              <a:cs typeface="黑体"/>
            </a:endParaRPr>
          </a:p>
          <a:p>
            <a:pPr marL="296545">
              <a:lnSpc>
                <a:spcPct val="100000"/>
              </a:lnSpc>
              <a:spcBef>
                <a:spcPts val="990"/>
              </a:spcBef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8 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days 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黑体"/>
                <a:cs typeface="黑体"/>
              </a:rPr>
              <a:t>+ 4 X 10 days + 24 days</a:t>
            </a:r>
            <a:r>
              <a:rPr sz="2900" dirty="0">
                <a:latin typeface="黑体"/>
                <a:cs typeface="黑体"/>
              </a:rPr>
              <a:t> = 12</a:t>
            </a:r>
            <a:r>
              <a:rPr sz="2900" spc="-85" dirty="0">
                <a:latin typeface="黑体"/>
                <a:cs typeface="黑体"/>
              </a:rPr>
              <a:t> </a:t>
            </a:r>
            <a:r>
              <a:rPr sz="2900" spc="-5" dirty="0">
                <a:latin typeface="黑体"/>
                <a:cs typeface="黑体"/>
              </a:rPr>
              <a:t>days</a:t>
            </a:r>
            <a:endParaRPr sz="2900">
              <a:latin typeface="黑体"/>
              <a:cs typeface="黑体"/>
            </a:endParaRPr>
          </a:p>
          <a:p>
            <a:pPr marL="2468245">
              <a:lnSpc>
                <a:spcPct val="100000"/>
              </a:lnSpc>
              <a:spcBef>
                <a:spcPts val="1465"/>
              </a:spcBef>
            </a:pPr>
            <a:r>
              <a:rPr sz="2900" dirty="0">
                <a:latin typeface="黑体"/>
                <a:cs typeface="黑体"/>
              </a:rPr>
              <a:t>6</a:t>
            </a:r>
            <a:endParaRPr sz="2900">
              <a:latin typeface="黑体"/>
              <a:cs typeface="黑体"/>
            </a:endParaRPr>
          </a:p>
          <a:p>
            <a:pPr marL="410845" marR="332105" indent="-320040">
              <a:lnSpc>
                <a:spcPct val="100000"/>
              </a:lnSpc>
              <a:spcBef>
                <a:spcPts val="830"/>
              </a:spcBef>
            </a:pPr>
            <a:r>
              <a:rPr sz="2900" spc="-5" dirty="0">
                <a:latin typeface="黑体"/>
                <a:cs typeface="黑体"/>
              </a:rPr>
              <a:t>where </a:t>
            </a:r>
            <a:r>
              <a:rPr sz="2900" dirty="0">
                <a:latin typeface="黑体"/>
                <a:cs typeface="黑体"/>
              </a:rPr>
              <a:t>8 = </a:t>
            </a:r>
            <a:r>
              <a:rPr sz="2900" spc="-5" dirty="0">
                <a:latin typeface="黑体"/>
                <a:cs typeface="黑体"/>
              </a:rPr>
              <a:t>optimistic time, </a:t>
            </a:r>
            <a:r>
              <a:rPr sz="2900" dirty="0">
                <a:latin typeface="黑体"/>
                <a:cs typeface="黑体"/>
              </a:rPr>
              <a:t>10 = </a:t>
            </a:r>
            <a:r>
              <a:rPr sz="2900" spc="-5" dirty="0">
                <a:latin typeface="黑体"/>
                <a:cs typeface="黑体"/>
              </a:rPr>
              <a:t>most likely  </a:t>
            </a:r>
            <a:r>
              <a:rPr sz="2900" dirty="0">
                <a:latin typeface="黑体"/>
                <a:cs typeface="黑体"/>
              </a:rPr>
              <a:t>time, </a:t>
            </a:r>
            <a:r>
              <a:rPr sz="2900" spc="-5" dirty="0">
                <a:latin typeface="黑体"/>
                <a:cs typeface="黑体"/>
              </a:rPr>
              <a:t>and </a:t>
            </a:r>
            <a:r>
              <a:rPr sz="2900" dirty="0">
                <a:latin typeface="黑体"/>
                <a:cs typeface="黑体"/>
              </a:rPr>
              <a:t>24 = </a:t>
            </a:r>
            <a:r>
              <a:rPr sz="2900" spc="-5" dirty="0">
                <a:latin typeface="黑体"/>
                <a:cs typeface="黑体"/>
              </a:rPr>
              <a:t>pessimistic </a:t>
            </a:r>
            <a:r>
              <a:rPr sz="2900" dirty="0">
                <a:latin typeface="黑体"/>
                <a:cs typeface="黑体"/>
              </a:rPr>
              <a:t>time</a:t>
            </a:r>
            <a:endParaRPr sz="29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440" y="232663"/>
            <a:ext cx="352806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PERT</a:t>
            </a:r>
            <a:r>
              <a:rPr lang="zh-CN" altLang="en-US" i="1" dirty="0">
                <a:latin typeface="华文隶书"/>
                <a:cs typeface="华文隶书"/>
              </a:rPr>
              <a:t> </a:t>
            </a:r>
            <a:r>
              <a:rPr dirty="0" err="1">
                <a:latin typeface="华文隶书"/>
                <a:cs typeface="华文隶书"/>
              </a:rPr>
              <a:t>的风险性</a:t>
            </a:r>
            <a:endParaRPr dirty="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96161" y="5791961"/>
            <a:ext cx="7162800" cy="0"/>
          </a:xfrm>
          <a:custGeom>
            <a:avLst/>
            <a:gdLst/>
            <a:ahLst/>
            <a:cxnLst/>
            <a:rect l="l" t="t" r="r" b="b"/>
            <a:pathLst>
              <a:path w="7162800">
                <a:moveTo>
                  <a:pt x="0" y="0"/>
                </a:moveTo>
                <a:lnTo>
                  <a:pt x="71628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96161" y="1677161"/>
            <a:ext cx="0" cy="4114800"/>
          </a:xfrm>
          <a:custGeom>
            <a:avLst/>
            <a:gdLst/>
            <a:ahLst/>
            <a:cxnLst/>
            <a:rect l="l" t="t" r="r" b="b"/>
            <a:pathLst>
              <a:path h="4114800">
                <a:moveTo>
                  <a:pt x="0" y="41148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96161" y="2286761"/>
            <a:ext cx="5715000" cy="3505200"/>
          </a:xfrm>
          <a:custGeom>
            <a:avLst/>
            <a:gdLst/>
            <a:ahLst/>
            <a:cxnLst/>
            <a:rect l="l" t="t" r="r" b="b"/>
            <a:pathLst>
              <a:path w="5715000" h="3505200">
                <a:moveTo>
                  <a:pt x="0" y="3505200"/>
                </a:moveTo>
                <a:lnTo>
                  <a:pt x="23831" y="3458779"/>
                </a:lnTo>
                <a:lnTo>
                  <a:pt x="47773" y="3412442"/>
                </a:lnTo>
                <a:lnTo>
                  <a:pt x="71939" y="3366273"/>
                </a:lnTo>
                <a:lnTo>
                  <a:pt x="96440" y="3320355"/>
                </a:lnTo>
                <a:lnTo>
                  <a:pt x="121387" y="3274772"/>
                </a:lnTo>
                <a:lnTo>
                  <a:pt x="146893" y="3229607"/>
                </a:lnTo>
                <a:lnTo>
                  <a:pt x="173068" y="3184945"/>
                </a:lnTo>
                <a:lnTo>
                  <a:pt x="200025" y="3140868"/>
                </a:lnTo>
                <a:lnTo>
                  <a:pt x="227874" y="3097462"/>
                </a:lnTo>
                <a:lnTo>
                  <a:pt x="256728" y="3054808"/>
                </a:lnTo>
                <a:lnTo>
                  <a:pt x="286698" y="3012992"/>
                </a:lnTo>
                <a:lnTo>
                  <a:pt x="317896" y="2972097"/>
                </a:lnTo>
                <a:lnTo>
                  <a:pt x="350434" y="2932207"/>
                </a:lnTo>
                <a:lnTo>
                  <a:pt x="384423" y="2893404"/>
                </a:lnTo>
                <a:lnTo>
                  <a:pt x="419974" y="2855774"/>
                </a:lnTo>
                <a:lnTo>
                  <a:pt x="457200" y="2819400"/>
                </a:lnTo>
                <a:lnTo>
                  <a:pt x="491981" y="2788335"/>
                </a:lnTo>
                <a:lnTo>
                  <a:pt x="528487" y="2758565"/>
                </a:lnTo>
                <a:lnTo>
                  <a:pt x="566561" y="2729970"/>
                </a:lnTo>
                <a:lnTo>
                  <a:pt x="606046" y="2702434"/>
                </a:lnTo>
                <a:lnTo>
                  <a:pt x="646785" y="2675839"/>
                </a:lnTo>
                <a:lnTo>
                  <a:pt x="688622" y="2650066"/>
                </a:lnTo>
                <a:lnTo>
                  <a:pt x="731399" y="2624999"/>
                </a:lnTo>
                <a:lnTo>
                  <a:pt x="774961" y="2600520"/>
                </a:lnTo>
                <a:lnTo>
                  <a:pt x="819150" y="2576512"/>
                </a:lnTo>
                <a:lnTo>
                  <a:pt x="863809" y="2552856"/>
                </a:lnTo>
                <a:lnTo>
                  <a:pt x="908781" y="2529436"/>
                </a:lnTo>
                <a:lnTo>
                  <a:pt x="953911" y="2506133"/>
                </a:lnTo>
                <a:lnTo>
                  <a:pt x="999040" y="2482830"/>
                </a:lnTo>
                <a:lnTo>
                  <a:pt x="1044013" y="2459409"/>
                </a:lnTo>
                <a:lnTo>
                  <a:pt x="1088672" y="2435754"/>
                </a:lnTo>
                <a:lnTo>
                  <a:pt x="1132860" y="2411745"/>
                </a:lnTo>
                <a:lnTo>
                  <a:pt x="1176422" y="2387266"/>
                </a:lnTo>
                <a:lnTo>
                  <a:pt x="1219200" y="2362200"/>
                </a:lnTo>
                <a:lnTo>
                  <a:pt x="1261533" y="2336911"/>
                </a:lnTo>
                <a:lnTo>
                  <a:pt x="1303866" y="2311818"/>
                </a:lnTo>
                <a:lnTo>
                  <a:pt x="1346200" y="2286881"/>
                </a:lnTo>
                <a:lnTo>
                  <a:pt x="1388533" y="2262063"/>
                </a:lnTo>
                <a:lnTo>
                  <a:pt x="1430866" y="2237323"/>
                </a:lnTo>
                <a:lnTo>
                  <a:pt x="1473200" y="2212622"/>
                </a:lnTo>
                <a:lnTo>
                  <a:pt x="1515533" y="2187921"/>
                </a:lnTo>
                <a:lnTo>
                  <a:pt x="1557866" y="2163181"/>
                </a:lnTo>
                <a:lnTo>
                  <a:pt x="1600200" y="2138362"/>
                </a:lnTo>
                <a:lnTo>
                  <a:pt x="1642533" y="2113426"/>
                </a:lnTo>
                <a:lnTo>
                  <a:pt x="1684866" y="2088333"/>
                </a:lnTo>
                <a:lnTo>
                  <a:pt x="1727200" y="2063044"/>
                </a:lnTo>
                <a:lnTo>
                  <a:pt x="1769533" y="2037520"/>
                </a:lnTo>
                <a:lnTo>
                  <a:pt x="1811866" y="2011721"/>
                </a:lnTo>
                <a:lnTo>
                  <a:pt x="1854200" y="1985609"/>
                </a:lnTo>
                <a:lnTo>
                  <a:pt x="1896533" y="1959144"/>
                </a:lnTo>
                <a:lnTo>
                  <a:pt x="1938866" y="1932288"/>
                </a:lnTo>
                <a:lnTo>
                  <a:pt x="1981200" y="1905000"/>
                </a:lnTo>
                <a:lnTo>
                  <a:pt x="2023644" y="1877143"/>
                </a:lnTo>
                <a:lnTo>
                  <a:pt x="2066284" y="1848660"/>
                </a:lnTo>
                <a:lnTo>
                  <a:pt x="2109081" y="1819627"/>
                </a:lnTo>
                <a:lnTo>
                  <a:pt x="2151996" y="1790125"/>
                </a:lnTo>
                <a:lnTo>
                  <a:pt x="2194989" y="1760230"/>
                </a:lnTo>
                <a:lnTo>
                  <a:pt x="2238022" y="1730022"/>
                </a:lnTo>
                <a:lnTo>
                  <a:pt x="2281054" y="1699578"/>
                </a:lnTo>
                <a:lnTo>
                  <a:pt x="2324047" y="1668978"/>
                </a:lnTo>
                <a:lnTo>
                  <a:pt x="2366962" y="1638300"/>
                </a:lnTo>
                <a:lnTo>
                  <a:pt x="2409759" y="1607621"/>
                </a:lnTo>
                <a:lnTo>
                  <a:pt x="2452400" y="1577021"/>
                </a:lnTo>
                <a:lnTo>
                  <a:pt x="2494844" y="1546577"/>
                </a:lnTo>
                <a:lnTo>
                  <a:pt x="2537053" y="1516369"/>
                </a:lnTo>
                <a:lnTo>
                  <a:pt x="2578988" y="1486474"/>
                </a:lnTo>
                <a:lnTo>
                  <a:pt x="2620609" y="1456972"/>
                </a:lnTo>
                <a:lnTo>
                  <a:pt x="2661878" y="1427939"/>
                </a:lnTo>
                <a:lnTo>
                  <a:pt x="2702754" y="1399456"/>
                </a:lnTo>
                <a:lnTo>
                  <a:pt x="2743200" y="1371600"/>
                </a:lnTo>
                <a:lnTo>
                  <a:pt x="2787597" y="1340932"/>
                </a:lnTo>
                <a:lnTo>
                  <a:pt x="2830487" y="1310803"/>
                </a:lnTo>
                <a:lnTo>
                  <a:pt x="2872150" y="1281159"/>
                </a:lnTo>
                <a:lnTo>
                  <a:pt x="2912864" y="1251942"/>
                </a:lnTo>
                <a:lnTo>
                  <a:pt x="2952908" y="1223097"/>
                </a:lnTo>
                <a:lnTo>
                  <a:pt x="2992561" y="1194568"/>
                </a:lnTo>
                <a:lnTo>
                  <a:pt x="3032103" y="1166300"/>
                </a:lnTo>
                <a:lnTo>
                  <a:pt x="3071812" y="1138237"/>
                </a:lnTo>
                <a:lnTo>
                  <a:pt x="3111968" y="1110322"/>
                </a:lnTo>
                <a:lnTo>
                  <a:pt x="3152849" y="1082501"/>
                </a:lnTo>
                <a:lnTo>
                  <a:pt x="3194735" y="1054717"/>
                </a:lnTo>
                <a:lnTo>
                  <a:pt x="3237904" y="1026914"/>
                </a:lnTo>
                <a:lnTo>
                  <a:pt x="3282636" y="999036"/>
                </a:lnTo>
                <a:lnTo>
                  <a:pt x="3329210" y="971029"/>
                </a:lnTo>
                <a:lnTo>
                  <a:pt x="3377905" y="942835"/>
                </a:lnTo>
                <a:lnTo>
                  <a:pt x="3429000" y="914400"/>
                </a:lnTo>
                <a:lnTo>
                  <a:pt x="3467865" y="893543"/>
                </a:lnTo>
                <a:lnTo>
                  <a:pt x="3508177" y="872550"/>
                </a:lnTo>
                <a:lnTo>
                  <a:pt x="3549805" y="851442"/>
                </a:lnTo>
                <a:lnTo>
                  <a:pt x="3592621" y="830242"/>
                </a:lnTo>
                <a:lnTo>
                  <a:pt x="3636496" y="808970"/>
                </a:lnTo>
                <a:lnTo>
                  <a:pt x="3681301" y="787648"/>
                </a:lnTo>
                <a:lnTo>
                  <a:pt x="3726908" y="766297"/>
                </a:lnTo>
                <a:lnTo>
                  <a:pt x="3773188" y="744939"/>
                </a:lnTo>
                <a:lnTo>
                  <a:pt x="3820011" y="723595"/>
                </a:lnTo>
                <a:lnTo>
                  <a:pt x="3867250" y="702288"/>
                </a:lnTo>
                <a:lnTo>
                  <a:pt x="3914774" y="681037"/>
                </a:lnTo>
                <a:lnTo>
                  <a:pt x="3962457" y="659865"/>
                </a:lnTo>
                <a:lnTo>
                  <a:pt x="4010168" y="638794"/>
                </a:lnTo>
                <a:lnTo>
                  <a:pt x="4057778" y="617844"/>
                </a:lnTo>
                <a:lnTo>
                  <a:pt x="4105160" y="597037"/>
                </a:lnTo>
                <a:lnTo>
                  <a:pt x="4152184" y="576394"/>
                </a:lnTo>
                <a:lnTo>
                  <a:pt x="4198721" y="555938"/>
                </a:lnTo>
                <a:lnTo>
                  <a:pt x="4244643" y="535690"/>
                </a:lnTo>
                <a:lnTo>
                  <a:pt x="4289820" y="515670"/>
                </a:lnTo>
                <a:lnTo>
                  <a:pt x="4334125" y="495901"/>
                </a:lnTo>
                <a:lnTo>
                  <a:pt x="4377428" y="476403"/>
                </a:lnTo>
                <a:lnTo>
                  <a:pt x="4419600" y="457200"/>
                </a:lnTo>
                <a:lnTo>
                  <a:pt x="4470497" y="433701"/>
                </a:lnTo>
                <a:lnTo>
                  <a:pt x="4521513" y="409849"/>
                </a:lnTo>
                <a:lnTo>
                  <a:pt x="4572529" y="385762"/>
                </a:lnTo>
                <a:lnTo>
                  <a:pt x="4623427" y="361558"/>
                </a:lnTo>
                <a:lnTo>
                  <a:pt x="4674089" y="337353"/>
                </a:lnTo>
                <a:lnTo>
                  <a:pt x="4724400" y="313266"/>
                </a:lnTo>
                <a:lnTo>
                  <a:pt x="4774239" y="289414"/>
                </a:lnTo>
                <a:lnTo>
                  <a:pt x="4823491" y="265916"/>
                </a:lnTo>
                <a:lnTo>
                  <a:pt x="4872037" y="242887"/>
                </a:lnTo>
                <a:lnTo>
                  <a:pt x="4919760" y="220446"/>
                </a:lnTo>
                <a:lnTo>
                  <a:pt x="4966542" y="198711"/>
                </a:lnTo>
                <a:lnTo>
                  <a:pt x="5012266" y="177800"/>
                </a:lnTo>
                <a:lnTo>
                  <a:pt x="5056814" y="157828"/>
                </a:lnTo>
                <a:lnTo>
                  <a:pt x="5100069" y="138916"/>
                </a:lnTo>
                <a:lnTo>
                  <a:pt x="5141912" y="121179"/>
                </a:lnTo>
                <a:lnTo>
                  <a:pt x="5182227" y="104735"/>
                </a:lnTo>
                <a:lnTo>
                  <a:pt x="5220895" y="89703"/>
                </a:lnTo>
                <a:lnTo>
                  <a:pt x="5257799" y="76200"/>
                </a:lnTo>
                <a:lnTo>
                  <a:pt x="5328251" y="53935"/>
                </a:lnTo>
                <a:lnTo>
                  <a:pt x="5395252" y="37316"/>
                </a:lnTo>
                <a:lnTo>
                  <a:pt x="5458177" y="25400"/>
                </a:lnTo>
                <a:lnTo>
                  <a:pt x="5516399" y="17246"/>
                </a:lnTo>
                <a:lnTo>
                  <a:pt x="5569289" y="11916"/>
                </a:lnTo>
                <a:lnTo>
                  <a:pt x="5616222" y="8466"/>
                </a:lnTo>
                <a:lnTo>
                  <a:pt x="5656569" y="5958"/>
                </a:lnTo>
                <a:lnTo>
                  <a:pt x="5689704" y="3449"/>
                </a:lnTo>
                <a:lnTo>
                  <a:pt x="57149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53561" y="4115561"/>
            <a:ext cx="0" cy="1676400"/>
          </a:xfrm>
          <a:custGeom>
            <a:avLst/>
            <a:gdLst/>
            <a:ahLst/>
            <a:cxnLst/>
            <a:rect l="l" t="t" r="r" b="b"/>
            <a:pathLst>
              <a:path h="1676400">
                <a:moveTo>
                  <a:pt x="0" y="16764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44161" y="3429761"/>
            <a:ext cx="0" cy="2362200"/>
          </a:xfrm>
          <a:custGeom>
            <a:avLst/>
            <a:gdLst/>
            <a:ahLst/>
            <a:cxnLst/>
            <a:rect l="l" t="t" r="r" b="b"/>
            <a:pathLst>
              <a:path h="2362200">
                <a:moveTo>
                  <a:pt x="0" y="23622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20561" y="2591561"/>
            <a:ext cx="0" cy="3200400"/>
          </a:xfrm>
          <a:custGeom>
            <a:avLst/>
            <a:gdLst/>
            <a:ahLst/>
            <a:cxnLst/>
            <a:rect l="l" t="t" r="r" b="b"/>
            <a:pathLst>
              <a:path h="3200400">
                <a:moveTo>
                  <a:pt x="0" y="32004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96161" y="4115561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>
                <a:moveTo>
                  <a:pt x="20574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96161" y="3429761"/>
            <a:ext cx="3048000" cy="0"/>
          </a:xfrm>
          <a:custGeom>
            <a:avLst/>
            <a:gdLst/>
            <a:ahLst/>
            <a:cxnLst/>
            <a:rect l="l" t="t" r="r" b="b"/>
            <a:pathLst>
              <a:path w="3048000">
                <a:moveTo>
                  <a:pt x="30480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296161" y="2591561"/>
            <a:ext cx="4724400" cy="0"/>
          </a:xfrm>
          <a:custGeom>
            <a:avLst/>
            <a:gdLst/>
            <a:ahLst/>
            <a:cxnLst/>
            <a:rect l="l" t="t" r="r" b="b"/>
            <a:pathLst>
              <a:path w="4724400">
                <a:moveTo>
                  <a:pt x="4724400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342378" y="6049467"/>
            <a:ext cx="10909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宋体"/>
                <a:cs typeface="宋体"/>
              </a:rPr>
              <a:t>估计值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56966" y="6049771"/>
            <a:ext cx="469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Narrow"/>
                <a:cs typeface="Arial Narrow"/>
              </a:rPr>
              <a:t>8</a:t>
            </a:r>
            <a:r>
              <a:rPr sz="2400" dirty="0">
                <a:latin typeface="宋体"/>
                <a:cs typeface="宋体"/>
              </a:rPr>
              <a:t>天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54115" y="5973571"/>
            <a:ext cx="607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Narrow"/>
                <a:cs typeface="Arial Narrow"/>
              </a:rPr>
              <a:t>24</a:t>
            </a:r>
            <a:r>
              <a:rPr sz="2400" dirty="0">
                <a:latin typeface="宋体"/>
                <a:cs typeface="宋体"/>
              </a:rPr>
              <a:t>天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4169" y="1591252"/>
            <a:ext cx="663575" cy="180403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spc="-5" dirty="0">
                <a:latin typeface="Arial Narrow"/>
                <a:cs typeface="Arial Narrow"/>
              </a:rPr>
              <a:t>100%</a:t>
            </a:r>
            <a:endParaRPr sz="2400">
              <a:latin typeface="Arial Narrow"/>
              <a:cs typeface="Arial Narrow"/>
            </a:endParaRPr>
          </a:p>
          <a:p>
            <a:pPr marL="220979" marR="179070" algn="just">
              <a:lnSpc>
                <a:spcPts val="2000"/>
              </a:lnSpc>
              <a:spcBef>
                <a:spcPts val="1635"/>
              </a:spcBef>
            </a:pPr>
            <a:r>
              <a:rPr sz="2000" dirty="0">
                <a:latin typeface="宋体"/>
                <a:cs typeface="宋体"/>
              </a:rPr>
              <a:t>完 成 概 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29861" y="6008623"/>
            <a:ext cx="6083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Narrow"/>
                <a:cs typeface="Arial Narrow"/>
              </a:rPr>
              <a:t>10</a:t>
            </a:r>
            <a:r>
              <a:rPr sz="2400" dirty="0">
                <a:latin typeface="宋体"/>
                <a:cs typeface="宋体"/>
              </a:rPr>
              <a:t>天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4890" y="329564"/>
            <a:ext cx="40874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PERT</a:t>
            </a:r>
            <a:r>
              <a:rPr dirty="0">
                <a:latin typeface="华文隶书"/>
                <a:cs typeface="华文隶书"/>
              </a:rPr>
              <a:t>的风险指标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6522" y="1916428"/>
            <a:ext cx="8153400" cy="2503171"/>
          </a:xfrm>
          <a:custGeom>
            <a:avLst/>
            <a:gdLst/>
            <a:ahLst/>
            <a:cxnLst/>
            <a:rect l="l" t="t" r="r" b="b"/>
            <a:pathLst>
              <a:path w="8153400" h="1369060">
                <a:moveTo>
                  <a:pt x="0" y="1368552"/>
                </a:moveTo>
                <a:lnTo>
                  <a:pt x="8153400" y="1368552"/>
                </a:lnTo>
                <a:lnTo>
                  <a:pt x="8153400" y="0"/>
                </a:lnTo>
                <a:lnTo>
                  <a:pt x="0" y="0"/>
                </a:lnTo>
                <a:lnTo>
                  <a:pt x="0" y="1368552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456590" y="1832140"/>
                <a:ext cx="6610984" cy="2035750"/>
              </a:xfrm>
              <a:prstGeom prst="rect">
                <a:avLst/>
              </a:prstGeom>
            </p:spPr>
            <p:txBody>
              <a:bodyPr vert="horz" wrap="square" lIns="0" tIns="101600" rIns="0" bIns="0" rtlCol="0">
                <a:spAutoFit/>
              </a:bodyPr>
              <a:lstStyle/>
              <a:p>
                <a:pPr marL="319405" indent="-319405">
                  <a:lnSpc>
                    <a:spcPct val="150000"/>
                  </a:lnSpc>
                  <a:spcBef>
                    <a:spcPts val="800"/>
                  </a:spcBef>
                  <a:buClr>
                    <a:srgbClr val="DD8046"/>
                  </a:buClr>
                  <a:buSzPct val="60344"/>
                  <a:buFont typeface="Wingdings"/>
                  <a:buChar char=""/>
                  <a:tabLst>
                    <a:tab pos="319405" algn="l"/>
                    <a:tab pos="320040" algn="l"/>
                  </a:tabLst>
                </a:pPr>
                <a:r>
                  <a:rPr lang="zh-CN" altLang="en-US" sz="2900" spc="5" dirty="0">
                    <a:latin typeface="华文新魏"/>
                    <a:cs typeface="华文新魏"/>
                  </a:rPr>
                  <a:t>标准</a:t>
                </a:r>
                <a:r>
                  <a:rPr lang="zh-CN" altLang="en-US" sz="2900" dirty="0" err="1">
                    <a:latin typeface="华文新魏"/>
                    <a:cs typeface="华文新魏"/>
                  </a:rPr>
                  <a:t>差</a:t>
                </a:r>
                <a:r>
                  <a:rPr lang="en-US" altLang="zh-CN" sz="2900" dirty="0">
                    <a:latin typeface="华文新魏"/>
                    <a:cs typeface="华文新魏"/>
                  </a:rPr>
                  <a:t>: </a:t>
                </a:r>
                <a14:m>
                  <m:oMath xmlns:m="http://schemas.openxmlformats.org/officeDocument/2006/math">
                    <m:r>
                      <a:rPr lang="zh-CN" altLang="en-US" sz="29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华文新魏"/>
                      </a:rPr>
                      <m:t>𝛿</m:t>
                    </m:r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华文新魏"/>
                      </a:rPr>
                      <m:t>=</m:t>
                    </m:r>
                    <m:f>
                      <m:f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zh-CN" altLang="en-US" sz="2900" dirty="0">
                  <a:latin typeface="华文新魏"/>
                  <a:cs typeface="华文新魏"/>
                </a:endParaRPr>
              </a:p>
              <a:p>
                <a:pPr marL="319405" indent="-319405">
                  <a:lnSpc>
                    <a:spcPct val="150000"/>
                  </a:lnSpc>
                  <a:spcBef>
                    <a:spcPts val="800"/>
                  </a:spcBef>
                  <a:buClr>
                    <a:srgbClr val="DD8046"/>
                  </a:buClr>
                  <a:buSzPct val="60344"/>
                  <a:buFont typeface="Wingdings"/>
                  <a:buChar char=""/>
                  <a:tabLst>
                    <a:tab pos="319405" algn="l"/>
                    <a:tab pos="320040" algn="l"/>
                  </a:tabLst>
                </a:pPr>
                <a:r>
                  <a:rPr lang="zh-CN" altLang="en-US" sz="2900" dirty="0">
                    <a:latin typeface="华文新魏"/>
                    <a:cs typeface="华文新魏"/>
                  </a:rPr>
                  <a:t>方差</a:t>
                </a:r>
                <a:r>
                  <a:rPr lang="en-US" altLang="zh-CN" sz="2900" dirty="0">
                    <a:latin typeface="华文新魏"/>
                    <a:cs typeface="华文新魏"/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2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9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</m:t>
                            </m:r>
                          </m:num>
                          <m:den>
                            <m:r>
                              <a:rPr lang="en-US" altLang="zh-CN" sz="29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altLang="zh-CN" sz="2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9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900" dirty="0">
                  <a:latin typeface="华文新魏"/>
                  <a:cs typeface="华文新魏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90" y="1832140"/>
                <a:ext cx="6610984" cy="2035750"/>
              </a:xfrm>
              <a:prstGeom prst="rect">
                <a:avLst/>
              </a:prstGeom>
              <a:blipFill>
                <a:blip r:embed="rId2"/>
                <a:stretch>
                  <a:fillRect l="-1919" b="-49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147954"/>
            <a:ext cx="51739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i="1" dirty="0">
                <a:solidFill>
                  <a:srgbClr val="775F54"/>
                </a:solidFill>
                <a:latin typeface="华文隶书"/>
                <a:cs typeface="华文隶书"/>
              </a:rPr>
              <a:t>PER</a:t>
            </a:r>
            <a:r>
              <a:rPr sz="3600" i="1" spc="-10" dirty="0">
                <a:solidFill>
                  <a:srgbClr val="775F54"/>
                </a:solidFill>
                <a:latin typeface="华文隶书"/>
                <a:cs typeface="华文隶书"/>
              </a:rPr>
              <a:t>T</a:t>
            </a:r>
            <a:r>
              <a:rPr sz="3600" dirty="0">
                <a:solidFill>
                  <a:srgbClr val="775F54"/>
                </a:solidFill>
                <a:latin typeface="华文隶书"/>
                <a:cs typeface="华文隶书"/>
              </a:rPr>
              <a:t>评估一条路径的指标</a:t>
            </a:r>
            <a:endParaRPr sz="36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527" y="1265682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6562" y="3574540"/>
            <a:ext cx="7772400" cy="2750059"/>
          </a:xfrm>
          <a:custGeom>
            <a:avLst/>
            <a:gdLst/>
            <a:ahLst/>
            <a:cxnLst/>
            <a:rect l="l" t="t" r="r" b="b"/>
            <a:pathLst>
              <a:path w="7772400" h="1871979">
                <a:moveTo>
                  <a:pt x="0" y="1871472"/>
                </a:moveTo>
                <a:lnTo>
                  <a:pt x="7772400" y="1871472"/>
                </a:lnTo>
                <a:lnTo>
                  <a:pt x="7772400" y="0"/>
                </a:lnTo>
                <a:lnTo>
                  <a:pt x="0" y="0"/>
                </a:lnTo>
                <a:lnTo>
                  <a:pt x="0" y="1871472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7240" y="3573907"/>
            <a:ext cx="684276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0040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20675" algn="l"/>
              </a:tabLst>
            </a:pPr>
            <a:r>
              <a:rPr sz="2900" dirty="0">
                <a:latin typeface="隶书"/>
                <a:cs typeface="隶书"/>
              </a:rPr>
              <a:t>路径历</a:t>
            </a:r>
            <a:r>
              <a:rPr sz="2900" spc="-15" dirty="0">
                <a:latin typeface="隶书"/>
                <a:cs typeface="隶书"/>
              </a:rPr>
              <a:t>时</a:t>
            </a:r>
            <a:r>
              <a:rPr sz="2900" spc="-5" dirty="0">
                <a:latin typeface="隶书"/>
                <a:cs typeface="隶书"/>
              </a:rPr>
              <a:t>E=E</a:t>
            </a:r>
            <a:r>
              <a:rPr sz="2900" spc="-5" baseline="-25000" dirty="0">
                <a:latin typeface="隶书"/>
                <a:cs typeface="隶书"/>
              </a:rPr>
              <a:t>1</a:t>
            </a:r>
            <a:r>
              <a:rPr sz="2900" spc="-5" dirty="0">
                <a:latin typeface="隶书"/>
                <a:cs typeface="隶书"/>
              </a:rPr>
              <a:t>+E</a:t>
            </a:r>
            <a:r>
              <a:rPr sz="2900" spc="-5" baseline="-25000" dirty="0">
                <a:latin typeface="隶书"/>
                <a:cs typeface="隶书"/>
              </a:rPr>
              <a:t>2</a:t>
            </a:r>
            <a:r>
              <a:rPr sz="2900" spc="-5" dirty="0">
                <a:latin typeface="隶书"/>
                <a:cs typeface="隶书"/>
              </a:rPr>
              <a:t>+….E</a:t>
            </a:r>
            <a:r>
              <a:rPr sz="2900" spc="-5" baseline="-25000" dirty="0">
                <a:latin typeface="隶书"/>
                <a:cs typeface="隶书"/>
              </a:rPr>
              <a:t>n</a:t>
            </a:r>
            <a:endParaRPr sz="2900" baseline="-25000" dirty="0">
              <a:latin typeface="隶书"/>
              <a:cs typeface="隶书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10"/>
              <p:cNvSpPr txBox="1"/>
              <p:nvPr/>
            </p:nvSpPr>
            <p:spPr>
              <a:xfrm>
                <a:off x="805379" y="4363085"/>
                <a:ext cx="6158865" cy="513715"/>
              </a:xfrm>
              <a:prstGeom prst="rect">
                <a:avLst/>
              </a:prstGeom>
            </p:spPr>
            <p:txBody>
              <a:bodyPr vert="horz" wrap="square" lIns="0" tIns="38100" rIns="0" bIns="0" rtlCol="0">
                <a:spAutoFit/>
              </a:bodyPr>
              <a:lstStyle/>
              <a:p>
                <a:pPr marL="3401695">
                  <a:lnSpc>
                    <a:spcPts val="620"/>
                  </a:lnSpc>
                  <a:spcBef>
                    <a:spcPts val="300"/>
                  </a:spcBef>
                  <a:tabLst>
                    <a:tab pos="4829810" algn="l"/>
                  </a:tabLst>
                </a:pPr>
                <a:endParaRPr lang="zh-CN" altLang="en-US" sz="1200" dirty="0">
                  <a:latin typeface="隶书"/>
                  <a:cs typeface="隶书"/>
                </a:endParaRPr>
              </a:p>
              <a:p>
                <a:pPr marL="320040" indent="-320675">
                  <a:lnSpc>
                    <a:spcPts val="3020"/>
                  </a:lnSpc>
                  <a:buClr>
                    <a:srgbClr val="DD8046"/>
                  </a:buClr>
                  <a:buSzPct val="60344"/>
                  <a:buFont typeface="Wingdings"/>
                  <a:buChar char=""/>
                  <a:tabLst>
                    <a:tab pos="320675" algn="l"/>
                  </a:tabLst>
                </a:pPr>
                <a:r>
                  <a:rPr lang="zh-CN" altLang="en-US" sz="2900" b="1" dirty="0">
                    <a:latin typeface="隶书"/>
                  </a:rPr>
                  <a:t>标准差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2900" b="1" i="1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  <m:sup>
                        <m:r>
                          <a:rPr lang="ar-AE" altLang="zh-CN" sz="29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zh-CN" altLang="en-US" sz="2900" b="1" i="1" smtClean="0">
                        <a:latin typeface="Cambria Math" panose="02040503050406030204" pitchFamily="18" charset="0"/>
                      </a:rPr>
                      <m:t>＝</m:t>
                    </m:r>
                    <m:sSubSup>
                      <m:sSubSupPr>
                        <m:ctrlPr>
                          <a:rPr lang="en-US" altLang="zh-CN" sz="29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9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altLang="zh-CN" sz="29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9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zh-CN" altLang="en-US" sz="2900" b="1" i="1" smtClean="0">
                        <a:latin typeface="Cambria Math" panose="02040503050406030204" pitchFamily="18" charset="0"/>
                      </a:rPr>
                      <m:t>＋</m:t>
                    </m:r>
                    <m:sSubSup>
                      <m:sSubSupPr>
                        <m:ctrlPr>
                          <a:rPr lang="en-US" altLang="zh-CN" sz="2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a:rPr lang="en-US" altLang="zh-CN" sz="29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altLang="zh-CN" sz="29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  <m:r>
                      <a:rPr lang="zh-CN" altLang="en-US" sz="2900" b="1" i="1" smtClean="0">
                        <a:latin typeface="Cambria Math" panose="02040503050406030204" pitchFamily="18" charset="0"/>
                      </a:rPr>
                      <m:t>＋⋯＋</m:t>
                    </m:r>
                    <m:sSubSup>
                      <m:sSubSupPr>
                        <m:ctrlPr>
                          <a:rPr lang="en-US" altLang="zh-CN" sz="29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9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altLang="zh-CN" sz="29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bSup>
                  </m:oMath>
                </a14:m>
                <a:endParaRPr sz="2900" b="1" dirty="0">
                  <a:latin typeface="隶书"/>
                </a:endParaRPr>
              </a:p>
            </p:txBody>
          </p:sp>
        </mc:Choice>
        <mc:Fallback xmlns="">
          <p:sp>
            <p:nvSpPr>
              <p:cNvPr id="1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79" y="4363085"/>
                <a:ext cx="6158865" cy="513715"/>
              </a:xfrm>
              <a:prstGeom prst="rect">
                <a:avLst/>
              </a:prstGeom>
              <a:blipFill>
                <a:blip r:embed="rId2"/>
                <a:stretch>
                  <a:fillRect l="-1852" t="-17073" b="-34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/>
          <p:nvPr/>
        </p:nvSpPr>
        <p:spPr>
          <a:xfrm>
            <a:off x="997458" y="239191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5" y="173629"/>
                </a:lnTo>
                <a:lnTo>
                  <a:pt x="36412" y="132080"/>
                </a:lnTo>
                <a:lnTo>
                  <a:pt x="62724" y="94858"/>
                </a:lnTo>
                <a:lnTo>
                  <a:pt x="94868" y="62716"/>
                </a:lnTo>
                <a:lnTo>
                  <a:pt x="132091" y="36406"/>
                </a:lnTo>
                <a:lnTo>
                  <a:pt x="173639" y="16682"/>
                </a:lnTo>
                <a:lnTo>
                  <a:pt x="218760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60" y="529103"/>
                </a:lnTo>
                <a:lnTo>
                  <a:pt x="173639" y="516717"/>
                </a:lnTo>
                <a:lnTo>
                  <a:pt x="132091" y="496993"/>
                </a:lnTo>
                <a:lnTo>
                  <a:pt x="94868" y="470683"/>
                </a:lnTo>
                <a:lnTo>
                  <a:pt x="62724" y="438541"/>
                </a:lnTo>
                <a:lnTo>
                  <a:pt x="36412" y="401320"/>
                </a:lnTo>
                <a:lnTo>
                  <a:pt x="16685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26257" y="239191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26458" y="239191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13231" y="2265629"/>
            <a:ext cx="3733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1500" algn="l"/>
                <a:tab pos="3441700" algn="l"/>
              </a:tabLst>
            </a:pPr>
            <a:r>
              <a:rPr sz="4800" dirty="0">
                <a:latin typeface="Arial Narrow"/>
                <a:cs typeface="Arial Narrow"/>
              </a:rPr>
              <a:t>1	2	3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179058" y="239191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79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19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399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855457" y="239191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266700"/>
                </a:moveTo>
                <a:lnTo>
                  <a:pt x="4296" y="218753"/>
                </a:lnTo>
                <a:lnTo>
                  <a:pt x="16682" y="173629"/>
                </a:lnTo>
                <a:lnTo>
                  <a:pt x="36406" y="132080"/>
                </a:lnTo>
                <a:lnTo>
                  <a:pt x="62716" y="94858"/>
                </a:lnTo>
                <a:lnTo>
                  <a:pt x="94858" y="62716"/>
                </a:lnTo>
                <a:lnTo>
                  <a:pt x="132080" y="36406"/>
                </a:lnTo>
                <a:lnTo>
                  <a:pt x="173629" y="16682"/>
                </a:lnTo>
                <a:lnTo>
                  <a:pt x="218753" y="4296"/>
                </a:lnTo>
                <a:lnTo>
                  <a:pt x="266700" y="0"/>
                </a:lnTo>
                <a:lnTo>
                  <a:pt x="314646" y="4296"/>
                </a:lnTo>
                <a:lnTo>
                  <a:pt x="359770" y="16682"/>
                </a:lnTo>
                <a:lnTo>
                  <a:pt x="401320" y="36406"/>
                </a:lnTo>
                <a:lnTo>
                  <a:pt x="438541" y="62716"/>
                </a:lnTo>
                <a:lnTo>
                  <a:pt x="470683" y="94858"/>
                </a:lnTo>
                <a:lnTo>
                  <a:pt x="496993" y="132079"/>
                </a:lnTo>
                <a:lnTo>
                  <a:pt x="516717" y="173629"/>
                </a:lnTo>
                <a:lnTo>
                  <a:pt x="529103" y="218753"/>
                </a:lnTo>
                <a:lnTo>
                  <a:pt x="533400" y="266700"/>
                </a:lnTo>
                <a:lnTo>
                  <a:pt x="529103" y="314646"/>
                </a:lnTo>
                <a:lnTo>
                  <a:pt x="516717" y="359770"/>
                </a:lnTo>
                <a:lnTo>
                  <a:pt x="496993" y="401319"/>
                </a:lnTo>
                <a:lnTo>
                  <a:pt x="470683" y="438541"/>
                </a:lnTo>
                <a:lnTo>
                  <a:pt x="438541" y="470683"/>
                </a:lnTo>
                <a:lnTo>
                  <a:pt x="401320" y="496993"/>
                </a:lnTo>
                <a:lnTo>
                  <a:pt x="359770" y="516717"/>
                </a:lnTo>
                <a:lnTo>
                  <a:pt x="314646" y="529103"/>
                </a:lnTo>
                <a:lnTo>
                  <a:pt x="266700" y="533400"/>
                </a:lnTo>
                <a:lnTo>
                  <a:pt x="218753" y="529103"/>
                </a:lnTo>
                <a:lnTo>
                  <a:pt x="173629" y="516717"/>
                </a:lnTo>
                <a:lnTo>
                  <a:pt x="132080" y="496993"/>
                </a:lnTo>
                <a:lnTo>
                  <a:pt x="94858" y="470683"/>
                </a:lnTo>
                <a:lnTo>
                  <a:pt x="62716" y="438541"/>
                </a:lnTo>
                <a:lnTo>
                  <a:pt x="36406" y="401320"/>
                </a:lnTo>
                <a:lnTo>
                  <a:pt x="16682" y="359770"/>
                </a:lnTo>
                <a:lnTo>
                  <a:pt x="4296" y="314646"/>
                </a:lnTo>
                <a:lnTo>
                  <a:pt x="0" y="2667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7972425" y="2265629"/>
            <a:ext cx="304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5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30858" y="2657855"/>
            <a:ext cx="1295400" cy="78105"/>
          </a:xfrm>
          <a:custGeom>
            <a:avLst/>
            <a:gdLst/>
            <a:ahLst/>
            <a:cxnLst/>
            <a:rect l="l" t="t" r="r" b="b"/>
            <a:pathLst>
              <a:path w="1295400" h="78105">
                <a:moveTo>
                  <a:pt x="1165860" y="0"/>
                </a:moveTo>
                <a:lnTo>
                  <a:pt x="1165860" y="77724"/>
                </a:lnTo>
                <a:lnTo>
                  <a:pt x="1252219" y="51816"/>
                </a:lnTo>
                <a:lnTo>
                  <a:pt x="1178814" y="51816"/>
                </a:lnTo>
                <a:lnTo>
                  <a:pt x="1178814" y="25908"/>
                </a:lnTo>
                <a:lnTo>
                  <a:pt x="1252220" y="25908"/>
                </a:lnTo>
                <a:lnTo>
                  <a:pt x="1165860" y="0"/>
                </a:lnTo>
                <a:close/>
              </a:path>
              <a:path w="1295400" h="78105">
                <a:moveTo>
                  <a:pt x="1165860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1165860" y="51816"/>
                </a:lnTo>
                <a:lnTo>
                  <a:pt x="1165860" y="25908"/>
                </a:lnTo>
                <a:close/>
              </a:path>
              <a:path w="1295400" h="78105">
                <a:moveTo>
                  <a:pt x="1252220" y="25908"/>
                </a:moveTo>
                <a:lnTo>
                  <a:pt x="1178814" y="25908"/>
                </a:lnTo>
                <a:lnTo>
                  <a:pt x="1178814" y="51816"/>
                </a:lnTo>
                <a:lnTo>
                  <a:pt x="1252219" y="51816"/>
                </a:lnTo>
                <a:lnTo>
                  <a:pt x="1295399" y="38862"/>
                </a:lnTo>
                <a:lnTo>
                  <a:pt x="12522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359658" y="2657855"/>
            <a:ext cx="1066800" cy="78105"/>
          </a:xfrm>
          <a:custGeom>
            <a:avLst/>
            <a:gdLst/>
            <a:ahLst/>
            <a:cxnLst/>
            <a:rect l="l" t="t" r="r" b="b"/>
            <a:pathLst>
              <a:path w="1066800" h="78105">
                <a:moveTo>
                  <a:pt x="937259" y="0"/>
                </a:moveTo>
                <a:lnTo>
                  <a:pt x="937259" y="77724"/>
                </a:lnTo>
                <a:lnTo>
                  <a:pt x="1023619" y="51816"/>
                </a:lnTo>
                <a:lnTo>
                  <a:pt x="950213" y="51816"/>
                </a:lnTo>
                <a:lnTo>
                  <a:pt x="950213" y="25908"/>
                </a:lnTo>
                <a:lnTo>
                  <a:pt x="1023620" y="25908"/>
                </a:lnTo>
                <a:lnTo>
                  <a:pt x="937259" y="0"/>
                </a:lnTo>
                <a:close/>
              </a:path>
              <a:path w="1066800" h="78105">
                <a:moveTo>
                  <a:pt x="937259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937259" y="51816"/>
                </a:lnTo>
                <a:lnTo>
                  <a:pt x="937259" y="25908"/>
                </a:lnTo>
                <a:close/>
              </a:path>
              <a:path w="1066800" h="78105">
                <a:moveTo>
                  <a:pt x="1023620" y="25908"/>
                </a:moveTo>
                <a:lnTo>
                  <a:pt x="950213" y="25908"/>
                </a:lnTo>
                <a:lnTo>
                  <a:pt x="950213" y="51816"/>
                </a:lnTo>
                <a:lnTo>
                  <a:pt x="1023619" y="51816"/>
                </a:lnTo>
                <a:lnTo>
                  <a:pt x="1066800" y="38862"/>
                </a:lnTo>
                <a:lnTo>
                  <a:pt x="10236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959858" y="2657855"/>
            <a:ext cx="1219200" cy="78105"/>
          </a:xfrm>
          <a:custGeom>
            <a:avLst/>
            <a:gdLst/>
            <a:ahLst/>
            <a:cxnLst/>
            <a:rect l="l" t="t" r="r" b="b"/>
            <a:pathLst>
              <a:path w="1219200" h="78105">
                <a:moveTo>
                  <a:pt x="1089659" y="0"/>
                </a:moveTo>
                <a:lnTo>
                  <a:pt x="1089659" y="77724"/>
                </a:lnTo>
                <a:lnTo>
                  <a:pt x="1176019" y="51816"/>
                </a:lnTo>
                <a:lnTo>
                  <a:pt x="1102614" y="51816"/>
                </a:lnTo>
                <a:lnTo>
                  <a:pt x="1102614" y="25908"/>
                </a:lnTo>
                <a:lnTo>
                  <a:pt x="1176020" y="25908"/>
                </a:lnTo>
                <a:lnTo>
                  <a:pt x="1089659" y="0"/>
                </a:lnTo>
                <a:close/>
              </a:path>
              <a:path w="1219200" h="78105">
                <a:moveTo>
                  <a:pt x="1089659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1089659" y="51816"/>
                </a:lnTo>
                <a:lnTo>
                  <a:pt x="1089659" y="25908"/>
                </a:lnTo>
                <a:close/>
              </a:path>
              <a:path w="1219200" h="78105">
                <a:moveTo>
                  <a:pt x="1176020" y="25908"/>
                </a:moveTo>
                <a:lnTo>
                  <a:pt x="1102614" y="25908"/>
                </a:lnTo>
                <a:lnTo>
                  <a:pt x="1102614" y="51816"/>
                </a:lnTo>
                <a:lnTo>
                  <a:pt x="1176019" y="51816"/>
                </a:lnTo>
                <a:lnTo>
                  <a:pt x="1219200" y="38862"/>
                </a:lnTo>
                <a:lnTo>
                  <a:pt x="11760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712457" y="2657855"/>
            <a:ext cx="1219200" cy="78105"/>
          </a:xfrm>
          <a:custGeom>
            <a:avLst/>
            <a:gdLst/>
            <a:ahLst/>
            <a:cxnLst/>
            <a:rect l="l" t="t" r="r" b="b"/>
            <a:pathLst>
              <a:path w="1219200" h="78105">
                <a:moveTo>
                  <a:pt x="1089660" y="0"/>
                </a:moveTo>
                <a:lnTo>
                  <a:pt x="1089660" y="77724"/>
                </a:lnTo>
                <a:lnTo>
                  <a:pt x="1176019" y="51816"/>
                </a:lnTo>
                <a:lnTo>
                  <a:pt x="1102614" y="51816"/>
                </a:lnTo>
                <a:lnTo>
                  <a:pt x="1102614" y="25908"/>
                </a:lnTo>
                <a:lnTo>
                  <a:pt x="1176020" y="25908"/>
                </a:lnTo>
                <a:lnTo>
                  <a:pt x="1089660" y="0"/>
                </a:lnTo>
                <a:close/>
              </a:path>
              <a:path w="1219200" h="78105">
                <a:moveTo>
                  <a:pt x="1089660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1089660" y="51816"/>
                </a:lnTo>
                <a:lnTo>
                  <a:pt x="1089660" y="25908"/>
                </a:lnTo>
                <a:close/>
              </a:path>
              <a:path w="1219200" h="78105">
                <a:moveTo>
                  <a:pt x="1176020" y="25908"/>
                </a:moveTo>
                <a:lnTo>
                  <a:pt x="1102614" y="25908"/>
                </a:lnTo>
                <a:lnTo>
                  <a:pt x="1102614" y="51816"/>
                </a:lnTo>
                <a:lnTo>
                  <a:pt x="1176019" y="51816"/>
                </a:lnTo>
                <a:lnTo>
                  <a:pt x="1219200" y="38862"/>
                </a:lnTo>
                <a:lnTo>
                  <a:pt x="11760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884426" y="1953514"/>
            <a:ext cx="3587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AFAC00"/>
                </a:solidFill>
                <a:latin typeface="Arial Narrow"/>
                <a:cs typeface="Arial Narrow"/>
              </a:rPr>
              <a:t>A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3688079" y="1800809"/>
            <a:ext cx="370077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624330" algn="l"/>
                <a:tab pos="2620010" algn="l"/>
                <a:tab pos="3301365" algn="l"/>
              </a:tabLst>
            </a:pPr>
            <a:r>
              <a:rPr sz="4800" dirty="0">
                <a:solidFill>
                  <a:srgbClr val="AFAC00"/>
                </a:solidFill>
                <a:latin typeface="Arial Narrow"/>
                <a:cs typeface="Arial Narrow"/>
              </a:rPr>
              <a:t>B	C	</a:t>
            </a:r>
            <a:r>
              <a:rPr sz="7200" baseline="-42245" dirty="0">
                <a:solidFill>
                  <a:srgbClr val="000000"/>
                </a:solidFill>
                <a:latin typeface="Arial Narrow"/>
                <a:cs typeface="Arial Narrow"/>
              </a:rPr>
              <a:t>4	</a:t>
            </a:r>
            <a:r>
              <a:rPr sz="4800" dirty="0">
                <a:solidFill>
                  <a:srgbClr val="AFAC00"/>
                </a:solidFill>
                <a:latin typeface="Arial Narrow"/>
                <a:cs typeface="Arial Narrow"/>
              </a:rPr>
              <a:t>D</a:t>
            </a:r>
            <a:endParaRPr sz="4800">
              <a:latin typeface="Arial Narrow"/>
              <a:cs typeface="Arial Narrow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0">
                <a:extLst>
                  <a:ext uri="{FF2B5EF4-FFF2-40B4-BE49-F238E27FC236}">
                    <a16:creationId xmlns:a16="http://schemas.microsoft.com/office/drawing/2014/main" id="{1D8C1A0A-522C-EF48-87BE-E957C032BF17}"/>
                  </a:ext>
                </a:extLst>
              </p:cNvPr>
              <p:cNvSpPr txBox="1"/>
              <p:nvPr/>
            </p:nvSpPr>
            <p:spPr>
              <a:xfrm>
                <a:off x="813625" y="5236393"/>
                <a:ext cx="6158865" cy="631007"/>
              </a:xfrm>
              <a:prstGeom prst="rect">
                <a:avLst/>
              </a:prstGeom>
            </p:spPr>
            <p:txBody>
              <a:bodyPr vert="horz" wrap="square" lIns="0" tIns="38100" rIns="0" bIns="0" rtlCol="0">
                <a:spAutoFit/>
              </a:bodyPr>
              <a:lstStyle/>
              <a:p>
                <a:pPr marL="3401695">
                  <a:lnSpc>
                    <a:spcPts val="620"/>
                  </a:lnSpc>
                  <a:spcBef>
                    <a:spcPts val="300"/>
                  </a:spcBef>
                  <a:tabLst>
                    <a:tab pos="4829810" algn="l"/>
                  </a:tabLst>
                </a:pPr>
                <a:endParaRPr lang="zh-CN" altLang="en-US" sz="1200" dirty="0">
                  <a:latin typeface="隶书"/>
                  <a:cs typeface="隶书"/>
                </a:endParaRPr>
              </a:p>
              <a:p>
                <a:pPr marL="320040" indent="-320675">
                  <a:lnSpc>
                    <a:spcPts val="3020"/>
                  </a:lnSpc>
                  <a:buClr>
                    <a:srgbClr val="DD8046"/>
                  </a:buClr>
                  <a:buSzPct val="60344"/>
                  <a:buFont typeface="Wingdings"/>
                  <a:buChar char=""/>
                  <a:tabLst>
                    <a:tab pos="320675" algn="l"/>
                  </a:tabLst>
                </a:pPr>
                <a:r>
                  <a:rPr lang="zh-CN" altLang="en-US" sz="2900" b="1" dirty="0">
                    <a:latin typeface="隶书"/>
                  </a:rPr>
                  <a:t>方差</a:t>
                </a:r>
                <a14:m>
                  <m:oMath xmlns:m="http://schemas.openxmlformats.org/officeDocument/2006/math">
                    <m:r>
                      <a:rPr lang="zh-CN" altLang="en-US" sz="2900" b="1" i="1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zh-CN" altLang="en-US" sz="2900" b="1" i="1" smtClean="0">
                        <a:latin typeface="Cambria Math" panose="02040503050406030204" pitchFamily="18" charset="0"/>
                      </a:rPr>
                      <m:t>＝</m:t>
                    </m:r>
                    <m:rad>
                      <m:radPr>
                        <m:degHide m:val="on"/>
                        <m:ctrlPr>
                          <a:rPr lang="zh-CN" altLang="en-US" sz="29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𝜹</m:t>
                            </m:r>
                          </m:e>
                          <m:sub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zh-CN" altLang="en-US" sz="2900" b="1" i="1" smtClean="0">
                            <a:latin typeface="Cambria Math" panose="02040503050406030204" pitchFamily="18" charset="0"/>
                          </a:rPr>
                          <m:t>＋</m:t>
                        </m:r>
                        <m:sSubSup>
                          <m:sSubSupPr>
                            <m:ctrlP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𝜹</m:t>
                            </m:r>
                          </m:e>
                          <m:sub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zh-CN" altLang="en-US" sz="2900" b="1" i="1" smtClean="0">
                            <a:latin typeface="Cambria Math" panose="02040503050406030204" pitchFamily="18" charset="0"/>
                          </a:rPr>
                          <m:t>＋⋯＋</m:t>
                        </m:r>
                        <m:sSubSup>
                          <m:sSubSupPr>
                            <m:ctrlP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𝜹</m:t>
                            </m:r>
                          </m:e>
                          <m:sub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  <m:sup>
                            <m:r>
                              <a:rPr lang="en-US" altLang="zh-CN" sz="29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rad>
                  </m:oMath>
                </a14:m>
                <a:endParaRPr sz="2900" b="1" dirty="0">
                  <a:latin typeface="隶书"/>
                </a:endParaRPr>
              </a:p>
            </p:txBody>
          </p:sp>
        </mc:Choice>
        <mc:Fallback xmlns="">
          <p:sp>
            <p:nvSpPr>
              <p:cNvPr id="26" name="object 10">
                <a:extLst>
                  <a:ext uri="{FF2B5EF4-FFF2-40B4-BE49-F238E27FC236}">
                    <a16:creationId xmlns:a16="http://schemas.microsoft.com/office/drawing/2014/main" id="{1D8C1A0A-522C-EF48-87BE-E957C032B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25" y="5236393"/>
                <a:ext cx="6158865" cy="631007"/>
              </a:xfrm>
              <a:prstGeom prst="rect">
                <a:avLst/>
              </a:prstGeom>
              <a:blipFill>
                <a:blip r:embed="rId3"/>
                <a:stretch>
                  <a:fillRect l="-1852" t="-29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32663"/>
            <a:ext cx="35280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PERT</a:t>
            </a:r>
            <a:r>
              <a:rPr dirty="0">
                <a:latin typeface="华文隶书"/>
                <a:cs typeface="华文隶书"/>
              </a:rPr>
              <a:t>估算举例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24961" y="207949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89"/>
                </a:lnTo>
                <a:lnTo>
                  <a:pt x="593146" y="20557"/>
                </a:lnTo>
                <a:lnTo>
                  <a:pt x="635150" y="35933"/>
                </a:lnTo>
                <a:lnTo>
                  <a:pt x="675116" y="55187"/>
                </a:lnTo>
                <a:lnTo>
                  <a:pt x="712812" y="78090"/>
                </a:lnTo>
                <a:lnTo>
                  <a:pt x="748009" y="104411"/>
                </a:lnTo>
                <a:lnTo>
                  <a:pt x="780478" y="133921"/>
                </a:lnTo>
                <a:lnTo>
                  <a:pt x="809988" y="166390"/>
                </a:lnTo>
                <a:lnTo>
                  <a:pt x="836309" y="201587"/>
                </a:lnTo>
                <a:lnTo>
                  <a:pt x="859212" y="239283"/>
                </a:lnTo>
                <a:lnTo>
                  <a:pt x="878466" y="279249"/>
                </a:lnTo>
                <a:lnTo>
                  <a:pt x="893842" y="321253"/>
                </a:lnTo>
                <a:lnTo>
                  <a:pt x="905110" y="365066"/>
                </a:lnTo>
                <a:lnTo>
                  <a:pt x="912039" y="410458"/>
                </a:lnTo>
                <a:lnTo>
                  <a:pt x="914400" y="457200"/>
                </a:lnTo>
                <a:lnTo>
                  <a:pt x="912039" y="503941"/>
                </a:lnTo>
                <a:lnTo>
                  <a:pt x="905110" y="549333"/>
                </a:lnTo>
                <a:lnTo>
                  <a:pt x="893842" y="593146"/>
                </a:lnTo>
                <a:lnTo>
                  <a:pt x="878466" y="635150"/>
                </a:lnTo>
                <a:lnTo>
                  <a:pt x="859212" y="675116"/>
                </a:lnTo>
                <a:lnTo>
                  <a:pt x="836309" y="712812"/>
                </a:lnTo>
                <a:lnTo>
                  <a:pt x="809988" y="748009"/>
                </a:lnTo>
                <a:lnTo>
                  <a:pt x="780478" y="780478"/>
                </a:lnTo>
                <a:lnTo>
                  <a:pt x="748009" y="809988"/>
                </a:lnTo>
                <a:lnTo>
                  <a:pt x="712812" y="836309"/>
                </a:lnTo>
                <a:lnTo>
                  <a:pt x="675116" y="859212"/>
                </a:lnTo>
                <a:lnTo>
                  <a:pt x="635150" y="878466"/>
                </a:lnTo>
                <a:lnTo>
                  <a:pt x="593146" y="893842"/>
                </a:lnTo>
                <a:lnTo>
                  <a:pt x="549333" y="905110"/>
                </a:lnTo>
                <a:lnTo>
                  <a:pt x="503941" y="912039"/>
                </a:lnTo>
                <a:lnTo>
                  <a:pt x="457200" y="914400"/>
                </a:lnTo>
                <a:lnTo>
                  <a:pt x="410458" y="912039"/>
                </a:lnTo>
                <a:lnTo>
                  <a:pt x="365066" y="905110"/>
                </a:lnTo>
                <a:lnTo>
                  <a:pt x="321253" y="893842"/>
                </a:lnTo>
                <a:lnTo>
                  <a:pt x="279249" y="878466"/>
                </a:lnTo>
                <a:lnTo>
                  <a:pt x="239283" y="859212"/>
                </a:lnTo>
                <a:lnTo>
                  <a:pt x="201587" y="836309"/>
                </a:lnTo>
                <a:lnTo>
                  <a:pt x="166390" y="809988"/>
                </a:lnTo>
                <a:lnTo>
                  <a:pt x="133921" y="780478"/>
                </a:lnTo>
                <a:lnTo>
                  <a:pt x="104411" y="748009"/>
                </a:lnTo>
                <a:lnTo>
                  <a:pt x="78090" y="712812"/>
                </a:lnTo>
                <a:lnTo>
                  <a:pt x="55187" y="675116"/>
                </a:lnTo>
                <a:lnTo>
                  <a:pt x="35933" y="635150"/>
                </a:lnTo>
                <a:lnTo>
                  <a:pt x="20557" y="593146"/>
                </a:lnTo>
                <a:lnTo>
                  <a:pt x="9289" y="549333"/>
                </a:lnTo>
                <a:lnTo>
                  <a:pt x="2360" y="503941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30651" y="2143759"/>
            <a:ext cx="30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2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9361" y="207949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8"/>
                </a:lnTo>
                <a:lnTo>
                  <a:pt x="9288" y="365066"/>
                </a:lnTo>
                <a:lnTo>
                  <a:pt x="20555" y="321253"/>
                </a:lnTo>
                <a:lnTo>
                  <a:pt x="35929" y="279249"/>
                </a:lnTo>
                <a:lnTo>
                  <a:pt x="55182" y="239283"/>
                </a:lnTo>
                <a:lnTo>
                  <a:pt x="78083" y="201587"/>
                </a:lnTo>
                <a:lnTo>
                  <a:pt x="104403" y="166390"/>
                </a:lnTo>
                <a:lnTo>
                  <a:pt x="133911" y="133921"/>
                </a:lnTo>
                <a:lnTo>
                  <a:pt x="166379" y="104411"/>
                </a:lnTo>
                <a:lnTo>
                  <a:pt x="201576" y="78090"/>
                </a:lnTo>
                <a:lnTo>
                  <a:pt x="239272" y="55187"/>
                </a:lnTo>
                <a:lnTo>
                  <a:pt x="279238" y="35933"/>
                </a:lnTo>
                <a:lnTo>
                  <a:pt x="321243" y="20557"/>
                </a:lnTo>
                <a:lnTo>
                  <a:pt x="365059" y="9289"/>
                </a:lnTo>
                <a:lnTo>
                  <a:pt x="410454" y="2360"/>
                </a:lnTo>
                <a:lnTo>
                  <a:pt x="457200" y="0"/>
                </a:lnTo>
                <a:lnTo>
                  <a:pt x="503945" y="2360"/>
                </a:lnTo>
                <a:lnTo>
                  <a:pt x="549340" y="9289"/>
                </a:lnTo>
                <a:lnTo>
                  <a:pt x="593156" y="20557"/>
                </a:lnTo>
                <a:lnTo>
                  <a:pt x="635161" y="35933"/>
                </a:lnTo>
                <a:lnTo>
                  <a:pt x="675127" y="55187"/>
                </a:lnTo>
                <a:lnTo>
                  <a:pt x="712823" y="78090"/>
                </a:lnTo>
                <a:lnTo>
                  <a:pt x="748020" y="104411"/>
                </a:lnTo>
                <a:lnTo>
                  <a:pt x="780488" y="133921"/>
                </a:lnTo>
                <a:lnTo>
                  <a:pt x="809996" y="166390"/>
                </a:lnTo>
                <a:lnTo>
                  <a:pt x="836316" y="201587"/>
                </a:lnTo>
                <a:lnTo>
                  <a:pt x="859217" y="239283"/>
                </a:lnTo>
                <a:lnTo>
                  <a:pt x="878470" y="279249"/>
                </a:lnTo>
                <a:lnTo>
                  <a:pt x="893844" y="321253"/>
                </a:lnTo>
                <a:lnTo>
                  <a:pt x="905111" y="365066"/>
                </a:lnTo>
                <a:lnTo>
                  <a:pt x="912039" y="410458"/>
                </a:lnTo>
                <a:lnTo>
                  <a:pt x="914400" y="457200"/>
                </a:lnTo>
                <a:lnTo>
                  <a:pt x="912039" y="503941"/>
                </a:lnTo>
                <a:lnTo>
                  <a:pt x="905111" y="549333"/>
                </a:lnTo>
                <a:lnTo>
                  <a:pt x="893844" y="593146"/>
                </a:lnTo>
                <a:lnTo>
                  <a:pt x="878470" y="635150"/>
                </a:lnTo>
                <a:lnTo>
                  <a:pt x="859217" y="675116"/>
                </a:lnTo>
                <a:lnTo>
                  <a:pt x="836316" y="712812"/>
                </a:lnTo>
                <a:lnTo>
                  <a:pt x="809996" y="748009"/>
                </a:lnTo>
                <a:lnTo>
                  <a:pt x="780488" y="780478"/>
                </a:lnTo>
                <a:lnTo>
                  <a:pt x="748020" y="809988"/>
                </a:lnTo>
                <a:lnTo>
                  <a:pt x="712823" y="836309"/>
                </a:lnTo>
                <a:lnTo>
                  <a:pt x="675127" y="859212"/>
                </a:lnTo>
                <a:lnTo>
                  <a:pt x="635161" y="878466"/>
                </a:lnTo>
                <a:lnTo>
                  <a:pt x="593156" y="893842"/>
                </a:lnTo>
                <a:lnTo>
                  <a:pt x="549340" y="905110"/>
                </a:lnTo>
                <a:lnTo>
                  <a:pt x="503945" y="912039"/>
                </a:lnTo>
                <a:lnTo>
                  <a:pt x="457200" y="914400"/>
                </a:lnTo>
                <a:lnTo>
                  <a:pt x="410454" y="912039"/>
                </a:lnTo>
                <a:lnTo>
                  <a:pt x="365059" y="905110"/>
                </a:lnTo>
                <a:lnTo>
                  <a:pt x="321243" y="893842"/>
                </a:lnTo>
                <a:lnTo>
                  <a:pt x="279238" y="878466"/>
                </a:lnTo>
                <a:lnTo>
                  <a:pt x="239272" y="859212"/>
                </a:lnTo>
                <a:lnTo>
                  <a:pt x="201576" y="836309"/>
                </a:lnTo>
                <a:lnTo>
                  <a:pt x="166379" y="809988"/>
                </a:lnTo>
                <a:lnTo>
                  <a:pt x="133911" y="780478"/>
                </a:lnTo>
                <a:lnTo>
                  <a:pt x="104403" y="748009"/>
                </a:lnTo>
                <a:lnTo>
                  <a:pt x="78083" y="712812"/>
                </a:lnTo>
                <a:lnTo>
                  <a:pt x="55182" y="675116"/>
                </a:lnTo>
                <a:lnTo>
                  <a:pt x="35929" y="635150"/>
                </a:lnTo>
                <a:lnTo>
                  <a:pt x="20555" y="593146"/>
                </a:lnTo>
                <a:lnTo>
                  <a:pt x="9288" y="549333"/>
                </a:lnTo>
                <a:lnTo>
                  <a:pt x="2360" y="503941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416" y="2143759"/>
            <a:ext cx="30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1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077961" y="207949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89"/>
                </a:lnTo>
                <a:lnTo>
                  <a:pt x="593146" y="20557"/>
                </a:lnTo>
                <a:lnTo>
                  <a:pt x="635150" y="35933"/>
                </a:lnTo>
                <a:lnTo>
                  <a:pt x="675116" y="55187"/>
                </a:lnTo>
                <a:lnTo>
                  <a:pt x="712812" y="78090"/>
                </a:lnTo>
                <a:lnTo>
                  <a:pt x="748009" y="104411"/>
                </a:lnTo>
                <a:lnTo>
                  <a:pt x="780478" y="133921"/>
                </a:lnTo>
                <a:lnTo>
                  <a:pt x="809988" y="166390"/>
                </a:lnTo>
                <a:lnTo>
                  <a:pt x="836309" y="201587"/>
                </a:lnTo>
                <a:lnTo>
                  <a:pt x="859212" y="239283"/>
                </a:lnTo>
                <a:lnTo>
                  <a:pt x="878466" y="279249"/>
                </a:lnTo>
                <a:lnTo>
                  <a:pt x="893842" y="321253"/>
                </a:lnTo>
                <a:lnTo>
                  <a:pt x="905110" y="365066"/>
                </a:lnTo>
                <a:lnTo>
                  <a:pt x="912039" y="410458"/>
                </a:lnTo>
                <a:lnTo>
                  <a:pt x="914400" y="457200"/>
                </a:lnTo>
                <a:lnTo>
                  <a:pt x="912039" y="503941"/>
                </a:lnTo>
                <a:lnTo>
                  <a:pt x="905110" y="549333"/>
                </a:lnTo>
                <a:lnTo>
                  <a:pt x="893842" y="593146"/>
                </a:lnTo>
                <a:lnTo>
                  <a:pt x="878466" y="635150"/>
                </a:lnTo>
                <a:lnTo>
                  <a:pt x="859212" y="675116"/>
                </a:lnTo>
                <a:lnTo>
                  <a:pt x="836309" y="712812"/>
                </a:lnTo>
                <a:lnTo>
                  <a:pt x="809988" y="748009"/>
                </a:lnTo>
                <a:lnTo>
                  <a:pt x="780478" y="780478"/>
                </a:lnTo>
                <a:lnTo>
                  <a:pt x="748009" y="809988"/>
                </a:lnTo>
                <a:lnTo>
                  <a:pt x="712812" y="836309"/>
                </a:lnTo>
                <a:lnTo>
                  <a:pt x="675116" y="859212"/>
                </a:lnTo>
                <a:lnTo>
                  <a:pt x="635150" y="878466"/>
                </a:lnTo>
                <a:lnTo>
                  <a:pt x="593146" y="893842"/>
                </a:lnTo>
                <a:lnTo>
                  <a:pt x="549333" y="905110"/>
                </a:lnTo>
                <a:lnTo>
                  <a:pt x="503941" y="912039"/>
                </a:lnTo>
                <a:lnTo>
                  <a:pt x="457200" y="914400"/>
                </a:lnTo>
                <a:lnTo>
                  <a:pt x="410458" y="912039"/>
                </a:lnTo>
                <a:lnTo>
                  <a:pt x="365066" y="905110"/>
                </a:lnTo>
                <a:lnTo>
                  <a:pt x="321253" y="893842"/>
                </a:lnTo>
                <a:lnTo>
                  <a:pt x="279249" y="878466"/>
                </a:lnTo>
                <a:lnTo>
                  <a:pt x="239283" y="859212"/>
                </a:lnTo>
                <a:lnTo>
                  <a:pt x="201587" y="836309"/>
                </a:lnTo>
                <a:lnTo>
                  <a:pt x="166390" y="809988"/>
                </a:lnTo>
                <a:lnTo>
                  <a:pt x="133921" y="780478"/>
                </a:lnTo>
                <a:lnTo>
                  <a:pt x="104411" y="748009"/>
                </a:lnTo>
                <a:lnTo>
                  <a:pt x="78090" y="712812"/>
                </a:lnTo>
                <a:lnTo>
                  <a:pt x="55187" y="675116"/>
                </a:lnTo>
                <a:lnTo>
                  <a:pt x="35933" y="635150"/>
                </a:lnTo>
                <a:lnTo>
                  <a:pt x="20557" y="593146"/>
                </a:lnTo>
                <a:lnTo>
                  <a:pt x="9289" y="549333"/>
                </a:lnTo>
                <a:lnTo>
                  <a:pt x="2360" y="503941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84285" y="2143759"/>
            <a:ext cx="30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4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39561" y="2079498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89"/>
                </a:lnTo>
                <a:lnTo>
                  <a:pt x="593146" y="20557"/>
                </a:lnTo>
                <a:lnTo>
                  <a:pt x="635150" y="35933"/>
                </a:lnTo>
                <a:lnTo>
                  <a:pt x="675116" y="55187"/>
                </a:lnTo>
                <a:lnTo>
                  <a:pt x="712812" y="78090"/>
                </a:lnTo>
                <a:lnTo>
                  <a:pt x="748009" y="104411"/>
                </a:lnTo>
                <a:lnTo>
                  <a:pt x="780478" y="133921"/>
                </a:lnTo>
                <a:lnTo>
                  <a:pt x="809988" y="166390"/>
                </a:lnTo>
                <a:lnTo>
                  <a:pt x="836309" y="201587"/>
                </a:lnTo>
                <a:lnTo>
                  <a:pt x="859212" y="239283"/>
                </a:lnTo>
                <a:lnTo>
                  <a:pt x="878466" y="279249"/>
                </a:lnTo>
                <a:lnTo>
                  <a:pt x="893842" y="321253"/>
                </a:lnTo>
                <a:lnTo>
                  <a:pt x="905110" y="365066"/>
                </a:lnTo>
                <a:lnTo>
                  <a:pt x="912039" y="410458"/>
                </a:lnTo>
                <a:lnTo>
                  <a:pt x="914399" y="457200"/>
                </a:lnTo>
                <a:lnTo>
                  <a:pt x="912039" y="503941"/>
                </a:lnTo>
                <a:lnTo>
                  <a:pt x="905110" y="549333"/>
                </a:lnTo>
                <a:lnTo>
                  <a:pt x="893842" y="593146"/>
                </a:lnTo>
                <a:lnTo>
                  <a:pt x="878466" y="635150"/>
                </a:lnTo>
                <a:lnTo>
                  <a:pt x="859212" y="675116"/>
                </a:lnTo>
                <a:lnTo>
                  <a:pt x="836309" y="712812"/>
                </a:lnTo>
                <a:lnTo>
                  <a:pt x="809988" y="748009"/>
                </a:lnTo>
                <a:lnTo>
                  <a:pt x="780478" y="780478"/>
                </a:lnTo>
                <a:lnTo>
                  <a:pt x="748009" y="809988"/>
                </a:lnTo>
                <a:lnTo>
                  <a:pt x="712812" y="836309"/>
                </a:lnTo>
                <a:lnTo>
                  <a:pt x="675116" y="859212"/>
                </a:lnTo>
                <a:lnTo>
                  <a:pt x="635150" y="878466"/>
                </a:lnTo>
                <a:lnTo>
                  <a:pt x="593146" y="893842"/>
                </a:lnTo>
                <a:lnTo>
                  <a:pt x="549333" y="905110"/>
                </a:lnTo>
                <a:lnTo>
                  <a:pt x="503941" y="912039"/>
                </a:lnTo>
                <a:lnTo>
                  <a:pt x="457200" y="914400"/>
                </a:lnTo>
                <a:lnTo>
                  <a:pt x="410458" y="912039"/>
                </a:lnTo>
                <a:lnTo>
                  <a:pt x="365066" y="905110"/>
                </a:lnTo>
                <a:lnTo>
                  <a:pt x="321253" y="893842"/>
                </a:lnTo>
                <a:lnTo>
                  <a:pt x="279249" y="878466"/>
                </a:lnTo>
                <a:lnTo>
                  <a:pt x="239283" y="859212"/>
                </a:lnTo>
                <a:lnTo>
                  <a:pt x="201587" y="836309"/>
                </a:lnTo>
                <a:lnTo>
                  <a:pt x="166390" y="809988"/>
                </a:lnTo>
                <a:lnTo>
                  <a:pt x="133921" y="780478"/>
                </a:lnTo>
                <a:lnTo>
                  <a:pt x="104411" y="748009"/>
                </a:lnTo>
                <a:lnTo>
                  <a:pt x="78090" y="712812"/>
                </a:lnTo>
                <a:lnTo>
                  <a:pt x="55187" y="675116"/>
                </a:lnTo>
                <a:lnTo>
                  <a:pt x="35933" y="635150"/>
                </a:lnTo>
                <a:lnTo>
                  <a:pt x="20557" y="593146"/>
                </a:lnTo>
                <a:lnTo>
                  <a:pt x="9289" y="549333"/>
                </a:lnTo>
                <a:lnTo>
                  <a:pt x="2360" y="503941"/>
                </a:lnTo>
                <a:lnTo>
                  <a:pt x="0" y="457200"/>
                </a:lnTo>
                <a:close/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945504" y="2143759"/>
            <a:ext cx="30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Arial Narrow"/>
                <a:cs typeface="Arial Narrow"/>
              </a:rPr>
              <a:t>3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3761" y="2497835"/>
            <a:ext cx="2057400" cy="78105"/>
          </a:xfrm>
          <a:custGeom>
            <a:avLst/>
            <a:gdLst/>
            <a:ahLst/>
            <a:cxnLst/>
            <a:rect l="l" t="t" r="r" b="b"/>
            <a:pathLst>
              <a:path w="2057400" h="78105">
                <a:moveTo>
                  <a:pt x="1927860" y="0"/>
                </a:moveTo>
                <a:lnTo>
                  <a:pt x="1927860" y="77724"/>
                </a:lnTo>
                <a:lnTo>
                  <a:pt x="2014220" y="51815"/>
                </a:lnTo>
                <a:lnTo>
                  <a:pt x="1940814" y="51815"/>
                </a:lnTo>
                <a:lnTo>
                  <a:pt x="1940814" y="25908"/>
                </a:lnTo>
                <a:lnTo>
                  <a:pt x="2014220" y="25908"/>
                </a:lnTo>
                <a:lnTo>
                  <a:pt x="1927860" y="0"/>
                </a:lnTo>
                <a:close/>
              </a:path>
              <a:path w="2057400" h="78105">
                <a:moveTo>
                  <a:pt x="1927860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1927860" y="51815"/>
                </a:lnTo>
                <a:lnTo>
                  <a:pt x="1927860" y="25908"/>
                </a:lnTo>
                <a:close/>
              </a:path>
              <a:path w="2057400" h="78105">
                <a:moveTo>
                  <a:pt x="2014220" y="25908"/>
                </a:moveTo>
                <a:lnTo>
                  <a:pt x="1940814" y="25908"/>
                </a:lnTo>
                <a:lnTo>
                  <a:pt x="1940814" y="51815"/>
                </a:lnTo>
                <a:lnTo>
                  <a:pt x="2014220" y="51815"/>
                </a:lnTo>
                <a:lnTo>
                  <a:pt x="2057400" y="38862"/>
                </a:lnTo>
                <a:lnTo>
                  <a:pt x="20142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039361" y="2497835"/>
            <a:ext cx="1600200" cy="78105"/>
          </a:xfrm>
          <a:custGeom>
            <a:avLst/>
            <a:gdLst/>
            <a:ahLst/>
            <a:cxnLst/>
            <a:rect l="l" t="t" r="r" b="b"/>
            <a:pathLst>
              <a:path w="1600200" h="78105">
                <a:moveTo>
                  <a:pt x="1470660" y="0"/>
                </a:moveTo>
                <a:lnTo>
                  <a:pt x="1470660" y="77724"/>
                </a:lnTo>
                <a:lnTo>
                  <a:pt x="1557020" y="51815"/>
                </a:lnTo>
                <a:lnTo>
                  <a:pt x="1483614" y="51815"/>
                </a:lnTo>
                <a:lnTo>
                  <a:pt x="1483614" y="25908"/>
                </a:lnTo>
                <a:lnTo>
                  <a:pt x="1557020" y="25908"/>
                </a:lnTo>
                <a:lnTo>
                  <a:pt x="1470660" y="0"/>
                </a:lnTo>
                <a:close/>
              </a:path>
              <a:path w="1600200" h="78105">
                <a:moveTo>
                  <a:pt x="1470660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1470660" y="51815"/>
                </a:lnTo>
                <a:lnTo>
                  <a:pt x="1470660" y="25908"/>
                </a:lnTo>
                <a:close/>
              </a:path>
              <a:path w="1600200" h="78105">
                <a:moveTo>
                  <a:pt x="1557020" y="25908"/>
                </a:moveTo>
                <a:lnTo>
                  <a:pt x="1483614" y="25908"/>
                </a:lnTo>
                <a:lnTo>
                  <a:pt x="1483614" y="51815"/>
                </a:lnTo>
                <a:lnTo>
                  <a:pt x="1557020" y="51815"/>
                </a:lnTo>
                <a:lnTo>
                  <a:pt x="1600200" y="38862"/>
                </a:lnTo>
                <a:lnTo>
                  <a:pt x="15570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553961" y="2497835"/>
            <a:ext cx="1447800" cy="78105"/>
          </a:xfrm>
          <a:custGeom>
            <a:avLst/>
            <a:gdLst/>
            <a:ahLst/>
            <a:cxnLst/>
            <a:rect l="l" t="t" r="r" b="b"/>
            <a:pathLst>
              <a:path w="1447800" h="78105">
                <a:moveTo>
                  <a:pt x="1318260" y="0"/>
                </a:moveTo>
                <a:lnTo>
                  <a:pt x="1318260" y="77724"/>
                </a:lnTo>
                <a:lnTo>
                  <a:pt x="1404620" y="51815"/>
                </a:lnTo>
                <a:lnTo>
                  <a:pt x="1331214" y="51815"/>
                </a:lnTo>
                <a:lnTo>
                  <a:pt x="1331214" y="25908"/>
                </a:lnTo>
                <a:lnTo>
                  <a:pt x="1404620" y="25908"/>
                </a:lnTo>
                <a:lnTo>
                  <a:pt x="1318260" y="0"/>
                </a:lnTo>
                <a:close/>
              </a:path>
              <a:path w="1447800" h="78105">
                <a:moveTo>
                  <a:pt x="1318260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1318260" y="51815"/>
                </a:lnTo>
                <a:lnTo>
                  <a:pt x="1318260" y="25908"/>
                </a:lnTo>
                <a:close/>
              </a:path>
              <a:path w="1447800" h="78105">
                <a:moveTo>
                  <a:pt x="1404620" y="25908"/>
                </a:moveTo>
                <a:lnTo>
                  <a:pt x="1331214" y="25908"/>
                </a:lnTo>
                <a:lnTo>
                  <a:pt x="1331214" y="51815"/>
                </a:lnTo>
                <a:lnTo>
                  <a:pt x="1404620" y="51815"/>
                </a:lnTo>
                <a:lnTo>
                  <a:pt x="1447800" y="38862"/>
                </a:lnTo>
                <a:lnTo>
                  <a:pt x="14046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710308" y="1874012"/>
            <a:ext cx="7677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Arial Narrow"/>
                <a:cs typeface="Arial Narrow"/>
              </a:rPr>
              <a:t>2,3,6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54144" y="1874012"/>
            <a:ext cx="7677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Arial Narrow"/>
                <a:cs typeface="Arial Narrow"/>
              </a:rPr>
              <a:t>4,6,8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68997" y="1797812"/>
            <a:ext cx="7677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latin typeface="Arial Narrow"/>
                <a:cs typeface="Arial Narrow"/>
              </a:rPr>
              <a:t>3,4,6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074545" y="2742133"/>
            <a:ext cx="1930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J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67147" y="2742133"/>
            <a:ext cx="24828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K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47890" y="2742133"/>
            <a:ext cx="21145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L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91361" y="3374897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0" y="0"/>
                </a:moveTo>
                <a:lnTo>
                  <a:pt x="1371600" y="4572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535161" y="3603497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76200" y="1714500"/>
                </a:moveTo>
                <a:lnTo>
                  <a:pt x="0" y="1714500"/>
                </a:lnTo>
                <a:lnTo>
                  <a:pt x="38100" y="2286000"/>
                </a:lnTo>
                <a:lnTo>
                  <a:pt x="76200" y="1714500"/>
                </a:lnTo>
                <a:close/>
              </a:path>
              <a:path w="76200" h="2286000">
                <a:moveTo>
                  <a:pt x="57150" y="0"/>
                </a:moveTo>
                <a:lnTo>
                  <a:pt x="19050" y="0"/>
                </a:lnTo>
                <a:lnTo>
                  <a:pt x="19050" y="1714500"/>
                </a:lnTo>
                <a:lnTo>
                  <a:pt x="57150" y="1714500"/>
                </a:lnTo>
                <a:lnTo>
                  <a:pt x="571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8535161" y="3603497"/>
            <a:ext cx="76200" cy="2286000"/>
          </a:xfrm>
          <a:custGeom>
            <a:avLst/>
            <a:gdLst/>
            <a:ahLst/>
            <a:cxnLst/>
            <a:rect l="l" t="t" r="r" b="b"/>
            <a:pathLst>
              <a:path w="76200" h="2286000">
                <a:moveTo>
                  <a:pt x="0" y="1714500"/>
                </a:moveTo>
                <a:lnTo>
                  <a:pt x="19050" y="1714500"/>
                </a:lnTo>
                <a:lnTo>
                  <a:pt x="19050" y="0"/>
                </a:lnTo>
                <a:lnTo>
                  <a:pt x="57150" y="0"/>
                </a:lnTo>
                <a:lnTo>
                  <a:pt x="57150" y="1714500"/>
                </a:lnTo>
                <a:lnTo>
                  <a:pt x="76200" y="1714500"/>
                </a:lnTo>
                <a:lnTo>
                  <a:pt x="38100" y="2286000"/>
                </a:lnTo>
                <a:lnTo>
                  <a:pt x="0" y="17145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410961" y="6270497"/>
            <a:ext cx="2514600" cy="76200"/>
          </a:xfrm>
          <a:custGeom>
            <a:avLst/>
            <a:gdLst/>
            <a:ahLst/>
            <a:cxnLst/>
            <a:rect l="l" t="t" r="r" b="b"/>
            <a:pathLst>
              <a:path w="2514600" h="76200">
                <a:moveTo>
                  <a:pt x="628650" y="0"/>
                </a:moveTo>
                <a:lnTo>
                  <a:pt x="0" y="38099"/>
                </a:lnTo>
                <a:lnTo>
                  <a:pt x="628650" y="76199"/>
                </a:lnTo>
                <a:lnTo>
                  <a:pt x="628650" y="57149"/>
                </a:lnTo>
                <a:lnTo>
                  <a:pt x="2514599" y="57149"/>
                </a:lnTo>
                <a:lnTo>
                  <a:pt x="2514599" y="19049"/>
                </a:lnTo>
                <a:lnTo>
                  <a:pt x="628650" y="19049"/>
                </a:lnTo>
                <a:lnTo>
                  <a:pt x="6286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410961" y="6270497"/>
            <a:ext cx="2514600" cy="76200"/>
          </a:xfrm>
          <a:custGeom>
            <a:avLst/>
            <a:gdLst/>
            <a:ahLst/>
            <a:cxnLst/>
            <a:rect l="l" t="t" r="r" b="b"/>
            <a:pathLst>
              <a:path w="2514600" h="76200">
                <a:moveTo>
                  <a:pt x="0" y="38099"/>
                </a:moveTo>
                <a:lnTo>
                  <a:pt x="628650" y="0"/>
                </a:lnTo>
                <a:lnTo>
                  <a:pt x="628650" y="19049"/>
                </a:lnTo>
                <a:lnTo>
                  <a:pt x="2514599" y="19049"/>
                </a:lnTo>
                <a:lnTo>
                  <a:pt x="2514599" y="57149"/>
                </a:lnTo>
                <a:lnTo>
                  <a:pt x="628650" y="57149"/>
                </a:lnTo>
                <a:lnTo>
                  <a:pt x="628650" y="76199"/>
                </a:lnTo>
                <a:lnTo>
                  <a:pt x="0" y="3809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334761" y="3832097"/>
            <a:ext cx="838200" cy="609600"/>
          </a:xfrm>
          <a:custGeom>
            <a:avLst/>
            <a:gdLst/>
            <a:ahLst/>
            <a:cxnLst/>
            <a:rect l="l" t="t" r="r" b="b"/>
            <a:pathLst>
              <a:path w="838200" h="609600">
                <a:moveTo>
                  <a:pt x="0" y="304800"/>
                </a:moveTo>
                <a:lnTo>
                  <a:pt x="3824" y="263453"/>
                </a:lnTo>
                <a:lnTo>
                  <a:pt x="14966" y="223793"/>
                </a:lnTo>
                <a:lnTo>
                  <a:pt x="32926" y="186183"/>
                </a:lnTo>
                <a:lnTo>
                  <a:pt x="57206" y="150988"/>
                </a:lnTo>
                <a:lnTo>
                  <a:pt x="87306" y="118571"/>
                </a:lnTo>
                <a:lnTo>
                  <a:pt x="122729" y="89296"/>
                </a:lnTo>
                <a:lnTo>
                  <a:pt x="162975" y="63527"/>
                </a:lnTo>
                <a:lnTo>
                  <a:pt x="207546" y="41627"/>
                </a:lnTo>
                <a:lnTo>
                  <a:pt x="255942" y="23961"/>
                </a:lnTo>
                <a:lnTo>
                  <a:pt x="307666" y="10892"/>
                </a:lnTo>
                <a:lnTo>
                  <a:pt x="362218" y="2783"/>
                </a:lnTo>
                <a:lnTo>
                  <a:pt x="419100" y="0"/>
                </a:lnTo>
                <a:lnTo>
                  <a:pt x="475981" y="2783"/>
                </a:lnTo>
                <a:lnTo>
                  <a:pt x="530533" y="10892"/>
                </a:lnTo>
                <a:lnTo>
                  <a:pt x="582257" y="23961"/>
                </a:lnTo>
                <a:lnTo>
                  <a:pt x="630653" y="41627"/>
                </a:lnTo>
                <a:lnTo>
                  <a:pt x="675224" y="63527"/>
                </a:lnTo>
                <a:lnTo>
                  <a:pt x="715470" y="89296"/>
                </a:lnTo>
                <a:lnTo>
                  <a:pt x="750893" y="118571"/>
                </a:lnTo>
                <a:lnTo>
                  <a:pt x="780993" y="150988"/>
                </a:lnTo>
                <a:lnTo>
                  <a:pt x="805273" y="186183"/>
                </a:lnTo>
                <a:lnTo>
                  <a:pt x="823233" y="223793"/>
                </a:lnTo>
                <a:lnTo>
                  <a:pt x="834375" y="263453"/>
                </a:lnTo>
                <a:lnTo>
                  <a:pt x="838200" y="304800"/>
                </a:lnTo>
                <a:lnTo>
                  <a:pt x="834375" y="346146"/>
                </a:lnTo>
                <a:lnTo>
                  <a:pt x="823233" y="385806"/>
                </a:lnTo>
                <a:lnTo>
                  <a:pt x="805273" y="423416"/>
                </a:lnTo>
                <a:lnTo>
                  <a:pt x="780993" y="458611"/>
                </a:lnTo>
                <a:lnTo>
                  <a:pt x="750893" y="491028"/>
                </a:lnTo>
                <a:lnTo>
                  <a:pt x="715470" y="520303"/>
                </a:lnTo>
                <a:lnTo>
                  <a:pt x="675224" y="546072"/>
                </a:lnTo>
                <a:lnTo>
                  <a:pt x="630653" y="567972"/>
                </a:lnTo>
                <a:lnTo>
                  <a:pt x="582257" y="585638"/>
                </a:lnTo>
                <a:lnTo>
                  <a:pt x="530533" y="598707"/>
                </a:lnTo>
                <a:lnTo>
                  <a:pt x="475981" y="606816"/>
                </a:lnTo>
                <a:lnTo>
                  <a:pt x="419100" y="609600"/>
                </a:lnTo>
                <a:lnTo>
                  <a:pt x="362218" y="606816"/>
                </a:lnTo>
                <a:lnTo>
                  <a:pt x="307666" y="598707"/>
                </a:lnTo>
                <a:lnTo>
                  <a:pt x="255942" y="585638"/>
                </a:lnTo>
                <a:lnTo>
                  <a:pt x="207546" y="567972"/>
                </a:lnTo>
                <a:lnTo>
                  <a:pt x="162975" y="546072"/>
                </a:lnTo>
                <a:lnTo>
                  <a:pt x="122729" y="520303"/>
                </a:lnTo>
                <a:lnTo>
                  <a:pt x="87306" y="491028"/>
                </a:lnTo>
                <a:lnTo>
                  <a:pt x="57206" y="458611"/>
                </a:lnTo>
                <a:lnTo>
                  <a:pt x="32926" y="423416"/>
                </a:lnTo>
                <a:lnTo>
                  <a:pt x="14966" y="385806"/>
                </a:lnTo>
                <a:lnTo>
                  <a:pt x="3824" y="346146"/>
                </a:lnTo>
                <a:lnTo>
                  <a:pt x="0" y="304800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82561" y="3832097"/>
            <a:ext cx="838200" cy="609600"/>
          </a:xfrm>
          <a:custGeom>
            <a:avLst/>
            <a:gdLst/>
            <a:ahLst/>
            <a:cxnLst/>
            <a:rect l="l" t="t" r="r" b="b"/>
            <a:pathLst>
              <a:path w="838200" h="609600">
                <a:moveTo>
                  <a:pt x="0" y="304800"/>
                </a:moveTo>
                <a:lnTo>
                  <a:pt x="3824" y="263453"/>
                </a:lnTo>
                <a:lnTo>
                  <a:pt x="14966" y="223793"/>
                </a:lnTo>
                <a:lnTo>
                  <a:pt x="32926" y="186183"/>
                </a:lnTo>
                <a:lnTo>
                  <a:pt x="57206" y="150988"/>
                </a:lnTo>
                <a:lnTo>
                  <a:pt x="87306" y="118571"/>
                </a:lnTo>
                <a:lnTo>
                  <a:pt x="122729" y="89296"/>
                </a:lnTo>
                <a:lnTo>
                  <a:pt x="162975" y="63527"/>
                </a:lnTo>
                <a:lnTo>
                  <a:pt x="207546" y="41627"/>
                </a:lnTo>
                <a:lnTo>
                  <a:pt x="255942" y="23961"/>
                </a:lnTo>
                <a:lnTo>
                  <a:pt x="307666" y="10892"/>
                </a:lnTo>
                <a:lnTo>
                  <a:pt x="362218" y="2783"/>
                </a:lnTo>
                <a:lnTo>
                  <a:pt x="419100" y="0"/>
                </a:lnTo>
                <a:lnTo>
                  <a:pt x="475981" y="2783"/>
                </a:lnTo>
                <a:lnTo>
                  <a:pt x="530533" y="10892"/>
                </a:lnTo>
                <a:lnTo>
                  <a:pt x="582257" y="23961"/>
                </a:lnTo>
                <a:lnTo>
                  <a:pt x="630653" y="41627"/>
                </a:lnTo>
                <a:lnTo>
                  <a:pt x="675224" y="63527"/>
                </a:lnTo>
                <a:lnTo>
                  <a:pt x="715470" y="89296"/>
                </a:lnTo>
                <a:lnTo>
                  <a:pt x="750893" y="118571"/>
                </a:lnTo>
                <a:lnTo>
                  <a:pt x="780993" y="150988"/>
                </a:lnTo>
                <a:lnTo>
                  <a:pt x="805273" y="186183"/>
                </a:lnTo>
                <a:lnTo>
                  <a:pt x="823233" y="223793"/>
                </a:lnTo>
                <a:lnTo>
                  <a:pt x="834375" y="263453"/>
                </a:lnTo>
                <a:lnTo>
                  <a:pt x="838200" y="304800"/>
                </a:lnTo>
                <a:lnTo>
                  <a:pt x="834375" y="346146"/>
                </a:lnTo>
                <a:lnTo>
                  <a:pt x="823233" y="385806"/>
                </a:lnTo>
                <a:lnTo>
                  <a:pt x="805273" y="423416"/>
                </a:lnTo>
                <a:lnTo>
                  <a:pt x="780993" y="458611"/>
                </a:lnTo>
                <a:lnTo>
                  <a:pt x="750893" y="491028"/>
                </a:lnTo>
                <a:lnTo>
                  <a:pt x="715470" y="520303"/>
                </a:lnTo>
                <a:lnTo>
                  <a:pt x="675224" y="546072"/>
                </a:lnTo>
                <a:lnTo>
                  <a:pt x="630653" y="567972"/>
                </a:lnTo>
                <a:lnTo>
                  <a:pt x="582257" y="585638"/>
                </a:lnTo>
                <a:lnTo>
                  <a:pt x="530533" y="598707"/>
                </a:lnTo>
                <a:lnTo>
                  <a:pt x="475981" y="606816"/>
                </a:lnTo>
                <a:lnTo>
                  <a:pt x="419100" y="609600"/>
                </a:lnTo>
                <a:lnTo>
                  <a:pt x="362218" y="606816"/>
                </a:lnTo>
                <a:lnTo>
                  <a:pt x="307666" y="598707"/>
                </a:lnTo>
                <a:lnTo>
                  <a:pt x="255942" y="585638"/>
                </a:lnTo>
                <a:lnTo>
                  <a:pt x="207546" y="567972"/>
                </a:lnTo>
                <a:lnTo>
                  <a:pt x="162975" y="546072"/>
                </a:lnTo>
                <a:lnTo>
                  <a:pt x="122729" y="520303"/>
                </a:lnTo>
                <a:lnTo>
                  <a:pt x="87306" y="491028"/>
                </a:lnTo>
                <a:lnTo>
                  <a:pt x="57206" y="458611"/>
                </a:lnTo>
                <a:lnTo>
                  <a:pt x="32926" y="423416"/>
                </a:lnTo>
                <a:lnTo>
                  <a:pt x="14966" y="385806"/>
                </a:lnTo>
                <a:lnTo>
                  <a:pt x="3824" y="346146"/>
                </a:lnTo>
                <a:lnTo>
                  <a:pt x="0" y="304800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258561" y="4441697"/>
            <a:ext cx="838200" cy="609600"/>
          </a:xfrm>
          <a:custGeom>
            <a:avLst/>
            <a:gdLst/>
            <a:ahLst/>
            <a:cxnLst/>
            <a:rect l="l" t="t" r="r" b="b"/>
            <a:pathLst>
              <a:path w="838200" h="609600">
                <a:moveTo>
                  <a:pt x="0" y="304800"/>
                </a:moveTo>
                <a:lnTo>
                  <a:pt x="3824" y="263453"/>
                </a:lnTo>
                <a:lnTo>
                  <a:pt x="14966" y="223793"/>
                </a:lnTo>
                <a:lnTo>
                  <a:pt x="32926" y="186183"/>
                </a:lnTo>
                <a:lnTo>
                  <a:pt x="57206" y="150988"/>
                </a:lnTo>
                <a:lnTo>
                  <a:pt x="87306" y="118571"/>
                </a:lnTo>
                <a:lnTo>
                  <a:pt x="122729" y="89296"/>
                </a:lnTo>
                <a:lnTo>
                  <a:pt x="162975" y="63527"/>
                </a:lnTo>
                <a:lnTo>
                  <a:pt x="207546" y="41627"/>
                </a:lnTo>
                <a:lnTo>
                  <a:pt x="255942" y="23961"/>
                </a:lnTo>
                <a:lnTo>
                  <a:pt x="307666" y="10892"/>
                </a:lnTo>
                <a:lnTo>
                  <a:pt x="362218" y="2783"/>
                </a:lnTo>
                <a:lnTo>
                  <a:pt x="419100" y="0"/>
                </a:lnTo>
                <a:lnTo>
                  <a:pt x="475981" y="2783"/>
                </a:lnTo>
                <a:lnTo>
                  <a:pt x="530533" y="10892"/>
                </a:lnTo>
                <a:lnTo>
                  <a:pt x="582257" y="23961"/>
                </a:lnTo>
                <a:lnTo>
                  <a:pt x="630653" y="41627"/>
                </a:lnTo>
                <a:lnTo>
                  <a:pt x="675224" y="63527"/>
                </a:lnTo>
                <a:lnTo>
                  <a:pt x="715470" y="89296"/>
                </a:lnTo>
                <a:lnTo>
                  <a:pt x="750893" y="118571"/>
                </a:lnTo>
                <a:lnTo>
                  <a:pt x="780993" y="150988"/>
                </a:lnTo>
                <a:lnTo>
                  <a:pt x="805273" y="186183"/>
                </a:lnTo>
                <a:lnTo>
                  <a:pt x="823233" y="223793"/>
                </a:lnTo>
                <a:lnTo>
                  <a:pt x="834375" y="263453"/>
                </a:lnTo>
                <a:lnTo>
                  <a:pt x="838200" y="304800"/>
                </a:lnTo>
                <a:lnTo>
                  <a:pt x="834375" y="346146"/>
                </a:lnTo>
                <a:lnTo>
                  <a:pt x="823233" y="385806"/>
                </a:lnTo>
                <a:lnTo>
                  <a:pt x="805273" y="423416"/>
                </a:lnTo>
                <a:lnTo>
                  <a:pt x="780993" y="458611"/>
                </a:lnTo>
                <a:lnTo>
                  <a:pt x="750893" y="491028"/>
                </a:lnTo>
                <a:lnTo>
                  <a:pt x="715470" y="520303"/>
                </a:lnTo>
                <a:lnTo>
                  <a:pt x="675224" y="546072"/>
                </a:lnTo>
                <a:lnTo>
                  <a:pt x="630653" y="567972"/>
                </a:lnTo>
                <a:lnTo>
                  <a:pt x="582257" y="585638"/>
                </a:lnTo>
                <a:lnTo>
                  <a:pt x="530533" y="598707"/>
                </a:lnTo>
                <a:lnTo>
                  <a:pt x="475981" y="606816"/>
                </a:lnTo>
                <a:lnTo>
                  <a:pt x="419100" y="609600"/>
                </a:lnTo>
                <a:lnTo>
                  <a:pt x="362218" y="606816"/>
                </a:lnTo>
                <a:lnTo>
                  <a:pt x="307666" y="598707"/>
                </a:lnTo>
                <a:lnTo>
                  <a:pt x="255942" y="585638"/>
                </a:lnTo>
                <a:lnTo>
                  <a:pt x="207546" y="567972"/>
                </a:lnTo>
                <a:lnTo>
                  <a:pt x="162975" y="546072"/>
                </a:lnTo>
                <a:lnTo>
                  <a:pt x="122729" y="520303"/>
                </a:lnTo>
                <a:lnTo>
                  <a:pt x="87306" y="491028"/>
                </a:lnTo>
                <a:lnTo>
                  <a:pt x="57206" y="458611"/>
                </a:lnTo>
                <a:lnTo>
                  <a:pt x="32926" y="423416"/>
                </a:lnTo>
                <a:lnTo>
                  <a:pt x="14966" y="385806"/>
                </a:lnTo>
                <a:lnTo>
                  <a:pt x="3824" y="346146"/>
                </a:lnTo>
                <a:lnTo>
                  <a:pt x="0" y="304800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172961" y="4136897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457199" y="0"/>
                </a:moveTo>
                <a:lnTo>
                  <a:pt x="457199" y="38100"/>
                </a:lnTo>
                <a:lnTo>
                  <a:pt x="0" y="38100"/>
                </a:lnTo>
                <a:lnTo>
                  <a:pt x="0" y="114300"/>
                </a:lnTo>
                <a:lnTo>
                  <a:pt x="457199" y="114300"/>
                </a:lnTo>
                <a:lnTo>
                  <a:pt x="457199" y="152400"/>
                </a:lnTo>
                <a:lnTo>
                  <a:pt x="609599" y="76200"/>
                </a:lnTo>
                <a:lnTo>
                  <a:pt x="45719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172961" y="4136897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38100"/>
                </a:moveTo>
                <a:lnTo>
                  <a:pt x="457199" y="38100"/>
                </a:lnTo>
                <a:lnTo>
                  <a:pt x="457199" y="0"/>
                </a:lnTo>
                <a:lnTo>
                  <a:pt x="609599" y="76200"/>
                </a:lnTo>
                <a:lnTo>
                  <a:pt x="457199" y="152400"/>
                </a:lnTo>
                <a:lnTo>
                  <a:pt x="457199" y="114300"/>
                </a:lnTo>
                <a:lnTo>
                  <a:pt x="0" y="114300"/>
                </a:lnTo>
                <a:lnTo>
                  <a:pt x="0" y="381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2961" y="4594097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457199" y="0"/>
                </a:moveTo>
                <a:lnTo>
                  <a:pt x="457199" y="38100"/>
                </a:lnTo>
                <a:lnTo>
                  <a:pt x="0" y="38100"/>
                </a:lnTo>
                <a:lnTo>
                  <a:pt x="0" y="114300"/>
                </a:lnTo>
                <a:lnTo>
                  <a:pt x="457199" y="114300"/>
                </a:lnTo>
                <a:lnTo>
                  <a:pt x="457199" y="152400"/>
                </a:lnTo>
                <a:lnTo>
                  <a:pt x="609599" y="76200"/>
                </a:lnTo>
                <a:lnTo>
                  <a:pt x="45719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72961" y="4594097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38100"/>
                </a:moveTo>
                <a:lnTo>
                  <a:pt x="457199" y="38100"/>
                </a:lnTo>
                <a:lnTo>
                  <a:pt x="457199" y="0"/>
                </a:lnTo>
                <a:lnTo>
                  <a:pt x="609599" y="76200"/>
                </a:lnTo>
                <a:lnTo>
                  <a:pt x="457199" y="152400"/>
                </a:lnTo>
                <a:lnTo>
                  <a:pt x="457199" y="114300"/>
                </a:lnTo>
                <a:lnTo>
                  <a:pt x="0" y="114300"/>
                </a:lnTo>
                <a:lnTo>
                  <a:pt x="0" y="381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782561" y="4441697"/>
            <a:ext cx="838200" cy="609600"/>
          </a:xfrm>
          <a:custGeom>
            <a:avLst/>
            <a:gdLst/>
            <a:ahLst/>
            <a:cxnLst/>
            <a:rect l="l" t="t" r="r" b="b"/>
            <a:pathLst>
              <a:path w="838200" h="609600">
                <a:moveTo>
                  <a:pt x="0" y="304800"/>
                </a:moveTo>
                <a:lnTo>
                  <a:pt x="3824" y="263453"/>
                </a:lnTo>
                <a:lnTo>
                  <a:pt x="14966" y="223793"/>
                </a:lnTo>
                <a:lnTo>
                  <a:pt x="32926" y="186183"/>
                </a:lnTo>
                <a:lnTo>
                  <a:pt x="57206" y="150988"/>
                </a:lnTo>
                <a:lnTo>
                  <a:pt x="87306" y="118571"/>
                </a:lnTo>
                <a:lnTo>
                  <a:pt x="122729" y="89296"/>
                </a:lnTo>
                <a:lnTo>
                  <a:pt x="162975" y="63527"/>
                </a:lnTo>
                <a:lnTo>
                  <a:pt x="207546" y="41627"/>
                </a:lnTo>
                <a:lnTo>
                  <a:pt x="255942" y="23961"/>
                </a:lnTo>
                <a:lnTo>
                  <a:pt x="307666" y="10892"/>
                </a:lnTo>
                <a:lnTo>
                  <a:pt x="362218" y="2783"/>
                </a:lnTo>
                <a:lnTo>
                  <a:pt x="419100" y="0"/>
                </a:lnTo>
                <a:lnTo>
                  <a:pt x="475981" y="2783"/>
                </a:lnTo>
                <a:lnTo>
                  <a:pt x="530533" y="10892"/>
                </a:lnTo>
                <a:lnTo>
                  <a:pt x="582257" y="23961"/>
                </a:lnTo>
                <a:lnTo>
                  <a:pt x="630653" y="41627"/>
                </a:lnTo>
                <a:lnTo>
                  <a:pt x="675224" y="63527"/>
                </a:lnTo>
                <a:lnTo>
                  <a:pt x="715470" y="89296"/>
                </a:lnTo>
                <a:lnTo>
                  <a:pt x="750893" y="118571"/>
                </a:lnTo>
                <a:lnTo>
                  <a:pt x="780993" y="150988"/>
                </a:lnTo>
                <a:lnTo>
                  <a:pt x="805273" y="186183"/>
                </a:lnTo>
                <a:lnTo>
                  <a:pt x="823233" y="223793"/>
                </a:lnTo>
                <a:lnTo>
                  <a:pt x="834375" y="263453"/>
                </a:lnTo>
                <a:lnTo>
                  <a:pt x="838200" y="304800"/>
                </a:lnTo>
                <a:lnTo>
                  <a:pt x="834375" y="346146"/>
                </a:lnTo>
                <a:lnTo>
                  <a:pt x="823233" y="385806"/>
                </a:lnTo>
                <a:lnTo>
                  <a:pt x="805273" y="423416"/>
                </a:lnTo>
                <a:lnTo>
                  <a:pt x="780993" y="458611"/>
                </a:lnTo>
                <a:lnTo>
                  <a:pt x="750893" y="491028"/>
                </a:lnTo>
                <a:lnTo>
                  <a:pt x="715470" y="520303"/>
                </a:lnTo>
                <a:lnTo>
                  <a:pt x="675224" y="546072"/>
                </a:lnTo>
                <a:lnTo>
                  <a:pt x="630653" y="567972"/>
                </a:lnTo>
                <a:lnTo>
                  <a:pt x="582257" y="585638"/>
                </a:lnTo>
                <a:lnTo>
                  <a:pt x="530533" y="598707"/>
                </a:lnTo>
                <a:lnTo>
                  <a:pt x="475981" y="606816"/>
                </a:lnTo>
                <a:lnTo>
                  <a:pt x="419100" y="609600"/>
                </a:lnTo>
                <a:lnTo>
                  <a:pt x="362218" y="606816"/>
                </a:lnTo>
                <a:lnTo>
                  <a:pt x="307666" y="598707"/>
                </a:lnTo>
                <a:lnTo>
                  <a:pt x="255942" y="585638"/>
                </a:lnTo>
                <a:lnTo>
                  <a:pt x="207546" y="567972"/>
                </a:lnTo>
                <a:lnTo>
                  <a:pt x="162975" y="546072"/>
                </a:lnTo>
                <a:lnTo>
                  <a:pt x="122729" y="520303"/>
                </a:lnTo>
                <a:lnTo>
                  <a:pt x="87306" y="491028"/>
                </a:lnTo>
                <a:lnTo>
                  <a:pt x="57206" y="458611"/>
                </a:lnTo>
                <a:lnTo>
                  <a:pt x="32926" y="423416"/>
                </a:lnTo>
                <a:lnTo>
                  <a:pt x="14966" y="385806"/>
                </a:lnTo>
                <a:lnTo>
                  <a:pt x="3824" y="346146"/>
                </a:lnTo>
                <a:lnTo>
                  <a:pt x="0" y="304800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182361" y="4975097"/>
            <a:ext cx="838200" cy="609600"/>
          </a:xfrm>
          <a:custGeom>
            <a:avLst/>
            <a:gdLst/>
            <a:ahLst/>
            <a:cxnLst/>
            <a:rect l="l" t="t" r="r" b="b"/>
            <a:pathLst>
              <a:path w="838200" h="609600">
                <a:moveTo>
                  <a:pt x="0" y="304799"/>
                </a:moveTo>
                <a:lnTo>
                  <a:pt x="3824" y="263453"/>
                </a:lnTo>
                <a:lnTo>
                  <a:pt x="14966" y="223793"/>
                </a:lnTo>
                <a:lnTo>
                  <a:pt x="32926" y="186183"/>
                </a:lnTo>
                <a:lnTo>
                  <a:pt x="57206" y="150988"/>
                </a:lnTo>
                <a:lnTo>
                  <a:pt x="87306" y="118571"/>
                </a:lnTo>
                <a:lnTo>
                  <a:pt x="122729" y="89296"/>
                </a:lnTo>
                <a:lnTo>
                  <a:pt x="162975" y="63527"/>
                </a:lnTo>
                <a:lnTo>
                  <a:pt x="207546" y="41627"/>
                </a:lnTo>
                <a:lnTo>
                  <a:pt x="255942" y="23961"/>
                </a:lnTo>
                <a:lnTo>
                  <a:pt x="307666" y="10892"/>
                </a:lnTo>
                <a:lnTo>
                  <a:pt x="362218" y="2783"/>
                </a:lnTo>
                <a:lnTo>
                  <a:pt x="419100" y="0"/>
                </a:lnTo>
                <a:lnTo>
                  <a:pt x="475981" y="2783"/>
                </a:lnTo>
                <a:lnTo>
                  <a:pt x="530533" y="10892"/>
                </a:lnTo>
                <a:lnTo>
                  <a:pt x="582257" y="23961"/>
                </a:lnTo>
                <a:lnTo>
                  <a:pt x="630653" y="41627"/>
                </a:lnTo>
                <a:lnTo>
                  <a:pt x="675224" y="63527"/>
                </a:lnTo>
                <a:lnTo>
                  <a:pt x="715470" y="89296"/>
                </a:lnTo>
                <a:lnTo>
                  <a:pt x="750893" y="118571"/>
                </a:lnTo>
                <a:lnTo>
                  <a:pt x="780993" y="150988"/>
                </a:lnTo>
                <a:lnTo>
                  <a:pt x="805273" y="186183"/>
                </a:lnTo>
                <a:lnTo>
                  <a:pt x="823233" y="223793"/>
                </a:lnTo>
                <a:lnTo>
                  <a:pt x="834375" y="263453"/>
                </a:lnTo>
                <a:lnTo>
                  <a:pt x="838200" y="304799"/>
                </a:lnTo>
                <a:lnTo>
                  <a:pt x="834375" y="346146"/>
                </a:lnTo>
                <a:lnTo>
                  <a:pt x="823233" y="385806"/>
                </a:lnTo>
                <a:lnTo>
                  <a:pt x="805273" y="423416"/>
                </a:lnTo>
                <a:lnTo>
                  <a:pt x="780993" y="458611"/>
                </a:lnTo>
                <a:lnTo>
                  <a:pt x="750893" y="491028"/>
                </a:lnTo>
                <a:lnTo>
                  <a:pt x="715470" y="520303"/>
                </a:lnTo>
                <a:lnTo>
                  <a:pt x="675224" y="546072"/>
                </a:lnTo>
                <a:lnTo>
                  <a:pt x="630653" y="567972"/>
                </a:lnTo>
                <a:lnTo>
                  <a:pt x="582257" y="585638"/>
                </a:lnTo>
                <a:lnTo>
                  <a:pt x="530533" y="598707"/>
                </a:lnTo>
                <a:lnTo>
                  <a:pt x="475981" y="606816"/>
                </a:lnTo>
                <a:lnTo>
                  <a:pt x="419100" y="609599"/>
                </a:lnTo>
                <a:lnTo>
                  <a:pt x="362218" y="606816"/>
                </a:lnTo>
                <a:lnTo>
                  <a:pt x="307666" y="598707"/>
                </a:lnTo>
                <a:lnTo>
                  <a:pt x="255942" y="585638"/>
                </a:lnTo>
                <a:lnTo>
                  <a:pt x="207546" y="567972"/>
                </a:lnTo>
                <a:lnTo>
                  <a:pt x="162975" y="546072"/>
                </a:lnTo>
                <a:lnTo>
                  <a:pt x="122729" y="520303"/>
                </a:lnTo>
                <a:lnTo>
                  <a:pt x="87306" y="491028"/>
                </a:lnTo>
                <a:lnTo>
                  <a:pt x="57206" y="458611"/>
                </a:lnTo>
                <a:lnTo>
                  <a:pt x="32926" y="423416"/>
                </a:lnTo>
                <a:lnTo>
                  <a:pt x="14966" y="385806"/>
                </a:lnTo>
                <a:lnTo>
                  <a:pt x="3824" y="346146"/>
                </a:lnTo>
                <a:lnTo>
                  <a:pt x="0" y="304799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782561" y="4975097"/>
            <a:ext cx="838200" cy="609600"/>
          </a:xfrm>
          <a:custGeom>
            <a:avLst/>
            <a:gdLst/>
            <a:ahLst/>
            <a:cxnLst/>
            <a:rect l="l" t="t" r="r" b="b"/>
            <a:pathLst>
              <a:path w="838200" h="609600">
                <a:moveTo>
                  <a:pt x="0" y="304799"/>
                </a:moveTo>
                <a:lnTo>
                  <a:pt x="3824" y="263453"/>
                </a:lnTo>
                <a:lnTo>
                  <a:pt x="14966" y="223793"/>
                </a:lnTo>
                <a:lnTo>
                  <a:pt x="32926" y="186183"/>
                </a:lnTo>
                <a:lnTo>
                  <a:pt x="57206" y="150988"/>
                </a:lnTo>
                <a:lnTo>
                  <a:pt x="87306" y="118571"/>
                </a:lnTo>
                <a:lnTo>
                  <a:pt x="122729" y="89296"/>
                </a:lnTo>
                <a:lnTo>
                  <a:pt x="162975" y="63527"/>
                </a:lnTo>
                <a:lnTo>
                  <a:pt x="207546" y="41627"/>
                </a:lnTo>
                <a:lnTo>
                  <a:pt x="255942" y="23961"/>
                </a:lnTo>
                <a:lnTo>
                  <a:pt x="307666" y="10892"/>
                </a:lnTo>
                <a:lnTo>
                  <a:pt x="362218" y="2783"/>
                </a:lnTo>
                <a:lnTo>
                  <a:pt x="419100" y="0"/>
                </a:lnTo>
                <a:lnTo>
                  <a:pt x="475981" y="2783"/>
                </a:lnTo>
                <a:lnTo>
                  <a:pt x="530533" y="10892"/>
                </a:lnTo>
                <a:lnTo>
                  <a:pt x="582257" y="23961"/>
                </a:lnTo>
                <a:lnTo>
                  <a:pt x="630653" y="41627"/>
                </a:lnTo>
                <a:lnTo>
                  <a:pt x="675224" y="63527"/>
                </a:lnTo>
                <a:lnTo>
                  <a:pt x="715470" y="89296"/>
                </a:lnTo>
                <a:lnTo>
                  <a:pt x="750893" y="118571"/>
                </a:lnTo>
                <a:lnTo>
                  <a:pt x="780993" y="150988"/>
                </a:lnTo>
                <a:lnTo>
                  <a:pt x="805273" y="186183"/>
                </a:lnTo>
                <a:lnTo>
                  <a:pt x="823233" y="223793"/>
                </a:lnTo>
                <a:lnTo>
                  <a:pt x="834375" y="263453"/>
                </a:lnTo>
                <a:lnTo>
                  <a:pt x="838200" y="304799"/>
                </a:lnTo>
                <a:lnTo>
                  <a:pt x="834375" y="346146"/>
                </a:lnTo>
                <a:lnTo>
                  <a:pt x="823233" y="385806"/>
                </a:lnTo>
                <a:lnTo>
                  <a:pt x="805273" y="423416"/>
                </a:lnTo>
                <a:lnTo>
                  <a:pt x="780993" y="458611"/>
                </a:lnTo>
                <a:lnTo>
                  <a:pt x="750893" y="491028"/>
                </a:lnTo>
                <a:lnTo>
                  <a:pt x="715470" y="520303"/>
                </a:lnTo>
                <a:lnTo>
                  <a:pt x="675224" y="546072"/>
                </a:lnTo>
                <a:lnTo>
                  <a:pt x="630653" y="567972"/>
                </a:lnTo>
                <a:lnTo>
                  <a:pt x="582257" y="585638"/>
                </a:lnTo>
                <a:lnTo>
                  <a:pt x="530533" y="598707"/>
                </a:lnTo>
                <a:lnTo>
                  <a:pt x="475981" y="606816"/>
                </a:lnTo>
                <a:lnTo>
                  <a:pt x="419100" y="609599"/>
                </a:lnTo>
                <a:lnTo>
                  <a:pt x="362218" y="606816"/>
                </a:lnTo>
                <a:lnTo>
                  <a:pt x="307666" y="598707"/>
                </a:lnTo>
                <a:lnTo>
                  <a:pt x="255942" y="585638"/>
                </a:lnTo>
                <a:lnTo>
                  <a:pt x="207546" y="567972"/>
                </a:lnTo>
                <a:lnTo>
                  <a:pt x="162975" y="546072"/>
                </a:lnTo>
                <a:lnTo>
                  <a:pt x="122729" y="520303"/>
                </a:lnTo>
                <a:lnTo>
                  <a:pt x="87306" y="491028"/>
                </a:lnTo>
                <a:lnTo>
                  <a:pt x="57206" y="458611"/>
                </a:lnTo>
                <a:lnTo>
                  <a:pt x="32926" y="423416"/>
                </a:lnTo>
                <a:lnTo>
                  <a:pt x="14966" y="385806"/>
                </a:lnTo>
                <a:lnTo>
                  <a:pt x="3824" y="346146"/>
                </a:lnTo>
                <a:lnTo>
                  <a:pt x="0" y="304799"/>
                </a:lnTo>
                <a:close/>
              </a:path>
            </a:pathLst>
          </a:custGeom>
          <a:ln w="25908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172961" y="5203697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457199" y="0"/>
                </a:moveTo>
                <a:lnTo>
                  <a:pt x="457199" y="38099"/>
                </a:lnTo>
                <a:lnTo>
                  <a:pt x="0" y="38099"/>
                </a:lnTo>
                <a:lnTo>
                  <a:pt x="0" y="114299"/>
                </a:lnTo>
                <a:lnTo>
                  <a:pt x="457199" y="114299"/>
                </a:lnTo>
                <a:lnTo>
                  <a:pt x="457199" y="152399"/>
                </a:lnTo>
                <a:lnTo>
                  <a:pt x="609599" y="76199"/>
                </a:lnTo>
                <a:lnTo>
                  <a:pt x="457199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172961" y="5203697"/>
            <a:ext cx="609600" cy="152400"/>
          </a:xfrm>
          <a:custGeom>
            <a:avLst/>
            <a:gdLst/>
            <a:ahLst/>
            <a:cxnLst/>
            <a:rect l="l" t="t" r="r" b="b"/>
            <a:pathLst>
              <a:path w="609600" h="152400">
                <a:moveTo>
                  <a:pt x="0" y="38099"/>
                </a:moveTo>
                <a:lnTo>
                  <a:pt x="457199" y="38099"/>
                </a:lnTo>
                <a:lnTo>
                  <a:pt x="457199" y="0"/>
                </a:lnTo>
                <a:lnTo>
                  <a:pt x="609599" y="76199"/>
                </a:lnTo>
                <a:lnTo>
                  <a:pt x="457199" y="152399"/>
                </a:lnTo>
                <a:lnTo>
                  <a:pt x="457199" y="114299"/>
                </a:lnTo>
                <a:lnTo>
                  <a:pt x="0" y="114299"/>
                </a:lnTo>
                <a:lnTo>
                  <a:pt x="0" y="3809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44390" y="4083558"/>
            <a:ext cx="76200" cy="1655445"/>
          </a:xfrm>
          <a:custGeom>
            <a:avLst/>
            <a:gdLst/>
            <a:ahLst/>
            <a:cxnLst/>
            <a:rect l="l" t="t" r="r" b="b"/>
            <a:pathLst>
              <a:path w="76200" h="1655445">
                <a:moveTo>
                  <a:pt x="76200" y="1241552"/>
                </a:moveTo>
                <a:lnTo>
                  <a:pt x="0" y="1241552"/>
                </a:lnTo>
                <a:lnTo>
                  <a:pt x="38100" y="1655064"/>
                </a:lnTo>
                <a:lnTo>
                  <a:pt x="76200" y="1241552"/>
                </a:lnTo>
                <a:close/>
              </a:path>
              <a:path w="76200" h="1655445">
                <a:moveTo>
                  <a:pt x="57150" y="0"/>
                </a:moveTo>
                <a:lnTo>
                  <a:pt x="19050" y="0"/>
                </a:lnTo>
                <a:lnTo>
                  <a:pt x="19050" y="1241552"/>
                </a:lnTo>
                <a:lnTo>
                  <a:pt x="57150" y="1241552"/>
                </a:lnTo>
                <a:lnTo>
                  <a:pt x="5715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1047750" y="3371786"/>
          <a:ext cx="7162799" cy="2846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5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487">
                <a:tc>
                  <a:txBody>
                    <a:bodyPr/>
                    <a:lstStyle/>
                    <a:p>
                      <a:pPr marL="81978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500" dirty="0">
                          <a:latin typeface="宋体"/>
                          <a:cs typeface="宋体"/>
                        </a:rPr>
                        <a:t>项</a:t>
                      </a:r>
                      <a:endParaRPr sz="1500">
                        <a:latin typeface="宋体"/>
                        <a:cs typeface="宋体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500" dirty="0">
                          <a:latin typeface="宋体"/>
                          <a:cs typeface="宋体"/>
                        </a:rPr>
                        <a:t>活动</a:t>
                      </a:r>
                      <a:endParaRPr sz="1500">
                        <a:latin typeface="宋体"/>
                        <a:cs typeface="宋体"/>
                      </a:endParaRPr>
                    </a:p>
                  </a:txBody>
                  <a:tcPr marL="0" marR="0" marT="431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Narrow"/>
                          <a:cs typeface="Arial Narrow"/>
                        </a:rPr>
                        <a:t>O,M,P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dirty="0">
                          <a:latin typeface="Arial Narrow"/>
                          <a:cs typeface="Arial Narrow"/>
                        </a:rPr>
                        <a:t>E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7190" algn="ctr">
                        <a:lnSpc>
                          <a:spcPts val="755"/>
                        </a:lnSpc>
                        <a:spcBef>
                          <a:spcPts val="85"/>
                        </a:spcBef>
                      </a:pPr>
                      <a:r>
                        <a:rPr sz="1050" dirty="0">
                          <a:latin typeface="Arial Narrow"/>
                          <a:cs typeface="Arial Narrow"/>
                        </a:rPr>
                        <a:t>2</a:t>
                      </a:r>
                      <a:endParaRPr sz="1050">
                        <a:latin typeface="Arial Narrow"/>
                        <a:cs typeface="Arial Narrow"/>
                      </a:endParaRPr>
                    </a:p>
                    <a:p>
                      <a:pPr marR="121285" algn="ctr">
                        <a:lnSpc>
                          <a:spcPts val="2375"/>
                        </a:lnSpc>
                      </a:pPr>
                      <a:r>
                        <a:rPr sz="2400" dirty="0">
                          <a:latin typeface="宋体"/>
                          <a:cs typeface="宋体"/>
                        </a:rPr>
                        <a:t>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107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996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dirty="0">
                          <a:latin typeface="Arial Narrow"/>
                          <a:cs typeface="Arial Narrow"/>
                        </a:rPr>
                        <a:t>J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dirty="0">
                          <a:latin typeface="Arial Narrow"/>
                          <a:cs typeface="Arial Narrow"/>
                        </a:rPr>
                        <a:t>2,3,6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4/6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16/36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375"/>
                        </a:lnSpc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3.33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24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dirty="0">
                          <a:latin typeface="Arial Narrow"/>
                          <a:cs typeface="Arial Narrow"/>
                        </a:rPr>
                        <a:t>K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spc="-5" dirty="0">
                          <a:latin typeface="Arial Narrow"/>
                          <a:cs typeface="Arial Narrow"/>
                        </a:rPr>
                        <a:t>4,6,8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dirty="0">
                          <a:latin typeface="Arial Narrow"/>
                          <a:cs typeface="Arial Narrow"/>
                        </a:rPr>
                        <a:t>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4/6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9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16/36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6054"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dirty="0">
                          <a:latin typeface="Arial Narrow"/>
                          <a:cs typeface="Arial Narrow"/>
                        </a:rPr>
                        <a:t>L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3200" spc="-5" dirty="0">
                          <a:latin typeface="Arial Narrow"/>
                          <a:cs typeface="Arial Narrow"/>
                        </a:rPr>
                        <a:t>3,4,6</a:t>
                      </a:r>
                      <a:endParaRPr sz="3200">
                        <a:latin typeface="Arial Narrow"/>
                        <a:cs typeface="Arial Narrow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3/6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9/36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0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ts val="1725"/>
                        </a:lnSpc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4.17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24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2400" spc="-5" dirty="0">
                          <a:latin typeface="宋体"/>
                          <a:cs typeface="宋体"/>
                        </a:rPr>
                        <a:t>估计项目总历时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25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13.5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1.07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400" spc="-5" dirty="0">
                          <a:latin typeface="Arial Narrow"/>
                          <a:cs typeface="Arial Narrow"/>
                        </a:rPr>
                        <a:t>41/36</a:t>
                      </a:r>
                      <a:endParaRPr sz="2400">
                        <a:latin typeface="Arial Narrow"/>
                        <a:cs typeface="Arial Narrow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3742" y="262889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标准差的概率理论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761" y="5182361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24961" y="5868161"/>
            <a:ext cx="3352800" cy="0"/>
          </a:xfrm>
          <a:custGeom>
            <a:avLst/>
            <a:gdLst/>
            <a:ahLst/>
            <a:cxnLst/>
            <a:rect l="l" t="t" r="r" b="b"/>
            <a:pathLst>
              <a:path w="3352800">
                <a:moveTo>
                  <a:pt x="0" y="0"/>
                </a:moveTo>
                <a:lnTo>
                  <a:pt x="33528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39161" y="6553961"/>
            <a:ext cx="4648200" cy="0"/>
          </a:xfrm>
          <a:custGeom>
            <a:avLst/>
            <a:gdLst/>
            <a:ahLst/>
            <a:cxnLst/>
            <a:rect l="l" t="t" r="r" b="b"/>
            <a:pathLst>
              <a:path w="4648200">
                <a:moveTo>
                  <a:pt x="0" y="0"/>
                </a:moveTo>
                <a:lnTo>
                  <a:pt x="46481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29278" y="4674870"/>
            <a:ext cx="829944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Narrow"/>
                <a:cs typeface="Arial Narrow"/>
              </a:rPr>
              <a:t>68.3%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Times New Roman"/>
              <a:cs typeface="Times New Roman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Narrow"/>
                <a:cs typeface="Arial Narrow"/>
              </a:rPr>
              <a:t>95.5%</a:t>
            </a:r>
            <a:endParaRPr sz="2400">
              <a:latin typeface="Arial Narrow"/>
              <a:cs typeface="Arial Narrow"/>
            </a:endParaRPr>
          </a:p>
          <a:p>
            <a:pPr marL="107950">
              <a:lnSpc>
                <a:spcPct val="100000"/>
              </a:lnSpc>
              <a:spcBef>
                <a:spcPts val="1970"/>
              </a:spcBef>
            </a:pPr>
            <a:r>
              <a:rPr sz="2400" spc="-5" dirty="0">
                <a:latin typeface="Arial Narrow"/>
                <a:cs typeface="Arial Narrow"/>
              </a:rPr>
              <a:t>99.7%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2000" y="1447800"/>
            <a:ext cx="7543800" cy="3188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标准差的概率理论</a:t>
            </a:r>
          </a:p>
        </p:txBody>
      </p:sp>
      <p:sp>
        <p:nvSpPr>
          <p:cNvPr id="3" name="object 3"/>
          <p:cNvSpPr/>
          <p:nvPr/>
        </p:nvSpPr>
        <p:spPr>
          <a:xfrm>
            <a:off x="874775" y="1844039"/>
            <a:ext cx="7629144" cy="3390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05121" y="629422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5657" y="4410075"/>
            <a:ext cx="2089785" cy="1569720"/>
          </a:xfrm>
          <a:custGeom>
            <a:avLst/>
            <a:gdLst/>
            <a:ahLst/>
            <a:cxnLst/>
            <a:rect l="l" t="t" r="r" b="b"/>
            <a:pathLst>
              <a:path w="2089785" h="1569720">
                <a:moveTo>
                  <a:pt x="0" y="1173099"/>
                </a:moveTo>
                <a:lnTo>
                  <a:pt x="6221" y="1142232"/>
                </a:lnTo>
                <a:lnTo>
                  <a:pt x="23193" y="1117044"/>
                </a:lnTo>
                <a:lnTo>
                  <a:pt x="48381" y="1100072"/>
                </a:lnTo>
                <a:lnTo>
                  <a:pt x="79248" y="1093851"/>
                </a:lnTo>
                <a:lnTo>
                  <a:pt x="1218819" y="1093851"/>
                </a:lnTo>
                <a:lnTo>
                  <a:pt x="2068830" y="0"/>
                </a:lnTo>
                <a:lnTo>
                  <a:pt x="1741170" y="1093851"/>
                </a:lnTo>
                <a:lnTo>
                  <a:pt x="2010156" y="1093851"/>
                </a:lnTo>
                <a:lnTo>
                  <a:pt x="2041022" y="1100072"/>
                </a:lnTo>
                <a:lnTo>
                  <a:pt x="2066210" y="1117044"/>
                </a:lnTo>
                <a:lnTo>
                  <a:pt x="2083182" y="1142232"/>
                </a:lnTo>
                <a:lnTo>
                  <a:pt x="2089404" y="1173099"/>
                </a:lnTo>
                <a:lnTo>
                  <a:pt x="2089404" y="1291971"/>
                </a:lnTo>
                <a:lnTo>
                  <a:pt x="2089404" y="1490091"/>
                </a:lnTo>
                <a:lnTo>
                  <a:pt x="2083182" y="1520936"/>
                </a:lnTo>
                <a:lnTo>
                  <a:pt x="2066210" y="1546126"/>
                </a:lnTo>
                <a:lnTo>
                  <a:pt x="2041022" y="1563110"/>
                </a:lnTo>
                <a:lnTo>
                  <a:pt x="2010156" y="1569339"/>
                </a:lnTo>
                <a:lnTo>
                  <a:pt x="1741170" y="1569339"/>
                </a:lnTo>
                <a:lnTo>
                  <a:pt x="1218819" y="1569339"/>
                </a:lnTo>
                <a:lnTo>
                  <a:pt x="79248" y="1569339"/>
                </a:lnTo>
                <a:lnTo>
                  <a:pt x="48381" y="1563110"/>
                </a:lnTo>
                <a:lnTo>
                  <a:pt x="23193" y="1546126"/>
                </a:lnTo>
                <a:lnTo>
                  <a:pt x="6221" y="1520936"/>
                </a:lnTo>
                <a:lnTo>
                  <a:pt x="0" y="1490091"/>
                </a:lnTo>
                <a:lnTo>
                  <a:pt x="0" y="1291971"/>
                </a:lnTo>
                <a:lnTo>
                  <a:pt x="0" y="1173099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54655" y="5530392"/>
            <a:ext cx="84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w Cen MT"/>
                <a:cs typeface="Tw Cen MT"/>
              </a:rPr>
              <a:t>6</a:t>
            </a:r>
            <a:r>
              <a:rPr sz="2400" spc="-10" dirty="0">
                <a:solidFill>
                  <a:srgbClr val="FF0000"/>
                </a:solidFill>
                <a:latin typeface="Tw Cen MT"/>
                <a:cs typeface="Tw Cen MT"/>
              </a:rPr>
              <a:t>8</a:t>
            </a:r>
            <a:r>
              <a:rPr sz="2400" spc="-5" dirty="0">
                <a:solidFill>
                  <a:srgbClr val="FF0000"/>
                </a:solidFill>
                <a:latin typeface="Tw Cen MT"/>
                <a:cs typeface="Tw Cen MT"/>
              </a:rPr>
              <a:t>.3%</a:t>
            </a:r>
            <a:endParaRPr sz="24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2283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标准差的概率理论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50975" y="2147316"/>
            <a:ext cx="7476744" cy="340156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7892" y="6354571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2153" y="4962652"/>
            <a:ext cx="2380615" cy="1515110"/>
          </a:xfrm>
          <a:custGeom>
            <a:avLst/>
            <a:gdLst/>
            <a:ahLst/>
            <a:cxnLst/>
            <a:rect l="l" t="t" r="r" b="b"/>
            <a:pathLst>
              <a:path w="2380615" h="1515110">
                <a:moveTo>
                  <a:pt x="0" y="1075690"/>
                </a:moveTo>
                <a:lnTo>
                  <a:pt x="6909" y="1041480"/>
                </a:lnTo>
                <a:lnTo>
                  <a:pt x="25749" y="1013545"/>
                </a:lnTo>
                <a:lnTo>
                  <a:pt x="53685" y="994712"/>
                </a:lnTo>
                <a:lnTo>
                  <a:pt x="87884" y="987806"/>
                </a:lnTo>
                <a:lnTo>
                  <a:pt x="1217930" y="987806"/>
                </a:lnTo>
                <a:lnTo>
                  <a:pt x="2380488" y="0"/>
                </a:lnTo>
                <a:lnTo>
                  <a:pt x="1739900" y="987806"/>
                </a:lnTo>
                <a:lnTo>
                  <a:pt x="1999996" y="987806"/>
                </a:lnTo>
                <a:lnTo>
                  <a:pt x="2034194" y="994712"/>
                </a:lnTo>
                <a:lnTo>
                  <a:pt x="2062130" y="1013545"/>
                </a:lnTo>
                <a:lnTo>
                  <a:pt x="2080970" y="1041480"/>
                </a:lnTo>
                <a:lnTo>
                  <a:pt x="2087880" y="1075690"/>
                </a:lnTo>
                <a:lnTo>
                  <a:pt x="2087880" y="1207516"/>
                </a:lnTo>
                <a:lnTo>
                  <a:pt x="2087880" y="1427226"/>
                </a:lnTo>
                <a:lnTo>
                  <a:pt x="2080970" y="1461435"/>
                </a:lnTo>
                <a:lnTo>
                  <a:pt x="2062130" y="1489370"/>
                </a:lnTo>
                <a:lnTo>
                  <a:pt x="2034194" y="1508203"/>
                </a:lnTo>
                <a:lnTo>
                  <a:pt x="1999996" y="1515110"/>
                </a:lnTo>
                <a:lnTo>
                  <a:pt x="1739900" y="1515110"/>
                </a:lnTo>
                <a:lnTo>
                  <a:pt x="1217930" y="1515110"/>
                </a:lnTo>
                <a:lnTo>
                  <a:pt x="87884" y="1515110"/>
                </a:lnTo>
                <a:lnTo>
                  <a:pt x="53685" y="1508203"/>
                </a:lnTo>
                <a:lnTo>
                  <a:pt x="25749" y="1489370"/>
                </a:lnTo>
                <a:lnTo>
                  <a:pt x="6909" y="1461435"/>
                </a:lnTo>
                <a:lnTo>
                  <a:pt x="0" y="1427226"/>
                </a:lnTo>
                <a:lnTo>
                  <a:pt x="0" y="1207516"/>
                </a:lnTo>
                <a:lnTo>
                  <a:pt x="0" y="1075690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50517" y="6002832"/>
            <a:ext cx="84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w Cen MT"/>
                <a:cs typeface="Tw Cen MT"/>
              </a:rPr>
              <a:t>9</a:t>
            </a:r>
            <a:r>
              <a:rPr sz="2400" spc="-10" dirty="0">
                <a:solidFill>
                  <a:srgbClr val="FF0000"/>
                </a:solidFill>
                <a:latin typeface="Tw Cen MT"/>
                <a:cs typeface="Tw Cen MT"/>
              </a:rPr>
              <a:t>5</a:t>
            </a:r>
            <a:r>
              <a:rPr sz="2400" spc="-5" dirty="0">
                <a:solidFill>
                  <a:srgbClr val="FF0000"/>
                </a:solidFill>
                <a:latin typeface="Tw Cen MT"/>
                <a:cs typeface="Tw Cen MT"/>
              </a:rPr>
              <a:t>.5%</a:t>
            </a:r>
            <a:endParaRPr sz="24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2283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标准差的概率理论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12875" y="2171700"/>
            <a:ext cx="7552943" cy="3352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7892" y="6288125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57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2153" y="5075301"/>
            <a:ext cx="2242820" cy="1402715"/>
          </a:xfrm>
          <a:custGeom>
            <a:avLst/>
            <a:gdLst/>
            <a:ahLst/>
            <a:cxnLst/>
            <a:rect l="l" t="t" r="r" b="b"/>
            <a:pathLst>
              <a:path w="2242820" h="1402714">
                <a:moveTo>
                  <a:pt x="0" y="963041"/>
                </a:moveTo>
                <a:lnTo>
                  <a:pt x="6909" y="928831"/>
                </a:lnTo>
                <a:lnTo>
                  <a:pt x="25749" y="900896"/>
                </a:lnTo>
                <a:lnTo>
                  <a:pt x="53685" y="882063"/>
                </a:lnTo>
                <a:lnTo>
                  <a:pt x="87884" y="875157"/>
                </a:lnTo>
                <a:lnTo>
                  <a:pt x="1217930" y="875157"/>
                </a:lnTo>
                <a:lnTo>
                  <a:pt x="2242693" y="0"/>
                </a:lnTo>
                <a:lnTo>
                  <a:pt x="1739900" y="875157"/>
                </a:lnTo>
                <a:lnTo>
                  <a:pt x="1999996" y="875157"/>
                </a:lnTo>
                <a:lnTo>
                  <a:pt x="2034194" y="882063"/>
                </a:lnTo>
                <a:lnTo>
                  <a:pt x="2062130" y="900896"/>
                </a:lnTo>
                <a:lnTo>
                  <a:pt x="2080970" y="928831"/>
                </a:lnTo>
                <a:lnTo>
                  <a:pt x="2087880" y="963041"/>
                </a:lnTo>
                <a:lnTo>
                  <a:pt x="2087880" y="1094867"/>
                </a:lnTo>
                <a:lnTo>
                  <a:pt x="2087880" y="1314577"/>
                </a:lnTo>
                <a:lnTo>
                  <a:pt x="2080970" y="1348786"/>
                </a:lnTo>
                <a:lnTo>
                  <a:pt x="2062130" y="1376721"/>
                </a:lnTo>
                <a:lnTo>
                  <a:pt x="2034194" y="1395554"/>
                </a:lnTo>
                <a:lnTo>
                  <a:pt x="1999996" y="1402461"/>
                </a:lnTo>
                <a:lnTo>
                  <a:pt x="1739900" y="1402461"/>
                </a:lnTo>
                <a:lnTo>
                  <a:pt x="1217930" y="1402461"/>
                </a:lnTo>
                <a:lnTo>
                  <a:pt x="87884" y="1402461"/>
                </a:lnTo>
                <a:lnTo>
                  <a:pt x="53685" y="1395554"/>
                </a:lnTo>
                <a:lnTo>
                  <a:pt x="25749" y="1376721"/>
                </a:lnTo>
                <a:lnTo>
                  <a:pt x="6909" y="1348786"/>
                </a:lnTo>
                <a:lnTo>
                  <a:pt x="0" y="1314577"/>
                </a:lnTo>
                <a:lnTo>
                  <a:pt x="0" y="1094867"/>
                </a:lnTo>
                <a:lnTo>
                  <a:pt x="0" y="963041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50517" y="6002832"/>
            <a:ext cx="8496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w Cen MT"/>
                <a:cs typeface="Tw Cen MT"/>
              </a:rPr>
              <a:t>9</a:t>
            </a:r>
            <a:r>
              <a:rPr sz="2400" spc="-10" dirty="0">
                <a:solidFill>
                  <a:srgbClr val="FF0000"/>
                </a:solidFill>
                <a:latin typeface="Tw Cen MT"/>
                <a:cs typeface="Tw Cen MT"/>
              </a:rPr>
              <a:t>9</a:t>
            </a:r>
            <a:r>
              <a:rPr sz="2400" spc="-5" dirty="0">
                <a:solidFill>
                  <a:srgbClr val="FF0000"/>
                </a:solidFill>
                <a:latin typeface="Tw Cen MT"/>
                <a:cs typeface="Tw Cen MT"/>
              </a:rPr>
              <a:t>.7%</a:t>
            </a:r>
            <a:endParaRPr sz="24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29564"/>
            <a:ext cx="46469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PERT</a:t>
            </a:r>
            <a:r>
              <a:rPr dirty="0">
                <a:latin typeface="华文隶书"/>
                <a:cs typeface="华文隶书"/>
              </a:rPr>
              <a:t>估算评价举例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58</a:t>
            </a:r>
            <a:endParaRPr sz="1200">
              <a:latin typeface="Arial Narrow"/>
              <a:cs typeface="Arial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08025" y="1595437"/>
          <a:ext cx="8001000" cy="37638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4000" spc="-10" dirty="0">
                          <a:latin typeface="宋体"/>
                          <a:cs typeface="宋体"/>
                        </a:rPr>
                        <a:t>平均</a:t>
                      </a:r>
                      <a:r>
                        <a:rPr sz="4000" spc="-5" dirty="0">
                          <a:latin typeface="宋体"/>
                          <a:cs typeface="宋体"/>
                        </a:rPr>
                        <a:t>历</a:t>
                      </a:r>
                      <a:r>
                        <a:rPr sz="4000" spc="-108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4000" spc="-10" dirty="0">
                          <a:latin typeface="宋体"/>
                          <a:cs typeface="宋体"/>
                        </a:rPr>
                        <a:t>时</a:t>
                      </a:r>
                      <a:r>
                        <a:rPr sz="4000" spc="-5" dirty="0">
                          <a:latin typeface="Arial Narrow"/>
                          <a:cs typeface="Arial Narrow"/>
                        </a:rPr>
                        <a:t>E=13.5,</a:t>
                      </a:r>
                      <a:r>
                        <a:rPr sz="4000" dirty="0">
                          <a:latin typeface="Arial Narrow"/>
                          <a:cs typeface="Arial Narrow"/>
                        </a:rPr>
                        <a:t> </a:t>
                      </a:r>
                      <a:r>
                        <a:rPr sz="3200" dirty="0">
                          <a:latin typeface="宋体"/>
                          <a:cs typeface="宋体"/>
                        </a:rPr>
                        <a:t>δ</a:t>
                      </a:r>
                      <a:r>
                        <a:rPr sz="3200" spc="-50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4000" spc="-5" dirty="0">
                          <a:latin typeface="Arial Narrow"/>
                          <a:cs typeface="Arial Narrow"/>
                        </a:rPr>
                        <a:t>=1.07</a:t>
                      </a:r>
                      <a:endParaRPr sz="4000">
                        <a:latin typeface="Arial Narrow"/>
                        <a:cs typeface="Arial Narrow"/>
                      </a:endParaRPr>
                    </a:p>
                  </a:txBody>
                  <a:tcPr marL="0" marR="0" marT="133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范围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概率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从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到</a:t>
                      </a:r>
                      <a:endParaRPr sz="36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447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T1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55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±</a:t>
                      </a:r>
                      <a:r>
                        <a:rPr sz="3600" spc="-994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68.3%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12.43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14.57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55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T2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±</a:t>
                      </a:r>
                      <a:r>
                        <a:rPr sz="3600" spc="-1030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3600" dirty="0">
                          <a:latin typeface="Arial Narrow"/>
                          <a:cs typeface="Arial Narrow"/>
                        </a:rPr>
                        <a:t>2 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95.5%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0" dirty="0">
                          <a:latin typeface="Arial Narrow"/>
                          <a:cs typeface="Arial Narrow"/>
                        </a:rPr>
                        <a:t>11.36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15.64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5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T3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3600" dirty="0">
                          <a:latin typeface="宋体"/>
                          <a:cs typeface="宋体"/>
                        </a:rPr>
                        <a:t>±</a:t>
                      </a:r>
                      <a:r>
                        <a:rPr sz="3600" spc="-1025" dirty="0">
                          <a:latin typeface="宋体"/>
                          <a:cs typeface="宋体"/>
                        </a:rPr>
                        <a:t> </a:t>
                      </a:r>
                      <a:r>
                        <a:rPr sz="3600" dirty="0">
                          <a:latin typeface="Arial Narrow"/>
                          <a:cs typeface="Arial Narrow"/>
                        </a:rPr>
                        <a:t>3 </a:t>
                      </a:r>
                      <a:r>
                        <a:rPr sz="2400" dirty="0">
                          <a:latin typeface="宋体"/>
                          <a:cs typeface="宋体"/>
                        </a:rPr>
                        <a:t>δ</a:t>
                      </a:r>
                      <a:endParaRPr sz="2400">
                        <a:latin typeface="宋体"/>
                        <a:cs typeface="宋体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99.7%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10.29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3600" spc="-5" dirty="0">
                          <a:latin typeface="Arial Narrow"/>
                          <a:cs typeface="Arial Narrow"/>
                        </a:rPr>
                        <a:t>16.71</a:t>
                      </a:r>
                      <a:endParaRPr sz="36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5371" y="5675339"/>
            <a:ext cx="8219695" cy="506549"/>
          </a:xfrm>
          <a:prstGeom prst="rect">
            <a:avLst/>
          </a:prstGeom>
          <a:ln w="28955">
            <a:solidFill>
              <a:srgbClr val="D3E1EC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3200" b="1" dirty="0">
                <a:latin typeface="华文新魏"/>
                <a:cs typeface="华文新魏"/>
              </a:rPr>
              <a:t>问题</a:t>
            </a:r>
            <a:r>
              <a:rPr sz="3200" b="1" spc="-15" dirty="0">
                <a:latin typeface="华文新魏"/>
                <a:cs typeface="华文新魏"/>
              </a:rPr>
              <a:t>：</a:t>
            </a:r>
            <a:r>
              <a:rPr sz="3200" b="1" dirty="0">
                <a:latin typeface="华文新魏"/>
                <a:cs typeface="华文新魏"/>
              </a:rPr>
              <a:t>项目在</a:t>
            </a:r>
            <a:r>
              <a:rPr sz="3200" b="1" spc="-25" dirty="0">
                <a:latin typeface="华文新魏"/>
                <a:cs typeface="华文新魏"/>
              </a:rPr>
              <a:t>1</a:t>
            </a:r>
            <a:r>
              <a:rPr sz="3200" b="1" spc="-5" dirty="0">
                <a:latin typeface="华文新魏"/>
                <a:cs typeface="华文新魏"/>
              </a:rPr>
              <a:t>4.5</a:t>
            </a:r>
            <a:r>
              <a:rPr sz="3200" b="1" dirty="0">
                <a:latin typeface="华文新魏"/>
                <a:cs typeface="华文新魏"/>
              </a:rPr>
              <a:t>7天内完</a:t>
            </a:r>
            <a:r>
              <a:rPr sz="3200" b="1" spc="-15" dirty="0">
                <a:latin typeface="华文新魏"/>
                <a:cs typeface="华文新魏"/>
              </a:rPr>
              <a:t>成</a:t>
            </a:r>
            <a:r>
              <a:rPr sz="3200" b="1" dirty="0">
                <a:latin typeface="华文新魏"/>
                <a:cs typeface="华文新魏"/>
              </a:rPr>
              <a:t>的概</a:t>
            </a:r>
            <a:r>
              <a:rPr sz="3200" b="1" spc="-15" dirty="0">
                <a:latin typeface="华文新魏"/>
                <a:cs typeface="华文新魏"/>
              </a:rPr>
              <a:t>率</a:t>
            </a:r>
            <a:r>
              <a:rPr sz="3200" b="1" dirty="0">
                <a:latin typeface="华文新魏"/>
                <a:cs typeface="华文新魏"/>
              </a:rPr>
              <a:t>是多</a:t>
            </a:r>
            <a:r>
              <a:rPr sz="3200" b="1" spc="-15" dirty="0">
                <a:latin typeface="华文新魏"/>
                <a:cs typeface="华文新魏"/>
              </a:rPr>
              <a:t>少</a:t>
            </a:r>
            <a:r>
              <a:rPr sz="3200" b="1" dirty="0">
                <a:latin typeface="华文新魏"/>
                <a:cs typeface="华文新魏"/>
              </a:rPr>
              <a:t>？</a:t>
            </a:r>
            <a:endParaRPr sz="3200" dirty="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0227" y="1291252"/>
            <a:ext cx="140335" cy="175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b="1" dirty="0">
                <a:latin typeface="Arial Narrow"/>
                <a:cs typeface="Arial Narrow"/>
              </a:rPr>
              <a:t>59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07257" y="5113782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21457" y="5799582"/>
            <a:ext cx="3352800" cy="0"/>
          </a:xfrm>
          <a:custGeom>
            <a:avLst/>
            <a:gdLst/>
            <a:ahLst/>
            <a:cxnLst/>
            <a:rect l="l" t="t" r="r" b="b"/>
            <a:pathLst>
              <a:path w="3352800">
                <a:moveTo>
                  <a:pt x="0" y="0"/>
                </a:moveTo>
                <a:lnTo>
                  <a:pt x="33528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35657" y="6485382"/>
            <a:ext cx="4648200" cy="0"/>
          </a:xfrm>
          <a:custGeom>
            <a:avLst/>
            <a:gdLst/>
            <a:ahLst/>
            <a:cxnLst/>
            <a:rect l="l" t="t" r="r" b="b"/>
            <a:pathLst>
              <a:path w="4648200">
                <a:moveTo>
                  <a:pt x="0" y="0"/>
                </a:moveTo>
                <a:lnTo>
                  <a:pt x="46482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911" y="356615"/>
            <a:ext cx="7543800" cy="42230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42758" y="1579245"/>
            <a:ext cx="9474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E7E7E"/>
                </a:solidFill>
                <a:latin typeface="隶书"/>
                <a:cs typeface="隶书"/>
              </a:rPr>
              <a:t>T=E+δ</a:t>
            </a:r>
            <a:endParaRPr sz="2400">
              <a:latin typeface="隶书"/>
              <a:cs typeface="隶书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71233" y="2128265"/>
            <a:ext cx="2488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7E7E7E"/>
                </a:solidFill>
                <a:latin typeface="隶书"/>
                <a:cs typeface="隶书"/>
              </a:rPr>
              <a:t>=13.5+1.07=14.57</a:t>
            </a:r>
            <a:endParaRPr sz="2400">
              <a:latin typeface="隶书"/>
              <a:cs typeface="隶书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16779" y="1796795"/>
            <a:ext cx="13970" cy="2688590"/>
          </a:xfrm>
          <a:custGeom>
            <a:avLst/>
            <a:gdLst/>
            <a:ahLst/>
            <a:cxnLst/>
            <a:rect l="l" t="t" r="r" b="b"/>
            <a:pathLst>
              <a:path w="13970" h="2688590">
                <a:moveTo>
                  <a:pt x="13716" y="2688335"/>
                </a:moveTo>
                <a:lnTo>
                  <a:pt x="0" y="0"/>
                </a:lnTo>
              </a:path>
            </a:pathLst>
          </a:custGeom>
          <a:ln w="57912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271777" y="2591561"/>
            <a:ext cx="2653665" cy="563880"/>
          </a:xfrm>
          <a:custGeom>
            <a:avLst/>
            <a:gdLst/>
            <a:ahLst/>
            <a:cxnLst/>
            <a:rect l="l" t="t" r="r" b="b"/>
            <a:pathLst>
              <a:path w="2653665" h="563880">
                <a:moveTo>
                  <a:pt x="663574" y="0"/>
                </a:moveTo>
                <a:lnTo>
                  <a:pt x="0" y="281939"/>
                </a:lnTo>
                <a:lnTo>
                  <a:pt x="663574" y="563879"/>
                </a:lnTo>
                <a:lnTo>
                  <a:pt x="663574" y="422910"/>
                </a:lnTo>
                <a:lnTo>
                  <a:pt x="2653284" y="422910"/>
                </a:lnTo>
                <a:lnTo>
                  <a:pt x="2653284" y="140970"/>
                </a:lnTo>
                <a:lnTo>
                  <a:pt x="663574" y="140970"/>
                </a:lnTo>
                <a:lnTo>
                  <a:pt x="66357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71777" y="2591561"/>
            <a:ext cx="2653665" cy="563880"/>
          </a:xfrm>
          <a:custGeom>
            <a:avLst/>
            <a:gdLst/>
            <a:ahLst/>
            <a:cxnLst/>
            <a:rect l="l" t="t" r="r" b="b"/>
            <a:pathLst>
              <a:path w="2653665" h="563880">
                <a:moveTo>
                  <a:pt x="0" y="281939"/>
                </a:moveTo>
                <a:lnTo>
                  <a:pt x="663574" y="0"/>
                </a:lnTo>
                <a:lnTo>
                  <a:pt x="663574" y="140970"/>
                </a:lnTo>
                <a:lnTo>
                  <a:pt x="2653284" y="140970"/>
                </a:lnTo>
                <a:lnTo>
                  <a:pt x="2653284" y="422910"/>
                </a:lnTo>
                <a:lnTo>
                  <a:pt x="663574" y="422910"/>
                </a:lnTo>
                <a:lnTo>
                  <a:pt x="663574" y="563879"/>
                </a:lnTo>
                <a:lnTo>
                  <a:pt x="0" y="281939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01645" y="2670175"/>
            <a:ext cx="525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Narrow"/>
                <a:cs typeface="Arial Narrow"/>
              </a:rPr>
              <a:t>50%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45542" y="3277361"/>
            <a:ext cx="4572000" cy="762000"/>
          </a:xfrm>
          <a:custGeom>
            <a:avLst/>
            <a:gdLst/>
            <a:ahLst/>
            <a:cxnLst/>
            <a:rect l="l" t="t" r="r" b="b"/>
            <a:pathLst>
              <a:path w="4572000" h="762000">
                <a:moveTo>
                  <a:pt x="1143000" y="0"/>
                </a:moveTo>
                <a:lnTo>
                  <a:pt x="0" y="381000"/>
                </a:lnTo>
                <a:lnTo>
                  <a:pt x="1143000" y="762000"/>
                </a:lnTo>
                <a:lnTo>
                  <a:pt x="1143000" y="571500"/>
                </a:lnTo>
                <a:lnTo>
                  <a:pt x="4572000" y="571500"/>
                </a:lnTo>
                <a:lnTo>
                  <a:pt x="4572000" y="190500"/>
                </a:lnTo>
                <a:lnTo>
                  <a:pt x="1143000" y="190500"/>
                </a:lnTo>
                <a:lnTo>
                  <a:pt x="114300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5542" y="3277361"/>
            <a:ext cx="4572000" cy="762000"/>
          </a:xfrm>
          <a:custGeom>
            <a:avLst/>
            <a:gdLst/>
            <a:ahLst/>
            <a:cxnLst/>
            <a:rect l="l" t="t" r="r" b="b"/>
            <a:pathLst>
              <a:path w="4572000" h="762000">
                <a:moveTo>
                  <a:pt x="0" y="381000"/>
                </a:moveTo>
                <a:lnTo>
                  <a:pt x="1143000" y="0"/>
                </a:lnTo>
                <a:lnTo>
                  <a:pt x="1143000" y="190500"/>
                </a:lnTo>
                <a:lnTo>
                  <a:pt x="4572000" y="190500"/>
                </a:lnTo>
                <a:lnTo>
                  <a:pt x="4572000" y="571500"/>
                </a:lnTo>
                <a:lnTo>
                  <a:pt x="1143000" y="571500"/>
                </a:lnTo>
                <a:lnTo>
                  <a:pt x="1143000" y="762000"/>
                </a:lnTo>
                <a:lnTo>
                  <a:pt x="0" y="3810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88719" y="3359607"/>
            <a:ext cx="2667000" cy="294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1285" algn="r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0000"/>
                </a:solidFill>
                <a:latin typeface="Arial Narrow"/>
                <a:cs typeface="Arial Narrow"/>
              </a:rPr>
              <a:t>P=50%+34</a:t>
            </a:r>
            <a:r>
              <a:rPr sz="2400" spc="-6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Narrow"/>
                <a:cs typeface="Arial Narrow"/>
              </a:rPr>
              <a:t>2%=84.2%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</a:pPr>
            <a:endParaRPr sz="2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300">
              <a:latin typeface="Times New Roman"/>
              <a:cs typeface="Times New Roman"/>
            </a:endParaRPr>
          </a:p>
          <a:p>
            <a:pPr marR="99695" algn="r">
              <a:lnSpc>
                <a:spcPct val="100000"/>
              </a:lnSpc>
            </a:pPr>
            <a:r>
              <a:rPr sz="2400" spc="-5" dirty="0">
                <a:latin typeface="Arial Narrow"/>
                <a:cs typeface="Arial Narrow"/>
              </a:rPr>
              <a:t>68.3%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Times New Roman"/>
              <a:cs typeface="Times New Roman"/>
            </a:endParaRPr>
          </a:p>
          <a:p>
            <a:pPr marR="23495" algn="r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Arial Narrow"/>
                <a:cs typeface="Arial Narrow"/>
              </a:rPr>
              <a:t>95.5%</a:t>
            </a:r>
            <a:endParaRPr sz="2400">
              <a:latin typeface="Arial Narrow"/>
              <a:cs typeface="Arial Narrow"/>
            </a:endParaRPr>
          </a:p>
          <a:p>
            <a:pPr marR="5080" algn="r">
              <a:lnSpc>
                <a:spcPct val="100000"/>
              </a:lnSpc>
              <a:spcBef>
                <a:spcPts val="1970"/>
              </a:spcBef>
            </a:pPr>
            <a:r>
              <a:rPr sz="2400" spc="-5" dirty="0">
                <a:latin typeface="Arial Narrow"/>
                <a:cs typeface="Arial Narrow"/>
              </a:rPr>
              <a:t>99.7%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3228" y="2322957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Arial Narrow"/>
                <a:cs typeface="Arial Narrow"/>
              </a:rPr>
              <a:t>68.3/2</a:t>
            </a:r>
            <a:r>
              <a:rPr sz="1800" spc="-45" dirty="0">
                <a:solidFill>
                  <a:srgbClr val="FF0000"/>
                </a:solidFill>
                <a:latin typeface="Arial Narrow"/>
                <a:cs typeface="Arial Narrow"/>
              </a:rPr>
              <a:t> </a:t>
            </a:r>
            <a:r>
              <a:rPr sz="1800" dirty="0">
                <a:solidFill>
                  <a:srgbClr val="FF0000"/>
                </a:solidFill>
                <a:latin typeface="Arial Narrow"/>
                <a:cs typeface="Arial Narrow"/>
              </a:rPr>
              <a:t>%</a:t>
            </a:r>
            <a:endParaRPr sz="18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35044" y="2734132"/>
            <a:ext cx="6648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Arial Narrow"/>
                <a:cs typeface="Arial Narrow"/>
              </a:rPr>
              <a:t>=3</a:t>
            </a:r>
            <a:r>
              <a:rPr sz="1800" spc="-15" dirty="0">
                <a:solidFill>
                  <a:srgbClr val="FF0000"/>
                </a:solidFill>
                <a:latin typeface="Arial Narrow"/>
                <a:cs typeface="Arial Narrow"/>
              </a:rPr>
              <a:t>4</a:t>
            </a:r>
            <a:r>
              <a:rPr sz="1800" dirty="0">
                <a:solidFill>
                  <a:srgbClr val="FF0000"/>
                </a:solidFill>
                <a:latin typeface="Arial Narrow"/>
                <a:cs typeface="Arial Narrow"/>
              </a:rPr>
              <a:t>.</a:t>
            </a:r>
            <a:r>
              <a:rPr sz="1800" spc="-10" dirty="0">
                <a:solidFill>
                  <a:srgbClr val="FF0000"/>
                </a:solidFill>
                <a:latin typeface="Arial Narrow"/>
                <a:cs typeface="Arial Narrow"/>
              </a:rPr>
              <a:t>2</a:t>
            </a:r>
            <a:r>
              <a:rPr sz="1800" dirty="0">
                <a:solidFill>
                  <a:srgbClr val="FF0000"/>
                </a:solidFill>
                <a:latin typeface="Arial Narrow"/>
                <a:cs typeface="Arial Narrow"/>
              </a:rPr>
              <a:t>%</a:t>
            </a:r>
            <a:endParaRPr sz="1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716" y="3783805"/>
            <a:ext cx="18351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75"/>
              </a:lnSpc>
            </a:pPr>
            <a:r>
              <a:rPr sz="1600" spc="15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60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5104384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>
              <a:lnSpc>
                <a:spcPct val="100000"/>
              </a:lnSpc>
              <a:spcBef>
                <a:spcPts val="375"/>
              </a:spcBef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533400" y="3544823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33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隶书"/>
                <a:cs typeface="隶书"/>
              </a:rPr>
              <a:t>预留分析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12143"/>
            <a:ext cx="1821180" cy="145097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32740" indent="-320040">
              <a:lnSpc>
                <a:spcPct val="150000"/>
              </a:lnSpc>
              <a:spcBef>
                <a:spcPts val="83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应急预留</a:t>
            </a:r>
          </a:p>
          <a:p>
            <a:pPr marL="332740" indent="-320040">
              <a:lnSpc>
                <a:spcPct val="150000"/>
              </a:lnSpc>
              <a:spcBef>
                <a:spcPts val="70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管理预留</a:t>
            </a:r>
            <a:endParaRPr sz="2800" dirty="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77892" y="5973572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61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应急预留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604899"/>
            <a:ext cx="7959090" cy="1957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应急预留是包含在进度</a:t>
            </a:r>
            <a:r>
              <a:rPr sz="2900" spc="-15" dirty="0">
                <a:latin typeface="华文新魏"/>
                <a:cs typeface="华文新魏"/>
              </a:rPr>
              <a:t>基</a:t>
            </a:r>
            <a:r>
              <a:rPr sz="2900" dirty="0">
                <a:latin typeface="华文新魏"/>
                <a:cs typeface="华文新魏"/>
              </a:rPr>
              <a:t>准中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一段</a:t>
            </a:r>
            <a:r>
              <a:rPr sz="2900" spc="-15" dirty="0">
                <a:latin typeface="华文新魏"/>
                <a:cs typeface="华文新魏"/>
              </a:rPr>
              <a:t>储</a:t>
            </a:r>
            <a:r>
              <a:rPr sz="2900" dirty="0">
                <a:latin typeface="华文新魏"/>
                <a:cs typeface="华文新魏"/>
              </a:rPr>
              <a:t>备时</a:t>
            </a:r>
            <a:r>
              <a:rPr sz="2900" spc="-15" dirty="0">
                <a:latin typeface="华文新魏"/>
                <a:cs typeface="华文新魏"/>
              </a:rPr>
              <a:t>间</a:t>
            </a:r>
            <a:r>
              <a:rPr sz="2900" dirty="0">
                <a:latin typeface="华文新魏"/>
                <a:cs typeface="华文新魏"/>
              </a:rPr>
              <a:t>，  用来应对已经接受的已</a:t>
            </a:r>
            <a:r>
              <a:rPr sz="2900" spc="-15" dirty="0">
                <a:latin typeface="华文新魏"/>
                <a:cs typeface="华文新魏"/>
              </a:rPr>
              <a:t>识</a:t>
            </a:r>
            <a:r>
              <a:rPr sz="2900" dirty="0">
                <a:latin typeface="华文新魏"/>
                <a:cs typeface="华文新魏"/>
              </a:rPr>
              <a:t>别风</a:t>
            </a:r>
            <a:r>
              <a:rPr sz="2900" spc="-5" dirty="0">
                <a:latin typeface="华文新魏"/>
                <a:cs typeface="华文新魏"/>
              </a:rPr>
              <a:t>险</a:t>
            </a:r>
            <a:r>
              <a:rPr sz="2900" dirty="0">
                <a:latin typeface="华文新魏"/>
                <a:cs typeface="华文新魏"/>
              </a:rPr>
              <a:t>,</a:t>
            </a:r>
            <a:r>
              <a:rPr sz="2900" spc="-5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以应对进度方面 的不确定</a:t>
            </a:r>
            <a:r>
              <a:rPr sz="2900" spc="5" dirty="0">
                <a:latin typeface="华文新魏"/>
                <a:cs typeface="华文新魏"/>
              </a:rPr>
              <a:t>性</a:t>
            </a:r>
            <a:r>
              <a:rPr sz="2900" spc="-20" dirty="0">
                <a:latin typeface="华文新魏"/>
                <a:cs typeface="华文新魏"/>
              </a:rPr>
              <a:t> </a:t>
            </a:r>
            <a:r>
              <a:rPr sz="2900" spc="5" dirty="0">
                <a:latin typeface="华文新魏"/>
                <a:cs typeface="华文新魏"/>
              </a:rPr>
              <a:t>。</a:t>
            </a:r>
            <a:endParaRPr sz="2900" dirty="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6346" y="597357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62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管理预留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630" y="1916429"/>
            <a:ext cx="8442960" cy="1377684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90805" marR="76200">
              <a:lnSpc>
                <a:spcPct val="150000"/>
              </a:lnSpc>
              <a:spcBef>
                <a:spcPts val="114"/>
              </a:spcBef>
            </a:pPr>
            <a:r>
              <a:rPr sz="3100" spc="-10" dirty="0">
                <a:latin typeface="华文新魏"/>
                <a:cs typeface="华文新魏"/>
              </a:rPr>
              <a:t>管理预留是为管理控制的目的而特</a:t>
            </a:r>
            <a:r>
              <a:rPr sz="3100" dirty="0">
                <a:latin typeface="华文新魏"/>
                <a:cs typeface="华文新魏"/>
              </a:rPr>
              <a:t>别</a:t>
            </a:r>
            <a:r>
              <a:rPr sz="3100" spc="-10" dirty="0">
                <a:latin typeface="华文新魏"/>
                <a:cs typeface="华文新魏"/>
              </a:rPr>
              <a:t>留出</a:t>
            </a:r>
            <a:r>
              <a:rPr sz="3100" dirty="0">
                <a:latin typeface="华文新魏"/>
                <a:cs typeface="华文新魏"/>
              </a:rPr>
              <a:t>的</a:t>
            </a:r>
            <a:r>
              <a:rPr sz="3100" spc="-5" dirty="0">
                <a:latin typeface="华文新魏"/>
                <a:cs typeface="华文新魏"/>
              </a:rPr>
              <a:t>项 目预</a:t>
            </a:r>
            <a:r>
              <a:rPr sz="3100" dirty="0">
                <a:latin typeface="华文新魏"/>
                <a:cs typeface="华文新魏"/>
              </a:rPr>
              <a:t>算</a:t>
            </a:r>
            <a:r>
              <a:rPr sz="3100" spc="-5" dirty="0">
                <a:latin typeface="华文新魏"/>
                <a:cs typeface="华文新魏"/>
              </a:rPr>
              <a:t>，用</a:t>
            </a:r>
            <a:r>
              <a:rPr sz="3100" dirty="0">
                <a:latin typeface="华文新魏"/>
                <a:cs typeface="华文新魏"/>
              </a:rPr>
              <a:t>来</a:t>
            </a:r>
            <a:r>
              <a:rPr sz="3100" spc="-5" dirty="0">
                <a:latin typeface="华文新魏"/>
                <a:cs typeface="华文新魏"/>
              </a:rPr>
              <a:t>应对</a:t>
            </a:r>
            <a:r>
              <a:rPr sz="3100" dirty="0">
                <a:latin typeface="华文新魏"/>
                <a:cs typeface="华文新魏"/>
              </a:rPr>
              <a:t>项</a:t>
            </a:r>
            <a:r>
              <a:rPr sz="3100" spc="-5" dirty="0">
                <a:latin typeface="华文新魏"/>
                <a:cs typeface="华文新魏"/>
              </a:rPr>
              <a:t>目范</a:t>
            </a:r>
            <a:r>
              <a:rPr sz="3100" dirty="0">
                <a:latin typeface="华文新魏"/>
                <a:cs typeface="华文新魏"/>
              </a:rPr>
              <a:t>围</a:t>
            </a:r>
            <a:r>
              <a:rPr sz="3100" spc="-5" dirty="0">
                <a:latin typeface="华文新魏"/>
                <a:cs typeface="华文新魏"/>
              </a:rPr>
              <a:t>中不</a:t>
            </a:r>
            <a:r>
              <a:rPr sz="3100" dirty="0">
                <a:latin typeface="华文新魏"/>
                <a:cs typeface="华文新魏"/>
              </a:rPr>
              <a:t>可</a:t>
            </a:r>
            <a:r>
              <a:rPr sz="3100" spc="-5" dirty="0">
                <a:latin typeface="华文新魏"/>
                <a:cs typeface="华文新魏"/>
              </a:rPr>
              <a:t>预</a:t>
            </a:r>
            <a:r>
              <a:rPr sz="3100" spc="15" dirty="0">
                <a:latin typeface="华文新魏"/>
                <a:cs typeface="华文新魏"/>
              </a:rPr>
              <a:t>见</a:t>
            </a:r>
            <a:r>
              <a:rPr sz="3100" spc="5" dirty="0">
                <a:latin typeface="华文新魏"/>
                <a:cs typeface="华文新魏"/>
              </a:rPr>
              <a:t>的</a:t>
            </a:r>
            <a:r>
              <a:rPr sz="3100" spc="-5" dirty="0">
                <a:latin typeface="华文新魏"/>
                <a:cs typeface="华文新魏"/>
              </a:rPr>
              <a:t>风险。</a:t>
            </a:r>
            <a:endParaRPr sz="3100" dirty="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5755" y="4649064"/>
            <a:ext cx="19050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50" spc="25" dirty="0">
                <a:solidFill>
                  <a:srgbClr val="93B6D2"/>
                </a:solidFill>
                <a:latin typeface="Wingdings"/>
                <a:cs typeface="Wingdings"/>
              </a:rPr>
              <a:t>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5028184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>
              <a:lnSpc>
                <a:spcPct val="100000"/>
              </a:lnSpc>
              <a:spcBef>
                <a:spcPts val="300"/>
              </a:spcBef>
            </a:pPr>
            <a:r>
              <a:rPr sz="2400" dirty="0"/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827532" y="4436364"/>
            <a:ext cx="577595" cy="533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160731"/>
            <a:ext cx="50158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i="1" dirty="0">
                <a:latin typeface="华文隶书"/>
                <a:cs typeface="华文隶书"/>
              </a:rPr>
              <a:t>Jones</a:t>
            </a:r>
            <a:r>
              <a:rPr dirty="0">
                <a:latin typeface="华文隶书"/>
                <a:cs typeface="华文隶书"/>
              </a:rPr>
              <a:t>的一阶估算准则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477" y="1629917"/>
            <a:ext cx="8153400" cy="1297305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44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spc="5" dirty="0">
                <a:latin typeface="隶书"/>
                <a:cs typeface="隶书"/>
              </a:rPr>
              <a:t>估算项</a:t>
            </a:r>
            <a:r>
              <a:rPr sz="2900" spc="-10" dirty="0">
                <a:latin typeface="隶书"/>
                <a:cs typeface="隶书"/>
              </a:rPr>
              <a:t>目</a:t>
            </a:r>
            <a:r>
              <a:rPr sz="2900" spc="5" dirty="0">
                <a:latin typeface="隶书"/>
                <a:cs typeface="隶书"/>
              </a:rPr>
              <a:t>功能点</a:t>
            </a:r>
            <a:endParaRPr sz="2900">
              <a:latin typeface="隶书"/>
              <a:cs typeface="隶书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隶书"/>
                <a:cs typeface="隶书"/>
              </a:rPr>
              <a:t>从幂次表中选择合适的幂次将功能</a:t>
            </a:r>
            <a:r>
              <a:rPr sz="2900" spc="-10" dirty="0">
                <a:latin typeface="隶书"/>
                <a:cs typeface="隶书"/>
              </a:rPr>
              <a:t>点</a:t>
            </a:r>
            <a:r>
              <a:rPr sz="2900" dirty="0">
                <a:latin typeface="隶书"/>
                <a:cs typeface="隶书"/>
              </a:rPr>
              <a:t>升幂</a:t>
            </a:r>
            <a:endParaRPr sz="2900">
              <a:latin typeface="隶书"/>
              <a:cs typeface="隶书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6587" y="3024187"/>
          <a:ext cx="7875269" cy="37242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92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45185">
                <a:tc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b="1" spc="5" dirty="0">
                          <a:latin typeface="华文新魏"/>
                          <a:cs typeface="华文新魏"/>
                        </a:rPr>
                        <a:t>软件类型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b="1" spc="5" dirty="0">
                          <a:latin typeface="华文新魏"/>
                          <a:cs typeface="华文新魏"/>
                        </a:rPr>
                        <a:t>最优级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5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b="1" spc="5" dirty="0">
                          <a:latin typeface="华文新魏"/>
                          <a:cs typeface="华文新魏"/>
                        </a:rPr>
                        <a:t>平均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6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b="1" spc="5" dirty="0">
                          <a:latin typeface="华文新魏"/>
                          <a:cs typeface="华文新魏"/>
                        </a:rPr>
                        <a:t>最差级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518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spc="-5" dirty="0">
                          <a:latin typeface="华文新魏"/>
                          <a:cs typeface="华文新魏"/>
                        </a:rPr>
                        <a:t>系统软件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0.43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0.45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0.48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51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商业软件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0.41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0.43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0.46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FF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18">
                <a:tc>
                  <a:txBody>
                    <a:bodyPr/>
                    <a:lstStyle/>
                    <a:p>
                      <a:pPr marL="91440" marR="5067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spc="-5" dirty="0">
                          <a:latin typeface="华文新魏"/>
                          <a:cs typeface="华文新魏"/>
                        </a:rPr>
                        <a:t>封装商品软 </a:t>
                      </a:r>
                      <a:r>
                        <a:rPr sz="3600" dirty="0">
                          <a:latin typeface="华文新魏"/>
                          <a:cs typeface="华文新魏"/>
                        </a:rPr>
                        <a:t>件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0.39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0.42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3600" dirty="0">
                          <a:latin typeface="华文新魏"/>
                          <a:cs typeface="华文新魏"/>
                        </a:rPr>
                        <a:t>0.45</a:t>
                      </a:r>
                      <a:endParaRPr sz="3600">
                        <a:latin typeface="华文新魏"/>
                        <a:cs typeface="华文新魏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61341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Jones</a:t>
            </a:r>
            <a:r>
              <a:rPr dirty="0">
                <a:latin typeface="华文隶书"/>
                <a:cs typeface="华文隶书"/>
              </a:rPr>
              <a:t>的一阶估算准则实例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0258" y="1774698"/>
            <a:ext cx="8153400" cy="934719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59"/>
              </a:spcBef>
            </a:pPr>
            <a:r>
              <a:rPr sz="3600" dirty="0">
                <a:latin typeface="隶书"/>
                <a:cs typeface="隶书"/>
              </a:rPr>
              <a:t>如果某平均水平的商业软件，FP=350</a:t>
            </a:r>
            <a:endParaRPr sz="36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3736085"/>
            <a:ext cx="8153400" cy="1108075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75"/>
              </a:spcBef>
            </a:pPr>
            <a:r>
              <a:rPr sz="3500" dirty="0">
                <a:latin typeface="隶书"/>
                <a:cs typeface="隶书"/>
              </a:rPr>
              <a:t>粗略</a:t>
            </a:r>
            <a:r>
              <a:rPr sz="3500" spc="-15" dirty="0">
                <a:latin typeface="隶书"/>
                <a:cs typeface="隶书"/>
              </a:rPr>
              <a:t>的</a:t>
            </a:r>
            <a:r>
              <a:rPr sz="3500" dirty="0">
                <a:latin typeface="隶书"/>
                <a:cs typeface="隶书"/>
              </a:rPr>
              <a:t>进度=</a:t>
            </a:r>
            <a:r>
              <a:rPr sz="3500" spc="-5" dirty="0">
                <a:latin typeface="隶书"/>
                <a:cs typeface="隶书"/>
              </a:rPr>
              <a:t> </a:t>
            </a:r>
            <a:r>
              <a:rPr sz="3500" dirty="0">
                <a:latin typeface="隶书"/>
                <a:cs typeface="隶书"/>
              </a:rPr>
              <a:t>350</a:t>
            </a:r>
            <a:r>
              <a:rPr sz="3450" baseline="25362" dirty="0">
                <a:latin typeface="隶书"/>
                <a:cs typeface="隶书"/>
              </a:rPr>
              <a:t>0.43</a:t>
            </a:r>
            <a:r>
              <a:rPr sz="3500" dirty="0">
                <a:latin typeface="隶书"/>
                <a:cs typeface="隶书"/>
              </a:rPr>
              <a:t>=12月</a:t>
            </a:r>
            <a:endParaRPr sz="35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5755" y="5054448"/>
            <a:ext cx="19050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50" spc="25" dirty="0">
                <a:solidFill>
                  <a:srgbClr val="93B6D2"/>
                </a:solidFill>
                <a:latin typeface="Wingdings"/>
                <a:cs typeface="Wingdings"/>
              </a:rPr>
              <a:t>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5028184" cy="445955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marR="560070" lvl="1" indent="-320675">
              <a:lnSpc>
                <a:spcPts val="3190"/>
              </a:lnSpc>
              <a:spcBef>
                <a:spcPts val="15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 类比估算</a:t>
            </a:r>
          </a:p>
          <a:p>
            <a:pPr marL="652780" lvl="1" indent="-320675">
              <a:lnSpc>
                <a:spcPct val="100000"/>
              </a:lnSpc>
              <a:spcBef>
                <a:spcPts val="15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900683" y="4869179"/>
            <a:ext cx="577596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533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隶书"/>
                <a:cs typeface="隶书"/>
              </a:rPr>
              <a:t>类比估算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604899"/>
            <a:ext cx="7717790" cy="12884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5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以过去类似项目的实际</a:t>
            </a:r>
            <a:r>
              <a:rPr sz="2900" spc="-15" dirty="0">
                <a:latin typeface="华文新魏"/>
                <a:cs typeface="华文新魏"/>
              </a:rPr>
              <a:t>持</a:t>
            </a:r>
            <a:r>
              <a:rPr sz="2900" dirty="0">
                <a:latin typeface="华文新魏"/>
                <a:cs typeface="华文新魏"/>
              </a:rPr>
              <a:t>续时</a:t>
            </a:r>
            <a:r>
              <a:rPr sz="2900" spc="-15" dirty="0">
                <a:latin typeface="华文新魏"/>
                <a:cs typeface="华文新魏"/>
              </a:rPr>
              <a:t>间</a:t>
            </a:r>
            <a:r>
              <a:rPr sz="2900" dirty="0">
                <a:latin typeface="华文新魏"/>
                <a:cs typeface="华文新魏"/>
              </a:rPr>
              <a:t>为依</a:t>
            </a:r>
            <a:r>
              <a:rPr sz="2900" spc="-15" dirty="0">
                <a:latin typeface="华文新魏"/>
                <a:cs typeface="华文新魏"/>
              </a:rPr>
              <a:t>据</a:t>
            </a:r>
            <a:r>
              <a:rPr sz="2900" dirty="0">
                <a:latin typeface="华文新魏"/>
                <a:cs typeface="华文新魏"/>
              </a:rPr>
              <a:t>，来估 算当前项目的持续时间.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68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69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5755" y="5459806"/>
            <a:ext cx="190500" cy="236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50" spc="25" dirty="0">
                <a:solidFill>
                  <a:srgbClr val="93B6D2"/>
                </a:solidFill>
                <a:latin typeface="Wingdings"/>
                <a:cs typeface="Wingdings"/>
              </a:rPr>
              <a:t></a:t>
            </a:r>
            <a:endParaRPr sz="1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4418584" cy="440309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marR="2237105" lvl="1" indent="-320675">
              <a:lnSpc>
                <a:spcPct val="110800"/>
              </a:lnSpc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 </a:t>
            </a:r>
            <a:r>
              <a:rPr sz="2400" spc="-5" dirty="0">
                <a:latin typeface="隶书"/>
                <a:cs typeface="隶书"/>
              </a:rPr>
              <a:t>专家判断</a:t>
            </a:r>
            <a:endParaRPr sz="2400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基于承诺的估计</a:t>
            </a:r>
          </a:p>
        </p:txBody>
      </p:sp>
      <p:sp>
        <p:nvSpPr>
          <p:cNvPr id="7" name="object 7"/>
          <p:cNvSpPr/>
          <p:nvPr/>
        </p:nvSpPr>
        <p:spPr>
          <a:xfrm>
            <a:off x="827532" y="5228844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专家判断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17116"/>
            <a:ext cx="6029960" cy="214884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900" dirty="0">
                <a:latin typeface="华文新魏"/>
                <a:cs typeface="华文新魏"/>
              </a:rPr>
              <a:t>根据下面专业知识而做</a:t>
            </a:r>
            <a:r>
              <a:rPr sz="2900" spc="-15" dirty="0">
                <a:latin typeface="华文新魏"/>
                <a:cs typeface="华文新魏"/>
              </a:rPr>
              <a:t>出</a:t>
            </a:r>
            <a:r>
              <a:rPr sz="2900" dirty="0">
                <a:latin typeface="华文新魏"/>
                <a:cs typeface="华文新魏"/>
              </a:rPr>
              <a:t>的历时估</a:t>
            </a:r>
            <a:r>
              <a:rPr sz="2900" spc="-10" dirty="0">
                <a:latin typeface="华文新魏"/>
                <a:cs typeface="华文新魏"/>
              </a:rPr>
              <a:t>算</a:t>
            </a:r>
            <a:r>
              <a:rPr sz="2900" dirty="0">
                <a:latin typeface="华文新魏"/>
                <a:cs typeface="华文新魏"/>
              </a:rPr>
              <a:t>.</a:t>
            </a:r>
            <a:endParaRPr sz="2900">
              <a:latin typeface="华文新魏"/>
              <a:cs typeface="华文新魏"/>
            </a:endParaRPr>
          </a:p>
          <a:p>
            <a:pPr marL="422275" indent="-410209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22275" algn="l"/>
                <a:tab pos="422909" algn="l"/>
              </a:tabLst>
            </a:pPr>
            <a:r>
              <a:rPr sz="2900" dirty="0">
                <a:latin typeface="华文新魏"/>
                <a:cs typeface="华文新魏"/>
              </a:rPr>
              <a:t>进度计划</a:t>
            </a:r>
            <a:endParaRPr sz="2900">
              <a:latin typeface="华文新魏"/>
              <a:cs typeface="华文新魏"/>
            </a:endParaRPr>
          </a:p>
          <a:p>
            <a:pPr marL="422275" indent="-410209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22275" algn="l"/>
                <a:tab pos="422909" algn="l"/>
              </a:tabLst>
            </a:pPr>
            <a:r>
              <a:rPr sz="2900" dirty="0">
                <a:latin typeface="华文新魏"/>
                <a:cs typeface="华文新魏"/>
              </a:rPr>
              <a:t>有关估算</a:t>
            </a:r>
            <a:endParaRPr sz="2900">
              <a:latin typeface="华文新魏"/>
              <a:cs typeface="华文新魏"/>
            </a:endParaRPr>
          </a:p>
          <a:p>
            <a:pPr marL="422275" indent="-410209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22275" algn="l"/>
                <a:tab pos="422909" algn="l"/>
              </a:tabLst>
            </a:pPr>
            <a:r>
              <a:rPr sz="2900" dirty="0">
                <a:latin typeface="华文新魏"/>
                <a:cs typeface="华文新魏"/>
              </a:rPr>
              <a:t>学</a:t>
            </a:r>
            <a:r>
              <a:rPr sz="2900" spc="-5" dirty="0">
                <a:latin typeface="华文新魏"/>
                <a:cs typeface="华文新魏"/>
              </a:rPr>
              <a:t>科</a:t>
            </a:r>
            <a:r>
              <a:rPr sz="2900" dirty="0">
                <a:latin typeface="华文新魏"/>
                <a:cs typeface="华文新魏"/>
              </a:rPr>
              <a:t>或应</a:t>
            </a:r>
            <a:r>
              <a:rPr sz="2900" spc="-5" dirty="0">
                <a:latin typeface="华文新魏"/>
                <a:cs typeface="华文新魏"/>
              </a:rPr>
              <a:t>用</a:t>
            </a:r>
            <a:r>
              <a:rPr sz="2900" dirty="0">
                <a:latin typeface="华文新魏"/>
                <a:cs typeface="华文新魏"/>
              </a:rPr>
              <a:t>知识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88967" y="5973572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23266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传统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608830"/>
          </a:xfrm>
          <a:custGeom>
            <a:avLst/>
            <a:gdLst/>
            <a:ahLst/>
            <a:cxnLst/>
            <a:rect l="l" t="t" r="r" b="b"/>
            <a:pathLst>
              <a:path w="7772400" h="4608830">
                <a:moveTo>
                  <a:pt x="0" y="4608576"/>
                </a:moveTo>
                <a:lnTo>
                  <a:pt x="7772400" y="4608576"/>
                </a:lnTo>
                <a:lnTo>
                  <a:pt x="7772400" y="0"/>
                </a:lnTo>
                <a:lnTo>
                  <a:pt x="0" y="0"/>
                </a:lnTo>
                <a:lnTo>
                  <a:pt x="0" y="460857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95755" y="5795352"/>
            <a:ext cx="625475" cy="2807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15"/>
              </a:lnSpc>
              <a:tabLst>
                <a:tab pos="320040" algn="l"/>
              </a:tabLst>
            </a:pPr>
            <a:r>
              <a:rPr sz="1650" spc="25" dirty="0">
                <a:solidFill>
                  <a:srgbClr val="93B6D2"/>
                </a:solidFill>
                <a:latin typeface="Wingdings"/>
                <a:cs typeface="Wingdings"/>
              </a:rPr>
              <a:t></a:t>
            </a:r>
            <a:r>
              <a:rPr sz="1650" spc="25" dirty="0">
                <a:solidFill>
                  <a:srgbClr val="93B6D2"/>
                </a:solidFill>
                <a:latin typeface="Times New Roman"/>
                <a:cs typeface="Times New Roman"/>
              </a:rPr>
              <a:t>	</a:t>
            </a:r>
            <a:endParaRPr sz="2400" dirty="0">
              <a:latin typeface="隶书"/>
              <a:cs typeface="隶书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3016" y="1728437"/>
            <a:ext cx="6247384" cy="4441601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4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定额估算法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经验导出模型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CPM(关键路径法估计)</a:t>
            </a:r>
          </a:p>
          <a:p>
            <a:pPr marL="332740" indent="-320040">
              <a:lnSpc>
                <a:spcPct val="100000"/>
              </a:lnSpc>
              <a:spcBef>
                <a:spcPts val="370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pc="5" dirty="0"/>
              <a:t>P</a:t>
            </a:r>
            <a:r>
              <a:rPr dirty="0"/>
              <a:t>ERT</a:t>
            </a:r>
            <a:r>
              <a:rPr spc="-10" dirty="0"/>
              <a:t>(</a:t>
            </a:r>
            <a:r>
              <a:rPr dirty="0"/>
              <a:t>工程评估评审技术)</a:t>
            </a:r>
          </a:p>
          <a:p>
            <a:pPr marL="332740" indent="-320040">
              <a:lnSpc>
                <a:spcPct val="100000"/>
              </a:lnSpc>
              <a:spcBef>
                <a:spcPts val="375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预留分析</a:t>
            </a:r>
          </a:p>
          <a:p>
            <a:pPr marL="332740" indent="-320040">
              <a:lnSpc>
                <a:spcPct val="100000"/>
              </a:lnSpc>
              <a:spcBef>
                <a:spcPts val="384"/>
              </a:spcBef>
              <a:buClr>
                <a:srgbClr val="DD8046"/>
              </a:buClr>
              <a:buSzPct val="59259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dirty="0"/>
              <a:t>其他</a:t>
            </a:r>
          </a:p>
          <a:p>
            <a:pPr marL="652780" lvl="1" indent="-320675">
              <a:lnSpc>
                <a:spcPct val="100000"/>
              </a:lnSpc>
              <a:spcBef>
                <a:spcPts val="30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Jones的一阶估算准则</a:t>
            </a:r>
          </a:p>
          <a:p>
            <a:pPr marL="652780" lvl="1" indent="-320675">
              <a:lnSpc>
                <a:spcPct val="100000"/>
              </a:lnSpc>
              <a:spcBef>
                <a:spcPts val="315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dirty="0">
                <a:latin typeface="隶书"/>
                <a:cs typeface="隶书"/>
              </a:rPr>
              <a:t>类比估算</a:t>
            </a: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sz="2400" spc="-5" dirty="0" err="1">
                <a:latin typeface="隶书"/>
                <a:cs typeface="隶书"/>
              </a:rPr>
              <a:t>专家判断</a:t>
            </a:r>
            <a:endParaRPr lang="en-US" altLang="zh-CN" sz="2400" spc="-5" dirty="0">
              <a:latin typeface="隶书"/>
              <a:cs typeface="隶书"/>
            </a:endParaRPr>
          </a:p>
          <a:p>
            <a:pPr marL="652780" lvl="1" indent="-320675">
              <a:lnSpc>
                <a:spcPct val="100000"/>
              </a:lnSpc>
              <a:spcBef>
                <a:spcPts val="310"/>
              </a:spcBef>
              <a:buClr>
                <a:srgbClr val="93B6D2"/>
              </a:buClr>
              <a:buSzPct val="68750"/>
              <a:buFont typeface="Wingdings"/>
              <a:buChar char=""/>
              <a:tabLst>
                <a:tab pos="652780" algn="l"/>
                <a:tab pos="653415" algn="l"/>
              </a:tabLst>
            </a:pPr>
            <a:r>
              <a:rPr lang="zh-CN" altLang="en-US" sz="2400" b="1" dirty="0"/>
              <a:t>基</a:t>
            </a:r>
            <a:r>
              <a:rPr sz="2400" dirty="0" err="1"/>
              <a:t>于承诺的估计</a:t>
            </a:r>
            <a:endParaRPr sz="2400" dirty="0"/>
          </a:p>
        </p:txBody>
      </p:sp>
      <p:sp>
        <p:nvSpPr>
          <p:cNvPr id="7" name="object 7"/>
          <p:cNvSpPr/>
          <p:nvPr/>
        </p:nvSpPr>
        <p:spPr>
          <a:xfrm>
            <a:off x="858932" y="5743383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50951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基于承诺的进度估算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5682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486" y="1658873"/>
            <a:ext cx="8153400" cy="1295400"/>
          </a:xfrm>
          <a:prstGeom prst="rect">
            <a:avLst/>
          </a:prstGeom>
          <a:ln w="28955">
            <a:solidFill>
              <a:srgbClr val="548AB8"/>
            </a:solidFill>
          </a:ln>
        </p:spPr>
        <p:txBody>
          <a:bodyPr vert="horz" wrap="square" lIns="0" tIns="55879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439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spc="5" dirty="0">
                <a:latin typeface="隶书"/>
                <a:cs typeface="隶书"/>
              </a:rPr>
              <a:t>要求开</a:t>
            </a:r>
            <a:r>
              <a:rPr sz="2900" spc="-20" dirty="0">
                <a:latin typeface="隶书"/>
                <a:cs typeface="隶书"/>
              </a:rPr>
              <a:t>发</a:t>
            </a:r>
            <a:r>
              <a:rPr sz="2900" spc="5" dirty="0">
                <a:latin typeface="隶书"/>
                <a:cs typeface="隶书"/>
              </a:rPr>
              <a:t>人员做</a:t>
            </a:r>
            <a:r>
              <a:rPr sz="2900" spc="-20" dirty="0">
                <a:latin typeface="隶书"/>
                <a:cs typeface="隶书"/>
              </a:rPr>
              <a:t>出</a:t>
            </a:r>
            <a:r>
              <a:rPr sz="2900" spc="5" dirty="0">
                <a:latin typeface="隶书"/>
                <a:cs typeface="隶书"/>
              </a:rPr>
              <a:t>进度承诺</a:t>
            </a:r>
            <a:endParaRPr sz="2900">
              <a:latin typeface="隶书"/>
              <a:cs typeface="隶书"/>
            </a:endParaRPr>
          </a:p>
          <a:p>
            <a:pPr marL="410845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"/>
              <a:tabLst>
                <a:tab pos="410845" algn="l"/>
                <a:tab pos="411480" algn="l"/>
              </a:tabLst>
            </a:pPr>
            <a:r>
              <a:rPr sz="2900" dirty="0">
                <a:latin typeface="隶书"/>
                <a:cs typeface="隶书"/>
              </a:rPr>
              <a:t>不进行</a:t>
            </a:r>
            <a:r>
              <a:rPr sz="2900" spc="-15" dirty="0">
                <a:latin typeface="隶书"/>
                <a:cs typeface="隶书"/>
              </a:rPr>
              <a:t>中</a:t>
            </a:r>
            <a:r>
              <a:rPr sz="2900" dirty="0">
                <a:latin typeface="隶书"/>
                <a:cs typeface="隶书"/>
              </a:rPr>
              <a:t>间的工</a:t>
            </a:r>
            <a:r>
              <a:rPr sz="2900" spc="-15" dirty="0">
                <a:latin typeface="隶书"/>
                <a:cs typeface="隶书"/>
              </a:rPr>
              <a:t>作</a:t>
            </a:r>
            <a:r>
              <a:rPr sz="2900" dirty="0">
                <a:latin typeface="隶书"/>
                <a:cs typeface="隶书"/>
              </a:rPr>
              <a:t>量（规</a:t>
            </a:r>
            <a:r>
              <a:rPr sz="2900" spc="-15" dirty="0">
                <a:latin typeface="隶书"/>
                <a:cs typeface="隶书"/>
              </a:rPr>
              <a:t>模</a:t>
            </a:r>
            <a:r>
              <a:rPr sz="2900" dirty="0">
                <a:latin typeface="隶书"/>
                <a:cs typeface="隶书"/>
              </a:rPr>
              <a:t>）估计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9994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2533" y="3521202"/>
            <a:ext cx="8105140" cy="954405"/>
          </a:xfrm>
          <a:custGeom>
            <a:avLst/>
            <a:gdLst/>
            <a:ahLst/>
            <a:cxnLst/>
            <a:rect l="l" t="t" r="r" b="b"/>
            <a:pathLst>
              <a:path w="8105140" h="954404">
                <a:moveTo>
                  <a:pt x="0" y="954024"/>
                </a:moveTo>
                <a:lnTo>
                  <a:pt x="8104632" y="954024"/>
                </a:lnTo>
                <a:lnTo>
                  <a:pt x="8104632" y="0"/>
                </a:lnTo>
                <a:lnTo>
                  <a:pt x="0" y="0"/>
                </a:lnTo>
                <a:lnTo>
                  <a:pt x="0" y="954024"/>
                </a:lnTo>
                <a:close/>
              </a:path>
            </a:pathLst>
          </a:custGeom>
          <a:ln w="19812">
            <a:solidFill>
              <a:srgbClr val="93B6D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61009" y="3236214"/>
            <a:ext cx="1621790" cy="523240"/>
          </a:xfrm>
          <a:custGeom>
            <a:avLst/>
            <a:gdLst/>
            <a:ahLst/>
            <a:cxnLst/>
            <a:rect l="l" t="t" r="r" b="b"/>
            <a:pathLst>
              <a:path w="1621789" h="523239">
                <a:moveTo>
                  <a:pt x="1621536" y="0"/>
                </a:moveTo>
                <a:lnTo>
                  <a:pt x="0" y="0"/>
                </a:lnTo>
                <a:lnTo>
                  <a:pt x="0" y="522731"/>
                </a:lnTo>
                <a:lnTo>
                  <a:pt x="162153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7387" y="3212592"/>
            <a:ext cx="1668780" cy="570230"/>
          </a:xfrm>
          <a:custGeom>
            <a:avLst/>
            <a:gdLst/>
            <a:ahLst/>
            <a:cxnLst/>
            <a:rect l="l" t="t" r="r" b="b"/>
            <a:pathLst>
              <a:path w="1668780" h="570229">
                <a:moveTo>
                  <a:pt x="1645158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546354"/>
                </a:lnTo>
                <a:lnTo>
                  <a:pt x="1856" y="555563"/>
                </a:lnTo>
                <a:lnTo>
                  <a:pt x="6919" y="563070"/>
                </a:lnTo>
                <a:lnTo>
                  <a:pt x="14428" y="568124"/>
                </a:lnTo>
                <a:lnTo>
                  <a:pt x="23621" y="569976"/>
                </a:lnTo>
                <a:lnTo>
                  <a:pt x="1645158" y="569976"/>
                </a:lnTo>
                <a:lnTo>
                  <a:pt x="1654367" y="568124"/>
                </a:lnTo>
                <a:lnTo>
                  <a:pt x="1661874" y="563070"/>
                </a:lnTo>
                <a:lnTo>
                  <a:pt x="1666928" y="555563"/>
                </a:lnTo>
                <a:lnTo>
                  <a:pt x="1667197" y="554228"/>
                </a:lnTo>
                <a:lnTo>
                  <a:pt x="19278" y="554228"/>
                </a:lnTo>
                <a:lnTo>
                  <a:pt x="15748" y="550672"/>
                </a:lnTo>
                <a:lnTo>
                  <a:pt x="15748" y="19304"/>
                </a:lnTo>
                <a:lnTo>
                  <a:pt x="19278" y="15748"/>
                </a:lnTo>
                <a:lnTo>
                  <a:pt x="1667197" y="15748"/>
                </a:lnTo>
                <a:lnTo>
                  <a:pt x="1666928" y="14412"/>
                </a:lnTo>
                <a:lnTo>
                  <a:pt x="1661874" y="6905"/>
                </a:lnTo>
                <a:lnTo>
                  <a:pt x="1654367" y="1851"/>
                </a:lnTo>
                <a:lnTo>
                  <a:pt x="1645158" y="0"/>
                </a:lnTo>
                <a:close/>
              </a:path>
              <a:path w="1668780" h="570229">
                <a:moveTo>
                  <a:pt x="1668780" y="546354"/>
                </a:moveTo>
                <a:lnTo>
                  <a:pt x="1653032" y="546354"/>
                </a:lnTo>
                <a:lnTo>
                  <a:pt x="1653032" y="550672"/>
                </a:lnTo>
                <a:lnTo>
                  <a:pt x="1649476" y="554228"/>
                </a:lnTo>
                <a:lnTo>
                  <a:pt x="1667197" y="554228"/>
                </a:lnTo>
                <a:lnTo>
                  <a:pt x="1668780" y="546354"/>
                </a:lnTo>
                <a:close/>
              </a:path>
              <a:path w="1668780" h="570229">
                <a:moveTo>
                  <a:pt x="1645158" y="23622"/>
                </a:moveTo>
                <a:lnTo>
                  <a:pt x="23621" y="23622"/>
                </a:lnTo>
                <a:lnTo>
                  <a:pt x="23621" y="546354"/>
                </a:lnTo>
                <a:lnTo>
                  <a:pt x="1645158" y="546354"/>
                </a:lnTo>
                <a:lnTo>
                  <a:pt x="1645158" y="23622"/>
                </a:lnTo>
                <a:close/>
              </a:path>
              <a:path w="1668780" h="570229">
                <a:moveTo>
                  <a:pt x="1653032" y="23622"/>
                </a:moveTo>
                <a:lnTo>
                  <a:pt x="1645158" y="23622"/>
                </a:lnTo>
                <a:lnTo>
                  <a:pt x="1645158" y="546354"/>
                </a:lnTo>
                <a:lnTo>
                  <a:pt x="1653032" y="546354"/>
                </a:lnTo>
                <a:lnTo>
                  <a:pt x="1653032" y="23622"/>
                </a:lnTo>
                <a:close/>
              </a:path>
              <a:path w="1668780" h="570229">
                <a:moveTo>
                  <a:pt x="1667197" y="15748"/>
                </a:moveTo>
                <a:lnTo>
                  <a:pt x="1649476" y="15748"/>
                </a:lnTo>
                <a:lnTo>
                  <a:pt x="1653032" y="19304"/>
                </a:lnTo>
                <a:lnTo>
                  <a:pt x="1653032" y="23622"/>
                </a:lnTo>
                <a:lnTo>
                  <a:pt x="1668780" y="23622"/>
                </a:lnTo>
                <a:lnTo>
                  <a:pt x="1667197" y="157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1009" y="3236214"/>
            <a:ext cx="1621790" cy="523240"/>
          </a:xfrm>
          <a:custGeom>
            <a:avLst/>
            <a:gdLst/>
            <a:ahLst/>
            <a:cxnLst/>
            <a:rect l="l" t="t" r="r" b="b"/>
            <a:pathLst>
              <a:path w="1621789" h="523239">
                <a:moveTo>
                  <a:pt x="0" y="522731"/>
                </a:moveTo>
                <a:lnTo>
                  <a:pt x="1621536" y="522731"/>
                </a:lnTo>
                <a:lnTo>
                  <a:pt x="1621536" y="0"/>
                </a:lnTo>
                <a:lnTo>
                  <a:pt x="0" y="0"/>
                </a:lnTo>
                <a:lnTo>
                  <a:pt x="0" y="522731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7387" y="3212592"/>
            <a:ext cx="1668780" cy="570230"/>
          </a:xfrm>
          <a:custGeom>
            <a:avLst/>
            <a:gdLst/>
            <a:ahLst/>
            <a:cxnLst/>
            <a:rect l="l" t="t" r="r" b="b"/>
            <a:pathLst>
              <a:path w="1668780" h="570229">
                <a:moveTo>
                  <a:pt x="1645158" y="0"/>
                </a:moveTo>
                <a:lnTo>
                  <a:pt x="23621" y="0"/>
                </a:lnTo>
                <a:lnTo>
                  <a:pt x="14428" y="1851"/>
                </a:lnTo>
                <a:lnTo>
                  <a:pt x="6919" y="6905"/>
                </a:lnTo>
                <a:lnTo>
                  <a:pt x="1856" y="14412"/>
                </a:lnTo>
                <a:lnTo>
                  <a:pt x="0" y="23622"/>
                </a:lnTo>
                <a:lnTo>
                  <a:pt x="0" y="546354"/>
                </a:lnTo>
                <a:lnTo>
                  <a:pt x="1856" y="555563"/>
                </a:lnTo>
                <a:lnTo>
                  <a:pt x="6919" y="563070"/>
                </a:lnTo>
                <a:lnTo>
                  <a:pt x="14428" y="568124"/>
                </a:lnTo>
                <a:lnTo>
                  <a:pt x="23621" y="569976"/>
                </a:lnTo>
                <a:lnTo>
                  <a:pt x="1645158" y="569976"/>
                </a:lnTo>
                <a:lnTo>
                  <a:pt x="1654367" y="568124"/>
                </a:lnTo>
                <a:lnTo>
                  <a:pt x="1661874" y="563070"/>
                </a:lnTo>
                <a:lnTo>
                  <a:pt x="1666928" y="555563"/>
                </a:lnTo>
                <a:lnTo>
                  <a:pt x="1667197" y="554228"/>
                </a:lnTo>
                <a:lnTo>
                  <a:pt x="19278" y="554228"/>
                </a:lnTo>
                <a:lnTo>
                  <a:pt x="15748" y="550672"/>
                </a:lnTo>
                <a:lnTo>
                  <a:pt x="15748" y="19304"/>
                </a:lnTo>
                <a:lnTo>
                  <a:pt x="19278" y="15748"/>
                </a:lnTo>
                <a:lnTo>
                  <a:pt x="1667197" y="15748"/>
                </a:lnTo>
                <a:lnTo>
                  <a:pt x="1666928" y="14412"/>
                </a:lnTo>
                <a:lnTo>
                  <a:pt x="1661874" y="6905"/>
                </a:lnTo>
                <a:lnTo>
                  <a:pt x="1654367" y="1851"/>
                </a:lnTo>
                <a:lnTo>
                  <a:pt x="1645158" y="0"/>
                </a:lnTo>
                <a:close/>
              </a:path>
              <a:path w="1668780" h="570229">
                <a:moveTo>
                  <a:pt x="1667197" y="15748"/>
                </a:moveTo>
                <a:lnTo>
                  <a:pt x="1649476" y="15748"/>
                </a:lnTo>
                <a:lnTo>
                  <a:pt x="1653032" y="19304"/>
                </a:lnTo>
                <a:lnTo>
                  <a:pt x="1653032" y="550672"/>
                </a:lnTo>
                <a:lnTo>
                  <a:pt x="1649476" y="554228"/>
                </a:lnTo>
                <a:lnTo>
                  <a:pt x="1667197" y="554228"/>
                </a:lnTo>
                <a:lnTo>
                  <a:pt x="1668780" y="546354"/>
                </a:lnTo>
                <a:lnTo>
                  <a:pt x="1668780" y="23622"/>
                </a:lnTo>
                <a:lnTo>
                  <a:pt x="1667197" y="15748"/>
                </a:lnTo>
                <a:close/>
              </a:path>
              <a:path w="1668780" h="570229">
                <a:moveTo>
                  <a:pt x="1637284" y="31496"/>
                </a:moveTo>
                <a:lnTo>
                  <a:pt x="31496" y="31496"/>
                </a:lnTo>
                <a:lnTo>
                  <a:pt x="31496" y="538480"/>
                </a:lnTo>
                <a:lnTo>
                  <a:pt x="1637284" y="538480"/>
                </a:lnTo>
                <a:lnTo>
                  <a:pt x="1637284" y="522732"/>
                </a:lnTo>
                <a:lnTo>
                  <a:pt x="47243" y="522732"/>
                </a:lnTo>
                <a:lnTo>
                  <a:pt x="47243" y="47244"/>
                </a:lnTo>
                <a:lnTo>
                  <a:pt x="1637284" y="47244"/>
                </a:lnTo>
                <a:lnTo>
                  <a:pt x="1637284" y="31496"/>
                </a:lnTo>
                <a:close/>
              </a:path>
              <a:path w="1668780" h="570229">
                <a:moveTo>
                  <a:pt x="1637284" y="47244"/>
                </a:moveTo>
                <a:lnTo>
                  <a:pt x="1621536" y="47244"/>
                </a:lnTo>
                <a:lnTo>
                  <a:pt x="1621536" y="522732"/>
                </a:lnTo>
                <a:lnTo>
                  <a:pt x="1637284" y="522732"/>
                </a:lnTo>
                <a:lnTo>
                  <a:pt x="1637284" y="4724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61009" y="3074796"/>
            <a:ext cx="5561330" cy="132842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520"/>
              </a:spcBef>
            </a:pPr>
            <a:r>
              <a:rPr sz="2800" b="1" spc="-5" dirty="0">
                <a:solidFill>
                  <a:srgbClr val="FFFFFF"/>
                </a:solidFill>
                <a:latin typeface="微软雅黑"/>
                <a:cs typeface="微软雅黑"/>
              </a:rPr>
              <a:t>主要优点</a:t>
            </a:r>
            <a:endParaRPr sz="2800">
              <a:latin typeface="微软雅黑"/>
              <a:cs typeface="微软雅黑"/>
            </a:endParaRPr>
          </a:p>
          <a:p>
            <a:pPr marL="663575" indent="-572135">
              <a:lnSpc>
                <a:spcPct val="100000"/>
              </a:lnSpc>
              <a:spcBef>
                <a:spcPts val="1635"/>
              </a:spcBef>
              <a:buFont typeface="Wingdings"/>
              <a:buChar char=""/>
              <a:tabLst>
                <a:tab pos="663575" algn="l"/>
                <a:tab pos="664210" algn="l"/>
              </a:tabLst>
            </a:pPr>
            <a:r>
              <a:rPr sz="3200" dirty="0">
                <a:latin typeface="华文新魏"/>
                <a:cs typeface="华文新魏"/>
              </a:rPr>
              <a:t>有利于开发者对进度的</a:t>
            </a:r>
            <a:r>
              <a:rPr sz="3200" spc="-15" dirty="0">
                <a:latin typeface="华文新魏"/>
                <a:cs typeface="华文新魏"/>
              </a:rPr>
              <a:t>关</a:t>
            </a:r>
            <a:r>
              <a:rPr sz="3200" dirty="0">
                <a:latin typeface="华文新魏"/>
                <a:cs typeface="华文新魏"/>
              </a:rPr>
              <a:t>注</a:t>
            </a:r>
            <a:endParaRPr sz="32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敏捷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07727"/>
            <a:ext cx="3547110" cy="1775807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50000"/>
              </a:lnSpc>
              <a:spcBef>
                <a:spcPts val="805"/>
              </a:spcBef>
              <a:buClr>
                <a:srgbClr val="DD8046"/>
              </a:buClr>
              <a:buSzPct val="59722"/>
              <a:buFont typeface="Wingdings"/>
              <a:buChar char="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开发速度稳定前</a:t>
            </a:r>
          </a:p>
          <a:p>
            <a:pPr marL="332740" indent="-320040">
              <a:lnSpc>
                <a:spcPct val="150000"/>
              </a:lnSpc>
              <a:spcBef>
                <a:spcPts val="705"/>
              </a:spcBef>
              <a:buClr>
                <a:srgbClr val="DD8046"/>
              </a:buClr>
              <a:buSzPct val="59722"/>
              <a:buFont typeface="Wingdings"/>
              <a:buChar char=""/>
              <a:tabLst>
                <a:tab pos="332740" algn="l"/>
              </a:tabLst>
            </a:pPr>
            <a:r>
              <a:rPr sz="3600" spc="-5" dirty="0">
                <a:latin typeface="华文新魏"/>
                <a:cs typeface="华文新魏"/>
              </a:rPr>
              <a:t>开</a:t>
            </a:r>
            <a:r>
              <a:rPr sz="3600" dirty="0">
                <a:latin typeface="华文新魏"/>
                <a:cs typeface="华文新魏"/>
              </a:rPr>
              <a:t>发</a:t>
            </a:r>
            <a:r>
              <a:rPr sz="3600" spc="-5" dirty="0">
                <a:latin typeface="华文新魏"/>
                <a:cs typeface="华文新魏"/>
              </a:rPr>
              <a:t>速度稳定</a:t>
            </a:r>
            <a:r>
              <a:rPr sz="3600" dirty="0">
                <a:latin typeface="华文新魏"/>
                <a:cs typeface="华文新魏"/>
              </a:rPr>
              <a:t>后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469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开</a:t>
            </a:r>
            <a:r>
              <a:rPr spc="-5" dirty="0">
                <a:latin typeface="华文隶书"/>
                <a:cs typeface="华文隶书"/>
              </a:rPr>
              <a:t>发</a:t>
            </a:r>
            <a:r>
              <a:rPr dirty="0">
                <a:latin typeface="华文隶书"/>
                <a:cs typeface="华文隶书"/>
              </a:rPr>
              <a:t>速度稳</a:t>
            </a:r>
            <a:r>
              <a:rPr spc="-5" dirty="0">
                <a:latin typeface="华文隶书"/>
                <a:cs typeface="华文隶书"/>
              </a:rPr>
              <a:t>定</a:t>
            </a:r>
            <a:r>
              <a:rPr dirty="0">
                <a:latin typeface="华文隶书"/>
                <a:cs typeface="华文隶书"/>
              </a:rPr>
              <a:t>前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i="1" spc="-80" dirty="0">
                <a:latin typeface="华文隶书"/>
                <a:cs typeface="华文隶书"/>
              </a:rPr>
              <a:t> </a:t>
            </a:r>
            <a:r>
              <a:rPr dirty="0">
                <a:latin typeface="华文隶书"/>
                <a:cs typeface="华文隶书"/>
              </a:rPr>
              <a:t>举手表决</a:t>
            </a:r>
          </a:p>
        </p:txBody>
      </p:sp>
      <p:sp>
        <p:nvSpPr>
          <p:cNvPr id="3" name="object 3"/>
          <p:cNvSpPr/>
          <p:nvPr/>
        </p:nvSpPr>
        <p:spPr>
          <a:xfrm>
            <a:off x="179831" y="1609344"/>
            <a:ext cx="8964295" cy="4479290"/>
          </a:xfrm>
          <a:custGeom>
            <a:avLst/>
            <a:gdLst/>
            <a:ahLst/>
            <a:cxnLst/>
            <a:rect l="l" t="t" r="r" b="b"/>
            <a:pathLst>
              <a:path w="8964295" h="4479290">
                <a:moveTo>
                  <a:pt x="0" y="4479036"/>
                </a:moveTo>
                <a:lnTo>
                  <a:pt x="8964168" y="4479036"/>
                </a:lnTo>
                <a:lnTo>
                  <a:pt x="8964168" y="0"/>
                </a:lnTo>
                <a:lnTo>
                  <a:pt x="0" y="0"/>
                </a:lnTo>
                <a:lnTo>
                  <a:pt x="0" y="4479036"/>
                </a:lnTo>
                <a:close/>
              </a:path>
            </a:pathLst>
          </a:custGeom>
          <a:solidFill>
            <a:srgbClr val="C9DCD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267" y="1523837"/>
            <a:ext cx="8482965" cy="437134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3200" dirty="0">
                <a:latin typeface="华文新魏"/>
                <a:cs typeface="华文新魏"/>
              </a:rPr>
              <a:t>项目经理组织举手表决：</a:t>
            </a:r>
            <a:endParaRPr sz="32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举拳头表示不支</a:t>
            </a:r>
            <a:r>
              <a:rPr sz="3200" spc="5" dirty="0">
                <a:latin typeface="华文新魏"/>
                <a:cs typeface="华文新魏"/>
              </a:rPr>
              <a:t>持，</a:t>
            </a:r>
            <a:endParaRPr sz="32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伸五个手指表示完全支</a:t>
            </a:r>
            <a:r>
              <a:rPr sz="3200" spc="-10" dirty="0">
                <a:latin typeface="华文新魏"/>
                <a:cs typeface="华文新魏"/>
              </a:rPr>
              <a:t>持</a:t>
            </a:r>
            <a:r>
              <a:rPr sz="3200" dirty="0">
                <a:latin typeface="华文新魏"/>
                <a:cs typeface="华文新魏"/>
              </a:rPr>
              <a:t>，</a:t>
            </a:r>
            <a:endParaRPr sz="3200">
              <a:latin typeface="华文新魏"/>
              <a:cs typeface="华文新魏"/>
            </a:endParaRPr>
          </a:p>
          <a:p>
            <a:pPr marL="332740" marR="6985" indent="-320040" algn="just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伸出</a:t>
            </a:r>
            <a:r>
              <a:rPr sz="3200" spc="5" dirty="0">
                <a:latin typeface="华文新魏"/>
                <a:cs typeface="华文新魏"/>
              </a:rPr>
              <a:t>三个以下手指的团</a:t>
            </a:r>
            <a:r>
              <a:rPr sz="3200" spc="-10" dirty="0">
                <a:latin typeface="华文新魏"/>
                <a:cs typeface="华文新魏"/>
              </a:rPr>
              <a:t>队</a:t>
            </a:r>
            <a:r>
              <a:rPr sz="3200" spc="5" dirty="0">
                <a:latin typeface="华文新魏"/>
                <a:cs typeface="华文新魏"/>
              </a:rPr>
              <a:t>成员</a:t>
            </a:r>
            <a:r>
              <a:rPr sz="3200" spc="-10" dirty="0">
                <a:latin typeface="华文新魏"/>
                <a:cs typeface="华文新魏"/>
              </a:rPr>
              <a:t>有</a:t>
            </a:r>
            <a:r>
              <a:rPr sz="3200" spc="5" dirty="0">
                <a:latin typeface="华文新魏"/>
                <a:cs typeface="华文新魏"/>
              </a:rPr>
              <a:t>机会</a:t>
            </a:r>
            <a:r>
              <a:rPr sz="3200" spc="-35" dirty="0">
                <a:latin typeface="华文新魏"/>
                <a:cs typeface="华文新魏"/>
              </a:rPr>
              <a:t>与</a:t>
            </a:r>
            <a:r>
              <a:rPr sz="3200" dirty="0">
                <a:latin typeface="华文新魏"/>
                <a:cs typeface="华文新魏"/>
              </a:rPr>
              <a:t>团队讨 论其反对意见，</a:t>
            </a:r>
            <a:endParaRPr sz="3200">
              <a:latin typeface="华文新魏"/>
              <a:cs typeface="华文新魏"/>
            </a:endParaRPr>
          </a:p>
          <a:p>
            <a:pPr marL="332740" marR="5080" indent="-320040" algn="just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华文新魏"/>
                <a:cs typeface="华文新魏"/>
              </a:rPr>
              <a:t>不断进行举手表</a:t>
            </a:r>
            <a:r>
              <a:rPr sz="3200" spc="-5" dirty="0">
                <a:latin typeface="华文新魏"/>
                <a:cs typeface="华文新魏"/>
              </a:rPr>
              <a:t>决</a:t>
            </a:r>
            <a:r>
              <a:rPr sz="3200" dirty="0">
                <a:latin typeface="华文新魏"/>
                <a:cs typeface="华文新魏"/>
              </a:rPr>
              <a:t>，直</a:t>
            </a:r>
            <a:r>
              <a:rPr sz="3200" spc="-15" dirty="0">
                <a:latin typeface="华文新魏"/>
                <a:cs typeface="华文新魏"/>
              </a:rPr>
              <a:t>到</a:t>
            </a:r>
            <a:r>
              <a:rPr sz="3200" dirty="0">
                <a:latin typeface="华文新魏"/>
                <a:cs typeface="华文新魏"/>
              </a:rPr>
              <a:t>整个团队达成共识（ 所有人都伸出三个以上</a:t>
            </a:r>
            <a:r>
              <a:rPr sz="3200" spc="-15" dirty="0">
                <a:latin typeface="华文新魏"/>
                <a:cs typeface="华文新魏"/>
              </a:rPr>
              <a:t>手</a:t>
            </a:r>
            <a:r>
              <a:rPr sz="3200" dirty="0">
                <a:latin typeface="华文新魏"/>
                <a:cs typeface="华文新魏"/>
              </a:rPr>
              <a:t>指）</a:t>
            </a:r>
            <a:r>
              <a:rPr sz="3200" spc="-15" dirty="0">
                <a:latin typeface="华文新魏"/>
                <a:cs typeface="华文新魏"/>
              </a:rPr>
              <a:t>或</a:t>
            </a:r>
            <a:r>
              <a:rPr sz="3200" dirty="0">
                <a:latin typeface="华文新魏"/>
                <a:cs typeface="华文新魏"/>
              </a:rPr>
              <a:t>同意</a:t>
            </a:r>
            <a:r>
              <a:rPr sz="3200" spc="-15" dirty="0">
                <a:latin typeface="华文新魏"/>
                <a:cs typeface="华文新魏"/>
              </a:rPr>
              <a:t>进</a:t>
            </a:r>
            <a:r>
              <a:rPr sz="3200" dirty="0">
                <a:latin typeface="华文新魏"/>
                <a:cs typeface="华文新魏"/>
              </a:rPr>
              <a:t>入下一 个决定。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3915" y="62673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74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609590" algn="l"/>
              </a:tabLst>
            </a:pPr>
            <a:r>
              <a:rPr dirty="0">
                <a:latin typeface="华文隶书"/>
                <a:cs typeface="华文隶书"/>
              </a:rPr>
              <a:t>历时估算的基本方法</a:t>
            </a:r>
            <a:r>
              <a:rPr spc="-2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-	</a:t>
            </a:r>
            <a:r>
              <a:rPr dirty="0">
                <a:latin typeface="华文隶书"/>
                <a:cs typeface="华文隶书"/>
              </a:rPr>
              <a:t>敏捷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06523"/>
            <a:ext cx="5141595" cy="17983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9722"/>
              <a:buFont typeface="Wingdings"/>
              <a:buChar char=""/>
              <a:tabLst>
                <a:tab pos="332740" algn="l"/>
              </a:tabLst>
            </a:pPr>
            <a:r>
              <a:rPr sz="3600" dirty="0">
                <a:latin typeface="华文新魏"/>
                <a:cs typeface="华文新魏"/>
              </a:rPr>
              <a:t>开发速度稳定后</a:t>
            </a:r>
            <a:endParaRPr sz="3600">
              <a:latin typeface="华文新魏"/>
              <a:cs typeface="华文新魏"/>
            </a:endParaRPr>
          </a:p>
          <a:p>
            <a:pPr marL="652145" lvl="1" indent="-320040">
              <a:lnSpc>
                <a:spcPct val="100000"/>
              </a:lnSpc>
              <a:spcBef>
                <a:spcPts val="640"/>
              </a:spcBef>
              <a:buClr>
                <a:srgbClr val="93B6D2"/>
              </a:buClr>
              <a:buSzPct val="70312"/>
              <a:buFont typeface="Wingdings"/>
              <a:buChar char=""/>
              <a:tabLst>
                <a:tab pos="652780" algn="l"/>
              </a:tabLst>
            </a:pPr>
            <a:r>
              <a:rPr sz="3200" dirty="0">
                <a:latin typeface="华文新魏"/>
                <a:cs typeface="华文新魏"/>
              </a:rPr>
              <a:t>基于故事点生产率的估算</a:t>
            </a:r>
            <a:endParaRPr sz="3200">
              <a:latin typeface="华文新魏"/>
              <a:cs typeface="华文新魏"/>
            </a:endParaRPr>
          </a:p>
          <a:p>
            <a:pPr marL="652145" lvl="1" indent="-32004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70312"/>
              <a:buFont typeface="Wingdings"/>
              <a:buChar char=""/>
              <a:tabLst>
                <a:tab pos="652780" algn="l"/>
              </a:tabLst>
            </a:pPr>
            <a:r>
              <a:rPr sz="3200" dirty="0">
                <a:latin typeface="华文新魏"/>
                <a:cs typeface="华文新魏"/>
              </a:rPr>
              <a:t>基于迭代生产率的估算</a:t>
            </a:r>
            <a:endParaRPr sz="32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75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331977"/>
            <a:ext cx="829183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基于</a:t>
            </a:r>
            <a:r>
              <a:rPr spc="-5" dirty="0">
                <a:latin typeface="华文新魏"/>
                <a:cs typeface="华文新魏"/>
              </a:rPr>
              <a:t>Story</a:t>
            </a:r>
            <a:r>
              <a:rPr spc="-20" dirty="0">
                <a:latin typeface="华文新魏"/>
                <a:cs typeface="华文新魏"/>
              </a:rPr>
              <a:t> </a:t>
            </a:r>
            <a:r>
              <a:rPr spc="-5" dirty="0">
                <a:latin typeface="华文新魏"/>
                <a:cs typeface="华文新魏"/>
              </a:rPr>
              <a:t>Point</a:t>
            </a:r>
            <a:r>
              <a:rPr dirty="0">
                <a:latin typeface="华文新魏"/>
                <a:cs typeface="华文新魏"/>
              </a:rPr>
              <a:t>生产率的历时估算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554" y="1774698"/>
            <a:ext cx="8516620" cy="2546985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2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如果</a:t>
            </a:r>
            <a:endParaRPr sz="2900">
              <a:latin typeface="华文新魏"/>
              <a:cs typeface="华文新魏"/>
            </a:endParaRPr>
          </a:p>
          <a:p>
            <a:pPr marL="730885" lvl="1" indent="-273050">
              <a:lnSpc>
                <a:spcPct val="100000"/>
              </a:lnSpc>
              <a:spcBef>
                <a:spcPts val="625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731520" algn="l"/>
              </a:tabLst>
            </a:pPr>
            <a:r>
              <a:rPr sz="2600" dirty="0">
                <a:latin typeface="华文新魏"/>
                <a:cs typeface="华文新魏"/>
              </a:rPr>
              <a:t>平均生产率:</a:t>
            </a:r>
            <a:r>
              <a:rPr sz="2600" spc="-30" dirty="0">
                <a:latin typeface="华文新魏"/>
                <a:cs typeface="华文新魏"/>
              </a:rPr>
              <a:t> </a:t>
            </a:r>
            <a:r>
              <a:rPr sz="2600" spc="-10" dirty="0">
                <a:latin typeface="华文新魏"/>
                <a:cs typeface="华文新魏"/>
              </a:rPr>
              <a:t>3</a:t>
            </a:r>
            <a:r>
              <a:rPr sz="2600" dirty="0">
                <a:latin typeface="华文新魏"/>
                <a:cs typeface="华文新魏"/>
              </a:rPr>
              <a:t>天/Story</a:t>
            </a:r>
            <a:r>
              <a:rPr sz="2600" spc="5" dirty="0">
                <a:latin typeface="华文新魏"/>
                <a:cs typeface="华文新魏"/>
              </a:rPr>
              <a:t> </a:t>
            </a:r>
            <a:r>
              <a:rPr sz="2600" dirty="0">
                <a:latin typeface="华文新魏"/>
                <a:cs typeface="华文新魏"/>
              </a:rPr>
              <a:t>point</a:t>
            </a:r>
            <a:endParaRPr sz="2600">
              <a:latin typeface="华文新魏"/>
              <a:cs typeface="华文新魏"/>
            </a:endParaRPr>
          </a:p>
          <a:p>
            <a:pPr marL="730885" lvl="1" indent="-27305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9230"/>
              <a:buFont typeface="Wingdings 2"/>
              <a:buChar char=""/>
              <a:tabLst>
                <a:tab pos="731520" algn="l"/>
              </a:tabLst>
            </a:pPr>
            <a:r>
              <a:rPr sz="2600" dirty="0">
                <a:latin typeface="华文新魏"/>
                <a:cs typeface="华文新魏"/>
              </a:rPr>
              <a:t>项目共计:</a:t>
            </a:r>
            <a:r>
              <a:rPr sz="2600" spc="-30" dirty="0">
                <a:latin typeface="华文新魏"/>
                <a:cs typeface="华文新魏"/>
              </a:rPr>
              <a:t> </a:t>
            </a:r>
            <a:r>
              <a:rPr sz="2600" dirty="0">
                <a:latin typeface="华文新魏"/>
                <a:cs typeface="华文新魏"/>
              </a:rPr>
              <a:t>30 Story points，</a:t>
            </a:r>
            <a:endParaRPr sz="2600">
              <a:latin typeface="华文新魏"/>
              <a:cs typeface="华文新魏"/>
            </a:endParaRPr>
          </a:p>
          <a:p>
            <a:pPr marL="410845" indent="-320675">
              <a:lnSpc>
                <a:spcPct val="100000"/>
              </a:lnSpc>
              <a:spcBef>
                <a:spcPts val="67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那么，项目历</a:t>
            </a:r>
            <a:r>
              <a:rPr sz="2900" spc="-5" dirty="0">
                <a:latin typeface="华文新魏"/>
                <a:cs typeface="华文新魏"/>
              </a:rPr>
              <a:t>时</a:t>
            </a:r>
            <a:r>
              <a:rPr sz="2900" dirty="0">
                <a:latin typeface="华文新魏"/>
                <a:cs typeface="华文新魏"/>
              </a:rPr>
              <a:t>=</a:t>
            </a:r>
            <a:r>
              <a:rPr sz="2900" spc="-40" dirty="0">
                <a:latin typeface="华文新魏"/>
                <a:cs typeface="华文新魏"/>
              </a:rPr>
              <a:t> </a:t>
            </a:r>
            <a:r>
              <a:rPr sz="2900" spc="-5" dirty="0">
                <a:latin typeface="华文新魏"/>
                <a:cs typeface="华文新魏"/>
              </a:rPr>
              <a:t>90</a:t>
            </a:r>
            <a:r>
              <a:rPr sz="2900" dirty="0">
                <a:latin typeface="华文新魏"/>
                <a:cs typeface="华文新魏"/>
              </a:rPr>
              <a:t>工作日</a:t>
            </a:r>
            <a:r>
              <a:rPr sz="2900" spc="-5" dirty="0">
                <a:latin typeface="华文新魏"/>
                <a:cs typeface="华文新魏"/>
              </a:rPr>
              <a:t>(</a:t>
            </a:r>
            <a:r>
              <a:rPr sz="2900" dirty="0">
                <a:latin typeface="华文新魏"/>
                <a:cs typeface="华文新魏"/>
              </a:rPr>
              <a:t>大约</a:t>
            </a:r>
            <a:r>
              <a:rPr sz="2900" spc="-5" dirty="0">
                <a:latin typeface="华文新魏"/>
                <a:cs typeface="华文新魏"/>
              </a:rPr>
              <a:t>4-5</a:t>
            </a:r>
            <a:r>
              <a:rPr sz="2900" dirty="0">
                <a:latin typeface="华文新魏"/>
                <a:cs typeface="华文新魏"/>
              </a:rPr>
              <a:t>个</a:t>
            </a:r>
            <a:r>
              <a:rPr sz="2900" spc="-15" dirty="0">
                <a:latin typeface="华文新魏"/>
                <a:cs typeface="华文新魏"/>
              </a:rPr>
              <a:t>月</a:t>
            </a:r>
            <a:r>
              <a:rPr sz="2900" spc="-5" dirty="0">
                <a:latin typeface="华文新魏"/>
                <a:cs typeface="华文新魏"/>
              </a:rPr>
              <a:t>)</a:t>
            </a:r>
            <a:r>
              <a:rPr sz="2900" dirty="0">
                <a:latin typeface="华文新魏"/>
                <a:cs typeface="华文新魏"/>
              </a:rPr>
              <a:t>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1970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639" y="331977"/>
            <a:ext cx="67411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新魏"/>
                <a:cs typeface="华文新魏"/>
              </a:rPr>
              <a:t>基于迭代生产率的历时估算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554" y="1774698"/>
            <a:ext cx="8516620" cy="2546985"/>
          </a:xfrm>
          <a:prstGeom prst="rect">
            <a:avLst/>
          </a:prstGeom>
          <a:ln w="28955">
            <a:solidFill>
              <a:srgbClr val="006FC0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12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</a:tabLst>
            </a:pPr>
            <a:r>
              <a:rPr sz="2900" dirty="0">
                <a:latin typeface="华文新魏"/>
                <a:cs typeface="华文新魏"/>
              </a:rPr>
              <a:t>如果</a:t>
            </a:r>
            <a:endParaRPr sz="2900">
              <a:latin typeface="华文新魏"/>
              <a:cs typeface="华文新魏"/>
            </a:endParaRPr>
          </a:p>
          <a:p>
            <a:pPr marL="730885" lvl="1" indent="-27305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8965"/>
              <a:buFont typeface="Wingdings 2"/>
              <a:buChar char=""/>
              <a:tabLst>
                <a:tab pos="731520" algn="l"/>
              </a:tabLst>
            </a:pPr>
            <a:r>
              <a:rPr sz="2900" dirty="0">
                <a:latin typeface="华文新魏"/>
                <a:cs typeface="华文新魏"/>
              </a:rPr>
              <a:t>团队平均</a:t>
            </a:r>
            <a:r>
              <a:rPr sz="2900" spc="-5" dirty="0">
                <a:latin typeface="华文新魏"/>
                <a:cs typeface="华文新魏"/>
              </a:rPr>
              <a:t>50</a:t>
            </a:r>
            <a:r>
              <a:rPr sz="2900" dirty="0">
                <a:latin typeface="华文新魏"/>
                <a:cs typeface="华文新魏"/>
              </a:rPr>
              <a:t>个</a:t>
            </a:r>
            <a:r>
              <a:rPr sz="2900" spc="-5" dirty="0">
                <a:latin typeface="华文新魏"/>
                <a:cs typeface="华文新魏"/>
              </a:rPr>
              <a:t>Story</a:t>
            </a:r>
            <a:r>
              <a:rPr sz="2900" spc="-2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points/迭代</a:t>
            </a:r>
            <a:endParaRPr sz="2900">
              <a:latin typeface="华文新魏"/>
              <a:cs typeface="华文新魏"/>
            </a:endParaRPr>
          </a:p>
          <a:p>
            <a:pPr marL="730885" lvl="1" indent="-27305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965"/>
              <a:buFont typeface="Wingdings 2"/>
              <a:buChar char=""/>
              <a:tabLst>
                <a:tab pos="731520" algn="l"/>
              </a:tabLst>
            </a:pPr>
            <a:r>
              <a:rPr sz="2900" dirty="0">
                <a:latin typeface="华文新魏"/>
                <a:cs typeface="华文新魏"/>
              </a:rPr>
              <a:t>还有500</a:t>
            </a:r>
            <a:r>
              <a:rPr sz="2900" spc="-25" dirty="0">
                <a:latin typeface="华文新魏"/>
                <a:cs typeface="华文新魏"/>
              </a:rPr>
              <a:t> </a:t>
            </a:r>
            <a:r>
              <a:rPr sz="2900" spc="-5" dirty="0">
                <a:latin typeface="华文新魏"/>
                <a:cs typeface="华文新魏"/>
              </a:rPr>
              <a:t>Story</a:t>
            </a:r>
            <a:r>
              <a:rPr sz="2900" spc="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points</a:t>
            </a:r>
            <a:endParaRPr sz="2900">
              <a:latin typeface="华文新魏"/>
              <a:cs typeface="华文新魏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93B6D2"/>
              </a:buClr>
              <a:buFont typeface="Wingdings 2"/>
              <a:buChar char=""/>
            </a:pPr>
            <a:endParaRPr sz="4150">
              <a:latin typeface="Times New Roman"/>
              <a:cs typeface="Times New Roman"/>
            </a:endParaRPr>
          </a:p>
          <a:p>
            <a:pPr marL="410845" indent="-320675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411480" algn="l"/>
                <a:tab pos="5492750" algn="l"/>
              </a:tabLst>
            </a:pPr>
            <a:r>
              <a:rPr sz="2900" dirty="0">
                <a:latin typeface="华文新魏"/>
                <a:cs typeface="华文新魏"/>
              </a:rPr>
              <a:t>那么，项目大约还需要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历</a:t>
            </a:r>
            <a:r>
              <a:rPr sz="2900" spc="-20" dirty="0">
                <a:latin typeface="华文新魏"/>
                <a:cs typeface="华文新魏"/>
              </a:rPr>
              <a:t>时</a:t>
            </a:r>
            <a:r>
              <a:rPr sz="2900" dirty="0">
                <a:latin typeface="华文新魏"/>
                <a:cs typeface="华文新魏"/>
              </a:rPr>
              <a:t>:	</a:t>
            </a:r>
            <a:r>
              <a:rPr sz="2900" spc="-5" dirty="0">
                <a:latin typeface="华文新魏"/>
                <a:cs typeface="华文新魏"/>
              </a:rPr>
              <a:t>10</a:t>
            </a:r>
            <a:r>
              <a:rPr sz="2900" dirty="0">
                <a:latin typeface="华文新魏"/>
                <a:cs typeface="华文新魏"/>
              </a:rPr>
              <a:t>个迭代。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1970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77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42" y="223265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历时估算方法总结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8965" y="1719833"/>
            <a:ext cx="7772400" cy="3456940"/>
          </a:xfrm>
          <a:custGeom>
            <a:avLst/>
            <a:gdLst/>
            <a:ahLst/>
            <a:cxnLst/>
            <a:rect l="l" t="t" r="r" b="b"/>
            <a:pathLst>
              <a:path w="7772400" h="3456940">
                <a:moveTo>
                  <a:pt x="0" y="3456432"/>
                </a:moveTo>
                <a:lnTo>
                  <a:pt x="7772400" y="3456432"/>
                </a:lnTo>
                <a:lnTo>
                  <a:pt x="7772400" y="0"/>
                </a:lnTo>
                <a:lnTo>
                  <a:pt x="0" y="0"/>
                </a:lnTo>
                <a:lnTo>
                  <a:pt x="0" y="3456432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8965" y="5231129"/>
            <a:ext cx="7772400" cy="1559560"/>
          </a:xfrm>
          <a:custGeom>
            <a:avLst/>
            <a:gdLst/>
            <a:ahLst/>
            <a:cxnLst/>
            <a:rect l="l" t="t" r="r" b="b"/>
            <a:pathLst>
              <a:path w="7772400" h="1559559">
                <a:moveTo>
                  <a:pt x="0" y="1559052"/>
                </a:moveTo>
                <a:lnTo>
                  <a:pt x="7772400" y="1559052"/>
                </a:lnTo>
                <a:lnTo>
                  <a:pt x="7772400" y="0"/>
                </a:lnTo>
                <a:lnTo>
                  <a:pt x="0" y="0"/>
                </a:lnTo>
                <a:lnTo>
                  <a:pt x="0" y="1559052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6639" y="1656552"/>
            <a:ext cx="3698875" cy="504380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2900" spc="5" dirty="0">
                <a:latin typeface="隶书"/>
                <a:cs typeface="隶书"/>
              </a:rPr>
              <a:t>传统估</a:t>
            </a:r>
            <a:r>
              <a:rPr sz="2900" spc="-20" dirty="0">
                <a:latin typeface="隶书"/>
                <a:cs typeface="隶书"/>
              </a:rPr>
              <a:t>算</a:t>
            </a:r>
            <a:r>
              <a:rPr sz="2900" spc="5" dirty="0">
                <a:latin typeface="隶书"/>
                <a:cs typeface="隶书"/>
              </a:rPr>
              <a:t>方</a:t>
            </a:r>
            <a:r>
              <a:rPr sz="2900" dirty="0">
                <a:latin typeface="隶书"/>
                <a:cs typeface="隶书"/>
              </a:rPr>
              <a:t>法: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隶书"/>
                <a:cs typeface="隶书"/>
              </a:rPr>
              <a:t>定额估算法</a:t>
            </a:r>
            <a:endParaRPr sz="24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隶书"/>
                <a:cs typeface="隶书"/>
              </a:rPr>
              <a:t>经验导出模型</a:t>
            </a:r>
            <a:endParaRPr sz="24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隶书"/>
                <a:cs typeface="隶书"/>
              </a:rPr>
              <a:t>CPM(关键路径法估计</a:t>
            </a:r>
            <a:r>
              <a:rPr sz="2400" dirty="0">
                <a:latin typeface="隶书"/>
                <a:cs typeface="隶书"/>
              </a:rPr>
              <a:t>)</a:t>
            </a:r>
            <a:endParaRPr sz="24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隶书"/>
                <a:cs typeface="隶书"/>
              </a:rPr>
              <a:t>PERT</a:t>
            </a:r>
            <a:r>
              <a:rPr sz="2400" spc="-10" dirty="0">
                <a:latin typeface="隶书"/>
                <a:cs typeface="隶书"/>
              </a:rPr>
              <a:t>(</a:t>
            </a:r>
            <a:r>
              <a:rPr sz="2400" dirty="0">
                <a:latin typeface="隶书"/>
                <a:cs typeface="隶书"/>
              </a:rPr>
              <a:t>工程评估评审技术)</a:t>
            </a:r>
            <a:endParaRPr sz="24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隶书"/>
                <a:cs typeface="隶书"/>
              </a:rPr>
              <a:t>基于承诺的进度估计</a:t>
            </a:r>
            <a:endParaRPr sz="24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隶书"/>
                <a:cs typeface="隶书"/>
              </a:rPr>
              <a:t>Jone</a:t>
            </a:r>
            <a:r>
              <a:rPr sz="2400" spc="-10" dirty="0">
                <a:latin typeface="隶书"/>
                <a:cs typeface="隶书"/>
              </a:rPr>
              <a:t>s</a:t>
            </a:r>
            <a:r>
              <a:rPr sz="2400" dirty="0">
                <a:latin typeface="隶书"/>
                <a:cs typeface="隶书"/>
              </a:rPr>
              <a:t>的一阶估算准则</a:t>
            </a:r>
            <a:endParaRPr sz="2400">
              <a:latin typeface="隶书"/>
              <a:cs typeface="隶书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sz="2700" dirty="0">
                <a:latin typeface="隶书"/>
                <a:cs typeface="隶书"/>
              </a:rPr>
              <a:t>敏捷估算方法:</a:t>
            </a:r>
            <a:endParaRPr sz="27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150"/>
              </a:spcBef>
              <a:buClr>
                <a:srgbClr val="DD8046"/>
              </a:buClr>
              <a:buSzPct val="5909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200" dirty="0">
                <a:latin typeface="隶书"/>
                <a:cs typeface="隶书"/>
              </a:rPr>
              <a:t>举</a:t>
            </a:r>
            <a:r>
              <a:rPr sz="2200" spc="-5" dirty="0">
                <a:latin typeface="隶书"/>
                <a:cs typeface="隶书"/>
              </a:rPr>
              <a:t>手表决</a:t>
            </a:r>
            <a:endParaRPr sz="22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185"/>
              </a:spcBef>
              <a:buClr>
                <a:srgbClr val="DD8046"/>
              </a:buClr>
              <a:buSzPct val="5909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200" spc="5" dirty="0">
                <a:latin typeface="隶书"/>
                <a:cs typeface="隶书"/>
              </a:rPr>
              <a:t>基</a:t>
            </a:r>
            <a:r>
              <a:rPr sz="2200" spc="-5" dirty="0">
                <a:latin typeface="隶书"/>
                <a:cs typeface="隶书"/>
              </a:rPr>
              <a:t>于故</a:t>
            </a:r>
            <a:r>
              <a:rPr sz="2200" spc="10" dirty="0">
                <a:latin typeface="隶书"/>
                <a:cs typeface="隶书"/>
              </a:rPr>
              <a:t>事</a:t>
            </a:r>
            <a:r>
              <a:rPr sz="2200" spc="-5" dirty="0">
                <a:latin typeface="隶书"/>
                <a:cs typeface="隶书"/>
              </a:rPr>
              <a:t>点</a:t>
            </a:r>
            <a:r>
              <a:rPr sz="2200" spc="10" dirty="0">
                <a:latin typeface="隶书"/>
                <a:cs typeface="隶书"/>
              </a:rPr>
              <a:t>生</a:t>
            </a:r>
            <a:r>
              <a:rPr sz="2200" spc="-5" dirty="0">
                <a:latin typeface="隶书"/>
                <a:cs typeface="隶书"/>
              </a:rPr>
              <a:t>产率</a:t>
            </a:r>
            <a:r>
              <a:rPr sz="2200" spc="10" dirty="0">
                <a:latin typeface="隶书"/>
                <a:cs typeface="隶书"/>
              </a:rPr>
              <a:t>的</a:t>
            </a:r>
            <a:r>
              <a:rPr sz="2200" spc="-5" dirty="0">
                <a:latin typeface="隶书"/>
                <a:cs typeface="隶书"/>
              </a:rPr>
              <a:t>估算</a:t>
            </a:r>
            <a:endParaRPr sz="22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165"/>
              </a:spcBef>
              <a:buClr>
                <a:srgbClr val="DD8046"/>
              </a:buClr>
              <a:buSzPct val="59090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200" spc="5" dirty="0">
                <a:latin typeface="隶书"/>
                <a:cs typeface="隶书"/>
              </a:rPr>
              <a:t>基</a:t>
            </a:r>
            <a:r>
              <a:rPr sz="2200" spc="-5" dirty="0">
                <a:latin typeface="隶书"/>
                <a:cs typeface="隶书"/>
              </a:rPr>
              <a:t>于迭</a:t>
            </a:r>
            <a:r>
              <a:rPr sz="2200" spc="10" dirty="0">
                <a:latin typeface="隶书"/>
                <a:cs typeface="隶书"/>
              </a:rPr>
              <a:t>代</a:t>
            </a:r>
            <a:r>
              <a:rPr sz="2200" spc="-5" dirty="0">
                <a:latin typeface="隶书"/>
                <a:cs typeface="隶书"/>
              </a:rPr>
              <a:t>生</a:t>
            </a:r>
            <a:r>
              <a:rPr sz="2200" spc="10" dirty="0">
                <a:latin typeface="隶书"/>
                <a:cs typeface="隶书"/>
              </a:rPr>
              <a:t>产</a:t>
            </a:r>
            <a:r>
              <a:rPr sz="2200" spc="-5" dirty="0">
                <a:latin typeface="隶书"/>
                <a:cs typeface="隶书"/>
              </a:rPr>
              <a:t>率的</a:t>
            </a:r>
            <a:r>
              <a:rPr sz="2200" spc="10" dirty="0">
                <a:latin typeface="隶书"/>
                <a:cs typeface="隶书"/>
              </a:rPr>
              <a:t>估</a:t>
            </a:r>
            <a:r>
              <a:rPr sz="2200" spc="-5" dirty="0">
                <a:latin typeface="隶书"/>
                <a:cs typeface="隶书"/>
              </a:rPr>
              <a:t>算</a:t>
            </a:r>
            <a:endParaRPr sz="22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2981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79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62860" y="51563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6523" y="5024628"/>
            <a:ext cx="485140" cy="56578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4668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1155" y="5024628"/>
            <a:ext cx="4628515" cy="56578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1135" rIns="0" bIns="0" rtlCol="0">
            <a:spAutoFit/>
          </a:bodyPr>
          <a:lstStyle/>
          <a:p>
            <a:pPr marR="403860" algn="ctr">
              <a:lnSpc>
                <a:spcPct val="100000"/>
              </a:lnSpc>
              <a:spcBef>
                <a:spcPts val="150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0635" y="441725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3664" y="4267200"/>
            <a:ext cx="50609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9632" y="4267200"/>
            <a:ext cx="4628515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640" rIns="0" bIns="0" rtlCol="0">
            <a:spAutoFit/>
          </a:bodyPr>
          <a:lstStyle/>
          <a:p>
            <a:pPr marL="1173480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项目进度规划模型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24760" y="36504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68423" y="3500628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2867" y="3500628"/>
            <a:ext cx="4630420" cy="60198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进度计划编排</a:t>
            </a:r>
            <a:r>
              <a:rPr sz="1800" b="1" spc="-2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24760" y="285795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8423" y="2708148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72867" y="2708148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5770" algn="ctr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任务历时估算</a:t>
            </a:r>
            <a:r>
              <a:rPr sz="1800" b="1" spc="-2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18664" y="2065149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62327" y="1915667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66772" y="1915667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1315"/>
              </a:spcBef>
            </a:pP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进度管理基本概念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项目进度计划过程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465581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92" y="0"/>
                </a:lnTo>
                <a:lnTo>
                  <a:pt x="79209" y="10187"/>
                </a:lnTo>
                <a:lnTo>
                  <a:pt x="37985" y="37973"/>
                </a:lnTo>
                <a:lnTo>
                  <a:pt x="10191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91" y="1217735"/>
                </a:lnTo>
                <a:lnTo>
                  <a:pt x="37985" y="1258951"/>
                </a:lnTo>
                <a:lnTo>
                  <a:pt x="79209" y="1286736"/>
                </a:lnTo>
                <a:lnTo>
                  <a:pt x="129692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9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147" y="258851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华文仿宋"/>
                <a:cs typeface="华文仿宋"/>
              </a:rPr>
              <a:t>任务定义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6351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246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2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2" y="1258951"/>
                </a:lnTo>
                <a:lnTo>
                  <a:pt x="79188" y="1286736"/>
                </a:lnTo>
                <a:lnTo>
                  <a:pt x="129666" y="1296924"/>
                </a:lnTo>
                <a:lnTo>
                  <a:pt x="2031364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9953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任务关系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3015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8909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67" y="0"/>
                </a:lnTo>
                <a:lnTo>
                  <a:pt x="79188" y="10187"/>
                </a:lnTo>
                <a:lnTo>
                  <a:pt x="37973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3" y="1258951"/>
                </a:lnTo>
                <a:lnTo>
                  <a:pt x="79188" y="1286736"/>
                </a:lnTo>
                <a:lnTo>
                  <a:pt x="129667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6998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历时估算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4122" y="3698366"/>
            <a:ext cx="536575" cy="453390"/>
          </a:xfrm>
          <a:custGeom>
            <a:avLst/>
            <a:gdLst/>
            <a:ahLst/>
            <a:cxnLst/>
            <a:rect l="l" t="t" r="r" b="b"/>
            <a:pathLst>
              <a:path w="536575" h="453389">
                <a:moveTo>
                  <a:pt x="428117" y="0"/>
                </a:moveTo>
                <a:lnTo>
                  <a:pt x="106425" y="1015"/>
                </a:lnTo>
                <a:lnTo>
                  <a:pt x="107315" y="227456"/>
                </a:lnTo>
                <a:lnTo>
                  <a:pt x="0" y="227710"/>
                </a:lnTo>
                <a:lnTo>
                  <a:pt x="268858" y="453262"/>
                </a:lnTo>
                <a:lnTo>
                  <a:pt x="535745" y="226313"/>
                </a:lnTo>
                <a:lnTo>
                  <a:pt x="428878" y="226313"/>
                </a:lnTo>
                <a:lnTo>
                  <a:pt x="428117" y="0"/>
                </a:lnTo>
                <a:close/>
              </a:path>
              <a:path w="536575" h="453389">
                <a:moveTo>
                  <a:pt x="536194" y="225932"/>
                </a:moveTo>
                <a:lnTo>
                  <a:pt x="428878" y="226313"/>
                </a:lnTo>
                <a:lnTo>
                  <a:pt x="535745" y="226313"/>
                </a:lnTo>
                <a:lnTo>
                  <a:pt x="536194" y="225932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5006" y="4365497"/>
            <a:ext cx="2162810" cy="1277620"/>
          </a:xfrm>
          <a:custGeom>
            <a:avLst/>
            <a:gdLst/>
            <a:ahLst/>
            <a:cxnLst/>
            <a:rect l="l" t="t" r="r" b="b"/>
            <a:pathLst>
              <a:path w="2162809" h="1277620">
                <a:moveTo>
                  <a:pt x="2034794" y="0"/>
                </a:moveTo>
                <a:lnTo>
                  <a:pt x="127762" y="0"/>
                </a:lnTo>
                <a:lnTo>
                  <a:pt x="78009" y="10033"/>
                </a:lnTo>
                <a:lnTo>
                  <a:pt x="37401" y="37401"/>
                </a:lnTo>
                <a:lnTo>
                  <a:pt x="10032" y="78009"/>
                </a:lnTo>
                <a:lnTo>
                  <a:pt x="0" y="127762"/>
                </a:lnTo>
                <a:lnTo>
                  <a:pt x="0" y="1149349"/>
                </a:lnTo>
                <a:lnTo>
                  <a:pt x="10033" y="1199102"/>
                </a:lnTo>
                <a:lnTo>
                  <a:pt x="37401" y="1239710"/>
                </a:lnTo>
                <a:lnTo>
                  <a:pt x="78009" y="1267079"/>
                </a:lnTo>
                <a:lnTo>
                  <a:pt x="127762" y="1277111"/>
                </a:lnTo>
                <a:lnTo>
                  <a:pt x="2034794" y="1277111"/>
                </a:lnTo>
                <a:lnTo>
                  <a:pt x="2084546" y="1267079"/>
                </a:lnTo>
                <a:lnTo>
                  <a:pt x="2125154" y="1239710"/>
                </a:lnTo>
                <a:lnTo>
                  <a:pt x="2152523" y="1199102"/>
                </a:lnTo>
                <a:lnTo>
                  <a:pt x="2162555" y="1149349"/>
                </a:lnTo>
                <a:lnTo>
                  <a:pt x="2162555" y="127762"/>
                </a:lnTo>
                <a:lnTo>
                  <a:pt x="2152523" y="78009"/>
                </a:lnTo>
                <a:lnTo>
                  <a:pt x="2125154" y="37401"/>
                </a:lnTo>
                <a:lnTo>
                  <a:pt x="2084546" y="10033"/>
                </a:lnTo>
                <a:lnTo>
                  <a:pt x="203479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589014" y="4367021"/>
            <a:ext cx="2016760" cy="1295400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Times New Roman"/>
              <a:cs typeface="Times New Roman"/>
            </a:endParaRPr>
          </a:p>
          <a:p>
            <a:pPr marL="103505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项目进度编排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955" y="4745609"/>
            <a:ext cx="463550" cy="536575"/>
          </a:xfrm>
          <a:custGeom>
            <a:avLst/>
            <a:gdLst/>
            <a:ahLst/>
            <a:cxnLst/>
            <a:rect l="l" t="t" r="r" b="b"/>
            <a:pathLst>
              <a:path w="463550" h="536575">
                <a:moveTo>
                  <a:pt x="229235" y="0"/>
                </a:moveTo>
                <a:lnTo>
                  <a:pt x="0" y="269621"/>
                </a:lnTo>
                <a:lnTo>
                  <a:pt x="232918" y="536067"/>
                </a:lnTo>
                <a:lnTo>
                  <a:pt x="232156" y="428879"/>
                </a:lnTo>
                <a:lnTo>
                  <a:pt x="463296" y="427228"/>
                </a:lnTo>
                <a:lnTo>
                  <a:pt x="461021" y="107188"/>
                </a:lnTo>
                <a:lnTo>
                  <a:pt x="229870" y="107188"/>
                </a:lnTo>
                <a:lnTo>
                  <a:pt x="229235" y="0"/>
                </a:lnTo>
                <a:close/>
              </a:path>
              <a:path w="463550" h="536575">
                <a:moveTo>
                  <a:pt x="461010" y="105537"/>
                </a:moveTo>
                <a:lnTo>
                  <a:pt x="229870" y="107188"/>
                </a:lnTo>
                <a:lnTo>
                  <a:pt x="461021" y="107188"/>
                </a:lnTo>
                <a:lnTo>
                  <a:pt x="461010" y="105537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2246" y="4376165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3" y="37972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24"/>
                </a:lnTo>
                <a:lnTo>
                  <a:pt x="37972" y="1258941"/>
                </a:lnTo>
                <a:lnTo>
                  <a:pt x="79188" y="1286732"/>
                </a:lnTo>
                <a:lnTo>
                  <a:pt x="129666" y="1296923"/>
                </a:lnTo>
                <a:lnTo>
                  <a:pt x="2031364" y="1296923"/>
                </a:lnTo>
                <a:lnTo>
                  <a:pt x="2081843" y="1286732"/>
                </a:lnTo>
                <a:lnTo>
                  <a:pt x="2123058" y="1258941"/>
                </a:lnTo>
                <a:lnTo>
                  <a:pt x="2150844" y="1217724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2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644900" y="4788789"/>
            <a:ext cx="18561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华文仿宋"/>
                <a:cs typeface="华文仿宋"/>
              </a:rPr>
              <a:t>项目进度确定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118363"/>
            <a:ext cx="450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进度计划编排结果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9495" y="1557527"/>
            <a:ext cx="8177783" cy="51648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819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进度编制的基本方法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2738" y="1774698"/>
            <a:ext cx="7233284" cy="3287395"/>
          </a:xfrm>
          <a:custGeom>
            <a:avLst/>
            <a:gdLst/>
            <a:ahLst/>
            <a:cxnLst/>
            <a:rect l="l" t="t" r="r" b="b"/>
            <a:pathLst>
              <a:path w="7233284" h="3287395">
                <a:moveTo>
                  <a:pt x="0" y="3287268"/>
                </a:moveTo>
                <a:lnTo>
                  <a:pt x="7232904" y="3287268"/>
                </a:lnTo>
                <a:lnTo>
                  <a:pt x="7232904" y="0"/>
                </a:lnTo>
                <a:lnTo>
                  <a:pt x="0" y="0"/>
                </a:lnTo>
                <a:lnTo>
                  <a:pt x="0" y="3287268"/>
                </a:lnTo>
                <a:close/>
              </a:path>
            </a:pathLst>
          </a:custGeom>
          <a:ln w="28956">
            <a:solidFill>
              <a:srgbClr val="D3E1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3669" y="2000487"/>
            <a:ext cx="19748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0969" y="1728317"/>
            <a:ext cx="4217035" cy="26822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>
              <a:lnSpc>
                <a:spcPct val="100000"/>
              </a:lnSpc>
              <a:spcBef>
                <a:spcPts val="805"/>
              </a:spcBef>
            </a:pPr>
            <a:r>
              <a:rPr sz="2900" dirty="0">
                <a:latin typeface="隶书"/>
                <a:cs typeface="隶书"/>
              </a:rPr>
              <a:t>超前</a:t>
            </a:r>
            <a:r>
              <a:rPr sz="2900" spc="-5" dirty="0">
                <a:latin typeface="隶书"/>
                <a:cs typeface="隶书"/>
              </a:rPr>
              <a:t>(Lead)</a:t>
            </a:r>
            <a:r>
              <a:rPr sz="2900" dirty="0">
                <a:latin typeface="隶书"/>
                <a:cs typeface="隶书"/>
              </a:rPr>
              <a:t>与滞</a:t>
            </a:r>
            <a:r>
              <a:rPr sz="2900" spc="-15" dirty="0">
                <a:latin typeface="隶书"/>
                <a:cs typeface="隶书"/>
              </a:rPr>
              <a:t>后</a:t>
            </a:r>
            <a:r>
              <a:rPr sz="2900" dirty="0">
                <a:latin typeface="隶书"/>
                <a:cs typeface="隶书"/>
              </a:rPr>
              <a:t>(Lag)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关键路</a:t>
            </a:r>
            <a:r>
              <a:rPr sz="2900" spc="-15" dirty="0">
                <a:latin typeface="隶书"/>
                <a:cs typeface="隶书"/>
              </a:rPr>
              <a:t>径</a:t>
            </a:r>
            <a:r>
              <a:rPr sz="2900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时间压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资源优化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敏捷计划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4044" y="1844039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81913"/>
            <a:ext cx="31921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任务滞</a:t>
            </a:r>
            <a:r>
              <a:rPr spc="-5" dirty="0">
                <a:latin typeface="华文隶书"/>
                <a:cs typeface="华文隶书"/>
              </a:rPr>
              <a:t>后</a:t>
            </a:r>
            <a:r>
              <a:rPr i="1" dirty="0">
                <a:latin typeface="华文隶书"/>
                <a:cs typeface="华文隶书"/>
              </a:rPr>
              <a:t>:Lag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361" y="2515361"/>
            <a:ext cx="1600200" cy="914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90"/>
              </a:spcBef>
            </a:pPr>
            <a:r>
              <a:rPr sz="3600" dirty="0">
                <a:latin typeface="宋体"/>
                <a:cs typeface="宋体"/>
              </a:rPr>
              <a:t>活</a:t>
            </a:r>
            <a:r>
              <a:rPr sz="3600" spc="-5" dirty="0">
                <a:latin typeface="宋体"/>
                <a:cs typeface="宋体"/>
              </a:rPr>
              <a:t>动</a:t>
            </a:r>
            <a:r>
              <a:rPr sz="3600" dirty="0">
                <a:latin typeface="Arial Narrow"/>
                <a:cs typeface="Arial Narrow"/>
              </a:rPr>
              <a:t>A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0161" y="2515361"/>
            <a:ext cx="1600200" cy="914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390"/>
              </a:spcBef>
            </a:pPr>
            <a:r>
              <a:rPr sz="3600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B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91561" y="3009900"/>
            <a:ext cx="4038600" cy="78105"/>
          </a:xfrm>
          <a:custGeom>
            <a:avLst/>
            <a:gdLst/>
            <a:ahLst/>
            <a:cxnLst/>
            <a:rect l="l" t="t" r="r" b="b"/>
            <a:pathLst>
              <a:path w="4038600" h="78105">
                <a:moveTo>
                  <a:pt x="3909060" y="0"/>
                </a:moveTo>
                <a:lnTo>
                  <a:pt x="3909060" y="77724"/>
                </a:lnTo>
                <a:lnTo>
                  <a:pt x="3995420" y="51815"/>
                </a:lnTo>
                <a:lnTo>
                  <a:pt x="3922014" y="51815"/>
                </a:lnTo>
                <a:lnTo>
                  <a:pt x="3922014" y="25908"/>
                </a:lnTo>
                <a:lnTo>
                  <a:pt x="3995420" y="25908"/>
                </a:lnTo>
                <a:lnTo>
                  <a:pt x="3909060" y="0"/>
                </a:lnTo>
                <a:close/>
              </a:path>
              <a:path w="4038600" h="78105">
                <a:moveTo>
                  <a:pt x="3909060" y="25908"/>
                </a:moveTo>
                <a:lnTo>
                  <a:pt x="0" y="25908"/>
                </a:lnTo>
                <a:lnTo>
                  <a:pt x="0" y="51815"/>
                </a:lnTo>
                <a:lnTo>
                  <a:pt x="3909060" y="51815"/>
                </a:lnTo>
                <a:lnTo>
                  <a:pt x="3909060" y="25908"/>
                </a:lnTo>
                <a:close/>
              </a:path>
              <a:path w="4038600" h="78105">
                <a:moveTo>
                  <a:pt x="3995420" y="25908"/>
                </a:moveTo>
                <a:lnTo>
                  <a:pt x="3922014" y="25908"/>
                </a:lnTo>
                <a:lnTo>
                  <a:pt x="3922014" y="51815"/>
                </a:lnTo>
                <a:lnTo>
                  <a:pt x="3995420" y="51815"/>
                </a:lnTo>
                <a:lnTo>
                  <a:pt x="4038599" y="38862"/>
                </a:lnTo>
                <a:lnTo>
                  <a:pt x="39954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78758" y="2467178"/>
            <a:ext cx="1738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结</a:t>
            </a:r>
            <a:r>
              <a:rPr sz="2800" spc="-10" dirty="0">
                <a:latin typeface="宋体"/>
                <a:cs typeface="宋体"/>
              </a:rPr>
              <a:t>束</a:t>
            </a:r>
            <a:r>
              <a:rPr sz="2800" spc="-5" dirty="0">
                <a:latin typeface="Arial Narrow"/>
                <a:cs typeface="Arial Narrow"/>
              </a:rPr>
              <a:t>---</a:t>
            </a:r>
            <a:r>
              <a:rPr sz="2800" spc="-10" dirty="0">
                <a:latin typeface="宋体"/>
                <a:cs typeface="宋体"/>
              </a:rPr>
              <a:t>开始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6984" y="3226688"/>
            <a:ext cx="510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 Narrow"/>
                <a:cs typeface="Arial Narrow"/>
              </a:rPr>
              <a:t>Lag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45439"/>
            <a:ext cx="41656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任务滞</a:t>
            </a:r>
            <a:r>
              <a:rPr spc="-5" dirty="0">
                <a:latin typeface="华文隶书"/>
                <a:cs typeface="华文隶书"/>
              </a:rPr>
              <a:t>后</a:t>
            </a:r>
            <a:r>
              <a:rPr i="1" dirty="0">
                <a:latin typeface="华文隶书"/>
                <a:cs typeface="华文隶书"/>
              </a:rPr>
              <a:t>Lag</a:t>
            </a:r>
            <a:r>
              <a:rPr dirty="0">
                <a:latin typeface="华文隶书"/>
                <a:cs typeface="华文隶书"/>
              </a:rPr>
              <a:t>举例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0753" y="3594353"/>
            <a:ext cx="1600200" cy="914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395"/>
              </a:spcBef>
            </a:pPr>
            <a:r>
              <a:rPr sz="3600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A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08426" y="3573017"/>
            <a:ext cx="1957070" cy="862965"/>
          </a:xfrm>
          <a:custGeom>
            <a:avLst/>
            <a:gdLst/>
            <a:ahLst/>
            <a:cxnLst/>
            <a:rect l="l" t="t" r="r" b="b"/>
            <a:pathLst>
              <a:path w="1957070" h="862964">
                <a:moveTo>
                  <a:pt x="26924" y="215646"/>
                </a:moveTo>
                <a:lnTo>
                  <a:pt x="0" y="215646"/>
                </a:lnTo>
                <a:lnTo>
                  <a:pt x="0" y="646938"/>
                </a:lnTo>
                <a:lnTo>
                  <a:pt x="26924" y="646938"/>
                </a:lnTo>
                <a:lnTo>
                  <a:pt x="26924" y="215646"/>
                </a:lnTo>
                <a:close/>
              </a:path>
              <a:path w="1957070" h="862964">
                <a:moveTo>
                  <a:pt x="107823" y="215646"/>
                </a:moveTo>
                <a:lnTo>
                  <a:pt x="53848" y="215646"/>
                </a:lnTo>
                <a:lnTo>
                  <a:pt x="53848" y="646938"/>
                </a:lnTo>
                <a:lnTo>
                  <a:pt x="107823" y="646938"/>
                </a:lnTo>
                <a:lnTo>
                  <a:pt x="107823" y="215646"/>
                </a:lnTo>
                <a:close/>
              </a:path>
              <a:path w="1957070" h="862964">
                <a:moveTo>
                  <a:pt x="1525524" y="0"/>
                </a:moveTo>
                <a:lnTo>
                  <a:pt x="1525524" y="215646"/>
                </a:lnTo>
                <a:lnTo>
                  <a:pt x="134747" y="215646"/>
                </a:lnTo>
                <a:lnTo>
                  <a:pt x="134747" y="646938"/>
                </a:lnTo>
                <a:lnTo>
                  <a:pt x="1525524" y="646938"/>
                </a:lnTo>
                <a:lnTo>
                  <a:pt x="1525524" y="862584"/>
                </a:lnTo>
                <a:lnTo>
                  <a:pt x="1956815" y="431292"/>
                </a:lnTo>
                <a:lnTo>
                  <a:pt x="152552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1888" y="3778758"/>
            <a:ext cx="0" cy="451484"/>
          </a:xfrm>
          <a:custGeom>
            <a:avLst/>
            <a:gdLst/>
            <a:ahLst/>
            <a:cxnLst/>
            <a:rect l="l" t="t" r="r" b="b"/>
            <a:pathLst>
              <a:path h="451485">
                <a:moveTo>
                  <a:pt x="0" y="0"/>
                </a:moveTo>
                <a:lnTo>
                  <a:pt x="0" y="451104"/>
                </a:lnTo>
              </a:path>
            </a:pathLst>
          </a:custGeom>
          <a:ln w="46735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62273" y="3788664"/>
            <a:ext cx="53975" cy="431800"/>
          </a:xfrm>
          <a:custGeom>
            <a:avLst/>
            <a:gdLst/>
            <a:ahLst/>
            <a:cxnLst/>
            <a:rect l="l" t="t" r="r" b="b"/>
            <a:pathLst>
              <a:path w="53975" h="431800">
                <a:moveTo>
                  <a:pt x="0" y="0"/>
                </a:moveTo>
                <a:lnTo>
                  <a:pt x="53975" y="0"/>
                </a:lnTo>
                <a:lnTo>
                  <a:pt x="53975" y="431292"/>
                </a:lnTo>
                <a:lnTo>
                  <a:pt x="0" y="431292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43172" y="3573017"/>
            <a:ext cx="1822450" cy="862965"/>
          </a:xfrm>
          <a:custGeom>
            <a:avLst/>
            <a:gdLst/>
            <a:ahLst/>
            <a:cxnLst/>
            <a:rect l="l" t="t" r="r" b="b"/>
            <a:pathLst>
              <a:path w="1822450" h="862964">
                <a:moveTo>
                  <a:pt x="0" y="215646"/>
                </a:moveTo>
                <a:lnTo>
                  <a:pt x="1390777" y="215646"/>
                </a:lnTo>
                <a:lnTo>
                  <a:pt x="1390777" y="0"/>
                </a:lnTo>
                <a:lnTo>
                  <a:pt x="1822068" y="431292"/>
                </a:lnTo>
                <a:lnTo>
                  <a:pt x="1390777" y="862584"/>
                </a:lnTo>
                <a:lnTo>
                  <a:pt x="1390777" y="646938"/>
                </a:lnTo>
                <a:lnTo>
                  <a:pt x="0" y="646938"/>
                </a:lnTo>
                <a:lnTo>
                  <a:pt x="0" y="215646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83329" y="3725417"/>
            <a:ext cx="11277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Tw Cen MT"/>
                <a:cs typeface="Tw Cen MT"/>
              </a:rPr>
              <a:t>Lag=3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3258" y="3573017"/>
            <a:ext cx="1600200" cy="914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390"/>
              </a:spcBef>
            </a:pPr>
            <a:r>
              <a:rPr sz="3600" spc="-5" dirty="0">
                <a:latin typeface="宋体"/>
                <a:cs typeface="宋体"/>
              </a:rPr>
              <a:t>活</a:t>
            </a:r>
            <a:r>
              <a:rPr sz="3600" dirty="0">
                <a:latin typeface="宋体"/>
                <a:cs typeface="宋体"/>
              </a:rPr>
              <a:t>动</a:t>
            </a:r>
            <a:r>
              <a:rPr sz="3600" dirty="0">
                <a:latin typeface="Arial Narrow"/>
                <a:cs typeface="Arial Narrow"/>
              </a:rPr>
              <a:t>B</a:t>
            </a:r>
            <a:endParaRPr sz="3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32663"/>
            <a:ext cx="35521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任务超</a:t>
            </a:r>
            <a:r>
              <a:rPr spc="-5" dirty="0">
                <a:latin typeface="华文隶书"/>
                <a:cs typeface="华文隶书"/>
              </a:rPr>
              <a:t>前</a:t>
            </a:r>
            <a:r>
              <a:rPr i="1" dirty="0">
                <a:latin typeface="华文隶书"/>
                <a:cs typeface="华文隶书"/>
              </a:rPr>
              <a:t>(Lead)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361" y="2795777"/>
            <a:ext cx="1600200" cy="914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95"/>
              </a:spcBef>
            </a:pPr>
            <a:r>
              <a:rPr sz="3600" dirty="0">
                <a:latin typeface="宋体"/>
                <a:cs typeface="宋体"/>
              </a:rPr>
              <a:t>活</a:t>
            </a:r>
            <a:r>
              <a:rPr sz="3600" spc="-5" dirty="0">
                <a:latin typeface="宋体"/>
                <a:cs typeface="宋体"/>
              </a:rPr>
              <a:t>动</a:t>
            </a:r>
            <a:r>
              <a:rPr sz="3600" dirty="0">
                <a:latin typeface="Arial Narrow"/>
                <a:cs typeface="Arial Narrow"/>
              </a:rPr>
              <a:t>A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0161" y="2795777"/>
            <a:ext cx="1600200" cy="914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395"/>
              </a:spcBef>
            </a:pPr>
            <a:r>
              <a:rPr sz="3600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B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91561" y="3290315"/>
            <a:ext cx="4038600" cy="78105"/>
          </a:xfrm>
          <a:custGeom>
            <a:avLst/>
            <a:gdLst/>
            <a:ahLst/>
            <a:cxnLst/>
            <a:rect l="l" t="t" r="r" b="b"/>
            <a:pathLst>
              <a:path w="4038600" h="78104">
                <a:moveTo>
                  <a:pt x="3909060" y="0"/>
                </a:moveTo>
                <a:lnTo>
                  <a:pt x="3909060" y="77724"/>
                </a:lnTo>
                <a:lnTo>
                  <a:pt x="3995419" y="51816"/>
                </a:lnTo>
                <a:lnTo>
                  <a:pt x="3922014" y="51816"/>
                </a:lnTo>
                <a:lnTo>
                  <a:pt x="3922014" y="25908"/>
                </a:lnTo>
                <a:lnTo>
                  <a:pt x="3995420" y="25908"/>
                </a:lnTo>
                <a:lnTo>
                  <a:pt x="3909060" y="0"/>
                </a:lnTo>
                <a:close/>
              </a:path>
              <a:path w="4038600" h="78104">
                <a:moveTo>
                  <a:pt x="3909060" y="25908"/>
                </a:moveTo>
                <a:lnTo>
                  <a:pt x="0" y="25908"/>
                </a:lnTo>
                <a:lnTo>
                  <a:pt x="0" y="51816"/>
                </a:lnTo>
                <a:lnTo>
                  <a:pt x="3909060" y="51816"/>
                </a:lnTo>
                <a:lnTo>
                  <a:pt x="3909060" y="25908"/>
                </a:lnTo>
                <a:close/>
              </a:path>
              <a:path w="4038600" h="78104">
                <a:moveTo>
                  <a:pt x="3995420" y="25908"/>
                </a:moveTo>
                <a:lnTo>
                  <a:pt x="3922014" y="25908"/>
                </a:lnTo>
                <a:lnTo>
                  <a:pt x="3922014" y="51816"/>
                </a:lnTo>
                <a:lnTo>
                  <a:pt x="3995419" y="51816"/>
                </a:lnTo>
                <a:lnTo>
                  <a:pt x="4038599" y="38862"/>
                </a:lnTo>
                <a:lnTo>
                  <a:pt x="3995420" y="259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78758" y="2748229"/>
            <a:ext cx="1738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结</a:t>
            </a:r>
            <a:r>
              <a:rPr sz="2800" spc="-10" dirty="0">
                <a:latin typeface="宋体"/>
                <a:cs typeface="宋体"/>
              </a:rPr>
              <a:t>束</a:t>
            </a:r>
            <a:r>
              <a:rPr sz="2800" spc="-5" dirty="0">
                <a:latin typeface="Arial Narrow"/>
                <a:cs typeface="Arial Narrow"/>
              </a:rPr>
              <a:t>---</a:t>
            </a:r>
            <a:r>
              <a:rPr sz="2800" spc="-10" dirty="0">
                <a:latin typeface="宋体"/>
                <a:cs typeface="宋体"/>
              </a:rPr>
              <a:t>开始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0096" y="3507740"/>
            <a:ext cx="10045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 Narrow"/>
                <a:cs typeface="Arial Narrow"/>
              </a:rPr>
              <a:t>Lead=3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32663"/>
            <a:ext cx="35521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任务超</a:t>
            </a:r>
            <a:r>
              <a:rPr spc="-5" dirty="0">
                <a:latin typeface="华文隶书"/>
                <a:cs typeface="华文隶书"/>
              </a:rPr>
              <a:t>前</a:t>
            </a:r>
            <a:r>
              <a:rPr i="1" dirty="0">
                <a:latin typeface="华文隶书"/>
                <a:cs typeface="华文隶书"/>
              </a:rPr>
              <a:t>(Lead)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2066" y="3035045"/>
            <a:ext cx="3112135" cy="914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75895" rIns="0" bIns="0" rtlCol="0">
            <a:spAutoFit/>
          </a:bodyPr>
          <a:lstStyle/>
          <a:p>
            <a:pPr marL="972185">
              <a:lnSpc>
                <a:spcPct val="100000"/>
              </a:lnSpc>
              <a:spcBef>
                <a:spcPts val="1385"/>
              </a:spcBef>
            </a:pPr>
            <a:r>
              <a:rPr sz="3600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A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75226" y="4603241"/>
            <a:ext cx="1600200" cy="914400"/>
          </a:xfrm>
          <a:custGeom>
            <a:avLst/>
            <a:gdLst/>
            <a:ahLst/>
            <a:cxnLst/>
            <a:rect l="l" t="t" r="r" b="b"/>
            <a:pathLst>
              <a:path w="1600200" h="914400">
                <a:moveTo>
                  <a:pt x="0" y="914400"/>
                </a:moveTo>
                <a:lnTo>
                  <a:pt x="1600200" y="914400"/>
                </a:lnTo>
                <a:lnTo>
                  <a:pt x="16002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680330" y="4767148"/>
            <a:ext cx="11906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B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83558" y="3949446"/>
            <a:ext cx="1080770" cy="719455"/>
          </a:xfrm>
          <a:custGeom>
            <a:avLst/>
            <a:gdLst/>
            <a:ahLst/>
            <a:cxnLst/>
            <a:rect l="l" t="t" r="r" b="b"/>
            <a:pathLst>
              <a:path w="1080770" h="719454">
                <a:moveTo>
                  <a:pt x="359663" y="0"/>
                </a:moveTo>
                <a:lnTo>
                  <a:pt x="0" y="359663"/>
                </a:lnTo>
                <a:lnTo>
                  <a:pt x="359663" y="719327"/>
                </a:lnTo>
                <a:lnTo>
                  <a:pt x="359663" y="539495"/>
                </a:lnTo>
                <a:lnTo>
                  <a:pt x="1080515" y="539495"/>
                </a:lnTo>
                <a:lnTo>
                  <a:pt x="1080515" y="179831"/>
                </a:lnTo>
                <a:lnTo>
                  <a:pt x="359663" y="179831"/>
                </a:lnTo>
                <a:lnTo>
                  <a:pt x="35966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083558" y="3949446"/>
            <a:ext cx="1080770" cy="719455"/>
          </a:xfrm>
          <a:custGeom>
            <a:avLst/>
            <a:gdLst/>
            <a:ahLst/>
            <a:cxnLst/>
            <a:rect l="l" t="t" r="r" b="b"/>
            <a:pathLst>
              <a:path w="1080770" h="719454">
                <a:moveTo>
                  <a:pt x="0" y="359663"/>
                </a:moveTo>
                <a:lnTo>
                  <a:pt x="359663" y="0"/>
                </a:lnTo>
                <a:lnTo>
                  <a:pt x="359663" y="179831"/>
                </a:lnTo>
                <a:lnTo>
                  <a:pt x="1080515" y="179831"/>
                </a:lnTo>
                <a:lnTo>
                  <a:pt x="1080515" y="539495"/>
                </a:lnTo>
                <a:lnTo>
                  <a:pt x="359663" y="539495"/>
                </a:lnTo>
                <a:lnTo>
                  <a:pt x="359663" y="719327"/>
                </a:lnTo>
                <a:lnTo>
                  <a:pt x="0" y="359663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87088" y="4153865"/>
            <a:ext cx="6546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Arial Narrow"/>
                <a:cs typeface="Arial Narrow"/>
              </a:rPr>
              <a:t>Lead=3</a:t>
            </a:r>
            <a:endParaRPr sz="1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232663"/>
            <a:ext cx="35521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任务超</a:t>
            </a:r>
            <a:r>
              <a:rPr spc="-5" dirty="0">
                <a:latin typeface="华文隶书"/>
                <a:cs typeface="华文隶书"/>
              </a:rPr>
              <a:t>前</a:t>
            </a:r>
            <a:r>
              <a:rPr i="1" dirty="0">
                <a:latin typeface="华文隶书"/>
                <a:cs typeface="华文隶书"/>
              </a:rPr>
              <a:t>(Lead)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1361" y="2256282"/>
            <a:ext cx="1600200" cy="914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90"/>
              </a:spcBef>
            </a:pPr>
            <a:r>
              <a:rPr sz="3600" spc="-5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A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30161" y="2256282"/>
            <a:ext cx="1600200" cy="914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76530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390"/>
              </a:spcBef>
            </a:pPr>
            <a:r>
              <a:rPr sz="3600" spc="-5" dirty="0">
                <a:latin typeface="宋体"/>
                <a:cs typeface="宋体"/>
              </a:rPr>
              <a:t>活动</a:t>
            </a:r>
            <a:r>
              <a:rPr sz="3600" dirty="0">
                <a:latin typeface="Arial Narrow"/>
                <a:cs typeface="Arial Narrow"/>
              </a:rPr>
              <a:t>B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591561" y="2750820"/>
            <a:ext cx="4038600" cy="78105"/>
          </a:xfrm>
          <a:custGeom>
            <a:avLst/>
            <a:gdLst/>
            <a:ahLst/>
            <a:cxnLst/>
            <a:rect l="l" t="t" r="r" b="b"/>
            <a:pathLst>
              <a:path w="4038600" h="78105">
                <a:moveTo>
                  <a:pt x="3909060" y="0"/>
                </a:moveTo>
                <a:lnTo>
                  <a:pt x="3909060" y="77724"/>
                </a:lnTo>
                <a:lnTo>
                  <a:pt x="3995420" y="51815"/>
                </a:lnTo>
                <a:lnTo>
                  <a:pt x="3922014" y="51815"/>
                </a:lnTo>
                <a:lnTo>
                  <a:pt x="3922014" y="25907"/>
                </a:lnTo>
                <a:lnTo>
                  <a:pt x="3995419" y="25907"/>
                </a:lnTo>
                <a:lnTo>
                  <a:pt x="3909060" y="0"/>
                </a:lnTo>
                <a:close/>
              </a:path>
              <a:path w="4038600" h="78105">
                <a:moveTo>
                  <a:pt x="3909060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3909060" y="51815"/>
                </a:lnTo>
                <a:lnTo>
                  <a:pt x="3909060" y="25907"/>
                </a:lnTo>
                <a:close/>
              </a:path>
              <a:path w="4038600" h="78105">
                <a:moveTo>
                  <a:pt x="3995419" y="25907"/>
                </a:moveTo>
                <a:lnTo>
                  <a:pt x="3922014" y="25907"/>
                </a:lnTo>
                <a:lnTo>
                  <a:pt x="3922014" y="51815"/>
                </a:lnTo>
                <a:lnTo>
                  <a:pt x="3995420" y="51815"/>
                </a:lnTo>
                <a:lnTo>
                  <a:pt x="4038599" y="38862"/>
                </a:lnTo>
                <a:lnTo>
                  <a:pt x="39954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78758" y="2208656"/>
            <a:ext cx="17386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宋体"/>
                <a:cs typeface="宋体"/>
              </a:rPr>
              <a:t>结</a:t>
            </a:r>
            <a:r>
              <a:rPr sz="2800" spc="-10" dirty="0">
                <a:latin typeface="宋体"/>
                <a:cs typeface="宋体"/>
              </a:rPr>
              <a:t>束</a:t>
            </a:r>
            <a:r>
              <a:rPr sz="2800" spc="-5" dirty="0">
                <a:latin typeface="Arial Narrow"/>
                <a:cs typeface="Arial Narrow"/>
              </a:rPr>
              <a:t>---</a:t>
            </a:r>
            <a:r>
              <a:rPr sz="2800" spc="-5" dirty="0">
                <a:latin typeface="宋体"/>
                <a:cs typeface="宋体"/>
              </a:rPr>
              <a:t>开始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0096" y="2967989"/>
            <a:ext cx="100456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 Narrow"/>
                <a:cs typeface="Arial Narrow"/>
              </a:rPr>
              <a:t>Lead=3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4257" y="1446098"/>
            <a:ext cx="2668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AFAC00"/>
                </a:solidFill>
                <a:latin typeface="Arial Narrow"/>
                <a:cs typeface="Arial Narrow"/>
              </a:rPr>
              <a:t>A</a:t>
            </a:r>
            <a:r>
              <a:rPr sz="2400" b="1" spc="-5" dirty="0">
                <a:solidFill>
                  <a:srgbClr val="AFAC00"/>
                </a:solidFill>
                <a:latin typeface="宋体"/>
                <a:cs typeface="宋体"/>
              </a:rPr>
              <a:t>完成之</a:t>
            </a:r>
            <a:r>
              <a:rPr sz="2400" b="1" dirty="0">
                <a:solidFill>
                  <a:srgbClr val="AFAC00"/>
                </a:solidFill>
                <a:latin typeface="宋体"/>
                <a:cs typeface="宋体"/>
              </a:rPr>
              <a:t>前</a:t>
            </a:r>
            <a:r>
              <a:rPr sz="2400" b="1" spc="-5" dirty="0">
                <a:solidFill>
                  <a:srgbClr val="AFAC00"/>
                </a:solidFill>
                <a:latin typeface="Arial Narrow"/>
                <a:cs typeface="Arial Narrow"/>
              </a:rPr>
              <a:t>3</a:t>
            </a:r>
            <a:r>
              <a:rPr sz="2400" b="1" spc="-5" dirty="0">
                <a:solidFill>
                  <a:srgbClr val="AFAC00"/>
                </a:solidFill>
                <a:latin typeface="宋体"/>
                <a:cs typeface="宋体"/>
              </a:rPr>
              <a:t>天</a:t>
            </a:r>
            <a:r>
              <a:rPr sz="2400" b="1" spc="-10" dirty="0">
                <a:solidFill>
                  <a:srgbClr val="AFAC00"/>
                </a:solidFill>
                <a:latin typeface="Arial Narrow"/>
                <a:cs typeface="Arial Narrow"/>
              </a:rPr>
              <a:t>B</a:t>
            </a:r>
            <a:r>
              <a:rPr sz="2400" b="1" spc="-5" dirty="0">
                <a:solidFill>
                  <a:srgbClr val="AFAC00"/>
                </a:solidFill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267" y="3260750"/>
            <a:ext cx="4824730" cy="258699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dirty="0">
                <a:latin typeface="隶书"/>
                <a:cs typeface="隶书"/>
              </a:rPr>
              <a:t>作</a:t>
            </a:r>
            <a:r>
              <a:rPr sz="2800" spc="-5" dirty="0">
                <a:latin typeface="隶书"/>
                <a:cs typeface="隶书"/>
              </a:rPr>
              <a:t>用：</a:t>
            </a:r>
            <a:endParaRPr sz="2800">
              <a:latin typeface="隶书"/>
              <a:cs typeface="隶书"/>
            </a:endParaRPr>
          </a:p>
          <a:p>
            <a:pPr marL="546735" indent="-534035">
              <a:lnSpc>
                <a:spcPct val="100000"/>
              </a:lnSpc>
              <a:spcBef>
                <a:spcPts val="1685"/>
              </a:spcBef>
              <a:buSzPct val="96428"/>
              <a:buAutoNum type="arabicPlain"/>
              <a:tabLst>
                <a:tab pos="546735" algn="l"/>
              </a:tabLst>
            </a:pPr>
            <a:r>
              <a:rPr sz="2800" dirty="0">
                <a:latin typeface="隶书"/>
                <a:cs typeface="隶书"/>
              </a:rPr>
              <a:t>解</a:t>
            </a:r>
            <a:r>
              <a:rPr sz="2800" spc="-5" dirty="0">
                <a:latin typeface="隶书"/>
                <a:cs typeface="隶书"/>
              </a:rPr>
              <a:t>决</a:t>
            </a:r>
            <a:r>
              <a:rPr sz="2800" dirty="0">
                <a:latin typeface="隶书"/>
                <a:cs typeface="隶书"/>
              </a:rPr>
              <a:t>任</a:t>
            </a:r>
            <a:r>
              <a:rPr sz="2800" spc="-5" dirty="0">
                <a:latin typeface="隶书"/>
                <a:cs typeface="隶书"/>
              </a:rPr>
              <a:t>务的搭接</a:t>
            </a:r>
            <a:endParaRPr sz="2800">
              <a:latin typeface="隶书"/>
              <a:cs typeface="隶书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6735" algn="l"/>
              </a:tabLst>
            </a:pPr>
            <a:r>
              <a:rPr sz="2800" dirty="0">
                <a:latin typeface="隶书"/>
                <a:cs typeface="隶书"/>
              </a:rPr>
              <a:t>对</a:t>
            </a:r>
            <a:r>
              <a:rPr sz="2800" spc="-5" dirty="0">
                <a:latin typeface="隶书"/>
                <a:cs typeface="隶书"/>
              </a:rPr>
              <a:t>任</a:t>
            </a:r>
            <a:r>
              <a:rPr sz="2800" dirty="0">
                <a:latin typeface="隶书"/>
                <a:cs typeface="隶书"/>
              </a:rPr>
              <a:t>务</a:t>
            </a:r>
            <a:r>
              <a:rPr sz="2800" spc="-5" dirty="0">
                <a:latin typeface="隶书"/>
                <a:cs typeface="隶书"/>
              </a:rPr>
              <a:t>可以进</a:t>
            </a:r>
            <a:r>
              <a:rPr sz="2800" dirty="0">
                <a:latin typeface="隶书"/>
                <a:cs typeface="隶书"/>
              </a:rPr>
              <a:t>行</a:t>
            </a:r>
            <a:r>
              <a:rPr sz="2800" spc="-5" dirty="0">
                <a:latin typeface="隶书"/>
                <a:cs typeface="隶书"/>
              </a:rPr>
              <a:t>合理的</a:t>
            </a:r>
            <a:r>
              <a:rPr sz="2800" dirty="0">
                <a:latin typeface="隶书"/>
                <a:cs typeface="隶书"/>
              </a:rPr>
              <a:t>拆</a:t>
            </a:r>
            <a:r>
              <a:rPr sz="2800" spc="-5" dirty="0">
                <a:latin typeface="隶书"/>
                <a:cs typeface="隶书"/>
              </a:rPr>
              <a:t>分</a:t>
            </a:r>
            <a:endParaRPr sz="2800">
              <a:latin typeface="隶书"/>
              <a:cs typeface="隶书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6735" algn="l"/>
              </a:tabLst>
            </a:pPr>
            <a:r>
              <a:rPr sz="2800" dirty="0">
                <a:latin typeface="隶书"/>
                <a:cs typeface="隶书"/>
              </a:rPr>
              <a:t>缩</a:t>
            </a:r>
            <a:r>
              <a:rPr sz="2800" spc="-5" dirty="0">
                <a:latin typeface="隶书"/>
                <a:cs typeface="隶书"/>
              </a:rPr>
              <a:t>短</a:t>
            </a:r>
            <a:r>
              <a:rPr sz="2800" dirty="0">
                <a:latin typeface="隶书"/>
                <a:cs typeface="隶书"/>
              </a:rPr>
              <a:t>项</a:t>
            </a:r>
            <a:r>
              <a:rPr sz="2800" spc="-5" dirty="0">
                <a:latin typeface="隶书"/>
                <a:cs typeface="隶书"/>
              </a:rPr>
              <a:t>目工期</a:t>
            </a:r>
            <a:endParaRPr sz="28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819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进度编制的基本方法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2738" y="1774698"/>
            <a:ext cx="7233284" cy="3287395"/>
          </a:xfrm>
          <a:custGeom>
            <a:avLst/>
            <a:gdLst/>
            <a:ahLst/>
            <a:cxnLst/>
            <a:rect l="l" t="t" r="r" b="b"/>
            <a:pathLst>
              <a:path w="7233284" h="3287395">
                <a:moveTo>
                  <a:pt x="0" y="3287268"/>
                </a:moveTo>
                <a:lnTo>
                  <a:pt x="7232904" y="3287268"/>
                </a:lnTo>
                <a:lnTo>
                  <a:pt x="7232904" y="0"/>
                </a:lnTo>
                <a:lnTo>
                  <a:pt x="0" y="0"/>
                </a:lnTo>
                <a:lnTo>
                  <a:pt x="0" y="3287268"/>
                </a:lnTo>
                <a:close/>
              </a:path>
            </a:pathLst>
          </a:custGeom>
          <a:ln w="28956">
            <a:solidFill>
              <a:srgbClr val="D3E1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3669" y="2532363"/>
            <a:ext cx="19748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0969" y="1728317"/>
            <a:ext cx="4217035" cy="268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040">
              <a:lnSpc>
                <a:spcPct val="120300"/>
              </a:lnSpc>
              <a:spcBef>
                <a:spcPts val="1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超前(Le</a:t>
            </a:r>
            <a:r>
              <a:rPr sz="2900" spc="-15" dirty="0">
                <a:latin typeface="隶书"/>
                <a:cs typeface="隶书"/>
              </a:rPr>
              <a:t>a</a:t>
            </a:r>
            <a:r>
              <a:rPr sz="2900" dirty="0">
                <a:latin typeface="隶书"/>
                <a:cs typeface="隶书"/>
              </a:rPr>
              <a:t>d)与滞</a:t>
            </a:r>
            <a:r>
              <a:rPr sz="2900" spc="-15" dirty="0">
                <a:latin typeface="隶书"/>
                <a:cs typeface="隶书"/>
              </a:rPr>
              <a:t>后</a:t>
            </a:r>
            <a:r>
              <a:rPr sz="2900" dirty="0">
                <a:latin typeface="隶书"/>
                <a:cs typeface="隶书"/>
              </a:rPr>
              <a:t>(Lag) 关键路</a:t>
            </a:r>
            <a:r>
              <a:rPr sz="2900" spc="-15" dirty="0">
                <a:latin typeface="隶书"/>
                <a:cs typeface="隶书"/>
              </a:rPr>
              <a:t>径</a:t>
            </a:r>
            <a:r>
              <a:rPr sz="2900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时间压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资源优化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敏捷计划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4044" y="2319527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540" y="310388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隶书"/>
                <a:cs typeface="隶书"/>
              </a:rPr>
              <a:t>基本概念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89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8294" y="1701545"/>
            <a:ext cx="6985000" cy="4030979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410209" indent="-32067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10209" algn="l"/>
                <a:tab pos="410845" algn="l"/>
              </a:tabLst>
            </a:pPr>
            <a:r>
              <a:rPr sz="2400" dirty="0">
                <a:latin typeface="华文隶书"/>
                <a:cs typeface="华文隶书"/>
              </a:rPr>
              <a:t>最早开始时间</a:t>
            </a:r>
            <a:r>
              <a:rPr sz="2400" i="1" dirty="0">
                <a:latin typeface="华文隶书"/>
                <a:cs typeface="华文隶书"/>
              </a:rPr>
              <a:t>(Early</a:t>
            </a:r>
            <a:r>
              <a:rPr sz="2400" i="1" spc="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start)</a:t>
            </a:r>
            <a:endParaRPr sz="2400">
              <a:latin typeface="华文隶书"/>
              <a:cs typeface="华文隶书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10209" algn="l"/>
                <a:tab pos="410845" algn="l"/>
              </a:tabLst>
            </a:pPr>
            <a:r>
              <a:rPr sz="2400" dirty="0">
                <a:latin typeface="华文隶书"/>
                <a:cs typeface="华文隶书"/>
              </a:rPr>
              <a:t>最晚开始时间</a:t>
            </a:r>
            <a:r>
              <a:rPr sz="2400" i="1" dirty="0">
                <a:latin typeface="华文隶书"/>
                <a:cs typeface="华文隶书"/>
              </a:rPr>
              <a:t>(Late</a:t>
            </a:r>
            <a:r>
              <a:rPr sz="2400" i="1" spc="-1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start)</a:t>
            </a:r>
            <a:endParaRPr sz="2400">
              <a:latin typeface="华文隶书"/>
              <a:cs typeface="华文隶书"/>
            </a:endParaRPr>
          </a:p>
          <a:p>
            <a:pPr marL="410209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10209" algn="l"/>
                <a:tab pos="410845" algn="l"/>
              </a:tabLst>
            </a:pPr>
            <a:r>
              <a:rPr sz="2400" dirty="0">
                <a:latin typeface="华文隶书"/>
                <a:cs typeface="华文隶书"/>
              </a:rPr>
              <a:t>最早完成时间</a:t>
            </a:r>
            <a:r>
              <a:rPr sz="2400" i="1" dirty="0">
                <a:latin typeface="华文隶书"/>
                <a:cs typeface="华文隶书"/>
              </a:rPr>
              <a:t>(Early</a:t>
            </a:r>
            <a:r>
              <a:rPr sz="2400" i="1" spc="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finish)</a:t>
            </a:r>
            <a:endParaRPr sz="2400">
              <a:latin typeface="华文隶书"/>
              <a:cs typeface="华文隶书"/>
            </a:endParaRPr>
          </a:p>
          <a:p>
            <a:pPr marL="410209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10209" algn="l"/>
                <a:tab pos="410845" algn="l"/>
              </a:tabLst>
            </a:pPr>
            <a:r>
              <a:rPr sz="2400" dirty="0">
                <a:latin typeface="华文隶书"/>
                <a:cs typeface="华文隶书"/>
              </a:rPr>
              <a:t>最晚完成时间</a:t>
            </a:r>
            <a:r>
              <a:rPr sz="2400" i="1" dirty="0">
                <a:latin typeface="华文隶书"/>
                <a:cs typeface="华文隶书"/>
              </a:rPr>
              <a:t>(Late</a:t>
            </a:r>
            <a:r>
              <a:rPr sz="2400" i="1" spc="-1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finish)</a:t>
            </a:r>
            <a:endParaRPr sz="2400">
              <a:latin typeface="华文隶书"/>
              <a:cs typeface="华文隶书"/>
            </a:endParaRPr>
          </a:p>
          <a:p>
            <a:pPr marL="410209" indent="-32067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10209" algn="l"/>
                <a:tab pos="410845" algn="l"/>
              </a:tabLst>
            </a:pPr>
            <a:r>
              <a:rPr sz="2400" dirty="0">
                <a:latin typeface="华文隶书"/>
                <a:cs typeface="华文隶书"/>
              </a:rPr>
              <a:t>总浮动（</a:t>
            </a:r>
            <a:r>
              <a:rPr sz="2400" spc="-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Total Float</a:t>
            </a:r>
            <a:r>
              <a:rPr sz="2400" dirty="0">
                <a:latin typeface="华文隶书"/>
                <a:cs typeface="华文隶书"/>
              </a:rPr>
              <a:t>）</a:t>
            </a:r>
            <a:endParaRPr sz="2400">
              <a:latin typeface="华文隶书"/>
              <a:cs typeface="华文隶书"/>
            </a:endParaRPr>
          </a:p>
          <a:p>
            <a:pPr marL="410209" indent="-32067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10209" algn="l"/>
                <a:tab pos="410845" algn="l"/>
              </a:tabLst>
            </a:pPr>
            <a:r>
              <a:rPr sz="2400" dirty="0">
                <a:latin typeface="华文隶书"/>
                <a:cs typeface="华文隶书"/>
              </a:rPr>
              <a:t>自由浮动（</a:t>
            </a:r>
            <a:r>
              <a:rPr sz="2400" i="1" dirty="0">
                <a:latin typeface="华文隶书"/>
                <a:cs typeface="华文隶书"/>
              </a:rPr>
              <a:t>Free</a:t>
            </a:r>
            <a:r>
              <a:rPr sz="2400" i="1" spc="-1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Float</a:t>
            </a:r>
            <a:r>
              <a:rPr sz="2400" dirty="0">
                <a:latin typeface="华文隶书"/>
                <a:cs typeface="华文隶书"/>
              </a:rPr>
              <a:t>）</a:t>
            </a:r>
            <a:endParaRPr sz="24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242" y="100406"/>
            <a:ext cx="42081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ES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、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EF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</a:t>
            </a:r>
            <a:r>
              <a:rPr sz="4400" i="1" spc="-5" dirty="0">
                <a:solidFill>
                  <a:srgbClr val="775F54"/>
                </a:solidFill>
                <a:latin typeface="华文隶书"/>
                <a:cs typeface="华文隶书"/>
              </a:rPr>
              <a:t>LS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、</a:t>
            </a:r>
            <a:r>
              <a:rPr sz="4400" i="1" spc="-15" dirty="0">
                <a:solidFill>
                  <a:srgbClr val="775F54"/>
                </a:solidFill>
                <a:latin typeface="华文隶书"/>
                <a:cs typeface="华文隶书"/>
              </a:rPr>
              <a:t>LF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72511" y="1981199"/>
            <a:ext cx="3200400" cy="426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344673" y="2286761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0" y="381000"/>
                </a:moveTo>
                <a:lnTo>
                  <a:pt x="10991" y="308596"/>
                </a:lnTo>
                <a:lnTo>
                  <a:pt x="42604" y="240780"/>
                </a:lnTo>
                <a:lnTo>
                  <a:pt x="65505" y="208992"/>
                </a:lnTo>
                <a:lnTo>
                  <a:pt x="92795" y="178830"/>
                </a:lnTo>
                <a:lnTo>
                  <a:pt x="124219" y="150453"/>
                </a:lnTo>
                <a:lnTo>
                  <a:pt x="159520" y="124021"/>
                </a:lnTo>
                <a:lnTo>
                  <a:pt x="198445" y="99694"/>
                </a:lnTo>
                <a:lnTo>
                  <a:pt x="240736" y="77632"/>
                </a:lnTo>
                <a:lnTo>
                  <a:pt x="286139" y="57993"/>
                </a:lnTo>
                <a:lnTo>
                  <a:pt x="334399" y="40938"/>
                </a:lnTo>
                <a:lnTo>
                  <a:pt x="385259" y="26626"/>
                </a:lnTo>
                <a:lnTo>
                  <a:pt x="438465" y="15216"/>
                </a:lnTo>
                <a:lnTo>
                  <a:pt x="493760" y="6869"/>
                </a:lnTo>
                <a:lnTo>
                  <a:pt x="550890" y="1743"/>
                </a:lnTo>
                <a:lnTo>
                  <a:pt x="609600" y="0"/>
                </a:lnTo>
                <a:lnTo>
                  <a:pt x="668309" y="1743"/>
                </a:lnTo>
                <a:lnTo>
                  <a:pt x="725439" y="6869"/>
                </a:lnTo>
                <a:lnTo>
                  <a:pt x="780734" y="15216"/>
                </a:lnTo>
                <a:lnTo>
                  <a:pt x="833940" y="26626"/>
                </a:lnTo>
                <a:lnTo>
                  <a:pt x="884800" y="40938"/>
                </a:lnTo>
                <a:lnTo>
                  <a:pt x="933060" y="57993"/>
                </a:lnTo>
                <a:lnTo>
                  <a:pt x="978463" y="77632"/>
                </a:lnTo>
                <a:lnTo>
                  <a:pt x="1020754" y="99694"/>
                </a:lnTo>
                <a:lnTo>
                  <a:pt x="1059679" y="124021"/>
                </a:lnTo>
                <a:lnTo>
                  <a:pt x="1094980" y="150453"/>
                </a:lnTo>
                <a:lnTo>
                  <a:pt x="1126404" y="178830"/>
                </a:lnTo>
                <a:lnTo>
                  <a:pt x="1153694" y="208992"/>
                </a:lnTo>
                <a:lnTo>
                  <a:pt x="1176595" y="240780"/>
                </a:lnTo>
                <a:lnTo>
                  <a:pt x="1208208" y="308596"/>
                </a:lnTo>
                <a:lnTo>
                  <a:pt x="1219200" y="381000"/>
                </a:lnTo>
                <a:lnTo>
                  <a:pt x="1216409" y="417695"/>
                </a:lnTo>
                <a:lnTo>
                  <a:pt x="1194851" y="487965"/>
                </a:lnTo>
                <a:lnTo>
                  <a:pt x="1153694" y="553007"/>
                </a:lnTo>
                <a:lnTo>
                  <a:pt x="1126404" y="583169"/>
                </a:lnTo>
                <a:lnTo>
                  <a:pt x="1094980" y="611546"/>
                </a:lnTo>
                <a:lnTo>
                  <a:pt x="1059679" y="637978"/>
                </a:lnTo>
                <a:lnTo>
                  <a:pt x="1020754" y="662305"/>
                </a:lnTo>
                <a:lnTo>
                  <a:pt x="978463" y="684367"/>
                </a:lnTo>
                <a:lnTo>
                  <a:pt x="933060" y="704006"/>
                </a:lnTo>
                <a:lnTo>
                  <a:pt x="884800" y="721061"/>
                </a:lnTo>
                <a:lnTo>
                  <a:pt x="833940" y="735373"/>
                </a:lnTo>
                <a:lnTo>
                  <a:pt x="780734" y="746783"/>
                </a:lnTo>
                <a:lnTo>
                  <a:pt x="725439" y="755130"/>
                </a:lnTo>
                <a:lnTo>
                  <a:pt x="668309" y="760256"/>
                </a:lnTo>
                <a:lnTo>
                  <a:pt x="609600" y="762000"/>
                </a:lnTo>
                <a:lnTo>
                  <a:pt x="550890" y="760256"/>
                </a:lnTo>
                <a:lnTo>
                  <a:pt x="493760" y="755130"/>
                </a:lnTo>
                <a:lnTo>
                  <a:pt x="438465" y="746783"/>
                </a:lnTo>
                <a:lnTo>
                  <a:pt x="385259" y="735373"/>
                </a:lnTo>
                <a:lnTo>
                  <a:pt x="334399" y="721061"/>
                </a:lnTo>
                <a:lnTo>
                  <a:pt x="286139" y="704006"/>
                </a:lnTo>
                <a:lnTo>
                  <a:pt x="240736" y="684367"/>
                </a:lnTo>
                <a:lnTo>
                  <a:pt x="198445" y="662305"/>
                </a:lnTo>
                <a:lnTo>
                  <a:pt x="159520" y="637978"/>
                </a:lnTo>
                <a:lnTo>
                  <a:pt x="124219" y="611546"/>
                </a:lnTo>
                <a:lnTo>
                  <a:pt x="92795" y="583169"/>
                </a:lnTo>
                <a:lnTo>
                  <a:pt x="65505" y="553007"/>
                </a:lnTo>
                <a:lnTo>
                  <a:pt x="42604" y="521219"/>
                </a:lnTo>
                <a:lnTo>
                  <a:pt x="10991" y="453403"/>
                </a:lnTo>
                <a:lnTo>
                  <a:pt x="0" y="381000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01239" y="2275154"/>
            <a:ext cx="3041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66FF"/>
                </a:solidFill>
                <a:latin typeface="Arial Narrow"/>
                <a:cs typeface="Arial Narrow"/>
              </a:rPr>
              <a:t>1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49902" y="2210561"/>
            <a:ext cx="1376680" cy="838200"/>
          </a:xfrm>
          <a:custGeom>
            <a:avLst/>
            <a:gdLst/>
            <a:ahLst/>
            <a:cxnLst/>
            <a:rect l="l" t="t" r="r" b="b"/>
            <a:pathLst>
              <a:path w="1376679" h="838200">
                <a:moveTo>
                  <a:pt x="0" y="419100"/>
                </a:moveTo>
                <a:lnTo>
                  <a:pt x="9966" y="347616"/>
                </a:lnTo>
                <a:lnTo>
                  <a:pt x="38762" y="280059"/>
                </a:lnTo>
                <a:lnTo>
                  <a:pt x="59705" y="248067"/>
                </a:lnTo>
                <a:lnTo>
                  <a:pt x="84735" y="217433"/>
                </a:lnTo>
                <a:lnTo>
                  <a:pt x="113647" y="188284"/>
                </a:lnTo>
                <a:lnTo>
                  <a:pt x="146232" y="160745"/>
                </a:lnTo>
                <a:lnTo>
                  <a:pt x="182286" y="134941"/>
                </a:lnTo>
                <a:lnTo>
                  <a:pt x="221601" y="110998"/>
                </a:lnTo>
                <a:lnTo>
                  <a:pt x="263970" y="89043"/>
                </a:lnTo>
                <a:lnTo>
                  <a:pt x="309186" y="69199"/>
                </a:lnTo>
                <a:lnTo>
                  <a:pt x="357044" y="51594"/>
                </a:lnTo>
                <a:lnTo>
                  <a:pt x="407337" y="36353"/>
                </a:lnTo>
                <a:lnTo>
                  <a:pt x="459857" y="23601"/>
                </a:lnTo>
                <a:lnTo>
                  <a:pt x="514399" y="13464"/>
                </a:lnTo>
                <a:lnTo>
                  <a:pt x="570755" y="6067"/>
                </a:lnTo>
                <a:lnTo>
                  <a:pt x="628720" y="1537"/>
                </a:lnTo>
                <a:lnTo>
                  <a:pt x="688086" y="0"/>
                </a:lnTo>
                <a:lnTo>
                  <a:pt x="747451" y="1537"/>
                </a:lnTo>
                <a:lnTo>
                  <a:pt x="805416" y="6067"/>
                </a:lnTo>
                <a:lnTo>
                  <a:pt x="861772" y="13464"/>
                </a:lnTo>
                <a:lnTo>
                  <a:pt x="916314" y="23601"/>
                </a:lnTo>
                <a:lnTo>
                  <a:pt x="968834" y="36353"/>
                </a:lnTo>
                <a:lnTo>
                  <a:pt x="1019127" y="51594"/>
                </a:lnTo>
                <a:lnTo>
                  <a:pt x="1066985" y="69199"/>
                </a:lnTo>
                <a:lnTo>
                  <a:pt x="1112201" y="89043"/>
                </a:lnTo>
                <a:lnTo>
                  <a:pt x="1154570" y="110998"/>
                </a:lnTo>
                <a:lnTo>
                  <a:pt x="1193885" y="134941"/>
                </a:lnTo>
                <a:lnTo>
                  <a:pt x="1229939" y="160745"/>
                </a:lnTo>
                <a:lnTo>
                  <a:pt x="1262524" y="188284"/>
                </a:lnTo>
                <a:lnTo>
                  <a:pt x="1291436" y="217433"/>
                </a:lnTo>
                <a:lnTo>
                  <a:pt x="1316466" y="248067"/>
                </a:lnTo>
                <a:lnTo>
                  <a:pt x="1337409" y="280059"/>
                </a:lnTo>
                <a:lnTo>
                  <a:pt x="1366205" y="347616"/>
                </a:lnTo>
                <a:lnTo>
                  <a:pt x="1376172" y="419100"/>
                </a:lnTo>
                <a:lnTo>
                  <a:pt x="1373646" y="455269"/>
                </a:lnTo>
                <a:lnTo>
                  <a:pt x="1354058" y="524915"/>
                </a:lnTo>
                <a:lnTo>
                  <a:pt x="1316466" y="590132"/>
                </a:lnTo>
                <a:lnTo>
                  <a:pt x="1291436" y="620766"/>
                </a:lnTo>
                <a:lnTo>
                  <a:pt x="1262524" y="649915"/>
                </a:lnTo>
                <a:lnTo>
                  <a:pt x="1229939" y="677454"/>
                </a:lnTo>
                <a:lnTo>
                  <a:pt x="1193885" y="703258"/>
                </a:lnTo>
                <a:lnTo>
                  <a:pt x="1154570" y="727201"/>
                </a:lnTo>
                <a:lnTo>
                  <a:pt x="1112201" y="749156"/>
                </a:lnTo>
                <a:lnTo>
                  <a:pt x="1066985" y="769000"/>
                </a:lnTo>
                <a:lnTo>
                  <a:pt x="1019127" y="786605"/>
                </a:lnTo>
                <a:lnTo>
                  <a:pt x="968834" y="801846"/>
                </a:lnTo>
                <a:lnTo>
                  <a:pt x="916314" y="814598"/>
                </a:lnTo>
                <a:lnTo>
                  <a:pt x="861772" y="824735"/>
                </a:lnTo>
                <a:lnTo>
                  <a:pt x="805416" y="832132"/>
                </a:lnTo>
                <a:lnTo>
                  <a:pt x="747451" y="836662"/>
                </a:lnTo>
                <a:lnTo>
                  <a:pt x="688086" y="838200"/>
                </a:lnTo>
                <a:lnTo>
                  <a:pt x="628720" y="836662"/>
                </a:lnTo>
                <a:lnTo>
                  <a:pt x="570755" y="832132"/>
                </a:lnTo>
                <a:lnTo>
                  <a:pt x="514399" y="824735"/>
                </a:lnTo>
                <a:lnTo>
                  <a:pt x="459857" y="814598"/>
                </a:lnTo>
                <a:lnTo>
                  <a:pt x="407337" y="801846"/>
                </a:lnTo>
                <a:lnTo>
                  <a:pt x="357044" y="786605"/>
                </a:lnTo>
                <a:lnTo>
                  <a:pt x="309186" y="769000"/>
                </a:lnTo>
                <a:lnTo>
                  <a:pt x="263970" y="749156"/>
                </a:lnTo>
                <a:lnTo>
                  <a:pt x="221601" y="727201"/>
                </a:lnTo>
                <a:lnTo>
                  <a:pt x="182286" y="703258"/>
                </a:lnTo>
                <a:lnTo>
                  <a:pt x="146232" y="677454"/>
                </a:lnTo>
                <a:lnTo>
                  <a:pt x="113647" y="649915"/>
                </a:lnTo>
                <a:lnTo>
                  <a:pt x="84735" y="620766"/>
                </a:lnTo>
                <a:lnTo>
                  <a:pt x="59705" y="590132"/>
                </a:lnTo>
                <a:lnTo>
                  <a:pt x="38762" y="558140"/>
                </a:lnTo>
                <a:lnTo>
                  <a:pt x="9966" y="490583"/>
                </a:lnTo>
                <a:lnTo>
                  <a:pt x="0" y="419100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66461" y="2237054"/>
            <a:ext cx="5321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295" dirty="0">
                <a:solidFill>
                  <a:srgbClr val="FF66FF"/>
                </a:solidFill>
                <a:latin typeface="Arial Narrow"/>
                <a:cs typeface="Arial Narrow"/>
              </a:rPr>
              <a:t>11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49902" y="5258561"/>
            <a:ext cx="1224280" cy="990600"/>
          </a:xfrm>
          <a:custGeom>
            <a:avLst/>
            <a:gdLst/>
            <a:ahLst/>
            <a:cxnLst/>
            <a:rect l="l" t="t" r="r" b="b"/>
            <a:pathLst>
              <a:path w="1224279" h="990600">
                <a:moveTo>
                  <a:pt x="0" y="495300"/>
                </a:moveTo>
                <a:lnTo>
                  <a:pt x="2245" y="452562"/>
                </a:lnTo>
                <a:lnTo>
                  <a:pt x="8861" y="410833"/>
                </a:lnTo>
                <a:lnTo>
                  <a:pt x="19662" y="370264"/>
                </a:lnTo>
                <a:lnTo>
                  <a:pt x="34465" y="331001"/>
                </a:lnTo>
                <a:lnTo>
                  <a:pt x="53086" y="293195"/>
                </a:lnTo>
                <a:lnTo>
                  <a:pt x="75343" y="256992"/>
                </a:lnTo>
                <a:lnTo>
                  <a:pt x="101050" y="222543"/>
                </a:lnTo>
                <a:lnTo>
                  <a:pt x="130025" y="189996"/>
                </a:lnTo>
                <a:lnTo>
                  <a:pt x="162084" y="159498"/>
                </a:lnTo>
                <a:lnTo>
                  <a:pt x="197043" y="131200"/>
                </a:lnTo>
                <a:lnTo>
                  <a:pt x="234719" y="105250"/>
                </a:lnTo>
                <a:lnTo>
                  <a:pt x="274927" y="81796"/>
                </a:lnTo>
                <a:lnTo>
                  <a:pt x="317485" y="60987"/>
                </a:lnTo>
                <a:lnTo>
                  <a:pt x="362209" y="42971"/>
                </a:lnTo>
                <a:lnTo>
                  <a:pt x="408915" y="27898"/>
                </a:lnTo>
                <a:lnTo>
                  <a:pt x="457419" y="15915"/>
                </a:lnTo>
                <a:lnTo>
                  <a:pt x="507538" y="7172"/>
                </a:lnTo>
                <a:lnTo>
                  <a:pt x="559088" y="1817"/>
                </a:lnTo>
                <a:lnTo>
                  <a:pt x="611886" y="0"/>
                </a:lnTo>
                <a:lnTo>
                  <a:pt x="664683" y="1817"/>
                </a:lnTo>
                <a:lnTo>
                  <a:pt x="716233" y="7172"/>
                </a:lnTo>
                <a:lnTo>
                  <a:pt x="766352" y="15915"/>
                </a:lnTo>
                <a:lnTo>
                  <a:pt x="814856" y="27898"/>
                </a:lnTo>
                <a:lnTo>
                  <a:pt x="861562" y="42971"/>
                </a:lnTo>
                <a:lnTo>
                  <a:pt x="906286" y="60987"/>
                </a:lnTo>
                <a:lnTo>
                  <a:pt x="948844" y="81796"/>
                </a:lnTo>
                <a:lnTo>
                  <a:pt x="989052" y="105250"/>
                </a:lnTo>
                <a:lnTo>
                  <a:pt x="1026728" y="131200"/>
                </a:lnTo>
                <a:lnTo>
                  <a:pt x="1061687" y="159498"/>
                </a:lnTo>
                <a:lnTo>
                  <a:pt x="1093746" y="189996"/>
                </a:lnTo>
                <a:lnTo>
                  <a:pt x="1122721" y="222543"/>
                </a:lnTo>
                <a:lnTo>
                  <a:pt x="1148428" y="256992"/>
                </a:lnTo>
                <a:lnTo>
                  <a:pt x="1170685" y="293195"/>
                </a:lnTo>
                <a:lnTo>
                  <a:pt x="1189306" y="331001"/>
                </a:lnTo>
                <a:lnTo>
                  <a:pt x="1204109" y="370264"/>
                </a:lnTo>
                <a:lnTo>
                  <a:pt x="1214910" y="410833"/>
                </a:lnTo>
                <a:lnTo>
                  <a:pt x="1221526" y="452562"/>
                </a:lnTo>
                <a:lnTo>
                  <a:pt x="1223772" y="495300"/>
                </a:lnTo>
                <a:lnTo>
                  <a:pt x="1221526" y="538036"/>
                </a:lnTo>
                <a:lnTo>
                  <a:pt x="1214910" y="579762"/>
                </a:lnTo>
                <a:lnTo>
                  <a:pt x="1204109" y="620331"/>
                </a:lnTo>
                <a:lnTo>
                  <a:pt x="1189306" y="659593"/>
                </a:lnTo>
                <a:lnTo>
                  <a:pt x="1170685" y="697399"/>
                </a:lnTo>
                <a:lnTo>
                  <a:pt x="1148428" y="733601"/>
                </a:lnTo>
                <a:lnTo>
                  <a:pt x="1122721" y="768050"/>
                </a:lnTo>
                <a:lnTo>
                  <a:pt x="1093746" y="800598"/>
                </a:lnTo>
                <a:lnTo>
                  <a:pt x="1061687" y="831096"/>
                </a:lnTo>
                <a:lnTo>
                  <a:pt x="1026728" y="859394"/>
                </a:lnTo>
                <a:lnTo>
                  <a:pt x="989052" y="885345"/>
                </a:lnTo>
                <a:lnTo>
                  <a:pt x="948844" y="908800"/>
                </a:lnTo>
                <a:lnTo>
                  <a:pt x="906286" y="929610"/>
                </a:lnTo>
                <a:lnTo>
                  <a:pt x="861562" y="947626"/>
                </a:lnTo>
                <a:lnTo>
                  <a:pt x="814856" y="962700"/>
                </a:lnTo>
                <a:lnTo>
                  <a:pt x="766352" y="974683"/>
                </a:lnTo>
                <a:lnTo>
                  <a:pt x="716233" y="983426"/>
                </a:lnTo>
                <a:lnTo>
                  <a:pt x="664683" y="988781"/>
                </a:lnTo>
                <a:lnTo>
                  <a:pt x="611886" y="990600"/>
                </a:lnTo>
                <a:lnTo>
                  <a:pt x="559088" y="988781"/>
                </a:lnTo>
                <a:lnTo>
                  <a:pt x="507538" y="983426"/>
                </a:lnTo>
                <a:lnTo>
                  <a:pt x="457419" y="974683"/>
                </a:lnTo>
                <a:lnTo>
                  <a:pt x="408915" y="962700"/>
                </a:lnTo>
                <a:lnTo>
                  <a:pt x="362209" y="947626"/>
                </a:lnTo>
                <a:lnTo>
                  <a:pt x="317485" y="929610"/>
                </a:lnTo>
                <a:lnTo>
                  <a:pt x="274927" y="908800"/>
                </a:lnTo>
                <a:lnTo>
                  <a:pt x="234719" y="885345"/>
                </a:lnTo>
                <a:lnTo>
                  <a:pt x="197043" y="859394"/>
                </a:lnTo>
                <a:lnTo>
                  <a:pt x="162084" y="831096"/>
                </a:lnTo>
                <a:lnTo>
                  <a:pt x="130025" y="800598"/>
                </a:lnTo>
                <a:lnTo>
                  <a:pt x="101050" y="768050"/>
                </a:lnTo>
                <a:lnTo>
                  <a:pt x="75343" y="733601"/>
                </a:lnTo>
                <a:lnTo>
                  <a:pt x="53086" y="697399"/>
                </a:lnTo>
                <a:lnTo>
                  <a:pt x="34465" y="659593"/>
                </a:lnTo>
                <a:lnTo>
                  <a:pt x="19662" y="620331"/>
                </a:lnTo>
                <a:lnTo>
                  <a:pt x="8861" y="579762"/>
                </a:lnTo>
                <a:lnTo>
                  <a:pt x="2245" y="538036"/>
                </a:lnTo>
                <a:lnTo>
                  <a:pt x="0" y="495300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871084" y="5362447"/>
            <a:ext cx="580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solidFill>
                  <a:srgbClr val="FF66FF"/>
                </a:solidFill>
                <a:latin typeface="Arial Narrow"/>
                <a:cs typeface="Arial Narrow"/>
              </a:rPr>
              <a:t>15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40101" y="5334761"/>
            <a:ext cx="1316990" cy="914400"/>
          </a:xfrm>
          <a:custGeom>
            <a:avLst/>
            <a:gdLst/>
            <a:ahLst/>
            <a:cxnLst/>
            <a:rect l="l" t="t" r="r" b="b"/>
            <a:pathLst>
              <a:path w="1316989" h="914400">
                <a:moveTo>
                  <a:pt x="0" y="457200"/>
                </a:moveTo>
                <a:lnTo>
                  <a:pt x="2416" y="417755"/>
                </a:lnTo>
                <a:lnTo>
                  <a:pt x="9534" y="379241"/>
                </a:lnTo>
                <a:lnTo>
                  <a:pt x="21156" y="341795"/>
                </a:lnTo>
                <a:lnTo>
                  <a:pt x="37085" y="305555"/>
                </a:lnTo>
                <a:lnTo>
                  <a:pt x="57122" y="270658"/>
                </a:lnTo>
                <a:lnTo>
                  <a:pt x="81070" y="237241"/>
                </a:lnTo>
                <a:lnTo>
                  <a:pt x="108731" y="205442"/>
                </a:lnTo>
                <a:lnTo>
                  <a:pt x="139908" y="175397"/>
                </a:lnTo>
                <a:lnTo>
                  <a:pt x="174403" y="147245"/>
                </a:lnTo>
                <a:lnTo>
                  <a:pt x="212019" y="121122"/>
                </a:lnTo>
                <a:lnTo>
                  <a:pt x="252557" y="97166"/>
                </a:lnTo>
                <a:lnTo>
                  <a:pt x="295820" y="75514"/>
                </a:lnTo>
                <a:lnTo>
                  <a:pt x="341611" y="56303"/>
                </a:lnTo>
                <a:lnTo>
                  <a:pt x="389732" y="39671"/>
                </a:lnTo>
                <a:lnTo>
                  <a:pt x="439985" y="25756"/>
                </a:lnTo>
                <a:lnTo>
                  <a:pt x="492173" y="14693"/>
                </a:lnTo>
                <a:lnTo>
                  <a:pt x="546098" y="6622"/>
                </a:lnTo>
                <a:lnTo>
                  <a:pt x="601562" y="1678"/>
                </a:lnTo>
                <a:lnTo>
                  <a:pt x="658368" y="0"/>
                </a:lnTo>
                <a:lnTo>
                  <a:pt x="715173" y="1678"/>
                </a:lnTo>
                <a:lnTo>
                  <a:pt x="770637" y="6622"/>
                </a:lnTo>
                <a:lnTo>
                  <a:pt x="824562" y="14693"/>
                </a:lnTo>
                <a:lnTo>
                  <a:pt x="876750" y="25756"/>
                </a:lnTo>
                <a:lnTo>
                  <a:pt x="927003" y="39671"/>
                </a:lnTo>
                <a:lnTo>
                  <a:pt x="975124" y="56303"/>
                </a:lnTo>
                <a:lnTo>
                  <a:pt x="1020915" y="75514"/>
                </a:lnTo>
                <a:lnTo>
                  <a:pt x="1064178" y="97166"/>
                </a:lnTo>
                <a:lnTo>
                  <a:pt x="1104716" y="121122"/>
                </a:lnTo>
                <a:lnTo>
                  <a:pt x="1142332" y="147245"/>
                </a:lnTo>
                <a:lnTo>
                  <a:pt x="1176827" y="175397"/>
                </a:lnTo>
                <a:lnTo>
                  <a:pt x="1208004" y="205442"/>
                </a:lnTo>
                <a:lnTo>
                  <a:pt x="1235665" y="237241"/>
                </a:lnTo>
                <a:lnTo>
                  <a:pt x="1259613" y="270658"/>
                </a:lnTo>
                <a:lnTo>
                  <a:pt x="1279650" y="305555"/>
                </a:lnTo>
                <a:lnTo>
                  <a:pt x="1295579" y="341795"/>
                </a:lnTo>
                <a:lnTo>
                  <a:pt x="1307201" y="379241"/>
                </a:lnTo>
                <a:lnTo>
                  <a:pt x="1314319" y="417755"/>
                </a:lnTo>
                <a:lnTo>
                  <a:pt x="1316736" y="457200"/>
                </a:lnTo>
                <a:lnTo>
                  <a:pt x="1314319" y="496648"/>
                </a:lnTo>
                <a:lnTo>
                  <a:pt x="1307201" y="535165"/>
                </a:lnTo>
                <a:lnTo>
                  <a:pt x="1295579" y="572613"/>
                </a:lnTo>
                <a:lnTo>
                  <a:pt x="1279650" y="608854"/>
                </a:lnTo>
                <a:lnTo>
                  <a:pt x="1259613" y="643752"/>
                </a:lnTo>
                <a:lnTo>
                  <a:pt x="1235665" y="677169"/>
                </a:lnTo>
                <a:lnTo>
                  <a:pt x="1208004" y="708969"/>
                </a:lnTo>
                <a:lnTo>
                  <a:pt x="1176827" y="739013"/>
                </a:lnTo>
                <a:lnTo>
                  <a:pt x="1142332" y="767164"/>
                </a:lnTo>
                <a:lnTo>
                  <a:pt x="1104716" y="793286"/>
                </a:lnTo>
                <a:lnTo>
                  <a:pt x="1064178" y="817241"/>
                </a:lnTo>
                <a:lnTo>
                  <a:pt x="1020915" y="838892"/>
                </a:lnTo>
                <a:lnTo>
                  <a:pt x="975124" y="858101"/>
                </a:lnTo>
                <a:lnTo>
                  <a:pt x="927003" y="874731"/>
                </a:lnTo>
                <a:lnTo>
                  <a:pt x="876750" y="888646"/>
                </a:lnTo>
                <a:lnTo>
                  <a:pt x="824562" y="899707"/>
                </a:lnTo>
                <a:lnTo>
                  <a:pt x="770637" y="907778"/>
                </a:lnTo>
                <a:lnTo>
                  <a:pt x="715173" y="912721"/>
                </a:lnTo>
                <a:lnTo>
                  <a:pt x="658368" y="914400"/>
                </a:lnTo>
                <a:lnTo>
                  <a:pt x="601562" y="912721"/>
                </a:lnTo>
                <a:lnTo>
                  <a:pt x="546098" y="907778"/>
                </a:lnTo>
                <a:lnTo>
                  <a:pt x="492173" y="899707"/>
                </a:lnTo>
                <a:lnTo>
                  <a:pt x="439985" y="888646"/>
                </a:lnTo>
                <a:lnTo>
                  <a:pt x="389732" y="874731"/>
                </a:lnTo>
                <a:lnTo>
                  <a:pt x="341611" y="858101"/>
                </a:lnTo>
                <a:lnTo>
                  <a:pt x="295820" y="838892"/>
                </a:lnTo>
                <a:lnTo>
                  <a:pt x="252557" y="817241"/>
                </a:lnTo>
                <a:lnTo>
                  <a:pt x="212019" y="793286"/>
                </a:lnTo>
                <a:lnTo>
                  <a:pt x="174403" y="767164"/>
                </a:lnTo>
                <a:lnTo>
                  <a:pt x="139908" y="739013"/>
                </a:lnTo>
                <a:lnTo>
                  <a:pt x="108731" y="708969"/>
                </a:lnTo>
                <a:lnTo>
                  <a:pt x="81070" y="677169"/>
                </a:lnTo>
                <a:lnTo>
                  <a:pt x="57122" y="643752"/>
                </a:lnTo>
                <a:lnTo>
                  <a:pt x="37085" y="608854"/>
                </a:lnTo>
                <a:lnTo>
                  <a:pt x="21156" y="572613"/>
                </a:lnTo>
                <a:lnTo>
                  <a:pt x="9534" y="535165"/>
                </a:lnTo>
                <a:lnTo>
                  <a:pt x="2416" y="496648"/>
                </a:lnTo>
                <a:lnTo>
                  <a:pt x="0" y="457200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847594" y="5400547"/>
            <a:ext cx="3035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FF66FF"/>
                </a:solidFill>
                <a:latin typeface="Arial Narrow"/>
                <a:cs typeface="Arial Narrow"/>
              </a:rPr>
              <a:t>5</a:t>
            </a:r>
            <a:endParaRPr sz="48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56076" y="2656332"/>
            <a:ext cx="745490" cy="173990"/>
          </a:xfrm>
          <a:custGeom>
            <a:avLst/>
            <a:gdLst/>
            <a:ahLst/>
            <a:cxnLst/>
            <a:rect l="l" t="t" r="r" b="b"/>
            <a:pathLst>
              <a:path w="745489" h="173989">
                <a:moveTo>
                  <a:pt x="455675" y="0"/>
                </a:moveTo>
                <a:lnTo>
                  <a:pt x="455675" y="173735"/>
                </a:lnTo>
                <a:lnTo>
                  <a:pt x="648716" y="115823"/>
                </a:lnTo>
                <a:lnTo>
                  <a:pt x="484632" y="115823"/>
                </a:lnTo>
                <a:lnTo>
                  <a:pt x="484632" y="57912"/>
                </a:lnTo>
                <a:lnTo>
                  <a:pt x="648716" y="57912"/>
                </a:lnTo>
                <a:lnTo>
                  <a:pt x="455675" y="0"/>
                </a:lnTo>
                <a:close/>
              </a:path>
              <a:path w="745489" h="173989">
                <a:moveTo>
                  <a:pt x="455675" y="57912"/>
                </a:moveTo>
                <a:lnTo>
                  <a:pt x="0" y="57912"/>
                </a:lnTo>
                <a:lnTo>
                  <a:pt x="0" y="115823"/>
                </a:lnTo>
                <a:lnTo>
                  <a:pt x="455675" y="115823"/>
                </a:lnTo>
                <a:lnTo>
                  <a:pt x="455675" y="57912"/>
                </a:lnTo>
                <a:close/>
              </a:path>
              <a:path w="745489" h="173989">
                <a:moveTo>
                  <a:pt x="648716" y="57912"/>
                </a:moveTo>
                <a:lnTo>
                  <a:pt x="484632" y="57912"/>
                </a:lnTo>
                <a:lnTo>
                  <a:pt x="484632" y="115823"/>
                </a:lnTo>
                <a:lnTo>
                  <a:pt x="648716" y="115823"/>
                </a:lnTo>
                <a:lnTo>
                  <a:pt x="745236" y="86867"/>
                </a:lnTo>
                <a:lnTo>
                  <a:pt x="648716" y="57912"/>
                </a:lnTo>
                <a:close/>
              </a:path>
            </a:pathLst>
          </a:custGeom>
          <a:solidFill>
            <a:srgbClr val="AFA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24071" y="5780036"/>
            <a:ext cx="897890" cy="173990"/>
          </a:xfrm>
          <a:custGeom>
            <a:avLst/>
            <a:gdLst/>
            <a:ahLst/>
            <a:cxnLst/>
            <a:rect l="l" t="t" r="r" b="b"/>
            <a:pathLst>
              <a:path w="897889" h="173989">
                <a:moveTo>
                  <a:pt x="608033" y="115825"/>
                </a:moveTo>
                <a:lnTo>
                  <a:pt x="607949" y="173736"/>
                </a:lnTo>
                <a:lnTo>
                  <a:pt x="802010" y="115874"/>
                </a:lnTo>
                <a:lnTo>
                  <a:pt x="637031" y="115874"/>
                </a:lnTo>
                <a:lnTo>
                  <a:pt x="608033" y="115825"/>
                </a:lnTo>
                <a:close/>
              </a:path>
              <a:path w="897889" h="173989">
                <a:moveTo>
                  <a:pt x="608118" y="57913"/>
                </a:moveTo>
                <a:lnTo>
                  <a:pt x="608033" y="115825"/>
                </a:lnTo>
                <a:lnTo>
                  <a:pt x="637031" y="115874"/>
                </a:lnTo>
                <a:lnTo>
                  <a:pt x="637031" y="57962"/>
                </a:lnTo>
                <a:lnTo>
                  <a:pt x="608118" y="57913"/>
                </a:lnTo>
                <a:close/>
              </a:path>
              <a:path w="897889" h="173989">
                <a:moveTo>
                  <a:pt x="608202" y="0"/>
                </a:moveTo>
                <a:lnTo>
                  <a:pt x="608118" y="57913"/>
                </a:lnTo>
                <a:lnTo>
                  <a:pt x="637031" y="57962"/>
                </a:lnTo>
                <a:lnTo>
                  <a:pt x="637031" y="115874"/>
                </a:lnTo>
                <a:lnTo>
                  <a:pt x="802010" y="115874"/>
                </a:lnTo>
                <a:lnTo>
                  <a:pt x="897636" y="87363"/>
                </a:lnTo>
                <a:lnTo>
                  <a:pt x="608202" y="0"/>
                </a:lnTo>
                <a:close/>
              </a:path>
              <a:path w="897889" h="173989">
                <a:moveTo>
                  <a:pt x="0" y="56883"/>
                </a:moveTo>
                <a:lnTo>
                  <a:pt x="0" y="114795"/>
                </a:lnTo>
                <a:lnTo>
                  <a:pt x="608033" y="115825"/>
                </a:lnTo>
                <a:lnTo>
                  <a:pt x="608118" y="57913"/>
                </a:lnTo>
                <a:lnTo>
                  <a:pt x="0" y="56883"/>
                </a:lnTo>
                <a:close/>
              </a:path>
            </a:pathLst>
          </a:custGeom>
          <a:solidFill>
            <a:srgbClr val="AFA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563873" y="3734561"/>
            <a:ext cx="1219200" cy="762000"/>
          </a:xfrm>
          <a:custGeom>
            <a:avLst/>
            <a:gdLst/>
            <a:ahLst/>
            <a:cxnLst/>
            <a:rect l="l" t="t" r="r" b="b"/>
            <a:pathLst>
              <a:path w="1219200" h="762000">
                <a:moveTo>
                  <a:pt x="0" y="381000"/>
                </a:moveTo>
                <a:lnTo>
                  <a:pt x="10991" y="308596"/>
                </a:lnTo>
                <a:lnTo>
                  <a:pt x="42604" y="240780"/>
                </a:lnTo>
                <a:lnTo>
                  <a:pt x="65505" y="208992"/>
                </a:lnTo>
                <a:lnTo>
                  <a:pt x="92795" y="178830"/>
                </a:lnTo>
                <a:lnTo>
                  <a:pt x="124219" y="150453"/>
                </a:lnTo>
                <a:lnTo>
                  <a:pt x="159520" y="124021"/>
                </a:lnTo>
                <a:lnTo>
                  <a:pt x="198445" y="99694"/>
                </a:lnTo>
                <a:lnTo>
                  <a:pt x="240736" y="77632"/>
                </a:lnTo>
                <a:lnTo>
                  <a:pt x="286139" y="57993"/>
                </a:lnTo>
                <a:lnTo>
                  <a:pt x="334399" y="40938"/>
                </a:lnTo>
                <a:lnTo>
                  <a:pt x="385259" y="26626"/>
                </a:lnTo>
                <a:lnTo>
                  <a:pt x="438465" y="15216"/>
                </a:lnTo>
                <a:lnTo>
                  <a:pt x="493760" y="6869"/>
                </a:lnTo>
                <a:lnTo>
                  <a:pt x="550890" y="1743"/>
                </a:lnTo>
                <a:lnTo>
                  <a:pt x="609600" y="0"/>
                </a:lnTo>
                <a:lnTo>
                  <a:pt x="668309" y="1743"/>
                </a:lnTo>
                <a:lnTo>
                  <a:pt x="725439" y="6869"/>
                </a:lnTo>
                <a:lnTo>
                  <a:pt x="780734" y="15216"/>
                </a:lnTo>
                <a:lnTo>
                  <a:pt x="833940" y="26626"/>
                </a:lnTo>
                <a:lnTo>
                  <a:pt x="884800" y="40938"/>
                </a:lnTo>
                <a:lnTo>
                  <a:pt x="933060" y="57993"/>
                </a:lnTo>
                <a:lnTo>
                  <a:pt x="978463" y="77632"/>
                </a:lnTo>
                <a:lnTo>
                  <a:pt x="1020754" y="99694"/>
                </a:lnTo>
                <a:lnTo>
                  <a:pt x="1059679" y="124021"/>
                </a:lnTo>
                <a:lnTo>
                  <a:pt x="1094980" y="150453"/>
                </a:lnTo>
                <a:lnTo>
                  <a:pt x="1126404" y="178830"/>
                </a:lnTo>
                <a:lnTo>
                  <a:pt x="1153694" y="208992"/>
                </a:lnTo>
                <a:lnTo>
                  <a:pt x="1176595" y="240780"/>
                </a:lnTo>
                <a:lnTo>
                  <a:pt x="1208208" y="308596"/>
                </a:lnTo>
                <a:lnTo>
                  <a:pt x="1219200" y="381000"/>
                </a:lnTo>
                <a:lnTo>
                  <a:pt x="1216409" y="417695"/>
                </a:lnTo>
                <a:lnTo>
                  <a:pt x="1194851" y="487965"/>
                </a:lnTo>
                <a:lnTo>
                  <a:pt x="1153694" y="553007"/>
                </a:lnTo>
                <a:lnTo>
                  <a:pt x="1126404" y="583169"/>
                </a:lnTo>
                <a:lnTo>
                  <a:pt x="1094980" y="611546"/>
                </a:lnTo>
                <a:lnTo>
                  <a:pt x="1059679" y="637978"/>
                </a:lnTo>
                <a:lnTo>
                  <a:pt x="1020754" y="662305"/>
                </a:lnTo>
                <a:lnTo>
                  <a:pt x="978463" y="684367"/>
                </a:lnTo>
                <a:lnTo>
                  <a:pt x="933060" y="704006"/>
                </a:lnTo>
                <a:lnTo>
                  <a:pt x="884800" y="721061"/>
                </a:lnTo>
                <a:lnTo>
                  <a:pt x="833940" y="735373"/>
                </a:lnTo>
                <a:lnTo>
                  <a:pt x="780734" y="746783"/>
                </a:lnTo>
                <a:lnTo>
                  <a:pt x="725439" y="755130"/>
                </a:lnTo>
                <a:lnTo>
                  <a:pt x="668309" y="760256"/>
                </a:lnTo>
                <a:lnTo>
                  <a:pt x="609600" y="762000"/>
                </a:lnTo>
                <a:lnTo>
                  <a:pt x="550890" y="760256"/>
                </a:lnTo>
                <a:lnTo>
                  <a:pt x="493760" y="755130"/>
                </a:lnTo>
                <a:lnTo>
                  <a:pt x="438465" y="746783"/>
                </a:lnTo>
                <a:lnTo>
                  <a:pt x="385259" y="735373"/>
                </a:lnTo>
                <a:lnTo>
                  <a:pt x="334399" y="721061"/>
                </a:lnTo>
                <a:lnTo>
                  <a:pt x="286139" y="704006"/>
                </a:lnTo>
                <a:lnTo>
                  <a:pt x="240736" y="684367"/>
                </a:lnTo>
                <a:lnTo>
                  <a:pt x="198445" y="662305"/>
                </a:lnTo>
                <a:lnTo>
                  <a:pt x="159520" y="637978"/>
                </a:lnTo>
                <a:lnTo>
                  <a:pt x="124219" y="611546"/>
                </a:lnTo>
                <a:lnTo>
                  <a:pt x="92795" y="583169"/>
                </a:lnTo>
                <a:lnTo>
                  <a:pt x="65505" y="553007"/>
                </a:lnTo>
                <a:lnTo>
                  <a:pt x="42604" y="521219"/>
                </a:lnTo>
                <a:lnTo>
                  <a:pt x="10991" y="453403"/>
                </a:lnTo>
                <a:lnTo>
                  <a:pt x="0" y="381000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882009" y="3723894"/>
            <a:ext cx="5803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" dirty="0">
                <a:solidFill>
                  <a:srgbClr val="FF66FF"/>
                </a:solidFill>
                <a:latin typeface="Arial Narrow"/>
                <a:cs typeface="Arial Narrow"/>
              </a:rPr>
              <a:t>10</a:t>
            </a:r>
            <a:endParaRPr sz="4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81913"/>
            <a:ext cx="36531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浮动时</a:t>
            </a:r>
            <a:r>
              <a:rPr spc="-5" dirty="0">
                <a:latin typeface="华文隶书"/>
                <a:cs typeface="华文隶书"/>
              </a:rPr>
              <a:t>间</a:t>
            </a:r>
            <a:r>
              <a:rPr i="1" dirty="0">
                <a:latin typeface="华文隶书"/>
                <a:cs typeface="华文隶书"/>
              </a:rPr>
              <a:t>(Float)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1692" y="1644523"/>
            <a:ext cx="7948295" cy="1352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隶书"/>
                <a:cs typeface="隶书"/>
              </a:rPr>
              <a:t>浮动时</a:t>
            </a:r>
            <a:r>
              <a:rPr sz="2900" spc="-15" dirty="0">
                <a:latin typeface="隶书"/>
                <a:cs typeface="隶书"/>
              </a:rPr>
              <a:t>间</a:t>
            </a:r>
            <a:r>
              <a:rPr sz="2900" dirty="0">
                <a:latin typeface="隶书"/>
                <a:cs typeface="隶书"/>
              </a:rPr>
              <a:t>是一个</a:t>
            </a:r>
            <a:r>
              <a:rPr sz="2900" spc="-15" dirty="0">
                <a:latin typeface="隶书"/>
                <a:cs typeface="隶书"/>
              </a:rPr>
              <a:t>任</a:t>
            </a:r>
            <a:r>
              <a:rPr sz="2900" dirty="0">
                <a:latin typeface="隶书"/>
                <a:cs typeface="隶书"/>
              </a:rPr>
              <a:t>务的机</a:t>
            </a:r>
            <a:r>
              <a:rPr sz="2900" spc="-15" dirty="0">
                <a:latin typeface="隶书"/>
                <a:cs typeface="隶书"/>
              </a:rPr>
              <a:t>动</a:t>
            </a:r>
            <a:r>
              <a:rPr sz="2900" spc="5" dirty="0">
                <a:latin typeface="隶书"/>
                <a:cs typeface="隶书"/>
              </a:rPr>
              <a:t>性</a:t>
            </a:r>
            <a:r>
              <a:rPr sz="2900" dirty="0">
                <a:latin typeface="隶书"/>
                <a:cs typeface="隶书"/>
              </a:rPr>
              <a:t>,它</a:t>
            </a:r>
            <a:r>
              <a:rPr sz="2900" spc="-15" dirty="0">
                <a:latin typeface="隶书"/>
                <a:cs typeface="隶书"/>
              </a:rPr>
              <a:t>是</a:t>
            </a:r>
            <a:r>
              <a:rPr sz="2900" dirty="0">
                <a:latin typeface="隶书"/>
                <a:cs typeface="隶书"/>
              </a:rPr>
              <a:t>一个任</a:t>
            </a:r>
            <a:r>
              <a:rPr sz="2900" spc="-15" dirty="0">
                <a:latin typeface="隶书"/>
                <a:cs typeface="隶书"/>
              </a:rPr>
              <a:t>务</a:t>
            </a:r>
            <a:r>
              <a:rPr sz="2900" dirty="0">
                <a:latin typeface="隶书"/>
                <a:cs typeface="隶书"/>
              </a:rPr>
              <a:t>在不 影响其</a:t>
            </a:r>
            <a:r>
              <a:rPr sz="2900" spc="-15" dirty="0">
                <a:latin typeface="隶书"/>
                <a:cs typeface="隶书"/>
              </a:rPr>
              <a:t>它</a:t>
            </a:r>
            <a:r>
              <a:rPr sz="2900" dirty="0">
                <a:latin typeface="隶书"/>
                <a:cs typeface="隶书"/>
              </a:rPr>
              <a:t>任务或</a:t>
            </a:r>
            <a:r>
              <a:rPr sz="2900" spc="-15" dirty="0">
                <a:latin typeface="隶书"/>
                <a:cs typeface="隶书"/>
              </a:rPr>
              <a:t>者</a:t>
            </a:r>
            <a:r>
              <a:rPr sz="2900" dirty="0">
                <a:latin typeface="隶书"/>
                <a:cs typeface="隶书"/>
              </a:rPr>
              <a:t>项目完</a:t>
            </a:r>
            <a:r>
              <a:rPr sz="2900" spc="-15" dirty="0">
                <a:latin typeface="隶书"/>
                <a:cs typeface="隶书"/>
              </a:rPr>
              <a:t>成</a:t>
            </a:r>
            <a:r>
              <a:rPr sz="2900" dirty="0">
                <a:latin typeface="隶书"/>
                <a:cs typeface="隶书"/>
              </a:rPr>
              <a:t>的情况</a:t>
            </a:r>
            <a:r>
              <a:rPr sz="2900" spc="-15" dirty="0">
                <a:latin typeface="隶书"/>
                <a:cs typeface="隶书"/>
              </a:rPr>
              <a:t>下</a:t>
            </a:r>
            <a:r>
              <a:rPr sz="2900" dirty="0">
                <a:latin typeface="隶书"/>
                <a:cs typeface="隶书"/>
              </a:rPr>
              <a:t>可以延</a:t>
            </a:r>
            <a:r>
              <a:rPr sz="2900" spc="-15" dirty="0">
                <a:latin typeface="隶书"/>
                <a:cs typeface="隶书"/>
              </a:rPr>
              <a:t>迟</a:t>
            </a:r>
            <a:r>
              <a:rPr sz="2900" dirty="0">
                <a:latin typeface="隶书"/>
                <a:cs typeface="隶书"/>
              </a:rPr>
              <a:t>的 时间量。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10967" y="3124200"/>
            <a:ext cx="4509515" cy="3185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411729" y="3294126"/>
            <a:ext cx="1338580" cy="567055"/>
          </a:xfrm>
          <a:custGeom>
            <a:avLst/>
            <a:gdLst/>
            <a:ahLst/>
            <a:cxnLst/>
            <a:rect l="l" t="t" r="r" b="b"/>
            <a:pathLst>
              <a:path w="1338579" h="567054">
                <a:moveTo>
                  <a:pt x="0" y="283463"/>
                </a:moveTo>
                <a:lnTo>
                  <a:pt x="12065" y="229588"/>
                </a:lnTo>
                <a:lnTo>
                  <a:pt x="46766" y="179130"/>
                </a:lnTo>
                <a:lnTo>
                  <a:pt x="101857" y="133038"/>
                </a:lnTo>
                <a:lnTo>
                  <a:pt x="136348" y="111926"/>
                </a:lnTo>
                <a:lnTo>
                  <a:pt x="175095" y="92262"/>
                </a:lnTo>
                <a:lnTo>
                  <a:pt x="217817" y="74164"/>
                </a:lnTo>
                <a:lnTo>
                  <a:pt x="264233" y="57751"/>
                </a:lnTo>
                <a:lnTo>
                  <a:pt x="314064" y="43141"/>
                </a:lnTo>
                <a:lnTo>
                  <a:pt x="367029" y="30453"/>
                </a:lnTo>
                <a:lnTo>
                  <a:pt x="422846" y="19806"/>
                </a:lnTo>
                <a:lnTo>
                  <a:pt x="481236" y="11319"/>
                </a:lnTo>
                <a:lnTo>
                  <a:pt x="541918" y="5109"/>
                </a:lnTo>
                <a:lnTo>
                  <a:pt x="604612" y="1297"/>
                </a:lnTo>
                <a:lnTo>
                  <a:pt x="669036" y="0"/>
                </a:lnTo>
                <a:lnTo>
                  <a:pt x="733459" y="1297"/>
                </a:lnTo>
                <a:lnTo>
                  <a:pt x="796153" y="5109"/>
                </a:lnTo>
                <a:lnTo>
                  <a:pt x="856835" y="11319"/>
                </a:lnTo>
                <a:lnTo>
                  <a:pt x="915225" y="19806"/>
                </a:lnTo>
                <a:lnTo>
                  <a:pt x="971042" y="30453"/>
                </a:lnTo>
                <a:lnTo>
                  <a:pt x="1024007" y="43141"/>
                </a:lnTo>
                <a:lnTo>
                  <a:pt x="1073838" y="57751"/>
                </a:lnTo>
                <a:lnTo>
                  <a:pt x="1120254" y="74164"/>
                </a:lnTo>
                <a:lnTo>
                  <a:pt x="1162976" y="92262"/>
                </a:lnTo>
                <a:lnTo>
                  <a:pt x="1201723" y="111926"/>
                </a:lnTo>
                <a:lnTo>
                  <a:pt x="1236214" y="133038"/>
                </a:lnTo>
                <a:lnTo>
                  <a:pt x="1291305" y="179130"/>
                </a:lnTo>
                <a:lnTo>
                  <a:pt x="1326006" y="229588"/>
                </a:lnTo>
                <a:lnTo>
                  <a:pt x="1338071" y="283463"/>
                </a:lnTo>
                <a:lnTo>
                  <a:pt x="1335008" y="310769"/>
                </a:lnTo>
                <a:lnTo>
                  <a:pt x="1311344" y="363054"/>
                </a:lnTo>
                <a:lnTo>
                  <a:pt x="1266168" y="411448"/>
                </a:lnTo>
                <a:lnTo>
                  <a:pt x="1201723" y="455001"/>
                </a:lnTo>
                <a:lnTo>
                  <a:pt x="1162976" y="474665"/>
                </a:lnTo>
                <a:lnTo>
                  <a:pt x="1120254" y="492763"/>
                </a:lnTo>
                <a:lnTo>
                  <a:pt x="1073838" y="509176"/>
                </a:lnTo>
                <a:lnTo>
                  <a:pt x="1024007" y="523786"/>
                </a:lnTo>
                <a:lnTo>
                  <a:pt x="971042" y="536474"/>
                </a:lnTo>
                <a:lnTo>
                  <a:pt x="915225" y="547121"/>
                </a:lnTo>
                <a:lnTo>
                  <a:pt x="856835" y="555608"/>
                </a:lnTo>
                <a:lnTo>
                  <a:pt x="796153" y="561818"/>
                </a:lnTo>
                <a:lnTo>
                  <a:pt x="733459" y="565630"/>
                </a:lnTo>
                <a:lnTo>
                  <a:pt x="669036" y="566928"/>
                </a:lnTo>
                <a:lnTo>
                  <a:pt x="604612" y="565630"/>
                </a:lnTo>
                <a:lnTo>
                  <a:pt x="541918" y="561818"/>
                </a:lnTo>
                <a:lnTo>
                  <a:pt x="481236" y="555608"/>
                </a:lnTo>
                <a:lnTo>
                  <a:pt x="422846" y="547121"/>
                </a:lnTo>
                <a:lnTo>
                  <a:pt x="367029" y="536474"/>
                </a:lnTo>
                <a:lnTo>
                  <a:pt x="314064" y="523786"/>
                </a:lnTo>
                <a:lnTo>
                  <a:pt x="264233" y="509176"/>
                </a:lnTo>
                <a:lnTo>
                  <a:pt x="217817" y="492763"/>
                </a:lnTo>
                <a:lnTo>
                  <a:pt x="175095" y="474665"/>
                </a:lnTo>
                <a:lnTo>
                  <a:pt x="136348" y="455001"/>
                </a:lnTo>
                <a:lnTo>
                  <a:pt x="101857" y="433889"/>
                </a:lnTo>
                <a:lnTo>
                  <a:pt x="46766" y="387797"/>
                </a:lnTo>
                <a:lnTo>
                  <a:pt x="12065" y="337339"/>
                </a:lnTo>
                <a:lnTo>
                  <a:pt x="0" y="283463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63417" y="3280664"/>
            <a:ext cx="234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580126" y="3294126"/>
            <a:ext cx="1341120" cy="675640"/>
          </a:xfrm>
          <a:custGeom>
            <a:avLst/>
            <a:gdLst/>
            <a:ahLst/>
            <a:cxnLst/>
            <a:rect l="l" t="t" r="r" b="b"/>
            <a:pathLst>
              <a:path w="1341120" h="675639">
                <a:moveTo>
                  <a:pt x="0" y="337566"/>
                </a:moveTo>
                <a:lnTo>
                  <a:pt x="10803" y="276887"/>
                </a:lnTo>
                <a:lnTo>
                  <a:pt x="41952" y="219776"/>
                </a:lnTo>
                <a:lnTo>
                  <a:pt x="91552" y="167188"/>
                </a:lnTo>
                <a:lnTo>
                  <a:pt x="122680" y="142887"/>
                </a:lnTo>
                <a:lnTo>
                  <a:pt x="157709" y="120075"/>
                </a:lnTo>
                <a:lnTo>
                  <a:pt x="196405" y="98869"/>
                </a:lnTo>
                <a:lnTo>
                  <a:pt x="238530" y="79390"/>
                </a:lnTo>
                <a:lnTo>
                  <a:pt x="283846" y="61756"/>
                </a:lnTo>
                <a:lnTo>
                  <a:pt x="332119" y="46086"/>
                </a:lnTo>
                <a:lnTo>
                  <a:pt x="383110" y="32501"/>
                </a:lnTo>
                <a:lnTo>
                  <a:pt x="436583" y="21118"/>
                </a:lnTo>
                <a:lnTo>
                  <a:pt x="492301" y="12057"/>
                </a:lnTo>
                <a:lnTo>
                  <a:pt x="550028" y="5438"/>
                </a:lnTo>
                <a:lnTo>
                  <a:pt x="609526" y="1379"/>
                </a:lnTo>
                <a:lnTo>
                  <a:pt x="670560" y="0"/>
                </a:lnTo>
                <a:lnTo>
                  <a:pt x="731593" y="1379"/>
                </a:lnTo>
                <a:lnTo>
                  <a:pt x="791091" y="5438"/>
                </a:lnTo>
                <a:lnTo>
                  <a:pt x="848818" y="12057"/>
                </a:lnTo>
                <a:lnTo>
                  <a:pt x="904536" y="21118"/>
                </a:lnTo>
                <a:lnTo>
                  <a:pt x="958009" y="32501"/>
                </a:lnTo>
                <a:lnTo>
                  <a:pt x="1009000" y="46086"/>
                </a:lnTo>
                <a:lnTo>
                  <a:pt x="1057273" y="61756"/>
                </a:lnTo>
                <a:lnTo>
                  <a:pt x="1102589" y="79390"/>
                </a:lnTo>
                <a:lnTo>
                  <a:pt x="1144714" y="98869"/>
                </a:lnTo>
                <a:lnTo>
                  <a:pt x="1183410" y="120075"/>
                </a:lnTo>
                <a:lnTo>
                  <a:pt x="1218439" y="142887"/>
                </a:lnTo>
                <a:lnTo>
                  <a:pt x="1249567" y="167188"/>
                </a:lnTo>
                <a:lnTo>
                  <a:pt x="1299167" y="219776"/>
                </a:lnTo>
                <a:lnTo>
                  <a:pt x="1330316" y="276887"/>
                </a:lnTo>
                <a:lnTo>
                  <a:pt x="1341120" y="337566"/>
                </a:lnTo>
                <a:lnTo>
                  <a:pt x="1338379" y="368291"/>
                </a:lnTo>
                <a:lnTo>
                  <a:pt x="1317166" y="427305"/>
                </a:lnTo>
                <a:lnTo>
                  <a:pt x="1276555" y="482274"/>
                </a:lnTo>
                <a:lnTo>
                  <a:pt x="1218439" y="532244"/>
                </a:lnTo>
                <a:lnTo>
                  <a:pt x="1183410" y="555056"/>
                </a:lnTo>
                <a:lnTo>
                  <a:pt x="1144714" y="576262"/>
                </a:lnTo>
                <a:lnTo>
                  <a:pt x="1102589" y="595741"/>
                </a:lnTo>
                <a:lnTo>
                  <a:pt x="1057273" y="613375"/>
                </a:lnTo>
                <a:lnTo>
                  <a:pt x="1009000" y="629045"/>
                </a:lnTo>
                <a:lnTo>
                  <a:pt x="958009" y="642630"/>
                </a:lnTo>
                <a:lnTo>
                  <a:pt x="904536" y="654013"/>
                </a:lnTo>
                <a:lnTo>
                  <a:pt x="848818" y="663074"/>
                </a:lnTo>
                <a:lnTo>
                  <a:pt x="791091" y="669693"/>
                </a:lnTo>
                <a:lnTo>
                  <a:pt x="731593" y="673752"/>
                </a:lnTo>
                <a:lnTo>
                  <a:pt x="670560" y="675132"/>
                </a:lnTo>
                <a:lnTo>
                  <a:pt x="609526" y="673752"/>
                </a:lnTo>
                <a:lnTo>
                  <a:pt x="550028" y="669693"/>
                </a:lnTo>
                <a:lnTo>
                  <a:pt x="492301" y="663074"/>
                </a:lnTo>
                <a:lnTo>
                  <a:pt x="436583" y="654013"/>
                </a:lnTo>
                <a:lnTo>
                  <a:pt x="383110" y="642630"/>
                </a:lnTo>
                <a:lnTo>
                  <a:pt x="332119" y="629045"/>
                </a:lnTo>
                <a:lnTo>
                  <a:pt x="283846" y="613375"/>
                </a:lnTo>
                <a:lnTo>
                  <a:pt x="238530" y="595741"/>
                </a:lnTo>
                <a:lnTo>
                  <a:pt x="196405" y="576262"/>
                </a:lnTo>
                <a:lnTo>
                  <a:pt x="157709" y="555056"/>
                </a:lnTo>
                <a:lnTo>
                  <a:pt x="122680" y="532244"/>
                </a:lnTo>
                <a:lnTo>
                  <a:pt x="91552" y="507943"/>
                </a:lnTo>
                <a:lnTo>
                  <a:pt x="41952" y="455355"/>
                </a:lnTo>
                <a:lnTo>
                  <a:pt x="10803" y="398244"/>
                </a:lnTo>
                <a:lnTo>
                  <a:pt x="0" y="337566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42405" y="3334334"/>
            <a:ext cx="4032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0" dirty="0">
                <a:solidFill>
                  <a:srgbClr val="FF66FF"/>
                </a:solidFill>
                <a:latin typeface="Arial Narrow"/>
                <a:cs typeface="Arial Narrow"/>
              </a:rPr>
              <a:t>11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13097" y="4437126"/>
            <a:ext cx="1219200" cy="559435"/>
          </a:xfrm>
          <a:custGeom>
            <a:avLst/>
            <a:gdLst/>
            <a:ahLst/>
            <a:cxnLst/>
            <a:rect l="l" t="t" r="r" b="b"/>
            <a:pathLst>
              <a:path w="1219200" h="559435">
                <a:moveTo>
                  <a:pt x="0" y="279654"/>
                </a:moveTo>
                <a:lnTo>
                  <a:pt x="12384" y="223298"/>
                </a:lnTo>
                <a:lnTo>
                  <a:pt x="47904" y="170807"/>
                </a:lnTo>
                <a:lnTo>
                  <a:pt x="104108" y="123304"/>
                </a:lnTo>
                <a:lnTo>
                  <a:pt x="139201" y="101774"/>
                </a:lnTo>
                <a:lnTo>
                  <a:pt x="178546" y="81914"/>
                </a:lnTo>
                <a:lnTo>
                  <a:pt x="221836" y="63864"/>
                </a:lnTo>
                <a:lnTo>
                  <a:pt x="268764" y="47764"/>
                </a:lnTo>
                <a:lnTo>
                  <a:pt x="319026" y="33756"/>
                </a:lnTo>
                <a:lnTo>
                  <a:pt x="372314" y="21978"/>
                </a:lnTo>
                <a:lnTo>
                  <a:pt x="428322" y="12574"/>
                </a:lnTo>
                <a:lnTo>
                  <a:pt x="486743" y="5682"/>
                </a:lnTo>
                <a:lnTo>
                  <a:pt x="547271" y="1444"/>
                </a:lnTo>
                <a:lnTo>
                  <a:pt x="609600" y="0"/>
                </a:lnTo>
                <a:lnTo>
                  <a:pt x="671928" y="1444"/>
                </a:lnTo>
                <a:lnTo>
                  <a:pt x="732456" y="5682"/>
                </a:lnTo>
                <a:lnTo>
                  <a:pt x="790877" y="12574"/>
                </a:lnTo>
                <a:lnTo>
                  <a:pt x="846885" y="21978"/>
                </a:lnTo>
                <a:lnTo>
                  <a:pt x="900173" y="33756"/>
                </a:lnTo>
                <a:lnTo>
                  <a:pt x="950435" y="47764"/>
                </a:lnTo>
                <a:lnTo>
                  <a:pt x="997363" y="63864"/>
                </a:lnTo>
                <a:lnTo>
                  <a:pt x="1040653" y="81915"/>
                </a:lnTo>
                <a:lnTo>
                  <a:pt x="1079998" y="101774"/>
                </a:lnTo>
                <a:lnTo>
                  <a:pt x="1115091" y="123304"/>
                </a:lnTo>
                <a:lnTo>
                  <a:pt x="1145625" y="146361"/>
                </a:lnTo>
                <a:lnTo>
                  <a:pt x="1191793" y="196499"/>
                </a:lnTo>
                <a:lnTo>
                  <a:pt x="1216052" y="251063"/>
                </a:lnTo>
                <a:lnTo>
                  <a:pt x="1219200" y="279654"/>
                </a:lnTo>
                <a:lnTo>
                  <a:pt x="1216052" y="308244"/>
                </a:lnTo>
                <a:lnTo>
                  <a:pt x="1191793" y="362808"/>
                </a:lnTo>
                <a:lnTo>
                  <a:pt x="1145625" y="412946"/>
                </a:lnTo>
                <a:lnTo>
                  <a:pt x="1115091" y="436003"/>
                </a:lnTo>
                <a:lnTo>
                  <a:pt x="1079998" y="457533"/>
                </a:lnTo>
                <a:lnTo>
                  <a:pt x="1040653" y="477393"/>
                </a:lnTo>
                <a:lnTo>
                  <a:pt x="997363" y="495443"/>
                </a:lnTo>
                <a:lnTo>
                  <a:pt x="950435" y="511543"/>
                </a:lnTo>
                <a:lnTo>
                  <a:pt x="900173" y="525551"/>
                </a:lnTo>
                <a:lnTo>
                  <a:pt x="846885" y="537329"/>
                </a:lnTo>
                <a:lnTo>
                  <a:pt x="790877" y="546733"/>
                </a:lnTo>
                <a:lnTo>
                  <a:pt x="732456" y="553625"/>
                </a:lnTo>
                <a:lnTo>
                  <a:pt x="671928" y="557863"/>
                </a:lnTo>
                <a:lnTo>
                  <a:pt x="609600" y="559307"/>
                </a:lnTo>
                <a:lnTo>
                  <a:pt x="547271" y="557863"/>
                </a:lnTo>
                <a:lnTo>
                  <a:pt x="486743" y="553625"/>
                </a:lnTo>
                <a:lnTo>
                  <a:pt x="428322" y="546733"/>
                </a:lnTo>
                <a:lnTo>
                  <a:pt x="372314" y="537329"/>
                </a:lnTo>
                <a:lnTo>
                  <a:pt x="319026" y="525551"/>
                </a:lnTo>
                <a:lnTo>
                  <a:pt x="268764" y="511543"/>
                </a:lnTo>
                <a:lnTo>
                  <a:pt x="221836" y="495443"/>
                </a:lnTo>
                <a:lnTo>
                  <a:pt x="178546" y="477393"/>
                </a:lnTo>
                <a:lnTo>
                  <a:pt x="139201" y="457533"/>
                </a:lnTo>
                <a:lnTo>
                  <a:pt x="104108" y="436003"/>
                </a:lnTo>
                <a:lnTo>
                  <a:pt x="73574" y="412946"/>
                </a:lnTo>
                <a:lnTo>
                  <a:pt x="27406" y="362808"/>
                </a:lnTo>
                <a:lnTo>
                  <a:pt x="3147" y="308244"/>
                </a:lnTo>
                <a:lnTo>
                  <a:pt x="0" y="279654"/>
                </a:lnTo>
                <a:close/>
              </a:path>
            </a:pathLst>
          </a:custGeom>
          <a:ln w="25907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554092" y="4355972"/>
            <a:ext cx="5353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solidFill>
                  <a:srgbClr val="FF66FF"/>
                </a:solidFill>
                <a:latin typeface="Arial Narrow"/>
                <a:cs typeface="Arial Narrow"/>
              </a:rPr>
              <a:t>10</a:t>
            </a:r>
            <a:endParaRPr sz="44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11729" y="5567934"/>
            <a:ext cx="1338580" cy="742315"/>
          </a:xfrm>
          <a:custGeom>
            <a:avLst/>
            <a:gdLst/>
            <a:ahLst/>
            <a:cxnLst/>
            <a:rect l="l" t="t" r="r" b="b"/>
            <a:pathLst>
              <a:path w="1338579" h="742314">
                <a:moveTo>
                  <a:pt x="0" y="371093"/>
                </a:moveTo>
                <a:lnTo>
                  <a:pt x="10780" y="304388"/>
                </a:lnTo>
                <a:lnTo>
                  <a:pt x="41862" y="241606"/>
                </a:lnTo>
                <a:lnTo>
                  <a:pt x="91355" y="183794"/>
                </a:lnTo>
                <a:lnTo>
                  <a:pt x="122414" y="157080"/>
                </a:lnTo>
                <a:lnTo>
                  <a:pt x="157367" y="132001"/>
                </a:lnTo>
                <a:lnTo>
                  <a:pt x="195976" y="108689"/>
                </a:lnTo>
                <a:lnTo>
                  <a:pt x="238007" y="87275"/>
                </a:lnTo>
                <a:lnTo>
                  <a:pt x="283222" y="67890"/>
                </a:lnTo>
                <a:lnTo>
                  <a:pt x="331385" y="50664"/>
                </a:lnTo>
                <a:lnTo>
                  <a:pt x="382260" y="35729"/>
                </a:lnTo>
                <a:lnTo>
                  <a:pt x="435609" y="23216"/>
                </a:lnTo>
                <a:lnTo>
                  <a:pt x="491198" y="13255"/>
                </a:lnTo>
                <a:lnTo>
                  <a:pt x="548790" y="5978"/>
                </a:lnTo>
                <a:lnTo>
                  <a:pt x="608148" y="1516"/>
                </a:lnTo>
                <a:lnTo>
                  <a:pt x="669036" y="0"/>
                </a:lnTo>
                <a:lnTo>
                  <a:pt x="729923" y="1516"/>
                </a:lnTo>
                <a:lnTo>
                  <a:pt x="789281" y="5978"/>
                </a:lnTo>
                <a:lnTo>
                  <a:pt x="846873" y="13255"/>
                </a:lnTo>
                <a:lnTo>
                  <a:pt x="902462" y="23216"/>
                </a:lnTo>
                <a:lnTo>
                  <a:pt x="955811" y="35729"/>
                </a:lnTo>
                <a:lnTo>
                  <a:pt x="1006686" y="50664"/>
                </a:lnTo>
                <a:lnTo>
                  <a:pt x="1054849" y="67890"/>
                </a:lnTo>
                <a:lnTo>
                  <a:pt x="1100064" y="87275"/>
                </a:lnTo>
                <a:lnTo>
                  <a:pt x="1142095" y="108689"/>
                </a:lnTo>
                <a:lnTo>
                  <a:pt x="1180704" y="132001"/>
                </a:lnTo>
                <a:lnTo>
                  <a:pt x="1215657" y="157080"/>
                </a:lnTo>
                <a:lnTo>
                  <a:pt x="1246716" y="183794"/>
                </a:lnTo>
                <a:lnTo>
                  <a:pt x="1273645" y="212013"/>
                </a:lnTo>
                <a:lnTo>
                  <a:pt x="1314169" y="272441"/>
                </a:lnTo>
                <a:lnTo>
                  <a:pt x="1335337" y="337316"/>
                </a:lnTo>
                <a:lnTo>
                  <a:pt x="1338071" y="371093"/>
                </a:lnTo>
                <a:lnTo>
                  <a:pt x="1335337" y="404871"/>
                </a:lnTo>
                <a:lnTo>
                  <a:pt x="1314169" y="469746"/>
                </a:lnTo>
                <a:lnTo>
                  <a:pt x="1273645" y="530174"/>
                </a:lnTo>
                <a:lnTo>
                  <a:pt x="1246716" y="558393"/>
                </a:lnTo>
                <a:lnTo>
                  <a:pt x="1215657" y="585107"/>
                </a:lnTo>
                <a:lnTo>
                  <a:pt x="1180704" y="610186"/>
                </a:lnTo>
                <a:lnTo>
                  <a:pt x="1142095" y="633498"/>
                </a:lnTo>
                <a:lnTo>
                  <a:pt x="1100064" y="654912"/>
                </a:lnTo>
                <a:lnTo>
                  <a:pt x="1054849" y="674297"/>
                </a:lnTo>
                <a:lnTo>
                  <a:pt x="1006686" y="691523"/>
                </a:lnTo>
                <a:lnTo>
                  <a:pt x="955811" y="706458"/>
                </a:lnTo>
                <a:lnTo>
                  <a:pt x="902461" y="718971"/>
                </a:lnTo>
                <a:lnTo>
                  <a:pt x="846873" y="728932"/>
                </a:lnTo>
                <a:lnTo>
                  <a:pt x="789281" y="736209"/>
                </a:lnTo>
                <a:lnTo>
                  <a:pt x="729923" y="740671"/>
                </a:lnTo>
                <a:lnTo>
                  <a:pt x="669036" y="742187"/>
                </a:lnTo>
                <a:lnTo>
                  <a:pt x="608148" y="740671"/>
                </a:lnTo>
                <a:lnTo>
                  <a:pt x="548790" y="736209"/>
                </a:lnTo>
                <a:lnTo>
                  <a:pt x="491198" y="728932"/>
                </a:lnTo>
                <a:lnTo>
                  <a:pt x="435610" y="718971"/>
                </a:lnTo>
                <a:lnTo>
                  <a:pt x="382260" y="706458"/>
                </a:lnTo>
                <a:lnTo>
                  <a:pt x="331385" y="691523"/>
                </a:lnTo>
                <a:lnTo>
                  <a:pt x="283222" y="674297"/>
                </a:lnTo>
                <a:lnTo>
                  <a:pt x="238007" y="654912"/>
                </a:lnTo>
                <a:lnTo>
                  <a:pt x="195976" y="633498"/>
                </a:lnTo>
                <a:lnTo>
                  <a:pt x="157367" y="610186"/>
                </a:lnTo>
                <a:lnTo>
                  <a:pt x="122414" y="585107"/>
                </a:lnTo>
                <a:lnTo>
                  <a:pt x="91355" y="558393"/>
                </a:lnTo>
                <a:lnTo>
                  <a:pt x="64426" y="530174"/>
                </a:lnTo>
                <a:lnTo>
                  <a:pt x="23902" y="469746"/>
                </a:lnTo>
                <a:lnTo>
                  <a:pt x="2734" y="404871"/>
                </a:lnTo>
                <a:lnTo>
                  <a:pt x="0" y="371093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63417" y="5641949"/>
            <a:ext cx="2343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5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724905" y="5599938"/>
            <a:ext cx="1196340" cy="567055"/>
          </a:xfrm>
          <a:custGeom>
            <a:avLst/>
            <a:gdLst/>
            <a:ahLst/>
            <a:cxnLst/>
            <a:rect l="l" t="t" r="r" b="b"/>
            <a:pathLst>
              <a:path w="1196340" h="567054">
                <a:moveTo>
                  <a:pt x="0" y="283464"/>
                </a:moveTo>
                <a:lnTo>
                  <a:pt x="13798" y="222654"/>
                </a:lnTo>
                <a:lnTo>
                  <a:pt x="53245" y="166389"/>
                </a:lnTo>
                <a:lnTo>
                  <a:pt x="81675" y="140394"/>
                </a:lnTo>
                <a:lnTo>
                  <a:pt x="115421" y="116053"/>
                </a:lnTo>
                <a:lnTo>
                  <a:pt x="154120" y="93541"/>
                </a:lnTo>
                <a:lnTo>
                  <a:pt x="197405" y="73029"/>
                </a:lnTo>
                <a:lnTo>
                  <a:pt x="244912" y="54692"/>
                </a:lnTo>
                <a:lnTo>
                  <a:pt x="296276" y="38701"/>
                </a:lnTo>
                <a:lnTo>
                  <a:pt x="351132" y="25229"/>
                </a:lnTo>
                <a:lnTo>
                  <a:pt x="409114" y="14451"/>
                </a:lnTo>
                <a:lnTo>
                  <a:pt x="469858" y="6538"/>
                </a:lnTo>
                <a:lnTo>
                  <a:pt x="532998" y="1663"/>
                </a:lnTo>
                <a:lnTo>
                  <a:pt x="598170" y="0"/>
                </a:lnTo>
                <a:lnTo>
                  <a:pt x="663341" y="1663"/>
                </a:lnTo>
                <a:lnTo>
                  <a:pt x="726481" y="6538"/>
                </a:lnTo>
                <a:lnTo>
                  <a:pt x="787225" y="14451"/>
                </a:lnTo>
                <a:lnTo>
                  <a:pt x="845207" y="25229"/>
                </a:lnTo>
                <a:lnTo>
                  <a:pt x="900063" y="38701"/>
                </a:lnTo>
                <a:lnTo>
                  <a:pt x="951427" y="54692"/>
                </a:lnTo>
                <a:lnTo>
                  <a:pt x="998934" y="73029"/>
                </a:lnTo>
                <a:lnTo>
                  <a:pt x="1042219" y="93541"/>
                </a:lnTo>
                <a:lnTo>
                  <a:pt x="1080918" y="116053"/>
                </a:lnTo>
                <a:lnTo>
                  <a:pt x="1114664" y="140394"/>
                </a:lnTo>
                <a:lnTo>
                  <a:pt x="1143094" y="166389"/>
                </a:lnTo>
                <a:lnTo>
                  <a:pt x="1182541" y="222654"/>
                </a:lnTo>
                <a:lnTo>
                  <a:pt x="1196340" y="283464"/>
                </a:lnTo>
                <a:lnTo>
                  <a:pt x="1192829" y="314350"/>
                </a:lnTo>
                <a:lnTo>
                  <a:pt x="1165841" y="373060"/>
                </a:lnTo>
                <a:lnTo>
                  <a:pt x="1114664" y="426533"/>
                </a:lnTo>
                <a:lnTo>
                  <a:pt x="1080918" y="450874"/>
                </a:lnTo>
                <a:lnTo>
                  <a:pt x="1042219" y="473386"/>
                </a:lnTo>
                <a:lnTo>
                  <a:pt x="998934" y="493898"/>
                </a:lnTo>
                <a:lnTo>
                  <a:pt x="951427" y="512235"/>
                </a:lnTo>
                <a:lnTo>
                  <a:pt x="900063" y="528226"/>
                </a:lnTo>
                <a:lnTo>
                  <a:pt x="845207" y="541698"/>
                </a:lnTo>
                <a:lnTo>
                  <a:pt x="787225" y="552476"/>
                </a:lnTo>
                <a:lnTo>
                  <a:pt x="726481" y="560389"/>
                </a:lnTo>
                <a:lnTo>
                  <a:pt x="663341" y="565264"/>
                </a:lnTo>
                <a:lnTo>
                  <a:pt x="598170" y="566928"/>
                </a:lnTo>
                <a:lnTo>
                  <a:pt x="532998" y="565264"/>
                </a:lnTo>
                <a:lnTo>
                  <a:pt x="469858" y="560389"/>
                </a:lnTo>
                <a:lnTo>
                  <a:pt x="409114" y="552476"/>
                </a:lnTo>
                <a:lnTo>
                  <a:pt x="351132" y="541698"/>
                </a:lnTo>
                <a:lnTo>
                  <a:pt x="296276" y="528226"/>
                </a:lnTo>
                <a:lnTo>
                  <a:pt x="244912" y="512235"/>
                </a:lnTo>
                <a:lnTo>
                  <a:pt x="197405" y="493898"/>
                </a:lnTo>
                <a:lnTo>
                  <a:pt x="154120" y="473386"/>
                </a:lnTo>
                <a:lnTo>
                  <a:pt x="115421" y="450874"/>
                </a:lnTo>
                <a:lnTo>
                  <a:pt x="81675" y="426533"/>
                </a:lnTo>
                <a:lnTo>
                  <a:pt x="53245" y="400538"/>
                </a:lnTo>
                <a:lnTo>
                  <a:pt x="13798" y="344273"/>
                </a:lnTo>
                <a:lnTo>
                  <a:pt x="0" y="283464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101588" y="5585866"/>
            <a:ext cx="443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15</a:t>
            </a:r>
            <a:endParaRPr sz="36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81913"/>
            <a:ext cx="45027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总浮动与自由浮动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8241" y="1483088"/>
            <a:ext cx="7962265" cy="282003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6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b="1" dirty="0">
                <a:latin typeface="隶书"/>
                <a:cs typeface="隶书"/>
              </a:rPr>
              <a:t>总浮动</a:t>
            </a:r>
            <a:r>
              <a:rPr sz="2900" b="1" spc="-5" dirty="0">
                <a:latin typeface="隶书"/>
                <a:cs typeface="隶书"/>
              </a:rPr>
              <a:t>（ Total</a:t>
            </a:r>
            <a:r>
              <a:rPr sz="2900" b="1" dirty="0">
                <a:latin typeface="隶书"/>
                <a:cs typeface="隶书"/>
              </a:rPr>
              <a:t> </a:t>
            </a:r>
            <a:r>
              <a:rPr sz="2900" b="1" spc="-5" dirty="0">
                <a:latin typeface="隶书"/>
                <a:cs typeface="隶书"/>
              </a:rPr>
              <a:t>Float）</a:t>
            </a:r>
            <a:endParaRPr sz="2900">
              <a:latin typeface="隶书"/>
              <a:cs typeface="隶书"/>
            </a:endParaRPr>
          </a:p>
          <a:p>
            <a:pPr marL="652780" marR="5080" lvl="1" indent="-273050">
              <a:lnSpc>
                <a:spcPct val="100000"/>
              </a:lnSpc>
              <a:spcBef>
                <a:spcPts val="59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2780" algn="l"/>
              </a:tabLst>
            </a:pPr>
            <a:r>
              <a:rPr sz="2600" b="1" dirty="0">
                <a:latin typeface="隶书"/>
                <a:cs typeface="隶书"/>
              </a:rPr>
              <a:t>在不影</a:t>
            </a:r>
            <a:r>
              <a:rPr sz="2600" b="1" spc="-10" dirty="0">
                <a:latin typeface="隶书"/>
                <a:cs typeface="隶书"/>
              </a:rPr>
              <a:t>响</a:t>
            </a:r>
            <a:r>
              <a:rPr sz="2600" b="1" dirty="0">
                <a:latin typeface="隶书"/>
                <a:cs typeface="隶书"/>
              </a:rPr>
              <a:t>项目最</a:t>
            </a:r>
            <a:r>
              <a:rPr sz="2600" b="1" spc="-10" dirty="0">
                <a:latin typeface="隶书"/>
                <a:cs typeface="隶书"/>
              </a:rPr>
              <a:t>早</a:t>
            </a:r>
            <a:r>
              <a:rPr sz="2600" b="1" dirty="0">
                <a:latin typeface="隶书"/>
                <a:cs typeface="隶书"/>
              </a:rPr>
              <a:t>完成时</a:t>
            </a:r>
            <a:r>
              <a:rPr sz="2600" b="1" spc="-10" dirty="0">
                <a:latin typeface="隶书"/>
                <a:cs typeface="隶书"/>
              </a:rPr>
              <a:t>间</a:t>
            </a:r>
            <a:r>
              <a:rPr sz="2600" b="1" dirty="0">
                <a:latin typeface="隶书"/>
                <a:cs typeface="隶书"/>
              </a:rPr>
              <a:t>的前提</a:t>
            </a:r>
            <a:r>
              <a:rPr sz="2600" b="1" spc="-10" dirty="0">
                <a:latin typeface="隶书"/>
                <a:cs typeface="隶书"/>
              </a:rPr>
              <a:t>下</a:t>
            </a:r>
            <a:r>
              <a:rPr sz="2600" b="1" dirty="0">
                <a:latin typeface="隶书"/>
                <a:cs typeface="隶书"/>
              </a:rPr>
              <a:t>，一个</a:t>
            </a:r>
            <a:r>
              <a:rPr sz="2600" b="1" spc="-10" dirty="0">
                <a:latin typeface="隶书"/>
                <a:cs typeface="隶书"/>
              </a:rPr>
              <a:t>任</a:t>
            </a:r>
            <a:r>
              <a:rPr sz="2600" b="1" dirty="0">
                <a:latin typeface="隶书"/>
                <a:cs typeface="隶书"/>
              </a:rPr>
              <a:t>务</a:t>
            </a:r>
            <a:r>
              <a:rPr sz="2600" b="1" spc="-5" dirty="0">
                <a:latin typeface="隶书"/>
                <a:cs typeface="隶书"/>
              </a:rPr>
              <a:t>可 </a:t>
            </a:r>
            <a:r>
              <a:rPr sz="2600" b="1" dirty="0">
                <a:latin typeface="隶书"/>
                <a:cs typeface="隶书"/>
              </a:rPr>
              <a:t>以延迟</a:t>
            </a:r>
            <a:r>
              <a:rPr sz="2600" b="1" spc="-10" dirty="0">
                <a:latin typeface="隶书"/>
                <a:cs typeface="隶书"/>
              </a:rPr>
              <a:t>的</a:t>
            </a:r>
            <a:r>
              <a:rPr sz="2600" b="1" dirty="0">
                <a:latin typeface="隶书"/>
                <a:cs typeface="隶书"/>
              </a:rPr>
              <a:t>时</a:t>
            </a:r>
            <a:r>
              <a:rPr sz="2600" b="1" spc="-10" dirty="0">
                <a:latin typeface="隶书"/>
                <a:cs typeface="隶书"/>
              </a:rPr>
              <a:t>间</a:t>
            </a:r>
            <a:endParaRPr sz="26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2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b="1" spc="-5" dirty="0">
                <a:latin typeface="隶书"/>
                <a:cs typeface="隶书"/>
              </a:rPr>
              <a:t>自由浮</a:t>
            </a:r>
            <a:r>
              <a:rPr sz="2900" b="1" spc="-10" dirty="0">
                <a:latin typeface="隶书"/>
                <a:cs typeface="隶书"/>
              </a:rPr>
              <a:t>动</a:t>
            </a:r>
            <a:r>
              <a:rPr sz="2900" b="1" spc="-5" dirty="0">
                <a:latin typeface="隶书"/>
                <a:cs typeface="隶书"/>
              </a:rPr>
              <a:t>（Free</a:t>
            </a:r>
            <a:r>
              <a:rPr sz="2900" b="1" dirty="0">
                <a:latin typeface="隶书"/>
                <a:cs typeface="隶书"/>
              </a:rPr>
              <a:t> Float）</a:t>
            </a:r>
            <a:endParaRPr sz="2900">
              <a:latin typeface="隶书"/>
              <a:cs typeface="隶书"/>
            </a:endParaRPr>
          </a:p>
          <a:p>
            <a:pPr marL="652780" marR="5080" lvl="1" indent="-273050">
              <a:lnSpc>
                <a:spcPct val="100000"/>
              </a:lnSpc>
              <a:spcBef>
                <a:spcPts val="59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652780" algn="l"/>
              </a:tabLst>
            </a:pPr>
            <a:r>
              <a:rPr sz="2600" b="1" dirty="0">
                <a:latin typeface="隶书"/>
                <a:cs typeface="隶书"/>
              </a:rPr>
              <a:t>在不影</a:t>
            </a:r>
            <a:r>
              <a:rPr sz="2600" b="1" spc="-10" dirty="0">
                <a:latin typeface="隶书"/>
                <a:cs typeface="隶书"/>
              </a:rPr>
              <a:t>响</a:t>
            </a:r>
            <a:r>
              <a:rPr sz="2600" b="1" dirty="0">
                <a:latin typeface="隶书"/>
                <a:cs typeface="隶书"/>
              </a:rPr>
              <a:t>后置任</a:t>
            </a:r>
            <a:r>
              <a:rPr sz="2600" b="1" spc="-10" dirty="0">
                <a:latin typeface="隶书"/>
                <a:cs typeface="隶书"/>
              </a:rPr>
              <a:t>务</a:t>
            </a:r>
            <a:r>
              <a:rPr sz="2600" b="1" dirty="0">
                <a:latin typeface="隶书"/>
                <a:cs typeface="隶书"/>
              </a:rPr>
              <a:t>最早开</a:t>
            </a:r>
            <a:r>
              <a:rPr sz="2600" b="1" spc="-10" dirty="0">
                <a:latin typeface="隶书"/>
                <a:cs typeface="隶书"/>
              </a:rPr>
              <a:t>始</a:t>
            </a:r>
            <a:r>
              <a:rPr sz="2600" b="1" dirty="0">
                <a:latin typeface="隶书"/>
                <a:cs typeface="隶书"/>
              </a:rPr>
              <a:t>时间的</a:t>
            </a:r>
            <a:r>
              <a:rPr sz="2600" b="1" spc="-10" dirty="0">
                <a:latin typeface="隶书"/>
                <a:cs typeface="隶书"/>
              </a:rPr>
              <a:t>前</a:t>
            </a:r>
            <a:r>
              <a:rPr sz="2600" b="1" dirty="0">
                <a:latin typeface="隶书"/>
                <a:cs typeface="隶书"/>
              </a:rPr>
              <a:t>提下，</a:t>
            </a:r>
            <a:r>
              <a:rPr sz="2600" b="1" spc="-10" dirty="0">
                <a:latin typeface="隶书"/>
                <a:cs typeface="隶书"/>
              </a:rPr>
              <a:t>一</a:t>
            </a:r>
            <a:r>
              <a:rPr sz="2600" b="1" dirty="0">
                <a:latin typeface="隶书"/>
                <a:cs typeface="隶书"/>
              </a:rPr>
              <a:t>个</a:t>
            </a:r>
            <a:r>
              <a:rPr sz="2600" b="1" spc="-5" dirty="0">
                <a:latin typeface="隶书"/>
                <a:cs typeface="隶书"/>
              </a:rPr>
              <a:t>任 </a:t>
            </a:r>
            <a:r>
              <a:rPr sz="2600" b="1" dirty="0">
                <a:latin typeface="隶书"/>
                <a:cs typeface="隶书"/>
              </a:rPr>
              <a:t>务可以</a:t>
            </a:r>
            <a:r>
              <a:rPr sz="2600" b="1" spc="-10" dirty="0">
                <a:latin typeface="隶书"/>
                <a:cs typeface="隶书"/>
              </a:rPr>
              <a:t>延</a:t>
            </a:r>
            <a:r>
              <a:rPr sz="2600" b="1" dirty="0">
                <a:latin typeface="隶书"/>
                <a:cs typeface="隶书"/>
              </a:rPr>
              <a:t>迟的时</a:t>
            </a:r>
            <a:r>
              <a:rPr sz="2600" b="1" spc="-10" dirty="0">
                <a:latin typeface="隶书"/>
                <a:cs typeface="隶书"/>
              </a:rPr>
              <a:t>间</a:t>
            </a:r>
            <a:endParaRPr sz="2600">
              <a:latin typeface="隶书"/>
              <a:cs typeface="隶书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36108" y="4652771"/>
            <a:ext cx="1877567" cy="15956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84853" y="5328792"/>
            <a:ext cx="1651000" cy="103505"/>
          </a:xfrm>
          <a:custGeom>
            <a:avLst/>
            <a:gdLst/>
            <a:ahLst/>
            <a:cxnLst/>
            <a:rect l="l" t="t" r="r" b="b"/>
            <a:pathLst>
              <a:path w="1651000" h="103504">
                <a:moveTo>
                  <a:pt x="1625890" y="51688"/>
                </a:moveTo>
                <a:lnTo>
                  <a:pt x="1556004" y="92455"/>
                </a:lnTo>
                <a:lnTo>
                  <a:pt x="1554988" y="96265"/>
                </a:lnTo>
                <a:lnTo>
                  <a:pt x="1558544" y="102361"/>
                </a:lnTo>
                <a:lnTo>
                  <a:pt x="1562354" y="103377"/>
                </a:lnTo>
                <a:lnTo>
                  <a:pt x="1640109" y="58038"/>
                </a:lnTo>
                <a:lnTo>
                  <a:pt x="1638427" y="58038"/>
                </a:lnTo>
                <a:lnTo>
                  <a:pt x="1638427" y="57149"/>
                </a:lnTo>
                <a:lnTo>
                  <a:pt x="1635252" y="57149"/>
                </a:lnTo>
                <a:lnTo>
                  <a:pt x="1625890" y="51688"/>
                </a:lnTo>
                <a:close/>
              </a:path>
              <a:path w="1651000" h="103504">
                <a:moveTo>
                  <a:pt x="16150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615004" y="58038"/>
                </a:lnTo>
                <a:lnTo>
                  <a:pt x="1625890" y="51688"/>
                </a:lnTo>
                <a:lnTo>
                  <a:pt x="1615004" y="45338"/>
                </a:lnTo>
                <a:close/>
              </a:path>
              <a:path w="1651000" h="103504">
                <a:moveTo>
                  <a:pt x="1640109" y="45338"/>
                </a:moveTo>
                <a:lnTo>
                  <a:pt x="1638427" y="45338"/>
                </a:lnTo>
                <a:lnTo>
                  <a:pt x="1638427" y="58038"/>
                </a:lnTo>
                <a:lnTo>
                  <a:pt x="1640109" y="58038"/>
                </a:lnTo>
                <a:lnTo>
                  <a:pt x="1651000" y="51688"/>
                </a:lnTo>
                <a:lnTo>
                  <a:pt x="1640109" y="45338"/>
                </a:lnTo>
                <a:close/>
              </a:path>
              <a:path w="1651000" h="103504">
                <a:moveTo>
                  <a:pt x="1635252" y="46227"/>
                </a:moveTo>
                <a:lnTo>
                  <a:pt x="1625890" y="51688"/>
                </a:lnTo>
                <a:lnTo>
                  <a:pt x="1635252" y="57149"/>
                </a:lnTo>
                <a:lnTo>
                  <a:pt x="1635252" y="46227"/>
                </a:lnTo>
                <a:close/>
              </a:path>
              <a:path w="1651000" h="103504">
                <a:moveTo>
                  <a:pt x="1638427" y="46227"/>
                </a:moveTo>
                <a:lnTo>
                  <a:pt x="1635252" y="46227"/>
                </a:lnTo>
                <a:lnTo>
                  <a:pt x="1635252" y="57149"/>
                </a:lnTo>
                <a:lnTo>
                  <a:pt x="1638427" y="57149"/>
                </a:lnTo>
                <a:lnTo>
                  <a:pt x="1638427" y="46227"/>
                </a:lnTo>
                <a:close/>
              </a:path>
              <a:path w="1651000" h="103504">
                <a:moveTo>
                  <a:pt x="1562354" y="0"/>
                </a:moveTo>
                <a:lnTo>
                  <a:pt x="1558544" y="1015"/>
                </a:lnTo>
                <a:lnTo>
                  <a:pt x="1554988" y="7111"/>
                </a:lnTo>
                <a:lnTo>
                  <a:pt x="1556004" y="10921"/>
                </a:lnTo>
                <a:lnTo>
                  <a:pt x="1625890" y="51688"/>
                </a:lnTo>
                <a:lnTo>
                  <a:pt x="1635252" y="46227"/>
                </a:lnTo>
                <a:lnTo>
                  <a:pt x="1638427" y="46227"/>
                </a:lnTo>
                <a:lnTo>
                  <a:pt x="1638427" y="45338"/>
                </a:lnTo>
                <a:lnTo>
                  <a:pt x="1640109" y="45338"/>
                </a:lnTo>
                <a:lnTo>
                  <a:pt x="156235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08048" y="4581144"/>
            <a:ext cx="1876044" cy="15956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92401" y="4525517"/>
            <a:ext cx="719455" cy="567055"/>
          </a:xfrm>
          <a:custGeom>
            <a:avLst/>
            <a:gdLst/>
            <a:ahLst/>
            <a:cxnLst/>
            <a:rect l="l" t="t" r="r" b="b"/>
            <a:pathLst>
              <a:path w="719455" h="567054">
                <a:moveTo>
                  <a:pt x="0" y="283463"/>
                </a:moveTo>
                <a:lnTo>
                  <a:pt x="3899" y="241567"/>
                </a:lnTo>
                <a:lnTo>
                  <a:pt x="15228" y="201581"/>
                </a:lnTo>
                <a:lnTo>
                  <a:pt x="33429" y="163946"/>
                </a:lnTo>
                <a:lnTo>
                  <a:pt x="57946" y="129098"/>
                </a:lnTo>
                <a:lnTo>
                  <a:pt x="88222" y="97475"/>
                </a:lnTo>
                <a:lnTo>
                  <a:pt x="123701" y="69516"/>
                </a:lnTo>
                <a:lnTo>
                  <a:pt x="163827" y="45658"/>
                </a:lnTo>
                <a:lnTo>
                  <a:pt x="208042" y="26339"/>
                </a:lnTo>
                <a:lnTo>
                  <a:pt x="255791" y="11998"/>
                </a:lnTo>
                <a:lnTo>
                  <a:pt x="306517" y="3072"/>
                </a:lnTo>
                <a:lnTo>
                  <a:pt x="359664" y="0"/>
                </a:lnTo>
                <a:lnTo>
                  <a:pt x="412810" y="3072"/>
                </a:lnTo>
                <a:lnTo>
                  <a:pt x="463536" y="11998"/>
                </a:lnTo>
                <a:lnTo>
                  <a:pt x="511285" y="26339"/>
                </a:lnTo>
                <a:lnTo>
                  <a:pt x="555500" y="45658"/>
                </a:lnTo>
                <a:lnTo>
                  <a:pt x="595626" y="69516"/>
                </a:lnTo>
                <a:lnTo>
                  <a:pt x="631105" y="97475"/>
                </a:lnTo>
                <a:lnTo>
                  <a:pt x="661381" y="129098"/>
                </a:lnTo>
                <a:lnTo>
                  <a:pt x="685898" y="163946"/>
                </a:lnTo>
                <a:lnTo>
                  <a:pt x="704099" y="201581"/>
                </a:lnTo>
                <a:lnTo>
                  <a:pt x="715428" y="241567"/>
                </a:lnTo>
                <a:lnTo>
                  <a:pt x="719328" y="283463"/>
                </a:lnTo>
                <a:lnTo>
                  <a:pt x="715428" y="325360"/>
                </a:lnTo>
                <a:lnTo>
                  <a:pt x="704099" y="365346"/>
                </a:lnTo>
                <a:lnTo>
                  <a:pt x="685898" y="402981"/>
                </a:lnTo>
                <a:lnTo>
                  <a:pt x="661381" y="437829"/>
                </a:lnTo>
                <a:lnTo>
                  <a:pt x="631105" y="469452"/>
                </a:lnTo>
                <a:lnTo>
                  <a:pt x="595626" y="497411"/>
                </a:lnTo>
                <a:lnTo>
                  <a:pt x="555500" y="521269"/>
                </a:lnTo>
                <a:lnTo>
                  <a:pt x="511285" y="540588"/>
                </a:lnTo>
                <a:lnTo>
                  <a:pt x="463536" y="554929"/>
                </a:lnTo>
                <a:lnTo>
                  <a:pt x="412810" y="563855"/>
                </a:lnTo>
                <a:lnTo>
                  <a:pt x="359664" y="566927"/>
                </a:lnTo>
                <a:lnTo>
                  <a:pt x="306517" y="563855"/>
                </a:lnTo>
                <a:lnTo>
                  <a:pt x="255791" y="554929"/>
                </a:lnTo>
                <a:lnTo>
                  <a:pt x="208042" y="540588"/>
                </a:lnTo>
                <a:lnTo>
                  <a:pt x="163827" y="521269"/>
                </a:lnTo>
                <a:lnTo>
                  <a:pt x="123701" y="497411"/>
                </a:lnTo>
                <a:lnTo>
                  <a:pt x="88222" y="469452"/>
                </a:lnTo>
                <a:lnTo>
                  <a:pt x="57946" y="437829"/>
                </a:lnTo>
                <a:lnTo>
                  <a:pt x="33429" y="402981"/>
                </a:lnTo>
                <a:lnTo>
                  <a:pt x="15228" y="365346"/>
                </a:lnTo>
                <a:lnTo>
                  <a:pt x="3899" y="325360"/>
                </a:lnTo>
                <a:lnTo>
                  <a:pt x="0" y="283463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163061" y="4525517"/>
            <a:ext cx="721360" cy="567055"/>
          </a:xfrm>
          <a:custGeom>
            <a:avLst/>
            <a:gdLst/>
            <a:ahLst/>
            <a:cxnLst/>
            <a:rect l="l" t="t" r="r" b="b"/>
            <a:pathLst>
              <a:path w="721360" h="567054">
                <a:moveTo>
                  <a:pt x="0" y="283463"/>
                </a:moveTo>
                <a:lnTo>
                  <a:pt x="3909" y="241567"/>
                </a:lnTo>
                <a:lnTo>
                  <a:pt x="15264" y="201581"/>
                </a:lnTo>
                <a:lnTo>
                  <a:pt x="33506" y="163946"/>
                </a:lnTo>
                <a:lnTo>
                  <a:pt x="58079" y="129098"/>
                </a:lnTo>
                <a:lnTo>
                  <a:pt x="88422" y="97475"/>
                </a:lnTo>
                <a:lnTo>
                  <a:pt x="123979" y="69516"/>
                </a:lnTo>
                <a:lnTo>
                  <a:pt x="164191" y="45658"/>
                </a:lnTo>
                <a:lnTo>
                  <a:pt x="208500" y="26339"/>
                </a:lnTo>
                <a:lnTo>
                  <a:pt x="256348" y="11998"/>
                </a:lnTo>
                <a:lnTo>
                  <a:pt x="307175" y="3072"/>
                </a:lnTo>
                <a:lnTo>
                  <a:pt x="360425" y="0"/>
                </a:lnTo>
                <a:lnTo>
                  <a:pt x="413676" y="3072"/>
                </a:lnTo>
                <a:lnTo>
                  <a:pt x="464503" y="11998"/>
                </a:lnTo>
                <a:lnTo>
                  <a:pt x="512351" y="26339"/>
                </a:lnTo>
                <a:lnTo>
                  <a:pt x="556660" y="45658"/>
                </a:lnTo>
                <a:lnTo>
                  <a:pt x="596872" y="69516"/>
                </a:lnTo>
                <a:lnTo>
                  <a:pt x="632429" y="97475"/>
                </a:lnTo>
                <a:lnTo>
                  <a:pt x="662772" y="129098"/>
                </a:lnTo>
                <a:lnTo>
                  <a:pt x="687345" y="163946"/>
                </a:lnTo>
                <a:lnTo>
                  <a:pt x="705587" y="201581"/>
                </a:lnTo>
                <a:lnTo>
                  <a:pt x="716942" y="241567"/>
                </a:lnTo>
                <a:lnTo>
                  <a:pt x="720851" y="283463"/>
                </a:lnTo>
                <a:lnTo>
                  <a:pt x="716942" y="325360"/>
                </a:lnTo>
                <a:lnTo>
                  <a:pt x="705587" y="365346"/>
                </a:lnTo>
                <a:lnTo>
                  <a:pt x="687345" y="402981"/>
                </a:lnTo>
                <a:lnTo>
                  <a:pt x="662772" y="437829"/>
                </a:lnTo>
                <a:lnTo>
                  <a:pt x="632429" y="469452"/>
                </a:lnTo>
                <a:lnTo>
                  <a:pt x="596872" y="497411"/>
                </a:lnTo>
                <a:lnTo>
                  <a:pt x="556660" y="521269"/>
                </a:lnTo>
                <a:lnTo>
                  <a:pt x="512351" y="540588"/>
                </a:lnTo>
                <a:lnTo>
                  <a:pt x="464503" y="554929"/>
                </a:lnTo>
                <a:lnTo>
                  <a:pt x="413676" y="563855"/>
                </a:lnTo>
                <a:lnTo>
                  <a:pt x="360425" y="566927"/>
                </a:lnTo>
                <a:lnTo>
                  <a:pt x="307175" y="563855"/>
                </a:lnTo>
                <a:lnTo>
                  <a:pt x="256348" y="554929"/>
                </a:lnTo>
                <a:lnTo>
                  <a:pt x="208500" y="540588"/>
                </a:lnTo>
                <a:lnTo>
                  <a:pt x="164191" y="521269"/>
                </a:lnTo>
                <a:lnTo>
                  <a:pt x="123979" y="497411"/>
                </a:lnTo>
                <a:lnTo>
                  <a:pt x="88422" y="469452"/>
                </a:lnTo>
                <a:lnTo>
                  <a:pt x="58079" y="437829"/>
                </a:lnTo>
                <a:lnTo>
                  <a:pt x="33506" y="402981"/>
                </a:lnTo>
                <a:lnTo>
                  <a:pt x="15264" y="365346"/>
                </a:lnTo>
                <a:lnTo>
                  <a:pt x="3909" y="325360"/>
                </a:lnTo>
                <a:lnTo>
                  <a:pt x="0" y="283463"/>
                </a:lnTo>
                <a:close/>
              </a:path>
            </a:pathLst>
          </a:custGeom>
          <a:ln w="25907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934717" y="4510862"/>
            <a:ext cx="178371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93190" algn="l"/>
              </a:tabLst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	</a:t>
            </a:r>
            <a:r>
              <a:rPr sz="3600" spc="-220" dirty="0">
                <a:solidFill>
                  <a:srgbClr val="FF66FF"/>
                </a:solidFill>
                <a:latin typeface="Arial Narrow"/>
                <a:cs typeface="Arial Narrow"/>
              </a:rPr>
              <a:t>11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20289" y="5101590"/>
            <a:ext cx="1054735" cy="559435"/>
          </a:xfrm>
          <a:custGeom>
            <a:avLst/>
            <a:gdLst/>
            <a:ahLst/>
            <a:cxnLst/>
            <a:rect l="l" t="t" r="r" b="b"/>
            <a:pathLst>
              <a:path w="1054735" h="559435">
                <a:moveTo>
                  <a:pt x="0" y="279654"/>
                </a:moveTo>
                <a:lnTo>
                  <a:pt x="13927" y="215537"/>
                </a:lnTo>
                <a:lnTo>
                  <a:pt x="53597" y="156676"/>
                </a:lnTo>
                <a:lnTo>
                  <a:pt x="82097" y="129742"/>
                </a:lnTo>
                <a:lnTo>
                  <a:pt x="115846" y="104751"/>
                </a:lnTo>
                <a:lnTo>
                  <a:pt x="154447" y="81914"/>
                </a:lnTo>
                <a:lnTo>
                  <a:pt x="197506" y="61442"/>
                </a:lnTo>
                <a:lnTo>
                  <a:pt x="244627" y="43542"/>
                </a:lnTo>
                <a:lnTo>
                  <a:pt x="295413" y="28427"/>
                </a:lnTo>
                <a:lnTo>
                  <a:pt x="349470" y="16305"/>
                </a:lnTo>
                <a:lnTo>
                  <a:pt x="406401" y="7386"/>
                </a:lnTo>
                <a:lnTo>
                  <a:pt x="465811" y="1881"/>
                </a:lnTo>
                <a:lnTo>
                  <a:pt x="527304" y="0"/>
                </a:lnTo>
                <a:lnTo>
                  <a:pt x="588796" y="1881"/>
                </a:lnTo>
                <a:lnTo>
                  <a:pt x="648206" y="7386"/>
                </a:lnTo>
                <a:lnTo>
                  <a:pt x="705137" y="16305"/>
                </a:lnTo>
                <a:lnTo>
                  <a:pt x="759194" y="28427"/>
                </a:lnTo>
                <a:lnTo>
                  <a:pt x="809980" y="43542"/>
                </a:lnTo>
                <a:lnTo>
                  <a:pt x="857101" y="61442"/>
                </a:lnTo>
                <a:lnTo>
                  <a:pt x="900160" y="81915"/>
                </a:lnTo>
                <a:lnTo>
                  <a:pt x="938761" y="104751"/>
                </a:lnTo>
                <a:lnTo>
                  <a:pt x="972510" y="129742"/>
                </a:lnTo>
                <a:lnTo>
                  <a:pt x="1001010" y="156676"/>
                </a:lnTo>
                <a:lnTo>
                  <a:pt x="1040680" y="215537"/>
                </a:lnTo>
                <a:lnTo>
                  <a:pt x="1054608" y="279654"/>
                </a:lnTo>
                <a:lnTo>
                  <a:pt x="1051060" y="312264"/>
                </a:lnTo>
                <a:lnTo>
                  <a:pt x="1023865" y="373963"/>
                </a:lnTo>
                <a:lnTo>
                  <a:pt x="972510" y="429565"/>
                </a:lnTo>
                <a:lnTo>
                  <a:pt x="938761" y="454556"/>
                </a:lnTo>
                <a:lnTo>
                  <a:pt x="900160" y="477393"/>
                </a:lnTo>
                <a:lnTo>
                  <a:pt x="857101" y="497865"/>
                </a:lnTo>
                <a:lnTo>
                  <a:pt x="809980" y="515765"/>
                </a:lnTo>
                <a:lnTo>
                  <a:pt x="759194" y="530880"/>
                </a:lnTo>
                <a:lnTo>
                  <a:pt x="705137" y="543002"/>
                </a:lnTo>
                <a:lnTo>
                  <a:pt x="648206" y="551921"/>
                </a:lnTo>
                <a:lnTo>
                  <a:pt x="588796" y="557426"/>
                </a:lnTo>
                <a:lnTo>
                  <a:pt x="527304" y="559308"/>
                </a:lnTo>
                <a:lnTo>
                  <a:pt x="465811" y="557426"/>
                </a:lnTo>
                <a:lnTo>
                  <a:pt x="406401" y="551921"/>
                </a:lnTo>
                <a:lnTo>
                  <a:pt x="349470" y="543002"/>
                </a:lnTo>
                <a:lnTo>
                  <a:pt x="295413" y="530880"/>
                </a:lnTo>
                <a:lnTo>
                  <a:pt x="244627" y="515765"/>
                </a:lnTo>
                <a:lnTo>
                  <a:pt x="197506" y="497865"/>
                </a:lnTo>
                <a:lnTo>
                  <a:pt x="154447" y="477393"/>
                </a:lnTo>
                <a:lnTo>
                  <a:pt x="115846" y="454556"/>
                </a:lnTo>
                <a:lnTo>
                  <a:pt x="82097" y="429565"/>
                </a:lnTo>
                <a:lnTo>
                  <a:pt x="53597" y="402631"/>
                </a:lnTo>
                <a:lnTo>
                  <a:pt x="13927" y="343770"/>
                </a:lnTo>
                <a:lnTo>
                  <a:pt x="0" y="279654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47569" y="5115814"/>
            <a:ext cx="3975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66FF"/>
                </a:solidFill>
                <a:latin typeface="Arial Narrow"/>
                <a:cs typeface="Arial Narrow"/>
              </a:rPr>
              <a:t>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92401" y="5671565"/>
            <a:ext cx="719455" cy="567055"/>
          </a:xfrm>
          <a:custGeom>
            <a:avLst/>
            <a:gdLst/>
            <a:ahLst/>
            <a:cxnLst/>
            <a:rect l="l" t="t" r="r" b="b"/>
            <a:pathLst>
              <a:path w="719455" h="567054">
                <a:moveTo>
                  <a:pt x="0" y="283464"/>
                </a:moveTo>
                <a:lnTo>
                  <a:pt x="3899" y="241575"/>
                </a:lnTo>
                <a:lnTo>
                  <a:pt x="15228" y="201595"/>
                </a:lnTo>
                <a:lnTo>
                  <a:pt x="33429" y="163962"/>
                </a:lnTo>
                <a:lnTo>
                  <a:pt x="57946" y="129114"/>
                </a:lnTo>
                <a:lnTo>
                  <a:pt x="88222" y="97490"/>
                </a:lnTo>
                <a:lnTo>
                  <a:pt x="123701" y="69528"/>
                </a:lnTo>
                <a:lnTo>
                  <a:pt x="163827" y="45667"/>
                </a:lnTo>
                <a:lnTo>
                  <a:pt x="208042" y="26345"/>
                </a:lnTo>
                <a:lnTo>
                  <a:pt x="255791" y="12001"/>
                </a:lnTo>
                <a:lnTo>
                  <a:pt x="306517" y="3073"/>
                </a:lnTo>
                <a:lnTo>
                  <a:pt x="359664" y="0"/>
                </a:lnTo>
                <a:lnTo>
                  <a:pt x="412810" y="3073"/>
                </a:lnTo>
                <a:lnTo>
                  <a:pt x="463536" y="12001"/>
                </a:lnTo>
                <a:lnTo>
                  <a:pt x="511285" y="26345"/>
                </a:lnTo>
                <a:lnTo>
                  <a:pt x="555500" y="45667"/>
                </a:lnTo>
                <a:lnTo>
                  <a:pt x="595626" y="69528"/>
                </a:lnTo>
                <a:lnTo>
                  <a:pt x="631105" y="97490"/>
                </a:lnTo>
                <a:lnTo>
                  <a:pt x="661381" y="129114"/>
                </a:lnTo>
                <a:lnTo>
                  <a:pt x="685898" y="163962"/>
                </a:lnTo>
                <a:lnTo>
                  <a:pt x="704099" y="201595"/>
                </a:lnTo>
                <a:lnTo>
                  <a:pt x="715428" y="241575"/>
                </a:lnTo>
                <a:lnTo>
                  <a:pt x="719328" y="283464"/>
                </a:lnTo>
                <a:lnTo>
                  <a:pt x="715428" y="325352"/>
                </a:lnTo>
                <a:lnTo>
                  <a:pt x="704099" y="365332"/>
                </a:lnTo>
                <a:lnTo>
                  <a:pt x="685898" y="402965"/>
                </a:lnTo>
                <a:lnTo>
                  <a:pt x="661381" y="437813"/>
                </a:lnTo>
                <a:lnTo>
                  <a:pt x="631105" y="469437"/>
                </a:lnTo>
                <a:lnTo>
                  <a:pt x="595626" y="497399"/>
                </a:lnTo>
                <a:lnTo>
                  <a:pt x="555500" y="521260"/>
                </a:lnTo>
                <a:lnTo>
                  <a:pt x="511285" y="540582"/>
                </a:lnTo>
                <a:lnTo>
                  <a:pt x="463536" y="554926"/>
                </a:lnTo>
                <a:lnTo>
                  <a:pt x="412810" y="563854"/>
                </a:lnTo>
                <a:lnTo>
                  <a:pt x="359664" y="566928"/>
                </a:lnTo>
                <a:lnTo>
                  <a:pt x="306517" y="563854"/>
                </a:lnTo>
                <a:lnTo>
                  <a:pt x="255791" y="554926"/>
                </a:lnTo>
                <a:lnTo>
                  <a:pt x="208042" y="540582"/>
                </a:lnTo>
                <a:lnTo>
                  <a:pt x="163827" y="521260"/>
                </a:lnTo>
                <a:lnTo>
                  <a:pt x="123701" y="497399"/>
                </a:lnTo>
                <a:lnTo>
                  <a:pt x="88222" y="469437"/>
                </a:lnTo>
                <a:lnTo>
                  <a:pt x="57946" y="437813"/>
                </a:lnTo>
                <a:lnTo>
                  <a:pt x="33429" y="402965"/>
                </a:lnTo>
                <a:lnTo>
                  <a:pt x="15228" y="365332"/>
                </a:lnTo>
                <a:lnTo>
                  <a:pt x="3899" y="325352"/>
                </a:lnTo>
                <a:lnTo>
                  <a:pt x="0" y="283464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63061" y="5665470"/>
            <a:ext cx="721360" cy="567055"/>
          </a:xfrm>
          <a:custGeom>
            <a:avLst/>
            <a:gdLst/>
            <a:ahLst/>
            <a:cxnLst/>
            <a:rect l="l" t="t" r="r" b="b"/>
            <a:pathLst>
              <a:path w="721360" h="567054">
                <a:moveTo>
                  <a:pt x="0" y="283463"/>
                </a:moveTo>
                <a:lnTo>
                  <a:pt x="3909" y="241575"/>
                </a:lnTo>
                <a:lnTo>
                  <a:pt x="15264" y="201595"/>
                </a:lnTo>
                <a:lnTo>
                  <a:pt x="33506" y="163962"/>
                </a:lnTo>
                <a:lnTo>
                  <a:pt x="58079" y="129114"/>
                </a:lnTo>
                <a:lnTo>
                  <a:pt x="88422" y="97490"/>
                </a:lnTo>
                <a:lnTo>
                  <a:pt x="123979" y="69528"/>
                </a:lnTo>
                <a:lnTo>
                  <a:pt x="164191" y="45667"/>
                </a:lnTo>
                <a:lnTo>
                  <a:pt x="208500" y="26345"/>
                </a:lnTo>
                <a:lnTo>
                  <a:pt x="256348" y="12001"/>
                </a:lnTo>
                <a:lnTo>
                  <a:pt x="307175" y="3073"/>
                </a:lnTo>
                <a:lnTo>
                  <a:pt x="360425" y="0"/>
                </a:lnTo>
                <a:lnTo>
                  <a:pt x="413676" y="3073"/>
                </a:lnTo>
                <a:lnTo>
                  <a:pt x="464503" y="12001"/>
                </a:lnTo>
                <a:lnTo>
                  <a:pt x="512351" y="26345"/>
                </a:lnTo>
                <a:lnTo>
                  <a:pt x="556660" y="45667"/>
                </a:lnTo>
                <a:lnTo>
                  <a:pt x="596872" y="69528"/>
                </a:lnTo>
                <a:lnTo>
                  <a:pt x="632429" y="97490"/>
                </a:lnTo>
                <a:lnTo>
                  <a:pt x="662772" y="129114"/>
                </a:lnTo>
                <a:lnTo>
                  <a:pt x="687345" y="163962"/>
                </a:lnTo>
                <a:lnTo>
                  <a:pt x="705587" y="201595"/>
                </a:lnTo>
                <a:lnTo>
                  <a:pt x="716942" y="241575"/>
                </a:lnTo>
                <a:lnTo>
                  <a:pt x="720851" y="283463"/>
                </a:lnTo>
                <a:lnTo>
                  <a:pt x="716942" y="325352"/>
                </a:lnTo>
                <a:lnTo>
                  <a:pt x="705587" y="365332"/>
                </a:lnTo>
                <a:lnTo>
                  <a:pt x="687345" y="402965"/>
                </a:lnTo>
                <a:lnTo>
                  <a:pt x="662772" y="437813"/>
                </a:lnTo>
                <a:lnTo>
                  <a:pt x="632429" y="469437"/>
                </a:lnTo>
                <a:lnTo>
                  <a:pt x="596872" y="497399"/>
                </a:lnTo>
                <a:lnTo>
                  <a:pt x="556660" y="521260"/>
                </a:lnTo>
                <a:lnTo>
                  <a:pt x="512351" y="540582"/>
                </a:lnTo>
                <a:lnTo>
                  <a:pt x="464503" y="554926"/>
                </a:lnTo>
                <a:lnTo>
                  <a:pt x="413676" y="563854"/>
                </a:lnTo>
                <a:lnTo>
                  <a:pt x="360425" y="566927"/>
                </a:lnTo>
                <a:lnTo>
                  <a:pt x="307175" y="563854"/>
                </a:lnTo>
                <a:lnTo>
                  <a:pt x="256348" y="554926"/>
                </a:lnTo>
                <a:lnTo>
                  <a:pt x="208500" y="540582"/>
                </a:lnTo>
                <a:lnTo>
                  <a:pt x="164191" y="521260"/>
                </a:lnTo>
                <a:lnTo>
                  <a:pt x="123979" y="497399"/>
                </a:lnTo>
                <a:lnTo>
                  <a:pt x="88422" y="469437"/>
                </a:lnTo>
                <a:lnTo>
                  <a:pt x="58079" y="437813"/>
                </a:lnTo>
                <a:lnTo>
                  <a:pt x="33506" y="402965"/>
                </a:lnTo>
                <a:lnTo>
                  <a:pt x="15264" y="365332"/>
                </a:lnTo>
                <a:lnTo>
                  <a:pt x="3909" y="325352"/>
                </a:lnTo>
                <a:lnTo>
                  <a:pt x="0" y="283463"/>
                </a:lnTo>
                <a:close/>
              </a:path>
            </a:pathLst>
          </a:custGeom>
          <a:ln w="25907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34717" y="5657799"/>
            <a:ext cx="18103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9855" algn="l"/>
              </a:tabLst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5	15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2036" y="4682744"/>
            <a:ext cx="714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Arial Narrow"/>
                <a:cs typeface="Arial Narrow"/>
              </a:rPr>
              <a:t>TF</a:t>
            </a:r>
            <a:r>
              <a:rPr sz="2800" b="1" dirty="0">
                <a:solidFill>
                  <a:srgbClr val="FF0000"/>
                </a:solidFill>
                <a:latin typeface="Arial Narrow"/>
                <a:cs typeface="Arial Narrow"/>
              </a:rPr>
              <a:t>=</a:t>
            </a:r>
            <a:r>
              <a:rPr sz="2800" b="1" spc="-5" dirty="0">
                <a:solidFill>
                  <a:srgbClr val="FF0000"/>
                </a:solidFill>
                <a:latin typeface="Arial Narrow"/>
                <a:cs typeface="Arial Narrow"/>
              </a:rPr>
              <a:t>4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293614" y="4581905"/>
            <a:ext cx="719455" cy="567055"/>
          </a:xfrm>
          <a:custGeom>
            <a:avLst/>
            <a:gdLst/>
            <a:ahLst/>
            <a:cxnLst/>
            <a:rect l="l" t="t" r="r" b="b"/>
            <a:pathLst>
              <a:path w="719454" h="567054">
                <a:moveTo>
                  <a:pt x="0" y="283464"/>
                </a:moveTo>
                <a:lnTo>
                  <a:pt x="3899" y="241567"/>
                </a:lnTo>
                <a:lnTo>
                  <a:pt x="15228" y="201581"/>
                </a:lnTo>
                <a:lnTo>
                  <a:pt x="33429" y="163946"/>
                </a:lnTo>
                <a:lnTo>
                  <a:pt x="57946" y="129098"/>
                </a:lnTo>
                <a:lnTo>
                  <a:pt x="88222" y="97475"/>
                </a:lnTo>
                <a:lnTo>
                  <a:pt x="123701" y="69516"/>
                </a:lnTo>
                <a:lnTo>
                  <a:pt x="163827" y="45658"/>
                </a:lnTo>
                <a:lnTo>
                  <a:pt x="208042" y="26339"/>
                </a:lnTo>
                <a:lnTo>
                  <a:pt x="255791" y="11998"/>
                </a:lnTo>
                <a:lnTo>
                  <a:pt x="306517" y="3072"/>
                </a:lnTo>
                <a:lnTo>
                  <a:pt x="359663" y="0"/>
                </a:lnTo>
                <a:lnTo>
                  <a:pt x="412810" y="3072"/>
                </a:lnTo>
                <a:lnTo>
                  <a:pt x="463536" y="11998"/>
                </a:lnTo>
                <a:lnTo>
                  <a:pt x="511285" y="26339"/>
                </a:lnTo>
                <a:lnTo>
                  <a:pt x="555500" y="45658"/>
                </a:lnTo>
                <a:lnTo>
                  <a:pt x="595626" y="69516"/>
                </a:lnTo>
                <a:lnTo>
                  <a:pt x="631105" y="97475"/>
                </a:lnTo>
                <a:lnTo>
                  <a:pt x="661381" y="129098"/>
                </a:lnTo>
                <a:lnTo>
                  <a:pt x="685898" y="163946"/>
                </a:lnTo>
                <a:lnTo>
                  <a:pt x="704099" y="201581"/>
                </a:lnTo>
                <a:lnTo>
                  <a:pt x="715428" y="241567"/>
                </a:lnTo>
                <a:lnTo>
                  <a:pt x="719327" y="283464"/>
                </a:lnTo>
                <a:lnTo>
                  <a:pt x="715428" y="325360"/>
                </a:lnTo>
                <a:lnTo>
                  <a:pt x="704099" y="365346"/>
                </a:lnTo>
                <a:lnTo>
                  <a:pt x="685898" y="402981"/>
                </a:lnTo>
                <a:lnTo>
                  <a:pt x="661381" y="437829"/>
                </a:lnTo>
                <a:lnTo>
                  <a:pt x="631105" y="469452"/>
                </a:lnTo>
                <a:lnTo>
                  <a:pt x="595626" y="497411"/>
                </a:lnTo>
                <a:lnTo>
                  <a:pt x="555500" y="521269"/>
                </a:lnTo>
                <a:lnTo>
                  <a:pt x="511285" y="540588"/>
                </a:lnTo>
                <a:lnTo>
                  <a:pt x="463536" y="554929"/>
                </a:lnTo>
                <a:lnTo>
                  <a:pt x="412810" y="563855"/>
                </a:lnTo>
                <a:lnTo>
                  <a:pt x="359663" y="566928"/>
                </a:lnTo>
                <a:lnTo>
                  <a:pt x="306517" y="563855"/>
                </a:lnTo>
                <a:lnTo>
                  <a:pt x="255791" y="554929"/>
                </a:lnTo>
                <a:lnTo>
                  <a:pt x="208042" y="540588"/>
                </a:lnTo>
                <a:lnTo>
                  <a:pt x="163827" y="521269"/>
                </a:lnTo>
                <a:lnTo>
                  <a:pt x="123701" y="497411"/>
                </a:lnTo>
                <a:lnTo>
                  <a:pt x="88222" y="469452"/>
                </a:lnTo>
                <a:lnTo>
                  <a:pt x="57946" y="437829"/>
                </a:lnTo>
                <a:lnTo>
                  <a:pt x="33429" y="402981"/>
                </a:lnTo>
                <a:lnTo>
                  <a:pt x="15228" y="365346"/>
                </a:lnTo>
                <a:lnTo>
                  <a:pt x="3899" y="325360"/>
                </a:lnTo>
                <a:lnTo>
                  <a:pt x="0" y="283464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431916" y="4568444"/>
            <a:ext cx="4438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13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54773" y="4645914"/>
            <a:ext cx="719455" cy="567055"/>
          </a:xfrm>
          <a:custGeom>
            <a:avLst/>
            <a:gdLst/>
            <a:ahLst/>
            <a:cxnLst/>
            <a:rect l="l" t="t" r="r" b="b"/>
            <a:pathLst>
              <a:path w="719454" h="567054">
                <a:moveTo>
                  <a:pt x="0" y="283463"/>
                </a:moveTo>
                <a:lnTo>
                  <a:pt x="3899" y="241567"/>
                </a:lnTo>
                <a:lnTo>
                  <a:pt x="15228" y="201581"/>
                </a:lnTo>
                <a:lnTo>
                  <a:pt x="33429" y="163946"/>
                </a:lnTo>
                <a:lnTo>
                  <a:pt x="57946" y="129098"/>
                </a:lnTo>
                <a:lnTo>
                  <a:pt x="88222" y="97475"/>
                </a:lnTo>
                <a:lnTo>
                  <a:pt x="123701" y="69516"/>
                </a:lnTo>
                <a:lnTo>
                  <a:pt x="163827" y="45658"/>
                </a:lnTo>
                <a:lnTo>
                  <a:pt x="208042" y="26339"/>
                </a:lnTo>
                <a:lnTo>
                  <a:pt x="255791" y="11998"/>
                </a:lnTo>
                <a:lnTo>
                  <a:pt x="306517" y="3072"/>
                </a:lnTo>
                <a:lnTo>
                  <a:pt x="359664" y="0"/>
                </a:lnTo>
                <a:lnTo>
                  <a:pt x="412810" y="3072"/>
                </a:lnTo>
                <a:lnTo>
                  <a:pt x="463536" y="11998"/>
                </a:lnTo>
                <a:lnTo>
                  <a:pt x="511285" y="26339"/>
                </a:lnTo>
                <a:lnTo>
                  <a:pt x="555500" y="45658"/>
                </a:lnTo>
                <a:lnTo>
                  <a:pt x="595626" y="69516"/>
                </a:lnTo>
                <a:lnTo>
                  <a:pt x="631105" y="97475"/>
                </a:lnTo>
                <a:lnTo>
                  <a:pt x="661381" y="129098"/>
                </a:lnTo>
                <a:lnTo>
                  <a:pt x="685898" y="163946"/>
                </a:lnTo>
                <a:lnTo>
                  <a:pt x="704099" y="201581"/>
                </a:lnTo>
                <a:lnTo>
                  <a:pt x="715428" y="241567"/>
                </a:lnTo>
                <a:lnTo>
                  <a:pt x="719327" y="283463"/>
                </a:lnTo>
                <a:lnTo>
                  <a:pt x="715428" y="325360"/>
                </a:lnTo>
                <a:lnTo>
                  <a:pt x="704099" y="365346"/>
                </a:lnTo>
                <a:lnTo>
                  <a:pt x="685898" y="402981"/>
                </a:lnTo>
                <a:lnTo>
                  <a:pt x="661381" y="437829"/>
                </a:lnTo>
                <a:lnTo>
                  <a:pt x="631105" y="469452"/>
                </a:lnTo>
                <a:lnTo>
                  <a:pt x="595626" y="497411"/>
                </a:lnTo>
                <a:lnTo>
                  <a:pt x="555500" y="521269"/>
                </a:lnTo>
                <a:lnTo>
                  <a:pt x="511285" y="540588"/>
                </a:lnTo>
                <a:lnTo>
                  <a:pt x="463536" y="554929"/>
                </a:lnTo>
                <a:lnTo>
                  <a:pt x="412810" y="563855"/>
                </a:lnTo>
                <a:lnTo>
                  <a:pt x="359664" y="566928"/>
                </a:lnTo>
                <a:lnTo>
                  <a:pt x="306517" y="563855"/>
                </a:lnTo>
                <a:lnTo>
                  <a:pt x="255791" y="554929"/>
                </a:lnTo>
                <a:lnTo>
                  <a:pt x="208042" y="540588"/>
                </a:lnTo>
                <a:lnTo>
                  <a:pt x="163827" y="521269"/>
                </a:lnTo>
                <a:lnTo>
                  <a:pt x="123701" y="497411"/>
                </a:lnTo>
                <a:lnTo>
                  <a:pt x="88222" y="469452"/>
                </a:lnTo>
                <a:lnTo>
                  <a:pt x="57946" y="437829"/>
                </a:lnTo>
                <a:lnTo>
                  <a:pt x="33429" y="402981"/>
                </a:lnTo>
                <a:lnTo>
                  <a:pt x="15228" y="365346"/>
                </a:lnTo>
                <a:lnTo>
                  <a:pt x="3899" y="325360"/>
                </a:lnTo>
                <a:lnTo>
                  <a:pt x="0" y="283463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093711" y="4631512"/>
            <a:ext cx="4432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15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04282" y="5737097"/>
            <a:ext cx="721360" cy="565785"/>
          </a:xfrm>
          <a:custGeom>
            <a:avLst/>
            <a:gdLst/>
            <a:ahLst/>
            <a:cxnLst/>
            <a:rect l="l" t="t" r="r" b="b"/>
            <a:pathLst>
              <a:path w="721360" h="565785">
                <a:moveTo>
                  <a:pt x="0" y="282701"/>
                </a:moveTo>
                <a:lnTo>
                  <a:pt x="3909" y="240925"/>
                </a:lnTo>
                <a:lnTo>
                  <a:pt x="15264" y="201053"/>
                </a:lnTo>
                <a:lnTo>
                  <a:pt x="33506" y="163521"/>
                </a:lnTo>
                <a:lnTo>
                  <a:pt x="58079" y="128767"/>
                </a:lnTo>
                <a:lnTo>
                  <a:pt x="88422" y="97227"/>
                </a:lnTo>
                <a:lnTo>
                  <a:pt x="123979" y="69341"/>
                </a:lnTo>
                <a:lnTo>
                  <a:pt x="164191" y="45544"/>
                </a:lnTo>
                <a:lnTo>
                  <a:pt x="208500" y="26274"/>
                </a:lnTo>
                <a:lnTo>
                  <a:pt x="256348" y="11969"/>
                </a:lnTo>
                <a:lnTo>
                  <a:pt x="307175" y="3065"/>
                </a:lnTo>
                <a:lnTo>
                  <a:pt x="360425" y="0"/>
                </a:lnTo>
                <a:lnTo>
                  <a:pt x="413676" y="3065"/>
                </a:lnTo>
                <a:lnTo>
                  <a:pt x="464503" y="11969"/>
                </a:lnTo>
                <a:lnTo>
                  <a:pt x="512351" y="26274"/>
                </a:lnTo>
                <a:lnTo>
                  <a:pt x="556660" y="45544"/>
                </a:lnTo>
                <a:lnTo>
                  <a:pt x="596872" y="69341"/>
                </a:lnTo>
                <a:lnTo>
                  <a:pt x="632429" y="97227"/>
                </a:lnTo>
                <a:lnTo>
                  <a:pt x="662772" y="128767"/>
                </a:lnTo>
                <a:lnTo>
                  <a:pt x="687345" y="163521"/>
                </a:lnTo>
                <a:lnTo>
                  <a:pt x="705587" y="201053"/>
                </a:lnTo>
                <a:lnTo>
                  <a:pt x="716942" y="240925"/>
                </a:lnTo>
                <a:lnTo>
                  <a:pt x="720851" y="282701"/>
                </a:lnTo>
                <a:lnTo>
                  <a:pt x="716942" y="324478"/>
                </a:lnTo>
                <a:lnTo>
                  <a:pt x="705587" y="364350"/>
                </a:lnTo>
                <a:lnTo>
                  <a:pt x="687345" y="401882"/>
                </a:lnTo>
                <a:lnTo>
                  <a:pt x="662772" y="436636"/>
                </a:lnTo>
                <a:lnTo>
                  <a:pt x="632429" y="468176"/>
                </a:lnTo>
                <a:lnTo>
                  <a:pt x="596872" y="496062"/>
                </a:lnTo>
                <a:lnTo>
                  <a:pt x="556660" y="519859"/>
                </a:lnTo>
                <a:lnTo>
                  <a:pt x="512351" y="539129"/>
                </a:lnTo>
                <a:lnTo>
                  <a:pt x="464503" y="553434"/>
                </a:lnTo>
                <a:lnTo>
                  <a:pt x="413676" y="562338"/>
                </a:lnTo>
                <a:lnTo>
                  <a:pt x="360425" y="565403"/>
                </a:lnTo>
                <a:lnTo>
                  <a:pt x="307175" y="562338"/>
                </a:lnTo>
                <a:lnTo>
                  <a:pt x="256348" y="553434"/>
                </a:lnTo>
                <a:lnTo>
                  <a:pt x="208500" y="539129"/>
                </a:lnTo>
                <a:lnTo>
                  <a:pt x="164191" y="519859"/>
                </a:lnTo>
                <a:lnTo>
                  <a:pt x="123979" y="496062"/>
                </a:lnTo>
                <a:lnTo>
                  <a:pt x="88422" y="468176"/>
                </a:lnTo>
                <a:lnTo>
                  <a:pt x="58079" y="436636"/>
                </a:lnTo>
                <a:lnTo>
                  <a:pt x="33506" y="401882"/>
                </a:lnTo>
                <a:lnTo>
                  <a:pt x="15264" y="364350"/>
                </a:lnTo>
                <a:lnTo>
                  <a:pt x="3909" y="324478"/>
                </a:lnTo>
                <a:lnTo>
                  <a:pt x="0" y="282701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443854" y="5722416"/>
            <a:ext cx="4438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17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954773" y="5758434"/>
            <a:ext cx="719455" cy="568960"/>
          </a:xfrm>
          <a:custGeom>
            <a:avLst/>
            <a:gdLst/>
            <a:ahLst/>
            <a:cxnLst/>
            <a:rect l="l" t="t" r="r" b="b"/>
            <a:pathLst>
              <a:path w="719454" h="568960">
                <a:moveTo>
                  <a:pt x="0" y="284225"/>
                </a:moveTo>
                <a:lnTo>
                  <a:pt x="3899" y="242225"/>
                </a:lnTo>
                <a:lnTo>
                  <a:pt x="15228" y="202138"/>
                </a:lnTo>
                <a:lnTo>
                  <a:pt x="33429" y="164404"/>
                </a:lnTo>
                <a:lnTo>
                  <a:pt x="57946" y="129462"/>
                </a:lnTo>
                <a:lnTo>
                  <a:pt x="88222" y="97753"/>
                </a:lnTo>
                <a:lnTo>
                  <a:pt x="123701" y="69716"/>
                </a:lnTo>
                <a:lnTo>
                  <a:pt x="163827" y="45790"/>
                </a:lnTo>
                <a:lnTo>
                  <a:pt x="208042" y="26416"/>
                </a:lnTo>
                <a:lnTo>
                  <a:pt x="255791" y="12033"/>
                </a:lnTo>
                <a:lnTo>
                  <a:pt x="306517" y="3081"/>
                </a:lnTo>
                <a:lnTo>
                  <a:pt x="359664" y="0"/>
                </a:lnTo>
                <a:lnTo>
                  <a:pt x="412810" y="3081"/>
                </a:lnTo>
                <a:lnTo>
                  <a:pt x="463536" y="12033"/>
                </a:lnTo>
                <a:lnTo>
                  <a:pt x="511285" y="26416"/>
                </a:lnTo>
                <a:lnTo>
                  <a:pt x="555500" y="45790"/>
                </a:lnTo>
                <a:lnTo>
                  <a:pt x="595626" y="69716"/>
                </a:lnTo>
                <a:lnTo>
                  <a:pt x="631105" y="97753"/>
                </a:lnTo>
                <a:lnTo>
                  <a:pt x="661381" y="129462"/>
                </a:lnTo>
                <a:lnTo>
                  <a:pt x="685898" y="164404"/>
                </a:lnTo>
                <a:lnTo>
                  <a:pt x="704099" y="202138"/>
                </a:lnTo>
                <a:lnTo>
                  <a:pt x="715428" y="242225"/>
                </a:lnTo>
                <a:lnTo>
                  <a:pt x="719327" y="284225"/>
                </a:lnTo>
                <a:lnTo>
                  <a:pt x="715428" y="326226"/>
                </a:lnTo>
                <a:lnTo>
                  <a:pt x="704099" y="366313"/>
                </a:lnTo>
                <a:lnTo>
                  <a:pt x="685898" y="404047"/>
                </a:lnTo>
                <a:lnTo>
                  <a:pt x="661381" y="438989"/>
                </a:lnTo>
                <a:lnTo>
                  <a:pt x="631105" y="470698"/>
                </a:lnTo>
                <a:lnTo>
                  <a:pt x="595626" y="498735"/>
                </a:lnTo>
                <a:lnTo>
                  <a:pt x="555500" y="522661"/>
                </a:lnTo>
                <a:lnTo>
                  <a:pt x="511285" y="542035"/>
                </a:lnTo>
                <a:lnTo>
                  <a:pt x="463536" y="556418"/>
                </a:lnTo>
                <a:lnTo>
                  <a:pt x="412810" y="565370"/>
                </a:lnTo>
                <a:lnTo>
                  <a:pt x="359664" y="568451"/>
                </a:lnTo>
                <a:lnTo>
                  <a:pt x="306517" y="565370"/>
                </a:lnTo>
                <a:lnTo>
                  <a:pt x="255791" y="556418"/>
                </a:lnTo>
                <a:lnTo>
                  <a:pt x="208042" y="542035"/>
                </a:lnTo>
                <a:lnTo>
                  <a:pt x="163827" y="522661"/>
                </a:lnTo>
                <a:lnTo>
                  <a:pt x="123701" y="498735"/>
                </a:lnTo>
                <a:lnTo>
                  <a:pt x="88222" y="470698"/>
                </a:lnTo>
                <a:lnTo>
                  <a:pt x="57946" y="438989"/>
                </a:lnTo>
                <a:lnTo>
                  <a:pt x="33429" y="404047"/>
                </a:lnTo>
                <a:lnTo>
                  <a:pt x="15228" y="366313"/>
                </a:lnTo>
                <a:lnTo>
                  <a:pt x="3899" y="326226"/>
                </a:lnTo>
                <a:lnTo>
                  <a:pt x="0" y="284225"/>
                </a:lnTo>
                <a:close/>
              </a:path>
            </a:pathLst>
          </a:custGeom>
          <a:ln w="25908">
            <a:solidFill>
              <a:srgbClr val="FF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7093711" y="5745886"/>
            <a:ext cx="4432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19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2036" y="5554167"/>
            <a:ext cx="714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FF0000"/>
                </a:solidFill>
                <a:latin typeface="Arial Narrow"/>
                <a:cs typeface="Arial Narrow"/>
              </a:rPr>
              <a:t>FF=2</a:t>
            </a:r>
            <a:endParaRPr sz="28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581913"/>
            <a:ext cx="60788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关键路径（</a:t>
            </a:r>
            <a:r>
              <a:rPr i="1" dirty="0">
                <a:latin typeface="华文隶书"/>
                <a:cs typeface="华文隶书"/>
              </a:rPr>
              <a:t>Critical</a:t>
            </a:r>
            <a:r>
              <a:rPr i="1" spc="-6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Path</a:t>
            </a:r>
            <a:r>
              <a:rPr i="1" spc="-30" dirty="0">
                <a:latin typeface="华文隶书"/>
                <a:cs typeface="华文隶书"/>
              </a:rPr>
              <a:t> </a:t>
            </a:r>
            <a:r>
              <a:rPr dirty="0">
                <a:latin typeface="华文隶书"/>
                <a:cs typeface="华文隶书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0594" y="1605533"/>
            <a:ext cx="8784590" cy="2380615"/>
          </a:xfrm>
          <a:custGeom>
            <a:avLst/>
            <a:gdLst/>
            <a:ahLst/>
            <a:cxnLst/>
            <a:rect l="l" t="t" r="r" b="b"/>
            <a:pathLst>
              <a:path w="8784590" h="2380615">
                <a:moveTo>
                  <a:pt x="0" y="2380488"/>
                </a:moveTo>
                <a:lnTo>
                  <a:pt x="8784336" y="2380488"/>
                </a:lnTo>
                <a:lnTo>
                  <a:pt x="8784336" y="0"/>
                </a:lnTo>
                <a:lnTo>
                  <a:pt x="0" y="0"/>
                </a:lnTo>
                <a:lnTo>
                  <a:pt x="0" y="2380488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8267" y="1523873"/>
            <a:ext cx="8575040" cy="230822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华文新魏"/>
                <a:cs typeface="华文新魏"/>
              </a:rPr>
              <a:t>网络图中最长的路径</a:t>
            </a:r>
            <a:endParaRPr sz="24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华文新魏"/>
                <a:cs typeface="华文新魏"/>
              </a:rPr>
              <a:t>关键路径是决定项目完成的最短时间。</a:t>
            </a:r>
            <a:endParaRPr sz="24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华文新魏"/>
                <a:cs typeface="华文新魏"/>
              </a:rPr>
              <a:t>时间浮动为0（Float=0）的路径</a:t>
            </a:r>
            <a:endParaRPr sz="24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spc="-5" dirty="0">
                <a:latin typeface="华文新魏"/>
                <a:cs typeface="华文新魏"/>
              </a:rPr>
              <a:t>关键路径上任何活动延迟，都会导致整个项目完成时间的延迟</a:t>
            </a:r>
            <a:endParaRPr sz="2400">
              <a:latin typeface="华文新魏"/>
              <a:cs typeface="华文新魏"/>
            </a:endParaRPr>
          </a:p>
          <a:p>
            <a:pPr marL="332740" indent="-320040">
              <a:lnSpc>
                <a:spcPct val="100000"/>
              </a:lnSpc>
              <a:spcBef>
                <a:spcPts val="760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332105" algn="l"/>
                <a:tab pos="332740" algn="l"/>
              </a:tabLst>
            </a:pPr>
            <a:r>
              <a:rPr sz="2400" dirty="0">
                <a:latin typeface="华文新魏"/>
                <a:cs typeface="华文新魏"/>
              </a:rPr>
              <a:t>关键路径可能不止一条</a:t>
            </a:r>
            <a:endParaRPr sz="2400">
              <a:latin typeface="华文新魏"/>
              <a:cs typeface="华文新魏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59" y="3985258"/>
            <a:ext cx="8285988" cy="2843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8515" y="329564"/>
            <a:ext cx="2823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项目网络图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527" y="1268729"/>
            <a:ext cx="1657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94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459" y="3896867"/>
            <a:ext cx="993775" cy="817244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4639" y="2468879"/>
            <a:ext cx="3251200" cy="81534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3600" spc="-5" dirty="0">
                <a:latin typeface="Arial Narrow"/>
                <a:cs typeface="Arial Narrow"/>
              </a:rPr>
              <a:t>A:100</a:t>
            </a:r>
            <a:r>
              <a:rPr sz="3600" dirty="0">
                <a:latin typeface="宋体"/>
                <a:cs typeface="宋体"/>
              </a:rPr>
              <a:t>天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1335" y="4917947"/>
            <a:ext cx="1388745" cy="81724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r>
              <a:rPr sz="3200" spc="5" dirty="0">
                <a:latin typeface="宋体"/>
                <a:cs typeface="宋体"/>
              </a:rPr>
              <a:t>天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411211" y="3896867"/>
            <a:ext cx="993775" cy="81724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43190" y="4501896"/>
            <a:ext cx="2588260" cy="836294"/>
          </a:xfrm>
          <a:custGeom>
            <a:avLst/>
            <a:gdLst/>
            <a:ahLst/>
            <a:cxnLst/>
            <a:rect l="l" t="t" r="r" b="b"/>
            <a:pathLst>
              <a:path w="2588260" h="836295">
                <a:moveTo>
                  <a:pt x="2513517" y="806043"/>
                </a:moveTo>
                <a:lnTo>
                  <a:pt x="2503944" y="836294"/>
                </a:lnTo>
                <a:lnTo>
                  <a:pt x="2588145" y="822959"/>
                </a:lnTo>
                <a:lnTo>
                  <a:pt x="2574644" y="809878"/>
                </a:lnTo>
                <a:lnTo>
                  <a:pt x="2525661" y="809878"/>
                </a:lnTo>
                <a:lnTo>
                  <a:pt x="2513517" y="806043"/>
                </a:lnTo>
                <a:close/>
              </a:path>
              <a:path w="2588260" h="836295">
                <a:moveTo>
                  <a:pt x="2517334" y="793980"/>
                </a:moveTo>
                <a:lnTo>
                  <a:pt x="2513517" y="806043"/>
                </a:lnTo>
                <a:lnTo>
                  <a:pt x="2525661" y="809878"/>
                </a:lnTo>
                <a:lnTo>
                  <a:pt x="2529471" y="797813"/>
                </a:lnTo>
                <a:lnTo>
                  <a:pt x="2517334" y="793980"/>
                </a:lnTo>
                <a:close/>
              </a:path>
              <a:path w="2588260" h="836295">
                <a:moveTo>
                  <a:pt x="2526931" y="763650"/>
                </a:moveTo>
                <a:lnTo>
                  <a:pt x="2517334" y="793980"/>
                </a:lnTo>
                <a:lnTo>
                  <a:pt x="2529471" y="797813"/>
                </a:lnTo>
                <a:lnTo>
                  <a:pt x="2525661" y="809878"/>
                </a:lnTo>
                <a:lnTo>
                  <a:pt x="2574644" y="809878"/>
                </a:lnTo>
                <a:lnTo>
                  <a:pt x="2526931" y="763650"/>
                </a:lnTo>
                <a:close/>
              </a:path>
              <a:path w="2588260" h="836295">
                <a:moveTo>
                  <a:pt x="3835" y="0"/>
                </a:moveTo>
                <a:lnTo>
                  <a:pt x="0" y="12191"/>
                </a:lnTo>
                <a:lnTo>
                  <a:pt x="2513517" y="806043"/>
                </a:lnTo>
                <a:lnTo>
                  <a:pt x="2517334" y="793980"/>
                </a:lnTo>
                <a:lnTo>
                  <a:pt x="38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240866" y="2875788"/>
            <a:ext cx="1593850" cy="1434465"/>
          </a:xfrm>
          <a:custGeom>
            <a:avLst/>
            <a:gdLst/>
            <a:ahLst/>
            <a:cxnLst/>
            <a:rect l="l" t="t" r="r" b="b"/>
            <a:pathLst>
              <a:path w="1593850" h="1434464">
                <a:moveTo>
                  <a:pt x="1532858" y="46244"/>
                </a:moveTo>
                <a:lnTo>
                  <a:pt x="0" y="1424813"/>
                </a:lnTo>
                <a:lnTo>
                  <a:pt x="8483" y="1434211"/>
                </a:lnTo>
                <a:lnTo>
                  <a:pt x="1541397" y="55742"/>
                </a:lnTo>
                <a:lnTo>
                  <a:pt x="1532858" y="46244"/>
                </a:lnTo>
                <a:close/>
              </a:path>
              <a:path w="1593850" h="1434464">
                <a:moveTo>
                  <a:pt x="1578903" y="37719"/>
                </a:moveTo>
                <a:lnTo>
                  <a:pt x="1542338" y="37719"/>
                </a:lnTo>
                <a:lnTo>
                  <a:pt x="1550847" y="47244"/>
                </a:lnTo>
                <a:lnTo>
                  <a:pt x="1541397" y="55742"/>
                </a:lnTo>
                <a:lnTo>
                  <a:pt x="1562531" y="79248"/>
                </a:lnTo>
                <a:lnTo>
                  <a:pt x="1578903" y="37719"/>
                </a:lnTo>
                <a:close/>
              </a:path>
              <a:path w="1593850" h="1434464">
                <a:moveTo>
                  <a:pt x="1542338" y="37719"/>
                </a:moveTo>
                <a:lnTo>
                  <a:pt x="1532858" y="46244"/>
                </a:lnTo>
                <a:lnTo>
                  <a:pt x="1541397" y="55742"/>
                </a:lnTo>
                <a:lnTo>
                  <a:pt x="1550847" y="47244"/>
                </a:lnTo>
                <a:lnTo>
                  <a:pt x="1542338" y="37719"/>
                </a:lnTo>
                <a:close/>
              </a:path>
              <a:path w="1593850" h="1434464">
                <a:moveTo>
                  <a:pt x="1593773" y="0"/>
                </a:moveTo>
                <a:lnTo>
                  <a:pt x="1511604" y="22606"/>
                </a:lnTo>
                <a:lnTo>
                  <a:pt x="1532858" y="46244"/>
                </a:lnTo>
                <a:lnTo>
                  <a:pt x="1542338" y="37719"/>
                </a:lnTo>
                <a:lnTo>
                  <a:pt x="1578903" y="37719"/>
                </a:lnTo>
                <a:lnTo>
                  <a:pt x="15937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17033" y="4302886"/>
            <a:ext cx="2194560" cy="1028065"/>
          </a:xfrm>
          <a:custGeom>
            <a:avLst/>
            <a:gdLst/>
            <a:ahLst/>
            <a:cxnLst/>
            <a:rect l="l" t="t" r="r" b="b"/>
            <a:pathLst>
              <a:path w="2194559" h="1028064">
                <a:moveTo>
                  <a:pt x="2122439" y="28864"/>
                </a:moveTo>
                <a:lnTo>
                  <a:pt x="0" y="1016254"/>
                </a:lnTo>
                <a:lnTo>
                  <a:pt x="5333" y="1027684"/>
                </a:lnTo>
                <a:lnTo>
                  <a:pt x="2127775" y="40293"/>
                </a:lnTo>
                <a:lnTo>
                  <a:pt x="2122439" y="28864"/>
                </a:lnTo>
                <a:close/>
              </a:path>
              <a:path w="2194559" h="1028064">
                <a:moveTo>
                  <a:pt x="2177433" y="23494"/>
                </a:moveTo>
                <a:lnTo>
                  <a:pt x="2133981" y="23494"/>
                </a:lnTo>
                <a:lnTo>
                  <a:pt x="2139315" y="34925"/>
                </a:lnTo>
                <a:lnTo>
                  <a:pt x="2127775" y="40293"/>
                </a:lnTo>
                <a:lnTo>
                  <a:pt x="2141219" y="69087"/>
                </a:lnTo>
                <a:lnTo>
                  <a:pt x="2177433" y="23494"/>
                </a:lnTo>
                <a:close/>
              </a:path>
              <a:path w="2194559" h="1028064">
                <a:moveTo>
                  <a:pt x="2133981" y="23494"/>
                </a:moveTo>
                <a:lnTo>
                  <a:pt x="2122439" y="28864"/>
                </a:lnTo>
                <a:lnTo>
                  <a:pt x="2127775" y="40293"/>
                </a:lnTo>
                <a:lnTo>
                  <a:pt x="2139315" y="34925"/>
                </a:lnTo>
                <a:lnTo>
                  <a:pt x="2133981" y="23494"/>
                </a:lnTo>
                <a:close/>
              </a:path>
              <a:path w="2194559" h="1028064">
                <a:moveTo>
                  <a:pt x="2108962" y="0"/>
                </a:moveTo>
                <a:lnTo>
                  <a:pt x="2122439" y="28864"/>
                </a:lnTo>
                <a:lnTo>
                  <a:pt x="2133981" y="23494"/>
                </a:lnTo>
                <a:lnTo>
                  <a:pt x="2177433" y="23494"/>
                </a:lnTo>
                <a:lnTo>
                  <a:pt x="2194178" y="2412"/>
                </a:lnTo>
                <a:lnTo>
                  <a:pt x="21089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81014" y="2871089"/>
            <a:ext cx="1330325" cy="1229995"/>
          </a:xfrm>
          <a:custGeom>
            <a:avLst/>
            <a:gdLst/>
            <a:ahLst/>
            <a:cxnLst/>
            <a:rect l="l" t="t" r="r" b="b"/>
            <a:pathLst>
              <a:path w="1330325" h="1229995">
                <a:moveTo>
                  <a:pt x="1269952" y="1182903"/>
                </a:moveTo>
                <a:lnTo>
                  <a:pt x="1248410" y="1206246"/>
                </a:lnTo>
                <a:lnTo>
                  <a:pt x="1330197" y="1229995"/>
                </a:lnTo>
                <a:lnTo>
                  <a:pt x="1315675" y="1191514"/>
                </a:lnTo>
                <a:lnTo>
                  <a:pt x="1279270" y="1191514"/>
                </a:lnTo>
                <a:lnTo>
                  <a:pt x="1269952" y="1182903"/>
                </a:lnTo>
                <a:close/>
              </a:path>
              <a:path w="1330325" h="1229995">
                <a:moveTo>
                  <a:pt x="1278546" y="1173592"/>
                </a:moveTo>
                <a:lnTo>
                  <a:pt x="1269952" y="1182903"/>
                </a:lnTo>
                <a:lnTo>
                  <a:pt x="1279270" y="1191514"/>
                </a:lnTo>
                <a:lnTo>
                  <a:pt x="1287907" y="1182243"/>
                </a:lnTo>
                <a:lnTo>
                  <a:pt x="1278546" y="1173592"/>
                </a:lnTo>
                <a:close/>
              </a:path>
              <a:path w="1330325" h="1229995">
                <a:moveTo>
                  <a:pt x="1300099" y="1150239"/>
                </a:moveTo>
                <a:lnTo>
                  <a:pt x="1278546" y="1173592"/>
                </a:lnTo>
                <a:lnTo>
                  <a:pt x="1287907" y="1182243"/>
                </a:lnTo>
                <a:lnTo>
                  <a:pt x="1279270" y="1191514"/>
                </a:lnTo>
                <a:lnTo>
                  <a:pt x="1315675" y="1191514"/>
                </a:lnTo>
                <a:lnTo>
                  <a:pt x="1300099" y="1150239"/>
                </a:lnTo>
                <a:close/>
              </a:path>
              <a:path w="1330325" h="1229995">
                <a:moveTo>
                  <a:pt x="8636" y="0"/>
                </a:moveTo>
                <a:lnTo>
                  <a:pt x="0" y="9398"/>
                </a:lnTo>
                <a:lnTo>
                  <a:pt x="1269952" y="1182903"/>
                </a:lnTo>
                <a:lnTo>
                  <a:pt x="1278546" y="1173592"/>
                </a:lnTo>
                <a:lnTo>
                  <a:pt x="86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762" y="646937"/>
            <a:ext cx="0" cy="3657600"/>
          </a:xfrm>
          <a:custGeom>
            <a:avLst/>
            <a:gdLst/>
            <a:ahLst/>
            <a:cxnLst/>
            <a:rect l="l" t="t" r="r" b="b"/>
            <a:pathLst>
              <a:path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62762" y="4293870"/>
            <a:ext cx="4674235" cy="0"/>
          </a:xfrm>
          <a:custGeom>
            <a:avLst/>
            <a:gdLst/>
            <a:ahLst/>
            <a:cxnLst/>
            <a:rect l="l" t="t" r="r" b="b"/>
            <a:pathLst>
              <a:path w="4674235">
                <a:moveTo>
                  <a:pt x="0" y="0"/>
                </a:moveTo>
                <a:lnTo>
                  <a:pt x="4674108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15161" y="2279142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3621" y="2948177"/>
            <a:ext cx="14478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4604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4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8961" y="837438"/>
            <a:ext cx="4419600" cy="421005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310"/>
              </a:lnSpc>
            </a:pPr>
            <a:r>
              <a:rPr sz="3200" dirty="0">
                <a:solidFill>
                  <a:srgbClr val="000000"/>
                </a:solidFill>
                <a:latin typeface="Arial Narrow"/>
                <a:cs typeface="Arial Narrow"/>
              </a:rPr>
              <a:t>A:100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73951" y="279654"/>
            <a:ext cx="334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 Narrow"/>
                <a:cs typeface="Arial Narrow"/>
              </a:rPr>
              <a:t>A: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4446" y="1223848"/>
            <a:ext cx="6432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E</a:t>
            </a:r>
            <a:r>
              <a:rPr sz="2400" b="1" spc="-15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=0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21956" y="1223848"/>
            <a:ext cx="9080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E</a:t>
            </a:r>
            <a:r>
              <a:rPr sz="2400" b="1" spc="-10" dirty="0">
                <a:latin typeface="Arial Narrow"/>
                <a:cs typeface="Arial Narrow"/>
              </a:rPr>
              <a:t>F</a:t>
            </a:r>
            <a:r>
              <a:rPr sz="2400" b="1" dirty="0">
                <a:latin typeface="Arial Narrow"/>
                <a:cs typeface="Arial Narrow"/>
              </a:rPr>
              <a:t>=100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32269" y="1197102"/>
            <a:ext cx="647700" cy="463550"/>
          </a:xfrm>
          <a:custGeom>
            <a:avLst/>
            <a:gdLst/>
            <a:ahLst/>
            <a:cxnLst/>
            <a:rect l="l" t="t" r="r" b="b"/>
            <a:pathLst>
              <a:path w="647700" h="463550">
                <a:moveTo>
                  <a:pt x="416051" y="0"/>
                </a:moveTo>
                <a:lnTo>
                  <a:pt x="416051" y="115824"/>
                </a:lnTo>
                <a:lnTo>
                  <a:pt x="0" y="115824"/>
                </a:lnTo>
                <a:lnTo>
                  <a:pt x="0" y="347472"/>
                </a:lnTo>
                <a:lnTo>
                  <a:pt x="416051" y="347472"/>
                </a:lnTo>
                <a:lnTo>
                  <a:pt x="416051" y="463296"/>
                </a:lnTo>
                <a:lnTo>
                  <a:pt x="647700" y="231648"/>
                </a:lnTo>
                <a:lnTo>
                  <a:pt x="41605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32269" y="1197102"/>
            <a:ext cx="647700" cy="463550"/>
          </a:xfrm>
          <a:custGeom>
            <a:avLst/>
            <a:gdLst/>
            <a:ahLst/>
            <a:cxnLst/>
            <a:rect l="l" t="t" r="r" b="b"/>
            <a:pathLst>
              <a:path w="647700" h="463550">
                <a:moveTo>
                  <a:pt x="0" y="115824"/>
                </a:moveTo>
                <a:lnTo>
                  <a:pt x="416051" y="115824"/>
                </a:lnTo>
                <a:lnTo>
                  <a:pt x="416051" y="0"/>
                </a:lnTo>
                <a:lnTo>
                  <a:pt x="647700" y="231648"/>
                </a:lnTo>
                <a:lnTo>
                  <a:pt x="416051" y="463296"/>
                </a:lnTo>
                <a:lnTo>
                  <a:pt x="416051" y="347472"/>
                </a:lnTo>
                <a:lnTo>
                  <a:pt x="0" y="347472"/>
                </a:lnTo>
                <a:lnTo>
                  <a:pt x="0" y="115824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37046" y="1923034"/>
            <a:ext cx="629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LS=0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17030" y="1998726"/>
            <a:ext cx="647700" cy="329565"/>
          </a:xfrm>
          <a:custGeom>
            <a:avLst/>
            <a:gdLst/>
            <a:ahLst/>
            <a:cxnLst/>
            <a:rect l="l" t="t" r="r" b="b"/>
            <a:pathLst>
              <a:path w="647700" h="329564">
                <a:moveTo>
                  <a:pt x="164592" y="0"/>
                </a:moveTo>
                <a:lnTo>
                  <a:pt x="0" y="164591"/>
                </a:lnTo>
                <a:lnTo>
                  <a:pt x="164592" y="329184"/>
                </a:lnTo>
                <a:lnTo>
                  <a:pt x="164592" y="246887"/>
                </a:lnTo>
                <a:lnTo>
                  <a:pt x="647700" y="246887"/>
                </a:lnTo>
                <a:lnTo>
                  <a:pt x="647700" y="82296"/>
                </a:lnTo>
                <a:lnTo>
                  <a:pt x="164592" y="82296"/>
                </a:lnTo>
                <a:lnTo>
                  <a:pt x="164592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17030" y="1998726"/>
            <a:ext cx="647700" cy="329565"/>
          </a:xfrm>
          <a:custGeom>
            <a:avLst/>
            <a:gdLst/>
            <a:ahLst/>
            <a:cxnLst/>
            <a:rect l="l" t="t" r="r" b="b"/>
            <a:pathLst>
              <a:path w="647700" h="329564">
                <a:moveTo>
                  <a:pt x="0" y="164591"/>
                </a:moveTo>
                <a:lnTo>
                  <a:pt x="164592" y="0"/>
                </a:lnTo>
                <a:lnTo>
                  <a:pt x="164592" y="82296"/>
                </a:lnTo>
                <a:lnTo>
                  <a:pt x="647700" y="82296"/>
                </a:lnTo>
                <a:lnTo>
                  <a:pt x="647700" y="246887"/>
                </a:lnTo>
                <a:lnTo>
                  <a:pt x="164592" y="246887"/>
                </a:lnTo>
                <a:lnTo>
                  <a:pt x="164592" y="329184"/>
                </a:lnTo>
                <a:lnTo>
                  <a:pt x="0" y="164591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679817" y="195351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LF=100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60694" y="3318764"/>
            <a:ext cx="6432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E</a:t>
            </a:r>
            <a:r>
              <a:rPr sz="2400" b="1" spc="-10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=0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18657" y="4031742"/>
            <a:ext cx="768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LS=90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107428" y="2591561"/>
            <a:ext cx="3333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 Narrow"/>
                <a:cs typeface="Arial Narrow"/>
              </a:rPr>
              <a:t>B:</a:t>
            </a:r>
            <a:endParaRPr sz="2800">
              <a:latin typeface="Arial Narrow"/>
              <a:cs typeface="Arial Narro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950202" y="3347465"/>
            <a:ext cx="647700" cy="387350"/>
          </a:xfrm>
          <a:custGeom>
            <a:avLst/>
            <a:gdLst/>
            <a:ahLst/>
            <a:cxnLst/>
            <a:rect l="l" t="t" r="r" b="b"/>
            <a:pathLst>
              <a:path w="647700" h="387350">
                <a:moveTo>
                  <a:pt x="454151" y="0"/>
                </a:moveTo>
                <a:lnTo>
                  <a:pt x="454151" y="96774"/>
                </a:lnTo>
                <a:lnTo>
                  <a:pt x="0" y="96774"/>
                </a:lnTo>
                <a:lnTo>
                  <a:pt x="0" y="290322"/>
                </a:lnTo>
                <a:lnTo>
                  <a:pt x="454151" y="290322"/>
                </a:lnTo>
                <a:lnTo>
                  <a:pt x="454151" y="387096"/>
                </a:lnTo>
                <a:lnTo>
                  <a:pt x="647700" y="193548"/>
                </a:lnTo>
                <a:lnTo>
                  <a:pt x="45415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950202" y="3347465"/>
            <a:ext cx="647700" cy="387350"/>
          </a:xfrm>
          <a:custGeom>
            <a:avLst/>
            <a:gdLst/>
            <a:ahLst/>
            <a:cxnLst/>
            <a:rect l="l" t="t" r="r" b="b"/>
            <a:pathLst>
              <a:path w="647700" h="387350">
                <a:moveTo>
                  <a:pt x="0" y="96774"/>
                </a:moveTo>
                <a:lnTo>
                  <a:pt x="454151" y="96774"/>
                </a:lnTo>
                <a:lnTo>
                  <a:pt x="454151" y="0"/>
                </a:lnTo>
                <a:lnTo>
                  <a:pt x="647700" y="193548"/>
                </a:lnTo>
                <a:lnTo>
                  <a:pt x="454151" y="387096"/>
                </a:lnTo>
                <a:lnTo>
                  <a:pt x="454151" y="290322"/>
                </a:lnTo>
                <a:lnTo>
                  <a:pt x="0" y="290322"/>
                </a:lnTo>
                <a:lnTo>
                  <a:pt x="0" y="96774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919721" y="4085082"/>
            <a:ext cx="647700" cy="370840"/>
          </a:xfrm>
          <a:custGeom>
            <a:avLst/>
            <a:gdLst/>
            <a:ahLst/>
            <a:cxnLst/>
            <a:rect l="l" t="t" r="r" b="b"/>
            <a:pathLst>
              <a:path w="647700" h="370839">
                <a:moveTo>
                  <a:pt x="185166" y="0"/>
                </a:moveTo>
                <a:lnTo>
                  <a:pt x="0" y="185166"/>
                </a:lnTo>
                <a:lnTo>
                  <a:pt x="185166" y="370332"/>
                </a:lnTo>
                <a:lnTo>
                  <a:pt x="185166" y="277749"/>
                </a:lnTo>
                <a:lnTo>
                  <a:pt x="647700" y="277749"/>
                </a:lnTo>
                <a:lnTo>
                  <a:pt x="647700" y="92583"/>
                </a:lnTo>
                <a:lnTo>
                  <a:pt x="185166" y="92583"/>
                </a:lnTo>
                <a:lnTo>
                  <a:pt x="185166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19721" y="4085082"/>
            <a:ext cx="647700" cy="370840"/>
          </a:xfrm>
          <a:custGeom>
            <a:avLst/>
            <a:gdLst/>
            <a:ahLst/>
            <a:cxnLst/>
            <a:rect l="l" t="t" r="r" b="b"/>
            <a:pathLst>
              <a:path w="647700" h="370839">
                <a:moveTo>
                  <a:pt x="0" y="185166"/>
                </a:moveTo>
                <a:lnTo>
                  <a:pt x="185166" y="0"/>
                </a:lnTo>
                <a:lnTo>
                  <a:pt x="185166" y="92583"/>
                </a:lnTo>
                <a:lnTo>
                  <a:pt x="647700" y="92583"/>
                </a:lnTo>
                <a:lnTo>
                  <a:pt x="647700" y="277749"/>
                </a:lnTo>
                <a:lnTo>
                  <a:pt x="185166" y="277749"/>
                </a:lnTo>
                <a:lnTo>
                  <a:pt x="185166" y="370332"/>
                </a:lnTo>
                <a:lnTo>
                  <a:pt x="0" y="185166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67268" y="3355340"/>
            <a:ext cx="768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EF=10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917560" y="4066794"/>
            <a:ext cx="894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 Narrow"/>
                <a:cs typeface="Arial Narrow"/>
              </a:rPr>
              <a:t>LF=100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50838" y="4924226"/>
            <a:ext cx="163576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marR="5080" indent="-13970">
              <a:lnSpc>
                <a:spcPct val="150000"/>
              </a:lnSpc>
              <a:spcBef>
                <a:spcPts val="95"/>
              </a:spcBef>
            </a:pPr>
            <a:r>
              <a:rPr sz="2400" b="1" dirty="0">
                <a:latin typeface="Arial Narrow"/>
                <a:cs typeface="Arial Narrow"/>
              </a:rPr>
              <a:t>TF=L</a:t>
            </a:r>
            <a:r>
              <a:rPr sz="2400" b="1" spc="-10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-E</a:t>
            </a:r>
            <a:r>
              <a:rPr sz="2400" b="1" spc="-10" dirty="0">
                <a:latin typeface="Arial Narrow"/>
                <a:cs typeface="Arial Narrow"/>
              </a:rPr>
              <a:t>S</a:t>
            </a:r>
            <a:r>
              <a:rPr sz="2400" b="1" dirty="0">
                <a:latin typeface="Arial Narrow"/>
                <a:cs typeface="Arial Narrow"/>
              </a:rPr>
              <a:t>=90  </a:t>
            </a:r>
            <a:r>
              <a:rPr sz="2400" b="1" spc="-5" dirty="0">
                <a:latin typeface="Arial Narrow"/>
                <a:cs typeface="Arial Narrow"/>
              </a:rPr>
              <a:t>TF=LF-EF=90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410969" y="4547311"/>
            <a:ext cx="348742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1362710" algn="l"/>
                <a:tab pos="1459865" algn="l"/>
              </a:tabLst>
            </a:pPr>
            <a:r>
              <a:rPr sz="2400" b="1" dirty="0">
                <a:latin typeface="宋体"/>
                <a:cs typeface="宋体"/>
              </a:rPr>
              <a:t>正向推导</a:t>
            </a:r>
            <a:r>
              <a:rPr sz="2400" b="1" dirty="0">
                <a:latin typeface="Arial Narrow"/>
                <a:cs typeface="Arial Narrow"/>
              </a:rPr>
              <a:t>:		EF=</a:t>
            </a:r>
            <a:r>
              <a:rPr sz="2400" b="1" spc="-5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ES+duration  </a:t>
            </a:r>
            <a:r>
              <a:rPr sz="2400" b="1" dirty="0">
                <a:latin typeface="宋体"/>
                <a:cs typeface="宋体"/>
              </a:rPr>
              <a:t>逆向推导</a:t>
            </a:r>
            <a:r>
              <a:rPr sz="2400" b="1" dirty="0">
                <a:latin typeface="Arial Narrow"/>
                <a:cs typeface="Arial Narrow"/>
              </a:rPr>
              <a:t>:</a:t>
            </a:r>
            <a:r>
              <a:rPr sz="2400" b="1" spc="-25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LS=LF-</a:t>
            </a:r>
            <a:r>
              <a:rPr sz="2400" b="1" spc="-25" dirty="0">
                <a:latin typeface="Arial Narrow"/>
                <a:cs typeface="Arial Narrow"/>
              </a:rPr>
              <a:t> </a:t>
            </a:r>
            <a:r>
              <a:rPr sz="2400" b="1" dirty="0">
                <a:latin typeface="Arial Narrow"/>
                <a:cs typeface="Arial Narrow"/>
              </a:rPr>
              <a:t>duration  </a:t>
            </a:r>
            <a:r>
              <a:rPr sz="2400" b="1" dirty="0">
                <a:latin typeface="宋体"/>
                <a:cs typeface="宋体"/>
              </a:rPr>
              <a:t>总浮动</a:t>
            </a:r>
            <a:r>
              <a:rPr sz="2400" b="1" dirty="0">
                <a:latin typeface="Arial Narrow"/>
                <a:cs typeface="Arial Narrow"/>
              </a:rPr>
              <a:t>:	</a:t>
            </a:r>
            <a:r>
              <a:rPr sz="2400" b="1" spc="-5" dirty="0">
                <a:latin typeface="Arial Narrow"/>
                <a:cs typeface="Arial Narrow"/>
              </a:rPr>
              <a:t>TF=LS-ES</a:t>
            </a:r>
            <a:r>
              <a:rPr sz="2400" b="1" spc="-60" dirty="0">
                <a:latin typeface="Arial Narrow"/>
                <a:cs typeface="Arial Narrow"/>
              </a:rPr>
              <a:t> </a:t>
            </a:r>
            <a:r>
              <a:rPr sz="2400" b="1" spc="-5" dirty="0">
                <a:latin typeface="Arial Narrow"/>
                <a:cs typeface="Arial Narrow"/>
              </a:rPr>
              <a:t>=LF-EF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4541" y="4956936"/>
            <a:ext cx="482600" cy="102552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550"/>
              </a:lnSpc>
              <a:spcBef>
                <a:spcPts val="860"/>
              </a:spcBef>
            </a:pPr>
            <a:r>
              <a:rPr sz="3600" b="1" spc="-15" dirty="0">
                <a:latin typeface="宋体"/>
                <a:cs typeface="宋体"/>
              </a:rPr>
              <a:t>公 式</a:t>
            </a:r>
            <a:endParaRPr sz="36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197" y="1895094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5217" y="3088385"/>
            <a:ext cx="14478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4670" y="1893570"/>
            <a:ext cx="10668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7982" y="3088385"/>
            <a:ext cx="9144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3657" y="1576832"/>
            <a:ext cx="612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Narrow"/>
                <a:cs typeface="Arial Narrow"/>
              </a:rPr>
              <a:t>Lag=5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69998" y="2100072"/>
            <a:ext cx="762000" cy="78105"/>
          </a:xfrm>
          <a:custGeom>
            <a:avLst/>
            <a:gdLst/>
            <a:ahLst/>
            <a:cxnLst/>
            <a:rect l="l" t="t" r="r" b="b"/>
            <a:pathLst>
              <a:path w="762000" h="78105">
                <a:moveTo>
                  <a:pt x="632459" y="0"/>
                </a:moveTo>
                <a:lnTo>
                  <a:pt x="632459" y="77724"/>
                </a:lnTo>
                <a:lnTo>
                  <a:pt x="718820" y="51815"/>
                </a:lnTo>
                <a:lnTo>
                  <a:pt x="645413" y="51815"/>
                </a:lnTo>
                <a:lnTo>
                  <a:pt x="645413" y="25907"/>
                </a:lnTo>
                <a:lnTo>
                  <a:pt x="718819" y="25907"/>
                </a:lnTo>
                <a:lnTo>
                  <a:pt x="632459" y="0"/>
                </a:lnTo>
                <a:close/>
              </a:path>
              <a:path w="762000" h="78105">
                <a:moveTo>
                  <a:pt x="6324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632459" y="51815"/>
                </a:lnTo>
                <a:lnTo>
                  <a:pt x="632459" y="25907"/>
                </a:lnTo>
                <a:close/>
              </a:path>
              <a:path w="762000" h="78105">
                <a:moveTo>
                  <a:pt x="718819" y="25907"/>
                </a:moveTo>
                <a:lnTo>
                  <a:pt x="645413" y="25907"/>
                </a:lnTo>
                <a:lnTo>
                  <a:pt x="645413" y="51815"/>
                </a:lnTo>
                <a:lnTo>
                  <a:pt x="718820" y="51815"/>
                </a:lnTo>
                <a:lnTo>
                  <a:pt x="762000" y="38862"/>
                </a:lnTo>
                <a:lnTo>
                  <a:pt x="7188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762" y="157734"/>
            <a:ext cx="0" cy="4147185"/>
          </a:xfrm>
          <a:custGeom>
            <a:avLst/>
            <a:gdLst/>
            <a:ahLst/>
            <a:cxnLst/>
            <a:rect l="l" t="t" r="r" b="b"/>
            <a:pathLst>
              <a:path h="4147185">
                <a:moveTo>
                  <a:pt x="0" y="0"/>
                </a:moveTo>
                <a:lnTo>
                  <a:pt x="0" y="414680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62762" y="4293870"/>
            <a:ext cx="4674235" cy="0"/>
          </a:xfrm>
          <a:custGeom>
            <a:avLst/>
            <a:gdLst/>
            <a:ahLst/>
            <a:cxnLst/>
            <a:rect l="l" t="t" r="r" b="b"/>
            <a:pathLst>
              <a:path w="4674235">
                <a:moveTo>
                  <a:pt x="0" y="0"/>
                </a:moveTo>
                <a:lnTo>
                  <a:pt x="4674108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00862" y="547877"/>
            <a:ext cx="4419600" cy="422275"/>
          </a:xfrm>
          <a:custGeom>
            <a:avLst/>
            <a:gdLst/>
            <a:ahLst/>
            <a:cxnLst/>
            <a:rect l="l" t="t" r="r" b="b"/>
            <a:pathLst>
              <a:path w="4419600" h="422275">
                <a:moveTo>
                  <a:pt x="0" y="422148"/>
                </a:moveTo>
                <a:lnTo>
                  <a:pt x="4419600" y="422148"/>
                </a:lnTo>
                <a:lnTo>
                  <a:pt x="4419600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561082" y="492963"/>
            <a:ext cx="898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Arial Narrow"/>
                <a:cs typeface="Arial Narrow"/>
              </a:rPr>
              <a:t>A:100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05321" y="771282"/>
            <a:ext cx="2488565" cy="1242695"/>
          </a:xfrm>
          <a:prstGeom prst="rect">
            <a:avLst/>
          </a:prstGeom>
        </p:spPr>
        <p:txBody>
          <a:bodyPr vert="horz" wrap="square" lIns="0" tIns="2406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95"/>
              </a:spcBef>
            </a:pPr>
            <a:r>
              <a:rPr sz="2800" b="1" spc="-5" dirty="0">
                <a:latin typeface="Arial Narrow"/>
                <a:cs typeface="Arial Narrow"/>
              </a:rPr>
              <a:t>A:</a:t>
            </a:r>
            <a:r>
              <a:rPr sz="2800" b="1" spc="-10" dirty="0">
                <a:latin typeface="宋体"/>
                <a:cs typeface="宋体"/>
              </a:rPr>
              <a:t>正向推导</a:t>
            </a:r>
            <a:endParaRPr sz="2800" dirty="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1545"/>
              </a:spcBef>
              <a:tabLst>
                <a:tab pos="1539240" algn="l"/>
              </a:tabLst>
            </a:pPr>
            <a:r>
              <a:rPr sz="2400" b="1" dirty="0">
                <a:latin typeface="隶书"/>
                <a:cs typeface="隶书"/>
              </a:rPr>
              <a:t>ES=</a:t>
            </a:r>
            <a:r>
              <a:rPr sz="2400" b="1" spc="-10" dirty="0">
                <a:latin typeface="隶书"/>
                <a:cs typeface="隶书"/>
              </a:rPr>
              <a:t>0</a:t>
            </a:r>
            <a:r>
              <a:rPr sz="2400" b="1" dirty="0">
                <a:latin typeface="隶书"/>
                <a:cs typeface="隶书"/>
              </a:rPr>
              <a:t>	EF=100</a:t>
            </a:r>
            <a:endParaRPr sz="2400" dirty="0">
              <a:latin typeface="隶书"/>
              <a:cs typeface="隶书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778050" y="1974215"/>
            <a:ext cx="646430" cy="372110"/>
          </a:xfrm>
          <a:custGeom>
            <a:avLst/>
            <a:gdLst/>
            <a:ahLst/>
            <a:cxnLst/>
            <a:rect l="l" t="t" r="r" b="b"/>
            <a:pathLst>
              <a:path w="646429" h="372110">
                <a:moveTo>
                  <a:pt x="460248" y="0"/>
                </a:moveTo>
                <a:lnTo>
                  <a:pt x="460248" y="92963"/>
                </a:lnTo>
                <a:lnTo>
                  <a:pt x="0" y="92963"/>
                </a:lnTo>
                <a:lnTo>
                  <a:pt x="0" y="278891"/>
                </a:lnTo>
                <a:lnTo>
                  <a:pt x="460248" y="278891"/>
                </a:lnTo>
                <a:lnTo>
                  <a:pt x="460248" y="371855"/>
                </a:lnTo>
                <a:lnTo>
                  <a:pt x="646176" y="185927"/>
                </a:lnTo>
                <a:lnTo>
                  <a:pt x="460248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752207" y="2000285"/>
            <a:ext cx="646430" cy="372110"/>
          </a:xfrm>
          <a:custGeom>
            <a:avLst/>
            <a:gdLst/>
            <a:ahLst/>
            <a:cxnLst/>
            <a:rect l="l" t="t" r="r" b="b"/>
            <a:pathLst>
              <a:path w="646429" h="372110">
                <a:moveTo>
                  <a:pt x="0" y="92963"/>
                </a:moveTo>
                <a:lnTo>
                  <a:pt x="460248" y="92963"/>
                </a:lnTo>
                <a:lnTo>
                  <a:pt x="460248" y="0"/>
                </a:lnTo>
                <a:lnTo>
                  <a:pt x="646176" y="185927"/>
                </a:lnTo>
                <a:lnTo>
                  <a:pt x="460248" y="371855"/>
                </a:lnTo>
                <a:lnTo>
                  <a:pt x="460248" y="278891"/>
                </a:lnTo>
                <a:lnTo>
                  <a:pt x="0" y="278891"/>
                </a:lnTo>
                <a:lnTo>
                  <a:pt x="0" y="92963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09894" y="2721610"/>
            <a:ext cx="2488565" cy="1097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Arial Narrow"/>
                <a:cs typeface="Arial Narrow"/>
              </a:rPr>
              <a:t>A:</a:t>
            </a:r>
            <a:r>
              <a:rPr sz="2800" b="1" spc="-5" dirty="0">
                <a:latin typeface="宋体"/>
                <a:cs typeface="宋体"/>
              </a:rPr>
              <a:t>逆向推导</a:t>
            </a:r>
            <a:endParaRPr sz="2800" dirty="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2200"/>
              </a:spcBef>
              <a:tabLst>
                <a:tab pos="1539240" algn="l"/>
              </a:tabLst>
            </a:pPr>
            <a:r>
              <a:rPr sz="2400" b="1" dirty="0">
                <a:latin typeface="隶书"/>
                <a:cs typeface="隶书"/>
              </a:rPr>
              <a:t>LS=</a:t>
            </a:r>
            <a:r>
              <a:rPr sz="2400" b="1" spc="-10" dirty="0">
                <a:latin typeface="隶书"/>
                <a:cs typeface="隶书"/>
              </a:rPr>
              <a:t>0</a:t>
            </a:r>
            <a:r>
              <a:rPr sz="2400" b="1" dirty="0">
                <a:latin typeface="隶书"/>
                <a:cs typeface="隶书"/>
              </a:rPr>
              <a:t>	LF=100</a:t>
            </a:r>
            <a:endParaRPr sz="2400" dirty="0">
              <a:latin typeface="隶书"/>
              <a:cs typeface="隶书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13791" y="3818890"/>
            <a:ext cx="647700" cy="407034"/>
          </a:xfrm>
          <a:custGeom>
            <a:avLst/>
            <a:gdLst/>
            <a:ahLst/>
            <a:cxnLst/>
            <a:rect l="l" t="t" r="r" b="b"/>
            <a:pathLst>
              <a:path w="647700" h="407035">
                <a:moveTo>
                  <a:pt x="203453" y="0"/>
                </a:moveTo>
                <a:lnTo>
                  <a:pt x="0" y="203453"/>
                </a:lnTo>
                <a:lnTo>
                  <a:pt x="203453" y="406907"/>
                </a:lnTo>
                <a:lnTo>
                  <a:pt x="203453" y="305180"/>
                </a:lnTo>
                <a:lnTo>
                  <a:pt x="647700" y="305180"/>
                </a:lnTo>
                <a:lnTo>
                  <a:pt x="647700" y="101726"/>
                </a:lnTo>
                <a:lnTo>
                  <a:pt x="203453" y="101726"/>
                </a:lnTo>
                <a:lnTo>
                  <a:pt x="20345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778050" y="3818890"/>
            <a:ext cx="647700" cy="407034"/>
          </a:xfrm>
          <a:custGeom>
            <a:avLst/>
            <a:gdLst/>
            <a:ahLst/>
            <a:cxnLst/>
            <a:rect l="l" t="t" r="r" b="b"/>
            <a:pathLst>
              <a:path w="647700" h="407035">
                <a:moveTo>
                  <a:pt x="0" y="203453"/>
                </a:moveTo>
                <a:lnTo>
                  <a:pt x="203453" y="0"/>
                </a:lnTo>
                <a:lnTo>
                  <a:pt x="203453" y="101726"/>
                </a:lnTo>
                <a:lnTo>
                  <a:pt x="647700" y="101726"/>
                </a:lnTo>
                <a:lnTo>
                  <a:pt x="647700" y="305180"/>
                </a:lnTo>
                <a:lnTo>
                  <a:pt x="203453" y="305180"/>
                </a:lnTo>
                <a:lnTo>
                  <a:pt x="203453" y="406907"/>
                </a:lnTo>
                <a:lnTo>
                  <a:pt x="0" y="203453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197" y="1895094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5217" y="3088385"/>
            <a:ext cx="14478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5258" y="882776"/>
            <a:ext cx="54102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E</a:t>
            </a:r>
            <a:r>
              <a:rPr sz="2000" b="1" spc="-10" dirty="0">
                <a:latin typeface="Arial Narrow"/>
                <a:cs typeface="Arial Narrow"/>
              </a:rPr>
              <a:t>S</a:t>
            </a:r>
            <a:r>
              <a:rPr sz="2000" b="1" dirty="0">
                <a:latin typeface="Arial Narrow"/>
                <a:cs typeface="Arial Narrow"/>
              </a:rPr>
              <a:t>=0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3150" y="3136138"/>
            <a:ext cx="205041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ES(C)=EF(B)+lag=15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74670" y="1893570"/>
            <a:ext cx="10668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7982" y="3088385"/>
            <a:ext cx="9144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43657" y="1576832"/>
            <a:ext cx="612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Narrow"/>
                <a:cs typeface="Arial Narrow"/>
              </a:rPr>
              <a:t>Lag=5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269998" y="2100072"/>
            <a:ext cx="762000" cy="78105"/>
          </a:xfrm>
          <a:custGeom>
            <a:avLst/>
            <a:gdLst/>
            <a:ahLst/>
            <a:cxnLst/>
            <a:rect l="l" t="t" r="r" b="b"/>
            <a:pathLst>
              <a:path w="762000" h="78105">
                <a:moveTo>
                  <a:pt x="632459" y="0"/>
                </a:moveTo>
                <a:lnTo>
                  <a:pt x="632459" y="77724"/>
                </a:lnTo>
                <a:lnTo>
                  <a:pt x="718820" y="51815"/>
                </a:lnTo>
                <a:lnTo>
                  <a:pt x="645413" y="51815"/>
                </a:lnTo>
                <a:lnTo>
                  <a:pt x="645413" y="25907"/>
                </a:lnTo>
                <a:lnTo>
                  <a:pt x="718819" y="25907"/>
                </a:lnTo>
                <a:lnTo>
                  <a:pt x="632459" y="0"/>
                </a:lnTo>
                <a:close/>
              </a:path>
              <a:path w="762000" h="78105">
                <a:moveTo>
                  <a:pt x="6324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632459" y="51815"/>
                </a:lnTo>
                <a:lnTo>
                  <a:pt x="632459" y="25907"/>
                </a:lnTo>
                <a:close/>
              </a:path>
              <a:path w="762000" h="78105">
                <a:moveTo>
                  <a:pt x="718819" y="25907"/>
                </a:moveTo>
                <a:lnTo>
                  <a:pt x="645413" y="25907"/>
                </a:lnTo>
                <a:lnTo>
                  <a:pt x="645413" y="51815"/>
                </a:lnTo>
                <a:lnTo>
                  <a:pt x="718820" y="51815"/>
                </a:lnTo>
                <a:lnTo>
                  <a:pt x="762000" y="38862"/>
                </a:lnTo>
                <a:lnTo>
                  <a:pt x="7188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99428" y="3815283"/>
            <a:ext cx="6578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E</a:t>
            </a:r>
            <a:r>
              <a:rPr sz="2000" b="1" spc="-10" dirty="0">
                <a:latin typeface="Arial Narrow"/>
                <a:cs typeface="Arial Narrow"/>
              </a:rPr>
              <a:t>S</a:t>
            </a:r>
            <a:r>
              <a:rPr sz="2000" b="1" dirty="0">
                <a:latin typeface="Arial Narrow"/>
                <a:cs typeface="Arial Narrow"/>
              </a:rPr>
              <a:t>=15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07073" y="2456434"/>
            <a:ext cx="1737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正向推导：</a:t>
            </a:r>
            <a:r>
              <a:rPr sz="2400" b="1" dirty="0">
                <a:latin typeface="Arial Narrow"/>
                <a:cs typeface="Arial Narrow"/>
              </a:rPr>
              <a:t>C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762" y="157734"/>
            <a:ext cx="0" cy="4147185"/>
          </a:xfrm>
          <a:custGeom>
            <a:avLst/>
            <a:gdLst/>
            <a:ahLst/>
            <a:cxnLst/>
            <a:rect l="l" t="t" r="r" b="b"/>
            <a:pathLst>
              <a:path h="4147185">
                <a:moveTo>
                  <a:pt x="0" y="0"/>
                </a:moveTo>
                <a:lnTo>
                  <a:pt x="0" y="414680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2762" y="4293870"/>
            <a:ext cx="4674235" cy="0"/>
          </a:xfrm>
          <a:custGeom>
            <a:avLst/>
            <a:gdLst/>
            <a:ahLst/>
            <a:cxnLst/>
            <a:rect l="l" t="t" r="r" b="b"/>
            <a:pathLst>
              <a:path w="4674235">
                <a:moveTo>
                  <a:pt x="0" y="0"/>
                </a:moveTo>
                <a:lnTo>
                  <a:pt x="4674108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0862" y="547877"/>
            <a:ext cx="4419600" cy="422275"/>
          </a:xfrm>
          <a:custGeom>
            <a:avLst/>
            <a:gdLst/>
            <a:ahLst/>
            <a:cxnLst/>
            <a:rect l="l" t="t" r="r" b="b"/>
            <a:pathLst>
              <a:path w="4419600" h="422275">
                <a:moveTo>
                  <a:pt x="0" y="422148"/>
                </a:moveTo>
                <a:lnTo>
                  <a:pt x="4419600" y="422148"/>
                </a:lnTo>
                <a:lnTo>
                  <a:pt x="4419600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61082" y="492963"/>
            <a:ext cx="898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Arial Narrow"/>
                <a:cs typeface="Arial Narrow"/>
              </a:rPr>
              <a:t>A:100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15733" y="3835146"/>
            <a:ext cx="649605" cy="387350"/>
          </a:xfrm>
          <a:custGeom>
            <a:avLst/>
            <a:gdLst/>
            <a:ahLst/>
            <a:cxnLst/>
            <a:rect l="l" t="t" r="r" b="b"/>
            <a:pathLst>
              <a:path w="649604" h="387350">
                <a:moveTo>
                  <a:pt x="455675" y="0"/>
                </a:moveTo>
                <a:lnTo>
                  <a:pt x="455675" y="96773"/>
                </a:lnTo>
                <a:lnTo>
                  <a:pt x="0" y="96773"/>
                </a:lnTo>
                <a:lnTo>
                  <a:pt x="0" y="290321"/>
                </a:lnTo>
                <a:lnTo>
                  <a:pt x="455675" y="290321"/>
                </a:lnTo>
                <a:lnTo>
                  <a:pt x="455675" y="387095"/>
                </a:lnTo>
                <a:lnTo>
                  <a:pt x="649224" y="193547"/>
                </a:lnTo>
                <a:lnTo>
                  <a:pt x="45567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015733" y="3835146"/>
            <a:ext cx="649605" cy="387350"/>
          </a:xfrm>
          <a:custGeom>
            <a:avLst/>
            <a:gdLst/>
            <a:ahLst/>
            <a:cxnLst/>
            <a:rect l="l" t="t" r="r" b="b"/>
            <a:pathLst>
              <a:path w="649604" h="387350">
                <a:moveTo>
                  <a:pt x="0" y="96773"/>
                </a:moveTo>
                <a:lnTo>
                  <a:pt x="455675" y="96773"/>
                </a:lnTo>
                <a:lnTo>
                  <a:pt x="455675" y="0"/>
                </a:lnTo>
                <a:lnTo>
                  <a:pt x="649224" y="193547"/>
                </a:lnTo>
                <a:lnTo>
                  <a:pt x="455675" y="387095"/>
                </a:lnTo>
                <a:lnTo>
                  <a:pt x="455675" y="290321"/>
                </a:lnTo>
                <a:lnTo>
                  <a:pt x="0" y="290321"/>
                </a:lnTo>
                <a:lnTo>
                  <a:pt x="0" y="96773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840473" y="869441"/>
            <a:ext cx="647700" cy="387350"/>
          </a:xfrm>
          <a:custGeom>
            <a:avLst/>
            <a:gdLst/>
            <a:ahLst/>
            <a:cxnLst/>
            <a:rect l="l" t="t" r="r" b="b"/>
            <a:pathLst>
              <a:path w="647700" h="387350">
                <a:moveTo>
                  <a:pt x="454151" y="0"/>
                </a:moveTo>
                <a:lnTo>
                  <a:pt x="454151" y="96774"/>
                </a:lnTo>
                <a:lnTo>
                  <a:pt x="0" y="96774"/>
                </a:lnTo>
                <a:lnTo>
                  <a:pt x="0" y="290322"/>
                </a:lnTo>
                <a:lnTo>
                  <a:pt x="454151" y="290322"/>
                </a:lnTo>
                <a:lnTo>
                  <a:pt x="454151" y="387096"/>
                </a:lnTo>
                <a:lnTo>
                  <a:pt x="647700" y="193548"/>
                </a:lnTo>
                <a:lnTo>
                  <a:pt x="454151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840473" y="869441"/>
            <a:ext cx="647700" cy="387350"/>
          </a:xfrm>
          <a:custGeom>
            <a:avLst/>
            <a:gdLst/>
            <a:ahLst/>
            <a:cxnLst/>
            <a:rect l="l" t="t" r="r" b="b"/>
            <a:pathLst>
              <a:path w="647700" h="387350">
                <a:moveTo>
                  <a:pt x="0" y="96774"/>
                </a:moveTo>
                <a:lnTo>
                  <a:pt x="454151" y="96774"/>
                </a:lnTo>
                <a:lnTo>
                  <a:pt x="454151" y="0"/>
                </a:lnTo>
                <a:lnTo>
                  <a:pt x="647700" y="193548"/>
                </a:lnTo>
                <a:lnTo>
                  <a:pt x="454151" y="387096"/>
                </a:lnTo>
                <a:lnTo>
                  <a:pt x="454151" y="290322"/>
                </a:lnTo>
                <a:lnTo>
                  <a:pt x="0" y="290322"/>
                </a:lnTo>
                <a:lnTo>
                  <a:pt x="0" y="96774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76847" y="327152"/>
            <a:ext cx="1737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正向推导：</a:t>
            </a:r>
            <a:r>
              <a:rPr sz="2400" b="1" dirty="0">
                <a:latin typeface="Arial Narrow"/>
                <a:cs typeface="Arial Narrow"/>
              </a:rPr>
              <a:t>B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558278" y="916305"/>
            <a:ext cx="646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EF=10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855077" y="3831158"/>
            <a:ext cx="646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EF=</a:t>
            </a:r>
            <a:r>
              <a:rPr sz="2000" b="1" spc="-10" dirty="0">
                <a:latin typeface="Arial Narrow"/>
                <a:cs typeface="Arial Narrow"/>
              </a:rPr>
              <a:t>2</a:t>
            </a:r>
            <a:r>
              <a:rPr sz="2000" b="1" dirty="0">
                <a:latin typeface="Arial Narrow"/>
                <a:cs typeface="Arial Narrow"/>
              </a:rPr>
              <a:t>0</a:t>
            </a:r>
            <a:endParaRPr sz="2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197" y="1895094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5217" y="3088385"/>
            <a:ext cx="14478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4670" y="1893570"/>
            <a:ext cx="10668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7982" y="3088385"/>
            <a:ext cx="9144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3657" y="1576832"/>
            <a:ext cx="612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Narrow"/>
                <a:cs typeface="Arial Narrow"/>
              </a:rPr>
              <a:t>Lag=5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69998" y="2100072"/>
            <a:ext cx="762000" cy="78105"/>
          </a:xfrm>
          <a:custGeom>
            <a:avLst/>
            <a:gdLst/>
            <a:ahLst/>
            <a:cxnLst/>
            <a:rect l="l" t="t" r="r" b="b"/>
            <a:pathLst>
              <a:path w="762000" h="78105">
                <a:moveTo>
                  <a:pt x="632459" y="0"/>
                </a:moveTo>
                <a:lnTo>
                  <a:pt x="632459" y="77724"/>
                </a:lnTo>
                <a:lnTo>
                  <a:pt x="718820" y="51815"/>
                </a:lnTo>
                <a:lnTo>
                  <a:pt x="645413" y="51815"/>
                </a:lnTo>
                <a:lnTo>
                  <a:pt x="645413" y="25907"/>
                </a:lnTo>
                <a:lnTo>
                  <a:pt x="718819" y="25907"/>
                </a:lnTo>
                <a:lnTo>
                  <a:pt x="632459" y="0"/>
                </a:lnTo>
                <a:close/>
              </a:path>
              <a:path w="762000" h="78105">
                <a:moveTo>
                  <a:pt x="6324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632459" y="51815"/>
                </a:lnTo>
                <a:lnTo>
                  <a:pt x="632459" y="25907"/>
                </a:lnTo>
                <a:close/>
              </a:path>
              <a:path w="762000" h="78105">
                <a:moveTo>
                  <a:pt x="718819" y="25907"/>
                </a:moveTo>
                <a:lnTo>
                  <a:pt x="645413" y="25907"/>
                </a:lnTo>
                <a:lnTo>
                  <a:pt x="645413" y="51815"/>
                </a:lnTo>
                <a:lnTo>
                  <a:pt x="718820" y="51815"/>
                </a:lnTo>
                <a:lnTo>
                  <a:pt x="762000" y="38862"/>
                </a:lnTo>
                <a:lnTo>
                  <a:pt x="7188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310121" y="1008380"/>
            <a:ext cx="20307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LF(B)=LS(C)-lag</a:t>
            </a:r>
            <a:r>
              <a:rPr sz="2000" b="1" spc="-90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=90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33008" y="4120641"/>
            <a:ext cx="6464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 Narrow"/>
                <a:cs typeface="Arial Narrow"/>
              </a:rPr>
              <a:t>LS=95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85713" y="1565224"/>
            <a:ext cx="6464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LS=</a:t>
            </a:r>
            <a:r>
              <a:rPr sz="2000" b="1" spc="-10" dirty="0">
                <a:latin typeface="Arial Narrow"/>
                <a:cs typeface="Arial Narrow"/>
              </a:rPr>
              <a:t>8</a:t>
            </a:r>
            <a:r>
              <a:rPr sz="2000" b="1" dirty="0">
                <a:latin typeface="Arial Narrow"/>
                <a:cs typeface="Arial Narrow"/>
              </a:rPr>
              <a:t>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79590" y="309498"/>
            <a:ext cx="1737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逆向推导：</a:t>
            </a:r>
            <a:r>
              <a:rPr sz="2400" b="1" dirty="0">
                <a:latin typeface="Arial Narrow"/>
                <a:cs typeface="Arial Narrow"/>
              </a:rPr>
              <a:t>B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762" y="157734"/>
            <a:ext cx="0" cy="4147185"/>
          </a:xfrm>
          <a:custGeom>
            <a:avLst/>
            <a:gdLst/>
            <a:ahLst/>
            <a:cxnLst/>
            <a:rect l="l" t="t" r="r" b="b"/>
            <a:pathLst>
              <a:path h="4147185">
                <a:moveTo>
                  <a:pt x="0" y="0"/>
                </a:moveTo>
                <a:lnTo>
                  <a:pt x="0" y="414680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62762" y="4293870"/>
            <a:ext cx="4674235" cy="0"/>
          </a:xfrm>
          <a:custGeom>
            <a:avLst/>
            <a:gdLst/>
            <a:ahLst/>
            <a:cxnLst/>
            <a:rect l="l" t="t" r="r" b="b"/>
            <a:pathLst>
              <a:path w="4674235">
                <a:moveTo>
                  <a:pt x="0" y="0"/>
                </a:moveTo>
                <a:lnTo>
                  <a:pt x="4674108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0862" y="547877"/>
            <a:ext cx="4419600" cy="422275"/>
          </a:xfrm>
          <a:custGeom>
            <a:avLst/>
            <a:gdLst/>
            <a:ahLst/>
            <a:cxnLst/>
            <a:rect l="l" t="t" r="r" b="b"/>
            <a:pathLst>
              <a:path w="4419600" h="422275">
                <a:moveTo>
                  <a:pt x="0" y="422148"/>
                </a:moveTo>
                <a:lnTo>
                  <a:pt x="4419600" y="422148"/>
                </a:lnTo>
                <a:lnTo>
                  <a:pt x="4419600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561082" y="492963"/>
            <a:ext cx="898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Arial Narrow"/>
                <a:cs typeface="Arial Narrow"/>
              </a:rPr>
              <a:t>A:100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893814" y="1587246"/>
            <a:ext cx="647700" cy="368935"/>
          </a:xfrm>
          <a:custGeom>
            <a:avLst/>
            <a:gdLst/>
            <a:ahLst/>
            <a:cxnLst/>
            <a:rect l="l" t="t" r="r" b="b"/>
            <a:pathLst>
              <a:path w="647700" h="368935">
                <a:moveTo>
                  <a:pt x="184403" y="0"/>
                </a:moveTo>
                <a:lnTo>
                  <a:pt x="0" y="184403"/>
                </a:lnTo>
                <a:lnTo>
                  <a:pt x="184403" y="368807"/>
                </a:lnTo>
                <a:lnTo>
                  <a:pt x="184403" y="276605"/>
                </a:lnTo>
                <a:lnTo>
                  <a:pt x="647700" y="276605"/>
                </a:lnTo>
                <a:lnTo>
                  <a:pt x="647700" y="92201"/>
                </a:lnTo>
                <a:lnTo>
                  <a:pt x="184403" y="92201"/>
                </a:lnTo>
                <a:lnTo>
                  <a:pt x="184403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893814" y="1587246"/>
            <a:ext cx="647700" cy="368935"/>
          </a:xfrm>
          <a:custGeom>
            <a:avLst/>
            <a:gdLst/>
            <a:ahLst/>
            <a:cxnLst/>
            <a:rect l="l" t="t" r="r" b="b"/>
            <a:pathLst>
              <a:path w="647700" h="368935">
                <a:moveTo>
                  <a:pt x="0" y="184403"/>
                </a:moveTo>
                <a:lnTo>
                  <a:pt x="184403" y="0"/>
                </a:lnTo>
                <a:lnTo>
                  <a:pt x="184403" y="92201"/>
                </a:lnTo>
                <a:lnTo>
                  <a:pt x="647700" y="92201"/>
                </a:lnTo>
                <a:lnTo>
                  <a:pt x="647700" y="276605"/>
                </a:lnTo>
                <a:lnTo>
                  <a:pt x="184403" y="276605"/>
                </a:lnTo>
                <a:lnTo>
                  <a:pt x="184403" y="368807"/>
                </a:lnTo>
                <a:lnTo>
                  <a:pt x="0" y="184403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924293" y="4123182"/>
            <a:ext cx="647700" cy="370840"/>
          </a:xfrm>
          <a:custGeom>
            <a:avLst/>
            <a:gdLst/>
            <a:ahLst/>
            <a:cxnLst/>
            <a:rect l="l" t="t" r="r" b="b"/>
            <a:pathLst>
              <a:path w="647700" h="370839">
                <a:moveTo>
                  <a:pt x="185165" y="0"/>
                </a:moveTo>
                <a:lnTo>
                  <a:pt x="0" y="185166"/>
                </a:lnTo>
                <a:lnTo>
                  <a:pt x="185165" y="370332"/>
                </a:lnTo>
                <a:lnTo>
                  <a:pt x="185165" y="277749"/>
                </a:lnTo>
                <a:lnTo>
                  <a:pt x="647700" y="277749"/>
                </a:lnTo>
                <a:lnTo>
                  <a:pt x="647700" y="92583"/>
                </a:lnTo>
                <a:lnTo>
                  <a:pt x="185165" y="92583"/>
                </a:lnTo>
                <a:lnTo>
                  <a:pt x="1851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924293" y="4123182"/>
            <a:ext cx="647700" cy="370840"/>
          </a:xfrm>
          <a:custGeom>
            <a:avLst/>
            <a:gdLst/>
            <a:ahLst/>
            <a:cxnLst/>
            <a:rect l="l" t="t" r="r" b="b"/>
            <a:pathLst>
              <a:path w="647700" h="370839">
                <a:moveTo>
                  <a:pt x="0" y="185166"/>
                </a:moveTo>
                <a:lnTo>
                  <a:pt x="185165" y="0"/>
                </a:lnTo>
                <a:lnTo>
                  <a:pt x="185165" y="92583"/>
                </a:lnTo>
                <a:lnTo>
                  <a:pt x="647700" y="92583"/>
                </a:lnTo>
                <a:lnTo>
                  <a:pt x="647700" y="277749"/>
                </a:lnTo>
                <a:lnTo>
                  <a:pt x="185165" y="277749"/>
                </a:lnTo>
                <a:lnTo>
                  <a:pt x="185165" y="370332"/>
                </a:lnTo>
                <a:lnTo>
                  <a:pt x="0" y="185166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269863" y="3295853"/>
            <a:ext cx="17379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宋体"/>
                <a:cs typeface="宋体"/>
              </a:rPr>
              <a:t>逆向推导</a:t>
            </a:r>
            <a:r>
              <a:rPr sz="2400" b="1" spc="-10" dirty="0">
                <a:latin typeface="宋体"/>
                <a:cs typeface="宋体"/>
              </a:rPr>
              <a:t>：</a:t>
            </a:r>
            <a:r>
              <a:rPr sz="2400" b="1" dirty="0">
                <a:latin typeface="Arial Narrow"/>
                <a:cs typeface="Arial Narrow"/>
              </a:rPr>
              <a:t>C</a:t>
            </a:r>
            <a:endParaRPr sz="2400">
              <a:latin typeface="Arial Narrow"/>
              <a:cs typeface="Arial Narro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0621" y="4150867"/>
            <a:ext cx="7518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Arial Narrow"/>
                <a:cs typeface="Arial Narrow"/>
              </a:rPr>
              <a:t>L</a:t>
            </a:r>
            <a:r>
              <a:rPr sz="2000" b="1" spc="5" dirty="0">
                <a:latin typeface="Arial Narrow"/>
                <a:cs typeface="Arial Narrow"/>
              </a:rPr>
              <a:t>F</a:t>
            </a:r>
            <a:r>
              <a:rPr sz="2000" b="1" dirty="0">
                <a:latin typeface="Arial Narrow"/>
                <a:cs typeface="Arial Narrow"/>
              </a:rPr>
              <a:t>=100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79181" y="1586230"/>
            <a:ext cx="6356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L</a:t>
            </a:r>
            <a:r>
              <a:rPr sz="2000" b="1" spc="5" dirty="0">
                <a:latin typeface="Arial Narrow"/>
                <a:cs typeface="Arial Narrow"/>
              </a:rPr>
              <a:t>F</a:t>
            </a:r>
            <a:r>
              <a:rPr sz="2000" b="1" dirty="0">
                <a:latin typeface="Arial Narrow"/>
                <a:cs typeface="Arial Narrow"/>
              </a:rPr>
              <a:t>=90</a:t>
            </a:r>
            <a:endParaRPr sz="20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2197" y="1895094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37846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5217" y="3088385"/>
            <a:ext cx="14478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37909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B:10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4670" y="1893570"/>
            <a:ext cx="10668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7982" y="3088385"/>
            <a:ext cx="914400" cy="533400"/>
          </a:xfrm>
          <a:prstGeom prst="rect">
            <a:avLst/>
          </a:prstGeom>
          <a:ln w="25907">
            <a:solidFill>
              <a:srgbClr val="808080"/>
            </a:solidFill>
          </a:ln>
        </p:spPr>
        <p:txBody>
          <a:bodyPr vert="horz" wrap="square" lIns="0" tIns="1397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10"/>
              </a:spcBef>
            </a:pPr>
            <a:r>
              <a:rPr sz="3200" dirty="0">
                <a:latin typeface="Arial Narrow"/>
                <a:cs typeface="Arial Narrow"/>
              </a:rPr>
              <a:t>C:5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3657" y="1576832"/>
            <a:ext cx="6121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Arial Narrow"/>
                <a:cs typeface="Arial Narrow"/>
              </a:rPr>
              <a:t>Lag=5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69998" y="2100072"/>
            <a:ext cx="762000" cy="78105"/>
          </a:xfrm>
          <a:custGeom>
            <a:avLst/>
            <a:gdLst/>
            <a:ahLst/>
            <a:cxnLst/>
            <a:rect l="l" t="t" r="r" b="b"/>
            <a:pathLst>
              <a:path w="762000" h="78105">
                <a:moveTo>
                  <a:pt x="632459" y="0"/>
                </a:moveTo>
                <a:lnTo>
                  <a:pt x="632459" y="77724"/>
                </a:lnTo>
                <a:lnTo>
                  <a:pt x="718820" y="51815"/>
                </a:lnTo>
                <a:lnTo>
                  <a:pt x="645413" y="51815"/>
                </a:lnTo>
                <a:lnTo>
                  <a:pt x="645413" y="25907"/>
                </a:lnTo>
                <a:lnTo>
                  <a:pt x="718819" y="25907"/>
                </a:lnTo>
                <a:lnTo>
                  <a:pt x="632459" y="0"/>
                </a:lnTo>
                <a:close/>
              </a:path>
              <a:path w="762000" h="78105">
                <a:moveTo>
                  <a:pt x="632459" y="25907"/>
                </a:moveTo>
                <a:lnTo>
                  <a:pt x="0" y="25907"/>
                </a:lnTo>
                <a:lnTo>
                  <a:pt x="0" y="51815"/>
                </a:lnTo>
                <a:lnTo>
                  <a:pt x="632459" y="51815"/>
                </a:lnTo>
                <a:lnTo>
                  <a:pt x="632459" y="25907"/>
                </a:lnTo>
                <a:close/>
              </a:path>
              <a:path w="762000" h="78105">
                <a:moveTo>
                  <a:pt x="718819" y="25907"/>
                </a:moveTo>
                <a:lnTo>
                  <a:pt x="645413" y="25907"/>
                </a:lnTo>
                <a:lnTo>
                  <a:pt x="645413" y="51815"/>
                </a:lnTo>
                <a:lnTo>
                  <a:pt x="718820" y="51815"/>
                </a:lnTo>
                <a:lnTo>
                  <a:pt x="762000" y="38862"/>
                </a:lnTo>
                <a:lnTo>
                  <a:pt x="718819" y="259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13196" y="2275458"/>
            <a:ext cx="2089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latin typeface="宋体"/>
                <a:cs typeface="宋体"/>
              </a:rPr>
              <a:t>自由浮动</a:t>
            </a:r>
            <a:r>
              <a:rPr sz="2000" b="1" dirty="0">
                <a:latin typeface="宋体"/>
                <a:cs typeface="宋体"/>
              </a:rPr>
              <a:t>：</a:t>
            </a:r>
            <a:r>
              <a:rPr sz="2000" b="1" dirty="0">
                <a:latin typeface="Arial Narrow"/>
                <a:cs typeface="Arial Narrow"/>
              </a:rPr>
              <a:t>FF(B)=0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9246" y="3932631"/>
            <a:ext cx="26028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C</a:t>
            </a:r>
            <a:r>
              <a:rPr sz="2000" b="1" dirty="0">
                <a:latin typeface="宋体"/>
                <a:cs typeface="宋体"/>
              </a:rPr>
              <a:t>总浮动</a:t>
            </a:r>
            <a:r>
              <a:rPr sz="2000" b="1" spc="-5" dirty="0">
                <a:latin typeface="宋体"/>
                <a:cs typeface="宋体"/>
              </a:rPr>
              <a:t>：</a:t>
            </a:r>
            <a:r>
              <a:rPr sz="2000" b="1" spc="-615" dirty="0">
                <a:latin typeface="宋体"/>
                <a:cs typeface="宋体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TF=LS-ES=80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4052" y="1447622"/>
            <a:ext cx="25476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Arial Narrow"/>
                <a:cs typeface="Arial Narrow"/>
              </a:rPr>
              <a:t>B</a:t>
            </a:r>
            <a:r>
              <a:rPr sz="2000" b="1" spc="5" dirty="0">
                <a:latin typeface="宋体"/>
                <a:cs typeface="宋体"/>
              </a:rPr>
              <a:t>总浮动</a:t>
            </a:r>
            <a:r>
              <a:rPr sz="2000" b="1" dirty="0">
                <a:latin typeface="宋体"/>
                <a:cs typeface="宋体"/>
              </a:rPr>
              <a:t>：</a:t>
            </a:r>
            <a:r>
              <a:rPr sz="2000" b="1" dirty="0">
                <a:latin typeface="Arial Narrow"/>
                <a:cs typeface="Arial Narrow"/>
              </a:rPr>
              <a:t>TF=LS-ES=80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04990" y="517652"/>
            <a:ext cx="81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B</a:t>
            </a:r>
            <a:r>
              <a:rPr sz="2400" b="1" dirty="0">
                <a:latin typeface="宋体"/>
                <a:cs typeface="宋体"/>
              </a:rPr>
              <a:t>浮动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63867" y="3245611"/>
            <a:ext cx="8178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Arial Narrow"/>
                <a:cs typeface="Arial Narrow"/>
              </a:rPr>
              <a:t>C</a:t>
            </a:r>
            <a:r>
              <a:rPr sz="2400" b="1" dirty="0">
                <a:latin typeface="宋体"/>
                <a:cs typeface="宋体"/>
              </a:rPr>
              <a:t>浮动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2762" y="157734"/>
            <a:ext cx="0" cy="4147185"/>
          </a:xfrm>
          <a:custGeom>
            <a:avLst/>
            <a:gdLst/>
            <a:ahLst/>
            <a:cxnLst/>
            <a:rect l="l" t="t" r="r" b="b"/>
            <a:pathLst>
              <a:path h="4147185">
                <a:moveTo>
                  <a:pt x="0" y="0"/>
                </a:moveTo>
                <a:lnTo>
                  <a:pt x="0" y="414680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62762" y="4293870"/>
            <a:ext cx="4674235" cy="0"/>
          </a:xfrm>
          <a:custGeom>
            <a:avLst/>
            <a:gdLst/>
            <a:ahLst/>
            <a:cxnLst/>
            <a:rect l="l" t="t" r="r" b="b"/>
            <a:pathLst>
              <a:path w="4674235">
                <a:moveTo>
                  <a:pt x="0" y="0"/>
                </a:moveTo>
                <a:lnTo>
                  <a:pt x="4674108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0862" y="547877"/>
            <a:ext cx="4419600" cy="422275"/>
          </a:xfrm>
          <a:custGeom>
            <a:avLst/>
            <a:gdLst/>
            <a:ahLst/>
            <a:cxnLst/>
            <a:rect l="l" t="t" r="r" b="b"/>
            <a:pathLst>
              <a:path w="4419600" h="422275">
                <a:moveTo>
                  <a:pt x="0" y="422148"/>
                </a:moveTo>
                <a:lnTo>
                  <a:pt x="4419600" y="422148"/>
                </a:lnTo>
                <a:lnTo>
                  <a:pt x="4419600" y="0"/>
                </a:lnTo>
                <a:lnTo>
                  <a:pt x="0" y="0"/>
                </a:lnTo>
                <a:lnTo>
                  <a:pt x="0" y="42214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2561082" y="492963"/>
            <a:ext cx="89852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000000"/>
                </a:solidFill>
                <a:latin typeface="Arial Narrow"/>
                <a:cs typeface="Arial Narrow"/>
              </a:rPr>
              <a:t>A:100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39469" y="4555845"/>
            <a:ext cx="5102225" cy="1858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8580" marR="5080">
              <a:lnSpc>
                <a:spcPct val="150300"/>
              </a:lnSpc>
              <a:spcBef>
                <a:spcPts val="105"/>
              </a:spcBef>
              <a:tabLst>
                <a:tab pos="1377950" algn="l"/>
              </a:tabLst>
            </a:pPr>
            <a:r>
              <a:rPr sz="2000" dirty="0">
                <a:latin typeface="宋体"/>
                <a:cs typeface="宋体"/>
              </a:rPr>
              <a:t>正向推导：</a:t>
            </a:r>
            <a:r>
              <a:rPr sz="2000" b="1" dirty="0">
                <a:latin typeface="Arial Narrow"/>
                <a:cs typeface="Arial Narrow"/>
              </a:rPr>
              <a:t>EF=</a:t>
            </a:r>
            <a:r>
              <a:rPr sz="2000" b="1" spc="-20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ES+duration</a:t>
            </a:r>
            <a:r>
              <a:rPr sz="2000" b="1" dirty="0">
                <a:latin typeface="宋体"/>
                <a:cs typeface="宋体"/>
              </a:rPr>
              <a:t>，</a:t>
            </a:r>
            <a:r>
              <a:rPr sz="2000" b="1" spc="-580" dirty="0">
                <a:latin typeface="宋体"/>
                <a:cs typeface="宋体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ES</a:t>
            </a:r>
            <a:r>
              <a:rPr sz="2000" b="1" spc="-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(</a:t>
            </a:r>
            <a:r>
              <a:rPr sz="1600" b="1" dirty="0">
                <a:latin typeface="Arial Narrow"/>
                <a:cs typeface="Arial Narrow"/>
              </a:rPr>
              <a:t>S</a:t>
            </a:r>
            <a:r>
              <a:rPr sz="1600" b="1" spc="7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)=</a:t>
            </a:r>
            <a:r>
              <a:rPr sz="2000" b="1" spc="-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EF</a:t>
            </a:r>
            <a:r>
              <a:rPr sz="2000" b="1" spc="-1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+</a:t>
            </a:r>
            <a:r>
              <a:rPr sz="2000" b="1" spc="-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Lag,  </a:t>
            </a:r>
            <a:r>
              <a:rPr sz="2000" b="1" spc="5" dirty="0">
                <a:latin typeface="宋体"/>
                <a:cs typeface="宋体"/>
              </a:rPr>
              <a:t>逆向推导</a:t>
            </a:r>
            <a:r>
              <a:rPr sz="2000" b="1" dirty="0">
                <a:latin typeface="宋体"/>
                <a:cs typeface="宋体"/>
              </a:rPr>
              <a:t>：</a:t>
            </a:r>
            <a:r>
              <a:rPr sz="2000" b="1" dirty="0">
                <a:latin typeface="Arial Narrow"/>
                <a:cs typeface="Arial Narrow"/>
              </a:rPr>
              <a:t>LS=LF-</a:t>
            </a:r>
            <a:r>
              <a:rPr sz="2000" b="1" spc="-40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duration</a:t>
            </a:r>
            <a:r>
              <a:rPr sz="2000" b="1" dirty="0">
                <a:latin typeface="宋体"/>
                <a:cs typeface="宋体"/>
              </a:rPr>
              <a:t>，</a:t>
            </a:r>
            <a:r>
              <a:rPr sz="2000" b="1" spc="-595" dirty="0">
                <a:latin typeface="宋体"/>
                <a:cs typeface="宋体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LF</a:t>
            </a:r>
            <a:r>
              <a:rPr sz="2000" b="1" spc="-20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(</a:t>
            </a:r>
            <a:r>
              <a:rPr sz="1600" b="1" dirty="0">
                <a:latin typeface="Arial Narrow"/>
                <a:cs typeface="Arial Narrow"/>
              </a:rPr>
              <a:t>P</a:t>
            </a:r>
            <a:r>
              <a:rPr sz="2000" b="1" dirty="0">
                <a:latin typeface="Arial Narrow"/>
                <a:cs typeface="Arial Narrow"/>
              </a:rPr>
              <a:t>)</a:t>
            </a:r>
            <a:r>
              <a:rPr sz="2000" b="1" spc="-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=</a:t>
            </a:r>
            <a:r>
              <a:rPr sz="2000" b="1" spc="-1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LS–</a:t>
            </a:r>
            <a:r>
              <a:rPr sz="2000" b="1" spc="-5" dirty="0">
                <a:latin typeface="Arial Narrow"/>
                <a:cs typeface="Arial Narrow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Lag  </a:t>
            </a:r>
            <a:r>
              <a:rPr sz="2000" b="1" spc="5" dirty="0">
                <a:latin typeface="宋体"/>
                <a:cs typeface="宋体"/>
              </a:rPr>
              <a:t>总浮动</a:t>
            </a:r>
            <a:r>
              <a:rPr sz="2000" b="1" spc="-5" dirty="0">
                <a:latin typeface="宋体"/>
                <a:cs typeface="宋体"/>
              </a:rPr>
              <a:t>：	</a:t>
            </a:r>
            <a:r>
              <a:rPr sz="2000" b="1" dirty="0">
                <a:latin typeface="Arial Narrow"/>
                <a:cs typeface="Arial Narrow"/>
              </a:rPr>
              <a:t>TF=LS-ES</a:t>
            </a:r>
            <a:r>
              <a:rPr sz="2000" b="1" spc="-25" dirty="0">
                <a:latin typeface="Arial Narrow"/>
                <a:cs typeface="Arial Narrow"/>
              </a:rPr>
              <a:t> =LF-EF,</a:t>
            </a:r>
            <a:endParaRPr sz="2000">
              <a:latin typeface="Arial Narrow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宋体"/>
                <a:cs typeface="宋体"/>
              </a:rPr>
              <a:t>自由浮动</a:t>
            </a:r>
            <a:r>
              <a:rPr sz="2000" b="1" spc="-5" dirty="0">
                <a:latin typeface="宋体"/>
                <a:cs typeface="宋体"/>
              </a:rPr>
              <a:t>：</a:t>
            </a:r>
            <a:r>
              <a:rPr sz="2000" b="1" spc="325" dirty="0">
                <a:latin typeface="宋体"/>
                <a:cs typeface="宋体"/>
              </a:rPr>
              <a:t> </a:t>
            </a:r>
            <a:r>
              <a:rPr sz="2000" b="1" dirty="0">
                <a:latin typeface="Arial Narrow"/>
                <a:cs typeface="Arial Narrow"/>
              </a:rPr>
              <a:t>FF=</a:t>
            </a:r>
            <a:r>
              <a:rPr sz="2000" b="1" spc="-25" dirty="0">
                <a:latin typeface="Arial Narrow"/>
                <a:cs typeface="Arial Narrow"/>
              </a:rPr>
              <a:t> </a:t>
            </a:r>
            <a:r>
              <a:rPr sz="2000" b="1" spc="-5" dirty="0">
                <a:latin typeface="Arial Narrow"/>
                <a:cs typeface="Arial Narrow"/>
              </a:rPr>
              <a:t>ES(</a:t>
            </a:r>
            <a:r>
              <a:rPr sz="1400" b="1" spc="-5" dirty="0">
                <a:latin typeface="Arial Narrow"/>
                <a:cs typeface="Arial Narrow"/>
              </a:rPr>
              <a:t>S</a:t>
            </a:r>
            <a:r>
              <a:rPr sz="2000" b="1" spc="-5" dirty="0">
                <a:latin typeface="Arial Narrow"/>
                <a:cs typeface="Arial Narrow"/>
              </a:rPr>
              <a:t>)-EF-</a:t>
            </a:r>
            <a:r>
              <a:rPr sz="2000" b="1" dirty="0">
                <a:latin typeface="Arial Narrow"/>
                <a:cs typeface="Arial Narrow"/>
              </a:rPr>
              <a:t> Lag</a:t>
            </a:r>
            <a:endParaRPr sz="2000">
              <a:latin typeface="Arial Narrow"/>
              <a:cs typeface="Arial Narro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81279" y="5126431"/>
            <a:ext cx="381000" cy="80327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 marR="5080">
              <a:lnSpc>
                <a:spcPts val="2760"/>
              </a:lnSpc>
              <a:spcBef>
                <a:spcPts val="690"/>
              </a:spcBef>
            </a:pPr>
            <a:r>
              <a:rPr sz="2800" b="1" spc="-15" dirty="0">
                <a:latin typeface="宋体"/>
                <a:cs typeface="宋体"/>
              </a:rPr>
              <a:t>公 式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0168" y="0"/>
            <a:ext cx="47142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正推</a:t>
            </a:r>
            <a:r>
              <a:rPr spc="5" dirty="0">
                <a:latin typeface="华文隶书"/>
                <a:cs typeface="华文隶书"/>
              </a:rPr>
              <a:t>法</a:t>
            </a:r>
            <a:r>
              <a:rPr i="1" dirty="0">
                <a:latin typeface="华文隶书"/>
                <a:cs typeface="华文隶书"/>
              </a:rPr>
              <a:t>(Forward</a:t>
            </a:r>
            <a:r>
              <a:rPr i="1" spc="-80" dirty="0">
                <a:latin typeface="华文隶书"/>
                <a:cs typeface="华文隶书"/>
              </a:rPr>
              <a:t> </a:t>
            </a:r>
            <a:r>
              <a:rPr i="1" spc="-5" dirty="0">
                <a:latin typeface="华文隶书"/>
                <a:cs typeface="华文隶书"/>
              </a:rPr>
              <a:t>pass)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2389" y="2422398"/>
            <a:ext cx="8964295" cy="3983990"/>
          </a:xfrm>
          <a:custGeom>
            <a:avLst/>
            <a:gdLst/>
            <a:ahLst/>
            <a:cxnLst/>
            <a:rect l="l" t="t" r="r" b="b"/>
            <a:pathLst>
              <a:path w="8964295" h="3983990">
                <a:moveTo>
                  <a:pt x="0" y="3983736"/>
                </a:moveTo>
                <a:lnTo>
                  <a:pt x="8964168" y="3983736"/>
                </a:lnTo>
                <a:lnTo>
                  <a:pt x="8964168" y="0"/>
                </a:lnTo>
                <a:lnTo>
                  <a:pt x="0" y="0"/>
                </a:lnTo>
                <a:lnTo>
                  <a:pt x="0" y="398373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6217" y="1815541"/>
            <a:ext cx="9063355" cy="427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AFAC00"/>
                </a:solidFill>
                <a:latin typeface="隶书"/>
                <a:cs typeface="隶书"/>
              </a:rPr>
              <a:t>按照时间顺序计算最早开始时间和最早完成时间的方</a:t>
            </a:r>
            <a:r>
              <a:rPr sz="2400" b="1" spc="-50" dirty="0">
                <a:solidFill>
                  <a:srgbClr val="AFAC00"/>
                </a:solidFill>
                <a:latin typeface="隶书"/>
                <a:cs typeface="隶书"/>
              </a:rPr>
              <a:t>法</a:t>
            </a:r>
            <a:r>
              <a:rPr sz="2400" b="1" dirty="0">
                <a:solidFill>
                  <a:srgbClr val="AFAC00"/>
                </a:solidFill>
                <a:latin typeface="隶书"/>
                <a:cs typeface="隶书"/>
              </a:rPr>
              <a:t>,</a:t>
            </a:r>
            <a:r>
              <a:rPr sz="2400" b="1" spc="-5" dirty="0">
                <a:solidFill>
                  <a:srgbClr val="AFAC00"/>
                </a:solidFill>
                <a:latin typeface="隶书"/>
                <a:cs typeface="隶书"/>
              </a:rPr>
              <a:t>称为正推</a:t>
            </a:r>
            <a:r>
              <a:rPr sz="2400" b="1" spc="-10" dirty="0">
                <a:solidFill>
                  <a:srgbClr val="AFAC00"/>
                </a:solidFill>
                <a:latin typeface="隶书"/>
                <a:cs typeface="隶书"/>
              </a:rPr>
              <a:t>法</a:t>
            </a:r>
            <a:endParaRPr sz="2400">
              <a:latin typeface="隶书"/>
              <a:cs typeface="隶书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Times New Roman"/>
              <a:cs typeface="Times New Roman"/>
            </a:endParaRPr>
          </a:p>
          <a:p>
            <a:pPr marL="316865" marR="337185" indent="-274320">
              <a:lnSpc>
                <a:spcPct val="100000"/>
              </a:lnSpc>
              <a:buClr>
                <a:srgbClr val="DD8046"/>
              </a:buClr>
              <a:buSzPct val="59259"/>
              <a:buFont typeface="Wingdings"/>
              <a:buChar char=""/>
              <a:tabLst>
                <a:tab pos="317500" algn="l"/>
              </a:tabLst>
            </a:pPr>
            <a:r>
              <a:rPr sz="2700" spc="-5" dirty="0">
                <a:latin typeface="隶书"/>
                <a:cs typeface="隶书"/>
              </a:rPr>
              <a:t>确定项目的开始时间,网络图中第一个任务的最早开始时 </a:t>
            </a:r>
            <a:r>
              <a:rPr sz="2700" dirty="0">
                <a:latin typeface="隶书"/>
                <a:cs typeface="隶书"/>
              </a:rPr>
              <a:t>间是项目的开始时间；</a:t>
            </a:r>
            <a:endParaRPr sz="2700">
              <a:latin typeface="隶书"/>
              <a:cs typeface="隶书"/>
            </a:endParaRPr>
          </a:p>
          <a:p>
            <a:pPr marL="316865" indent="-27495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317500" algn="l"/>
              </a:tabLst>
            </a:pPr>
            <a:r>
              <a:rPr sz="2700" spc="-5" dirty="0">
                <a:latin typeface="隶书"/>
                <a:cs typeface="隶书"/>
              </a:rPr>
              <a:t>ES+Duration=EF</a:t>
            </a:r>
            <a:endParaRPr sz="2700">
              <a:latin typeface="隶书"/>
              <a:cs typeface="隶书"/>
            </a:endParaRPr>
          </a:p>
          <a:p>
            <a:pPr marL="316865" marR="337820" indent="-27432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317500" algn="l"/>
              </a:tabLst>
            </a:pPr>
            <a:r>
              <a:rPr sz="2700" dirty="0">
                <a:latin typeface="隶书"/>
                <a:cs typeface="隶书"/>
              </a:rPr>
              <a:t>EF+Lag=E</a:t>
            </a:r>
            <a:r>
              <a:rPr sz="2700" spc="-5" dirty="0">
                <a:latin typeface="隶书"/>
                <a:cs typeface="隶书"/>
              </a:rPr>
              <a:t>S</a:t>
            </a:r>
            <a:r>
              <a:rPr sz="2700" dirty="0">
                <a:latin typeface="隶书"/>
                <a:cs typeface="隶书"/>
              </a:rPr>
              <a:t>（</a:t>
            </a:r>
            <a:r>
              <a:rPr sz="2700" spc="-10" dirty="0">
                <a:latin typeface="隶书"/>
                <a:cs typeface="隶书"/>
              </a:rPr>
              <a:t>s</a:t>
            </a:r>
            <a:r>
              <a:rPr sz="2700" spc="10" dirty="0">
                <a:latin typeface="隶书"/>
                <a:cs typeface="隶书"/>
              </a:rPr>
              <a:t>）</a:t>
            </a:r>
            <a:r>
              <a:rPr sz="2700" spc="-10" dirty="0">
                <a:latin typeface="隶书"/>
                <a:cs typeface="隶书"/>
              </a:rPr>
              <a:t>,</a:t>
            </a:r>
            <a:r>
              <a:rPr sz="2700" dirty="0">
                <a:latin typeface="隶书"/>
                <a:cs typeface="隶书"/>
              </a:rPr>
              <a:t>当一个任务有多个前置任务时，选择前 置任务中最大的</a:t>
            </a:r>
            <a:r>
              <a:rPr sz="2700" spc="-5" dirty="0">
                <a:latin typeface="隶书"/>
                <a:cs typeface="隶书"/>
              </a:rPr>
              <a:t>EF</a:t>
            </a:r>
            <a:r>
              <a:rPr sz="2700" dirty="0">
                <a:latin typeface="隶书"/>
                <a:cs typeface="隶书"/>
              </a:rPr>
              <a:t>加上</a:t>
            </a:r>
            <a:r>
              <a:rPr sz="2700" spc="-5" dirty="0">
                <a:latin typeface="隶书"/>
                <a:cs typeface="隶书"/>
              </a:rPr>
              <a:t>Lag</a:t>
            </a:r>
            <a:r>
              <a:rPr sz="2700" dirty="0">
                <a:latin typeface="隶书"/>
                <a:cs typeface="隶书"/>
              </a:rPr>
              <a:t>作为其</a:t>
            </a:r>
            <a:r>
              <a:rPr sz="2700" spc="-5" dirty="0">
                <a:latin typeface="隶书"/>
                <a:cs typeface="隶书"/>
              </a:rPr>
              <a:t>ES</a:t>
            </a:r>
            <a:r>
              <a:rPr sz="2700" dirty="0">
                <a:latin typeface="隶书"/>
                <a:cs typeface="隶书"/>
              </a:rPr>
              <a:t>。</a:t>
            </a:r>
            <a:endParaRPr sz="2700">
              <a:latin typeface="隶书"/>
              <a:cs typeface="隶书"/>
            </a:endParaRPr>
          </a:p>
          <a:p>
            <a:pPr marL="316865" marR="508000" indent="-27432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259"/>
              <a:buFont typeface="Wingdings"/>
              <a:buChar char=""/>
              <a:tabLst>
                <a:tab pos="317500" algn="l"/>
              </a:tabLst>
            </a:pPr>
            <a:r>
              <a:rPr sz="2700" spc="-5" dirty="0">
                <a:latin typeface="隶书"/>
                <a:cs typeface="隶书"/>
              </a:rPr>
              <a:t>依次类推，从左到右，从上到</a:t>
            </a:r>
            <a:r>
              <a:rPr sz="2700" dirty="0">
                <a:latin typeface="隶书"/>
                <a:cs typeface="隶书"/>
              </a:rPr>
              <a:t>下</a:t>
            </a:r>
            <a:r>
              <a:rPr sz="2700" spc="-5" dirty="0">
                <a:latin typeface="隶书"/>
                <a:cs typeface="隶书"/>
              </a:rPr>
              <a:t>，计算每个路径的所有 </a:t>
            </a:r>
            <a:r>
              <a:rPr sz="2700" dirty="0">
                <a:latin typeface="隶书"/>
                <a:cs typeface="隶书"/>
              </a:rPr>
              <a:t>任务的</a:t>
            </a:r>
            <a:r>
              <a:rPr sz="2700" spc="-5" dirty="0">
                <a:latin typeface="隶书"/>
                <a:cs typeface="隶书"/>
              </a:rPr>
              <a:t>ES</a:t>
            </a:r>
            <a:r>
              <a:rPr sz="2700" dirty="0">
                <a:latin typeface="隶书"/>
                <a:cs typeface="隶书"/>
              </a:rPr>
              <a:t>和最早完成时</a:t>
            </a:r>
            <a:r>
              <a:rPr sz="2700" spc="-10" dirty="0">
                <a:latin typeface="隶书"/>
                <a:cs typeface="隶书"/>
              </a:rPr>
              <a:t>间</a:t>
            </a:r>
            <a:r>
              <a:rPr sz="2700" spc="5" dirty="0">
                <a:latin typeface="隶书"/>
                <a:cs typeface="隶书"/>
              </a:rPr>
              <a:t>EF</a:t>
            </a:r>
            <a:endParaRPr sz="27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316" y="23266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正推法实例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3273933"/>
            <a:ext cx="1917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Times New Roman"/>
                <a:cs typeface="Times New Roman"/>
              </a:rPr>
              <a:t>S</a:t>
            </a:r>
            <a:r>
              <a:rPr sz="700" spc="-5" dirty="0">
                <a:latin typeface="Times New Roman"/>
                <a:cs typeface="Times New Roman"/>
              </a:rPr>
              <a:t>ta</a:t>
            </a:r>
            <a:r>
              <a:rPr sz="700" spc="-10" dirty="0">
                <a:latin typeface="Times New Roman"/>
                <a:cs typeface="Times New Roman"/>
              </a:rPr>
              <a:t>r</a:t>
            </a:r>
            <a:r>
              <a:rPr sz="700" spc="-5" dirty="0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5970" y="288772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2491" y="2898470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5970" y="191909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2867" y="190817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4127" y="2132076"/>
            <a:ext cx="1396365" cy="788035"/>
          </a:xfrm>
          <a:custGeom>
            <a:avLst/>
            <a:gdLst/>
            <a:ahLst/>
            <a:cxnLst/>
            <a:rect l="l" t="t" r="r" b="b"/>
            <a:pathLst>
              <a:path w="1396364" h="788035">
                <a:moveTo>
                  <a:pt x="0" y="787908"/>
                </a:moveTo>
                <a:lnTo>
                  <a:pt x="1395984" y="787908"/>
                </a:lnTo>
                <a:lnTo>
                  <a:pt x="1395984" y="0"/>
                </a:lnTo>
                <a:lnTo>
                  <a:pt x="0" y="0"/>
                </a:lnTo>
                <a:lnTo>
                  <a:pt x="0" y="7879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43177" y="2386710"/>
            <a:ext cx="1385570" cy="2832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11809" marR="435609" indent="-99060">
              <a:lnSpc>
                <a:spcPts val="950"/>
              </a:lnSpc>
              <a:spcBef>
                <a:spcPts val="240"/>
              </a:spcBef>
            </a:pP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dirty="0">
                <a:latin typeface="Times New Roman"/>
                <a:cs typeface="Times New Roman"/>
              </a:rPr>
              <a:t>ur</a:t>
            </a:r>
            <a:r>
              <a:rPr sz="900" spc="-5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ti</a:t>
            </a:r>
            <a:r>
              <a:rPr sz="900" spc="5" dirty="0">
                <a:latin typeface="Times New Roman"/>
                <a:cs typeface="Times New Roman"/>
              </a:rPr>
              <a:t>on</a:t>
            </a:r>
            <a:r>
              <a:rPr sz="900" spc="-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7  </a:t>
            </a: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24127" y="2138172"/>
            <a:ext cx="504825" cy="224154"/>
          </a:xfrm>
          <a:custGeom>
            <a:avLst/>
            <a:gdLst/>
            <a:ahLst/>
            <a:cxnLst/>
            <a:rect l="l" t="t" r="r" b="b"/>
            <a:pathLst>
              <a:path w="504825" h="224155">
                <a:moveTo>
                  <a:pt x="0" y="224027"/>
                </a:moveTo>
                <a:lnTo>
                  <a:pt x="504444" y="224027"/>
                </a:lnTo>
                <a:lnTo>
                  <a:pt x="504444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43177" y="2131898"/>
            <a:ext cx="501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794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14144" y="2138172"/>
            <a:ext cx="506095" cy="224154"/>
          </a:xfrm>
          <a:custGeom>
            <a:avLst/>
            <a:gdLst/>
            <a:ahLst/>
            <a:cxnLst/>
            <a:rect l="l" t="t" r="r" b="b"/>
            <a:pathLst>
              <a:path w="506094" h="224155">
                <a:moveTo>
                  <a:pt x="0" y="224027"/>
                </a:moveTo>
                <a:lnTo>
                  <a:pt x="505968" y="224027"/>
                </a:lnTo>
                <a:lnTo>
                  <a:pt x="505968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38147" y="2131898"/>
            <a:ext cx="49085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4765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36319" y="2692907"/>
            <a:ext cx="504825" cy="227329"/>
          </a:xfrm>
          <a:custGeom>
            <a:avLst/>
            <a:gdLst/>
            <a:ahLst/>
            <a:cxnLst/>
            <a:rect l="l" t="t" r="r" b="b"/>
            <a:pathLst>
              <a:path w="504825" h="227330">
                <a:moveTo>
                  <a:pt x="0" y="227075"/>
                </a:moveTo>
                <a:lnTo>
                  <a:pt x="504444" y="227075"/>
                </a:lnTo>
                <a:lnTo>
                  <a:pt x="504444" y="0"/>
                </a:lnTo>
                <a:lnTo>
                  <a:pt x="0" y="0"/>
                </a:lnTo>
                <a:lnTo>
                  <a:pt x="0" y="22707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26335" y="2700527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1"/>
                </a:moveTo>
                <a:lnTo>
                  <a:pt x="504444" y="225551"/>
                </a:lnTo>
                <a:lnTo>
                  <a:pt x="5044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926335" y="2700527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1"/>
                </a:moveTo>
                <a:lnTo>
                  <a:pt x="504444" y="225551"/>
                </a:lnTo>
                <a:lnTo>
                  <a:pt x="5044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73020" y="427253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1143" y="428467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73020" y="3303778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1519" y="3292602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053083" y="3515867"/>
            <a:ext cx="1393190" cy="788035"/>
          </a:xfrm>
          <a:custGeom>
            <a:avLst/>
            <a:gdLst/>
            <a:ahLst/>
            <a:cxnLst/>
            <a:rect l="l" t="t" r="r" b="b"/>
            <a:pathLst>
              <a:path w="1393189" h="788035">
                <a:moveTo>
                  <a:pt x="0" y="787908"/>
                </a:moveTo>
                <a:lnTo>
                  <a:pt x="1392936" y="787908"/>
                </a:lnTo>
                <a:lnTo>
                  <a:pt x="1392936" y="0"/>
                </a:lnTo>
                <a:lnTo>
                  <a:pt x="0" y="0"/>
                </a:lnTo>
                <a:lnTo>
                  <a:pt x="0" y="7879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471930" y="3771392"/>
            <a:ext cx="554990" cy="2832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13030" marR="5080" indent="-100965">
              <a:lnSpc>
                <a:spcPts val="950"/>
              </a:lnSpc>
              <a:spcBef>
                <a:spcPts val="240"/>
              </a:spcBef>
            </a:pP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dirty="0">
                <a:latin typeface="Times New Roman"/>
                <a:cs typeface="Times New Roman"/>
              </a:rPr>
              <a:t>ur</a:t>
            </a:r>
            <a:r>
              <a:rPr sz="900" spc="-5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ti</a:t>
            </a:r>
            <a:r>
              <a:rPr sz="900" spc="5" dirty="0">
                <a:latin typeface="Times New Roman"/>
                <a:cs typeface="Times New Roman"/>
              </a:rPr>
              <a:t>on</a:t>
            </a:r>
            <a:r>
              <a:rPr sz="900" spc="-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3  </a:t>
            </a: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38605" y="3515867"/>
            <a:ext cx="510540" cy="230504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0955" algn="ctr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33575" y="3515867"/>
            <a:ext cx="499745" cy="230504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3335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065275" y="4078223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1"/>
                </a:moveTo>
                <a:lnTo>
                  <a:pt x="504444" y="225551"/>
                </a:lnTo>
                <a:lnTo>
                  <a:pt x="5044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952244" y="4084320"/>
            <a:ext cx="506095" cy="226060"/>
          </a:xfrm>
          <a:custGeom>
            <a:avLst/>
            <a:gdLst/>
            <a:ahLst/>
            <a:cxnLst/>
            <a:rect l="l" t="t" r="r" b="b"/>
            <a:pathLst>
              <a:path w="506094" h="226060">
                <a:moveTo>
                  <a:pt x="0" y="225551"/>
                </a:moveTo>
                <a:lnTo>
                  <a:pt x="505968" y="225551"/>
                </a:lnTo>
                <a:lnTo>
                  <a:pt x="505968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52244" y="4084320"/>
            <a:ext cx="506095" cy="226060"/>
          </a:xfrm>
          <a:custGeom>
            <a:avLst/>
            <a:gdLst/>
            <a:ahLst/>
            <a:cxnLst/>
            <a:rect l="l" t="t" r="r" b="b"/>
            <a:pathLst>
              <a:path w="506094" h="226060">
                <a:moveTo>
                  <a:pt x="0" y="225551"/>
                </a:moveTo>
                <a:lnTo>
                  <a:pt x="505968" y="225551"/>
                </a:lnTo>
                <a:lnTo>
                  <a:pt x="505968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961003" y="2935350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57525" y="294512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61003" y="196367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17647" y="195262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840479" y="2744723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1"/>
                </a:moveTo>
                <a:lnTo>
                  <a:pt x="504444" y="225551"/>
                </a:lnTo>
                <a:lnTo>
                  <a:pt x="5044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4" name="object 34"/>
          <p:cNvGraphicFramePr>
            <a:graphicFrameLocks noGrp="1"/>
          </p:cNvGraphicFramePr>
          <p:nvPr/>
        </p:nvGraphicFramePr>
        <p:xfrm>
          <a:off x="2933700" y="2164079"/>
          <a:ext cx="1395728" cy="7909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79">
                <a:tc gridSpan="3">
                  <a:txBody>
                    <a:bodyPr/>
                    <a:lstStyle/>
                    <a:p>
                      <a:pPr marL="534670" marR="426084" indent="-102235">
                        <a:lnSpc>
                          <a:spcPts val="950"/>
                        </a:lnSpc>
                        <a:spcBef>
                          <a:spcPts val="409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6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5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object 35"/>
          <p:cNvSpPr txBox="1"/>
          <p:nvPr/>
        </p:nvSpPr>
        <p:spPr>
          <a:xfrm>
            <a:off x="3905250" y="436143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03295" y="437400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905250" y="339432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63672" y="3383026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84932" y="3605784"/>
            <a:ext cx="1393190" cy="786765"/>
          </a:xfrm>
          <a:custGeom>
            <a:avLst/>
            <a:gdLst/>
            <a:ahLst/>
            <a:cxnLst/>
            <a:rect l="l" t="t" r="r" b="b"/>
            <a:pathLst>
              <a:path w="1393189" h="786764">
                <a:moveTo>
                  <a:pt x="0" y="786383"/>
                </a:moveTo>
                <a:lnTo>
                  <a:pt x="1392936" y="786383"/>
                </a:lnTo>
                <a:lnTo>
                  <a:pt x="1392936" y="0"/>
                </a:lnTo>
                <a:lnTo>
                  <a:pt x="0" y="0"/>
                </a:lnTo>
                <a:lnTo>
                  <a:pt x="0" y="78638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304413" y="3860038"/>
            <a:ext cx="554990" cy="283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15"/>
              </a:lnSpc>
              <a:spcBef>
                <a:spcPts val="100"/>
              </a:spcBef>
            </a:pPr>
            <a:r>
              <a:rPr sz="900" spc="-5" dirty="0">
                <a:latin typeface="Times New Roman"/>
                <a:cs typeface="Times New Roman"/>
              </a:rPr>
              <a:t>Duration=3</a:t>
            </a:r>
            <a:endParaRPr sz="900">
              <a:latin typeface="Times New Roman"/>
              <a:cs typeface="Times New Roman"/>
            </a:endParaRPr>
          </a:p>
          <a:p>
            <a:pPr algn="ctr">
              <a:lnSpc>
                <a:spcPts val="1015"/>
              </a:lnSpc>
            </a:pPr>
            <a:r>
              <a:rPr sz="900" spc="-10" dirty="0">
                <a:latin typeface="Times New Roman"/>
                <a:cs typeface="Times New Roman"/>
              </a:rPr>
              <a:t>Task</a:t>
            </a:r>
            <a:r>
              <a:rPr sz="900" spc="-5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884932" y="3611879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2"/>
                </a:moveTo>
                <a:lnTo>
                  <a:pt x="504444" y="225552"/>
                </a:lnTo>
                <a:lnTo>
                  <a:pt x="504444" y="0"/>
                </a:lnTo>
                <a:lnTo>
                  <a:pt x="0" y="0"/>
                </a:lnTo>
                <a:lnTo>
                  <a:pt x="0" y="2255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2889504" y="3605910"/>
            <a:ext cx="5016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773423" y="3611879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2"/>
                </a:moveTo>
                <a:lnTo>
                  <a:pt x="504444" y="225552"/>
                </a:lnTo>
                <a:lnTo>
                  <a:pt x="504444" y="0"/>
                </a:lnTo>
                <a:lnTo>
                  <a:pt x="0" y="0"/>
                </a:lnTo>
                <a:lnTo>
                  <a:pt x="0" y="22555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783329" y="3605910"/>
            <a:ext cx="490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7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897123" y="4166615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1"/>
                </a:moveTo>
                <a:lnTo>
                  <a:pt x="504444" y="225551"/>
                </a:lnTo>
                <a:lnTo>
                  <a:pt x="5044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84091" y="4177284"/>
            <a:ext cx="506095" cy="224154"/>
          </a:xfrm>
          <a:custGeom>
            <a:avLst/>
            <a:gdLst/>
            <a:ahLst/>
            <a:cxnLst/>
            <a:rect l="l" t="t" r="r" b="b"/>
            <a:pathLst>
              <a:path w="506095" h="224154">
                <a:moveTo>
                  <a:pt x="0" y="224027"/>
                </a:moveTo>
                <a:lnTo>
                  <a:pt x="505967" y="224027"/>
                </a:lnTo>
                <a:lnTo>
                  <a:pt x="505967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84091" y="4177284"/>
            <a:ext cx="506095" cy="224154"/>
          </a:xfrm>
          <a:custGeom>
            <a:avLst/>
            <a:gdLst/>
            <a:ahLst/>
            <a:cxnLst/>
            <a:rect l="l" t="t" r="r" b="b"/>
            <a:pathLst>
              <a:path w="506095" h="224154">
                <a:moveTo>
                  <a:pt x="0" y="224027"/>
                </a:moveTo>
                <a:lnTo>
                  <a:pt x="505967" y="224027"/>
                </a:lnTo>
                <a:lnTo>
                  <a:pt x="505967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793104" y="296666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89753" y="2976752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793104" y="199872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50129" y="1985898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5672328" y="2779776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1"/>
                </a:moveTo>
                <a:lnTo>
                  <a:pt x="504444" y="225551"/>
                </a:lnTo>
                <a:lnTo>
                  <a:pt x="5044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4765547" y="2202179"/>
          <a:ext cx="1395728" cy="787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5">
                <a:tc gridSpan="3">
                  <a:txBody>
                    <a:bodyPr/>
                    <a:lstStyle/>
                    <a:p>
                      <a:pPr marL="531495" marR="426084" indent="-99060">
                        <a:lnSpc>
                          <a:spcPts val="950"/>
                        </a:lnSpc>
                        <a:spcBef>
                          <a:spcPts val="405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3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5764529" y="4421200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862576" y="443128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64529" y="3451352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822952" y="344042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643371" y="4233671"/>
            <a:ext cx="504825" cy="224154"/>
          </a:xfrm>
          <a:custGeom>
            <a:avLst/>
            <a:gdLst/>
            <a:ahLst/>
            <a:cxnLst/>
            <a:rect l="l" t="t" r="r" b="b"/>
            <a:pathLst>
              <a:path w="504825" h="224154">
                <a:moveTo>
                  <a:pt x="0" y="224027"/>
                </a:moveTo>
                <a:lnTo>
                  <a:pt x="504444" y="224027"/>
                </a:lnTo>
                <a:lnTo>
                  <a:pt x="504444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9" name="object 59"/>
          <p:cNvGraphicFramePr>
            <a:graphicFrameLocks noGrp="1"/>
          </p:cNvGraphicFramePr>
          <p:nvPr/>
        </p:nvGraphicFramePr>
        <p:xfrm>
          <a:off x="4739640" y="3654552"/>
          <a:ext cx="1393189" cy="787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0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16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 gridSpan="3">
                  <a:txBody>
                    <a:bodyPr/>
                    <a:lstStyle/>
                    <a:p>
                      <a:pPr marL="535305" marR="423545" indent="-104139">
                        <a:lnSpc>
                          <a:spcPts val="950"/>
                        </a:lnSpc>
                        <a:spcBef>
                          <a:spcPts val="425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3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39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0" name="object 60"/>
          <p:cNvSpPr txBox="1"/>
          <p:nvPr/>
        </p:nvSpPr>
        <p:spPr>
          <a:xfrm>
            <a:off x="7460360" y="374370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558533" y="3754628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60360" y="277342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518909" y="276402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6438900" y="2985516"/>
            <a:ext cx="1394460" cy="788035"/>
          </a:xfrm>
          <a:custGeom>
            <a:avLst/>
            <a:gdLst/>
            <a:ahLst/>
            <a:cxnLst/>
            <a:rect l="l" t="t" r="r" b="b"/>
            <a:pathLst>
              <a:path w="1394459" h="788035">
                <a:moveTo>
                  <a:pt x="0" y="787908"/>
                </a:moveTo>
                <a:lnTo>
                  <a:pt x="1394459" y="787908"/>
                </a:lnTo>
                <a:lnTo>
                  <a:pt x="1394459" y="0"/>
                </a:lnTo>
                <a:lnTo>
                  <a:pt x="0" y="0"/>
                </a:lnTo>
                <a:lnTo>
                  <a:pt x="0" y="78790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6443471" y="3241040"/>
            <a:ext cx="1385570" cy="2832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25780" marR="419734" indent="-97790">
              <a:lnSpc>
                <a:spcPts val="950"/>
              </a:lnSpc>
              <a:spcBef>
                <a:spcPts val="240"/>
              </a:spcBef>
            </a:pP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dirty="0">
                <a:latin typeface="Times New Roman"/>
                <a:cs typeface="Times New Roman"/>
              </a:rPr>
              <a:t>ur</a:t>
            </a:r>
            <a:r>
              <a:rPr sz="900" spc="-5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ti</a:t>
            </a:r>
            <a:r>
              <a:rPr sz="900" spc="5" dirty="0">
                <a:latin typeface="Times New Roman"/>
                <a:cs typeface="Times New Roman"/>
              </a:rPr>
              <a:t>on</a:t>
            </a:r>
            <a:r>
              <a:rPr sz="900" spc="-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2  </a:t>
            </a: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438900" y="2993135"/>
            <a:ext cx="504825" cy="224154"/>
          </a:xfrm>
          <a:custGeom>
            <a:avLst/>
            <a:gdLst/>
            <a:ahLst/>
            <a:cxnLst/>
            <a:rect l="l" t="t" r="r" b="b"/>
            <a:pathLst>
              <a:path w="504825" h="224155">
                <a:moveTo>
                  <a:pt x="0" y="224027"/>
                </a:moveTo>
                <a:lnTo>
                  <a:pt x="504444" y="224027"/>
                </a:lnTo>
                <a:lnTo>
                  <a:pt x="504444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6443471" y="2986532"/>
            <a:ext cx="50228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17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327392" y="2993135"/>
            <a:ext cx="506095" cy="224154"/>
          </a:xfrm>
          <a:custGeom>
            <a:avLst/>
            <a:gdLst/>
            <a:ahLst/>
            <a:cxnLst/>
            <a:rect l="l" t="t" r="r" b="b"/>
            <a:pathLst>
              <a:path w="506095" h="224155">
                <a:moveTo>
                  <a:pt x="0" y="224027"/>
                </a:moveTo>
                <a:lnTo>
                  <a:pt x="505968" y="224027"/>
                </a:lnTo>
                <a:lnTo>
                  <a:pt x="505968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7327392" y="2993135"/>
            <a:ext cx="506095" cy="224154"/>
          </a:xfrm>
          <a:custGeom>
            <a:avLst/>
            <a:gdLst/>
            <a:ahLst/>
            <a:cxnLst/>
            <a:rect l="l" t="t" r="r" b="b"/>
            <a:pathLst>
              <a:path w="506095" h="224155">
                <a:moveTo>
                  <a:pt x="0" y="224027"/>
                </a:moveTo>
                <a:lnTo>
                  <a:pt x="505968" y="224027"/>
                </a:lnTo>
                <a:lnTo>
                  <a:pt x="505968" y="0"/>
                </a:lnTo>
                <a:lnTo>
                  <a:pt x="0" y="0"/>
                </a:lnTo>
                <a:lnTo>
                  <a:pt x="0" y="22402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7338059" y="2986532"/>
            <a:ext cx="4908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19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6451091" y="3547871"/>
            <a:ext cx="506095" cy="226060"/>
          </a:xfrm>
          <a:custGeom>
            <a:avLst/>
            <a:gdLst/>
            <a:ahLst/>
            <a:cxnLst/>
            <a:rect l="l" t="t" r="r" b="b"/>
            <a:pathLst>
              <a:path w="506095" h="226060">
                <a:moveTo>
                  <a:pt x="0" y="225551"/>
                </a:moveTo>
                <a:lnTo>
                  <a:pt x="505967" y="225551"/>
                </a:lnTo>
                <a:lnTo>
                  <a:pt x="505967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7339583" y="3555491"/>
            <a:ext cx="504825" cy="227329"/>
          </a:xfrm>
          <a:custGeom>
            <a:avLst/>
            <a:gdLst/>
            <a:ahLst/>
            <a:cxnLst/>
            <a:rect l="l" t="t" r="r" b="b"/>
            <a:pathLst>
              <a:path w="504825" h="227329">
                <a:moveTo>
                  <a:pt x="0" y="227076"/>
                </a:moveTo>
                <a:lnTo>
                  <a:pt x="504444" y="227076"/>
                </a:lnTo>
                <a:lnTo>
                  <a:pt x="504444" y="0"/>
                </a:lnTo>
                <a:lnTo>
                  <a:pt x="0" y="0"/>
                </a:lnTo>
                <a:lnTo>
                  <a:pt x="0" y="22707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7339583" y="3555491"/>
            <a:ext cx="504825" cy="227329"/>
          </a:xfrm>
          <a:custGeom>
            <a:avLst/>
            <a:gdLst/>
            <a:ahLst/>
            <a:cxnLst/>
            <a:rect l="l" t="t" r="r" b="b"/>
            <a:pathLst>
              <a:path w="504825" h="227329">
                <a:moveTo>
                  <a:pt x="0" y="227076"/>
                </a:moveTo>
                <a:lnTo>
                  <a:pt x="504444" y="227076"/>
                </a:lnTo>
                <a:lnTo>
                  <a:pt x="504444" y="0"/>
                </a:lnTo>
                <a:lnTo>
                  <a:pt x="0" y="0"/>
                </a:lnTo>
                <a:lnTo>
                  <a:pt x="0" y="22707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3032125" y="5657189"/>
            <a:ext cx="10788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41069" algn="l"/>
              </a:tabLst>
            </a:pPr>
            <a:r>
              <a:rPr sz="700" spc="-15" dirty="0">
                <a:latin typeface="Times New Roman"/>
                <a:cs typeface="Times New Roman"/>
              </a:rPr>
              <a:t>LS	</a:t>
            </a:r>
            <a:r>
              <a:rPr sz="1050" spc="-37" baseline="7936" dirty="0">
                <a:latin typeface="Times New Roman"/>
                <a:cs typeface="Times New Roman"/>
              </a:rPr>
              <a:t>LF</a:t>
            </a:r>
            <a:endParaRPr sz="1050" baseline="7936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3961003" y="467880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3017647" y="4666234"/>
            <a:ext cx="1866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</a:t>
            </a:r>
            <a:r>
              <a:rPr sz="700" spc="-10" dirty="0">
                <a:latin typeface="Times New Roman"/>
                <a:cs typeface="Times New Roman"/>
              </a:rPr>
              <a:t>S</a:t>
            </a:r>
            <a:r>
              <a:rPr sz="700" spc="-5" dirty="0">
                <a:latin typeface="Times New Roman"/>
                <a:cs typeface="Times New Roman"/>
              </a:rPr>
              <a:t>C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3840479" y="5458967"/>
            <a:ext cx="504825" cy="226060"/>
          </a:xfrm>
          <a:custGeom>
            <a:avLst/>
            <a:gdLst/>
            <a:ahLst/>
            <a:cxnLst/>
            <a:rect l="l" t="t" r="r" b="b"/>
            <a:pathLst>
              <a:path w="504825" h="226060">
                <a:moveTo>
                  <a:pt x="0" y="225552"/>
                </a:moveTo>
                <a:lnTo>
                  <a:pt x="504444" y="225552"/>
                </a:lnTo>
                <a:lnTo>
                  <a:pt x="504444" y="0"/>
                </a:lnTo>
                <a:lnTo>
                  <a:pt x="0" y="0"/>
                </a:lnTo>
                <a:lnTo>
                  <a:pt x="0" y="2255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8" name="object 78"/>
          <p:cNvGraphicFramePr>
            <a:graphicFrameLocks noGrp="1"/>
          </p:cNvGraphicFramePr>
          <p:nvPr/>
        </p:nvGraphicFramePr>
        <p:xfrm>
          <a:off x="2933700" y="4880609"/>
          <a:ext cx="1395728" cy="78790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1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91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17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 gridSpan="3">
                  <a:txBody>
                    <a:bodyPr/>
                    <a:lstStyle/>
                    <a:p>
                      <a:pPr marL="540385" marR="426084" indent="-108585">
                        <a:lnSpc>
                          <a:spcPts val="950"/>
                        </a:lnSpc>
                        <a:spcBef>
                          <a:spcPts val="415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2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527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9" name="object 79"/>
          <p:cNvSpPr/>
          <p:nvPr/>
        </p:nvSpPr>
        <p:spPr>
          <a:xfrm>
            <a:off x="873252" y="2490216"/>
            <a:ext cx="163195" cy="0"/>
          </a:xfrm>
          <a:custGeom>
            <a:avLst/>
            <a:gdLst/>
            <a:ahLst/>
            <a:cxnLst/>
            <a:rect l="l" t="t" r="r" b="b"/>
            <a:pathLst>
              <a:path w="163194">
                <a:moveTo>
                  <a:pt x="0" y="0"/>
                </a:moveTo>
                <a:lnTo>
                  <a:pt x="16306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885444" y="2490216"/>
            <a:ext cx="0" cy="1508760"/>
          </a:xfrm>
          <a:custGeom>
            <a:avLst/>
            <a:gdLst/>
            <a:ahLst/>
            <a:cxnLst/>
            <a:rect l="l" t="t" r="r" b="b"/>
            <a:pathLst>
              <a:path h="1508760">
                <a:moveTo>
                  <a:pt x="0" y="0"/>
                </a:moveTo>
                <a:lnTo>
                  <a:pt x="0" y="150876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873252" y="3988308"/>
            <a:ext cx="219710" cy="1905"/>
          </a:xfrm>
          <a:custGeom>
            <a:avLst/>
            <a:gdLst/>
            <a:ahLst/>
            <a:cxnLst/>
            <a:rect l="l" t="t" r="r" b="b"/>
            <a:pathLst>
              <a:path w="219709" h="1904">
                <a:moveTo>
                  <a:pt x="0" y="1524"/>
                </a:moveTo>
                <a:lnTo>
                  <a:pt x="219456" y="0"/>
                </a:lnTo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78536" y="3313176"/>
            <a:ext cx="394970" cy="0"/>
          </a:xfrm>
          <a:custGeom>
            <a:avLst/>
            <a:gdLst/>
            <a:ahLst/>
            <a:cxnLst/>
            <a:rect l="l" t="t" r="r" b="b"/>
            <a:pathLst>
              <a:path w="394969">
                <a:moveTo>
                  <a:pt x="0" y="0"/>
                </a:moveTo>
                <a:lnTo>
                  <a:pt x="39471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2420111" y="2474976"/>
            <a:ext cx="518159" cy="76200"/>
          </a:xfrm>
          <a:custGeom>
            <a:avLst/>
            <a:gdLst/>
            <a:ahLst/>
            <a:cxnLst/>
            <a:rect l="l" t="t" r="r" b="b"/>
            <a:pathLst>
              <a:path w="518160" h="76200">
                <a:moveTo>
                  <a:pt x="441960" y="0"/>
                </a:moveTo>
                <a:lnTo>
                  <a:pt x="441960" y="76200"/>
                </a:lnTo>
                <a:lnTo>
                  <a:pt x="505460" y="44450"/>
                </a:lnTo>
                <a:lnTo>
                  <a:pt x="454660" y="44450"/>
                </a:lnTo>
                <a:lnTo>
                  <a:pt x="454660" y="31750"/>
                </a:lnTo>
                <a:lnTo>
                  <a:pt x="505460" y="31750"/>
                </a:lnTo>
                <a:lnTo>
                  <a:pt x="441960" y="0"/>
                </a:lnTo>
                <a:close/>
              </a:path>
              <a:path w="518160" h="76200">
                <a:moveTo>
                  <a:pt x="44196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41960" y="44450"/>
                </a:lnTo>
                <a:lnTo>
                  <a:pt x="441960" y="31750"/>
                </a:lnTo>
                <a:close/>
              </a:path>
              <a:path w="518160" h="76200">
                <a:moveTo>
                  <a:pt x="505460" y="31750"/>
                </a:moveTo>
                <a:lnTo>
                  <a:pt x="454660" y="31750"/>
                </a:lnTo>
                <a:lnTo>
                  <a:pt x="454660" y="44450"/>
                </a:lnTo>
                <a:lnTo>
                  <a:pt x="505460" y="44450"/>
                </a:lnTo>
                <a:lnTo>
                  <a:pt x="518160" y="38100"/>
                </a:lnTo>
                <a:lnTo>
                  <a:pt x="50546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334255" y="2542032"/>
            <a:ext cx="436245" cy="76200"/>
          </a:xfrm>
          <a:custGeom>
            <a:avLst/>
            <a:gdLst/>
            <a:ahLst/>
            <a:cxnLst/>
            <a:rect l="l" t="t" r="r" b="b"/>
            <a:pathLst>
              <a:path w="436245" h="76200">
                <a:moveTo>
                  <a:pt x="359664" y="0"/>
                </a:moveTo>
                <a:lnTo>
                  <a:pt x="359664" y="76200"/>
                </a:lnTo>
                <a:lnTo>
                  <a:pt x="423164" y="44450"/>
                </a:lnTo>
                <a:lnTo>
                  <a:pt x="372364" y="44450"/>
                </a:lnTo>
                <a:lnTo>
                  <a:pt x="372364" y="31750"/>
                </a:lnTo>
                <a:lnTo>
                  <a:pt x="423164" y="31750"/>
                </a:lnTo>
                <a:lnTo>
                  <a:pt x="359664" y="0"/>
                </a:lnTo>
                <a:close/>
              </a:path>
              <a:path w="436245" h="76200">
                <a:moveTo>
                  <a:pt x="3596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59664" y="44450"/>
                </a:lnTo>
                <a:lnTo>
                  <a:pt x="359664" y="31750"/>
                </a:lnTo>
                <a:close/>
              </a:path>
              <a:path w="436245" h="76200">
                <a:moveTo>
                  <a:pt x="423164" y="31750"/>
                </a:moveTo>
                <a:lnTo>
                  <a:pt x="372364" y="31750"/>
                </a:lnTo>
                <a:lnTo>
                  <a:pt x="372364" y="44450"/>
                </a:lnTo>
                <a:lnTo>
                  <a:pt x="423164" y="44450"/>
                </a:lnTo>
                <a:lnTo>
                  <a:pt x="435864" y="38100"/>
                </a:lnTo>
                <a:lnTo>
                  <a:pt x="42316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2459735" y="3747515"/>
            <a:ext cx="410209" cy="76200"/>
          </a:xfrm>
          <a:custGeom>
            <a:avLst/>
            <a:gdLst/>
            <a:ahLst/>
            <a:cxnLst/>
            <a:rect l="l" t="t" r="r" b="b"/>
            <a:pathLst>
              <a:path w="410210" h="76200">
                <a:moveTo>
                  <a:pt x="333756" y="0"/>
                </a:moveTo>
                <a:lnTo>
                  <a:pt x="333756" y="76199"/>
                </a:lnTo>
                <a:lnTo>
                  <a:pt x="397256" y="44449"/>
                </a:lnTo>
                <a:lnTo>
                  <a:pt x="346456" y="44449"/>
                </a:lnTo>
                <a:lnTo>
                  <a:pt x="346456" y="31749"/>
                </a:lnTo>
                <a:lnTo>
                  <a:pt x="397256" y="31749"/>
                </a:lnTo>
                <a:lnTo>
                  <a:pt x="333756" y="0"/>
                </a:lnTo>
                <a:close/>
              </a:path>
              <a:path w="410210" h="76200">
                <a:moveTo>
                  <a:pt x="333756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333756" y="44449"/>
                </a:lnTo>
                <a:lnTo>
                  <a:pt x="333756" y="31749"/>
                </a:lnTo>
                <a:close/>
              </a:path>
              <a:path w="410210" h="76200">
                <a:moveTo>
                  <a:pt x="397256" y="31749"/>
                </a:moveTo>
                <a:lnTo>
                  <a:pt x="346456" y="31749"/>
                </a:lnTo>
                <a:lnTo>
                  <a:pt x="346456" y="44449"/>
                </a:lnTo>
                <a:lnTo>
                  <a:pt x="397256" y="44449"/>
                </a:lnTo>
                <a:lnTo>
                  <a:pt x="409956" y="38099"/>
                </a:lnTo>
                <a:lnTo>
                  <a:pt x="397256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277867" y="3814571"/>
            <a:ext cx="478790" cy="76200"/>
          </a:xfrm>
          <a:custGeom>
            <a:avLst/>
            <a:gdLst/>
            <a:ahLst/>
            <a:cxnLst/>
            <a:rect l="l" t="t" r="r" b="b"/>
            <a:pathLst>
              <a:path w="478789" h="76200">
                <a:moveTo>
                  <a:pt x="402336" y="0"/>
                </a:moveTo>
                <a:lnTo>
                  <a:pt x="402336" y="76200"/>
                </a:lnTo>
                <a:lnTo>
                  <a:pt x="465836" y="44450"/>
                </a:lnTo>
                <a:lnTo>
                  <a:pt x="415036" y="44450"/>
                </a:lnTo>
                <a:lnTo>
                  <a:pt x="415036" y="31750"/>
                </a:lnTo>
                <a:lnTo>
                  <a:pt x="465836" y="31750"/>
                </a:lnTo>
                <a:lnTo>
                  <a:pt x="402336" y="0"/>
                </a:lnTo>
                <a:close/>
              </a:path>
              <a:path w="478789" h="76200">
                <a:moveTo>
                  <a:pt x="40233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2336" y="44450"/>
                </a:lnTo>
                <a:lnTo>
                  <a:pt x="402336" y="31750"/>
                </a:lnTo>
                <a:close/>
              </a:path>
              <a:path w="478789" h="76200">
                <a:moveTo>
                  <a:pt x="465836" y="31750"/>
                </a:moveTo>
                <a:lnTo>
                  <a:pt x="415036" y="31750"/>
                </a:lnTo>
                <a:lnTo>
                  <a:pt x="415036" y="44450"/>
                </a:lnTo>
                <a:lnTo>
                  <a:pt x="465836" y="44450"/>
                </a:lnTo>
                <a:lnTo>
                  <a:pt x="478536" y="38100"/>
                </a:lnTo>
                <a:lnTo>
                  <a:pt x="46583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7833359" y="3390900"/>
            <a:ext cx="462280" cy="1905"/>
          </a:xfrm>
          <a:custGeom>
            <a:avLst/>
            <a:gdLst/>
            <a:ahLst/>
            <a:cxnLst/>
            <a:rect l="l" t="t" r="r" b="b"/>
            <a:pathLst>
              <a:path w="462279" h="1904">
                <a:moveTo>
                  <a:pt x="0" y="0"/>
                </a:moveTo>
                <a:lnTo>
                  <a:pt x="461772" y="1524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2446020" y="3904234"/>
            <a:ext cx="492125" cy="1417955"/>
          </a:xfrm>
          <a:custGeom>
            <a:avLst/>
            <a:gdLst/>
            <a:ahLst/>
            <a:cxnLst/>
            <a:rect l="l" t="t" r="r" b="b"/>
            <a:pathLst>
              <a:path w="492125" h="1417954">
                <a:moveTo>
                  <a:pt x="415925" y="1341374"/>
                </a:moveTo>
                <a:lnTo>
                  <a:pt x="415925" y="1417574"/>
                </a:lnTo>
                <a:lnTo>
                  <a:pt x="479425" y="1385824"/>
                </a:lnTo>
                <a:lnTo>
                  <a:pt x="428625" y="1385824"/>
                </a:lnTo>
                <a:lnTo>
                  <a:pt x="428625" y="1373124"/>
                </a:lnTo>
                <a:lnTo>
                  <a:pt x="479425" y="1373124"/>
                </a:lnTo>
                <a:lnTo>
                  <a:pt x="415925" y="1341374"/>
                </a:lnTo>
                <a:close/>
              </a:path>
              <a:path w="492125" h="1417954">
                <a:moveTo>
                  <a:pt x="239649" y="6350"/>
                </a:moveTo>
                <a:lnTo>
                  <a:pt x="239649" y="1385824"/>
                </a:lnTo>
                <a:lnTo>
                  <a:pt x="415925" y="1385824"/>
                </a:lnTo>
                <a:lnTo>
                  <a:pt x="415925" y="1379474"/>
                </a:lnTo>
                <a:lnTo>
                  <a:pt x="252349" y="1379474"/>
                </a:lnTo>
                <a:lnTo>
                  <a:pt x="245999" y="1373124"/>
                </a:lnTo>
                <a:lnTo>
                  <a:pt x="252349" y="1373124"/>
                </a:lnTo>
                <a:lnTo>
                  <a:pt x="252349" y="12700"/>
                </a:lnTo>
                <a:lnTo>
                  <a:pt x="245999" y="12700"/>
                </a:lnTo>
                <a:lnTo>
                  <a:pt x="239649" y="6350"/>
                </a:lnTo>
                <a:close/>
              </a:path>
              <a:path w="492125" h="1417954">
                <a:moveTo>
                  <a:pt x="479425" y="1373124"/>
                </a:moveTo>
                <a:lnTo>
                  <a:pt x="428625" y="1373124"/>
                </a:lnTo>
                <a:lnTo>
                  <a:pt x="428625" y="1385824"/>
                </a:lnTo>
                <a:lnTo>
                  <a:pt x="479425" y="1385824"/>
                </a:lnTo>
                <a:lnTo>
                  <a:pt x="492125" y="1379474"/>
                </a:lnTo>
                <a:lnTo>
                  <a:pt x="479425" y="1373124"/>
                </a:lnTo>
                <a:close/>
              </a:path>
              <a:path w="492125" h="1417954">
                <a:moveTo>
                  <a:pt x="252349" y="1373124"/>
                </a:moveTo>
                <a:lnTo>
                  <a:pt x="245999" y="1373124"/>
                </a:lnTo>
                <a:lnTo>
                  <a:pt x="252349" y="1379474"/>
                </a:lnTo>
                <a:lnTo>
                  <a:pt x="252349" y="1373124"/>
                </a:lnTo>
                <a:close/>
              </a:path>
              <a:path w="492125" h="1417954">
                <a:moveTo>
                  <a:pt x="415925" y="1373124"/>
                </a:moveTo>
                <a:lnTo>
                  <a:pt x="252349" y="1373124"/>
                </a:lnTo>
                <a:lnTo>
                  <a:pt x="252349" y="1379474"/>
                </a:lnTo>
                <a:lnTo>
                  <a:pt x="415925" y="1379474"/>
                </a:lnTo>
                <a:lnTo>
                  <a:pt x="415925" y="1373124"/>
                </a:lnTo>
                <a:close/>
              </a:path>
              <a:path w="492125" h="1417954">
                <a:moveTo>
                  <a:pt x="252349" y="0"/>
                </a:moveTo>
                <a:lnTo>
                  <a:pt x="0" y="0"/>
                </a:lnTo>
                <a:lnTo>
                  <a:pt x="0" y="12700"/>
                </a:lnTo>
                <a:lnTo>
                  <a:pt x="239649" y="12700"/>
                </a:lnTo>
                <a:lnTo>
                  <a:pt x="239649" y="6350"/>
                </a:lnTo>
                <a:lnTo>
                  <a:pt x="252349" y="6350"/>
                </a:lnTo>
                <a:lnTo>
                  <a:pt x="252349" y="0"/>
                </a:lnTo>
                <a:close/>
              </a:path>
              <a:path w="492125" h="1417954">
                <a:moveTo>
                  <a:pt x="252349" y="6350"/>
                </a:moveTo>
                <a:lnTo>
                  <a:pt x="239649" y="6350"/>
                </a:lnTo>
                <a:lnTo>
                  <a:pt x="245999" y="12700"/>
                </a:lnTo>
                <a:lnTo>
                  <a:pt x="252349" y="12700"/>
                </a:lnTo>
                <a:lnTo>
                  <a:pt x="252349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334255" y="4017264"/>
            <a:ext cx="409575" cy="1271905"/>
          </a:xfrm>
          <a:custGeom>
            <a:avLst/>
            <a:gdLst/>
            <a:ahLst/>
            <a:cxnLst/>
            <a:rect l="l" t="t" r="r" b="b"/>
            <a:pathLst>
              <a:path w="409575" h="1271904">
                <a:moveTo>
                  <a:pt x="198374" y="1258951"/>
                </a:moveTo>
                <a:lnTo>
                  <a:pt x="0" y="1258951"/>
                </a:lnTo>
                <a:lnTo>
                  <a:pt x="0" y="1271524"/>
                </a:lnTo>
                <a:lnTo>
                  <a:pt x="211074" y="1271524"/>
                </a:lnTo>
                <a:lnTo>
                  <a:pt x="211074" y="1265174"/>
                </a:lnTo>
                <a:lnTo>
                  <a:pt x="198374" y="1265174"/>
                </a:lnTo>
                <a:lnTo>
                  <a:pt x="198374" y="1258951"/>
                </a:lnTo>
                <a:close/>
              </a:path>
              <a:path w="409575" h="1271904">
                <a:moveTo>
                  <a:pt x="333375" y="31750"/>
                </a:moveTo>
                <a:lnTo>
                  <a:pt x="198374" y="31750"/>
                </a:lnTo>
                <a:lnTo>
                  <a:pt x="198374" y="1265174"/>
                </a:lnTo>
                <a:lnTo>
                  <a:pt x="204724" y="1258951"/>
                </a:lnTo>
                <a:lnTo>
                  <a:pt x="211074" y="1258951"/>
                </a:lnTo>
                <a:lnTo>
                  <a:pt x="211074" y="44450"/>
                </a:lnTo>
                <a:lnTo>
                  <a:pt x="204724" y="44450"/>
                </a:lnTo>
                <a:lnTo>
                  <a:pt x="211074" y="38100"/>
                </a:lnTo>
                <a:lnTo>
                  <a:pt x="333375" y="38100"/>
                </a:lnTo>
                <a:lnTo>
                  <a:pt x="333375" y="31750"/>
                </a:lnTo>
                <a:close/>
              </a:path>
              <a:path w="409575" h="1271904">
                <a:moveTo>
                  <a:pt x="211074" y="1258951"/>
                </a:moveTo>
                <a:lnTo>
                  <a:pt x="204724" y="1258951"/>
                </a:lnTo>
                <a:lnTo>
                  <a:pt x="198374" y="1265174"/>
                </a:lnTo>
                <a:lnTo>
                  <a:pt x="211074" y="1265174"/>
                </a:lnTo>
                <a:lnTo>
                  <a:pt x="211074" y="1258951"/>
                </a:lnTo>
                <a:close/>
              </a:path>
              <a:path w="409575" h="1271904">
                <a:moveTo>
                  <a:pt x="333375" y="0"/>
                </a:moveTo>
                <a:lnTo>
                  <a:pt x="333375" y="76200"/>
                </a:lnTo>
                <a:lnTo>
                  <a:pt x="396875" y="44450"/>
                </a:lnTo>
                <a:lnTo>
                  <a:pt x="346075" y="44450"/>
                </a:lnTo>
                <a:lnTo>
                  <a:pt x="346075" y="31750"/>
                </a:lnTo>
                <a:lnTo>
                  <a:pt x="396875" y="31750"/>
                </a:lnTo>
                <a:lnTo>
                  <a:pt x="333375" y="0"/>
                </a:lnTo>
                <a:close/>
              </a:path>
              <a:path w="409575" h="1271904">
                <a:moveTo>
                  <a:pt x="211074" y="38100"/>
                </a:moveTo>
                <a:lnTo>
                  <a:pt x="204724" y="44450"/>
                </a:lnTo>
                <a:lnTo>
                  <a:pt x="211074" y="44450"/>
                </a:lnTo>
                <a:lnTo>
                  <a:pt x="211074" y="38100"/>
                </a:lnTo>
                <a:close/>
              </a:path>
              <a:path w="409575" h="1271904">
                <a:moveTo>
                  <a:pt x="333375" y="38100"/>
                </a:moveTo>
                <a:lnTo>
                  <a:pt x="211074" y="38100"/>
                </a:lnTo>
                <a:lnTo>
                  <a:pt x="211074" y="44450"/>
                </a:lnTo>
                <a:lnTo>
                  <a:pt x="333375" y="44450"/>
                </a:lnTo>
                <a:lnTo>
                  <a:pt x="333375" y="38100"/>
                </a:lnTo>
                <a:close/>
              </a:path>
              <a:path w="409575" h="1271904">
                <a:moveTo>
                  <a:pt x="396875" y="31750"/>
                </a:moveTo>
                <a:lnTo>
                  <a:pt x="346075" y="31750"/>
                </a:lnTo>
                <a:lnTo>
                  <a:pt x="346075" y="44450"/>
                </a:lnTo>
                <a:lnTo>
                  <a:pt x="396875" y="44450"/>
                </a:lnTo>
                <a:lnTo>
                  <a:pt x="409575" y="38100"/>
                </a:lnTo>
                <a:lnTo>
                  <a:pt x="39687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137147" y="3621023"/>
            <a:ext cx="314325" cy="441325"/>
          </a:xfrm>
          <a:custGeom>
            <a:avLst/>
            <a:gdLst/>
            <a:ahLst/>
            <a:cxnLst/>
            <a:rect l="l" t="t" r="r" b="b"/>
            <a:pathLst>
              <a:path w="314325" h="441325">
                <a:moveTo>
                  <a:pt x="150749" y="428625"/>
                </a:moveTo>
                <a:lnTo>
                  <a:pt x="0" y="428625"/>
                </a:lnTo>
                <a:lnTo>
                  <a:pt x="0" y="441325"/>
                </a:lnTo>
                <a:lnTo>
                  <a:pt x="163449" y="441325"/>
                </a:lnTo>
                <a:lnTo>
                  <a:pt x="163449" y="434975"/>
                </a:lnTo>
                <a:lnTo>
                  <a:pt x="150749" y="434975"/>
                </a:lnTo>
                <a:lnTo>
                  <a:pt x="150749" y="428625"/>
                </a:lnTo>
                <a:close/>
              </a:path>
              <a:path w="314325" h="441325">
                <a:moveTo>
                  <a:pt x="238125" y="31750"/>
                </a:moveTo>
                <a:lnTo>
                  <a:pt x="150749" y="31750"/>
                </a:lnTo>
                <a:lnTo>
                  <a:pt x="150749" y="434975"/>
                </a:lnTo>
                <a:lnTo>
                  <a:pt x="157099" y="428625"/>
                </a:lnTo>
                <a:lnTo>
                  <a:pt x="163449" y="428625"/>
                </a:lnTo>
                <a:lnTo>
                  <a:pt x="163449" y="44450"/>
                </a:lnTo>
                <a:lnTo>
                  <a:pt x="157099" y="44450"/>
                </a:lnTo>
                <a:lnTo>
                  <a:pt x="163449" y="38100"/>
                </a:lnTo>
                <a:lnTo>
                  <a:pt x="238125" y="38100"/>
                </a:lnTo>
                <a:lnTo>
                  <a:pt x="238125" y="31750"/>
                </a:lnTo>
                <a:close/>
              </a:path>
              <a:path w="314325" h="441325">
                <a:moveTo>
                  <a:pt x="163449" y="428625"/>
                </a:moveTo>
                <a:lnTo>
                  <a:pt x="157099" y="428625"/>
                </a:lnTo>
                <a:lnTo>
                  <a:pt x="150749" y="434975"/>
                </a:lnTo>
                <a:lnTo>
                  <a:pt x="163449" y="434975"/>
                </a:lnTo>
                <a:lnTo>
                  <a:pt x="163449" y="428625"/>
                </a:lnTo>
                <a:close/>
              </a:path>
              <a:path w="314325" h="441325">
                <a:moveTo>
                  <a:pt x="238125" y="0"/>
                </a:moveTo>
                <a:lnTo>
                  <a:pt x="238125" y="76200"/>
                </a:lnTo>
                <a:lnTo>
                  <a:pt x="301625" y="44450"/>
                </a:lnTo>
                <a:lnTo>
                  <a:pt x="250825" y="44450"/>
                </a:lnTo>
                <a:lnTo>
                  <a:pt x="250825" y="31750"/>
                </a:lnTo>
                <a:lnTo>
                  <a:pt x="301625" y="31750"/>
                </a:lnTo>
                <a:lnTo>
                  <a:pt x="238125" y="0"/>
                </a:lnTo>
                <a:close/>
              </a:path>
              <a:path w="314325" h="441325">
                <a:moveTo>
                  <a:pt x="163449" y="38100"/>
                </a:moveTo>
                <a:lnTo>
                  <a:pt x="157099" y="44450"/>
                </a:lnTo>
                <a:lnTo>
                  <a:pt x="163449" y="44450"/>
                </a:lnTo>
                <a:lnTo>
                  <a:pt x="163449" y="38100"/>
                </a:lnTo>
                <a:close/>
              </a:path>
              <a:path w="314325" h="441325">
                <a:moveTo>
                  <a:pt x="238125" y="38100"/>
                </a:moveTo>
                <a:lnTo>
                  <a:pt x="163449" y="38100"/>
                </a:lnTo>
                <a:lnTo>
                  <a:pt x="163449" y="44450"/>
                </a:lnTo>
                <a:lnTo>
                  <a:pt x="238125" y="44450"/>
                </a:lnTo>
                <a:lnTo>
                  <a:pt x="238125" y="38100"/>
                </a:lnTo>
                <a:close/>
              </a:path>
              <a:path w="314325" h="441325">
                <a:moveTo>
                  <a:pt x="301625" y="31750"/>
                </a:moveTo>
                <a:lnTo>
                  <a:pt x="250825" y="31750"/>
                </a:lnTo>
                <a:lnTo>
                  <a:pt x="250825" y="44450"/>
                </a:lnTo>
                <a:lnTo>
                  <a:pt x="301625" y="44450"/>
                </a:lnTo>
                <a:lnTo>
                  <a:pt x="314325" y="38100"/>
                </a:lnTo>
                <a:lnTo>
                  <a:pt x="30162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6166103" y="2596642"/>
            <a:ext cx="273050" cy="546100"/>
          </a:xfrm>
          <a:custGeom>
            <a:avLst/>
            <a:gdLst/>
            <a:ahLst/>
            <a:cxnLst/>
            <a:rect l="l" t="t" r="r" b="b"/>
            <a:pathLst>
              <a:path w="273050" h="546100">
                <a:moveTo>
                  <a:pt x="196850" y="469900"/>
                </a:moveTo>
                <a:lnTo>
                  <a:pt x="196850" y="546100"/>
                </a:lnTo>
                <a:lnTo>
                  <a:pt x="260350" y="514350"/>
                </a:lnTo>
                <a:lnTo>
                  <a:pt x="209550" y="514350"/>
                </a:lnTo>
                <a:lnTo>
                  <a:pt x="209550" y="501650"/>
                </a:lnTo>
                <a:lnTo>
                  <a:pt x="260350" y="501650"/>
                </a:lnTo>
                <a:lnTo>
                  <a:pt x="196850" y="469900"/>
                </a:lnTo>
                <a:close/>
              </a:path>
              <a:path w="273050" h="546100">
                <a:moveTo>
                  <a:pt x="130175" y="6350"/>
                </a:moveTo>
                <a:lnTo>
                  <a:pt x="130175" y="514350"/>
                </a:lnTo>
                <a:lnTo>
                  <a:pt x="196850" y="514350"/>
                </a:lnTo>
                <a:lnTo>
                  <a:pt x="196850" y="508000"/>
                </a:lnTo>
                <a:lnTo>
                  <a:pt x="142875" y="508000"/>
                </a:lnTo>
                <a:lnTo>
                  <a:pt x="136525" y="501650"/>
                </a:lnTo>
                <a:lnTo>
                  <a:pt x="142875" y="501650"/>
                </a:lnTo>
                <a:lnTo>
                  <a:pt x="142875" y="12700"/>
                </a:lnTo>
                <a:lnTo>
                  <a:pt x="136525" y="12700"/>
                </a:lnTo>
                <a:lnTo>
                  <a:pt x="130175" y="6350"/>
                </a:lnTo>
                <a:close/>
              </a:path>
              <a:path w="273050" h="546100">
                <a:moveTo>
                  <a:pt x="260350" y="501650"/>
                </a:moveTo>
                <a:lnTo>
                  <a:pt x="209550" y="501650"/>
                </a:lnTo>
                <a:lnTo>
                  <a:pt x="209550" y="514350"/>
                </a:lnTo>
                <a:lnTo>
                  <a:pt x="260350" y="514350"/>
                </a:lnTo>
                <a:lnTo>
                  <a:pt x="273050" y="508000"/>
                </a:lnTo>
                <a:lnTo>
                  <a:pt x="260350" y="501650"/>
                </a:lnTo>
                <a:close/>
              </a:path>
              <a:path w="273050" h="546100">
                <a:moveTo>
                  <a:pt x="142875" y="501650"/>
                </a:moveTo>
                <a:lnTo>
                  <a:pt x="136525" y="501650"/>
                </a:lnTo>
                <a:lnTo>
                  <a:pt x="142875" y="508000"/>
                </a:lnTo>
                <a:lnTo>
                  <a:pt x="142875" y="501650"/>
                </a:lnTo>
                <a:close/>
              </a:path>
              <a:path w="273050" h="546100">
                <a:moveTo>
                  <a:pt x="196850" y="501650"/>
                </a:moveTo>
                <a:lnTo>
                  <a:pt x="142875" y="501650"/>
                </a:lnTo>
                <a:lnTo>
                  <a:pt x="142875" y="508000"/>
                </a:lnTo>
                <a:lnTo>
                  <a:pt x="196850" y="508000"/>
                </a:lnTo>
                <a:lnTo>
                  <a:pt x="196850" y="501650"/>
                </a:lnTo>
                <a:close/>
              </a:path>
              <a:path w="273050" h="546100">
                <a:moveTo>
                  <a:pt x="142875" y="0"/>
                </a:moveTo>
                <a:lnTo>
                  <a:pt x="0" y="0"/>
                </a:lnTo>
                <a:lnTo>
                  <a:pt x="0" y="12700"/>
                </a:lnTo>
                <a:lnTo>
                  <a:pt x="130175" y="12700"/>
                </a:lnTo>
                <a:lnTo>
                  <a:pt x="130175" y="6350"/>
                </a:lnTo>
                <a:lnTo>
                  <a:pt x="142875" y="6350"/>
                </a:lnTo>
                <a:lnTo>
                  <a:pt x="142875" y="0"/>
                </a:lnTo>
                <a:close/>
              </a:path>
              <a:path w="273050" h="546100">
                <a:moveTo>
                  <a:pt x="142875" y="6350"/>
                </a:moveTo>
                <a:lnTo>
                  <a:pt x="130175" y="6350"/>
                </a:lnTo>
                <a:lnTo>
                  <a:pt x="136525" y="12700"/>
                </a:lnTo>
                <a:lnTo>
                  <a:pt x="142875" y="12700"/>
                </a:lnTo>
                <a:lnTo>
                  <a:pt x="142875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8462264" y="3231261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F</a:t>
            </a:r>
            <a:r>
              <a:rPr sz="700" spc="-20" dirty="0">
                <a:latin typeface="Times New Roman"/>
                <a:cs typeface="Times New Roman"/>
              </a:rPr>
              <a:t>i</a:t>
            </a:r>
            <a:r>
              <a:rPr sz="700" spc="-5" dirty="0">
                <a:latin typeface="Times New Roman"/>
                <a:cs typeface="Times New Roman"/>
              </a:rPr>
              <a:t>n</a:t>
            </a:r>
            <a:r>
              <a:rPr sz="700" spc="-20" dirty="0">
                <a:latin typeface="Times New Roman"/>
                <a:cs typeface="Times New Roman"/>
              </a:rPr>
              <a:t>i</a:t>
            </a:r>
            <a:r>
              <a:rPr sz="700" spc="10" dirty="0">
                <a:latin typeface="Times New Roman"/>
                <a:cs typeface="Times New Roman"/>
              </a:rPr>
              <a:t>s</a:t>
            </a:r>
            <a:r>
              <a:rPr sz="700" spc="-5" dirty="0">
                <a:latin typeface="Times New Roman"/>
                <a:cs typeface="Times New Roman"/>
              </a:rPr>
              <a:t>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261365" y="5813297"/>
            <a:ext cx="8625840" cy="756285"/>
          </a:xfrm>
          <a:prstGeom prst="rect">
            <a:avLst/>
          </a:prstGeom>
          <a:ln w="19811">
            <a:solidFill>
              <a:srgbClr val="000000"/>
            </a:solidFill>
          </a:ln>
        </p:spPr>
        <p:txBody>
          <a:bodyPr vert="horz" wrap="square" lIns="0" tIns="18415" rIns="0" bIns="0" rtlCol="0">
            <a:spAutoFit/>
          </a:bodyPr>
          <a:lstStyle/>
          <a:p>
            <a:pPr marL="90170">
              <a:lnSpc>
                <a:spcPts val="2735"/>
              </a:lnSpc>
              <a:spcBef>
                <a:spcPts val="145"/>
              </a:spcBef>
            </a:pPr>
            <a:r>
              <a:rPr sz="2400" dirty="0">
                <a:latin typeface="隶书"/>
                <a:cs typeface="隶书"/>
              </a:rPr>
              <a:t>当一个任务有多个前置任务时，选择前置任务中最大</a:t>
            </a:r>
            <a:r>
              <a:rPr sz="2400" spc="-50" dirty="0">
                <a:latin typeface="隶书"/>
                <a:cs typeface="隶书"/>
              </a:rPr>
              <a:t>的</a:t>
            </a:r>
            <a:r>
              <a:rPr sz="2400" dirty="0">
                <a:latin typeface="隶书"/>
                <a:cs typeface="隶书"/>
              </a:rPr>
              <a:t>EF加上</a:t>
            </a:r>
            <a:endParaRPr sz="2400">
              <a:latin typeface="隶书"/>
              <a:cs typeface="隶书"/>
            </a:endParaRPr>
          </a:p>
          <a:p>
            <a:pPr marL="90170">
              <a:lnSpc>
                <a:spcPts val="2735"/>
              </a:lnSpc>
            </a:pPr>
            <a:r>
              <a:rPr sz="2400" dirty="0">
                <a:latin typeface="隶书"/>
                <a:cs typeface="隶书"/>
              </a:rPr>
              <a:t>Lag作为其ES。</a:t>
            </a:r>
            <a:endParaRPr sz="24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232663"/>
            <a:ext cx="50063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逆推</a:t>
            </a:r>
            <a:r>
              <a:rPr spc="-5" dirty="0">
                <a:latin typeface="华文隶书"/>
                <a:cs typeface="华文隶书"/>
              </a:rPr>
              <a:t>法</a:t>
            </a:r>
            <a:r>
              <a:rPr i="1" dirty="0">
                <a:latin typeface="华文隶书"/>
                <a:cs typeface="华文隶书"/>
              </a:rPr>
              <a:t>(Backward</a:t>
            </a:r>
            <a:r>
              <a:rPr i="1" spc="-8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pass)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5645" y="2350770"/>
            <a:ext cx="8819515" cy="3930650"/>
          </a:xfrm>
          <a:custGeom>
            <a:avLst/>
            <a:gdLst/>
            <a:ahLst/>
            <a:cxnLst/>
            <a:rect l="l" t="t" r="r" b="b"/>
            <a:pathLst>
              <a:path w="8819515" h="3930650">
                <a:moveTo>
                  <a:pt x="0" y="3930396"/>
                </a:moveTo>
                <a:lnTo>
                  <a:pt x="8819388" y="3930396"/>
                </a:lnTo>
                <a:lnTo>
                  <a:pt x="8819388" y="0"/>
                </a:lnTo>
                <a:lnTo>
                  <a:pt x="0" y="0"/>
                </a:lnTo>
                <a:lnTo>
                  <a:pt x="0" y="3930396"/>
                </a:lnTo>
                <a:close/>
              </a:path>
            </a:pathLst>
          </a:custGeom>
          <a:ln w="28956">
            <a:solidFill>
              <a:srgbClr val="548A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59079" y="1801825"/>
            <a:ext cx="8225155" cy="3848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5"/>
              </a:spcBef>
            </a:pPr>
            <a:r>
              <a:rPr sz="2000" b="1" spc="5" dirty="0">
                <a:solidFill>
                  <a:srgbClr val="AFAC00"/>
                </a:solidFill>
                <a:latin typeface="黑体"/>
                <a:cs typeface="黑体"/>
              </a:rPr>
              <a:t>按照逆时</a:t>
            </a:r>
            <a:r>
              <a:rPr sz="2000" b="1" spc="-5" dirty="0">
                <a:solidFill>
                  <a:srgbClr val="AFAC00"/>
                </a:solidFill>
                <a:latin typeface="黑体"/>
                <a:cs typeface="黑体"/>
              </a:rPr>
              <a:t>间顺</a:t>
            </a:r>
            <a:r>
              <a:rPr sz="2000" b="1" spc="5" dirty="0">
                <a:solidFill>
                  <a:srgbClr val="AFAC00"/>
                </a:solidFill>
                <a:latin typeface="黑体"/>
                <a:cs typeface="黑体"/>
              </a:rPr>
              <a:t>序计算最</a:t>
            </a:r>
            <a:r>
              <a:rPr sz="2000" b="1" spc="-5" dirty="0">
                <a:solidFill>
                  <a:srgbClr val="AFAC00"/>
                </a:solidFill>
                <a:latin typeface="黑体"/>
                <a:cs typeface="黑体"/>
              </a:rPr>
              <a:t>晚开</a:t>
            </a:r>
            <a:r>
              <a:rPr sz="2000" b="1" spc="5" dirty="0">
                <a:solidFill>
                  <a:srgbClr val="AFAC00"/>
                </a:solidFill>
                <a:latin typeface="黑体"/>
                <a:cs typeface="黑体"/>
              </a:rPr>
              <a:t>始时间和</a:t>
            </a:r>
            <a:r>
              <a:rPr sz="2000" b="1" spc="-5" dirty="0">
                <a:solidFill>
                  <a:srgbClr val="AFAC00"/>
                </a:solidFill>
                <a:latin typeface="黑体"/>
                <a:cs typeface="黑体"/>
              </a:rPr>
              <a:t>最晚</a:t>
            </a:r>
            <a:r>
              <a:rPr sz="2000" b="1" spc="5" dirty="0">
                <a:solidFill>
                  <a:srgbClr val="AFAC00"/>
                </a:solidFill>
                <a:latin typeface="黑体"/>
                <a:cs typeface="黑体"/>
              </a:rPr>
              <a:t>结束时间</a:t>
            </a:r>
            <a:r>
              <a:rPr sz="2000" b="1" spc="-5" dirty="0">
                <a:solidFill>
                  <a:srgbClr val="AFAC00"/>
                </a:solidFill>
                <a:latin typeface="黑体"/>
                <a:cs typeface="黑体"/>
              </a:rPr>
              <a:t>的方</a:t>
            </a:r>
            <a:r>
              <a:rPr sz="2000" b="1" spc="-15" dirty="0">
                <a:solidFill>
                  <a:srgbClr val="AFAC00"/>
                </a:solidFill>
                <a:latin typeface="黑体"/>
                <a:cs typeface="黑体"/>
              </a:rPr>
              <a:t>法</a:t>
            </a:r>
            <a:r>
              <a:rPr sz="2000" b="1" spc="-5" dirty="0">
                <a:solidFill>
                  <a:srgbClr val="AFAC00"/>
                </a:solidFill>
                <a:latin typeface="黑体"/>
                <a:cs typeface="黑体"/>
              </a:rPr>
              <a:t>,</a:t>
            </a:r>
            <a:r>
              <a:rPr sz="2000" b="1" dirty="0">
                <a:solidFill>
                  <a:srgbClr val="AFAC00"/>
                </a:solidFill>
                <a:latin typeface="黑体"/>
                <a:cs typeface="黑体"/>
              </a:rPr>
              <a:t>称为逆</a:t>
            </a:r>
            <a:r>
              <a:rPr sz="2000" b="1" spc="-5" dirty="0">
                <a:solidFill>
                  <a:srgbClr val="AFAC00"/>
                </a:solidFill>
                <a:latin typeface="黑体"/>
                <a:cs typeface="黑体"/>
              </a:rPr>
              <a:t>推法</a:t>
            </a:r>
            <a:endParaRPr sz="2000">
              <a:latin typeface="黑体"/>
              <a:cs typeface="黑体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950">
              <a:latin typeface="Times New Roman"/>
              <a:cs typeface="Times New Roman"/>
            </a:endParaRPr>
          </a:p>
          <a:p>
            <a:pPr marL="286385" marR="158115" indent="-274320">
              <a:lnSpc>
                <a:spcPct val="100000"/>
              </a:lnSpc>
              <a:buClr>
                <a:srgbClr val="93B6D2"/>
              </a:buClr>
              <a:buSzPct val="68750"/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latin typeface="隶书"/>
                <a:cs typeface="隶书"/>
              </a:rPr>
              <a:t>首先确定项目的结束时间,网络图中最后一个任务最晚完成 时间是项目的结束时间；</a:t>
            </a:r>
            <a:endParaRPr sz="2400">
              <a:latin typeface="隶书"/>
              <a:cs typeface="隶书"/>
            </a:endParaRPr>
          </a:p>
          <a:p>
            <a:pPr marL="287020" indent="-274320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latin typeface="隶书"/>
                <a:cs typeface="隶书"/>
              </a:rPr>
              <a:t>LF-Duration=LS</a:t>
            </a:r>
            <a:endParaRPr sz="2400">
              <a:latin typeface="隶书"/>
              <a:cs typeface="隶书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latin typeface="隶书"/>
                <a:cs typeface="隶书"/>
              </a:rPr>
              <a:t>LS-Lag=LF（p），当一个任务有多个后置任务时，选择其后 置任务中最小LS减Lag作为其LF</a:t>
            </a:r>
            <a:endParaRPr sz="2400">
              <a:latin typeface="隶书"/>
              <a:cs typeface="隶书"/>
            </a:endParaRPr>
          </a:p>
          <a:p>
            <a:pPr marL="286385" marR="5080" indent="-274320">
              <a:lnSpc>
                <a:spcPct val="100000"/>
              </a:lnSpc>
              <a:spcBef>
                <a:spcPts val="600"/>
              </a:spcBef>
              <a:buClr>
                <a:srgbClr val="93B6D2"/>
              </a:buClr>
              <a:buSzPct val="68750"/>
              <a:buFont typeface="Wingdings"/>
              <a:buChar char=""/>
              <a:tabLst>
                <a:tab pos="287020" algn="l"/>
              </a:tabLst>
            </a:pPr>
            <a:r>
              <a:rPr sz="2400" dirty="0">
                <a:latin typeface="隶书"/>
                <a:cs typeface="隶书"/>
              </a:rPr>
              <a:t>依次类推，从右到左，从上到</a:t>
            </a:r>
            <a:r>
              <a:rPr sz="2400" spc="-10" dirty="0">
                <a:latin typeface="隶书"/>
                <a:cs typeface="隶书"/>
              </a:rPr>
              <a:t>下</a:t>
            </a:r>
            <a:r>
              <a:rPr sz="2400" dirty="0">
                <a:latin typeface="隶书"/>
                <a:cs typeface="隶书"/>
              </a:rPr>
              <a:t>，计算每个任务的最晚开始 时间LS和最晚结束时间LF</a:t>
            </a:r>
            <a:endParaRPr sz="24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668" y="23266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逆推法实例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939" y="2911855"/>
            <a:ext cx="1917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Times New Roman"/>
                <a:cs typeface="Times New Roman"/>
              </a:rPr>
              <a:t>S</a:t>
            </a:r>
            <a:r>
              <a:rPr sz="700" spc="-5" dirty="0">
                <a:latin typeface="Times New Roman"/>
                <a:cs typeface="Times New Roman"/>
              </a:rPr>
              <a:t>ta</a:t>
            </a:r>
            <a:r>
              <a:rPr sz="700" spc="-10" dirty="0">
                <a:latin typeface="Times New Roman"/>
                <a:cs typeface="Times New Roman"/>
              </a:rPr>
              <a:t>r</a:t>
            </a:r>
            <a:r>
              <a:rPr sz="700" spc="-5" dirty="0">
                <a:latin typeface="Times New Roman"/>
                <a:cs typeface="Times New Roman"/>
              </a:rPr>
              <a:t>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98345" y="261162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6116" y="262407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98345" y="161429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3444" y="160299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1833372"/>
            <a:ext cx="1487805" cy="809625"/>
          </a:xfrm>
          <a:custGeom>
            <a:avLst/>
            <a:gdLst/>
            <a:ahLst/>
            <a:cxnLst/>
            <a:rect l="l" t="t" r="r" b="b"/>
            <a:pathLst>
              <a:path w="1487805" h="809625">
                <a:moveTo>
                  <a:pt x="0" y="809243"/>
                </a:moveTo>
                <a:lnTo>
                  <a:pt x="1487424" y="809243"/>
                </a:lnTo>
                <a:lnTo>
                  <a:pt x="1487424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79600" y="2087702"/>
            <a:ext cx="554990" cy="28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15"/>
              </a:lnSpc>
              <a:spcBef>
                <a:spcPts val="100"/>
              </a:spcBef>
            </a:pPr>
            <a:r>
              <a:rPr sz="900" spc="-5" dirty="0">
                <a:latin typeface="Times New Roman"/>
                <a:cs typeface="Times New Roman"/>
              </a:rPr>
              <a:t>Duration=7</a:t>
            </a:r>
            <a:endParaRPr sz="900">
              <a:latin typeface="Times New Roman"/>
              <a:cs typeface="Times New Roman"/>
            </a:endParaRPr>
          </a:p>
          <a:p>
            <a:pPr marL="2540" algn="ctr">
              <a:lnSpc>
                <a:spcPts val="1015"/>
              </a:lnSpc>
            </a:pP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A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1839467"/>
            <a:ext cx="538480" cy="230504"/>
          </a:xfrm>
          <a:custGeom>
            <a:avLst/>
            <a:gdLst/>
            <a:ahLst/>
            <a:cxnLst/>
            <a:rect l="l" t="t" r="r" b="b"/>
            <a:pathLst>
              <a:path w="538480" h="230505">
                <a:moveTo>
                  <a:pt x="0" y="230124"/>
                </a:moveTo>
                <a:lnTo>
                  <a:pt x="537972" y="230124"/>
                </a:lnTo>
                <a:lnTo>
                  <a:pt x="537972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33450" y="1833753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8575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862327" y="1839467"/>
            <a:ext cx="539750" cy="230504"/>
          </a:xfrm>
          <a:custGeom>
            <a:avLst/>
            <a:gdLst/>
            <a:ahLst/>
            <a:cxnLst/>
            <a:rect l="l" t="t" r="r" b="b"/>
            <a:pathLst>
              <a:path w="539750" h="230505">
                <a:moveTo>
                  <a:pt x="0" y="230124"/>
                </a:moveTo>
                <a:lnTo>
                  <a:pt x="539495" y="230124"/>
                </a:lnTo>
                <a:lnTo>
                  <a:pt x="539495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887473" y="1833753"/>
            <a:ext cx="524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209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28116" y="2410967"/>
            <a:ext cx="539750" cy="231775"/>
          </a:xfrm>
          <a:custGeom>
            <a:avLst/>
            <a:gdLst/>
            <a:ahLst/>
            <a:cxnLst/>
            <a:rect l="l" t="t" r="r" b="b"/>
            <a:pathLst>
              <a:path w="539750" h="231775">
                <a:moveTo>
                  <a:pt x="0" y="231648"/>
                </a:moveTo>
                <a:lnTo>
                  <a:pt x="539496" y="231648"/>
                </a:lnTo>
                <a:lnTo>
                  <a:pt x="539496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33450" y="2396490"/>
            <a:ext cx="5365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874520" y="2420111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80" h="233680">
                <a:moveTo>
                  <a:pt x="0" y="233172"/>
                </a:moveTo>
                <a:lnTo>
                  <a:pt x="537971" y="233172"/>
                </a:lnTo>
                <a:lnTo>
                  <a:pt x="537971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74520" y="2420111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80" h="233680">
                <a:moveTo>
                  <a:pt x="0" y="233172"/>
                </a:moveTo>
                <a:lnTo>
                  <a:pt x="537971" y="233172"/>
                </a:lnTo>
                <a:lnTo>
                  <a:pt x="537971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887473" y="2413508"/>
            <a:ext cx="524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810"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027047" y="403745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64767" y="404850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27047" y="304012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1791" y="302742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43355" y="3258311"/>
            <a:ext cx="1487805" cy="810895"/>
          </a:xfrm>
          <a:custGeom>
            <a:avLst/>
            <a:gdLst/>
            <a:ahLst/>
            <a:cxnLst/>
            <a:rect l="l" t="t" r="r" b="b"/>
            <a:pathLst>
              <a:path w="1487805" h="810895">
                <a:moveTo>
                  <a:pt x="0" y="810768"/>
                </a:moveTo>
                <a:lnTo>
                  <a:pt x="1487424" y="810768"/>
                </a:lnTo>
                <a:lnTo>
                  <a:pt x="1487424" y="0"/>
                </a:lnTo>
                <a:lnTo>
                  <a:pt x="0" y="0"/>
                </a:lnTo>
                <a:lnTo>
                  <a:pt x="0" y="81076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408302" y="3512007"/>
            <a:ext cx="554990" cy="283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015"/>
              </a:lnSpc>
              <a:spcBef>
                <a:spcPts val="100"/>
              </a:spcBef>
            </a:pPr>
            <a:r>
              <a:rPr sz="900" spc="-5" dirty="0">
                <a:latin typeface="Times New Roman"/>
                <a:cs typeface="Times New Roman"/>
              </a:rPr>
              <a:t>Duration=3</a:t>
            </a:r>
            <a:endParaRPr sz="900">
              <a:latin typeface="Times New Roman"/>
              <a:cs typeface="Times New Roman"/>
            </a:endParaRPr>
          </a:p>
          <a:p>
            <a:pPr marL="1905" algn="ctr">
              <a:lnSpc>
                <a:spcPts val="1015"/>
              </a:lnSpc>
            </a:pP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B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28877" y="3258311"/>
            <a:ext cx="545465" cy="23939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20320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82901" y="3258311"/>
            <a:ext cx="533400" cy="23939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57072" y="3837432"/>
            <a:ext cx="538480" cy="231775"/>
          </a:xfrm>
          <a:custGeom>
            <a:avLst/>
            <a:gdLst/>
            <a:ahLst/>
            <a:cxnLst/>
            <a:rect l="l" t="t" r="r" b="b"/>
            <a:pathLst>
              <a:path w="538480" h="231775">
                <a:moveTo>
                  <a:pt x="0" y="231648"/>
                </a:moveTo>
                <a:lnTo>
                  <a:pt x="537972" y="231648"/>
                </a:lnTo>
                <a:lnTo>
                  <a:pt x="53797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184859" y="3831463"/>
            <a:ext cx="8255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8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903476" y="3843528"/>
            <a:ext cx="538480" cy="231775"/>
          </a:xfrm>
          <a:custGeom>
            <a:avLst/>
            <a:gdLst/>
            <a:ahLst/>
            <a:cxnLst/>
            <a:rect l="l" t="t" r="r" b="b"/>
            <a:pathLst>
              <a:path w="538480" h="231775">
                <a:moveTo>
                  <a:pt x="0" y="231648"/>
                </a:moveTo>
                <a:lnTo>
                  <a:pt x="537972" y="231648"/>
                </a:lnTo>
                <a:lnTo>
                  <a:pt x="53797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882901" y="3840479"/>
            <a:ext cx="533400" cy="2286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0160" rIns="0" bIns="0" rtlCol="0">
            <a:spAutoFit/>
          </a:bodyPr>
          <a:lstStyle/>
          <a:p>
            <a:pPr marL="45720" algn="ctr">
              <a:lnSpc>
                <a:spcPct val="100000"/>
              </a:lnSpc>
              <a:spcBef>
                <a:spcPts val="80"/>
              </a:spcBef>
            </a:pPr>
            <a:r>
              <a:rPr sz="900" spc="5" dirty="0">
                <a:latin typeface="Times New Roman"/>
                <a:cs typeface="Times New Roman"/>
              </a:rPr>
              <a:t>11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038727" y="2657601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76448" y="267017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38727" y="1660398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33522" y="1648790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955035" y="1877567"/>
            <a:ext cx="1487805" cy="814069"/>
          </a:xfrm>
          <a:custGeom>
            <a:avLst/>
            <a:gdLst/>
            <a:ahLst/>
            <a:cxnLst/>
            <a:rect l="l" t="t" r="r" b="b"/>
            <a:pathLst>
              <a:path w="1487804" h="814069">
                <a:moveTo>
                  <a:pt x="0" y="813815"/>
                </a:moveTo>
                <a:lnTo>
                  <a:pt x="1487424" y="813815"/>
                </a:lnTo>
                <a:lnTo>
                  <a:pt x="1487424" y="0"/>
                </a:lnTo>
                <a:lnTo>
                  <a:pt x="0" y="0"/>
                </a:lnTo>
                <a:lnTo>
                  <a:pt x="0" y="81381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955035" y="1883664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79" h="233680">
                <a:moveTo>
                  <a:pt x="0" y="233172"/>
                </a:moveTo>
                <a:lnTo>
                  <a:pt x="537972" y="233172"/>
                </a:lnTo>
                <a:lnTo>
                  <a:pt x="53797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901440" y="1883664"/>
            <a:ext cx="541020" cy="233679"/>
          </a:xfrm>
          <a:custGeom>
            <a:avLst/>
            <a:gdLst/>
            <a:ahLst/>
            <a:cxnLst/>
            <a:rect l="l" t="t" r="r" b="b"/>
            <a:pathLst>
              <a:path w="541020" h="233680">
                <a:moveTo>
                  <a:pt x="0" y="233172"/>
                </a:moveTo>
                <a:lnTo>
                  <a:pt x="541020" y="233172"/>
                </a:lnTo>
                <a:lnTo>
                  <a:pt x="541020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2968751" y="2458211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79" h="233680">
                <a:moveTo>
                  <a:pt x="0" y="233172"/>
                </a:moveTo>
                <a:lnTo>
                  <a:pt x="537972" y="233172"/>
                </a:lnTo>
                <a:lnTo>
                  <a:pt x="53797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915155" y="2465832"/>
            <a:ext cx="538480" cy="231775"/>
          </a:xfrm>
          <a:custGeom>
            <a:avLst/>
            <a:gdLst/>
            <a:ahLst/>
            <a:cxnLst/>
            <a:rect l="l" t="t" r="r" b="b"/>
            <a:pathLst>
              <a:path w="538479" h="231775">
                <a:moveTo>
                  <a:pt x="0" y="231648"/>
                </a:moveTo>
                <a:lnTo>
                  <a:pt x="537972" y="231648"/>
                </a:lnTo>
                <a:lnTo>
                  <a:pt x="53797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2950464" y="1869948"/>
          <a:ext cx="1487170" cy="813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26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86">
                <a:tc gridSpan="3">
                  <a:txBody>
                    <a:bodyPr/>
                    <a:lstStyle/>
                    <a:p>
                      <a:pPr marL="579120" marR="472440" indent="-102235">
                        <a:lnSpc>
                          <a:spcPts val="950"/>
                        </a:lnSpc>
                        <a:spcBef>
                          <a:spcPts val="360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6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C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362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8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" name="object 42"/>
          <p:cNvSpPr txBox="1"/>
          <p:nvPr/>
        </p:nvSpPr>
        <p:spPr>
          <a:xfrm>
            <a:off x="3981450" y="4129532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19425" y="414235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981450" y="3132200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76498" y="312127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897123" y="3351276"/>
            <a:ext cx="1487805" cy="809625"/>
          </a:xfrm>
          <a:custGeom>
            <a:avLst/>
            <a:gdLst/>
            <a:ahLst/>
            <a:cxnLst/>
            <a:rect l="l" t="t" r="r" b="b"/>
            <a:pathLst>
              <a:path w="1487804" h="809625">
                <a:moveTo>
                  <a:pt x="0" y="809244"/>
                </a:moveTo>
                <a:lnTo>
                  <a:pt x="1487424" y="809244"/>
                </a:lnTo>
                <a:lnTo>
                  <a:pt x="1487424" y="0"/>
                </a:lnTo>
                <a:lnTo>
                  <a:pt x="0" y="0"/>
                </a:lnTo>
                <a:lnTo>
                  <a:pt x="0" y="80924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2901695" y="3606165"/>
            <a:ext cx="1478280" cy="2832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572135" marR="467359" indent="-99060">
              <a:lnSpc>
                <a:spcPts val="950"/>
              </a:lnSpc>
              <a:spcBef>
                <a:spcPts val="240"/>
              </a:spcBef>
            </a:pP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dirty="0">
                <a:latin typeface="Times New Roman"/>
                <a:cs typeface="Times New Roman"/>
              </a:rPr>
              <a:t>ur</a:t>
            </a:r>
            <a:r>
              <a:rPr sz="900" spc="-5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ti</a:t>
            </a:r>
            <a:r>
              <a:rPr sz="900" spc="5" dirty="0">
                <a:latin typeface="Times New Roman"/>
                <a:cs typeface="Times New Roman"/>
              </a:rPr>
              <a:t>on</a:t>
            </a:r>
            <a:r>
              <a:rPr sz="900" spc="-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3  </a:t>
            </a: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D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2897123" y="3357371"/>
            <a:ext cx="538480" cy="230504"/>
          </a:xfrm>
          <a:custGeom>
            <a:avLst/>
            <a:gdLst/>
            <a:ahLst/>
            <a:cxnLst/>
            <a:rect l="l" t="t" r="r" b="b"/>
            <a:pathLst>
              <a:path w="538479" h="230504">
                <a:moveTo>
                  <a:pt x="0" y="230124"/>
                </a:moveTo>
                <a:lnTo>
                  <a:pt x="537972" y="230124"/>
                </a:lnTo>
                <a:lnTo>
                  <a:pt x="537972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2901695" y="3351352"/>
            <a:ext cx="53657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845052" y="3357371"/>
            <a:ext cx="539750" cy="230504"/>
          </a:xfrm>
          <a:custGeom>
            <a:avLst/>
            <a:gdLst/>
            <a:ahLst/>
            <a:cxnLst/>
            <a:rect l="l" t="t" r="r" b="b"/>
            <a:pathLst>
              <a:path w="539750" h="230504">
                <a:moveTo>
                  <a:pt x="0" y="230124"/>
                </a:moveTo>
                <a:lnTo>
                  <a:pt x="539496" y="230124"/>
                </a:lnTo>
                <a:lnTo>
                  <a:pt x="539496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3855720" y="3351352"/>
            <a:ext cx="52451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Times New Roman"/>
                <a:cs typeface="Times New Roman"/>
              </a:rPr>
              <a:t>7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910839" y="3928871"/>
            <a:ext cx="539750" cy="231775"/>
          </a:xfrm>
          <a:custGeom>
            <a:avLst/>
            <a:gdLst/>
            <a:ahLst/>
            <a:cxnLst/>
            <a:rect l="l" t="t" r="r" b="b"/>
            <a:pathLst>
              <a:path w="539750" h="231775">
                <a:moveTo>
                  <a:pt x="0" y="231647"/>
                </a:moveTo>
                <a:lnTo>
                  <a:pt x="539496" y="231647"/>
                </a:lnTo>
                <a:lnTo>
                  <a:pt x="539496" y="0"/>
                </a:lnTo>
                <a:lnTo>
                  <a:pt x="0" y="0"/>
                </a:lnTo>
                <a:lnTo>
                  <a:pt x="0" y="231647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2897123" y="3932682"/>
            <a:ext cx="546100" cy="22796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21590" algn="ctr">
              <a:lnSpc>
                <a:spcPct val="100000"/>
              </a:lnSpc>
              <a:spcBef>
                <a:spcPts val="25"/>
              </a:spcBef>
            </a:pPr>
            <a:r>
              <a:rPr sz="900" spc="5" dirty="0">
                <a:latin typeface="Times New Roman"/>
                <a:cs typeface="Times New Roman"/>
              </a:rPr>
              <a:t>11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3857244" y="3936491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79" h="233679">
                <a:moveTo>
                  <a:pt x="0" y="233172"/>
                </a:moveTo>
                <a:lnTo>
                  <a:pt x="537972" y="233172"/>
                </a:lnTo>
                <a:lnTo>
                  <a:pt x="53797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857244" y="3936491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79" h="233679">
                <a:moveTo>
                  <a:pt x="0" y="233172"/>
                </a:moveTo>
                <a:lnTo>
                  <a:pt x="537972" y="233172"/>
                </a:lnTo>
                <a:lnTo>
                  <a:pt x="53797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855720" y="3931411"/>
            <a:ext cx="5245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14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993129" y="269392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31104" y="2706750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993129" y="169697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988178" y="168414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856732" y="1918716"/>
            <a:ext cx="539750" cy="231775"/>
          </a:xfrm>
          <a:custGeom>
            <a:avLst/>
            <a:gdLst/>
            <a:ahLst/>
            <a:cxnLst/>
            <a:rect l="l" t="t" r="r" b="b"/>
            <a:pathLst>
              <a:path w="539750" h="231775">
                <a:moveTo>
                  <a:pt x="0" y="231648"/>
                </a:moveTo>
                <a:lnTo>
                  <a:pt x="539496" y="231648"/>
                </a:lnTo>
                <a:lnTo>
                  <a:pt x="539496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5868923" y="2500883"/>
            <a:ext cx="538480" cy="231775"/>
          </a:xfrm>
          <a:custGeom>
            <a:avLst/>
            <a:gdLst/>
            <a:ahLst/>
            <a:cxnLst/>
            <a:rect l="l" t="t" r="r" b="b"/>
            <a:pathLst>
              <a:path w="538479" h="231775">
                <a:moveTo>
                  <a:pt x="0" y="231648"/>
                </a:moveTo>
                <a:lnTo>
                  <a:pt x="537972" y="231648"/>
                </a:lnTo>
                <a:lnTo>
                  <a:pt x="53797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3" name="object 63"/>
          <p:cNvGraphicFramePr>
            <a:graphicFrameLocks noGrp="1"/>
          </p:cNvGraphicFramePr>
          <p:nvPr/>
        </p:nvGraphicFramePr>
        <p:xfrm>
          <a:off x="4904232" y="1905000"/>
          <a:ext cx="1487169" cy="812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710">
                <a:tc gridSpan="3">
                  <a:txBody>
                    <a:bodyPr/>
                    <a:lstStyle/>
                    <a:p>
                      <a:pPr marL="577215" marR="471805" indent="-99060">
                        <a:lnSpc>
                          <a:spcPts val="950"/>
                        </a:lnSpc>
                        <a:spcBef>
                          <a:spcPts val="375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3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G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837"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" name="object 64"/>
          <p:cNvSpPr txBox="1"/>
          <p:nvPr/>
        </p:nvSpPr>
        <p:spPr>
          <a:xfrm>
            <a:off x="5962903" y="418833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001005" y="4199382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962903" y="3191001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957953" y="318007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838444" y="3994403"/>
            <a:ext cx="538480" cy="233679"/>
          </a:xfrm>
          <a:custGeom>
            <a:avLst/>
            <a:gdLst/>
            <a:ahLst/>
            <a:cxnLst/>
            <a:rect l="l" t="t" r="r" b="b"/>
            <a:pathLst>
              <a:path w="538479" h="233679">
                <a:moveTo>
                  <a:pt x="0" y="233172"/>
                </a:moveTo>
                <a:lnTo>
                  <a:pt x="537972" y="233172"/>
                </a:lnTo>
                <a:lnTo>
                  <a:pt x="537972" y="0"/>
                </a:lnTo>
                <a:lnTo>
                  <a:pt x="0" y="0"/>
                </a:lnTo>
                <a:lnTo>
                  <a:pt x="0" y="2331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9" name="object 69"/>
          <p:cNvGraphicFramePr>
            <a:graphicFrameLocks noGrp="1"/>
          </p:cNvGraphicFramePr>
          <p:nvPr/>
        </p:nvGraphicFramePr>
        <p:xfrm>
          <a:off x="4873752" y="3399282"/>
          <a:ext cx="1487169" cy="8107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5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397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23">
                <a:tc gridSpan="3">
                  <a:txBody>
                    <a:bodyPr/>
                    <a:lstStyle/>
                    <a:p>
                      <a:pPr algn="ctr">
                        <a:lnSpc>
                          <a:spcPts val="1015"/>
                        </a:lnSpc>
                        <a:spcBef>
                          <a:spcPts val="225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Duration=3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015"/>
                        </a:lnSpc>
                      </a:pPr>
                      <a:r>
                        <a:rPr sz="900" spc="-10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E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76"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17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01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0" name="object 70"/>
          <p:cNvSpPr txBox="1"/>
          <p:nvPr/>
        </p:nvSpPr>
        <p:spPr>
          <a:xfrm>
            <a:off x="7771638" y="3494278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809358" y="350380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771638" y="249402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66306" y="2484500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6687311" y="2712720"/>
            <a:ext cx="1487805" cy="809625"/>
          </a:xfrm>
          <a:custGeom>
            <a:avLst/>
            <a:gdLst/>
            <a:ahLst/>
            <a:cxnLst/>
            <a:rect l="l" t="t" r="r" b="b"/>
            <a:pathLst>
              <a:path w="1487804" h="809625">
                <a:moveTo>
                  <a:pt x="0" y="809243"/>
                </a:moveTo>
                <a:lnTo>
                  <a:pt x="1487424" y="809243"/>
                </a:lnTo>
                <a:lnTo>
                  <a:pt x="1487424" y="0"/>
                </a:lnTo>
                <a:lnTo>
                  <a:pt x="0" y="0"/>
                </a:lnTo>
                <a:lnTo>
                  <a:pt x="0" y="809243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 txBox="1"/>
          <p:nvPr/>
        </p:nvSpPr>
        <p:spPr>
          <a:xfrm>
            <a:off x="7152893" y="2967990"/>
            <a:ext cx="554990" cy="28321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11125" marR="5080" indent="-99060">
              <a:lnSpc>
                <a:spcPts val="950"/>
              </a:lnSpc>
              <a:spcBef>
                <a:spcPts val="240"/>
              </a:spcBef>
            </a:pPr>
            <a:r>
              <a:rPr sz="900" spc="-5" dirty="0">
                <a:latin typeface="Times New Roman"/>
                <a:cs typeface="Times New Roman"/>
              </a:rPr>
              <a:t>D</a:t>
            </a:r>
            <a:r>
              <a:rPr sz="900" dirty="0">
                <a:latin typeface="Times New Roman"/>
                <a:cs typeface="Times New Roman"/>
              </a:rPr>
              <a:t>ur</a:t>
            </a:r>
            <a:r>
              <a:rPr sz="900" spc="-5" dirty="0">
                <a:latin typeface="Times New Roman"/>
                <a:cs typeface="Times New Roman"/>
              </a:rPr>
              <a:t>a</a:t>
            </a:r>
            <a:r>
              <a:rPr sz="900" dirty="0">
                <a:latin typeface="Times New Roman"/>
                <a:cs typeface="Times New Roman"/>
              </a:rPr>
              <a:t>ti</a:t>
            </a:r>
            <a:r>
              <a:rPr sz="900" spc="5" dirty="0">
                <a:latin typeface="Times New Roman"/>
                <a:cs typeface="Times New Roman"/>
              </a:rPr>
              <a:t>on</a:t>
            </a:r>
            <a:r>
              <a:rPr sz="900" spc="-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2  </a:t>
            </a:r>
            <a:r>
              <a:rPr sz="900" spc="-5" dirty="0">
                <a:latin typeface="Times New Roman"/>
                <a:cs typeface="Times New Roman"/>
              </a:rPr>
              <a:t>Task</a:t>
            </a:r>
            <a:r>
              <a:rPr sz="900" spc="-10" dirty="0">
                <a:latin typeface="Times New Roman"/>
                <a:cs typeface="Times New Roman"/>
              </a:rPr>
              <a:t> </a:t>
            </a:r>
            <a:r>
              <a:rPr sz="900" dirty="0">
                <a:latin typeface="Times New Roman"/>
                <a:cs typeface="Times New Roman"/>
              </a:rPr>
              <a:t>H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6687311" y="2718816"/>
            <a:ext cx="538480" cy="231775"/>
          </a:xfrm>
          <a:custGeom>
            <a:avLst/>
            <a:gdLst/>
            <a:ahLst/>
            <a:cxnLst/>
            <a:rect l="l" t="t" r="r" b="b"/>
            <a:pathLst>
              <a:path w="538479" h="231775">
                <a:moveTo>
                  <a:pt x="0" y="231648"/>
                </a:moveTo>
                <a:lnTo>
                  <a:pt x="537972" y="231648"/>
                </a:lnTo>
                <a:lnTo>
                  <a:pt x="53797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6691883" y="2713482"/>
            <a:ext cx="5359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17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7633716" y="2718816"/>
            <a:ext cx="541020" cy="231775"/>
          </a:xfrm>
          <a:custGeom>
            <a:avLst/>
            <a:gdLst/>
            <a:ahLst/>
            <a:cxnLst/>
            <a:rect l="l" t="t" r="r" b="b"/>
            <a:pathLst>
              <a:path w="541020" h="231775">
                <a:moveTo>
                  <a:pt x="0" y="231648"/>
                </a:moveTo>
                <a:lnTo>
                  <a:pt x="541020" y="231648"/>
                </a:lnTo>
                <a:lnTo>
                  <a:pt x="541020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7633716" y="2718816"/>
            <a:ext cx="541020" cy="231775"/>
          </a:xfrm>
          <a:custGeom>
            <a:avLst/>
            <a:gdLst/>
            <a:ahLst/>
            <a:cxnLst/>
            <a:rect l="l" t="t" r="r" b="b"/>
            <a:pathLst>
              <a:path w="541020" h="231775">
                <a:moveTo>
                  <a:pt x="0" y="231648"/>
                </a:moveTo>
                <a:lnTo>
                  <a:pt x="541020" y="231648"/>
                </a:lnTo>
                <a:lnTo>
                  <a:pt x="541020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7645145" y="2713482"/>
            <a:ext cx="5251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19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701028" y="3290315"/>
            <a:ext cx="538480" cy="231775"/>
          </a:xfrm>
          <a:custGeom>
            <a:avLst/>
            <a:gdLst/>
            <a:ahLst/>
            <a:cxnLst/>
            <a:rect l="l" t="t" r="r" b="b"/>
            <a:pathLst>
              <a:path w="538479" h="231775">
                <a:moveTo>
                  <a:pt x="0" y="231648"/>
                </a:moveTo>
                <a:lnTo>
                  <a:pt x="537972" y="231648"/>
                </a:lnTo>
                <a:lnTo>
                  <a:pt x="537972" y="0"/>
                </a:lnTo>
                <a:lnTo>
                  <a:pt x="0" y="0"/>
                </a:lnTo>
                <a:lnTo>
                  <a:pt x="0" y="231648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691883" y="3285235"/>
            <a:ext cx="53594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17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/>
          <p:nvPr/>
        </p:nvSpPr>
        <p:spPr>
          <a:xfrm>
            <a:off x="7647431" y="3300984"/>
            <a:ext cx="538480" cy="230504"/>
          </a:xfrm>
          <a:custGeom>
            <a:avLst/>
            <a:gdLst/>
            <a:ahLst/>
            <a:cxnLst/>
            <a:rect l="l" t="t" r="r" b="b"/>
            <a:pathLst>
              <a:path w="538479" h="230504">
                <a:moveTo>
                  <a:pt x="0" y="230124"/>
                </a:moveTo>
                <a:lnTo>
                  <a:pt x="537972" y="230124"/>
                </a:lnTo>
                <a:lnTo>
                  <a:pt x="537972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647431" y="3300984"/>
            <a:ext cx="538480" cy="230504"/>
          </a:xfrm>
          <a:custGeom>
            <a:avLst/>
            <a:gdLst/>
            <a:ahLst/>
            <a:cxnLst/>
            <a:rect l="l" t="t" r="r" b="b"/>
            <a:pathLst>
              <a:path w="538479" h="230504">
                <a:moveTo>
                  <a:pt x="0" y="230124"/>
                </a:moveTo>
                <a:lnTo>
                  <a:pt x="537972" y="230124"/>
                </a:lnTo>
                <a:lnTo>
                  <a:pt x="537972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7645145" y="3294634"/>
            <a:ext cx="5251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algn="ctr">
              <a:lnSpc>
                <a:spcPct val="100000"/>
              </a:lnSpc>
              <a:spcBef>
                <a:spcPts val="100"/>
              </a:spcBef>
            </a:pPr>
            <a:r>
              <a:rPr sz="900" spc="5" dirty="0">
                <a:latin typeface="Times New Roman"/>
                <a:cs typeface="Times New Roman"/>
              </a:rPr>
              <a:t>19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038727" y="545058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3076448" y="546328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4038727" y="445350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033522" y="444220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3915155" y="5257800"/>
            <a:ext cx="538480" cy="230504"/>
          </a:xfrm>
          <a:custGeom>
            <a:avLst/>
            <a:gdLst/>
            <a:ahLst/>
            <a:cxnLst/>
            <a:rect l="l" t="t" r="r" b="b"/>
            <a:pathLst>
              <a:path w="538479" h="230504">
                <a:moveTo>
                  <a:pt x="0" y="230124"/>
                </a:moveTo>
                <a:lnTo>
                  <a:pt x="537972" y="230124"/>
                </a:lnTo>
                <a:lnTo>
                  <a:pt x="537972" y="0"/>
                </a:lnTo>
                <a:lnTo>
                  <a:pt x="0" y="0"/>
                </a:lnTo>
                <a:lnTo>
                  <a:pt x="0" y="2301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2950464" y="4664964"/>
          <a:ext cx="1487170" cy="8092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4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62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4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6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185">
                <a:tc gridSpan="3">
                  <a:txBody>
                    <a:bodyPr/>
                    <a:lstStyle/>
                    <a:p>
                      <a:pPr marL="585470" marR="472440" indent="-108585">
                        <a:lnSpc>
                          <a:spcPts val="950"/>
                        </a:lnSpc>
                        <a:spcBef>
                          <a:spcPts val="385"/>
                        </a:spcBef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ur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ti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2  </a:t>
                      </a: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F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488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837">
                <a:tc>
                  <a:txBody>
                    <a:bodyPr/>
                    <a:lstStyle/>
                    <a:p>
                      <a:pPr marL="21590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900" spc="5" dirty="0">
                          <a:latin typeface="Times New Roman"/>
                          <a:cs typeface="Times New Roman"/>
                        </a:rPr>
                        <a:t>12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700" spc="-5" dirty="0">
                          <a:latin typeface="Times New Roman"/>
                          <a:cs typeface="Times New Roman"/>
                        </a:rPr>
                        <a:t>14</a:t>
                      </a: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469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" name="object 92"/>
          <p:cNvSpPr/>
          <p:nvPr/>
        </p:nvSpPr>
        <p:spPr>
          <a:xfrm>
            <a:off x="754380" y="2203704"/>
            <a:ext cx="173990" cy="0"/>
          </a:xfrm>
          <a:custGeom>
            <a:avLst/>
            <a:gdLst/>
            <a:ahLst/>
            <a:cxnLst/>
            <a:rect l="l" t="t" r="r" b="b"/>
            <a:pathLst>
              <a:path w="173990">
                <a:moveTo>
                  <a:pt x="0" y="0"/>
                </a:moveTo>
                <a:lnTo>
                  <a:pt x="173736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766572" y="2203704"/>
            <a:ext cx="0" cy="1554480"/>
          </a:xfrm>
          <a:custGeom>
            <a:avLst/>
            <a:gdLst/>
            <a:ahLst/>
            <a:cxnLst/>
            <a:rect l="l" t="t" r="r" b="b"/>
            <a:pathLst>
              <a:path h="1554479">
                <a:moveTo>
                  <a:pt x="0" y="0"/>
                </a:moveTo>
                <a:lnTo>
                  <a:pt x="0" y="155448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754380" y="3744467"/>
            <a:ext cx="231775" cy="0"/>
          </a:xfrm>
          <a:custGeom>
            <a:avLst/>
            <a:gdLst/>
            <a:ahLst/>
            <a:cxnLst/>
            <a:rect l="l" t="t" r="r" b="b"/>
            <a:pathLst>
              <a:path w="231775">
                <a:moveTo>
                  <a:pt x="0" y="0"/>
                </a:moveTo>
                <a:lnTo>
                  <a:pt x="231648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332231" y="3048000"/>
            <a:ext cx="422275" cy="0"/>
          </a:xfrm>
          <a:custGeom>
            <a:avLst/>
            <a:gdLst/>
            <a:ahLst/>
            <a:cxnLst/>
            <a:rect l="l" t="t" r="r" b="b"/>
            <a:pathLst>
              <a:path w="422275">
                <a:moveTo>
                  <a:pt x="0" y="0"/>
                </a:moveTo>
                <a:lnTo>
                  <a:pt x="422147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2401823" y="2185416"/>
            <a:ext cx="553720" cy="76200"/>
          </a:xfrm>
          <a:custGeom>
            <a:avLst/>
            <a:gdLst/>
            <a:ahLst/>
            <a:cxnLst/>
            <a:rect l="l" t="t" r="r" b="b"/>
            <a:pathLst>
              <a:path w="553719" h="76200">
                <a:moveTo>
                  <a:pt x="477012" y="0"/>
                </a:moveTo>
                <a:lnTo>
                  <a:pt x="477012" y="76200"/>
                </a:lnTo>
                <a:lnTo>
                  <a:pt x="540512" y="44450"/>
                </a:lnTo>
                <a:lnTo>
                  <a:pt x="489712" y="44450"/>
                </a:lnTo>
                <a:lnTo>
                  <a:pt x="489712" y="31750"/>
                </a:lnTo>
                <a:lnTo>
                  <a:pt x="540512" y="31750"/>
                </a:lnTo>
                <a:lnTo>
                  <a:pt x="477012" y="0"/>
                </a:lnTo>
                <a:close/>
              </a:path>
              <a:path w="553719" h="76200">
                <a:moveTo>
                  <a:pt x="47701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77012" y="44450"/>
                </a:lnTo>
                <a:lnTo>
                  <a:pt x="477012" y="31750"/>
                </a:lnTo>
                <a:close/>
              </a:path>
              <a:path w="553719" h="76200">
                <a:moveTo>
                  <a:pt x="540512" y="31750"/>
                </a:moveTo>
                <a:lnTo>
                  <a:pt x="489712" y="31750"/>
                </a:lnTo>
                <a:lnTo>
                  <a:pt x="489712" y="44450"/>
                </a:lnTo>
                <a:lnTo>
                  <a:pt x="540512" y="44450"/>
                </a:lnTo>
                <a:lnTo>
                  <a:pt x="553212" y="38100"/>
                </a:lnTo>
                <a:lnTo>
                  <a:pt x="540512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4442459" y="2258567"/>
            <a:ext cx="466725" cy="76200"/>
          </a:xfrm>
          <a:custGeom>
            <a:avLst/>
            <a:gdLst/>
            <a:ahLst/>
            <a:cxnLst/>
            <a:rect l="l" t="t" r="r" b="b"/>
            <a:pathLst>
              <a:path w="466725" h="76200">
                <a:moveTo>
                  <a:pt x="390143" y="0"/>
                </a:moveTo>
                <a:lnTo>
                  <a:pt x="390143" y="76200"/>
                </a:lnTo>
                <a:lnTo>
                  <a:pt x="453643" y="44450"/>
                </a:lnTo>
                <a:lnTo>
                  <a:pt x="402843" y="44450"/>
                </a:lnTo>
                <a:lnTo>
                  <a:pt x="402843" y="31750"/>
                </a:lnTo>
                <a:lnTo>
                  <a:pt x="453643" y="31750"/>
                </a:lnTo>
                <a:lnTo>
                  <a:pt x="390143" y="0"/>
                </a:lnTo>
                <a:close/>
              </a:path>
              <a:path w="466725" h="76200">
                <a:moveTo>
                  <a:pt x="39014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90143" y="44450"/>
                </a:lnTo>
                <a:lnTo>
                  <a:pt x="390143" y="31750"/>
                </a:lnTo>
                <a:close/>
              </a:path>
              <a:path w="466725" h="76200">
                <a:moveTo>
                  <a:pt x="453643" y="31750"/>
                </a:moveTo>
                <a:lnTo>
                  <a:pt x="402843" y="31750"/>
                </a:lnTo>
                <a:lnTo>
                  <a:pt x="402843" y="44450"/>
                </a:lnTo>
                <a:lnTo>
                  <a:pt x="453643" y="44450"/>
                </a:lnTo>
                <a:lnTo>
                  <a:pt x="466343" y="38100"/>
                </a:lnTo>
                <a:lnTo>
                  <a:pt x="453643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2444495" y="3497579"/>
            <a:ext cx="437515" cy="76200"/>
          </a:xfrm>
          <a:custGeom>
            <a:avLst/>
            <a:gdLst/>
            <a:ahLst/>
            <a:cxnLst/>
            <a:rect l="l" t="t" r="r" b="b"/>
            <a:pathLst>
              <a:path w="437514" h="76200">
                <a:moveTo>
                  <a:pt x="361188" y="0"/>
                </a:moveTo>
                <a:lnTo>
                  <a:pt x="361188" y="76200"/>
                </a:lnTo>
                <a:lnTo>
                  <a:pt x="424688" y="44450"/>
                </a:lnTo>
                <a:lnTo>
                  <a:pt x="373888" y="44450"/>
                </a:lnTo>
                <a:lnTo>
                  <a:pt x="373888" y="31750"/>
                </a:lnTo>
                <a:lnTo>
                  <a:pt x="424688" y="31750"/>
                </a:lnTo>
                <a:lnTo>
                  <a:pt x="361188" y="0"/>
                </a:lnTo>
                <a:close/>
              </a:path>
              <a:path w="437514" h="76200">
                <a:moveTo>
                  <a:pt x="36118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61188" y="44450"/>
                </a:lnTo>
                <a:lnTo>
                  <a:pt x="361188" y="31750"/>
                </a:lnTo>
                <a:close/>
              </a:path>
              <a:path w="437514" h="76200">
                <a:moveTo>
                  <a:pt x="424688" y="31750"/>
                </a:moveTo>
                <a:lnTo>
                  <a:pt x="373888" y="31750"/>
                </a:lnTo>
                <a:lnTo>
                  <a:pt x="373888" y="44450"/>
                </a:lnTo>
                <a:lnTo>
                  <a:pt x="424688" y="44450"/>
                </a:lnTo>
                <a:lnTo>
                  <a:pt x="437388" y="38100"/>
                </a:lnTo>
                <a:lnTo>
                  <a:pt x="4246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4383023" y="3567684"/>
            <a:ext cx="509270" cy="76200"/>
          </a:xfrm>
          <a:custGeom>
            <a:avLst/>
            <a:gdLst/>
            <a:ahLst/>
            <a:cxnLst/>
            <a:rect l="l" t="t" r="r" b="b"/>
            <a:pathLst>
              <a:path w="509270" h="76200">
                <a:moveTo>
                  <a:pt x="432815" y="0"/>
                </a:moveTo>
                <a:lnTo>
                  <a:pt x="432815" y="76199"/>
                </a:lnTo>
                <a:lnTo>
                  <a:pt x="496316" y="44449"/>
                </a:lnTo>
                <a:lnTo>
                  <a:pt x="445515" y="44449"/>
                </a:lnTo>
                <a:lnTo>
                  <a:pt x="445515" y="31750"/>
                </a:lnTo>
                <a:lnTo>
                  <a:pt x="496315" y="31750"/>
                </a:lnTo>
                <a:lnTo>
                  <a:pt x="432815" y="0"/>
                </a:lnTo>
                <a:close/>
              </a:path>
              <a:path w="509270" h="76200">
                <a:moveTo>
                  <a:pt x="432815" y="31750"/>
                </a:moveTo>
                <a:lnTo>
                  <a:pt x="0" y="31750"/>
                </a:lnTo>
                <a:lnTo>
                  <a:pt x="0" y="44449"/>
                </a:lnTo>
                <a:lnTo>
                  <a:pt x="432815" y="44449"/>
                </a:lnTo>
                <a:lnTo>
                  <a:pt x="432815" y="31750"/>
                </a:lnTo>
                <a:close/>
              </a:path>
              <a:path w="509270" h="76200">
                <a:moveTo>
                  <a:pt x="496315" y="31750"/>
                </a:moveTo>
                <a:lnTo>
                  <a:pt x="445515" y="31750"/>
                </a:lnTo>
                <a:lnTo>
                  <a:pt x="445515" y="44449"/>
                </a:lnTo>
                <a:lnTo>
                  <a:pt x="496316" y="44449"/>
                </a:lnTo>
                <a:lnTo>
                  <a:pt x="509015" y="38100"/>
                </a:lnTo>
                <a:lnTo>
                  <a:pt x="496315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8173211" y="3130295"/>
            <a:ext cx="347980" cy="0"/>
          </a:xfrm>
          <a:custGeom>
            <a:avLst/>
            <a:gdLst/>
            <a:ahLst/>
            <a:cxnLst/>
            <a:rect l="l" t="t" r="r" b="b"/>
            <a:pathLst>
              <a:path w="347979">
                <a:moveTo>
                  <a:pt x="0" y="0"/>
                </a:moveTo>
                <a:lnTo>
                  <a:pt x="347472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2430779" y="3655821"/>
            <a:ext cx="523875" cy="1460500"/>
          </a:xfrm>
          <a:custGeom>
            <a:avLst/>
            <a:gdLst/>
            <a:ahLst/>
            <a:cxnLst/>
            <a:rect l="l" t="t" r="r" b="b"/>
            <a:pathLst>
              <a:path w="523875" h="1460500">
                <a:moveTo>
                  <a:pt x="447675" y="1384300"/>
                </a:moveTo>
                <a:lnTo>
                  <a:pt x="447675" y="1460500"/>
                </a:lnTo>
                <a:lnTo>
                  <a:pt x="511175" y="1428750"/>
                </a:lnTo>
                <a:lnTo>
                  <a:pt x="460375" y="1428750"/>
                </a:lnTo>
                <a:lnTo>
                  <a:pt x="460375" y="1416050"/>
                </a:lnTo>
                <a:lnTo>
                  <a:pt x="511175" y="1416050"/>
                </a:lnTo>
                <a:lnTo>
                  <a:pt x="447675" y="1384300"/>
                </a:lnTo>
                <a:close/>
              </a:path>
              <a:path w="523875" h="1460500">
                <a:moveTo>
                  <a:pt x="255650" y="6350"/>
                </a:moveTo>
                <a:lnTo>
                  <a:pt x="255650" y="1428750"/>
                </a:lnTo>
                <a:lnTo>
                  <a:pt x="447675" y="1428750"/>
                </a:lnTo>
                <a:lnTo>
                  <a:pt x="447675" y="1422400"/>
                </a:lnTo>
                <a:lnTo>
                  <a:pt x="268350" y="1422400"/>
                </a:lnTo>
                <a:lnTo>
                  <a:pt x="262000" y="1416050"/>
                </a:lnTo>
                <a:lnTo>
                  <a:pt x="268350" y="1416050"/>
                </a:lnTo>
                <a:lnTo>
                  <a:pt x="268350" y="12700"/>
                </a:lnTo>
                <a:lnTo>
                  <a:pt x="262000" y="12700"/>
                </a:lnTo>
                <a:lnTo>
                  <a:pt x="255650" y="6350"/>
                </a:lnTo>
                <a:close/>
              </a:path>
              <a:path w="523875" h="1460500">
                <a:moveTo>
                  <a:pt x="511175" y="1416050"/>
                </a:moveTo>
                <a:lnTo>
                  <a:pt x="460375" y="1416050"/>
                </a:lnTo>
                <a:lnTo>
                  <a:pt x="460375" y="1428750"/>
                </a:lnTo>
                <a:lnTo>
                  <a:pt x="511175" y="1428750"/>
                </a:lnTo>
                <a:lnTo>
                  <a:pt x="523875" y="1422400"/>
                </a:lnTo>
                <a:lnTo>
                  <a:pt x="511175" y="1416050"/>
                </a:lnTo>
                <a:close/>
              </a:path>
              <a:path w="523875" h="1460500">
                <a:moveTo>
                  <a:pt x="268350" y="1416050"/>
                </a:moveTo>
                <a:lnTo>
                  <a:pt x="262000" y="1416050"/>
                </a:lnTo>
                <a:lnTo>
                  <a:pt x="268350" y="1422400"/>
                </a:lnTo>
                <a:lnTo>
                  <a:pt x="268350" y="1416050"/>
                </a:lnTo>
                <a:close/>
              </a:path>
              <a:path w="523875" h="1460500">
                <a:moveTo>
                  <a:pt x="447675" y="1416050"/>
                </a:moveTo>
                <a:lnTo>
                  <a:pt x="268350" y="1416050"/>
                </a:lnTo>
                <a:lnTo>
                  <a:pt x="268350" y="1422400"/>
                </a:lnTo>
                <a:lnTo>
                  <a:pt x="447675" y="1422400"/>
                </a:lnTo>
                <a:lnTo>
                  <a:pt x="447675" y="1416050"/>
                </a:lnTo>
                <a:close/>
              </a:path>
              <a:path w="523875" h="1460500">
                <a:moveTo>
                  <a:pt x="268350" y="0"/>
                </a:moveTo>
                <a:lnTo>
                  <a:pt x="0" y="0"/>
                </a:lnTo>
                <a:lnTo>
                  <a:pt x="0" y="12700"/>
                </a:lnTo>
                <a:lnTo>
                  <a:pt x="255650" y="12700"/>
                </a:lnTo>
                <a:lnTo>
                  <a:pt x="255650" y="6350"/>
                </a:lnTo>
                <a:lnTo>
                  <a:pt x="268350" y="6350"/>
                </a:lnTo>
                <a:lnTo>
                  <a:pt x="268350" y="0"/>
                </a:lnTo>
                <a:close/>
              </a:path>
              <a:path w="523875" h="1460500">
                <a:moveTo>
                  <a:pt x="268350" y="6350"/>
                </a:moveTo>
                <a:lnTo>
                  <a:pt x="255650" y="6350"/>
                </a:lnTo>
                <a:lnTo>
                  <a:pt x="262000" y="12700"/>
                </a:lnTo>
                <a:lnTo>
                  <a:pt x="268350" y="12700"/>
                </a:lnTo>
                <a:lnTo>
                  <a:pt x="268350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4442459" y="3773423"/>
            <a:ext cx="436880" cy="1311275"/>
          </a:xfrm>
          <a:custGeom>
            <a:avLst/>
            <a:gdLst/>
            <a:ahLst/>
            <a:cxnLst/>
            <a:rect l="l" t="t" r="r" b="b"/>
            <a:pathLst>
              <a:path w="436879" h="1311275">
                <a:moveTo>
                  <a:pt x="211200" y="1298575"/>
                </a:moveTo>
                <a:lnTo>
                  <a:pt x="0" y="1298575"/>
                </a:lnTo>
                <a:lnTo>
                  <a:pt x="0" y="1311275"/>
                </a:lnTo>
                <a:lnTo>
                  <a:pt x="223900" y="1311275"/>
                </a:lnTo>
                <a:lnTo>
                  <a:pt x="223900" y="1304925"/>
                </a:lnTo>
                <a:lnTo>
                  <a:pt x="211200" y="1304925"/>
                </a:lnTo>
                <a:lnTo>
                  <a:pt x="211200" y="1298575"/>
                </a:lnTo>
                <a:close/>
              </a:path>
              <a:path w="436879" h="1311275">
                <a:moveTo>
                  <a:pt x="360299" y="31750"/>
                </a:moveTo>
                <a:lnTo>
                  <a:pt x="211200" y="31750"/>
                </a:lnTo>
                <a:lnTo>
                  <a:pt x="211200" y="1304925"/>
                </a:lnTo>
                <a:lnTo>
                  <a:pt x="217550" y="1298575"/>
                </a:lnTo>
                <a:lnTo>
                  <a:pt x="223900" y="1298575"/>
                </a:lnTo>
                <a:lnTo>
                  <a:pt x="223900" y="44450"/>
                </a:lnTo>
                <a:lnTo>
                  <a:pt x="217550" y="44450"/>
                </a:lnTo>
                <a:lnTo>
                  <a:pt x="223900" y="38100"/>
                </a:lnTo>
                <a:lnTo>
                  <a:pt x="360299" y="38100"/>
                </a:lnTo>
                <a:lnTo>
                  <a:pt x="360299" y="31750"/>
                </a:lnTo>
                <a:close/>
              </a:path>
              <a:path w="436879" h="1311275">
                <a:moveTo>
                  <a:pt x="223900" y="1298575"/>
                </a:moveTo>
                <a:lnTo>
                  <a:pt x="217550" y="1298575"/>
                </a:lnTo>
                <a:lnTo>
                  <a:pt x="211200" y="1304925"/>
                </a:lnTo>
                <a:lnTo>
                  <a:pt x="223900" y="1304925"/>
                </a:lnTo>
                <a:lnTo>
                  <a:pt x="223900" y="1298575"/>
                </a:lnTo>
                <a:close/>
              </a:path>
              <a:path w="436879" h="1311275">
                <a:moveTo>
                  <a:pt x="360299" y="0"/>
                </a:moveTo>
                <a:lnTo>
                  <a:pt x="360299" y="76200"/>
                </a:lnTo>
                <a:lnTo>
                  <a:pt x="423799" y="44450"/>
                </a:lnTo>
                <a:lnTo>
                  <a:pt x="372999" y="44450"/>
                </a:lnTo>
                <a:lnTo>
                  <a:pt x="372999" y="31750"/>
                </a:lnTo>
                <a:lnTo>
                  <a:pt x="423799" y="31750"/>
                </a:lnTo>
                <a:lnTo>
                  <a:pt x="360299" y="0"/>
                </a:lnTo>
                <a:close/>
              </a:path>
              <a:path w="436879" h="1311275">
                <a:moveTo>
                  <a:pt x="223900" y="38100"/>
                </a:moveTo>
                <a:lnTo>
                  <a:pt x="217550" y="44450"/>
                </a:lnTo>
                <a:lnTo>
                  <a:pt x="223900" y="44450"/>
                </a:lnTo>
                <a:lnTo>
                  <a:pt x="223900" y="38100"/>
                </a:lnTo>
                <a:close/>
              </a:path>
              <a:path w="436879" h="1311275">
                <a:moveTo>
                  <a:pt x="360299" y="38100"/>
                </a:moveTo>
                <a:lnTo>
                  <a:pt x="223900" y="38100"/>
                </a:lnTo>
                <a:lnTo>
                  <a:pt x="223900" y="44450"/>
                </a:lnTo>
                <a:lnTo>
                  <a:pt x="360299" y="44450"/>
                </a:lnTo>
                <a:lnTo>
                  <a:pt x="360299" y="38100"/>
                </a:lnTo>
                <a:close/>
              </a:path>
              <a:path w="436879" h="1311275">
                <a:moveTo>
                  <a:pt x="423799" y="31750"/>
                </a:moveTo>
                <a:lnTo>
                  <a:pt x="372999" y="31750"/>
                </a:lnTo>
                <a:lnTo>
                  <a:pt x="372999" y="44450"/>
                </a:lnTo>
                <a:lnTo>
                  <a:pt x="423799" y="44450"/>
                </a:lnTo>
                <a:lnTo>
                  <a:pt x="436499" y="38100"/>
                </a:lnTo>
                <a:lnTo>
                  <a:pt x="42379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365747" y="3369564"/>
            <a:ext cx="335280" cy="447675"/>
          </a:xfrm>
          <a:custGeom>
            <a:avLst/>
            <a:gdLst/>
            <a:ahLst/>
            <a:cxnLst/>
            <a:rect l="l" t="t" r="r" b="b"/>
            <a:pathLst>
              <a:path w="335279" h="447675">
                <a:moveTo>
                  <a:pt x="160400" y="434975"/>
                </a:moveTo>
                <a:lnTo>
                  <a:pt x="0" y="434975"/>
                </a:lnTo>
                <a:lnTo>
                  <a:pt x="0" y="447675"/>
                </a:lnTo>
                <a:lnTo>
                  <a:pt x="173100" y="447675"/>
                </a:lnTo>
                <a:lnTo>
                  <a:pt x="173100" y="441325"/>
                </a:lnTo>
                <a:lnTo>
                  <a:pt x="160400" y="441325"/>
                </a:lnTo>
                <a:lnTo>
                  <a:pt x="160400" y="434975"/>
                </a:lnTo>
                <a:close/>
              </a:path>
              <a:path w="335279" h="447675">
                <a:moveTo>
                  <a:pt x="258699" y="31750"/>
                </a:moveTo>
                <a:lnTo>
                  <a:pt x="160400" y="31750"/>
                </a:lnTo>
                <a:lnTo>
                  <a:pt x="160400" y="441325"/>
                </a:lnTo>
                <a:lnTo>
                  <a:pt x="166750" y="434975"/>
                </a:lnTo>
                <a:lnTo>
                  <a:pt x="173100" y="434975"/>
                </a:lnTo>
                <a:lnTo>
                  <a:pt x="173100" y="44450"/>
                </a:lnTo>
                <a:lnTo>
                  <a:pt x="166750" y="44450"/>
                </a:lnTo>
                <a:lnTo>
                  <a:pt x="173100" y="38100"/>
                </a:lnTo>
                <a:lnTo>
                  <a:pt x="258699" y="38100"/>
                </a:lnTo>
                <a:lnTo>
                  <a:pt x="258699" y="31750"/>
                </a:lnTo>
                <a:close/>
              </a:path>
              <a:path w="335279" h="447675">
                <a:moveTo>
                  <a:pt x="173100" y="434975"/>
                </a:moveTo>
                <a:lnTo>
                  <a:pt x="166750" y="434975"/>
                </a:lnTo>
                <a:lnTo>
                  <a:pt x="160400" y="441325"/>
                </a:lnTo>
                <a:lnTo>
                  <a:pt x="173100" y="441325"/>
                </a:lnTo>
                <a:lnTo>
                  <a:pt x="173100" y="434975"/>
                </a:lnTo>
                <a:close/>
              </a:path>
              <a:path w="335279" h="447675">
                <a:moveTo>
                  <a:pt x="258699" y="0"/>
                </a:moveTo>
                <a:lnTo>
                  <a:pt x="258699" y="76200"/>
                </a:lnTo>
                <a:lnTo>
                  <a:pt x="322199" y="44450"/>
                </a:lnTo>
                <a:lnTo>
                  <a:pt x="271399" y="44450"/>
                </a:lnTo>
                <a:lnTo>
                  <a:pt x="271399" y="31750"/>
                </a:lnTo>
                <a:lnTo>
                  <a:pt x="322199" y="31750"/>
                </a:lnTo>
                <a:lnTo>
                  <a:pt x="258699" y="0"/>
                </a:lnTo>
                <a:close/>
              </a:path>
              <a:path w="335279" h="447675">
                <a:moveTo>
                  <a:pt x="173100" y="38100"/>
                </a:moveTo>
                <a:lnTo>
                  <a:pt x="166750" y="44450"/>
                </a:lnTo>
                <a:lnTo>
                  <a:pt x="173100" y="44450"/>
                </a:lnTo>
                <a:lnTo>
                  <a:pt x="173100" y="38100"/>
                </a:lnTo>
                <a:close/>
              </a:path>
              <a:path w="335279" h="447675">
                <a:moveTo>
                  <a:pt x="258699" y="38100"/>
                </a:moveTo>
                <a:lnTo>
                  <a:pt x="173100" y="38100"/>
                </a:lnTo>
                <a:lnTo>
                  <a:pt x="173100" y="44450"/>
                </a:lnTo>
                <a:lnTo>
                  <a:pt x="258699" y="44450"/>
                </a:lnTo>
                <a:lnTo>
                  <a:pt x="258699" y="38100"/>
                </a:lnTo>
                <a:close/>
              </a:path>
              <a:path w="335279" h="447675">
                <a:moveTo>
                  <a:pt x="322199" y="31750"/>
                </a:moveTo>
                <a:lnTo>
                  <a:pt x="271399" y="31750"/>
                </a:lnTo>
                <a:lnTo>
                  <a:pt x="271399" y="44450"/>
                </a:lnTo>
                <a:lnTo>
                  <a:pt x="322199" y="44450"/>
                </a:lnTo>
                <a:lnTo>
                  <a:pt x="334899" y="38100"/>
                </a:lnTo>
                <a:lnTo>
                  <a:pt x="322199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396228" y="2313177"/>
            <a:ext cx="290830" cy="561975"/>
          </a:xfrm>
          <a:custGeom>
            <a:avLst/>
            <a:gdLst/>
            <a:ahLst/>
            <a:cxnLst/>
            <a:rect l="l" t="t" r="r" b="b"/>
            <a:pathLst>
              <a:path w="290829" h="561975">
                <a:moveTo>
                  <a:pt x="214249" y="485775"/>
                </a:moveTo>
                <a:lnTo>
                  <a:pt x="214249" y="561975"/>
                </a:lnTo>
                <a:lnTo>
                  <a:pt x="277749" y="530225"/>
                </a:lnTo>
                <a:lnTo>
                  <a:pt x="226949" y="530225"/>
                </a:lnTo>
                <a:lnTo>
                  <a:pt x="226949" y="517525"/>
                </a:lnTo>
                <a:lnTo>
                  <a:pt x="277749" y="517525"/>
                </a:lnTo>
                <a:lnTo>
                  <a:pt x="214249" y="485775"/>
                </a:lnTo>
                <a:close/>
              </a:path>
              <a:path w="290829" h="561975">
                <a:moveTo>
                  <a:pt x="138049" y="6350"/>
                </a:moveTo>
                <a:lnTo>
                  <a:pt x="138049" y="530225"/>
                </a:lnTo>
                <a:lnTo>
                  <a:pt x="214249" y="530225"/>
                </a:lnTo>
                <a:lnTo>
                  <a:pt x="214249" y="523875"/>
                </a:lnTo>
                <a:lnTo>
                  <a:pt x="150749" y="523875"/>
                </a:lnTo>
                <a:lnTo>
                  <a:pt x="144399" y="517525"/>
                </a:lnTo>
                <a:lnTo>
                  <a:pt x="150749" y="517525"/>
                </a:lnTo>
                <a:lnTo>
                  <a:pt x="150749" y="12700"/>
                </a:lnTo>
                <a:lnTo>
                  <a:pt x="144399" y="12700"/>
                </a:lnTo>
                <a:lnTo>
                  <a:pt x="138049" y="6350"/>
                </a:lnTo>
                <a:close/>
              </a:path>
              <a:path w="290829" h="561975">
                <a:moveTo>
                  <a:pt x="277749" y="517525"/>
                </a:moveTo>
                <a:lnTo>
                  <a:pt x="226949" y="517525"/>
                </a:lnTo>
                <a:lnTo>
                  <a:pt x="226949" y="530225"/>
                </a:lnTo>
                <a:lnTo>
                  <a:pt x="277749" y="530225"/>
                </a:lnTo>
                <a:lnTo>
                  <a:pt x="290449" y="523875"/>
                </a:lnTo>
                <a:lnTo>
                  <a:pt x="277749" y="517525"/>
                </a:lnTo>
                <a:close/>
              </a:path>
              <a:path w="290829" h="561975">
                <a:moveTo>
                  <a:pt x="150749" y="517525"/>
                </a:moveTo>
                <a:lnTo>
                  <a:pt x="144399" y="517525"/>
                </a:lnTo>
                <a:lnTo>
                  <a:pt x="150749" y="523875"/>
                </a:lnTo>
                <a:lnTo>
                  <a:pt x="150749" y="517525"/>
                </a:lnTo>
                <a:close/>
              </a:path>
              <a:path w="290829" h="561975">
                <a:moveTo>
                  <a:pt x="214249" y="517525"/>
                </a:moveTo>
                <a:lnTo>
                  <a:pt x="150749" y="517525"/>
                </a:lnTo>
                <a:lnTo>
                  <a:pt x="150749" y="523875"/>
                </a:lnTo>
                <a:lnTo>
                  <a:pt x="214249" y="523875"/>
                </a:lnTo>
                <a:lnTo>
                  <a:pt x="214249" y="517525"/>
                </a:lnTo>
                <a:close/>
              </a:path>
              <a:path w="290829" h="561975">
                <a:moveTo>
                  <a:pt x="150749" y="0"/>
                </a:moveTo>
                <a:lnTo>
                  <a:pt x="0" y="0"/>
                </a:lnTo>
                <a:lnTo>
                  <a:pt x="0" y="12700"/>
                </a:lnTo>
                <a:lnTo>
                  <a:pt x="138049" y="12700"/>
                </a:lnTo>
                <a:lnTo>
                  <a:pt x="138049" y="6350"/>
                </a:lnTo>
                <a:lnTo>
                  <a:pt x="150749" y="6350"/>
                </a:lnTo>
                <a:lnTo>
                  <a:pt x="150749" y="0"/>
                </a:lnTo>
                <a:close/>
              </a:path>
              <a:path w="290829" h="561975">
                <a:moveTo>
                  <a:pt x="150749" y="6350"/>
                </a:moveTo>
                <a:lnTo>
                  <a:pt x="138049" y="6350"/>
                </a:lnTo>
                <a:lnTo>
                  <a:pt x="144399" y="12700"/>
                </a:lnTo>
                <a:lnTo>
                  <a:pt x="150749" y="12700"/>
                </a:lnTo>
                <a:lnTo>
                  <a:pt x="150749" y="63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8600313" y="2925902"/>
            <a:ext cx="243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F</a:t>
            </a:r>
            <a:r>
              <a:rPr sz="700" spc="-20" dirty="0">
                <a:latin typeface="Times New Roman"/>
                <a:cs typeface="Times New Roman"/>
              </a:rPr>
              <a:t>i</a:t>
            </a:r>
            <a:r>
              <a:rPr sz="700" spc="-5" dirty="0">
                <a:latin typeface="Times New Roman"/>
                <a:cs typeface="Times New Roman"/>
              </a:rPr>
              <a:t>n</a:t>
            </a:r>
            <a:r>
              <a:rPr sz="700" spc="-25" dirty="0">
                <a:latin typeface="Times New Roman"/>
                <a:cs typeface="Times New Roman"/>
              </a:rPr>
              <a:t>i</a:t>
            </a:r>
            <a:r>
              <a:rPr sz="700" spc="10" dirty="0">
                <a:latin typeface="Times New Roman"/>
                <a:cs typeface="Times New Roman"/>
              </a:rPr>
              <a:t>s</a:t>
            </a:r>
            <a:r>
              <a:rPr sz="700" spc="-5" dirty="0">
                <a:latin typeface="Times New Roman"/>
                <a:cs typeface="Times New Roman"/>
              </a:rPr>
              <a:t>h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183642" y="5791961"/>
            <a:ext cx="8686800" cy="757555"/>
          </a:xfrm>
          <a:prstGeom prst="rect">
            <a:avLst/>
          </a:prstGeom>
          <a:ln w="19811">
            <a:solidFill>
              <a:srgbClr val="BED2E3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90170" marR="205104">
              <a:lnSpc>
                <a:spcPts val="2590"/>
              </a:lnSpc>
              <a:spcBef>
                <a:spcPts val="475"/>
              </a:spcBef>
            </a:pPr>
            <a:r>
              <a:rPr sz="2400" dirty="0">
                <a:latin typeface="隶书"/>
                <a:cs typeface="隶书"/>
              </a:rPr>
              <a:t>当一个任务有多个后置任务时，选择其后置任务中最</a:t>
            </a:r>
            <a:r>
              <a:rPr sz="2400" spc="5" dirty="0">
                <a:latin typeface="隶书"/>
                <a:cs typeface="隶书"/>
              </a:rPr>
              <a:t>小</a:t>
            </a:r>
            <a:r>
              <a:rPr sz="2400" dirty="0">
                <a:latin typeface="隶书"/>
                <a:cs typeface="隶书"/>
              </a:rPr>
              <a:t>LS减Lag 作为其LF。</a:t>
            </a:r>
            <a:endParaRPr sz="2400">
              <a:latin typeface="隶书"/>
              <a:cs typeface="隶书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109461" y="4523994"/>
            <a:ext cx="1881505" cy="1229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DD8046"/>
                </a:solidFill>
                <a:latin typeface="Arial Narrow"/>
                <a:cs typeface="Arial Narrow"/>
              </a:rPr>
              <a:t>CP:A-&gt;C-&gt;G-&gt;H</a:t>
            </a:r>
            <a:endParaRPr sz="2400">
              <a:latin typeface="Arial Narrow"/>
              <a:cs typeface="Arial Narro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200">
              <a:latin typeface="Times New Roman"/>
              <a:cs typeface="Times New Roman"/>
            </a:endParaRPr>
          </a:p>
          <a:p>
            <a:pPr marR="68580" algn="ctr">
              <a:lnSpc>
                <a:spcPct val="100000"/>
              </a:lnSpc>
            </a:pPr>
            <a:r>
              <a:rPr sz="2400" b="1" dirty="0">
                <a:solidFill>
                  <a:srgbClr val="DD8046"/>
                </a:solidFill>
                <a:latin typeface="Arial Narrow"/>
                <a:cs typeface="Arial Narrow"/>
              </a:rPr>
              <a:t>Cp</a:t>
            </a:r>
            <a:r>
              <a:rPr sz="2400" b="1" spc="-15" dirty="0">
                <a:solidFill>
                  <a:srgbClr val="DD8046"/>
                </a:solidFill>
                <a:latin typeface="Arial Narrow"/>
                <a:cs typeface="Arial Narrow"/>
              </a:rPr>
              <a:t> </a:t>
            </a:r>
            <a:r>
              <a:rPr sz="2400" b="1" spc="-5" dirty="0">
                <a:solidFill>
                  <a:srgbClr val="DD8046"/>
                </a:solidFill>
                <a:latin typeface="Arial Narrow"/>
                <a:cs typeface="Arial Narrow"/>
              </a:rPr>
              <a:t>Path:18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232663"/>
            <a:ext cx="22644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课堂练习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5000" y="685800"/>
            <a:ext cx="3924299" cy="52120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DC044C4-8FC9-F34C-96D5-85EEA58D252C}"/>
              </a:ext>
            </a:extLst>
          </p:cNvPr>
          <p:cNvSpPr txBox="1">
            <a:spLocks noChangeArrowheads="1"/>
          </p:cNvSpPr>
          <p:nvPr/>
        </p:nvSpPr>
        <p:spPr>
          <a:xfrm>
            <a:off x="453644" y="1387284"/>
            <a:ext cx="8229600" cy="55313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700" b="0" i="0">
                <a:solidFill>
                  <a:schemeClr val="tx1"/>
                </a:solidFill>
                <a:latin typeface="隶书"/>
                <a:ea typeface="+mn-ea"/>
                <a:cs typeface="隶书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kern="0" dirty="0">
                <a:latin typeface="宋体" panose="02010600030101010101" pitchFamily="2" charset="-122"/>
              </a:rPr>
              <a:t>作为项目经理，你需要给一个软件项目做计划安排，经过任务分解后得到任务</a:t>
            </a:r>
            <a:r>
              <a:rPr lang="en-US" altLang="zh-CN" kern="0" dirty="0">
                <a:latin typeface="Times New Roman" panose="02020603050405020304" pitchFamily="18" charset="0"/>
              </a:rPr>
              <a:t>A</a:t>
            </a:r>
            <a:r>
              <a:rPr lang="zh-CN" altLang="en-US" kern="0" dirty="0">
                <a:latin typeface="宋体" panose="02010600030101010101" pitchFamily="2" charset="-122"/>
              </a:rPr>
              <a:t>，</a:t>
            </a:r>
            <a:r>
              <a:rPr lang="en-US" altLang="zh-CN" kern="0" dirty="0">
                <a:latin typeface="Times New Roman" panose="02020603050405020304" pitchFamily="18" charset="0"/>
              </a:rPr>
              <a:t>B</a:t>
            </a:r>
            <a:r>
              <a:rPr lang="zh-CN" altLang="en-US" kern="0" dirty="0">
                <a:latin typeface="宋体" panose="02010600030101010101" pitchFamily="2" charset="-122"/>
              </a:rPr>
              <a:t>，</a:t>
            </a:r>
            <a:r>
              <a:rPr lang="en-US" altLang="zh-CN" kern="0" dirty="0">
                <a:latin typeface="Times New Roman" panose="02020603050405020304" pitchFamily="18" charset="0"/>
              </a:rPr>
              <a:t>C</a:t>
            </a:r>
            <a:r>
              <a:rPr lang="zh-CN" altLang="en-US" kern="0" dirty="0">
                <a:latin typeface="宋体" panose="02010600030101010101" pitchFamily="2" charset="-122"/>
              </a:rPr>
              <a:t>，</a:t>
            </a:r>
            <a:r>
              <a:rPr lang="en-US" altLang="zh-CN" kern="0" dirty="0">
                <a:latin typeface="Times New Roman" panose="02020603050405020304" pitchFamily="18" charset="0"/>
              </a:rPr>
              <a:t>D</a:t>
            </a:r>
            <a:r>
              <a:rPr lang="zh-CN" altLang="en-US" kern="0" dirty="0">
                <a:latin typeface="宋体" panose="02010600030101010101" pitchFamily="2" charset="-122"/>
              </a:rPr>
              <a:t>，</a:t>
            </a:r>
            <a:r>
              <a:rPr lang="en-US" altLang="zh-CN" kern="0" dirty="0">
                <a:latin typeface="Times New Roman" panose="02020603050405020304" pitchFamily="18" charset="0"/>
              </a:rPr>
              <a:t>E</a:t>
            </a:r>
            <a:r>
              <a:rPr lang="zh-CN" altLang="en-US" kern="0" dirty="0">
                <a:latin typeface="宋体" panose="02010600030101010101" pitchFamily="2" charset="-122"/>
              </a:rPr>
              <a:t>，</a:t>
            </a:r>
            <a:r>
              <a:rPr lang="en-US" altLang="zh-CN" kern="0" dirty="0">
                <a:latin typeface="Times New Roman" panose="02020603050405020304" pitchFamily="18" charset="0"/>
              </a:rPr>
              <a:t>F</a:t>
            </a:r>
            <a:r>
              <a:rPr lang="zh-CN" altLang="en-US" kern="0" dirty="0">
                <a:latin typeface="宋体" panose="02010600030101010101" pitchFamily="2" charset="-122"/>
              </a:rPr>
              <a:t>，</a:t>
            </a:r>
            <a:r>
              <a:rPr lang="en-US" altLang="zh-CN" kern="0" dirty="0">
                <a:latin typeface="Times New Roman" panose="02020603050405020304" pitchFamily="18" charset="0"/>
              </a:rPr>
              <a:t>G</a:t>
            </a:r>
            <a:r>
              <a:rPr lang="zh-CN" altLang="en-US" kern="0" dirty="0">
                <a:latin typeface="宋体" panose="02010600030101010101" pitchFamily="2" charset="-122"/>
              </a:rPr>
              <a:t>，假设各个任务之间没有滞后和超前，下图是这个项目的</a:t>
            </a:r>
            <a:r>
              <a:rPr lang="en-US" altLang="zh-CN" kern="0" dirty="0">
                <a:latin typeface="Times New Roman" panose="02020603050405020304" pitchFamily="18" charset="0"/>
              </a:rPr>
              <a:t>PDM</a:t>
            </a:r>
            <a:r>
              <a:rPr lang="zh-CN" altLang="en-US" kern="0" dirty="0">
                <a:latin typeface="宋体" panose="02010600030101010101" pitchFamily="2" charset="-122"/>
              </a:rPr>
              <a:t>网络图。通过历时估计已经估算出每个任务的工期，现已标识在</a:t>
            </a:r>
            <a:r>
              <a:rPr lang="en-US" altLang="zh-CN" kern="0" dirty="0">
                <a:latin typeface="Times New Roman" panose="02020603050405020304" pitchFamily="18" charset="0"/>
              </a:rPr>
              <a:t>PDM</a:t>
            </a:r>
            <a:r>
              <a:rPr lang="zh-CN" altLang="en-US" kern="0" dirty="0">
                <a:latin typeface="宋体" panose="02010600030101010101" pitchFamily="2" charset="-122"/>
              </a:rPr>
              <a:t>网络图上。假设项目的最早开工日期是第０天，请计算每个任务的最早开始时间，最晚开始时间，最早完成时间，最晚完成时间，同时确定关键路径，并计算关键路径的长度，计算任务</a:t>
            </a:r>
            <a:r>
              <a:rPr lang="en-US" altLang="zh-CN" kern="0" dirty="0">
                <a:latin typeface="Times New Roman" panose="02020603050405020304" pitchFamily="18" charset="0"/>
              </a:rPr>
              <a:t>F</a:t>
            </a:r>
            <a:r>
              <a:rPr lang="zh-CN" altLang="en-US" kern="0" dirty="0">
                <a:latin typeface="宋体" panose="02010600030101010101" pitchFamily="2" charset="-122"/>
              </a:rPr>
              <a:t>的自由浮动和总浮动</a:t>
            </a:r>
            <a:r>
              <a:rPr lang="en-US" altLang="zh-CN" kern="0" dirty="0">
                <a:latin typeface="Times New Roman" panose="02020603050405020304" pitchFamily="18" charset="0"/>
              </a:rPr>
              <a:t>.</a:t>
            </a:r>
            <a:endParaRPr lang="en-US" altLang="zh-CN" kern="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88451" y="2625598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8826" y="264032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8451" y="138417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2884" y="1369822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63256" y="1655064"/>
            <a:ext cx="1249680" cy="1010919"/>
          </a:xfrm>
          <a:custGeom>
            <a:avLst/>
            <a:gdLst/>
            <a:ahLst/>
            <a:cxnLst/>
            <a:rect l="l" t="t" r="r" b="b"/>
            <a:pathLst>
              <a:path w="1249679" h="1010919">
                <a:moveTo>
                  <a:pt x="0" y="1010412"/>
                </a:moveTo>
                <a:lnTo>
                  <a:pt x="1249679" y="1010412"/>
                </a:lnTo>
                <a:lnTo>
                  <a:pt x="1249679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763256" y="1664207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560307" y="1664207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773923" y="2377439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70976" y="238506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7758683" y="1645920"/>
          <a:ext cx="1249043" cy="1010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005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ts val="1070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ts val="135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1032154" y="2696717"/>
            <a:ext cx="197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LF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2605" y="2701798"/>
            <a:ext cx="2324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LS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32154" y="1454911"/>
            <a:ext cx="203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EF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6639" y="1268729"/>
            <a:ext cx="266700" cy="402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">
              <a:lnSpc>
                <a:spcPts val="1365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105</a:t>
            </a:r>
            <a:endParaRPr sz="1200">
              <a:latin typeface="Arial Narrow"/>
              <a:cs typeface="Arial Narrow"/>
            </a:endParaRPr>
          </a:p>
          <a:p>
            <a:pPr marL="12700">
              <a:lnSpc>
                <a:spcPts val="1605"/>
              </a:lnSpc>
            </a:pPr>
            <a:r>
              <a:rPr sz="1400" spc="-10" dirty="0">
                <a:latin typeface="Times New Roman"/>
                <a:cs typeface="Times New Roman"/>
              </a:rPr>
              <a:t>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8204" y="1749551"/>
            <a:ext cx="1249680" cy="1010919"/>
          </a:xfrm>
          <a:custGeom>
            <a:avLst/>
            <a:gdLst/>
            <a:ahLst/>
            <a:cxnLst/>
            <a:rect l="l" t="t" r="r" b="b"/>
            <a:pathLst>
              <a:path w="1249680" h="1010919">
                <a:moveTo>
                  <a:pt x="0" y="1010412"/>
                </a:moveTo>
                <a:lnTo>
                  <a:pt x="1249680" y="1010412"/>
                </a:lnTo>
                <a:lnTo>
                  <a:pt x="1249680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204" y="1757172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8" y="289560"/>
                </a:lnTo>
                <a:lnTo>
                  <a:pt x="45262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05255" y="1757172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8" y="289560"/>
                </a:lnTo>
                <a:lnTo>
                  <a:pt x="45262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18871" y="2470404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8" y="289560"/>
                </a:lnTo>
                <a:lnTo>
                  <a:pt x="45262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15924" y="2479548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89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103631" y="1741170"/>
          <a:ext cx="1249043" cy="1010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3">
                <a:tc gridSpan="3"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ts val="1019"/>
                        </a:lnSpc>
                      </a:pPr>
                      <a:r>
                        <a:rPr sz="900" spc="-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9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900" dirty="0">
                          <a:latin typeface="Times New Roman"/>
                          <a:cs typeface="Times New Roman"/>
                        </a:rPr>
                        <a:t>A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object 22"/>
          <p:cNvSpPr txBox="1"/>
          <p:nvPr/>
        </p:nvSpPr>
        <p:spPr>
          <a:xfrm>
            <a:off x="3324225" y="1402207"/>
            <a:ext cx="197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LF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13838" y="1407413"/>
            <a:ext cx="23241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Times New Roman"/>
                <a:cs typeface="Times New Roman"/>
              </a:rPr>
              <a:t>LS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24225" y="159257"/>
            <a:ext cx="2032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EF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77770" y="135762"/>
            <a:ext cx="2324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Times New Roman"/>
                <a:cs typeface="Times New Roman"/>
              </a:rPr>
              <a:t>ES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398776" y="454151"/>
            <a:ext cx="1252855" cy="1012190"/>
          </a:xfrm>
          <a:custGeom>
            <a:avLst/>
            <a:gdLst/>
            <a:ahLst/>
            <a:cxnLst/>
            <a:rect l="l" t="t" r="r" b="b"/>
            <a:pathLst>
              <a:path w="1252854" h="1012190">
                <a:moveTo>
                  <a:pt x="0" y="1011936"/>
                </a:moveTo>
                <a:lnTo>
                  <a:pt x="1252727" y="1011936"/>
                </a:lnTo>
                <a:lnTo>
                  <a:pt x="1252727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398776" y="454151"/>
            <a:ext cx="1252855" cy="1012190"/>
          </a:xfrm>
          <a:custGeom>
            <a:avLst/>
            <a:gdLst/>
            <a:ahLst/>
            <a:cxnLst/>
            <a:rect l="l" t="t" r="r" b="b"/>
            <a:pathLst>
              <a:path w="1252854" h="1012190">
                <a:moveTo>
                  <a:pt x="0" y="1011936"/>
                </a:moveTo>
                <a:lnTo>
                  <a:pt x="1252727" y="1011936"/>
                </a:lnTo>
                <a:lnTo>
                  <a:pt x="1252727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661285" y="701751"/>
            <a:ext cx="72834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5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Duration=6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1350"/>
              </a:lnSpc>
            </a:pPr>
            <a:r>
              <a:rPr sz="1200" spc="-25" dirty="0">
                <a:latin typeface="Times New Roman"/>
                <a:cs typeface="Times New Roman"/>
              </a:rPr>
              <a:t>Task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98776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398776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197351" y="463295"/>
            <a:ext cx="454659" cy="288290"/>
          </a:xfrm>
          <a:custGeom>
            <a:avLst/>
            <a:gdLst/>
            <a:ahLst/>
            <a:cxnLst/>
            <a:rect l="l" t="t" r="r" b="b"/>
            <a:pathLst>
              <a:path w="454660" h="288290">
                <a:moveTo>
                  <a:pt x="0" y="288036"/>
                </a:moveTo>
                <a:lnTo>
                  <a:pt x="454151" y="288036"/>
                </a:lnTo>
                <a:lnTo>
                  <a:pt x="454151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197351" y="463295"/>
            <a:ext cx="454659" cy="288290"/>
          </a:xfrm>
          <a:custGeom>
            <a:avLst/>
            <a:gdLst/>
            <a:ahLst/>
            <a:cxnLst/>
            <a:rect l="l" t="t" r="r" b="b"/>
            <a:pathLst>
              <a:path w="454660" h="288290">
                <a:moveTo>
                  <a:pt x="0" y="288036"/>
                </a:moveTo>
                <a:lnTo>
                  <a:pt x="454151" y="288036"/>
                </a:lnTo>
                <a:lnTo>
                  <a:pt x="454151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409444" y="1176527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59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409444" y="1176527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59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208020" y="11856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208020" y="11856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238115" y="142506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28871" y="143941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238115" y="18211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92929" y="167766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312920" y="454151"/>
            <a:ext cx="1251585" cy="1012190"/>
          </a:xfrm>
          <a:custGeom>
            <a:avLst/>
            <a:gdLst/>
            <a:ahLst/>
            <a:cxnLst/>
            <a:rect l="l" t="t" r="r" b="b"/>
            <a:pathLst>
              <a:path w="1251585" h="1012190">
                <a:moveTo>
                  <a:pt x="0" y="1011936"/>
                </a:moveTo>
                <a:lnTo>
                  <a:pt x="1251203" y="1011936"/>
                </a:lnTo>
                <a:lnTo>
                  <a:pt x="1251203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312920" y="454151"/>
            <a:ext cx="1251585" cy="1012190"/>
          </a:xfrm>
          <a:custGeom>
            <a:avLst/>
            <a:gdLst/>
            <a:ahLst/>
            <a:cxnLst/>
            <a:rect l="l" t="t" r="r" b="b"/>
            <a:pathLst>
              <a:path w="1251585" h="1012190">
                <a:moveTo>
                  <a:pt x="0" y="1011936"/>
                </a:moveTo>
                <a:lnTo>
                  <a:pt x="1251203" y="1011936"/>
                </a:lnTo>
                <a:lnTo>
                  <a:pt x="1251203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574540" y="701751"/>
            <a:ext cx="72834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5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Duration=7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1350"/>
              </a:lnSpc>
            </a:pPr>
            <a:r>
              <a:rPr sz="1200" spc="-25" dirty="0">
                <a:latin typeface="Times New Roman"/>
                <a:cs typeface="Times New Roman"/>
              </a:rPr>
              <a:t>Task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4312920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312920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111496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111496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325111" y="1176527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59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325111" y="1176527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59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120640" y="11856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120640" y="11856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7005319" y="142506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95821" y="1439417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005319" y="18211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159753" y="167766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080759" y="454151"/>
            <a:ext cx="1249680" cy="1012190"/>
          </a:xfrm>
          <a:custGeom>
            <a:avLst/>
            <a:gdLst/>
            <a:ahLst/>
            <a:cxnLst/>
            <a:rect l="l" t="t" r="r" b="b"/>
            <a:pathLst>
              <a:path w="1249679" h="1012190">
                <a:moveTo>
                  <a:pt x="0" y="1011936"/>
                </a:moveTo>
                <a:lnTo>
                  <a:pt x="1249680" y="1011936"/>
                </a:lnTo>
                <a:lnTo>
                  <a:pt x="1249680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080759" y="454151"/>
            <a:ext cx="1249680" cy="1012190"/>
          </a:xfrm>
          <a:custGeom>
            <a:avLst/>
            <a:gdLst/>
            <a:ahLst/>
            <a:cxnLst/>
            <a:rect l="l" t="t" r="r" b="b"/>
            <a:pathLst>
              <a:path w="1249679" h="1012190">
                <a:moveTo>
                  <a:pt x="0" y="1011936"/>
                </a:moveTo>
                <a:lnTo>
                  <a:pt x="1249680" y="1011936"/>
                </a:lnTo>
                <a:lnTo>
                  <a:pt x="1249680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6341745" y="701751"/>
            <a:ext cx="728345" cy="368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5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Duration=5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1350"/>
              </a:lnSpc>
            </a:pPr>
            <a:r>
              <a:rPr sz="1200" spc="-25" dirty="0">
                <a:latin typeface="Times New Roman"/>
                <a:cs typeface="Times New Roman"/>
              </a:rPr>
              <a:t>Task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6080759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080759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6877811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877811" y="46329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091428" y="1176527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59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091428" y="1176527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59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888480" y="11856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888480" y="11856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90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3470909" y="427794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2661666" y="429285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470909" y="303555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625598" y="302132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546604" y="3307079"/>
            <a:ext cx="1249680" cy="1010919"/>
          </a:xfrm>
          <a:custGeom>
            <a:avLst/>
            <a:gdLst/>
            <a:ahLst/>
            <a:cxnLst/>
            <a:rect l="l" t="t" r="r" b="b"/>
            <a:pathLst>
              <a:path w="1249679" h="1010920">
                <a:moveTo>
                  <a:pt x="0" y="1010412"/>
                </a:moveTo>
                <a:lnTo>
                  <a:pt x="1249680" y="1010412"/>
                </a:lnTo>
                <a:lnTo>
                  <a:pt x="1249680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2546604" y="3307079"/>
            <a:ext cx="1249680" cy="1010919"/>
          </a:xfrm>
          <a:custGeom>
            <a:avLst/>
            <a:gdLst/>
            <a:ahLst/>
            <a:cxnLst/>
            <a:rect l="l" t="t" r="r" b="b"/>
            <a:pathLst>
              <a:path w="1249679" h="1010920">
                <a:moveTo>
                  <a:pt x="0" y="1010412"/>
                </a:moveTo>
                <a:lnTo>
                  <a:pt x="1249680" y="1010412"/>
                </a:lnTo>
                <a:lnTo>
                  <a:pt x="1249680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2551176" y="3555619"/>
            <a:ext cx="1240790" cy="36830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411480" marR="261620" indent="-143510">
              <a:lnSpc>
                <a:spcPts val="1260"/>
              </a:lnSpc>
              <a:spcBef>
                <a:spcPts val="290"/>
              </a:spcBef>
            </a:pPr>
            <a:r>
              <a:rPr sz="1200" spc="-5" dirty="0">
                <a:latin typeface="Times New Roman"/>
                <a:cs typeface="Times New Roman"/>
              </a:rPr>
              <a:t>Du</a:t>
            </a:r>
            <a:r>
              <a:rPr sz="1200" spc="-10" dirty="0">
                <a:latin typeface="Times New Roman"/>
                <a:cs typeface="Times New Roman"/>
              </a:rPr>
              <a:t>r</a:t>
            </a:r>
            <a:r>
              <a:rPr sz="1200" spc="-5" dirty="0">
                <a:latin typeface="Times New Roman"/>
                <a:cs typeface="Times New Roman"/>
              </a:rPr>
              <a:t>a</a:t>
            </a:r>
            <a:r>
              <a:rPr sz="1200" dirty="0">
                <a:latin typeface="Times New Roman"/>
                <a:cs typeface="Times New Roman"/>
              </a:rPr>
              <a:t>tion</a:t>
            </a:r>
            <a:r>
              <a:rPr sz="1200" spc="-5" dirty="0">
                <a:latin typeface="Times New Roman"/>
                <a:cs typeface="Times New Roman"/>
              </a:rPr>
              <a:t>=</a:t>
            </a:r>
            <a:r>
              <a:rPr sz="1200" dirty="0">
                <a:latin typeface="Times New Roman"/>
                <a:cs typeface="Times New Roman"/>
              </a:rPr>
              <a:t>8  </a:t>
            </a:r>
            <a:r>
              <a:rPr sz="1200" spc="-25" dirty="0">
                <a:latin typeface="Times New Roman"/>
                <a:cs typeface="Times New Roman"/>
              </a:rPr>
              <a:t>Task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2546604" y="331470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8" y="289560"/>
                </a:lnTo>
                <a:lnTo>
                  <a:pt x="45262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2546604" y="331470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8" y="289560"/>
                </a:lnTo>
                <a:lnTo>
                  <a:pt x="452628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3343655" y="331470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3343655" y="331470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2557272" y="402945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2557272" y="402945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3354323" y="4038600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3354323" y="4038600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268592" y="427794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5459095" y="429285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268592" y="303555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423153" y="3021329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5343144" y="3307079"/>
            <a:ext cx="1251585" cy="1010919"/>
          </a:xfrm>
          <a:custGeom>
            <a:avLst/>
            <a:gdLst/>
            <a:ahLst/>
            <a:cxnLst/>
            <a:rect l="l" t="t" r="r" b="b"/>
            <a:pathLst>
              <a:path w="1251584" h="1010920">
                <a:moveTo>
                  <a:pt x="0" y="1010412"/>
                </a:moveTo>
                <a:lnTo>
                  <a:pt x="1251203" y="1010412"/>
                </a:lnTo>
                <a:lnTo>
                  <a:pt x="1251203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5343144" y="331470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6141720" y="3314700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355335" y="402945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6150864" y="4038600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1" name="object 91"/>
          <p:cNvGraphicFramePr>
            <a:graphicFrameLocks noGrp="1"/>
          </p:cNvGraphicFramePr>
          <p:nvPr/>
        </p:nvGraphicFramePr>
        <p:xfrm>
          <a:off x="5338571" y="3298697"/>
          <a:ext cx="1250315" cy="1010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7">
                <a:tc gridSpan="3"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 algn="ctr">
                        <a:lnSpc>
                          <a:spcPts val="135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2" name="object 92"/>
          <p:cNvSpPr/>
          <p:nvPr/>
        </p:nvSpPr>
        <p:spPr>
          <a:xfrm>
            <a:off x="1363725" y="763523"/>
            <a:ext cx="1035050" cy="1208405"/>
          </a:xfrm>
          <a:custGeom>
            <a:avLst/>
            <a:gdLst/>
            <a:ahLst/>
            <a:cxnLst/>
            <a:rect l="l" t="t" r="r" b="b"/>
            <a:pathLst>
              <a:path w="1035050" h="1208405">
                <a:moveTo>
                  <a:pt x="980660" y="53755"/>
                </a:moveTo>
                <a:lnTo>
                  <a:pt x="0" y="1199768"/>
                </a:lnTo>
                <a:lnTo>
                  <a:pt x="9652" y="1208151"/>
                </a:lnTo>
                <a:lnTo>
                  <a:pt x="990312" y="62010"/>
                </a:lnTo>
                <a:lnTo>
                  <a:pt x="980660" y="53755"/>
                </a:lnTo>
                <a:close/>
              </a:path>
              <a:path w="1035050" h="1208405">
                <a:moveTo>
                  <a:pt x="1024083" y="44068"/>
                </a:moveTo>
                <a:lnTo>
                  <a:pt x="988949" y="44068"/>
                </a:lnTo>
                <a:lnTo>
                  <a:pt x="998601" y="52324"/>
                </a:lnTo>
                <a:lnTo>
                  <a:pt x="990312" y="62010"/>
                </a:lnTo>
                <a:lnTo>
                  <a:pt x="1014476" y="82676"/>
                </a:lnTo>
                <a:lnTo>
                  <a:pt x="1024083" y="44068"/>
                </a:lnTo>
                <a:close/>
              </a:path>
              <a:path w="1035050" h="1208405">
                <a:moveTo>
                  <a:pt x="988949" y="44068"/>
                </a:moveTo>
                <a:lnTo>
                  <a:pt x="980660" y="53755"/>
                </a:lnTo>
                <a:lnTo>
                  <a:pt x="990312" y="62010"/>
                </a:lnTo>
                <a:lnTo>
                  <a:pt x="998601" y="52324"/>
                </a:lnTo>
                <a:lnTo>
                  <a:pt x="988949" y="44068"/>
                </a:lnTo>
                <a:close/>
              </a:path>
              <a:path w="1035050" h="1208405">
                <a:moveTo>
                  <a:pt x="1035050" y="0"/>
                </a:moveTo>
                <a:lnTo>
                  <a:pt x="956563" y="33147"/>
                </a:lnTo>
                <a:lnTo>
                  <a:pt x="980660" y="53755"/>
                </a:lnTo>
                <a:lnTo>
                  <a:pt x="988949" y="44068"/>
                </a:lnTo>
                <a:lnTo>
                  <a:pt x="1024083" y="44068"/>
                </a:lnTo>
                <a:lnTo>
                  <a:pt x="1035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3576828" y="725423"/>
            <a:ext cx="736600" cy="76200"/>
          </a:xfrm>
          <a:custGeom>
            <a:avLst/>
            <a:gdLst/>
            <a:ahLst/>
            <a:cxnLst/>
            <a:rect l="l" t="t" r="r" b="b"/>
            <a:pathLst>
              <a:path w="736600" h="76200">
                <a:moveTo>
                  <a:pt x="659892" y="0"/>
                </a:moveTo>
                <a:lnTo>
                  <a:pt x="659892" y="76200"/>
                </a:lnTo>
                <a:lnTo>
                  <a:pt x="723392" y="44450"/>
                </a:lnTo>
                <a:lnTo>
                  <a:pt x="672592" y="44450"/>
                </a:lnTo>
                <a:lnTo>
                  <a:pt x="672592" y="31750"/>
                </a:lnTo>
                <a:lnTo>
                  <a:pt x="723392" y="31750"/>
                </a:lnTo>
                <a:lnTo>
                  <a:pt x="659892" y="0"/>
                </a:lnTo>
                <a:close/>
              </a:path>
              <a:path w="736600" h="76200">
                <a:moveTo>
                  <a:pt x="65989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59892" y="44450"/>
                </a:lnTo>
                <a:lnTo>
                  <a:pt x="659892" y="31750"/>
                </a:lnTo>
                <a:close/>
              </a:path>
              <a:path w="736600" h="76200">
                <a:moveTo>
                  <a:pt x="723392" y="31750"/>
                </a:moveTo>
                <a:lnTo>
                  <a:pt x="672592" y="31750"/>
                </a:lnTo>
                <a:lnTo>
                  <a:pt x="672592" y="44450"/>
                </a:lnTo>
                <a:lnTo>
                  <a:pt x="723392" y="44450"/>
                </a:lnTo>
                <a:lnTo>
                  <a:pt x="736092" y="38100"/>
                </a:lnTo>
                <a:lnTo>
                  <a:pt x="723392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490971" y="725423"/>
            <a:ext cx="589915" cy="76200"/>
          </a:xfrm>
          <a:custGeom>
            <a:avLst/>
            <a:gdLst/>
            <a:ahLst/>
            <a:cxnLst/>
            <a:rect l="l" t="t" r="r" b="b"/>
            <a:pathLst>
              <a:path w="589914" h="76200">
                <a:moveTo>
                  <a:pt x="513588" y="0"/>
                </a:moveTo>
                <a:lnTo>
                  <a:pt x="513588" y="76200"/>
                </a:lnTo>
                <a:lnTo>
                  <a:pt x="577088" y="44450"/>
                </a:lnTo>
                <a:lnTo>
                  <a:pt x="526288" y="44450"/>
                </a:lnTo>
                <a:lnTo>
                  <a:pt x="526288" y="31750"/>
                </a:lnTo>
                <a:lnTo>
                  <a:pt x="577088" y="31750"/>
                </a:lnTo>
                <a:lnTo>
                  <a:pt x="513588" y="0"/>
                </a:lnTo>
                <a:close/>
              </a:path>
              <a:path w="589914" h="76200">
                <a:moveTo>
                  <a:pt x="51358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13588" y="44450"/>
                </a:lnTo>
                <a:lnTo>
                  <a:pt x="513588" y="31750"/>
                </a:lnTo>
                <a:close/>
              </a:path>
              <a:path w="589914" h="76200">
                <a:moveTo>
                  <a:pt x="577088" y="31750"/>
                </a:moveTo>
                <a:lnTo>
                  <a:pt x="526288" y="31750"/>
                </a:lnTo>
                <a:lnTo>
                  <a:pt x="526288" y="44450"/>
                </a:lnTo>
                <a:lnTo>
                  <a:pt x="577088" y="44450"/>
                </a:lnTo>
                <a:lnTo>
                  <a:pt x="589788" y="38100"/>
                </a:lnTo>
                <a:lnTo>
                  <a:pt x="5770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7251192" y="759079"/>
            <a:ext cx="890269" cy="906780"/>
          </a:xfrm>
          <a:custGeom>
            <a:avLst/>
            <a:gdLst/>
            <a:ahLst/>
            <a:cxnLst/>
            <a:rect l="l" t="t" r="r" b="b"/>
            <a:pathLst>
              <a:path w="890270" h="906780">
                <a:moveTo>
                  <a:pt x="832145" y="856743"/>
                </a:moveTo>
                <a:lnTo>
                  <a:pt x="809498" y="878967"/>
                </a:lnTo>
                <a:lnTo>
                  <a:pt x="890015" y="906653"/>
                </a:lnTo>
                <a:lnTo>
                  <a:pt x="876811" y="865759"/>
                </a:lnTo>
                <a:lnTo>
                  <a:pt x="840993" y="865759"/>
                </a:lnTo>
                <a:lnTo>
                  <a:pt x="832145" y="856743"/>
                </a:lnTo>
                <a:close/>
              </a:path>
              <a:path w="890270" h="906780">
                <a:moveTo>
                  <a:pt x="841183" y="847873"/>
                </a:moveTo>
                <a:lnTo>
                  <a:pt x="832145" y="856743"/>
                </a:lnTo>
                <a:lnTo>
                  <a:pt x="840993" y="865759"/>
                </a:lnTo>
                <a:lnTo>
                  <a:pt x="850010" y="856869"/>
                </a:lnTo>
                <a:lnTo>
                  <a:pt x="841183" y="847873"/>
                </a:lnTo>
                <a:close/>
              </a:path>
              <a:path w="890270" h="906780">
                <a:moveTo>
                  <a:pt x="863853" y="825626"/>
                </a:moveTo>
                <a:lnTo>
                  <a:pt x="841183" y="847873"/>
                </a:lnTo>
                <a:lnTo>
                  <a:pt x="850010" y="856869"/>
                </a:lnTo>
                <a:lnTo>
                  <a:pt x="840993" y="865759"/>
                </a:lnTo>
                <a:lnTo>
                  <a:pt x="876811" y="865759"/>
                </a:lnTo>
                <a:lnTo>
                  <a:pt x="863853" y="825626"/>
                </a:lnTo>
                <a:close/>
              </a:path>
              <a:path w="890270" h="906780">
                <a:moveTo>
                  <a:pt x="9143" y="0"/>
                </a:moveTo>
                <a:lnTo>
                  <a:pt x="0" y="8890"/>
                </a:lnTo>
                <a:lnTo>
                  <a:pt x="832145" y="856743"/>
                </a:lnTo>
                <a:lnTo>
                  <a:pt x="841183" y="847873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1363725" y="2412873"/>
            <a:ext cx="1183005" cy="1354455"/>
          </a:xfrm>
          <a:custGeom>
            <a:avLst/>
            <a:gdLst/>
            <a:ahLst/>
            <a:cxnLst/>
            <a:rect l="l" t="t" r="r" b="b"/>
            <a:pathLst>
              <a:path w="1183005" h="1354454">
                <a:moveTo>
                  <a:pt x="1128030" y="1301179"/>
                </a:moveTo>
                <a:lnTo>
                  <a:pt x="1104011" y="1322070"/>
                </a:lnTo>
                <a:lnTo>
                  <a:pt x="1182878" y="1354454"/>
                </a:lnTo>
                <a:lnTo>
                  <a:pt x="1171568" y="1310766"/>
                </a:lnTo>
                <a:lnTo>
                  <a:pt x="1136396" y="1310766"/>
                </a:lnTo>
                <a:lnTo>
                  <a:pt x="1128030" y="1301179"/>
                </a:lnTo>
                <a:close/>
              </a:path>
              <a:path w="1183005" h="1354454">
                <a:moveTo>
                  <a:pt x="1137604" y="1292852"/>
                </a:moveTo>
                <a:lnTo>
                  <a:pt x="1128030" y="1301179"/>
                </a:lnTo>
                <a:lnTo>
                  <a:pt x="1136396" y="1310766"/>
                </a:lnTo>
                <a:lnTo>
                  <a:pt x="1145921" y="1302384"/>
                </a:lnTo>
                <a:lnTo>
                  <a:pt x="1137604" y="1292852"/>
                </a:lnTo>
                <a:close/>
              </a:path>
              <a:path w="1183005" h="1354454">
                <a:moveTo>
                  <a:pt x="1161542" y="1272032"/>
                </a:moveTo>
                <a:lnTo>
                  <a:pt x="1137604" y="1292852"/>
                </a:lnTo>
                <a:lnTo>
                  <a:pt x="1145921" y="1302384"/>
                </a:lnTo>
                <a:lnTo>
                  <a:pt x="1136396" y="1310766"/>
                </a:lnTo>
                <a:lnTo>
                  <a:pt x="1171568" y="1310766"/>
                </a:lnTo>
                <a:lnTo>
                  <a:pt x="1161542" y="1272032"/>
                </a:lnTo>
                <a:close/>
              </a:path>
              <a:path w="1183005" h="1354454">
                <a:moveTo>
                  <a:pt x="9652" y="0"/>
                </a:moveTo>
                <a:lnTo>
                  <a:pt x="0" y="8381"/>
                </a:lnTo>
                <a:lnTo>
                  <a:pt x="1128030" y="1301179"/>
                </a:lnTo>
                <a:lnTo>
                  <a:pt x="1137604" y="1292852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3423158" y="1214627"/>
            <a:ext cx="895350" cy="2107565"/>
          </a:xfrm>
          <a:custGeom>
            <a:avLst/>
            <a:gdLst/>
            <a:ahLst/>
            <a:cxnLst/>
            <a:rect l="l" t="t" r="r" b="b"/>
            <a:pathLst>
              <a:path w="895350" h="2107565">
                <a:moveTo>
                  <a:pt x="854391" y="67779"/>
                </a:moveTo>
                <a:lnTo>
                  <a:pt x="0" y="2102231"/>
                </a:lnTo>
                <a:lnTo>
                  <a:pt x="11683" y="2107057"/>
                </a:lnTo>
                <a:lnTo>
                  <a:pt x="866048" y="72670"/>
                </a:lnTo>
                <a:lnTo>
                  <a:pt x="854391" y="67779"/>
                </a:lnTo>
                <a:close/>
              </a:path>
              <a:path w="895350" h="2107565">
                <a:moveTo>
                  <a:pt x="893453" y="56134"/>
                </a:moveTo>
                <a:lnTo>
                  <a:pt x="859281" y="56134"/>
                </a:lnTo>
                <a:lnTo>
                  <a:pt x="870965" y="60960"/>
                </a:lnTo>
                <a:lnTo>
                  <a:pt x="866048" y="72670"/>
                </a:lnTo>
                <a:lnTo>
                  <a:pt x="895350" y="84962"/>
                </a:lnTo>
                <a:lnTo>
                  <a:pt x="893453" y="56134"/>
                </a:lnTo>
                <a:close/>
              </a:path>
              <a:path w="895350" h="2107565">
                <a:moveTo>
                  <a:pt x="859281" y="56134"/>
                </a:moveTo>
                <a:lnTo>
                  <a:pt x="854391" y="67779"/>
                </a:lnTo>
                <a:lnTo>
                  <a:pt x="866048" y="72670"/>
                </a:lnTo>
                <a:lnTo>
                  <a:pt x="870965" y="60960"/>
                </a:lnTo>
                <a:lnTo>
                  <a:pt x="859281" y="56134"/>
                </a:lnTo>
                <a:close/>
              </a:path>
              <a:path w="895350" h="2107565">
                <a:moveTo>
                  <a:pt x="889762" y="0"/>
                </a:moveTo>
                <a:lnTo>
                  <a:pt x="825118" y="55499"/>
                </a:lnTo>
                <a:lnTo>
                  <a:pt x="854391" y="67779"/>
                </a:lnTo>
                <a:lnTo>
                  <a:pt x="859281" y="56134"/>
                </a:lnTo>
                <a:lnTo>
                  <a:pt x="893453" y="56134"/>
                </a:lnTo>
                <a:lnTo>
                  <a:pt x="889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3724655" y="3729228"/>
            <a:ext cx="1618615" cy="76200"/>
          </a:xfrm>
          <a:custGeom>
            <a:avLst/>
            <a:gdLst/>
            <a:ahLst/>
            <a:cxnLst/>
            <a:rect l="l" t="t" r="r" b="b"/>
            <a:pathLst>
              <a:path w="1618614" h="76200">
                <a:moveTo>
                  <a:pt x="1542288" y="0"/>
                </a:moveTo>
                <a:lnTo>
                  <a:pt x="1542288" y="76200"/>
                </a:lnTo>
                <a:lnTo>
                  <a:pt x="1605788" y="44450"/>
                </a:lnTo>
                <a:lnTo>
                  <a:pt x="1554988" y="44450"/>
                </a:lnTo>
                <a:lnTo>
                  <a:pt x="1554988" y="31750"/>
                </a:lnTo>
                <a:lnTo>
                  <a:pt x="1605788" y="31750"/>
                </a:lnTo>
                <a:lnTo>
                  <a:pt x="1542288" y="0"/>
                </a:lnTo>
                <a:close/>
              </a:path>
              <a:path w="1618614" h="76200">
                <a:moveTo>
                  <a:pt x="154228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542288" y="44450"/>
                </a:lnTo>
                <a:lnTo>
                  <a:pt x="1542288" y="31750"/>
                </a:lnTo>
                <a:close/>
              </a:path>
              <a:path w="1618614" h="76200">
                <a:moveTo>
                  <a:pt x="1605788" y="31750"/>
                </a:moveTo>
                <a:lnTo>
                  <a:pt x="1554988" y="31750"/>
                </a:lnTo>
                <a:lnTo>
                  <a:pt x="1554988" y="44450"/>
                </a:lnTo>
                <a:lnTo>
                  <a:pt x="1605788" y="44450"/>
                </a:lnTo>
                <a:lnTo>
                  <a:pt x="1618488" y="38100"/>
                </a:lnTo>
                <a:lnTo>
                  <a:pt x="16057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663817" y="2717292"/>
            <a:ext cx="1477645" cy="1055370"/>
          </a:xfrm>
          <a:custGeom>
            <a:avLst/>
            <a:gdLst/>
            <a:ahLst/>
            <a:cxnLst/>
            <a:rect l="l" t="t" r="r" b="b"/>
            <a:pathLst>
              <a:path w="1477645" h="1055370">
                <a:moveTo>
                  <a:pt x="1411610" y="39039"/>
                </a:moveTo>
                <a:lnTo>
                  <a:pt x="0" y="1044829"/>
                </a:lnTo>
                <a:lnTo>
                  <a:pt x="7365" y="1055243"/>
                </a:lnTo>
                <a:lnTo>
                  <a:pt x="1419016" y="49424"/>
                </a:lnTo>
                <a:lnTo>
                  <a:pt x="1411610" y="39039"/>
                </a:lnTo>
                <a:close/>
              </a:path>
              <a:path w="1477645" h="1055370">
                <a:moveTo>
                  <a:pt x="1460564" y="31623"/>
                </a:moveTo>
                <a:lnTo>
                  <a:pt x="1422018" y="31623"/>
                </a:lnTo>
                <a:lnTo>
                  <a:pt x="1429384" y="42037"/>
                </a:lnTo>
                <a:lnTo>
                  <a:pt x="1419016" y="49424"/>
                </a:lnTo>
                <a:lnTo>
                  <a:pt x="1437385" y="75184"/>
                </a:lnTo>
                <a:lnTo>
                  <a:pt x="1460564" y="31623"/>
                </a:lnTo>
                <a:close/>
              </a:path>
              <a:path w="1477645" h="1055370">
                <a:moveTo>
                  <a:pt x="1422018" y="31623"/>
                </a:moveTo>
                <a:lnTo>
                  <a:pt x="1411610" y="39039"/>
                </a:lnTo>
                <a:lnTo>
                  <a:pt x="1419016" y="49424"/>
                </a:lnTo>
                <a:lnTo>
                  <a:pt x="1429384" y="42037"/>
                </a:lnTo>
                <a:lnTo>
                  <a:pt x="1422018" y="31623"/>
                </a:lnTo>
                <a:close/>
              </a:path>
              <a:path w="1477645" h="1055370">
                <a:moveTo>
                  <a:pt x="1477390" y="0"/>
                </a:moveTo>
                <a:lnTo>
                  <a:pt x="1393189" y="13208"/>
                </a:lnTo>
                <a:lnTo>
                  <a:pt x="1411610" y="39039"/>
                </a:lnTo>
                <a:lnTo>
                  <a:pt x="1422018" y="31623"/>
                </a:lnTo>
                <a:lnTo>
                  <a:pt x="1460564" y="31623"/>
                </a:lnTo>
                <a:lnTo>
                  <a:pt x="14773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253390" y="4912233"/>
            <a:ext cx="608965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2110" indent="-360045">
              <a:lnSpc>
                <a:spcPct val="100000"/>
              </a:lnSpc>
              <a:spcBef>
                <a:spcPts val="95"/>
              </a:spcBef>
              <a:buSzPct val="96428"/>
              <a:buAutoNum type="arabicPeriod"/>
              <a:tabLst>
                <a:tab pos="372745" algn="l"/>
              </a:tabLst>
            </a:pPr>
            <a:r>
              <a:rPr sz="2800" b="1" spc="-10" dirty="0">
                <a:latin typeface="隶书"/>
                <a:cs typeface="隶书"/>
              </a:rPr>
              <a:t>确</a:t>
            </a:r>
            <a:r>
              <a:rPr sz="2800" b="1" spc="5" dirty="0">
                <a:latin typeface="隶书"/>
                <a:cs typeface="隶书"/>
              </a:rPr>
              <a:t>定</a:t>
            </a:r>
            <a:r>
              <a:rPr sz="2800" b="1" spc="-10" dirty="0">
                <a:latin typeface="隶书"/>
                <a:cs typeface="隶书"/>
              </a:rPr>
              <a:t>所</a:t>
            </a:r>
            <a:r>
              <a:rPr sz="2800" b="1" spc="5" dirty="0">
                <a:latin typeface="隶书"/>
                <a:cs typeface="隶书"/>
              </a:rPr>
              <a:t>有</a:t>
            </a:r>
            <a:r>
              <a:rPr sz="2800" b="1" spc="-10" dirty="0">
                <a:latin typeface="隶书"/>
                <a:cs typeface="隶书"/>
              </a:rPr>
              <a:t>任务</a:t>
            </a:r>
            <a:r>
              <a:rPr sz="2800" b="1" spc="15" dirty="0">
                <a:latin typeface="隶书"/>
                <a:cs typeface="隶书"/>
              </a:rPr>
              <a:t>的</a:t>
            </a:r>
            <a:r>
              <a:rPr sz="2800" b="1" dirty="0">
                <a:latin typeface="隶书"/>
                <a:cs typeface="隶书"/>
              </a:rPr>
              <a:t>ES，EF，LS，LF</a:t>
            </a:r>
            <a:endParaRPr sz="2800">
              <a:latin typeface="隶书"/>
              <a:cs typeface="隶书"/>
            </a:endParaRPr>
          </a:p>
          <a:p>
            <a:pPr marL="372110" indent="-360045">
              <a:lnSpc>
                <a:spcPct val="100000"/>
              </a:lnSpc>
              <a:buSzPct val="96428"/>
              <a:buAutoNum type="arabicPeriod"/>
              <a:tabLst>
                <a:tab pos="372745" algn="l"/>
              </a:tabLst>
            </a:pPr>
            <a:r>
              <a:rPr sz="2800" b="1" spc="-10" dirty="0">
                <a:latin typeface="隶书"/>
                <a:cs typeface="隶书"/>
              </a:rPr>
              <a:t>确</a:t>
            </a:r>
            <a:r>
              <a:rPr sz="2800" b="1" spc="5" dirty="0">
                <a:latin typeface="隶书"/>
                <a:cs typeface="隶书"/>
              </a:rPr>
              <a:t>定</a:t>
            </a:r>
            <a:r>
              <a:rPr sz="2800" b="1" spc="-10" dirty="0">
                <a:latin typeface="隶书"/>
                <a:cs typeface="隶书"/>
              </a:rPr>
              <a:t>关</a:t>
            </a:r>
            <a:r>
              <a:rPr sz="2800" b="1" spc="5" dirty="0">
                <a:latin typeface="隶书"/>
                <a:cs typeface="隶书"/>
              </a:rPr>
              <a:t>键</a:t>
            </a:r>
            <a:r>
              <a:rPr sz="2800" b="1" spc="-10" dirty="0">
                <a:latin typeface="隶书"/>
                <a:cs typeface="隶书"/>
              </a:rPr>
              <a:t>路径以</a:t>
            </a:r>
            <a:r>
              <a:rPr sz="2800" b="1" spc="5" dirty="0">
                <a:latin typeface="隶书"/>
                <a:cs typeface="隶书"/>
              </a:rPr>
              <a:t>及</a:t>
            </a:r>
            <a:r>
              <a:rPr sz="2800" b="1" spc="-10" dirty="0">
                <a:latin typeface="隶书"/>
                <a:cs typeface="隶书"/>
              </a:rPr>
              <a:t>关键路</a:t>
            </a:r>
            <a:r>
              <a:rPr sz="2800" b="1" spc="5" dirty="0">
                <a:latin typeface="隶书"/>
                <a:cs typeface="隶书"/>
              </a:rPr>
              <a:t>径</a:t>
            </a:r>
            <a:r>
              <a:rPr sz="2800" b="1" spc="-10" dirty="0">
                <a:latin typeface="隶书"/>
                <a:cs typeface="隶书"/>
              </a:rPr>
              <a:t>的长度</a:t>
            </a:r>
            <a:r>
              <a:rPr sz="2800" b="1" spc="-15" dirty="0">
                <a:latin typeface="隶书"/>
                <a:cs typeface="隶书"/>
              </a:rPr>
              <a:t>？</a:t>
            </a:r>
            <a:endParaRPr sz="2800">
              <a:latin typeface="隶书"/>
              <a:cs typeface="隶书"/>
            </a:endParaRPr>
          </a:p>
          <a:p>
            <a:pPr marL="372110" indent="-360045">
              <a:lnSpc>
                <a:spcPct val="100000"/>
              </a:lnSpc>
              <a:buSzPct val="96428"/>
              <a:buAutoNum type="arabicPeriod"/>
              <a:tabLst>
                <a:tab pos="372745" algn="l"/>
              </a:tabLst>
            </a:pPr>
            <a:r>
              <a:rPr sz="2800" b="1" spc="-10" dirty="0">
                <a:latin typeface="隶书"/>
                <a:cs typeface="隶书"/>
              </a:rPr>
              <a:t>确</a:t>
            </a:r>
            <a:r>
              <a:rPr sz="2800" b="1" spc="5" dirty="0">
                <a:latin typeface="隶书"/>
                <a:cs typeface="隶书"/>
              </a:rPr>
              <a:t>定</a:t>
            </a:r>
            <a:r>
              <a:rPr sz="2800" b="1" spc="-10" dirty="0">
                <a:latin typeface="隶书"/>
                <a:cs typeface="隶书"/>
              </a:rPr>
              <a:t>Ｆ</a:t>
            </a:r>
            <a:r>
              <a:rPr sz="2800" b="1" spc="5" dirty="0">
                <a:latin typeface="隶书"/>
                <a:cs typeface="隶书"/>
              </a:rPr>
              <a:t>的</a:t>
            </a:r>
            <a:r>
              <a:rPr sz="2800" b="1" spc="-10" dirty="0">
                <a:latin typeface="隶书"/>
                <a:cs typeface="隶书"/>
              </a:rPr>
              <a:t>自由浮</a:t>
            </a:r>
            <a:r>
              <a:rPr sz="2800" b="1" spc="5" dirty="0">
                <a:latin typeface="隶书"/>
                <a:cs typeface="隶书"/>
              </a:rPr>
              <a:t>动</a:t>
            </a:r>
            <a:r>
              <a:rPr sz="2800" b="1" spc="-10" dirty="0">
                <a:latin typeface="隶书"/>
                <a:cs typeface="隶书"/>
              </a:rPr>
              <a:t>和总浮</a:t>
            </a:r>
            <a:r>
              <a:rPr sz="2800" b="1" spc="5" dirty="0">
                <a:latin typeface="隶书"/>
                <a:cs typeface="隶书"/>
              </a:rPr>
              <a:t>动</a:t>
            </a:r>
            <a:r>
              <a:rPr sz="2800" b="1" spc="-15" dirty="0">
                <a:latin typeface="隶书"/>
                <a:cs typeface="隶书"/>
              </a:rPr>
              <a:t>？</a:t>
            </a:r>
            <a:endParaRPr sz="28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089" y="160731"/>
            <a:ext cx="3539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latin typeface="华文隶书"/>
                <a:cs typeface="华文隶书"/>
              </a:rPr>
              <a:t>课堂练</a:t>
            </a:r>
            <a:r>
              <a:rPr dirty="0">
                <a:latin typeface="华文隶书"/>
                <a:cs typeface="华文隶书"/>
              </a:rPr>
              <a:t>习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dirty="0">
                <a:latin typeface="华文隶书"/>
                <a:cs typeface="华文隶书"/>
              </a:rPr>
              <a:t>答案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4175" y="1265682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09101" y="412622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99603" y="4140834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09101" y="2884677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63661" y="287045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883652" y="3156204"/>
            <a:ext cx="1251585" cy="1010919"/>
          </a:xfrm>
          <a:custGeom>
            <a:avLst/>
            <a:gdLst/>
            <a:ahLst/>
            <a:cxnLst/>
            <a:rect l="l" t="t" r="r" b="b"/>
            <a:pathLst>
              <a:path w="1251584" h="1010920">
                <a:moveTo>
                  <a:pt x="0" y="1010412"/>
                </a:moveTo>
                <a:lnTo>
                  <a:pt x="1251203" y="1010412"/>
                </a:lnTo>
                <a:lnTo>
                  <a:pt x="1251203" y="0"/>
                </a:lnTo>
                <a:lnTo>
                  <a:pt x="0" y="0"/>
                </a:lnTo>
                <a:lnTo>
                  <a:pt x="0" y="10104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883652" y="3163823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680704" y="3163823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59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894319" y="3877055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59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691371" y="3886200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52855" y="4204461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306" y="421881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2855" y="2963621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7340" y="2949701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8600" y="3235451"/>
            <a:ext cx="1251585" cy="1009015"/>
          </a:xfrm>
          <a:custGeom>
            <a:avLst/>
            <a:gdLst/>
            <a:ahLst/>
            <a:cxnLst/>
            <a:rect l="l" t="t" r="r" b="b"/>
            <a:pathLst>
              <a:path w="1251585" h="1009014">
                <a:moveTo>
                  <a:pt x="0" y="1008888"/>
                </a:moveTo>
                <a:lnTo>
                  <a:pt x="1251204" y="1008888"/>
                </a:lnTo>
                <a:lnTo>
                  <a:pt x="1251204" y="0"/>
                </a:lnTo>
                <a:lnTo>
                  <a:pt x="0" y="0"/>
                </a:lnTo>
                <a:lnTo>
                  <a:pt x="0" y="100888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28600" y="3243072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89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25652" y="3243072"/>
            <a:ext cx="454659" cy="288290"/>
          </a:xfrm>
          <a:custGeom>
            <a:avLst/>
            <a:gdLst/>
            <a:ahLst/>
            <a:cxnLst/>
            <a:rect l="l" t="t" r="r" b="b"/>
            <a:pathLst>
              <a:path w="454659" h="288289">
                <a:moveTo>
                  <a:pt x="0" y="288036"/>
                </a:moveTo>
                <a:lnTo>
                  <a:pt x="454152" y="288036"/>
                </a:lnTo>
                <a:lnTo>
                  <a:pt x="454152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40791" y="3956303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89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36319" y="3963923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59"/>
                </a:moveTo>
                <a:lnTo>
                  <a:pt x="452628" y="289559"/>
                </a:lnTo>
                <a:lnTo>
                  <a:pt x="452628" y="0"/>
                </a:lnTo>
                <a:lnTo>
                  <a:pt x="0" y="0"/>
                </a:lnTo>
                <a:lnTo>
                  <a:pt x="0" y="289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45002" y="2925572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34488" y="293992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45002" y="168262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98547" y="1668272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519172" y="1953767"/>
            <a:ext cx="1252855" cy="1012190"/>
          </a:xfrm>
          <a:custGeom>
            <a:avLst/>
            <a:gdLst/>
            <a:ahLst/>
            <a:cxnLst/>
            <a:rect l="l" t="t" r="r" b="b"/>
            <a:pathLst>
              <a:path w="1252854" h="1012189">
                <a:moveTo>
                  <a:pt x="0" y="1011936"/>
                </a:moveTo>
                <a:lnTo>
                  <a:pt x="1252727" y="1011936"/>
                </a:lnTo>
                <a:lnTo>
                  <a:pt x="1252727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519172" y="1953767"/>
            <a:ext cx="1252855" cy="1012190"/>
          </a:xfrm>
          <a:custGeom>
            <a:avLst/>
            <a:gdLst/>
            <a:ahLst/>
            <a:cxnLst/>
            <a:rect l="l" t="t" r="r" b="b"/>
            <a:pathLst>
              <a:path w="1252854" h="1012189">
                <a:moveTo>
                  <a:pt x="0" y="1011936"/>
                </a:moveTo>
                <a:lnTo>
                  <a:pt x="1252727" y="1011936"/>
                </a:lnTo>
                <a:lnTo>
                  <a:pt x="1252727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2782061" y="2202256"/>
            <a:ext cx="728345" cy="369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1350"/>
              </a:lnSpc>
              <a:spcBef>
                <a:spcPts val="100"/>
              </a:spcBef>
            </a:pPr>
            <a:r>
              <a:rPr sz="1200" spc="-5" dirty="0">
                <a:latin typeface="Times New Roman"/>
                <a:cs typeface="Times New Roman"/>
              </a:rPr>
              <a:t>Duration=6</a:t>
            </a:r>
            <a:endParaRPr sz="1200">
              <a:latin typeface="Times New Roman"/>
              <a:cs typeface="Times New Roman"/>
            </a:endParaRPr>
          </a:p>
          <a:p>
            <a:pPr algn="ctr">
              <a:lnSpc>
                <a:spcPts val="1350"/>
              </a:lnSpc>
            </a:pPr>
            <a:r>
              <a:rPr sz="120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19172" y="1962911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519172" y="1962911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317747" y="1962911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317747" y="1962911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31364" y="2676144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531364" y="2676144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328415" y="2685288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28415" y="2685288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358765" y="2925572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49266" y="293992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358765" y="168262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513326" y="1668272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433315" y="1953767"/>
            <a:ext cx="1251585" cy="1012190"/>
          </a:xfrm>
          <a:custGeom>
            <a:avLst/>
            <a:gdLst/>
            <a:ahLst/>
            <a:cxnLst/>
            <a:rect l="l" t="t" r="r" b="b"/>
            <a:pathLst>
              <a:path w="1251585" h="1012189">
                <a:moveTo>
                  <a:pt x="0" y="1011936"/>
                </a:moveTo>
                <a:lnTo>
                  <a:pt x="1251203" y="1011936"/>
                </a:lnTo>
                <a:lnTo>
                  <a:pt x="1251203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433315" y="1962911"/>
            <a:ext cx="454659" cy="289560"/>
          </a:xfrm>
          <a:custGeom>
            <a:avLst/>
            <a:gdLst/>
            <a:ahLst/>
            <a:cxnLst/>
            <a:rect l="l" t="t" r="r" b="b"/>
            <a:pathLst>
              <a:path w="454660" h="289560">
                <a:moveTo>
                  <a:pt x="0" y="289560"/>
                </a:moveTo>
                <a:lnTo>
                  <a:pt x="454151" y="289560"/>
                </a:lnTo>
                <a:lnTo>
                  <a:pt x="454151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31891" y="1962911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445508" y="2676144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241035" y="2685288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7125969" y="2925572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316471" y="2939923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125969" y="1682623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280530" y="1668272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6201155" y="1953767"/>
            <a:ext cx="1249680" cy="1012190"/>
          </a:xfrm>
          <a:custGeom>
            <a:avLst/>
            <a:gdLst/>
            <a:ahLst/>
            <a:cxnLst/>
            <a:rect l="l" t="t" r="r" b="b"/>
            <a:pathLst>
              <a:path w="1249679" h="1012189">
                <a:moveTo>
                  <a:pt x="0" y="1011936"/>
                </a:moveTo>
                <a:lnTo>
                  <a:pt x="1249679" y="1011936"/>
                </a:lnTo>
                <a:lnTo>
                  <a:pt x="1249679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6201155" y="1962911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6998207" y="1962911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6211823" y="2676144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008876" y="2685288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60"/>
                </a:moveTo>
                <a:lnTo>
                  <a:pt x="452627" y="289560"/>
                </a:lnTo>
                <a:lnTo>
                  <a:pt x="452627" y="0"/>
                </a:lnTo>
                <a:lnTo>
                  <a:pt x="0" y="0"/>
                </a:lnTo>
                <a:lnTo>
                  <a:pt x="0" y="28956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591559" y="577910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782316" y="579343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591559" y="453618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746375" y="452183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667000" y="4806696"/>
            <a:ext cx="1251585" cy="1012190"/>
          </a:xfrm>
          <a:custGeom>
            <a:avLst/>
            <a:gdLst/>
            <a:ahLst/>
            <a:cxnLst/>
            <a:rect l="l" t="t" r="r" b="b"/>
            <a:pathLst>
              <a:path w="1251585" h="1012189">
                <a:moveTo>
                  <a:pt x="0" y="1011935"/>
                </a:moveTo>
                <a:lnTo>
                  <a:pt x="1251203" y="1011935"/>
                </a:lnTo>
                <a:lnTo>
                  <a:pt x="1251203" y="0"/>
                </a:lnTo>
                <a:lnTo>
                  <a:pt x="0" y="0"/>
                </a:lnTo>
                <a:lnTo>
                  <a:pt x="0" y="10119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667000" y="4815840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5" h="288289">
                <a:moveTo>
                  <a:pt x="0" y="288036"/>
                </a:moveTo>
                <a:lnTo>
                  <a:pt x="452627" y="288036"/>
                </a:lnTo>
                <a:lnTo>
                  <a:pt x="45262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464052" y="4815840"/>
            <a:ext cx="454659" cy="288290"/>
          </a:xfrm>
          <a:custGeom>
            <a:avLst/>
            <a:gdLst/>
            <a:ahLst/>
            <a:cxnLst/>
            <a:rect l="l" t="t" r="r" b="b"/>
            <a:pathLst>
              <a:path w="454660" h="288289">
                <a:moveTo>
                  <a:pt x="0" y="288036"/>
                </a:moveTo>
                <a:lnTo>
                  <a:pt x="454151" y="288036"/>
                </a:lnTo>
                <a:lnTo>
                  <a:pt x="454151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2679192" y="5529071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5" h="289560">
                <a:moveTo>
                  <a:pt x="0" y="289559"/>
                </a:moveTo>
                <a:lnTo>
                  <a:pt x="452628" y="289559"/>
                </a:lnTo>
                <a:lnTo>
                  <a:pt x="452628" y="0"/>
                </a:lnTo>
                <a:lnTo>
                  <a:pt x="0" y="0"/>
                </a:lnTo>
                <a:lnTo>
                  <a:pt x="0" y="289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474720" y="5538215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5"/>
                </a:moveTo>
                <a:lnTo>
                  <a:pt x="452627" y="288035"/>
                </a:lnTo>
                <a:lnTo>
                  <a:pt x="452627" y="0"/>
                </a:lnTo>
                <a:lnTo>
                  <a:pt x="0" y="0"/>
                </a:lnTo>
                <a:lnTo>
                  <a:pt x="0" y="288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389370" y="5779109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579745" y="5793435"/>
            <a:ext cx="1244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Times New Roman"/>
                <a:cs typeface="Times New Roman"/>
              </a:rPr>
              <a:t>LS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389370" y="4536185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EF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543803" y="4521834"/>
            <a:ext cx="1276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Times New Roman"/>
                <a:cs typeface="Times New Roman"/>
              </a:rPr>
              <a:t>ES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463540" y="4806696"/>
            <a:ext cx="1251585" cy="1012190"/>
          </a:xfrm>
          <a:custGeom>
            <a:avLst/>
            <a:gdLst/>
            <a:ahLst/>
            <a:cxnLst/>
            <a:rect l="l" t="t" r="r" b="b"/>
            <a:pathLst>
              <a:path w="1251584" h="1012189">
                <a:moveTo>
                  <a:pt x="0" y="1011935"/>
                </a:moveTo>
                <a:lnTo>
                  <a:pt x="1251204" y="1011935"/>
                </a:lnTo>
                <a:lnTo>
                  <a:pt x="1251204" y="0"/>
                </a:lnTo>
                <a:lnTo>
                  <a:pt x="0" y="0"/>
                </a:lnTo>
                <a:lnTo>
                  <a:pt x="0" y="10119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5463540" y="4815840"/>
            <a:ext cx="454659" cy="288290"/>
          </a:xfrm>
          <a:custGeom>
            <a:avLst/>
            <a:gdLst/>
            <a:ahLst/>
            <a:cxnLst/>
            <a:rect l="l" t="t" r="r" b="b"/>
            <a:pathLst>
              <a:path w="454660" h="288289">
                <a:moveTo>
                  <a:pt x="0" y="288036"/>
                </a:moveTo>
                <a:lnTo>
                  <a:pt x="454151" y="288036"/>
                </a:lnTo>
                <a:lnTo>
                  <a:pt x="454151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262115" y="4815840"/>
            <a:ext cx="452755" cy="288290"/>
          </a:xfrm>
          <a:custGeom>
            <a:avLst/>
            <a:gdLst/>
            <a:ahLst/>
            <a:cxnLst/>
            <a:rect l="l" t="t" r="r" b="b"/>
            <a:pathLst>
              <a:path w="452754" h="288289">
                <a:moveTo>
                  <a:pt x="0" y="288036"/>
                </a:moveTo>
                <a:lnTo>
                  <a:pt x="452628" y="288036"/>
                </a:lnTo>
                <a:lnTo>
                  <a:pt x="452628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475732" y="5529071"/>
            <a:ext cx="452755" cy="289560"/>
          </a:xfrm>
          <a:custGeom>
            <a:avLst/>
            <a:gdLst/>
            <a:ahLst/>
            <a:cxnLst/>
            <a:rect l="l" t="t" r="r" b="b"/>
            <a:pathLst>
              <a:path w="452754" h="289560">
                <a:moveTo>
                  <a:pt x="0" y="289559"/>
                </a:moveTo>
                <a:lnTo>
                  <a:pt x="452627" y="289559"/>
                </a:lnTo>
                <a:lnTo>
                  <a:pt x="452627" y="0"/>
                </a:lnTo>
                <a:lnTo>
                  <a:pt x="0" y="0"/>
                </a:lnTo>
                <a:lnTo>
                  <a:pt x="0" y="2895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6271259" y="5538215"/>
            <a:ext cx="454659" cy="288290"/>
          </a:xfrm>
          <a:custGeom>
            <a:avLst/>
            <a:gdLst/>
            <a:ahLst/>
            <a:cxnLst/>
            <a:rect l="l" t="t" r="r" b="b"/>
            <a:pathLst>
              <a:path w="454659" h="288289">
                <a:moveTo>
                  <a:pt x="0" y="288035"/>
                </a:moveTo>
                <a:lnTo>
                  <a:pt x="454152" y="288035"/>
                </a:lnTo>
                <a:lnTo>
                  <a:pt x="454152" y="0"/>
                </a:lnTo>
                <a:lnTo>
                  <a:pt x="0" y="0"/>
                </a:lnTo>
                <a:lnTo>
                  <a:pt x="0" y="28803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84122" y="2263139"/>
            <a:ext cx="1035050" cy="1208405"/>
          </a:xfrm>
          <a:custGeom>
            <a:avLst/>
            <a:gdLst/>
            <a:ahLst/>
            <a:cxnLst/>
            <a:rect l="l" t="t" r="r" b="b"/>
            <a:pathLst>
              <a:path w="1035050" h="1208404">
                <a:moveTo>
                  <a:pt x="980660" y="53755"/>
                </a:moveTo>
                <a:lnTo>
                  <a:pt x="0" y="1199769"/>
                </a:lnTo>
                <a:lnTo>
                  <a:pt x="9652" y="1208151"/>
                </a:lnTo>
                <a:lnTo>
                  <a:pt x="990312" y="62010"/>
                </a:lnTo>
                <a:lnTo>
                  <a:pt x="980660" y="53755"/>
                </a:lnTo>
                <a:close/>
              </a:path>
              <a:path w="1035050" h="1208404">
                <a:moveTo>
                  <a:pt x="1024083" y="44069"/>
                </a:moveTo>
                <a:lnTo>
                  <a:pt x="988948" y="44069"/>
                </a:lnTo>
                <a:lnTo>
                  <a:pt x="998601" y="52324"/>
                </a:lnTo>
                <a:lnTo>
                  <a:pt x="990312" y="62010"/>
                </a:lnTo>
                <a:lnTo>
                  <a:pt x="1014476" y="82676"/>
                </a:lnTo>
                <a:lnTo>
                  <a:pt x="1024083" y="44069"/>
                </a:lnTo>
                <a:close/>
              </a:path>
              <a:path w="1035050" h="1208404">
                <a:moveTo>
                  <a:pt x="988948" y="44069"/>
                </a:moveTo>
                <a:lnTo>
                  <a:pt x="980660" y="53755"/>
                </a:lnTo>
                <a:lnTo>
                  <a:pt x="990312" y="62010"/>
                </a:lnTo>
                <a:lnTo>
                  <a:pt x="998601" y="52324"/>
                </a:lnTo>
                <a:lnTo>
                  <a:pt x="988948" y="44069"/>
                </a:lnTo>
                <a:close/>
              </a:path>
              <a:path w="1035050" h="1208404">
                <a:moveTo>
                  <a:pt x="1035050" y="0"/>
                </a:moveTo>
                <a:lnTo>
                  <a:pt x="956564" y="33147"/>
                </a:lnTo>
                <a:lnTo>
                  <a:pt x="980660" y="53755"/>
                </a:lnTo>
                <a:lnTo>
                  <a:pt x="988948" y="44069"/>
                </a:lnTo>
                <a:lnTo>
                  <a:pt x="1024083" y="44069"/>
                </a:lnTo>
                <a:lnTo>
                  <a:pt x="10350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3697223" y="2225039"/>
            <a:ext cx="736600" cy="76200"/>
          </a:xfrm>
          <a:custGeom>
            <a:avLst/>
            <a:gdLst/>
            <a:ahLst/>
            <a:cxnLst/>
            <a:rect l="l" t="t" r="r" b="b"/>
            <a:pathLst>
              <a:path w="736600" h="76200">
                <a:moveTo>
                  <a:pt x="659891" y="0"/>
                </a:moveTo>
                <a:lnTo>
                  <a:pt x="659891" y="76200"/>
                </a:lnTo>
                <a:lnTo>
                  <a:pt x="723391" y="44450"/>
                </a:lnTo>
                <a:lnTo>
                  <a:pt x="672591" y="44450"/>
                </a:lnTo>
                <a:lnTo>
                  <a:pt x="672591" y="31750"/>
                </a:lnTo>
                <a:lnTo>
                  <a:pt x="723391" y="31750"/>
                </a:lnTo>
                <a:lnTo>
                  <a:pt x="659891" y="0"/>
                </a:lnTo>
                <a:close/>
              </a:path>
              <a:path w="736600" h="76200">
                <a:moveTo>
                  <a:pt x="65989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659891" y="44450"/>
                </a:lnTo>
                <a:lnTo>
                  <a:pt x="659891" y="31750"/>
                </a:lnTo>
                <a:close/>
              </a:path>
              <a:path w="736600" h="76200">
                <a:moveTo>
                  <a:pt x="723391" y="31750"/>
                </a:moveTo>
                <a:lnTo>
                  <a:pt x="672591" y="31750"/>
                </a:lnTo>
                <a:lnTo>
                  <a:pt x="672591" y="44450"/>
                </a:lnTo>
                <a:lnTo>
                  <a:pt x="723391" y="44450"/>
                </a:lnTo>
                <a:lnTo>
                  <a:pt x="736091" y="38100"/>
                </a:lnTo>
                <a:lnTo>
                  <a:pt x="723391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5611367" y="2225039"/>
            <a:ext cx="589915" cy="76200"/>
          </a:xfrm>
          <a:custGeom>
            <a:avLst/>
            <a:gdLst/>
            <a:ahLst/>
            <a:cxnLst/>
            <a:rect l="l" t="t" r="r" b="b"/>
            <a:pathLst>
              <a:path w="589914" h="76200">
                <a:moveTo>
                  <a:pt x="513588" y="0"/>
                </a:moveTo>
                <a:lnTo>
                  <a:pt x="513588" y="76200"/>
                </a:lnTo>
                <a:lnTo>
                  <a:pt x="577088" y="44450"/>
                </a:lnTo>
                <a:lnTo>
                  <a:pt x="526288" y="44450"/>
                </a:lnTo>
                <a:lnTo>
                  <a:pt x="526288" y="31750"/>
                </a:lnTo>
                <a:lnTo>
                  <a:pt x="577088" y="31750"/>
                </a:lnTo>
                <a:lnTo>
                  <a:pt x="513588" y="0"/>
                </a:lnTo>
                <a:close/>
              </a:path>
              <a:path w="589914" h="76200">
                <a:moveTo>
                  <a:pt x="51358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513588" y="44450"/>
                </a:lnTo>
                <a:lnTo>
                  <a:pt x="513588" y="31750"/>
                </a:lnTo>
                <a:close/>
              </a:path>
              <a:path w="589914" h="76200">
                <a:moveTo>
                  <a:pt x="577088" y="31750"/>
                </a:moveTo>
                <a:lnTo>
                  <a:pt x="526288" y="31750"/>
                </a:lnTo>
                <a:lnTo>
                  <a:pt x="526288" y="44450"/>
                </a:lnTo>
                <a:lnTo>
                  <a:pt x="577088" y="44450"/>
                </a:lnTo>
                <a:lnTo>
                  <a:pt x="589788" y="38100"/>
                </a:lnTo>
                <a:lnTo>
                  <a:pt x="577088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447660" y="2258948"/>
            <a:ext cx="814069" cy="906780"/>
          </a:xfrm>
          <a:custGeom>
            <a:avLst/>
            <a:gdLst/>
            <a:ahLst/>
            <a:cxnLst/>
            <a:rect l="l" t="t" r="r" b="b"/>
            <a:pathLst>
              <a:path w="814070" h="906780">
                <a:moveTo>
                  <a:pt x="758370" y="853918"/>
                </a:moveTo>
                <a:lnTo>
                  <a:pt x="734695" y="875156"/>
                </a:lnTo>
                <a:lnTo>
                  <a:pt x="813943" y="906399"/>
                </a:lnTo>
                <a:lnTo>
                  <a:pt x="802164" y="863346"/>
                </a:lnTo>
                <a:lnTo>
                  <a:pt x="766826" y="863346"/>
                </a:lnTo>
                <a:lnTo>
                  <a:pt x="758370" y="853918"/>
                </a:lnTo>
                <a:close/>
              </a:path>
              <a:path w="814070" h="906780">
                <a:moveTo>
                  <a:pt x="767806" y="845453"/>
                </a:moveTo>
                <a:lnTo>
                  <a:pt x="758370" y="853918"/>
                </a:lnTo>
                <a:lnTo>
                  <a:pt x="766826" y="863346"/>
                </a:lnTo>
                <a:lnTo>
                  <a:pt x="776224" y="854837"/>
                </a:lnTo>
                <a:lnTo>
                  <a:pt x="767806" y="845453"/>
                </a:lnTo>
                <a:close/>
              </a:path>
              <a:path w="814070" h="906780">
                <a:moveTo>
                  <a:pt x="791464" y="824229"/>
                </a:moveTo>
                <a:lnTo>
                  <a:pt x="767806" y="845453"/>
                </a:lnTo>
                <a:lnTo>
                  <a:pt x="776224" y="854837"/>
                </a:lnTo>
                <a:lnTo>
                  <a:pt x="766826" y="863346"/>
                </a:lnTo>
                <a:lnTo>
                  <a:pt x="802164" y="863346"/>
                </a:lnTo>
                <a:lnTo>
                  <a:pt x="791464" y="824229"/>
                </a:lnTo>
                <a:close/>
              </a:path>
              <a:path w="814070" h="906780">
                <a:moveTo>
                  <a:pt x="9398" y="0"/>
                </a:moveTo>
                <a:lnTo>
                  <a:pt x="0" y="8381"/>
                </a:lnTo>
                <a:lnTo>
                  <a:pt x="758370" y="853918"/>
                </a:lnTo>
                <a:lnTo>
                  <a:pt x="767806" y="845453"/>
                </a:lnTo>
                <a:lnTo>
                  <a:pt x="93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1484122" y="3914013"/>
            <a:ext cx="1183005" cy="1356360"/>
          </a:xfrm>
          <a:custGeom>
            <a:avLst/>
            <a:gdLst/>
            <a:ahLst/>
            <a:cxnLst/>
            <a:rect l="l" t="t" r="r" b="b"/>
            <a:pathLst>
              <a:path w="1183005" h="1356360">
                <a:moveTo>
                  <a:pt x="1128067" y="1302734"/>
                </a:moveTo>
                <a:lnTo>
                  <a:pt x="1104138" y="1323594"/>
                </a:lnTo>
                <a:lnTo>
                  <a:pt x="1182878" y="1355979"/>
                </a:lnTo>
                <a:lnTo>
                  <a:pt x="1171568" y="1312291"/>
                </a:lnTo>
                <a:lnTo>
                  <a:pt x="1136396" y="1312291"/>
                </a:lnTo>
                <a:lnTo>
                  <a:pt x="1128067" y="1302734"/>
                </a:lnTo>
                <a:close/>
              </a:path>
              <a:path w="1183005" h="1356360">
                <a:moveTo>
                  <a:pt x="1137632" y="1294397"/>
                </a:moveTo>
                <a:lnTo>
                  <a:pt x="1128067" y="1302734"/>
                </a:lnTo>
                <a:lnTo>
                  <a:pt x="1136396" y="1312291"/>
                </a:lnTo>
                <a:lnTo>
                  <a:pt x="1145921" y="1303909"/>
                </a:lnTo>
                <a:lnTo>
                  <a:pt x="1137632" y="1294397"/>
                </a:lnTo>
                <a:close/>
              </a:path>
              <a:path w="1183005" h="1356360">
                <a:moveTo>
                  <a:pt x="1161542" y="1273556"/>
                </a:moveTo>
                <a:lnTo>
                  <a:pt x="1137632" y="1294397"/>
                </a:lnTo>
                <a:lnTo>
                  <a:pt x="1145921" y="1303909"/>
                </a:lnTo>
                <a:lnTo>
                  <a:pt x="1136396" y="1312291"/>
                </a:lnTo>
                <a:lnTo>
                  <a:pt x="1171568" y="1312291"/>
                </a:lnTo>
                <a:lnTo>
                  <a:pt x="1161542" y="1273556"/>
                </a:lnTo>
                <a:close/>
              </a:path>
              <a:path w="1183005" h="1356360">
                <a:moveTo>
                  <a:pt x="9652" y="0"/>
                </a:moveTo>
                <a:lnTo>
                  <a:pt x="0" y="8381"/>
                </a:lnTo>
                <a:lnTo>
                  <a:pt x="1128067" y="1302734"/>
                </a:lnTo>
                <a:lnTo>
                  <a:pt x="1137632" y="1294397"/>
                </a:lnTo>
                <a:lnTo>
                  <a:pt x="96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3543553" y="2717292"/>
            <a:ext cx="895350" cy="2105660"/>
          </a:xfrm>
          <a:custGeom>
            <a:avLst/>
            <a:gdLst/>
            <a:ahLst/>
            <a:cxnLst/>
            <a:rect l="l" t="t" r="r" b="b"/>
            <a:pathLst>
              <a:path w="895350" h="2105660">
                <a:moveTo>
                  <a:pt x="854388" y="67778"/>
                </a:moveTo>
                <a:lnTo>
                  <a:pt x="0" y="2100707"/>
                </a:lnTo>
                <a:lnTo>
                  <a:pt x="11684" y="2105533"/>
                </a:lnTo>
                <a:lnTo>
                  <a:pt x="866045" y="72668"/>
                </a:lnTo>
                <a:lnTo>
                  <a:pt x="854388" y="67778"/>
                </a:lnTo>
                <a:close/>
              </a:path>
              <a:path w="895350" h="2105660">
                <a:moveTo>
                  <a:pt x="893453" y="56134"/>
                </a:moveTo>
                <a:lnTo>
                  <a:pt x="859282" y="56134"/>
                </a:lnTo>
                <a:lnTo>
                  <a:pt x="870966" y="60960"/>
                </a:lnTo>
                <a:lnTo>
                  <a:pt x="866045" y="72668"/>
                </a:lnTo>
                <a:lnTo>
                  <a:pt x="895350" y="84962"/>
                </a:lnTo>
                <a:lnTo>
                  <a:pt x="893453" y="56134"/>
                </a:lnTo>
                <a:close/>
              </a:path>
              <a:path w="895350" h="2105660">
                <a:moveTo>
                  <a:pt x="859282" y="56134"/>
                </a:moveTo>
                <a:lnTo>
                  <a:pt x="854388" y="67778"/>
                </a:lnTo>
                <a:lnTo>
                  <a:pt x="866045" y="72668"/>
                </a:lnTo>
                <a:lnTo>
                  <a:pt x="870966" y="60960"/>
                </a:lnTo>
                <a:lnTo>
                  <a:pt x="859282" y="56134"/>
                </a:lnTo>
                <a:close/>
              </a:path>
              <a:path w="895350" h="2105660">
                <a:moveTo>
                  <a:pt x="889762" y="0"/>
                </a:moveTo>
                <a:lnTo>
                  <a:pt x="825119" y="55499"/>
                </a:lnTo>
                <a:lnTo>
                  <a:pt x="854388" y="67778"/>
                </a:lnTo>
                <a:lnTo>
                  <a:pt x="859282" y="56134"/>
                </a:lnTo>
                <a:lnTo>
                  <a:pt x="893453" y="56134"/>
                </a:lnTo>
                <a:lnTo>
                  <a:pt x="889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3845052" y="5231891"/>
            <a:ext cx="1618615" cy="76200"/>
          </a:xfrm>
          <a:custGeom>
            <a:avLst/>
            <a:gdLst/>
            <a:ahLst/>
            <a:cxnLst/>
            <a:rect l="l" t="t" r="r" b="b"/>
            <a:pathLst>
              <a:path w="1618614" h="76200">
                <a:moveTo>
                  <a:pt x="1542288" y="0"/>
                </a:moveTo>
                <a:lnTo>
                  <a:pt x="1542288" y="76199"/>
                </a:lnTo>
                <a:lnTo>
                  <a:pt x="1605788" y="44449"/>
                </a:lnTo>
                <a:lnTo>
                  <a:pt x="1554988" y="44449"/>
                </a:lnTo>
                <a:lnTo>
                  <a:pt x="1554988" y="31749"/>
                </a:lnTo>
                <a:lnTo>
                  <a:pt x="1605788" y="31749"/>
                </a:lnTo>
                <a:lnTo>
                  <a:pt x="1542288" y="0"/>
                </a:lnTo>
                <a:close/>
              </a:path>
              <a:path w="1618614" h="76200">
                <a:moveTo>
                  <a:pt x="1542288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542288" y="44449"/>
                </a:lnTo>
                <a:lnTo>
                  <a:pt x="1542288" y="31749"/>
                </a:lnTo>
                <a:close/>
              </a:path>
              <a:path w="1618614" h="76200">
                <a:moveTo>
                  <a:pt x="1605788" y="31749"/>
                </a:moveTo>
                <a:lnTo>
                  <a:pt x="1554988" y="31749"/>
                </a:lnTo>
                <a:lnTo>
                  <a:pt x="1554988" y="44449"/>
                </a:lnTo>
                <a:lnTo>
                  <a:pt x="1605788" y="44449"/>
                </a:lnTo>
                <a:lnTo>
                  <a:pt x="1618488" y="38099"/>
                </a:lnTo>
                <a:lnTo>
                  <a:pt x="1605788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6784213" y="4218432"/>
            <a:ext cx="1477645" cy="1057275"/>
          </a:xfrm>
          <a:custGeom>
            <a:avLst/>
            <a:gdLst/>
            <a:ahLst/>
            <a:cxnLst/>
            <a:rect l="l" t="t" r="r" b="b"/>
            <a:pathLst>
              <a:path w="1477645" h="1057275">
                <a:moveTo>
                  <a:pt x="1411685" y="39122"/>
                </a:moveTo>
                <a:lnTo>
                  <a:pt x="0" y="1046353"/>
                </a:lnTo>
                <a:lnTo>
                  <a:pt x="7365" y="1056767"/>
                </a:lnTo>
                <a:lnTo>
                  <a:pt x="1419035" y="49421"/>
                </a:lnTo>
                <a:lnTo>
                  <a:pt x="1411685" y="39122"/>
                </a:lnTo>
                <a:close/>
              </a:path>
              <a:path w="1477645" h="1057275">
                <a:moveTo>
                  <a:pt x="1460579" y="31750"/>
                </a:moveTo>
                <a:lnTo>
                  <a:pt x="1422018" y="31750"/>
                </a:lnTo>
                <a:lnTo>
                  <a:pt x="1429384" y="42037"/>
                </a:lnTo>
                <a:lnTo>
                  <a:pt x="1419035" y="49421"/>
                </a:lnTo>
                <a:lnTo>
                  <a:pt x="1437512" y="75311"/>
                </a:lnTo>
                <a:lnTo>
                  <a:pt x="1460579" y="31750"/>
                </a:lnTo>
                <a:close/>
              </a:path>
              <a:path w="1477645" h="1057275">
                <a:moveTo>
                  <a:pt x="1422018" y="31750"/>
                </a:moveTo>
                <a:lnTo>
                  <a:pt x="1411685" y="39122"/>
                </a:lnTo>
                <a:lnTo>
                  <a:pt x="1419035" y="49421"/>
                </a:lnTo>
                <a:lnTo>
                  <a:pt x="1429384" y="42037"/>
                </a:lnTo>
                <a:lnTo>
                  <a:pt x="1422018" y="31750"/>
                </a:lnTo>
                <a:close/>
              </a:path>
              <a:path w="1477645" h="1057275">
                <a:moveTo>
                  <a:pt x="1477390" y="0"/>
                </a:moveTo>
                <a:lnTo>
                  <a:pt x="1393189" y="13208"/>
                </a:lnTo>
                <a:lnTo>
                  <a:pt x="1411685" y="39122"/>
                </a:lnTo>
                <a:lnTo>
                  <a:pt x="1422018" y="31750"/>
                </a:lnTo>
                <a:lnTo>
                  <a:pt x="1460579" y="31750"/>
                </a:lnTo>
                <a:lnTo>
                  <a:pt x="14773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1" name="object 81"/>
          <p:cNvGraphicFramePr>
            <a:graphicFrameLocks noGrp="1"/>
          </p:cNvGraphicFramePr>
          <p:nvPr/>
        </p:nvGraphicFramePr>
        <p:xfrm>
          <a:off x="7879080" y="3147822"/>
          <a:ext cx="1250949" cy="1010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R="17780" algn="ctr">
                        <a:lnSpc>
                          <a:spcPts val="1675"/>
                        </a:lnSpc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ts val="1645"/>
                        </a:lnSpc>
                        <a:spcBef>
                          <a:spcPts val="59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27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749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3">
                <a:tc gridSpan="3">
                  <a:txBody>
                    <a:bodyPr/>
                    <a:lstStyle/>
                    <a:p>
                      <a:pPr algn="ctr">
                        <a:lnSpc>
                          <a:spcPts val="1065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8735" algn="ctr">
                        <a:lnSpc>
                          <a:spcPts val="135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27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3619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2" name="object 82"/>
          <p:cNvGraphicFramePr>
            <a:graphicFrameLocks noGrp="1"/>
          </p:cNvGraphicFramePr>
          <p:nvPr/>
        </p:nvGraphicFramePr>
        <p:xfrm>
          <a:off x="5458967" y="4797552"/>
          <a:ext cx="1252219" cy="1011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13208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20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 gridSpan="3">
                  <a:txBody>
                    <a:bodyPr/>
                    <a:lstStyle/>
                    <a:p>
                      <a:pPr marL="635" algn="ctr">
                        <a:lnSpc>
                          <a:spcPts val="126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Duration=8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6990" algn="ctr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F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marL="132080">
                        <a:lnSpc>
                          <a:spcPts val="1664"/>
                        </a:lnSpc>
                        <a:spcBef>
                          <a:spcPts val="48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16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7640">
                        <a:lnSpc>
                          <a:spcPts val="1664"/>
                        </a:lnSpc>
                        <a:spcBef>
                          <a:spcPts val="48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3" name="object 83"/>
          <p:cNvGraphicFramePr>
            <a:graphicFrameLocks noGrp="1"/>
          </p:cNvGraphicFramePr>
          <p:nvPr/>
        </p:nvGraphicFramePr>
        <p:xfrm>
          <a:off x="6196584" y="1944623"/>
          <a:ext cx="1249043" cy="1011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8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3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ts val="1060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370" algn="ctr">
                        <a:lnSpc>
                          <a:spcPts val="135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24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4" name="object 84"/>
          <p:cNvGraphicFramePr>
            <a:graphicFrameLocks noGrp="1"/>
          </p:cNvGraphicFramePr>
          <p:nvPr/>
        </p:nvGraphicFramePr>
        <p:xfrm>
          <a:off x="4428744" y="1944623"/>
          <a:ext cx="1252219" cy="1011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8704">
                <a:tc>
                  <a:txBody>
                    <a:bodyPr/>
                    <a:lstStyle/>
                    <a:p>
                      <a:pPr marL="17208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243">
                <a:tc gridSpan="3">
                  <a:txBody>
                    <a:bodyPr/>
                    <a:lstStyle/>
                    <a:p>
                      <a:pPr marL="635" algn="ctr">
                        <a:lnSpc>
                          <a:spcPts val="1060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370" algn="ctr">
                        <a:lnSpc>
                          <a:spcPts val="135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510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19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5" name="object 85"/>
          <p:cNvGraphicFramePr>
            <a:graphicFrameLocks noGrp="1"/>
          </p:cNvGraphicFramePr>
          <p:nvPr/>
        </p:nvGraphicFramePr>
        <p:xfrm>
          <a:off x="2662427" y="4797552"/>
          <a:ext cx="1250949" cy="10119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254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 gridSpan="3"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</a:pPr>
                      <a:r>
                        <a:rPr sz="1400" spc="-5" dirty="0">
                          <a:latin typeface="Times New Roman"/>
                          <a:cs typeface="Times New Roman"/>
                        </a:rPr>
                        <a:t>Duration=8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45720" algn="ctr">
                        <a:lnSpc>
                          <a:spcPts val="158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988">
                <a:tc>
                  <a:txBody>
                    <a:bodyPr/>
                    <a:lstStyle/>
                    <a:p>
                      <a:pPr marL="76200" algn="ctr">
                        <a:lnSpc>
                          <a:spcPts val="1664"/>
                        </a:lnSpc>
                        <a:spcBef>
                          <a:spcPts val="480"/>
                        </a:spcBef>
                      </a:pP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64"/>
                        </a:lnSpc>
                        <a:spcBef>
                          <a:spcPts val="480"/>
                        </a:spcBef>
                      </a:pPr>
                      <a:r>
                        <a:rPr sz="1400" spc="-5" dirty="0">
                          <a:latin typeface="Arial Narrow"/>
                          <a:cs typeface="Arial Narrow"/>
                        </a:rPr>
                        <a:t>12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609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6" name="object 86"/>
          <p:cNvGraphicFramePr>
            <a:graphicFrameLocks noGrp="1"/>
          </p:cNvGraphicFramePr>
          <p:nvPr/>
        </p:nvGraphicFramePr>
        <p:xfrm>
          <a:off x="224027" y="3227070"/>
          <a:ext cx="1250949" cy="10088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5656"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sz="900" dirty="0">
                          <a:latin typeface="Times New Roman"/>
                          <a:cs typeface="Times New Roman"/>
                        </a:rPr>
                        <a:t>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1460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ts val="1650"/>
                        </a:lnSpc>
                      </a:pP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005">
                <a:tc gridSpan="3">
                  <a:txBody>
                    <a:bodyPr/>
                    <a:lstStyle/>
                    <a:p>
                      <a:pPr algn="ctr">
                        <a:lnSpc>
                          <a:spcPts val="1075"/>
                        </a:lnSpc>
                      </a:pPr>
                      <a:r>
                        <a:rPr sz="1200" spc="-5" dirty="0">
                          <a:latin typeface="Times New Roman"/>
                          <a:cs typeface="Times New Roman"/>
                        </a:rPr>
                        <a:t>Duration=4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7305" algn="ctr">
                        <a:lnSpc>
                          <a:spcPts val="135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225">
                <a:tc>
                  <a:txBody>
                    <a:bodyPr/>
                    <a:lstStyle/>
                    <a:p>
                      <a:pPr marL="22606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Arial Narrow"/>
                          <a:cs typeface="Arial Narrow"/>
                        </a:rPr>
                        <a:t>0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latin typeface="Arial Narrow"/>
                          <a:cs typeface="Arial Narrow"/>
                        </a:rPr>
                        <a:t>4</a:t>
                      </a:r>
                      <a:endParaRPr sz="1400">
                        <a:latin typeface="Arial Narrow"/>
                        <a:cs typeface="Arial Narrow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7" name="object 87"/>
          <p:cNvSpPr txBox="1"/>
          <p:nvPr/>
        </p:nvSpPr>
        <p:spPr>
          <a:xfrm>
            <a:off x="2523744" y="1998980"/>
            <a:ext cx="4508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3327653" y="1998980"/>
            <a:ext cx="4400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10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327653" y="2685033"/>
            <a:ext cx="435609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462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Arial Narrow"/>
                <a:cs typeface="Arial Narrow"/>
              </a:rPr>
              <a:t>12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2523744" y="2685033"/>
            <a:ext cx="4508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040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28929" y="6108903"/>
            <a:ext cx="33635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CP:</a:t>
            </a:r>
            <a:r>
              <a:rPr sz="3600" spc="-5" dirty="0">
                <a:solidFill>
                  <a:srgbClr val="FF66FF"/>
                </a:solidFill>
                <a:latin typeface="Arial Narrow"/>
                <a:cs typeface="Arial Narrow"/>
              </a:rPr>
              <a:t>A</a:t>
            </a: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-&gt;</a:t>
            </a:r>
            <a:r>
              <a:rPr sz="3600" spc="-5" dirty="0">
                <a:solidFill>
                  <a:srgbClr val="FF66FF"/>
                </a:solidFill>
                <a:latin typeface="Arial Narrow"/>
                <a:cs typeface="Arial Narrow"/>
              </a:rPr>
              <a:t>E</a:t>
            </a: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-&gt;</a:t>
            </a:r>
            <a:r>
              <a:rPr sz="3600" spc="5" dirty="0">
                <a:solidFill>
                  <a:srgbClr val="FF66FF"/>
                </a:solidFill>
                <a:latin typeface="Arial Narrow"/>
                <a:cs typeface="Arial Narrow"/>
              </a:rPr>
              <a:t>C</a:t>
            </a: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-&gt;</a:t>
            </a:r>
            <a:r>
              <a:rPr sz="3600" spc="5" dirty="0">
                <a:solidFill>
                  <a:srgbClr val="FF66FF"/>
                </a:solidFill>
                <a:latin typeface="Arial Narrow"/>
                <a:cs typeface="Arial Narrow"/>
              </a:rPr>
              <a:t>D</a:t>
            </a: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-&gt;G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4325873" y="6147003"/>
            <a:ext cx="19380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CP</a:t>
            </a:r>
            <a:r>
              <a:rPr sz="3600" spc="-135" dirty="0">
                <a:solidFill>
                  <a:srgbClr val="FF66FF"/>
                </a:solidFill>
                <a:latin typeface="Arial Narrow"/>
                <a:cs typeface="Arial Narrow"/>
              </a:rPr>
              <a:t> </a:t>
            </a:r>
            <a:r>
              <a:rPr sz="3600" dirty="0">
                <a:solidFill>
                  <a:srgbClr val="FF66FF"/>
                </a:solidFill>
                <a:latin typeface="Arial Narrow"/>
                <a:cs typeface="Arial Narrow"/>
              </a:rPr>
              <a:t>Path:27</a:t>
            </a:r>
            <a:endParaRPr sz="3600">
              <a:latin typeface="Arial Narrow"/>
              <a:cs typeface="Arial Narrow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7177278" y="5747105"/>
            <a:ext cx="973455" cy="930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5080" indent="-38100">
              <a:lnSpc>
                <a:spcPct val="123700"/>
              </a:lnSpc>
              <a:spcBef>
                <a:spcPts val="100"/>
              </a:spcBef>
            </a:pPr>
            <a:r>
              <a:rPr sz="2400" b="1" dirty="0">
                <a:solidFill>
                  <a:srgbClr val="FF66FF"/>
                </a:solidFill>
                <a:latin typeface="Arial Narrow"/>
                <a:cs typeface="Arial Narrow"/>
              </a:rPr>
              <a:t>TF(F)=4  FF(F)=4</a:t>
            </a:r>
            <a:endParaRPr sz="24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819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进度编制的基本方法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2738" y="1774698"/>
            <a:ext cx="7233284" cy="3287395"/>
          </a:xfrm>
          <a:custGeom>
            <a:avLst/>
            <a:gdLst/>
            <a:ahLst/>
            <a:cxnLst/>
            <a:rect l="l" t="t" r="r" b="b"/>
            <a:pathLst>
              <a:path w="7233284" h="3287395">
                <a:moveTo>
                  <a:pt x="0" y="3287268"/>
                </a:moveTo>
                <a:lnTo>
                  <a:pt x="7232904" y="3287268"/>
                </a:lnTo>
                <a:lnTo>
                  <a:pt x="7232904" y="0"/>
                </a:lnTo>
                <a:lnTo>
                  <a:pt x="0" y="0"/>
                </a:lnTo>
                <a:lnTo>
                  <a:pt x="0" y="3287268"/>
                </a:lnTo>
                <a:close/>
              </a:path>
            </a:pathLst>
          </a:custGeom>
          <a:ln w="28956">
            <a:solidFill>
              <a:srgbClr val="D3E1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3669" y="3062441"/>
            <a:ext cx="19748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0969" y="1728317"/>
            <a:ext cx="4217035" cy="26822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超前</a:t>
            </a:r>
            <a:r>
              <a:rPr sz="2900" spc="-5" dirty="0">
                <a:latin typeface="隶书"/>
                <a:cs typeface="隶书"/>
              </a:rPr>
              <a:t>(Lead)</a:t>
            </a:r>
            <a:r>
              <a:rPr sz="2900" dirty="0">
                <a:latin typeface="隶书"/>
                <a:cs typeface="隶书"/>
              </a:rPr>
              <a:t>与滞</a:t>
            </a:r>
            <a:r>
              <a:rPr sz="2900" spc="-15" dirty="0">
                <a:latin typeface="隶书"/>
                <a:cs typeface="隶书"/>
              </a:rPr>
              <a:t>后</a:t>
            </a:r>
            <a:r>
              <a:rPr sz="2900" dirty="0">
                <a:latin typeface="隶书"/>
                <a:cs typeface="隶书"/>
              </a:rPr>
              <a:t>(Lag)</a:t>
            </a:r>
            <a:endParaRPr sz="2900">
              <a:latin typeface="隶书"/>
              <a:cs typeface="隶书"/>
            </a:endParaRPr>
          </a:p>
          <a:p>
            <a:pPr marL="332740" marR="2033270" indent="-320040">
              <a:lnSpc>
                <a:spcPct val="120000"/>
              </a:lnSpc>
              <a:spcBef>
                <a:spcPts val="1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关键路</a:t>
            </a:r>
            <a:r>
              <a:rPr sz="2900" spc="-15" dirty="0">
                <a:latin typeface="隶书"/>
                <a:cs typeface="隶书"/>
              </a:rPr>
              <a:t>径</a:t>
            </a:r>
            <a:r>
              <a:rPr sz="2900" dirty="0">
                <a:latin typeface="隶书"/>
                <a:cs typeface="隶书"/>
              </a:rPr>
              <a:t>法 </a:t>
            </a:r>
            <a:r>
              <a:rPr sz="2900" spc="5" dirty="0">
                <a:latin typeface="隶书"/>
                <a:cs typeface="隶书"/>
              </a:rPr>
              <a:t>时间压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资源优化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敏捷计划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5567" y="2878835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160731"/>
            <a:ext cx="28219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时间压缩法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630" y="1844801"/>
            <a:ext cx="8153400" cy="1297305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10845" marR="316865" indent="-320040">
              <a:lnSpc>
                <a:spcPct val="100000"/>
              </a:lnSpc>
              <a:spcBef>
                <a:spcPts val="450"/>
              </a:spcBef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时间压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缩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法是在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不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改变项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目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范围的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前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提下缩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短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项 </a:t>
            </a:r>
            <a:r>
              <a:rPr sz="2900" u="heavy" spc="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目工期</a:t>
            </a:r>
            <a:r>
              <a:rPr sz="2900" u="heavy" spc="-20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的</a:t>
            </a:r>
            <a:r>
              <a:rPr sz="2900" u="heavy" spc="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方法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8630" y="3690365"/>
            <a:ext cx="8153400" cy="144018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410845" indent="-320675">
              <a:lnSpc>
                <a:spcPct val="100000"/>
              </a:lnSpc>
              <a:spcBef>
                <a:spcPts val="45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dirty="0">
                <a:latin typeface="隶书"/>
                <a:cs typeface="隶书"/>
              </a:rPr>
              <a:t>应急法</a:t>
            </a:r>
            <a:r>
              <a:rPr sz="2900" spc="-10" dirty="0">
                <a:latin typeface="隶书"/>
                <a:cs typeface="隶书"/>
              </a:rPr>
              <a:t>--</a:t>
            </a:r>
            <a:r>
              <a:rPr sz="2900" dirty="0">
                <a:latin typeface="隶书"/>
                <a:cs typeface="隶书"/>
              </a:rPr>
              <a:t>赶工（Crash）</a:t>
            </a:r>
            <a:endParaRPr sz="2900">
              <a:latin typeface="隶书"/>
              <a:cs typeface="隶书"/>
            </a:endParaRPr>
          </a:p>
          <a:p>
            <a:pPr marL="410845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1480" algn="l"/>
              </a:tabLst>
            </a:pPr>
            <a:r>
              <a:rPr sz="2900" dirty="0">
                <a:latin typeface="隶书"/>
                <a:cs typeface="隶书"/>
              </a:rPr>
              <a:t>平行作</a:t>
            </a:r>
            <a:r>
              <a:rPr sz="2900" spc="-15" dirty="0">
                <a:latin typeface="隶书"/>
                <a:cs typeface="隶书"/>
              </a:rPr>
              <a:t>业</a:t>
            </a:r>
            <a:r>
              <a:rPr sz="2900" dirty="0">
                <a:latin typeface="隶书"/>
                <a:cs typeface="隶书"/>
              </a:rPr>
              <a:t>法--快</a:t>
            </a:r>
            <a:r>
              <a:rPr sz="2900" spc="-15" dirty="0">
                <a:latin typeface="隶书"/>
                <a:cs typeface="隶书"/>
              </a:rPr>
              <a:t>速</a:t>
            </a:r>
            <a:r>
              <a:rPr sz="2900" dirty="0">
                <a:latin typeface="隶书"/>
                <a:cs typeface="隶书"/>
              </a:rPr>
              <a:t>跟进</a:t>
            </a:r>
            <a:endParaRPr sz="29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217" y="377189"/>
            <a:ext cx="52158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应急法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dirty="0">
                <a:latin typeface="华文隶书"/>
                <a:cs typeface="华文隶书"/>
              </a:rPr>
              <a:t>赶工（</a:t>
            </a:r>
            <a:r>
              <a:rPr i="1" dirty="0">
                <a:latin typeface="华文隶书"/>
                <a:cs typeface="华文隶书"/>
              </a:rPr>
              <a:t>Cras</a:t>
            </a:r>
            <a:r>
              <a:rPr i="1" spc="-15" dirty="0">
                <a:latin typeface="华文隶书"/>
                <a:cs typeface="华文隶书"/>
              </a:rPr>
              <a:t>h</a:t>
            </a:r>
            <a:r>
              <a:rPr dirty="0">
                <a:latin typeface="华文隶书"/>
                <a:cs typeface="华文隶书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109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541" y="2205989"/>
            <a:ext cx="8153400" cy="211582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410209" marR="364490" indent="-320675">
              <a:lnSpc>
                <a:spcPct val="100000"/>
              </a:lnSpc>
              <a:spcBef>
                <a:spcPts val="44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845" algn="l"/>
              </a:tabLst>
            </a:pPr>
            <a:r>
              <a:rPr sz="2900" dirty="0">
                <a:latin typeface="隶书"/>
                <a:cs typeface="隶书"/>
              </a:rPr>
              <a:t>在最小</a:t>
            </a:r>
            <a:r>
              <a:rPr sz="2900" spc="-15" dirty="0">
                <a:latin typeface="隶书"/>
                <a:cs typeface="隶书"/>
              </a:rPr>
              <a:t>相</a:t>
            </a:r>
            <a:r>
              <a:rPr sz="2900" dirty="0">
                <a:latin typeface="隶书"/>
                <a:cs typeface="隶书"/>
              </a:rPr>
              <a:t>关成本</a:t>
            </a:r>
            <a:r>
              <a:rPr sz="2900" spc="-15" dirty="0">
                <a:latin typeface="隶书"/>
                <a:cs typeface="隶书"/>
              </a:rPr>
              <a:t>增</a:t>
            </a:r>
            <a:r>
              <a:rPr sz="2900" dirty="0">
                <a:latin typeface="隶书"/>
                <a:cs typeface="隶书"/>
              </a:rPr>
              <a:t>加的条</a:t>
            </a:r>
            <a:r>
              <a:rPr sz="2900" spc="-15" dirty="0">
                <a:latin typeface="隶书"/>
                <a:cs typeface="隶书"/>
              </a:rPr>
              <a:t>件</a:t>
            </a:r>
            <a:r>
              <a:rPr sz="2900" dirty="0">
                <a:latin typeface="隶书"/>
                <a:cs typeface="隶书"/>
              </a:rPr>
              <a:t>下，压</a:t>
            </a:r>
            <a:r>
              <a:rPr sz="2900" spc="-15" dirty="0">
                <a:latin typeface="隶书"/>
                <a:cs typeface="隶书"/>
              </a:rPr>
              <a:t>缩</a:t>
            </a:r>
            <a:r>
              <a:rPr sz="2900" dirty="0">
                <a:latin typeface="隶书"/>
                <a:cs typeface="隶书"/>
              </a:rPr>
              <a:t>关键路经 上的关</a:t>
            </a:r>
            <a:r>
              <a:rPr sz="2900" spc="-15" dirty="0">
                <a:latin typeface="隶书"/>
                <a:cs typeface="隶书"/>
              </a:rPr>
              <a:t>键</a:t>
            </a:r>
            <a:r>
              <a:rPr sz="2900" dirty="0">
                <a:latin typeface="隶书"/>
                <a:cs typeface="隶书"/>
              </a:rPr>
              <a:t>活动历</a:t>
            </a:r>
            <a:r>
              <a:rPr sz="2900" spc="-15" dirty="0">
                <a:latin typeface="隶书"/>
                <a:cs typeface="隶书"/>
              </a:rPr>
              <a:t>时</a:t>
            </a:r>
            <a:r>
              <a:rPr sz="2900" dirty="0">
                <a:latin typeface="隶书"/>
                <a:cs typeface="隶书"/>
              </a:rPr>
              <a:t>的方法</a:t>
            </a:r>
            <a:endParaRPr sz="2900">
              <a:latin typeface="隶书"/>
              <a:cs typeface="隶书"/>
            </a:endParaRPr>
          </a:p>
          <a:p>
            <a:pPr marL="410209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845" algn="l"/>
              </a:tabLst>
            </a:pPr>
            <a:r>
              <a:rPr sz="2900" spc="5" dirty="0">
                <a:latin typeface="隶书"/>
                <a:cs typeface="隶书"/>
              </a:rPr>
              <a:t>赶工也</a:t>
            </a:r>
            <a:r>
              <a:rPr sz="2900" spc="-20" dirty="0">
                <a:latin typeface="隶书"/>
                <a:cs typeface="隶书"/>
              </a:rPr>
              <a:t>称</a:t>
            </a:r>
            <a:r>
              <a:rPr sz="2900" spc="5" dirty="0">
                <a:latin typeface="隶书"/>
                <a:cs typeface="隶书"/>
              </a:rPr>
              <a:t>为时</a:t>
            </a:r>
            <a:r>
              <a:rPr sz="2900" spc="-5" dirty="0">
                <a:latin typeface="隶书"/>
                <a:cs typeface="隶书"/>
              </a:rPr>
              <a:t>间</a:t>
            </a:r>
            <a:r>
              <a:rPr sz="2900" spc="-15" dirty="0">
                <a:latin typeface="隶书"/>
                <a:cs typeface="隶书"/>
              </a:rPr>
              <a:t>-</a:t>
            </a:r>
            <a:r>
              <a:rPr sz="2900" spc="5" dirty="0">
                <a:latin typeface="隶书"/>
                <a:cs typeface="隶书"/>
              </a:rPr>
              <a:t>成本平</a:t>
            </a:r>
            <a:r>
              <a:rPr sz="2900" spc="-20" dirty="0">
                <a:latin typeface="隶书"/>
                <a:cs typeface="隶书"/>
              </a:rPr>
              <a:t>衡</a:t>
            </a:r>
            <a:r>
              <a:rPr sz="2900" spc="5" dirty="0">
                <a:latin typeface="隶书"/>
                <a:cs typeface="隶书"/>
              </a:rPr>
              <a:t>方法</a:t>
            </a:r>
            <a:endParaRPr sz="29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468" y="160731"/>
            <a:ext cx="67373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赶工时间与赶工成本关系图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4059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520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96161" y="4344161"/>
            <a:ext cx="5334000" cy="0"/>
          </a:xfrm>
          <a:custGeom>
            <a:avLst/>
            <a:gdLst/>
            <a:ahLst/>
            <a:cxnLst/>
            <a:rect l="l" t="t" r="r" b="b"/>
            <a:pathLst>
              <a:path w="5334000">
                <a:moveTo>
                  <a:pt x="0" y="0"/>
                </a:moveTo>
                <a:lnTo>
                  <a:pt x="53339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630161" y="1677161"/>
            <a:ext cx="0" cy="2667000"/>
          </a:xfrm>
          <a:custGeom>
            <a:avLst/>
            <a:gdLst/>
            <a:ahLst/>
            <a:cxnLst/>
            <a:rect l="l" t="t" r="r" b="b"/>
            <a:pathLst>
              <a:path h="2667000">
                <a:moveTo>
                  <a:pt x="0" y="266700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96161" y="1677161"/>
            <a:ext cx="5334000" cy="2667000"/>
          </a:xfrm>
          <a:custGeom>
            <a:avLst/>
            <a:gdLst/>
            <a:ahLst/>
            <a:cxnLst/>
            <a:rect l="l" t="t" r="r" b="b"/>
            <a:pathLst>
              <a:path w="5334000" h="2667000">
                <a:moveTo>
                  <a:pt x="0" y="2667000"/>
                </a:moveTo>
                <a:lnTo>
                  <a:pt x="53339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43961" y="3966971"/>
            <a:ext cx="227965" cy="363855"/>
          </a:xfrm>
          <a:custGeom>
            <a:avLst/>
            <a:gdLst/>
            <a:ahLst/>
            <a:cxnLst/>
            <a:rect l="l" t="t" r="r" b="b"/>
            <a:pathLst>
              <a:path w="227964" h="363854">
                <a:moveTo>
                  <a:pt x="76200" y="89153"/>
                </a:moveTo>
                <a:lnTo>
                  <a:pt x="0" y="240029"/>
                </a:lnTo>
                <a:lnTo>
                  <a:pt x="76200" y="363473"/>
                </a:lnTo>
                <a:lnTo>
                  <a:pt x="76200" y="294894"/>
                </a:lnTo>
                <a:lnTo>
                  <a:pt x="116728" y="274997"/>
                </a:lnTo>
                <a:lnTo>
                  <a:pt x="151852" y="248048"/>
                </a:lnTo>
                <a:lnTo>
                  <a:pt x="181034" y="215149"/>
                </a:lnTo>
                <a:lnTo>
                  <a:pt x="203739" y="177403"/>
                </a:lnTo>
                <a:lnTo>
                  <a:pt x="211178" y="157733"/>
                </a:lnTo>
                <a:lnTo>
                  <a:pt x="76200" y="157733"/>
                </a:lnTo>
                <a:lnTo>
                  <a:pt x="76200" y="89153"/>
                </a:lnTo>
                <a:close/>
              </a:path>
              <a:path w="227964" h="363854">
                <a:moveTo>
                  <a:pt x="219075" y="0"/>
                </a:moveTo>
                <a:lnTo>
                  <a:pt x="202826" y="42190"/>
                </a:lnTo>
                <a:lnTo>
                  <a:pt x="179609" y="79936"/>
                </a:lnTo>
                <a:lnTo>
                  <a:pt x="150229" y="112361"/>
                </a:lnTo>
                <a:lnTo>
                  <a:pt x="115491" y="138586"/>
                </a:lnTo>
                <a:lnTo>
                  <a:pt x="76200" y="157733"/>
                </a:lnTo>
                <a:lnTo>
                  <a:pt x="211178" y="157733"/>
                </a:lnTo>
                <a:lnTo>
                  <a:pt x="219432" y="135912"/>
                </a:lnTo>
                <a:lnTo>
                  <a:pt x="227576" y="91779"/>
                </a:lnTo>
                <a:lnTo>
                  <a:pt x="227635" y="46107"/>
                </a:lnTo>
                <a:lnTo>
                  <a:pt x="219075" y="0"/>
                </a:lnTo>
                <a:close/>
              </a:path>
            </a:pathLst>
          </a:custGeom>
          <a:solidFill>
            <a:srgbClr val="9595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43961" y="3658361"/>
            <a:ext cx="228600" cy="377190"/>
          </a:xfrm>
          <a:custGeom>
            <a:avLst/>
            <a:gdLst/>
            <a:ahLst/>
            <a:cxnLst/>
            <a:rect l="l" t="t" r="r" b="b"/>
            <a:pathLst>
              <a:path w="228600" h="377189">
                <a:moveTo>
                  <a:pt x="0" y="0"/>
                </a:moveTo>
                <a:lnTo>
                  <a:pt x="0" y="137160"/>
                </a:lnTo>
                <a:lnTo>
                  <a:pt x="46066" y="142035"/>
                </a:lnTo>
                <a:lnTo>
                  <a:pt x="88975" y="156019"/>
                </a:lnTo>
                <a:lnTo>
                  <a:pt x="127806" y="178147"/>
                </a:lnTo>
                <a:lnTo>
                  <a:pt x="161639" y="207454"/>
                </a:lnTo>
                <a:lnTo>
                  <a:pt x="189554" y="242976"/>
                </a:lnTo>
                <a:lnTo>
                  <a:pt x="210633" y="283749"/>
                </a:lnTo>
                <a:lnTo>
                  <a:pt x="223955" y="328808"/>
                </a:lnTo>
                <a:lnTo>
                  <a:pt x="228600" y="377189"/>
                </a:lnTo>
                <a:lnTo>
                  <a:pt x="228600" y="240030"/>
                </a:lnTo>
                <a:lnTo>
                  <a:pt x="223955" y="191648"/>
                </a:lnTo>
                <a:lnTo>
                  <a:pt x="210633" y="146589"/>
                </a:lnTo>
                <a:lnTo>
                  <a:pt x="189554" y="105816"/>
                </a:lnTo>
                <a:lnTo>
                  <a:pt x="161639" y="70294"/>
                </a:lnTo>
                <a:lnTo>
                  <a:pt x="127806" y="40987"/>
                </a:lnTo>
                <a:lnTo>
                  <a:pt x="88975" y="18859"/>
                </a:lnTo>
                <a:lnTo>
                  <a:pt x="46066" y="4875"/>
                </a:lnTo>
                <a:lnTo>
                  <a:pt x="0" y="0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3961" y="3658361"/>
            <a:ext cx="228600" cy="672465"/>
          </a:xfrm>
          <a:custGeom>
            <a:avLst/>
            <a:gdLst/>
            <a:ahLst/>
            <a:cxnLst/>
            <a:rect l="l" t="t" r="r" b="b"/>
            <a:pathLst>
              <a:path w="228600" h="672464">
                <a:moveTo>
                  <a:pt x="228600" y="377189"/>
                </a:moveTo>
                <a:lnTo>
                  <a:pt x="223955" y="328808"/>
                </a:lnTo>
                <a:lnTo>
                  <a:pt x="210633" y="283749"/>
                </a:lnTo>
                <a:lnTo>
                  <a:pt x="189554" y="242976"/>
                </a:lnTo>
                <a:lnTo>
                  <a:pt x="161639" y="207454"/>
                </a:lnTo>
                <a:lnTo>
                  <a:pt x="127806" y="178147"/>
                </a:lnTo>
                <a:lnTo>
                  <a:pt x="88975" y="156019"/>
                </a:lnTo>
                <a:lnTo>
                  <a:pt x="46066" y="142035"/>
                </a:lnTo>
                <a:lnTo>
                  <a:pt x="0" y="137160"/>
                </a:lnTo>
                <a:lnTo>
                  <a:pt x="0" y="0"/>
                </a:lnTo>
                <a:lnTo>
                  <a:pt x="46066" y="4875"/>
                </a:lnTo>
                <a:lnTo>
                  <a:pt x="88975" y="18859"/>
                </a:lnTo>
                <a:lnTo>
                  <a:pt x="127806" y="40987"/>
                </a:lnTo>
                <a:lnTo>
                  <a:pt x="161639" y="70294"/>
                </a:lnTo>
                <a:lnTo>
                  <a:pt x="189554" y="105816"/>
                </a:lnTo>
                <a:lnTo>
                  <a:pt x="210633" y="146589"/>
                </a:lnTo>
                <a:lnTo>
                  <a:pt x="223955" y="191648"/>
                </a:lnTo>
                <a:lnTo>
                  <a:pt x="228600" y="240030"/>
                </a:lnTo>
                <a:lnTo>
                  <a:pt x="228600" y="377189"/>
                </a:lnTo>
                <a:lnTo>
                  <a:pt x="223652" y="426921"/>
                </a:lnTo>
                <a:lnTo>
                  <a:pt x="209380" y="473540"/>
                </a:lnTo>
                <a:lnTo>
                  <a:pt x="186642" y="515778"/>
                </a:lnTo>
                <a:lnTo>
                  <a:pt x="156294" y="552365"/>
                </a:lnTo>
                <a:lnTo>
                  <a:pt x="119194" y="582030"/>
                </a:lnTo>
                <a:lnTo>
                  <a:pt x="76200" y="603504"/>
                </a:lnTo>
                <a:lnTo>
                  <a:pt x="76200" y="672083"/>
                </a:lnTo>
                <a:lnTo>
                  <a:pt x="0" y="548639"/>
                </a:lnTo>
                <a:lnTo>
                  <a:pt x="76200" y="397763"/>
                </a:lnTo>
                <a:lnTo>
                  <a:pt x="76200" y="466344"/>
                </a:lnTo>
                <a:lnTo>
                  <a:pt x="115491" y="447196"/>
                </a:lnTo>
                <a:lnTo>
                  <a:pt x="150229" y="420971"/>
                </a:lnTo>
                <a:lnTo>
                  <a:pt x="179609" y="388546"/>
                </a:lnTo>
                <a:lnTo>
                  <a:pt x="202826" y="350800"/>
                </a:lnTo>
                <a:lnTo>
                  <a:pt x="219075" y="30861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10561" y="4248911"/>
            <a:ext cx="4114800" cy="1695450"/>
          </a:xfrm>
          <a:custGeom>
            <a:avLst/>
            <a:gdLst/>
            <a:ahLst/>
            <a:cxnLst/>
            <a:rect l="l" t="t" r="r" b="b"/>
            <a:pathLst>
              <a:path w="4114800" h="1695450">
                <a:moveTo>
                  <a:pt x="0" y="1123950"/>
                </a:moveTo>
                <a:lnTo>
                  <a:pt x="8983" y="1079462"/>
                </a:lnTo>
                <a:lnTo>
                  <a:pt x="33480" y="1043130"/>
                </a:lnTo>
                <a:lnTo>
                  <a:pt x="69812" y="1018633"/>
                </a:lnTo>
                <a:lnTo>
                  <a:pt x="114300" y="1009650"/>
                </a:lnTo>
                <a:lnTo>
                  <a:pt x="685800" y="1009650"/>
                </a:lnTo>
                <a:lnTo>
                  <a:pt x="733425" y="0"/>
                </a:lnTo>
                <a:lnTo>
                  <a:pt x="1714500" y="1009650"/>
                </a:lnTo>
                <a:lnTo>
                  <a:pt x="4000500" y="1009650"/>
                </a:lnTo>
                <a:lnTo>
                  <a:pt x="4044987" y="1018633"/>
                </a:lnTo>
                <a:lnTo>
                  <a:pt x="4081319" y="1043130"/>
                </a:lnTo>
                <a:lnTo>
                  <a:pt x="4105816" y="1079462"/>
                </a:lnTo>
                <a:lnTo>
                  <a:pt x="4114800" y="1123950"/>
                </a:lnTo>
                <a:lnTo>
                  <a:pt x="4114800" y="1295400"/>
                </a:lnTo>
                <a:lnTo>
                  <a:pt x="4114800" y="1581150"/>
                </a:lnTo>
                <a:lnTo>
                  <a:pt x="4105816" y="1625637"/>
                </a:lnTo>
                <a:lnTo>
                  <a:pt x="4081319" y="1661969"/>
                </a:lnTo>
                <a:lnTo>
                  <a:pt x="4044987" y="1686466"/>
                </a:lnTo>
                <a:lnTo>
                  <a:pt x="4000500" y="1695450"/>
                </a:lnTo>
                <a:lnTo>
                  <a:pt x="1714500" y="1695450"/>
                </a:lnTo>
                <a:lnTo>
                  <a:pt x="685800" y="1695450"/>
                </a:lnTo>
                <a:lnTo>
                  <a:pt x="114300" y="1695450"/>
                </a:lnTo>
                <a:lnTo>
                  <a:pt x="69812" y="1686466"/>
                </a:lnTo>
                <a:lnTo>
                  <a:pt x="33480" y="1661969"/>
                </a:lnTo>
                <a:lnTo>
                  <a:pt x="8983" y="1625637"/>
                </a:lnTo>
                <a:lnTo>
                  <a:pt x="0" y="1581150"/>
                </a:lnTo>
                <a:lnTo>
                  <a:pt x="0" y="1295400"/>
                </a:lnTo>
                <a:lnTo>
                  <a:pt x="0" y="112395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655189" y="2203069"/>
            <a:ext cx="5064760" cy="3586479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4645025" marR="5080" algn="just">
              <a:lnSpc>
                <a:spcPts val="3200"/>
              </a:lnSpc>
              <a:spcBef>
                <a:spcPts val="740"/>
              </a:spcBef>
            </a:pPr>
            <a:r>
              <a:rPr sz="3200" dirty="0">
                <a:solidFill>
                  <a:srgbClr val="AFAC00"/>
                </a:solidFill>
                <a:latin typeface="宋体"/>
                <a:cs typeface="宋体"/>
              </a:rPr>
              <a:t>追 加 成 本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marL="140335" algn="ctr">
              <a:lnSpc>
                <a:spcPct val="100000"/>
              </a:lnSpc>
              <a:spcBef>
                <a:spcPts val="5"/>
              </a:spcBef>
            </a:pPr>
            <a:r>
              <a:rPr sz="3200" dirty="0">
                <a:solidFill>
                  <a:srgbClr val="AFAC00"/>
                </a:solidFill>
                <a:latin typeface="宋体"/>
                <a:cs typeface="宋体"/>
              </a:rPr>
              <a:t>压缩时间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隶书"/>
                <a:cs typeface="隶书"/>
              </a:rPr>
              <a:t>压</a:t>
            </a:r>
            <a:r>
              <a:rPr sz="2800" spc="-5" dirty="0">
                <a:latin typeface="隶书"/>
                <a:cs typeface="隶书"/>
              </a:rPr>
              <a:t>缩角度，越小越好</a:t>
            </a:r>
            <a:endParaRPr sz="28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24103"/>
            <a:ext cx="33794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隶书"/>
                <a:cs typeface="隶书"/>
              </a:rPr>
              <a:t>应急</a:t>
            </a:r>
            <a:r>
              <a:rPr spc="-10" dirty="0">
                <a:latin typeface="隶书"/>
                <a:cs typeface="隶书"/>
              </a:rPr>
              <a:t>法--</a:t>
            </a:r>
            <a:r>
              <a:rPr dirty="0">
                <a:latin typeface="隶书"/>
                <a:cs typeface="隶书"/>
              </a:rPr>
              <a:t>赶工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615" y="1268729"/>
            <a:ext cx="21780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111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477" y="1989582"/>
            <a:ext cx="8153400" cy="262128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605790" indent="-515620">
              <a:lnSpc>
                <a:spcPct val="100000"/>
              </a:lnSpc>
              <a:spcBef>
                <a:spcPts val="445"/>
              </a:spcBef>
              <a:buClr>
                <a:srgbClr val="DD8046"/>
              </a:buClr>
              <a:buSzPct val="60344"/>
              <a:buAutoNum type="arabicPeriod"/>
              <a:tabLst>
                <a:tab pos="605790" algn="l"/>
                <a:tab pos="606425" algn="l"/>
              </a:tabLst>
            </a:pPr>
            <a:r>
              <a:rPr sz="2900" dirty="0">
                <a:latin typeface="隶书"/>
                <a:cs typeface="隶书"/>
              </a:rPr>
              <a:t>进度压缩单位成本方法</a:t>
            </a:r>
            <a:endParaRPr sz="2900">
              <a:latin typeface="隶书"/>
              <a:cs typeface="隶书"/>
            </a:endParaRPr>
          </a:p>
          <a:p>
            <a:pPr marL="458470">
              <a:lnSpc>
                <a:spcPct val="100000"/>
              </a:lnSpc>
              <a:spcBef>
                <a:spcPts val="590"/>
              </a:spcBef>
            </a:pPr>
            <a:r>
              <a:rPr sz="2600" spc="5" dirty="0">
                <a:latin typeface="隶书"/>
                <a:cs typeface="隶书"/>
              </a:rPr>
              <a:t>线性关系</a:t>
            </a:r>
            <a:endParaRPr sz="2600">
              <a:latin typeface="隶书"/>
              <a:cs typeface="隶书"/>
            </a:endParaRPr>
          </a:p>
          <a:p>
            <a:pPr marL="605790" indent="-515620">
              <a:lnSpc>
                <a:spcPct val="100000"/>
              </a:lnSpc>
              <a:spcBef>
                <a:spcPts val="725"/>
              </a:spcBef>
              <a:buClr>
                <a:srgbClr val="DD8046"/>
              </a:buClr>
              <a:buSzPct val="60344"/>
              <a:buAutoNum type="arabicPeriod" startAt="2"/>
              <a:tabLst>
                <a:tab pos="605790" algn="l"/>
                <a:tab pos="606425" algn="l"/>
              </a:tabLst>
            </a:pPr>
            <a:r>
              <a:rPr sz="2900" dirty="0">
                <a:latin typeface="隶书"/>
                <a:cs typeface="隶书"/>
              </a:rPr>
              <a:t>Charles</a:t>
            </a:r>
            <a:r>
              <a:rPr sz="2900" spc="-10" dirty="0">
                <a:latin typeface="隶书"/>
                <a:cs typeface="隶书"/>
              </a:rPr>
              <a:t> </a:t>
            </a:r>
            <a:r>
              <a:rPr sz="2900" spc="-5" dirty="0">
                <a:latin typeface="隶书"/>
                <a:cs typeface="隶书"/>
              </a:rPr>
              <a:t>Symons(1991)</a:t>
            </a:r>
            <a:r>
              <a:rPr sz="2900" dirty="0">
                <a:latin typeface="隶书"/>
                <a:cs typeface="隶书"/>
              </a:rPr>
              <a:t>方法</a:t>
            </a:r>
            <a:endParaRPr sz="2900">
              <a:latin typeface="隶书"/>
              <a:cs typeface="隶书"/>
            </a:endParaRPr>
          </a:p>
          <a:p>
            <a:pPr marL="458470">
              <a:lnSpc>
                <a:spcPct val="100000"/>
              </a:lnSpc>
              <a:spcBef>
                <a:spcPts val="585"/>
              </a:spcBef>
            </a:pPr>
            <a:r>
              <a:rPr sz="2600" dirty="0">
                <a:latin typeface="隶书"/>
                <a:cs typeface="隶书"/>
              </a:rPr>
              <a:t>进度压缩比普通进度短的时候，费</a:t>
            </a:r>
            <a:r>
              <a:rPr sz="2600" spc="-15" dirty="0">
                <a:latin typeface="隶书"/>
                <a:cs typeface="隶书"/>
              </a:rPr>
              <a:t>用</a:t>
            </a:r>
            <a:r>
              <a:rPr sz="2600" dirty="0">
                <a:latin typeface="隶书"/>
                <a:cs typeface="隶书"/>
              </a:rPr>
              <a:t>迅速上涨</a:t>
            </a:r>
            <a:endParaRPr sz="26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进度压缩单位成本方法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20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037" y="1774698"/>
            <a:ext cx="7772400" cy="4114800"/>
          </a:xfrm>
          <a:custGeom>
            <a:avLst/>
            <a:gdLst/>
            <a:ahLst/>
            <a:cxnLst/>
            <a:rect l="l" t="t" r="r" b="b"/>
            <a:pathLst>
              <a:path w="7772400" h="4114800">
                <a:moveTo>
                  <a:pt x="0" y="4114800"/>
                </a:moveTo>
                <a:lnTo>
                  <a:pt x="7772400" y="4114800"/>
                </a:lnTo>
                <a:lnTo>
                  <a:pt x="77724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716" y="1817624"/>
            <a:ext cx="7335520" cy="3035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隶书"/>
                <a:cs typeface="隶书"/>
              </a:rPr>
              <a:t>压缩范</a:t>
            </a:r>
            <a:r>
              <a:rPr sz="2900" spc="-15" dirty="0">
                <a:latin typeface="隶书"/>
                <a:cs typeface="隶书"/>
              </a:rPr>
              <a:t>围</a:t>
            </a:r>
            <a:r>
              <a:rPr sz="2900" dirty="0">
                <a:latin typeface="隶书"/>
                <a:cs typeface="隶书"/>
              </a:rPr>
              <a:t>：正常</a:t>
            </a:r>
            <a:r>
              <a:rPr sz="2900" spc="-15" dirty="0">
                <a:latin typeface="隶书"/>
                <a:cs typeface="隶书"/>
              </a:rPr>
              <a:t>值</a:t>
            </a:r>
            <a:r>
              <a:rPr sz="2900" dirty="0">
                <a:latin typeface="隶书"/>
                <a:cs typeface="隶书"/>
              </a:rPr>
              <a:t>与可压</a:t>
            </a:r>
            <a:r>
              <a:rPr sz="2900" spc="-15" dirty="0">
                <a:latin typeface="隶书"/>
                <a:cs typeface="隶书"/>
              </a:rPr>
              <a:t>缩</a:t>
            </a:r>
            <a:r>
              <a:rPr sz="2900" dirty="0">
                <a:latin typeface="隶书"/>
                <a:cs typeface="隶书"/>
              </a:rPr>
              <a:t>值之间</a:t>
            </a:r>
            <a:endParaRPr sz="2900">
              <a:latin typeface="隶书"/>
              <a:cs typeface="隶书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2900" dirty="0">
                <a:latin typeface="隶书"/>
                <a:cs typeface="隶书"/>
              </a:rPr>
              <a:t>例如：</a:t>
            </a:r>
            <a:endParaRPr sz="2900">
              <a:latin typeface="隶书"/>
              <a:cs typeface="隶书"/>
            </a:endParaRPr>
          </a:p>
          <a:p>
            <a:pPr marL="320040" marR="508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20040" algn="l"/>
              </a:tabLst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任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务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A: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正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常进度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7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周,成本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5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万；压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缩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到5周的</a:t>
            </a:r>
            <a:r>
              <a:rPr sz="2900" u="heavy" spc="-290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成 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本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是6.2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万</a:t>
            </a:r>
            <a:endParaRPr sz="2900">
              <a:latin typeface="隶书"/>
              <a:cs typeface="隶书"/>
            </a:endParaRPr>
          </a:p>
          <a:p>
            <a:pPr marL="3200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20040" algn="l"/>
                <a:tab pos="3636645" algn="l"/>
              </a:tabLst>
            </a:pPr>
            <a:r>
              <a:rPr sz="2900" dirty="0">
                <a:latin typeface="隶书"/>
                <a:cs typeface="隶书"/>
              </a:rPr>
              <a:t>压缩范</a:t>
            </a:r>
            <a:r>
              <a:rPr sz="2900" spc="-20" dirty="0">
                <a:latin typeface="隶书"/>
                <a:cs typeface="隶书"/>
              </a:rPr>
              <a:t>围</a:t>
            </a:r>
            <a:r>
              <a:rPr sz="2900" dirty="0">
                <a:latin typeface="隶书"/>
                <a:cs typeface="隶书"/>
              </a:rPr>
              <a:t>：7</a:t>
            </a:r>
            <a:r>
              <a:rPr sz="2900" spc="15" dirty="0">
                <a:latin typeface="隶书"/>
                <a:cs typeface="隶书"/>
              </a:rPr>
              <a:t> </a:t>
            </a:r>
            <a:r>
              <a:rPr sz="2900" dirty="0">
                <a:latin typeface="隶书"/>
                <a:cs typeface="隶书"/>
              </a:rPr>
              <a:t>周—	5周</a:t>
            </a:r>
            <a:endParaRPr sz="29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进度压缩单位成本方法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20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037" y="1774698"/>
            <a:ext cx="7772400" cy="411480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440"/>
              </a:spcBef>
            </a:pPr>
            <a:r>
              <a:rPr sz="2900" dirty="0">
                <a:latin typeface="隶书"/>
                <a:cs typeface="隶书"/>
              </a:rPr>
              <a:t>压缩范</a:t>
            </a:r>
            <a:r>
              <a:rPr sz="2900" spc="-15" dirty="0">
                <a:latin typeface="隶书"/>
                <a:cs typeface="隶书"/>
              </a:rPr>
              <a:t>围</a:t>
            </a:r>
            <a:r>
              <a:rPr sz="2900" dirty="0">
                <a:latin typeface="隶书"/>
                <a:cs typeface="隶书"/>
              </a:rPr>
              <a:t>：正常</a:t>
            </a:r>
            <a:r>
              <a:rPr sz="2900" spc="-15" dirty="0">
                <a:latin typeface="隶书"/>
                <a:cs typeface="隶书"/>
              </a:rPr>
              <a:t>值</a:t>
            </a:r>
            <a:r>
              <a:rPr sz="2900" dirty="0">
                <a:latin typeface="隶书"/>
                <a:cs typeface="隶书"/>
              </a:rPr>
              <a:t>与可压</a:t>
            </a:r>
            <a:r>
              <a:rPr sz="2900" spc="-15" dirty="0">
                <a:latin typeface="隶书"/>
                <a:cs typeface="隶书"/>
              </a:rPr>
              <a:t>缩</a:t>
            </a:r>
            <a:r>
              <a:rPr sz="2900" dirty="0">
                <a:latin typeface="隶书"/>
                <a:cs typeface="隶书"/>
              </a:rPr>
              <a:t>值之间</a:t>
            </a:r>
            <a:endParaRPr sz="2900">
              <a:latin typeface="隶书"/>
              <a:cs typeface="隶书"/>
            </a:endParaRPr>
          </a:p>
          <a:p>
            <a:pPr marL="410209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845" algn="l"/>
              </a:tabLst>
            </a:pPr>
            <a:r>
              <a:rPr sz="2900" dirty="0">
                <a:latin typeface="隶书"/>
                <a:cs typeface="隶书"/>
              </a:rPr>
              <a:t>项目活动的正常值</a:t>
            </a:r>
            <a:endParaRPr sz="2900">
              <a:latin typeface="隶书"/>
              <a:cs typeface="隶书"/>
            </a:endParaRPr>
          </a:p>
          <a:p>
            <a:pPr marL="730885" lvl="1" indent="-273685">
              <a:lnSpc>
                <a:spcPct val="100000"/>
              </a:lnSpc>
              <a:spcBef>
                <a:spcPts val="58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731520" algn="l"/>
              </a:tabLst>
            </a:pPr>
            <a:r>
              <a:rPr sz="2600" dirty="0">
                <a:latin typeface="隶书"/>
                <a:cs typeface="隶书"/>
              </a:rPr>
              <a:t>正常历时</a:t>
            </a:r>
            <a:endParaRPr sz="2600">
              <a:latin typeface="隶书"/>
              <a:cs typeface="隶书"/>
            </a:endParaRPr>
          </a:p>
          <a:p>
            <a:pPr marL="730885" lvl="1" indent="-27368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731520" algn="l"/>
              </a:tabLst>
            </a:pPr>
            <a:r>
              <a:rPr sz="2600" dirty="0">
                <a:latin typeface="隶书"/>
                <a:cs typeface="隶书"/>
              </a:rPr>
              <a:t>正常成本</a:t>
            </a:r>
            <a:endParaRPr sz="2600">
              <a:latin typeface="隶书"/>
              <a:cs typeface="隶书"/>
            </a:endParaRPr>
          </a:p>
          <a:p>
            <a:pPr marL="410209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410845" algn="l"/>
              </a:tabLst>
            </a:pPr>
            <a:r>
              <a:rPr sz="2900" dirty="0">
                <a:latin typeface="隶书"/>
                <a:cs typeface="隶书"/>
              </a:rPr>
              <a:t>项目活动的压缩值</a:t>
            </a:r>
            <a:endParaRPr sz="2900">
              <a:latin typeface="隶书"/>
              <a:cs typeface="隶书"/>
            </a:endParaRPr>
          </a:p>
          <a:p>
            <a:pPr marL="730885" lvl="1" indent="-273685">
              <a:lnSpc>
                <a:spcPct val="100000"/>
              </a:lnSpc>
              <a:spcBef>
                <a:spcPts val="590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731520" algn="l"/>
              </a:tabLst>
            </a:pPr>
            <a:r>
              <a:rPr sz="2600" dirty="0">
                <a:latin typeface="隶书"/>
                <a:cs typeface="隶书"/>
              </a:rPr>
              <a:t>压缩历时</a:t>
            </a:r>
            <a:endParaRPr sz="2600">
              <a:latin typeface="隶书"/>
              <a:cs typeface="隶书"/>
            </a:endParaRPr>
          </a:p>
          <a:p>
            <a:pPr marL="730885" lvl="1" indent="-273685">
              <a:lnSpc>
                <a:spcPct val="100000"/>
              </a:lnSpc>
              <a:spcBef>
                <a:spcPts val="605"/>
              </a:spcBef>
              <a:buClr>
                <a:srgbClr val="93B6D2"/>
              </a:buClr>
              <a:buSzPct val="69230"/>
              <a:buFont typeface="Wingdings"/>
              <a:buChar char=""/>
              <a:tabLst>
                <a:tab pos="731520" algn="l"/>
              </a:tabLst>
            </a:pPr>
            <a:r>
              <a:rPr sz="2600" dirty="0">
                <a:latin typeface="隶书"/>
                <a:cs typeface="隶书"/>
              </a:rPr>
              <a:t>压缩成本</a:t>
            </a:r>
            <a:endParaRPr sz="26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329564"/>
            <a:ext cx="5621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进度压缩单位成本方法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20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594" y="1629917"/>
            <a:ext cx="8712835" cy="139192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90170" marR="138430">
              <a:lnSpc>
                <a:spcPct val="100000"/>
              </a:lnSpc>
              <a:spcBef>
                <a:spcPts val="440"/>
              </a:spcBef>
            </a:pPr>
            <a:r>
              <a:rPr sz="2900" spc="5" dirty="0">
                <a:latin typeface="隶书"/>
                <a:cs typeface="隶书"/>
              </a:rPr>
              <a:t>进度压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单位成</a:t>
            </a:r>
            <a:r>
              <a:rPr sz="2900" spc="-20" dirty="0">
                <a:latin typeface="隶书"/>
                <a:cs typeface="隶书"/>
              </a:rPr>
              <a:t>本</a:t>
            </a:r>
            <a:r>
              <a:rPr sz="2900" spc="-5" dirty="0">
                <a:latin typeface="隶书"/>
                <a:cs typeface="隶书"/>
              </a:rPr>
              <a:t>=</a:t>
            </a:r>
            <a:r>
              <a:rPr sz="2900" spc="5" dirty="0">
                <a:latin typeface="隶书"/>
                <a:cs typeface="隶书"/>
              </a:rPr>
              <a:t>（压</a:t>
            </a:r>
            <a:r>
              <a:rPr sz="2900" spc="-1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成</a:t>
            </a:r>
            <a:r>
              <a:rPr sz="2900" spc="-5" dirty="0">
                <a:latin typeface="隶书"/>
                <a:cs typeface="隶书"/>
              </a:rPr>
              <a:t>本-</a:t>
            </a:r>
            <a:r>
              <a:rPr sz="2900" spc="-10" dirty="0">
                <a:latin typeface="隶书"/>
                <a:cs typeface="隶书"/>
              </a:rPr>
              <a:t>正</a:t>
            </a:r>
            <a:r>
              <a:rPr sz="2900" spc="5" dirty="0">
                <a:latin typeface="隶书"/>
                <a:cs typeface="隶书"/>
              </a:rPr>
              <a:t>常成本</a:t>
            </a:r>
            <a:r>
              <a:rPr sz="2900" spc="-15" dirty="0">
                <a:latin typeface="隶书"/>
                <a:cs typeface="隶书"/>
              </a:rPr>
              <a:t>）</a:t>
            </a:r>
            <a:r>
              <a:rPr sz="2900" spc="-5" dirty="0">
                <a:latin typeface="隶书"/>
                <a:cs typeface="隶书"/>
              </a:rPr>
              <a:t>/(正常进 </a:t>
            </a:r>
            <a:r>
              <a:rPr sz="2900" dirty="0">
                <a:latin typeface="隶书"/>
                <a:cs typeface="隶书"/>
              </a:rPr>
              <a:t>度-压</a:t>
            </a:r>
            <a:r>
              <a:rPr sz="2900" spc="-15" dirty="0">
                <a:latin typeface="隶书"/>
                <a:cs typeface="隶书"/>
              </a:rPr>
              <a:t>缩</a:t>
            </a:r>
            <a:r>
              <a:rPr sz="2900" dirty="0">
                <a:latin typeface="隶书"/>
                <a:cs typeface="隶书"/>
              </a:rPr>
              <a:t>进度)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0594" y="3429761"/>
            <a:ext cx="8712835" cy="3095625"/>
          </a:xfrm>
          <a:custGeom>
            <a:avLst/>
            <a:gdLst/>
            <a:ahLst/>
            <a:cxnLst/>
            <a:rect l="l" t="t" r="r" b="b"/>
            <a:pathLst>
              <a:path w="8712835" h="3095625">
                <a:moveTo>
                  <a:pt x="0" y="3095244"/>
                </a:moveTo>
                <a:lnTo>
                  <a:pt x="8712708" y="3095244"/>
                </a:lnTo>
                <a:lnTo>
                  <a:pt x="8712708" y="0"/>
                </a:lnTo>
                <a:lnTo>
                  <a:pt x="0" y="0"/>
                </a:lnTo>
                <a:lnTo>
                  <a:pt x="0" y="3095244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267" y="3383889"/>
            <a:ext cx="8454390" cy="259334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900" dirty="0">
                <a:latin typeface="隶书"/>
                <a:cs typeface="隶书"/>
              </a:rPr>
              <a:t>例如：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任务A: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正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常进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度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7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周,成本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5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万；压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缩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到5周的成本是</a:t>
            </a:r>
            <a:endParaRPr sz="2900">
              <a:latin typeface="隶书"/>
              <a:cs typeface="隶书"/>
            </a:endParaRPr>
          </a:p>
          <a:p>
            <a:pPr marL="332740">
              <a:lnSpc>
                <a:spcPct val="100000"/>
              </a:lnSpc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6.2万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进度压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单位成</a:t>
            </a:r>
            <a:r>
              <a:rPr sz="2900" spc="-15" dirty="0">
                <a:latin typeface="隶书"/>
                <a:cs typeface="隶书"/>
              </a:rPr>
              <a:t>本</a:t>
            </a:r>
            <a:r>
              <a:rPr sz="2900" spc="-5" dirty="0">
                <a:latin typeface="隶书"/>
                <a:cs typeface="隶书"/>
              </a:rPr>
              <a:t>=(6.2-5)/(7-5)=6000</a:t>
            </a:r>
            <a:r>
              <a:rPr sz="2900" dirty="0">
                <a:latin typeface="隶书"/>
                <a:cs typeface="隶书"/>
              </a:rPr>
              <a:t>元</a:t>
            </a:r>
            <a:r>
              <a:rPr sz="2900" spc="-5" dirty="0">
                <a:latin typeface="隶书"/>
                <a:cs typeface="隶书"/>
              </a:rPr>
              <a:t>/</a:t>
            </a:r>
            <a:r>
              <a:rPr sz="2900" spc="5" dirty="0">
                <a:latin typeface="隶书"/>
                <a:cs typeface="隶书"/>
              </a:rPr>
              <a:t>周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如果压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缩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到6周</a:t>
            </a:r>
            <a:r>
              <a:rPr sz="2900" u="heavy" spc="-1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的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成本是</a:t>
            </a:r>
            <a:r>
              <a:rPr sz="2900" u="heavy" spc="-5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：5.6</a:t>
            </a:r>
            <a:r>
              <a:rPr sz="2900" u="heavy" dirty="0">
                <a:uFill>
                  <a:solidFill>
                    <a:srgbClr val="000000"/>
                  </a:solidFill>
                </a:uFill>
                <a:latin typeface="隶书"/>
                <a:cs typeface="隶书"/>
              </a:rPr>
              <a:t>万</a:t>
            </a:r>
            <a:endParaRPr sz="29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891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时间压缩例题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792" y="1301876"/>
            <a:ext cx="26098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5" dirty="0">
                <a:latin typeface="Arial Narrow"/>
                <a:cs typeface="Arial Narrow"/>
              </a:rPr>
              <a:t>1</a:t>
            </a:r>
            <a:r>
              <a:rPr sz="1400" b="1" spc="-5" dirty="0">
                <a:latin typeface="Arial Narrow"/>
                <a:cs typeface="Arial Narrow"/>
              </a:rPr>
              <a:t>1</a:t>
            </a:r>
            <a:r>
              <a:rPr sz="1400" b="1" dirty="0">
                <a:latin typeface="Arial Narrow"/>
                <a:cs typeface="Arial Narrow"/>
              </a:rPr>
              <a:t>5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3265" y="1565910"/>
            <a:ext cx="8839200" cy="1071880"/>
          </a:xfrm>
          <a:custGeom>
            <a:avLst/>
            <a:gdLst/>
            <a:ahLst/>
            <a:cxnLst/>
            <a:rect l="l" t="t" r="r" b="b"/>
            <a:pathLst>
              <a:path w="8839200" h="1071880">
                <a:moveTo>
                  <a:pt x="0" y="1071372"/>
                </a:moveTo>
                <a:lnTo>
                  <a:pt x="8839200" y="1071372"/>
                </a:lnTo>
                <a:lnTo>
                  <a:pt x="8839200" y="0"/>
                </a:lnTo>
                <a:lnTo>
                  <a:pt x="0" y="0"/>
                </a:lnTo>
                <a:lnTo>
                  <a:pt x="0" y="1071372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00939" y="1607946"/>
            <a:ext cx="88658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隶书"/>
                <a:cs typeface="隶书"/>
              </a:rPr>
              <a:t>下图给出了各个任务可以压缩的最大限度和压缩成本，请问如果 将工期压缩</a:t>
            </a:r>
            <a:r>
              <a:rPr sz="2400" spc="-15" dirty="0">
                <a:latin typeface="隶书"/>
                <a:cs typeface="隶书"/>
              </a:rPr>
              <a:t>到</a:t>
            </a:r>
            <a:r>
              <a:rPr sz="2400" spc="-5" dirty="0">
                <a:latin typeface="隶书"/>
                <a:cs typeface="隶书"/>
              </a:rPr>
              <a:t>17周，16周，15周时应该压缩的活动和最后的成本？</a:t>
            </a:r>
            <a:endParaRPr sz="2400">
              <a:latin typeface="隶书"/>
              <a:cs typeface="隶书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051" y="4460747"/>
            <a:ext cx="838200" cy="46037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2400" spc="-5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6251" y="3241548"/>
            <a:ext cx="1447800" cy="13385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245"/>
              </a:spcBef>
            </a:pPr>
            <a:r>
              <a:rPr sz="2000" spc="-5" dirty="0">
                <a:latin typeface="Times New Roman"/>
                <a:cs typeface="Times New Roman"/>
              </a:rPr>
              <a:t>N:</a:t>
            </a:r>
            <a:r>
              <a:rPr sz="2000" spc="5" dirty="0">
                <a:latin typeface="Times New Roman"/>
                <a:cs typeface="Times New Roman"/>
              </a:rPr>
              <a:t>7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5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085"/>
              </a:spcBef>
            </a:pPr>
            <a:r>
              <a:rPr sz="1800" dirty="0">
                <a:latin typeface="Times New Roman"/>
                <a:cs typeface="Times New Roman"/>
              </a:rPr>
              <a:t>C:5</a:t>
            </a:r>
            <a:r>
              <a:rPr sz="1800" dirty="0">
                <a:latin typeface="宋体"/>
                <a:cs typeface="宋体"/>
              </a:rPr>
              <a:t>周</a:t>
            </a:r>
            <a:r>
              <a:rPr sz="1800" dirty="0">
                <a:latin typeface="Times New Roman"/>
                <a:cs typeface="Times New Roman"/>
              </a:rPr>
              <a:t>:6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宋体"/>
                <a:cs typeface="宋体"/>
              </a:rPr>
              <a:t>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51304" y="5262371"/>
            <a:ext cx="1489075" cy="1384300"/>
          </a:xfrm>
          <a:custGeom>
            <a:avLst/>
            <a:gdLst/>
            <a:ahLst/>
            <a:cxnLst/>
            <a:rect l="l" t="t" r="r" b="b"/>
            <a:pathLst>
              <a:path w="1489075" h="1384300">
                <a:moveTo>
                  <a:pt x="0" y="1383791"/>
                </a:moveTo>
                <a:lnTo>
                  <a:pt x="1488947" y="1383791"/>
                </a:lnTo>
                <a:lnTo>
                  <a:pt x="1488947" y="0"/>
                </a:lnTo>
                <a:lnTo>
                  <a:pt x="0" y="0"/>
                </a:lnTo>
                <a:lnTo>
                  <a:pt x="0" y="1383791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30044" y="5097892"/>
            <a:ext cx="1292225" cy="149987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  <a:spcBef>
                <a:spcPts val="45"/>
              </a:spcBef>
            </a:pPr>
            <a:r>
              <a:rPr sz="2000" dirty="0">
                <a:latin typeface="Times New Roman"/>
                <a:cs typeface="Times New Roman"/>
              </a:rPr>
              <a:t>N:10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</a:t>
            </a:r>
            <a:r>
              <a:rPr sz="2000" dirty="0">
                <a:latin typeface="宋体"/>
                <a:cs typeface="宋体"/>
              </a:rPr>
              <a:t>万 </a:t>
            </a: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11852" y="3241548"/>
            <a:ext cx="1447800" cy="13843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92075" marR="154305">
              <a:lnSpc>
                <a:spcPct val="150000"/>
              </a:lnSpc>
              <a:spcBef>
                <a:spcPts val="45"/>
              </a:spcBef>
            </a:pPr>
            <a:r>
              <a:rPr sz="2000" dirty="0">
                <a:latin typeface="Times New Roman"/>
                <a:cs typeface="Times New Roman"/>
              </a:rPr>
              <a:t>N:9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:8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  C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7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5652" y="5283708"/>
            <a:ext cx="152400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92075" marR="157480">
              <a:lnSpc>
                <a:spcPct val="150100"/>
              </a:lnSpc>
              <a:spcBef>
                <a:spcPts val="40"/>
              </a:spcBef>
            </a:pPr>
            <a:r>
              <a:rPr sz="2000" dirty="0">
                <a:latin typeface="Times New Roman"/>
                <a:cs typeface="Times New Roman"/>
              </a:rPr>
              <a:t>N:8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:3</a:t>
            </a:r>
            <a:r>
              <a:rPr sz="2000" dirty="0">
                <a:latin typeface="宋体"/>
                <a:cs typeface="宋体"/>
              </a:rPr>
              <a:t>万 </a:t>
            </a:r>
            <a:r>
              <a:rPr sz="2000" spc="-5" dirty="0">
                <a:latin typeface="Times New Roman"/>
                <a:cs typeface="Times New Roman"/>
              </a:rPr>
              <a:t>C: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5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9852" y="4460747"/>
            <a:ext cx="838200" cy="4603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2400" spc="-5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9492" y="3851147"/>
            <a:ext cx="1146810" cy="843280"/>
          </a:xfrm>
          <a:custGeom>
            <a:avLst/>
            <a:gdLst/>
            <a:ahLst/>
            <a:cxnLst/>
            <a:rect l="l" t="t" r="r" b="b"/>
            <a:pathLst>
              <a:path w="1146810" h="843279">
                <a:moveTo>
                  <a:pt x="1081541" y="39885"/>
                </a:moveTo>
                <a:lnTo>
                  <a:pt x="0" y="833119"/>
                </a:lnTo>
                <a:lnTo>
                  <a:pt x="7518" y="843279"/>
                </a:lnTo>
                <a:lnTo>
                  <a:pt x="1089067" y="50147"/>
                </a:lnTo>
                <a:lnTo>
                  <a:pt x="1081541" y="39885"/>
                </a:lnTo>
                <a:close/>
              </a:path>
              <a:path w="1146810" h="843279">
                <a:moveTo>
                  <a:pt x="1130159" y="32384"/>
                </a:moveTo>
                <a:lnTo>
                  <a:pt x="1091768" y="32384"/>
                </a:lnTo>
                <a:lnTo>
                  <a:pt x="1099261" y="42671"/>
                </a:lnTo>
                <a:lnTo>
                  <a:pt x="1089067" y="50147"/>
                </a:lnTo>
                <a:lnTo>
                  <a:pt x="1107897" y="75818"/>
                </a:lnTo>
                <a:lnTo>
                  <a:pt x="1130159" y="32384"/>
                </a:lnTo>
                <a:close/>
              </a:path>
              <a:path w="1146810" h="843279">
                <a:moveTo>
                  <a:pt x="1091768" y="32384"/>
                </a:moveTo>
                <a:lnTo>
                  <a:pt x="1081541" y="39885"/>
                </a:lnTo>
                <a:lnTo>
                  <a:pt x="1089067" y="50147"/>
                </a:lnTo>
                <a:lnTo>
                  <a:pt x="1099261" y="42671"/>
                </a:lnTo>
                <a:lnTo>
                  <a:pt x="1091768" y="32384"/>
                </a:lnTo>
                <a:close/>
              </a:path>
              <a:path w="1146810" h="843279">
                <a:moveTo>
                  <a:pt x="1146759" y="0"/>
                </a:moveTo>
                <a:lnTo>
                  <a:pt x="1062812" y="14350"/>
                </a:lnTo>
                <a:lnTo>
                  <a:pt x="1081541" y="39885"/>
                </a:lnTo>
                <a:lnTo>
                  <a:pt x="1091768" y="32384"/>
                </a:lnTo>
                <a:lnTo>
                  <a:pt x="1130159" y="32384"/>
                </a:lnTo>
                <a:lnTo>
                  <a:pt x="11467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68908" y="4760976"/>
            <a:ext cx="1223645" cy="1148080"/>
          </a:xfrm>
          <a:custGeom>
            <a:avLst/>
            <a:gdLst/>
            <a:ahLst/>
            <a:cxnLst/>
            <a:rect l="l" t="t" r="r" b="b"/>
            <a:pathLst>
              <a:path w="1223645" h="1148079">
                <a:moveTo>
                  <a:pt x="1163592" y="1100074"/>
                </a:moveTo>
                <a:lnTo>
                  <a:pt x="1141882" y="1123251"/>
                </a:lnTo>
                <a:lnTo>
                  <a:pt x="1223543" y="1147572"/>
                </a:lnTo>
                <a:lnTo>
                  <a:pt x="1209175" y="1108773"/>
                </a:lnTo>
                <a:lnTo>
                  <a:pt x="1172870" y="1108773"/>
                </a:lnTo>
                <a:lnTo>
                  <a:pt x="1163592" y="1100074"/>
                </a:lnTo>
                <a:close/>
              </a:path>
              <a:path w="1223645" h="1148079">
                <a:moveTo>
                  <a:pt x="1172253" y="1090828"/>
                </a:moveTo>
                <a:lnTo>
                  <a:pt x="1163592" y="1100074"/>
                </a:lnTo>
                <a:lnTo>
                  <a:pt x="1172870" y="1108773"/>
                </a:lnTo>
                <a:lnTo>
                  <a:pt x="1181506" y="1099502"/>
                </a:lnTo>
                <a:lnTo>
                  <a:pt x="1172253" y="1090828"/>
                </a:lnTo>
                <a:close/>
              </a:path>
              <a:path w="1223645" h="1148079">
                <a:moveTo>
                  <a:pt x="1193952" y="1067663"/>
                </a:moveTo>
                <a:lnTo>
                  <a:pt x="1172253" y="1090828"/>
                </a:lnTo>
                <a:lnTo>
                  <a:pt x="1181506" y="1099502"/>
                </a:lnTo>
                <a:lnTo>
                  <a:pt x="1172870" y="1108773"/>
                </a:lnTo>
                <a:lnTo>
                  <a:pt x="1209175" y="1108773"/>
                </a:lnTo>
                <a:lnTo>
                  <a:pt x="1193952" y="1067663"/>
                </a:lnTo>
                <a:close/>
              </a:path>
              <a:path w="1223645" h="1148079">
                <a:moveTo>
                  <a:pt x="8686" y="0"/>
                </a:moveTo>
                <a:lnTo>
                  <a:pt x="0" y="9143"/>
                </a:lnTo>
                <a:lnTo>
                  <a:pt x="1163592" y="1100074"/>
                </a:lnTo>
                <a:lnTo>
                  <a:pt x="1172253" y="1090828"/>
                </a:lnTo>
                <a:lnTo>
                  <a:pt x="8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3008" y="3813047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295400" y="0"/>
                </a:moveTo>
                <a:lnTo>
                  <a:pt x="1295400" y="76200"/>
                </a:lnTo>
                <a:lnTo>
                  <a:pt x="1358900" y="44450"/>
                </a:lnTo>
                <a:lnTo>
                  <a:pt x="1308100" y="44450"/>
                </a:lnTo>
                <a:lnTo>
                  <a:pt x="1308100" y="31750"/>
                </a:lnTo>
                <a:lnTo>
                  <a:pt x="1358900" y="31750"/>
                </a:lnTo>
                <a:lnTo>
                  <a:pt x="1295400" y="0"/>
                </a:lnTo>
                <a:close/>
              </a:path>
              <a:path w="1371600" h="76200">
                <a:moveTo>
                  <a:pt x="1295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5400" y="44450"/>
                </a:lnTo>
                <a:lnTo>
                  <a:pt x="1295400" y="31750"/>
                </a:lnTo>
                <a:close/>
              </a:path>
              <a:path w="1371600" h="76200">
                <a:moveTo>
                  <a:pt x="1358900" y="31750"/>
                </a:moveTo>
                <a:lnTo>
                  <a:pt x="1308100" y="31750"/>
                </a:lnTo>
                <a:lnTo>
                  <a:pt x="1308100" y="44450"/>
                </a:lnTo>
                <a:lnTo>
                  <a:pt x="1358900" y="44450"/>
                </a:lnTo>
                <a:lnTo>
                  <a:pt x="1371600" y="38100"/>
                </a:lnTo>
                <a:lnTo>
                  <a:pt x="1358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40252" y="6013703"/>
            <a:ext cx="1300480" cy="76200"/>
          </a:xfrm>
          <a:custGeom>
            <a:avLst/>
            <a:gdLst/>
            <a:ahLst/>
            <a:cxnLst/>
            <a:rect l="l" t="t" r="r" b="b"/>
            <a:pathLst>
              <a:path w="1300479" h="76200">
                <a:moveTo>
                  <a:pt x="1223772" y="0"/>
                </a:moveTo>
                <a:lnTo>
                  <a:pt x="1223772" y="76200"/>
                </a:lnTo>
                <a:lnTo>
                  <a:pt x="1287272" y="44450"/>
                </a:lnTo>
                <a:lnTo>
                  <a:pt x="1236472" y="44450"/>
                </a:lnTo>
                <a:lnTo>
                  <a:pt x="1236472" y="31750"/>
                </a:lnTo>
                <a:lnTo>
                  <a:pt x="1287272" y="31750"/>
                </a:lnTo>
                <a:lnTo>
                  <a:pt x="1223772" y="0"/>
                </a:lnTo>
                <a:close/>
              </a:path>
              <a:path w="1300479" h="76200">
                <a:moveTo>
                  <a:pt x="1223772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23772" y="44450"/>
                </a:lnTo>
                <a:lnTo>
                  <a:pt x="1223772" y="31750"/>
                </a:lnTo>
                <a:close/>
              </a:path>
              <a:path w="1300479" h="76200">
                <a:moveTo>
                  <a:pt x="1287272" y="31750"/>
                </a:moveTo>
                <a:lnTo>
                  <a:pt x="1236472" y="31750"/>
                </a:lnTo>
                <a:lnTo>
                  <a:pt x="1236472" y="44450"/>
                </a:lnTo>
                <a:lnTo>
                  <a:pt x="1287272" y="44450"/>
                </a:lnTo>
                <a:lnTo>
                  <a:pt x="1299972" y="38100"/>
                </a:lnTo>
                <a:lnTo>
                  <a:pt x="1287272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7620" y="3845178"/>
            <a:ext cx="1831339" cy="628015"/>
          </a:xfrm>
          <a:custGeom>
            <a:avLst/>
            <a:gdLst/>
            <a:ahLst/>
            <a:cxnLst/>
            <a:rect l="l" t="t" r="r" b="b"/>
            <a:pathLst>
              <a:path w="1831340" h="628014">
                <a:moveTo>
                  <a:pt x="1756578" y="597464"/>
                </a:moveTo>
                <a:lnTo>
                  <a:pt x="1746503" y="627634"/>
                </a:lnTo>
                <a:lnTo>
                  <a:pt x="1830831" y="615569"/>
                </a:lnTo>
                <a:lnTo>
                  <a:pt x="1816734" y="601472"/>
                </a:lnTo>
                <a:lnTo>
                  <a:pt x="1768602" y="601472"/>
                </a:lnTo>
                <a:lnTo>
                  <a:pt x="1756578" y="597464"/>
                </a:lnTo>
                <a:close/>
              </a:path>
              <a:path w="1831340" h="628014">
                <a:moveTo>
                  <a:pt x="1760610" y="585389"/>
                </a:moveTo>
                <a:lnTo>
                  <a:pt x="1756578" y="597464"/>
                </a:lnTo>
                <a:lnTo>
                  <a:pt x="1768602" y="601472"/>
                </a:lnTo>
                <a:lnTo>
                  <a:pt x="1772665" y="589407"/>
                </a:lnTo>
                <a:lnTo>
                  <a:pt x="1760610" y="585389"/>
                </a:lnTo>
                <a:close/>
              </a:path>
              <a:path w="1831340" h="628014">
                <a:moveTo>
                  <a:pt x="1770633" y="555371"/>
                </a:moveTo>
                <a:lnTo>
                  <a:pt x="1760610" y="585389"/>
                </a:lnTo>
                <a:lnTo>
                  <a:pt x="1772665" y="589407"/>
                </a:lnTo>
                <a:lnTo>
                  <a:pt x="1768602" y="601472"/>
                </a:lnTo>
                <a:lnTo>
                  <a:pt x="1816734" y="601472"/>
                </a:lnTo>
                <a:lnTo>
                  <a:pt x="1770633" y="555371"/>
                </a:lnTo>
                <a:close/>
              </a:path>
              <a:path w="1831340" h="628014">
                <a:moveTo>
                  <a:pt x="4063" y="0"/>
                </a:moveTo>
                <a:lnTo>
                  <a:pt x="0" y="11938"/>
                </a:lnTo>
                <a:lnTo>
                  <a:pt x="1756578" y="597464"/>
                </a:lnTo>
                <a:lnTo>
                  <a:pt x="1760610" y="585389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68415" y="5093208"/>
            <a:ext cx="1908810" cy="1235710"/>
          </a:xfrm>
          <a:custGeom>
            <a:avLst/>
            <a:gdLst/>
            <a:ahLst/>
            <a:cxnLst/>
            <a:rect l="l" t="t" r="r" b="b"/>
            <a:pathLst>
              <a:path w="1908809" h="1235710">
                <a:moveTo>
                  <a:pt x="1840990" y="35971"/>
                </a:moveTo>
                <a:lnTo>
                  <a:pt x="0" y="1224534"/>
                </a:lnTo>
                <a:lnTo>
                  <a:pt x="6858" y="1235202"/>
                </a:lnTo>
                <a:lnTo>
                  <a:pt x="1847878" y="46620"/>
                </a:lnTo>
                <a:lnTo>
                  <a:pt x="1840990" y="35971"/>
                </a:lnTo>
                <a:close/>
              </a:path>
              <a:path w="1908809" h="1235710">
                <a:moveTo>
                  <a:pt x="1891241" y="29083"/>
                </a:moveTo>
                <a:lnTo>
                  <a:pt x="1851660" y="29083"/>
                </a:lnTo>
                <a:lnTo>
                  <a:pt x="1858517" y="39751"/>
                </a:lnTo>
                <a:lnTo>
                  <a:pt x="1847878" y="46620"/>
                </a:lnTo>
                <a:lnTo>
                  <a:pt x="1865121" y="73279"/>
                </a:lnTo>
                <a:lnTo>
                  <a:pt x="1891241" y="29083"/>
                </a:lnTo>
                <a:close/>
              </a:path>
              <a:path w="1908809" h="1235710">
                <a:moveTo>
                  <a:pt x="1851660" y="29083"/>
                </a:moveTo>
                <a:lnTo>
                  <a:pt x="1840990" y="35971"/>
                </a:lnTo>
                <a:lnTo>
                  <a:pt x="1847878" y="46620"/>
                </a:lnTo>
                <a:lnTo>
                  <a:pt x="1858517" y="39751"/>
                </a:lnTo>
                <a:lnTo>
                  <a:pt x="1851660" y="29083"/>
                </a:lnTo>
                <a:close/>
              </a:path>
              <a:path w="1908809" h="1235710">
                <a:moveTo>
                  <a:pt x="1908429" y="0"/>
                </a:moveTo>
                <a:lnTo>
                  <a:pt x="1823719" y="9271"/>
                </a:lnTo>
                <a:lnTo>
                  <a:pt x="1840990" y="35971"/>
                </a:lnTo>
                <a:lnTo>
                  <a:pt x="1851660" y="29083"/>
                </a:lnTo>
                <a:lnTo>
                  <a:pt x="1891241" y="29083"/>
                </a:lnTo>
                <a:lnTo>
                  <a:pt x="19084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516116" y="2932435"/>
            <a:ext cx="2280285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A－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B－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》结束</a:t>
            </a:r>
            <a:endParaRPr sz="16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Path:16</a:t>
            </a:r>
            <a:r>
              <a:rPr sz="1600" b="1" spc="-10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78015" y="5294782"/>
            <a:ext cx="22796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334" marR="5080" indent="-509270">
              <a:lnSpc>
                <a:spcPct val="150000"/>
              </a:lnSpc>
              <a:spcBef>
                <a:spcPts val="10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》C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D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》结束  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CP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 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Path:18</a:t>
            </a:r>
            <a:r>
              <a:rPr sz="1600" b="1" spc="-1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31794" y="4771085"/>
            <a:ext cx="17741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2B2C1E"/>
                </a:solidFill>
                <a:latin typeface="宋体"/>
                <a:cs typeface="宋体"/>
              </a:rPr>
              <a:t>总成</a:t>
            </a:r>
            <a:r>
              <a:rPr sz="2800" b="1" spc="-5" dirty="0">
                <a:solidFill>
                  <a:srgbClr val="2B2C1E"/>
                </a:solidFill>
                <a:latin typeface="宋体"/>
                <a:cs typeface="宋体"/>
              </a:rPr>
              <a:t>本</a:t>
            </a:r>
            <a:r>
              <a:rPr sz="2800" b="1" spc="-10" dirty="0">
                <a:solidFill>
                  <a:srgbClr val="2B2C1E"/>
                </a:solidFill>
                <a:latin typeface="Arial Narrow"/>
                <a:cs typeface="Arial Narrow"/>
              </a:rPr>
              <a:t>20</a:t>
            </a:r>
            <a:r>
              <a:rPr sz="2800" b="1" spc="-15" dirty="0">
                <a:solidFill>
                  <a:srgbClr val="2B2C1E"/>
                </a:solidFill>
                <a:latin typeface="宋体"/>
                <a:cs typeface="宋体"/>
              </a:rPr>
              <a:t>万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232663"/>
            <a:ext cx="45027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计算单位压缩成本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3520" y="1268729"/>
            <a:ext cx="229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45" dirty="0">
                <a:latin typeface="Arial Narrow"/>
                <a:cs typeface="Arial Narrow"/>
              </a:rPr>
              <a:t>1</a:t>
            </a:r>
            <a:r>
              <a:rPr sz="1200" b="1" dirty="0">
                <a:latin typeface="Arial Narrow"/>
                <a:cs typeface="Arial Narrow"/>
              </a:rPr>
              <a:t>16</a:t>
            </a:r>
            <a:endParaRPr sz="1200">
              <a:latin typeface="Arial Narrow"/>
              <a:cs typeface="Arial Narro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2627" y="2362263"/>
          <a:ext cx="8303259" cy="3649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4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0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63610">
                <a:tc>
                  <a:txBody>
                    <a:bodyPr/>
                    <a:lstStyle/>
                    <a:p>
                      <a:pPr marL="55626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任务</a:t>
                      </a:r>
                      <a:endParaRPr sz="1600">
                        <a:latin typeface="宋体"/>
                        <a:cs typeface="宋体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宋体"/>
                          <a:cs typeface="宋体"/>
                        </a:rPr>
                        <a:t>单位压缩成本</a:t>
                      </a:r>
                      <a:endParaRPr sz="1600">
                        <a:latin typeface="宋体"/>
                        <a:cs typeface="宋体"/>
                      </a:endParaRPr>
                    </a:p>
                  </a:txBody>
                  <a:tcPr marL="0" marR="0" marT="48895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800" b="1" dirty="0">
                          <a:latin typeface="宋体"/>
                          <a:cs typeface="宋体"/>
                        </a:rPr>
                        <a:t>Ａ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T="4445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宋体"/>
                          <a:cs typeface="宋体"/>
                        </a:rPr>
                        <a:t>Ｂ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宋体"/>
                          <a:cs typeface="宋体"/>
                        </a:rPr>
                        <a:t>Ｃ</a:t>
                      </a:r>
                      <a:endParaRPr sz="2000">
                        <a:latin typeface="宋体"/>
                        <a:cs typeface="宋体"/>
                      </a:endParaRPr>
                    </a:p>
                  </a:txBody>
                  <a:tcPr marL="0" marR="0" marT="46990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800" b="1" dirty="0">
                          <a:latin typeface="宋体"/>
                          <a:cs typeface="宋体"/>
                        </a:rPr>
                        <a:t>Ｄ</a:t>
                      </a:r>
                      <a:endParaRPr sz="1800">
                        <a:latin typeface="宋体"/>
                        <a:cs typeface="宋体"/>
                      </a:endParaRPr>
                    </a:p>
                  </a:txBody>
                  <a:tcPr marL="0" marR="0" marT="4762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9525">
                      <a:solidFill>
                        <a:srgbClr val="9F9F9F"/>
                      </a:solidFill>
                      <a:prstDash val="solid"/>
                    </a:lnT>
                    <a:lnB w="317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5480"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latin typeface="宋体"/>
                          <a:cs typeface="宋体"/>
                        </a:rPr>
                        <a:t>压缩成</a:t>
                      </a:r>
                      <a:r>
                        <a:rPr sz="1800" spc="-5" dirty="0">
                          <a:latin typeface="宋体"/>
                          <a:cs typeface="宋体"/>
                        </a:rPr>
                        <a:t>本</a:t>
                      </a:r>
                      <a:r>
                        <a:rPr sz="1800" dirty="0">
                          <a:latin typeface="Arial Unicode MS"/>
                          <a:cs typeface="Arial Unicode MS"/>
                        </a:rPr>
                        <a:t>(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万</a:t>
                      </a:r>
                      <a:r>
                        <a:rPr sz="1800" dirty="0">
                          <a:latin typeface="Arial Unicode MS"/>
                          <a:cs typeface="Arial Unicode MS"/>
                        </a:rPr>
                        <a:t>/</a:t>
                      </a:r>
                      <a:r>
                        <a:rPr sz="1800" dirty="0">
                          <a:latin typeface="宋体"/>
                          <a:cs typeface="宋体"/>
                        </a:rPr>
                        <a:t>周</a:t>
                      </a:r>
                      <a:r>
                        <a:rPr sz="1800" dirty="0">
                          <a:latin typeface="Arial Unicode MS"/>
                          <a:cs typeface="Arial Unicode MS"/>
                        </a:rPr>
                        <a:t>)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40640" marB="0">
                    <a:lnL w="952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Arial Unicode MS"/>
                          <a:cs typeface="Arial Unicode MS"/>
                        </a:rPr>
                        <a:t>0.6</a:t>
                      </a:r>
                      <a:endParaRPr sz="2000">
                        <a:latin typeface="Arial Unicode MS"/>
                        <a:cs typeface="Arial Unicode MS"/>
                      </a:endParaRPr>
                    </a:p>
                  </a:txBody>
                  <a:tcPr marL="0" marR="0" marT="3619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000" dirty="0">
                          <a:latin typeface="Arial Unicode MS"/>
                          <a:cs typeface="Arial Unicode MS"/>
                        </a:rPr>
                        <a:t>1</a:t>
                      </a:r>
                      <a:endParaRPr sz="2000">
                        <a:latin typeface="Arial Unicode MS"/>
                        <a:cs typeface="Arial Unicode MS"/>
                      </a:endParaRPr>
                    </a:p>
                  </a:txBody>
                  <a:tcPr marL="0" marR="0" marT="3619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Arial Unicode MS"/>
                          <a:cs typeface="Arial Unicode MS"/>
                        </a:rPr>
                        <a:t>0.5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3746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317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800" spc="-5" dirty="0">
                          <a:latin typeface="Arial Unicode MS"/>
                          <a:cs typeface="Arial Unicode MS"/>
                        </a:rPr>
                        <a:t>0.6</a:t>
                      </a:r>
                      <a:endParaRPr sz="1800">
                        <a:latin typeface="Arial Unicode MS"/>
                        <a:cs typeface="Arial Unicode MS"/>
                      </a:endParaRPr>
                    </a:p>
                  </a:txBody>
                  <a:tcPr marL="0" marR="0" marT="37465" marB="0">
                    <a:lnL w="3175">
                      <a:solidFill>
                        <a:srgbClr val="9F9F9F"/>
                      </a:solidFill>
                      <a:prstDash val="solid"/>
                    </a:lnL>
                    <a:lnR w="9525">
                      <a:solidFill>
                        <a:srgbClr val="9F9F9F"/>
                      </a:solidFill>
                      <a:prstDash val="solid"/>
                    </a:lnR>
                    <a:lnT w="3175">
                      <a:solidFill>
                        <a:srgbClr val="9F9F9F"/>
                      </a:solidFill>
                      <a:prstDash val="solid"/>
                    </a:lnT>
                    <a:lnB w="9525">
                      <a:solidFill>
                        <a:srgbClr val="9F9F9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232663"/>
            <a:ext cx="33832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时间压缩例题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9590" y="1557274"/>
            <a:ext cx="85013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隶书"/>
                <a:cs typeface="隶书"/>
              </a:rPr>
              <a:t>将工期</a:t>
            </a:r>
            <a:r>
              <a:rPr sz="2900" spc="-15" dirty="0">
                <a:latin typeface="隶书"/>
                <a:cs typeface="隶书"/>
              </a:rPr>
              <a:t>压</a:t>
            </a:r>
            <a:r>
              <a:rPr sz="2900" dirty="0">
                <a:latin typeface="隶书"/>
                <a:cs typeface="隶书"/>
              </a:rPr>
              <a:t>缩到</a:t>
            </a:r>
            <a:r>
              <a:rPr sz="2900" spc="-5" dirty="0">
                <a:latin typeface="隶书"/>
                <a:cs typeface="隶书"/>
              </a:rPr>
              <a:t>17</a:t>
            </a:r>
            <a:r>
              <a:rPr sz="2900" spc="-15" dirty="0">
                <a:latin typeface="隶书"/>
                <a:cs typeface="隶书"/>
              </a:rPr>
              <a:t>周</a:t>
            </a:r>
            <a:r>
              <a:rPr sz="2900" dirty="0">
                <a:latin typeface="隶书"/>
                <a:cs typeface="隶书"/>
              </a:rPr>
              <a:t>时应该</a:t>
            </a:r>
            <a:r>
              <a:rPr sz="2900" spc="-15" dirty="0">
                <a:latin typeface="隶书"/>
                <a:cs typeface="隶书"/>
              </a:rPr>
              <a:t>压</a:t>
            </a:r>
            <a:r>
              <a:rPr sz="2900" dirty="0">
                <a:latin typeface="隶书"/>
                <a:cs typeface="隶书"/>
              </a:rPr>
              <a:t>缩的活</a:t>
            </a:r>
            <a:r>
              <a:rPr sz="2900" spc="-15" dirty="0">
                <a:latin typeface="隶书"/>
                <a:cs typeface="隶书"/>
              </a:rPr>
              <a:t>动</a:t>
            </a:r>
            <a:r>
              <a:rPr sz="2900" dirty="0">
                <a:latin typeface="隶书"/>
                <a:cs typeface="隶书"/>
              </a:rPr>
              <a:t>和最后</a:t>
            </a:r>
            <a:r>
              <a:rPr sz="2900" spc="-15" dirty="0">
                <a:latin typeface="隶书"/>
                <a:cs typeface="隶书"/>
              </a:rPr>
              <a:t>的</a:t>
            </a:r>
            <a:r>
              <a:rPr sz="2900" dirty="0">
                <a:latin typeface="隶书"/>
                <a:cs typeface="隶书"/>
              </a:rPr>
              <a:t>成本？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767" y="3726179"/>
            <a:ext cx="838200" cy="460375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9967" y="2278379"/>
            <a:ext cx="1447800" cy="13385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240"/>
              </a:spcBef>
            </a:pPr>
            <a:r>
              <a:rPr sz="2000" spc="-5" dirty="0">
                <a:latin typeface="Times New Roman"/>
                <a:cs typeface="Times New Roman"/>
              </a:rPr>
              <a:t>N: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Times New Roman"/>
                <a:cs typeface="Times New Roman"/>
              </a:rPr>
              <a:t>C:5</a:t>
            </a:r>
            <a:r>
              <a:rPr sz="1800" dirty="0">
                <a:latin typeface="宋体"/>
                <a:cs typeface="宋体"/>
              </a:rPr>
              <a:t>周</a:t>
            </a:r>
            <a:r>
              <a:rPr sz="1800" dirty="0">
                <a:latin typeface="Times New Roman"/>
                <a:cs typeface="Times New Roman"/>
              </a:rPr>
              <a:t>:6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宋体"/>
                <a:cs typeface="宋体"/>
              </a:rPr>
              <a:t>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6167" y="4335779"/>
            <a:ext cx="1447800" cy="1384300"/>
          </a:xfrm>
          <a:custGeom>
            <a:avLst/>
            <a:gdLst/>
            <a:ahLst/>
            <a:cxnLst/>
            <a:rect l="l" t="t" r="r" b="b"/>
            <a:pathLst>
              <a:path w="1447800" h="1384300">
                <a:moveTo>
                  <a:pt x="0" y="1383792"/>
                </a:moveTo>
                <a:lnTo>
                  <a:pt x="1447800" y="1383792"/>
                </a:lnTo>
                <a:lnTo>
                  <a:pt x="1447800" y="0"/>
                </a:lnTo>
                <a:lnTo>
                  <a:pt x="0" y="0"/>
                </a:lnTo>
                <a:lnTo>
                  <a:pt x="0" y="13837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85797" y="435902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85797" y="5339283"/>
            <a:ext cx="1290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C:</a:t>
            </a:r>
            <a:r>
              <a:rPr sz="2000" spc="5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-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0035" y="2278379"/>
            <a:ext cx="1447800" cy="13843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75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240"/>
              </a:spcBef>
            </a:pPr>
            <a:r>
              <a:rPr sz="2000" spc="-5" dirty="0">
                <a:latin typeface="Times New Roman"/>
                <a:cs typeface="Times New Roman"/>
              </a:rPr>
              <a:t>N:9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5" dirty="0">
                <a:latin typeface="Times New Roman"/>
                <a:cs typeface="Times New Roman"/>
              </a:rPr>
              <a:t>:8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Times New Roman"/>
                <a:cs typeface="Times New Roman"/>
              </a:rPr>
              <a:t>C:6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25" dirty="0">
                <a:latin typeface="Times New Roman"/>
                <a:cs typeface="Times New Roman"/>
              </a:rPr>
              <a:t>:11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3084" y="4367784"/>
            <a:ext cx="1580515" cy="138430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240"/>
              </a:spcBef>
            </a:pPr>
            <a:r>
              <a:rPr sz="2000" spc="-5" dirty="0">
                <a:latin typeface="Times New Roman"/>
                <a:cs typeface="Times New Roman"/>
              </a:rPr>
              <a:t>N:8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5" dirty="0">
                <a:latin typeface="Times New Roman"/>
                <a:cs typeface="Times New Roman"/>
              </a:rPr>
              <a:t>:3</a:t>
            </a:r>
            <a:r>
              <a:rPr sz="2000" spc="5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  <a:p>
            <a:pPr marL="9144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imes New Roman"/>
                <a:cs typeface="Times New Roman"/>
              </a:rPr>
              <a:t>C:6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:4.2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73568" y="3726179"/>
            <a:ext cx="838200" cy="4603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83208" y="3116579"/>
            <a:ext cx="1146810" cy="843280"/>
          </a:xfrm>
          <a:custGeom>
            <a:avLst/>
            <a:gdLst/>
            <a:ahLst/>
            <a:cxnLst/>
            <a:rect l="l" t="t" r="r" b="b"/>
            <a:pathLst>
              <a:path w="1146810" h="843279">
                <a:moveTo>
                  <a:pt x="1081541" y="39885"/>
                </a:moveTo>
                <a:lnTo>
                  <a:pt x="0" y="833120"/>
                </a:lnTo>
                <a:lnTo>
                  <a:pt x="7518" y="843280"/>
                </a:lnTo>
                <a:lnTo>
                  <a:pt x="1089067" y="50147"/>
                </a:lnTo>
                <a:lnTo>
                  <a:pt x="1081541" y="39885"/>
                </a:lnTo>
                <a:close/>
              </a:path>
              <a:path w="1146810" h="843279">
                <a:moveTo>
                  <a:pt x="1130159" y="32385"/>
                </a:moveTo>
                <a:lnTo>
                  <a:pt x="1091768" y="32385"/>
                </a:lnTo>
                <a:lnTo>
                  <a:pt x="1099261" y="42672"/>
                </a:lnTo>
                <a:lnTo>
                  <a:pt x="1089067" y="50147"/>
                </a:lnTo>
                <a:lnTo>
                  <a:pt x="1107897" y="75819"/>
                </a:lnTo>
                <a:lnTo>
                  <a:pt x="1130159" y="32385"/>
                </a:lnTo>
                <a:close/>
              </a:path>
              <a:path w="1146810" h="843279">
                <a:moveTo>
                  <a:pt x="1091768" y="32385"/>
                </a:moveTo>
                <a:lnTo>
                  <a:pt x="1081541" y="39885"/>
                </a:lnTo>
                <a:lnTo>
                  <a:pt x="1089067" y="50147"/>
                </a:lnTo>
                <a:lnTo>
                  <a:pt x="1099261" y="42672"/>
                </a:lnTo>
                <a:lnTo>
                  <a:pt x="1091768" y="32385"/>
                </a:lnTo>
                <a:close/>
              </a:path>
              <a:path w="1146810" h="843279">
                <a:moveTo>
                  <a:pt x="1146759" y="0"/>
                </a:moveTo>
                <a:lnTo>
                  <a:pt x="1062812" y="14350"/>
                </a:lnTo>
                <a:lnTo>
                  <a:pt x="1081541" y="39885"/>
                </a:lnTo>
                <a:lnTo>
                  <a:pt x="1091768" y="32385"/>
                </a:lnTo>
                <a:lnTo>
                  <a:pt x="1130159" y="32385"/>
                </a:lnTo>
                <a:lnTo>
                  <a:pt x="11467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82624" y="4026408"/>
            <a:ext cx="1223645" cy="1148080"/>
          </a:xfrm>
          <a:custGeom>
            <a:avLst/>
            <a:gdLst/>
            <a:ahLst/>
            <a:cxnLst/>
            <a:rect l="l" t="t" r="r" b="b"/>
            <a:pathLst>
              <a:path w="1223645" h="1148079">
                <a:moveTo>
                  <a:pt x="1163547" y="1100095"/>
                </a:moveTo>
                <a:lnTo>
                  <a:pt x="1141882" y="1123188"/>
                </a:lnTo>
                <a:lnTo>
                  <a:pt x="1223543" y="1147572"/>
                </a:lnTo>
                <a:lnTo>
                  <a:pt x="1209194" y="1108837"/>
                </a:lnTo>
                <a:lnTo>
                  <a:pt x="1172870" y="1108837"/>
                </a:lnTo>
                <a:lnTo>
                  <a:pt x="1163547" y="1100095"/>
                </a:lnTo>
                <a:close/>
              </a:path>
              <a:path w="1223645" h="1148079">
                <a:moveTo>
                  <a:pt x="1172216" y="1090856"/>
                </a:moveTo>
                <a:lnTo>
                  <a:pt x="1163547" y="1100095"/>
                </a:lnTo>
                <a:lnTo>
                  <a:pt x="1172870" y="1108837"/>
                </a:lnTo>
                <a:lnTo>
                  <a:pt x="1181506" y="1099566"/>
                </a:lnTo>
                <a:lnTo>
                  <a:pt x="1172216" y="1090856"/>
                </a:lnTo>
                <a:close/>
              </a:path>
              <a:path w="1223645" h="1148079">
                <a:moveTo>
                  <a:pt x="1193952" y="1067689"/>
                </a:moveTo>
                <a:lnTo>
                  <a:pt x="1172216" y="1090856"/>
                </a:lnTo>
                <a:lnTo>
                  <a:pt x="1181506" y="1099566"/>
                </a:lnTo>
                <a:lnTo>
                  <a:pt x="1172870" y="1108837"/>
                </a:lnTo>
                <a:lnTo>
                  <a:pt x="1209194" y="1108837"/>
                </a:lnTo>
                <a:lnTo>
                  <a:pt x="1193952" y="1067689"/>
                </a:lnTo>
                <a:close/>
              </a:path>
              <a:path w="1223645" h="1148079">
                <a:moveTo>
                  <a:pt x="8686" y="0"/>
                </a:moveTo>
                <a:lnTo>
                  <a:pt x="0" y="9144"/>
                </a:lnTo>
                <a:lnTo>
                  <a:pt x="1163547" y="1100095"/>
                </a:lnTo>
                <a:lnTo>
                  <a:pt x="1172216" y="1090856"/>
                </a:lnTo>
                <a:lnTo>
                  <a:pt x="8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493008" y="3078479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295400" y="0"/>
                </a:moveTo>
                <a:lnTo>
                  <a:pt x="1295400" y="76200"/>
                </a:lnTo>
                <a:lnTo>
                  <a:pt x="1358900" y="44450"/>
                </a:lnTo>
                <a:lnTo>
                  <a:pt x="1308100" y="44450"/>
                </a:lnTo>
                <a:lnTo>
                  <a:pt x="1308100" y="31750"/>
                </a:lnTo>
                <a:lnTo>
                  <a:pt x="1358900" y="31750"/>
                </a:lnTo>
                <a:lnTo>
                  <a:pt x="1295400" y="0"/>
                </a:lnTo>
                <a:close/>
              </a:path>
              <a:path w="1371600" h="76200">
                <a:moveTo>
                  <a:pt x="1295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5400" y="44450"/>
                </a:lnTo>
                <a:lnTo>
                  <a:pt x="1295400" y="31750"/>
                </a:lnTo>
                <a:close/>
              </a:path>
              <a:path w="1371600" h="76200">
                <a:moveTo>
                  <a:pt x="1358900" y="31750"/>
                </a:moveTo>
                <a:lnTo>
                  <a:pt x="1308100" y="31750"/>
                </a:lnTo>
                <a:lnTo>
                  <a:pt x="1308100" y="44450"/>
                </a:lnTo>
                <a:lnTo>
                  <a:pt x="1358900" y="44450"/>
                </a:lnTo>
                <a:lnTo>
                  <a:pt x="1371600" y="38100"/>
                </a:lnTo>
                <a:lnTo>
                  <a:pt x="1358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49979" y="5059679"/>
            <a:ext cx="1210310" cy="76200"/>
          </a:xfrm>
          <a:custGeom>
            <a:avLst/>
            <a:gdLst/>
            <a:ahLst/>
            <a:cxnLst/>
            <a:rect l="l" t="t" r="r" b="b"/>
            <a:pathLst>
              <a:path w="1210310" h="76200">
                <a:moveTo>
                  <a:pt x="1133856" y="0"/>
                </a:moveTo>
                <a:lnTo>
                  <a:pt x="1133856" y="76200"/>
                </a:lnTo>
                <a:lnTo>
                  <a:pt x="1197356" y="44450"/>
                </a:lnTo>
                <a:lnTo>
                  <a:pt x="1146556" y="44450"/>
                </a:lnTo>
                <a:lnTo>
                  <a:pt x="1146556" y="31750"/>
                </a:lnTo>
                <a:lnTo>
                  <a:pt x="1197356" y="31750"/>
                </a:lnTo>
                <a:lnTo>
                  <a:pt x="1133856" y="0"/>
                </a:lnTo>
                <a:close/>
              </a:path>
              <a:path w="1210310" h="76200">
                <a:moveTo>
                  <a:pt x="113385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33856" y="44450"/>
                </a:lnTo>
                <a:lnTo>
                  <a:pt x="1133856" y="31750"/>
                </a:lnTo>
                <a:close/>
              </a:path>
              <a:path w="1210310" h="76200">
                <a:moveTo>
                  <a:pt x="1197356" y="31750"/>
                </a:moveTo>
                <a:lnTo>
                  <a:pt x="1146556" y="31750"/>
                </a:lnTo>
                <a:lnTo>
                  <a:pt x="1146556" y="44450"/>
                </a:lnTo>
                <a:lnTo>
                  <a:pt x="1197356" y="44450"/>
                </a:lnTo>
                <a:lnTo>
                  <a:pt x="1210056" y="38100"/>
                </a:lnTo>
                <a:lnTo>
                  <a:pt x="1197356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298184" y="3040507"/>
            <a:ext cx="1831339" cy="628015"/>
          </a:xfrm>
          <a:custGeom>
            <a:avLst/>
            <a:gdLst/>
            <a:ahLst/>
            <a:cxnLst/>
            <a:rect l="l" t="t" r="r" b="b"/>
            <a:pathLst>
              <a:path w="1831340" h="628014">
                <a:moveTo>
                  <a:pt x="1756578" y="597464"/>
                </a:moveTo>
                <a:lnTo>
                  <a:pt x="1746504" y="627633"/>
                </a:lnTo>
                <a:lnTo>
                  <a:pt x="1830832" y="615568"/>
                </a:lnTo>
                <a:lnTo>
                  <a:pt x="1816735" y="601471"/>
                </a:lnTo>
                <a:lnTo>
                  <a:pt x="1768601" y="601471"/>
                </a:lnTo>
                <a:lnTo>
                  <a:pt x="1756578" y="597464"/>
                </a:lnTo>
                <a:close/>
              </a:path>
              <a:path w="1831340" h="628014">
                <a:moveTo>
                  <a:pt x="1760610" y="585389"/>
                </a:moveTo>
                <a:lnTo>
                  <a:pt x="1756578" y="597464"/>
                </a:lnTo>
                <a:lnTo>
                  <a:pt x="1768601" y="601471"/>
                </a:lnTo>
                <a:lnTo>
                  <a:pt x="1772665" y="589406"/>
                </a:lnTo>
                <a:lnTo>
                  <a:pt x="1760610" y="585389"/>
                </a:lnTo>
                <a:close/>
              </a:path>
              <a:path w="1831340" h="628014">
                <a:moveTo>
                  <a:pt x="1770634" y="555370"/>
                </a:moveTo>
                <a:lnTo>
                  <a:pt x="1760610" y="585389"/>
                </a:lnTo>
                <a:lnTo>
                  <a:pt x="1772665" y="589406"/>
                </a:lnTo>
                <a:lnTo>
                  <a:pt x="1768601" y="601471"/>
                </a:lnTo>
                <a:lnTo>
                  <a:pt x="1816735" y="601471"/>
                </a:lnTo>
                <a:lnTo>
                  <a:pt x="1770634" y="555370"/>
                </a:lnTo>
                <a:close/>
              </a:path>
              <a:path w="1831340" h="628014">
                <a:moveTo>
                  <a:pt x="4063" y="0"/>
                </a:moveTo>
                <a:lnTo>
                  <a:pt x="0" y="11937"/>
                </a:lnTo>
                <a:lnTo>
                  <a:pt x="1756578" y="597464"/>
                </a:lnTo>
                <a:lnTo>
                  <a:pt x="1760610" y="585389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440551" y="4389120"/>
            <a:ext cx="1840864" cy="952500"/>
          </a:xfrm>
          <a:custGeom>
            <a:avLst/>
            <a:gdLst/>
            <a:ahLst/>
            <a:cxnLst/>
            <a:rect l="l" t="t" r="r" b="b"/>
            <a:pathLst>
              <a:path w="1840865" h="952500">
                <a:moveTo>
                  <a:pt x="1770198" y="29216"/>
                </a:moveTo>
                <a:lnTo>
                  <a:pt x="0" y="940815"/>
                </a:lnTo>
                <a:lnTo>
                  <a:pt x="5841" y="951991"/>
                </a:lnTo>
                <a:lnTo>
                  <a:pt x="1776005" y="40472"/>
                </a:lnTo>
                <a:lnTo>
                  <a:pt x="1770198" y="29216"/>
                </a:lnTo>
                <a:close/>
              </a:path>
              <a:path w="1840865" h="952500">
                <a:moveTo>
                  <a:pt x="1823760" y="23367"/>
                </a:moveTo>
                <a:lnTo>
                  <a:pt x="1781555" y="23367"/>
                </a:lnTo>
                <a:lnTo>
                  <a:pt x="1787271" y="34670"/>
                </a:lnTo>
                <a:lnTo>
                  <a:pt x="1776005" y="40472"/>
                </a:lnTo>
                <a:lnTo>
                  <a:pt x="1790573" y="68706"/>
                </a:lnTo>
                <a:lnTo>
                  <a:pt x="1823760" y="23367"/>
                </a:lnTo>
                <a:close/>
              </a:path>
              <a:path w="1840865" h="952500">
                <a:moveTo>
                  <a:pt x="1781555" y="23367"/>
                </a:moveTo>
                <a:lnTo>
                  <a:pt x="1770198" y="29216"/>
                </a:lnTo>
                <a:lnTo>
                  <a:pt x="1776005" y="40472"/>
                </a:lnTo>
                <a:lnTo>
                  <a:pt x="1787271" y="34670"/>
                </a:lnTo>
                <a:lnTo>
                  <a:pt x="1781555" y="23367"/>
                </a:lnTo>
                <a:close/>
              </a:path>
              <a:path w="1840865" h="952500">
                <a:moveTo>
                  <a:pt x="1840865" y="0"/>
                </a:moveTo>
                <a:lnTo>
                  <a:pt x="1755648" y="1015"/>
                </a:lnTo>
                <a:lnTo>
                  <a:pt x="1770198" y="29216"/>
                </a:lnTo>
                <a:lnTo>
                  <a:pt x="1781555" y="23367"/>
                </a:lnTo>
                <a:lnTo>
                  <a:pt x="1823760" y="23367"/>
                </a:lnTo>
                <a:lnTo>
                  <a:pt x="1840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530467" y="2197232"/>
            <a:ext cx="227965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A－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B－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》结束</a:t>
            </a:r>
            <a:endParaRPr sz="16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Path:16</a:t>
            </a:r>
            <a:r>
              <a:rPr sz="1600" b="1" spc="-10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530467" y="4712467"/>
            <a:ext cx="2279650" cy="95948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C－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D－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》结束</a:t>
            </a:r>
            <a:endParaRPr sz="1600">
              <a:latin typeface="黑体"/>
              <a:cs typeface="黑体"/>
            </a:endParaRPr>
          </a:p>
          <a:p>
            <a:pPr algn="ctr">
              <a:lnSpc>
                <a:spcPts val="1875"/>
              </a:lnSpc>
              <a:spcBef>
                <a:spcPts val="96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Path:17</a:t>
            </a:r>
            <a:r>
              <a:rPr sz="1600" b="1" spc="-10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  <a:p>
            <a:pPr marL="1421765">
              <a:lnSpc>
                <a:spcPts val="1635"/>
              </a:lnSpc>
            </a:pPr>
            <a:r>
              <a:rPr sz="1400" b="1" spc="-25" dirty="0">
                <a:latin typeface="Arial Narrow"/>
                <a:cs typeface="Arial Narrow"/>
              </a:rPr>
              <a:t>117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84195" y="4377309"/>
            <a:ext cx="1179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1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0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-</a:t>
            </a:r>
            <a:r>
              <a:rPr sz="2000" b="1" spc="10" dirty="0">
                <a:solidFill>
                  <a:srgbClr val="DD8046"/>
                </a:solidFill>
                <a:latin typeface="黑体"/>
                <a:cs typeface="黑体"/>
              </a:rPr>
              <a:t>&gt;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9周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60397" y="4881752"/>
            <a:ext cx="18313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60" dirty="0">
                <a:latin typeface="Times New Roman"/>
                <a:cs typeface="Times New Roman"/>
              </a:rPr>
              <a:t>N:1</a:t>
            </a:r>
            <a:r>
              <a:rPr sz="3000" b="1" spc="-390" baseline="9722" dirty="0">
                <a:solidFill>
                  <a:srgbClr val="DD8046"/>
                </a:solidFill>
                <a:latin typeface="黑体"/>
                <a:cs typeface="黑体"/>
              </a:rPr>
              <a:t>4</a:t>
            </a:r>
            <a:r>
              <a:rPr sz="2000" spc="-260" dirty="0">
                <a:latin typeface="Times New Roman"/>
                <a:cs typeface="Times New Roman"/>
              </a:rPr>
              <a:t>0</a:t>
            </a:r>
            <a:r>
              <a:rPr sz="3000" b="1" spc="-2595" baseline="9722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r>
              <a:rPr sz="2000" spc="-275" dirty="0">
                <a:latin typeface="宋体"/>
                <a:cs typeface="宋体"/>
              </a:rPr>
              <a:t>周</a:t>
            </a:r>
            <a:r>
              <a:rPr sz="3000" b="1" spc="-667" baseline="9722" dirty="0">
                <a:solidFill>
                  <a:srgbClr val="DD8046"/>
                </a:solidFill>
                <a:latin typeface="黑体"/>
                <a:cs typeface="黑体"/>
              </a:rPr>
              <a:t>-</a:t>
            </a:r>
            <a:r>
              <a:rPr sz="2000" spc="-445" dirty="0">
                <a:latin typeface="Times New Roman"/>
                <a:cs typeface="Times New Roman"/>
              </a:rPr>
              <a:t>:4</a:t>
            </a:r>
            <a:r>
              <a:rPr sz="3000" b="1" spc="-667" baseline="9722" dirty="0">
                <a:solidFill>
                  <a:srgbClr val="DD8046"/>
                </a:solidFill>
                <a:latin typeface="黑体"/>
                <a:cs typeface="黑体"/>
              </a:rPr>
              <a:t>&gt;</a:t>
            </a:r>
            <a:r>
              <a:rPr sz="2000" spc="-780" dirty="0">
                <a:latin typeface="宋体"/>
                <a:cs typeface="宋体"/>
              </a:rPr>
              <a:t>万</a:t>
            </a:r>
            <a:r>
              <a:rPr sz="3000" b="1" spc="-209" baseline="9722" dirty="0">
                <a:solidFill>
                  <a:srgbClr val="DD8046"/>
                </a:solidFill>
                <a:latin typeface="黑体"/>
                <a:cs typeface="黑体"/>
              </a:rPr>
              <a:t>4</a:t>
            </a:r>
            <a:r>
              <a:rPr sz="2000" spc="-140" dirty="0">
                <a:latin typeface="Times New Roman"/>
                <a:cs typeface="Times New Roman"/>
              </a:rPr>
              <a:t>:</a:t>
            </a:r>
            <a:r>
              <a:rPr sz="3000" b="1" spc="-209" baseline="9722" dirty="0">
                <a:solidFill>
                  <a:srgbClr val="DD8046"/>
                </a:solidFill>
                <a:latin typeface="黑体"/>
                <a:cs typeface="黑体"/>
              </a:rPr>
              <a:t>.5</a:t>
            </a:r>
            <a:r>
              <a:rPr sz="3000" b="1" spc="-7" baseline="9722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endParaRPr sz="3000" baseline="9722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765550" y="3832682"/>
            <a:ext cx="2016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E7E7E"/>
                </a:solidFill>
                <a:latin typeface="宋体"/>
                <a:cs typeface="宋体"/>
              </a:rPr>
              <a:t>总成本</a:t>
            </a:r>
            <a:r>
              <a:rPr sz="2800" b="1" spc="-10" dirty="0">
                <a:solidFill>
                  <a:srgbClr val="7E7E7E"/>
                </a:solidFill>
                <a:latin typeface="Arial Narrow"/>
                <a:cs typeface="Arial Narrow"/>
              </a:rPr>
              <a:t>20.5</a:t>
            </a:r>
            <a:r>
              <a:rPr sz="2800" b="1" spc="-15" dirty="0">
                <a:solidFill>
                  <a:srgbClr val="7E7E7E"/>
                </a:solidFill>
                <a:latin typeface="宋体"/>
                <a:cs typeface="宋体"/>
              </a:rPr>
              <a:t>万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9993" y="329564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时间压缩例题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640" y="1411351"/>
            <a:ext cx="850138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隶书"/>
                <a:cs typeface="隶书"/>
              </a:rPr>
              <a:t>将工期</a:t>
            </a:r>
            <a:r>
              <a:rPr sz="2900" spc="-15" dirty="0">
                <a:latin typeface="隶书"/>
                <a:cs typeface="隶书"/>
              </a:rPr>
              <a:t>压</a:t>
            </a:r>
            <a:r>
              <a:rPr sz="2900" dirty="0">
                <a:latin typeface="隶书"/>
                <a:cs typeface="隶书"/>
              </a:rPr>
              <a:t>缩到16</a:t>
            </a:r>
            <a:r>
              <a:rPr sz="2900" spc="-15" dirty="0">
                <a:latin typeface="隶书"/>
                <a:cs typeface="隶书"/>
              </a:rPr>
              <a:t>周</a:t>
            </a:r>
            <a:r>
              <a:rPr sz="2900" dirty="0">
                <a:latin typeface="隶书"/>
                <a:cs typeface="隶书"/>
              </a:rPr>
              <a:t>时应该</a:t>
            </a:r>
            <a:r>
              <a:rPr sz="2900" spc="-15" dirty="0">
                <a:latin typeface="隶书"/>
                <a:cs typeface="隶书"/>
              </a:rPr>
              <a:t>压</a:t>
            </a:r>
            <a:r>
              <a:rPr sz="2900" dirty="0">
                <a:latin typeface="隶书"/>
                <a:cs typeface="隶书"/>
              </a:rPr>
              <a:t>缩的活</a:t>
            </a:r>
            <a:r>
              <a:rPr sz="2900" spc="-15" dirty="0">
                <a:latin typeface="隶书"/>
                <a:cs typeface="隶书"/>
              </a:rPr>
              <a:t>动</a:t>
            </a:r>
            <a:r>
              <a:rPr sz="2900" dirty="0">
                <a:latin typeface="隶书"/>
                <a:cs typeface="隶书"/>
              </a:rPr>
              <a:t>和最后</a:t>
            </a:r>
            <a:r>
              <a:rPr sz="2900" spc="-15" dirty="0">
                <a:latin typeface="隶书"/>
                <a:cs typeface="隶书"/>
              </a:rPr>
              <a:t>的</a:t>
            </a:r>
            <a:r>
              <a:rPr sz="2900" dirty="0">
                <a:latin typeface="隶书"/>
                <a:cs typeface="隶书"/>
              </a:rPr>
              <a:t>成本？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726179"/>
            <a:ext cx="835660" cy="460375"/>
          </a:xfrm>
          <a:custGeom>
            <a:avLst/>
            <a:gdLst/>
            <a:ahLst/>
            <a:cxnLst/>
            <a:rect l="l" t="t" r="r" b="b"/>
            <a:pathLst>
              <a:path w="835660" h="460375">
                <a:moveTo>
                  <a:pt x="0" y="460248"/>
                </a:moveTo>
                <a:lnTo>
                  <a:pt x="835152" y="460248"/>
                </a:lnTo>
                <a:lnTo>
                  <a:pt x="835152" y="0"/>
                </a:ln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5692" y="3753434"/>
            <a:ext cx="6350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78151" y="2179320"/>
            <a:ext cx="1447800" cy="133985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240"/>
              </a:spcBef>
            </a:pPr>
            <a:r>
              <a:rPr sz="2000" spc="-5" dirty="0">
                <a:latin typeface="Times New Roman"/>
                <a:cs typeface="Times New Roman"/>
              </a:rPr>
              <a:t>N:</a:t>
            </a:r>
            <a:r>
              <a:rPr sz="2000" dirty="0">
                <a:latin typeface="Times New Roman"/>
                <a:cs typeface="Times New Roman"/>
              </a:rPr>
              <a:t>7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91440">
              <a:lnSpc>
                <a:spcPct val="100000"/>
              </a:lnSpc>
              <a:spcBef>
                <a:spcPts val="1095"/>
              </a:spcBef>
            </a:pPr>
            <a:r>
              <a:rPr sz="1800" dirty="0">
                <a:latin typeface="Times New Roman"/>
                <a:cs typeface="Times New Roman"/>
              </a:rPr>
              <a:t>C:5</a:t>
            </a:r>
            <a:r>
              <a:rPr sz="1800" dirty="0">
                <a:latin typeface="宋体"/>
                <a:cs typeface="宋体"/>
              </a:rPr>
              <a:t>周</a:t>
            </a:r>
            <a:r>
              <a:rPr sz="1800" dirty="0">
                <a:latin typeface="Times New Roman"/>
                <a:cs typeface="Times New Roman"/>
              </a:rPr>
              <a:t>:6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宋体"/>
                <a:cs typeface="宋体"/>
              </a:rPr>
              <a:t>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54351" y="4335779"/>
            <a:ext cx="1447800" cy="1384300"/>
          </a:xfrm>
          <a:custGeom>
            <a:avLst/>
            <a:gdLst/>
            <a:ahLst/>
            <a:cxnLst/>
            <a:rect l="l" t="t" r="r" b="b"/>
            <a:pathLst>
              <a:path w="1447800" h="1384300">
                <a:moveTo>
                  <a:pt x="0" y="1383792"/>
                </a:moveTo>
                <a:lnTo>
                  <a:pt x="1447800" y="1383792"/>
                </a:lnTo>
                <a:lnTo>
                  <a:pt x="1447800" y="0"/>
                </a:lnTo>
                <a:lnTo>
                  <a:pt x="0" y="0"/>
                </a:lnTo>
                <a:lnTo>
                  <a:pt x="0" y="13837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33345" y="4359020"/>
            <a:ext cx="22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3345" y="5339283"/>
            <a:ext cx="1290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C:</a:t>
            </a:r>
            <a:r>
              <a:rPr sz="2000" spc="5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-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73752" y="2084832"/>
            <a:ext cx="144780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492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275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92075" marR="154305">
              <a:lnSpc>
                <a:spcPct val="150000"/>
              </a:lnSpc>
              <a:spcBef>
                <a:spcPts val="40"/>
              </a:spcBef>
            </a:pPr>
            <a:r>
              <a:rPr sz="2000" dirty="0">
                <a:latin typeface="Times New Roman"/>
                <a:cs typeface="Times New Roman"/>
              </a:rPr>
              <a:t>N:9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:8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  C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7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73752" y="4259579"/>
            <a:ext cx="1600200" cy="1384300"/>
          </a:xfrm>
          <a:custGeom>
            <a:avLst/>
            <a:gdLst/>
            <a:ahLst/>
            <a:cxnLst/>
            <a:rect l="l" t="t" r="r" b="b"/>
            <a:pathLst>
              <a:path w="1600200" h="1384300">
                <a:moveTo>
                  <a:pt x="0" y="1383792"/>
                </a:moveTo>
                <a:lnTo>
                  <a:pt x="1600200" y="1383792"/>
                </a:lnTo>
                <a:lnTo>
                  <a:pt x="1600200" y="0"/>
                </a:lnTo>
                <a:lnTo>
                  <a:pt x="0" y="0"/>
                </a:lnTo>
                <a:lnTo>
                  <a:pt x="0" y="138379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953127" y="5262448"/>
            <a:ext cx="12928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C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5" dirty="0">
                <a:latin typeface="Times New Roman"/>
                <a:cs typeface="Times New Roman"/>
              </a:rPr>
              <a:t>2</a:t>
            </a:r>
            <a:r>
              <a:rPr sz="2000" spc="5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21752" y="3726179"/>
            <a:ext cx="838200" cy="46037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15"/>
              </a:spcBef>
            </a:pPr>
            <a:r>
              <a:rPr sz="2400" spc="-5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1392" y="3116579"/>
            <a:ext cx="1146810" cy="843280"/>
          </a:xfrm>
          <a:custGeom>
            <a:avLst/>
            <a:gdLst/>
            <a:ahLst/>
            <a:cxnLst/>
            <a:rect l="l" t="t" r="r" b="b"/>
            <a:pathLst>
              <a:path w="1146810" h="843279">
                <a:moveTo>
                  <a:pt x="1081541" y="39885"/>
                </a:moveTo>
                <a:lnTo>
                  <a:pt x="0" y="833120"/>
                </a:lnTo>
                <a:lnTo>
                  <a:pt x="7518" y="843280"/>
                </a:lnTo>
                <a:lnTo>
                  <a:pt x="1089067" y="50147"/>
                </a:lnTo>
                <a:lnTo>
                  <a:pt x="1081541" y="39885"/>
                </a:lnTo>
                <a:close/>
              </a:path>
              <a:path w="1146810" h="843279">
                <a:moveTo>
                  <a:pt x="1130159" y="32385"/>
                </a:moveTo>
                <a:lnTo>
                  <a:pt x="1091768" y="32385"/>
                </a:lnTo>
                <a:lnTo>
                  <a:pt x="1099261" y="42672"/>
                </a:lnTo>
                <a:lnTo>
                  <a:pt x="1089067" y="50147"/>
                </a:lnTo>
                <a:lnTo>
                  <a:pt x="1107897" y="75819"/>
                </a:lnTo>
                <a:lnTo>
                  <a:pt x="1130159" y="32385"/>
                </a:lnTo>
                <a:close/>
              </a:path>
              <a:path w="1146810" h="843279">
                <a:moveTo>
                  <a:pt x="1091768" y="32385"/>
                </a:moveTo>
                <a:lnTo>
                  <a:pt x="1081541" y="39885"/>
                </a:lnTo>
                <a:lnTo>
                  <a:pt x="1089067" y="50147"/>
                </a:lnTo>
                <a:lnTo>
                  <a:pt x="1099261" y="42672"/>
                </a:lnTo>
                <a:lnTo>
                  <a:pt x="1091768" y="32385"/>
                </a:lnTo>
                <a:close/>
              </a:path>
              <a:path w="1146810" h="843279">
                <a:moveTo>
                  <a:pt x="1146759" y="0"/>
                </a:moveTo>
                <a:lnTo>
                  <a:pt x="1062812" y="14350"/>
                </a:lnTo>
                <a:lnTo>
                  <a:pt x="1081541" y="39885"/>
                </a:lnTo>
                <a:lnTo>
                  <a:pt x="1091768" y="32385"/>
                </a:lnTo>
                <a:lnTo>
                  <a:pt x="1130159" y="32385"/>
                </a:lnTo>
                <a:lnTo>
                  <a:pt x="11467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30808" y="4026408"/>
            <a:ext cx="1223645" cy="1148080"/>
          </a:xfrm>
          <a:custGeom>
            <a:avLst/>
            <a:gdLst/>
            <a:ahLst/>
            <a:cxnLst/>
            <a:rect l="l" t="t" r="r" b="b"/>
            <a:pathLst>
              <a:path w="1223645" h="1148079">
                <a:moveTo>
                  <a:pt x="1163610" y="1100028"/>
                </a:moveTo>
                <a:lnTo>
                  <a:pt x="1141882" y="1123188"/>
                </a:lnTo>
                <a:lnTo>
                  <a:pt x="1223543" y="1147572"/>
                </a:lnTo>
                <a:lnTo>
                  <a:pt x="1209147" y="1108710"/>
                </a:lnTo>
                <a:lnTo>
                  <a:pt x="1172870" y="1108710"/>
                </a:lnTo>
                <a:lnTo>
                  <a:pt x="1163610" y="1100028"/>
                </a:lnTo>
                <a:close/>
              </a:path>
              <a:path w="1223645" h="1148079">
                <a:moveTo>
                  <a:pt x="1172216" y="1090856"/>
                </a:moveTo>
                <a:lnTo>
                  <a:pt x="1163610" y="1100028"/>
                </a:lnTo>
                <a:lnTo>
                  <a:pt x="1172870" y="1108710"/>
                </a:lnTo>
                <a:lnTo>
                  <a:pt x="1181506" y="1099566"/>
                </a:lnTo>
                <a:lnTo>
                  <a:pt x="1172216" y="1090856"/>
                </a:lnTo>
                <a:close/>
              </a:path>
              <a:path w="1223645" h="1148079">
                <a:moveTo>
                  <a:pt x="1193952" y="1067689"/>
                </a:moveTo>
                <a:lnTo>
                  <a:pt x="1172216" y="1090856"/>
                </a:lnTo>
                <a:lnTo>
                  <a:pt x="1181506" y="1099566"/>
                </a:lnTo>
                <a:lnTo>
                  <a:pt x="1172870" y="1108710"/>
                </a:lnTo>
                <a:lnTo>
                  <a:pt x="1209147" y="1108710"/>
                </a:lnTo>
                <a:lnTo>
                  <a:pt x="1193952" y="1067689"/>
                </a:lnTo>
                <a:close/>
              </a:path>
              <a:path w="1223645" h="1148079">
                <a:moveTo>
                  <a:pt x="8686" y="0"/>
                </a:moveTo>
                <a:lnTo>
                  <a:pt x="0" y="9144"/>
                </a:lnTo>
                <a:lnTo>
                  <a:pt x="1163610" y="1100028"/>
                </a:lnTo>
                <a:lnTo>
                  <a:pt x="1172216" y="1090856"/>
                </a:lnTo>
                <a:lnTo>
                  <a:pt x="8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502152" y="3078479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295400" y="0"/>
                </a:moveTo>
                <a:lnTo>
                  <a:pt x="1295400" y="76200"/>
                </a:lnTo>
                <a:lnTo>
                  <a:pt x="1358900" y="44450"/>
                </a:lnTo>
                <a:lnTo>
                  <a:pt x="1308100" y="44450"/>
                </a:lnTo>
                <a:lnTo>
                  <a:pt x="1308100" y="31750"/>
                </a:lnTo>
                <a:lnTo>
                  <a:pt x="1358900" y="31750"/>
                </a:lnTo>
                <a:lnTo>
                  <a:pt x="1295400" y="0"/>
                </a:lnTo>
                <a:close/>
              </a:path>
              <a:path w="1371600" h="76200">
                <a:moveTo>
                  <a:pt x="1295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5400" y="44450"/>
                </a:lnTo>
                <a:lnTo>
                  <a:pt x="1295400" y="31750"/>
                </a:lnTo>
                <a:close/>
              </a:path>
              <a:path w="1371600" h="76200">
                <a:moveTo>
                  <a:pt x="1358900" y="31750"/>
                </a:moveTo>
                <a:lnTo>
                  <a:pt x="1308100" y="31750"/>
                </a:lnTo>
                <a:lnTo>
                  <a:pt x="1308100" y="44450"/>
                </a:lnTo>
                <a:lnTo>
                  <a:pt x="1358900" y="44450"/>
                </a:lnTo>
                <a:lnTo>
                  <a:pt x="1371600" y="38100"/>
                </a:lnTo>
                <a:lnTo>
                  <a:pt x="1358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64635" y="5059679"/>
            <a:ext cx="1236345" cy="76200"/>
          </a:xfrm>
          <a:custGeom>
            <a:avLst/>
            <a:gdLst/>
            <a:ahLst/>
            <a:cxnLst/>
            <a:rect l="l" t="t" r="r" b="b"/>
            <a:pathLst>
              <a:path w="1236345" h="76200">
                <a:moveTo>
                  <a:pt x="1159764" y="0"/>
                </a:moveTo>
                <a:lnTo>
                  <a:pt x="1159764" y="76200"/>
                </a:lnTo>
                <a:lnTo>
                  <a:pt x="1223264" y="44450"/>
                </a:lnTo>
                <a:lnTo>
                  <a:pt x="1172464" y="44450"/>
                </a:lnTo>
                <a:lnTo>
                  <a:pt x="1172464" y="31750"/>
                </a:lnTo>
                <a:lnTo>
                  <a:pt x="1223264" y="31750"/>
                </a:lnTo>
                <a:lnTo>
                  <a:pt x="1159764" y="0"/>
                </a:lnTo>
                <a:close/>
              </a:path>
              <a:path w="1236345" h="76200">
                <a:moveTo>
                  <a:pt x="115976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159764" y="44450"/>
                </a:lnTo>
                <a:lnTo>
                  <a:pt x="1159764" y="31750"/>
                </a:lnTo>
                <a:close/>
              </a:path>
              <a:path w="1236345" h="76200">
                <a:moveTo>
                  <a:pt x="1223264" y="31750"/>
                </a:moveTo>
                <a:lnTo>
                  <a:pt x="1172464" y="31750"/>
                </a:lnTo>
                <a:lnTo>
                  <a:pt x="1172464" y="44450"/>
                </a:lnTo>
                <a:lnTo>
                  <a:pt x="1223264" y="44450"/>
                </a:lnTo>
                <a:lnTo>
                  <a:pt x="1235964" y="38100"/>
                </a:lnTo>
                <a:lnTo>
                  <a:pt x="122326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19520" y="3110610"/>
            <a:ext cx="1831339" cy="628015"/>
          </a:xfrm>
          <a:custGeom>
            <a:avLst/>
            <a:gdLst/>
            <a:ahLst/>
            <a:cxnLst/>
            <a:rect l="l" t="t" r="r" b="b"/>
            <a:pathLst>
              <a:path w="1831340" h="628014">
                <a:moveTo>
                  <a:pt x="1756578" y="597464"/>
                </a:moveTo>
                <a:lnTo>
                  <a:pt x="1746503" y="627633"/>
                </a:lnTo>
                <a:lnTo>
                  <a:pt x="1830831" y="615569"/>
                </a:lnTo>
                <a:lnTo>
                  <a:pt x="1816734" y="601471"/>
                </a:lnTo>
                <a:lnTo>
                  <a:pt x="1768602" y="601471"/>
                </a:lnTo>
                <a:lnTo>
                  <a:pt x="1756578" y="597464"/>
                </a:lnTo>
                <a:close/>
              </a:path>
              <a:path w="1831340" h="628014">
                <a:moveTo>
                  <a:pt x="1760610" y="585389"/>
                </a:moveTo>
                <a:lnTo>
                  <a:pt x="1756578" y="597464"/>
                </a:lnTo>
                <a:lnTo>
                  <a:pt x="1768602" y="601471"/>
                </a:lnTo>
                <a:lnTo>
                  <a:pt x="1772665" y="589407"/>
                </a:lnTo>
                <a:lnTo>
                  <a:pt x="1760610" y="585389"/>
                </a:lnTo>
                <a:close/>
              </a:path>
              <a:path w="1831340" h="628014">
                <a:moveTo>
                  <a:pt x="1770633" y="555370"/>
                </a:moveTo>
                <a:lnTo>
                  <a:pt x="1760610" y="585389"/>
                </a:lnTo>
                <a:lnTo>
                  <a:pt x="1772665" y="589407"/>
                </a:lnTo>
                <a:lnTo>
                  <a:pt x="1768602" y="601471"/>
                </a:lnTo>
                <a:lnTo>
                  <a:pt x="1816734" y="601471"/>
                </a:lnTo>
                <a:lnTo>
                  <a:pt x="1770633" y="555370"/>
                </a:lnTo>
                <a:close/>
              </a:path>
              <a:path w="1831340" h="628014">
                <a:moveTo>
                  <a:pt x="4063" y="0"/>
                </a:moveTo>
                <a:lnTo>
                  <a:pt x="0" y="11937"/>
                </a:lnTo>
                <a:lnTo>
                  <a:pt x="1756578" y="597464"/>
                </a:lnTo>
                <a:lnTo>
                  <a:pt x="1760610" y="585389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71158" y="4335145"/>
            <a:ext cx="1870075" cy="920750"/>
          </a:xfrm>
          <a:custGeom>
            <a:avLst/>
            <a:gdLst/>
            <a:ahLst/>
            <a:cxnLst/>
            <a:rect l="l" t="t" r="r" b="b"/>
            <a:pathLst>
              <a:path w="1870075" h="920750">
                <a:moveTo>
                  <a:pt x="1798442" y="28460"/>
                </a:moveTo>
                <a:lnTo>
                  <a:pt x="0" y="909319"/>
                </a:lnTo>
                <a:lnTo>
                  <a:pt x="5587" y="920749"/>
                </a:lnTo>
                <a:lnTo>
                  <a:pt x="1804047" y="39882"/>
                </a:lnTo>
                <a:lnTo>
                  <a:pt x="1798442" y="28460"/>
                </a:lnTo>
                <a:close/>
              </a:path>
              <a:path w="1870075" h="920750">
                <a:moveTo>
                  <a:pt x="1852722" y="22859"/>
                </a:moveTo>
                <a:lnTo>
                  <a:pt x="1809876" y="22859"/>
                </a:lnTo>
                <a:lnTo>
                  <a:pt x="1815464" y="34289"/>
                </a:lnTo>
                <a:lnTo>
                  <a:pt x="1804047" y="39882"/>
                </a:lnTo>
                <a:lnTo>
                  <a:pt x="1818005" y="68325"/>
                </a:lnTo>
                <a:lnTo>
                  <a:pt x="1852722" y="22859"/>
                </a:lnTo>
                <a:close/>
              </a:path>
              <a:path w="1870075" h="920750">
                <a:moveTo>
                  <a:pt x="1809876" y="22859"/>
                </a:moveTo>
                <a:lnTo>
                  <a:pt x="1798442" y="28460"/>
                </a:lnTo>
                <a:lnTo>
                  <a:pt x="1804047" y="39882"/>
                </a:lnTo>
                <a:lnTo>
                  <a:pt x="1815464" y="34289"/>
                </a:lnTo>
                <a:lnTo>
                  <a:pt x="1809876" y="22859"/>
                </a:lnTo>
                <a:close/>
              </a:path>
              <a:path w="1870075" h="920750">
                <a:moveTo>
                  <a:pt x="1784476" y="0"/>
                </a:moveTo>
                <a:lnTo>
                  <a:pt x="1798442" y="28460"/>
                </a:lnTo>
                <a:lnTo>
                  <a:pt x="1809876" y="22859"/>
                </a:lnTo>
                <a:lnTo>
                  <a:pt x="1852722" y="22859"/>
                </a:lnTo>
                <a:lnTo>
                  <a:pt x="1869693" y="634"/>
                </a:lnTo>
                <a:lnTo>
                  <a:pt x="17844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78015" y="2197232"/>
            <a:ext cx="227965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A－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B－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》结束</a:t>
            </a:r>
            <a:endParaRPr sz="1600">
              <a:latin typeface="黑体"/>
              <a:cs typeface="黑体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Path:16</a:t>
            </a:r>
            <a:r>
              <a:rPr sz="1600" b="1" spc="-10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52615" y="4950358"/>
            <a:ext cx="23304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 marR="30480" indent="-663575">
              <a:lnSpc>
                <a:spcPct val="150000"/>
              </a:lnSpc>
              <a:spcBef>
                <a:spcPts val="10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》C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D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》结束  Path:16</a:t>
            </a:r>
            <a:r>
              <a:rPr sz="1600" b="1" spc="-142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100" b="1" spc="-37" baseline="9920" dirty="0">
                <a:latin typeface="Arial Narrow"/>
                <a:cs typeface="Arial Narrow"/>
              </a:rPr>
              <a:t>118</a:t>
            </a:r>
            <a:endParaRPr sz="2100" baseline="9920">
              <a:latin typeface="Arial Narrow"/>
              <a:cs typeface="Arial Narro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31745" y="4377309"/>
            <a:ext cx="11798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1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0</a:t>
            </a:r>
            <a:r>
              <a:rPr sz="2000" b="1" spc="10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-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&gt;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9周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07945" y="4834509"/>
            <a:ext cx="19456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spc="-307" baseline="-9722" dirty="0">
                <a:latin typeface="Times New Roman"/>
                <a:cs typeface="Times New Roman"/>
              </a:rPr>
              <a:t>N:10</a:t>
            </a:r>
            <a:r>
              <a:rPr sz="2000" b="1" spc="-204" dirty="0">
                <a:solidFill>
                  <a:srgbClr val="DD8046"/>
                </a:solidFill>
                <a:latin typeface="黑体"/>
                <a:cs typeface="黑体"/>
              </a:rPr>
              <a:t>4</a:t>
            </a:r>
            <a:r>
              <a:rPr sz="3000" spc="-2100" baseline="-9722" dirty="0">
                <a:latin typeface="宋体"/>
                <a:cs typeface="宋体"/>
              </a:rPr>
              <a:t>周</a:t>
            </a:r>
            <a:r>
              <a:rPr sz="2000" b="1" spc="-610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r>
              <a:rPr sz="3000" spc="-509" baseline="-9722" dirty="0">
                <a:latin typeface="Times New Roman"/>
                <a:cs typeface="Times New Roman"/>
              </a:rPr>
              <a:t>:4</a:t>
            </a:r>
            <a:r>
              <a:rPr sz="2000" b="1" spc="-340" dirty="0">
                <a:solidFill>
                  <a:srgbClr val="DD8046"/>
                </a:solidFill>
                <a:latin typeface="黑体"/>
                <a:cs typeface="黑体"/>
              </a:rPr>
              <a:t>-</a:t>
            </a:r>
            <a:r>
              <a:rPr sz="3000" spc="-2887" baseline="-9722" dirty="0">
                <a:latin typeface="宋体"/>
                <a:cs typeface="宋体"/>
              </a:rPr>
              <a:t>万</a:t>
            </a:r>
            <a:r>
              <a:rPr sz="2000" b="1" spc="-10" dirty="0">
                <a:solidFill>
                  <a:srgbClr val="DD8046"/>
                </a:solidFill>
                <a:latin typeface="黑体"/>
                <a:cs typeface="黑体"/>
              </a:rPr>
              <a:t>&gt;</a:t>
            </a:r>
            <a:r>
              <a:rPr sz="2000" b="1" spc="-15" dirty="0">
                <a:solidFill>
                  <a:srgbClr val="DD8046"/>
                </a:solidFill>
                <a:latin typeface="黑体"/>
                <a:cs typeface="黑体"/>
              </a:rPr>
              <a:t> 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4.5万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3226" y="3832682"/>
            <a:ext cx="2016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7E7E7E"/>
                </a:solidFill>
                <a:latin typeface="宋体"/>
                <a:cs typeface="宋体"/>
              </a:rPr>
              <a:t>总成本</a:t>
            </a:r>
            <a:r>
              <a:rPr sz="2800" b="1" spc="-10" dirty="0">
                <a:solidFill>
                  <a:srgbClr val="7E7E7E"/>
                </a:solidFill>
                <a:latin typeface="Arial Narrow"/>
                <a:cs typeface="Arial Narrow"/>
              </a:rPr>
              <a:t>21.1</a:t>
            </a:r>
            <a:r>
              <a:rPr sz="2800" b="1" spc="-15" dirty="0">
                <a:solidFill>
                  <a:srgbClr val="7E7E7E"/>
                </a:solidFill>
                <a:latin typeface="宋体"/>
                <a:cs typeface="宋体"/>
              </a:rPr>
              <a:t>万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27727" y="4222242"/>
            <a:ext cx="1410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baseline="-11574" dirty="0">
                <a:latin typeface="Times New Roman"/>
                <a:cs typeface="Times New Roman"/>
              </a:rPr>
              <a:t>D</a:t>
            </a:r>
            <a:r>
              <a:rPr sz="3600" spc="67" baseline="-11574" dirty="0"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8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-&gt;7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53127" y="4805629"/>
            <a:ext cx="15906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50" dirty="0">
                <a:latin typeface="Times New Roman"/>
                <a:cs typeface="Times New Roman"/>
              </a:rPr>
              <a:t>N</a:t>
            </a:r>
            <a:r>
              <a:rPr sz="2000" b="1" spc="-450" dirty="0">
                <a:solidFill>
                  <a:srgbClr val="DD8046"/>
                </a:solidFill>
                <a:latin typeface="黑体"/>
                <a:cs typeface="黑体"/>
              </a:rPr>
              <a:t>3</a:t>
            </a:r>
            <a:r>
              <a:rPr sz="2000" spc="-450" dirty="0">
                <a:latin typeface="Times New Roman"/>
                <a:cs typeface="Times New Roman"/>
              </a:rPr>
              <a:t>:8</a:t>
            </a:r>
            <a:r>
              <a:rPr sz="2000" b="1" spc="-1225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r>
              <a:rPr sz="2000" spc="-775" dirty="0">
                <a:latin typeface="宋体"/>
                <a:cs typeface="宋体"/>
              </a:rPr>
              <a:t>周</a:t>
            </a:r>
            <a:r>
              <a:rPr sz="2000" b="1" spc="-315" dirty="0">
                <a:solidFill>
                  <a:srgbClr val="DD8046"/>
                </a:solidFill>
                <a:latin typeface="黑体"/>
                <a:cs typeface="黑体"/>
              </a:rPr>
              <a:t>-</a:t>
            </a:r>
            <a:r>
              <a:rPr sz="2000" spc="-315" dirty="0">
                <a:latin typeface="Times New Roman"/>
                <a:cs typeface="Times New Roman"/>
              </a:rPr>
              <a:t>:</a:t>
            </a:r>
            <a:r>
              <a:rPr sz="2000" b="1" spc="-315" dirty="0">
                <a:solidFill>
                  <a:srgbClr val="DD8046"/>
                </a:solidFill>
                <a:latin typeface="黑体"/>
                <a:cs typeface="黑体"/>
              </a:rPr>
              <a:t>&gt;</a:t>
            </a:r>
            <a:r>
              <a:rPr sz="2000" spc="-315" dirty="0">
                <a:latin typeface="Times New Roman"/>
                <a:cs typeface="Times New Roman"/>
              </a:rPr>
              <a:t>3</a:t>
            </a:r>
            <a:r>
              <a:rPr sz="2000" spc="-1295" dirty="0">
                <a:latin typeface="宋体"/>
                <a:cs typeface="宋体"/>
              </a:rPr>
              <a:t>万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3.6万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6440" y="232663"/>
            <a:ext cx="338327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时间压缩例题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39785" y="5694070"/>
            <a:ext cx="260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5" dirty="0">
                <a:latin typeface="Arial Narrow"/>
                <a:cs typeface="Arial Narrow"/>
              </a:rPr>
              <a:t>1</a:t>
            </a:r>
            <a:r>
              <a:rPr sz="1400" b="1" spc="-5" dirty="0">
                <a:latin typeface="Arial Narrow"/>
                <a:cs typeface="Arial Narrow"/>
              </a:rPr>
              <a:t>1</a:t>
            </a:r>
            <a:r>
              <a:rPr sz="1400" b="1" dirty="0">
                <a:latin typeface="Arial Narrow"/>
                <a:cs typeface="Arial Narrow"/>
              </a:rPr>
              <a:t>9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30" y="1559813"/>
            <a:ext cx="8724900" cy="64643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805">
              <a:lnSpc>
                <a:spcPts val="3265"/>
              </a:lnSpc>
            </a:pPr>
            <a:r>
              <a:rPr sz="2900" dirty="0">
                <a:latin typeface="华文隶书"/>
                <a:cs typeface="华文隶书"/>
              </a:rPr>
              <a:t>将工期压缩到</a:t>
            </a:r>
            <a:r>
              <a:rPr sz="2900" i="1" spc="-10" dirty="0">
                <a:latin typeface="华文隶书"/>
                <a:cs typeface="华文隶书"/>
              </a:rPr>
              <a:t>15</a:t>
            </a:r>
            <a:r>
              <a:rPr sz="2900" dirty="0">
                <a:latin typeface="华文隶书"/>
                <a:cs typeface="华文隶书"/>
              </a:rPr>
              <a:t>周时应该压缩</a:t>
            </a:r>
            <a:r>
              <a:rPr sz="2900" spc="-15" dirty="0">
                <a:latin typeface="华文隶书"/>
                <a:cs typeface="华文隶书"/>
              </a:rPr>
              <a:t>的</a:t>
            </a:r>
            <a:r>
              <a:rPr sz="2900" dirty="0">
                <a:latin typeface="华文隶书"/>
                <a:cs typeface="华文隶书"/>
              </a:rPr>
              <a:t>活动</a:t>
            </a:r>
            <a:r>
              <a:rPr sz="2900" spc="-15" dirty="0">
                <a:latin typeface="华文隶书"/>
                <a:cs typeface="华文隶书"/>
              </a:rPr>
              <a:t>和</a:t>
            </a:r>
            <a:r>
              <a:rPr sz="2900" dirty="0">
                <a:latin typeface="华文隶书"/>
                <a:cs typeface="华文隶书"/>
              </a:rPr>
              <a:t>最后</a:t>
            </a:r>
            <a:r>
              <a:rPr sz="2900" spc="-15" dirty="0">
                <a:latin typeface="华文隶书"/>
                <a:cs typeface="华文隶书"/>
              </a:rPr>
              <a:t>的</a:t>
            </a:r>
            <a:r>
              <a:rPr sz="2900" dirty="0">
                <a:latin typeface="华文隶书"/>
                <a:cs typeface="华文隶书"/>
              </a:rPr>
              <a:t>成本？</a:t>
            </a:r>
            <a:endParaRPr sz="2900">
              <a:latin typeface="华文隶书"/>
              <a:cs typeface="华文隶书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767" y="3988308"/>
            <a:ext cx="838200" cy="462280"/>
          </a:xfrm>
          <a:prstGeom prst="rect">
            <a:avLst/>
          </a:prstGeom>
          <a:ln w="9143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开始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29967" y="2476500"/>
            <a:ext cx="1447800" cy="1339850"/>
          </a:xfrm>
          <a:custGeom>
            <a:avLst/>
            <a:gdLst/>
            <a:ahLst/>
            <a:cxnLst/>
            <a:rect l="l" t="t" r="r" b="b"/>
            <a:pathLst>
              <a:path w="1447800" h="1339850">
                <a:moveTo>
                  <a:pt x="0" y="1339595"/>
                </a:moveTo>
                <a:lnTo>
                  <a:pt x="1447800" y="1339595"/>
                </a:lnTo>
                <a:lnTo>
                  <a:pt x="1447800" y="0"/>
                </a:lnTo>
                <a:lnTo>
                  <a:pt x="0" y="0"/>
                </a:lnTo>
                <a:lnTo>
                  <a:pt x="0" y="133959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09597" y="2310772"/>
            <a:ext cx="1186180" cy="1042669"/>
          </a:xfrm>
          <a:prstGeom prst="rect">
            <a:avLst/>
          </a:prstGeom>
        </p:spPr>
        <p:txBody>
          <a:bodyPr vert="horz" wrap="square" lIns="0" tIns="201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400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2000" spc="-5" dirty="0">
                <a:latin typeface="Times New Roman"/>
                <a:cs typeface="Times New Roman"/>
              </a:rPr>
              <a:t>N:</a:t>
            </a:r>
            <a:r>
              <a:rPr sz="2000" spc="5" dirty="0">
                <a:latin typeface="Times New Roman"/>
                <a:cs typeface="Times New Roman"/>
              </a:rPr>
              <a:t>7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5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9597" y="3465957"/>
            <a:ext cx="11639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C:5</a:t>
            </a:r>
            <a:r>
              <a:rPr sz="1800" dirty="0">
                <a:latin typeface="宋体"/>
                <a:cs typeface="宋体"/>
              </a:rPr>
              <a:t>周</a:t>
            </a:r>
            <a:r>
              <a:rPr sz="1800" dirty="0">
                <a:latin typeface="Times New Roman"/>
                <a:cs typeface="Times New Roman"/>
              </a:rPr>
              <a:t>:6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dirty="0">
                <a:latin typeface="宋体"/>
                <a:cs typeface="宋体"/>
              </a:rPr>
              <a:t>万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06167" y="4597908"/>
            <a:ext cx="1447800" cy="1385570"/>
          </a:xfrm>
          <a:custGeom>
            <a:avLst/>
            <a:gdLst/>
            <a:ahLst/>
            <a:cxnLst/>
            <a:rect l="l" t="t" r="r" b="b"/>
            <a:pathLst>
              <a:path w="1447800" h="1385570">
                <a:moveTo>
                  <a:pt x="0" y="1385315"/>
                </a:moveTo>
                <a:lnTo>
                  <a:pt x="1447800" y="1385315"/>
                </a:lnTo>
                <a:lnTo>
                  <a:pt x="1447800" y="0"/>
                </a:lnTo>
                <a:lnTo>
                  <a:pt x="0" y="0"/>
                </a:lnTo>
                <a:lnTo>
                  <a:pt x="0" y="138531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185797" y="4620590"/>
            <a:ext cx="2292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85797" y="5601106"/>
            <a:ext cx="12903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C:</a:t>
            </a:r>
            <a:r>
              <a:rPr sz="2000" spc="5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-5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25567" y="2476500"/>
            <a:ext cx="1447800" cy="138557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280"/>
              </a:spcBef>
            </a:pPr>
            <a:r>
              <a:rPr sz="2400" dirty="0"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  <a:p>
            <a:pPr marL="92710" marR="153670">
              <a:lnSpc>
                <a:spcPct val="150000"/>
              </a:lnSpc>
              <a:spcBef>
                <a:spcPts val="40"/>
              </a:spcBef>
            </a:pPr>
            <a:r>
              <a:rPr sz="2000" dirty="0">
                <a:latin typeface="Times New Roman"/>
                <a:cs typeface="Times New Roman"/>
              </a:rPr>
              <a:t>N:9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:8</a:t>
            </a:r>
            <a:r>
              <a:rPr sz="2000" dirty="0">
                <a:latin typeface="宋体"/>
                <a:cs typeface="宋体"/>
              </a:rPr>
              <a:t>万</a:t>
            </a:r>
            <a:r>
              <a:rPr sz="2000" dirty="0">
                <a:latin typeface="Times New Roman"/>
                <a:cs typeface="Times New Roman"/>
              </a:rPr>
              <a:t>:  </a:t>
            </a:r>
            <a:r>
              <a:rPr sz="2000" spc="-5" dirty="0">
                <a:latin typeface="Times New Roman"/>
                <a:cs typeface="Times New Roman"/>
              </a:rPr>
              <a:t>C: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sz="2000" spc="-7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07279" y="4521708"/>
            <a:ext cx="1752600" cy="1385570"/>
          </a:xfrm>
          <a:custGeom>
            <a:avLst/>
            <a:gdLst/>
            <a:ahLst/>
            <a:cxnLst/>
            <a:rect l="l" t="t" r="r" b="b"/>
            <a:pathLst>
              <a:path w="1752600" h="1385570">
                <a:moveTo>
                  <a:pt x="0" y="1385315"/>
                </a:moveTo>
                <a:lnTo>
                  <a:pt x="1752600" y="1385315"/>
                </a:lnTo>
                <a:lnTo>
                  <a:pt x="1752600" y="0"/>
                </a:lnTo>
                <a:lnTo>
                  <a:pt x="0" y="0"/>
                </a:lnTo>
                <a:lnTo>
                  <a:pt x="0" y="1385315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986654" y="4544390"/>
            <a:ext cx="2457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86654" y="5067680"/>
            <a:ext cx="1115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N:</a:t>
            </a:r>
            <a:r>
              <a:rPr sz="2000" spc="5" dirty="0">
                <a:latin typeface="Times New Roman"/>
                <a:cs typeface="Times New Roman"/>
              </a:rPr>
              <a:t>8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spc="-5" dirty="0">
                <a:latin typeface="Times New Roman"/>
                <a:cs typeface="Times New Roman"/>
              </a:rPr>
              <a:t>:</a:t>
            </a:r>
            <a:r>
              <a:rPr sz="2000" spc="5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86654" y="5524906"/>
            <a:ext cx="12922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C:</a:t>
            </a:r>
            <a:r>
              <a:rPr sz="2000" spc="5" dirty="0">
                <a:latin typeface="Times New Roman"/>
                <a:cs typeface="Times New Roman"/>
              </a:rPr>
              <a:t>6</a:t>
            </a:r>
            <a:r>
              <a:rPr sz="2000" dirty="0">
                <a:latin typeface="宋体"/>
                <a:cs typeface="宋体"/>
              </a:rPr>
              <a:t>周</a:t>
            </a:r>
            <a:r>
              <a:rPr sz="2000" dirty="0">
                <a:latin typeface="Times New Roman"/>
                <a:cs typeface="Times New Roman"/>
              </a:rPr>
              <a:t>:4.</a:t>
            </a:r>
            <a:r>
              <a:rPr sz="2000" spc="5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宋体"/>
                <a:cs typeface="宋体"/>
              </a:rPr>
              <a:t>万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73568" y="3988308"/>
            <a:ext cx="838200" cy="46228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sz="2400" dirty="0">
                <a:latin typeface="宋体"/>
                <a:cs typeface="宋体"/>
              </a:rPr>
              <a:t>结束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83208" y="3378708"/>
            <a:ext cx="1146810" cy="843280"/>
          </a:xfrm>
          <a:custGeom>
            <a:avLst/>
            <a:gdLst/>
            <a:ahLst/>
            <a:cxnLst/>
            <a:rect l="l" t="t" r="r" b="b"/>
            <a:pathLst>
              <a:path w="1146810" h="843279">
                <a:moveTo>
                  <a:pt x="1081541" y="39885"/>
                </a:moveTo>
                <a:lnTo>
                  <a:pt x="0" y="833119"/>
                </a:lnTo>
                <a:lnTo>
                  <a:pt x="7518" y="843279"/>
                </a:lnTo>
                <a:lnTo>
                  <a:pt x="1089067" y="50147"/>
                </a:lnTo>
                <a:lnTo>
                  <a:pt x="1081541" y="39885"/>
                </a:lnTo>
                <a:close/>
              </a:path>
              <a:path w="1146810" h="843279">
                <a:moveTo>
                  <a:pt x="1130159" y="32384"/>
                </a:moveTo>
                <a:lnTo>
                  <a:pt x="1091768" y="32384"/>
                </a:lnTo>
                <a:lnTo>
                  <a:pt x="1099261" y="42671"/>
                </a:lnTo>
                <a:lnTo>
                  <a:pt x="1089067" y="50147"/>
                </a:lnTo>
                <a:lnTo>
                  <a:pt x="1107897" y="75818"/>
                </a:lnTo>
                <a:lnTo>
                  <a:pt x="1130159" y="32384"/>
                </a:lnTo>
                <a:close/>
              </a:path>
              <a:path w="1146810" h="843279">
                <a:moveTo>
                  <a:pt x="1091768" y="32384"/>
                </a:moveTo>
                <a:lnTo>
                  <a:pt x="1081541" y="39885"/>
                </a:lnTo>
                <a:lnTo>
                  <a:pt x="1089067" y="50147"/>
                </a:lnTo>
                <a:lnTo>
                  <a:pt x="1099261" y="42671"/>
                </a:lnTo>
                <a:lnTo>
                  <a:pt x="1091768" y="32384"/>
                </a:lnTo>
                <a:close/>
              </a:path>
              <a:path w="1146810" h="843279">
                <a:moveTo>
                  <a:pt x="1146759" y="0"/>
                </a:moveTo>
                <a:lnTo>
                  <a:pt x="1062812" y="14350"/>
                </a:lnTo>
                <a:lnTo>
                  <a:pt x="1081541" y="39885"/>
                </a:lnTo>
                <a:lnTo>
                  <a:pt x="1091768" y="32384"/>
                </a:lnTo>
                <a:lnTo>
                  <a:pt x="1130159" y="32384"/>
                </a:lnTo>
                <a:lnTo>
                  <a:pt x="11467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882624" y="4288535"/>
            <a:ext cx="1223645" cy="1148080"/>
          </a:xfrm>
          <a:custGeom>
            <a:avLst/>
            <a:gdLst/>
            <a:ahLst/>
            <a:cxnLst/>
            <a:rect l="l" t="t" r="r" b="b"/>
            <a:pathLst>
              <a:path w="1223645" h="1148079">
                <a:moveTo>
                  <a:pt x="1163547" y="1100095"/>
                </a:moveTo>
                <a:lnTo>
                  <a:pt x="1141882" y="1123188"/>
                </a:lnTo>
                <a:lnTo>
                  <a:pt x="1223543" y="1147572"/>
                </a:lnTo>
                <a:lnTo>
                  <a:pt x="1209194" y="1108836"/>
                </a:lnTo>
                <a:lnTo>
                  <a:pt x="1172870" y="1108836"/>
                </a:lnTo>
                <a:lnTo>
                  <a:pt x="1163547" y="1100095"/>
                </a:lnTo>
                <a:close/>
              </a:path>
              <a:path w="1223645" h="1148079">
                <a:moveTo>
                  <a:pt x="1172216" y="1090856"/>
                </a:moveTo>
                <a:lnTo>
                  <a:pt x="1163547" y="1100095"/>
                </a:lnTo>
                <a:lnTo>
                  <a:pt x="1172870" y="1108836"/>
                </a:lnTo>
                <a:lnTo>
                  <a:pt x="1181506" y="1099566"/>
                </a:lnTo>
                <a:lnTo>
                  <a:pt x="1172216" y="1090856"/>
                </a:lnTo>
                <a:close/>
              </a:path>
              <a:path w="1223645" h="1148079">
                <a:moveTo>
                  <a:pt x="1193952" y="1067689"/>
                </a:moveTo>
                <a:lnTo>
                  <a:pt x="1172216" y="1090856"/>
                </a:lnTo>
                <a:lnTo>
                  <a:pt x="1181506" y="1099566"/>
                </a:lnTo>
                <a:lnTo>
                  <a:pt x="1172870" y="1108836"/>
                </a:lnTo>
                <a:lnTo>
                  <a:pt x="1209194" y="1108836"/>
                </a:lnTo>
                <a:lnTo>
                  <a:pt x="1193952" y="1067689"/>
                </a:lnTo>
                <a:close/>
              </a:path>
              <a:path w="1223645" h="1148079">
                <a:moveTo>
                  <a:pt x="8686" y="0"/>
                </a:moveTo>
                <a:lnTo>
                  <a:pt x="0" y="9143"/>
                </a:lnTo>
                <a:lnTo>
                  <a:pt x="1163547" y="1100095"/>
                </a:lnTo>
                <a:lnTo>
                  <a:pt x="1172216" y="1090856"/>
                </a:lnTo>
                <a:lnTo>
                  <a:pt x="8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53967" y="3340608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1295400" y="0"/>
                </a:moveTo>
                <a:lnTo>
                  <a:pt x="1295400" y="76200"/>
                </a:lnTo>
                <a:lnTo>
                  <a:pt x="1358900" y="44450"/>
                </a:lnTo>
                <a:lnTo>
                  <a:pt x="1308100" y="44450"/>
                </a:lnTo>
                <a:lnTo>
                  <a:pt x="1308100" y="31750"/>
                </a:lnTo>
                <a:lnTo>
                  <a:pt x="1358900" y="31750"/>
                </a:lnTo>
                <a:lnTo>
                  <a:pt x="1295400" y="0"/>
                </a:lnTo>
                <a:close/>
              </a:path>
              <a:path w="1371600" h="76200">
                <a:moveTo>
                  <a:pt x="129540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295400" y="44450"/>
                </a:lnTo>
                <a:lnTo>
                  <a:pt x="1295400" y="31750"/>
                </a:lnTo>
                <a:close/>
              </a:path>
              <a:path w="1371600" h="76200">
                <a:moveTo>
                  <a:pt x="1358900" y="31750"/>
                </a:moveTo>
                <a:lnTo>
                  <a:pt x="1308100" y="31750"/>
                </a:lnTo>
                <a:lnTo>
                  <a:pt x="1308100" y="44450"/>
                </a:lnTo>
                <a:lnTo>
                  <a:pt x="1358900" y="44450"/>
                </a:lnTo>
                <a:lnTo>
                  <a:pt x="1371600" y="38100"/>
                </a:lnTo>
                <a:lnTo>
                  <a:pt x="1358900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34740" y="5321808"/>
            <a:ext cx="1272540" cy="76200"/>
          </a:xfrm>
          <a:custGeom>
            <a:avLst/>
            <a:gdLst/>
            <a:ahLst/>
            <a:cxnLst/>
            <a:rect l="l" t="t" r="r" b="b"/>
            <a:pathLst>
              <a:path w="1272539" h="76200">
                <a:moveTo>
                  <a:pt x="1196339" y="0"/>
                </a:moveTo>
                <a:lnTo>
                  <a:pt x="1196339" y="76199"/>
                </a:lnTo>
                <a:lnTo>
                  <a:pt x="1259839" y="44449"/>
                </a:lnTo>
                <a:lnTo>
                  <a:pt x="1209039" y="44449"/>
                </a:lnTo>
                <a:lnTo>
                  <a:pt x="1209039" y="31749"/>
                </a:lnTo>
                <a:lnTo>
                  <a:pt x="1259839" y="31749"/>
                </a:lnTo>
                <a:lnTo>
                  <a:pt x="1196339" y="0"/>
                </a:lnTo>
                <a:close/>
              </a:path>
              <a:path w="1272539" h="76200">
                <a:moveTo>
                  <a:pt x="1196339" y="31749"/>
                </a:moveTo>
                <a:lnTo>
                  <a:pt x="0" y="31749"/>
                </a:lnTo>
                <a:lnTo>
                  <a:pt x="0" y="44449"/>
                </a:lnTo>
                <a:lnTo>
                  <a:pt x="1196339" y="44449"/>
                </a:lnTo>
                <a:lnTo>
                  <a:pt x="1196339" y="31749"/>
                </a:lnTo>
                <a:close/>
              </a:path>
              <a:path w="1272539" h="76200">
                <a:moveTo>
                  <a:pt x="1259839" y="31749"/>
                </a:moveTo>
                <a:lnTo>
                  <a:pt x="1209039" y="31749"/>
                </a:lnTo>
                <a:lnTo>
                  <a:pt x="1209039" y="44449"/>
                </a:lnTo>
                <a:lnTo>
                  <a:pt x="1259839" y="44449"/>
                </a:lnTo>
                <a:lnTo>
                  <a:pt x="1272539" y="38099"/>
                </a:lnTo>
                <a:lnTo>
                  <a:pt x="1259839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71335" y="3372739"/>
            <a:ext cx="1831339" cy="628015"/>
          </a:xfrm>
          <a:custGeom>
            <a:avLst/>
            <a:gdLst/>
            <a:ahLst/>
            <a:cxnLst/>
            <a:rect l="l" t="t" r="r" b="b"/>
            <a:pathLst>
              <a:path w="1831340" h="628014">
                <a:moveTo>
                  <a:pt x="1756578" y="597464"/>
                </a:moveTo>
                <a:lnTo>
                  <a:pt x="1746504" y="627634"/>
                </a:lnTo>
                <a:lnTo>
                  <a:pt x="1830832" y="615569"/>
                </a:lnTo>
                <a:lnTo>
                  <a:pt x="1816735" y="601472"/>
                </a:lnTo>
                <a:lnTo>
                  <a:pt x="1768602" y="601472"/>
                </a:lnTo>
                <a:lnTo>
                  <a:pt x="1756578" y="597464"/>
                </a:lnTo>
                <a:close/>
              </a:path>
              <a:path w="1831340" h="628014">
                <a:moveTo>
                  <a:pt x="1760597" y="585427"/>
                </a:moveTo>
                <a:lnTo>
                  <a:pt x="1756578" y="597464"/>
                </a:lnTo>
                <a:lnTo>
                  <a:pt x="1768602" y="601472"/>
                </a:lnTo>
                <a:lnTo>
                  <a:pt x="1772539" y="589407"/>
                </a:lnTo>
                <a:lnTo>
                  <a:pt x="1760597" y="585427"/>
                </a:lnTo>
                <a:close/>
              </a:path>
              <a:path w="1831340" h="628014">
                <a:moveTo>
                  <a:pt x="1770634" y="555371"/>
                </a:moveTo>
                <a:lnTo>
                  <a:pt x="1760597" y="585427"/>
                </a:lnTo>
                <a:lnTo>
                  <a:pt x="1772539" y="589407"/>
                </a:lnTo>
                <a:lnTo>
                  <a:pt x="1768602" y="601472"/>
                </a:lnTo>
                <a:lnTo>
                  <a:pt x="1816735" y="601472"/>
                </a:lnTo>
                <a:lnTo>
                  <a:pt x="1770634" y="555371"/>
                </a:lnTo>
                <a:close/>
              </a:path>
              <a:path w="1831340" h="628014">
                <a:moveTo>
                  <a:pt x="4063" y="0"/>
                </a:moveTo>
                <a:lnTo>
                  <a:pt x="0" y="11937"/>
                </a:lnTo>
                <a:lnTo>
                  <a:pt x="1756578" y="597464"/>
                </a:lnTo>
                <a:lnTo>
                  <a:pt x="1760597" y="585427"/>
                </a:lnTo>
                <a:lnTo>
                  <a:pt x="40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55943" y="4602479"/>
            <a:ext cx="1736725" cy="1369060"/>
          </a:xfrm>
          <a:custGeom>
            <a:avLst/>
            <a:gdLst/>
            <a:ahLst/>
            <a:cxnLst/>
            <a:rect l="l" t="t" r="r" b="b"/>
            <a:pathLst>
              <a:path w="1736725" h="1369060">
                <a:moveTo>
                  <a:pt x="1672921" y="42126"/>
                </a:moveTo>
                <a:lnTo>
                  <a:pt x="0" y="1358988"/>
                </a:lnTo>
                <a:lnTo>
                  <a:pt x="7874" y="1368971"/>
                </a:lnTo>
                <a:lnTo>
                  <a:pt x="1680803" y="52153"/>
                </a:lnTo>
                <a:lnTo>
                  <a:pt x="1672921" y="42126"/>
                </a:lnTo>
                <a:close/>
              </a:path>
              <a:path w="1736725" h="1369060">
                <a:moveTo>
                  <a:pt x="1720568" y="34290"/>
                </a:moveTo>
                <a:lnTo>
                  <a:pt x="1682877" y="34290"/>
                </a:lnTo>
                <a:lnTo>
                  <a:pt x="1690751" y="44323"/>
                </a:lnTo>
                <a:lnTo>
                  <a:pt x="1680803" y="52153"/>
                </a:lnTo>
                <a:lnTo>
                  <a:pt x="1700402" y="77089"/>
                </a:lnTo>
                <a:lnTo>
                  <a:pt x="1720568" y="34290"/>
                </a:lnTo>
                <a:close/>
              </a:path>
              <a:path w="1736725" h="1369060">
                <a:moveTo>
                  <a:pt x="1682877" y="34290"/>
                </a:moveTo>
                <a:lnTo>
                  <a:pt x="1672921" y="42126"/>
                </a:lnTo>
                <a:lnTo>
                  <a:pt x="1680803" y="52153"/>
                </a:lnTo>
                <a:lnTo>
                  <a:pt x="1690751" y="44323"/>
                </a:lnTo>
                <a:lnTo>
                  <a:pt x="1682877" y="34290"/>
                </a:lnTo>
                <a:close/>
              </a:path>
              <a:path w="1736725" h="1369060">
                <a:moveTo>
                  <a:pt x="1736725" y="0"/>
                </a:moveTo>
                <a:lnTo>
                  <a:pt x="1653285" y="17145"/>
                </a:lnTo>
                <a:lnTo>
                  <a:pt x="1672921" y="42126"/>
                </a:lnTo>
                <a:lnTo>
                  <a:pt x="1682877" y="34290"/>
                </a:lnTo>
                <a:lnTo>
                  <a:pt x="1720568" y="34290"/>
                </a:lnTo>
                <a:lnTo>
                  <a:pt x="17367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530467" y="2458872"/>
            <a:ext cx="22796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5640" marR="5080" indent="-663575">
              <a:lnSpc>
                <a:spcPct val="150000"/>
              </a:lnSpc>
              <a:spcBef>
                <a:spcPts val="10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》A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B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》结束  Path:15</a:t>
            </a:r>
            <a:r>
              <a:rPr sz="1600" b="1" spc="-1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5669" y="5809284"/>
            <a:ext cx="22802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5005" marR="5080" indent="-662940">
              <a:lnSpc>
                <a:spcPct val="150000"/>
              </a:lnSpc>
              <a:spcBef>
                <a:spcPts val="100"/>
              </a:spcBef>
            </a:pP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开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始－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》C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spc="5" dirty="0">
                <a:solidFill>
                  <a:srgbClr val="DD8046"/>
                </a:solidFill>
                <a:latin typeface="黑体"/>
                <a:cs typeface="黑体"/>
              </a:rPr>
              <a:t>》</a:t>
            </a:r>
            <a:r>
              <a:rPr sz="1600" b="1" spc="-5" dirty="0">
                <a:solidFill>
                  <a:srgbClr val="DD8046"/>
                </a:solidFill>
                <a:latin typeface="黑体"/>
                <a:cs typeface="黑体"/>
              </a:rPr>
              <a:t>D</a:t>
            </a:r>
            <a:r>
              <a:rPr sz="1600" b="1" spc="10" dirty="0">
                <a:solidFill>
                  <a:srgbClr val="DD8046"/>
                </a:solidFill>
                <a:latin typeface="黑体"/>
                <a:cs typeface="黑体"/>
              </a:rPr>
              <a:t>－</a:t>
            </a:r>
            <a:r>
              <a:rPr sz="1600" b="1" dirty="0">
                <a:solidFill>
                  <a:srgbClr val="DD8046"/>
                </a:solidFill>
                <a:latin typeface="黑体"/>
                <a:cs typeface="黑体"/>
              </a:rPr>
              <a:t>》结束  Path:15</a:t>
            </a:r>
            <a:r>
              <a:rPr sz="1600" b="1" spc="-1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1600">
              <a:latin typeface="黑体"/>
              <a:cs typeface="黑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85797" y="5143880"/>
            <a:ext cx="15779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4" dirty="0">
                <a:latin typeface="Times New Roman"/>
                <a:cs typeface="Times New Roman"/>
              </a:rPr>
              <a:t>N:10</a:t>
            </a:r>
            <a:r>
              <a:rPr sz="3000" b="1" spc="-307" baseline="1388" dirty="0">
                <a:solidFill>
                  <a:srgbClr val="DD8046"/>
                </a:solidFill>
                <a:latin typeface="黑体"/>
                <a:cs typeface="黑体"/>
              </a:rPr>
              <a:t>1</a:t>
            </a:r>
            <a:r>
              <a:rPr sz="2000" spc="-1855" dirty="0">
                <a:latin typeface="宋体"/>
                <a:cs typeface="宋体"/>
              </a:rPr>
              <a:t>周</a:t>
            </a:r>
            <a:r>
              <a:rPr sz="3000" b="1" spc="-7" baseline="1388" dirty="0">
                <a:solidFill>
                  <a:srgbClr val="DD8046"/>
                </a:solidFill>
                <a:latin typeface="黑体"/>
                <a:cs typeface="黑体"/>
              </a:rPr>
              <a:t>0</a:t>
            </a:r>
            <a:r>
              <a:rPr sz="3000" b="1" spc="-1747" baseline="1388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000" spc="-345" dirty="0">
                <a:latin typeface="Times New Roman"/>
                <a:cs typeface="Times New Roman"/>
              </a:rPr>
              <a:t>:4</a:t>
            </a:r>
            <a:r>
              <a:rPr sz="3000" b="1" spc="-517" baseline="1388" dirty="0">
                <a:solidFill>
                  <a:srgbClr val="DD8046"/>
                </a:solidFill>
                <a:latin typeface="黑体"/>
                <a:cs typeface="黑体"/>
              </a:rPr>
              <a:t>-</a:t>
            </a:r>
            <a:r>
              <a:rPr sz="2000" spc="-1375" dirty="0">
                <a:latin typeface="宋体"/>
                <a:cs typeface="宋体"/>
              </a:rPr>
              <a:t>万</a:t>
            </a:r>
            <a:r>
              <a:rPr sz="3000" b="1" spc="-277" baseline="1388" dirty="0">
                <a:solidFill>
                  <a:srgbClr val="DD8046"/>
                </a:solidFill>
                <a:latin typeface="黑体"/>
                <a:cs typeface="黑体"/>
              </a:rPr>
              <a:t>&gt;9</a:t>
            </a:r>
            <a:r>
              <a:rPr sz="2000" spc="-185" dirty="0">
                <a:latin typeface="Times New Roman"/>
                <a:cs typeface="Times New Roman"/>
              </a:rPr>
              <a:t>:</a:t>
            </a:r>
            <a:r>
              <a:rPr sz="3000" b="1" spc="-7" baseline="1388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3000" baseline="1388">
              <a:latin typeface="黑体"/>
              <a:cs typeface="黑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45155" y="5741314"/>
            <a:ext cx="143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4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-&gt;</a:t>
            </a:r>
            <a:r>
              <a:rPr sz="2000" b="1" spc="-55" dirty="0">
                <a:solidFill>
                  <a:srgbClr val="DD8046"/>
                </a:solidFill>
                <a:latin typeface="黑体"/>
                <a:cs typeface="黑体"/>
              </a:rPr>
              <a:t> 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4.5万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65550" y="4095115"/>
            <a:ext cx="20161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7E7E7E"/>
                </a:solidFill>
                <a:latin typeface="宋体"/>
                <a:cs typeface="宋体"/>
              </a:rPr>
              <a:t>总成本</a:t>
            </a:r>
            <a:r>
              <a:rPr sz="2800" b="1" spc="-10" dirty="0">
                <a:solidFill>
                  <a:srgbClr val="7E7E7E"/>
                </a:solidFill>
                <a:latin typeface="Arial Narrow"/>
                <a:cs typeface="Arial Narrow"/>
              </a:rPr>
              <a:t>22.</a:t>
            </a:r>
            <a:r>
              <a:rPr sz="2800" b="1" spc="-15" dirty="0">
                <a:solidFill>
                  <a:srgbClr val="7E7E7E"/>
                </a:solidFill>
                <a:latin typeface="Arial Narrow"/>
                <a:cs typeface="Arial Narrow"/>
              </a:rPr>
              <a:t>3</a:t>
            </a:r>
            <a:r>
              <a:rPr sz="2800" b="1" spc="-15" dirty="0">
                <a:solidFill>
                  <a:srgbClr val="7E7E7E"/>
                </a:solidFill>
                <a:latin typeface="宋体"/>
                <a:cs typeface="宋体"/>
              </a:rPr>
              <a:t>万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544826" y="3175254"/>
            <a:ext cx="10502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7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周-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&gt;6周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2755" y="3768674"/>
            <a:ext cx="14357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5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万-&gt;</a:t>
            </a:r>
            <a:r>
              <a:rPr sz="2000" b="1" spc="-55" dirty="0">
                <a:solidFill>
                  <a:srgbClr val="DD8046"/>
                </a:solidFill>
                <a:latin typeface="黑体"/>
                <a:cs typeface="黑体"/>
              </a:rPr>
              <a:t> 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5.6万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34458" y="4791278"/>
            <a:ext cx="17348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8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-&gt;7</a:t>
            </a:r>
            <a:r>
              <a:rPr sz="2000" b="1" spc="340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-&gt;6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周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31409" y="5249036"/>
            <a:ext cx="23723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3</a:t>
            </a:r>
            <a:r>
              <a:rPr sz="2000" b="1" spc="5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-&gt;</a:t>
            </a:r>
            <a:r>
              <a:rPr sz="2000" b="1" spc="-40" dirty="0">
                <a:solidFill>
                  <a:srgbClr val="DD8046"/>
                </a:solidFill>
                <a:latin typeface="黑体"/>
                <a:cs typeface="黑体"/>
              </a:rPr>
              <a:t> 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3.6</a:t>
            </a:r>
            <a:r>
              <a:rPr sz="2000" b="1" spc="300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r>
              <a:rPr sz="2000" b="1" dirty="0">
                <a:solidFill>
                  <a:srgbClr val="DD8046"/>
                </a:solidFill>
                <a:latin typeface="黑体"/>
                <a:cs typeface="黑体"/>
              </a:rPr>
              <a:t>-&gt;4.2</a:t>
            </a:r>
            <a:r>
              <a:rPr sz="2000" b="1" spc="-5" dirty="0">
                <a:solidFill>
                  <a:srgbClr val="DD8046"/>
                </a:solidFill>
                <a:latin typeface="黑体"/>
                <a:cs typeface="黑体"/>
              </a:rPr>
              <a:t>万</a:t>
            </a:r>
            <a:endParaRPr sz="2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742" y="23266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时间压缩答案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3995" y="1842516"/>
            <a:ext cx="8836116" cy="40529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2742" y="160731"/>
            <a:ext cx="729678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项目存在一个可能的最短进度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7893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72423" y="2162947"/>
            <a:ext cx="6304197" cy="33862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232663"/>
            <a:ext cx="54870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Charles</a:t>
            </a:r>
            <a:r>
              <a:rPr i="1" spc="-75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Symons(1991)</a:t>
            </a:r>
            <a:r>
              <a:rPr dirty="0">
                <a:latin typeface="华文隶书"/>
                <a:cs typeface="华文隶书"/>
              </a:rPr>
              <a:t>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80594" y="1629917"/>
            <a:ext cx="8712835" cy="4114800"/>
          </a:xfrm>
          <a:custGeom>
            <a:avLst/>
            <a:gdLst/>
            <a:ahLst/>
            <a:cxnLst/>
            <a:rect l="l" t="t" r="r" b="b"/>
            <a:pathLst>
              <a:path w="8712835" h="4114800">
                <a:moveTo>
                  <a:pt x="0" y="4114800"/>
                </a:moveTo>
                <a:lnTo>
                  <a:pt x="8712708" y="4114800"/>
                </a:lnTo>
                <a:lnTo>
                  <a:pt x="871270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58267" y="1544903"/>
            <a:ext cx="8288655" cy="40640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900" dirty="0">
                <a:latin typeface="华文隶书"/>
                <a:cs typeface="华文隶书"/>
              </a:rPr>
              <a:t>进度压缩因</a:t>
            </a:r>
            <a:r>
              <a:rPr sz="2900" spc="5" dirty="0">
                <a:latin typeface="华文隶书"/>
                <a:cs typeface="华文隶书"/>
              </a:rPr>
              <a:t>子</a:t>
            </a:r>
            <a:r>
              <a:rPr sz="2900" i="1" dirty="0">
                <a:latin typeface="华文隶书"/>
                <a:cs typeface="华文隶书"/>
              </a:rPr>
              <a:t>=</a:t>
            </a:r>
            <a:r>
              <a:rPr sz="2900" dirty="0">
                <a:latin typeface="华文隶书"/>
                <a:cs typeface="华文隶书"/>
              </a:rPr>
              <a:t>压缩进度</a:t>
            </a:r>
            <a:r>
              <a:rPr sz="2900" i="1" spc="-5" dirty="0">
                <a:latin typeface="华文隶书"/>
                <a:cs typeface="华文隶书"/>
              </a:rPr>
              <a:t>/</a:t>
            </a:r>
            <a:r>
              <a:rPr sz="2900" spc="5" dirty="0">
                <a:latin typeface="华文隶书"/>
                <a:cs typeface="华文隶书"/>
              </a:rPr>
              <a:t>正</a:t>
            </a:r>
            <a:r>
              <a:rPr sz="2900" spc="-15" dirty="0">
                <a:latin typeface="华文隶书"/>
                <a:cs typeface="华文隶书"/>
              </a:rPr>
              <a:t>常</a:t>
            </a:r>
            <a:r>
              <a:rPr sz="2900" spc="5" dirty="0">
                <a:latin typeface="华文隶书"/>
                <a:cs typeface="华文隶书"/>
              </a:rPr>
              <a:t>进度</a:t>
            </a:r>
            <a:endParaRPr sz="2900">
              <a:latin typeface="华文隶书"/>
              <a:cs typeface="华文隶书"/>
            </a:endParaRPr>
          </a:p>
          <a:p>
            <a:pPr marL="12700" marR="946785">
              <a:lnSpc>
                <a:spcPts val="3840"/>
              </a:lnSpc>
              <a:spcBef>
                <a:spcPts val="180"/>
              </a:spcBef>
            </a:pPr>
            <a:r>
              <a:rPr sz="2900" dirty="0">
                <a:latin typeface="华文隶书"/>
                <a:cs typeface="华文隶书"/>
              </a:rPr>
              <a:t>压缩进度的工作量</a:t>
            </a:r>
            <a:r>
              <a:rPr sz="2900" i="1" dirty="0">
                <a:latin typeface="华文隶书"/>
                <a:cs typeface="华文隶书"/>
              </a:rPr>
              <a:t>=</a:t>
            </a:r>
            <a:r>
              <a:rPr sz="2900" dirty="0">
                <a:latin typeface="华文隶书"/>
                <a:cs typeface="华文隶书"/>
              </a:rPr>
              <a:t>正常工作</a:t>
            </a:r>
            <a:r>
              <a:rPr sz="2900" spc="-10" dirty="0">
                <a:latin typeface="华文隶书"/>
                <a:cs typeface="华文隶书"/>
              </a:rPr>
              <a:t>量</a:t>
            </a:r>
            <a:r>
              <a:rPr sz="2900" i="1" spc="-5" dirty="0">
                <a:latin typeface="华文隶书"/>
                <a:cs typeface="华文隶书"/>
              </a:rPr>
              <a:t>/</a:t>
            </a:r>
            <a:r>
              <a:rPr sz="2900" dirty="0">
                <a:latin typeface="华文隶书"/>
                <a:cs typeface="华文隶书"/>
              </a:rPr>
              <a:t>进</a:t>
            </a:r>
            <a:r>
              <a:rPr sz="2900" spc="-15" dirty="0">
                <a:latin typeface="华文隶书"/>
                <a:cs typeface="华文隶书"/>
              </a:rPr>
              <a:t>度</a:t>
            </a:r>
            <a:r>
              <a:rPr sz="2900" dirty="0">
                <a:latin typeface="华文隶书"/>
                <a:cs typeface="华文隶书"/>
              </a:rPr>
              <a:t>压缩</a:t>
            </a:r>
            <a:r>
              <a:rPr sz="2900" spc="-15" dirty="0">
                <a:latin typeface="华文隶书"/>
                <a:cs typeface="华文隶书"/>
              </a:rPr>
              <a:t>因</a:t>
            </a:r>
            <a:r>
              <a:rPr sz="2900" dirty="0">
                <a:latin typeface="华文隶书"/>
                <a:cs typeface="华文隶书"/>
              </a:rPr>
              <a:t>子 例如：</a:t>
            </a:r>
            <a:endParaRPr sz="2900">
              <a:latin typeface="华文隶书"/>
              <a:cs typeface="华文隶书"/>
            </a:endParaRPr>
          </a:p>
          <a:p>
            <a:pPr marL="455930" indent="-443865">
              <a:lnSpc>
                <a:spcPct val="100000"/>
              </a:lnSpc>
              <a:spcBef>
                <a:spcPts val="265"/>
              </a:spcBef>
              <a:buClr>
                <a:srgbClr val="DD8046"/>
              </a:buClr>
              <a:buSzPct val="50000"/>
              <a:buFont typeface="Wingdings"/>
              <a:buChar char=""/>
              <a:tabLst>
                <a:tab pos="455930" algn="l"/>
                <a:tab pos="456565" algn="l"/>
              </a:tabLst>
            </a:pPr>
            <a:r>
              <a:rPr sz="2400" dirty="0">
                <a:latin typeface="华文隶书"/>
                <a:cs typeface="华文隶书"/>
              </a:rPr>
              <a:t>初始进度估算是</a:t>
            </a:r>
            <a:r>
              <a:rPr sz="2400" i="1" dirty="0">
                <a:latin typeface="华文隶书"/>
                <a:cs typeface="华文隶书"/>
              </a:rPr>
              <a:t>12</a:t>
            </a:r>
            <a:r>
              <a:rPr sz="2400" dirty="0">
                <a:latin typeface="华文隶书"/>
                <a:cs typeface="华文隶书"/>
              </a:rPr>
              <a:t>月，初始工作量估算</a:t>
            </a:r>
            <a:r>
              <a:rPr sz="2400" spc="-20" dirty="0">
                <a:latin typeface="华文隶书"/>
                <a:cs typeface="华文隶书"/>
              </a:rPr>
              <a:t>是</a:t>
            </a:r>
            <a:r>
              <a:rPr sz="2400" i="1" dirty="0">
                <a:latin typeface="华文隶书"/>
                <a:cs typeface="华文隶书"/>
              </a:rPr>
              <a:t>78</a:t>
            </a:r>
            <a:r>
              <a:rPr sz="2400" dirty="0">
                <a:latin typeface="华文隶书"/>
                <a:cs typeface="华文隶书"/>
              </a:rPr>
              <a:t>人月，</a:t>
            </a:r>
            <a:endParaRPr sz="2400">
              <a:latin typeface="华文隶书"/>
              <a:cs typeface="华文隶书"/>
            </a:endParaRPr>
          </a:p>
          <a:p>
            <a:pPr marL="481965" indent="-469900">
              <a:lnSpc>
                <a:spcPct val="100000"/>
              </a:lnSpc>
              <a:spcBef>
                <a:spcPts val="409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81965" algn="l"/>
                <a:tab pos="482600" algn="l"/>
              </a:tabLst>
            </a:pPr>
            <a:r>
              <a:rPr sz="2400" dirty="0">
                <a:latin typeface="华文隶书"/>
                <a:cs typeface="华文隶书"/>
              </a:rPr>
              <a:t>如果进度压缩到</a:t>
            </a:r>
            <a:r>
              <a:rPr sz="2400" i="1" dirty="0">
                <a:latin typeface="华文隶书"/>
                <a:cs typeface="华文隶书"/>
              </a:rPr>
              <a:t>10</a:t>
            </a:r>
            <a:r>
              <a:rPr sz="2400" dirty="0">
                <a:latin typeface="华文隶书"/>
                <a:cs typeface="华文隶书"/>
              </a:rPr>
              <a:t>月，进度压缩因</a:t>
            </a:r>
            <a:r>
              <a:rPr sz="2400" spc="-15" dirty="0">
                <a:latin typeface="华文隶书"/>
                <a:cs typeface="华文隶书"/>
              </a:rPr>
              <a:t>子</a:t>
            </a:r>
            <a:r>
              <a:rPr sz="2400" i="1" dirty="0">
                <a:latin typeface="华文隶书"/>
                <a:cs typeface="华文隶书"/>
              </a:rPr>
              <a:t>=</a:t>
            </a:r>
            <a:r>
              <a:rPr sz="2400" i="1" spc="-15" dirty="0">
                <a:latin typeface="华文隶书"/>
                <a:cs typeface="华文隶书"/>
              </a:rPr>
              <a:t> </a:t>
            </a:r>
            <a:r>
              <a:rPr sz="2400" i="1" spc="-5" dirty="0">
                <a:latin typeface="华文隶书"/>
                <a:cs typeface="华文隶书"/>
              </a:rPr>
              <a:t>10/12=0.83</a:t>
            </a:r>
            <a:r>
              <a:rPr sz="2400" spc="-5" dirty="0">
                <a:latin typeface="华文隶书"/>
                <a:cs typeface="华文隶书"/>
              </a:rPr>
              <a:t>，</a:t>
            </a:r>
            <a:endParaRPr sz="2400">
              <a:latin typeface="华文隶书"/>
              <a:cs typeface="华文隶书"/>
            </a:endParaRPr>
          </a:p>
          <a:p>
            <a:pPr marL="481965" indent="-469900">
              <a:lnSpc>
                <a:spcPct val="100000"/>
              </a:lnSpc>
              <a:spcBef>
                <a:spcPts val="405"/>
              </a:spcBef>
              <a:buClr>
                <a:srgbClr val="DD8046"/>
              </a:buClr>
              <a:buSzPct val="60416"/>
              <a:buFont typeface="Wingdings"/>
              <a:buChar char=""/>
              <a:tabLst>
                <a:tab pos="481965" algn="l"/>
                <a:tab pos="482600" algn="l"/>
              </a:tabLst>
            </a:pPr>
            <a:r>
              <a:rPr sz="2400" dirty="0">
                <a:latin typeface="华文隶书"/>
                <a:cs typeface="华文隶书"/>
              </a:rPr>
              <a:t>则进度压缩后的工作量是：</a:t>
            </a:r>
            <a:r>
              <a:rPr sz="2400" i="1" dirty="0">
                <a:latin typeface="华文隶书"/>
                <a:cs typeface="华文隶书"/>
              </a:rPr>
              <a:t>78/</a:t>
            </a:r>
            <a:r>
              <a:rPr sz="2400" i="1" spc="-15" dirty="0">
                <a:latin typeface="华文隶书"/>
                <a:cs typeface="华文隶书"/>
              </a:rPr>
              <a:t> </a:t>
            </a:r>
            <a:r>
              <a:rPr sz="2400" i="1" dirty="0">
                <a:latin typeface="华文隶书"/>
                <a:cs typeface="华文隶书"/>
              </a:rPr>
              <a:t>0.83=94</a:t>
            </a:r>
            <a:r>
              <a:rPr sz="2400" dirty="0">
                <a:latin typeface="华文隶书"/>
                <a:cs typeface="华文隶书"/>
              </a:rPr>
              <a:t>人月</a:t>
            </a:r>
            <a:endParaRPr sz="2400">
              <a:latin typeface="华文隶书"/>
              <a:cs typeface="华文隶书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华文隶书"/>
                <a:cs typeface="华文隶书"/>
              </a:rPr>
              <a:t>总结：</a:t>
            </a:r>
            <a:r>
              <a:rPr sz="2400" b="1" spc="-5" dirty="0">
                <a:latin typeface="华文隶书"/>
                <a:cs typeface="华文隶书"/>
              </a:rPr>
              <a:t>进度缩</a:t>
            </a:r>
            <a:r>
              <a:rPr sz="2400" b="1" dirty="0">
                <a:latin typeface="华文隶书"/>
                <a:cs typeface="华文隶书"/>
              </a:rPr>
              <a:t>短17%，</a:t>
            </a:r>
            <a:r>
              <a:rPr sz="2400" b="1" spc="-5" dirty="0">
                <a:latin typeface="华文隶书"/>
                <a:cs typeface="华文隶书"/>
              </a:rPr>
              <a:t>增加21%的工作量</a:t>
            </a:r>
            <a:endParaRPr sz="2400">
              <a:latin typeface="华文隶书"/>
              <a:cs typeface="华文隶书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900" dirty="0">
                <a:latin typeface="华文隶书"/>
                <a:cs typeface="华文隶书"/>
              </a:rPr>
              <a:t>研究表明：进度压缩因</a:t>
            </a:r>
            <a:r>
              <a:rPr sz="2900" spc="-5" dirty="0">
                <a:latin typeface="华文隶书"/>
                <a:cs typeface="华文隶书"/>
              </a:rPr>
              <a:t>子</a:t>
            </a:r>
            <a:r>
              <a:rPr sz="2900" dirty="0">
                <a:latin typeface="华文隶书"/>
                <a:cs typeface="华文隶书"/>
              </a:rPr>
              <a:t>〉</a:t>
            </a:r>
            <a:r>
              <a:rPr sz="2900" i="1" spc="-5" dirty="0">
                <a:latin typeface="华文隶书"/>
                <a:cs typeface="华文隶书"/>
              </a:rPr>
              <a:t>0.75</a:t>
            </a:r>
            <a:r>
              <a:rPr sz="2900" spc="-5" dirty="0">
                <a:latin typeface="华文隶书"/>
                <a:cs typeface="华文隶书"/>
              </a:rPr>
              <a:t>，</a:t>
            </a:r>
            <a:r>
              <a:rPr sz="2900" spc="5" dirty="0">
                <a:latin typeface="华文隶书"/>
                <a:cs typeface="华文隶书"/>
              </a:rPr>
              <a:t>最多</a:t>
            </a:r>
            <a:r>
              <a:rPr sz="2900" spc="-5" dirty="0">
                <a:latin typeface="华文隶书"/>
                <a:cs typeface="华文隶书"/>
              </a:rPr>
              <a:t>可</a:t>
            </a:r>
            <a:r>
              <a:rPr sz="2900" spc="-10" dirty="0">
                <a:latin typeface="华文隶书"/>
                <a:cs typeface="华文隶书"/>
              </a:rPr>
              <a:t>以</a:t>
            </a:r>
            <a:r>
              <a:rPr sz="2900" spc="5" dirty="0">
                <a:latin typeface="华文隶书"/>
                <a:cs typeface="华文隶书"/>
              </a:rPr>
              <a:t>压</a:t>
            </a:r>
            <a:r>
              <a:rPr sz="2900" dirty="0">
                <a:latin typeface="华文隶书"/>
                <a:cs typeface="华文隶书"/>
              </a:rPr>
              <a:t>缩</a:t>
            </a:r>
            <a:r>
              <a:rPr sz="2900" i="1" spc="-5" dirty="0">
                <a:latin typeface="华文隶书"/>
                <a:cs typeface="华文隶书"/>
              </a:rPr>
              <a:t>25</a:t>
            </a:r>
            <a:r>
              <a:rPr sz="2900" spc="-5" dirty="0">
                <a:latin typeface="华文隶书"/>
                <a:cs typeface="华文隶书"/>
              </a:rPr>
              <a:t>％</a:t>
            </a:r>
            <a:endParaRPr sz="2900">
              <a:latin typeface="华文隶书"/>
              <a:cs typeface="华文隶书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52171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平行作业</a:t>
            </a:r>
            <a:r>
              <a:rPr spc="5" dirty="0">
                <a:latin typeface="华文隶书"/>
                <a:cs typeface="华文隶书"/>
              </a:rPr>
              <a:t>法</a:t>
            </a:r>
            <a:r>
              <a:rPr i="1" dirty="0">
                <a:latin typeface="华文隶书"/>
                <a:cs typeface="华文隶书"/>
              </a:rPr>
              <a:t>-</a:t>
            </a:r>
            <a:r>
              <a:rPr dirty="0">
                <a:latin typeface="华文隶书"/>
                <a:cs typeface="华文隶书"/>
              </a:rPr>
              <a:t>快速跟进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17594" y="61530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477" y="2350770"/>
            <a:ext cx="8635365" cy="122428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 marL="90805" marR="609600">
              <a:lnSpc>
                <a:spcPts val="4540"/>
              </a:lnSpc>
              <a:spcBef>
                <a:spcPts val="25"/>
              </a:spcBef>
            </a:pPr>
            <a:r>
              <a:rPr sz="3200" dirty="0">
                <a:latin typeface="隶书"/>
                <a:cs typeface="隶书"/>
              </a:rPr>
              <a:t>改变</a:t>
            </a:r>
            <a:r>
              <a:rPr sz="3200" spc="-15" dirty="0">
                <a:latin typeface="隶书"/>
                <a:cs typeface="隶书"/>
              </a:rPr>
              <a:t>活</a:t>
            </a:r>
            <a:r>
              <a:rPr sz="3200" dirty="0">
                <a:latin typeface="隶书"/>
                <a:cs typeface="隶书"/>
              </a:rPr>
              <a:t>动间</a:t>
            </a:r>
            <a:r>
              <a:rPr sz="3200" spc="-15" dirty="0">
                <a:latin typeface="隶书"/>
                <a:cs typeface="隶书"/>
              </a:rPr>
              <a:t>的</a:t>
            </a:r>
            <a:r>
              <a:rPr sz="3200" dirty="0">
                <a:latin typeface="隶书"/>
                <a:cs typeface="隶书"/>
              </a:rPr>
              <a:t>逻辑</a:t>
            </a:r>
            <a:r>
              <a:rPr sz="3200" spc="-15" dirty="0">
                <a:latin typeface="隶书"/>
                <a:cs typeface="隶书"/>
              </a:rPr>
              <a:t>关</a:t>
            </a:r>
            <a:r>
              <a:rPr sz="3200" dirty="0">
                <a:latin typeface="隶书"/>
                <a:cs typeface="隶书"/>
              </a:rPr>
              <a:t>系，</a:t>
            </a:r>
            <a:r>
              <a:rPr sz="3200" spc="-15" dirty="0">
                <a:latin typeface="隶书"/>
                <a:cs typeface="隶书"/>
              </a:rPr>
              <a:t>并</a:t>
            </a:r>
            <a:r>
              <a:rPr sz="3200" dirty="0">
                <a:latin typeface="隶书"/>
                <a:cs typeface="隶书"/>
              </a:rPr>
              <a:t>行开</a:t>
            </a:r>
            <a:r>
              <a:rPr sz="3200" spc="-15" dirty="0">
                <a:latin typeface="隶书"/>
                <a:cs typeface="隶书"/>
              </a:rPr>
              <a:t>展</a:t>
            </a:r>
            <a:r>
              <a:rPr sz="3200" dirty="0">
                <a:latin typeface="隶书"/>
                <a:cs typeface="隶书"/>
              </a:rPr>
              <a:t>某些</a:t>
            </a:r>
            <a:r>
              <a:rPr sz="3200" spc="-15" dirty="0">
                <a:latin typeface="隶书"/>
                <a:cs typeface="隶书"/>
              </a:rPr>
              <a:t>活</a:t>
            </a:r>
            <a:r>
              <a:rPr sz="3200" spc="15" dirty="0">
                <a:latin typeface="隶书"/>
                <a:cs typeface="隶书"/>
              </a:rPr>
              <a:t>动</a:t>
            </a:r>
            <a:r>
              <a:rPr sz="3200" dirty="0">
                <a:latin typeface="隶书"/>
                <a:cs typeface="隶书"/>
              </a:rPr>
              <a:t>. 提前</a:t>
            </a:r>
            <a:r>
              <a:rPr sz="3200" spc="-15" dirty="0">
                <a:latin typeface="隶书"/>
                <a:cs typeface="隶书"/>
              </a:rPr>
              <a:t>量</a:t>
            </a:r>
            <a:r>
              <a:rPr sz="3200" dirty="0">
                <a:latin typeface="隶书"/>
                <a:cs typeface="隶书"/>
              </a:rPr>
              <a:t>方法</a:t>
            </a:r>
            <a:endParaRPr sz="32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1342" y="281177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平行作业法例子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21486" y="1629917"/>
            <a:ext cx="0" cy="3659504"/>
          </a:xfrm>
          <a:custGeom>
            <a:avLst/>
            <a:gdLst/>
            <a:ahLst/>
            <a:cxnLst/>
            <a:rect l="l" t="t" r="r" b="b"/>
            <a:pathLst>
              <a:path h="3659504">
                <a:moveTo>
                  <a:pt x="0" y="0"/>
                </a:moveTo>
                <a:lnTo>
                  <a:pt x="0" y="365912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21486" y="5289041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>
                <a:moveTo>
                  <a:pt x="0" y="0"/>
                </a:moveTo>
                <a:lnTo>
                  <a:pt x="73914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297686" y="1934717"/>
            <a:ext cx="57912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3200" dirty="0">
                <a:latin typeface="宋体"/>
                <a:cs typeface="宋体"/>
              </a:rPr>
              <a:t>项目管理</a:t>
            </a:r>
            <a:r>
              <a:rPr sz="3200" spc="-5" dirty="0">
                <a:latin typeface="Arial Narrow"/>
                <a:cs typeface="Arial Narrow"/>
              </a:rPr>
              <a:t>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3886" y="3077717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35"/>
              </a:spcBef>
            </a:pPr>
            <a:r>
              <a:rPr sz="3200" dirty="0">
                <a:latin typeface="宋体"/>
                <a:cs typeface="宋体"/>
              </a:rPr>
              <a:t>需求</a:t>
            </a:r>
            <a:r>
              <a:rPr sz="3200" spc="-5" dirty="0">
                <a:latin typeface="Arial Narrow"/>
                <a:cs typeface="Arial Narrow"/>
              </a:rPr>
              <a:t>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50285" y="3091433"/>
            <a:ext cx="1066800" cy="533400"/>
          </a:xfrm>
          <a:custGeom>
            <a:avLst/>
            <a:gdLst/>
            <a:ahLst/>
            <a:cxnLst/>
            <a:rect l="l" t="t" r="r" b="b"/>
            <a:pathLst>
              <a:path w="1066800" h="533400">
                <a:moveTo>
                  <a:pt x="0" y="533400"/>
                </a:moveTo>
                <a:lnTo>
                  <a:pt x="1066800" y="533400"/>
                </a:lnTo>
                <a:lnTo>
                  <a:pt x="10668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024377" y="3095320"/>
            <a:ext cx="1118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设计</a:t>
            </a:r>
            <a:r>
              <a:rPr sz="3200" dirty="0">
                <a:latin typeface="Arial Narrow"/>
                <a:cs typeface="Arial Narrow"/>
              </a:rPr>
              <a:t>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80756" y="5405120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宋体"/>
                <a:cs typeface="宋体"/>
              </a:rPr>
              <a:t>时间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0895" y="2502738"/>
            <a:ext cx="330835" cy="696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sz="2400" dirty="0">
                <a:latin typeface="宋体"/>
                <a:cs typeface="宋体"/>
              </a:rPr>
              <a:t>任 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40685" y="4083558"/>
            <a:ext cx="1143000" cy="533400"/>
          </a:xfrm>
          <a:custGeom>
            <a:avLst/>
            <a:gdLst/>
            <a:ahLst/>
            <a:cxnLst/>
            <a:rect l="l" t="t" r="r" b="b"/>
            <a:pathLst>
              <a:path w="1143000" h="533400">
                <a:moveTo>
                  <a:pt x="0" y="533400"/>
                </a:moveTo>
                <a:lnTo>
                  <a:pt x="1143000" y="533400"/>
                </a:lnTo>
                <a:lnTo>
                  <a:pt x="11430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25908">
            <a:solidFill>
              <a:srgbClr val="80808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52877" y="4087444"/>
            <a:ext cx="1118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设计</a:t>
            </a:r>
            <a:r>
              <a:rPr sz="3200" dirty="0">
                <a:latin typeface="Arial Narrow"/>
                <a:cs typeface="Arial Narrow"/>
              </a:rPr>
              <a:t>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355085" y="3823715"/>
            <a:ext cx="581025" cy="323850"/>
          </a:xfrm>
          <a:custGeom>
            <a:avLst/>
            <a:gdLst/>
            <a:ahLst/>
            <a:cxnLst/>
            <a:rect l="l" t="t" r="r" b="b"/>
            <a:pathLst>
              <a:path w="581025" h="323850">
                <a:moveTo>
                  <a:pt x="193548" y="80136"/>
                </a:moveTo>
                <a:lnTo>
                  <a:pt x="0" y="214248"/>
                </a:lnTo>
                <a:lnTo>
                  <a:pt x="193548" y="323849"/>
                </a:lnTo>
                <a:lnTo>
                  <a:pt x="193548" y="262889"/>
                </a:lnTo>
                <a:lnTo>
                  <a:pt x="263598" y="251828"/>
                </a:lnTo>
                <a:lnTo>
                  <a:pt x="327749" y="237825"/>
                </a:lnTo>
                <a:lnTo>
                  <a:pt x="385601" y="221170"/>
                </a:lnTo>
                <a:lnTo>
                  <a:pt x="436752" y="202155"/>
                </a:lnTo>
                <a:lnTo>
                  <a:pt x="480802" y="181072"/>
                </a:lnTo>
                <a:lnTo>
                  <a:pt x="517350" y="158210"/>
                </a:lnTo>
                <a:lnTo>
                  <a:pt x="537632" y="140969"/>
                </a:lnTo>
                <a:lnTo>
                  <a:pt x="193548" y="140969"/>
                </a:lnTo>
                <a:lnTo>
                  <a:pt x="193548" y="80136"/>
                </a:lnTo>
                <a:close/>
              </a:path>
              <a:path w="581025" h="323850">
                <a:moveTo>
                  <a:pt x="556640" y="0"/>
                </a:moveTo>
                <a:lnTo>
                  <a:pt x="502265" y="46583"/>
                </a:lnTo>
                <a:lnTo>
                  <a:pt x="464750" y="67519"/>
                </a:lnTo>
                <a:lnTo>
                  <a:pt x="421005" y="86629"/>
                </a:lnTo>
                <a:lnTo>
                  <a:pt x="371521" y="103722"/>
                </a:lnTo>
                <a:lnTo>
                  <a:pt x="316789" y="118604"/>
                </a:lnTo>
                <a:lnTo>
                  <a:pt x="257301" y="131084"/>
                </a:lnTo>
                <a:lnTo>
                  <a:pt x="193548" y="140969"/>
                </a:lnTo>
                <a:lnTo>
                  <a:pt x="537632" y="140969"/>
                </a:lnTo>
                <a:lnTo>
                  <a:pt x="545994" y="133861"/>
                </a:lnTo>
                <a:lnTo>
                  <a:pt x="566335" y="108316"/>
                </a:lnTo>
                <a:lnTo>
                  <a:pt x="577971" y="81867"/>
                </a:lnTo>
                <a:lnTo>
                  <a:pt x="580501" y="54804"/>
                </a:lnTo>
                <a:lnTo>
                  <a:pt x="573524" y="27417"/>
                </a:lnTo>
                <a:lnTo>
                  <a:pt x="556640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355085" y="3548634"/>
            <a:ext cx="581025" cy="336550"/>
          </a:xfrm>
          <a:custGeom>
            <a:avLst/>
            <a:gdLst/>
            <a:ahLst/>
            <a:cxnLst/>
            <a:rect l="l" t="t" r="r" b="b"/>
            <a:pathLst>
              <a:path w="581025" h="336550">
                <a:moveTo>
                  <a:pt x="0" y="0"/>
                </a:moveTo>
                <a:lnTo>
                  <a:pt x="0" y="121792"/>
                </a:lnTo>
                <a:lnTo>
                  <a:pt x="67714" y="123233"/>
                </a:lnTo>
                <a:lnTo>
                  <a:pt x="133134" y="127449"/>
                </a:lnTo>
                <a:lnTo>
                  <a:pt x="195824" y="134279"/>
                </a:lnTo>
                <a:lnTo>
                  <a:pt x="255349" y="143562"/>
                </a:lnTo>
                <a:lnTo>
                  <a:pt x="311273" y="155139"/>
                </a:lnTo>
                <a:lnTo>
                  <a:pt x="363160" y="168849"/>
                </a:lnTo>
                <a:lnTo>
                  <a:pt x="410575" y="184531"/>
                </a:lnTo>
                <a:lnTo>
                  <a:pt x="453081" y="202024"/>
                </a:lnTo>
                <a:lnTo>
                  <a:pt x="490243" y="221169"/>
                </a:lnTo>
                <a:lnTo>
                  <a:pt x="546792" y="263769"/>
                </a:lnTo>
                <a:lnTo>
                  <a:pt x="576737" y="311049"/>
                </a:lnTo>
                <a:lnTo>
                  <a:pt x="580643" y="336041"/>
                </a:lnTo>
                <a:lnTo>
                  <a:pt x="580643" y="214121"/>
                </a:lnTo>
                <a:lnTo>
                  <a:pt x="565308" y="165031"/>
                </a:lnTo>
                <a:lnTo>
                  <a:pt x="521625" y="119965"/>
                </a:lnTo>
                <a:lnTo>
                  <a:pt x="453081" y="80207"/>
                </a:lnTo>
                <a:lnTo>
                  <a:pt x="410575" y="62722"/>
                </a:lnTo>
                <a:lnTo>
                  <a:pt x="363160" y="47046"/>
                </a:lnTo>
                <a:lnTo>
                  <a:pt x="311273" y="33340"/>
                </a:lnTo>
                <a:lnTo>
                  <a:pt x="255349" y="21766"/>
                </a:lnTo>
                <a:lnTo>
                  <a:pt x="195824" y="12485"/>
                </a:lnTo>
                <a:lnTo>
                  <a:pt x="133134" y="5656"/>
                </a:lnTo>
                <a:lnTo>
                  <a:pt x="67714" y="1440"/>
                </a:lnTo>
                <a:lnTo>
                  <a:pt x="0" y="0"/>
                </a:lnTo>
                <a:close/>
              </a:path>
            </a:pathLst>
          </a:custGeom>
          <a:solidFill>
            <a:srgbClr val="7792A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355085" y="3548634"/>
            <a:ext cx="581025" cy="599440"/>
          </a:xfrm>
          <a:custGeom>
            <a:avLst/>
            <a:gdLst/>
            <a:ahLst/>
            <a:cxnLst/>
            <a:rect l="l" t="t" r="r" b="b"/>
            <a:pathLst>
              <a:path w="581025" h="599439">
                <a:moveTo>
                  <a:pt x="580643" y="336041"/>
                </a:moveTo>
                <a:lnTo>
                  <a:pt x="565308" y="286904"/>
                </a:lnTo>
                <a:lnTo>
                  <a:pt x="521625" y="241804"/>
                </a:lnTo>
                <a:lnTo>
                  <a:pt x="453081" y="202024"/>
                </a:lnTo>
                <a:lnTo>
                  <a:pt x="410575" y="184531"/>
                </a:lnTo>
                <a:lnTo>
                  <a:pt x="363160" y="168849"/>
                </a:lnTo>
                <a:lnTo>
                  <a:pt x="311273" y="155139"/>
                </a:lnTo>
                <a:lnTo>
                  <a:pt x="255349" y="143562"/>
                </a:lnTo>
                <a:lnTo>
                  <a:pt x="195824" y="134279"/>
                </a:lnTo>
                <a:lnTo>
                  <a:pt x="133134" y="127449"/>
                </a:lnTo>
                <a:lnTo>
                  <a:pt x="67714" y="123233"/>
                </a:lnTo>
                <a:lnTo>
                  <a:pt x="0" y="121792"/>
                </a:lnTo>
                <a:lnTo>
                  <a:pt x="0" y="0"/>
                </a:lnTo>
                <a:lnTo>
                  <a:pt x="67714" y="1440"/>
                </a:lnTo>
                <a:lnTo>
                  <a:pt x="133134" y="5656"/>
                </a:lnTo>
                <a:lnTo>
                  <a:pt x="195824" y="12485"/>
                </a:lnTo>
                <a:lnTo>
                  <a:pt x="255349" y="21766"/>
                </a:lnTo>
                <a:lnTo>
                  <a:pt x="311273" y="33340"/>
                </a:lnTo>
                <a:lnTo>
                  <a:pt x="363160" y="47046"/>
                </a:lnTo>
                <a:lnTo>
                  <a:pt x="410575" y="62722"/>
                </a:lnTo>
                <a:lnTo>
                  <a:pt x="453081" y="80207"/>
                </a:lnTo>
                <a:lnTo>
                  <a:pt x="490243" y="99342"/>
                </a:lnTo>
                <a:lnTo>
                  <a:pt x="546792" y="141915"/>
                </a:lnTo>
                <a:lnTo>
                  <a:pt x="576737" y="189154"/>
                </a:lnTo>
                <a:lnTo>
                  <a:pt x="580643" y="214121"/>
                </a:lnTo>
                <a:lnTo>
                  <a:pt x="580643" y="336041"/>
                </a:lnTo>
                <a:lnTo>
                  <a:pt x="562660" y="389010"/>
                </a:lnTo>
                <a:lnTo>
                  <a:pt x="511210" y="437644"/>
                </a:lnTo>
                <a:lnTo>
                  <a:pt x="474106" y="459724"/>
                </a:lnTo>
                <a:lnTo>
                  <a:pt x="430042" y="479986"/>
                </a:lnTo>
                <a:lnTo>
                  <a:pt x="379485" y="498187"/>
                </a:lnTo>
                <a:lnTo>
                  <a:pt x="322905" y="514081"/>
                </a:lnTo>
                <a:lnTo>
                  <a:pt x="260769" y="527424"/>
                </a:lnTo>
                <a:lnTo>
                  <a:pt x="193548" y="537971"/>
                </a:lnTo>
                <a:lnTo>
                  <a:pt x="193548" y="598932"/>
                </a:lnTo>
                <a:lnTo>
                  <a:pt x="0" y="489330"/>
                </a:lnTo>
                <a:lnTo>
                  <a:pt x="193548" y="355218"/>
                </a:lnTo>
                <a:lnTo>
                  <a:pt x="193548" y="416051"/>
                </a:lnTo>
                <a:lnTo>
                  <a:pt x="257301" y="406166"/>
                </a:lnTo>
                <a:lnTo>
                  <a:pt x="316789" y="393686"/>
                </a:lnTo>
                <a:lnTo>
                  <a:pt x="371521" y="378804"/>
                </a:lnTo>
                <a:lnTo>
                  <a:pt x="421005" y="361711"/>
                </a:lnTo>
                <a:lnTo>
                  <a:pt x="464750" y="342601"/>
                </a:lnTo>
                <a:lnTo>
                  <a:pt x="502265" y="321665"/>
                </a:lnTo>
                <a:lnTo>
                  <a:pt x="533059" y="299094"/>
                </a:lnTo>
                <a:lnTo>
                  <a:pt x="556640" y="27508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30505"/>
            <a:ext cx="46704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latin typeface="华文隶书"/>
                <a:cs typeface="华文隶书"/>
              </a:rPr>
              <a:t>任务超</a:t>
            </a:r>
            <a:r>
              <a:rPr dirty="0">
                <a:latin typeface="华文隶书"/>
                <a:cs typeface="华文隶书"/>
              </a:rPr>
              <a:t>前</a:t>
            </a:r>
            <a:r>
              <a:rPr i="1" spc="-5" dirty="0">
                <a:latin typeface="华文隶书"/>
                <a:cs typeface="华文隶书"/>
              </a:rPr>
              <a:t>(Lead)</a:t>
            </a:r>
            <a:r>
              <a:rPr spc="5" dirty="0">
                <a:latin typeface="华文隶书"/>
                <a:cs typeface="华文隶书"/>
              </a:rPr>
              <a:t>应用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762" y="1413510"/>
            <a:ext cx="0" cy="3657600"/>
          </a:xfrm>
          <a:custGeom>
            <a:avLst/>
            <a:gdLst/>
            <a:ahLst/>
            <a:cxnLst/>
            <a:rect l="l" t="t" r="r" b="b"/>
            <a:pathLst>
              <a:path h="3657600">
                <a:moveTo>
                  <a:pt x="0" y="0"/>
                </a:moveTo>
                <a:lnTo>
                  <a:pt x="0" y="36576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762" y="5071109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>
                <a:moveTo>
                  <a:pt x="0" y="0"/>
                </a:moveTo>
                <a:lnTo>
                  <a:pt x="739140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38961" y="1718310"/>
            <a:ext cx="57912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3200" dirty="0">
                <a:latin typeface="宋体"/>
                <a:cs typeface="宋体"/>
              </a:rPr>
              <a:t>项目管理</a:t>
            </a:r>
            <a:r>
              <a:rPr sz="3200" spc="-5" dirty="0">
                <a:latin typeface="Arial Narrow"/>
                <a:cs typeface="Arial Narrow"/>
              </a:rPr>
              <a:t>:100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5161" y="2861310"/>
            <a:ext cx="1447800" cy="533400"/>
          </a:xfrm>
          <a:prstGeom prst="rect">
            <a:avLst/>
          </a:prstGeom>
          <a:ln w="25908">
            <a:solidFill>
              <a:srgbClr val="000000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135"/>
              </a:spcBef>
            </a:pPr>
            <a:r>
              <a:rPr sz="3200" dirty="0">
                <a:latin typeface="宋体"/>
                <a:cs typeface="宋体"/>
              </a:rPr>
              <a:t>需</a:t>
            </a:r>
            <a:r>
              <a:rPr sz="3200" spc="-5" dirty="0">
                <a:latin typeface="宋体"/>
                <a:cs typeface="宋体"/>
              </a:rPr>
              <a:t>求</a:t>
            </a:r>
            <a:r>
              <a:rPr sz="3200" spc="-5" dirty="0">
                <a:latin typeface="Arial Narrow"/>
                <a:cs typeface="Arial Narrow"/>
              </a:rPr>
              <a:t>:10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1561" y="2878073"/>
            <a:ext cx="1092200" cy="533400"/>
          </a:xfrm>
          <a:prstGeom prst="rect">
            <a:avLst/>
          </a:prstGeom>
          <a:ln w="25907">
            <a:solidFill>
              <a:srgbClr val="000000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3200" spc="5" dirty="0">
                <a:latin typeface="宋体"/>
                <a:cs typeface="宋体"/>
              </a:rPr>
              <a:t>设</a:t>
            </a:r>
            <a:r>
              <a:rPr sz="3200" dirty="0">
                <a:latin typeface="宋体"/>
                <a:cs typeface="宋体"/>
              </a:rPr>
              <a:t>计</a:t>
            </a:r>
            <a:r>
              <a:rPr sz="3200" dirty="0">
                <a:latin typeface="Arial Narrow"/>
                <a:cs typeface="Arial Narrow"/>
              </a:rPr>
              <a:t>:5</a:t>
            </a:r>
            <a:endParaRPr sz="320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0245" y="5100320"/>
            <a:ext cx="535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宋体"/>
                <a:cs typeface="宋体"/>
              </a:rPr>
              <a:t>时间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8455" y="2794761"/>
            <a:ext cx="330200" cy="6965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580"/>
              </a:spcBef>
            </a:pPr>
            <a:r>
              <a:rPr sz="2400" dirty="0">
                <a:latin typeface="宋体"/>
                <a:cs typeface="宋体"/>
              </a:rPr>
              <a:t>任 务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53361" y="3685794"/>
            <a:ext cx="609600" cy="533400"/>
          </a:xfrm>
          <a:prstGeom prst="rect">
            <a:avLst/>
          </a:prstGeom>
          <a:ln w="25908">
            <a:solidFill>
              <a:srgbClr val="808080"/>
            </a:solidFill>
          </a:ln>
        </p:spPr>
        <p:txBody>
          <a:bodyPr vert="horz" wrap="square" lIns="0" tIns="14224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120"/>
              </a:spcBef>
            </a:pPr>
            <a:r>
              <a:rPr sz="1600" spc="-5" dirty="0">
                <a:latin typeface="宋体"/>
                <a:cs typeface="宋体"/>
              </a:rPr>
              <a:t>设计</a:t>
            </a:r>
            <a:r>
              <a:rPr sz="1600" spc="-10" dirty="0">
                <a:latin typeface="Arial Narrow"/>
                <a:cs typeface="Arial Narrow"/>
              </a:rPr>
              <a:t>:3</a:t>
            </a:r>
            <a:endParaRPr sz="160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26232" y="3829939"/>
            <a:ext cx="464184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宋体"/>
                <a:cs typeface="宋体"/>
              </a:rPr>
              <a:t>设计</a:t>
            </a:r>
            <a:r>
              <a:rPr sz="1400" dirty="0">
                <a:latin typeface="Arial Narrow"/>
                <a:cs typeface="Arial Narrow"/>
              </a:rPr>
              <a:t>2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2140" y="4829230"/>
            <a:ext cx="4828540" cy="194691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800" dirty="0">
                <a:latin typeface="隶书"/>
                <a:cs typeface="隶书"/>
              </a:rPr>
              <a:t>作</a:t>
            </a:r>
            <a:r>
              <a:rPr sz="2800" spc="-5" dirty="0">
                <a:latin typeface="隶书"/>
                <a:cs typeface="隶书"/>
              </a:rPr>
              <a:t>用：</a:t>
            </a:r>
            <a:endParaRPr sz="2800">
              <a:latin typeface="隶书"/>
              <a:cs typeface="隶书"/>
            </a:endParaRPr>
          </a:p>
          <a:p>
            <a:pPr marL="546735" indent="-534035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6735" algn="l"/>
              </a:tabLst>
            </a:pPr>
            <a:r>
              <a:rPr sz="2800" spc="5" dirty="0">
                <a:latin typeface="隶书"/>
                <a:cs typeface="隶书"/>
              </a:rPr>
              <a:t>解</a:t>
            </a:r>
            <a:r>
              <a:rPr sz="2800" spc="-5" dirty="0">
                <a:latin typeface="隶书"/>
                <a:cs typeface="隶书"/>
              </a:rPr>
              <a:t>决</a:t>
            </a:r>
            <a:r>
              <a:rPr sz="2800" spc="5" dirty="0">
                <a:latin typeface="隶书"/>
                <a:cs typeface="隶书"/>
              </a:rPr>
              <a:t>任</a:t>
            </a:r>
            <a:r>
              <a:rPr sz="2800" spc="-5" dirty="0">
                <a:latin typeface="隶书"/>
                <a:cs typeface="隶书"/>
              </a:rPr>
              <a:t>务的搭接</a:t>
            </a:r>
            <a:endParaRPr sz="2800">
              <a:latin typeface="隶书"/>
              <a:cs typeface="隶书"/>
            </a:endParaRPr>
          </a:p>
          <a:p>
            <a:pPr marL="546735" indent="-534670">
              <a:lnSpc>
                <a:spcPct val="100000"/>
              </a:lnSpc>
              <a:spcBef>
                <a:spcPts val="1680"/>
              </a:spcBef>
              <a:buSzPct val="96428"/>
              <a:buAutoNum type="arabicPlain"/>
              <a:tabLst>
                <a:tab pos="547370" algn="l"/>
              </a:tabLst>
            </a:pPr>
            <a:r>
              <a:rPr sz="2800" dirty="0">
                <a:latin typeface="隶书"/>
                <a:cs typeface="隶书"/>
              </a:rPr>
              <a:t>对</a:t>
            </a:r>
            <a:r>
              <a:rPr sz="2800" spc="-5" dirty="0">
                <a:latin typeface="隶书"/>
                <a:cs typeface="隶书"/>
              </a:rPr>
              <a:t>任</a:t>
            </a:r>
            <a:r>
              <a:rPr sz="2800" dirty="0">
                <a:latin typeface="隶书"/>
                <a:cs typeface="隶书"/>
              </a:rPr>
              <a:t>务</a:t>
            </a:r>
            <a:r>
              <a:rPr sz="2800" spc="-5" dirty="0">
                <a:latin typeface="隶书"/>
                <a:cs typeface="隶书"/>
              </a:rPr>
              <a:t>可以进</a:t>
            </a:r>
            <a:r>
              <a:rPr sz="2800" dirty="0">
                <a:latin typeface="隶书"/>
                <a:cs typeface="隶书"/>
              </a:rPr>
              <a:t>行</a:t>
            </a:r>
            <a:r>
              <a:rPr sz="2800" spc="-5" dirty="0">
                <a:latin typeface="隶书"/>
                <a:cs typeface="隶书"/>
              </a:rPr>
              <a:t>合理的</a:t>
            </a:r>
            <a:r>
              <a:rPr sz="2800" dirty="0">
                <a:latin typeface="隶书"/>
                <a:cs typeface="隶书"/>
              </a:rPr>
              <a:t>拆</a:t>
            </a:r>
            <a:r>
              <a:rPr sz="2800" spc="-5" dirty="0">
                <a:latin typeface="隶书"/>
                <a:cs typeface="隶书"/>
              </a:rPr>
              <a:t>分</a:t>
            </a:r>
            <a:endParaRPr sz="28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819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进度编制的基本方法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126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2738" y="1774698"/>
            <a:ext cx="7233284" cy="3287395"/>
          </a:xfrm>
          <a:custGeom>
            <a:avLst/>
            <a:gdLst/>
            <a:ahLst/>
            <a:cxnLst/>
            <a:rect l="l" t="t" r="r" b="b"/>
            <a:pathLst>
              <a:path w="7233284" h="3287395">
                <a:moveTo>
                  <a:pt x="0" y="3287268"/>
                </a:moveTo>
                <a:lnTo>
                  <a:pt x="7232904" y="3287268"/>
                </a:lnTo>
                <a:lnTo>
                  <a:pt x="7232904" y="0"/>
                </a:lnTo>
                <a:lnTo>
                  <a:pt x="0" y="0"/>
                </a:lnTo>
                <a:lnTo>
                  <a:pt x="0" y="3287268"/>
                </a:lnTo>
                <a:close/>
              </a:path>
            </a:pathLst>
          </a:custGeom>
          <a:ln w="28956">
            <a:solidFill>
              <a:srgbClr val="D3E1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3669" y="3593321"/>
            <a:ext cx="19748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0969" y="1728317"/>
            <a:ext cx="4217035" cy="26822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超前</a:t>
            </a:r>
            <a:r>
              <a:rPr sz="2900" spc="-5" dirty="0">
                <a:latin typeface="隶书"/>
                <a:cs typeface="隶书"/>
              </a:rPr>
              <a:t>(Lead)</a:t>
            </a:r>
            <a:r>
              <a:rPr sz="2900" dirty="0">
                <a:latin typeface="隶书"/>
                <a:cs typeface="隶书"/>
              </a:rPr>
              <a:t>与滞</a:t>
            </a:r>
            <a:r>
              <a:rPr sz="2900" spc="-15" dirty="0">
                <a:latin typeface="隶书"/>
                <a:cs typeface="隶书"/>
              </a:rPr>
              <a:t>后</a:t>
            </a:r>
            <a:r>
              <a:rPr sz="2900" dirty="0">
                <a:latin typeface="隶书"/>
                <a:cs typeface="隶书"/>
              </a:rPr>
              <a:t>(Lag)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关键路</a:t>
            </a:r>
            <a:r>
              <a:rPr sz="2900" spc="-15" dirty="0">
                <a:latin typeface="隶书"/>
                <a:cs typeface="隶书"/>
              </a:rPr>
              <a:t>径</a:t>
            </a:r>
            <a:r>
              <a:rPr sz="2900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marR="2033270" indent="-320040">
              <a:lnSpc>
                <a:spcPts val="4180"/>
              </a:lnSpc>
              <a:spcBef>
                <a:spcPts val="25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时间压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dirty="0">
                <a:latin typeface="隶书"/>
                <a:cs typeface="隶书"/>
              </a:rPr>
              <a:t>法 资源优化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45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敏捷计划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4044" y="3400044"/>
            <a:ext cx="577595" cy="533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资源优化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597278"/>
            <a:ext cx="7661909" cy="239966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32740" marR="5080" indent="-320040">
              <a:lnSpc>
                <a:spcPts val="3460"/>
              </a:lnSpc>
              <a:spcBef>
                <a:spcPts val="53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dirty="0">
                <a:latin typeface="隶书"/>
                <a:cs typeface="隶书"/>
              </a:rPr>
              <a:t>根据</a:t>
            </a:r>
            <a:r>
              <a:rPr sz="3200" spc="-15" dirty="0">
                <a:latin typeface="隶书"/>
                <a:cs typeface="隶书"/>
              </a:rPr>
              <a:t>资</a:t>
            </a:r>
            <a:r>
              <a:rPr sz="3200" dirty="0">
                <a:latin typeface="隶书"/>
                <a:cs typeface="隶书"/>
              </a:rPr>
              <a:t>源供</a:t>
            </a:r>
            <a:r>
              <a:rPr sz="3200" spc="-15" dirty="0">
                <a:latin typeface="隶书"/>
                <a:cs typeface="隶书"/>
              </a:rPr>
              <a:t>需</a:t>
            </a:r>
            <a:r>
              <a:rPr sz="3200" dirty="0">
                <a:latin typeface="隶书"/>
                <a:cs typeface="隶书"/>
              </a:rPr>
              <a:t>情况</a:t>
            </a:r>
            <a:r>
              <a:rPr sz="3200" spc="-15" dirty="0">
                <a:latin typeface="隶书"/>
                <a:cs typeface="隶书"/>
              </a:rPr>
              <a:t>，</a:t>
            </a:r>
            <a:r>
              <a:rPr sz="3200" dirty="0">
                <a:latin typeface="隶书"/>
                <a:cs typeface="隶书"/>
              </a:rPr>
              <a:t>调整</a:t>
            </a:r>
            <a:r>
              <a:rPr sz="3200" spc="-15" dirty="0">
                <a:latin typeface="隶书"/>
                <a:cs typeface="隶书"/>
              </a:rPr>
              <a:t>活</a:t>
            </a:r>
            <a:r>
              <a:rPr sz="3200" dirty="0">
                <a:latin typeface="隶书"/>
                <a:cs typeface="隶书"/>
              </a:rPr>
              <a:t>动的</a:t>
            </a:r>
            <a:r>
              <a:rPr sz="3200" spc="-15" dirty="0">
                <a:latin typeface="隶书"/>
                <a:cs typeface="隶书"/>
              </a:rPr>
              <a:t>开</a:t>
            </a:r>
            <a:r>
              <a:rPr sz="3200" dirty="0">
                <a:latin typeface="隶书"/>
                <a:cs typeface="隶书"/>
              </a:rPr>
              <a:t>始和完 成日</a:t>
            </a:r>
            <a:r>
              <a:rPr sz="3200" spc="-15" dirty="0">
                <a:latin typeface="隶书"/>
                <a:cs typeface="隶书"/>
              </a:rPr>
              <a:t>期</a:t>
            </a:r>
            <a:r>
              <a:rPr sz="3200" dirty="0">
                <a:latin typeface="隶书"/>
                <a:cs typeface="隶书"/>
              </a:rPr>
              <a:t>。</a:t>
            </a:r>
            <a:endParaRPr sz="32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254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sz="3200" spc="5" dirty="0">
                <a:latin typeface="隶书"/>
                <a:cs typeface="隶书"/>
              </a:rPr>
              <a:t>资源</a:t>
            </a:r>
            <a:r>
              <a:rPr sz="3200" spc="-15" dirty="0">
                <a:latin typeface="隶书"/>
                <a:cs typeface="隶书"/>
              </a:rPr>
              <a:t>优</a:t>
            </a:r>
            <a:r>
              <a:rPr sz="3200" spc="5" dirty="0">
                <a:latin typeface="隶书"/>
                <a:cs typeface="隶书"/>
              </a:rPr>
              <a:t>化配</a:t>
            </a:r>
            <a:r>
              <a:rPr sz="3200" spc="-15" dirty="0">
                <a:latin typeface="隶书"/>
                <a:cs typeface="隶书"/>
              </a:rPr>
              <a:t>置</a:t>
            </a:r>
            <a:r>
              <a:rPr sz="3200" spc="5" dirty="0">
                <a:latin typeface="隶书"/>
                <a:cs typeface="隶书"/>
              </a:rPr>
              <a:t>，形</a:t>
            </a:r>
            <a:r>
              <a:rPr sz="3200" spc="-15" dirty="0">
                <a:latin typeface="隶书"/>
                <a:cs typeface="隶书"/>
              </a:rPr>
              <a:t>成</a:t>
            </a:r>
            <a:r>
              <a:rPr sz="3200" spc="5" dirty="0">
                <a:latin typeface="隶书"/>
                <a:cs typeface="隶书"/>
              </a:rPr>
              <a:t>最有</a:t>
            </a:r>
            <a:r>
              <a:rPr sz="3200" spc="-15" dirty="0">
                <a:latin typeface="隶书"/>
                <a:cs typeface="隶书"/>
              </a:rPr>
              <a:t>效</a:t>
            </a:r>
            <a:r>
              <a:rPr sz="3200" spc="5" dirty="0">
                <a:latin typeface="隶书"/>
                <a:cs typeface="隶书"/>
              </a:rPr>
              <a:t>的利</a:t>
            </a:r>
            <a:r>
              <a:rPr sz="3200" spc="-15" dirty="0">
                <a:latin typeface="隶书"/>
                <a:cs typeface="隶书"/>
              </a:rPr>
              <a:t>用</a:t>
            </a:r>
            <a:r>
              <a:rPr sz="3200" spc="5" dirty="0">
                <a:latin typeface="隶书"/>
                <a:cs typeface="隶书"/>
              </a:rPr>
              <a:t>资源</a:t>
            </a:r>
            <a:endParaRPr sz="3200">
              <a:latin typeface="隶书"/>
              <a:cs typeface="隶书"/>
            </a:endParaRPr>
          </a:p>
          <a:p>
            <a:pPr marL="652145" lvl="1" indent="-273050">
              <a:lnSpc>
                <a:spcPct val="100000"/>
              </a:lnSpc>
              <a:spcBef>
                <a:spcPts val="259"/>
              </a:spcBef>
              <a:buClr>
                <a:srgbClr val="93B6D2"/>
              </a:buClr>
              <a:buSzPct val="69642"/>
              <a:buFont typeface="Wingdings"/>
              <a:buChar char=""/>
              <a:tabLst>
                <a:tab pos="652780" algn="l"/>
              </a:tabLst>
            </a:pPr>
            <a:r>
              <a:rPr sz="2800" dirty="0">
                <a:latin typeface="隶书"/>
                <a:cs typeface="隶书"/>
              </a:rPr>
              <a:t>使</a:t>
            </a:r>
            <a:r>
              <a:rPr sz="2800" spc="-5" dirty="0">
                <a:latin typeface="隶书"/>
                <a:cs typeface="隶书"/>
              </a:rPr>
              <a:t>资源闲</a:t>
            </a:r>
            <a:r>
              <a:rPr sz="2800" dirty="0">
                <a:latin typeface="隶书"/>
                <a:cs typeface="隶书"/>
              </a:rPr>
              <a:t>置</a:t>
            </a:r>
            <a:r>
              <a:rPr sz="2800" spc="-5" dirty="0">
                <a:latin typeface="隶书"/>
                <a:cs typeface="隶书"/>
              </a:rPr>
              <a:t>的时间</a:t>
            </a:r>
            <a:r>
              <a:rPr sz="2800" dirty="0">
                <a:latin typeface="隶书"/>
                <a:cs typeface="隶书"/>
              </a:rPr>
              <a:t>最</a:t>
            </a:r>
            <a:r>
              <a:rPr sz="2800" spc="-5" dirty="0">
                <a:latin typeface="隶书"/>
                <a:cs typeface="隶书"/>
              </a:rPr>
              <a:t>小化</a:t>
            </a:r>
            <a:endParaRPr sz="2800">
              <a:latin typeface="隶书"/>
              <a:cs typeface="隶书"/>
            </a:endParaRPr>
          </a:p>
          <a:p>
            <a:pPr marL="652145" lvl="1" indent="-273050">
              <a:lnSpc>
                <a:spcPct val="100000"/>
              </a:lnSpc>
              <a:spcBef>
                <a:spcPts val="265"/>
              </a:spcBef>
              <a:buClr>
                <a:srgbClr val="93B6D2"/>
              </a:buClr>
              <a:buSzPct val="69642"/>
              <a:buFont typeface="Wingdings"/>
              <a:buChar char=""/>
              <a:tabLst>
                <a:tab pos="652780" algn="l"/>
              </a:tabLst>
            </a:pPr>
            <a:r>
              <a:rPr sz="2800" dirty="0">
                <a:latin typeface="隶书"/>
                <a:cs typeface="隶书"/>
              </a:rPr>
              <a:t>尽</a:t>
            </a:r>
            <a:r>
              <a:rPr sz="2800" spc="-5" dirty="0">
                <a:latin typeface="隶书"/>
                <a:cs typeface="隶书"/>
              </a:rPr>
              <a:t>量避免</a:t>
            </a:r>
            <a:r>
              <a:rPr sz="2800" dirty="0">
                <a:latin typeface="隶书"/>
                <a:cs typeface="隶书"/>
              </a:rPr>
              <a:t>超</a:t>
            </a:r>
            <a:r>
              <a:rPr sz="2800" spc="-5" dirty="0">
                <a:latin typeface="隶书"/>
                <a:cs typeface="隶书"/>
              </a:rPr>
              <a:t>出资源</a:t>
            </a:r>
            <a:r>
              <a:rPr sz="2800" dirty="0">
                <a:latin typeface="隶书"/>
                <a:cs typeface="隶书"/>
              </a:rPr>
              <a:t>能</a:t>
            </a:r>
            <a:r>
              <a:rPr sz="2800" spc="-5" dirty="0">
                <a:latin typeface="隶书"/>
                <a:cs typeface="隶书"/>
              </a:rPr>
              <a:t>力</a:t>
            </a:r>
            <a:endParaRPr sz="2800">
              <a:latin typeface="隶书"/>
              <a:cs typeface="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0192" y="6171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127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资源优化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692" y="1962502"/>
            <a:ext cx="1823720" cy="108902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5" dirty="0">
                <a:latin typeface="华文仿宋"/>
                <a:cs typeface="华文仿宋"/>
              </a:rPr>
              <a:t>资源</a:t>
            </a:r>
            <a:r>
              <a:rPr sz="2900" b="1" dirty="0">
                <a:latin typeface="华文仿宋"/>
                <a:cs typeface="华文仿宋"/>
              </a:rPr>
              <a:t>平衡</a:t>
            </a:r>
            <a:endParaRPr sz="2900">
              <a:latin typeface="华文仿宋"/>
              <a:cs typeface="华文仿宋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b="1" spc="5" dirty="0">
                <a:latin typeface="华文仿宋"/>
                <a:cs typeface="华文仿宋"/>
              </a:rPr>
              <a:t>资源</a:t>
            </a:r>
            <a:r>
              <a:rPr sz="2900" b="1" dirty="0">
                <a:latin typeface="华文仿宋"/>
                <a:cs typeface="华文仿宋"/>
              </a:rPr>
              <a:t>平滑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0192" y="6171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128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22650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华文仿宋"/>
                <a:cs typeface="华文仿宋"/>
              </a:rPr>
              <a:t>资</a:t>
            </a:r>
            <a:r>
              <a:rPr b="1" spc="10" dirty="0">
                <a:latin typeface="华文仿宋"/>
                <a:cs typeface="华文仿宋"/>
              </a:rPr>
              <a:t>源</a:t>
            </a:r>
            <a:r>
              <a:rPr b="1" spc="-5" dirty="0">
                <a:latin typeface="华文仿宋"/>
                <a:cs typeface="华文仿宋"/>
              </a:rPr>
              <a:t>平衡</a:t>
            </a:r>
          </a:p>
        </p:txBody>
      </p:sp>
      <p:sp>
        <p:nvSpPr>
          <p:cNvPr id="3" name="object 3"/>
          <p:cNvSpPr/>
          <p:nvPr/>
        </p:nvSpPr>
        <p:spPr>
          <a:xfrm>
            <a:off x="180594" y="1629917"/>
            <a:ext cx="8507095" cy="2520950"/>
          </a:xfrm>
          <a:custGeom>
            <a:avLst/>
            <a:gdLst/>
            <a:ahLst/>
            <a:cxnLst/>
            <a:rect l="l" t="t" r="r" b="b"/>
            <a:pathLst>
              <a:path w="8507095" h="2520950">
                <a:moveTo>
                  <a:pt x="0" y="2520695"/>
                </a:moveTo>
                <a:lnTo>
                  <a:pt x="8506968" y="2520695"/>
                </a:lnTo>
                <a:lnTo>
                  <a:pt x="8506968" y="0"/>
                </a:lnTo>
                <a:lnTo>
                  <a:pt x="0" y="0"/>
                </a:lnTo>
                <a:lnTo>
                  <a:pt x="0" y="2520695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58267" y="1632915"/>
            <a:ext cx="8084820" cy="2413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为了在资源需求与资源</a:t>
            </a:r>
            <a:r>
              <a:rPr sz="2900" spc="-10" dirty="0">
                <a:latin typeface="华文新魏"/>
                <a:cs typeface="华文新魏"/>
              </a:rPr>
              <a:t>供</a:t>
            </a:r>
            <a:r>
              <a:rPr sz="2900" dirty="0">
                <a:latin typeface="华文新魏"/>
                <a:cs typeface="华文新魏"/>
              </a:rPr>
              <a:t>给之</a:t>
            </a:r>
            <a:r>
              <a:rPr sz="2900" spc="-10" dirty="0">
                <a:latin typeface="华文新魏"/>
                <a:cs typeface="华文新魏"/>
              </a:rPr>
              <a:t>间</a:t>
            </a:r>
            <a:r>
              <a:rPr sz="2900" dirty="0">
                <a:latin typeface="华文新魏"/>
                <a:cs typeface="华文新魏"/>
              </a:rPr>
              <a:t>取得</a:t>
            </a:r>
            <a:r>
              <a:rPr sz="2900" spc="-10" dirty="0">
                <a:latin typeface="华文新魏"/>
                <a:cs typeface="华文新魏"/>
              </a:rPr>
              <a:t>平</a:t>
            </a:r>
            <a:r>
              <a:rPr sz="2900" dirty="0">
                <a:latin typeface="华文新魏"/>
                <a:cs typeface="华文新魏"/>
              </a:rPr>
              <a:t>衡，</a:t>
            </a:r>
            <a:r>
              <a:rPr sz="2900" spc="-10" dirty="0">
                <a:latin typeface="华文新魏"/>
                <a:cs typeface="华文新魏"/>
              </a:rPr>
              <a:t>根</a:t>
            </a:r>
            <a:r>
              <a:rPr sz="2900" dirty="0">
                <a:latin typeface="华文新魏"/>
                <a:cs typeface="华文新魏"/>
              </a:rPr>
              <a:t>据 资源制约因素对开始日</a:t>
            </a:r>
            <a:r>
              <a:rPr sz="2900" spc="-15" dirty="0">
                <a:latin typeface="华文新魏"/>
                <a:cs typeface="华文新魏"/>
              </a:rPr>
              <a:t>期</a:t>
            </a:r>
            <a:r>
              <a:rPr sz="2900" dirty="0">
                <a:latin typeface="华文新魏"/>
                <a:cs typeface="华文新魏"/>
              </a:rPr>
              <a:t>和完</a:t>
            </a:r>
            <a:r>
              <a:rPr sz="2900" spc="-15" dirty="0">
                <a:latin typeface="华文新魏"/>
                <a:cs typeface="华文新魏"/>
              </a:rPr>
              <a:t>成</a:t>
            </a:r>
            <a:r>
              <a:rPr sz="2900" dirty="0">
                <a:latin typeface="华文新魏"/>
                <a:cs typeface="华文新魏"/>
              </a:rPr>
              <a:t>日期</a:t>
            </a:r>
            <a:r>
              <a:rPr sz="2900" spc="-15" dirty="0">
                <a:latin typeface="华文新魏"/>
                <a:cs typeface="华文新魏"/>
              </a:rPr>
              <a:t>进</a:t>
            </a:r>
            <a:r>
              <a:rPr sz="2900" dirty="0">
                <a:latin typeface="华文新魏"/>
                <a:cs typeface="华文新魏"/>
              </a:rPr>
              <a:t>行调</a:t>
            </a:r>
            <a:r>
              <a:rPr sz="2900" spc="-15" dirty="0">
                <a:latin typeface="华文新魏"/>
                <a:cs typeface="华文新魏"/>
              </a:rPr>
              <a:t>整</a:t>
            </a:r>
            <a:r>
              <a:rPr sz="2900" dirty="0">
                <a:latin typeface="华文新魏"/>
                <a:cs typeface="华文新魏"/>
              </a:rPr>
              <a:t>的 一种技术。</a:t>
            </a:r>
            <a:endParaRPr sz="2900">
              <a:latin typeface="华文新魏"/>
              <a:cs typeface="华文新魏"/>
            </a:endParaRPr>
          </a:p>
          <a:p>
            <a:pPr marL="332740" indent="-320040" algn="just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华文新魏"/>
                <a:cs typeface="华文新魏"/>
              </a:rPr>
              <a:t>通过调整任务的时间来</a:t>
            </a:r>
            <a:r>
              <a:rPr sz="2900" spc="-15" dirty="0">
                <a:solidFill>
                  <a:srgbClr val="FF0000"/>
                </a:solidFill>
                <a:latin typeface="华文新魏"/>
                <a:cs typeface="华文新魏"/>
              </a:rPr>
              <a:t>协</a:t>
            </a:r>
            <a:r>
              <a:rPr sz="2900" dirty="0">
                <a:solidFill>
                  <a:srgbClr val="FF0000"/>
                </a:solidFill>
                <a:latin typeface="华文新魏"/>
                <a:cs typeface="华文新魏"/>
              </a:rPr>
              <a:t>调资</a:t>
            </a:r>
            <a:r>
              <a:rPr sz="2900" spc="-15" dirty="0">
                <a:solidFill>
                  <a:srgbClr val="FF0000"/>
                </a:solidFill>
                <a:latin typeface="华文新魏"/>
                <a:cs typeface="华文新魏"/>
              </a:rPr>
              <a:t>源</a:t>
            </a:r>
            <a:r>
              <a:rPr sz="2900" dirty="0">
                <a:solidFill>
                  <a:srgbClr val="FF0000"/>
                </a:solidFill>
                <a:latin typeface="华文新魏"/>
                <a:cs typeface="华文新魏"/>
              </a:rPr>
              <a:t>的冲突</a:t>
            </a:r>
            <a:endParaRPr sz="2900">
              <a:latin typeface="华文新魏"/>
              <a:cs typeface="华文新魏"/>
            </a:endParaRPr>
          </a:p>
          <a:p>
            <a:pPr marL="332740" indent="-320040" algn="just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solidFill>
                  <a:srgbClr val="FF0000"/>
                </a:solidFill>
                <a:latin typeface="华文新魏"/>
                <a:cs typeface="华文新魏"/>
              </a:rPr>
              <a:t>资源平衡往往导致关键</a:t>
            </a:r>
            <a:r>
              <a:rPr sz="2900" spc="-15" dirty="0">
                <a:solidFill>
                  <a:srgbClr val="FF0000"/>
                </a:solidFill>
                <a:latin typeface="华文新魏"/>
                <a:cs typeface="华文新魏"/>
              </a:rPr>
              <a:t>路</a:t>
            </a:r>
            <a:r>
              <a:rPr sz="2900" dirty="0">
                <a:solidFill>
                  <a:srgbClr val="FF0000"/>
                </a:solidFill>
                <a:latin typeface="华文新魏"/>
                <a:cs typeface="华文新魏"/>
              </a:rPr>
              <a:t>径改变</a:t>
            </a:r>
            <a:endParaRPr sz="2900">
              <a:latin typeface="华文新魏"/>
              <a:cs typeface="华文新魏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49521" y="617199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129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22833"/>
            <a:ext cx="28219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资源平衡法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63469" y="1661367"/>
            <a:ext cx="6431656" cy="44116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6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3016" y="232663"/>
            <a:ext cx="2823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资源平滑法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4065" y="1566798"/>
            <a:ext cx="8166734" cy="16929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32105" marR="5080" indent="-320040">
              <a:lnSpc>
                <a:spcPts val="3020"/>
              </a:lnSpc>
              <a:spcBef>
                <a:spcPts val="480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资源平滑法是在项目编排中进行资</a:t>
            </a:r>
            <a:r>
              <a:rPr sz="2800" spc="5" dirty="0">
                <a:latin typeface="华文新魏"/>
                <a:cs typeface="华文新魏"/>
              </a:rPr>
              <a:t>源</a:t>
            </a:r>
            <a:r>
              <a:rPr sz="2800" spc="-5" dirty="0">
                <a:latin typeface="华文新魏"/>
                <a:cs typeface="华文新魏"/>
              </a:rPr>
              <a:t>的优</a:t>
            </a:r>
            <a:r>
              <a:rPr sz="2800" spc="5" dirty="0">
                <a:latin typeface="华文新魏"/>
                <a:cs typeface="华文新魏"/>
              </a:rPr>
              <a:t>化</a:t>
            </a:r>
            <a:r>
              <a:rPr sz="2800" spc="-5" dirty="0">
                <a:latin typeface="华文新魏"/>
                <a:cs typeface="华文新魏"/>
              </a:rPr>
              <a:t>配置， 保证资源最优化、最优效</a:t>
            </a:r>
            <a:r>
              <a:rPr sz="2800" spc="25" dirty="0">
                <a:latin typeface="华文新魏"/>
                <a:cs typeface="华文新魏"/>
              </a:rPr>
              <a:t> </a:t>
            </a:r>
            <a:r>
              <a:rPr sz="2800" spc="-5" dirty="0">
                <a:latin typeface="华文新魏"/>
                <a:cs typeface="华文新魏"/>
              </a:rPr>
              <a:t>。</a:t>
            </a:r>
            <a:endParaRPr sz="2800">
              <a:latin typeface="华文新魏"/>
              <a:cs typeface="华文新魏"/>
            </a:endParaRPr>
          </a:p>
          <a:p>
            <a:pPr marL="332105" marR="11430" indent="-320040">
              <a:lnSpc>
                <a:spcPts val="3030"/>
              </a:lnSpc>
              <a:spcBef>
                <a:spcPts val="6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32105" algn="l"/>
                <a:tab pos="332740" algn="l"/>
              </a:tabLst>
            </a:pPr>
            <a:r>
              <a:rPr sz="2800" spc="-5" dirty="0">
                <a:latin typeface="华文新魏"/>
                <a:cs typeface="华文新魏"/>
              </a:rPr>
              <a:t>资</a:t>
            </a:r>
            <a:r>
              <a:rPr sz="2800" spc="-10" dirty="0">
                <a:latin typeface="华文新魏"/>
                <a:cs typeface="华文新魏"/>
              </a:rPr>
              <a:t>源平滑不会改变项目关键路径，</a:t>
            </a:r>
            <a:r>
              <a:rPr sz="2800" dirty="0">
                <a:latin typeface="华文新魏"/>
                <a:cs typeface="华文新魏"/>
              </a:rPr>
              <a:t>完</a:t>
            </a:r>
            <a:r>
              <a:rPr sz="2800" spc="-10" dirty="0">
                <a:latin typeface="华文新魏"/>
                <a:cs typeface="华文新魏"/>
              </a:rPr>
              <a:t>工日</a:t>
            </a:r>
            <a:r>
              <a:rPr sz="2800" dirty="0">
                <a:latin typeface="华文新魏"/>
                <a:cs typeface="华文新魏"/>
              </a:rPr>
              <a:t>期</a:t>
            </a:r>
            <a:r>
              <a:rPr sz="2800" spc="-10" dirty="0">
                <a:latin typeface="华文新魏"/>
                <a:cs typeface="华文新魏"/>
              </a:rPr>
              <a:t>也不会 </a:t>
            </a:r>
            <a:r>
              <a:rPr sz="2800" spc="-5" dirty="0">
                <a:latin typeface="华文新魏"/>
                <a:cs typeface="华文新魏"/>
              </a:rPr>
              <a:t>延</a:t>
            </a:r>
            <a:r>
              <a:rPr sz="2800" spc="-10" dirty="0">
                <a:latin typeface="华文新魏"/>
                <a:cs typeface="华文新魏"/>
              </a:rPr>
              <a:t>迟</a:t>
            </a:r>
            <a:r>
              <a:rPr sz="2800" spc="-5" dirty="0">
                <a:latin typeface="华文新魏"/>
                <a:cs typeface="华文新魏"/>
              </a:rPr>
              <a:t>。活动只在其自由和总浮动时</a:t>
            </a:r>
            <a:r>
              <a:rPr sz="2800" spc="5" dirty="0">
                <a:latin typeface="华文新魏"/>
                <a:cs typeface="华文新魏"/>
              </a:rPr>
              <a:t>间</a:t>
            </a:r>
            <a:r>
              <a:rPr sz="2800" spc="-5" dirty="0">
                <a:latin typeface="华文新魏"/>
                <a:cs typeface="华文新魏"/>
              </a:rPr>
              <a:t>内</a:t>
            </a:r>
            <a:r>
              <a:rPr sz="2800" spc="-25" dirty="0">
                <a:latin typeface="华文新魏"/>
                <a:cs typeface="华文新魏"/>
              </a:rPr>
              <a:t>延</a:t>
            </a:r>
            <a:r>
              <a:rPr sz="2800" spc="5" dirty="0">
                <a:latin typeface="华文新魏"/>
                <a:cs typeface="华文新魏"/>
              </a:rPr>
              <a:t>迟</a:t>
            </a:r>
            <a:r>
              <a:rPr sz="2800" spc="-5" dirty="0">
                <a:latin typeface="华文新魏"/>
                <a:cs typeface="华文新魏"/>
              </a:rPr>
              <a:t>.</a:t>
            </a:r>
            <a:endParaRPr sz="2800">
              <a:latin typeface="华文新魏"/>
              <a:cs typeface="华文新魏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424383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latin typeface="华文隶书"/>
                <a:cs typeface="华文隶书"/>
              </a:rPr>
              <a:t>资源平滑法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7500" y="1988820"/>
            <a:ext cx="8493125" cy="3954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0240" y="341833"/>
            <a:ext cx="28238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>
                <a:latin typeface="华文隶书"/>
                <a:cs typeface="华文隶书"/>
              </a:rPr>
              <a:t>资源平滑法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90414" y="3764279"/>
            <a:ext cx="8172585" cy="305895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524000"/>
            <a:ext cx="89154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16738"/>
            <a:ext cx="28238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资源平滑法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4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8749" y="3900645"/>
            <a:ext cx="8508998" cy="2923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524000"/>
            <a:ext cx="8915400" cy="2514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819" y="23266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进度编制的基本方法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13682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135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32738" y="1774698"/>
            <a:ext cx="7233284" cy="3287395"/>
          </a:xfrm>
          <a:custGeom>
            <a:avLst/>
            <a:gdLst/>
            <a:ahLst/>
            <a:cxnLst/>
            <a:rect l="l" t="t" r="r" b="b"/>
            <a:pathLst>
              <a:path w="7233284" h="3287395">
                <a:moveTo>
                  <a:pt x="0" y="3287268"/>
                </a:moveTo>
                <a:lnTo>
                  <a:pt x="7232904" y="3287268"/>
                </a:lnTo>
                <a:lnTo>
                  <a:pt x="7232904" y="0"/>
                </a:lnTo>
                <a:lnTo>
                  <a:pt x="0" y="0"/>
                </a:lnTo>
                <a:lnTo>
                  <a:pt x="0" y="3287268"/>
                </a:lnTo>
                <a:close/>
              </a:path>
            </a:pathLst>
          </a:custGeom>
          <a:ln w="28956">
            <a:solidFill>
              <a:srgbClr val="D3E1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423669" y="4125197"/>
            <a:ext cx="197485" cy="245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4"/>
              </a:lnSpc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</a:t>
            </a:r>
            <a:endParaRPr sz="1750">
              <a:latin typeface="Wingdings"/>
              <a:cs typeface="Wingding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0969" y="1728317"/>
            <a:ext cx="4217035" cy="268224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超前</a:t>
            </a:r>
            <a:r>
              <a:rPr sz="2900" spc="-5" dirty="0">
                <a:latin typeface="隶书"/>
                <a:cs typeface="隶书"/>
              </a:rPr>
              <a:t>(Lead)</a:t>
            </a:r>
            <a:r>
              <a:rPr sz="2900" dirty="0">
                <a:latin typeface="隶书"/>
                <a:cs typeface="隶书"/>
              </a:rPr>
              <a:t>与滞</a:t>
            </a:r>
            <a:r>
              <a:rPr sz="2900" spc="-15" dirty="0">
                <a:latin typeface="隶书"/>
                <a:cs typeface="隶书"/>
              </a:rPr>
              <a:t>后</a:t>
            </a:r>
            <a:r>
              <a:rPr sz="2900" dirty="0">
                <a:latin typeface="隶书"/>
                <a:cs typeface="隶书"/>
              </a:rPr>
              <a:t>(Lag)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关键路</a:t>
            </a:r>
            <a:r>
              <a:rPr sz="2900" spc="-15" dirty="0">
                <a:latin typeface="隶书"/>
                <a:cs typeface="隶书"/>
              </a:rPr>
              <a:t>径</a:t>
            </a:r>
            <a:r>
              <a:rPr sz="2900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spc="5" dirty="0">
                <a:latin typeface="隶书"/>
                <a:cs typeface="隶书"/>
              </a:rPr>
              <a:t>时间压</a:t>
            </a:r>
            <a:r>
              <a:rPr sz="2900" spc="-20" dirty="0">
                <a:latin typeface="隶书"/>
                <a:cs typeface="隶书"/>
              </a:rPr>
              <a:t>缩</a:t>
            </a:r>
            <a:r>
              <a:rPr sz="2900" spc="5" dirty="0">
                <a:latin typeface="隶书"/>
                <a:cs typeface="隶书"/>
              </a:rPr>
              <a:t>法</a:t>
            </a:r>
            <a:endParaRPr sz="2900">
              <a:latin typeface="隶书"/>
              <a:cs typeface="隶书"/>
            </a:endParaRPr>
          </a:p>
          <a:p>
            <a:pPr marL="332740" marR="2400935" indent="-320040">
              <a:lnSpc>
                <a:spcPts val="4190"/>
              </a:lnSpc>
              <a:spcBef>
                <a:spcPts val="245"/>
              </a:spcBef>
              <a:buClr>
                <a:srgbClr val="DD8046"/>
              </a:buClr>
              <a:buSzPct val="60344"/>
              <a:buFont typeface="Wingdings"/>
              <a:buChar char=""/>
              <a:tabLst>
                <a:tab pos="332740" algn="l"/>
              </a:tabLst>
            </a:pPr>
            <a:r>
              <a:rPr sz="2900" dirty="0">
                <a:latin typeface="隶书"/>
                <a:cs typeface="隶书"/>
              </a:rPr>
              <a:t>资源优化 敏捷计划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14044" y="3974591"/>
            <a:ext cx="577595" cy="53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7933" y="322833"/>
            <a:ext cx="5862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w Cen MT"/>
                <a:cs typeface="Tw Cen MT"/>
              </a:rPr>
              <a:t>Agile</a:t>
            </a:r>
            <a:r>
              <a:rPr b="1" spc="-60" dirty="0">
                <a:latin typeface="Tw Cen MT"/>
                <a:cs typeface="Tw Cen MT"/>
              </a:rPr>
              <a:t> </a:t>
            </a:r>
            <a:r>
              <a:rPr b="1" dirty="0">
                <a:latin typeface="Tw Cen MT"/>
                <a:cs typeface="Tw Cen MT"/>
              </a:rPr>
              <a:t>Planning:</a:t>
            </a:r>
            <a:r>
              <a:rPr dirty="0">
                <a:latin typeface="华文隶书"/>
                <a:cs typeface="华文隶书"/>
              </a:rPr>
              <a:t>敏捷计划</a:t>
            </a:r>
          </a:p>
        </p:txBody>
      </p:sp>
      <p:sp>
        <p:nvSpPr>
          <p:cNvPr id="3" name="object 3"/>
          <p:cNvSpPr/>
          <p:nvPr/>
        </p:nvSpPr>
        <p:spPr>
          <a:xfrm>
            <a:off x="534162" y="1517141"/>
            <a:ext cx="8359140" cy="4650105"/>
          </a:xfrm>
          <a:custGeom>
            <a:avLst/>
            <a:gdLst/>
            <a:ahLst/>
            <a:cxnLst/>
            <a:rect l="l" t="t" r="r" b="b"/>
            <a:pathLst>
              <a:path w="8359140" h="4650105">
                <a:moveTo>
                  <a:pt x="0" y="4649724"/>
                </a:moveTo>
                <a:lnTo>
                  <a:pt x="8359140" y="4649724"/>
                </a:lnTo>
                <a:lnTo>
                  <a:pt x="8359140" y="0"/>
                </a:lnTo>
                <a:lnTo>
                  <a:pt x="0" y="0"/>
                </a:lnTo>
                <a:lnTo>
                  <a:pt x="0" y="4649724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2140" y="1432412"/>
            <a:ext cx="5215255" cy="225933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55575" indent="-143510">
              <a:lnSpc>
                <a:spcPct val="100000"/>
              </a:lnSpc>
              <a:spcBef>
                <a:spcPts val="785"/>
              </a:spcBef>
              <a:buSzPct val="96875"/>
              <a:buChar char="•"/>
              <a:tabLst>
                <a:tab pos="156210" algn="l"/>
                <a:tab pos="3124835" algn="l"/>
              </a:tabLst>
            </a:pPr>
            <a:r>
              <a:rPr sz="3200" spc="-10" dirty="0">
                <a:latin typeface="Tw Cen MT"/>
                <a:cs typeface="Tw Cen MT"/>
              </a:rPr>
              <a:t>Release</a:t>
            </a:r>
            <a:r>
              <a:rPr sz="3200" spc="-30" dirty="0">
                <a:latin typeface="Tw Cen MT"/>
                <a:cs typeface="Tw Cen MT"/>
              </a:rPr>
              <a:t> </a:t>
            </a:r>
            <a:r>
              <a:rPr sz="3200" dirty="0">
                <a:latin typeface="Tw Cen MT"/>
                <a:cs typeface="Tw Cen MT"/>
              </a:rPr>
              <a:t>planning	-</a:t>
            </a:r>
            <a:r>
              <a:rPr sz="3200" spc="-25" dirty="0">
                <a:latin typeface="Tw Cen MT"/>
                <a:cs typeface="Tw Cen MT"/>
              </a:rPr>
              <a:t> </a:t>
            </a:r>
            <a:r>
              <a:rPr sz="3200" dirty="0">
                <a:latin typeface="华文仿宋"/>
                <a:cs typeface="华文仿宋"/>
              </a:rPr>
              <a:t>发</a:t>
            </a:r>
            <a:r>
              <a:rPr sz="3200" spc="-5" dirty="0">
                <a:latin typeface="华文仿宋"/>
                <a:cs typeface="华文仿宋"/>
              </a:rPr>
              <a:t>布</a:t>
            </a:r>
            <a:r>
              <a:rPr sz="3200" dirty="0">
                <a:latin typeface="华文仿宋"/>
                <a:cs typeface="华文仿宋"/>
              </a:rPr>
              <a:t>计划</a:t>
            </a:r>
            <a:endParaRPr sz="3200">
              <a:latin typeface="华文仿宋"/>
              <a:cs typeface="华文仿宋"/>
            </a:endParaRPr>
          </a:p>
          <a:p>
            <a:pPr marL="617855" lvl="1" indent="-285750">
              <a:lnSpc>
                <a:spcPct val="100000"/>
              </a:lnSpc>
              <a:spcBef>
                <a:spcPts val="625"/>
              </a:spcBef>
              <a:buFont typeface="Tw Cen MT"/>
              <a:buChar char="–"/>
              <a:tabLst>
                <a:tab pos="618490" algn="l"/>
              </a:tabLst>
            </a:pPr>
            <a:r>
              <a:rPr sz="2900" dirty="0">
                <a:latin typeface="华文仿宋"/>
                <a:cs typeface="华文仿宋"/>
              </a:rPr>
              <a:t>远期计划</a:t>
            </a:r>
            <a:r>
              <a:rPr sz="2900" spc="60" dirty="0">
                <a:latin typeface="华文仿宋"/>
                <a:cs typeface="华文仿宋"/>
              </a:rPr>
              <a:t> </a:t>
            </a:r>
            <a:r>
              <a:rPr sz="2900" dirty="0">
                <a:latin typeface="Tw Cen MT"/>
                <a:cs typeface="Tw Cen MT"/>
              </a:rPr>
              <a:t>–</a:t>
            </a:r>
            <a:r>
              <a:rPr sz="2900" spc="-15" dirty="0">
                <a:latin typeface="Tw Cen MT"/>
                <a:cs typeface="Tw Cen MT"/>
              </a:rPr>
              <a:t> </a:t>
            </a:r>
            <a:r>
              <a:rPr sz="2900" dirty="0">
                <a:latin typeface="华文仿宋"/>
                <a:cs typeface="华文仿宋"/>
              </a:rPr>
              <a:t>粗计划</a:t>
            </a:r>
            <a:r>
              <a:rPr sz="2900" dirty="0">
                <a:latin typeface="Tw Cen MT"/>
                <a:cs typeface="Tw Cen MT"/>
              </a:rPr>
              <a:t>.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3213100" algn="l"/>
                <a:tab pos="3573145" algn="l"/>
              </a:tabLst>
            </a:pPr>
            <a:r>
              <a:rPr sz="3200" spc="-5" dirty="0">
                <a:latin typeface="Tw Cen MT"/>
                <a:cs typeface="Tw Cen MT"/>
              </a:rPr>
              <a:t>•Ite</a:t>
            </a:r>
            <a:r>
              <a:rPr sz="3200" spc="-40" dirty="0">
                <a:latin typeface="Tw Cen MT"/>
                <a:cs typeface="Tw Cen MT"/>
              </a:rPr>
              <a:t>r</a:t>
            </a:r>
            <a:r>
              <a:rPr sz="3200" dirty="0">
                <a:latin typeface="Tw Cen MT"/>
                <a:cs typeface="Tw Cen MT"/>
              </a:rPr>
              <a:t>ation</a:t>
            </a:r>
            <a:r>
              <a:rPr sz="3200" spc="-25" dirty="0">
                <a:latin typeface="Tw Cen MT"/>
                <a:cs typeface="Tw Cen MT"/>
              </a:rPr>
              <a:t> </a:t>
            </a:r>
            <a:r>
              <a:rPr sz="3200" dirty="0">
                <a:latin typeface="Tw Cen MT"/>
                <a:cs typeface="Tw Cen MT"/>
              </a:rPr>
              <a:t>planni</a:t>
            </a:r>
            <a:r>
              <a:rPr sz="3200" spc="5" dirty="0">
                <a:latin typeface="Tw Cen MT"/>
                <a:cs typeface="Tw Cen MT"/>
              </a:rPr>
              <a:t>n</a:t>
            </a:r>
            <a:r>
              <a:rPr sz="3200" dirty="0">
                <a:latin typeface="Tw Cen MT"/>
                <a:cs typeface="Tw Cen MT"/>
              </a:rPr>
              <a:t>g	-	</a:t>
            </a:r>
            <a:r>
              <a:rPr sz="3200" spc="5" dirty="0">
                <a:latin typeface="华文仿宋"/>
                <a:cs typeface="华文仿宋"/>
              </a:rPr>
              <a:t>迭代计划</a:t>
            </a:r>
            <a:endParaRPr sz="3200">
              <a:latin typeface="华文仿宋"/>
              <a:cs typeface="华文仿宋"/>
            </a:endParaRPr>
          </a:p>
          <a:p>
            <a:pPr marL="648335" lvl="1" indent="-316230">
              <a:lnSpc>
                <a:spcPct val="100000"/>
              </a:lnSpc>
              <a:spcBef>
                <a:spcPts val="605"/>
              </a:spcBef>
              <a:buFont typeface="Tw Cen MT"/>
              <a:buChar char="–"/>
              <a:tabLst>
                <a:tab pos="648970" algn="l"/>
              </a:tabLst>
            </a:pPr>
            <a:r>
              <a:rPr sz="3200" dirty="0">
                <a:latin typeface="华文仿宋"/>
                <a:cs typeface="华文仿宋"/>
              </a:rPr>
              <a:t>近期计划</a:t>
            </a:r>
            <a:r>
              <a:rPr sz="3200" dirty="0">
                <a:latin typeface="Tw Cen MT"/>
                <a:cs typeface="Tw Cen MT"/>
              </a:rPr>
              <a:t>-</a:t>
            </a:r>
            <a:r>
              <a:rPr sz="3200" spc="-25" dirty="0">
                <a:latin typeface="Tw Cen MT"/>
                <a:cs typeface="Tw Cen MT"/>
              </a:rPr>
              <a:t> </a:t>
            </a:r>
            <a:r>
              <a:rPr sz="3200" dirty="0">
                <a:latin typeface="华文仿宋"/>
                <a:cs typeface="华文仿宋"/>
              </a:rPr>
              <a:t>细计划</a:t>
            </a:r>
            <a:endParaRPr sz="3200">
              <a:latin typeface="华文仿宋"/>
              <a:cs typeface="华文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1821" y="6339941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136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15213"/>
            <a:ext cx="67373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发布计划与迭代计划的关系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0" y="63545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548383" y="1658831"/>
            <a:ext cx="5781617" cy="40288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548383" y="2564892"/>
            <a:ext cx="1800225" cy="3689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81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45"/>
              </a:spcBef>
            </a:pPr>
            <a:r>
              <a:rPr sz="1800" b="1" dirty="0">
                <a:solidFill>
                  <a:srgbClr val="FF0000"/>
                </a:solidFill>
                <a:latin typeface="宋体"/>
                <a:cs typeface="宋体"/>
              </a:rPr>
              <a:t>发布计划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344170"/>
            <a:ext cx="43065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solidFill>
                  <a:srgbClr val="775F54"/>
                </a:solidFill>
                <a:latin typeface="Tw Cen MT"/>
                <a:cs typeface="Tw Cen MT"/>
              </a:rPr>
              <a:t>The Scrum</a:t>
            </a:r>
            <a:r>
              <a:rPr sz="4400" b="1" spc="-65" dirty="0">
                <a:solidFill>
                  <a:srgbClr val="775F54"/>
                </a:solidFill>
                <a:latin typeface="Tw Cen MT"/>
                <a:cs typeface="Tw Cen MT"/>
              </a:rPr>
              <a:t> </a:t>
            </a:r>
            <a:r>
              <a:rPr sz="4400" b="1" dirty="0">
                <a:solidFill>
                  <a:srgbClr val="775F54"/>
                </a:solidFill>
                <a:latin typeface="Tw Cen MT"/>
                <a:cs typeface="Tw Cen MT"/>
              </a:rPr>
              <a:t>process</a:t>
            </a:r>
            <a:endParaRPr sz="4400">
              <a:latin typeface="Tw Cen MT"/>
              <a:cs typeface="Tw Cen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88327" y="1889760"/>
            <a:ext cx="7838324" cy="3622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77892" y="6229299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50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138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w Cen MT"/>
                <a:cs typeface="Tw Cen MT"/>
              </a:rPr>
              <a:t>The Sprint </a:t>
            </a:r>
            <a:r>
              <a:rPr b="1" spc="-10" dirty="0">
                <a:latin typeface="Tw Cen MT"/>
                <a:cs typeface="Tw Cen MT"/>
              </a:rPr>
              <a:t>cycle: </a:t>
            </a:r>
            <a:r>
              <a:rPr spc="-10" dirty="0"/>
              <a:t>Iteration</a:t>
            </a:r>
            <a:r>
              <a:rPr spc="-25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/>
          <p:nvPr/>
        </p:nvSpPr>
        <p:spPr>
          <a:xfrm>
            <a:off x="252222" y="1600961"/>
            <a:ext cx="8514715" cy="4495800"/>
          </a:xfrm>
          <a:custGeom>
            <a:avLst/>
            <a:gdLst/>
            <a:ahLst/>
            <a:cxnLst/>
            <a:rect l="l" t="t" r="r" b="b"/>
            <a:pathLst>
              <a:path w="8514715" h="4495800">
                <a:moveTo>
                  <a:pt x="0" y="4495800"/>
                </a:moveTo>
                <a:lnTo>
                  <a:pt x="8514588" y="4495800"/>
                </a:lnTo>
                <a:lnTo>
                  <a:pt x="8514588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28956">
            <a:solidFill>
              <a:srgbClr val="001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29590" y="1612519"/>
            <a:ext cx="8196580" cy="37407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4114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Sprints are </a:t>
            </a:r>
            <a:r>
              <a:rPr sz="2900" spc="-15" dirty="0">
                <a:latin typeface="Tw Cen MT"/>
                <a:cs typeface="Tw Cen MT"/>
              </a:rPr>
              <a:t>fixed </a:t>
            </a:r>
            <a:r>
              <a:rPr sz="2900" spc="-5" dirty="0">
                <a:latin typeface="Tw Cen MT"/>
                <a:cs typeface="Tw Cen MT"/>
              </a:rPr>
              <a:t>length, </a:t>
            </a:r>
            <a:r>
              <a:rPr sz="2900" spc="5" dirty="0">
                <a:latin typeface="Tw Cen MT"/>
                <a:cs typeface="Tw Cen MT"/>
              </a:rPr>
              <a:t>normally 2–4 </a:t>
            </a:r>
            <a:r>
              <a:rPr sz="2900" spc="-15" dirty="0">
                <a:latin typeface="Tw Cen MT"/>
                <a:cs typeface="Tw Cen MT"/>
              </a:rPr>
              <a:t>weeks. </a:t>
            </a:r>
            <a:r>
              <a:rPr sz="2900" spc="-30" dirty="0">
                <a:latin typeface="Tw Cen MT"/>
                <a:cs typeface="Tw Cen MT"/>
              </a:rPr>
              <a:t>They  </a:t>
            </a:r>
            <a:r>
              <a:rPr sz="2900" dirty="0">
                <a:latin typeface="Tw Cen MT"/>
                <a:cs typeface="Tw Cen MT"/>
              </a:rPr>
              <a:t>correspond to the </a:t>
            </a:r>
            <a:r>
              <a:rPr sz="2900" spc="-5" dirty="0">
                <a:latin typeface="Tw Cen MT"/>
                <a:cs typeface="Tw Cen MT"/>
              </a:rPr>
              <a:t>development </a:t>
            </a:r>
            <a:r>
              <a:rPr sz="2900" dirty="0">
                <a:latin typeface="Tw Cen MT"/>
                <a:cs typeface="Tw Cen MT"/>
              </a:rPr>
              <a:t>of a</a:t>
            </a:r>
            <a:r>
              <a:rPr sz="2900" spc="1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release.</a:t>
            </a:r>
            <a:endParaRPr sz="2900">
              <a:latin typeface="Tw Cen MT"/>
              <a:cs typeface="Tw Cen MT"/>
            </a:endParaRPr>
          </a:p>
          <a:p>
            <a:pPr marL="332740" marR="508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spc="-5" dirty="0">
                <a:latin typeface="Tw Cen MT"/>
                <a:cs typeface="Tw Cen MT"/>
              </a:rPr>
              <a:t>The </a:t>
            </a:r>
            <a:r>
              <a:rPr sz="2900" spc="10" dirty="0">
                <a:latin typeface="Tw Cen MT"/>
                <a:cs typeface="Tw Cen MT"/>
              </a:rPr>
              <a:t>starting </a:t>
            </a:r>
            <a:r>
              <a:rPr sz="2900" dirty="0">
                <a:latin typeface="Tw Cen MT"/>
                <a:cs typeface="Tw Cen MT"/>
              </a:rPr>
              <a:t>point </a:t>
            </a:r>
            <a:r>
              <a:rPr sz="2900" spc="-20" dirty="0">
                <a:latin typeface="Tw Cen MT"/>
                <a:cs typeface="Tw Cen MT"/>
              </a:rPr>
              <a:t>for </a:t>
            </a:r>
            <a:r>
              <a:rPr sz="2900" dirty="0">
                <a:latin typeface="Tw Cen MT"/>
                <a:cs typeface="Tw Cen MT"/>
              </a:rPr>
              <a:t>planning </a:t>
            </a:r>
            <a:r>
              <a:rPr sz="2900" spc="-5" dirty="0">
                <a:latin typeface="Tw Cen MT"/>
                <a:cs typeface="Tw Cen MT"/>
              </a:rPr>
              <a:t>is </a:t>
            </a:r>
            <a:r>
              <a:rPr sz="2900" dirty="0">
                <a:latin typeface="Tw Cen MT"/>
                <a:cs typeface="Tw Cen MT"/>
              </a:rPr>
              <a:t>the </a:t>
            </a:r>
            <a:r>
              <a:rPr sz="2900" spc="-10" dirty="0">
                <a:latin typeface="Tw Cen MT"/>
                <a:cs typeface="Tw Cen MT"/>
              </a:rPr>
              <a:t>product </a:t>
            </a:r>
            <a:r>
              <a:rPr sz="2900" dirty="0">
                <a:latin typeface="Tw Cen MT"/>
                <a:cs typeface="Tw Cen MT"/>
              </a:rPr>
              <a:t>backlog,  </a:t>
            </a:r>
            <a:r>
              <a:rPr sz="2900" spc="20" dirty="0">
                <a:latin typeface="Tw Cen MT"/>
                <a:cs typeface="Tw Cen MT"/>
              </a:rPr>
              <a:t>which </a:t>
            </a:r>
            <a:r>
              <a:rPr sz="2900" spc="-5" dirty="0">
                <a:latin typeface="Tw Cen MT"/>
                <a:cs typeface="Tw Cen MT"/>
              </a:rPr>
              <a:t>is </a:t>
            </a:r>
            <a:r>
              <a:rPr sz="2900" dirty="0">
                <a:latin typeface="Tw Cen MT"/>
                <a:cs typeface="Tw Cen MT"/>
              </a:rPr>
              <a:t>the </a:t>
            </a:r>
            <a:r>
              <a:rPr sz="2900" spc="-5" dirty="0">
                <a:latin typeface="Tw Cen MT"/>
                <a:cs typeface="Tw Cen MT"/>
              </a:rPr>
              <a:t>list </a:t>
            </a:r>
            <a:r>
              <a:rPr sz="2900" dirty="0">
                <a:latin typeface="Tw Cen MT"/>
                <a:cs typeface="Tw Cen MT"/>
              </a:rPr>
              <a:t>of work to be done on the </a:t>
            </a:r>
            <a:r>
              <a:rPr sz="2900" spc="-10" dirty="0">
                <a:latin typeface="Tw Cen MT"/>
                <a:cs typeface="Tw Cen MT"/>
              </a:rPr>
              <a:t>project  </a:t>
            </a:r>
            <a:r>
              <a:rPr sz="2900" dirty="0">
                <a:latin typeface="Tw Cen MT"/>
                <a:cs typeface="Tw Cen MT"/>
              </a:rPr>
              <a:t>(mainly user</a:t>
            </a:r>
            <a:r>
              <a:rPr sz="2900" spc="-5" dirty="0">
                <a:latin typeface="Tw Cen MT"/>
                <a:cs typeface="Tw Cen MT"/>
              </a:rPr>
              <a:t> stories).</a:t>
            </a:r>
            <a:endParaRPr sz="2900">
              <a:latin typeface="Tw Cen MT"/>
              <a:cs typeface="Tw Cen MT"/>
            </a:endParaRPr>
          </a:p>
          <a:p>
            <a:pPr marL="332740" marR="25400" indent="-32004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The selection phase </a:t>
            </a:r>
            <a:r>
              <a:rPr sz="2900" spc="-20" dirty="0">
                <a:latin typeface="Tw Cen MT"/>
                <a:cs typeface="Tw Cen MT"/>
              </a:rPr>
              <a:t>involves </a:t>
            </a:r>
            <a:r>
              <a:rPr sz="2900" dirty="0">
                <a:latin typeface="Tw Cen MT"/>
                <a:cs typeface="Tw Cen MT"/>
              </a:rPr>
              <a:t>all of the </a:t>
            </a:r>
            <a:r>
              <a:rPr sz="2900" spc="-10" dirty="0">
                <a:latin typeface="Tw Cen MT"/>
                <a:cs typeface="Tw Cen MT"/>
              </a:rPr>
              <a:t>project </a:t>
            </a:r>
            <a:r>
              <a:rPr sz="2900" dirty="0">
                <a:latin typeface="Tw Cen MT"/>
                <a:cs typeface="Tw Cen MT"/>
              </a:rPr>
              <a:t>team  who </a:t>
            </a:r>
            <a:r>
              <a:rPr sz="2900" spc="-5" dirty="0">
                <a:latin typeface="Tw Cen MT"/>
                <a:cs typeface="Tw Cen MT"/>
              </a:rPr>
              <a:t>work </a:t>
            </a:r>
            <a:r>
              <a:rPr sz="2900" dirty="0">
                <a:latin typeface="Tw Cen MT"/>
                <a:cs typeface="Tw Cen MT"/>
              </a:rPr>
              <a:t>with the customer to select the features</a:t>
            </a:r>
            <a:r>
              <a:rPr sz="2900" spc="-7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and  functionality to be </a:t>
            </a:r>
            <a:r>
              <a:rPr sz="2900" spc="-5" dirty="0">
                <a:latin typeface="Tw Cen MT"/>
                <a:cs typeface="Tw Cen MT"/>
              </a:rPr>
              <a:t>developed </a:t>
            </a:r>
            <a:r>
              <a:rPr sz="2900" dirty="0">
                <a:latin typeface="Tw Cen MT"/>
                <a:cs typeface="Tw Cen MT"/>
              </a:rPr>
              <a:t>during the</a:t>
            </a:r>
            <a:r>
              <a:rPr sz="2900" spc="-6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sprint.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7594" y="6354571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139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85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Tw Cen MT"/>
                <a:cs typeface="Tw Cen MT"/>
              </a:rPr>
              <a:t>The Sprint </a:t>
            </a:r>
            <a:r>
              <a:rPr b="1" spc="-10" dirty="0">
                <a:latin typeface="Tw Cen MT"/>
                <a:cs typeface="Tw Cen MT"/>
              </a:rPr>
              <a:t>cycle: </a:t>
            </a:r>
            <a:r>
              <a:rPr spc="-10" dirty="0"/>
              <a:t>Iteration</a:t>
            </a:r>
            <a:r>
              <a:rPr spc="-25" dirty="0"/>
              <a:t> </a:t>
            </a:r>
            <a:r>
              <a:rPr spc="-5" dirty="0"/>
              <a:t>planning</a:t>
            </a:r>
          </a:p>
        </p:txBody>
      </p:sp>
      <p:sp>
        <p:nvSpPr>
          <p:cNvPr id="3" name="object 3"/>
          <p:cNvSpPr/>
          <p:nvPr/>
        </p:nvSpPr>
        <p:spPr>
          <a:xfrm>
            <a:off x="108965" y="1579625"/>
            <a:ext cx="8784590" cy="4782820"/>
          </a:xfrm>
          <a:custGeom>
            <a:avLst/>
            <a:gdLst/>
            <a:ahLst/>
            <a:cxnLst/>
            <a:rect l="l" t="t" r="r" b="b"/>
            <a:pathLst>
              <a:path w="8784590" h="4782820">
                <a:moveTo>
                  <a:pt x="0" y="4782312"/>
                </a:moveTo>
                <a:lnTo>
                  <a:pt x="8784336" y="4782312"/>
                </a:lnTo>
                <a:lnTo>
                  <a:pt x="8784336" y="0"/>
                </a:lnTo>
                <a:lnTo>
                  <a:pt x="0" y="0"/>
                </a:lnTo>
                <a:lnTo>
                  <a:pt x="0" y="4782312"/>
                </a:lnTo>
                <a:close/>
              </a:path>
            </a:pathLst>
          </a:custGeom>
          <a:ln w="28955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6639" y="1591818"/>
            <a:ext cx="8593455" cy="4625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Once these are agreed, the team </a:t>
            </a:r>
            <a:r>
              <a:rPr sz="2900" spc="-5" dirty="0">
                <a:latin typeface="Tw Cen MT"/>
                <a:cs typeface="Tw Cen MT"/>
              </a:rPr>
              <a:t>organize themselves  </a:t>
            </a:r>
            <a:r>
              <a:rPr sz="2900" dirty="0">
                <a:latin typeface="Tw Cen MT"/>
                <a:cs typeface="Tw Cen MT"/>
              </a:rPr>
              <a:t>to </a:t>
            </a:r>
            <a:r>
              <a:rPr sz="2900" spc="-5" dirty="0">
                <a:latin typeface="Tw Cen MT"/>
                <a:cs typeface="Tw Cen MT"/>
              </a:rPr>
              <a:t>develop </a:t>
            </a:r>
            <a:r>
              <a:rPr sz="2900" dirty="0">
                <a:latin typeface="Tw Cen MT"/>
                <a:cs typeface="Tw Cen MT"/>
              </a:rPr>
              <a:t>the </a:t>
            </a:r>
            <a:r>
              <a:rPr sz="2900" spc="-15" dirty="0">
                <a:latin typeface="Tw Cen MT"/>
                <a:cs typeface="Tw Cen MT"/>
              </a:rPr>
              <a:t>software. </a:t>
            </a:r>
            <a:r>
              <a:rPr sz="2900" dirty="0">
                <a:latin typeface="Tw Cen MT"/>
                <a:cs typeface="Tw Cen MT"/>
              </a:rPr>
              <a:t>During this </a:t>
            </a:r>
            <a:r>
              <a:rPr sz="2900" spc="-10" dirty="0">
                <a:latin typeface="Tw Cen MT"/>
                <a:cs typeface="Tw Cen MT"/>
              </a:rPr>
              <a:t>stage </a:t>
            </a:r>
            <a:r>
              <a:rPr sz="2900" dirty="0">
                <a:latin typeface="Tw Cen MT"/>
                <a:cs typeface="Tw Cen MT"/>
              </a:rPr>
              <a:t>the team </a:t>
            </a:r>
            <a:r>
              <a:rPr sz="2900" spc="-5" dirty="0">
                <a:latin typeface="Tw Cen MT"/>
                <a:cs typeface="Tw Cen MT"/>
              </a:rPr>
              <a:t>is  </a:t>
            </a:r>
            <a:r>
              <a:rPr sz="2900" dirty="0">
                <a:latin typeface="Tw Cen MT"/>
                <a:cs typeface="Tw Cen MT"/>
              </a:rPr>
              <a:t>isolated </a:t>
            </a:r>
            <a:r>
              <a:rPr sz="2900" spc="-15" dirty="0">
                <a:latin typeface="Tw Cen MT"/>
                <a:cs typeface="Tw Cen MT"/>
              </a:rPr>
              <a:t>from </a:t>
            </a:r>
            <a:r>
              <a:rPr sz="2900" dirty="0">
                <a:latin typeface="Tw Cen MT"/>
                <a:cs typeface="Tw Cen MT"/>
              </a:rPr>
              <a:t>the customer and the </a:t>
            </a:r>
            <a:r>
              <a:rPr sz="2900" spc="-5" dirty="0">
                <a:latin typeface="Tw Cen MT"/>
                <a:cs typeface="Tw Cen MT"/>
              </a:rPr>
              <a:t>organization, </a:t>
            </a:r>
            <a:r>
              <a:rPr sz="2900" dirty="0">
                <a:latin typeface="Tw Cen MT"/>
                <a:cs typeface="Tw Cen MT"/>
              </a:rPr>
              <a:t>with </a:t>
            </a:r>
            <a:r>
              <a:rPr sz="2900" spc="-5" dirty="0">
                <a:latin typeface="Tw Cen MT"/>
                <a:cs typeface="Tw Cen MT"/>
              </a:rPr>
              <a:t>all  </a:t>
            </a:r>
            <a:r>
              <a:rPr sz="2900" spc="5" dirty="0">
                <a:latin typeface="Tw Cen MT"/>
                <a:cs typeface="Tw Cen MT"/>
              </a:rPr>
              <a:t>communications </a:t>
            </a:r>
            <a:r>
              <a:rPr sz="2900" spc="10" dirty="0">
                <a:latin typeface="Tw Cen MT"/>
                <a:cs typeface="Tw Cen MT"/>
              </a:rPr>
              <a:t>channelled </a:t>
            </a:r>
            <a:r>
              <a:rPr sz="2900" spc="-10" dirty="0">
                <a:latin typeface="Tw Cen MT"/>
                <a:cs typeface="Tw Cen MT"/>
              </a:rPr>
              <a:t>through </a:t>
            </a:r>
            <a:r>
              <a:rPr sz="2900" dirty="0">
                <a:latin typeface="Tw Cen MT"/>
                <a:cs typeface="Tw Cen MT"/>
              </a:rPr>
              <a:t>the so-called </a:t>
            </a:r>
            <a:r>
              <a:rPr sz="2900" spc="5" dirty="0">
                <a:latin typeface="Tw Cen MT"/>
                <a:cs typeface="Tw Cen MT"/>
              </a:rPr>
              <a:t>‘Scrum  </a:t>
            </a:r>
            <a:r>
              <a:rPr sz="2900" dirty="0">
                <a:latin typeface="Tw Cen MT"/>
                <a:cs typeface="Tw Cen MT"/>
              </a:rPr>
              <a:t>master’.</a:t>
            </a:r>
            <a:endParaRPr sz="2900">
              <a:latin typeface="Tw Cen MT"/>
              <a:cs typeface="Tw Cen MT"/>
            </a:endParaRPr>
          </a:p>
          <a:p>
            <a:pPr marL="332740" marR="1632585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The </a:t>
            </a:r>
            <a:r>
              <a:rPr sz="2900" spc="-15" dirty="0">
                <a:latin typeface="Tw Cen MT"/>
                <a:cs typeface="Tw Cen MT"/>
              </a:rPr>
              <a:t>role </a:t>
            </a:r>
            <a:r>
              <a:rPr sz="2900" dirty="0">
                <a:latin typeface="Tw Cen MT"/>
                <a:cs typeface="Tw Cen MT"/>
              </a:rPr>
              <a:t>of the </a:t>
            </a:r>
            <a:r>
              <a:rPr sz="2900" spc="10" dirty="0">
                <a:latin typeface="Tw Cen MT"/>
                <a:cs typeface="Tw Cen MT"/>
              </a:rPr>
              <a:t>Scrum </a:t>
            </a:r>
            <a:r>
              <a:rPr sz="2900" dirty="0">
                <a:latin typeface="Tw Cen MT"/>
                <a:cs typeface="Tw Cen MT"/>
              </a:rPr>
              <a:t>master </a:t>
            </a:r>
            <a:r>
              <a:rPr sz="2900" spc="-5" dirty="0">
                <a:latin typeface="Tw Cen MT"/>
                <a:cs typeface="Tw Cen MT"/>
              </a:rPr>
              <a:t>is </a:t>
            </a:r>
            <a:r>
              <a:rPr sz="2900" dirty="0">
                <a:latin typeface="Tw Cen MT"/>
                <a:cs typeface="Tw Cen MT"/>
              </a:rPr>
              <a:t>to </a:t>
            </a:r>
            <a:r>
              <a:rPr sz="2900" spc="-10" dirty="0">
                <a:latin typeface="Tw Cen MT"/>
                <a:cs typeface="Tw Cen MT"/>
              </a:rPr>
              <a:t>protect </a:t>
            </a:r>
            <a:r>
              <a:rPr sz="2900" dirty="0">
                <a:latin typeface="Tw Cen MT"/>
                <a:cs typeface="Tw Cen MT"/>
              </a:rPr>
              <a:t>the  </a:t>
            </a:r>
            <a:r>
              <a:rPr sz="2900" spc="-5" dirty="0">
                <a:latin typeface="Tw Cen MT"/>
                <a:cs typeface="Tw Cen MT"/>
              </a:rPr>
              <a:t>development </a:t>
            </a:r>
            <a:r>
              <a:rPr sz="2900" dirty="0">
                <a:latin typeface="Tw Cen MT"/>
                <a:cs typeface="Tw Cen MT"/>
              </a:rPr>
              <a:t>team </a:t>
            </a:r>
            <a:r>
              <a:rPr sz="2900" spc="-15" dirty="0">
                <a:latin typeface="Tw Cen MT"/>
                <a:cs typeface="Tw Cen MT"/>
              </a:rPr>
              <a:t>from </a:t>
            </a:r>
            <a:r>
              <a:rPr sz="2900" spc="-5" dirty="0">
                <a:latin typeface="Tw Cen MT"/>
                <a:cs typeface="Tw Cen MT"/>
              </a:rPr>
              <a:t>external</a:t>
            </a:r>
            <a:r>
              <a:rPr sz="2900" spc="25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distractions.</a:t>
            </a:r>
            <a:endParaRPr sz="2900">
              <a:latin typeface="Tw Cen MT"/>
              <a:cs typeface="Tw Cen MT"/>
            </a:endParaRPr>
          </a:p>
          <a:p>
            <a:pPr marL="332740" marR="163830" indent="-320040">
              <a:lnSpc>
                <a:spcPct val="100000"/>
              </a:lnSpc>
              <a:spcBef>
                <a:spcPts val="71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sz="2900" dirty="0">
                <a:latin typeface="Tw Cen MT"/>
                <a:cs typeface="Tw Cen MT"/>
              </a:rPr>
              <a:t>At the end of the </a:t>
            </a:r>
            <a:r>
              <a:rPr sz="2900" spc="-5" dirty="0">
                <a:latin typeface="Tw Cen MT"/>
                <a:cs typeface="Tw Cen MT"/>
              </a:rPr>
              <a:t>sprint, </a:t>
            </a:r>
            <a:r>
              <a:rPr sz="2900" dirty="0">
                <a:latin typeface="Tw Cen MT"/>
                <a:cs typeface="Tw Cen MT"/>
              </a:rPr>
              <a:t>the work done </a:t>
            </a:r>
            <a:r>
              <a:rPr sz="2900" spc="-5" dirty="0">
                <a:latin typeface="Tw Cen MT"/>
                <a:cs typeface="Tw Cen MT"/>
              </a:rPr>
              <a:t>is </a:t>
            </a:r>
            <a:r>
              <a:rPr sz="2900" spc="-15" dirty="0">
                <a:latin typeface="Tw Cen MT"/>
                <a:cs typeface="Tw Cen MT"/>
              </a:rPr>
              <a:t>reviewed </a:t>
            </a:r>
            <a:r>
              <a:rPr sz="2900" dirty="0">
                <a:latin typeface="Tw Cen MT"/>
                <a:cs typeface="Tw Cen MT"/>
              </a:rPr>
              <a:t>and  presented to </a:t>
            </a:r>
            <a:r>
              <a:rPr sz="2900" spc="-5" dirty="0">
                <a:latin typeface="Tw Cen MT"/>
                <a:cs typeface="Tw Cen MT"/>
              </a:rPr>
              <a:t>stakeholders. </a:t>
            </a:r>
            <a:r>
              <a:rPr sz="2900" dirty="0">
                <a:latin typeface="Tw Cen MT"/>
                <a:cs typeface="Tw Cen MT"/>
              </a:rPr>
              <a:t>The </a:t>
            </a:r>
            <a:r>
              <a:rPr sz="2900" spc="-20" dirty="0">
                <a:latin typeface="Tw Cen MT"/>
                <a:cs typeface="Tw Cen MT"/>
              </a:rPr>
              <a:t>next </a:t>
            </a:r>
            <a:r>
              <a:rPr sz="2900" dirty="0">
                <a:latin typeface="Tw Cen MT"/>
                <a:cs typeface="Tw Cen MT"/>
              </a:rPr>
              <a:t>sprint </a:t>
            </a:r>
            <a:r>
              <a:rPr sz="2900" spc="-15" dirty="0">
                <a:latin typeface="Tw Cen MT"/>
                <a:cs typeface="Tw Cen MT"/>
              </a:rPr>
              <a:t>cycle </a:t>
            </a:r>
            <a:r>
              <a:rPr sz="2900" dirty="0">
                <a:latin typeface="Tw Cen MT"/>
                <a:cs typeface="Tw Cen MT"/>
              </a:rPr>
              <a:t>then  </a:t>
            </a:r>
            <a:r>
              <a:rPr sz="2900" spc="-5" dirty="0">
                <a:latin typeface="Tw Cen MT"/>
                <a:cs typeface="Tw Cen MT"/>
              </a:rPr>
              <a:t>begins.</a:t>
            </a:r>
            <a:endParaRPr sz="29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73195" y="6484416"/>
            <a:ext cx="75501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140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1614" y="5084447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4895" y="4953000"/>
            <a:ext cx="485140" cy="56578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46685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15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9527" y="4953000"/>
            <a:ext cx="4628515" cy="565785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91770" rIns="0" bIns="0" rtlCol="0">
            <a:spAutoFit/>
          </a:bodyPr>
          <a:lstStyle/>
          <a:p>
            <a:pPr marR="404495" algn="ctr">
              <a:lnSpc>
                <a:spcPct val="100000"/>
              </a:lnSpc>
              <a:spcBef>
                <a:spcPts val="151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69261" y="4345307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3560" y="4195571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0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18004" y="4195571"/>
            <a:ext cx="4628515" cy="601980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67640" rIns="0" bIns="0" rtlCol="0">
            <a:spAutoFit/>
          </a:bodyPr>
          <a:lstStyle/>
          <a:p>
            <a:pPr marL="1173480">
              <a:lnSpc>
                <a:spcPct val="100000"/>
              </a:lnSpc>
              <a:spcBef>
                <a:spcPts val="1320"/>
              </a:spcBef>
            </a:pP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项目进度规划模型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53514" y="3578803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96795" y="3429000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1239" y="3429000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进度计划编排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53514" y="278657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6795" y="2636520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01239" y="2636520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640" rIns="0" bIns="0" rtlCol="0">
            <a:spAutoFit/>
          </a:bodyPr>
          <a:lstStyle/>
          <a:p>
            <a:pPr marR="445134" algn="ctr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任务历时估算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47036" y="1994097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90700" y="1844039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210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95144" y="1844039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640" rIns="0" bIns="0" rtlCol="0">
            <a:spAutoFit/>
          </a:bodyPr>
          <a:lstStyle/>
          <a:p>
            <a:pPr marL="1174115">
              <a:lnSpc>
                <a:spcPct val="100000"/>
              </a:lnSpc>
              <a:spcBef>
                <a:spcPts val="1320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进度管理基本概念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45002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项目进度计划过程</a:t>
            </a:r>
          </a:p>
        </p:txBody>
      </p:sp>
      <p:sp>
        <p:nvSpPr>
          <p:cNvPr id="3" name="object 3"/>
          <p:cNvSpPr/>
          <p:nvPr/>
        </p:nvSpPr>
        <p:spPr>
          <a:xfrm>
            <a:off x="465581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92" y="0"/>
                </a:lnTo>
                <a:lnTo>
                  <a:pt x="79209" y="10187"/>
                </a:lnTo>
                <a:lnTo>
                  <a:pt x="37985" y="37973"/>
                </a:lnTo>
                <a:lnTo>
                  <a:pt x="10191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91" y="1217735"/>
                </a:lnTo>
                <a:lnTo>
                  <a:pt x="37985" y="1258951"/>
                </a:lnTo>
                <a:lnTo>
                  <a:pt x="79209" y="1286736"/>
                </a:lnTo>
                <a:lnTo>
                  <a:pt x="129692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9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22147" y="2588513"/>
            <a:ext cx="14458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华文仿宋"/>
                <a:cs typeface="华文仿宋"/>
              </a:rPr>
              <a:t>任务定义</a:t>
            </a:r>
            <a:endParaRPr sz="2800">
              <a:latin typeface="华文仿宋"/>
              <a:cs typeface="华文仿宋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16351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246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2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2" y="1258951"/>
                </a:lnTo>
                <a:lnTo>
                  <a:pt x="79188" y="1286736"/>
                </a:lnTo>
                <a:lnTo>
                  <a:pt x="129666" y="1296924"/>
                </a:lnTo>
                <a:lnTo>
                  <a:pt x="2031364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949953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任务关系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843015" y="2593848"/>
            <a:ext cx="459105" cy="536575"/>
          </a:xfrm>
          <a:custGeom>
            <a:avLst/>
            <a:gdLst/>
            <a:ahLst/>
            <a:cxnLst/>
            <a:rect l="l" t="t" r="r" b="b"/>
            <a:pathLst>
              <a:path w="459104" h="536575">
                <a:moveTo>
                  <a:pt x="229362" y="0"/>
                </a:moveTo>
                <a:lnTo>
                  <a:pt x="229362" y="107314"/>
                </a:lnTo>
                <a:lnTo>
                  <a:pt x="0" y="107314"/>
                </a:lnTo>
                <a:lnTo>
                  <a:pt x="0" y="429132"/>
                </a:lnTo>
                <a:lnTo>
                  <a:pt x="229362" y="429132"/>
                </a:lnTo>
                <a:lnTo>
                  <a:pt x="229362" y="536448"/>
                </a:lnTo>
                <a:lnTo>
                  <a:pt x="458724" y="268224"/>
                </a:lnTo>
                <a:lnTo>
                  <a:pt x="229362" y="0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518909" y="2215133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5" y="0"/>
                </a:moveTo>
                <a:lnTo>
                  <a:pt x="129667" y="0"/>
                </a:lnTo>
                <a:lnTo>
                  <a:pt x="79188" y="10187"/>
                </a:lnTo>
                <a:lnTo>
                  <a:pt x="37973" y="37973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35"/>
                </a:lnTo>
                <a:lnTo>
                  <a:pt x="37973" y="1258951"/>
                </a:lnTo>
                <a:lnTo>
                  <a:pt x="79188" y="1286736"/>
                </a:lnTo>
                <a:lnTo>
                  <a:pt x="129667" y="1296924"/>
                </a:lnTo>
                <a:lnTo>
                  <a:pt x="2031365" y="1296924"/>
                </a:lnTo>
                <a:lnTo>
                  <a:pt x="2081843" y="1286736"/>
                </a:lnTo>
                <a:lnTo>
                  <a:pt x="2123058" y="1258951"/>
                </a:lnTo>
                <a:lnTo>
                  <a:pt x="2150844" y="1217735"/>
                </a:lnTo>
                <a:lnTo>
                  <a:pt x="2161032" y="1167256"/>
                </a:lnTo>
                <a:lnTo>
                  <a:pt x="2161032" y="129666"/>
                </a:lnTo>
                <a:lnTo>
                  <a:pt x="2150844" y="79188"/>
                </a:lnTo>
                <a:lnTo>
                  <a:pt x="2123059" y="37973"/>
                </a:lnTo>
                <a:lnTo>
                  <a:pt x="2081843" y="10187"/>
                </a:lnTo>
                <a:lnTo>
                  <a:pt x="2031365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976998" y="2625928"/>
            <a:ext cx="12446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历时估算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334122" y="3698366"/>
            <a:ext cx="536575" cy="453390"/>
          </a:xfrm>
          <a:custGeom>
            <a:avLst/>
            <a:gdLst/>
            <a:ahLst/>
            <a:cxnLst/>
            <a:rect l="l" t="t" r="r" b="b"/>
            <a:pathLst>
              <a:path w="536575" h="453389">
                <a:moveTo>
                  <a:pt x="428117" y="0"/>
                </a:moveTo>
                <a:lnTo>
                  <a:pt x="106425" y="1015"/>
                </a:lnTo>
                <a:lnTo>
                  <a:pt x="107315" y="227456"/>
                </a:lnTo>
                <a:lnTo>
                  <a:pt x="0" y="227710"/>
                </a:lnTo>
                <a:lnTo>
                  <a:pt x="268858" y="453262"/>
                </a:lnTo>
                <a:lnTo>
                  <a:pt x="535745" y="226313"/>
                </a:lnTo>
                <a:lnTo>
                  <a:pt x="428878" y="226313"/>
                </a:lnTo>
                <a:lnTo>
                  <a:pt x="428117" y="0"/>
                </a:lnTo>
                <a:close/>
              </a:path>
              <a:path w="536575" h="453389">
                <a:moveTo>
                  <a:pt x="536194" y="225932"/>
                </a:moveTo>
                <a:lnTo>
                  <a:pt x="428878" y="226313"/>
                </a:lnTo>
                <a:lnTo>
                  <a:pt x="535745" y="226313"/>
                </a:lnTo>
                <a:lnTo>
                  <a:pt x="536194" y="225932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525006" y="4365497"/>
            <a:ext cx="2162810" cy="1277620"/>
          </a:xfrm>
          <a:custGeom>
            <a:avLst/>
            <a:gdLst/>
            <a:ahLst/>
            <a:cxnLst/>
            <a:rect l="l" t="t" r="r" b="b"/>
            <a:pathLst>
              <a:path w="2162809" h="1277620">
                <a:moveTo>
                  <a:pt x="2034794" y="0"/>
                </a:moveTo>
                <a:lnTo>
                  <a:pt x="127762" y="0"/>
                </a:lnTo>
                <a:lnTo>
                  <a:pt x="78009" y="10033"/>
                </a:lnTo>
                <a:lnTo>
                  <a:pt x="37401" y="37401"/>
                </a:lnTo>
                <a:lnTo>
                  <a:pt x="10032" y="78009"/>
                </a:lnTo>
                <a:lnTo>
                  <a:pt x="0" y="127762"/>
                </a:lnTo>
                <a:lnTo>
                  <a:pt x="0" y="1149349"/>
                </a:lnTo>
                <a:lnTo>
                  <a:pt x="10033" y="1199102"/>
                </a:lnTo>
                <a:lnTo>
                  <a:pt x="37401" y="1239710"/>
                </a:lnTo>
                <a:lnTo>
                  <a:pt x="78009" y="1267079"/>
                </a:lnTo>
                <a:lnTo>
                  <a:pt x="127762" y="1277111"/>
                </a:lnTo>
                <a:lnTo>
                  <a:pt x="2034794" y="1277111"/>
                </a:lnTo>
                <a:lnTo>
                  <a:pt x="2084546" y="1267079"/>
                </a:lnTo>
                <a:lnTo>
                  <a:pt x="2125154" y="1239710"/>
                </a:lnTo>
                <a:lnTo>
                  <a:pt x="2152523" y="1199102"/>
                </a:lnTo>
                <a:lnTo>
                  <a:pt x="2162555" y="1149349"/>
                </a:lnTo>
                <a:lnTo>
                  <a:pt x="2162555" y="127762"/>
                </a:lnTo>
                <a:lnTo>
                  <a:pt x="2152523" y="78009"/>
                </a:lnTo>
                <a:lnTo>
                  <a:pt x="2125154" y="37401"/>
                </a:lnTo>
                <a:lnTo>
                  <a:pt x="2084546" y="10033"/>
                </a:lnTo>
                <a:lnTo>
                  <a:pt x="203479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680454" y="4767148"/>
            <a:ext cx="18542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华文仿宋"/>
                <a:cs typeface="华文仿宋"/>
              </a:rPr>
              <a:t>项目进度编排</a:t>
            </a:r>
            <a:endParaRPr sz="2400">
              <a:latin typeface="华文仿宋"/>
              <a:cs typeface="华文仿宋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70955" y="4745609"/>
            <a:ext cx="463550" cy="536575"/>
          </a:xfrm>
          <a:custGeom>
            <a:avLst/>
            <a:gdLst/>
            <a:ahLst/>
            <a:cxnLst/>
            <a:rect l="l" t="t" r="r" b="b"/>
            <a:pathLst>
              <a:path w="463550" h="536575">
                <a:moveTo>
                  <a:pt x="229235" y="0"/>
                </a:moveTo>
                <a:lnTo>
                  <a:pt x="0" y="269621"/>
                </a:lnTo>
                <a:lnTo>
                  <a:pt x="232918" y="536067"/>
                </a:lnTo>
                <a:lnTo>
                  <a:pt x="232156" y="428879"/>
                </a:lnTo>
                <a:lnTo>
                  <a:pt x="463296" y="427228"/>
                </a:lnTo>
                <a:lnTo>
                  <a:pt x="461021" y="107188"/>
                </a:lnTo>
                <a:lnTo>
                  <a:pt x="229870" y="107188"/>
                </a:lnTo>
                <a:lnTo>
                  <a:pt x="229235" y="0"/>
                </a:lnTo>
                <a:close/>
              </a:path>
              <a:path w="463550" h="536575">
                <a:moveTo>
                  <a:pt x="461010" y="105537"/>
                </a:moveTo>
                <a:lnTo>
                  <a:pt x="229870" y="107188"/>
                </a:lnTo>
                <a:lnTo>
                  <a:pt x="461021" y="107188"/>
                </a:lnTo>
                <a:lnTo>
                  <a:pt x="461010" y="105537"/>
                </a:lnTo>
                <a:close/>
              </a:path>
            </a:pathLst>
          </a:custGeom>
          <a:solidFill>
            <a:srgbClr val="C7D6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492246" y="4376165"/>
            <a:ext cx="2161540" cy="1297305"/>
          </a:xfrm>
          <a:custGeom>
            <a:avLst/>
            <a:gdLst/>
            <a:ahLst/>
            <a:cxnLst/>
            <a:rect l="l" t="t" r="r" b="b"/>
            <a:pathLst>
              <a:path w="2161540" h="1297304">
                <a:moveTo>
                  <a:pt x="2031364" y="0"/>
                </a:moveTo>
                <a:lnTo>
                  <a:pt x="129666" y="0"/>
                </a:lnTo>
                <a:lnTo>
                  <a:pt x="79188" y="10187"/>
                </a:lnTo>
                <a:lnTo>
                  <a:pt x="37973" y="37972"/>
                </a:lnTo>
                <a:lnTo>
                  <a:pt x="10187" y="79188"/>
                </a:lnTo>
                <a:lnTo>
                  <a:pt x="0" y="129666"/>
                </a:lnTo>
                <a:lnTo>
                  <a:pt x="0" y="1167256"/>
                </a:lnTo>
                <a:lnTo>
                  <a:pt x="10187" y="1217724"/>
                </a:lnTo>
                <a:lnTo>
                  <a:pt x="37972" y="1258941"/>
                </a:lnTo>
                <a:lnTo>
                  <a:pt x="79188" y="1286732"/>
                </a:lnTo>
                <a:lnTo>
                  <a:pt x="129666" y="1296923"/>
                </a:lnTo>
                <a:lnTo>
                  <a:pt x="2031364" y="1296923"/>
                </a:lnTo>
                <a:lnTo>
                  <a:pt x="2081843" y="1286732"/>
                </a:lnTo>
                <a:lnTo>
                  <a:pt x="2123058" y="1258941"/>
                </a:lnTo>
                <a:lnTo>
                  <a:pt x="2150844" y="1217724"/>
                </a:lnTo>
                <a:lnTo>
                  <a:pt x="2161031" y="1167256"/>
                </a:lnTo>
                <a:lnTo>
                  <a:pt x="2161031" y="129666"/>
                </a:lnTo>
                <a:lnTo>
                  <a:pt x="2150844" y="79188"/>
                </a:lnTo>
                <a:lnTo>
                  <a:pt x="2123059" y="37972"/>
                </a:lnTo>
                <a:lnTo>
                  <a:pt x="2081843" y="10187"/>
                </a:lnTo>
                <a:lnTo>
                  <a:pt x="2031364" y="0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565397" y="4367021"/>
            <a:ext cx="2086610" cy="1365885"/>
          </a:xfrm>
          <a:prstGeom prst="rect">
            <a:avLst/>
          </a:prstGeom>
          <a:ln w="19811">
            <a:solidFill>
              <a:srgbClr val="FF0000"/>
            </a:solidFill>
          </a:ln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华文仿宋"/>
                <a:cs typeface="华文仿宋"/>
              </a:rPr>
              <a:t>项目进度确定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030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软件项目进度问题</a:t>
            </a:r>
            <a:r>
              <a:rPr i="1" dirty="0">
                <a:latin typeface="华文隶书"/>
                <a:cs typeface="华文隶书"/>
              </a:rPr>
              <a:t>(SPSP)</a:t>
            </a:r>
            <a:r>
              <a:rPr dirty="0">
                <a:latin typeface="华文隶书"/>
                <a:cs typeface="华文隶书"/>
              </a:rPr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22672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5477" y="1864995"/>
            <a:ext cx="8369934" cy="2478405"/>
          </a:xfrm>
          <a:custGeom>
            <a:avLst/>
            <a:gdLst/>
            <a:ahLst/>
            <a:cxnLst/>
            <a:rect l="l" t="t" r="r" b="b"/>
            <a:pathLst>
              <a:path w="8369934" h="2478404">
                <a:moveTo>
                  <a:pt x="0" y="2478023"/>
                </a:moveTo>
                <a:lnTo>
                  <a:pt x="8369808" y="2478023"/>
                </a:lnTo>
                <a:lnTo>
                  <a:pt x="8369808" y="0"/>
                </a:lnTo>
                <a:lnTo>
                  <a:pt x="0" y="0"/>
                </a:lnTo>
                <a:lnTo>
                  <a:pt x="0" y="2478023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74065" y="1704848"/>
            <a:ext cx="8133715" cy="26273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5"/>
              </a:spcBef>
            </a:pPr>
            <a:r>
              <a:rPr sz="2900" dirty="0">
                <a:latin typeface="华文新魏"/>
                <a:cs typeface="华文新魏"/>
              </a:rPr>
              <a:t>软件项目进度问题（Software</a:t>
            </a:r>
            <a:r>
              <a:rPr sz="2900" spc="-3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Project</a:t>
            </a:r>
            <a:r>
              <a:rPr sz="2900" spc="-15" dirty="0">
                <a:latin typeface="华文新魏"/>
                <a:cs typeface="华文新魏"/>
              </a:rPr>
              <a:t> </a:t>
            </a:r>
            <a:r>
              <a:rPr sz="2900" dirty="0">
                <a:latin typeface="华文新魏"/>
                <a:cs typeface="华文新魏"/>
              </a:rPr>
              <a:t>Scheduling  Problem，SPSP）模型是在给定</a:t>
            </a:r>
            <a:r>
              <a:rPr sz="2900" spc="-10" dirty="0">
                <a:latin typeface="华文新魏"/>
                <a:cs typeface="华文新魏"/>
              </a:rPr>
              <a:t>的</a:t>
            </a:r>
            <a:r>
              <a:rPr sz="2900" dirty="0">
                <a:latin typeface="华文新魏"/>
                <a:cs typeface="华文新魏"/>
              </a:rPr>
              <a:t>项目</a:t>
            </a:r>
            <a:r>
              <a:rPr sz="2900" spc="-10" dirty="0">
                <a:latin typeface="华文新魏"/>
                <a:cs typeface="华文新魏"/>
              </a:rPr>
              <a:t>任</a:t>
            </a:r>
            <a:r>
              <a:rPr sz="2900" dirty="0">
                <a:latin typeface="华文新魏"/>
                <a:cs typeface="华文新魏"/>
              </a:rPr>
              <a:t>务工</a:t>
            </a:r>
            <a:r>
              <a:rPr sz="2900" spc="-10" dirty="0">
                <a:latin typeface="华文新魏"/>
                <a:cs typeface="华文新魏"/>
              </a:rPr>
              <a:t>作</a:t>
            </a:r>
            <a:r>
              <a:rPr sz="2900" spc="5" dirty="0">
                <a:latin typeface="华文新魏"/>
                <a:cs typeface="华文新魏"/>
              </a:rPr>
              <a:t>量 </a:t>
            </a:r>
            <a:r>
              <a:rPr sz="2900" dirty="0">
                <a:latin typeface="华文新魏"/>
                <a:cs typeface="华文新魏"/>
              </a:rPr>
              <a:t>及其关系和资源限制下</a:t>
            </a:r>
            <a:r>
              <a:rPr sz="2900" spc="-15" dirty="0">
                <a:latin typeface="华文新魏"/>
                <a:cs typeface="华文新魏"/>
              </a:rPr>
              <a:t>，</a:t>
            </a:r>
            <a:r>
              <a:rPr sz="2900" dirty="0">
                <a:latin typeface="华文新魏"/>
                <a:cs typeface="华文新魏"/>
              </a:rPr>
              <a:t>对项</a:t>
            </a:r>
            <a:r>
              <a:rPr sz="2900" spc="-15" dirty="0">
                <a:latin typeface="华文新魏"/>
                <a:cs typeface="华文新魏"/>
              </a:rPr>
              <a:t>目</a:t>
            </a:r>
            <a:r>
              <a:rPr sz="2900" dirty="0">
                <a:latin typeface="华文新魏"/>
                <a:cs typeface="华文新魏"/>
              </a:rPr>
              <a:t>确定</a:t>
            </a:r>
            <a:r>
              <a:rPr sz="2900" spc="-15" dirty="0">
                <a:latin typeface="华文新魏"/>
                <a:cs typeface="华文新魏"/>
              </a:rPr>
              <a:t>合</a:t>
            </a:r>
            <a:r>
              <a:rPr sz="2900" dirty="0">
                <a:latin typeface="华文新魏"/>
                <a:cs typeface="华文新魏"/>
              </a:rPr>
              <a:t>适的</a:t>
            </a:r>
            <a:r>
              <a:rPr sz="2900" spc="-15" dirty="0">
                <a:latin typeface="华文新魏"/>
                <a:cs typeface="华文新魏"/>
              </a:rPr>
              <a:t>人</a:t>
            </a:r>
            <a:r>
              <a:rPr sz="2900" dirty="0">
                <a:latin typeface="华文新魏"/>
                <a:cs typeface="华文新魏"/>
              </a:rPr>
              <a:t>员安 排，以保证项目的时间</a:t>
            </a:r>
            <a:r>
              <a:rPr sz="2900" spc="-15" dirty="0">
                <a:latin typeface="华文新魏"/>
                <a:cs typeface="华文新魏"/>
              </a:rPr>
              <a:t>最</a:t>
            </a:r>
            <a:r>
              <a:rPr sz="2900" dirty="0">
                <a:latin typeface="华文新魏"/>
                <a:cs typeface="华文新魏"/>
              </a:rPr>
              <a:t>短、</a:t>
            </a:r>
            <a:r>
              <a:rPr sz="2900" spc="-15" dirty="0">
                <a:latin typeface="华文新魏"/>
                <a:cs typeface="华文新魏"/>
              </a:rPr>
              <a:t>成</a:t>
            </a:r>
            <a:r>
              <a:rPr sz="2900" dirty="0">
                <a:latin typeface="华文新魏"/>
                <a:cs typeface="华文新魏"/>
              </a:rPr>
              <a:t>本最</a:t>
            </a:r>
            <a:r>
              <a:rPr sz="2900" spc="-15" dirty="0">
                <a:latin typeface="华文新魏"/>
                <a:cs typeface="华文新魏"/>
              </a:rPr>
              <a:t>小</a:t>
            </a:r>
            <a:r>
              <a:rPr sz="2900" dirty="0">
                <a:latin typeface="华文新魏"/>
                <a:cs typeface="华文新魏"/>
              </a:rPr>
              <a:t>。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0307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软件项目进度问题</a:t>
            </a:r>
            <a:r>
              <a:rPr i="1" dirty="0">
                <a:latin typeface="华文隶书"/>
                <a:cs typeface="华文隶书"/>
              </a:rPr>
              <a:t>(SPSP)</a:t>
            </a:r>
            <a:r>
              <a:rPr dirty="0">
                <a:latin typeface="华文隶书"/>
                <a:cs typeface="华文隶书"/>
              </a:rPr>
              <a:t>模型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3605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77214" y="1776848"/>
            <a:ext cx="2942559" cy="13423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58384" y="1636041"/>
            <a:ext cx="2881884" cy="168323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634740" y="3701796"/>
            <a:ext cx="4608575" cy="26670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0258" y="3525773"/>
            <a:ext cx="7993380" cy="97155"/>
          </a:xfrm>
          <a:custGeom>
            <a:avLst/>
            <a:gdLst/>
            <a:ahLst/>
            <a:cxnLst/>
            <a:rect l="l" t="t" r="r" b="b"/>
            <a:pathLst>
              <a:path w="7993380" h="97154">
                <a:moveTo>
                  <a:pt x="0" y="96900"/>
                </a:moveTo>
                <a:lnTo>
                  <a:pt x="799299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32172" y="1545412"/>
            <a:ext cx="427355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latin typeface="Arial Narrow"/>
                <a:cs typeface="Arial Narrow"/>
              </a:rPr>
              <a:t>+</a:t>
            </a:r>
            <a:endParaRPr sz="6600">
              <a:latin typeface="Arial Narrow"/>
              <a:cs typeface="Arial Narro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2222" y="3702558"/>
            <a:ext cx="3863340" cy="1997710"/>
          </a:xfrm>
          <a:custGeom>
            <a:avLst/>
            <a:gdLst/>
            <a:ahLst/>
            <a:cxnLst/>
            <a:rect l="l" t="t" r="r" b="b"/>
            <a:pathLst>
              <a:path w="3863340" h="1997710">
                <a:moveTo>
                  <a:pt x="2400300" y="1453896"/>
                </a:moveTo>
                <a:lnTo>
                  <a:pt x="1680210" y="1453896"/>
                </a:lnTo>
                <a:lnTo>
                  <a:pt x="3862831" y="1997481"/>
                </a:lnTo>
                <a:lnTo>
                  <a:pt x="2400300" y="1453896"/>
                </a:lnTo>
                <a:close/>
              </a:path>
              <a:path w="3863340" h="1997710">
                <a:moveTo>
                  <a:pt x="2638044" y="0"/>
                </a:moveTo>
                <a:lnTo>
                  <a:pt x="242315" y="0"/>
                </a:lnTo>
                <a:lnTo>
                  <a:pt x="193483" y="4921"/>
                </a:lnTo>
                <a:lnTo>
                  <a:pt x="147998" y="19038"/>
                </a:lnTo>
                <a:lnTo>
                  <a:pt x="106838" y="41375"/>
                </a:lnTo>
                <a:lnTo>
                  <a:pt x="70975" y="70961"/>
                </a:lnTo>
                <a:lnTo>
                  <a:pt x="41385" y="106821"/>
                </a:lnTo>
                <a:lnTo>
                  <a:pt x="19043" y="147982"/>
                </a:lnTo>
                <a:lnTo>
                  <a:pt x="4923" y="193472"/>
                </a:lnTo>
                <a:lnTo>
                  <a:pt x="0" y="242316"/>
                </a:lnTo>
                <a:lnTo>
                  <a:pt x="0" y="1211580"/>
                </a:lnTo>
                <a:lnTo>
                  <a:pt x="4923" y="1260423"/>
                </a:lnTo>
                <a:lnTo>
                  <a:pt x="19043" y="1305913"/>
                </a:lnTo>
                <a:lnTo>
                  <a:pt x="41385" y="1347074"/>
                </a:lnTo>
                <a:lnTo>
                  <a:pt x="70975" y="1382934"/>
                </a:lnTo>
                <a:lnTo>
                  <a:pt x="106838" y="1412520"/>
                </a:lnTo>
                <a:lnTo>
                  <a:pt x="147998" y="1434857"/>
                </a:lnTo>
                <a:lnTo>
                  <a:pt x="193483" y="1448974"/>
                </a:lnTo>
                <a:lnTo>
                  <a:pt x="242315" y="1453896"/>
                </a:lnTo>
                <a:lnTo>
                  <a:pt x="2638044" y="1453896"/>
                </a:lnTo>
                <a:lnTo>
                  <a:pt x="2686887" y="1448974"/>
                </a:lnTo>
                <a:lnTo>
                  <a:pt x="2732377" y="1434857"/>
                </a:lnTo>
                <a:lnTo>
                  <a:pt x="2773538" y="1412520"/>
                </a:lnTo>
                <a:lnTo>
                  <a:pt x="2809398" y="1382934"/>
                </a:lnTo>
                <a:lnTo>
                  <a:pt x="2838984" y="1347074"/>
                </a:lnTo>
                <a:lnTo>
                  <a:pt x="2861321" y="1305913"/>
                </a:lnTo>
                <a:lnTo>
                  <a:pt x="2875438" y="1260423"/>
                </a:lnTo>
                <a:lnTo>
                  <a:pt x="2880360" y="1211580"/>
                </a:lnTo>
                <a:lnTo>
                  <a:pt x="2880360" y="242316"/>
                </a:lnTo>
                <a:lnTo>
                  <a:pt x="2875438" y="193472"/>
                </a:lnTo>
                <a:lnTo>
                  <a:pt x="2861321" y="147982"/>
                </a:lnTo>
                <a:lnTo>
                  <a:pt x="2838984" y="106821"/>
                </a:lnTo>
                <a:lnTo>
                  <a:pt x="2809398" y="70961"/>
                </a:lnTo>
                <a:lnTo>
                  <a:pt x="2773538" y="41375"/>
                </a:lnTo>
                <a:lnTo>
                  <a:pt x="2732377" y="19038"/>
                </a:lnTo>
                <a:lnTo>
                  <a:pt x="2686887" y="4921"/>
                </a:lnTo>
                <a:lnTo>
                  <a:pt x="2638044" y="0"/>
                </a:lnTo>
                <a:close/>
              </a:path>
            </a:pathLst>
          </a:custGeom>
          <a:solidFill>
            <a:srgbClr val="64514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2222" y="3702558"/>
            <a:ext cx="3863340" cy="1997710"/>
          </a:xfrm>
          <a:custGeom>
            <a:avLst/>
            <a:gdLst/>
            <a:ahLst/>
            <a:cxnLst/>
            <a:rect l="l" t="t" r="r" b="b"/>
            <a:pathLst>
              <a:path w="3863340" h="1997710">
                <a:moveTo>
                  <a:pt x="0" y="242316"/>
                </a:moveTo>
                <a:lnTo>
                  <a:pt x="4923" y="193472"/>
                </a:lnTo>
                <a:lnTo>
                  <a:pt x="19043" y="147982"/>
                </a:lnTo>
                <a:lnTo>
                  <a:pt x="41385" y="106821"/>
                </a:lnTo>
                <a:lnTo>
                  <a:pt x="70975" y="70961"/>
                </a:lnTo>
                <a:lnTo>
                  <a:pt x="106838" y="41375"/>
                </a:lnTo>
                <a:lnTo>
                  <a:pt x="147998" y="19038"/>
                </a:lnTo>
                <a:lnTo>
                  <a:pt x="193483" y="4921"/>
                </a:lnTo>
                <a:lnTo>
                  <a:pt x="242315" y="0"/>
                </a:lnTo>
                <a:lnTo>
                  <a:pt x="1680210" y="0"/>
                </a:lnTo>
                <a:lnTo>
                  <a:pt x="2400300" y="0"/>
                </a:lnTo>
                <a:lnTo>
                  <a:pt x="2638044" y="0"/>
                </a:lnTo>
                <a:lnTo>
                  <a:pt x="2686887" y="4921"/>
                </a:lnTo>
                <a:lnTo>
                  <a:pt x="2732377" y="19038"/>
                </a:lnTo>
                <a:lnTo>
                  <a:pt x="2773538" y="41375"/>
                </a:lnTo>
                <a:lnTo>
                  <a:pt x="2809398" y="70961"/>
                </a:lnTo>
                <a:lnTo>
                  <a:pt x="2838984" y="106821"/>
                </a:lnTo>
                <a:lnTo>
                  <a:pt x="2861321" y="147982"/>
                </a:lnTo>
                <a:lnTo>
                  <a:pt x="2875438" y="193472"/>
                </a:lnTo>
                <a:lnTo>
                  <a:pt x="2880360" y="242316"/>
                </a:lnTo>
                <a:lnTo>
                  <a:pt x="2880360" y="848106"/>
                </a:lnTo>
                <a:lnTo>
                  <a:pt x="2880360" y="1211580"/>
                </a:lnTo>
                <a:lnTo>
                  <a:pt x="2875438" y="1260423"/>
                </a:lnTo>
                <a:lnTo>
                  <a:pt x="2861321" y="1305913"/>
                </a:lnTo>
                <a:lnTo>
                  <a:pt x="2838984" y="1347074"/>
                </a:lnTo>
                <a:lnTo>
                  <a:pt x="2809398" y="1382934"/>
                </a:lnTo>
                <a:lnTo>
                  <a:pt x="2773538" y="1412520"/>
                </a:lnTo>
                <a:lnTo>
                  <a:pt x="2732377" y="1434857"/>
                </a:lnTo>
                <a:lnTo>
                  <a:pt x="2686887" y="1448974"/>
                </a:lnTo>
                <a:lnTo>
                  <a:pt x="2638044" y="1453896"/>
                </a:lnTo>
                <a:lnTo>
                  <a:pt x="2400300" y="1453896"/>
                </a:lnTo>
                <a:lnTo>
                  <a:pt x="3862831" y="1997481"/>
                </a:lnTo>
                <a:lnTo>
                  <a:pt x="1680210" y="1453896"/>
                </a:lnTo>
                <a:lnTo>
                  <a:pt x="242315" y="1453896"/>
                </a:lnTo>
                <a:lnTo>
                  <a:pt x="193483" y="1448974"/>
                </a:lnTo>
                <a:lnTo>
                  <a:pt x="147998" y="1434857"/>
                </a:lnTo>
                <a:lnTo>
                  <a:pt x="106838" y="1412520"/>
                </a:lnTo>
                <a:lnTo>
                  <a:pt x="70975" y="1382934"/>
                </a:lnTo>
                <a:lnTo>
                  <a:pt x="41385" y="1347074"/>
                </a:lnTo>
                <a:lnTo>
                  <a:pt x="19043" y="1305913"/>
                </a:lnTo>
                <a:lnTo>
                  <a:pt x="4923" y="1260423"/>
                </a:lnTo>
                <a:lnTo>
                  <a:pt x="0" y="1211580"/>
                </a:lnTo>
                <a:lnTo>
                  <a:pt x="0" y="848106"/>
                </a:lnTo>
                <a:lnTo>
                  <a:pt x="0" y="242316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57301" y="3782695"/>
            <a:ext cx="246761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华文仿宋"/>
                <a:cs typeface="华文仿宋"/>
              </a:rPr>
              <a:t>目标：</a:t>
            </a:r>
            <a:r>
              <a:rPr sz="2400" b="1" spc="-5" dirty="0">
                <a:solidFill>
                  <a:srgbClr val="FF0000"/>
                </a:solidFill>
                <a:latin typeface="华文仿宋"/>
                <a:cs typeface="华文仿宋"/>
              </a:rPr>
              <a:t>时间最短、</a:t>
            </a:r>
            <a:endParaRPr sz="2400">
              <a:latin typeface="华文仿宋"/>
              <a:cs typeface="华文仿宋"/>
            </a:endParaRPr>
          </a:p>
          <a:p>
            <a:pPr marL="965200">
              <a:lnSpc>
                <a:spcPct val="100000"/>
              </a:lnSpc>
            </a:pPr>
            <a:r>
              <a:rPr sz="2400" b="1" spc="5" dirty="0">
                <a:solidFill>
                  <a:srgbClr val="FF0000"/>
                </a:solidFill>
                <a:latin typeface="华文仿宋"/>
                <a:cs typeface="华文仿宋"/>
              </a:rPr>
              <a:t>成本最低</a:t>
            </a:r>
            <a:endParaRPr sz="24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1263" y="208533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任务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43605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3733" y="2050042"/>
            <a:ext cx="8176745" cy="4268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81400" y="348570"/>
            <a:ext cx="3974101" cy="416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048000" y="221336"/>
            <a:ext cx="585470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人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33470" y="321356"/>
            <a:ext cx="560070" cy="5924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405"/>
              </a:lnSpc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员</a:t>
            </a:r>
            <a:endParaRPr sz="4400" dirty="0">
              <a:latin typeface="华文隶书"/>
              <a:cs typeface="华文隶书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12158" y="6381699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0231" y="2976357"/>
            <a:ext cx="7648249" cy="268721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93615" y="410014"/>
            <a:ext cx="2275840" cy="4613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394081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项目编排的目标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7269" y="620552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17094" y="2590800"/>
            <a:ext cx="3166077" cy="894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1170" indent="-433705">
              <a:lnSpc>
                <a:spcPct val="100000"/>
              </a:lnSpc>
              <a:spcBef>
                <a:spcPts val="95"/>
              </a:spcBef>
              <a:buSzPct val="96491"/>
              <a:buFont typeface="Symbol"/>
              <a:buChar char=""/>
              <a:tabLst>
                <a:tab pos="471805" algn="l"/>
              </a:tabLst>
            </a:pPr>
            <a:r>
              <a:rPr sz="8550" i="1" spc="-1027" baseline="-23879" dirty="0">
                <a:latin typeface="宋体"/>
                <a:cs typeface="宋体"/>
              </a:rPr>
              <a:t>w</a:t>
            </a:r>
            <a:r>
              <a:rPr sz="8550" i="1" spc="-3135" baseline="-23879" dirty="0">
                <a:latin typeface="宋体"/>
                <a:cs typeface="宋体"/>
              </a:rPr>
              <a:t> </a:t>
            </a:r>
            <a:r>
              <a:rPr sz="3300" i="1" spc="-315" dirty="0">
                <a:latin typeface="宋体"/>
                <a:cs typeface="宋体"/>
              </a:rPr>
              <a:t>len</a:t>
            </a:r>
            <a:r>
              <a:rPr sz="3300" i="1" spc="-1375" dirty="0">
                <a:latin typeface="宋体"/>
                <a:cs typeface="宋体"/>
              </a:rPr>
              <a:t> </a:t>
            </a:r>
            <a:r>
              <a:rPr sz="8550" i="1" spc="-390" baseline="-23879" dirty="0">
                <a:latin typeface="宋体"/>
                <a:cs typeface="宋体"/>
              </a:rPr>
              <a:t>p</a:t>
            </a:r>
            <a:r>
              <a:rPr sz="3300" i="1" spc="-260" dirty="0">
                <a:latin typeface="宋体"/>
                <a:cs typeface="宋体"/>
              </a:rPr>
              <a:t>len</a:t>
            </a:r>
            <a:endParaRPr sz="33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952" y="1225852"/>
            <a:ext cx="3712845" cy="2362835"/>
          </a:xfrm>
          <a:prstGeom prst="rect">
            <a:avLst/>
          </a:prstGeom>
        </p:spPr>
        <p:txBody>
          <a:bodyPr vert="horz" wrap="square" lIns="0" tIns="3498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755"/>
              </a:spcBef>
            </a:pPr>
            <a:r>
              <a:rPr sz="4800" dirty="0">
                <a:latin typeface="隶书"/>
                <a:cs typeface="隶书"/>
              </a:rPr>
              <a:t>目标函数：</a:t>
            </a:r>
          </a:p>
          <a:p>
            <a:pPr marL="94615">
              <a:lnSpc>
                <a:spcPct val="100000"/>
              </a:lnSpc>
              <a:spcBef>
                <a:spcPts val="3145"/>
              </a:spcBef>
            </a:pPr>
            <a:r>
              <a:rPr sz="5700" i="1" spc="-695" dirty="0">
                <a:latin typeface="宋体"/>
                <a:cs typeface="宋体"/>
              </a:rPr>
              <a:t>f</a:t>
            </a:r>
            <a:r>
              <a:rPr sz="5500" spc="-695" dirty="0">
                <a:latin typeface="宋体"/>
                <a:cs typeface="宋体"/>
              </a:rPr>
              <a:t>(</a:t>
            </a:r>
            <a:r>
              <a:rPr sz="5700" i="1" spc="-695" dirty="0">
                <a:latin typeface="宋体"/>
                <a:cs typeface="宋体"/>
              </a:rPr>
              <a:t>x</a:t>
            </a:r>
            <a:r>
              <a:rPr sz="5700" i="1" spc="-2375" dirty="0">
                <a:latin typeface="宋体"/>
                <a:cs typeface="宋体"/>
              </a:rPr>
              <a:t> </a:t>
            </a:r>
            <a:r>
              <a:rPr sz="5500" spc="-585" dirty="0">
                <a:latin typeface="宋体"/>
                <a:cs typeface="宋体"/>
              </a:rPr>
              <a:t>)</a:t>
            </a:r>
            <a:r>
              <a:rPr sz="5500" spc="-1515" dirty="0">
                <a:latin typeface="宋体"/>
                <a:cs typeface="宋体"/>
              </a:rPr>
              <a:t> </a:t>
            </a:r>
            <a:r>
              <a:rPr sz="5500" spc="-645" dirty="0">
                <a:latin typeface="Symbol"/>
                <a:cs typeface="Symbol"/>
              </a:rPr>
              <a:t></a:t>
            </a:r>
            <a:r>
              <a:rPr sz="5500" spc="-620" dirty="0">
                <a:latin typeface="Times New Roman"/>
                <a:cs typeface="Times New Roman"/>
              </a:rPr>
              <a:t> </a:t>
            </a:r>
            <a:r>
              <a:rPr sz="5700" i="1" spc="-685" dirty="0">
                <a:latin typeface="宋体"/>
                <a:cs typeface="宋体"/>
              </a:rPr>
              <a:t>w</a:t>
            </a:r>
            <a:r>
              <a:rPr sz="5700" i="1" spc="-1955" dirty="0">
                <a:latin typeface="宋体"/>
                <a:cs typeface="宋体"/>
              </a:rPr>
              <a:t> </a:t>
            </a:r>
            <a:r>
              <a:rPr sz="4800" spc="-540" baseline="42534" dirty="0">
                <a:latin typeface="宋体"/>
                <a:cs typeface="宋体"/>
              </a:rPr>
              <a:t>cos</a:t>
            </a:r>
            <a:r>
              <a:rPr sz="5700" i="1" spc="-360" dirty="0">
                <a:latin typeface="宋体"/>
                <a:cs typeface="宋体"/>
              </a:rPr>
              <a:t>p</a:t>
            </a:r>
            <a:r>
              <a:rPr sz="5700" i="1" spc="-2275" dirty="0">
                <a:latin typeface="宋体"/>
                <a:cs typeface="宋体"/>
              </a:rPr>
              <a:t> </a:t>
            </a:r>
            <a:r>
              <a:rPr sz="4800" spc="-345" baseline="42534" dirty="0">
                <a:latin typeface="宋体"/>
                <a:cs typeface="宋体"/>
              </a:rPr>
              <a:t>cos</a:t>
            </a:r>
            <a:endParaRPr sz="4800" baseline="42534" dirty="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5332" y="3935044"/>
            <a:ext cx="673227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latin typeface="隶书"/>
                <a:cs typeface="隶书"/>
              </a:rPr>
              <a:t>目标结果</a:t>
            </a:r>
            <a:r>
              <a:rPr sz="4800" spc="-5" dirty="0">
                <a:latin typeface="隶书"/>
                <a:cs typeface="隶书"/>
              </a:rPr>
              <a:t>：f(x)达到最小</a:t>
            </a:r>
            <a:endParaRPr sz="48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6184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人员对任务的付出矩阵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28008" y="6283248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7852" y="2599911"/>
            <a:ext cx="4420997" cy="108363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900" i="1" dirty="0">
                <a:latin typeface="华文隶书"/>
                <a:cs typeface="华文隶书"/>
              </a:rPr>
              <a:t>m</a:t>
            </a:r>
            <a:r>
              <a:rPr sz="2900" i="1" baseline="-25000" dirty="0">
                <a:latin typeface="华文隶书"/>
                <a:cs typeface="华文隶书"/>
              </a:rPr>
              <a:t>ij </a:t>
            </a:r>
            <a:r>
              <a:rPr sz="2900" dirty="0">
                <a:latin typeface="华文隶书"/>
                <a:cs typeface="华文隶书"/>
              </a:rPr>
              <a:t>〈</a:t>
            </a:r>
            <a:r>
              <a:rPr sz="2900" i="1" dirty="0">
                <a:latin typeface="华文隶书"/>
                <a:cs typeface="华文隶书"/>
              </a:rPr>
              <a:t>=1</a:t>
            </a:r>
            <a:r>
              <a:rPr lang="zh-CN" altLang="en-US" sz="2900" i="1" dirty="0">
                <a:latin typeface="华文隶书"/>
                <a:cs typeface="华文隶书"/>
              </a:rPr>
              <a:t> </a:t>
            </a:r>
            <a:r>
              <a:rPr sz="2900" i="1" dirty="0">
                <a:latin typeface="华文隶书"/>
                <a:cs typeface="华文隶书"/>
              </a:rPr>
              <a:t>:</a:t>
            </a:r>
            <a:endParaRPr sz="2900" dirty="0">
              <a:latin typeface="华文隶书"/>
              <a:cs typeface="华文隶书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华文隶书"/>
                <a:cs typeface="华文隶书"/>
              </a:rPr>
              <a:t>第</a:t>
            </a:r>
            <a:r>
              <a:rPr sz="2900" i="1" spc="-5" dirty="0">
                <a:latin typeface="华文隶书"/>
                <a:cs typeface="华文隶书"/>
              </a:rPr>
              <a:t>i</a:t>
            </a:r>
            <a:r>
              <a:rPr sz="2900" spc="5" dirty="0">
                <a:latin typeface="华文隶书"/>
                <a:cs typeface="华文隶书"/>
              </a:rPr>
              <a:t>个人对</a:t>
            </a:r>
            <a:r>
              <a:rPr sz="2900" spc="-5" dirty="0">
                <a:latin typeface="华文隶书"/>
                <a:cs typeface="华文隶书"/>
              </a:rPr>
              <a:t>第</a:t>
            </a:r>
            <a:r>
              <a:rPr sz="2900" i="1" spc="-5" dirty="0">
                <a:latin typeface="华文隶书"/>
                <a:cs typeface="华文隶书"/>
              </a:rPr>
              <a:t>j</a:t>
            </a:r>
            <a:r>
              <a:rPr sz="2900" dirty="0">
                <a:latin typeface="华文隶书"/>
                <a:cs typeface="华文隶书"/>
              </a:rPr>
              <a:t>个任务的付 出</a:t>
            </a:r>
          </a:p>
        </p:txBody>
      </p:sp>
      <p:sp>
        <p:nvSpPr>
          <p:cNvPr id="6" name="object 6"/>
          <p:cNvSpPr/>
          <p:nvPr/>
        </p:nvSpPr>
        <p:spPr>
          <a:xfrm>
            <a:off x="576434" y="2429340"/>
            <a:ext cx="3410276" cy="3275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11886" y="3141726"/>
            <a:ext cx="504825" cy="480059"/>
          </a:xfrm>
          <a:custGeom>
            <a:avLst/>
            <a:gdLst/>
            <a:ahLst/>
            <a:cxnLst/>
            <a:rect l="l" t="t" r="r" b="b"/>
            <a:pathLst>
              <a:path w="504825" h="480060">
                <a:moveTo>
                  <a:pt x="0" y="480060"/>
                </a:moveTo>
                <a:lnTo>
                  <a:pt x="504444" y="480060"/>
                </a:lnTo>
                <a:lnTo>
                  <a:pt x="504444" y="0"/>
                </a:lnTo>
                <a:lnTo>
                  <a:pt x="0" y="0"/>
                </a:lnTo>
                <a:lnTo>
                  <a:pt x="0" y="48006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296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例如：人员对任务的付出矩阵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56305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149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96083" y="1411224"/>
            <a:ext cx="4152900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75448" y="5081573"/>
            <a:ext cx="8113291" cy="15256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6072" y="4191000"/>
            <a:ext cx="8173211" cy="9220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196845" y="1511046"/>
            <a:ext cx="504825" cy="2301240"/>
          </a:xfrm>
          <a:custGeom>
            <a:avLst/>
            <a:gdLst/>
            <a:ahLst/>
            <a:cxnLst/>
            <a:rect l="l" t="t" r="r" b="b"/>
            <a:pathLst>
              <a:path w="504825" h="2301240">
                <a:moveTo>
                  <a:pt x="0" y="2301240"/>
                </a:moveTo>
                <a:lnTo>
                  <a:pt x="504444" y="2301240"/>
                </a:lnTo>
                <a:lnTo>
                  <a:pt x="504444" y="0"/>
                </a:lnTo>
                <a:lnTo>
                  <a:pt x="0" y="0"/>
                </a:lnTo>
                <a:lnTo>
                  <a:pt x="0" y="2301240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01289" y="1506474"/>
            <a:ext cx="502920" cy="2304415"/>
          </a:xfrm>
          <a:custGeom>
            <a:avLst/>
            <a:gdLst/>
            <a:ahLst/>
            <a:cxnLst/>
            <a:rect l="l" t="t" r="r" b="b"/>
            <a:pathLst>
              <a:path w="502919" h="2304415">
                <a:moveTo>
                  <a:pt x="0" y="2304288"/>
                </a:moveTo>
                <a:lnTo>
                  <a:pt x="502919" y="2304288"/>
                </a:lnTo>
                <a:lnTo>
                  <a:pt x="502919" y="0"/>
                </a:lnTo>
                <a:lnTo>
                  <a:pt x="0" y="0"/>
                </a:lnTo>
                <a:lnTo>
                  <a:pt x="0" y="230428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3074" y="5241797"/>
            <a:ext cx="1800225" cy="780415"/>
          </a:xfrm>
          <a:custGeom>
            <a:avLst/>
            <a:gdLst/>
            <a:ahLst/>
            <a:cxnLst/>
            <a:rect l="l" t="t" r="r" b="b"/>
            <a:pathLst>
              <a:path w="1800225" h="780414">
                <a:moveTo>
                  <a:pt x="0" y="780288"/>
                </a:moveTo>
                <a:lnTo>
                  <a:pt x="1799844" y="780288"/>
                </a:lnTo>
                <a:lnTo>
                  <a:pt x="1799844" y="0"/>
                </a:lnTo>
                <a:lnTo>
                  <a:pt x="0" y="0"/>
                </a:lnTo>
                <a:lnTo>
                  <a:pt x="0" y="780288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16330" y="4293870"/>
            <a:ext cx="1801495" cy="780415"/>
          </a:xfrm>
          <a:custGeom>
            <a:avLst/>
            <a:gdLst/>
            <a:ahLst/>
            <a:cxnLst/>
            <a:rect l="l" t="t" r="r" b="b"/>
            <a:pathLst>
              <a:path w="1801495" h="780414">
                <a:moveTo>
                  <a:pt x="0" y="780287"/>
                </a:moveTo>
                <a:lnTo>
                  <a:pt x="1801368" y="780287"/>
                </a:lnTo>
                <a:lnTo>
                  <a:pt x="1801368" y="0"/>
                </a:lnTo>
                <a:lnTo>
                  <a:pt x="0" y="0"/>
                </a:lnTo>
                <a:lnTo>
                  <a:pt x="0" y="78028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59429" y="4333494"/>
            <a:ext cx="1801495" cy="780415"/>
          </a:xfrm>
          <a:custGeom>
            <a:avLst/>
            <a:gdLst/>
            <a:ahLst/>
            <a:cxnLst/>
            <a:rect l="l" t="t" r="r" b="b"/>
            <a:pathLst>
              <a:path w="1801495" h="780414">
                <a:moveTo>
                  <a:pt x="0" y="780287"/>
                </a:moveTo>
                <a:lnTo>
                  <a:pt x="1801368" y="780287"/>
                </a:lnTo>
                <a:lnTo>
                  <a:pt x="1801368" y="0"/>
                </a:lnTo>
                <a:lnTo>
                  <a:pt x="0" y="0"/>
                </a:lnTo>
                <a:lnTo>
                  <a:pt x="0" y="78028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61310" y="5206746"/>
            <a:ext cx="1800225" cy="780415"/>
          </a:xfrm>
          <a:custGeom>
            <a:avLst/>
            <a:gdLst/>
            <a:ahLst/>
            <a:cxnLst/>
            <a:rect l="l" t="t" r="r" b="b"/>
            <a:pathLst>
              <a:path w="1800225" h="780414">
                <a:moveTo>
                  <a:pt x="0" y="780287"/>
                </a:moveTo>
                <a:lnTo>
                  <a:pt x="1799843" y="780287"/>
                </a:lnTo>
                <a:lnTo>
                  <a:pt x="1799843" y="0"/>
                </a:lnTo>
                <a:lnTo>
                  <a:pt x="0" y="0"/>
                </a:lnTo>
                <a:lnTo>
                  <a:pt x="0" y="780287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04053" y="4348734"/>
            <a:ext cx="1609725" cy="782320"/>
          </a:xfrm>
          <a:custGeom>
            <a:avLst/>
            <a:gdLst/>
            <a:ahLst/>
            <a:cxnLst/>
            <a:rect l="l" t="t" r="r" b="b"/>
            <a:pathLst>
              <a:path w="1609725" h="782320">
                <a:moveTo>
                  <a:pt x="0" y="781812"/>
                </a:moveTo>
                <a:lnTo>
                  <a:pt x="1609344" y="781812"/>
                </a:lnTo>
                <a:lnTo>
                  <a:pt x="1609344" y="0"/>
                </a:lnTo>
                <a:lnTo>
                  <a:pt x="0" y="0"/>
                </a:lnTo>
                <a:lnTo>
                  <a:pt x="0" y="781812"/>
                </a:lnTo>
                <a:close/>
              </a:path>
            </a:pathLst>
          </a:custGeom>
          <a:ln w="2895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4967" y="259156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任务历时计算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43605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4443" y="3690143"/>
            <a:ext cx="24257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b="1" spc="-10" dirty="0">
                <a:latin typeface="Arial Narrow"/>
                <a:cs typeface="Arial Narrow"/>
              </a:rPr>
              <a:t>150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96514" y="2020993"/>
            <a:ext cx="2501537" cy="1553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74903" y="4328090"/>
            <a:ext cx="2810098" cy="16353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52104" y="3876873"/>
            <a:ext cx="3174403" cy="218708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96690" y="1418082"/>
            <a:ext cx="0" cy="5288280"/>
          </a:xfrm>
          <a:custGeom>
            <a:avLst/>
            <a:gdLst/>
            <a:ahLst/>
            <a:cxnLst/>
            <a:rect l="l" t="t" r="r" b="b"/>
            <a:pathLst>
              <a:path h="5288280">
                <a:moveTo>
                  <a:pt x="0" y="0"/>
                </a:moveTo>
                <a:lnTo>
                  <a:pt x="0" y="528796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57476" y="1706647"/>
            <a:ext cx="4903155" cy="17609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789170" y="1893570"/>
            <a:ext cx="1007744" cy="666115"/>
          </a:xfrm>
          <a:custGeom>
            <a:avLst/>
            <a:gdLst/>
            <a:ahLst/>
            <a:cxnLst/>
            <a:rect l="l" t="t" r="r" b="b"/>
            <a:pathLst>
              <a:path w="1007745" h="666114">
                <a:moveTo>
                  <a:pt x="0" y="665988"/>
                </a:moveTo>
                <a:lnTo>
                  <a:pt x="1007363" y="665988"/>
                </a:lnTo>
                <a:lnTo>
                  <a:pt x="1007363" y="0"/>
                </a:lnTo>
                <a:lnTo>
                  <a:pt x="0" y="0"/>
                </a:lnTo>
                <a:lnTo>
                  <a:pt x="0" y="665988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932426" y="3853434"/>
            <a:ext cx="504825" cy="2406650"/>
          </a:xfrm>
          <a:custGeom>
            <a:avLst/>
            <a:gdLst/>
            <a:ahLst/>
            <a:cxnLst/>
            <a:rect l="l" t="t" r="r" b="b"/>
            <a:pathLst>
              <a:path w="504825" h="2406650">
                <a:moveTo>
                  <a:pt x="0" y="2406396"/>
                </a:moveTo>
                <a:lnTo>
                  <a:pt x="504444" y="2406396"/>
                </a:lnTo>
                <a:lnTo>
                  <a:pt x="504444" y="0"/>
                </a:lnTo>
                <a:lnTo>
                  <a:pt x="0" y="0"/>
                </a:lnTo>
                <a:lnTo>
                  <a:pt x="0" y="2406396"/>
                </a:lnTo>
                <a:close/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3381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每个任务历时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4276" y="2660904"/>
            <a:ext cx="7967677" cy="3041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28670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PD</a:t>
            </a:r>
            <a:r>
              <a:rPr i="1" spc="-5" dirty="0">
                <a:latin typeface="华文隶书"/>
                <a:cs typeface="华文隶书"/>
              </a:rPr>
              <a:t>M</a:t>
            </a:r>
            <a:r>
              <a:rPr dirty="0">
                <a:latin typeface="华文隶书"/>
                <a:cs typeface="华文隶书"/>
              </a:rPr>
              <a:t>网络图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50876" y="2108285"/>
            <a:ext cx="6724581" cy="36015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35026"/>
            <a:ext cx="2263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仿宋"/>
                <a:cs typeface="华文仿宋"/>
              </a:rPr>
              <a:t>成本计算</a:t>
            </a:r>
          </a:p>
        </p:txBody>
      </p:sp>
      <p:sp>
        <p:nvSpPr>
          <p:cNvPr id="3" name="object 3"/>
          <p:cNvSpPr/>
          <p:nvPr/>
        </p:nvSpPr>
        <p:spPr>
          <a:xfrm>
            <a:off x="395477" y="1600961"/>
            <a:ext cx="8371840" cy="4495800"/>
          </a:xfrm>
          <a:custGeom>
            <a:avLst/>
            <a:gdLst/>
            <a:ahLst/>
            <a:cxnLst/>
            <a:rect l="l" t="t" r="r" b="b"/>
            <a:pathLst>
              <a:path w="8371840" h="4495800">
                <a:moveTo>
                  <a:pt x="0" y="4495800"/>
                </a:moveTo>
                <a:lnTo>
                  <a:pt x="8371332" y="4495800"/>
                </a:lnTo>
                <a:lnTo>
                  <a:pt x="8371332" y="0"/>
                </a:lnTo>
                <a:lnTo>
                  <a:pt x="0" y="0"/>
                </a:lnTo>
                <a:lnTo>
                  <a:pt x="0" y="4495800"/>
                </a:lnTo>
                <a:close/>
              </a:path>
            </a:pathLst>
          </a:custGeom>
          <a:ln w="28956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065" y="1524736"/>
            <a:ext cx="7183755" cy="4266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255">
              <a:lnSpc>
                <a:spcPct val="120000"/>
              </a:lnSpc>
              <a:spcBef>
                <a:spcPts val="100"/>
              </a:spcBef>
            </a:pPr>
            <a:r>
              <a:rPr sz="2900" dirty="0">
                <a:latin typeface="Tw Cen MT"/>
                <a:cs typeface="Tw Cen MT"/>
              </a:rPr>
              <a:t>Cost1=2(6000+6000)=24,000  </a:t>
            </a:r>
            <a:r>
              <a:rPr sz="2900" spc="-5" dirty="0">
                <a:latin typeface="Tw Cen MT"/>
                <a:cs typeface="Tw Cen MT"/>
              </a:rPr>
              <a:t>Cost2=3(0.5*6000+0.5*6000+5000)</a:t>
            </a:r>
            <a:r>
              <a:rPr sz="2900" spc="1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=33,000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2900" dirty="0">
                <a:latin typeface="Tw Cen MT"/>
                <a:cs typeface="Tw Cen MT"/>
              </a:rPr>
              <a:t>Cost3=4(0.5*6000+0.5*6000+5000)</a:t>
            </a:r>
            <a:r>
              <a:rPr sz="2900" spc="-8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=44,000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900" spc="-5" dirty="0">
                <a:latin typeface="Tw Cen MT"/>
                <a:cs typeface="Tw Cen MT"/>
              </a:rPr>
              <a:t>Cost4=6(0.5*5000+5000)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=45,000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Tw Cen MT"/>
                <a:cs typeface="Tw Cen MT"/>
              </a:rPr>
              <a:t>Cost5=4(6000+6000)</a:t>
            </a:r>
            <a:r>
              <a:rPr sz="2900" spc="-3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=48,000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900" dirty="0">
                <a:latin typeface="Tw Cen MT"/>
                <a:cs typeface="Tw Cen MT"/>
              </a:rPr>
              <a:t>Cost6=4(6000+6000+0.5*5000)</a:t>
            </a:r>
            <a:r>
              <a:rPr sz="2900" spc="-45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=58,000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900" dirty="0">
                <a:latin typeface="Tw Cen MT"/>
                <a:cs typeface="Tw Cen MT"/>
              </a:rPr>
              <a:t>Cost7=4(6000+6000+5000+5000)</a:t>
            </a:r>
            <a:r>
              <a:rPr sz="2900" spc="-6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=44,000</a:t>
            </a:r>
            <a:endParaRPr sz="29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900" dirty="0">
                <a:latin typeface="华文仿宋"/>
                <a:cs typeface="华文仿宋"/>
              </a:rPr>
              <a:t>总成本</a:t>
            </a:r>
            <a:r>
              <a:rPr sz="2900" dirty="0">
                <a:latin typeface="Tw Cen MT"/>
                <a:cs typeface="Tw Cen MT"/>
              </a:rPr>
              <a:t>Cost=340</a:t>
            </a:r>
            <a:r>
              <a:rPr sz="2900" dirty="0">
                <a:latin typeface="华文仿宋"/>
                <a:cs typeface="华文仿宋"/>
              </a:rPr>
              <a:t>，</a:t>
            </a:r>
            <a:r>
              <a:rPr sz="2900" dirty="0">
                <a:latin typeface="Tw Cen MT"/>
                <a:cs typeface="Tw Cen MT"/>
              </a:rPr>
              <a:t>000</a:t>
            </a:r>
            <a:r>
              <a:rPr sz="2900" spc="-15" dirty="0">
                <a:latin typeface="华文仿宋"/>
                <a:cs typeface="华文仿宋"/>
              </a:rPr>
              <a:t>美元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7221" y="630854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chapter</a:t>
            </a:r>
            <a:r>
              <a:rPr sz="1400" u="sng" spc="245" dirty="0">
                <a:solidFill>
                  <a:srgbClr val="775F54"/>
                </a:solidFill>
                <a:uFill>
                  <a:solidFill>
                    <a:srgbClr val="765E53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153</a:t>
            </a:r>
            <a:endParaRPr sz="120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项目的具体任务名称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3546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0466" y="1823466"/>
            <a:ext cx="7772400" cy="2879090"/>
          </a:xfrm>
          <a:custGeom>
            <a:avLst/>
            <a:gdLst/>
            <a:ahLst/>
            <a:cxnLst/>
            <a:rect l="l" t="t" r="r" b="b"/>
            <a:pathLst>
              <a:path w="7772400" h="2879090">
                <a:moveTo>
                  <a:pt x="0" y="2878836"/>
                </a:moveTo>
                <a:lnTo>
                  <a:pt x="7772400" y="2878836"/>
                </a:lnTo>
                <a:lnTo>
                  <a:pt x="7772400" y="0"/>
                </a:lnTo>
                <a:lnTo>
                  <a:pt x="0" y="0"/>
                </a:lnTo>
                <a:lnTo>
                  <a:pt x="0" y="2878836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58444" y="2897251"/>
            <a:ext cx="7111365" cy="13462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>
              <a:lnSpc>
                <a:spcPct val="99300"/>
              </a:lnSpc>
              <a:spcBef>
                <a:spcPts val="125"/>
              </a:spcBef>
              <a:tabLst>
                <a:tab pos="1494790" algn="l"/>
                <a:tab pos="2185035" algn="l"/>
                <a:tab pos="4836160" algn="l"/>
                <a:tab pos="5283835" algn="l"/>
                <a:tab pos="5932170" algn="l"/>
              </a:tabLst>
            </a:pPr>
            <a:r>
              <a:rPr sz="2900" dirty="0">
                <a:latin typeface="Tw Cen MT"/>
                <a:cs typeface="Tw Cen MT"/>
              </a:rPr>
              <a:t>={“Planning”,	</a:t>
            </a:r>
            <a:r>
              <a:rPr sz="2900" spc="-10" dirty="0">
                <a:latin typeface="Tw Cen MT"/>
                <a:cs typeface="Tw Cen MT"/>
              </a:rPr>
              <a:t>“High-level</a:t>
            </a:r>
            <a:r>
              <a:rPr sz="2900" spc="40" dirty="0">
                <a:latin typeface="Tw Cen MT"/>
                <a:cs typeface="Tw Cen MT"/>
              </a:rPr>
              <a:t> </a:t>
            </a:r>
            <a:r>
              <a:rPr sz="2900" spc="-5" dirty="0">
                <a:latin typeface="Tw Cen MT"/>
                <a:cs typeface="Tw Cen MT"/>
              </a:rPr>
              <a:t>design”,	</a:t>
            </a:r>
            <a:r>
              <a:rPr sz="2900" spc="-15" dirty="0">
                <a:latin typeface="Tw Cen MT"/>
                <a:cs typeface="Tw Cen MT"/>
              </a:rPr>
              <a:t>“Low-level  </a:t>
            </a:r>
            <a:r>
              <a:rPr sz="2900" dirty="0">
                <a:latin typeface="Tw Cen MT"/>
                <a:cs typeface="Tw Cen MT"/>
              </a:rPr>
              <a:t>desi</a:t>
            </a:r>
            <a:r>
              <a:rPr sz="2900" spc="5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n”</a:t>
            </a:r>
            <a:r>
              <a:rPr sz="2900" spc="-4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,	“</a:t>
            </a:r>
            <a:r>
              <a:rPr sz="2900" spc="-5" dirty="0">
                <a:latin typeface="Tw Cen MT"/>
                <a:cs typeface="Tw Cen MT"/>
              </a:rPr>
              <a:t> </a:t>
            </a:r>
            <a:r>
              <a:rPr sz="2900" spc="-229" dirty="0">
                <a:latin typeface="Tw Cen MT"/>
                <a:cs typeface="Tw Cen MT"/>
              </a:rPr>
              <a:t>T</a:t>
            </a:r>
            <a:r>
              <a:rPr sz="2900" dirty="0">
                <a:latin typeface="Tw Cen MT"/>
                <a:cs typeface="Tw Cen MT"/>
              </a:rPr>
              <a:t>estca</a:t>
            </a:r>
            <a:r>
              <a:rPr sz="2900" spc="5" dirty="0">
                <a:latin typeface="Tw Cen MT"/>
                <a:cs typeface="Tw Cen MT"/>
              </a:rPr>
              <a:t>s</a:t>
            </a:r>
            <a:r>
              <a:rPr sz="2900" dirty="0">
                <a:latin typeface="Tw Cen MT"/>
                <a:cs typeface="Tw Cen MT"/>
              </a:rPr>
              <a:t>e</a:t>
            </a:r>
            <a:r>
              <a:rPr sz="2900" spc="-3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desi</a:t>
            </a:r>
            <a:r>
              <a:rPr sz="2900" spc="5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n”,“</a:t>
            </a:r>
            <a:r>
              <a:rPr sz="2900" spc="-15" dirty="0">
                <a:latin typeface="Tw Cen MT"/>
                <a:cs typeface="Tw Cen MT"/>
              </a:rPr>
              <a:t>C</a:t>
            </a:r>
            <a:r>
              <a:rPr sz="2900" dirty="0">
                <a:latin typeface="Tw Cen MT"/>
                <a:cs typeface="Tw Cen MT"/>
              </a:rPr>
              <a:t>o</a:t>
            </a:r>
            <a:r>
              <a:rPr sz="2900" spc="-10" dirty="0">
                <a:latin typeface="Tw Cen MT"/>
                <a:cs typeface="Tw Cen MT"/>
              </a:rPr>
              <a:t>d</a:t>
            </a:r>
            <a:r>
              <a:rPr sz="2900" spc="-5" dirty="0">
                <a:latin typeface="Tw Cen MT"/>
                <a:cs typeface="Tw Cen MT"/>
              </a:rPr>
              <a:t>in</a:t>
            </a:r>
            <a:r>
              <a:rPr sz="2900" spc="10" dirty="0">
                <a:latin typeface="Tw Cen MT"/>
                <a:cs typeface="Tw Cen MT"/>
              </a:rPr>
              <a:t>g</a:t>
            </a:r>
            <a:r>
              <a:rPr sz="2900" dirty="0">
                <a:latin typeface="Tw Cen MT"/>
                <a:cs typeface="Tw Cen MT"/>
              </a:rPr>
              <a:t>”</a:t>
            </a:r>
            <a:r>
              <a:rPr sz="2900" spc="-5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,	“System  </a:t>
            </a:r>
            <a:r>
              <a:rPr sz="2900" spc="-35" dirty="0">
                <a:latin typeface="Tw Cen MT"/>
                <a:cs typeface="Tw Cen MT"/>
              </a:rPr>
              <a:t>Testing </a:t>
            </a:r>
            <a:r>
              <a:rPr sz="2900" dirty="0">
                <a:latin typeface="Tw Cen MT"/>
                <a:cs typeface="Tw Cen MT"/>
              </a:rPr>
              <a:t>”, </a:t>
            </a:r>
            <a:r>
              <a:rPr sz="2900" spc="-15" dirty="0">
                <a:latin typeface="Tw Cen MT"/>
                <a:cs typeface="Tw Cen MT"/>
              </a:rPr>
              <a:t>“Acceptance</a:t>
            </a:r>
            <a:r>
              <a:rPr sz="2900" dirty="0">
                <a:latin typeface="Tw Cen MT"/>
                <a:cs typeface="Tw Cen MT"/>
              </a:rPr>
              <a:t> </a:t>
            </a:r>
            <a:r>
              <a:rPr sz="2900" spc="-35" dirty="0">
                <a:latin typeface="Tw Cen MT"/>
                <a:cs typeface="Tw Cen MT"/>
              </a:rPr>
              <a:t>Testing</a:t>
            </a:r>
            <a:r>
              <a:rPr sz="2900" spc="-20" dirty="0">
                <a:latin typeface="Tw Cen MT"/>
                <a:cs typeface="Tw Cen MT"/>
              </a:rPr>
              <a:t> </a:t>
            </a:r>
            <a:r>
              <a:rPr sz="2900" dirty="0">
                <a:latin typeface="Tw Cen MT"/>
                <a:cs typeface="Tw Cen MT"/>
              </a:rPr>
              <a:t>”,	</a:t>
            </a:r>
            <a:r>
              <a:rPr sz="2900" spc="15" dirty="0">
                <a:latin typeface="Tw Cen MT"/>
                <a:cs typeface="Tw Cen MT"/>
              </a:rPr>
              <a:t>}</a:t>
            </a:r>
            <a:r>
              <a:rPr sz="2900" spc="15" dirty="0">
                <a:latin typeface="华文仿宋"/>
                <a:cs typeface="华文仿宋"/>
              </a:rPr>
              <a:t>，</a:t>
            </a:r>
            <a:endParaRPr sz="2900">
              <a:latin typeface="华文仿宋"/>
              <a:cs typeface="华文仿宋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0079" y="1968070"/>
            <a:ext cx="3975552" cy="4165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493014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8430" algn="l"/>
              </a:tabLst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进度计划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-	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甘特图示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74234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123" y="1702307"/>
            <a:ext cx="7820964" cy="42507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3567" y="424383"/>
            <a:ext cx="33813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计划优化调整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7892" y="6278371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037" y="1844801"/>
            <a:ext cx="8153400" cy="175895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24205" indent="-534670">
              <a:lnSpc>
                <a:spcPct val="100000"/>
              </a:lnSpc>
              <a:spcBef>
                <a:spcPts val="450"/>
              </a:spcBef>
              <a:buClr>
                <a:srgbClr val="DD8046"/>
              </a:buClr>
              <a:buSzPct val="60344"/>
              <a:buAutoNum type="arabicPeriod"/>
              <a:tabLst>
                <a:tab pos="624205" algn="l"/>
                <a:tab pos="624840" algn="l"/>
              </a:tabLst>
            </a:pPr>
            <a:r>
              <a:rPr sz="2900" dirty="0">
                <a:latin typeface="隶书"/>
                <a:cs typeface="隶书"/>
              </a:rPr>
              <a:t>调整资</a:t>
            </a:r>
            <a:r>
              <a:rPr sz="2900" spc="-15" dirty="0">
                <a:latin typeface="隶书"/>
                <a:cs typeface="隶书"/>
              </a:rPr>
              <a:t>源</a:t>
            </a:r>
            <a:r>
              <a:rPr sz="2900" dirty="0">
                <a:latin typeface="隶书"/>
                <a:cs typeface="隶书"/>
              </a:rPr>
              <a:t>,解决资源冲突</a:t>
            </a:r>
            <a:endParaRPr sz="2900">
              <a:latin typeface="隶书"/>
              <a:cs typeface="隶书"/>
            </a:endParaRPr>
          </a:p>
          <a:p>
            <a:pPr marL="624205" indent="-534670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AutoNum type="arabicPeriod"/>
              <a:tabLst>
                <a:tab pos="624205" algn="l"/>
                <a:tab pos="624840" algn="l"/>
              </a:tabLst>
            </a:pPr>
            <a:r>
              <a:rPr sz="2900" dirty="0">
                <a:latin typeface="隶书"/>
                <a:cs typeface="隶书"/>
              </a:rPr>
              <a:t>调整进</a:t>
            </a:r>
            <a:r>
              <a:rPr sz="2900" spc="-10" dirty="0">
                <a:latin typeface="隶书"/>
                <a:cs typeface="隶书"/>
              </a:rPr>
              <a:t>度</a:t>
            </a:r>
            <a:r>
              <a:rPr sz="2900" spc="-5" dirty="0">
                <a:latin typeface="隶书"/>
                <a:cs typeface="隶书"/>
              </a:rPr>
              <a:t>,</a:t>
            </a:r>
            <a:r>
              <a:rPr sz="2900" spc="5" dirty="0">
                <a:latin typeface="隶书"/>
                <a:cs typeface="隶书"/>
              </a:rPr>
              <a:t>优化</a:t>
            </a:r>
            <a:r>
              <a:rPr sz="2900" spc="-10" dirty="0">
                <a:latin typeface="隶书"/>
                <a:cs typeface="隶书"/>
              </a:rPr>
              <a:t>项</a:t>
            </a:r>
            <a:r>
              <a:rPr sz="2900" spc="-5" dirty="0">
                <a:latin typeface="隶书"/>
                <a:cs typeface="隶书"/>
              </a:rPr>
              <a:t>目,</a:t>
            </a:r>
            <a:r>
              <a:rPr sz="2900" spc="5" dirty="0">
                <a:latin typeface="隶书"/>
                <a:cs typeface="隶书"/>
              </a:rPr>
              <a:t>缩</a:t>
            </a:r>
            <a:r>
              <a:rPr sz="2900" spc="-10" dirty="0">
                <a:latin typeface="隶书"/>
                <a:cs typeface="隶书"/>
              </a:rPr>
              <a:t>短</a:t>
            </a:r>
            <a:r>
              <a:rPr sz="2900" spc="5" dirty="0">
                <a:latin typeface="隶书"/>
                <a:cs typeface="隶书"/>
              </a:rPr>
              <a:t>工期</a:t>
            </a:r>
            <a:endParaRPr sz="2900">
              <a:latin typeface="隶书"/>
              <a:cs typeface="隶书"/>
            </a:endParaRPr>
          </a:p>
          <a:p>
            <a:pPr marL="624205" indent="-53467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AutoNum type="arabicPeriod"/>
              <a:tabLst>
                <a:tab pos="624205" algn="l"/>
                <a:tab pos="624840" algn="l"/>
              </a:tabLst>
            </a:pPr>
            <a:r>
              <a:rPr sz="2900" dirty="0">
                <a:latin typeface="隶书"/>
                <a:cs typeface="隶书"/>
              </a:rPr>
              <a:t>调整项</a:t>
            </a:r>
            <a:r>
              <a:rPr sz="2900" spc="-15" dirty="0">
                <a:latin typeface="隶书"/>
                <a:cs typeface="隶书"/>
              </a:rPr>
              <a:t>目</a:t>
            </a:r>
            <a:r>
              <a:rPr sz="2900" dirty="0">
                <a:latin typeface="隶书"/>
                <a:cs typeface="隶书"/>
              </a:rPr>
              <a:t>成本预</a:t>
            </a:r>
            <a:r>
              <a:rPr sz="2900" spc="-10" dirty="0">
                <a:latin typeface="隶书"/>
                <a:cs typeface="隶书"/>
              </a:rPr>
              <a:t>算</a:t>
            </a:r>
            <a:r>
              <a:rPr sz="2900" dirty="0">
                <a:latin typeface="隶书"/>
                <a:cs typeface="隶书"/>
              </a:rPr>
              <a:t>,以便</a:t>
            </a:r>
            <a:r>
              <a:rPr sz="2900" spc="-15" dirty="0">
                <a:latin typeface="隶书"/>
                <a:cs typeface="隶书"/>
              </a:rPr>
              <a:t>减</a:t>
            </a:r>
            <a:r>
              <a:rPr sz="2900" dirty="0">
                <a:latin typeface="隶书"/>
                <a:cs typeface="隶书"/>
              </a:rPr>
              <a:t>少项目</a:t>
            </a:r>
            <a:r>
              <a:rPr sz="2900" spc="-15" dirty="0">
                <a:latin typeface="隶书"/>
                <a:cs typeface="隶书"/>
              </a:rPr>
              <a:t>费</a:t>
            </a:r>
            <a:r>
              <a:rPr sz="2900" dirty="0">
                <a:latin typeface="隶书"/>
                <a:cs typeface="隶书"/>
              </a:rPr>
              <a:t>用.</a:t>
            </a:r>
            <a:endParaRPr sz="2900">
              <a:latin typeface="隶书"/>
              <a:cs typeface="隶书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724144" y="4469763"/>
            <a:ext cx="2816352" cy="18502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8713" y="4213097"/>
            <a:ext cx="5567680" cy="862965"/>
          </a:xfrm>
          <a:custGeom>
            <a:avLst/>
            <a:gdLst/>
            <a:ahLst/>
            <a:cxnLst/>
            <a:rect l="l" t="t" r="r" b="b"/>
            <a:pathLst>
              <a:path w="5567680" h="862964">
                <a:moveTo>
                  <a:pt x="3493008" y="0"/>
                </a:moveTo>
                <a:lnTo>
                  <a:pt x="0" y="0"/>
                </a:lnTo>
                <a:lnTo>
                  <a:pt x="0" y="862583"/>
                </a:lnTo>
                <a:lnTo>
                  <a:pt x="3493008" y="862583"/>
                </a:lnTo>
                <a:lnTo>
                  <a:pt x="3493008" y="718819"/>
                </a:lnTo>
                <a:lnTo>
                  <a:pt x="4754069" y="718819"/>
                </a:lnTo>
                <a:lnTo>
                  <a:pt x="3493008" y="503174"/>
                </a:lnTo>
                <a:lnTo>
                  <a:pt x="3493008" y="0"/>
                </a:lnTo>
                <a:close/>
              </a:path>
              <a:path w="5567680" h="862964">
                <a:moveTo>
                  <a:pt x="4754069" y="718819"/>
                </a:moveTo>
                <a:lnTo>
                  <a:pt x="3493008" y="718819"/>
                </a:lnTo>
                <a:lnTo>
                  <a:pt x="5567299" y="857884"/>
                </a:lnTo>
                <a:lnTo>
                  <a:pt x="4754069" y="718819"/>
                </a:lnTo>
                <a:close/>
              </a:path>
            </a:pathLst>
          </a:custGeom>
          <a:solidFill>
            <a:srgbClr val="93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8713" y="4213097"/>
            <a:ext cx="5567680" cy="862965"/>
          </a:xfrm>
          <a:custGeom>
            <a:avLst/>
            <a:gdLst/>
            <a:ahLst/>
            <a:cxnLst/>
            <a:rect l="l" t="t" r="r" b="b"/>
            <a:pathLst>
              <a:path w="5567680" h="862964">
                <a:moveTo>
                  <a:pt x="0" y="0"/>
                </a:moveTo>
                <a:lnTo>
                  <a:pt x="2037588" y="0"/>
                </a:lnTo>
                <a:lnTo>
                  <a:pt x="2910840" y="0"/>
                </a:lnTo>
                <a:lnTo>
                  <a:pt x="3493008" y="0"/>
                </a:lnTo>
                <a:lnTo>
                  <a:pt x="3493008" y="503174"/>
                </a:lnTo>
                <a:lnTo>
                  <a:pt x="5567299" y="857884"/>
                </a:lnTo>
                <a:lnTo>
                  <a:pt x="3493008" y="718819"/>
                </a:lnTo>
                <a:lnTo>
                  <a:pt x="3493008" y="862583"/>
                </a:lnTo>
                <a:lnTo>
                  <a:pt x="2910840" y="862583"/>
                </a:lnTo>
                <a:lnTo>
                  <a:pt x="2037588" y="862583"/>
                </a:lnTo>
                <a:lnTo>
                  <a:pt x="0" y="862583"/>
                </a:lnTo>
                <a:lnTo>
                  <a:pt x="0" y="718819"/>
                </a:lnTo>
                <a:lnTo>
                  <a:pt x="0" y="503174"/>
                </a:lnTo>
                <a:lnTo>
                  <a:pt x="0" y="0"/>
                </a:lnTo>
                <a:close/>
              </a:path>
            </a:pathLst>
          </a:custGeom>
          <a:ln w="19812">
            <a:solidFill>
              <a:srgbClr val="6B85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90473" y="4392244"/>
            <a:ext cx="2866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华文仿宋"/>
                <a:cs typeface="华文仿宋"/>
              </a:rPr>
              <a:t>例如网络分析技术</a:t>
            </a:r>
            <a:endParaRPr sz="2800">
              <a:latin typeface="华文仿宋"/>
              <a:cs typeface="华文仿宋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2068" y="323214"/>
            <a:ext cx="66630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采</a:t>
            </a:r>
            <a:r>
              <a:rPr spc="-5" dirty="0">
                <a:latin typeface="华文隶书"/>
                <a:cs typeface="华文隶书"/>
              </a:rPr>
              <a:t>用</a:t>
            </a:r>
            <a:r>
              <a:rPr i="1" dirty="0">
                <a:latin typeface="华文隶书"/>
                <a:cs typeface="华文隶书"/>
              </a:rPr>
              <a:t>Ms</a:t>
            </a:r>
            <a:r>
              <a:rPr i="1" spc="-5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Project</a:t>
            </a:r>
            <a:r>
              <a:rPr dirty="0">
                <a:latin typeface="华文隶书"/>
                <a:cs typeface="华文隶书"/>
              </a:rPr>
              <a:t>工具编排计划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493518"/>
            <a:ext cx="9144000" cy="53644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381" y="1989582"/>
            <a:ext cx="2455545" cy="4128770"/>
          </a:xfrm>
          <a:custGeom>
            <a:avLst/>
            <a:gdLst/>
            <a:ahLst/>
            <a:cxnLst/>
            <a:rect l="l" t="t" r="r" b="b"/>
            <a:pathLst>
              <a:path w="2455545" h="4128770">
                <a:moveTo>
                  <a:pt x="0" y="4128516"/>
                </a:moveTo>
                <a:lnTo>
                  <a:pt x="2455164" y="4128516"/>
                </a:lnTo>
                <a:lnTo>
                  <a:pt x="2455164" y="0"/>
                </a:lnTo>
                <a:lnTo>
                  <a:pt x="0" y="0"/>
                </a:lnTo>
                <a:lnTo>
                  <a:pt x="0" y="4128516"/>
                </a:lnTo>
                <a:close/>
              </a:path>
            </a:pathLst>
          </a:custGeom>
          <a:ln w="28956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484375"/>
            <a:ext cx="9031224" cy="51374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6661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采</a:t>
            </a:r>
            <a:r>
              <a:rPr spc="-5" dirty="0">
                <a:latin typeface="华文隶书"/>
                <a:cs typeface="华文隶书"/>
              </a:rPr>
              <a:t>用</a:t>
            </a:r>
            <a:r>
              <a:rPr i="1" dirty="0">
                <a:latin typeface="华文隶书"/>
                <a:cs typeface="华文隶书"/>
              </a:rPr>
              <a:t>Ms</a:t>
            </a:r>
            <a:r>
              <a:rPr i="1" spc="-5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Project</a:t>
            </a:r>
            <a:r>
              <a:rPr dirty="0">
                <a:latin typeface="华文隶书"/>
                <a:cs typeface="华文隶书"/>
              </a:rPr>
              <a:t>工具编排计划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79" y="1591055"/>
            <a:ext cx="8485632" cy="47914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6661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采</a:t>
            </a:r>
            <a:r>
              <a:rPr spc="-5" dirty="0">
                <a:latin typeface="华文隶书"/>
                <a:cs typeface="华文隶书"/>
              </a:rPr>
              <a:t>用</a:t>
            </a:r>
            <a:r>
              <a:rPr i="1" dirty="0">
                <a:latin typeface="华文隶书"/>
                <a:cs typeface="华文隶书"/>
              </a:rPr>
              <a:t>Ms</a:t>
            </a:r>
            <a:r>
              <a:rPr i="1" spc="-5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Project</a:t>
            </a:r>
            <a:r>
              <a:rPr dirty="0">
                <a:latin typeface="华文隶书"/>
                <a:cs typeface="华文隶书"/>
              </a:rPr>
              <a:t>工具编排计划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159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557526"/>
            <a:ext cx="9035796" cy="53004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6661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采</a:t>
            </a:r>
            <a:r>
              <a:rPr spc="-5" dirty="0">
                <a:latin typeface="华文隶书"/>
                <a:cs typeface="华文隶书"/>
              </a:rPr>
              <a:t>用</a:t>
            </a:r>
            <a:r>
              <a:rPr i="1" dirty="0">
                <a:latin typeface="华文隶书"/>
                <a:cs typeface="华文隶书"/>
              </a:rPr>
              <a:t>Ms</a:t>
            </a:r>
            <a:r>
              <a:rPr i="1" spc="-5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Project</a:t>
            </a:r>
            <a:r>
              <a:rPr dirty="0">
                <a:latin typeface="华文隶书"/>
                <a:cs typeface="华文隶书"/>
              </a:rPr>
              <a:t>工具编排计划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8204" y="1411224"/>
            <a:ext cx="8855964" cy="5277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20461" y="1893570"/>
            <a:ext cx="3744595" cy="4800600"/>
          </a:xfrm>
          <a:custGeom>
            <a:avLst/>
            <a:gdLst/>
            <a:ahLst/>
            <a:cxnLst/>
            <a:rect l="l" t="t" r="r" b="b"/>
            <a:pathLst>
              <a:path w="3744595" h="4800600">
                <a:moveTo>
                  <a:pt x="0" y="4800600"/>
                </a:moveTo>
                <a:lnTo>
                  <a:pt x="3744467" y="4800600"/>
                </a:lnTo>
                <a:lnTo>
                  <a:pt x="3744467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6661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采</a:t>
            </a:r>
            <a:r>
              <a:rPr sz="4400" spc="-5" dirty="0">
                <a:solidFill>
                  <a:srgbClr val="775F54"/>
                </a:solidFill>
                <a:latin typeface="华文隶书"/>
                <a:cs typeface="华文隶书"/>
              </a:rPr>
              <a:t>用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Ms</a:t>
            </a:r>
            <a:r>
              <a:rPr sz="4400" i="1" spc="-5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Project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工具编排计划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33494" y="6225946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4715" y="1557527"/>
            <a:ext cx="8560308" cy="43479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6661784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采</a:t>
            </a:r>
            <a:r>
              <a:rPr spc="-5" dirty="0">
                <a:latin typeface="华文隶书"/>
                <a:cs typeface="华文隶书"/>
              </a:rPr>
              <a:t>用</a:t>
            </a:r>
            <a:r>
              <a:rPr i="1" dirty="0">
                <a:latin typeface="华文隶书"/>
                <a:cs typeface="华文隶书"/>
              </a:rPr>
              <a:t>Ms</a:t>
            </a:r>
            <a:r>
              <a:rPr i="1" spc="-50" dirty="0"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Project</a:t>
            </a:r>
            <a:r>
              <a:rPr dirty="0">
                <a:latin typeface="华文隶书"/>
                <a:cs typeface="华文隶书"/>
              </a:rPr>
              <a:t>工具编排计划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6117" y="6332739"/>
            <a:ext cx="728980" cy="205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95"/>
              </a:lnSpc>
            </a:pPr>
            <a:r>
              <a:rPr sz="1400" spc="-5" dirty="0">
                <a:latin typeface="Arial Narrow"/>
                <a:cs typeface="Arial Narrow"/>
              </a:rPr>
              <a:t>ch</a:t>
            </a:r>
            <a:r>
              <a:rPr sz="1400" spc="-10" dirty="0">
                <a:latin typeface="Arial Narrow"/>
                <a:cs typeface="Arial Narrow"/>
              </a:rPr>
              <a:t>a</a:t>
            </a:r>
            <a:r>
              <a:rPr sz="1400" spc="-5" dirty="0">
                <a:latin typeface="Arial Narrow"/>
                <a:cs typeface="Arial Narrow"/>
              </a:rPr>
              <a:t>p</a:t>
            </a:r>
            <a:r>
              <a:rPr sz="1400" dirty="0">
                <a:latin typeface="Arial Narrow"/>
                <a:cs typeface="Arial Narrow"/>
              </a:rPr>
              <a:t>ter_</a:t>
            </a:r>
            <a:r>
              <a:rPr sz="1400" spc="-10" dirty="0">
                <a:latin typeface="Arial Narrow"/>
                <a:cs typeface="Arial Narrow"/>
              </a:rPr>
              <a:t>_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6700" y="1484375"/>
            <a:ext cx="8871204" cy="519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322833"/>
            <a:ext cx="50596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进度计划的数据分析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04392" y="1624286"/>
            <a:ext cx="4369435" cy="4777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445"/>
              </a:lnSpc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</a:t>
            </a:r>
            <a:r>
              <a:rPr sz="1750" spc="90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2900" b="1" spc="5" dirty="0">
                <a:latin typeface="华文仿宋"/>
                <a:cs typeface="华文仿宋"/>
              </a:rPr>
              <a:t>假设</a:t>
            </a:r>
            <a:r>
              <a:rPr sz="2900" b="1" dirty="0">
                <a:latin typeface="华文仿宋"/>
                <a:cs typeface="华文仿宋"/>
              </a:rPr>
              <a:t>情景</a:t>
            </a:r>
            <a:r>
              <a:rPr sz="2900" b="1" spc="-15" dirty="0">
                <a:latin typeface="华文仿宋"/>
                <a:cs typeface="华文仿宋"/>
              </a:rPr>
              <a:t>分</a:t>
            </a:r>
            <a:r>
              <a:rPr sz="2900" b="1" dirty="0">
                <a:latin typeface="华文仿宋"/>
                <a:cs typeface="华文仿宋"/>
              </a:rPr>
              <a:t>析</a:t>
            </a:r>
            <a:endParaRPr sz="2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sz="1750" spc="-10" dirty="0">
                <a:solidFill>
                  <a:srgbClr val="DD8046"/>
                </a:solidFill>
                <a:latin typeface="Wingdings"/>
                <a:cs typeface="Wingdings"/>
              </a:rPr>
              <a:t></a:t>
            </a:r>
            <a:r>
              <a:rPr sz="1750" spc="95" dirty="0">
                <a:solidFill>
                  <a:srgbClr val="DD8046"/>
                </a:solidFill>
                <a:latin typeface="Times New Roman"/>
                <a:cs typeface="Times New Roman"/>
              </a:rPr>
              <a:t> </a:t>
            </a:r>
            <a:r>
              <a:rPr sz="2900" b="1" spc="5" dirty="0">
                <a:latin typeface="华文仿宋"/>
                <a:cs typeface="华文仿宋"/>
              </a:rPr>
              <a:t>模拟</a:t>
            </a:r>
            <a:r>
              <a:rPr sz="2900" b="1" dirty="0">
                <a:latin typeface="华文仿宋"/>
                <a:cs typeface="华文仿宋"/>
              </a:rPr>
              <a:t>技术</a:t>
            </a:r>
            <a:endParaRPr sz="2900">
              <a:latin typeface="华文仿宋"/>
              <a:cs typeface="华文仿宋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5600">
              <a:latin typeface="Times New Roman"/>
              <a:cs typeface="Times New Roman"/>
            </a:endParaRPr>
          </a:p>
          <a:p>
            <a:pPr algn="r">
              <a:lnSpc>
                <a:spcPct val="100000"/>
              </a:lnSpc>
            </a:pP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ch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a</a:t>
            </a:r>
            <a:r>
              <a:rPr sz="1400" spc="-5" dirty="0">
                <a:solidFill>
                  <a:srgbClr val="775F54"/>
                </a:solidFill>
                <a:latin typeface="Arial Narrow"/>
                <a:cs typeface="Arial Narrow"/>
              </a:rPr>
              <a:t>p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ter_</a:t>
            </a:r>
            <a:r>
              <a:rPr sz="1400" spc="-10" dirty="0">
                <a:solidFill>
                  <a:srgbClr val="775F54"/>
                </a:solidFill>
                <a:latin typeface="Arial Narrow"/>
                <a:cs typeface="Arial Narrow"/>
              </a:rPr>
              <a:t>_</a:t>
            </a:r>
            <a:r>
              <a:rPr sz="1400" dirty="0">
                <a:solidFill>
                  <a:srgbClr val="775F54"/>
                </a:solidFill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 Narrow"/>
                <a:cs typeface="Arial Narrow"/>
              </a:rPr>
              <a:t>163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94715" y="1406652"/>
            <a:ext cx="7938516" cy="4940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0"/>
            <a:ext cx="22631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华文隶书"/>
                <a:cs typeface="华文隶书"/>
              </a:rPr>
              <a:t>本章要点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929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164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2210" y="522777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86127" y="5096255"/>
            <a:ext cx="485140" cy="565785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4668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15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五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70760" y="5096255"/>
            <a:ext cx="4628515" cy="565785"/>
          </a:xfrm>
          <a:prstGeom prst="rect">
            <a:avLst/>
          </a:prstGeom>
          <a:solidFill>
            <a:srgbClr val="FFC000"/>
          </a:solidFill>
        </p:spPr>
        <p:txBody>
          <a:bodyPr vert="horz" wrap="square" lIns="0" tIns="191135" rIns="0" bIns="0" rtlCol="0">
            <a:spAutoFit/>
          </a:bodyPr>
          <a:lstStyle/>
          <a:p>
            <a:pPr marR="405130" algn="ctr">
              <a:lnSpc>
                <a:spcPct val="100000"/>
              </a:lnSpc>
              <a:spcBef>
                <a:spcPts val="1505"/>
              </a:spcBef>
            </a:pP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案例分析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0239" y="4488631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63267" y="4338828"/>
            <a:ext cx="50609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6845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四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69235" y="4338828"/>
            <a:ext cx="4628515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L="1172845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项目进度规划模型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4110" y="3721805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48027" y="3572255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95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三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52472" y="3572255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4500" algn="ctr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进度计划编排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04110" y="2929003"/>
            <a:ext cx="255270" cy="3365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48027" y="2779776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4465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295"/>
              </a:spcBef>
            </a:pPr>
            <a:r>
              <a:rPr sz="2000" b="1" spc="5" dirty="0">
                <a:solidFill>
                  <a:srgbClr val="FFFFFF"/>
                </a:solidFill>
                <a:latin typeface="微软雅黑"/>
                <a:cs typeface="微软雅黑"/>
              </a:rPr>
              <a:t>二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52472" y="2779776"/>
            <a:ext cx="4630420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R="444500" algn="ctr">
              <a:lnSpc>
                <a:spcPct val="100000"/>
              </a:lnSpc>
              <a:spcBef>
                <a:spcPts val="1315"/>
              </a:spcBef>
            </a:pP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任务历时估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算</a:t>
            </a:r>
            <a:r>
              <a:rPr sz="1800" b="1" spc="-10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–</a:t>
            </a:r>
            <a:r>
              <a:rPr sz="1800" b="1" spc="-5" dirty="0">
                <a:solidFill>
                  <a:srgbClr val="003366"/>
                </a:solidFill>
                <a:latin typeface="微软雅黑"/>
                <a:cs typeface="微软雅黑"/>
              </a:rPr>
              <a:t> </a:t>
            </a: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传统和敏捷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98014" y="2137099"/>
            <a:ext cx="254635" cy="335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1932" y="1987295"/>
            <a:ext cx="504825" cy="601980"/>
          </a:xfrm>
          <a:prstGeom prst="rect">
            <a:avLst/>
          </a:prstGeom>
          <a:solidFill>
            <a:srgbClr val="2A5280"/>
          </a:solidFill>
        </p:spPr>
        <p:txBody>
          <a:bodyPr vert="horz" wrap="square" lIns="0" tIns="16510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1300"/>
              </a:spcBef>
            </a:pPr>
            <a:r>
              <a:rPr sz="2000" b="1" dirty="0">
                <a:solidFill>
                  <a:srgbClr val="FFFFFF"/>
                </a:solidFill>
                <a:latin typeface="微软雅黑"/>
                <a:cs typeface="微软雅黑"/>
              </a:rPr>
              <a:t>一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6376" y="1987295"/>
            <a:ext cx="4628515" cy="601980"/>
          </a:xfrm>
          <a:prstGeom prst="rect">
            <a:avLst/>
          </a:prstGeom>
          <a:solidFill>
            <a:srgbClr val="C9DBED"/>
          </a:solidFill>
        </p:spPr>
        <p:txBody>
          <a:bodyPr vert="horz" wrap="square" lIns="0" tIns="167005" rIns="0" bIns="0" rtlCol="0">
            <a:spAutoFit/>
          </a:bodyPr>
          <a:lstStyle/>
          <a:p>
            <a:pPr marL="1173480">
              <a:lnSpc>
                <a:spcPct val="100000"/>
              </a:lnSpc>
              <a:spcBef>
                <a:spcPts val="1315"/>
              </a:spcBef>
            </a:pPr>
            <a:r>
              <a:rPr sz="1800" b="1" dirty="0">
                <a:solidFill>
                  <a:srgbClr val="003366"/>
                </a:solidFill>
                <a:latin typeface="微软雅黑"/>
                <a:cs typeface="微软雅黑"/>
              </a:rPr>
              <a:t>进度管理基本概念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73869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>
                <a:latin typeface="华文隶书"/>
                <a:cs typeface="华文隶书"/>
              </a:rPr>
              <a:t>计划：医疗信息商务平台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33494" y="6153099"/>
            <a:ext cx="7569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50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spc="-5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165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2222" y="1701545"/>
            <a:ext cx="8369934" cy="2261870"/>
          </a:xfrm>
          <a:custGeom>
            <a:avLst/>
            <a:gdLst/>
            <a:ahLst/>
            <a:cxnLst/>
            <a:rect l="l" t="t" r="r" b="b"/>
            <a:pathLst>
              <a:path w="8369934" h="2261870">
                <a:moveTo>
                  <a:pt x="0" y="2261616"/>
                </a:moveTo>
                <a:lnTo>
                  <a:pt x="8369808" y="2261616"/>
                </a:lnTo>
                <a:lnTo>
                  <a:pt x="8369808" y="0"/>
                </a:lnTo>
                <a:lnTo>
                  <a:pt x="0" y="0"/>
                </a:lnTo>
                <a:lnTo>
                  <a:pt x="0" y="2261616"/>
                </a:lnTo>
                <a:close/>
              </a:path>
            </a:pathLst>
          </a:custGeom>
          <a:ln w="28956">
            <a:solidFill>
              <a:srgbClr val="BED2E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9590" y="1657968"/>
            <a:ext cx="8348345" cy="193992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3600" dirty="0">
                <a:latin typeface="隶书"/>
                <a:cs typeface="隶书"/>
              </a:rPr>
              <a:t>敏捷计划：远粗</a:t>
            </a:r>
            <a:r>
              <a:rPr sz="3600" spc="-5" dirty="0">
                <a:latin typeface="隶书"/>
                <a:cs typeface="隶书"/>
              </a:rPr>
              <a:t>近</a:t>
            </a:r>
            <a:r>
              <a:rPr sz="3600" dirty="0">
                <a:latin typeface="隶书"/>
                <a:cs typeface="隶书"/>
              </a:rPr>
              <a:t>细</a:t>
            </a:r>
            <a:endParaRPr sz="36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722"/>
              <a:buFont typeface="Wingdings"/>
              <a:buChar char=""/>
              <a:tabLst>
                <a:tab pos="332740" algn="l"/>
              </a:tabLst>
            </a:pPr>
            <a:r>
              <a:rPr sz="3600" dirty="0">
                <a:latin typeface="隶书"/>
                <a:cs typeface="隶书"/>
              </a:rPr>
              <a:t>发布计</a:t>
            </a:r>
            <a:r>
              <a:rPr sz="3600" spc="-10" dirty="0">
                <a:latin typeface="隶书"/>
                <a:cs typeface="隶书"/>
              </a:rPr>
              <a:t>划</a:t>
            </a:r>
            <a:r>
              <a:rPr sz="3600" spc="-5" dirty="0">
                <a:latin typeface="隶书"/>
                <a:cs typeface="隶书"/>
              </a:rPr>
              <a:t>—Product</a:t>
            </a:r>
            <a:r>
              <a:rPr sz="3600" spc="-25" dirty="0">
                <a:latin typeface="隶书"/>
                <a:cs typeface="隶书"/>
              </a:rPr>
              <a:t> </a:t>
            </a:r>
            <a:r>
              <a:rPr sz="3600" spc="-5" dirty="0">
                <a:latin typeface="隶书"/>
                <a:cs typeface="隶书"/>
              </a:rPr>
              <a:t>Backlog</a:t>
            </a:r>
            <a:r>
              <a:rPr sz="3600" spc="-25" dirty="0">
                <a:latin typeface="隶书"/>
                <a:cs typeface="隶书"/>
              </a:rPr>
              <a:t> </a:t>
            </a:r>
            <a:r>
              <a:rPr sz="3600" spc="-5" dirty="0">
                <a:latin typeface="隶书"/>
                <a:cs typeface="隶书"/>
              </a:rPr>
              <a:t>(4个迭代</a:t>
            </a:r>
            <a:r>
              <a:rPr sz="3600" dirty="0">
                <a:latin typeface="隶书"/>
                <a:cs typeface="隶书"/>
              </a:rPr>
              <a:t>)</a:t>
            </a:r>
            <a:endParaRPr sz="3600">
              <a:latin typeface="隶书"/>
              <a:cs typeface="隶书"/>
            </a:endParaRPr>
          </a:p>
          <a:p>
            <a:pPr marL="332740" indent="-32004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722"/>
              <a:buFont typeface="Wingdings"/>
              <a:buChar char=""/>
              <a:tabLst>
                <a:tab pos="332740" algn="l"/>
                <a:tab pos="4218940" algn="l"/>
              </a:tabLst>
            </a:pPr>
            <a:r>
              <a:rPr sz="3600" dirty="0">
                <a:latin typeface="隶书"/>
                <a:cs typeface="隶书"/>
              </a:rPr>
              <a:t>迭代计</a:t>
            </a:r>
            <a:r>
              <a:rPr sz="3600" spc="-5" dirty="0">
                <a:latin typeface="隶书"/>
                <a:cs typeface="隶书"/>
              </a:rPr>
              <a:t>划</a:t>
            </a:r>
            <a:r>
              <a:rPr sz="3600" dirty="0">
                <a:latin typeface="隶书"/>
                <a:cs typeface="隶书"/>
              </a:rPr>
              <a:t>- Sprint	Backlog</a:t>
            </a:r>
            <a:endParaRPr sz="36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00913"/>
            <a:ext cx="52203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dirty="0">
                <a:latin typeface="华文隶书"/>
                <a:cs typeface="华文隶书"/>
              </a:rPr>
              <a:t>MED</a:t>
            </a:r>
            <a:r>
              <a:rPr dirty="0">
                <a:latin typeface="华文隶书"/>
                <a:cs typeface="华文隶书"/>
              </a:rPr>
              <a:t>：</a:t>
            </a:r>
            <a:r>
              <a:rPr i="1" dirty="0">
                <a:latin typeface="华文隶书"/>
                <a:cs typeface="华文隶书"/>
              </a:rPr>
              <a:t>Product</a:t>
            </a:r>
            <a:r>
              <a:rPr i="1" u="sng" spc="1005" dirty="0"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 </a:t>
            </a:r>
            <a:r>
              <a:rPr i="1" dirty="0">
                <a:latin typeface="华文隶书"/>
                <a:cs typeface="华文隶书"/>
              </a:rPr>
              <a:t>Backlog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166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10248" y="1773935"/>
            <a:ext cx="6291956" cy="44572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267" y="247014"/>
            <a:ext cx="88042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02805" algn="l"/>
              </a:tabLst>
            </a:pPr>
            <a:r>
              <a:rPr i="1" dirty="0">
                <a:latin typeface="华文隶书"/>
                <a:cs typeface="华文隶书"/>
              </a:rPr>
              <a:t>ME</a:t>
            </a:r>
            <a:r>
              <a:rPr i="1" spc="-10" dirty="0">
                <a:latin typeface="华文隶书"/>
                <a:cs typeface="华文隶书"/>
              </a:rPr>
              <a:t>D</a:t>
            </a:r>
            <a:r>
              <a:rPr dirty="0">
                <a:latin typeface="华文隶书"/>
                <a:cs typeface="华文隶书"/>
              </a:rPr>
              <a:t>：第一</a:t>
            </a:r>
            <a:r>
              <a:rPr spc="-15" dirty="0">
                <a:latin typeface="华文隶书"/>
                <a:cs typeface="华文隶书"/>
              </a:rPr>
              <a:t>迭</a:t>
            </a:r>
            <a:r>
              <a:rPr spc="-10" dirty="0">
                <a:latin typeface="华文隶书"/>
                <a:cs typeface="华文隶书"/>
              </a:rPr>
              <a:t>代</a:t>
            </a:r>
            <a:r>
              <a:rPr spc="-15" dirty="0">
                <a:latin typeface="华文隶书"/>
                <a:cs typeface="华文隶书"/>
              </a:rPr>
              <a:t>计</a:t>
            </a:r>
            <a:r>
              <a:rPr dirty="0">
                <a:latin typeface="华文隶书"/>
                <a:cs typeface="华文隶书"/>
              </a:rPr>
              <a:t>划（</a:t>
            </a:r>
            <a:r>
              <a:rPr i="1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S</a:t>
            </a:r>
            <a:r>
              <a:rPr i="1" u="sng" spc="-20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p</a:t>
            </a:r>
            <a:r>
              <a:rPr i="1" u="sng" dirty="0">
                <a:solidFill>
                  <a:srgbClr val="F7B615"/>
                </a:solidFill>
                <a:uFill>
                  <a:solidFill>
                    <a:srgbClr val="F7B615"/>
                  </a:solidFill>
                </a:uFill>
                <a:latin typeface="华文隶书"/>
                <a:cs typeface="华文隶书"/>
              </a:rPr>
              <a:t>rint	Backlog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167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4715" y="1557527"/>
            <a:ext cx="8267700" cy="49194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700659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MED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：</a:t>
            </a:r>
            <a:r>
              <a:rPr sz="4400" spc="-7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第一迭代</a:t>
            </a: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PDM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网络图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8967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168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7512" y="1547724"/>
            <a:ext cx="7851685" cy="45565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200913"/>
            <a:ext cx="86404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MED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：</a:t>
            </a:r>
            <a:r>
              <a:rPr sz="4400" spc="-55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第一迭代进</a:t>
            </a:r>
            <a:r>
              <a:rPr sz="4400" spc="5" dirty="0">
                <a:solidFill>
                  <a:srgbClr val="775F54"/>
                </a:solidFill>
                <a:latin typeface="华文隶书"/>
                <a:cs typeface="华文隶书"/>
              </a:rPr>
              <a:t>度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计划：甘特图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88967" y="6297574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169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459" y="1484375"/>
            <a:ext cx="8581644" cy="45369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47244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MED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：</a:t>
            </a:r>
            <a:r>
              <a:rPr sz="4400" spc="-8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初始燃尽图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53383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170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11123" y="1484375"/>
            <a:ext cx="8065008" cy="47762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91692" y="200913"/>
            <a:ext cx="640270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i="1" dirty="0">
                <a:solidFill>
                  <a:srgbClr val="775F54"/>
                </a:solidFill>
                <a:latin typeface="华文隶书"/>
                <a:cs typeface="华文隶书"/>
              </a:rPr>
              <a:t>MED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：</a:t>
            </a:r>
            <a:r>
              <a:rPr sz="4400" spc="-70" dirty="0">
                <a:solidFill>
                  <a:srgbClr val="775F54"/>
                </a:solidFill>
                <a:latin typeface="华文隶书"/>
                <a:cs typeface="华文隶书"/>
              </a:rPr>
              <a:t> </a:t>
            </a:r>
            <a:r>
              <a:rPr sz="4400" dirty="0">
                <a:solidFill>
                  <a:srgbClr val="775F54"/>
                </a:solidFill>
                <a:latin typeface="华文隶书"/>
                <a:cs typeface="华文隶书"/>
              </a:rPr>
              <a:t>第一迭代预算曲线</a:t>
            </a:r>
            <a:endParaRPr sz="4400">
              <a:latin typeface="华文隶书"/>
              <a:cs typeface="华文隶书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9709" y="6368897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171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7196" y="1557527"/>
            <a:ext cx="6986016" cy="44637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232663"/>
            <a:ext cx="11442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华文隶书"/>
                <a:cs typeface="华文隶书"/>
              </a:rPr>
              <a:t>小结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05121" y="6225946"/>
            <a:ext cx="754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Arial Narrow"/>
                <a:cs typeface="Arial Narrow"/>
              </a:rPr>
              <a:t>chapter</a:t>
            </a:r>
            <a:r>
              <a:rPr sz="1400" u="sng" spc="245" dirty="0">
                <a:uFill>
                  <a:solidFill>
                    <a:srgbClr val="000000"/>
                  </a:solidFill>
                </a:uFill>
                <a:latin typeface="Arial Narrow"/>
                <a:cs typeface="Arial Narrow"/>
              </a:rPr>
              <a:t> </a:t>
            </a:r>
            <a:r>
              <a:rPr sz="1400" dirty="0">
                <a:latin typeface="Arial Narrow"/>
                <a:cs typeface="Arial Narrow"/>
              </a:rPr>
              <a:t>7</a:t>
            </a:r>
            <a:endParaRPr sz="1400">
              <a:latin typeface="Arial Narrow"/>
              <a:cs typeface="Arial Narro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7424" y="1268729"/>
            <a:ext cx="2362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 Narrow"/>
                <a:cs typeface="Arial Narrow"/>
              </a:rPr>
              <a:t>172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0258" y="1774698"/>
            <a:ext cx="8153400" cy="2908300"/>
          </a:xfrm>
          <a:prstGeom prst="rect">
            <a:avLst/>
          </a:prstGeom>
          <a:ln w="28955">
            <a:solidFill>
              <a:srgbClr val="BED2E3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605790" indent="-515620">
              <a:lnSpc>
                <a:spcPct val="100000"/>
              </a:lnSpc>
              <a:spcBef>
                <a:spcPts val="450"/>
              </a:spcBef>
              <a:buClr>
                <a:srgbClr val="DD8046"/>
              </a:buClr>
              <a:buSzPct val="59375"/>
              <a:buAutoNum type="arabicPeriod"/>
              <a:tabLst>
                <a:tab pos="605790" algn="l"/>
                <a:tab pos="606425" algn="l"/>
              </a:tabLst>
            </a:pPr>
            <a:r>
              <a:rPr sz="3200" b="1" spc="-5" dirty="0">
                <a:latin typeface="隶书"/>
                <a:cs typeface="隶书"/>
              </a:rPr>
              <a:t>进度</a:t>
            </a:r>
            <a:r>
              <a:rPr sz="3200" b="1" spc="-10" dirty="0">
                <a:latin typeface="隶书"/>
                <a:cs typeface="隶书"/>
              </a:rPr>
              <a:t>管</a:t>
            </a:r>
            <a:r>
              <a:rPr sz="3200" b="1" spc="-5" dirty="0">
                <a:latin typeface="隶书"/>
                <a:cs typeface="隶书"/>
              </a:rPr>
              <a:t>理基</a:t>
            </a:r>
            <a:r>
              <a:rPr sz="3200" b="1" spc="-10" dirty="0">
                <a:latin typeface="隶书"/>
                <a:cs typeface="隶书"/>
              </a:rPr>
              <a:t>本</a:t>
            </a:r>
            <a:r>
              <a:rPr sz="3200" b="1" spc="-5" dirty="0">
                <a:latin typeface="隶书"/>
                <a:cs typeface="隶书"/>
              </a:rPr>
              <a:t>概</a:t>
            </a:r>
            <a:r>
              <a:rPr sz="3200" b="1" spc="-10" dirty="0">
                <a:latin typeface="隶书"/>
                <a:cs typeface="隶书"/>
              </a:rPr>
              <a:t>念</a:t>
            </a:r>
            <a:endParaRPr sz="3200">
              <a:latin typeface="隶书"/>
              <a:cs typeface="隶书"/>
            </a:endParaRPr>
          </a:p>
          <a:p>
            <a:pPr marL="605790" indent="-51562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AutoNum type="arabicPeriod"/>
              <a:tabLst>
                <a:tab pos="605790" algn="l"/>
                <a:tab pos="606425" algn="l"/>
              </a:tabLst>
            </a:pPr>
            <a:r>
              <a:rPr sz="3200" b="1" spc="-5" dirty="0">
                <a:latin typeface="隶书"/>
                <a:cs typeface="隶书"/>
              </a:rPr>
              <a:t>历时</a:t>
            </a:r>
            <a:r>
              <a:rPr sz="3200" b="1" spc="-10" dirty="0">
                <a:latin typeface="隶书"/>
                <a:cs typeface="隶书"/>
              </a:rPr>
              <a:t>估</a:t>
            </a:r>
            <a:r>
              <a:rPr sz="3200" b="1" spc="-5" dirty="0">
                <a:latin typeface="隶书"/>
                <a:cs typeface="隶书"/>
              </a:rPr>
              <a:t>算基</a:t>
            </a:r>
            <a:r>
              <a:rPr sz="3200" b="1" spc="-10" dirty="0">
                <a:latin typeface="隶书"/>
                <a:cs typeface="隶书"/>
              </a:rPr>
              <a:t>本</a:t>
            </a:r>
            <a:r>
              <a:rPr sz="3200" b="1" spc="-5" dirty="0">
                <a:latin typeface="隶书"/>
                <a:cs typeface="隶书"/>
              </a:rPr>
              <a:t>方</a:t>
            </a:r>
            <a:r>
              <a:rPr sz="3200" b="1" spc="-10" dirty="0">
                <a:latin typeface="隶书"/>
                <a:cs typeface="隶书"/>
              </a:rPr>
              <a:t>法</a:t>
            </a:r>
            <a:endParaRPr sz="3200">
              <a:latin typeface="隶书"/>
              <a:cs typeface="隶书"/>
            </a:endParaRPr>
          </a:p>
          <a:p>
            <a:pPr marL="605790" indent="-51562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9375"/>
              <a:buAutoNum type="arabicPeriod"/>
              <a:tabLst>
                <a:tab pos="605790" algn="l"/>
                <a:tab pos="606425" algn="l"/>
              </a:tabLst>
            </a:pPr>
            <a:r>
              <a:rPr sz="3200" b="1" spc="-10" dirty="0">
                <a:latin typeface="隶书"/>
                <a:cs typeface="隶书"/>
              </a:rPr>
              <a:t>项</a:t>
            </a:r>
            <a:r>
              <a:rPr sz="3200" b="1" spc="5" dirty="0">
                <a:latin typeface="隶书"/>
                <a:cs typeface="隶书"/>
              </a:rPr>
              <a:t>目</a:t>
            </a:r>
            <a:r>
              <a:rPr sz="3200" b="1" spc="-10" dirty="0">
                <a:latin typeface="隶书"/>
                <a:cs typeface="隶书"/>
              </a:rPr>
              <a:t>进</a:t>
            </a:r>
            <a:r>
              <a:rPr sz="3200" b="1" dirty="0">
                <a:latin typeface="隶书"/>
                <a:cs typeface="隶书"/>
              </a:rPr>
              <a:t>度计</a:t>
            </a:r>
            <a:r>
              <a:rPr sz="3200" b="1" spc="-15" dirty="0">
                <a:latin typeface="隶书"/>
                <a:cs typeface="隶书"/>
              </a:rPr>
              <a:t>划</a:t>
            </a:r>
            <a:r>
              <a:rPr sz="3200" b="1" spc="-5" dirty="0">
                <a:latin typeface="隶书"/>
                <a:cs typeface="隶书"/>
              </a:rPr>
              <a:t>编排</a:t>
            </a:r>
            <a:endParaRPr sz="3200">
              <a:latin typeface="隶书"/>
              <a:cs typeface="隶书"/>
            </a:endParaRPr>
          </a:p>
          <a:p>
            <a:pPr marL="605790" indent="-515620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AutoNum type="arabicPeriod"/>
              <a:tabLst>
                <a:tab pos="605790" algn="l"/>
                <a:tab pos="606425" algn="l"/>
              </a:tabLst>
            </a:pPr>
            <a:r>
              <a:rPr sz="3200" b="1" spc="-5" dirty="0">
                <a:latin typeface="隶书"/>
                <a:cs typeface="隶书"/>
              </a:rPr>
              <a:t>项目</a:t>
            </a:r>
            <a:r>
              <a:rPr sz="3200" b="1" spc="-10" dirty="0">
                <a:latin typeface="隶书"/>
                <a:cs typeface="隶书"/>
              </a:rPr>
              <a:t>进</a:t>
            </a:r>
            <a:r>
              <a:rPr sz="3200" b="1" spc="5" dirty="0">
                <a:latin typeface="隶书"/>
                <a:cs typeface="隶书"/>
              </a:rPr>
              <a:t>度</a:t>
            </a:r>
            <a:r>
              <a:rPr sz="3200" b="1" dirty="0">
                <a:latin typeface="隶书"/>
                <a:cs typeface="隶书"/>
              </a:rPr>
              <a:t>模型</a:t>
            </a:r>
            <a:r>
              <a:rPr sz="3200" b="1" spc="-10" dirty="0">
                <a:latin typeface="隶书"/>
                <a:cs typeface="隶书"/>
              </a:rPr>
              <a:t>-SPSP</a:t>
            </a:r>
            <a:endParaRPr sz="320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98F2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638</TotalTime>
  <Words>4167</Words>
  <Application>Microsoft Macintosh PowerPoint</Application>
  <PresentationFormat>全屏显示(4:3)</PresentationFormat>
  <Paragraphs>1741</Paragraphs>
  <Slides>172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172</vt:i4>
      </vt:variant>
    </vt:vector>
  </HeadingPairs>
  <TitlesOfParts>
    <vt:vector size="193" baseType="lpstr">
      <vt:lpstr>等线</vt:lpstr>
      <vt:lpstr>方正姚体</vt:lpstr>
      <vt:lpstr>黑体</vt:lpstr>
      <vt:lpstr>华文仿宋</vt:lpstr>
      <vt:lpstr>华文琥珀</vt:lpstr>
      <vt:lpstr>华文隶书</vt:lpstr>
      <vt:lpstr>华文新魏</vt:lpstr>
      <vt:lpstr>隶书</vt:lpstr>
      <vt:lpstr>宋体</vt:lpstr>
      <vt:lpstr>微软雅黑</vt:lpstr>
      <vt:lpstr>Arial Unicode MS</vt:lpstr>
      <vt:lpstr>Arial</vt:lpstr>
      <vt:lpstr>Arial Narrow</vt:lpstr>
      <vt:lpstr>Calibri</vt:lpstr>
      <vt:lpstr>Cambria Math</vt:lpstr>
      <vt:lpstr>Symbol</vt:lpstr>
      <vt:lpstr>Times New Roman</vt:lpstr>
      <vt:lpstr>Tw Cen MT</vt:lpstr>
      <vt:lpstr>Wingdings</vt:lpstr>
      <vt:lpstr>Wingdings 2</vt:lpstr>
      <vt:lpstr>Office Theme</vt:lpstr>
      <vt:lpstr>情景引入：进度安排</vt:lpstr>
      <vt:lpstr>情景引入：进度安排</vt:lpstr>
      <vt:lpstr>路线图：进度计划</vt:lpstr>
      <vt:lpstr>PowerPoint 演示文稿</vt:lpstr>
      <vt:lpstr>进度计划的重要性</vt:lpstr>
      <vt:lpstr>进度的定义</vt:lpstr>
      <vt:lpstr>项目进度计划过程</vt:lpstr>
      <vt:lpstr>本章要点</vt:lpstr>
      <vt:lpstr>项目进度计划过程</vt:lpstr>
      <vt:lpstr>任务定义（Defining Activities）</vt:lpstr>
      <vt:lpstr>任务定义</vt:lpstr>
      <vt:lpstr>项目进度计划过程</vt:lpstr>
      <vt:lpstr>项目任务的关联关系</vt:lpstr>
      <vt:lpstr>任务之间的关系</vt:lpstr>
      <vt:lpstr>任务之间关联关系的依据</vt:lpstr>
      <vt:lpstr>关系依赖矩阵</vt:lpstr>
      <vt:lpstr>关系依赖矩阵:举例</vt:lpstr>
      <vt:lpstr>进度管理图示</vt:lpstr>
      <vt:lpstr>网络图</vt:lpstr>
      <vt:lpstr>常用的网络图</vt:lpstr>
      <vt:lpstr>PDM图例</vt:lpstr>
      <vt:lpstr>PDM(Precedence Diagramming Method)</vt:lpstr>
      <vt:lpstr>PDM 图例</vt:lpstr>
      <vt:lpstr>ADM图例</vt:lpstr>
      <vt:lpstr>ADM（ Arrow Diagramming Method ）</vt:lpstr>
      <vt:lpstr>PowerPoint 演示文稿</vt:lpstr>
      <vt:lpstr>甘特图-实例</vt:lpstr>
      <vt:lpstr>里程碑图示</vt:lpstr>
      <vt:lpstr>资源图</vt:lpstr>
      <vt:lpstr>PowerPoint 演示文稿</vt:lpstr>
      <vt:lpstr>PowerPoint 演示文稿</vt:lpstr>
      <vt:lpstr>项目进度计划过程</vt:lpstr>
      <vt:lpstr>本章要点</vt:lpstr>
      <vt:lpstr>历时估算</vt:lpstr>
      <vt:lpstr>历时估算的基本方法 - 传统</vt:lpstr>
      <vt:lpstr>定额估算法</vt:lpstr>
      <vt:lpstr>历时估算的基本方法 - 传统</vt:lpstr>
      <vt:lpstr>经验导出模型</vt:lpstr>
      <vt:lpstr>经验导出模型</vt:lpstr>
      <vt:lpstr>建议掌握模型</vt:lpstr>
      <vt:lpstr>基本COCOMO举例</vt:lpstr>
      <vt:lpstr>经验导出模型举例</vt:lpstr>
      <vt:lpstr>历时估算的基本方法 - 传统</vt:lpstr>
      <vt:lpstr>关键路径法估计</vt:lpstr>
      <vt:lpstr>关键路径法估计实例</vt:lpstr>
      <vt:lpstr>历时估算的基本方法 - 传统</vt:lpstr>
      <vt:lpstr>工程评估评审技术（PERT)</vt:lpstr>
      <vt:lpstr>工程评估评审技术（PERT)-加权算法</vt:lpstr>
      <vt:lpstr>PERT加权算法例子</vt:lpstr>
      <vt:lpstr>PERT 的风险性</vt:lpstr>
      <vt:lpstr>PERT的风险指标</vt:lpstr>
      <vt:lpstr>B C 4 D</vt:lpstr>
      <vt:lpstr>PERT估算举例</vt:lpstr>
      <vt:lpstr>标准差的概率理论</vt:lpstr>
      <vt:lpstr>标准差的概率理论</vt:lpstr>
      <vt:lpstr>PowerPoint 演示文稿</vt:lpstr>
      <vt:lpstr>PowerPoint 演示文稿</vt:lpstr>
      <vt:lpstr>PERT估算评价举例</vt:lpstr>
      <vt:lpstr>T=E+δ</vt:lpstr>
      <vt:lpstr>历时估算的基本方法 - 传统</vt:lpstr>
      <vt:lpstr>预留分析</vt:lpstr>
      <vt:lpstr>应急预留</vt:lpstr>
      <vt:lpstr>管理预留</vt:lpstr>
      <vt:lpstr>历时估算的基本方法 - 传统</vt:lpstr>
      <vt:lpstr>Jones的一阶估算准则</vt:lpstr>
      <vt:lpstr>Jones的一阶估算准则实例</vt:lpstr>
      <vt:lpstr>历时估算的基本方法 - 传统</vt:lpstr>
      <vt:lpstr>类比估算</vt:lpstr>
      <vt:lpstr>历时估算的基本方法 - 传统</vt:lpstr>
      <vt:lpstr>专家判断</vt:lpstr>
      <vt:lpstr>历时估算的基本方法 - 传统</vt:lpstr>
      <vt:lpstr>基于承诺的进度估算</vt:lpstr>
      <vt:lpstr>历时估算的基本方法 - 敏捷</vt:lpstr>
      <vt:lpstr>开发速度稳定前- 举手表决</vt:lpstr>
      <vt:lpstr>历时估算的基本方法 - 敏捷</vt:lpstr>
      <vt:lpstr>基于Story Point生产率的历时估算</vt:lpstr>
      <vt:lpstr>基于迭代生产率的历时估算</vt:lpstr>
      <vt:lpstr>历时估算方法总结</vt:lpstr>
      <vt:lpstr>本章要点</vt:lpstr>
      <vt:lpstr>项目进度计划过程</vt:lpstr>
      <vt:lpstr>进度计划编排结果</vt:lpstr>
      <vt:lpstr>进度编制的基本方法</vt:lpstr>
      <vt:lpstr>任务滞后:Lag</vt:lpstr>
      <vt:lpstr>任务滞后Lag举例</vt:lpstr>
      <vt:lpstr>任务超前(Lead)</vt:lpstr>
      <vt:lpstr>任务超前(Lead)</vt:lpstr>
      <vt:lpstr>任务超前(Lead)</vt:lpstr>
      <vt:lpstr>进度编制的基本方法</vt:lpstr>
      <vt:lpstr>基本概念</vt:lpstr>
      <vt:lpstr>PowerPoint 演示文稿</vt:lpstr>
      <vt:lpstr>浮动时间(Float)</vt:lpstr>
      <vt:lpstr>总浮动与自由浮动</vt:lpstr>
      <vt:lpstr>关键路径（Critical Path ）</vt:lpstr>
      <vt:lpstr>项目网络图</vt:lpstr>
      <vt:lpstr>A:100</vt:lpstr>
      <vt:lpstr>A:100</vt:lpstr>
      <vt:lpstr>A:100</vt:lpstr>
      <vt:lpstr>A:100</vt:lpstr>
      <vt:lpstr>A:100</vt:lpstr>
      <vt:lpstr>正推法(Forward pass)</vt:lpstr>
      <vt:lpstr>正推法实例</vt:lpstr>
      <vt:lpstr>逆推法(Backward pass)</vt:lpstr>
      <vt:lpstr>逆推法实例</vt:lpstr>
      <vt:lpstr>课堂练习</vt:lpstr>
      <vt:lpstr>PowerPoint 演示文稿</vt:lpstr>
      <vt:lpstr>课堂练习-答案</vt:lpstr>
      <vt:lpstr>进度编制的基本方法</vt:lpstr>
      <vt:lpstr>时间压缩法</vt:lpstr>
      <vt:lpstr>应急法-赶工（Crash）</vt:lpstr>
      <vt:lpstr>赶工时间与赶工成本关系图</vt:lpstr>
      <vt:lpstr>应急法--赶工</vt:lpstr>
      <vt:lpstr>进度压缩单位成本方法</vt:lpstr>
      <vt:lpstr>进度压缩单位成本方法</vt:lpstr>
      <vt:lpstr>进度压缩单位成本方法</vt:lpstr>
      <vt:lpstr>时间压缩例题</vt:lpstr>
      <vt:lpstr>计算单位压缩成本</vt:lpstr>
      <vt:lpstr>时间压缩例题</vt:lpstr>
      <vt:lpstr>时间压缩例题</vt:lpstr>
      <vt:lpstr>时间压缩例题</vt:lpstr>
      <vt:lpstr>时间压缩答案</vt:lpstr>
      <vt:lpstr>PowerPoint 演示文稿</vt:lpstr>
      <vt:lpstr>Charles Symons(1991)方法</vt:lpstr>
      <vt:lpstr>平行作业法-快速跟进</vt:lpstr>
      <vt:lpstr>平行作业法例子</vt:lpstr>
      <vt:lpstr>任务超前(Lead)应用</vt:lpstr>
      <vt:lpstr>进度编制的基本方法</vt:lpstr>
      <vt:lpstr>资源优化</vt:lpstr>
      <vt:lpstr>资源优化</vt:lpstr>
      <vt:lpstr>资源平衡</vt:lpstr>
      <vt:lpstr>PowerPoint 演示文稿</vt:lpstr>
      <vt:lpstr>资源平滑法</vt:lpstr>
      <vt:lpstr>资源平滑法</vt:lpstr>
      <vt:lpstr>资源平滑法</vt:lpstr>
      <vt:lpstr>资源平滑法</vt:lpstr>
      <vt:lpstr>进度编制的基本方法</vt:lpstr>
      <vt:lpstr>Agile Planning:敏捷计划</vt:lpstr>
      <vt:lpstr>发布计划与迭代计划的关系</vt:lpstr>
      <vt:lpstr>PowerPoint 演示文稿</vt:lpstr>
      <vt:lpstr>The Sprint cycle: Iteration planning</vt:lpstr>
      <vt:lpstr>The Sprint cycle: Iteration planning</vt:lpstr>
      <vt:lpstr>本章要点</vt:lpstr>
      <vt:lpstr>项目进度计划过程</vt:lpstr>
      <vt:lpstr>软件项目进度问题(SPSP)模型</vt:lpstr>
      <vt:lpstr>软件项目进度问题(SPSP)模型</vt:lpstr>
      <vt:lpstr>PowerPoint 演示文稿</vt:lpstr>
      <vt:lpstr>人</vt:lpstr>
      <vt:lpstr>PowerPoint 演示文稿</vt:lpstr>
      <vt:lpstr>人员对任务的付出矩阵</vt:lpstr>
      <vt:lpstr>例如：人员对任务的付出矩阵</vt:lpstr>
      <vt:lpstr>任务历时计算</vt:lpstr>
      <vt:lpstr>每个任务历时</vt:lpstr>
      <vt:lpstr>PDM网络图</vt:lpstr>
      <vt:lpstr>成本计算</vt:lpstr>
      <vt:lpstr>项目的具体任务名称</vt:lpstr>
      <vt:lpstr>PowerPoint 演示文稿</vt:lpstr>
      <vt:lpstr>计划优化调整</vt:lpstr>
      <vt:lpstr>采用Ms Project工具编排计划</vt:lpstr>
      <vt:lpstr>采用Ms Project工具编排计划</vt:lpstr>
      <vt:lpstr>采用Ms Project工具编排计划</vt:lpstr>
      <vt:lpstr>采用Ms Project工具编排计划</vt:lpstr>
      <vt:lpstr>PowerPoint 演示文稿</vt:lpstr>
      <vt:lpstr>采用Ms Project工具编排计划</vt:lpstr>
      <vt:lpstr>进度计划的数据分析</vt:lpstr>
      <vt:lpstr>本章要点</vt:lpstr>
      <vt:lpstr>MED计划：医疗信息商务平台</vt:lpstr>
      <vt:lpstr>MED：Product Backlog</vt:lpstr>
      <vt:lpstr>MED：第一迭代计划（Sprint Backlog</vt:lpstr>
      <vt:lpstr>PowerPoint 演示文稿</vt:lpstr>
      <vt:lpstr>PowerPoint 演示文稿</vt:lpstr>
      <vt:lpstr>PowerPoint 演示文稿</vt:lpstr>
      <vt:lpstr>PowerPoint 演示文稿</vt:lpstr>
      <vt:lpstr>小结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项目管理</dc:title>
  <dc:creator>think</dc:creator>
  <cp:lastModifiedBy>Microsoft Office 用户</cp:lastModifiedBy>
  <cp:revision>12</cp:revision>
  <dcterms:created xsi:type="dcterms:W3CDTF">2020-06-12T01:19:24Z</dcterms:created>
  <dcterms:modified xsi:type="dcterms:W3CDTF">2024-10-14T13:03:36Z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2019-03-12T00:00:00Z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2020-06-12T00:00:00Z</vt:filetime>
  </property>
</Properties>
</file>