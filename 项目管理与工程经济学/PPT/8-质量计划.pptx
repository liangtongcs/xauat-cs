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6858000" cy="5143500"/>
  <p:notesSz cx="6858000" cy="51435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29"/>
    <p:restoredTop sz="94436"/>
  </p:normalViewPr>
  <p:slideViewPr>
    <p:cSldViewPr>
      <p:cViewPr varScale="1">
        <p:scale>
          <a:sx n="138" d="100"/>
          <a:sy n="138" d="100"/>
        </p:scale>
        <p:origin x="17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1594485"/>
            <a:ext cx="58293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2880360"/>
            <a:ext cx="48006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chemeClr val="tx1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1183005"/>
            <a:ext cx="298323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1183005"/>
            <a:ext cx="298323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60119"/>
            <a:ext cx="401320" cy="172720"/>
          </a:xfrm>
          <a:custGeom>
            <a:avLst/>
            <a:gdLst/>
            <a:ahLst/>
            <a:cxnLst/>
            <a:rect l="l" t="t" r="r" b="b"/>
            <a:pathLst>
              <a:path w="401320" h="172719">
                <a:moveTo>
                  <a:pt x="0" y="172212"/>
                </a:moveTo>
                <a:lnTo>
                  <a:pt x="400812" y="172212"/>
                </a:lnTo>
                <a:lnTo>
                  <a:pt x="400812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43483" y="960119"/>
            <a:ext cx="6414770" cy="172720"/>
          </a:xfrm>
          <a:custGeom>
            <a:avLst/>
            <a:gdLst/>
            <a:ahLst/>
            <a:cxnLst/>
            <a:rect l="l" t="t" r="r" b="b"/>
            <a:pathLst>
              <a:path w="6414770" h="172719">
                <a:moveTo>
                  <a:pt x="0" y="172212"/>
                </a:moveTo>
                <a:lnTo>
                  <a:pt x="6414516" y="172212"/>
                </a:lnTo>
                <a:lnTo>
                  <a:pt x="6414516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90" y="243332"/>
            <a:ext cx="6827418" cy="528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768" y="1521460"/>
            <a:ext cx="3484245" cy="1743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chemeClr val="tx1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4783455"/>
            <a:ext cx="219456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4783455"/>
            <a:ext cx="157734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4783455"/>
            <a:ext cx="157734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298145"/>
            <a:ext cx="17030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承上启下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1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753" y="1667255"/>
            <a:ext cx="6493811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6675" y="1653539"/>
            <a:ext cx="5672328" cy="2694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563" y="358902"/>
            <a:ext cx="3457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情景引入：质量问题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2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7707" y="2679192"/>
            <a:ext cx="1629156" cy="957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/>
              <a:t>类比</a:t>
            </a:r>
            <a:r>
              <a:rPr spc="-5" dirty="0"/>
              <a:t>：</a:t>
            </a:r>
            <a:r>
              <a:rPr dirty="0"/>
              <a:t>房屋建筑工程项目</a:t>
            </a:r>
            <a:r>
              <a:rPr spc="5" dirty="0"/>
              <a:t>的</a:t>
            </a:r>
            <a:r>
              <a:rPr dirty="0"/>
              <a:t>质量监督</a:t>
            </a:r>
          </a:p>
        </p:txBody>
      </p:sp>
      <p:sp>
        <p:nvSpPr>
          <p:cNvPr id="3" name="object 3"/>
          <p:cNvSpPr/>
          <p:nvPr/>
        </p:nvSpPr>
        <p:spPr>
          <a:xfrm>
            <a:off x="944880" y="1653539"/>
            <a:ext cx="5184648" cy="2395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3058" y="200914"/>
            <a:ext cx="4514342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9370" algn="l"/>
              </a:tabLst>
            </a:pPr>
            <a:r>
              <a:rPr sz="3000" dirty="0">
                <a:solidFill>
                  <a:srgbClr val="775F54"/>
                </a:solidFill>
                <a:latin typeface="华文琥珀"/>
                <a:cs typeface="华文琥珀"/>
              </a:rPr>
              <a:t>软件项目管理	</a:t>
            </a:r>
            <a:r>
              <a:rPr sz="3000" spc="745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3000" spc="730" dirty="0">
                <a:solidFill>
                  <a:srgbClr val="775F54"/>
                </a:solidFill>
                <a:latin typeface="华文琥珀"/>
                <a:cs typeface="华文琥珀"/>
              </a:rPr>
              <a:t>二</a:t>
            </a:r>
            <a:r>
              <a:rPr sz="3000" dirty="0">
                <a:solidFill>
                  <a:srgbClr val="775F54"/>
                </a:solidFill>
                <a:latin typeface="华文琥珀"/>
                <a:cs typeface="华文琥珀"/>
              </a:rPr>
              <a:t>篇</a:t>
            </a:r>
            <a:endParaRPr sz="3000" dirty="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4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5341" y="1788998"/>
            <a:ext cx="3687445" cy="180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500" b="1" spc="-5" dirty="0">
                <a:solidFill>
                  <a:srgbClr val="FF66FF"/>
                </a:solidFill>
                <a:latin typeface="华文隶书"/>
                <a:cs typeface="华文隶书"/>
              </a:rPr>
              <a:t>第 8</a:t>
            </a:r>
            <a:r>
              <a:rPr sz="4500" b="1" spc="-25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4500" b="1" spc="-5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45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7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600" b="1" spc="-5" dirty="0">
                <a:solidFill>
                  <a:srgbClr val="FF66FF"/>
                </a:solidFill>
                <a:latin typeface="华文隶书"/>
                <a:cs typeface="华文隶书"/>
              </a:rPr>
              <a:t>软</a:t>
            </a:r>
            <a:r>
              <a:rPr sz="3600" b="1" spc="5" dirty="0">
                <a:solidFill>
                  <a:srgbClr val="FF66FF"/>
                </a:solidFill>
                <a:latin typeface="华文隶书"/>
                <a:cs typeface="华文隶书"/>
              </a:rPr>
              <a:t>件</a:t>
            </a:r>
            <a:r>
              <a:rPr sz="3600" b="1" spc="-5" dirty="0">
                <a:solidFill>
                  <a:srgbClr val="FF66FF"/>
                </a:solidFill>
                <a:latin typeface="华文隶书"/>
                <a:cs typeface="华文隶书"/>
              </a:rPr>
              <a:t>项目质量计划</a:t>
            </a:r>
            <a:endParaRPr sz="36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9103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5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874" y="168209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272" y="1600200"/>
            <a:ext cx="378460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874" y="2271247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2188464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874" y="3450501"/>
            <a:ext cx="191135" cy="25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272" y="3368040"/>
            <a:ext cx="36449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223" y="1600200"/>
            <a:ext cx="3473450" cy="3905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7429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8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软件质量基本概念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2188464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55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9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软件质量活动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8507" y="3368040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698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5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软件质量计划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749" y="4004366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036" y="3922776"/>
            <a:ext cx="361315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2223" y="3922776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175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096" y="283817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747" y="2755392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5460" y="2755392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39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敏捷质量活动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294" y="237235"/>
            <a:ext cx="33782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软件质量基本概念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756" y="1277111"/>
            <a:ext cx="6114415" cy="1150620"/>
          </a:xfrm>
          <a:prstGeom prst="rect">
            <a:avLst/>
          </a:prstGeom>
          <a:solidFill>
            <a:srgbClr val="93B6D2"/>
          </a:solidFill>
        </p:spPr>
        <p:txBody>
          <a:bodyPr vert="horz" wrap="square" lIns="0" tIns="27940" rIns="0" bIns="0" rtlCol="0">
            <a:spAutoFit/>
          </a:bodyPr>
          <a:lstStyle/>
          <a:p>
            <a:pPr marL="330200" indent="-240029">
              <a:lnSpc>
                <a:spcPct val="100000"/>
              </a:lnSpc>
              <a:spcBef>
                <a:spcPts val="22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330835" algn="l"/>
              </a:tabLst>
            </a:pPr>
            <a:r>
              <a:rPr sz="2150" spc="20" dirty="0">
                <a:latin typeface="华文仿宋"/>
                <a:cs typeface="华文仿宋"/>
              </a:rPr>
              <a:t>软件质量</a:t>
            </a:r>
            <a:endParaRPr sz="2150">
              <a:latin typeface="华文仿宋"/>
              <a:cs typeface="华文仿宋"/>
            </a:endParaRPr>
          </a:p>
          <a:p>
            <a:pPr marL="330200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330835" algn="l"/>
              </a:tabLst>
            </a:pPr>
            <a:r>
              <a:rPr sz="2150" spc="20" dirty="0">
                <a:latin typeface="华文仿宋"/>
                <a:cs typeface="华文仿宋"/>
              </a:rPr>
              <a:t>质量模型</a:t>
            </a:r>
            <a:endParaRPr sz="2150">
              <a:latin typeface="华文仿宋"/>
              <a:cs typeface="华文仿宋"/>
            </a:endParaRPr>
          </a:p>
          <a:p>
            <a:pPr marL="330200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330835" algn="l"/>
              </a:tabLst>
            </a:pPr>
            <a:r>
              <a:rPr sz="2150" spc="20" dirty="0">
                <a:latin typeface="华文仿宋"/>
                <a:cs typeface="华文仿宋"/>
              </a:rPr>
              <a:t>质量的形成</a:t>
            </a:r>
            <a:endParaRPr sz="215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9354" y="4308449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741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65" y="293878"/>
            <a:ext cx="186182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质量定义</a:t>
            </a:r>
            <a:r>
              <a:rPr i="1" dirty="0">
                <a:latin typeface="华文隶书"/>
                <a:cs typeface="华文隶书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9204" y="4379772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7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077" y="1408938"/>
            <a:ext cx="6116320" cy="1229503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90805" marR="356870">
              <a:lnSpc>
                <a:spcPct val="150000"/>
              </a:lnSpc>
              <a:spcBef>
                <a:spcPts val="439"/>
              </a:spcBef>
            </a:pPr>
            <a:r>
              <a:rPr sz="2700" b="1" spc="-5" dirty="0">
                <a:latin typeface="隶书"/>
                <a:cs typeface="隶书"/>
              </a:rPr>
              <a:t>质量</a:t>
            </a:r>
            <a:r>
              <a:rPr sz="2700" spc="-5" dirty="0">
                <a:latin typeface="隶书"/>
                <a:cs typeface="隶书"/>
              </a:rPr>
              <a:t>是满足要求的程</a:t>
            </a:r>
            <a:r>
              <a:rPr sz="2700" dirty="0">
                <a:latin typeface="隶书"/>
                <a:cs typeface="隶书"/>
              </a:rPr>
              <a:t>度</a:t>
            </a:r>
            <a:r>
              <a:rPr sz="2700" spc="-10" dirty="0">
                <a:latin typeface="隶书"/>
                <a:cs typeface="隶书"/>
              </a:rPr>
              <a:t>,</a:t>
            </a:r>
            <a:r>
              <a:rPr sz="2700" dirty="0">
                <a:latin typeface="隶书"/>
                <a:cs typeface="隶书"/>
              </a:rPr>
              <a:t>包括符合规定 的要求和满足顾客隐含需</a:t>
            </a:r>
            <a:r>
              <a:rPr sz="2700" spc="5" dirty="0">
                <a:latin typeface="隶书"/>
                <a:cs typeface="隶书"/>
              </a:rPr>
              <a:t>求</a:t>
            </a:r>
            <a:r>
              <a:rPr sz="2700" dirty="0">
                <a:latin typeface="隶书"/>
                <a:cs typeface="隶书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74447"/>
            <a:ext cx="17030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软件质量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75126" y="4221304"/>
            <a:ext cx="549910" cy="154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050" spc="-5" dirty="0">
                <a:latin typeface="Arial Narrow"/>
                <a:cs typeface="Arial Narrow"/>
              </a:rPr>
              <a:t>chapter_</a:t>
            </a:r>
            <a:r>
              <a:rPr sz="1050" spc="-15" dirty="0">
                <a:latin typeface="Arial Narrow"/>
                <a:cs typeface="Arial Narrow"/>
              </a:rPr>
              <a:t>_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8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355" y="2356104"/>
            <a:ext cx="6589776" cy="2135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3537" y="1341882"/>
            <a:ext cx="6588759" cy="9194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90170" marR="317500">
              <a:lnSpc>
                <a:spcPct val="100000"/>
              </a:lnSpc>
              <a:spcBef>
                <a:spcPts val="445"/>
              </a:spcBef>
            </a:pPr>
            <a:r>
              <a:rPr sz="2700" b="1" dirty="0">
                <a:latin typeface="隶书"/>
                <a:cs typeface="隶书"/>
              </a:rPr>
              <a:t>软件质量</a:t>
            </a:r>
            <a:r>
              <a:rPr sz="2700" dirty="0">
                <a:latin typeface="隶书"/>
                <a:cs typeface="隶书"/>
              </a:rPr>
              <a:t>是软件满足明确说明或者隐含的 需求的程度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118" y="257301"/>
            <a:ext cx="2466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软件质量模型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965830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313" y="983360"/>
            <a:ext cx="56515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10" dirty="0">
                <a:latin typeface="Arial Narrow"/>
                <a:cs typeface="Arial Narrow"/>
              </a:rPr>
              <a:t>9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315" y="1449324"/>
            <a:ext cx="6140450" cy="866140"/>
          </a:xfrm>
          <a:custGeom>
            <a:avLst/>
            <a:gdLst/>
            <a:ahLst/>
            <a:cxnLst/>
            <a:rect l="l" t="t" r="r" b="b"/>
            <a:pathLst>
              <a:path w="6140450" h="866139">
                <a:moveTo>
                  <a:pt x="0" y="865632"/>
                </a:moveTo>
                <a:lnTo>
                  <a:pt x="6140196" y="865632"/>
                </a:lnTo>
                <a:lnTo>
                  <a:pt x="6140196" y="0"/>
                </a:lnTo>
                <a:lnTo>
                  <a:pt x="0" y="0"/>
                </a:lnTo>
                <a:lnTo>
                  <a:pt x="0" y="865632"/>
                </a:lnTo>
                <a:close/>
              </a:path>
            </a:pathLst>
          </a:custGeom>
          <a:ln w="9144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1665" y="1439124"/>
            <a:ext cx="5854700" cy="930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marR="5080" indent="-241300">
              <a:lnSpc>
                <a:spcPct val="110000"/>
              </a:lnSpc>
              <a:spcBef>
                <a:spcPts val="95"/>
              </a:spcBef>
            </a:pPr>
            <a:r>
              <a:rPr sz="2700" dirty="0">
                <a:latin typeface="隶书"/>
                <a:cs typeface="隶书"/>
              </a:rPr>
              <a:t>人们通常把影响软件质量的特性用软件 质量模型来描述。</a:t>
            </a:r>
            <a:endParaRPr sz="2700">
              <a:latin typeface="隶书"/>
              <a:cs typeface="隶书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463" y="2356104"/>
            <a:ext cx="6345937" cy="1458595"/>
          </a:xfrm>
          <a:custGeom>
            <a:avLst/>
            <a:gdLst/>
            <a:ahLst/>
            <a:cxnLst/>
            <a:rect l="l" t="t" r="r" b="b"/>
            <a:pathLst>
              <a:path w="6099175" h="1458595">
                <a:moveTo>
                  <a:pt x="0" y="1458468"/>
                </a:moveTo>
                <a:lnTo>
                  <a:pt x="6099048" y="1458468"/>
                </a:lnTo>
                <a:lnTo>
                  <a:pt x="6099048" y="0"/>
                </a:lnTo>
                <a:lnTo>
                  <a:pt x="0" y="0"/>
                </a:lnTo>
                <a:lnTo>
                  <a:pt x="0" y="1458468"/>
                </a:lnTo>
                <a:close/>
              </a:path>
            </a:pathLst>
          </a:custGeom>
          <a:ln w="9144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3118" y="2639695"/>
            <a:ext cx="1409674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365" indent="-24130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695"/>
              <a:buFont typeface="Wingdings"/>
              <a:buChar char=""/>
              <a:tabLst>
                <a:tab pos="254000" algn="l"/>
              </a:tabLst>
            </a:pPr>
            <a:r>
              <a:rPr sz="2300" dirty="0">
                <a:latin typeface="隶书"/>
                <a:cs typeface="隶书"/>
              </a:rPr>
              <a:t>1976年</a:t>
            </a:r>
          </a:p>
          <a:p>
            <a:pPr marL="253365" indent="-241300">
              <a:lnSpc>
                <a:spcPct val="100000"/>
              </a:lnSpc>
              <a:spcBef>
                <a:spcPts val="15"/>
              </a:spcBef>
              <a:buClr>
                <a:srgbClr val="DD8046"/>
              </a:buClr>
              <a:buSzPct val="58695"/>
              <a:buFont typeface="Wingdings"/>
              <a:buChar char=""/>
              <a:tabLst>
                <a:tab pos="254000" algn="l"/>
              </a:tabLst>
            </a:pPr>
            <a:r>
              <a:rPr sz="2300" dirty="0">
                <a:latin typeface="隶书"/>
                <a:cs typeface="隶书"/>
              </a:rPr>
              <a:t>1979年</a:t>
            </a:r>
          </a:p>
          <a:p>
            <a:pPr marL="253365" indent="-241300">
              <a:lnSpc>
                <a:spcPct val="100000"/>
              </a:lnSpc>
              <a:spcBef>
                <a:spcPts val="10"/>
              </a:spcBef>
              <a:buClr>
                <a:srgbClr val="DD8046"/>
              </a:buClr>
              <a:buSzPct val="58695"/>
              <a:buFont typeface="Wingdings"/>
              <a:buChar char=""/>
              <a:tabLst>
                <a:tab pos="254000" algn="l"/>
              </a:tabLst>
            </a:pPr>
            <a:r>
              <a:rPr sz="2300" spc="-5" dirty="0">
                <a:latin typeface="隶书"/>
                <a:cs typeface="隶书"/>
              </a:rPr>
              <a:t>1985</a:t>
            </a:r>
            <a:r>
              <a:rPr sz="2300" spc="5" dirty="0">
                <a:latin typeface="隶书"/>
                <a:cs typeface="隶书"/>
              </a:rPr>
              <a:t>年</a:t>
            </a:r>
            <a:endParaRPr sz="2300" dirty="0">
              <a:latin typeface="隶书"/>
              <a:cs typeface="隶书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2792" y="2639695"/>
            <a:ext cx="2570608" cy="1080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2300" spc="-5" dirty="0">
                <a:latin typeface="隶书"/>
                <a:cs typeface="隶书"/>
              </a:rPr>
              <a:t>Boehm</a:t>
            </a:r>
            <a:r>
              <a:rPr sz="2300" dirty="0">
                <a:latin typeface="隶书"/>
                <a:cs typeface="隶书"/>
              </a:rPr>
              <a:t>质</a:t>
            </a:r>
            <a:r>
              <a:rPr sz="2300" spc="-15" dirty="0">
                <a:latin typeface="隶书"/>
                <a:cs typeface="隶书"/>
              </a:rPr>
              <a:t>量模</a:t>
            </a:r>
            <a:r>
              <a:rPr sz="2300" dirty="0">
                <a:latin typeface="隶书"/>
                <a:cs typeface="隶书"/>
              </a:rPr>
              <a:t>型 M</a:t>
            </a:r>
            <a:r>
              <a:rPr sz="2300" spc="-10" dirty="0">
                <a:latin typeface="隶书"/>
                <a:cs typeface="隶书"/>
              </a:rPr>
              <a:t>c</a:t>
            </a:r>
            <a:r>
              <a:rPr sz="2300" dirty="0">
                <a:latin typeface="隶书"/>
                <a:cs typeface="隶书"/>
              </a:rPr>
              <a:t>Cal</a:t>
            </a:r>
            <a:r>
              <a:rPr sz="2300" spc="-10" dirty="0">
                <a:latin typeface="隶书"/>
                <a:cs typeface="隶书"/>
              </a:rPr>
              <a:t>l</a:t>
            </a:r>
            <a:r>
              <a:rPr sz="2300" dirty="0">
                <a:latin typeface="隶书"/>
                <a:cs typeface="隶书"/>
              </a:rPr>
              <a:t>质</a:t>
            </a:r>
            <a:r>
              <a:rPr sz="2300" spc="-15" dirty="0">
                <a:latin typeface="隶书"/>
                <a:cs typeface="隶书"/>
              </a:rPr>
              <a:t>量模</a:t>
            </a:r>
            <a:r>
              <a:rPr sz="2300" dirty="0">
                <a:latin typeface="隶书"/>
                <a:cs typeface="隶书"/>
              </a:rPr>
              <a:t>型  </a:t>
            </a:r>
            <a:r>
              <a:rPr sz="2300" spc="-5" dirty="0">
                <a:latin typeface="隶书"/>
                <a:cs typeface="隶书"/>
              </a:rPr>
              <a:t>ISO</a:t>
            </a:r>
            <a:r>
              <a:rPr sz="2300" spc="5" dirty="0">
                <a:latin typeface="隶书"/>
                <a:cs typeface="隶书"/>
              </a:rPr>
              <a:t>质量</a:t>
            </a:r>
            <a:r>
              <a:rPr sz="2300" spc="-15" dirty="0">
                <a:latin typeface="隶书"/>
                <a:cs typeface="隶书"/>
              </a:rPr>
              <a:t>模</a:t>
            </a:r>
            <a:r>
              <a:rPr sz="2300" spc="5" dirty="0">
                <a:latin typeface="隶书"/>
                <a:cs typeface="隶书"/>
              </a:rPr>
              <a:t>型</a:t>
            </a:r>
            <a:endParaRPr sz="2300" dirty="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" y="314325"/>
            <a:ext cx="2715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dirty="0">
                <a:latin typeface="华文隶书"/>
                <a:cs typeface="华文隶书"/>
              </a:rPr>
              <a:t>ISO/IE</a:t>
            </a:r>
            <a:r>
              <a:rPr sz="3000" i="1" spc="5" dirty="0">
                <a:latin typeface="华文隶书"/>
                <a:cs typeface="华文隶书"/>
              </a:rPr>
              <a:t>C</a:t>
            </a:r>
            <a:r>
              <a:rPr sz="3000" i="1" dirty="0">
                <a:latin typeface="华文隶书"/>
                <a:cs typeface="华文隶书"/>
              </a:rPr>
              <a:t>912</a:t>
            </a:r>
            <a:r>
              <a:rPr sz="3000" i="1" spc="-5" dirty="0">
                <a:latin typeface="华文隶书"/>
                <a:cs typeface="华文隶书"/>
              </a:rPr>
              <a:t>6</a:t>
            </a:r>
            <a:r>
              <a:rPr sz="3000" dirty="0"/>
              <a:t>模型</a:t>
            </a:r>
            <a:endParaRPr sz="3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94201" y="4728464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5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10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5" y="1633122"/>
            <a:ext cx="6627731" cy="26514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563" y="676402"/>
            <a:ext cx="62884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例子</a:t>
            </a:r>
            <a:r>
              <a:rPr sz="2700" i="1" spc="5" dirty="0">
                <a:latin typeface="华文隶书"/>
                <a:cs typeface="华文隶书"/>
              </a:rPr>
              <a:t>:</a:t>
            </a:r>
            <a:r>
              <a:rPr sz="2700" dirty="0"/>
              <a:t>调度指挥通信系统外部质量模型设计</a:t>
            </a:r>
            <a:endParaRPr sz="27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76172" y="1520952"/>
            <a:ext cx="3159252" cy="2862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855421"/>
            <a:ext cx="628840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/>
              <a:t>例</a:t>
            </a:r>
            <a:r>
              <a:rPr sz="2700" dirty="0"/>
              <a:t>子</a:t>
            </a:r>
            <a:r>
              <a:rPr sz="2700" i="1" spc="5" dirty="0">
                <a:latin typeface="华文隶书"/>
                <a:cs typeface="华文隶书"/>
              </a:rPr>
              <a:t>:</a:t>
            </a:r>
            <a:r>
              <a:rPr sz="2700" spc="-5" dirty="0"/>
              <a:t>调度指挥通信系统外部质量模型设计</a:t>
            </a:r>
            <a:endParaRPr sz="27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545336"/>
            <a:ext cx="6615684" cy="28635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220421"/>
            <a:ext cx="212280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质量的形成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13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985" y="1108330"/>
            <a:ext cx="6724015" cy="1228862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90805" marR="109855">
              <a:lnSpc>
                <a:spcPct val="150000"/>
              </a:lnSpc>
              <a:spcBef>
                <a:spcPts val="434"/>
              </a:spcBef>
            </a:pPr>
            <a:r>
              <a:rPr sz="2700" spc="-5" dirty="0">
                <a:latin typeface="隶书"/>
                <a:cs typeface="隶书"/>
              </a:rPr>
              <a:t>质量形成于产品或者服务的开发过程中，而 </a:t>
            </a:r>
            <a:r>
              <a:rPr sz="2700" dirty="0">
                <a:latin typeface="隶书"/>
                <a:cs typeface="隶书"/>
              </a:rPr>
              <a:t>不是事后的检查（测试）把关等。</a:t>
            </a:r>
          </a:p>
        </p:txBody>
      </p:sp>
      <p:sp>
        <p:nvSpPr>
          <p:cNvPr id="5" name="object 5"/>
          <p:cNvSpPr/>
          <p:nvPr/>
        </p:nvSpPr>
        <p:spPr>
          <a:xfrm>
            <a:off x="1210803" y="2345384"/>
            <a:ext cx="4151912" cy="2545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70253" y="2704338"/>
            <a:ext cx="3874135" cy="1381125"/>
          </a:xfrm>
          <a:custGeom>
            <a:avLst/>
            <a:gdLst/>
            <a:ahLst/>
            <a:cxnLst/>
            <a:rect l="l" t="t" r="r" b="b"/>
            <a:pathLst>
              <a:path w="3874135" h="1381125">
                <a:moveTo>
                  <a:pt x="0" y="690372"/>
                </a:moveTo>
                <a:lnTo>
                  <a:pt x="4660" y="642111"/>
                </a:lnTo>
                <a:lnTo>
                  <a:pt x="18435" y="594744"/>
                </a:lnTo>
                <a:lnTo>
                  <a:pt x="41019" y="548379"/>
                </a:lnTo>
                <a:lnTo>
                  <a:pt x="72103" y="503127"/>
                </a:lnTo>
                <a:lnTo>
                  <a:pt x="111380" y="459097"/>
                </a:lnTo>
                <a:lnTo>
                  <a:pt x="158543" y="416399"/>
                </a:lnTo>
                <a:lnTo>
                  <a:pt x="213285" y="375141"/>
                </a:lnTo>
                <a:lnTo>
                  <a:pt x="275297" y="335434"/>
                </a:lnTo>
                <a:lnTo>
                  <a:pt x="308934" y="316197"/>
                </a:lnTo>
                <a:lnTo>
                  <a:pt x="344274" y="297388"/>
                </a:lnTo>
                <a:lnTo>
                  <a:pt x="381277" y="279022"/>
                </a:lnTo>
                <a:lnTo>
                  <a:pt x="419906" y="261111"/>
                </a:lnTo>
                <a:lnTo>
                  <a:pt x="460123" y="243671"/>
                </a:lnTo>
                <a:lnTo>
                  <a:pt x="501888" y="226714"/>
                </a:lnTo>
                <a:lnTo>
                  <a:pt x="545164" y="210254"/>
                </a:lnTo>
                <a:lnTo>
                  <a:pt x="589912" y="194306"/>
                </a:lnTo>
                <a:lnTo>
                  <a:pt x="636093" y="178881"/>
                </a:lnTo>
                <a:lnTo>
                  <a:pt x="683669" y="163996"/>
                </a:lnTo>
                <a:lnTo>
                  <a:pt x="732602" y="149662"/>
                </a:lnTo>
                <a:lnTo>
                  <a:pt x="782854" y="135894"/>
                </a:lnTo>
                <a:lnTo>
                  <a:pt x="834385" y="122705"/>
                </a:lnTo>
                <a:lnTo>
                  <a:pt x="887157" y="110110"/>
                </a:lnTo>
                <a:lnTo>
                  <a:pt x="941133" y="98121"/>
                </a:lnTo>
                <a:lnTo>
                  <a:pt x="996273" y="86752"/>
                </a:lnTo>
                <a:lnTo>
                  <a:pt x="1052540" y="76018"/>
                </a:lnTo>
                <a:lnTo>
                  <a:pt x="1109894" y="65932"/>
                </a:lnTo>
                <a:lnTo>
                  <a:pt x="1168298" y="56507"/>
                </a:lnTo>
                <a:lnTo>
                  <a:pt x="1227712" y="47758"/>
                </a:lnTo>
                <a:lnTo>
                  <a:pt x="1288099" y="39698"/>
                </a:lnTo>
                <a:lnTo>
                  <a:pt x="1349420" y="32340"/>
                </a:lnTo>
                <a:lnTo>
                  <a:pt x="1411637" y="25698"/>
                </a:lnTo>
                <a:lnTo>
                  <a:pt x="1474711" y="19787"/>
                </a:lnTo>
                <a:lnTo>
                  <a:pt x="1538604" y="14620"/>
                </a:lnTo>
                <a:lnTo>
                  <a:pt x="1603277" y="10209"/>
                </a:lnTo>
                <a:lnTo>
                  <a:pt x="1668692" y="6570"/>
                </a:lnTo>
                <a:lnTo>
                  <a:pt x="1734811" y="3716"/>
                </a:lnTo>
                <a:lnTo>
                  <a:pt x="1801594" y="1660"/>
                </a:lnTo>
                <a:lnTo>
                  <a:pt x="1869005" y="417"/>
                </a:lnTo>
                <a:lnTo>
                  <a:pt x="1937003" y="0"/>
                </a:lnTo>
                <a:lnTo>
                  <a:pt x="2005002" y="417"/>
                </a:lnTo>
                <a:lnTo>
                  <a:pt x="2072413" y="1660"/>
                </a:lnTo>
                <a:lnTo>
                  <a:pt x="2139196" y="3716"/>
                </a:lnTo>
                <a:lnTo>
                  <a:pt x="2205315" y="6570"/>
                </a:lnTo>
                <a:lnTo>
                  <a:pt x="2270730" y="10209"/>
                </a:lnTo>
                <a:lnTo>
                  <a:pt x="2335403" y="14620"/>
                </a:lnTo>
                <a:lnTo>
                  <a:pt x="2399296" y="19787"/>
                </a:lnTo>
                <a:lnTo>
                  <a:pt x="2462370" y="25698"/>
                </a:lnTo>
                <a:lnTo>
                  <a:pt x="2524587" y="32340"/>
                </a:lnTo>
                <a:lnTo>
                  <a:pt x="2585908" y="39698"/>
                </a:lnTo>
                <a:lnTo>
                  <a:pt x="2646295" y="47758"/>
                </a:lnTo>
                <a:lnTo>
                  <a:pt x="2705709" y="56507"/>
                </a:lnTo>
                <a:lnTo>
                  <a:pt x="2764113" y="65932"/>
                </a:lnTo>
                <a:lnTo>
                  <a:pt x="2821467" y="76018"/>
                </a:lnTo>
                <a:lnTo>
                  <a:pt x="2877734" y="86752"/>
                </a:lnTo>
                <a:lnTo>
                  <a:pt x="2932874" y="98121"/>
                </a:lnTo>
                <a:lnTo>
                  <a:pt x="2986850" y="110110"/>
                </a:lnTo>
                <a:lnTo>
                  <a:pt x="3039622" y="122705"/>
                </a:lnTo>
                <a:lnTo>
                  <a:pt x="3091153" y="135894"/>
                </a:lnTo>
                <a:lnTo>
                  <a:pt x="3141405" y="149662"/>
                </a:lnTo>
                <a:lnTo>
                  <a:pt x="3190338" y="163996"/>
                </a:lnTo>
                <a:lnTo>
                  <a:pt x="3237914" y="178881"/>
                </a:lnTo>
                <a:lnTo>
                  <a:pt x="3284095" y="194306"/>
                </a:lnTo>
                <a:lnTo>
                  <a:pt x="3328843" y="210254"/>
                </a:lnTo>
                <a:lnTo>
                  <a:pt x="3372119" y="226714"/>
                </a:lnTo>
                <a:lnTo>
                  <a:pt x="3413884" y="243671"/>
                </a:lnTo>
                <a:lnTo>
                  <a:pt x="3454101" y="261111"/>
                </a:lnTo>
                <a:lnTo>
                  <a:pt x="3492730" y="279022"/>
                </a:lnTo>
                <a:lnTo>
                  <a:pt x="3529733" y="297388"/>
                </a:lnTo>
                <a:lnTo>
                  <a:pt x="3565073" y="316197"/>
                </a:lnTo>
                <a:lnTo>
                  <a:pt x="3598710" y="335434"/>
                </a:lnTo>
                <a:lnTo>
                  <a:pt x="3660722" y="375141"/>
                </a:lnTo>
                <a:lnTo>
                  <a:pt x="3715464" y="416399"/>
                </a:lnTo>
                <a:lnTo>
                  <a:pt x="3762627" y="459097"/>
                </a:lnTo>
                <a:lnTo>
                  <a:pt x="3801904" y="503127"/>
                </a:lnTo>
                <a:lnTo>
                  <a:pt x="3832988" y="548379"/>
                </a:lnTo>
                <a:lnTo>
                  <a:pt x="3855572" y="594744"/>
                </a:lnTo>
                <a:lnTo>
                  <a:pt x="3869347" y="642111"/>
                </a:lnTo>
                <a:lnTo>
                  <a:pt x="3874008" y="690372"/>
                </a:lnTo>
                <a:lnTo>
                  <a:pt x="3872836" y="714607"/>
                </a:lnTo>
                <a:lnTo>
                  <a:pt x="3863580" y="762434"/>
                </a:lnTo>
                <a:lnTo>
                  <a:pt x="3845362" y="809314"/>
                </a:lnTo>
                <a:lnTo>
                  <a:pt x="3818490" y="855136"/>
                </a:lnTo>
                <a:lnTo>
                  <a:pt x="3783271" y="899790"/>
                </a:lnTo>
                <a:lnTo>
                  <a:pt x="3740012" y="943168"/>
                </a:lnTo>
                <a:lnTo>
                  <a:pt x="3689021" y="985160"/>
                </a:lnTo>
                <a:lnTo>
                  <a:pt x="3630606" y="1025656"/>
                </a:lnTo>
                <a:lnTo>
                  <a:pt x="3565073" y="1064546"/>
                </a:lnTo>
                <a:lnTo>
                  <a:pt x="3529733" y="1083355"/>
                </a:lnTo>
                <a:lnTo>
                  <a:pt x="3492730" y="1101721"/>
                </a:lnTo>
                <a:lnTo>
                  <a:pt x="3454101" y="1119632"/>
                </a:lnTo>
                <a:lnTo>
                  <a:pt x="3413884" y="1137072"/>
                </a:lnTo>
                <a:lnTo>
                  <a:pt x="3372119" y="1154029"/>
                </a:lnTo>
                <a:lnTo>
                  <a:pt x="3328843" y="1170489"/>
                </a:lnTo>
                <a:lnTo>
                  <a:pt x="3284095" y="1186437"/>
                </a:lnTo>
                <a:lnTo>
                  <a:pt x="3237914" y="1201862"/>
                </a:lnTo>
                <a:lnTo>
                  <a:pt x="3190338" y="1216747"/>
                </a:lnTo>
                <a:lnTo>
                  <a:pt x="3141405" y="1231081"/>
                </a:lnTo>
                <a:lnTo>
                  <a:pt x="3091153" y="1244849"/>
                </a:lnTo>
                <a:lnTo>
                  <a:pt x="3039622" y="1258038"/>
                </a:lnTo>
                <a:lnTo>
                  <a:pt x="2986850" y="1270633"/>
                </a:lnTo>
                <a:lnTo>
                  <a:pt x="2932874" y="1282622"/>
                </a:lnTo>
                <a:lnTo>
                  <a:pt x="2877734" y="1293991"/>
                </a:lnTo>
                <a:lnTo>
                  <a:pt x="2821467" y="1304725"/>
                </a:lnTo>
                <a:lnTo>
                  <a:pt x="2764113" y="1314811"/>
                </a:lnTo>
                <a:lnTo>
                  <a:pt x="2705709" y="1324236"/>
                </a:lnTo>
                <a:lnTo>
                  <a:pt x="2646295" y="1332985"/>
                </a:lnTo>
                <a:lnTo>
                  <a:pt x="2585908" y="1341045"/>
                </a:lnTo>
                <a:lnTo>
                  <a:pt x="2524587" y="1348403"/>
                </a:lnTo>
                <a:lnTo>
                  <a:pt x="2462370" y="1355045"/>
                </a:lnTo>
                <a:lnTo>
                  <a:pt x="2399296" y="1360956"/>
                </a:lnTo>
                <a:lnTo>
                  <a:pt x="2335403" y="1366123"/>
                </a:lnTo>
                <a:lnTo>
                  <a:pt x="2270730" y="1370534"/>
                </a:lnTo>
                <a:lnTo>
                  <a:pt x="2205315" y="1374173"/>
                </a:lnTo>
                <a:lnTo>
                  <a:pt x="2139196" y="1377027"/>
                </a:lnTo>
                <a:lnTo>
                  <a:pt x="2072413" y="1379083"/>
                </a:lnTo>
                <a:lnTo>
                  <a:pt x="2005002" y="1380326"/>
                </a:lnTo>
                <a:lnTo>
                  <a:pt x="1937003" y="1380744"/>
                </a:lnTo>
                <a:lnTo>
                  <a:pt x="1869005" y="1380326"/>
                </a:lnTo>
                <a:lnTo>
                  <a:pt x="1801594" y="1379083"/>
                </a:lnTo>
                <a:lnTo>
                  <a:pt x="1734811" y="1377027"/>
                </a:lnTo>
                <a:lnTo>
                  <a:pt x="1668692" y="1374173"/>
                </a:lnTo>
                <a:lnTo>
                  <a:pt x="1603277" y="1370534"/>
                </a:lnTo>
                <a:lnTo>
                  <a:pt x="1538604" y="1366123"/>
                </a:lnTo>
                <a:lnTo>
                  <a:pt x="1474711" y="1360956"/>
                </a:lnTo>
                <a:lnTo>
                  <a:pt x="1411637" y="1355045"/>
                </a:lnTo>
                <a:lnTo>
                  <a:pt x="1349420" y="1348403"/>
                </a:lnTo>
                <a:lnTo>
                  <a:pt x="1288099" y="1341045"/>
                </a:lnTo>
                <a:lnTo>
                  <a:pt x="1227712" y="1332985"/>
                </a:lnTo>
                <a:lnTo>
                  <a:pt x="1168298" y="1324236"/>
                </a:lnTo>
                <a:lnTo>
                  <a:pt x="1109894" y="1314811"/>
                </a:lnTo>
                <a:lnTo>
                  <a:pt x="1052540" y="1304725"/>
                </a:lnTo>
                <a:lnTo>
                  <a:pt x="996273" y="1293991"/>
                </a:lnTo>
                <a:lnTo>
                  <a:pt x="941133" y="1282622"/>
                </a:lnTo>
                <a:lnTo>
                  <a:pt x="887157" y="1270633"/>
                </a:lnTo>
                <a:lnTo>
                  <a:pt x="834385" y="1258038"/>
                </a:lnTo>
                <a:lnTo>
                  <a:pt x="782854" y="1244849"/>
                </a:lnTo>
                <a:lnTo>
                  <a:pt x="732602" y="1231081"/>
                </a:lnTo>
                <a:lnTo>
                  <a:pt x="683669" y="1216747"/>
                </a:lnTo>
                <a:lnTo>
                  <a:pt x="636093" y="1201862"/>
                </a:lnTo>
                <a:lnTo>
                  <a:pt x="589912" y="1186437"/>
                </a:lnTo>
                <a:lnTo>
                  <a:pt x="545164" y="1170489"/>
                </a:lnTo>
                <a:lnTo>
                  <a:pt x="501888" y="1154029"/>
                </a:lnTo>
                <a:lnTo>
                  <a:pt x="460123" y="1137072"/>
                </a:lnTo>
                <a:lnTo>
                  <a:pt x="419906" y="1119632"/>
                </a:lnTo>
                <a:lnTo>
                  <a:pt x="381277" y="1101721"/>
                </a:lnTo>
                <a:lnTo>
                  <a:pt x="344274" y="1083355"/>
                </a:lnTo>
                <a:lnTo>
                  <a:pt x="308934" y="1064546"/>
                </a:lnTo>
                <a:lnTo>
                  <a:pt x="275297" y="1045309"/>
                </a:lnTo>
                <a:lnTo>
                  <a:pt x="213285" y="1005602"/>
                </a:lnTo>
                <a:lnTo>
                  <a:pt x="158543" y="964344"/>
                </a:lnTo>
                <a:lnTo>
                  <a:pt x="111380" y="921646"/>
                </a:lnTo>
                <a:lnTo>
                  <a:pt x="72103" y="877616"/>
                </a:lnTo>
                <a:lnTo>
                  <a:pt x="41019" y="832364"/>
                </a:lnTo>
                <a:lnTo>
                  <a:pt x="18435" y="785999"/>
                </a:lnTo>
                <a:lnTo>
                  <a:pt x="4660" y="738632"/>
                </a:lnTo>
                <a:lnTo>
                  <a:pt x="0" y="690372"/>
                </a:lnTo>
                <a:close/>
              </a:path>
            </a:pathLst>
          </a:custGeom>
          <a:ln w="2590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86759" y="3364229"/>
            <a:ext cx="11684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宋体"/>
                <a:cs typeface="宋体"/>
              </a:rPr>
              <a:t>质量形成阶段</a:t>
            </a:r>
            <a:endParaRPr sz="1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265303"/>
            <a:ext cx="317817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质量成本</a:t>
            </a:r>
            <a:r>
              <a:rPr spc="-5" dirty="0"/>
              <a:t>（</a:t>
            </a:r>
            <a:r>
              <a:rPr i="1" dirty="0">
                <a:latin typeface="华文隶书"/>
                <a:cs typeface="华文隶书"/>
              </a:rPr>
              <a:t>CoQ</a:t>
            </a:r>
            <a:r>
              <a:rPr dirty="0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7492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14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9644" y="1347216"/>
            <a:ext cx="6574790" cy="1009015"/>
          </a:xfrm>
          <a:custGeom>
            <a:avLst/>
            <a:gdLst/>
            <a:ahLst/>
            <a:cxnLst/>
            <a:rect l="l" t="t" r="r" b="b"/>
            <a:pathLst>
              <a:path w="6574790" h="1009014">
                <a:moveTo>
                  <a:pt x="0" y="1008887"/>
                </a:moveTo>
                <a:lnTo>
                  <a:pt x="6574535" y="1008887"/>
                </a:lnTo>
                <a:lnTo>
                  <a:pt x="6574535" y="0"/>
                </a:lnTo>
                <a:lnTo>
                  <a:pt x="0" y="0"/>
                </a:lnTo>
                <a:lnTo>
                  <a:pt x="0" y="100888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8688" y="1326790"/>
            <a:ext cx="3836112" cy="852156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2095" indent="-240029">
              <a:lnSpc>
                <a:spcPct val="100000"/>
              </a:lnSpc>
              <a:spcBef>
                <a:spcPts val="625"/>
              </a:spcBef>
              <a:buClr>
                <a:srgbClr val="DD8046"/>
              </a:buClr>
              <a:buSzPct val="60869"/>
              <a:buFont typeface="Wingdings"/>
              <a:buChar char=""/>
              <a:tabLst>
                <a:tab pos="252729" algn="l"/>
              </a:tabLst>
            </a:pPr>
            <a:r>
              <a:rPr sz="2300" spc="25" dirty="0" err="1">
                <a:latin typeface="隶书"/>
                <a:cs typeface="隶书"/>
              </a:rPr>
              <a:t>预防成本</a:t>
            </a:r>
            <a:r>
              <a:rPr lang="zh-CN" altLang="en-US" sz="2300" spc="25" dirty="0">
                <a:latin typeface="隶书"/>
                <a:cs typeface="隶书"/>
              </a:rPr>
              <a:t> </a:t>
            </a:r>
            <a:r>
              <a:rPr sz="2300" dirty="0">
                <a:latin typeface="隶书"/>
                <a:cs typeface="隶书"/>
              </a:rPr>
              <a:t>:</a:t>
            </a:r>
            <a:r>
              <a:rPr lang="zh-CN" altLang="en-US" sz="2300" dirty="0">
                <a:latin typeface="隶书"/>
                <a:cs typeface="隶书"/>
              </a:rPr>
              <a:t> </a:t>
            </a:r>
            <a:r>
              <a:rPr sz="2300" spc="30" dirty="0" err="1">
                <a:latin typeface="隶书"/>
                <a:cs typeface="隶书"/>
              </a:rPr>
              <a:t>前期质量</a:t>
            </a:r>
            <a:r>
              <a:rPr sz="2300" spc="15" dirty="0" err="1">
                <a:latin typeface="隶书"/>
                <a:cs typeface="隶书"/>
              </a:rPr>
              <a:t>成</a:t>
            </a:r>
            <a:r>
              <a:rPr sz="2300" spc="30" dirty="0" err="1">
                <a:latin typeface="隶书"/>
                <a:cs typeface="隶书"/>
              </a:rPr>
              <a:t>本</a:t>
            </a:r>
            <a:endParaRPr sz="2300" dirty="0">
              <a:latin typeface="隶书"/>
              <a:cs typeface="隶书"/>
            </a:endParaRPr>
          </a:p>
          <a:p>
            <a:pPr marL="252095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869"/>
              <a:buFont typeface="Wingdings"/>
              <a:buChar char=""/>
              <a:tabLst>
                <a:tab pos="252729" algn="l"/>
              </a:tabLst>
            </a:pPr>
            <a:r>
              <a:rPr sz="2300" spc="25" dirty="0" err="1">
                <a:latin typeface="隶书"/>
                <a:cs typeface="隶书"/>
              </a:rPr>
              <a:t>缺陷成本</a:t>
            </a:r>
            <a:r>
              <a:rPr lang="zh-CN" altLang="en-US" sz="2300" spc="25" dirty="0">
                <a:latin typeface="隶书"/>
                <a:cs typeface="隶书"/>
              </a:rPr>
              <a:t> </a:t>
            </a:r>
            <a:r>
              <a:rPr sz="2300" spc="-5" dirty="0">
                <a:latin typeface="隶书"/>
                <a:cs typeface="隶书"/>
              </a:rPr>
              <a:t>:</a:t>
            </a:r>
            <a:r>
              <a:rPr lang="zh-CN" altLang="en-US" sz="2300" spc="-5" dirty="0">
                <a:latin typeface="隶书"/>
                <a:cs typeface="隶书"/>
              </a:rPr>
              <a:t> </a:t>
            </a:r>
            <a:r>
              <a:rPr sz="2300" spc="25" dirty="0" err="1">
                <a:latin typeface="隶书"/>
                <a:cs typeface="隶书"/>
              </a:rPr>
              <a:t>后期质量</a:t>
            </a:r>
            <a:r>
              <a:rPr sz="2300" spc="15" dirty="0" err="1">
                <a:latin typeface="隶书"/>
                <a:cs typeface="隶书"/>
              </a:rPr>
              <a:t>成</a:t>
            </a:r>
            <a:r>
              <a:rPr sz="2300" spc="25" dirty="0" err="1">
                <a:latin typeface="隶书"/>
                <a:cs typeface="隶书"/>
              </a:rPr>
              <a:t>本</a:t>
            </a:r>
            <a:endParaRPr sz="2300" dirty="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6054"/>
            <a:ext cx="338074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缺陷修复成本比较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62121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15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665" y="3080766"/>
            <a:ext cx="55753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It is </a:t>
            </a:r>
            <a:r>
              <a:rPr sz="2400" u="heavy" spc="-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important </a:t>
            </a: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to </a:t>
            </a:r>
            <a:r>
              <a:rPr sz="2400" u="heavy" spc="-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spend money </a:t>
            </a: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up-front on</a:t>
            </a:r>
            <a:r>
              <a:rPr sz="2400" u="heavy" spc="-6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IT </a:t>
            </a:r>
            <a:r>
              <a:rPr sz="240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projects to avoid </a:t>
            </a:r>
            <a:r>
              <a:rPr sz="2400" u="heavy" spc="-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spending </a:t>
            </a:r>
            <a:r>
              <a:rPr sz="2400" u="heavy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a lot </a:t>
            </a:r>
            <a:r>
              <a:rPr sz="2400" u="heavy" spc="-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more</a:t>
            </a:r>
            <a:r>
              <a:rPr sz="2400" u="heavy" spc="-105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20" dirty="0">
                <a:solidFill>
                  <a:srgbClr val="DD8046"/>
                </a:solidFill>
                <a:uFill>
                  <a:solidFill>
                    <a:srgbClr val="DD8046"/>
                  </a:solidFill>
                </a:uFill>
                <a:latin typeface="Times New Roman"/>
                <a:cs typeface="Times New Roman"/>
              </a:rPr>
              <a:t>later.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5719" y="1443216"/>
          <a:ext cx="6809105" cy="1230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024">
                <a:tc>
                  <a:txBody>
                    <a:bodyPr/>
                    <a:lstStyle/>
                    <a:p>
                      <a:pPr marL="742950">
                        <a:lnSpc>
                          <a:spcPts val="1505"/>
                        </a:lnSpc>
                      </a:pPr>
                      <a:r>
                        <a:rPr sz="1350" b="1" spc="65" dirty="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sz="1350" b="1" spc="50" dirty="0">
                          <a:latin typeface="Times New Roman"/>
                          <a:cs typeface="Times New Roman"/>
                        </a:rPr>
                        <a:t>Defect </a:t>
                      </a:r>
                      <a:r>
                        <a:rPr sz="1350" b="1" spc="4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5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b="1" spc="50" dirty="0">
                          <a:latin typeface="Times New Roman"/>
                          <a:cs typeface="Times New Roman"/>
                        </a:rPr>
                        <a:t>Detected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9605">
                        <a:lnSpc>
                          <a:spcPts val="1505"/>
                        </a:lnSpc>
                      </a:pPr>
                      <a:r>
                        <a:rPr sz="1350" b="1" spc="45" dirty="0">
                          <a:latin typeface="Times New Roman"/>
                          <a:cs typeface="Times New Roman"/>
                        </a:rPr>
                        <a:t>Typical </a:t>
                      </a:r>
                      <a:r>
                        <a:rPr sz="1350" b="1" spc="4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350" b="1" spc="3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b="1" spc="50" dirty="0">
                          <a:latin typeface="Times New Roman"/>
                          <a:cs typeface="Times New Roman"/>
                        </a:rPr>
                        <a:t>Correction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964">
                <a:tc>
                  <a:txBody>
                    <a:bodyPr/>
                    <a:lstStyle/>
                    <a:p>
                      <a:pPr marL="83185">
                        <a:lnSpc>
                          <a:spcPts val="1530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3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5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530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$100-$1,000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024">
                <a:tc>
                  <a:txBody>
                    <a:bodyPr/>
                    <a:lstStyle/>
                    <a:p>
                      <a:pPr marL="83185">
                        <a:lnSpc>
                          <a:spcPts val="1505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Coding/Unit</a:t>
                      </a:r>
                      <a:r>
                        <a:rPr sz="135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505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$1,000 or</a:t>
                      </a:r>
                      <a:r>
                        <a:rPr sz="13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55" dirty="0">
                          <a:latin typeface="Times New Roman"/>
                          <a:cs typeface="Times New Roman"/>
                        </a:rPr>
                        <a:t>more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959">
                <a:tc>
                  <a:txBody>
                    <a:bodyPr/>
                    <a:lstStyle/>
                    <a:p>
                      <a:pPr marL="83185">
                        <a:lnSpc>
                          <a:spcPts val="1530"/>
                        </a:lnSpc>
                      </a:pPr>
                      <a:r>
                        <a:rPr sz="1350" spc="5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530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$7,000 </a:t>
                      </a:r>
                      <a:r>
                        <a:rPr sz="1350" spc="4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$8,000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024">
                <a:tc>
                  <a:txBody>
                    <a:bodyPr/>
                    <a:lstStyle/>
                    <a:p>
                      <a:pPr marL="83185">
                        <a:lnSpc>
                          <a:spcPts val="1505"/>
                        </a:lnSpc>
                      </a:pPr>
                      <a:r>
                        <a:rPr sz="1350" spc="5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3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505"/>
                        </a:lnSpc>
                      </a:pP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$1,000 </a:t>
                      </a:r>
                      <a:r>
                        <a:rPr sz="1350" spc="4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$100,000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024">
                <a:tc>
                  <a:txBody>
                    <a:bodyPr/>
                    <a:lstStyle/>
                    <a:p>
                      <a:pPr marL="83185">
                        <a:lnSpc>
                          <a:spcPts val="1505"/>
                        </a:lnSpc>
                      </a:pPr>
                      <a:r>
                        <a:rPr sz="1350" spc="40" dirty="0">
                          <a:latin typeface="Times New Roman"/>
                          <a:cs typeface="Times New Roman"/>
                        </a:rPr>
                        <a:t>After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505"/>
                        </a:lnSpc>
                      </a:pPr>
                      <a:r>
                        <a:rPr sz="1350" spc="60" dirty="0">
                          <a:latin typeface="Times New Roman"/>
                          <a:cs typeface="Times New Roman"/>
                        </a:rPr>
                        <a:t>Up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to millions of</a:t>
                      </a:r>
                      <a:r>
                        <a:rPr sz="135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50" spc="45" dirty="0">
                          <a:latin typeface="Times New Roman"/>
                          <a:cs typeface="Times New Roman"/>
                        </a:rPr>
                        <a:t>dollars</a:t>
                      </a:r>
                      <a:endParaRPr sz="1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9103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16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874" y="168209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272" y="1600200"/>
            <a:ext cx="378460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874" y="2271247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2188464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874" y="3450501"/>
            <a:ext cx="191135" cy="25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272" y="3368040"/>
            <a:ext cx="36449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223" y="1600200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429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8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软件质量基本概念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2188464"/>
            <a:ext cx="3472179" cy="3937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755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9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软件质量活动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8507" y="3368040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698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5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软件质量计划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749" y="4004366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036" y="3922776"/>
            <a:ext cx="361315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2223" y="3922776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175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096" y="283817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747" y="2755392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5460" y="2755392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39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敏捷质量活动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15" y="133603"/>
            <a:ext cx="33782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软件质量管理活动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53917" y="41447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17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122" y="1419605"/>
            <a:ext cx="6114415" cy="120713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28930" indent="-240029">
              <a:lnSpc>
                <a:spcPct val="100000"/>
              </a:lnSpc>
              <a:spcBef>
                <a:spcPts val="43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29565" algn="l"/>
              </a:tabLst>
            </a:pPr>
            <a:r>
              <a:rPr sz="2400" dirty="0">
                <a:latin typeface="隶书"/>
                <a:cs typeface="隶书"/>
              </a:rPr>
              <a:t>软件质量保证</a:t>
            </a:r>
            <a:endParaRPr sz="2400">
              <a:latin typeface="隶书"/>
              <a:cs typeface="隶书"/>
            </a:endParaRPr>
          </a:p>
          <a:p>
            <a:pPr marL="328930" indent="-240029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29565" algn="l"/>
              </a:tabLst>
            </a:pPr>
            <a:r>
              <a:rPr sz="2400" dirty="0">
                <a:latin typeface="隶书"/>
                <a:cs typeface="隶书"/>
              </a:rPr>
              <a:t>软件质量控制</a:t>
            </a:r>
            <a:endParaRPr sz="24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15" y="238505"/>
            <a:ext cx="29591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质量管理的对象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8017" y="4092346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18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1365" y="1357122"/>
            <a:ext cx="6114415" cy="113284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329565" indent="-240029">
              <a:lnSpc>
                <a:spcPct val="100000"/>
              </a:lnSpc>
              <a:spcBef>
                <a:spcPts val="459"/>
              </a:spcBef>
              <a:buClr>
                <a:srgbClr val="DD8046"/>
              </a:buClr>
              <a:buSzPct val="59615"/>
              <a:buFont typeface="Wingdings"/>
              <a:buChar char=""/>
              <a:tabLst>
                <a:tab pos="330200" algn="l"/>
              </a:tabLst>
            </a:pPr>
            <a:r>
              <a:rPr sz="2600" spc="30" dirty="0">
                <a:latin typeface="隶书"/>
                <a:cs typeface="隶书"/>
              </a:rPr>
              <a:t>过程的</a:t>
            </a:r>
            <a:r>
              <a:rPr sz="2600" spc="5" dirty="0">
                <a:latin typeface="隶书"/>
                <a:cs typeface="隶书"/>
              </a:rPr>
              <a:t>质</a:t>
            </a:r>
            <a:r>
              <a:rPr sz="2600" spc="30" dirty="0">
                <a:latin typeface="隶书"/>
                <a:cs typeface="隶书"/>
              </a:rPr>
              <a:t>量</a:t>
            </a:r>
            <a:endParaRPr sz="2600">
              <a:latin typeface="隶书"/>
              <a:cs typeface="隶书"/>
            </a:endParaRPr>
          </a:p>
          <a:p>
            <a:pPr marL="329565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59615"/>
              <a:buFont typeface="Wingdings"/>
              <a:buChar char=""/>
              <a:tabLst>
                <a:tab pos="330200" algn="l"/>
              </a:tabLst>
            </a:pPr>
            <a:r>
              <a:rPr sz="2600" spc="25" dirty="0">
                <a:latin typeface="隶书"/>
                <a:cs typeface="隶书"/>
              </a:rPr>
              <a:t>产品的</a:t>
            </a:r>
            <a:r>
              <a:rPr sz="2600" spc="10" dirty="0">
                <a:latin typeface="隶书"/>
                <a:cs typeface="隶书"/>
              </a:rPr>
              <a:t>质</a:t>
            </a:r>
            <a:r>
              <a:rPr sz="2600" spc="25" dirty="0">
                <a:latin typeface="隶书"/>
                <a:cs typeface="隶书"/>
              </a:rPr>
              <a:t>量</a:t>
            </a:r>
            <a:endParaRPr sz="26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241" y="217678"/>
            <a:ext cx="24314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质量保证</a:t>
            </a:r>
            <a:r>
              <a:rPr i="1" dirty="0">
                <a:latin typeface="华文隶书"/>
                <a:cs typeface="华文隶书"/>
              </a:rPr>
              <a:t>(Q</a:t>
            </a:r>
            <a:r>
              <a:rPr i="1" spc="-15" dirty="0">
                <a:latin typeface="华文隶书"/>
                <a:cs typeface="华文隶书"/>
              </a:rPr>
              <a:t>A</a:t>
            </a:r>
            <a:r>
              <a:rPr i="1" dirty="0">
                <a:latin typeface="华文隶书"/>
                <a:cs typeface="华文隶书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2777" y="42526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19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1036" y="1761744"/>
            <a:ext cx="3139440" cy="2322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255778"/>
            <a:ext cx="243141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质量保证</a:t>
            </a:r>
            <a:r>
              <a:rPr i="1" dirty="0">
                <a:latin typeface="华文隶书"/>
                <a:cs typeface="华文隶书"/>
              </a:rPr>
              <a:t>(Q</a:t>
            </a:r>
            <a:r>
              <a:rPr i="1" spc="-15" dirty="0">
                <a:latin typeface="华文隶书"/>
                <a:cs typeface="华文隶书"/>
              </a:rPr>
              <a:t>A</a:t>
            </a:r>
            <a:r>
              <a:rPr i="1" dirty="0">
                <a:latin typeface="华文隶书"/>
                <a:cs typeface="华文隶书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2777" y="42526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20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688" y="1384527"/>
            <a:ext cx="5478145" cy="22358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3365" indent="-241300">
              <a:lnSpc>
                <a:spcPct val="100000"/>
              </a:lnSpc>
              <a:spcBef>
                <a:spcPts val="600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dirty="0">
                <a:latin typeface="隶书"/>
                <a:cs typeface="隶书"/>
              </a:rPr>
              <a:t>通过评</a:t>
            </a:r>
            <a:r>
              <a:rPr sz="2000" spc="-15" dirty="0">
                <a:latin typeface="隶书"/>
                <a:cs typeface="隶书"/>
              </a:rPr>
              <a:t>价</a:t>
            </a:r>
            <a:r>
              <a:rPr sz="2000" dirty="0">
                <a:latin typeface="隶书"/>
                <a:cs typeface="隶书"/>
              </a:rPr>
              <a:t>项</a:t>
            </a:r>
            <a:r>
              <a:rPr sz="2000" spc="-15" dirty="0">
                <a:latin typeface="隶书"/>
                <a:cs typeface="隶书"/>
              </a:rPr>
              <a:t>目</a:t>
            </a:r>
            <a:r>
              <a:rPr sz="2000" dirty="0">
                <a:latin typeface="隶书"/>
                <a:cs typeface="隶书"/>
              </a:rPr>
              <a:t>整体绩效</a:t>
            </a:r>
            <a:r>
              <a:rPr sz="2000" spc="-10" dirty="0">
                <a:latin typeface="隶书"/>
                <a:cs typeface="隶书"/>
              </a:rPr>
              <a:t>,建</a:t>
            </a:r>
            <a:r>
              <a:rPr sz="2000" dirty="0">
                <a:latin typeface="隶书"/>
                <a:cs typeface="隶书"/>
              </a:rPr>
              <a:t>立对</a:t>
            </a:r>
            <a:r>
              <a:rPr sz="2000" spc="5" dirty="0">
                <a:latin typeface="隶书"/>
                <a:cs typeface="隶书"/>
              </a:rPr>
              <a:t>质</a:t>
            </a:r>
            <a:r>
              <a:rPr sz="2000" spc="-10" dirty="0">
                <a:latin typeface="隶书"/>
                <a:cs typeface="隶书"/>
              </a:rPr>
              <a:t>量</a:t>
            </a:r>
            <a:r>
              <a:rPr sz="2000" dirty="0">
                <a:latin typeface="隶书"/>
                <a:cs typeface="隶书"/>
              </a:rPr>
              <a:t>要</a:t>
            </a:r>
            <a:r>
              <a:rPr sz="2000" spc="-10" dirty="0">
                <a:latin typeface="隶书"/>
                <a:cs typeface="隶书"/>
              </a:rPr>
              <a:t>求</a:t>
            </a:r>
            <a:r>
              <a:rPr sz="2000" dirty="0">
                <a:latin typeface="隶书"/>
                <a:cs typeface="隶书"/>
              </a:rPr>
              <a:t>的信任</a:t>
            </a:r>
            <a:endParaRPr sz="2000">
              <a:latin typeface="隶书"/>
              <a:cs typeface="隶书"/>
            </a:endParaRPr>
          </a:p>
          <a:p>
            <a:pPr marL="253365" indent="-241300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spc="5" dirty="0">
                <a:latin typeface="隶书"/>
                <a:cs typeface="隶书"/>
              </a:rPr>
              <a:t>提供</a:t>
            </a:r>
            <a:r>
              <a:rPr sz="2000" spc="-5" dirty="0">
                <a:latin typeface="隶书"/>
                <a:cs typeface="隶书"/>
              </a:rPr>
              <a:t>项</a:t>
            </a:r>
            <a:r>
              <a:rPr sz="2000" spc="-10" dirty="0">
                <a:latin typeface="隶书"/>
                <a:cs typeface="隶书"/>
              </a:rPr>
              <a:t>目</a:t>
            </a:r>
            <a:r>
              <a:rPr sz="2000" spc="5" dirty="0">
                <a:latin typeface="隶书"/>
                <a:cs typeface="隶书"/>
              </a:rPr>
              <a:t>和</a:t>
            </a:r>
            <a:r>
              <a:rPr sz="2000" spc="-15" dirty="0">
                <a:latin typeface="隶书"/>
                <a:cs typeface="隶书"/>
              </a:rPr>
              <a:t>产</a:t>
            </a:r>
            <a:r>
              <a:rPr sz="2000" spc="5" dirty="0">
                <a:latin typeface="隶书"/>
                <a:cs typeface="隶书"/>
              </a:rPr>
              <a:t>品可</a:t>
            </a:r>
            <a:r>
              <a:rPr sz="2000" spc="-5" dirty="0">
                <a:latin typeface="隶书"/>
                <a:cs typeface="隶书"/>
              </a:rPr>
              <a:t>视</a:t>
            </a:r>
            <a:r>
              <a:rPr sz="2000" spc="-10" dirty="0">
                <a:latin typeface="隶书"/>
                <a:cs typeface="隶书"/>
              </a:rPr>
              <a:t>化</a:t>
            </a:r>
            <a:r>
              <a:rPr sz="2000" spc="5" dirty="0">
                <a:latin typeface="隶书"/>
                <a:cs typeface="隶书"/>
              </a:rPr>
              <a:t>的</a:t>
            </a:r>
            <a:r>
              <a:rPr sz="2000" spc="-15" dirty="0">
                <a:latin typeface="隶书"/>
                <a:cs typeface="隶书"/>
              </a:rPr>
              <a:t>管</a:t>
            </a:r>
            <a:r>
              <a:rPr sz="2000" spc="5" dirty="0">
                <a:latin typeface="隶书"/>
                <a:cs typeface="隶书"/>
              </a:rPr>
              <a:t>理报告</a:t>
            </a:r>
            <a:endParaRPr sz="2000">
              <a:latin typeface="隶书"/>
              <a:cs typeface="隶书"/>
            </a:endParaRPr>
          </a:p>
          <a:p>
            <a:pPr marL="253365" indent="-241300">
              <a:lnSpc>
                <a:spcPct val="100000"/>
              </a:lnSpc>
              <a:spcBef>
                <a:spcPts val="495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dirty="0">
                <a:latin typeface="隶书"/>
                <a:cs typeface="隶书"/>
              </a:rPr>
              <a:t>例如：</a:t>
            </a:r>
            <a:r>
              <a:rPr sz="2000" spc="-15" dirty="0">
                <a:latin typeface="隶书"/>
                <a:cs typeface="隶书"/>
              </a:rPr>
              <a:t>《</a:t>
            </a:r>
            <a:r>
              <a:rPr sz="2000" dirty="0">
                <a:latin typeface="隶书"/>
                <a:cs typeface="隶书"/>
              </a:rPr>
              <a:t>软</a:t>
            </a:r>
            <a:r>
              <a:rPr sz="2000" spc="-15" dirty="0">
                <a:latin typeface="隶书"/>
                <a:cs typeface="隶书"/>
              </a:rPr>
              <a:t>件</a:t>
            </a:r>
            <a:r>
              <a:rPr sz="2000" dirty="0">
                <a:latin typeface="隶书"/>
                <a:cs typeface="隶书"/>
              </a:rPr>
              <a:t>设计说</a:t>
            </a:r>
            <a:r>
              <a:rPr sz="2000" spc="-15" dirty="0">
                <a:latin typeface="隶书"/>
                <a:cs typeface="隶书"/>
              </a:rPr>
              <a:t>明</a:t>
            </a:r>
            <a:r>
              <a:rPr sz="2000" dirty="0">
                <a:latin typeface="隶书"/>
                <a:cs typeface="隶书"/>
              </a:rPr>
              <a:t>书</a:t>
            </a:r>
            <a:r>
              <a:rPr sz="2000" spc="-10" dirty="0">
                <a:latin typeface="隶书"/>
                <a:cs typeface="隶书"/>
              </a:rPr>
              <a:t>》</a:t>
            </a:r>
            <a:r>
              <a:rPr sz="2000" dirty="0">
                <a:latin typeface="隶书"/>
                <a:cs typeface="隶书"/>
              </a:rPr>
              <a:t>质量审计</a:t>
            </a:r>
            <a:endParaRPr sz="2000">
              <a:latin typeface="隶书"/>
              <a:cs typeface="隶书"/>
            </a:endParaRPr>
          </a:p>
          <a:p>
            <a:pPr marL="253365" indent="-241300">
              <a:lnSpc>
                <a:spcPct val="100000"/>
              </a:lnSpc>
              <a:spcBef>
                <a:spcPts val="500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dirty="0">
                <a:latin typeface="隶书"/>
                <a:cs typeface="隶书"/>
              </a:rPr>
              <a:t>Is it done</a:t>
            </a:r>
            <a:r>
              <a:rPr sz="2000" spc="-20" dirty="0">
                <a:latin typeface="隶书"/>
                <a:cs typeface="隶书"/>
              </a:rPr>
              <a:t> </a:t>
            </a:r>
            <a:r>
              <a:rPr sz="2000" spc="-5" dirty="0">
                <a:latin typeface="隶书"/>
                <a:cs typeface="隶书"/>
              </a:rPr>
              <a:t>right?</a:t>
            </a:r>
            <a:endParaRPr sz="2000">
              <a:latin typeface="隶书"/>
              <a:cs typeface="隶书"/>
            </a:endParaRPr>
          </a:p>
          <a:p>
            <a:pPr marL="253365" indent="-241300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spc="5" dirty="0">
                <a:latin typeface="隶书"/>
                <a:cs typeface="隶书"/>
              </a:rPr>
              <a:t>这个</a:t>
            </a:r>
            <a:r>
              <a:rPr sz="2000" spc="-5" dirty="0">
                <a:latin typeface="隶书"/>
                <a:cs typeface="隶书"/>
              </a:rPr>
              <a:t>任</a:t>
            </a:r>
            <a:r>
              <a:rPr sz="2000" spc="-10" dirty="0">
                <a:latin typeface="隶书"/>
                <a:cs typeface="隶书"/>
              </a:rPr>
              <a:t>务</a:t>
            </a:r>
            <a:r>
              <a:rPr sz="2000" spc="5" dirty="0">
                <a:latin typeface="隶书"/>
                <a:cs typeface="隶书"/>
              </a:rPr>
              <a:t>本</a:t>
            </a:r>
            <a:r>
              <a:rPr sz="2000" spc="-15" dirty="0">
                <a:latin typeface="隶书"/>
                <a:cs typeface="隶书"/>
              </a:rPr>
              <a:t>身</a:t>
            </a:r>
            <a:r>
              <a:rPr sz="2000" spc="5" dirty="0">
                <a:latin typeface="隶书"/>
                <a:cs typeface="隶书"/>
              </a:rPr>
              <a:t>并不</a:t>
            </a:r>
            <a:r>
              <a:rPr sz="2000" spc="-5" dirty="0">
                <a:latin typeface="隶书"/>
                <a:cs typeface="隶书"/>
              </a:rPr>
              <a:t>能</a:t>
            </a:r>
            <a:r>
              <a:rPr sz="2000" spc="-10" dirty="0">
                <a:latin typeface="隶书"/>
                <a:cs typeface="隶书"/>
              </a:rPr>
              <a:t>提</a:t>
            </a:r>
            <a:r>
              <a:rPr sz="2000" spc="5" dirty="0">
                <a:latin typeface="隶书"/>
                <a:cs typeface="隶书"/>
              </a:rPr>
              <a:t>高</a:t>
            </a:r>
            <a:r>
              <a:rPr sz="2000" spc="-15" dirty="0">
                <a:latin typeface="隶书"/>
                <a:cs typeface="隶书"/>
              </a:rPr>
              <a:t>产</a:t>
            </a:r>
            <a:r>
              <a:rPr sz="2000" spc="5" dirty="0">
                <a:latin typeface="隶书"/>
                <a:cs typeface="隶书"/>
              </a:rPr>
              <a:t>品的</a:t>
            </a:r>
            <a:r>
              <a:rPr sz="2000" spc="-5" dirty="0">
                <a:latin typeface="隶书"/>
                <a:cs typeface="隶书"/>
              </a:rPr>
              <a:t>质</a:t>
            </a:r>
            <a:r>
              <a:rPr sz="2000" spc="5" dirty="0">
                <a:latin typeface="隶书"/>
                <a:cs typeface="隶书"/>
              </a:rPr>
              <a:t>量</a:t>
            </a:r>
            <a:endParaRPr sz="2000">
              <a:latin typeface="隶书"/>
              <a:cs typeface="隶书"/>
            </a:endParaRPr>
          </a:p>
          <a:p>
            <a:pPr marL="253365" indent="-241300">
              <a:lnSpc>
                <a:spcPct val="100000"/>
              </a:lnSpc>
              <a:spcBef>
                <a:spcPts val="495"/>
              </a:spcBef>
              <a:buClr>
                <a:srgbClr val="DD8046"/>
              </a:buClr>
              <a:buSzPct val="60000"/>
              <a:buFont typeface="Wingdings"/>
              <a:buChar char=""/>
              <a:tabLst>
                <a:tab pos="254000" algn="l"/>
              </a:tabLst>
            </a:pPr>
            <a:r>
              <a:rPr sz="2000" dirty="0">
                <a:latin typeface="隶书"/>
                <a:cs typeface="隶书"/>
              </a:rPr>
              <a:t>一般由</a:t>
            </a:r>
            <a:r>
              <a:rPr sz="2000" spc="-15" dirty="0">
                <a:latin typeface="隶书"/>
                <a:cs typeface="隶书"/>
              </a:rPr>
              <a:t>质</a:t>
            </a:r>
            <a:r>
              <a:rPr sz="2000" dirty="0">
                <a:latin typeface="隶书"/>
                <a:cs typeface="隶书"/>
              </a:rPr>
              <a:t>量</a:t>
            </a:r>
            <a:r>
              <a:rPr sz="2000" spc="-15" dirty="0">
                <a:latin typeface="隶书"/>
                <a:cs typeface="隶书"/>
              </a:rPr>
              <a:t>保</a:t>
            </a:r>
            <a:r>
              <a:rPr sz="2000" dirty="0">
                <a:latin typeface="隶书"/>
                <a:cs typeface="隶书"/>
              </a:rPr>
              <a:t>证部门</a:t>
            </a:r>
            <a:r>
              <a:rPr sz="2000" spc="-15" dirty="0">
                <a:latin typeface="隶书"/>
                <a:cs typeface="隶书"/>
              </a:rPr>
              <a:t>人</a:t>
            </a:r>
            <a:r>
              <a:rPr sz="2000" dirty="0">
                <a:latin typeface="隶书"/>
                <a:cs typeface="隶书"/>
              </a:rPr>
              <a:t>员</a:t>
            </a:r>
            <a:r>
              <a:rPr sz="2000" spc="-15" dirty="0">
                <a:latin typeface="隶书"/>
                <a:cs typeface="隶书"/>
              </a:rPr>
              <a:t>实</a:t>
            </a:r>
            <a:r>
              <a:rPr sz="2000" dirty="0">
                <a:latin typeface="隶书"/>
                <a:cs typeface="隶书"/>
              </a:rPr>
              <a:t>施</a:t>
            </a:r>
            <a:endParaRPr sz="20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667" y="220421"/>
            <a:ext cx="54082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质量保证活</a:t>
            </a:r>
            <a:r>
              <a:rPr dirty="0"/>
              <a:t>动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spc="-5" dirty="0"/>
              <a:t>审计</a:t>
            </a:r>
            <a:r>
              <a:rPr dirty="0"/>
              <a:t>（</a:t>
            </a:r>
            <a:r>
              <a:rPr spc="-40" dirty="0"/>
              <a:t> </a:t>
            </a:r>
            <a:r>
              <a:rPr i="1" dirty="0">
                <a:latin typeface="华文隶书"/>
                <a:cs typeface="华文隶书"/>
              </a:rPr>
              <a:t>Audit</a:t>
            </a:r>
            <a:r>
              <a:rPr i="1" spc="-60" dirty="0">
                <a:latin typeface="华文隶书"/>
                <a:cs typeface="华文隶书"/>
              </a:rPr>
              <a:t> </a:t>
            </a:r>
            <a:r>
              <a:rPr dirty="0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22777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21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416" y="1389964"/>
            <a:ext cx="6380480" cy="10204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1460" marR="5080" indent="-239395">
              <a:lnSpc>
                <a:spcPct val="101200"/>
              </a:lnSpc>
              <a:spcBef>
                <a:spcPts val="9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b="1" spc="35" dirty="0">
                <a:solidFill>
                  <a:srgbClr val="FF66FF"/>
                </a:solidFill>
                <a:latin typeface="隶书"/>
                <a:cs typeface="隶书"/>
              </a:rPr>
              <a:t>审</a:t>
            </a:r>
            <a:r>
              <a:rPr sz="2150" b="1" spc="20" dirty="0">
                <a:solidFill>
                  <a:srgbClr val="FF66FF"/>
                </a:solidFill>
                <a:latin typeface="隶书"/>
                <a:cs typeface="隶书"/>
              </a:rPr>
              <a:t>计</a:t>
            </a:r>
            <a:r>
              <a:rPr sz="2150" b="1" spc="10" dirty="0">
                <a:solidFill>
                  <a:srgbClr val="FF66FF"/>
                </a:solidFill>
                <a:latin typeface="隶书"/>
                <a:cs typeface="隶书"/>
              </a:rPr>
              <a:t>(Audit)</a:t>
            </a:r>
            <a:r>
              <a:rPr sz="2150" b="1" spc="-25" dirty="0">
                <a:solidFill>
                  <a:srgbClr val="FF66FF"/>
                </a:solidFill>
                <a:latin typeface="隶书"/>
                <a:cs typeface="隶书"/>
              </a:rPr>
              <a:t> </a:t>
            </a:r>
            <a:r>
              <a:rPr sz="2150" b="1" spc="20" dirty="0">
                <a:solidFill>
                  <a:srgbClr val="FF66FF"/>
                </a:solidFill>
                <a:latin typeface="隶书"/>
                <a:cs typeface="隶书"/>
              </a:rPr>
              <a:t>是</a:t>
            </a:r>
            <a:r>
              <a:rPr sz="2150" b="1" spc="30" dirty="0">
                <a:solidFill>
                  <a:srgbClr val="FF66FF"/>
                </a:solidFill>
                <a:latin typeface="隶书"/>
                <a:cs typeface="隶书"/>
              </a:rPr>
              <a:t>对</a:t>
            </a:r>
            <a:r>
              <a:rPr sz="2150" b="1" spc="20" dirty="0">
                <a:solidFill>
                  <a:srgbClr val="FF66FF"/>
                </a:solidFill>
                <a:latin typeface="隶书"/>
                <a:cs typeface="隶书"/>
              </a:rPr>
              <a:t>过程或</a:t>
            </a:r>
            <a:r>
              <a:rPr sz="2150" b="1" spc="30" dirty="0">
                <a:solidFill>
                  <a:srgbClr val="FF66FF"/>
                </a:solidFill>
                <a:latin typeface="隶书"/>
                <a:cs typeface="隶书"/>
              </a:rPr>
              <a:t>者</a:t>
            </a:r>
            <a:r>
              <a:rPr sz="2150" b="1" spc="20" dirty="0">
                <a:solidFill>
                  <a:srgbClr val="FF66FF"/>
                </a:solidFill>
                <a:latin typeface="隶书"/>
                <a:cs typeface="隶书"/>
              </a:rPr>
              <a:t>产品的一</a:t>
            </a:r>
            <a:r>
              <a:rPr sz="2150" b="1" spc="30" dirty="0">
                <a:solidFill>
                  <a:srgbClr val="FF66FF"/>
                </a:solidFill>
                <a:latin typeface="隶书"/>
                <a:cs typeface="隶书"/>
              </a:rPr>
              <a:t>次</a:t>
            </a:r>
            <a:r>
              <a:rPr sz="2150" b="1" spc="20" dirty="0">
                <a:solidFill>
                  <a:srgbClr val="FF66FF"/>
                </a:solidFill>
                <a:latin typeface="隶书"/>
                <a:cs typeface="隶书"/>
              </a:rPr>
              <a:t>独立评</a:t>
            </a:r>
            <a:r>
              <a:rPr sz="2150" b="1" spc="70" dirty="0">
                <a:solidFill>
                  <a:srgbClr val="FF66FF"/>
                </a:solidFill>
                <a:latin typeface="隶书"/>
                <a:cs typeface="隶书"/>
              </a:rPr>
              <a:t>估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。 将</a:t>
            </a:r>
            <a:r>
              <a:rPr sz="2150" spc="30" dirty="0">
                <a:solidFill>
                  <a:srgbClr val="080808"/>
                </a:solidFill>
                <a:latin typeface="隶书"/>
                <a:cs typeface="隶书"/>
              </a:rPr>
              <a:t>审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核的主体</a:t>
            </a:r>
            <a:r>
              <a:rPr sz="2150" spc="30" dirty="0">
                <a:solidFill>
                  <a:srgbClr val="080808"/>
                </a:solidFill>
                <a:latin typeface="隶书"/>
                <a:cs typeface="隶书"/>
              </a:rPr>
              <a:t>与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为该主体</a:t>
            </a:r>
            <a:r>
              <a:rPr sz="2150" spc="30" dirty="0">
                <a:solidFill>
                  <a:srgbClr val="080808"/>
                </a:solidFill>
                <a:latin typeface="隶书"/>
                <a:cs typeface="隶书"/>
              </a:rPr>
              <a:t>以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前建立的</a:t>
            </a:r>
            <a:r>
              <a:rPr sz="2150" spc="30" dirty="0">
                <a:solidFill>
                  <a:srgbClr val="080808"/>
                </a:solidFill>
                <a:latin typeface="隶书"/>
                <a:cs typeface="隶书"/>
              </a:rPr>
              <a:t>一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组规程和 标</a:t>
            </a:r>
            <a:r>
              <a:rPr sz="2150" spc="30" dirty="0">
                <a:solidFill>
                  <a:srgbClr val="080808"/>
                </a:solidFill>
                <a:latin typeface="隶书"/>
                <a:cs typeface="隶书"/>
              </a:rPr>
              <a:t>准</a:t>
            </a:r>
            <a:r>
              <a:rPr sz="2150" spc="20" dirty="0">
                <a:solidFill>
                  <a:srgbClr val="080808"/>
                </a:solidFill>
                <a:latin typeface="隶书"/>
                <a:cs typeface="隶书"/>
              </a:rPr>
              <a:t>进行比较</a:t>
            </a:r>
            <a:endParaRPr sz="215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291" y="263093"/>
            <a:ext cx="5359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软件项目中常用的质量保证活动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885694" y="4092346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22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140" y="1399774"/>
            <a:ext cx="3022600" cy="9766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600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252095" algn="l"/>
              </a:tabLst>
            </a:pPr>
            <a:r>
              <a:rPr sz="2700" b="1" spc="-5" dirty="0">
                <a:latin typeface="隶书"/>
                <a:cs typeface="隶书"/>
              </a:rPr>
              <a:t>项目执行过程审计</a:t>
            </a:r>
            <a:endParaRPr sz="270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252095" algn="l"/>
              </a:tabLst>
            </a:pPr>
            <a:r>
              <a:rPr sz="2700" b="1" dirty="0">
                <a:latin typeface="隶书"/>
                <a:cs typeface="隶书"/>
              </a:rPr>
              <a:t>项目产品审计</a:t>
            </a:r>
            <a:endParaRPr sz="27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87197"/>
            <a:ext cx="30759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u="sng" spc="-75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项目执行过程审计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94201" y="4728464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23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502663"/>
            <a:ext cx="6857999" cy="2906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9238" y="1546097"/>
            <a:ext cx="1673860" cy="1080770"/>
          </a:xfrm>
          <a:custGeom>
            <a:avLst/>
            <a:gdLst/>
            <a:ahLst/>
            <a:cxnLst/>
            <a:rect l="l" t="t" r="r" b="b"/>
            <a:pathLst>
              <a:path w="1673860" h="1080770">
                <a:moveTo>
                  <a:pt x="0" y="1080515"/>
                </a:moveTo>
                <a:lnTo>
                  <a:pt x="1673352" y="1080515"/>
                </a:lnTo>
                <a:lnTo>
                  <a:pt x="1673352" y="0"/>
                </a:lnTo>
                <a:lnTo>
                  <a:pt x="0" y="0"/>
                </a:lnTo>
                <a:lnTo>
                  <a:pt x="0" y="1080515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82590" y="1558289"/>
            <a:ext cx="756285" cy="1068705"/>
          </a:xfrm>
          <a:custGeom>
            <a:avLst/>
            <a:gdLst/>
            <a:ahLst/>
            <a:cxnLst/>
            <a:rect l="l" t="t" r="r" b="b"/>
            <a:pathLst>
              <a:path w="756285" h="1068705">
                <a:moveTo>
                  <a:pt x="0" y="1068324"/>
                </a:moveTo>
                <a:lnTo>
                  <a:pt x="755903" y="1068324"/>
                </a:lnTo>
                <a:lnTo>
                  <a:pt x="755903" y="0"/>
                </a:lnTo>
                <a:lnTo>
                  <a:pt x="0" y="0"/>
                </a:lnTo>
                <a:lnTo>
                  <a:pt x="0" y="1068324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78891" y="1965960"/>
          <a:ext cx="2753995" cy="2369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8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715" y="322326"/>
            <a:ext cx="3111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产品审计：代码审计</a:t>
            </a:r>
            <a:endParaRPr sz="2700"/>
          </a:p>
        </p:txBody>
      </p:sp>
      <p:sp>
        <p:nvSpPr>
          <p:cNvPr id="3" name="object 3"/>
          <p:cNvSpPr/>
          <p:nvPr/>
        </p:nvSpPr>
        <p:spPr>
          <a:xfrm>
            <a:off x="342900" y="1598675"/>
            <a:ext cx="6172200" cy="2525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46682" y="2734817"/>
            <a:ext cx="3458210" cy="972819"/>
          </a:xfrm>
          <a:custGeom>
            <a:avLst/>
            <a:gdLst/>
            <a:ahLst/>
            <a:cxnLst/>
            <a:rect l="l" t="t" r="r" b="b"/>
            <a:pathLst>
              <a:path w="3458210" h="972820">
                <a:moveTo>
                  <a:pt x="0" y="972312"/>
                </a:moveTo>
                <a:lnTo>
                  <a:pt x="3457955" y="972312"/>
                </a:lnTo>
                <a:lnTo>
                  <a:pt x="3457955" y="0"/>
                </a:lnTo>
                <a:lnTo>
                  <a:pt x="0" y="0"/>
                </a:lnTo>
                <a:lnTo>
                  <a:pt x="0" y="972312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26157" y="3463290"/>
            <a:ext cx="594360" cy="121920"/>
          </a:xfrm>
          <a:custGeom>
            <a:avLst/>
            <a:gdLst/>
            <a:ahLst/>
            <a:cxnLst/>
            <a:rect l="l" t="t" r="r" b="b"/>
            <a:pathLst>
              <a:path w="594360" h="121920">
                <a:moveTo>
                  <a:pt x="0" y="121920"/>
                </a:moveTo>
                <a:lnTo>
                  <a:pt x="594359" y="121920"/>
                </a:lnTo>
                <a:lnTo>
                  <a:pt x="594359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26157" y="1858517"/>
            <a:ext cx="4401820" cy="886460"/>
          </a:xfrm>
          <a:custGeom>
            <a:avLst/>
            <a:gdLst/>
            <a:ahLst/>
            <a:cxnLst/>
            <a:rect l="l" t="t" r="r" b="b"/>
            <a:pathLst>
              <a:path w="4401820" h="886460">
                <a:moveTo>
                  <a:pt x="1833880" y="688848"/>
                </a:moveTo>
                <a:lnTo>
                  <a:pt x="733552" y="688848"/>
                </a:lnTo>
                <a:lnTo>
                  <a:pt x="1479042" y="886460"/>
                </a:lnTo>
                <a:lnTo>
                  <a:pt x="1833880" y="688848"/>
                </a:lnTo>
                <a:close/>
              </a:path>
              <a:path w="4401820" h="886460">
                <a:moveTo>
                  <a:pt x="4286504" y="0"/>
                </a:moveTo>
                <a:lnTo>
                  <a:pt x="114808" y="0"/>
                </a:lnTo>
                <a:lnTo>
                  <a:pt x="70133" y="9026"/>
                </a:lnTo>
                <a:lnTo>
                  <a:pt x="33639" y="33639"/>
                </a:lnTo>
                <a:lnTo>
                  <a:pt x="9026" y="70133"/>
                </a:lnTo>
                <a:lnTo>
                  <a:pt x="0" y="114808"/>
                </a:lnTo>
                <a:lnTo>
                  <a:pt x="0" y="574040"/>
                </a:lnTo>
                <a:lnTo>
                  <a:pt x="9026" y="618714"/>
                </a:lnTo>
                <a:lnTo>
                  <a:pt x="33639" y="655208"/>
                </a:lnTo>
                <a:lnTo>
                  <a:pt x="70133" y="679821"/>
                </a:lnTo>
                <a:lnTo>
                  <a:pt x="114808" y="688848"/>
                </a:lnTo>
                <a:lnTo>
                  <a:pt x="4286504" y="688848"/>
                </a:lnTo>
                <a:lnTo>
                  <a:pt x="4331178" y="679821"/>
                </a:lnTo>
                <a:lnTo>
                  <a:pt x="4367672" y="655208"/>
                </a:lnTo>
                <a:lnTo>
                  <a:pt x="4392285" y="618714"/>
                </a:lnTo>
                <a:lnTo>
                  <a:pt x="4401312" y="574040"/>
                </a:lnTo>
                <a:lnTo>
                  <a:pt x="4401312" y="114808"/>
                </a:lnTo>
                <a:lnTo>
                  <a:pt x="4392285" y="70133"/>
                </a:lnTo>
                <a:lnTo>
                  <a:pt x="4367672" y="33639"/>
                </a:lnTo>
                <a:lnTo>
                  <a:pt x="4331178" y="9026"/>
                </a:lnTo>
                <a:lnTo>
                  <a:pt x="42865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26157" y="1858517"/>
            <a:ext cx="4401820" cy="886460"/>
          </a:xfrm>
          <a:custGeom>
            <a:avLst/>
            <a:gdLst/>
            <a:ahLst/>
            <a:cxnLst/>
            <a:rect l="l" t="t" r="r" b="b"/>
            <a:pathLst>
              <a:path w="4401820" h="886460">
                <a:moveTo>
                  <a:pt x="0" y="114808"/>
                </a:moveTo>
                <a:lnTo>
                  <a:pt x="9026" y="70133"/>
                </a:lnTo>
                <a:lnTo>
                  <a:pt x="33639" y="33639"/>
                </a:lnTo>
                <a:lnTo>
                  <a:pt x="70133" y="9026"/>
                </a:lnTo>
                <a:lnTo>
                  <a:pt x="114808" y="0"/>
                </a:lnTo>
                <a:lnTo>
                  <a:pt x="733552" y="0"/>
                </a:lnTo>
                <a:lnTo>
                  <a:pt x="1833880" y="0"/>
                </a:lnTo>
                <a:lnTo>
                  <a:pt x="4286504" y="0"/>
                </a:lnTo>
                <a:lnTo>
                  <a:pt x="4331178" y="9026"/>
                </a:lnTo>
                <a:lnTo>
                  <a:pt x="4367672" y="33639"/>
                </a:lnTo>
                <a:lnTo>
                  <a:pt x="4392285" y="70133"/>
                </a:lnTo>
                <a:lnTo>
                  <a:pt x="4401312" y="114808"/>
                </a:lnTo>
                <a:lnTo>
                  <a:pt x="4401312" y="401828"/>
                </a:lnTo>
                <a:lnTo>
                  <a:pt x="4401312" y="574040"/>
                </a:lnTo>
                <a:lnTo>
                  <a:pt x="4392285" y="618714"/>
                </a:lnTo>
                <a:lnTo>
                  <a:pt x="4367672" y="655208"/>
                </a:lnTo>
                <a:lnTo>
                  <a:pt x="4331178" y="679821"/>
                </a:lnTo>
                <a:lnTo>
                  <a:pt x="4286504" y="688848"/>
                </a:lnTo>
                <a:lnTo>
                  <a:pt x="1833880" y="688848"/>
                </a:lnTo>
                <a:lnTo>
                  <a:pt x="1479042" y="886460"/>
                </a:lnTo>
                <a:lnTo>
                  <a:pt x="733552" y="688848"/>
                </a:lnTo>
                <a:lnTo>
                  <a:pt x="114808" y="688848"/>
                </a:lnTo>
                <a:lnTo>
                  <a:pt x="70133" y="679821"/>
                </a:lnTo>
                <a:lnTo>
                  <a:pt x="33639" y="655208"/>
                </a:lnTo>
                <a:lnTo>
                  <a:pt x="9026" y="618714"/>
                </a:lnTo>
                <a:lnTo>
                  <a:pt x="0" y="574040"/>
                </a:lnTo>
                <a:lnTo>
                  <a:pt x="0" y="401828"/>
                </a:lnTo>
                <a:lnTo>
                  <a:pt x="0" y="114808"/>
                </a:lnTo>
                <a:close/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19705" y="1947417"/>
            <a:ext cx="40170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255" marR="5080" indent="-63119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0000"/>
                </a:solidFill>
                <a:latin typeface="华文仿宋"/>
                <a:cs typeface="华文仿宋"/>
              </a:rPr>
              <a:t>返回</a:t>
            </a:r>
            <a:r>
              <a:rPr sz="1500" spc="5" dirty="0">
                <a:solidFill>
                  <a:srgbClr val="FF0000"/>
                </a:solidFill>
                <a:latin typeface="Tw Cen MT"/>
                <a:cs typeface="Tw Cen MT"/>
              </a:rPr>
              <a:t>return</a:t>
            </a:r>
            <a:r>
              <a:rPr sz="1500" spc="-75" dirty="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sz="1500" spc="-5" dirty="0">
                <a:solidFill>
                  <a:srgbClr val="FF0000"/>
                </a:solidFill>
                <a:latin typeface="Tw Cen MT"/>
                <a:cs typeface="Tw Cen MT"/>
              </a:rPr>
              <a:t>null</a:t>
            </a:r>
            <a:r>
              <a:rPr sz="1500" dirty="0">
                <a:solidFill>
                  <a:srgbClr val="FF0000"/>
                </a:solidFill>
                <a:latin typeface="华文仿宋"/>
                <a:cs typeface="华文仿宋"/>
              </a:rPr>
              <a:t>的语句不恰当，这样最终使得表现 层获取数据为</a:t>
            </a:r>
            <a:r>
              <a:rPr sz="1500" spc="-5" dirty="0">
                <a:solidFill>
                  <a:srgbClr val="FF0000"/>
                </a:solidFill>
                <a:latin typeface="Tw Cen MT"/>
                <a:cs typeface="Tw Cen MT"/>
              </a:rPr>
              <a:t>null</a:t>
            </a:r>
            <a:r>
              <a:rPr sz="1500" spc="-5" dirty="0">
                <a:solidFill>
                  <a:srgbClr val="FF0000"/>
                </a:solidFill>
                <a:latin typeface="华文仿宋"/>
                <a:cs typeface="华文仿宋"/>
              </a:rPr>
              <a:t>，</a:t>
            </a:r>
            <a:r>
              <a:rPr sz="1500" dirty="0">
                <a:solidFill>
                  <a:srgbClr val="FF0000"/>
                </a:solidFill>
                <a:latin typeface="华文仿宋"/>
                <a:cs typeface="华文仿宋"/>
              </a:rPr>
              <a:t>用户体验极差</a:t>
            </a:r>
            <a:endParaRPr sz="15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715" y="298145"/>
            <a:ext cx="54749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产品审计</a:t>
            </a:r>
            <a:r>
              <a:rPr spc="-10" dirty="0"/>
              <a:t>：</a:t>
            </a:r>
            <a:r>
              <a:rPr spc="-5" dirty="0"/>
              <a:t>功能测试报</a:t>
            </a:r>
            <a:r>
              <a:rPr dirty="0"/>
              <a:t>告</a:t>
            </a:r>
            <a:r>
              <a:rPr spc="-5" dirty="0"/>
              <a:t>审计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25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9991" y="1570208"/>
            <a:ext cx="5997488" cy="2821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2826" y="1978914"/>
            <a:ext cx="1946275" cy="1348740"/>
          </a:xfrm>
          <a:custGeom>
            <a:avLst/>
            <a:gdLst/>
            <a:ahLst/>
            <a:cxnLst/>
            <a:rect l="l" t="t" r="r" b="b"/>
            <a:pathLst>
              <a:path w="1946275" h="1348739">
                <a:moveTo>
                  <a:pt x="0" y="1348740"/>
                </a:moveTo>
                <a:lnTo>
                  <a:pt x="1946148" y="1348740"/>
                </a:lnTo>
                <a:lnTo>
                  <a:pt x="1946148" y="0"/>
                </a:lnTo>
                <a:lnTo>
                  <a:pt x="0" y="0"/>
                </a:lnTo>
                <a:lnTo>
                  <a:pt x="0" y="134874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58973" y="1978914"/>
            <a:ext cx="3941445" cy="1348740"/>
          </a:xfrm>
          <a:custGeom>
            <a:avLst/>
            <a:gdLst/>
            <a:ahLst/>
            <a:cxnLst/>
            <a:rect l="l" t="t" r="r" b="b"/>
            <a:pathLst>
              <a:path w="3941445" h="1348739">
                <a:moveTo>
                  <a:pt x="0" y="1348740"/>
                </a:moveTo>
                <a:lnTo>
                  <a:pt x="3941064" y="1348740"/>
                </a:lnTo>
                <a:lnTo>
                  <a:pt x="3941064" y="0"/>
                </a:lnTo>
                <a:lnTo>
                  <a:pt x="0" y="0"/>
                </a:lnTo>
                <a:lnTo>
                  <a:pt x="0" y="134874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2826" y="3327653"/>
            <a:ext cx="5887720" cy="972819"/>
          </a:xfrm>
          <a:custGeom>
            <a:avLst/>
            <a:gdLst/>
            <a:ahLst/>
            <a:cxnLst/>
            <a:rect l="l" t="t" r="r" b="b"/>
            <a:pathLst>
              <a:path w="5887720" h="972820">
                <a:moveTo>
                  <a:pt x="0" y="972312"/>
                </a:moveTo>
                <a:lnTo>
                  <a:pt x="5887212" y="972312"/>
                </a:lnTo>
                <a:lnTo>
                  <a:pt x="5887212" y="0"/>
                </a:lnTo>
                <a:lnTo>
                  <a:pt x="0" y="0"/>
                </a:lnTo>
                <a:lnTo>
                  <a:pt x="0" y="972312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039" y="232994"/>
            <a:ext cx="31743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情景项</a:t>
            </a:r>
            <a:r>
              <a:rPr sz="3000" spc="-10" dirty="0"/>
              <a:t>目</a:t>
            </a:r>
            <a:r>
              <a:rPr sz="3000" i="1" spc="-5" dirty="0">
                <a:latin typeface="华文隶书"/>
                <a:cs typeface="华文隶书"/>
              </a:rPr>
              <a:t>:</a:t>
            </a:r>
            <a:r>
              <a:rPr sz="3000" dirty="0"/>
              <a:t>质量审计</a:t>
            </a:r>
            <a:endParaRPr sz="3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94201" y="4728464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26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37768" y="1504950"/>
            <a:ext cx="4034232" cy="17437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50190" indent="-238125">
              <a:lnSpc>
                <a:spcPct val="100000"/>
              </a:lnSpc>
              <a:spcBef>
                <a:spcPts val="605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dirty="0">
                <a:solidFill>
                  <a:srgbClr val="F7B615"/>
                </a:solidFill>
              </a:rPr>
              <a:t>&lt;需求分析</a:t>
            </a:r>
            <a:r>
              <a:rPr u="none" dirty="0"/>
              <a:t>&gt;过程审计</a:t>
            </a:r>
          </a:p>
          <a:p>
            <a:pPr marL="250190" indent="-23812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u="none" dirty="0"/>
              <a:t>&lt;</a:t>
            </a:r>
            <a:r>
              <a:rPr dirty="0">
                <a:solidFill>
                  <a:srgbClr val="F7B615"/>
                </a:solidFill>
              </a:rPr>
              <a:t>设计</a:t>
            </a:r>
            <a:r>
              <a:rPr u="none" dirty="0"/>
              <a:t>&gt;过程审计</a:t>
            </a:r>
          </a:p>
          <a:p>
            <a:pPr marL="250190" indent="-23812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u="none" dirty="0"/>
              <a:t>&lt;</a:t>
            </a:r>
            <a:r>
              <a:rPr dirty="0">
                <a:solidFill>
                  <a:srgbClr val="F7B615"/>
                </a:solidFill>
              </a:rPr>
              <a:t>编码</a:t>
            </a:r>
            <a:r>
              <a:rPr u="none" dirty="0"/>
              <a:t>&gt;过程审计</a:t>
            </a:r>
          </a:p>
          <a:p>
            <a:pPr marL="250190" indent="-238125">
              <a:lnSpc>
                <a:spcPct val="100000"/>
              </a:lnSpc>
              <a:spcBef>
                <a:spcPts val="490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u="none" dirty="0"/>
              <a:t>&lt;SPM</a:t>
            </a:r>
            <a:r>
              <a:rPr u="none" spc="-5" dirty="0"/>
              <a:t>需求规</a:t>
            </a:r>
            <a:r>
              <a:rPr u="none" dirty="0"/>
              <a:t>格&gt;</a:t>
            </a:r>
            <a:r>
              <a:rPr u="none" spc="-5" dirty="0"/>
              <a:t>产品审计</a:t>
            </a:r>
          </a:p>
        </p:txBody>
      </p:sp>
      <p:sp>
        <p:nvSpPr>
          <p:cNvPr id="6" name="object 6"/>
          <p:cNvSpPr/>
          <p:nvPr/>
        </p:nvSpPr>
        <p:spPr>
          <a:xfrm>
            <a:off x="2871723" y="3166110"/>
            <a:ext cx="3770629" cy="1135380"/>
          </a:xfrm>
          <a:custGeom>
            <a:avLst/>
            <a:gdLst/>
            <a:ahLst/>
            <a:cxnLst/>
            <a:rect l="l" t="t" r="r" b="b"/>
            <a:pathLst>
              <a:path w="3770629" h="1135379">
                <a:moveTo>
                  <a:pt x="0" y="14858"/>
                </a:moveTo>
                <a:lnTo>
                  <a:pt x="774446" y="473074"/>
                </a:lnTo>
                <a:lnTo>
                  <a:pt x="774446" y="1135380"/>
                </a:lnTo>
                <a:lnTo>
                  <a:pt x="3770629" y="1135380"/>
                </a:lnTo>
                <a:lnTo>
                  <a:pt x="3770629" y="189229"/>
                </a:lnTo>
                <a:lnTo>
                  <a:pt x="774446" y="189229"/>
                </a:lnTo>
                <a:lnTo>
                  <a:pt x="0" y="14858"/>
                </a:lnTo>
                <a:close/>
              </a:path>
              <a:path w="3770629" h="1135379">
                <a:moveTo>
                  <a:pt x="3770629" y="0"/>
                </a:moveTo>
                <a:lnTo>
                  <a:pt x="774446" y="0"/>
                </a:lnTo>
                <a:lnTo>
                  <a:pt x="774446" y="189229"/>
                </a:lnTo>
                <a:lnTo>
                  <a:pt x="3770629" y="189229"/>
                </a:lnTo>
                <a:lnTo>
                  <a:pt x="377062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71723" y="3166110"/>
            <a:ext cx="3770629" cy="1135380"/>
          </a:xfrm>
          <a:custGeom>
            <a:avLst/>
            <a:gdLst/>
            <a:ahLst/>
            <a:cxnLst/>
            <a:rect l="l" t="t" r="r" b="b"/>
            <a:pathLst>
              <a:path w="3770629" h="1135379">
                <a:moveTo>
                  <a:pt x="774446" y="0"/>
                </a:moveTo>
                <a:lnTo>
                  <a:pt x="1273810" y="0"/>
                </a:lnTo>
                <a:lnTo>
                  <a:pt x="2022855" y="0"/>
                </a:lnTo>
                <a:lnTo>
                  <a:pt x="3770629" y="0"/>
                </a:lnTo>
                <a:lnTo>
                  <a:pt x="3770629" y="189229"/>
                </a:lnTo>
                <a:lnTo>
                  <a:pt x="3770629" y="473074"/>
                </a:lnTo>
                <a:lnTo>
                  <a:pt x="3770629" y="1135380"/>
                </a:lnTo>
                <a:lnTo>
                  <a:pt x="2022855" y="1135380"/>
                </a:lnTo>
                <a:lnTo>
                  <a:pt x="1273810" y="1135380"/>
                </a:lnTo>
                <a:lnTo>
                  <a:pt x="774446" y="1135380"/>
                </a:lnTo>
                <a:lnTo>
                  <a:pt x="774446" y="473074"/>
                </a:lnTo>
                <a:lnTo>
                  <a:pt x="0" y="14858"/>
                </a:lnTo>
                <a:lnTo>
                  <a:pt x="774446" y="189229"/>
                </a:lnTo>
                <a:lnTo>
                  <a:pt x="774446" y="0"/>
                </a:lnTo>
                <a:close/>
              </a:path>
            </a:pathLst>
          </a:custGeom>
          <a:ln w="25908">
            <a:solidFill>
              <a:srgbClr val="FFFF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24402" y="3206572"/>
            <a:ext cx="269240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5825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楷体"/>
                <a:cs typeface="楷体"/>
              </a:rPr>
              <a:t>审计要求</a:t>
            </a:r>
            <a:endParaRPr sz="2100">
              <a:latin typeface="楷体"/>
              <a:cs typeface="楷体"/>
            </a:endParaRPr>
          </a:p>
          <a:p>
            <a:pPr marL="280670" indent="-268605">
              <a:lnSpc>
                <a:spcPct val="100000"/>
              </a:lnSpc>
              <a:spcBef>
                <a:spcPts val="5"/>
              </a:spcBef>
              <a:buSzPct val="95238"/>
              <a:buAutoNum type="arabicParenR"/>
              <a:tabLst>
                <a:tab pos="281305" algn="l"/>
              </a:tabLst>
            </a:pPr>
            <a:r>
              <a:rPr sz="2100" dirty="0">
                <a:latin typeface="楷体"/>
                <a:cs typeface="楷体"/>
              </a:rPr>
              <a:t>满足模版要求</a:t>
            </a:r>
            <a:endParaRPr sz="2100">
              <a:latin typeface="楷体"/>
              <a:cs typeface="楷体"/>
            </a:endParaRPr>
          </a:p>
          <a:p>
            <a:pPr marL="280670" indent="-268605">
              <a:lnSpc>
                <a:spcPct val="100000"/>
              </a:lnSpc>
              <a:buSzPct val="95238"/>
              <a:buAutoNum type="arabicParenR"/>
              <a:tabLst>
                <a:tab pos="281305" algn="l"/>
              </a:tabLst>
            </a:pPr>
            <a:r>
              <a:rPr sz="2100" dirty="0">
                <a:latin typeface="楷体"/>
                <a:cs typeface="楷体"/>
              </a:rPr>
              <a:t>各章节内容是否正确</a:t>
            </a:r>
            <a:endParaRPr sz="2100">
              <a:latin typeface="楷体"/>
              <a:cs typeface="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14142" y="1384553"/>
            <a:ext cx="3726815" cy="1199515"/>
          </a:xfrm>
          <a:custGeom>
            <a:avLst/>
            <a:gdLst/>
            <a:ahLst/>
            <a:cxnLst/>
            <a:rect l="l" t="t" r="r" b="b"/>
            <a:pathLst>
              <a:path w="3726815" h="1199514">
                <a:moveTo>
                  <a:pt x="3726687" y="0"/>
                </a:moveTo>
                <a:lnTo>
                  <a:pt x="1061211" y="0"/>
                </a:lnTo>
                <a:lnTo>
                  <a:pt x="1061211" y="699643"/>
                </a:lnTo>
                <a:lnTo>
                  <a:pt x="0" y="926973"/>
                </a:lnTo>
                <a:lnTo>
                  <a:pt x="1061211" y="999490"/>
                </a:lnTo>
                <a:lnTo>
                  <a:pt x="1061211" y="1199388"/>
                </a:lnTo>
                <a:lnTo>
                  <a:pt x="3726687" y="1199388"/>
                </a:lnTo>
                <a:lnTo>
                  <a:pt x="372668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14142" y="1384553"/>
            <a:ext cx="3726815" cy="1199515"/>
          </a:xfrm>
          <a:custGeom>
            <a:avLst/>
            <a:gdLst/>
            <a:ahLst/>
            <a:cxnLst/>
            <a:rect l="l" t="t" r="r" b="b"/>
            <a:pathLst>
              <a:path w="3726815" h="1199514">
                <a:moveTo>
                  <a:pt x="1061211" y="0"/>
                </a:moveTo>
                <a:lnTo>
                  <a:pt x="1505458" y="0"/>
                </a:lnTo>
                <a:lnTo>
                  <a:pt x="2171827" y="0"/>
                </a:lnTo>
                <a:lnTo>
                  <a:pt x="3726687" y="0"/>
                </a:lnTo>
                <a:lnTo>
                  <a:pt x="3726687" y="699643"/>
                </a:lnTo>
                <a:lnTo>
                  <a:pt x="3726687" y="999490"/>
                </a:lnTo>
                <a:lnTo>
                  <a:pt x="3726687" y="1199388"/>
                </a:lnTo>
                <a:lnTo>
                  <a:pt x="2171827" y="1199388"/>
                </a:lnTo>
                <a:lnTo>
                  <a:pt x="1505458" y="1199388"/>
                </a:lnTo>
                <a:lnTo>
                  <a:pt x="1061211" y="1199388"/>
                </a:lnTo>
                <a:lnTo>
                  <a:pt x="1061211" y="999490"/>
                </a:lnTo>
                <a:lnTo>
                  <a:pt x="0" y="926973"/>
                </a:lnTo>
                <a:lnTo>
                  <a:pt x="1061211" y="699643"/>
                </a:lnTo>
                <a:lnTo>
                  <a:pt x="1061211" y="0"/>
                </a:lnTo>
                <a:close/>
              </a:path>
            </a:pathLst>
          </a:custGeom>
          <a:ln w="25908">
            <a:solidFill>
              <a:srgbClr val="FFFF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4602" y="1426845"/>
            <a:ext cx="1894205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255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latin typeface="楷体"/>
                <a:cs typeface="楷体"/>
              </a:rPr>
              <a:t>审计要求</a:t>
            </a:r>
            <a:endParaRPr sz="2400">
              <a:latin typeface="楷体"/>
              <a:cs typeface="楷体"/>
            </a:endParaRPr>
          </a:p>
          <a:p>
            <a:pPr marL="280670" indent="-268605">
              <a:lnSpc>
                <a:spcPts val="2515"/>
              </a:lnSpc>
              <a:buSzPct val="95238"/>
              <a:buAutoNum type="arabicParenR"/>
              <a:tabLst>
                <a:tab pos="281305" algn="l"/>
              </a:tabLst>
            </a:pPr>
            <a:r>
              <a:rPr sz="2100" dirty="0">
                <a:latin typeface="楷体"/>
                <a:cs typeface="楷体"/>
              </a:rPr>
              <a:t>定义过程</a:t>
            </a:r>
            <a:endParaRPr sz="2100">
              <a:latin typeface="楷体"/>
              <a:cs typeface="楷体"/>
            </a:endParaRPr>
          </a:p>
          <a:p>
            <a:pPr marL="280670" indent="-268605">
              <a:lnSpc>
                <a:spcPct val="100000"/>
              </a:lnSpc>
              <a:buSzPct val="95238"/>
              <a:buAutoNum type="arabicParenR"/>
              <a:tabLst>
                <a:tab pos="281305" algn="l"/>
              </a:tabLst>
            </a:pPr>
            <a:r>
              <a:rPr sz="2100" dirty="0">
                <a:latin typeface="楷体"/>
                <a:cs typeface="楷体"/>
              </a:rPr>
              <a:t>按照过程审计</a:t>
            </a:r>
            <a:endParaRPr sz="21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293878"/>
            <a:ext cx="239141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质量控</a:t>
            </a:r>
            <a:r>
              <a:rPr spc="-5" dirty="0"/>
              <a:t>制</a:t>
            </a:r>
            <a:r>
              <a:rPr i="1" dirty="0">
                <a:latin typeface="华文隶书"/>
                <a:cs typeface="华文隶书"/>
              </a:rPr>
              <a:t>(QC)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7901" y="4682439"/>
            <a:ext cx="5753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27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0268" y="1202436"/>
            <a:ext cx="5329428" cy="31699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75971"/>
            <a:ext cx="239204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质量控</a:t>
            </a:r>
            <a:r>
              <a:rPr spc="-5" dirty="0"/>
              <a:t>制</a:t>
            </a:r>
            <a:r>
              <a:rPr i="1" dirty="0">
                <a:latin typeface="华文隶书"/>
                <a:cs typeface="华文隶书"/>
              </a:rPr>
              <a:t>(QC)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28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240" y="1303146"/>
            <a:ext cx="6342380" cy="2663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1460" marR="5080" indent="-239395">
              <a:lnSpc>
                <a:spcPct val="100899"/>
              </a:lnSpc>
              <a:spcBef>
                <a:spcPts val="95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确</a:t>
            </a:r>
            <a:r>
              <a:rPr sz="2150" spc="30" dirty="0">
                <a:latin typeface="隶书"/>
                <a:cs typeface="隶书"/>
              </a:rPr>
              <a:t>定</a:t>
            </a:r>
            <a:r>
              <a:rPr sz="2150" spc="20" dirty="0">
                <a:latin typeface="隶书"/>
                <a:cs typeface="隶书"/>
              </a:rPr>
              <a:t>项目结果</a:t>
            </a:r>
            <a:r>
              <a:rPr sz="2150" spc="30" dirty="0">
                <a:latin typeface="隶书"/>
                <a:cs typeface="隶书"/>
              </a:rPr>
              <a:t>与</a:t>
            </a:r>
            <a:r>
              <a:rPr sz="2150" spc="20" dirty="0">
                <a:latin typeface="隶书"/>
                <a:cs typeface="隶书"/>
              </a:rPr>
              <a:t>质量标准</a:t>
            </a:r>
            <a:r>
              <a:rPr sz="2150" spc="30" dirty="0">
                <a:latin typeface="隶书"/>
                <a:cs typeface="隶书"/>
              </a:rPr>
              <a:t>是</a:t>
            </a:r>
            <a:r>
              <a:rPr sz="2150" spc="20" dirty="0">
                <a:latin typeface="隶书"/>
                <a:cs typeface="隶书"/>
              </a:rPr>
              <a:t>否相</a:t>
            </a:r>
            <a:r>
              <a:rPr sz="2150" spc="40" dirty="0">
                <a:latin typeface="隶书"/>
                <a:cs typeface="隶书"/>
              </a:rPr>
              <a:t>符</a:t>
            </a:r>
            <a:r>
              <a:rPr sz="2150" dirty="0">
                <a:latin typeface="隶书"/>
                <a:cs typeface="隶书"/>
              </a:rPr>
              <a:t>,</a:t>
            </a:r>
            <a:r>
              <a:rPr sz="2150" spc="20" dirty="0">
                <a:latin typeface="隶书"/>
                <a:cs typeface="隶书"/>
              </a:rPr>
              <a:t>同</a:t>
            </a:r>
            <a:r>
              <a:rPr sz="2150" spc="30" dirty="0">
                <a:latin typeface="隶书"/>
                <a:cs typeface="隶书"/>
              </a:rPr>
              <a:t>时</a:t>
            </a:r>
            <a:r>
              <a:rPr sz="2150" dirty="0">
                <a:latin typeface="隶书"/>
                <a:cs typeface="隶书"/>
              </a:rPr>
              <a:t>,</a:t>
            </a:r>
            <a:r>
              <a:rPr sz="2150" spc="30" dirty="0">
                <a:latin typeface="隶书"/>
                <a:cs typeface="隶书"/>
              </a:rPr>
              <a:t>确</a:t>
            </a:r>
            <a:r>
              <a:rPr sz="2150" spc="15" dirty="0">
                <a:latin typeface="隶书"/>
                <a:cs typeface="隶书"/>
              </a:rPr>
              <a:t>定不符 </a:t>
            </a:r>
            <a:r>
              <a:rPr sz="2150" spc="20" dirty="0">
                <a:latin typeface="隶书"/>
                <a:cs typeface="隶书"/>
              </a:rPr>
              <a:t>的</a:t>
            </a:r>
            <a:r>
              <a:rPr sz="2150" spc="30" dirty="0">
                <a:latin typeface="隶书"/>
                <a:cs typeface="隶书"/>
              </a:rPr>
              <a:t>原</a:t>
            </a:r>
            <a:r>
              <a:rPr sz="2150" spc="20" dirty="0">
                <a:latin typeface="隶书"/>
                <a:cs typeface="隶书"/>
              </a:rPr>
              <a:t>因和消除</a:t>
            </a:r>
            <a:r>
              <a:rPr sz="2150" spc="30" dirty="0">
                <a:latin typeface="隶书"/>
                <a:cs typeface="隶书"/>
              </a:rPr>
              <a:t>方</a:t>
            </a:r>
            <a:r>
              <a:rPr sz="2150" spc="20" dirty="0">
                <a:latin typeface="隶书"/>
                <a:cs typeface="隶书"/>
              </a:rPr>
              <a:t>法</a:t>
            </a:r>
            <a:endParaRPr sz="2150">
              <a:latin typeface="隶书"/>
              <a:cs typeface="隶书"/>
            </a:endParaRPr>
          </a:p>
          <a:p>
            <a:pPr marL="390525" indent="-378460">
              <a:lnSpc>
                <a:spcPct val="100000"/>
              </a:lnSpc>
              <a:spcBef>
                <a:spcPts val="54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150" spc="20" dirty="0">
                <a:latin typeface="隶书"/>
                <a:cs typeface="隶书"/>
              </a:rPr>
              <a:t>控制产品的质量，及</a:t>
            </a:r>
            <a:r>
              <a:rPr sz="2150" spc="10" dirty="0">
                <a:latin typeface="隶书"/>
                <a:cs typeface="隶书"/>
              </a:rPr>
              <a:t>时</a:t>
            </a:r>
            <a:r>
              <a:rPr sz="2150" spc="20" dirty="0">
                <a:latin typeface="隶书"/>
                <a:cs typeface="隶书"/>
              </a:rPr>
              <a:t>纠正缺陷</a:t>
            </a:r>
            <a:endParaRPr sz="21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例</a:t>
            </a:r>
            <a:r>
              <a:rPr sz="2150" spc="30" dirty="0">
                <a:latin typeface="隶书"/>
                <a:cs typeface="隶书"/>
              </a:rPr>
              <a:t>如</a:t>
            </a:r>
            <a:r>
              <a:rPr sz="2150" spc="20" dirty="0">
                <a:latin typeface="隶书"/>
                <a:cs typeface="隶书"/>
              </a:rPr>
              <a:t>：代码评</a:t>
            </a:r>
            <a:r>
              <a:rPr sz="2150" spc="30" dirty="0">
                <a:latin typeface="隶书"/>
                <a:cs typeface="隶书"/>
              </a:rPr>
              <a:t>审</a:t>
            </a:r>
            <a:r>
              <a:rPr sz="2150" spc="20" dirty="0">
                <a:latin typeface="隶书"/>
                <a:cs typeface="隶书"/>
              </a:rPr>
              <a:t>、单元测试</a:t>
            </a:r>
            <a:endParaRPr sz="21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10" dirty="0">
                <a:latin typeface="隶书"/>
                <a:cs typeface="隶书"/>
              </a:rPr>
              <a:t>Is it right done?</a:t>
            </a:r>
            <a:endParaRPr sz="21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这个任务</a:t>
            </a:r>
            <a:r>
              <a:rPr sz="2150" spc="10" dirty="0">
                <a:latin typeface="隶书"/>
                <a:cs typeface="隶书"/>
              </a:rPr>
              <a:t>本</a:t>
            </a:r>
            <a:r>
              <a:rPr sz="2150" spc="20" dirty="0">
                <a:latin typeface="隶书"/>
                <a:cs typeface="隶书"/>
              </a:rPr>
              <a:t>身提高产</a:t>
            </a:r>
            <a:r>
              <a:rPr sz="2150" spc="10" dirty="0">
                <a:latin typeface="隶书"/>
                <a:cs typeface="隶书"/>
              </a:rPr>
              <a:t>品</a:t>
            </a:r>
            <a:r>
              <a:rPr sz="2150" spc="20" dirty="0">
                <a:latin typeface="隶书"/>
                <a:cs typeface="隶书"/>
              </a:rPr>
              <a:t>的质量</a:t>
            </a:r>
            <a:endParaRPr sz="21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一</a:t>
            </a:r>
            <a:r>
              <a:rPr sz="2150" spc="30" dirty="0">
                <a:latin typeface="隶书"/>
                <a:cs typeface="隶书"/>
              </a:rPr>
              <a:t>般</a:t>
            </a:r>
            <a:r>
              <a:rPr sz="2150" spc="20" dirty="0">
                <a:latin typeface="隶书"/>
                <a:cs typeface="隶书"/>
              </a:rPr>
              <a:t>由开发人</a:t>
            </a:r>
            <a:r>
              <a:rPr sz="2150" spc="30" dirty="0">
                <a:latin typeface="隶书"/>
                <a:cs typeface="隶书"/>
              </a:rPr>
              <a:t>员</a:t>
            </a:r>
            <a:r>
              <a:rPr sz="2150" spc="20" dirty="0">
                <a:latin typeface="隶书"/>
                <a:cs typeface="隶书"/>
              </a:rPr>
              <a:t>实施</a:t>
            </a:r>
            <a:endParaRPr sz="215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65" y="232994"/>
            <a:ext cx="2311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质量控制活动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194430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29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366" y="1269238"/>
            <a:ext cx="1482725" cy="217360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0190" indent="-238125">
              <a:lnSpc>
                <a:spcPct val="100000"/>
              </a:lnSpc>
              <a:spcBef>
                <a:spcPts val="600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sz="2400" dirty="0">
                <a:latin typeface="隶书"/>
                <a:cs typeface="隶书"/>
              </a:rPr>
              <a:t>技术评审</a:t>
            </a:r>
            <a:endParaRPr sz="2400">
              <a:latin typeface="隶书"/>
              <a:cs typeface="隶书"/>
            </a:endParaRPr>
          </a:p>
          <a:p>
            <a:pPr marL="250190" indent="-23812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sz="2400" dirty="0">
                <a:latin typeface="隶书"/>
                <a:cs typeface="隶书"/>
              </a:rPr>
              <a:t>代码走查</a:t>
            </a:r>
            <a:endParaRPr sz="2400">
              <a:latin typeface="隶书"/>
              <a:cs typeface="隶书"/>
            </a:endParaRPr>
          </a:p>
          <a:p>
            <a:pPr marL="250190" indent="-238125">
              <a:lnSpc>
                <a:spcPct val="100000"/>
              </a:lnSpc>
              <a:spcBef>
                <a:spcPts val="509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sz="2400" dirty="0">
                <a:latin typeface="隶书"/>
                <a:cs typeface="隶书"/>
              </a:rPr>
              <a:t>测试</a:t>
            </a:r>
            <a:endParaRPr sz="2400">
              <a:latin typeface="隶书"/>
              <a:cs typeface="隶书"/>
            </a:endParaRPr>
          </a:p>
          <a:p>
            <a:pPr marL="12700" marR="5080">
              <a:lnSpc>
                <a:spcPts val="3379"/>
              </a:lnSpc>
              <a:spcBef>
                <a:spcPts val="185"/>
              </a:spcBef>
              <a:buClr>
                <a:srgbClr val="DD8046"/>
              </a:buClr>
              <a:buSzPct val="60416"/>
              <a:buFont typeface="Wingdings"/>
              <a:buChar char=""/>
              <a:tabLst>
                <a:tab pos="250825" algn="l"/>
              </a:tabLst>
            </a:pPr>
            <a:r>
              <a:rPr sz="2400" dirty="0">
                <a:latin typeface="隶书"/>
                <a:cs typeface="隶书"/>
              </a:rPr>
              <a:t>数据分析 </a:t>
            </a:r>
            <a:r>
              <a:rPr sz="2400" spc="-5" dirty="0">
                <a:latin typeface="隶书"/>
                <a:cs typeface="隶书"/>
              </a:rPr>
              <a:t>等等</a:t>
            </a:r>
            <a:endParaRPr sz="24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385698"/>
            <a:ext cx="564388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latin typeface="Tw Cen MT"/>
                <a:cs typeface="Tw Cen MT"/>
              </a:rPr>
              <a:t>List&lt;SpChapterVideo&gt;</a:t>
            </a:r>
            <a:r>
              <a:rPr sz="2000" spc="-35" dirty="0">
                <a:latin typeface="Tw Cen MT"/>
                <a:cs typeface="Tw Cen MT"/>
              </a:rPr>
              <a:t> </a:t>
            </a:r>
            <a:r>
              <a:rPr sz="2000" spc="5" dirty="0">
                <a:latin typeface="Tw Cen MT"/>
                <a:cs typeface="Tw Cen MT"/>
              </a:rPr>
              <a:t>finAllInfo()</a:t>
            </a:r>
            <a:r>
              <a:rPr sz="2000" spc="25" dirty="0">
                <a:latin typeface="Tw Cen MT"/>
                <a:cs typeface="Tw Cen MT"/>
              </a:rPr>
              <a:t> </a:t>
            </a:r>
            <a:r>
              <a:rPr sz="2000" spc="25" dirty="0">
                <a:latin typeface="华文仿宋"/>
                <a:cs typeface="华文仿宋"/>
              </a:rPr>
              <a:t>缺少异常检测语句</a:t>
            </a:r>
            <a:endParaRPr sz="20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315" y="3006730"/>
            <a:ext cx="5928995" cy="1022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75"/>
              </a:lnSpc>
            </a:pPr>
            <a:r>
              <a:rPr sz="1300" spc="5" dirty="0">
                <a:solidFill>
                  <a:srgbClr val="DD8046"/>
                </a:solidFill>
                <a:latin typeface="Wingdings"/>
                <a:cs typeface="Wingdings"/>
              </a:rPr>
              <a:t></a:t>
            </a:r>
            <a:r>
              <a:rPr sz="1300" spc="7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2150" spc="20" dirty="0">
                <a:latin typeface="华文仿宋"/>
                <a:cs typeface="华文仿宋"/>
              </a:rPr>
              <a:t>最后一个方</a:t>
            </a:r>
            <a:r>
              <a:rPr sz="2150" spc="5" dirty="0">
                <a:latin typeface="华文仿宋"/>
                <a:cs typeface="华文仿宋"/>
              </a:rPr>
              <a:t>法</a:t>
            </a:r>
            <a:r>
              <a:rPr sz="2150" spc="10" dirty="0">
                <a:latin typeface="Tw Cen MT"/>
                <a:cs typeface="Tw Cen MT"/>
              </a:rPr>
              <a:t>List&lt;SpChapterVideo&gt;</a:t>
            </a:r>
            <a:r>
              <a:rPr sz="2150" spc="20" dirty="0">
                <a:latin typeface="Tw Cen MT"/>
                <a:cs typeface="Tw Cen MT"/>
              </a:rPr>
              <a:t> </a:t>
            </a:r>
            <a:r>
              <a:rPr sz="2150" spc="-5" dirty="0">
                <a:latin typeface="Tw Cen MT"/>
                <a:cs typeface="Tw Cen MT"/>
              </a:rPr>
              <a:t>finAllInfo()</a:t>
            </a:r>
            <a:r>
              <a:rPr sz="2150" spc="20" dirty="0">
                <a:latin typeface="华文仿宋"/>
                <a:cs typeface="华文仿宋"/>
              </a:rPr>
              <a:t>应</a:t>
            </a:r>
            <a:endParaRPr sz="2150">
              <a:latin typeface="华文仿宋"/>
              <a:cs typeface="华文仿宋"/>
            </a:endParaRPr>
          </a:p>
          <a:p>
            <a:pPr marL="238760">
              <a:lnSpc>
                <a:spcPts val="2620"/>
              </a:lnSpc>
              <a:spcBef>
                <a:spcPts val="80"/>
              </a:spcBef>
            </a:pPr>
            <a:r>
              <a:rPr sz="2150" spc="20" dirty="0">
                <a:latin typeface="华文仿宋"/>
                <a:cs typeface="华文仿宋"/>
              </a:rPr>
              <a:t>该加</a:t>
            </a:r>
            <a:r>
              <a:rPr sz="2150" spc="10" dirty="0">
                <a:latin typeface="Tw Cen MT"/>
                <a:cs typeface="Tw Cen MT"/>
              </a:rPr>
              <a:t>try{}catch(Exception</a:t>
            </a:r>
            <a:r>
              <a:rPr sz="2150" spc="-60" dirty="0">
                <a:latin typeface="Tw Cen MT"/>
                <a:cs typeface="Tw Cen MT"/>
              </a:rPr>
              <a:t> </a:t>
            </a:r>
            <a:r>
              <a:rPr sz="2150" spc="5" dirty="0">
                <a:latin typeface="Tw Cen MT"/>
                <a:cs typeface="Tw Cen MT"/>
              </a:rPr>
              <a:t>e){}</a:t>
            </a:r>
            <a:r>
              <a:rPr sz="2150" spc="20" dirty="0">
                <a:latin typeface="华文仿宋"/>
                <a:cs typeface="华文仿宋"/>
              </a:rPr>
              <a:t>以捕获数据库查找失 败异常</a:t>
            </a:r>
            <a:endParaRPr sz="2150">
              <a:latin typeface="华文仿宋"/>
              <a:cs typeface="华文仿宋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" y="1560575"/>
            <a:ext cx="6172200" cy="2519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94866" y="3382517"/>
            <a:ext cx="3293745" cy="527685"/>
          </a:xfrm>
          <a:custGeom>
            <a:avLst/>
            <a:gdLst/>
            <a:ahLst/>
            <a:cxnLst/>
            <a:rect l="l" t="t" r="r" b="b"/>
            <a:pathLst>
              <a:path w="3293745" h="527685">
                <a:moveTo>
                  <a:pt x="0" y="527303"/>
                </a:moveTo>
                <a:lnTo>
                  <a:pt x="3293364" y="527303"/>
                </a:lnTo>
                <a:lnTo>
                  <a:pt x="3293364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4382" y="2202942"/>
            <a:ext cx="3267710" cy="1118235"/>
          </a:xfrm>
          <a:custGeom>
            <a:avLst/>
            <a:gdLst/>
            <a:ahLst/>
            <a:cxnLst/>
            <a:rect l="l" t="t" r="r" b="b"/>
            <a:pathLst>
              <a:path w="3267710" h="1118235">
                <a:moveTo>
                  <a:pt x="1361440" y="688847"/>
                </a:moveTo>
                <a:lnTo>
                  <a:pt x="544576" y="688847"/>
                </a:lnTo>
                <a:lnTo>
                  <a:pt x="215392" y="1117981"/>
                </a:lnTo>
                <a:lnTo>
                  <a:pt x="1361440" y="688847"/>
                </a:lnTo>
                <a:close/>
              </a:path>
              <a:path w="3267710" h="1118235">
                <a:moveTo>
                  <a:pt x="3152647" y="0"/>
                </a:moveTo>
                <a:lnTo>
                  <a:pt x="114807" y="0"/>
                </a:lnTo>
                <a:lnTo>
                  <a:pt x="70133" y="9026"/>
                </a:lnTo>
                <a:lnTo>
                  <a:pt x="33639" y="33639"/>
                </a:lnTo>
                <a:lnTo>
                  <a:pt x="9026" y="70133"/>
                </a:lnTo>
                <a:lnTo>
                  <a:pt x="0" y="114807"/>
                </a:lnTo>
                <a:lnTo>
                  <a:pt x="0" y="574039"/>
                </a:lnTo>
                <a:lnTo>
                  <a:pt x="9026" y="618714"/>
                </a:lnTo>
                <a:lnTo>
                  <a:pt x="33639" y="655208"/>
                </a:lnTo>
                <a:lnTo>
                  <a:pt x="70133" y="679821"/>
                </a:lnTo>
                <a:lnTo>
                  <a:pt x="114807" y="688847"/>
                </a:lnTo>
                <a:lnTo>
                  <a:pt x="3152647" y="688847"/>
                </a:lnTo>
                <a:lnTo>
                  <a:pt x="3197322" y="679821"/>
                </a:lnTo>
                <a:lnTo>
                  <a:pt x="3233816" y="655208"/>
                </a:lnTo>
                <a:lnTo>
                  <a:pt x="3258429" y="618714"/>
                </a:lnTo>
                <a:lnTo>
                  <a:pt x="3267455" y="574039"/>
                </a:lnTo>
                <a:lnTo>
                  <a:pt x="3267455" y="114807"/>
                </a:lnTo>
                <a:lnTo>
                  <a:pt x="3258429" y="70133"/>
                </a:lnTo>
                <a:lnTo>
                  <a:pt x="3233816" y="33639"/>
                </a:lnTo>
                <a:lnTo>
                  <a:pt x="3197322" y="9026"/>
                </a:lnTo>
                <a:lnTo>
                  <a:pt x="31526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94382" y="2202942"/>
            <a:ext cx="3267710" cy="1118235"/>
          </a:xfrm>
          <a:custGeom>
            <a:avLst/>
            <a:gdLst/>
            <a:ahLst/>
            <a:cxnLst/>
            <a:rect l="l" t="t" r="r" b="b"/>
            <a:pathLst>
              <a:path w="3267710" h="1118235">
                <a:moveTo>
                  <a:pt x="0" y="114807"/>
                </a:moveTo>
                <a:lnTo>
                  <a:pt x="9026" y="70133"/>
                </a:lnTo>
                <a:lnTo>
                  <a:pt x="33639" y="33639"/>
                </a:lnTo>
                <a:lnTo>
                  <a:pt x="70133" y="9026"/>
                </a:lnTo>
                <a:lnTo>
                  <a:pt x="114807" y="0"/>
                </a:lnTo>
                <a:lnTo>
                  <a:pt x="544576" y="0"/>
                </a:lnTo>
                <a:lnTo>
                  <a:pt x="1361440" y="0"/>
                </a:lnTo>
                <a:lnTo>
                  <a:pt x="3152647" y="0"/>
                </a:lnTo>
                <a:lnTo>
                  <a:pt x="3197322" y="9026"/>
                </a:lnTo>
                <a:lnTo>
                  <a:pt x="3233816" y="33639"/>
                </a:lnTo>
                <a:lnTo>
                  <a:pt x="3258429" y="70133"/>
                </a:lnTo>
                <a:lnTo>
                  <a:pt x="3267455" y="114807"/>
                </a:lnTo>
                <a:lnTo>
                  <a:pt x="3267455" y="401827"/>
                </a:lnTo>
                <a:lnTo>
                  <a:pt x="3267455" y="574039"/>
                </a:lnTo>
                <a:lnTo>
                  <a:pt x="3258429" y="618714"/>
                </a:lnTo>
                <a:lnTo>
                  <a:pt x="3233816" y="655208"/>
                </a:lnTo>
                <a:lnTo>
                  <a:pt x="3197322" y="679821"/>
                </a:lnTo>
                <a:lnTo>
                  <a:pt x="3152647" y="688847"/>
                </a:lnTo>
                <a:lnTo>
                  <a:pt x="1361440" y="688847"/>
                </a:lnTo>
                <a:lnTo>
                  <a:pt x="215392" y="1117981"/>
                </a:lnTo>
                <a:lnTo>
                  <a:pt x="544576" y="688847"/>
                </a:lnTo>
                <a:lnTo>
                  <a:pt x="114807" y="688847"/>
                </a:lnTo>
                <a:lnTo>
                  <a:pt x="70133" y="679821"/>
                </a:lnTo>
                <a:lnTo>
                  <a:pt x="33639" y="655208"/>
                </a:lnTo>
                <a:lnTo>
                  <a:pt x="9026" y="618714"/>
                </a:lnTo>
                <a:lnTo>
                  <a:pt x="0" y="574039"/>
                </a:lnTo>
                <a:lnTo>
                  <a:pt x="0" y="401827"/>
                </a:lnTo>
                <a:lnTo>
                  <a:pt x="0" y="114807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00122" y="2291537"/>
            <a:ext cx="285623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0000"/>
                </a:solidFill>
                <a:latin typeface="华文仿宋"/>
                <a:cs typeface="华文仿宋"/>
              </a:rPr>
              <a:t>应该增加</a:t>
            </a:r>
            <a:r>
              <a:rPr sz="1500" dirty="0">
                <a:solidFill>
                  <a:srgbClr val="FF0000"/>
                </a:solidFill>
                <a:latin typeface="Tw Cen MT"/>
                <a:cs typeface="Tw Cen MT"/>
              </a:rPr>
              <a:t>catch(Exception</a:t>
            </a:r>
            <a:r>
              <a:rPr sz="1500" spc="-40" dirty="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sz="1500" dirty="0">
                <a:solidFill>
                  <a:srgbClr val="FF0000"/>
                </a:solidFill>
                <a:latin typeface="Tw Cen MT"/>
                <a:cs typeface="Tw Cen MT"/>
              </a:rPr>
              <a:t>e){}</a:t>
            </a:r>
            <a:r>
              <a:rPr sz="1500" spc="-5" dirty="0">
                <a:solidFill>
                  <a:srgbClr val="FF0000"/>
                </a:solidFill>
                <a:latin typeface="华文仿宋"/>
                <a:cs typeface="华文仿宋"/>
              </a:rPr>
              <a:t>以捕获</a:t>
            </a:r>
            <a:endParaRPr sz="1500">
              <a:latin typeface="华文仿宋"/>
              <a:cs typeface="华文仿宋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FF0000"/>
                </a:solidFill>
                <a:latin typeface="华文仿宋"/>
                <a:cs typeface="华文仿宋"/>
              </a:rPr>
              <a:t>数据库查找失败异常</a:t>
            </a:r>
            <a:endParaRPr sz="15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342" y="295402"/>
            <a:ext cx="46355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质量保证与质量控制比较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31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8942" y="1454785"/>
            <a:ext cx="2950058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2400" dirty="0">
                <a:latin typeface="隶书"/>
                <a:cs typeface="隶书"/>
              </a:rPr>
              <a:t>QA:后期质量活动  QC:前期质量活动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0173" y="2958845"/>
            <a:ext cx="742315" cy="508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95"/>
              </a:spcBef>
            </a:pPr>
            <a:r>
              <a:rPr sz="2700" spc="-5" dirty="0">
                <a:latin typeface="Arial Narrow"/>
                <a:cs typeface="Arial Narrow"/>
              </a:rPr>
              <a:t>P1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561" y="2958845"/>
            <a:ext cx="744220" cy="5080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700" spc="-5" dirty="0">
                <a:latin typeface="Arial Narrow"/>
                <a:cs typeface="Arial Narrow"/>
              </a:rPr>
              <a:t>P2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72561" y="2958845"/>
            <a:ext cx="744220" cy="508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700" spc="-5" dirty="0">
                <a:latin typeface="Arial Narrow"/>
                <a:cs typeface="Arial Narrow"/>
              </a:rPr>
              <a:t>P3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16273" y="3090672"/>
            <a:ext cx="285115" cy="78105"/>
          </a:xfrm>
          <a:custGeom>
            <a:avLst/>
            <a:gdLst/>
            <a:ahLst/>
            <a:cxnLst/>
            <a:rect l="l" t="t" r="r" b="b"/>
            <a:pathLst>
              <a:path w="285114" h="78105">
                <a:moveTo>
                  <a:pt x="207263" y="38861"/>
                </a:moveTo>
                <a:lnTo>
                  <a:pt x="155448" y="77723"/>
                </a:lnTo>
                <a:lnTo>
                  <a:pt x="241807" y="51815"/>
                </a:lnTo>
                <a:lnTo>
                  <a:pt x="207263" y="51815"/>
                </a:lnTo>
                <a:lnTo>
                  <a:pt x="207263" y="38861"/>
                </a:lnTo>
                <a:close/>
              </a:path>
              <a:path w="285114" h="78105">
                <a:moveTo>
                  <a:pt x="189992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189991" y="51815"/>
                </a:lnTo>
                <a:lnTo>
                  <a:pt x="207263" y="38861"/>
                </a:lnTo>
                <a:lnTo>
                  <a:pt x="189992" y="25907"/>
                </a:lnTo>
                <a:close/>
              </a:path>
              <a:path w="285114" h="78105">
                <a:moveTo>
                  <a:pt x="241808" y="25907"/>
                </a:moveTo>
                <a:lnTo>
                  <a:pt x="207263" y="25907"/>
                </a:lnTo>
                <a:lnTo>
                  <a:pt x="207263" y="51815"/>
                </a:lnTo>
                <a:lnTo>
                  <a:pt x="241807" y="51815"/>
                </a:lnTo>
                <a:lnTo>
                  <a:pt x="284988" y="38861"/>
                </a:lnTo>
                <a:lnTo>
                  <a:pt x="241808" y="25907"/>
                </a:lnTo>
                <a:close/>
              </a:path>
              <a:path w="285114" h="78105">
                <a:moveTo>
                  <a:pt x="155448" y="0"/>
                </a:moveTo>
                <a:lnTo>
                  <a:pt x="207263" y="38861"/>
                </a:lnTo>
                <a:lnTo>
                  <a:pt x="207263" y="25907"/>
                </a:lnTo>
                <a:lnTo>
                  <a:pt x="241808" y="25907"/>
                </a:lnTo>
                <a:lnTo>
                  <a:pt x="1554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1361" y="2786633"/>
            <a:ext cx="172720" cy="685800"/>
          </a:xfrm>
          <a:custGeom>
            <a:avLst/>
            <a:gdLst/>
            <a:ahLst/>
            <a:cxnLst/>
            <a:rect l="l" t="t" r="r" b="b"/>
            <a:pathLst>
              <a:path w="172720" h="685800">
                <a:moveTo>
                  <a:pt x="172212" y="502158"/>
                </a:moveTo>
                <a:lnTo>
                  <a:pt x="0" y="502158"/>
                </a:lnTo>
                <a:lnTo>
                  <a:pt x="86105" y="685800"/>
                </a:lnTo>
                <a:lnTo>
                  <a:pt x="172212" y="502158"/>
                </a:lnTo>
                <a:close/>
              </a:path>
              <a:path w="172720" h="685800">
                <a:moveTo>
                  <a:pt x="129159" y="183642"/>
                </a:moveTo>
                <a:lnTo>
                  <a:pt x="43052" y="183642"/>
                </a:lnTo>
                <a:lnTo>
                  <a:pt x="43052" y="502158"/>
                </a:lnTo>
                <a:lnTo>
                  <a:pt x="129159" y="502158"/>
                </a:lnTo>
                <a:lnTo>
                  <a:pt x="129159" y="183642"/>
                </a:lnTo>
                <a:close/>
              </a:path>
              <a:path w="172720" h="685800">
                <a:moveTo>
                  <a:pt x="86105" y="0"/>
                </a:moveTo>
                <a:lnTo>
                  <a:pt x="0" y="183642"/>
                </a:lnTo>
                <a:lnTo>
                  <a:pt x="172212" y="183642"/>
                </a:lnTo>
                <a:lnTo>
                  <a:pt x="8610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01361" y="2786633"/>
            <a:ext cx="172720" cy="685800"/>
          </a:xfrm>
          <a:custGeom>
            <a:avLst/>
            <a:gdLst/>
            <a:ahLst/>
            <a:cxnLst/>
            <a:rect l="l" t="t" r="r" b="b"/>
            <a:pathLst>
              <a:path w="172720" h="685800">
                <a:moveTo>
                  <a:pt x="0" y="183642"/>
                </a:moveTo>
                <a:lnTo>
                  <a:pt x="86105" y="0"/>
                </a:lnTo>
                <a:lnTo>
                  <a:pt x="172212" y="183642"/>
                </a:lnTo>
                <a:lnTo>
                  <a:pt x="129159" y="183642"/>
                </a:lnTo>
                <a:lnTo>
                  <a:pt x="129159" y="502158"/>
                </a:lnTo>
                <a:lnTo>
                  <a:pt x="172212" y="502158"/>
                </a:lnTo>
                <a:lnTo>
                  <a:pt x="86105" y="685800"/>
                </a:lnTo>
                <a:lnTo>
                  <a:pt x="0" y="502158"/>
                </a:lnTo>
                <a:lnTo>
                  <a:pt x="43052" y="502158"/>
                </a:lnTo>
                <a:lnTo>
                  <a:pt x="43052" y="183642"/>
                </a:lnTo>
                <a:lnTo>
                  <a:pt x="0" y="18364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15661" y="3090672"/>
            <a:ext cx="287020" cy="78105"/>
          </a:xfrm>
          <a:custGeom>
            <a:avLst/>
            <a:gdLst/>
            <a:ahLst/>
            <a:cxnLst/>
            <a:rect l="l" t="t" r="r" b="b"/>
            <a:pathLst>
              <a:path w="287020" h="78105">
                <a:moveTo>
                  <a:pt x="208787" y="38861"/>
                </a:moveTo>
                <a:lnTo>
                  <a:pt x="156972" y="77723"/>
                </a:lnTo>
                <a:lnTo>
                  <a:pt x="243331" y="51815"/>
                </a:lnTo>
                <a:lnTo>
                  <a:pt x="208787" y="51815"/>
                </a:lnTo>
                <a:lnTo>
                  <a:pt x="208787" y="38861"/>
                </a:lnTo>
                <a:close/>
              </a:path>
              <a:path w="287020" h="78105">
                <a:moveTo>
                  <a:pt x="191516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191515" y="51815"/>
                </a:lnTo>
                <a:lnTo>
                  <a:pt x="208787" y="38861"/>
                </a:lnTo>
                <a:lnTo>
                  <a:pt x="191516" y="25907"/>
                </a:lnTo>
                <a:close/>
              </a:path>
              <a:path w="287020" h="78105">
                <a:moveTo>
                  <a:pt x="243332" y="25907"/>
                </a:moveTo>
                <a:lnTo>
                  <a:pt x="208787" y="25907"/>
                </a:lnTo>
                <a:lnTo>
                  <a:pt x="208787" y="51815"/>
                </a:lnTo>
                <a:lnTo>
                  <a:pt x="243331" y="51815"/>
                </a:lnTo>
                <a:lnTo>
                  <a:pt x="286512" y="38861"/>
                </a:lnTo>
                <a:lnTo>
                  <a:pt x="243332" y="25907"/>
                </a:lnTo>
                <a:close/>
              </a:path>
              <a:path w="287020" h="78105">
                <a:moveTo>
                  <a:pt x="156972" y="0"/>
                </a:moveTo>
                <a:lnTo>
                  <a:pt x="208787" y="38861"/>
                </a:lnTo>
                <a:lnTo>
                  <a:pt x="208787" y="25907"/>
                </a:lnTo>
                <a:lnTo>
                  <a:pt x="243332" y="25907"/>
                </a:lnTo>
                <a:lnTo>
                  <a:pt x="156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16473" y="2958845"/>
            <a:ext cx="1085215" cy="386080"/>
          </a:xfrm>
          <a:custGeom>
            <a:avLst/>
            <a:gdLst/>
            <a:ahLst/>
            <a:cxnLst/>
            <a:rect l="l" t="t" r="r" b="b"/>
            <a:pathLst>
              <a:path w="1085214" h="386079">
                <a:moveTo>
                  <a:pt x="542543" y="0"/>
                </a:moveTo>
                <a:lnTo>
                  <a:pt x="462381" y="698"/>
                </a:lnTo>
                <a:lnTo>
                  <a:pt x="385866" y="2725"/>
                </a:lnTo>
                <a:lnTo>
                  <a:pt x="313840" y="5982"/>
                </a:lnTo>
                <a:lnTo>
                  <a:pt x="247143" y="10367"/>
                </a:lnTo>
                <a:lnTo>
                  <a:pt x="186613" y="15781"/>
                </a:lnTo>
                <a:lnTo>
                  <a:pt x="133092" y="22124"/>
                </a:lnTo>
                <a:lnTo>
                  <a:pt x="87418" y="29296"/>
                </a:lnTo>
                <a:lnTo>
                  <a:pt x="22974" y="45723"/>
                </a:lnTo>
                <a:lnTo>
                  <a:pt x="0" y="64262"/>
                </a:lnTo>
                <a:lnTo>
                  <a:pt x="0" y="321310"/>
                </a:lnTo>
                <a:lnTo>
                  <a:pt x="50432" y="348376"/>
                </a:lnTo>
                <a:lnTo>
                  <a:pt x="133092" y="363447"/>
                </a:lnTo>
                <a:lnTo>
                  <a:pt x="186613" y="369790"/>
                </a:lnTo>
                <a:lnTo>
                  <a:pt x="247143" y="375204"/>
                </a:lnTo>
                <a:lnTo>
                  <a:pt x="313840" y="379589"/>
                </a:lnTo>
                <a:lnTo>
                  <a:pt x="385866" y="382846"/>
                </a:lnTo>
                <a:lnTo>
                  <a:pt x="462381" y="384873"/>
                </a:lnTo>
                <a:lnTo>
                  <a:pt x="542543" y="385572"/>
                </a:lnTo>
                <a:lnTo>
                  <a:pt x="622706" y="384873"/>
                </a:lnTo>
                <a:lnTo>
                  <a:pt x="699221" y="382846"/>
                </a:lnTo>
                <a:lnTo>
                  <a:pt x="771247" y="379589"/>
                </a:lnTo>
                <a:lnTo>
                  <a:pt x="837944" y="375204"/>
                </a:lnTo>
                <a:lnTo>
                  <a:pt x="898474" y="369790"/>
                </a:lnTo>
                <a:lnTo>
                  <a:pt x="951995" y="363447"/>
                </a:lnTo>
                <a:lnTo>
                  <a:pt x="997669" y="356275"/>
                </a:lnTo>
                <a:lnTo>
                  <a:pt x="1062113" y="339848"/>
                </a:lnTo>
                <a:lnTo>
                  <a:pt x="1085088" y="321310"/>
                </a:lnTo>
                <a:lnTo>
                  <a:pt x="1085088" y="64262"/>
                </a:lnTo>
                <a:lnTo>
                  <a:pt x="1034655" y="37195"/>
                </a:lnTo>
                <a:lnTo>
                  <a:pt x="951995" y="22124"/>
                </a:lnTo>
                <a:lnTo>
                  <a:pt x="898474" y="15781"/>
                </a:lnTo>
                <a:lnTo>
                  <a:pt x="837944" y="10367"/>
                </a:lnTo>
                <a:lnTo>
                  <a:pt x="771247" y="5982"/>
                </a:lnTo>
                <a:lnTo>
                  <a:pt x="699221" y="2725"/>
                </a:lnTo>
                <a:lnTo>
                  <a:pt x="622706" y="698"/>
                </a:lnTo>
                <a:lnTo>
                  <a:pt x="54254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16473" y="3023107"/>
            <a:ext cx="1085215" cy="64769"/>
          </a:xfrm>
          <a:custGeom>
            <a:avLst/>
            <a:gdLst/>
            <a:ahLst/>
            <a:cxnLst/>
            <a:rect l="l" t="t" r="r" b="b"/>
            <a:pathLst>
              <a:path w="1085214" h="64769">
                <a:moveTo>
                  <a:pt x="1085088" y="0"/>
                </a:moveTo>
                <a:lnTo>
                  <a:pt x="1034655" y="27066"/>
                </a:lnTo>
                <a:lnTo>
                  <a:pt x="951995" y="42137"/>
                </a:lnTo>
                <a:lnTo>
                  <a:pt x="898474" y="48480"/>
                </a:lnTo>
                <a:lnTo>
                  <a:pt x="837944" y="53894"/>
                </a:lnTo>
                <a:lnTo>
                  <a:pt x="771247" y="58279"/>
                </a:lnTo>
                <a:lnTo>
                  <a:pt x="699221" y="61536"/>
                </a:lnTo>
                <a:lnTo>
                  <a:pt x="622706" y="63563"/>
                </a:lnTo>
                <a:lnTo>
                  <a:pt x="542543" y="64262"/>
                </a:lnTo>
                <a:lnTo>
                  <a:pt x="462381" y="63563"/>
                </a:lnTo>
                <a:lnTo>
                  <a:pt x="385866" y="61536"/>
                </a:lnTo>
                <a:lnTo>
                  <a:pt x="313840" y="58279"/>
                </a:lnTo>
                <a:lnTo>
                  <a:pt x="247143" y="53894"/>
                </a:lnTo>
                <a:lnTo>
                  <a:pt x="186613" y="48480"/>
                </a:lnTo>
                <a:lnTo>
                  <a:pt x="133092" y="42137"/>
                </a:lnTo>
                <a:lnTo>
                  <a:pt x="87418" y="34965"/>
                </a:lnTo>
                <a:lnTo>
                  <a:pt x="22974" y="18538"/>
                </a:lnTo>
                <a:lnTo>
                  <a:pt x="5883" y="9483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16473" y="2958845"/>
            <a:ext cx="1085215" cy="386080"/>
          </a:xfrm>
          <a:custGeom>
            <a:avLst/>
            <a:gdLst/>
            <a:ahLst/>
            <a:cxnLst/>
            <a:rect l="l" t="t" r="r" b="b"/>
            <a:pathLst>
              <a:path w="1085214" h="386079">
                <a:moveTo>
                  <a:pt x="0" y="64262"/>
                </a:moveTo>
                <a:lnTo>
                  <a:pt x="50432" y="37195"/>
                </a:lnTo>
                <a:lnTo>
                  <a:pt x="133092" y="22124"/>
                </a:lnTo>
                <a:lnTo>
                  <a:pt x="186613" y="15781"/>
                </a:lnTo>
                <a:lnTo>
                  <a:pt x="247143" y="10367"/>
                </a:lnTo>
                <a:lnTo>
                  <a:pt x="313840" y="5982"/>
                </a:lnTo>
                <a:lnTo>
                  <a:pt x="385866" y="2725"/>
                </a:lnTo>
                <a:lnTo>
                  <a:pt x="462381" y="698"/>
                </a:lnTo>
                <a:lnTo>
                  <a:pt x="542543" y="0"/>
                </a:lnTo>
                <a:lnTo>
                  <a:pt x="622706" y="698"/>
                </a:lnTo>
                <a:lnTo>
                  <a:pt x="699221" y="2725"/>
                </a:lnTo>
                <a:lnTo>
                  <a:pt x="771247" y="5982"/>
                </a:lnTo>
                <a:lnTo>
                  <a:pt x="837944" y="10367"/>
                </a:lnTo>
                <a:lnTo>
                  <a:pt x="898474" y="15781"/>
                </a:lnTo>
                <a:lnTo>
                  <a:pt x="951995" y="22124"/>
                </a:lnTo>
                <a:lnTo>
                  <a:pt x="997669" y="29296"/>
                </a:lnTo>
                <a:lnTo>
                  <a:pt x="1062113" y="45723"/>
                </a:lnTo>
                <a:lnTo>
                  <a:pt x="1085088" y="64262"/>
                </a:lnTo>
                <a:lnTo>
                  <a:pt x="1085088" y="321310"/>
                </a:lnTo>
                <a:lnTo>
                  <a:pt x="1034655" y="348376"/>
                </a:lnTo>
                <a:lnTo>
                  <a:pt x="951995" y="363447"/>
                </a:lnTo>
                <a:lnTo>
                  <a:pt x="898474" y="369790"/>
                </a:lnTo>
                <a:lnTo>
                  <a:pt x="837944" y="375204"/>
                </a:lnTo>
                <a:lnTo>
                  <a:pt x="771247" y="379589"/>
                </a:lnTo>
                <a:lnTo>
                  <a:pt x="699221" y="382846"/>
                </a:lnTo>
                <a:lnTo>
                  <a:pt x="622706" y="384873"/>
                </a:lnTo>
                <a:lnTo>
                  <a:pt x="542543" y="385572"/>
                </a:lnTo>
                <a:lnTo>
                  <a:pt x="462381" y="384873"/>
                </a:lnTo>
                <a:lnTo>
                  <a:pt x="385866" y="382846"/>
                </a:lnTo>
                <a:lnTo>
                  <a:pt x="313840" y="379589"/>
                </a:lnTo>
                <a:lnTo>
                  <a:pt x="247143" y="375204"/>
                </a:lnTo>
                <a:lnTo>
                  <a:pt x="186613" y="369790"/>
                </a:lnTo>
                <a:lnTo>
                  <a:pt x="133092" y="363447"/>
                </a:lnTo>
                <a:lnTo>
                  <a:pt x="87418" y="356275"/>
                </a:lnTo>
                <a:lnTo>
                  <a:pt x="22974" y="339848"/>
                </a:lnTo>
                <a:lnTo>
                  <a:pt x="0" y="321310"/>
                </a:lnTo>
                <a:lnTo>
                  <a:pt x="0" y="6426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15153" y="2979877"/>
            <a:ext cx="88709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Pro</a:t>
            </a:r>
            <a:r>
              <a:rPr sz="2400" spc="-10" dirty="0">
                <a:latin typeface="Arial Narrow"/>
                <a:cs typeface="Arial Narrow"/>
              </a:rPr>
              <a:t>d</a:t>
            </a:r>
            <a:r>
              <a:rPr sz="2400" spc="-5" dirty="0">
                <a:latin typeface="Arial Narrow"/>
                <a:cs typeface="Arial Narrow"/>
              </a:rPr>
              <a:t>uct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29661" y="3090672"/>
            <a:ext cx="287020" cy="78105"/>
          </a:xfrm>
          <a:custGeom>
            <a:avLst/>
            <a:gdLst/>
            <a:ahLst/>
            <a:cxnLst/>
            <a:rect l="l" t="t" r="r" b="b"/>
            <a:pathLst>
              <a:path w="287019" h="78105">
                <a:moveTo>
                  <a:pt x="208787" y="38861"/>
                </a:moveTo>
                <a:lnTo>
                  <a:pt x="156971" y="77723"/>
                </a:lnTo>
                <a:lnTo>
                  <a:pt x="243331" y="51815"/>
                </a:lnTo>
                <a:lnTo>
                  <a:pt x="208787" y="51815"/>
                </a:lnTo>
                <a:lnTo>
                  <a:pt x="208787" y="38861"/>
                </a:lnTo>
                <a:close/>
              </a:path>
              <a:path w="287019" h="78105">
                <a:moveTo>
                  <a:pt x="191516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191515" y="51815"/>
                </a:lnTo>
                <a:lnTo>
                  <a:pt x="208787" y="38861"/>
                </a:lnTo>
                <a:lnTo>
                  <a:pt x="191516" y="25907"/>
                </a:lnTo>
                <a:close/>
              </a:path>
              <a:path w="287019" h="78105">
                <a:moveTo>
                  <a:pt x="243332" y="25907"/>
                </a:moveTo>
                <a:lnTo>
                  <a:pt x="208787" y="25907"/>
                </a:lnTo>
                <a:lnTo>
                  <a:pt x="208787" y="51815"/>
                </a:lnTo>
                <a:lnTo>
                  <a:pt x="243331" y="51815"/>
                </a:lnTo>
                <a:lnTo>
                  <a:pt x="286512" y="38861"/>
                </a:lnTo>
                <a:lnTo>
                  <a:pt x="243332" y="25907"/>
                </a:lnTo>
                <a:close/>
              </a:path>
              <a:path w="287019" h="78105">
                <a:moveTo>
                  <a:pt x="156971" y="0"/>
                </a:moveTo>
                <a:lnTo>
                  <a:pt x="208787" y="38861"/>
                </a:lnTo>
                <a:lnTo>
                  <a:pt x="208787" y="25907"/>
                </a:lnTo>
                <a:lnTo>
                  <a:pt x="243332" y="25907"/>
                </a:lnTo>
                <a:lnTo>
                  <a:pt x="156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72361" y="3090672"/>
            <a:ext cx="287020" cy="78105"/>
          </a:xfrm>
          <a:custGeom>
            <a:avLst/>
            <a:gdLst/>
            <a:ahLst/>
            <a:cxnLst/>
            <a:rect l="l" t="t" r="r" b="b"/>
            <a:pathLst>
              <a:path w="287019" h="78105">
                <a:moveTo>
                  <a:pt x="208787" y="38861"/>
                </a:moveTo>
                <a:lnTo>
                  <a:pt x="156972" y="77723"/>
                </a:lnTo>
                <a:lnTo>
                  <a:pt x="243331" y="51815"/>
                </a:lnTo>
                <a:lnTo>
                  <a:pt x="208787" y="51815"/>
                </a:lnTo>
                <a:lnTo>
                  <a:pt x="208787" y="38861"/>
                </a:lnTo>
                <a:close/>
              </a:path>
              <a:path w="287019" h="78105">
                <a:moveTo>
                  <a:pt x="191516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191515" y="51815"/>
                </a:lnTo>
                <a:lnTo>
                  <a:pt x="208787" y="38861"/>
                </a:lnTo>
                <a:lnTo>
                  <a:pt x="191516" y="25907"/>
                </a:lnTo>
                <a:close/>
              </a:path>
              <a:path w="287019" h="78105">
                <a:moveTo>
                  <a:pt x="243332" y="25907"/>
                </a:moveTo>
                <a:lnTo>
                  <a:pt x="208787" y="25907"/>
                </a:lnTo>
                <a:lnTo>
                  <a:pt x="208787" y="51815"/>
                </a:lnTo>
                <a:lnTo>
                  <a:pt x="243331" y="51815"/>
                </a:lnTo>
                <a:lnTo>
                  <a:pt x="286512" y="38861"/>
                </a:lnTo>
                <a:lnTo>
                  <a:pt x="243332" y="25907"/>
                </a:lnTo>
                <a:close/>
              </a:path>
              <a:path w="287019" h="78105">
                <a:moveTo>
                  <a:pt x="156972" y="0"/>
                </a:moveTo>
                <a:lnTo>
                  <a:pt x="208787" y="38861"/>
                </a:lnTo>
                <a:lnTo>
                  <a:pt x="208787" y="25907"/>
                </a:lnTo>
                <a:lnTo>
                  <a:pt x="243332" y="25907"/>
                </a:lnTo>
                <a:lnTo>
                  <a:pt x="156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79016" y="3755542"/>
            <a:ext cx="4330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 Narrow"/>
                <a:cs typeface="Arial Narrow"/>
              </a:rPr>
              <a:t>QA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05711" y="3172205"/>
            <a:ext cx="78105" cy="472440"/>
          </a:xfrm>
          <a:custGeom>
            <a:avLst/>
            <a:gdLst/>
            <a:ahLst/>
            <a:cxnLst/>
            <a:rect l="l" t="t" r="r" b="b"/>
            <a:pathLst>
              <a:path w="78105" h="472439">
                <a:moveTo>
                  <a:pt x="38862" y="77724"/>
                </a:moveTo>
                <a:lnTo>
                  <a:pt x="25907" y="94996"/>
                </a:lnTo>
                <a:lnTo>
                  <a:pt x="25907" y="472440"/>
                </a:lnTo>
                <a:lnTo>
                  <a:pt x="51815" y="472440"/>
                </a:lnTo>
                <a:lnTo>
                  <a:pt x="51815" y="94996"/>
                </a:lnTo>
                <a:lnTo>
                  <a:pt x="38862" y="77724"/>
                </a:lnTo>
                <a:close/>
              </a:path>
              <a:path w="78105" h="472439">
                <a:moveTo>
                  <a:pt x="38862" y="0"/>
                </a:moveTo>
                <a:lnTo>
                  <a:pt x="0" y="129539"/>
                </a:lnTo>
                <a:lnTo>
                  <a:pt x="25907" y="94996"/>
                </a:lnTo>
                <a:lnTo>
                  <a:pt x="25907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5" h="472439">
                <a:moveTo>
                  <a:pt x="62179" y="77724"/>
                </a:moveTo>
                <a:lnTo>
                  <a:pt x="51815" y="77724"/>
                </a:lnTo>
                <a:lnTo>
                  <a:pt x="51816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5" h="472439">
                <a:moveTo>
                  <a:pt x="38862" y="77724"/>
                </a:moveTo>
                <a:lnTo>
                  <a:pt x="25907" y="77724"/>
                </a:lnTo>
                <a:lnTo>
                  <a:pt x="25907" y="94996"/>
                </a:lnTo>
                <a:lnTo>
                  <a:pt x="38862" y="77724"/>
                </a:lnTo>
                <a:close/>
              </a:path>
              <a:path w="78105" h="472439">
                <a:moveTo>
                  <a:pt x="51815" y="77724"/>
                </a:moveTo>
                <a:lnTo>
                  <a:pt x="38862" y="77724"/>
                </a:lnTo>
                <a:lnTo>
                  <a:pt x="51816" y="94996"/>
                </a:lnTo>
                <a:lnTo>
                  <a:pt x="51815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37152" y="3112389"/>
            <a:ext cx="563245" cy="108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……</a:t>
            </a:r>
            <a:endParaRPr sz="2400">
              <a:latin typeface="Arial Narrow"/>
              <a:cs typeface="Arial Narrow"/>
            </a:endParaRPr>
          </a:p>
          <a:p>
            <a:pPr marL="127000">
              <a:lnSpc>
                <a:spcPct val="100000"/>
              </a:lnSpc>
              <a:spcBef>
                <a:spcPts val="2185"/>
              </a:spcBef>
            </a:pPr>
            <a:r>
              <a:rPr sz="2700" dirty="0">
                <a:latin typeface="Arial Narrow"/>
                <a:cs typeface="Arial Narrow"/>
              </a:rPr>
              <a:t>QC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05100" y="3172205"/>
            <a:ext cx="78105" cy="472440"/>
          </a:xfrm>
          <a:custGeom>
            <a:avLst/>
            <a:gdLst/>
            <a:ahLst/>
            <a:cxnLst/>
            <a:rect l="l" t="t" r="r" b="b"/>
            <a:pathLst>
              <a:path w="78105" h="472439">
                <a:moveTo>
                  <a:pt x="38862" y="77724"/>
                </a:moveTo>
                <a:lnTo>
                  <a:pt x="25907" y="94996"/>
                </a:lnTo>
                <a:lnTo>
                  <a:pt x="25907" y="472440"/>
                </a:lnTo>
                <a:lnTo>
                  <a:pt x="51816" y="472440"/>
                </a:lnTo>
                <a:lnTo>
                  <a:pt x="51816" y="94996"/>
                </a:lnTo>
                <a:lnTo>
                  <a:pt x="38862" y="77724"/>
                </a:lnTo>
                <a:close/>
              </a:path>
              <a:path w="78105" h="472439">
                <a:moveTo>
                  <a:pt x="38862" y="0"/>
                </a:moveTo>
                <a:lnTo>
                  <a:pt x="0" y="129539"/>
                </a:lnTo>
                <a:lnTo>
                  <a:pt x="25907" y="94996"/>
                </a:lnTo>
                <a:lnTo>
                  <a:pt x="25907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5" h="472439">
                <a:moveTo>
                  <a:pt x="62179" y="77724"/>
                </a:moveTo>
                <a:lnTo>
                  <a:pt x="51816" y="77724"/>
                </a:lnTo>
                <a:lnTo>
                  <a:pt x="51816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5" h="472439">
                <a:moveTo>
                  <a:pt x="38862" y="77724"/>
                </a:moveTo>
                <a:lnTo>
                  <a:pt x="25907" y="77724"/>
                </a:lnTo>
                <a:lnTo>
                  <a:pt x="25907" y="94996"/>
                </a:lnTo>
                <a:lnTo>
                  <a:pt x="38862" y="77724"/>
                </a:lnTo>
                <a:close/>
              </a:path>
              <a:path w="78105" h="472439">
                <a:moveTo>
                  <a:pt x="51816" y="77724"/>
                </a:moveTo>
                <a:lnTo>
                  <a:pt x="38862" y="77724"/>
                </a:lnTo>
                <a:lnTo>
                  <a:pt x="51816" y="94996"/>
                </a:lnTo>
                <a:lnTo>
                  <a:pt x="51816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93975" y="3712261"/>
            <a:ext cx="43307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 Narrow"/>
                <a:cs typeface="Arial Narrow"/>
              </a:rPr>
              <a:t>QA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33900" y="3259073"/>
            <a:ext cx="78105" cy="471170"/>
          </a:xfrm>
          <a:custGeom>
            <a:avLst/>
            <a:gdLst/>
            <a:ahLst/>
            <a:cxnLst/>
            <a:rect l="l" t="t" r="r" b="b"/>
            <a:pathLst>
              <a:path w="78104" h="471170">
                <a:moveTo>
                  <a:pt x="38862" y="77724"/>
                </a:moveTo>
                <a:lnTo>
                  <a:pt x="25908" y="94995"/>
                </a:lnTo>
                <a:lnTo>
                  <a:pt x="25908" y="470916"/>
                </a:lnTo>
                <a:lnTo>
                  <a:pt x="51815" y="470916"/>
                </a:lnTo>
                <a:lnTo>
                  <a:pt x="51815" y="94995"/>
                </a:lnTo>
                <a:lnTo>
                  <a:pt x="38862" y="77724"/>
                </a:lnTo>
                <a:close/>
              </a:path>
              <a:path w="78104" h="471170">
                <a:moveTo>
                  <a:pt x="38862" y="0"/>
                </a:moveTo>
                <a:lnTo>
                  <a:pt x="0" y="129539"/>
                </a:lnTo>
                <a:lnTo>
                  <a:pt x="25908" y="94995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4" h="471170">
                <a:moveTo>
                  <a:pt x="62179" y="77724"/>
                </a:moveTo>
                <a:lnTo>
                  <a:pt x="51815" y="77724"/>
                </a:lnTo>
                <a:lnTo>
                  <a:pt x="51815" y="94995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471170">
                <a:moveTo>
                  <a:pt x="38862" y="77724"/>
                </a:moveTo>
                <a:lnTo>
                  <a:pt x="25908" y="77724"/>
                </a:lnTo>
                <a:lnTo>
                  <a:pt x="25908" y="94995"/>
                </a:lnTo>
                <a:lnTo>
                  <a:pt x="38862" y="77724"/>
                </a:lnTo>
                <a:close/>
              </a:path>
              <a:path w="78104" h="471170">
                <a:moveTo>
                  <a:pt x="51815" y="77724"/>
                </a:moveTo>
                <a:lnTo>
                  <a:pt x="38862" y="77724"/>
                </a:lnTo>
                <a:lnTo>
                  <a:pt x="51815" y="94995"/>
                </a:lnTo>
                <a:lnTo>
                  <a:pt x="51815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77583" y="3222498"/>
            <a:ext cx="78105" cy="471170"/>
          </a:xfrm>
          <a:custGeom>
            <a:avLst/>
            <a:gdLst/>
            <a:ahLst/>
            <a:cxnLst/>
            <a:rect l="l" t="t" r="r" b="b"/>
            <a:pathLst>
              <a:path w="78104" h="471170">
                <a:moveTo>
                  <a:pt x="38862" y="77724"/>
                </a:moveTo>
                <a:lnTo>
                  <a:pt x="25908" y="94995"/>
                </a:lnTo>
                <a:lnTo>
                  <a:pt x="25908" y="470915"/>
                </a:lnTo>
                <a:lnTo>
                  <a:pt x="51816" y="470915"/>
                </a:lnTo>
                <a:lnTo>
                  <a:pt x="51816" y="94995"/>
                </a:lnTo>
                <a:lnTo>
                  <a:pt x="38862" y="77724"/>
                </a:lnTo>
                <a:close/>
              </a:path>
              <a:path w="78104" h="471170">
                <a:moveTo>
                  <a:pt x="38862" y="0"/>
                </a:moveTo>
                <a:lnTo>
                  <a:pt x="0" y="129539"/>
                </a:lnTo>
                <a:lnTo>
                  <a:pt x="25908" y="94995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4" h="471170">
                <a:moveTo>
                  <a:pt x="62179" y="77724"/>
                </a:moveTo>
                <a:lnTo>
                  <a:pt x="51816" y="77724"/>
                </a:lnTo>
                <a:lnTo>
                  <a:pt x="51816" y="94995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471170">
                <a:moveTo>
                  <a:pt x="38862" y="77724"/>
                </a:moveTo>
                <a:lnTo>
                  <a:pt x="25908" y="77724"/>
                </a:lnTo>
                <a:lnTo>
                  <a:pt x="25908" y="94995"/>
                </a:lnTo>
                <a:lnTo>
                  <a:pt x="38862" y="77724"/>
                </a:lnTo>
                <a:close/>
              </a:path>
              <a:path w="78104" h="471170">
                <a:moveTo>
                  <a:pt x="51816" y="77724"/>
                </a:moveTo>
                <a:lnTo>
                  <a:pt x="38862" y="77724"/>
                </a:lnTo>
                <a:lnTo>
                  <a:pt x="51816" y="94995"/>
                </a:lnTo>
                <a:lnTo>
                  <a:pt x="51816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23609" y="3733291"/>
            <a:ext cx="4330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 Narrow"/>
                <a:cs typeface="Arial Narrow"/>
              </a:rPr>
              <a:t>QA</a:t>
            </a:r>
            <a:endParaRPr sz="2700">
              <a:latin typeface="Arial Narrow"/>
              <a:cs typeface="Arial Narro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400038" y="3099816"/>
            <a:ext cx="285115" cy="78105"/>
          </a:xfrm>
          <a:custGeom>
            <a:avLst/>
            <a:gdLst/>
            <a:ahLst/>
            <a:cxnLst/>
            <a:rect l="l" t="t" r="r" b="b"/>
            <a:pathLst>
              <a:path w="285115" h="78105">
                <a:moveTo>
                  <a:pt x="207263" y="38861"/>
                </a:moveTo>
                <a:lnTo>
                  <a:pt x="155447" y="77723"/>
                </a:lnTo>
                <a:lnTo>
                  <a:pt x="241807" y="51815"/>
                </a:lnTo>
                <a:lnTo>
                  <a:pt x="207263" y="51815"/>
                </a:lnTo>
                <a:lnTo>
                  <a:pt x="207263" y="38861"/>
                </a:lnTo>
                <a:close/>
              </a:path>
              <a:path w="285115" h="78105">
                <a:moveTo>
                  <a:pt x="189991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189991" y="51815"/>
                </a:lnTo>
                <a:lnTo>
                  <a:pt x="207263" y="38861"/>
                </a:lnTo>
                <a:lnTo>
                  <a:pt x="189991" y="25907"/>
                </a:lnTo>
                <a:close/>
              </a:path>
              <a:path w="285115" h="78105">
                <a:moveTo>
                  <a:pt x="241808" y="25907"/>
                </a:moveTo>
                <a:lnTo>
                  <a:pt x="207263" y="25907"/>
                </a:lnTo>
                <a:lnTo>
                  <a:pt x="207263" y="51815"/>
                </a:lnTo>
                <a:lnTo>
                  <a:pt x="241807" y="51815"/>
                </a:lnTo>
                <a:lnTo>
                  <a:pt x="284988" y="38861"/>
                </a:lnTo>
                <a:lnTo>
                  <a:pt x="241808" y="25907"/>
                </a:lnTo>
                <a:close/>
              </a:path>
              <a:path w="285115" h="78105">
                <a:moveTo>
                  <a:pt x="155447" y="0"/>
                </a:moveTo>
                <a:lnTo>
                  <a:pt x="207263" y="38861"/>
                </a:lnTo>
                <a:lnTo>
                  <a:pt x="207263" y="25907"/>
                </a:lnTo>
                <a:lnTo>
                  <a:pt x="241808" y="25907"/>
                </a:lnTo>
                <a:lnTo>
                  <a:pt x="1554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9103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32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874" y="168209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272" y="1600200"/>
            <a:ext cx="378460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874" y="2271247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2188464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874" y="3450501"/>
            <a:ext cx="191135" cy="25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272" y="3368040"/>
            <a:ext cx="36449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223" y="1600200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429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8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软件质量基本概念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2188464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55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9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软件质量活动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8507" y="3368040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698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5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软件质量计划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749" y="4004366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036" y="3922776"/>
            <a:ext cx="361315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2223" y="3922776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175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096" y="283817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747" y="2755392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5460" y="2755392"/>
            <a:ext cx="3472179" cy="3937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敏捷质量活动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668" y="211328"/>
            <a:ext cx="5054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敏捷项目的质量规划特征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8767" y="1367713"/>
            <a:ext cx="3851275" cy="12096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62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095" algn="l"/>
              </a:tabLst>
            </a:pPr>
            <a:r>
              <a:rPr sz="2150" spc="20" dirty="0">
                <a:latin typeface="华文新魏"/>
                <a:cs typeface="华文新魏"/>
              </a:rPr>
              <a:t>全程质量审查</a:t>
            </a:r>
            <a:endParaRPr sz="2150">
              <a:latin typeface="华文新魏"/>
              <a:cs typeface="华文新魏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095" algn="l"/>
              </a:tabLst>
            </a:pPr>
            <a:r>
              <a:rPr sz="2150" spc="20" dirty="0">
                <a:latin typeface="华文新魏"/>
                <a:cs typeface="华文新魏"/>
              </a:rPr>
              <a:t>早发现问题</a:t>
            </a:r>
            <a:r>
              <a:rPr sz="2150" spc="5" dirty="0">
                <a:latin typeface="华文新魏"/>
                <a:cs typeface="华文新魏"/>
              </a:rPr>
              <a:t> ,</a:t>
            </a:r>
            <a:r>
              <a:rPr sz="2150" dirty="0">
                <a:latin typeface="华文新魏"/>
                <a:cs typeface="华文新魏"/>
              </a:rPr>
              <a:t> </a:t>
            </a:r>
            <a:r>
              <a:rPr sz="2150" spc="20" dirty="0">
                <a:latin typeface="华文新魏"/>
                <a:cs typeface="华文新魏"/>
              </a:rPr>
              <a:t>多版本提交</a:t>
            </a:r>
            <a:endParaRPr sz="2150">
              <a:latin typeface="华文新魏"/>
              <a:cs typeface="华文新魏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095" algn="l"/>
              </a:tabLst>
            </a:pPr>
            <a:r>
              <a:rPr sz="2150" spc="15" dirty="0">
                <a:latin typeface="华文新魏"/>
                <a:cs typeface="华文新魏"/>
              </a:rPr>
              <a:t>不断进</a:t>
            </a:r>
            <a:r>
              <a:rPr sz="2150" spc="20" dirty="0">
                <a:latin typeface="华文新魏"/>
                <a:cs typeface="华文新魏"/>
              </a:rPr>
              <a:t>行</a:t>
            </a:r>
            <a:r>
              <a:rPr sz="2150" spc="15" dirty="0">
                <a:latin typeface="华文新魏"/>
                <a:cs typeface="华文新魏"/>
              </a:rPr>
              <a:t>质量方法评估和改进</a:t>
            </a:r>
            <a:endParaRPr sz="21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2777" y="4092346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768" y="211328"/>
            <a:ext cx="4140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敏捷项目的质量活动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1574" y="1277874"/>
            <a:ext cx="6114415" cy="272796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327660" indent="-238760">
              <a:lnSpc>
                <a:spcPct val="100000"/>
              </a:lnSpc>
              <a:spcBef>
                <a:spcPts val="220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dirty="0">
                <a:latin typeface="华文仿宋"/>
                <a:cs typeface="华文仿宋"/>
              </a:rPr>
              <a:t>结对编程</a:t>
            </a:r>
            <a:r>
              <a:rPr sz="1800" spc="-25" dirty="0">
                <a:latin typeface="Tw Cen MT"/>
                <a:cs typeface="Tw Cen MT"/>
              </a:rPr>
              <a:t>(Pair</a:t>
            </a:r>
            <a:r>
              <a:rPr sz="1800" spc="-5" dirty="0">
                <a:latin typeface="Tw Cen MT"/>
                <a:cs typeface="Tw Cen MT"/>
              </a:rPr>
              <a:t> Programming)</a:t>
            </a:r>
            <a:endParaRPr sz="1800">
              <a:latin typeface="Tw Cen MT"/>
              <a:cs typeface="Tw Cen MT"/>
            </a:endParaRPr>
          </a:p>
          <a:p>
            <a:pPr marL="327660" indent="-238760">
              <a:lnSpc>
                <a:spcPct val="100000"/>
              </a:lnSpc>
              <a:spcBef>
                <a:spcPts val="525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spc="-20" dirty="0">
                <a:latin typeface="Tw Cen MT"/>
                <a:cs typeface="Tw Cen MT"/>
              </a:rPr>
              <a:t>TDD(Test </a:t>
            </a:r>
            <a:r>
              <a:rPr sz="1800" spc="-10" dirty="0">
                <a:latin typeface="Tw Cen MT"/>
                <a:cs typeface="Tw Cen MT"/>
              </a:rPr>
              <a:t>Driven </a:t>
            </a:r>
            <a:r>
              <a:rPr sz="1800" spc="-5" dirty="0">
                <a:latin typeface="Tw Cen MT"/>
                <a:cs typeface="Tw Cen MT"/>
              </a:rPr>
              <a:t>Development)</a:t>
            </a:r>
            <a:endParaRPr sz="1800">
              <a:latin typeface="Tw Cen MT"/>
              <a:cs typeface="Tw Cen MT"/>
            </a:endParaRPr>
          </a:p>
          <a:p>
            <a:pPr marL="327660" indent="-238760">
              <a:lnSpc>
                <a:spcPct val="100000"/>
              </a:lnSpc>
              <a:spcBef>
                <a:spcPts val="470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spc="-5" dirty="0">
                <a:latin typeface="华文仿宋"/>
                <a:cs typeface="华文仿宋"/>
              </a:rPr>
              <a:t>持续集</a:t>
            </a:r>
            <a:r>
              <a:rPr sz="1800" dirty="0">
                <a:latin typeface="华文仿宋"/>
                <a:cs typeface="华文仿宋"/>
              </a:rPr>
              <a:t>成</a:t>
            </a:r>
            <a:r>
              <a:rPr sz="1800" spc="-5" dirty="0">
                <a:latin typeface="华文仿宋"/>
                <a:cs typeface="华文仿宋"/>
              </a:rPr>
              <a:t>与测试</a:t>
            </a:r>
            <a:endParaRPr sz="1800">
              <a:latin typeface="华文仿宋"/>
              <a:cs typeface="华文仿宋"/>
            </a:endParaRPr>
          </a:p>
          <a:p>
            <a:pPr marL="327660" indent="-238760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dirty="0">
                <a:latin typeface="华文仿宋"/>
                <a:cs typeface="华文仿宋"/>
              </a:rPr>
              <a:t>不同层面测试</a:t>
            </a:r>
            <a:endParaRPr sz="1800">
              <a:latin typeface="华文仿宋"/>
              <a:cs typeface="华文仿宋"/>
            </a:endParaRPr>
          </a:p>
          <a:p>
            <a:pPr marL="327660" indent="-238760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dirty="0">
                <a:latin typeface="华文仿宋"/>
                <a:cs typeface="华文仿宋"/>
              </a:rPr>
              <a:t>验收测试驱动开发</a:t>
            </a:r>
            <a:r>
              <a:rPr sz="1800" spc="-15" dirty="0">
                <a:latin typeface="华文仿宋"/>
                <a:cs typeface="华文仿宋"/>
              </a:rPr>
              <a:t>（</a:t>
            </a:r>
            <a:r>
              <a:rPr sz="1800" spc="-15" dirty="0">
                <a:latin typeface="Tw Cen MT"/>
                <a:cs typeface="Tw Cen MT"/>
              </a:rPr>
              <a:t>ATDD)</a:t>
            </a:r>
            <a:endParaRPr sz="1800">
              <a:latin typeface="Tw Cen MT"/>
              <a:cs typeface="Tw Cen MT"/>
            </a:endParaRPr>
          </a:p>
          <a:p>
            <a:pPr marL="327660" indent="-238760">
              <a:lnSpc>
                <a:spcPct val="100000"/>
              </a:lnSpc>
              <a:spcBef>
                <a:spcPts val="490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spc="-5" dirty="0">
                <a:latin typeface="华文仿宋"/>
                <a:cs typeface="华文仿宋"/>
              </a:rPr>
              <a:t>迭代评审</a:t>
            </a:r>
            <a:endParaRPr sz="1800">
              <a:latin typeface="华文仿宋"/>
              <a:cs typeface="华文仿宋"/>
            </a:endParaRPr>
          </a:p>
          <a:p>
            <a:pPr marL="327660" indent="-238760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28295" algn="l"/>
              </a:tabLst>
            </a:pPr>
            <a:r>
              <a:rPr sz="1800" dirty="0">
                <a:latin typeface="华文仿宋"/>
                <a:cs typeface="华文仿宋"/>
              </a:rPr>
              <a:t>迭代回顾会议</a:t>
            </a:r>
            <a:endParaRPr sz="1800">
              <a:latin typeface="华文仿宋"/>
              <a:cs typeface="华文仿宋"/>
            </a:endParaRPr>
          </a:p>
          <a:p>
            <a:pPr marL="391795" indent="-3028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391160" algn="l"/>
                <a:tab pos="392430" algn="l"/>
              </a:tabLst>
            </a:pPr>
            <a:r>
              <a:rPr sz="1800" spc="-10" dirty="0">
                <a:latin typeface="Tw Cen MT"/>
                <a:cs typeface="Tw Cen MT"/>
              </a:rPr>
              <a:t>Refactor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8677" y="4278274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252476"/>
            <a:ext cx="477329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Tw Cen MT"/>
                <a:cs typeface="Tw Cen MT"/>
              </a:rPr>
              <a:t>Pair</a:t>
            </a:r>
            <a:r>
              <a:rPr spc="-65" dirty="0">
                <a:latin typeface="Tw Cen MT"/>
                <a:cs typeface="Tw Cen MT"/>
              </a:rPr>
              <a:t> </a:t>
            </a:r>
            <a:r>
              <a:rPr spc="-10" dirty="0">
                <a:latin typeface="Tw Cen MT"/>
                <a:cs typeface="Tw Cen MT"/>
              </a:rPr>
              <a:t>Programming:</a:t>
            </a:r>
            <a:r>
              <a:rPr dirty="0">
                <a:latin typeface="华文仿宋"/>
                <a:cs typeface="华文仿宋"/>
              </a:rPr>
              <a:t>结对编程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00" y="1543811"/>
            <a:ext cx="3377184" cy="2528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142" y="179019"/>
            <a:ext cx="393509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Tw Cen MT"/>
                <a:cs typeface="Tw Cen MT"/>
              </a:rPr>
              <a:t>Pair</a:t>
            </a:r>
            <a:r>
              <a:rPr spc="-70" dirty="0">
                <a:latin typeface="Tw Cen MT"/>
                <a:cs typeface="Tw Cen MT"/>
              </a:rPr>
              <a:t> </a:t>
            </a:r>
            <a:r>
              <a:rPr spc="-10" dirty="0">
                <a:latin typeface="Tw Cen MT"/>
                <a:cs typeface="Tw Cen MT"/>
              </a:rPr>
              <a:t>Programming:</a:t>
            </a:r>
            <a:r>
              <a:rPr spc="-5" dirty="0">
                <a:latin typeface="华文仿宋"/>
                <a:cs typeface="华文仿宋"/>
              </a:rPr>
              <a:t>效果</a:t>
            </a:r>
          </a:p>
        </p:txBody>
      </p:sp>
      <p:sp>
        <p:nvSpPr>
          <p:cNvPr id="3" name="object 3"/>
          <p:cNvSpPr/>
          <p:nvPr/>
        </p:nvSpPr>
        <p:spPr>
          <a:xfrm>
            <a:off x="644911" y="1480905"/>
            <a:ext cx="5413323" cy="1913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76701" y="41447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915" y="347294"/>
            <a:ext cx="477456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Tw Cen MT"/>
                <a:cs typeface="Tw Cen MT"/>
              </a:rPr>
              <a:t>Pair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10" dirty="0">
                <a:latin typeface="Tw Cen MT"/>
                <a:cs typeface="Tw Cen MT"/>
              </a:rPr>
              <a:t>Programming:</a:t>
            </a:r>
            <a:r>
              <a:rPr dirty="0">
                <a:latin typeface="华文仿宋"/>
                <a:cs typeface="华文仿宋"/>
              </a:rPr>
              <a:t>结对编程</a:t>
            </a:r>
          </a:p>
        </p:txBody>
      </p:sp>
      <p:sp>
        <p:nvSpPr>
          <p:cNvPr id="3" name="object 3"/>
          <p:cNvSpPr/>
          <p:nvPr/>
        </p:nvSpPr>
        <p:spPr>
          <a:xfrm>
            <a:off x="1215354" y="1364166"/>
            <a:ext cx="4596817" cy="2495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18153" y="419171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668" y="252476"/>
            <a:ext cx="363029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仿宋"/>
                <a:cs typeface="华文仿宋"/>
              </a:rPr>
              <a:t>测试驱动开发</a:t>
            </a:r>
            <a:r>
              <a:rPr dirty="0">
                <a:latin typeface="Tw Cen MT"/>
                <a:cs typeface="Tw Cen MT"/>
              </a:rPr>
              <a:t>(</a:t>
            </a:r>
            <a:r>
              <a:rPr b="1" dirty="0">
                <a:latin typeface="Tw Cen MT"/>
                <a:cs typeface="Tw Cen MT"/>
              </a:rPr>
              <a:t>TDD</a:t>
            </a:r>
            <a:r>
              <a:rPr b="1" spc="-90" dirty="0">
                <a:latin typeface="Tw Cen MT"/>
                <a:cs typeface="Tw Cen MT"/>
              </a:rPr>
              <a:t> </a:t>
            </a:r>
            <a:r>
              <a:rPr b="1" dirty="0">
                <a:latin typeface="Tw Cen MT"/>
                <a:cs typeface="Tw Cen MT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866" y="1587753"/>
            <a:ext cx="6208395" cy="108775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dirty="0">
                <a:latin typeface="Tw Cen MT"/>
                <a:cs typeface="Tw Cen MT"/>
              </a:rPr>
              <a:t>TDD: write tests prior to </a:t>
            </a:r>
            <a:r>
              <a:rPr sz="2400" spc="-5" dirty="0">
                <a:latin typeface="Tw Cen MT"/>
                <a:cs typeface="Tw Cen MT"/>
              </a:rPr>
              <a:t>write the production</a:t>
            </a:r>
            <a:r>
              <a:rPr sz="2400" spc="-60" dirty="0">
                <a:latin typeface="Tw Cen MT"/>
                <a:cs typeface="Tw Cen MT"/>
              </a:rPr>
              <a:t> </a:t>
            </a:r>
            <a:r>
              <a:rPr sz="2400" dirty="0">
                <a:latin typeface="Tw Cen MT"/>
                <a:cs typeface="Tw Cen MT"/>
              </a:rPr>
              <a:t>code</a:t>
            </a:r>
            <a:endParaRPr sz="2400">
              <a:latin typeface="Tw Cen MT"/>
              <a:cs typeface="Tw Cen MT"/>
            </a:endParaRPr>
          </a:p>
          <a:p>
            <a:pPr marL="251460" indent="-239395">
              <a:lnSpc>
                <a:spcPct val="100000"/>
              </a:lnSpc>
              <a:spcBef>
                <a:spcPts val="490"/>
              </a:spcBef>
              <a:buClr>
                <a:srgbClr val="DD8046"/>
              </a:buClr>
              <a:buSzPct val="58333"/>
              <a:buFont typeface="Wingdings"/>
              <a:buChar char=""/>
              <a:tabLst>
                <a:tab pos="252095" algn="l"/>
              </a:tabLst>
            </a:pPr>
            <a:r>
              <a:rPr sz="1800" dirty="0">
                <a:latin typeface="华文仿宋"/>
                <a:cs typeface="华文仿宋"/>
              </a:rPr>
              <a:t>测试驱动开发的基本思想就是在开发功能代码之前，先编写</a:t>
            </a:r>
            <a:endParaRPr sz="1800">
              <a:latin typeface="华文仿宋"/>
              <a:cs typeface="华文仿宋"/>
            </a:endParaRPr>
          </a:p>
          <a:p>
            <a:pPr marL="251460">
              <a:lnSpc>
                <a:spcPct val="100000"/>
              </a:lnSpc>
              <a:spcBef>
                <a:spcPts val="15"/>
              </a:spcBef>
            </a:pPr>
            <a:r>
              <a:rPr sz="1800" spc="-5" dirty="0">
                <a:latin typeface="华文仿宋"/>
                <a:cs typeface="华文仿宋"/>
              </a:rPr>
              <a:t>测试代码，然后编写相关的代码满足这些测试用例。</a:t>
            </a:r>
            <a:endParaRPr sz="18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393319"/>
            <a:ext cx="2693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持续集成与测试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59816" y="1555241"/>
            <a:ext cx="637159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spc="20" dirty="0">
                <a:latin typeface="华文新魏"/>
                <a:cs typeface="华文新魏"/>
              </a:rPr>
              <a:t>频繁地将工作集成到整体中，然后再进行重新</a:t>
            </a:r>
            <a:r>
              <a:rPr sz="2150" spc="30" dirty="0">
                <a:latin typeface="华文新魏"/>
                <a:cs typeface="华文新魏"/>
              </a:rPr>
              <a:t>测</a:t>
            </a:r>
            <a:r>
              <a:rPr sz="2150" spc="20" dirty="0">
                <a:latin typeface="华文新魏"/>
                <a:cs typeface="华文新魏"/>
              </a:rPr>
              <a:t>试，</a:t>
            </a:r>
            <a:endParaRPr sz="215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150" spc="15" dirty="0">
                <a:latin typeface="华文新魏"/>
                <a:cs typeface="华文新魏"/>
              </a:rPr>
              <a:t>以确定整个产品仍然按照预期工作。</a:t>
            </a:r>
            <a:endParaRPr sz="21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4702" y="4089298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564" y="308305"/>
            <a:ext cx="379857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不同层</a:t>
            </a:r>
            <a:r>
              <a:rPr spc="-10" dirty="0"/>
              <a:t>面</a:t>
            </a:r>
            <a:r>
              <a:rPr dirty="0"/>
              <a:t>自动</a:t>
            </a:r>
            <a:r>
              <a:rPr spc="-10" dirty="0"/>
              <a:t>化</a:t>
            </a:r>
            <a:r>
              <a:rPr dirty="0"/>
              <a:t>测试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663" y="1367713"/>
            <a:ext cx="1644650" cy="20008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52095" indent="-240029">
              <a:lnSpc>
                <a:spcPct val="100000"/>
              </a:lnSpc>
              <a:spcBef>
                <a:spcPts val="62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729" algn="l"/>
              </a:tabLst>
            </a:pPr>
            <a:r>
              <a:rPr sz="2150" spc="20" dirty="0">
                <a:latin typeface="华文新魏"/>
                <a:cs typeface="华文新魏"/>
              </a:rPr>
              <a:t>单元测试</a:t>
            </a:r>
            <a:endParaRPr sz="2150">
              <a:latin typeface="华文新魏"/>
              <a:cs typeface="华文新魏"/>
            </a:endParaRPr>
          </a:p>
          <a:p>
            <a:pPr marL="252095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729" algn="l"/>
              </a:tabLst>
            </a:pPr>
            <a:r>
              <a:rPr sz="2150" spc="20" dirty="0">
                <a:latin typeface="华文新魏"/>
                <a:cs typeface="华文新魏"/>
              </a:rPr>
              <a:t>集成测试</a:t>
            </a:r>
            <a:endParaRPr sz="2150">
              <a:latin typeface="华文新魏"/>
              <a:cs typeface="华文新魏"/>
            </a:endParaRPr>
          </a:p>
          <a:p>
            <a:pPr marL="252095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729" algn="l"/>
              </a:tabLst>
            </a:pPr>
            <a:r>
              <a:rPr sz="2150" spc="15" dirty="0">
                <a:latin typeface="华文新魏"/>
                <a:cs typeface="华文新魏"/>
              </a:rPr>
              <a:t>系统级测试</a:t>
            </a:r>
            <a:endParaRPr sz="2150">
              <a:latin typeface="华文新魏"/>
              <a:cs typeface="华文新魏"/>
            </a:endParaRPr>
          </a:p>
          <a:p>
            <a:pPr marL="252095" indent="-240029">
              <a:lnSpc>
                <a:spcPct val="100000"/>
              </a:lnSpc>
              <a:spcBef>
                <a:spcPts val="54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729" algn="l"/>
              </a:tabLst>
            </a:pPr>
            <a:r>
              <a:rPr sz="2150" spc="20" dirty="0">
                <a:latin typeface="华文新魏"/>
                <a:cs typeface="华文新魏"/>
              </a:rPr>
              <a:t>冒烟测试</a:t>
            </a:r>
            <a:endParaRPr sz="2150">
              <a:latin typeface="华文新魏"/>
              <a:cs typeface="华文新魏"/>
            </a:endParaRPr>
          </a:p>
          <a:p>
            <a:pPr marL="252095" indent="-240029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729" algn="l"/>
              </a:tabLst>
            </a:pPr>
            <a:r>
              <a:rPr sz="2150" spc="20" dirty="0">
                <a:latin typeface="华文新魏"/>
                <a:cs typeface="华文新魏"/>
              </a:rPr>
              <a:t>回归测试</a:t>
            </a:r>
            <a:endParaRPr sz="21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2777" y="40240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89" y="237235"/>
            <a:ext cx="49618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验收测试驱动开发</a:t>
            </a:r>
            <a:r>
              <a:rPr spc="-10" dirty="0"/>
              <a:t>（</a:t>
            </a:r>
            <a:r>
              <a:rPr i="1" spc="-10" dirty="0">
                <a:latin typeface="华文隶书"/>
                <a:cs typeface="华文隶书"/>
              </a:rPr>
              <a:t>ATDD)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189" y="1296415"/>
            <a:ext cx="6096635" cy="6889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85"/>
              </a:spcBef>
            </a:pPr>
            <a:r>
              <a:rPr sz="2150" spc="20" dirty="0">
                <a:latin typeface="华文新魏"/>
                <a:cs typeface="华文新魏"/>
              </a:rPr>
              <a:t>与客户一</a:t>
            </a:r>
            <a:r>
              <a:rPr sz="2150" spc="10" dirty="0">
                <a:latin typeface="华文新魏"/>
                <a:cs typeface="华文新魏"/>
              </a:rPr>
              <a:t>起</a:t>
            </a:r>
            <a:r>
              <a:rPr sz="2150" spc="20" dirty="0">
                <a:latin typeface="华文新魏"/>
                <a:cs typeface="华文新魏"/>
              </a:rPr>
              <a:t>讨论验收标准，创建测</a:t>
            </a:r>
            <a:r>
              <a:rPr sz="2150" spc="25" dirty="0">
                <a:latin typeface="华文新魏"/>
                <a:cs typeface="华文新魏"/>
              </a:rPr>
              <a:t>试</a:t>
            </a:r>
            <a:r>
              <a:rPr sz="2150" spc="20" dirty="0">
                <a:latin typeface="华文新魏"/>
                <a:cs typeface="华文新魏"/>
              </a:rPr>
              <a:t>用例，据</a:t>
            </a:r>
            <a:r>
              <a:rPr sz="2150" spc="30" dirty="0">
                <a:latin typeface="华文新魏"/>
                <a:cs typeface="华文新魏"/>
              </a:rPr>
              <a:t>此</a:t>
            </a:r>
            <a:r>
              <a:rPr sz="2150" spc="10" dirty="0">
                <a:latin typeface="华文新魏"/>
                <a:cs typeface="华文新魏"/>
              </a:rPr>
              <a:t>驱 </a:t>
            </a:r>
            <a:r>
              <a:rPr sz="2150" spc="20" dirty="0">
                <a:latin typeface="华文新魏"/>
                <a:cs typeface="华文新魏"/>
              </a:rPr>
              <a:t>动代码编</a:t>
            </a:r>
            <a:r>
              <a:rPr sz="2150" spc="10" dirty="0">
                <a:latin typeface="华文新魏"/>
                <a:cs typeface="华文新魏"/>
              </a:rPr>
              <a:t>写</a:t>
            </a:r>
            <a:r>
              <a:rPr sz="2150" spc="20" dirty="0">
                <a:latin typeface="华文新魏"/>
                <a:cs typeface="华文新魏"/>
              </a:rPr>
              <a:t>，进行自动化测试，满</a:t>
            </a:r>
            <a:r>
              <a:rPr sz="2150" spc="25" dirty="0">
                <a:latin typeface="华文新魏"/>
                <a:cs typeface="华文新魏"/>
              </a:rPr>
              <a:t>足</a:t>
            </a:r>
            <a:r>
              <a:rPr sz="2150" spc="20" dirty="0">
                <a:latin typeface="华文新魏"/>
                <a:cs typeface="华文新魏"/>
              </a:rPr>
              <a:t>验收标准。</a:t>
            </a:r>
            <a:endParaRPr sz="21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2251" y="411551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565" y="179654"/>
            <a:ext cx="421640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敏捷开发中的管理会议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8976" y="1525524"/>
            <a:ext cx="5993892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95394" y="2897885"/>
            <a:ext cx="1280160" cy="647700"/>
          </a:xfrm>
          <a:custGeom>
            <a:avLst/>
            <a:gdLst/>
            <a:ahLst/>
            <a:cxnLst/>
            <a:rect l="l" t="t" r="r" b="b"/>
            <a:pathLst>
              <a:path w="1280160" h="647700">
                <a:moveTo>
                  <a:pt x="0" y="323850"/>
                </a:moveTo>
                <a:lnTo>
                  <a:pt x="11539" y="262322"/>
                </a:lnTo>
                <a:lnTo>
                  <a:pt x="44727" y="204687"/>
                </a:lnTo>
                <a:lnTo>
                  <a:pt x="97421" y="152031"/>
                </a:lnTo>
                <a:lnTo>
                  <a:pt x="130413" y="127909"/>
                </a:lnTo>
                <a:lnTo>
                  <a:pt x="167476" y="105441"/>
                </a:lnTo>
                <a:lnTo>
                  <a:pt x="208344" y="84760"/>
                </a:lnTo>
                <a:lnTo>
                  <a:pt x="252748" y="66004"/>
                </a:lnTo>
                <a:lnTo>
                  <a:pt x="300421" y="49308"/>
                </a:lnTo>
                <a:lnTo>
                  <a:pt x="351093" y="34808"/>
                </a:lnTo>
                <a:lnTo>
                  <a:pt x="404498" y="22639"/>
                </a:lnTo>
                <a:lnTo>
                  <a:pt x="460367" y="12938"/>
                </a:lnTo>
                <a:lnTo>
                  <a:pt x="518432" y="5841"/>
                </a:lnTo>
                <a:lnTo>
                  <a:pt x="578426" y="1482"/>
                </a:lnTo>
                <a:lnTo>
                  <a:pt x="640079" y="0"/>
                </a:lnTo>
                <a:lnTo>
                  <a:pt x="701733" y="1482"/>
                </a:lnTo>
                <a:lnTo>
                  <a:pt x="761727" y="5841"/>
                </a:lnTo>
                <a:lnTo>
                  <a:pt x="819792" y="12938"/>
                </a:lnTo>
                <a:lnTo>
                  <a:pt x="875661" y="22639"/>
                </a:lnTo>
                <a:lnTo>
                  <a:pt x="929066" y="34808"/>
                </a:lnTo>
                <a:lnTo>
                  <a:pt x="979738" y="49308"/>
                </a:lnTo>
                <a:lnTo>
                  <a:pt x="1027411" y="66004"/>
                </a:lnTo>
                <a:lnTo>
                  <a:pt x="1071815" y="84760"/>
                </a:lnTo>
                <a:lnTo>
                  <a:pt x="1112683" y="105441"/>
                </a:lnTo>
                <a:lnTo>
                  <a:pt x="1149746" y="127909"/>
                </a:lnTo>
                <a:lnTo>
                  <a:pt x="1182738" y="152031"/>
                </a:lnTo>
                <a:lnTo>
                  <a:pt x="1211389" y="177668"/>
                </a:lnTo>
                <a:lnTo>
                  <a:pt x="1254598" y="232950"/>
                </a:lnTo>
                <a:lnTo>
                  <a:pt x="1277230" y="292667"/>
                </a:lnTo>
                <a:lnTo>
                  <a:pt x="1280159" y="323850"/>
                </a:lnTo>
                <a:lnTo>
                  <a:pt x="1277230" y="355032"/>
                </a:lnTo>
                <a:lnTo>
                  <a:pt x="1254598" y="414749"/>
                </a:lnTo>
                <a:lnTo>
                  <a:pt x="1211389" y="470031"/>
                </a:lnTo>
                <a:lnTo>
                  <a:pt x="1182738" y="495668"/>
                </a:lnTo>
                <a:lnTo>
                  <a:pt x="1149746" y="519790"/>
                </a:lnTo>
                <a:lnTo>
                  <a:pt x="1112683" y="542258"/>
                </a:lnTo>
                <a:lnTo>
                  <a:pt x="1071815" y="562939"/>
                </a:lnTo>
                <a:lnTo>
                  <a:pt x="1027411" y="581695"/>
                </a:lnTo>
                <a:lnTo>
                  <a:pt x="979738" y="598391"/>
                </a:lnTo>
                <a:lnTo>
                  <a:pt x="929066" y="612891"/>
                </a:lnTo>
                <a:lnTo>
                  <a:pt x="875661" y="625060"/>
                </a:lnTo>
                <a:lnTo>
                  <a:pt x="819792" y="634761"/>
                </a:lnTo>
                <a:lnTo>
                  <a:pt x="761727" y="641858"/>
                </a:lnTo>
                <a:lnTo>
                  <a:pt x="701733" y="646217"/>
                </a:lnTo>
                <a:lnTo>
                  <a:pt x="640079" y="647700"/>
                </a:lnTo>
                <a:lnTo>
                  <a:pt x="578426" y="646217"/>
                </a:lnTo>
                <a:lnTo>
                  <a:pt x="518432" y="641858"/>
                </a:lnTo>
                <a:lnTo>
                  <a:pt x="460367" y="634761"/>
                </a:lnTo>
                <a:lnTo>
                  <a:pt x="404498" y="625060"/>
                </a:lnTo>
                <a:lnTo>
                  <a:pt x="351093" y="612891"/>
                </a:lnTo>
                <a:lnTo>
                  <a:pt x="300421" y="598391"/>
                </a:lnTo>
                <a:lnTo>
                  <a:pt x="252748" y="581695"/>
                </a:lnTo>
                <a:lnTo>
                  <a:pt x="208344" y="562939"/>
                </a:lnTo>
                <a:lnTo>
                  <a:pt x="167476" y="542258"/>
                </a:lnTo>
                <a:lnTo>
                  <a:pt x="130413" y="519790"/>
                </a:lnTo>
                <a:lnTo>
                  <a:pt x="97421" y="495668"/>
                </a:lnTo>
                <a:lnTo>
                  <a:pt x="68770" y="470031"/>
                </a:lnTo>
                <a:lnTo>
                  <a:pt x="25561" y="414749"/>
                </a:lnTo>
                <a:lnTo>
                  <a:pt x="2929" y="355032"/>
                </a:lnTo>
                <a:lnTo>
                  <a:pt x="0" y="323850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2373" y="3621785"/>
            <a:ext cx="1280160" cy="647700"/>
          </a:xfrm>
          <a:custGeom>
            <a:avLst/>
            <a:gdLst/>
            <a:ahLst/>
            <a:cxnLst/>
            <a:rect l="l" t="t" r="r" b="b"/>
            <a:pathLst>
              <a:path w="1280160" h="647700">
                <a:moveTo>
                  <a:pt x="0" y="323850"/>
                </a:moveTo>
                <a:lnTo>
                  <a:pt x="11539" y="262322"/>
                </a:lnTo>
                <a:lnTo>
                  <a:pt x="44727" y="204687"/>
                </a:lnTo>
                <a:lnTo>
                  <a:pt x="97421" y="152031"/>
                </a:lnTo>
                <a:lnTo>
                  <a:pt x="130413" y="127909"/>
                </a:lnTo>
                <a:lnTo>
                  <a:pt x="167476" y="105441"/>
                </a:lnTo>
                <a:lnTo>
                  <a:pt x="208344" y="84760"/>
                </a:lnTo>
                <a:lnTo>
                  <a:pt x="252748" y="66004"/>
                </a:lnTo>
                <a:lnTo>
                  <a:pt x="300421" y="49308"/>
                </a:lnTo>
                <a:lnTo>
                  <a:pt x="351093" y="34808"/>
                </a:lnTo>
                <a:lnTo>
                  <a:pt x="404498" y="22639"/>
                </a:lnTo>
                <a:lnTo>
                  <a:pt x="460367" y="12938"/>
                </a:lnTo>
                <a:lnTo>
                  <a:pt x="518432" y="5841"/>
                </a:lnTo>
                <a:lnTo>
                  <a:pt x="578426" y="1482"/>
                </a:lnTo>
                <a:lnTo>
                  <a:pt x="640079" y="0"/>
                </a:lnTo>
                <a:lnTo>
                  <a:pt x="701733" y="1482"/>
                </a:lnTo>
                <a:lnTo>
                  <a:pt x="761727" y="5841"/>
                </a:lnTo>
                <a:lnTo>
                  <a:pt x="819792" y="12938"/>
                </a:lnTo>
                <a:lnTo>
                  <a:pt x="875661" y="22639"/>
                </a:lnTo>
                <a:lnTo>
                  <a:pt x="929066" y="34808"/>
                </a:lnTo>
                <a:lnTo>
                  <a:pt x="979738" y="49308"/>
                </a:lnTo>
                <a:lnTo>
                  <a:pt x="1027411" y="66004"/>
                </a:lnTo>
                <a:lnTo>
                  <a:pt x="1071815" y="84760"/>
                </a:lnTo>
                <a:lnTo>
                  <a:pt x="1112683" y="105441"/>
                </a:lnTo>
                <a:lnTo>
                  <a:pt x="1149746" y="127909"/>
                </a:lnTo>
                <a:lnTo>
                  <a:pt x="1182738" y="152031"/>
                </a:lnTo>
                <a:lnTo>
                  <a:pt x="1211389" y="177668"/>
                </a:lnTo>
                <a:lnTo>
                  <a:pt x="1254598" y="232950"/>
                </a:lnTo>
                <a:lnTo>
                  <a:pt x="1277230" y="292667"/>
                </a:lnTo>
                <a:lnTo>
                  <a:pt x="1280160" y="323850"/>
                </a:lnTo>
                <a:lnTo>
                  <a:pt x="1277230" y="355038"/>
                </a:lnTo>
                <a:lnTo>
                  <a:pt x="1254598" y="414763"/>
                </a:lnTo>
                <a:lnTo>
                  <a:pt x="1211389" y="470048"/>
                </a:lnTo>
                <a:lnTo>
                  <a:pt x="1182738" y="495685"/>
                </a:lnTo>
                <a:lnTo>
                  <a:pt x="1149746" y="519806"/>
                </a:lnTo>
                <a:lnTo>
                  <a:pt x="1112683" y="542273"/>
                </a:lnTo>
                <a:lnTo>
                  <a:pt x="1071815" y="562952"/>
                </a:lnTo>
                <a:lnTo>
                  <a:pt x="1027411" y="581706"/>
                </a:lnTo>
                <a:lnTo>
                  <a:pt x="979738" y="598400"/>
                </a:lnTo>
                <a:lnTo>
                  <a:pt x="929066" y="612898"/>
                </a:lnTo>
                <a:lnTo>
                  <a:pt x="875661" y="625065"/>
                </a:lnTo>
                <a:lnTo>
                  <a:pt x="819792" y="634764"/>
                </a:lnTo>
                <a:lnTo>
                  <a:pt x="761727" y="641860"/>
                </a:lnTo>
                <a:lnTo>
                  <a:pt x="701733" y="646217"/>
                </a:lnTo>
                <a:lnTo>
                  <a:pt x="640079" y="647700"/>
                </a:lnTo>
                <a:lnTo>
                  <a:pt x="578426" y="646217"/>
                </a:lnTo>
                <a:lnTo>
                  <a:pt x="518432" y="641860"/>
                </a:lnTo>
                <a:lnTo>
                  <a:pt x="460367" y="634764"/>
                </a:lnTo>
                <a:lnTo>
                  <a:pt x="404498" y="625065"/>
                </a:lnTo>
                <a:lnTo>
                  <a:pt x="351093" y="612898"/>
                </a:lnTo>
                <a:lnTo>
                  <a:pt x="300421" y="598400"/>
                </a:lnTo>
                <a:lnTo>
                  <a:pt x="252748" y="581706"/>
                </a:lnTo>
                <a:lnTo>
                  <a:pt x="208344" y="562952"/>
                </a:lnTo>
                <a:lnTo>
                  <a:pt x="167476" y="542273"/>
                </a:lnTo>
                <a:lnTo>
                  <a:pt x="130413" y="519806"/>
                </a:lnTo>
                <a:lnTo>
                  <a:pt x="97421" y="495685"/>
                </a:lnTo>
                <a:lnTo>
                  <a:pt x="68770" y="470048"/>
                </a:lnTo>
                <a:lnTo>
                  <a:pt x="25561" y="414763"/>
                </a:lnTo>
                <a:lnTo>
                  <a:pt x="2929" y="355038"/>
                </a:lnTo>
                <a:lnTo>
                  <a:pt x="0" y="323850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942" y="254330"/>
            <a:ext cx="3434079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000000"/>
                </a:solidFill>
              </a:rPr>
              <a:t>重构（</a:t>
            </a:r>
            <a:r>
              <a:rPr i="1" spc="-5" dirty="0">
                <a:solidFill>
                  <a:srgbClr val="000000"/>
                </a:solidFill>
                <a:latin typeface="华文隶书"/>
                <a:cs typeface="华文隶书"/>
              </a:rPr>
              <a:t>Refactoring</a:t>
            </a:r>
            <a:r>
              <a:rPr spc="-5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768" y="1491913"/>
            <a:ext cx="4403090" cy="8147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620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095" algn="l"/>
              </a:tabLst>
            </a:pPr>
            <a:r>
              <a:rPr sz="2150" spc="20" dirty="0">
                <a:latin typeface="华文新魏"/>
                <a:cs typeface="华文新魏"/>
              </a:rPr>
              <a:t>简单设计之后编写可以运行的代码</a:t>
            </a:r>
            <a:endParaRPr sz="2150">
              <a:latin typeface="华文新魏"/>
              <a:cs typeface="华文新魏"/>
            </a:endParaRPr>
          </a:p>
          <a:p>
            <a:pPr marL="251460" indent="-239395">
              <a:lnSpc>
                <a:spcPct val="100000"/>
              </a:lnSpc>
              <a:spcBef>
                <a:spcPts val="525"/>
              </a:spcBef>
              <a:buClr>
                <a:srgbClr val="DD8046"/>
              </a:buClr>
              <a:buSzPct val="60465"/>
              <a:buFont typeface="Wingdings"/>
              <a:buChar char=""/>
              <a:tabLst>
                <a:tab pos="252095" algn="l"/>
              </a:tabLst>
            </a:pPr>
            <a:r>
              <a:rPr sz="2150" spc="15" dirty="0">
                <a:latin typeface="华文新魏"/>
                <a:cs typeface="华文新魏"/>
              </a:rPr>
              <a:t>版本运行之</a:t>
            </a:r>
            <a:r>
              <a:rPr sz="2150" spc="20" dirty="0">
                <a:latin typeface="华文新魏"/>
                <a:cs typeface="华文新魏"/>
              </a:rPr>
              <a:t>后</a:t>
            </a:r>
            <a:r>
              <a:rPr sz="2150" spc="15" dirty="0">
                <a:latin typeface="华文新魏"/>
                <a:cs typeface="华文新魏"/>
              </a:rPr>
              <a:t>逐步完善代码和设计</a:t>
            </a:r>
            <a:endParaRPr sz="215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4702" y="419171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050" u="sng" spc="16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solidFill>
                  <a:srgbClr val="775F54"/>
                </a:solidFill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42141" y="2795394"/>
            <a:ext cx="3300066" cy="11847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9103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44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874" y="168209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272" y="1600200"/>
            <a:ext cx="378460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874" y="2271247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2188464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874" y="3450501"/>
            <a:ext cx="191135" cy="25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272" y="3368040"/>
            <a:ext cx="36449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223" y="1600200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429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8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软件质量基本概念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2188464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55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9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软件质量活动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8507" y="3368040"/>
            <a:ext cx="3472179" cy="3937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698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5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软件质量计划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749" y="4004366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036" y="3922776"/>
            <a:ext cx="361315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2223" y="3922776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175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096" y="283817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747" y="2755392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5460" y="2755392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39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敏捷质量活动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17" y="270128"/>
            <a:ext cx="25400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软件质量计划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4702" y="4092346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45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405" y="1419605"/>
            <a:ext cx="6387465" cy="97536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30200" indent="-240029">
              <a:lnSpc>
                <a:spcPct val="100000"/>
              </a:lnSpc>
              <a:spcBef>
                <a:spcPts val="43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0835" algn="l"/>
              </a:tabLst>
            </a:pPr>
            <a:r>
              <a:rPr sz="2400" dirty="0">
                <a:latin typeface="隶书"/>
                <a:cs typeface="隶书"/>
              </a:rPr>
              <a:t>确定项目应达到的质量标</a:t>
            </a:r>
            <a:r>
              <a:rPr sz="2400" spc="5" dirty="0">
                <a:latin typeface="隶书"/>
                <a:cs typeface="隶书"/>
              </a:rPr>
              <a:t>准</a:t>
            </a:r>
            <a:r>
              <a:rPr sz="2400" dirty="0">
                <a:latin typeface="隶书"/>
                <a:cs typeface="隶书"/>
              </a:rPr>
              <a:t>(目标)</a:t>
            </a:r>
            <a:endParaRPr sz="2400">
              <a:latin typeface="隶书"/>
              <a:cs typeface="隶书"/>
            </a:endParaRPr>
          </a:p>
          <a:p>
            <a:pPr marL="330200" indent="-240029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0835" algn="l"/>
              </a:tabLst>
            </a:pPr>
            <a:r>
              <a:rPr sz="2400" dirty="0">
                <a:latin typeface="隶书"/>
                <a:cs typeface="隶书"/>
              </a:rPr>
              <a:t>决定如何满足质量标准的计划安排和方法</a:t>
            </a:r>
            <a:endParaRPr sz="24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941" y="212547"/>
            <a:ext cx="348678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情景项目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spc="-5" dirty="0"/>
              <a:t>质量目标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519" y="1486026"/>
            <a:ext cx="4023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w Cen MT"/>
                <a:cs typeface="Tw Cen MT"/>
              </a:rPr>
              <a:t>SPM</a:t>
            </a:r>
            <a:r>
              <a:rPr sz="20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目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标要求</a:t>
            </a:r>
            <a:r>
              <a:rPr sz="17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w Cen MT"/>
                <a:cs typeface="Tw Cen MT"/>
              </a:rPr>
              <a:t>: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质</a:t>
            </a:r>
            <a:r>
              <a:rPr sz="20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量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模型</a:t>
            </a:r>
            <a:r>
              <a:rPr sz="20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的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质量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仿宋"/>
                <a:cs typeface="华文仿宋"/>
              </a:rPr>
              <a:t>值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w Cen MT"/>
                <a:cs typeface="Tw Cen MT"/>
              </a:rPr>
              <a:t>&gt;85</a:t>
            </a:r>
            <a:endParaRPr sz="2000">
              <a:latin typeface="Tw Cen MT"/>
              <a:cs typeface="Tw Cen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1768" y="2356104"/>
            <a:ext cx="2854207" cy="1880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46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553" y="1977010"/>
            <a:ext cx="3685621" cy="24591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139" y="240029"/>
            <a:ext cx="254190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质量计划方法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99942" y="4144771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47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941" y="1404365"/>
            <a:ext cx="1998980" cy="256984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605"/>
              </a:spcBef>
              <a:buClr>
                <a:srgbClr val="DD8046"/>
              </a:buClr>
              <a:buSzPct val="59523"/>
              <a:buFont typeface="Wingdings"/>
              <a:buChar char=""/>
              <a:tabLst>
                <a:tab pos="252095" algn="l"/>
              </a:tabLst>
            </a:pPr>
            <a:r>
              <a:rPr sz="2100" dirty="0">
                <a:latin typeface="隶书"/>
                <a:cs typeface="隶书"/>
              </a:rPr>
              <a:t>试验设计</a:t>
            </a:r>
            <a:endParaRPr sz="210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00"/>
              </a:spcBef>
              <a:buClr>
                <a:srgbClr val="DD8046"/>
              </a:buClr>
              <a:buSzPct val="59523"/>
              <a:buFont typeface="Wingdings"/>
              <a:buChar char=""/>
              <a:tabLst>
                <a:tab pos="252095" algn="l"/>
              </a:tabLst>
            </a:pPr>
            <a:r>
              <a:rPr sz="2100" dirty="0">
                <a:latin typeface="隶书"/>
                <a:cs typeface="隶书"/>
              </a:rPr>
              <a:t>基准对照</a:t>
            </a:r>
            <a:endParaRPr sz="210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SzPct val="59523"/>
              <a:buFont typeface="Wingdings"/>
              <a:buChar char=""/>
              <a:tabLst>
                <a:tab pos="252095" algn="l"/>
              </a:tabLst>
            </a:pPr>
            <a:r>
              <a:rPr sz="2100" spc="-5" dirty="0">
                <a:latin typeface="隶书"/>
                <a:cs typeface="隶书"/>
              </a:rPr>
              <a:t>质量成本分析</a:t>
            </a:r>
            <a:endParaRPr sz="210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495"/>
              </a:spcBef>
              <a:buClr>
                <a:srgbClr val="DD8046"/>
              </a:buClr>
              <a:buSzPct val="59523"/>
              <a:buFont typeface="Wingdings"/>
              <a:buChar char=""/>
              <a:tabLst>
                <a:tab pos="252095" algn="l"/>
              </a:tabLst>
            </a:pPr>
            <a:r>
              <a:rPr sz="2100" dirty="0">
                <a:latin typeface="隶书"/>
                <a:cs typeface="隶书"/>
              </a:rPr>
              <a:t>数据图形分析:</a:t>
            </a:r>
            <a:endParaRPr sz="2100">
              <a:latin typeface="隶书"/>
              <a:cs typeface="隶书"/>
            </a:endParaRPr>
          </a:p>
          <a:p>
            <a:pPr marL="492759" lvl="1" indent="-205740">
              <a:lnSpc>
                <a:spcPct val="100000"/>
              </a:lnSpc>
              <a:spcBef>
                <a:spcPts val="430"/>
              </a:spcBef>
              <a:buClr>
                <a:srgbClr val="93B6D2"/>
              </a:buClr>
              <a:buSzPct val="70270"/>
              <a:buFont typeface="Wingdings"/>
              <a:buChar char=""/>
              <a:tabLst>
                <a:tab pos="492759" algn="l"/>
              </a:tabLst>
            </a:pPr>
            <a:r>
              <a:rPr sz="1850" spc="20" dirty="0">
                <a:latin typeface="隶书"/>
                <a:cs typeface="隶书"/>
              </a:rPr>
              <a:t>流程图方法</a:t>
            </a:r>
            <a:endParaRPr sz="1850">
              <a:latin typeface="隶书"/>
              <a:cs typeface="隶书"/>
            </a:endParaRPr>
          </a:p>
          <a:p>
            <a:pPr marL="492759" lvl="1" indent="-205740">
              <a:lnSpc>
                <a:spcPct val="100000"/>
              </a:lnSpc>
              <a:spcBef>
                <a:spcPts val="420"/>
              </a:spcBef>
              <a:buClr>
                <a:srgbClr val="93B6D2"/>
              </a:buClr>
              <a:buSzPct val="70270"/>
              <a:buFont typeface="Wingdings"/>
              <a:buChar char=""/>
              <a:tabLst>
                <a:tab pos="492759" algn="l"/>
              </a:tabLst>
            </a:pPr>
            <a:r>
              <a:rPr sz="1850" spc="15" dirty="0">
                <a:latin typeface="隶书"/>
                <a:cs typeface="隶书"/>
              </a:rPr>
              <a:t>因果分析图</a:t>
            </a:r>
            <a:r>
              <a:rPr sz="1850" spc="10" dirty="0">
                <a:latin typeface="隶书"/>
                <a:cs typeface="隶书"/>
              </a:rPr>
              <a:t>,</a:t>
            </a:r>
            <a:endParaRPr sz="1850">
              <a:latin typeface="隶书"/>
              <a:cs typeface="隶书"/>
            </a:endParaRPr>
          </a:p>
          <a:p>
            <a:pPr marL="492759" lvl="1" indent="-205740">
              <a:lnSpc>
                <a:spcPct val="100000"/>
              </a:lnSpc>
              <a:spcBef>
                <a:spcPts val="434"/>
              </a:spcBef>
              <a:buClr>
                <a:srgbClr val="93B6D2"/>
              </a:buClr>
              <a:buSzPct val="70270"/>
              <a:buFont typeface="Wingdings"/>
              <a:buChar char=""/>
              <a:tabLst>
                <a:tab pos="492759" algn="l"/>
              </a:tabLst>
            </a:pPr>
            <a:r>
              <a:rPr sz="1850" spc="20" dirty="0">
                <a:latin typeface="隶书"/>
                <a:cs typeface="隶书"/>
              </a:rPr>
              <a:t>思维导图</a:t>
            </a:r>
            <a:endParaRPr sz="185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2315" y="1522475"/>
            <a:ext cx="4861560" cy="27508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5142" y="73278"/>
            <a:ext cx="379730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质量计划模式之一：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48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85138" y="2465070"/>
            <a:ext cx="1621790" cy="260985"/>
          </a:xfrm>
          <a:custGeom>
            <a:avLst/>
            <a:gdLst/>
            <a:ahLst/>
            <a:cxnLst/>
            <a:rect l="l" t="t" r="r" b="b"/>
            <a:pathLst>
              <a:path w="1621789" h="260985">
                <a:moveTo>
                  <a:pt x="0" y="260604"/>
                </a:moveTo>
                <a:lnTo>
                  <a:pt x="1621536" y="260604"/>
                </a:lnTo>
                <a:lnTo>
                  <a:pt x="1621536" y="0"/>
                </a:lnTo>
                <a:lnTo>
                  <a:pt x="0" y="0"/>
                </a:lnTo>
                <a:lnTo>
                  <a:pt x="0" y="26060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85138" y="3973829"/>
            <a:ext cx="2430780" cy="325120"/>
          </a:xfrm>
          <a:custGeom>
            <a:avLst/>
            <a:gdLst/>
            <a:ahLst/>
            <a:cxnLst/>
            <a:rect l="l" t="t" r="r" b="b"/>
            <a:pathLst>
              <a:path w="2430779" h="325120">
                <a:moveTo>
                  <a:pt x="0" y="324612"/>
                </a:moveTo>
                <a:lnTo>
                  <a:pt x="2430780" y="324612"/>
                </a:lnTo>
                <a:lnTo>
                  <a:pt x="2430780" y="0"/>
                </a:lnTo>
                <a:lnTo>
                  <a:pt x="0" y="0"/>
                </a:lnTo>
                <a:lnTo>
                  <a:pt x="0" y="324612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40" y="169875"/>
            <a:ext cx="338074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质量计划模式之二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49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100" y="1314660"/>
            <a:ext cx="6047805" cy="32056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189103"/>
            <a:ext cx="17030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50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874" y="168209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4272" y="1600200"/>
            <a:ext cx="378460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1874" y="2271247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2188464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1874" y="3450501"/>
            <a:ext cx="191135" cy="252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272" y="3368040"/>
            <a:ext cx="36449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73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2223" y="1600200"/>
            <a:ext cx="3473450" cy="39052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4295" rIns="0" bIns="0" rtlCol="0">
            <a:spAutoFit/>
          </a:bodyPr>
          <a:lstStyle/>
          <a:p>
            <a:pPr marL="106680">
              <a:lnSpc>
                <a:spcPct val="100000"/>
              </a:lnSpc>
              <a:spcBef>
                <a:spcPts val="58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软件质量基本概念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983" y="2188464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755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59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软件质量活动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78507" y="3368040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698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55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软件质量计划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749" y="4004366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036" y="3922776"/>
            <a:ext cx="361315" cy="39052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27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73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2223" y="3922776"/>
            <a:ext cx="3473450" cy="3905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71755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565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0096" y="2838175"/>
            <a:ext cx="190500" cy="2514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2747" y="2755392"/>
            <a:ext cx="363220" cy="39370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9398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75460" y="2755392"/>
            <a:ext cx="3472179" cy="39370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9398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740"/>
              </a:spcBef>
            </a:pPr>
            <a:r>
              <a:rPr sz="1500" b="1" dirty="0">
                <a:solidFill>
                  <a:srgbClr val="003366"/>
                </a:solidFill>
                <a:latin typeface="微软雅黑"/>
                <a:cs typeface="微软雅黑"/>
              </a:rPr>
              <a:t>敏捷质量活动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40" y="326847"/>
            <a:ext cx="428307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MED</a:t>
            </a:r>
            <a:r>
              <a:rPr spc="-5" dirty="0"/>
              <a:t>项目质量控制计划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4201" y="4728464"/>
            <a:ext cx="5727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6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51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468" y="1647904"/>
            <a:ext cx="2443480" cy="1293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60"/>
              </a:lnSpc>
              <a:tabLst>
                <a:tab pos="385445" algn="l"/>
              </a:tabLst>
            </a:pPr>
            <a:r>
              <a:rPr sz="1600" spc="15" dirty="0">
                <a:solidFill>
                  <a:srgbClr val="DD8046"/>
                </a:solidFill>
                <a:latin typeface="隶书"/>
                <a:cs typeface="隶书"/>
              </a:rPr>
              <a:t>1</a:t>
            </a:r>
            <a:r>
              <a:rPr sz="1600" spc="10" dirty="0">
                <a:solidFill>
                  <a:srgbClr val="DD8046"/>
                </a:solidFill>
                <a:latin typeface="隶书"/>
                <a:cs typeface="隶书"/>
              </a:rPr>
              <a:t>.</a:t>
            </a:r>
            <a:r>
              <a:rPr sz="1600" dirty="0">
                <a:solidFill>
                  <a:srgbClr val="DD8046"/>
                </a:solidFill>
                <a:latin typeface="隶书"/>
                <a:cs typeface="隶书"/>
              </a:rPr>
              <a:t>	</a:t>
            </a:r>
            <a:r>
              <a:rPr sz="2700" spc="-5" dirty="0">
                <a:latin typeface="隶书"/>
                <a:cs typeface="隶书"/>
              </a:rPr>
              <a:t>设计评审</a:t>
            </a:r>
            <a:endParaRPr sz="2700">
              <a:latin typeface="隶书"/>
              <a:cs typeface="隶书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tabLst>
                <a:tab pos="385445" algn="l"/>
              </a:tabLst>
            </a:pPr>
            <a:r>
              <a:rPr sz="1600" spc="15" dirty="0">
                <a:solidFill>
                  <a:srgbClr val="DD8046"/>
                </a:solidFill>
                <a:latin typeface="隶书"/>
                <a:cs typeface="隶书"/>
              </a:rPr>
              <a:t>2</a:t>
            </a:r>
            <a:r>
              <a:rPr sz="1600" spc="10" dirty="0">
                <a:solidFill>
                  <a:srgbClr val="DD8046"/>
                </a:solidFill>
                <a:latin typeface="隶书"/>
                <a:cs typeface="隶书"/>
              </a:rPr>
              <a:t>.</a:t>
            </a:r>
            <a:r>
              <a:rPr sz="1600" dirty="0">
                <a:solidFill>
                  <a:srgbClr val="DD8046"/>
                </a:solidFill>
                <a:latin typeface="隶书"/>
                <a:cs typeface="隶书"/>
              </a:rPr>
              <a:t>	</a:t>
            </a:r>
            <a:r>
              <a:rPr sz="2700" dirty="0">
                <a:latin typeface="隶书"/>
                <a:cs typeface="隶书"/>
              </a:rPr>
              <a:t>代码走查</a:t>
            </a:r>
            <a:endParaRPr sz="2700">
              <a:latin typeface="隶书"/>
              <a:cs typeface="隶书"/>
            </a:endParaRPr>
          </a:p>
          <a:p>
            <a:pPr>
              <a:lnSpc>
                <a:spcPts val="3080"/>
              </a:lnSpc>
              <a:spcBef>
                <a:spcPts val="490"/>
              </a:spcBef>
              <a:tabLst>
                <a:tab pos="385445" algn="l"/>
              </a:tabLst>
            </a:pPr>
            <a:r>
              <a:rPr sz="1600" spc="15" dirty="0">
                <a:solidFill>
                  <a:srgbClr val="DD8046"/>
                </a:solidFill>
                <a:latin typeface="隶书"/>
                <a:cs typeface="隶书"/>
              </a:rPr>
              <a:t>3</a:t>
            </a:r>
            <a:r>
              <a:rPr sz="1600" spc="10" dirty="0">
                <a:solidFill>
                  <a:srgbClr val="DD8046"/>
                </a:solidFill>
                <a:latin typeface="隶书"/>
                <a:cs typeface="隶书"/>
              </a:rPr>
              <a:t>.</a:t>
            </a:r>
            <a:r>
              <a:rPr sz="1600" dirty="0">
                <a:solidFill>
                  <a:srgbClr val="DD8046"/>
                </a:solidFill>
                <a:latin typeface="隶书"/>
                <a:cs typeface="隶书"/>
              </a:rPr>
              <a:t>	</a:t>
            </a:r>
            <a:r>
              <a:rPr sz="2700" dirty="0">
                <a:latin typeface="隶书"/>
                <a:cs typeface="隶书"/>
              </a:rPr>
              <a:t>持续集成测试</a:t>
            </a:r>
            <a:endParaRPr sz="2700">
              <a:latin typeface="隶书"/>
              <a:cs typeface="隶书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437132"/>
            <a:ext cx="6662927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737" y="4031741"/>
            <a:ext cx="1080770" cy="268605"/>
          </a:xfrm>
          <a:custGeom>
            <a:avLst/>
            <a:gdLst/>
            <a:ahLst/>
            <a:cxnLst/>
            <a:rect l="l" t="t" r="r" b="b"/>
            <a:pathLst>
              <a:path w="1080770" h="268604">
                <a:moveTo>
                  <a:pt x="0" y="268224"/>
                </a:moveTo>
                <a:lnTo>
                  <a:pt x="1080516" y="268224"/>
                </a:lnTo>
                <a:lnTo>
                  <a:pt x="1080516" y="0"/>
                </a:lnTo>
                <a:lnTo>
                  <a:pt x="0" y="0"/>
                </a:lnTo>
                <a:lnTo>
                  <a:pt x="0" y="26822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767" y="298145"/>
            <a:ext cx="439102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华文隶书"/>
                <a:cs typeface="华文隶书"/>
              </a:rPr>
              <a:t>MED</a:t>
            </a:r>
            <a:r>
              <a:rPr dirty="0"/>
              <a:t>项</a:t>
            </a:r>
            <a:r>
              <a:rPr spc="-5" dirty="0"/>
              <a:t>目</a:t>
            </a:r>
            <a:r>
              <a:rPr i="1" spc="-10" dirty="0">
                <a:latin typeface="华文隶书"/>
                <a:cs typeface="华文隶书"/>
              </a:rPr>
              <a:t>:</a:t>
            </a:r>
            <a:r>
              <a:rPr spc="-5" dirty="0">
                <a:solidFill>
                  <a:srgbClr val="F7B615"/>
                </a:solidFill>
              </a:rPr>
              <a:t>质量保证计划</a:t>
            </a:r>
          </a:p>
        </p:txBody>
      </p:sp>
      <p:sp>
        <p:nvSpPr>
          <p:cNvPr id="3" name="object 3"/>
          <p:cNvSpPr/>
          <p:nvPr/>
        </p:nvSpPr>
        <p:spPr>
          <a:xfrm>
            <a:off x="2311526" y="791209"/>
            <a:ext cx="2514600" cy="0"/>
          </a:xfrm>
          <a:custGeom>
            <a:avLst/>
            <a:gdLst/>
            <a:ahLst/>
            <a:cxnLst/>
            <a:rect l="l" t="t" r="r" b="b"/>
            <a:pathLst>
              <a:path w="2514600">
                <a:moveTo>
                  <a:pt x="0" y="0"/>
                </a:moveTo>
                <a:lnTo>
                  <a:pt x="2514600" y="0"/>
                </a:lnTo>
              </a:path>
            </a:pathLst>
          </a:custGeom>
          <a:ln w="9144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52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5" y="1600200"/>
            <a:ext cx="6533388" cy="2795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" y="298145"/>
            <a:ext cx="86423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8679" y="4199940"/>
            <a:ext cx="5734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" dirty="0">
                <a:latin typeface="Arial Narrow"/>
                <a:cs typeface="Arial Narrow"/>
              </a:rPr>
              <a:t>chapter</a:t>
            </a:r>
            <a:r>
              <a:rPr sz="1050" u="sng" spc="17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050" dirty="0">
                <a:latin typeface="Arial Narrow"/>
                <a:cs typeface="Arial Narrow"/>
              </a:rPr>
              <a:t>8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073" y="983360"/>
            <a:ext cx="86360" cy="106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b="1" spc="5" dirty="0">
                <a:latin typeface="Arial Narrow"/>
                <a:cs typeface="Arial Narrow"/>
              </a:rPr>
              <a:t>53</a:t>
            </a:r>
            <a:endParaRPr sz="5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768" y="1532310"/>
            <a:ext cx="2474595" cy="189611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54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软</a:t>
            </a:r>
            <a:r>
              <a:rPr sz="2150" spc="30" dirty="0">
                <a:latin typeface="隶书"/>
                <a:cs typeface="隶书"/>
              </a:rPr>
              <a:t>件</a:t>
            </a:r>
            <a:r>
              <a:rPr sz="2150" spc="20" dirty="0">
                <a:latin typeface="隶书"/>
                <a:cs typeface="隶书"/>
              </a:rPr>
              <a:t>质量管理</a:t>
            </a:r>
            <a:endParaRPr sz="2150">
              <a:latin typeface="隶书"/>
              <a:cs typeface="隶书"/>
            </a:endParaRPr>
          </a:p>
          <a:p>
            <a:pPr marL="492759" lvl="1" indent="-205740">
              <a:lnSpc>
                <a:spcPct val="100000"/>
              </a:lnSpc>
              <a:spcBef>
                <a:spcPts val="39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492759" algn="l"/>
              </a:tabLst>
            </a:pPr>
            <a:r>
              <a:rPr sz="1950" spc="5" dirty="0">
                <a:latin typeface="隶书"/>
                <a:cs typeface="隶书"/>
              </a:rPr>
              <a:t>质</a:t>
            </a:r>
            <a:r>
              <a:rPr sz="1950" spc="-15" dirty="0">
                <a:latin typeface="隶书"/>
                <a:cs typeface="隶书"/>
              </a:rPr>
              <a:t>量</a:t>
            </a:r>
            <a:r>
              <a:rPr sz="1950" spc="5" dirty="0">
                <a:latin typeface="隶书"/>
                <a:cs typeface="隶书"/>
              </a:rPr>
              <a:t>保证</a:t>
            </a:r>
            <a:endParaRPr sz="1950">
              <a:latin typeface="隶书"/>
              <a:cs typeface="隶书"/>
            </a:endParaRPr>
          </a:p>
          <a:p>
            <a:pPr marL="492759" lvl="1" indent="-205740">
              <a:lnSpc>
                <a:spcPct val="100000"/>
              </a:lnSpc>
              <a:spcBef>
                <a:spcPts val="409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492759" algn="l"/>
              </a:tabLst>
            </a:pPr>
            <a:r>
              <a:rPr sz="1950" spc="5" dirty="0">
                <a:latin typeface="隶书"/>
                <a:cs typeface="隶书"/>
              </a:rPr>
              <a:t>质</a:t>
            </a:r>
            <a:r>
              <a:rPr sz="1950" spc="-10" dirty="0">
                <a:latin typeface="隶书"/>
                <a:cs typeface="隶书"/>
              </a:rPr>
              <a:t>量</a:t>
            </a:r>
            <a:r>
              <a:rPr sz="1950" spc="5" dirty="0">
                <a:latin typeface="隶书"/>
                <a:cs typeface="隶书"/>
              </a:rPr>
              <a:t>控制</a:t>
            </a:r>
            <a:endParaRPr sz="19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软</a:t>
            </a:r>
            <a:r>
              <a:rPr sz="2150" spc="30" dirty="0">
                <a:latin typeface="隶书"/>
                <a:cs typeface="隶书"/>
              </a:rPr>
              <a:t>件</a:t>
            </a:r>
            <a:r>
              <a:rPr sz="2150" spc="20" dirty="0">
                <a:latin typeface="隶书"/>
                <a:cs typeface="隶书"/>
              </a:rPr>
              <a:t>质量计划</a:t>
            </a:r>
            <a:endParaRPr sz="2150">
              <a:latin typeface="隶书"/>
              <a:cs typeface="隶书"/>
            </a:endParaRPr>
          </a:p>
          <a:p>
            <a:pPr marL="251460" indent="-239395">
              <a:lnSpc>
                <a:spcPct val="100000"/>
              </a:lnSpc>
              <a:spcBef>
                <a:spcPts val="530"/>
              </a:spcBef>
              <a:buClr>
                <a:srgbClr val="DD8046"/>
              </a:buClr>
              <a:buSzPct val="60465"/>
              <a:buFont typeface="Wingdings"/>
              <a:buChar char=""/>
              <a:tabLst>
                <a:tab pos="252095" algn="l"/>
              </a:tabLst>
            </a:pPr>
            <a:r>
              <a:rPr sz="2150" spc="20" dirty="0">
                <a:latin typeface="隶书"/>
                <a:cs typeface="隶书"/>
              </a:rPr>
              <a:t>敏捷项目</a:t>
            </a:r>
            <a:r>
              <a:rPr sz="2150" spc="10" dirty="0">
                <a:latin typeface="隶书"/>
                <a:cs typeface="隶书"/>
              </a:rPr>
              <a:t>质</a:t>
            </a:r>
            <a:r>
              <a:rPr sz="2150" spc="20" dirty="0">
                <a:latin typeface="隶书"/>
                <a:cs typeface="隶书"/>
              </a:rPr>
              <a:t>量活动</a:t>
            </a:r>
            <a:endParaRPr sz="215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647</Words>
  <Application>Microsoft Macintosh PowerPoint</Application>
  <PresentationFormat>自定义</PresentationFormat>
  <Paragraphs>325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7" baseType="lpstr">
      <vt:lpstr>华文仿宋</vt:lpstr>
      <vt:lpstr>华文琥珀</vt:lpstr>
      <vt:lpstr>华文隶书</vt:lpstr>
      <vt:lpstr>华文新魏</vt:lpstr>
      <vt:lpstr>楷体</vt:lpstr>
      <vt:lpstr>隶书</vt:lpstr>
      <vt:lpstr>宋体</vt:lpstr>
      <vt:lpstr>微软雅黑</vt:lpstr>
      <vt:lpstr>Arial Narrow</vt:lpstr>
      <vt:lpstr>Calibri</vt:lpstr>
      <vt:lpstr>Times New Roman</vt:lpstr>
      <vt:lpstr>Tw Cen MT</vt:lpstr>
      <vt:lpstr>Wingdings</vt:lpstr>
      <vt:lpstr>Office Theme</vt:lpstr>
      <vt:lpstr>承上启下</vt:lpstr>
      <vt:lpstr>情景引入：质量问题</vt:lpstr>
      <vt:lpstr>类比：房屋建筑工程项目的质量监督</vt:lpstr>
      <vt:lpstr>PowerPoint 演示文稿</vt:lpstr>
      <vt:lpstr>本章要点</vt:lpstr>
      <vt:lpstr>软件质量基本概念</vt:lpstr>
      <vt:lpstr>质量定义?</vt:lpstr>
      <vt:lpstr>软件质量</vt:lpstr>
      <vt:lpstr>软件质量模型</vt:lpstr>
      <vt:lpstr>ISO/IEC9126模型</vt:lpstr>
      <vt:lpstr>例子:调度指挥通信系统外部质量模型设计</vt:lpstr>
      <vt:lpstr>例子:调度指挥通信系统外部质量模型设计</vt:lpstr>
      <vt:lpstr>质量的形成</vt:lpstr>
      <vt:lpstr>质量成本（CoQ）</vt:lpstr>
      <vt:lpstr>缺陷修复成本比较</vt:lpstr>
      <vt:lpstr>本章要点</vt:lpstr>
      <vt:lpstr>软件质量管理活动</vt:lpstr>
      <vt:lpstr>质量管理的对象</vt:lpstr>
      <vt:lpstr>质量保证(QA)</vt:lpstr>
      <vt:lpstr>质量保证(QA)</vt:lpstr>
      <vt:lpstr>质量保证活动-审计（ Audit ）</vt:lpstr>
      <vt:lpstr>软件项目中常用的质量保证活动</vt:lpstr>
      <vt:lpstr> 项目执行过程审计</vt:lpstr>
      <vt:lpstr>产品审计：代码审计</vt:lpstr>
      <vt:lpstr>产品审计：功能测试报告审计</vt:lpstr>
      <vt:lpstr>情景项目:质量审计</vt:lpstr>
      <vt:lpstr>质量控制(QC)</vt:lpstr>
      <vt:lpstr>质量控制(QC)</vt:lpstr>
      <vt:lpstr>质量控制活动</vt:lpstr>
      <vt:lpstr>List&lt;SpChapterVideo&gt; finAllInfo() 缺少异常检测语句</vt:lpstr>
      <vt:lpstr>质量保证与质量控制比较</vt:lpstr>
      <vt:lpstr>本章要点</vt:lpstr>
      <vt:lpstr>敏捷项目的质量规划特征</vt:lpstr>
      <vt:lpstr>敏捷项目的质量活动</vt:lpstr>
      <vt:lpstr>Pair Programming:结对编程</vt:lpstr>
      <vt:lpstr>Pair Programming:效果</vt:lpstr>
      <vt:lpstr>Pair Programming:结对编程</vt:lpstr>
      <vt:lpstr>测试驱动开发(TDD )</vt:lpstr>
      <vt:lpstr>持续集成与测试</vt:lpstr>
      <vt:lpstr>不同层面自动化测试</vt:lpstr>
      <vt:lpstr>验收测试驱动开发（ATDD)</vt:lpstr>
      <vt:lpstr>敏捷开发中的管理会议</vt:lpstr>
      <vt:lpstr>重构（Refactoring）</vt:lpstr>
      <vt:lpstr>本章要点</vt:lpstr>
      <vt:lpstr>软件质量计划</vt:lpstr>
      <vt:lpstr>情景项目:质量目标</vt:lpstr>
      <vt:lpstr>质量计划方法</vt:lpstr>
      <vt:lpstr>质量计划模式之一：</vt:lpstr>
      <vt:lpstr>质量计划模式之二</vt:lpstr>
      <vt:lpstr>本章要点</vt:lpstr>
      <vt:lpstr>MED项目质量控制计划</vt:lpstr>
      <vt:lpstr>MED项目:质量保证计划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</dc:title>
  <dc:subject>第八章</dc:subject>
  <dc:creator>think</dc:creator>
  <cp:lastModifiedBy>Microsoft Office 用户</cp:lastModifiedBy>
  <cp:revision>3</cp:revision>
  <dcterms:created xsi:type="dcterms:W3CDTF">2020-06-12T01:21:05Z</dcterms:created>
  <dcterms:modified xsi:type="dcterms:W3CDTF">2024-04-11T04:00:10Z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